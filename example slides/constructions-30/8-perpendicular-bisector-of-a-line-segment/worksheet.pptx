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bisector of a line segment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10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Constructing rhombi to bisect a line segment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17" y="1837473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Give an explanation for why each construction doesn’t result in a perpendicular bisector of the line segment XY, and what can be done to make their construction better.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468013" y="2591657"/>
            <a:ext cx="1478294" cy="724973"/>
            <a:chOff x="552629" y="1971083"/>
            <a:chExt cx="2251781" cy="1104300"/>
          </a:xfrm>
        </p:grpSpPr>
        <p:sp>
          <p:nvSpPr>
            <p:cNvPr id="164" name="Google Shape;164;p20"/>
            <p:cNvSpPr/>
            <p:nvPr/>
          </p:nvSpPr>
          <p:spPr>
            <a:xfrm>
              <a:off x="1700110" y="1971083"/>
              <a:ext cx="1104300" cy="11043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552629" y="1971083"/>
              <a:ext cx="1104300" cy="11043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6" name="Google Shape;166;p20"/>
            <p:cNvCxnSpPr/>
            <p:nvPr/>
          </p:nvCxnSpPr>
          <p:spPr>
            <a:xfrm>
              <a:off x="1104389" y="2521250"/>
              <a:ext cx="11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" name="Google Shape;167;p20"/>
            <p:cNvSpPr txBox="1"/>
            <p:nvPr/>
          </p:nvSpPr>
          <p:spPr>
            <a:xfrm>
              <a:off x="907120" y="2382650"/>
              <a:ext cx="197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2254192" y="2382650"/>
              <a:ext cx="197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" name="Google Shape;169;p20"/>
          <p:cNvGrpSpPr/>
          <p:nvPr/>
        </p:nvGrpSpPr>
        <p:grpSpPr>
          <a:xfrm>
            <a:off x="2561986" y="2333123"/>
            <a:ext cx="1710379" cy="1241967"/>
            <a:chOff x="3486325" y="1577275"/>
            <a:chExt cx="2605300" cy="1891800"/>
          </a:xfrm>
        </p:grpSpPr>
        <p:sp>
          <p:nvSpPr>
            <p:cNvPr id="170" name="Google Shape;170;p20"/>
            <p:cNvSpPr/>
            <p:nvPr/>
          </p:nvSpPr>
          <p:spPr>
            <a:xfrm>
              <a:off x="4199825" y="1577275"/>
              <a:ext cx="1891800" cy="18918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3486325" y="2011275"/>
              <a:ext cx="1023900" cy="10239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2" name="Google Shape;172;p20"/>
            <p:cNvGrpSpPr/>
            <p:nvPr/>
          </p:nvGrpSpPr>
          <p:grpSpPr>
            <a:xfrm>
              <a:off x="3800633" y="2382650"/>
              <a:ext cx="1544340" cy="328200"/>
              <a:chOff x="801275" y="2611250"/>
              <a:chExt cx="2315700" cy="328200"/>
            </a:xfrm>
          </p:grpSpPr>
          <p:cxnSp>
            <p:nvCxnSpPr>
              <p:cNvPr id="173" name="Google Shape;173;p20"/>
              <p:cNvCxnSpPr/>
              <p:nvPr/>
            </p:nvCxnSpPr>
            <p:spPr>
              <a:xfrm>
                <a:off x="1097075" y="2749850"/>
                <a:ext cx="1724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4" name="Google Shape;174;p20"/>
              <p:cNvSpPr txBox="1"/>
              <p:nvPr/>
            </p:nvSpPr>
            <p:spPr>
              <a:xfrm>
                <a:off x="801275" y="2611250"/>
                <a:ext cx="295800" cy="32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5" name="Google Shape;175;p20"/>
              <p:cNvSpPr txBox="1"/>
              <p:nvPr/>
            </p:nvSpPr>
            <p:spPr>
              <a:xfrm>
                <a:off x="2821175" y="2611250"/>
                <a:ext cx="295800" cy="32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6" name="Google Shape;176;p20"/>
            <p:cNvGrpSpPr/>
            <p:nvPr/>
          </p:nvGrpSpPr>
          <p:grpSpPr>
            <a:xfrm>
              <a:off x="3998250" y="2104475"/>
              <a:ext cx="1154150" cy="419100"/>
              <a:chOff x="3998250" y="2104475"/>
              <a:chExt cx="1154150" cy="419100"/>
            </a:xfrm>
          </p:grpSpPr>
          <p:cxnSp>
            <p:nvCxnSpPr>
              <p:cNvPr id="177" name="Google Shape;177;p20"/>
              <p:cNvCxnSpPr/>
              <p:nvPr/>
            </p:nvCxnSpPr>
            <p:spPr>
              <a:xfrm flipH="1" rot="10800000">
                <a:off x="3998250" y="2104475"/>
                <a:ext cx="295800" cy="419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20"/>
              <p:cNvCxnSpPr/>
              <p:nvPr/>
            </p:nvCxnSpPr>
            <p:spPr>
              <a:xfrm>
                <a:off x="4294100" y="2108950"/>
                <a:ext cx="858300" cy="414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9" name="Google Shape;179;p20"/>
            <p:cNvGrpSpPr/>
            <p:nvPr/>
          </p:nvGrpSpPr>
          <p:grpSpPr>
            <a:xfrm flipH="1" rot="10800000">
              <a:off x="3998250" y="2525828"/>
              <a:ext cx="1154150" cy="419100"/>
              <a:chOff x="3998250" y="2104475"/>
              <a:chExt cx="1154150" cy="419100"/>
            </a:xfrm>
          </p:grpSpPr>
          <p:cxnSp>
            <p:nvCxnSpPr>
              <p:cNvPr id="180" name="Google Shape;180;p20"/>
              <p:cNvCxnSpPr/>
              <p:nvPr/>
            </p:nvCxnSpPr>
            <p:spPr>
              <a:xfrm flipH="1" rot="10800000">
                <a:off x="3998250" y="2104475"/>
                <a:ext cx="295800" cy="419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20"/>
              <p:cNvCxnSpPr/>
              <p:nvPr/>
            </p:nvCxnSpPr>
            <p:spPr>
              <a:xfrm>
                <a:off x="4294100" y="2108950"/>
                <a:ext cx="858300" cy="414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82" name="Google Shape;182;p20"/>
            <p:cNvCxnSpPr/>
            <p:nvPr/>
          </p:nvCxnSpPr>
          <p:spPr>
            <a:xfrm>
              <a:off x="4296275" y="2104475"/>
              <a:ext cx="0" cy="842700"/>
            </a:xfrm>
            <a:prstGeom prst="straightConnector1">
              <a:avLst/>
            </a:prstGeom>
            <a:noFill/>
            <a:ln cap="flat" cmpd="sng" w="38100">
              <a:solidFill>
                <a:srgbClr val="D02AA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3" name="Google Shape;183;p20"/>
          <p:cNvGrpSpPr/>
          <p:nvPr/>
        </p:nvGrpSpPr>
        <p:grpSpPr>
          <a:xfrm>
            <a:off x="4888041" y="2447199"/>
            <a:ext cx="1767201" cy="1013912"/>
            <a:chOff x="6128161" y="1751040"/>
            <a:chExt cx="2691853" cy="1544420"/>
          </a:xfrm>
        </p:grpSpPr>
        <p:grpSp>
          <p:nvGrpSpPr>
            <p:cNvPr id="184" name="Google Shape;184;p20"/>
            <p:cNvGrpSpPr/>
            <p:nvPr/>
          </p:nvGrpSpPr>
          <p:grpSpPr>
            <a:xfrm>
              <a:off x="6128161" y="1751040"/>
              <a:ext cx="2691853" cy="1544420"/>
              <a:chOff x="6348236" y="1751040"/>
              <a:chExt cx="2691853" cy="1544420"/>
            </a:xfrm>
          </p:grpSpPr>
          <p:sp>
            <p:nvSpPr>
              <p:cNvPr id="185" name="Google Shape;185;p20"/>
              <p:cNvSpPr/>
              <p:nvPr/>
            </p:nvSpPr>
            <p:spPr>
              <a:xfrm>
                <a:off x="7495689" y="1751040"/>
                <a:ext cx="1544400" cy="1544400"/>
              </a:xfrm>
              <a:prstGeom prst="ellips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>
                <a:off x="6348236" y="1751060"/>
                <a:ext cx="1544400" cy="1544400"/>
              </a:xfrm>
              <a:prstGeom prst="ellips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87" name="Google Shape;187;p20"/>
              <p:cNvGrpSpPr/>
              <p:nvPr/>
            </p:nvGrpSpPr>
            <p:grpSpPr>
              <a:xfrm>
                <a:off x="6617945" y="2382650"/>
                <a:ext cx="1544340" cy="328200"/>
                <a:chOff x="801275" y="2611250"/>
                <a:chExt cx="2315700" cy="328200"/>
              </a:xfrm>
            </p:grpSpPr>
            <p:cxnSp>
              <p:nvCxnSpPr>
                <p:cNvPr id="188" name="Google Shape;188;p20"/>
                <p:cNvCxnSpPr/>
                <p:nvPr/>
              </p:nvCxnSpPr>
              <p:spPr>
                <a:xfrm>
                  <a:off x="1097075" y="2749850"/>
                  <a:ext cx="17241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9" name="Google Shape;189;p20"/>
                <p:cNvSpPr txBox="1"/>
                <p:nvPr/>
              </p:nvSpPr>
              <p:spPr>
                <a:xfrm>
                  <a:off x="801275" y="2611250"/>
                  <a:ext cx="295800" cy="32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>
                      <a:latin typeface="Lexend"/>
                      <a:ea typeface="Lexend"/>
                      <a:cs typeface="Lexend"/>
                      <a:sym typeface="Lexend"/>
                    </a:rPr>
                    <a:t>X</a:t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" name="Google Shape;190;p20"/>
                <p:cNvSpPr txBox="1"/>
                <p:nvPr/>
              </p:nvSpPr>
              <p:spPr>
                <a:xfrm>
                  <a:off x="2821175" y="2611250"/>
                  <a:ext cx="295800" cy="32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>
                      <a:latin typeface="Lexend"/>
                      <a:ea typeface="Lexend"/>
                      <a:cs typeface="Lexend"/>
                      <a:sym typeface="Lexend"/>
                    </a:rPr>
                    <a:t>Y</a:t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191" name="Google Shape;191;p20"/>
            <p:cNvGrpSpPr/>
            <p:nvPr/>
          </p:nvGrpSpPr>
          <p:grpSpPr>
            <a:xfrm rot="10800000">
              <a:off x="6592475" y="2524192"/>
              <a:ext cx="1154030" cy="512700"/>
              <a:chOff x="3998250" y="2010875"/>
              <a:chExt cx="1154030" cy="512700"/>
            </a:xfrm>
          </p:grpSpPr>
          <p:cxnSp>
            <p:nvCxnSpPr>
              <p:cNvPr id="192" name="Google Shape;192;p20"/>
              <p:cNvCxnSpPr/>
              <p:nvPr/>
            </p:nvCxnSpPr>
            <p:spPr>
              <a:xfrm flipH="1" rot="10800000">
                <a:off x="3998250" y="2010875"/>
                <a:ext cx="269700" cy="512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" name="Google Shape;193;p20"/>
              <p:cNvCxnSpPr/>
              <p:nvPr/>
            </p:nvCxnSpPr>
            <p:spPr>
              <a:xfrm>
                <a:off x="4269080" y="2012067"/>
                <a:ext cx="883200" cy="511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4" name="Google Shape;194;p20"/>
            <p:cNvGrpSpPr/>
            <p:nvPr/>
          </p:nvGrpSpPr>
          <p:grpSpPr>
            <a:xfrm flipH="1">
              <a:off x="6592475" y="2006702"/>
              <a:ext cx="1154030" cy="512700"/>
              <a:chOff x="3998250" y="2010875"/>
              <a:chExt cx="1154030" cy="512700"/>
            </a:xfrm>
          </p:grpSpPr>
          <p:cxnSp>
            <p:nvCxnSpPr>
              <p:cNvPr id="195" name="Google Shape;195;p20"/>
              <p:cNvCxnSpPr/>
              <p:nvPr/>
            </p:nvCxnSpPr>
            <p:spPr>
              <a:xfrm flipH="1" rot="10800000">
                <a:off x="3998250" y="2010875"/>
                <a:ext cx="269700" cy="512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>
                <a:off x="4269080" y="2012067"/>
                <a:ext cx="883200" cy="511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97" name="Google Shape;197;p20"/>
            <p:cNvCxnSpPr/>
            <p:nvPr/>
          </p:nvCxnSpPr>
          <p:spPr>
            <a:xfrm>
              <a:off x="7474815" y="1995547"/>
              <a:ext cx="0" cy="1031400"/>
            </a:xfrm>
            <a:prstGeom prst="straightConnector1">
              <a:avLst/>
            </a:prstGeom>
            <a:noFill/>
            <a:ln cap="flat" cmpd="sng" w="38100">
              <a:solidFill>
                <a:srgbClr val="D02AA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8" name="Google Shape;198;p20"/>
          <p:cNvSpPr txBox="1"/>
          <p:nvPr/>
        </p:nvSpPr>
        <p:spPr>
          <a:xfrm>
            <a:off x="468024" y="2296225"/>
            <a:ext cx="20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592118" y="2296225"/>
            <a:ext cx="20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921991" y="2296225"/>
            <a:ext cx="20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5488" y="5724883"/>
            <a:ext cx="652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perpendicular bisector for each line segment by constructing a rhombus.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3">
            <a:alphaModFix/>
          </a:blip>
          <a:srcRect b="33616" l="0" r="4351" t="0"/>
          <a:stretch/>
        </p:blipFill>
        <p:spPr>
          <a:xfrm>
            <a:off x="620350" y="6251449"/>
            <a:ext cx="6086302" cy="193652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2970652" y="7581262"/>
            <a:ext cx="2497800" cy="114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3212879" y="7287408"/>
            <a:ext cx="1488000" cy="47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158865" y="6832868"/>
            <a:ext cx="12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280481" y="6832868"/>
            <a:ext cx="12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421453" y="6705243"/>
            <a:ext cx="12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135374" y="6705243"/>
            <a:ext cx="12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110491" y="8798133"/>
            <a:ext cx="12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144850" y="8798133"/>
            <a:ext cx="12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192341" y="7419181"/>
            <a:ext cx="726000" cy="21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746695" y="6239150"/>
            <a:ext cx="2497800" cy="114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0"/>
          <p:cNvPicPr preferRelativeResize="0"/>
          <p:nvPr/>
        </p:nvPicPr>
        <p:blipFill rotWithShape="1">
          <a:blip r:embed="rId3">
            <a:alphaModFix/>
          </a:blip>
          <a:srcRect b="1670" l="38085" r="31766" t="36229"/>
          <a:stretch/>
        </p:blipFill>
        <p:spPr>
          <a:xfrm>
            <a:off x="4433303" y="6280613"/>
            <a:ext cx="1918407" cy="181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5317760" y="7225913"/>
            <a:ext cx="12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025357" y="7225913"/>
            <a:ext cx="12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>
            <a:off x="1290425" y="8936450"/>
            <a:ext cx="844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bisector of a line segment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8000" y="7250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Efficient construction of a perpendicular bisector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90001" y="1739965"/>
            <a:ext cx="1254000" cy="1254000"/>
          </a:xfrm>
          <a:prstGeom prst="arc">
            <a:avLst>
              <a:gd fmla="val 16200000" name="adj1"/>
              <a:gd fmla="val 20408623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 flipH="1" rot="10800000">
            <a:off x="490001" y="784056"/>
            <a:ext cx="1254000" cy="1254000"/>
          </a:xfrm>
          <a:prstGeom prst="arc">
            <a:avLst>
              <a:gd fmla="val 16200000" name="adj1"/>
              <a:gd fmla="val 2021158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" name="Google Shape;228;p21"/>
          <p:cNvGrpSpPr/>
          <p:nvPr/>
        </p:nvGrpSpPr>
        <p:grpSpPr>
          <a:xfrm flipH="1">
            <a:off x="487710" y="784014"/>
            <a:ext cx="1254070" cy="2210044"/>
            <a:chOff x="897125" y="166831"/>
            <a:chExt cx="1945200" cy="3428019"/>
          </a:xfrm>
        </p:grpSpPr>
        <p:sp>
          <p:nvSpPr>
            <p:cNvPr id="229" name="Google Shape;229;p21"/>
            <p:cNvSpPr/>
            <p:nvPr/>
          </p:nvSpPr>
          <p:spPr>
            <a:xfrm>
              <a:off x="897125" y="1649650"/>
              <a:ext cx="1945200" cy="1945200"/>
            </a:xfrm>
            <a:prstGeom prst="arc">
              <a:avLst>
                <a:gd fmla="val 16200000" name="adj1"/>
                <a:gd fmla="val 20100164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 flipH="1" rot="10800000">
              <a:off x="897125" y="166831"/>
              <a:ext cx="1945200" cy="1945200"/>
            </a:xfrm>
            <a:prstGeom prst="arc">
              <a:avLst>
                <a:gd fmla="val 16200000" name="adj1"/>
                <a:gd fmla="val 20024636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1" name="Google Shape;231;p21"/>
          <p:cNvSpPr txBox="1"/>
          <p:nvPr/>
        </p:nvSpPr>
        <p:spPr>
          <a:xfrm>
            <a:off x="515625" y="9943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Complete the construction of each perpendicular bisector.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1117075" y="1411288"/>
            <a:ext cx="0" cy="9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3" name="Google Shape;233;p21"/>
          <p:cNvGrpSpPr/>
          <p:nvPr/>
        </p:nvGrpSpPr>
        <p:grpSpPr>
          <a:xfrm rot="2700000">
            <a:off x="2699066" y="595608"/>
            <a:ext cx="1622946" cy="2854959"/>
            <a:chOff x="-3166886" y="166831"/>
            <a:chExt cx="1948711" cy="3428019"/>
          </a:xfrm>
        </p:grpSpPr>
        <p:cxnSp>
          <p:nvCxnSpPr>
            <p:cNvPr id="234" name="Google Shape;234;p21"/>
            <p:cNvCxnSpPr/>
            <p:nvPr/>
          </p:nvCxnSpPr>
          <p:spPr>
            <a:xfrm>
              <a:off x="-2190700" y="1139825"/>
              <a:ext cx="0" cy="1481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5" name="Google Shape;235;p21"/>
            <p:cNvSpPr/>
            <p:nvPr/>
          </p:nvSpPr>
          <p:spPr>
            <a:xfrm>
              <a:off x="-3163375" y="1649650"/>
              <a:ext cx="1945200" cy="1945200"/>
            </a:xfrm>
            <a:prstGeom prst="arc">
              <a:avLst>
                <a:gd fmla="val 17308075" name="adj1"/>
                <a:gd fmla="val 19273245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36" name="Google Shape;236;p21"/>
            <p:cNvGrpSpPr/>
            <p:nvPr/>
          </p:nvGrpSpPr>
          <p:grpSpPr>
            <a:xfrm flipH="1">
              <a:off x="-3166886" y="166831"/>
              <a:ext cx="1945200" cy="3428019"/>
              <a:chOff x="897125" y="166831"/>
              <a:chExt cx="1945200" cy="3428019"/>
            </a:xfrm>
          </p:grpSpPr>
          <p:sp>
            <p:nvSpPr>
              <p:cNvPr id="237" name="Google Shape;237;p21"/>
              <p:cNvSpPr/>
              <p:nvPr/>
            </p:nvSpPr>
            <p:spPr>
              <a:xfrm>
                <a:off x="897125" y="1649650"/>
                <a:ext cx="1945200" cy="1945200"/>
              </a:xfrm>
              <a:prstGeom prst="arc">
                <a:avLst>
                  <a:gd fmla="val 18271554" name="adj1"/>
                  <a:gd fmla="val 19084184" name="adj2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" name="Google Shape;238;p21"/>
              <p:cNvSpPr/>
              <p:nvPr/>
            </p:nvSpPr>
            <p:spPr>
              <a:xfrm flipH="1" rot="10800000">
                <a:off x="897125" y="166831"/>
                <a:ext cx="1945200" cy="1945200"/>
              </a:xfrm>
              <a:prstGeom prst="arc">
                <a:avLst>
                  <a:gd fmla="val 17512106" name="adj1"/>
                  <a:gd fmla="val 19635712" name="adj2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39" name="Google Shape;239;p21"/>
          <p:cNvSpPr/>
          <p:nvPr/>
        </p:nvSpPr>
        <p:spPr>
          <a:xfrm flipH="1" rot="7200250">
            <a:off x="4248072" y="633000"/>
            <a:ext cx="2211922" cy="2211922"/>
          </a:xfrm>
          <a:prstGeom prst="arc">
            <a:avLst>
              <a:gd fmla="val 13308944" name="adj1"/>
              <a:gd fmla="val 19015461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" name="Google Shape;240;p21"/>
          <p:cNvCxnSpPr/>
          <p:nvPr/>
        </p:nvCxnSpPr>
        <p:spPr>
          <a:xfrm>
            <a:off x="6084106" y="1165333"/>
            <a:ext cx="0" cy="1685314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1" name="Google Shape;241;p21"/>
          <p:cNvGrpSpPr/>
          <p:nvPr/>
        </p:nvGrpSpPr>
        <p:grpSpPr>
          <a:xfrm rot="5400000">
            <a:off x="1086817" y="2021676"/>
            <a:ext cx="1482774" cy="1867783"/>
            <a:chOff x="-3166886" y="1139825"/>
            <a:chExt cx="1948711" cy="2455025"/>
          </a:xfrm>
        </p:grpSpPr>
        <p:cxnSp>
          <p:nvCxnSpPr>
            <p:cNvPr id="242" name="Google Shape;242;p21"/>
            <p:cNvCxnSpPr/>
            <p:nvPr/>
          </p:nvCxnSpPr>
          <p:spPr>
            <a:xfrm>
              <a:off x="-2190700" y="1139825"/>
              <a:ext cx="0" cy="1481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3" name="Google Shape;243;p21"/>
            <p:cNvSpPr/>
            <p:nvPr/>
          </p:nvSpPr>
          <p:spPr>
            <a:xfrm>
              <a:off x="-3163375" y="1649650"/>
              <a:ext cx="1945200" cy="1945200"/>
            </a:xfrm>
            <a:prstGeom prst="arc">
              <a:avLst>
                <a:gd fmla="val 18037882" name="adj1"/>
                <a:gd fmla="val 19082531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 flipH="1">
              <a:off x="-3166886" y="1649650"/>
              <a:ext cx="1945200" cy="1945200"/>
            </a:xfrm>
            <a:prstGeom prst="arc">
              <a:avLst>
                <a:gd fmla="val 18147442" name="adj1"/>
                <a:gd fmla="val 19203790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45" name="Google Shape;245;p21"/>
          <p:cNvCxnSpPr/>
          <p:nvPr/>
        </p:nvCxnSpPr>
        <p:spPr>
          <a:xfrm>
            <a:off x="4844485" y="2732909"/>
            <a:ext cx="0" cy="541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1"/>
          <p:cNvSpPr/>
          <p:nvPr/>
        </p:nvSpPr>
        <p:spPr>
          <a:xfrm flipH="1" rot="5400000">
            <a:off x="4022037" y="2451061"/>
            <a:ext cx="1102500" cy="1102500"/>
          </a:xfrm>
          <a:prstGeom prst="arc">
            <a:avLst>
              <a:gd fmla="val 19304304" name="adj1"/>
              <a:gd fmla="val 20247859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81475" y="1283366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3833133" y="1283366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480868" y="1283366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1385568" y="2866309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316643" y="2912792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74750" y="4558877"/>
            <a:ext cx="661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circumcentre of a triangle is a point that is the centre of a circle whose circumference intersects all three vertices of the triangle. The circumcentre can be found by finding the point where the perpendicular bisectors of each side of the triangle intersect.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circumcentre of this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" name="Google Shape;2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463" y="5737519"/>
            <a:ext cx="2026829" cy="1971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21"/>
          <p:cNvCxnSpPr/>
          <p:nvPr/>
        </p:nvCxnSpPr>
        <p:spPr>
          <a:xfrm>
            <a:off x="481482" y="99243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5" name="Google Shape;255;p21"/>
          <p:cNvPicPr preferRelativeResize="0"/>
          <p:nvPr/>
        </p:nvPicPr>
        <p:blipFill rotWithShape="1">
          <a:blip r:embed="rId4">
            <a:alphaModFix/>
          </a:blip>
          <a:srcRect b="4861" l="2439" r="0" t="0"/>
          <a:stretch/>
        </p:blipFill>
        <p:spPr>
          <a:xfrm>
            <a:off x="4469750" y="5737525"/>
            <a:ext cx="1968725" cy="11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