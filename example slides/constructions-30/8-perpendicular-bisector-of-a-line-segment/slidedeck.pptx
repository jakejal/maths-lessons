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1ec89ed2f43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1ec89ed2f43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1ec89ed2f43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1ec89ed2f43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ec89ed2f43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ec89ed2f43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1ec89ed2f43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1ec89ed2f43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1ec89ed2f43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1ec89ed2f43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ec89ed2f43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ec89ed2f43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1ec89ed2f43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1ec89ed2f43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ec89ed2f43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1ec89ed2f43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1ec89ed2f43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1ec89ed2f43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1ec89ed2f43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1ec89ed2f43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ec89ed2f43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1ec89ed2f43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1ec89ed2f43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1ec89ed2f43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1ec89ed2f43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1ec89ed2f43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ec89ed2f43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1ec89ed2f43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1ec89ed2f43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1ec89ed2f43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1ec89ed2f43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1ec89ed2f43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ec89ed2f43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g1ec89ed2f43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1ec89ed2f43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9" name="Google Shape;1079;g1ec89ed2f43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1ec89ed2f43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5" name="Google Shape;1095;g1ec89ed2f43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1ec89ed2f43_0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7" name="Google Shape;1117;g1ec89ed2f43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1ec89ed2f43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5" name="Google Shape;1145;g1ec89ed2f43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1ec89ed2f43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4" name="Google Shape;1184;g1ec89ed2f43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1ec89ed2f43_0_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1ec89ed2f43_0_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2a42034c17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2a42034c17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1ec89ed2f43_0_1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1ec89ed2f43_0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1ec89ed2f43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1ec89ed2f43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1ec89ed2f43_0_1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1ec89ed2f43_0_1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2a42034c17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2a42034c17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1ec89ed2f43_0_1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1ec89ed2f43_0_1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1ec89ed2f43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1ec89ed2f43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1ec89ed2f43_0_1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1ec89ed2f43_0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1ec89ed2f43_0_1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1ec89ed2f43_0_1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1ec89ed2f43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1ec89ed2f43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1ec89ed2f43_0_1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1ec89ed2f43_0_1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1ec89ed2f43_0_1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g1ec89ed2f43_0_1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1ec89ed2f43_0_1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1ec89ed2f43_0_1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1ec89ed2f43_0_1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1ec89ed2f43_0_1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1ec89ed2f43_0_1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0" name="Google Shape;1650;g1ec89ed2f43_0_1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1ec89ed2f43_0_1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1ec89ed2f43_0_1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g1ec89ed2f43_0_1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0" name="Google Shape;1720;g1ec89ed2f43_0_1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g1ec89ed2f43_0_1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2" name="Google Shape;1752;g1ec89ed2f43_0_1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1ec89ed2f43_0_1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1ec89ed2f43_0_1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1ec89ed2f43_0_1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1ec89ed2f43_0_1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1ec89ed2f43_0_1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1ec89ed2f43_0_1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1ec89ed2f43_0_1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0" name="Google Shape;1820;g1ec89ed2f43_0_1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67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7.png"/><Relationship Id="rId4" Type="http://schemas.openxmlformats.org/officeDocument/2006/relationships/image" Target="../media/image20.png"/><Relationship Id="rId9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7.png"/><Relationship Id="rId4" Type="http://schemas.openxmlformats.org/officeDocument/2006/relationships/image" Target="../media/image31.png"/><Relationship Id="rId11" Type="http://schemas.openxmlformats.org/officeDocument/2006/relationships/image" Target="../media/image13.png"/><Relationship Id="rId10" Type="http://schemas.openxmlformats.org/officeDocument/2006/relationships/image" Target="../media/image35.png"/><Relationship Id="rId9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5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Relationship Id="rId4" Type="http://schemas.openxmlformats.org/officeDocument/2006/relationships/image" Target="../media/image43.png"/><Relationship Id="rId5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9.png"/><Relationship Id="rId4" Type="http://schemas.openxmlformats.org/officeDocument/2006/relationships/image" Target="../media/image43.png"/><Relationship Id="rId5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Relationship Id="rId4" Type="http://schemas.openxmlformats.org/officeDocument/2006/relationships/image" Target="../media/image5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5.png"/><Relationship Id="rId4" Type="http://schemas.openxmlformats.org/officeDocument/2006/relationships/image" Target="../media/image6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bisector of a line segment</a:t>
            </a:r>
            <a:endParaRPr/>
          </a:p>
        </p:txBody>
      </p:sp>
      <p:sp>
        <p:nvSpPr>
          <p:cNvPr id="748" name="Google Shape;748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properties of a rhombus to construct a perpendicular bisector of a line segment.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5"/>
          <p:cNvSpPr txBox="1"/>
          <p:nvPr/>
        </p:nvSpPr>
        <p:spPr>
          <a:xfrm>
            <a:off x="324000" y="810000"/>
            <a:ext cx="849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bisect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means to cut or divide an object into two equal parts.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4" name="Google Shape;764;p65"/>
          <p:cNvSpPr txBox="1"/>
          <p:nvPr/>
        </p:nvSpPr>
        <p:spPr>
          <a:xfrm>
            <a:off x="324000" y="1836000"/>
            <a:ext cx="849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 rhombus is a parallelogram where all sides are the same length. 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5" name="Google Shape;76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7174" y="1869750"/>
            <a:ext cx="932700" cy="7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771" name="Google Shape;771;p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sp>
        <p:nvSpPr>
          <p:cNvPr id="772" name="Google Shape;772;p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bisector of a line segment</a:t>
            </a:r>
            <a:endParaRPr/>
          </a:p>
        </p:txBody>
      </p:sp>
      <p:pic>
        <p:nvPicPr>
          <p:cNvPr id="773" name="Google Shape;77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44" y="205973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/>
          <p:nvPr/>
        </p:nvSpPr>
        <p:spPr>
          <a:xfrm>
            <a:off x="6746650" y="1830350"/>
            <a:ext cx="252000" cy="252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79" name="Google Shape;779;p67"/>
          <p:cNvCxnSpPr/>
          <p:nvPr/>
        </p:nvCxnSpPr>
        <p:spPr>
          <a:xfrm rot="10800000">
            <a:off x="6746650" y="878325"/>
            <a:ext cx="0" cy="24396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780" name="Google Shape;780;p67"/>
          <p:cNvCxnSpPr/>
          <p:nvPr/>
        </p:nvCxnSpPr>
        <p:spPr>
          <a:xfrm rot="10800000">
            <a:off x="5793675" y="2082350"/>
            <a:ext cx="19011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grpSp>
        <p:nvGrpSpPr>
          <p:cNvPr id="782" name="Google Shape;782;p67"/>
          <p:cNvGrpSpPr/>
          <p:nvPr/>
        </p:nvGrpSpPr>
        <p:grpSpPr>
          <a:xfrm>
            <a:off x="5793700" y="846125"/>
            <a:ext cx="1904500" cy="2487837"/>
            <a:chOff x="2312325" y="1175225"/>
            <a:chExt cx="1904500" cy="2487837"/>
          </a:xfrm>
        </p:grpSpPr>
        <p:grpSp>
          <p:nvGrpSpPr>
            <p:cNvPr id="783" name="Google Shape;783;p67"/>
            <p:cNvGrpSpPr/>
            <p:nvPr/>
          </p:nvGrpSpPr>
          <p:grpSpPr>
            <a:xfrm>
              <a:off x="2312325" y="1175225"/>
              <a:ext cx="1904500" cy="1251600"/>
              <a:chOff x="2312325" y="1175225"/>
              <a:chExt cx="1904500" cy="1251600"/>
            </a:xfrm>
          </p:grpSpPr>
          <p:cxnSp>
            <p:nvCxnSpPr>
              <p:cNvPr id="784" name="Google Shape;784;p67"/>
              <p:cNvCxnSpPr/>
              <p:nvPr/>
            </p:nvCxnSpPr>
            <p:spPr>
              <a:xfrm flipH="1">
                <a:off x="2312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5" name="Google Shape;785;p67"/>
              <p:cNvCxnSpPr/>
              <p:nvPr/>
            </p:nvCxnSpPr>
            <p:spPr>
              <a:xfrm>
                <a:off x="3255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86" name="Google Shape;786;p67"/>
            <p:cNvGrpSpPr/>
            <p:nvPr/>
          </p:nvGrpSpPr>
          <p:grpSpPr>
            <a:xfrm flipH="1" rot="10800000">
              <a:off x="2312325" y="2411462"/>
              <a:ext cx="1904500" cy="1251600"/>
              <a:chOff x="2312325" y="1175225"/>
              <a:chExt cx="1904500" cy="1251600"/>
            </a:xfrm>
          </p:grpSpPr>
          <p:cxnSp>
            <p:nvCxnSpPr>
              <p:cNvPr id="787" name="Google Shape;787;p67"/>
              <p:cNvCxnSpPr/>
              <p:nvPr/>
            </p:nvCxnSpPr>
            <p:spPr>
              <a:xfrm flipH="1">
                <a:off x="2312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8" name="Google Shape;788;p67"/>
              <p:cNvCxnSpPr/>
              <p:nvPr/>
            </p:nvCxnSpPr>
            <p:spPr>
              <a:xfrm>
                <a:off x="3255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89" name="Google Shape;789;p67"/>
          <p:cNvGrpSpPr/>
          <p:nvPr/>
        </p:nvGrpSpPr>
        <p:grpSpPr>
          <a:xfrm>
            <a:off x="6746650" y="3439750"/>
            <a:ext cx="918250" cy="383000"/>
            <a:chOff x="6746650" y="3439750"/>
            <a:chExt cx="918250" cy="383000"/>
          </a:xfrm>
        </p:grpSpPr>
        <p:cxnSp>
          <p:nvCxnSpPr>
            <p:cNvPr id="790" name="Google Shape;790;p67"/>
            <p:cNvCxnSpPr/>
            <p:nvPr/>
          </p:nvCxnSpPr>
          <p:spPr>
            <a:xfrm>
              <a:off x="6751100" y="3439750"/>
              <a:ext cx="913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91" name="Google Shape;791;p67"/>
            <p:cNvSpPr txBox="1"/>
            <p:nvPr/>
          </p:nvSpPr>
          <p:spPr>
            <a:xfrm>
              <a:off x="6746650" y="3545550"/>
              <a:ext cx="913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2" name="Google Shape;792;p67"/>
          <p:cNvGrpSpPr/>
          <p:nvPr/>
        </p:nvGrpSpPr>
        <p:grpSpPr>
          <a:xfrm>
            <a:off x="5828400" y="3439750"/>
            <a:ext cx="918250" cy="383000"/>
            <a:chOff x="6746650" y="3439750"/>
            <a:chExt cx="918250" cy="383000"/>
          </a:xfrm>
        </p:grpSpPr>
        <p:cxnSp>
          <p:nvCxnSpPr>
            <p:cNvPr id="793" name="Google Shape;793;p67"/>
            <p:cNvCxnSpPr/>
            <p:nvPr/>
          </p:nvCxnSpPr>
          <p:spPr>
            <a:xfrm>
              <a:off x="6751100" y="3439750"/>
              <a:ext cx="913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94" name="Google Shape;794;p67"/>
            <p:cNvSpPr txBox="1"/>
            <p:nvPr/>
          </p:nvSpPr>
          <p:spPr>
            <a:xfrm>
              <a:off x="6746650" y="3545550"/>
              <a:ext cx="913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5" name="Google Shape;795;p67"/>
          <p:cNvSpPr txBox="1"/>
          <p:nvPr/>
        </p:nvSpPr>
        <p:spPr>
          <a:xfrm>
            <a:off x="1023675" y="674995"/>
            <a:ext cx="39951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a rhombus, 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ne diagonal is the perpendicular bisector of the other.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6" name="Google Shape;796;p67"/>
          <p:cNvCxnSpPr/>
          <p:nvPr/>
        </p:nvCxnSpPr>
        <p:spPr>
          <a:xfrm flipH="1">
            <a:off x="1419875" y="1287420"/>
            <a:ext cx="277800" cy="463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7" name="Google Shape;797;p67"/>
          <p:cNvSpPr txBox="1"/>
          <p:nvPr/>
        </p:nvSpPr>
        <p:spPr>
          <a:xfrm>
            <a:off x="740826" y="1750625"/>
            <a:ext cx="13608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meets at right angles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7"/>
          <p:cNvSpPr txBox="1"/>
          <p:nvPr/>
        </p:nvSpPr>
        <p:spPr>
          <a:xfrm>
            <a:off x="2904400" y="1750625"/>
            <a:ext cx="24243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bisector - divide into two equal parts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9" name="Google Shape;799;p67"/>
          <p:cNvCxnSpPr/>
          <p:nvPr/>
        </p:nvCxnSpPr>
        <p:spPr>
          <a:xfrm>
            <a:off x="3154500" y="1287420"/>
            <a:ext cx="277800" cy="463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0" name="Google Shape;800;p67"/>
          <p:cNvSpPr/>
          <p:nvPr/>
        </p:nvSpPr>
        <p:spPr>
          <a:xfrm>
            <a:off x="1006764" y="982636"/>
            <a:ext cx="1585500" cy="316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7"/>
          <p:cNvSpPr/>
          <p:nvPr/>
        </p:nvSpPr>
        <p:spPr>
          <a:xfrm>
            <a:off x="2592271" y="982625"/>
            <a:ext cx="949500" cy="316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7"/>
          <p:cNvSpPr txBox="1"/>
          <p:nvPr/>
        </p:nvSpPr>
        <p:spPr>
          <a:xfrm>
            <a:off x="324000" y="3831550"/>
            <a:ext cx="4694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perpendicular bisector divides a line segment into two equal parts at a right angle.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68"/>
          <p:cNvSpPr/>
          <p:nvPr/>
        </p:nvSpPr>
        <p:spPr>
          <a:xfrm>
            <a:off x="6356875" y="2249553"/>
            <a:ext cx="187200" cy="18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809" name="Google Shape;809;p68"/>
          <p:cNvSpPr txBox="1"/>
          <p:nvPr/>
        </p:nvSpPr>
        <p:spPr>
          <a:xfrm>
            <a:off x="324000" y="6714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shows a perpendicular bisector on a rhombus?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0" name="Google Shape;81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459568"/>
            <a:ext cx="8496000" cy="18896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1" name="Google Shape;811;p68"/>
          <p:cNvGrpSpPr/>
          <p:nvPr/>
        </p:nvGrpSpPr>
        <p:grpSpPr>
          <a:xfrm>
            <a:off x="826527" y="1231861"/>
            <a:ext cx="305730" cy="305730"/>
            <a:chOff x="1020916" y="1442088"/>
            <a:chExt cx="457200" cy="457200"/>
          </a:xfrm>
        </p:grpSpPr>
        <p:pic>
          <p:nvPicPr>
            <p:cNvPr id="812" name="Google Shape;812;p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3" name="Google Shape;813;p6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4" name="Google Shape;814;p68"/>
          <p:cNvGrpSpPr/>
          <p:nvPr/>
        </p:nvGrpSpPr>
        <p:grpSpPr>
          <a:xfrm>
            <a:off x="2378177" y="1231861"/>
            <a:ext cx="305730" cy="305730"/>
            <a:chOff x="1020916" y="1442088"/>
            <a:chExt cx="457200" cy="457200"/>
          </a:xfrm>
        </p:grpSpPr>
        <p:pic>
          <p:nvPicPr>
            <p:cNvPr id="815" name="Google Shape;815;p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6" name="Google Shape;816;p6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7" name="Google Shape;817;p68"/>
          <p:cNvGrpSpPr/>
          <p:nvPr/>
        </p:nvGrpSpPr>
        <p:grpSpPr>
          <a:xfrm>
            <a:off x="4490577" y="1231861"/>
            <a:ext cx="305730" cy="305730"/>
            <a:chOff x="1020916" y="1442088"/>
            <a:chExt cx="457200" cy="457200"/>
          </a:xfrm>
        </p:grpSpPr>
        <p:pic>
          <p:nvPicPr>
            <p:cNvPr id="818" name="Google Shape;818;p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9" name="Google Shape;819;p6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0" name="Google Shape;820;p68"/>
          <p:cNvGrpSpPr/>
          <p:nvPr/>
        </p:nvGrpSpPr>
        <p:grpSpPr>
          <a:xfrm>
            <a:off x="6195877" y="1231861"/>
            <a:ext cx="305730" cy="305730"/>
            <a:chOff x="1020916" y="1442088"/>
            <a:chExt cx="457200" cy="457200"/>
          </a:xfrm>
        </p:grpSpPr>
        <p:pic>
          <p:nvPicPr>
            <p:cNvPr id="821" name="Google Shape;821;p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2" name="Google Shape;822;p6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3" name="Google Shape;823;p68"/>
          <p:cNvGrpSpPr/>
          <p:nvPr/>
        </p:nvGrpSpPr>
        <p:grpSpPr>
          <a:xfrm>
            <a:off x="7908852" y="1231861"/>
            <a:ext cx="305730" cy="305730"/>
            <a:chOff x="1020916" y="1442088"/>
            <a:chExt cx="457200" cy="457200"/>
          </a:xfrm>
        </p:grpSpPr>
        <p:pic>
          <p:nvPicPr>
            <p:cNvPr id="824" name="Google Shape;824;p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5" name="Google Shape;825;p6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26" name="Google Shape;826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9883" y="11751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68"/>
          <p:cNvSpPr txBox="1"/>
          <p:nvPr/>
        </p:nvSpPr>
        <p:spPr>
          <a:xfrm>
            <a:off x="324000" y="3525725"/>
            <a:ext cx="8496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the other quadrilaterals are not rhombi, because they do not have four equal sides.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Many of the incorrect answers also do not look like the diagonals meet at right angles.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833" name="Google Shape;833;p69"/>
          <p:cNvSpPr txBox="1"/>
          <p:nvPr/>
        </p:nvSpPr>
        <p:spPr>
          <a:xfrm flipH="1">
            <a:off x="324000" y="2469375"/>
            <a:ext cx="10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4" name="Google Shape;834;p69"/>
          <p:cNvGrpSpPr/>
          <p:nvPr/>
        </p:nvGrpSpPr>
        <p:grpSpPr>
          <a:xfrm>
            <a:off x="810579" y="593326"/>
            <a:ext cx="3134505" cy="1303604"/>
            <a:chOff x="4639187" y="3566919"/>
            <a:chExt cx="3255276" cy="1584351"/>
          </a:xfrm>
        </p:grpSpPr>
        <p:pic>
          <p:nvPicPr>
            <p:cNvPr id="835" name="Google Shape;835;p69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4639187" y="3566919"/>
              <a:ext cx="3255276" cy="158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6" name="Google Shape;836;p69"/>
            <p:cNvSpPr txBox="1"/>
            <p:nvPr/>
          </p:nvSpPr>
          <p:spPr>
            <a:xfrm>
              <a:off x="4902098" y="3677607"/>
              <a:ext cx="2934900" cy="11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Drawing a perpendicular bisector of a line segment is easy!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37" name="Google Shape;837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11559" y="1669800"/>
            <a:ext cx="649083" cy="799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8" name="Google Shape;838;p69"/>
          <p:cNvGrpSpPr/>
          <p:nvPr/>
        </p:nvGrpSpPr>
        <p:grpSpPr>
          <a:xfrm flipH="1" rot="10800000">
            <a:off x="810996" y="2594801"/>
            <a:ext cx="2859434" cy="1303604"/>
            <a:chOff x="4639187" y="3566919"/>
            <a:chExt cx="3255276" cy="1584351"/>
          </a:xfrm>
        </p:grpSpPr>
        <p:pic>
          <p:nvPicPr>
            <p:cNvPr id="839" name="Google Shape;839;p69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4639187" y="3566919"/>
              <a:ext cx="3255276" cy="158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0" name="Google Shape;840;p69"/>
            <p:cNvSpPr txBox="1"/>
            <p:nvPr/>
          </p:nvSpPr>
          <p:spPr>
            <a:xfrm rot="10800000">
              <a:off x="4902098" y="3677607"/>
              <a:ext cx="2934900" cy="11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Just measure it using a ruler and find its midpoint.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41" name="Google Shape;841;p69"/>
          <p:cNvCxnSpPr/>
          <p:nvPr/>
        </p:nvCxnSpPr>
        <p:spPr>
          <a:xfrm>
            <a:off x="5433500" y="2983850"/>
            <a:ext cx="2983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2" name="Google Shape;842;p69"/>
          <p:cNvSpPr txBox="1"/>
          <p:nvPr/>
        </p:nvSpPr>
        <p:spPr>
          <a:xfrm>
            <a:off x="4824000" y="674995"/>
            <a:ext cx="39951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the perpendicular bisector of line segment AB.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69"/>
          <p:cNvSpPr txBox="1"/>
          <p:nvPr/>
        </p:nvSpPr>
        <p:spPr>
          <a:xfrm>
            <a:off x="5292934" y="3002300"/>
            <a:ext cx="2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69"/>
          <p:cNvSpPr txBox="1"/>
          <p:nvPr/>
        </p:nvSpPr>
        <p:spPr>
          <a:xfrm>
            <a:off x="8276991" y="3002300"/>
            <a:ext cx="2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5" name="Google Shape;845;p69"/>
          <p:cNvGrpSpPr/>
          <p:nvPr/>
        </p:nvGrpSpPr>
        <p:grpSpPr>
          <a:xfrm>
            <a:off x="5049725" y="2925875"/>
            <a:ext cx="3769375" cy="972600"/>
            <a:chOff x="5049725" y="3203238"/>
            <a:chExt cx="3769375" cy="972600"/>
          </a:xfrm>
        </p:grpSpPr>
        <p:sp>
          <p:nvSpPr>
            <p:cNvPr id="846" name="Google Shape;846;p69"/>
            <p:cNvSpPr/>
            <p:nvPr/>
          </p:nvSpPr>
          <p:spPr>
            <a:xfrm>
              <a:off x="5316450" y="3314275"/>
              <a:ext cx="3277800" cy="549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47" name="Google Shape;847;p69"/>
            <p:cNvPicPr preferRelativeResize="0"/>
            <p:nvPr/>
          </p:nvPicPr>
          <p:blipFill rotWithShape="1">
            <a:blip r:embed="rId5">
              <a:alphaModFix/>
            </a:blip>
            <a:srcRect b="0" l="0" r="54014" t="0"/>
            <a:stretch/>
          </p:blipFill>
          <p:spPr>
            <a:xfrm>
              <a:off x="5049725" y="3203238"/>
              <a:ext cx="3769375" cy="972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8" name="Google Shape;848;p69"/>
          <p:cNvSpPr/>
          <p:nvPr/>
        </p:nvSpPr>
        <p:spPr>
          <a:xfrm>
            <a:off x="6752856" y="2815506"/>
            <a:ext cx="336600" cy="336600"/>
          </a:xfrm>
          <a:prstGeom prst="mathMultiply">
            <a:avLst>
              <a:gd fmla="val 6785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854" name="Google Shape;854;p70"/>
          <p:cNvSpPr txBox="1"/>
          <p:nvPr/>
        </p:nvSpPr>
        <p:spPr>
          <a:xfrm flipH="1">
            <a:off x="324000" y="2469375"/>
            <a:ext cx="10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5" name="Google Shape;855;p70"/>
          <p:cNvGrpSpPr/>
          <p:nvPr/>
        </p:nvGrpSpPr>
        <p:grpSpPr>
          <a:xfrm>
            <a:off x="810395" y="593308"/>
            <a:ext cx="3221746" cy="1303604"/>
            <a:chOff x="4639187" y="3566919"/>
            <a:chExt cx="3255276" cy="1584351"/>
          </a:xfrm>
        </p:grpSpPr>
        <p:pic>
          <p:nvPicPr>
            <p:cNvPr id="856" name="Google Shape;856;p70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4639187" y="3566919"/>
              <a:ext cx="3255276" cy="158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7" name="Google Shape;857;p70"/>
            <p:cNvSpPr txBox="1"/>
            <p:nvPr/>
          </p:nvSpPr>
          <p:spPr>
            <a:xfrm>
              <a:off x="4902098" y="3677607"/>
              <a:ext cx="2934900" cy="11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Ah, bisecting might be easy, but how can I make sure it’s a right angle?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8" name="Google Shape;85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11559" y="1669800"/>
            <a:ext cx="649083" cy="799575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0"/>
          <p:cNvSpPr txBox="1"/>
          <p:nvPr/>
        </p:nvSpPr>
        <p:spPr>
          <a:xfrm>
            <a:off x="4824000" y="674995"/>
            <a:ext cx="39951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the perpendicular bisector of line segment AB.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0" name="Google Shape;860;p70"/>
          <p:cNvGrpSpPr/>
          <p:nvPr/>
        </p:nvGrpSpPr>
        <p:grpSpPr>
          <a:xfrm>
            <a:off x="5292934" y="2983850"/>
            <a:ext cx="3266356" cy="295650"/>
            <a:chOff x="5292934" y="2983850"/>
            <a:chExt cx="3266356" cy="295650"/>
          </a:xfrm>
        </p:grpSpPr>
        <p:cxnSp>
          <p:nvCxnSpPr>
            <p:cNvPr id="861" name="Google Shape;861;p70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2" name="Google Shape;862;p70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3" name="Google Shape;863;p70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4" name="Google Shape;864;p70"/>
          <p:cNvSpPr/>
          <p:nvPr/>
        </p:nvSpPr>
        <p:spPr>
          <a:xfrm>
            <a:off x="6752856" y="2815506"/>
            <a:ext cx="336600" cy="336600"/>
          </a:xfrm>
          <a:prstGeom prst="mathMultiply">
            <a:avLst>
              <a:gd fmla="val 6785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5" name="Google Shape;865;p70"/>
          <p:cNvCxnSpPr/>
          <p:nvPr/>
        </p:nvCxnSpPr>
        <p:spPr>
          <a:xfrm rot="5639951">
            <a:off x="5962558" y="2923246"/>
            <a:ext cx="1927092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866" name="Google Shape;866;p70"/>
          <p:cNvCxnSpPr/>
          <p:nvPr/>
        </p:nvCxnSpPr>
        <p:spPr>
          <a:xfrm rot="5400535">
            <a:off x="5962352" y="2856989"/>
            <a:ext cx="19275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867" name="Google Shape;867;p70"/>
          <p:cNvCxnSpPr/>
          <p:nvPr/>
        </p:nvCxnSpPr>
        <p:spPr>
          <a:xfrm rot="5220667">
            <a:off x="5957879" y="2923251"/>
            <a:ext cx="1927422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873" name="Google Shape;873;p71"/>
          <p:cNvSpPr txBox="1"/>
          <p:nvPr/>
        </p:nvSpPr>
        <p:spPr>
          <a:xfrm>
            <a:off x="324000" y="675000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can construct a rhombus with a line segment as its diagonal in order to find the line segment’s perpendicular bisector.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1"/>
          <p:cNvSpPr txBox="1"/>
          <p:nvPr/>
        </p:nvSpPr>
        <p:spPr>
          <a:xfrm>
            <a:off x="324000" y="1366025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can be any rhombus, as long as AB is its diagonal.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5" name="Google Shape;875;p71"/>
          <p:cNvGrpSpPr/>
          <p:nvPr/>
        </p:nvGrpSpPr>
        <p:grpSpPr>
          <a:xfrm>
            <a:off x="4740405" y="3136250"/>
            <a:ext cx="2389993" cy="295650"/>
            <a:chOff x="2778334" y="2983850"/>
            <a:chExt cx="3266356" cy="295650"/>
          </a:xfrm>
        </p:grpSpPr>
        <p:cxnSp>
          <p:nvCxnSpPr>
            <p:cNvPr id="876" name="Google Shape;876;p71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77" name="Google Shape;877;p71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8" name="Google Shape;878;p71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9" name="Google Shape;879;p71"/>
          <p:cNvGrpSpPr/>
          <p:nvPr/>
        </p:nvGrpSpPr>
        <p:grpSpPr>
          <a:xfrm>
            <a:off x="4833831" y="1890856"/>
            <a:ext cx="2191318" cy="2487837"/>
            <a:chOff x="2312325" y="1175225"/>
            <a:chExt cx="1904500" cy="2487837"/>
          </a:xfrm>
        </p:grpSpPr>
        <p:grpSp>
          <p:nvGrpSpPr>
            <p:cNvPr id="880" name="Google Shape;880;p71"/>
            <p:cNvGrpSpPr/>
            <p:nvPr/>
          </p:nvGrpSpPr>
          <p:grpSpPr>
            <a:xfrm>
              <a:off x="2312325" y="1175225"/>
              <a:ext cx="1904500" cy="1251600"/>
              <a:chOff x="2312325" y="1175225"/>
              <a:chExt cx="1904500" cy="1251600"/>
            </a:xfrm>
          </p:grpSpPr>
          <p:cxnSp>
            <p:nvCxnSpPr>
              <p:cNvPr id="881" name="Google Shape;881;p71"/>
              <p:cNvCxnSpPr/>
              <p:nvPr/>
            </p:nvCxnSpPr>
            <p:spPr>
              <a:xfrm flipH="1">
                <a:off x="2312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2" name="Google Shape;882;p71"/>
              <p:cNvCxnSpPr/>
              <p:nvPr/>
            </p:nvCxnSpPr>
            <p:spPr>
              <a:xfrm>
                <a:off x="3255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83" name="Google Shape;883;p71"/>
            <p:cNvGrpSpPr/>
            <p:nvPr/>
          </p:nvGrpSpPr>
          <p:grpSpPr>
            <a:xfrm flipH="1" rot="10800000">
              <a:off x="2312325" y="2411462"/>
              <a:ext cx="1904500" cy="1251600"/>
              <a:chOff x="2312325" y="1175225"/>
              <a:chExt cx="1904500" cy="1251600"/>
            </a:xfrm>
          </p:grpSpPr>
          <p:cxnSp>
            <p:nvCxnSpPr>
              <p:cNvPr id="884" name="Google Shape;884;p71"/>
              <p:cNvCxnSpPr/>
              <p:nvPr/>
            </p:nvCxnSpPr>
            <p:spPr>
              <a:xfrm flipH="1">
                <a:off x="2312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5" name="Google Shape;885;p71"/>
              <p:cNvCxnSpPr/>
              <p:nvPr/>
            </p:nvCxnSpPr>
            <p:spPr>
              <a:xfrm>
                <a:off x="3255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86" name="Google Shape;886;p71"/>
          <p:cNvGrpSpPr/>
          <p:nvPr/>
        </p:nvGrpSpPr>
        <p:grpSpPr>
          <a:xfrm>
            <a:off x="4833816" y="2173221"/>
            <a:ext cx="2191318" cy="1923098"/>
            <a:chOff x="2312325" y="1175225"/>
            <a:chExt cx="1904500" cy="2487837"/>
          </a:xfrm>
        </p:grpSpPr>
        <p:grpSp>
          <p:nvGrpSpPr>
            <p:cNvPr id="887" name="Google Shape;887;p71"/>
            <p:cNvGrpSpPr/>
            <p:nvPr/>
          </p:nvGrpSpPr>
          <p:grpSpPr>
            <a:xfrm>
              <a:off x="2312325" y="1175225"/>
              <a:ext cx="1904500" cy="1251600"/>
              <a:chOff x="2312325" y="1175225"/>
              <a:chExt cx="1904500" cy="1251600"/>
            </a:xfrm>
          </p:grpSpPr>
          <p:cxnSp>
            <p:nvCxnSpPr>
              <p:cNvPr id="888" name="Google Shape;888;p71"/>
              <p:cNvCxnSpPr/>
              <p:nvPr/>
            </p:nvCxnSpPr>
            <p:spPr>
              <a:xfrm flipH="1">
                <a:off x="2312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9" name="Google Shape;889;p71"/>
              <p:cNvCxnSpPr/>
              <p:nvPr/>
            </p:nvCxnSpPr>
            <p:spPr>
              <a:xfrm>
                <a:off x="3255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90" name="Google Shape;890;p71"/>
            <p:cNvGrpSpPr/>
            <p:nvPr/>
          </p:nvGrpSpPr>
          <p:grpSpPr>
            <a:xfrm flipH="1" rot="10800000">
              <a:off x="2312325" y="2411462"/>
              <a:ext cx="1904500" cy="1251600"/>
              <a:chOff x="2312325" y="1175225"/>
              <a:chExt cx="1904500" cy="1251600"/>
            </a:xfrm>
          </p:grpSpPr>
          <p:cxnSp>
            <p:nvCxnSpPr>
              <p:cNvPr id="891" name="Google Shape;891;p71"/>
              <p:cNvCxnSpPr/>
              <p:nvPr/>
            </p:nvCxnSpPr>
            <p:spPr>
              <a:xfrm flipH="1">
                <a:off x="2312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" name="Google Shape;892;p71"/>
              <p:cNvCxnSpPr/>
              <p:nvPr/>
            </p:nvCxnSpPr>
            <p:spPr>
              <a:xfrm>
                <a:off x="3255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893" name="Google Shape;893;p71"/>
          <p:cNvSpPr txBox="1"/>
          <p:nvPr/>
        </p:nvSpPr>
        <p:spPr>
          <a:xfrm>
            <a:off x="363325" y="2279675"/>
            <a:ext cx="4118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One vertex of the rhombus will be above the diagonal, and the other below it.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4" name="Google Shape;894;p71"/>
          <p:cNvGrpSpPr/>
          <p:nvPr/>
        </p:nvGrpSpPr>
        <p:grpSpPr>
          <a:xfrm>
            <a:off x="4833846" y="2686218"/>
            <a:ext cx="2191318" cy="897114"/>
            <a:chOff x="2312325" y="1175225"/>
            <a:chExt cx="1904500" cy="2487837"/>
          </a:xfrm>
        </p:grpSpPr>
        <p:grpSp>
          <p:nvGrpSpPr>
            <p:cNvPr id="895" name="Google Shape;895;p71"/>
            <p:cNvGrpSpPr/>
            <p:nvPr/>
          </p:nvGrpSpPr>
          <p:grpSpPr>
            <a:xfrm>
              <a:off x="2312325" y="1175225"/>
              <a:ext cx="1904500" cy="1251600"/>
              <a:chOff x="2312325" y="1175225"/>
              <a:chExt cx="1904500" cy="1251600"/>
            </a:xfrm>
          </p:grpSpPr>
          <p:cxnSp>
            <p:nvCxnSpPr>
              <p:cNvPr id="896" name="Google Shape;896;p71"/>
              <p:cNvCxnSpPr/>
              <p:nvPr/>
            </p:nvCxnSpPr>
            <p:spPr>
              <a:xfrm flipH="1">
                <a:off x="2312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7" name="Google Shape;897;p71"/>
              <p:cNvCxnSpPr/>
              <p:nvPr/>
            </p:nvCxnSpPr>
            <p:spPr>
              <a:xfrm>
                <a:off x="3255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98" name="Google Shape;898;p71"/>
            <p:cNvGrpSpPr/>
            <p:nvPr/>
          </p:nvGrpSpPr>
          <p:grpSpPr>
            <a:xfrm flipH="1" rot="10800000">
              <a:off x="2312325" y="2411462"/>
              <a:ext cx="1904500" cy="1251600"/>
              <a:chOff x="2312325" y="1175225"/>
              <a:chExt cx="1904500" cy="1251600"/>
            </a:xfrm>
          </p:grpSpPr>
          <p:cxnSp>
            <p:nvCxnSpPr>
              <p:cNvPr id="899" name="Google Shape;899;p71"/>
              <p:cNvCxnSpPr/>
              <p:nvPr/>
            </p:nvCxnSpPr>
            <p:spPr>
              <a:xfrm flipH="1">
                <a:off x="2312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0" name="Google Shape;900;p71"/>
              <p:cNvCxnSpPr/>
              <p:nvPr/>
            </p:nvCxnSpPr>
            <p:spPr>
              <a:xfrm>
                <a:off x="3255325" y="1175225"/>
                <a:ext cx="961500" cy="1251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901" name="Google Shape;901;p71"/>
          <p:cNvSpPr txBox="1"/>
          <p:nvPr/>
        </p:nvSpPr>
        <p:spPr>
          <a:xfrm>
            <a:off x="363325" y="3626100"/>
            <a:ext cx="437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vertex must be an equal distance away from the two endpoints of the diagonal line segment.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2" name="Google Shape;902;p71"/>
          <p:cNvGrpSpPr/>
          <p:nvPr/>
        </p:nvGrpSpPr>
        <p:grpSpPr>
          <a:xfrm rot="-1338348">
            <a:off x="5931582" y="3492977"/>
            <a:ext cx="1212560" cy="306786"/>
            <a:chOff x="6746650" y="3439750"/>
            <a:chExt cx="918250" cy="306800"/>
          </a:xfrm>
        </p:grpSpPr>
        <p:cxnSp>
          <p:nvCxnSpPr>
            <p:cNvPr id="903" name="Google Shape;903;p71"/>
            <p:cNvCxnSpPr/>
            <p:nvPr/>
          </p:nvCxnSpPr>
          <p:spPr>
            <a:xfrm>
              <a:off x="6751100" y="3439750"/>
              <a:ext cx="913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04" name="Google Shape;904;p71"/>
            <p:cNvSpPr txBox="1"/>
            <p:nvPr/>
          </p:nvSpPr>
          <p:spPr>
            <a:xfrm>
              <a:off x="6746650" y="3469350"/>
              <a:ext cx="913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5" name="Google Shape;905;p71"/>
          <p:cNvGrpSpPr/>
          <p:nvPr/>
        </p:nvGrpSpPr>
        <p:grpSpPr>
          <a:xfrm flipH="1" rot="1338348">
            <a:off x="4718542" y="3492977"/>
            <a:ext cx="1212560" cy="306786"/>
            <a:chOff x="6746650" y="3439750"/>
            <a:chExt cx="918250" cy="306800"/>
          </a:xfrm>
        </p:grpSpPr>
        <p:cxnSp>
          <p:nvCxnSpPr>
            <p:cNvPr id="906" name="Google Shape;906;p71"/>
            <p:cNvCxnSpPr/>
            <p:nvPr/>
          </p:nvCxnSpPr>
          <p:spPr>
            <a:xfrm>
              <a:off x="6751100" y="3439750"/>
              <a:ext cx="913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07" name="Google Shape;907;p71"/>
            <p:cNvSpPr txBox="1"/>
            <p:nvPr/>
          </p:nvSpPr>
          <p:spPr>
            <a:xfrm>
              <a:off x="6746650" y="3469350"/>
              <a:ext cx="913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72"/>
          <p:cNvSpPr txBox="1"/>
          <p:nvPr/>
        </p:nvSpPr>
        <p:spPr>
          <a:xfrm>
            <a:off x="324000" y="675000"/>
            <a:ext cx="26610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constructing a circle with the compass needle at the endpoint B, I can find all points a certain distance away from B.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grpSp>
        <p:nvGrpSpPr>
          <p:cNvPr id="914" name="Google Shape;914;p72"/>
          <p:cNvGrpSpPr/>
          <p:nvPr/>
        </p:nvGrpSpPr>
        <p:grpSpPr>
          <a:xfrm>
            <a:off x="4740405" y="3136250"/>
            <a:ext cx="2389993" cy="295650"/>
            <a:chOff x="2778334" y="2983850"/>
            <a:chExt cx="3266356" cy="295650"/>
          </a:xfrm>
        </p:grpSpPr>
        <p:cxnSp>
          <p:nvCxnSpPr>
            <p:cNvPr id="915" name="Google Shape;915;p72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6" name="Google Shape;916;p72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7" name="Google Shape;917;p72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8" name="Google Shape;918;p72"/>
          <p:cNvGrpSpPr/>
          <p:nvPr/>
        </p:nvGrpSpPr>
        <p:grpSpPr>
          <a:xfrm rot="3062841">
            <a:off x="5395864" y="1731774"/>
            <a:ext cx="1785152" cy="1794089"/>
            <a:chOff x="856732" y="1653084"/>
            <a:chExt cx="1921722" cy="1931342"/>
          </a:xfrm>
        </p:grpSpPr>
        <p:pic>
          <p:nvPicPr>
            <p:cNvPr id="919" name="Google Shape;919;p72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0" name="Google Shape;920;p72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1" name="Google Shape;921;p72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2" name="Google Shape;922;p72"/>
          <p:cNvSpPr/>
          <p:nvPr/>
        </p:nvSpPr>
        <p:spPr>
          <a:xfrm>
            <a:off x="5757799" y="1867424"/>
            <a:ext cx="2532300" cy="25323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3" name="Google Shape;923;p72"/>
          <p:cNvGrpSpPr/>
          <p:nvPr/>
        </p:nvGrpSpPr>
        <p:grpSpPr>
          <a:xfrm>
            <a:off x="5757676" y="3436725"/>
            <a:ext cx="1262869" cy="306800"/>
            <a:chOff x="6746650" y="3439750"/>
            <a:chExt cx="918250" cy="306800"/>
          </a:xfrm>
        </p:grpSpPr>
        <p:cxnSp>
          <p:nvCxnSpPr>
            <p:cNvPr id="924" name="Google Shape;924;p72"/>
            <p:cNvCxnSpPr/>
            <p:nvPr/>
          </p:nvCxnSpPr>
          <p:spPr>
            <a:xfrm>
              <a:off x="6751100" y="3439750"/>
              <a:ext cx="913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25" name="Google Shape;925;p72"/>
            <p:cNvSpPr txBox="1"/>
            <p:nvPr/>
          </p:nvSpPr>
          <p:spPr>
            <a:xfrm>
              <a:off x="6746650" y="3469350"/>
              <a:ext cx="913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6" name="Google Shape;926;p72"/>
          <p:cNvGrpSpPr/>
          <p:nvPr/>
        </p:nvGrpSpPr>
        <p:grpSpPr>
          <a:xfrm rot="-2700000">
            <a:off x="6933453" y="2638714"/>
            <a:ext cx="1262890" cy="306797"/>
            <a:chOff x="6746650" y="3439750"/>
            <a:chExt cx="918250" cy="306800"/>
          </a:xfrm>
        </p:grpSpPr>
        <p:cxnSp>
          <p:nvCxnSpPr>
            <p:cNvPr id="927" name="Google Shape;927;p72"/>
            <p:cNvCxnSpPr/>
            <p:nvPr/>
          </p:nvCxnSpPr>
          <p:spPr>
            <a:xfrm>
              <a:off x="6751100" y="3439750"/>
              <a:ext cx="913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28" name="Google Shape;928;p72"/>
            <p:cNvSpPr txBox="1"/>
            <p:nvPr/>
          </p:nvSpPr>
          <p:spPr>
            <a:xfrm>
              <a:off x="6746650" y="3469350"/>
              <a:ext cx="913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grpSp>
        <p:nvGrpSpPr>
          <p:cNvPr id="934" name="Google Shape;934;p73"/>
          <p:cNvGrpSpPr/>
          <p:nvPr/>
        </p:nvGrpSpPr>
        <p:grpSpPr>
          <a:xfrm>
            <a:off x="4740405" y="3136250"/>
            <a:ext cx="2389993" cy="295650"/>
            <a:chOff x="2778334" y="2983850"/>
            <a:chExt cx="3266356" cy="295650"/>
          </a:xfrm>
        </p:grpSpPr>
        <p:cxnSp>
          <p:nvCxnSpPr>
            <p:cNvPr id="935" name="Google Shape;935;p73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36" name="Google Shape;936;p73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7" name="Google Shape;937;p73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8" name="Google Shape;938;p73"/>
          <p:cNvGrpSpPr/>
          <p:nvPr/>
        </p:nvGrpSpPr>
        <p:grpSpPr>
          <a:xfrm flipH="1" rot="-3062841">
            <a:off x="4685502" y="1731774"/>
            <a:ext cx="1785152" cy="1794089"/>
            <a:chOff x="856732" y="1653084"/>
            <a:chExt cx="1921722" cy="1931342"/>
          </a:xfrm>
        </p:grpSpPr>
        <p:pic>
          <p:nvPicPr>
            <p:cNvPr id="939" name="Google Shape;939;p73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0" name="Google Shape;940;p73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1" name="Google Shape;941;p73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2" name="Google Shape;942;p73"/>
          <p:cNvSpPr/>
          <p:nvPr/>
        </p:nvSpPr>
        <p:spPr>
          <a:xfrm>
            <a:off x="5757799" y="1867424"/>
            <a:ext cx="2532300" cy="25323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3"/>
          <p:cNvSpPr/>
          <p:nvPr/>
        </p:nvSpPr>
        <p:spPr>
          <a:xfrm>
            <a:off x="3580862" y="1867424"/>
            <a:ext cx="2532300" cy="25323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3"/>
          <p:cNvSpPr txBox="1"/>
          <p:nvPr/>
        </p:nvSpPr>
        <p:spPr>
          <a:xfrm>
            <a:off x="324000" y="675000"/>
            <a:ext cx="2661000" cy="26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can repeat this step at the endpoint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Because all sides of a  rhombus are equal length, I need to make sure both of my circles are exactly the same size.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5" name="Google Shape;945;p73"/>
          <p:cNvGrpSpPr/>
          <p:nvPr/>
        </p:nvGrpSpPr>
        <p:grpSpPr>
          <a:xfrm>
            <a:off x="4843276" y="3436725"/>
            <a:ext cx="1262869" cy="306800"/>
            <a:chOff x="6746650" y="3439750"/>
            <a:chExt cx="918250" cy="306800"/>
          </a:xfrm>
        </p:grpSpPr>
        <p:cxnSp>
          <p:nvCxnSpPr>
            <p:cNvPr id="946" name="Google Shape;946;p73"/>
            <p:cNvCxnSpPr/>
            <p:nvPr/>
          </p:nvCxnSpPr>
          <p:spPr>
            <a:xfrm>
              <a:off x="6751100" y="3439750"/>
              <a:ext cx="913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47" name="Google Shape;947;p73"/>
            <p:cNvSpPr txBox="1"/>
            <p:nvPr/>
          </p:nvSpPr>
          <p:spPr>
            <a:xfrm>
              <a:off x="6746650" y="3469350"/>
              <a:ext cx="913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8" name="Google Shape;948;p73"/>
          <p:cNvGrpSpPr/>
          <p:nvPr/>
        </p:nvGrpSpPr>
        <p:grpSpPr>
          <a:xfrm rot="-2699647">
            <a:off x="4761362" y="2646841"/>
            <a:ext cx="1262890" cy="306797"/>
            <a:chOff x="6746650" y="3439750"/>
            <a:chExt cx="918250" cy="306800"/>
          </a:xfrm>
        </p:grpSpPr>
        <p:cxnSp>
          <p:nvCxnSpPr>
            <p:cNvPr id="949" name="Google Shape;949;p73"/>
            <p:cNvCxnSpPr/>
            <p:nvPr/>
          </p:nvCxnSpPr>
          <p:spPr>
            <a:xfrm>
              <a:off x="6751100" y="3439750"/>
              <a:ext cx="913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50" name="Google Shape;950;p73"/>
            <p:cNvSpPr txBox="1"/>
            <p:nvPr/>
          </p:nvSpPr>
          <p:spPr>
            <a:xfrm>
              <a:off x="6746650" y="3469350"/>
              <a:ext cx="913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74"/>
          <p:cNvSpPr/>
          <p:nvPr/>
        </p:nvSpPr>
        <p:spPr>
          <a:xfrm>
            <a:off x="5938250" y="2884250"/>
            <a:ext cx="252000" cy="252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grpSp>
        <p:nvGrpSpPr>
          <p:cNvPr id="957" name="Google Shape;957;p74"/>
          <p:cNvGrpSpPr/>
          <p:nvPr/>
        </p:nvGrpSpPr>
        <p:grpSpPr>
          <a:xfrm>
            <a:off x="4740405" y="3136250"/>
            <a:ext cx="2389993" cy="295650"/>
            <a:chOff x="2778334" y="2983850"/>
            <a:chExt cx="3266356" cy="295650"/>
          </a:xfrm>
        </p:grpSpPr>
        <p:cxnSp>
          <p:nvCxnSpPr>
            <p:cNvPr id="958" name="Google Shape;958;p74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59" name="Google Shape;959;p74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0" name="Google Shape;960;p74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1" name="Google Shape;961;p74"/>
          <p:cNvGrpSpPr/>
          <p:nvPr/>
        </p:nvGrpSpPr>
        <p:grpSpPr>
          <a:xfrm>
            <a:off x="3580862" y="1867424"/>
            <a:ext cx="4709238" cy="2532300"/>
            <a:chOff x="3580862" y="1867424"/>
            <a:chExt cx="4709238" cy="2532300"/>
          </a:xfrm>
        </p:grpSpPr>
        <p:sp>
          <p:nvSpPr>
            <p:cNvPr id="962" name="Google Shape;962;p74"/>
            <p:cNvSpPr/>
            <p:nvPr/>
          </p:nvSpPr>
          <p:spPr>
            <a:xfrm>
              <a:off x="5757799" y="1867424"/>
              <a:ext cx="2532300" cy="25323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3" name="Google Shape;963;p74"/>
            <p:cNvSpPr/>
            <p:nvPr/>
          </p:nvSpPr>
          <p:spPr>
            <a:xfrm>
              <a:off x="3580862" y="1867424"/>
              <a:ext cx="2532300" cy="25323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4" name="Google Shape;964;p74"/>
          <p:cNvSpPr/>
          <p:nvPr/>
        </p:nvSpPr>
        <p:spPr>
          <a:xfrm rot="-2700000">
            <a:off x="5767065" y="2319563"/>
            <a:ext cx="336441" cy="336441"/>
          </a:xfrm>
          <a:prstGeom prst="mathMultiply">
            <a:avLst>
              <a:gd fmla="val 6785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4"/>
          <p:cNvSpPr/>
          <p:nvPr/>
        </p:nvSpPr>
        <p:spPr>
          <a:xfrm rot="-2700000">
            <a:off x="5767065" y="3611788"/>
            <a:ext cx="336441" cy="336441"/>
          </a:xfrm>
          <a:prstGeom prst="mathMultiply">
            <a:avLst>
              <a:gd fmla="val 6785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4"/>
          <p:cNvSpPr txBox="1"/>
          <p:nvPr/>
        </p:nvSpPr>
        <p:spPr>
          <a:xfrm>
            <a:off x="324000" y="732600"/>
            <a:ext cx="304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intersections of the circles are both 4 cm away from A and B.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7" name="Google Shape;967;p74"/>
          <p:cNvGrpSpPr/>
          <p:nvPr/>
        </p:nvGrpSpPr>
        <p:grpSpPr>
          <a:xfrm>
            <a:off x="4700156" y="2215737"/>
            <a:ext cx="2470646" cy="1841487"/>
            <a:chOff x="4700156" y="2215737"/>
            <a:chExt cx="2470646" cy="1841487"/>
          </a:xfrm>
        </p:grpSpPr>
        <p:grpSp>
          <p:nvGrpSpPr>
            <p:cNvPr id="968" name="Google Shape;968;p74"/>
            <p:cNvGrpSpPr/>
            <p:nvPr/>
          </p:nvGrpSpPr>
          <p:grpSpPr>
            <a:xfrm rot="-8985945">
              <a:off x="5921792" y="2511134"/>
              <a:ext cx="1256724" cy="308851"/>
              <a:chOff x="6751100" y="3439750"/>
              <a:chExt cx="913800" cy="308876"/>
            </a:xfrm>
          </p:grpSpPr>
          <p:cxnSp>
            <p:nvCxnSpPr>
              <p:cNvPr id="969" name="Google Shape;969;p74"/>
              <p:cNvCxnSpPr/>
              <p:nvPr/>
            </p:nvCxnSpPr>
            <p:spPr>
              <a:xfrm>
                <a:off x="6751100" y="3439750"/>
                <a:ext cx="913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970" name="Google Shape;970;p74"/>
              <p:cNvSpPr txBox="1"/>
              <p:nvPr/>
            </p:nvSpPr>
            <p:spPr>
              <a:xfrm rot="-10775283">
                <a:off x="6958797" y="3469625"/>
                <a:ext cx="500713" cy="2772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 cm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71" name="Google Shape;971;p74"/>
            <p:cNvGrpSpPr/>
            <p:nvPr/>
          </p:nvGrpSpPr>
          <p:grpSpPr>
            <a:xfrm flipH="1" rot="8985945">
              <a:off x="4692442" y="2511134"/>
              <a:ext cx="1256724" cy="308851"/>
              <a:chOff x="6751100" y="3439750"/>
              <a:chExt cx="913800" cy="308876"/>
            </a:xfrm>
          </p:grpSpPr>
          <p:cxnSp>
            <p:nvCxnSpPr>
              <p:cNvPr id="972" name="Google Shape;972;p74"/>
              <p:cNvCxnSpPr/>
              <p:nvPr/>
            </p:nvCxnSpPr>
            <p:spPr>
              <a:xfrm>
                <a:off x="6751100" y="3439750"/>
                <a:ext cx="913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973" name="Google Shape;973;p74"/>
              <p:cNvSpPr txBox="1"/>
              <p:nvPr/>
            </p:nvSpPr>
            <p:spPr>
              <a:xfrm rot="-10775283">
                <a:off x="6958797" y="3469625"/>
                <a:ext cx="500713" cy="2772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 cm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74" name="Google Shape;974;p74"/>
            <p:cNvGrpSpPr/>
            <p:nvPr/>
          </p:nvGrpSpPr>
          <p:grpSpPr>
            <a:xfrm flipH="1" rot="-1814055">
              <a:off x="5921767" y="3453066"/>
              <a:ext cx="1256724" cy="308751"/>
              <a:chOff x="6751100" y="3439750"/>
              <a:chExt cx="913800" cy="308777"/>
            </a:xfrm>
          </p:grpSpPr>
          <p:cxnSp>
            <p:nvCxnSpPr>
              <p:cNvPr id="975" name="Google Shape;975;p74"/>
              <p:cNvCxnSpPr/>
              <p:nvPr/>
            </p:nvCxnSpPr>
            <p:spPr>
              <a:xfrm>
                <a:off x="6751100" y="3439750"/>
                <a:ext cx="913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976" name="Google Shape;976;p74"/>
              <p:cNvSpPr txBox="1"/>
              <p:nvPr/>
            </p:nvSpPr>
            <p:spPr>
              <a:xfrm rot="24717">
                <a:off x="6958727" y="3469526"/>
                <a:ext cx="500713" cy="2772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 cm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77" name="Google Shape;977;p74"/>
            <p:cNvGrpSpPr/>
            <p:nvPr/>
          </p:nvGrpSpPr>
          <p:grpSpPr>
            <a:xfrm rot="1814055">
              <a:off x="4692466" y="3453065"/>
              <a:ext cx="1256724" cy="308755"/>
              <a:chOff x="6751100" y="3439750"/>
              <a:chExt cx="913800" cy="308781"/>
            </a:xfrm>
          </p:grpSpPr>
          <p:cxnSp>
            <p:nvCxnSpPr>
              <p:cNvPr id="978" name="Google Shape;978;p74"/>
              <p:cNvCxnSpPr/>
              <p:nvPr/>
            </p:nvCxnSpPr>
            <p:spPr>
              <a:xfrm>
                <a:off x="6751100" y="3439750"/>
                <a:ext cx="913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979" name="Google Shape;979;p74"/>
              <p:cNvSpPr txBox="1"/>
              <p:nvPr/>
            </p:nvSpPr>
            <p:spPr>
              <a:xfrm rot="24717">
                <a:off x="6958869" y="3469529"/>
                <a:ext cx="500713" cy="2772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 cm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80" name="Google Shape;980;p74"/>
          <p:cNvSpPr txBox="1"/>
          <p:nvPr/>
        </p:nvSpPr>
        <p:spPr>
          <a:xfrm>
            <a:off x="324000" y="2000650"/>
            <a:ext cx="304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so can be used as the two final vertices of the rhombus.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4"/>
          <p:cNvSpPr txBox="1"/>
          <p:nvPr/>
        </p:nvSpPr>
        <p:spPr>
          <a:xfrm>
            <a:off x="324000" y="3268700"/>
            <a:ext cx="30456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Drawing a straight line between these two vertices will give you the second diagonal of the rhombus: the perpendicular bisector.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2" name="Google Shape;982;p74"/>
          <p:cNvGrpSpPr/>
          <p:nvPr/>
        </p:nvGrpSpPr>
        <p:grpSpPr>
          <a:xfrm>
            <a:off x="4846900" y="2486825"/>
            <a:ext cx="2188200" cy="1300425"/>
            <a:chOff x="4846900" y="2486825"/>
            <a:chExt cx="2188200" cy="1300425"/>
          </a:xfrm>
        </p:grpSpPr>
        <p:cxnSp>
          <p:nvCxnSpPr>
            <p:cNvPr id="983" name="Google Shape;983;p74"/>
            <p:cNvCxnSpPr/>
            <p:nvPr/>
          </p:nvCxnSpPr>
          <p:spPr>
            <a:xfrm flipH="1" rot="10800000">
              <a:off x="4846900" y="2486825"/>
              <a:ext cx="1094100" cy="651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4" name="Google Shape;984;p74"/>
            <p:cNvCxnSpPr/>
            <p:nvPr/>
          </p:nvCxnSpPr>
          <p:spPr>
            <a:xfrm rot="10800000">
              <a:off x="5941000" y="2486825"/>
              <a:ext cx="1094100" cy="651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5" name="Google Shape;985;p74"/>
            <p:cNvCxnSpPr/>
            <p:nvPr/>
          </p:nvCxnSpPr>
          <p:spPr>
            <a:xfrm>
              <a:off x="4846900" y="3136250"/>
              <a:ext cx="1094100" cy="651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6" name="Google Shape;986;p74"/>
            <p:cNvCxnSpPr/>
            <p:nvPr/>
          </p:nvCxnSpPr>
          <p:spPr>
            <a:xfrm flipH="1">
              <a:off x="5941000" y="3136250"/>
              <a:ext cx="1094100" cy="651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87" name="Google Shape;987;p74"/>
          <p:cNvCxnSpPr/>
          <p:nvPr/>
        </p:nvCxnSpPr>
        <p:spPr>
          <a:xfrm rot="10800000">
            <a:off x="5938250" y="2480900"/>
            <a:ext cx="0" cy="1305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5"/>
          <p:cNvSpPr/>
          <p:nvPr/>
        </p:nvSpPr>
        <p:spPr>
          <a:xfrm>
            <a:off x="558200" y="2236600"/>
            <a:ext cx="1854000" cy="18540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5"/>
          <p:cNvSpPr/>
          <p:nvPr/>
        </p:nvSpPr>
        <p:spPr>
          <a:xfrm>
            <a:off x="2090938" y="2236600"/>
            <a:ext cx="1854000" cy="18540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5"/>
          <p:cNvSpPr txBox="1"/>
          <p:nvPr/>
        </p:nvSpPr>
        <p:spPr>
          <a:xfrm>
            <a:off x="1346425" y="671400"/>
            <a:ext cx="747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has started the construction of a rhombus to find the perpendicular bisector of line PQ.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has Alex done wrong in the construction?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grpSp>
        <p:nvGrpSpPr>
          <p:cNvPr id="996" name="Google Shape;996;p75"/>
          <p:cNvGrpSpPr/>
          <p:nvPr/>
        </p:nvGrpSpPr>
        <p:grpSpPr>
          <a:xfrm>
            <a:off x="324012" y="701698"/>
            <a:ext cx="784200" cy="1004638"/>
            <a:chOff x="5840312" y="3052573"/>
            <a:chExt cx="784200" cy="1004638"/>
          </a:xfrm>
        </p:grpSpPr>
        <p:sp>
          <p:nvSpPr>
            <p:cNvPr id="997" name="Google Shape;997;p75"/>
            <p:cNvSpPr txBox="1"/>
            <p:nvPr/>
          </p:nvSpPr>
          <p:spPr>
            <a:xfrm flipH="1">
              <a:off x="5840312" y="3780011"/>
              <a:ext cx="78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98" name="Google Shape;998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935514" y="3052573"/>
              <a:ext cx="593750" cy="6847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9" name="Google Shape;999;p75"/>
          <p:cNvGrpSpPr/>
          <p:nvPr/>
        </p:nvGrpSpPr>
        <p:grpSpPr>
          <a:xfrm>
            <a:off x="1412949" y="3164752"/>
            <a:ext cx="1670088" cy="290037"/>
            <a:chOff x="2778334" y="2983850"/>
            <a:chExt cx="3266356" cy="415050"/>
          </a:xfrm>
        </p:grpSpPr>
        <p:cxnSp>
          <p:nvCxnSpPr>
            <p:cNvPr id="1000" name="Google Shape;1000;p75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1" name="Google Shape;1001;p75"/>
            <p:cNvSpPr txBox="1"/>
            <p:nvPr/>
          </p:nvSpPr>
          <p:spPr>
            <a:xfrm>
              <a:off x="2778334" y="3002300"/>
              <a:ext cx="2823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2" name="Google Shape;1002;p75"/>
            <p:cNvSpPr txBox="1"/>
            <p:nvPr/>
          </p:nvSpPr>
          <p:spPr>
            <a:xfrm>
              <a:off x="5762391" y="3002300"/>
              <a:ext cx="2823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3" name="Google Shape;1003;p75"/>
          <p:cNvSpPr/>
          <p:nvPr/>
        </p:nvSpPr>
        <p:spPr>
          <a:xfrm rot="-2700000">
            <a:off x="2079777" y="2473852"/>
            <a:ext cx="336441" cy="336441"/>
          </a:xfrm>
          <a:prstGeom prst="mathMultiply">
            <a:avLst>
              <a:gd fmla="val 6785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04" name="Google Shape;1004;p75"/>
          <p:cNvCxnSpPr/>
          <p:nvPr/>
        </p:nvCxnSpPr>
        <p:spPr>
          <a:xfrm flipH="1" rot="10800000">
            <a:off x="1489850" y="2639450"/>
            <a:ext cx="760200" cy="524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75"/>
          <p:cNvCxnSpPr/>
          <p:nvPr/>
        </p:nvCxnSpPr>
        <p:spPr>
          <a:xfrm rot="10800000">
            <a:off x="2250050" y="2639450"/>
            <a:ext cx="760200" cy="524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75"/>
          <p:cNvCxnSpPr/>
          <p:nvPr/>
        </p:nvCxnSpPr>
        <p:spPr>
          <a:xfrm flipH="1" rot="10800000">
            <a:off x="2192925" y="2648200"/>
            <a:ext cx="57000" cy="530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07" name="Google Shape;1007;p75"/>
          <p:cNvGrpSpPr/>
          <p:nvPr/>
        </p:nvGrpSpPr>
        <p:grpSpPr>
          <a:xfrm>
            <a:off x="4616337" y="2004500"/>
            <a:ext cx="3940213" cy="554100"/>
            <a:chOff x="4616337" y="2004500"/>
            <a:chExt cx="3940213" cy="554100"/>
          </a:xfrm>
        </p:grpSpPr>
        <p:grpSp>
          <p:nvGrpSpPr>
            <p:cNvPr id="1008" name="Google Shape;1008;p75"/>
            <p:cNvGrpSpPr/>
            <p:nvPr/>
          </p:nvGrpSpPr>
          <p:grpSpPr>
            <a:xfrm>
              <a:off x="4616337" y="2004508"/>
              <a:ext cx="260924" cy="260878"/>
              <a:chOff x="1020916" y="1442088"/>
              <a:chExt cx="457200" cy="457200"/>
            </a:xfrm>
          </p:grpSpPr>
          <p:pic>
            <p:nvPicPr>
              <p:cNvPr id="1009" name="Google Shape;1009;p7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0" name="Google Shape;1010;p75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GB" sz="1800" u="none" cap="none" strike="noStrike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11" name="Google Shape;1011;p75"/>
            <p:cNvSpPr txBox="1"/>
            <p:nvPr/>
          </p:nvSpPr>
          <p:spPr>
            <a:xfrm>
              <a:off x="4951150" y="2004500"/>
              <a:ext cx="3605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Hasn’t used both intersections of the circles.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2" name="Google Shape;1012;p75"/>
          <p:cNvGrpSpPr/>
          <p:nvPr/>
        </p:nvGrpSpPr>
        <p:grpSpPr>
          <a:xfrm>
            <a:off x="4616337" y="2788150"/>
            <a:ext cx="3940213" cy="554100"/>
            <a:chOff x="4616337" y="2004500"/>
            <a:chExt cx="3940213" cy="554100"/>
          </a:xfrm>
        </p:grpSpPr>
        <p:grpSp>
          <p:nvGrpSpPr>
            <p:cNvPr id="1013" name="Google Shape;1013;p75"/>
            <p:cNvGrpSpPr/>
            <p:nvPr/>
          </p:nvGrpSpPr>
          <p:grpSpPr>
            <a:xfrm>
              <a:off x="4616337" y="2004508"/>
              <a:ext cx="260924" cy="260878"/>
              <a:chOff x="1020916" y="1442088"/>
              <a:chExt cx="457200" cy="457200"/>
            </a:xfrm>
          </p:grpSpPr>
          <p:pic>
            <p:nvPicPr>
              <p:cNvPr id="1014" name="Google Shape;1014;p7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5" name="Google Shape;1015;p75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16" name="Google Shape;1016;p75"/>
            <p:cNvSpPr txBox="1"/>
            <p:nvPr/>
          </p:nvSpPr>
          <p:spPr>
            <a:xfrm>
              <a:off x="4951150" y="2004500"/>
              <a:ext cx="3605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Both circles are definitely not the same size.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7" name="Google Shape;1017;p75"/>
          <p:cNvGrpSpPr/>
          <p:nvPr/>
        </p:nvGrpSpPr>
        <p:grpSpPr>
          <a:xfrm>
            <a:off x="4616337" y="3571800"/>
            <a:ext cx="3940213" cy="554100"/>
            <a:chOff x="4616337" y="2004500"/>
            <a:chExt cx="3940213" cy="554100"/>
          </a:xfrm>
        </p:grpSpPr>
        <p:grpSp>
          <p:nvGrpSpPr>
            <p:cNvPr id="1018" name="Google Shape;1018;p75"/>
            <p:cNvGrpSpPr/>
            <p:nvPr/>
          </p:nvGrpSpPr>
          <p:grpSpPr>
            <a:xfrm>
              <a:off x="4616337" y="2004508"/>
              <a:ext cx="260924" cy="260878"/>
              <a:chOff x="1020916" y="1442088"/>
              <a:chExt cx="457200" cy="457200"/>
            </a:xfrm>
          </p:grpSpPr>
          <p:pic>
            <p:nvPicPr>
              <p:cNvPr id="1019" name="Google Shape;1019;p7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0" name="Google Shape;1020;p75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21" name="Google Shape;1021;p75"/>
            <p:cNvSpPr txBox="1"/>
            <p:nvPr/>
          </p:nvSpPr>
          <p:spPr>
            <a:xfrm>
              <a:off x="4951150" y="2004500"/>
              <a:ext cx="3605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Hasn’t drawn a perpendicular line.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2" name="Google Shape;1022;p75"/>
          <p:cNvGrpSpPr/>
          <p:nvPr/>
        </p:nvGrpSpPr>
        <p:grpSpPr>
          <a:xfrm>
            <a:off x="4616337" y="4355450"/>
            <a:ext cx="3940213" cy="277200"/>
            <a:chOff x="4616337" y="2004500"/>
            <a:chExt cx="3940213" cy="277200"/>
          </a:xfrm>
        </p:grpSpPr>
        <p:grpSp>
          <p:nvGrpSpPr>
            <p:cNvPr id="1023" name="Google Shape;1023;p75"/>
            <p:cNvGrpSpPr/>
            <p:nvPr/>
          </p:nvGrpSpPr>
          <p:grpSpPr>
            <a:xfrm>
              <a:off x="4616337" y="2004508"/>
              <a:ext cx="260924" cy="260878"/>
              <a:chOff x="1020916" y="1442088"/>
              <a:chExt cx="457200" cy="457200"/>
            </a:xfrm>
          </p:grpSpPr>
          <p:pic>
            <p:nvPicPr>
              <p:cNvPr id="1024" name="Google Shape;1024;p7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5" name="Google Shape;1025;p75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26" name="Google Shape;1026;p75"/>
            <p:cNvSpPr txBox="1"/>
            <p:nvPr/>
          </p:nvSpPr>
          <p:spPr>
            <a:xfrm>
              <a:off x="4951150" y="2004500"/>
              <a:ext cx="3605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Hasn’t constructed a rhombus.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27" name="Google Shape;1027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0321" y="195043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0321" y="349633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0321" y="428448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76"/>
          <p:cNvSpPr/>
          <p:nvPr/>
        </p:nvSpPr>
        <p:spPr>
          <a:xfrm>
            <a:off x="558200" y="2236600"/>
            <a:ext cx="1854000" cy="18540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6"/>
          <p:cNvSpPr/>
          <p:nvPr/>
        </p:nvSpPr>
        <p:spPr>
          <a:xfrm>
            <a:off x="2090938" y="2236600"/>
            <a:ext cx="1854000" cy="18540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6"/>
          <p:cNvSpPr txBox="1"/>
          <p:nvPr/>
        </p:nvSpPr>
        <p:spPr>
          <a:xfrm>
            <a:off x="1346425" y="671400"/>
            <a:ext cx="747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 has started the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construction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of a rhombus to find the perpendicular bisector of line PQ.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has Alex done wrong in the construction?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grpSp>
        <p:nvGrpSpPr>
          <p:cNvPr id="1038" name="Google Shape;1038;p76"/>
          <p:cNvGrpSpPr/>
          <p:nvPr/>
        </p:nvGrpSpPr>
        <p:grpSpPr>
          <a:xfrm>
            <a:off x="324012" y="701698"/>
            <a:ext cx="784200" cy="1004638"/>
            <a:chOff x="5840312" y="3052573"/>
            <a:chExt cx="784200" cy="1004638"/>
          </a:xfrm>
        </p:grpSpPr>
        <p:sp>
          <p:nvSpPr>
            <p:cNvPr id="1039" name="Google Shape;1039;p76"/>
            <p:cNvSpPr txBox="1"/>
            <p:nvPr/>
          </p:nvSpPr>
          <p:spPr>
            <a:xfrm flipH="1">
              <a:off x="5840312" y="3780011"/>
              <a:ext cx="78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40" name="Google Shape;1040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935514" y="3052573"/>
              <a:ext cx="593750" cy="6847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1" name="Google Shape;1041;p76"/>
          <p:cNvGrpSpPr/>
          <p:nvPr/>
        </p:nvGrpSpPr>
        <p:grpSpPr>
          <a:xfrm>
            <a:off x="1412949" y="3164752"/>
            <a:ext cx="1670088" cy="290037"/>
            <a:chOff x="2778334" y="2983850"/>
            <a:chExt cx="3266356" cy="415050"/>
          </a:xfrm>
        </p:grpSpPr>
        <p:cxnSp>
          <p:nvCxnSpPr>
            <p:cNvPr id="1042" name="Google Shape;1042;p76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3" name="Google Shape;1043;p76"/>
            <p:cNvSpPr txBox="1"/>
            <p:nvPr/>
          </p:nvSpPr>
          <p:spPr>
            <a:xfrm>
              <a:off x="2778334" y="3002300"/>
              <a:ext cx="2823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4" name="Google Shape;1044;p76"/>
            <p:cNvSpPr txBox="1"/>
            <p:nvPr/>
          </p:nvSpPr>
          <p:spPr>
            <a:xfrm>
              <a:off x="5762391" y="3002300"/>
              <a:ext cx="2823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5" name="Google Shape;1045;p76"/>
          <p:cNvSpPr/>
          <p:nvPr/>
        </p:nvSpPr>
        <p:spPr>
          <a:xfrm rot="-2700000">
            <a:off x="2079777" y="2473852"/>
            <a:ext cx="336441" cy="336441"/>
          </a:xfrm>
          <a:prstGeom prst="mathMultiply">
            <a:avLst>
              <a:gd fmla="val 6785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6" name="Google Shape;1046;p76"/>
          <p:cNvCxnSpPr/>
          <p:nvPr/>
        </p:nvCxnSpPr>
        <p:spPr>
          <a:xfrm flipH="1" rot="10800000">
            <a:off x="1489850" y="2639450"/>
            <a:ext cx="760200" cy="524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76"/>
          <p:cNvCxnSpPr/>
          <p:nvPr/>
        </p:nvCxnSpPr>
        <p:spPr>
          <a:xfrm rot="10800000">
            <a:off x="2250050" y="2639450"/>
            <a:ext cx="760200" cy="524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76"/>
          <p:cNvCxnSpPr/>
          <p:nvPr/>
        </p:nvCxnSpPr>
        <p:spPr>
          <a:xfrm flipH="1" rot="10800000">
            <a:off x="2192925" y="2648200"/>
            <a:ext cx="57000" cy="530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9" name="Google Shape;1049;p76"/>
          <p:cNvSpPr txBox="1"/>
          <p:nvPr/>
        </p:nvSpPr>
        <p:spPr>
          <a:xfrm>
            <a:off x="4858550" y="1965575"/>
            <a:ext cx="3961500" cy="22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you only use one of the two intersections of the circles, there’s no guarantee that you’ll draw a line perpendicular to PQ.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intersections have to be used to construct a rhombus.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grpSp>
        <p:nvGrpSpPr>
          <p:cNvPr id="1055" name="Google Shape;1055;p77"/>
          <p:cNvGrpSpPr/>
          <p:nvPr/>
        </p:nvGrpSpPr>
        <p:grpSpPr>
          <a:xfrm>
            <a:off x="4740405" y="3136250"/>
            <a:ext cx="2389993" cy="295650"/>
            <a:chOff x="2778334" y="2983850"/>
            <a:chExt cx="3266356" cy="295650"/>
          </a:xfrm>
        </p:grpSpPr>
        <p:cxnSp>
          <p:nvCxnSpPr>
            <p:cNvPr id="1056" name="Google Shape;1056;p77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7" name="Google Shape;1057;p77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8" name="Google Shape;1058;p77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9" name="Google Shape;1059;p77"/>
          <p:cNvSpPr/>
          <p:nvPr/>
        </p:nvSpPr>
        <p:spPr>
          <a:xfrm>
            <a:off x="3548037" y="1867399"/>
            <a:ext cx="2532300" cy="25323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7"/>
          <p:cNvSpPr txBox="1"/>
          <p:nvPr/>
        </p:nvSpPr>
        <p:spPr>
          <a:xfrm>
            <a:off x="324000" y="2454150"/>
            <a:ext cx="23901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radius of each circle has to be greater than half the length of the line segment to ensure they do intersect.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1" name="Google Shape;1061;p77"/>
          <p:cNvGrpSpPr/>
          <p:nvPr/>
        </p:nvGrpSpPr>
        <p:grpSpPr>
          <a:xfrm>
            <a:off x="4835291" y="3596458"/>
            <a:ext cx="2200219" cy="306800"/>
            <a:chOff x="6746650" y="3439750"/>
            <a:chExt cx="918250" cy="306800"/>
          </a:xfrm>
        </p:grpSpPr>
        <p:cxnSp>
          <p:nvCxnSpPr>
            <p:cNvPr id="1062" name="Google Shape;1062;p77"/>
            <p:cNvCxnSpPr/>
            <p:nvPr/>
          </p:nvCxnSpPr>
          <p:spPr>
            <a:xfrm>
              <a:off x="6751100" y="3439750"/>
              <a:ext cx="913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63" name="Google Shape;1063;p77"/>
            <p:cNvSpPr txBox="1"/>
            <p:nvPr/>
          </p:nvSpPr>
          <p:spPr>
            <a:xfrm>
              <a:off x="6746650" y="3469350"/>
              <a:ext cx="913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4" name="Google Shape;1064;p77"/>
          <p:cNvGrpSpPr/>
          <p:nvPr/>
        </p:nvGrpSpPr>
        <p:grpSpPr>
          <a:xfrm rot="900000">
            <a:off x="3535517" y="2973414"/>
            <a:ext cx="1309510" cy="306791"/>
            <a:chOff x="6746650" y="3439750"/>
            <a:chExt cx="918250" cy="306800"/>
          </a:xfrm>
        </p:grpSpPr>
        <p:cxnSp>
          <p:nvCxnSpPr>
            <p:cNvPr id="1065" name="Google Shape;1065;p77"/>
            <p:cNvCxnSpPr/>
            <p:nvPr/>
          </p:nvCxnSpPr>
          <p:spPr>
            <a:xfrm>
              <a:off x="6751100" y="3439750"/>
              <a:ext cx="913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66" name="Google Shape;1066;p77"/>
            <p:cNvSpPr txBox="1"/>
            <p:nvPr/>
          </p:nvSpPr>
          <p:spPr>
            <a:xfrm>
              <a:off x="6746650" y="3469350"/>
              <a:ext cx="913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over 5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7" name="Google Shape;1067;p77"/>
          <p:cNvSpPr/>
          <p:nvPr/>
        </p:nvSpPr>
        <p:spPr>
          <a:xfrm>
            <a:off x="5724974" y="1867399"/>
            <a:ext cx="2532300" cy="25323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7"/>
          <p:cNvSpPr txBox="1"/>
          <p:nvPr/>
        </p:nvSpPr>
        <p:spPr>
          <a:xfrm>
            <a:off x="324000" y="675000"/>
            <a:ext cx="2889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Both circles have to be the same size, but they can be any size, as long as they intersect.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78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1074" name="Google Shape;1074;p78"/>
          <p:cNvSpPr txBox="1"/>
          <p:nvPr/>
        </p:nvSpPr>
        <p:spPr>
          <a:xfrm>
            <a:off x="4824000" y="622800"/>
            <a:ext cx="3996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Line segment AB is 4 cm long.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 rhombus to find the perpendicular bisector of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8"/>
          <p:cNvSpPr txBox="1"/>
          <p:nvPr/>
        </p:nvSpPr>
        <p:spPr>
          <a:xfrm>
            <a:off x="324000" y="2571750"/>
            <a:ext cx="3996000" cy="16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will construct the rhombus on the left.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After each set of steps, perform the same steps for the rhombus on the right.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8"/>
          <p:cNvSpPr txBox="1"/>
          <p:nvPr/>
        </p:nvSpPr>
        <p:spPr>
          <a:xfrm>
            <a:off x="324000" y="622800"/>
            <a:ext cx="3996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Line segment AB is 5 cm long.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Construct a rhombus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find the perpendicular bisector of AB.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7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1082" name="Google Shape;1082;p79"/>
          <p:cNvSpPr txBox="1"/>
          <p:nvPr/>
        </p:nvSpPr>
        <p:spPr>
          <a:xfrm>
            <a:off x="4824000" y="622800"/>
            <a:ext cx="3996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Line segment AB is 4 cm long.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 rhombus to find the perpendicular bisector of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79"/>
          <p:cNvSpPr txBox="1"/>
          <p:nvPr/>
        </p:nvSpPr>
        <p:spPr>
          <a:xfrm>
            <a:off x="324000" y="622800"/>
            <a:ext cx="39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Use a ruler to draw a line segment of 5 cm.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4" name="Google Shape;1084;p79"/>
          <p:cNvGrpSpPr/>
          <p:nvPr/>
        </p:nvGrpSpPr>
        <p:grpSpPr>
          <a:xfrm>
            <a:off x="1382579" y="3143375"/>
            <a:ext cx="1654083" cy="295650"/>
            <a:chOff x="2778334" y="2983850"/>
            <a:chExt cx="3266356" cy="295650"/>
          </a:xfrm>
        </p:grpSpPr>
        <p:cxnSp>
          <p:nvCxnSpPr>
            <p:cNvPr id="1085" name="Google Shape;1085;p79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6" name="Google Shape;1086;p79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7" name="Google Shape;1087;p79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8" name="Google Shape;1088;p79"/>
          <p:cNvSpPr txBox="1"/>
          <p:nvPr/>
        </p:nvSpPr>
        <p:spPr>
          <a:xfrm>
            <a:off x="4824000" y="4121075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9" name="Google Shape;1089;p79"/>
          <p:cNvGrpSpPr/>
          <p:nvPr/>
        </p:nvGrpSpPr>
        <p:grpSpPr>
          <a:xfrm>
            <a:off x="6128142" y="3143375"/>
            <a:ext cx="1387875" cy="295650"/>
            <a:chOff x="2778334" y="2983850"/>
            <a:chExt cx="3266356" cy="295650"/>
          </a:xfrm>
        </p:grpSpPr>
        <p:cxnSp>
          <p:nvCxnSpPr>
            <p:cNvPr id="1090" name="Google Shape;1090;p79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1" name="Google Shape;1091;p79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2" name="Google Shape;1092;p79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80"/>
          <p:cNvSpPr/>
          <p:nvPr/>
        </p:nvSpPr>
        <p:spPr>
          <a:xfrm>
            <a:off x="394773" y="2081726"/>
            <a:ext cx="2124000" cy="21240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1099" name="Google Shape;1099;p80"/>
          <p:cNvSpPr txBox="1"/>
          <p:nvPr/>
        </p:nvSpPr>
        <p:spPr>
          <a:xfrm>
            <a:off x="4824000" y="622800"/>
            <a:ext cx="3996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Line segment AB is 4 cm long.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 rhombus to find the perpendicular bisector of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0" name="Google Shape;1100;p80"/>
          <p:cNvGrpSpPr/>
          <p:nvPr/>
        </p:nvGrpSpPr>
        <p:grpSpPr>
          <a:xfrm>
            <a:off x="1382579" y="3143375"/>
            <a:ext cx="1654083" cy="295650"/>
            <a:chOff x="2778334" y="2983850"/>
            <a:chExt cx="3266356" cy="295650"/>
          </a:xfrm>
        </p:grpSpPr>
        <p:cxnSp>
          <p:nvCxnSpPr>
            <p:cNvPr id="1101" name="Google Shape;1101;p80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2" name="Google Shape;1102;p80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3" name="Google Shape;1103;p80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4" name="Google Shape;1104;p80"/>
          <p:cNvSpPr txBox="1"/>
          <p:nvPr/>
        </p:nvSpPr>
        <p:spPr>
          <a:xfrm>
            <a:off x="4824000" y="4273475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5" name="Google Shape;1105;p80"/>
          <p:cNvGrpSpPr/>
          <p:nvPr/>
        </p:nvGrpSpPr>
        <p:grpSpPr>
          <a:xfrm>
            <a:off x="6128142" y="3143375"/>
            <a:ext cx="1387875" cy="295650"/>
            <a:chOff x="2778334" y="2983850"/>
            <a:chExt cx="3266356" cy="295650"/>
          </a:xfrm>
        </p:grpSpPr>
        <p:cxnSp>
          <p:nvCxnSpPr>
            <p:cNvPr id="1106" name="Google Shape;1106;p80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7" name="Google Shape;1107;p80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8" name="Google Shape;1108;p80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9" name="Google Shape;1109;p80"/>
          <p:cNvGrpSpPr/>
          <p:nvPr/>
        </p:nvGrpSpPr>
        <p:grpSpPr>
          <a:xfrm flipH="1" rot="-3063129">
            <a:off x="1318376" y="1968324"/>
            <a:ext cx="1492468" cy="1499940"/>
            <a:chOff x="856732" y="1653084"/>
            <a:chExt cx="1921722" cy="1931342"/>
          </a:xfrm>
        </p:grpSpPr>
        <p:pic>
          <p:nvPicPr>
            <p:cNvPr id="1110" name="Google Shape;1110;p80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1" name="Google Shape;1111;p80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2" name="Google Shape;1112;p80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3" name="Google Shape;1113;p80"/>
          <p:cNvSpPr/>
          <p:nvPr/>
        </p:nvSpPr>
        <p:spPr>
          <a:xfrm>
            <a:off x="5127837" y="2081726"/>
            <a:ext cx="2124000" cy="21240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0"/>
          <p:cNvSpPr txBox="1"/>
          <p:nvPr/>
        </p:nvSpPr>
        <p:spPr>
          <a:xfrm>
            <a:off x="324000" y="622800"/>
            <a:ext cx="414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Place the compass needle at point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Set the pencil to be closer to B than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 a circle.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81"/>
          <p:cNvSpPr/>
          <p:nvPr/>
        </p:nvSpPr>
        <p:spPr>
          <a:xfrm>
            <a:off x="5127837" y="2081726"/>
            <a:ext cx="2124000" cy="21240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81"/>
          <p:cNvSpPr/>
          <p:nvPr/>
        </p:nvSpPr>
        <p:spPr>
          <a:xfrm>
            <a:off x="1904573" y="2081726"/>
            <a:ext cx="2124000" cy="21240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81"/>
          <p:cNvSpPr/>
          <p:nvPr/>
        </p:nvSpPr>
        <p:spPr>
          <a:xfrm>
            <a:off x="394773" y="2081726"/>
            <a:ext cx="2124000" cy="21240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1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1123" name="Google Shape;1123;p81"/>
          <p:cNvSpPr txBox="1"/>
          <p:nvPr/>
        </p:nvSpPr>
        <p:spPr>
          <a:xfrm>
            <a:off x="324000" y="622800"/>
            <a:ext cx="414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Repeat the previous step for point 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1"/>
          <p:cNvSpPr txBox="1"/>
          <p:nvPr/>
        </p:nvSpPr>
        <p:spPr>
          <a:xfrm>
            <a:off x="4824000" y="622800"/>
            <a:ext cx="3996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Line segment AB is 4 cm long.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 rhombus to find the perpendicular bisector of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5" name="Google Shape;1125;p81"/>
          <p:cNvGrpSpPr/>
          <p:nvPr/>
        </p:nvGrpSpPr>
        <p:grpSpPr>
          <a:xfrm>
            <a:off x="1382579" y="3143375"/>
            <a:ext cx="1654083" cy="295650"/>
            <a:chOff x="2778334" y="2983850"/>
            <a:chExt cx="3266356" cy="295650"/>
          </a:xfrm>
        </p:grpSpPr>
        <p:cxnSp>
          <p:nvCxnSpPr>
            <p:cNvPr id="1126" name="Google Shape;1126;p81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7" name="Google Shape;1127;p81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8" name="Google Shape;1128;p81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9" name="Google Shape;1129;p81"/>
          <p:cNvSpPr txBox="1"/>
          <p:nvPr/>
        </p:nvSpPr>
        <p:spPr>
          <a:xfrm>
            <a:off x="4824000" y="4273475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0" name="Google Shape;1130;p81"/>
          <p:cNvGrpSpPr/>
          <p:nvPr/>
        </p:nvGrpSpPr>
        <p:grpSpPr>
          <a:xfrm>
            <a:off x="6128142" y="3143375"/>
            <a:ext cx="1387875" cy="295650"/>
            <a:chOff x="2778334" y="2983850"/>
            <a:chExt cx="3266356" cy="295650"/>
          </a:xfrm>
        </p:grpSpPr>
        <p:cxnSp>
          <p:nvCxnSpPr>
            <p:cNvPr id="1131" name="Google Shape;1131;p81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32" name="Google Shape;1132;p81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3" name="Google Shape;1133;p81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81"/>
          <p:cNvGrpSpPr/>
          <p:nvPr/>
        </p:nvGrpSpPr>
        <p:grpSpPr>
          <a:xfrm rot="3063129">
            <a:off x="1604349" y="1968324"/>
            <a:ext cx="1492468" cy="1499940"/>
            <a:chOff x="856732" y="1653084"/>
            <a:chExt cx="1921722" cy="1931342"/>
          </a:xfrm>
        </p:grpSpPr>
        <p:pic>
          <p:nvPicPr>
            <p:cNvPr id="1135" name="Google Shape;1135;p81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6" name="Google Shape;1136;p81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7" name="Google Shape;1137;p81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8" name="Google Shape;1138;p81"/>
          <p:cNvSpPr/>
          <p:nvPr/>
        </p:nvSpPr>
        <p:spPr>
          <a:xfrm>
            <a:off x="6397212" y="2081726"/>
            <a:ext cx="2124000" cy="21240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9" name="Google Shape;1139;p81"/>
          <p:cNvGrpSpPr/>
          <p:nvPr/>
        </p:nvGrpSpPr>
        <p:grpSpPr>
          <a:xfrm rot="3063129">
            <a:off x="102335" y="1972060"/>
            <a:ext cx="1492468" cy="1499940"/>
            <a:chOff x="856732" y="1653084"/>
            <a:chExt cx="1921722" cy="1931342"/>
          </a:xfrm>
        </p:grpSpPr>
        <p:pic>
          <p:nvPicPr>
            <p:cNvPr id="1140" name="Google Shape;1140;p81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1" name="Google Shape;1141;p81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2" name="Google Shape;1142;p81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82"/>
          <p:cNvSpPr/>
          <p:nvPr/>
        </p:nvSpPr>
        <p:spPr>
          <a:xfrm>
            <a:off x="5127837" y="2081726"/>
            <a:ext cx="2124000" cy="21240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8" name="Google Shape;1148;p82"/>
          <p:cNvGrpSpPr/>
          <p:nvPr/>
        </p:nvGrpSpPr>
        <p:grpSpPr>
          <a:xfrm>
            <a:off x="394773" y="2081726"/>
            <a:ext cx="3633800" cy="2124000"/>
            <a:chOff x="394773" y="2081726"/>
            <a:chExt cx="3633800" cy="2124000"/>
          </a:xfrm>
        </p:grpSpPr>
        <p:sp>
          <p:nvSpPr>
            <p:cNvPr id="1149" name="Google Shape;1149;p82"/>
            <p:cNvSpPr/>
            <p:nvPr/>
          </p:nvSpPr>
          <p:spPr>
            <a:xfrm>
              <a:off x="1904573" y="2081726"/>
              <a:ext cx="2124000" cy="2124000"/>
            </a:xfrm>
            <a:prstGeom prst="ellipse">
              <a:avLst/>
            </a:prstGeom>
            <a:noFill/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0" name="Google Shape;1150;p82"/>
            <p:cNvSpPr/>
            <p:nvPr/>
          </p:nvSpPr>
          <p:spPr>
            <a:xfrm>
              <a:off x="394773" y="2081726"/>
              <a:ext cx="2124000" cy="2124000"/>
            </a:xfrm>
            <a:prstGeom prst="ellipse">
              <a:avLst/>
            </a:prstGeom>
            <a:noFill/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1" name="Google Shape;1151;p82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1152" name="Google Shape;1152;p82"/>
          <p:cNvSpPr txBox="1"/>
          <p:nvPr/>
        </p:nvSpPr>
        <p:spPr>
          <a:xfrm>
            <a:off x="324000" y="622800"/>
            <a:ext cx="414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Mark the two locations that the two circles intersect.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Join these two intersections to points A and 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2"/>
          <p:cNvSpPr txBox="1"/>
          <p:nvPr/>
        </p:nvSpPr>
        <p:spPr>
          <a:xfrm>
            <a:off x="4824000" y="622800"/>
            <a:ext cx="3996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Line segment AB is 4 cm long.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 rhombus to find the perpendicular bisector of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4" name="Google Shape;1154;p82"/>
          <p:cNvGrpSpPr/>
          <p:nvPr/>
        </p:nvGrpSpPr>
        <p:grpSpPr>
          <a:xfrm>
            <a:off x="1382579" y="3143375"/>
            <a:ext cx="1654083" cy="295650"/>
            <a:chOff x="2778334" y="2983850"/>
            <a:chExt cx="3266356" cy="295650"/>
          </a:xfrm>
        </p:grpSpPr>
        <p:cxnSp>
          <p:nvCxnSpPr>
            <p:cNvPr id="1155" name="Google Shape;1155;p82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6" name="Google Shape;1156;p82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7" name="Google Shape;1157;p82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8" name="Google Shape;1158;p82"/>
          <p:cNvSpPr txBox="1"/>
          <p:nvPr/>
        </p:nvSpPr>
        <p:spPr>
          <a:xfrm>
            <a:off x="4824000" y="4273475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9" name="Google Shape;1159;p82"/>
          <p:cNvGrpSpPr/>
          <p:nvPr/>
        </p:nvGrpSpPr>
        <p:grpSpPr>
          <a:xfrm>
            <a:off x="6128142" y="3143375"/>
            <a:ext cx="1387875" cy="295650"/>
            <a:chOff x="2778334" y="2983850"/>
            <a:chExt cx="3266356" cy="295650"/>
          </a:xfrm>
        </p:grpSpPr>
        <p:cxnSp>
          <p:nvCxnSpPr>
            <p:cNvPr id="1160" name="Google Shape;1160;p82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1" name="Google Shape;1161;p82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2" name="Google Shape;1162;p82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3" name="Google Shape;1163;p82"/>
          <p:cNvSpPr/>
          <p:nvPr/>
        </p:nvSpPr>
        <p:spPr>
          <a:xfrm>
            <a:off x="6397212" y="2081726"/>
            <a:ext cx="2124000" cy="21240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2"/>
          <p:cNvSpPr/>
          <p:nvPr/>
        </p:nvSpPr>
        <p:spPr>
          <a:xfrm rot="-2700000">
            <a:off x="2041390" y="2229677"/>
            <a:ext cx="336441" cy="336441"/>
          </a:xfrm>
          <a:prstGeom prst="mathMultiply">
            <a:avLst>
              <a:gd fmla="val 6785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82"/>
          <p:cNvSpPr/>
          <p:nvPr/>
        </p:nvSpPr>
        <p:spPr>
          <a:xfrm rot="-2700000">
            <a:off x="2041390" y="3715677"/>
            <a:ext cx="336441" cy="336441"/>
          </a:xfrm>
          <a:prstGeom prst="mathMultiply">
            <a:avLst>
              <a:gd fmla="val 6785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6" name="Google Shape;1166;p82"/>
          <p:cNvGrpSpPr/>
          <p:nvPr/>
        </p:nvGrpSpPr>
        <p:grpSpPr>
          <a:xfrm>
            <a:off x="1454075" y="2402350"/>
            <a:ext cx="1511075" cy="741300"/>
            <a:chOff x="1454075" y="2402350"/>
            <a:chExt cx="1511075" cy="741300"/>
          </a:xfrm>
        </p:grpSpPr>
        <p:cxnSp>
          <p:nvCxnSpPr>
            <p:cNvPr id="1167" name="Google Shape;1167;p82"/>
            <p:cNvCxnSpPr/>
            <p:nvPr/>
          </p:nvCxnSpPr>
          <p:spPr>
            <a:xfrm>
              <a:off x="2212450" y="2402350"/>
              <a:ext cx="752700" cy="741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8" name="Google Shape;1168;p82"/>
            <p:cNvCxnSpPr/>
            <p:nvPr/>
          </p:nvCxnSpPr>
          <p:spPr>
            <a:xfrm flipH="1">
              <a:off x="1454075" y="2402350"/>
              <a:ext cx="752700" cy="741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69" name="Google Shape;1169;p82"/>
          <p:cNvGrpSpPr/>
          <p:nvPr/>
        </p:nvGrpSpPr>
        <p:grpSpPr>
          <a:xfrm flipH="1" rot="10800000">
            <a:off x="1454075" y="3143363"/>
            <a:ext cx="1511075" cy="741300"/>
            <a:chOff x="1454075" y="2402350"/>
            <a:chExt cx="1511075" cy="741300"/>
          </a:xfrm>
        </p:grpSpPr>
        <p:cxnSp>
          <p:nvCxnSpPr>
            <p:cNvPr id="1170" name="Google Shape;1170;p82"/>
            <p:cNvCxnSpPr/>
            <p:nvPr/>
          </p:nvCxnSpPr>
          <p:spPr>
            <a:xfrm>
              <a:off x="2212450" y="2402350"/>
              <a:ext cx="752700" cy="741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1" name="Google Shape;1171;p82"/>
            <p:cNvCxnSpPr/>
            <p:nvPr/>
          </p:nvCxnSpPr>
          <p:spPr>
            <a:xfrm flipH="1">
              <a:off x="1454075" y="2402350"/>
              <a:ext cx="752700" cy="741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72" name="Google Shape;1172;p82"/>
          <p:cNvGrpSpPr/>
          <p:nvPr/>
        </p:nvGrpSpPr>
        <p:grpSpPr>
          <a:xfrm>
            <a:off x="6185095" y="2055826"/>
            <a:ext cx="1267036" cy="2170148"/>
            <a:chOff x="6185095" y="2055826"/>
            <a:chExt cx="1267036" cy="2170148"/>
          </a:xfrm>
        </p:grpSpPr>
        <p:sp>
          <p:nvSpPr>
            <p:cNvPr id="1173" name="Google Shape;1173;p82"/>
            <p:cNvSpPr/>
            <p:nvPr/>
          </p:nvSpPr>
          <p:spPr>
            <a:xfrm rot="-2700000">
              <a:off x="6653866" y="2125505"/>
              <a:ext cx="336441" cy="336441"/>
            </a:xfrm>
            <a:prstGeom prst="mathMultiply">
              <a:avLst>
                <a:gd fmla="val 6785" name="adj1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4" name="Google Shape;1174;p82"/>
            <p:cNvSpPr/>
            <p:nvPr/>
          </p:nvSpPr>
          <p:spPr>
            <a:xfrm rot="-2700000">
              <a:off x="6653778" y="3819854"/>
              <a:ext cx="336441" cy="336441"/>
            </a:xfrm>
            <a:prstGeom prst="mathMultiply">
              <a:avLst>
                <a:gd fmla="val 6785" name="adj1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75" name="Google Shape;1175;p82"/>
            <p:cNvGrpSpPr/>
            <p:nvPr/>
          </p:nvGrpSpPr>
          <p:grpSpPr>
            <a:xfrm>
              <a:off x="6185095" y="2301234"/>
              <a:ext cx="1267036" cy="1684203"/>
              <a:chOff x="5941313" y="2402350"/>
              <a:chExt cx="1511075" cy="1482313"/>
            </a:xfrm>
          </p:grpSpPr>
          <p:grpSp>
            <p:nvGrpSpPr>
              <p:cNvPr id="1176" name="Google Shape;1176;p82"/>
              <p:cNvGrpSpPr/>
              <p:nvPr/>
            </p:nvGrpSpPr>
            <p:grpSpPr>
              <a:xfrm>
                <a:off x="5941313" y="2402350"/>
                <a:ext cx="1511075" cy="741300"/>
                <a:chOff x="1454075" y="2402350"/>
                <a:chExt cx="1511075" cy="741300"/>
              </a:xfrm>
            </p:grpSpPr>
            <p:cxnSp>
              <p:nvCxnSpPr>
                <p:cNvPr id="1177" name="Google Shape;1177;p82"/>
                <p:cNvCxnSpPr/>
                <p:nvPr/>
              </p:nvCxnSpPr>
              <p:spPr>
                <a:xfrm>
                  <a:off x="2212450" y="2402350"/>
                  <a:ext cx="752700" cy="7413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78" name="Google Shape;1178;p82"/>
                <p:cNvCxnSpPr/>
                <p:nvPr/>
              </p:nvCxnSpPr>
              <p:spPr>
                <a:xfrm flipH="1">
                  <a:off x="1454075" y="2402350"/>
                  <a:ext cx="752700" cy="7413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79" name="Google Shape;1179;p82"/>
              <p:cNvGrpSpPr/>
              <p:nvPr/>
            </p:nvGrpSpPr>
            <p:grpSpPr>
              <a:xfrm flipH="1" rot="10800000">
                <a:off x="5941313" y="3143363"/>
                <a:ext cx="1511075" cy="741300"/>
                <a:chOff x="1454075" y="2402350"/>
                <a:chExt cx="1511075" cy="741300"/>
              </a:xfrm>
            </p:grpSpPr>
            <p:cxnSp>
              <p:nvCxnSpPr>
                <p:cNvPr id="1180" name="Google Shape;1180;p82"/>
                <p:cNvCxnSpPr/>
                <p:nvPr/>
              </p:nvCxnSpPr>
              <p:spPr>
                <a:xfrm>
                  <a:off x="2212450" y="2402350"/>
                  <a:ext cx="752700" cy="7413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81" name="Google Shape;1181;p82"/>
                <p:cNvCxnSpPr/>
                <p:nvPr/>
              </p:nvCxnSpPr>
              <p:spPr>
                <a:xfrm flipH="1">
                  <a:off x="1454075" y="2402350"/>
                  <a:ext cx="752700" cy="7413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83"/>
          <p:cNvSpPr/>
          <p:nvPr/>
        </p:nvSpPr>
        <p:spPr>
          <a:xfrm>
            <a:off x="2209600" y="2891650"/>
            <a:ext cx="252000" cy="252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3"/>
          <p:cNvSpPr/>
          <p:nvPr/>
        </p:nvSpPr>
        <p:spPr>
          <a:xfrm>
            <a:off x="6822100" y="2891650"/>
            <a:ext cx="252000" cy="252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83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1189" name="Google Shape;1189;p83"/>
          <p:cNvSpPr txBox="1"/>
          <p:nvPr/>
        </p:nvSpPr>
        <p:spPr>
          <a:xfrm>
            <a:off x="324000" y="622800"/>
            <a:ext cx="414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 on the other diagonal of the rhombus to find the perpendicular bisector of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83"/>
          <p:cNvSpPr txBox="1"/>
          <p:nvPr/>
        </p:nvSpPr>
        <p:spPr>
          <a:xfrm>
            <a:off x="4824000" y="622800"/>
            <a:ext cx="3996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Line segment AB is 4 cm long.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 rhombus to find the perpendicular bisector of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1" name="Google Shape;1191;p83"/>
          <p:cNvGrpSpPr/>
          <p:nvPr/>
        </p:nvGrpSpPr>
        <p:grpSpPr>
          <a:xfrm>
            <a:off x="1382579" y="3143375"/>
            <a:ext cx="1654083" cy="295650"/>
            <a:chOff x="2778334" y="2983850"/>
            <a:chExt cx="3266356" cy="295650"/>
          </a:xfrm>
        </p:grpSpPr>
        <p:cxnSp>
          <p:nvCxnSpPr>
            <p:cNvPr id="1192" name="Google Shape;1192;p83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3" name="Google Shape;1193;p83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4" name="Google Shape;1194;p83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5" name="Google Shape;1195;p83"/>
          <p:cNvSpPr txBox="1"/>
          <p:nvPr/>
        </p:nvSpPr>
        <p:spPr>
          <a:xfrm>
            <a:off x="4824000" y="4273475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6" name="Google Shape;1196;p83"/>
          <p:cNvGrpSpPr/>
          <p:nvPr/>
        </p:nvGrpSpPr>
        <p:grpSpPr>
          <a:xfrm>
            <a:off x="6128142" y="3143375"/>
            <a:ext cx="1387875" cy="295650"/>
            <a:chOff x="2778334" y="2983850"/>
            <a:chExt cx="3266356" cy="295650"/>
          </a:xfrm>
        </p:grpSpPr>
        <p:cxnSp>
          <p:nvCxnSpPr>
            <p:cNvPr id="1197" name="Google Shape;1197;p83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8" name="Google Shape;1198;p83"/>
            <p:cNvSpPr txBox="1"/>
            <p:nvPr/>
          </p:nvSpPr>
          <p:spPr>
            <a:xfrm>
              <a:off x="27783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9" name="Google Shape;1199;p83"/>
            <p:cNvSpPr txBox="1"/>
            <p:nvPr/>
          </p:nvSpPr>
          <p:spPr>
            <a:xfrm>
              <a:off x="57623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0" name="Google Shape;1200;p83"/>
          <p:cNvGrpSpPr/>
          <p:nvPr/>
        </p:nvGrpSpPr>
        <p:grpSpPr>
          <a:xfrm>
            <a:off x="394773" y="2081726"/>
            <a:ext cx="8126439" cy="2124000"/>
            <a:chOff x="394773" y="2081726"/>
            <a:chExt cx="8126439" cy="2124000"/>
          </a:xfrm>
        </p:grpSpPr>
        <p:sp>
          <p:nvSpPr>
            <p:cNvPr id="1201" name="Google Shape;1201;p83"/>
            <p:cNvSpPr/>
            <p:nvPr/>
          </p:nvSpPr>
          <p:spPr>
            <a:xfrm>
              <a:off x="5127837" y="2081726"/>
              <a:ext cx="2124000" cy="2124000"/>
            </a:xfrm>
            <a:prstGeom prst="ellipse">
              <a:avLst/>
            </a:prstGeom>
            <a:noFill/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02" name="Google Shape;1202;p83"/>
            <p:cNvGrpSpPr/>
            <p:nvPr/>
          </p:nvGrpSpPr>
          <p:grpSpPr>
            <a:xfrm>
              <a:off x="394773" y="2081726"/>
              <a:ext cx="3633800" cy="2124000"/>
              <a:chOff x="394773" y="2081726"/>
              <a:chExt cx="3633800" cy="2124000"/>
            </a:xfrm>
          </p:grpSpPr>
          <p:sp>
            <p:nvSpPr>
              <p:cNvPr id="1203" name="Google Shape;1203;p83"/>
              <p:cNvSpPr/>
              <p:nvPr/>
            </p:nvSpPr>
            <p:spPr>
              <a:xfrm>
                <a:off x="1904573" y="2081726"/>
                <a:ext cx="2124000" cy="2124000"/>
              </a:xfrm>
              <a:prstGeom prst="ellipse">
                <a:avLst/>
              </a:prstGeom>
              <a:noFill/>
              <a:ln cap="flat" cmpd="sng" w="38100">
                <a:solidFill>
                  <a:srgbClr val="374CF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04" name="Google Shape;1204;p83"/>
              <p:cNvSpPr/>
              <p:nvPr/>
            </p:nvSpPr>
            <p:spPr>
              <a:xfrm>
                <a:off x="394773" y="2081726"/>
                <a:ext cx="2124000" cy="2124000"/>
              </a:xfrm>
              <a:prstGeom prst="ellipse">
                <a:avLst/>
              </a:prstGeom>
              <a:noFill/>
              <a:ln cap="flat" cmpd="sng" w="38100">
                <a:solidFill>
                  <a:srgbClr val="374CF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205" name="Google Shape;1205;p83"/>
            <p:cNvSpPr/>
            <p:nvPr/>
          </p:nvSpPr>
          <p:spPr>
            <a:xfrm>
              <a:off x="6397212" y="2081726"/>
              <a:ext cx="2124000" cy="2124000"/>
            </a:xfrm>
            <a:prstGeom prst="ellipse">
              <a:avLst/>
            </a:prstGeom>
            <a:noFill/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06" name="Google Shape;1206;p83"/>
          <p:cNvSpPr/>
          <p:nvPr/>
        </p:nvSpPr>
        <p:spPr>
          <a:xfrm rot="-2700000">
            <a:off x="2041390" y="2229677"/>
            <a:ext cx="336441" cy="336441"/>
          </a:xfrm>
          <a:prstGeom prst="mathMultiply">
            <a:avLst>
              <a:gd fmla="val 6785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3"/>
          <p:cNvSpPr/>
          <p:nvPr/>
        </p:nvSpPr>
        <p:spPr>
          <a:xfrm rot="-2700000">
            <a:off x="2041390" y="3715677"/>
            <a:ext cx="336441" cy="336441"/>
          </a:xfrm>
          <a:prstGeom prst="mathMultiply">
            <a:avLst>
              <a:gd fmla="val 6785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8" name="Google Shape;1208;p83"/>
          <p:cNvGrpSpPr/>
          <p:nvPr/>
        </p:nvGrpSpPr>
        <p:grpSpPr>
          <a:xfrm>
            <a:off x="1454075" y="2402350"/>
            <a:ext cx="1511075" cy="741300"/>
            <a:chOff x="1454075" y="2402350"/>
            <a:chExt cx="1511075" cy="741300"/>
          </a:xfrm>
        </p:grpSpPr>
        <p:cxnSp>
          <p:nvCxnSpPr>
            <p:cNvPr id="1209" name="Google Shape;1209;p83"/>
            <p:cNvCxnSpPr/>
            <p:nvPr/>
          </p:nvCxnSpPr>
          <p:spPr>
            <a:xfrm>
              <a:off x="2212450" y="2402350"/>
              <a:ext cx="752700" cy="741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0" name="Google Shape;1210;p83"/>
            <p:cNvCxnSpPr/>
            <p:nvPr/>
          </p:nvCxnSpPr>
          <p:spPr>
            <a:xfrm flipH="1">
              <a:off x="1454075" y="2402350"/>
              <a:ext cx="752700" cy="741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11" name="Google Shape;1211;p83"/>
          <p:cNvGrpSpPr/>
          <p:nvPr/>
        </p:nvGrpSpPr>
        <p:grpSpPr>
          <a:xfrm flipH="1" rot="10800000">
            <a:off x="1454075" y="3143363"/>
            <a:ext cx="1511075" cy="741300"/>
            <a:chOff x="1454075" y="2402350"/>
            <a:chExt cx="1511075" cy="741300"/>
          </a:xfrm>
        </p:grpSpPr>
        <p:cxnSp>
          <p:nvCxnSpPr>
            <p:cNvPr id="1212" name="Google Shape;1212;p83"/>
            <p:cNvCxnSpPr/>
            <p:nvPr/>
          </p:nvCxnSpPr>
          <p:spPr>
            <a:xfrm>
              <a:off x="2212450" y="2402350"/>
              <a:ext cx="752700" cy="741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3" name="Google Shape;1213;p83"/>
            <p:cNvCxnSpPr/>
            <p:nvPr/>
          </p:nvCxnSpPr>
          <p:spPr>
            <a:xfrm flipH="1">
              <a:off x="1454075" y="2402350"/>
              <a:ext cx="752700" cy="741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14" name="Google Shape;1214;p83"/>
          <p:cNvGrpSpPr/>
          <p:nvPr/>
        </p:nvGrpSpPr>
        <p:grpSpPr>
          <a:xfrm>
            <a:off x="6185095" y="2055826"/>
            <a:ext cx="1267036" cy="2170148"/>
            <a:chOff x="6185095" y="2055826"/>
            <a:chExt cx="1267036" cy="2170148"/>
          </a:xfrm>
        </p:grpSpPr>
        <p:sp>
          <p:nvSpPr>
            <p:cNvPr id="1215" name="Google Shape;1215;p83"/>
            <p:cNvSpPr/>
            <p:nvPr/>
          </p:nvSpPr>
          <p:spPr>
            <a:xfrm rot="-2700000">
              <a:off x="6653866" y="2125505"/>
              <a:ext cx="336441" cy="336441"/>
            </a:xfrm>
            <a:prstGeom prst="mathMultiply">
              <a:avLst>
                <a:gd fmla="val 6785" name="adj1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6" name="Google Shape;1216;p83"/>
            <p:cNvSpPr/>
            <p:nvPr/>
          </p:nvSpPr>
          <p:spPr>
            <a:xfrm rot="-2700000">
              <a:off x="6653778" y="3819854"/>
              <a:ext cx="336441" cy="336441"/>
            </a:xfrm>
            <a:prstGeom prst="mathMultiply">
              <a:avLst>
                <a:gd fmla="val 6785" name="adj1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17" name="Google Shape;1217;p83"/>
            <p:cNvGrpSpPr/>
            <p:nvPr/>
          </p:nvGrpSpPr>
          <p:grpSpPr>
            <a:xfrm>
              <a:off x="6185095" y="2301234"/>
              <a:ext cx="1267036" cy="1684203"/>
              <a:chOff x="5941313" y="2402350"/>
              <a:chExt cx="1511075" cy="1482313"/>
            </a:xfrm>
          </p:grpSpPr>
          <p:grpSp>
            <p:nvGrpSpPr>
              <p:cNvPr id="1218" name="Google Shape;1218;p83"/>
              <p:cNvGrpSpPr/>
              <p:nvPr/>
            </p:nvGrpSpPr>
            <p:grpSpPr>
              <a:xfrm>
                <a:off x="5941313" y="2402350"/>
                <a:ext cx="1511075" cy="741300"/>
                <a:chOff x="1454075" y="2402350"/>
                <a:chExt cx="1511075" cy="741300"/>
              </a:xfrm>
            </p:grpSpPr>
            <p:cxnSp>
              <p:nvCxnSpPr>
                <p:cNvPr id="1219" name="Google Shape;1219;p83"/>
                <p:cNvCxnSpPr/>
                <p:nvPr/>
              </p:nvCxnSpPr>
              <p:spPr>
                <a:xfrm>
                  <a:off x="2212450" y="2402350"/>
                  <a:ext cx="752700" cy="7413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20" name="Google Shape;1220;p83"/>
                <p:cNvCxnSpPr/>
                <p:nvPr/>
              </p:nvCxnSpPr>
              <p:spPr>
                <a:xfrm flipH="1">
                  <a:off x="1454075" y="2402350"/>
                  <a:ext cx="752700" cy="7413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21" name="Google Shape;1221;p83"/>
              <p:cNvGrpSpPr/>
              <p:nvPr/>
            </p:nvGrpSpPr>
            <p:grpSpPr>
              <a:xfrm flipH="1" rot="10800000">
                <a:off x="5941313" y="3143363"/>
                <a:ext cx="1511075" cy="741300"/>
                <a:chOff x="1454075" y="2402350"/>
                <a:chExt cx="1511075" cy="741300"/>
              </a:xfrm>
            </p:grpSpPr>
            <p:cxnSp>
              <p:nvCxnSpPr>
                <p:cNvPr id="1222" name="Google Shape;1222;p83"/>
                <p:cNvCxnSpPr/>
                <p:nvPr/>
              </p:nvCxnSpPr>
              <p:spPr>
                <a:xfrm>
                  <a:off x="2212450" y="2402350"/>
                  <a:ext cx="752700" cy="7413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23" name="Google Shape;1223;p83"/>
                <p:cNvCxnSpPr/>
                <p:nvPr/>
              </p:nvCxnSpPr>
              <p:spPr>
                <a:xfrm flipH="1">
                  <a:off x="1454075" y="2402350"/>
                  <a:ext cx="752700" cy="7413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cxnSp>
        <p:nvCxnSpPr>
          <p:cNvPr id="1224" name="Google Shape;1224;p83"/>
          <p:cNvCxnSpPr/>
          <p:nvPr/>
        </p:nvCxnSpPr>
        <p:spPr>
          <a:xfrm>
            <a:off x="2209611" y="2402350"/>
            <a:ext cx="0" cy="14889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5" name="Google Shape;1225;p83"/>
          <p:cNvCxnSpPr/>
          <p:nvPr/>
        </p:nvCxnSpPr>
        <p:spPr>
          <a:xfrm>
            <a:off x="6822100" y="2284925"/>
            <a:ext cx="0" cy="17070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84"/>
          <p:cNvSpPr txBox="1"/>
          <p:nvPr/>
        </p:nvSpPr>
        <p:spPr>
          <a:xfrm>
            <a:off x="324025" y="616367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Give an explanation for why each construction doesn’t result in a perpendicular bisector of the line segment XY, and what can be done to make their construction better.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grpSp>
        <p:nvGrpSpPr>
          <p:cNvPr id="1232" name="Google Shape;1232;p84"/>
          <p:cNvGrpSpPr/>
          <p:nvPr/>
        </p:nvGrpSpPr>
        <p:grpSpPr>
          <a:xfrm>
            <a:off x="324004" y="2123483"/>
            <a:ext cx="2251781" cy="1104300"/>
            <a:chOff x="552629" y="1971083"/>
            <a:chExt cx="2251781" cy="1104300"/>
          </a:xfrm>
        </p:grpSpPr>
        <p:sp>
          <p:nvSpPr>
            <p:cNvPr id="1233" name="Google Shape;1233;p84"/>
            <p:cNvSpPr/>
            <p:nvPr/>
          </p:nvSpPr>
          <p:spPr>
            <a:xfrm>
              <a:off x="1700110" y="1971083"/>
              <a:ext cx="1104300" cy="11043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4" name="Google Shape;1234;p84"/>
            <p:cNvSpPr/>
            <p:nvPr/>
          </p:nvSpPr>
          <p:spPr>
            <a:xfrm>
              <a:off x="552629" y="1971083"/>
              <a:ext cx="1104300" cy="11043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35" name="Google Shape;1235;p84"/>
            <p:cNvCxnSpPr/>
            <p:nvPr/>
          </p:nvCxnSpPr>
          <p:spPr>
            <a:xfrm>
              <a:off x="1104389" y="2521250"/>
              <a:ext cx="1149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6" name="Google Shape;1236;p84"/>
            <p:cNvSpPr txBox="1"/>
            <p:nvPr/>
          </p:nvSpPr>
          <p:spPr>
            <a:xfrm>
              <a:off x="907120" y="2382650"/>
              <a:ext cx="19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7" name="Google Shape;1237;p84"/>
            <p:cNvSpPr txBox="1"/>
            <p:nvPr/>
          </p:nvSpPr>
          <p:spPr>
            <a:xfrm>
              <a:off x="2254192" y="2382650"/>
              <a:ext cx="19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8" name="Google Shape;1238;p84"/>
          <p:cNvGrpSpPr/>
          <p:nvPr/>
        </p:nvGrpSpPr>
        <p:grpSpPr>
          <a:xfrm>
            <a:off x="3049323" y="1729675"/>
            <a:ext cx="2605300" cy="1891800"/>
            <a:chOff x="3486325" y="1577275"/>
            <a:chExt cx="2605300" cy="1891800"/>
          </a:xfrm>
        </p:grpSpPr>
        <p:sp>
          <p:nvSpPr>
            <p:cNvPr id="1239" name="Google Shape;1239;p84"/>
            <p:cNvSpPr/>
            <p:nvPr/>
          </p:nvSpPr>
          <p:spPr>
            <a:xfrm>
              <a:off x="4199825" y="1577275"/>
              <a:ext cx="1891800" cy="18918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0" name="Google Shape;1240;p84"/>
            <p:cNvSpPr/>
            <p:nvPr/>
          </p:nvSpPr>
          <p:spPr>
            <a:xfrm>
              <a:off x="3486325" y="2011275"/>
              <a:ext cx="1023900" cy="10239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41" name="Google Shape;1241;p84"/>
            <p:cNvGrpSpPr/>
            <p:nvPr/>
          </p:nvGrpSpPr>
          <p:grpSpPr>
            <a:xfrm>
              <a:off x="3800633" y="2382650"/>
              <a:ext cx="1544340" cy="277200"/>
              <a:chOff x="801275" y="2611250"/>
              <a:chExt cx="2315700" cy="277200"/>
            </a:xfrm>
          </p:grpSpPr>
          <p:cxnSp>
            <p:nvCxnSpPr>
              <p:cNvPr id="1242" name="Google Shape;1242;p84"/>
              <p:cNvCxnSpPr/>
              <p:nvPr/>
            </p:nvCxnSpPr>
            <p:spPr>
              <a:xfrm>
                <a:off x="1097075" y="2749850"/>
                <a:ext cx="1724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3" name="Google Shape;1243;p84"/>
              <p:cNvSpPr txBox="1"/>
              <p:nvPr/>
            </p:nvSpPr>
            <p:spPr>
              <a:xfrm>
                <a:off x="801275" y="2611250"/>
                <a:ext cx="2958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44" name="Google Shape;1244;p84"/>
              <p:cNvSpPr txBox="1"/>
              <p:nvPr/>
            </p:nvSpPr>
            <p:spPr>
              <a:xfrm>
                <a:off x="2821175" y="2611250"/>
                <a:ext cx="2958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45" name="Google Shape;1245;p84"/>
            <p:cNvGrpSpPr/>
            <p:nvPr/>
          </p:nvGrpSpPr>
          <p:grpSpPr>
            <a:xfrm>
              <a:off x="3998250" y="2104475"/>
              <a:ext cx="1154150" cy="419100"/>
              <a:chOff x="3998250" y="2104475"/>
              <a:chExt cx="1154150" cy="419100"/>
            </a:xfrm>
          </p:grpSpPr>
          <p:cxnSp>
            <p:nvCxnSpPr>
              <p:cNvPr id="1246" name="Google Shape;1246;p84"/>
              <p:cNvCxnSpPr/>
              <p:nvPr/>
            </p:nvCxnSpPr>
            <p:spPr>
              <a:xfrm flipH="1" rot="10800000">
                <a:off x="3998250" y="2104475"/>
                <a:ext cx="295800" cy="4191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7" name="Google Shape;1247;p84"/>
              <p:cNvCxnSpPr/>
              <p:nvPr/>
            </p:nvCxnSpPr>
            <p:spPr>
              <a:xfrm>
                <a:off x="4294100" y="2108950"/>
                <a:ext cx="858300" cy="414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48" name="Google Shape;1248;p84"/>
            <p:cNvGrpSpPr/>
            <p:nvPr/>
          </p:nvGrpSpPr>
          <p:grpSpPr>
            <a:xfrm flipH="1" rot="10800000">
              <a:off x="3998250" y="2525828"/>
              <a:ext cx="1154150" cy="419100"/>
              <a:chOff x="3998250" y="2104475"/>
              <a:chExt cx="1154150" cy="419100"/>
            </a:xfrm>
          </p:grpSpPr>
          <p:cxnSp>
            <p:nvCxnSpPr>
              <p:cNvPr id="1249" name="Google Shape;1249;p84"/>
              <p:cNvCxnSpPr/>
              <p:nvPr/>
            </p:nvCxnSpPr>
            <p:spPr>
              <a:xfrm flipH="1" rot="10800000">
                <a:off x="3998250" y="2104475"/>
                <a:ext cx="295800" cy="4191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0" name="Google Shape;1250;p84"/>
              <p:cNvCxnSpPr/>
              <p:nvPr/>
            </p:nvCxnSpPr>
            <p:spPr>
              <a:xfrm>
                <a:off x="4294100" y="2108950"/>
                <a:ext cx="858300" cy="414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251" name="Google Shape;1251;p84"/>
            <p:cNvCxnSpPr/>
            <p:nvPr/>
          </p:nvCxnSpPr>
          <p:spPr>
            <a:xfrm>
              <a:off x="4296275" y="2104475"/>
              <a:ext cx="0" cy="8427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52" name="Google Shape;1252;p84"/>
          <p:cNvGrpSpPr/>
          <p:nvPr/>
        </p:nvGrpSpPr>
        <p:grpSpPr>
          <a:xfrm>
            <a:off x="6128161" y="1903440"/>
            <a:ext cx="2691853" cy="1544420"/>
            <a:chOff x="6128161" y="1751040"/>
            <a:chExt cx="2691853" cy="1544420"/>
          </a:xfrm>
        </p:grpSpPr>
        <p:grpSp>
          <p:nvGrpSpPr>
            <p:cNvPr id="1253" name="Google Shape;1253;p84"/>
            <p:cNvGrpSpPr/>
            <p:nvPr/>
          </p:nvGrpSpPr>
          <p:grpSpPr>
            <a:xfrm>
              <a:off x="6128161" y="1751040"/>
              <a:ext cx="2691853" cy="1544420"/>
              <a:chOff x="6348236" y="1751040"/>
              <a:chExt cx="2691853" cy="1544420"/>
            </a:xfrm>
          </p:grpSpPr>
          <p:sp>
            <p:nvSpPr>
              <p:cNvPr id="1254" name="Google Shape;1254;p84"/>
              <p:cNvSpPr/>
              <p:nvPr/>
            </p:nvSpPr>
            <p:spPr>
              <a:xfrm>
                <a:off x="7495689" y="1751040"/>
                <a:ext cx="1544400" cy="1544400"/>
              </a:xfrm>
              <a:prstGeom prst="ellipse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55" name="Google Shape;1255;p84"/>
              <p:cNvSpPr/>
              <p:nvPr/>
            </p:nvSpPr>
            <p:spPr>
              <a:xfrm>
                <a:off x="6348236" y="1751060"/>
                <a:ext cx="1544400" cy="1544400"/>
              </a:xfrm>
              <a:prstGeom prst="ellipse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256" name="Google Shape;1256;p84"/>
              <p:cNvGrpSpPr/>
              <p:nvPr/>
            </p:nvGrpSpPr>
            <p:grpSpPr>
              <a:xfrm>
                <a:off x="6617945" y="2382650"/>
                <a:ext cx="1544340" cy="277200"/>
                <a:chOff x="801275" y="2611250"/>
                <a:chExt cx="2315700" cy="277200"/>
              </a:xfrm>
            </p:grpSpPr>
            <p:cxnSp>
              <p:nvCxnSpPr>
                <p:cNvPr id="1257" name="Google Shape;1257;p84"/>
                <p:cNvCxnSpPr/>
                <p:nvPr/>
              </p:nvCxnSpPr>
              <p:spPr>
                <a:xfrm>
                  <a:off x="1097075" y="2749850"/>
                  <a:ext cx="17241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258" name="Google Shape;1258;p84"/>
                <p:cNvSpPr txBox="1"/>
                <p:nvPr/>
              </p:nvSpPr>
              <p:spPr>
                <a:xfrm>
                  <a:off x="801275" y="2611250"/>
                  <a:ext cx="295800" cy="27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X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259" name="Google Shape;1259;p84"/>
                <p:cNvSpPr txBox="1"/>
                <p:nvPr/>
              </p:nvSpPr>
              <p:spPr>
                <a:xfrm>
                  <a:off x="2821175" y="2611250"/>
                  <a:ext cx="295800" cy="27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Y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grpSp>
          <p:nvGrpSpPr>
            <p:cNvPr id="1260" name="Google Shape;1260;p84"/>
            <p:cNvGrpSpPr/>
            <p:nvPr/>
          </p:nvGrpSpPr>
          <p:grpSpPr>
            <a:xfrm rot="10800000">
              <a:off x="6592475" y="2524192"/>
              <a:ext cx="1154030" cy="512700"/>
              <a:chOff x="3998250" y="2010875"/>
              <a:chExt cx="1154030" cy="512700"/>
            </a:xfrm>
          </p:grpSpPr>
          <p:cxnSp>
            <p:nvCxnSpPr>
              <p:cNvPr id="1261" name="Google Shape;1261;p84"/>
              <p:cNvCxnSpPr/>
              <p:nvPr/>
            </p:nvCxnSpPr>
            <p:spPr>
              <a:xfrm flipH="1" rot="10800000">
                <a:off x="3998250" y="2010875"/>
                <a:ext cx="269700" cy="512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2" name="Google Shape;1262;p84"/>
              <p:cNvCxnSpPr/>
              <p:nvPr/>
            </p:nvCxnSpPr>
            <p:spPr>
              <a:xfrm>
                <a:off x="4269080" y="2012067"/>
                <a:ext cx="883200" cy="511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63" name="Google Shape;1263;p84"/>
            <p:cNvGrpSpPr/>
            <p:nvPr/>
          </p:nvGrpSpPr>
          <p:grpSpPr>
            <a:xfrm flipH="1">
              <a:off x="6592475" y="2006702"/>
              <a:ext cx="1154030" cy="512700"/>
              <a:chOff x="3998250" y="2010875"/>
              <a:chExt cx="1154030" cy="512700"/>
            </a:xfrm>
          </p:grpSpPr>
          <p:cxnSp>
            <p:nvCxnSpPr>
              <p:cNvPr id="1264" name="Google Shape;1264;p84"/>
              <p:cNvCxnSpPr/>
              <p:nvPr/>
            </p:nvCxnSpPr>
            <p:spPr>
              <a:xfrm flipH="1" rot="10800000">
                <a:off x="3998250" y="2010875"/>
                <a:ext cx="269700" cy="512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5" name="Google Shape;1265;p84"/>
              <p:cNvCxnSpPr/>
              <p:nvPr/>
            </p:nvCxnSpPr>
            <p:spPr>
              <a:xfrm>
                <a:off x="4269080" y="2012067"/>
                <a:ext cx="883200" cy="511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266" name="Google Shape;1266;p84"/>
            <p:cNvCxnSpPr/>
            <p:nvPr/>
          </p:nvCxnSpPr>
          <p:spPr>
            <a:xfrm>
              <a:off x="7474815" y="1995547"/>
              <a:ext cx="0" cy="10314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67" name="Google Shape;1267;p84"/>
          <p:cNvSpPr txBox="1"/>
          <p:nvPr/>
        </p:nvSpPr>
        <p:spPr>
          <a:xfrm>
            <a:off x="324025" y="1673500"/>
            <a:ext cx="30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84"/>
          <p:cNvSpPr txBox="1"/>
          <p:nvPr/>
        </p:nvSpPr>
        <p:spPr>
          <a:xfrm>
            <a:off x="3095250" y="1673500"/>
            <a:ext cx="30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84"/>
          <p:cNvSpPr txBox="1"/>
          <p:nvPr/>
        </p:nvSpPr>
        <p:spPr>
          <a:xfrm>
            <a:off x="6179925" y="1673500"/>
            <a:ext cx="30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4" name="Google Shape;1274;p85"/>
          <p:cNvPicPr preferRelativeResize="0"/>
          <p:nvPr/>
        </p:nvPicPr>
        <p:blipFill rotWithShape="1">
          <a:blip r:embed="rId3">
            <a:alphaModFix/>
          </a:blip>
          <a:srcRect b="18962" l="0" r="4351" t="0"/>
          <a:stretch/>
        </p:blipFill>
        <p:spPr>
          <a:xfrm>
            <a:off x="522275" y="1169375"/>
            <a:ext cx="7746825" cy="300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85"/>
          <p:cNvSpPr/>
          <p:nvPr/>
        </p:nvSpPr>
        <p:spPr>
          <a:xfrm>
            <a:off x="3513794" y="2862000"/>
            <a:ext cx="3179100" cy="14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85"/>
          <p:cNvSpPr/>
          <p:nvPr/>
        </p:nvSpPr>
        <p:spPr>
          <a:xfrm>
            <a:off x="3822108" y="2487975"/>
            <a:ext cx="1893900" cy="60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5"/>
          <p:cNvSpPr txBox="1"/>
          <p:nvPr/>
        </p:nvSpPr>
        <p:spPr>
          <a:xfrm>
            <a:off x="324025" y="616367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Find the perpendicular bisector for each line segment by constructing a rhombus.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1279" name="Google Shape;1279;p85"/>
          <p:cNvSpPr txBox="1"/>
          <p:nvPr/>
        </p:nvSpPr>
        <p:spPr>
          <a:xfrm>
            <a:off x="1207700" y="1909425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85"/>
          <p:cNvSpPr txBox="1"/>
          <p:nvPr/>
        </p:nvSpPr>
        <p:spPr>
          <a:xfrm>
            <a:off x="2635325" y="1909425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85"/>
          <p:cNvSpPr txBox="1"/>
          <p:nvPr/>
        </p:nvSpPr>
        <p:spPr>
          <a:xfrm>
            <a:off x="4087588" y="1746981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85"/>
          <p:cNvSpPr txBox="1"/>
          <p:nvPr/>
        </p:nvSpPr>
        <p:spPr>
          <a:xfrm>
            <a:off x="4996288" y="1746981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85"/>
          <p:cNvSpPr txBox="1"/>
          <p:nvPr/>
        </p:nvSpPr>
        <p:spPr>
          <a:xfrm>
            <a:off x="1146128" y="3731941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85"/>
          <p:cNvSpPr txBox="1"/>
          <p:nvPr/>
        </p:nvSpPr>
        <p:spPr>
          <a:xfrm>
            <a:off x="2462691" y="3731941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85"/>
          <p:cNvSpPr/>
          <p:nvPr/>
        </p:nvSpPr>
        <p:spPr>
          <a:xfrm>
            <a:off x="6341625" y="2655700"/>
            <a:ext cx="924000" cy="2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85"/>
          <p:cNvSpPr/>
          <p:nvPr/>
        </p:nvSpPr>
        <p:spPr>
          <a:xfrm>
            <a:off x="5774394" y="1153725"/>
            <a:ext cx="3179100" cy="146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7" name="Google Shape;1287;p85"/>
          <p:cNvPicPr preferRelativeResize="0"/>
          <p:nvPr/>
        </p:nvPicPr>
        <p:blipFill rotWithShape="1">
          <a:blip r:embed="rId3">
            <a:alphaModFix/>
          </a:blip>
          <a:srcRect b="1670" l="38085" r="31766" t="36229"/>
          <a:stretch/>
        </p:blipFill>
        <p:spPr>
          <a:xfrm>
            <a:off x="5375500" y="1206500"/>
            <a:ext cx="2441802" cy="23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85"/>
          <p:cNvSpPr txBox="1"/>
          <p:nvPr/>
        </p:nvSpPr>
        <p:spPr>
          <a:xfrm>
            <a:off x="6501262" y="2409703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85"/>
          <p:cNvSpPr txBox="1"/>
          <p:nvPr/>
        </p:nvSpPr>
        <p:spPr>
          <a:xfrm>
            <a:off x="7401912" y="2409703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86"/>
          <p:cNvSpPr txBox="1"/>
          <p:nvPr/>
        </p:nvSpPr>
        <p:spPr>
          <a:xfrm>
            <a:off x="324025" y="616367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Give an explanation for why each construction doesn’t result in a perpendicular bisector of the line segment XY.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grpSp>
        <p:nvGrpSpPr>
          <p:cNvPr id="1296" name="Google Shape;1296;p86"/>
          <p:cNvGrpSpPr/>
          <p:nvPr/>
        </p:nvGrpSpPr>
        <p:grpSpPr>
          <a:xfrm>
            <a:off x="324004" y="2123483"/>
            <a:ext cx="2251781" cy="1104300"/>
            <a:chOff x="552629" y="1971083"/>
            <a:chExt cx="2251781" cy="1104300"/>
          </a:xfrm>
        </p:grpSpPr>
        <p:sp>
          <p:nvSpPr>
            <p:cNvPr id="1297" name="Google Shape;1297;p86"/>
            <p:cNvSpPr/>
            <p:nvPr/>
          </p:nvSpPr>
          <p:spPr>
            <a:xfrm>
              <a:off x="1700110" y="1971083"/>
              <a:ext cx="1104300" cy="11043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8" name="Google Shape;1298;p86"/>
            <p:cNvSpPr/>
            <p:nvPr/>
          </p:nvSpPr>
          <p:spPr>
            <a:xfrm>
              <a:off x="552629" y="1971083"/>
              <a:ext cx="1104300" cy="11043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99" name="Google Shape;1299;p86"/>
            <p:cNvCxnSpPr/>
            <p:nvPr/>
          </p:nvCxnSpPr>
          <p:spPr>
            <a:xfrm>
              <a:off x="1104389" y="2521250"/>
              <a:ext cx="1149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0" name="Google Shape;1300;p86"/>
            <p:cNvSpPr txBox="1"/>
            <p:nvPr/>
          </p:nvSpPr>
          <p:spPr>
            <a:xfrm>
              <a:off x="907120" y="2382650"/>
              <a:ext cx="19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1" name="Google Shape;1301;p86"/>
            <p:cNvSpPr txBox="1"/>
            <p:nvPr/>
          </p:nvSpPr>
          <p:spPr>
            <a:xfrm>
              <a:off x="2254192" y="2382650"/>
              <a:ext cx="19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2" name="Google Shape;1302;p86"/>
          <p:cNvSpPr txBox="1"/>
          <p:nvPr/>
        </p:nvSpPr>
        <p:spPr>
          <a:xfrm>
            <a:off x="324025" y="1673500"/>
            <a:ext cx="30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86"/>
          <p:cNvSpPr txBox="1"/>
          <p:nvPr/>
        </p:nvSpPr>
        <p:spPr>
          <a:xfrm>
            <a:off x="3003825" y="1620000"/>
            <a:ext cx="58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circles are too small; they do not intersect.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4" name="Google Shape;1304;p86"/>
          <p:cNvSpPr txBox="1"/>
          <p:nvPr/>
        </p:nvSpPr>
        <p:spPr>
          <a:xfrm>
            <a:off x="3003825" y="2123475"/>
            <a:ext cx="581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Make each circle bigger so they can intersect with each other, but check that both circles are still the same size.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87"/>
          <p:cNvSpPr txBox="1"/>
          <p:nvPr/>
        </p:nvSpPr>
        <p:spPr>
          <a:xfrm>
            <a:off x="324025" y="616367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Give an explanation for why each construction doesn’t result in a perpendicular bisector of the line segment XY.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1311" name="Google Shape;1311;p87"/>
          <p:cNvSpPr txBox="1"/>
          <p:nvPr/>
        </p:nvSpPr>
        <p:spPr>
          <a:xfrm>
            <a:off x="3596750" y="1620000"/>
            <a:ext cx="522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Both circles are different sizes.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2" name="Google Shape;1312;p87"/>
          <p:cNvSpPr txBox="1"/>
          <p:nvPr/>
        </p:nvSpPr>
        <p:spPr>
          <a:xfrm>
            <a:off x="3596750" y="2123475"/>
            <a:ext cx="52233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After constructing the first circle, check that your pair of compasses are still the same width apart so the second circle is the same size as the first.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can even draw a reference line to use before you draw any circles.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13" name="Google Shape;1313;p87"/>
          <p:cNvGrpSpPr/>
          <p:nvPr/>
        </p:nvGrpSpPr>
        <p:grpSpPr>
          <a:xfrm>
            <a:off x="324023" y="1729675"/>
            <a:ext cx="2605300" cy="1891800"/>
            <a:chOff x="3486325" y="1577275"/>
            <a:chExt cx="2605300" cy="1891800"/>
          </a:xfrm>
        </p:grpSpPr>
        <p:sp>
          <p:nvSpPr>
            <p:cNvPr id="1314" name="Google Shape;1314;p87"/>
            <p:cNvSpPr/>
            <p:nvPr/>
          </p:nvSpPr>
          <p:spPr>
            <a:xfrm>
              <a:off x="4199825" y="1577275"/>
              <a:ext cx="1891800" cy="18918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5" name="Google Shape;1315;p87"/>
            <p:cNvSpPr/>
            <p:nvPr/>
          </p:nvSpPr>
          <p:spPr>
            <a:xfrm>
              <a:off x="3486325" y="2011275"/>
              <a:ext cx="1023900" cy="10239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16" name="Google Shape;1316;p87"/>
            <p:cNvGrpSpPr/>
            <p:nvPr/>
          </p:nvGrpSpPr>
          <p:grpSpPr>
            <a:xfrm>
              <a:off x="3800633" y="2382650"/>
              <a:ext cx="1544340" cy="277200"/>
              <a:chOff x="801275" y="2611250"/>
              <a:chExt cx="2315700" cy="277200"/>
            </a:xfrm>
          </p:grpSpPr>
          <p:cxnSp>
            <p:nvCxnSpPr>
              <p:cNvPr id="1317" name="Google Shape;1317;p87"/>
              <p:cNvCxnSpPr/>
              <p:nvPr/>
            </p:nvCxnSpPr>
            <p:spPr>
              <a:xfrm>
                <a:off x="1097075" y="2749850"/>
                <a:ext cx="17241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8" name="Google Shape;1318;p87"/>
              <p:cNvSpPr txBox="1"/>
              <p:nvPr/>
            </p:nvSpPr>
            <p:spPr>
              <a:xfrm>
                <a:off x="801275" y="2611250"/>
                <a:ext cx="2958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19" name="Google Shape;1319;p87"/>
              <p:cNvSpPr txBox="1"/>
              <p:nvPr/>
            </p:nvSpPr>
            <p:spPr>
              <a:xfrm>
                <a:off x="2821175" y="2611250"/>
                <a:ext cx="2958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20" name="Google Shape;1320;p87"/>
            <p:cNvGrpSpPr/>
            <p:nvPr/>
          </p:nvGrpSpPr>
          <p:grpSpPr>
            <a:xfrm>
              <a:off x="3998250" y="2104475"/>
              <a:ext cx="1154150" cy="419100"/>
              <a:chOff x="3998250" y="2104475"/>
              <a:chExt cx="1154150" cy="419100"/>
            </a:xfrm>
          </p:grpSpPr>
          <p:cxnSp>
            <p:nvCxnSpPr>
              <p:cNvPr id="1321" name="Google Shape;1321;p87"/>
              <p:cNvCxnSpPr/>
              <p:nvPr/>
            </p:nvCxnSpPr>
            <p:spPr>
              <a:xfrm flipH="1" rot="10800000">
                <a:off x="3998250" y="2104475"/>
                <a:ext cx="295800" cy="4191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2" name="Google Shape;1322;p87"/>
              <p:cNvCxnSpPr/>
              <p:nvPr/>
            </p:nvCxnSpPr>
            <p:spPr>
              <a:xfrm>
                <a:off x="4294100" y="2108950"/>
                <a:ext cx="858300" cy="414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23" name="Google Shape;1323;p87"/>
            <p:cNvGrpSpPr/>
            <p:nvPr/>
          </p:nvGrpSpPr>
          <p:grpSpPr>
            <a:xfrm flipH="1" rot="10800000">
              <a:off x="3998250" y="2525828"/>
              <a:ext cx="1154150" cy="419100"/>
              <a:chOff x="3998250" y="2104475"/>
              <a:chExt cx="1154150" cy="419100"/>
            </a:xfrm>
          </p:grpSpPr>
          <p:cxnSp>
            <p:nvCxnSpPr>
              <p:cNvPr id="1324" name="Google Shape;1324;p87"/>
              <p:cNvCxnSpPr/>
              <p:nvPr/>
            </p:nvCxnSpPr>
            <p:spPr>
              <a:xfrm flipH="1" rot="10800000">
                <a:off x="3998250" y="2104475"/>
                <a:ext cx="295800" cy="4191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5" name="Google Shape;1325;p87"/>
              <p:cNvCxnSpPr/>
              <p:nvPr/>
            </p:nvCxnSpPr>
            <p:spPr>
              <a:xfrm>
                <a:off x="4294100" y="2108950"/>
                <a:ext cx="858300" cy="414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326" name="Google Shape;1326;p87"/>
            <p:cNvCxnSpPr/>
            <p:nvPr/>
          </p:nvCxnSpPr>
          <p:spPr>
            <a:xfrm>
              <a:off x="4296275" y="2104475"/>
              <a:ext cx="0" cy="8427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27" name="Google Shape;1327;p87"/>
          <p:cNvSpPr txBox="1"/>
          <p:nvPr/>
        </p:nvSpPr>
        <p:spPr>
          <a:xfrm>
            <a:off x="369950" y="1673500"/>
            <a:ext cx="30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88"/>
          <p:cNvSpPr txBox="1"/>
          <p:nvPr/>
        </p:nvSpPr>
        <p:spPr>
          <a:xfrm>
            <a:off x="324025" y="616367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Give an explanation for why each construction doesn’t result in a perpendicular bisector of the line segment XY.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grpSp>
        <p:nvGrpSpPr>
          <p:cNvPr id="1334" name="Google Shape;1334;p88"/>
          <p:cNvGrpSpPr/>
          <p:nvPr/>
        </p:nvGrpSpPr>
        <p:grpSpPr>
          <a:xfrm>
            <a:off x="624761" y="1903440"/>
            <a:ext cx="2691853" cy="1544420"/>
            <a:chOff x="6128161" y="1751040"/>
            <a:chExt cx="2691853" cy="1544420"/>
          </a:xfrm>
        </p:grpSpPr>
        <p:grpSp>
          <p:nvGrpSpPr>
            <p:cNvPr id="1335" name="Google Shape;1335;p88"/>
            <p:cNvGrpSpPr/>
            <p:nvPr/>
          </p:nvGrpSpPr>
          <p:grpSpPr>
            <a:xfrm>
              <a:off x="6128161" y="1751040"/>
              <a:ext cx="2691853" cy="1544420"/>
              <a:chOff x="6348236" y="1751040"/>
              <a:chExt cx="2691853" cy="1544420"/>
            </a:xfrm>
          </p:grpSpPr>
          <p:sp>
            <p:nvSpPr>
              <p:cNvPr id="1336" name="Google Shape;1336;p88"/>
              <p:cNvSpPr/>
              <p:nvPr/>
            </p:nvSpPr>
            <p:spPr>
              <a:xfrm>
                <a:off x="7495689" y="1751040"/>
                <a:ext cx="1544400" cy="1544400"/>
              </a:xfrm>
              <a:prstGeom prst="ellipse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37" name="Google Shape;1337;p88"/>
              <p:cNvSpPr/>
              <p:nvPr/>
            </p:nvSpPr>
            <p:spPr>
              <a:xfrm>
                <a:off x="6348236" y="1751060"/>
                <a:ext cx="1544400" cy="1544400"/>
              </a:xfrm>
              <a:prstGeom prst="ellipse">
                <a:avLst/>
              </a:pr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338" name="Google Shape;1338;p88"/>
              <p:cNvGrpSpPr/>
              <p:nvPr/>
            </p:nvGrpSpPr>
            <p:grpSpPr>
              <a:xfrm>
                <a:off x="6617945" y="2382650"/>
                <a:ext cx="1544340" cy="277200"/>
                <a:chOff x="801275" y="2611250"/>
                <a:chExt cx="2315700" cy="277200"/>
              </a:xfrm>
            </p:grpSpPr>
            <p:cxnSp>
              <p:nvCxnSpPr>
                <p:cNvPr id="1339" name="Google Shape;1339;p88"/>
                <p:cNvCxnSpPr/>
                <p:nvPr/>
              </p:nvCxnSpPr>
              <p:spPr>
                <a:xfrm>
                  <a:off x="1097075" y="2749850"/>
                  <a:ext cx="17241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340" name="Google Shape;1340;p88"/>
                <p:cNvSpPr txBox="1"/>
                <p:nvPr/>
              </p:nvSpPr>
              <p:spPr>
                <a:xfrm>
                  <a:off x="801275" y="2611250"/>
                  <a:ext cx="295800" cy="27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X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341" name="Google Shape;1341;p88"/>
                <p:cNvSpPr txBox="1"/>
                <p:nvPr/>
              </p:nvSpPr>
              <p:spPr>
                <a:xfrm>
                  <a:off x="2821175" y="2611250"/>
                  <a:ext cx="295800" cy="27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Y</a:t>
                  </a:r>
                  <a:endParaRPr sz="18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grpSp>
          <p:nvGrpSpPr>
            <p:cNvPr id="1342" name="Google Shape;1342;p88"/>
            <p:cNvGrpSpPr/>
            <p:nvPr/>
          </p:nvGrpSpPr>
          <p:grpSpPr>
            <a:xfrm rot="10800000">
              <a:off x="6592475" y="2524192"/>
              <a:ext cx="1154030" cy="512700"/>
              <a:chOff x="3998250" y="2010875"/>
              <a:chExt cx="1154030" cy="512700"/>
            </a:xfrm>
          </p:grpSpPr>
          <p:cxnSp>
            <p:nvCxnSpPr>
              <p:cNvPr id="1343" name="Google Shape;1343;p88"/>
              <p:cNvCxnSpPr/>
              <p:nvPr/>
            </p:nvCxnSpPr>
            <p:spPr>
              <a:xfrm flipH="1" rot="10800000">
                <a:off x="3998250" y="2010875"/>
                <a:ext cx="269700" cy="512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4" name="Google Shape;1344;p88"/>
              <p:cNvCxnSpPr/>
              <p:nvPr/>
            </p:nvCxnSpPr>
            <p:spPr>
              <a:xfrm>
                <a:off x="4269080" y="2012067"/>
                <a:ext cx="883200" cy="511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45" name="Google Shape;1345;p88"/>
            <p:cNvGrpSpPr/>
            <p:nvPr/>
          </p:nvGrpSpPr>
          <p:grpSpPr>
            <a:xfrm flipH="1">
              <a:off x="6592475" y="2006702"/>
              <a:ext cx="1154030" cy="512700"/>
              <a:chOff x="3998250" y="2010875"/>
              <a:chExt cx="1154030" cy="512700"/>
            </a:xfrm>
          </p:grpSpPr>
          <p:cxnSp>
            <p:nvCxnSpPr>
              <p:cNvPr id="1346" name="Google Shape;1346;p88"/>
              <p:cNvCxnSpPr/>
              <p:nvPr/>
            </p:nvCxnSpPr>
            <p:spPr>
              <a:xfrm flipH="1" rot="10800000">
                <a:off x="3998250" y="2010875"/>
                <a:ext cx="269700" cy="5127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7" name="Google Shape;1347;p88"/>
              <p:cNvCxnSpPr/>
              <p:nvPr/>
            </p:nvCxnSpPr>
            <p:spPr>
              <a:xfrm>
                <a:off x="4269080" y="2012067"/>
                <a:ext cx="883200" cy="511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348" name="Google Shape;1348;p88"/>
            <p:cNvCxnSpPr/>
            <p:nvPr/>
          </p:nvCxnSpPr>
          <p:spPr>
            <a:xfrm>
              <a:off x="7474815" y="1995547"/>
              <a:ext cx="0" cy="10314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49" name="Google Shape;1349;p88"/>
          <p:cNvSpPr txBox="1"/>
          <p:nvPr/>
        </p:nvSpPr>
        <p:spPr>
          <a:xfrm>
            <a:off x="676525" y="1673500"/>
            <a:ext cx="30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88"/>
          <p:cNvSpPr txBox="1"/>
          <p:nvPr/>
        </p:nvSpPr>
        <p:spPr>
          <a:xfrm>
            <a:off x="3998925" y="1673500"/>
            <a:ext cx="4821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compass needle wasn’t placed at the endpoints X and Y. The circles are in the wrong place for the perpendicular line to be a bisector.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Make sure that you start each circle with the compass needle at one endpoint of the line segment you want to bisect.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89"/>
          <p:cNvSpPr/>
          <p:nvPr/>
        </p:nvSpPr>
        <p:spPr>
          <a:xfrm>
            <a:off x="607975" y="3136594"/>
            <a:ext cx="1493400" cy="1493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6" name="Google Shape;1356;p89"/>
          <p:cNvPicPr preferRelativeResize="0"/>
          <p:nvPr/>
        </p:nvPicPr>
        <p:blipFill rotWithShape="1">
          <a:blip r:embed="rId3">
            <a:alphaModFix amt="50000"/>
          </a:blip>
          <a:srcRect b="18962" l="0" r="4351" t="0"/>
          <a:stretch/>
        </p:blipFill>
        <p:spPr>
          <a:xfrm>
            <a:off x="522275" y="1169375"/>
            <a:ext cx="7746825" cy="300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89"/>
          <p:cNvSpPr/>
          <p:nvPr/>
        </p:nvSpPr>
        <p:spPr>
          <a:xfrm>
            <a:off x="3513794" y="2862000"/>
            <a:ext cx="3179100" cy="14637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89"/>
          <p:cNvSpPr/>
          <p:nvPr/>
        </p:nvSpPr>
        <p:spPr>
          <a:xfrm>
            <a:off x="3822108" y="2487975"/>
            <a:ext cx="1893900" cy="6036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89"/>
          <p:cNvSpPr txBox="1"/>
          <p:nvPr/>
        </p:nvSpPr>
        <p:spPr>
          <a:xfrm>
            <a:off x="324025" y="616367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Find the perpendicular bisector for each line segment by constructing a rhombus.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1361" name="Google Shape;1361;p89"/>
          <p:cNvSpPr txBox="1"/>
          <p:nvPr/>
        </p:nvSpPr>
        <p:spPr>
          <a:xfrm>
            <a:off x="1207700" y="1909425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89"/>
          <p:cNvSpPr txBox="1"/>
          <p:nvPr/>
        </p:nvSpPr>
        <p:spPr>
          <a:xfrm>
            <a:off x="2635325" y="1909425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89"/>
          <p:cNvSpPr txBox="1"/>
          <p:nvPr/>
        </p:nvSpPr>
        <p:spPr>
          <a:xfrm>
            <a:off x="4087588" y="1746981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89"/>
          <p:cNvSpPr txBox="1"/>
          <p:nvPr/>
        </p:nvSpPr>
        <p:spPr>
          <a:xfrm>
            <a:off x="4996288" y="1746981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89"/>
          <p:cNvSpPr txBox="1"/>
          <p:nvPr/>
        </p:nvSpPr>
        <p:spPr>
          <a:xfrm>
            <a:off x="1146128" y="3731941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89"/>
          <p:cNvSpPr txBox="1"/>
          <p:nvPr/>
        </p:nvSpPr>
        <p:spPr>
          <a:xfrm>
            <a:off x="2462691" y="3731941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89"/>
          <p:cNvSpPr/>
          <p:nvPr/>
        </p:nvSpPr>
        <p:spPr>
          <a:xfrm>
            <a:off x="6341625" y="2655700"/>
            <a:ext cx="924000" cy="2772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89"/>
          <p:cNvSpPr/>
          <p:nvPr/>
        </p:nvSpPr>
        <p:spPr>
          <a:xfrm>
            <a:off x="5774394" y="1153725"/>
            <a:ext cx="3179100" cy="14637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89"/>
          <p:cNvSpPr txBox="1"/>
          <p:nvPr/>
        </p:nvSpPr>
        <p:spPr>
          <a:xfrm>
            <a:off x="6501262" y="2409703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89"/>
          <p:cNvSpPr txBox="1"/>
          <p:nvPr/>
        </p:nvSpPr>
        <p:spPr>
          <a:xfrm>
            <a:off x="7401912" y="2409703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71" name="Google Shape;1371;p89"/>
          <p:cNvPicPr preferRelativeResize="0"/>
          <p:nvPr/>
        </p:nvPicPr>
        <p:blipFill rotWithShape="1">
          <a:blip r:embed="rId3">
            <a:alphaModFix amt="50000"/>
          </a:blip>
          <a:srcRect b="1670" l="38085" r="31766" t="36229"/>
          <a:stretch/>
        </p:blipFill>
        <p:spPr>
          <a:xfrm>
            <a:off x="5375500" y="1206500"/>
            <a:ext cx="2441802" cy="23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89"/>
          <p:cNvSpPr/>
          <p:nvPr/>
        </p:nvSpPr>
        <p:spPr>
          <a:xfrm>
            <a:off x="6403834" y="1308098"/>
            <a:ext cx="2175600" cy="21756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3" name="Google Shape;1373;p89"/>
          <p:cNvGrpSpPr/>
          <p:nvPr/>
        </p:nvGrpSpPr>
        <p:grpSpPr>
          <a:xfrm>
            <a:off x="6558986" y="1412859"/>
            <a:ext cx="939888" cy="1962138"/>
            <a:chOff x="4823995" y="3375896"/>
            <a:chExt cx="1100056" cy="1014811"/>
          </a:xfrm>
        </p:grpSpPr>
        <p:grpSp>
          <p:nvGrpSpPr>
            <p:cNvPr id="1374" name="Google Shape;1374;p89"/>
            <p:cNvGrpSpPr/>
            <p:nvPr/>
          </p:nvGrpSpPr>
          <p:grpSpPr>
            <a:xfrm flipH="1" rot="10800000">
              <a:off x="4823995" y="3375896"/>
              <a:ext cx="1100056" cy="508824"/>
              <a:chOff x="1365200" y="2048025"/>
              <a:chExt cx="1267200" cy="532800"/>
            </a:xfrm>
          </p:grpSpPr>
          <p:cxnSp>
            <p:nvCxnSpPr>
              <p:cNvPr id="1375" name="Google Shape;1375;p89"/>
              <p:cNvCxnSpPr/>
              <p:nvPr/>
            </p:nvCxnSpPr>
            <p:spPr>
              <a:xfrm>
                <a:off x="1365200" y="2048025"/>
                <a:ext cx="633600" cy="532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6" name="Google Shape;1376;p89"/>
              <p:cNvCxnSpPr/>
              <p:nvPr/>
            </p:nvCxnSpPr>
            <p:spPr>
              <a:xfrm flipH="1">
                <a:off x="1998800" y="2048025"/>
                <a:ext cx="633600" cy="532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77" name="Google Shape;1377;p89"/>
            <p:cNvGrpSpPr/>
            <p:nvPr/>
          </p:nvGrpSpPr>
          <p:grpSpPr>
            <a:xfrm>
              <a:off x="4823995" y="3881883"/>
              <a:ext cx="1100056" cy="508824"/>
              <a:chOff x="1365200" y="2048025"/>
              <a:chExt cx="1267200" cy="532800"/>
            </a:xfrm>
          </p:grpSpPr>
          <p:cxnSp>
            <p:nvCxnSpPr>
              <p:cNvPr id="1378" name="Google Shape;1378;p89"/>
              <p:cNvCxnSpPr/>
              <p:nvPr/>
            </p:nvCxnSpPr>
            <p:spPr>
              <a:xfrm>
                <a:off x="1365200" y="2048025"/>
                <a:ext cx="633600" cy="532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9" name="Google Shape;1379;p89"/>
              <p:cNvCxnSpPr/>
              <p:nvPr/>
            </p:nvCxnSpPr>
            <p:spPr>
              <a:xfrm flipH="1">
                <a:off x="1998800" y="2048025"/>
                <a:ext cx="633600" cy="532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28282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cxnSp>
        <p:nvCxnSpPr>
          <p:cNvPr id="1380" name="Google Shape;1380;p89"/>
          <p:cNvCxnSpPr/>
          <p:nvPr/>
        </p:nvCxnSpPr>
        <p:spPr>
          <a:xfrm>
            <a:off x="7028936" y="1417930"/>
            <a:ext cx="0" cy="19494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1" name="Google Shape;1381;p89"/>
          <p:cNvSpPr txBox="1"/>
          <p:nvPr/>
        </p:nvSpPr>
        <p:spPr>
          <a:xfrm>
            <a:off x="1207700" y="1909425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89"/>
          <p:cNvSpPr txBox="1"/>
          <p:nvPr/>
        </p:nvSpPr>
        <p:spPr>
          <a:xfrm>
            <a:off x="2635325" y="1909425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89"/>
          <p:cNvSpPr txBox="1"/>
          <p:nvPr/>
        </p:nvSpPr>
        <p:spPr>
          <a:xfrm>
            <a:off x="4087588" y="1746981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9"/>
          <p:cNvSpPr txBox="1"/>
          <p:nvPr/>
        </p:nvSpPr>
        <p:spPr>
          <a:xfrm>
            <a:off x="4996288" y="1746981"/>
            <a:ext cx="15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5" name="Google Shape;1385;p89"/>
          <p:cNvGrpSpPr/>
          <p:nvPr/>
        </p:nvGrpSpPr>
        <p:grpSpPr>
          <a:xfrm>
            <a:off x="1365200" y="2070045"/>
            <a:ext cx="1267200" cy="510742"/>
            <a:chOff x="1365200" y="2048025"/>
            <a:chExt cx="1267200" cy="532800"/>
          </a:xfrm>
        </p:grpSpPr>
        <p:cxnSp>
          <p:nvCxnSpPr>
            <p:cNvPr id="1386" name="Google Shape;1386;p89"/>
            <p:cNvCxnSpPr/>
            <p:nvPr/>
          </p:nvCxnSpPr>
          <p:spPr>
            <a:xfrm>
              <a:off x="13652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7" name="Google Shape;1387;p89"/>
            <p:cNvCxnSpPr/>
            <p:nvPr/>
          </p:nvCxnSpPr>
          <p:spPr>
            <a:xfrm flipH="1">
              <a:off x="19988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88" name="Google Shape;1388;p89"/>
          <p:cNvGrpSpPr/>
          <p:nvPr/>
        </p:nvGrpSpPr>
        <p:grpSpPr>
          <a:xfrm>
            <a:off x="4245085" y="1887252"/>
            <a:ext cx="750436" cy="404076"/>
            <a:chOff x="1365200" y="2048025"/>
            <a:chExt cx="1267200" cy="532800"/>
          </a:xfrm>
        </p:grpSpPr>
        <p:cxnSp>
          <p:nvCxnSpPr>
            <p:cNvPr id="1389" name="Google Shape;1389;p89"/>
            <p:cNvCxnSpPr/>
            <p:nvPr/>
          </p:nvCxnSpPr>
          <p:spPr>
            <a:xfrm>
              <a:off x="13652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0" name="Google Shape;1390;p89"/>
            <p:cNvCxnSpPr/>
            <p:nvPr/>
          </p:nvCxnSpPr>
          <p:spPr>
            <a:xfrm flipH="1">
              <a:off x="19988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91" name="Google Shape;1391;p89"/>
          <p:cNvGrpSpPr/>
          <p:nvPr/>
        </p:nvGrpSpPr>
        <p:grpSpPr>
          <a:xfrm flipH="1" rot="10800000">
            <a:off x="4245085" y="1482433"/>
            <a:ext cx="750436" cy="404076"/>
            <a:chOff x="1365200" y="2048025"/>
            <a:chExt cx="1267200" cy="532800"/>
          </a:xfrm>
        </p:grpSpPr>
        <p:cxnSp>
          <p:nvCxnSpPr>
            <p:cNvPr id="1392" name="Google Shape;1392;p89"/>
            <p:cNvCxnSpPr/>
            <p:nvPr/>
          </p:nvCxnSpPr>
          <p:spPr>
            <a:xfrm>
              <a:off x="13652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3" name="Google Shape;1393;p89"/>
            <p:cNvCxnSpPr/>
            <p:nvPr/>
          </p:nvCxnSpPr>
          <p:spPr>
            <a:xfrm flipH="1">
              <a:off x="19988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94" name="Google Shape;1394;p89"/>
          <p:cNvSpPr/>
          <p:nvPr/>
        </p:nvSpPr>
        <p:spPr>
          <a:xfrm>
            <a:off x="1709303" y="3136594"/>
            <a:ext cx="1493400" cy="1493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5" name="Google Shape;1395;p89"/>
          <p:cNvGrpSpPr/>
          <p:nvPr/>
        </p:nvGrpSpPr>
        <p:grpSpPr>
          <a:xfrm flipH="1" rot="10800000">
            <a:off x="1357345" y="3374959"/>
            <a:ext cx="1100056" cy="508824"/>
            <a:chOff x="1365200" y="2048025"/>
            <a:chExt cx="1267200" cy="532800"/>
          </a:xfrm>
        </p:grpSpPr>
        <p:cxnSp>
          <p:nvCxnSpPr>
            <p:cNvPr id="1396" name="Google Shape;1396;p89"/>
            <p:cNvCxnSpPr/>
            <p:nvPr/>
          </p:nvCxnSpPr>
          <p:spPr>
            <a:xfrm>
              <a:off x="13652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7" name="Google Shape;1397;p89"/>
            <p:cNvCxnSpPr/>
            <p:nvPr/>
          </p:nvCxnSpPr>
          <p:spPr>
            <a:xfrm flipH="1">
              <a:off x="19988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98" name="Google Shape;1398;p89"/>
          <p:cNvGrpSpPr/>
          <p:nvPr/>
        </p:nvGrpSpPr>
        <p:grpSpPr>
          <a:xfrm>
            <a:off x="1357345" y="3880946"/>
            <a:ext cx="1100056" cy="508824"/>
            <a:chOff x="1365200" y="2048025"/>
            <a:chExt cx="1267200" cy="532800"/>
          </a:xfrm>
        </p:grpSpPr>
        <p:cxnSp>
          <p:nvCxnSpPr>
            <p:cNvPr id="1399" name="Google Shape;1399;p89"/>
            <p:cNvCxnSpPr/>
            <p:nvPr/>
          </p:nvCxnSpPr>
          <p:spPr>
            <a:xfrm>
              <a:off x="13652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89"/>
            <p:cNvCxnSpPr/>
            <p:nvPr/>
          </p:nvCxnSpPr>
          <p:spPr>
            <a:xfrm flipH="1">
              <a:off x="1998800" y="2048025"/>
              <a:ext cx="633600" cy="532800"/>
            </a:xfrm>
            <a:prstGeom prst="straightConnector1">
              <a:avLst/>
            </a:prstGeom>
            <a:noFill/>
            <a:ln cap="flat" cmpd="sng" w="38100">
              <a:solidFill>
                <a:srgbClr val="28282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401" name="Google Shape;1401;p89"/>
          <p:cNvCxnSpPr/>
          <p:nvPr/>
        </p:nvCxnSpPr>
        <p:spPr>
          <a:xfrm>
            <a:off x="1998436" y="1561375"/>
            <a:ext cx="0" cy="10098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2" name="Google Shape;1402;p89"/>
          <p:cNvCxnSpPr/>
          <p:nvPr/>
        </p:nvCxnSpPr>
        <p:spPr>
          <a:xfrm>
            <a:off x="4620847" y="1486004"/>
            <a:ext cx="0" cy="7959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3" name="Google Shape;1403;p89"/>
          <p:cNvCxnSpPr/>
          <p:nvPr/>
        </p:nvCxnSpPr>
        <p:spPr>
          <a:xfrm>
            <a:off x="1907987" y="3356855"/>
            <a:ext cx="0" cy="10362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9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rhombi to bisect a line segment</a:t>
            </a:r>
            <a:endParaRPr/>
          </a:p>
        </p:txBody>
      </p:sp>
      <p:sp>
        <p:nvSpPr>
          <p:cNvPr id="1409" name="Google Shape;1409;p9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sp>
        <p:nvSpPr>
          <p:cNvPr id="1410" name="Google Shape;1410;p9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bisector of a line segment</a:t>
            </a:r>
            <a:endParaRPr/>
          </a:p>
        </p:txBody>
      </p:sp>
      <p:pic>
        <p:nvPicPr>
          <p:cNvPr id="1411" name="Google Shape;1411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44" y="298838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grpSp>
        <p:nvGrpSpPr>
          <p:cNvPr id="1417" name="Google Shape;1417;p91"/>
          <p:cNvGrpSpPr/>
          <p:nvPr/>
        </p:nvGrpSpPr>
        <p:grpSpPr>
          <a:xfrm rot="1800287">
            <a:off x="5679823" y="2369789"/>
            <a:ext cx="1789363" cy="312162"/>
            <a:chOff x="2661734" y="2977314"/>
            <a:chExt cx="3499456" cy="446700"/>
          </a:xfrm>
        </p:grpSpPr>
        <p:cxnSp>
          <p:nvCxnSpPr>
            <p:cNvPr id="1418" name="Google Shape;1418;p91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9" name="Google Shape;1419;p91"/>
            <p:cNvSpPr txBox="1"/>
            <p:nvPr/>
          </p:nvSpPr>
          <p:spPr>
            <a:xfrm rot="-1373035">
              <a:off x="2786740" y="2981929"/>
              <a:ext cx="265387" cy="4374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0" name="Google Shape;1420;p91"/>
            <p:cNvSpPr txBox="1"/>
            <p:nvPr/>
          </p:nvSpPr>
          <p:spPr>
            <a:xfrm rot="-1373035">
              <a:off x="5770797" y="2981929"/>
              <a:ext cx="265387" cy="4374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1" name="Google Shape;1421;p91"/>
          <p:cNvSpPr/>
          <p:nvPr/>
        </p:nvSpPr>
        <p:spPr>
          <a:xfrm rot="1800135">
            <a:off x="4615285" y="638424"/>
            <a:ext cx="2750213" cy="2750063"/>
          </a:xfrm>
          <a:prstGeom prst="arc">
            <a:avLst>
              <a:gd fmla="val 17221896" name="adj1"/>
              <a:gd fmla="val 18946833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91"/>
          <p:cNvSpPr/>
          <p:nvPr/>
        </p:nvSpPr>
        <p:spPr>
          <a:xfrm rot="1800135">
            <a:off x="5942621" y="1404762"/>
            <a:ext cx="2750213" cy="2750063"/>
          </a:xfrm>
          <a:prstGeom prst="arc">
            <a:avLst>
              <a:gd fmla="val 13099308" name="adj1"/>
              <a:gd fmla="val 14898942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91"/>
          <p:cNvSpPr/>
          <p:nvPr/>
        </p:nvSpPr>
        <p:spPr>
          <a:xfrm rot="-8999865">
            <a:off x="5942621" y="1404762"/>
            <a:ext cx="2750213" cy="2750063"/>
          </a:xfrm>
          <a:prstGeom prst="arc">
            <a:avLst>
              <a:gd fmla="val 17221896" name="adj1"/>
              <a:gd fmla="val 18946833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91"/>
          <p:cNvSpPr/>
          <p:nvPr/>
        </p:nvSpPr>
        <p:spPr>
          <a:xfrm rot="-8999865">
            <a:off x="4615285" y="638424"/>
            <a:ext cx="2750213" cy="2750063"/>
          </a:xfrm>
          <a:prstGeom prst="arc">
            <a:avLst>
              <a:gd fmla="val 13099308" name="adj1"/>
              <a:gd fmla="val 14898942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91"/>
          <p:cNvSpPr txBox="1"/>
          <p:nvPr/>
        </p:nvSpPr>
        <p:spPr>
          <a:xfrm>
            <a:off x="324000" y="682300"/>
            <a:ext cx="3756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can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accurately construct a rhombus by drawing the arcs of a circle.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91"/>
          <p:cNvSpPr/>
          <p:nvPr/>
        </p:nvSpPr>
        <p:spPr>
          <a:xfrm rot="1800135">
            <a:off x="4615285" y="637134"/>
            <a:ext cx="2750213" cy="2750063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91"/>
          <p:cNvSpPr txBox="1"/>
          <p:nvPr/>
        </p:nvSpPr>
        <p:spPr>
          <a:xfrm>
            <a:off x="324000" y="1905975"/>
            <a:ext cx="3756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four arcs will create two intersections, one on each side of the line segment.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91"/>
          <p:cNvSpPr/>
          <p:nvPr/>
        </p:nvSpPr>
        <p:spPr>
          <a:xfrm rot="1800135">
            <a:off x="5942621" y="1403472"/>
            <a:ext cx="2750213" cy="2750063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9" name="Google Shape;1429;p91"/>
          <p:cNvGrpSpPr/>
          <p:nvPr/>
        </p:nvGrpSpPr>
        <p:grpSpPr>
          <a:xfrm flipH="1" rot="1799998">
            <a:off x="5688384" y="1740289"/>
            <a:ext cx="1922108" cy="1931731"/>
            <a:chOff x="856732" y="1653084"/>
            <a:chExt cx="1921722" cy="1931342"/>
          </a:xfrm>
        </p:grpSpPr>
        <p:pic>
          <p:nvPicPr>
            <p:cNvPr id="1430" name="Google Shape;1430;p91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1" name="Google Shape;1431;p91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2" name="Google Shape;1432;p91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3" name="Google Shape;1433;p91"/>
          <p:cNvGrpSpPr/>
          <p:nvPr/>
        </p:nvGrpSpPr>
        <p:grpSpPr>
          <a:xfrm rot="9000002">
            <a:off x="6996730" y="1120003"/>
            <a:ext cx="1922108" cy="1931731"/>
            <a:chOff x="856732" y="1653084"/>
            <a:chExt cx="1921722" cy="1931342"/>
          </a:xfrm>
        </p:grpSpPr>
        <p:pic>
          <p:nvPicPr>
            <p:cNvPr id="1434" name="Google Shape;1434;p91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5" name="Google Shape;1435;p91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6" name="Google Shape;1436;p91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7" name="Google Shape;1437;p91"/>
          <p:cNvSpPr txBox="1"/>
          <p:nvPr/>
        </p:nvSpPr>
        <p:spPr>
          <a:xfrm>
            <a:off x="324000" y="3277575"/>
            <a:ext cx="3756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a more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efficient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way to construct a perpendicular bisector.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92"/>
          <p:cNvSpPr/>
          <p:nvPr/>
        </p:nvSpPr>
        <p:spPr>
          <a:xfrm rot="1818395">
            <a:off x="6700369" y="2229570"/>
            <a:ext cx="246717" cy="24671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grpSp>
        <p:nvGrpSpPr>
          <p:cNvPr id="1444" name="Google Shape;1444;p92"/>
          <p:cNvGrpSpPr/>
          <p:nvPr/>
        </p:nvGrpSpPr>
        <p:grpSpPr>
          <a:xfrm rot="1800287">
            <a:off x="5679823" y="2369789"/>
            <a:ext cx="1789363" cy="312162"/>
            <a:chOff x="2661734" y="2977314"/>
            <a:chExt cx="3499456" cy="446700"/>
          </a:xfrm>
        </p:grpSpPr>
        <p:cxnSp>
          <p:nvCxnSpPr>
            <p:cNvPr id="1445" name="Google Shape;1445;p92"/>
            <p:cNvCxnSpPr/>
            <p:nvPr/>
          </p:nvCxnSpPr>
          <p:spPr>
            <a:xfrm>
              <a:off x="29189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46" name="Google Shape;1446;p92"/>
            <p:cNvSpPr txBox="1"/>
            <p:nvPr/>
          </p:nvSpPr>
          <p:spPr>
            <a:xfrm rot="-1373035">
              <a:off x="2786740" y="2981929"/>
              <a:ext cx="265387" cy="4374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7" name="Google Shape;1447;p92"/>
            <p:cNvSpPr txBox="1"/>
            <p:nvPr/>
          </p:nvSpPr>
          <p:spPr>
            <a:xfrm rot="-1373035">
              <a:off x="5770797" y="2981929"/>
              <a:ext cx="265387" cy="4374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48" name="Google Shape;1448;p92"/>
          <p:cNvSpPr/>
          <p:nvPr/>
        </p:nvSpPr>
        <p:spPr>
          <a:xfrm rot="1800135">
            <a:off x="4615285" y="638424"/>
            <a:ext cx="2750213" cy="2750063"/>
          </a:xfrm>
          <a:prstGeom prst="arc">
            <a:avLst>
              <a:gd fmla="val 17221896" name="adj1"/>
              <a:gd fmla="val 18946833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92"/>
          <p:cNvSpPr/>
          <p:nvPr/>
        </p:nvSpPr>
        <p:spPr>
          <a:xfrm rot="1800135">
            <a:off x="5942621" y="1404762"/>
            <a:ext cx="2750213" cy="2750063"/>
          </a:xfrm>
          <a:prstGeom prst="arc">
            <a:avLst>
              <a:gd fmla="val 13099308" name="adj1"/>
              <a:gd fmla="val 14898942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92"/>
          <p:cNvSpPr/>
          <p:nvPr/>
        </p:nvSpPr>
        <p:spPr>
          <a:xfrm rot="-8999865">
            <a:off x="5942621" y="1404762"/>
            <a:ext cx="2750213" cy="2750063"/>
          </a:xfrm>
          <a:prstGeom prst="arc">
            <a:avLst>
              <a:gd fmla="val 17221896" name="adj1"/>
              <a:gd fmla="val 18946833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92"/>
          <p:cNvSpPr/>
          <p:nvPr/>
        </p:nvSpPr>
        <p:spPr>
          <a:xfrm rot="-8999865">
            <a:off x="4615285" y="638424"/>
            <a:ext cx="2750213" cy="2750063"/>
          </a:xfrm>
          <a:prstGeom prst="arc">
            <a:avLst>
              <a:gd fmla="val 13099308" name="adj1"/>
              <a:gd fmla="val 14898942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92"/>
          <p:cNvSpPr txBox="1"/>
          <p:nvPr/>
        </p:nvSpPr>
        <p:spPr>
          <a:xfrm>
            <a:off x="324000" y="1407250"/>
            <a:ext cx="3756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However, you can construct the perpendicular bisector by directly drawing a line that passes through both intersections.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is no need to draw the sides of the rhombus.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92"/>
          <p:cNvSpPr txBox="1"/>
          <p:nvPr/>
        </p:nvSpPr>
        <p:spPr>
          <a:xfrm>
            <a:off x="324000" y="682300"/>
            <a:ext cx="375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still possible to construct full rhombi using just these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54" name="Google Shape;1454;p92"/>
          <p:cNvGrpSpPr/>
          <p:nvPr/>
        </p:nvGrpSpPr>
        <p:grpSpPr>
          <a:xfrm>
            <a:off x="5991725" y="1407250"/>
            <a:ext cx="1320734" cy="1973243"/>
            <a:chOff x="5991725" y="1407250"/>
            <a:chExt cx="1320734" cy="1973243"/>
          </a:xfrm>
        </p:grpSpPr>
        <p:grpSp>
          <p:nvGrpSpPr>
            <p:cNvPr id="1455" name="Google Shape;1455;p92"/>
            <p:cNvGrpSpPr/>
            <p:nvPr/>
          </p:nvGrpSpPr>
          <p:grpSpPr>
            <a:xfrm>
              <a:off x="5991725" y="1407250"/>
              <a:ext cx="1317725" cy="1366000"/>
              <a:chOff x="5991725" y="1407250"/>
              <a:chExt cx="1317725" cy="1366000"/>
            </a:xfrm>
          </p:grpSpPr>
          <p:cxnSp>
            <p:nvCxnSpPr>
              <p:cNvPr id="1456" name="Google Shape;1456;p92"/>
              <p:cNvCxnSpPr/>
              <p:nvPr/>
            </p:nvCxnSpPr>
            <p:spPr>
              <a:xfrm>
                <a:off x="7228150" y="1407650"/>
                <a:ext cx="81300" cy="1365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7" name="Google Shape;1457;p92"/>
              <p:cNvCxnSpPr/>
              <p:nvPr/>
            </p:nvCxnSpPr>
            <p:spPr>
              <a:xfrm flipH="1">
                <a:off x="5991725" y="1407250"/>
                <a:ext cx="1231800" cy="609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58" name="Google Shape;1458;p92"/>
            <p:cNvGrpSpPr/>
            <p:nvPr/>
          </p:nvGrpSpPr>
          <p:grpSpPr>
            <a:xfrm rot="10800000">
              <a:off x="5994734" y="2014493"/>
              <a:ext cx="1317725" cy="1366000"/>
              <a:chOff x="5991725" y="1407250"/>
              <a:chExt cx="1317725" cy="1366000"/>
            </a:xfrm>
          </p:grpSpPr>
          <p:cxnSp>
            <p:nvCxnSpPr>
              <p:cNvPr id="1459" name="Google Shape;1459;p92"/>
              <p:cNvCxnSpPr/>
              <p:nvPr/>
            </p:nvCxnSpPr>
            <p:spPr>
              <a:xfrm>
                <a:off x="7228150" y="1407650"/>
                <a:ext cx="81300" cy="1365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0" name="Google Shape;1460;p92"/>
              <p:cNvCxnSpPr/>
              <p:nvPr/>
            </p:nvCxnSpPr>
            <p:spPr>
              <a:xfrm flipH="1">
                <a:off x="5991725" y="1407250"/>
                <a:ext cx="1231800" cy="609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cxnSp>
        <p:nvCxnSpPr>
          <p:cNvPr id="1461" name="Google Shape;1461;p92"/>
          <p:cNvCxnSpPr/>
          <p:nvPr/>
        </p:nvCxnSpPr>
        <p:spPr>
          <a:xfrm flipH="1" rot="10800000">
            <a:off x="6086823" y="1410848"/>
            <a:ext cx="1137600" cy="19713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sp>
        <p:nvSpPr>
          <p:cNvPr id="1467" name="Google Shape;1467;p93"/>
          <p:cNvSpPr txBox="1"/>
          <p:nvPr/>
        </p:nvSpPr>
        <p:spPr>
          <a:xfrm>
            <a:off x="324000" y="6823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diagrams show an accurate construction of a perpendicular bisector of the line segment KL?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8" name="Google Shape;1468;p93"/>
          <p:cNvGrpSpPr/>
          <p:nvPr/>
        </p:nvGrpSpPr>
        <p:grpSpPr>
          <a:xfrm>
            <a:off x="-432579" y="1720891"/>
            <a:ext cx="3056942" cy="1954257"/>
            <a:chOff x="-307153" y="1720891"/>
            <a:chExt cx="3056942" cy="1954257"/>
          </a:xfrm>
        </p:grpSpPr>
        <p:sp>
          <p:nvSpPr>
            <p:cNvPr id="1469" name="Google Shape;1469;p93"/>
            <p:cNvSpPr/>
            <p:nvPr/>
          </p:nvSpPr>
          <p:spPr>
            <a:xfrm>
              <a:off x="1222119" y="2427045"/>
              <a:ext cx="246600" cy="2466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0" name="Google Shape;1470;p93"/>
            <p:cNvSpPr/>
            <p:nvPr/>
          </p:nvSpPr>
          <p:spPr>
            <a:xfrm>
              <a:off x="840290" y="1720891"/>
              <a:ext cx="1909500" cy="1909500"/>
            </a:xfrm>
            <a:prstGeom prst="arc">
              <a:avLst>
                <a:gd fmla="val 6538675" name="adj1"/>
                <a:gd fmla="val 15222049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1" name="Google Shape;1471;p93"/>
            <p:cNvSpPr/>
            <p:nvPr/>
          </p:nvSpPr>
          <p:spPr>
            <a:xfrm>
              <a:off x="-307153" y="1720919"/>
              <a:ext cx="1909500" cy="1909500"/>
            </a:xfrm>
            <a:prstGeom prst="arc">
              <a:avLst>
                <a:gd fmla="val 17014344" name="adj1"/>
                <a:gd fmla="val 3927883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72" name="Google Shape;1472;p93"/>
            <p:cNvCxnSpPr/>
            <p:nvPr/>
          </p:nvCxnSpPr>
          <p:spPr>
            <a:xfrm>
              <a:off x="647164" y="2673650"/>
              <a:ext cx="1149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3" name="Google Shape;1473;p93"/>
            <p:cNvSpPr txBox="1"/>
            <p:nvPr/>
          </p:nvSpPr>
          <p:spPr>
            <a:xfrm>
              <a:off x="449895" y="2535050"/>
              <a:ext cx="19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K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4" name="Google Shape;1474;p93"/>
            <p:cNvSpPr txBox="1"/>
            <p:nvPr/>
          </p:nvSpPr>
          <p:spPr>
            <a:xfrm>
              <a:off x="1796967" y="2535050"/>
              <a:ext cx="19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75" name="Google Shape;1475;p93"/>
            <p:cNvCxnSpPr/>
            <p:nvPr/>
          </p:nvCxnSpPr>
          <p:spPr>
            <a:xfrm rot="10800000">
              <a:off x="1222123" y="1724848"/>
              <a:ext cx="0" cy="19503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76" name="Google Shape;1476;p93"/>
          <p:cNvSpPr/>
          <p:nvPr/>
        </p:nvSpPr>
        <p:spPr>
          <a:xfrm>
            <a:off x="3046599" y="1628475"/>
            <a:ext cx="2094300" cy="2094300"/>
          </a:xfrm>
          <a:prstGeom prst="arc">
            <a:avLst>
              <a:gd fmla="val 12249725" name="adj1"/>
              <a:gd fmla="val 14208364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77" name="Google Shape;1477;p93"/>
          <p:cNvCxnSpPr/>
          <p:nvPr/>
        </p:nvCxnSpPr>
        <p:spPr>
          <a:xfrm>
            <a:off x="3022064" y="2673650"/>
            <a:ext cx="1149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8" name="Google Shape;1478;p93"/>
          <p:cNvSpPr/>
          <p:nvPr/>
        </p:nvSpPr>
        <p:spPr>
          <a:xfrm>
            <a:off x="3339246" y="2427045"/>
            <a:ext cx="246600" cy="246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93"/>
          <p:cNvSpPr/>
          <p:nvPr/>
        </p:nvSpPr>
        <p:spPr>
          <a:xfrm>
            <a:off x="2125175" y="1854549"/>
            <a:ext cx="1642200" cy="1642200"/>
          </a:xfrm>
          <a:prstGeom prst="arc">
            <a:avLst>
              <a:gd fmla="val 16491545" name="adj1"/>
              <a:gd fmla="val 18960251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93"/>
          <p:cNvSpPr txBox="1"/>
          <p:nvPr/>
        </p:nvSpPr>
        <p:spPr>
          <a:xfrm>
            <a:off x="2824795" y="2535050"/>
            <a:ext cx="19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93"/>
          <p:cNvSpPr txBox="1"/>
          <p:nvPr/>
        </p:nvSpPr>
        <p:spPr>
          <a:xfrm>
            <a:off x="4171867" y="2535050"/>
            <a:ext cx="19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2" name="Google Shape;1482;p93"/>
          <p:cNvCxnSpPr/>
          <p:nvPr/>
        </p:nvCxnSpPr>
        <p:spPr>
          <a:xfrm rot="10800000">
            <a:off x="3339249" y="1724848"/>
            <a:ext cx="0" cy="19503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3" name="Google Shape;1483;p93"/>
          <p:cNvSpPr/>
          <p:nvPr/>
        </p:nvSpPr>
        <p:spPr>
          <a:xfrm>
            <a:off x="3047202" y="1628475"/>
            <a:ext cx="2094300" cy="2094300"/>
          </a:xfrm>
          <a:prstGeom prst="arc">
            <a:avLst>
              <a:gd fmla="val 7597309" name="adj1"/>
              <a:gd fmla="val 9142759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93"/>
          <p:cNvSpPr/>
          <p:nvPr/>
        </p:nvSpPr>
        <p:spPr>
          <a:xfrm>
            <a:off x="2125778" y="1854549"/>
            <a:ext cx="1642200" cy="1642200"/>
          </a:xfrm>
          <a:prstGeom prst="arc">
            <a:avLst>
              <a:gd fmla="val 2251745" name="adj1"/>
              <a:gd fmla="val 4696102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85" name="Google Shape;1485;p93"/>
          <p:cNvGrpSpPr/>
          <p:nvPr/>
        </p:nvGrpSpPr>
        <p:grpSpPr>
          <a:xfrm>
            <a:off x="4099097" y="1720891"/>
            <a:ext cx="3057494" cy="1954257"/>
            <a:chOff x="4099097" y="1720891"/>
            <a:chExt cx="3057494" cy="1954257"/>
          </a:xfrm>
        </p:grpSpPr>
        <p:sp>
          <p:nvSpPr>
            <p:cNvPr id="1486" name="Google Shape;1486;p93"/>
            <p:cNvSpPr/>
            <p:nvPr/>
          </p:nvSpPr>
          <p:spPr>
            <a:xfrm>
              <a:off x="5628369" y="2427045"/>
              <a:ext cx="246600" cy="2466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7" name="Google Shape;1487;p93"/>
            <p:cNvSpPr/>
            <p:nvPr/>
          </p:nvSpPr>
          <p:spPr>
            <a:xfrm>
              <a:off x="5246540" y="1720891"/>
              <a:ext cx="1909500" cy="1909500"/>
            </a:xfrm>
            <a:prstGeom prst="arc">
              <a:avLst>
                <a:gd fmla="val 13000717" name="adj1"/>
                <a:gd fmla="val 14449601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8" name="Google Shape;1488;p93"/>
            <p:cNvSpPr/>
            <p:nvPr/>
          </p:nvSpPr>
          <p:spPr>
            <a:xfrm>
              <a:off x="4099097" y="1720919"/>
              <a:ext cx="1909500" cy="1909500"/>
            </a:xfrm>
            <a:prstGeom prst="arc">
              <a:avLst>
                <a:gd fmla="val 18011105" name="adj1"/>
                <a:gd fmla="val 19283417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89" name="Google Shape;1489;p93"/>
            <p:cNvCxnSpPr/>
            <p:nvPr/>
          </p:nvCxnSpPr>
          <p:spPr>
            <a:xfrm>
              <a:off x="5053414" y="2673650"/>
              <a:ext cx="1149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90" name="Google Shape;1490;p93"/>
            <p:cNvSpPr txBox="1"/>
            <p:nvPr/>
          </p:nvSpPr>
          <p:spPr>
            <a:xfrm>
              <a:off x="4856145" y="2535050"/>
              <a:ext cx="19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K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1" name="Google Shape;1491;p93"/>
            <p:cNvSpPr txBox="1"/>
            <p:nvPr/>
          </p:nvSpPr>
          <p:spPr>
            <a:xfrm>
              <a:off x="6203217" y="2535050"/>
              <a:ext cx="19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92" name="Google Shape;1492;p93"/>
            <p:cNvCxnSpPr/>
            <p:nvPr/>
          </p:nvCxnSpPr>
          <p:spPr>
            <a:xfrm rot="10800000">
              <a:off x="5628373" y="1724848"/>
              <a:ext cx="0" cy="19503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93" name="Google Shape;1493;p93"/>
            <p:cNvSpPr/>
            <p:nvPr/>
          </p:nvSpPr>
          <p:spPr>
            <a:xfrm>
              <a:off x="5247091" y="1720891"/>
              <a:ext cx="1909500" cy="1909500"/>
            </a:xfrm>
            <a:prstGeom prst="arc">
              <a:avLst>
                <a:gd fmla="val 6903970" name="adj1"/>
                <a:gd fmla="val 8204246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4" name="Google Shape;1494;p93"/>
            <p:cNvSpPr/>
            <p:nvPr/>
          </p:nvSpPr>
          <p:spPr>
            <a:xfrm>
              <a:off x="4099649" y="1720919"/>
              <a:ext cx="1909500" cy="1909500"/>
            </a:xfrm>
            <a:prstGeom prst="arc">
              <a:avLst>
                <a:gd fmla="val 2255971" name="adj1"/>
                <a:gd fmla="val 3672419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5" name="Google Shape;1495;p93"/>
          <p:cNvGrpSpPr/>
          <p:nvPr/>
        </p:nvGrpSpPr>
        <p:grpSpPr>
          <a:xfrm>
            <a:off x="7293470" y="1725056"/>
            <a:ext cx="1544471" cy="1950000"/>
            <a:chOff x="7293470" y="1725056"/>
            <a:chExt cx="1544471" cy="1950000"/>
          </a:xfrm>
        </p:grpSpPr>
        <p:sp>
          <p:nvSpPr>
            <p:cNvPr id="1496" name="Google Shape;1496;p93"/>
            <p:cNvSpPr/>
            <p:nvPr/>
          </p:nvSpPr>
          <p:spPr>
            <a:xfrm>
              <a:off x="8065594" y="2427045"/>
              <a:ext cx="246600" cy="2466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97" name="Google Shape;1497;p93"/>
            <p:cNvCxnSpPr/>
            <p:nvPr/>
          </p:nvCxnSpPr>
          <p:spPr>
            <a:xfrm>
              <a:off x="7490739" y="2673650"/>
              <a:ext cx="1149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98" name="Google Shape;1498;p93"/>
            <p:cNvSpPr txBox="1"/>
            <p:nvPr/>
          </p:nvSpPr>
          <p:spPr>
            <a:xfrm>
              <a:off x="7293470" y="2535050"/>
              <a:ext cx="19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K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9" name="Google Shape;1499;p93"/>
            <p:cNvSpPr txBox="1"/>
            <p:nvPr/>
          </p:nvSpPr>
          <p:spPr>
            <a:xfrm>
              <a:off x="8640542" y="2535050"/>
              <a:ext cx="19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0" name="Google Shape;1500;p93"/>
            <p:cNvCxnSpPr/>
            <p:nvPr/>
          </p:nvCxnSpPr>
          <p:spPr>
            <a:xfrm rot="10800000">
              <a:off x="8065899" y="1725056"/>
              <a:ext cx="0" cy="19500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1" name="Google Shape;1501;p93"/>
          <p:cNvGrpSpPr/>
          <p:nvPr/>
        </p:nvGrpSpPr>
        <p:grpSpPr>
          <a:xfrm>
            <a:off x="965450" y="1348221"/>
            <a:ext cx="260924" cy="260878"/>
            <a:chOff x="1020916" y="1442088"/>
            <a:chExt cx="457200" cy="457200"/>
          </a:xfrm>
        </p:grpSpPr>
        <p:pic>
          <p:nvPicPr>
            <p:cNvPr id="1502" name="Google Shape;1502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3" name="Google Shape;1503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4" name="Google Shape;1504;p93"/>
          <p:cNvGrpSpPr/>
          <p:nvPr/>
        </p:nvGrpSpPr>
        <p:grpSpPr>
          <a:xfrm>
            <a:off x="3280750" y="1348221"/>
            <a:ext cx="260924" cy="260878"/>
            <a:chOff x="1020916" y="1442088"/>
            <a:chExt cx="457200" cy="457200"/>
          </a:xfrm>
        </p:grpSpPr>
        <p:pic>
          <p:nvPicPr>
            <p:cNvPr id="1505" name="Google Shape;1505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6" name="Google Shape;150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7" name="Google Shape;1507;p93"/>
          <p:cNvGrpSpPr/>
          <p:nvPr/>
        </p:nvGrpSpPr>
        <p:grpSpPr>
          <a:xfrm>
            <a:off x="5497387" y="1348221"/>
            <a:ext cx="260924" cy="260878"/>
            <a:chOff x="1020916" y="1442088"/>
            <a:chExt cx="457200" cy="457200"/>
          </a:xfrm>
        </p:grpSpPr>
        <p:pic>
          <p:nvPicPr>
            <p:cNvPr id="1508" name="Google Shape;1508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9" name="Google Shape;150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10" name="Google Shape;1510;p93"/>
          <p:cNvSpPr txBox="1"/>
          <p:nvPr/>
        </p:nvSpPr>
        <p:spPr>
          <a:xfrm>
            <a:off x="324000" y="3853075"/>
            <a:ext cx="849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doesn’t look like it’s a bisector - as the vertical line doesn’t intersect KL at its midpoint. d doesn’t have construction lines - so we cannot assume the vertical line has been drawn in the correct place.</a:t>
            </a:r>
            <a:endParaRPr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11" name="Google Shape;1511;p93"/>
          <p:cNvGrpSpPr/>
          <p:nvPr/>
        </p:nvGrpSpPr>
        <p:grpSpPr>
          <a:xfrm>
            <a:off x="7935262" y="1348221"/>
            <a:ext cx="260924" cy="260878"/>
            <a:chOff x="1020916" y="1442088"/>
            <a:chExt cx="457200" cy="457200"/>
          </a:xfrm>
        </p:grpSpPr>
        <p:pic>
          <p:nvPicPr>
            <p:cNvPr id="1512" name="Google Shape;1512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3" name="Google Shape;1513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14" name="Google Shape;1514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0810" y="323998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5" name="Google Shape;1515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6960" y="323998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94"/>
          <p:cNvSpPr txBox="1"/>
          <p:nvPr/>
        </p:nvSpPr>
        <p:spPr>
          <a:xfrm>
            <a:off x="324000" y="627472"/>
            <a:ext cx="407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a perpendicular bisector to a 5.5 cm line segment AB using only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sp>
        <p:nvSpPr>
          <p:cNvPr id="1522" name="Google Shape;1522;p94"/>
          <p:cNvSpPr txBox="1"/>
          <p:nvPr/>
        </p:nvSpPr>
        <p:spPr>
          <a:xfrm>
            <a:off x="4748400" y="627472"/>
            <a:ext cx="407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a perpendicular bisector to a 4.2 cm line segment AB using only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3" name="Google Shape;1523;p94"/>
          <p:cNvCxnSpPr/>
          <p:nvPr/>
        </p:nvCxnSpPr>
        <p:spPr>
          <a:xfrm>
            <a:off x="1382025" y="2700000"/>
            <a:ext cx="1439100" cy="94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4" name="Google Shape;1524;p94"/>
          <p:cNvSpPr txBox="1"/>
          <p:nvPr/>
        </p:nvSpPr>
        <p:spPr>
          <a:xfrm>
            <a:off x="4824000" y="4202235"/>
            <a:ext cx="13311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5" name="Google Shape;1525;p94"/>
          <p:cNvCxnSpPr/>
          <p:nvPr/>
        </p:nvCxnSpPr>
        <p:spPr>
          <a:xfrm>
            <a:off x="5878750" y="2809175"/>
            <a:ext cx="1167000" cy="76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26" name="Google Shape;1526;p94"/>
          <p:cNvGrpSpPr/>
          <p:nvPr/>
        </p:nvGrpSpPr>
        <p:grpSpPr>
          <a:xfrm>
            <a:off x="5528200" y="2982395"/>
            <a:ext cx="1396049" cy="762557"/>
            <a:chOff x="949707" y="2913725"/>
            <a:chExt cx="1721817" cy="940500"/>
          </a:xfrm>
        </p:grpSpPr>
        <p:cxnSp>
          <p:nvCxnSpPr>
            <p:cNvPr id="1527" name="Google Shape;1527;p94"/>
            <p:cNvCxnSpPr/>
            <p:nvPr/>
          </p:nvCxnSpPr>
          <p:spPr>
            <a:xfrm>
              <a:off x="1232424" y="2913725"/>
              <a:ext cx="1439100" cy="940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28" name="Google Shape;1528;p94"/>
            <p:cNvSpPr txBox="1"/>
            <p:nvPr/>
          </p:nvSpPr>
          <p:spPr>
            <a:xfrm>
              <a:off x="949707" y="3388972"/>
              <a:ext cx="1173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4.2 cm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9" name="Google Shape;1529;p94"/>
          <p:cNvGrpSpPr/>
          <p:nvPr/>
        </p:nvGrpSpPr>
        <p:grpSpPr>
          <a:xfrm>
            <a:off x="1165725" y="2558781"/>
            <a:ext cx="1869459" cy="1295444"/>
            <a:chOff x="1165725" y="2558781"/>
            <a:chExt cx="1869459" cy="1295444"/>
          </a:xfrm>
        </p:grpSpPr>
        <p:grpSp>
          <p:nvGrpSpPr>
            <p:cNvPr id="1530" name="Google Shape;1530;p94"/>
            <p:cNvGrpSpPr/>
            <p:nvPr/>
          </p:nvGrpSpPr>
          <p:grpSpPr>
            <a:xfrm>
              <a:off x="1232424" y="2913725"/>
              <a:ext cx="1439100" cy="940500"/>
              <a:chOff x="1232424" y="2913725"/>
              <a:chExt cx="1439100" cy="940500"/>
            </a:xfrm>
          </p:grpSpPr>
          <p:cxnSp>
            <p:nvCxnSpPr>
              <p:cNvPr id="1531" name="Google Shape;1531;p94"/>
              <p:cNvCxnSpPr/>
              <p:nvPr/>
            </p:nvCxnSpPr>
            <p:spPr>
              <a:xfrm>
                <a:off x="1232424" y="2913725"/>
                <a:ext cx="1439100" cy="9405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532" name="Google Shape;1532;p94"/>
              <p:cNvSpPr txBox="1"/>
              <p:nvPr/>
            </p:nvSpPr>
            <p:spPr>
              <a:xfrm>
                <a:off x="1314225" y="3388965"/>
                <a:ext cx="8088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5.5 cm</a:t>
                </a:r>
                <a:endParaRPr b="0" i="0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533" name="Google Shape;1533;p94"/>
            <p:cNvSpPr txBox="1"/>
            <p:nvPr/>
          </p:nvSpPr>
          <p:spPr>
            <a:xfrm>
              <a:off x="1165725" y="2558781"/>
              <a:ext cx="216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4" name="Google Shape;1534;p94"/>
            <p:cNvSpPr txBox="1"/>
            <p:nvPr/>
          </p:nvSpPr>
          <p:spPr>
            <a:xfrm>
              <a:off x="2818884" y="3497846"/>
              <a:ext cx="216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5" name="Google Shape;1535;p94"/>
          <p:cNvGrpSpPr/>
          <p:nvPr/>
        </p:nvGrpSpPr>
        <p:grpSpPr>
          <a:xfrm>
            <a:off x="5666250" y="2676218"/>
            <a:ext cx="1595800" cy="1030237"/>
            <a:chOff x="5666250" y="2676218"/>
            <a:chExt cx="1595800" cy="1030237"/>
          </a:xfrm>
        </p:grpSpPr>
        <p:sp>
          <p:nvSpPr>
            <p:cNvPr id="1536" name="Google Shape;1536;p94"/>
            <p:cNvSpPr txBox="1"/>
            <p:nvPr/>
          </p:nvSpPr>
          <p:spPr>
            <a:xfrm>
              <a:off x="5666250" y="2676218"/>
              <a:ext cx="216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7" name="Google Shape;1537;p94"/>
            <p:cNvSpPr txBox="1"/>
            <p:nvPr/>
          </p:nvSpPr>
          <p:spPr>
            <a:xfrm>
              <a:off x="7045750" y="3429254"/>
              <a:ext cx="216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95"/>
          <p:cNvSpPr txBox="1"/>
          <p:nvPr/>
        </p:nvSpPr>
        <p:spPr>
          <a:xfrm>
            <a:off x="324000" y="627472"/>
            <a:ext cx="407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Set your pair of compasses to a width over half the length of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sp>
        <p:nvSpPr>
          <p:cNvPr id="1544" name="Google Shape;1544;p95"/>
          <p:cNvSpPr txBox="1"/>
          <p:nvPr/>
        </p:nvSpPr>
        <p:spPr>
          <a:xfrm>
            <a:off x="4748400" y="627472"/>
            <a:ext cx="407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a perpendicular bisector to a 4.2 cm line segment AB using only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5" name="Google Shape;1545;p95"/>
          <p:cNvCxnSpPr/>
          <p:nvPr/>
        </p:nvCxnSpPr>
        <p:spPr>
          <a:xfrm>
            <a:off x="1382025" y="2700000"/>
            <a:ext cx="1439100" cy="94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6" name="Google Shape;1546;p95"/>
          <p:cNvCxnSpPr/>
          <p:nvPr/>
        </p:nvCxnSpPr>
        <p:spPr>
          <a:xfrm>
            <a:off x="5878750" y="2809175"/>
            <a:ext cx="1167000" cy="76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47" name="Google Shape;1547;p95"/>
          <p:cNvGrpSpPr/>
          <p:nvPr/>
        </p:nvGrpSpPr>
        <p:grpSpPr>
          <a:xfrm rot="5033658">
            <a:off x="1631972" y="1989895"/>
            <a:ext cx="1716418" cy="1725011"/>
            <a:chOff x="856732" y="1653084"/>
            <a:chExt cx="1921722" cy="1931342"/>
          </a:xfrm>
        </p:grpSpPr>
        <p:pic>
          <p:nvPicPr>
            <p:cNvPr id="1548" name="Google Shape;1548;p95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9" name="Google Shape;1549;p95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0" name="Google Shape;1550;p95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1" name="Google Shape;1551;p95"/>
          <p:cNvSpPr txBox="1"/>
          <p:nvPr/>
        </p:nvSpPr>
        <p:spPr>
          <a:xfrm>
            <a:off x="1165725" y="2558781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95"/>
          <p:cNvSpPr txBox="1"/>
          <p:nvPr/>
        </p:nvSpPr>
        <p:spPr>
          <a:xfrm>
            <a:off x="2818884" y="3497846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95"/>
          <p:cNvSpPr txBox="1"/>
          <p:nvPr/>
        </p:nvSpPr>
        <p:spPr>
          <a:xfrm>
            <a:off x="5666250" y="2676218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95"/>
          <p:cNvSpPr txBox="1"/>
          <p:nvPr/>
        </p:nvSpPr>
        <p:spPr>
          <a:xfrm>
            <a:off x="7045750" y="3429254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96"/>
          <p:cNvSpPr/>
          <p:nvPr/>
        </p:nvSpPr>
        <p:spPr>
          <a:xfrm>
            <a:off x="1585600" y="2416105"/>
            <a:ext cx="2450700" cy="2450700"/>
          </a:xfrm>
          <a:prstGeom prst="arc">
            <a:avLst>
              <a:gd fmla="val 14944571" name="adj1"/>
              <a:gd fmla="val 16750378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96"/>
          <p:cNvSpPr/>
          <p:nvPr/>
        </p:nvSpPr>
        <p:spPr>
          <a:xfrm>
            <a:off x="1585600" y="2416105"/>
            <a:ext cx="2450700" cy="2450700"/>
          </a:xfrm>
          <a:prstGeom prst="arc">
            <a:avLst>
              <a:gd fmla="val 9049002" name="adj1"/>
              <a:gd fmla="val 11323554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96"/>
          <p:cNvSpPr txBox="1"/>
          <p:nvPr/>
        </p:nvSpPr>
        <p:spPr>
          <a:xfrm>
            <a:off x="324000" y="627472"/>
            <a:ext cx="407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Place the compass needle onto point B and draw two arcs, one on each side of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sp>
        <p:nvSpPr>
          <p:cNvPr id="1563" name="Google Shape;1563;p96"/>
          <p:cNvSpPr txBox="1"/>
          <p:nvPr/>
        </p:nvSpPr>
        <p:spPr>
          <a:xfrm>
            <a:off x="4748400" y="627472"/>
            <a:ext cx="407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a perpendicular bisector to a 4.2 cm line segment AB using only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4" name="Google Shape;1564;p96"/>
          <p:cNvCxnSpPr/>
          <p:nvPr/>
        </p:nvCxnSpPr>
        <p:spPr>
          <a:xfrm>
            <a:off x="1382025" y="2700000"/>
            <a:ext cx="1439100" cy="94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5" name="Google Shape;1565;p96"/>
          <p:cNvSpPr txBox="1"/>
          <p:nvPr/>
        </p:nvSpPr>
        <p:spPr>
          <a:xfrm>
            <a:off x="4824000" y="4202235"/>
            <a:ext cx="13311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6" name="Google Shape;1566;p96"/>
          <p:cNvCxnSpPr/>
          <p:nvPr/>
        </p:nvCxnSpPr>
        <p:spPr>
          <a:xfrm>
            <a:off x="5878750" y="2809175"/>
            <a:ext cx="1167000" cy="76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7" name="Google Shape;1567;p96"/>
          <p:cNvSpPr txBox="1"/>
          <p:nvPr/>
        </p:nvSpPr>
        <p:spPr>
          <a:xfrm>
            <a:off x="1165725" y="2558781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96"/>
          <p:cNvSpPr txBox="1"/>
          <p:nvPr/>
        </p:nvSpPr>
        <p:spPr>
          <a:xfrm>
            <a:off x="2818884" y="3497846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96"/>
          <p:cNvSpPr txBox="1"/>
          <p:nvPr/>
        </p:nvSpPr>
        <p:spPr>
          <a:xfrm>
            <a:off x="5666250" y="2676218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96"/>
          <p:cNvSpPr txBox="1"/>
          <p:nvPr/>
        </p:nvSpPr>
        <p:spPr>
          <a:xfrm>
            <a:off x="7045750" y="3429254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1" name="Google Shape;1571;p96"/>
          <p:cNvGrpSpPr/>
          <p:nvPr/>
        </p:nvGrpSpPr>
        <p:grpSpPr>
          <a:xfrm rot="7200065">
            <a:off x="2150360" y="1952908"/>
            <a:ext cx="1716426" cy="1725018"/>
            <a:chOff x="856732" y="1653084"/>
            <a:chExt cx="1921722" cy="1931342"/>
          </a:xfrm>
        </p:grpSpPr>
        <p:pic>
          <p:nvPicPr>
            <p:cNvPr id="1572" name="Google Shape;1572;p96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3" name="Google Shape;1573;p96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4" name="Google Shape;1574;p96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5" name="Google Shape;1575;p96"/>
          <p:cNvGrpSpPr/>
          <p:nvPr/>
        </p:nvGrpSpPr>
        <p:grpSpPr>
          <a:xfrm rot="8999935">
            <a:off x="2533693" y="2159196"/>
            <a:ext cx="1716426" cy="1725018"/>
            <a:chOff x="856732" y="1653084"/>
            <a:chExt cx="1921722" cy="1931342"/>
          </a:xfrm>
        </p:grpSpPr>
        <p:pic>
          <p:nvPicPr>
            <p:cNvPr id="1576" name="Google Shape;1576;p96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7" name="Google Shape;1577;p96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8" name="Google Shape;1578;p96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9" name="Google Shape;1579;p96"/>
          <p:cNvGrpSpPr/>
          <p:nvPr/>
        </p:nvGrpSpPr>
        <p:grpSpPr>
          <a:xfrm rot="1325453">
            <a:off x="1114987" y="2694704"/>
            <a:ext cx="1716422" cy="1725015"/>
            <a:chOff x="856732" y="1653084"/>
            <a:chExt cx="1921722" cy="1931342"/>
          </a:xfrm>
        </p:grpSpPr>
        <p:pic>
          <p:nvPicPr>
            <p:cNvPr id="1580" name="Google Shape;1580;p96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1" name="Google Shape;1581;p96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2" name="Google Shape;1582;p96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3" name="Google Shape;1583;p96"/>
          <p:cNvGrpSpPr/>
          <p:nvPr/>
        </p:nvGrpSpPr>
        <p:grpSpPr>
          <a:xfrm rot="3599935">
            <a:off x="1336030" y="2198249"/>
            <a:ext cx="1716426" cy="1725018"/>
            <a:chOff x="856732" y="1653084"/>
            <a:chExt cx="1921722" cy="1931342"/>
          </a:xfrm>
        </p:grpSpPr>
        <p:pic>
          <p:nvPicPr>
            <p:cNvPr id="1584" name="Google Shape;1584;p96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5" name="Google Shape;1585;p96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6" name="Google Shape;1586;p96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7" name="Google Shape;1587;p96"/>
          <p:cNvGrpSpPr/>
          <p:nvPr/>
        </p:nvGrpSpPr>
        <p:grpSpPr>
          <a:xfrm>
            <a:off x="6015161" y="2546982"/>
            <a:ext cx="2053800" cy="2053800"/>
            <a:chOff x="6015161" y="2546982"/>
            <a:chExt cx="2053800" cy="2053800"/>
          </a:xfrm>
        </p:grpSpPr>
        <p:sp>
          <p:nvSpPr>
            <p:cNvPr id="1588" name="Google Shape;1588;p96"/>
            <p:cNvSpPr/>
            <p:nvPr/>
          </p:nvSpPr>
          <p:spPr>
            <a:xfrm>
              <a:off x="6015161" y="2546982"/>
              <a:ext cx="2053800" cy="2053800"/>
            </a:xfrm>
            <a:prstGeom prst="arc">
              <a:avLst>
                <a:gd fmla="val 14850520" name="adj1"/>
                <a:gd fmla="val 179215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9" name="Google Shape;1589;p96"/>
            <p:cNvSpPr/>
            <p:nvPr/>
          </p:nvSpPr>
          <p:spPr>
            <a:xfrm>
              <a:off x="6015161" y="2546982"/>
              <a:ext cx="2053800" cy="2053800"/>
            </a:xfrm>
            <a:prstGeom prst="arc">
              <a:avLst>
                <a:gd fmla="val 8333878" name="adj1"/>
                <a:gd fmla="val 11115611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97"/>
          <p:cNvSpPr/>
          <p:nvPr/>
        </p:nvSpPr>
        <p:spPr>
          <a:xfrm>
            <a:off x="1585600" y="2873305"/>
            <a:ext cx="2450700" cy="2450700"/>
          </a:xfrm>
          <a:prstGeom prst="arc">
            <a:avLst>
              <a:gd fmla="val 14944571" name="adj1"/>
              <a:gd fmla="val 16750378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97"/>
          <p:cNvSpPr/>
          <p:nvPr/>
        </p:nvSpPr>
        <p:spPr>
          <a:xfrm>
            <a:off x="1585600" y="2873305"/>
            <a:ext cx="2450700" cy="2450700"/>
          </a:xfrm>
          <a:prstGeom prst="arc">
            <a:avLst>
              <a:gd fmla="val 9049002" name="adj1"/>
              <a:gd fmla="val 11323554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sp>
        <p:nvSpPr>
          <p:cNvPr id="1597" name="Google Shape;1597;p97"/>
          <p:cNvSpPr txBox="1"/>
          <p:nvPr/>
        </p:nvSpPr>
        <p:spPr>
          <a:xfrm>
            <a:off x="4748400" y="627472"/>
            <a:ext cx="407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a perpendicular bisector to a 4.2 cm line segment AB using only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8" name="Google Shape;1598;p97"/>
          <p:cNvCxnSpPr/>
          <p:nvPr/>
        </p:nvCxnSpPr>
        <p:spPr>
          <a:xfrm>
            <a:off x="1382025" y="3157200"/>
            <a:ext cx="1439100" cy="94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9" name="Google Shape;1599;p97"/>
          <p:cNvCxnSpPr/>
          <p:nvPr/>
        </p:nvCxnSpPr>
        <p:spPr>
          <a:xfrm>
            <a:off x="5878750" y="2809175"/>
            <a:ext cx="1167000" cy="76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0" name="Google Shape;1600;p97"/>
          <p:cNvSpPr txBox="1"/>
          <p:nvPr/>
        </p:nvSpPr>
        <p:spPr>
          <a:xfrm>
            <a:off x="1165725" y="3015981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97"/>
          <p:cNvSpPr txBox="1"/>
          <p:nvPr/>
        </p:nvSpPr>
        <p:spPr>
          <a:xfrm>
            <a:off x="2818884" y="3955046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97"/>
          <p:cNvSpPr txBox="1"/>
          <p:nvPr/>
        </p:nvSpPr>
        <p:spPr>
          <a:xfrm>
            <a:off x="5666250" y="2676218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97"/>
          <p:cNvSpPr txBox="1"/>
          <p:nvPr/>
        </p:nvSpPr>
        <p:spPr>
          <a:xfrm>
            <a:off x="7045750" y="3429254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4" name="Google Shape;1604;p97"/>
          <p:cNvGrpSpPr/>
          <p:nvPr/>
        </p:nvGrpSpPr>
        <p:grpSpPr>
          <a:xfrm>
            <a:off x="6015161" y="2546982"/>
            <a:ext cx="2053800" cy="2053800"/>
            <a:chOff x="6015161" y="2546982"/>
            <a:chExt cx="2053800" cy="2053800"/>
          </a:xfrm>
        </p:grpSpPr>
        <p:sp>
          <p:nvSpPr>
            <p:cNvPr id="1605" name="Google Shape;1605;p97"/>
            <p:cNvSpPr/>
            <p:nvPr/>
          </p:nvSpPr>
          <p:spPr>
            <a:xfrm>
              <a:off x="6015161" y="2546982"/>
              <a:ext cx="2053800" cy="2053800"/>
            </a:xfrm>
            <a:prstGeom prst="arc">
              <a:avLst>
                <a:gd fmla="val 14850520" name="adj1"/>
                <a:gd fmla="val 179215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6" name="Google Shape;1606;p97"/>
            <p:cNvSpPr/>
            <p:nvPr/>
          </p:nvSpPr>
          <p:spPr>
            <a:xfrm>
              <a:off x="6015161" y="2546982"/>
              <a:ext cx="2053800" cy="2053800"/>
            </a:xfrm>
            <a:prstGeom prst="arc">
              <a:avLst>
                <a:gd fmla="val 8333878" name="adj1"/>
                <a:gd fmla="val 11115611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07" name="Google Shape;1607;p97"/>
          <p:cNvGrpSpPr/>
          <p:nvPr/>
        </p:nvGrpSpPr>
        <p:grpSpPr>
          <a:xfrm rot="2175706">
            <a:off x="1158368" y="2949638"/>
            <a:ext cx="1716463" cy="1725056"/>
            <a:chOff x="856732" y="1653084"/>
            <a:chExt cx="1921722" cy="1931342"/>
          </a:xfrm>
        </p:grpSpPr>
        <p:pic>
          <p:nvPicPr>
            <p:cNvPr id="1608" name="Google Shape;1608;p97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9" name="Google Shape;1609;p97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0" name="Google Shape;1610;p97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1" name="Google Shape;1611;p97"/>
          <p:cNvGrpSpPr/>
          <p:nvPr/>
        </p:nvGrpSpPr>
        <p:grpSpPr>
          <a:xfrm rot="2175706">
            <a:off x="1490173" y="2722321"/>
            <a:ext cx="1579953" cy="1725056"/>
            <a:chOff x="856732" y="1653084"/>
            <a:chExt cx="1768888" cy="1931342"/>
          </a:xfrm>
        </p:grpSpPr>
        <p:pic>
          <p:nvPicPr>
            <p:cNvPr id="1612" name="Google Shape;1612;p97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3" name="Google Shape;1613;p97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2864005">
              <a:off x="1740457" y="1752963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4" name="Google Shape;1614;p97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15" name="Google Shape;1615;p97"/>
          <p:cNvSpPr txBox="1"/>
          <p:nvPr/>
        </p:nvSpPr>
        <p:spPr>
          <a:xfrm>
            <a:off x="324000" y="1443938"/>
            <a:ext cx="407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setting the pencil to touch one of the arcs you have already drawn.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97"/>
          <p:cNvSpPr txBox="1"/>
          <p:nvPr/>
        </p:nvSpPr>
        <p:spPr>
          <a:xfrm>
            <a:off x="324000" y="627472"/>
            <a:ext cx="407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 can reset the width of the pair of compasses by placing the compass needle on B,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98"/>
          <p:cNvSpPr/>
          <p:nvPr/>
        </p:nvSpPr>
        <p:spPr>
          <a:xfrm>
            <a:off x="1585600" y="2416105"/>
            <a:ext cx="2450700" cy="2450700"/>
          </a:xfrm>
          <a:prstGeom prst="arc">
            <a:avLst>
              <a:gd fmla="val 9049002" name="adj1"/>
              <a:gd fmla="val 11323554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98"/>
          <p:cNvSpPr/>
          <p:nvPr/>
        </p:nvSpPr>
        <p:spPr>
          <a:xfrm>
            <a:off x="1585600" y="2416105"/>
            <a:ext cx="2450700" cy="2450700"/>
          </a:xfrm>
          <a:prstGeom prst="arc">
            <a:avLst>
              <a:gd fmla="val 14944571" name="adj1"/>
              <a:gd fmla="val 16750378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98"/>
          <p:cNvSpPr txBox="1"/>
          <p:nvPr/>
        </p:nvSpPr>
        <p:spPr>
          <a:xfrm>
            <a:off x="324000" y="627472"/>
            <a:ext cx="407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two more arcs, now with the compass needle on point A.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4" name="Google Shape;1624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sp>
        <p:nvSpPr>
          <p:cNvPr id="1625" name="Google Shape;1625;p98"/>
          <p:cNvSpPr txBox="1"/>
          <p:nvPr/>
        </p:nvSpPr>
        <p:spPr>
          <a:xfrm>
            <a:off x="4748400" y="627472"/>
            <a:ext cx="407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a perpendicular bisector to a 4.2 cm line segment AB using only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6" name="Google Shape;1626;p98"/>
          <p:cNvCxnSpPr/>
          <p:nvPr/>
        </p:nvCxnSpPr>
        <p:spPr>
          <a:xfrm>
            <a:off x="1382025" y="2700000"/>
            <a:ext cx="1439100" cy="94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7" name="Google Shape;1627;p98"/>
          <p:cNvSpPr txBox="1"/>
          <p:nvPr/>
        </p:nvSpPr>
        <p:spPr>
          <a:xfrm>
            <a:off x="4824000" y="4202235"/>
            <a:ext cx="13311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8" name="Google Shape;1628;p98"/>
          <p:cNvCxnSpPr/>
          <p:nvPr/>
        </p:nvCxnSpPr>
        <p:spPr>
          <a:xfrm>
            <a:off x="5878750" y="2809175"/>
            <a:ext cx="1167000" cy="76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9" name="Google Shape;1629;p98"/>
          <p:cNvSpPr txBox="1"/>
          <p:nvPr/>
        </p:nvSpPr>
        <p:spPr>
          <a:xfrm>
            <a:off x="1165725" y="2558781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98"/>
          <p:cNvSpPr txBox="1"/>
          <p:nvPr/>
        </p:nvSpPr>
        <p:spPr>
          <a:xfrm>
            <a:off x="2818884" y="3497846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98"/>
          <p:cNvSpPr txBox="1"/>
          <p:nvPr/>
        </p:nvSpPr>
        <p:spPr>
          <a:xfrm>
            <a:off x="5666250" y="2676218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98"/>
          <p:cNvSpPr txBox="1"/>
          <p:nvPr/>
        </p:nvSpPr>
        <p:spPr>
          <a:xfrm>
            <a:off x="7045750" y="3429254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98"/>
          <p:cNvSpPr/>
          <p:nvPr/>
        </p:nvSpPr>
        <p:spPr>
          <a:xfrm>
            <a:off x="6015161" y="2546982"/>
            <a:ext cx="2053800" cy="2053800"/>
          </a:xfrm>
          <a:prstGeom prst="arc">
            <a:avLst>
              <a:gd fmla="val 8333878" name="adj1"/>
              <a:gd fmla="val 11115611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98"/>
          <p:cNvSpPr/>
          <p:nvPr/>
        </p:nvSpPr>
        <p:spPr>
          <a:xfrm>
            <a:off x="160870" y="1477876"/>
            <a:ext cx="2450700" cy="2450700"/>
          </a:xfrm>
          <a:prstGeom prst="arc">
            <a:avLst>
              <a:gd fmla="val 20124557" name="adj1"/>
              <a:gd fmla="val 1112759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5" name="Google Shape;1635;p98"/>
          <p:cNvGrpSpPr/>
          <p:nvPr/>
        </p:nvGrpSpPr>
        <p:grpSpPr>
          <a:xfrm flipH="1" rot="1676878">
            <a:off x="1127741" y="2442196"/>
            <a:ext cx="1716418" cy="1725011"/>
            <a:chOff x="856732" y="1653084"/>
            <a:chExt cx="1921722" cy="1931342"/>
          </a:xfrm>
        </p:grpSpPr>
        <p:pic>
          <p:nvPicPr>
            <p:cNvPr id="1636" name="Google Shape;1636;p98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7" name="Google Shape;1637;p98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8" name="Google Shape;1638;p98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9" name="Google Shape;1639;p98"/>
          <p:cNvSpPr/>
          <p:nvPr/>
        </p:nvSpPr>
        <p:spPr>
          <a:xfrm>
            <a:off x="160870" y="1477876"/>
            <a:ext cx="2450700" cy="2450700"/>
          </a:xfrm>
          <a:prstGeom prst="arc">
            <a:avLst>
              <a:gd fmla="val 4144609" name="adj1"/>
              <a:gd fmla="val 5526125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0" name="Google Shape;1640;p98"/>
          <p:cNvGrpSpPr/>
          <p:nvPr/>
        </p:nvGrpSpPr>
        <p:grpSpPr>
          <a:xfrm flipH="1" rot="-1976995">
            <a:off x="1339162" y="1605842"/>
            <a:ext cx="1716423" cy="1725016"/>
            <a:chOff x="856732" y="1653084"/>
            <a:chExt cx="1921722" cy="1931342"/>
          </a:xfrm>
        </p:grpSpPr>
        <p:pic>
          <p:nvPicPr>
            <p:cNvPr id="1641" name="Google Shape;1641;p98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2" name="Google Shape;1642;p98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3" name="Google Shape;1643;p98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4" name="Google Shape;1644;p98"/>
          <p:cNvGrpSpPr/>
          <p:nvPr/>
        </p:nvGrpSpPr>
        <p:grpSpPr>
          <a:xfrm flipH="1" rot="5400000">
            <a:off x="4850551" y="1782581"/>
            <a:ext cx="2053800" cy="2053800"/>
            <a:chOff x="6015161" y="2546982"/>
            <a:chExt cx="2053800" cy="2053800"/>
          </a:xfrm>
        </p:grpSpPr>
        <p:sp>
          <p:nvSpPr>
            <p:cNvPr id="1645" name="Google Shape;1645;p98"/>
            <p:cNvSpPr/>
            <p:nvPr/>
          </p:nvSpPr>
          <p:spPr>
            <a:xfrm>
              <a:off x="6015161" y="2546982"/>
              <a:ext cx="2053800" cy="2053800"/>
            </a:xfrm>
            <a:prstGeom prst="arc">
              <a:avLst>
                <a:gd fmla="val 15295050" name="adj1"/>
                <a:gd fmla="val 179215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6" name="Google Shape;1646;p98"/>
            <p:cNvSpPr/>
            <p:nvPr/>
          </p:nvSpPr>
          <p:spPr>
            <a:xfrm>
              <a:off x="6015161" y="2546982"/>
              <a:ext cx="2053800" cy="2053800"/>
            </a:xfrm>
            <a:prstGeom prst="arc">
              <a:avLst>
                <a:gd fmla="val 10814041" name="adj1"/>
                <a:gd fmla="val 1229330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47" name="Google Shape;1647;p98"/>
          <p:cNvSpPr/>
          <p:nvPr/>
        </p:nvSpPr>
        <p:spPr>
          <a:xfrm>
            <a:off x="6015161" y="2546982"/>
            <a:ext cx="2053800" cy="2053800"/>
          </a:xfrm>
          <a:prstGeom prst="arc">
            <a:avLst>
              <a:gd fmla="val 14850520" name="adj1"/>
              <a:gd fmla="val 17921572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2" name="Google Shape;1652;p99"/>
          <p:cNvGrpSpPr/>
          <p:nvPr/>
        </p:nvGrpSpPr>
        <p:grpSpPr>
          <a:xfrm>
            <a:off x="6042863" y="2542834"/>
            <a:ext cx="839777" cy="1282935"/>
            <a:chOff x="1617300" y="2435900"/>
            <a:chExt cx="963600" cy="1472100"/>
          </a:xfrm>
        </p:grpSpPr>
        <p:sp>
          <p:nvSpPr>
            <p:cNvPr id="1653" name="Google Shape;1653;p99"/>
            <p:cNvSpPr/>
            <p:nvPr/>
          </p:nvSpPr>
          <p:spPr>
            <a:xfrm rot="1965579">
              <a:off x="2133676" y="3063051"/>
              <a:ext cx="169095" cy="16909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54" name="Google Shape;1654;p99"/>
            <p:cNvCxnSpPr/>
            <p:nvPr/>
          </p:nvCxnSpPr>
          <p:spPr>
            <a:xfrm flipH="1">
              <a:off x="1617300" y="2435900"/>
              <a:ext cx="963600" cy="1472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55" name="Google Shape;1655;p99"/>
          <p:cNvGrpSpPr/>
          <p:nvPr/>
        </p:nvGrpSpPr>
        <p:grpSpPr>
          <a:xfrm>
            <a:off x="1617300" y="2435900"/>
            <a:ext cx="963600" cy="1472100"/>
            <a:chOff x="1617300" y="2435900"/>
            <a:chExt cx="963600" cy="1472100"/>
          </a:xfrm>
        </p:grpSpPr>
        <p:sp>
          <p:nvSpPr>
            <p:cNvPr id="1656" name="Google Shape;1656;p99"/>
            <p:cNvSpPr/>
            <p:nvPr/>
          </p:nvSpPr>
          <p:spPr>
            <a:xfrm rot="1965579">
              <a:off x="2133676" y="3063051"/>
              <a:ext cx="169095" cy="16909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57" name="Google Shape;1657;p99"/>
            <p:cNvCxnSpPr/>
            <p:nvPr/>
          </p:nvCxnSpPr>
          <p:spPr>
            <a:xfrm flipH="1">
              <a:off x="1617300" y="2435900"/>
              <a:ext cx="963600" cy="1472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58" name="Google Shape;1658;p99"/>
          <p:cNvSpPr txBox="1"/>
          <p:nvPr/>
        </p:nvSpPr>
        <p:spPr>
          <a:xfrm>
            <a:off x="324000" y="627472"/>
            <a:ext cx="407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Drawing a line segment between the two intersections creates a perpendicular bisector for AB.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99"/>
          <p:cNvSpPr/>
          <p:nvPr/>
        </p:nvSpPr>
        <p:spPr>
          <a:xfrm>
            <a:off x="1585600" y="2416105"/>
            <a:ext cx="2450700" cy="2450700"/>
          </a:xfrm>
          <a:prstGeom prst="arc">
            <a:avLst>
              <a:gd fmla="val 9049002" name="adj1"/>
              <a:gd fmla="val 11323554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99"/>
          <p:cNvSpPr/>
          <p:nvPr/>
        </p:nvSpPr>
        <p:spPr>
          <a:xfrm>
            <a:off x="1585600" y="2416105"/>
            <a:ext cx="2450700" cy="2450700"/>
          </a:xfrm>
          <a:prstGeom prst="arc">
            <a:avLst>
              <a:gd fmla="val 14944571" name="adj1"/>
              <a:gd fmla="val 16750378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sp>
        <p:nvSpPr>
          <p:cNvPr id="1662" name="Google Shape;1662;p99"/>
          <p:cNvSpPr txBox="1"/>
          <p:nvPr/>
        </p:nvSpPr>
        <p:spPr>
          <a:xfrm>
            <a:off x="4748400" y="627472"/>
            <a:ext cx="407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a perpendicular bisector to a 4.2 cm line segment AB using only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3" name="Google Shape;1663;p99"/>
          <p:cNvCxnSpPr/>
          <p:nvPr/>
        </p:nvCxnSpPr>
        <p:spPr>
          <a:xfrm>
            <a:off x="1382025" y="2700000"/>
            <a:ext cx="1439100" cy="94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4" name="Google Shape;1664;p99"/>
          <p:cNvSpPr txBox="1"/>
          <p:nvPr/>
        </p:nvSpPr>
        <p:spPr>
          <a:xfrm>
            <a:off x="4824000" y="4202235"/>
            <a:ext cx="13311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5" name="Google Shape;1665;p99"/>
          <p:cNvCxnSpPr/>
          <p:nvPr/>
        </p:nvCxnSpPr>
        <p:spPr>
          <a:xfrm>
            <a:off x="5878750" y="2809175"/>
            <a:ext cx="1167000" cy="76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6" name="Google Shape;1666;p99"/>
          <p:cNvSpPr txBox="1"/>
          <p:nvPr/>
        </p:nvSpPr>
        <p:spPr>
          <a:xfrm>
            <a:off x="1165725" y="2558781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99"/>
          <p:cNvSpPr txBox="1"/>
          <p:nvPr/>
        </p:nvSpPr>
        <p:spPr>
          <a:xfrm>
            <a:off x="2818884" y="3497846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99"/>
          <p:cNvSpPr txBox="1"/>
          <p:nvPr/>
        </p:nvSpPr>
        <p:spPr>
          <a:xfrm>
            <a:off x="5666250" y="2676218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99"/>
          <p:cNvSpPr txBox="1"/>
          <p:nvPr/>
        </p:nvSpPr>
        <p:spPr>
          <a:xfrm>
            <a:off x="7045750" y="3429254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99"/>
          <p:cNvSpPr/>
          <p:nvPr/>
        </p:nvSpPr>
        <p:spPr>
          <a:xfrm>
            <a:off x="6015161" y="2546982"/>
            <a:ext cx="2053800" cy="2053800"/>
          </a:xfrm>
          <a:prstGeom prst="arc">
            <a:avLst>
              <a:gd fmla="val 8333878" name="adj1"/>
              <a:gd fmla="val 11115611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99"/>
          <p:cNvSpPr/>
          <p:nvPr/>
        </p:nvSpPr>
        <p:spPr>
          <a:xfrm>
            <a:off x="160870" y="1477876"/>
            <a:ext cx="2450700" cy="2450700"/>
          </a:xfrm>
          <a:prstGeom prst="arc">
            <a:avLst>
              <a:gd fmla="val 20124557" name="adj1"/>
              <a:gd fmla="val 1112759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99"/>
          <p:cNvSpPr/>
          <p:nvPr/>
        </p:nvSpPr>
        <p:spPr>
          <a:xfrm>
            <a:off x="160870" y="1477876"/>
            <a:ext cx="2450700" cy="2450700"/>
          </a:xfrm>
          <a:prstGeom prst="arc">
            <a:avLst>
              <a:gd fmla="val 4144609" name="adj1"/>
              <a:gd fmla="val 5526125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3" name="Google Shape;1673;p99"/>
          <p:cNvGrpSpPr/>
          <p:nvPr/>
        </p:nvGrpSpPr>
        <p:grpSpPr>
          <a:xfrm flipH="1" rot="5400000">
            <a:off x="4850551" y="1782581"/>
            <a:ext cx="2053800" cy="2053800"/>
            <a:chOff x="6015161" y="2546982"/>
            <a:chExt cx="2053800" cy="2053800"/>
          </a:xfrm>
        </p:grpSpPr>
        <p:sp>
          <p:nvSpPr>
            <p:cNvPr id="1674" name="Google Shape;1674;p99"/>
            <p:cNvSpPr/>
            <p:nvPr/>
          </p:nvSpPr>
          <p:spPr>
            <a:xfrm>
              <a:off x="6015161" y="2546982"/>
              <a:ext cx="2053800" cy="2053800"/>
            </a:xfrm>
            <a:prstGeom prst="arc">
              <a:avLst>
                <a:gd fmla="val 15295050" name="adj1"/>
                <a:gd fmla="val 179215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5" name="Google Shape;1675;p99"/>
            <p:cNvSpPr/>
            <p:nvPr/>
          </p:nvSpPr>
          <p:spPr>
            <a:xfrm>
              <a:off x="6015161" y="2546982"/>
              <a:ext cx="2053800" cy="2053800"/>
            </a:xfrm>
            <a:prstGeom prst="arc">
              <a:avLst>
                <a:gd fmla="val 10814041" name="adj1"/>
                <a:gd fmla="val 1229330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76" name="Google Shape;1676;p99"/>
          <p:cNvSpPr/>
          <p:nvPr/>
        </p:nvSpPr>
        <p:spPr>
          <a:xfrm>
            <a:off x="6015161" y="2546982"/>
            <a:ext cx="2053800" cy="2053800"/>
          </a:xfrm>
          <a:prstGeom prst="arc">
            <a:avLst>
              <a:gd fmla="val 14850520" name="adj1"/>
              <a:gd fmla="val 17921572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1" name="Google Shape;1681;p100"/>
          <p:cNvGrpSpPr/>
          <p:nvPr/>
        </p:nvGrpSpPr>
        <p:grpSpPr>
          <a:xfrm>
            <a:off x="6042863" y="2542834"/>
            <a:ext cx="839777" cy="1282935"/>
            <a:chOff x="1617300" y="2435900"/>
            <a:chExt cx="963600" cy="1472100"/>
          </a:xfrm>
        </p:grpSpPr>
        <p:sp>
          <p:nvSpPr>
            <p:cNvPr id="1682" name="Google Shape;1682;p100"/>
            <p:cNvSpPr/>
            <p:nvPr/>
          </p:nvSpPr>
          <p:spPr>
            <a:xfrm rot="1965579">
              <a:off x="2133676" y="3063051"/>
              <a:ext cx="169095" cy="16909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83" name="Google Shape;1683;p100"/>
            <p:cNvCxnSpPr/>
            <p:nvPr/>
          </p:nvCxnSpPr>
          <p:spPr>
            <a:xfrm flipH="1">
              <a:off x="1617300" y="2435900"/>
              <a:ext cx="963600" cy="1472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84" name="Google Shape;1684;p100"/>
          <p:cNvGrpSpPr/>
          <p:nvPr/>
        </p:nvGrpSpPr>
        <p:grpSpPr>
          <a:xfrm>
            <a:off x="1617300" y="2435900"/>
            <a:ext cx="963600" cy="1472100"/>
            <a:chOff x="1617300" y="2435900"/>
            <a:chExt cx="963600" cy="1472100"/>
          </a:xfrm>
        </p:grpSpPr>
        <p:sp>
          <p:nvSpPr>
            <p:cNvPr id="1685" name="Google Shape;1685;p100"/>
            <p:cNvSpPr/>
            <p:nvPr/>
          </p:nvSpPr>
          <p:spPr>
            <a:xfrm rot="1965579">
              <a:off x="2133676" y="3063051"/>
              <a:ext cx="169095" cy="169095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86" name="Google Shape;1686;p100"/>
            <p:cNvCxnSpPr/>
            <p:nvPr/>
          </p:nvCxnSpPr>
          <p:spPr>
            <a:xfrm flipH="1">
              <a:off x="1617300" y="2435900"/>
              <a:ext cx="963600" cy="14721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87" name="Google Shape;1687;p100"/>
          <p:cNvSpPr txBox="1"/>
          <p:nvPr/>
        </p:nvSpPr>
        <p:spPr>
          <a:xfrm>
            <a:off x="324000" y="627472"/>
            <a:ext cx="407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perpendicular bisector should have divided AB into two equal halves.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100"/>
          <p:cNvSpPr/>
          <p:nvPr/>
        </p:nvSpPr>
        <p:spPr>
          <a:xfrm>
            <a:off x="1585600" y="2416105"/>
            <a:ext cx="2450700" cy="2450700"/>
          </a:xfrm>
          <a:prstGeom prst="arc">
            <a:avLst>
              <a:gd fmla="val 9049002" name="adj1"/>
              <a:gd fmla="val 11323554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100"/>
          <p:cNvSpPr/>
          <p:nvPr/>
        </p:nvSpPr>
        <p:spPr>
          <a:xfrm>
            <a:off x="1585600" y="2416105"/>
            <a:ext cx="2450700" cy="2450700"/>
          </a:xfrm>
          <a:prstGeom prst="arc">
            <a:avLst>
              <a:gd fmla="val 14944571" name="adj1"/>
              <a:gd fmla="val 16750378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sp>
        <p:nvSpPr>
          <p:cNvPr id="1691" name="Google Shape;1691;p100"/>
          <p:cNvSpPr txBox="1"/>
          <p:nvPr/>
        </p:nvSpPr>
        <p:spPr>
          <a:xfrm>
            <a:off x="4748400" y="627472"/>
            <a:ext cx="407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a perpendicular bisector to a 4.2 cm line segment AB using only circular arcs.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2" name="Google Shape;1692;p100"/>
          <p:cNvCxnSpPr/>
          <p:nvPr/>
        </p:nvCxnSpPr>
        <p:spPr>
          <a:xfrm>
            <a:off x="1382025" y="2700000"/>
            <a:ext cx="1439100" cy="94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3" name="Google Shape;1693;p100"/>
          <p:cNvSpPr txBox="1"/>
          <p:nvPr/>
        </p:nvSpPr>
        <p:spPr>
          <a:xfrm>
            <a:off x="4824000" y="4202235"/>
            <a:ext cx="13311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4" name="Google Shape;1694;p100"/>
          <p:cNvCxnSpPr/>
          <p:nvPr/>
        </p:nvCxnSpPr>
        <p:spPr>
          <a:xfrm>
            <a:off x="5878750" y="2809175"/>
            <a:ext cx="1167000" cy="76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5" name="Google Shape;1695;p100"/>
          <p:cNvSpPr txBox="1"/>
          <p:nvPr/>
        </p:nvSpPr>
        <p:spPr>
          <a:xfrm>
            <a:off x="1165725" y="2558781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100"/>
          <p:cNvSpPr txBox="1"/>
          <p:nvPr/>
        </p:nvSpPr>
        <p:spPr>
          <a:xfrm>
            <a:off x="2818884" y="3497846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00"/>
          <p:cNvSpPr txBox="1"/>
          <p:nvPr/>
        </p:nvSpPr>
        <p:spPr>
          <a:xfrm>
            <a:off x="5666250" y="2676218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100"/>
          <p:cNvSpPr txBox="1"/>
          <p:nvPr/>
        </p:nvSpPr>
        <p:spPr>
          <a:xfrm>
            <a:off x="7045750" y="3429254"/>
            <a:ext cx="21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100"/>
          <p:cNvSpPr/>
          <p:nvPr/>
        </p:nvSpPr>
        <p:spPr>
          <a:xfrm>
            <a:off x="6015161" y="2546982"/>
            <a:ext cx="2053800" cy="2053800"/>
          </a:xfrm>
          <a:prstGeom prst="arc">
            <a:avLst>
              <a:gd fmla="val 8333878" name="adj1"/>
              <a:gd fmla="val 11115611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100"/>
          <p:cNvSpPr/>
          <p:nvPr/>
        </p:nvSpPr>
        <p:spPr>
          <a:xfrm>
            <a:off x="160870" y="1477876"/>
            <a:ext cx="2450700" cy="2450700"/>
          </a:xfrm>
          <a:prstGeom prst="arc">
            <a:avLst>
              <a:gd fmla="val 20124557" name="adj1"/>
              <a:gd fmla="val 1112759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100"/>
          <p:cNvSpPr/>
          <p:nvPr/>
        </p:nvSpPr>
        <p:spPr>
          <a:xfrm>
            <a:off x="160870" y="1477876"/>
            <a:ext cx="2450700" cy="2450700"/>
          </a:xfrm>
          <a:prstGeom prst="arc">
            <a:avLst>
              <a:gd fmla="val 4144609" name="adj1"/>
              <a:gd fmla="val 5526125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2" name="Google Shape;1702;p100"/>
          <p:cNvGrpSpPr/>
          <p:nvPr/>
        </p:nvGrpSpPr>
        <p:grpSpPr>
          <a:xfrm flipH="1" rot="5400000">
            <a:off x="4850551" y="1782581"/>
            <a:ext cx="2053800" cy="2053800"/>
            <a:chOff x="6015161" y="2546982"/>
            <a:chExt cx="2053800" cy="2053800"/>
          </a:xfrm>
        </p:grpSpPr>
        <p:sp>
          <p:nvSpPr>
            <p:cNvPr id="1703" name="Google Shape;1703;p100"/>
            <p:cNvSpPr/>
            <p:nvPr/>
          </p:nvSpPr>
          <p:spPr>
            <a:xfrm>
              <a:off x="6015161" y="2546982"/>
              <a:ext cx="2053800" cy="2053800"/>
            </a:xfrm>
            <a:prstGeom prst="arc">
              <a:avLst>
                <a:gd fmla="val 15295050" name="adj1"/>
                <a:gd fmla="val 179215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4" name="Google Shape;1704;p100"/>
            <p:cNvSpPr/>
            <p:nvPr/>
          </p:nvSpPr>
          <p:spPr>
            <a:xfrm>
              <a:off x="6015161" y="2546982"/>
              <a:ext cx="2053800" cy="2053800"/>
            </a:xfrm>
            <a:prstGeom prst="arc">
              <a:avLst>
                <a:gd fmla="val 10814041" name="adj1"/>
                <a:gd fmla="val 1229330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5" name="Google Shape;1705;p100"/>
          <p:cNvSpPr/>
          <p:nvPr/>
        </p:nvSpPr>
        <p:spPr>
          <a:xfrm>
            <a:off x="6015161" y="2546982"/>
            <a:ext cx="2053800" cy="2053800"/>
          </a:xfrm>
          <a:prstGeom prst="arc">
            <a:avLst>
              <a:gd fmla="val 14850520" name="adj1"/>
              <a:gd fmla="val 17921572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6" name="Google Shape;1706;p100"/>
          <p:cNvGrpSpPr/>
          <p:nvPr/>
        </p:nvGrpSpPr>
        <p:grpSpPr>
          <a:xfrm>
            <a:off x="1266299" y="2859000"/>
            <a:ext cx="1439100" cy="957087"/>
            <a:chOff x="1232424" y="2913725"/>
            <a:chExt cx="1439100" cy="957087"/>
          </a:xfrm>
        </p:grpSpPr>
        <p:cxnSp>
          <p:nvCxnSpPr>
            <p:cNvPr id="1707" name="Google Shape;1707;p100"/>
            <p:cNvCxnSpPr/>
            <p:nvPr/>
          </p:nvCxnSpPr>
          <p:spPr>
            <a:xfrm>
              <a:off x="1232424" y="2913725"/>
              <a:ext cx="1439100" cy="940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08" name="Google Shape;1708;p100"/>
            <p:cNvSpPr txBox="1"/>
            <p:nvPr/>
          </p:nvSpPr>
          <p:spPr>
            <a:xfrm rot="1991696">
              <a:off x="1456589" y="3394879"/>
              <a:ext cx="808783" cy="27716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5.5 cm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9" name="Google Shape;1709;p100"/>
          <p:cNvGrpSpPr/>
          <p:nvPr/>
        </p:nvGrpSpPr>
        <p:grpSpPr>
          <a:xfrm>
            <a:off x="1432174" y="2260147"/>
            <a:ext cx="918160" cy="704411"/>
            <a:chOff x="1002429" y="2348751"/>
            <a:chExt cx="1962300" cy="1505474"/>
          </a:xfrm>
        </p:grpSpPr>
        <p:cxnSp>
          <p:nvCxnSpPr>
            <p:cNvPr id="1710" name="Google Shape;1710;p100"/>
            <p:cNvCxnSpPr/>
            <p:nvPr/>
          </p:nvCxnSpPr>
          <p:spPr>
            <a:xfrm>
              <a:off x="1232424" y="2913725"/>
              <a:ext cx="1439100" cy="940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11" name="Google Shape;1711;p100"/>
            <p:cNvSpPr txBox="1"/>
            <p:nvPr/>
          </p:nvSpPr>
          <p:spPr>
            <a:xfrm rot="1799698">
              <a:off x="930718" y="2856528"/>
              <a:ext cx="2105721" cy="2771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2.75 cm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2" name="Google Shape;1712;p100"/>
          <p:cNvGrpSpPr/>
          <p:nvPr/>
        </p:nvGrpSpPr>
        <p:grpSpPr>
          <a:xfrm>
            <a:off x="5796596" y="2929947"/>
            <a:ext cx="1166966" cy="845221"/>
            <a:chOff x="1232424" y="2913725"/>
            <a:chExt cx="1439100" cy="1042325"/>
          </a:xfrm>
        </p:grpSpPr>
        <p:cxnSp>
          <p:nvCxnSpPr>
            <p:cNvPr id="1713" name="Google Shape;1713;p100"/>
            <p:cNvCxnSpPr/>
            <p:nvPr/>
          </p:nvCxnSpPr>
          <p:spPr>
            <a:xfrm>
              <a:off x="1232424" y="2913725"/>
              <a:ext cx="1439100" cy="940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14" name="Google Shape;1714;p100"/>
            <p:cNvSpPr txBox="1"/>
            <p:nvPr/>
          </p:nvSpPr>
          <p:spPr>
            <a:xfrm rot="1991778">
              <a:off x="1301017" y="3394917"/>
              <a:ext cx="1119981" cy="277166"/>
            </a:xfrm>
            <a:prstGeom prst="rect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4.2 cm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5" name="Google Shape;1715;p100"/>
          <p:cNvGrpSpPr/>
          <p:nvPr/>
        </p:nvGrpSpPr>
        <p:grpSpPr>
          <a:xfrm>
            <a:off x="5875347" y="2379261"/>
            <a:ext cx="827576" cy="634122"/>
            <a:chOff x="826538" y="2148017"/>
            <a:chExt cx="2180700" cy="1670940"/>
          </a:xfrm>
        </p:grpSpPr>
        <p:cxnSp>
          <p:nvCxnSpPr>
            <p:cNvPr id="1716" name="Google Shape;1716;p100"/>
            <p:cNvCxnSpPr/>
            <p:nvPr/>
          </p:nvCxnSpPr>
          <p:spPr>
            <a:xfrm>
              <a:off x="1197156" y="2878457"/>
              <a:ext cx="1439100" cy="9405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17" name="Google Shape;1717;p100"/>
            <p:cNvSpPr txBox="1"/>
            <p:nvPr/>
          </p:nvSpPr>
          <p:spPr>
            <a:xfrm rot="1799797">
              <a:off x="769271" y="2695930"/>
              <a:ext cx="2295235" cy="385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2.1 cm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101"/>
          <p:cNvSpPr/>
          <p:nvPr/>
        </p:nvSpPr>
        <p:spPr>
          <a:xfrm>
            <a:off x="288250" y="1649650"/>
            <a:ext cx="1945200" cy="1945200"/>
          </a:xfrm>
          <a:prstGeom prst="arc">
            <a:avLst>
              <a:gd fmla="val 16200000" name="adj1"/>
              <a:gd fmla="val 20408623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101"/>
          <p:cNvSpPr/>
          <p:nvPr/>
        </p:nvSpPr>
        <p:spPr>
          <a:xfrm flipH="1" rot="10800000">
            <a:off x="288250" y="166831"/>
            <a:ext cx="1945200" cy="1945200"/>
          </a:xfrm>
          <a:prstGeom prst="arc">
            <a:avLst>
              <a:gd fmla="val 16200000" name="adj1"/>
              <a:gd fmla="val 20211582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4" name="Google Shape;1724;p101"/>
          <p:cNvGrpSpPr/>
          <p:nvPr/>
        </p:nvGrpSpPr>
        <p:grpSpPr>
          <a:xfrm flipH="1">
            <a:off x="284739" y="166831"/>
            <a:ext cx="1945200" cy="3428019"/>
            <a:chOff x="897125" y="166831"/>
            <a:chExt cx="1945200" cy="3428019"/>
          </a:xfrm>
        </p:grpSpPr>
        <p:sp>
          <p:nvSpPr>
            <p:cNvPr id="1725" name="Google Shape;1725;p101"/>
            <p:cNvSpPr/>
            <p:nvPr/>
          </p:nvSpPr>
          <p:spPr>
            <a:xfrm>
              <a:off x="897125" y="1649650"/>
              <a:ext cx="1945200" cy="1945200"/>
            </a:xfrm>
            <a:prstGeom prst="arc">
              <a:avLst>
                <a:gd fmla="val 16200000" name="adj1"/>
                <a:gd fmla="val 20100164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6" name="Google Shape;1726;p101"/>
            <p:cNvSpPr/>
            <p:nvPr/>
          </p:nvSpPr>
          <p:spPr>
            <a:xfrm flipH="1" rot="10800000">
              <a:off x="897125" y="166831"/>
              <a:ext cx="1945200" cy="1945200"/>
            </a:xfrm>
            <a:prstGeom prst="arc">
              <a:avLst>
                <a:gd fmla="val 16200000" name="adj1"/>
                <a:gd fmla="val 20024636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7" name="Google Shape;1727;p101"/>
          <p:cNvSpPr txBox="1"/>
          <p:nvPr/>
        </p:nvSpPr>
        <p:spPr>
          <a:xfrm>
            <a:off x="324025" y="616367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Complete the construction of each perpendicular bisector.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cxnSp>
        <p:nvCxnSpPr>
          <p:cNvPr id="1729" name="Google Shape;1729;p101"/>
          <p:cNvCxnSpPr/>
          <p:nvPr/>
        </p:nvCxnSpPr>
        <p:spPr>
          <a:xfrm>
            <a:off x="1260925" y="1139825"/>
            <a:ext cx="0" cy="148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30" name="Google Shape;1730;p101"/>
          <p:cNvGrpSpPr/>
          <p:nvPr/>
        </p:nvGrpSpPr>
        <p:grpSpPr>
          <a:xfrm rot="2700000">
            <a:off x="3360550" y="-125226"/>
            <a:ext cx="2517233" cy="4428119"/>
            <a:chOff x="-3166886" y="166831"/>
            <a:chExt cx="1948711" cy="3428019"/>
          </a:xfrm>
        </p:grpSpPr>
        <p:cxnSp>
          <p:nvCxnSpPr>
            <p:cNvPr id="1731" name="Google Shape;1731;p101"/>
            <p:cNvCxnSpPr/>
            <p:nvPr/>
          </p:nvCxnSpPr>
          <p:spPr>
            <a:xfrm>
              <a:off x="-2190700" y="1139825"/>
              <a:ext cx="0" cy="1481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32" name="Google Shape;1732;p101"/>
            <p:cNvSpPr/>
            <p:nvPr/>
          </p:nvSpPr>
          <p:spPr>
            <a:xfrm>
              <a:off x="-3163375" y="1649650"/>
              <a:ext cx="1945200" cy="1945200"/>
            </a:xfrm>
            <a:prstGeom prst="arc">
              <a:avLst>
                <a:gd fmla="val 17308075" name="adj1"/>
                <a:gd fmla="val 19273245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33" name="Google Shape;1733;p101"/>
            <p:cNvGrpSpPr/>
            <p:nvPr/>
          </p:nvGrpSpPr>
          <p:grpSpPr>
            <a:xfrm flipH="1">
              <a:off x="-3166886" y="166831"/>
              <a:ext cx="1945200" cy="3428019"/>
              <a:chOff x="897125" y="166831"/>
              <a:chExt cx="1945200" cy="3428019"/>
            </a:xfrm>
          </p:grpSpPr>
          <p:sp>
            <p:nvSpPr>
              <p:cNvPr id="1734" name="Google Shape;1734;p101"/>
              <p:cNvSpPr/>
              <p:nvPr/>
            </p:nvSpPr>
            <p:spPr>
              <a:xfrm>
                <a:off x="897125" y="1649650"/>
                <a:ext cx="1945200" cy="1945200"/>
              </a:xfrm>
              <a:prstGeom prst="arc">
                <a:avLst>
                  <a:gd fmla="val 18271554" name="adj1"/>
                  <a:gd fmla="val 19084184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35" name="Google Shape;1735;p101"/>
              <p:cNvSpPr/>
              <p:nvPr/>
            </p:nvSpPr>
            <p:spPr>
              <a:xfrm flipH="1" rot="10800000">
                <a:off x="897125" y="166831"/>
                <a:ext cx="1945200" cy="1945200"/>
              </a:xfrm>
              <a:prstGeom prst="arc">
                <a:avLst>
                  <a:gd fmla="val 17512106" name="adj1"/>
                  <a:gd fmla="val 19635712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736" name="Google Shape;1736;p101"/>
          <p:cNvGrpSpPr/>
          <p:nvPr/>
        </p:nvGrpSpPr>
        <p:grpSpPr>
          <a:xfrm>
            <a:off x="4070894" y="-932036"/>
            <a:ext cx="4687200" cy="4687200"/>
            <a:chOff x="4070894" y="-932036"/>
            <a:chExt cx="4687200" cy="4687200"/>
          </a:xfrm>
        </p:grpSpPr>
        <p:sp>
          <p:nvSpPr>
            <p:cNvPr id="1737" name="Google Shape;1737;p101"/>
            <p:cNvSpPr/>
            <p:nvPr/>
          </p:nvSpPr>
          <p:spPr>
            <a:xfrm flipH="1" rot="7200090">
              <a:off x="4698872" y="-304058"/>
              <a:ext cx="3431244" cy="3431244"/>
            </a:xfrm>
            <a:prstGeom prst="arc">
              <a:avLst>
                <a:gd fmla="val 13308944" name="adj1"/>
                <a:gd fmla="val 19015461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38" name="Google Shape;1738;p101"/>
            <p:cNvCxnSpPr/>
            <p:nvPr/>
          </p:nvCxnSpPr>
          <p:spPr>
            <a:xfrm>
              <a:off x="7546902" y="758396"/>
              <a:ext cx="0" cy="2613649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39" name="Google Shape;1739;p101"/>
          <p:cNvGrpSpPr/>
          <p:nvPr/>
        </p:nvGrpSpPr>
        <p:grpSpPr>
          <a:xfrm rot="5400000">
            <a:off x="977656" y="2323169"/>
            <a:ext cx="2299869" cy="2897175"/>
            <a:chOff x="-3166886" y="1139825"/>
            <a:chExt cx="1948711" cy="2455025"/>
          </a:xfrm>
        </p:grpSpPr>
        <p:cxnSp>
          <p:nvCxnSpPr>
            <p:cNvPr id="1740" name="Google Shape;1740;p101"/>
            <p:cNvCxnSpPr/>
            <p:nvPr/>
          </p:nvCxnSpPr>
          <p:spPr>
            <a:xfrm>
              <a:off x="-2190700" y="1139825"/>
              <a:ext cx="0" cy="1481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1" name="Google Shape;1741;p101"/>
            <p:cNvSpPr/>
            <p:nvPr/>
          </p:nvSpPr>
          <p:spPr>
            <a:xfrm>
              <a:off x="-3163375" y="1649650"/>
              <a:ext cx="1945200" cy="1945200"/>
            </a:xfrm>
            <a:prstGeom prst="arc">
              <a:avLst>
                <a:gd fmla="val 18037882" name="adj1"/>
                <a:gd fmla="val 19082531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2" name="Google Shape;1742;p101"/>
            <p:cNvSpPr/>
            <p:nvPr/>
          </p:nvSpPr>
          <p:spPr>
            <a:xfrm flipH="1">
              <a:off x="-3166886" y="1649650"/>
              <a:ext cx="1945200" cy="1945200"/>
            </a:xfrm>
            <a:prstGeom prst="arc">
              <a:avLst>
                <a:gd fmla="val 18147442" name="adj1"/>
                <a:gd fmla="val 1920379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743" name="Google Shape;1743;p101"/>
          <p:cNvCxnSpPr/>
          <p:nvPr/>
        </p:nvCxnSpPr>
        <p:spPr>
          <a:xfrm>
            <a:off x="6333354" y="3544343"/>
            <a:ext cx="0" cy="840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4" name="Google Shape;1744;p101"/>
          <p:cNvSpPr/>
          <p:nvPr/>
        </p:nvSpPr>
        <p:spPr>
          <a:xfrm flipH="1" rot="5400000">
            <a:off x="5057249" y="3106785"/>
            <a:ext cx="1710600" cy="1710600"/>
          </a:xfrm>
          <a:prstGeom prst="arc">
            <a:avLst>
              <a:gd fmla="val 19304304" name="adj1"/>
              <a:gd fmla="val 20247859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101"/>
          <p:cNvSpPr txBox="1"/>
          <p:nvPr/>
        </p:nvSpPr>
        <p:spPr>
          <a:xfrm>
            <a:off x="275025" y="941400"/>
            <a:ext cx="3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101"/>
          <p:cNvSpPr txBox="1"/>
          <p:nvPr/>
        </p:nvSpPr>
        <p:spPr>
          <a:xfrm>
            <a:off x="5119300" y="941400"/>
            <a:ext cx="3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101"/>
          <p:cNvSpPr txBox="1"/>
          <p:nvPr/>
        </p:nvSpPr>
        <p:spPr>
          <a:xfrm>
            <a:off x="6256800" y="941400"/>
            <a:ext cx="3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101"/>
          <p:cNvSpPr txBox="1"/>
          <p:nvPr/>
        </p:nvSpPr>
        <p:spPr>
          <a:xfrm>
            <a:off x="1441000" y="3633163"/>
            <a:ext cx="3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101"/>
          <p:cNvSpPr txBox="1"/>
          <p:nvPr/>
        </p:nvSpPr>
        <p:spPr>
          <a:xfrm>
            <a:off x="5514700" y="3823463"/>
            <a:ext cx="3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102"/>
          <p:cNvSpPr txBox="1"/>
          <p:nvPr/>
        </p:nvSpPr>
        <p:spPr>
          <a:xfrm>
            <a:off x="324025" y="644659"/>
            <a:ext cx="84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circumcentre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a triangle is a point that is the centre of a circle whose circumference intersects all three vertices of the triangle. The circumcentre can be found by finding the point where the perpendicular bisectors of each side of the triangle intersect.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 the circumcentre of this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pic>
        <p:nvPicPr>
          <p:cNvPr id="1756" name="Google Shape;1756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25" y="2030059"/>
            <a:ext cx="2888165" cy="2808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7" name="Google Shape;1757;p102"/>
          <p:cNvPicPr preferRelativeResize="0"/>
          <p:nvPr/>
        </p:nvPicPr>
        <p:blipFill rotWithShape="1">
          <a:blip r:embed="rId4">
            <a:alphaModFix/>
          </a:blip>
          <a:srcRect b="4861" l="2439" r="0" t="0"/>
          <a:stretch/>
        </p:blipFill>
        <p:spPr>
          <a:xfrm>
            <a:off x="5439700" y="2047875"/>
            <a:ext cx="2773475" cy="169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103"/>
          <p:cNvSpPr/>
          <p:nvPr/>
        </p:nvSpPr>
        <p:spPr>
          <a:xfrm>
            <a:off x="288250" y="1649650"/>
            <a:ext cx="1945200" cy="1945200"/>
          </a:xfrm>
          <a:prstGeom prst="arc">
            <a:avLst>
              <a:gd fmla="val 16200000" name="adj1"/>
              <a:gd fmla="val 20408623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03"/>
          <p:cNvSpPr/>
          <p:nvPr/>
        </p:nvSpPr>
        <p:spPr>
          <a:xfrm flipH="1" rot="10800000">
            <a:off x="288250" y="166831"/>
            <a:ext cx="1945200" cy="1945200"/>
          </a:xfrm>
          <a:prstGeom prst="arc">
            <a:avLst>
              <a:gd fmla="val 16200000" name="adj1"/>
              <a:gd fmla="val 20211582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4" name="Google Shape;1764;p103"/>
          <p:cNvGrpSpPr/>
          <p:nvPr/>
        </p:nvGrpSpPr>
        <p:grpSpPr>
          <a:xfrm flipH="1">
            <a:off x="284739" y="166831"/>
            <a:ext cx="1945200" cy="3428019"/>
            <a:chOff x="897125" y="166831"/>
            <a:chExt cx="1945200" cy="3428019"/>
          </a:xfrm>
        </p:grpSpPr>
        <p:sp>
          <p:nvSpPr>
            <p:cNvPr id="1765" name="Google Shape;1765;p103"/>
            <p:cNvSpPr/>
            <p:nvPr/>
          </p:nvSpPr>
          <p:spPr>
            <a:xfrm>
              <a:off x="897125" y="1649650"/>
              <a:ext cx="1945200" cy="1945200"/>
            </a:xfrm>
            <a:prstGeom prst="arc">
              <a:avLst>
                <a:gd fmla="val 16200000" name="adj1"/>
                <a:gd fmla="val 20100164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6" name="Google Shape;1766;p103"/>
            <p:cNvSpPr/>
            <p:nvPr/>
          </p:nvSpPr>
          <p:spPr>
            <a:xfrm flipH="1" rot="10800000">
              <a:off x="897125" y="166831"/>
              <a:ext cx="1945200" cy="1945200"/>
            </a:xfrm>
            <a:prstGeom prst="arc">
              <a:avLst>
                <a:gd fmla="val 16200000" name="adj1"/>
                <a:gd fmla="val 20024636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7" name="Google Shape;1767;p103"/>
          <p:cNvSpPr txBox="1"/>
          <p:nvPr/>
        </p:nvSpPr>
        <p:spPr>
          <a:xfrm>
            <a:off x="324025" y="616367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Complete the construction of each perpendicular bisector.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cxnSp>
        <p:nvCxnSpPr>
          <p:cNvPr id="1769" name="Google Shape;1769;p103"/>
          <p:cNvCxnSpPr/>
          <p:nvPr/>
        </p:nvCxnSpPr>
        <p:spPr>
          <a:xfrm>
            <a:off x="1260925" y="1139825"/>
            <a:ext cx="0" cy="148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70" name="Google Shape;1770;p103"/>
          <p:cNvGrpSpPr/>
          <p:nvPr/>
        </p:nvGrpSpPr>
        <p:grpSpPr>
          <a:xfrm rot="2700000">
            <a:off x="3360550" y="-125226"/>
            <a:ext cx="2517233" cy="4428119"/>
            <a:chOff x="-3166886" y="166831"/>
            <a:chExt cx="1948711" cy="3428019"/>
          </a:xfrm>
        </p:grpSpPr>
        <p:cxnSp>
          <p:nvCxnSpPr>
            <p:cNvPr id="1771" name="Google Shape;1771;p103"/>
            <p:cNvCxnSpPr/>
            <p:nvPr/>
          </p:nvCxnSpPr>
          <p:spPr>
            <a:xfrm>
              <a:off x="-2190700" y="1139825"/>
              <a:ext cx="0" cy="1481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2" name="Google Shape;1772;p103"/>
            <p:cNvSpPr/>
            <p:nvPr/>
          </p:nvSpPr>
          <p:spPr>
            <a:xfrm>
              <a:off x="-3163375" y="1649650"/>
              <a:ext cx="1945200" cy="1945200"/>
            </a:xfrm>
            <a:prstGeom prst="arc">
              <a:avLst>
                <a:gd fmla="val 17308075" name="adj1"/>
                <a:gd fmla="val 19273245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73" name="Google Shape;1773;p103"/>
            <p:cNvGrpSpPr/>
            <p:nvPr/>
          </p:nvGrpSpPr>
          <p:grpSpPr>
            <a:xfrm flipH="1">
              <a:off x="-3166886" y="166831"/>
              <a:ext cx="1945200" cy="3428019"/>
              <a:chOff x="897125" y="166831"/>
              <a:chExt cx="1945200" cy="3428019"/>
            </a:xfrm>
          </p:grpSpPr>
          <p:sp>
            <p:nvSpPr>
              <p:cNvPr id="1774" name="Google Shape;1774;p103"/>
              <p:cNvSpPr/>
              <p:nvPr/>
            </p:nvSpPr>
            <p:spPr>
              <a:xfrm>
                <a:off x="897125" y="1649650"/>
                <a:ext cx="1945200" cy="1945200"/>
              </a:xfrm>
              <a:prstGeom prst="arc">
                <a:avLst>
                  <a:gd fmla="val 18271554" name="adj1"/>
                  <a:gd fmla="val 19084184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75" name="Google Shape;1775;p103"/>
              <p:cNvSpPr/>
              <p:nvPr/>
            </p:nvSpPr>
            <p:spPr>
              <a:xfrm flipH="1" rot="10800000">
                <a:off x="897125" y="166831"/>
                <a:ext cx="1945200" cy="1945200"/>
              </a:xfrm>
              <a:prstGeom prst="arc">
                <a:avLst>
                  <a:gd fmla="val 17512106" name="adj1"/>
                  <a:gd fmla="val 19635712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776" name="Google Shape;1776;p103"/>
          <p:cNvSpPr/>
          <p:nvPr/>
        </p:nvSpPr>
        <p:spPr>
          <a:xfrm flipH="1" rot="7200090">
            <a:off x="4698872" y="-304058"/>
            <a:ext cx="3431244" cy="3431244"/>
          </a:xfrm>
          <a:prstGeom prst="arc">
            <a:avLst>
              <a:gd fmla="val 13308944" name="adj1"/>
              <a:gd fmla="val 19015461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7" name="Google Shape;1777;p103"/>
          <p:cNvCxnSpPr/>
          <p:nvPr/>
        </p:nvCxnSpPr>
        <p:spPr>
          <a:xfrm>
            <a:off x="7546902" y="758396"/>
            <a:ext cx="0" cy="261364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78" name="Google Shape;1778;p103"/>
          <p:cNvGrpSpPr/>
          <p:nvPr/>
        </p:nvGrpSpPr>
        <p:grpSpPr>
          <a:xfrm rot="5400000">
            <a:off x="1551771" y="1749054"/>
            <a:ext cx="2299869" cy="4045406"/>
            <a:chOff x="-3166886" y="166831"/>
            <a:chExt cx="1948711" cy="3428019"/>
          </a:xfrm>
        </p:grpSpPr>
        <p:cxnSp>
          <p:nvCxnSpPr>
            <p:cNvPr id="1779" name="Google Shape;1779;p103"/>
            <p:cNvCxnSpPr/>
            <p:nvPr/>
          </p:nvCxnSpPr>
          <p:spPr>
            <a:xfrm>
              <a:off x="-2190700" y="1139825"/>
              <a:ext cx="0" cy="1481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80" name="Google Shape;1780;p103"/>
            <p:cNvSpPr/>
            <p:nvPr/>
          </p:nvSpPr>
          <p:spPr>
            <a:xfrm>
              <a:off x="-3163375" y="1649650"/>
              <a:ext cx="1945200" cy="1945200"/>
            </a:xfrm>
            <a:prstGeom prst="arc">
              <a:avLst>
                <a:gd fmla="val 18037882" name="adj1"/>
                <a:gd fmla="val 19082531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1" name="Google Shape;1781;p103"/>
            <p:cNvSpPr/>
            <p:nvPr/>
          </p:nvSpPr>
          <p:spPr>
            <a:xfrm flipH="1" rot="10800000">
              <a:off x="-3163375" y="166831"/>
              <a:ext cx="1945200" cy="1945200"/>
            </a:xfrm>
            <a:prstGeom prst="arc">
              <a:avLst>
                <a:gd fmla="val 18167402" name="adj1"/>
                <a:gd fmla="val 19011539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82" name="Google Shape;1782;p103"/>
            <p:cNvGrpSpPr/>
            <p:nvPr/>
          </p:nvGrpSpPr>
          <p:grpSpPr>
            <a:xfrm flipH="1">
              <a:off x="-3166886" y="166831"/>
              <a:ext cx="1945200" cy="3428019"/>
              <a:chOff x="897125" y="166831"/>
              <a:chExt cx="1945200" cy="3428019"/>
            </a:xfrm>
          </p:grpSpPr>
          <p:sp>
            <p:nvSpPr>
              <p:cNvPr id="1783" name="Google Shape;1783;p103"/>
              <p:cNvSpPr/>
              <p:nvPr/>
            </p:nvSpPr>
            <p:spPr>
              <a:xfrm>
                <a:off x="897125" y="1649650"/>
                <a:ext cx="1945200" cy="1945200"/>
              </a:xfrm>
              <a:prstGeom prst="arc">
                <a:avLst>
                  <a:gd fmla="val 18147442" name="adj1"/>
                  <a:gd fmla="val 1920379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84" name="Google Shape;1784;p103"/>
              <p:cNvSpPr/>
              <p:nvPr/>
            </p:nvSpPr>
            <p:spPr>
              <a:xfrm flipH="1" rot="10800000">
                <a:off x="897125" y="166831"/>
                <a:ext cx="1945200" cy="1945200"/>
              </a:xfrm>
              <a:prstGeom prst="arc">
                <a:avLst>
                  <a:gd fmla="val 18287280" name="adj1"/>
                  <a:gd fmla="val 18947024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cxnSp>
        <p:nvCxnSpPr>
          <p:cNvPr id="1785" name="Google Shape;1785;p103"/>
          <p:cNvCxnSpPr/>
          <p:nvPr/>
        </p:nvCxnSpPr>
        <p:spPr>
          <a:xfrm>
            <a:off x="6333354" y="3544343"/>
            <a:ext cx="0" cy="840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6" name="Google Shape;1786;p103"/>
          <p:cNvSpPr/>
          <p:nvPr/>
        </p:nvSpPr>
        <p:spPr>
          <a:xfrm rot="5400000">
            <a:off x="5057249" y="3109810"/>
            <a:ext cx="1710600" cy="1710600"/>
          </a:xfrm>
          <a:prstGeom prst="arc">
            <a:avLst>
              <a:gd fmla="val 19200962" name="adj1"/>
              <a:gd fmla="val 20273102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103"/>
          <p:cNvSpPr/>
          <p:nvPr/>
        </p:nvSpPr>
        <p:spPr>
          <a:xfrm flipH="1" rot="-5400000">
            <a:off x="5898623" y="3109885"/>
            <a:ext cx="1710600" cy="1710600"/>
          </a:xfrm>
          <a:prstGeom prst="arc">
            <a:avLst>
              <a:gd fmla="val 19092835" name="adj1"/>
              <a:gd fmla="val 20228088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103"/>
          <p:cNvSpPr/>
          <p:nvPr/>
        </p:nvSpPr>
        <p:spPr>
          <a:xfrm flipH="1" rot="5400000">
            <a:off x="5057249" y="3106785"/>
            <a:ext cx="1710600" cy="1710600"/>
          </a:xfrm>
          <a:prstGeom prst="arc">
            <a:avLst>
              <a:gd fmla="val 19304304" name="adj1"/>
              <a:gd fmla="val 20247859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103"/>
          <p:cNvSpPr/>
          <p:nvPr/>
        </p:nvSpPr>
        <p:spPr>
          <a:xfrm rot="-5400000">
            <a:off x="5898623" y="3106710"/>
            <a:ext cx="1710600" cy="1710600"/>
          </a:xfrm>
          <a:prstGeom prst="arc">
            <a:avLst>
              <a:gd fmla="val 19028831" name="adj1"/>
              <a:gd fmla="val 20345683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103"/>
          <p:cNvSpPr/>
          <p:nvPr/>
        </p:nvSpPr>
        <p:spPr>
          <a:xfrm rot="-4500088">
            <a:off x="6963664" y="999227"/>
            <a:ext cx="3431296" cy="3431296"/>
          </a:xfrm>
          <a:prstGeom prst="arc">
            <a:avLst>
              <a:gd fmla="val 18934877" name="adj1"/>
              <a:gd fmla="val 19848021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103"/>
          <p:cNvSpPr/>
          <p:nvPr/>
        </p:nvSpPr>
        <p:spPr>
          <a:xfrm rot="-8999910">
            <a:off x="6963760" y="999271"/>
            <a:ext cx="3431244" cy="3431244"/>
          </a:xfrm>
          <a:prstGeom prst="arc">
            <a:avLst>
              <a:gd fmla="val 18810373" name="adj1"/>
              <a:gd fmla="val 19848021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103"/>
          <p:cNvSpPr/>
          <p:nvPr/>
        </p:nvSpPr>
        <p:spPr>
          <a:xfrm rot="-8100000">
            <a:off x="4041870" y="153926"/>
            <a:ext cx="2512492" cy="2512492"/>
          </a:xfrm>
          <a:prstGeom prst="arc">
            <a:avLst>
              <a:gd fmla="val 13440176" name="adj1"/>
              <a:gd fmla="val 14101812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3" name="Google Shape;1793;p103"/>
          <p:cNvCxnSpPr/>
          <p:nvPr/>
        </p:nvCxnSpPr>
        <p:spPr>
          <a:xfrm>
            <a:off x="360175" y="1880850"/>
            <a:ext cx="20070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4" name="Google Shape;1794;p103"/>
          <p:cNvCxnSpPr/>
          <p:nvPr/>
        </p:nvCxnSpPr>
        <p:spPr>
          <a:xfrm rot="5400000">
            <a:off x="1696844" y="3703500"/>
            <a:ext cx="20070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5" name="Google Shape;1795;p103"/>
          <p:cNvCxnSpPr/>
          <p:nvPr/>
        </p:nvCxnSpPr>
        <p:spPr>
          <a:xfrm rot="5400000">
            <a:off x="5329844" y="3735250"/>
            <a:ext cx="20070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6" name="Google Shape;1796;p103"/>
          <p:cNvCxnSpPr/>
          <p:nvPr/>
        </p:nvCxnSpPr>
        <p:spPr>
          <a:xfrm flipH="1">
            <a:off x="6916102" y="1058967"/>
            <a:ext cx="1211100" cy="21054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103"/>
          <p:cNvCxnSpPr/>
          <p:nvPr/>
        </p:nvCxnSpPr>
        <p:spPr>
          <a:xfrm>
            <a:off x="4042075" y="1503113"/>
            <a:ext cx="1157100" cy="11640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8" name="Google Shape;1798;p103"/>
          <p:cNvSpPr txBox="1"/>
          <p:nvPr/>
        </p:nvSpPr>
        <p:spPr>
          <a:xfrm>
            <a:off x="275025" y="941400"/>
            <a:ext cx="3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103"/>
          <p:cNvSpPr txBox="1"/>
          <p:nvPr/>
        </p:nvSpPr>
        <p:spPr>
          <a:xfrm>
            <a:off x="5119300" y="941400"/>
            <a:ext cx="3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103"/>
          <p:cNvSpPr txBox="1"/>
          <p:nvPr/>
        </p:nvSpPr>
        <p:spPr>
          <a:xfrm>
            <a:off x="6256800" y="941400"/>
            <a:ext cx="3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103"/>
          <p:cNvSpPr txBox="1"/>
          <p:nvPr/>
        </p:nvSpPr>
        <p:spPr>
          <a:xfrm>
            <a:off x="1441000" y="3633163"/>
            <a:ext cx="3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2" name="Google Shape;1802;p103"/>
          <p:cNvSpPr txBox="1"/>
          <p:nvPr/>
        </p:nvSpPr>
        <p:spPr>
          <a:xfrm>
            <a:off x="5514700" y="3823463"/>
            <a:ext cx="3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104"/>
          <p:cNvSpPr txBox="1"/>
          <p:nvPr/>
        </p:nvSpPr>
        <p:spPr>
          <a:xfrm>
            <a:off x="324025" y="644659"/>
            <a:ext cx="84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circumcentre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a triangle is a point that is the centre of a circle whose circumference intersects all three vertices of the triangle. The circumcentre can be found by finding the point where the perpendicular bisectors of each side of the triangle intersect.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 the circumcentre of this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construction of a perpendicular bisector</a:t>
            </a:r>
            <a:endParaRPr/>
          </a:p>
        </p:txBody>
      </p:sp>
      <p:pic>
        <p:nvPicPr>
          <p:cNvPr id="1809" name="Google Shape;1809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25" y="2030059"/>
            <a:ext cx="2888165" cy="2808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0" name="Google Shape;1810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3150" y="1574400"/>
            <a:ext cx="3310550" cy="326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1" name="Google Shape;1811;p104"/>
          <p:cNvSpPr/>
          <p:nvPr/>
        </p:nvSpPr>
        <p:spPr>
          <a:xfrm rot="-2700000">
            <a:off x="6554577" y="3041715"/>
            <a:ext cx="342381" cy="342381"/>
          </a:xfrm>
          <a:prstGeom prst="mathPlus">
            <a:avLst>
              <a:gd fmla="val 3016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105"/>
          <p:cNvSpPr txBox="1"/>
          <p:nvPr/>
        </p:nvSpPr>
        <p:spPr>
          <a:xfrm>
            <a:off x="324025" y="644659"/>
            <a:ext cx="8496000" cy="3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perpendicular bisector is a line that intersects a line segment at right-angles and divides the line segment into two equal parts.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rhombus can be constructed by drawing two equal-sized circles at the endpoints of a line segment. The line segment becomes a diagonal of this rhombus, with the other diagonal the perpendicular bisector of the original line segment.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construction of a perpendicular bisector can be made more efficient by drawing only four arcs that create two intersections.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10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bisector of a line segment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823" name="Google Shape;1823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