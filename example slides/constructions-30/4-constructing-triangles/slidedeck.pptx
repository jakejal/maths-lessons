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a2d19c039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a2d19c039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a2d19c039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a2d19c039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2a2d19c0398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2a2d19c0398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a3812b9c4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g2a3812b9c44_2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a3812b9c44_4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g2a3812b9c44_4_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a3812b9c44_4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g2a3812b9c44_4_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2a3812b9c44_4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g2a3812b9c44_4_1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2a3812b9c44_4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g2a3812b9c44_4_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2a3cc5189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g2a3cc5189c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2a3cc5189c4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g2a3cc5189c4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a3cc5189c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g2a3cc5189c4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2a3cc5189c4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g2a3cc5189c4_0_2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2a3cc5189c4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g2a3cc5189c4_0_2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2a3cc5189c4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2a3cc5189c4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g32d3c20593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g32d3c20593e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g32d3c20593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g32d3c20593e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2d3c20593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g32d3c20593e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32d3c20593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g32d3c20593e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2d3c20593e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g32d3c20593e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2a3cc5189c4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2a3cc5189c4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2a2d19c0398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2a2d19c0398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7" name="Shape 1397"/>
        <p:cNvGrpSpPr/>
        <p:nvPr/>
      </p:nvGrpSpPr>
      <p:grpSpPr>
        <a:xfrm>
          <a:off x="0" y="0"/>
          <a:ext cx="0" cy="0"/>
          <a:chOff x="0" y="0"/>
          <a:chExt cx="0" cy="0"/>
        </a:xfrm>
      </p:grpSpPr>
      <p:sp>
        <p:nvSpPr>
          <p:cNvPr id="1398" name="Google Shape;1398;g2a2d19c0398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9" name="Google Shape;1399;g2a2d19c0398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2a2d19c0398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5" name="Google Shape;1405;g2a2d19c0398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5" name="Shape 1425"/>
        <p:cNvGrpSpPr/>
        <p:nvPr/>
      </p:nvGrpSpPr>
      <p:grpSpPr>
        <a:xfrm>
          <a:off x="0" y="0"/>
          <a:ext cx="0" cy="0"/>
          <a:chOff x="0" y="0"/>
          <a:chExt cx="0" cy="0"/>
        </a:xfrm>
      </p:grpSpPr>
      <p:sp>
        <p:nvSpPr>
          <p:cNvPr id="1426" name="Google Shape;1426;g2a2d19c0398_0_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7" name="Google Shape;1427;g2a2d19c0398_0_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2a2d19c0398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9" name="Google Shape;1439;g2a2d19c0398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g2a2d19c0398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4" name="Google Shape;1454;g2a2d19c0398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2a2d19c0398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2a2d19c0398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2a2d19c039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2a2d19c039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2a2d19c0398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9" name="Google Shape;1489;g2a2d19c0398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2a3cc5189c4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0" name="Google Shape;1540;g2a3cc5189c4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2a3cc5189c4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2a3cc5189c4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g2a3cc5189c4_0_7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8" name="Google Shape;1598;g2a3cc5189c4_0_7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g2a3cc5189c4_0_9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2" name="Google Shape;1622;g2a3cc5189c4_0_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2a3cc5189c4_0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0" name="Google Shape;1650;g2a3cc5189c4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g2a3cc5189c4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7" name="Google Shape;1687;g2a3cc5189c4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2a3cc5189c4_0_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8" name="Google Shape;1728;g2a3cc5189c4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2a2d19c0398_0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8" name="Google Shape;1738;g2a2d19c0398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g1ec843acce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6" name="Google Shape;1756;g1ec843acce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5" name="Shape 1765"/>
        <p:cNvGrpSpPr/>
        <p:nvPr/>
      </p:nvGrpSpPr>
      <p:grpSpPr>
        <a:xfrm>
          <a:off x="0" y="0"/>
          <a:ext cx="0" cy="0"/>
          <a:chOff x="0" y="0"/>
          <a:chExt cx="0" cy="0"/>
        </a:xfrm>
      </p:grpSpPr>
      <p:sp>
        <p:nvSpPr>
          <p:cNvPr id="1766" name="Google Shape;1766;g1ec843acce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7" name="Google Shape;1767;g1ec843acce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1ec843acce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8" name="Google Shape;1788;g1ec843accef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4" name="Shape 1794"/>
        <p:cNvGrpSpPr/>
        <p:nvPr/>
      </p:nvGrpSpPr>
      <p:grpSpPr>
        <a:xfrm>
          <a:off x="0" y="0"/>
          <a:ext cx="0" cy="0"/>
          <a:chOff x="0" y="0"/>
          <a:chExt cx="0" cy="0"/>
        </a:xfrm>
      </p:grpSpPr>
      <p:sp>
        <p:nvSpPr>
          <p:cNvPr id="1795" name="Google Shape;1795;g1ec843acce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6" name="Google Shape;1796;g1ec843acce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6" name="Shape 1806"/>
        <p:cNvGrpSpPr/>
        <p:nvPr/>
      </p:nvGrpSpPr>
      <p:grpSpPr>
        <a:xfrm>
          <a:off x="0" y="0"/>
          <a:ext cx="0" cy="0"/>
          <a:chOff x="0" y="0"/>
          <a:chExt cx="0" cy="0"/>
        </a:xfrm>
      </p:grpSpPr>
      <p:sp>
        <p:nvSpPr>
          <p:cNvPr id="1807" name="Google Shape;1807;g1ec843acce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8" name="Google Shape;1808;g1ec843acce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8" name="Google Shape;1818;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4" name="Google Shape;1824;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1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24.png"/><Relationship Id="rId4" Type="http://schemas.openxmlformats.org/officeDocument/2006/relationships/image" Target="../media/image65.png"/><Relationship Id="rId5" Type="http://schemas.openxmlformats.org/officeDocument/2006/relationships/image" Target="../media/image28.png"/><Relationship Id="rId6" Type="http://schemas.openxmlformats.org/officeDocument/2006/relationships/image" Target="../media/image27.png"/><Relationship Id="rId7"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65.png"/><Relationship Id="rId4" Type="http://schemas.openxmlformats.org/officeDocument/2006/relationships/image" Target="../media/image29.png"/><Relationship Id="rId9" Type="http://schemas.openxmlformats.org/officeDocument/2006/relationships/image" Target="../media/image20.png"/><Relationship Id="rId5" Type="http://schemas.openxmlformats.org/officeDocument/2006/relationships/image" Target="../media/image24.png"/><Relationship Id="rId6" Type="http://schemas.openxmlformats.org/officeDocument/2006/relationships/image" Target="../media/image31.png"/><Relationship Id="rId7" Type="http://schemas.openxmlformats.org/officeDocument/2006/relationships/image" Target="../media/image28.png"/><Relationship Id="rId8" Type="http://schemas.openxmlformats.org/officeDocument/2006/relationships/image" Target="../media/image2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65.png"/><Relationship Id="rId4" Type="http://schemas.openxmlformats.org/officeDocument/2006/relationships/image" Target="../media/image33.png"/><Relationship Id="rId11" Type="http://schemas.openxmlformats.org/officeDocument/2006/relationships/image" Target="../media/image20.png"/><Relationship Id="rId10" Type="http://schemas.openxmlformats.org/officeDocument/2006/relationships/image" Target="../media/image38.png"/><Relationship Id="rId9" Type="http://schemas.openxmlformats.org/officeDocument/2006/relationships/image" Target="../media/image27.png"/><Relationship Id="rId5" Type="http://schemas.openxmlformats.org/officeDocument/2006/relationships/image" Target="../media/image29.png"/><Relationship Id="rId6" Type="http://schemas.openxmlformats.org/officeDocument/2006/relationships/image" Target="../media/image24.png"/><Relationship Id="rId7" Type="http://schemas.openxmlformats.org/officeDocument/2006/relationships/image" Target="../media/image31.png"/><Relationship Id="rId8" Type="http://schemas.openxmlformats.org/officeDocument/2006/relationships/image" Target="../media/image2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2" name="Google Shape;662;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70" name="Google Shape;670;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8" name="Google Shape;678;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4" name="Google Shape;694;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2" name="Google Shape;702;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0" name="Google Shape;710;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7" name="Google Shape;747;p62"/>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8" name="Google Shape;748;p62"/>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9" name="Google Shape;749;p62"/>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50" name="Google Shape;750;p62"/>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51" name="Google Shape;751;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2" name="Shape 752"/>
        <p:cNvGrpSpPr/>
        <p:nvPr/>
      </p:nvGrpSpPr>
      <p:grpSpPr>
        <a:xfrm>
          <a:off x="0" y="0"/>
          <a:ext cx="0" cy="0"/>
          <a:chOff x="0" y="0"/>
          <a:chExt cx="0" cy="0"/>
        </a:xfrm>
      </p:grpSpPr>
      <p:sp>
        <p:nvSpPr>
          <p:cNvPr id="753" name="Google Shape;753;p6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754" name="Google Shape;754;p6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755" name="Google Shape;755;p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1.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 Id="rId3" Type="http://schemas.openxmlformats.org/officeDocument/2006/relationships/image" Target="../media/image5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8.png"/><Relationship Id="rId4" Type="http://schemas.openxmlformats.org/officeDocument/2006/relationships/image" Target="../media/image56.png"/><Relationship Id="rId5" Type="http://schemas.openxmlformats.org/officeDocument/2006/relationships/image" Target="../media/image6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6.png"/><Relationship Id="rId4" Type="http://schemas.openxmlformats.org/officeDocument/2006/relationships/image" Target="../media/image6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6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56.png"/><Relationship Id="rId4" Type="http://schemas.openxmlformats.org/officeDocument/2006/relationships/image" Target="../media/image6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6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64.png"/><Relationship Id="rId4" Type="http://schemas.openxmlformats.org/officeDocument/2006/relationships/image" Target="../media/image62.png"/><Relationship Id="rId5" Type="http://schemas.openxmlformats.org/officeDocument/2006/relationships/image" Target="../media/image6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64.png"/><Relationship Id="rId4" Type="http://schemas.openxmlformats.org/officeDocument/2006/relationships/image" Target="../media/image62.png"/><Relationship Id="rId5" Type="http://schemas.openxmlformats.org/officeDocument/2006/relationships/image" Target="../media/image6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7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6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7.xml"/><Relationship Id="rId3" Type="http://schemas.openxmlformats.org/officeDocument/2006/relationships/image" Target="../media/image67.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image" Target="../media/image6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56.png"/><Relationship Id="rId4" Type="http://schemas.openxmlformats.org/officeDocument/2006/relationships/image" Target="../media/image5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7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7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 Id="rId3"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 Id="rId3" Type="http://schemas.openxmlformats.org/officeDocument/2006/relationships/image" Target="../media/image90.png"/><Relationship Id="rId4" Type="http://schemas.openxmlformats.org/officeDocument/2006/relationships/image" Target="../media/image8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8.xml"/><Relationship Id="rId3" Type="http://schemas.openxmlformats.org/officeDocument/2006/relationships/image" Target="../media/image87.png"/><Relationship Id="rId4" Type="http://schemas.openxmlformats.org/officeDocument/2006/relationships/image" Target="../media/image8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9.xml"/><Relationship Id="rId3" Type="http://schemas.openxmlformats.org/officeDocument/2006/relationships/image" Target="../media/image8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0.xml"/><Relationship Id="rId3" Type="http://schemas.openxmlformats.org/officeDocument/2006/relationships/image" Target="../media/image8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1.xml"/><Relationship Id="rId3"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91.png"/><Relationship Id="rId4" Type="http://schemas.openxmlformats.org/officeDocument/2006/relationships/image" Target="../media/image56.png"/><Relationship Id="rId5" Type="http://schemas.openxmlformats.org/officeDocument/2006/relationships/image" Target="../media/image58.png"/><Relationship Id="rId6" Type="http://schemas.openxmlformats.org/officeDocument/2006/relationships/image" Target="../media/image7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 Id="rId3" Type="http://schemas.openxmlformats.org/officeDocument/2006/relationships/image" Target="../media/image56.png"/><Relationship Id="rId4" Type="http://schemas.openxmlformats.org/officeDocument/2006/relationships/image" Target="../media/image58.png"/><Relationship Id="rId5"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 Id="rId3" Type="http://schemas.openxmlformats.org/officeDocument/2006/relationships/image" Target="../media/image80.png"/><Relationship Id="rId4" Type="http://schemas.openxmlformats.org/officeDocument/2006/relationships/image" Target="../media/image78.png"/><Relationship Id="rId5" Type="http://schemas.openxmlformats.org/officeDocument/2006/relationships/image" Target="../media/image9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79.png"/><Relationship Id="rId4" Type="http://schemas.openxmlformats.org/officeDocument/2006/relationships/image" Target="../media/image56.png"/><Relationship Id="rId5" Type="http://schemas.openxmlformats.org/officeDocument/2006/relationships/image" Target="../media/image58.png"/><Relationship Id="rId6" Type="http://schemas.openxmlformats.org/officeDocument/2006/relationships/image" Target="../media/image7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 Id="rId3" Type="http://schemas.openxmlformats.org/officeDocument/2006/relationships/image" Target="../media/image7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8.xml"/><Relationship Id="rId3" Type="http://schemas.openxmlformats.org/officeDocument/2006/relationships/image" Target="../media/image56.png"/><Relationship Id="rId4" Type="http://schemas.openxmlformats.org/officeDocument/2006/relationships/image" Target="../media/image58.png"/><Relationship Id="rId5" Type="http://schemas.openxmlformats.org/officeDocument/2006/relationships/image" Target="../media/image7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9.xml"/><Relationship Id="rId3" Type="http://schemas.openxmlformats.org/officeDocument/2006/relationships/image" Target="../media/image89.png"/><Relationship Id="rId4" Type="http://schemas.openxmlformats.org/officeDocument/2006/relationships/image" Target="../media/image83.png"/><Relationship Id="rId5" Type="http://schemas.openxmlformats.org/officeDocument/2006/relationships/image" Target="../media/image93.png"/><Relationship Id="rId6" Type="http://schemas.openxmlformats.org/officeDocument/2006/relationships/image" Target="../media/image6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 Id="rId3" Type="http://schemas.openxmlformats.org/officeDocument/2006/relationships/image" Target="../media/image9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 Id="rId3" Type="http://schemas.openxmlformats.org/officeDocument/2006/relationships/image" Target="../media/image82.png"/><Relationship Id="rId4" Type="http://schemas.openxmlformats.org/officeDocument/2006/relationships/image" Target="../media/image88.png"/><Relationship Id="rId5" Type="http://schemas.openxmlformats.org/officeDocument/2006/relationships/image" Target="../media/image9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 Id="rId3" Type="http://schemas.openxmlformats.org/officeDocument/2006/relationships/image" Target="../media/image9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3.xml"/><Relationship Id="rId3" Type="http://schemas.openxmlformats.org/officeDocument/2006/relationships/image" Target="../media/image9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4.xml"/><Relationship Id="rId3" Type="http://schemas.openxmlformats.org/officeDocument/2006/relationships/image" Target="../media/image96.png"/><Relationship Id="rId4" Type="http://schemas.openxmlformats.org/officeDocument/2006/relationships/image" Target="../media/image8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5.xml"/><Relationship Id="rId3" Type="http://schemas.openxmlformats.org/officeDocument/2006/relationships/image" Target="../media/image95.png"/><Relationship Id="rId4" Type="http://schemas.openxmlformats.org/officeDocument/2006/relationships/image" Target="../media/image100.png"/><Relationship Id="rId5" Type="http://schemas.openxmlformats.org/officeDocument/2006/relationships/image" Target="../media/image9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7.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Constructing triangles</a:t>
            </a:r>
            <a:endParaRPr/>
          </a:p>
        </p:txBody>
      </p:sp>
      <p:sp>
        <p:nvSpPr>
          <p:cNvPr id="761" name="Google Shape;76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Constructions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5" name="Shape 765"/>
        <p:cNvGrpSpPr/>
        <p:nvPr/>
      </p:nvGrpSpPr>
      <p:grpSpPr>
        <a:xfrm>
          <a:off x="0" y="0"/>
          <a:ext cx="0" cy="0"/>
          <a:chOff x="0" y="0"/>
          <a:chExt cx="0" cy="0"/>
        </a:xfrm>
      </p:grpSpPr>
      <p:sp>
        <p:nvSpPr>
          <p:cNvPr id="766" name="Google Shape;766;p65"/>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intersecting circles to construct triangles from given lengths.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Scalene triangles have three different-sized angles and three edges of different lengths. </a:t>
            </a:r>
            <a:endParaRPr sz="1800"/>
          </a:p>
        </p:txBody>
      </p:sp>
      <p:sp>
        <p:nvSpPr>
          <p:cNvPr id="777" name="Google Shape;777;p67"/>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Isosceles triangles have two equal-sized angles. Two of the edges are equal in length. </a:t>
            </a:r>
            <a:endParaRPr sz="1800"/>
          </a:p>
        </p:txBody>
      </p:sp>
      <p:sp>
        <p:nvSpPr>
          <p:cNvPr id="778" name="Google Shape;778;p67"/>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Equilateral triangles have three equal-sized angles and three edges of equal length. They are regular triangles.  </a:t>
            </a:r>
            <a:endParaRPr sz="1800"/>
          </a:p>
        </p:txBody>
      </p:sp>
      <p:sp>
        <p:nvSpPr>
          <p:cNvPr id="779" name="Google Shape;779;p67"/>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radius is any line segment that joins the centre of a circle to any point on its circumference. </a:t>
            </a:r>
            <a:endParaRPr sz="1800"/>
          </a:p>
        </p:txBody>
      </p:sp>
      <p:pic>
        <p:nvPicPr>
          <p:cNvPr id="780" name="Google Shape;780;p67"/>
          <p:cNvPicPr preferRelativeResize="0"/>
          <p:nvPr/>
        </p:nvPicPr>
        <p:blipFill>
          <a:blip r:embed="rId3">
            <a:alphaModFix/>
          </a:blip>
          <a:stretch>
            <a:fillRect/>
          </a:stretch>
        </p:blipFill>
        <p:spPr>
          <a:xfrm>
            <a:off x="4248675" y="2700000"/>
            <a:ext cx="459839" cy="439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786" name="Google Shape;786;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sp>
        <p:nvSpPr>
          <p:cNvPr id="787" name="Google Shape;787;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Constructing triangles</a:t>
            </a:r>
            <a:endParaRPr/>
          </a:p>
        </p:txBody>
      </p:sp>
      <p:pic>
        <p:nvPicPr>
          <p:cNvPr id="788" name="Google Shape;788;p68"/>
          <p:cNvPicPr preferRelativeResize="0"/>
          <p:nvPr/>
        </p:nvPicPr>
        <p:blipFill>
          <a:blip r:embed="rId3">
            <a:alphaModFix/>
          </a:blip>
          <a:stretch>
            <a:fillRect/>
          </a:stretch>
        </p:blipFill>
        <p:spPr>
          <a:xfrm>
            <a:off x="414815" y="2059385"/>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69"/>
          <p:cNvSpPr txBox="1"/>
          <p:nvPr>
            <p:ph idx="1" type="body"/>
          </p:nvPr>
        </p:nvSpPr>
        <p:spPr>
          <a:xfrm>
            <a:off x="928325" y="1591450"/>
            <a:ext cx="1919700" cy="26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a:t>
            </a:r>
            <a:r>
              <a:rPr lang="en-GB" sz="1800"/>
              <a:t>reehand sketch</a:t>
            </a:r>
            <a:endParaRPr sz="1800"/>
          </a:p>
        </p:txBody>
      </p:sp>
      <p:sp>
        <p:nvSpPr>
          <p:cNvPr id="794" name="Google Shape;794;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pic>
        <p:nvPicPr>
          <p:cNvPr id="795" name="Google Shape;795;p69"/>
          <p:cNvPicPr preferRelativeResize="0"/>
          <p:nvPr/>
        </p:nvPicPr>
        <p:blipFill>
          <a:blip r:embed="rId3">
            <a:alphaModFix/>
          </a:blip>
          <a:stretch>
            <a:fillRect/>
          </a:stretch>
        </p:blipFill>
        <p:spPr>
          <a:xfrm>
            <a:off x="1201722" y="1931145"/>
            <a:ext cx="1266779" cy="1654844"/>
          </a:xfrm>
          <a:prstGeom prst="rect">
            <a:avLst/>
          </a:prstGeom>
          <a:noFill/>
          <a:ln>
            <a:noFill/>
          </a:ln>
        </p:spPr>
      </p:pic>
      <p:sp>
        <p:nvSpPr>
          <p:cNvPr id="796" name="Google Shape;796;p69"/>
          <p:cNvSpPr txBox="1"/>
          <p:nvPr>
            <p:ph idx="1" type="body"/>
          </p:nvPr>
        </p:nvSpPr>
        <p:spPr>
          <a:xfrm>
            <a:off x="4513148" y="2026500"/>
            <a:ext cx="1054500" cy="26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drawing</a:t>
            </a:r>
            <a:endParaRPr sz="1800"/>
          </a:p>
        </p:txBody>
      </p:sp>
      <p:pic>
        <p:nvPicPr>
          <p:cNvPr id="797" name="Google Shape;797;p69"/>
          <p:cNvPicPr preferRelativeResize="0"/>
          <p:nvPr/>
        </p:nvPicPr>
        <p:blipFill>
          <a:blip r:embed="rId4">
            <a:alphaModFix/>
          </a:blip>
          <a:stretch>
            <a:fillRect/>
          </a:stretch>
        </p:blipFill>
        <p:spPr>
          <a:xfrm>
            <a:off x="6656226" y="1859959"/>
            <a:ext cx="1628401" cy="1859692"/>
          </a:xfrm>
          <a:prstGeom prst="rect">
            <a:avLst/>
          </a:prstGeom>
          <a:noFill/>
          <a:ln>
            <a:noFill/>
          </a:ln>
        </p:spPr>
      </p:pic>
      <p:pic>
        <p:nvPicPr>
          <p:cNvPr id="798" name="Google Shape;798;p69"/>
          <p:cNvPicPr preferRelativeResize="0"/>
          <p:nvPr/>
        </p:nvPicPr>
        <p:blipFill>
          <a:blip r:embed="rId5">
            <a:alphaModFix/>
          </a:blip>
          <a:stretch>
            <a:fillRect/>
          </a:stretch>
        </p:blipFill>
        <p:spPr>
          <a:xfrm>
            <a:off x="4247626" y="2376892"/>
            <a:ext cx="1323275" cy="1728644"/>
          </a:xfrm>
          <a:prstGeom prst="rect">
            <a:avLst/>
          </a:prstGeom>
          <a:noFill/>
          <a:ln>
            <a:noFill/>
          </a:ln>
        </p:spPr>
      </p:pic>
      <p:sp>
        <p:nvSpPr>
          <p:cNvPr id="799" name="Google Shape;799;p69"/>
          <p:cNvSpPr txBox="1"/>
          <p:nvPr>
            <p:ph idx="1" type="body"/>
          </p:nvPr>
        </p:nvSpPr>
        <p:spPr>
          <a:xfrm>
            <a:off x="6862397" y="1543925"/>
            <a:ext cx="1545000" cy="26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construction</a:t>
            </a:r>
            <a:endParaRPr sz="1800"/>
          </a:p>
        </p:txBody>
      </p:sp>
      <p:sp>
        <p:nvSpPr>
          <p:cNvPr id="800" name="Google Shape;800;p69"/>
          <p:cNvSpPr txBox="1"/>
          <p:nvPr>
            <p:ph idx="1" type="body"/>
          </p:nvPr>
        </p:nvSpPr>
        <p:spPr>
          <a:xfrm>
            <a:off x="324000" y="742675"/>
            <a:ext cx="8182500" cy="26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At times we might need to draw a shape. The situation determines the level of accuracy and detail that is needed. </a:t>
            </a:r>
            <a:endParaRPr sz="1800"/>
          </a:p>
        </p:txBody>
      </p:sp>
      <p:sp>
        <p:nvSpPr>
          <p:cNvPr id="801" name="Google Shape;801;p69"/>
          <p:cNvSpPr txBox="1"/>
          <p:nvPr/>
        </p:nvSpPr>
        <p:spPr>
          <a:xfrm>
            <a:off x="480950" y="3658700"/>
            <a:ext cx="3096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 equipment has been used other than a pencil</a:t>
            </a:r>
            <a:endParaRPr sz="1800">
              <a:solidFill>
                <a:schemeClr val="dk1"/>
              </a:solidFill>
              <a:latin typeface="Lexend"/>
              <a:ea typeface="Lexend"/>
              <a:cs typeface="Lexend"/>
              <a:sym typeface="Lexend"/>
            </a:endParaRPr>
          </a:p>
        </p:txBody>
      </p:sp>
      <p:sp>
        <p:nvSpPr>
          <p:cNvPr id="802" name="Google Shape;802;p69"/>
          <p:cNvSpPr txBox="1"/>
          <p:nvPr/>
        </p:nvSpPr>
        <p:spPr>
          <a:xfrm>
            <a:off x="3688900" y="4115900"/>
            <a:ext cx="3195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pencil and ruler used but not drawn accurately</a:t>
            </a:r>
            <a:endParaRPr sz="1800">
              <a:solidFill>
                <a:schemeClr val="dk1"/>
              </a:solidFill>
              <a:latin typeface="Lexend"/>
              <a:ea typeface="Lexend"/>
              <a:cs typeface="Lexend"/>
              <a:sym typeface="Lexend"/>
            </a:endParaRPr>
          </a:p>
        </p:txBody>
      </p:sp>
      <p:sp>
        <p:nvSpPr>
          <p:cNvPr id="803" name="Google Shape;803;p69"/>
          <p:cNvSpPr txBox="1"/>
          <p:nvPr/>
        </p:nvSpPr>
        <p:spPr>
          <a:xfrm>
            <a:off x="6796075" y="3554950"/>
            <a:ext cx="2373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geometry equipment used and drawn accurately</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pic>
        <p:nvPicPr>
          <p:cNvPr id="808" name="Google Shape;808;p70"/>
          <p:cNvPicPr preferRelativeResize="0"/>
          <p:nvPr/>
        </p:nvPicPr>
        <p:blipFill rotWithShape="1">
          <a:blip r:embed="rId3">
            <a:alphaModFix/>
          </a:blip>
          <a:srcRect b="0" l="0" r="0" t="0"/>
          <a:stretch/>
        </p:blipFill>
        <p:spPr>
          <a:xfrm>
            <a:off x="6076950" y="2538415"/>
            <a:ext cx="570113" cy="1332903"/>
          </a:xfrm>
          <a:prstGeom prst="rect">
            <a:avLst/>
          </a:prstGeom>
          <a:noFill/>
          <a:ln>
            <a:noFill/>
          </a:ln>
        </p:spPr>
      </p:pic>
      <p:pic>
        <p:nvPicPr>
          <p:cNvPr id="809" name="Google Shape;809;p70"/>
          <p:cNvPicPr preferRelativeResize="0"/>
          <p:nvPr/>
        </p:nvPicPr>
        <p:blipFill rotWithShape="1">
          <a:blip r:embed="rId3">
            <a:alphaModFix/>
          </a:blip>
          <a:srcRect b="0" l="0" r="0" t="0"/>
          <a:stretch/>
        </p:blipFill>
        <p:spPr>
          <a:xfrm>
            <a:off x="5886512" y="814981"/>
            <a:ext cx="619002" cy="1447204"/>
          </a:xfrm>
          <a:prstGeom prst="rect">
            <a:avLst/>
          </a:prstGeom>
          <a:noFill/>
          <a:ln>
            <a:noFill/>
          </a:ln>
        </p:spPr>
      </p:pic>
      <p:pic>
        <p:nvPicPr>
          <p:cNvPr id="810" name="Google Shape;810;p70"/>
          <p:cNvPicPr preferRelativeResize="0"/>
          <p:nvPr/>
        </p:nvPicPr>
        <p:blipFill rotWithShape="1">
          <a:blip r:embed="rId4">
            <a:alphaModFix/>
          </a:blip>
          <a:srcRect b="0" l="0" r="0" t="0"/>
          <a:stretch/>
        </p:blipFill>
        <p:spPr>
          <a:xfrm>
            <a:off x="5942720" y="3904656"/>
            <a:ext cx="4341900" cy="414933"/>
          </a:xfrm>
          <a:prstGeom prst="rect">
            <a:avLst/>
          </a:prstGeom>
          <a:noFill/>
          <a:ln>
            <a:noFill/>
          </a:ln>
        </p:spPr>
      </p:pic>
      <p:cxnSp>
        <p:nvCxnSpPr>
          <p:cNvPr id="811" name="Google Shape;811;p70"/>
          <p:cNvCxnSpPr/>
          <p:nvPr/>
        </p:nvCxnSpPr>
        <p:spPr>
          <a:xfrm>
            <a:off x="6076950" y="3871319"/>
            <a:ext cx="276300" cy="0"/>
          </a:xfrm>
          <a:prstGeom prst="straightConnector1">
            <a:avLst/>
          </a:prstGeom>
          <a:noFill/>
          <a:ln cap="flat" cmpd="sng" w="38100">
            <a:solidFill>
              <a:schemeClr val="dk1"/>
            </a:solidFill>
            <a:prstDash val="solid"/>
            <a:miter lim="800000"/>
            <a:headEnd len="sm" w="sm" type="none"/>
            <a:tailEnd len="sm" w="sm" type="none"/>
          </a:ln>
        </p:spPr>
      </p:cxnSp>
      <p:pic>
        <p:nvPicPr>
          <p:cNvPr id="812" name="Google Shape;812;p70"/>
          <p:cNvPicPr preferRelativeResize="0"/>
          <p:nvPr/>
        </p:nvPicPr>
        <p:blipFill rotWithShape="1">
          <a:blip r:embed="rId3">
            <a:alphaModFix/>
          </a:blip>
          <a:srcRect b="0" l="0" r="0" t="0"/>
          <a:stretch/>
        </p:blipFill>
        <p:spPr>
          <a:xfrm>
            <a:off x="6353175" y="2538415"/>
            <a:ext cx="570113" cy="1332903"/>
          </a:xfrm>
          <a:prstGeom prst="rect">
            <a:avLst/>
          </a:prstGeom>
          <a:noFill/>
          <a:ln>
            <a:noFill/>
          </a:ln>
        </p:spPr>
      </p:pic>
      <p:cxnSp>
        <p:nvCxnSpPr>
          <p:cNvPr id="813" name="Google Shape;813;p70"/>
          <p:cNvCxnSpPr/>
          <p:nvPr/>
        </p:nvCxnSpPr>
        <p:spPr>
          <a:xfrm>
            <a:off x="6348413" y="3871319"/>
            <a:ext cx="276300" cy="0"/>
          </a:xfrm>
          <a:prstGeom prst="straightConnector1">
            <a:avLst/>
          </a:prstGeom>
          <a:noFill/>
          <a:ln cap="flat" cmpd="sng" w="38100">
            <a:solidFill>
              <a:schemeClr val="dk1"/>
            </a:solidFill>
            <a:prstDash val="solid"/>
            <a:miter lim="800000"/>
            <a:headEnd len="sm" w="sm" type="none"/>
            <a:tailEnd len="sm" w="sm" type="none"/>
          </a:ln>
        </p:spPr>
      </p:cxnSp>
      <p:pic>
        <p:nvPicPr>
          <p:cNvPr id="814" name="Google Shape;814;p70"/>
          <p:cNvPicPr preferRelativeResize="0"/>
          <p:nvPr/>
        </p:nvPicPr>
        <p:blipFill rotWithShape="1">
          <a:blip r:embed="rId3">
            <a:alphaModFix/>
          </a:blip>
          <a:srcRect b="0" l="0" r="0" t="0"/>
          <a:stretch/>
        </p:blipFill>
        <p:spPr>
          <a:xfrm>
            <a:off x="6624638" y="2538415"/>
            <a:ext cx="570113" cy="1332903"/>
          </a:xfrm>
          <a:prstGeom prst="rect">
            <a:avLst/>
          </a:prstGeom>
          <a:noFill/>
          <a:ln>
            <a:noFill/>
          </a:ln>
        </p:spPr>
      </p:pic>
      <p:cxnSp>
        <p:nvCxnSpPr>
          <p:cNvPr id="815" name="Google Shape;815;p70"/>
          <p:cNvCxnSpPr/>
          <p:nvPr/>
        </p:nvCxnSpPr>
        <p:spPr>
          <a:xfrm>
            <a:off x="6619875" y="3871319"/>
            <a:ext cx="276300" cy="0"/>
          </a:xfrm>
          <a:prstGeom prst="straightConnector1">
            <a:avLst/>
          </a:prstGeom>
          <a:noFill/>
          <a:ln cap="flat" cmpd="sng" w="38100">
            <a:solidFill>
              <a:schemeClr val="dk1"/>
            </a:solidFill>
            <a:prstDash val="solid"/>
            <a:miter lim="800000"/>
            <a:headEnd len="sm" w="sm" type="none"/>
            <a:tailEnd len="sm" w="sm" type="none"/>
          </a:ln>
        </p:spPr>
      </p:cxnSp>
      <p:pic>
        <p:nvPicPr>
          <p:cNvPr id="816" name="Google Shape;816;p70"/>
          <p:cNvPicPr preferRelativeResize="0"/>
          <p:nvPr/>
        </p:nvPicPr>
        <p:blipFill rotWithShape="1">
          <a:blip r:embed="rId3">
            <a:alphaModFix/>
          </a:blip>
          <a:srcRect b="0" l="0" r="0" t="0"/>
          <a:stretch/>
        </p:blipFill>
        <p:spPr>
          <a:xfrm>
            <a:off x="6896100" y="2538415"/>
            <a:ext cx="570113" cy="1332903"/>
          </a:xfrm>
          <a:prstGeom prst="rect">
            <a:avLst/>
          </a:prstGeom>
          <a:noFill/>
          <a:ln>
            <a:noFill/>
          </a:ln>
        </p:spPr>
      </p:pic>
      <p:cxnSp>
        <p:nvCxnSpPr>
          <p:cNvPr id="817" name="Google Shape;817;p70"/>
          <p:cNvCxnSpPr/>
          <p:nvPr/>
        </p:nvCxnSpPr>
        <p:spPr>
          <a:xfrm>
            <a:off x="6886575" y="3871319"/>
            <a:ext cx="276300" cy="0"/>
          </a:xfrm>
          <a:prstGeom prst="straightConnector1">
            <a:avLst/>
          </a:prstGeom>
          <a:noFill/>
          <a:ln cap="flat" cmpd="sng" w="38100">
            <a:solidFill>
              <a:schemeClr val="dk1"/>
            </a:solidFill>
            <a:prstDash val="solid"/>
            <a:miter lim="800000"/>
            <a:headEnd len="sm" w="sm" type="none"/>
            <a:tailEnd len="sm" w="sm" type="none"/>
          </a:ln>
        </p:spPr>
      </p:cxnSp>
      <p:pic>
        <p:nvPicPr>
          <p:cNvPr id="818" name="Google Shape;818;p70"/>
          <p:cNvPicPr preferRelativeResize="0"/>
          <p:nvPr/>
        </p:nvPicPr>
        <p:blipFill rotWithShape="1">
          <a:blip r:embed="rId3">
            <a:alphaModFix/>
          </a:blip>
          <a:srcRect b="0" l="0" r="0" t="0"/>
          <a:stretch/>
        </p:blipFill>
        <p:spPr>
          <a:xfrm>
            <a:off x="7162800" y="2538415"/>
            <a:ext cx="570113" cy="1332903"/>
          </a:xfrm>
          <a:prstGeom prst="rect">
            <a:avLst/>
          </a:prstGeom>
          <a:noFill/>
          <a:ln>
            <a:noFill/>
          </a:ln>
        </p:spPr>
      </p:pic>
      <p:cxnSp>
        <p:nvCxnSpPr>
          <p:cNvPr id="819" name="Google Shape;819;p70"/>
          <p:cNvCxnSpPr/>
          <p:nvPr/>
        </p:nvCxnSpPr>
        <p:spPr>
          <a:xfrm>
            <a:off x="7162800" y="3871319"/>
            <a:ext cx="276300" cy="0"/>
          </a:xfrm>
          <a:prstGeom prst="straightConnector1">
            <a:avLst/>
          </a:prstGeom>
          <a:noFill/>
          <a:ln cap="flat" cmpd="sng" w="38100">
            <a:solidFill>
              <a:schemeClr val="dk1"/>
            </a:solidFill>
            <a:prstDash val="solid"/>
            <a:miter lim="800000"/>
            <a:headEnd len="sm" w="sm" type="none"/>
            <a:tailEnd len="sm" w="sm" type="none"/>
          </a:ln>
        </p:spPr>
      </p:cxnSp>
      <p:pic>
        <p:nvPicPr>
          <p:cNvPr id="820" name="Google Shape;820;p70"/>
          <p:cNvPicPr preferRelativeResize="0"/>
          <p:nvPr/>
        </p:nvPicPr>
        <p:blipFill rotWithShape="1">
          <a:blip r:embed="rId3">
            <a:alphaModFix/>
          </a:blip>
          <a:srcRect b="0" l="0" r="0" t="0"/>
          <a:stretch/>
        </p:blipFill>
        <p:spPr>
          <a:xfrm>
            <a:off x="7439025" y="2538415"/>
            <a:ext cx="570113" cy="1332903"/>
          </a:xfrm>
          <a:prstGeom prst="rect">
            <a:avLst/>
          </a:prstGeom>
          <a:noFill/>
          <a:ln>
            <a:noFill/>
          </a:ln>
        </p:spPr>
      </p:pic>
      <p:cxnSp>
        <p:nvCxnSpPr>
          <p:cNvPr id="821" name="Google Shape;821;p70"/>
          <p:cNvCxnSpPr/>
          <p:nvPr/>
        </p:nvCxnSpPr>
        <p:spPr>
          <a:xfrm>
            <a:off x="7439025" y="3871319"/>
            <a:ext cx="276300" cy="0"/>
          </a:xfrm>
          <a:prstGeom prst="straightConnector1">
            <a:avLst/>
          </a:prstGeom>
          <a:noFill/>
          <a:ln cap="flat" cmpd="sng" w="38100">
            <a:solidFill>
              <a:schemeClr val="dk1"/>
            </a:solidFill>
            <a:prstDash val="solid"/>
            <a:miter lim="800000"/>
            <a:headEnd len="sm" w="sm" type="none"/>
            <a:tailEnd len="sm" w="sm" type="none"/>
          </a:ln>
        </p:spPr>
      </p:cxnSp>
      <p:pic>
        <p:nvPicPr>
          <p:cNvPr id="822" name="Google Shape;822;p70"/>
          <p:cNvPicPr preferRelativeResize="0"/>
          <p:nvPr/>
        </p:nvPicPr>
        <p:blipFill rotWithShape="1">
          <a:blip r:embed="rId3">
            <a:alphaModFix/>
          </a:blip>
          <a:srcRect b="0" l="0" r="0" t="0"/>
          <a:stretch/>
        </p:blipFill>
        <p:spPr>
          <a:xfrm>
            <a:off x="7715250" y="2538415"/>
            <a:ext cx="570113" cy="1332903"/>
          </a:xfrm>
          <a:prstGeom prst="rect">
            <a:avLst/>
          </a:prstGeom>
          <a:noFill/>
          <a:ln>
            <a:noFill/>
          </a:ln>
        </p:spPr>
      </p:pic>
      <p:sp>
        <p:nvSpPr>
          <p:cNvPr id="823" name="Google Shape;823;p70"/>
          <p:cNvSpPr txBox="1"/>
          <p:nvPr/>
        </p:nvSpPr>
        <p:spPr>
          <a:xfrm>
            <a:off x="5838766" y="373281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400" u="none" cap="none" strike="noStrike">
                <a:solidFill>
                  <a:schemeClr val="dk1"/>
                </a:solidFill>
                <a:latin typeface="Lexend"/>
                <a:ea typeface="Lexend"/>
                <a:cs typeface="Lexend"/>
                <a:sym typeface="Lexend"/>
              </a:rPr>
              <a:t>A</a:t>
            </a:r>
            <a:endParaRPr sz="1400">
              <a:solidFill>
                <a:schemeClr val="dk1"/>
              </a:solidFill>
              <a:latin typeface="Lexend"/>
              <a:ea typeface="Lexend"/>
              <a:cs typeface="Lexend"/>
              <a:sym typeface="Lexend"/>
            </a:endParaRPr>
          </a:p>
        </p:txBody>
      </p:sp>
      <p:sp>
        <p:nvSpPr>
          <p:cNvPr id="824" name="Google Shape;824;p70"/>
          <p:cNvSpPr txBox="1"/>
          <p:nvPr/>
        </p:nvSpPr>
        <p:spPr>
          <a:xfrm>
            <a:off x="7739686" y="372537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B</a:t>
            </a:r>
            <a:endParaRPr sz="1400">
              <a:solidFill>
                <a:schemeClr val="dk1"/>
              </a:solidFill>
              <a:latin typeface="Lexend"/>
              <a:ea typeface="Lexend"/>
              <a:cs typeface="Lexend"/>
              <a:sym typeface="Lexend"/>
            </a:endParaRPr>
          </a:p>
        </p:txBody>
      </p:sp>
      <p:sp>
        <p:nvSpPr>
          <p:cNvPr id="825" name="Google Shape;825;p70"/>
          <p:cNvSpPr txBox="1"/>
          <p:nvPr/>
        </p:nvSpPr>
        <p:spPr>
          <a:xfrm>
            <a:off x="6688699" y="3871325"/>
            <a:ext cx="618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6 cm</a:t>
            </a:r>
            <a:endParaRPr sz="1400">
              <a:solidFill>
                <a:schemeClr val="dk1"/>
              </a:solidFill>
              <a:latin typeface="Lexend"/>
              <a:ea typeface="Lexend"/>
              <a:cs typeface="Lexend"/>
              <a:sym typeface="Lexend"/>
            </a:endParaRPr>
          </a:p>
        </p:txBody>
      </p:sp>
      <p:pic>
        <p:nvPicPr>
          <p:cNvPr id="826" name="Google Shape;826;p70"/>
          <p:cNvPicPr preferRelativeResize="0"/>
          <p:nvPr/>
        </p:nvPicPr>
        <p:blipFill rotWithShape="1">
          <a:blip r:embed="rId4">
            <a:alphaModFix/>
          </a:blip>
          <a:srcRect b="0" l="0" r="0" t="0"/>
          <a:stretch/>
        </p:blipFill>
        <p:spPr>
          <a:xfrm rot="2511944">
            <a:off x="5096626" y="3552232"/>
            <a:ext cx="4341901" cy="414933"/>
          </a:xfrm>
          <a:prstGeom prst="rect">
            <a:avLst/>
          </a:prstGeom>
          <a:noFill/>
          <a:ln>
            <a:noFill/>
          </a:ln>
        </p:spPr>
      </p:pic>
      <p:sp>
        <p:nvSpPr>
          <p:cNvPr id="827" name="Google Shape;827;p70"/>
          <p:cNvSpPr txBox="1"/>
          <p:nvPr/>
        </p:nvSpPr>
        <p:spPr>
          <a:xfrm>
            <a:off x="5772601" y="2097800"/>
            <a:ext cx="491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pic>
        <p:nvPicPr>
          <p:cNvPr id="828" name="Google Shape;828;p70"/>
          <p:cNvPicPr preferRelativeResize="0"/>
          <p:nvPr/>
        </p:nvPicPr>
        <p:blipFill rotWithShape="1">
          <a:blip r:embed="rId4">
            <a:alphaModFix/>
          </a:blip>
          <a:srcRect b="0" l="0" r="0" t="0"/>
          <a:stretch/>
        </p:blipFill>
        <p:spPr>
          <a:xfrm rot="5010540">
            <a:off x="3743004" y="4093071"/>
            <a:ext cx="4341896" cy="414933"/>
          </a:xfrm>
          <a:prstGeom prst="rect">
            <a:avLst/>
          </a:prstGeom>
          <a:noFill/>
          <a:ln>
            <a:noFill/>
          </a:ln>
        </p:spPr>
      </p:pic>
      <p:sp>
        <p:nvSpPr>
          <p:cNvPr id="829" name="Google Shape;829;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830" name="Google Shape;830;p70"/>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Lucas is attempting to </a:t>
            </a:r>
            <a:r>
              <a:rPr lang="en-GB" sz="1800">
                <a:solidFill>
                  <a:schemeClr val="accent4"/>
                </a:solidFill>
              </a:rPr>
              <a:t>construct</a:t>
            </a:r>
            <a:r>
              <a:rPr lang="en-GB" sz="1800"/>
              <a:t> this triangle with a ruler and pencil.</a:t>
            </a:r>
            <a:endParaRPr sz="1800"/>
          </a:p>
        </p:txBody>
      </p:sp>
      <p:grpSp>
        <p:nvGrpSpPr>
          <p:cNvPr id="831" name="Google Shape;831;p70"/>
          <p:cNvGrpSpPr/>
          <p:nvPr/>
        </p:nvGrpSpPr>
        <p:grpSpPr>
          <a:xfrm>
            <a:off x="534025" y="972750"/>
            <a:ext cx="3438125" cy="1770700"/>
            <a:chOff x="534025" y="972750"/>
            <a:chExt cx="3438125" cy="1770700"/>
          </a:xfrm>
        </p:grpSpPr>
        <p:pic>
          <p:nvPicPr>
            <p:cNvPr id="832" name="Google Shape;832;p70"/>
            <p:cNvPicPr preferRelativeResize="0"/>
            <p:nvPr/>
          </p:nvPicPr>
          <p:blipFill>
            <a:blip r:embed="rId5">
              <a:alphaModFix/>
            </a:blip>
            <a:stretch>
              <a:fillRect/>
            </a:stretch>
          </p:blipFill>
          <p:spPr>
            <a:xfrm>
              <a:off x="1009400" y="1293450"/>
              <a:ext cx="2603947" cy="866550"/>
            </a:xfrm>
            <a:prstGeom prst="rect">
              <a:avLst/>
            </a:prstGeom>
            <a:noFill/>
            <a:ln>
              <a:noFill/>
            </a:ln>
          </p:spPr>
        </p:pic>
        <p:sp>
          <p:nvSpPr>
            <p:cNvPr id="833" name="Google Shape;833;p70"/>
            <p:cNvSpPr txBox="1"/>
            <p:nvPr/>
          </p:nvSpPr>
          <p:spPr>
            <a:xfrm>
              <a:off x="1266350" y="20485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834" name="Google Shape;834;p70"/>
            <p:cNvSpPr txBox="1"/>
            <p:nvPr/>
          </p:nvSpPr>
          <p:spPr>
            <a:xfrm>
              <a:off x="3613350" y="19291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835" name="Google Shape;835;p70"/>
            <p:cNvSpPr txBox="1"/>
            <p:nvPr/>
          </p:nvSpPr>
          <p:spPr>
            <a:xfrm>
              <a:off x="736232" y="9727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836" name="Google Shape;836;p70"/>
            <p:cNvSpPr/>
            <p:nvPr/>
          </p:nvSpPr>
          <p:spPr>
            <a:xfrm>
              <a:off x="1095025" y="1225800"/>
              <a:ext cx="2518325" cy="801300"/>
            </a:xfrm>
            <a:custGeom>
              <a:rect b="b" l="l" r="r" t="t"/>
              <a:pathLst>
                <a:path extrusionOk="0" h="32052" w="100733">
                  <a:moveTo>
                    <a:pt x="0" y="0"/>
                  </a:moveTo>
                  <a:cubicBezTo>
                    <a:pt x="29117" y="6720"/>
                    <a:pt x="57732" y="15581"/>
                    <a:pt x="86081" y="25031"/>
                  </a:cubicBezTo>
                  <a:cubicBezTo>
                    <a:pt x="91219" y="26744"/>
                    <a:pt x="95597" y="30334"/>
                    <a:pt x="100733" y="32052"/>
                  </a:cubicBezTo>
                </a:path>
              </a:pathLst>
            </a:custGeom>
            <a:noFill/>
            <a:ln cap="flat" cmpd="sng" w="28575">
              <a:solidFill>
                <a:schemeClr val="dk1"/>
              </a:solidFill>
              <a:prstDash val="solid"/>
              <a:round/>
              <a:headEnd len="med" w="med" type="triangle"/>
              <a:tailEnd len="med" w="med" type="triangle"/>
            </a:ln>
          </p:spPr>
        </p:sp>
        <p:sp>
          <p:nvSpPr>
            <p:cNvPr id="837" name="Google Shape;837;p70"/>
            <p:cNvSpPr/>
            <p:nvPr/>
          </p:nvSpPr>
          <p:spPr>
            <a:xfrm>
              <a:off x="1632650" y="2251225"/>
              <a:ext cx="1915450" cy="30525"/>
            </a:xfrm>
            <a:custGeom>
              <a:rect b="b" l="l" r="r" t="t"/>
              <a:pathLst>
                <a:path extrusionOk="0" h="1221" w="76618">
                  <a:moveTo>
                    <a:pt x="0" y="1221"/>
                  </a:moveTo>
                  <a:cubicBezTo>
                    <a:pt x="25543" y="1221"/>
                    <a:pt x="51075" y="0"/>
                    <a:pt x="76618" y="0"/>
                  </a:cubicBezTo>
                </a:path>
              </a:pathLst>
            </a:custGeom>
            <a:noFill/>
            <a:ln cap="flat" cmpd="sng" w="28575">
              <a:solidFill>
                <a:schemeClr val="dk1"/>
              </a:solidFill>
              <a:prstDash val="solid"/>
              <a:round/>
              <a:headEnd len="med" w="med" type="triangle"/>
              <a:tailEnd len="med" w="med" type="triangle"/>
            </a:ln>
          </p:spPr>
        </p:sp>
        <p:sp>
          <p:nvSpPr>
            <p:cNvPr id="838" name="Google Shape;838;p70"/>
            <p:cNvSpPr/>
            <p:nvPr/>
          </p:nvSpPr>
          <p:spPr>
            <a:xfrm>
              <a:off x="915300" y="1358700"/>
              <a:ext cx="473150" cy="801300"/>
            </a:xfrm>
            <a:custGeom>
              <a:rect b="b" l="l" r="r" t="t"/>
              <a:pathLst>
                <a:path extrusionOk="0" h="32052" w="18926">
                  <a:moveTo>
                    <a:pt x="0" y="0"/>
                  </a:moveTo>
                  <a:cubicBezTo>
                    <a:pt x="8773" y="8773"/>
                    <a:pt x="10153" y="23279"/>
                    <a:pt x="18926" y="32052"/>
                  </a:cubicBezTo>
                </a:path>
              </a:pathLst>
            </a:custGeom>
            <a:noFill/>
            <a:ln cap="flat" cmpd="sng" w="28575">
              <a:solidFill>
                <a:schemeClr val="dk1"/>
              </a:solidFill>
              <a:prstDash val="solid"/>
              <a:round/>
              <a:headEnd len="med" w="med" type="triangle"/>
              <a:tailEnd len="med" w="med" type="triangle"/>
            </a:ln>
          </p:spPr>
        </p:sp>
        <p:sp>
          <p:nvSpPr>
            <p:cNvPr id="839" name="Google Shape;839;p70"/>
            <p:cNvSpPr txBox="1"/>
            <p:nvPr/>
          </p:nvSpPr>
          <p:spPr>
            <a:xfrm>
              <a:off x="2296575" y="11583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840" name="Google Shape;840;p70"/>
            <p:cNvSpPr txBox="1"/>
            <p:nvPr/>
          </p:nvSpPr>
          <p:spPr>
            <a:xfrm>
              <a:off x="534025" y="16200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841" name="Google Shape;841;p70"/>
            <p:cNvSpPr txBox="1"/>
            <p:nvPr/>
          </p:nvSpPr>
          <p:spPr>
            <a:xfrm>
              <a:off x="2237650" y="228175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sp>
        <p:nvSpPr>
          <p:cNvPr id="842" name="Google Shape;842;p70"/>
          <p:cNvSpPr txBox="1"/>
          <p:nvPr/>
        </p:nvSpPr>
        <p:spPr>
          <a:xfrm>
            <a:off x="324000" y="2870550"/>
            <a:ext cx="3087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He first draws AB using his ruler and pencil.</a:t>
            </a:r>
            <a:endParaRPr sz="1800">
              <a:solidFill>
                <a:schemeClr val="dk1"/>
              </a:solidFill>
              <a:latin typeface="Lexend"/>
              <a:ea typeface="Lexend"/>
              <a:cs typeface="Lexend"/>
              <a:sym typeface="Lexend"/>
            </a:endParaRPr>
          </a:p>
        </p:txBody>
      </p:sp>
      <p:sp>
        <p:nvSpPr>
          <p:cNvPr id="843" name="Google Shape;843;p70"/>
          <p:cNvSpPr txBox="1"/>
          <p:nvPr/>
        </p:nvSpPr>
        <p:spPr>
          <a:xfrm>
            <a:off x="324000" y="3581100"/>
            <a:ext cx="2995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Then he marks vertex C, 9 cm from vertex B.</a:t>
            </a:r>
            <a:endParaRPr sz="1800">
              <a:solidFill>
                <a:schemeClr val="dk1"/>
              </a:solidFill>
              <a:latin typeface="Lexend"/>
              <a:ea typeface="Lexend"/>
              <a:cs typeface="Lexend"/>
              <a:sym typeface="Lexend"/>
            </a:endParaRPr>
          </a:p>
        </p:txBody>
      </p:sp>
      <p:sp>
        <p:nvSpPr>
          <p:cNvPr id="844" name="Google Shape;844;p70"/>
          <p:cNvSpPr txBox="1"/>
          <p:nvPr/>
        </p:nvSpPr>
        <p:spPr>
          <a:xfrm>
            <a:off x="324000" y="4308425"/>
            <a:ext cx="308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But … it isn’t 4 cm from A!</a:t>
            </a:r>
            <a:endParaRPr sz="1800">
              <a:solidFill>
                <a:schemeClr val="dk1"/>
              </a:solidFill>
              <a:latin typeface="Lexend"/>
              <a:ea typeface="Lexend"/>
              <a:cs typeface="Lexend"/>
              <a:sym typeface="Lexend"/>
            </a:endParaRPr>
          </a:p>
        </p:txBody>
      </p:sp>
      <p:sp>
        <p:nvSpPr>
          <p:cNvPr id="845" name="Google Shape;845;p70"/>
          <p:cNvSpPr/>
          <p:nvPr/>
        </p:nvSpPr>
        <p:spPr>
          <a:xfrm>
            <a:off x="5326650" y="2518325"/>
            <a:ext cx="1362000" cy="1332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808"/>
                                        </p:tgtEl>
                                        <p:attrNameLst>
                                          <p:attrName>style.visibility</p:attrName>
                                        </p:attrNameLst>
                                      </p:cBhvr>
                                      <p:to>
                                        <p:strVal val="hidden"/>
                                      </p:to>
                                    </p:set>
                                  </p:childTnLst>
                                </p:cTn>
                              </p:par>
                              <p:par>
                                <p:cTn fill="hold" nodeType="withEffect" presetClass="entr" presetID="1" presetSubtype="0">
                                  <p:stCondLst>
                                    <p:cond delay="10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10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xit" presetID="1" presetSubtype="0">
                                  <p:stCondLst>
                                    <p:cond delay="100"/>
                                  </p:stCondLst>
                                  <p:childTnLst>
                                    <p:set>
                                      <p:cBhvr>
                                        <p:cTn dur="1" fill="hold">
                                          <p:stCondLst>
                                            <p:cond delay="1"/>
                                          </p:stCondLst>
                                        </p:cTn>
                                        <p:tgtEl>
                                          <p:spTgt spid="812"/>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10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10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xit" presetID="1" presetSubtype="0">
                                  <p:stCondLst>
                                    <p:cond delay="100"/>
                                  </p:stCondLst>
                                  <p:childTnLst>
                                    <p:set>
                                      <p:cBhvr>
                                        <p:cTn dur="1" fill="hold">
                                          <p:stCondLst>
                                            <p:cond delay="1"/>
                                          </p:stCondLst>
                                        </p:cTn>
                                        <p:tgtEl>
                                          <p:spTgt spid="814"/>
                                        </p:tgtEl>
                                        <p:attrNameLst>
                                          <p:attrName>style.visibility</p:attrName>
                                        </p:attrNameLst>
                                      </p:cBhvr>
                                      <p:to>
                                        <p:strVal val="hidden"/>
                                      </p:to>
                                    </p:set>
                                  </p:childTnLst>
                                </p:cTn>
                              </p:par>
                            </p:childTnLst>
                          </p:cTn>
                        </p:par>
                        <p:par>
                          <p:cTn fill="hold">
                            <p:stCondLst>
                              <p:cond delay="2"/>
                            </p:stCondLst>
                            <p:childTnLst>
                              <p:par>
                                <p:cTn fill="hold" nodeType="afterEffect" presetClass="entr" presetID="1" presetSubtype="0">
                                  <p:stCondLst>
                                    <p:cond delay="100"/>
                                  </p:stCondLst>
                                  <p:childTnLst>
                                    <p:set>
                                      <p:cBhvr>
                                        <p:cTn dur="1" fill="hold">
                                          <p:stCondLst>
                                            <p:cond delay="0"/>
                                          </p:stCondLst>
                                        </p:cTn>
                                        <p:tgtEl>
                                          <p:spTgt spid="817"/>
                                        </p:tgtEl>
                                        <p:attrNameLst>
                                          <p:attrName>style.visibility</p:attrName>
                                        </p:attrNameLst>
                                      </p:cBhvr>
                                      <p:to>
                                        <p:strVal val="visible"/>
                                      </p:to>
                                    </p:set>
                                  </p:childTnLst>
                                </p:cTn>
                              </p:par>
                              <p:par>
                                <p:cTn fill="hold" nodeType="withEffect" presetClass="entr" presetID="1" presetSubtype="0">
                                  <p:stCondLst>
                                    <p:cond delay="10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xit" presetID="1" presetSubtype="0">
                                  <p:stCondLst>
                                    <p:cond delay="100"/>
                                  </p:stCondLst>
                                  <p:childTnLst>
                                    <p:set>
                                      <p:cBhvr>
                                        <p:cTn dur="1" fill="hold">
                                          <p:stCondLst>
                                            <p:cond delay="1"/>
                                          </p:stCondLst>
                                        </p:cTn>
                                        <p:tgtEl>
                                          <p:spTgt spid="816"/>
                                        </p:tgtEl>
                                        <p:attrNameLst>
                                          <p:attrName>style.visibility</p:attrName>
                                        </p:attrNameLst>
                                      </p:cBhvr>
                                      <p:to>
                                        <p:strVal val="hidden"/>
                                      </p:to>
                                    </p:set>
                                  </p:childTnLst>
                                </p:cTn>
                              </p:par>
                            </p:childTnLst>
                          </p:cTn>
                        </p:par>
                        <p:par>
                          <p:cTn fill="hold">
                            <p:stCondLst>
                              <p:cond delay="3"/>
                            </p:stCondLst>
                            <p:childTnLst>
                              <p:par>
                                <p:cTn fill="hold" nodeType="afterEffect" presetClass="entr" presetID="1" presetSubtype="0">
                                  <p:stCondLst>
                                    <p:cond delay="10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100"/>
                                  </p:stCondLst>
                                  <p:childTnLst>
                                    <p:set>
                                      <p:cBhvr>
                                        <p:cTn dur="1" fill="hold">
                                          <p:stCondLst>
                                            <p:cond delay="0"/>
                                          </p:stCondLst>
                                        </p:cTn>
                                        <p:tgtEl>
                                          <p:spTgt spid="820"/>
                                        </p:tgtEl>
                                        <p:attrNameLst>
                                          <p:attrName>style.visibility</p:attrName>
                                        </p:attrNameLst>
                                      </p:cBhvr>
                                      <p:to>
                                        <p:strVal val="visible"/>
                                      </p:to>
                                    </p:set>
                                  </p:childTnLst>
                                </p:cTn>
                              </p:par>
                              <p:par>
                                <p:cTn fill="hold" nodeType="withEffect" presetClass="exit" presetID="1" presetSubtype="0">
                                  <p:stCondLst>
                                    <p:cond delay="100"/>
                                  </p:stCondLst>
                                  <p:childTnLst>
                                    <p:set>
                                      <p:cBhvr>
                                        <p:cTn dur="1" fill="hold">
                                          <p:stCondLst>
                                            <p:cond delay="1"/>
                                          </p:stCondLst>
                                        </p:cTn>
                                        <p:tgtEl>
                                          <p:spTgt spid="818"/>
                                        </p:tgtEl>
                                        <p:attrNameLst>
                                          <p:attrName>style.visibility</p:attrName>
                                        </p:attrNameLst>
                                      </p:cBhvr>
                                      <p:to>
                                        <p:strVal val="hidden"/>
                                      </p:to>
                                    </p:set>
                                  </p:childTnLst>
                                </p:cTn>
                              </p:par>
                            </p:childTnLst>
                          </p:cTn>
                        </p:par>
                        <p:par>
                          <p:cTn fill="hold">
                            <p:stCondLst>
                              <p:cond delay="4"/>
                            </p:stCondLst>
                            <p:childTnLst>
                              <p:par>
                                <p:cTn fill="hold" nodeType="afterEffect" presetClass="entr" presetID="1" presetSubtype="0">
                                  <p:stCondLst>
                                    <p:cond delay="10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10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xit" presetID="1" presetSubtype="0">
                                  <p:stCondLst>
                                    <p:cond delay="100"/>
                                  </p:stCondLst>
                                  <p:childTnLst>
                                    <p:set>
                                      <p:cBhvr>
                                        <p:cTn dur="1" fill="hold">
                                          <p:stCondLst>
                                            <p:cond delay="1"/>
                                          </p:stCondLst>
                                        </p:cTn>
                                        <p:tgtEl>
                                          <p:spTgt spid="8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8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8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80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8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cxnSp>
        <p:nvCxnSpPr>
          <p:cNvPr id="850" name="Google Shape;850;p71"/>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51" name="Google Shape;851;p71"/>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52" name="Google Shape;852;p71"/>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53" name="Google Shape;853;p71"/>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54" name="Google Shape;854;p71"/>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55" name="Google Shape;855;p71"/>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sp>
        <p:nvSpPr>
          <p:cNvPr id="856" name="Google Shape;856;p71"/>
          <p:cNvSpPr txBox="1"/>
          <p:nvPr/>
        </p:nvSpPr>
        <p:spPr>
          <a:xfrm>
            <a:off x="5853053" y="373281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A</a:t>
            </a:r>
            <a:endParaRPr sz="1400">
              <a:solidFill>
                <a:schemeClr val="dk1"/>
              </a:solidFill>
              <a:latin typeface="Lexend"/>
              <a:ea typeface="Lexend"/>
              <a:cs typeface="Lexend"/>
              <a:sym typeface="Lexend"/>
            </a:endParaRPr>
          </a:p>
        </p:txBody>
      </p:sp>
      <p:sp>
        <p:nvSpPr>
          <p:cNvPr id="857" name="Google Shape;857;p71"/>
          <p:cNvSpPr txBox="1"/>
          <p:nvPr/>
        </p:nvSpPr>
        <p:spPr>
          <a:xfrm>
            <a:off x="7753973" y="372537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B</a:t>
            </a:r>
            <a:endParaRPr sz="1400">
              <a:solidFill>
                <a:schemeClr val="dk1"/>
              </a:solidFill>
              <a:latin typeface="Lexend"/>
              <a:ea typeface="Lexend"/>
              <a:cs typeface="Lexend"/>
              <a:sym typeface="Lexend"/>
            </a:endParaRPr>
          </a:p>
        </p:txBody>
      </p:sp>
      <p:sp>
        <p:nvSpPr>
          <p:cNvPr id="858" name="Google Shape;858;p71"/>
          <p:cNvSpPr txBox="1"/>
          <p:nvPr/>
        </p:nvSpPr>
        <p:spPr>
          <a:xfrm>
            <a:off x="6703001" y="3871325"/>
            <a:ext cx="552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6 cm</a:t>
            </a:r>
            <a:endParaRPr sz="1400">
              <a:solidFill>
                <a:schemeClr val="dk1"/>
              </a:solidFill>
              <a:latin typeface="Lexend"/>
              <a:ea typeface="Lexend"/>
              <a:cs typeface="Lexend"/>
              <a:sym typeface="Lexend"/>
            </a:endParaRPr>
          </a:p>
        </p:txBody>
      </p:sp>
      <p:sp>
        <p:nvSpPr>
          <p:cNvPr id="859" name="Google Shape;859;p71"/>
          <p:cNvSpPr txBox="1"/>
          <p:nvPr/>
        </p:nvSpPr>
        <p:spPr>
          <a:xfrm>
            <a:off x="5767409" y="2097811"/>
            <a:ext cx="445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860" name="Google Shape;860;p71"/>
          <p:cNvSpPr txBox="1"/>
          <p:nvPr/>
        </p:nvSpPr>
        <p:spPr>
          <a:xfrm>
            <a:off x="5767200" y="2098800"/>
            <a:ext cx="445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861" name="Google Shape;861;p71"/>
          <p:cNvSpPr txBox="1"/>
          <p:nvPr/>
        </p:nvSpPr>
        <p:spPr>
          <a:xfrm>
            <a:off x="5570026" y="2374700"/>
            <a:ext cx="445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862" name="Google Shape;862;p71"/>
          <p:cNvSpPr txBox="1"/>
          <p:nvPr/>
        </p:nvSpPr>
        <p:spPr>
          <a:xfrm>
            <a:off x="5570026" y="2374700"/>
            <a:ext cx="445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863" name="Google Shape;863;p71"/>
          <p:cNvSpPr txBox="1"/>
          <p:nvPr/>
        </p:nvSpPr>
        <p:spPr>
          <a:xfrm>
            <a:off x="5439600" y="2600000"/>
            <a:ext cx="4455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864" name="Google Shape;864;p71"/>
          <p:cNvSpPr txBox="1"/>
          <p:nvPr/>
        </p:nvSpPr>
        <p:spPr>
          <a:xfrm>
            <a:off x="5439600" y="2600000"/>
            <a:ext cx="4455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865" name="Google Shape;865;p71"/>
          <p:cNvSpPr txBox="1"/>
          <p:nvPr/>
        </p:nvSpPr>
        <p:spPr>
          <a:xfrm>
            <a:off x="5359601" y="2762317"/>
            <a:ext cx="4455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pic>
        <p:nvPicPr>
          <p:cNvPr id="866" name="Google Shape;866;p71"/>
          <p:cNvPicPr preferRelativeResize="0"/>
          <p:nvPr/>
        </p:nvPicPr>
        <p:blipFill rotWithShape="1">
          <a:blip r:embed="rId3">
            <a:alphaModFix/>
          </a:blip>
          <a:srcRect b="0" l="0" r="0" t="0"/>
          <a:stretch/>
        </p:blipFill>
        <p:spPr>
          <a:xfrm rot="986023">
            <a:off x="5106478" y="3744608"/>
            <a:ext cx="4341899" cy="414933"/>
          </a:xfrm>
          <a:prstGeom prst="rect">
            <a:avLst/>
          </a:prstGeom>
          <a:noFill/>
          <a:ln>
            <a:noFill/>
          </a:ln>
        </p:spPr>
      </p:pic>
      <p:sp>
        <p:nvSpPr>
          <p:cNvPr id="867" name="Google Shape;867;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868" name="Google Shape;868;p71"/>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Lucas is attempting to </a:t>
            </a:r>
            <a:r>
              <a:rPr lang="en-GB" sz="1800">
                <a:solidFill>
                  <a:schemeClr val="accent4"/>
                </a:solidFill>
              </a:rPr>
              <a:t>construct</a:t>
            </a:r>
            <a:r>
              <a:rPr lang="en-GB" sz="1800"/>
              <a:t> this triangle with a ruler and pencil.</a:t>
            </a:r>
            <a:endParaRPr sz="1800"/>
          </a:p>
        </p:txBody>
      </p:sp>
      <p:grpSp>
        <p:nvGrpSpPr>
          <p:cNvPr id="869" name="Google Shape;869;p71"/>
          <p:cNvGrpSpPr/>
          <p:nvPr/>
        </p:nvGrpSpPr>
        <p:grpSpPr>
          <a:xfrm>
            <a:off x="534025" y="972750"/>
            <a:ext cx="3438125" cy="1770700"/>
            <a:chOff x="534025" y="972750"/>
            <a:chExt cx="3438125" cy="1770700"/>
          </a:xfrm>
        </p:grpSpPr>
        <p:pic>
          <p:nvPicPr>
            <p:cNvPr id="870" name="Google Shape;870;p71"/>
            <p:cNvPicPr preferRelativeResize="0"/>
            <p:nvPr/>
          </p:nvPicPr>
          <p:blipFill>
            <a:blip r:embed="rId4">
              <a:alphaModFix/>
            </a:blip>
            <a:stretch>
              <a:fillRect/>
            </a:stretch>
          </p:blipFill>
          <p:spPr>
            <a:xfrm>
              <a:off x="1009400" y="1293450"/>
              <a:ext cx="2603947" cy="866550"/>
            </a:xfrm>
            <a:prstGeom prst="rect">
              <a:avLst/>
            </a:prstGeom>
            <a:noFill/>
            <a:ln>
              <a:noFill/>
            </a:ln>
          </p:spPr>
        </p:pic>
        <p:sp>
          <p:nvSpPr>
            <p:cNvPr id="871" name="Google Shape;871;p71"/>
            <p:cNvSpPr txBox="1"/>
            <p:nvPr/>
          </p:nvSpPr>
          <p:spPr>
            <a:xfrm>
              <a:off x="1266350" y="20485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872" name="Google Shape;872;p71"/>
            <p:cNvSpPr txBox="1"/>
            <p:nvPr/>
          </p:nvSpPr>
          <p:spPr>
            <a:xfrm>
              <a:off x="3613350" y="19291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873" name="Google Shape;873;p71"/>
            <p:cNvSpPr txBox="1"/>
            <p:nvPr/>
          </p:nvSpPr>
          <p:spPr>
            <a:xfrm>
              <a:off x="736232" y="9727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874" name="Google Shape;874;p71"/>
            <p:cNvSpPr/>
            <p:nvPr/>
          </p:nvSpPr>
          <p:spPr>
            <a:xfrm>
              <a:off x="1095025" y="1225800"/>
              <a:ext cx="2518325" cy="801300"/>
            </a:xfrm>
            <a:custGeom>
              <a:rect b="b" l="l" r="r" t="t"/>
              <a:pathLst>
                <a:path extrusionOk="0" h="32052" w="100733">
                  <a:moveTo>
                    <a:pt x="0" y="0"/>
                  </a:moveTo>
                  <a:cubicBezTo>
                    <a:pt x="29117" y="6720"/>
                    <a:pt x="57732" y="15581"/>
                    <a:pt x="86081" y="25031"/>
                  </a:cubicBezTo>
                  <a:cubicBezTo>
                    <a:pt x="91219" y="26744"/>
                    <a:pt x="95597" y="30334"/>
                    <a:pt x="100733" y="32052"/>
                  </a:cubicBezTo>
                </a:path>
              </a:pathLst>
            </a:custGeom>
            <a:noFill/>
            <a:ln cap="flat" cmpd="sng" w="28575">
              <a:solidFill>
                <a:schemeClr val="dk1"/>
              </a:solidFill>
              <a:prstDash val="solid"/>
              <a:round/>
              <a:headEnd len="med" w="med" type="triangle"/>
              <a:tailEnd len="med" w="med" type="triangle"/>
            </a:ln>
          </p:spPr>
        </p:sp>
        <p:sp>
          <p:nvSpPr>
            <p:cNvPr id="875" name="Google Shape;875;p71"/>
            <p:cNvSpPr/>
            <p:nvPr/>
          </p:nvSpPr>
          <p:spPr>
            <a:xfrm>
              <a:off x="1632650" y="2251225"/>
              <a:ext cx="1915450" cy="30525"/>
            </a:xfrm>
            <a:custGeom>
              <a:rect b="b" l="l" r="r" t="t"/>
              <a:pathLst>
                <a:path extrusionOk="0" h="1221" w="76618">
                  <a:moveTo>
                    <a:pt x="0" y="1221"/>
                  </a:moveTo>
                  <a:cubicBezTo>
                    <a:pt x="25543" y="1221"/>
                    <a:pt x="51075" y="0"/>
                    <a:pt x="76618" y="0"/>
                  </a:cubicBezTo>
                </a:path>
              </a:pathLst>
            </a:custGeom>
            <a:noFill/>
            <a:ln cap="flat" cmpd="sng" w="28575">
              <a:solidFill>
                <a:schemeClr val="dk1"/>
              </a:solidFill>
              <a:prstDash val="solid"/>
              <a:round/>
              <a:headEnd len="med" w="med" type="triangle"/>
              <a:tailEnd len="med" w="med" type="triangle"/>
            </a:ln>
          </p:spPr>
        </p:sp>
        <p:sp>
          <p:nvSpPr>
            <p:cNvPr id="876" name="Google Shape;876;p71"/>
            <p:cNvSpPr/>
            <p:nvPr/>
          </p:nvSpPr>
          <p:spPr>
            <a:xfrm>
              <a:off x="915300" y="1358700"/>
              <a:ext cx="473150" cy="801300"/>
            </a:xfrm>
            <a:custGeom>
              <a:rect b="b" l="l" r="r" t="t"/>
              <a:pathLst>
                <a:path extrusionOk="0" h="32052" w="18926">
                  <a:moveTo>
                    <a:pt x="0" y="0"/>
                  </a:moveTo>
                  <a:cubicBezTo>
                    <a:pt x="8773" y="8773"/>
                    <a:pt x="10153" y="23279"/>
                    <a:pt x="18926" y="32052"/>
                  </a:cubicBezTo>
                </a:path>
              </a:pathLst>
            </a:custGeom>
            <a:noFill/>
            <a:ln cap="flat" cmpd="sng" w="28575">
              <a:solidFill>
                <a:schemeClr val="dk1"/>
              </a:solidFill>
              <a:prstDash val="solid"/>
              <a:round/>
              <a:headEnd len="med" w="med" type="triangle"/>
              <a:tailEnd len="med" w="med" type="triangle"/>
            </a:ln>
          </p:spPr>
        </p:sp>
        <p:sp>
          <p:nvSpPr>
            <p:cNvPr id="877" name="Google Shape;877;p71"/>
            <p:cNvSpPr txBox="1"/>
            <p:nvPr/>
          </p:nvSpPr>
          <p:spPr>
            <a:xfrm>
              <a:off x="2296575" y="11583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878" name="Google Shape;878;p71"/>
            <p:cNvSpPr txBox="1"/>
            <p:nvPr/>
          </p:nvSpPr>
          <p:spPr>
            <a:xfrm>
              <a:off x="534025" y="16200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879" name="Google Shape;879;p71"/>
            <p:cNvSpPr txBox="1"/>
            <p:nvPr/>
          </p:nvSpPr>
          <p:spPr>
            <a:xfrm>
              <a:off x="2237650" y="228175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sp>
        <p:nvSpPr>
          <p:cNvPr id="880" name="Google Shape;880;p71"/>
          <p:cNvSpPr txBox="1"/>
          <p:nvPr/>
        </p:nvSpPr>
        <p:spPr>
          <a:xfrm>
            <a:off x="324000" y="2870550"/>
            <a:ext cx="3087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He makes further attempts …</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72"/>
          <p:cNvSpPr txBox="1"/>
          <p:nvPr/>
        </p:nvSpPr>
        <p:spPr>
          <a:xfrm>
            <a:off x="5440500" y="2600000"/>
            <a:ext cx="447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886" name="Google Shape;886;p72"/>
          <p:cNvSpPr txBox="1"/>
          <p:nvPr/>
        </p:nvSpPr>
        <p:spPr>
          <a:xfrm>
            <a:off x="5440500" y="2600000"/>
            <a:ext cx="650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887" name="Google Shape;887;p72"/>
          <p:cNvSpPr txBox="1"/>
          <p:nvPr/>
        </p:nvSpPr>
        <p:spPr>
          <a:xfrm>
            <a:off x="5767200" y="2098800"/>
            <a:ext cx="447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888" name="Google Shape;888;p72"/>
          <p:cNvSpPr txBox="1"/>
          <p:nvPr/>
        </p:nvSpPr>
        <p:spPr>
          <a:xfrm>
            <a:off x="5767200" y="2098800"/>
            <a:ext cx="4842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889" name="Google Shape;889;p72"/>
          <p:cNvSpPr txBox="1"/>
          <p:nvPr/>
        </p:nvSpPr>
        <p:spPr>
          <a:xfrm>
            <a:off x="5570027" y="2374700"/>
            <a:ext cx="447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890" name="Google Shape;890;p72"/>
          <p:cNvSpPr txBox="1"/>
          <p:nvPr/>
        </p:nvSpPr>
        <p:spPr>
          <a:xfrm>
            <a:off x="5570026" y="2374700"/>
            <a:ext cx="447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cxnSp>
        <p:nvCxnSpPr>
          <p:cNvPr id="891" name="Google Shape;891;p72"/>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92" name="Google Shape;892;p72"/>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93" name="Google Shape;893;p72"/>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94" name="Google Shape;894;p72"/>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95" name="Google Shape;895;p72"/>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896" name="Google Shape;896;p72"/>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sp>
        <p:nvSpPr>
          <p:cNvPr id="897" name="Google Shape;897;p72"/>
          <p:cNvSpPr txBox="1"/>
          <p:nvPr/>
        </p:nvSpPr>
        <p:spPr>
          <a:xfrm>
            <a:off x="5853053" y="373281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A</a:t>
            </a:r>
            <a:endParaRPr sz="1400">
              <a:solidFill>
                <a:schemeClr val="dk1"/>
              </a:solidFill>
              <a:latin typeface="Lexend"/>
              <a:ea typeface="Lexend"/>
              <a:cs typeface="Lexend"/>
              <a:sym typeface="Lexend"/>
            </a:endParaRPr>
          </a:p>
        </p:txBody>
      </p:sp>
      <p:sp>
        <p:nvSpPr>
          <p:cNvPr id="898" name="Google Shape;898;p72"/>
          <p:cNvSpPr txBox="1"/>
          <p:nvPr/>
        </p:nvSpPr>
        <p:spPr>
          <a:xfrm>
            <a:off x="7753973" y="372537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B</a:t>
            </a:r>
            <a:endParaRPr sz="1400">
              <a:solidFill>
                <a:schemeClr val="dk1"/>
              </a:solidFill>
              <a:latin typeface="Lexend"/>
              <a:ea typeface="Lexend"/>
              <a:cs typeface="Lexend"/>
              <a:sym typeface="Lexend"/>
            </a:endParaRPr>
          </a:p>
        </p:txBody>
      </p:sp>
      <p:sp>
        <p:nvSpPr>
          <p:cNvPr id="899" name="Google Shape;899;p72"/>
          <p:cNvSpPr txBox="1"/>
          <p:nvPr/>
        </p:nvSpPr>
        <p:spPr>
          <a:xfrm>
            <a:off x="6703001" y="3871325"/>
            <a:ext cx="612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6 cm</a:t>
            </a:r>
            <a:endParaRPr sz="1400">
              <a:solidFill>
                <a:schemeClr val="dk1"/>
              </a:solidFill>
              <a:latin typeface="Lexend"/>
              <a:ea typeface="Lexend"/>
              <a:cs typeface="Lexend"/>
              <a:sym typeface="Lexend"/>
            </a:endParaRPr>
          </a:p>
        </p:txBody>
      </p:sp>
      <p:sp>
        <p:nvSpPr>
          <p:cNvPr id="900" name="Google Shape;900;p72"/>
          <p:cNvSpPr txBox="1"/>
          <p:nvPr/>
        </p:nvSpPr>
        <p:spPr>
          <a:xfrm>
            <a:off x="5359601" y="2762325"/>
            <a:ext cx="447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01" name="Google Shape;901;p72"/>
          <p:cNvSpPr txBox="1"/>
          <p:nvPr/>
        </p:nvSpPr>
        <p:spPr>
          <a:xfrm>
            <a:off x="5276826" y="3006950"/>
            <a:ext cx="447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02" name="Google Shape;902;p72"/>
          <p:cNvSpPr txBox="1"/>
          <p:nvPr/>
        </p:nvSpPr>
        <p:spPr>
          <a:xfrm>
            <a:off x="5201499" y="3349550"/>
            <a:ext cx="4311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03" name="Google Shape;903;p72"/>
          <p:cNvSpPr txBox="1"/>
          <p:nvPr/>
        </p:nvSpPr>
        <p:spPr>
          <a:xfrm>
            <a:off x="5230925" y="3161225"/>
            <a:ext cx="4476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04" name="Google Shape;904;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905" name="Google Shape;905;p72"/>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Lucas is attempting to </a:t>
            </a:r>
            <a:r>
              <a:rPr lang="en-GB" sz="1800">
                <a:solidFill>
                  <a:schemeClr val="accent4"/>
                </a:solidFill>
              </a:rPr>
              <a:t>construct</a:t>
            </a:r>
            <a:r>
              <a:rPr lang="en-GB" sz="1800"/>
              <a:t> this triangle with a ruler and pencil.</a:t>
            </a:r>
            <a:endParaRPr sz="1800"/>
          </a:p>
        </p:txBody>
      </p:sp>
      <p:grpSp>
        <p:nvGrpSpPr>
          <p:cNvPr id="906" name="Google Shape;906;p72"/>
          <p:cNvGrpSpPr/>
          <p:nvPr/>
        </p:nvGrpSpPr>
        <p:grpSpPr>
          <a:xfrm>
            <a:off x="534025" y="972750"/>
            <a:ext cx="3438125" cy="1770700"/>
            <a:chOff x="534025" y="972750"/>
            <a:chExt cx="3438125" cy="1770700"/>
          </a:xfrm>
        </p:grpSpPr>
        <p:pic>
          <p:nvPicPr>
            <p:cNvPr id="907" name="Google Shape;907;p72"/>
            <p:cNvPicPr preferRelativeResize="0"/>
            <p:nvPr/>
          </p:nvPicPr>
          <p:blipFill>
            <a:blip r:embed="rId3">
              <a:alphaModFix/>
            </a:blip>
            <a:stretch>
              <a:fillRect/>
            </a:stretch>
          </p:blipFill>
          <p:spPr>
            <a:xfrm>
              <a:off x="1009400" y="1293450"/>
              <a:ext cx="2603947" cy="866550"/>
            </a:xfrm>
            <a:prstGeom prst="rect">
              <a:avLst/>
            </a:prstGeom>
            <a:noFill/>
            <a:ln>
              <a:noFill/>
            </a:ln>
          </p:spPr>
        </p:pic>
        <p:sp>
          <p:nvSpPr>
            <p:cNvPr id="908" name="Google Shape;908;p72"/>
            <p:cNvSpPr txBox="1"/>
            <p:nvPr/>
          </p:nvSpPr>
          <p:spPr>
            <a:xfrm>
              <a:off x="1266350" y="20485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909" name="Google Shape;909;p72"/>
            <p:cNvSpPr txBox="1"/>
            <p:nvPr/>
          </p:nvSpPr>
          <p:spPr>
            <a:xfrm>
              <a:off x="3613350" y="19291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910" name="Google Shape;910;p72"/>
            <p:cNvSpPr txBox="1"/>
            <p:nvPr/>
          </p:nvSpPr>
          <p:spPr>
            <a:xfrm>
              <a:off x="736232" y="9727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911" name="Google Shape;911;p72"/>
            <p:cNvSpPr/>
            <p:nvPr/>
          </p:nvSpPr>
          <p:spPr>
            <a:xfrm>
              <a:off x="1095025" y="1225800"/>
              <a:ext cx="2518325" cy="801300"/>
            </a:xfrm>
            <a:custGeom>
              <a:rect b="b" l="l" r="r" t="t"/>
              <a:pathLst>
                <a:path extrusionOk="0" h="32052" w="100733">
                  <a:moveTo>
                    <a:pt x="0" y="0"/>
                  </a:moveTo>
                  <a:cubicBezTo>
                    <a:pt x="29117" y="6720"/>
                    <a:pt x="57732" y="15581"/>
                    <a:pt x="86081" y="25031"/>
                  </a:cubicBezTo>
                  <a:cubicBezTo>
                    <a:pt x="91219" y="26744"/>
                    <a:pt x="95597" y="30334"/>
                    <a:pt x="100733" y="32052"/>
                  </a:cubicBezTo>
                </a:path>
              </a:pathLst>
            </a:custGeom>
            <a:noFill/>
            <a:ln cap="flat" cmpd="sng" w="28575">
              <a:solidFill>
                <a:schemeClr val="dk1"/>
              </a:solidFill>
              <a:prstDash val="solid"/>
              <a:round/>
              <a:headEnd len="med" w="med" type="triangle"/>
              <a:tailEnd len="med" w="med" type="triangle"/>
            </a:ln>
          </p:spPr>
        </p:sp>
        <p:sp>
          <p:nvSpPr>
            <p:cNvPr id="912" name="Google Shape;912;p72"/>
            <p:cNvSpPr/>
            <p:nvPr/>
          </p:nvSpPr>
          <p:spPr>
            <a:xfrm>
              <a:off x="1632650" y="2251225"/>
              <a:ext cx="1915450" cy="30525"/>
            </a:xfrm>
            <a:custGeom>
              <a:rect b="b" l="l" r="r" t="t"/>
              <a:pathLst>
                <a:path extrusionOk="0" h="1221" w="76618">
                  <a:moveTo>
                    <a:pt x="0" y="1221"/>
                  </a:moveTo>
                  <a:cubicBezTo>
                    <a:pt x="25543" y="1221"/>
                    <a:pt x="51075" y="0"/>
                    <a:pt x="76618" y="0"/>
                  </a:cubicBezTo>
                </a:path>
              </a:pathLst>
            </a:custGeom>
            <a:noFill/>
            <a:ln cap="flat" cmpd="sng" w="28575">
              <a:solidFill>
                <a:schemeClr val="dk1"/>
              </a:solidFill>
              <a:prstDash val="solid"/>
              <a:round/>
              <a:headEnd len="med" w="med" type="triangle"/>
              <a:tailEnd len="med" w="med" type="triangle"/>
            </a:ln>
          </p:spPr>
        </p:sp>
        <p:sp>
          <p:nvSpPr>
            <p:cNvPr id="913" name="Google Shape;913;p72"/>
            <p:cNvSpPr/>
            <p:nvPr/>
          </p:nvSpPr>
          <p:spPr>
            <a:xfrm>
              <a:off x="915300" y="1358700"/>
              <a:ext cx="473150" cy="801300"/>
            </a:xfrm>
            <a:custGeom>
              <a:rect b="b" l="l" r="r" t="t"/>
              <a:pathLst>
                <a:path extrusionOk="0" h="32052" w="18926">
                  <a:moveTo>
                    <a:pt x="0" y="0"/>
                  </a:moveTo>
                  <a:cubicBezTo>
                    <a:pt x="8773" y="8773"/>
                    <a:pt x="10153" y="23279"/>
                    <a:pt x="18926" y="32052"/>
                  </a:cubicBezTo>
                </a:path>
              </a:pathLst>
            </a:custGeom>
            <a:noFill/>
            <a:ln cap="flat" cmpd="sng" w="28575">
              <a:solidFill>
                <a:schemeClr val="dk1"/>
              </a:solidFill>
              <a:prstDash val="solid"/>
              <a:round/>
              <a:headEnd len="med" w="med" type="triangle"/>
              <a:tailEnd len="med" w="med" type="triangle"/>
            </a:ln>
          </p:spPr>
        </p:sp>
        <p:sp>
          <p:nvSpPr>
            <p:cNvPr id="914" name="Google Shape;914;p72"/>
            <p:cNvSpPr txBox="1"/>
            <p:nvPr/>
          </p:nvSpPr>
          <p:spPr>
            <a:xfrm>
              <a:off x="2296575" y="11583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915" name="Google Shape;915;p72"/>
            <p:cNvSpPr txBox="1"/>
            <p:nvPr/>
          </p:nvSpPr>
          <p:spPr>
            <a:xfrm>
              <a:off x="534025" y="16200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916" name="Google Shape;916;p72"/>
            <p:cNvSpPr txBox="1"/>
            <p:nvPr/>
          </p:nvSpPr>
          <p:spPr>
            <a:xfrm>
              <a:off x="2237650" y="228175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sp>
        <p:nvSpPr>
          <p:cNvPr id="917" name="Google Shape;917;p72"/>
          <p:cNvSpPr txBox="1"/>
          <p:nvPr/>
        </p:nvSpPr>
        <p:spPr>
          <a:xfrm>
            <a:off x="366925" y="3102700"/>
            <a:ext cx="3438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But none of them are 4 cm from A!</a:t>
            </a:r>
            <a:endParaRPr sz="1800">
              <a:solidFill>
                <a:schemeClr val="dk1"/>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73"/>
          <p:cNvSpPr txBox="1"/>
          <p:nvPr/>
        </p:nvSpPr>
        <p:spPr>
          <a:xfrm>
            <a:off x="5440500" y="2600000"/>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923" name="Google Shape;923;p73"/>
          <p:cNvSpPr txBox="1"/>
          <p:nvPr/>
        </p:nvSpPr>
        <p:spPr>
          <a:xfrm>
            <a:off x="5440500" y="2600000"/>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24" name="Google Shape;924;p73"/>
          <p:cNvSpPr txBox="1"/>
          <p:nvPr/>
        </p:nvSpPr>
        <p:spPr>
          <a:xfrm>
            <a:off x="5570027" y="2374700"/>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925" name="Google Shape;925;p73"/>
          <p:cNvSpPr txBox="1"/>
          <p:nvPr/>
        </p:nvSpPr>
        <p:spPr>
          <a:xfrm>
            <a:off x="5570027" y="2374700"/>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26" name="Google Shape;926;p73"/>
          <p:cNvSpPr txBox="1"/>
          <p:nvPr/>
        </p:nvSpPr>
        <p:spPr>
          <a:xfrm>
            <a:off x="5770395" y="2101096"/>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927" name="Google Shape;927;p73"/>
          <p:cNvSpPr txBox="1"/>
          <p:nvPr/>
        </p:nvSpPr>
        <p:spPr>
          <a:xfrm>
            <a:off x="5770394" y="2100996"/>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cxnSp>
        <p:nvCxnSpPr>
          <p:cNvPr id="928" name="Google Shape;928;p73"/>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29" name="Google Shape;929;p73"/>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30" name="Google Shape;930;p73"/>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31" name="Google Shape;931;p73"/>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32" name="Google Shape;932;p73"/>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33" name="Google Shape;933;p73"/>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sp>
        <p:nvSpPr>
          <p:cNvPr id="934" name="Google Shape;934;p73"/>
          <p:cNvSpPr txBox="1"/>
          <p:nvPr/>
        </p:nvSpPr>
        <p:spPr>
          <a:xfrm>
            <a:off x="5853053" y="373281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A</a:t>
            </a:r>
            <a:endParaRPr sz="1400">
              <a:solidFill>
                <a:schemeClr val="dk1"/>
              </a:solidFill>
              <a:latin typeface="Lexend"/>
              <a:ea typeface="Lexend"/>
              <a:cs typeface="Lexend"/>
              <a:sym typeface="Lexend"/>
            </a:endParaRPr>
          </a:p>
        </p:txBody>
      </p:sp>
      <p:sp>
        <p:nvSpPr>
          <p:cNvPr id="935" name="Google Shape;935;p73"/>
          <p:cNvSpPr txBox="1"/>
          <p:nvPr/>
        </p:nvSpPr>
        <p:spPr>
          <a:xfrm>
            <a:off x="7753973" y="372537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B</a:t>
            </a:r>
            <a:endParaRPr sz="1400">
              <a:solidFill>
                <a:schemeClr val="dk1"/>
              </a:solidFill>
              <a:latin typeface="Lexend"/>
              <a:ea typeface="Lexend"/>
              <a:cs typeface="Lexend"/>
              <a:sym typeface="Lexend"/>
            </a:endParaRPr>
          </a:p>
        </p:txBody>
      </p:sp>
      <p:sp>
        <p:nvSpPr>
          <p:cNvPr id="936" name="Google Shape;936;p73"/>
          <p:cNvSpPr txBox="1"/>
          <p:nvPr/>
        </p:nvSpPr>
        <p:spPr>
          <a:xfrm>
            <a:off x="6703001" y="3871325"/>
            <a:ext cx="618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6 cm</a:t>
            </a:r>
            <a:endParaRPr sz="1400">
              <a:solidFill>
                <a:schemeClr val="dk1"/>
              </a:solidFill>
              <a:latin typeface="Lexend"/>
              <a:ea typeface="Lexend"/>
              <a:cs typeface="Lexend"/>
              <a:sym typeface="Lexend"/>
            </a:endParaRPr>
          </a:p>
        </p:txBody>
      </p:sp>
      <p:sp>
        <p:nvSpPr>
          <p:cNvPr id="937" name="Google Shape;937;p73"/>
          <p:cNvSpPr txBox="1"/>
          <p:nvPr/>
        </p:nvSpPr>
        <p:spPr>
          <a:xfrm>
            <a:off x="5359601" y="2762325"/>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38" name="Google Shape;938;p73"/>
          <p:cNvSpPr txBox="1"/>
          <p:nvPr/>
        </p:nvSpPr>
        <p:spPr>
          <a:xfrm>
            <a:off x="5280767" y="3006942"/>
            <a:ext cx="422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39" name="Google Shape;939;p73"/>
          <p:cNvSpPr txBox="1"/>
          <p:nvPr/>
        </p:nvSpPr>
        <p:spPr>
          <a:xfrm>
            <a:off x="5201500" y="3349550"/>
            <a:ext cx="49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40" name="Google Shape;940;p73"/>
          <p:cNvSpPr txBox="1"/>
          <p:nvPr/>
        </p:nvSpPr>
        <p:spPr>
          <a:xfrm>
            <a:off x="5232469" y="3161225"/>
            <a:ext cx="49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941" name="Google Shape;941;p73"/>
          <p:cNvSpPr txBox="1"/>
          <p:nvPr/>
        </p:nvSpPr>
        <p:spPr>
          <a:xfrm>
            <a:off x="5315846" y="2883125"/>
            <a:ext cx="65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pic>
        <p:nvPicPr>
          <p:cNvPr id="942" name="Google Shape;942;p73"/>
          <p:cNvPicPr preferRelativeResize="0"/>
          <p:nvPr/>
        </p:nvPicPr>
        <p:blipFill rotWithShape="1">
          <a:blip r:embed="rId3">
            <a:alphaModFix/>
          </a:blip>
          <a:srcRect b="0" l="0" r="0" t="0"/>
          <a:stretch/>
        </p:blipFill>
        <p:spPr>
          <a:xfrm rot="3014695">
            <a:off x="4390202" y="4519465"/>
            <a:ext cx="4341897" cy="414933"/>
          </a:xfrm>
          <a:prstGeom prst="rect">
            <a:avLst/>
          </a:prstGeom>
          <a:noFill/>
          <a:ln>
            <a:noFill/>
          </a:ln>
        </p:spPr>
      </p:pic>
      <p:sp>
        <p:nvSpPr>
          <p:cNvPr id="943" name="Google Shape;943;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944" name="Google Shape;944;p73"/>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Lucas is attempting to </a:t>
            </a:r>
            <a:r>
              <a:rPr lang="en-GB" sz="1800">
                <a:solidFill>
                  <a:schemeClr val="accent4"/>
                </a:solidFill>
              </a:rPr>
              <a:t>construct</a:t>
            </a:r>
            <a:r>
              <a:rPr lang="en-GB" sz="1800"/>
              <a:t> this triangle with a ruler and pencil.</a:t>
            </a:r>
            <a:endParaRPr sz="1800"/>
          </a:p>
        </p:txBody>
      </p:sp>
      <p:grpSp>
        <p:nvGrpSpPr>
          <p:cNvPr id="945" name="Google Shape;945;p73"/>
          <p:cNvGrpSpPr/>
          <p:nvPr/>
        </p:nvGrpSpPr>
        <p:grpSpPr>
          <a:xfrm>
            <a:off x="534025" y="972750"/>
            <a:ext cx="3438125" cy="1770700"/>
            <a:chOff x="534025" y="972750"/>
            <a:chExt cx="3438125" cy="1770700"/>
          </a:xfrm>
        </p:grpSpPr>
        <p:pic>
          <p:nvPicPr>
            <p:cNvPr id="946" name="Google Shape;946;p73"/>
            <p:cNvPicPr preferRelativeResize="0"/>
            <p:nvPr/>
          </p:nvPicPr>
          <p:blipFill>
            <a:blip r:embed="rId4">
              <a:alphaModFix/>
            </a:blip>
            <a:stretch>
              <a:fillRect/>
            </a:stretch>
          </p:blipFill>
          <p:spPr>
            <a:xfrm>
              <a:off x="1009400" y="1293450"/>
              <a:ext cx="2603947" cy="866550"/>
            </a:xfrm>
            <a:prstGeom prst="rect">
              <a:avLst/>
            </a:prstGeom>
            <a:noFill/>
            <a:ln>
              <a:noFill/>
            </a:ln>
          </p:spPr>
        </p:pic>
        <p:sp>
          <p:nvSpPr>
            <p:cNvPr id="947" name="Google Shape;947;p73"/>
            <p:cNvSpPr txBox="1"/>
            <p:nvPr/>
          </p:nvSpPr>
          <p:spPr>
            <a:xfrm>
              <a:off x="1266350" y="20485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948" name="Google Shape;948;p73"/>
            <p:cNvSpPr txBox="1"/>
            <p:nvPr/>
          </p:nvSpPr>
          <p:spPr>
            <a:xfrm>
              <a:off x="3613350" y="19291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949" name="Google Shape;949;p73"/>
            <p:cNvSpPr txBox="1"/>
            <p:nvPr/>
          </p:nvSpPr>
          <p:spPr>
            <a:xfrm>
              <a:off x="736232" y="9727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950" name="Google Shape;950;p73"/>
            <p:cNvSpPr/>
            <p:nvPr/>
          </p:nvSpPr>
          <p:spPr>
            <a:xfrm>
              <a:off x="1095025" y="1225800"/>
              <a:ext cx="2518325" cy="801300"/>
            </a:xfrm>
            <a:custGeom>
              <a:rect b="b" l="l" r="r" t="t"/>
              <a:pathLst>
                <a:path extrusionOk="0" h="32052" w="100733">
                  <a:moveTo>
                    <a:pt x="0" y="0"/>
                  </a:moveTo>
                  <a:cubicBezTo>
                    <a:pt x="29117" y="6720"/>
                    <a:pt x="57732" y="15581"/>
                    <a:pt x="86081" y="25031"/>
                  </a:cubicBezTo>
                  <a:cubicBezTo>
                    <a:pt x="91219" y="26744"/>
                    <a:pt x="95597" y="30334"/>
                    <a:pt x="100733" y="32052"/>
                  </a:cubicBezTo>
                </a:path>
              </a:pathLst>
            </a:custGeom>
            <a:noFill/>
            <a:ln cap="flat" cmpd="sng" w="28575">
              <a:solidFill>
                <a:schemeClr val="dk1"/>
              </a:solidFill>
              <a:prstDash val="solid"/>
              <a:round/>
              <a:headEnd len="med" w="med" type="triangle"/>
              <a:tailEnd len="med" w="med" type="triangle"/>
            </a:ln>
          </p:spPr>
        </p:sp>
        <p:sp>
          <p:nvSpPr>
            <p:cNvPr id="951" name="Google Shape;951;p73"/>
            <p:cNvSpPr/>
            <p:nvPr/>
          </p:nvSpPr>
          <p:spPr>
            <a:xfrm>
              <a:off x="1632650" y="2251225"/>
              <a:ext cx="1915450" cy="30525"/>
            </a:xfrm>
            <a:custGeom>
              <a:rect b="b" l="l" r="r" t="t"/>
              <a:pathLst>
                <a:path extrusionOk="0" h="1221" w="76618">
                  <a:moveTo>
                    <a:pt x="0" y="1221"/>
                  </a:moveTo>
                  <a:cubicBezTo>
                    <a:pt x="25543" y="1221"/>
                    <a:pt x="51075" y="0"/>
                    <a:pt x="76618" y="0"/>
                  </a:cubicBezTo>
                </a:path>
              </a:pathLst>
            </a:custGeom>
            <a:noFill/>
            <a:ln cap="flat" cmpd="sng" w="28575">
              <a:solidFill>
                <a:schemeClr val="dk1"/>
              </a:solidFill>
              <a:prstDash val="solid"/>
              <a:round/>
              <a:headEnd len="med" w="med" type="triangle"/>
              <a:tailEnd len="med" w="med" type="triangle"/>
            </a:ln>
          </p:spPr>
        </p:sp>
        <p:sp>
          <p:nvSpPr>
            <p:cNvPr id="952" name="Google Shape;952;p73"/>
            <p:cNvSpPr/>
            <p:nvPr/>
          </p:nvSpPr>
          <p:spPr>
            <a:xfrm>
              <a:off x="915300" y="1358700"/>
              <a:ext cx="473150" cy="801300"/>
            </a:xfrm>
            <a:custGeom>
              <a:rect b="b" l="l" r="r" t="t"/>
              <a:pathLst>
                <a:path extrusionOk="0" h="32052" w="18926">
                  <a:moveTo>
                    <a:pt x="0" y="0"/>
                  </a:moveTo>
                  <a:cubicBezTo>
                    <a:pt x="8773" y="8773"/>
                    <a:pt x="10153" y="23279"/>
                    <a:pt x="18926" y="32052"/>
                  </a:cubicBezTo>
                </a:path>
              </a:pathLst>
            </a:custGeom>
            <a:noFill/>
            <a:ln cap="flat" cmpd="sng" w="28575">
              <a:solidFill>
                <a:schemeClr val="dk1"/>
              </a:solidFill>
              <a:prstDash val="solid"/>
              <a:round/>
              <a:headEnd len="med" w="med" type="triangle"/>
              <a:tailEnd len="med" w="med" type="triangle"/>
            </a:ln>
          </p:spPr>
        </p:sp>
        <p:sp>
          <p:nvSpPr>
            <p:cNvPr id="953" name="Google Shape;953;p73"/>
            <p:cNvSpPr txBox="1"/>
            <p:nvPr/>
          </p:nvSpPr>
          <p:spPr>
            <a:xfrm>
              <a:off x="2296575" y="11583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954" name="Google Shape;954;p73"/>
            <p:cNvSpPr txBox="1"/>
            <p:nvPr/>
          </p:nvSpPr>
          <p:spPr>
            <a:xfrm>
              <a:off x="534025" y="16200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955" name="Google Shape;955;p73"/>
            <p:cNvSpPr txBox="1"/>
            <p:nvPr/>
          </p:nvSpPr>
          <p:spPr>
            <a:xfrm>
              <a:off x="2237650" y="228175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sp>
        <p:nvSpPr>
          <p:cNvPr id="956" name="Google Shape;956;p73"/>
          <p:cNvSpPr txBox="1"/>
          <p:nvPr/>
        </p:nvSpPr>
        <p:spPr>
          <a:xfrm>
            <a:off x="324000" y="2870550"/>
            <a:ext cx="35325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Finally he finds a point that is 9 cm from B and 4 cm from A.</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cxnSp>
        <p:nvCxnSpPr>
          <p:cNvPr id="961" name="Google Shape;961;p74"/>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62" name="Google Shape;962;p74"/>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63" name="Google Shape;963;p74"/>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64" name="Google Shape;964;p74"/>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65" name="Google Shape;965;p74"/>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66" name="Google Shape;966;p74"/>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sp>
        <p:nvSpPr>
          <p:cNvPr id="967" name="Google Shape;967;p74"/>
          <p:cNvSpPr txBox="1"/>
          <p:nvPr/>
        </p:nvSpPr>
        <p:spPr>
          <a:xfrm>
            <a:off x="5872333" y="3752654"/>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A</a:t>
            </a:r>
            <a:endParaRPr sz="1400">
              <a:solidFill>
                <a:schemeClr val="dk1"/>
              </a:solidFill>
              <a:latin typeface="Lexend"/>
              <a:ea typeface="Lexend"/>
              <a:cs typeface="Lexend"/>
              <a:sym typeface="Lexend"/>
            </a:endParaRPr>
          </a:p>
        </p:txBody>
      </p:sp>
      <p:sp>
        <p:nvSpPr>
          <p:cNvPr id="968" name="Google Shape;968;p74"/>
          <p:cNvSpPr txBox="1"/>
          <p:nvPr/>
        </p:nvSpPr>
        <p:spPr>
          <a:xfrm>
            <a:off x="7753973" y="372537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B</a:t>
            </a:r>
            <a:endParaRPr sz="1400">
              <a:solidFill>
                <a:schemeClr val="dk1"/>
              </a:solidFill>
              <a:latin typeface="Lexend"/>
              <a:ea typeface="Lexend"/>
              <a:cs typeface="Lexend"/>
              <a:sym typeface="Lexend"/>
            </a:endParaRPr>
          </a:p>
        </p:txBody>
      </p:sp>
      <p:sp>
        <p:nvSpPr>
          <p:cNvPr id="969" name="Google Shape;969;p74"/>
          <p:cNvSpPr txBox="1"/>
          <p:nvPr/>
        </p:nvSpPr>
        <p:spPr>
          <a:xfrm>
            <a:off x="6703200" y="387132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6 cm</a:t>
            </a:r>
            <a:endParaRPr sz="1400">
              <a:solidFill>
                <a:schemeClr val="dk1"/>
              </a:solidFill>
              <a:latin typeface="Lexend"/>
              <a:ea typeface="Lexend"/>
              <a:cs typeface="Lexend"/>
              <a:sym typeface="Lexend"/>
            </a:endParaRPr>
          </a:p>
        </p:txBody>
      </p:sp>
      <p:sp>
        <p:nvSpPr>
          <p:cNvPr id="970" name="Google Shape;970;p74"/>
          <p:cNvSpPr txBox="1"/>
          <p:nvPr/>
        </p:nvSpPr>
        <p:spPr>
          <a:xfrm>
            <a:off x="5310149" y="2883125"/>
            <a:ext cx="485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cxnSp>
        <p:nvCxnSpPr>
          <p:cNvPr id="971" name="Google Shape;971;p74"/>
          <p:cNvCxnSpPr/>
          <p:nvPr/>
        </p:nvCxnSpPr>
        <p:spPr>
          <a:xfrm>
            <a:off x="5426630" y="3041452"/>
            <a:ext cx="681300" cy="829800"/>
          </a:xfrm>
          <a:prstGeom prst="straightConnector1">
            <a:avLst/>
          </a:prstGeom>
          <a:noFill/>
          <a:ln cap="flat" cmpd="sng" w="38100">
            <a:solidFill>
              <a:schemeClr val="dk1"/>
            </a:solidFill>
            <a:prstDash val="solid"/>
            <a:miter lim="800000"/>
            <a:headEnd len="sm" w="sm" type="none"/>
            <a:tailEnd len="sm" w="sm" type="none"/>
          </a:ln>
        </p:spPr>
      </p:cxnSp>
      <p:cxnSp>
        <p:nvCxnSpPr>
          <p:cNvPr id="972" name="Google Shape;972;p74"/>
          <p:cNvCxnSpPr/>
          <p:nvPr/>
        </p:nvCxnSpPr>
        <p:spPr>
          <a:xfrm>
            <a:off x="5426630" y="3041451"/>
            <a:ext cx="2293500" cy="829800"/>
          </a:xfrm>
          <a:prstGeom prst="straightConnector1">
            <a:avLst/>
          </a:prstGeom>
          <a:noFill/>
          <a:ln cap="flat" cmpd="sng" w="38100">
            <a:solidFill>
              <a:schemeClr val="dk1"/>
            </a:solidFill>
            <a:prstDash val="solid"/>
            <a:miter lim="800000"/>
            <a:headEnd len="sm" w="sm" type="none"/>
            <a:tailEnd len="sm" w="sm" type="none"/>
          </a:ln>
        </p:spPr>
      </p:cxnSp>
      <p:sp>
        <p:nvSpPr>
          <p:cNvPr id="973" name="Google Shape;973;p74"/>
          <p:cNvSpPr txBox="1"/>
          <p:nvPr/>
        </p:nvSpPr>
        <p:spPr>
          <a:xfrm>
            <a:off x="6500828" y="321052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9 cm</a:t>
            </a:r>
            <a:endParaRPr sz="1400">
              <a:solidFill>
                <a:schemeClr val="dk1"/>
              </a:solidFill>
              <a:latin typeface="Lexend"/>
              <a:ea typeface="Lexend"/>
              <a:cs typeface="Lexend"/>
              <a:sym typeface="Lexend"/>
            </a:endParaRPr>
          </a:p>
        </p:txBody>
      </p:sp>
      <p:sp>
        <p:nvSpPr>
          <p:cNvPr id="974" name="Google Shape;974;p74"/>
          <p:cNvSpPr txBox="1"/>
          <p:nvPr/>
        </p:nvSpPr>
        <p:spPr>
          <a:xfrm>
            <a:off x="5337102" y="3421250"/>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4 cm</a:t>
            </a:r>
            <a:endParaRPr sz="1400">
              <a:solidFill>
                <a:schemeClr val="dk1"/>
              </a:solidFill>
              <a:latin typeface="Lexend"/>
              <a:ea typeface="Lexend"/>
              <a:cs typeface="Lexend"/>
              <a:sym typeface="Lexend"/>
            </a:endParaRPr>
          </a:p>
        </p:txBody>
      </p:sp>
      <p:sp>
        <p:nvSpPr>
          <p:cNvPr id="975" name="Google Shape;975;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976" name="Google Shape;976;p74"/>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Lucas is attempting to </a:t>
            </a:r>
            <a:r>
              <a:rPr lang="en-GB" sz="1800">
                <a:solidFill>
                  <a:schemeClr val="accent4"/>
                </a:solidFill>
              </a:rPr>
              <a:t>construct</a:t>
            </a:r>
            <a:r>
              <a:rPr lang="en-GB" sz="1800"/>
              <a:t> this triangle with a ruler and pencil.</a:t>
            </a:r>
            <a:endParaRPr sz="1800"/>
          </a:p>
        </p:txBody>
      </p:sp>
      <p:grpSp>
        <p:nvGrpSpPr>
          <p:cNvPr id="977" name="Google Shape;977;p74"/>
          <p:cNvGrpSpPr/>
          <p:nvPr/>
        </p:nvGrpSpPr>
        <p:grpSpPr>
          <a:xfrm>
            <a:off x="534025" y="972750"/>
            <a:ext cx="3438125" cy="1770700"/>
            <a:chOff x="534025" y="972750"/>
            <a:chExt cx="3438125" cy="1770700"/>
          </a:xfrm>
        </p:grpSpPr>
        <p:pic>
          <p:nvPicPr>
            <p:cNvPr id="978" name="Google Shape;978;p74"/>
            <p:cNvPicPr preferRelativeResize="0"/>
            <p:nvPr/>
          </p:nvPicPr>
          <p:blipFill>
            <a:blip r:embed="rId3">
              <a:alphaModFix/>
            </a:blip>
            <a:stretch>
              <a:fillRect/>
            </a:stretch>
          </p:blipFill>
          <p:spPr>
            <a:xfrm>
              <a:off x="1009400" y="1293450"/>
              <a:ext cx="2603947" cy="866550"/>
            </a:xfrm>
            <a:prstGeom prst="rect">
              <a:avLst/>
            </a:prstGeom>
            <a:noFill/>
            <a:ln>
              <a:noFill/>
            </a:ln>
          </p:spPr>
        </p:pic>
        <p:sp>
          <p:nvSpPr>
            <p:cNvPr id="979" name="Google Shape;979;p74"/>
            <p:cNvSpPr txBox="1"/>
            <p:nvPr/>
          </p:nvSpPr>
          <p:spPr>
            <a:xfrm>
              <a:off x="1266350" y="20485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980" name="Google Shape;980;p74"/>
            <p:cNvSpPr txBox="1"/>
            <p:nvPr/>
          </p:nvSpPr>
          <p:spPr>
            <a:xfrm>
              <a:off x="3613350" y="19291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981" name="Google Shape;981;p74"/>
            <p:cNvSpPr txBox="1"/>
            <p:nvPr/>
          </p:nvSpPr>
          <p:spPr>
            <a:xfrm>
              <a:off x="736232" y="9727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982" name="Google Shape;982;p74"/>
            <p:cNvSpPr/>
            <p:nvPr/>
          </p:nvSpPr>
          <p:spPr>
            <a:xfrm>
              <a:off x="1095025" y="1225800"/>
              <a:ext cx="2518325" cy="801300"/>
            </a:xfrm>
            <a:custGeom>
              <a:rect b="b" l="l" r="r" t="t"/>
              <a:pathLst>
                <a:path extrusionOk="0" h="32052" w="100733">
                  <a:moveTo>
                    <a:pt x="0" y="0"/>
                  </a:moveTo>
                  <a:cubicBezTo>
                    <a:pt x="29117" y="6720"/>
                    <a:pt x="57732" y="15581"/>
                    <a:pt x="86081" y="25031"/>
                  </a:cubicBezTo>
                  <a:cubicBezTo>
                    <a:pt x="91219" y="26744"/>
                    <a:pt x="95597" y="30334"/>
                    <a:pt x="100733" y="32052"/>
                  </a:cubicBezTo>
                </a:path>
              </a:pathLst>
            </a:custGeom>
            <a:noFill/>
            <a:ln cap="flat" cmpd="sng" w="28575">
              <a:solidFill>
                <a:schemeClr val="dk1"/>
              </a:solidFill>
              <a:prstDash val="solid"/>
              <a:round/>
              <a:headEnd len="med" w="med" type="triangle"/>
              <a:tailEnd len="med" w="med" type="triangle"/>
            </a:ln>
          </p:spPr>
        </p:sp>
        <p:sp>
          <p:nvSpPr>
            <p:cNvPr id="983" name="Google Shape;983;p74"/>
            <p:cNvSpPr/>
            <p:nvPr/>
          </p:nvSpPr>
          <p:spPr>
            <a:xfrm>
              <a:off x="1632650" y="2251225"/>
              <a:ext cx="1915450" cy="30525"/>
            </a:xfrm>
            <a:custGeom>
              <a:rect b="b" l="l" r="r" t="t"/>
              <a:pathLst>
                <a:path extrusionOk="0" h="1221" w="76618">
                  <a:moveTo>
                    <a:pt x="0" y="1221"/>
                  </a:moveTo>
                  <a:cubicBezTo>
                    <a:pt x="25543" y="1221"/>
                    <a:pt x="51075" y="0"/>
                    <a:pt x="76618" y="0"/>
                  </a:cubicBezTo>
                </a:path>
              </a:pathLst>
            </a:custGeom>
            <a:noFill/>
            <a:ln cap="flat" cmpd="sng" w="28575">
              <a:solidFill>
                <a:schemeClr val="dk1"/>
              </a:solidFill>
              <a:prstDash val="solid"/>
              <a:round/>
              <a:headEnd len="med" w="med" type="triangle"/>
              <a:tailEnd len="med" w="med" type="triangle"/>
            </a:ln>
          </p:spPr>
        </p:sp>
        <p:sp>
          <p:nvSpPr>
            <p:cNvPr id="984" name="Google Shape;984;p74"/>
            <p:cNvSpPr/>
            <p:nvPr/>
          </p:nvSpPr>
          <p:spPr>
            <a:xfrm>
              <a:off x="915300" y="1358700"/>
              <a:ext cx="473150" cy="801300"/>
            </a:xfrm>
            <a:custGeom>
              <a:rect b="b" l="l" r="r" t="t"/>
              <a:pathLst>
                <a:path extrusionOk="0" h="32052" w="18926">
                  <a:moveTo>
                    <a:pt x="0" y="0"/>
                  </a:moveTo>
                  <a:cubicBezTo>
                    <a:pt x="8773" y="8773"/>
                    <a:pt x="10153" y="23279"/>
                    <a:pt x="18926" y="32052"/>
                  </a:cubicBezTo>
                </a:path>
              </a:pathLst>
            </a:custGeom>
            <a:noFill/>
            <a:ln cap="flat" cmpd="sng" w="28575">
              <a:solidFill>
                <a:schemeClr val="dk1"/>
              </a:solidFill>
              <a:prstDash val="solid"/>
              <a:round/>
              <a:headEnd len="med" w="med" type="triangle"/>
              <a:tailEnd len="med" w="med" type="triangle"/>
            </a:ln>
          </p:spPr>
        </p:sp>
        <p:sp>
          <p:nvSpPr>
            <p:cNvPr id="985" name="Google Shape;985;p74"/>
            <p:cNvSpPr txBox="1"/>
            <p:nvPr/>
          </p:nvSpPr>
          <p:spPr>
            <a:xfrm>
              <a:off x="2296575" y="11583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986" name="Google Shape;986;p74"/>
            <p:cNvSpPr txBox="1"/>
            <p:nvPr/>
          </p:nvSpPr>
          <p:spPr>
            <a:xfrm>
              <a:off x="534025" y="16200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987" name="Google Shape;987;p74"/>
            <p:cNvSpPr txBox="1"/>
            <p:nvPr/>
          </p:nvSpPr>
          <p:spPr>
            <a:xfrm>
              <a:off x="2237650" y="228175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sp>
        <p:nvSpPr>
          <p:cNvPr id="988" name="Google Shape;988;p74"/>
          <p:cNvSpPr txBox="1"/>
          <p:nvPr/>
        </p:nvSpPr>
        <p:spPr>
          <a:xfrm>
            <a:off x="324000" y="2870550"/>
            <a:ext cx="3087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He joins vertex C to the ends of the line segment AB to finish the construction.</a:t>
            </a:r>
            <a:endParaRPr sz="1800">
              <a:solidFill>
                <a:schemeClr val="dk1"/>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75"/>
          <p:cNvSpPr/>
          <p:nvPr/>
        </p:nvSpPr>
        <p:spPr>
          <a:xfrm>
            <a:off x="5307543" y="1373216"/>
            <a:ext cx="4971600" cy="4971600"/>
          </a:xfrm>
          <a:prstGeom prst="arc">
            <a:avLst>
              <a:gd fmla="val 9432536" name="adj1"/>
              <a:gd fmla="val 17646357" name="adj2"/>
            </a:avLst>
          </a:prstGeom>
          <a:no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94" name="Google Shape;994;p75"/>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95" name="Google Shape;995;p75"/>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96" name="Google Shape;996;p75"/>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97" name="Google Shape;997;p75"/>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98" name="Google Shape;998;p75"/>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999" name="Google Shape;999;p75"/>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sp>
        <p:nvSpPr>
          <p:cNvPr id="1000" name="Google Shape;1000;p75"/>
          <p:cNvSpPr txBox="1"/>
          <p:nvPr/>
        </p:nvSpPr>
        <p:spPr>
          <a:xfrm>
            <a:off x="5872333" y="3752654"/>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A</a:t>
            </a:r>
            <a:endParaRPr sz="1400">
              <a:solidFill>
                <a:schemeClr val="dk1"/>
              </a:solidFill>
              <a:latin typeface="Lexend"/>
              <a:ea typeface="Lexend"/>
              <a:cs typeface="Lexend"/>
              <a:sym typeface="Lexend"/>
            </a:endParaRPr>
          </a:p>
        </p:txBody>
      </p:sp>
      <p:sp>
        <p:nvSpPr>
          <p:cNvPr id="1001" name="Google Shape;1001;p75"/>
          <p:cNvSpPr txBox="1"/>
          <p:nvPr/>
        </p:nvSpPr>
        <p:spPr>
          <a:xfrm>
            <a:off x="7753973" y="372537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B</a:t>
            </a:r>
            <a:endParaRPr sz="1400">
              <a:solidFill>
                <a:schemeClr val="dk1"/>
              </a:solidFill>
              <a:latin typeface="Lexend"/>
              <a:ea typeface="Lexend"/>
              <a:cs typeface="Lexend"/>
              <a:sym typeface="Lexend"/>
            </a:endParaRPr>
          </a:p>
        </p:txBody>
      </p:sp>
      <p:sp>
        <p:nvSpPr>
          <p:cNvPr id="1002" name="Google Shape;1002;p75"/>
          <p:cNvSpPr txBox="1"/>
          <p:nvPr/>
        </p:nvSpPr>
        <p:spPr>
          <a:xfrm>
            <a:off x="6703002" y="387132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6 cm</a:t>
            </a:r>
            <a:endParaRPr sz="1400">
              <a:solidFill>
                <a:schemeClr val="dk1"/>
              </a:solidFill>
              <a:latin typeface="Lexend"/>
              <a:ea typeface="Lexend"/>
              <a:cs typeface="Lexend"/>
              <a:sym typeface="Lexend"/>
            </a:endParaRPr>
          </a:p>
        </p:txBody>
      </p:sp>
      <p:sp>
        <p:nvSpPr>
          <p:cNvPr id="1003" name="Google Shape;1003;p75"/>
          <p:cNvSpPr txBox="1"/>
          <p:nvPr/>
        </p:nvSpPr>
        <p:spPr>
          <a:xfrm>
            <a:off x="5310149" y="2883125"/>
            <a:ext cx="485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cxnSp>
        <p:nvCxnSpPr>
          <p:cNvPr id="1004" name="Google Shape;1004;p75"/>
          <p:cNvCxnSpPr/>
          <p:nvPr/>
        </p:nvCxnSpPr>
        <p:spPr>
          <a:xfrm>
            <a:off x="5426630" y="3041452"/>
            <a:ext cx="681300" cy="829800"/>
          </a:xfrm>
          <a:prstGeom prst="straightConnector1">
            <a:avLst/>
          </a:prstGeom>
          <a:noFill/>
          <a:ln cap="flat" cmpd="sng" w="38100">
            <a:solidFill>
              <a:schemeClr val="dk1"/>
            </a:solidFill>
            <a:prstDash val="solid"/>
            <a:miter lim="800000"/>
            <a:headEnd len="sm" w="sm" type="none"/>
            <a:tailEnd len="sm" w="sm" type="none"/>
          </a:ln>
        </p:spPr>
      </p:cxnSp>
      <p:cxnSp>
        <p:nvCxnSpPr>
          <p:cNvPr id="1005" name="Google Shape;1005;p75"/>
          <p:cNvCxnSpPr/>
          <p:nvPr/>
        </p:nvCxnSpPr>
        <p:spPr>
          <a:xfrm>
            <a:off x="5426630" y="3041451"/>
            <a:ext cx="2293500" cy="829800"/>
          </a:xfrm>
          <a:prstGeom prst="straightConnector1">
            <a:avLst/>
          </a:prstGeom>
          <a:noFill/>
          <a:ln cap="flat" cmpd="sng" w="38100">
            <a:solidFill>
              <a:schemeClr val="dk1"/>
            </a:solidFill>
            <a:prstDash val="solid"/>
            <a:miter lim="800000"/>
            <a:headEnd len="sm" w="sm" type="none"/>
            <a:tailEnd len="sm" w="sm" type="none"/>
          </a:ln>
        </p:spPr>
      </p:cxnSp>
      <p:sp>
        <p:nvSpPr>
          <p:cNvPr id="1006" name="Google Shape;1006;p75"/>
          <p:cNvSpPr txBox="1"/>
          <p:nvPr/>
        </p:nvSpPr>
        <p:spPr>
          <a:xfrm>
            <a:off x="6500828" y="321052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9 cm</a:t>
            </a:r>
            <a:endParaRPr sz="1400">
              <a:solidFill>
                <a:schemeClr val="dk1"/>
              </a:solidFill>
              <a:latin typeface="Lexend"/>
              <a:ea typeface="Lexend"/>
              <a:cs typeface="Lexend"/>
              <a:sym typeface="Lexend"/>
            </a:endParaRPr>
          </a:p>
        </p:txBody>
      </p:sp>
      <p:sp>
        <p:nvSpPr>
          <p:cNvPr id="1007" name="Google Shape;1007;p75"/>
          <p:cNvSpPr txBox="1"/>
          <p:nvPr/>
        </p:nvSpPr>
        <p:spPr>
          <a:xfrm>
            <a:off x="5337102" y="3421250"/>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4 cm</a:t>
            </a:r>
            <a:endParaRPr sz="1400">
              <a:solidFill>
                <a:schemeClr val="dk1"/>
              </a:solidFill>
              <a:latin typeface="Lexend"/>
              <a:ea typeface="Lexend"/>
              <a:cs typeface="Lexend"/>
              <a:sym typeface="Lexend"/>
            </a:endParaRPr>
          </a:p>
        </p:txBody>
      </p:sp>
      <p:sp>
        <p:nvSpPr>
          <p:cNvPr id="1008" name="Google Shape;1008;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009" name="Google Shape;1009;p75"/>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Lucas is attempting to </a:t>
            </a:r>
            <a:r>
              <a:rPr lang="en-GB" sz="1800">
                <a:solidFill>
                  <a:schemeClr val="accent4"/>
                </a:solidFill>
              </a:rPr>
              <a:t>construct</a:t>
            </a:r>
            <a:r>
              <a:rPr lang="en-GB" sz="1800"/>
              <a:t> this triangle with a ruler and pencil.</a:t>
            </a:r>
            <a:endParaRPr sz="1800"/>
          </a:p>
        </p:txBody>
      </p:sp>
      <p:grpSp>
        <p:nvGrpSpPr>
          <p:cNvPr id="1010" name="Google Shape;1010;p75"/>
          <p:cNvGrpSpPr/>
          <p:nvPr/>
        </p:nvGrpSpPr>
        <p:grpSpPr>
          <a:xfrm>
            <a:off x="534025" y="972750"/>
            <a:ext cx="3438125" cy="1770700"/>
            <a:chOff x="534025" y="972750"/>
            <a:chExt cx="3438125" cy="1770700"/>
          </a:xfrm>
        </p:grpSpPr>
        <p:pic>
          <p:nvPicPr>
            <p:cNvPr id="1011" name="Google Shape;1011;p75"/>
            <p:cNvPicPr preferRelativeResize="0"/>
            <p:nvPr/>
          </p:nvPicPr>
          <p:blipFill>
            <a:blip r:embed="rId3">
              <a:alphaModFix/>
            </a:blip>
            <a:stretch>
              <a:fillRect/>
            </a:stretch>
          </p:blipFill>
          <p:spPr>
            <a:xfrm>
              <a:off x="1009400" y="1293450"/>
              <a:ext cx="2603947" cy="866550"/>
            </a:xfrm>
            <a:prstGeom prst="rect">
              <a:avLst/>
            </a:prstGeom>
            <a:noFill/>
            <a:ln>
              <a:noFill/>
            </a:ln>
          </p:spPr>
        </p:pic>
        <p:sp>
          <p:nvSpPr>
            <p:cNvPr id="1012" name="Google Shape;1012;p75"/>
            <p:cNvSpPr txBox="1"/>
            <p:nvPr/>
          </p:nvSpPr>
          <p:spPr>
            <a:xfrm>
              <a:off x="1266350" y="20485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013" name="Google Shape;1013;p75"/>
            <p:cNvSpPr txBox="1"/>
            <p:nvPr/>
          </p:nvSpPr>
          <p:spPr>
            <a:xfrm>
              <a:off x="3613350" y="19291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014" name="Google Shape;1014;p75"/>
            <p:cNvSpPr txBox="1"/>
            <p:nvPr/>
          </p:nvSpPr>
          <p:spPr>
            <a:xfrm>
              <a:off x="736232" y="9727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015" name="Google Shape;1015;p75"/>
            <p:cNvSpPr/>
            <p:nvPr/>
          </p:nvSpPr>
          <p:spPr>
            <a:xfrm>
              <a:off x="1095025" y="1225800"/>
              <a:ext cx="2518325" cy="801300"/>
            </a:xfrm>
            <a:custGeom>
              <a:rect b="b" l="l" r="r" t="t"/>
              <a:pathLst>
                <a:path extrusionOk="0" h="32052" w="100733">
                  <a:moveTo>
                    <a:pt x="0" y="0"/>
                  </a:moveTo>
                  <a:cubicBezTo>
                    <a:pt x="29117" y="6720"/>
                    <a:pt x="57732" y="15581"/>
                    <a:pt x="86081" y="25031"/>
                  </a:cubicBezTo>
                  <a:cubicBezTo>
                    <a:pt x="91219" y="26744"/>
                    <a:pt x="95597" y="30334"/>
                    <a:pt x="100733" y="32052"/>
                  </a:cubicBezTo>
                </a:path>
              </a:pathLst>
            </a:custGeom>
            <a:noFill/>
            <a:ln cap="flat" cmpd="sng" w="28575">
              <a:solidFill>
                <a:schemeClr val="dk1"/>
              </a:solidFill>
              <a:prstDash val="solid"/>
              <a:round/>
              <a:headEnd len="med" w="med" type="triangle"/>
              <a:tailEnd len="med" w="med" type="triangle"/>
            </a:ln>
          </p:spPr>
        </p:sp>
        <p:sp>
          <p:nvSpPr>
            <p:cNvPr id="1016" name="Google Shape;1016;p75"/>
            <p:cNvSpPr/>
            <p:nvPr/>
          </p:nvSpPr>
          <p:spPr>
            <a:xfrm>
              <a:off x="1632650" y="2251225"/>
              <a:ext cx="1915450" cy="30525"/>
            </a:xfrm>
            <a:custGeom>
              <a:rect b="b" l="l" r="r" t="t"/>
              <a:pathLst>
                <a:path extrusionOk="0" h="1221" w="76618">
                  <a:moveTo>
                    <a:pt x="0" y="1221"/>
                  </a:moveTo>
                  <a:cubicBezTo>
                    <a:pt x="25543" y="1221"/>
                    <a:pt x="51075" y="0"/>
                    <a:pt x="76618" y="0"/>
                  </a:cubicBezTo>
                </a:path>
              </a:pathLst>
            </a:custGeom>
            <a:noFill/>
            <a:ln cap="flat" cmpd="sng" w="28575">
              <a:solidFill>
                <a:schemeClr val="dk1"/>
              </a:solidFill>
              <a:prstDash val="solid"/>
              <a:round/>
              <a:headEnd len="med" w="med" type="triangle"/>
              <a:tailEnd len="med" w="med" type="triangle"/>
            </a:ln>
          </p:spPr>
        </p:sp>
        <p:sp>
          <p:nvSpPr>
            <p:cNvPr id="1017" name="Google Shape;1017;p75"/>
            <p:cNvSpPr/>
            <p:nvPr/>
          </p:nvSpPr>
          <p:spPr>
            <a:xfrm>
              <a:off x="915300" y="1358700"/>
              <a:ext cx="473150" cy="801300"/>
            </a:xfrm>
            <a:custGeom>
              <a:rect b="b" l="l" r="r" t="t"/>
              <a:pathLst>
                <a:path extrusionOk="0" h="32052" w="18926">
                  <a:moveTo>
                    <a:pt x="0" y="0"/>
                  </a:moveTo>
                  <a:cubicBezTo>
                    <a:pt x="8773" y="8773"/>
                    <a:pt x="10153" y="23279"/>
                    <a:pt x="18926" y="32052"/>
                  </a:cubicBezTo>
                </a:path>
              </a:pathLst>
            </a:custGeom>
            <a:noFill/>
            <a:ln cap="flat" cmpd="sng" w="28575">
              <a:solidFill>
                <a:schemeClr val="dk1"/>
              </a:solidFill>
              <a:prstDash val="solid"/>
              <a:round/>
              <a:headEnd len="med" w="med" type="triangle"/>
              <a:tailEnd len="med" w="med" type="triangle"/>
            </a:ln>
          </p:spPr>
        </p:sp>
        <p:sp>
          <p:nvSpPr>
            <p:cNvPr id="1018" name="Google Shape;1018;p75"/>
            <p:cNvSpPr txBox="1"/>
            <p:nvPr/>
          </p:nvSpPr>
          <p:spPr>
            <a:xfrm>
              <a:off x="2296575" y="11583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019" name="Google Shape;1019;p75"/>
            <p:cNvSpPr txBox="1"/>
            <p:nvPr/>
          </p:nvSpPr>
          <p:spPr>
            <a:xfrm>
              <a:off x="534025" y="16200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1020" name="Google Shape;1020;p75"/>
            <p:cNvSpPr txBox="1"/>
            <p:nvPr/>
          </p:nvSpPr>
          <p:spPr>
            <a:xfrm>
              <a:off x="2237650" y="228175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sp>
        <p:nvSpPr>
          <p:cNvPr id="1021" name="Google Shape;1021;p75"/>
          <p:cNvSpPr txBox="1"/>
          <p:nvPr/>
        </p:nvSpPr>
        <p:spPr>
          <a:xfrm>
            <a:off x="5440500" y="2600000"/>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1022" name="Google Shape;1022;p75"/>
          <p:cNvSpPr txBox="1"/>
          <p:nvPr/>
        </p:nvSpPr>
        <p:spPr>
          <a:xfrm>
            <a:off x="5440500" y="2600000"/>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1023" name="Google Shape;1023;p75"/>
          <p:cNvSpPr txBox="1"/>
          <p:nvPr/>
        </p:nvSpPr>
        <p:spPr>
          <a:xfrm>
            <a:off x="5570027" y="2374700"/>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1024" name="Google Shape;1024;p75"/>
          <p:cNvSpPr txBox="1"/>
          <p:nvPr/>
        </p:nvSpPr>
        <p:spPr>
          <a:xfrm>
            <a:off x="5570027" y="2374700"/>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1025" name="Google Shape;1025;p75"/>
          <p:cNvSpPr txBox="1"/>
          <p:nvPr/>
        </p:nvSpPr>
        <p:spPr>
          <a:xfrm>
            <a:off x="5770395" y="2101096"/>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sp>
        <p:nvSpPr>
          <p:cNvPr id="1026" name="Google Shape;1026;p75"/>
          <p:cNvSpPr txBox="1"/>
          <p:nvPr/>
        </p:nvSpPr>
        <p:spPr>
          <a:xfrm>
            <a:off x="5770394" y="2100996"/>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cxnSp>
        <p:nvCxnSpPr>
          <p:cNvPr id="1027" name="Google Shape;1027;p75"/>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28" name="Google Shape;1028;p75"/>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29" name="Google Shape;1029;p75"/>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30" name="Google Shape;1030;p75"/>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31" name="Google Shape;1031;p75"/>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32" name="Google Shape;1032;p75"/>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sp>
        <p:nvSpPr>
          <p:cNvPr id="1033" name="Google Shape;1033;p75"/>
          <p:cNvSpPr txBox="1"/>
          <p:nvPr/>
        </p:nvSpPr>
        <p:spPr>
          <a:xfrm>
            <a:off x="5359601" y="2762325"/>
            <a:ext cx="4749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1034" name="Google Shape;1034;p75"/>
          <p:cNvSpPr txBox="1"/>
          <p:nvPr/>
        </p:nvSpPr>
        <p:spPr>
          <a:xfrm>
            <a:off x="5280767" y="3006942"/>
            <a:ext cx="4227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1035" name="Google Shape;1035;p75"/>
          <p:cNvSpPr txBox="1"/>
          <p:nvPr/>
        </p:nvSpPr>
        <p:spPr>
          <a:xfrm>
            <a:off x="5201500" y="3349550"/>
            <a:ext cx="49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1036" name="Google Shape;1036;p75"/>
          <p:cNvSpPr txBox="1"/>
          <p:nvPr/>
        </p:nvSpPr>
        <p:spPr>
          <a:xfrm>
            <a:off x="5232469" y="3161225"/>
            <a:ext cx="49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rgbClr val="757070"/>
                </a:solidFill>
                <a:latin typeface="Lexend"/>
                <a:ea typeface="Lexend"/>
                <a:cs typeface="Lexend"/>
                <a:sym typeface="Lexend"/>
              </a:rPr>
              <a:t>x C</a:t>
            </a:r>
            <a:endParaRPr sz="1400">
              <a:solidFill>
                <a:srgbClr val="757070"/>
              </a:solidFill>
              <a:latin typeface="Lexend"/>
              <a:ea typeface="Lexend"/>
              <a:cs typeface="Lexend"/>
              <a:sym typeface="Lexend"/>
            </a:endParaRPr>
          </a:p>
        </p:txBody>
      </p:sp>
      <p:sp>
        <p:nvSpPr>
          <p:cNvPr id="1037" name="Google Shape;1037;p75"/>
          <p:cNvSpPr txBox="1"/>
          <p:nvPr/>
        </p:nvSpPr>
        <p:spPr>
          <a:xfrm>
            <a:off x="5315846" y="2883125"/>
            <a:ext cx="65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pic>
        <p:nvPicPr>
          <p:cNvPr id="1038" name="Google Shape;1038;p75"/>
          <p:cNvPicPr preferRelativeResize="0"/>
          <p:nvPr/>
        </p:nvPicPr>
        <p:blipFill>
          <a:blip r:embed="rId4">
            <a:alphaModFix/>
          </a:blip>
          <a:stretch>
            <a:fillRect/>
          </a:stretch>
        </p:blipFill>
        <p:spPr>
          <a:xfrm>
            <a:off x="501696" y="3794213"/>
            <a:ext cx="798316" cy="896106"/>
          </a:xfrm>
          <a:prstGeom prst="rect">
            <a:avLst/>
          </a:prstGeom>
          <a:noFill/>
          <a:ln>
            <a:noFill/>
          </a:ln>
        </p:spPr>
      </p:pic>
      <p:pic>
        <p:nvPicPr>
          <p:cNvPr id="1039" name="Google Shape;1039;p75"/>
          <p:cNvPicPr preferRelativeResize="0"/>
          <p:nvPr/>
        </p:nvPicPr>
        <p:blipFill rotWithShape="1">
          <a:blip r:embed="rId5">
            <a:alphaModFix/>
          </a:blip>
          <a:srcRect b="0" l="0" r="69082" t="56280"/>
          <a:stretch/>
        </p:blipFill>
        <p:spPr>
          <a:xfrm flipH="1">
            <a:off x="1300003" y="2694750"/>
            <a:ext cx="3101972" cy="1876151"/>
          </a:xfrm>
          <a:prstGeom prst="rect">
            <a:avLst/>
          </a:prstGeom>
          <a:noFill/>
          <a:ln>
            <a:noFill/>
          </a:ln>
        </p:spPr>
      </p:pic>
      <p:sp>
        <p:nvSpPr>
          <p:cNvPr id="1040" name="Google Shape;1040;p75"/>
          <p:cNvSpPr txBox="1"/>
          <p:nvPr/>
        </p:nvSpPr>
        <p:spPr>
          <a:xfrm>
            <a:off x="1438900" y="2773625"/>
            <a:ext cx="2881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My attempts have created an arc,</a:t>
            </a:r>
            <a:endParaRPr sz="1800">
              <a:solidFill>
                <a:schemeClr val="dk1"/>
              </a:solidFill>
              <a:latin typeface="Lexend"/>
              <a:ea typeface="Lexend"/>
              <a:cs typeface="Lexend"/>
              <a:sym typeface="Lexend"/>
            </a:endParaRPr>
          </a:p>
        </p:txBody>
      </p:sp>
      <p:sp>
        <p:nvSpPr>
          <p:cNvPr id="1041" name="Google Shape;1041;p75"/>
          <p:cNvSpPr txBox="1"/>
          <p:nvPr/>
        </p:nvSpPr>
        <p:spPr>
          <a:xfrm>
            <a:off x="1438900" y="3307025"/>
            <a:ext cx="2881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a:t>
            </a:r>
            <a:r>
              <a:rPr lang="en-GB" sz="1800">
                <a:solidFill>
                  <a:schemeClr val="dk1"/>
                </a:solidFill>
                <a:latin typeface="Lexend"/>
                <a:ea typeface="Lexend"/>
                <a:cs typeface="Lexend"/>
                <a:sym typeface="Lexend"/>
              </a:rPr>
              <a:t>hich makes sense as they are all a fixed distance from B.</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76"/>
          <p:cNvSpPr/>
          <p:nvPr/>
        </p:nvSpPr>
        <p:spPr>
          <a:xfrm>
            <a:off x="5307543" y="1373216"/>
            <a:ext cx="4971600" cy="4971600"/>
          </a:xfrm>
          <a:prstGeom prst="arc">
            <a:avLst>
              <a:gd fmla="val 9432536" name="adj1"/>
              <a:gd fmla="val 17646357" name="adj2"/>
            </a:avLst>
          </a:prstGeom>
          <a:no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7" name="Google Shape;1047;p76"/>
          <p:cNvSpPr/>
          <p:nvPr/>
        </p:nvSpPr>
        <p:spPr>
          <a:xfrm>
            <a:off x="5080275" y="2797900"/>
            <a:ext cx="2025600" cy="2025600"/>
          </a:xfrm>
          <a:prstGeom prst="ellipse">
            <a:avLst/>
          </a:prstGeom>
          <a:no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48" name="Google Shape;1048;p76"/>
          <p:cNvPicPr preferRelativeResize="0"/>
          <p:nvPr/>
        </p:nvPicPr>
        <p:blipFill rotWithShape="1">
          <a:blip r:embed="rId3">
            <a:alphaModFix/>
          </a:blip>
          <a:srcRect b="43690" l="0" r="57905" t="0"/>
          <a:stretch/>
        </p:blipFill>
        <p:spPr>
          <a:xfrm flipH="1">
            <a:off x="1277100" y="2820800"/>
            <a:ext cx="3546900" cy="1460350"/>
          </a:xfrm>
          <a:prstGeom prst="rect">
            <a:avLst/>
          </a:prstGeom>
          <a:noFill/>
          <a:ln>
            <a:noFill/>
          </a:ln>
        </p:spPr>
      </p:pic>
      <p:sp>
        <p:nvSpPr>
          <p:cNvPr id="1049" name="Google Shape;1049;p76"/>
          <p:cNvSpPr txBox="1"/>
          <p:nvPr/>
        </p:nvSpPr>
        <p:spPr>
          <a:xfrm>
            <a:off x="1438900" y="2773625"/>
            <a:ext cx="3438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Another circle from A shows the location of point C. Although, I think there is somewhere else it could go?</a:t>
            </a:r>
            <a:endParaRPr sz="1800">
              <a:solidFill>
                <a:schemeClr val="dk1"/>
              </a:solidFill>
              <a:latin typeface="Lexend"/>
              <a:ea typeface="Lexend"/>
              <a:cs typeface="Lexend"/>
              <a:sym typeface="Lexend"/>
            </a:endParaRPr>
          </a:p>
        </p:txBody>
      </p:sp>
      <p:cxnSp>
        <p:nvCxnSpPr>
          <p:cNvPr id="1050" name="Google Shape;1050;p76"/>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51" name="Google Shape;1051;p76"/>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52" name="Google Shape;1052;p76"/>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53" name="Google Shape;1053;p76"/>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54" name="Google Shape;1054;p76"/>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55" name="Google Shape;1055;p76"/>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sp>
        <p:nvSpPr>
          <p:cNvPr id="1056" name="Google Shape;1056;p76"/>
          <p:cNvSpPr txBox="1"/>
          <p:nvPr/>
        </p:nvSpPr>
        <p:spPr>
          <a:xfrm>
            <a:off x="5872333" y="3752654"/>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A</a:t>
            </a:r>
            <a:endParaRPr sz="1400">
              <a:solidFill>
                <a:schemeClr val="dk1"/>
              </a:solidFill>
              <a:latin typeface="Lexend"/>
              <a:ea typeface="Lexend"/>
              <a:cs typeface="Lexend"/>
              <a:sym typeface="Lexend"/>
            </a:endParaRPr>
          </a:p>
        </p:txBody>
      </p:sp>
      <p:sp>
        <p:nvSpPr>
          <p:cNvPr id="1057" name="Google Shape;1057;p76"/>
          <p:cNvSpPr txBox="1"/>
          <p:nvPr/>
        </p:nvSpPr>
        <p:spPr>
          <a:xfrm>
            <a:off x="7753973" y="372537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B</a:t>
            </a:r>
            <a:endParaRPr sz="1400">
              <a:solidFill>
                <a:schemeClr val="dk1"/>
              </a:solidFill>
              <a:latin typeface="Lexend"/>
              <a:ea typeface="Lexend"/>
              <a:cs typeface="Lexend"/>
              <a:sym typeface="Lexend"/>
            </a:endParaRPr>
          </a:p>
        </p:txBody>
      </p:sp>
      <p:sp>
        <p:nvSpPr>
          <p:cNvPr id="1058" name="Google Shape;1058;p76"/>
          <p:cNvSpPr txBox="1"/>
          <p:nvPr/>
        </p:nvSpPr>
        <p:spPr>
          <a:xfrm>
            <a:off x="6703002" y="387132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6 cm</a:t>
            </a:r>
            <a:endParaRPr sz="1400">
              <a:solidFill>
                <a:schemeClr val="dk1"/>
              </a:solidFill>
              <a:latin typeface="Lexend"/>
              <a:ea typeface="Lexend"/>
              <a:cs typeface="Lexend"/>
              <a:sym typeface="Lexend"/>
            </a:endParaRPr>
          </a:p>
        </p:txBody>
      </p:sp>
      <p:sp>
        <p:nvSpPr>
          <p:cNvPr id="1059" name="Google Shape;1059;p76"/>
          <p:cNvSpPr txBox="1"/>
          <p:nvPr/>
        </p:nvSpPr>
        <p:spPr>
          <a:xfrm>
            <a:off x="5310149" y="2883125"/>
            <a:ext cx="485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cxnSp>
        <p:nvCxnSpPr>
          <p:cNvPr id="1060" name="Google Shape;1060;p76"/>
          <p:cNvCxnSpPr/>
          <p:nvPr/>
        </p:nvCxnSpPr>
        <p:spPr>
          <a:xfrm>
            <a:off x="5426630" y="3041452"/>
            <a:ext cx="681300" cy="829800"/>
          </a:xfrm>
          <a:prstGeom prst="straightConnector1">
            <a:avLst/>
          </a:prstGeom>
          <a:noFill/>
          <a:ln cap="flat" cmpd="sng" w="38100">
            <a:solidFill>
              <a:schemeClr val="dk1"/>
            </a:solidFill>
            <a:prstDash val="solid"/>
            <a:miter lim="800000"/>
            <a:headEnd len="sm" w="sm" type="none"/>
            <a:tailEnd len="sm" w="sm" type="none"/>
          </a:ln>
        </p:spPr>
      </p:cxnSp>
      <p:cxnSp>
        <p:nvCxnSpPr>
          <p:cNvPr id="1061" name="Google Shape;1061;p76"/>
          <p:cNvCxnSpPr/>
          <p:nvPr/>
        </p:nvCxnSpPr>
        <p:spPr>
          <a:xfrm>
            <a:off x="5426630" y="3041451"/>
            <a:ext cx="2293500" cy="829800"/>
          </a:xfrm>
          <a:prstGeom prst="straightConnector1">
            <a:avLst/>
          </a:prstGeom>
          <a:noFill/>
          <a:ln cap="flat" cmpd="sng" w="38100">
            <a:solidFill>
              <a:schemeClr val="dk1"/>
            </a:solidFill>
            <a:prstDash val="solid"/>
            <a:miter lim="800000"/>
            <a:headEnd len="sm" w="sm" type="none"/>
            <a:tailEnd len="sm" w="sm" type="none"/>
          </a:ln>
        </p:spPr>
      </p:cxnSp>
      <p:sp>
        <p:nvSpPr>
          <p:cNvPr id="1062" name="Google Shape;1062;p76"/>
          <p:cNvSpPr txBox="1"/>
          <p:nvPr/>
        </p:nvSpPr>
        <p:spPr>
          <a:xfrm>
            <a:off x="6500828" y="321052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9 cm</a:t>
            </a:r>
            <a:endParaRPr sz="1400">
              <a:solidFill>
                <a:schemeClr val="dk1"/>
              </a:solidFill>
              <a:latin typeface="Lexend"/>
              <a:ea typeface="Lexend"/>
              <a:cs typeface="Lexend"/>
              <a:sym typeface="Lexend"/>
            </a:endParaRPr>
          </a:p>
        </p:txBody>
      </p:sp>
      <p:sp>
        <p:nvSpPr>
          <p:cNvPr id="1063" name="Google Shape;1063;p76"/>
          <p:cNvSpPr txBox="1"/>
          <p:nvPr/>
        </p:nvSpPr>
        <p:spPr>
          <a:xfrm>
            <a:off x="5337102" y="3421250"/>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4 cm</a:t>
            </a:r>
            <a:endParaRPr sz="1400">
              <a:solidFill>
                <a:schemeClr val="dk1"/>
              </a:solidFill>
              <a:latin typeface="Lexend"/>
              <a:ea typeface="Lexend"/>
              <a:cs typeface="Lexend"/>
              <a:sym typeface="Lexend"/>
            </a:endParaRPr>
          </a:p>
        </p:txBody>
      </p:sp>
      <p:sp>
        <p:nvSpPr>
          <p:cNvPr id="1064" name="Google Shape;1064;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065" name="Google Shape;1065;p76"/>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Lucas is attempting to </a:t>
            </a:r>
            <a:r>
              <a:rPr lang="en-GB" sz="1800">
                <a:solidFill>
                  <a:schemeClr val="accent4"/>
                </a:solidFill>
              </a:rPr>
              <a:t>construct</a:t>
            </a:r>
            <a:r>
              <a:rPr lang="en-GB" sz="1800"/>
              <a:t> this triangle with a ruler and pencil.</a:t>
            </a:r>
            <a:endParaRPr sz="1800"/>
          </a:p>
        </p:txBody>
      </p:sp>
      <p:grpSp>
        <p:nvGrpSpPr>
          <p:cNvPr id="1066" name="Google Shape;1066;p76"/>
          <p:cNvGrpSpPr/>
          <p:nvPr/>
        </p:nvGrpSpPr>
        <p:grpSpPr>
          <a:xfrm>
            <a:off x="534025" y="972750"/>
            <a:ext cx="3438125" cy="1770700"/>
            <a:chOff x="534025" y="972750"/>
            <a:chExt cx="3438125" cy="1770700"/>
          </a:xfrm>
        </p:grpSpPr>
        <p:pic>
          <p:nvPicPr>
            <p:cNvPr id="1067" name="Google Shape;1067;p76"/>
            <p:cNvPicPr preferRelativeResize="0"/>
            <p:nvPr/>
          </p:nvPicPr>
          <p:blipFill>
            <a:blip r:embed="rId4">
              <a:alphaModFix/>
            </a:blip>
            <a:stretch>
              <a:fillRect/>
            </a:stretch>
          </p:blipFill>
          <p:spPr>
            <a:xfrm>
              <a:off x="1009400" y="1293450"/>
              <a:ext cx="2603947" cy="866550"/>
            </a:xfrm>
            <a:prstGeom prst="rect">
              <a:avLst/>
            </a:prstGeom>
            <a:noFill/>
            <a:ln>
              <a:noFill/>
            </a:ln>
          </p:spPr>
        </p:pic>
        <p:sp>
          <p:nvSpPr>
            <p:cNvPr id="1068" name="Google Shape;1068;p76"/>
            <p:cNvSpPr txBox="1"/>
            <p:nvPr/>
          </p:nvSpPr>
          <p:spPr>
            <a:xfrm>
              <a:off x="1266350" y="20485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069" name="Google Shape;1069;p76"/>
            <p:cNvSpPr txBox="1"/>
            <p:nvPr/>
          </p:nvSpPr>
          <p:spPr>
            <a:xfrm>
              <a:off x="3613350" y="19291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070" name="Google Shape;1070;p76"/>
            <p:cNvSpPr txBox="1"/>
            <p:nvPr/>
          </p:nvSpPr>
          <p:spPr>
            <a:xfrm>
              <a:off x="736232" y="9727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071" name="Google Shape;1071;p76"/>
            <p:cNvSpPr/>
            <p:nvPr/>
          </p:nvSpPr>
          <p:spPr>
            <a:xfrm>
              <a:off x="1095025" y="1225800"/>
              <a:ext cx="2518325" cy="801300"/>
            </a:xfrm>
            <a:custGeom>
              <a:rect b="b" l="l" r="r" t="t"/>
              <a:pathLst>
                <a:path extrusionOk="0" h="32052" w="100733">
                  <a:moveTo>
                    <a:pt x="0" y="0"/>
                  </a:moveTo>
                  <a:cubicBezTo>
                    <a:pt x="29117" y="6720"/>
                    <a:pt x="57732" y="15581"/>
                    <a:pt x="86081" y="25031"/>
                  </a:cubicBezTo>
                  <a:cubicBezTo>
                    <a:pt x="91219" y="26744"/>
                    <a:pt x="95597" y="30334"/>
                    <a:pt x="100733" y="32052"/>
                  </a:cubicBezTo>
                </a:path>
              </a:pathLst>
            </a:custGeom>
            <a:noFill/>
            <a:ln cap="flat" cmpd="sng" w="28575">
              <a:solidFill>
                <a:schemeClr val="dk1"/>
              </a:solidFill>
              <a:prstDash val="solid"/>
              <a:round/>
              <a:headEnd len="med" w="med" type="triangle"/>
              <a:tailEnd len="med" w="med" type="triangle"/>
            </a:ln>
          </p:spPr>
        </p:sp>
        <p:sp>
          <p:nvSpPr>
            <p:cNvPr id="1072" name="Google Shape;1072;p76"/>
            <p:cNvSpPr/>
            <p:nvPr/>
          </p:nvSpPr>
          <p:spPr>
            <a:xfrm>
              <a:off x="1632650" y="2251225"/>
              <a:ext cx="1915450" cy="30525"/>
            </a:xfrm>
            <a:custGeom>
              <a:rect b="b" l="l" r="r" t="t"/>
              <a:pathLst>
                <a:path extrusionOk="0" h="1221" w="76618">
                  <a:moveTo>
                    <a:pt x="0" y="1221"/>
                  </a:moveTo>
                  <a:cubicBezTo>
                    <a:pt x="25543" y="1221"/>
                    <a:pt x="51075" y="0"/>
                    <a:pt x="76618" y="0"/>
                  </a:cubicBezTo>
                </a:path>
              </a:pathLst>
            </a:custGeom>
            <a:noFill/>
            <a:ln cap="flat" cmpd="sng" w="28575">
              <a:solidFill>
                <a:schemeClr val="dk1"/>
              </a:solidFill>
              <a:prstDash val="solid"/>
              <a:round/>
              <a:headEnd len="med" w="med" type="triangle"/>
              <a:tailEnd len="med" w="med" type="triangle"/>
            </a:ln>
          </p:spPr>
        </p:sp>
        <p:sp>
          <p:nvSpPr>
            <p:cNvPr id="1073" name="Google Shape;1073;p76"/>
            <p:cNvSpPr/>
            <p:nvPr/>
          </p:nvSpPr>
          <p:spPr>
            <a:xfrm>
              <a:off x="915300" y="1358700"/>
              <a:ext cx="473150" cy="801300"/>
            </a:xfrm>
            <a:custGeom>
              <a:rect b="b" l="l" r="r" t="t"/>
              <a:pathLst>
                <a:path extrusionOk="0" h="32052" w="18926">
                  <a:moveTo>
                    <a:pt x="0" y="0"/>
                  </a:moveTo>
                  <a:cubicBezTo>
                    <a:pt x="8773" y="8773"/>
                    <a:pt x="10153" y="23279"/>
                    <a:pt x="18926" y="32052"/>
                  </a:cubicBezTo>
                </a:path>
              </a:pathLst>
            </a:custGeom>
            <a:noFill/>
            <a:ln cap="flat" cmpd="sng" w="28575">
              <a:solidFill>
                <a:schemeClr val="dk1"/>
              </a:solidFill>
              <a:prstDash val="solid"/>
              <a:round/>
              <a:headEnd len="med" w="med" type="triangle"/>
              <a:tailEnd len="med" w="med" type="triangle"/>
            </a:ln>
          </p:spPr>
        </p:sp>
        <p:sp>
          <p:nvSpPr>
            <p:cNvPr id="1074" name="Google Shape;1074;p76"/>
            <p:cNvSpPr txBox="1"/>
            <p:nvPr/>
          </p:nvSpPr>
          <p:spPr>
            <a:xfrm>
              <a:off x="2296575" y="11583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075" name="Google Shape;1075;p76"/>
            <p:cNvSpPr txBox="1"/>
            <p:nvPr/>
          </p:nvSpPr>
          <p:spPr>
            <a:xfrm>
              <a:off x="534025" y="16200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1076" name="Google Shape;1076;p76"/>
            <p:cNvSpPr txBox="1"/>
            <p:nvPr/>
          </p:nvSpPr>
          <p:spPr>
            <a:xfrm>
              <a:off x="2237650" y="228175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cxnSp>
        <p:nvCxnSpPr>
          <p:cNvPr id="1077" name="Google Shape;1077;p76"/>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78" name="Google Shape;1078;p76"/>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79" name="Google Shape;1079;p76"/>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80" name="Google Shape;1080;p76"/>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81" name="Google Shape;1081;p76"/>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82" name="Google Shape;1082;p76"/>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pic>
        <p:nvPicPr>
          <p:cNvPr id="1083" name="Google Shape;1083;p76"/>
          <p:cNvPicPr preferRelativeResize="0"/>
          <p:nvPr/>
        </p:nvPicPr>
        <p:blipFill>
          <a:blip r:embed="rId5">
            <a:alphaModFix/>
          </a:blip>
          <a:stretch>
            <a:fillRect/>
          </a:stretch>
        </p:blipFill>
        <p:spPr>
          <a:xfrm>
            <a:off x="501696" y="3565613"/>
            <a:ext cx="798316" cy="896106"/>
          </a:xfrm>
          <a:prstGeom prst="rect">
            <a:avLst/>
          </a:prstGeom>
          <a:noFill/>
          <a:ln>
            <a:noFill/>
          </a:ln>
        </p:spPr>
      </p:pic>
      <p:sp>
        <p:nvSpPr>
          <p:cNvPr id="1084" name="Google Shape;1084;p76"/>
          <p:cNvSpPr txBox="1"/>
          <p:nvPr/>
        </p:nvSpPr>
        <p:spPr>
          <a:xfrm>
            <a:off x="5270171" y="4376600"/>
            <a:ext cx="65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cxnSp>
        <p:nvCxnSpPr>
          <p:cNvPr id="1085" name="Google Shape;1085;p76"/>
          <p:cNvCxnSpPr/>
          <p:nvPr/>
        </p:nvCxnSpPr>
        <p:spPr>
          <a:xfrm flipH="1" rot="10800000">
            <a:off x="5393450" y="3873675"/>
            <a:ext cx="709800" cy="657600"/>
          </a:xfrm>
          <a:prstGeom prst="straightConnector1">
            <a:avLst/>
          </a:prstGeom>
          <a:noFill/>
          <a:ln cap="flat" cmpd="sng" w="38100">
            <a:solidFill>
              <a:schemeClr val="dk1"/>
            </a:solidFill>
            <a:prstDash val="solid"/>
            <a:round/>
            <a:headEnd len="med" w="med" type="none"/>
            <a:tailEnd len="med" w="med" type="none"/>
          </a:ln>
        </p:spPr>
      </p:cxnSp>
      <p:cxnSp>
        <p:nvCxnSpPr>
          <p:cNvPr id="1086" name="Google Shape;1086;p76"/>
          <p:cNvCxnSpPr/>
          <p:nvPr/>
        </p:nvCxnSpPr>
        <p:spPr>
          <a:xfrm flipH="1" rot="10800000">
            <a:off x="5395373" y="3874029"/>
            <a:ext cx="2330700" cy="665700"/>
          </a:xfrm>
          <a:prstGeom prst="straightConnector1">
            <a:avLst/>
          </a:prstGeom>
          <a:noFill/>
          <a:ln cap="flat" cmpd="sng" w="38100">
            <a:solidFill>
              <a:schemeClr val="dk1"/>
            </a:solidFill>
            <a:prstDash val="solid"/>
            <a:round/>
            <a:headEnd len="med" w="med" type="none"/>
            <a:tailEnd len="med" w="med" type="none"/>
          </a:ln>
        </p:spPr>
      </p:cxnSp>
      <p:sp>
        <p:nvSpPr>
          <p:cNvPr id="1087" name="Google Shape;1087;p76"/>
          <p:cNvSpPr txBox="1"/>
          <p:nvPr/>
        </p:nvSpPr>
        <p:spPr>
          <a:xfrm>
            <a:off x="5302527" y="3898913"/>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4 cm</a:t>
            </a:r>
            <a:endParaRPr sz="1400">
              <a:solidFill>
                <a:schemeClr val="dk1"/>
              </a:solidFill>
              <a:latin typeface="Lexend"/>
              <a:ea typeface="Lexend"/>
              <a:cs typeface="Lexend"/>
              <a:sym typeface="Lexend"/>
            </a:endParaRPr>
          </a:p>
        </p:txBody>
      </p:sp>
      <p:sp>
        <p:nvSpPr>
          <p:cNvPr id="1088" name="Google Shape;1088;p76"/>
          <p:cNvSpPr txBox="1"/>
          <p:nvPr/>
        </p:nvSpPr>
        <p:spPr>
          <a:xfrm>
            <a:off x="6362703" y="424657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9 cm</a:t>
            </a:r>
            <a:endParaRPr sz="14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77"/>
          <p:cNvSpPr/>
          <p:nvPr/>
        </p:nvSpPr>
        <p:spPr>
          <a:xfrm>
            <a:off x="5307543" y="1373216"/>
            <a:ext cx="4971600" cy="4971600"/>
          </a:xfrm>
          <a:prstGeom prst="arc">
            <a:avLst>
              <a:gd fmla="val 9432536" name="adj1"/>
              <a:gd fmla="val 17646357" name="adj2"/>
            </a:avLst>
          </a:prstGeom>
          <a:no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4" name="Google Shape;1094;p77"/>
          <p:cNvSpPr/>
          <p:nvPr/>
        </p:nvSpPr>
        <p:spPr>
          <a:xfrm>
            <a:off x="5080275" y="2797900"/>
            <a:ext cx="2025600" cy="2025600"/>
          </a:xfrm>
          <a:prstGeom prst="ellipse">
            <a:avLst/>
          </a:prstGeom>
          <a:noFill/>
          <a:ln cap="flat" cmpd="sng" w="28575">
            <a:solidFill>
              <a:schemeClr val="accent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095" name="Google Shape;1095;p77"/>
          <p:cNvPicPr preferRelativeResize="0"/>
          <p:nvPr/>
        </p:nvPicPr>
        <p:blipFill rotWithShape="1">
          <a:blip r:embed="rId3">
            <a:alphaModFix/>
          </a:blip>
          <a:srcRect b="43690" l="0" r="57905" t="0"/>
          <a:stretch/>
        </p:blipFill>
        <p:spPr>
          <a:xfrm flipH="1">
            <a:off x="1277100" y="2820800"/>
            <a:ext cx="3546900" cy="1162375"/>
          </a:xfrm>
          <a:prstGeom prst="rect">
            <a:avLst/>
          </a:prstGeom>
          <a:noFill/>
          <a:ln>
            <a:noFill/>
          </a:ln>
        </p:spPr>
      </p:pic>
      <p:sp>
        <p:nvSpPr>
          <p:cNvPr id="1096" name="Google Shape;1096;p77"/>
          <p:cNvSpPr txBox="1"/>
          <p:nvPr/>
        </p:nvSpPr>
        <p:spPr>
          <a:xfrm>
            <a:off x="1438900" y="2773625"/>
            <a:ext cx="3438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It’s just a reflection of the </a:t>
            </a:r>
            <a:r>
              <a:rPr lang="en-GB" sz="1800">
                <a:solidFill>
                  <a:schemeClr val="dk1"/>
                </a:solidFill>
                <a:latin typeface="Lexend"/>
                <a:ea typeface="Lexend"/>
                <a:cs typeface="Lexend"/>
                <a:sym typeface="Lexend"/>
              </a:rPr>
              <a:t>sketched triangle; it still has the correct length of edges.</a:t>
            </a:r>
            <a:endParaRPr sz="1800">
              <a:solidFill>
                <a:schemeClr val="dk1"/>
              </a:solidFill>
              <a:latin typeface="Lexend"/>
              <a:ea typeface="Lexend"/>
              <a:cs typeface="Lexend"/>
              <a:sym typeface="Lexend"/>
            </a:endParaRPr>
          </a:p>
        </p:txBody>
      </p:sp>
      <p:cxnSp>
        <p:nvCxnSpPr>
          <p:cNvPr id="1097" name="Google Shape;1097;p77"/>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98" name="Google Shape;1098;p77"/>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099" name="Google Shape;1099;p77"/>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100" name="Google Shape;1100;p77"/>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101" name="Google Shape;1101;p77"/>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102" name="Google Shape;1102;p77"/>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sp>
        <p:nvSpPr>
          <p:cNvPr id="1103" name="Google Shape;1103;p77"/>
          <p:cNvSpPr txBox="1"/>
          <p:nvPr/>
        </p:nvSpPr>
        <p:spPr>
          <a:xfrm>
            <a:off x="5872333" y="3752654"/>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A</a:t>
            </a:r>
            <a:endParaRPr sz="1400">
              <a:solidFill>
                <a:schemeClr val="dk1"/>
              </a:solidFill>
              <a:latin typeface="Lexend"/>
              <a:ea typeface="Lexend"/>
              <a:cs typeface="Lexend"/>
              <a:sym typeface="Lexend"/>
            </a:endParaRPr>
          </a:p>
        </p:txBody>
      </p:sp>
      <p:sp>
        <p:nvSpPr>
          <p:cNvPr id="1104" name="Google Shape;1104;p77"/>
          <p:cNvSpPr txBox="1"/>
          <p:nvPr/>
        </p:nvSpPr>
        <p:spPr>
          <a:xfrm>
            <a:off x="7753973" y="3725379"/>
            <a:ext cx="2598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B</a:t>
            </a:r>
            <a:endParaRPr sz="1400">
              <a:solidFill>
                <a:schemeClr val="dk1"/>
              </a:solidFill>
              <a:latin typeface="Lexend"/>
              <a:ea typeface="Lexend"/>
              <a:cs typeface="Lexend"/>
              <a:sym typeface="Lexend"/>
            </a:endParaRPr>
          </a:p>
        </p:txBody>
      </p:sp>
      <p:sp>
        <p:nvSpPr>
          <p:cNvPr id="1105" name="Google Shape;1105;p77"/>
          <p:cNvSpPr txBox="1"/>
          <p:nvPr/>
        </p:nvSpPr>
        <p:spPr>
          <a:xfrm>
            <a:off x="6703002" y="387132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6 cm</a:t>
            </a:r>
            <a:endParaRPr sz="1400">
              <a:solidFill>
                <a:schemeClr val="dk1"/>
              </a:solidFill>
              <a:latin typeface="Lexend"/>
              <a:ea typeface="Lexend"/>
              <a:cs typeface="Lexend"/>
              <a:sym typeface="Lexend"/>
            </a:endParaRPr>
          </a:p>
        </p:txBody>
      </p:sp>
      <p:sp>
        <p:nvSpPr>
          <p:cNvPr id="1106" name="Google Shape;1106;p77"/>
          <p:cNvSpPr txBox="1"/>
          <p:nvPr/>
        </p:nvSpPr>
        <p:spPr>
          <a:xfrm>
            <a:off x="5310149" y="2883125"/>
            <a:ext cx="485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cxnSp>
        <p:nvCxnSpPr>
          <p:cNvPr id="1107" name="Google Shape;1107;p77"/>
          <p:cNvCxnSpPr/>
          <p:nvPr/>
        </p:nvCxnSpPr>
        <p:spPr>
          <a:xfrm>
            <a:off x="5426630" y="3041452"/>
            <a:ext cx="681300" cy="829800"/>
          </a:xfrm>
          <a:prstGeom prst="straightConnector1">
            <a:avLst/>
          </a:prstGeom>
          <a:noFill/>
          <a:ln cap="flat" cmpd="sng" w="38100">
            <a:solidFill>
              <a:schemeClr val="dk1"/>
            </a:solidFill>
            <a:prstDash val="solid"/>
            <a:miter lim="800000"/>
            <a:headEnd len="sm" w="sm" type="none"/>
            <a:tailEnd len="sm" w="sm" type="none"/>
          </a:ln>
        </p:spPr>
      </p:cxnSp>
      <p:cxnSp>
        <p:nvCxnSpPr>
          <p:cNvPr id="1108" name="Google Shape;1108;p77"/>
          <p:cNvCxnSpPr/>
          <p:nvPr/>
        </p:nvCxnSpPr>
        <p:spPr>
          <a:xfrm>
            <a:off x="5426630" y="3041451"/>
            <a:ext cx="2293500" cy="829800"/>
          </a:xfrm>
          <a:prstGeom prst="straightConnector1">
            <a:avLst/>
          </a:prstGeom>
          <a:noFill/>
          <a:ln cap="flat" cmpd="sng" w="38100">
            <a:solidFill>
              <a:schemeClr val="dk1"/>
            </a:solidFill>
            <a:prstDash val="solid"/>
            <a:miter lim="800000"/>
            <a:headEnd len="sm" w="sm" type="none"/>
            <a:tailEnd len="sm" w="sm" type="none"/>
          </a:ln>
        </p:spPr>
      </p:cxnSp>
      <p:sp>
        <p:nvSpPr>
          <p:cNvPr id="1109" name="Google Shape;1109;p77"/>
          <p:cNvSpPr txBox="1"/>
          <p:nvPr/>
        </p:nvSpPr>
        <p:spPr>
          <a:xfrm>
            <a:off x="6500828" y="321052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9 cm</a:t>
            </a:r>
            <a:endParaRPr sz="1400">
              <a:solidFill>
                <a:schemeClr val="dk1"/>
              </a:solidFill>
              <a:latin typeface="Lexend"/>
              <a:ea typeface="Lexend"/>
              <a:cs typeface="Lexend"/>
              <a:sym typeface="Lexend"/>
            </a:endParaRPr>
          </a:p>
        </p:txBody>
      </p:sp>
      <p:sp>
        <p:nvSpPr>
          <p:cNvPr id="1110" name="Google Shape;1110;p77"/>
          <p:cNvSpPr txBox="1"/>
          <p:nvPr/>
        </p:nvSpPr>
        <p:spPr>
          <a:xfrm>
            <a:off x="5337102" y="3421250"/>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4 cm</a:t>
            </a:r>
            <a:endParaRPr sz="1400">
              <a:solidFill>
                <a:schemeClr val="dk1"/>
              </a:solidFill>
              <a:latin typeface="Lexend"/>
              <a:ea typeface="Lexend"/>
              <a:cs typeface="Lexend"/>
              <a:sym typeface="Lexend"/>
            </a:endParaRPr>
          </a:p>
        </p:txBody>
      </p:sp>
      <p:sp>
        <p:nvSpPr>
          <p:cNvPr id="1111" name="Google Shape;1111;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112" name="Google Shape;1112;p77"/>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Lucas is attempting to </a:t>
            </a:r>
            <a:r>
              <a:rPr lang="en-GB" sz="1800">
                <a:solidFill>
                  <a:schemeClr val="accent4"/>
                </a:solidFill>
              </a:rPr>
              <a:t>construct</a:t>
            </a:r>
            <a:r>
              <a:rPr lang="en-GB" sz="1800"/>
              <a:t> this triangle with a ruler and pencil.</a:t>
            </a:r>
            <a:endParaRPr sz="1800"/>
          </a:p>
        </p:txBody>
      </p:sp>
      <p:grpSp>
        <p:nvGrpSpPr>
          <p:cNvPr id="1113" name="Google Shape;1113;p77"/>
          <p:cNvGrpSpPr/>
          <p:nvPr/>
        </p:nvGrpSpPr>
        <p:grpSpPr>
          <a:xfrm>
            <a:off x="534025" y="972750"/>
            <a:ext cx="3438125" cy="1770700"/>
            <a:chOff x="534025" y="972750"/>
            <a:chExt cx="3438125" cy="1770700"/>
          </a:xfrm>
        </p:grpSpPr>
        <p:pic>
          <p:nvPicPr>
            <p:cNvPr id="1114" name="Google Shape;1114;p77"/>
            <p:cNvPicPr preferRelativeResize="0"/>
            <p:nvPr/>
          </p:nvPicPr>
          <p:blipFill>
            <a:blip r:embed="rId4">
              <a:alphaModFix/>
            </a:blip>
            <a:stretch>
              <a:fillRect/>
            </a:stretch>
          </p:blipFill>
          <p:spPr>
            <a:xfrm>
              <a:off x="1009400" y="1293450"/>
              <a:ext cx="2603947" cy="866550"/>
            </a:xfrm>
            <a:prstGeom prst="rect">
              <a:avLst/>
            </a:prstGeom>
            <a:noFill/>
            <a:ln>
              <a:noFill/>
            </a:ln>
          </p:spPr>
        </p:pic>
        <p:sp>
          <p:nvSpPr>
            <p:cNvPr id="1115" name="Google Shape;1115;p77"/>
            <p:cNvSpPr txBox="1"/>
            <p:nvPr/>
          </p:nvSpPr>
          <p:spPr>
            <a:xfrm>
              <a:off x="1266350" y="20485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16" name="Google Shape;1116;p77"/>
            <p:cNvSpPr txBox="1"/>
            <p:nvPr/>
          </p:nvSpPr>
          <p:spPr>
            <a:xfrm>
              <a:off x="3613350" y="19291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117" name="Google Shape;1117;p77"/>
            <p:cNvSpPr txBox="1"/>
            <p:nvPr/>
          </p:nvSpPr>
          <p:spPr>
            <a:xfrm>
              <a:off x="736232" y="972750"/>
              <a:ext cx="35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118" name="Google Shape;1118;p77"/>
            <p:cNvSpPr/>
            <p:nvPr/>
          </p:nvSpPr>
          <p:spPr>
            <a:xfrm>
              <a:off x="1095025" y="1225800"/>
              <a:ext cx="2518325" cy="801300"/>
            </a:xfrm>
            <a:custGeom>
              <a:rect b="b" l="l" r="r" t="t"/>
              <a:pathLst>
                <a:path extrusionOk="0" h="32052" w="100733">
                  <a:moveTo>
                    <a:pt x="0" y="0"/>
                  </a:moveTo>
                  <a:cubicBezTo>
                    <a:pt x="29117" y="6720"/>
                    <a:pt x="57732" y="15581"/>
                    <a:pt x="86081" y="25031"/>
                  </a:cubicBezTo>
                  <a:cubicBezTo>
                    <a:pt x="91219" y="26744"/>
                    <a:pt x="95597" y="30334"/>
                    <a:pt x="100733" y="32052"/>
                  </a:cubicBezTo>
                </a:path>
              </a:pathLst>
            </a:custGeom>
            <a:noFill/>
            <a:ln cap="flat" cmpd="sng" w="28575">
              <a:solidFill>
                <a:schemeClr val="dk1"/>
              </a:solidFill>
              <a:prstDash val="solid"/>
              <a:round/>
              <a:headEnd len="med" w="med" type="triangle"/>
              <a:tailEnd len="med" w="med" type="triangle"/>
            </a:ln>
          </p:spPr>
        </p:sp>
        <p:sp>
          <p:nvSpPr>
            <p:cNvPr id="1119" name="Google Shape;1119;p77"/>
            <p:cNvSpPr/>
            <p:nvPr/>
          </p:nvSpPr>
          <p:spPr>
            <a:xfrm>
              <a:off x="1632650" y="2251225"/>
              <a:ext cx="1915450" cy="30525"/>
            </a:xfrm>
            <a:custGeom>
              <a:rect b="b" l="l" r="r" t="t"/>
              <a:pathLst>
                <a:path extrusionOk="0" h="1221" w="76618">
                  <a:moveTo>
                    <a:pt x="0" y="1221"/>
                  </a:moveTo>
                  <a:cubicBezTo>
                    <a:pt x="25543" y="1221"/>
                    <a:pt x="51075" y="0"/>
                    <a:pt x="76618" y="0"/>
                  </a:cubicBezTo>
                </a:path>
              </a:pathLst>
            </a:custGeom>
            <a:noFill/>
            <a:ln cap="flat" cmpd="sng" w="28575">
              <a:solidFill>
                <a:schemeClr val="dk1"/>
              </a:solidFill>
              <a:prstDash val="solid"/>
              <a:round/>
              <a:headEnd len="med" w="med" type="triangle"/>
              <a:tailEnd len="med" w="med" type="triangle"/>
            </a:ln>
          </p:spPr>
        </p:sp>
        <p:sp>
          <p:nvSpPr>
            <p:cNvPr id="1120" name="Google Shape;1120;p77"/>
            <p:cNvSpPr/>
            <p:nvPr/>
          </p:nvSpPr>
          <p:spPr>
            <a:xfrm>
              <a:off x="915300" y="1358700"/>
              <a:ext cx="473150" cy="801300"/>
            </a:xfrm>
            <a:custGeom>
              <a:rect b="b" l="l" r="r" t="t"/>
              <a:pathLst>
                <a:path extrusionOk="0" h="32052" w="18926">
                  <a:moveTo>
                    <a:pt x="0" y="0"/>
                  </a:moveTo>
                  <a:cubicBezTo>
                    <a:pt x="8773" y="8773"/>
                    <a:pt x="10153" y="23279"/>
                    <a:pt x="18926" y="32052"/>
                  </a:cubicBezTo>
                </a:path>
              </a:pathLst>
            </a:custGeom>
            <a:noFill/>
            <a:ln cap="flat" cmpd="sng" w="28575">
              <a:solidFill>
                <a:schemeClr val="dk1"/>
              </a:solidFill>
              <a:prstDash val="solid"/>
              <a:round/>
              <a:headEnd len="med" w="med" type="triangle"/>
              <a:tailEnd len="med" w="med" type="triangle"/>
            </a:ln>
          </p:spPr>
        </p:sp>
        <p:sp>
          <p:nvSpPr>
            <p:cNvPr id="1121" name="Google Shape;1121;p77"/>
            <p:cNvSpPr txBox="1"/>
            <p:nvPr/>
          </p:nvSpPr>
          <p:spPr>
            <a:xfrm>
              <a:off x="2296575" y="11583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122" name="Google Shape;1122;p77"/>
            <p:cNvSpPr txBox="1"/>
            <p:nvPr/>
          </p:nvSpPr>
          <p:spPr>
            <a:xfrm>
              <a:off x="534025" y="162000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1123" name="Google Shape;1123;p77"/>
            <p:cNvSpPr txBox="1"/>
            <p:nvPr/>
          </p:nvSpPr>
          <p:spPr>
            <a:xfrm>
              <a:off x="2237650" y="2281750"/>
              <a:ext cx="76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cxnSp>
        <p:nvCxnSpPr>
          <p:cNvPr id="1124" name="Google Shape;1124;p77"/>
          <p:cNvCxnSpPr/>
          <p:nvPr/>
        </p:nvCxnSpPr>
        <p:spPr>
          <a:xfrm>
            <a:off x="609123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125" name="Google Shape;1125;p77"/>
          <p:cNvCxnSpPr/>
          <p:nvPr/>
        </p:nvCxnSpPr>
        <p:spPr>
          <a:xfrm>
            <a:off x="6362700"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126" name="Google Shape;1126;p77"/>
          <p:cNvCxnSpPr/>
          <p:nvPr/>
        </p:nvCxnSpPr>
        <p:spPr>
          <a:xfrm>
            <a:off x="66341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127" name="Google Shape;1127;p77"/>
          <p:cNvCxnSpPr/>
          <p:nvPr/>
        </p:nvCxnSpPr>
        <p:spPr>
          <a:xfrm>
            <a:off x="6900863"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128" name="Google Shape;1128;p77"/>
          <p:cNvCxnSpPr/>
          <p:nvPr/>
        </p:nvCxnSpPr>
        <p:spPr>
          <a:xfrm>
            <a:off x="7177088" y="3871319"/>
            <a:ext cx="276300" cy="0"/>
          </a:xfrm>
          <a:prstGeom prst="straightConnector1">
            <a:avLst/>
          </a:prstGeom>
          <a:noFill/>
          <a:ln cap="flat" cmpd="sng" w="38100">
            <a:solidFill>
              <a:schemeClr val="dk1"/>
            </a:solidFill>
            <a:prstDash val="solid"/>
            <a:miter lim="800000"/>
            <a:headEnd len="sm" w="sm" type="none"/>
            <a:tailEnd len="sm" w="sm" type="none"/>
          </a:ln>
        </p:spPr>
      </p:cxnSp>
      <p:cxnSp>
        <p:nvCxnSpPr>
          <p:cNvPr id="1129" name="Google Shape;1129;p77"/>
          <p:cNvCxnSpPr/>
          <p:nvPr/>
        </p:nvCxnSpPr>
        <p:spPr>
          <a:xfrm>
            <a:off x="7453313" y="3871319"/>
            <a:ext cx="276300" cy="0"/>
          </a:xfrm>
          <a:prstGeom prst="straightConnector1">
            <a:avLst/>
          </a:prstGeom>
          <a:noFill/>
          <a:ln cap="flat" cmpd="sng" w="38100">
            <a:solidFill>
              <a:schemeClr val="dk1"/>
            </a:solidFill>
            <a:prstDash val="solid"/>
            <a:miter lim="800000"/>
            <a:headEnd len="sm" w="sm" type="none"/>
            <a:tailEnd len="sm" w="sm" type="none"/>
          </a:ln>
        </p:spPr>
      </p:cxnSp>
      <p:pic>
        <p:nvPicPr>
          <p:cNvPr id="1130" name="Google Shape;1130;p77"/>
          <p:cNvPicPr preferRelativeResize="0"/>
          <p:nvPr/>
        </p:nvPicPr>
        <p:blipFill>
          <a:blip r:embed="rId5">
            <a:alphaModFix/>
          </a:blip>
          <a:stretch>
            <a:fillRect/>
          </a:stretch>
        </p:blipFill>
        <p:spPr>
          <a:xfrm>
            <a:off x="501696" y="3565613"/>
            <a:ext cx="798316" cy="896106"/>
          </a:xfrm>
          <a:prstGeom prst="rect">
            <a:avLst/>
          </a:prstGeom>
          <a:noFill/>
          <a:ln>
            <a:noFill/>
          </a:ln>
        </p:spPr>
      </p:pic>
      <p:sp>
        <p:nvSpPr>
          <p:cNvPr id="1131" name="Google Shape;1131;p77"/>
          <p:cNvSpPr txBox="1"/>
          <p:nvPr/>
        </p:nvSpPr>
        <p:spPr>
          <a:xfrm>
            <a:off x="5270171" y="4376600"/>
            <a:ext cx="65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x C</a:t>
            </a:r>
            <a:endParaRPr sz="1400">
              <a:solidFill>
                <a:schemeClr val="dk1"/>
              </a:solidFill>
              <a:latin typeface="Lexend"/>
              <a:ea typeface="Lexend"/>
              <a:cs typeface="Lexend"/>
              <a:sym typeface="Lexend"/>
            </a:endParaRPr>
          </a:p>
        </p:txBody>
      </p:sp>
      <p:cxnSp>
        <p:nvCxnSpPr>
          <p:cNvPr id="1132" name="Google Shape;1132;p77"/>
          <p:cNvCxnSpPr/>
          <p:nvPr/>
        </p:nvCxnSpPr>
        <p:spPr>
          <a:xfrm flipH="1" rot="10800000">
            <a:off x="5393450" y="3873675"/>
            <a:ext cx="709800" cy="657600"/>
          </a:xfrm>
          <a:prstGeom prst="straightConnector1">
            <a:avLst/>
          </a:prstGeom>
          <a:noFill/>
          <a:ln cap="flat" cmpd="sng" w="38100">
            <a:solidFill>
              <a:schemeClr val="dk1"/>
            </a:solidFill>
            <a:prstDash val="solid"/>
            <a:round/>
            <a:headEnd len="med" w="med" type="none"/>
            <a:tailEnd len="med" w="med" type="none"/>
          </a:ln>
        </p:spPr>
      </p:cxnSp>
      <p:cxnSp>
        <p:nvCxnSpPr>
          <p:cNvPr id="1133" name="Google Shape;1133;p77"/>
          <p:cNvCxnSpPr/>
          <p:nvPr/>
        </p:nvCxnSpPr>
        <p:spPr>
          <a:xfrm flipH="1" rot="10800000">
            <a:off x="5395373" y="3874029"/>
            <a:ext cx="2330700" cy="665700"/>
          </a:xfrm>
          <a:prstGeom prst="straightConnector1">
            <a:avLst/>
          </a:prstGeom>
          <a:noFill/>
          <a:ln cap="flat" cmpd="sng" w="38100">
            <a:solidFill>
              <a:schemeClr val="dk1"/>
            </a:solidFill>
            <a:prstDash val="solid"/>
            <a:round/>
            <a:headEnd len="med" w="med" type="none"/>
            <a:tailEnd len="med" w="med" type="none"/>
          </a:ln>
        </p:spPr>
      </p:cxnSp>
      <p:sp>
        <p:nvSpPr>
          <p:cNvPr id="1134" name="Google Shape;1134;p77"/>
          <p:cNvSpPr txBox="1"/>
          <p:nvPr/>
        </p:nvSpPr>
        <p:spPr>
          <a:xfrm>
            <a:off x="5302527" y="3898913"/>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4 cm</a:t>
            </a:r>
            <a:endParaRPr sz="1400">
              <a:solidFill>
                <a:schemeClr val="dk1"/>
              </a:solidFill>
              <a:latin typeface="Lexend"/>
              <a:ea typeface="Lexend"/>
              <a:cs typeface="Lexend"/>
              <a:sym typeface="Lexend"/>
            </a:endParaRPr>
          </a:p>
        </p:txBody>
      </p:sp>
      <p:sp>
        <p:nvSpPr>
          <p:cNvPr id="1135" name="Google Shape;1135;p77"/>
          <p:cNvSpPr txBox="1"/>
          <p:nvPr/>
        </p:nvSpPr>
        <p:spPr>
          <a:xfrm>
            <a:off x="6362703" y="4246575"/>
            <a:ext cx="6813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400">
                <a:solidFill>
                  <a:schemeClr val="dk1"/>
                </a:solidFill>
                <a:latin typeface="Lexend"/>
                <a:ea typeface="Lexend"/>
                <a:cs typeface="Lexend"/>
                <a:sym typeface="Lexend"/>
              </a:rPr>
              <a:t>9 cm</a:t>
            </a:r>
            <a:endParaRPr sz="1400">
              <a:solidFill>
                <a:schemeClr val="dk1"/>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pic>
        <p:nvPicPr>
          <p:cNvPr id="1140" name="Google Shape;1140;p78"/>
          <p:cNvPicPr preferRelativeResize="0"/>
          <p:nvPr/>
        </p:nvPicPr>
        <p:blipFill>
          <a:blip r:embed="rId3">
            <a:alphaModFix/>
          </a:blip>
          <a:stretch>
            <a:fillRect/>
          </a:stretch>
        </p:blipFill>
        <p:spPr>
          <a:xfrm>
            <a:off x="2525100" y="2476325"/>
            <a:ext cx="2834850" cy="2224575"/>
          </a:xfrm>
          <a:prstGeom prst="rect">
            <a:avLst/>
          </a:prstGeom>
          <a:noFill/>
          <a:ln>
            <a:noFill/>
          </a:ln>
        </p:spPr>
      </p:pic>
      <p:sp>
        <p:nvSpPr>
          <p:cNvPr id="1141" name="Google Shape;1141;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142" name="Google Shape;1142;p78"/>
          <p:cNvSpPr txBox="1"/>
          <p:nvPr>
            <p:ph idx="1" type="body"/>
          </p:nvPr>
        </p:nvSpPr>
        <p:spPr>
          <a:xfrm>
            <a:off x="324000" y="759300"/>
            <a:ext cx="83679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Constructing a triangle with a pencil and ruler is quite challenging to be accurate and find the exact location of the </a:t>
            </a:r>
            <a:r>
              <a:rPr lang="en-GB" sz="1800"/>
              <a:t>third vertex in a timely fashion. </a:t>
            </a:r>
            <a:endParaRPr sz="1800"/>
          </a:p>
          <a:p>
            <a:pPr indent="0" lvl="0" marL="0" rtl="0" algn="l">
              <a:spcBef>
                <a:spcPts val="1000"/>
              </a:spcBef>
              <a:spcAft>
                <a:spcPts val="0"/>
              </a:spcAft>
              <a:buNone/>
            </a:pPr>
            <a:r>
              <a:rPr lang="en-GB" sz="1800"/>
              <a:t>As we just saw, using circles to locate the third vertex is much more efficient. </a:t>
            </a:r>
            <a:endParaRPr sz="1800"/>
          </a:p>
          <a:p>
            <a:pPr indent="0" lvl="0" marL="0" rtl="0" algn="l">
              <a:spcBef>
                <a:spcPts val="1000"/>
              </a:spcBef>
              <a:spcAft>
                <a:spcPts val="1000"/>
              </a:spcAft>
              <a:buNone/>
            </a:pPr>
            <a:r>
              <a:rPr lang="en-GB" sz="1800"/>
              <a:t>What equipment helps to draw accurate circles?</a:t>
            </a:r>
            <a:endParaRPr sz="1800"/>
          </a:p>
        </p:txBody>
      </p:sp>
      <p:sp>
        <p:nvSpPr>
          <p:cNvPr id="1143" name="Google Shape;1143;p78"/>
          <p:cNvSpPr txBox="1"/>
          <p:nvPr/>
        </p:nvSpPr>
        <p:spPr>
          <a:xfrm>
            <a:off x="557075" y="2648075"/>
            <a:ext cx="4395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 pair of compasses</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79"/>
          <p:cNvSpPr txBox="1"/>
          <p:nvPr>
            <p:ph idx="1" type="body"/>
          </p:nvPr>
        </p:nvSpPr>
        <p:spPr>
          <a:xfrm>
            <a:off x="324000" y="759300"/>
            <a:ext cx="7230900" cy="27639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GB" sz="1800"/>
              <a:t>Before we start any construction, we need to prepare our equipment.</a:t>
            </a:r>
            <a:endParaRPr sz="1800"/>
          </a:p>
          <a:p>
            <a:pPr indent="0" lvl="0" marL="0" rtl="0" algn="l">
              <a:lnSpc>
                <a:spcPct val="115000"/>
              </a:lnSpc>
              <a:spcBef>
                <a:spcPts val="1000"/>
              </a:spcBef>
              <a:spcAft>
                <a:spcPts val="0"/>
              </a:spcAft>
              <a:buNone/>
            </a:pPr>
            <a:r>
              <a:rPr lang="en-GB" sz="1800"/>
              <a:t>You will need to have a </a:t>
            </a:r>
            <a:r>
              <a:rPr lang="en-GB" sz="1800"/>
              <a:t>s</a:t>
            </a:r>
            <a:r>
              <a:rPr lang="en-GB" sz="1800"/>
              <a:t>harp (ideally short) pencil, a </a:t>
            </a:r>
            <a:r>
              <a:rPr lang="en-GB" sz="1800"/>
              <a:t>t</a:t>
            </a:r>
            <a:r>
              <a:rPr lang="en-GB" sz="1800"/>
              <a:t>ightened pair of compasses and a ruler.</a:t>
            </a:r>
            <a:endParaRPr sz="1800"/>
          </a:p>
          <a:p>
            <a:pPr indent="0" lvl="0" marL="0" rtl="0" algn="l">
              <a:lnSpc>
                <a:spcPct val="115000"/>
              </a:lnSpc>
              <a:spcBef>
                <a:spcPts val="1000"/>
              </a:spcBef>
              <a:spcAft>
                <a:spcPts val="0"/>
              </a:spcAft>
              <a:buNone/>
            </a:pPr>
            <a:r>
              <a:rPr lang="en-GB" sz="1800"/>
              <a:t>Then set up your pair of compasses by making sure the pencil tip is level with the needle point, when the legs of the pair of compasses is together, like in the image here.</a:t>
            </a:r>
            <a:endParaRPr sz="1800"/>
          </a:p>
          <a:p>
            <a:pPr indent="0" lvl="0" marL="0" rtl="0" algn="l">
              <a:spcBef>
                <a:spcPts val="0"/>
              </a:spcBef>
              <a:spcAft>
                <a:spcPts val="1000"/>
              </a:spcAft>
              <a:buNone/>
            </a:pPr>
            <a:r>
              <a:t/>
            </a:r>
            <a:endParaRPr sz="1800"/>
          </a:p>
        </p:txBody>
      </p:sp>
      <p:sp>
        <p:nvSpPr>
          <p:cNvPr id="1149" name="Google Shape;1149;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pic>
        <p:nvPicPr>
          <p:cNvPr id="1150" name="Google Shape;1150;p79"/>
          <p:cNvPicPr preferRelativeResize="0"/>
          <p:nvPr/>
        </p:nvPicPr>
        <p:blipFill>
          <a:blip r:embed="rId3">
            <a:alphaModFix/>
          </a:blip>
          <a:stretch>
            <a:fillRect/>
          </a:stretch>
        </p:blipFill>
        <p:spPr>
          <a:xfrm>
            <a:off x="7302975" y="2109550"/>
            <a:ext cx="1350800" cy="2546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80"/>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of these is the best set up of a pair of compasses?</a:t>
            </a:r>
            <a:endParaRPr/>
          </a:p>
        </p:txBody>
      </p:sp>
      <p:sp>
        <p:nvSpPr>
          <p:cNvPr id="1156" name="Google Shape;1156;p80"/>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pic>
        <p:nvPicPr>
          <p:cNvPr id="1157" name="Google Shape;1157;p80"/>
          <p:cNvPicPr preferRelativeResize="0"/>
          <p:nvPr/>
        </p:nvPicPr>
        <p:blipFill>
          <a:blip r:embed="rId3">
            <a:alphaModFix/>
          </a:blip>
          <a:stretch>
            <a:fillRect/>
          </a:stretch>
        </p:blipFill>
        <p:spPr>
          <a:xfrm>
            <a:off x="774900" y="1561150"/>
            <a:ext cx="1276688" cy="2406350"/>
          </a:xfrm>
          <a:prstGeom prst="rect">
            <a:avLst/>
          </a:prstGeom>
          <a:noFill/>
          <a:ln>
            <a:noFill/>
          </a:ln>
        </p:spPr>
      </p:pic>
      <p:pic>
        <p:nvPicPr>
          <p:cNvPr id="1158" name="Google Shape;1158;p80"/>
          <p:cNvPicPr preferRelativeResize="0"/>
          <p:nvPr/>
        </p:nvPicPr>
        <p:blipFill>
          <a:blip r:embed="rId4">
            <a:alphaModFix/>
          </a:blip>
          <a:stretch>
            <a:fillRect/>
          </a:stretch>
        </p:blipFill>
        <p:spPr>
          <a:xfrm>
            <a:off x="3797634" y="1620008"/>
            <a:ext cx="1231932" cy="2389226"/>
          </a:xfrm>
          <a:prstGeom prst="rect">
            <a:avLst/>
          </a:prstGeom>
          <a:noFill/>
          <a:ln>
            <a:noFill/>
          </a:ln>
        </p:spPr>
      </p:pic>
      <p:pic>
        <p:nvPicPr>
          <p:cNvPr id="1159" name="Google Shape;1159;p80"/>
          <p:cNvPicPr preferRelativeResize="0"/>
          <p:nvPr/>
        </p:nvPicPr>
        <p:blipFill>
          <a:blip r:embed="rId5">
            <a:alphaModFix/>
          </a:blip>
          <a:stretch>
            <a:fillRect/>
          </a:stretch>
        </p:blipFill>
        <p:spPr>
          <a:xfrm>
            <a:off x="6696975" y="1611413"/>
            <a:ext cx="1276700" cy="2406392"/>
          </a:xfrm>
          <a:prstGeom prst="rect">
            <a:avLst/>
          </a:prstGeom>
          <a:noFill/>
          <a:ln>
            <a:noFill/>
          </a:ln>
        </p:spPr>
      </p:pic>
      <p:pic>
        <p:nvPicPr>
          <p:cNvPr id="1160" name="Google Shape;1160;p80"/>
          <p:cNvPicPr preferRelativeResize="0"/>
          <p:nvPr/>
        </p:nvPicPr>
        <p:blipFill>
          <a:blip r:embed="rId6">
            <a:alphaModFix/>
          </a:blip>
          <a:stretch>
            <a:fillRect/>
          </a:stretch>
        </p:blipFill>
        <p:spPr>
          <a:xfrm>
            <a:off x="2051608" y="4146950"/>
            <a:ext cx="396000" cy="419100"/>
          </a:xfrm>
          <a:prstGeom prst="rect">
            <a:avLst/>
          </a:prstGeom>
          <a:noFill/>
          <a:ln>
            <a:noFill/>
          </a:ln>
        </p:spPr>
      </p:pic>
      <p:sp>
        <p:nvSpPr>
          <p:cNvPr id="1161" name="Google Shape;1161;p80"/>
          <p:cNvSpPr txBox="1"/>
          <p:nvPr/>
        </p:nvSpPr>
        <p:spPr>
          <a:xfrm>
            <a:off x="4968450" y="3495000"/>
            <a:ext cx="1611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pencil and needle tips not level</a:t>
            </a:r>
            <a:endParaRPr sz="2000">
              <a:solidFill>
                <a:schemeClr val="dk1"/>
              </a:solidFill>
              <a:latin typeface="Kalam"/>
              <a:ea typeface="Kalam"/>
              <a:cs typeface="Kalam"/>
              <a:sym typeface="Kalam"/>
            </a:endParaRPr>
          </a:p>
        </p:txBody>
      </p:sp>
      <p:sp>
        <p:nvSpPr>
          <p:cNvPr id="1162" name="Google Shape;1162;p80"/>
          <p:cNvSpPr txBox="1"/>
          <p:nvPr/>
        </p:nvSpPr>
        <p:spPr>
          <a:xfrm>
            <a:off x="7873350" y="3780000"/>
            <a:ext cx="13518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blunt pencil</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81"/>
          <p:cNvSpPr txBox="1"/>
          <p:nvPr/>
        </p:nvSpPr>
        <p:spPr>
          <a:xfrm>
            <a:off x="867950" y="227695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168" name="Google Shape;1168;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169" name="Google Shape;1169;p81"/>
          <p:cNvSpPr txBox="1"/>
          <p:nvPr/>
        </p:nvSpPr>
        <p:spPr>
          <a:xfrm>
            <a:off x="231400" y="613500"/>
            <a:ext cx="977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Let us construct triangle PQR, where PQ = 7 cm, PR = 9 cm and QR = 10 cm</a:t>
            </a:r>
            <a:endParaRPr sz="1800">
              <a:solidFill>
                <a:schemeClr val="dk1"/>
              </a:solidFill>
              <a:latin typeface="Lexend"/>
              <a:ea typeface="Lexend"/>
              <a:cs typeface="Lexend"/>
              <a:sym typeface="Lexend"/>
            </a:endParaRPr>
          </a:p>
        </p:txBody>
      </p:sp>
      <p:sp>
        <p:nvSpPr>
          <p:cNvPr id="1170" name="Google Shape;1170;p81"/>
          <p:cNvSpPr txBox="1"/>
          <p:nvPr/>
        </p:nvSpPr>
        <p:spPr>
          <a:xfrm>
            <a:off x="248451" y="993875"/>
            <a:ext cx="80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To support us with this, it is helpful to do a quick sketch of the triangle. </a:t>
            </a:r>
            <a:endParaRPr sz="1800">
              <a:solidFill>
                <a:schemeClr val="dk1"/>
              </a:solidFill>
              <a:latin typeface="Lexend"/>
              <a:ea typeface="Lexend"/>
              <a:cs typeface="Lexend"/>
              <a:sym typeface="Lexend"/>
            </a:endParaRPr>
          </a:p>
        </p:txBody>
      </p:sp>
      <p:sp>
        <p:nvSpPr>
          <p:cNvPr id="1171" name="Google Shape;1171;p81"/>
          <p:cNvSpPr/>
          <p:nvPr/>
        </p:nvSpPr>
        <p:spPr>
          <a:xfrm rot="10800000">
            <a:off x="2585425" y="1985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2" name="Google Shape;1172;p81"/>
          <p:cNvSpPr/>
          <p:nvPr/>
        </p:nvSpPr>
        <p:spPr>
          <a:xfrm rot="10800000">
            <a:off x="1137625" y="2366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3" name="Google Shape;1173;p81"/>
          <p:cNvSpPr/>
          <p:nvPr/>
        </p:nvSpPr>
        <p:spPr>
          <a:xfrm rot="10800000">
            <a:off x="985225" y="15286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4" name="Google Shape;1174;p81"/>
          <p:cNvSpPr txBox="1"/>
          <p:nvPr/>
        </p:nvSpPr>
        <p:spPr>
          <a:xfrm>
            <a:off x="643225" y="13194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t>
            </a:r>
            <a:endParaRPr sz="1800">
              <a:solidFill>
                <a:schemeClr val="dk1"/>
              </a:solidFill>
              <a:latin typeface="Lexend"/>
              <a:ea typeface="Lexend"/>
              <a:cs typeface="Lexend"/>
              <a:sym typeface="Lexend"/>
            </a:endParaRPr>
          </a:p>
        </p:txBody>
      </p:sp>
      <p:sp>
        <p:nvSpPr>
          <p:cNvPr id="1175" name="Google Shape;1175;p81"/>
          <p:cNvSpPr txBox="1"/>
          <p:nvPr/>
        </p:nvSpPr>
        <p:spPr>
          <a:xfrm>
            <a:off x="2628625" y="17811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cxnSp>
        <p:nvCxnSpPr>
          <p:cNvPr id="1176" name="Google Shape;1176;p81"/>
          <p:cNvCxnSpPr/>
          <p:nvPr/>
        </p:nvCxnSpPr>
        <p:spPr>
          <a:xfrm>
            <a:off x="1006725" y="1571168"/>
            <a:ext cx="152400" cy="838200"/>
          </a:xfrm>
          <a:prstGeom prst="straightConnector1">
            <a:avLst/>
          </a:prstGeom>
          <a:noFill/>
          <a:ln cap="flat" cmpd="sng" w="28575">
            <a:solidFill>
              <a:schemeClr val="dk1"/>
            </a:solidFill>
            <a:prstDash val="solid"/>
            <a:round/>
            <a:headEnd len="med" w="med" type="none"/>
            <a:tailEnd len="med" w="med" type="none"/>
          </a:ln>
        </p:spPr>
      </p:cxnSp>
      <p:cxnSp>
        <p:nvCxnSpPr>
          <p:cNvPr id="1177" name="Google Shape;1177;p81"/>
          <p:cNvCxnSpPr/>
          <p:nvPr/>
        </p:nvCxnSpPr>
        <p:spPr>
          <a:xfrm>
            <a:off x="991427" y="1542794"/>
            <a:ext cx="1637100" cy="472500"/>
          </a:xfrm>
          <a:prstGeom prst="straightConnector1">
            <a:avLst/>
          </a:prstGeom>
          <a:noFill/>
          <a:ln cap="flat" cmpd="sng" w="28575">
            <a:solidFill>
              <a:schemeClr val="dk1"/>
            </a:solidFill>
            <a:prstDash val="solid"/>
            <a:round/>
            <a:headEnd len="med" w="med" type="none"/>
            <a:tailEnd len="med" w="med" type="none"/>
          </a:ln>
        </p:spPr>
      </p:cxnSp>
      <p:cxnSp>
        <p:nvCxnSpPr>
          <p:cNvPr id="1178" name="Google Shape;1178;p81"/>
          <p:cNvCxnSpPr/>
          <p:nvPr/>
        </p:nvCxnSpPr>
        <p:spPr>
          <a:xfrm flipH="1" rot="10800000">
            <a:off x="1180725" y="2006768"/>
            <a:ext cx="1447800" cy="381000"/>
          </a:xfrm>
          <a:prstGeom prst="straightConnector1">
            <a:avLst/>
          </a:prstGeom>
          <a:noFill/>
          <a:ln cap="flat" cmpd="sng" w="28575">
            <a:solidFill>
              <a:schemeClr val="dk1"/>
            </a:solidFill>
            <a:prstDash val="solid"/>
            <a:round/>
            <a:headEnd len="med" w="med" type="none"/>
            <a:tailEnd len="med" w="med" type="none"/>
          </a:ln>
        </p:spPr>
      </p:cxnSp>
      <p:sp>
        <p:nvSpPr>
          <p:cNvPr id="1179" name="Google Shape;1179;p81"/>
          <p:cNvSpPr txBox="1"/>
          <p:nvPr/>
        </p:nvSpPr>
        <p:spPr>
          <a:xfrm>
            <a:off x="436275" y="17378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180" name="Google Shape;1180;p81"/>
          <p:cNvSpPr txBox="1"/>
          <p:nvPr/>
        </p:nvSpPr>
        <p:spPr>
          <a:xfrm>
            <a:off x="1646700" y="138847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181" name="Google Shape;1181;p81"/>
          <p:cNvSpPr txBox="1"/>
          <p:nvPr/>
        </p:nvSpPr>
        <p:spPr>
          <a:xfrm>
            <a:off x="1585375" y="2164126"/>
            <a:ext cx="87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sp>
        <p:nvSpPr>
          <p:cNvPr id="1182" name="Google Shape;1182;p81"/>
          <p:cNvSpPr txBox="1"/>
          <p:nvPr/>
        </p:nvSpPr>
        <p:spPr>
          <a:xfrm>
            <a:off x="3196850" y="1455575"/>
            <a:ext cx="542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Now, we can start the construction.</a:t>
            </a:r>
            <a:endParaRPr sz="1800">
              <a:solidFill>
                <a:schemeClr val="dk1"/>
              </a:solidFill>
              <a:latin typeface="Lexend"/>
              <a:ea typeface="Lexend"/>
              <a:cs typeface="Lexend"/>
              <a:sym typeface="Lexend"/>
            </a:endParaRPr>
          </a:p>
        </p:txBody>
      </p:sp>
      <p:pic>
        <p:nvPicPr>
          <p:cNvPr id="1183" name="Google Shape;1183;p81"/>
          <p:cNvPicPr preferRelativeResize="0"/>
          <p:nvPr/>
        </p:nvPicPr>
        <p:blipFill rotWithShape="1">
          <a:blip r:embed="rId3">
            <a:alphaModFix/>
          </a:blip>
          <a:srcRect b="0" l="0" r="0" t="0"/>
          <a:stretch/>
        </p:blipFill>
        <p:spPr>
          <a:xfrm rot="29">
            <a:off x="352489" y="4149985"/>
            <a:ext cx="2785099" cy="266172"/>
          </a:xfrm>
          <a:prstGeom prst="rect">
            <a:avLst/>
          </a:prstGeom>
          <a:noFill/>
          <a:ln>
            <a:noFill/>
          </a:ln>
        </p:spPr>
      </p:pic>
      <p:cxnSp>
        <p:nvCxnSpPr>
          <p:cNvPr id="1184" name="Google Shape;1184;p81"/>
          <p:cNvCxnSpPr/>
          <p:nvPr/>
        </p:nvCxnSpPr>
        <p:spPr>
          <a:xfrm>
            <a:off x="442248" y="4128600"/>
            <a:ext cx="1221900" cy="0"/>
          </a:xfrm>
          <a:prstGeom prst="straightConnector1">
            <a:avLst/>
          </a:prstGeom>
          <a:noFill/>
          <a:ln cap="flat" cmpd="sng" w="28575">
            <a:solidFill>
              <a:schemeClr val="dk1"/>
            </a:solidFill>
            <a:prstDash val="solid"/>
            <a:round/>
            <a:headEnd len="med" w="med" type="none"/>
            <a:tailEnd len="med" w="med" type="none"/>
          </a:ln>
        </p:spPr>
      </p:cxnSp>
      <p:cxnSp>
        <p:nvCxnSpPr>
          <p:cNvPr id="1185" name="Google Shape;1185;p81"/>
          <p:cNvCxnSpPr/>
          <p:nvPr/>
        </p:nvCxnSpPr>
        <p:spPr>
          <a:xfrm>
            <a:off x="442250" y="4554200"/>
            <a:ext cx="1565700" cy="0"/>
          </a:xfrm>
          <a:prstGeom prst="straightConnector1">
            <a:avLst/>
          </a:prstGeom>
          <a:noFill/>
          <a:ln cap="flat" cmpd="sng" w="28575">
            <a:solidFill>
              <a:schemeClr val="dk1"/>
            </a:solidFill>
            <a:prstDash val="solid"/>
            <a:round/>
            <a:headEnd len="med" w="med" type="none"/>
            <a:tailEnd len="med" w="med" type="none"/>
          </a:ln>
        </p:spPr>
      </p:cxnSp>
      <p:pic>
        <p:nvPicPr>
          <p:cNvPr id="1186" name="Google Shape;1186;p81"/>
          <p:cNvPicPr preferRelativeResize="0"/>
          <p:nvPr/>
        </p:nvPicPr>
        <p:blipFill rotWithShape="1">
          <a:blip r:embed="rId4">
            <a:alphaModFix/>
          </a:blip>
          <a:srcRect b="0" l="0" r="0" t="0"/>
          <a:stretch/>
        </p:blipFill>
        <p:spPr>
          <a:xfrm>
            <a:off x="440780" y="3264742"/>
            <a:ext cx="371550" cy="868700"/>
          </a:xfrm>
          <a:prstGeom prst="rect">
            <a:avLst/>
          </a:prstGeom>
          <a:noFill/>
          <a:ln>
            <a:noFill/>
          </a:ln>
        </p:spPr>
      </p:pic>
      <p:pic>
        <p:nvPicPr>
          <p:cNvPr id="1187" name="Google Shape;1187;p81"/>
          <p:cNvPicPr preferRelativeResize="0"/>
          <p:nvPr/>
        </p:nvPicPr>
        <p:blipFill rotWithShape="1">
          <a:blip r:embed="rId4">
            <a:alphaModFix/>
          </a:blip>
          <a:srcRect b="0" l="0" r="0" t="0"/>
          <a:stretch/>
        </p:blipFill>
        <p:spPr>
          <a:xfrm>
            <a:off x="1651430" y="3264742"/>
            <a:ext cx="371550" cy="868700"/>
          </a:xfrm>
          <a:prstGeom prst="rect">
            <a:avLst/>
          </a:prstGeom>
          <a:noFill/>
          <a:ln>
            <a:noFill/>
          </a:ln>
        </p:spPr>
      </p:pic>
      <p:pic>
        <p:nvPicPr>
          <p:cNvPr id="1188" name="Google Shape;1188;p81"/>
          <p:cNvPicPr preferRelativeResize="0"/>
          <p:nvPr/>
        </p:nvPicPr>
        <p:blipFill rotWithShape="1">
          <a:blip r:embed="rId3">
            <a:alphaModFix/>
          </a:blip>
          <a:srcRect b="0" l="0" r="0" t="0"/>
          <a:stretch/>
        </p:blipFill>
        <p:spPr>
          <a:xfrm rot="29">
            <a:off x="352489" y="4554210"/>
            <a:ext cx="2785099" cy="266172"/>
          </a:xfrm>
          <a:prstGeom prst="rect">
            <a:avLst/>
          </a:prstGeom>
          <a:noFill/>
          <a:ln>
            <a:noFill/>
          </a:ln>
        </p:spPr>
      </p:pic>
      <p:pic>
        <p:nvPicPr>
          <p:cNvPr id="1189" name="Google Shape;1189;p81"/>
          <p:cNvPicPr preferRelativeResize="0"/>
          <p:nvPr/>
        </p:nvPicPr>
        <p:blipFill rotWithShape="1">
          <a:blip r:embed="rId4">
            <a:alphaModFix/>
          </a:blip>
          <a:srcRect b="0" l="0" r="0" t="0"/>
          <a:stretch/>
        </p:blipFill>
        <p:spPr>
          <a:xfrm>
            <a:off x="440780" y="3685492"/>
            <a:ext cx="371550" cy="868700"/>
          </a:xfrm>
          <a:prstGeom prst="rect">
            <a:avLst/>
          </a:prstGeom>
          <a:noFill/>
          <a:ln>
            <a:noFill/>
          </a:ln>
        </p:spPr>
      </p:pic>
      <p:pic>
        <p:nvPicPr>
          <p:cNvPr id="1190" name="Google Shape;1190;p81"/>
          <p:cNvPicPr preferRelativeResize="0"/>
          <p:nvPr/>
        </p:nvPicPr>
        <p:blipFill rotWithShape="1">
          <a:blip r:embed="rId4">
            <a:alphaModFix/>
          </a:blip>
          <a:srcRect b="0" l="0" r="0" t="0"/>
          <a:stretch/>
        </p:blipFill>
        <p:spPr>
          <a:xfrm>
            <a:off x="1995880" y="3685492"/>
            <a:ext cx="371550" cy="868700"/>
          </a:xfrm>
          <a:prstGeom prst="rect">
            <a:avLst/>
          </a:prstGeom>
          <a:noFill/>
          <a:ln>
            <a:noFill/>
          </a:ln>
        </p:spPr>
      </p:pic>
      <p:sp>
        <p:nvSpPr>
          <p:cNvPr id="1191" name="Google Shape;1191;p81"/>
          <p:cNvSpPr txBox="1"/>
          <p:nvPr/>
        </p:nvSpPr>
        <p:spPr>
          <a:xfrm>
            <a:off x="705075" y="40522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192" name="Google Shape;1192;p81"/>
          <p:cNvSpPr txBox="1"/>
          <p:nvPr/>
        </p:nvSpPr>
        <p:spPr>
          <a:xfrm>
            <a:off x="847250" y="4437551"/>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pic>
        <p:nvPicPr>
          <p:cNvPr id="1193" name="Google Shape;1193;p81"/>
          <p:cNvPicPr preferRelativeResize="0"/>
          <p:nvPr/>
        </p:nvPicPr>
        <p:blipFill rotWithShape="1">
          <a:blip r:embed="rId3">
            <a:alphaModFix/>
          </a:blip>
          <a:srcRect b="0" l="0" r="0" t="0"/>
          <a:stretch/>
        </p:blipFill>
        <p:spPr>
          <a:xfrm rot="29">
            <a:off x="4876167" y="3250046"/>
            <a:ext cx="2785099" cy="266172"/>
          </a:xfrm>
          <a:prstGeom prst="rect">
            <a:avLst/>
          </a:prstGeom>
          <a:noFill/>
          <a:ln>
            <a:noFill/>
          </a:ln>
        </p:spPr>
      </p:pic>
      <p:cxnSp>
        <p:nvCxnSpPr>
          <p:cNvPr id="1194" name="Google Shape;1194;p81"/>
          <p:cNvCxnSpPr/>
          <p:nvPr/>
        </p:nvCxnSpPr>
        <p:spPr>
          <a:xfrm>
            <a:off x="4964950" y="3247050"/>
            <a:ext cx="1741500" cy="0"/>
          </a:xfrm>
          <a:prstGeom prst="straightConnector1">
            <a:avLst/>
          </a:prstGeom>
          <a:noFill/>
          <a:ln cap="flat" cmpd="sng" w="28575">
            <a:solidFill>
              <a:schemeClr val="dk1"/>
            </a:solidFill>
            <a:prstDash val="solid"/>
            <a:round/>
            <a:headEnd len="med" w="med" type="none"/>
            <a:tailEnd len="med" w="med" type="none"/>
          </a:ln>
        </p:spPr>
      </p:cxnSp>
      <p:pic>
        <p:nvPicPr>
          <p:cNvPr id="1195" name="Google Shape;1195;p81"/>
          <p:cNvPicPr preferRelativeResize="0"/>
          <p:nvPr/>
        </p:nvPicPr>
        <p:blipFill rotWithShape="1">
          <a:blip r:embed="rId4">
            <a:alphaModFix/>
          </a:blip>
          <a:srcRect b="0" l="0" r="0" t="0"/>
          <a:stretch/>
        </p:blipFill>
        <p:spPr>
          <a:xfrm>
            <a:off x="4963480" y="2378342"/>
            <a:ext cx="371550" cy="868700"/>
          </a:xfrm>
          <a:prstGeom prst="rect">
            <a:avLst/>
          </a:prstGeom>
          <a:noFill/>
          <a:ln>
            <a:noFill/>
          </a:ln>
        </p:spPr>
      </p:pic>
      <p:pic>
        <p:nvPicPr>
          <p:cNvPr id="1196" name="Google Shape;1196;p81"/>
          <p:cNvPicPr preferRelativeResize="0"/>
          <p:nvPr/>
        </p:nvPicPr>
        <p:blipFill rotWithShape="1">
          <a:blip r:embed="rId4">
            <a:alphaModFix/>
          </a:blip>
          <a:srcRect b="0" l="0" r="0" t="0"/>
          <a:stretch/>
        </p:blipFill>
        <p:spPr>
          <a:xfrm>
            <a:off x="6700483" y="2381338"/>
            <a:ext cx="371550" cy="868700"/>
          </a:xfrm>
          <a:prstGeom prst="rect">
            <a:avLst/>
          </a:prstGeom>
          <a:noFill/>
          <a:ln>
            <a:noFill/>
          </a:ln>
        </p:spPr>
      </p:pic>
      <p:sp>
        <p:nvSpPr>
          <p:cNvPr id="1197" name="Google Shape;1197;p81"/>
          <p:cNvSpPr txBox="1"/>
          <p:nvPr/>
        </p:nvSpPr>
        <p:spPr>
          <a:xfrm>
            <a:off x="5369950" y="3130400"/>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8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8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8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9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9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9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1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grpSp>
        <p:nvGrpSpPr>
          <p:cNvPr id="1202" name="Google Shape;1202;p82"/>
          <p:cNvGrpSpPr/>
          <p:nvPr/>
        </p:nvGrpSpPr>
        <p:grpSpPr>
          <a:xfrm flipH="1">
            <a:off x="391298" y="2665001"/>
            <a:ext cx="1527368" cy="1602095"/>
            <a:chOff x="1937989" y="967413"/>
            <a:chExt cx="3362765" cy="3527290"/>
          </a:xfrm>
        </p:grpSpPr>
        <p:pic>
          <p:nvPicPr>
            <p:cNvPr id="1203" name="Google Shape;1203;p82"/>
            <p:cNvPicPr preferRelativeResize="0"/>
            <p:nvPr/>
          </p:nvPicPr>
          <p:blipFill rotWithShape="1">
            <a:blip r:embed="rId3">
              <a:alphaModFix/>
            </a:blip>
            <a:srcRect b="7544" l="11418" r="67020" t="29160"/>
            <a:stretch/>
          </p:blipFill>
          <p:spPr>
            <a:xfrm rot="1287039">
              <a:off x="2385137" y="1710387"/>
              <a:ext cx="1158241" cy="2664824"/>
            </a:xfrm>
            <a:prstGeom prst="rect">
              <a:avLst/>
            </a:prstGeom>
            <a:noFill/>
            <a:ln>
              <a:noFill/>
            </a:ln>
          </p:spPr>
        </p:pic>
        <p:pic>
          <p:nvPicPr>
            <p:cNvPr id="1204" name="Google Shape;1204;p82"/>
            <p:cNvPicPr preferRelativeResize="0"/>
            <p:nvPr/>
          </p:nvPicPr>
          <p:blipFill rotWithShape="1">
            <a:blip r:embed="rId3">
              <a:alphaModFix/>
            </a:blip>
            <a:srcRect b="9195" l="63130" r="21307" t="30824"/>
            <a:stretch/>
          </p:blipFill>
          <p:spPr>
            <a:xfrm rot="-802406">
              <a:off x="4092300" y="1704123"/>
              <a:ext cx="906107" cy="2720596"/>
            </a:xfrm>
            <a:prstGeom prst="rect">
              <a:avLst/>
            </a:prstGeom>
            <a:noFill/>
            <a:ln>
              <a:noFill/>
            </a:ln>
          </p:spPr>
        </p:pic>
        <p:pic>
          <p:nvPicPr>
            <p:cNvPr id="1205" name="Google Shape;1205;p82"/>
            <p:cNvPicPr preferRelativeResize="0"/>
            <p:nvPr/>
          </p:nvPicPr>
          <p:blipFill rotWithShape="1">
            <a:blip r:embed="rId3">
              <a:alphaModFix/>
            </a:blip>
            <a:srcRect b="60188" l="45056" r="46189" t="8784"/>
            <a:stretch/>
          </p:blipFill>
          <p:spPr>
            <a:xfrm>
              <a:off x="3741320" y="967413"/>
              <a:ext cx="470263" cy="1306286"/>
            </a:xfrm>
            <a:prstGeom prst="rect">
              <a:avLst/>
            </a:prstGeom>
            <a:noFill/>
            <a:ln>
              <a:noFill/>
            </a:ln>
          </p:spPr>
        </p:pic>
      </p:grpSp>
      <p:sp>
        <p:nvSpPr>
          <p:cNvPr id="1206" name="Google Shape;1206;p82"/>
          <p:cNvSpPr txBox="1"/>
          <p:nvPr/>
        </p:nvSpPr>
        <p:spPr>
          <a:xfrm>
            <a:off x="867950" y="227695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207" name="Google Shape;1207;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208" name="Google Shape;1208;p82"/>
          <p:cNvSpPr txBox="1"/>
          <p:nvPr/>
        </p:nvSpPr>
        <p:spPr>
          <a:xfrm>
            <a:off x="231400" y="613500"/>
            <a:ext cx="977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Let us construct triangle PQR, where PQ = 7 cm, PR = 9 cm and QR = 10 cm</a:t>
            </a:r>
            <a:endParaRPr sz="1800">
              <a:solidFill>
                <a:schemeClr val="dk1"/>
              </a:solidFill>
              <a:latin typeface="Lexend"/>
              <a:ea typeface="Lexend"/>
              <a:cs typeface="Lexend"/>
              <a:sym typeface="Lexend"/>
            </a:endParaRPr>
          </a:p>
        </p:txBody>
      </p:sp>
      <p:sp>
        <p:nvSpPr>
          <p:cNvPr id="1209" name="Google Shape;1209;p82"/>
          <p:cNvSpPr txBox="1"/>
          <p:nvPr/>
        </p:nvSpPr>
        <p:spPr>
          <a:xfrm>
            <a:off x="248451" y="993875"/>
            <a:ext cx="80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To support us with this, it is helpful to do a quick sketch of the triangle. </a:t>
            </a:r>
            <a:endParaRPr sz="1800">
              <a:solidFill>
                <a:schemeClr val="dk1"/>
              </a:solidFill>
              <a:latin typeface="Lexend"/>
              <a:ea typeface="Lexend"/>
              <a:cs typeface="Lexend"/>
              <a:sym typeface="Lexend"/>
            </a:endParaRPr>
          </a:p>
        </p:txBody>
      </p:sp>
      <p:sp>
        <p:nvSpPr>
          <p:cNvPr id="1210" name="Google Shape;1210;p82"/>
          <p:cNvSpPr/>
          <p:nvPr/>
        </p:nvSpPr>
        <p:spPr>
          <a:xfrm rot="10800000">
            <a:off x="2585425" y="1985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1" name="Google Shape;1211;p82"/>
          <p:cNvSpPr/>
          <p:nvPr/>
        </p:nvSpPr>
        <p:spPr>
          <a:xfrm rot="10800000">
            <a:off x="1137625" y="2366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2" name="Google Shape;1212;p82"/>
          <p:cNvSpPr/>
          <p:nvPr/>
        </p:nvSpPr>
        <p:spPr>
          <a:xfrm rot="10800000">
            <a:off x="985225" y="15286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3" name="Google Shape;1213;p82"/>
          <p:cNvSpPr txBox="1"/>
          <p:nvPr/>
        </p:nvSpPr>
        <p:spPr>
          <a:xfrm>
            <a:off x="643225" y="13194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t>
            </a:r>
            <a:endParaRPr sz="1800">
              <a:solidFill>
                <a:schemeClr val="dk1"/>
              </a:solidFill>
              <a:latin typeface="Lexend"/>
              <a:ea typeface="Lexend"/>
              <a:cs typeface="Lexend"/>
              <a:sym typeface="Lexend"/>
            </a:endParaRPr>
          </a:p>
        </p:txBody>
      </p:sp>
      <p:sp>
        <p:nvSpPr>
          <p:cNvPr id="1214" name="Google Shape;1214;p82"/>
          <p:cNvSpPr txBox="1"/>
          <p:nvPr/>
        </p:nvSpPr>
        <p:spPr>
          <a:xfrm>
            <a:off x="2628625" y="17811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cxnSp>
        <p:nvCxnSpPr>
          <p:cNvPr id="1215" name="Google Shape;1215;p82"/>
          <p:cNvCxnSpPr/>
          <p:nvPr/>
        </p:nvCxnSpPr>
        <p:spPr>
          <a:xfrm>
            <a:off x="1006725" y="1571168"/>
            <a:ext cx="152400" cy="838200"/>
          </a:xfrm>
          <a:prstGeom prst="straightConnector1">
            <a:avLst/>
          </a:prstGeom>
          <a:noFill/>
          <a:ln cap="flat" cmpd="sng" w="28575">
            <a:solidFill>
              <a:schemeClr val="dk1"/>
            </a:solidFill>
            <a:prstDash val="solid"/>
            <a:round/>
            <a:headEnd len="med" w="med" type="none"/>
            <a:tailEnd len="med" w="med" type="none"/>
          </a:ln>
        </p:spPr>
      </p:cxnSp>
      <p:cxnSp>
        <p:nvCxnSpPr>
          <p:cNvPr id="1216" name="Google Shape;1216;p82"/>
          <p:cNvCxnSpPr/>
          <p:nvPr/>
        </p:nvCxnSpPr>
        <p:spPr>
          <a:xfrm>
            <a:off x="991427" y="1542794"/>
            <a:ext cx="1637100" cy="472500"/>
          </a:xfrm>
          <a:prstGeom prst="straightConnector1">
            <a:avLst/>
          </a:prstGeom>
          <a:noFill/>
          <a:ln cap="flat" cmpd="sng" w="28575">
            <a:solidFill>
              <a:schemeClr val="dk1"/>
            </a:solidFill>
            <a:prstDash val="solid"/>
            <a:round/>
            <a:headEnd len="med" w="med" type="none"/>
            <a:tailEnd len="med" w="med" type="none"/>
          </a:ln>
        </p:spPr>
      </p:cxnSp>
      <p:cxnSp>
        <p:nvCxnSpPr>
          <p:cNvPr id="1217" name="Google Shape;1217;p82"/>
          <p:cNvCxnSpPr/>
          <p:nvPr/>
        </p:nvCxnSpPr>
        <p:spPr>
          <a:xfrm flipH="1" rot="10800000">
            <a:off x="1180725" y="2006768"/>
            <a:ext cx="1447800" cy="381000"/>
          </a:xfrm>
          <a:prstGeom prst="straightConnector1">
            <a:avLst/>
          </a:prstGeom>
          <a:noFill/>
          <a:ln cap="flat" cmpd="sng" w="28575">
            <a:solidFill>
              <a:schemeClr val="dk1"/>
            </a:solidFill>
            <a:prstDash val="solid"/>
            <a:round/>
            <a:headEnd len="med" w="med" type="none"/>
            <a:tailEnd len="med" w="med" type="none"/>
          </a:ln>
        </p:spPr>
      </p:cxnSp>
      <p:sp>
        <p:nvSpPr>
          <p:cNvPr id="1218" name="Google Shape;1218;p82"/>
          <p:cNvSpPr txBox="1"/>
          <p:nvPr/>
        </p:nvSpPr>
        <p:spPr>
          <a:xfrm>
            <a:off x="436275" y="17378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219" name="Google Shape;1219;p82"/>
          <p:cNvSpPr txBox="1"/>
          <p:nvPr/>
        </p:nvSpPr>
        <p:spPr>
          <a:xfrm>
            <a:off x="1646700" y="138847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220" name="Google Shape;1220;p82"/>
          <p:cNvSpPr txBox="1"/>
          <p:nvPr/>
        </p:nvSpPr>
        <p:spPr>
          <a:xfrm>
            <a:off x="1585375" y="2164126"/>
            <a:ext cx="87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sp>
        <p:nvSpPr>
          <p:cNvPr id="1221" name="Google Shape;1221;p82"/>
          <p:cNvSpPr txBox="1"/>
          <p:nvPr/>
        </p:nvSpPr>
        <p:spPr>
          <a:xfrm>
            <a:off x="3196850" y="1455575"/>
            <a:ext cx="542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Now, we can start the construction.</a:t>
            </a:r>
            <a:endParaRPr sz="1800">
              <a:solidFill>
                <a:schemeClr val="dk1"/>
              </a:solidFill>
              <a:latin typeface="Lexend"/>
              <a:ea typeface="Lexend"/>
              <a:cs typeface="Lexend"/>
              <a:sym typeface="Lexend"/>
            </a:endParaRPr>
          </a:p>
        </p:txBody>
      </p:sp>
      <p:cxnSp>
        <p:nvCxnSpPr>
          <p:cNvPr id="1222" name="Google Shape;1222;p82"/>
          <p:cNvCxnSpPr/>
          <p:nvPr/>
        </p:nvCxnSpPr>
        <p:spPr>
          <a:xfrm>
            <a:off x="442248" y="4128600"/>
            <a:ext cx="1221900" cy="0"/>
          </a:xfrm>
          <a:prstGeom prst="straightConnector1">
            <a:avLst/>
          </a:prstGeom>
          <a:noFill/>
          <a:ln cap="flat" cmpd="sng" w="28575">
            <a:solidFill>
              <a:schemeClr val="dk1"/>
            </a:solidFill>
            <a:prstDash val="solid"/>
            <a:round/>
            <a:headEnd len="med" w="med" type="none"/>
            <a:tailEnd len="med" w="med" type="none"/>
          </a:ln>
        </p:spPr>
      </p:cxnSp>
      <p:cxnSp>
        <p:nvCxnSpPr>
          <p:cNvPr id="1223" name="Google Shape;1223;p82"/>
          <p:cNvCxnSpPr/>
          <p:nvPr/>
        </p:nvCxnSpPr>
        <p:spPr>
          <a:xfrm>
            <a:off x="442250" y="4554200"/>
            <a:ext cx="1565700" cy="0"/>
          </a:xfrm>
          <a:prstGeom prst="straightConnector1">
            <a:avLst/>
          </a:prstGeom>
          <a:noFill/>
          <a:ln cap="flat" cmpd="sng" w="28575">
            <a:solidFill>
              <a:schemeClr val="dk1"/>
            </a:solidFill>
            <a:prstDash val="solid"/>
            <a:round/>
            <a:headEnd len="med" w="med" type="none"/>
            <a:tailEnd len="med" w="med" type="none"/>
          </a:ln>
        </p:spPr>
      </p:cxnSp>
      <p:sp>
        <p:nvSpPr>
          <p:cNvPr id="1224" name="Google Shape;1224;p82"/>
          <p:cNvSpPr txBox="1"/>
          <p:nvPr/>
        </p:nvSpPr>
        <p:spPr>
          <a:xfrm>
            <a:off x="705075" y="40522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225" name="Google Shape;1225;p82"/>
          <p:cNvSpPr txBox="1"/>
          <p:nvPr/>
        </p:nvSpPr>
        <p:spPr>
          <a:xfrm>
            <a:off x="847250" y="4437551"/>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cxnSp>
        <p:nvCxnSpPr>
          <p:cNvPr id="1226" name="Google Shape;1226;p82"/>
          <p:cNvCxnSpPr/>
          <p:nvPr/>
        </p:nvCxnSpPr>
        <p:spPr>
          <a:xfrm>
            <a:off x="4964950" y="3247050"/>
            <a:ext cx="1741500" cy="0"/>
          </a:xfrm>
          <a:prstGeom prst="straightConnector1">
            <a:avLst/>
          </a:prstGeom>
          <a:noFill/>
          <a:ln cap="flat" cmpd="sng" w="28575">
            <a:solidFill>
              <a:schemeClr val="dk1"/>
            </a:solidFill>
            <a:prstDash val="solid"/>
            <a:round/>
            <a:headEnd len="med" w="med" type="none"/>
            <a:tailEnd len="med" w="med" type="none"/>
          </a:ln>
        </p:spPr>
      </p:cxnSp>
      <p:sp>
        <p:nvSpPr>
          <p:cNvPr id="1227" name="Google Shape;1227;p82"/>
          <p:cNvSpPr txBox="1"/>
          <p:nvPr/>
        </p:nvSpPr>
        <p:spPr>
          <a:xfrm>
            <a:off x="5369950" y="3130400"/>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grpSp>
        <p:nvGrpSpPr>
          <p:cNvPr id="1228" name="Google Shape;1228;p82"/>
          <p:cNvGrpSpPr/>
          <p:nvPr/>
        </p:nvGrpSpPr>
        <p:grpSpPr>
          <a:xfrm flipH="1">
            <a:off x="131648" y="2491821"/>
            <a:ext cx="920544" cy="1738864"/>
            <a:chOff x="4045431" y="1513250"/>
            <a:chExt cx="2005105" cy="3787550"/>
          </a:xfrm>
        </p:grpSpPr>
        <p:pic>
          <p:nvPicPr>
            <p:cNvPr id="1229" name="Google Shape;1229;p82"/>
            <p:cNvPicPr preferRelativeResize="0"/>
            <p:nvPr/>
          </p:nvPicPr>
          <p:blipFill rotWithShape="1">
            <a:blip r:embed="rId3">
              <a:alphaModFix/>
            </a:blip>
            <a:srcRect b="7544" l="11418" r="67020" t="29160"/>
            <a:stretch/>
          </p:blipFill>
          <p:spPr>
            <a:xfrm rot="-946096">
              <a:off x="4385717" y="2528744"/>
              <a:ext cx="1158240" cy="2664823"/>
            </a:xfrm>
            <a:prstGeom prst="rect">
              <a:avLst/>
            </a:prstGeom>
            <a:noFill/>
            <a:ln>
              <a:noFill/>
            </a:ln>
          </p:spPr>
        </p:pic>
        <p:pic>
          <p:nvPicPr>
            <p:cNvPr id="1230" name="Google Shape;1230;p82"/>
            <p:cNvPicPr preferRelativeResize="0"/>
            <p:nvPr/>
          </p:nvPicPr>
          <p:blipFill rotWithShape="1">
            <a:blip r:embed="rId3">
              <a:alphaModFix/>
            </a:blip>
            <a:srcRect b="9195" l="63130" r="21307" t="30824"/>
            <a:stretch/>
          </p:blipFill>
          <p:spPr>
            <a:xfrm rot="876952">
              <a:off x="4909437" y="2624675"/>
              <a:ext cx="836023" cy="2525214"/>
            </a:xfrm>
            <a:prstGeom prst="rect">
              <a:avLst/>
            </a:prstGeom>
            <a:noFill/>
            <a:ln>
              <a:noFill/>
            </a:ln>
          </p:spPr>
        </p:pic>
        <p:pic>
          <p:nvPicPr>
            <p:cNvPr id="1231" name="Google Shape;1231;p82"/>
            <p:cNvPicPr preferRelativeResize="0"/>
            <p:nvPr/>
          </p:nvPicPr>
          <p:blipFill rotWithShape="1">
            <a:blip r:embed="rId3">
              <a:alphaModFix/>
            </a:blip>
            <a:srcRect b="60188" l="45056" r="46189" t="8784"/>
            <a:stretch/>
          </p:blipFill>
          <p:spPr>
            <a:xfrm>
              <a:off x="5016136" y="1513250"/>
              <a:ext cx="470263" cy="1306286"/>
            </a:xfrm>
            <a:prstGeom prst="rect">
              <a:avLst/>
            </a:prstGeom>
            <a:noFill/>
            <a:ln>
              <a:noFill/>
            </a:ln>
          </p:spPr>
        </p:pic>
      </p:grpSp>
      <p:sp>
        <p:nvSpPr>
          <p:cNvPr id="1232" name="Google Shape;1232;p82"/>
          <p:cNvSpPr txBox="1"/>
          <p:nvPr/>
        </p:nvSpPr>
        <p:spPr>
          <a:xfrm>
            <a:off x="4653000" y="30162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233" name="Google Shape;1233;p82"/>
          <p:cNvSpPr txBox="1"/>
          <p:nvPr/>
        </p:nvSpPr>
        <p:spPr>
          <a:xfrm>
            <a:off x="6673300" y="3054188"/>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grpSp>
        <p:nvGrpSpPr>
          <p:cNvPr id="1234" name="Google Shape;1234;p82"/>
          <p:cNvGrpSpPr/>
          <p:nvPr/>
        </p:nvGrpSpPr>
        <p:grpSpPr>
          <a:xfrm flipH="1">
            <a:off x="4914507" y="1785318"/>
            <a:ext cx="1527368" cy="1602095"/>
            <a:chOff x="1937989" y="967413"/>
            <a:chExt cx="3362765" cy="3527290"/>
          </a:xfrm>
        </p:grpSpPr>
        <p:pic>
          <p:nvPicPr>
            <p:cNvPr id="1235" name="Google Shape;1235;p82"/>
            <p:cNvPicPr preferRelativeResize="0"/>
            <p:nvPr/>
          </p:nvPicPr>
          <p:blipFill rotWithShape="1">
            <a:blip r:embed="rId3">
              <a:alphaModFix/>
            </a:blip>
            <a:srcRect b="7544" l="11418" r="67020" t="29160"/>
            <a:stretch/>
          </p:blipFill>
          <p:spPr>
            <a:xfrm rot="1287039">
              <a:off x="2385137" y="1710387"/>
              <a:ext cx="1158241" cy="2664824"/>
            </a:xfrm>
            <a:prstGeom prst="rect">
              <a:avLst/>
            </a:prstGeom>
            <a:noFill/>
            <a:ln>
              <a:noFill/>
            </a:ln>
          </p:spPr>
        </p:pic>
        <p:pic>
          <p:nvPicPr>
            <p:cNvPr id="1236" name="Google Shape;1236;p82"/>
            <p:cNvPicPr preferRelativeResize="0"/>
            <p:nvPr/>
          </p:nvPicPr>
          <p:blipFill rotWithShape="1">
            <a:blip r:embed="rId3">
              <a:alphaModFix/>
            </a:blip>
            <a:srcRect b="9195" l="63130" r="21307" t="30824"/>
            <a:stretch/>
          </p:blipFill>
          <p:spPr>
            <a:xfrm rot="-802406">
              <a:off x="4092300" y="1704123"/>
              <a:ext cx="906107" cy="2720596"/>
            </a:xfrm>
            <a:prstGeom prst="rect">
              <a:avLst/>
            </a:prstGeom>
            <a:noFill/>
            <a:ln>
              <a:noFill/>
            </a:ln>
          </p:spPr>
        </p:pic>
        <p:pic>
          <p:nvPicPr>
            <p:cNvPr id="1237" name="Google Shape;1237;p82"/>
            <p:cNvPicPr preferRelativeResize="0"/>
            <p:nvPr/>
          </p:nvPicPr>
          <p:blipFill rotWithShape="1">
            <a:blip r:embed="rId3">
              <a:alphaModFix/>
            </a:blip>
            <a:srcRect b="60188" l="45056" r="46189" t="8784"/>
            <a:stretch/>
          </p:blipFill>
          <p:spPr>
            <a:xfrm>
              <a:off x="3741320" y="967413"/>
              <a:ext cx="470263" cy="1306286"/>
            </a:xfrm>
            <a:prstGeom prst="rect">
              <a:avLst/>
            </a:prstGeom>
            <a:noFill/>
            <a:ln>
              <a:noFill/>
            </a:ln>
          </p:spPr>
        </p:pic>
      </p:grpSp>
      <p:sp>
        <p:nvSpPr>
          <p:cNvPr id="1238" name="Google Shape;1238;p82"/>
          <p:cNvSpPr/>
          <p:nvPr/>
        </p:nvSpPr>
        <p:spPr>
          <a:xfrm>
            <a:off x="3757754" y="2022915"/>
            <a:ext cx="2440800" cy="24408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0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83"/>
          <p:cNvSpPr/>
          <p:nvPr/>
        </p:nvSpPr>
        <p:spPr>
          <a:xfrm>
            <a:off x="5124254" y="1677315"/>
            <a:ext cx="3132000" cy="31320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44" name="Google Shape;1244;p83"/>
          <p:cNvGrpSpPr/>
          <p:nvPr/>
        </p:nvGrpSpPr>
        <p:grpSpPr>
          <a:xfrm flipH="1">
            <a:off x="381599" y="3163079"/>
            <a:ext cx="1860074" cy="1581870"/>
            <a:chOff x="1226832" y="1057413"/>
            <a:chExt cx="4095276" cy="3482762"/>
          </a:xfrm>
        </p:grpSpPr>
        <p:pic>
          <p:nvPicPr>
            <p:cNvPr id="1245" name="Google Shape;1245;p83"/>
            <p:cNvPicPr preferRelativeResize="0"/>
            <p:nvPr/>
          </p:nvPicPr>
          <p:blipFill rotWithShape="1">
            <a:blip r:embed="rId3">
              <a:alphaModFix/>
            </a:blip>
            <a:srcRect b="7544" l="11418" r="67020" t="29160"/>
            <a:stretch/>
          </p:blipFill>
          <p:spPr>
            <a:xfrm rot="1711559">
              <a:off x="1792831" y="1647375"/>
              <a:ext cx="1158240" cy="2664824"/>
            </a:xfrm>
            <a:prstGeom prst="rect">
              <a:avLst/>
            </a:prstGeom>
            <a:noFill/>
            <a:ln>
              <a:noFill/>
            </a:ln>
          </p:spPr>
        </p:pic>
        <p:pic>
          <p:nvPicPr>
            <p:cNvPr id="1246" name="Google Shape;1246;p83"/>
            <p:cNvPicPr preferRelativeResize="0"/>
            <p:nvPr/>
          </p:nvPicPr>
          <p:blipFill rotWithShape="1">
            <a:blip r:embed="rId3">
              <a:alphaModFix/>
            </a:blip>
            <a:srcRect b="9195" l="63130" r="21307" t="30824"/>
            <a:stretch/>
          </p:blipFill>
          <p:spPr>
            <a:xfrm rot="-1399920">
              <a:off x="3914293" y="1751380"/>
              <a:ext cx="906108" cy="2720596"/>
            </a:xfrm>
            <a:prstGeom prst="rect">
              <a:avLst/>
            </a:prstGeom>
            <a:noFill/>
            <a:ln>
              <a:noFill/>
            </a:ln>
          </p:spPr>
        </p:pic>
        <p:pic>
          <p:nvPicPr>
            <p:cNvPr id="1247" name="Google Shape;1247;p83"/>
            <p:cNvPicPr preferRelativeResize="0"/>
            <p:nvPr/>
          </p:nvPicPr>
          <p:blipFill rotWithShape="1">
            <a:blip r:embed="rId3">
              <a:alphaModFix/>
            </a:blip>
            <a:srcRect b="60188" l="45056" r="46189" t="8784"/>
            <a:stretch/>
          </p:blipFill>
          <p:spPr>
            <a:xfrm>
              <a:off x="3311895" y="1057413"/>
              <a:ext cx="470263" cy="1306286"/>
            </a:xfrm>
            <a:prstGeom prst="rect">
              <a:avLst/>
            </a:prstGeom>
            <a:noFill/>
            <a:ln>
              <a:noFill/>
            </a:ln>
          </p:spPr>
        </p:pic>
      </p:grpSp>
      <p:sp>
        <p:nvSpPr>
          <p:cNvPr id="1248" name="Google Shape;1248;p83"/>
          <p:cNvSpPr txBox="1"/>
          <p:nvPr/>
        </p:nvSpPr>
        <p:spPr>
          <a:xfrm>
            <a:off x="867950" y="227695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249" name="Google Shape;1249;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250" name="Google Shape;1250;p83"/>
          <p:cNvSpPr txBox="1"/>
          <p:nvPr/>
        </p:nvSpPr>
        <p:spPr>
          <a:xfrm>
            <a:off x="231400" y="613500"/>
            <a:ext cx="977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Let us construct triangle PQR, where PQ = 7 cm, PR = 9 cm and QR = 10 cm</a:t>
            </a:r>
            <a:endParaRPr sz="1800">
              <a:solidFill>
                <a:schemeClr val="dk1"/>
              </a:solidFill>
              <a:latin typeface="Lexend"/>
              <a:ea typeface="Lexend"/>
              <a:cs typeface="Lexend"/>
              <a:sym typeface="Lexend"/>
            </a:endParaRPr>
          </a:p>
        </p:txBody>
      </p:sp>
      <p:sp>
        <p:nvSpPr>
          <p:cNvPr id="1251" name="Google Shape;1251;p83"/>
          <p:cNvSpPr txBox="1"/>
          <p:nvPr/>
        </p:nvSpPr>
        <p:spPr>
          <a:xfrm>
            <a:off x="248451" y="993875"/>
            <a:ext cx="80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To support us with this, it is helpful to do a quick sketch of the triangle. </a:t>
            </a:r>
            <a:endParaRPr sz="1800">
              <a:solidFill>
                <a:schemeClr val="dk1"/>
              </a:solidFill>
              <a:latin typeface="Lexend"/>
              <a:ea typeface="Lexend"/>
              <a:cs typeface="Lexend"/>
              <a:sym typeface="Lexend"/>
            </a:endParaRPr>
          </a:p>
        </p:txBody>
      </p:sp>
      <p:sp>
        <p:nvSpPr>
          <p:cNvPr id="1252" name="Google Shape;1252;p83"/>
          <p:cNvSpPr/>
          <p:nvPr/>
        </p:nvSpPr>
        <p:spPr>
          <a:xfrm rot="10800000">
            <a:off x="2585425" y="1985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3" name="Google Shape;1253;p83"/>
          <p:cNvSpPr/>
          <p:nvPr/>
        </p:nvSpPr>
        <p:spPr>
          <a:xfrm rot="10800000">
            <a:off x="1137625" y="2366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4" name="Google Shape;1254;p83"/>
          <p:cNvSpPr/>
          <p:nvPr/>
        </p:nvSpPr>
        <p:spPr>
          <a:xfrm rot="10800000">
            <a:off x="985225" y="15286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5" name="Google Shape;1255;p83"/>
          <p:cNvSpPr txBox="1"/>
          <p:nvPr/>
        </p:nvSpPr>
        <p:spPr>
          <a:xfrm>
            <a:off x="643225" y="13194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t>
            </a:r>
            <a:endParaRPr sz="1800">
              <a:solidFill>
                <a:schemeClr val="dk1"/>
              </a:solidFill>
              <a:latin typeface="Lexend"/>
              <a:ea typeface="Lexend"/>
              <a:cs typeface="Lexend"/>
              <a:sym typeface="Lexend"/>
            </a:endParaRPr>
          </a:p>
        </p:txBody>
      </p:sp>
      <p:sp>
        <p:nvSpPr>
          <p:cNvPr id="1256" name="Google Shape;1256;p83"/>
          <p:cNvSpPr txBox="1"/>
          <p:nvPr/>
        </p:nvSpPr>
        <p:spPr>
          <a:xfrm>
            <a:off x="2628625" y="17811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cxnSp>
        <p:nvCxnSpPr>
          <p:cNvPr id="1257" name="Google Shape;1257;p83"/>
          <p:cNvCxnSpPr/>
          <p:nvPr/>
        </p:nvCxnSpPr>
        <p:spPr>
          <a:xfrm>
            <a:off x="1006725" y="1571168"/>
            <a:ext cx="152400" cy="838200"/>
          </a:xfrm>
          <a:prstGeom prst="straightConnector1">
            <a:avLst/>
          </a:prstGeom>
          <a:noFill/>
          <a:ln cap="flat" cmpd="sng" w="28575">
            <a:solidFill>
              <a:schemeClr val="dk1"/>
            </a:solidFill>
            <a:prstDash val="solid"/>
            <a:round/>
            <a:headEnd len="med" w="med" type="none"/>
            <a:tailEnd len="med" w="med" type="none"/>
          </a:ln>
        </p:spPr>
      </p:cxnSp>
      <p:cxnSp>
        <p:nvCxnSpPr>
          <p:cNvPr id="1258" name="Google Shape;1258;p83"/>
          <p:cNvCxnSpPr/>
          <p:nvPr/>
        </p:nvCxnSpPr>
        <p:spPr>
          <a:xfrm>
            <a:off x="991427" y="1542794"/>
            <a:ext cx="1637100" cy="472500"/>
          </a:xfrm>
          <a:prstGeom prst="straightConnector1">
            <a:avLst/>
          </a:prstGeom>
          <a:noFill/>
          <a:ln cap="flat" cmpd="sng" w="28575">
            <a:solidFill>
              <a:schemeClr val="dk1"/>
            </a:solidFill>
            <a:prstDash val="solid"/>
            <a:round/>
            <a:headEnd len="med" w="med" type="none"/>
            <a:tailEnd len="med" w="med" type="none"/>
          </a:ln>
        </p:spPr>
      </p:cxnSp>
      <p:cxnSp>
        <p:nvCxnSpPr>
          <p:cNvPr id="1259" name="Google Shape;1259;p83"/>
          <p:cNvCxnSpPr/>
          <p:nvPr/>
        </p:nvCxnSpPr>
        <p:spPr>
          <a:xfrm flipH="1" rot="10800000">
            <a:off x="1180725" y="2006768"/>
            <a:ext cx="1447800" cy="381000"/>
          </a:xfrm>
          <a:prstGeom prst="straightConnector1">
            <a:avLst/>
          </a:prstGeom>
          <a:noFill/>
          <a:ln cap="flat" cmpd="sng" w="28575">
            <a:solidFill>
              <a:schemeClr val="dk1"/>
            </a:solidFill>
            <a:prstDash val="solid"/>
            <a:round/>
            <a:headEnd len="med" w="med" type="none"/>
            <a:tailEnd len="med" w="med" type="none"/>
          </a:ln>
        </p:spPr>
      </p:cxnSp>
      <p:sp>
        <p:nvSpPr>
          <p:cNvPr id="1260" name="Google Shape;1260;p83"/>
          <p:cNvSpPr txBox="1"/>
          <p:nvPr/>
        </p:nvSpPr>
        <p:spPr>
          <a:xfrm>
            <a:off x="436275" y="17378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261" name="Google Shape;1261;p83"/>
          <p:cNvSpPr txBox="1"/>
          <p:nvPr/>
        </p:nvSpPr>
        <p:spPr>
          <a:xfrm>
            <a:off x="1646700" y="138847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262" name="Google Shape;1262;p83"/>
          <p:cNvSpPr txBox="1"/>
          <p:nvPr/>
        </p:nvSpPr>
        <p:spPr>
          <a:xfrm>
            <a:off x="1585375" y="2164126"/>
            <a:ext cx="87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cxnSp>
        <p:nvCxnSpPr>
          <p:cNvPr id="1263" name="Google Shape;1263;p83"/>
          <p:cNvCxnSpPr/>
          <p:nvPr/>
        </p:nvCxnSpPr>
        <p:spPr>
          <a:xfrm>
            <a:off x="442248" y="4128600"/>
            <a:ext cx="1221900" cy="0"/>
          </a:xfrm>
          <a:prstGeom prst="straightConnector1">
            <a:avLst/>
          </a:prstGeom>
          <a:noFill/>
          <a:ln cap="flat" cmpd="sng" w="28575">
            <a:solidFill>
              <a:schemeClr val="dk1"/>
            </a:solidFill>
            <a:prstDash val="solid"/>
            <a:round/>
            <a:headEnd len="med" w="med" type="none"/>
            <a:tailEnd len="med" w="med" type="none"/>
          </a:ln>
        </p:spPr>
      </p:cxnSp>
      <p:cxnSp>
        <p:nvCxnSpPr>
          <p:cNvPr id="1264" name="Google Shape;1264;p83"/>
          <p:cNvCxnSpPr/>
          <p:nvPr/>
        </p:nvCxnSpPr>
        <p:spPr>
          <a:xfrm>
            <a:off x="442250" y="4554200"/>
            <a:ext cx="1565700" cy="0"/>
          </a:xfrm>
          <a:prstGeom prst="straightConnector1">
            <a:avLst/>
          </a:prstGeom>
          <a:noFill/>
          <a:ln cap="flat" cmpd="sng" w="28575">
            <a:solidFill>
              <a:schemeClr val="dk1"/>
            </a:solidFill>
            <a:prstDash val="solid"/>
            <a:round/>
            <a:headEnd len="med" w="med" type="none"/>
            <a:tailEnd len="med" w="med" type="none"/>
          </a:ln>
        </p:spPr>
      </p:cxnSp>
      <p:sp>
        <p:nvSpPr>
          <p:cNvPr id="1265" name="Google Shape;1265;p83"/>
          <p:cNvSpPr txBox="1"/>
          <p:nvPr/>
        </p:nvSpPr>
        <p:spPr>
          <a:xfrm>
            <a:off x="705075" y="40522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266" name="Google Shape;1266;p83"/>
          <p:cNvSpPr txBox="1"/>
          <p:nvPr/>
        </p:nvSpPr>
        <p:spPr>
          <a:xfrm>
            <a:off x="847250" y="4437551"/>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cxnSp>
        <p:nvCxnSpPr>
          <p:cNvPr id="1267" name="Google Shape;1267;p83"/>
          <p:cNvCxnSpPr/>
          <p:nvPr/>
        </p:nvCxnSpPr>
        <p:spPr>
          <a:xfrm>
            <a:off x="4964950" y="3247050"/>
            <a:ext cx="1741500" cy="0"/>
          </a:xfrm>
          <a:prstGeom prst="straightConnector1">
            <a:avLst/>
          </a:prstGeom>
          <a:noFill/>
          <a:ln cap="flat" cmpd="sng" w="28575">
            <a:solidFill>
              <a:schemeClr val="dk1"/>
            </a:solidFill>
            <a:prstDash val="solid"/>
            <a:round/>
            <a:headEnd len="med" w="med" type="none"/>
            <a:tailEnd len="med" w="med" type="none"/>
          </a:ln>
        </p:spPr>
      </p:cxnSp>
      <p:sp>
        <p:nvSpPr>
          <p:cNvPr id="1268" name="Google Shape;1268;p83"/>
          <p:cNvSpPr txBox="1"/>
          <p:nvPr/>
        </p:nvSpPr>
        <p:spPr>
          <a:xfrm>
            <a:off x="5369950" y="3130400"/>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grpSp>
        <p:nvGrpSpPr>
          <p:cNvPr id="1269" name="Google Shape;1269;p83"/>
          <p:cNvGrpSpPr/>
          <p:nvPr/>
        </p:nvGrpSpPr>
        <p:grpSpPr>
          <a:xfrm flipH="1">
            <a:off x="131648" y="2894285"/>
            <a:ext cx="920544" cy="1738864"/>
            <a:chOff x="4045431" y="1513250"/>
            <a:chExt cx="2005105" cy="3787550"/>
          </a:xfrm>
        </p:grpSpPr>
        <p:pic>
          <p:nvPicPr>
            <p:cNvPr id="1270" name="Google Shape;1270;p83"/>
            <p:cNvPicPr preferRelativeResize="0"/>
            <p:nvPr/>
          </p:nvPicPr>
          <p:blipFill rotWithShape="1">
            <a:blip r:embed="rId3">
              <a:alphaModFix/>
            </a:blip>
            <a:srcRect b="7544" l="11418" r="67020" t="29160"/>
            <a:stretch/>
          </p:blipFill>
          <p:spPr>
            <a:xfrm rot="-946096">
              <a:off x="4385717" y="2528744"/>
              <a:ext cx="1158240" cy="2664823"/>
            </a:xfrm>
            <a:prstGeom prst="rect">
              <a:avLst/>
            </a:prstGeom>
            <a:noFill/>
            <a:ln>
              <a:noFill/>
            </a:ln>
          </p:spPr>
        </p:pic>
        <p:pic>
          <p:nvPicPr>
            <p:cNvPr id="1271" name="Google Shape;1271;p83"/>
            <p:cNvPicPr preferRelativeResize="0"/>
            <p:nvPr/>
          </p:nvPicPr>
          <p:blipFill rotWithShape="1">
            <a:blip r:embed="rId3">
              <a:alphaModFix/>
            </a:blip>
            <a:srcRect b="9195" l="63130" r="21307" t="30824"/>
            <a:stretch/>
          </p:blipFill>
          <p:spPr>
            <a:xfrm rot="876952">
              <a:off x="4909437" y="2624675"/>
              <a:ext cx="836023" cy="2525214"/>
            </a:xfrm>
            <a:prstGeom prst="rect">
              <a:avLst/>
            </a:prstGeom>
            <a:noFill/>
            <a:ln>
              <a:noFill/>
            </a:ln>
          </p:spPr>
        </p:pic>
        <p:pic>
          <p:nvPicPr>
            <p:cNvPr id="1272" name="Google Shape;1272;p83"/>
            <p:cNvPicPr preferRelativeResize="0"/>
            <p:nvPr/>
          </p:nvPicPr>
          <p:blipFill rotWithShape="1">
            <a:blip r:embed="rId3">
              <a:alphaModFix/>
            </a:blip>
            <a:srcRect b="60188" l="45056" r="46189" t="8784"/>
            <a:stretch/>
          </p:blipFill>
          <p:spPr>
            <a:xfrm>
              <a:off x="5016136" y="1513250"/>
              <a:ext cx="470263" cy="1306286"/>
            </a:xfrm>
            <a:prstGeom prst="rect">
              <a:avLst/>
            </a:prstGeom>
            <a:noFill/>
            <a:ln>
              <a:noFill/>
            </a:ln>
          </p:spPr>
        </p:pic>
      </p:grpSp>
      <p:sp>
        <p:nvSpPr>
          <p:cNvPr id="1273" name="Google Shape;1273;p83"/>
          <p:cNvSpPr txBox="1"/>
          <p:nvPr/>
        </p:nvSpPr>
        <p:spPr>
          <a:xfrm>
            <a:off x="4653000" y="30162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274" name="Google Shape;1274;p83"/>
          <p:cNvSpPr txBox="1"/>
          <p:nvPr/>
        </p:nvSpPr>
        <p:spPr>
          <a:xfrm>
            <a:off x="6673300" y="3054188"/>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sp>
        <p:nvSpPr>
          <p:cNvPr id="1275" name="Google Shape;1275;p83"/>
          <p:cNvSpPr/>
          <p:nvPr/>
        </p:nvSpPr>
        <p:spPr>
          <a:xfrm>
            <a:off x="3757754" y="2022915"/>
            <a:ext cx="2440800" cy="24408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76" name="Google Shape;1276;p83"/>
          <p:cNvGrpSpPr/>
          <p:nvPr/>
        </p:nvGrpSpPr>
        <p:grpSpPr>
          <a:xfrm>
            <a:off x="4905661" y="1855604"/>
            <a:ext cx="1860074" cy="1581870"/>
            <a:chOff x="1226832" y="1057413"/>
            <a:chExt cx="4095276" cy="3482762"/>
          </a:xfrm>
        </p:grpSpPr>
        <p:pic>
          <p:nvPicPr>
            <p:cNvPr id="1277" name="Google Shape;1277;p83"/>
            <p:cNvPicPr preferRelativeResize="0"/>
            <p:nvPr/>
          </p:nvPicPr>
          <p:blipFill rotWithShape="1">
            <a:blip r:embed="rId3">
              <a:alphaModFix/>
            </a:blip>
            <a:srcRect b="7544" l="11418" r="67020" t="29160"/>
            <a:stretch/>
          </p:blipFill>
          <p:spPr>
            <a:xfrm rot="1711559">
              <a:off x="1792831" y="1647375"/>
              <a:ext cx="1158240" cy="2664824"/>
            </a:xfrm>
            <a:prstGeom prst="rect">
              <a:avLst/>
            </a:prstGeom>
            <a:noFill/>
            <a:ln>
              <a:noFill/>
            </a:ln>
          </p:spPr>
        </p:pic>
        <p:pic>
          <p:nvPicPr>
            <p:cNvPr id="1278" name="Google Shape;1278;p83"/>
            <p:cNvPicPr preferRelativeResize="0"/>
            <p:nvPr/>
          </p:nvPicPr>
          <p:blipFill rotWithShape="1">
            <a:blip r:embed="rId3">
              <a:alphaModFix/>
            </a:blip>
            <a:srcRect b="9195" l="63130" r="21307" t="30824"/>
            <a:stretch/>
          </p:blipFill>
          <p:spPr>
            <a:xfrm rot="-1399920">
              <a:off x="3914293" y="1751380"/>
              <a:ext cx="906108" cy="2720596"/>
            </a:xfrm>
            <a:prstGeom prst="rect">
              <a:avLst/>
            </a:prstGeom>
            <a:noFill/>
            <a:ln>
              <a:noFill/>
            </a:ln>
          </p:spPr>
        </p:pic>
        <p:pic>
          <p:nvPicPr>
            <p:cNvPr id="1279" name="Google Shape;1279;p83"/>
            <p:cNvPicPr preferRelativeResize="0"/>
            <p:nvPr/>
          </p:nvPicPr>
          <p:blipFill rotWithShape="1">
            <a:blip r:embed="rId3">
              <a:alphaModFix/>
            </a:blip>
            <a:srcRect b="60188" l="45056" r="46189" t="8784"/>
            <a:stretch/>
          </p:blipFill>
          <p:spPr>
            <a:xfrm>
              <a:off x="3311895" y="1057413"/>
              <a:ext cx="470263" cy="130628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84"/>
          <p:cNvSpPr/>
          <p:nvPr/>
        </p:nvSpPr>
        <p:spPr>
          <a:xfrm>
            <a:off x="5133679" y="1673990"/>
            <a:ext cx="3132000" cy="31320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5" name="Google Shape;1285;p84"/>
          <p:cNvSpPr txBox="1"/>
          <p:nvPr/>
        </p:nvSpPr>
        <p:spPr>
          <a:xfrm>
            <a:off x="867950" y="227695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286" name="Google Shape;1286;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287" name="Google Shape;1287;p84"/>
          <p:cNvSpPr txBox="1"/>
          <p:nvPr/>
        </p:nvSpPr>
        <p:spPr>
          <a:xfrm>
            <a:off x="231400" y="613500"/>
            <a:ext cx="977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Let us construct triangle PQR, where PQ = 7 cm, PR = 9 cm and QR = 10 cm</a:t>
            </a:r>
            <a:endParaRPr sz="1800">
              <a:solidFill>
                <a:schemeClr val="dk1"/>
              </a:solidFill>
              <a:latin typeface="Lexend"/>
              <a:ea typeface="Lexend"/>
              <a:cs typeface="Lexend"/>
              <a:sym typeface="Lexend"/>
            </a:endParaRPr>
          </a:p>
        </p:txBody>
      </p:sp>
      <p:sp>
        <p:nvSpPr>
          <p:cNvPr id="1288" name="Google Shape;1288;p84"/>
          <p:cNvSpPr txBox="1"/>
          <p:nvPr/>
        </p:nvSpPr>
        <p:spPr>
          <a:xfrm>
            <a:off x="248451" y="993875"/>
            <a:ext cx="80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To support us with this, it is helpful to do a quick sketch of the triangle. </a:t>
            </a:r>
            <a:endParaRPr sz="1800">
              <a:solidFill>
                <a:schemeClr val="dk1"/>
              </a:solidFill>
              <a:latin typeface="Lexend"/>
              <a:ea typeface="Lexend"/>
              <a:cs typeface="Lexend"/>
              <a:sym typeface="Lexend"/>
            </a:endParaRPr>
          </a:p>
        </p:txBody>
      </p:sp>
      <p:sp>
        <p:nvSpPr>
          <p:cNvPr id="1289" name="Google Shape;1289;p84"/>
          <p:cNvSpPr/>
          <p:nvPr/>
        </p:nvSpPr>
        <p:spPr>
          <a:xfrm rot="10800000">
            <a:off x="2585425" y="1985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0" name="Google Shape;1290;p84"/>
          <p:cNvSpPr/>
          <p:nvPr/>
        </p:nvSpPr>
        <p:spPr>
          <a:xfrm rot="10800000">
            <a:off x="1137625" y="2366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1" name="Google Shape;1291;p84"/>
          <p:cNvSpPr/>
          <p:nvPr/>
        </p:nvSpPr>
        <p:spPr>
          <a:xfrm rot="10800000">
            <a:off x="985225" y="15286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2" name="Google Shape;1292;p84"/>
          <p:cNvSpPr txBox="1"/>
          <p:nvPr/>
        </p:nvSpPr>
        <p:spPr>
          <a:xfrm>
            <a:off x="643225" y="13194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t>
            </a:r>
            <a:endParaRPr sz="1800">
              <a:solidFill>
                <a:schemeClr val="dk1"/>
              </a:solidFill>
              <a:latin typeface="Lexend"/>
              <a:ea typeface="Lexend"/>
              <a:cs typeface="Lexend"/>
              <a:sym typeface="Lexend"/>
            </a:endParaRPr>
          </a:p>
        </p:txBody>
      </p:sp>
      <p:sp>
        <p:nvSpPr>
          <p:cNvPr id="1293" name="Google Shape;1293;p84"/>
          <p:cNvSpPr txBox="1"/>
          <p:nvPr/>
        </p:nvSpPr>
        <p:spPr>
          <a:xfrm>
            <a:off x="2628625" y="17811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cxnSp>
        <p:nvCxnSpPr>
          <p:cNvPr id="1294" name="Google Shape;1294;p84"/>
          <p:cNvCxnSpPr/>
          <p:nvPr/>
        </p:nvCxnSpPr>
        <p:spPr>
          <a:xfrm>
            <a:off x="1006725" y="1571168"/>
            <a:ext cx="152400" cy="838200"/>
          </a:xfrm>
          <a:prstGeom prst="straightConnector1">
            <a:avLst/>
          </a:prstGeom>
          <a:noFill/>
          <a:ln cap="flat" cmpd="sng" w="28575">
            <a:solidFill>
              <a:schemeClr val="dk1"/>
            </a:solidFill>
            <a:prstDash val="solid"/>
            <a:round/>
            <a:headEnd len="med" w="med" type="none"/>
            <a:tailEnd len="med" w="med" type="none"/>
          </a:ln>
        </p:spPr>
      </p:cxnSp>
      <p:cxnSp>
        <p:nvCxnSpPr>
          <p:cNvPr id="1295" name="Google Shape;1295;p84"/>
          <p:cNvCxnSpPr/>
          <p:nvPr/>
        </p:nvCxnSpPr>
        <p:spPr>
          <a:xfrm>
            <a:off x="991427" y="1542794"/>
            <a:ext cx="1637100" cy="472500"/>
          </a:xfrm>
          <a:prstGeom prst="straightConnector1">
            <a:avLst/>
          </a:prstGeom>
          <a:noFill/>
          <a:ln cap="flat" cmpd="sng" w="28575">
            <a:solidFill>
              <a:schemeClr val="dk1"/>
            </a:solidFill>
            <a:prstDash val="solid"/>
            <a:round/>
            <a:headEnd len="med" w="med" type="none"/>
            <a:tailEnd len="med" w="med" type="none"/>
          </a:ln>
        </p:spPr>
      </p:cxnSp>
      <p:cxnSp>
        <p:nvCxnSpPr>
          <p:cNvPr id="1296" name="Google Shape;1296;p84"/>
          <p:cNvCxnSpPr/>
          <p:nvPr/>
        </p:nvCxnSpPr>
        <p:spPr>
          <a:xfrm flipH="1" rot="10800000">
            <a:off x="1180725" y="2006768"/>
            <a:ext cx="1447800" cy="381000"/>
          </a:xfrm>
          <a:prstGeom prst="straightConnector1">
            <a:avLst/>
          </a:prstGeom>
          <a:noFill/>
          <a:ln cap="flat" cmpd="sng" w="28575">
            <a:solidFill>
              <a:schemeClr val="dk1"/>
            </a:solidFill>
            <a:prstDash val="solid"/>
            <a:round/>
            <a:headEnd len="med" w="med" type="none"/>
            <a:tailEnd len="med" w="med" type="none"/>
          </a:ln>
        </p:spPr>
      </p:cxnSp>
      <p:sp>
        <p:nvSpPr>
          <p:cNvPr id="1297" name="Google Shape;1297;p84"/>
          <p:cNvSpPr txBox="1"/>
          <p:nvPr/>
        </p:nvSpPr>
        <p:spPr>
          <a:xfrm>
            <a:off x="436275" y="17378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298" name="Google Shape;1298;p84"/>
          <p:cNvSpPr txBox="1"/>
          <p:nvPr/>
        </p:nvSpPr>
        <p:spPr>
          <a:xfrm>
            <a:off x="1646700" y="138847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299" name="Google Shape;1299;p84"/>
          <p:cNvSpPr txBox="1"/>
          <p:nvPr/>
        </p:nvSpPr>
        <p:spPr>
          <a:xfrm>
            <a:off x="1585375" y="2164126"/>
            <a:ext cx="87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cxnSp>
        <p:nvCxnSpPr>
          <p:cNvPr id="1300" name="Google Shape;1300;p84"/>
          <p:cNvCxnSpPr/>
          <p:nvPr/>
        </p:nvCxnSpPr>
        <p:spPr>
          <a:xfrm>
            <a:off x="442248" y="4128600"/>
            <a:ext cx="1221900" cy="0"/>
          </a:xfrm>
          <a:prstGeom prst="straightConnector1">
            <a:avLst/>
          </a:prstGeom>
          <a:noFill/>
          <a:ln cap="flat" cmpd="sng" w="28575">
            <a:solidFill>
              <a:schemeClr val="dk1"/>
            </a:solidFill>
            <a:prstDash val="solid"/>
            <a:round/>
            <a:headEnd len="med" w="med" type="none"/>
            <a:tailEnd len="med" w="med" type="none"/>
          </a:ln>
        </p:spPr>
      </p:cxnSp>
      <p:cxnSp>
        <p:nvCxnSpPr>
          <p:cNvPr id="1301" name="Google Shape;1301;p84"/>
          <p:cNvCxnSpPr/>
          <p:nvPr/>
        </p:nvCxnSpPr>
        <p:spPr>
          <a:xfrm>
            <a:off x="442250" y="4554200"/>
            <a:ext cx="1565700" cy="0"/>
          </a:xfrm>
          <a:prstGeom prst="straightConnector1">
            <a:avLst/>
          </a:prstGeom>
          <a:noFill/>
          <a:ln cap="flat" cmpd="sng" w="28575">
            <a:solidFill>
              <a:schemeClr val="dk1"/>
            </a:solidFill>
            <a:prstDash val="solid"/>
            <a:round/>
            <a:headEnd len="med" w="med" type="none"/>
            <a:tailEnd len="med" w="med" type="none"/>
          </a:ln>
        </p:spPr>
      </p:cxnSp>
      <p:sp>
        <p:nvSpPr>
          <p:cNvPr id="1302" name="Google Shape;1302;p84"/>
          <p:cNvSpPr txBox="1"/>
          <p:nvPr/>
        </p:nvSpPr>
        <p:spPr>
          <a:xfrm>
            <a:off x="705075" y="40522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303" name="Google Shape;1303;p84"/>
          <p:cNvSpPr txBox="1"/>
          <p:nvPr/>
        </p:nvSpPr>
        <p:spPr>
          <a:xfrm>
            <a:off x="847250" y="4437551"/>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cxnSp>
        <p:nvCxnSpPr>
          <p:cNvPr id="1304" name="Google Shape;1304;p84"/>
          <p:cNvCxnSpPr/>
          <p:nvPr/>
        </p:nvCxnSpPr>
        <p:spPr>
          <a:xfrm>
            <a:off x="4964950" y="3247050"/>
            <a:ext cx="1741500" cy="0"/>
          </a:xfrm>
          <a:prstGeom prst="straightConnector1">
            <a:avLst/>
          </a:prstGeom>
          <a:noFill/>
          <a:ln cap="flat" cmpd="sng" w="28575">
            <a:solidFill>
              <a:schemeClr val="dk1"/>
            </a:solidFill>
            <a:prstDash val="solid"/>
            <a:round/>
            <a:headEnd len="med" w="med" type="none"/>
            <a:tailEnd len="med" w="med" type="none"/>
          </a:ln>
        </p:spPr>
      </p:cxnSp>
      <p:sp>
        <p:nvSpPr>
          <p:cNvPr id="1305" name="Google Shape;1305;p84"/>
          <p:cNvSpPr txBox="1"/>
          <p:nvPr/>
        </p:nvSpPr>
        <p:spPr>
          <a:xfrm>
            <a:off x="5369950" y="3130400"/>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sp>
        <p:nvSpPr>
          <p:cNvPr id="1306" name="Google Shape;1306;p84"/>
          <p:cNvSpPr txBox="1"/>
          <p:nvPr/>
        </p:nvSpPr>
        <p:spPr>
          <a:xfrm>
            <a:off x="4653000" y="30162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307" name="Google Shape;1307;p84"/>
          <p:cNvSpPr txBox="1"/>
          <p:nvPr/>
        </p:nvSpPr>
        <p:spPr>
          <a:xfrm>
            <a:off x="6673300" y="3054188"/>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sp>
        <p:nvSpPr>
          <p:cNvPr id="1308" name="Google Shape;1308;p84"/>
          <p:cNvSpPr/>
          <p:nvPr/>
        </p:nvSpPr>
        <p:spPr>
          <a:xfrm>
            <a:off x="3757754" y="2022915"/>
            <a:ext cx="2440800" cy="24408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09" name="Google Shape;1309;p84"/>
          <p:cNvGrpSpPr/>
          <p:nvPr/>
        </p:nvGrpSpPr>
        <p:grpSpPr>
          <a:xfrm>
            <a:off x="5487082" y="2107832"/>
            <a:ext cx="123900" cy="123900"/>
            <a:chOff x="630000" y="1882500"/>
            <a:chExt cx="123900" cy="123900"/>
          </a:xfrm>
        </p:grpSpPr>
        <p:cxnSp>
          <p:nvCxnSpPr>
            <p:cNvPr id="1310" name="Google Shape;1310;p84"/>
            <p:cNvCxnSpPr/>
            <p:nvPr/>
          </p:nvCxnSpPr>
          <p:spPr>
            <a:xfrm>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cxnSp>
          <p:nvCxnSpPr>
            <p:cNvPr id="1311" name="Google Shape;1311;p84"/>
            <p:cNvCxnSpPr/>
            <p:nvPr/>
          </p:nvCxnSpPr>
          <p:spPr>
            <a:xfrm rot="5400000">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grpSp>
      <p:cxnSp>
        <p:nvCxnSpPr>
          <p:cNvPr id="1312" name="Google Shape;1312;p84"/>
          <p:cNvCxnSpPr/>
          <p:nvPr/>
        </p:nvCxnSpPr>
        <p:spPr>
          <a:xfrm flipH="1">
            <a:off x="4979550" y="2167250"/>
            <a:ext cx="575700" cy="1076100"/>
          </a:xfrm>
          <a:prstGeom prst="straightConnector1">
            <a:avLst/>
          </a:prstGeom>
          <a:noFill/>
          <a:ln cap="flat" cmpd="sng" w="28575">
            <a:solidFill>
              <a:schemeClr val="dk1"/>
            </a:solidFill>
            <a:prstDash val="solid"/>
            <a:round/>
            <a:headEnd len="med" w="med" type="none"/>
            <a:tailEnd len="med" w="med" type="none"/>
          </a:ln>
        </p:spPr>
      </p:cxnSp>
      <p:cxnSp>
        <p:nvCxnSpPr>
          <p:cNvPr id="1313" name="Google Shape;1313;p84"/>
          <p:cNvCxnSpPr/>
          <p:nvPr/>
        </p:nvCxnSpPr>
        <p:spPr>
          <a:xfrm>
            <a:off x="5552225" y="2170250"/>
            <a:ext cx="1142400" cy="1079100"/>
          </a:xfrm>
          <a:prstGeom prst="straightConnector1">
            <a:avLst/>
          </a:prstGeom>
          <a:noFill/>
          <a:ln cap="flat" cmpd="sng" w="28575">
            <a:solidFill>
              <a:schemeClr val="dk1"/>
            </a:solidFill>
            <a:prstDash val="solid"/>
            <a:round/>
            <a:headEnd len="med" w="med" type="none"/>
            <a:tailEnd len="med" w="med" type="none"/>
          </a:ln>
        </p:spPr>
      </p:cxnSp>
      <p:sp>
        <p:nvSpPr>
          <p:cNvPr id="1314" name="Google Shape;1314;p84"/>
          <p:cNvSpPr txBox="1"/>
          <p:nvPr/>
        </p:nvSpPr>
        <p:spPr>
          <a:xfrm>
            <a:off x="4538050" y="2340900"/>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315" name="Google Shape;1315;p84"/>
          <p:cNvSpPr txBox="1"/>
          <p:nvPr/>
        </p:nvSpPr>
        <p:spPr>
          <a:xfrm>
            <a:off x="6001325" y="2276950"/>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316" name="Google Shape;1316;p84"/>
          <p:cNvSpPr txBox="1"/>
          <p:nvPr/>
        </p:nvSpPr>
        <p:spPr>
          <a:xfrm>
            <a:off x="5378025" y="1699425"/>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t>
            </a:r>
            <a:endParaRPr sz="1800">
              <a:solidFill>
                <a:schemeClr val="dk1"/>
              </a:solidFill>
              <a:latin typeface="Lexend"/>
              <a:ea typeface="Lexend"/>
              <a:cs typeface="Lexend"/>
              <a:sym typeface="Lexend"/>
            </a:endParaRPr>
          </a:p>
        </p:txBody>
      </p:sp>
      <p:sp>
        <p:nvSpPr>
          <p:cNvPr id="1317" name="Google Shape;1317;p84"/>
          <p:cNvSpPr txBox="1"/>
          <p:nvPr/>
        </p:nvSpPr>
        <p:spPr>
          <a:xfrm>
            <a:off x="243975" y="2899875"/>
            <a:ext cx="3132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Connect the three vertices to finish the construction.</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85"/>
          <p:cNvSpPr/>
          <p:nvPr/>
        </p:nvSpPr>
        <p:spPr>
          <a:xfrm>
            <a:off x="5133679" y="1673990"/>
            <a:ext cx="3132000" cy="31320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3" name="Google Shape;1323;p85"/>
          <p:cNvSpPr txBox="1"/>
          <p:nvPr/>
        </p:nvSpPr>
        <p:spPr>
          <a:xfrm>
            <a:off x="867950" y="227695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324" name="Google Shape;1324;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325" name="Google Shape;1325;p85"/>
          <p:cNvSpPr txBox="1"/>
          <p:nvPr/>
        </p:nvSpPr>
        <p:spPr>
          <a:xfrm>
            <a:off x="231400" y="613500"/>
            <a:ext cx="9774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Let us construct triangle PQR, where PQ = 7 cm, PR = 9 cm and QR = 10 cm</a:t>
            </a:r>
            <a:endParaRPr sz="1800">
              <a:solidFill>
                <a:schemeClr val="dk1"/>
              </a:solidFill>
              <a:latin typeface="Lexend"/>
              <a:ea typeface="Lexend"/>
              <a:cs typeface="Lexend"/>
              <a:sym typeface="Lexend"/>
            </a:endParaRPr>
          </a:p>
        </p:txBody>
      </p:sp>
      <p:sp>
        <p:nvSpPr>
          <p:cNvPr id="1326" name="Google Shape;1326;p85"/>
          <p:cNvSpPr txBox="1"/>
          <p:nvPr/>
        </p:nvSpPr>
        <p:spPr>
          <a:xfrm>
            <a:off x="248451" y="993875"/>
            <a:ext cx="80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To support us with this, it is helpful to do a quick sketch of the triangle. </a:t>
            </a:r>
            <a:endParaRPr sz="1800">
              <a:solidFill>
                <a:schemeClr val="dk1"/>
              </a:solidFill>
              <a:latin typeface="Lexend"/>
              <a:ea typeface="Lexend"/>
              <a:cs typeface="Lexend"/>
              <a:sym typeface="Lexend"/>
            </a:endParaRPr>
          </a:p>
        </p:txBody>
      </p:sp>
      <p:sp>
        <p:nvSpPr>
          <p:cNvPr id="1327" name="Google Shape;1327;p85"/>
          <p:cNvSpPr/>
          <p:nvPr/>
        </p:nvSpPr>
        <p:spPr>
          <a:xfrm rot="10800000">
            <a:off x="2585425" y="1985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8" name="Google Shape;1328;p85"/>
          <p:cNvSpPr/>
          <p:nvPr/>
        </p:nvSpPr>
        <p:spPr>
          <a:xfrm rot="10800000">
            <a:off x="1137625" y="23668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9" name="Google Shape;1329;p85"/>
          <p:cNvSpPr/>
          <p:nvPr/>
        </p:nvSpPr>
        <p:spPr>
          <a:xfrm rot="10800000">
            <a:off x="985225" y="1528642"/>
            <a:ext cx="43200" cy="43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0" name="Google Shape;1330;p85"/>
          <p:cNvSpPr txBox="1"/>
          <p:nvPr/>
        </p:nvSpPr>
        <p:spPr>
          <a:xfrm>
            <a:off x="643225" y="13194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t>
            </a:r>
            <a:endParaRPr sz="1800">
              <a:solidFill>
                <a:schemeClr val="dk1"/>
              </a:solidFill>
              <a:latin typeface="Lexend"/>
              <a:ea typeface="Lexend"/>
              <a:cs typeface="Lexend"/>
              <a:sym typeface="Lexend"/>
            </a:endParaRPr>
          </a:p>
        </p:txBody>
      </p:sp>
      <p:sp>
        <p:nvSpPr>
          <p:cNvPr id="1331" name="Google Shape;1331;p85"/>
          <p:cNvSpPr txBox="1"/>
          <p:nvPr/>
        </p:nvSpPr>
        <p:spPr>
          <a:xfrm>
            <a:off x="2628625" y="17811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cxnSp>
        <p:nvCxnSpPr>
          <p:cNvPr id="1332" name="Google Shape;1332;p85"/>
          <p:cNvCxnSpPr/>
          <p:nvPr/>
        </p:nvCxnSpPr>
        <p:spPr>
          <a:xfrm>
            <a:off x="1006725" y="1571168"/>
            <a:ext cx="152400" cy="838200"/>
          </a:xfrm>
          <a:prstGeom prst="straightConnector1">
            <a:avLst/>
          </a:prstGeom>
          <a:noFill/>
          <a:ln cap="flat" cmpd="sng" w="28575">
            <a:solidFill>
              <a:schemeClr val="dk1"/>
            </a:solidFill>
            <a:prstDash val="solid"/>
            <a:round/>
            <a:headEnd len="med" w="med" type="none"/>
            <a:tailEnd len="med" w="med" type="none"/>
          </a:ln>
        </p:spPr>
      </p:cxnSp>
      <p:cxnSp>
        <p:nvCxnSpPr>
          <p:cNvPr id="1333" name="Google Shape;1333;p85"/>
          <p:cNvCxnSpPr/>
          <p:nvPr/>
        </p:nvCxnSpPr>
        <p:spPr>
          <a:xfrm>
            <a:off x="991427" y="1542794"/>
            <a:ext cx="1637100" cy="472500"/>
          </a:xfrm>
          <a:prstGeom prst="straightConnector1">
            <a:avLst/>
          </a:prstGeom>
          <a:noFill/>
          <a:ln cap="flat" cmpd="sng" w="28575">
            <a:solidFill>
              <a:schemeClr val="dk1"/>
            </a:solidFill>
            <a:prstDash val="solid"/>
            <a:round/>
            <a:headEnd len="med" w="med" type="none"/>
            <a:tailEnd len="med" w="med" type="none"/>
          </a:ln>
        </p:spPr>
      </p:cxnSp>
      <p:cxnSp>
        <p:nvCxnSpPr>
          <p:cNvPr id="1334" name="Google Shape;1334;p85"/>
          <p:cNvCxnSpPr/>
          <p:nvPr/>
        </p:nvCxnSpPr>
        <p:spPr>
          <a:xfrm flipH="1" rot="10800000">
            <a:off x="1180725" y="2006768"/>
            <a:ext cx="1447800" cy="381000"/>
          </a:xfrm>
          <a:prstGeom prst="straightConnector1">
            <a:avLst/>
          </a:prstGeom>
          <a:noFill/>
          <a:ln cap="flat" cmpd="sng" w="28575">
            <a:solidFill>
              <a:schemeClr val="dk1"/>
            </a:solidFill>
            <a:prstDash val="solid"/>
            <a:round/>
            <a:headEnd len="med" w="med" type="none"/>
            <a:tailEnd len="med" w="med" type="none"/>
          </a:ln>
        </p:spPr>
      </p:cxnSp>
      <p:sp>
        <p:nvSpPr>
          <p:cNvPr id="1335" name="Google Shape;1335;p85"/>
          <p:cNvSpPr txBox="1"/>
          <p:nvPr/>
        </p:nvSpPr>
        <p:spPr>
          <a:xfrm>
            <a:off x="436275" y="17378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336" name="Google Shape;1336;p85"/>
          <p:cNvSpPr txBox="1"/>
          <p:nvPr/>
        </p:nvSpPr>
        <p:spPr>
          <a:xfrm>
            <a:off x="1646700" y="138847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337" name="Google Shape;1337;p85"/>
          <p:cNvSpPr txBox="1"/>
          <p:nvPr/>
        </p:nvSpPr>
        <p:spPr>
          <a:xfrm>
            <a:off x="1585375" y="2164126"/>
            <a:ext cx="875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cxnSp>
        <p:nvCxnSpPr>
          <p:cNvPr id="1338" name="Google Shape;1338;p85"/>
          <p:cNvCxnSpPr/>
          <p:nvPr/>
        </p:nvCxnSpPr>
        <p:spPr>
          <a:xfrm>
            <a:off x="442248" y="4128600"/>
            <a:ext cx="1221900" cy="0"/>
          </a:xfrm>
          <a:prstGeom prst="straightConnector1">
            <a:avLst/>
          </a:prstGeom>
          <a:noFill/>
          <a:ln cap="flat" cmpd="sng" w="28575">
            <a:solidFill>
              <a:schemeClr val="dk1"/>
            </a:solidFill>
            <a:prstDash val="solid"/>
            <a:round/>
            <a:headEnd len="med" w="med" type="none"/>
            <a:tailEnd len="med" w="med" type="none"/>
          </a:ln>
        </p:spPr>
      </p:cxnSp>
      <p:cxnSp>
        <p:nvCxnSpPr>
          <p:cNvPr id="1339" name="Google Shape;1339;p85"/>
          <p:cNvCxnSpPr/>
          <p:nvPr/>
        </p:nvCxnSpPr>
        <p:spPr>
          <a:xfrm>
            <a:off x="442250" y="4554200"/>
            <a:ext cx="1565700" cy="0"/>
          </a:xfrm>
          <a:prstGeom prst="straightConnector1">
            <a:avLst/>
          </a:prstGeom>
          <a:noFill/>
          <a:ln cap="flat" cmpd="sng" w="28575">
            <a:solidFill>
              <a:schemeClr val="dk1"/>
            </a:solidFill>
            <a:prstDash val="solid"/>
            <a:round/>
            <a:headEnd len="med" w="med" type="none"/>
            <a:tailEnd len="med" w="med" type="none"/>
          </a:ln>
        </p:spPr>
      </p:cxnSp>
      <p:sp>
        <p:nvSpPr>
          <p:cNvPr id="1340" name="Google Shape;1340;p85"/>
          <p:cNvSpPr txBox="1"/>
          <p:nvPr/>
        </p:nvSpPr>
        <p:spPr>
          <a:xfrm>
            <a:off x="705075" y="40522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341" name="Google Shape;1341;p85"/>
          <p:cNvSpPr txBox="1"/>
          <p:nvPr/>
        </p:nvSpPr>
        <p:spPr>
          <a:xfrm>
            <a:off x="847250" y="4437551"/>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cxnSp>
        <p:nvCxnSpPr>
          <p:cNvPr id="1342" name="Google Shape;1342;p85"/>
          <p:cNvCxnSpPr/>
          <p:nvPr/>
        </p:nvCxnSpPr>
        <p:spPr>
          <a:xfrm>
            <a:off x="4964950" y="3247050"/>
            <a:ext cx="1741500" cy="0"/>
          </a:xfrm>
          <a:prstGeom prst="straightConnector1">
            <a:avLst/>
          </a:prstGeom>
          <a:noFill/>
          <a:ln cap="flat" cmpd="sng" w="28575">
            <a:solidFill>
              <a:schemeClr val="dk1"/>
            </a:solidFill>
            <a:prstDash val="solid"/>
            <a:round/>
            <a:headEnd len="med" w="med" type="none"/>
            <a:tailEnd len="med" w="med" type="none"/>
          </a:ln>
        </p:spPr>
      </p:cxnSp>
      <p:sp>
        <p:nvSpPr>
          <p:cNvPr id="1343" name="Google Shape;1343;p85"/>
          <p:cNvSpPr txBox="1"/>
          <p:nvPr/>
        </p:nvSpPr>
        <p:spPr>
          <a:xfrm>
            <a:off x="5369950" y="3130400"/>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 cm</a:t>
            </a:r>
            <a:endParaRPr sz="1800">
              <a:solidFill>
                <a:schemeClr val="dk1"/>
              </a:solidFill>
              <a:latin typeface="Lexend"/>
              <a:ea typeface="Lexend"/>
              <a:cs typeface="Lexend"/>
              <a:sym typeface="Lexend"/>
            </a:endParaRPr>
          </a:p>
        </p:txBody>
      </p:sp>
      <p:sp>
        <p:nvSpPr>
          <p:cNvPr id="1344" name="Google Shape;1344;p85"/>
          <p:cNvSpPr txBox="1"/>
          <p:nvPr/>
        </p:nvSpPr>
        <p:spPr>
          <a:xfrm>
            <a:off x="4653000" y="30162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Q</a:t>
            </a:r>
            <a:endParaRPr sz="1800">
              <a:solidFill>
                <a:schemeClr val="dk1"/>
              </a:solidFill>
              <a:latin typeface="Lexend"/>
              <a:ea typeface="Lexend"/>
              <a:cs typeface="Lexend"/>
              <a:sym typeface="Lexend"/>
            </a:endParaRPr>
          </a:p>
        </p:txBody>
      </p:sp>
      <p:sp>
        <p:nvSpPr>
          <p:cNvPr id="1345" name="Google Shape;1345;p85"/>
          <p:cNvSpPr txBox="1"/>
          <p:nvPr/>
        </p:nvSpPr>
        <p:spPr>
          <a:xfrm>
            <a:off x="6673300" y="3054188"/>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a:t>
            </a:r>
            <a:endParaRPr sz="1800">
              <a:solidFill>
                <a:schemeClr val="dk1"/>
              </a:solidFill>
              <a:latin typeface="Lexend"/>
              <a:ea typeface="Lexend"/>
              <a:cs typeface="Lexend"/>
              <a:sym typeface="Lexend"/>
            </a:endParaRPr>
          </a:p>
        </p:txBody>
      </p:sp>
      <p:sp>
        <p:nvSpPr>
          <p:cNvPr id="1346" name="Google Shape;1346;p85"/>
          <p:cNvSpPr/>
          <p:nvPr/>
        </p:nvSpPr>
        <p:spPr>
          <a:xfrm>
            <a:off x="3757754" y="2022915"/>
            <a:ext cx="2440800" cy="24408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47" name="Google Shape;1347;p85"/>
          <p:cNvGrpSpPr/>
          <p:nvPr/>
        </p:nvGrpSpPr>
        <p:grpSpPr>
          <a:xfrm flipH="1" rot="10800000">
            <a:off x="5498236" y="4261758"/>
            <a:ext cx="123900" cy="123900"/>
            <a:chOff x="630000" y="1882500"/>
            <a:chExt cx="123900" cy="123900"/>
          </a:xfrm>
        </p:grpSpPr>
        <p:cxnSp>
          <p:nvCxnSpPr>
            <p:cNvPr id="1348" name="Google Shape;1348;p85"/>
            <p:cNvCxnSpPr/>
            <p:nvPr/>
          </p:nvCxnSpPr>
          <p:spPr>
            <a:xfrm>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cxnSp>
          <p:nvCxnSpPr>
            <p:cNvPr id="1349" name="Google Shape;1349;p85"/>
            <p:cNvCxnSpPr/>
            <p:nvPr/>
          </p:nvCxnSpPr>
          <p:spPr>
            <a:xfrm rot="5400000">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grpSp>
      <p:cxnSp>
        <p:nvCxnSpPr>
          <p:cNvPr id="1350" name="Google Shape;1350;p85"/>
          <p:cNvCxnSpPr/>
          <p:nvPr/>
        </p:nvCxnSpPr>
        <p:spPr>
          <a:xfrm rot="10800000">
            <a:off x="4977503" y="3247440"/>
            <a:ext cx="588900" cy="1078800"/>
          </a:xfrm>
          <a:prstGeom prst="straightConnector1">
            <a:avLst/>
          </a:prstGeom>
          <a:noFill/>
          <a:ln cap="flat" cmpd="sng" w="28575">
            <a:solidFill>
              <a:schemeClr val="dk1"/>
            </a:solidFill>
            <a:prstDash val="solid"/>
            <a:round/>
            <a:headEnd len="med" w="med" type="none"/>
            <a:tailEnd len="med" w="med" type="none"/>
          </a:ln>
        </p:spPr>
      </p:cxnSp>
      <p:cxnSp>
        <p:nvCxnSpPr>
          <p:cNvPr id="1351" name="Google Shape;1351;p85"/>
          <p:cNvCxnSpPr/>
          <p:nvPr/>
        </p:nvCxnSpPr>
        <p:spPr>
          <a:xfrm flipH="1" rot="10800000">
            <a:off x="5563378" y="3244140"/>
            <a:ext cx="1142400" cy="1079100"/>
          </a:xfrm>
          <a:prstGeom prst="straightConnector1">
            <a:avLst/>
          </a:prstGeom>
          <a:noFill/>
          <a:ln cap="flat" cmpd="sng" w="28575">
            <a:solidFill>
              <a:schemeClr val="dk1"/>
            </a:solidFill>
            <a:prstDash val="solid"/>
            <a:round/>
            <a:headEnd len="med" w="med" type="none"/>
            <a:tailEnd len="med" w="med" type="none"/>
          </a:ln>
        </p:spPr>
      </p:cxnSp>
      <p:sp>
        <p:nvSpPr>
          <p:cNvPr id="1352" name="Google Shape;1352;p85"/>
          <p:cNvSpPr txBox="1"/>
          <p:nvPr/>
        </p:nvSpPr>
        <p:spPr>
          <a:xfrm>
            <a:off x="4538050" y="3564875"/>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353" name="Google Shape;1353;p85"/>
          <p:cNvSpPr txBox="1"/>
          <p:nvPr/>
        </p:nvSpPr>
        <p:spPr>
          <a:xfrm>
            <a:off x="6039050" y="3719850"/>
            <a:ext cx="116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354" name="Google Shape;1354;p85"/>
          <p:cNvSpPr txBox="1"/>
          <p:nvPr/>
        </p:nvSpPr>
        <p:spPr>
          <a:xfrm>
            <a:off x="5378025" y="434440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t>
            </a:r>
            <a:endParaRPr sz="1800">
              <a:solidFill>
                <a:schemeClr val="dk1"/>
              </a:solidFill>
              <a:latin typeface="Lexend"/>
              <a:ea typeface="Lexend"/>
              <a:cs typeface="Lexend"/>
              <a:sym typeface="Lexend"/>
            </a:endParaRPr>
          </a:p>
        </p:txBody>
      </p:sp>
      <p:sp>
        <p:nvSpPr>
          <p:cNvPr id="1355" name="Google Shape;1355;p85"/>
          <p:cNvSpPr txBox="1"/>
          <p:nvPr/>
        </p:nvSpPr>
        <p:spPr>
          <a:xfrm>
            <a:off x="243975" y="2899875"/>
            <a:ext cx="3132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Connect the three vertices to finish the construction.</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361" name="Google Shape;1361;p86"/>
          <p:cNvSpPr txBox="1"/>
          <p:nvPr>
            <p:ph idx="1" type="body"/>
          </p:nvPr>
        </p:nvSpPr>
        <p:spPr>
          <a:xfrm>
            <a:off x="324000" y="759300"/>
            <a:ext cx="8237700" cy="95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Mark where the three vertices of the triangle are, using this construction.</a:t>
            </a:r>
            <a:endParaRPr sz="2000"/>
          </a:p>
        </p:txBody>
      </p:sp>
      <p:sp>
        <p:nvSpPr>
          <p:cNvPr id="1362" name="Google Shape;1362;p86"/>
          <p:cNvSpPr/>
          <p:nvPr/>
        </p:nvSpPr>
        <p:spPr>
          <a:xfrm>
            <a:off x="2220000" y="1957500"/>
            <a:ext cx="2235000" cy="22350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3" name="Google Shape;1363;p86"/>
          <p:cNvSpPr/>
          <p:nvPr/>
        </p:nvSpPr>
        <p:spPr>
          <a:xfrm>
            <a:off x="3800975" y="1297500"/>
            <a:ext cx="3131700" cy="31317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64" name="Google Shape;1364;p86"/>
          <p:cNvCxnSpPr/>
          <p:nvPr/>
        </p:nvCxnSpPr>
        <p:spPr>
          <a:xfrm flipH="1" rot="10800000">
            <a:off x="3329525" y="2867625"/>
            <a:ext cx="2037300" cy="203100"/>
          </a:xfrm>
          <a:prstGeom prst="straightConnector1">
            <a:avLst/>
          </a:prstGeom>
          <a:noFill/>
          <a:ln cap="flat" cmpd="sng" w="28575">
            <a:solidFill>
              <a:schemeClr val="dk1"/>
            </a:solidFill>
            <a:prstDash val="solid"/>
            <a:round/>
            <a:headEnd len="med" w="med" type="none"/>
            <a:tailEnd len="med" w="med" type="none"/>
          </a:ln>
        </p:spPr>
      </p:cxnSp>
      <p:grpSp>
        <p:nvGrpSpPr>
          <p:cNvPr id="1365" name="Google Shape;1365;p86"/>
          <p:cNvGrpSpPr/>
          <p:nvPr/>
        </p:nvGrpSpPr>
        <p:grpSpPr>
          <a:xfrm>
            <a:off x="3263200" y="3013050"/>
            <a:ext cx="123900" cy="123900"/>
            <a:chOff x="630000" y="1882500"/>
            <a:chExt cx="123900" cy="123900"/>
          </a:xfrm>
        </p:grpSpPr>
        <p:cxnSp>
          <p:nvCxnSpPr>
            <p:cNvPr id="1366" name="Google Shape;1366;p86"/>
            <p:cNvCxnSpPr/>
            <p:nvPr/>
          </p:nvCxnSpPr>
          <p:spPr>
            <a:xfrm>
              <a:off x="630000" y="1882500"/>
              <a:ext cx="123900" cy="123900"/>
            </a:xfrm>
            <a:prstGeom prst="straightConnector1">
              <a:avLst/>
            </a:prstGeom>
            <a:noFill/>
            <a:ln cap="flat" cmpd="sng" w="28575">
              <a:solidFill>
                <a:schemeClr val="accent4"/>
              </a:solidFill>
              <a:prstDash val="solid"/>
              <a:round/>
              <a:headEnd len="med" w="med" type="none"/>
              <a:tailEnd len="med" w="med" type="none"/>
            </a:ln>
          </p:spPr>
        </p:cxnSp>
        <p:cxnSp>
          <p:nvCxnSpPr>
            <p:cNvPr id="1367" name="Google Shape;1367;p86"/>
            <p:cNvCxnSpPr/>
            <p:nvPr/>
          </p:nvCxnSpPr>
          <p:spPr>
            <a:xfrm rot="5400000">
              <a:off x="630000" y="1882500"/>
              <a:ext cx="123900" cy="123900"/>
            </a:xfrm>
            <a:prstGeom prst="straightConnector1">
              <a:avLst/>
            </a:prstGeom>
            <a:noFill/>
            <a:ln cap="flat" cmpd="sng" w="28575">
              <a:solidFill>
                <a:schemeClr val="accent4"/>
              </a:solidFill>
              <a:prstDash val="solid"/>
              <a:round/>
              <a:headEnd len="med" w="med" type="none"/>
              <a:tailEnd len="med" w="med" type="none"/>
            </a:ln>
          </p:spPr>
        </p:cxnSp>
      </p:grpSp>
      <p:grpSp>
        <p:nvGrpSpPr>
          <p:cNvPr id="1368" name="Google Shape;1368;p86"/>
          <p:cNvGrpSpPr/>
          <p:nvPr/>
        </p:nvGrpSpPr>
        <p:grpSpPr>
          <a:xfrm>
            <a:off x="5295200" y="2800325"/>
            <a:ext cx="123900" cy="123900"/>
            <a:chOff x="630000" y="1882500"/>
            <a:chExt cx="123900" cy="123900"/>
          </a:xfrm>
        </p:grpSpPr>
        <p:cxnSp>
          <p:nvCxnSpPr>
            <p:cNvPr id="1369" name="Google Shape;1369;p86"/>
            <p:cNvCxnSpPr/>
            <p:nvPr/>
          </p:nvCxnSpPr>
          <p:spPr>
            <a:xfrm>
              <a:off x="630000" y="1882500"/>
              <a:ext cx="123900" cy="123900"/>
            </a:xfrm>
            <a:prstGeom prst="straightConnector1">
              <a:avLst/>
            </a:prstGeom>
            <a:noFill/>
            <a:ln cap="flat" cmpd="sng" w="28575">
              <a:solidFill>
                <a:schemeClr val="accent4"/>
              </a:solidFill>
              <a:prstDash val="solid"/>
              <a:round/>
              <a:headEnd len="med" w="med" type="none"/>
              <a:tailEnd len="med" w="med" type="none"/>
            </a:ln>
          </p:spPr>
        </p:cxnSp>
        <p:cxnSp>
          <p:nvCxnSpPr>
            <p:cNvPr id="1370" name="Google Shape;1370;p86"/>
            <p:cNvCxnSpPr/>
            <p:nvPr/>
          </p:nvCxnSpPr>
          <p:spPr>
            <a:xfrm rot="5400000">
              <a:off x="630000" y="1882500"/>
              <a:ext cx="123900" cy="123900"/>
            </a:xfrm>
            <a:prstGeom prst="straightConnector1">
              <a:avLst/>
            </a:prstGeom>
            <a:noFill/>
            <a:ln cap="flat" cmpd="sng" w="28575">
              <a:solidFill>
                <a:schemeClr val="accent4"/>
              </a:solidFill>
              <a:prstDash val="solid"/>
              <a:round/>
              <a:headEnd len="med" w="med" type="none"/>
              <a:tailEnd len="med" w="med" type="none"/>
            </a:ln>
          </p:spPr>
        </p:cxnSp>
      </p:grpSp>
      <p:grpSp>
        <p:nvGrpSpPr>
          <p:cNvPr id="1371" name="Google Shape;1371;p86"/>
          <p:cNvGrpSpPr/>
          <p:nvPr/>
        </p:nvGrpSpPr>
        <p:grpSpPr>
          <a:xfrm>
            <a:off x="3907725" y="2092300"/>
            <a:ext cx="123900" cy="123900"/>
            <a:chOff x="630000" y="1882500"/>
            <a:chExt cx="123900" cy="123900"/>
          </a:xfrm>
        </p:grpSpPr>
        <p:cxnSp>
          <p:nvCxnSpPr>
            <p:cNvPr id="1372" name="Google Shape;1372;p86"/>
            <p:cNvCxnSpPr/>
            <p:nvPr/>
          </p:nvCxnSpPr>
          <p:spPr>
            <a:xfrm>
              <a:off x="630000" y="1882500"/>
              <a:ext cx="123900" cy="123900"/>
            </a:xfrm>
            <a:prstGeom prst="straightConnector1">
              <a:avLst/>
            </a:prstGeom>
            <a:noFill/>
            <a:ln cap="flat" cmpd="sng" w="28575">
              <a:solidFill>
                <a:schemeClr val="accent4"/>
              </a:solidFill>
              <a:prstDash val="solid"/>
              <a:round/>
              <a:headEnd len="med" w="med" type="none"/>
              <a:tailEnd len="med" w="med" type="none"/>
            </a:ln>
          </p:spPr>
        </p:cxnSp>
        <p:cxnSp>
          <p:nvCxnSpPr>
            <p:cNvPr id="1373" name="Google Shape;1373;p86"/>
            <p:cNvCxnSpPr/>
            <p:nvPr/>
          </p:nvCxnSpPr>
          <p:spPr>
            <a:xfrm rot="5400000">
              <a:off x="630000" y="1882500"/>
              <a:ext cx="123900" cy="123900"/>
            </a:xfrm>
            <a:prstGeom prst="straightConnector1">
              <a:avLst/>
            </a:prstGeom>
            <a:noFill/>
            <a:ln cap="flat" cmpd="sng" w="28575">
              <a:solidFill>
                <a:schemeClr val="accent4"/>
              </a:solidFill>
              <a:prstDash val="solid"/>
              <a:round/>
              <a:headEnd len="med" w="med" type="none"/>
              <a:tailEnd len="med" w="med" type="none"/>
            </a:ln>
          </p:spPr>
        </p:cxnSp>
      </p:grpSp>
      <p:grpSp>
        <p:nvGrpSpPr>
          <p:cNvPr id="1374" name="Google Shape;1374;p86"/>
          <p:cNvGrpSpPr/>
          <p:nvPr/>
        </p:nvGrpSpPr>
        <p:grpSpPr>
          <a:xfrm flipH="1" rot="10800000">
            <a:off x="3263200" y="3009686"/>
            <a:ext cx="123900" cy="123900"/>
            <a:chOff x="630000" y="1882500"/>
            <a:chExt cx="123900" cy="123900"/>
          </a:xfrm>
        </p:grpSpPr>
        <p:cxnSp>
          <p:nvCxnSpPr>
            <p:cNvPr id="1375" name="Google Shape;1375;p86"/>
            <p:cNvCxnSpPr/>
            <p:nvPr/>
          </p:nvCxnSpPr>
          <p:spPr>
            <a:xfrm>
              <a:off x="630000" y="1882500"/>
              <a:ext cx="123900" cy="123900"/>
            </a:xfrm>
            <a:prstGeom prst="straightConnector1">
              <a:avLst/>
            </a:prstGeom>
            <a:noFill/>
            <a:ln cap="flat" cmpd="sng" w="28575">
              <a:solidFill>
                <a:schemeClr val="accent5"/>
              </a:solidFill>
              <a:prstDash val="solid"/>
              <a:round/>
              <a:headEnd len="med" w="med" type="none"/>
              <a:tailEnd len="med" w="med" type="none"/>
            </a:ln>
          </p:spPr>
        </p:cxnSp>
        <p:cxnSp>
          <p:nvCxnSpPr>
            <p:cNvPr id="1376" name="Google Shape;1376;p86"/>
            <p:cNvCxnSpPr/>
            <p:nvPr/>
          </p:nvCxnSpPr>
          <p:spPr>
            <a:xfrm rot="5400000">
              <a:off x="630000" y="1882500"/>
              <a:ext cx="123900" cy="123900"/>
            </a:xfrm>
            <a:prstGeom prst="straightConnector1">
              <a:avLst/>
            </a:prstGeom>
            <a:noFill/>
            <a:ln cap="flat" cmpd="sng" w="28575">
              <a:solidFill>
                <a:schemeClr val="accent5"/>
              </a:solidFill>
              <a:prstDash val="solid"/>
              <a:round/>
              <a:headEnd len="med" w="med" type="none"/>
              <a:tailEnd len="med" w="med" type="none"/>
            </a:ln>
          </p:spPr>
        </p:cxnSp>
      </p:grpSp>
      <p:grpSp>
        <p:nvGrpSpPr>
          <p:cNvPr id="1377" name="Google Shape;1377;p86"/>
          <p:cNvGrpSpPr/>
          <p:nvPr/>
        </p:nvGrpSpPr>
        <p:grpSpPr>
          <a:xfrm flipH="1" rot="10800000">
            <a:off x="5294286" y="2798759"/>
            <a:ext cx="123900" cy="123900"/>
            <a:chOff x="630000" y="1882500"/>
            <a:chExt cx="123900" cy="123900"/>
          </a:xfrm>
        </p:grpSpPr>
        <p:cxnSp>
          <p:nvCxnSpPr>
            <p:cNvPr id="1378" name="Google Shape;1378;p86"/>
            <p:cNvCxnSpPr/>
            <p:nvPr/>
          </p:nvCxnSpPr>
          <p:spPr>
            <a:xfrm>
              <a:off x="630000" y="1882500"/>
              <a:ext cx="123900" cy="123900"/>
            </a:xfrm>
            <a:prstGeom prst="straightConnector1">
              <a:avLst/>
            </a:prstGeom>
            <a:noFill/>
            <a:ln cap="flat" cmpd="sng" w="28575">
              <a:solidFill>
                <a:schemeClr val="accent5"/>
              </a:solidFill>
              <a:prstDash val="solid"/>
              <a:round/>
              <a:headEnd len="med" w="med" type="none"/>
              <a:tailEnd len="med" w="med" type="none"/>
            </a:ln>
          </p:spPr>
        </p:cxnSp>
        <p:cxnSp>
          <p:nvCxnSpPr>
            <p:cNvPr id="1379" name="Google Shape;1379;p86"/>
            <p:cNvCxnSpPr/>
            <p:nvPr/>
          </p:nvCxnSpPr>
          <p:spPr>
            <a:xfrm rot="5400000">
              <a:off x="630000" y="1882500"/>
              <a:ext cx="123900" cy="123900"/>
            </a:xfrm>
            <a:prstGeom prst="straightConnector1">
              <a:avLst/>
            </a:prstGeom>
            <a:noFill/>
            <a:ln cap="flat" cmpd="sng" w="28575">
              <a:solidFill>
                <a:schemeClr val="accent5"/>
              </a:solidFill>
              <a:prstDash val="solid"/>
              <a:round/>
              <a:headEnd len="med" w="med" type="none"/>
              <a:tailEnd len="med" w="med" type="none"/>
            </a:ln>
          </p:spPr>
        </p:cxnSp>
      </p:grpSp>
      <p:grpSp>
        <p:nvGrpSpPr>
          <p:cNvPr id="1380" name="Google Shape;1380;p86"/>
          <p:cNvGrpSpPr/>
          <p:nvPr/>
        </p:nvGrpSpPr>
        <p:grpSpPr>
          <a:xfrm flipH="1" rot="10800000">
            <a:off x="4089562" y="3786193"/>
            <a:ext cx="123900" cy="123900"/>
            <a:chOff x="630000" y="1882500"/>
            <a:chExt cx="123900" cy="123900"/>
          </a:xfrm>
        </p:grpSpPr>
        <p:cxnSp>
          <p:nvCxnSpPr>
            <p:cNvPr id="1381" name="Google Shape;1381;p86"/>
            <p:cNvCxnSpPr/>
            <p:nvPr/>
          </p:nvCxnSpPr>
          <p:spPr>
            <a:xfrm>
              <a:off x="630000" y="1882500"/>
              <a:ext cx="123900" cy="123900"/>
            </a:xfrm>
            <a:prstGeom prst="straightConnector1">
              <a:avLst/>
            </a:prstGeom>
            <a:noFill/>
            <a:ln cap="flat" cmpd="sng" w="28575">
              <a:solidFill>
                <a:schemeClr val="accent5"/>
              </a:solidFill>
              <a:prstDash val="solid"/>
              <a:round/>
              <a:headEnd len="med" w="med" type="none"/>
              <a:tailEnd len="med" w="med" type="none"/>
            </a:ln>
          </p:spPr>
        </p:cxnSp>
        <p:cxnSp>
          <p:nvCxnSpPr>
            <p:cNvPr id="1382" name="Google Shape;1382;p86"/>
            <p:cNvCxnSpPr/>
            <p:nvPr/>
          </p:nvCxnSpPr>
          <p:spPr>
            <a:xfrm rot="5400000">
              <a:off x="630000" y="1882500"/>
              <a:ext cx="123900" cy="123900"/>
            </a:xfrm>
            <a:prstGeom prst="straightConnector1">
              <a:avLst/>
            </a:prstGeom>
            <a:noFill/>
            <a:ln cap="flat" cmpd="sng" w="28575">
              <a:solidFill>
                <a:schemeClr val="accent5"/>
              </a:solidFill>
              <a:prstDash val="solid"/>
              <a:round/>
              <a:headEnd len="med" w="med" type="none"/>
              <a:tailEnd len="med" w="med" type="none"/>
            </a:ln>
          </p:spPr>
        </p:cxnSp>
      </p:grpSp>
      <p:sp>
        <p:nvSpPr>
          <p:cNvPr id="1383" name="Google Shape;1383;p86"/>
          <p:cNvSpPr txBox="1"/>
          <p:nvPr/>
        </p:nvSpPr>
        <p:spPr>
          <a:xfrm>
            <a:off x="4824000" y="2306150"/>
            <a:ext cx="42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or</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7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87"/>
          <p:cNvSpPr txBox="1"/>
          <p:nvPr>
            <p:ph idx="1" type="body"/>
          </p:nvPr>
        </p:nvSpPr>
        <p:spPr>
          <a:xfrm>
            <a:off x="324000" y="759300"/>
            <a:ext cx="8237700" cy="2130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Construct this triangle accurately.</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rPr lang="en-GB" sz="1800"/>
              <a:t>2</a:t>
            </a:r>
            <a:r>
              <a:rPr lang="en-GB" sz="1800"/>
              <a:t>) Construct the triangle with edge lengths 6 cm, 8 cm and 10 cm.</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389" name="Google Shape;1389;p8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390" name="Google Shape;1390;p87"/>
          <p:cNvSpPr/>
          <p:nvPr/>
        </p:nvSpPr>
        <p:spPr>
          <a:xfrm>
            <a:off x="1096900" y="1244163"/>
            <a:ext cx="2724476" cy="1098875"/>
          </a:xfrm>
          <a:custGeom>
            <a:rect b="b" l="l" r="r" t="t"/>
            <a:pathLst>
              <a:path extrusionOk="0" h="24114" w="82112">
                <a:moveTo>
                  <a:pt x="0" y="0"/>
                </a:moveTo>
                <a:lnTo>
                  <a:pt x="25946" y="24114"/>
                </a:lnTo>
                <a:lnTo>
                  <a:pt x="82112" y="23809"/>
                </a:lnTo>
                <a:close/>
              </a:path>
            </a:pathLst>
          </a:custGeom>
          <a:noFill/>
          <a:ln cap="flat" cmpd="sng" w="28575">
            <a:solidFill>
              <a:schemeClr val="dk1"/>
            </a:solidFill>
            <a:prstDash val="solid"/>
            <a:round/>
            <a:headEnd len="med" w="med" type="none"/>
            <a:tailEnd len="med" w="med" type="none"/>
          </a:ln>
        </p:spPr>
      </p:sp>
      <p:cxnSp>
        <p:nvCxnSpPr>
          <p:cNvPr id="1391" name="Google Shape;1391;p87"/>
          <p:cNvCxnSpPr/>
          <p:nvPr/>
        </p:nvCxnSpPr>
        <p:spPr>
          <a:xfrm>
            <a:off x="1165575" y="1119550"/>
            <a:ext cx="2747400" cy="1091400"/>
          </a:xfrm>
          <a:prstGeom prst="straightConnector1">
            <a:avLst/>
          </a:prstGeom>
          <a:noFill/>
          <a:ln cap="flat" cmpd="sng" w="28575">
            <a:solidFill>
              <a:schemeClr val="dk1"/>
            </a:solidFill>
            <a:prstDash val="solid"/>
            <a:round/>
            <a:headEnd len="med" w="med" type="triangle"/>
            <a:tailEnd len="med" w="med" type="triangle"/>
          </a:ln>
        </p:spPr>
      </p:cxnSp>
      <p:cxnSp>
        <p:nvCxnSpPr>
          <p:cNvPr id="1392" name="Google Shape;1392;p87"/>
          <p:cNvCxnSpPr/>
          <p:nvPr/>
        </p:nvCxnSpPr>
        <p:spPr>
          <a:xfrm>
            <a:off x="959525" y="1287425"/>
            <a:ext cx="831900" cy="1083600"/>
          </a:xfrm>
          <a:prstGeom prst="straightConnector1">
            <a:avLst/>
          </a:prstGeom>
          <a:noFill/>
          <a:ln cap="flat" cmpd="sng" w="28575">
            <a:solidFill>
              <a:schemeClr val="dk1"/>
            </a:solidFill>
            <a:prstDash val="solid"/>
            <a:round/>
            <a:headEnd len="med" w="med" type="triangle"/>
            <a:tailEnd len="med" w="med" type="triangle"/>
          </a:ln>
        </p:spPr>
      </p:cxnSp>
      <p:cxnSp>
        <p:nvCxnSpPr>
          <p:cNvPr id="1393" name="Google Shape;1393;p87"/>
          <p:cNvCxnSpPr/>
          <p:nvPr/>
        </p:nvCxnSpPr>
        <p:spPr>
          <a:xfrm flipH="1">
            <a:off x="1980900" y="2462650"/>
            <a:ext cx="1848000" cy="2700"/>
          </a:xfrm>
          <a:prstGeom prst="straightConnector1">
            <a:avLst/>
          </a:prstGeom>
          <a:noFill/>
          <a:ln cap="flat" cmpd="sng" w="28575">
            <a:solidFill>
              <a:schemeClr val="dk1"/>
            </a:solidFill>
            <a:prstDash val="solid"/>
            <a:round/>
            <a:headEnd len="med" w="med" type="triangle"/>
            <a:tailEnd len="med" w="med" type="triangle"/>
          </a:ln>
        </p:spPr>
      </p:cxnSp>
      <p:sp>
        <p:nvSpPr>
          <p:cNvPr id="1394" name="Google Shape;1394;p87"/>
          <p:cNvSpPr txBox="1"/>
          <p:nvPr/>
        </p:nvSpPr>
        <p:spPr>
          <a:xfrm>
            <a:off x="2279725" y="1180600"/>
            <a:ext cx="105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11 cm</a:t>
            </a:r>
            <a:endParaRPr sz="1800">
              <a:solidFill>
                <a:schemeClr val="dk1"/>
              </a:solidFill>
              <a:latin typeface="Lexend"/>
              <a:ea typeface="Lexend"/>
              <a:cs typeface="Lexend"/>
              <a:sym typeface="Lexend"/>
            </a:endParaRPr>
          </a:p>
        </p:txBody>
      </p:sp>
      <p:sp>
        <p:nvSpPr>
          <p:cNvPr id="1395" name="Google Shape;1395;p87"/>
          <p:cNvSpPr txBox="1"/>
          <p:nvPr/>
        </p:nvSpPr>
        <p:spPr>
          <a:xfrm>
            <a:off x="698450" y="1703475"/>
            <a:ext cx="105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sp>
        <p:nvSpPr>
          <p:cNvPr id="1396" name="Google Shape;1396;p87"/>
          <p:cNvSpPr txBox="1"/>
          <p:nvPr/>
        </p:nvSpPr>
        <p:spPr>
          <a:xfrm>
            <a:off x="2537375" y="2427600"/>
            <a:ext cx="105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0" name="Shape 1400"/>
        <p:cNvGrpSpPr/>
        <p:nvPr/>
      </p:nvGrpSpPr>
      <p:grpSpPr>
        <a:xfrm>
          <a:off x="0" y="0"/>
          <a:ext cx="0" cy="0"/>
          <a:chOff x="0" y="0"/>
          <a:chExt cx="0" cy="0"/>
        </a:xfrm>
      </p:grpSpPr>
      <p:sp>
        <p:nvSpPr>
          <p:cNvPr id="1401" name="Google Shape;1401;p88"/>
          <p:cNvSpPr txBox="1"/>
          <p:nvPr>
            <p:ph idx="1" type="body"/>
          </p:nvPr>
        </p:nvSpPr>
        <p:spPr>
          <a:xfrm>
            <a:off x="324000" y="759300"/>
            <a:ext cx="8604600" cy="2130000"/>
          </a:xfrm>
          <a:prstGeom prst="rect">
            <a:avLst/>
          </a:prstGeom>
        </p:spPr>
        <p:txBody>
          <a:bodyPr anchorCtr="0" anchor="t" bIns="0" lIns="0" spcFirstLastPara="1" rIns="0" wrap="square" tIns="0">
            <a:noAutofit/>
          </a:bodyPr>
          <a:lstStyle/>
          <a:p>
            <a:pPr indent="-269999" lvl="0" marL="269999" rtl="0" algn="l">
              <a:spcBef>
                <a:spcPts val="0"/>
              </a:spcBef>
              <a:spcAft>
                <a:spcPts val="0"/>
              </a:spcAft>
              <a:buNone/>
            </a:pPr>
            <a:r>
              <a:rPr lang="en-GB" sz="1800"/>
              <a:t>3) Construct triangle ABC, where AB = 12 cm, BC = 13 cm and AC = 50 mm.</a:t>
            </a:r>
            <a:endParaRPr sz="1800"/>
          </a:p>
          <a:p>
            <a:pPr indent="-269999" lvl="0" marL="269999" rtl="0" algn="l">
              <a:spcBef>
                <a:spcPts val="1000"/>
              </a:spcBef>
              <a:spcAft>
                <a:spcPts val="0"/>
              </a:spcAft>
              <a:buNone/>
            </a:pPr>
            <a:r>
              <a:t/>
            </a:r>
            <a:endParaRPr sz="1800"/>
          </a:p>
          <a:p>
            <a:pPr indent="-269999" lvl="0" marL="269999" rtl="0" algn="l">
              <a:spcBef>
                <a:spcPts val="1000"/>
              </a:spcBef>
              <a:spcAft>
                <a:spcPts val="0"/>
              </a:spcAft>
              <a:buNone/>
            </a:pPr>
            <a:r>
              <a:t/>
            </a:r>
            <a:endParaRPr sz="1800"/>
          </a:p>
          <a:p>
            <a:pPr indent="-269999" lvl="0" marL="269999" rtl="0" algn="l">
              <a:spcBef>
                <a:spcPts val="1000"/>
              </a:spcBef>
              <a:spcAft>
                <a:spcPts val="0"/>
              </a:spcAft>
              <a:buNone/>
            </a:pPr>
            <a:r>
              <a:rPr lang="en-GB" sz="1800"/>
              <a:t>4) Construct the scalene triangle that has an edge of 6 cm, an edge of 7 cm and a perimeter of 23 cm.</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rPr lang="en-GB" sz="1800"/>
              <a:t>5) Construct a scalene triangle with a </a:t>
            </a:r>
            <a:r>
              <a:rPr lang="en-GB" sz="1800"/>
              <a:t>perimeter of 180 mm.</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402" name="Google Shape;1402;p8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a scalene triangle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pic>
        <p:nvPicPr>
          <p:cNvPr id="1407" name="Google Shape;1407;p89"/>
          <p:cNvPicPr preferRelativeResize="0"/>
          <p:nvPr/>
        </p:nvPicPr>
        <p:blipFill>
          <a:blip r:embed="rId3">
            <a:alphaModFix/>
          </a:blip>
          <a:stretch>
            <a:fillRect/>
          </a:stretch>
        </p:blipFill>
        <p:spPr>
          <a:xfrm>
            <a:off x="1051150" y="1411800"/>
            <a:ext cx="5042374" cy="3267833"/>
          </a:xfrm>
          <a:prstGeom prst="rect">
            <a:avLst/>
          </a:prstGeom>
          <a:noFill/>
          <a:ln>
            <a:noFill/>
          </a:ln>
        </p:spPr>
      </p:pic>
      <p:sp>
        <p:nvSpPr>
          <p:cNvPr id="1408" name="Google Shape;1408;p89"/>
          <p:cNvSpPr txBox="1"/>
          <p:nvPr>
            <p:ph idx="1" type="body"/>
          </p:nvPr>
        </p:nvSpPr>
        <p:spPr>
          <a:xfrm>
            <a:off x="324000" y="759300"/>
            <a:ext cx="4427700" cy="46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Construct this triangle accurately</a:t>
            </a:r>
            <a:endParaRPr sz="1800"/>
          </a:p>
        </p:txBody>
      </p:sp>
      <p:sp>
        <p:nvSpPr>
          <p:cNvPr id="1409" name="Google Shape;1409;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410" name="Google Shape;1410;p89"/>
          <p:cNvSpPr/>
          <p:nvPr/>
        </p:nvSpPr>
        <p:spPr>
          <a:xfrm>
            <a:off x="5745625" y="859738"/>
            <a:ext cx="2724476" cy="1098875"/>
          </a:xfrm>
          <a:custGeom>
            <a:rect b="b" l="l" r="r" t="t"/>
            <a:pathLst>
              <a:path extrusionOk="0" h="24114" w="82112">
                <a:moveTo>
                  <a:pt x="0" y="0"/>
                </a:moveTo>
                <a:lnTo>
                  <a:pt x="25946" y="24114"/>
                </a:lnTo>
                <a:lnTo>
                  <a:pt x="82112" y="23809"/>
                </a:lnTo>
                <a:close/>
              </a:path>
            </a:pathLst>
          </a:custGeom>
          <a:noFill/>
          <a:ln cap="flat" cmpd="sng" w="28575">
            <a:solidFill>
              <a:schemeClr val="dk1"/>
            </a:solidFill>
            <a:prstDash val="solid"/>
            <a:round/>
            <a:headEnd len="med" w="med" type="none"/>
            <a:tailEnd len="med" w="med" type="none"/>
          </a:ln>
        </p:spPr>
      </p:sp>
      <p:cxnSp>
        <p:nvCxnSpPr>
          <p:cNvPr id="1411" name="Google Shape;1411;p89"/>
          <p:cNvCxnSpPr/>
          <p:nvPr/>
        </p:nvCxnSpPr>
        <p:spPr>
          <a:xfrm>
            <a:off x="5814300" y="735125"/>
            <a:ext cx="2747400" cy="1091400"/>
          </a:xfrm>
          <a:prstGeom prst="straightConnector1">
            <a:avLst/>
          </a:prstGeom>
          <a:noFill/>
          <a:ln cap="flat" cmpd="sng" w="28575">
            <a:solidFill>
              <a:schemeClr val="dk1"/>
            </a:solidFill>
            <a:prstDash val="solid"/>
            <a:round/>
            <a:headEnd len="med" w="med" type="triangle"/>
            <a:tailEnd len="med" w="med" type="triangle"/>
          </a:ln>
        </p:spPr>
      </p:cxnSp>
      <p:cxnSp>
        <p:nvCxnSpPr>
          <p:cNvPr id="1412" name="Google Shape;1412;p89"/>
          <p:cNvCxnSpPr/>
          <p:nvPr/>
        </p:nvCxnSpPr>
        <p:spPr>
          <a:xfrm>
            <a:off x="5608250" y="903000"/>
            <a:ext cx="831900" cy="1083600"/>
          </a:xfrm>
          <a:prstGeom prst="straightConnector1">
            <a:avLst/>
          </a:prstGeom>
          <a:noFill/>
          <a:ln cap="flat" cmpd="sng" w="28575">
            <a:solidFill>
              <a:schemeClr val="dk1"/>
            </a:solidFill>
            <a:prstDash val="solid"/>
            <a:round/>
            <a:headEnd len="med" w="med" type="triangle"/>
            <a:tailEnd len="med" w="med" type="triangle"/>
          </a:ln>
        </p:spPr>
      </p:cxnSp>
      <p:cxnSp>
        <p:nvCxnSpPr>
          <p:cNvPr id="1413" name="Google Shape;1413;p89"/>
          <p:cNvCxnSpPr/>
          <p:nvPr/>
        </p:nvCxnSpPr>
        <p:spPr>
          <a:xfrm flipH="1">
            <a:off x="6629625" y="2078225"/>
            <a:ext cx="1848000" cy="2700"/>
          </a:xfrm>
          <a:prstGeom prst="straightConnector1">
            <a:avLst/>
          </a:prstGeom>
          <a:noFill/>
          <a:ln cap="flat" cmpd="sng" w="28575">
            <a:solidFill>
              <a:schemeClr val="dk1"/>
            </a:solidFill>
            <a:prstDash val="solid"/>
            <a:round/>
            <a:headEnd len="med" w="med" type="triangle"/>
            <a:tailEnd len="med" w="med" type="triangle"/>
          </a:ln>
        </p:spPr>
      </p:cxnSp>
      <p:sp>
        <p:nvSpPr>
          <p:cNvPr id="1414" name="Google Shape;1414;p89"/>
          <p:cNvSpPr txBox="1"/>
          <p:nvPr/>
        </p:nvSpPr>
        <p:spPr>
          <a:xfrm>
            <a:off x="6928450" y="796175"/>
            <a:ext cx="105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11 cm</a:t>
            </a:r>
            <a:endParaRPr sz="1800">
              <a:solidFill>
                <a:schemeClr val="dk1"/>
              </a:solidFill>
              <a:latin typeface="Lexend"/>
              <a:ea typeface="Lexend"/>
              <a:cs typeface="Lexend"/>
              <a:sym typeface="Lexend"/>
            </a:endParaRPr>
          </a:p>
        </p:txBody>
      </p:sp>
      <p:sp>
        <p:nvSpPr>
          <p:cNvPr id="1415" name="Google Shape;1415;p89"/>
          <p:cNvSpPr txBox="1"/>
          <p:nvPr/>
        </p:nvSpPr>
        <p:spPr>
          <a:xfrm>
            <a:off x="5347175" y="1319050"/>
            <a:ext cx="105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sp>
        <p:nvSpPr>
          <p:cNvPr id="1416" name="Google Shape;1416;p89"/>
          <p:cNvSpPr txBox="1"/>
          <p:nvPr/>
        </p:nvSpPr>
        <p:spPr>
          <a:xfrm>
            <a:off x="7186100" y="2043175"/>
            <a:ext cx="1053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417" name="Google Shape;1417;p89"/>
          <p:cNvSpPr txBox="1"/>
          <p:nvPr/>
        </p:nvSpPr>
        <p:spPr>
          <a:xfrm>
            <a:off x="3597875" y="4320000"/>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7 cm</a:t>
            </a:r>
            <a:endParaRPr sz="2000">
              <a:solidFill>
                <a:schemeClr val="dk1"/>
              </a:solidFill>
              <a:latin typeface="Kalam"/>
              <a:ea typeface="Kalam"/>
              <a:cs typeface="Kalam"/>
              <a:sym typeface="Kalam"/>
            </a:endParaRPr>
          </a:p>
        </p:txBody>
      </p:sp>
      <p:sp>
        <p:nvSpPr>
          <p:cNvPr id="1418" name="Google Shape;1418;p89"/>
          <p:cNvSpPr txBox="1"/>
          <p:nvPr/>
        </p:nvSpPr>
        <p:spPr>
          <a:xfrm>
            <a:off x="3765625" y="2799413"/>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11 cm</a:t>
            </a:r>
            <a:endParaRPr sz="2000">
              <a:solidFill>
                <a:schemeClr val="dk1"/>
              </a:solidFill>
              <a:latin typeface="Kalam"/>
              <a:ea typeface="Kalam"/>
              <a:cs typeface="Kalam"/>
              <a:sym typeface="Kalam"/>
            </a:endParaRPr>
          </a:p>
        </p:txBody>
      </p:sp>
      <p:sp>
        <p:nvSpPr>
          <p:cNvPr id="1419" name="Google Shape;1419;p89"/>
          <p:cNvSpPr txBox="1"/>
          <p:nvPr/>
        </p:nvSpPr>
        <p:spPr>
          <a:xfrm>
            <a:off x="1219350" y="3059363"/>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6 cm</a:t>
            </a:r>
            <a:endParaRPr sz="2000">
              <a:solidFill>
                <a:schemeClr val="dk1"/>
              </a:solidFill>
              <a:latin typeface="Kalam"/>
              <a:ea typeface="Kalam"/>
              <a:cs typeface="Kalam"/>
              <a:sym typeface="Kalam"/>
            </a:endParaRPr>
          </a:p>
        </p:txBody>
      </p:sp>
      <p:sp>
        <p:nvSpPr>
          <p:cNvPr id="1420" name="Google Shape;1420;p89"/>
          <p:cNvSpPr/>
          <p:nvPr/>
        </p:nvSpPr>
        <p:spPr>
          <a:xfrm rot="-6537858">
            <a:off x="2238671" y="3943981"/>
            <a:ext cx="831746" cy="831746"/>
          </a:xfrm>
          <a:prstGeom prst="pie">
            <a:avLst>
              <a:gd fmla="val 21297119" name="adj1"/>
              <a:gd fmla="val 6497995" name="adj2"/>
            </a:avLst>
          </a:prstGeom>
          <a:solidFill>
            <a:schemeClr val="accent4"/>
          </a:solidFill>
          <a:ln cap="flat" cmpd="sng" w="19050">
            <a:solidFill>
              <a:srgbClr val="616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1" name="Google Shape;1421;p89"/>
          <p:cNvSpPr/>
          <p:nvPr/>
        </p:nvSpPr>
        <p:spPr>
          <a:xfrm rot="-6537858">
            <a:off x="5301721" y="3937831"/>
            <a:ext cx="831746" cy="831746"/>
          </a:xfrm>
          <a:prstGeom prst="pie">
            <a:avLst>
              <a:gd fmla="val 17330656" name="adj1"/>
              <a:gd fmla="val 19143384" name="adj2"/>
            </a:avLst>
          </a:prstGeom>
          <a:solidFill>
            <a:schemeClr val="accent4"/>
          </a:solidFill>
          <a:ln cap="flat" cmpd="sng" w="19050">
            <a:solidFill>
              <a:srgbClr val="616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2" name="Google Shape;1422;p89"/>
          <p:cNvSpPr txBox="1"/>
          <p:nvPr/>
        </p:nvSpPr>
        <p:spPr>
          <a:xfrm>
            <a:off x="2818375" y="3648675"/>
            <a:ext cx="692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115°</a:t>
            </a:r>
            <a:endParaRPr sz="2000">
              <a:solidFill>
                <a:schemeClr val="dk1"/>
              </a:solidFill>
              <a:latin typeface="Kalam"/>
              <a:ea typeface="Kalam"/>
              <a:cs typeface="Kalam"/>
              <a:sym typeface="Kalam"/>
            </a:endParaRPr>
          </a:p>
        </p:txBody>
      </p:sp>
      <p:sp>
        <p:nvSpPr>
          <p:cNvPr id="1423" name="Google Shape;1423;p89"/>
          <p:cNvSpPr txBox="1"/>
          <p:nvPr/>
        </p:nvSpPr>
        <p:spPr>
          <a:xfrm>
            <a:off x="4655075" y="3923975"/>
            <a:ext cx="692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30°</a:t>
            </a:r>
            <a:endParaRPr sz="2000">
              <a:solidFill>
                <a:schemeClr val="dk1"/>
              </a:solidFill>
              <a:latin typeface="Kalam"/>
              <a:ea typeface="Kalam"/>
              <a:cs typeface="Kalam"/>
              <a:sym typeface="Kalam"/>
            </a:endParaRPr>
          </a:p>
        </p:txBody>
      </p:sp>
      <p:sp>
        <p:nvSpPr>
          <p:cNvPr id="1424" name="Google Shape;1424;p89"/>
          <p:cNvSpPr txBox="1"/>
          <p:nvPr/>
        </p:nvSpPr>
        <p:spPr>
          <a:xfrm>
            <a:off x="5428913" y="2721513"/>
            <a:ext cx="3357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To check your accuracy, measure the marked angles with a protractor.</a:t>
            </a:r>
            <a:endParaRPr sz="2000">
              <a:solidFill>
                <a:schemeClr val="dk1"/>
              </a:solidFill>
              <a:latin typeface="Kalam"/>
              <a:ea typeface="Kalam"/>
              <a:cs typeface="Kalam"/>
              <a:sym typeface="Kala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8" name="Shape 1428"/>
        <p:cNvGrpSpPr/>
        <p:nvPr/>
      </p:nvGrpSpPr>
      <p:grpSpPr>
        <a:xfrm>
          <a:off x="0" y="0"/>
          <a:ext cx="0" cy="0"/>
          <a:chOff x="0" y="0"/>
          <a:chExt cx="0" cy="0"/>
        </a:xfrm>
      </p:grpSpPr>
      <p:pic>
        <p:nvPicPr>
          <p:cNvPr id="1429" name="Google Shape;1429;p90"/>
          <p:cNvPicPr preferRelativeResize="0"/>
          <p:nvPr/>
        </p:nvPicPr>
        <p:blipFill>
          <a:blip r:embed="rId3">
            <a:alphaModFix/>
          </a:blip>
          <a:stretch>
            <a:fillRect/>
          </a:stretch>
        </p:blipFill>
        <p:spPr>
          <a:xfrm>
            <a:off x="1833571" y="1495425"/>
            <a:ext cx="4375150" cy="2533350"/>
          </a:xfrm>
          <a:prstGeom prst="rect">
            <a:avLst/>
          </a:prstGeom>
          <a:noFill/>
          <a:ln>
            <a:noFill/>
          </a:ln>
        </p:spPr>
      </p:pic>
      <p:sp>
        <p:nvSpPr>
          <p:cNvPr id="1430" name="Google Shape;1430;p90"/>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a:t>
            </a:r>
            <a:r>
              <a:rPr lang="en-GB" sz="1800"/>
              <a:t>) Construct the triangle with edge lengths 6 cm, 8 cm and 10 cm.</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431" name="Google Shape;1431;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a scalene triangle</a:t>
            </a:r>
            <a:endParaRPr/>
          </a:p>
        </p:txBody>
      </p:sp>
      <p:pic>
        <p:nvPicPr>
          <p:cNvPr id="1432" name="Google Shape;1432;p90"/>
          <p:cNvPicPr preferRelativeResize="0"/>
          <p:nvPr/>
        </p:nvPicPr>
        <p:blipFill>
          <a:blip r:embed="rId4">
            <a:alphaModFix/>
          </a:blip>
          <a:stretch>
            <a:fillRect/>
          </a:stretch>
        </p:blipFill>
        <p:spPr>
          <a:xfrm>
            <a:off x="1701675" y="1584463"/>
            <a:ext cx="4354475" cy="2515600"/>
          </a:xfrm>
          <a:prstGeom prst="rect">
            <a:avLst/>
          </a:prstGeom>
          <a:noFill/>
          <a:ln>
            <a:noFill/>
          </a:ln>
        </p:spPr>
      </p:pic>
      <p:sp>
        <p:nvSpPr>
          <p:cNvPr id="1433" name="Google Shape;1433;p90"/>
          <p:cNvSpPr txBox="1"/>
          <p:nvPr/>
        </p:nvSpPr>
        <p:spPr>
          <a:xfrm>
            <a:off x="3502775" y="3884325"/>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10 cm</a:t>
            </a:r>
            <a:endParaRPr sz="2000">
              <a:solidFill>
                <a:schemeClr val="dk1"/>
              </a:solidFill>
              <a:latin typeface="Kalam"/>
              <a:ea typeface="Kalam"/>
              <a:cs typeface="Kalam"/>
              <a:sym typeface="Kalam"/>
            </a:endParaRPr>
          </a:p>
        </p:txBody>
      </p:sp>
      <p:sp>
        <p:nvSpPr>
          <p:cNvPr id="1434" name="Google Shape;1434;p90"/>
          <p:cNvSpPr txBox="1"/>
          <p:nvPr/>
        </p:nvSpPr>
        <p:spPr>
          <a:xfrm>
            <a:off x="4526425" y="2380725"/>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8</a:t>
            </a:r>
            <a:r>
              <a:rPr lang="en-GB" sz="2000">
                <a:solidFill>
                  <a:schemeClr val="dk1"/>
                </a:solidFill>
                <a:latin typeface="Kalam"/>
                <a:ea typeface="Kalam"/>
                <a:cs typeface="Kalam"/>
                <a:sym typeface="Kalam"/>
              </a:rPr>
              <a:t> cm</a:t>
            </a:r>
            <a:endParaRPr sz="2000">
              <a:solidFill>
                <a:schemeClr val="dk1"/>
              </a:solidFill>
              <a:latin typeface="Kalam"/>
              <a:ea typeface="Kalam"/>
              <a:cs typeface="Kalam"/>
              <a:sym typeface="Kalam"/>
            </a:endParaRPr>
          </a:p>
        </p:txBody>
      </p:sp>
      <p:sp>
        <p:nvSpPr>
          <p:cNvPr id="1435" name="Google Shape;1435;p90"/>
          <p:cNvSpPr txBox="1"/>
          <p:nvPr/>
        </p:nvSpPr>
        <p:spPr>
          <a:xfrm>
            <a:off x="2015500" y="2502600"/>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6</a:t>
            </a:r>
            <a:r>
              <a:rPr lang="en-GB" sz="2000">
                <a:solidFill>
                  <a:schemeClr val="dk1"/>
                </a:solidFill>
                <a:latin typeface="Kalam"/>
                <a:ea typeface="Kalam"/>
                <a:cs typeface="Kalam"/>
                <a:sym typeface="Kalam"/>
              </a:rPr>
              <a:t> cm</a:t>
            </a:r>
            <a:endParaRPr sz="2000">
              <a:solidFill>
                <a:schemeClr val="dk1"/>
              </a:solidFill>
              <a:latin typeface="Kalam"/>
              <a:ea typeface="Kalam"/>
              <a:cs typeface="Kalam"/>
              <a:sym typeface="Kalam"/>
            </a:endParaRPr>
          </a:p>
        </p:txBody>
      </p:sp>
      <p:sp>
        <p:nvSpPr>
          <p:cNvPr id="1436" name="Google Shape;1436;p90"/>
          <p:cNvSpPr txBox="1"/>
          <p:nvPr/>
        </p:nvSpPr>
        <p:spPr>
          <a:xfrm>
            <a:off x="5457325" y="1348175"/>
            <a:ext cx="33579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angle between the 6 cm edge and the 8 cm edge should be 90°.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Use a protractor to check it.</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0" name="Shape 1440"/>
        <p:cNvGrpSpPr/>
        <p:nvPr/>
      </p:nvGrpSpPr>
      <p:grpSpPr>
        <a:xfrm>
          <a:off x="0" y="0"/>
          <a:ext cx="0" cy="0"/>
          <a:chOff x="0" y="0"/>
          <a:chExt cx="0" cy="0"/>
        </a:xfrm>
      </p:grpSpPr>
      <p:sp>
        <p:nvSpPr>
          <p:cNvPr id="1441" name="Google Shape;1441;p91"/>
          <p:cNvSpPr txBox="1"/>
          <p:nvPr>
            <p:ph idx="1" type="body"/>
          </p:nvPr>
        </p:nvSpPr>
        <p:spPr>
          <a:xfrm>
            <a:off x="324000" y="759300"/>
            <a:ext cx="8237700" cy="41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Construct triangle ABC, where AB = 12 cm, BC = 13 cm and AC = 50 mm.</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442" name="Google Shape;1442;p9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a scalene triangle</a:t>
            </a:r>
            <a:endParaRPr/>
          </a:p>
        </p:txBody>
      </p:sp>
      <p:pic>
        <p:nvPicPr>
          <p:cNvPr id="1443" name="Google Shape;1443;p91"/>
          <p:cNvPicPr preferRelativeResize="0"/>
          <p:nvPr/>
        </p:nvPicPr>
        <p:blipFill>
          <a:blip r:embed="rId3">
            <a:alphaModFix/>
          </a:blip>
          <a:stretch>
            <a:fillRect/>
          </a:stretch>
        </p:blipFill>
        <p:spPr>
          <a:xfrm>
            <a:off x="1895000" y="1791725"/>
            <a:ext cx="4917716" cy="2201950"/>
          </a:xfrm>
          <a:prstGeom prst="rect">
            <a:avLst/>
          </a:prstGeom>
          <a:noFill/>
          <a:ln>
            <a:noFill/>
          </a:ln>
        </p:spPr>
      </p:pic>
      <p:pic>
        <p:nvPicPr>
          <p:cNvPr id="1444" name="Google Shape;1444;p91"/>
          <p:cNvPicPr preferRelativeResize="0"/>
          <p:nvPr/>
        </p:nvPicPr>
        <p:blipFill>
          <a:blip r:embed="rId4">
            <a:alphaModFix/>
          </a:blip>
          <a:stretch>
            <a:fillRect/>
          </a:stretch>
        </p:blipFill>
        <p:spPr>
          <a:xfrm>
            <a:off x="1874700" y="1842925"/>
            <a:ext cx="4917725" cy="2174093"/>
          </a:xfrm>
          <a:prstGeom prst="rect">
            <a:avLst/>
          </a:prstGeom>
          <a:noFill/>
          <a:ln>
            <a:noFill/>
          </a:ln>
        </p:spPr>
      </p:pic>
      <p:sp>
        <p:nvSpPr>
          <p:cNvPr id="1445" name="Google Shape;1445;p91"/>
          <p:cNvSpPr txBox="1"/>
          <p:nvPr/>
        </p:nvSpPr>
        <p:spPr>
          <a:xfrm>
            <a:off x="441325" y="1284000"/>
            <a:ext cx="3357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 angle between AB and AC should be 90°.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Use a protractor to check it.</a:t>
            </a:r>
            <a:endParaRPr sz="2000">
              <a:solidFill>
                <a:schemeClr val="dk1"/>
              </a:solidFill>
              <a:latin typeface="Kalam"/>
              <a:ea typeface="Kalam"/>
              <a:cs typeface="Kalam"/>
              <a:sym typeface="Kalam"/>
            </a:endParaRPr>
          </a:p>
        </p:txBody>
      </p:sp>
      <p:sp>
        <p:nvSpPr>
          <p:cNvPr id="1446" name="Google Shape;1446;p91"/>
          <p:cNvSpPr txBox="1"/>
          <p:nvPr/>
        </p:nvSpPr>
        <p:spPr>
          <a:xfrm>
            <a:off x="5883000" y="1726225"/>
            <a:ext cx="373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a:t>
            </a:r>
            <a:endParaRPr sz="2000">
              <a:solidFill>
                <a:schemeClr val="dk1"/>
              </a:solidFill>
              <a:latin typeface="Kalam"/>
              <a:ea typeface="Kalam"/>
              <a:cs typeface="Kalam"/>
              <a:sym typeface="Kalam"/>
            </a:endParaRPr>
          </a:p>
        </p:txBody>
      </p:sp>
      <p:sp>
        <p:nvSpPr>
          <p:cNvPr id="1447" name="Google Shape;1447;p91"/>
          <p:cNvSpPr txBox="1"/>
          <p:nvPr/>
        </p:nvSpPr>
        <p:spPr>
          <a:xfrm>
            <a:off x="1684800" y="3661950"/>
            <a:ext cx="373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a:t>
            </a:r>
            <a:endParaRPr sz="2000">
              <a:solidFill>
                <a:schemeClr val="dk1"/>
              </a:solidFill>
              <a:latin typeface="Kalam"/>
              <a:ea typeface="Kalam"/>
              <a:cs typeface="Kalam"/>
              <a:sym typeface="Kalam"/>
            </a:endParaRPr>
          </a:p>
        </p:txBody>
      </p:sp>
      <p:sp>
        <p:nvSpPr>
          <p:cNvPr id="1448" name="Google Shape;1448;p91"/>
          <p:cNvSpPr txBox="1"/>
          <p:nvPr/>
        </p:nvSpPr>
        <p:spPr>
          <a:xfrm>
            <a:off x="6660000" y="3622300"/>
            <a:ext cx="373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a:t>
            </a:r>
            <a:endParaRPr sz="2000">
              <a:solidFill>
                <a:schemeClr val="dk1"/>
              </a:solidFill>
              <a:latin typeface="Kalam"/>
              <a:ea typeface="Kalam"/>
              <a:cs typeface="Kalam"/>
              <a:sym typeface="Kalam"/>
            </a:endParaRPr>
          </a:p>
        </p:txBody>
      </p:sp>
      <p:sp>
        <p:nvSpPr>
          <p:cNvPr id="1449" name="Google Shape;1449;p91"/>
          <p:cNvSpPr txBox="1"/>
          <p:nvPr/>
        </p:nvSpPr>
        <p:spPr>
          <a:xfrm>
            <a:off x="4074125" y="3827400"/>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13</a:t>
            </a:r>
            <a:r>
              <a:rPr lang="en-GB" sz="2000">
                <a:solidFill>
                  <a:schemeClr val="dk1"/>
                </a:solidFill>
                <a:latin typeface="Kalam"/>
                <a:ea typeface="Kalam"/>
                <a:cs typeface="Kalam"/>
                <a:sym typeface="Kalam"/>
              </a:rPr>
              <a:t> cm</a:t>
            </a:r>
            <a:endParaRPr sz="2000">
              <a:solidFill>
                <a:schemeClr val="dk1"/>
              </a:solidFill>
              <a:latin typeface="Kalam"/>
              <a:ea typeface="Kalam"/>
              <a:cs typeface="Kalam"/>
              <a:sym typeface="Kalam"/>
            </a:endParaRPr>
          </a:p>
        </p:txBody>
      </p:sp>
      <p:sp>
        <p:nvSpPr>
          <p:cNvPr id="1450" name="Google Shape;1450;p91"/>
          <p:cNvSpPr txBox="1"/>
          <p:nvPr/>
        </p:nvSpPr>
        <p:spPr>
          <a:xfrm>
            <a:off x="3558250" y="2571750"/>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12 cm</a:t>
            </a:r>
            <a:endParaRPr sz="2000">
              <a:solidFill>
                <a:schemeClr val="dk1"/>
              </a:solidFill>
              <a:latin typeface="Kalam"/>
              <a:ea typeface="Kalam"/>
              <a:cs typeface="Kalam"/>
              <a:sym typeface="Kalam"/>
            </a:endParaRPr>
          </a:p>
        </p:txBody>
      </p:sp>
      <p:sp>
        <p:nvSpPr>
          <p:cNvPr id="1451" name="Google Shape;1451;p91"/>
          <p:cNvSpPr txBox="1"/>
          <p:nvPr/>
        </p:nvSpPr>
        <p:spPr>
          <a:xfrm>
            <a:off x="6381450" y="2683675"/>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5</a:t>
            </a:r>
            <a:r>
              <a:rPr lang="en-GB" sz="2000">
                <a:solidFill>
                  <a:schemeClr val="dk1"/>
                </a:solidFill>
                <a:latin typeface="Kalam"/>
                <a:ea typeface="Kalam"/>
                <a:cs typeface="Kalam"/>
                <a:sym typeface="Kalam"/>
              </a:rPr>
              <a:t> cm</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4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92"/>
          <p:cNvSpPr txBox="1"/>
          <p:nvPr>
            <p:ph idx="1" type="body"/>
          </p:nvPr>
        </p:nvSpPr>
        <p:spPr>
          <a:xfrm>
            <a:off x="324000" y="759300"/>
            <a:ext cx="8578800" cy="746400"/>
          </a:xfrm>
          <a:prstGeom prst="rect">
            <a:avLst/>
          </a:prstGeom>
        </p:spPr>
        <p:txBody>
          <a:bodyPr anchorCtr="0" anchor="t" bIns="0" lIns="0" spcFirstLastPara="1" rIns="0" wrap="square" tIns="0">
            <a:noAutofit/>
          </a:bodyPr>
          <a:lstStyle/>
          <a:p>
            <a:pPr indent="-269999" lvl="0" marL="269999" rtl="0" algn="l">
              <a:spcBef>
                <a:spcPts val="0"/>
              </a:spcBef>
              <a:spcAft>
                <a:spcPts val="0"/>
              </a:spcAft>
              <a:buNone/>
            </a:pPr>
            <a:r>
              <a:rPr lang="en-GB" sz="1800"/>
              <a:t>4) Construct the scalene triangle that has an edge of 6 cm, an edge of 7 cm and a perimeter of 23 cm.</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457" name="Google Shape;1457;p9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458" name="Google Shape;1458;p92"/>
          <p:cNvSpPr txBox="1"/>
          <p:nvPr/>
        </p:nvSpPr>
        <p:spPr>
          <a:xfrm flipH="1">
            <a:off x="499100" y="1373700"/>
            <a:ext cx="8119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If the perimeter is 23 cm and two of the edges sum to 13 cm, then the third edge will need to have a length of 10 cm.</a:t>
            </a:r>
            <a:endParaRPr sz="2000">
              <a:solidFill>
                <a:schemeClr val="dk1"/>
              </a:solidFill>
              <a:latin typeface="Kalam"/>
              <a:ea typeface="Kalam"/>
              <a:cs typeface="Kalam"/>
              <a:sym typeface="Kalam"/>
            </a:endParaRPr>
          </a:p>
        </p:txBody>
      </p:sp>
      <p:pic>
        <p:nvPicPr>
          <p:cNvPr id="1459" name="Google Shape;1459;p92"/>
          <p:cNvPicPr preferRelativeResize="0"/>
          <p:nvPr/>
        </p:nvPicPr>
        <p:blipFill>
          <a:blip r:embed="rId3">
            <a:alphaModFix/>
          </a:blip>
          <a:stretch>
            <a:fillRect/>
          </a:stretch>
        </p:blipFill>
        <p:spPr>
          <a:xfrm>
            <a:off x="1581100" y="2578600"/>
            <a:ext cx="3964849" cy="1946750"/>
          </a:xfrm>
          <a:prstGeom prst="rect">
            <a:avLst/>
          </a:prstGeom>
          <a:noFill/>
          <a:ln>
            <a:noFill/>
          </a:ln>
        </p:spPr>
      </p:pic>
      <p:sp>
        <p:nvSpPr>
          <p:cNvPr id="1460" name="Google Shape;1460;p92"/>
          <p:cNvSpPr txBox="1"/>
          <p:nvPr/>
        </p:nvSpPr>
        <p:spPr>
          <a:xfrm>
            <a:off x="3282425" y="4320000"/>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10</a:t>
            </a:r>
            <a:r>
              <a:rPr lang="en-GB" sz="2000">
                <a:solidFill>
                  <a:schemeClr val="dk1"/>
                </a:solidFill>
                <a:latin typeface="Kalam"/>
                <a:ea typeface="Kalam"/>
                <a:cs typeface="Kalam"/>
                <a:sym typeface="Kalam"/>
              </a:rPr>
              <a:t> cm</a:t>
            </a:r>
            <a:endParaRPr sz="2000">
              <a:solidFill>
                <a:schemeClr val="dk1"/>
              </a:solidFill>
              <a:latin typeface="Kalam"/>
              <a:ea typeface="Kalam"/>
              <a:cs typeface="Kalam"/>
              <a:sym typeface="Kalam"/>
            </a:endParaRPr>
          </a:p>
        </p:txBody>
      </p:sp>
      <p:sp>
        <p:nvSpPr>
          <p:cNvPr id="1461" name="Google Shape;1461;p92"/>
          <p:cNvSpPr txBox="1"/>
          <p:nvPr/>
        </p:nvSpPr>
        <p:spPr>
          <a:xfrm>
            <a:off x="4213325" y="3125350"/>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7</a:t>
            </a:r>
            <a:r>
              <a:rPr lang="en-GB" sz="2000">
                <a:solidFill>
                  <a:schemeClr val="dk1"/>
                </a:solidFill>
                <a:latin typeface="Kalam"/>
                <a:ea typeface="Kalam"/>
                <a:cs typeface="Kalam"/>
                <a:sym typeface="Kalam"/>
              </a:rPr>
              <a:t> cm</a:t>
            </a:r>
            <a:endParaRPr sz="2000">
              <a:solidFill>
                <a:schemeClr val="dk1"/>
              </a:solidFill>
              <a:latin typeface="Kalam"/>
              <a:ea typeface="Kalam"/>
              <a:cs typeface="Kalam"/>
              <a:sym typeface="Kalam"/>
            </a:endParaRPr>
          </a:p>
        </p:txBody>
      </p:sp>
      <p:sp>
        <p:nvSpPr>
          <p:cNvPr id="1462" name="Google Shape;1462;p92"/>
          <p:cNvSpPr txBox="1"/>
          <p:nvPr/>
        </p:nvSpPr>
        <p:spPr>
          <a:xfrm>
            <a:off x="2092000" y="3240000"/>
            <a:ext cx="930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6</a:t>
            </a:r>
            <a:r>
              <a:rPr lang="en-GB" sz="2000">
                <a:solidFill>
                  <a:schemeClr val="dk1"/>
                </a:solidFill>
                <a:latin typeface="Kalam"/>
                <a:ea typeface="Kalam"/>
                <a:cs typeface="Kalam"/>
                <a:sym typeface="Kalam"/>
              </a:rPr>
              <a:t> cm</a:t>
            </a:r>
            <a:endParaRPr sz="2000">
              <a:solidFill>
                <a:schemeClr val="dk1"/>
              </a:solidFill>
              <a:latin typeface="Kalam"/>
              <a:ea typeface="Kalam"/>
              <a:cs typeface="Kalam"/>
              <a:sym typeface="Kalam"/>
            </a:endParaRPr>
          </a:p>
        </p:txBody>
      </p:sp>
      <p:sp>
        <p:nvSpPr>
          <p:cNvPr id="1463" name="Google Shape;1463;p92"/>
          <p:cNvSpPr/>
          <p:nvPr/>
        </p:nvSpPr>
        <p:spPr>
          <a:xfrm rot="-6537858">
            <a:off x="1644846" y="3892581"/>
            <a:ext cx="831746" cy="831746"/>
          </a:xfrm>
          <a:prstGeom prst="pie">
            <a:avLst>
              <a:gd fmla="val 3936174" name="adj1"/>
              <a:gd fmla="val 6497995" name="adj2"/>
            </a:avLst>
          </a:prstGeom>
          <a:solidFill>
            <a:schemeClr val="accent4"/>
          </a:solidFill>
          <a:ln cap="flat" cmpd="sng" w="19050">
            <a:solidFill>
              <a:srgbClr val="616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4" name="Google Shape;1464;p92"/>
          <p:cNvSpPr/>
          <p:nvPr/>
        </p:nvSpPr>
        <p:spPr>
          <a:xfrm rot="6871357">
            <a:off x="4874939" y="3883227"/>
            <a:ext cx="831943" cy="831943"/>
          </a:xfrm>
          <a:prstGeom prst="pie">
            <a:avLst>
              <a:gd fmla="val 3936174" name="adj1"/>
              <a:gd fmla="val 6075904" name="adj2"/>
            </a:avLst>
          </a:prstGeom>
          <a:solidFill>
            <a:schemeClr val="accent4"/>
          </a:solidFill>
          <a:ln cap="flat" cmpd="sng" w="19050">
            <a:solidFill>
              <a:srgbClr val="6161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5" name="Google Shape;1465;p92"/>
          <p:cNvSpPr txBox="1"/>
          <p:nvPr/>
        </p:nvSpPr>
        <p:spPr>
          <a:xfrm>
            <a:off x="2421825" y="3846925"/>
            <a:ext cx="692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44</a:t>
            </a:r>
            <a:r>
              <a:rPr lang="en-GB" sz="2000">
                <a:solidFill>
                  <a:schemeClr val="dk1"/>
                </a:solidFill>
                <a:latin typeface="Kalam"/>
                <a:ea typeface="Kalam"/>
                <a:cs typeface="Kalam"/>
                <a:sym typeface="Kalam"/>
              </a:rPr>
              <a:t>°</a:t>
            </a:r>
            <a:endParaRPr sz="2000">
              <a:solidFill>
                <a:schemeClr val="dk1"/>
              </a:solidFill>
              <a:latin typeface="Kalam"/>
              <a:ea typeface="Kalam"/>
              <a:cs typeface="Kalam"/>
              <a:sym typeface="Kalam"/>
            </a:endParaRPr>
          </a:p>
        </p:txBody>
      </p:sp>
      <p:sp>
        <p:nvSpPr>
          <p:cNvPr id="1466" name="Google Shape;1466;p92"/>
          <p:cNvSpPr txBox="1"/>
          <p:nvPr/>
        </p:nvSpPr>
        <p:spPr>
          <a:xfrm>
            <a:off x="4362200" y="3862800"/>
            <a:ext cx="692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36</a:t>
            </a:r>
            <a:r>
              <a:rPr lang="en-GB" sz="2000">
                <a:solidFill>
                  <a:schemeClr val="dk1"/>
                </a:solidFill>
                <a:latin typeface="Kalam"/>
                <a:ea typeface="Kalam"/>
                <a:cs typeface="Kalam"/>
                <a:sym typeface="Kalam"/>
              </a:rPr>
              <a:t>°</a:t>
            </a:r>
            <a:endParaRPr sz="2000">
              <a:solidFill>
                <a:schemeClr val="dk1"/>
              </a:solidFill>
              <a:latin typeface="Kalam"/>
              <a:ea typeface="Kalam"/>
              <a:cs typeface="Kalam"/>
              <a:sym typeface="Kalam"/>
            </a:endParaRPr>
          </a:p>
        </p:txBody>
      </p:sp>
      <p:sp>
        <p:nvSpPr>
          <p:cNvPr id="1467" name="Google Shape;1467;p92"/>
          <p:cNvSpPr txBox="1"/>
          <p:nvPr/>
        </p:nvSpPr>
        <p:spPr>
          <a:xfrm>
            <a:off x="5428913" y="2721513"/>
            <a:ext cx="3357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To check your accuracy, measure the marked angles with a protractor.</a:t>
            </a:r>
            <a:endParaRPr sz="2000">
              <a:solidFill>
                <a:schemeClr val="dk1"/>
              </a:solidFill>
              <a:latin typeface="Kalam"/>
              <a:ea typeface="Kalam"/>
              <a:cs typeface="Kalam"/>
              <a:sym typeface="Kala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93"/>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5) Construct a scalene triangle with a perimeter of 180 mm.</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473" name="Google Shape;1473;p9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474" name="Google Shape;1474;p93"/>
          <p:cNvSpPr txBox="1"/>
          <p:nvPr/>
        </p:nvSpPr>
        <p:spPr>
          <a:xfrm flipH="1">
            <a:off x="512250" y="1080000"/>
            <a:ext cx="8119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An example of a correct answer:</a:t>
            </a:r>
            <a:endParaRPr sz="2000">
              <a:solidFill>
                <a:schemeClr val="dk1"/>
              </a:solidFill>
              <a:latin typeface="Kalam"/>
              <a:ea typeface="Kalam"/>
              <a:cs typeface="Kalam"/>
              <a:sym typeface="Kalam"/>
            </a:endParaRPr>
          </a:p>
        </p:txBody>
      </p:sp>
      <p:pic>
        <p:nvPicPr>
          <p:cNvPr id="1475" name="Google Shape;1475;p93"/>
          <p:cNvPicPr preferRelativeResize="0"/>
          <p:nvPr/>
        </p:nvPicPr>
        <p:blipFill>
          <a:blip r:embed="rId3">
            <a:alphaModFix/>
          </a:blip>
          <a:stretch>
            <a:fillRect/>
          </a:stretch>
        </p:blipFill>
        <p:spPr>
          <a:xfrm>
            <a:off x="1867575" y="1945825"/>
            <a:ext cx="3083600" cy="2069500"/>
          </a:xfrm>
          <a:prstGeom prst="rect">
            <a:avLst/>
          </a:prstGeom>
          <a:noFill/>
          <a:ln>
            <a:noFill/>
          </a:ln>
        </p:spPr>
      </p:pic>
      <p:sp>
        <p:nvSpPr>
          <p:cNvPr id="1476" name="Google Shape;1476;p93"/>
          <p:cNvSpPr txBox="1"/>
          <p:nvPr/>
        </p:nvSpPr>
        <p:spPr>
          <a:xfrm>
            <a:off x="3104325" y="3892550"/>
            <a:ext cx="1048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70</a:t>
            </a:r>
            <a:r>
              <a:rPr lang="en-GB" sz="2000">
                <a:solidFill>
                  <a:schemeClr val="dk1"/>
                </a:solidFill>
                <a:latin typeface="Kalam"/>
                <a:ea typeface="Kalam"/>
                <a:cs typeface="Kalam"/>
                <a:sym typeface="Kalam"/>
              </a:rPr>
              <a:t> mm</a:t>
            </a:r>
            <a:endParaRPr sz="2000">
              <a:solidFill>
                <a:schemeClr val="dk1"/>
              </a:solidFill>
              <a:latin typeface="Kalam"/>
              <a:ea typeface="Kalam"/>
              <a:cs typeface="Kalam"/>
              <a:sym typeface="Kalam"/>
            </a:endParaRPr>
          </a:p>
        </p:txBody>
      </p:sp>
      <p:sp>
        <p:nvSpPr>
          <p:cNvPr id="1477" name="Google Shape;1477;p93"/>
          <p:cNvSpPr txBox="1"/>
          <p:nvPr/>
        </p:nvSpPr>
        <p:spPr>
          <a:xfrm>
            <a:off x="4460675" y="2734275"/>
            <a:ext cx="1048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5</a:t>
            </a:r>
            <a:r>
              <a:rPr lang="en-GB" sz="2000">
                <a:solidFill>
                  <a:schemeClr val="dk1"/>
                </a:solidFill>
                <a:latin typeface="Kalam"/>
                <a:ea typeface="Kalam"/>
                <a:cs typeface="Kalam"/>
                <a:sym typeface="Kalam"/>
              </a:rPr>
              <a:t>0 mm</a:t>
            </a:r>
            <a:endParaRPr sz="2000">
              <a:solidFill>
                <a:schemeClr val="dk1"/>
              </a:solidFill>
              <a:latin typeface="Kalam"/>
              <a:ea typeface="Kalam"/>
              <a:cs typeface="Kalam"/>
              <a:sym typeface="Kalam"/>
            </a:endParaRPr>
          </a:p>
        </p:txBody>
      </p:sp>
      <p:sp>
        <p:nvSpPr>
          <p:cNvPr id="1478" name="Google Shape;1478;p93"/>
          <p:cNvSpPr txBox="1"/>
          <p:nvPr/>
        </p:nvSpPr>
        <p:spPr>
          <a:xfrm>
            <a:off x="2055525" y="2615975"/>
            <a:ext cx="1048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6</a:t>
            </a:r>
            <a:r>
              <a:rPr lang="en-GB" sz="2000">
                <a:solidFill>
                  <a:schemeClr val="dk1"/>
                </a:solidFill>
                <a:latin typeface="Kalam"/>
                <a:ea typeface="Kalam"/>
                <a:cs typeface="Kalam"/>
                <a:sym typeface="Kalam"/>
              </a:rPr>
              <a:t>0 mm</a:t>
            </a:r>
            <a:endParaRPr sz="2000">
              <a:solidFill>
                <a:schemeClr val="dk1"/>
              </a:solidFill>
              <a:latin typeface="Kalam"/>
              <a:ea typeface="Kalam"/>
              <a:cs typeface="Kalam"/>
              <a:sym typeface="Kala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94"/>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a scalene triangle</a:t>
            </a:r>
            <a:endParaRPr/>
          </a:p>
        </p:txBody>
      </p:sp>
      <p:sp>
        <p:nvSpPr>
          <p:cNvPr id="1484" name="Google Shape;1484;p94"/>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sp>
        <p:nvSpPr>
          <p:cNvPr id="1485" name="Google Shape;1485;p94"/>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Constructing triangles</a:t>
            </a:r>
            <a:endParaRPr/>
          </a:p>
        </p:txBody>
      </p:sp>
      <p:pic>
        <p:nvPicPr>
          <p:cNvPr id="1486" name="Google Shape;1486;p94"/>
          <p:cNvPicPr preferRelativeResize="0"/>
          <p:nvPr/>
        </p:nvPicPr>
        <p:blipFill>
          <a:blip r:embed="rId3">
            <a:alphaModFix/>
          </a:blip>
          <a:stretch>
            <a:fillRect/>
          </a:stretch>
        </p:blipFill>
        <p:spPr>
          <a:xfrm>
            <a:off x="422100" y="2995671"/>
            <a:ext cx="450575" cy="446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95"/>
          <p:cNvSpPr/>
          <p:nvPr/>
        </p:nvSpPr>
        <p:spPr>
          <a:xfrm>
            <a:off x="2843354" y="2338417"/>
            <a:ext cx="2440800" cy="24408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2" name="Google Shape;1492;p95"/>
          <p:cNvSpPr/>
          <p:nvPr/>
        </p:nvSpPr>
        <p:spPr>
          <a:xfrm>
            <a:off x="3681554" y="2338417"/>
            <a:ext cx="2440800" cy="24408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3" name="Google Shape;1493;p95"/>
          <p:cNvSpPr txBox="1"/>
          <p:nvPr>
            <p:ph idx="1" type="body"/>
          </p:nvPr>
        </p:nvSpPr>
        <p:spPr>
          <a:xfrm>
            <a:off x="1155850" y="759300"/>
            <a:ext cx="78852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Aisha has been asked to construct an isosceles triangle, with edge lengths 7 cm, 7 cm and 5 cm. </a:t>
            </a:r>
            <a:endParaRPr sz="1800"/>
          </a:p>
        </p:txBody>
      </p:sp>
      <p:sp>
        <p:nvSpPr>
          <p:cNvPr id="1494" name="Google Shape;1494;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pic>
        <p:nvPicPr>
          <p:cNvPr id="1495" name="Google Shape;1495;p95"/>
          <p:cNvPicPr preferRelativeResize="0"/>
          <p:nvPr/>
        </p:nvPicPr>
        <p:blipFill>
          <a:blip r:embed="rId3">
            <a:alphaModFix/>
          </a:blip>
          <a:stretch>
            <a:fillRect/>
          </a:stretch>
        </p:blipFill>
        <p:spPr>
          <a:xfrm>
            <a:off x="378950" y="773193"/>
            <a:ext cx="623346" cy="1177024"/>
          </a:xfrm>
          <a:prstGeom prst="rect">
            <a:avLst/>
          </a:prstGeom>
          <a:noFill/>
          <a:ln>
            <a:noFill/>
          </a:ln>
        </p:spPr>
      </p:pic>
      <p:sp>
        <p:nvSpPr>
          <p:cNvPr id="1496" name="Google Shape;1496;p95"/>
          <p:cNvSpPr txBox="1"/>
          <p:nvPr/>
        </p:nvSpPr>
        <p:spPr>
          <a:xfrm>
            <a:off x="1077225" y="1314721"/>
            <a:ext cx="657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What edge should she draw with her ruler?</a:t>
            </a:r>
            <a:endParaRPr sz="1800">
              <a:solidFill>
                <a:schemeClr val="dk1"/>
              </a:solidFill>
              <a:latin typeface="Lexend"/>
              <a:ea typeface="Lexend"/>
              <a:cs typeface="Lexend"/>
              <a:sym typeface="Lexend"/>
            </a:endParaRPr>
          </a:p>
        </p:txBody>
      </p:sp>
      <p:sp>
        <p:nvSpPr>
          <p:cNvPr id="1497" name="Google Shape;1497;p95"/>
          <p:cNvSpPr txBox="1"/>
          <p:nvPr/>
        </p:nvSpPr>
        <p:spPr>
          <a:xfrm>
            <a:off x="1077225" y="1571791"/>
            <a:ext cx="78852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For efficiency, she should draw the base edge, then she only needs to set her pair of compasses once.</a:t>
            </a:r>
            <a:endParaRPr sz="2000">
              <a:solidFill>
                <a:schemeClr val="dk1"/>
              </a:solidFill>
              <a:latin typeface="Kalam"/>
              <a:ea typeface="Kalam"/>
              <a:cs typeface="Kalam"/>
              <a:sym typeface="Kalam"/>
            </a:endParaRPr>
          </a:p>
        </p:txBody>
      </p:sp>
      <p:pic>
        <p:nvPicPr>
          <p:cNvPr id="1498" name="Google Shape;1498;p95"/>
          <p:cNvPicPr preferRelativeResize="0"/>
          <p:nvPr/>
        </p:nvPicPr>
        <p:blipFill rotWithShape="1">
          <a:blip r:embed="rId4">
            <a:alphaModFix/>
          </a:blip>
          <a:srcRect b="0" l="0" r="0" t="0"/>
          <a:stretch/>
        </p:blipFill>
        <p:spPr>
          <a:xfrm rot="29">
            <a:off x="352489" y="4148706"/>
            <a:ext cx="2785099" cy="266172"/>
          </a:xfrm>
          <a:prstGeom prst="rect">
            <a:avLst/>
          </a:prstGeom>
          <a:noFill/>
          <a:ln>
            <a:noFill/>
          </a:ln>
        </p:spPr>
      </p:pic>
      <p:cxnSp>
        <p:nvCxnSpPr>
          <p:cNvPr id="1499" name="Google Shape;1499;p95"/>
          <p:cNvCxnSpPr/>
          <p:nvPr/>
        </p:nvCxnSpPr>
        <p:spPr>
          <a:xfrm>
            <a:off x="442248" y="4128600"/>
            <a:ext cx="1221900" cy="0"/>
          </a:xfrm>
          <a:prstGeom prst="straightConnector1">
            <a:avLst/>
          </a:prstGeom>
          <a:noFill/>
          <a:ln cap="flat" cmpd="sng" w="28575">
            <a:solidFill>
              <a:schemeClr val="dk1"/>
            </a:solidFill>
            <a:prstDash val="solid"/>
            <a:round/>
            <a:headEnd len="med" w="med" type="none"/>
            <a:tailEnd len="med" w="med" type="none"/>
          </a:ln>
        </p:spPr>
      </p:cxnSp>
      <p:pic>
        <p:nvPicPr>
          <p:cNvPr id="1500" name="Google Shape;1500;p95"/>
          <p:cNvPicPr preferRelativeResize="0"/>
          <p:nvPr/>
        </p:nvPicPr>
        <p:blipFill rotWithShape="1">
          <a:blip r:embed="rId5">
            <a:alphaModFix/>
          </a:blip>
          <a:srcRect b="0" l="0" r="0" t="0"/>
          <a:stretch/>
        </p:blipFill>
        <p:spPr>
          <a:xfrm>
            <a:off x="1651430" y="3264742"/>
            <a:ext cx="371550" cy="868700"/>
          </a:xfrm>
          <a:prstGeom prst="rect">
            <a:avLst/>
          </a:prstGeom>
          <a:noFill/>
          <a:ln>
            <a:noFill/>
          </a:ln>
        </p:spPr>
      </p:pic>
      <p:pic>
        <p:nvPicPr>
          <p:cNvPr id="1501" name="Google Shape;1501;p95"/>
          <p:cNvPicPr preferRelativeResize="0"/>
          <p:nvPr/>
        </p:nvPicPr>
        <p:blipFill rotWithShape="1">
          <a:blip r:embed="rId5">
            <a:alphaModFix/>
          </a:blip>
          <a:srcRect b="0" l="0" r="0" t="0"/>
          <a:stretch/>
        </p:blipFill>
        <p:spPr>
          <a:xfrm>
            <a:off x="440780" y="3272385"/>
            <a:ext cx="371550" cy="868700"/>
          </a:xfrm>
          <a:prstGeom prst="rect">
            <a:avLst/>
          </a:prstGeom>
          <a:noFill/>
          <a:ln>
            <a:noFill/>
          </a:ln>
        </p:spPr>
      </p:pic>
      <p:sp>
        <p:nvSpPr>
          <p:cNvPr id="1502" name="Google Shape;1502;p95"/>
          <p:cNvSpPr txBox="1"/>
          <p:nvPr/>
        </p:nvSpPr>
        <p:spPr>
          <a:xfrm>
            <a:off x="705075" y="40522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pic>
        <p:nvPicPr>
          <p:cNvPr id="1503" name="Google Shape;1503;p95"/>
          <p:cNvPicPr preferRelativeResize="0"/>
          <p:nvPr/>
        </p:nvPicPr>
        <p:blipFill rotWithShape="1">
          <a:blip r:embed="rId4">
            <a:alphaModFix/>
          </a:blip>
          <a:srcRect b="0" l="0" r="0" t="0"/>
          <a:stretch/>
        </p:blipFill>
        <p:spPr>
          <a:xfrm rot="29">
            <a:off x="3932064" y="3546575"/>
            <a:ext cx="2785099" cy="266172"/>
          </a:xfrm>
          <a:prstGeom prst="rect">
            <a:avLst/>
          </a:prstGeom>
          <a:noFill/>
          <a:ln>
            <a:noFill/>
          </a:ln>
        </p:spPr>
      </p:pic>
      <p:cxnSp>
        <p:nvCxnSpPr>
          <p:cNvPr id="1504" name="Google Shape;1504;p95"/>
          <p:cNvCxnSpPr/>
          <p:nvPr/>
        </p:nvCxnSpPr>
        <p:spPr>
          <a:xfrm>
            <a:off x="4021823" y="3525190"/>
            <a:ext cx="874500" cy="0"/>
          </a:xfrm>
          <a:prstGeom prst="straightConnector1">
            <a:avLst/>
          </a:prstGeom>
          <a:noFill/>
          <a:ln cap="flat" cmpd="sng" w="28575">
            <a:solidFill>
              <a:schemeClr val="dk1"/>
            </a:solidFill>
            <a:prstDash val="solid"/>
            <a:round/>
            <a:headEnd len="med" w="med" type="none"/>
            <a:tailEnd len="med" w="med" type="none"/>
          </a:ln>
        </p:spPr>
      </p:cxnSp>
      <p:pic>
        <p:nvPicPr>
          <p:cNvPr id="1505" name="Google Shape;1505;p95"/>
          <p:cNvPicPr preferRelativeResize="0"/>
          <p:nvPr/>
        </p:nvPicPr>
        <p:blipFill rotWithShape="1">
          <a:blip r:embed="rId5">
            <a:alphaModFix/>
          </a:blip>
          <a:srcRect b="0" l="0" r="0" t="0"/>
          <a:stretch/>
        </p:blipFill>
        <p:spPr>
          <a:xfrm>
            <a:off x="4885377" y="2661331"/>
            <a:ext cx="371550" cy="868700"/>
          </a:xfrm>
          <a:prstGeom prst="rect">
            <a:avLst/>
          </a:prstGeom>
          <a:noFill/>
          <a:ln>
            <a:noFill/>
          </a:ln>
        </p:spPr>
      </p:pic>
      <p:pic>
        <p:nvPicPr>
          <p:cNvPr id="1506" name="Google Shape;1506;p95"/>
          <p:cNvPicPr preferRelativeResize="0"/>
          <p:nvPr/>
        </p:nvPicPr>
        <p:blipFill rotWithShape="1">
          <a:blip r:embed="rId5">
            <a:alphaModFix/>
          </a:blip>
          <a:srcRect b="0" l="0" r="0" t="0"/>
          <a:stretch/>
        </p:blipFill>
        <p:spPr>
          <a:xfrm>
            <a:off x="4020355" y="2668975"/>
            <a:ext cx="371550" cy="868700"/>
          </a:xfrm>
          <a:prstGeom prst="rect">
            <a:avLst/>
          </a:prstGeom>
          <a:noFill/>
          <a:ln>
            <a:noFill/>
          </a:ln>
        </p:spPr>
      </p:pic>
      <p:sp>
        <p:nvSpPr>
          <p:cNvPr id="1507" name="Google Shape;1507;p95"/>
          <p:cNvSpPr txBox="1"/>
          <p:nvPr/>
        </p:nvSpPr>
        <p:spPr>
          <a:xfrm>
            <a:off x="4132250" y="344881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grpSp>
        <p:nvGrpSpPr>
          <p:cNvPr id="1508" name="Google Shape;1508;p95"/>
          <p:cNvGrpSpPr/>
          <p:nvPr/>
        </p:nvGrpSpPr>
        <p:grpSpPr>
          <a:xfrm flipH="1">
            <a:off x="391298" y="2665001"/>
            <a:ext cx="1527368" cy="1602095"/>
            <a:chOff x="1937989" y="967413"/>
            <a:chExt cx="3362765" cy="3527290"/>
          </a:xfrm>
        </p:grpSpPr>
        <p:pic>
          <p:nvPicPr>
            <p:cNvPr id="1509" name="Google Shape;1509;p95"/>
            <p:cNvPicPr preferRelativeResize="0"/>
            <p:nvPr/>
          </p:nvPicPr>
          <p:blipFill rotWithShape="1">
            <a:blip r:embed="rId6">
              <a:alphaModFix/>
            </a:blip>
            <a:srcRect b="7544" l="11418" r="67020" t="29160"/>
            <a:stretch/>
          </p:blipFill>
          <p:spPr>
            <a:xfrm rot="1287039">
              <a:off x="2385137" y="1710387"/>
              <a:ext cx="1158241" cy="2664824"/>
            </a:xfrm>
            <a:prstGeom prst="rect">
              <a:avLst/>
            </a:prstGeom>
            <a:noFill/>
            <a:ln>
              <a:noFill/>
            </a:ln>
          </p:spPr>
        </p:pic>
        <p:pic>
          <p:nvPicPr>
            <p:cNvPr id="1510" name="Google Shape;1510;p95"/>
            <p:cNvPicPr preferRelativeResize="0"/>
            <p:nvPr/>
          </p:nvPicPr>
          <p:blipFill rotWithShape="1">
            <a:blip r:embed="rId6">
              <a:alphaModFix/>
            </a:blip>
            <a:srcRect b="9195" l="63130" r="21307" t="30824"/>
            <a:stretch/>
          </p:blipFill>
          <p:spPr>
            <a:xfrm rot="-802406">
              <a:off x="4092300" y="1704123"/>
              <a:ext cx="906107" cy="2720596"/>
            </a:xfrm>
            <a:prstGeom prst="rect">
              <a:avLst/>
            </a:prstGeom>
            <a:noFill/>
            <a:ln>
              <a:noFill/>
            </a:ln>
          </p:spPr>
        </p:pic>
        <p:pic>
          <p:nvPicPr>
            <p:cNvPr id="1511" name="Google Shape;1511;p95"/>
            <p:cNvPicPr preferRelativeResize="0"/>
            <p:nvPr/>
          </p:nvPicPr>
          <p:blipFill rotWithShape="1">
            <a:blip r:embed="rId6">
              <a:alphaModFix/>
            </a:blip>
            <a:srcRect b="60188" l="45056" r="46189" t="8784"/>
            <a:stretch/>
          </p:blipFill>
          <p:spPr>
            <a:xfrm>
              <a:off x="3741320" y="967413"/>
              <a:ext cx="470263" cy="1306286"/>
            </a:xfrm>
            <a:prstGeom prst="rect">
              <a:avLst/>
            </a:prstGeom>
            <a:noFill/>
            <a:ln>
              <a:noFill/>
            </a:ln>
          </p:spPr>
        </p:pic>
      </p:grpSp>
      <p:grpSp>
        <p:nvGrpSpPr>
          <p:cNvPr id="1512" name="Google Shape;1512;p95"/>
          <p:cNvGrpSpPr/>
          <p:nvPr/>
        </p:nvGrpSpPr>
        <p:grpSpPr>
          <a:xfrm flipH="1">
            <a:off x="131648" y="2491821"/>
            <a:ext cx="920544" cy="1738864"/>
            <a:chOff x="4045431" y="1513250"/>
            <a:chExt cx="2005105" cy="3787550"/>
          </a:xfrm>
        </p:grpSpPr>
        <p:pic>
          <p:nvPicPr>
            <p:cNvPr id="1513" name="Google Shape;1513;p95"/>
            <p:cNvPicPr preferRelativeResize="0"/>
            <p:nvPr/>
          </p:nvPicPr>
          <p:blipFill rotWithShape="1">
            <a:blip r:embed="rId6">
              <a:alphaModFix/>
            </a:blip>
            <a:srcRect b="7544" l="11418" r="67020" t="29160"/>
            <a:stretch/>
          </p:blipFill>
          <p:spPr>
            <a:xfrm rot="-946096">
              <a:off x="4385717" y="2528744"/>
              <a:ext cx="1158240" cy="2664823"/>
            </a:xfrm>
            <a:prstGeom prst="rect">
              <a:avLst/>
            </a:prstGeom>
            <a:noFill/>
            <a:ln>
              <a:noFill/>
            </a:ln>
          </p:spPr>
        </p:pic>
        <p:pic>
          <p:nvPicPr>
            <p:cNvPr id="1514" name="Google Shape;1514;p95"/>
            <p:cNvPicPr preferRelativeResize="0"/>
            <p:nvPr/>
          </p:nvPicPr>
          <p:blipFill rotWithShape="1">
            <a:blip r:embed="rId6">
              <a:alphaModFix/>
            </a:blip>
            <a:srcRect b="9195" l="63130" r="21307" t="30824"/>
            <a:stretch/>
          </p:blipFill>
          <p:spPr>
            <a:xfrm rot="876952">
              <a:off x="4909437" y="2624675"/>
              <a:ext cx="836023" cy="2525214"/>
            </a:xfrm>
            <a:prstGeom prst="rect">
              <a:avLst/>
            </a:prstGeom>
            <a:noFill/>
            <a:ln>
              <a:noFill/>
            </a:ln>
          </p:spPr>
        </p:pic>
        <p:pic>
          <p:nvPicPr>
            <p:cNvPr id="1515" name="Google Shape;1515;p95"/>
            <p:cNvPicPr preferRelativeResize="0"/>
            <p:nvPr/>
          </p:nvPicPr>
          <p:blipFill rotWithShape="1">
            <a:blip r:embed="rId6">
              <a:alphaModFix/>
            </a:blip>
            <a:srcRect b="60188" l="45056" r="46189" t="8784"/>
            <a:stretch/>
          </p:blipFill>
          <p:spPr>
            <a:xfrm>
              <a:off x="5016136" y="1513250"/>
              <a:ext cx="470263" cy="1306286"/>
            </a:xfrm>
            <a:prstGeom prst="rect">
              <a:avLst/>
            </a:prstGeom>
            <a:noFill/>
            <a:ln>
              <a:noFill/>
            </a:ln>
          </p:spPr>
        </p:pic>
      </p:grpSp>
      <p:grpSp>
        <p:nvGrpSpPr>
          <p:cNvPr id="1516" name="Google Shape;1516;p95"/>
          <p:cNvGrpSpPr/>
          <p:nvPr/>
        </p:nvGrpSpPr>
        <p:grpSpPr>
          <a:xfrm flipH="1">
            <a:off x="3980407" y="2064403"/>
            <a:ext cx="1527368" cy="1602095"/>
            <a:chOff x="1937989" y="967413"/>
            <a:chExt cx="3362765" cy="3527290"/>
          </a:xfrm>
        </p:grpSpPr>
        <p:pic>
          <p:nvPicPr>
            <p:cNvPr id="1517" name="Google Shape;1517;p95"/>
            <p:cNvPicPr preferRelativeResize="0"/>
            <p:nvPr/>
          </p:nvPicPr>
          <p:blipFill rotWithShape="1">
            <a:blip r:embed="rId6">
              <a:alphaModFix/>
            </a:blip>
            <a:srcRect b="7544" l="11418" r="67020" t="29160"/>
            <a:stretch/>
          </p:blipFill>
          <p:spPr>
            <a:xfrm rot="1287039">
              <a:off x="2385137" y="1710387"/>
              <a:ext cx="1158241" cy="2664824"/>
            </a:xfrm>
            <a:prstGeom prst="rect">
              <a:avLst/>
            </a:prstGeom>
            <a:noFill/>
            <a:ln>
              <a:noFill/>
            </a:ln>
          </p:spPr>
        </p:pic>
        <p:pic>
          <p:nvPicPr>
            <p:cNvPr id="1518" name="Google Shape;1518;p95"/>
            <p:cNvPicPr preferRelativeResize="0"/>
            <p:nvPr/>
          </p:nvPicPr>
          <p:blipFill rotWithShape="1">
            <a:blip r:embed="rId6">
              <a:alphaModFix/>
            </a:blip>
            <a:srcRect b="9195" l="63130" r="21307" t="30824"/>
            <a:stretch/>
          </p:blipFill>
          <p:spPr>
            <a:xfrm rot="-802406">
              <a:off x="4092300" y="1704123"/>
              <a:ext cx="906107" cy="2720596"/>
            </a:xfrm>
            <a:prstGeom prst="rect">
              <a:avLst/>
            </a:prstGeom>
            <a:noFill/>
            <a:ln>
              <a:noFill/>
            </a:ln>
          </p:spPr>
        </p:pic>
        <p:pic>
          <p:nvPicPr>
            <p:cNvPr id="1519" name="Google Shape;1519;p95"/>
            <p:cNvPicPr preferRelativeResize="0"/>
            <p:nvPr/>
          </p:nvPicPr>
          <p:blipFill rotWithShape="1">
            <a:blip r:embed="rId6">
              <a:alphaModFix/>
            </a:blip>
            <a:srcRect b="60188" l="45056" r="46189" t="8784"/>
            <a:stretch/>
          </p:blipFill>
          <p:spPr>
            <a:xfrm>
              <a:off x="3741320" y="967413"/>
              <a:ext cx="470263" cy="1306286"/>
            </a:xfrm>
            <a:prstGeom prst="rect">
              <a:avLst/>
            </a:prstGeom>
            <a:noFill/>
            <a:ln>
              <a:noFill/>
            </a:ln>
          </p:spPr>
        </p:pic>
      </p:grpSp>
      <p:grpSp>
        <p:nvGrpSpPr>
          <p:cNvPr id="1520" name="Google Shape;1520;p95"/>
          <p:cNvGrpSpPr/>
          <p:nvPr/>
        </p:nvGrpSpPr>
        <p:grpSpPr>
          <a:xfrm>
            <a:off x="3425602" y="2064403"/>
            <a:ext cx="1527368" cy="1602095"/>
            <a:chOff x="1937989" y="967413"/>
            <a:chExt cx="3362765" cy="3527290"/>
          </a:xfrm>
        </p:grpSpPr>
        <p:pic>
          <p:nvPicPr>
            <p:cNvPr id="1521" name="Google Shape;1521;p95"/>
            <p:cNvPicPr preferRelativeResize="0"/>
            <p:nvPr/>
          </p:nvPicPr>
          <p:blipFill rotWithShape="1">
            <a:blip r:embed="rId6">
              <a:alphaModFix/>
            </a:blip>
            <a:srcRect b="7544" l="11418" r="67020" t="29160"/>
            <a:stretch/>
          </p:blipFill>
          <p:spPr>
            <a:xfrm rot="1287039">
              <a:off x="2385137" y="1710387"/>
              <a:ext cx="1158241" cy="2664824"/>
            </a:xfrm>
            <a:prstGeom prst="rect">
              <a:avLst/>
            </a:prstGeom>
            <a:noFill/>
            <a:ln>
              <a:noFill/>
            </a:ln>
          </p:spPr>
        </p:pic>
        <p:pic>
          <p:nvPicPr>
            <p:cNvPr id="1522" name="Google Shape;1522;p95"/>
            <p:cNvPicPr preferRelativeResize="0"/>
            <p:nvPr/>
          </p:nvPicPr>
          <p:blipFill rotWithShape="1">
            <a:blip r:embed="rId6">
              <a:alphaModFix/>
            </a:blip>
            <a:srcRect b="9195" l="63130" r="21307" t="30824"/>
            <a:stretch/>
          </p:blipFill>
          <p:spPr>
            <a:xfrm rot="-802406">
              <a:off x="4092300" y="1704123"/>
              <a:ext cx="906107" cy="2720596"/>
            </a:xfrm>
            <a:prstGeom prst="rect">
              <a:avLst/>
            </a:prstGeom>
            <a:noFill/>
            <a:ln>
              <a:noFill/>
            </a:ln>
          </p:spPr>
        </p:pic>
        <p:pic>
          <p:nvPicPr>
            <p:cNvPr id="1523" name="Google Shape;1523;p95"/>
            <p:cNvPicPr preferRelativeResize="0"/>
            <p:nvPr/>
          </p:nvPicPr>
          <p:blipFill rotWithShape="1">
            <a:blip r:embed="rId6">
              <a:alphaModFix/>
            </a:blip>
            <a:srcRect b="60188" l="45056" r="46189" t="8784"/>
            <a:stretch/>
          </p:blipFill>
          <p:spPr>
            <a:xfrm>
              <a:off x="3741320" y="967413"/>
              <a:ext cx="470263" cy="1306286"/>
            </a:xfrm>
            <a:prstGeom prst="rect">
              <a:avLst/>
            </a:prstGeom>
            <a:noFill/>
            <a:ln>
              <a:noFill/>
            </a:ln>
          </p:spPr>
        </p:pic>
      </p:grpSp>
      <p:grpSp>
        <p:nvGrpSpPr>
          <p:cNvPr id="1524" name="Google Shape;1524;p95"/>
          <p:cNvGrpSpPr/>
          <p:nvPr/>
        </p:nvGrpSpPr>
        <p:grpSpPr>
          <a:xfrm>
            <a:off x="4420282" y="2344011"/>
            <a:ext cx="123900" cy="123900"/>
            <a:chOff x="630000" y="1882500"/>
            <a:chExt cx="123900" cy="123900"/>
          </a:xfrm>
        </p:grpSpPr>
        <p:cxnSp>
          <p:nvCxnSpPr>
            <p:cNvPr id="1525" name="Google Shape;1525;p95"/>
            <p:cNvCxnSpPr/>
            <p:nvPr/>
          </p:nvCxnSpPr>
          <p:spPr>
            <a:xfrm>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cxnSp>
          <p:nvCxnSpPr>
            <p:cNvPr id="1526" name="Google Shape;1526;p95"/>
            <p:cNvCxnSpPr/>
            <p:nvPr/>
          </p:nvCxnSpPr>
          <p:spPr>
            <a:xfrm rot="5400000">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grpSp>
      <p:pic>
        <p:nvPicPr>
          <p:cNvPr id="1527" name="Google Shape;1527;p95"/>
          <p:cNvPicPr preferRelativeResize="0"/>
          <p:nvPr/>
        </p:nvPicPr>
        <p:blipFill rotWithShape="1">
          <a:blip r:embed="rId4">
            <a:alphaModFix/>
          </a:blip>
          <a:srcRect b="0" l="0" r="0" t="0"/>
          <a:stretch/>
        </p:blipFill>
        <p:spPr>
          <a:xfrm rot="-4068699">
            <a:off x="3044061" y="2749331"/>
            <a:ext cx="2785100" cy="266172"/>
          </a:xfrm>
          <a:prstGeom prst="rect">
            <a:avLst/>
          </a:prstGeom>
          <a:noFill/>
          <a:ln>
            <a:noFill/>
          </a:ln>
        </p:spPr>
      </p:pic>
      <p:pic>
        <p:nvPicPr>
          <p:cNvPr id="1528" name="Google Shape;1528;p95"/>
          <p:cNvPicPr preferRelativeResize="0"/>
          <p:nvPr/>
        </p:nvPicPr>
        <p:blipFill rotWithShape="1">
          <a:blip r:embed="rId5">
            <a:alphaModFix/>
          </a:blip>
          <a:srcRect b="0" l="0" r="0" t="0"/>
          <a:stretch/>
        </p:blipFill>
        <p:spPr>
          <a:xfrm>
            <a:off x="4012504" y="2673460"/>
            <a:ext cx="371550" cy="868700"/>
          </a:xfrm>
          <a:prstGeom prst="rect">
            <a:avLst/>
          </a:prstGeom>
          <a:noFill/>
          <a:ln>
            <a:noFill/>
          </a:ln>
        </p:spPr>
      </p:pic>
      <p:cxnSp>
        <p:nvCxnSpPr>
          <p:cNvPr id="1529" name="Google Shape;1529;p95"/>
          <p:cNvCxnSpPr/>
          <p:nvPr/>
        </p:nvCxnSpPr>
        <p:spPr>
          <a:xfrm flipH="1" rot="10800000">
            <a:off x="4021825" y="2399325"/>
            <a:ext cx="462000" cy="1130700"/>
          </a:xfrm>
          <a:prstGeom prst="straightConnector1">
            <a:avLst/>
          </a:prstGeom>
          <a:noFill/>
          <a:ln cap="flat" cmpd="sng" w="28575">
            <a:solidFill>
              <a:schemeClr val="dk1"/>
            </a:solidFill>
            <a:prstDash val="solid"/>
            <a:round/>
            <a:headEnd len="med" w="med" type="none"/>
            <a:tailEnd len="med" w="med" type="none"/>
          </a:ln>
        </p:spPr>
      </p:cxnSp>
      <p:pic>
        <p:nvPicPr>
          <p:cNvPr id="1530" name="Google Shape;1530;p95"/>
          <p:cNvPicPr preferRelativeResize="0"/>
          <p:nvPr/>
        </p:nvPicPr>
        <p:blipFill rotWithShape="1">
          <a:blip r:embed="rId5">
            <a:alphaModFix/>
          </a:blip>
          <a:srcRect b="0" l="0" r="0" t="0"/>
          <a:stretch/>
        </p:blipFill>
        <p:spPr>
          <a:xfrm>
            <a:off x="4470350" y="1567317"/>
            <a:ext cx="371550" cy="868700"/>
          </a:xfrm>
          <a:prstGeom prst="rect">
            <a:avLst/>
          </a:prstGeom>
          <a:noFill/>
          <a:ln>
            <a:noFill/>
          </a:ln>
        </p:spPr>
      </p:pic>
      <p:pic>
        <p:nvPicPr>
          <p:cNvPr id="1531" name="Google Shape;1531;p95"/>
          <p:cNvPicPr preferRelativeResize="0"/>
          <p:nvPr/>
        </p:nvPicPr>
        <p:blipFill rotWithShape="1">
          <a:blip r:embed="rId4">
            <a:alphaModFix/>
          </a:blip>
          <a:srcRect b="0" l="0" r="0" t="0"/>
          <a:stretch/>
        </p:blipFill>
        <p:spPr>
          <a:xfrm rot="4160830">
            <a:off x="3169503" y="2901731"/>
            <a:ext cx="2785101" cy="266172"/>
          </a:xfrm>
          <a:prstGeom prst="rect">
            <a:avLst/>
          </a:prstGeom>
          <a:noFill/>
          <a:ln>
            <a:noFill/>
          </a:ln>
        </p:spPr>
      </p:pic>
      <p:cxnSp>
        <p:nvCxnSpPr>
          <p:cNvPr id="1532" name="Google Shape;1532;p95"/>
          <p:cNvCxnSpPr/>
          <p:nvPr/>
        </p:nvCxnSpPr>
        <p:spPr>
          <a:xfrm rot="10800000">
            <a:off x="4479400" y="2417225"/>
            <a:ext cx="417900" cy="1123200"/>
          </a:xfrm>
          <a:prstGeom prst="straightConnector1">
            <a:avLst/>
          </a:prstGeom>
          <a:noFill/>
          <a:ln cap="flat" cmpd="sng" w="28575">
            <a:solidFill>
              <a:schemeClr val="dk1"/>
            </a:solidFill>
            <a:prstDash val="solid"/>
            <a:round/>
            <a:headEnd len="med" w="med" type="none"/>
            <a:tailEnd len="med" w="med" type="none"/>
          </a:ln>
        </p:spPr>
      </p:cxnSp>
      <p:pic>
        <p:nvPicPr>
          <p:cNvPr id="1533" name="Google Shape;1533;p95"/>
          <p:cNvPicPr preferRelativeResize="0"/>
          <p:nvPr/>
        </p:nvPicPr>
        <p:blipFill rotWithShape="1">
          <a:blip r:embed="rId5">
            <a:alphaModFix/>
          </a:blip>
          <a:srcRect b="0" l="0" r="0" t="0"/>
          <a:stretch/>
        </p:blipFill>
        <p:spPr>
          <a:xfrm>
            <a:off x="4885375" y="2673442"/>
            <a:ext cx="371550" cy="868700"/>
          </a:xfrm>
          <a:prstGeom prst="rect">
            <a:avLst/>
          </a:prstGeom>
          <a:noFill/>
          <a:ln>
            <a:noFill/>
          </a:ln>
        </p:spPr>
      </p:pic>
      <p:sp>
        <p:nvSpPr>
          <p:cNvPr id="1534" name="Google Shape;1534;p95"/>
          <p:cNvSpPr txBox="1"/>
          <p:nvPr/>
        </p:nvSpPr>
        <p:spPr>
          <a:xfrm>
            <a:off x="4720600" y="2651553"/>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sp>
        <p:nvSpPr>
          <p:cNvPr id="1535" name="Google Shape;1535;p95"/>
          <p:cNvSpPr txBox="1"/>
          <p:nvPr/>
        </p:nvSpPr>
        <p:spPr>
          <a:xfrm>
            <a:off x="3489075" y="265156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cxnSp>
        <p:nvCxnSpPr>
          <p:cNvPr id="1536" name="Google Shape;1536;p95"/>
          <p:cNvCxnSpPr/>
          <p:nvPr/>
        </p:nvCxnSpPr>
        <p:spPr>
          <a:xfrm>
            <a:off x="4219486" y="2890263"/>
            <a:ext cx="112200" cy="40500"/>
          </a:xfrm>
          <a:prstGeom prst="straightConnector1">
            <a:avLst/>
          </a:prstGeom>
          <a:noFill/>
          <a:ln cap="flat" cmpd="sng" w="28575">
            <a:solidFill>
              <a:schemeClr val="dk1"/>
            </a:solidFill>
            <a:prstDash val="solid"/>
            <a:round/>
            <a:headEnd len="med" w="med" type="none"/>
            <a:tailEnd len="med" w="med" type="none"/>
          </a:ln>
        </p:spPr>
      </p:cxnSp>
      <p:cxnSp>
        <p:nvCxnSpPr>
          <p:cNvPr id="1537" name="Google Shape;1537;p95"/>
          <p:cNvCxnSpPr/>
          <p:nvPr/>
        </p:nvCxnSpPr>
        <p:spPr>
          <a:xfrm flipH="1">
            <a:off x="4613515" y="2884627"/>
            <a:ext cx="112200" cy="405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0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9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0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0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1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2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3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96"/>
          <p:cNvSpPr/>
          <p:nvPr/>
        </p:nvSpPr>
        <p:spPr>
          <a:xfrm flipH="1">
            <a:off x="3682821" y="2338425"/>
            <a:ext cx="2440800" cy="2440800"/>
          </a:xfrm>
          <a:prstGeom prst="arc">
            <a:avLst>
              <a:gd fmla="val 16200000" name="adj1"/>
              <a:gd fmla="val 19059034" name="adj2"/>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3" name="Google Shape;1543;p96"/>
          <p:cNvSpPr/>
          <p:nvPr/>
        </p:nvSpPr>
        <p:spPr>
          <a:xfrm>
            <a:off x="2844621" y="2338425"/>
            <a:ext cx="2440800" cy="2440800"/>
          </a:xfrm>
          <a:prstGeom prst="arc">
            <a:avLst>
              <a:gd fmla="val 16200000" name="adj1"/>
              <a:gd fmla="val 19059034" name="adj2"/>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4" name="Google Shape;1544;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pic>
        <p:nvPicPr>
          <p:cNvPr id="1545" name="Google Shape;1545;p96"/>
          <p:cNvPicPr preferRelativeResize="0"/>
          <p:nvPr/>
        </p:nvPicPr>
        <p:blipFill rotWithShape="1">
          <a:blip r:embed="rId3">
            <a:alphaModFix/>
          </a:blip>
          <a:srcRect b="0" l="0" r="0" t="0"/>
          <a:stretch/>
        </p:blipFill>
        <p:spPr>
          <a:xfrm rot="29">
            <a:off x="352489" y="4148706"/>
            <a:ext cx="2785099" cy="266172"/>
          </a:xfrm>
          <a:prstGeom prst="rect">
            <a:avLst/>
          </a:prstGeom>
          <a:noFill/>
          <a:ln>
            <a:noFill/>
          </a:ln>
        </p:spPr>
      </p:pic>
      <p:cxnSp>
        <p:nvCxnSpPr>
          <p:cNvPr id="1546" name="Google Shape;1546;p96"/>
          <p:cNvCxnSpPr/>
          <p:nvPr/>
        </p:nvCxnSpPr>
        <p:spPr>
          <a:xfrm>
            <a:off x="442248" y="4128600"/>
            <a:ext cx="1221900" cy="0"/>
          </a:xfrm>
          <a:prstGeom prst="straightConnector1">
            <a:avLst/>
          </a:prstGeom>
          <a:noFill/>
          <a:ln cap="flat" cmpd="sng" w="28575">
            <a:solidFill>
              <a:schemeClr val="dk1"/>
            </a:solidFill>
            <a:prstDash val="solid"/>
            <a:round/>
            <a:headEnd len="med" w="med" type="none"/>
            <a:tailEnd len="med" w="med" type="none"/>
          </a:ln>
        </p:spPr>
      </p:cxnSp>
      <p:pic>
        <p:nvPicPr>
          <p:cNvPr id="1547" name="Google Shape;1547;p96"/>
          <p:cNvPicPr preferRelativeResize="0"/>
          <p:nvPr/>
        </p:nvPicPr>
        <p:blipFill rotWithShape="1">
          <a:blip r:embed="rId4">
            <a:alphaModFix/>
          </a:blip>
          <a:srcRect b="0" l="0" r="0" t="0"/>
          <a:stretch/>
        </p:blipFill>
        <p:spPr>
          <a:xfrm>
            <a:off x="1651430" y="3264742"/>
            <a:ext cx="371550" cy="868700"/>
          </a:xfrm>
          <a:prstGeom prst="rect">
            <a:avLst/>
          </a:prstGeom>
          <a:noFill/>
          <a:ln>
            <a:noFill/>
          </a:ln>
        </p:spPr>
      </p:pic>
      <p:pic>
        <p:nvPicPr>
          <p:cNvPr id="1548" name="Google Shape;1548;p96"/>
          <p:cNvPicPr preferRelativeResize="0"/>
          <p:nvPr/>
        </p:nvPicPr>
        <p:blipFill rotWithShape="1">
          <a:blip r:embed="rId4">
            <a:alphaModFix/>
          </a:blip>
          <a:srcRect b="0" l="0" r="0" t="0"/>
          <a:stretch/>
        </p:blipFill>
        <p:spPr>
          <a:xfrm>
            <a:off x="440780" y="3272385"/>
            <a:ext cx="371550" cy="868700"/>
          </a:xfrm>
          <a:prstGeom prst="rect">
            <a:avLst/>
          </a:prstGeom>
          <a:noFill/>
          <a:ln>
            <a:noFill/>
          </a:ln>
        </p:spPr>
      </p:pic>
      <p:sp>
        <p:nvSpPr>
          <p:cNvPr id="1549" name="Google Shape;1549;p96"/>
          <p:cNvSpPr txBox="1"/>
          <p:nvPr/>
        </p:nvSpPr>
        <p:spPr>
          <a:xfrm>
            <a:off x="705075" y="405222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pic>
        <p:nvPicPr>
          <p:cNvPr id="1550" name="Google Shape;1550;p96"/>
          <p:cNvPicPr preferRelativeResize="0"/>
          <p:nvPr/>
        </p:nvPicPr>
        <p:blipFill rotWithShape="1">
          <a:blip r:embed="rId3">
            <a:alphaModFix/>
          </a:blip>
          <a:srcRect b="0" l="0" r="0" t="0"/>
          <a:stretch/>
        </p:blipFill>
        <p:spPr>
          <a:xfrm rot="29">
            <a:off x="3932064" y="3546575"/>
            <a:ext cx="2785099" cy="266172"/>
          </a:xfrm>
          <a:prstGeom prst="rect">
            <a:avLst/>
          </a:prstGeom>
          <a:noFill/>
          <a:ln>
            <a:noFill/>
          </a:ln>
        </p:spPr>
      </p:pic>
      <p:cxnSp>
        <p:nvCxnSpPr>
          <p:cNvPr id="1551" name="Google Shape;1551;p96"/>
          <p:cNvCxnSpPr/>
          <p:nvPr/>
        </p:nvCxnSpPr>
        <p:spPr>
          <a:xfrm>
            <a:off x="4021823" y="3525190"/>
            <a:ext cx="874500" cy="0"/>
          </a:xfrm>
          <a:prstGeom prst="straightConnector1">
            <a:avLst/>
          </a:prstGeom>
          <a:noFill/>
          <a:ln cap="flat" cmpd="sng" w="28575">
            <a:solidFill>
              <a:schemeClr val="dk1"/>
            </a:solidFill>
            <a:prstDash val="solid"/>
            <a:round/>
            <a:headEnd len="med" w="med" type="none"/>
            <a:tailEnd len="med" w="med" type="none"/>
          </a:ln>
        </p:spPr>
      </p:cxnSp>
      <p:pic>
        <p:nvPicPr>
          <p:cNvPr id="1552" name="Google Shape;1552;p96"/>
          <p:cNvPicPr preferRelativeResize="0"/>
          <p:nvPr/>
        </p:nvPicPr>
        <p:blipFill rotWithShape="1">
          <a:blip r:embed="rId4">
            <a:alphaModFix/>
          </a:blip>
          <a:srcRect b="0" l="0" r="0" t="0"/>
          <a:stretch/>
        </p:blipFill>
        <p:spPr>
          <a:xfrm>
            <a:off x="4885377" y="2661331"/>
            <a:ext cx="371550" cy="868700"/>
          </a:xfrm>
          <a:prstGeom prst="rect">
            <a:avLst/>
          </a:prstGeom>
          <a:noFill/>
          <a:ln>
            <a:noFill/>
          </a:ln>
        </p:spPr>
      </p:pic>
      <p:pic>
        <p:nvPicPr>
          <p:cNvPr id="1553" name="Google Shape;1553;p96"/>
          <p:cNvPicPr preferRelativeResize="0"/>
          <p:nvPr/>
        </p:nvPicPr>
        <p:blipFill rotWithShape="1">
          <a:blip r:embed="rId4">
            <a:alphaModFix/>
          </a:blip>
          <a:srcRect b="0" l="0" r="0" t="0"/>
          <a:stretch/>
        </p:blipFill>
        <p:spPr>
          <a:xfrm>
            <a:off x="4020355" y="2668975"/>
            <a:ext cx="371550" cy="868700"/>
          </a:xfrm>
          <a:prstGeom prst="rect">
            <a:avLst/>
          </a:prstGeom>
          <a:noFill/>
          <a:ln>
            <a:noFill/>
          </a:ln>
        </p:spPr>
      </p:pic>
      <p:sp>
        <p:nvSpPr>
          <p:cNvPr id="1554" name="Google Shape;1554;p96"/>
          <p:cNvSpPr txBox="1"/>
          <p:nvPr/>
        </p:nvSpPr>
        <p:spPr>
          <a:xfrm>
            <a:off x="4132250" y="344881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nvGrpSpPr>
          <p:cNvPr id="1555" name="Google Shape;1555;p96"/>
          <p:cNvGrpSpPr/>
          <p:nvPr/>
        </p:nvGrpSpPr>
        <p:grpSpPr>
          <a:xfrm flipH="1">
            <a:off x="131648" y="2491821"/>
            <a:ext cx="920544" cy="1738864"/>
            <a:chOff x="4045431" y="1513250"/>
            <a:chExt cx="2005105" cy="3787550"/>
          </a:xfrm>
        </p:grpSpPr>
        <p:pic>
          <p:nvPicPr>
            <p:cNvPr id="1556" name="Google Shape;1556;p96"/>
            <p:cNvPicPr preferRelativeResize="0"/>
            <p:nvPr/>
          </p:nvPicPr>
          <p:blipFill rotWithShape="1">
            <a:blip r:embed="rId5">
              <a:alphaModFix/>
            </a:blip>
            <a:srcRect b="7544" l="11418" r="67020" t="29160"/>
            <a:stretch/>
          </p:blipFill>
          <p:spPr>
            <a:xfrm rot="-946096">
              <a:off x="4385717" y="2528744"/>
              <a:ext cx="1158240" cy="2664823"/>
            </a:xfrm>
            <a:prstGeom prst="rect">
              <a:avLst/>
            </a:prstGeom>
            <a:noFill/>
            <a:ln>
              <a:noFill/>
            </a:ln>
          </p:spPr>
        </p:pic>
        <p:pic>
          <p:nvPicPr>
            <p:cNvPr id="1557" name="Google Shape;1557;p96"/>
            <p:cNvPicPr preferRelativeResize="0"/>
            <p:nvPr/>
          </p:nvPicPr>
          <p:blipFill rotWithShape="1">
            <a:blip r:embed="rId5">
              <a:alphaModFix/>
            </a:blip>
            <a:srcRect b="9195" l="63130" r="21307" t="30824"/>
            <a:stretch/>
          </p:blipFill>
          <p:spPr>
            <a:xfrm rot="876952">
              <a:off x="4909437" y="2624675"/>
              <a:ext cx="836023" cy="2525214"/>
            </a:xfrm>
            <a:prstGeom prst="rect">
              <a:avLst/>
            </a:prstGeom>
            <a:noFill/>
            <a:ln>
              <a:noFill/>
            </a:ln>
          </p:spPr>
        </p:pic>
        <p:pic>
          <p:nvPicPr>
            <p:cNvPr id="1558" name="Google Shape;1558;p96"/>
            <p:cNvPicPr preferRelativeResize="0"/>
            <p:nvPr/>
          </p:nvPicPr>
          <p:blipFill rotWithShape="1">
            <a:blip r:embed="rId5">
              <a:alphaModFix/>
            </a:blip>
            <a:srcRect b="60188" l="45056" r="46189" t="8784"/>
            <a:stretch/>
          </p:blipFill>
          <p:spPr>
            <a:xfrm>
              <a:off x="5016136" y="1513250"/>
              <a:ext cx="470263" cy="1306286"/>
            </a:xfrm>
            <a:prstGeom prst="rect">
              <a:avLst/>
            </a:prstGeom>
            <a:noFill/>
            <a:ln>
              <a:noFill/>
            </a:ln>
          </p:spPr>
        </p:pic>
      </p:grpSp>
      <p:grpSp>
        <p:nvGrpSpPr>
          <p:cNvPr id="1559" name="Google Shape;1559;p96"/>
          <p:cNvGrpSpPr/>
          <p:nvPr/>
        </p:nvGrpSpPr>
        <p:grpSpPr>
          <a:xfrm flipH="1">
            <a:off x="3980407" y="2064403"/>
            <a:ext cx="1527368" cy="1602095"/>
            <a:chOff x="1937989" y="967413"/>
            <a:chExt cx="3362765" cy="3527290"/>
          </a:xfrm>
        </p:grpSpPr>
        <p:pic>
          <p:nvPicPr>
            <p:cNvPr id="1560" name="Google Shape;1560;p96"/>
            <p:cNvPicPr preferRelativeResize="0"/>
            <p:nvPr/>
          </p:nvPicPr>
          <p:blipFill rotWithShape="1">
            <a:blip r:embed="rId5">
              <a:alphaModFix/>
            </a:blip>
            <a:srcRect b="7544" l="11418" r="67020" t="29160"/>
            <a:stretch/>
          </p:blipFill>
          <p:spPr>
            <a:xfrm rot="1287039">
              <a:off x="2385137" y="1710387"/>
              <a:ext cx="1158241" cy="2664824"/>
            </a:xfrm>
            <a:prstGeom prst="rect">
              <a:avLst/>
            </a:prstGeom>
            <a:noFill/>
            <a:ln>
              <a:noFill/>
            </a:ln>
          </p:spPr>
        </p:pic>
        <p:pic>
          <p:nvPicPr>
            <p:cNvPr id="1561" name="Google Shape;1561;p96"/>
            <p:cNvPicPr preferRelativeResize="0"/>
            <p:nvPr/>
          </p:nvPicPr>
          <p:blipFill rotWithShape="1">
            <a:blip r:embed="rId5">
              <a:alphaModFix/>
            </a:blip>
            <a:srcRect b="9195" l="63130" r="21307" t="30824"/>
            <a:stretch/>
          </p:blipFill>
          <p:spPr>
            <a:xfrm rot="-802406">
              <a:off x="4092300" y="1704123"/>
              <a:ext cx="906107" cy="2720596"/>
            </a:xfrm>
            <a:prstGeom prst="rect">
              <a:avLst/>
            </a:prstGeom>
            <a:noFill/>
            <a:ln>
              <a:noFill/>
            </a:ln>
          </p:spPr>
        </p:pic>
        <p:pic>
          <p:nvPicPr>
            <p:cNvPr id="1562" name="Google Shape;1562;p96"/>
            <p:cNvPicPr preferRelativeResize="0"/>
            <p:nvPr/>
          </p:nvPicPr>
          <p:blipFill rotWithShape="1">
            <a:blip r:embed="rId5">
              <a:alphaModFix/>
            </a:blip>
            <a:srcRect b="60188" l="45056" r="46189" t="8784"/>
            <a:stretch/>
          </p:blipFill>
          <p:spPr>
            <a:xfrm>
              <a:off x="3741320" y="967413"/>
              <a:ext cx="470263" cy="1306286"/>
            </a:xfrm>
            <a:prstGeom prst="rect">
              <a:avLst/>
            </a:prstGeom>
            <a:noFill/>
            <a:ln>
              <a:noFill/>
            </a:ln>
          </p:spPr>
        </p:pic>
      </p:grpSp>
      <p:grpSp>
        <p:nvGrpSpPr>
          <p:cNvPr id="1563" name="Google Shape;1563;p96"/>
          <p:cNvGrpSpPr/>
          <p:nvPr/>
        </p:nvGrpSpPr>
        <p:grpSpPr>
          <a:xfrm>
            <a:off x="3425602" y="2064403"/>
            <a:ext cx="1527368" cy="1602095"/>
            <a:chOff x="1937989" y="967413"/>
            <a:chExt cx="3362765" cy="3527290"/>
          </a:xfrm>
        </p:grpSpPr>
        <p:pic>
          <p:nvPicPr>
            <p:cNvPr id="1564" name="Google Shape;1564;p96"/>
            <p:cNvPicPr preferRelativeResize="0"/>
            <p:nvPr/>
          </p:nvPicPr>
          <p:blipFill rotWithShape="1">
            <a:blip r:embed="rId5">
              <a:alphaModFix/>
            </a:blip>
            <a:srcRect b="7544" l="11418" r="67020" t="29160"/>
            <a:stretch/>
          </p:blipFill>
          <p:spPr>
            <a:xfrm rot="1287039">
              <a:off x="2385137" y="1710387"/>
              <a:ext cx="1158241" cy="2664824"/>
            </a:xfrm>
            <a:prstGeom prst="rect">
              <a:avLst/>
            </a:prstGeom>
            <a:noFill/>
            <a:ln>
              <a:noFill/>
            </a:ln>
          </p:spPr>
        </p:pic>
        <p:pic>
          <p:nvPicPr>
            <p:cNvPr id="1565" name="Google Shape;1565;p96"/>
            <p:cNvPicPr preferRelativeResize="0"/>
            <p:nvPr/>
          </p:nvPicPr>
          <p:blipFill rotWithShape="1">
            <a:blip r:embed="rId5">
              <a:alphaModFix/>
            </a:blip>
            <a:srcRect b="9195" l="63130" r="21307" t="30824"/>
            <a:stretch/>
          </p:blipFill>
          <p:spPr>
            <a:xfrm rot="-802406">
              <a:off x="4092300" y="1704123"/>
              <a:ext cx="906107" cy="2720596"/>
            </a:xfrm>
            <a:prstGeom prst="rect">
              <a:avLst/>
            </a:prstGeom>
            <a:noFill/>
            <a:ln>
              <a:noFill/>
            </a:ln>
          </p:spPr>
        </p:pic>
        <p:pic>
          <p:nvPicPr>
            <p:cNvPr id="1566" name="Google Shape;1566;p96"/>
            <p:cNvPicPr preferRelativeResize="0"/>
            <p:nvPr/>
          </p:nvPicPr>
          <p:blipFill rotWithShape="1">
            <a:blip r:embed="rId5">
              <a:alphaModFix/>
            </a:blip>
            <a:srcRect b="60188" l="45056" r="46189" t="8784"/>
            <a:stretch/>
          </p:blipFill>
          <p:spPr>
            <a:xfrm>
              <a:off x="3741320" y="967413"/>
              <a:ext cx="470263" cy="1306286"/>
            </a:xfrm>
            <a:prstGeom prst="rect">
              <a:avLst/>
            </a:prstGeom>
            <a:noFill/>
            <a:ln>
              <a:noFill/>
            </a:ln>
          </p:spPr>
        </p:pic>
      </p:grpSp>
      <p:grpSp>
        <p:nvGrpSpPr>
          <p:cNvPr id="1567" name="Google Shape;1567;p96"/>
          <p:cNvGrpSpPr/>
          <p:nvPr/>
        </p:nvGrpSpPr>
        <p:grpSpPr>
          <a:xfrm flipH="1">
            <a:off x="391298" y="2665001"/>
            <a:ext cx="1527368" cy="1602095"/>
            <a:chOff x="1937989" y="967413"/>
            <a:chExt cx="3362765" cy="3527290"/>
          </a:xfrm>
        </p:grpSpPr>
        <p:pic>
          <p:nvPicPr>
            <p:cNvPr id="1568" name="Google Shape;1568;p96"/>
            <p:cNvPicPr preferRelativeResize="0"/>
            <p:nvPr/>
          </p:nvPicPr>
          <p:blipFill rotWithShape="1">
            <a:blip r:embed="rId5">
              <a:alphaModFix/>
            </a:blip>
            <a:srcRect b="7544" l="11418" r="67020" t="29160"/>
            <a:stretch/>
          </p:blipFill>
          <p:spPr>
            <a:xfrm rot="1287039">
              <a:off x="2385137" y="1710387"/>
              <a:ext cx="1158241" cy="2664824"/>
            </a:xfrm>
            <a:prstGeom prst="rect">
              <a:avLst/>
            </a:prstGeom>
            <a:noFill/>
            <a:ln>
              <a:noFill/>
            </a:ln>
          </p:spPr>
        </p:pic>
        <p:pic>
          <p:nvPicPr>
            <p:cNvPr id="1569" name="Google Shape;1569;p96"/>
            <p:cNvPicPr preferRelativeResize="0"/>
            <p:nvPr/>
          </p:nvPicPr>
          <p:blipFill rotWithShape="1">
            <a:blip r:embed="rId5">
              <a:alphaModFix/>
            </a:blip>
            <a:srcRect b="9195" l="63130" r="21307" t="30824"/>
            <a:stretch/>
          </p:blipFill>
          <p:spPr>
            <a:xfrm rot="-802406">
              <a:off x="4092300" y="1704123"/>
              <a:ext cx="906107" cy="2720596"/>
            </a:xfrm>
            <a:prstGeom prst="rect">
              <a:avLst/>
            </a:prstGeom>
            <a:noFill/>
            <a:ln>
              <a:noFill/>
            </a:ln>
          </p:spPr>
        </p:pic>
        <p:pic>
          <p:nvPicPr>
            <p:cNvPr id="1570" name="Google Shape;1570;p96"/>
            <p:cNvPicPr preferRelativeResize="0"/>
            <p:nvPr/>
          </p:nvPicPr>
          <p:blipFill rotWithShape="1">
            <a:blip r:embed="rId5">
              <a:alphaModFix/>
            </a:blip>
            <a:srcRect b="60188" l="45056" r="46189" t="8784"/>
            <a:stretch/>
          </p:blipFill>
          <p:spPr>
            <a:xfrm>
              <a:off x="3741320" y="967413"/>
              <a:ext cx="470263" cy="1306286"/>
            </a:xfrm>
            <a:prstGeom prst="rect">
              <a:avLst/>
            </a:prstGeom>
            <a:noFill/>
            <a:ln>
              <a:noFill/>
            </a:ln>
          </p:spPr>
        </p:pic>
      </p:grpSp>
      <p:grpSp>
        <p:nvGrpSpPr>
          <p:cNvPr id="1571" name="Google Shape;1571;p96"/>
          <p:cNvGrpSpPr/>
          <p:nvPr/>
        </p:nvGrpSpPr>
        <p:grpSpPr>
          <a:xfrm>
            <a:off x="4420282" y="2344011"/>
            <a:ext cx="123900" cy="123900"/>
            <a:chOff x="630000" y="1882500"/>
            <a:chExt cx="123900" cy="123900"/>
          </a:xfrm>
        </p:grpSpPr>
        <p:cxnSp>
          <p:nvCxnSpPr>
            <p:cNvPr id="1572" name="Google Shape;1572;p96"/>
            <p:cNvCxnSpPr/>
            <p:nvPr/>
          </p:nvCxnSpPr>
          <p:spPr>
            <a:xfrm>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cxnSp>
          <p:nvCxnSpPr>
            <p:cNvPr id="1573" name="Google Shape;1573;p96"/>
            <p:cNvCxnSpPr/>
            <p:nvPr/>
          </p:nvCxnSpPr>
          <p:spPr>
            <a:xfrm rot="5400000">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grpSp>
      <p:pic>
        <p:nvPicPr>
          <p:cNvPr id="1574" name="Google Shape;1574;p96"/>
          <p:cNvPicPr preferRelativeResize="0"/>
          <p:nvPr/>
        </p:nvPicPr>
        <p:blipFill rotWithShape="1">
          <a:blip r:embed="rId3">
            <a:alphaModFix/>
          </a:blip>
          <a:srcRect b="0" l="0" r="0" t="0"/>
          <a:stretch/>
        </p:blipFill>
        <p:spPr>
          <a:xfrm rot="-4068699">
            <a:off x="3044061" y="2749331"/>
            <a:ext cx="2785100" cy="266172"/>
          </a:xfrm>
          <a:prstGeom prst="rect">
            <a:avLst/>
          </a:prstGeom>
          <a:noFill/>
          <a:ln>
            <a:noFill/>
          </a:ln>
        </p:spPr>
      </p:pic>
      <p:pic>
        <p:nvPicPr>
          <p:cNvPr id="1575" name="Google Shape;1575;p96"/>
          <p:cNvPicPr preferRelativeResize="0"/>
          <p:nvPr/>
        </p:nvPicPr>
        <p:blipFill rotWithShape="1">
          <a:blip r:embed="rId4">
            <a:alphaModFix/>
          </a:blip>
          <a:srcRect b="0" l="0" r="0" t="0"/>
          <a:stretch/>
        </p:blipFill>
        <p:spPr>
          <a:xfrm>
            <a:off x="4012504" y="2673460"/>
            <a:ext cx="371550" cy="868700"/>
          </a:xfrm>
          <a:prstGeom prst="rect">
            <a:avLst/>
          </a:prstGeom>
          <a:noFill/>
          <a:ln>
            <a:noFill/>
          </a:ln>
        </p:spPr>
      </p:pic>
      <p:cxnSp>
        <p:nvCxnSpPr>
          <p:cNvPr id="1576" name="Google Shape;1576;p96"/>
          <p:cNvCxnSpPr/>
          <p:nvPr/>
        </p:nvCxnSpPr>
        <p:spPr>
          <a:xfrm flipH="1" rot="10800000">
            <a:off x="4021825" y="2399325"/>
            <a:ext cx="462000" cy="1130700"/>
          </a:xfrm>
          <a:prstGeom prst="straightConnector1">
            <a:avLst/>
          </a:prstGeom>
          <a:noFill/>
          <a:ln cap="flat" cmpd="sng" w="28575">
            <a:solidFill>
              <a:schemeClr val="dk1"/>
            </a:solidFill>
            <a:prstDash val="solid"/>
            <a:round/>
            <a:headEnd len="med" w="med" type="none"/>
            <a:tailEnd len="med" w="med" type="none"/>
          </a:ln>
        </p:spPr>
      </p:cxnSp>
      <p:pic>
        <p:nvPicPr>
          <p:cNvPr id="1577" name="Google Shape;1577;p96"/>
          <p:cNvPicPr preferRelativeResize="0"/>
          <p:nvPr/>
        </p:nvPicPr>
        <p:blipFill rotWithShape="1">
          <a:blip r:embed="rId4">
            <a:alphaModFix/>
          </a:blip>
          <a:srcRect b="0" l="0" r="0" t="0"/>
          <a:stretch/>
        </p:blipFill>
        <p:spPr>
          <a:xfrm>
            <a:off x="4470350" y="1567317"/>
            <a:ext cx="371550" cy="868700"/>
          </a:xfrm>
          <a:prstGeom prst="rect">
            <a:avLst/>
          </a:prstGeom>
          <a:noFill/>
          <a:ln>
            <a:noFill/>
          </a:ln>
        </p:spPr>
      </p:pic>
      <p:pic>
        <p:nvPicPr>
          <p:cNvPr id="1578" name="Google Shape;1578;p96"/>
          <p:cNvPicPr preferRelativeResize="0"/>
          <p:nvPr/>
        </p:nvPicPr>
        <p:blipFill rotWithShape="1">
          <a:blip r:embed="rId3">
            <a:alphaModFix/>
          </a:blip>
          <a:srcRect b="0" l="0" r="0" t="0"/>
          <a:stretch/>
        </p:blipFill>
        <p:spPr>
          <a:xfrm rot="4160830">
            <a:off x="3169503" y="2901731"/>
            <a:ext cx="2785101" cy="266172"/>
          </a:xfrm>
          <a:prstGeom prst="rect">
            <a:avLst/>
          </a:prstGeom>
          <a:noFill/>
          <a:ln>
            <a:noFill/>
          </a:ln>
        </p:spPr>
      </p:pic>
      <p:cxnSp>
        <p:nvCxnSpPr>
          <p:cNvPr id="1579" name="Google Shape;1579;p96"/>
          <p:cNvCxnSpPr/>
          <p:nvPr/>
        </p:nvCxnSpPr>
        <p:spPr>
          <a:xfrm rot="10800000">
            <a:off x="4479400" y="2417225"/>
            <a:ext cx="417900" cy="1123200"/>
          </a:xfrm>
          <a:prstGeom prst="straightConnector1">
            <a:avLst/>
          </a:prstGeom>
          <a:noFill/>
          <a:ln cap="flat" cmpd="sng" w="28575">
            <a:solidFill>
              <a:schemeClr val="dk1"/>
            </a:solidFill>
            <a:prstDash val="solid"/>
            <a:round/>
            <a:headEnd len="med" w="med" type="none"/>
            <a:tailEnd len="med" w="med" type="none"/>
          </a:ln>
        </p:spPr>
      </p:cxnSp>
      <p:pic>
        <p:nvPicPr>
          <p:cNvPr id="1580" name="Google Shape;1580;p96"/>
          <p:cNvPicPr preferRelativeResize="0"/>
          <p:nvPr/>
        </p:nvPicPr>
        <p:blipFill rotWithShape="1">
          <a:blip r:embed="rId4">
            <a:alphaModFix/>
          </a:blip>
          <a:srcRect b="0" l="0" r="0" t="0"/>
          <a:stretch/>
        </p:blipFill>
        <p:spPr>
          <a:xfrm>
            <a:off x="4885375" y="2673442"/>
            <a:ext cx="371550" cy="868700"/>
          </a:xfrm>
          <a:prstGeom prst="rect">
            <a:avLst/>
          </a:prstGeom>
          <a:noFill/>
          <a:ln>
            <a:noFill/>
          </a:ln>
        </p:spPr>
      </p:pic>
      <p:sp>
        <p:nvSpPr>
          <p:cNvPr id="1581" name="Google Shape;1581;p96"/>
          <p:cNvSpPr txBox="1"/>
          <p:nvPr/>
        </p:nvSpPr>
        <p:spPr>
          <a:xfrm>
            <a:off x="4720600" y="2651553"/>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582" name="Google Shape;1582;p96"/>
          <p:cNvSpPr txBox="1"/>
          <p:nvPr/>
        </p:nvSpPr>
        <p:spPr>
          <a:xfrm>
            <a:off x="3489075" y="2651566"/>
            <a:ext cx="75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cxnSp>
        <p:nvCxnSpPr>
          <p:cNvPr id="1583" name="Google Shape;1583;p96"/>
          <p:cNvCxnSpPr/>
          <p:nvPr/>
        </p:nvCxnSpPr>
        <p:spPr>
          <a:xfrm>
            <a:off x="4219486" y="2890263"/>
            <a:ext cx="112200" cy="40500"/>
          </a:xfrm>
          <a:prstGeom prst="straightConnector1">
            <a:avLst/>
          </a:prstGeom>
          <a:noFill/>
          <a:ln cap="flat" cmpd="sng" w="28575">
            <a:solidFill>
              <a:schemeClr val="dk1"/>
            </a:solidFill>
            <a:prstDash val="solid"/>
            <a:round/>
            <a:headEnd len="med" w="med" type="none"/>
            <a:tailEnd len="med" w="med" type="none"/>
          </a:ln>
        </p:spPr>
      </p:cxnSp>
      <p:cxnSp>
        <p:nvCxnSpPr>
          <p:cNvPr id="1584" name="Google Shape;1584;p96"/>
          <p:cNvCxnSpPr/>
          <p:nvPr/>
        </p:nvCxnSpPr>
        <p:spPr>
          <a:xfrm flipH="1">
            <a:off x="4613515" y="2884627"/>
            <a:ext cx="112200" cy="40500"/>
          </a:xfrm>
          <a:prstGeom prst="straightConnector1">
            <a:avLst/>
          </a:prstGeom>
          <a:noFill/>
          <a:ln cap="flat" cmpd="sng" w="28575">
            <a:solidFill>
              <a:schemeClr val="dk1"/>
            </a:solidFill>
            <a:prstDash val="solid"/>
            <a:round/>
            <a:headEnd len="med" w="med" type="none"/>
            <a:tailEnd len="med" w="med" type="none"/>
          </a:ln>
        </p:spPr>
      </p:cxnSp>
      <p:sp>
        <p:nvSpPr>
          <p:cNvPr id="1585" name="Google Shape;1585;p96"/>
          <p:cNvSpPr txBox="1"/>
          <p:nvPr>
            <p:ph idx="1" type="body"/>
          </p:nvPr>
        </p:nvSpPr>
        <p:spPr>
          <a:xfrm>
            <a:off x="324000" y="759300"/>
            <a:ext cx="8237700" cy="736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As we only use one of the point of intersection, we do not need to draw the full circles, we can draw arcs instead.</a:t>
            </a:r>
            <a:endParaRPr sz="1800"/>
          </a:p>
          <a:p>
            <a:pPr indent="0" lvl="0" marL="0" rtl="0" algn="l">
              <a:spcBef>
                <a:spcPts val="1000"/>
              </a:spcBef>
              <a:spcAft>
                <a:spcPts val="1000"/>
              </a:spcAft>
              <a:buNone/>
            </a:pPr>
            <a:r>
              <a:rPr lang="en-GB" sz="1800"/>
              <a:t>Here is Aisha’s construction with arcs instead of full circles.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4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4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4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5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5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5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7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7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5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is the next step in the construction?</a:t>
            </a:r>
            <a:endParaRPr/>
          </a:p>
        </p:txBody>
      </p:sp>
      <p:sp>
        <p:nvSpPr>
          <p:cNvPr id="1591" name="Google Shape;1591;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sp>
        <p:nvSpPr>
          <p:cNvPr id="1592" name="Google Shape;1592;p97"/>
          <p:cNvSpPr/>
          <p:nvPr/>
        </p:nvSpPr>
        <p:spPr>
          <a:xfrm>
            <a:off x="2560475" y="1986925"/>
            <a:ext cx="2181600" cy="2181600"/>
          </a:xfrm>
          <a:prstGeom prst="arc">
            <a:avLst>
              <a:gd fmla="val 16200000" name="adj1"/>
              <a:gd fmla="val 20588406"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93" name="Google Shape;1593;p97"/>
          <p:cNvCxnSpPr/>
          <p:nvPr/>
        </p:nvCxnSpPr>
        <p:spPr>
          <a:xfrm>
            <a:off x="3652772" y="3080550"/>
            <a:ext cx="1646700" cy="0"/>
          </a:xfrm>
          <a:prstGeom prst="straightConnector1">
            <a:avLst/>
          </a:prstGeom>
          <a:noFill/>
          <a:ln cap="flat" cmpd="sng" w="28575">
            <a:solidFill>
              <a:schemeClr val="dk1"/>
            </a:solidFill>
            <a:prstDash val="solid"/>
            <a:round/>
            <a:headEnd len="med" w="med" type="none"/>
            <a:tailEnd len="med" w="med" type="none"/>
          </a:ln>
        </p:spPr>
      </p:cxnSp>
      <p:sp>
        <p:nvSpPr>
          <p:cNvPr id="1594" name="Google Shape;1594;p97"/>
          <p:cNvSpPr/>
          <p:nvPr/>
        </p:nvSpPr>
        <p:spPr>
          <a:xfrm flipH="1">
            <a:off x="3656214" y="1441980"/>
            <a:ext cx="3270900" cy="3270900"/>
          </a:xfrm>
          <a:prstGeom prst="arc">
            <a:avLst>
              <a:gd fmla="val 16200000" name="adj1"/>
              <a:gd fmla="val 8661"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95" name="Google Shape;1595;p97"/>
          <p:cNvSpPr txBox="1"/>
          <p:nvPr/>
        </p:nvSpPr>
        <p:spPr>
          <a:xfrm>
            <a:off x="583800" y="3827400"/>
            <a:ext cx="7885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Mark the third vertex and then form the triangle using line segments.</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sp>
        <p:nvSpPr>
          <p:cNvPr id="1600" name="Google Shape;1600;p98"/>
          <p:cNvSpPr txBox="1"/>
          <p:nvPr>
            <p:ph idx="1" type="body"/>
          </p:nvPr>
        </p:nvSpPr>
        <p:spPr>
          <a:xfrm>
            <a:off x="324000" y="759300"/>
            <a:ext cx="82377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Jacob and Jun have both constructed an isosceles triangle with edges of 6 cm and 9 cm. </a:t>
            </a:r>
            <a:endParaRPr sz="1800"/>
          </a:p>
        </p:txBody>
      </p:sp>
      <p:sp>
        <p:nvSpPr>
          <p:cNvPr id="1601" name="Google Shape;1601;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pic>
        <p:nvPicPr>
          <p:cNvPr id="1602" name="Google Shape;1602;p98"/>
          <p:cNvPicPr preferRelativeResize="0"/>
          <p:nvPr/>
        </p:nvPicPr>
        <p:blipFill>
          <a:blip r:embed="rId3">
            <a:alphaModFix/>
          </a:blip>
          <a:stretch>
            <a:fillRect/>
          </a:stretch>
        </p:blipFill>
        <p:spPr>
          <a:xfrm>
            <a:off x="1696588" y="1332275"/>
            <a:ext cx="5333050" cy="2794775"/>
          </a:xfrm>
          <a:prstGeom prst="rect">
            <a:avLst/>
          </a:prstGeom>
          <a:noFill/>
          <a:ln>
            <a:noFill/>
          </a:ln>
        </p:spPr>
      </p:pic>
      <p:pic>
        <p:nvPicPr>
          <p:cNvPr id="1603" name="Google Shape;1603;p98"/>
          <p:cNvPicPr preferRelativeResize="0"/>
          <p:nvPr/>
        </p:nvPicPr>
        <p:blipFill>
          <a:blip r:embed="rId4">
            <a:alphaModFix/>
          </a:blip>
          <a:stretch>
            <a:fillRect/>
          </a:stretch>
        </p:blipFill>
        <p:spPr>
          <a:xfrm flipH="1">
            <a:off x="672600" y="1496112"/>
            <a:ext cx="727175" cy="895749"/>
          </a:xfrm>
          <a:prstGeom prst="rect">
            <a:avLst/>
          </a:prstGeom>
          <a:noFill/>
          <a:ln>
            <a:noFill/>
          </a:ln>
        </p:spPr>
      </p:pic>
      <p:pic>
        <p:nvPicPr>
          <p:cNvPr id="1604" name="Google Shape;1604;p98"/>
          <p:cNvPicPr preferRelativeResize="0"/>
          <p:nvPr/>
        </p:nvPicPr>
        <p:blipFill>
          <a:blip r:embed="rId5">
            <a:alphaModFix/>
          </a:blip>
          <a:stretch>
            <a:fillRect/>
          </a:stretch>
        </p:blipFill>
        <p:spPr>
          <a:xfrm flipH="1">
            <a:off x="7326462" y="1489312"/>
            <a:ext cx="727174" cy="909325"/>
          </a:xfrm>
          <a:prstGeom prst="rect">
            <a:avLst/>
          </a:prstGeom>
          <a:noFill/>
          <a:ln>
            <a:noFill/>
          </a:ln>
        </p:spPr>
      </p:pic>
      <p:sp>
        <p:nvSpPr>
          <p:cNvPr id="1605" name="Google Shape;1605;p98"/>
          <p:cNvSpPr txBox="1"/>
          <p:nvPr/>
        </p:nvSpPr>
        <p:spPr>
          <a:xfrm>
            <a:off x="1684800" y="2308175"/>
            <a:ext cx="72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606" name="Google Shape;1606;p98"/>
          <p:cNvSpPr txBox="1"/>
          <p:nvPr/>
        </p:nvSpPr>
        <p:spPr>
          <a:xfrm>
            <a:off x="5260425" y="3908175"/>
            <a:ext cx="72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607" name="Google Shape;1607;p98"/>
          <p:cNvSpPr txBox="1"/>
          <p:nvPr/>
        </p:nvSpPr>
        <p:spPr>
          <a:xfrm>
            <a:off x="6185625" y="3009150"/>
            <a:ext cx="72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sp>
        <p:nvSpPr>
          <p:cNvPr id="1608" name="Google Shape;1608;p98"/>
          <p:cNvSpPr txBox="1"/>
          <p:nvPr/>
        </p:nvSpPr>
        <p:spPr>
          <a:xfrm>
            <a:off x="2461875" y="3908175"/>
            <a:ext cx="72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sp>
        <p:nvSpPr>
          <p:cNvPr id="1609" name="Google Shape;1609;p98"/>
          <p:cNvSpPr/>
          <p:nvPr/>
        </p:nvSpPr>
        <p:spPr>
          <a:xfrm>
            <a:off x="-673100" y="1358900"/>
            <a:ext cx="5202000" cy="5202000"/>
          </a:xfrm>
          <a:prstGeom prst="arc">
            <a:avLst>
              <a:gd fmla="val 16441448" name="adj1"/>
              <a:gd fmla="val 18283152"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0" name="Google Shape;1610;p98"/>
          <p:cNvSpPr/>
          <p:nvPr/>
        </p:nvSpPr>
        <p:spPr>
          <a:xfrm flipH="1">
            <a:off x="1079500" y="1358900"/>
            <a:ext cx="5202000" cy="5202000"/>
          </a:xfrm>
          <a:prstGeom prst="arc">
            <a:avLst>
              <a:gd fmla="val 16441448" name="adj1"/>
              <a:gd fmla="val 18283152"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1" name="Google Shape;1611;p98"/>
          <p:cNvSpPr/>
          <p:nvPr/>
        </p:nvSpPr>
        <p:spPr>
          <a:xfrm>
            <a:off x="2531630" y="2223077"/>
            <a:ext cx="3456000" cy="3456000"/>
          </a:xfrm>
          <a:prstGeom prst="arc">
            <a:avLst>
              <a:gd fmla="val 18040062" name="adj1"/>
              <a:gd fmla="val 20055899"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2" name="Google Shape;1612;p98"/>
          <p:cNvSpPr/>
          <p:nvPr/>
        </p:nvSpPr>
        <p:spPr>
          <a:xfrm flipH="1">
            <a:off x="5113770" y="2223077"/>
            <a:ext cx="3456000" cy="3456000"/>
          </a:xfrm>
          <a:prstGeom prst="arc">
            <a:avLst>
              <a:gd fmla="val 18040062" name="adj1"/>
              <a:gd fmla="val 20055899"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13" name="Google Shape;1613;p98"/>
          <p:cNvGrpSpPr/>
          <p:nvPr/>
        </p:nvGrpSpPr>
        <p:grpSpPr>
          <a:xfrm>
            <a:off x="2743882" y="1450895"/>
            <a:ext cx="123900" cy="123900"/>
            <a:chOff x="630000" y="1882500"/>
            <a:chExt cx="123900" cy="123900"/>
          </a:xfrm>
        </p:grpSpPr>
        <p:cxnSp>
          <p:nvCxnSpPr>
            <p:cNvPr id="1614" name="Google Shape;1614;p98"/>
            <p:cNvCxnSpPr/>
            <p:nvPr/>
          </p:nvCxnSpPr>
          <p:spPr>
            <a:xfrm>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cxnSp>
          <p:nvCxnSpPr>
            <p:cNvPr id="1615" name="Google Shape;1615;p98"/>
            <p:cNvCxnSpPr/>
            <p:nvPr/>
          </p:nvCxnSpPr>
          <p:spPr>
            <a:xfrm rot="5400000">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grpSp>
      <p:grpSp>
        <p:nvGrpSpPr>
          <p:cNvPr id="1616" name="Google Shape;1616;p98"/>
          <p:cNvGrpSpPr/>
          <p:nvPr/>
        </p:nvGrpSpPr>
        <p:grpSpPr>
          <a:xfrm>
            <a:off x="5487082" y="2753223"/>
            <a:ext cx="123900" cy="123900"/>
            <a:chOff x="630000" y="1882500"/>
            <a:chExt cx="123900" cy="123900"/>
          </a:xfrm>
        </p:grpSpPr>
        <p:cxnSp>
          <p:nvCxnSpPr>
            <p:cNvPr id="1617" name="Google Shape;1617;p98"/>
            <p:cNvCxnSpPr/>
            <p:nvPr/>
          </p:nvCxnSpPr>
          <p:spPr>
            <a:xfrm>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cxnSp>
          <p:nvCxnSpPr>
            <p:cNvPr id="1618" name="Google Shape;1618;p98"/>
            <p:cNvCxnSpPr/>
            <p:nvPr/>
          </p:nvCxnSpPr>
          <p:spPr>
            <a:xfrm rot="5400000">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grpSp>
      <p:sp>
        <p:nvSpPr>
          <p:cNvPr id="1619" name="Google Shape;1619;p98"/>
          <p:cNvSpPr txBox="1"/>
          <p:nvPr>
            <p:ph idx="1" type="body"/>
          </p:nvPr>
        </p:nvSpPr>
        <p:spPr>
          <a:xfrm>
            <a:off x="323988" y="4240325"/>
            <a:ext cx="82377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need to be careful when constructing isosceles triangles that could be drawn in two different ways.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99"/>
          <p:cNvSpPr txBox="1"/>
          <p:nvPr>
            <p:ph idx="1" type="body"/>
          </p:nvPr>
        </p:nvSpPr>
        <p:spPr>
          <a:xfrm>
            <a:off x="324000" y="759300"/>
            <a:ext cx="82377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Izzy has been tasked with constructing an isosceles triangle where the equal edges are 8 cm. She doesn’t have any other information.</a:t>
            </a:r>
            <a:endParaRPr sz="1800"/>
          </a:p>
        </p:txBody>
      </p:sp>
      <p:sp>
        <p:nvSpPr>
          <p:cNvPr id="1625" name="Google Shape;1625;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sp>
        <p:nvSpPr>
          <p:cNvPr id="1626" name="Google Shape;1626;p99"/>
          <p:cNvSpPr txBox="1"/>
          <p:nvPr>
            <p:ph idx="1" type="body"/>
          </p:nvPr>
        </p:nvSpPr>
        <p:spPr>
          <a:xfrm>
            <a:off x="312544" y="2586950"/>
            <a:ext cx="39960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She draws one of the 8 cm edges.</a:t>
            </a:r>
            <a:endParaRPr sz="1800"/>
          </a:p>
        </p:txBody>
      </p:sp>
      <p:pic>
        <p:nvPicPr>
          <p:cNvPr id="1627" name="Google Shape;1627;p99"/>
          <p:cNvPicPr preferRelativeResize="0"/>
          <p:nvPr/>
        </p:nvPicPr>
        <p:blipFill>
          <a:blip r:embed="rId3">
            <a:alphaModFix/>
          </a:blip>
          <a:stretch>
            <a:fillRect/>
          </a:stretch>
        </p:blipFill>
        <p:spPr>
          <a:xfrm flipH="1">
            <a:off x="482838" y="1404825"/>
            <a:ext cx="1114250" cy="1078300"/>
          </a:xfrm>
          <a:prstGeom prst="rect">
            <a:avLst/>
          </a:prstGeom>
          <a:noFill/>
          <a:ln>
            <a:noFill/>
          </a:ln>
        </p:spPr>
      </p:pic>
      <p:pic>
        <p:nvPicPr>
          <p:cNvPr id="1628" name="Google Shape;1628;p99"/>
          <p:cNvPicPr preferRelativeResize="0"/>
          <p:nvPr/>
        </p:nvPicPr>
        <p:blipFill rotWithShape="1">
          <a:blip r:embed="rId4">
            <a:alphaModFix/>
          </a:blip>
          <a:srcRect b="0" l="0" r="0" t="0"/>
          <a:stretch/>
        </p:blipFill>
        <p:spPr>
          <a:xfrm rot="28">
            <a:off x="4015324" y="3884498"/>
            <a:ext cx="4110676" cy="392841"/>
          </a:xfrm>
          <a:prstGeom prst="rect">
            <a:avLst/>
          </a:prstGeom>
          <a:noFill/>
          <a:ln>
            <a:noFill/>
          </a:ln>
        </p:spPr>
      </p:pic>
      <p:cxnSp>
        <p:nvCxnSpPr>
          <p:cNvPr id="1629" name="Google Shape;1629;p99"/>
          <p:cNvCxnSpPr/>
          <p:nvPr/>
        </p:nvCxnSpPr>
        <p:spPr>
          <a:xfrm>
            <a:off x="4136600" y="3864625"/>
            <a:ext cx="2066100" cy="0"/>
          </a:xfrm>
          <a:prstGeom prst="straightConnector1">
            <a:avLst/>
          </a:prstGeom>
          <a:noFill/>
          <a:ln cap="flat" cmpd="sng" w="28575">
            <a:solidFill>
              <a:schemeClr val="dk1"/>
            </a:solidFill>
            <a:prstDash val="solid"/>
            <a:round/>
            <a:headEnd len="med" w="med" type="none"/>
            <a:tailEnd len="med" w="med" type="none"/>
          </a:ln>
        </p:spPr>
      </p:cxnSp>
      <p:pic>
        <p:nvPicPr>
          <p:cNvPr id="1630" name="Google Shape;1630;p99"/>
          <p:cNvPicPr preferRelativeResize="0"/>
          <p:nvPr/>
        </p:nvPicPr>
        <p:blipFill rotWithShape="1">
          <a:blip r:embed="rId5">
            <a:alphaModFix/>
          </a:blip>
          <a:srcRect b="0" l="0" r="0" t="0"/>
          <a:stretch/>
        </p:blipFill>
        <p:spPr>
          <a:xfrm>
            <a:off x="4132453" y="2659477"/>
            <a:ext cx="522425" cy="1221450"/>
          </a:xfrm>
          <a:prstGeom prst="rect">
            <a:avLst/>
          </a:prstGeom>
          <a:noFill/>
          <a:ln>
            <a:noFill/>
          </a:ln>
        </p:spPr>
      </p:pic>
      <p:pic>
        <p:nvPicPr>
          <p:cNvPr id="1631" name="Google Shape;1631;p99"/>
          <p:cNvPicPr preferRelativeResize="0"/>
          <p:nvPr/>
        </p:nvPicPr>
        <p:blipFill rotWithShape="1">
          <a:blip r:embed="rId5">
            <a:alphaModFix/>
          </a:blip>
          <a:srcRect b="0" l="0" r="0" t="0"/>
          <a:stretch/>
        </p:blipFill>
        <p:spPr>
          <a:xfrm>
            <a:off x="6189753" y="2659477"/>
            <a:ext cx="522425" cy="1221450"/>
          </a:xfrm>
          <a:prstGeom prst="rect">
            <a:avLst/>
          </a:prstGeom>
          <a:noFill/>
          <a:ln>
            <a:noFill/>
          </a:ln>
        </p:spPr>
      </p:pic>
      <p:sp>
        <p:nvSpPr>
          <p:cNvPr id="1632" name="Google Shape;1632;p99"/>
          <p:cNvSpPr txBox="1"/>
          <p:nvPr/>
        </p:nvSpPr>
        <p:spPr>
          <a:xfrm>
            <a:off x="4777700" y="3769775"/>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grpSp>
        <p:nvGrpSpPr>
          <p:cNvPr id="1633" name="Google Shape;1633;p99"/>
          <p:cNvGrpSpPr/>
          <p:nvPr/>
        </p:nvGrpSpPr>
        <p:grpSpPr>
          <a:xfrm>
            <a:off x="5380112" y="1605355"/>
            <a:ext cx="1258204" cy="2376688"/>
            <a:chOff x="4045431" y="1513250"/>
            <a:chExt cx="2005105" cy="3787550"/>
          </a:xfrm>
        </p:grpSpPr>
        <p:pic>
          <p:nvPicPr>
            <p:cNvPr id="1634" name="Google Shape;1634;p99"/>
            <p:cNvPicPr preferRelativeResize="0"/>
            <p:nvPr/>
          </p:nvPicPr>
          <p:blipFill rotWithShape="1">
            <a:blip r:embed="rId6">
              <a:alphaModFix/>
            </a:blip>
            <a:srcRect b="7544" l="11418" r="67020" t="29160"/>
            <a:stretch/>
          </p:blipFill>
          <p:spPr>
            <a:xfrm rot="-946096">
              <a:off x="4385717" y="2528744"/>
              <a:ext cx="1158240" cy="2664823"/>
            </a:xfrm>
            <a:prstGeom prst="rect">
              <a:avLst/>
            </a:prstGeom>
            <a:noFill/>
            <a:ln>
              <a:noFill/>
            </a:ln>
          </p:spPr>
        </p:pic>
        <p:pic>
          <p:nvPicPr>
            <p:cNvPr id="1635" name="Google Shape;1635;p99"/>
            <p:cNvPicPr preferRelativeResize="0"/>
            <p:nvPr/>
          </p:nvPicPr>
          <p:blipFill rotWithShape="1">
            <a:blip r:embed="rId6">
              <a:alphaModFix/>
            </a:blip>
            <a:srcRect b="9195" l="63130" r="21307" t="30824"/>
            <a:stretch/>
          </p:blipFill>
          <p:spPr>
            <a:xfrm rot="876952">
              <a:off x="4909437" y="2624675"/>
              <a:ext cx="836023" cy="2525214"/>
            </a:xfrm>
            <a:prstGeom prst="rect">
              <a:avLst/>
            </a:prstGeom>
            <a:noFill/>
            <a:ln>
              <a:noFill/>
            </a:ln>
          </p:spPr>
        </p:pic>
        <p:pic>
          <p:nvPicPr>
            <p:cNvPr id="1636" name="Google Shape;1636;p99"/>
            <p:cNvPicPr preferRelativeResize="0"/>
            <p:nvPr/>
          </p:nvPicPr>
          <p:blipFill rotWithShape="1">
            <a:blip r:embed="rId6">
              <a:alphaModFix/>
            </a:blip>
            <a:srcRect b="60188" l="45056" r="46189" t="8784"/>
            <a:stretch/>
          </p:blipFill>
          <p:spPr>
            <a:xfrm>
              <a:off x="5016136" y="1513250"/>
              <a:ext cx="470263" cy="1306286"/>
            </a:xfrm>
            <a:prstGeom prst="rect">
              <a:avLst/>
            </a:prstGeom>
            <a:noFill/>
            <a:ln>
              <a:noFill/>
            </a:ln>
          </p:spPr>
        </p:pic>
      </p:grpSp>
      <p:grpSp>
        <p:nvGrpSpPr>
          <p:cNvPr id="1637" name="Google Shape;1637;p99"/>
          <p:cNvGrpSpPr/>
          <p:nvPr/>
        </p:nvGrpSpPr>
        <p:grpSpPr>
          <a:xfrm>
            <a:off x="3806770" y="1880617"/>
            <a:ext cx="2472074" cy="2237533"/>
            <a:chOff x="1540024" y="1069522"/>
            <a:chExt cx="3852983" cy="3487427"/>
          </a:xfrm>
        </p:grpSpPr>
        <p:pic>
          <p:nvPicPr>
            <p:cNvPr id="1638" name="Google Shape;1638;p99"/>
            <p:cNvPicPr preferRelativeResize="0"/>
            <p:nvPr/>
          </p:nvPicPr>
          <p:blipFill rotWithShape="1">
            <a:blip r:embed="rId6">
              <a:alphaModFix/>
            </a:blip>
            <a:srcRect b="7544" l="11418" r="67020" t="29160"/>
            <a:stretch/>
          </p:blipFill>
          <p:spPr>
            <a:xfrm rot="1585367">
              <a:off x="2072438" y="1704123"/>
              <a:ext cx="1158241" cy="2664825"/>
            </a:xfrm>
            <a:prstGeom prst="rect">
              <a:avLst/>
            </a:prstGeom>
            <a:noFill/>
            <a:ln>
              <a:noFill/>
            </a:ln>
          </p:spPr>
        </p:pic>
        <p:pic>
          <p:nvPicPr>
            <p:cNvPr id="1639" name="Google Shape;1639;p99"/>
            <p:cNvPicPr preferRelativeResize="0"/>
            <p:nvPr/>
          </p:nvPicPr>
          <p:blipFill rotWithShape="1">
            <a:blip r:embed="rId6">
              <a:alphaModFix/>
            </a:blip>
            <a:srcRect b="9195" l="63130" r="21307" t="30824"/>
            <a:stretch/>
          </p:blipFill>
          <p:spPr>
            <a:xfrm rot="-1357887">
              <a:off x="3998340" y="1766763"/>
              <a:ext cx="906107" cy="2720595"/>
            </a:xfrm>
            <a:prstGeom prst="rect">
              <a:avLst/>
            </a:prstGeom>
            <a:noFill/>
            <a:ln>
              <a:noFill/>
            </a:ln>
          </p:spPr>
        </p:pic>
        <p:pic>
          <p:nvPicPr>
            <p:cNvPr id="1640" name="Google Shape;1640;p99"/>
            <p:cNvPicPr preferRelativeResize="0"/>
            <p:nvPr/>
          </p:nvPicPr>
          <p:blipFill rotWithShape="1">
            <a:blip r:embed="rId6">
              <a:alphaModFix/>
            </a:blip>
            <a:srcRect b="60188" l="45056" r="46189" t="8784"/>
            <a:stretch/>
          </p:blipFill>
          <p:spPr>
            <a:xfrm>
              <a:off x="3459182" y="1069522"/>
              <a:ext cx="470263" cy="1306286"/>
            </a:xfrm>
            <a:prstGeom prst="rect">
              <a:avLst/>
            </a:prstGeom>
            <a:noFill/>
            <a:ln>
              <a:noFill/>
            </a:ln>
          </p:spPr>
        </p:pic>
      </p:grpSp>
      <p:sp>
        <p:nvSpPr>
          <p:cNvPr id="1641" name="Google Shape;1641;p99"/>
          <p:cNvSpPr/>
          <p:nvPr/>
        </p:nvSpPr>
        <p:spPr>
          <a:xfrm flipH="1">
            <a:off x="4146521" y="1835225"/>
            <a:ext cx="4068000" cy="4068000"/>
          </a:xfrm>
          <a:prstGeom prst="arc">
            <a:avLst>
              <a:gd fmla="val 11249217" name="adj1"/>
              <a:gd fmla="val 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42" name="Google Shape;1642;p99"/>
          <p:cNvGrpSpPr/>
          <p:nvPr/>
        </p:nvGrpSpPr>
        <p:grpSpPr>
          <a:xfrm flipH="1" rot="-500612">
            <a:off x="5956532" y="1742542"/>
            <a:ext cx="2472038" cy="2237501"/>
            <a:chOff x="1540024" y="1069522"/>
            <a:chExt cx="3852983" cy="3487427"/>
          </a:xfrm>
        </p:grpSpPr>
        <p:pic>
          <p:nvPicPr>
            <p:cNvPr id="1643" name="Google Shape;1643;p99"/>
            <p:cNvPicPr preferRelativeResize="0"/>
            <p:nvPr/>
          </p:nvPicPr>
          <p:blipFill rotWithShape="1">
            <a:blip r:embed="rId6">
              <a:alphaModFix/>
            </a:blip>
            <a:srcRect b="7544" l="11418" r="67020" t="29160"/>
            <a:stretch/>
          </p:blipFill>
          <p:spPr>
            <a:xfrm rot="1585367">
              <a:off x="2072438" y="1704123"/>
              <a:ext cx="1158241" cy="2664825"/>
            </a:xfrm>
            <a:prstGeom prst="rect">
              <a:avLst/>
            </a:prstGeom>
            <a:noFill/>
            <a:ln>
              <a:noFill/>
            </a:ln>
          </p:spPr>
        </p:pic>
        <p:pic>
          <p:nvPicPr>
            <p:cNvPr id="1644" name="Google Shape;1644;p99"/>
            <p:cNvPicPr preferRelativeResize="0"/>
            <p:nvPr/>
          </p:nvPicPr>
          <p:blipFill rotWithShape="1">
            <a:blip r:embed="rId6">
              <a:alphaModFix/>
            </a:blip>
            <a:srcRect b="9195" l="63130" r="21307" t="30824"/>
            <a:stretch/>
          </p:blipFill>
          <p:spPr>
            <a:xfrm rot="-1357887">
              <a:off x="3998340" y="1766763"/>
              <a:ext cx="906107" cy="2720595"/>
            </a:xfrm>
            <a:prstGeom prst="rect">
              <a:avLst/>
            </a:prstGeom>
            <a:noFill/>
            <a:ln>
              <a:noFill/>
            </a:ln>
          </p:spPr>
        </p:pic>
        <p:pic>
          <p:nvPicPr>
            <p:cNvPr id="1645" name="Google Shape;1645;p99"/>
            <p:cNvPicPr preferRelativeResize="0"/>
            <p:nvPr/>
          </p:nvPicPr>
          <p:blipFill rotWithShape="1">
            <a:blip r:embed="rId6">
              <a:alphaModFix/>
            </a:blip>
            <a:srcRect b="60188" l="45056" r="46189" t="8784"/>
            <a:stretch/>
          </p:blipFill>
          <p:spPr>
            <a:xfrm>
              <a:off x="3459182" y="1069522"/>
              <a:ext cx="470263" cy="1306286"/>
            </a:xfrm>
            <a:prstGeom prst="rect">
              <a:avLst/>
            </a:prstGeom>
            <a:noFill/>
            <a:ln>
              <a:noFill/>
            </a:ln>
          </p:spPr>
        </p:pic>
      </p:grpSp>
      <p:sp>
        <p:nvSpPr>
          <p:cNvPr id="1646" name="Google Shape;1646;p99"/>
          <p:cNvSpPr txBox="1"/>
          <p:nvPr>
            <p:ph idx="1" type="body"/>
          </p:nvPr>
        </p:nvSpPr>
        <p:spPr>
          <a:xfrm>
            <a:off x="305950" y="3087600"/>
            <a:ext cx="37095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Then she draws an arc for the other 8 cm edge</a:t>
            </a:r>
            <a:r>
              <a:rPr lang="en-GB" sz="1800"/>
              <a:t>.</a:t>
            </a:r>
            <a:endParaRPr sz="1800"/>
          </a:p>
        </p:txBody>
      </p:sp>
      <p:sp>
        <p:nvSpPr>
          <p:cNvPr id="1647" name="Google Shape;1647;p99"/>
          <p:cNvSpPr txBox="1"/>
          <p:nvPr>
            <p:ph idx="1" type="body"/>
          </p:nvPr>
        </p:nvSpPr>
        <p:spPr>
          <a:xfrm>
            <a:off x="305950" y="3829650"/>
            <a:ext cx="37095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are lots of possibilities for an isosceles triangle with equal edges of 8 cm.</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2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3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3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3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100"/>
          <p:cNvSpPr/>
          <p:nvPr/>
        </p:nvSpPr>
        <p:spPr>
          <a:xfrm flipH="1">
            <a:off x="4146521" y="1835225"/>
            <a:ext cx="4068000" cy="4068000"/>
          </a:xfrm>
          <a:prstGeom prst="arc">
            <a:avLst>
              <a:gd fmla="val 11249217" name="adj1"/>
              <a:gd fmla="val 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53" name="Google Shape;1653;p100"/>
          <p:cNvSpPr txBox="1"/>
          <p:nvPr>
            <p:ph idx="1" type="body"/>
          </p:nvPr>
        </p:nvSpPr>
        <p:spPr>
          <a:xfrm>
            <a:off x="324000" y="759300"/>
            <a:ext cx="82377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Izzy has been tasked with constructing an isosceles triangle where the equal edges are 8 cm. She doesn’t have any other information.</a:t>
            </a:r>
            <a:endParaRPr sz="1800"/>
          </a:p>
        </p:txBody>
      </p:sp>
      <p:sp>
        <p:nvSpPr>
          <p:cNvPr id="1654" name="Google Shape;1654;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sp>
        <p:nvSpPr>
          <p:cNvPr id="1655" name="Google Shape;1655;p100"/>
          <p:cNvSpPr txBox="1"/>
          <p:nvPr>
            <p:ph idx="1" type="body"/>
          </p:nvPr>
        </p:nvSpPr>
        <p:spPr>
          <a:xfrm>
            <a:off x="312544" y="2586950"/>
            <a:ext cx="39960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She draws one of the 8 cm edges.</a:t>
            </a:r>
            <a:endParaRPr sz="1800"/>
          </a:p>
        </p:txBody>
      </p:sp>
      <p:pic>
        <p:nvPicPr>
          <p:cNvPr id="1656" name="Google Shape;1656;p100"/>
          <p:cNvPicPr preferRelativeResize="0"/>
          <p:nvPr/>
        </p:nvPicPr>
        <p:blipFill>
          <a:blip r:embed="rId3">
            <a:alphaModFix/>
          </a:blip>
          <a:stretch>
            <a:fillRect/>
          </a:stretch>
        </p:blipFill>
        <p:spPr>
          <a:xfrm flipH="1">
            <a:off x="482838" y="1404825"/>
            <a:ext cx="1114250" cy="1078300"/>
          </a:xfrm>
          <a:prstGeom prst="rect">
            <a:avLst/>
          </a:prstGeom>
          <a:noFill/>
          <a:ln>
            <a:noFill/>
          </a:ln>
        </p:spPr>
      </p:pic>
      <p:cxnSp>
        <p:nvCxnSpPr>
          <p:cNvPr id="1657" name="Google Shape;1657;p100"/>
          <p:cNvCxnSpPr/>
          <p:nvPr/>
        </p:nvCxnSpPr>
        <p:spPr>
          <a:xfrm>
            <a:off x="4136600" y="3864625"/>
            <a:ext cx="2066100" cy="0"/>
          </a:xfrm>
          <a:prstGeom prst="straightConnector1">
            <a:avLst/>
          </a:prstGeom>
          <a:noFill/>
          <a:ln cap="flat" cmpd="sng" w="28575">
            <a:solidFill>
              <a:schemeClr val="dk1"/>
            </a:solidFill>
            <a:prstDash val="solid"/>
            <a:round/>
            <a:headEnd len="med" w="med" type="none"/>
            <a:tailEnd len="med" w="med" type="none"/>
          </a:ln>
        </p:spPr>
      </p:cxnSp>
      <p:sp>
        <p:nvSpPr>
          <p:cNvPr id="1658" name="Google Shape;1658;p100"/>
          <p:cNvSpPr txBox="1"/>
          <p:nvPr/>
        </p:nvSpPr>
        <p:spPr>
          <a:xfrm>
            <a:off x="4777700" y="3769775"/>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 cm</a:t>
            </a:r>
            <a:endParaRPr sz="1800">
              <a:solidFill>
                <a:schemeClr val="dk1"/>
              </a:solidFill>
              <a:latin typeface="Lexend"/>
              <a:ea typeface="Lexend"/>
              <a:cs typeface="Lexend"/>
              <a:sym typeface="Lexend"/>
            </a:endParaRPr>
          </a:p>
        </p:txBody>
      </p:sp>
      <p:sp>
        <p:nvSpPr>
          <p:cNvPr id="1659" name="Google Shape;1659;p100"/>
          <p:cNvSpPr txBox="1"/>
          <p:nvPr>
            <p:ph idx="1" type="body"/>
          </p:nvPr>
        </p:nvSpPr>
        <p:spPr>
          <a:xfrm>
            <a:off x="305950" y="3087600"/>
            <a:ext cx="37095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Then she draws an arc for the other 8 cm edge.</a:t>
            </a:r>
            <a:endParaRPr sz="1800"/>
          </a:p>
        </p:txBody>
      </p:sp>
      <p:sp>
        <p:nvSpPr>
          <p:cNvPr id="1660" name="Google Shape;1660;p100"/>
          <p:cNvSpPr txBox="1"/>
          <p:nvPr>
            <p:ph idx="1" type="body"/>
          </p:nvPr>
        </p:nvSpPr>
        <p:spPr>
          <a:xfrm>
            <a:off x="305950" y="3829650"/>
            <a:ext cx="3709500" cy="73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are lots of possibilities for an isosceles triangle with equal edges of 8 cm.</a:t>
            </a:r>
            <a:endParaRPr sz="1800"/>
          </a:p>
        </p:txBody>
      </p:sp>
      <p:grpSp>
        <p:nvGrpSpPr>
          <p:cNvPr id="1661" name="Google Shape;1661;p100"/>
          <p:cNvGrpSpPr/>
          <p:nvPr/>
        </p:nvGrpSpPr>
        <p:grpSpPr>
          <a:xfrm>
            <a:off x="4146521" y="2778075"/>
            <a:ext cx="3780829" cy="1152700"/>
            <a:chOff x="4146521" y="2778075"/>
            <a:chExt cx="3780829" cy="1152700"/>
          </a:xfrm>
        </p:grpSpPr>
        <p:cxnSp>
          <p:nvCxnSpPr>
            <p:cNvPr id="1662" name="Google Shape;1662;p100"/>
            <p:cNvCxnSpPr/>
            <p:nvPr/>
          </p:nvCxnSpPr>
          <p:spPr>
            <a:xfrm flipH="1" rot="10800000">
              <a:off x="6191250" y="2778075"/>
              <a:ext cx="1706700" cy="1087500"/>
            </a:xfrm>
            <a:prstGeom prst="straightConnector1">
              <a:avLst/>
            </a:prstGeom>
            <a:noFill/>
            <a:ln cap="flat" cmpd="sng" w="28575">
              <a:solidFill>
                <a:schemeClr val="dk1"/>
              </a:solidFill>
              <a:prstDash val="solid"/>
              <a:round/>
              <a:headEnd len="med" w="med" type="none"/>
              <a:tailEnd len="med" w="med" type="none"/>
            </a:ln>
          </p:spPr>
        </p:cxnSp>
        <p:sp>
          <p:nvSpPr>
            <p:cNvPr id="1663" name="Google Shape;1663;p100"/>
            <p:cNvSpPr txBox="1"/>
            <p:nvPr/>
          </p:nvSpPr>
          <p:spPr>
            <a:xfrm>
              <a:off x="6991050" y="3225150"/>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 cm</a:t>
              </a:r>
              <a:endParaRPr sz="1800">
                <a:solidFill>
                  <a:schemeClr val="dk1"/>
                </a:solidFill>
                <a:latin typeface="Lexend"/>
                <a:ea typeface="Lexend"/>
                <a:cs typeface="Lexend"/>
                <a:sym typeface="Lexend"/>
              </a:endParaRPr>
            </a:p>
          </p:txBody>
        </p:sp>
        <p:cxnSp>
          <p:nvCxnSpPr>
            <p:cNvPr id="1664" name="Google Shape;1664;p100"/>
            <p:cNvCxnSpPr>
              <a:stCxn id="1652" idx="2"/>
            </p:cNvCxnSpPr>
            <p:nvPr/>
          </p:nvCxnSpPr>
          <p:spPr>
            <a:xfrm flipH="1" rot="10800000">
              <a:off x="4146521" y="2778125"/>
              <a:ext cx="3747300" cy="1091100"/>
            </a:xfrm>
            <a:prstGeom prst="straightConnector1">
              <a:avLst/>
            </a:prstGeom>
            <a:noFill/>
            <a:ln cap="flat" cmpd="sng" w="28575">
              <a:solidFill>
                <a:schemeClr val="dk1"/>
              </a:solidFill>
              <a:prstDash val="solid"/>
              <a:round/>
              <a:headEnd len="med" w="med" type="none"/>
              <a:tailEnd len="med" w="med" type="none"/>
            </a:ln>
          </p:spPr>
        </p:cxnSp>
        <p:cxnSp>
          <p:nvCxnSpPr>
            <p:cNvPr id="1665" name="Google Shape;1665;p100"/>
            <p:cNvCxnSpPr/>
            <p:nvPr/>
          </p:nvCxnSpPr>
          <p:spPr>
            <a:xfrm>
              <a:off x="5169650" y="3798475"/>
              <a:ext cx="0" cy="132300"/>
            </a:xfrm>
            <a:prstGeom prst="straightConnector1">
              <a:avLst/>
            </a:prstGeom>
            <a:noFill/>
            <a:ln cap="flat" cmpd="sng" w="28575">
              <a:solidFill>
                <a:schemeClr val="dk1"/>
              </a:solidFill>
              <a:prstDash val="solid"/>
              <a:round/>
              <a:headEnd len="med" w="med" type="none"/>
              <a:tailEnd len="med" w="med" type="none"/>
            </a:ln>
          </p:spPr>
        </p:cxnSp>
        <p:cxnSp>
          <p:nvCxnSpPr>
            <p:cNvPr id="1666" name="Google Shape;1666;p100"/>
            <p:cNvCxnSpPr/>
            <p:nvPr/>
          </p:nvCxnSpPr>
          <p:spPr>
            <a:xfrm>
              <a:off x="6962450" y="3292000"/>
              <a:ext cx="102000" cy="113100"/>
            </a:xfrm>
            <a:prstGeom prst="straightConnector1">
              <a:avLst/>
            </a:prstGeom>
            <a:noFill/>
            <a:ln cap="flat" cmpd="sng" w="28575">
              <a:solidFill>
                <a:schemeClr val="dk1"/>
              </a:solidFill>
              <a:prstDash val="solid"/>
              <a:round/>
              <a:headEnd len="med" w="med" type="none"/>
              <a:tailEnd len="med" w="med" type="none"/>
            </a:ln>
          </p:spPr>
        </p:cxnSp>
      </p:grpSp>
      <p:grpSp>
        <p:nvGrpSpPr>
          <p:cNvPr id="1667" name="Google Shape;1667;p100"/>
          <p:cNvGrpSpPr/>
          <p:nvPr/>
        </p:nvGrpSpPr>
        <p:grpSpPr>
          <a:xfrm>
            <a:off x="4146521" y="2171500"/>
            <a:ext cx="3568379" cy="1760233"/>
            <a:chOff x="4146521" y="2170542"/>
            <a:chExt cx="3568379" cy="1760233"/>
          </a:xfrm>
        </p:grpSpPr>
        <p:cxnSp>
          <p:nvCxnSpPr>
            <p:cNvPr id="1668" name="Google Shape;1668;p100"/>
            <p:cNvCxnSpPr/>
            <p:nvPr/>
          </p:nvCxnSpPr>
          <p:spPr>
            <a:xfrm flipH="1" rot="10800000">
              <a:off x="6196550" y="2170542"/>
              <a:ext cx="1120500" cy="1707300"/>
            </a:xfrm>
            <a:prstGeom prst="straightConnector1">
              <a:avLst/>
            </a:prstGeom>
            <a:noFill/>
            <a:ln cap="flat" cmpd="sng" w="28575">
              <a:solidFill>
                <a:schemeClr val="dk1"/>
              </a:solidFill>
              <a:prstDash val="solid"/>
              <a:round/>
              <a:headEnd len="med" w="med" type="none"/>
              <a:tailEnd len="med" w="med" type="none"/>
            </a:ln>
          </p:spPr>
        </p:cxnSp>
        <p:sp>
          <p:nvSpPr>
            <p:cNvPr id="1669" name="Google Shape;1669;p100"/>
            <p:cNvSpPr txBox="1"/>
            <p:nvPr/>
          </p:nvSpPr>
          <p:spPr>
            <a:xfrm>
              <a:off x="6778600" y="2819813"/>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 cm</a:t>
              </a:r>
              <a:endParaRPr sz="1800">
                <a:solidFill>
                  <a:schemeClr val="dk1"/>
                </a:solidFill>
                <a:latin typeface="Lexend"/>
                <a:ea typeface="Lexend"/>
                <a:cs typeface="Lexend"/>
                <a:sym typeface="Lexend"/>
              </a:endParaRPr>
            </a:p>
          </p:txBody>
        </p:sp>
        <p:cxnSp>
          <p:nvCxnSpPr>
            <p:cNvPr id="1670" name="Google Shape;1670;p100"/>
            <p:cNvCxnSpPr/>
            <p:nvPr/>
          </p:nvCxnSpPr>
          <p:spPr>
            <a:xfrm flipH="1" rot="10800000">
              <a:off x="4146521" y="2173925"/>
              <a:ext cx="3161400" cy="1695300"/>
            </a:xfrm>
            <a:prstGeom prst="straightConnector1">
              <a:avLst/>
            </a:prstGeom>
            <a:noFill/>
            <a:ln cap="flat" cmpd="sng" w="28575">
              <a:solidFill>
                <a:schemeClr val="dk1"/>
              </a:solidFill>
              <a:prstDash val="solid"/>
              <a:round/>
              <a:headEnd len="med" w="med" type="none"/>
              <a:tailEnd len="med" w="med" type="none"/>
            </a:ln>
          </p:spPr>
        </p:cxnSp>
        <p:cxnSp>
          <p:nvCxnSpPr>
            <p:cNvPr id="1671" name="Google Shape;1671;p100"/>
            <p:cNvCxnSpPr/>
            <p:nvPr/>
          </p:nvCxnSpPr>
          <p:spPr>
            <a:xfrm>
              <a:off x="5169650" y="3798475"/>
              <a:ext cx="0" cy="132300"/>
            </a:xfrm>
            <a:prstGeom prst="straightConnector1">
              <a:avLst/>
            </a:prstGeom>
            <a:noFill/>
            <a:ln cap="flat" cmpd="sng" w="28575">
              <a:solidFill>
                <a:schemeClr val="dk1"/>
              </a:solidFill>
              <a:prstDash val="solid"/>
              <a:round/>
              <a:headEnd len="med" w="med" type="none"/>
              <a:tailEnd len="med" w="med" type="none"/>
            </a:ln>
          </p:spPr>
        </p:cxnSp>
        <p:cxnSp>
          <p:nvCxnSpPr>
            <p:cNvPr id="1672" name="Google Shape;1672;p100"/>
            <p:cNvCxnSpPr/>
            <p:nvPr/>
          </p:nvCxnSpPr>
          <p:spPr>
            <a:xfrm>
              <a:off x="6694742" y="2954316"/>
              <a:ext cx="120900" cy="103200"/>
            </a:xfrm>
            <a:prstGeom prst="straightConnector1">
              <a:avLst/>
            </a:prstGeom>
            <a:noFill/>
            <a:ln cap="flat" cmpd="sng" w="28575">
              <a:solidFill>
                <a:schemeClr val="dk1"/>
              </a:solidFill>
              <a:prstDash val="solid"/>
              <a:round/>
              <a:headEnd len="med" w="med" type="none"/>
              <a:tailEnd len="med" w="med" type="none"/>
            </a:ln>
          </p:spPr>
        </p:cxnSp>
      </p:grpSp>
      <p:grpSp>
        <p:nvGrpSpPr>
          <p:cNvPr id="1673" name="Google Shape;1673;p100"/>
          <p:cNvGrpSpPr/>
          <p:nvPr/>
        </p:nvGrpSpPr>
        <p:grpSpPr>
          <a:xfrm>
            <a:off x="4146521" y="1841442"/>
            <a:ext cx="2938679" cy="2081833"/>
            <a:chOff x="4146521" y="1848942"/>
            <a:chExt cx="2938679" cy="2081833"/>
          </a:xfrm>
        </p:grpSpPr>
        <p:cxnSp>
          <p:nvCxnSpPr>
            <p:cNvPr id="1674" name="Google Shape;1674;p100"/>
            <p:cNvCxnSpPr/>
            <p:nvPr/>
          </p:nvCxnSpPr>
          <p:spPr>
            <a:xfrm rot="10800000">
              <a:off x="6048350" y="1848942"/>
              <a:ext cx="148200" cy="2028900"/>
            </a:xfrm>
            <a:prstGeom prst="straightConnector1">
              <a:avLst/>
            </a:prstGeom>
            <a:noFill/>
            <a:ln cap="flat" cmpd="sng" w="28575">
              <a:solidFill>
                <a:schemeClr val="dk1"/>
              </a:solidFill>
              <a:prstDash val="solid"/>
              <a:round/>
              <a:headEnd len="med" w="med" type="none"/>
              <a:tailEnd len="med" w="med" type="none"/>
            </a:ln>
          </p:spPr>
        </p:cxnSp>
        <p:sp>
          <p:nvSpPr>
            <p:cNvPr id="1675" name="Google Shape;1675;p100"/>
            <p:cNvSpPr txBox="1"/>
            <p:nvPr/>
          </p:nvSpPr>
          <p:spPr>
            <a:xfrm>
              <a:off x="6148900" y="2579238"/>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 cm</a:t>
              </a:r>
              <a:endParaRPr sz="1800">
                <a:solidFill>
                  <a:schemeClr val="dk1"/>
                </a:solidFill>
                <a:latin typeface="Lexend"/>
                <a:ea typeface="Lexend"/>
                <a:cs typeface="Lexend"/>
                <a:sym typeface="Lexend"/>
              </a:endParaRPr>
            </a:p>
          </p:txBody>
        </p:sp>
        <p:cxnSp>
          <p:nvCxnSpPr>
            <p:cNvPr id="1676" name="Google Shape;1676;p100"/>
            <p:cNvCxnSpPr/>
            <p:nvPr/>
          </p:nvCxnSpPr>
          <p:spPr>
            <a:xfrm flipH="1" rot="10800000">
              <a:off x="4146521" y="1854425"/>
              <a:ext cx="1907100" cy="2014800"/>
            </a:xfrm>
            <a:prstGeom prst="straightConnector1">
              <a:avLst/>
            </a:prstGeom>
            <a:noFill/>
            <a:ln cap="flat" cmpd="sng" w="28575">
              <a:solidFill>
                <a:schemeClr val="dk1"/>
              </a:solidFill>
              <a:prstDash val="solid"/>
              <a:round/>
              <a:headEnd len="med" w="med" type="none"/>
              <a:tailEnd len="med" w="med" type="none"/>
            </a:ln>
          </p:spPr>
        </p:cxnSp>
        <p:cxnSp>
          <p:nvCxnSpPr>
            <p:cNvPr id="1677" name="Google Shape;1677;p100"/>
            <p:cNvCxnSpPr/>
            <p:nvPr/>
          </p:nvCxnSpPr>
          <p:spPr>
            <a:xfrm>
              <a:off x="5169650" y="3798475"/>
              <a:ext cx="0" cy="132300"/>
            </a:xfrm>
            <a:prstGeom prst="straightConnector1">
              <a:avLst/>
            </a:prstGeom>
            <a:noFill/>
            <a:ln cap="flat" cmpd="sng" w="28575">
              <a:solidFill>
                <a:schemeClr val="dk1"/>
              </a:solidFill>
              <a:prstDash val="solid"/>
              <a:round/>
              <a:headEnd len="med" w="med" type="none"/>
              <a:tailEnd len="med" w="med" type="none"/>
            </a:ln>
          </p:spPr>
        </p:cxnSp>
        <p:cxnSp>
          <p:nvCxnSpPr>
            <p:cNvPr id="1678" name="Google Shape;1678;p100"/>
            <p:cNvCxnSpPr/>
            <p:nvPr/>
          </p:nvCxnSpPr>
          <p:spPr>
            <a:xfrm>
              <a:off x="6044000" y="2840016"/>
              <a:ext cx="141900" cy="0"/>
            </a:xfrm>
            <a:prstGeom prst="straightConnector1">
              <a:avLst/>
            </a:prstGeom>
            <a:noFill/>
            <a:ln cap="flat" cmpd="sng" w="28575">
              <a:solidFill>
                <a:schemeClr val="dk1"/>
              </a:solidFill>
              <a:prstDash val="solid"/>
              <a:round/>
              <a:headEnd len="med" w="med" type="none"/>
              <a:tailEnd len="med" w="med" type="none"/>
            </a:ln>
          </p:spPr>
        </p:cxnSp>
      </p:grpSp>
      <p:grpSp>
        <p:nvGrpSpPr>
          <p:cNvPr id="1679" name="Google Shape;1679;p100"/>
          <p:cNvGrpSpPr/>
          <p:nvPr/>
        </p:nvGrpSpPr>
        <p:grpSpPr>
          <a:xfrm>
            <a:off x="4146521" y="2682725"/>
            <a:ext cx="2050029" cy="1240550"/>
            <a:chOff x="4146521" y="2690225"/>
            <a:chExt cx="2050029" cy="1240550"/>
          </a:xfrm>
        </p:grpSpPr>
        <p:cxnSp>
          <p:nvCxnSpPr>
            <p:cNvPr id="1680" name="Google Shape;1680;p100"/>
            <p:cNvCxnSpPr/>
            <p:nvPr/>
          </p:nvCxnSpPr>
          <p:spPr>
            <a:xfrm rot="10800000">
              <a:off x="4534850" y="2700942"/>
              <a:ext cx="1661700" cy="1176900"/>
            </a:xfrm>
            <a:prstGeom prst="straightConnector1">
              <a:avLst/>
            </a:prstGeom>
            <a:noFill/>
            <a:ln cap="flat" cmpd="sng" w="28575">
              <a:solidFill>
                <a:schemeClr val="dk1"/>
              </a:solidFill>
              <a:prstDash val="solid"/>
              <a:round/>
              <a:headEnd len="med" w="med" type="none"/>
              <a:tailEnd len="med" w="med" type="none"/>
            </a:ln>
          </p:spPr>
        </p:cxnSp>
        <p:sp>
          <p:nvSpPr>
            <p:cNvPr id="1681" name="Google Shape;1681;p100"/>
            <p:cNvSpPr txBox="1"/>
            <p:nvPr/>
          </p:nvSpPr>
          <p:spPr>
            <a:xfrm>
              <a:off x="5228175" y="2869550"/>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 cm</a:t>
              </a:r>
              <a:endParaRPr sz="1800">
                <a:solidFill>
                  <a:schemeClr val="dk1"/>
                </a:solidFill>
                <a:latin typeface="Lexend"/>
                <a:ea typeface="Lexend"/>
                <a:cs typeface="Lexend"/>
                <a:sym typeface="Lexend"/>
              </a:endParaRPr>
            </a:p>
          </p:txBody>
        </p:sp>
        <p:cxnSp>
          <p:nvCxnSpPr>
            <p:cNvPr id="1682" name="Google Shape;1682;p100"/>
            <p:cNvCxnSpPr/>
            <p:nvPr/>
          </p:nvCxnSpPr>
          <p:spPr>
            <a:xfrm flipH="1" rot="10800000">
              <a:off x="4146521" y="2690225"/>
              <a:ext cx="388500" cy="1179000"/>
            </a:xfrm>
            <a:prstGeom prst="straightConnector1">
              <a:avLst/>
            </a:prstGeom>
            <a:noFill/>
            <a:ln cap="flat" cmpd="sng" w="28575">
              <a:solidFill>
                <a:schemeClr val="dk1"/>
              </a:solidFill>
              <a:prstDash val="solid"/>
              <a:round/>
              <a:headEnd len="med" w="med" type="none"/>
              <a:tailEnd len="med" w="med" type="none"/>
            </a:ln>
          </p:spPr>
        </p:cxnSp>
        <p:cxnSp>
          <p:nvCxnSpPr>
            <p:cNvPr id="1683" name="Google Shape;1683;p100"/>
            <p:cNvCxnSpPr/>
            <p:nvPr/>
          </p:nvCxnSpPr>
          <p:spPr>
            <a:xfrm>
              <a:off x="5169650" y="3798475"/>
              <a:ext cx="0" cy="132300"/>
            </a:xfrm>
            <a:prstGeom prst="straightConnector1">
              <a:avLst/>
            </a:prstGeom>
            <a:noFill/>
            <a:ln cap="flat" cmpd="sng" w="28575">
              <a:solidFill>
                <a:schemeClr val="dk1"/>
              </a:solidFill>
              <a:prstDash val="solid"/>
              <a:round/>
              <a:headEnd len="med" w="med" type="none"/>
              <a:tailEnd len="med" w="med" type="none"/>
            </a:ln>
          </p:spPr>
        </p:cxnSp>
        <p:cxnSp>
          <p:nvCxnSpPr>
            <p:cNvPr id="1684" name="Google Shape;1684;p100"/>
            <p:cNvCxnSpPr/>
            <p:nvPr/>
          </p:nvCxnSpPr>
          <p:spPr>
            <a:xfrm flipH="1" rot="10800000">
              <a:off x="5228175" y="3156058"/>
              <a:ext cx="79200" cy="116400"/>
            </a:xfrm>
            <a:prstGeom prst="straightConnector1">
              <a:avLst/>
            </a:prstGeom>
            <a:noFill/>
            <a:ln cap="flat" cmpd="sng" w="28575">
              <a:solidFill>
                <a:schemeClr val="dk1"/>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6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8" name="Shape 1688"/>
        <p:cNvGrpSpPr/>
        <p:nvPr/>
      </p:nvGrpSpPr>
      <p:grpSpPr>
        <a:xfrm>
          <a:off x="0" y="0"/>
          <a:ext cx="0" cy="0"/>
          <a:chOff x="0" y="0"/>
          <a:chExt cx="0" cy="0"/>
        </a:xfrm>
      </p:grpSpPr>
      <p:sp>
        <p:nvSpPr>
          <p:cNvPr id="1689" name="Google Shape;1689;p101"/>
          <p:cNvSpPr txBox="1"/>
          <p:nvPr>
            <p:ph idx="1" type="body"/>
          </p:nvPr>
        </p:nvSpPr>
        <p:spPr>
          <a:xfrm>
            <a:off x="324000" y="759300"/>
            <a:ext cx="8425200" cy="736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If we can construct scalene and isosceles triangles, then we can construct an equilateral triangle as well.</a:t>
            </a:r>
            <a:endParaRPr sz="1800"/>
          </a:p>
          <a:p>
            <a:pPr indent="0" lvl="0" marL="0" rtl="0" algn="l">
              <a:spcBef>
                <a:spcPts val="1000"/>
              </a:spcBef>
              <a:spcAft>
                <a:spcPts val="1000"/>
              </a:spcAft>
              <a:buNone/>
            </a:pPr>
            <a:r>
              <a:rPr lang="en-GB" sz="1800"/>
              <a:t>By definition an equilateral triangle has equal edges; it is a </a:t>
            </a:r>
            <a:r>
              <a:rPr lang="en-GB" sz="1800">
                <a:solidFill>
                  <a:schemeClr val="accent5"/>
                </a:solidFill>
              </a:rPr>
              <a:t>regular </a:t>
            </a:r>
            <a:r>
              <a:rPr lang="en-GB" sz="1800"/>
              <a:t>triangle.</a:t>
            </a:r>
            <a:endParaRPr sz="1800"/>
          </a:p>
        </p:txBody>
      </p:sp>
      <p:sp>
        <p:nvSpPr>
          <p:cNvPr id="1690" name="Google Shape;1690;p10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pic>
        <p:nvPicPr>
          <p:cNvPr id="1691" name="Google Shape;1691;p101"/>
          <p:cNvPicPr preferRelativeResize="0"/>
          <p:nvPr/>
        </p:nvPicPr>
        <p:blipFill rotWithShape="1">
          <a:blip r:embed="rId3">
            <a:alphaModFix/>
          </a:blip>
          <a:srcRect b="0" l="0" r="0" t="0"/>
          <a:stretch/>
        </p:blipFill>
        <p:spPr>
          <a:xfrm rot="29">
            <a:off x="3390853" y="4201639"/>
            <a:ext cx="4506115" cy="430635"/>
          </a:xfrm>
          <a:prstGeom prst="rect">
            <a:avLst/>
          </a:prstGeom>
          <a:noFill/>
          <a:ln>
            <a:noFill/>
          </a:ln>
        </p:spPr>
      </p:pic>
      <p:pic>
        <p:nvPicPr>
          <p:cNvPr id="1692" name="Google Shape;1692;p101"/>
          <p:cNvPicPr preferRelativeResize="0"/>
          <p:nvPr/>
        </p:nvPicPr>
        <p:blipFill rotWithShape="1">
          <a:blip r:embed="rId4">
            <a:alphaModFix/>
          </a:blip>
          <a:srcRect b="0" l="0" r="0" t="0"/>
          <a:stretch/>
        </p:blipFill>
        <p:spPr>
          <a:xfrm>
            <a:off x="3525541" y="2948976"/>
            <a:ext cx="522425" cy="1221450"/>
          </a:xfrm>
          <a:prstGeom prst="rect">
            <a:avLst/>
          </a:prstGeom>
          <a:noFill/>
          <a:ln>
            <a:noFill/>
          </a:ln>
        </p:spPr>
      </p:pic>
      <p:cxnSp>
        <p:nvCxnSpPr>
          <p:cNvPr id="1693" name="Google Shape;1693;p101"/>
          <p:cNvCxnSpPr/>
          <p:nvPr/>
        </p:nvCxnSpPr>
        <p:spPr>
          <a:xfrm>
            <a:off x="3534257" y="4180043"/>
            <a:ext cx="1969500" cy="0"/>
          </a:xfrm>
          <a:prstGeom prst="straightConnector1">
            <a:avLst/>
          </a:prstGeom>
          <a:noFill/>
          <a:ln cap="flat" cmpd="sng" w="28575">
            <a:solidFill>
              <a:schemeClr val="dk1"/>
            </a:solidFill>
            <a:prstDash val="solid"/>
            <a:round/>
            <a:headEnd len="med" w="med" type="none"/>
            <a:tailEnd len="med" w="med" type="none"/>
          </a:ln>
        </p:spPr>
      </p:cxnSp>
      <p:pic>
        <p:nvPicPr>
          <p:cNvPr id="1694" name="Google Shape;1694;p101"/>
          <p:cNvPicPr preferRelativeResize="0"/>
          <p:nvPr/>
        </p:nvPicPr>
        <p:blipFill rotWithShape="1">
          <a:blip r:embed="rId4">
            <a:alphaModFix/>
          </a:blip>
          <a:srcRect b="0" l="0" r="0" t="0"/>
          <a:stretch/>
        </p:blipFill>
        <p:spPr>
          <a:xfrm>
            <a:off x="5494959" y="2960226"/>
            <a:ext cx="522425" cy="1221450"/>
          </a:xfrm>
          <a:prstGeom prst="rect">
            <a:avLst/>
          </a:prstGeom>
          <a:noFill/>
          <a:ln>
            <a:noFill/>
          </a:ln>
        </p:spPr>
      </p:pic>
      <p:sp>
        <p:nvSpPr>
          <p:cNvPr id="1695" name="Google Shape;1695;p101"/>
          <p:cNvSpPr txBox="1"/>
          <p:nvPr/>
        </p:nvSpPr>
        <p:spPr>
          <a:xfrm>
            <a:off x="4176775" y="4086900"/>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696" name="Google Shape;1696;p101"/>
          <p:cNvSpPr txBox="1"/>
          <p:nvPr/>
        </p:nvSpPr>
        <p:spPr>
          <a:xfrm>
            <a:off x="238125" y="1840250"/>
            <a:ext cx="2493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We can set up the pair of compasses using the base edge.</a:t>
            </a:r>
            <a:endParaRPr sz="1800">
              <a:solidFill>
                <a:schemeClr val="dk1"/>
              </a:solidFill>
              <a:latin typeface="Lexend"/>
              <a:ea typeface="Lexend"/>
              <a:cs typeface="Lexend"/>
              <a:sym typeface="Lexend"/>
            </a:endParaRPr>
          </a:p>
        </p:txBody>
      </p:sp>
      <p:grpSp>
        <p:nvGrpSpPr>
          <p:cNvPr id="1697" name="Google Shape;1697;p101"/>
          <p:cNvGrpSpPr/>
          <p:nvPr/>
        </p:nvGrpSpPr>
        <p:grpSpPr>
          <a:xfrm flipH="1">
            <a:off x="3104132" y="1910434"/>
            <a:ext cx="1258204" cy="2376688"/>
            <a:chOff x="4045431" y="1513250"/>
            <a:chExt cx="2005105" cy="3787550"/>
          </a:xfrm>
        </p:grpSpPr>
        <p:pic>
          <p:nvPicPr>
            <p:cNvPr id="1698" name="Google Shape;1698;p101"/>
            <p:cNvPicPr preferRelativeResize="0"/>
            <p:nvPr/>
          </p:nvPicPr>
          <p:blipFill rotWithShape="1">
            <a:blip r:embed="rId5">
              <a:alphaModFix/>
            </a:blip>
            <a:srcRect b="7544" l="11418" r="67020" t="29160"/>
            <a:stretch/>
          </p:blipFill>
          <p:spPr>
            <a:xfrm rot="-946096">
              <a:off x="4385717" y="2528744"/>
              <a:ext cx="1158240" cy="2664823"/>
            </a:xfrm>
            <a:prstGeom prst="rect">
              <a:avLst/>
            </a:prstGeom>
            <a:noFill/>
            <a:ln>
              <a:noFill/>
            </a:ln>
          </p:spPr>
        </p:pic>
        <p:pic>
          <p:nvPicPr>
            <p:cNvPr id="1699" name="Google Shape;1699;p101"/>
            <p:cNvPicPr preferRelativeResize="0"/>
            <p:nvPr/>
          </p:nvPicPr>
          <p:blipFill rotWithShape="1">
            <a:blip r:embed="rId5">
              <a:alphaModFix/>
            </a:blip>
            <a:srcRect b="9195" l="63130" r="21307" t="30824"/>
            <a:stretch/>
          </p:blipFill>
          <p:spPr>
            <a:xfrm rot="876952">
              <a:off x="4909437" y="2624675"/>
              <a:ext cx="836023" cy="2525214"/>
            </a:xfrm>
            <a:prstGeom prst="rect">
              <a:avLst/>
            </a:prstGeom>
            <a:noFill/>
            <a:ln>
              <a:noFill/>
            </a:ln>
          </p:spPr>
        </p:pic>
        <p:pic>
          <p:nvPicPr>
            <p:cNvPr id="1700" name="Google Shape;1700;p101"/>
            <p:cNvPicPr preferRelativeResize="0"/>
            <p:nvPr/>
          </p:nvPicPr>
          <p:blipFill rotWithShape="1">
            <a:blip r:embed="rId5">
              <a:alphaModFix/>
            </a:blip>
            <a:srcRect b="60188" l="45056" r="46189" t="8784"/>
            <a:stretch/>
          </p:blipFill>
          <p:spPr>
            <a:xfrm>
              <a:off x="5016136" y="1513250"/>
              <a:ext cx="470263" cy="1306286"/>
            </a:xfrm>
            <a:prstGeom prst="rect">
              <a:avLst/>
            </a:prstGeom>
            <a:noFill/>
            <a:ln>
              <a:noFill/>
            </a:ln>
          </p:spPr>
        </p:pic>
      </p:grpSp>
      <p:grpSp>
        <p:nvGrpSpPr>
          <p:cNvPr id="1701" name="Google Shape;1701;p101"/>
          <p:cNvGrpSpPr/>
          <p:nvPr/>
        </p:nvGrpSpPr>
        <p:grpSpPr>
          <a:xfrm flipH="1">
            <a:off x="3456387" y="2160983"/>
            <a:ext cx="2381388" cy="2251493"/>
            <a:chOff x="1677241" y="1044466"/>
            <a:chExt cx="3711640" cy="3509185"/>
          </a:xfrm>
        </p:grpSpPr>
        <p:pic>
          <p:nvPicPr>
            <p:cNvPr id="1702" name="Google Shape;1702;p101"/>
            <p:cNvPicPr preferRelativeResize="0"/>
            <p:nvPr/>
          </p:nvPicPr>
          <p:blipFill rotWithShape="1">
            <a:blip r:embed="rId5">
              <a:alphaModFix/>
            </a:blip>
            <a:srcRect b="7544" l="11418" r="67020" t="29160"/>
            <a:stretch/>
          </p:blipFill>
          <p:spPr>
            <a:xfrm rot="1496815">
              <a:off x="2185190" y="1710387"/>
              <a:ext cx="1158242" cy="2664824"/>
            </a:xfrm>
            <a:prstGeom prst="rect">
              <a:avLst/>
            </a:prstGeom>
            <a:noFill/>
            <a:ln>
              <a:noFill/>
            </a:ln>
          </p:spPr>
        </p:pic>
        <p:pic>
          <p:nvPicPr>
            <p:cNvPr id="1703" name="Google Shape;1703;p101"/>
            <p:cNvPicPr preferRelativeResize="0"/>
            <p:nvPr/>
          </p:nvPicPr>
          <p:blipFill rotWithShape="1">
            <a:blip r:embed="rId5">
              <a:alphaModFix/>
            </a:blip>
            <a:srcRect b="9195" l="63130" r="21307" t="30824"/>
            <a:stretch/>
          </p:blipFill>
          <p:spPr>
            <a:xfrm rot="-1227394">
              <a:off x="4035924" y="1760499"/>
              <a:ext cx="906107" cy="2720595"/>
            </a:xfrm>
            <a:prstGeom prst="rect">
              <a:avLst/>
            </a:prstGeom>
            <a:noFill/>
            <a:ln>
              <a:noFill/>
            </a:ln>
          </p:spPr>
        </p:pic>
        <p:pic>
          <p:nvPicPr>
            <p:cNvPr id="1704" name="Google Shape;1704;p101"/>
            <p:cNvPicPr preferRelativeResize="0"/>
            <p:nvPr/>
          </p:nvPicPr>
          <p:blipFill rotWithShape="1">
            <a:blip r:embed="rId5">
              <a:alphaModFix/>
            </a:blip>
            <a:srcRect b="60188" l="45056" r="46189" t="8784"/>
            <a:stretch/>
          </p:blipFill>
          <p:spPr>
            <a:xfrm>
              <a:off x="3565420" y="1044466"/>
              <a:ext cx="470263" cy="1306286"/>
            </a:xfrm>
            <a:prstGeom prst="rect">
              <a:avLst/>
            </a:prstGeom>
            <a:noFill/>
            <a:ln>
              <a:noFill/>
            </a:ln>
          </p:spPr>
        </p:pic>
      </p:grpSp>
      <p:sp>
        <p:nvSpPr>
          <p:cNvPr id="1705" name="Google Shape;1705;p101"/>
          <p:cNvSpPr/>
          <p:nvPr/>
        </p:nvSpPr>
        <p:spPr>
          <a:xfrm>
            <a:off x="1556550" y="2210850"/>
            <a:ext cx="3938400" cy="3938400"/>
          </a:xfrm>
          <a:prstGeom prst="arc">
            <a:avLst>
              <a:gd fmla="val 16200000" name="adj1"/>
              <a:gd fmla="val 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706" name="Google Shape;1706;p101"/>
          <p:cNvGrpSpPr/>
          <p:nvPr/>
        </p:nvGrpSpPr>
        <p:grpSpPr>
          <a:xfrm flipH="1" rot="-5400000">
            <a:off x="1467462" y="1944740"/>
            <a:ext cx="2381388" cy="2251493"/>
            <a:chOff x="1677241" y="1044466"/>
            <a:chExt cx="3711640" cy="3509185"/>
          </a:xfrm>
        </p:grpSpPr>
        <p:pic>
          <p:nvPicPr>
            <p:cNvPr id="1707" name="Google Shape;1707;p101"/>
            <p:cNvPicPr preferRelativeResize="0"/>
            <p:nvPr/>
          </p:nvPicPr>
          <p:blipFill rotWithShape="1">
            <a:blip r:embed="rId5">
              <a:alphaModFix/>
            </a:blip>
            <a:srcRect b="7544" l="11418" r="67020" t="29160"/>
            <a:stretch/>
          </p:blipFill>
          <p:spPr>
            <a:xfrm rot="1496815">
              <a:off x="2185190" y="1710387"/>
              <a:ext cx="1158242" cy="2664824"/>
            </a:xfrm>
            <a:prstGeom prst="rect">
              <a:avLst/>
            </a:prstGeom>
            <a:noFill/>
            <a:ln>
              <a:noFill/>
            </a:ln>
          </p:spPr>
        </p:pic>
        <p:pic>
          <p:nvPicPr>
            <p:cNvPr id="1708" name="Google Shape;1708;p101"/>
            <p:cNvPicPr preferRelativeResize="0"/>
            <p:nvPr/>
          </p:nvPicPr>
          <p:blipFill rotWithShape="1">
            <a:blip r:embed="rId5">
              <a:alphaModFix/>
            </a:blip>
            <a:srcRect b="9195" l="63130" r="21307" t="30824"/>
            <a:stretch/>
          </p:blipFill>
          <p:spPr>
            <a:xfrm rot="-1227394">
              <a:off x="4035924" y="1760499"/>
              <a:ext cx="906107" cy="2720595"/>
            </a:xfrm>
            <a:prstGeom prst="rect">
              <a:avLst/>
            </a:prstGeom>
            <a:noFill/>
            <a:ln>
              <a:noFill/>
            </a:ln>
          </p:spPr>
        </p:pic>
        <p:pic>
          <p:nvPicPr>
            <p:cNvPr id="1709" name="Google Shape;1709;p101"/>
            <p:cNvPicPr preferRelativeResize="0"/>
            <p:nvPr/>
          </p:nvPicPr>
          <p:blipFill rotWithShape="1">
            <a:blip r:embed="rId5">
              <a:alphaModFix/>
            </a:blip>
            <a:srcRect b="60188" l="45056" r="46189" t="8784"/>
            <a:stretch/>
          </p:blipFill>
          <p:spPr>
            <a:xfrm>
              <a:off x="3565420" y="1044466"/>
              <a:ext cx="470263" cy="1306286"/>
            </a:xfrm>
            <a:prstGeom prst="rect">
              <a:avLst/>
            </a:prstGeom>
            <a:noFill/>
            <a:ln>
              <a:noFill/>
            </a:ln>
          </p:spPr>
        </p:pic>
      </p:grpSp>
      <p:grpSp>
        <p:nvGrpSpPr>
          <p:cNvPr id="1710" name="Google Shape;1710;p101"/>
          <p:cNvGrpSpPr/>
          <p:nvPr/>
        </p:nvGrpSpPr>
        <p:grpSpPr>
          <a:xfrm>
            <a:off x="3193839" y="2179844"/>
            <a:ext cx="2381388" cy="2251493"/>
            <a:chOff x="1677241" y="1044466"/>
            <a:chExt cx="3711640" cy="3509185"/>
          </a:xfrm>
        </p:grpSpPr>
        <p:pic>
          <p:nvPicPr>
            <p:cNvPr id="1711" name="Google Shape;1711;p101"/>
            <p:cNvPicPr preferRelativeResize="0"/>
            <p:nvPr/>
          </p:nvPicPr>
          <p:blipFill rotWithShape="1">
            <a:blip r:embed="rId5">
              <a:alphaModFix/>
            </a:blip>
            <a:srcRect b="7544" l="11418" r="67020" t="29160"/>
            <a:stretch/>
          </p:blipFill>
          <p:spPr>
            <a:xfrm rot="1496815">
              <a:off x="2185190" y="1710387"/>
              <a:ext cx="1158242" cy="2664824"/>
            </a:xfrm>
            <a:prstGeom prst="rect">
              <a:avLst/>
            </a:prstGeom>
            <a:noFill/>
            <a:ln>
              <a:noFill/>
            </a:ln>
          </p:spPr>
        </p:pic>
        <p:pic>
          <p:nvPicPr>
            <p:cNvPr id="1712" name="Google Shape;1712;p101"/>
            <p:cNvPicPr preferRelativeResize="0"/>
            <p:nvPr/>
          </p:nvPicPr>
          <p:blipFill rotWithShape="1">
            <a:blip r:embed="rId5">
              <a:alphaModFix/>
            </a:blip>
            <a:srcRect b="9195" l="63130" r="21307" t="30824"/>
            <a:stretch/>
          </p:blipFill>
          <p:spPr>
            <a:xfrm rot="-1227394">
              <a:off x="4035924" y="1760499"/>
              <a:ext cx="906107" cy="2720595"/>
            </a:xfrm>
            <a:prstGeom prst="rect">
              <a:avLst/>
            </a:prstGeom>
            <a:noFill/>
            <a:ln>
              <a:noFill/>
            </a:ln>
          </p:spPr>
        </p:pic>
        <p:pic>
          <p:nvPicPr>
            <p:cNvPr id="1713" name="Google Shape;1713;p101"/>
            <p:cNvPicPr preferRelativeResize="0"/>
            <p:nvPr/>
          </p:nvPicPr>
          <p:blipFill rotWithShape="1">
            <a:blip r:embed="rId5">
              <a:alphaModFix/>
            </a:blip>
            <a:srcRect b="60188" l="45056" r="46189" t="8784"/>
            <a:stretch/>
          </p:blipFill>
          <p:spPr>
            <a:xfrm>
              <a:off x="3565420" y="1044466"/>
              <a:ext cx="470263" cy="1306286"/>
            </a:xfrm>
            <a:prstGeom prst="rect">
              <a:avLst/>
            </a:prstGeom>
            <a:noFill/>
            <a:ln>
              <a:noFill/>
            </a:ln>
          </p:spPr>
        </p:pic>
      </p:grpSp>
      <p:sp>
        <p:nvSpPr>
          <p:cNvPr id="1714" name="Google Shape;1714;p101"/>
          <p:cNvSpPr/>
          <p:nvPr/>
        </p:nvSpPr>
        <p:spPr>
          <a:xfrm flipH="1">
            <a:off x="3537750" y="2210850"/>
            <a:ext cx="3938400" cy="3938400"/>
          </a:xfrm>
          <a:prstGeom prst="arc">
            <a:avLst>
              <a:gd fmla="val 16200000" name="adj1"/>
              <a:gd fmla="val 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715" name="Google Shape;1715;p101"/>
          <p:cNvGrpSpPr/>
          <p:nvPr/>
        </p:nvGrpSpPr>
        <p:grpSpPr>
          <a:xfrm rot="5400000">
            <a:off x="5182400" y="1944740"/>
            <a:ext cx="2381388" cy="2251493"/>
            <a:chOff x="1677241" y="1044466"/>
            <a:chExt cx="3711640" cy="3509185"/>
          </a:xfrm>
        </p:grpSpPr>
        <p:pic>
          <p:nvPicPr>
            <p:cNvPr id="1716" name="Google Shape;1716;p101"/>
            <p:cNvPicPr preferRelativeResize="0"/>
            <p:nvPr/>
          </p:nvPicPr>
          <p:blipFill rotWithShape="1">
            <a:blip r:embed="rId5">
              <a:alphaModFix/>
            </a:blip>
            <a:srcRect b="7544" l="11418" r="67020" t="29160"/>
            <a:stretch/>
          </p:blipFill>
          <p:spPr>
            <a:xfrm rot="1496815">
              <a:off x="2185190" y="1710387"/>
              <a:ext cx="1158242" cy="2664824"/>
            </a:xfrm>
            <a:prstGeom prst="rect">
              <a:avLst/>
            </a:prstGeom>
            <a:noFill/>
            <a:ln>
              <a:noFill/>
            </a:ln>
          </p:spPr>
        </p:pic>
        <p:pic>
          <p:nvPicPr>
            <p:cNvPr id="1717" name="Google Shape;1717;p101"/>
            <p:cNvPicPr preferRelativeResize="0"/>
            <p:nvPr/>
          </p:nvPicPr>
          <p:blipFill rotWithShape="1">
            <a:blip r:embed="rId5">
              <a:alphaModFix/>
            </a:blip>
            <a:srcRect b="9195" l="63130" r="21307" t="30824"/>
            <a:stretch/>
          </p:blipFill>
          <p:spPr>
            <a:xfrm rot="-1227394">
              <a:off x="4035924" y="1760499"/>
              <a:ext cx="906107" cy="2720595"/>
            </a:xfrm>
            <a:prstGeom prst="rect">
              <a:avLst/>
            </a:prstGeom>
            <a:noFill/>
            <a:ln>
              <a:noFill/>
            </a:ln>
          </p:spPr>
        </p:pic>
        <p:pic>
          <p:nvPicPr>
            <p:cNvPr id="1718" name="Google Shape;1718;p101"/>
            <p:cNvPicPr preferRelativeResize="0"/>
            <p:nvPr/>
          </p:nvPicPr>
          <p:blipFill rotWithShape="1">
            <a:blip r:embed="rId5">
              <a:alphaModFix/>
            </a:blip>
            <a:srcRect b="60188" l="45056" r="46189" t="8784"/>
            <a:stretch/>
          </p:blipFill>
          <p:spPr>
            <a:xfrm>
              <a:off x="3565420" y="1044466"/>
              <a:ext cx="470263" cy="1306286"/>
            </a:xfrm>
            <a:prstGeom prst="rect">
              <a:avLst/>
            </a:prstGeom>
            <a:noFill/>
            <a:ln>
              <a:noFill/>
            </a:ln>
          </p:spPr>
        </p:pic>
      </p:grpSp>
      <p:grpSp>
        <p:nvGrpSpPr>
          <p:cNvPr id="1719" name="Google Shape;1719;p101"/>
          <p:cNvGrpSpPr/>
          <p:nvPr/>
        </p:nvGrpSpPr>
        <p:grpSpPr>
          <a:xfrm>
            <a:off x="4453682" y="2418460"/>
            <a:ext cx="123900" cy="123900"/>
            <a:chOff x="630000" y="1882500"/>
            <a:chExt cx="123900" cy="123900"/>
          </a:xfrm>
        </p:grpSpPr>
        <p:cxnSp>
          <p:nvCxnSpPr>
            <p:cNvPr id="1720" name="Google Shape;1720;p101"/>
            <p:cNvCxnSpPr/>
            <p:nvPr/>
          </p:nvCxnSpPr>
          <p:spPr>
            <a:xfrm>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cxnSp>
          <p:nvCxnSpPr>
            <p:cNvPr id="1721" name="Google Shape;1721;p101"/>
            <p:cNvCxnSpPr/>
            <p:nvPr/>
          </p:nvCxnSpPr>
          <p:spPr>
            <a:xfrm rot="5400000">
              <a:off x="630000" y="1882500"/>
              <a:ext cx="123900" cy="123900"/>
            </a:xfrm>
            <a:prstGeom prst="straightConnector1">
              <a:avLst/>
            </a:prstGeom>
            <a:noFill/>
            <a:ln cap="flat" cmpd="sng" w="28575">
              <a:solidFill>
                <a:schemeClr val="dk1"/>
              </a:solidFill>
              <a:prstDash val="solid"/>
              <a:round/>
              <a:headEnd len="med" w="med" type="none"/>
              <a:tailEnd len="med" w="med" type="none"/>
            </a:ln>
          </p:spPr>
        </p:cxnSp>
      </p:grpSp>
      <p:cxnSp>
        <p:nvCxnSpPr>
          <p:cNvPr id="1722" name="Google Shape;1722;p101"/>
          <p:cNvCxnSpPr>
            <a:stCxn id="1714" idx="2"/>
          </p:cNvCxnSpPr>
          <p:nvPr/>
        </p:nvCxnSpPr>
        <p:spPr>
          <a:xfrm flipH="1" rot="10800000">
            <a:off x="3537750" y="2481750"/>
            <a:ext cx="985800" cy="1698300"/>
          </a:xfrm>
          <a:prstGeom prst="straightConnector1">
            <a:avLst/>
          </a:prstGeom>
          <a:noFill/>
          <a:ln cap="flat" cmpd="sng" w="28575">
            <a:solidFill>
              <a:schemeClr val="dk1"/>
            </a:solidFill>
            <a:prstDash val="solid"/>
            <a:round/>
            <a:headEnd len="med" w="med" type="none"/>
            <a:tailEnd len="med" w="med" type="none"/>
          </a:ln>
        </p:spPr>
      </p:cxnSp>
      <p:cxnSp>
        <p:nvCxnSpPr>
          <p:cNvPr id="1723" name="Google Shape;1723;p101"/>
          <p:cNvCxnSpPr/>
          <p:nvPr/>
        </p:nvCxnSpPr>
        <p:spPr>
          <a:xfrm rot="10800000">
            <a:off x="4520425" y="2484375"/>
            <a:ext cx="988200" cy="1710600"/>
          </a:xfrm>
          <a:prstGeom prst="straightConnector1">
            <a:avLst/>
          </a:prstGeom>
          <a:noFill/>
          <a:ln cap="flat" cmpd="sng" w="28575">
            <a:solidFill>
              <a:schemeClr val="dk1"/>
            </a:solidFill>
            <a:prstDash val="solid"/>
            <a:round/>
            <a:headEnd len="med" w="med" type="none"/>
            <a:tailEnd len="med" w="med" type="none"/>
          </a:ln>
        </p:spPr>
      </p:cxnSp>
      <p:sp>
        <p:nvSpPr>
          <p:cNvPr id="1724" name="Google Shape;1724;p101"/>
          <p:cNvSpPr txBox="1"/>
          <p:nvPr/>
        </p:nvSpPr>
        <p:spPr>
          <a:xfrm>
            <a:off x="3479850" y="2905800"/>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
        <p:nvSpPr>
          <p:cNvPr id="1725" name="Google Shape;1725;p101"/>
          <p:cNvSpPr txBox="1"/>
          <p:nvPr/>
        </p:nvSpPr>
        <p:spPr>
          <a:xfrm>
            <a:off x="4901475" y="2905800"/>
            <a:ext cx="93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cm</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9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9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6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1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7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7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102"/>
          <p:cNvSpPr txBox="1"/>
          <p:nvPr>
            <p:ph idx="4294967295" type="body"/>
          </p:nvPr>
        </p:nvSpPr>
        <p:spPr>
          <a:xfrm>
            <a:off x="324000" y="759300"/>
            <a:ext cx="8237700" cy="67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of the following partial constructions would not complete to make an equilateral triangle?</a:t>
            </a:r>
            <a:endParaRPr sz="1800"/>
          </a:p>
        </p:txBody>
      </p:sp>
      <p:sp>
        <p:nvSpPr>
          <p:cNvPr id="1731" name="Google Shape;1731;p102"/>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pic>
        <p:nvPicPr>
          <p:cNvPr id="1732" name="Google Shape;1732;p102"/>
          <p:cNvPicPr preferRelativeResize="0"/>
          <p:nvPr/>
        </p:nvPicPr>
        <p:blipFill>
          <a:blip r:embed="rId3">
            <a:alphaModFix/>
          </a:blip>
          <a:stretch>
            <a:fillRect/>
          </a:stretch>
        </p:blipFill>
        <p:spPr>
          <a:xfrm>
            <a:off x="812700" y="1817575"/>
            <a:ext cx="1744200" cy="1764850"/>
          </a:xfrm>
          <a:prstGeom prst="rect">
            <a:avLst/>
          </a:prstGeom>
          <a:noFill/>
          <a:ln>
            <a:noFill/>
          </a:ln>
        </p:spPr>
      </p:pic>
      <p:pic>
        <p:nvPicPr>
          <p:cNvPr id="1733" name="Google Shape;1733;p102"/>
          <p:cNvPicPr preferRelativeResize="0"/>
          <p:nvPr/>
        </p:nvPicPr>
        <p:blipFill>
          <a:blip r:embed="rId4">
            <a:alphaModFix/>
          </a:blip>
          <a:stretch>
            <a:fillRect/>
          </a:stretch>
        </p:blipFill>
        <p:spPr>
          <a:xfrm>
            <a:off x="3124700" y="1576800"/>
            <a:ext cx="2694328" cy="2196600"/>
          </a:xfrm>
          <a:prstGeom prst="rect">
            <a:avLst/>
          </a:prstGeom>
          <a:noFill/>
          <a:ln>
            <a:noFill/>
          </a:ln>
        </p:spPr>
      </p:pic>
      <p:pic>
        <p:nvPicPr>
          <p:cNvPr id="1734" name="Google Shape;1734;p102"/>
          <p:cNvPicPr preferRelativeResize="0"/>
          <p:nvPr/>
        </p:nvPicPr>
        <p:blipFill>
          <a:blip r:embed="rId5">
            <a:alphaModFix/>
          </a:blip>
          <a:stretch>
            <a:fillRect/>
          </a:stretch>
        </p:blipFill>
        <p:spPr>
          <a:xfrm>
            <a:off x="6345813" y="1707125"/>
            <a:ext cx="2226775" cy="1729250"/>
          </a:xfrm>
          <a:prstGeom prst="rect">
            <a:avLst/>
          </a:prstGeom>
          <a:noFill/>
          <a:ln>
            <a:noFill/>
          </a:ln>
        </p:spPr>
      </p:pic>
      <p:pic>
        <p:nvPicPr>
          <p:cNvPr id="1735" name="Google Shape;1735;p102"/>
          <p:cNvPicPr preferRelativeResize="0"/>
          <p:nvPr/>
        </p:nvPicPr>
        <p:blipFill>
          <a:blip r:embed="rId6">
            <a:alphaModFix/>
          </a:blip>
          <a:stretch>
            <a:fillRect/>
          </a:stretch>
        </p:blipFill>
        <p:spPr>
          <a:xfrm>
            <a:off x="7944058" y="41752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103"/>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269999" lvl="0" marL="269999" rtl="0" algn="l">
              <a:spcBef>
                <a:spcPts val="0"/>
              </a:spcBef>
              <a:spcAft>
                <a:spcPts val="0"/>
              </a:spcAft>
              <a:buNone/>
            </a:pPr>
            <a:r>
              <a:rPr lang="en-GB" sz="1800"/>
              <a:t>1) XY is an edge of a triangle. Which of the points A to G when joined to XY would create:</a:t>
            </a:r>
            <a:endParaRPr sz="1800"/>
          </a:p>
          <a:p>
            <a:pPr indent="0" lvl="0" marL="0" rtl="0" algn="l">
              <a:spcBef>
                <a:spcPts val="1000"/>
              </a:spcBef>
              <a:spcAft>
                <a:spcPts val="0"/>
              </a:spcAft>
              <a:buNone/>
            </a:pPr>
            <a:r>
              <a:rPr lang="en-GB" sz="1800"/>
              <a:t>a) an isosceles triangle</a:t>
            </a:r>
            <a:endParaRPr sz="1800"/>
          </a:p>
          <a:p>
            <a:pPr indent="0" lvl="0" marL="0" rtl="0" algn="l">
              <a:spcBef>
                <a:spcPts val="1000"/>
              </a:spcBef>
              <a:spcAft>
                <a:spcPts val="0"/>
              </a:spcAft>
              <a:buNone/>
            </a:pPr>
            <a:r>
              <a:rPr lang="en-GB" sz="1800"/>
              <a:t>b) a right-angled triangle</a:t>
            </a:r>
            <a:endParaRPr sz="1800"/>
          </a:p>
          <a:p>
            <a:pPr indent="-269999" lvl="0" marL="269999" rtl="0" algn="l">
              <a:spcBef>
                <a:spcPts val="1000"/>
              </a:spcBef>
              <a:spcAft>
                <a:spcPts val="1000"/>
              </a:spcAft>
              <a:buNone/>
            </a:pPr>
            <a:r>
              <a:rPr lang="en-GB" sz="1800"/>
              <a:t>c) a right-angled isosceles </a:t>
            </a:r>
            <a:br>
              <a:rPr lang="en-GB" sz="1800"/>
            </a:br>
            <a:r>
              <a:rPr lang="en-GB" sz="1800"/>
              <a:t>triangle</a:t>
            </a:r>
            <a:endParaRPr sz="1800"/>
          </a:p>
        </p:txBody>
      </p:sp>
      <p:sp>
        <p:nvSpPr>
          <p:cNvPr id="1741" name="Google Shape;1741;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grpSp>
        <p:nvGrpSpPr>
          <p:cNvPr id="1742" name="Google Shape;1742;p103"/>
          <p:cNvGrpSpPr/>
          <p:nvPr/>
        </p:nvGrpSpPr>
        <p:grpSpPr>
          <a:xfrm>
            <a:off x="3803569" y="1173394"/>
            <a:ext cx="4909481" cy="3444176"/>
            <a:chOff x="3803569" y="1173394"/>
            <a:chExt cx="4909481" cy="3444176"/>
          </a:xfrm>
        </p:grpSpPr>
        <p:pic>
          <p:nvPicPr>
            <p:cNvPr id="1743" name="Google Shape;1743;p103"/>
            <p:cNvPicPr preferRelativeResize="0"/>
            <p:nvPr/>
          </p:nvPicPr>
          <p:blipFill>
            <a:blip r:embed="rId3">
              <a:alphaModFix/>
            </a:blip>
            <a:stretch>
              <a:fillRect/>
            </a:stretch>
          </p:blipFill>
          <p:spPr>
            <a:xfrm>
              <a:off x="3803569" y="1173394"/>
              <a:ext cx="4769809" cy="3444176"/>
            </a:xfrm>
            <a:prstGeom prst="rect">
              <a:avLst/>
            </a:prstGeom>
            <a:noFill/>
            <a:ln>
              <a:noFill/>
            </a:ln>
          </p:spPr>
        </p:pic>
        <p:grpSp>
          <p:nvGrpSpPr>
            <p:cNvPr id="1744" name="Google Shape;1744;p103"/>
            <p:cNvGrpSpPr/>
            <p:nvPr/>
          </p:nvGrpSpPr>
          <p:grpSpPr>
            <a:xfrm>
              <a:off x="4376606" y="1180256"/>
              <a:ext cx="4336444" cy="3378225"/>
              <a:chOff x="2624006" y="1180256"/>
              <a:chExt cx="4336444" cy="3378225"/>
            </a:xfrm>
          </p:grpSpPr>
          <p:sp>
            <p:nvSpPr>
              <p:cNvPr id="1745" name="Google Shape;1745;p103"/>
              <p:cNvSpPr txBox="1"/>
              <p:nvPr/>
            </p:nvSpPr>
            <p:spPr>
              <a:xfrm>
                <a:off x="3243300" y="2700000"/>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X</a:t>
                </a:r>
                <a:endParaRPr sz="1800">
                  <a:solidFill>
                    <a:schemeClr val="dk1"/>
                  </a:solidFill>
                  <a:latin typeface="Lexend"/>
                  <a:ea typeface="Lexend"/>
                  <a:cs typeface="Lexend"/>
                  <a:sym typeface="Lexend"/>
                </a:endParaRPr>
              </a:p>
            </p:txBody>
          </p:sp>
          <p:sp>
            <p:nvSpPr>
              <p:cNvPr id="1746" name="Google Shape;1746;p103"/>
              <p:cNvSpPr txBox="1"/>
              <p:nvPr/>
            </p:nvSpPr>
            <p:spPr>
              <a:xfrm>
                <a:off x="5097475" y="2700000"/>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Y</a:t>
                </a:r>
                <a:endParaRPr sz="1800">
                  <a:solidFill>
                    <a:schemeClr val="dk1"/>
                  </a:solidFill>
                  <a:latin typeface="Lexend"/>
                  <a:ea typeface="Lexend"/>
                  <a:cs typeface="Lexend"/>
                  <a:sym typeface="Lexend"/>
                </a:endParaRPr>
              </a:p>
            </p:txBody>
          </p:sp>
          <p:sp>
            <p:nvSpPr>
              <p:cNvPr id="1747" name="Google Shape;1747;p103"/>
              <p:cNvSpPr txBox="1"/>
              <p:nvPr/>
            </p:nvSpPr>
            <p:spPr>
              <a:xfrm>
                <a:off x="3533343" y="1867956"/>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748" name="Google Shape;1748;p103"/>
              <p:cNvSpPr txBox="1"/>
              <p:nvPr/>
            </p:nvSpPr>
            <p:spPr>
              <a:xfrm>
                <a:off x="4320000" y="1799050"/>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749" name="Google Shape;1749;p103"/>
              <p:cNvSpPr txBox="1"/>
              <p:nvPr/>
            </p:nvSpPr>
            <p:spPr>
              <a:xfrm>
                <a:off x="4541475" y="1180256"/>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750" name="Google Shape;1750;p103"/>
              <p:cNvSpPr txBox="1"/>
              <p:nvPr/>
            </p:nvSpPr>
            <p:spPr>
              <a:xfrm>
                <a:off x="6632250" y="3287775"/>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751" name="Google Shape;1751;p103"/>
              <p:cNvSpPr txBox="1"/>
              <p:nvPr/>
            </p:nvSpPr>
            <p:spPr>
              <a:xfrm>
                <a:off x="5151562" y="4096781"/>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752" name="Google Shape;1752;p103"/>
              <p:cNvSpPr txBox="1"/>
              <p:nvPr/>
            </p:nvSpPr>
            <p:spPr>
              <a:xfrm>
                <a:off x="4346850" y="3850669"/>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a:t>
                </a:r>
                <a:endParaRPr sz="1800">
                  <a:solidFill>
                    <a:schemeClr val="dk1"/>
                  </a:solidFill>
                  <a:latin typeface="Lexend"/>
                  <a:ea typeface="Lexend"/>
                  <a:cs typeface="Lexend"/>
                  <a:sym typeface="Lexend"/>
                </a:endParaRPr>
              </a:p>
            </p:txBody>
          </p:sp>
          <p:sp>
            <p:nvSpPr>
              <p:cNvPr id="1753" name="Google Shape;1753;p103"/>
              <p:cNvSpPr txBox="1"/>
              <p:nvPr/>
            </p:nvSpPr>
            <p:spPr>
              <a:xfrm>
                <a:off x="2624006" y="3780000"/>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G</a:t>
                </a:r>
                <a:endParaRPr sz="1800">
                  <a:solidFill>
                    <a:schemeClr val="dk1"/>
                  </a:solidFill>
                  <a:latin typeface="Lexend"/>
                  <a:ea typeface="Lexend"/>
                  <a:cs typeface="Lexend"/>
                  <a:sym typeface="Lexend"/>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pic>
        <p:nvPicPr>
          <p:cNvPr id="1758" name="Google Shape;1758;p104"/>
          <p:cNvPicPr preferRelativeResize="0"/>
          <p:nvPr/>
        </p:nvPicPr>
        <p:blipFill>
          <a:blip r:embed="rId3">
            <a:alphaModFix/>
          </a:blip>
          <a:stretch>
            <a:fillRect/>
          </a:stretch>
        </p:blipFill>
        <p:spPr>
          <a:xfrm>
            <a:off x="2818841" y="809991"/>
            <a:ext cx="2888325" cy="1815175"/>
          </a:xfrm>
          <a:prstGeom prst="rect">
            <a:avLst/>
          </a:prstGeom>
          <a:noFill/>
          <a:ln>
            <a:noFill/>
          </a:ln>
        </p:spPr>
      </p:pic>
      <p:sp>
        <p:nvSpPr>
          <p:cNvPr id="1759" name="Google Shape;1759;p104"/>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269999" lvl="0" marL="269999" rtl="0" algn="l">
              <a:spcBef>
                <a:spcPts val="0"/>
              </a:spcBef>
              <a:spcAft>
                <a:spcPts val="1000"/>
              </a:spcAft>
              <a:buNone/>
            </a:pPr>
            <a:r>
              <a:rPr lang="en-GB" sz="1800"/>
              <a:t>2</a:t>
            </a:r>
            <a:r>
              <a:rPr lang="en-GB" sz="1800"/>
              <a:t>) Construct an equilateral triangle, using the line as one of the edges.</a:t>
            </a:r>
            <a:endParaRPr sz="1800"/>
          </a:p>
        </p:txBody>
      </p:sp>
      <p:sp>
        <p:nvSpPr>
          <p:cNvPr id="1760" name="Google Shape;1760;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sp>
        <p:nvSpPr>
          <p:cNvPr id="1761" name="Google Shape;1761;p104"/>
          <p:cNvSpPr txBox="1"/>
          <p:nvPr>
            <p:ph idx="1" type="body"/>
          </p:nvPr>
        </p:nvSpPr>
        <p:spPr>
          <a:xfrm>
            <a:off x="324000" y="2732000"/>
            <a:ext cx="8237700" cy="382800"/>
          </a:xfrm>
          <a:prstGeom prst="rect">
            <a:avLst/>
          </a:prstGeom>
        </p:spPr>
        <p:txBody>
          <a:bodyPr anchorCtr="0" anchor="t" bIns="0" lIns="0" spcFirstLastPara="1" rIns="0" wrap="square" tIns="0">
            <a:noAutofit/>
          </a:bodyPr>
          <a:lstStyle/>
          <a:p>
            <a:pPr indent="-269999" lvl="0" marL="269999" rtl="0" algn="l">
              <a:spcBef>
                <a:spcPts val="0"/>
              </a:spcBef>
              <a:spcAft>
                <a:spcPts val="1000"/>
              </a:spcAft>
              <a:buNone/>
            </a:pPr>
            <a:r>
              <a:rPr lang="en-GB" sz="1800"/>
              <a:t>3</a:t>
            </a:r>
            <a:r>
              <a:rPr lang="en-GB" sz="1800"/>
              <a:t>) Construct an isosceles triangle where the equal edges are 9 units </a:t>
            </a:r>
            <a:r>
              <a:rPr lang="en-GB" sz="1800"/>
              <a:t>and</a:t>
            </a:r>
            <a:r>
              <a:rPr lang="en-GB" sz="1800"/>
              <a:t> the base edge is 7 units.  Use this scale.</a:t>
            </a:r>
            <a:endParaRPr sz="1800"/>
          </a:p>
        </p:txBody>
      </p:sp>
      <p:pic>
        <p:nvPicPr>
          <p:cNvPr id="1762" name="Google Shape;1762;p104"/>
          <p:cNvPicPr preferRelativeResize="0"/>
          <p:nvPr/>
        </p:nvPicPr>
        <p:blipFill>
          <a:blip r:embed="rId4">
            <a:alphaModFix/>
          </a:blip>
          <a:stretch>
            <a:fillRect/>
          </a:stretch>
        </p:blipFill>
        <p:spPr>
          <a:xfrm>
            <a:off x="5153425" y="3017850"/>
            <a:ext cx="3596023" cy="327312"/>
          </a:xfrm>
          <a:prstGeom prst="rect">
            <a:avLst/>
          </a:prstGeom>
          <a:noFill/>
          <a:ln>
            <a:noFill/>
          </a:ln>
        </p:spPr>
      </p:pic>
      <p:sp>
        <p:nvSpPr>
          <p:cNvPr id="1763" name="Google Shape;1763;p104"/>
          <p:cNvSpPr txBox="1"/>
          <p:nvPr>
            <p:ph idx="1" type="body"/>
          </p:nvPr>
        </p:nvSpPr>
        <p:spPr>
          <a:xfrm>
            <a:off x="324000" y="3807300"/>
            <a:ext cx="8237700" cy="382800"/>
          </a:xfrm>
          <a:prstGeom prst="rect">
            <a:avLst/>
          </a:prstGeom>
        </p:spPr>
        <p:txBody>
          <a:bodyPr anchorCtr="0" anchor="t" bIns="0" lIns="0" spcFirstLastPara="1" rIns="0" wrap="square" tIns="0">
            <a:noAutofit/>
          </a:bodyPr>
          <a:lstStyle/>
          <a:p>
            <a:pPr indent="-269999" lvl="0" marL="269999" rtl="0" algn="l">
              <a:spcBef>
                <a:spcPts val="0"/>
              </a:spcBef>
              <a:spcAft>
                <a:spcPts val="1000"/>
              </a:spcAft>
              <a:buNone/>
            </a:pPr>
            <a:r>
              <a:rPr lang="en-GB" sz="1800"/>
              <a:t>4) A tetrahedron is a 3D shape with four equilateral </a:t>
            </a:r>
            <a:br>
              <a:rPr lang="en-GB" sz="1800"/>
            </a:br>
            <a:r>
              <a:rPr lang="en-GB" sz="1800"/>
              <a:t>triangular faces. </a:t>
            </a:r>
            <a:br>
              <a:rPr lang="en-GB" sz="1800"/>
            </a:br>
            <a:r>
              <a:rPr lang="en-GB" sz="1800"/>
              <a:t>Construct the net of a tetrahedron.</a:t>
            </a:r>
            <a:endParaRPr sz="1800"/>
          </a:p>
        </p:txBody>
      </p:sp>
      <p:pic>
        <p:nvPicPr>
          <p:cNvPr id="1764" name="Google Shape;1764;p104"/>
          <p:cNvPicPr preferRelativeResize="0"/>
          <p:nvPr/>
        </p:nvPicPr>
        <p:blipFill>
          <a:blip r:embed="rId5">
            <a:alphaModFix/>
          </a:blip>
          <a:stretch>
            <a:fillRect/>
          </a:stretch>
        </p:blipFill>
        <p:spPr>
          <a:xfrm>
            <a:off x="6453700" y="3575025"/>
            <a:ext cx="1246334" cy="13068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sp>
        <p:nvSpPr>
          <p:cNvPr id="1769" name="Google Shape;1769;p10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269999" lvl="0" marL="269999" rtl="0" algn="l">
              <a:spcBef>
                <a:spcPts val="0"/>
              </a:spcBef>
              <a:spcAft>
                <a:spcPts val="0"/>
              </a:spcAft>
              <a:buNone/>
            </a:pPr>
            <a:r>
              <a:rPr lang="en-GB" sz="1800"/>
              <a:t>1) XY is an edge of a triangle. Which of the points A to G when joined to XY would create:</a:t>
            </a:r>
            <a:endParaRPr sz="1800"/>
          </a:p>
          <a:p>
            <a:pPr indent="0" lvl="0" marL="0" rtl="0" algn="l">
              <a:spcBef>
                <a:spcPts val="1000"/>
              </a:spcBef>
              <a:spcAft>
                <a:spcPts val="0"/>
              </a:spcAft>
              <a:buNone/>
            </a:pPr>
            <a:r>
              <a:rPr lang="en-GB" sz="1800"/>
              <a:t>a) an isosceles triangle</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rPr lang="en-GB" sz="1800"/>
              <a:t>b) a right-angled triangle</a:t>
            </a:r>
            <a:endParaRPr sz="1800"/>
          </a:p>
          <a:p>
            <a:pPr indent="0" lvl="0" marL="0" rtl="0" algn="l">
              <a:spcBef>
                <a:spcPts val="1000"/>
              </a:spcBef>
              <a:spcAft>
                <a:spcPts val="0"/>
              </a:spcAft>
              <a:buNone/>
            </a:pPr>
            <a:r>
              <a:t/>
            </a:r>
            <a:endParaRPr sz="1800"/>
          </a:p>
          <a:p>
            <a:pPr indent="-269999" lvl="0" marL="269999" rtl="0" algn="l">
              <a:spcBef>
                <a:spcPts val="1000"/>
              </a:spcBef>
              <a:spcAft>
                <a:spcPts val="1000"/>
              </a:spcAft>
              <a:buNone/>
            </a:pPr>
            <a:r>
              <a:rPr lang="en-GB" sz="1800"/>
              <a:t>c) a right-angled isosceles </a:t>
            </a:r>
            <a:br>
              <a:rPr lang="en-GB" sz="1800"/>
            </a:br>
            <a:r>
              <a:rPr lang="en-GB" sz="1800"/>
              <a:t>triangle</a:t>
            </a:r>
            <a:endParaRPr sz="1800"/>
          </a:p>
        </p:txBody>
      </p:sp>
      <p:sp>
        <p:nvSpPr>
          <p:cNvPr id="1770" name="Google Shape;1770;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grpSp>
        <p:nvGrpSpPr>
          <p:cNvPr id="1771" name="Google Shape;1771;p105"/>
          <p:cNvGrpSpPr/>
          <p:nvPr/>
        </p:nvGrpSpPr>
        <p:grpSpPr>
          <a:xfrm>
            <a:off x="3803569" y="1173394"/>
            <a:ext cx="4909481" cy="3444176"/>
            <a:chOff x="3803569" y="1173394"/>
            <a:chExt cx="4909481" cy="3444176"/>
          </a:xfrm>
        </p:grpSpPr>
        <p:pic>
          <p:nvPicPr>
            <p:cNvPr id="1772" name="Google Shape;1772;p105"/>
            <p:cNvPicPr preferRelativeResize="0"/>
            <p:nvPr/>
          </p:nvPicPr>
          <p:blipFill>
            <a:blip r:embed="rId3">
              <a:alphaModFix/>
            </a:blip>
            <a:stretch>
              <a:fillRect/>
            </a:stretch>
          </p:blipFill>
          <p:spPr>
            <a:xfrm>
              <a:off x="3803569" y="1173394"/>
              <a:ext cx="4769809" cy="3444176"/>
            </a:xfrm>
            <a:prstGeom prst="rect">
              <a:avLst/>
            </a:prstGeom>
            <a:noFill/>
            <a:ln>
              <a:noFill/>
            </a:ln>
          </p:spPr>
        </p:pic>
        <p:grpSp>
          <p:nvGrpSpPr>
            <p:cNvPr id="1773" name="Google Shape;1773;p105"/>
            <p:cNvGrpSpPr/>
            <p:nvPr/>
          </p:nvGrpSpPr>
          <p:grpSpPr>
            <a:xfrm>
              <a:off x="4376606" y="1180256"/>
              <a:ext cx="4336444" cy="3378225"/>
              <a:chOff x="2624006" y="1180256"/>
              <a:chExt cx="4336444" cy="3378225"/>
            </a:xfrm>
          </p:grpSpPr>
          <p:sp>
            <p:nvSpPr>
              <p:cNvPr id="1774" name="Google Shape;1774;p105"/>
              <p:cNvSpPr txBox="1"/>
              <p:nvPr/>
            </p:nvSpPr>
            <p:spPr>
              <a:xfrm>
                <a:off x="3243300" y="2700000"/>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X</a:t>
                </a:r>
                <a:endParaRPr sz="1800">
                  <a:solidFill>
                    <a:schemeClr val="dk1"/>
                  </a:solidFill>
                  <a:latin typeface="Lexend"/>
                  <a:ea typeface="Lexend"/>
                  <a:cs typeface="Lexend"/>
                  <a:sym typeface="Lexend"/>
                </a:endParaRPr>
              </a:p>
            </p:txBody>
          </p:sp>
          <p:sp>
            <p:nvSpPr>
              <p:cNvPr id="1775" name="Google Shape;1775;p105"/>
              <p:cNvSpPr txBox="1"/>
              <p:nvPr/>
            </p:nvSpPr>
            <p:spPr>
              <a:xfrm>
                <a:off x="5097475" y="2700000"/>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Y</a:t>
                </a:r>
                <a:endParaRPr sz="1800">
                  <a:solidFill>
                    <a:schemeClr val="dk1"/>
                  </a:solidFill>
                  <a:latin typeface="Lexend"/>
                  <a:ea typeface="Lexend"/>
                  <a:cs typeface="Lexend"/>
                  <a:sym typeface="Lexend"/>
                </a:endParaRPr>
              </a:p>
            </p:txBody>
          </p:sp>
          <p:sp>
            <p:nvSpPr>
              <p:cNvPr id="1776" name="Google Shape;1776;p105"/>
              <p:cNvSpPr txBox="1"/>
              <p:nvPr/>
            </p:nvSpPr>
            <p:spPr>
              <a:xfrm>
                <a:off x="3533343" y="1867956"/>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777" name="Google Shape;1777;p105"/>
              <p:cNvSpPr txBox="1"/>
              <p:nvPr/>
            </p:nvSpPr>
            <p:spPr>
              <a:xfrm>
                <a:off x="4320000" y="1799050"/>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778" name="Google Shape;1778;p105"/>
              <p:cNvSpPr txBox="1"/>
              <p:nvPr/>
            </p:nvSpPr>
            <p:spPr>
              <a:xfrm>
                <a:off x="4541475" y="1180256"/>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779" name="Google Shape;1779;p105"/>
              <p:cNvSpPr txBox="1"/>
              <p:nvPr/>
            </p:nvSpPr>
            <p:spPr>
              <a:xfrm>
                <a:off x="6632250" y="3287775"/>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780" name="Google Shape;1780;p105"/>
              <p:cNvSpPr txBox="1"/>
              <p:nvPr/>
            </p:nvSpPr>
            <p:spPr>
              <a:xfrm>
                <a:off x="5151562" y="4096781"/>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781" name="Google Shape;1781;p105"/>
              <p:cNvSpPr txBox="1"/>
              <p:nvPr/>
            </p:nvSpPr>
            <p:spPr>
              <a:xfrm>
                <a:off x="4346850" y="3850669"/>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a:t>
                </a:r>
                <a:endParaRPr sz="1800">
                  <a:solidFill>
                    <a:schemeClr val="dk1"/>
                  </a:solidFill>
                  <a:latin typeface="Lexend"/>
                  <a:ea typeface="Lexend"/>
                  <a:cs typeface="Lexend"/>
                  <a:sym typeface="Lexend"/>
                </a:endParaRPr>
              </a:p>
            </p:txBody>
          </p:sp>
          <p:sp>
            <p:nvSpPr>
              <p:cNvPr id="1782" name="Google Shape;1782;p105"/>
              <p:cNvSpPr txBox="1"/>
              <p:nvPr/>
            </p:nvSpPr>
            <p:spPr>
              <a:xfrm>
                <a:off x="2624006" y="3780000"/>
                <a:ext cx="32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G</a:t>
                </a:r>
                <a:endParaRPr sz="1800">
                  <a:solidFill>
                    <a:schemeClr val="dk1"/>
                  </a:solidFill>
                  <a:latin typeface="Lexend"/>
                  <a:ea typeface="Lexend"/>
                  <a:cs typeface="Lexend"/>
                  <a:sym typeface="Lexend"/>
                </a:endParaRPr>
              </a:p>
            </p:txBody>
          </p:sp>
        </p:grpSp>
      </p:grpSp>
      <p:sp>
        <p:nvSpPr>
          <p:cNvPr id="1783" name="Google Shape;1783;p105"/>
          <p:cNvSpPr txBox="1"/>
          <p:nvPr/>
        </p:nvSpPr>
        <p:spPr>
          <a:xfrm>
            <a:off x="869975" y="1831500"/>
            <a:ext cx="1381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 C, D, F</a:t>
            </a:r>
            <a:endParaRPr sz="2000">
              <a:solidFill>
                <a:schemeClr val="dk1"/>
              </a:solidFill>
              <a:latin typeface="Kalam"/>
              <a:ea typeface="Kalam"/>
              <a:cs typeface="Kalam"/>
              <a:sym typeface="Kalam"/>
            </a:endParaRPr>
          </a:p>
        </p:txBody>
      </p:sp>
      <p:sp>
        <p:nvSpPr>
          <p:cNvPr id="1784" name="Google Shape;1784;p105"/>
          <p:cNvSpPr txBox="1"/>
          <p:nvPr/>
        </p:nvSpPr>
        <p:spPr>
          <a:xfrm>
            <a:off x="915550" y="2700000"/>
            <a:ext cx="1381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a:t>
            </a:r>
            <a:r>
              <a:rPr lang="en-GB" sz="2000">
                <a:solidFill>
                  <a:schemeClr val="dk1"/>
                </a:solidFill>
                <a:latin typeface="Kalam"/>
                <a:ea typeface="Kalam"/>
                <a:cs typeface="Kalam"/>
                <a:sym typeface="Kalam"/>
              </a:rPr>
              <a:t> and E</a:t>
            </a:r>
            <a:endParaRPr sz="2000">
              <a:solidFill>
                <a:schemeClr val="dk1"/>
              </a:solidFill>
              <a:latin typeface="Kalam"/>
              <a:ea typeface="Kalam"/>
              <a:cs typeface="Kalam"/>
              <a:sym typeface="Kalam"/>
            </a:endParaRPr>
          </a:p>
        </p:txBody>
      </p:sp>
      <p:sp>
        <p:nvSpPr>
          <p:cNvPr id="1785" name="Google Shape;1785;p105"/>
          <p:cNvSpPr txBox="1"/>
          <p:nvPr/>
        </p:nvSpPr>
        <p:spPr>
          <a:xfrm>
            <a:off x="961100" y="3936050"/>
            <a:ext cx="2175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a:t>
            </a:r>
            <a:r>
              <a:rPr lang="en-GB" sz="2000">
                <a:solidFill>
                  <a:schemeClr val="dk1"/>
                </a:solidFill>
                <a:latin typeface="Kalam"/>
                <a:ea typeface="Kalam"/>
                <a:cs typeface="Kalam"/>
                <a:sym typeface="Kalam"/>
              </a:rPr>
              <a:t>here isn’t one</a:t>
            </a:r>
            <a:endParaRPr sz="2000">
              <a:solidFill>
                <a:schemeClr val="dk1"/>
              </a:solidFill>
              <a:latin typeface="Kalam"/>
              <a:ea typeface="Kalam"/>
              <a:cs typeface="Kalam"/>
              <a:sym typeface="Kala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106"/>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269999" lvl="0" marL="269999" rtl="0" algn="l">
              <a:spcBef>
                <a:spcPts val="0"/>
              </a:spcBef>
              <a:spcAft>
                <a:spcPts val="1000"/>
              </a:spcAft>
              <a:buNone/>
            </a:pPr>
            <a:r>
              <a:rPr lang="en-GB" sz="1800"/>
              <a:t>2) Construct an equilateral triangle, using the line as one of the edges.</a:t>
            </a:r>
            <a:endParaRPr sz="1800"/>
          </a:p>
        </p:txBody>
      </p:sp>
      <p:sp>
        <p:nvSpPr>
          <p:cNvPr id="1791" name="Google Shape;1791;p10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pic>
        <p:nvPicPr>
          <p:cNvPr id="1792" name="Google Shape;1792;p106"/>
          <p:cNvPicPr preferRelativeResize="0"/>
          <p:nvPr/>
        </p:nvPicPr>
        <p:blipFill>
          <a:blip r:embed="rId3">
            <a:alphaModFix/>
          </a:blip>
          <a:stretch>
            <a:fillRect/>
          </a:stretch>
        </p:blipFill>
        <p:spPr>
          <a:xfrm>
            <a:off x="3369598" y="1334925"/>
            <a:ext cx="2713700" cy="2839400"/>
          </a:xfrm>
          <a:prstGeom prst="rect">
            <a:avLst/>
          </a:prstGeom>
          <a:noFill/>
          <a:ln>
            <a:noFill/>
          </a:ln>
        </p:spPr>
      </p:pic>
      <p:sp>
        <p:nvSpPr>
          <p:cNvPr id="1793" name="Google Shape;1793;p106"/>
          <p:cNvSpPr txBox="1"/>
          <p:nvPr/>
        </p:nvSpPr>
        <p:spPr>
          <a:xfrm>
            <a:off x="749425" y="1868225"/>
            <a:ext cx="21753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You can check your angles with a protractor; they should all be 60°</a:t>
            </a:r>
            <a:endParaRPr sz="2000">
              <a:solidFill>
                <a:schemeClr val="dk1"/>
              </a:solidFill>
              <a:latin typeface="Kalam"/>
              <a:ea typeface="Kalam"/>
              <a:cs typeface="Kalam"/>
              <a:sym typeface="Kala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7" name="Shape 1797"/>
        <p:cNvGrpSpPr/>
        <p:nvPr/>
      </p:nvGrpSpPr>
      <p:grpSpPr>
        <a:xfrm>
          <a:off x="0" y="0"/>
          <a:ext cx="0" cy="0"/>
          <a:chOff x="0" y="0"/>
          <a:chExt cx="0" cy="0"/>
        </a:xfrm>
      </p:grpSpPr>
      <p:sp>
        <p:nvSpPr>
          <p:cNvPr id="1798" name="Google Shape;1798;p10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sp>
        <p:nvSpPr>
          <p:cNvPr id="1799" name="Google Shape;1799;p107"/>
          <p:cNvSpPr txBox="1"/>
          <p:nvPr>
            <p:ph idx="1" type="body"/>
          </p:nvPr>
        </p:nvSpPr>
        <p:spPr>
          <a:xfrm>
            <a:off x="324000" y="750800"/>
            <a:ext cx="8237700" cy="382800"/>
          </a:xfrm>
          <a:prstGeom prst="rect">
            <a:avLst/>
          </a:prstGeom>
        </p:spPr>
        <p:txBody>
          <a:bodyPr anchorCtr="0" anchor="t" bIns="0" lIns="0" spcFirstLastPara="1" rIns="0" wrap="square" tIns="0">
            <a:noAutofit/>
          </a:bodyPr>
          <a:lstStyle/>
          <a:p>
            <a:pPr indent="-269999" lvl="0" marL="269999" rtl="0" algn="l">
              <a:spcBef>
                <a:spcPts val="0"/>
              </a:spcBef>
              <a:spcAft>
                <a:spcPts val="1000"/>
              </a:spcAft>
              <a:buNone/>
            </a:pPr>
            <a:r>
              <a:rPr lang="en-GB" sz="1800"/>
              <a:t>3) Construct an isosceles triangle where the equal edges are 9 units and the base edge is 7 units.  Use this scale.</a:t>
            </a:r>
            <a:endParaRPr sz="1800"/>
          </a:p>
        </p:txBody>
      </p:sp>
      <p:pic>
        <p:nvPicPr>
          <p:cNvPr id="1800" name="Google Shape;1800;p107"/>
          <p:cNvPicPr preferRelativeResize="0"/>
          <p:nvPr/>
        </p:nvPicPr>
        <p:blipFill rotWithShape="1">
          <a:blip r:embed="rId3">
            <a:alphaModFix/>
          </a:blip>
          <a:srcRect b="32591" l="0" r="0" t="0"/>
          <a:stretch/>
        </p:blipFill>
        <p:spPr>
          <a:xfrm>
            <a:off x="2396675" y="1425225"/>
            <a:ext cx="3846626" cy="3142675"/>
          </a:xfrm>
          <a:prstGeom prst="rect">
            <a:avLst/>
          </a:prstGeom>
          <a:noFill/>
          <a:ln>
            <a:noFill/>
          </a:ln>
        </p:spPr>
      </p:pic>
      <p:pic>
        <p:nvPicPr>
          <p:cNvPr id="1801" name="Google Shape;1801;p107"/>
          <p:cNvPicPr preferRelativeResize="0"/>
          <p:nvPr/>
        </p:nvPicPr>
        <p:blipFill>
          <a:blip r:embed="rId4">
            <a:alphaModFix/>
          </a:blip>
          <a:stretch>
            <a:fillRect/>
          </a:stretch>
        </p:blipFill>
        <p:spPr>
          <a:xfrm>
            <a:off x="5123437" y="1080000"/>
            <a:ext cx="3596023" cy="327312"/>
          </a:xfrm>
          <a:prstGeom prst="rect">
            <a:avLst/>
          </a:prstGeom>
          <a:noFill/>
          <a:ln>
            <a:noFill/>
          </a:ln>
        </p:spPr>
      </p:pic>
      <p:sp>
        <p:nvSpPr>
          <p:cNvPr id="1802" name="Google Shape;1802;p107"/>
          <p:cNvSpPr txBox="1"/>
          <p:nvPr/>
        </p:nvSpPr>
        <p:spPr>
          <a:xfrm>
            <a:off x="5833800" y="1998475"/>
            <a:ext cx="21753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Check your angles with a protractor</a:t>
            </a:r>
            <a:endParaRPr sz="2000">
              <a:solidFill>
                <a:schemeClr val="dk1"/>
              </a:solidFill>
              <a:latin typeface="Kalam"/>
              <a:ea typeface="Kalam"/>
              <a:cs typeface="Kalam"/>
              <a:sym typeface="Kalam"/>
            </a:endParaRPr>
          </a:p>
        </p:txBody>
      </p:sp>
      <p:sp>
        <p:nvSpPr>
          <p:cNvPr id="1803" name="Google Shape;1803;p107"/>
          <p:cNvSpPr/>
          <p:nvPr/>
        </p:nvSpPr>
        <p:spPr>
          <a:xfrm rot="7309183">
            <a:off x="5639642" y="3868473"/>
            <a:ext cx="716361" cy="716361"/>
          </a:xfrm>
          <a:prstGeom prst="pie">
            <a:avLst>
              <a:gd fmla="val 3505048" name="adj1"/>
              <a:gd fmla="val 6227936" name="adj2"/>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4" name="Google Shape;1804;p107"/>
          <p:cNvSpPr txBox="1"/>
          <p:nvPr/>
        </p:nvSpPr>
        <p:spPr>
          <a:xfrm>
            <a:off x="5253500" y="3873825"/>
            <a:ext cx="381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46°</a:t>
            </a:r>
            <a:endParaRPr sz="2000">
              <a:solidFill>
                <a:schemeClr val="dk1"/>
              </a:solidFill>
              <a:latin typeface="Kalam"/>
              <a:ea typeface="Kalam"/>
              <a:cs typeface="Kalam"/>
              <a:sym typeface="Kalam"/>
            </a:endParaRPr>
          </a:p>
        </p:txBody>
      </p:sp>
      <p:sp>
        <p:nvSpPr>
          <p:cNvPr id="1805" name="Google Shape;1805;p107"/>
          <p:cNvSpPr txBox="1"/>
          <p:nvPr/>
        </p:nvSpPr>
        <p:spPr>
          <a:xfrm>
            <a:off x="3060925" y="3797625"/>
            <a:ext cx="381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67</a:t>
            </a:r>
            <a:r>
              <a:rPr lang="en-GB" sz="2000">
                <a:solidFill>
                  <a:schemeClr val="dk1"/>
                </a:solidFill>
                <a:latin typeface="Kalam"/>
                <a:ea typeface="Kalam"/>
                <a:cs typeface="Kalam"/>
                <a:sym typeface="Kalam"/>
              </a:rPr>
              <a:t>°</a:t>
            </a:r>
            <a:endParaRPr sz="2000">
              <a:solidFill>
                <a:schemeClr val="dk1"/>
              </a:solidFill>
              <a:latin typeface="Kalam"/>
              <a:ea typeface="Kalam"/>
              <a:cs typeface="Kalam"/>
              <a:sym typeface="Kala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9" name="Shape 1809"/>
        <p:cNvGrpSpPr/>
        <p:nvPr/>
      </p:nvGrpSpPr>
      <p:grpSpPr>
        <a:xfrm>
          <a:off x="0" y="0"/>
          <a:ext cx="0" cy="0"/>
          <a:chOff x="0" y="0"/>
          <a:chExt cx="0" cy="0"/>
        </a:xfrm>
      </p:grpSpPr>
      <p:sp>
        <p:nvSpPr>
          <p:cNvPr id="1810" name="Google Shape;1810;p10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triangles with equal edges</a:t>
            </a:r>
            <a:endParaRPr/>
          </a:p>
        </p:txBody>
      </p:sp>
      <p:sp>
        <p:nvSpPr>
          <p:cNvPr id="1811" name="Google Shape;1811;p108"/>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269999" lvl="0" marL="269999" rtl="0" algn="l">
              <a:spcBef>
                <a:spcPts val="0"/>
              </a:spcBef>
              <a:spcAft>
                <a:spcPts val="1000"/>
              </a:spcAft>
              <a:buNone/>
            </a:pPr>
            <a:r>
              <a:rPr lang="en-GB" sz="1800"/>
              <a:t>4) A tetrahedron is a 3D shape with four equilateral triangular faces. </a:t>
            </a:r>
            <a:br>
              <a:rPr lang="en-GB" sz="1800"/>
            </a:br>
            <a:r>
              <a:rPr lang="en-GB" sz="1800"/>
              <a:t>Construct the net of a tetrahedron.</a:t>
            </a:r>
            <a:endParaRPr sz="1800"/>
          </a:p>
        </p:txBody>
      </p:sp>
      <p:pic>
        <p:nvPicPr>
          <p:cNvPr id="1812" name="Google Shape;1812;p108"/>
          <p:cNvPicPr preferRelativeResize="0"/>
          <p:nvPr/>
        </p:nvPicPr>
        <p:blipFill>
          <a:blip r:embed="rId3">
            <a:alphaModFix/>
          </a:blip>
          <a:stretch>
            <a:fillRect/>
          </a:stretch>
        </p:blipFill>
        <p:spPr>
          <a:xfrm>
            <a:off x="6797562" y="926250"/>
            <a:ext cx="1323274" cy="1387499"/>
          </a:xfrm>
          <a:prstGeom prst="rect">
            <a:avLst/>
          </a:prstGeom>
          <a:noFill/>
          <a:ln>
            <a:noFill/>
          </a:ln>
        </p:spPr>
      </p:pic>
      <p:pic>
        <p:nvPicPr>
          <p:cNvPr id="1813" name="Google Shape;1813;p108"/>
          <p:cNvPicPr preferRelativeResize="0"/>
          <p:nvPr/>
        </p:nvPicPr>
        <p:blipFill>
          <a:blip r:embed="rId4">
            <a:alphaModFix/>
          </a:blip>
          <a:stretch>
            <a:fillRect/>
          </a:stretch>
        </p:blipFill>
        <p:spPr>
          <a:xfrm>
            <a:off x="634800" y="2074838"/>
            <a:ext cx="2734800" cy="2330315"/>
          </a:xfrm>
          <a:prstGeom prst="rect">
            <a:avLst/>
          </a:prstGeom>
          <a:noFill/>
          <a:ln>
            <a:noFill/>
          </a:ln>
        </p:spPr>
      </p:pic>
      <p:pic>
        <p:nvPicPr>
          <p:cNvPr id="1814" name="Google Shape;1814;p108"/>
          <p:cNvPicPr preferRelativeResize="0"/>
          <p:nvPr/>
        </p:nvPicPr>
        <p:blipFill>
          <a:blip r:embed="rId5">
            <a:alphaModFix/>
          </a:blip>
          <a:stretch>
            <a:fillRect/>
          </a:stretch>
        </p:blipFill>
        <p:spPr>
          <a:xfrm>
            <a:off x="3644900" y="2403788"/>
            <a:ext cx="3452750" cy="1672425"/>
          </a:xfrm>
          <a:prstGeom prst="rect">
            <a:avLst/>
          </a:prstGeom>
          <a:noFill/>
          <a:ln>
            <a:noFill/>
          </a:ln>
        </p:spPr>
      </p:pic>
      <p:sp>
        <p:nvSpPr>
          <p:cNvPr id="1815" name="Google Shape;1815;p108"/>
          <p:cNvSpPr txBox="1"/>
          <p:nvPr/>
        </p:nvSpPr>
        <p:spPr>
          <a:xfrm>
            <a:off x="3502750" y="4199200"/>
            <a:ext cx="4395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2 distinct nets of a tetrahedron</a:t>
            </a:r>
            <a:endParaRPr sz="2000">
              <a:solidFill>
                <a:schemeClr val="dk1"/>
              </a:solidFill>
              <a:latin typeface="Kalam"/>
              <a:ea typeface="Kalam"/>
              <a:cs typeface="Kalam"/>
              <a:sym typeface="Kala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10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construction is an accurate drawing using geometry equipment.</a:t>
            </a:r>
            <a:endParaRPr/>
          </a:p>
          <a:p>
            <a:pPr indent="0" lvl="0" marL="0" rtl="0" algn="l">
              <a:spcBef>
                <a:spcPts val="1000"/>
              </a:spcBef>
              <a:spcAft>
                <a:spcPts val="0"/>
              </a:spcAft>
              <a:buNone/>
            </a:pPr>
            <a:r>
              <a:rPr lang="en-GB"/>
              <a:t>Intersecting circles can be used to construct triangles.</a:t>
            </a:r>
            <a:endParaRPr/>
          </a:p>
          <a:p>
            <a:pPr indent="0" lvl="0" marL="0" rtl="0" algn="l">
              <a:spcBef>
                <a:spcPts val="1000"/>
              </a:spcBef>
              <a:spcAft>
                <a:spcPts val="0"/>
              </a:spcAft>
              <a:buNone/>
            </a:pPr>
            <a:r>
              <a:rPr lang="en-GB"/>
              <a:t>Three </a:t>
            </a:r>
            <a:r>
              <a:rPr lang="en-GB"/>
              <a:t>different</a:t>
            </a:r>
            <a:r>
              <a:rPr lang="en-GB"/>
              <a:t> radii will construct a scalene triangle.</a:t>
            </a:r>
            <a:endParaRPr/>
          </a:p>
          <a:p>
            <a:pPr indent="0" lvl="0" marL="0" rtl="0" algn="l">
              <a:spcBef>
                <a:spcPts val="1000"/>
              </a:spcBef>
              <a:spcAft>
                <a:spcPts val="0"/>
              </a:spcAft>
              <a:buNone/>
            </a:pPr>
            <a:r>
              <a:rPr lang="en-GB"/>
              <a:t>Two </a:t>
            </a:r>
            <a:r>
              <a:rPr lang="en-GB"/>
              <a:t>different</a:t>
            </a:r>
            <a:r>
              <a:rPr lang="en-GB"/>
              <a:t> radii will construct an isosceles triangle.</a:t>
            </a:r>
            <a:endParaRPr/>
          </a:p>
          <a:p>
            <a:pPr indent="0" lvl="0" marL="0" rtl="0" algn="l">
              <a:spcBef>
                <a:spcPts val="1000"/>
              </a:spcBef>
              <a:spcAft>
                <a:spcPts val="1000"/>
              </a:spcAft>
              <a:buNone/>
            </a:pPr>
            <a:r>
              <a:rPr lang="en-GB"/>
              <a:t>Equal radii will construct an equilateral triangle.</a:t>
            </a:r>
            <a:endParaRPr/>
          </a:p>
        </p:txBody>
      </p:sp>
      <p:sp>
        <p:nvSpPr>
          <p:cNvPr id="1821" name="Google Shape;1821;p109"/>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Constructing triangles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5" name="Shape 1825"/>
        <p:cNvGrpSpPr/>
        <p:nvPr/>
      </p:nvGrpSpPr>
      <p:grpSpPr>
        <a:xfrm>
          <a:off x="0" y="0"/>
          <a:ext cx="0" cy="0"/>
          <a:chOff x="0" y="0"/>
          <a:chExt cx="0" cy="0"/>
        </a:xfrm>
      </p:grpSpPr>
      <p:sp>
        <p:nvSpPr>
          <p:cNvPr id="1826" name="Google Shape;1826;p110"/>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827" name="Google Shape;1827;p110"/>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