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70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9" Type="http://schemas.openxmlformats.org/officeDocument/2006/relationships/slide" Target="slides/slide4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3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g2a57d43111a_0_6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5" name="Google Shape;745;g2a57d43111a_0_6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g2a57d43111a_0_6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1" name="Google Shape;751;g2a57d43111a_0_6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4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g2a57d43111a_0_6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6" name="Google Shape;756;g2a57d43111a_0_6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9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g2a57d43111a_0_6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1" name="Google Shape;761;g2a57d43111a_0_6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6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g2a57d43111a_0_6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8" name="Google Shape;768;g2a57d43111a_0_6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5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g2a57d43111a_0_6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7" name="Google Shape;777;g2a57d43111a_0_6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4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g2a57d43111a_0_6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6" name="Google Shape;806;g2a57d43111a_0_6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4" name="Shape 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g2a57d43111a_0_7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6" name="Google Shape;846;g2a57d43111a_0_7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3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g2a57d43111a_0_7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5" name="Google Shape;875;g2a57d43111a_0_7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6" name="Shape 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7" name="Google Shape;887;g2a57d43111a_0_7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8" name="Google Shape;888;g2a57d43111a_0_7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5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g2a57d43111a_0_8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7" name="Google Shape;917;g2a57d43111a_0_8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5" name="Shape 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6" name="Google Shape;946;g2a57d43111a_0_8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7" name="Google Shape;947;g2a57d43111a_0_8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7" name="Shape 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8" name="Google Shape;968;g2a57d43111a_0_8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9" name="Google Shape;969;g2a57d43111a_0_8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7" name="Shape 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8" name="Google Shape;988;g2a57d43111a_0_8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9" name="Google Shape;989;g2a57d43111a_0_8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5" name="Shape 9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6" name="Google Shape;996;g2a57d43111a_0_8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7" name="Google Shape;997;g2a57d43111a_0_8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9" name="Shape 10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" name="Google Shape;1050;g2a57d43111a_0_9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1" name="Google Shape;1051;g2a57d43111a_0_9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0" name="Shape 10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1" name="Google Shape;1091;g2a57d43111a_0_9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2" name="Google Shape;1092;g2a57d43111a_0_9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1" name="Shape 1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2" name="Google Shape;1132;g2a57d43111a_0_10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3" name="Google Shape;1133;g2a57d43111a_0_10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7" name="Shape 1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8" name="Google Shape;1148;g2a57d43111a_0_10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9" name="Google Shape;1149;g2a57d43111a_0_10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6" name="Shape 1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" name="Google Shape;1157;g2a57d43111a_0_10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8" name="Google Shape;1158;g2a57d43111a_0_10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5" name="Shape 1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6" name="Google Shape;1166;g2a57d43111a_0_10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7" name="Google Shape;1167;g2a57d43111a_0_10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0" name="Shape 1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1" name="Google Shape;1201;g2a57d43111a_0_10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2" name="Google Shape;1202;g2a57d43111a_0_10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7" name="Shape 1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" name="Google Shape;1208;g2a57d43111a_0_10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9" name="Google Shape;1209;g2a57d43111a_0_10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1" name="Shape 1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2" name="Google Shape;1232;g2a57d43111a_0_10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3" name="Google Shape;1233;g2a57d43111a_0_10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1" name="Shape 1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2" name="Google Shape;1252;g2a9589b1cd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3" name="Google Shape;1253;g2a9589b1cd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6" name="Shape 1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7" name="Google Shape;1277;g2a57d43111a_0_1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8" name="Google Shape;1278;g2a57d43111a_0_1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8" name="Shape 1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9" name="Google Shape;1309;g2a57d43111a_0_11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0" name="Google Shape;1310;g2a57d43111a_0_1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2" name="Shape 1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3" name="Google Shape;1363;g2a57d43111a_0_12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4" name="Google Shape;1364;g2a57d43111a_0_12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9" name="Shape 1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0" name="Google Shape;1400;g2a57d43111a_0_12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1" name="Google Shape;1401;g2a57d43111a_0_12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8" name="Shape 1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9" name="Google Shape;1449;g2a57d43111a_0_13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0" name="Google Shape;1450;g2a57d43111a_0_13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5" name="Shape 1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6" name="Google Shape;1496;g2a57d43111a_0_13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7" name="Google Shape;1497;g2a57d43111a_0_13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3" name="Shape 1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4" name="Google Shape;1534;g2a57d43111a_0_14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5" name="Google Shape;1535;g2a57d43111a_0_14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2" name="Shape 1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3" name="Google Shape;1543;g2a57d43111a_0_15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4" name="Google Shape;1544;g2a57d43111a_0_15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8" name="Shape 1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9" name="Google Shape;1559;g2a57d43111a_0_15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0" name="Google Shape;1560;g2a57d43111a_0_15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2" name="Shape 1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3" name="Google Shape;1583;g2a57d43111a_0_16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4" name="Google Shape;1584;g2a57d43111a_0_16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5" name="Shape 1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6" name="Google Shape;1626;g2a57d43111a_0_16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7" name="Google Shape;1627;g2a57d43111a_0_16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1" name="Shape 1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2" name="Google Shape;1642;g2a57d43111a_0_16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3" name="Google Shape;1643;g2a57d43111a_0_16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0" name="Shape 1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1" name="Google Shape;1661;g2a57d43111a_0_16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2" name="Google Shape;1662;g2a57d43111a_0_16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9" name="Shape 1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0" name="Google Shape;1680;g2a57d43111a_0_17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1" name="Google Shape;1681;g2a57d43111a_0_17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1" name="Shape 1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2" name="Google Shape;1702;g2a57d43111a_0_25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3" name="Google Shape;1703;g2a57d43111a_0_25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7" name="Shape 1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8" name="Google Shape;1718;g2a57d43111a_0_24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9" name="Google Shape;1719;g2a57d43111a_0_24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2" name="Shape 1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3" name="Google Shape;1743;g2a57d43111a_0_25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4" name="Google Shape;1744;g2a57d43111a_0_25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9" name="Shape 1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0" name="Google Shape;1770;g2a57d43111a_0_25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1" name="Google Shape;1771;g2a57d43111a_0_25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4" name="Shape 1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5" name="Google Shape;1795;g2a57d43111a_0_17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6" name="Google Shape;1796;g2a57d43111a_0_17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0" name="Shape 1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1" name="Google Shape;1801;g2a57d43111a_0_17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2" name="Google Shape;1802;g2a57d43111a_0_17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2.png"/><Relationship Id="rId4" Type="http://schemas.openxmlformats.org/officeDocument/2006/relationships/image" Target="../media/image10.png"/><Relationship Id="rId5" Type="http://schemas.openxmlformats.org/officeDocument/2006/relationships/image" Target="../media/image7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5" Type="http://schemas.openxmlformats.org/officeDocument/2006/relationships/image" Target="../media/image19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11.png"/><Relationship Id="rId4" Type="http://schemas.openxmlformats.org/officeDocument/2006/relationships/image" Target="../media/image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2.png"/><Relationship Id="rId4" Type="http://schemas.openxmlformats.org/officeDocument/2006/relationships/image" Target="../media/image16.png"/><Relationship Id="rId5" Type="http://schemas.openxmlformats.org/officeDocument/2006/relationships/image" Target="../media/image12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14.png"/><Relationship Id="rId4" Type="http://schemas.openxmlformats.org/officeDocument/2006/relationships/image" Target="../media/image2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13.png"/><Relationship Id="rId4" Type="http://schemas.openxmlformats.org/officeDocument/2006/relationships/image" Target="../media/image23.png"/><Relationship Id="rId5" Type="http://schemas.openxmlformats.org/officeDocument/2006/relationships/image" Target="../media/image18.png"/><Relationship Id="rId6" Type="http://schemas.openxmlformats.org/officeDocument/2006/relationships/image" Target="../media/image17.png"/><Relationship Id="rId7" Type="http://schemas.openxmlformats.org/officeDocument/2006/relationships/image" Target="../media/image20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image" Target="../media/image67.png"/><Relationship Id="rId5" Type="http://schemas.openxmlformats.org/officeDocument/2006/relationships/image" Target="../media/image26.png"/><Relationship Id="rId6" Type="http://schemas.openxmlformats.org/officeDocument/2006/relationships/image" Target="../media/image31.png"/><Relationship Id="rId7" Type="http://schemas.openxmlformats.org/officeDocument/2006/relationships/image" Target="../media/image22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7.png"/><Relationship Id="rId3" Type="http://schemas.openxmlformats.org/officeDocument/2006/relationships/image" Target="../media/image67.png"/><Relationship Id="rId4" Type="http://schemas.openxmlformats.org/officeDocument/2006/relationships/image" Target="../media/image24.png"/><Relationship Id="rId9" Type="http://schemas.openxmlformats.org/officeDocument/2006/relationships/image" Target="../media/image22.png"/><Relationship Id="rId5" Type="http://schemas.openxmlformats.org/officeDocument/2006/relationships/image" Target="../media/image25.png"/><Relationship Id="rId6" Type="http://schemas.openxmlformats.org/officeDocument/2006/relationships/image" Target="../media/image32.png"/><Relationship Id="rId7" Type="http://schemas.openxmlformats.org/officeDocument/2006/relationships/image" Target="../media/image26.png"/><Relationship Id="rId8" Type="http://schemas.openxmlformats.org/officeDocument/2006/relationships/image" Target="../media/image31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7.png"/><Relationship Id="rId3" Type="http://schemas.openxmlformats.org/officeDocument/2006/relationships/image" Target="../media/image67.png"/><Relationship Id="rId4" Type="http://schemas.openxmlformats.org/officeDocument/2006/relationships/image" Target="../media/image29.png"/><Relationship Id="rId11" Type="http://schemas.openxmlformats.org/officeDocument/2006/relationships/image" Target="../media/image22.png"/><Relationship Id="rId10" Type="http://schemas.openxmlformats.org/officeDocument/2006/relationships/image" Target="../media/image41.png"/><Relationship Id="rId9" Type="http://schemas.openxmlformats.org/officeDocument/2006/relationships/image" Target="../media/image31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Relationship Id="rId7" Type="http://schemas.openxmlformats.org/officeDocument/2006/relationships/image" Target="../media/image32.png"/><Relationship Id="rId8" Type="http://schemas.openxmlformats.org/officeDocument/2006/relationships/image" Target="../media/image26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6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36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36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6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6.png"/><Relationship Id="rId4" Type="http://schemas.openxmlformats.org/officeDocument/2006/relationships/image" Target="../media/image42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36.png"/><Relationship Id="rId4" Type="http://schemas.openxmlformats.org/officeDocument/2006/relationships/image" Target="../media/image42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36.png"/><Relationship Id="rId4" Type="http://schemas.openxmlformats.org/officeDocument/2006/relationships/image" Target="../media/image42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6.png"/><Relationship Id="rId4" Type="http://schemas.openxmlformats.org/officeDocument/2006/relationships/image" Target="../media/image42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4.png"/><Relationship Id="rId3" Type="http://schemas.openxmlformats.org/officeDocument/2006/relationships/image" Target="../media/image35.png"/><Relationship Id="rId4" Type="http://schemas.openxmlformats.org/officeDocument/2006/relationships/image" Target="../media/image42.png"/><Relationship Id="rId5" Type="http://schemas.openxmlformats.org/officeDocument/2006/relationships/image" Target="../media/image43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Relationship Id="rId5" Type="http://schemas.openxmlformats.org/officeDocument/2006/relationships/image" Target="../media/image44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Relationship Id="rId5" Type="http://schemas.openxmlformats.org/officeDocument/2006/relationships/image" Target="../media/image44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Relationship Id="rId5" Type="http://schemas.openxmlformats.org/officeDocument/2006/relationships/image" Target="../media/image44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2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2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8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8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8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8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6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6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6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6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5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8" name="Google Shape;3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1" name="Google Shape;41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3" name="Google Shape;43;p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0" name="Google Shape;6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2" name="Google Shape;62;p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8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9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" name="Google Shape;78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" name="Google Shape;79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1" name="Google Shape;81;p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0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1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2"/>
          <p:cNvSpPr txBox="1"/>
          <p:nvPr/>
        </p:nvSpPr>
        <p:spPr>
          <a:xfrm>
            <a:off x="329775" y="9534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329775" y="629475"/>
            <a:ext cx="4241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4901925" y="629475"/>
            <a:ext cx="4012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329775" y="32059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" name="Google Shape;99;p12"/>
          <p:cNvSpPr txBox="1"/>
          <p:nvPr/>
        </p:nvSpPr>
        <p:spPr>
          <a:xfrm>
            <a:off x="4901925" y="9534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on                                          to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0" name="Google Shape;100;p12"/>
          <p:cNvGrpSpPr/>
          <p:nvPr/>
        </p:nvGrpSpPr>
        <p:grpSpPr>
          <a:xfrm>
            <a:off x="2650916" y="1644417"/>
            <a:ext cx="1745270" cy="1430724"/>
            <a:chOff x="2642961" y="1644312"/>
            <a:chExt cx="1454634" cy="1195657"/>
          </a:xfrm>
        </p:grpSpPr>
        <p:pic>
          <p:nvPicPr>
            <p:cNvPr id="101" name="Google Shape;101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2" name="Google Shape;102;p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3" name="Google Shape;103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4" name="Google Shape;104;p1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05" name="Google Shape;105;p12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328513" y="35697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98750" y="17780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107" name="Google Shape;107;p12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Teacher Guidance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0" name="Google Shape;110;p1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3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4" name="Google Shape;114;p13"/>
          <p:cNvSpPr txBox="1"/>
          <p:nvPr>
            <p:ph idx="3" type="subTitle"/>
          </p:nvPr>
        </p:nvSpPr>
        <p:spPr>
          <a:xfrm>
            <a:off x="324000" y="2105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5" name="Google Shape;115;p13"/>
          <p:cNvSpPr txBox="1"/>
          <p:nvPr>
            <p:ph idx="4" type="subTitle"/>
          </p:nvPr>
        </p:nvSpPr>
        <p:spPr>
          <a:xfrm>
            <a:off x="2699325" y="2105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6" name="Google Shape;116;p13"/>
          <p:cNvSpPr txBox="1"/>
          <p:nvPr>
            <p:ph idx="5" type="subTitle"/>
          </p:nvPr>
        </p:nvSpPr>
        <p:spPr>
          <a:xfrm>
            <a:off x="324000" y="3400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7" name="Google Shape;117;p13"/>
          <p:cNvSpPr txBox="1"/>
          <p:nvPr>
            <p:ph idx="6" type="subTitle"/>
          </p:nvPr>
        </p:nvSpPr>
        <p:spPr>
          <a:xfrm>
            <a:off x="2699325" y="3400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4)">
  <p:cSld name="CUSTOM_3_1_1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0" name="Google Shape;120;p1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4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3" name="Google Shape;123;p14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4" name="Google Shape;124;p14"/>
          <p:cNvSpPr txBox="1"/>
          <p:nvPr>
            <p:ph idx="3" type="subTitle"/>
          </p:nvPr>
        </p:nvSpPr>
        <p:spPr>
          <a:xfrm>
            <a:off x="324000" y="1800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" name="Google Shape;125;p14"/>
          <p:cNvSpPr txBox="1"/>
          <p:nvPr>
            <p:ph idx="4" type="subTitle"/>
          </p:nvPr>
        </p:nvSpPr>
        <p:spPr>
          <a:xfrm>
            <a:off x="2699325" y="1800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" name="Google Shape;126;p14"/>
          <p:cNvSpPr txBox="1"/>
          <p:nvPr>
            <p:ph idx="5" type="subTitle"/>
          </p:nvPr>
        </p:nvSpPr>
        <p:spPr>
          <a:xfrm>
            <a:off x="324000" y="2791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" name="Google Shape;127;p14"/>
          <p:cNvSpPr txBox="1"/>
          <p:nvPr>
            <p:ph idx="6" type="subTitle"/>
          </p:nvPr>
        </p:nvSpPr>
        <p:spPr>
          <a:xfrm>
            <a:off x="2699325" y="2791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4"/>
          <p:cNvSpPr txBox="1"/>
          <p:nvPr>
            <p:ph idx="7" type="subTitle"/>
          </p:nvPr>
        </p:nvSpPr>
        <p:spPr>
          <a:xfrm>
            <a:off x="324000" y="3781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9" name="Google Shape;129;p14"/>
          <p:cNvSpPr txBox="1"/>
          <p:nvPr>
            <p:ph idx="8" type="subTitle"/>
          </p:nvPr>
        </p:nvSpPr>
        <p:spPr>
          <a:xfrm>
            <a:off x="2699325" y="3781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5)">
  <p:cSld name="CUSTOM_3_1_1_1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2" name="Google Shape;132;p1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5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" name="Google Shape;135;p15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" name="Google Shape;136;p15"/>
          <p:cNvSpPr txBox="1"/>
          <p:nvPr>
            <p:ph idx="3" type="subTitle"/>
          </p:nvPr>
        </p:nvSpPr>
        <p:spPr>
          <a:xfrm>
            <a:off x="324000" y="2486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7" name="Google Shape;137;p15"/>
          <p:cNvSpPr txBox="1"/>
          <p:nvPr>
            <p:ph idx="4" type="subTitle"/>
          </p:nvPr>
        </p:nvSpPr>
        <p:spPr>
          <a:xfrm>
            <a:off x="2699325" y="2486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8" name="Google Shape;138;p15"/>
          <p:cNvSpPr txBox="1"/>
          <p:nvPr>
            <p:ph idx="5" type="subTitle"/>
          </p:nvPr>
        </p:nvSpPr>
        <p:spPr>
          <a:xfrm>
            <a:off x="324000" y="4162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9" name="Google Shape;139;p15"/>
          <p:cNvSpPr txBox="1"/>
          <p:nvPr>
            <p:ph idx="6" type="subTitle"/>
          </p:nvPr>
        </p:nvSpPr>
        <p:spPr>
          <a:xfrm>
            <a:off x="2699325" y="4162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0" name="Google Shape;140;p15"/>
          <p:cNvSpPr txBox="1"/>
          <p:nvPr>
            <p:ph idx="7" type="subTitle"/>
          </p:nvPr>
        </p:nvSpPr>
        <p:spPr>
          <a:xfrm>
            <a:off x="324000" y="1648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" name="Google Shape;141;p15"/>
          <p:cNvSpPr txBox="1"/>
          <p:nvPr>
            <p:ph idx="8" type="subTitle"/>
          </p:nvPr>
        </p:nvSpPr>
        <p:spPr>
          <a:xfrm>
            <a:off x="2699325" y="1648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5"/>
          <p:cNvSpPr txBox="1"/>
          <p:nvPr>
            <p:ph idx="9" type="subTitle"/>
          </p:nvPr>
        </p:nvSpPr>
        <p:spPr>
          <a:xfrm>
            <a:off x="324000" y="3324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" name="Google Shape;143;p15"/>
          <p:cNvSpPr txBox="1"/>
          <p:nvPr>
            <p:ph idx="13" type="subTitle"/>
          </p:nvPr>
        </p:nvSpPr>
        <p:spPr>
          <a:xfrm>
            <a:off x="2699325" y="3324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p2, 2)">
  <p:cSld name="CUSTOM_3_1_1_1_1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6" name="Google Shape;146;p1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6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9" name="Google Shape;149;p16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16"/>
          <p:cNvSpPr txBox="1"/>
          <p:nvPr>
            <p:ph idx="3" type="subTitle"/>
          </p:nvPr>
        </p:nvSpPr>
        <p:spPr>
          <a:xfrm>
            <a:off x="324000" y="2562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1" name="Google Shape;151;p16"/>
          <p:cNvSpPr txBox="1"/>
          <p:nvPr>
            <p:ph idx="4" type="subTitle"/>
          </p:nvPr>
        </p:nvSpPr>
        <p:spPr>
          <a:xfrm>
            <a:off x="2699325" y="2562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7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4" name="Google Shape;154;p17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7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7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7" name="Google Shape;157;p17"/>
          <p:cNvCxnSpPr>
            <a:endCxn id="158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9" name="Google Shape;159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7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1" name="Google Shape;161;p17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7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7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17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18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8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8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2" name="Google Shape;172;p18"/>
          <p:cNvCxnSpPr>
            <a:endCxn id="173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73" name="Google Shape;173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1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8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6" name="Google Shape;176;p18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7" name="Google Shape;177;p18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78" name="Google Shape;178;p1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8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0" name="Google Shape;180;p18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8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" name="Google Shape;182;p18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19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9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9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19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2" name="Google Shape;192;p19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93" name="Google Shape;193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1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1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9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7" name="Google Shape;197;p19"/>
          <p:cNvSpPr txBox="1"/>
          <p:nvPr>
            <p:ph idx="2" type="title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8" name="Google Shape;198;p19"/>
          <p:cNvSpPr txBox="1"/>
          <p:nvPr>
            <p:ph idx="3" type="title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9" name="Google Shape;199;p19"/>
          <p:cNvSpPr txBox="1"/>
          <p:nvPr>
            <p:ph idx="4" type="title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00" name="Google Shape;200;p19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1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2" name="Google Shape;202;p19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" name="Google Shape;204;p19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Google Shape;206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0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2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09" name="Google Shape;209;p2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0" name="Google Shape;21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0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" name="Google Shape;213;p2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2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6" name="Google Shape;216;p21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" name="Google Shape;217;p2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8" name="Google Shape;21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" name="Google Shape;220;p2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2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3" name="Google Shape;223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" name="Google Shape;224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5" name="Google Shape;22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" name="Google Shape;227;p2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2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0" name="Google Shape;230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1" name="Google Shape;231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2" name="Google Shape;232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4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5" name="Google Shape;235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24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38" name="Google Shape;238;p24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39" name="Google Shape;239;p24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40" name="Google Shape;240;p24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41" name="Google Shape;241;p2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2" name="Google Shape;242;p24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3" name="Google Shape;243;p24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4" name="Google Shape;244;p2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5" name="Google Shape;245;p24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5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8" name="Google Shape;248;p2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25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1" name="Google Shape;251;p25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2" name="Google Shape;252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3" name="Google Shape;253;p25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4" name="Google Shape;254;p2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5" name="Google Shape;255;p25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6" name="Google Shape;256;p25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57" name="Google Shape;257;p2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8" name="Google Shape;258;p25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6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1" name="Google Shape;261;p2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26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4" name="Google Shape;264;p26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5" name="Google Shape;265;p2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6" name="Google Shape;266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67" name="Google Shape;267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8" name="Google Shape;268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69" name="Google Shape;269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70" name="Google Shape;270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1" name="Google Shape;271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4" name="Google Shape;274;p2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2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27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7" name="Google Shape;277;p27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8" name="Google Shape;278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79" name="Google Shape;279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80" name="Google Shape;280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1" name="Google Shape;281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2" name="Google Shape;282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83" name="Google Shape;283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4" name="Google Shape;284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" name="Google Shape;286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28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1" name="Google Shape;291;p28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2" name="Google Shape;292;p28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3" name="Google Shape;293;p28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4" name="Google Shape;294;p28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5" name="Google Shape;295;p28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6" name="Google Shape;296;p28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7" name="Google Shape;297;p28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8" name="Google Shape;298;p28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99" name="Google Shape;299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2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2" name="Google Shape;302;p28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03" name="Google Shape;303;p2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4" name="Google Shape;304;p2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5" name="Google Shape;305;p28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06" name="Google Shape;306;p2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7" name="Google Shape;307;p2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9" name="Google Shape;309;p2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2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29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2" name="Google Shape;312;p29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3" name="Google Shape;313;p29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4" name="Google Shape;314;p29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5" name="Google Shape;315;p29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16" name="Google Shape;316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2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8" name="Google Shape;318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9" name="Google Shape;319;p29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20" name="Google Shape;320;p29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21" name="Google Shape;321;p29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22" name="Google Shape;322;p2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3" name="Google Shape;323;p2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4" name="Google Shape;324;p29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25" name="Google Shape;325;p2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6" name="Google Shape;326;p2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27" name="Google Shape;327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8" name="Google Shape;328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29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0" name="Google Shape;330;p29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2" name="Google Shape;332;p3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5" name="Google Shape;335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6" name="Google Shape;336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7" name="Google Shape;337;p30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38" name="Google Shape;338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39" name="Google Shape;339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1" name="Google Shape;341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2" name="Google Shape;342;p30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3" name="Google Shape;343;p30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44" name="Google Shape;344;p3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45" name="Google Shape;345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6" name="Google Shape;346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47" name="Google Shape;347;p3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48" name="Google Shape;348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9" name="Google Shape;349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50" name="Google Shape;350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1" name="Google Shape;351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3" name="Google Shape;353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5" name="Google Shape;355;p3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3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8" name="Google Shape;358;p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9" name="Google Shape;359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0" name="Google Shape;360;p31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1" name="Google Shape;361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62" name="Google Shape;362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4" name="Google Shape;364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5" name="Google Shape;365;p31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6" name="Google Shape;366;p31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67" name="Google Shape;367;p3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68" name="Google Shape;368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9" name="Google Shape;369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70" name="Google Shape;370;p3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71" name="Google Shape;371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2" name="Google Shape;372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3" name="Google Shape;373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4" name="Google Shape;374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5" name="Google Shape;375;p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6" name="Google Shape;376;p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" name="Google Shape;378;p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3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81" name="Google Shape;381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3" name="Google Shape;383;p3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4" name="Google Shape;384;p32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5" name="Google Shape;385;p32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6" name="Google Shape;386;p32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87" name="Google Shape;387;p32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388" name="Google Shape;388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9" name="Google Shape;389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0" name="Google Shape;390;p32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391" name="Google Shape;391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2" name="Google Shape;392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3" name="Google Shape;393;p32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394" name="Google Shape;394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5" name="Google Shape;395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7" name="Google Shape;397;p3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98" name="Google Shape;398;p3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3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00" name="Google Shape;400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2" name="Google Shape;402;p3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3" name="Google Shape;403;p33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4" name="Google Shape;404;p33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5" name="Google Shape;405;p33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6" name="Google Shape;406;p33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07" name="Google Shape;407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8" name="Google Shape;408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09" name="Google Shape;409;p33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10" name="Google Shape;410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1" name="Google Shape;411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2" name="Google Shape;412;p33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13" name="Google Shape;413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4" name="Google Shape;414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6" name="Google Shape;416;p3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17" name="Google Shape;417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19" name="Google Shape;419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1" name="Google Shape;421;p3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2" name="Google Shape;422;p34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3" name="Google Shape;423;p34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4" name="Google Shape;424;p34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25" name="Google Shape;425;p3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26" name="Google Shape;426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7" name="Google Shape;427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28" name="Google Shape;428;p3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29" name="Google Shape;429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0" name="Google Shape;430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1" name="Google Shape;431;p3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32" name="Google Shape;432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3" name="Google Shape;433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5" name="Google Shape;435;p3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6" name="Google Shape;436;p3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38" name="Google Shape;438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0" name="Google Shape;440;p3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1" name="Google Shape;441;p3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2" name="Google Shape;442;p35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3" name="Google Shape;443;p35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4" name="Google Shape;444;p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45" name="Google Shape;445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6" name="Google Shape;446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47" name="Google Shape;447;p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48" name="Google Shape;448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9" name="Google Shape;449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0" name="Google Shape;450;p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51" name="Google Shape;451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2" name="Google Shape;452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4" name="Google Shape;454;p3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5" name="Google Shape;455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36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57" name="Google Shape;457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9" name="Google Shape;459;p3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0" name="Google Shape;460;p36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1" name="Google Shape;461;p36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2" name="Google Shape;462;p36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3" name="Google Shape;463;p36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64" name="Google Shape;464;p36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65" name="Google Shape;465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6" name="Google Shape;466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67" name="Google Shape;467;p36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68" name="Google Shape;468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9" name="Google Shape;469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0" name="Google Shape;470;p36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71" name="Google Shape;471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2" name="Google Shape;472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3" name="Google Shape;473;p36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74" name="Google Shape;474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5" name="Google Shape;475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7" name="Google Shape;477;p3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78" name="Google Shape;478;p3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37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80" name="Google Shape;480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2" name="Google Shape;482;p3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3" name="Google Shape;483;p37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4" name="Google Shape;484;p37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5" name="Google Shape;485;p37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6" name="Google Shape;486;p37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87" name="Google Shape;487;p37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88" name="Google Shape;488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89" name="Google Shape;489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0" name="Google Shape;490;p37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91" name="Google Shape;491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2" name="Google Shape;492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3" name="Google Shape;493;p37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94" name="Google Shape;494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5" name="Google Shape;495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6" name="Google Shape;496;p37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97" name="Google Shape;497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8" name="Google Shape;498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0" name="Google Shape;500;p3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1" name="Google Shape;501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3" name="Google Shape;503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5" name="Google Shape;505;p3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6" name="Google Shape;506;p38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7" name="Google Shape;507;p38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8" name="Google Shape;508;p38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9" name="Google Shape;509;p38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10" name="Google Shape;510;p3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11" name="Google Shape;511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2" name="Google Shape;512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3" name="Google Shape;513;p3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14" name="Google Shape;514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5" name="Google Shape;515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6" name="Google Shape;516;p3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17" name="Google Shape;517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8" name="Google Shape;518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9" name="Google Shape;519;p3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20" name="Google Shape;520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1" name="Google Shape;521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3" name="Google Shape;523;p3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4" name="Google Shape;524;p3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6" name="Google Shape;526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28" name="Google Shape;528;p3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9" name="Google Shape;529;p3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0" name="Google Shape;530;p39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1" name="Google Shape;531;p39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2" name="Google Shape;532;p39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3" name="Google Shape;533;p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34" name="Google Shape;534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5" name="Google Shape;535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6" name="Google Shape;536;p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37" name="Google Shape;537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8" name="Google Shape;538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9" name="Google Shape;539;p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40" name="Google Shape;540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1" name="Google Shape;541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2" name="Google Shape;542;p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43" name="Google Shape;543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4" name="Google Shape;544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6" name="Google Shape;546;p4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47" name="Google Shape;547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40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49" name="Google Shape;549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1" name="Google Shape;551;p4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2" name="Google Shape;552;p40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3" name="Google Shape;553;p40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4" name="Google Shape;554;p40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55" name="Google Shape;555;p40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56" name="Google Shape;556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7" name="Google Shape;557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58" name="Google Shape;558;p40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59" name="Google Shape;559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0" name="Google Shape;560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1" name="Google Shape;561;p40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62" name="Google Shape;562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3" name="Google Shape;563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5" name="Google Shape;565;p4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6" name="Google Shape;566;p4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p41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68" name="Google Shape;568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0" name="Google Shape;570;p4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1" name="Google Shape;571;p41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2" name="Google Shape;572;p41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3" name="Google Shape;573;p41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74" name="Google Shape;574;p41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75" name="Google Shape;575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6" name="Google Shape;576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77" name="Google Shape;577;p41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78" name="Google Shape;578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9" name="Google Shape;579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0" name="Google Shape;580;p41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81" name="Google Shape;581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2" name="Google Shape;582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4" name="Google Shape;584;p4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5" name="Google Shape;585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p4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87" name="Google Shape;587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89" name="Google Shape;589;p4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0" name="Google Shape;590;p42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1" name="Google Shape;591;p42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2" name="Google Shape;592;p42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93" name="Google Shape;593;p4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94" name="Google Shape;594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5" name="Google Shape;595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6" name="Google Shape;596;p4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97" name="Google Shape;597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8" name="Google Shape;598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9" name="Google Shape;599;p4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00" name="Google Shape;600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1" name="Google Shape;601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3" name="Google Shape;603;p4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4" name="Google Shape;604;p4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5" name="Google Shape;605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06" name="Google Shape;606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08" name="Google Shape;608;p4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9" name="Google Shape;609;p43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0" name="Google Shape;610;p43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1" name="Google Shape;611;p43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12" name="Google Shape;612;p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13" name="Google Shape;613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4" name="Google Shape;614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5" name="Google Shape;615;p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16" name="Google Shape;616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7" name="Google Shape;617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8" name="Google Shape;618;p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19" name="Google Shape;619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0" name="Google Shape;620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2" name="Google Shape;622;p4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3" name="Google Shape;623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4" name="Google Shape;624;p4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25" name="Google Shape;625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7" name="Google Shape;627;p4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9" name="Google Shape;629;p4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0" name="Google Shape;630;p4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1" name="Google Shape;631;p4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2" name="Google Shape;632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3" name="Google Shape;633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4" name="Google Shape;634;p4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6" name="Google Shape;636;p4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7" name="Google Shape;637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8" name="Google Shape;638;p4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9" name="Google Shape;639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0" name="Google Shape;640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1" name="Google Shape;641;p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3" name="Google Shape;643;p4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4" name="Google Shape;644;p4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5" name="Google Shape;645;p4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6" name="Google Shape;646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8" name="Google Shape;648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0" name="Google Shape;650;p4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1" name="Google Shape;651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2" name="Google Shape;652;p4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53" name="Google Shape;653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5" name="Google Shape;655;p48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6" name="Google Shape;656;p48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8" name="Google Shape;658;p4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4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0" name="Google Shape;660;p4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1" name="Google Shape;661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62" name="Google Shape;662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63" name="Google Shape;663;p4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64" name="Google Shape;664;p49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6" name="Google Shape;666;p5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7" name="Google Shape;667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8" name="Google Shape;668;p5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9" name="Google Shape;669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70" name="Google Shape;670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71" name="Google Shape;671;p50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72" name="Google Shape;672;p50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4" name="Google Shape;674;p5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5" name="Google Shape;675;p5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6" name="Google Shape;676;p5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7" name="Google Shape;677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78" name="Google Shape;678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79" name="Google Shape;679;p5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80" name="Google Shape;680;p51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2" name="Google Shape;682;p5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3" name="Google Shape;683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4" name="Google Shape;684;p5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85" name="Google Shape;685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86" name="Google Shape;686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7" name="Google Shape;687;p5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88" name="Google Shape;688;p52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0" name="Google Shape;690;p5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1" name="Google Shape;691;p5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2" name="Google Shape;692;p5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3" name="Google Shape;693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94" name="Google Shape;694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95" name="Google Shape;695;p53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6" name="Google Shape;696;p53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8" name="Google Shape;698;p5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9" name="Google Shape;699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0" name="Google Shape;700;p5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1" name="Google Shape;701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2" name="Google Shape;702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03" name="Google Shape;703;p54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4" name="Google Shape;704;p54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6" name="Google Shape;706;p5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7" name="Google Shape;707;p5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8" name="Google Shape;708;p5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9" name="Google Shape;709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10" name="Google Shape;710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11" name="Google Shape;711;p55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2" name="Google Shape;712;p55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_1">
    <p:spTree>
      <p:nvGrpSpPr>
        <p:cNvPr id="713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p56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15" name="Google Shape;715;p5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6" name="Google Shape;716;p56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7" name="Google Shape;717;p56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8" name="Google Shape;718;p56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0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p57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21" name="Google Shape;721;p5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2" name="Google Shape;722;p57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3" name="Google Shape;723;p57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4" name="Google Shape;724;p57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0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725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6" name="Google Shape;726;p5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27" name="Google Shape;727;p58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p59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0" name="Google Shape;730;p59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1" name="Google Shape;731;p59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2" name="Google Shape;732;p59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59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4" name="Google Shape;734;p59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5" name="Google Shape;735;p59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59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7" name="Google Shape;737;p59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738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9" name="Google Shape;739;p6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40" name="Google Shape;740;p60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p6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44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45.xml"/><Relationship Id="rId45" Type="http://schemas.openxmlformats.org/officeDocument/2006/relationships/slideLayout" Target="../slideLayouts/slideLayout44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48" Type="http://schemas.openxmlformats.org/officeDocument/2006/relationships/slideLayout" Target="../slideLayouts/slideLayout47.xml"/><Relationship Id="rId47" Type="http://schemas.openxmlformats.org/officeDocument/2006/relationships/slideLayout" Target="../slideLayouts/slideLayout46.xml"/><Relationship Id="rId49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33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33.xml"/><Relationship Id="rId37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35.xml"/><Relationship Id="rId39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37.xml"/><Relationship Id="rId62" Type="http://schemas.openxmlformats.org/officeDocument/2006/relationships/theme" Target="../theme/theme2.xml"/><Relationship Id="rId61" Type="http://schemas.openxmlformats.org/officeDocument/2006/relationships/slideLayout" Target="../slideLayouts/slideLayout60.xml"/><Relationship Id="rId20" Type="http://schemas.openxmlformats.org/officeDocument/2006/relationships/slideLayout" Target="../slideLayouts/slideLayout19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60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8.xml"/><Relationship Id="rId51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49.xml"/><Relationship Id="rId53" Type="http://schemas.openxmlformats.org/officeDocument/2006/relationships/slideLayout" Target="../slideLayouts/slideLayout52.xml"/><Relationship Id="rId52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10.xml"/><Relationship Id="rId5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9.xml"/><Relationship Id="rId54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12.xml"/><Relationship Id="rId5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11.xml"/><Relationship Id="rId56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14.xml"/><Relationship Id="rId5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13.xml"/><Relationship Id="rId58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  <p:sldLayoutId id="2147483690" r:id="rId44"/>
    <p:sldLayoutId id="2147483691" r:id="rId45"/>
    <p:sldLayoutId id="2147483692" r:id="rId46"/>
    <p:sldLayoutId id="2147483693" r:id="rId47"/>
    <p:sldLayoutId id="2147483694" r:id="rId48"/>
    <p:sldLayoutId id="2147483695" r:id="rId49"/>
    <p:sldLayoutId id="2147483696" r:id="rId50"/>
    <p:sldLayoutId id="2147483697" r:id="rId51"/>
    <p:sldLayoutId id="2147483698" r:id="rId52"/>
    <p:sldLayoutId id="2147483699" r:id="rId53"/>
    <p:sldLayoutId id="2147483700" r:id="rId54"/>
    <p:sldLayoutId id="2147483701" r:id="rId55"/>
    <p:sldLayoutId id="2147483702" r:id="rId56"/>
    <p:sldLayoutId id="2147483703" r:id="rId57"/>
    <p:sldLayoutId id="2147483704" r:id="rId58"/>
    <p:sldLayoutId id="2147483705" r:id="rId59"/>
    <p:sldLayoutId id="2147483706" r:id="rId60"/>
    <p:sldLayoutId id="2147483707" r:id="rId6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3.png"/><Relationship Id="rId4" Type="http://schemas.openxmlformats.org/officeDocument/2006/relationships/image" Target="../media/image5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55.png"/><Relationship Id="rId4" Type="http://schemas.openxmlformats.org/officeDocument/2006/relationships/image" Target="../media/image58.png"/><Relationship Id="rId5" Type="http://schemas.openxmlformats.org/officeDocument/2006/relationships/image" Target="../media/image59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56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57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57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57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64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64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51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61.png"/><Relationship Id="rId4" Type="http://schemas.openxmlformats.org/officeDocument/2006/relationships/image" Target="../media/image43.png"/><Relationship Id="rId5" Type="http://schemas.openxmlformats.org/officeDocument/2006/relationships/image" Target="../media/image53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63.png"/><Relationship Id="rId4" Type="http://schemas.openxmlformats.org/officeDocument/2006/relationships/image" Target="../media/image65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65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9.xml"/><Relationship Id="rId2" Type="http://schemas.openxmlformats.org/officeDocument/2006/relationships/notesSlide" Target="../notesSlides/notesSlide45.xml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Relationship Id="rId5" Type="http://schemas.openxmlformats.org/officeDocument/2006/relationships/image" Target="../media/image6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p62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Problem solving with constructions</a:t>
            </a:r>
            <a:endParaRPr/>
          </a:p>
        </p:txBody>
      </p:sp>
      <p:sp>
        <p:nvSpPr>
          <p:cNvPr id="748" name="Google Shape;748;p62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Constructions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p63"/>
          <p:cNvSpPr txBox="1"/>
          <p:nvPr/>
        </p:nvSpPr>
        <p:spPr>
          <a:xfrm>
            <a:off x="5655175" y="953025"/>
            <a:ext cx="1928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to use Oak lessons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p64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 can use my knowledge of constructions to solve problems.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p65"/>
          <p:cNvSpPr txBox="1"/>
          <p:nvPr/>
        </p:nvSpPr>
        <p:spPr>
          <a:xfrm>
            <a:off x="324000" y="810000"/>
            <a:ext cx="84960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Lexend"/>
                <a:ea typeface="Lexend"/>
                <a:cs typeface="Lexend"/>
                <a:sym typeface="Lexend"/>
              </a:rPr>
              <a:t>To 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bisect</a:t>
            </a: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Lexend"/>
                <a:ea typeface="Lexend"/>
                <a:cs typeface="Lexend"/>
                <a:sym typeface="Lexend"/>
              </a:rPr>
              <a:t> means to cut or divide an object into two equal parts. </a:t>
            </a:r>
            <a:endParaRPr sz="1800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64" name="Google Shape;764;p65"/>
          <p:cNvSpPr txBox="1"/>
          <p:nvPr/>
        </p:nvSpPr>
        <p:spPr>
          <a:xfrm>
            <a:off x="324000" y="1836000"/>
            <a:ext cx="84960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highlight>
                  <a:srgbClr val="FFFFFF"/>
                </a:highlight>
                <a:latin typeface="Lexend"/>
                <a:ea typeface="Lexend"/>
                <a:cs typeface="Lexend"/>
                <a:sym typeface="Lexend"/>
              </a:rPr>
              <a:t>A rhombus is a parallelogram where all sides are the same length.  </a:t>
            </a:r>
            <a:endParaRPr sz="1800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65" name="Google Shape;765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57174" y="1869750"/>
            <a:ext cx="932700" cy="70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9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p66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Constructing shapes</a:t>
            </a:r>
            <a:endParaRPr/>
          </a:p>
        </p:txBody>
      </p:sp>
      <p:sp>
        <p:nvSpPr>
          <p:cNvPr id="771" name="Google Shape;771;p66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Identifying polygons from premade constructions</a:t>
            </a:r>
            <a:endParaRPr/>
          </a:p>
        </p:txBody>
      </p:sp>
      <p:sp>
        <p:nvSpPr>
          <p:cNvPr id="772" name="Google Shape;772;p66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Understanding properties of constructions</a:t>
            </a:r>
            <a:endParaRPr/>
          </a:p>
        </p:txBody>
      </p:sp>
      <p:sp>
        <p:nvSpPr>
          <p:cNvPr id="773" name="Google Shape;773;p66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Problem solving with constructions</a:t>
            </a:r>
            <a:endParaRPr/>
          </a:p>
        </p:txBody>
      </p:sp>
      <p:pic>
        <p:nvPicPr>
          <p:cNvPr id="774" name="Google Shape;774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5944" y="1741008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8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p67"/>
          <p:cNvSpPr txBox="1"/>
          <p:nvPr/>
        </p:nvSpPr>
        <p:spPr>
          <a:xfrm>
            <a:off x="324000" y="3985958"/>
            <a:ext cx="44205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Which properties of this construction are important in defining these polygons and angles?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0" name="Google Shape;780;p67"/>
          <p:cNvSpPr/>
          <p:nvPr/>
        </p:nvSpPr>
        <p:spPr>
          <a:xfrm>
            <a:off x="5630550" y="1635175"/>
            <a:ext cx="1513800" cy="2618400"/>
          </a:xfrm>
          <a:prstGeom prst="diamond">
            <a:avLst/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1" name="Google Shape;781;p67"/>
          <p:cNvSpPr/>
          <p:nvPr/>
        </p:nvSpPr>
        <p:spPr>
          <a:xfrm>
            <a:off x="5092200" y="2393350"/>
            <a:ext cx="1101900" cy="1101900"/>
          </a:xfrm>
          <a:prstGeom prst="arc">
            <a:avLst>
              <a:gd fmla="val 17923413" name="adj1"/>
              <a:gd fmla="val 0" name="adj2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2" name="Google Shape;782;p67"/>
          <p:cNvSpPr txBox="1"/>
          <p:nvPr/>
        </p:nvSpPr>
        <p:spPr>
          <a:xfrm>
            <a:off x="5721966" y="2657731"/>
            <a:ext cx="437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60°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783" name="Google Shape;783;p67"/>
          <p:cNvGrpSpPr/>
          <p:nvPr/>
        </p:nvGrpSpPr>
        <p:grpSpPr>
          <a:xfrm flipH="1" rot="10800000">
            <a:off x="5092200" y="2375800"/>
            <a:ext cx="1102103" cy="1101900"/>
            <a:chOff x="5092200" y="3460250"/>
            <a:chExt cx="1102103" cy="1101900"/>
          </a:xfrm>
        </p:grpSpPr>
        <p:sp>
          <p:nvSpPr>
            <p:cNvPr id="784" name="Google Shape;784;p67"/>
            <p:cNvSpPr/>
            <p:nvPr/>
          </p:nvSpPr>
          <p:spPr>
            <a:xfrm>
              <a:off x="5092200" y="3460250"/>
              <a:ext cx="1101900" cy="1101900"/>
            </a:xfrm>
            <a:prstGeom prst="arc">
              <a:avLst>
                <a:gd fmla="val 17923413" name="adj1"/>
                <a:gd fmla="val 0" name="adj2"/>
              </a:avLst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785" name="Google Shape;785;p67"/>
            <p:cNvSpPr txBox="1"/>
            <p:nvPr/>
          </p:nvSpPr>
          <p:spPr>
            <a:xfrm rot="10800000">
              <a:off x="5756603" y="3705260"/>
              <a:ext cx="4377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60°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786" name="Google Shape;786;p67"/>
          <p:cNvSpPr/>
          <p:nvPr/>
        </p:nvSpPr>
        <p:spPr>
          <a:xfrm>
            <a:off x="5630550" y="1635170"/>
            <a:ext cx="1513800" cy="1309500"/>
          </a:xfrm>
          <a:prstGeom prst="triangle">
            <a:avLst>
              <a:gd fmla="val 50000" name="adj"/>
            </a:avLst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787" name="Google Shape;787;p67"/>
          <p:cNvGrpSpPr/>
          <p:nvPr/>
        </p:nvGrpSpPr>
        <p:grpSpPr>
          <a:xfrm>
            <a:off x="6387812" y="1671275"/>
            <a:ext cx="277512" cy="2548800"/>
            <a:chOff x="6014213" y="1671275"/>
            <a:chExt cx="277513" cy="2548800"/>
          </a:xfrm>
        </p:grpSpPr>
        <p:sp>
          <p:nvSpPr>
            <p:cNvPr id="788" name="Google Shape;788;p67"/>
            <p:cNvSpPr/>
            <p:nvPr/>
          </p:nvSpPr>
          <p:spPr>
            <a:xfrm>
              <a:off x="6014225" y="2665928"/>
              <a:ext cx="277500" cy="277500"/>
            </a:xfrm>
            <a:prstGeom prst="rect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789" name="Google Shape;789;p67"/>
            <p:cNvCxnSpPr/>
            <p:nvPr/>
          </p:nvCxnSpPr>
          <p:spPr>
            <a:xfrm>
              <a:off x="6014213" y="1671275"/>
              <a:ext cx="0" cy="2548800"/>
            </a:xfrm>
            <a:prstGeom prst="straightConnector1">
              <a:avLst/>
            </a:prstGeom>
            <a:noFill/>
            <a:ln cap="flat" cmpd="sng" w="3810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790" name="Google Shape;790;p67"/>
          <p:cNvSpPr txBox="1"/>
          <p:nvPr/>
        </p:nvSpPr>
        <p:spPr>
          <a:xfrm>
            <a:off x="914100" y="2985600"/>
            <a:ext cx="2996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 60° angle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1" name="Google Shape;791;p67"/>
          <p:cNvSpPr txBox="1"/>
          <p:nvPr/>
        </p:nvSpPr>
        <p:spPr>
          <a:xfrm>
            <a:off x="914100" y="2601900"/>
            <a:ext cx="2996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an equilateral triangle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2" name="Google Shape;792;p67"/>
          <p:cNvSpPr txBox="1"/>
          <p:nvPr/>
        </p:nvSpPr>
        <p:spPr>
          <a:xfrm>
            <a:off x="914100" y="2218200"/>
            <a:ext cx="2996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 right angle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3" name="Google Shape;793;p6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Identifying polygons from premade constructions</a:t>
            </a:r>
            <a:endParaRPr/>
          </a:p>
        </p:txBody>
      </p:sp>
      <p:sp>
        <p:nvSpPr>
          <p:cNvPr id="794" name="Google Shape;794;p67"/>
          <p:cNvSpPr txBox="1"/>
          <p:nvPr/>
        </p:nvSpPr>
        <p:spPr>
          <a:xfrm>
            <a:off x="324000" y="673325"/>
            <a:ext cx="8496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It is possible to identify different polygons and angles from a given set of constructions.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795" name="Google Shape;795;p67"/>
          <p:cNvGrpSpPr/>
          <p:nvPr/>
        </p:nvGrpSpPr>
        <p:grpSpPr>
          <a:xfrm>
            <a:off x="5483133" y="2805588"/>
            <a:ext cx="1834539" cy="277363"/>
            <a:chOff x="5104330" y="2845088"/>
            <a:chExt cx="3642126" cy="277363"/>
          </a:xfrm>
        </p:grpSpPr>
        <p:cxnSp>
          <p:nvCxnSpPr>
            <p:cNvPr id="796" name="Google Shape;796;p67"/>
            <p:cNvCxnSpPr/>
            <p:nvPr/>
          </p:nvCxnSpPr>
          <p:spPr>
            <a:xfrm>
              <a:off x="5433500" y="2983850"/>
              <a:ext cx="29838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797" name="Google Shape;797;p67"/>
            <p:cNvSpPr txBox="1"/>
            <p:nvPr/>
          </p:nvSpPr>
          <p:spPr>
            <a:xfrm>
              <a:off x="5104330" y="2845250"/>
              <a:ext cx="2823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798" name="Google Shape;798;p67"/>
            <p:cNvSpPr txBox="1"/>
            <p:nvPr/>
          </p:nvSpPr>
          <p:spPr>
            <a:xfrm>
              <a:off x="8464156" y="2845088"/>
              <a:ext cx="2823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799" name="Google Shape;799;p67"/>
          <p:cNvSpPr txBox="1"/>
          <p:nvPr/>
        </p:nvSpPr>
        <p:spPr>
          <a:xfrm>
            <a:off x="324000" y="1557600"/>
            <a:ext cx="3586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In this construction of a perpendicular bisector, there is: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0" name="Google Shape;800;p67"/>
          <p:cNvSpPr txBox="1"/>
          <p:nvPr/>
        </p:nvSpPr>
        <p:spPr>
          <a:xfrm>
            <a:off x="914100" y="3369300"/>
            <a:ext cx="2996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 rhombus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01" name="Google Shape;801;p67"/>
          <p:cNvGrpSpPr/>
          <p:nvPr/>
        </p:nvGrpSpPr>
        <p:grpSpPr>
          <a:xfrm>
            <a:off x="4138792" y="1440956"/>
            <a:ext cx="4512841" cy="3006600"/>
            <a:chOff x="3757792" y="1440956"/>
            <a:chExt cx="4512841" cy="3006600"/>
          </a:xfrm>
        </p:grpSpPr>
        <p:sp>
          <p:nvSpPr>
            <p:cNvPr id="802" name="Google Shape;802;p67"/>
            <p:cNvSpPr/>
            <p:nvPr/>
          </p:nvSpPr>
          <p:spPr>
            <a:xfrm>
              <a:off x="3757792" y="1440956"/>
              <a:ext cx="3006600" cy="3006600"/>
            </a:xfrm>
            <a:prstGeom prst="ellipse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03" name="Google Shape;803;p67"/>
            <p:cNvSpPr/>
            <p:nvPr/>
          </p:nvSpPr>
          <p:spPr>
            <a:xfrm>
              <a:off x="5264034" y="1440956"/>
              <a:ext cx="3006600" cy="3006600"/>
            </a:xfrm>
            <a:prstGeom prst="ellipse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7" name="Shape 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8" name="Google Shape;808;p68"/>
          <p:cNvGrpSpPr/>
          <p:nvPr/>
        </p:nvGrpSpPr>
        <p:grpSpPr>
          <a:xfrm>
            <a:off x="4138792" y="1440956"/>
            <a:ext cx="4512841" cy="3006600"/>
            <a:chOff x="3757792" y="1440956"/>
            <a:chExt cx="4512841" cy="3006600"/>
          </a:xfrm>
        </p:grpSpPr>
        <p:sp>
          <p:nvSpPr>
            <p:cNvPr id="809" name="Google Shape;809;p68"/>
            <p:cNvSpPr/>
            <p:nvPr/>
          </p:nvSpPr>
          <p:spPr>
            <a:xfrm>
              <a:off x="3757792" y="1440956"/>
              <a:ext cx="3006600" cy="3006600"/>
            </a:xfrm>
            <a:prstGeom prst="ellipse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10" name="Google Shape;810;p68"/>
            <p:cNvSpPr/>
            <p:nvPr/>
          </p:nvSpPr>
          <p:spPr>
            <a:xfrm>
              <a:off x="5264034" y="1440956"/>
              <a:ext cx="3006600" cy="3006600"/>
            </a:xfrm>
            <a:prstGeom prst="ellipse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811" name="Google Shape;811;p68"/>
          <p:cNvSpPr txBox="1"/>
          <p:nvPr/>
        </p:nvSpPr>
        <p:spPr>
          <a:xfrm>
            <a:off x="324000" y="716975"/>
            <a:ext cx="3586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Both circles have the same </a:t>
            </a:r>
            <a:r>
              <a:rPr lang="en-GB" sz="18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radius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as the length of AB.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2" name="Google Shape;812;p6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Identifying polygons from premade constructions</a:t>
            </a:r>
            <a:endParaRPr/>
          </a:p>
        </p:txBody>
      </p:sp>
      <p:grpSp>
        <p:nvGrpSpPr>
          <p:cNvPr id="813" name="Google Shape;813;p68"/>
          <p:cNvGrpSpPr/>
          <p:nvPr/>
        </p:nvGrpSpPr>
        <p:grpSpPr>
          <a:xfrm>
            <a:off x="5477944" y="2805588"/>
            <a:ext cx="1834539" cy="277363"/>
            <a:chOff x="5104330" y="2845088"/>
            <a:chExt cx="3642126" cy="277363"/>
          </a:xfrm>
        </p:grpSpPr>
        <p:cxnSp>
          <p:nvCxnSpPr>
            <p:cNvPr id="814" name="Google Shape;814;p68"/>
            <p:cNvCxnSpPr/>
            <p:nvPr/>
          </p:nvCxnSpPr>
          <p:spPr>
            <a:xfrm>
              <a:off x="5433500" y="2983850"/>
              <a:ext cx="29838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815" name="Google Shape;815;p68"/>
            <p:cNvSpPr txBox="1"/>
            <p:nvPr/>
          </p:nvSpPr>
          <p:spPr>
            <a:xfrm>
              <a:off x="5104330" y="2845250"/>
              <a:ext cx="2823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16" name="Google Shape;816;p68"/>
            <p:cNvSpPr txBox="1"/>
            <p:nvPr/>
          </p:nvSpPr>
          <p:spPr>
            <a:xfrm>
              <a:off x="8464156" y="2845088"/>
              <a:ext cx="2823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817" name="Google Shape;817;p68"/>
          <p:cNvSpPr txBox="1"/>
          <p:nvPr/>
        </p:nvSpPr>
        <p:spPr>
          <a:xfrm>
            <a:off x="324000" y="1605925"/>
            <a:ext cx="3586200" cy="24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This means that the distance from either endpoint to an intersection is equal in length to AB.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This creates an equilateral triangle or a rhombus, depending on how many points you join together.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18" name="Google Shape;818;p68"/>
          <p:cNvGrpSpPr/>
          <p:nvPr/>
        </p:nvGrpSpPr>
        <p:grpSpPr>
          <a:xfrm>
            <a:off x="4655973" y="1441697"/>
            <a:ext cx="2759869" cy="1919924"/>
            <a:chOff x="4655973" y="1441697"/>
            <a:chExt cx="2759869" cy="1919924"/>
          </a:xfrm>
        </p:grpSpPr>
        <p:grpSp>
          <p:nvGrpSpPr>
            <p:cNvPr id="819" name="Google Shape;819;p68"/>
            <p:cNvGrpSpPr/>
            <p:nvPr/>
          </p:nvGrpSpPr>
          <p:grpSpPr>
            <a:xfrm>
              <a:off x="5641754" y="3079646"/>
              <a:ext cx="1506918" cy="281975"/>
              <a:chOff x="2207857" y="3780000"/>
              <a:chExt cx="1506918" cy="281975"/>
            </a:xfrm>
          </p:grpSpPr>
          <p:cxnSp>
            <p:nvCxnSpPr>
              <p:cNvPr id="820" name="Google Shape;820;p68"/>
              <p:cNvCxnSpPr/>
              <p:nvPr/>
            </p:nvCxnSpPr>
            <p:spPr>
              <a:xfrm>
                <a:off x="2207857" y="3780000"/>
                <a:ext cx="15069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accent5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</p:cxnSp>
          <p:sp>
            <p:nvSpPr>
              <p:cNvPr id="821" name="Google Shape;821;p68"/>
              <p:cNvSpPr txBox="1"/>
              <p:nvPr/>
            </p:nvSpPr>
            <p:spPr>
              <a:xfrm>
                <a:off x="2207875" y="3784775"/>
                <a:ext cx="1506900" cy="27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10 cm</a:t>
                </a:r>
                <a:endParaRPr b="0" i="0" sz="18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822" name="Google Shape;822;p68"/>
            <p:cNvGrpSpPr/>
            <p:nvPr/>
          </p:nvGrpSpPr>
          <p:grpSpPr>
            <a:xfrm rot="3599956">
              <a:off x="4401355" y="2230127"/>
              <a:ext cx="1506885" cy="281969"/>
              <a:chOff x="2207857" y="3780000"/>
              <a:chExt cx="1506918" cy="281975"/>
            </a:xfrm>
          </p:grpSpPr>
          <p:cxnSp>
            <p:nvCxnSpPr>
              <p:cNvPr id="823" name="Google Shape;823;p68"/>
              <p:cNvCxnSpPr/>
              <p:nvPr/>
            </p:nvCxnSpPr>
            <p:spPr>
              <a:xfrm>
                <a:off x="2207857" y="3780000"/>
                <a:ext cx="15069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accent5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</p:cxnSp>
          <p:sp>
            <p:nvSpPr>
              <p:cNvPr id="824" name="Google Shape;824;p68"/>
              <p:cNvSpPr txBox="1"/>
              <p:nvPr/>
            </p:nvSpPr>
            <p:spPr>
              <a:xfrm>
                <a:off x="2207875" y="3784775"/>
                <a:ext cx="1506900" cy="27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10 cm</a:t>
                </a:r>
                <a:endParaRPr b="0" i="0" sz="18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825" name="Google Shape;825;p68"/>
            <p:cNvGrpSpPr/>
            <p:nvPr/>
          </p:nvGrpSpPr>
          <p:grpSpPr>
            <a:xfrm rot="5400000">
              <a:off x="6523782" y="2056556"/>
              <a:ext cx="1506918" cy="277200"/>
              <a:chOff x="2207857" y="3502800"/>
              <a:chExt cx="1506918" cy="277200"/>
            </a:xfrm>
          </p:grpSpPr>
          <p:cxnSp>
            <p:nvCxnSpPr>
              <p:cNvPr id="826" name="Google Shape;826;p68"/>
              <p:cNvCxnSpPr/>
              <p:nvPr/>
            </p:nvCxnSpPr>
            <p:spPr>
              <a:xfrm>
                <a:off x="2207857" y="3780000"/>
                <a:ext cx="15069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accent5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</p:cxnSp>
          <p:sp>
            <p:nvSpPr>
              <p:cNvPr id="827" name="Google Shape;827;p68"/>
              <p:cNvSpPr txBox="1"/>
              <p:nvPr/>
            </p:nvSpPr>
            <p:spPr>
              <a:xfrm>
                <a:off x="2207875" y="3502800"/>
                <a:ext cx="1506900" cy="27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10 cm</a:t>
                </a:r>
                <a:endParaRPr b="0" i="0" sz="18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grpSp>
        <p:nvGrpSpPr>
          <p:cNvPr id="828" name="Google Shape;828;p68"/>
          <p:cNvGrpSpPr/>
          <p:nvPr/>
        </p:nvGrpSpPr>
        <p:grpSpPr>
          <a:xfrm>
            <a:off x="5650062" y="1636642"/>
            <a:ext cx="1490809" cy="2609652"/>
            <a:chOff x="-3555536" y="4447558"/>
            <a:chExt cx="1490809" cy="2609652"/>
          </a:xfrm>
        </p:grpSpPr>
        <p:grpSp>
          <p:nvGrpSpPr>
            <p:cNvPr id="829" name="Google Shape;829;p68"/>
            <p:cNvGrpSpPr/>
            <p:nvPr/>
          </p:nvGrpSpPr>
          <p:grpSpPr>
            <a:xfrm rot="3599956">
              <a:off x="-3316995" y="5029563"/>
              <a:ext cx="1506885" cy="281969"/>
              <a:chOff x="2207857" y="3780000"/>
              <a:chExt cx="1506918" cy="281975"/>
            </a:xfrm>
          </p:grpSpPr>
          <p:cxnSp>
            <p:nvCxnSpPr>
              <p:cNvPr id="830" name="Google Shape;830;p68"/>
              <p:cNvCxnSpPr/>
              <p:nvPr/>
            </p:nvCxnSpPr>
            <p:spPr>
              <a:xfrm>
                <a:off x="2207857" y="3780000"/>
                <a:ext cx="15069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accent5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</p:cxnSp>
          <p:sp>
            <p:nvSpPr>
              <p:cNvPr id="831" name="Google Shape;831;p68"/>
              <p:cNvSpPr txBox="1"/>
              <p:nvPr/>
            </p:nvSpPr>
            <p:spPr>
              <a:xfrm>
                <a:off x="2207875" y="3784775"/>
                <a:ext cx="1506900" cy="27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10 cm</a:t>
                </a:r>
                <a:endParaRPr b="0" i="0" sz="18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832" name="Google Shape;832;p68"/>
            <p:cNvGrpSpPr/>
            <p:nvPr/>
          </p:nvGrpSpPr>
          <p:grpSpPr>
            <a:xfrm flipH="1" rot="-3599956">
              <a:off x="-3810154" y="5030397"/>
              <a:ext cx="1506885" cy="281969"/>
              <a:chOff x="2207857" y="3780000"/>
              <a:chExt cx="1506918" cy="281975"/>
            </a:xfrm>
          </p:grpSpPr>
          <p:cxnSp>
            <p:nvCxnSpPr>
              <p:cNvPr id="833" name="Google Shape;833;p68"/>
              <p:cNvCxnSpPr/>
              <p:nvPr/>
            </p:nvCxnSpPr>
            <p:spPr>
              <a:xfrm>
                <a:off x="2207857" y="3780000"/>
                <a:ext cx="15069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accent5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</p:cxnSp>
          <p:sp>
            <p:nvSpPr>
              <p:cNvPr id="834" name="Google Shape;834;p68"/>
              <p:cNvSpPr txBox="1"/>
              <p:nvPr/>
            </p:nvSpPr>
            <p:spPr>
              <a:xfrm>
                <a:off x="2207875" y="3784775"/>
                <a:ext cx="1506900" cy="27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10 cm</a:t>
                </a:r>
                <a:endParaRPr b="0" i="0" sz="18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835" name="Google Shape;835;p68"/>
            <p:cNvGrpSpPr/>
            <p:nvPr/>
          </p:nvGrpSpPr>
          <p:grpSpPr>
            <a:xfrm flipH="1" rot="7200044">
              <a:off x="-3316995" y="6193236"/>
              <a:ext cx="1506885" cy="281969"/>
              <a:chOff x="2207857" y="3780000"/>
              <a:chExt cx="1506918" cy="281975"/>
            </a:xfrm>
          </p:grpSpPr>
          <p:cxnSp>
            <p:nvCxnSpPr>
              <p:cNvPr id="836" name="Google Shape;836;p68"/>
              <p:cNvCxnSpPr/>
              <p:nvPr/>
            </p:nvCxnSpPr>
            <p:spPr>
              <a:xfrm>
                <a:off x="2207857" y="3780000"/>
                <a:ext cx="15069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accent5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</p:cxnSp>
          <p:sp>
            <p:nvSpPr>
              <p:cNvPr id="837" name="Google Shape;837;p68"/>
              <p:cNvSpPr txBox="1"/>
              <p:nvPr/>
            </p:nvSpPr>
            <p:spPr>
              <a:xfrm rot="10800000">
                <a:off x="2207875" y="3784775"/>
                <a:ext cx="1506900" cy="27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10 cm</a:t>
                </a:r>
                <a:endParaRPr b="0" i="0" sz="18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838" name="Google Shape;838;p68"/>
            <p:cNvGrpSpPr/>
            <p:nvPr/>
          </p:nvGrpSpPr>
          <p:grpSpPr>
            <a:xfrm rot="-7200044">
              <a:off x="-3810154" y="6192402"/>
              <a:ext cx="1506885" cy="281969"/>
              <a:chOff x="2207857" y="3780000"/>
              <a:chExt cx="1506918" cy="281975"/>
            </a:xfrm>
          </p:grpSpPr>
          <p:cxnSp>
            <p:nvCxnSpPr>
              <p:cNvPr id="839" name="Google Shape;839;p68"/>
              <p:cNvCxnSpPr/>
              <p:nvPr/>
            </p:nvCxnSpPr>
            <p:spPr>
              <a:xfrm>
                <a:off x="2207857" y="3780000"/>
                <a:ext cx="15069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accent5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</p:cxnSp>
          <p:sp>
            <p:nvSpPr>
              <p:cNvPr id="840" name="Google Shape;840;p68"/>
              <p:cNvSpPr txBox="1"/>
              <p:nvPr/>
            </p:nvSpPr>
            <p:spPr>
              <a:xfrm rot="10800000">
                <a:off x="2207875" y="3784775"/>
                <a:ext cx="1506900" cy="27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10 cm</a:t>
                </a:r>
                <a:endParaRPr b="0" i="0" sz="18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grpSp>
        <p:nvGrpSpPr>
          <p:cNvPr id="841" name="Google Shape;841;p68"/>
          <p:cNvGrpSpPr/>
          <p:nvPr/>
        </p:nvGrpSpPr>
        <p:grpSpPr>
          <a:xfrm>
            <a:off x="5642015" y="3078246"/>
            <a:ext cx="1506918" cy="281975"/>
            <a:chOff x="2207857" y="3780000"/>
            <a:chExt cx="1506918" cy="281975"/>
          </a:xfrm>
        </p:grpSpPr>
        <p:cxnSp>
          <p:nvCxnSpPr>
            <p:cNvPr id="842" name="Google Shape;842;p68"/>
            <p:cNvCxnSpPr/>
            <p:nvPr/>
          </p:nvCxnSpPr>
          <p:spPr>
            <a:xfrm>
              <a:off x="2207857" y="3780000"/>
              <a:ext cx="1506900" cy="0"/>
            </a:xfrm>
            <a:prstGeom prst="straightConnector1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843" name="Google Shape;843;p68"/>
            <p:cNvSpPr txBox="1"/>
            <p:nvPr/>
          </p:nvSpPr>
          <p:spPr>
            <a:xfrm>
              <a:off x="2207875" y="3784775"/>
              <a:ext cx="15069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10 cm</a:t>
              </a:r>
              <a:endParaRPr b="0" i="0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7" name="Shape 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48" name="Google Shape;848;p69"/>
          <p:cNvCxnSpPr>
            <a:stCxn id="849" idx="2"/>
            <a:endCxn id="849" idx="6"/>
          </p:cNvCxnSpPr>
          <p:nvPr/>
        </p:nvCxnSpPr>
        <p:spPr>
          <a:xfrm>
            <a:off x="5775963" y="1931402"/>
            <a:ext cx="18759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50" name="Google Shape;850;p69"/>
          <p:cNvSpPr/>
          <p:nvPr/>
        </p:nvSpPr>
        <p:spPr>
          <a:xfrm>
            <a:off x="4837037" y="993452"/>
            <a:ext cx="1875900" cy="1875900"/>
          </a:xfrm>
          <a:prstGeom prst="ellipse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1" name="Google Shape;851;p69"/>
          <p:cNvSpPr/>
          <p:nvPr/>
        </p:nvSpPr>
        <p:spPr>
          <a:xfrm>
            <a:off x="6712247" y="993452"/>
            <a:ext cx="1875900" cy="1875900"/>
          </a:xfrm>
          <a:prstGeom prst="ellipse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9" name="Google Shape;849;p69"/>
          <p:cNvSpPr/>
          <p:nvPr/>
        </p:nvSpPr>
        <p:spPr>
          <a:xfrm>
            <a:off x="5775963" y="993452"/>
            <a:ext cx="1875900" cy="1875900"/>
          </a:xfrm>
          <a:prstGeom prst="ellipse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2" name="Google Shape;852;p6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Identifying polygons from premade constructions</a:t>
            </a:r>
            <a:endParaRPr/>
          </a:p>
        </p:txBody>
      </p:sp>
      <p:sp>
        <p:nvSpPr>
          <p:cNvPr id="853" name="Google Shape;853;p69"/>
          <p:cNvSpPr txBox="1"/>
          <p:nvPr/>
        </p:nvSpPr>
        <p:spPr>
          <a:xfrm>
            <a:off x="5555019" y="1792800"/>
            <a:ext cx="142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4" name="Google Shape;854;p69"/>
          <p:cNvSpPr txBox="1"/>
          <p:nvPr/>
        </p:nvSpPr>
        <p:spPr>
          <a:xfrm>
            <a:off x="7728069" y="1792800"/>
            <a:ext cx="142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5" name="Google Shape;855;p69"/>
          <p:cNvSpPr txBox="1"/>
          <p:nvPr/>
        </p:nvSpPr>
        <p:spPr>
          <a:xfrm>
            <a:off x="324000" y="716975"/>
            <a:ext cx="35862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Three congruent circles are drawn.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Two circles have centres at the endpoints of line segment AB, and the other has centre at the midpoint of AB.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6" name="Google Shape;856;p69"/>
          <p:cNvSpPr txBox="1"/>
          <p:nvPr/>
        </p:nvSpPr>
        <p:spPr>
          <a:xfrm>
            <a:off x="4480975" y="3020700"/>
            <a:ext cx="43389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All 6 sides have a length of 8 cm;  this is a regular hexagon. 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This is because the shape can be made from 6 equilateral triangles, each with a vertex at the centre of the middle circle.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857" name="Google Shape;857;p69"/>
          <p:cNvGrpSpPr/>
          <p:nvPr/>
        </p:nvGrpSpPr>
        <p:grpSpPr>
          <a:xfrm rot="3599804">
            <a:off x="4938973" y="1457541"/>
            <a:ext cx="957401" cy="281969"/>
            <a:chOff x="2207857" y="3780000"/>
            <a:chExt cx="1506918" cy="281975"/>
          </a:xfrm>
        </p:grpSpPr>
        <p:cxnSp>
          <p:nvCxnSpPr>
            <p:cNvPr id="858" name="Google Shape;858;p69"/>
            <p:cNvCxnSpPr/>
            <p:nvPr/>
          </p:nvCxnSpPr>
          <p:spPr>
            <a:xfrm>
              <a:off x="2207857" y="3780000"/>
              <a:ext cx="1506900" cy="0"/>
            </a:xfrm>
            <a:prstGeom prst="straightConnector1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859" name="Google Shape;859;p69"/>
            <p:cNvSpPr txBox="1"/>
            <p:nvPr/>
          </p:nvSpPr>
          <p:spPr>
            <a:xfrm>
              <a:off x="2207875" y="3784775"/>
              <a:ext cx="15069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8 cm</a:t>
              </a:r>
              <a:endParaRPr b="0" i="0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860" name="Google Shape;860;p69"/>
          <p:cNvGrpSpPr/>
          <p:nvPr/>
        </p:nvGrpSpPr>
        <p:grpSpPr>
          <a:xfrm>
            <a:off x="324000" y="1118850"/>
            <a:ext cx="7330350" cy="2135250"/>
            <a:chOff x="324000" y="1118850"/>
            <a:chExt cx="7330350" cy="2135250"/>
          </a:xfrm>
        </p:grpSpPr>
        <p:sp>
          <p:nvSpPr>
            <p:cNvPr id="861" name="Google Shape;861;p69"/>
            <p:cNvSpPr txBox="1"/>
            <p:nvPr/>
          </p:nvSpPr>
          <p:spPr>
            <a:xfrm>
              <a:off x="324000" y="2700000"/>
              <a:ext cx="35862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How many sides of this hexagon have length 8 cm?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62" name="Google Shape;862;p69"/>
            <p:cNvSpPr/>
            <p:nvPr/>
          </p:nvSpPr>
          <p:spPr>
            <a:xfrm>
              <a:off x="5776025" y="1118850"/>
              <a:ext cx="1878325" cy="1624900"/>
            </a:xfrm>
            <a:custGeom>
              <a:rect b="b" l="l" r="r" t="t"/>
              <a:pathLst>
                <a:path extrusionOk="0" h="64996" w="75133">
                  <a:moveTo>
                    <a:pt x="18816" y="64996"/>
                  </a:moveTo>
                  <a:lnTo>
                    <a:pt x="56373" y="64996"/>
                  </a:lnTo>
                  <a:lnTo>
                    <a:pt x="75133" y="32503"/>
                  </a:lnTo>
                  <a:lnTo>
                    <a:pt x="56368" y="0"/>
                  </a:lnTo>
                  <a:lnTo>
                    <a:pt x="18776" y="0"/>
                  </a:lnTo>
                  <a:lnTo>
                    <a:pt x="0" y="32520"/>
                  </a:lnTo>
                  <a:close/>
                </a:path>
              </a:pathLst>
            </a:custGeom>
            <a:noFill/>
            <a:ln cap="flat" cmpd="sng" w="3810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sp>
        <p:nvSpPr>
          <p:cNvPr id="863" name="Google Shape;863;p69"/>
          <p:cNvSpPr/>
          <p:nvPr/>
        </p:nvSpPr>
        <p:spPr>
          <a:xfrm>
            <a:off x="6474450" y="1693100"/>
            <a:ext cx="476400" cy="476400"/>
          </a:xfrm>
          <a:prstGeom prst="mathMultiply">
            <a:avLst>
              <a:gd fmla="val 7231" name="adj1"/>
            </a:avLst>
          </a:prstGeom>
          <a:solidFill>
            <a:srgbClr val="845A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64" name="Google Shape;864;p69"/>
          <p:cNvGrpSpPr/>
          <p:nvPr/>
        </p:nvGrpSpPr>
        <p:grpSpPr>
          <a:xfrm>
            <a:off x="6244970" y="1119085"/>
            <a:ext cx="937729" cy="812226"/>
            <a:chOff x="6244970" y="1119085"/>
            <a:chExt cx="937729" cy="812226"/>
          </a:xfrm>
        </p:grpSpPr>
        <p:cxnSp>
          <p:nvCxnSpPr>
            <p:cNvPr id="865" name="Google Shape;865;p69"/>
            <p:cNvCxnSpPr/>
            <p:nvPr/>
          </p:nvCxnSpPr>
          <p:spPr>
            <a:xfrm rot="-3599342">
              <a:off x="6479504" y="1525412"/>
              <a:ext cx="937489" cy="0"/>
            </a:xfrm>
            <a:prstGeom prst="straightConnector1">
              <a:avLst/>
            </a:prstGeom>
            <a:noFill/>
            <a:ln cap="flat" cmpd="sng" w="28575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66" name="Google Shape;866;p69"/>
            <p:cNvCxnSpPr/>
            <p:nvPr/>
          </p:nvCxnSpPr>
          <p:spPr>
            <a:xfrm rot="3599342">
              <a:off x="6010675" y="1524985"/>
              <a:ext cx="937489" cy="0"/>
            </a:xfrm>
            <a:prstGeom prst="straightConnector1">
              <a:avLst/>
            </a:prstGeom>
            <a:noFill/>
            <a:ln cap="flat" cmpd="sng" w="28575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867" name="Google Shape;867;p69"/>
          <p:cNvSpPr txBox="1"/>
          <p:nvPr/>
        </p:nvSpPr>
        <p:spPr>
          <a:xfrm>
            <a:off x="324000" y="3574825"/>
            <a:ext cx="37224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Hint: these two line segments are radii of the centre circle, and create an equilateral triangle with the top side of the hexagon.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68" name="Google Shape;868;p69"/>
          <p:cNvGrpSpPr/>
          <p:nvPr/>
        </p:nvGrpSpPr>
        <p:grpSpPr>
          <a:xfrm>
            <a:off x="5776634" y="1931159"/>
            <a:ext cx="1875229" cy="812226"/>
            <a:chOff x="5776634" y="1931159"/>
            <a:chExt cx="1875229" cy="812226"/>
          </a:xfrm>
        </p:grpSpPr>
        <p:cxnSp>
          <p:nvCxnSpPr>
            <p:cNvPr id="869" name="Google Shape;869;p69"/>
            <p:cNvCxnSpPr>
              <a:stCxn id="849" idx="6"/>
            </p:cNvCxnSpPr>
            <p:nvPr/>
          </p:nvCxnSpPr>
          <p:spPr>
            <a:xfrm rot="10800000">
              <a:off x="6714363" y="1931402"/>
              <a:ext cx="937500" cy="0"/>
            </a:xfrm>
            <a:prstGeom prst="straightConnector1">
              <a:avLst/>
            </a:prstGeom>
            <a:noFill/>
            <a:ln cap="flat" cmpd="sng" w="28575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70" name="Google Shape;870;p69"/>
            <p:cNvCxnSpPr/>
            <p:nvPr/>
          </p:nvCxnSpPr>
          <p:spPr>
            <a:xfrm rot="10800000">
              <a:off x="5776634" y="1931402"/>
              <a:ext cx="937500" cy="0"/>
            </a:xfrm>
            <a:prstGeom prst="straightConnector1">
              <a:avLst/>
            </a:prstGeom>
            <a:noFill/>
            <a:ln cap="flat" cmpd="sng" w="28575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71" name="Google Shape;871;p69"/>
            <p:cNvCxnSpPr/>
            <p:nvPr/>
          </p:nvCxnSpPr>
          <p:spPr>
            <a:xfrm rot="-3599342">
              <a:off x="6010639" y="2337485"/>
              <a:ext cx="937489" cy="0"/>
            </a:xfrm>
            <a:prstGeom prst="straightConnector1">
              <a:avLst/>
            </a:prstGeom>
            <a:noFill/>
            <a:ln cap="flat" cmpd="sng" w="28575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72" name="Google Shape;872;p69"/>
            <p:cNvCxnSpPr/>
            <p:nvPr/>
          </p:nvCxnSpPr>
          <p:spPr>
            <a:xfrm rot="3599342">
              <a:off x="6479540" y="2337059"/>
              <a:ext cx="937489" cy="0"/>
            </a:xfrm>
            <a:prstGeom prst="straightConnector1">
              <a:avLst/>
            </a:prstGeom>
            <a:noFill/>
            <a:ln cap="flat" cmpd="sng" w="28575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6" name="Shape 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77" name="Google Shape;877;p70"/>
          <p:cNvCxnSpPr/>
          <p:nvPr/>
        </p:nvCxnSpPr>
        <p:spPr>
          <a:xfrm>
            <a:off x="6004563" y="2312402"/>
            <a:ext cx="18759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78" name="Google Shape;878;p70"/>
          <p:cNvSpPr/>
          <p:nvPr/>
        </p:nvSpPr>
        <p:spPr>
          <a:xfrm>
            <a:off x="4540625" y="849456"/>
            <a:ext cx="2925900" cy="2925900"/>
          </a:xfrm>
          <a:prstGeom prst="ellipse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9" name="Google Shape;879;p70"/>
          <p:cNvSpPr/>
          <p:nvPr/>
        </p:nvSpPr>
        <p:spPr>
          <a:xfrm>
            <a:off x="7110200" y="1543800"/>
            <a:ext cx="1537200" cy="1537200"/>
          </a:xfrm>
          <a:prstGeom prst="ellipse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0" name="Google Shape;880;p70"/>
          <p:cNvSpPr txBox="1"/>
          <p:nvPr/>
        </p:nvSpPr>
        <p:spPr>
          <a:xfrm>
            <a:off x="324000" y="716975"/>
            <a:ext cx="3586200" cy="24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Two circles of different size have opposite endpoints of the line segment AB as their centres.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Which quadrilateral is created by joining the two endpoints of AB and the two intersections of the circles?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1" name="Google Shape;881;p7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Identifying polygons from premade constructions</a:t>
            </a:r>
            <a:endParaRPr/>
          </a:p>
        </p:txBody>
      </p:sp>
      <p:sp>
        <p:nvSpPr>
          <p:cNvPr id="882" name="Google Shape;882;p70"/>
          <p:cNvSpPr txBox="1"/>
          <p:nvPr/>
        </p:nvSpPr>
        <p:spPr>
          <a:xfrm>
            <a:off x="5783619" y="2173800"/>
            <a:ext cx="142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3" name="Google Shape;883;p70"/>
          <p:cNvSpPr txBox="1"/>
          <p:nvPr/>
        </p:nvSpPr>
        <p:spPr>
          <a:xfrm>
            <a:off x="7956669" y="2173800"/>
            <a:ext cx="142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4" name="Google Shape;884;p70"/>
          <p:cNvSpPr/>
          <p:nvPr/>
        </p:nvSpPr>
        <p:spPr>
          <a:xfrm>
            <a:off x="6004475" y="1753846"/>
            <a:ext cx="1878700" cy="1125150"/>
          </a:xfrm>
          <a:custGeom>
            <a:rect b="b" l="l" r="r" t="t"/>
            <a:pathLst>
              <a:path extrusionOk="0" h="45006" w="75148">
                <a:moveTo>
                  <a:pt x="75148" y="22547"/>
                </a:moveTo>
                <a:lnTo>
                  <a:pt x="54094" y="0"/>
                </a:lnTo>
                <a:lnTo>
                  <a:pt x="0" y="22536"/>
                </a:lnTo>
                <a:lnTo>
                  <a:pt x="53997" y="45006"/>
                </a:lnTo>
                <a:close/>
              </a:path>
            </a:pathLst>
          </a:custGeom>
          <a:noFill/>
          <a:ln cap="flat" cmpd="sng" w="3810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885" name="Google Shape;885;p70"/>
          <p:cNvSpPr txBox="1"/>
          <p:nvPr/>
        </p:nvSpPr>
        <p:spPr>
          <a:xfrm>
            <a:off x="324000" y="3402700"/>
            <a:ext cx="3586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Kite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9" name="Shape 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90" name="Google Shape;890;p71"/>
          <p:cNvCxnSpPr/>
          <p:nvPr/>
        </p:nvCxnSpPr>
        <p:spPr>
          <a:xfrm>
            <a:off x="6004563" y="2312402"/>
            <a:ext cx="18759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91" name="Google Shape;891;p71"/>
          <p:cNvSpPr/>
          <p:nvPr/>
        </p:nvSpPr>
        <p:spPr>
          <a:xfrm>
            <a:off x="4540625" y="849456"/>
            <a:ext cx="2925900" cy="2925900"/>
          </a:xfrm>
          <a:prstGeom prst="ellipse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2" name="Google Shape;892;p71"/>
          <p:cNvSpPr/>
          <p:nvPr/>
        </p:nvSpPr>
        <p:spPr>
          <a:xfrm>
            <a:off x="7110200" y="1543800"/>
            <a:ext cx="1537200" cy="1537200"/>
          </a:xfrm>
          <a:prstGeom prst="ellipse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3" name="Google Shape;893;p71"/>
          <p:cNvSpPr txBox="1"/>
          <p:nvPr/>
        </p:nvSpPr>
        <p:spPr>
          <a:xfrm>
            <a:off x="324000" y="716975"/>
            <a:ext cx="3586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Which of these reasons explain why this quadrilateral is a kite?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4" name="Google Shape;894;p7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Identifying polygons from premade constructions</a:t>
            </a:r>
            <a:endParaRPr/>
          </a:p>
        </p:txBody>
      </p:sp>
      <p:sp>
        <p:nvSpPr>
          <p:cNvPr id="895" name="Google Shape;895;p71"/>
          <p:cNvSpPr txBox="1"/>
          <p:nvPr/>
        </p:nvSpPr>
        <p:spPr>
          <a:xfrm>
            <a:off x="5783619" y="2173800"/>
            <a:ext cx="142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6" name="Google Shape;896;p71"/>
          <p:cNvSpPr txBox="1"/>
          <p:nvPr/>
        </p:nvSpPr>
        <p:spPr>
          <a:xfrm>
            <a:off x="7956669" y="2173800"/>
            <a:ext cx="142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7" name="Google Shape;897;p71"/>
          <p:cNvSpPr/>
          <p:nvPr/>
        </p:nvSpPr>
        <p:spPr>
          <a:xfrm>
            <a:off x="6004475" y="1750500"/>
            <a:ext cx="1878700" cy="1125150"/>
          </a:xfrm>
          <a:custGeom>
            <a:rect b="b" l="l" r="r" t="t"/>
            <a:pathLst>
              <a:path extrusionOk="0" h="45006" w="75148">
                <a:moveTo>
                  <a:pt x="75148" y="22547"/>
                </a:moveTo>
                <a:lnTo>
                  <a:pt x="54094" y="0"/>
                </a:lnTo>
                <a:lnTo>
                  <a:pt x="0" y="22536"/>
                </a:lnTo>
                <a:lnTo>
                  <a:pt x="53997" y="45006"/>
                </a:lnTo>
                <a:close/>
              </a:path>
            </a:pathLst>
          </a:custGeom>
          <a:noFill/>
          <a:ln cap="flat" cmpd="sng" w="3810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sp>
      <p:grpSp>
        <p:nvGrpSpPr>
          <p:cNvPr id="898" name="Google Shape;898;p71"/>
          <p:cNvGrpSpPr/>
          <p:nvPr/>
        </p:nvGrpSpPr>
        <p:grpSpPr>
          <a:xfrm>
            <a:off x="425337" y="1623500"/>
            <a:ext cx="3940213" cy="554100"/>
            <a:chOff x="4616337" y="2004500"/>
            <a:chExt cx="3940213" cy="554100"/>
          </a:xfrm>
        </p:grpSpPr>
        <p:grpSp>
          <p:nvGrpSpPr>
            <p:cNvPr id="899" name="Google Shape;899;p71"/>
            <p:cNvGrpSpPr/>
            <p:nvPr/>
          </p:nvGrpSpPr>
          <p:grpSpPr>
            <a:xfrm>
              <a:off x="4616337" y="2004508"/>
              <a:ext cx="260924" cy="260878"/>
              <a:chOff x="1020916" y="1442088"/>
              <a:chExt cx="457200" cy="457200"/>
            </a:xfrm>
          </p:grpSpPr>
          <p:pic>
            <p:nvPicPr>
              <p:cNvPr id="900" name="Google Shape;900;p71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1020916" y="1442088"/>
                <a:ext cx="457200" cy="457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901" name="Google Shape;901;p71"/>
              <p:cNvSpPr txBox="1"/>
              <p:nvPr/>
            </p:nvSpPr>
            <p:spPr>
              <a:xfrm>
                <a:off x="1045528" y="1526400"/>
                <a:ext cx="408000" cy="27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1" i="0" lang="en-GB" sz="1800" u="none" cap="none" strike="noStrike">
                    <a:solidFill>
                      <a:srgbClr val="FFFFFF"/>
                    </a:solidFill>
                    <a:latin typeface="Lexend"/>
                    <a:ea typeface="Lexend"/>
                    <a:cs typeface="Lexend"/>
                    <a:sym typeface="Lexend"/>
                  </a:rPr>
                  <a:t>a</a:t>
                </a:r>
                <a:endParaRPr b="1" i="0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sp>
          <p:nvSpPr>
            <p:cNvPr id="902" name="Google Shape;902;p71"/>
            <p:cNvSpPr txBox="1"/>
            <p:nvPr/>
          </p:nvSpPr>
          <p:spPr>
            <a:xfrm>
              <a:off x="4951150" y="2004500"/>
              <a:ext cx="36054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The kite has two pairs of equal sides</a:t>
              </a:r>
              <a:endParaRPr b="0" i="0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03" name="Google Shape;903;p71"/>
          <p:cNvGrpSpPr/>
          <p:nvPr/>
        </p:nvGrpSpPr>
        <p:grpSpPr>
          <a:xfrm>
            <a:off x="425337" y="2493700"/>
            <a:ext cx="3940213" cy="831300"/>
            <a:chOff x="4616337" y="2004500"/>
            <a:chExt cx="3940213" cy="831300"/>
          </a:xfrm>
        </p:grpSpPr>
        <p:grpSp>
          <p:nvGrpSpPr>
            <p:cNvPr id="904" name="Google Shape;904;p71"/>
            <p:cNvGrpSpPr/>
            <p:nvPr/>
          </p:nvGrpSpPr>
          <p:grpSpPr>
            <a:xfrm>
              <a:off x="4616337" y="2004508"/>
              <a:ext cx="260924" cy="260878"/>
              <a:chOff x="1020916" y="1442088"/>
              <a:chExt cx="457200" cy="457200"/>
            </a:xfrm>
          </p:grpSpPr>
          <p:pic>
            <p:nvPicPr>
              <p:cNvPr id="905" name="Google Shape;905;p71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1020916" y="1442088"/>
                <a:ext cx="457200" cy="457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906" name="Google Shape;906;p71"/>
              <p:cNvSpPr txBox="1"/>
              <p:nvPr/>
            </p:nvSpPr>
            <p:spPr>
              <a:xfrm>
                <a:off x="1045528" y="1526400"/>
                <a:ext cx="408000" cy="27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1" lang="en-GB" sz="1800">
                    <a:solidFill>
                      <a:srgbClr val="FFFFFF"/>
                    </a:solidFill>
                    <a:latin typeface="Lexend"/>
                    <a:ea typeface="Lexend"/>
                    <a:cs typeface="Lexend"/>
                    <a:sym typeface="Lexend"/>
                  </a:rPr>
                  <a:t>b</a:t>
                </a:r>
                <a:endParaRPr b="1" i="0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sp>
          <p:nvSpPr>
            <p:cNvPr id="907" name="Google Shape;907;p71"/>
            <p:cNvSpPr txBox="1"/>
            <p:nvPr/>
          </p:nvSpPr>
          <p:spPr>
            <a:xfrm>
              <a:off x="4951150" y="2004500"/>
              <a:ext cx="3605400" cy="83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The line segment through the two intersections passes through the midpoint of AB</a:t>
              </a:r>
              <a:endParaRPr b="0" i="0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08" name="Google Shape;908;p71"/>
          <p:cNvGrpSpPr/>
          <p:nvPr/>
        </p:nvGrpSpPr>
        <p:grpSpPr>
          <a:xfrm>
            <a:off x="425337" y="3641100"/>
            <a:ext cx="3940213" cy="831300"/>
            <a:chOff x="4616337" y="2004500"/>
            <a:chExt cx="3940213" cy="831300"/>
          </a:xfrm>
        </p:grpSpPr>
        <p:grpSp>
          <p:nvGrpSpPr>
            <p:cNvPr id="909" name="Google Shape;909;p71"/>
            <p:cNvGrpSpPr/>
            <p:nvPr/>
          </p:nvGrpSpPr>
          <p:grpSpPr>
            <a:xfrm>
              <a:off x="4616337" y="2004508"/>
              <a:ext cx="260924" cy="260878"/>
              <a:chOff x="1020916" y="1442088"/>
              <a:chExt cx="457200" cy="457200"/>
            </a:xfrm>
          </p:grpSpPr>
          <p:pic>
            <p:nvPicPr>
              <p:cNvPr id="910" name="Google Shape;910;p71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1020916" y="1442088"/>
                <a:ext cx="457200" cy="457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911" name="Google Shape;911;p71"/>
              <p:cNvSpPr txBox="1"/>
              <p:nvPr/>
            </p:nvSpPr>
            <p:spPr>
              <a:xfrm>
                <a:off x="1045528" y="1526400"/>
                <a:ext cx="408000" cy="27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1" lang="en-GB" sz="1800">
                    <a:solidFill>
                      <a:srgbClr val="FFFFFF"/>
                    </a:solidFill>
                    <a:latin typeface="Lexend"/>
                    <a:ea typeface="Lexend"/>
                    <a:cs typeface="Lexend"/>
                    <a:sym typeface="Lexend"/>
                  </a:rPr>
                  <a:t>c</a:t>
                </a:r>
                <a:endParaRPr b="1" i="0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sp>
          <p:nvSpPr>
            <p:cNvPr id="912" name="Google Shape;912;p71"/>
            <p:cNvSpPr txBox="1"/>
            <p:nvPr/>
          </p:nvSpPr>
          <p:spPr>
            <a:xfrm>
              <a:off x="4951150" y="2004500"/>
              <a:ext cx="3605400" cy="83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Two of its sides are equal because they are both radii of the larger circle</a:t>
              </a:r>
              <a:endParaRPr b="0" i="0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913" name="Google Shape;913;p7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3993" y="3900891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4" name="Google Shape;914;p7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3993" y="1893291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8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" name="Google Shape;919;p72"/>
          <p:cNvSpPr txBox="1"/>
          <p:nvPr/>
        </p:nvSpPr>
        <p:spPr>
          <a:xfrm>
            <a:off x="5085600" y="3240975"/>
            <a:ext cx="37341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b) Draw on and label: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 rectangle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 parallelogram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0" name="Google Shape;920;p72"/>
          <p:cNvSpPr txBox="1"/>
          <p:nvPr/>
        </p:nvSpPr>
        <p:spPr>
          <a:xfrm>
            <a:off x="585600" y="3240975"/>
            <a:ext cx="37341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a) Draw on and label: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 right angle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an equilateral triangle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 regular hexagon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21" name="Google Shape;921;p72"/>
          <p:cNvGrpSpPr/>
          <p:nvPr/>
        </p:nvGrpSpPr>
        <p:grpSpPr>
          <a:xfrm>
            <a:off x="1123117" y="1418586"/>
            <a:ext cx="3196665" cy="1598333"/>
            <a:chOff x="1759799" y="2958576"/>
            <a:chExt cx="2871600" cy="1435800"/>
          </a:xfrm>
        </p:grpSpPr>
        <p:sp>
          <p:nvSpPr>
            <p:cNvPr id="922" name="Google Shape;922;p72"/>
            <p:cNvSpPr/>
            <p:nvPr/>
          </p:nvSpPr>
          <p:spPr>
            <a:xfrm>
              <a:off x="1759799" y="2958576"/>
              <a:ext cx="1435800" cy="1435800"/>
            </a:xfrm>
            <a:prstGeom prst="ellipse">
              <a:avLst/>
            </a:pr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23" name="Google Shape;923;p72"/>
            <p:cNvSpPr/>
            <p:nvPr/>
          </p:nvSpPr>
          <p:spPr>
            <a:xfrm>
              <a:off x="3195599" y="2958576"/>
              <a:ext cx="1435800" cy="1435800"/>
            </a:xfrm>
            <a:prstGeom prst="ellipse">
              <a:avLst/>
            </a:pr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924" name="Google Shape;924;p7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Identifying polygons from premade constructions</a:t>
            </a:r>
            <a:endParaRPr/>
          </a:p>
        </p:txBody>
      </p:sp>
      <p:sp>
        <p:nvSpPr>
          <p:cNvPr id="925" name="Google Shape;925;p72"/>
          <p:cNvSpPr/>
          <p:nvPr/>
        </p:nvSpPr>
        <p:spPr>
          <a:xfrm>
            <a:off x="324000" y="1418725"/>
            <a:ext cx="1598400" cy="1598400"/>
          </a:xfrm>
          <a:prstGeom prst="ellipse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6" name="Google Shape;926;p72"/>
          <p:cNvSpPr txBox="1"/>
          <p:nvPr/>
        </p:nvSpPr>
        <p:spPr>
          <a:xfrm>
            <a:off x="324000" y="640775"/>
            <a:ext cx="8496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1) Each copy of this construction shows congruent circles. The centre of the left and rightmost circles are the endpoints of line segment FG.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7" name="Google Shape;927;p72"/>
          <p:cNvSpPr/>
          <p:nvPr/>
        </p:nvSpPr>
        <p:spPr>
          <a:xfrm>
            <a:off x="1922400" y="1418725"/>
            <a:ext cx="1598400" cy="1598400"/>
          </a:xfrm>
          <a:prstGeom prst="ellipse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28" name="Google Shape;928;p72"/>
          <p:cNvGrpSpPr/>
          <p:nvPr/>
        </p:nvGrpSpPr>
        <p:grpSpPr>
          <a:xfrm>
            <a:off x="845783" y="2063554"/>
            <a:ext cx="2952671" cy="277368"/>
            <a:chOff x="5104330" y="2845088"/>
            <a:chExt cx="3642126" cy="249163"/>
          </a:xfrm>
        </p:grpSpPr>
        <p:sp>
          <p:nvSpPr>
            <p:cNvPr id="929" name="Google Shape;929;p72"/>
            <p:cNvSpPr txBox="1"/>
            <p:nvPr/>
          </p:nvSpPr>
          <p:spPr>
            <a:xfrm>
              <a:off x="5104330" y="2845250"/>
              <a:ext cx="282300" cy="24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F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30" name="Google Shape;930;p72"/>
            <p:cNvSpPr txBox="1"/>
            <p:nvPr/>
          </p:nvSpPr>
          <p:spPr>
            <a:xfrm>
              <a:off x="8464156" y="2845088"/>
              <a:ext cx="282300" cy="24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G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cxnSp>
        <p:nvCxnSpPr>
          <p:cNvPr id="931" name="Google Shape;931;p72"/>
          <p:cNvCxnSpPr>
            <a:stCxn id="922" idx="2"/>
            <a:endCxn id="927" idx="6"/>
          </p:cNvCxnSpPr>
          <p:nvPr/>
        </p:nvCxnSpPr>
        <p:spPr>
          <a:xfrm>
            <a:off x="1123117" y="2217752"/>
            <a:ext cx="2397600" cy="3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32" name="Google Shape;932;p72"/>
          <p:cNvCxnSpPr/>
          <p:nvPr/>
        </p:nvCxnSpPr>
        <p:spPr>
          <a:xfrm>
            <a:off x="3124262" y="1526848"/>
            <a:ext cx="396300" cy="6909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933" name="Google Shape;933;p72"/>
          <p:cNvGrpSpPr/>
          <p:nvPr/>
        </p:nvGrpSpPr>
        <p:grpSpPr>
          <a:xfrm flipH="1">
            <a:off x="3019445" y="1779435"/>
            <a:ext cx="939070" cy="885662"/>
            <a:chOff x="5245272" y="3613325"/>
            <a:chExt cx="843577" cy="795600"/>
          </a:xfrm>
        </p:grpSpPr>
        <p:sp>
          <p:nvSpPr>
            <p:cNvPr id="934" name="Google Shape;934;p72"/>
            <p:cNvSpPr/>
            <p:nvPr/>
          </p:nvSpPr>
          <p:spPr>
            <a:xfrm>
              <a:off x="5245272" y="3613325"/>
              <a:ext cx="795600" cy="795600"/>
            </a:xfrm>
            <a:prstGeom prst="arc">
              <a:avLst>
                <a:gd fmla="val 17923413" name="adj1"/>
                <a:gd fmla="val 0" name="adj2"/>
              </a:avLst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35" name="Google Shape;935;p72"/>
            <p:cNvSpPr txBox="1"/>
            <p:nvPr/>
          </p:nvSpPr>
          <p:spPr>
            <a:xfrm>
              <a:off x="5651450" y="3783242"/>
              <a:ext cx="4374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60°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36" name="Google Shape;936;p72"/>
          <p:cNvGrpSpPr/>
          <p:nvPr/>
        </p:nvGrpSpPr>
        <p:grpSpPr>
          <a:xfrm>
            <a:off x="5623117" y="1418586"/>
            <a:ext cx="3196665" cy="1598333"/>
            <a:chOff x="1759799" y="2958576"/>
            <a:chExt cx="2871600" cy="1435800"/>
          </a:xfrm>
        </p:grpSpPr>
        <p:sp>
          <p:nvSpPr>
            <p:cNvPr id="937" name="Google Shape;937;p72"/>
            <p:cNvSpPr/>
            <p:nvPr/>
          </p:nvSpPr>
          <p:spPr>
            <a:xfrm>
              <a:off x="1759799" y="2958576"/>
              <a:ext cx="1435800" cy="1435800"/>
            </a:xfrm>
            <a:prstGeom prst="ellipse">
              <a:avLst/>
            </a:pr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38" name="Google Shape;938;p72"/>
            <p:cNvSpPr/>
            <p:nvPr/>
          </p:nvSpPr>
          <p:spPr>
            <a:xfrm>
              <a:off x="3195599" y="2958576"/>
              <a:ext cx="1435800" cy="1435800"/>
            </a:xfrm>
            <a:prstGeom prst="ellipse">
              <a:avLst/>
            </a:pr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939" name="Google Shape;939;p72"/>
          <p:cNvSpPr/>
          <p:nvPr/>
        </p:nvSpPr>
        <p:spPr>
          <a:xfrm>
            <a:off x="4824000" y="1418725"/>
            <a:ext cx="1598400" cy="1598400"/>
          </a:xfrm>
          <a:prstGeom prst="ellipse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0" name="Google Shape;940;p72"/>
          <p:cNvSpPr/>
          <p:nvPr/>
        </p:nvSpPr>
        <p:spPr>
          <a:xfrm>
            <a:off x="6422400" y="1418725"/>
            <a:ext cx="1598400" cy="1598400"/>
          </a:xfrm>
          <a:prstGeom prst="ellipse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41" name="Google Shape;941;p72"/>
          <p:cNvGrpSpPr/>
          <p:nvPr/>
        </p:nvGrpSpPr>
        <p:grpSpPr>
          <a:xfrm>
            <a:off x="5345783" y="2063554"/>
            <a:ext cx="2952671" cy="277368"/>
            <a:chOff x="5104330" y="2845088"/>
            <a:chExt cx="3642126" cy="249163"/>
          </a:xfrm>
        </p:grpSpPr>
        <p:sp>
          <p:nvSpPr>
            <p:cNvPr id="942" name="Google Shape;942;p72"/>
            <p:cNvSpPr txBox="1"/>
            <p:nvPr/>
          </p:nvSpPr>
          <p:spPr>
            <a:xfrm>
              <a:off x="5104330" y="2845250"/>
              <a:ext cx="282300" cy="24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F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43" name="Google Shape;943;p72"/>
            <p:cNvSpPr txBox="1"/>
            <p:nvPr/>
          </p:nvSpPr>
          <p:spPr>
            <a:xfrm>
              <a:off x="8464156" y="2845088"/>
              <a:ext cx="282300" cy="24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G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cxnSp>
        <p:nvCxnSpPr>
          <p:cNvPr id="944" name="Google Shape;944;p72"/>
          <p:cNvCxnSpPr>
            <a:stCxn id="937" idx="2"/>
            <a:endCxn id="940" idx="6"/>
          </p:cNvCxnSpPr>
          <p:nvPr/>
        </p:nvCxnSpPr>
        <p:spPr>
          <a:xfrm>
            <a:off x="5623117" y="2217752"/>
            <a:ext cx="2397600" cy="3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8" name="Shape 9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9" name="Google Shape;949;p73"/>
          <p:cNvSpPr txBox="1"/>
          <p:nvPr/>
        </p:nvSpPr>
        <p:spPr>
          <a:xfrm>
            <a:off x="6270900" y="3135625"/>
            <a:ext cx="21309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b) Draw and label two trapezia: one an isosceles trapezium, and one right-angle trapezium.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0" name="Google Shape;950;p73"/>
          <p:cNvSpPr txBox="1"/>
          <p:nvPr/>
        </p:nvSpPr>
        <p:spPr>
          <a:xfrm>
            <a:off x="324000" y="640775"/>
            <a:ext cx="2769300" cy="3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2) This construction shows three congruent circles.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endpoints of line segment FG are centres of two of the circles, and lie on the circumference of the third.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One intersection of the above two circles is the centre of the third.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1" name="Google Shape;951;p73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Identifying polygons from premade constructions</a:t>
            </a:r>
            <a:endParaRPr/>
          </a:p>
        </p:txBody>
      </p:sp>
      <p:cxnSp>
        <p:nvCxnSpPr>
          <p:cNvPr id="952" name="Google Shape;952;p73"/>
          <p:cNvCxnSpPr>
            <a:stCxn id="953" idx="2"/>
            <a:endCxn id="954" idx="6"/>
          </p:cNvCxnSpPr>
          <p:nvPr/>
        </p:nvCxnSpPr>
        <p:spPr>
          <a:xfrm>
            <a:off x="4215178" y="1558500"/>
            <a:ext cx="862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955" name="Google Shape;955;p73"/>
          <p:cNvGrpSpPr/>
          <p:nvPr/>
        </p:nvGrpSpPr>
        <p:grpSpPr>
          <a:xfrm>
            <a:off x="4022869" y="1432054"/>
            <a:ext cx="1241546" cy="252128"/>
            <a:chOff x="5104330" y="2845088"/>
            <a:chExt cx="3531132" cy="249163"/>
          </a:xfrm>
        </p:grpSpPr>
        <p:sp>
          <p:nvSpPr>
            <p:cNvPr id="956" name="Google Shape;956;p73"/>
            <p:cNvSpPr txBox="1"/>
            <p:nvPr/>
          </p:nvSpPr>
          <p:spPr>
            <a:xfrm>
              <a:off x="5104330" y="2845250"/>
              <a:ext cx="282300" cy="24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F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57" name="Google Shape;957;p73"/>
            <p:cNvSpPr txBox="1"/>
            <p:nvPr/>
          </p:nvSpPr>
          <p:spPr>
            <a:xfrm>
              <a:off x="8353162" y="2845088"/>
              <a:ext cx="282300" cy="24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G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958" name="Google Shape;958;p73"/>
          <p:cNvSpPr txBox="1"/>
          <p:nvPr/>
        </p:nvSpPr>
        <p:spPr>
          <a:xfrm>
            <a:off x="3372000" y="3135625"/>
            <a:ext cx="21309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a) Draw and label two equilateral triangles of different sizes.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59" name="Google Shape;959;p73"/>
          <p:cNvCxnSpPr>
            <a:stCxn id="960" idx="2"/>
            <a:endCxn id="961" idx="6"/>
          </p:cNvCxnSpPr>
          <p:nvPr/>
        </p:nvCxnSpPr>
        <p:spPr>
          <a:xfrm>
            <a:off x="7114078" y="1558500"/>
            <a:ext cx="862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962" name="Google Shape;962;p73"/>
          <p:cNvGrpSpPr/>
          <p:nvPr/>
        </p:nvGrpSpPr>
        <p:grpSpPr>
          <a:xfrm>
            <a:off x="6921769" y="1432054"/>
            <a:ext cx="1241546" cy="252128"/>
            <a:chOff x="5104330" y="2845088"/>
            <a:chExt cx="3531132" cy="249163"/>
          </a:xfrm>
        </p:grpSpPr>
        <p:sp>
          <p:nvSpPr>
            <p:cNvPr id="963" name="Google Shape;963;p73"/>
            <p:cNvSpPr txBox="1"/>
            <p:nvPr/>
          </p:nvSpPr>
          <p:spPr>
            <a:xfrm>
              <a:off x="5104330" y="2845250"/>
              <a:ext cx="282300" cy="24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F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64" name="Google Shape;964;p73"/>
            <p:cNvSpPr txBox="1"/>
            <p:nvPr/>
          </p:nvSpPr>
          <p:spPr>
            <a:xfrm>
              <a:off x="8353162" y="2845088"/>
              <a:ext cx="282300" cy="24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G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965" name="Google Shape;965;p73"/>
          <p:cNvSpPr/>
          <p:nvPr/>
        </p:nvSpPr>
        <p:spPr>
          <a:xfrm>
            <a:off x="3797023" y="1437637"/>
            <a:ext cx="1705800" cy="1705800"/>
          </a:xfrm>
          <a:prstGeom prst="ellipse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4" name="Google Shape;954;p73"/>
          <p:cNvSpPr/>
          <p:nvPr/>
        </p:nvSpPr>
        <p:spPr>
          <a:xfrm>
            <a:off x="3371999" y="705600"/>
            <a:ext cx="1705800" cy="1705800"/>
          </a:xfrm>
          <a:prstGeom prst="ellipse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3" name="Google Shape;953;p73"/>
          <p:cNvSpPr/>
          <p:nvPr/>
        </p:nvSpPr>
        <p:spPr>
          <a:xfrm>
            <a:off x="4215178" y="705600"/>
            <a:ext cx="1705800" cy="1705800"/>
          </a:xfrm>
          <a:prstGeom prst="ellipse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6" name="Google Shape;966;p73"/>
          <p:cNvSpPr/>
          <p:nvPr/>
        </p:nvSpPr>
        <p:spPr>
          <a:xfrm>
            <a:off x="6695923" y="1437637"/>
            <a:ext cx="1705800" cy="1705800"/>
          </a:xfrm>
          <a:prstGeom prst="ellipse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1" name="Google Shape;961;p73"/>
          <p:cNvSpPr/>
          <p:nvPr/>
        </p:nvSpPr>
        <p:spPr>
          <a:xfrm>
            <a:off x="6270899" y="705600"/>
            <a:ext cx="1705800" cy="1705800"/>
          </a:xfrm>
          <a:prstGeom prst="ellipse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0" name="Google Shape;960;p73"/>
          <p:cNvSpPr/>
          <p:nvPr/>
        </p:nvSpPr>
        <p:spPr>
          <a:xfrm>
            <a:off x="7114078" y="705600"/>
            <a:ext cx="1705800" cy="1705800"/>
          </a:xfrm>
          <a:prstGeom prst="ellipse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0" name="Shape 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1" name="Google Shape;971;p74"/>
          <p:cNvSpPr txBox="1"/>
          <p:nvPr/>
        </p:nvSpPr>
        <p:spPr>
          <a:xfrm>
            <a:off x="5293700" y="3639300"/>
            <a:ext cx="35262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b) Draw and label two scalene triangles: one right angle and one non-right angle.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2" name="Google Shape;972;p74"/>
          <p:cNvSpPr txBox="1"/>
          <p:nvPr/>
        </p:nvSpPr>
        <p:spPr>
          <a:xfrm>
            <a:off x="324000" y="640775"/>
            <a:ext cx="8496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3) This construction shows two circles of different sizes.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endpoints of line segment IJ are centres of the two circles.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3" name="Google Shape;973;p74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Identifying polygons from premade constructions</a:t>
            </a:r>
            <a:endParaRPr/>
          </a:p>
        </p:txBody>
      </p:sp>
      <p:sp>
        <p:nvSpPr>
          <p:cNvPr id="974" name="Google Shape;974;p74"/>
          <p:cNvSpPr txBox="1"/>
          <p:nvPr/>
        </p:nvSpPr>
        <p:spPr>
          <a:xfrm>
            <a:off x="324000" y="3639300"/>
            <a:ext cx="35262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a) Draw and label a kite, a perpendicular of IJ, and two isosceles triangles.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5" name="Google Shape;975;p74"/>
          <p:cNvSpPr/>
          <p:nvPr/>
        </p:nvSpPr>
        <p:spPr>
          <a:xfrm>
            <a:off x="1742758" y="1400650"/>
            <a:ext cx="2107500" cy="2107500"/>
          </a:xfrm>
          <a:prstGeom prst="ellipse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6" name="Google Shape;976;p74"/>
          <p:cNvSpPr/>
          <p:nvPr/>
        </p:nvSpPr>
        <p:spPr>
          <a:xfrm>
            <a:off x="323950" y="1628050"/>
            <a:ext cx="1652700" cy="1652700"/>
          </a:xfrm>
          <a:prstGeom prst="ellipse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77" name="Google Shape;977;p74"/>
          <p:cNvCxnSpPr/>
          <p:nvPr/>
        </p:nvCxnSpPr>
        <p:spPr>
          <a:xfrm>
            <a:off x="1143200" y="2454400"/>
            <a:ext cx="16527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978" name="Google Shape;978;p74"/>
          <p:cNvGrpSpPr/>
          <p:nvPr/>
        </p:nvGrpSpPr>
        <p:grpSpPr>
          <a:xfrm>
            <a:off x="986450" y="2328341"/>
            <a:ext cx="1999327" cy="252128"/>
            <a:chOff x="5104330" y="2845088"/>
            <a:chExt cx="3531132" cy="249163"/>
          </a:xfrm>
        </p:grpSpPr>
        <p:sp>
          <p:nvSpPr>
            <p:cNvPr id="979" name="Google Shape;979;p74"/>
            <p:cNvSpPr txBox="1"/>
            <p:nvPr/>
          </p:nvSpPr>
          <p:spPr>
            <a:xfrm>
              <a:off x="5104330" y="2845250"/>
              <a:ext cx="282300" cy="24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I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80" name="Google Shape;980;p74"/>
            <p:cNvSpPr txBox="1"/>
            <p:nvPr/>
          </p:nvSpPr>
          <p:spPr>
            <a:xfrm>
              <a:off x="8353162" y="2845088"/>
              <a:ext cx="282300" cy="24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J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981" name="Google Shape;981;p74"/>
          <p:cNvSpPr/>
          <p:nvPr/>
        </p:nvSpPr>
        <p:spPr>
          <a:xfrm>
            <a:off x="6712458" y="1400650"/>
            <a:ext cx="2107500" cy="2107500"/>
          </a:xfrm>
          <a:prstGeom prst="ellipse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2" name="Google Shape;982;p74"/>
          <p:cNvSpPr/>
          <p:nvPr/>
        </p:nvSpPr>
        <p:spPr>
          <a:xfrm>
            <a:off x="5293650" y="1628050"/>
            <a:ext cx="1652700" cy="1652700"/>
          </a:xfrm>
          <a:prstGeom prst="ellipse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83" name="Google Shape;983;p74"/>
          <p:cNvCxnSpPr/>
          <p:nvPr/>
        </p:nvCxnSpPr>
        <p:spPr>
          <a:xfrm>
            <a:off x="6112900" y="2454400"/>
            <a:ext cx="16527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984" name="Google Shape;984;p74"/>
          <p:cNvGrpSpPr/>
          <p:nvPr/>
        </p:nvGrpSpPr>
        <p:grpSpPr>
          <a:xfrm>
            <a:off x="5956150" y="2328341"/>
            <a:ext cx="1999327" cy="252128"/>
            <a:chOff x="5104330" y="2845088"/>
            <a:chExt cx="3531132" cy="249163"/>
          </a:xfrm>
        </p:grpSpPr>
        <p:sp>
          <p:nvSpPr>
            <p:cNvPr id="985" name="Google Shape;985;p74"/>
            <p:cNvSpPr txBox="1"/>
            <p:nvPr/>
          </p:nvSpPr>
          <p:spPr>
            <a:xfrm>
              <a:off x="5104330" y="2845250"/>
              <a:ext cx="282300" cy="24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I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86" name="Google Shape;986;p74"/>
            <p:cNvSpPr txBox="1"/>
            <p:nvPr/>
          </p:nvSpPr>
          <p:spPr>
            <a:xfrm>
              <a:off x="8353162" y="2845088"/>
              <a:ext cx="282300" cy="24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J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0" name="Shape 9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1" name="Google Shape;991;p75"/>
          <p:cNvSpPr txBox="1"/>
          <p:nvPr/>
        </p:nvSpPr>
        <p:spPr>
          <a:xfrm>
            <a:off x="324000" y="640775"/>
            <a:ext cx="8496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4) This construction shows seven congruent circles, each with their centres labelled with a cross.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2" name="Google Shape;992;p75"/>
          <p:cNvSpPr txBox="1"/>
          <p:nvPr/>
        </p:nvSpPr>
        <p:spPr>
          <a:xfrm>
            <a:off x="3899600" y="1413200"/>
            <a:ext cx="4920300" cy="22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a) Find, draw, and label as many different polygons and angles as you can find.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b) Suggest a type of quadrilateral that cannot be drawn accurately from this construction.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Explain how you know it can’t be drawn accurately.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3" name="Google Shape;993;p75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Identifying polygons from premade constructions</a:t>
            </a:r>
            <a:endParaRPr/>
          </a:p>
        </p:txBody>
      </p:sp>
      <p:pic>
        <p:nvPicPr>
          <p:cNvPr id="994" name="Google Shape;994;p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000" y="1232800"/>
            <a:ext cx="3326876" cy="3155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8" name="Shape 9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9" name="Google Shape;999;p76"/>
          <p:cNvGrpSpPr/>
          <p:nvPr/>
        </p:nvGrpSpPr>
        <p:grpSpPr>
          <a:xfrm flipH="1">
            <a:off x="3019445" y="1779435"/>
            <a:ext cx="939070" cy="885662"/>
            <a:chOff x="5245272" y="3613325"/>
            <a:chExt cx="843577" cy="795600"/>
          </a:xfrm>
        </p:grpSpPr>
        <p:sp>
          <p:nvSpPr>
            <p:cNvPr id="1000" name="Google Shape;1000;p76"/>
            <p:cNvSpPr/>
            <p:nvPr/>
          </p:nvSpPr>
          <p:spPr>
            <a:xfrm>
              <a:off x="5245272" y="3613325"/>
              <a:ext cx="795600" cy="795600"/>
            </a:xfrm>
            <a:prstGeom prst="arc">
              <a:avLst>
                <a:gd fmla="val 17923413" name="adj1"/>
                <a:gd fmla="val 0" name="adj2"/>
              </a:avLst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01" name="Google Shape;1001;p76"/>
            <p:cNvSpPr txBox="1"/>
            <p:nvPr/>
          </p:nvSpPr>
          <p:spPr>
            <a:xfrm>
              <a:off x="5651450" y="3783242"/>
              <a:ext cx="4374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60°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002" name="Google Shape;1002;p76"/>
          <p:cNvSpPr txBox="1"/>
          <p:nvPr/>
        </p:nvSpPr>
        <p:spPr>
          <a:xfrm>
            <a:off x="5085600" y="3240975"/>
            <a:ext cx="37341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b) Draw on and label: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 rectangle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 parallelogram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3" name="Google Shape;1003;p76"/>
          <p:cNvSpPr txBox="1"/>
          <p:nvPr/>
        </p:nvSpPr>
        <p:spPr>
          <a:xfrm>
            <a:off x="585600" y="3240975"/>
            <a:ext cx="37341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a) Draw on and label: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 right angle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an equilateral triangle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 regular hexagon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04" name="Google Shape;1004;p76"/>
          <p:cNvGrpSpPr/>
          <p:nvPr/>
        </p:nvGrpSpPr>
        <p:grpSpPr>
          <a:xfrm>
            <a:off x="1123117" y="1418586"/>
            <a:ext cx="3196665" cy="1598333"/>
            <a:chOff x="1759799" y="2958576"/>
            <a:chExt cx="2871600" cy="1435800"/>
          </a:xfrm>
        </p:grpSpPr>
        <p:sp>
          <p:nvSpPr>
            <p:cNvPr id="1005" name="Google Shape;1005;p76"/>
            <p:cNvSpPr/>
            <p:nvPr/>
          </p:nvSpPr>
          <p:spPr>
            <a:xfrm>
              <a:off x="1759799" y="2958576"/>
              <a:ext cx="1435800" cy="1435800"/>
            </a:xfrm>
            <a:prstGeom prst="ellipse">
              <a:avLst/>
            </a:pr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06" name="Google Shape;1006;p76"/>
            <p:cNvSpPr/>
            <p:nvPr/>
          </p:nvSpPr>
          <p:spPr>
            <a:xfrm>
              <a:off x="3195599" y="2958576"/>
              <a:ext cx="1435800" cy="1435800"/>
            </a:xfrm>
            <a:prstGeom prst="ellipse">
              <a:avLst/>
            </a:pr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007" name="Google Shape;1007;p76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Identifying polygons from premade constructions</a:t>
            </a:r>
            <a:endParaRPr/>
          </a:p>
        </p:txBody>
      </p:sp>
      <p:sp>
        <p:nvSpPr>
          <p:cNvPr id="1008" name="Google Shape;1008;p76"/>
          <p:cNvSpPr/>
          <p:nvPr/>
        </p:nvSpPr>
        <p:spPr>
          <a:xfrm>
            <a:off x="324000" y="1418725"/>
            <a:ext cx="1598400" cy="1598400"/>
          </a:xfrm>
          <a:prstGeom prst="ellipse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9" name="Google Shape;1009;p76"/>
          <p:cNvSpPr txBox="1"/>
          <p:nvPr/>
        </p:nvSpPr>
        <p:spPr>
          <a:xfrm>
            <a:off x="324000" y="640775"/>
            <a:ext cx="8496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1) Each copy of this construction shows congruent circles. The centre of the left and rightmost circles are the endpoints of line segment FG.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0" name="Google Shape;1010;p76"/>
          <p:cNvSpPr/>
          <p:nvPr/>
        </p:nvSpPr>
        <p:spPr>
          <a:xfrm>
            <a:off x="1922400" y="1418725"/>
            <a:ext cx="1598400" cy="1598400"/>
          </a:xfrm>
          <a:prstGeom prst="ellipse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11" name="Google Shape;1011;p76"/>
          <p:cNvGrpSpPr/>
          <p:nvPr/>
        </p:nvGrpSpPr>
        <p:grpSpPr>
          <a:xfrm>
            <a:off x="845783" y="2063554"/>
            <a:ext cx="2952671" cy="277368"/>
            <a:chOff x="5104330" y="2845088"/>
            <a:chExt cx="3642126" cy="249163"/>
          </a:xfrm>
        </p:grpSpPr>
        <p:sp>
          <p:nvSpPr>
            <p:cNvPr id="1012" name="Google Shape;1012;p76"/>
            <p:cNvSpPr txBox="1"/>
            <p:nvPr/>
          </p:nvSpPr>
          <p:spPr>
            <a:xfrm>
              <a:off x="5104330" y="2845250"/>
              <a:ext cx="282300" cy="24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F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13" name="Google Shape;1013;p76"/>
            <p:cNvSpPr txBox="1"/>
            <p:nvPr/>
          </p:nvSpPr>
          <p:spPr>
            <a:xfrm>
              <a:off x="8464156" y="2845088"/>
              <a:ext cx="282300" cy="24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G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cxnSp>
        <p:nvCxnSpPr>
          <p:cNvPr id="1014" name="Google Shape;1014;p76"/>
          <p:cNvCxnSpPr>
            <a:stCxn id="1005" idx="2"/>
            <a:endCxn id="1010" idx="6"/>
          </p:cNvCxnSpPr>
          <p:nvPr/>
        </p:nvCxnSpPr>
        <p:spPr>
          <a:xfrm>
            <a:off x="1123117" y="2217752"/>
            <a:ext cx="2397600" cy="3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15" name="Google Shape;1015;p76"/>
          <p:cNvCxnSpPr/>
          <p:nvPr/>
        </p:nvCxnSpPr>
        <p:spPr>
          <a:xfrm>
            <a:off x="3124262" y="1526848"/>
            <a:ext cx="396300" cy="6909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016" name="Google Shape;1016;p76"/>
          <p:cNvGrpSpPr/>
          <p:nvPr/>
        </p:nvGrpSpPr>
        <p:grpSpPr>
          <a:xfrm>
            <a:off x="5623117" y="1418586"/>
            <a:ext cx="3196665" cy="1598333"/>
            <a:chOff x="1759799" y="2958576"/>
            <a:chExt cx="2871600" cy="1435800"/>
          </a:xfrm>
        </p:grpSpPr>
        <p:sp>
          <p:nvSpPr>
            <p:cNvPr id="1017" name="Google Shape;1017;p76"/>
            <p:cNvSpPr/>
            <p:nvPr/>
          </p:nvSpPr>
          <p:spPr>
            <a:xfrm>
              <a:off x="1759799" y="2958576"/>
              <a:ext cx="1435800" cy="1435800"/>
            </a:xfrm>
            <a:prstGeom prst="ellipse">
              <a:avLst/>
            </a:pr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18" name="Google Shape;1018;p76"/>
            <p:cNvSpPr/>
            <p:nvPr/>
          </p:nvSpPr>
          <p:spPr>
            <a:xfrm>
              <a:off x="3195599" y="2958576"/>
              <a:ext cx="1435800" cy="1435800"/>
            </a:xfrm>
            <a:prstGeom prst="ellipse">
              <a:avLst/>
            </a:pr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019" name="Google Shape;1019;p76"/>
          <p:cNvSpPr/>
          <p:nvPr/>
        </p:nvSpPr>
        <p:spPr>
          <a:xfrm>
            <a:off x="4824000" y="1418725"/>
            <a:ext cx="1598400" cy="1598400"/>
          </a:xfrm>
          <a:prstGeom prst="ellipse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0" name="Google Shape;1020;p76"/>
          <p:cNvSpPr/>
          <p:nvPr/>
        </p:nvSpPr>
        <p:spPr>
          <a:xfrm>
            <a:off x="6422400" y="1418725"/>
            <a:ext cx="1598400" cy="1598400"/>
          </a:xfrm>
          <a:prstGeom prst="ellipse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21" name="Google Shape;1021;p76"/>
          <p:cNvGrpSpPr/>
          <p:nvPr/>
        </p:nvGrpSpPr>
        <p:grpSpPr>
          <a:xfrm>
            <a:off x="5345783" y="2063554"/>
            <a:ext cx="2952671" cy="277368"/>
            <a:chOff x="5104330" y="2845088"/>
            <a:chExt cx="3642126" cy="249163"/>
          </a:xfrm>
        </p:grpSpPr>
        <p:sp>
          <p:nvSpPr>
            <p:cNvPr id="1022" name="Google Shape;1022;p76"/>
            <p:cNvSpPr txBox="1"/>
            <p:nvPr/>
          </p:nvSpPr>
          <p:spPr>
            <a:xfrm>
              <a:off x="5104330" y="2845250"/>
              <a:ext cx="282300" cy="24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F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23" name="Google Shape;1023;p76"/>
            <p:cNvSpPr txBox="1"/>
            <p:nvPr/>
          </p:nvSpPr>
          <p:spPr>
            <a:xfrm>
              <a:off x="8464156" y="2845088"/>
              <a:ext cx="282300" cy="24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G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cxnSp>
        <p:nvCxnSpPr>
          <p:cNvPr id="1024" name="Google Shape;1024;p76"/>
          <p:cNvCxnSpPr>
            <a:stCxn id="1017" idx="2"/>
            <a:endCxn id="1020" idx="6"/>
          </p:cNvCxnSpPr>
          <p:nvPr/>
        </p:nvCxnSpPr>
        <p:spPr>
          <a:xfrm>
            <a:off x="5623117" y="2217752"/>
            <a:ext cx="2397600" cy="3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025" name="Google Shape;1025;p76"/>
          <p:cNvGrpSpPr/>
          <p:nvPr/>
        </p:nvGrpSpPr>
        <p:grpSpPr>
          <a:xfrm flipH="1">
            <a:off x="2155005" y="2048924"/>
            <a:ext cx="143596" cy="149079"/>
            <a:chOff x="2319250" y="2084875"/>
            <a:chExt cx="108900" cy="113050"/>
          </a:xfrm>
        </p:grpSpPr>
        <p:cxnSp>
          <p:nvCxnSpPr>
            <p:cNvPr id="1026" name="Google Shape;1026;p76"/>
            <p:cNvCxnSpPr/>
            <p:nvPr/>
          </p:nvCxnSpPr>
          <p:spPr>
            <a:xfrm>
              <a:off x="2319250" y="2084875"/>
              <a:ext cx="1089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27" name="Google Shape;1027;p76"/>
            <p:cNvCxnSpPr/>
            <p:nvPr/>
          </p:nvCxnSpPr>
          <p:spPr>
            <a:xfrm rot="5400000">
              <a:off x="2373700" y="2143475"/>
              <a:ext cx="1089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028" name="Google Shape;1028;p76"/>
          <p:cNvSpPr/>
          <p:nvPr/>
        </p:nvSpPr>
        <p:spPr>
          <a:xfrm>
            <a:off x="175525" y="1327875"/>
            <a:ext cx="8837100" cy="1854300"/>
          </a:xfrm>
          <a:prstGeom prst="rect">
            <a:avLst/>
          </a:prstGeom>
          <a:solidFill>
            <a:srgbClr val="F3EEFB">
              <a:alpha val="5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29" name="Google Shape;1029;p76"/>
          <p:cNvCxnSpPr/>
          <p:nvPr/>
        </p:nvCxnSpPr>
        <p:spPr>
          <a:xfrm>
            <a:off x="2317842" y="1526864"/>
            <a:ext cx="0" cy="1371600"/>
          </a:xfrm>
          <a:prstGeom prst="straightConnector1">
            <a:avLst/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30" name="Google Shape;1030;p76"/>
          <p:cNvCxnSpPr/>
          <p:nvPr/>
        </p:nvCxnSpPr>
        <p:spPr>
          <a:xfrm flipH="1">
            <a:off x="2723992" y="1532114"/>
            <a:ext cx="396600" cy="688500"/>
          </a:xfrm>
          <a:prstGeom prst="straightConnector1">
            <a:avLst/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031" name="Google Shape;1031;p76"/>
          <p:cNvGrpSpPr/>
          <p:nvPr/>
        </p:nvGrpSpPr>
        <p:grpSpPr>
          <a:xfrm>
            <a:off x="1124328" y="1520202"/>
            <a:ext cx="1587857" cy="1378077"/>
            <a:chOff x="1114842" y="1532114"/>
            <a:chExt cx="1606980" cy="1354375"/>
          </a:xfrm>
        </p:grpSpPr>
        <p:grpSp>
          <p:nvGrpSpPr>
            <p:cNvPr id="1032" name="Google Shape;1032;p76"/>
            <p:cNvGrpSpPr/>
            <p:nvPr/>
          </p:nvGrpSpPr>
          <p:grpSpPr>
            <a:xfrm>
              <a:off x="1114842" y="1532114"/>
              <a:ext cx="1606775" cy="1354375"/>
              <a:chOff x="1114842" y="1532114"/>
              <a:chExt cx="1606775" cy="1354375"/>
            </a:xfrm>
          </p:grpSpPr>
          <p:cxnSp>
            <p:nvCxnSpPr>
              <p:cNvPr id="1033" name="Google Shape;1033;p76"/>
              <p:cNvCxnSpPr/>
              <p:nvPr/>
            </p:nvCxnSpPr>
            <p:spPr>
              <a:xfrm flipH="1">
                <a:off x="1114842" y="1532114"/>
                <a:ext cx="396600" cy="6885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accent3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34" name="Google Shape;1034;p76"/>
              <p:cNvCxnSpPr/>
              <p:nvPr/>
            </p:nvCxnSpPr>
            <p:spPr>
              <a:xfrm flipH="1">
                <a:off x="2325017" y="2197989"/>
                <a:ext cx="396600" cy="6885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accent3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1035" name="Google Shape;1035;p76"/>
            <p:cNvGrpSpPr/>
            <p:nvPr/>
          </p:nvGrpSpPr>
          <p:grpSpPr>
            <a:xfrm flipH="1">
              <a:off x="1115047" y="1532114"/>
              <a:ext cx="1606775" cy="1354375"/>
              <a:chOff x="1114842" y="1532114"/>
              <a:chExt cx="1606775" cy="1354375"/>
            </a:xfrm>
          </p:grpSpPr>
          <p:cxnSp>
            <p:nvCxnSpPr>
              <p:cNvPr id="1036" name="Google Shape;1036;p76"/>
              <p:cNvCxnSpPr/>
              <p:nvPr/>
            </p:nvCxnSpPr>
            <p:spPr>
              <a:xfrm flipH="1">
                <a:off x="1114842" y="1532114"/>
                <a:ext cx="396600" cy="6885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accent3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37" name="Google Shape;1037;p76"/>
              <p:cNvCxnSpPr/>
              <p:nvPr/>
            </p:nvCxnSpPr>
            <p:spPr>
              <a:xfrm flipH="1">
                <a:off x="2325017" y="2197989"/>
                <a:ext cx="396600" cy="6885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accent3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cxnSp>
        <p:nvCxnSpPr>
          <p:cNvPr id="1038" name="Google Shape;1038;p76"/>
          <p:cNvCxnSpPr/>
          <p:nvPr/>
        </p:nvCxnSpPr>
        <p:spPr>
          <a:xfrm rot="10800000">
            <a:off x="1509375" y="2896575"/>
            <a:ext cx="808500" cy="0"/>
          </a:xfrm>
          <a:prstGeom prst="straightConnector1">
            <a:avLst/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39" name="Google Shape;1039;p76"/>
          <p:cNvCxnSpPr/>
          <p:nvPr/>
        </p:nvCxnSpPr>
        <p:spPr>
          <a:xfrm rot="10800000">
            <a:off x="1509450" y="1538325"/>
            <a:ext cx="811500" cy="0"/>
          </a:xfrm>
          <a:prstGeom prst="straightConnector1">
            <a:avLst/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40" name="Google Shape;1040;p76"/>
          <p:cNvCxnSpPr/>
          <p:nvPr/>
        </p:nvCxnSpPr>
        <p:spPr>
          <a:xfrm rot="10800000">
            <a:off x="6020375" y="1526675"/>
            <a:ext cx="803700" cy="0"/>
          </a:xfrm>
          <a:prstGeom prst="straightConnector1">
            <a:avLst/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41" name="Google Shape;1041;p76"/>
          <p:cNvCxnSpPr/>
          <p:nvPr/>
        </p:nvCxnSpPr>
        <p:spPr>
          <a:xfrm rot="10800000">
            <a:off x="6020375" y="2906450"/>
            <a:ext cx="803700" cy="0"/>
          </a:xfrm>
          <a:prstGeom prst="straightConnector1">
            <a:avLst/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42" name="Google Shape;1042;p76"/>
          <p:cNvCxnSpPr/>
          <p:nvPr/>
        </p:nvCxnSpPr>
        <p:spPr>
          <a:xfrm rot="10800000">
            <a:off x="6020375" y="1526750"/>
            <a:ext cx="0" cy="1379700"/>
          </a:xfrm>
          <a:prstGeom prst="straightConnector1">
            <a:avLst/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43" name="Google Shape;1043;p76"/>
          <p:cNvCxnSpPr/>
          <p:nvPr/>
        </p:nvCxnSpPr>
        <p:spPr>
          <a:xfrm rot="10800000">
            <a:off x="6822113" y="1526750"/>
            <a:ext cx="0" cy="1379700"/>
          </a:xfrm>
          <a:prstGeom prst="straightConnector1">
            <a:avLst/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44" name="Google Shape;1044;p76"/>
          <p:cNvCxnSpPr/>
          <p:nvPr/>
        </p:nvCxnSpPr>
        <p:spPr>
          <a:xfrm rot="10800000">
            <a:off x="6823524" y="2906450"/>
            <a:ext cx="803700" cy="0"/>
          </a:xfrm>
          <a:prstGeom prst="straightConnector1">
            <a:avLst/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45" name="Google Shape;1045;p76"/>
          <p:cNvCxnSpPr/>
          <p:nvPr/>
        </p:nvCxnSpPr>
        <p:spPr>
          <a:xfrm rot="10800000">
            <a:off x="6029525" y="1537250"/>
            <a:ext cx="792600" cy="1369200"/>
          </a:xfrm>
          <a:prstGeom prst="straightConnector1">
            <a:avLst/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46" name="Google Shape;1046;p76"/>
          <p:cNvCxnSpPr/>
          <p:nvPr/>
        </p:nvCxnSpPr>
        <p:spPr>
          <a:xfrm rot="10800000">
            <a:off x="6834625" y="1537250"/>
            <a:ext cx="792600" cy="1369200"/>
          </a:xfrm>
          <a:prstGeom prst="straightConnector1">
            <a:avLst/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47" name="Google Shape;1047;p76"/>
          <p:cNvSpPr txBox="1"/>
          <p:nvPr/>
        </p:nvSpPr>
        <p:spPr>
          <a:xfrm>
            <a:off x="324000" y="1194875"/>
            <a:ext cx="56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e.g.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48" name="Google Shape;1048;p76"/>
          <p:cNvSpPr txBox="1"/>
          <p:nvPr/>
        </p:nvSpPr>
        <p:spPr>
          <a:xfrm>
            <a:off x="4824000" y="1194875"/>
            <a:ext cx="56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e.g.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2" name="Shape 10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3" name="Google Shape;1053;p77"/>
          <p:cNvSpPr txBox="1"/>
          <p:nvPr/>
        </p:nvSpPr>
        <p:spPr>
          <a:xfrm>
            <a:off x="6270900" y="3135625"/>
            <a:ext cx="21309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b) Draw and label two trapezia: one an isosceles trapezium, and one a right-angle trapezium.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4" name="Google Shape;1054;p77"/>
          <p:cNvSpPr txBox="1"/>
          <p:nvPr/>
        </p:nvSpPr>
        <p:spPr>
          <a:xfrm>
            <a:off x="324000" y="640775"/>
            <a:ext cx="2769300" cy="3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2) This construction shows three congruent circles.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endpoints of line segment FG are centres of two of the circles, and lie on the circumference of the third.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One intersection of the above two circles is centre of the third.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5" name="Google Shape;1055;p77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Identifying polygons from premade constructions</a:t>
            </a:r>
            <a:endParaRPr/>
          </a:p>
        </p:txBody>
      </p:sp>
      <p:cxnSp>
        <p:nvCxnSpPr>
          <p:cNvPr id="1056" name="Google Shape;1056;p77"/>
          <p:cNvCxnSpPr>
            <a:stCxn id="1057" idx="2"/>
            <a:endCxn id="1058" idx="6"/>
          </p:cNvCxnSpPr>
          <p:nvPr/>
        </p:nvCxnSpPr>
        <p:spPr>
          <a:xfrm>
            <a:off x="4215178" y="1558500"/>
            <a:ext cx="862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059" name="Google Shape;1059;p77"/>
          <p:cNvGrpSpPr/>
          <p:nvPr/>
        </p:nvGrpSpPr>
        <p:grpSpPr>
          <a:xfrm>
            <a:off x="4022869" y="1432054"/>
            <a:ext cx="1241546" cy="252128"/>
            <a:chOff x="5104330" y="2845088"/>
            <a:chExt cx="3531132" cy="249163"/>
          </a:xfrm>
        </p:grpSpPr>
        <p:sp>
          <p:nvSpPr>
            <p:cNvPr id="1060" name="Google Shape;1060;p77"/>
            <p:cNvSpPr txBox="1"/>
            <p:nvPr/>
          </p:nvSpPr>
          <p:spPr>
            <a:xfrm>
              <a:off x="5104330" y="2845250"/>
              <a:ext cx="282300" cy="24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F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61" name="Google Shape;1061;p77"/>
            <p:cNvSpPr txBox="1"/>
            <p:nvPr/>
          </p:nvSpPr>
          <p:spPr>
            <a:xfrm>
              <a:off x="8353162" y="2845088"/>
              <a:ext cx="282300" cy="24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G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062" name="Google Shape;1062;p77"/>
          <p:cNvSpPr txBox="1"/>
          <p:nvPr/>
        </p:nvSpPr>
        <p:spPr>
          <a:xfrm>
            <a:off x="3372000" y="3135625"/>
            <a:ext cx="21309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a) Draw and label two equilateral triangles of different sizes.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63" name="Google Shape;1063;p77"/>
          <p:cNvCxnSpPr>
            <a:stCxn id="1064" idx="2"/>
            <a:endCxn id="1065" idx="6"/>
          </p:cNvCxnSpPr>
          <p:nvPr/>
        </p:nvCxnSpPr>
        <p:spPr>
          <a:xfrm>
            <a:off x="7114078" y="1558500"/>
            <a:ext cx="862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066" name="Google Shape;1066;p77"/>
          <p:cNvGrpSpPr/>
          <p:nvPr/>
        </p:nvGrpSpPr>
        <p:grpSpPr>
          <a:xfrm>
            <a:off x="6921769" y="1432054"/>
            <a:ext cx="1241546" cy="252128"/>
            <a:chOff x="5104330" y="2845088"/>
            <a:chExt cx="3531132" cy="249163"/>
          </a:xfrm>
        </p:grpSpPr>
        <p:sp>
          <p:nvSpPr>
            <p:cNvPr id="1067" name="Google Shape;1067;p77"/>
            <p:cNvSpPr txBox="1"/>
            <p:nvPr/>
          </p:nvSpPr>
          <p:spPr>
            <a:xfrm>
              <a:off x="5104330" y="2845250"/>
              <a:ext cx="282300" cy="24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F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68" name="Google Shape;1068;p77"/>
            <p:cNvSpPr txBox="1"/>
            <p:nvPr/>
          </p:nvSpPr>
          <p:spPr>
            <a:xfrm>
              <a:off x="8353162" y="2845088"/>
              <a:ext cx="282300" cy="24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G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069" name="Google Shape;1069;p77"/>
          <p:cNvSpPr/>
          <p:nvPr/>
        </p:nvSpPr>
        <p:spPr>
          <a:xfrm>
            <a:off x="3797023" y="1437637"/>
            <a:ext cx="1705800" cy="1705800"/>
          </a:xfrm>
          <a:prstGeom prst="ellipse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8" name="Google Shape;1058;p77"/>
          <p:cNvSpPr/>
          <p:nvPr/>
        </p:nvSpPr>
        <p:spPr>
          <a:xfrm>
            <a:off x="3371999" y="705600"/>
            <a:ext cx="1705800" cy="1705800"/>
          </a:xfrm>
          <a:prstGeom prst="ellipse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7" name="Google Shape;1057;p77"/>
          <p:cNvSpPr/>
          <p:nvPr/>
        </p:nvSpPr>
        <p:spPr>
          <a:xfrm>
            <a:off x="4215178" y="705600"/>
            <a:ext cx="1705800" cy="1705800"/>
          </a:xfrm>
          <a:prstGeom prst="ellipse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0" name="Google Shape;1070;p77"/>
          <p:cNvSpPr/>
          <p:nvPr/>
        </p:nvSpPr>
        <p:spPr>
          <a:xfrm>
            <a:off x="6695923" y="1437637"/>
            <a:ext cx="1705800" cy="1705800"/>
          </a:xfrm>
          <a:prstGeom prst="ellipse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5" name="Google Shape;1065;p77"/>
          <p:cNvSpPr/>
          <p:nvPr/>
        </p:nvSpPr>
        <p:spPr>
          <a:xfrm>
            <a:off x="6270899" y="705600"/>
            <a:ext cx="1705800" cy="1705800"/>
          </a:xfrm>
          <a:prstGeom prst="ellipse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4" name="Google Shape;1064;p77"/>
          <p:cNvSpPr/>
          <p:nvPr/>
        </p:nvSpPr>
        <p:spPr>
          <a:xfrm>
            <a:off x="7114078" y="705600"/>
            <a:ext cx="1705800" cy="1705800"/>
          </a:xfrm>
          <a:prstGeom prst="ellipse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71" name="Google Shape;1071;p77"/>
          <p:cNvCxnSpPr/>
          <p:nvPr/>
        </p:nvCxnSpPr>
        <p:spPr>
          <a:xfrm flipH="1" rot="10800000">
            <a:off x="4215165" y="820809"/>
            <a:ext cx="426000" cy="737700"/>
          </a:xfrm>
          <a:prstGeom prst="straightConnector1">
            <a:avLst/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72" name="Google Shape;1072;p77"/>
          <p:cNvCxnSpPr/>
          <p:nvPr/>
        </p:nvCxnSpPr>
        <p:spPr>
          <a:xfrm rot="10800000">
            <a:off x="4641165" y="820809"/>
            <a:ext cx="426000" cy="737700"/>
          </a:xfrm>
          <a:prstGeom prst="straightConnector1">
            <a:avLst/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73" name="Google Shape;1073;p77"/>
          <p:cNvSpPr/>
          <p:nvPr/>
        </p:nvSpPr>
        <p:spPr>
          <a:xfrm>
            <a:off x="3318375" y="659600"/>
            <a:ext cx="5655900" cy="2512800"/>
          </a:xfrm>
          <a:prstGeom prst="rect">
            <a:avLst/>
          </a:prstGeom>
          <a:solidFill>
            <a:srgbClr val="F3EEFB">
              <a:alpha val="5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74" name="Google Shape;1074;p77"/>
          <p:cNvCxnSpPr/>
          <p:nvPr/>
        </p:nvCxnSpPr>
        <p:spPr>
          <a:xfrm flipH="1" rot="3600295">
            <a:off x="4427903" y="1189158"/>
            <a:ext cx="426063" cy="737890"/>
          </a:xfrm>
          <a:prstGeom prst="straightConnector1">
            <a:avLst/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075" name="Google Shape;1075;p77"/>
          <p:cNvGrpSpPr/>
          <p:nvPr/>
        </p:nvGrpSpPr>
        <p:grpSpPr>
          <a:xfrm>
            <a:off x="3774953" y="814894"/>
            <a:ext cx="1732074" cy="2243861"/>
            <a:chOff x="3788697" y="810001"/>
            <a:chExt cx="1704462" cy="2208090"/>
          </a:xfrm>
        </p:grpSpPr>
        <p:cxnSp>
          <p:nvCxnSpPr>
            <p:cNvPr id="1076" name="Google Shape;1076;p77"/>
            <p:cNvCxnSpPr/>
            <p:nvPr/>
          </p:nvCxnSpPr>
          <p:spPr>
            <a:xfrm flipH="1" rot="10800000">
              <a:off x="3789159" y="810001"/>
              <a:ext cx="852000" cy="1472400"/>
            </a:xfrm>
            <a:prstGeom prst="straightConnector1">
              <a:avLst/>
            </a:prstGeom>
            <a:noFill/>
            <a:ln cap="flat" cmpd="sng" w="3810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77" name="Google Shape;1077;p77"/>
            <p:cNvCxnSpPr/>
            <p:nvPr/>
          </p:nvCxnSpPr>
          <p:spPr>
            <a:xfrm rot="10800000">
              <a:off x="4641159" y="810001"/>
              <a:ext cx="852000" cy="1472400"/>
            </a:xfrm>
            <a:prstGeom prst="straightConnector1">
              <a:avLst/>
            </a:prstGeom>
            <a:noFill/>
            <a:ln cap="flat" cmpd="sng" w="3810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78" name="Google Shape;1078;p77"/>
            <p:cNvCxnSpPr/>
            <p:nvPr/>
          </p:nvCxnSpPr>
          <p:spPr>
            <a:xfrm flipH="1" rot="3597265">
              <a:off x="4215283" y="1544075"/>
              <a:ext cx="850828" cy="1475031"/>
            </a:xfrm>
            <a:prstGeom prst="straightConnector1">
              <a:avLst/>
            </a:prstGeom>
            <a:noFill/>
            <a:ln cap="flat" cmpd="sng" w="3810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1079" name="Google Shape;1079;p77"/>
          <p:cNvCxnSpPr>
            <a:stCxn id="1070" idx="6"/>
          </p:cNvCxnSpPr>
          <p:nvPr/>
        </p:nvCxnSpPr>
        <p:spPr>
          <a:xfrm rot="10800000">
            <a:off x="6701623" y="2290537"/>
            <a:ext cx="1700100" cy="0"/>
          </a:xfrm>
          <a:prstGeom prst="straightConnector1">
            <a:avLst/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80" name="Google Shape;1080;p77"/>
          <p:cNvCxnSpPr/>
          <p:nvPr/>
        </p:nvCxnSpPr>
        <p:spPr>
          <a:xfrm flipH="1" rot="10800000">
            <a:off x="6701615" y="1558509"/>
            <a:ext cx="426000" cy="737700"/>
          </a:xfrm>
          <a:prstGeom prst="straightConnector1">
            <a:avLst/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81" name="Google Shape;1081;p77"/>
          <p:cNvCxnSpPr/>
          <p:nvPr/>
        </p:nvCxnSpPr>
        <p:spPr>
          <a:xfrm rot="10800000">
            <a:off x="7976690" y="1558509"/>
            <a:ext cx="426000" cy="737700"/>
          </a:xfrm>
          <a:prstGeom prst="straightConnector1">
            <a:avLst/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82" name="Google Shape;1082;p77"/>
          <p:cNvCxnSpPr/>
          <p:nvPr/>
        </p:nvCxnSpPr>
        <p:spPr>
          <a:xfrm rot="-3600295">
            <a:off x="7338645" y="1189558"/>
            <a:ext cx="426063" cy="737890"/>
          </a:xfrm>
          <a:prstGeom prst="straightConnector1">
            <a:avLst/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83" name="Google Shape;1083;p77"/>
          <p:cNvCxnSpPr/>
          <p:nvPr/>
        </p:nvCxnSpPr>
        <p:spPr>
          <a:xfrm>
            <a:off x="7542420" y="810003"/>
            <a:ext cx="0" cy="1489500"/>
          </a:xfrm>
          <a:prstGeom prst="straightConnector1">
            <a:avLst/>
          </a:prstGeom>
          <a:noFill/>
          <a:ln cap="flat" cmpd="sng" w="38100">
            <a:solidFill>
              <a:schemeClr val="accent3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084" name="Google Shape;1084;p77"/>
          <p:cNvCxnSpPr/>
          <p:nvPr/>
        </p:nvCxnSpPr>
        <p:spPr>
          <a:xfrm>
            <a:off x="7542425" y="1561525"/>
            <a:ext cx="0" cy="738000"/>
          </a:xfrm>
          <a:prstGeom prst="straightConnector1">
            <a:avLst/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085" name="Google Shape;1085;p77"/>
          <p:cNvGrpSpPr/>
          <p:nvPr/>
        </p:nvGrpSpPr>
        <p:grpSpPr>
          <a:xfrm flipH="1">
            <a:off x="7379666" y="2122199"/>
            <a:ext cx="143596" cy="149079"/>
            <a:chOff x="2319250" y="2084875"/>
            <a:chExt cx="108900" cy="113050"/>
          </a:xfrm>
        </p:grpSpPr>
        <p:cxnSp>
          <p:nvCxnSpPr>
            <p:cNvPr id="1086" name="Google Shape;1086;p77"/>
            <p:cNvCxnSpPr/>
            <p:nvPr/>
          </p:nvCxnSpPr>
          <p:spPr>
            <a:xfrm>
              <a:off x="2319250" y="2084875"/>
              <a:ext cx="1089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87" name="Google Shape;1087;p77"/>
            <p:cNvCxnSpPr/>
            <p:nvPr/>
          </p:nvCxnSpPr>
          <p:spPr>
            <a:xfrm rot="5400000">
              <a:off x="2373700" y="2143475"/>
              <a:ext cx="1089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088" name="Google Shape;1088;p77"/>
          <p:cNvSpPr txBox="1"/>
          <p:nvPr/>
        </p:nvSpPr>
        <p:spPr>
          <a:xfrm>
            <a:off x="3067200" y="661475"/>
            <a:ext cx="56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e.g.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89" name="Google Shape;1089;p77"/>
          <p:cNvSpPr txBox="1"/>
          <p:nvPr/>
        </p:nvSpPr>
        <p:spPr>
          <a:xfrm>
            <a:off x="6126750" y="661475"/>
            <a:ext cx="56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e.g.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3" name="Shape 10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4" name="Google Shape;1094;p78"/>
          <p:cNvSpPr txBox="1"/>
          <p:nvPr/>
        </p:nvSpPr>
        <p:spPr>
          <a:xfrm>
            <a:off x="5293700" y="3639300"/>
            <a:ext cx="35262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b) Draw and label two scalene triangles: one right angle and one non-right angle.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5" name="Google Shape;1095;p78"/>
          <p:cNvSpPr txBox="1"/>
          <p:nvPr/>
        </p:nvSpPr>
        <p:spPr>
          <a:xfrm>
            <a:off x="324000" y="640775"/>
            <a:ext cx="8496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3) This construction shows two circles of different sizes.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endpoints of line segment IJ are centres of two of the circles.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6" name="Google Shape;1096;p78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Identifying polygons from premade constructions</a:t>
            </a:r>
            <a:endParaRPr/>
          </a:p>
        </p:txBody>
      </p:sp>
      <p:sp>
        <p:nvSpPr>
          <p:cNvPr id="1097" name="Google Shape;1097;p78"/>
          <p:cNvSpPr txBox="1"/>
          <p:nvPr/>
        </p:nvSpPr>
        <p:spPr>
          <a:xfrm>
            <a:off x="324000" y="3639300"/>
            <a:ext cx="35262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a) Draw and label a kite, a bisector of IJ, and two isosceles triangles.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8" name="Google Shape;1098;p78"/>
          <p:cNvSpPr/>
          <p:nvPr/>
        </p:nvSpPr>
        <p:spPr>
          <a:xfrm>
            <a:off x="1742758" y="1400650"/>
            <a:ext cx="2107500" cy="2107500"/>
          </a:xfrm>
          <a:prstGeom prst="ellipse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9" name="Google Shape;1099;p78"/>
          <p:cNvSpPr/>
          <p:nvPr/>
        </p:nvSpPr>
        <p:spPr>
          <a:xfrm>
            <a:off x="323950" y="1628050"/>
            <a:ext cx="1652700" cy="1652700"/>
          </a:xfrm>
          <a:prstGeom prst="ellipse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00" name="Google Shape;1100;p78"/>
          <p:cNvCxnSpPr/>
          <p:nvPr/>
        </p:nvCxnSpPr>
        <p:spPr>
          <a:xfrm>
            <a:off x="1143200" y="2454400"/>
            <a:ext cx="16527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101" name="Google Shape;1101;p78"/>
          <p:cNvGrpSpPr/>
          <p:nvPr/>
        </p:nvGrpSpPr>
        <p:grpSpPr>
          <a:xfrm>
            <a:off x="986450" y="2328341"/>
            <a:ext cx="1999327" cy="252128"/>
            <a:chOff x="5104330" y="2845088"/>
            <a:chExt cx="3531132" cy="249163"/>
          </a:xfrm>
        </p:grpSpPr>
        <p:sp>
          <p:nvSpPr>
            <p:cNvPr id="1102" name="Google Shape;1102;p78"/>
            <p:cNvSpPr txBox="1"/>
            <p:nvPr/>
          </p:nvSpPr>
          <p:spPr>
            <a:xfrm>
              <a:off x="5104330" y="2845250"/>
              <a:ext cx="282300" cy="24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I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03" name="Google Shape;1103;p78"/>
            <p:cNvSpPr txBox="1"/>
            <p:nvPr/>
          </p:nvSpPr>
          <p:spPr>
            <a:xfrm>
              <a:off x="8353162" y="2845088"/>
              <a:ext cx="282300" cy="24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J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104" name="Google Shape;1104;p78"/>
          <p:cNvSpPr/>
          <p:nvPr/>
        </p:nvSpPr>
        <p:spPr>
          <a:xfrm>
            <a:off x="6712458" y="1400650"/>
            <a:ext cx="2107500" cy="2107500"/>
          </a:xfrm>
          <a:prstGeom prst="ellipse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5" name="Google Shape;1105;p78"/>
          <p:cNvSpPr/>
          <p:nvPr/>
        </p:nvSpPr>
        <p:spPr>
          <a:xfrm>
            <a:off x="5293650" y="1628050"/>
            <a:ext cx="1652700" cy="1652700"/>
          </a:xfrm>
          <a:prstGeom prst="ellipse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06" name="Google Shape;1106;p78"/>
          <p:cNvCxnSpPr/>
          <p:nvPr/>
        </p:nvCxnSpPr>
        <p:spPr>
          <a:xfrm>
            <a:off x="6112900" y="2454400"/>
            <a:ext cx="16527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107" name="Google Shape;1107;p78"/>
          <p:cNvGrpSpPr/>
          <p:nvPr/>
        </p:nvGrpSpPr>
        <p:grpSpPr>
          <a:xfrm>
            <a:off x="5956150" y="2328341"/>
            <a:ext cx="1999327" cy="252128"/>
            <a:chOff x="5104330" y="2845088"/>
            <a:chExt cx="3531132" cy="249163"/>
          </a:xfrm>
        </p:grpSpPr>
        <p:sp>
          <p:nvSpPr>
            <p:cNvPr id="1108" name="Google Shape;1108;p78"/>
            <p:cNvSpPr txBox="1"/>
            <p:nvPr/>
          </p:nvSpPr>
          <p:spPr>
            <a:xfrm>
              <a:off x="5104330" y="2845250"/>
              <a:ext cx="282300" cy="24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I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09" name="Google Shape;1109;p78"/>
            <p:cNvSpPr txBox="1"/>
            <p:nvPr/>
          </p:nvSpPr>
          <p:spPr>
            <a:xfrm>
              <a:off x="8353162" y="2845088"/>
              <a:ext cx="282300" cy="24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J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110" name="Google Shape;1110;p78"/>
          <p:cNvSpPr/>
          <p:nvPr/>
        </p:nvSpPr>
        <p:spPr>
          <a:xfrm>
            <a:off x="219450" y="1274200"/>
            <a:ext cx="8706900" cy="2358900"/>
          </a:xfrm>
          <a:prstGeom prst="rect">
            <a:avLst/>
          </a:prstGeom>
          <a:solidFill>
            <a:srgbClr val="F3EEFB">
              <a:alpha val="5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111" name="Google Shape;1111;p78"/>
          <p:cNvGrpSpPr/>
          <p:nvPr/>
        </p:nvGrpSpPr>
        <p:grpSpPr>
          <a:xfrm>
            <a:off x="1151150" y="1995589"/>
            <a:ext cx="1652700" cy="461406"/>
            <a:chOff x="1143700" y="2095150"/>
            <a:chExt cx="1652700" cy="472800"/>
          </a:xfrm>
        </p:grpSpPr>
        <p:cxnSp>
          <p:nvCxnSpPr>
            <p:cNvPr id="1112" name="Google Shape;1112;p78"/>
            <p:cNvCxnSpPr/>
            <p:nvPr/>
          </p:nvCxnSpPr>
          <p:spPr>
            <a:xfrm flipH="1">
              <a:off x="1143700" y="2095150"/>
              <a:ext cx="690000" cy="471000"/>
            </a:xfrm>
            <a:prstGeom prst="straightConnector1">
              <a:avLst/>
            </a:prstGeom>
            <a:noFill/>
            <a:ln cap="flat" cmpd="sng" w="3810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13" name="Google Shape;1113;p78"/>
            <p:cNvCxnSpPr/>
            <p:nvPr/>
          </p:nvCxnSpPr>
          <p:spPr>
            <a:xfrm>
              <a:off x="1833700" y="2095150"/>
              <a:ext cx="962700" cy="472800"/>
            </a:xfrm>
            <a:prstGeom prst="straightConnector1">
              <a:avLst/>
            </a:prstGeom>
            <a:noFill/>
            <a:ln cap="flat" cmpd="sng" w="3810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114" name="Google Shape;1114;p78"/>
          <p:cNvGrpSpPr/>
          <p:nvPr/>
        </p:nvGrpSpPr>
        <p:grpSpPr>
          <a:xfrm flipH="1" rot="10800000">
            <a:off x="1151150" y="2454389"/>
            <a:ext cx="1652700" cy="461406"/>
            <a:chOff x="1143700" y="2095150"/>
            <a:chExt cx="1652700" cy="472800"/>
          </a:xfrm>
        </p:grpSpPr>
        <p:cxnSp>
          <p:nvCxnSpPr>
            <p:cNvPr id="1115" name="Google Shape;1115;p78"/>
            <p:cNvCxnSpPr/>
            <p:nvPr/>
          </p:nvCxnSpPr>
          <p:spPr>
            <a:xfrm flipH="1">
              <a:off x="1143700" y="2095150"/>
              <a:ext cx="690000" cy="471000"/>
            </a:xfrm>
            <a:prstGeom prst="straightConnector1">
              <a:avLst/>
            </a:prstGeom>
            <a:noFill/>
            <a:ln cap="flat" cmpd="sng" w="3810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16" name="Google Shape;1116;p78"/>
            <p:cNvCxnSpPr/>
            <p:nvPr/>
          </p:nvCxnSpPr>
          <p:spPr>
            <a:xfrm>
              <a:off x="1833700" y="2095150"/>
              <a:ext cx="962700" cy="472800"/>
            </a:xfrm>
            <a:prstGeom prst="straightConnector1">
              <a:avLst/>
            </a:prstGeom>
            <a:noFill/>
            <a:ln cap="flat" cmpd="sng" w="3810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117" name="Google Shape;1117;p78"/>
          <p:cNvGrpSpPr/>
          <p:nvPr/>
        </p:nvGrpSpPr>
        <p:grpSpPr>
          <a:xfrm>
            <a:off x="6112900" y="1995589"/>
            <a:ext cx="1652700" cy="461406"/>
            <a:chOff x="1143700" y="2095150"/>
            <a:chExt cx="1652700" cy="472800"/>
          </a:xfrm>
        </p:grpSpPr>
        <p:cxnSp>
          <p:nvCxnSpPr>
            <p:cNvPr id="1118" name="Google Shape;1118;p78"/>
            <p:cNvCxnSpPr/>
            <p:nvPr/>
          </p:nvCxnSpPr>
          <p:spPr>
            <a:xfrm flipH="1">
              <a:off x="1143700" y="2095150"/>
              <a:ext cx="690000" cy="471000"/>
            </a:xfrm>
            <a:prstGeom prst="straightConnector1">
              <a:avLst/>
            </a:prstGeom>
            <a:noFill/>
            <a:ln cap="flat" cmpd="sng" w="3810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19" name="Google Shape;1119;p78"/>
            <p:cNvCxnSpPr/>
            <p:nvPr/>
          </p:nvCxnSpPr>
          <p:spPr>
            <a:xfrm>
              <a:off x="1833700" y="2095150"/>
              <a:ext cx="962700" cy="472800"/>
            </a:xfrm>
            <a:prstGeom prst="straightConnector1">
              <a:avLst/>
            </a:prstGeom>
            <a:noFill/>
            <a:ln cap="flat" cmpd="sng" w="3810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120" name="Google Shape;1120;p78"/>
          <p:cNvGrpSpPr/>
          <p:nvPr/>
        </p:nvGrpSpPr>
        <p:grpSpPr>
          <a:xfrm flipH="1" rot="10800000">
            <a:off x="6112900" y="2454389"/>
            <a:ext cx="1652700" cy="461406"/>
            <a:chOff x="1143700" y="2095150"/>
            <a:chExt cx="1652700" cy="472800"/>
          </a:xfrm>
        </p:grpSpPr>
        <p:cxnSp>
          <p:nvCxnSpPr>
            <p:cNvPr id="1121" name="Google Shape;1121;p78"/>
            <p:cNvCxnSpPr/>
            <p:nvPr/>
          </p:nvCxnSpPr>
          <p:spPr>
            <a:xfrm flipH="1">
              <a:off x="1143700" y="2095150"/>
              <a:ext cx="690000" cy="471000"/>
            </a:xfrm>
            <a:prstGeom prst="straightConnector1">
              <a:avLst/>
            </a:prstGeom>
            <a:noFill/>
            <a:ln cap="flat" cmpd="sng" w="3810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22" name="Google Shape;1122;p78"/>
            <p:cNvCxnSpPr/>
            <p:nvPr/>
          </p:nvCxnSpPr>
          <p:spPr>
            <a:xfrm>
              <a:off x="1833700" y="2095150"/>
              <a:ext cx="962700" cy="472800"/>
            </a:xfrm>
            <a:prstGeom prst="straightConnector1">
              <a:avLst/>
            </a:prstGeom>
            <a:noFill/>
            <a:ln cap="flat" cmpd="sng" w="3810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1123" name="Google Shape;1123;p78"/>
          <p:cNvCxnSpPr/>
          <p:nvPr/>
        </p:nvCxnSpPr>
        <p:spPr>
          <a:xfrm rot="10800000">
            <a:off x="1845575" y="1995550"/>
            <a:ext cx="0" cy="911700"/>
          </a:xfrm>
          <a:prstGeom prst="straightConnector1">
            <a:avLst/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24" name="Google Shape;1124;p78"/>
          <p:cNvCxnSpPr/>
          <p:nvPr/>
        </p:nvCxnSpPr>
        <p:spPr>
          <a:xfrm rot="10800000">
            <a:off x="6169300" y="2454425"/>
            <a:ext cx="1596300" cy="0"/>
          </a:xfrm>
          <a:prstGeom prst="straightConnector1">
            <a:avLst/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25" name="Google Shape;1125;p78"/>
          <p:cNvCxnSpPr/>
          <p:nvPr/>
        </p:nvCxnSpPr>
        <p:spPr>
          <a:xfrm rot="10800000">
            <a:off x="6812075" y="1985825"/>
            <a:ext cx="0" cy="470100"/>
          </a:xfrm>
          <a:prstGeom prst="straightConnector1">
            <a:avLst/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26" name="Google Shape;1126;p78"/>
          <p:cNvCxnSpPr/>
          <p:nvPr/>
        </p:nvCxnSpPr>
        <p:spPr>
          <a:xfrm rot="10800000">
            <a:off x="6812075" y="1985750"/>
            <a:ext cx="0" cy="931500"/>
          </a:xfrm>
          <a:prstGeom prst="straightConnector1">
            <a:avLst/>
          </a:prstGeom>
          <a:noFill/>
          <a:ln cap="flat" cmpd="sng" w="38100">
            <a:solidFill>
              <a:schemeClr val="accent3"/>
            </a:solidFill>
            <a:prstDash val="dot"/>
            <a:round/>
            <a:headEnd len="med" w="med" type="none"/>
            <a:tailEnd len="med" w="med" type="none"/>
          </a:ln>
        </p:spPr>
      </p:cxnSp>
      <p:grpSp>
        <p:nvGrpSpPr>
          <p:cNvPr id="1127" name="Google Shape;1127;p78"/>
          <p:cNvGrpSpPr/>
          <p:nvPr/>
        </p:nvGrpSpPr>
        <p:grpSpPr>
          <a:xfrm flipH="1">
            <a:off x="6650616" y="2285824"/>
            <a:ext cx="143596" cy="149079"/>
            <a:chOff x="2319250" y="2084875"/>
            <a:chExt cx="108900" cy="113050"/>
          </a:xfrm>
        </p:grpSpPr>
        <p:cxnSp>
          <p:nvCxnSpPr>
            <p:cNvPr id="1128" name="Google Shape;1128;p78"/>
            <p:cNvCxnSpPr/>
            <p:nvPr/>
          </p:nvCxnSpPr>
          <p:spPr>
            <a:xfrm>
              <a:off x="2319250" y="2084875"/>
              <a:ext cx="1089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29" name="Google Shape;1129;p78"/>
            <p:cNvCxnSpPr/>
            <p:nvPr/>
          </p:nvCxnSpPr>
          <p:spPr>
            <a:xfrm rot="5400000">
              <a:off x="2373700" y="2143475"/>
              <a:ext cx="1089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130" name="Google Shape;1130;p78"/>
          <p:cNvSpPr txBox="1"/>
          <p:nvPr/>
        </p:nvSpPr>
        <p:spPr>
          <a:xfrm>
            <a:off x="4998900" y="1530650"/>
            <a:ext cx="56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e.g.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4" name="Shape 1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5" name="Google Shape;1135;p79"/>
          <p:cNvSpPr txBox="1"/>
          <p:nvPr/>
        </p:nvSpPr>
        <p:spPr>
          <a:xfrm>
            <a:off x="324000" y="640775"/>
            <a:ext cx="8496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4) This construction shows seven congruent circles, each with their centres labelled with a cross.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6" name="Google Shape;1136;p79"/>
          <p:cNvSpPr txBox="1"/>
          <p:nvPr/>
        </p:nvSpPr>
        <p:spPr>
          <a:xfrm>
            <a:off x="3899600" y="1413200"/>
            <a:ext cx="49203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a) Find, draw, and label as many different polygons and angles as you can find.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7" name="Google Shape;1137;p7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Identifying polygons from premade constructions</a:t>
            </a:r>
            <a:endParaRPr/>
          </a:p>
        </p:txBody>
      </p:sp>
      <p:sp>
        <p:nvSpPr>
          <p:cNvPr id="1138" name="Google Shape;1138;p79"/>
          <p:cNvSpPr txBox="1"/>
          <p:nvPr/>
        </p:nvSpPr>
        <p:spPr>
          <a:xfrm>
            <a:off x="3899600" y="2038750"/>
            <a:ext cx="4829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Some examples of polygons include: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regular hexagon, irregular pentagon, trapezium, parallelogram, rhombus, arrowhead, equilateral triangle.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Some examples of angles include: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60°, 90°, 120°, 240°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139" name="Google Shape;1139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000" y="1232800"/>
            <a:ext cx="3326876" cy="31552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40" name="Google Shape;1140;p79"/>
          <p:cNvGrpSpPr/>
          <p:nvPr/>
        </p:nvGrpSpPr>
        <p:grpSpPr>
          <a:xfrm>
            <a:off x="743448" y="2132350"/>
            <a:ext cx="1229725" cy="2075700"/>
            <a:chOff x="743448" y="2132350"/>
            <a:chExt cx="1229725" cy="2075700"/>
          </a:xfrm>
        </p:grpSpPr>
        <p:cxnSp>
          <p:nvCxnSpPr>
            <p:cNvPr id="1141" name="Google Shape;1141;p79"/>
            <p:cNvCxnSpPr/>
            <p:nvPr/>
          </p:nvCxnSpPr>
          <p:spPr>
            <a:xfrm rot="10800000">
              <a:off x="764773" y="2132350"/>
              <a:ext cx="1208400" cy="2075700"/>
            </a:xfrm>
            <a:prstGeom prst="straightConnector1">
              <a:avLst/>
            </a:prstGeom>
            <a:noFill/>
            <a:ln cap="flat" cmpd="sng" w="28575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42" name="Google Shape;1142;p79"/>
            <p:cNvCxnSpPr/>
            <p:nvPr/>
          </p:nvCxnSpPr>
          <p:spPr>
            <a:xfrm>
              <a:off x="743448" y="2132475"/>
              <a:ext cx="1229700" cy="689400"/>
            </a:xfrm>
            <a:prstGeom prst="straightConnector1">
              <a:avLst/>
            </a:prstGeom>
            <a:noFill/>
            <a:ln cap="flat" cmpd="sng" w="28575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143" name="Google Shape;1143;p79"/>
          <p:cNvGrpSpPr/>
          <p:nvPr/>
        </p:nvGrpSpPr>
        <p:grpSpPr>
          <a:xfrm flipH="1">
            <a:off x="1973173" y="2132350"/>
            <a:ext cx="1229725" cy="2075700"/>
            <a:chOff x="743448" y="2132350"/>
            <a:chExt cx="1229725" cy="2075700"/>
          </a:xfrm>
        </p:grpSpPr>
        <p:cxnSp>
          <p:nvCxnSpPr>
            <p:cNvPr id="1144" name="Google Shape;1144;p79"/>
            <p:cNvCxnSpPr/>
            <p:nvPr/>
          </p:nvCxnSpPr>
          <p:spPr>
            <a:xfrm rot="10800000">
              <a:off x="764773" y="2132350"/>
              <a:ext cx="1208400" cy="2075700"/>
            </a:xfrm>
            <a:prstGeom prst="straightConnector1">
              <a:avLst/>
            </a:prstGeom>
            <a:noFill/>
            <a:ln cap="flat" cmpd="sng" w="28575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45" name="Google Shape;1145;p79"/>
            <p:cNvCxnSpPr/>
            <p:nvPr/>
          </p:nvCxnSpPr>
          <p:spPr>
            <a:xfrm>
              <a:off x="743448" y="2132475"/>
              <a:ext cx="1229700" cy="689400"/>
            </a:xfrm>
            <a:prstGeom prst="straightConnector1">
              <a:avLst/>
            </a:prstGeom>
            <a:noFill/>
            <a:ln cap="flat" cmpd="sng" w="28575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146" name="Google Shape;1146;p79"/>
          <p:cNvSpPr txBox="1"/>
          <p:nvPr/>
        </p:nvSpPr>
        <p:spPr>
          <a:xfrm>
            <a:off x="324000" y="1194875"/>
            <a:ext cx="56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e.g.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0" name="Shape 1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1" name="Google Shape;1151;p80"/>
          <p:cNvSpPr txBox="1"/>
          <p:nvPr/>
        </p:nvSpPr>
        <p:spPr>
          <a:xfrm>
            <a:off x="3899800" y="3029350"/>
            <a:ext cx="4920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A square cannot be drawn accurately.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This is because all lengths that are of equal size are at an angle of either 30° or 60° to each other.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52" name="Google Shape;1152;p80"/>
          <p:cNvSpPr txBox="1"/>
          <p:nvPr/>
        </p:nvSpPr>
        <p:spPr>
          <a:xfrm>
            <a:off x="324000" y="640775"/>
            <a:ext cx="8496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4) This construction shows seven congruent circles, each with their centres labelled with a cross.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3" name="Google Shape;1153;p80"/>
          <p:cNvSpPr txBox="1"/>
          <p:nvPr/>
        </p:nvSpPr>
        <p:spPr>
          <a:xfrm>
            <a:off x="3899600" y="1413200"/>
            <a:ext cx="49203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b) Suggest a type of quadrilateral that cannot be drawn accurately from this construction.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Explain how you know it can’t be drawn accurately.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4" name="Google Shape;1154;p80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Identifying polygons from premade constructions</a:t>
            </a:r>
            <a:endParaRPr/>
          </a:p>
        </p:txBody>
      </p:sp>
      <p:pic>
        <p:nvPicPr>
          <p:cNvPr id="1155" name="Google Shape;1155;p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000" y="1232800"/>
            <a:ext cx="3326876" cy="3155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9" name="Shape 1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0" name="Google Shape;1160;p81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Constructing shapes</a:t>
            </a:r>
            <a:endParaRPr/>
          </a:p>
        </p:txBody>
      </p:sp>
      <p:sp>
        <p:nvSpPr>
          <p:cNvPr id="1161" name="Google Shape;1161;p81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Identifying polygons from premade constructions</a:t>
            </a:r>
            <a:endParaRPr/>
          </a:p>
        </p:txBody>
      </p:sp>
      <p:sp>
        <p:nvSpPr>
          <p:cNvPr id="1162" name="Google Shape;1162;p81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Understanding properties of constructions</a:t>
            </a:r>
            <a:endParaRPr/>
          </a:p>
        </p:txBody>
      </p:sp>
      <p:sp>
        <p:nvSpPr>
          <p:cNvPr id="1163" name="Google Shape;1163;p81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Problem solving with constructions</a:t>
            </a:r>
            <a:endParaRPr/>
          </a:p>
        </p:txBody>
      </p:sp>
      <p:pic>
        <p:nvPicPr>
          <p:cNvPr id="1164" name="Google Shape;1164;p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5944" y="2764433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8" name="Shape 1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69" name="Google Shape;1169;p82"/>
          <p:cNvGrpSpPr/>
          <p:nvPr/>
        </p:nvGrpSpPr>
        <p:grpSpPr>
          <a:xfrm flipH="1">
            <a:off x="4429075" y="668525"/>
            <a:ext cx="3776534" cy="1647801"/>
            <a:chOff x="9958500" y="378900"/>
            <a:chExt cx="3148948" cy="1647801"/>
          </a:xfrm>
        </p:grpSpPr>
        <p:pic>
          <p:nvPicPr>
            <p:cNvPr id="1170" name="Google Shape;1170;p82"/>
            <p:cNvPicPr preferRelativeResize="0"/>
            <p:nvPr/>
          </p:nvPicPr>
          <p:blipFill rotWithShape="1">
            <a:blip r:embed="rId3">
              <a:alphaModFix/>
            </a:blip>
            <a:srcRect b="4760" l="40550" r="0" t="13015"/>
            <a:stretch/>
          </p:blipFill>
          <p:spPr>
            <a:xfrm>
              <a:off x="9958500" y="378900"/>
              <a:ext cx="3148948" cy="16478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71" name="Google Shape;1171;p82"/>
            <p:cNvSpPr txBox="1"/>
            <p:nvPr/>
          </p:nvSpPr>
          <p:spPr>
            <a:xfrm>
              <a:off x="10212820" y="482599"/>
              <a:ext cx="2818500" cy="123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1000"/>
                </a:spcBef>
                <a:spcAft>
                  <a:spcPts val="100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Yeah, but wouldn’t it be more satisfying to create the shapes by constructing them from scratch?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172" name="Google Shape;1172;p8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Constructing shapes</a:t>
            </a:r>
            <a:endParaRPr/>
          </a:p>
        </p:txBody>
      </p:sp>
      <p:grpSp>
        <p:nvGrpSpPr>
          <p:cNvPr id="1173" name="Google Shape;1173;p82"/>
          <p:cNvGrpSpPr/>
          <p:nvPr/>
        </p:nvGrpSpPr>
        <p:grpSpPr>
          <a:xfrm>
            <a:off x="3691167" y="2762069"/>
            <a:ext cx="2008340" cy="1920771"/>
            <a:chOff x="4112349" y="1938050"/>
            <a:chExt cx="2548979" cy="2437836"/>
          </a:xfrm>
        </p:grpSpPr>
        <p:sp>
          <p:nvSpPr>
            <p:cNvPr id="1174" name="Google Shape;1174;p82"/>
            <p:cNvSpPr/>
            <p:nvPr/>
          </p:nvSpPr>
          <p:spPr>
            <a:xfrm>
              <a:off x="4537373" y="2670087"/>
              <a:ext cx="1705800" cy="1705800"/>
            </a:xfrm>
            <a:prstGeom prst="ellipse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75" name="Google Shape;1175;p82"/>
            <p:cNvSpPr/>
            <p:nvPr/>
          </p:nvSpPr>
          <p:spPr>
            <a:xfrm>
              <a:off x="4112349" y="1938050"/>
              <a:ext cx="1705800" cy="1705800"/>
            </a:xfrm>
            <a:prstGeom prst="ellipse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76" name="Google Shape;1176;p82"/>
            <p:cNvSpPr/>
            <p:nvPr/>
          </p:nvSpPr>
          <p:spPr>
            <a:xfrm>
              <a:off x="4955528" y="1938050"/>
              <a:ext cx="1705800" cy="1705800"/>
            </a:xfrm>
            <a:prstGeom prst="ellipse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77" name="Google Shape;1177;p82"/>
          <p:cNvGrpSpPr/>
          <p:nvPr/>
        </p:nvGrpSpPr>
        <p:grpSpPr>
          <a:xfrm>
            <a:off x="323989" y="3217682"/>
            <a:ext cx="2523859" cy="1009545"/>
            <a:chOff x="296000" y="2599339"/>
            <a:chExt cx="3203274" cy="1281312"/>
          </a:xfrm>
        </p:grpSpPr>
        <p:grpSp>
          <p:nvGrpSpPr>
            <p:cNvPr id="1178" name="Google Shape;1178;p82"/>
            <p:cNvGrpSpPr/>
            <p:nvPr/>
          </p:nvGrpSpPr>
          <p:grpSpPr>
            <a:xfrm>
              <a:off x="936658" y="2599339"/>
              <a:ext cx="2562616" cy="1281308"/>
              <a:chOff x="1759799" y="2958576"/>
              <a:chExt cx="2871600" cy="1435800"/>
            </a:xfrm>
          </p:grpSpPr>
          <p:sp>
            <p:nvSpPr>
              <p:cNvPr id="1179" name="Google Shape;1179;p82"/>
              <p:cNvSpPr/>
              <p:nvPr/>
            </p:nvSpPr>
            <p:spPr>
              <a:xfrm>
                <a:off x="1759799" y="2958576"/>
                <a:ext cx="1435800" cy="1435800"/>
              </a:xfrm>
              <a:prstGeom prst="ellipse">
                <a:avLst/>
              </a:prstGeom>
              <a:noFill/>
              <a:ln cap="flat" cmpd="sng" w="2857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180" name="Google Shape;1180;p82"/>
              <p:cNvSpPr/>
              <p:nvPr/>
            </p:nvSpPr>
            <p:spPr>
              <a:xfrm>
                <a:off x="3195599" y="2958576"/>
                <a:ext cx="1435800" cy="1435800"/>
              </a:xfrm>
              <a:prstGeom prst="ellipse">
                <a:avLst/>
              </a:prstGeom>
              <a:noFill/>
              <a:ln cap="flat" cmpd="sng" w="2857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sp>
          <p:nvSpPr>
            <p:cNvPr id="1181" name="Google Shape;1181;p82"/>
            <p:cNvSpPr/>
            <p:nvPr/>
          </p:nvSpPr>
          <p:spPr>
            <a:xfrm>
              <a:off x="296000" y="2599351"/>
              <a:ext cx="1281300" cy="1281300"/>
            </a:xfrm>
            <a:prstGeom prst="ellipse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82" name="Google Shape;1182;p82"/>
            <p:cNvSpPr/>
            <p:nvPr/>
          </p:nvSpPr>
          <p:spPr>
            <a:xfrm>
              <a:off x="1577302" y="2599351"/>
              <a:ext cx="1281300" cy="1281300"/>
            </a:xfrm>
            <a:prstGeom prst="ellipse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83" name="Google Shape;1183;p82"/>
          <p:cNvGrpSpPr/>
          <p:nvPr/>
        </p:nvGrpSpPr>
        <p:grpSpPr>
          <a:xfrm>
            <a:off x="750722" y="614472"/>
            <a:ext cx="2699791" cy="1620953"/>
            <a:chOff x="950742" y="2976722"/>
            <a:chExt cx="2699791" cy="1226694"/>
          </a:xfrm>
        </p:grpSpPr>
        <p:pic>
          <p:nvPicPr>
            <p:cNvPr id="1184" name="Google Shape;1184;p82"/>
            <p:cNvPicPr preferRelativeResize="0"/>
            <p:nvPr/>
          </p:nvPicPr>
          <p:blipFill rotWithShape="1">
            <a:blip r:embed="rId3">
              <a:alphaModFix/>
            </a:blip>
            <a:srcRect b="4765" l="40550" r="0" t="12067"/>
            <a:stretch/>
          </p:blipFill>
          <p:spPr>
            <a:xfrm>
              <a:off x="950742" y="2976722"/>
              <a:ext cx="2699791" cy="122669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85" name="Google Shape;1185;p82"/>
            <p:cNvSpPr txBox="1"/>
            <p:nvPr/>
          </p:nvSpPr>
          <p:spPr>
            <a:xfrm>
              <a:off x="1174713" y="3039128"/>
              <a:ext cx="2434200" cy="93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We can create such awesome shapes using these constructions!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86" name="Google Shape;1186;p82"/>
          <p:cNvGrpSpPr/>
          <p:nvPr/>
        </p:nvGrpSpPr>
        <p:grpSpPr>
          <a:xfrm>
            <a:off x="209700" y="1789111"/>
            <a:ext cx="885300" cy="912222"/>
            <a:chOff x="9788075" y="1873804"/>
            <a:chExt cx="885300" cy="912222"/>
          </a:xfrm>
        </p:grpSpPr>
        <p:pic>
          <p:nvPicPr>
            <p:cNvPr id="1187" name="Google Shape;1187;p8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flipH="1">
              <a:off x="9960875" y="1873804"/>
              <a:ext cx="539700" cy="59871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88" name="Google Shape;1188;p82"/>
            <p:cNvSpPr txBox="1"/>
            <p:nvPr/>
          </p:nvSpPr>
          <p:spPr>
            <a:xfrm>
              <a:off x="9788075" y="2472526"/>
              <a:ext cx="885300" cy="31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Sofia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189" name="Google Shape;1189;p82"/>
          <p:cNvSpPr txBox="1"/>
          <p:nvPr/>
        </p:nvSpPr>
        <p:spPr>
          <a:xfrm flipH="1">
            <a:off x="8023200" y="2279121"/>
            <a:ext cx="796800" cy="43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Laura</a:t>
            </a:r>
            <a:endParaRPr b="1" i="0" sz="18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190" name="Google Shape;1190;p8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flipH="1">
            <a:off x="8116745" y="1598694"/>
            <a:ext cx="609629" cy="79842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91" name="Google Shape;1191;p82"/>
          <p:cNvGrpSpPr/>
          <p:nvPr/>
        </p:nvGrpSpPr>
        <p:grpSpPr>
          <a:xfrm>
            <a:off x="6542826" y="2784842"/>
            <a:ext cx="2008335" cy="1875226"/>
            <a:chOff x="780954" y="1381779"/>
            <a:chExt cx="3400500" cy="3175121"/>
          </a:xfrm>
        </p:grpSpPr>
        <p:grpSp>
          <p:nvGrpSpPr>
            <p:cNvPr id="1192" name="Google Shape;1192;p82"/>
            <p:cNvGrpSpPr/>
            <p:nvPr/>
          </p:nvGrpSpPr>
          <p:grpSpPr>
            <a:xfrm>
              <a:off x="780954" y="1381779"/>
              <a:ext cx="3400500" cy="3175121"/>
              <a:chOff x="780954" y="1381779"/>
              <a:chExt cx="3400500" cy="3175121"/>
            </a:xfrm>
          </p:grpSpPr>
          <p:sp>
            <p:nvSpPr>
              <p:cNvPr id="1193" name="Google Shape;1193;p82"/>
              <p:cNvSpPr/>
              <p:nvPr/>
            </p:nvSpPr>
            <p:spPr>
              <a:xfrm>
                <a:off x="1204279" y="1388475"/>
                <a:ext cx="1699200" cy="1699200"/>
              </a:xfrm>
              <a:prstGeom prst="ellipse">
                <a:avLst/>
              </a:prstGeom>
              <a:noFill/>
              <a:ln cap="flat" cmpd="sng" w="2857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194" name="Google Shape;1194;p82"/>
              <p:cNvSpPr/>
              <p:nvPr/>
            </p:nvSpPr>
            <p:spPr>
              <a:xfrm>
                <a:off x="780954" y="2121725"/>
                <a:ext cx="1699200" cy="1699200"/>
              </a:xfrm>
              <a:prstGeom prst="ellipse">
                <a:avLst/>
              </a:prstGeom>
              <a:noFill/>
              <a:ln cap="flat" cmpd="sng" w="2857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195" name="Google Shape;1195;p82"/>
              <p:cNvSpPr/>
              <p:nvPr/>
            </p:nvSpPr>
            <p:spPr>
              <a:xfrm>
                <a:off x="2055879" y="2857700"/>
                <a:ext cx="1699200" cy="1699200"/>
              </a:xfrm>
              <a:prstGeom prst="ellipse">
                <a:avLst/>
              </a:prstGeom>
              <a:noFill/>
              <a:ln cap="flat" cmpd="sng" w="2857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196" name="Google Shape;1196;p82"/>
              <p:cNvSpPr/>
              <p:nvPr/>
            </p:nvSpPr>
            <p:spPr>
              <a:xfrm>
                <a:off x="2482254" y="2120450"/>
                <a:ext cx="1699200" cy="1699200"/>
              </a:xfrm>
              <a:prstGeom prst="ellipse">
                <a:avLst/>
              </a:prstGeom>
              <a:noFill/>
              <a:ln cap="flat" cmpd="sng" w="2857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197" name="Google Shape;1197;p82"/>
              <p:cNvSpPr/>
              <p:nvPr/>
            </p:nvSpPr>
            <p:spPr>
              <a:xfrm>
                <a:off x="1204279" y="2857700"/>
                <a:ext cx="1699200" cy="1699200"/>
              </a:xfrm>
              <a:prstGeom prst="ellipse">
                <a:avLst/>
              </a:prstGeom>
              <a:noFill/>
              <a:ln cap="flat" cmpd="sng" w="2857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198" name="Google Shape;1198;p82"/>
              <p:cNvSpPr/>
              <p:nvPr/>
            </p:nvSpPr>
            <p:spPr>
              <a:xfrm>
                <a:off x="2053494" y="1381779"/>
                <a:ext cx="1699200" cy="1699200"/>
              </a:xfrm>
              <a:prstGeom prst="ellipse">
                <a:avLst/>
              </a:prstGeom>
              <a:noFill/>
              <a:ln cap="flat" cmpd="sng" w="2857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sp>
          <p:nvSpPr>
            <p:cNvPr id="1199" name="Google Shape;1199;p82"/>
            <p:cNvSpPr/>
            <p:nvPr/>
          </p:nvSpPr>
          <p:spPr>
            <a:xfrm>
              <a:off x="1631775" y="2120450"/>
              <a:ext cx="1699200" cy="1699200"/>
            </a:xfrm>
            <a:prstGeom prst="ellipse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3" name="Shape 1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4" name="Google Shape;1204;p83"/>
          <p:cNvSpPr txBox="1"/>
          <p:nvPr/>
        </p:nvSpPr>
        <p:spPr>
          <a:xfrm>
            <a:off x="4824000" y="640775"/>
            <a:ext cx="39960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 will show the construction of this diagram on the left, with the instructions on the right.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After each set of steps, perform the same steps yourself.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5" name="Google Shape;1205;p8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Constructing shapes</a:t>
            </a:r>
            <a:endParaRPr/>
          </a:p>
        </p:txBody>
      </p:sp>
      <p:pic>
        <p:nvPicPr>
          <p:cNvPr id="1206" name="Google Shape;1206;p8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3900" y="947497"/>
            <a:ext cx="3262250" cy="30938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0" name="Shape 1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1" name="Google Shape;1211;p84"/>
          <p:cNvSpPr txBox="1"/>
          <p:nvPr/>
        </p:nvSpPr>
        <p:spPr>
          <a:xfrm>
            <a:off x="324006" y="637577"/>
            <a:ext cx="3996000" cy="394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Point A is the centre of the left circle, whilst point B is the centre of the right circle.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circle with centre A will be the central circle in this diagram.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2" name="Google Shape;1212;p84"/>
          <p:cNvSpPr txBox="1"/>
          <p:nvPr/>
        </p:nvSpPr>
        <p:spPr>
          <a:xfrm>
            <a:off x="4824006" y="3364350"/>
            <a:ext cx="3996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With the compass needle on B, draw another circle of equal size.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3" name="Google Shape;1213;p84"/>
          <p:cNvSpPr txBox="1"/>
          <p:nvPr/>
        </p:nvSpPr>
        <p:spPr>
          <a:xfrm>
            <a:off x="4824006" y="640775"/>
            <a:ext cx="3996000" cy="12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In the centre of your page, draw a line of 4 cm and label it AB.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This will be the radius of each of the seven congruent circles.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4" name="Google Shape;1214;p8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Constructing shapes</a:t>
            </a:r>
            <a:endParaRPr/>
          </a:p>
        </p:txBody>
      </p:sp>
      <p:sp>
        <p:nvSpPr>
          <p:cNvPr id="1215" name="Google Shape;1215;p84"/>
          <p:cNvSpPr txBox="1"/>
          <p:nvPr/>
        </p:nvSpPr>
        <p:spPr>
          <a:xfrm>
            <a:off x="4824006" y="2160000"/>
            <a:ext cx="39960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With the compass needle on A, set your compass to the length of AB and draw a circle.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216" name="Google Shape;1216;p84"/>
          <p:cNvGrpSpPr/>
          <p:nvPr/>
        </p:nvGrpSpPr>
        <p:grpSpPr>
          <a:xfrm>
            <a:off x="2374372" y="2373728"/>
            <a:ext cx="1062200" cy="738000"/>
            <a:chOff x="1764772" y="2373728"/>
            <a:chExt cx="1062200" cy="738000"/>
          </a:xfrm>
        </p:grpSpPr>
        <p:cxnSp>
          <p:nvCxnSpPr>
            <p:cNvPr id="1217" name="Google Shape;1217;p84"/>
            <p:cNvCxnSpPr/>
            <p:nvPr/>
          </p:nvCxnSpPr>
          <p:spPr>
            <a:xfrm rot="-3600295">
              <a:off x="2082995" y="2373783"/>
              <a:ext cx="426063" cy="73789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218" name="Google Shape;1218;p84"/>
            <p:cNvSpPr txBox="1"/>
            <p:nvPr/>
          </p:nvSpPr>
          <p:spPr>
            <a:xfrm>
              <a:off x="1764772" y="2742350"/>
              <a:ext cx="2103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19" name="Google Shape;1219;p84"/>
            <p:cNvSpPr txBox="1"/>
            <p:nvPr/>
          </p:nvSpPr>
          <p:spPr>
            <a:xfrm>
              <a:off x="2616672" y="2742350"/>
              <a:ext cx="2103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220" name="Google Shape;1220;p84"/>
          <p:cNvSpPr/>
          <p:nvPr/>
        </p:nvSpPr>
        <p:spPr>
          <a:xfrm>
            <a:off x="1631775" y="1891850"/>
            <a:ext cx="1699200" cy="1699200"/>
          </a:xfrm>
          <a:prstGeom prst="ellipse">
            <a:avLst/>
          </a:prstGeom>
          <a:noFill/>
          <a:ln cap="flat" cmpd="sng" w="28575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1" name="Google Shape;1221;p84"/>
          <p:cNvSpPr/>
          <p:nvPr/>
        </p:nvSpPr>
        <p:spPr>
          <a:xfrm>
            <a:off x="2482254" y="1891850"/>
            <a:ext cx="1699200" cy="1699200"/>
          </a:xfrm>
          <a:prstGeom prst="ellipse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222" name="Google Shape;1222;p84"/>
          <p:cNvGrpSpPr/>
          <p:nvPr/>
        </p:nvGrpSpPr>
        <p:grpSpPr>
          <a:xfrm flipH="1" rot="-3119994">
            <a:off x="2369027" y="1808704"/>
            <a:ext cx="1187188" cy="1204859"/>
            <a:chOff x="871574" y="1653084"/>
            <a:chExt cx="1906880" cy="1935264"/>
          </a:xfrm>
        </p:grpSpPr>
        <p:pic>
          <p:nvPicPr>
            <p:cNvPr id="1223" name="Google Shape;1223;p84"/>
            <p:cNvPicPr preferRelativeResize="0"/>
            <p:nvPr/>
          </p:nvPicPr>
          <p:blipFill rotWithShape="1">
            <a:blip r:embed="rId3">
              <a:alphaModFix/>
            </a:blip>
            <a:srcRect b="8412" l="11815" r="66857" t="29502"/>
            <a:stretch/>
          </p:blipFill>
          <p:spPr>
            <a:xfrm rot="-1984188">
              <a:off x="1209796" y="2108230"/>
              <a:ext cx="624657" cy="14251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24" name="Google Shape;1224;p84"/>
            <p:cNvPicPr preferRelativeResize="0"/>
            <p:nvPr/>
          </p:nvPicPr>
          <p:blipFill rotWithShape="1">
            <a:blip r:embed="rId3">
              <a:alphaModFix/>
            </a:blip>
            <a:srcRect b="10458" l="63467" r="20735" t="30883"/>
            <a:stretch/>
          </p:blipFill>
          <p:spPr>
            <a:xfrm rot="-4061397">
              <a:off x="1836440" y="1583355"/>
              <a:ext cx="462707" cy="13464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25" name="Google Shape;1225;p84"/>
            <p:cNvPicPr preferRelativeResize="0"/>
            <p:nvPr/>
          </p:nvPicPr>
          <p:blipFill rotWithShape="1">
            <a:blip r:embed="rId3">
              <a:alphaModFix/>
            </a:blip>
            <a:srcRect b="60197" l="45143" r="46324" t="7145"/>
            <a:stretch/>
          </p:blipFill>
          <p:spPr>
            <a:xfrm rot="-2699973">
              <a:off x="1125148" y="1631655"/>
              <a:ext cx="249869" cy="74957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26" name="Google Shape;1226;p84"/>
          <p:cNvGrpSpPr/>
          <p:nvPr/>
        </p:nvGrpSpPr>
        <p:grpSpPr>
          <a:xfrm rot="3119994">
            <a:off x="2257059" y="1808704"/>
            <a:ext cx="1187188" cy="1204859"/>
            <a:chOff x="871574" y="1653084"/>
            <a:chExt cx="1906880" cy="1935264"/>
          </a:xfrm>
        </p:grpSpPr>
        <p:pic>
          <p:nvPicPr>
            <p:cNvPr id="1227" name="Google Shape;1227;p84"/>
            <p:cNvPicPr preferRelativeResize="0"/>
            <p:nvPr/>
          </p:nvPicPr>
          <p:blipFill rotWithShape="1">
            <a:blip r:embed="rId3">
              <a:alphaModFix/>
            </a:blip>
            <a:srcRect b="8412" l="11815" r="66857" t="29502"/>
            <a:stretch/>
          </p:blipFill>
          <p:spPr>
            <a:xfrm rot="-1984188">
              <a:off x="1209796" y="2108230"/>
              <a:ext cx="624657" cy="14251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28" name="Google Shape;1228;p84"/>
            <p:cNvPicPr preferRelativeResize="0"/>
            <p:nvPr/>
          </p:nvPicPr>
          <p:blipFill rotWithShape="1">
            <a:blip r:embed="rId3">
              <a:alphaModFix/>
            </a:blip>
            <a:srcRect b="10458" l="63467" r="20735" t="30883"/>
            <a:stretch/>
          </p:blipFill>
          <p:spPr>
            <a:xfrm rot="-4061397">
              <a:off x="1836440" y="1583355"/>
              <a:ext cx="462707" cy="13464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29" name="Google Shape;1229;p84"/>
            <p:cNvPicPr preferRelativeResize="0"/>
            <p:nvPr/>
          </p:nvPicPr>
          <p:blipFill rotWithShape="1">
            <a:blip r:embed="rId3">
              <a:alphaModFix/>
            </a:blip>
            <a:srcRect b="60197" l="45143" r="46324" t="7145"/>
            <a:stretch/>
          </p:blipFill>
          <p:spPr>
            <a:xfrm rot="-2699973">
              <a:off x="1125148" y="1631655"/>
              <a:ext cx="249869" cy="74957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230" name="Google Shape;1230;p84"/>
          <p:cNvSpPr txBox="1"/>
          <p:nvPr/>
        </p:nvSpPr>
        <p:spPr>
          <a:xfrm>
            <a:off x="4824006" y="4537800"/>
            <a:ext cx="3996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Try it yourself.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4" name="Shape 1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5" name="Google Shape;1235;p85"/>
          <p:cNvSpPr txBox="1"/>
          <p:nvPr/>
        </p:nvSpPr>
        <p:spPr>
          <a:xfrm>
            <a:off x="4824006" y="640775"/>
            <a:ext cx="3996000" cy="15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Label one of the intersections of your two circles point C.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Place your pair of compasses on point C and construct another circle.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6" name="Google Shape;1236;p8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Constructing shapes</a:t>
            </a:r>
            <a:endParaRPr/>
          </a:p>
        </p:txBody>
      </p:sp>
      <p:grpSp>
        <p:nvGrpSpPr>
          <p:cNvPr id="1237" name="Google Shape;1237;p85"/>
          <p:cNvGrpSpPr/>
          <p:nvPr/>
        </p:nvGrpSpPr>
        <p:grpSpPr>
          <a:xfrm>
            <a:off x="2374372" y="2373728"/>
            <a:ext cx="1062200" cy="738000"/>
            <a:chOff x="1764772" y="2373728"/>
            <a:chExt cx="1062200" cy="738000"/>
          </a:xfrm>
        </p:grpSpPr>
        <p:cxnSp>
          <p:nvCxnSpPr>
            <p:cNvPr id="1238" name="Google Shape;1238;p85"/>
            <p:cNvCxnSpPr/>
            <p:nvPr/>
          </p:nvCxnSpPr>
          <p:spPr>
            <a:xfrm rot="-3600295">
              <a:off x="2082995" y="2373783"/>
              <a:ext cx="426063" cy="73789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239" name="Google Shape;1239;p85"/>
            <p:cNvSpPr txBox="1"/>
            <p:nvPr/>
          </p:nvSpPr>
          <p:spPr>
            <a:xfrm>
              <a:off x="1764772" y="2742350"/>
              <a:ext cx="2103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40" name="Google Shape;1240;p85"/>
            <p:cNvSpPr txBox="1"/>
            <p:nvPr/>
          </p:nvSpPr>
          <p:spPr>
            <a:xfrm>
              <a:off x="2616672" y="2742350"/>
              <a:ext cx="2103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241" name="Google Shape;1241;p85"/>
          <p:cNvSpPr/>
          <p:nvPr/>
        </p:nvSpPr>
        <p:spPr>
          <a:xfrm>
            <a:off x="1631775" y="1891850"/>
            <a:ext cx="1699200" cy="1699200"/>
          </a:xfrm>
          <a:prstGeom prst="ellipse">
            <a:avLst/>
          </a:prstGeom>
          <a:noFill/>
          <a:ln cap="flat" cmpd="sng" w="28575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2" name="Google Shape;1242;p85"/>
          <p:cNvSpPr/>
          <p:nvPr/>
        </p:nvSpPr>
        <p:spPr>
          <a:xfrm>
            <a:off x="2482254" y="1891850"/>
            <a:ext cx="1699200" cy="1699200"/>
          </a:xfrm>
          <a:prstGeom prst="ellipse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243" name="Google Shape;1243;p85"/>
          <p:cNvGrpSpPr/>
          <p:nvPr/>
        </p:nvGrpSpPr>
        <p:grpSpPr>
          <a:xfrm flipH="1" rot="-3119994">
            <a:off x="2791702" y="2538754"/>
            <a:ext cx="1187188" cy="1204859"/>
            <a:chOff x="871574" y="1653084"/>
            <a:chExt cx="1906880" cy="1935264"/>
          </a:xfrm>
        </p:grpSpPr>
        <p:pic>
          <p:nvPicPr>
            <p:cNvPr id="1244" name="Google Shape;1244;p85"/>
            <p:cNvPicPr preferRelativeResize="0"/>
            <p:nvPr/>
          </p:nvPicPr>
          <p:blipFill rotWithShape="1">
            <a:blip r:embed="rId3">
              <a:alphaModFix/>
            </a:blip>
            <a:srcRect b="8412" l="11815" r="66857" t="29502"/>
            <a:stretch/>
          </p:blipFill>
          <p:spPr>
            <a:xfrm rot="-1984188">
              <a:off x="1209796" y="2108230"/>
              <a:ext cx="624657" cy="14251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45" name="Google Shape;1245;p85"/>
            <p:cNvPicPr preferRelativeResize="0"/>
            <p:nvPr/>
          </p:nvPicPr>
          <p:blipFill rotWithShape="1">
            <a:blip r:embed="rId3">
              <a:alphaModFix/>
            </a:blip>
            <a:srcRect b="10458" l="63467" r="20735" t="30883"/>
            <a:stretch/>
          </p:blipFill>
          <p:spPr>
            <a:xfrm rot="-4061397">
              <a:off x="1836440" y="1583355"/>
              <a:ext cx="462707" cy="13464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46" name="Google Shape;1246;p85"/>
            <p:cNvPicPr preferRelativeResize="0"/>
            <p:nvPr/>
          </p:nvPicPr>
          <p:blipFill rotWithShape="1">
            <a:blip r:embed="rId3">
              <a:alphaModFix/>
            </a:blip>
            <a:srcRect b="60197" l="45143" r="46324" t="7145"/>
            <a:stretch/>
          </p:blipFill>
          <p:spPr>
            <a:xfrm rot="-2699973">
              <a:off x="1125148" y="1631655"/>
              <a:ext cx="249869" cy="74957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247" name="Google Shape;1247;p85"/>
          <p:cNvSpPr/>
          <p:nvPr/>
        </p:nvSpPr>
        <p:spPr>
          <a:xfrm rot="-2700000">
            <a:off x="2730677" y="3303899"/>
            <a:ext cx="349594" cy="349594"/>
          </a:xfrm>
          <a:prstGeom prst="mathMultiply">
            <a:avLst>
              <a:gd fmla="val 3290" name="adj1"/>
            </a:avLst>
          </a:prstGeom>
          <a:solidFill>
            <a:srgbClr val="845A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8" name="Google Shape;1248;p85"/>
          <p:cNvSpPr txBox="1"/>
          <p:nvPr/>
        </p:nvSpPr>
        <p:spPr>
          <a:xfrm>
            <a:off x="2800322" y="3591050"/>
            <a:ext cx="210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9" name="Google Shape;1249;p85"/>
          <p:cNvSpPr/>
          <p:nvPr/>
        </p:nvSpPr>
        <p:spPr>
          <a:xfrm>
            <a:off x="2055879" y="2629100"/>
            <a:ext cx="1699200" cy="1699200"/>
          </a:xfrm>
          <a:prstGeom prst="ellipse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0" name="Google Shape;1250;p85"/>
          <p:cNvSpPr txBox="1"/>
          <p:nvPr/>
        </p:nvSpPr>
        <p:spPr>
          <a:xfrm>
            <a:off x="4824006" y="4537800"/>
            <a:ext cx="3996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Try it yourself.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4" name="Shape 1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5" name="Google Shape;1255;p86"/>
          <p:cNvSpPr/>
          <p:nvPr/>
        </p:nvSpPr>
        <p:spPr>
          <a:xfrm>
            <a:off x="2055879" y="2629100"/>
            <a:ext cx="1699200" cy="1699200"/>
          </a:xfrm>
          <a:prstGeom prst="ellipse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6" name="Google Shape;1256;p86"/>
          <p:cNvSpPr txBox="1"/>
          <p:nvPr/>
        </p:nvSpPr>
        <p:spPr>
          <a:xfrm>
            <a:off x="4824006" y="640775"/>
            <a:ext cx="3996000" cy="21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Place your compass needle on the point where your most recently drawn circle intersects the circle with centre A (the blue, dashed circle).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Label it the next letter.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Draw another circle.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7" name="Google Shape;1257;p8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Constructing shapes</a:t>
            </a:r>
            <a:endParaRPr/>
          </a:p>
        </p:txBody>
      </p:sp>
      <p:grpSp>
        <p:nvGrpSpPr>
          <p:cNvPr id="1258" name="Google Shape;1258;p86"/>
          <p:cNvGrpSpPr/>
          <p:nvPr/>
        </p:nvGrpSpPr>
        <p:grpSpPr>
          <a:xfrm>
            <a:off x="2374372" y="2373728"/>
            <a:ext cx="1062200" cy="738000"/>
            <a:chOff x="1764772" y="2373728"/>
            <a:chExt cx="1062200" cy="738000"/>
          </a:xfrm>
        </p:grpSpPr>
        <p:cxnSp>
          <p:nvCxnSpPr>
            <p:cNvPr id="1259" name="Google Shape;1259;p86"/>
            <p:cNvCxnSpPr/>
            <p:nvPr/>
          </p:nvCxnSpPr>
          <p:spPr>
            <a:xfrm rot="-3600295">
              <a:off x="2082995" y="2373783"/>
              <a:ext cx="426063" cy="73789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260" name="Google Shape;1260;p86"/>
            <p:cNvSpPr txBox="1"/>
            <p:nvPr/>
          </p:nvSpPr>
          <p:spPr>
            <a:xfrm>
              <a:off x="1764772" y="2742350"/>
              <a:ext cx="2103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61" name="Google Shape;1261;p86"/>
            <p:cNvSpPr txBox="1"/>
            <p:nvPr/>
          </p:nvSpPr>
          <p:spPr>
            <a:xfrm>
              <a:off x="2616672" y="2742350"/>
              <a:ext cx="2103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262" name="Google Shape;1262;p86"/>
          <p:cNvSpPr/>
          <p:nvPr/>
        </p:nvSpPr>
        <p:spPr>
          <a:xfrm>
            <a:off x="1631775" y="1891850"/>
            <a:ext cx="1699200" cy="1699200"/>
          </a:xfrm>
          <a:prstGeom prst="ellipse">
            <a:avLst/>
          </a:prstGeom>
          <a:noFill/>
          <a:ln cap="flat" cmpd="sng" w="28575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3" name="Google Shape;1263;p86"/>
          <p:cNvSpPr/>
          <p:nvPr/>
        </p:nvSpPr>
        <p:spPr>
          <a:xfrm>
            <a:off x="2482254" y="1891850"/>
            <a:ext cx="1699200" cy="1699200"/>
          </a:xfrm>
          <a:prstGeom prst="ellipse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4" name="Google Shape;1264;p86"/>
          <p:cNvSpPr/>
          <p:nvPr/>
        </p:nvSpPr>
        <p:spPr>
          <a:xfrm rot="-2700000">
            <a:off x="2730677" y="3303899"/>
            <a:ext cx="349594" cy="349594"/>
          </a:xfrm>
          <a:prstGeom prst="mathMultiply">
            <a:avLst>
              <a:gd fmla="val 3290" name="adj1"/>
            </a:avLst>
          </a:prstGeom>
          <a:solidFill>
            <a:srgbClr val="845A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5" name="Google Shape;1265;p86"/>
          <p:cNvSpPr txBox="1"/>
          <p:nvPr/>
        </p:nvSpPr>
        <p:spPr>
          <a:xfrm>
            <a:off x="2800322" y="3591050"/>
            <a:ext cx="210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6" name="Google Shape;1266;p86"/>
          <p:cNvSpPr/>
          <p:nvPr/>
        </p:nvSpPr>
        <p:spPr>
          <a:xfrm>
            <a:off x="1204279" y="2629100"/>
            <a:ext cx="1699200" cy="1699200"/>
          </a:xfrm>
          <a:prstGeom prst="ellipse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7" name="Google Shape;1267;p86"/>
          <p:cNvSpPr txBox="1"/>
          <p:nvPr/>
        </p:nvSpPr>
        <p:spPr>
          <a:xfrm>
            <a:off x="4824006" y="3291725"/>
            <a:ext cx="3996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Try it yourself.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268" name="Google Shape;1268;p86"/>
          <p:cNvGrpSpPr/>
          <p:nvPr/>
        </p:nvGrpSpPr>
        <p:grpSpPr>
          <a:xfrm rot="3119994">
            <a:off x="984257" y="2540803"/>
            <a:ext cx="1187188" cy="1204859"/>
            <a:chOff x="871574" y="1653084"/>
            <a:chExt cx="1906880" cy="1935264"/>
          </a:xfrm>
        </p:grpSpPr>
        <p:pic>
          <p:nvPicPr>
            <p:cNvPr id="1269" name="Google Shape;1269;p86"/>
            <p:cNvPicPr preferRelativeResize="0"/>
            <p:nvPr/>
          </p:nvPicPr>
          <p:blipFill rotWithShape="1">
            <a:blip r:embed="rId3">
              <a:alphaModFix/>
            </a:blip>
            <a:srcRect b="8412" l="11815" r="66857" t="29502"/>
            <a:stretch/>
          </p:blipFill>
          <p:spPr>
            <a:xfrm rot="-1984188">
              <a:off x="1209796" y="2108230"/>
              <a:ext cx="624657" cy="14251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70" name="Google Shape;1270;p86"/>
            <p:cNvPicPr preferRelativeResize="0"/>
            <p:nvPr/>
          </p:nvPicPr>
          <p:blipFill rotWithShape="1">
            <a:blip r:embed="rId3">
              <a:alphaModFix/>
            </a:blip>
            <a:srcRect b="10458" l="63467" r="20735" t="30883"/>
            <a:stretch/>
          </p:blipFill>
          <p:spPr>
            <a:xfrm rot="-4061397">
              <a:off x="1836440" y="1583355"/>
              <a:ext cx="462707" cy="13464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71" name="Google Shape;1271;p86"/>
            <p:cNvPicPr preferRelativeResize="0"/>
            <p:nvPr/>
          </p:nvPicPr>
          <p:blipFill rotWithShape="1">
            <a:blip r:embed="rId3">
              <a:alphaModFix/>
            </a:blip>
            <a:srcRect b="60197" l="45143" r="46324" t="7145"/>
            <a:stretch/>
          </p:blipFill>
          <p:spPr>
            <a:xfrm rot="-2699973">
              <a:off x="1125148" y="1631655"/>
              <a:ext cx="249869" cy="74957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72" name="Google Shape;1272;p86"/>
          <p:cNvGrpSpPr/>
          <p:nvPr/>
        </p:nvGrpSpPr>
        <p:grpSpPr>
          <a:xfrm>
            <a:off x="1806667" y="3231641"/>
            <a:ext cx="494400" cy="527429"/>
            <a:chOff x="1959067" y="3231641"/>
            <a:chExt cx="494400" cy="527429"/>
          </a:xfrm>
        </p:grpSpPr>
        <p:sp>
          <p:nvSpPr>
            <p:cNvPr id="1273" name="Google Shape;1273;p86"/>
            <p:cNvSpPr/>
            <p:nvPr/>
          </p:nvSpPr>
          <p:spPr>
            <a:xfrm rot="-2700000">
              <a:off x="2031471" y="3304044"/>
              <a:ext cx="349594" cy="349594"/>
            </a:xfrm>
            <a:prstGeom prst="mathMultiply">
              <a:avLst>
                <a:gd fmla="val 3290" name="adj1"/>
              </a:avLst>
            </a:prstGeom>
            <a:solidFill>
              <a:srgbClr val="845A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74" name="Google Shape;1274;p86"/>
            <p:cNvSpPr txBox="1"/>
            <p:nvPr/>
          </p:nvSpPr>
          <p:spPr>
            <a:xfrm>
              <a:off x="1997965" y="3481870"/>
              <a:ext cx="2103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275" name="Google Shape;1275;p86"/>
          <p:cNvSpPr txBox="1"/>
          <p:nvPr/>
        </p:nvSpPr>
        <p:spPr>
          <a:xfrm>
            <a:off x="4824006" y="3760850"/>
            <a:ext cx="39960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Repeat the steps on this slide three more times to complete the construction.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9" name="Shape 1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" name="Google Shape;1280;p87"/>
          <p:cNvSpPr/>
          <p:nvPr/>
        </p:nvSpPr>
        <p:spPr>
          <a:xfrm>
            <a:off x="1204279" y="1159875"/>
            <a:ext cx="1699200" cy="1699200"/>
          </a:xfrm>
          <a:prstGeom prst="ellipse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1" name="Google Shape;1281;p87"/>
          <p:cNvSpPr/>
          <p:nvPr/>
        </p:nvSpPr>
        <p:spPr>
          <a:xfrm>
            <a:off x="780954" y="1893125"/>
            <a:ext cx="1699200" cy="1699200"/>
          </a:xfrm>
          <a:prstGeom prst="ellipse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2" name="Google Shape;1282;p87"/>
          <p:cNvSpPr txBox="1"/>
          <p:nvPr/>
        </p:nvSpPr>
        <p:spPr>
          <a:xfrm>
            <a:off x="4824006" y="1097975"/>
            <a:ext cx="39960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This is the completed construction called the </a:t>
            </a:r>
            <a:r>
              <a:rPr lang="en-GB" sz="18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six-petal flower construction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3" name="Google Shape;1283;p87"/>
          <p:cNvSpPr/>
          <p:nvPr/>
        </p:nvSpPr>
        <p:spPr>
          <a:xfrm>
            <a:off x="2055879" y="2629100"/>
            <a:ext cx="1699200" cy="1699200"/>
          </a:xfrm>
          <a:prstGeom prst="ellipse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4" name="Google Shape;1284;p8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Constructing shapes</a:t>
            </a:r>
            <a:endParaRPr/>
          </a:p>
        </p:txBody>
      </p:sp>
      <p:grpSp>
        <p:nvGrpSpPr>
          <p:cNvPr id="1285" name="Google Shape;1285;p87"/>
          <p:cNvGrpSpPr/>
          <p:nvPr/>
        </p:nvGrpSpPr>
        <p:grpSpPr>
          <a:xfrm>
            <a:off x="2374372" y="2373728"/>
            <a:ext cx="1062200" cy="738000"/>
            <a:chOff x="1764772" y="2373728"/>
            <a:chExt cx="1062200" cy="738000"/>
          </a:xfrm>
        </p:grpSpPr>
        <p:cxnSp>
          <p:nvCxnSpPr>
            <p:cNvPr id="1286" name="Google Shape;1286;p87"/>
            <p:cNvCxnSpPr/>
            <p:nvPr/>
          </p:nvCxnSpPr>
          <p:spPr>
            <a:xfrm rot="-3600295">
              <a:off x="2082995" y="2373783"/>
              <a:ext cx="426063" cy="73789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287" name="Google Shape;1287;p87"/>
            <p:cNvSpPr txBox="1"/>
            <p:nvPr/>
          </p:nvSpPr>
          <p:spPr>
            <a:xfrm>
              <a:off x="1764772" y="2742350"/>
              <a:ext cx="2103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88" name="Google Shape;1288;p87"/>
            <p:cNvSpPr txBox="1"/>
            <p:nvPr/>
          </p:nvSpPr>
          <p:spPr>
            <a:xfrm>
              <a:off x="2616672" y="2742350"/>
              <a:ext cx="2103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289" name="Google Shape;1289;p87"/>
          <p:cNvSpPr/>
          <p:nvPr/>
        </p:nvSpPr>
        <p:spPr>
          <a:xfrm>
            <a:off x="1631775" y="1891850"/>
            <a:ext cx="1699200" cy="1699200"/>
          </a:xfrm>
          <a:prstGeom prst="ellipse">
            <a:avLst/>
          </a:prstGeom>
          <a:noFill/>
          <a:ln cap="flat" cmpd="sng" w="28575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0" name="Google Shape;1290;p87"/>
          <p:cNvSpPr/>
          <p:nvPr/>
        </p:nvSpPr>
        <p:spPr>
          <a:xfrm>
            <a:off x="2482254" y="1891850"/>
            <a:ext cx="1699200" cy="1699200"/>
          </a:xfrm>
          <a:prstGeom prst="ellipse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1" name="Google Shape;1291;p87"/>
          <p:cNvSpPr/>
          <p:nvPr/>
        </p:nvSpPr>
        <p:spPr>
          <a:xfrm rot="-2700000">
            <a:off x="2730677" y="3303899"/>
            <a:ext cx="349594" cy="349594"/>
          </a:xfrm>
          <a:prstGeom prst="mathMultiply">
            <a:avLst>
              <a:gd fmla="val 3290" name="adj1"/>
            </a:avLst>
          </a:prstGeom>
          <a:solidFill>
            <a:srgbClr val="845A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2" name="Google Shape;1292;p87"/>
          <p:cNvSpPr txBox="1"/>
          <p:nvPr/>
        </p:nvSpPr>
        <p:spPr>
          <a:xfrm>
            <a:off x="2800322" y="3591050"/>
            <a:ext cx="210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3" name="Google Shape;1293;p87"/>
          <p:cNvSpPr/>
          <p:nvPr/>
        </p:nvSpPr>
        <p:spPr>
          <a:xfrm>
            <a:off x="1204279" y="2629100"/>
            <a:ext cx="1699200" cy="1699200"/>
          </a:xfrm>
          <a:prstGeom prst="ellipse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294" name="Google Shape;1294;p87"/>
          <p:cNvGrpSpPr/>
          <p:nvPr/>
        </p:nvGrpSpPr>
        <p:grpSpPr>
          <a:xfrm>
            <a:off x="1806667" y="3231641"/>
            <a:ext cx="494400" cy="527429"/>
            <a:chOff x="1959067" y="3231641"/>
            <a:chExt cx="494400" cy="527429"/>
          </a:xfrm>
        </p:grpSpPr>
        <p:sp>
          <p:nvSpPr>
            <p:cNvPr id="1295" name="Google Shape;1295;p87"/>
            <p:cNvSpPr/>
            <p:nvPr/>
          </p:nvSpPr>
          <p:spPr>
            <a:xfrm rot="-2700000">
              <a:off x="2031471" y="3304044"/>
              <a:ext cx="349594" cy="349594"/>
            </a:xfrm>
            <a:prstGeom prst="mathMultiply">
              <a:avLst>
                <a:gd fmla="val 3290" name="adj1"/>
              </a:avLst>
            </a:prstGeom>
            <a:solidFill>
              <a:srgbClr val="845A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96" name="Google Shape;1296;p87"/>
            <p:cNvSpPr txBox="1"/>
            <p:nvPr/>
          </p:nvSpPr>
          <p:spPr>
            <a:xfrm>
              <a:off x="1997965" y="3481870"/>
              <a:ext cx="2103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97" name="Google Shape;1297;p87"/>
          <p:cNvGrpSpPr/>
          <p:nvPr/>
        </p:nvGrpSpPr>
        <p:grpSpPr>
          <a:xfrm>
            <a:off x="1383342" y="2497287"/>
            <a:ext cx="494400" cy="527429"/>
            <a:chOff x="1959067" y="3231641"/>
            <a:chExt cx="494400" cy="527429"/>
          </a:xfrm>
        </p:grpSpPr>
        <p:sp>
          <p:nvSpPr>
            <p:cNvPr id="1298" name="Google Shape;1298;p87"/>
            <p:cNvSpPr/>
            <p:nvPr/>
          </p:nvSpPr>
          <p:spPr>
            <a:xfrm rot="-2700000">
              <a:off x="2031471" y="3304044"/>
              <a:ext cx="349594" cy="349594"/>
            </a:xfrm>
            <a:prstGeom prst="mathMultiply">
              <a:avLst>
                <a:gd fmla="val 3290" name="adj1"/>
              </a:avLst>
            </a:prstGeom>
            <a:solidFill>
              <a:srgbClr val="845A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99" name="Google Shape;1299;p87"/>
            <p:cNvSpPr txBox="1"/>
            <p:nvPr/>
          </p:nvSpPr>
          <p:spPr>
            <a:xfrm>
              <a:off x="1997965" y="3481870"/>
              <a:ext cx="2103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E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00" name="Google Shape;1300;p87"/>
          <p:cNvGrpSpPr/>
          <p:nvPr/>
        </p:nvGrpSpPr>
        <p:grpSpPr>
          <a:xfrm>
            <a:off x="1806667" y="1762912"/>
            <a:ext cx="494400" cy="527429"/>
            <a:chOff x="1959067" y="3231641"/>
            <a:chExt cx="494400" cy="527429"/>
          </a:xfrm>
        </p:grpSpPr>
        <p:sp>
          <p:nvSpPr>
            <p:cNvPr id="1301" name="Google Shape;1301;p87"/>
            <p:cNvSpPr/>
            <p:nvPr/>
          </p:nvSpPr>
          <p:spPr>
            <a:xfrm rot="-2700000">
              <a:off x="2031471" y="3304044"/>
              <a:ext cx="349594" cy="349594"/>
            </a:xfrm>
            <a:prstGeom prst="mathMultiply">
              <a:avLst>
                <a:gd fmla="val 3290" name="adj1"/>
              </a:avLst>
            </a:prstGeom>
            <a:solidFill>
              <a:srgbClr val="845A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02" name="Google Shape;1302;p87"/>
            <p:cNvSpPr txBox="1"/>
            <p:nvPr/>
          </p:nvSpPr>
          <p:spPr>
            <a:xfrm>
              <a:off x="1997965" y="3481870"/>
              <a:ext cx="2103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F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303" name="Google Shape;1303;p87"/>
          <p:cNvSpPr/>
          <p:nvPr/>
        </p:nvSpPr>
        <p:spPr>
          <a:xfrm>
            <a:off x="2053494" y="1153179"/>
            <a:ext cx="1699200" cy="1699200"/>
          </a:xfrm>
          <a:prstGeom prst="ellipse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304" name="Google Shape;1304;p87"/>
          <p:cNvGrpSpPr/>
          <p:nvPr/>
        </p:nvGrpSpPr>
        <p:grpSpPr>
          <a:xfrm>
            <a:off x="2655883" y="1756216"/>
            <a:ext cx="494400" cy="527429"/>
            <a:chOff x="1959067" y="3231641"/>
            <a:chExt cx="494400" cy="527429"/>
          </a:xfrm>
        </p:grpSpPr>
        <p:sp>
          <p:nvSpPr>
            <p:cNvPr id="1305" name="Google Shape;1305;p87"/>
            <p:cNvSpPr/>
            <p:nvPr/>
          </p:nvSpPr>
          <p:spPr>
            <a:xfrm rot="-2700000">
              <a:off x="2031471" y="3304044"/>
              <a:ext cx="349594" cy="349594"/>
            </a:xfrm>
            <a:prstGeom prst="mathMultiply">
              <a:avLst>
                <a:gd fmla="val 3290" name="adj1"/>
              </a:avLst>
            </a:prstGeom>
            <a:solidFill>
              <a:srgbClr val="845A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06" name="Google Shape;1306;p87"/>
            <p:cNvSpPr txBox="1"/>
            <p:nvPr/>
          </p:nvSpPr>
          <p:spPr>
            <a:xfrm>
              <a:off x="1997965" y="3481870"/>
              <a:ext cx="2103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G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307" name="Google Shape;1307;p87"/>
          <p:cNvSpPr txBox="1"/>
          <p:nvPr/>
        </p:nvSpPr>
        <p:spPr>
          <a:xfrm>
            <a:off x="4824000" y="2171325"/>
            <a:ext cx="39960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You can change the length of the initial line segment (AB in this diagram) to change the length of the sides of the polygons you can create from the construction.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1" name="Shape 1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2" name="Google Shape;1312;p88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Constructing shapes</a:t>
            </a:r>
            <a:endParaRPr/>
          </a:p>
        </p:txBody>
      </p:sp>
      <p:sp>
        <p:nvSpPr>
          <p:cNvPr id="1313" name="Google Shape;1313;p88"/>
          <p:cNvSpPr txBox="1"/>
          <p:nvPr/>
        </p:nvSpPr>
        <p:spPr>
          <a:xfrm>
            <a:off x="324000" y="733800"/>
            <a:ext cx="8496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1) By constructing either part of or all of a six-petal flower, accurately construct the following shapes.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4" name="Google Shape;1314;p88"/>
          <p:cNvSpPr/>
          <p:nvPr/>
        </p:nvSpPr>
        <p:spPr>
          <a:xfrm>
            <a:off x="403725" y="1556050"/>
            <a:ext cx="1103400" cy="954300"/>
          </a:xfrm>
          <a:prstGeom prst="triangle">
            <a:avLst>
              <a:gd fmla="val 50000" name="adj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315" name="Google Shape;1315;p88"/>
          <p:cNvGrpSpPr/>
          <p:nvPr/>
        </p:nvGrpSpPr>
        <p:grpSpPr>
          <a:xfrm>
            <a:off x="323989" y="2626769"/>
            <a:ext cx="1262869" cy="306800"/>
            <a:chOff x="6746650" y="3439750"/>
            <a:chExt cx="918250" cy="306800"/>
          </a:xfrm>
        </p:grpSpPr>
        <p:cxnSp>
          <p:nvCxnSpPr>
            <p:cNvPr id="1316" name="Google Shape;1316;p88"/>
            <p:cNvCxnSpPr/>
            <p:nvPr/>
          </p:nvCxnSpPr>
          <p:spPr>
            <a:xfrm>
              <a:off x="6751100" y="3439750"/>
              <a:ext cx="913800" cy="0"/>
            </a:xfrm>
            <a:prstGeom prst="straightConnector1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317" name="Google Shape;1317;p88"/>
            <p:cNvSpPr txBox="1"/>
            <p:nvPr/>
          </p:nvSpPr>
          <p:spPr>
            <a:xfrm>
              <a:off x="6746650" y="3469350"/>
              <a:ext cx="9138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4 cm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318" name="Google Shape;1318;p88"/>
          <p:cNvSpPr/>
          <p:nvPr/>
        </p:nvSpPr>
        <p:spPr>
          <a:xfrm>
            <a:off x="1986513" y="1426950"/>
            <a:ext cx="1699375" cy="1468800"/>
          </a:xfrm>
          <a:custGeom>
            <a:rect b="b" l="l" r="r" t="t"/>
            <a:pathLst>
              <a:path extrusionOk="0" h="58752" w="67975">
                <a:moveTo>
                  <a:pt x="33867" y="58752"/>
                </a:moveTo>
                <a:lnTo>
                  <a:pt x="67975" y="58752"/>
                </a:lnTo>
                <a:lnTo>
                  <a:pt x="34054" y="0"/>
                </a:lnTo>
                <a:lnTo>
                  <a:pt x="0" y="0"/>
                </a:lnTo>
                <a:close/>
              </a:path>
            </a:pathLst>
          </a:cu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sp>
      <p:grpSp>
        <p:nvGrpSpPr>
          <p:cNvPr id="1319" name="Google Shape;1319;p88"/>
          <p:cNvGrpSpPr/>
          <p:nvPr/>
        </p:nvGrpSpPr>
        <p:grpSpPr>
          <a:xfrm>
            <a:off x="2817847" y="3063300"/>
            <a:ext cx="947726" cy="306800"/>
            <a:chOff x="6746650" y="3439750"/>
            <a:chExt cx="918250" cy="306800"/>
          </a:xfrm>
        </p:grpSpPr>
        <p:cxnSp>
          <p:nvCxnSpPr>
            <p:cNvPr id="1320" name="Google Shape;1320;p88"/>
            <p:cNvCxnSpPr/>
            <p:nvPr/>
          </p:nvCxnSpPr>
          <p:spPr>
            <a:xfrm>
              <a:off x="6751100" y="3439750"/>
              <a:ext cx="913800" cy="0"/>
            </a:xfrm>
            <a:prstGeom prst="straightConnector1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321" name="Google Shape;1321;p88"/>
            <p:cNvSpPr txBox="1"/>
            <p:nvPr/>
          </p:nvSpPr>
          <p:spPr>
            <a:xfrm>
              <a:off x="6746650" y="3469350"/>
              <a:ext cx="9138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5 cm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22" name="Google Shape;1322;p88"/>
          <p:cNvGrpSpPr/>
          <p:nvPr/>
        </p:nvGrpSpPr>
        <p:grpSpPr>
          <a:xfrm flipH="1">
            <a:off x="3052920" y="2290983"/>
            <a:ext cx="1171198" cy="1171198"/>
            <a:chOff x="5117064" y="3485119"/>
            <a:chExt cx="1052100" cy="1052100"/>
          </a:xfrm>
        </p:grpSpPr>
        <p:sp>
          <p:nvSpPr>
            <p:cNvPr id="1323" name="Google Shape;1323;p88"/>
            <p:cNvSpPr/>
            <p:nvPr/>
          </p:nvSpPr>
          <p:spPr>
            <a:xfrm>
              <a:off x="5117064" y="3485119"/>
              <a:ext cx="1052100" cy="1052100"/>
            </a:xfrm>
            <a:prstGeom prst="arc">
              <a:avLst>
                <a:gd fmla="val 17923413" name="adj1"/>
                <a:gd fmla="val 0" name="adj2"/>
              </a:avLst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24" name="Google Shape;1324;p88"/>
            <p:cNvSpPr txBox="1"/>
            <p:nvPr/>
          </p:nvSpPr>
          <p:spPr>
            <a:xfrm>
              <a:off x="5719901" y="3740969"/>
              <a:ext cx="4374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60°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25" name="Google Shape;1325;p88"/>
          <p:cNvGrpSpPr/>
          <p:nvPr/>
        </p:nvGrpSpPr>
        <p:grpSpPr>
          <a:xfrm rot="10800000">
            <a:off x="2369292" y="984242"/>
            <a:ext cx="919058" cy="919058"/>
            <a:chOff x="5230330" y="3598390"/>
            <a:chExt cx="825600" cy="825600"/>
          </a:xfrm>
        </p:grpSpPr>
        <p:sp>
          <p:nvSpPr>
            <p:cNvPr id="1326" name="Google Shape;1326;p88"/>
            <p:cNvSpPr/>
            <p:nvPr/>
          </p:nvSpPr>
          <p:spPr>
            <a:xfrm>
              <a:off x="5230330" y="3598390"/>
              <a:ext cx="825600" cy="825600"/>
            </a:xfrm>
            <a:prstGeom prst="arc">
              <a:avLst>
                <a:gd fmla="val 14396480" name="adj1"/>
                <a:gd fmla="val 0" name="adj2"/>
              </a:avLst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27" name="Google Shape;1327;p88"/>
            <p:cNvSpPr txBox="1"/>
            <p:nvPr/>
          </p:nvSpPr>
          <p:spPr>
            <a:xfrm rot="10800000">
              <a:off x="5513130" y="3692383"/>
              <a:ext cx="4962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120°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28" name="Google Shape;1328;p88"/>
          <p:cNvGrpSpPr/>
          <p:nvPr/>
        </p:nvGrpSpPr>
        <p:grpSpPr>
          <a:xfrm>
            <a:off x="3026875" y="2895750"/>
            <a:ext cx="408300" cy="0"/>
            <a:chOff x="5501000" y="2539675"/>
            <a:chExt cx="408300" cy="0"/>
          </a:xfrm>
        </p:grpSpPr>
        <p:cxnSp>
          <p:nvCxnSpPr>
            <p:cNvPr id="1329" name="Google Shape;1329;p88"/>
            <p:cNvCxnSpPr/>
            <p:nvPr/>
          </p:nvCxnSpPr>
          <p:spPr>
            <a:xfrm>
              <a:off x="5501000" y="2539675"/>
              <a:ext cx="4083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  <p:cxnSp>
          <p:nvCxnSpPr>
            <p:cNvPr id="1330" name="Google Shape;1330;p88"/>
            <p:cNvCxnSpPr/>
            <p:nvPr/>
          </p:nvCxnSpPr>
          <p:spPr>
            <a:xfrm>
              <a:off x="5531125" y="2539675"/>
              <a:ext cx="2562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</p:grpSp>
      <p:grpSp>
        <p:nvGrpSpPr>
          <p:cNvPr id="1331" name="Google Shape;1331;p88"/>
          <p:cNvGrpSpPr/>
          <p:nvPr/>
        </p:nvGrpSpPr>
        <p:grpSpPr>
          <a:xfrm>
            <a:off x="2216050" y="1426950"/>
            <a:ext cx="408300" cy="0"/>
            <a:chOff x="5501000" y="2539675"/>
            <a:chExt cx="408300" cy="0"/>
          </a:xfrm>
        </p:grpSpPr>
        <p:cxnSp>
          <p:nvCxnSpPr>
            <p:cNvPr id="1332" name="Google Shape;1332;p88"/>
            <p:cNvCxnSpPr/>
            <p:nvPr/>
          </p:nvCxnSpPr>
          <p:spPr>
            <a:xfrm>
              <a:off x="5501000" y="2539675"/>
              <a:ext cx="4083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  <p:cxnSp>
          <p:nvCxnSpPr>
            <p:cNvPr id="1333" name="Google Shape;1333;p88"/>
            <p:cNvCxnSpPr/>
            <p:nvPr/>
          </p:nvCxnSpPr>
          <p:spPr>
            <a:xfrm>
              <a:off x="5531125" y="2539675"/>
              <a:ext cx="2562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</p:grpSp>
      <p:cxnSp>
        <p:nvCxnSpPr>
          <p:cNvPr id="1334" name="Google Shape;1334;p88"/>
          <p:cNvCxnSpPr/>
          <p:nvPr/>
        </p:nvCxnSpPr>
        <p:spPr>
          <a:xfrm rot="3600834">
            <a:off x="3096148" y="2097199"/>
            <a:ext cx="256308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335" name="Google Shape;1335;p88"/>
          <p:cNvCxnSpPr/>
          <p:nvPr/>
        </p:nvCxnSpPr>
        <p:spPr>
          <a:xfrm rot="3600834">
            <a:off x="2244123" y="2097199"/>
            <a:ext cx="256308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336" name="Google Shape;1336;p88"/>
          <p:cNvCxnSpPr/>
          <p:nvPr/>
        </p:nvCxnSpPr>
        <p:spPr>
          <a:xfrm>
            <a:off x="955425" y="2425075"/>
            <a:ext cx="0" cy="1446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37" name="Google Shape;1337;p88"/>
          <p:cNvCxnSpPr/>
          <p:nvPr/>
        </p:nvCxnSpPr>
        <p:spPr>
          <a:xfrm rot="10800000">
            <a:off x="673614" y="1960958"/>
            <a:ext cx="0" cy="14449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38" name="Google Shape;1338;p88"/>
          <p:cNvCxnSpPr/>
          <p:nvPr/>
        </p:nvCxnSpPr>
        <p:spPr>
          <a:xfrm rot="10800000">
            <a:off x="1230140" y="1960958"/>
            <a:ext cx="0" cy="14449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339" name="Google Shape;1339;p88"/>
          <p:cNvGrpSpPr/>
          <p:nvPr/>
        </p:nvGrpSpPr>
        <p:grpSpPr>
          <a:xfrm>
            <a:off x="3979020" y="1225773"/>
            <a:ext cx="2014214" cy="2903078"/>
            <a:chOff x="3521820" y="1225773"/>
            <a:chExt cx="2014214" cy="2903078"/>
          </a:xfrm>
        </p:grpSpPr>
        <p:sp>
          <p:nvSpPr>
            <p:cNvPr id="1340" name="Google Shape;1340;p88"/>
            <p:cNvSpPr/>
            <p:nvPr/>
          </p:nvSpPr>
          <p:spPr>
            <a:xfrm>
              <a:off x="4002023" y="1225773"/>
              <a:ext cx="1062164" cy="2450772"/>
            </a:xfrm>
            <a:custGeom>
              <a:rect b="b" l="l" r="r" t="t"/>
              <a:pathLst>
                <a:path extrusionOk="0" h="117939" w="51084">
                  <a:moveTo>
                    <a:pt x="0" y="0"/>
                  </a:moveTo>
                  <a:lnTo>
                    <a:pt x="0" y="117939"/>
                  </a:lnTo>
                  <a:lnTo>
                    <a:pt x="51084" y="88458"/>
                  </a:lnTo>
                  <a:lnTo>
                    <a:pt x="51084" y="29400"/>
                  </a:lnTo>
                  <a:close/>
                </a:path>
              </a:pathLst>
            </a:cu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grpSp>
          <p:nvGrpSpPr>
            <p:cNvPr id="1341" name="Google Shape;1341;p88"/>
            <p:cNvGrpSpPr/>
            <p:nvPr/>
          </p:nvGrpSpPr>
          <p:grpSpPr>
            <a:xfrm flipH="1" rot="5400000">
              <a:off x="3521820" y="3131646"/>
              <a:ext cx="997205" cy="997205"/>
              <a:chOff x="5195175" y="3563212"/>
              <a:chExt cx="895800" cy="895800"/>
            </a:xfrm>
          </p:grpSpPr>
          <p:sp>
            <p:nvSpPr>
              <p:cNvPr id="1342" name="Google Shape;1342;p88"/>
              <p:cNvSpPr/>
              <p:nvPr/>
            </p:nvSpPr>
            <p:spPr>
              <a:xfrm>
                <a:off x="5195175" y="3563212"/>
                <a:ext cx="895800" cy="895800"/>
              </a:xfrm>
              <a:prstGeom prst="arc">
                <a:avLst>
                  <a:gd fmla="val 17923413" name="adj1"/>
                  <a:gd fmla="val 0" name="adj2"/>
                </a:avLst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343" name="Google Shape;1343;p88"/>
              <p:cNvSpPr txBox="1"/>
              <p:nvPr/>
            </p:nvSpPr>
            <p:spPr>
              <a:xfrm rot="5400000">
                <a:off x="5614333" y="3699867"/>
                <a:ext cx="437400" cy="27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60°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1344" name="Google Shape;1344;p88"/>
            <p:cNvGrpSpPr/>
            <p:nvPr/>
          </p:nvGrpSpPr>
          <p:grpSpPr>
            <a:xfrm rot="-5400000">
              <a:off x="4547672" y="2556589"/>
              <a:ext cx="981508" cy="995214"/>
              <a:chOff x="5202263" y="3558010"/>
              <a:chExt cx="881700" cy="894012"/>
            </a:xfrm>
          </p:grpSpPr>
          <p:sp>
            <p:nvSpPr>
              <p:cNvPr id="1345" name="Google Shape;1345;p88"/>
              <p:cNvSpPr/>
              <p:nvPr/>
            </p:nvSpPr>
            <p:spPr>
              <a:xfrm>
                <a:off x="5202263" y="3570322"/>
                <a:ext cx="881700" cy="881700"/>
              </a:xfrm>
              <a:prstGeom prst="arc">
                <a:avLst>
                  <a:gd fmla="val 14396480" name="adj1"/>
                  <a:gd fmla="val 0" name="adj2"/>
                </a:avLst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346" name="Google Shape;1346;p88"/>
              <p:cNvSpPr txBox="1"/>
              <p:nvPr/>
            </p:nvSpPr>
            <p:spPr>
              <a:xfrm rot="5400000">
                <a:off x="5461725" y="3667510"/>
                <a:ext cx="496200" cy="27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120°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grpSp>
        <p:nvGrpSpPr>
          <p:cNvPr id="1347" name="Google Shape;1347;p88"/>
          <p:cNvGrpSpPr/>
          <p:nvPr/>
        </p:nvGrpSpPr>
        <p:grpSpPr>
          <a:xfrm>
            <a:off x="6575995" y="1287899"/>
            <a:ext cx="2068055" cy="1783801"/>
            <a:chOff x="6575995" y="1287899"/>
            <a:chExt cx="2068055" cy="1783801"/>
          </a:xfrm>
        </p:grpSpPr>
        <p:pic>
          <p:nvPicPr>
            <p:cNvPr id="1348" name="Google Shape;1348;p8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587538" y="1287899"/>
              <a:ext cx="2053363" cy="178380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349" name="Google Shape;1349;p88"/>
            <p:cNvGrpSpPr/>
            <p:nvPr/>
          </p:nvGrpSpPr>
          <p:grpSpPr>
            <a:xfrm rot="-5400000">
              <a:off x="7304777" y="2116586"/>
              <a:ext cx="630516" cy="630516"/>
              <a:chOff x="5418776" y="3678682"/>
              <a:chExt cx="566400" cy="566400"/>
            </a:xfrm>
          </p:grpSpPr>
          <p:sp>
            <p:nvSpPr>
              <p:cNvPr id="1350" name="Google Shape;1350;p88"/>
              <p:cNvSpPr/>
              <p:nvPr/>
            </p:nvSpPr>
            <p:spPr>
              <a:xfrm>
                <a:off x="5418776" y="3678682"/>
                <a:ext cx="566400" cy="566400"/>
              </a:xfrm>
              <a:prstGeom prst="arc">
                <a:avLst>
                  <a:gd fmla="val 14396480" name="adj1"/>
                  <a:gd fmla="val 7198523" name="adj2"/>
                </a:avLst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351" name="Google Shape;1351;p88"/>
              <p:cNvSpPr txBox="1"/>
              <p:nvPr/>
            </p:nvSpPr>
            <p:spPr>
              <a:xfrm rot="5400000">
                <a:off x="5528001" y="3825713"/>
                <a:ext cx="496200" cy="27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240°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cxnSp>
          <p:nvCxnSpPr>
            <p:cNvPr id="1352" name="Google Shape;1352;p88"/>
            <p:cNvCxnSpPr/>
            <p:nvPr/>
          </p:nvCxnSpPr>
          <p:spPr>
            <a:xfrm>
              <a:off x="6648295" y="2257950"/>
              <a:ext cx="0" cy="1446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53" name="Google Shape;1353;p88"/>
            <p:cNvCxnSpPr/>
            <p:nvPr/>
          </p:nvCxnSpPr>
          <p:spPr>
            <a:xfrm>
              <a:off x="8571750" y="2257950"/>
              <a:ext cx="0" cy="1446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54" name="Google Shape;1354;p88"/>
            <p:cNvCxnSpPr/>
            <p:nvPr/>
          </p:nvCxnSpPr>
          <p:spPr>
            <a:xfrm rot="10800000">
              <a:off x="8115028" y="1547767"/>
              <a:ext cx="0" cy="14449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55" name="Google Shape;1355;p88"/>
            <p:cNvCxnSpPr/>
            <p:nvPr/>
          </p:nvCxnSpPr>
          <p:spPr>
            <a:xfrm rot="10800000">
              <a:off x="8115028" y="2665292"/>
              <a:ext cx="0" cy="14449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56" name="Google Shape;1356;p88"/>
            <p:cNvCxnSpPr/>
            <p:nvPr/>
          </p:nvCxnSpPr>
          <p:spPr>
            <a:xfrm rot="10800000">
              <a:off x="7129212" y="1547767"/>
              <a:ext cx="0" cy="14449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57" name="Google Shape;1357;p88"/>
            <p:cNvCxnSpPr/>
            <p:nvPr/>
          </p:nvCxnSpPr>
          <p:spPr>
            <a:xfrm rot="10800000">
              <a:off x="7129212" y="2665292"/>
              <a:ext cx="0" cy="14449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358" name="Google Shape;1358;p88"/>
          <p:cNvSpPr txBox="1"/>
          <p:nvPr/>
        </p:nvSpPr>
        <p:spPr>
          <a:xfrm>
            <a:off x="489725" y="1481400"/>
            <a:ext cx="367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 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59" name="Google Shape;1359;p88"/>
          <p:cNvSpPr txBox="1"/>
          <p:nvPr/>
        </p:nvSpPr>
        <p:spPr>
          <a:xfrm>
            <a:off x="1761000" y="1481400"/>
            <a:ext cx="367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b) 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0" name="Google Shape;1360;p88"/>
          <p:cNvSpPr txBox="1"/>
          <p:nvPr/>
        </p:nvSpPr>
        <p:spPr>
          <a:xfrm>
            <a:off x="4063750" y="1481400"/>
            <a:ext cx="367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c) 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1" name="Google Shape;1361;p88"/>
          <p:cNvSpPr txBox="1"/>
          <p:nvPr/>
        </p:nvSpPr>
        <p:spPr>
          <a:xfrm>
            <a:off x="6256800" y="1882800"/>
            <a:ext cx="367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d) 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5" name="Shape 1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6" name="Google Shape;1366;p89"/>
          <p:cNvSpPr txBox="1"/>
          <p:nvPr/>
        </p:nvSpPr>
        <p:spPr>
          <a:xfrm>
            <a:off x="324000" y="733800"/>
            <a:ext cx="8496000" cy="12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2) Many logos of real-world, famous companies are created using arcs and sectors of circles made from constructions.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By first using a six-petal flower template to help you plan, construct from scratch your own logo.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7" name="Google Shape;1367;p8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Constructing shapes</a:t>
            </a:r>
            <a:endParaRPr/>
          </a:p>
        </p:txBody>
      </p:sp>
      <p:grpSp>
        <p:nvGrpSpPr>
          <p:cNvPr id="1368" name="Google Shape;1368;p89"/>
          <p:cNvGrpSpPr/>
          <p:nvPr/>
        </p:nvGrpSpPr>
        <p:grpSpPr>
          <a:xfrm>
            <a:off x="3755713" y="2026271"/>
            <a:ext cx="3110288" cy="2676404"/>
            <a:chOff x="3603313" y="2026271"/>
            <a:chExt cx="3110288" cy="2676404"/>
          </a:xfrm>
        </p:grpSpPr>
        <p:grpSp>
          <p:nvGrpSpPr>
            <p:cNvPr id="1369" name="Google Shape;1369;p89"/>
            <p:cNvGrpSpPr/>
            <p:nvPr/>
          </p:nvGrpSpPr>
          <p:grpSpPr>
            <a:xfrm>
              <a:off x="3603313" y="2026271"/>
              <a:ext cx="2864581" cy="2674722"/>
              <a:chOff x="780954" y="1381779"/>
              <a:chExt cx="3400500" cy="3175121"/>
            </a:xfrm>
          </p:grpSpPr>
          <p:grpSp>
            <p:nvGrpSpPr>
              <p:cNvPr id="1370" name="Google Shape;1370;p89"/>
              <p:cNvGrpSpPr/>
              <p:nvPr/>
            </p:nvGrpSpPr>
            <p:grpSpPr>
              <a:xfrm>
                <a:off x="780954" y="1381779"/>
                <a:ext cx="3400500" cy="3175121"/>
                <a:chOff x="780954" y="1381779"/>
                <a:chExt cx="3400500" cy="3175121"/>
              </a:xfrm>
            </p:grpSpPr>
            <p:sp>
              <p:nvSpPr>
                <p:cNvPr id="1371" name="Google Shape;1371;p89"/>
                <p:cNvSpPr/>
                <p:nvPr/>
              </p:nvSpPr>
              <p:spPr>
                <a:xfrm>
                  <a:off x="1204279" y="1388475"/>
                  <a:ext cx="1699200" cy="1699200"/>
                </a:xfrm>
                <a:prstGeom prst="ellipse">
                  <a:avLst/>
                </a:prstGeom>
                <a:noFill/>
                <a:ln cap="flat" cmpd="sng" w="28575">
                  <a:solidFill>
                    <a:srgbClr val="B7B7B7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1372" name="Google Shape;1372;p89"/>
                <p:cNvSpPr/>
                <p:nvPr/>
              </p:nvSpPr>
              <p:spPr>
                <a:xfrm>
                  <a:off x="780954" y="2121725"/>
                  <a:ext cx="1699200" cy="1699200"/>
                </a:xfrm>
                <a:prstGeom prst="ellipse">
                  <a:avLst/>
                </a:prstGeom>
                <a:noFill/>
                <a:ln cap="flat" cmpd="sng" w="28575">
                  <a:solidFill>
                    <a:srgbClr val="B7B7B7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1373" name="Google Shape;1373;p89"/>
                <p:cNvSpPr/>
                <p:nvPr/>
              </p:nvSpPr>
              <p:spPr>
                <a:xfrm>
                  <a:off x="2055879" y="2857700"/>
                  <a:ext cx="1699200" cy="1699200"/>
                </a:xfrm>
                <a:prstGeom prst="ellipse">
                  <a:avLst/>
                </a:prstGeom>
                <a:noFill/>
                <a:ln cap="flat" cmpd="sng" w="28575">
                  <a:solidFill>
                    <a:srgbClr val="B7B7B7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1374" name="Google Shape;1374;p89"/>
                <p:cNvSpPr/>
                <p:nvPr/>
              </p:nvSpPr>
              <p:spPr>
                <a:xfrm>
                  <a:off x="2482254" y="2120450"/>
                  <a:ext cx="1699200" cy="1699200"/>
                </a:xfrm>
                <a:prstGeom prst="ellipse">
                  <a:avLst/>
                </a:prstGeom>
                <a:noFill/>
                <a:ln cap="flat" cmpd="sng" w="28575">
                  <a:solidFill>
                    <a:srgbClr val="B7B7B7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1375" name="Google Shape;1375;p89"/>
                <p:cNvSpPr/>
                <p:nvPr/>
              </p:nvSpPr>
              <p:spPr>
                <a:xfrm>
                  <a:off x="1204279" y="2857700"/>
                  <a:ext cx="1699200" cy="1699200"/>
                </a:xfrm>
                <a:prstGeom prst="ellipse">
                  <a:avLst/>
                </a:prstGeom>
                <a:noFill/>
                <a:ln cap="flat" cmpd="sng" w="28575">
                  <a:solidFill>
                    <a:srgbClr val="B7B7B7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1376" name="Google Shape;1376;p89"/>
                <p:cNvSpPr/>
                <p:nvPr/>
              </p:nvSpPr>
              <p:spPr>
                <a:xfrm>
                  <a:off x="2053494" y="1381779"/>
                  <a:ext cx="1699200" cy="1699200"/>
                </a:xfrm>
                <a:prstGeom prst="ellipse">
                  <a:avLst/>
                </a:prstGeom>
                <a:noFill/>
                <a:ln cap="flat" cmpd="sng" w="28575">
                  <a:solidFill>
                    <a:srgbClr val="B7B7B7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</p:grpSp>
          <p:sp>
            <p:nvSpPr>
              <p:cNvPr id="1377" name="Google Shape;1377;p89"/>
              <p:cNvSpPr/>
              <p:nvPr/>
            </p:nvSpPr>
            <p:spPr>
              <a:xfrm>
                <a:off x="1631775" y="2120450"/>
                <a:ext cx="1699200" cy="1699200"/>
              </a:xfrm>
              <a:prstGeom prst="ellipse">
                <a:avLst/>
              </a:prstGeom>
              <a:noFill/>
              <a:ln cap="flat" cmpd="sng" w="28575">
                <a:solidFill>
                  <a:srgbClr val="B7B7B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1378" name="Google Shape;1378;p89"/>
            <p:cNvGrpSpPr/>
            <p:nvPr/>
          </p:nvGrpSpPr>
          <p:grpSpPr>
            <a:xfrm>
              <a:off x="4317325" y="2406641"/>
              <a:ext cx="2396277" cy="2296034"/>
              <a:chOff x="4317325" y="2025641"/>
              <a:chExt cx="2396277" cy="2296034"/>
            </a:xfrm>
          </p:grpSpPr>
          <p:sp>
            <p:nvSpPr>
              <p:cNvPr id="1379" name="Google Shape;1379;p89"/>
              <p:cNvSpPr/>
              <p:nvPr/>
            </p:nvSpPr>
            <p:spPr>
              <a:xfrm>
                <a:off x="4317325" y="2264350"/>
                <a:ext cx="1436700" cy="1436700"/>
              </a:xfrm>
              <a:prstGeom prst="arc">
                <a:avLst>
                  <a:gd fmla="val 14405717" name="adj1"/>
                  <a:gd fmla="val 88491" name="adj2"/>
                </a:avLst>
              </a:prstGeom>
              <a:noFill/>
              <a:ln cap="flat" cmpd="sng" w="2857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cxnSp>
            <p:nvCxnSpPr>
              <p:cNvPr id="1380" name="Google Shape;1380;p89"/>
              <p:cNvCxnSpPr>
                <a:stCxn id="1379" idx="0"/>
              </p:cNvCxnSpPr>
              <p:nvPr/>
            </p:nvCxnSpPr>
            <p:spPr>
              <a:xfrm>
                <a:off x="4677535" y="2359994"/>
                <a:ext cx="0" cy="12432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accent5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81" name="Google Shape;1381;p89"/>
              <p:cNvCxnSpPr/>
              <p:nvPr/>
            </p:nvCxnSpPr>
            <p:spPr>
              <a:xfrm flipH="1" rot="10800000">
                <a:off x="4679243" y="3599459"/>
                <a:ext cx="716100" cy="39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accent5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382" name="Google Shape;1382;p89"/>
              <p:cNvSpPr/>
              <p:nvPr/>
            </p:nvSpPr>
            <p:spPr>
              <a:xfrm>
                <a:off x="4672615" y="2884975"/>
                <a:ext cx="1436700" cy="1436700"/>
              </a:xfrm>
              <a:prstGeom prst="arc">
                <a:avLst>
                  <a:gd fmla="val 18020300" name="adj1"/>
                  <a:gd fmla="val 0" name="adj2"/>
                </a:avLst>
              </a:prstGeom>
              <a:noFill/>
              <a:ln cap="flat" cmpd="sng" w="2857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383" name="Google Shape;1383;p89"/>
              <p:cNvSpPr/>
              <p:nvPr/>
            </p:nvSpPr>
            <p:spPr>
              <a:xfrm flipH="1" rot="-7199458">
                <a:off x="5043009" y="2284049"/>
                <a:ext cx="1412186" cy="1412186"/>
              </a:xfrm>
              <a:prstGeom prst="arc">
                <a:avLst>
                  <a:gd fmla="val 17923569" name="adj1"/>
                  <a:gd fmla="val 100249" name="adj2"/>
                </a:avLst>
              </a:prstGeom>
              <a:noFill/>
              <a:ln cap="flat" cmpd="sng" w="2857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grpSp>
        <p:nvGrpSpPr>
          <p:cNvPr id="1384" name="Google Shape;1384;p89"/>
          <p:cNvGrpSpPr/>
          <p:nvPr/>
        </p:nvGrpSpPr>
        <p:grpSpPr>
          <a:xfrm>
            <a:off x="6959200" y="2406641"/>
            <a:ext cx="2396277" cy="2296034"/>
            <a:chOff x="4317325" y="2025641"/>
            <a:chExt cx="2396277" cy="2296034"/>
          </a:xfrm>
        </p:grpSpPr>
        <p:sp>
          <p:nvSpPr>
            <p:cNvPr id="1385" name="Google Shape;1385;p89"/>
            <p:cNvSpPr/>
            <p:nvPr/>
          </p:nvSpPr>
          <p:spPr>
            <a:xfrm>
              <a:off x="4317325" y="2264350"/>
              <a:ext cx="1436700" cy="1436700"/>
            </a:xfrm>
            <a:prstGeom prst="arc">
              <a:avLst>
                <a:gd fmla="val 14405717" name="adj1"/>
                <a:gd fmla="val 88491" name="adj2"/>
              </a:avLst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386" name="Google Shape;1386;p89"/>
            <p:cNvCxnSpPr>
              <a:stCxn id="1385" idx="0"/>
            </p:cNvCxnSpPr>
            <p:nvPr/>
          </p:nvCxnSpPr>
          <p:spPr>
            <a:xfrm>
              <a:off x="4677535" y="2359994"/>
              <a:ext cx="0" cy="1243200"/>
            </a:xfrm>
            <a:prstGeom prst="straightConnector1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87" name="Google Shape;1387;p89"/>
            <p:cNvCxnSpPr/>
            <p:nvPr/>
          </p:nvCxnSpPr>
          <p:spPr>
            <a:xfrm flipH="1" rot="10800000">
              <a:off x="4679243" y="3599459"/>
              <a:ext cx="716100" cy="3900"/>
            </a:xfrm>
            <a:prstGeom prst="straightConnector1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388" name="Google Shape;1388;p89"/>
            <p:cNvSpPr/>
            <p:nvPr/>
          </p:nvSpPr>
          <p:spPr>
            <a:xfrm>
              <a:off x="4672615" y="2884975"/>
              <a:ext cx="1436700" cy="1436700"/>
            </a:xfrm>
            <a:prstGeom prst="arc">
              <a:avLst>
                <a:gd fmla="val 18020300" name="adj1"/>
                <a:gd fmla="val 0" name="adj2"/>
              </a:avLst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89" name="Google Shape;1389;p89"/>
            <p:cNvSpPr/>
            <p:nvPr/>
          </p:nvSpPr>
          <p:spPr>
            <a:xfrm flipH="1" rot="-7199458">
              <a:off x="5043009" y="2284049"/>
              <a:ext cx="1412186" cy="1412186"/>
            </a:xfrm>
            <a:prstGeom prst="arc">
              <a:avLst>
                <a:gd fmla="val 17923569" name="adj1"/>
                <a:gd fmla="val 100249" name="adj2"/>
              </a:avLst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90" name="Google Shape;1390;p89"/>
          <p:cNvGrpSpPr/>
          <p:nvPr/>
        </p:nvGrpSpPr>
        <p:grpSpPr>
          <a:xfrm>
            <a:off x="323988" y="2026271"/>
            <a:ext cx="2864581" cy="2674722"/>
            <a:chOff x="780954" y="1381779"/>
            <a:chExt cx="3400500" cy="3175121"/>
          </a:xfrm>
        </p:grpSpPr>
        <p:grpSp>
          <p:nvGrpSpPr>
            <p:cNvPr id="1391" name="Google Shape;1391;p89"/>
            <p:cNvGrpSpPr/>
            <p:nvPr/>
          </p:nvGrpSpPr>
          <p:grpSpPr>
            <a:xfrm>
              <a:off x="780954" y="1381779"/>
              <a:ext cx="3400500" cy="3175121"/>
              <a:chOff x="780954" y="1381779"/>
              <a:chExt cx="3400500" cy="3175121"/>
            </a:xfrm>
          </p:grpSpPr>
          <p:sp>
            <p:nvSpPr>
              <p:cNvPr id="1392" name="Google Shape;1392;p89"/>
              <p:cNvSpPr/>
              <p:nvPr/>
            </p:nvSpPr>
            <p:spPr>
              <a:xfrm>
                <a:off x="1204279" y="1388475"/>
                <a:ext cx="1699200" cy="1699200"/>
              </a:xfrm>
              <a:prstGeom prst="ellipse">
                <a:avLst/>
              </a:prstGeom>
              <a:noFill/>
              <a:ln cap="flat" cmpd="sng" w="28575">
                <a:solidFill>
                  <a:srgbClr val="B7B7B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393" name="Google Shape;1393;p89"/>
              <p:cNvSpPr/>
              <p:nvPr/>
            </p:nvSpPr>
            <p:spPr>
              <a:xfrm>
                <a:off x="780954" y="2121725"/>
                <a:ext cx="1699200" cy="1699200"/>
              </a:xfrm>
              <a:prstGeom prst="ellipse">
                <a:avLst/>
              </a:prstGeom>
              <a:noFill/>
              <a:ln cap="flat" cmpd="sng" w="28575">
                <a:solidFill>
                  <a:srgbClr val="B7B7B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394" name="Google Shape;1394;p89"/>
              <p:cNvSpPr/>
              <p:nvPr/>
            </p:nvSpPr>
            <p:spPr>
              <a:xfrm>
                <a:off x="2055879" y="2857700"/>
                <a:ext cx="1699200" cy="1699200"/>
              </a:xfrm>
              <a:prstGeom prst="ellipse">
                <a:avLst/>
              </a:prstGeom>
              <a:noFill/>
              <a:ln cap="flat" cmpd="sng" w="28575">
                <a:solidFill>
                  <a:srgbClr val="B7B7B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395" name="Google Shape;1395;p89"/>
              <p:cNvSpPr/>
              <p:nvPr/>
            </p:nvSpPr>
            <p:spPr>
              <a:xfrm>
                <a:off x="2482254" y="2120450"/>
                <a:ext cx="1699200" cy="1699200"/>
              </a:xfrm>
              <a:prstGeom prst="ellipse">
                <a:avLst/>
              </a:prstGeom>
              <a:noFill/>
              <a:ln cap="flat" cmpd="sng" w="28575">
                <a:solidFill>
                  <a:srgbClr val="B7B7B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396" name="Google Shape;1396;p89"/>
              <p:cNvSpPr/>
              <p:nvPr/>
            </p:nvSpPr>
            <p:spPr>
              <a:xfrm>
                <a:off x="1204279" y="2857700"/>
                <a:ext cx="1699200" cy="1699200"/>
              </a:xfrm>
              <a:prstGeom prst="ellipse">
                <a:avLst/>
              </a:prstGeom>
              <a:noFill/>
              <a:ln cap="flat" cmpd="sng" w="28575">
                <a:solidFill>
                  <a:srgbClr val="B7B7B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397" name="Google Shape;1397;p89"/>
              <p:cNvSpPr/>
              <p:nvPr/>
            </p:nvSpPr>
            <p:spPr>
              <a:xfrm>
                <a:off x="2053494" y="1381779"/>
                <a:ext cx="1699200" cy="1699200"/>
              </a:xfrm>
              <a:prstGeom prst="ellipse">
                <a:avLst/>
              </a:prstGeom>
              <a:noFill/>
              <a:ln cap="flat" cmpd="sng" w="28575">
                <a:solidFill>
                  <a:srgbClr val="B7B7B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sp>
          <p:nvSpPr>
            <p:cNvPr id="1398" name="Google Shape;1398;p89"/>
            <p:cNvSpPr/>
            <p:nvPr/>
          </p:nvSpPr>
          <p:spPr>
            <a:xfrm>
              <a:off x="1631775" y="2120450"/>
              <a:ext cx="1699200" cy="1699200"/>
            </a:xfrm>
            <a:prstGeom prst="ellipse">
              <a:avLst/>
            </a:prstGeom>
            <a:noFill/>
            <a:ln cap="flat" cmpd="sng" w="28575">
              <a:solidFill>
                <a:srgbClr val="B7B7B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2" name="Shape 1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3" name="Google Shape;1403;p90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Constructing shapes</a:t>
            </a:r>
            <a:endParaRPr/>
          </a:p>
        </p:txBody>
      </p:sp>
      <p:sp>
        <p:nvSpPr>
          <p:cNvPr id="1404" name="Google Shape;1404;p90"/>
          <p:cNvSpPr txBox="1"/>
          <p:nvPr/>
        </p:nvSpPr>
        <p:spPr>
          <a:xfrm>
            <a:off x="324000" y="733800"/>
            <a:ext cx="8496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1) By constructing either part of or all of a six-petal flower, accurately construct the following shapes.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405" name="Google Shape;1405;p90"/>
          <p:cNvGrpSpPr/>
          <p:nvPr/>
        </p:nvGrpSpPr>
        <p:grpSpPr>
          <a:xfrm>
            <a:off x="925934" y="1461046"/>
            <a:ext cx="2864581" cy="2674722"/>
            <a:chOff x="780954" y="1381779"/>
            <a:chExt cx="3400500" cy="3175121"/>
          </a:xfrm>
        </p:grpSpPr>
        <p:grpSp>
          <p:nvGrpSpPr>
            <p:cNvPr id="1406" name="Google Shape;1406;p90"/>
            <p:cNvGrpSpPr/>
            <p:nvPr/>
          </p:nvGrpSpPr>
          <p:grpSpPr>
            <a:xfrm>
              <a:off x="780954" y="1381779"/>
              <a:ext cx="3400500" cy="3175121"/>
              <a:chOff x="780954" y="1381779"/>
              <a:chExt cx="3400500" cy="3175121"/>
            </a:xfrm>
          </p:grpSpPr>
          <p:sp>
            <p:nvSpPr>
              <p:cNvPr id="1407" name="Google Shape;1407;p90"/>
              <p:cNvSpPr/>
              <p:nvPr/>
            </p:nvSpPr>
            <p:spPr>
              <a:xfrm>
                <a:off x="1204279" y="1388475"/>
                <a:ext cx="1699200" cy="1699200"/>
              </a:xfrm>
              <a:prstGeom prst="ellipse">
                <a:avLst/>
              </a:prstGeom>
              <a:noFill/>
              <a:ln cap="flat" cmpd="sng" w="28575">
                <a:solidFill>
                  <a:srgbClr val="B7B7B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408" name="Google Shape;1408;p90"/>
              <p:cNvSpPr/>
              <p:nvPr/>
            </p:nvSpPr>
            <p:spPr>
              <a:xfrm>
                <a:off x="780954" y="2121725"/>
                <a:ext cx="1699200" cy="1699200"/>
              </a:xfrm>
              <a:prstGeom prst="ellipse">
                <a:avLst/>
              </a:prstGeom>
              <a:noFill/>
              <a:ln cap="flat" cmpd="sng" w="28575">
                <a:solidFill>
                  <a:srgbClr val="B7B7B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409" name="Google Shape;1409;p90"/>
              <p:cNvSpPr/>
              <p:nvPr/>
            </p:nvSpPr>
            <p:spPr>
              <a:xfrm>
                <a:off x="2055879" y="2857700"/>
                <a:ext cx="1699200" cy="1699200"/>
              </a:xfrm>
              <a:prstGeom prst="ellipse">
                <a:avLst/>
              </a:prstGeom>
              <a:noFill/>
              <a:ln cap="flat" cmpd="sng" w="28575">
                <a:solidFill>
                  <a:srgbClr val="B7B7B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410" name="Google Shape;1410;p90"/>
              <p:cNvSpPr/>
              <p:nvPr/>
            </p:nvSpPr>
            <p:spPr>
              <a:xfrm>
                <a:off x="2482254" y="2120450"/>
                <a:ext cx="1699200" cy="1699200"/>
              </a:xfrm>
              <a:prstGeom prst="ellipse">
                <a:avLst/>
              </a:prstGeom>
              <a:noFill/>
              <a:ln cap="flat" cmpd="sng" w="28575">
                <a:solidFill>
                  <a:srgbClr val="B7B7B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411" name="Google Shape;1411;p90"/>
              <p:cNvSpPr/>
              <p:nvPr/>
            </p:nvSpPr>
            <p:spPr>
              <a:xfrm>
                <a:off x="1204279" y="2857700"/>
                <a:ext cx="1699200" cy="1699200"/>
              </a:xfrm>
              <a:prstGeom prst="ellipse">
                <a:avLst/>
              </a:prstGeom>
              <a:noFill/>
              <a:ln cap="flat" cmpd="sng" w="28575">
                <a:solidFill>
                  <a:srgbClr val="B7B7B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412" name="Google Shape;1412;p90"/>
              <p:cNvSpPr/>
              <p:nvPr/>
            </p:nvSpPr>
            <p:spPr>
              <a:xfrm>
                <a:off x="2053494" y="1381779"/>
                <a:ext cx="1699200" cy="1699200"/>
              </a:xfrm>
              <a:prstGeom prst="ellipse">
                <a:avLst/>
              </a:prstGeom>
              <a:noFill/>
              <a:ln cap="flat" cmpd="sng" w="28575">
                <a:solidFill>
                  <a:srgbClr val="B7B7B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sp>
          <p:nvSpPr>
            <p:cNvPr id="1413" name="Google Shape;1413;p90"/>
            <p:cNvSpPr/>
            <p:nvPr/>
          </p:nvSpPr>
          <p:spPr>
            <a:xfrm>
              <a:off x="1631775" y="2120450"/>
              <a:ext cx="1699200" cy="1699200"/>
            </a:xfrm>
            <a:prstGeom prst="ellipse">
              <a:avLst/>
            </a:prstGeom>
            <a:noFill/>
            <a:ln cap="flat" cmpd="sng" w="28575">
              <a:solidFill>
                <a:srgbClr val="B7B7B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414" name="Google Shape;1414;p90"/>
          <p:cNvGrpSpPr/>
          <p:nvPr/>
        </p:nvGrpSpPr>
        <p:grpSpPr>
          <a:xfrm>
            <a:off x="5353484" y="1461046"/>
            <a:ext cx="2864581" cy="2674722"/>
            <a:chOff x="780954" y="1381779"/>
            <a:chExt cx="3400500" cy="3175121"/>
          </a:xfrm>
        </p:grpSpPr>
        <p:grpSp>
          <p:nvGrpSpPr>
            <p:cNvPr id="1415" name="Google Shape;1415;p90"/>
            <p:cNvGrpSpPr/>
            <p:nvPr/>
          </p:nvGrpSpPr>
          <p:grpSpPr>
            <a:xfrm>
              <a:off x="780954" y="1381779"/>
              <a:ext cx="3400500" cy="3175121"/>
              <a:chOff x="780954" y="1381779"/>
              <a:chExt cx="3400500" cy="3175121"/>
            </a:xfrm>
          </p:grpSpPr>
          <p:sp>
            <p:nvSpPr>
              <p:cNvPr id="1416" name="Google Shape;1416;p90"/>
              <p:cNvSpPr/>
              <p:nvPr/>
            </p:nvSpPr>
            <p:spPr>
              <a:xfrm>
                <a:off x="1204279" y="1388475"/>
                <a:ext cx="1699200" cy="1699200"/>
              </a:xfrm>
              <a:prstGeom prst="ellipse">
                <a:avLst/>
              </a:prstGeom>
              <a:noFill/>
              <a:ln cap="flat" cmpd="sng" w="28575">
                <a:solidFill>
                  <a:srgbClr val="B7B7B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417" name="Google Shape;1417;p90"/>
              <p:cNvSpPr/>
              <p:nvPr/>
            </p:nvSpPr>
            <p:spPr>
              <a:xfrm>
                <a:off x="780954" y="2121725"/>
                <a:ext cx="1699200" cy="1699200"/>
              </a:xfrm>
              <a:prstGeom prst="ellipse">
                <a:avLst/>
              </a:prstGeom>
              <a:noFill/>
              <a:ln cap="flat" cmpd="sng" w="28575">
                <a:solidFill>
                  <a:srgbClr val="B7B7B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418" name="Google Shape;1418;p90"/>
              <p:cNvSpPr/>
              <p:nvPr/>
            </p:nvSpPr>
            <p:spPr>
              <a:xfrm>
                <a:off x="2055879" y="2857700"/>
                <a:ext cx="1699200" cy="1699200"/>
              </a:xfrm>
              <a:prstGeom prst="ellipse">
                <a:avLst/>
              </a:prstGeom>
              <a:noFill/>
              <a:ln cap="flat" cmpd="sng" w="28575">
                <a:solidFill>
                  <a:srgbClr val="B7B7B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419" name="Google Shape;1419;p90"/>
              <p:cNvSpPr/>
              <p:nvPr/>
            </p:nvSpPr>
            <p:spPr>
              <a:xfrm>
                <a:off x="2482254" y="2120450"/>
                <a:ext cx="1699200" cy="1699200"/>
              </a:xfrm>
              <a:prstGeom prst="ellipse">
                <a:avLst/>
              </a:prstGeom>
              <a:noFill/>
              <a:ln cap="flat" cmpd="sng" w="28575">
                <a:solidFill>
                  <a:srgbClr val="B7B7B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420" name="Google Shape;1420;p90"/>
              <p:cNvSpPr/>
              <p:nvPr/>
            </p:nvSpPr>
            <p:spPr>
              <a:xfrm>
                <a:off x="1204279" y="2857700"/>
                <a:ext cx="1699200" cy="1699200"/>
              </a:xfrm>
              <a:prstGeom prst="ellipse">
                <a:avLst/>
              </a:prstGeom>
              <a:noFill/>
              <a:ln cap="flat" cmpd="sng" w="28575">
                <a:solidFill>
                  <a:srgbClr val="B7B7B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421" name="Google Shape;1421;p90"/>
              <p:cNvSpPr/>
              <p:nvPr/>
            </p:nvSpPr>
            <p:spPr>
              <a:xfrm>
                <a:off x="2053494" y="1381779"/>
                <a:ext cx="1699200" cy="1699200"/>
              </a:xfrm>
              <a:prstGeom prst="ellipse">
                <a:avLst/>
              </a:prstGeom>
              <a:noFill/>
              <a:ln cap="flat" cmpd="sng" w="28575">
                <a:solidFill>
                  <a:srgbClr val="B7B7B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sp>
          <p:nvSpPr>
            <p:cNvPr id="1422" name="Google Shape;1422;p90"/>
            <p:cNvSpPr/>
            <p:nvPr/>
          </p:nvSpPr>
          <p:spPr>
            <a:xfrm>
              <a:off x="1631775" y="2120450"/>
              <a:ext cx="1699200" cy="1699200"/>
            </a:xfrm>
            <a:prstGeom prst="ellipse">
              <a:avLst/>
            </a:prstGeom>
            <a:noFill/>
            <a:ln cap="flat" cmpd="sng" w="28575">
              <a:solidFill>
                <a:srgbClr val="B7B7B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423" name="Google Shape;1423;p90"/>
          <p:cNvSpPr/>
          <p:nvPr/>
        </p:nvSpPr>
        <p:spPr>
          <a:xfrm>
            <a:off x="2352200" y="2176475"/>
            <a:ext cx="731100" cy="632400"/>
          </a:xfrm>
          <a:prstGeom prst="triangle">
            <a:avLst>
              <a:gd fmla="val 50000" name="adj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4" name="Google Shape;1424;p90"/>
          <p:cNvSpPr/>
          <p:nvPr/>
        </p:nvSpPr>
        <p:spPr>
          <a:xfrm>
            <a:off x="1282900" y="2185296"/>
            <a:ext cx="1428600" cy="1239000"/>
          </a:xfrm>
          <a:prstGeom prst="triangle">
            <a:avLst>
              <a:gd fmla="val 50000" name="adj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5" name="Google Shape;1425;p90"/>
          <p:cNvSpPr txBox="1"/>
          <p:nvPr/>
        </p:nvSpPr>
        <p:spPr>
          <a:xfrm>
            <a:off x="1046250" y="1461050"/>
            <a:ext cx="367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 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6" name="Google Shape;1426;p90"/>
          <p:cNvSpPr txBox="1"/>
          <p:nvPr/>
        </p:nvSpPr>
        <p:spPr>
          <a:xfrm>
            <a:off x="324000" y="4166100"/>
            <a:ext cx="320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Initial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line segment of 4 cm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1427" name="Google Shape;1427;p90"/>
          <p:cNvGrpSpPr/>
          <p:nvPr/>
        </p:nvGrpSpPr>
        <p:grpSpPr>
          <a:xfrm>
            <a:off x="5713300" y="1813097"/>
            <a:ext cx="1877575" cy="2079239"/>
            <a:chOff x="2887188" y="984242"/>
            <a:chExt cx="2237605" cy="2477939"/>
          </a:xfrm>
        </p:grpSpPr>
        <p:sp>
          <p:nvSpPr>
            <p:cNvPr id="1428" name="Google Shape;1428;p90"/>
            <p:cNvSpPr/>
            <p:nvPr/>
          </p:nvSpPr>
          <p:spPr>
            <a:xfrm>
              <a:off x="2887188" y="1426950"/>
              <a:ext cx="1699375" cy="1468800"/>
            </a:xfrm>
            <a:custGeom>
              <a:rect b="b" l="l" r="r" t="t"/>
              <a:pathLst>
                <a:path extrusionOk="0" h="58752" w="67975">
                  <a:moveTo>
                    <a:pt x="33867" y="58752"/>
                  </a:moveTo>
                  <a:lnTo>
                    <a:pt x="67975" y="58752"/>
                  </a:lnTo>
                  <a:lnTo>
                    <a:pt x="34054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grpSp>
          <p:nvGrpSpPr>
            <p:cNvPr id="1429" name="Google Shape;1429;p90"/>
            <p:cNvGrpSpPr/>
            <p:nvPr/>
          </p:nvGrpSpPr>
          <p:grpSpPr>
            <a:xfrm flipH="1">
              <a:off x="3953595" y="2290983"/>
              <a:ext cx="1171198" cy="1171198"/>
              <a:chOff x="5117064" y="3485119"/>
              <a:chExt cx="1052100" cy="1052100"/>
            </a:xfrm>
          </p:grpSpPr>
          <p:sp>
            <p:nvSpPr>
              <p:cNvPr id="1430" name="Google Shape;1430;p90"/>
              <p:cNvSpPr/>
              <p:nvPr/>
            </p:nvSpPr>
            <p:spPr>
              <a:xfrm>
                <a:off x="5117064" y="3485119"/>
                <a:ext cx="1052100" cy="1052100"/>
              </a:xfrm>
              <a:prstGeom prst="arc">
                <a:avLst>
                  <a:gd fmla="val 17923413" name="adj1"/>
                  <a:gd fmla="val 0" name="adj2"/>
                </a:avLst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431" name="Google Shape;1431;p90"/>
              <p:cNvSpPr txBox="1"/>
              <p:nvPr/>
            </p:nvSpPr>
            <p:spPr>
              <a:xfrm>
                <a:off x="5719901" y="3740969"/>
                <a:ext cx="437400" cy="27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60°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1432" name="Google Shape;1432;p90"/>
            <p:cNvGrpSpPr/>
            <p:nvPr/>
          </p:nvGrpSpPr>
          <p:grpSpPr>
            <a:xfrm rot="10800000">
              <a:off x="3269967" y="984242"/>
              <a:ext cx="919058" cy="919058"/>
              <a:chOff x="5230330" y="3598390"/>
              <a:chExt cx="825600" cy="825600"/>
            </a:xfrm>
          </p:grpSpPr>
          <p:sp>
            <p:nvSpPr>
              <p:cNvPr id="1433" name="Google Shape;1433;p90"/>
              <p:cNvSpPr/>
              <p:nvPr/>
            </p:nvSpPr>
            <p:spPr>
              <a:xfrm>
                <a:off x="5230330" y="3598390"/>
                <a:ext cx="825600" cy="825600"/>
              </a:xfrm>
              <a:prstGeom prst="arc">
                <a:avLst>
                  <a:gd fmla="val 14396480" name="adj1"/>
                  <a:gd fmla="val 0" name="adj2"/>
                </a:avLst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434" name="Google Shape;1434;p90"/>
              <p:cNvSpPr txBox="1"/>
              <p:nvPr/>
            </p:nvSpPr>
            <p:spPr>
              <a:xfrm rot="10800000">
                <a:off x="5513130" y="3692383"/>
                <a:ext cx="496200" cy="27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lang="en-GB" sz="1600">
                    <a:latin typeface="Lexend"/>
                    <a:ea typeface="Lexend"/>
                    <a:cs typeface="Lexend"/>
                    <a:sym typeface="Lexend"/>
                  </a:rPr>
                  <a:t>120°</a:t>
                </a:r>
                <a:endParaRPr sz="16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1435" name="Google Shape;1435;p90"/>
            <p:cNvGrpSpPr/>
            <p:nvPr/>
          </p:nvGrpSpPr>
          <p:grpSpPr>
            <a:xfrm>
              <a:off x="3927550" y="2895750"/>
              <a:ext cx="408300" cy="0"/>
              <a:chOff x="5501000" y="2539675"/>
              <a:chExt cx="408300" cy="0"/>
            </a:xfrm>
          </p:grpSpPr>
          <p:cxnSp>
            <p:nvCxnSpPr>
              <p:cNvPr id="1436" name="Google Shape;1436;p90"/>
              <p:cNvCxnSpPr/>
              <p:nvPr/>
            </p:nvCxnSpPr>
            <p:spPr>
              <a:xfrm>
                <a:off x="5501000" y="2539675"/>
                <a:ext cx="408300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stealth"/>
              </a:ln>
            </p:spPr>
          </p:cxnSp>
          <p:cxnSp>
            <p:nvCxnSpPr>
              <p:cNvPr id="1437" name="Google Shape;1437;p90"/>
              <p:cNvCxnSpPr/>
              <p:nvPr/>
            </p:nvCxnSpPr>
            <p:spPr>
              <a:xfrm>
                <a:off x="5531125" y="2539675"/>
                <a:ext cx="256200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stealth"/>
              </a:ln>
            </p:spPr>
          </p:cxnSp>
        </p:grpSp>
        <p:grpSp>
          <p:nvGrpSpPr>
            <p:cNvPr id="1438" name="Google Shape;1438;p90"/>
            <p:cNvGrpSpPr/>
            <p:nvPr/>
          </p:nvGrpSpPr>
          <p:grpSpPr>
            <a:xfrm>
              <a:off x="3116725" y="1426950"/>
              <a:ext cx="408300" cy="0"/>
              <a:chOff x="5501000" y="2539675"/>
              <a:chExt cx="408300" cy="0"/>
            </a:xfrm>
          </p:grpSpPr>
          <p:cxnSp>
            <p:nvCxnSpPr>
              <p:cNvPr id="1439" name="Google Shape;1439;p90"/>
              <p:cNvCxnSpPr/>
              <p:nvPr/>
            </p:nvCxnSpPr>
            <p:spPr>
              <a:xfrm>
                <a:off x="5501000" y="2539675"/>
                <a:ext cx="408300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stealth"/>
              </a:ln>
            </p:spPr>
          </p:cxnSp>
          <p:cxnSp>
            <p:nvCxnSpPr>
              <p:cNvPr id="1440" name="Google Shape;1440;p90"/>
              <p:cNvCxnSpPr/>
              <p:nvPr/>
            </p:nvCxnSpPr>
            <p:spPr>
              <a:xfrm>
                <a:off x="5531125" y="2539675"/>
                <a:ext cx="256200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stealth"/>
              </a:ln>
            </p:spPr>
          </p:cxnSp>
        </p:grpSp>
        <p:cxnSp>
          <p:nvCxnSpPr>
            <p:cNvPr id="1441" name="Google Shape;1441;p90"/>
            <p:cNvCxnSpPr/>
            <p:nvPr/>
          </p:nvCxnSpPr>
          <p:spPr>
            <a:xfrm rot="3600834">
              <a:off x="3996823" y="2097199"/>
              <a:ext cx="256308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  <p:cxnSp>
          <p:nvCxnSpPr>
            <p:cNvPr id="1442" name="Google Shape;1442;p90"/>
            <p:cNvCxnSpPr/>
            <p:nvPr/>
          </p:nvCxnSpPr>
          <p:spPr>
            <a:xfrm rot="3600834">
              <a:off x="3144798" y="2097199"/>
              <a:ext cx="256308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</p:grpSp>
      <p:sp>
        <p:nvSpPr>
          <p:cNvPr id="1443" name="Google Shape;1443;p90"/>
          <p:cNvSpPr txBox="1"/>
          <p:nvPr/>
        </p:nvSpPr>
        <p:spPr>
          <a:xfrm>
            <a:off x="5445538" y="1461050"/>
            <a:ext cx="367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b) 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44" name="Google Shape;1444;p90"/>
          <p:cNvSpPr txBox="1"/>
          <p:nvPr/>
        </p:nvSpPr>
        <p:spPr>
          <a:xfrm>
            <a:off x="324000" y="4473900"/>
            <a:ext cx="320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Initial line segment of 2 cm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45" name="Google Shape;1445;p90"/>
          <p:cNvSpPr txBox="1"/>
          <p:nvPr/>
        </p:nvSpPr>
        <p:spPr>
          <a:xfrm>
            <a:off x="5445550" y="4166100"/>
            <a:ext cx="320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Initial line segment of 5 cm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46" name="Google Shape;1446;p90"/>
          <p:cNvSpPr txBox="1"/>
          <p:nvPr/>
        </p:nvSpPr>
        <p:spPr>
          <a:xfrm>
            <a:off x="324000" y="1408375"/>
            <a:ext cx="56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e.g.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47" name="Google Shape;1447;p90"/>
          <p:cNvSpPr txBox="1"/>
          <p:nvPr/>
        </p:nvSpPr>
        <p:spPr>
          <a:xfrm>
            <a:off x="4824000" y="1408375"/>
            <a:ext cx="56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e.g.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1" name="Shape 1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2" name="Google Shape;1452;p9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Constructing shapes</a:t>
            </a:r>
            <a:endParaRPr/>
          </a:p>
        </p:txBody>
      </p:sp>
      <p:sp>
        <p:nvSpPr>
          <p:cNvPr id="1453" name="Google Shape;1453;p91"/>
          <p:cNvSpPr txBox="1"/>
          <p:nvPr/>
        </p:nvSpPr>
        <p:spPr>
          <a:xfrm>
            <a:off x="324000" y="733800"/>
            <a:ext cx="8496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1) By constructing either part of or all of a six-petal flower, accurately construct the following shapes.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454" name="Google Shape;1454;p91"/>
          <p:cNvGrpSpPr/>
          <p:nvPr/>
        </p:nvGrpSpPr>
        <p:grpSpPr>
          <a:xfrm>
            <a:off x="925934" y="1461046"/>
            <a:ext cx="2864581" cy="2674722"/>
            <a:chOff x="780954" y="1381779"/>
            <a:chExt cx="3400500" cy="3175121"/>
          </a:xfrm>
        </p:grpSpPr>
        <p:grpSp>
          <p:nvGrpSpPr>
            <p:cNvPr id="1455" name="Google Shape;1455;p91"/>
            <p:cNvGrpSpPr/>
            <p:nvPr/>
          </p:nvGrpSpPr>
          <p:grpSpPr>
            <a:xfrm>
              <a:off x="780954" y="1381779"/>
              <a:ext cx="3400500" cy="3175121"/>
              <a:chOff x="780954" y="1381779"/>
              <a:chExt cx="3400500" cy="3175121"/>
            </a:xfrm>
          </p:grpSpPr>
          <p:sp>
            <p:nvSpPr>
              <p:cNvPr id="1456" name="Google Shape;1456;p91"/>
              <p:cNvSpPr/>
              <p:nvPr/>
            </p:nvSpPr>
            <p:spPr>
              <a:xfrm>
                <a:off x="1204279" y="1388475"/>
                <a:ext cx="1699200" cy="1699200"/>
              </a:xfrm>
              <a:prstGeom prst="ellipse">
                <a:avLst/>
              </a:prstGeom>
              <a:noFill/>
              <a:ln cap="flat" cmpd="sng" w="28575">
                <a:solidFill>
                  <a:srgbClr val="B7B7B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457" name="Google Shape;1457;p91"/>
              <p:cNvSpPr/>
              <p:nvPr/>
            </p:nvSpPr>
            <p:spPr>
              <a:xfrm>
                <a:off x="780954" y="2121725"/>
                <a:ext cx="1699200" cy="1699200"/>
              </a:xfrm>
              <a:prstGeom prst="ellipse">
                <a:avLst/>
              </a:prstGeom>
              <a:noFill/>
              <a:ln cap="flat" cmpd="sng" w="28575">
                <a:solidFill>
                  <a:srgbClr val="B7B7B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458" name="Google Shape;1458;p91"/>
              <p:cNvSpPr/>
              <p:nvPr/>
            </p:nvSpPr>
            <p:spPr>
              <a:xfrm>
                <a:off x="2055879" y="2857700"/>
                <a:ext cx="1699200" cy="1699200"/>
              </a:xfrm>
              <a:prstGeom prst="ellipse">
                <a:avLst/>
              </a:prstGeom>
              <a:noFill/>
              <a:ln cap="flat" cmpd="sng" w="28575">
                <a:solidFill>
                  <a:srgbClr val="B7B7B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459" name="Google Shape;1459;p91"/>
              <p:cNvSpPr/>
              <p:nvPr/>
            </p:nvSpPr>
            <p:spPr>
              <a:xfrm>
                <a:off x="2482254" y="2120450"/>
                <a:ext cx="1699200" cy="1699200"/>
              </a:xfrm>
              <a:prstGeom prst="ellipse">
                <a:avLst/>
              </a:prstGeom>
              <a:noFill/>
              <a:ln cap="flat" cmpd="sng" w="28575">
                <a:solidFill>
                  <a:srgbClr val="B7B7B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460" name="Google Shape;1460;p91"/>
              <p:cNvSpPr/>
              <p:nvPr/>
            </p:nvSpPr>
            <p:spPr>
              <a:xfrm>
                <a:off x="1204279" y="2857700"/>
                <a:ext cx="1699200" cy="1699200"/>
              </a:xfrm>
              <a:prstGeom prst="ellipse">
                <a:avLst/>
              </a:prstGeom>
              <a:noFill/>
              <a:ln cap="flat" cmpd="sng" w="28575">
                <a:solidFill>
                  <a:srgbClr val="B7B7B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461" name="Google Shape;1461;p91"/>
              <p:cNvSpPr/>
              <p:nvPr/>
            </p:nvSpPr>
            <p:spPr>
              <a:xfrm>
                <a:off x="2053494" y="1381779"/>
                <a:ext cx="1699200" cy="1699200"/>
              </a:xfrm>
              <a:prstGeom prst="ellipse">
                <a:avLst/>
              </a:prstGeom>
              <a:noFill/>
              <a:ln cap="flat" cmpd="sng" w="28575">
                <a:solidFill>
                  <a:srgbClr val="B7B7B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sp>
          <p:nvSpPr>
            <p:cNvPr id="1462" name="Google Shape;1462;p91"/>
            <p:cNvSpPr/>
            <p:nvPr/>
          </p:nvSpPr>
          <p:spPr>
            <a:xfrm>
              <a:off x="1631775" y="2120450"/>
              <a:ext cx="1699200" cy="1699200"/>
            </a:xfrm>
            <a:prstGeom prst="ellipse">
              <a:avLst/>
            </a:prstGeom>
            <a:noFill/>
            <a:ln cap="flat" cmpd="sng" w="28575">
              <a:solidFill>
                <a:srgbClr val="B7B7B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463" name="Google Shape;1463;p91"/>
          <p:cNvGrpSpPr/>
          <p:nvPr/>
        </p:nvGrpSpPr>
        <p:grpSpPr>
          <a:xfrm>
            <a:off x="5353484" y="1461046"/>
            <a:ext cx="2864581" cy="2674722"/>
            <a:chOff x="780954" y="1381779"/>
            <a:chExt cx="3400500" cy="3175121"/>
          </a:xfrm>
        </p:grpSpPr>
        <p:grpSp>
          <p:nvGrpSpPr>
            <p:cNvPr id="1464" name="Google Shape;1464;p91"/>
            <p:cNvGrpSpPr/>
            <p:nvPr/>
          </p:nvGrpSpPr>
          <p:grpSpPr>
            <a:xfrm>
              <a:off x="780954" y="1381779"/>
              <a:ext cx="3400500" cy="3175121"/>
              <a:chOff x="780954" y="1381779"/>
              <a:chExt cx="3400500" cy="3175121"/>
            </a:xfrm>
          </p:grpSpPr>
          <p:sp>
            <p:nvSpPr>
              <p:cNvPr id="1465" name="Google Shape;1465;p91"/>
              <p:cNvSpPr/>
              <p:nvPr/>
            </p:nvSpPr>
            <p:spPr>
              <a:xfrm>
                <a:off x="1204279" y="1388475"/>
                <a:ext cx="1699200" cy="1699200"/>
              </a:xfrm>
              <a:prstGeom prst="ellipse">
                <a:avLst/>
              </a:prstGeom>
              <a:noFill/>
              <a:ln cap="flat" cmpd="sng" w="28575">
                <a:solidFill>
                  <a:srgbClr val="B7B7B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466" name="Google Shape;1466;p91"/>
              <p:cNvSpPr/>
              <p:nvPr/>
            </p:nvSpPr>
            <p:spPr>
              <a:xfrm>
                <a:off x="780954" y="2121725"/>
                <a:ext cx="1699200" cy="1699200"/>
              </a:xfrm>
              <a:prstGeom prst="ellipse">
                <a:avLst/>
              </a:prstGeom>
              <a:noFill/>
              <a:ln cap="flat" cmpd="sng" w="28575">
                <a:solidFill>
                  <a:srgbClr val="B7B7B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467" name="Google Shape;1467;p91"/>
              <p:cNvSpPr/>
              <p:nvPr/>
            </p:nvSpPr>
            <p:spPr>
              <a:xfrm>
                <a:off x="2055879" y="2857700"/>
                <a:ext cx="1699200" cy="1699200"/>
              </a:xfrm>
              <a:prstGeom prst="ellipse">
                <a:avLst/>
              </a:prstGeom>
              <a:noFill/>
              <a:ln cap="flat" cmpd="sng" w="28575">
                <a:solidFill>
                  <a:srgbClr val="B7B7B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468" name="Google Shape;1468;p91"/>
              <p:cNvSpPr/>
              <p:nvPr/>
            </p:nvSpPr>
            <p:spPr>
              <a:xfrm>
                <a:off x="2482254" y="2120450"/>
                <a:ext cx="1699200" cy="1699200"/>
              </a:xfrm>
              <a:prstGeom prst="ellipse">
                <a:avLst/>
              </a:prstGeom>
              <a:noFill/>
              <a:ln cap="flat" cmpd="sng" w="28575">
                <a:solidFill>
                  <a:srgbClr val="B7B7B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469" name="Google Shape;1469;p91"/>
              <p:cNvSpPr/>
              <p:nvPr/>
            </p:nvSpPr>
            <p:spPr>
              <a:xfrm>
                <a:off x="1204279" y="2857700"/>
                <a:ext cx="1699200" cy="1699200"/>
              </a:xfrm>
              <a:prstGeom prst="ellipse">
                <a:avLst/>
              </a:prstGeom>
              <a:noFill/>
              <a:ln cap="flat" cmpd="sng" w="28575">
                <a:solidFill>
                  <a:srgbClr val="B7B7B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470" name="Google Shape;1470;p91"/>
              <p:cNvSpPr/>
              <p:nvPr/>
            </p:nvSpPr>
            <p:spPr>
              <a:xfrm>
                <a:off x="2053494" y="1381779"/>
                <a:ext cx="1699200" cy="1699200"/>
              </a:xfrm>
              <a:prstGeom prst="ellipse">
                <a:avLst/>
              </a:prstGeom>
              <a:noFill/>
              <a:ln cap="flat" cmpd="sng" w="28575">
                <a:solidFill>
                  <a:srgbClr val="B7B7B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sp>
          <p:nvSpPr>
            <p:cNvPr id="1471" name="Google Shape;1471;p91"/>
            <p:cNvSpPr/>
            <p:nvPr/>
          </p:nvSpPr>
          <p:spPr>
            <a:xfrm>
              <a:off x="1631775" y="2120450"/>
              <a:ext cx="1699200" cy="1699200"/>
            </a:xfrm>
            <a:prstGeom prst="ellipse">
              <a:avLst/>
            </a:prstGeom>
            <a:noFill/>
            <a:ln cap="flat" cmpd="sng" w="28575">
              <a:solidFill>
                <a:srgbClr val="B7B7B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472" name="Google Shape;1472;p91"/>
          <p:cNvSpPr txBox="1"/>
          <p:nvPr/>
        </p:nvSpPr>
        <p:spPr>
          <a:xfrm>
            <a:off x="1046250" y="1461050"/>
            <a:ext cx="367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c) 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3" name="Google Shape;1473;p91"/>
          <p:cNvSpPr txBox="1"/>
          <p:nvPr/>
        </p:nvSpPr>
        <p:spPr>
          <a:xfrm>
            <a:off x="5445538" y="1461050"/>
            <a:ext cx="367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d) 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474" name="Google Shape;1474;p91"/>
          <p:cNvGrpSpPr/>
          <p:nvPr/>
        </p:nvGrpSpPr>
        <p:grpSpPr>
          <a:xfrm>
            <a:off x="1855648" y="1560782"/>
            <a:ext cx="2038183" cy="2937624"/>
            <a:chOff x="3521820" y="1225773"/>
            <a:chExt cx="2014214" cy="2903078"/>
          </a:xfrm>
        </p:grpSpPr>
        <p:sp>
          <p:nvSpPr>
            <p:cNvPr id="1475" name="Google Shape;1475;p91"/>
            <p:cNvSpPr/>
            <p:nvPr/>
          </p:nvSpPr>
          <p:spPr>
            <a:xfrm>
              <a:off x="4002023" y="1225773"/>
              <a:ext cx="1062164" cy="2450772"/>
            </a:xfrm>
            <a:custGeom>
              <a:rect b="b" l="l" r="r" t="t"/>
              <a:pathLst>
                <a:path extrusionOk="0" h="117939" w="51084">
                  <a:moveTo>
                    <a:pt x="0" y="0"/>
                  </a:moveTo>
                  <a:lnTo>
                    <a:pt x="0" y="117939"/>
                  </a:lnTo>
                  <a:lnTo>
                    <a:pt x="51084" y="88458"/>
                  </a:lnTo>
                  <a:lnTo>
                    <a:pt x="51084" y="29400"/>
                  </a:lnTo>
                  <a:close/>
                </a:path>
              </a:pathLst>
            </a:cu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grpSp>
          <p:nvGrpSpPr>
            <p:cNvPr id="1476" name="Google Shape;1476;p91"/>
            <p:cNvGrpSpPr/>
            <p:nvPr/>
          </p:nvGrpSpPr>
          <p:grpSpPr>
            <a:xfrm flipH="1" rot="5400000">
              <a:off x="3521820" y="3131646"/>
              <a:ext cx="997205" cy="997205"/>
              <a:chOff x="5195175" y="3563212"/>
              <a:chExt cx="895800" cy="895800"/>
            </a:xfrm>
          </p:grpSpPr>
          <p:sp>
            <p:nvSpPr>
              <p:cNvPr id="1477" name="Google Shape;1477;p91"/>
              <p:cNvSpPr/>
              <p:nvPr/>
            </p:nvSpPr>
            <p:spPr>
              <a:xfrm>
                <a:off x="5195175" y="3563212"/>
                <a:ext cx="895800" cy="895800"/>
              </a:xfrm>
              <a:prstGeom prst="arc">
                <a:avLst>
                  <a:gd fmla="val 17923413" name="adj1"/>
                  <a:gd fmla="val 0" name="adj2"/>
                </a:avLst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478" name="Google Shape;1478;p91"/>
              <p:cNvSpPr txBox="1"/>
              <p:nvPr/>
            </p:nvSpPr>
            <p:spPr>
              <a:xfrm rot="5400000">
                <a:off x="5614333" y="3699867"/>
                <a:ext cx="437400" cy="27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60°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1479" name="Google Shape;1479;p91"/>
            <p:cNvGrpSpPr/>
            <p:nvPr/>
          </p:nvGrpSpPr>
          <p:grpSpPr>
            <a:xfrm rot="-5400000">
              <a:off x="4547672" y="2556589"/>
              <a:ext cx="981508" cy="995214"/>
              <a:chOff x="5202263" y="3558010"/>
              <a:chExt cx="881700" cy="894012"/>
            </a:xfrm>
          </p:grpSpPr>
          <p:sp>
            <p:nvSpPr>
              <p:cNvPr id="1480" name="Google Shape;1480;p91"/>
              <p:cNvSpPr/>
              <p:nvPr/>
            </p:nvSpPr>
            <p:spPr>
              <a:xfrm>
                <a:off x="5202263" y="3570322"/>
                <a:ext cx="881700" cy="881700"/>
              </a:xfrm>
              <a:prstGeom prst="arc">
                <a:avLst>
                  <a:gd fmla="val 14396480" name="adj1"/>
                  <a:gd fmla="val 0" name="adj2"/>
                </a:avLst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481" name="Google Shape;1481;p91"/>
              <p:cNvSpPr txBox="1"/>
              <p:nvPr/>
            </p:nvSpPr>
            <p:spPr>
              <a:xfrm rot="5400000">
                <a:off x="5461725" y="3667510"/>
                <a:ext cx="496200" cy="27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120°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grpSp>
        <p:nvGrpSpPr>
          <p:cNvPr id="1482" name="Google Shape;1482;p91"/>
          <p:cNvGrpSpPr/>
          <p:nvPr/>
        </p:nvGrpSpPr>
        <p:grpSpPr>
          <a:xfrm>
            <a:off x="5612457" y="1498216"/>
            <a:ext cx="2312706" cy="1994825"/>
            <a:chOff x="6575995" y="1287899"/>
            <a:chExt cx="2068055" cy="1783801"/>
          </a:xfrm>
        </p:grpSpPr>
        <p:pic>
          <p:nvPicPr>
            <p:cNvPr id="1483" name="Google Shape;1483;p9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587538" y="1287899"/>
              <a:ext cx="2053363" cy="178380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484" name="Google Shape;1484;p91"/>
            <p:cNvGrpSpPr/>
            <p:nvPr/>
          </p:nvGrpSpPr>
          <p:grpSpPr>
            <a:xfrm rot="-5400000">
              <a:off x="7304777" y="2116586"/>
              <a:ext cx="630516" cy="630516"/>
              <a:chOff x="5418776" y="3678682"/>
              <a:chExt cx="566400" cy="566400"/>
            </a:xfrm>
          </p:grpSpPr>
          <p:sp>
            <p:nvSpPr>
              <p:cNvPr id="1485" name="Google Shape;1485;p91"/>
              <p:cNvSpPr/>
              <p:nvPr/>
            </p:nvSpPr>
            <p:spPr>
              <a:xfrm>
                <a:off x="5418776" y="3678682"/>
                <a:ext cx="566400" cy="566400"/>
              </a:xfrm>
              <a:prstGeom prst="arc">
                <a:avLst>
                  <a:gd fmla="val 14396480" name="adj1"/>
                  <a:gd fmla="val 7198523" name="adj2"/>
                </a:avLst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486" name="Google Shape;1486;p91"/>
              <p:cNvSpPr txBox="1"/>
              <p:nvPr/>
            </p:nvSpPr>
            <p:spPr>
              <a:xfrm rot="5400000">
                <a:off x="5528001" y="3825713"/>
                <a:ext cx="496200" cy="27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240°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cxnSp>
          <p:nvCxnSpPr>
            <p:cNvPr id="1487" name="Google Shape;1487;p91"/>
            <p:cNvCxnSpPr/>
            <p:nvPr/>
          </p:nvCxnSpPr>
          <p:spPr>
            <a:xfrm>
              <a:off x="6648295" y="2257950"/>
              <a:ext cx="0" cy="1446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88" name="Google Shape;1488;p91"/>
            <p:cNvCxnSpPr/>
            <p:nvPr/>
          </p:nvCxnSpPr>
          <p:spPr>
            <a:xfrm>
              <a:off x="8571750" y="2257950"/>
              <a:ext cx="0" cy="1446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89" name="Google Shape;1489;p91"/>
            <p:cNvCxnSpPr/>
            <p:nvPr/>
          </p:nvCxnSpPr>
          <p:spPr>
            <a:xfrm rot="10800000">
              <a:off x="8115028" y="1547767"/>
              <a:ext cx="0" cy="14449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90" name="Google Shape;1490;p91"/>
            <p:cNvCxnSpPr/>
            <p:nvPr/>
          </p:nvCxnSpPr>
          <p:spPr>
            <a:xfrm rot="10800000">
              <a:off x="8115028" y="2665292"/>
              <a:ext cx="0" cy="14449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91" name="Google Shape;1491;p91"/>
            <p:cNvCxnSpPr/>
            <p:nvPr/>
          </p:nvCxnSpPr>
          <p:spPr>
            <a:xfrm rot="10800000">
              <a:off x="7129212" y="1547767"/>
              <a:ext cx="0" cy="14449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92" name="Google Shape;1492;p91"/>
            <p:cNvCxnSpPr/>
            <p:nvPr/>
          </p:nvCxnSpPr>
          <p:spPr>
            <a:xfrm rot="10800000">
              <a:off x="7129212" y="2665292"/>
              <a:ext cx="0" cy="14449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493" name="Google Shape;1493;p91"/>
          <p:cNvSpPr txBox="1"/>
          <p:nvPr/>
        </p:nvSpPr>
        <p:spPr>
          <a:xfrm>
            <a:off x="324000" y="1408375"/>
            <a:ext cx="56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e.g.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94" name="Google Shape;1494;p91"/>
          <p:cNvSpPr txBox="1"/>
          <p:nvPr/>
        </p:nvSpPr>
        <p:spPr>
          <a:xfrm>
            <a:off x="4824000" y="1408375"/>
            <a:ext cx="56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e.g.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8" name="Shape 1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9" name="Google Shape;1499;p92"/>
          <p:cNvSpPr txBox="1"/>
          <p:nvPr/>
        </p:nvSpPr>
        <p:spPr>
          <a:xfrm>
            <a:off x="324000" y="657600"/>
            <a:ext cx="8496000" cy="12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2) Many logos of real-world, famous companies are created using arcs and sectors of circles made from constructions.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By first using a six-petal flower template to help you plan, construct from scratch your own logo.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00" name="Google Shape;1500;p9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Constructing shapes</a:t>
            </a:r>
            <a:endParaRPr/>
          </a:p>
        </p:txBody>
      </p:sp>
      <p:grpSp>
        <p:nvGrpSpPr>
          <p:cNvPr id="1501" name="Google Shape;1501;p92"/>
          <p:cNvGrpSpPr/>
          <p:nvPr/>
        </p:nvGrpSpPr>
        <p:grpSpPr>
          <a:xfrm>
            <a:off x="323988" y="2026271"/>
            <a:ext cx="2864581" cy="2674722"/>
            <a:chOff x="780954" y="1381779"/>
            <a:chExt cx="3400500" cy="3175121"/>
          </a:xfrm>
        </p:grpSpPr>
        <p:grpSp>
          <p:nvGrpSpPr>
            <p:cNvPr id="1502" name="Google Shape;1502;p92"/>
            <p:cNvGrpSpPr/>
            <p:nvPr/>
          </p:nvGrpSpPr>
          <p:grpSpPr>
            <a:xfrm>
              <a:off x="780954" y="1381779"/>
              <a:ext cx="3400500" cy="3175121"/>
              <a:chOff x="780954" y="1381779"/>
              <a:chExt cx="3400500" cy="3175121"/>
            </a:xfrm>
          </p:grpSpPr>
          <p:sp>
            <p:nvSpPr>
              <p:cNvPr id="1503" name="Google Shape;1503;p92"/>
              <p:cNvSpPr/>
              <p:nvPr/>
            </p:nvSpPr>
            <p:spPr>
              <a:xfrm>
                <a:off x="1204279" y="1388475"/>
                <a:ext cx="1699200" cy="1699200"/>
              </a:xfrm>
              <a:prstGeom prst="ellipse">
                <a:avLst/>
              </a:prstGeom>
              <a:noFill/>
              <a:ln cap="flat" cmpd="sng" w="28575">
                <a:solidFill>
                  <a:srgbClr val="B7B7B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504" name="Google Shape;1504;p92"/>
              <p:cNvSpPr/>
              <p:nvPr/>
            </p:nvSpPr>
            <p:spPr>
              <a:xfrm>
                <a:off x="780954" y="2121725"/>
                <a:ext cx="1699200" cy="1699200"/>
              </a:xfrm>
              <a:prstGeom prst="ellipse">
                <a:avLst/>
              </a:prstGeom>
              <a:noFill/>
              <a:ln cap="flat" cmpd="sng" w="28575">
                <a:solidFill>
                  <a:srgbClr val="B7B7B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505" name="Google Shape;1505;p92"/>
              <p:cNvSpPr/>
              <p:nvPr/>
            </p:nvSpPr>
            <p:spPr>
              <a:xfrm>
                <a:off x="2055879" y="2857700"/>
                <a:ext cx="1699200" cy="1699200"/>
              </a:xfrm>
              <a:prstGeom prst="ellipse">
                <a:avLst/>
              </a:prstGeom>
              <a:noFill/>
              <a:ln cap="flat" cmpd="sng" w="28575">
                <a:solidFill>
                  <a:srgbClr val="B7B7B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506" name="Google Shape;1506;p92"/>
              <p:cNvSpPr/>
              <p:nvPr/>
            </p:nvSpPr>
            <p:spPr>
              <a:xfrm>
                <a:off x="2482254" y="2120450"/>
                <a:ext cx="1699200" cy="1699200"/>
              </a:xfrm>
              <a:prstGeom prst="ellipse">
                <a:avLst/>
              </a:prstGeom>
              <a:noFill/>
              <a:ln cap="flat" cmpd="sng" w="28575">
                <a:solidFill>
                  <a:srgbClr val="B7B7B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507" name="Google Shape;1507;p92"/>
              <p:cNvSpPr/>
              <p:nvPr/>
            </p:nvSpPr>
            <p:spPr>
              <a:xfrm>
                <a:off x="1204279" y="2857700"/>
                <a:ext cx="1699200" cy="1699200"/>
              </a:xfrm>
              <a:prstGeom prst="ellipse">
                <a:avLst/>
              </a:prstGeom>
              <a:noFill/>
              <a:ln cap="flat" cmpd="sng" w="28575">
                <a:solidFill>
                  <a:srgbClr val="B7B7B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508" name="Google Shape;1508;p92"/>
              <p:cNvSpPr/>
              <p:nvPr/>
            </p:nvSpPr>
            <p:spPr>
              <a:xfrm>
                <a:off x="2053494" y="1381779"/>
                <a:ext cx="1699200" cy="1699200"/>
              </a:xfrm>
              <a:prstGeom prst="ellipse">
                <a:avLst/>
              </a:prstGeom>
              <a:noFill/>
              <a:ln cap="flat" cmpd="sng" w="28575">
                <a:solidFill>
                  <a:srgbClr val="B7B7B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sp>
          <p:nvSpPr>
            <p:cNvPr id="1509" name="Google Shape;1509;p92"/>
            <p:cNvSpPr/>
            <p:nvPr/>
          </p:nvSpPr>
          <p:spPr>
            <a:xfrm>
              <a:off x="1631775" y="2120450"/>
              <a:ext cx="1699200" cy="1699200"/>
            </a:xfrm>
            <a:prstGeom prst="ellipse">
              <a:avLst/>
            </a:prstGeom>
            <a:noFill/>
            <a:ln cap="flat" cmpd="sng" w="28575">
              <a:solidFill>
                <a:srgbClr val="B7B7B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510" name="Google Shape;1510;p92"/>
          <p:cNvGrpSpPr/>
          <p:nvPr/>
        </p:nvGrpSpPr>
        <p:grpSpPr>
          <a:xfrm>
            <a:off x="3755713" y="2026271"/>
            <a:ext cx="3110288" cy="2676404"/>
            <a:chOff x="3603313" y="2026271"/>
            <a:chExt cx="3110288" cy="2676404"/>
          </a:xfrm>
        </p:grpSpPr>
        <p:grpSp>
          <p:nvGrpSpPr>
            <p:cNvPr id="1511" name="Google Shape;1511;p92"/>
            <p:cNvGrpSpPr/>
            <p:nvPr/>
          </p:nvGrpSpPr>
          <p:grpSpPr>
            <a:xfrm>
              <a:off x="3603313" y="2026271"/>
              <a:ext cx="2864581" cy="2674722"/>
              <a:chOff x="780954" y="1381779"/>
              <a:chExt cx="3400500" cy="3175121"/>
            </a:xfrm>
          </p:grpSpPr>
          <p:grpSp>
            <p:nvGrpSpPr>
              <p:cNvPr id="1512" name="Google Shape;1512;p92"/>
              <p:cNvGrpSpPr/>
              <p:nvPr/>
            </p:nvGrpSpPr>
            <p:grpSpPr>
              <a:xfrm>
                <a:off x="780954" y="1381779"/>
                <a:ext cx="3400500" cy="3175121"/>
                <a:chOff x="780954" y="1381779"/>
                <a:chExt cx="3400500" cy="3175121"/>
              </a:xfrm>
            </p:grpSpPr>
            <p:sp>
              <p:nvSpPr>
                <p:cNvPr id="1513" name="Google Shape;1513;p92"/>
                <p:cNvSpPr/>
                <p:nvPr/>
              </p:nvSpPr>
              <p:spPr>
                <a:xfrm>
                  <a:off x="1204279" y="1388475"/>
                  <a:ext cx="1699200" cy="1699200"/>
                </a:xfrm>
                <a:prstGeom prst="ellipse">
                  <a:avLst/>
                </a:prstGeom>
                <a:noFill/>
                <a:ln cap="flat" cmpd="sng" w="28575">
                  <a:solidFill>
                    <a:srgbClr val="B7B7B7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1514" name="Google Shape;1514;p92"/>
                <p:cNvSpPr/>
                <p:nvPr/>
              </p:nvSpPr>
              <p:spPr>
                <a:xfrm>
                  <a:off x="780954" y="2121725"/>
                  <a:ext cx="1699200" cy="1699200"/>
                </a:xfrm>
                <a:prstGeom prst="ellipse">
                  <a:avLst/>
                </a:prstGeom>
                <a:noFill/>
                <a:ln cap="flat" cmpd="sng" w="28575">
                  <a:solidFill>
                    <a:srgbClr val="B7B7B7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1515" name="Google Shape;1515;p92"/>
                <p:cNvSpPr/>
                <p:nvPr/>
              </p:nvSpPr>
              <p:spPr>
                <a:xfrm>
                  <a:off x="2055879" y="2857700"/>
                  <a:ext cx="1699200" cy="1699200"/>
                </a:xfrm>
                <a:prstGeom prst="ellipse">
                  <a:avLst/>
                </a:prstGeom>
                <a:noFill/>
                <a:ln cap="flat" cmpd="sng" w="28575">
                  <a:solidFill>
                    <a:srgbClr val="B7B7B7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1516" name="Google Shape;1516;p92"/>
                <p:cNvSpPr/>
                <p:nvPr/>
              </p:nvSpPr>
              <p:spPr>
                <a:xfrm>
                  <a:off x="2482254" y="2120450"/>
                  <a:ext cx="1699200" cy="1699200"/>
                </a:xfrm>
                <a:prstGeom prst="ellipse">
                  <a:avLst/>
                </a:prstGeom>
                <a:noFill/>
                <a:ln cap="flat" cmpd="sng" w="28575">
                  <a:solidFill>
                    <a:srgbClr val="B7B7B7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1517" name="Google Shape;1517;p92"/>
                <p:cNvSpPr/>
                <p:nvPr/>
              </p:nvSpPr>
              <p:spPr>
                <a:xfrm>
                  <a:off x="1204279" y="2857700"/>
                  <a:ext cx="1699200" cy="1699200"/>
                </a:xfrm>
                <a:prstGeom prst="ellipse">
                  <a:avLst/>
                </a:prstGeom>
                <a:noFill/>
                <a:ln cap="flat" cmpd="sng" w="28575">
                  <a:solidFill>
                    <a:srgbClr val="B7B7B7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1518" name="Google Shape;1518;p92"/>
                <p:cNvSpPr/>
                <p:nvPr/>
              </p:nvSpPr>
              <p:spPr>
                <a:xfrm>
                  <a:off x="2053494" y="1381779"/>
                  <a:ext cx="1699200" cy="1699200"/>
                </a:xfrm>
                <a:prstGeom prst="ellipse">
                  <a:avLst/>
                </a:prstGeom>
                <a:noFill/>
                <a:ln cap="flat" cmpd="sng" w="28575">
                  <a:solidFill>
                    <a:srgbClr val="B7B7B7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</p:grpSp>
          <p:sp>
            <p:nvSpPr>
              <p:cNvPr id="1519" name="Google Shape;1519;p92"/>
              <p:cNvSpPr/>
              <p:nvPr/>
            </p:nvSpPr>
            <p:spPr>
              <a:xfrm>
                <a:off x="1631775" y="2120450"/>
                <a:ext cx="1699200" cy="1699200"/>
              </a:xfrm>
              <a:prstGeom prst="ellipse">
                <a:avLst/>
              </a:prstGeom>
              <a:noFill/>
              <a:ln cap="flat" cmpd="sng" w="28575">
                <a:solidFill>
                  <a:srgbClr val="B7B7B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1520" name="Google Shape;1520;p92"/>
            <p:cNvGrpSpPr/>
            <p:nvPr/>
          </p:nvGrpSpPr>
          <p:grpSpPr>
            <a:xfrm>
              <a:off x="4317325" y="2406641"/>
              <a:ext cx="2396277" cy="2296034"/>
              <a:chOff x="4317325" y="2025641"/>
              <a:chExt cx="2396277" cy="2296034"/>
            </a:xfrm>
          </p:grpSpPr>
          <p:sp>
            <p:nvSpPr>
              <p:cNvPr id="1521" name="Google Shape;1521;p92"/>
              <p:cNvSpPr/>
              <p:nvPr/>
            </p:nvSpPr>
            <p:spPr>
              <a:xfrm>
                <a:off x="4317325" y="2264350"/>
                <a:ext cx="1436700" cy="1436700"/>
              </a:xfrm>
              <a:prstGeom prst="arc">
                <a:avLst>
                  <a:gd fmla="val 14405717" name="adj1"/>
                  <a:gd fmla="val 88491" name="adj2"/>
                </a:avLst>
              </a:prstGeom>
              <a:noFill/>
              <a:ln cap="flat" cmpd="sng" w="2857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cxnSp>
            <p:nvCxnSpPr>
              <p:cNvPr id="1522" name="Google Shape;1522;p92"/>
              <p:cNvCxnSpPr>
                <a:stCxn id="1521" idx="0"/>
              </p:cNvCxnSpPr>
              <p:nvPr/>
            </p:nvCxnSpPr>
            <p:spPr>
              <a:xfrm>
                <a:off x="4677535" y="2359994"/>
                <a:ext cx="0" cy="12432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accent5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23" name="Google Shape;1523;p92"/>
              <p:cNvCxnSpPr/>
              <p:nvPr/>
            </p:nvCxnSpPr>
            <p:spPr>
              <a:xfrm flipH="1" rot="10800000">
                <a:off x="4679243" y="3599459"/>
                <a:ext cx="716100" cy="39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accent5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524" name="Google Shape;1524;p92"/>
              <p:cNvSpPr/>
              <p:nvPr/>
            </p:nvSpPr>
            <p:spPr>
              <a:xfrm>
                <a:off x="4672615" y="2884975"/>
                <a:ext cx="1436700" cy="1436700"/>
              </a:xfrm>
              <a:prstGeom prst="arc">
                <a:avLst>
                  <a:gd fmla="val 18020300" name="adj1"/>
                  <a:gd fmla="val 0" name="adj2"/>
                </a:avLst>
              </a:prstGeom>
              <a:noFill/>
              <a:ln cap="flat" cmpd="sng" w="2857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525" name="Google Shape;1525;p92"/>
              <p:cNvSpPr/>
              <p:nvPr/>
            </p:nvSpPr>
            <p:spPr>
              <a:xfrm flipH="1" rot="-7199458">
                <a:off x="5043009" y="2284049"/>
                <a:ext cx="1412186" cy="1412186"/>
              </a:xfrm>
              <a:prstGeom prst="arc">
                <a:avLst>
                  <a:gd fmla="val 17923569" name="adj1"/>
                  <a:gd fmla="val 100249" name="adj2"/>
                </a:avLst>
              </a:prstGeom>
              <a:noFill/>
              <a:ln cap="flat" cmpd="sng" w="2857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grpSp>
        <p:nvGrpSpPr>
          <p:cNvPr id="1526" name="Google Shape;1526;p92"/>
          <p:cNvGrpSpPr/>
          <p:nvPr/>
        </p:nvGrpSpPr>
        <p:grpSpPr>
          <a:xfrm>
            <a:off x="6959200" y="2406641"/>
            <a:ext cx="2396277" cy="2296034"/>
            <a:chOff x="4317325" y="2025641"/>
            <a:chExt cx="2396277" cy="2296034"/>
          </a:xfrm>
        </p:grpSpPr>
        <p:sp>
          <p:nvSpPr>
            <p:cNvPr id="1527" name="Google Shape;1527;p92"/>
            <p:cNvSpPr/>
            <p:nvPr/>
          </p:nvSpPr>
          <p:spPr>
            <a:xfrm>
              <a:off x="4317325" y="2264350"/>
              <a:ext cx="1436700" cy="1436700"/>
            </a:xfrm>
            <a:prstGeom prst="arc">
              <a:avLst>
                <a:gd fmla="val 14405717" name="adj1"/>
                <a:gd fmla="val 88491" name="adj2"/>
              </a:avLst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528" name="Google Shape;1528;p92"/>
            <p:cNvCxnSpPr>
              <a:stCxn id="1527" idx="0"/>
            </p:cNvCxnSpPr>
            <p:nvPr/>
          </p:nvCxnSpPr>
          <p:spPr>
            <a:xfrm>
              <a:off x="4677535" y="2359994"/>
              <a:ext cx="0" cy="1243200"/>
            </a:xfrm>
            <a:prstGeom prst="straightConnector1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29" name="Google Shape;1529;p92"/>
            <p:cNvCxnSpPr/>
            <p:nvPr/>
          </p:nvCxnSpPr>
          <p:spPr>
            <a:xfrm flipH="1" rot="10800000">
              <a:off x="4679243" y="3599459"/>
              <a:ext cx="716100" cy="3900"/>
            </a:xfrm>
            <a:prstGeom prst="straightConnector1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530" name="Google Shape;1530;p92"/>
            <p:cNvSpPr/>
            <p:nvPr/>
          </p:nvSpPr>
          <p:spPr>
            <a:xfrm>
              <a:off x="4672615" y="2884975"/>
              <a:ext cx="1436700" cy="1436700"/>
            </a:xfrm>
            <a:prstGeom prst="arc">
              <a:avLst>
                <a:gd fmla="val 18020300" name="adj1"/>
                <a:gd fmla="val 0" name="adj2"/>
              </a:avLst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31" name="Google Shape;1531;p92"/>
            <p:cNvSpPr/>
            <p:nvPr/>
          </p:nvSpPr>
          <p:spPr>
            <a:xfrm flipH="1" rot="-7199458">
              <a:off x="5043009" y="2284049"/>
              <a:ext cx="1412186" cy="1412186"/>
            </a:xfrm>
            <a:prstGeom prst="arc">
              <a:avLst>
                <a:gd fmla="val 17923569" name="adj1"/>
                <a:gd fmla="val 100249" name="adj2"/>
              </a:avLst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532" name="Google Shape;1532;p92"/>
          <p:cNvSpPr txBox="1"/>
          <p:nvPr/>
        </p:nvSpPr>
        <p:spPr>
          <a:xfrm>
            <a:off x="6323125" y="3919729"/>
            <a:ext cx="24969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There are many possible logos that could be created.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6" name="Shape 1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7" name="Google Shape;1537;p93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Constructing shapes</a:t>
            </a:r>
            <a:endParaRPr/>
          </a:p>
        </p:txBody>
      </p:sp>
      <p:sp>
        <p:nvSpPr>
          <p:cNvPr id="1538" name="Google Shape;1538;p93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Identifying polygons from premade constructions</a:t>
            </a:r>
            <a:endParaRPr/>
          </a:p>
        </p:txBody>
      </p:sp>
      <p:sp>
        <p:nvSpPr>
          <p:cNvPr id="1539" name="Google Shape;1539;p93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Understanding properties of constructions</a:t>
            </a:r>
            <a:endParaRPr/>
          </a:p>
        </p:txBody>
      </p:sp>
      <p:sp>
        <p:nvSpPr>
          <p:cNvPr id="1540" name="Google Shape;1540;p93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Problem solving with constructions</a:t>
            </a:r>
            <a:endParaRPr/>
          </a:p>
        </p:txBody>
      </p:sp>
      <p:pic>
        <p:nvPicPr>
          <p:cNvPr id="1541" name="Google Shape;1541;p9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5944" y="3700483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5" name="Shape 1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" name="Google Shape;1546;p94"/>
          <p:cNvSpPr/>
          <p:nvPr/>
        </p:nvSpPr>
        <p:spPr>
          <a:xfrm>
            <a:off x="1957025" y="2329900"/>
            <a:ext cx="108600" cy="1086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547" name="Google Shape;1547;p94"/>
          <p:cNvGrpSpPr/>
          <p:nvPr/>
        </p:nvGrpSpPr>
        <p:grpSpPr>
          <a:xfrm>
            <a:off x="398505" y="1399176"/>
            <a:ext cx="3112705" cy="2076600"/>
            <a:chOff x="398505" y="1780176"/>
            <a:chExt cx="3112705" cy="2076600"/>
          </a:xfrm>
        </p:grpSpPr>
        <p:sp>
          <p:nvSpPr>
            <p:cNvPr id="1548" name="Google Shape;1548;p94"/>
            <p:cNvSpPr/>
            <p:nvPr/>
          </p:nvSpPr>
          <p:spPr>
            <a:xfrm>
              <a:off x="398505" y="1780176"/>
              <a:ext cx="2076600" cy="2076600"/>
            </a:xfrm>
            <a:prstGeom prst="ellipse">
              <a:avLst/>
            </a:prstGeom>
            <a:noFill/>
            <a:ln cap="flat" cmpd="sng" w="381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49" name="Google Shape;1549;p94"/>
            <p:cNvSpPr/>
            <p:nvPr/>
          </p:nvSpPr>
          <p:spPr>
            <a:xfrm>
              <a:off x="1434610" y="1780176"/>
              <a:ext cx="2076600" cy="2076600"/>
            </a:xfrm>
            <a:prstGeom prst="ellipse">
              <a:avLst/>
            </a:prstGeom>
            <a:noFill/>
            <a:ln cap="flat" cmpd="sng" w="381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550" name="Google Shape;1550;p94"/>
          <p:cNvSpPr txBox="1"/>
          <p:nvPr/>
        </p:nvSpPr>
        <p:spPr>
          <a:xfrm>
            <a:off x="324000" y="657600"/>
            <a:ext cx="8496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 perpendicular bisector can be constructed in many different ways.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51" name="Google Shape;1551;p9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Understanding properties of constructions</a:t>
            </a:r>
            <a:endParaRPr/>
          </a:p>
        </p:txBody>
      </p:sp>
      <p:grpSp>
        <p:nvGrpSpPr>
          <p:cNvPr id="1552" name="Google Shape;1552;p94"/>
          <p:cNvGrpSpPr/>
          <p:nvPr/>
        </p:nvGrpSpPr>
        <p:grpSpPr>
          <a:xfrm flipH="1">
            <a:off x="1203187" y="2299975"/>
            <a:ext cx="1509715" cy="309000"/>
            <a:chOff x="4749517" y="2845250"/>
            <a:chExt cx="4347006" cy="309000"/>
          </a:xfrm>
        </p:grpSpPr>
        <p:cxnSp>
          <p:nvCxnSpPr>
            <p:cNvPr id="1553" name="Google Shape;1553;p94"/>
            <p:cNvCxnSpPr/>
            <p:nvPr/>
          </p:nvCxnSpPr>
          <p:spPr>
            <a:xfrm>
              <a:off x="5433500" y="2983850"/>
              <a:ext cx="29838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554" name="Google Shape;1554;p94"/>
            <p:cNvSpPr txBox="1"/>
            <p:nvPr/>
          </p:nvSpPr>
          <p:spPr>
            <a:xfrm>
              <a:off x="4749517" y="2845250"/>
              <a:ext cx="684000" cy="30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55" name="Google Shape;1555;p94"/>
            <p:cNvSpPr txBox="1"/>
            <p:nvPr/>
          </p:nvSpPr>
          <p:spPr>
            <a:xfrm>
              <a:off x="8417322" y="2845250"/>
              <a:ext cx="6792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556" name="Google Shape;1556;p94"/>
          <p:cNvSpPr txBox="1"/>
          <p:nvPr/>
        </p:nvSpPr>
        <p:spPr>
          <a:xfrm>
            <a:off x="324000" y="3585600"/>
            <a:ext cx="31872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This perpendicular bisector involves a line passing through the intersection of two congruent circles.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57" name="Google Shape;1557;p94"/>
          <p:cNvCxnSpPr/>
          <p:nvPr/>
        </p:nvCxnSpPr>
        <p:spPr>
          <a:xfrm>
            <a:off x="1957025" y="1537575"/>
            <a:ext cx="0" cy="1798800"/>
          </a:xfrm>
          <a:prstGeom prst="straightConnector1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1" name="Shape 1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2" name="Google Shape;1562;p95"/>
          <p:cNvSpPr/>
          <p:nvPr/>
        </p:nvSpPr>
        <p:spPr>
          <a:xfrm>
            <a:off x="870692" y="1635100"/>
            <a:ext cx="1605000" cy="1605000"/>
          </a:xfrm>
          <a:prstGeom prst="ellipse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63" name="Google Shape;1563;p95"/>
          <p:cNvSpPr/>
          <p:nvPr/>
        </p:nvSpPr>
        <p:spPr>
          <a:xfrm>
            <a:off x="1900929" y="1635100"/>
            <a:ext cx="1605000" cy="1605000"/>
          </a:xfrm>
          <a:prstGeom prst="ellipse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64" name="Google Shape;1564;p95"/>
          <p:cNvSpPr/>
          <p:nvPr/>
        </p:nvSpPr>
        <p:spPr>
          <a:xfrm>
            <a:off x="324000" y="1095050"/>
            <a:ext cx="2685000" cy="2685000"/>
          </a:xfrm>
          <a:prstGeom prst="ellipse">
            <a:avLst/>
          </a:prstGeom>
          <a:noFill/>
          <a:ln cap="flat" cmpd="sng" w="38100">
            <a:solidFill>
              <a:schemeClr val="accent5"/>
            </a:solidFill>
            <a:prstDash val="dash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65" name="Google Shape;1565;p95"/>
          <p:cNvSpPr/>
          <p:nvPr/>
        </p:nvSpPr>
        <p:spPr>
          <a:xfrm>
            <a:off x="1361341" y="1095050"/>
            <a:ext cx="2685000" cy="2685000"/>
          </a:xfrm>
          <a:prstGeom prst="ellipse">
            <a:avLst/>
          </a:prstGeom>
          <a:noFill/>
          <a:ln cap="flat" cmpd="sng" w="38100">
            <a:solidFill>
              <a:schemeClr val="accent5"/>
            </a:solidFill>
            <a:prstDash val="dash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66" name="Google Shape;1566;p95"/>
          <p:cNvSpPr txBox="1"/>
          <p:nvPr/>
        </p:nvSpPr>
        <p:spPr>
          <a:xfrm>
            <a:off x="324000" y="657600"/>
            <a:ext cx="8496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 perpendicular bisector can be constructed in many different ways.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67" name="Google Shape;1567;p9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Understanding properties of constructions</a:t>
            </a:r>
            <a:endParaRPr/>
          </a:p>
        </p:txBody>
      </p:sp>
      <p:sp>
        <p:nvSpPr>
          <p:cNvPr id="1568" name="Google Shape;1568;p95"/>
          <p:cNvSpPr/>
          <p:nvPr/>
        </p:nvSpPr>
        <p:spPr>
          <a:xfrm>
            <a:off x="2186650" y="2329900"/>
            <a:ext cx="108600" cy="1086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569" name="Google Shape;1569;p95"/>
          <p:cNvGrpSpPr/>
          <p:nvPr/>
        </p:nvGrpSpPr>
        <p:grpSpPr>
          <a:xfrm flipH="1">
            <a:off x="1432812" y="2299975"/>
            <a:ext cx="1509715" cy="309000"/>
            <a:chOff x="4749517" y="2845250"/>
            <a:chExt cx="4347006" cy="309000"/>
          </a:xfrm>
        </p:grpSpPr>
        <p:cxnSp>
          <p:nvCxnSpPr>
            <p:cNvPr id="1570" name="Google Shape;1570;p95"/>
            <p:cNvCxnSpPr/>
            <p:nvPr/>
          </p:nvCxnSpPr>
          <p:spPr>
            <a:xfrm>
              <a:off x="5433500" y="2983850"/>
              <a:ext cx="29838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571" name="Google Shape;1571;p95"/>
            <p:cNvSpPr txBox="1"/>
            <p:nvPr/>
          </p:nvSpPr>
          <p:spPr>
            <a:xfrm>
              <a:off x="4749517" y="2845250"/>
              <a:ext cx="684000" cy="30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72" name="Google Shape;1572;p95"/>
            <p:cNvSpPr txBox="1"/>
            <p:nvPr/>
          </p:nvSpPr>
          <p:spPr>
            <a:xfrm>
              <a:off x="8417322" y="2845250"/>
              <a:ext cx="6792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573" name="Google Shape;1573;p95"/>
          <p:cNvSpPr txBox="1"/>
          <p:nvPr/>
        </p:nvSpPr>
        <p:spPr>
          <a:xfrm>
            <a:off x="4410975" y="1961700"/>
            <a:ext cx="44091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In this diagram, there are four intersections of </a:t>
            </a:r>
            <a:r>
              <a:rPr lang="en-GB" sz="1800">
                <a:solidFill>
                  <a:schemeClr val="accent2"/>
                </a:solidFill>
                <a:latin typeface="Lexend"/>
                <a:ea typeface="Lexend"/>
                <a:cs typeface="Lexend"/>
                <a:sym typeface="Lexend"/>
              </a:rPr>
              <a:t>pairs of circles that are congruent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Drawing a line through any two of these intersections will construct the perpendicular bisector of AB.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74" name="Google Shape;1574;p95"/>
          <p:cNvCxnSpPr/>
          <p:nvPr/>
        </p:nvCxnSpPr>
        <p:spPr>
          <a:xfrm>
            <a:off x="2186650" y="1096175"/>
            <a:ext cx="0" cy="2847000"/>
          </a:xfrm>
          <a:prstGeom prst="straightConnector1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75" name="Google Shape;1575;p95"/>
          <p:cNvSpPr txBox="1"/>
          <p:nvPr/>
        </p:nvSpPr>
        <p:spPr>
          <a:xfrm>
            <a:off x="4410975" y="1171200"/>
            <a:ext cx="4409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But what if there were multiple pairs of congruent circles?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76" name="Google Shape;1576;p95"/>
          <p:cNvSpPr/>
          <p:nvPr/>
        </p:nvSpPr>
        <p:spPr>
          <a:xfrm>
            <a:off x="1928653" y="955744"/>
            <a:ext cx="518100" cy="518100"/>
          </a:xfrm>
          <a:prstGeom prst="mathMultiply">
            <a:avLst>
              <a:gd fmla="val 8541" name="adj1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77" name="Google Shape;1577;p95"/>
          <p:cNvSpPr/>
          <p:nvPr/>
        </p:nvSpPr>
        <p:spPr>
          <a:xfrm>
            <a:off x="1928653" y="1561224"/>
            <a:ext cx="518100" cy="518100"/>
          </a:xfrm>
          <a:prstGeom prst="mathMultiply">
            <a:avLst>
              <a:gd fmla="val 8541" name="adj1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78" name="Google Shape;1578;p95"/>
          <p:cNvSpPr/>
          <p:nvPr/>
        </p:nvSpPr>
        <p:spPr>
          <a:xfrm>
            <a:off x="1928653" y="2791325"/>
            <a:ext cx="518100" cy="518100"/>
          </a:xfrm>
          <a:prstGeom prst="mathMultiply">
            <a:avLst>
              <a:gd fmla="val 8541" name="adj1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79" name="Google Shape;1579;p95"/>
          <p:cNvSpPr/>
          <p:nvPr/>
        </p:nvSpPr>
        <p:spPr>
          <a:xfrm>
            <a:off x="1928653" y="3396805"/>
            <a:ext cx="518100" cy="518100"/>
          </a:xfrm>
          <a:prstGeom prst="mathMultiply">
            <a:avLst>
              <a:gd fmla="val 8541" name="adj1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80" name="Google Shape;1580;p95"/>
          <p:cNvSpPr/>
          <p:nvPr/>
        </p:nvSpPr>
        <p:spPr>
          <a:xfrm>
            <a:off x="155225" y="2608975"/>
            <a:ext cx="4050000" cy="1540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81" name="Google Shape;1581;p95"/>
          <p:cNvSpPr txBox="1"/>
          <p:nvPr/>
        </p:nvSpPr>
        <p:spPr>
          <a:xfrm>
            <a:off x="324000" y="2871850"/>
            <a:ext cx="36129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 perpendicular bisector can be drawn from these two intersections, even if the rest of the circle cannot be constructed.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5" name="Shape 1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6" name="Google Shape;1586;p96"/>
          <p:cNvSpPr/>
          <p:nvPr/>
        </p:nvSpPr>
        <p:spPr>
          <a:xfrm>
            <a:off x="1415548" y="1651174"/>
            <a:ext cx="2984400" cy="2984400"/>
          </a:xfrm>
          <a:prstGeom prst="ellipse">
            <a:avLst/>
          </a:prstGeom>
          <a:noFill/>
          <a:ln cap="flat" cmpd="sng" w="38100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87" name="Google Shape;1587;p96"/>
          <p:cNvSpPr/>
          <p:nvPr/>
        </p:nvSpPr>
        <p:spPr>
          <a:xfrm>
            <a:off x="597948" y="1651174"/>
            <a:ext cx="2984400" cy="2984400"/>
          </a:xfrm>
          <a:prstGeom prst="ellipse">
            <a:avLst/>
          </a:prstGeom>
          <a:noFill/>
          <a:ln cap="flat" cmpd="sng" w="38100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88" name="Google Shape;1588;p9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Understanding properties of constructions</a:t>
            </a:r>
            <a:endParaRPr/>
          </a:p>
        </p:txBody>
      </p:sp>
      <p:grpSp>
        <p:nvGrpSpPr>
          <p:cNvPr id="1589" name="Google Shape;1589;p96"/>
          <p:cNvGrpSpPr/>
          <p:nvPr/>
        </p:nvGrpSpPr>
        <p:grpSpPr>
          <a:xfrm flipH="1">
            <a:off x="1907071" y="3004800"/>
            <a:ext cx="1184559" cy="309000"/>
            <a:chOff x="4749517" y="2845250"/>
            <a:chExt cx="4347006" cy="309000"/>
          </a:xfrm>
        </p:grpSpPr>
        <p:cxnSp>
          <p:nvCxnSpPr>
            <p:cNvPr id="1590" name="Google Shape;1590;p96"/>
            <p:cNvCxnSpPr/>
            <p:nvPr/>
          </p:nvCxnSpPr>
          <p:spPr>
            <a:xfrm>
              <a:off x="5433500" y="2983850"/>
              <a:ext cx="29838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591" name="Google Shape;1591;p96"/>
            <p:cNvSpPr txBox="1"/>
            <p:nvPr/>
          </p:nvSpPr>
          <p:spPr>
            <a:xfrm>
              <a:off x="4749517" y="2845250"/>
              <a:ext cx="684000" cy="30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92" name="Google Shape;1592;p96"/>
            <p:cNvSpPr txBox="1"/>
            <p:nvPr/>
          </p:nvSpPr>
          <p:spPr>
            <a:xfrm>
              <a:off x="8417322" y="2845250"/>
              <a:ext cx="6792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593" name="Google Shape;1593;p96"/>
          <p:cNvGrpSpPr/>
          <p:nvPr/>
        </p:nvGrpSpPr>
        <p:grpSpPr>
          <a:xfrm>
            <a:off x="324000" y="753893"/>
            <a:ext cx="885300" cy="866107"/>
            <a:chOff x="9788075" y="2913893"/>
            <a:chExt cx="885300" cy="866107"/>
          </a:xfrm>
        </p:grpSpPr>
        <p:sp>
          <p:nvSpPr>
            <p:cNvPr id="1594" name="Google Shape;1594;p96"/>
            <p:cNvSpPr txBox="1"/>
            <p:nvPr/>
          </p:nvSpPr>
          <p:spPr>
            <a:xfrm>
              <a:off x="9788075" y="3466500"/>
              <a:ext cx="885300" cy="31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Alex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1595" name="Google Shape;1595;p9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flipH="1">
              <a:off x="9979947" y="2913893"/>
              <a:ext cx="501556" cy="57840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596" name="Google Shape;1596;p96"/>
          <p:cNvSpPr/>
          <p:nvPr/>
        </p:nvSpPr>
        <p:spPr>
          <a:xfrm>
            <a:off x="1270025" y="2323250"/>
            <a:ext cx="1640400" cy="1640400"/>
          </a:xfrm>
          <a:prstGeom prst="ellipse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97" name="Google Shape;1597;p96"/>
          <p:cNvSpPr/>
          <p:nvPr/>
        </p:nvSpPr>
        <p:spPr>
          <a:xfrm>
            <a:off x="2087563" y="2323225"/>
            <a:ext cx="1640400" cy="1640400"/>
          </a:xfrm>
          <a:prstGeom prst="ellipse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98" name="Google Shape;1598;p96"/>
          <p:cNvSpPr txBox="1"/>
          <p:nvPr/>
        </p:nvSpPr>
        <p:spPr>
          <a:xfrm>
            <a:off x="1415550" y="657600"/>
            <a:ext cx="7404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Alex says he has constructed a perpendicular bisector because his line passes through two intersections between pairs of circles.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99" name="Google Shape;1599;p96"/>
          <p:cNvSpPr txBox="1"/>
          <p:nvPr/>
        </p:nvSpPr>
        <p:spPr>
          <a:xfrm>
            <a:off x="4359875" y="1430950"/>
            <a:ext cx="4460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Which of these statements explain why Alex’s construction is incorrect.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600" name="Google Shape;1600;p96"/>
          <p:cNvGrpSpPr/>
          <p:nvPr/>
        </p:nvGrpSpPr>
        <p:grpSpPr>
          <a:xfrm>
            <a:off x="1207501" y="2136599"/>
            <a:ext cx="2616725" cy="1960250"/>
            <a:chOff x="1207501" y="2136599"/>
            <a:chExt cx="2616725" cy="1960250"/>
          </a:xfrm>
        </p:grpSpPr>
        <p:sp>
          <p:nvSpPr>
            <p:cNvPr id="1601" name="Google Shape;1601;p96"/>
            <p:cNvSpPr/>
            <p:nvPr/>
          </p:nvSpPr>
          <p:spPr>
            <a:xfrm rot="-2700000">
              <a:off x="1314788" y="2243886"/>
              <a:ext cx="518026" cy="518026"/>
            </a:xfrm>
            <a:prstGeom prst="mathMultiply">
              <a:avLst>
                <a:gd fmla="val 8541" name="adj1"/>
              </a:avLst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02" name="Google Shape;1602;p96"/>
            <p:cNvSpPr/>
            <p:nvPr/>
          </p:nvSpPr>
          <p:spPr>
            <a:xfrm rot="-2700000">
              <a:off x="3198913" y="3471536"/>
              <a:ext cx="518026" cy="518026"/>
            </a:xfrm>
            <a:prstGeom prst="mathMultiply">
              <a:avLst>
                <a:gd fmla="val 8541" name="adj1"/>
              </a:avLst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03" name="Google Shape;1603;p96"/>
            <p:cNvCxnSpPr/>
            <p:nvPr/>
          </p:nvCxnSpPr>
          <p:spPr>
            <a:xfrm>
              <a:off x="1582200" y="2497675"/>
              <a:ext cx="1884000" cy="1238400"/>
            </a:xfrm>
            <a:prstGeom prst="straightConnector1">
              <a:avLst/>
            </a:prstGeom>
            <a:noFill/>
            <a:ln cap="flat" cmpd="sng" w="28575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604" name="Google Shape;1604;p96"/>
          <p:cNvGrpSpPr/>
          <p:nvPr/>
        </p:nvGrpSpPr>
        <p:grpSpPr>
          <a:xfrm>
            <a:off x="4794387" y="2136600"/>
            <a:ext cx="4025413" cy="554100"/>
            <a:chOff x="4616337" y="2004500"/>
            <a:chExt cx="4025413" cy="554100"/>
          </a:xfrm>
        </p:grpSpPr>
        <p:grpSp>
          <p:nvGrpSpPr>
            <p:cNvPr id="1605" name="Google Shape;1605;p96"/>
            <p:cNvGrpSpPr/>
            <p:nvPr/>
          </p:nvGrpSpPr>
          <p:grpSpPr>
            <a:xfrm>
              <a:off x="4616337" y="2004508"/>
              <a:ext cx="260924" cy="260878"/>
              <a:chOff x="1020916" y="1442088"/>
              <a:chExt cx="457200" cy="457200"/>
            </a:xfrm>
          </p:grpSpPr>
          <p:pic>
            <p:nvPicPr>
              <p:cNvPr id="1606" name="Google Shape;1606;p96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1020916" y="1442088"/>
                <a:ext cx="457200" cy="457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607" name="Google Shape;1607;p96"/>
              <p:cNvSpPr txBox="1"/>
              <p:nvPr/>
            </p:nvSpPr>
            <p:spPr>
              <a:xfrm>
                <a:off x="1045528" y="1526400"/>
                <a:ext cx="408000" cy="27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1" i="0" lang="en-GB" sz="1800" u="none" cap="none" strike="noStrike">
                    <a:solidFill>
                      <a:srgbClr val="FFFFFF"/>
                    </a:solidFill>
                    <a:latin typeface="Lexend"/>
                    <a:ea typeface="Lexend"/>
                    <a:cs typeface="Lexend"/>
                    <a:sym typeface="Lexend"/>
                  </a:rPr>
                  <a:t>a</a:t>
                </a:r>
                <a:endParaRPr b="1" i="0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sp>
          <p:nvSpPr>
            <p:cNvPr id="1608" name="Google Shape;1608;p96"/>
            <p:cNvSpPr txBox="1"/>
            <p:nvPr/>
          </p:nvSpPr>
          <p:spPr>
            <a:xfrm>
              <a:off x="4951150" y="2004500"/>
              <a:ext cx="36906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All the circles should be the same size.</a:t>
              </a:r>
              <a:endParaRPr b="0" i="0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609" name="Google Shape;1609;p96"/>
          <p:cNvGrpSpPr/>
          <p:nvPr/>
        </p:nvGrpSpPr>
        <p:grpSpPr>
          <a:xfrm>
            <a:off x="4794387" y="3023725"/>
            <a:ext cx="4025413" cy="554100"/>
            <a:chOff x="4616337" y="2004500"/>
            <a:chExt cx="4025413" cy="554100"/>
          </a:xfrm>
        </p:grpSpPr>
        <p:grpSp>
          <p:nvGrpSpPr>
            <p:cNvPr id="1610" name="Google Shape;1610;p96"/>
            <p:cNvGrpSpPr/>
            <p:nvPr/>
          </p:nvGrpSpPr>
          <p:grpSpPr>
            <a:xfrm>
              <a:off x="4616337" y="2004508"/>
              <a:ext cx="260924" cy="260878"/>
              <a:chOff x="1020916" y="1442088"/>
              <a:chExt cx="457200" cy="457200"/>
            </a:xfrm>
          </p:grpSpPr>
          <p:pic>
            <p:nvPicPr>
              <p:cNvPr id="1611" name="Google Shape;1611;p96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1020916" y="1442088"/>
                <a:ext cx="457200" cy="457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612" name="Google Shape;1612;p96"/>
              <p:cNvSpPr txBox="1"/>
              <p:nvPr/>
            </p:nvSpPr>
            <p:spPr>
              <a:xfrm>
                <a:off x="1045528" y="1526400"/>
                <a:ext cx="408000" cy="27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1" lang="en-GB" sz="1800">
                    <a:solidFill>
                      <a:srgbClr val="FFFFFF"/>
                    </a:solidFill>
                    <a:latin typeface="Lexend"/>
                    <a:ea typeface="Lexend"/>
                    <a:cs typeface="Lexend"/>
                    <a:sym typeface="Lexend"/>
                  </a:rPr>
                  <a:t>b</a:t>
                </a:r>
                <a:endParaRPr b="1" i="0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sp>
          <p:nvSpPr>
            <p:cNvPr id="1613" name="Google Shape;1613;p96"/>
            <p:cNvSpPr txBox="1"/>
            <p:nvPr/>
          </p:nvSpPr>
          <p:spPr>
            <a:xfrm>
              <a:off x="4951150" y="2004500"/>
              <a:ext cx="36906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Some of the circles have a radius bigger than AB.</a:t>
              </a:r>
              <a:endParaRPr b="0" i="0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614" name="Google Shape;1614;p96"/>
          <p:cNvGrpSpPr/>
          <p:nvPr/>
        </p:nvGrpSpPr>
        <p:grpSpPr>
          <a:xfrm>
            <a:off x="4794387" y="3910850"/>
            <a:ext cx="4025413" cy="831300"/>
            <a:chOff x="4616337" y="2004500"/>
            <a:chExt cx="4025413" cy="831300"/>
          </a:xfrm>
        </p:grpSpPr>
        <p:grpSp>
          <p:nvGrpSpPr>
            <p:cNvPr id="1615" name="Google Shape;1615;p96"/>
            <p:cNvGrpSpPr/>
            <p:nvPr/>
          </p:nvGrpSpPr>
          <p:grpSpPr>
            <a:xfrm>
              <a:off x="4616337" y="2004508"/>
              <a:ext cx="260924" cy="260878"/>
              <a:chOff x="1020916" y="1442088"/>
              <a:chExt cx="457200" cy="457200"/>
            </a:xfrm>
          </p:grpSpPr>
          <p:pic>
            <p:nvPicPr>
              <p:cNvPr id="1616" name="Google Shape;1616;p96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1020916" y="1442088"/>
                <a:ext cx="457200" cy="457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617" name="Google Shape;1617;p96"/>
              <p:cNvSpPr txBox="1"/>
              <p:nvPr/>
            </p:nvSpPr>
            <p:spPr>
              <a:xfrm>
                <a:off x="1045528" y="1526400"/>
                <a:ext cx="408000" cy="27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1" lang="en-GB" sz="1800">
                    <a:solidFill>
                      <a:srgbClr val="FFFFFF"/>
                    </a:solidFill>
                    <a:latin typeface="Lexend"/>
                    <a:ea typeface="Lexend"/>
                    <a:cs typeface="Lexend"/>
                    <a:sym typeface="Lexend"/>
                  </a:rPr>
                  <a:t>c</a:t>
                </a:r>
                <a:endParaRPr b="1" i="0" sz="1800" u="none" cap="none" strike="noStrik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sp>
          <p:nvSpPr>
            <p:cNvPr id="1618" name="Google Shape;1618;p96"/>
            <p:cNvSpPr txBox="1"/>
            <p:nvPr/>
          </p:nvSpPr>
          <p:spPr>
            <a:xfrm>
              <a:off x="4951150" y="2004500"/>
              <a:ext cx="3690600" cy="83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The intersections should be between pairs of circles of equal size.</a:t>
              </a:r>
              <a:endParaRPr b="0" i="0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619" name="Google Shape;1619;p9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04696" y="4193150"/>
            <a:ext cx="396000" cy="4191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20" name="Google Shape;1620;p96"/>
          <p:cNvGrpSpPr/>
          <p:nvPr/>
        </p:nvGrpSpPr>
        <p:grpSpPr>
          <a:xfrm>
            <a:off x="2133051" y="1341699"/>
            <a:ext cx="732600" cy="3603500"/>
            <a:chOff x="2133051" y="1341699"/>
            <a:chExt cx="732600" cy="3603500"/>
          </a:xfrm>
        </p:grpSpPr>
        <p:sp>
          <p:nvSpPr>
            <p:cNvPr id="1621" name="Google Shape;1621;p96"/>
            <p:cNvSpPr/>
            <p:nvPr/>
          </p:nvSpPr>
          <p:spPr>
            <a:xfrm rot="-2700000">
              <a:off x="2240338" y="1448986"/>
              <a:ext cx="518026" cy="518026"/>
            </a:xfrm>
            <a:prstGeom prst="mathMultiply">
              <a:avLst>
                <a:gd fmla="val 8541" name="adj1"/>
              </a:avLst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22" name="Google Shape;1622;p96"/>
            <p:cNvSpPr/>
            <p:nvPr/>
          </p:nvSpPr>
          <p:spPr>
            <a:xfrm rot="-2700000">
              <a:off x="2240338" y="2181586"/>
              <a:ext cx="518026" cy="518026"/>
            </a:xfrm>
            <a:prstGeom prst="mathMultiply">
              <a:avLst>
                <a:gd fmla="val 8541" name="adj1"/>
              </a:avLst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23" name="Google Shape;1623;p96"/>
            <p:cNvSpPr/>
            <p:nvPr/>
          </p:nvSpPr>
          <p:spPr>
            <a:xfrm rot="-2700000">
              <a:off x="2240338" y="3585011"/>
              <a:ext cx="518026" cy="518026"/>
            </a:xfrm>
            <a:prstGeom prst="mathMultiply">
              <a:avLst>
                <a:gd fmla="val 8541" name="adj1"/>
              </a:avLst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24" name="Google Shape;1624;p96"/>
            <p:cNvSpPr/>
            <p:nvPr/>
          </p:nvSpPr>
          <p:spPr>
            <a:xfrm rot="-2700000">
              <a:off x="2240338" y="4319886"/>
              <a:ext cx="518026" cy="518026"/>
            </a:xfrm>
            <a:prstGeom prst="mathMultiply">
              <a:avLst>
                <a:gd fmla="val 8541" name="adj1"/>
              </a:avLst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8" name="Shape 1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9" name="Google Shape;1629;p97"/>
          <p:cNvSpPr/>
          <p:nvPr/>
        </p:nvSpPr>
        <p:spPr>
          <a:xfrm>
            <a:off x="1543440" y="2380787"/>
            <a:ext cx="1380900" cy="1380900"/>
          </a:xfrm>
          <a:prstGeom prst="ellipse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0" name="Google Shape;1630;p97"/>
          <p:cNvSpPr/>
          <p:nvPr/>
        </p:nvSpPr>
        <p:spPr>
          <a:xfrm>
            <a:off x="1062986" y="1722732"/>
            <a:ext cx="1380900" cy="1380900"/>
          </a:xfrm>
          <a:prstGeom prst="ellipse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1" name="Google Shape;1631;p97"/>
          <p:cNvSpPr txBox="1"/>
          <p:nvPr/>
        </p:nvSpPr>
        <p:spPr>
          <a:xfrm>
            <a:off x="324000" y="657600"/>
            <a:ext cx="8496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An angle bisector can be constructed in many different ways.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2" name="Google Shape;1632;p9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Understanding properties of constructions</a:t>
            </a:r>
            <a:endParaRPr/>
          </a:p>
        </p:txBody>
      </p:sp>
      <p:grpSp>
        <p:nvGrpSpPr>
          <p:cNvPr id="1633" name="Google Shape;1633;p97"/>
          <p:cNvGrpSpPr/>
          <p:nvPr/>
        </p:nvGrpSpPr>
        <p:grpSpPr>
          <a:xfrm flipH="1">
            <a:off x="1281524" y="2933718"/>
            <a:ext cx="2059626" cy="277200"/>
            <a:chOff x="3166129" y="2845250"/>
            <a:chExt cx="5930393" cy="277200"/>
          </a:xfrm>
        </p:grpSpPr>
        <p:cxnSp>
          <p:nvCxnSpPr>
            <p:cNvPr id="1634" name="Google Shape;1634;p97"/>
            <p:cNvCxnSpPr/>
            <p:nvPr/>
          </p:nvCxnSpPr>
          <p:spPr>
            <a:xfrm>
              <a:off x="3166129" y="2983850"/>
              <a:ext cx="5251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635" name="Google Shape;1635;p97"/>
            <p:cNvSpPr txBox="1"/>
            <p:nvPr/>
          </p:nvSpPr>
          <p:spPr>
            <a:xfrm>
              <a:off x="8417322" y="2845250"/>
              <a:ext cx="6792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636" name="Google Shape;1636;p97"/>
          <p:cNvSpPr txBox="1"/>
          <p:nvPr/>
        </p:nvSpPr>
        <p:spPr>
          <a:xfrm>
            <a:off x="3803925" y="1732625"/>
            <a:ext cx="4306500" cy="15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This angle bisector involves constructing a rhombus from three congruent circles.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One of the diagonals of the rhombus bisects the angle.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637" name="Google Shape;1637;p97"/>
          <p:cNvCxnSpPr/>
          <p:nvPr/>
        </p:nvCxnSpPr>
        <p:spPr>
          <a:xfrm rot="6479631">
            <a:off x="906979" y="2214944"/>
            <a:ext cx="1823803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38" name="Google Shape;1638;p97"/>
          <p:cNvSpPr/>
          <p:nvPr/>
        </p:nvSpPr>
        <p:spPr>
          <a:xfrm>
            <a:off x="853928" y="2380787"/>
            <a:ext cx="1380900" cy="1380900"/>
          </a:xfrm>
          <a:prstGeom prst="ellipse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9" name="Google Shape;1639;p97"/>
          <p:cNvSpPr/>
          <p:nvPr/>
        </p:nvSpPr>
        <p:spPr>
          <a:xfrm>
            <a:off x="1543350" y="2408250"/>
            <a:ext cx="901575" cy="667250"/>
          </a:xfrm>
          <a:custGeom>
            <a:rect b="b" l="l" r="r" t="t"/>
            <a:pathLst>
              <a:path extrusionOk="0" h="26690" w="36063">
                <a:moveTo>
                  <a:pt x="0" y="26486"/>
                </a:moveTo>
                <a:lnTo>
                  <a:pt x="8354" y="0"/>
                </a:lnTo>
                <a:lnTo>
                  <a:pt x="36063" y="0"/>
                </a:lnTo>
                <a:lnTo>
                  <a:pt x="27709" y="26690"/>
                </a:lnTo>
                <a:close/>
              </a:path>
            </a:pathLst>
          </a:custGeom>
          <a:noFill/>
          <a:ln cap="flat" cmpd="sng" w="28575">
            <a:solidFill>
              <a:srgbClr val="D02AA7"/>
            </a:solidFill>
            <a:prstDash val="solid"/>
            <a:round/>
            <a:headEnd len="med" w="med" type="none"/>
            <a:tailEnd len="med" w="med" type="none"/>
          </a:ln>
        </p:spPr>
      </p:sp>
      <p:cxnSp>
        <p:nvCxnSpPr>
          <p:cNvPr id="1640" name="Google Shape;1640;p97"/>
          <p:cNvCxnSpPr/>
          <p:nvPr/>
        </p:nvCxnSpPr>
        <p:spPr>
          <a:xfrm rot="8640062">
            <a:off x="1205966" y="2634771"/>
            <a:ext cx="1823671" cy="0"/>
          </a:xfrm>
          <a:prstGeom prst="straightConnector1">
            <a:avLst/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4" name="Shape 1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5" name="Google Shape;1645;p98"/>
          <p:cNvSpPr txBox="1"/>
          <p:nvPr/>
        </p:nvSpPr>
        <p:spPr>
          <a:xfrm>
            <a:off x="4086575" y="1110225"/>
            <a:ext cx="44316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This angle bisector involves constructing a kite with only two circles, each of different size but with the same centre.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6" name="Google Shape;1646;p98"/>
          <p:cNvSpPr/>
          <p:nvPr/>
        </p:nvSpPr>
        <p:spPr>
          <a:xfrm>
            <a:off x="361651" y="1507525"/>
            <a:ext cx="3127500" cy="3127500"/>
          </a:xfrm>
          <a:prstGeom prst="ellipse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7" name="Google Shape;1647;p98"/>
          <p:cNvSpPr txBox="1"/>
          <p:nvPr/>
        </p:nvSpPr>
        <p:spPr>
          <a:xfrm>
            <a:off x="324000" y="657600"/>
            <a:ext cx="8496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An angle bisector can be constructed in many different ways.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8" name="Google Shape;1648;p9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Understanding properties of constructions</a:t>
            </a:r>
            <a:endParaRPr/>
          </a:p>
        </p:txBody>
      </p:sp>
      <p:grpSp>
        <p:nvGrpSpPr>
          <p:cNvPr id="1649" name="Google Shape;1649;p98"/>
          <p:cNvGrpSpPr/>
          <p:nvPr/>
        </p:nvGrpSpPr>
        <p:grpSpPr>
          <a:xfrm flipH="1">
            <a:off x="1662524" y="2933718"/>
            <a:ext cx="2059626" cy="277200"/>
            <a:chOff x="3166129" y="2845250"/>
            <a:chExt cx="5930393" cy="277200"/>
          </a:xfrm>
        </p:grpSpPr>
        <p:cxnSp>
          <p:nvCxnSpPr>
            <p:cNvPr id="1650" name="Google Shape;1650;p98"/>
            <p:cNvCxnSpPr/>
            <p:nvPr/>
          </p:nvCxnSpPr>
          <p:spPr>
            <a:xfrm>
              <a:off x="3166129" y="2983850"/>
              <a:ext cx="5251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651" name="Google Shape;1651;p98"/>
            <p:cNvSpPr txBox="1"/>
            <p:nvPr/>
          </p:nvSpPr>
          <p:spPr>
            <a:xfrm>
              <a:off x="8417322" y="2845250"/>
              <a:ext cx="6792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cxnSp>
        <p:nvCxnSpPr>
          <p:cNvPr id="1652" name="Google Shape;1652;p98"/>
          <p:cNvCxnSpPr/>
          <p:nvPr/>
        </p:nvCxnSpPr>
        <p:spPr>
          <a:xfrm rot="6479631">
            <a:off x="1287979" y="2214944"/>
            <a:ext cx="1823803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53" name="Google Shape;1653;p98"/>
          <p:cNvSpPr/>
          <p:nvPr/>
        </p:nvSpPr>
        <p:spPr>
          <a:xfrm>
            <a:off x="761999" y="1907850"/>
            <a:ext cx="2326800" cy="2326800"/>
          </a:xfrm>
          <a:prstGeom prst="ellipse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654" name="Google Shape;1654;p98"/>
          <p:cNvGrpSpPr/>
          <p:nvPr/>
        </p:nvGrpSpPr>
        <p:grpSpPr>
          <a:xfrm>
            <a:off x="2282851" y="1583550"/>
            <a:ext cx="1206300" cy="1487725"/>
            <a:chOff x="2282851" y="1583550"/>
            <a:chExt cx="1206300" cy="1487725"/>
          </a:xfrm>
        </p:grpSpPr>
        <p:cxnSp>
          <p:nvCxnSpPr>
            <p:cNvPr id="1655" name="Google Shape;1655;p98"/>
            <p:cNvCxnSpPr>
              <a:endCxn id="1646" idx="6"/>
            </p:cNvCxnSpPr>
            <p:nvPr/>
          </p:nvCxnSpPr>
          <p:spPr>
            <a:xfrm>
              <a:off x="2282851" y="1966375"/>
              <a:ext cx="1206300" cy="1104900"/>
            </a:xfrm>
            <a:prstGeom prst="straightConnector1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56" name="Google Shape;1656;p98"/>
            <p:cNvCxnSpPr>
              <a:endCxn id="1653" idx="6"/>
            </p:cNvCxnSpPr>
            <p:nvPr/>
          </p:nvCxnSpPr>
          <p:spPr>
            <a:xfrm>
              <a:off x="2407200" y="1583550"/>
              <a:ext cx="681600" cy="1487700"/>
            </a:xfrm>
            <a:prstGeom prst="straightConnector1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657" name="Google Shape;1657;p98"/>
          <p:cNvGrpSpPr/>
          <p:nvPr/>
        </p:nvGrpSpPr>
        <p:grpSpPr>
          <a:xfrm>
            <a:off x="4086575" y="2626100"/>
            <a:ext cx="4431600" cy="1712250"/>
            <a:chOff x="4086575" y="2397500"/>
            <a:chExt cx="4431600" cy="1712250"/>
          </a:xfrm>
        </p:grpSpPr>
        <p:sp>
          <p:nvSpPr>
            <p:cNvPr id="1658" name="Google Shape;1658;p98"/>
            <p:cNvSpPr txBox="1"/>
            <p:nvPr/>
          </p:nvSpPr>
          <p:spPr>
            <a:xfrm>
              <a:off x="4452475" y="3001550"/>
              <a:ext cx="4065600" cy="110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an intersection between the smaller 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   circle and a leg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an intersection between the larger 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   circle and the other leg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59" name="Google Shape;1659;p98"/>
            <p:cNvSpPr txBox="1"/>
            <p:nvPr/>
          </p:nvSpPr>
          <p:spPr>
            <a:xfrm>
              <a:off x="4086575" y="2397500"/>
              <a:ext cx="44316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Two line segments are drawn. Each line segment joins: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3" name="Shape 1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4" name="Google Shape;1664;p99"/>
          <p:cNvSpPr txBox="1"/>
          <p:nvPr/>
        </p:nvSpPr>
        <p:spPr>
          <a:xfrm>
            <a:off x="4086575" y="1415025"/>
            <a:ext cx="4431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fourth point of the kite is the intersection of these two line segments.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5" name="Google Shape;1665;p99"/>
          <p:cNvSpPr/>
          <p:nvPr/>
        </p:nvSpPr>
        <p:spPr>
          <a:xfrm>
            <a:off x="361651" y="1507525"/>
            <a:ext cx="3127500" cy="3127500"/>
          </a:xfrm>
          <a:prstGeom prst="ellipse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666" name="Google Shape;1666;p99"/>
          <p:cNvCxnSpPr/>
          <p:nvPr/>
        </p:nvCxnSpPr>
        <p:spPr>
          <a:xfrm rot="8640062">
            <a:off x="1586966" y="2634771"/>
            <a:ext cx="1823671" cy="0"/>
          </a:xfrm>
          <a:prstGeom prst="straightConnector1">
            <a:avLst/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67" name="Google Shape;1667;p99"/>
          <p:cNvSpPr txBox="1"/>
          <p:nvPr/>
        </p:nvSpPr>
        <p:spPr>
          <a:xfrm>
            <a:off x="324000" y="657600"/>
            <a:ext cx="8496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An angle bisector can be constructed in many different ways.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8" name="Google Shape;1668;p9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Understanding properties of constructions</a:t>
            </a:r>
            <a:endParaRPr/>
          </a:p>
        </p:txBody>
      </p:sp>
      <p:grpSp>
        <p:nvGrpSpPr>
          <p:cNvPr id="1669" name="Google Shape;1669;p99"/>
          <p:cNvGrpSpPr/>
          <p:nvPr/>
        </p:nvGrpSpPr>
        <p:grpSpPr>
          <a:xfrm flipH="1">
            <a:off x="1662524" y="2933718"/>
            <a:ext cx="2059626" cy="277200"/>
            <a:chOff x="3166129" y="2845250"/>
            <a:chExt cx="5930393" cy="277200"/>
          </a:xfrm>
        </p:grpSpPr>
        <p:cxnSp>
          <p:nvCxnSpPr>
            <p:cNvPr id="1670" name="Google Shape;1670;p99"/>
            <p:cNvCxnSpPr/>
            <p:nvPr/>
          </p:nvCxnSpPr>
          <p:spPr>
            <a:xfrm>
              <a:off x="3166129" y="2983850"/>
              <a:ext cx="5251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671" name="Google Shape;1671;p99"/>
            <p:cNvSpPr txBox="1"/>
            <p:nvPr/>
          </p:nvSpPr>
          <p:spPr>
            <a:xfrm>
              <a:off x="8417322" y="2845250"/>
              <a:ext cx="6792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cxnSp>
        <p:nvCxnSpPr>
          <p:cNvPr id="1672" name="Google Shape;1672;p99"/>
          <p:cNvCxnSpPr/>
          <p:nvPr/>
        </p:nvCxnSpPr>
        <p:spPr>
          <a:xfrm rot="6479631">
            <a:off x="1287979" y="2214944"/>
            <a:ext cx="1823803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73" name="Google Shape;1673;p99"/>
          <p:cNvSpPr/>
          <p:nvPr/>
        </p:nvSpPr>
        <p:spPr>
          <a:xfrm>
            <a:off x="761999" y="1907850"/>
            <a:ext cx="2326800" cy="2326800"/>
          </a:xfrm>
          <a:prstGeom prst="ellipse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674" name="Google Shape;1674;p99"/>
          <p:cNvGrpSpPr/>
          <p:nvPr/>
        </p:nvGrpSpPr>
        <p:grpSpPr>
          <a:xfrm>
            <a:off x="2282851" y="1583550"/>
            <a:ext cx="1206300" cy="1487725"/>
            <a:chOff x="2282851" y="1583550"/>
            <a:chExt cx="1206300" cy="1487725"/>
          </a:xfrm>
        </p:grpSpPr>
        <p:cxnSp>
          <p:nvCxnSpPr>
            <p:cNvPr id="1675" name="Google Shape;1675;p99"/>
            <p:cNvCxnSpPr>
              <a:endCxn id="1665" idx="6"/>
            </p:cNvCxnSpPr>
            <p:nvPr/>
          </p:nvCxnSpPr>
          <p:spPr>
            <a:xfrm>
              <a:off x="2282851" y="1966375"/>
              <a:ext cx="1206300" cy="1104900"/>
            </a:xfrm>
            <a:prstGeom prst="straightConnector1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76" name="Google Shape;1676;p99"/>
            <p:cNvCxnSpPr>
              <a:endCxn id="1673" idx="6"/>
            </p:cNvCxnSpPr>
            <p:nvPr/>
          </p:nvCxnSpPr>
          <p:spPr>
            <a:xfrm>
              <a:off x="2407200" y="1583550"/>
              <a:ext cx="681600" cy="1487700"/>
            </a:xfrm>
            <a:prstGeom prst="straightConnector1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677" name="Google Shape;1677;p99"/>
          <p:cNvSpPr/>
          <p:nvPr/>
        </p:nvSpPr>
        <p:spPr>
          <a:xfrm>
            <a:off x="1918175" y="1962425"/>
            <a:ext cx="1172750" cy="1115325"/>
          </a:xfrm>
          <a:custGeom>
            <a:rect b="b" l="l" r="r" t="t"/>
            <a:pathLst>
              <a:path extrusionOk="0" h="44613" w="46910">
                <a:moveTo>
                  <a:pt x="0" y="44594"/>
                </a:moveTo>
                <a:lnTo>
                  <a:pt x="14457" y="0"/>
                </a:lnTo>
                <a:lnTo>
                  <a:pt x="35172" y="18405"/>
                </a:lnTo>
                <a:lnTo>
                  <a:pt x="46910" y="44613"/>
                </a:lnTo>
                <a:close/>
              </a:path>
            </a:pathLst>
          </a:custGeom>
          <a:noFill/>
          <a:ln cap="flat" cmpd="sng" w="38100">
            <a:solidFill>
              <a:srgbClr val="D02AA7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678" name="Google Shape;1678;p99"/>
          <p:cNvSpPr txBox="1"/>
          <p:nvPr/>
        </p:nvSpPr>
        <p:spPr>
          <a:xfrm>
            <a:off x="4086575" y="2368500"/>
            <a:ext cx="4431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diagonal that bisects the kite also bisects the angle.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2" name="Shape 1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3" name="Google Shape;1683;p100"/>
          <p:cNvSpPr/>
          <p:nvPr/>
        </p:nvSpPr>
        <p:spPr>
          <a:xfrm>
            <a:off x="646076" y="1511354"/>
            <a:ext cx="2566500" cy="2566500"/>
          </a:xfrm>
          <a:prstGeom prst="ellipse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4" name="Google Shape;1684;p10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Understanding properties of constructions</a:t>
            </a:r>
            <a:endParaRPr/>
          </a:p>
        </p:txBody>
      </p:sp>
      <p:grpSp>
        <p:nvGrpSpPr>
          <p:cNvPr id="1685" name="Google Shape;1685;p100"/>
          <p:cNvGrpSpPr/>
          <p:nvPr/>
        </p:nvGrpSpPr>
        <p:grpSpPr>
          <a:xfrm flipH="1">
            <a:off x="1757774" y="2774107"/>
            <a:ext cx="1983426" cy="277200"/>
            <a:chOff x="3166129" y="2961364"/>
            <a:chExt cx="5710986" cy="277200"/>
          </a:xfrm>
        </p:grpSpPr>
        <p:cxnSp>
          <p:nvCxnSpPr>
            <p:cNvPr id="1686" name="Google Shape;1686;p100"/>
            <p:cNvCxnSpPr/>
            <p:nvPr/>
          </p:nvCxnSpPr>
          <p:spPr>
            <a:xfrm>
              <a:off x="3166129" y="2983850"/>
              <a:ext cx="5251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687" name="Google Shape;1687;p100"/>
            <p:cNvSpPr txBox="1"/>
            <p:nvPr/>
          </p:nvSpPr>
          <p:spPr>
            <a:xfrm>
              <a:off x="8197915" y="2961364"/>
              <a:ext cx="6792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cxnSp>
        <p:nvCxnSpPr>
          <p:cNvPr id="1688" name="Google Shape;1688;p100"/>
          <p:cNvCxnSpPr/>
          <p:nvPr/>
        </p:nvCxnSpPr>
        <p:spPr>
          <a:xfrm rot="8759624">
            <a:off x="1772495" y="2284462"/>
            <a:ext cx="1824298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89" name="Google Shape;1689;p100"/>
          <p:cNvSpPr/>
          <p:nvPr/>
        </p:nvSpPr>
        <p:spPr>
          <a:xfrm>
            <a:off x="1275824" y="2141095"/>
            <a:ext cx="1307100" cy="1307100"/>
          </a:xfrm>
          <a:prstGeom prst="ellipse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690" name="Google Shape;1690;p100"/>
          <p:cNvGrpSpPr/>
          <p:nvPr/>
        </p:nvGrpSpPr>
        <p:grpSpPr>
          <a:xfrm>
            <a:off x="2475176" y="2080945"/>
            <a:ext cx="737400" cy="713700"/>
            <a:chOff x="2475176" y="2385745"/>
            <a:chExt cx="737400" cy="713700"/>
          </a:xfrm>
        </p:grpSpPr>
        <p:cxnSp>
          <p:nvCxnSpPr>
            <p:cNvPr id="1691" name="Google Shape;1691;p100"/>
            <p:cNvCxnSpPr>
              <a:endCxn id="1683" idx="6"/>
            </p:cNvCxnSpPr>
            <p:nvPr/>
          </p:nvCxnSpPr>
          <p:spPr>
            <a:xfrm>
              <a:off x="2475176" y="2740904"/>
              <a:ext cx="737400" cy="358500"/>
            </a:xfrm>
            <a:prstGeom prst="straightConnector1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92" name="Google Shape;1692;p100"/>
            <p:cNvCxnSpPr>
              <a:endCxn id="1689" idx="6"/>
            </p:cNvCxnSpPr>
            <p:nvPr/>
          </p:nvCxnSpPr>
          <p:spPr>
            <a:xfrm flipH="1">
              <a:off x="2582924" y="2385745"/>
              <a:ext cx="411900" cy="713700"/>
            </a:xfrm>
            <a:prstGeom prst="straightConnector1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693" name="Google Shape;1693;p100"/>
          <p:cNvSpPr txBox="1"/>
          <p:nvPr/>
        </p:nvSpPr>
        <p:spPr>
          <a:xfrm>
            <a:off x="4086575" y="729225"/>
            <a:ext cx="4431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Which </a:t>
            </a:r>
            <a:r>
              <a:rPr lang="en-GB" sz="1800">
                <a:solidFill>
                  <a:schemeClr val="accent2"/>
                </a:solidFill>
                <a:latin typeface="Lexend"/>
                <a:ea typeface="Lexend"/>
                <a:cs typeface="Lexend"/>
                <a:sym typeface="Lexend"/>
              </a:rPr>
              <a:t>two pairs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of points need to be joined with a line segment to find the fourth point in the kite?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4" name="Google Shape;1694;p100"/>
          <p:cNvSpPr txBox="1"/>
          <p:nvPr/>
        </p:nvSpPr>
        <p:spPr>
          <a:xfrm>
            <a:off x="2320189" y="2146194"/>
            <a:ext cx="337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5" name="Google Shape;1695;p100"/>
          <p:cNvSpPr txBox="1"/>
          <p:nvPr/>
        </p:nvSpPr>
        <p:spPr>
          <a:xfrm>
            <a:off x="2851164" y="1774294"/>
            <a:ext cx="337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6" name="Google Shape;1696;p100"/>
          <p:cNvSpPr txBox="1"/>
          <p:nvPr/>
        </p:nvSpPr>
        <p:spPr>
          <a:xfrm>
            <a:off x="3125966" y="2764055"/>
            <a:ext cx="337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7" name="Google Shape;1697;p100"/>
          <p:cNvSpPr txBox="1"/>
          <p:nvPr/>
        </p:nvSpPr>
        <p:spPr>
          <a:xfrm>
            <a:off x="2504246" y="2759397"/>
            <a:ext cx="337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G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8" name="Google Shape;1698;p100"/>
          <p:cNvSpPr txBox="1"/>
          <p:nvPr/>
        </p:nvSpPr>
        <p:spPr>
          <a:xfrm>
            <a:off x="3682541" y="2757069"/>
            <a:ext cx="337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9" name="Google Shape;1699;p100"/>
          <p:cNvSpPr txBox="1"/>
          <p:nvPr/>
        </p:nvSpPr>
        <p:spPr>
          <a:xfrm>
            <a:off x="3362602" y="1604294"/>
            <a:ext cx="337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0" name="Google Shape;1700;p100"/>
          <p:cNvSpPr txBox="1"/>
          <p:nvPr/>
        </p:nvSpPr>
        <p:spPr>
          <a:xfrm>
            <a:off x="4824000" y="1744350"/>
            <a:ext cx="1701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BF and CG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4" name="Shape 1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5" name="Google Shape;1705;p101"/>
          <p:cNvSpPr txBox="1"/>
          <p:nvPr/>
        </p:nvSpPr>
        <p:spPr>
          <a:xfrm>
            <a:off x="324000" y="657600"/>
            <a:ext cx="42480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 Accurately construct the perpendicular bisector to XY without any of your construction arcs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and circles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going outside the box.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6" name="Google Shape;1706;p10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Understanding properties of constructions</a:t>
            </a:r>
            <a:endParaRPr/>
          </a:p>
        </p:txBody>
      </p:sp>
      <p:sp>
        <p:nvSpPr>
          <p:cNvPr id="1707" name="Google Shape;1707;p101"/>
          <p:cNvSpPr/>
          <p:nvPr/>
        </p:nvSpPr>
        <p:spPr>
          <a:xfrm>
            <a:off x="463050" y="1944850"/>
            <a:ext cx="3718800" cy="26214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708" name="Google Shape;1708;p101"/>
          <p:cNvGrpSpPr/>
          <p:nvPr/>
        </p:nvGrpSpPr>
        <p:grpSpPr>
          <a:xfrm flipH="1" rot="900126">
            <a:off x="1120979" y="3871722"/>
            <a:ext cx="2251141" cy="295641"/>
            <a:chOff x="5292934" y="2983850"/>
            <a:chExt cx="3266356" cy="295650"/>
          </a:xfrm>
        </p:grpSpPr>
        <p:cxnSp>
          <p:nvCxnSpPr>
            <p:cNvPr id="1709" name="Google Shape;1709;p101"/>
            <p:cNvCxnSpPr/>
            <p:nvPr/>
          </p:nvCxnSpPr>
          <p:spPr>
            <a:xfrm>
              <a:off x="5433500" y="2983850"/>
              <a:ext cx="29838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710" name="Google Shape;1710;p101"/>
            <p:cNvSpPr txBox="1"/>
            <p:nvPr/>
          </p:nvSpPr>
          <p:spPr>
            <a:xfrm>
              <a:off x="5292934" y="3002300"/>
              <a:ext cx="2823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Y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11" name="Google Shape;1711;p101"/>
            <p:cNvSpPr txBox="1"/>
            <p:nvPr/>
          </p:nvSpPr>
          <p:spPr>
            <a:xfrm>
              <a:off x="8276991" y="3002300"/>
              <a:ext cx="2823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X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712" name="Google Shape;1712;p101"/>
          <p:cNvSpPr txBox="1"/>
          <p:nvPr/>
        </p:nvSpPr>
        <p:spPr>
          <a:xfrm>
            <a:off x="4824000" y="610375"/>
            <a:ext cx="39960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 Accurately construct the angle bisector to this 290° angle using the circle given and measure the size of the bisected angle.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3" name="Google Shape;1713;p101"/>
          <p:cNvSpPr/>
          <p:nvPr/>
        </p:nvSpPr>
        <p:spPr>
          <a:xfrm>
            <a:off x="4824000" y="1741500"/>
            <a:ext cx="3539400" cy="29265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714" name="Google Shape;1714;p101"/>
          <p:cNvCxnSpPr/>
          <p:nvPr/>
        </p:nvCxnSpPr>
        <p:spPr>
          <a:xfrm rot="10800000">
            <a:off x="5081750" y="3188225"/>
            <a:ext cx="16266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15" name="Google Shape;1715;p101"/>
          <p:cNvCxnSpPr/>
          <p:nvPr/>
        </p:nvCxnSpPr>
        <p:spPr>
          <a:xfrm rot="10800000">
            <a:off x="6248355" y="1786990"/>
            <a:ext cx="457200" cy="14106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16" name="Google Shape;1716;p101"/>
          <p:cNvSpPr/>
          <p:nvPr/>
        </p:nvSpPr>
        <p:spPr>
          <a:xfrm>
            <a:off x="5310095" y="1798694"/>
            <a:ext cx="2774400" cy="2774400"/>
          </a:xfrm>
          <a:prstGeom prst="ellipse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0" name="Shape 1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1" name="Google Shape;1721;p10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Understanding properties of constructions</a:t>
            </a:r>
            <a:endParaRPr/>
          </a:p>
        </p:txBody>
      </p:sp>
      <p:sp>
        <p:nvSpPr>
          <p:cNvPr id="1722" name="Google Shape;1722;p102"/>
          <p:cNvSpPr txBox="1"/>
          <p:nvPr/>
        </p:nvSpPr>
        <p:spPr>
          <a:xfrm>
            <a:off x="324000" y="657600"/>
            <a:ext cx="8496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 The area of a triangle can be found using the formula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3" name="Google Shape;1723;p102"/>
          <p:cNvSpPr txBox="1"/>
          <p:nvPr/>
        </p:nvSpPr>
        <p:spPr>
          <a:xfrm>
            <a:off x="2457600" y="1172296"/>
            <a:ext cx="802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 = 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}{2}&quot;&gt;&lt;mfrac&gt;&lt;mn&gt;1&lt;/mn&gt;&lt;mn&gt;2&lt;/mn&gt;&lt;/mfrac&gt;&lt;/math&gt;" id="1724" name="Google Shape;1724;p102" title="one hal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60201" y="1033690"/>
            <a:ext cx="174432" cy="568800"/>
          </a:xfrm>
          <a:prstGeom prst="rect">
            <a:avLst/>
          </a:prstGeom>
          <a:noFill/>
          <a:ln>
            <a:noFill/>
          </a:ln>
        </p:spPr>
      </p:pic>
      <p:sp>
        <p:nvSpPr>
          <p:cNvPr id="1725" name="Google Shape;1725;p102"/>
          <p:cNvSpPr txBox="1"/>
          <p:nvPr/>
        </p:nvSpPr>
        <p:spPr>
          <a:xfrm>
            <a:off x="3510925" y="1172296"/>
            <a:ext cx="3289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 base × perpendicular height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6" name="Google Shape;1726;p102"/>
          <p:cNvSpPr txBox="1"/>
          <p:nvPr/>
        </p:nvSpPr>
        <p:spPr>
          <a:xfrm>
            <a:off x="324000" y="1720600"/>
            <a:ext cx="8496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By performing the appropriate construction, accurately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measure the perpendicular height of each triangle to find its area.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27" name="Google Shape;1727;p102"/>
          <p:cNvPicPr preferRelativeResize="0"/>
          <p:nvPr/>
        </p:nvPicPr>
        <p:blipFill rotWithShape="1">
          <a:blip r:embed="rId4">
            <a:alphaModFix/>
          </a:blip>
          <a:srcRect b="0" l="0" r="81928" t="0"/>
          <a:stretch/>
        </p:blipFill>
        <p:spPr>
          <a:xfrm>
            <a:off x="865425" y="2741350"/>
            <a:ext cx="1535349" cy="15786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28" name="Google Shape;1728;p102"/>
          <p:cNvGrpSpPr/>
          <p:nvPr/>
        </p:nvGrpSpPr>
        <p:grpSpPr>
          <a:xfrm>
            <a:off x="890994" y="4381860"/>
            <a:ext cx="1454303" cy="329885"/>
            <a:chOff x="9097720" y="5023649"/>
            <a:chExt cx="2004000" cy="446998"/>
          </a:xfrm>
        </p:grpSpPr>
        <p:cxnSp>
          <p:nvCxnSpPr>
            <p:cNvPr id="1729" name="Google Shape;1729;p102"/>
            <p:cNvCxnSpPr/>
            <p:nvPr/>
          </p:nvCxnSpPr>
          <p:spPr>
            <a:xfrm>
              <a:off x="9097720" y="5023649"/>
              <a:ext cx="2004000" cy="0"/>
            </a:xfrm>
            <a:prstGeom prst="straightConnector1">
              <a:avLst/>
            </a:prstGeom>
            <a:noFill/>
            <a:ln cap="flat" cmpd="sng" w="28575">
              <a:solidFill>
                <a:schemeClr val="accent2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730" name="Google Shape;1730;p102"/>
            <p:cNvSpPr txBox="1"/>
            <p:nvPr/>
          </p:nvSpPr>
          <p:spPr>
            <a:xfrm rot="25816">
              <a:off x="9360649" y="5089345"/>
              <a:ext cx="1478142" cy="3762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base</a:t>
              </a:r>
              <a:endParaRPr b="0" i="0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731" name="Google Shape;1731;p102"/>
          <p:cNvPicPr preferRelativeResize="0"/>
          <p:nvPr/>
        </p:nvPicPr>
        <p:blipFill rotWithShape="1">
          <a:blip r:embed="rId4">
            <a:alphaModFix/>
          </a:blip>
          <a:srcRect b="0" l="27935" r="45212" t="27166"/>
          <a:stretch/>
        </p:blipFill>
        <p:spPr>
          <a:xfrm rot="1799999">
            <a:off x="3162691" y="2663079"/>
            <a:ext cx="2281422" cy="11497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32" name="Google Shape;1732;p102"/>
          <p:cNvGrpSpPr/>
          <p:nvPr/>
        </p:nvGrpSpPr>
        <p:grpSpPr>
          <a:xfrm rot="1800081">
            <a:off x="2860943" y="3776611"/>
            <a:ext cx="2115737" cy="329874"/>
            <a:chOff x="9097720" y="5023649"/>
            <a:chExt cx="2004000" cy="446998"/>
          </a:xfrm>
        </p:grpSpPr>
        <p:cxnSp>
          <p:nvCxnSpPr>
            <p:cNvPr id="1733" name="Google Shape;1733;p102"/>
            <p:cNvCxnSpPr/>
            <p:nvPr/>
          </p:nvCxnSpPr>
          <p:spPr>
            <a:xfrm>
              <a:off x="9097720" y="5023649"/>
              <a:ext cx="2004000" cy="0"/>
            </a:xfrm>
            <a:prstGeom prst="straightConnector1">
              <a:avLst/>
            </a:prstGeom>
            <a:noFill/>
            <a:ln cap="flat" cmpd="sng" w="28575">
              <a:solidFill>
                <a:schemeClr val="accent2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734" name="Google Shape;1734;p102"/>
            <p:cNvSpPr txBox="1"/>
            <p:nvPr/>
          </p:nvSpPr>
          <p:spPr>
            <a:xfrm rot="25816">
              <a:off x="9360649" y="5089345"/>
              <a:ext cx="1478142" cy="3762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base</a:t>
              </a:r>
              <a:endParaRPr b="0" i="0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735" name="Google Shape;1735;p102"/>
          <p:cNvPicPr preferRelativeResize="0"/>
          <p:nvPr/>
        </p:nvPicPr>
        <p:blipFill rotWithShape="1">
          <a:blip r:embed="rId4">
            <a:alphaModFix/>
          </a:blip>
          <a:srcRect b="0" l="65367" r="474" t="44395"/>
          <a:stretch/>
        </p:blipFill>
        <p:spPr>
          <a:xfrm rot="-1799999">
            <a:off x="5582359" y="2858831"/>
            <a:ext cx="2902047" cy="8778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36" name="Google Shape;1736;p102"/>
          <p:cNvGrpSpPr/>
          <p:nvPr/>
        </p:nvGrpSpPr>
        <p:grpSpPr>
          <a:xfrm rot="-1799941">
            <a:off x="5990551" y="3893542"/>
            <a:ext cx="2112679" cy="329874"/>
            <a:chOff x="9097720" y="5023649"/>
            <a:chExt cx="2004000" cy="446998"/>
          </a:xfrm>
        </p:grpSpPr>
        <p:cxnSp>
          <p:nvCxnSpPr>
            <p:cNvPr id="1737" name="Google Shape;1737;p102"/>
            <p:cNvCxnSpPr/>
            <p:nvPr/>
          </p:nvCxnSpPr>
          <p:spPr>
            <a:xfrm>
              <a:off x="9097720" y="5023649"/>
              <a:ext cx="2004000" cy="0"/>
            </a:xfrm>
            <a:prstGeom prst="straightConnector1">
              <a:avLst/>
            </a:prstGeom>
            <a:noFill/>
            <a:ln cap="flat" cmpd="sng" w="28575">
              <a:solidFill>
                <a:schemeClr val="accent2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738" name="Google Shape;1738;p102"/>
            <p:cNvSpPr txBox="1"/>
            <p:nvPr/>
          </p:nvSpPr>
          <p:spPr>
            <a:xfrm rot="25816">
              <a:off x="9360649" y="5089345"/>
              <a:ext cx="1478142" cy="3762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base</a:t>
              </a:r>
              <a:endParaRPr b="0" i="0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739" name="Google Shape;1739;p102"/>
          <p:cNvSpPr txBox="1"/>
          <p:nvPr/>
        </p:nvSpPr>
        <p:spPr>
          <a:xfrm>
            <a:off x="781200" y="2774950"/>
            <a:ext cx="33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 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0" name="Google Shape;1740;p102"/>
          <p:cNvSpPr txBox="1"/>
          <p:nvPr/>
        </p:nvSpPr>
        <p:spPr>
          <a:xfrm>
            <a:off x="3709150" y="2433150"/>
            <a:ext cx="33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 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1" name="Google Shape;1741;p102"/>
          <p:cNvSpPr txBox="1"/>
          <p:nvPr/>
        </p:nvSpPr>
        <p:spPr>
          <a:xfrm>
            <a:off x="7648700" y="2233675"/>
            <a:ext cx="33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 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5" name="Shape 1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6" name="Google Shape;1746;p103"/>
          <p:cNvSpPr/>
          <p:nvPr/>
        </p:nvSpPr>
        <p:spPr>
          <a:xfrm>
            <a:off x="6240650" y="2700000"/>
            <a:ext cx="956700" cy="956700"/>
          </a:xfrm>
          <a:prstGeom prst="arc">
            <a:avLst>
              <a:gd fmla="val 15038915" name="adj1"/>
              <a:gd fmla="val 2253916" name="adj2"/>
            </a:avLst>
          </a:prstGeom>
          <a:solidFill>
            <a:schemeClr val="lt1"/>
          </a:solidFill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7" name="Google Shape;1747;p103"/>
          <p:cNvSpPr txBox="1"/>
          <p:nvPr/>
        </p:nvSpPr>
        <p:spPr>
          <a:xfrm>
            <a:off x="324000" y="657600"/>
            <a:ext cx="42480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 Accurately construct the perpendicular bisector to XY without any of your construction arcs and circles going outside the box.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8" name="Google Shape;1748;p103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Understanding properties of constructions</a:t>
            </a:r>
            <a:endParaRPr/>
          </a:p>
        </p:txBody>
      </p:sp>
      <p:sp>
        <p:nvSpPr>
          <p:cNvPr id="1749" name="Google Shape;1749;p103"/>
          <p:cNvSpPr/>
          <p:nvPr/>
        </p:nvSpPr>
        <p:spPr>
          <a:xfrm>
            <a:off x="463050" y="1944850"/>
            <a:ext cx="3718800" cy="26214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750" name="Google Shape;1750;p103"/>
          <p:cNvGrpSpPr/>
          <p:nvPr/>
        </p:nvGrpSpPr>
        <p:grpSpPr>
          <a:xfrm flipH="1" rot="900126">
            <a:off x="1120979" y="3871722"/>
            <a:ext cx="2251141" cy="295641"/>
            <a:chOff x="5292934" y="2983850"/>
            <a:chExt cx="3266356" cy="295650"/>
          </a:xfrm>
        </p:grpSpPr>
        <p:cxnSp>
          <p:nvCxnSpPr>
            <p:cNvPr id="1751" name="Google Shape;1751;p103"/>
            <p:cNvCxnSpPr/>
            <p:nvPr/>
          </p:nvCxnSpPr>
          <p:spPr>
            <a:xfrm>
              <a:off x="5433500" y="2983850"/>
              <a:ext cx="29838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752" name="Google Shape;1752;p103"/>
            <p:cNvSpPr txBox="1"/>
            <p:nvPr/>
          </p:nvSpPr>
          <p:spPr>
            <a:xfrm>
              <a:off x="5292934" y="3002300"/>
              <a:ext cx="2823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Y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53" name="Google Shape;1753;p103"/>
            <p:cNvSpPr txBox="1"/>
            <p:nvPr/>
          </p:nvSpPr>
          <p:spPr>
            <a:xfrm>
              <a:off x="8276991" y="3002300"/>
              <a:ext cx="2823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X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754" name="Google Shape;1754;p103"/>
          <p:cNvSpPr/>
          <p:nvPr/>
        </p:nvSpPr>
        <p:spPr>
          <a:xfrm>
            <a:off x="-41252" y="2278571"/>
            <a:ext cx="2665800" cy="2665500"/>
          </a:xfrm>
          <a:prstGeom prst="arc">
            <a:avLst>
              <a:gd fmla="val 16200000" name="adj1"/>
              <a:gd fmla="val 2433636" name="adj2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5" name="Google Shape;1755;p103"/>
          <p:cNvSpPr/>
          <p:nvPr/>
        </p:nvSpPr>
        <p:spPr>
          <a:xfrm flipH="1">
            <a:off x="1946522" y="2809396"/>
            <a:ext cx="2665800" cy="2665500"/>
          </a:xfrm>
          <a:prstGeom prst="arc">
            <a:avLst>
              <a:gd fmla="val 16200000" name="adj1"/>
              <a:gd fmla="val 704479" name="adj2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6" name="Google Shape;1756;p103"/>
          <p:cNvSpPr/>
          <p:nvPr/>
        </p:nvSpPr>
        <p:spPr>
          <a:xfrm>
            <a:off x="-537803" y="1782095"/>
            <a:ext cx="3660900" cy="3661200"/>
          </a:xfrm>
          <a:prstGeom prst="arc">
            <a:avLst>
              <a:gd fmla="val 17930552" name="adj1"/>
              <a:gd fmla="val 1667952" name="adj2"/>
            </a:avLst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757" name="Google Shape;1757;p103"/>
          <p:cNvCxnSpPr/>
          <p:nvPr/>
        </p:nvCxnSpPr>
        <p:spPr>
          <a:xfrm flipH="1">
            <a:off x="2245175" y="2297200"/>
            <a:ext cx="464400" cy="1733400"/>
          </a:xfrm>
          <a:prstGeom prst="straightConnector1">
            <a:avLst/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58" name="Google Shape;1758;p103"/>
          <p:cNvSpPr txBox="1"/>
          <p:nvPr/>
        </p:nvSpPr>
        <p:spPr>
          <a:xfrm>
            <a:off x="5101200" y="610369"/>
            <a:ext cx="37188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 Accurately construct the angle bisector to this 290° angle using the circle given and measure the size of the bisected angle.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9" name="Google Shape;1759;p103"/>
          <p:cNvSpPr/>
          <p:nvPr/>
        </p:nvSpPr>
        <p:spPr>
          <a:xfrm>
            <a:off x="4824000" y="1741500"/>
            <a:ext cx="3539400" cy="29265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760" name="Google Shape;1760;p103"/>
          <p:cNvCxnSpPr/>
          <p:nvPr/>
        </p:nvCxnSpPr>
        <p:spPr>
          <a:xfrm rot="10800000">
            <a:off x="5081750" y="3188225"/>
            <a:ext cx="16266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61" name="Google Shape;1761;p103"/>
          <p:cNvCxnSpPr/>
          <p:nvPr/>
        </p:nvCxnSpPr>
        <p:spPr>
          <a:xfrm rot="10800000">
            <a:off x="6248355" y="1786990"/>
            <a:ext cx="457200" cy="14106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62" name="Google Shape;1762;p103"/>
          <p:cNvSpPr/>
          <p:nvPr/>
        </p:nvSpPr>
        <p:spPr>
          <a:xfrm>
            <a:off x="5310095" y="1798694"/>
            <a:ext cx="2774400" cy="2774400"/>
          </a:xfrm>
          <a:prstGeom prst="ellipse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3" name="Google Shape;1763;p103"/>
          <p:cNvSpPr/>
          <p:nvPr/>
        </p:nvSpPr>
        <p:spPr>
          <a:xfrm>
            <a:off x="5904323" y="2392922"/>
            <a:ext cx="1586100" cy="1585800"/>
          </a:xfrm>
          <a:prstGeom prst="ellipse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764" name="Google Shape;1764;p103"/>
          <p:cNvCxnSpPr>
            <a:stCxn id="1762" idx="2"/>
          </p:cNvCxnSpPr>
          <p:nvPr/>
        </p:nvCxnSpPr>
        <p:spPr>
          <a:xfrm flipH="1" rot="10800000">
            <a:off x="5310095" y="2430794"/>
            <a:ext cx="1150500" cy="7551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65" name="Google Shape;1765;p103"/>
          <p:cNvCxnSpPr>
            <a:stCxn id="1763" idx="2"/>
          </p:cNvCxnSpPr>
          <p:nvPr/>
        </p:nvCxnSpPr>
        <p:spPr>
          <a:xfrm flipH="1" rot="10800000">
            <a:off x="5904323" y="1867622"/>
            <a:ext cx="375300" cy="13182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66" name="Google Shape;1766;p103"/>
          <p:cNvCxnSpPr/>
          <p:nvPr/>
        </p:nvCxnSpPr>
        <p:spPr>
          <a:xfrm rot="10800000">
            <a:off x="5103800" y="2024600"/>
            <a:ext cx="2697000" cy="1966200"/>
          </a:xfrm>
          <a:prstGeom prst="straightConnector1">
            <a:avLst/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67" name="Google Shape;1767;p103"/>
          <p:cNvSpPr txBox="1"/>
          <p:nvPr/>
        </p:nvSpPr>
        <p:spPr>
          <a:xfrm>
            <a:off x="6682588" y="2882418"/>
            <a:ext cx="457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145°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68" name="Google Shape;1768;p103"/>
          <p:cNvSpPr/>
          <p:nvPr/>
        </p:nvSpPr>
        <p:spPr>
          <a:xfrm flipH="1">
            <a:off x="1447745" y="2313744"/>
            <a:ext cx="3660900" cy="3661200"/>
          </a:xfrm>
          <a:prstGeom prst="arc">
            <a:avLst>
              <a:gd fmla="val 16783783" name="adj1"/>
              <a:gd fmla="val 18130641" name="adj2"/>
            </a:avLst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2" name="Shape 1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3" name="Google Shape;1773;p104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Understanding properties of constructions</a:t>
            </a:r>
            <a:endParaRPr/>
          </a:p>
        </p:txBody>
      </p:sp>
      <p:sp>
        <p:nvSpPr>
          <p:cNvPr id="1774" name="Google Shape;1774;p104"/>
          <p:cNvSpPr txBox="1"/>
          <p:nvPr/>
        </p:nvSpPr>
        <p:spPr>
          <a:xfrm>
            <a:off x="324000" y="657600"/>
            <a:ext cx="8496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 The area of a triangle can be found using the formula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75" name="Google Shape;1775;p104"/>
          <p:cNvPicPr preferRelativeResize="0"/>
          <p:nvPr/>
        </p:nvPicPr>
        <p:blipFill rotWithShape="1">
          <a:blip r:embed="rId3">
            <a:alphaModFix/>
          </a:blip>
          <a:srcRect b="0" l="0" r="81928" t="0"/>
          <a:stretch/>
        </p:blipFill>
        <p:spPr>
          <a:xfrm>
            <a:off x="865425" y="1217350"/>
            <a:ext cx="1535349" cy="15786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76" name="Google Shape;1776;p104"/>
          <p:cNvGrpSpPr/>
          <p:nvPr/>
        </p:nvGrpSpPr>
        <p:grpSpPr>
          <a:xfrm>
            <a:off x="890994" y="2857860"/>
            <a:ext cx="1454303" cy="329885"/>
            <a:chOff x="9097720" y="5023649"/>
            <a:chExt cx="2004000" cy="446998"/>
          </a:xfrm>
        </p:grpSpPr>
        <p:cxnSp>
          <p:nvCxnSpPr>
            <p:cNvPr id="1777" name="Google Shape;1777;p104"/>
            <p:cNvCxnSpPr/>
            <p:nvPr/>
          </p:nvCxnSpPr>
          <p:spPr>
            <a:xfrm>
              <a:off x="9097720" y="5023649"/>
              <a:ext cx="2004000" cy="0"/>
            </a:xfrm>
            <a:prstGeom prst="straightConnector1">
              <a:avLst/>
            </a:prstGeom>
            <a:noFill/>
            <a:ln cap="flat" cmpd="sng" w="28575">
              <a:solidFill>
                <a:schemeClr val="accent2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778" name="Google Shape;1778;p104"/>
            <p:cNvSpPr txBox="1"/>
            <p:nvPr/>
          </p:nvSpPr>
          <p:spPr>
            <a:xfrm rot="25816">
              <a:off x="9360649" y="5089345"/>
              <a:ext cx="1478142" cy="3762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base</a:t>
              </a:r>
              <a:endParaRPr b="0" i="0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779" name="Google Shape;1779;p104"/>
          <p:cNvPicPr preferRelativeResize="0"/>
          <p:nvPr/>
        </p:nvPicPr>
        <p:blipFill rotWithShape="1">
          <a:blip r:embed="rId3">
            <a:alphaModFix/>
          </a:blip>
          <a:srcRect b="0" l="27935" r="45212" t="27166"/>
          <a:stretch/>
        </p:blipFill>
        <p:spPr>
          <a:xfrm rot="1799999">
            <a:off x="3162691" y="1139079"/>
            <a:ext cx="2281422" cy="11497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80" name="Google Shape;1780;p104"/>
          <p:cNvGrpSpPr/>
          <p:nvPr/>
        </p:nvGrpSpPr>
        <p:grpSpPr>
          <a:xfrm rot="1800081">
            <a:off x="2860943" y="2252611"/>
            <a:ext cx="2115737" cy="329874"/>
            <a:chOff x="9097720" y="5023649"/>
            <a:chExt cx="2004000" cy="446998"/>
          </a:xfrm>
        </p:grpSpPr>
        <p:cxnSp>
          <p:nvCxnSpPr>
            <p:cNvPr id="1781" name="Google Shape;1781;p104"/>
            <p:cNvCxnSpPr/>
            <p:nvPr/>
          </p:nvCxnSpPr>
          <p:spPr>
            <a:xfrm>
              <a:off x="9097720" y="5023649"/>
              <a:ext cx="2004000" cy="0"/>
            </a:xfrm>
            <a:prstGeom prst="straightConnector1">
              <a:avLst/>
            </a:prstGeom>
            <a:noFill/>
            <a:ln cap="flat" cmpd="sng" w="28575">
              <a:solidFill>
                <a:schemeClr val="accent2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782" name="Google Shape;1782;p104"/>
            <p:cNvSpPr txBox="1"/>
            <p:nvPr/>
          </p:nvSpPr>
          <p:spPr>
            <a:xfrm rot="25816">
              <a:off x="9360649" y="5089345"/>
              <a:ext cx="1478142" cy="3762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base</a:t>
              </a:r>
              <a:endParaRPr b="0" i="0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783" name="Google Shape;1783;p104"/>
          <p:cNvPicPr preferRelativeResize="0"/>
          <p:nvPr/>
        </p:nvPicPr>
        <p:blipFill rotWithShape="1">
          <a:blip r:embed="rId3">
            <a:alphaModFix/>
          </a:blip>
          <a:srcRect b="0" l="65367" r="474" t="44395"/>
          <a:stretch/>
        </p:blipFill>
        <p:spPr>
          <a:xfrm rot="-1799999">
            <a:off x="5582359" y="1334831"/>
            <a:ext cx="2902047" cy="8778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84" name="Google Shape;1784;p104"/>
          <p:cNvGrpSpPr/>
          <p:nvPr/>
        </p:nvGrpSpPr>
        <p:grpSpPr>
          <a:xfrm rot="-1799941">
            <a:off x="5990551" y="2369542"/>
            <a:ext cx="2112679" cy="329874"/>
            <a:chOff x="9097720" y="5023649"/>
            <a:chExt cx="2004000" cy="446998"/>
          </a:xfrm>
        </p:grpSpPr>
        <p:cxnSp>
          <p:nvCxnSpPr>
            <p:cNvPr id="1785" name="Google Shape;1785;p104"/>
            <p:cNvCxnSpPr/>
            <p:nvPr/>
          </p:nvCxnSpPr>
          <p:spPr>
            <a:xfrm>
              <a:off x="9097720" y="5023649"/>
              <a:ext cx="2004000" cy="0"/>
            </a:xfrm>
            <a:prstGeom prst="straightConnector1">
              <a:avLst/>
            </a:prstGeom>
            <a:noFill/>
            <a:ln cap="flat" cmpd="sng" w="28575">
              <a:solidFill>
                <a:schemeClr val="accent2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786" name="Google Shape;1786;p104"/>
            <p:cNvSpPr txBox="1"/>
            <p:nvPr/>
          </p:nvSpPr>
          <p:spPr>
            <a:xfrm rot="25816">
              <a:off x="9360649" y="5089345"/>
              <a:ext cx="1478142" cy="3762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base</a:t>
              </a:r>
              <a:endParaRPr b="0" i="0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787" name="Google Shape;1787;p104"/>
          <p:cNvSpPr txBox="1"/>
          <p:nvPr/>
        </p:nvSpPr>
        <p:spPr>
          <a:xfrm>
            <a:off x="781200" y="1250950"/>
            <a:ext cx="33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 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8" name="Google Shape;1788;p104"/>
          <p:cNvSpPr txBox="1"/>
          <p:nvPr/>
        </p:nvSpPr>
        <p:spPr>
          <a:xfrm>
            <a:off x="3709150" y="909150"/>
            <a:ext cx="33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b) 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9" name="Google Shape;1789;p104"/>
          <p:cNvSpPr txBox="1"/>
          <p:nvPr/>
        </p:nvSpPr>
        <p:spPr>
          <a:xfrm>
            <a:off x="7648700" y="709675"/>
            <a:ext cx="33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c) 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0" name="Google Shape;1790;p104"/>
          <p:cNvSpPr txBox="1"/>
          <p:nvPr/>
        </p:nvSpPr>
        <p:spPr>
          <a:xfrm>
            <a:off x="324000" y="4203258"/>
            <a:ext cx="8496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The area of each triangle will depend on the scale with which the triangles have been printed.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91" name="Google Shape;1791;p104"/>
          <p:cNvSpPr txBox="1"/>
          <p:nvPr/>
        </p:nvSpPr>
        <p:spPr>
          <a:xfrm>
            <a:off x="324000" y="3182225"/>
            <a:ext cx="23403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The perpendicular height of a) is equal to its base.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92" name="Google Shape;1792;p104"/>
          <p:cNvSpPr txBox="1"/>
          <p:nvPr/>
        </p:nvSpPr>
        <p:spPr>
          <a:xfrm>
            <a:off x="3226900" y="2879350"/>
            <a:ext cx="23403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The perpendicular height of b) is half of its base.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93" name="Google Shape;1793;p104"/>
          <p:cNvSpPr txBox="1"/>
          <p:nvPr/>
        </p:nvSpPr>
        <p:spPr>
          <a:xfrm>
            <a:off x="6289050" y="2929225"/>
            <a:ext cx="23403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The perpendicular height of c) is a third of its base.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7" name="Shape 1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8" name="Google Shape;1798;p105"/>
          <p:cNvSpPr txBox="1"/>
          <p:nvPr/>
        </p:nvSpPr>
        <p:spPr>
          <a:xfrm>
            <a:off x="324000" y="733800"/>
            <a:ext cx="8496000" cy="31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Equilateral triangles, rhombi, parallelograms, trapezia (and more), each with angles of 60° and 120° can be identified and constructed from congruent circles.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Kites can be constructed from two non-congruent circles.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perpendicular to a line segment through a point off of the line segment is the shortest distance from the point to the line segment. This can be shown by constructing a circle, with the centre at this point, which intersects the line segment once.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There are multiple ways to bisect an angle and perpendicularly bisect a line segment.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9" name="Google Shape;1799;p105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Problem solving with constructions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3" name="Shape 1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4" name="Google Shape;1804;p106"/>
          <p:cNvSpPr txBox="1"/>
          <p:nvPr>
            <p:ph idx="1" type="subTitle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© Oak National Academy 2023.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Produced in partnership with Mathematics in Education and Industry.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1805" name="Google Shape;1805;p10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