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B4FF07-958F-4F7B-8B3A-B550FBBF3535}">
  <a:tblStyle styleId="{ABB4FF07-958F-4F7B-8B3A-B550FBBF35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633fa1156d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633fa1156d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633fa1156d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633fa1156d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633fa1156d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633fa1156d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633fa1156d_0_2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633fa1156d_0_2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633fa1156d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633fa1156d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633fa1156d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633fa1156d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633fa1156d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633fa1156d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633fa1156d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633fa1156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633fa1156d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633fa1156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633fa1156d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633fa1156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633fa1156d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633fa1156d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633fa1156d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633fa1156d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633fa1156d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633fa1156d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633fa1156d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633fa1156d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633fa1156d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633fa1156d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633fa1156d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633fa1156d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633fa1156d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633fa1156d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633fa1156d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633fa1156d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633fa1156d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633fa1156d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2633fa1156d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633fa1156d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633fa1156d_0_1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633fa1156d_0_1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633fa1156d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633fa1156d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633fa1156d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633fa1156d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633fa1156d_0_1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633fa1156d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633fa1156d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633fa1156d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633fa1156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633fa1156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633fa1156d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633fa1156d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633fa1156d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633fa1156d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633fa1156d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633fa1156d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633fa1156d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633fa1156d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633fa1156d_0_1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633fa1156d_0_1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633fa1156d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633fa1156d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2633fa1156d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633fa1156d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633fa1156d_0_2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633fa1156d_0_2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2633fa1156d_0_2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2633fa1156d_0_2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2633fa1156d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2633fa1156d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2633fa1156d_0_1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2633fa1156d_0_1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633fa1156d_0_1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633fa1156d_0_1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2633fa1156d_0_1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2633fa1156d_0_1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633fa1156d_0_1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633fa1156d_0_1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2633fa1156d_0_1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2633fa1156d_0_1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633fa1156d_0_1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633fa1156d_0_1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g2633fa1156d_0_1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4" name="Google Shape;1864;g2633fa1156d_0_1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2633fa1156d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2633fa1156d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633fa1156d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633fa1156d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2633fa1156d_0_1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633fa1156d_0_1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2633fa1156d_0_1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2633fa1156d_0_1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633fa1156d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633fa1156d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2633fa1156d_0_2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2633fa1156d_0_2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2633fa1156d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2633fa1156d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Relationship Id="rId4" Type="http://schemas.openxmlformats.org/officeDocument/2006/relationships/image" Target="../media/image70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0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0.png"/><Relationship Id="rId4" Type="http://schemas.openxmlformats.org/officeDocument/2006/relationships/image" Target="../media/image31.png"/><Relationship Id="rId11" Type="http://schemas.openxmlformats.org/officeDocument/2006/relationships/image" Target="../media/image15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44.png"/><Relationship Id="rId5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Relationship Id="rId4" Type="http://schemas.openxmlformats.org/officeDocument/2006/relationships/image" Target="../media/image57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5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8.png"/><Relationship Id="rId4" Type="http://schemas.openxmlformats.org/officeDocument/2006/relationships/image" Target="../media/image65.png"/><Relationship Id="rId5" Type="http://schemas.openxmlformats.org/officeDocument/2006/relationships/image" Target="../media/image6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sp>
        <p:nvSpPr>
          <p:cNvPr id="748" name="Google Shape;748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properties of a rhombus to construct a perpendicular to a given line through a given point.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/>
        </p:nvSpPr>
        <p:spPr>
          <a:xfrm>
            <a:off x="324000" y="810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means to cut or divide an object into two equal parts.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24000" y="1836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rhombus is a parallelogram where all sides are the same length.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5" name="Google Shape;7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174" y="1869750"/>
            <a:ext cx="932700" cy="7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771" name="Google Shape;771;p6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772" name="Google Shape;772;p6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/>
          <p:nvPr/>
        </p:nvSpPr>
        <p:spPr>
          <a:xfrm>
            <a:off x="2207846" y="3080245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0" name="Google Shape;780;p67"/>
          <p:cNvCxnSpPr/>
          <p:nvPr/>
        </p:nvCxnSpPr>
        <p:spPr>
          <a:xfrm>
            <a:off x="2207856" y="2054575"/>
            <a:ext cx="0" cy="2614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782" name="Google Shape;782;p67"/>
          <p:cNvSpPr txBox="1"/>
          <p:nvPr/>
        </p:nvSpPr>
        <p:spPr>
          <a:xfrm>
            <a:off x="324000" y="68230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perpendicular bisector to AB is a line that intersects the midpoint of AB at a right angle.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3" name="Google Shape;783;p67"/>
          <p:cNvGrpSpPr/>
          <p:nvPr/>
        </p:nvGrpSpPr>
        <p:grpSpPr>
          <a:xfrm>
            <a:off x="574684" y="3326850"/>
            <a:ext cx="3266356" cy="295650"/>
            <a:chOff x="5292934" y="2983850"/>
            <a:chExt cx="3266356" cy="295650"/>
          </a:xfrm>
        </p:grpSpPr>
        <p:cxnSp>
          <p:nvCxnSpPr>
            <p:cNvPr id="784" name="Google Shape;784;p6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5" name="Google Shape;785;p6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6" name="Google Shape;786;p6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7" name="Google Shape;787;p67"/>
          <p:cNvSpPr/>
          <p:nvPr/>
        </p:nvSpPr>
        <p:spPr>
          <a:xfrm>
            <a:off x="1969675" y="3099850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/>
          <p:nvPr/>
        </p:nvSpPr>
        <p:spPr>
          <a:xfrm>
            <a:off x="5717246" y="3080245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67"/>
          <p:cNvCxnSpPr/>
          <p:nvPr/>
        </p:nvCxnSpPr>
        <p:spPr>
          <a:xfrm>
            <a:off x="5717256" y="2054575"/>
            <a:ext cx="0" cy="2614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67"/>
          <p:cNvSpPr txBox="1"/>
          <p:nvPr/>
        </p:nvSpPr>
        <p:spPr>
          <a:xfrm>
            <a:off x="4824000" y="682300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a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perpendicular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AB can be any line that intersects at a right angle at any point on the line segment AB.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1" name="Google Shape;791;p67"/>
          <p:cNvGrpSpPr/>
          <p:nvPr/>
        </p:nvGrpSpPr>
        <p:grpSpPr>
          <a:xfrm>
            <a:off x="5074684" y="3326850"/>
            <a:ext cx="3266356" cy="295650"/>
            <a:chOff x="5292934" y="2983850"/>
            <a:chExt cx="3266356" cy="295650"/>
          </a:xfrm>
        </p:grpSpPr>
        <p:cxnSp>
          <p:nvCxnSpPr>
            <p:cNvPr id="792" name="Google Shape;792;p6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3" name="Google Shape;793;p6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5" name="Google Shape;795;p67"/>
          <p:cNvSpPr/>
          <p:nvPr/>
        </p:nvSpPr>
        <p:spPr>
          <a:xfrm>
            <a:off x="5479075" y="3099850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6" name="Google Shape;796;p67"/>
          <p:cNvCxnSpPr/>
          <p:nvPr/>
        </p:nvCxnSpPr>
        <p:spPr>
          <a:xfrm>
            <a:off x="4572000" y="569925"/>
            <a:ext cx="0" cy="415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67"/>
          <p:cNvCxnSpPr/>
          <p:nvPr/>
        </p:nvCxnSpPr>
        <p:spPr>
          <a:xfrm>
            <a:off x="701000" y="3780000"/>
            <a:ext cx="1506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8" name="Google Shape;798;p67"/>
          <p:cNvCxnSpPr/>
          <p:nvPr/>
        </p:nvCxnSpPr>
        <p:spPr>
          <a:xfrm>
            <a:off x="2207857" y="3780000"/>
            <a:ext cx="1506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9" name="Google Shape;799;p67"/>
          <p:cNvSpPr txBox="1"/>
          <p:nvPr/>
        </p:nvSpPr>
        <p:spPr>
          <a:xfrm>
            <a:off x="701000" y="3860975"/>
            <a:ext cx="150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2207875" y="3860975"/>
            <a:ext cx="150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1" name="Google Shape;801;p67"/>
          <p:cNvCxnSpPr/>
          <p:nvPr/>
        </p:nvCxnSpPr>
        <p:spPr>
          <a:xfrm>
            <a:off x="5200975" y="3780000"/>
            <a:ext cx="476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2" name="Google Shape;802;p67"/>
          <p:cNvCxnSpPr/>
          <p:nvPr/>
        </p:nvCxnSpPr>
        <p:spPr>
          <a:xfrm>
            <a:off x="5757050" y="3780000"/>
            <a:ext cx="2457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3" name="Google Shape;803;p67"/>
          <p:cNvSpPr txBox="1"/>
          <p:nvPr/>
        </p:nvSpPr>
        <p:spPr>
          <a:xfrm>
            <a:off x="5042950" y="3860975"/>
            <a:ext cx="6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7"/>
          <p:cNvSpPr txBox="1"/>
          <p:nvPr/>
        </p:nvSpPr>
        <p:spPr>
          <a:xfrm>
            <a:off x="5757080" y="3860975"/>
            <a:ext cx="2457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5188525" y="1899625"/>
            <a:ext cx="1986600" cy="198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811" name="Google Shape;811;p68"/>
          <p:cNvSpPr txBox="1"/>
          <p:nvPr/>
        </p:nvSpPr>
        <p:spPr>
          <a:xfrm>
            <a:off x="324000" y="68230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construct a perpendicular for any point on line segment AB.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2" name="Google Shape;812;p68"/>
          <p:cNvGrpSpPr/>
          <p:nvPr/>
        </p:nvGrpSpPr>
        <p:grpSpPr>
          <a:xfrm>
            <a:off x="4929609" y="2892275"/>
            <a:ext cx="3266356" cy="295650"/>
            <a:chOff x="5292934" y="2983850"/>
            <a:chExt cx="3266356" cy="295650"/>
          </a:xfrm>
        </p:grpSpPr>
        <p:cxnSp>
          <p:nvCxnSpPr>
            <p:cNvPr id="813" name="Google Shape;813;p6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4" name="Google Shape;814;p6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6" name="Google Shape;816;p68"/>
          <p:cNvSpPr/>
          <p:nvPr/>
        </p:nvSpPr>
        <p:spPr>
          <a:xfrm>
            <a:off x="5943600" y="2665275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8"/>
          <p:cNvSpPr txBox="1"/>
          <p:nvPr/>
        </p:nvSpPr>
        <p:spPr>
          <a:xfrm>
            <a:off x="324000" y="2039600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goal is to create a shortened line segment which has the point as the centre of a circle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midpoint of this shortened line segment.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8" name="Google Shape;818;p68"/>
          <p:cNvGrpSpPr/>
          <p:nvPr/>
        </p:nvGrpSpPr>
        <p:grpSpPr>
          <a:xfrm>
            <a:off x="5646759" y="5365000"/>
            <a:ext cx="1070100" cy="951950"/>
            <a:chOff x="6027759" y="2665275"/>
            <a:chExt cx="1070100" cy="951950"/>
          </a:xfrm>
        </p:grpSpPr>
        <p:sp>
          <p:nvSpPr>
            <p:cNvPr id="819" name="Google Shape;819;p68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0" name="Google Shape;820;p68"/>
            <p:cNvSpPr txBox="1"/>
            <p:nvPr/>
          </p:nvSpPr>
          <p:spPr>
            <a:xfrm>
              <a:off x="6027759" y="3063125"/>
              <a:ext cx="10701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a midpoint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21" name="Google Shape;821;p68"/>
          <p:cNvCxnSpPr/>
          <p:nvPr/>
        </p:nvCxnSpPr>
        <p:spPr>
          <a:xfrm>
            <a:off x="5188525" y="4047475"/>
            <a:ext cx="99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2" name="Google Shape;822;p68"/>
          <p:cNvCxnSpPr/>
          <p:nvPr/>
        </p:nvCxnSpPr>
        <p:spPr>
          <a:xfrm>
            <a:off x="6185113" y="4047475"/>
            <a:ext cx="99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23" name="Google Shape;823;p68"/>
          <p:cNvGrpSpPr/>
          <p:nvPr/>
        </p:nvGrpSpPr>
        <p:grpSpPr>
          <a:xfrm>
            <a:off x="5005861" y="2866349"/>
            <a:ext cx="3720251" cy="781174"/>
            <a:chOff x="5005925" y="6107800"/>
            <a:chExt cx="3814077" cy="800875"/>
          </a:xfrm>
        </p:grpSpPr>
        <p:sp>
          <p:nvSpPr>
            <p:cNvPr id="824" name="Google Shape;824;p68"/>
            <p:cNvSpPr/>
            <p:nvPr/>
          </p:nvSpPr>
          <p:spPr>
            <a:xfrm>
              <a:off x="5101150" y="6217700"/>
              <a:ext cx="3688200" cy="58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25" name="Google Shape;825;p68"/>
            <p:cNvPicPr preferRelativeResize="0"/>
            <p:nvPr/>
          </p:nvPicPr>
          <p:blipFill rotWithShape="1">
            <a:blip r:embed="rId3">
              <a:alphaModFix/>
            </a:blip>
            <a:srcRect b="0" l="1921" r="41572" t="0"/>
            <a:stretch/>
          </p:blipFill>
          <p:spPr>
            <a:xfrm>
              <a:off x="5005925" y="6107800"/>
              <a:ext cx="3814077" cy="800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6" name="Google Shape;826;p68"/>
          <p:cNvSpPr txBox="1"/>
          <p:nvPr/>
        </p:nvSpPr>
        <p:spPr>
          <a:xfrm>
            <a:off x="5188525" y="4128450"/>
            <a:ext cx="99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8"/>
          <p:cNvSpPr txBox="1"/>
          <p:nvPr/>
        </p:nvSpPr>
        <p:spPr>
          <a:xfrm>
            <a:off x="6185125" y="4128450"/>
            <a:ext cx="99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2" name="Google Shape;832;p69"/>
          <p:cNvCxnSpPr/>
          <p:nvPr/>
        </p:nvCxnSpPr>
        <p:spPr>
          <a:xfrm>
            <a:off x="5070175" y="2892275"/>
            <a:ext cx="2983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33" name="Google Shape;833;p69"/>
          <p:cNvGrpSpPr/>
          <p:nvPr/>
        </p:nvGrpSpPr>
        <p:grpSpPr>
          <a:xfrm>
            <a:off x="5070175" y="2891782"/>
            <a:ext cx="2983800" cy="0"/>
            <a:chOff x="5070175" y="4378175"/>
            <a:chExt cx="2983800" cy="0"/>
          </a:xfrm>
        </p:grpSpPr>
        <p:cxnSp>
          <p:nvCxnSpPr>
            <p:cNvPr id="834" name="Google Shape;834;p69"/>
            <p:cNvCxnSpPr/>
            <p:nvPr/>
          </p:nvCxnSpPr>
          <p:spPr>
            <a:xfrm>
              <a:off x="5179325" y="4378175"/>
              <a:ext cx="2003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35" name="Google Shape;835;p69"/>
            <p:cNvGrpSpPr/>
            <p:nvPr/>
          </p:nvGrpSpPr>
          <p:grpSpPr>
            <a:xfrm>
              <a:off x="5070175" y="4378175"/>
              <a:ext cx="2983800" cy="0"/>
              <a:chOff x="5070175" y="2892925"/>
              <a:chExt cx="2983800" cy="0"/>
            </a:xfrm>
          </p:grpSpPr>
          <p:cxnSp>
            <p:nvCxnSpPr>
              <p:cNvPr id="836" name="Google Shape;836;p69"/>
              <p:cNvCxnSpPr/>
              <p:nvPr/>
            </p:nvCxnSpPr>
            <p:spPr>
              <a:xfrm>
                <a:off x="7173475" y="2892925"/>
                <a:ext cx="88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7" name="Google Shape;837;p69"/>
              <p:cNvCxnSpPr/>
              <p:nvPr/>
            </p:nvCxnSpPr>
            <p:spPr>
              <a:xfrm>
                <a:off x="5070175" y="2892925"/>
                <a:ext cx="11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38" name="Google Shape;838;p69"/>
          <p:cNvSpPr/>
          <p:nvPr/>
        </p:nvSpPr>
        <p:spPr>
          <a:xfrm>
            <a:off x="5188525" y="1899625"/>
            <a:ext cx="1986600" cy="198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 txBox="1"/>
          <p:nvPr/>
        </p:nvSpPr>
        <p:spPr>
          <a:xfrm>
            <a:off x="324000" y="68230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on the point you want to construct a perpendicular through.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841" name="Google Shape;841;p69"/>
          <p:cNvSpPr txBox="1"/>
          <p:nvPr/>
        </p:nvSpPr>
        <p:spPr>
          <a:xfrm>
            <a:off x="4929609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69"/>
          <p:cNvSpPr txBox="1"/>
          <p:nvPr/>
        </p:nvSpPr>
        <p:spPr>
          <a:xfrm>
            <a:off x="7913666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69"/>
          <p:cNvSpPr/>
          <p:nvPr/>
        </p:nvSpPr>
        <p:spPr>
          <a:xfrm>
            <a:off x="5943600" y="2665275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69"/>
          <p:cNvGrpSpPr/>
          <p:nvPr/>
        </p:nvGrpSpPr>
        <p:grpSpPr>
          <a:xfrm rot="3119877">
            <a:off x="4928058" y="1804476"/>
            <a:ext cx="1390829" cy="1397792"/>
            <a:chOff x="856732" y="1653084"/>
            <a:chExt cx="1921722" cy="1931342"/>
          </a:xfrm>
        </p:grpSpPr>
        <p:pic>
          <p:nvPicPr>
            <p:cNvPr id="845" name="Google Shape;845;p6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6" name="Google Shape;846;p6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7" name="Google Shape;847;p6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8" name="Google Shape;848;p69"/>
          <p:cNvGrpSpPr/>
          <p:nvPr/>
        </p:nvGrpSpPr>
        <p:grpSpPr>
          <a:xfrm rot="4500107">
            <a:off x="5216385" y="1682973"/>
            <a:ext cx="1409812" cy="1197149"/>
            <a:chOff x="830543" y="1653084"/>
            <a:chExt cx="1947911" cy="1654079"/>
          </a:xfrm>
        </p:grpSpPr>
        <p:pic>
          <p:nvPicPr>
            <p:cNvPr id="849" name="Google Shape;849;p6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3119878">
              <a:off x="1272003" y="1909773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6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1" name="Google Shape;851;p6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2" name="Google Shape;852;p69"/>
          <p:cNvGrpSpPr/>
          <p:nvPr/>
        </p:nvGrpSpPr>
        <p:grpSpPr>
          <a:xfrm flipH="1" rot="-3119877">
            <a:off x="6050018" y="1804476"/>
            <a:ext cx="1390829" cy="1397792"/>
            <a:chOff x="856732" y="1653084"/>
            <a:chExt cx="1921722" cy="1931342"/>
          </a:xfrm>
        </p:grpSpPr>
        <p:pic>
          <p:nvPicPr>
            <p:cNvPr id="853" name="Google Shape;853;p6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" name="Google Shape;854;p6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p6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6" name="Google Shape;856;p69"/>
          <p:cNvSpPr txBox="1"/>
          <p:nvPr/>
        </p:nvSpPr>
        <p:spPr>
          <a:xfrm>
            <a:off x="324000" y="3213433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then draw a full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9"/>
          <p:cNvSpPr txBox="1"/>
          <p:nvPr/>
        </p:nvSpPr>
        <p:spPr>
          <a:xfrm>
            <a:off x="324000" y="3786450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parts of AB outside of the circle can now be ignored.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324000" y="1809417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Set your compass width to any length where the pencil end touches the line segment either side of the point.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3" name="Google Shape;863;p70"/>
          <p:cNvGrpSpPr/>
          <p:nvPr/>
        </p:nvGrpSpPr>
        <p:grpSpPr>
          <a:xfrm>
            <a:off x="5070175" y="2891782"/>
            <a:ext cx="2983800" cy="0"/>
            <a:chOff x="5070175" y="4378175"/>
            <a:chExt cx="2983800" cy="0"/>
          </a:xfrm>
        </p:grpSpPr>
        <p:cxnSp>
          <p:nvCxnSpPr>
            <p:cNvPr id="864" name="Google Shape;864;p70"/>
            <p:cNvCxnSpPr/>
            <p:nvPr/>
          </p:nvCxnSpPr>
          <p:spPr>
            <a:xfrm>
              <a:off x="5179325" y="4378175"/>
              <a:ext cx="2003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65" name="Google Shape;865;p70"/>
            <p:cNvGrpSpPr/>
            <p:nvPr/>
          </p:nvGrpSpPr>
          <p:grpSpPr>
            <a:xfrm>
              <a:off x="5070175" y="4378175"/>
              <a:ext cx="2983800" cy="0"/>
              <a:chOff x="5070175" y="2892925"/>
              <a:chExt cx="2983800" cy="0"/>
            </a:xfrm>
          </p:grpSpPr>
          <p:cxnSp>
            <p:nvCxnSpPr>
              <p:cNvPr id="866" name="Google Shape;866;p70"/>
              <p:cNvCxnSpPr/>
              <p:nvPr/>
            </p:nvCxnSpPr>
            <p:spPr>
              <a:xfrm>
                <a:off x="7173475" y="2892925"/>
                <a:ext cx="88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7" name="Google Shape;867;p70"/>
              <p:cNvCxnSpPr/>
              <p:nvPr/>
            </p:nvCxnSpPr>
            <p:spPr>
              <a:xfrm>
                <a:off x="5070175" y="2892925"/>
                <a:ext cx="11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68" name="Google Shape;868;p70"/>
          <p:cNvSpPr txBox="1"/>
          <p:nvPr/>
        </p:nvSpPr>
        <p:spPr>
          <a:xfrm>
            <a:off x="7913666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 txBox="1"/>
          <p:nvPr/>
        </p:nvSpPr>
        <p:spPr>
          <a:xfrm>
            <a:off x="324000" y="1800750"/>
            <a:ext cx="4199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on one end of the new line segment and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change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width of the compass to greater than half the length of the diameter of the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324000" y="682300"/>
            <a:ext cx="419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can now construct a perpendicular bisector using the new line segment inside of the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0"/>
          <p:cNvSpPr/>
          <p:nvPr/>
        </p:nvSpPr>
        <p:spPr>
          <a:xfrm>
            <a:off x="5188525" y="1899625"/>
            <a:ext cx="1986600" cy="198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873" name="Google Shape;873;p70"/>
          <p:cNvSpPr txBox="1"/>
          <p:nvPr/>
        </p:nvSpPr>
        <p:spPr>
          <a:xfrm>
            <a:off x="4929609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0"/>
          <p:cNvSpPr/>
          <p:nvPr/>
        </p:nvSpPr>
        <p:spPr>
          <a:xfrm>
            <a:off x="5943600" y="2665275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0"/>
          <p:cNvSpPr/>
          <p:nvPr/>
        </p:nvSpPr>
        <p:spPr>
          <a:xfrm rot="2700000">
            <a:off x="501822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0"/>
          <p:cNvSpPr/>
          <p:nvPr/>
        </p:nvSpPr>
        <p:spPr>
          <a:xfrm rot="2700000">
            <a:off x="700297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0"/>
          <p:cNvSpPr txBox="1"/>
          <p:nvPr/>
        </p:nvSpPr>
        <p:spPr>
          <a:xfrm>
            <a:off x="324000" y="3473300"/>
            <a:ext cx="21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two arcs.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8" name="Google Shape;878;p70"/>
          <p:cNvGrpSpPr/>
          <p:nvPr/>
        </p:nvGrpSpPr>
        <p:grpSpPr>
          <a:xfrm flipH="1" rot="-3119879">
            <a:off x="5010568" y="1466581"/>
            <a:ext cx="1816881" cy="1825977"/>
            <a:chOff x="856732" y="1653084"/>
            <a:chExt cx="1921722" cy="1931342"/>
          </a:xfrm>
        </p:grpSpPr>
        <p:pic>
          <p:nvPicPr>
            <p:cNvPr id="879" name="Google Shape;879;p70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0" name="Google Shape;880;p7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1" name="Google Shape;881;p7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2" name="Google Shape;882;p70"/>
          <p:cNvGrpSpPr/>
          <p:nvPr/>
        </p:nvGrpSpPr>
        <p:grpSpPr>
          <a:xfrm flipH="1" rot="-3119879">
            <a:off x="4999989" y="1489707"/>
            <a:ext cx="1779069" cy="1781000"/>
            <a:chOff x="896726" y="1653084"/>
            <a:chExt cx="1881728" cy="1883770"/>
          </a:xfrm>
        </p:grpSpPr>
        <p:pic>
          <p:nvPicPr>
            <p:cNvPr id="883" name="Google Shape;883;p70"/>
            <p:cNvPicPr preferRelativeResize="0"/>
            <p:nvPr/>
          </p:nvPicPr>
          <p:blipFill rotWithShape="1">
            <a:blip r:embed="rId3">
              <a:alphaModFix/>
            </a:blip>
            <a:srcRect b="-502" l="8398" r="70274" t="38418"/>
            <a:stretch/>
          </p:blipFill>
          <p:spPr>
            <a:xfrm rot="-3119878">
              <a:off x="1390015" y="2139464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4" name="Google Shape;884;p70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5" name="Google Shape;885;p70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6" name="Google Shape;886;p70"/>
          <p:cNvSpPr/>
          <p:nvPr/>
        </p:nvSpPr>
        <p:spPr>
          <a:xfrm>
            <a:off x="3883618" y="1594570"/>
            <a:ext cx="2598000" cy="2598000"/>
          </a:xfrm>
          <a:prstGeom prst="arc">
            <a:avLst>
              <a:gd fmla="val 18707340" name="adj1"/>
              <a:gd fmla="val 1955283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/>
          <p:nvPr/>
        </p:nvSpPr>
        <p:spPr>
          <a:xfrm flipH="1" rot="10800000">
            <a:off x="3883405" y="1594570"/>
            <a:ext cx="2598000" cy="2598000"/>
          </a:xfrm>
          <a:prstGeom prst="arc">
            <a:avLst>
              <a:gd fmla="val 18466777" name="adj1"/>
              <a:gd fmla="val 19727624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71"/>
          <p:cNvGrpSpPr/>
          <p:nvPr/>
        </p:nvGrpSpPr>
        <p:grpSpPr>
          <a:xfrm>
            <a:off x="5070175" y="2891782"/>
            <a:ext cx="2983800" cy="0"/>
            <a:chOff x="5070175" y="4378175"/>
            <a:chExt cx="2983800" cy="0"/>
          </a:xfrm>
        </p:grpSpPr>
        <p:cxnSp>
          <p:nvCxnSpPr>
            <p:cNvPr id="893" name="Google Shape;893;p71"/>
            <p:cNvCxnSpPr/>
            <p:nvPr/>
          </p:nvCxnSpPr>
          <p:spPr>
            <a:xfrm>
              <a:off x="5179325" y="4378175"/>
              <a:ext cx="2003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94" name="Google Shape;894;p71"/>
            <p:cNvGrpSpPr/>
            <p:nvPr/>
          </p:nvGrpSpPr>
          <p:grpSpPr>
            <a:xfrm>
              <a:off x="5070175" y="4378175"/>
              <a:ext cx="2983800" cy="0"/>
              <a:chOff x="5070175" y="2892925"/>
              <a:chExt cx="2983800" cy="0"/>
            </a:xfrm>
          </p:grpSpPr>
          <p:cxnSp>
            <p:nvCxnSpPr>
              <p:cNvPr id="895" name="Google Shape;895;p71"/>
              <p:cNvCxnSpPr/>
              <p:nvPr/>
            </p:nvCxnSpPr>
            <p:spPr>
              <a:xfrm>
                <a:off x="7173475" y="2892925"/>
                <a:ext cx="88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6" name="Google Shape;896;p71"/>
              <p:cNvCxnSpPr/>
              <p:nvPr/>
            </p:nvCxnSpPr>
            <p:spPr>
              <a:xfrm>
                <a:off x="5070175" y="2892925"/>
                <a:ext cx="11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897" name="Google Shape;897;p71"/>
          <p:cNvSpPr txBox="1"/>
          <p:nvPr/>
        </p:nvSpPr>
        <p:spPr>
          <a:xfrm>
            <a:off x="324000" y="682300"/>
            <a:ext cx="419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another two arcs, but this time with the compass needle on the other end of the new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Make sure the compass width is the same as your previous arcs.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1"/>
          <p:cNvSpPr/>
          <p:nvPr/>
        </p:nvSpPr>
        <p:spPr>
          <a:xfrm>
            <a:off x="5188525" y="1899625"/>
            <a:ext cx="1986600" cy="198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900" name="Google Shape;900;p71"/>
          <p:cNvSpPr txBox="1"/>
          <p:nvPr/>
        </p:nvSpPr>
        <p:spPr>
          <a:xfrm>
            <a:off x="4929609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1"/>
          <p:cNvSpPr txBox="1"/>
          <p:nvPr/>
        </p:nvSpPr>
        <p:spPr>
          <a:xfrm>
            <a:off x="7913666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1"/>
          <p:cNvSpPr/>
          <p:nvPr/>
        </p:nvSpPr>
        <p:spPr>
          <a:xfrm>
            <a:off x="5943600" y="2665275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1"/>
          <p:cNvSpPr/>
          <p:nvPr/>
        </p:nvSpPr>
        <p:spPr>
          <a:xfrm rot="2700000">
            <a:off x="501822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1"/>
          <p:cNvSpPr/>
          <p:nvPr/>
        </p:nvSpPr>
        <p:spPr>
          <a:xfrm rot="2700000">
            <a:off x="700297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5" name="Google Shape;905;p71"/>
          <p:cNvGrpSpPr/>
          <p:nvPr/>
        </p:nvGrpSpPr>
        <p:grpSpPr>
          <a:xfrm rot="3119879">
            <a:off x="5530235" y="1466581"/>
            <a:ext cx="1816881" cy="1825977"/>
            <a:chOff x="856732" y="1653084"/>
            <a:chExt cx="1921722" cy="1931342"/>
          </a:xfrm>
        </p:grpSpPr>
        <p:pic>
          <p:nvPicPr>
            <p:cNvPr id="906" name="Google Shape;906;p7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194954" y="2104308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7" name="Google Shape;907;p7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8" name="Google Shape;908;p7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9" name="Google Shape;909;p71"/>
          <p:cNvSpPr/>
          <p:nvPr/>
        </p:nvSpPr>
        <p:spPr>
          <a:xfrm>
            <a:off x="3883618" y="1594570"/>
            <a:ext cx="2598000" cy="2598000"/>
          </a:xfrm>
          <a:prstGeom prst="arc">
            <a:avLst>
              <a:gd fmla="val 18707340" name="adj1"/>
              <a:gd fmla="val 1955283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1"/>
          <p:cNvSpPr/>
          <p:nvPr/>
        </p:nvSpPr>
        <p:spPr>
          <a:xfrm flipH="1" rot="10800000">
            <a:off x="3883405" y="1594570"/>
            <a:ext cx="2598000" cy="2598000"/>
          </a:xfrm>
          <a:prstGeom prst="arc">
            <a:avLst>
              <a:gd fmla="val 18466777" name="adj1"/>
              <a:gd fmla="val 19727624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1"/>
          <p:cNvSpPr/>
          <p:nvPr/>
        </p:nvSpPr>
        <p:spPr>
          <a:xfrm flipH="1">
            <a:off x="5876076" y="1594570"/>
            <a:ext cx="2598000" cy="2598000"/>
          </a:xfrm>
          <a:prstGeom prst="arc">
            <a:avLst>
              <a:gd fmla="val 18510331" name="adj1"/>
              <a:gd fmla="val 19462972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1"/>
          <p:cNvSpPr/>
          <p:nvPr/>
        </p:nvSpPr>
        <p:spPr>
          <a:xfrm rot="10800000">
            <a:off x="5876288" y="1594570"/>
            <a:ext cx="2598000" cy="2598000"/>
          </a:xfrm>
          <a:prstGeom prst="arc">
            <a:avLst>
              <a:gd fmla="val 18627394" name="adj1"/>
              <a:gd fmla="val 20144664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1"/>
          <p:cNvSpPr txBox="1"/>
          <p:nvPr/>
        </p:nvSpPr>
        <p:spPr>
          <a:xfrm>
            <a:off x="324000" y="2800350"/>
            <a:ext cx="41997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arcs can intersect anywhere: inside or outside the circle.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locations of their intersections just depend on how big or small the radii of your arcs are.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72"/>
          <p:cNvGrpSpPr/>
          <p:nvPr/>
        </p:nvGrpSpPr>
        <p:grpSpPr>
          <a:xfrm>
            <a:off x="5070175" y="2891782"/>
            <a:ext cx="2983800" cy="0"/>
            <a:chOff x="5070175" y="4378175"/>
            <a:chExt cx="2983800" cy="0"/>
          </a:xfrm>
        </p:grpSpPr>
        <p:cxnSp>
          <p:nvCxnSpPr>
            <p:cNvPr id="919" name="Google Shape;919;p72"/>
            <p:cNvCxnSpPr/>
            <p:nvPr/>
          </p:nvCxnSpPr>
          <p:spPr>
            <a:xfrm>
              <a:off x="5179325" y="4378175"/>
              <a:ext cx="2003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20" name="Google Shape;920;p72"/>
            <p:cNvGrpSpPr/>
            <p:nvPr/>
          </p:nvGrpSpPr>
          <p:grpSpPr>
            <a:xfrm>
              <a:off x="5070175" y="4378175"/>
              <a:ext cx="2983800" cy="0"/>
              <a:chOff x="5070175" y="2892925"/>
              <a:chExt cx="2983800" cy="0"/>
            </a:xfrm>
          </p:grpSpPr>
          <p:cxnSp>
            <p:nvCxnSpPr>
              <p:cNvPr id="921" name="Google Shape;921;p72"/>
              <p:cNvCxnSpPr/>
              <p:nvPr/>
            </p:nvCxnSpPr>
            <p:spPr>
              <a:xfrm>
                <a:off x="7173475" y="2892925"/>
                <a:ext cx="880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" name="Google Shape;922;p72"/>
              <p:cNvCxnSpPr/>
              <p:nvPr/>
            </p:nvCxnSpPr>
            <p:spPr>
              <a:xfrm>
                <a:off x="5070175" y="2892925"/>
                <a:ext cx="11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CCCC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23" name="Google Shape;923;p72"/>
          <p:cNvSpPr/>
          <p:nvPr/>
        </p:nvSpPr>
        <p:spPr>
          <a:xfrm>
            <a:off x="6181821" y="2645683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2"/>
          <p:cNvSpPr txBox="1"/>
          <p:nvPr/>
        </p:nvSpPr>
        <p:spPr>
          <a:xfrm>
            <a:off x="324000" y="682300"/>
            <a:ext cx="419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 straight line through the two arc intersections to complete the perpendicular through that point.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2"/>
          <p:cNvSpPr/>
          <p:nvPr/>
        </p:nvSpPr>
        <p:spPr>
          <a:xfrm>
            <a:off x="5188525" y="1899625"/>
            <a:ext cx="1986600" cy="1986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927" name="Google Shape;927;p72"/>
          <p:cNvSpPr txBox="1"/>
          <p:nvPr/>
        </p:nvSpPr>
        <p:spPr>
          <a:xfrm>
            <a:off x="4929609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2"/>
          <p:cNvSpPr txBox="1"/>
          <p:nvPr/>
        </p:nvSpPr>
        <p:spPr>
          <a:xfrm>
            <a:off x="7913666" y="29107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/>
          <p:nvPr/>
        </p:nvSpPr>
        <p:spPr>
          <a:xfrm>
            <a:off x="5943600" y="2665275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/>
          <p:nvPr/>
        </p:nvSpPr>
        <p:spPr>
          <a:xfrm rot="2700000">
            <a:off x="501822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2"/>
          <p:cNvSpPr/>
          <p:nvPr/>
        </p:nvSpPr>
        <p:spPr>
          <a:xfrm rot="2700000">
            <a:off x="7002975" y="2721736"/>
            <a:ext cx="342381" cy="342381"/>
          </a:xfrm>
          <a:prstGeom prst="mathPlus">
            <a:avLst>
              <a:gd fmla="val 3016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2"/>
          <p:cNvSpPr/>
          <p:nvPr/>
        </p:nvSpPr>
        <p:spPr>
          <a:xfrm>
            <a:off x="3883618" y="1594570"/>
            <a:ext cx="2598000" cy="2598000"/>
          </a:xfrm>
          <a:prstGeom prst="arc">
            <a:avLst>
              <a:gd fmla="val 18707340" name="adj1"/>
              <a:gd fmla="val 1955283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2"/>
          <p:cNvSpPr/>
          <p:nvPr/>
        </p:nvSpPr>
        <p:spPr>
          <a:xfrm flipH="1" rot="10800000">
            <a:off x="3883405" y="1594570"/>
            <a:ext cx="2598000" cy="2598000"/>
          </a:xfrm>
          <a:prstGeom prst="arc">
            <a:avLst>
              <a:gd fmla="val 18466777" name="adj1"/>
              <a:gd fmla="val 19727624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2"/>
          <p:cNvSpPr/>
          <p:nvPr/>
        </p:nvSpPr>
        <p:spPr>
          <a:xfrm flipH="1">
            <a:off x="5876076" y="1594570"/>
            <a:ext cx="2598000" cy="2598000"/>
          </a:xfrm>
          <a:prstGeom prst="arc">
            <a:avLst>
              <a:gd fmla="val 18510331" name="adj1"/>
              <a:gd fmla="val 19462972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2"/>
          <p:cNvSpPr/>
          <p:nvPr/>
        </p:nvSpPr>
        <p:spPr>
          <a:xfrm rot="10800000">
            <a:off x="5876288" y="1594570"/>
            <a:ext cx="2598000" cy="2598000"/>
          </a:xfrm>
          <a:prstGeom prst="arc">
            <a:avLst>
              <a:gd fmla="val 18627394" name="adj1"/>
              <a:gd fmla="val 20144664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6" name="Google Shape;936;p72"/>
          <p:cNvCxnSpPr/>
          <p:nvPr/>
        </p:nvCxnSpPr>
        <p:spPr>
          <a:xfrm>
            <a:off x="6181825" y="1758450"/>
            <a:ext cx="0" cy="26850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3"/>
          <p:cNvSpPr txBox="1"/>
          <p:nvPr/>
        </p:nvSpPr>
        <p:spPr>
          <a:xfrm>
            <a:off x="3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an        8 cm line segment AB through point C, which is on AB and 3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943" name="Google Shape;943;p73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324000" y="2571750"/>
            <a:ext cx="39960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will construct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perpendicular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the left.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After each set of steps, perform the same steps for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construction </a:t>
            </a: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the right.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4"/>
          <p:cNvSpPr txBox="1"/>
          <p:nvPr/>
        </p:nvSpPr>
        <p:spPr>
          <a:xfrm>
            <a:off x="3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an        8 cm line segment AB through point C, which is on AB and 3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951" name="Google Shape;951;p74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2" name="Google Shape;952;p74"/>
          <p:cNvGrpSpPr/>
          <p:nvPr/>
        </p:nvGrpSpPr>
        <p:grpSpPr>
          <a:xfrm>
            <a:off x="931013" y="3130663"/>
            <a:ext cx="2781977" cy="966350"/>
            <a:chOff x="5005925" y="6107793"/>
            <a:chExt cx="2305633" cy="800887"/>
          </a:xfrm>
        </p:grpSpPr>
        <p:sp>
          <p:nvSpPr>
            <p:cNvPr id="953" name="Google Shape;953;p74"/>
            <p:cNvSpPr/>
            <p:nvPr/>
          </p:nvSpPr>
          <p:spPr>
            <a:xfrm>
              <a:off x="5101150" y="6217709"/>
              <a:ext cx="2210400" cy="58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54" name="Google Shape;954;p74"/>
            <p:cNvPicPr preferRelativeResize="0"/>
            <p:nvPr/>
          </p:nvPicPr>
          <p:blipFill rotWithShape="1">
            <a:blip r:embed="rId3">
              <a:alphaModFix/>
            </a:blip>
            <a:srcRect b="0" l="1919" r="63921" t="0"/>
            <a:stretch/>
          </p:blipFill>
          <p:spPr>
            <a:xfrm>
              <a:off x="5005925" y="6107793"/>
              <a:ext cx="2305633" cy="8008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5" name="Google Shape;955;p74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956" name="Google Shape;956;p7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7" name="Google Shape;957;p74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74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9" name="Google Shape;959;p74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960" name="Google Shape;960;p74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4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2" name="Google Shape;962;p74"/>
          <p:cNvSpPr txBox="1"/>
          <p:nvPr/>
        </p:nvSpPr>
        <p:spPr>
          <a:xfrm>
            <a:off x="4824000" y="4197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3" name="Google Shape;963;p74"/>
          <p:cNvGrpSpPr/>
          <p:nvPr/>
        </p:nvGrpSpPr>
        <p:grpSpPr>
          <a:xfrm>
            <a:off x="5233888" y="3130663"/>
            <a:ext cx="2781977" cy="966350"/>
            <a:chOff x="5005925" y="6107793"/>
            <a:chExt cx="2305633" cy="800887"/>
          </a:xfrm>
        </p:grpSpPr>
        <p:sp>
          <p:nvSpPr>
            <p:cNvPr id="964" name="Google Shape;964;p74"/>
            <p:cNvSpPr/>
            <p:nvPr/>
          </p:nvSpPr>
          <p:spPr>
            <a:xfrm>
              <a:off x="5101150" y="6217709"/>
              <a:ext cx="2210400" cy="58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65" name="Google Shape;965;p74"/>
            <p:cNvPicPr preferRelativeResize="0"/>
            <p:nvPr/>
          </p:nvPicPr>
          <p:blipFill rotWithShape="1">
            <a:blip r:embed="rId3">
              <a:alphaModFix/>
            </a:blip>
            <a:srcRect b="0" l="1919" r="63921" t="0"/>
            <a:stretch/>
          </p:blipFill>
          <p:spPr>
            <a:xfrm>
              <a:off x="5005925" y="6107793"/>
              <a:ext cx="2305633" cy="8008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6" name="Google Shape;966;p74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967" name="Google Shape;967;p7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8" name="Google Shape;968;p74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74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0" name="Google Shape;970;p74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971" name="Google Shape;971;p74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4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75"/>
          <p:cNvSpPr txBox="1"/>
          <p:nvPr/>
        </p:nvSpPr>
        <p:spPr>
          <a:xfrm>
            <a:off x="3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on C, and set its width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any length where the pencil end touches the line segment either side of point 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grpSp>
        <p:nvGrpSpPr>
          <p:cNvPr id="979" name="Google Shape;979;p75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980" name="Google Shape;980;p75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1" name="Google Shape;981;p75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75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3" name="Google Shape;983;p75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984" name="Google Shape;984;p75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75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6" name="Google Shape;986;p75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987" name="Google Shape;987;p75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8" name="Google Shape;988;p75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5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0" name="Google Shape;990;p75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991" name="Google Shape;991;p75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5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3" name="Google Shape;993;p75"/>
          <p:cNvGrpSpPr/>
          <p:nvPr/>
        </p:nvGrpSpPr>
        <p:grpSpPr>
          <a:xfrm rot="3119718">
            <a:off x="1017612" y="1931480"/>
            <a:ext cx="1119150" cy="1239488"/>
            <a:chOff x="1046880" y="1359018"/>
            <a:chExt cx="1750736" cy="1938986"/>
          </a:xfrm>
        </p:grpSpPr>
        <p:pic>
          <p:nvPicPr>
            <p:cNvPr id="994" name="Google Shape;994;p75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5" name="Google Shape;995;p75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6" name="Google Shape;996;p75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7" name="Google Shape;997;p75"/>
          <p:cNvGrpSpPr/>
          <p:nvPr/>
        </p:nvGrpSpPr>
        <p:grpSpPr>
          <a:xfrm flipH="1" rot="-3119718">
            <a:off x="1628467" y="1931480"/>
            <a:ext cx="1119150" cy="1239488"/>
            <a:chOff x="1046880" y="1359018"/>
            <a:chExt cx="1750736" cy="1938986"/>
          </a:xfrm>
        </p:grpSpPr>
        <p:pic>
          <p:nvPicPr>
            <p:cNvPr id="998" name="Google Shape;998;p75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9" name="Google Shape;999;p75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0" name="Google Shape;1000;p75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1" name="Google Shape;1001;p75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6"/>
          <p:cNvSpPr/>
          <p:nvPr/>
        </p:nvSpPr>
        <p:spPr>
          <a:xfrm>
            <a:off x="1276250" y="236130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6"/>
          <p:cNvSpPr txBox="1"/>
          <p:nvPr/>
        </p:nvSpPr>
        <p:spPr>
          <a:xfrm>
            <a:off x="324000" y="6228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 full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009" name="Google Shape;1009;p76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0" name="Google Shape;1010;p76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1011" name="Google Shape;1011;p76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2" name="Google Shape;1012;p76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6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76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1015" name="Google Shape;1015;p76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6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7" name="Google Shape;1017;p76"/>
          <p:cNvSpPr txBox="1"/>
          <p:nvPr/>
        </p:nvSpPr>
        <p:spPr>
          <a:xfrm>
            <a:off x="4824000" y="4197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8" name="Google Shape;1018;p76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1019" name="Google Shape;1019;p76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0" name="Google Shape;1020;p76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6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2" name="Google Shape;1022;p76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1023" name="Google Shape;1023;p76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76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5" name="Google Shape;1025;p76"/>
          <p:cNvGrpSpPr/>
          <p:nvPr/>
        </p:nvGrpSpPr>
        <p:grpSpPr>
          <a:xfrm rot="3119718">
            <a:off x="1017612" y="1931480"/>
            <a:ext cx="1119150" cy="1239488"/>
            <a:chOff x="1046880" y="1359018"/>
            <a:chExt cx="1750736" cy="1938986"/>
          </a:xfrm>
        </p:grpSpPr>
        <p:pic>
          <p:nvPicPr>
            <p:cNvPr id="1026" name="Google Shape;1026;p7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7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p7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9" name="Google Shape;1029;p76"/>
          <p:cNvSpPr/>
          <p:nvPr/>
        </p:nvSpPr>
        <p:spPr>
          <a:xfrm>
            <a:off x="5829620" y="236167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6"/>
          <p:cNvSpPr txBox="1"/>
          <p:nvPr/>
        </p:nvSpPr>
        <p:spPr>
          <a:xfrm>
            <a:off x="324000" y="4024175"/>
            <a:ext cx="39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your circle is too big, you can just draw another, smaller one.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7"/>
          <p:cNvSpPr txBox="1"/>
          <p:nvPr/>
        </p:nvSpPr>
        <p:spPr>
          <a:xfrm>
            <a:off x="324000" y="622800"/>
            <a:ext cx="399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the compass needle on one intersection between the circle and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shortened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AB.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7"/>
          <p:cNvSpPr/>
          <p:nvPr/>
        </p:nvSpPr>
        <p:spPr>
          <a:xfrm>
            <a:off x="1276250" y="236130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038" name="Google Shape;1038;p77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9" name="Google Shape;1039;p77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1040" name="Google Shape;1040;p7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1" name="Google Shape;1041;p7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77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1044" name="Google Shape;1044;p77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7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77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1047" name="Google Shape;1047;p7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8" name="Google Shape;1048;p7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7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77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1051" name="Google Shape;1051;p77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7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77"/>
          <p:cNvGrpSpPr/>
          <p:nvPr/>
        </p:nvGrpSpPr>
        <p:grpSpPr>
          <a:xfrm flipH="1" rot="-3119718">
            <a:off x="1022637" y="1931480"/>
            <a:ext cx="1119150" cy="1239488"/>
            <a:chOff x="1046880" y="1359018"/>
            <a:chExt cx="1750736" cy="1938986"/>
          </a:xfrm>
        </p:grpSpPr>
        <p:pic>
          <p:nvPicPr>
            <p:cNvPr id="1054" name="Google Shape;1054;p77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5" name="Google Shape;1055;p77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6" name="Google Shape;1056;p77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7" name="Google Shape;1057;p77"/>
          <p:cNvSpPr/>
          <p:nvPr/>
        </p:nvSpPr>
        <p:spPr>
          <a:xfrm>
            <a:off x="5829620" y="236167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78"/>
          <p:cNvSpPr txBox="1"/>
          <p:nvPr/>
        </p:nvSpPr>
        <p:spPr>
          <a:xfrm>
            <a:off x="324000" y="622800"/>
            <a:ext cx="399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Extend the pencil end beyond C so that the compass width is over half the diameter of the circle.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8"/>
          <p:cNvSpPr/>
          <p:nvPr/>
        </p:nvSpPr>
        <p:spPr>
          <a:xfrm>
            <a:off x="1276250" y="236130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065" name="Google Shape;1065;p78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6" name="Google Shape;1066;p78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1067" name="Google Shape;1067;p7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8" name="Google Shape;1068;p7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9" name="Google Shape;1069;p7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0" name="Google Shape;1070;p78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1071" name="Google Shape;1071;p78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8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3" name="Google Shape;1073;p78"/>
          <p:cNvSpPr txBox="1"/>
          <p:nvPr/>
        </p:nvSpPr>
        <p:spPr>
          <a:xfrm>
            <a:off x="4824000" y="4197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4" name="Google Shape;1074;p78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1075" name="Google Shape;1075;p7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6" name="Google Shape;1076;p7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7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8" name="Google Shape;1078;p78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1079" name="Google Shape;1079;p78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78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1" name="Google Shape;1081;p78"/>
          <p:cNvSpPr/>
          <p:nvPr/>
        </p:nvSpPr>
        <p:spPr>
          <a:xfrm>
            <a:off x="5829620" y="236167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8"/>
          <p:cNvSpPr txBox="1"/>
          <p:nvPr/>
        </p:nvSpPr>
        <p:spPr>
          <a:xfrm>
            <a:off x="324000" y="4215300"/>
            <a:ext cx="39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two arcs, one on each side of the line segment.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3" name="Google Shape;1083;p78"/>
          <p:cNvGrpSpPr/>
          <p:nvPr/>
        </p:nvGrpSpPr>
        <p:grpSpPr>
          <a:xfrm>
            <a:off x="432526" y="2130650"/>
            <a:ext cx="1685158" cy="1684800"/>
            <a:chOff x="432526" y="2130650"/>
            <a:chExt cx="1685158" cy="1684800"/>
          </a:xfrm>
        </p:grpSpPr>
        <p:sp>
          <p:nvSpPr>
            <p:cNvPr id="1084" name="Google Shape;1084;p78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78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78"/>
          <p:cNvGrpSpPr/>
          <p:nvPr/>
        </p:nvGrpSpPr>
        <p:grpSpPr>
          <a:xfrm>
            <a:off x="4984804" y="2127302"/>
            <a:ext cx="1685158" cy="1684800"/>
            <a:chOff x="432526" y="2130650"/>
            <a:chExt cx="1685158" cy="1684800"/>
          </a:xfrm>
        </p:grpSpPr>
        <p:sp>
          <p:nvSpPr>
            <p:cNvPr id="1087" name="Google Shape;1087;p78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8" name="Google Shape;1088;p78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9" name="Google Shape;1089;p78"/>
          <p:cNvGrpSpPr/>
          <p:nvPr/>
        </p:nvGrpSpPr>
        <p:grpSpPr>
          <a:xfrm flipH="1" rot="-3119718">
            <a:off x="1114813" y="1950610"/>
            <a:ext cx="1148891" cy="1312940"/>
            <a:chOff x="1036067" y="1359018"/>
            <a:chExt cx="1797261" cy="2053890"/>
          </a:xfrm>
        </p:grpSpPr>
        <p:pic>
          <p:nvPicPr>
            <p:cNvPr id="1090" name="Google Shape;1090;p78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712267">
              <a:off x="1338537" y="1925147"/>
              <a:ext cx="624656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1" name="Google Shape;1091;p78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522868">
              <a:off x="1906497" y="1359586"/>
              <a:ext cx="462707" cy="13464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2" name="Google Shape;1092;p78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3" name="Google Shape;1093;p78"/>
          <p:cNvGrpSpPr/>
          <p:nvPr/>
        </p:nvGrpSpPr>
        <p:grpSpPr>
          <a:xfrm flipH="1" rot="-3119718">
            <a:off x="1022637" y="1931480"/>
            <a:ext cx="1119150" cy="1239488"/>
            <a:chOff x="1046880" y="1359018"/>
            <a:chExt cx="1750736" cy="1938986"/>
          </a:xfrm>
        </p:grpSpPr>
        <p:pic>
          <p:nvPicPr>
            <p:cNvPr id="1094" name="Google Shape;1094;p78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5" name="Google Shape;1095;p78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6" name="Google Shape;1096;p78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79"/>
          <p:cNvSpPr txBox="1"/>
          <p:nvPr/>
        </p:nvSpPr>
        <p:spPr>
          <a:xfrm>
            <a:off x="324000" y="622800"/>
            <a:ext cx="399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two more arcs with the compass needle on the other end of the shortened line segment.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9"/>
          <p:cNvSpPr/>
          <p:nvPr/>
        </p:nvSpPr>
        <p:spPr>
          <a:xfrm>
            <a:off x="1276250" y="236130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104" name="Google Shape;1104;p79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5" name="Google Shape;1105;p79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1106" name="Google Shape;1106;p7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7" name="Google Shape;1107;p79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79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9" name="Google Shape;1109;p79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1110" name="Google Shape;1110;p79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79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2" name="Google Shape;1112;p79"/>
          <p:cNvSpPr txBox="1"/>
          <p:nvPr/>
        </p:nvSpPr>
        <p:spPr>
          <a:xfrm>
            <a:off x="4824000" y="4197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3" name="Google Shape;1113;p79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1114" name="Google Shape;1114;p7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5" name="Google Shape;1115;p79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6" name="Google Shape;1116;p79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7" name="Google Shape;1117;p79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1118" name="Google Shape;1118;p79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79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0" name="Google Shape;1120;p79"/>
          <p:cNvSpPr/>
          <p:nvPr/>
        </p:nvSpPr>
        <p:spPr>
          <a:xfrm>
            <a:off x="5829620" y="236167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1" name="Google Shape;1121;p79"/>
          <p:cNvGrpSpPr/>
          <p:nvPr/>
        </p:nvGrpSpPr>
        <p:grpSpPr>
          <a:xfrm>
            <a:off x="1648950" y="2130650"/>
            <a:ext cx="1685158" cy="1684800"/>
            <a:chOff x="1648950" y="2130650"/>
            <a:chExt cx="1685158" cy="1684800"/>
          </a:xfrm>
        </p:grpSpPr>
        <p:sp>
          <p:nvSpPr>
            <p:cNvPr id="1122" name="Google Shape;1122;p79"/>
            <p:cNvSpPr/>
            <p:nvPr/>
          </p:nvSpPr>
          <p:spPr>
            <a:xfrm flipH="1">
              <a:off x="1648950" y="2130650"/>
              <a:ext cx="1684800" cy="1684800"/>
            </a:xfrm>
            <a:prstGeom prst="arc">
              <a:avLst>
                <a:gd fmla="val 18550349" name="adj1"/>
                <a:gd fmla="val 1938671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79"/>
            <p:cNvSpPr/>
            <p:nvPr/>
          </p:nvSpPr>
          <p:spPr>
            <a:xfrm flipH="1">
              <a:off x="1649308" y="2130650"/>
              <a:ext cx="1684800" cy="1684800"/>
            </a:xfrm>
            <a:prstGeom prst="arc">
              <a:avLst>
                <a:gd fmla="val 2030526" name="adj1"/>
                <a:gd fmla="val 2930867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4" name="Google Shape;1124;p79"/>
          <p:cNvGrpSpPr/>
          <p:nvPr/>
        </p:nvGrpSpPr>
        <p:grpSpPr>
          <a:xfrm>
            <a:off x="432526" y="2130650"/>
            <a:ext cx="1685158" cy="1684800"/>
            <a:chOff x="432526" y="2130650"/>
            <a:chExt cx="1685158" cy="1684800"/>
          </a:xfrm>
        </p:grpSpPr>
        <p:sp>
          <p:nvSpPr>
            <p:cNvPr id="1125" name="Google Shape;1125;p79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79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79"/>
          <p:cNvGrpSpPr/>
          <p:nvPr/>
        </p:nvGrpSpPr>
        <p:grpSpPr>
          <a:xfrm>
            <a:off x="4984804" y="2127302"/>
            <a:ext cx="1685158" cy="1684800"/>
            <a:chOff x="432526" y="2130650"/>
            <a:chExt cx="1685158" cy="1684800"/>
          </a:xfrm>
        </p:grpSpPr>
        <p:sp>
          <p:nvSpPr>
            <p:cNvPr id="1128" name="Google Shape;1128;p79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79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0" name="Google Shape;1130;p79"/>
          <p:cNvGrpSpPr/>
          <p:nvPr/>
        </p:nvGrpSpPr>
        <p:grpSpPr>
          <a:xfrm>
            <a:off x="6205013" y="2130650"/>
            <a:ext cx="1685158" cy="1684800"/>
            <a:chOff x="1648950" y="2130650"/>
            <a:chExt cx="1685158" cy="1684800"/>
          </a:xfrm>
        </p:grpSpPr>
        <p:sp>
          <p:nvSpPr>
            <p:cNvPr id="1131" name="Google Shape;1131;p79"/>
            <p:cNvSpPr/>
            <p:nvPr/>
          </p:nvSpPr>
          <p:spPr>
            <a:xfrm flipH="1">
              <a:off x="1648950" y="2130650"/>
              <a:ext cx="1684800" cy="1684800"/>
            </a:xfrm>
            <a:prstGeom prst="arc">
              <a:avLst>
                <a:gd fmla="val 18550349" name="adj1"/>
                <a:gd fmla="val 1938671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79"/>
            <p:cNvSpPr/>
            <p:nvPr/>
          </p:nvSpPr>
          <p:spPr>
            <a:xfrm flipH="1">
              <a:off x="1649308" y="2130650"/>
              <a:ext cx="1684800" cy="1684800"/>
            </a:xfrm>
            <a:prstGeom prst="arc">
              <a:avLst>
                <a:gd fmla="val 2030526" name="adj1"/>
                <a:gd fmla="val 2930867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3" name="Google Shape;1133;p79"/>
          <p:cNvGrpSpPr/>
          <p:nvPr/>
        </p:nvGrpSpPr>
        <p:grpSpPr>
          <a:xfrm rot="3119718">
            <a:off x="1505523" y="1950610"/>
            <a:ext cx="1148891" cy="1312940"/>
            <a:chOff x="1036067" y="1359018"/>
            <a:chExt cx="1797261" cy="2053890"/>
          </a:xfrm>
        </p:grpSpPr>
        <p:pic>
          <p:nvPicPr>
            <p:cNvPr id="1134" name="Google Shape;1134;p7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712267">
              <a:off x="1338537" y="1925147"/>
              <a:ext cx="624656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5" name="Google Shape;1135;p7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522868">
              <a:off x="1906497" y="1359586"/>
              <a:ext cx="462707" cy="13464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6" name="Google Shape;1136;p7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1" name="Google Shape;1141;p80"/>
          <p:cNvGrpSpPr/>
          <p:nvPr/>
        </p:nvGrpSpPr>
        <p:grpSpPr>
          <a:xfrm>
            <a:off x="5365399" y="2968475"/>
            <a:ext cx="2408938" cy="295650"/>
            <a:chOff x="5292934" y="2983850"/>
            <a:chExt cx="3266356" cy="295650"/>
          </a:xfrm>
        </p:grpSpPr>
        <p:cxnSp>
          <p:nvCxnSpPr>
            <p:cNvPr id="1142" name="Google Shape;1142;p8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3" name="Google Shape;1143;p80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80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5" name="Google Shape;1145;p80"/>
          <p:cNvGrpSpPr/>
          <p:nvPr/>
        </p:nvGrpSpPr>
        <p:grpSpPr>
          <a:xfrm>
            <a:off x="4984804" y="2127302"/>
            <a:ext cx="1685158" cy="1684800"/>
            <a:chOff x="432526" y="2130650"/>
            <a:chExt cx="1685158" cy="1684800"/>
          </a:xfrm>
        </p:grpSpPr>
        <p:sp>
          <p:nvSpPr>
            <p:cNvPr id="1146" name="Google Shape;1146;p80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80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80"/>
          <p:cNvSpPr/>
          <p:nvPr/>
        </p:nvSpPr>
        <p:spPr>
          <a:xfrm>
            <a:off x="1874771" y="2721592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0"/>
          <p:cNvSpPr/>
          <p:nvPr/>
        </p:nvSpPr>
        <p:spPr>
          <a:xfrm>
            <a:off x="6434446" y="2721592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0"/>
          <p:cNvSpPr txBox="1"/>
          <p:nvPr/>
        </p:nvSpPr>
        <p:spPr>
          <a:xfrm>
            <a:off x="324000" y="622800"/>
            <a:ext cx="39960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 line through both intersections of the arcs.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the perpendicular to AB through point 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80"/>
          <p:cNvSpPr/>
          <p:nvPr/>
        </p:nvSpPr>
        <p:spPr>
          <a:xfrm>
            <a:off x="1276250" y="236130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153" name="Google Shape;1153;p80"/>
          <p:cNvSpPr/>
          <p:nvPr/>
        </p:nvSpPr>
        <p:spPr>
          <a:xfrm>
            <a:off x="5829620" y="2361670"/>
            <a:ext cx="1215600" cy="1215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0"/>
          <p:cNvSpPr txBox="1"/>
          <p:nvPr/>
        </p:nvSpPr>
        <p:spPr>
          <a:xfrm>
            <a:off x="4824000" y="622800"/>
            <a:ext cx="3996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Construct the perpendicular to a        9 cm line segment AB through point C, which is on AB and 4 cm away from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5" name="Google Shape;1155;p80"/>
          <p:cNvGrpSpPr/>
          <p:nvPr/>
        </p:nvGrpSpPr>
        <p:grpSpPr>
          <a:xfrm>
            <a:off x="1079355" y="2968475"/>
            <a:ext cx="2135870" cy="295650"/>
            <a:chOff x="5292934" y="2983850"/>
            <a:chExt cx="3266356" cy="295650"/>
          </a:xfrm>
        </p:grpSpPr>
        <p:cxnSp>
          <p:nvCxnSpPr>
            <p:cNvPr id="1156" name="Google Shape;1156;p8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7" name="Google Shape;1157;p80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80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80"/>
          <p:cNvGrpSpPr/>
          <p:nvPr/>
        </p:nvGrpSpPr>
        <p:grpSpPr>
          <a:xfrm>
            <a:off x="1646650" y="2731946"/>
            <a:ext cx="476400" cy="527748"/>
            <a:chOff x="6324600" y="2665275"/>
            <a:chExt cx="476400" cy="527748"/>
          </a:xfrm>
        </p:grpSpPr>
        <p:sp>
          <p:nvSpPr>
            <p:cNvPr id="1160" name="Google Shape;1160;p80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80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2" name="Google Shape;1162;p80"/>
          <p:cNvSpPr txBox="1"/>
          <p:nvPr/>
        </p:nvSpPr>
        <p:spPr>
          <a:xfrm>
            <a:off x="4824000" y="457827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3" name="Google Shape;1163;p80"/>
          <p:cNvGrpSpPr/>
          <p:nvPr/>
        </p:nvGrpSpPr>
        <p:grpSpPr>
          <a:xfrm>
            <a:off x="6202739" y="2731946"/>
            <a:ext cx="476400" cy="527748"/>
            <a:chOff x="6324600" y="2665275"/>
            <a:chExt cx="476400" cy="527748"/>
          </a:xfrm>
        </p:grpSpPr>
        <p:sp>
          <p:nvSpPr>
            <p:cNvPr id="1164" name="Google Shape;1164;p80"/>
            <p:cNvSpPr/>
            <p:nvPr/>
          </p:nvSpPr>
          <p:spPr>
            <a:xfrm>
              <a:off x="6324600" y="2665275"/>
              <a:ext cx="476400" cy="476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0"/>
            <p:cNvSpPr txBox="1"/>
            <p:nvPr/>
          </p:nvSpPr>
          <p:spPr>
            <a:xfrm>
              <a:off x="6477725" y="2915823"/>
              <a:ext cx="170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6" name="Google Shape;1166;p80"/>
          <p:cNvGrpSpPr/>
          <p:nvPr/>
        </p:nvGrpSpPr>
        <p:grpSpPr>
          <a:xfrm>
            <a:off x="1648950" y="2130650"/>
            <a:ext cx="1685158" cy="1684800"/>
            <a:chOff x="1648950" y="2130650"/>
            <a:chExt cx="1685158" cy="1684800"/>
          </a:xfrm>
        </p:grpSpPr>
        <p:sp>
          <p:nvSpPr>
            <p:cNvPr id="1167" name="Google Shape;1167;p80"/>
            <p:cNvSpPr/>
            <p:nvPr/>
          </p:nvSpPr>
          <p:spPr>
            <a:xfrm flipH="1">
              <a:off x="1648950" y="2130650"/>
              <a:ext cx="1684800" cy="1684800"/>
            </a:xfrm>
            <a:prstGeom prst="arc">
              <a:avLst>
                <a:gd fmla="val 18550349" name="adj1"/>
                <a:gd fmla="val 1938671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0"/>
            <p:cNvSpPr/>
            <p:nvPr/>
          </p:nvSpPr>
          <p:spPr>
            <a:xfrm flipH="1">
              <a:off x="1649308" y="2130650"/>
              <a:ext cx="1684800" cy="1684800"/>
            </a:xfrm>
            <a:prstGeom prst="arc">
              <a:avLst>
                <a:gd fmla="val 2030526" name="adj1"/>
                <a:gd fmla="val 2930867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80"/>
          <p:cNvGrpSpPr/>
          <p:nvPr/>
        </p:nvGrpSpPr>
        <p:grpSpPr>
          <a:xfrm>
            <a:off x="432526" y="2130650"/>
            <a:ext cx="1685158" cy="1684800"/>
            <a:chOff x="432526" y="2130650"/>
            <a:chExt cx="1685158" cy="1684800"/>
          </a:xfrm>
        </p:grpSpPr>
        <p:sp>
          <p:nvSpPr>
            <p:cNvPr id="1170" name="Google Shape;1170;p80"/>
            <p:cNvSpPr/>
            <p:nvPr/>
          </p:nvSpPr>
          <p:spPr>
            <a:xfrm>
              <a:off x="432884" y="2130650"/>
              <a:ext cx="1684800" cy="1684800"/>
            </a:xfrm>
            <a:prstGeom prst="arc">
              <a:avLst>
                <a:gd fmla="val 18529606" name="adj1"/>
                <a:gd fmla="val 19528006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80"/>
            <p:cNvSpPr/>
            <p:nvPr/>
          </p:nvSpPr>
          <p:spPr>
            <a:xfrm>
              <a:off x="432526" y="2130650"/>
              <a:ext cx="1684800" cy="1684800"/>
            </a:xfrm>
            <a:prstGeom prst="arc">
              <a:avLst>
                <a:gd fmla="val 2255880" name="adj1"/>
                <a:gd fmla="val 311416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80"/>
          <p:cNvGrpSpPr/>
          <p:nvPr/>
        </p:nvGrpSpPr>
        <p:grpSpPr>
          <a:xfrm>
            <a:off x="6205013" y="2130650"/>
            <a:ext cx="1685158" cy="1684800"/>
            <a:chOff x="1648950" y="2130650"/>
            <a:chExt cx="1685158" cy="1684800"/>
          </a:xfrm>
        </p:grpSpPr>
        <p:sp>
          <p:nvSpPr>
            <p:cNvPr id="1173" name="Google Shape;1173;p80"/>
            <p:cNvSpPr/>
            <p:nvPr/>
          </p:nvSpPr>
          <p:spPr>
            <a:xfrm flipH="1">
              <a:off x="1648950" y="2130650"/>
              <a:ext cx="1684800" cy="1684800"/>
            </a:xfrm>
            <a:prstGeom prst="arc">
              <a:avLst>
                <a:gd fmla="val 18550349" name="adj1"/>
                <a:gd fmla="val 1938671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0"/>
            <p:cNvSpPr/>
            <p:nvPr/>
          </p:nvSpPr>
          <p:spPr>
            <a:xfrm flipH="1">
              <a:off x="1649308" y="2130650"/>
              <a:ext cx="1684800" cy="1684800"/>
            </a:xfrm>
            <a:prstGeom prst="arc">
              <a:avLst>
                <a:gd fmla="val 2030526" name="adj1"/>
                <a:gd fmla="val 2930867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175" name="Google Shape;1175;p80"/>
          <p:cNvCxnSpPr/>
          <p:nvPr/>
        </p:nvCxnSpPr>
        <p:spPr>
          <a:xfrm>
            <a:off x="1874771" y="1758450"/>
            <a:ext cx="0" cy="26850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80"/>
          <p:cNvCxnSpPr/>
          <p:nvPr/>
        </p:nvCxnSpPr>
        <p:spPr>
          <a:xfrm>
            <a:off x="6434450" y="1940725"/>
            <a:ext cx="0" cy="23127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7" name="Google Shape;1177;p80"/>
          <p:cNvSpPr txBox="1"/>
          <p:nvPr/>
        </p:nvSpPr>
        <p:spPr>
          <a:xfrm>
            <a:off x="6684025" y="3475200"/>
            <a:ext cx="213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a protractor to see how close to 90° this angle is.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1"/>
          <p:cNvSpPr/>
          <p:nvPr/>
        </p:nvSpPr>
        <p:spPr>
          <a:xfrm rot="2700000">
            <a:off x="5869902" y="1640387"/>
            <a:ext cx="2516310" cy="251631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cxnSp>
        <p:nvCxnSpPr>
          <p:cNvPr id="1184" name="Google Shape;1184;p81"/>
          <p:cNvCxnSpPr/>
          <p:nvPr/>
        </p:nvCxnSpPr>
        <p:spPr>
          <a:xfrm rot="2700000">
            <a:off x="4597016" y="2177819"/>
            <a:ext cx="362279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81"/>
          <p:cNvSpPr txBox="1"/>
          <p:nvPr/>
        </p:nvSpPr>
        <p:spPr>
          <a:xfrm>
            <a:off x="4842892" y="872759"/>
            <a:ext cx="3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81"/>
          <p:cNvSpPr txBox="1"/>
          <p:nvPr/>
        </p:nvSpPr>
        <p:spPr>
          <a:xfrm>
            <a:off x="7404743" y="3434610"/>
            <a:ext cx="3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1"/>
          <p:cNvSpPr/>
          <p:nvPr/>
        </p:nvSpPr>
        <p:spPr>
          <a:xfrm rot="2700000">
            <a:off x="6829845" y="2618390"/>
            <a:ext cx="578272" cy="578272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8" name="Google Shape;1188;p81"/>
          <p:cNvCxnSpPr/>
          <p:nvPr/>
        </p:nvCxnSpPr>
        <p:spPr>
          <a:xfrm flipH="1" rot="2700000">
            <a:off x="6944932" y="1628444"/>
            <a:ext cx="345351" cy="2509098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81"/>
          <p:cNvSpPr txBox="1"/>
          <p:nvPr/>
        </p:nvSpPr>
        <p:spPr>
          <a:xfrm>
            <a:off x="324000" y="724225"/>
            <a:ext cx="36228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has incorrectly constructed a perpendicular for AB through 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did Sofia do wrong?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0" name="Google Shape;1190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277" y="671654"/>
            <a:ext cx="539700" cy="59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1"/>
          <p:cNvSpPr txBox="1"/>
          <p:nvPr/>
        </p:nvSpPr>
        <p:spPr>
          <a:xfrm flipH="1">
            <a:off x="8005625" y="1270376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1"/>
          <p:cNvSpPr txBox="1"/>
          <p:nvPr/>
        </p:nvSpPr>
        <p:spPr>
          <a:xfrm>
            <a:off x="6699975" y="2756326"/>
            <a:ext cx="3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3" name="Google Shape;1193;p81"/>
          <p:cNvGrpSpPr/>
          <p:nvPr/>
        </p:nvGrpSpPr>
        <p:grpSpPr>
          <a:xfrm>
            <a:off x="577737" y="2233100"/>
            <a:ext cx="4470913" cy="277200"/>
            <a:chOff x="4616337" y="2004500"/>
            <a:chExt cx="4470913" cy="277200"/>
          </a:xfrm>
        </p:grpSpPr>
        <p:grpSp>
          <p:nvGrpSpPr>
            <p:cNvPr id="1194" name="Google Shape;1194;p8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195" name="Google Shape;1195;p8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6" name="Google Shape;1196;p8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97" name="Google Shape;1197;p81"/>
            <p:cNvSpPr txBox="1"/>
            <p:nvPr/>
          </p:nvSpPr>
          <p:spPr>
            <a:xfrm>
              <a:off x="4951150" y="2004500"/>
              <a:ext cx="4136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whole diagram has been turned.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81"/>
          <p:cNvGrpSpPr/>
          <p:nvPr/>
        </p:nvGrpSpPr>
        <p:grpSpPr>
          <a:xfrm>
            <a:off x="577737" y="2818533"/>
            <a:ext cx="3625513" cy="277200"/>
            <a:chOff x="4616337" y="2004500"/>
            <a:chExt cx="3625513" cy="277200"/>
          </a:xfrm>
        </p:grpSpPr>
        <p:grpSp>
          <p:nvGrpSpPr>
            <p:cNvPr id="1199" name="Google Shape;1199;p8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200" name="Google Shape;1200;p8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1" name="Google Shape;1201;p8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02" name="Google Shape;1202;p81"/>
            <p:cNvSpPr txBox="1"/>
            <p:nvPr/>
          </p:nvSpPr>
          <p:spPr>
            <a:xfrm>
              <a:off x="4951150" y="2004500"/>
              <a:ext cx="3290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circle is too big.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3" name="Google Shape;1203;p81"/>
          <p:cNvGrpSpPr/>
          <p:nvPr/>
        </p:nvGrpSpPr>
        <p:grpSpPr>
          <a:xfrm>
            <a:off x="577737" y="3403967"/>
            <a:ext cx="5038213" cy="554100"/>
            <a:chOff x="4616337" y="2004500"/>
            <a:chExt cx="5038213" cy="554100"/>
          </a:xfrm>
        </p:grpSpPr>
        <p:grpSp>
          <p:nvGrpSpPr>
            <p:cNvPr id="1204" name="Google Shape;1204;p8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205" name="Google Shape;1205;p8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6" name="Google Shape;1206;p8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07" name="Google Shape;1207;p81"/>
            <p:cNvSpPr txBox="1"/>
            <p:nvPr/>
          </p:nvSpPr>
          <p:spPr>
            <a:xfrm>
              <a:off x="4951150" y="2004500"/>
              <a:ext cx="4703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hasn’t drawn all the expected construction arcs.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81"/>
          <p:cNvGrpSpPr/>
          <p:nvPr/>
        </p:nvGrpSpPr>
        <p:grpSpPr>
          <a:xfrm>
            <a:off x="577737" y="4266300"/>
            <a:ext cx="3817813" cy="554100"/>
            <a:chOff x="4616337" y="2004500"/>
            <a:chExt cx="3817813" cy="554100"/>
          </a:xfrm>
        </p:grpSpPr>
        <p:grpSp>
          <p:nvGrpSpPr>
            <p:cNvPr id="1209" name="Google Shape;1209;p8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210" name="Google Shape;1210;p8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1" name="Google Shape;1211;p8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12" name="Google Shape;1212;p81"/>
            <p:cNvSpPr txBox="1"/>
            <p:nvPr/>
          </p:nvSpPr>
          <p:spPr>
            <a:xfrm>
              <a:off x="4951150" y="2004500"/>
              <a:ext cx="348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line through C may not be perpendicular to AB.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13" name="Google Shape;1213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718" y="275891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718" y="336364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718" y="4184016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82"/>
          <p:cNvSpPr/>
          <p:nvPr/>
        </p:nvSpPr>
        <p:spPr>
          <a:xfrm rot="5400000">
            <a:off x="3088477" y="3648860"/>
            <a:ext cx="889800" cy="890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2"/>
          <p:cNvSpPr/>
          <p:nvPr/>
        </p:nvSpPr>
        <p:spPr>
          <a:xfrm rot="1800469">
            <a:off x="4194653" y="1487993"/>
            <a:ext cx="1159526" cy="1160456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2"/>
          <p:cNvSpPr txBox="1"/>
          <p:nvPr/>
        </p:nvSpPr>
        <p:spPr>
          <a:xfrm>
            <a:off x="324000" y="673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Complete the construction of the perpendicular through point Z on each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224" name="Google Shape;1224;p82"/>
          <p:cNvSpPr/>
          <p:nvPr/>
        </p:nvSpPr>
        <p:spPr>
          <a:xfrm>
            <a:off x="923410" y="2179267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2"/>
          <p:cNvSpPr txBox="1"/>
          <p:nvPr/>
        </p:nvSpPr>
        <p:spPr>
          <a:xfrm>
            <a:off x="796590" y="2526283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2"/>
          <p:cNvSpPr/>
          <p:nvPr/>
        </p:nvSpPr>
        <p:spPr>
          <a:xfrm>
            <a:off x="632700" y="1888975"/>
            <a:ext cx="1159500" cy="1160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7" name="Google Shape;1227;p82"/>
          <p:cNvGrpSpPr/>
          <p:nvPr/>
        </p:nvGrpSpPr>
        <p:grpSpPr>
          <a:xfrm>
            <a:off x="-363478" y="1468386"/>
            <a:ext cx="3152175" cy="1988000"/>
            <a:chOff x="-363478" y="1468386"/>
            <a:chExt cx="3152175" cy="1988000"/>
          </a:xfrm>
        </p:grpSpPr>
        <p:grpSp>
          <p:nvGrpSpPr>
            <p:cNvPr id="1228" name="Google Shape;1228;p82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229" name="Google Shape;1229;p82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30" name="Google Shape;1230;p82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31" name="Google Shape;1231;p82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232" name="Google Shape;1232;p82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33" name="Google Shape;1233;p82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34" name="Google Shape;1234;p82"/>
          <p:cNvGrpSpPr/>
          <p:nvPr/>
        </p:nvGrpSpPr>
        <p:grpSpPr>
          <a:xfrm>
            <a:off x="322409" y="2469800"/>
            <a:ext cx="2724795" cy="295650"/>
            <a:chOff x="5292934" y="2983850"/>
            <a:chExt cx="3266356" cy="295650"/>
          </a:xfrm>
        </p:grpSpPr>
        <p:cxnSp>
          <p:nvCxnSpPr>
            <p:cNvPr id="1235" name="Google Shape;1235;p8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6" name="Google Shape;1236;p82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2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8" name="Google Shape;1238;p82"/>
          <p:cNvSpPr/>
          <p:nvPr/>
        </p:nvSpPr>
        <p:spPr>
          <a:xfrm rot="1799730">
            <a:off x="4485743" y="1778387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2"/>
          <p:cNvSpPr txBox="1"/>
          <p:nvPr/>
        </p:nvSpPr>
        <p:spPr>
          <a:xfrm>
            <a:off x="4293495" y="1976737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0" name="Google Shape;1240;p82"/>
          <p:cNvGrpSpPr/>
          <p:nvPr/>
        </p:nvGrpSpPr>
        <p:grpSpPr>
          <a:xfrm flipH="1" rot="1799980">
            <a:off x="4288226" y="1359318"/>
            <a:ext cx="1987899" cy="1987899"/>
            <a:chOff x="95125" y="1860572"/>
            <a:chExt cx="1203900" cy="1203900"/>
          </a:xfrm>
        </p:grpSpPr>
        <p:sp>
          <p:nvSpPr>
            <p:cNvPr id="1241" name="Google Shape;1241;p82"/>
            <p:cNvSpPr/>
            <p:nvPr/>
          </p:nvSpPr>
          <p:spPr>
            <a:xfrm>
              <a:off x="95125" y="1860572"/>
              <a:ext cx="1203900" cy="1203900"/>
            </a:xfrm>
            <a:prstGeom prst="arc">
              <a:avLst>
                <a:gd fmla="val 17801998" name="adj1"/>
                <a:gd fmla="val 4531188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82"/>
            <p:cNvSpPr/>
            <p:nvPr/>
          </p:nvSpPr>
          <p:spPr>
            <a:xfrm flipH="1" rot="10800000">
              <a:off x="95125" y="1860572"/>
              <a:ext cx="1203900" cy="1203900"/>
            </a:xfrm>
            <a:prstGeom prst="arc">
              <a:avLst>
                <a:gd fmla="val 17793231" name="adj1"/>
                <a:gd fmla="val 19048745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3" name="Google Shape;1243;p82"/>
          <p:cNvGrpSpPr/>
          <p:nvPr/>
        </p:nvGrpSpPr>
        <p:grpSpPr>
          <a:xfrm rot="1800079">
            <a:off x="2896626" y="1804819"/>
            <a:ext cx="2831793" cy="357592"/>
            <a:chOff x="5228768" y="2962144"/>
            <a:chExt cx="3394756" cy="357600"/>
          </a:xfrm>
        </p:grpSpPr>
        <p:cxnSp>
          <p:nvCxnSpPr>
            <p:cNvPr id="1244" name="Google Shape;1244;p8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5" name="Google Shape;1245;p82"/>
            <p:cNvSpPr txBox="1"/>
            <p:nvPr/>
          </p:nvSpPr>
          <p:spPr>
            <a:xfrm rot="-1541202">
              <a:off x="5298462" y="2994980"/>
              <a:ext cx="271312" cy="291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82"/>
            <p:cNvSpPr txBox="1"/>
            <p:nvPr/>
          </p:nvSpPr>
          <p:spPr>
            <a:xfrm rot="-1541202">
              <a:off x="8282519" y="2994980"/>
              <a:ext cx="271312" cy="291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7" name="Google Shape;1247;p82"/>
          <p:cNvGrpSpPr/>
          <p:nvPr/>
        </p:nvGrpSpPr>
        <p:grpSpPr>
          <a:xfrm rot="-1171436">
            <a:off x="5704231" y="1156002"/>
            <a:ext cx="2803871" cy="1988096"/>
            <a:chOff x="6074491" y="1323436"/>
            <a:chExt cx="2803877" cy="1988100"/>
          </a:xfrm>
        </p:grpSpPr>
        <p:sp>
          <p:nvSpPr>
            <p:cNvPr id="1248" name="Google Shape;1248;p82"/>
            <p:cNvSpPr/>
            <p:nvPr/>
          </p:nvSpPr>
          <p:spPr>
            <a:xfrm flipH="1" rot="10800000">
              <a:off x="6474914" y="1323436"/>
              <a:ext cx="1988100" cy="1988100"/>
            </a:xfrm>
            <a:prstGeom prst="arc">
              <a:avLst>
                <a:gd fmla="val 15663451" name="adj1"/>
                <a:gd fmla="val 18834887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49" name="Google Shape;1249;p82"/>
            <p:cNvGrpSpPr/>
            <p:nvPr/>
          </p:nvGrpSpPr>
          <p:grpSpPr>
            <a:xfrm>
              <a:off x="6074491" y="2304468"/>
              <a:ext cx="2803877" cy="339900"/>
              <a:chOff x="5245577" y="2970918"/>
              <a:chExt cx="3361156" cy="339900"/>
            </a:xfrm>
          </p:grpSpPr>
          <p:cxnSp>
            <p:nvCxnSpPr>
              <p:cNvPr id="1250" name="Google Shape;1250;p82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51" name="Google Shape;1251;p82"/>
              <p:cNvSpPr txBox="1"/>
              <p:nvPr/>
            </p:nvSpPr>
            <p:spPr>
              <a:xfrm rot="987358">
                <a:off x="5295394" y="2998918"/>
                <a:ext cx="277466" cy="28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2" name="Google Shape;1252;p82"/>
              <p:cNvSpPr txBox="1"/>
              <p:nvPr/>
            </p:nvSpPr>
            <p:spPr>
              <a:xfrm rot="987358">
                <a:off x="8279450" y="2998918"/>
                <a:ext cx="277466" cy="28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253" name="Google Shape;1253;p82"/>
            <p:cNvSpPr/>
            <p:nvPr/>
          </p:nvSpPr>
          <p:spPr>
            <a:xfrm>
              <a:off x="7470687" y="1943025"/>
              <a:ext cx="741600" cy="7422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82"/>
            <p:cNvSpPr/>
            <p:nvPr/>
          </p:nvSpPr>
          <p:spPr>
            <a:xfrm>
              <a:off x="7553198" y="2026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82"/>
            <p:cNvSpPr txBox="1"/>
            <p:nvPr/>
          </p:nvSpPr>
          <p:spPr>
            <a:xfrm rot="1168906">
              <a:off x="7665207" y="2385899"/>
              <a:ext cx="342722" cy="27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6" name="Google Shape;1256;p82"/>
          <p:cNvSpPr/>
          <p:nvPr/>
        </p:nvSpPr>
        <p:spPr>
          <a:xfrm rot="5400000">
            <a:off x="3244885" y="3804975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2"/>
          <p:cNvSpPr txBox="1"/>
          <p:nvPr/>
        </p:nvSpPr>
        <p:spPr>
          <a:xfrm>
            <a:off x="3166368" y="3710854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8" name="Google Shape;1258;p82"/>
          <p:cNvGrpSpPr/>
          <p:nvPr/>
        </p:nvGrpSpPr>
        <p:grpSpPr>
          <a:xfrm rot="5400000">
            <a:off x="2218951" y="3381644"/>
            <a:ext cx="2371492" cy="256109"/>
            <a:chOff x="5236592" y="2983850"/>
            <a:chExt cx="3379156" cy="256109"/>
          </a:xfrm>
        </p:grpSpPr>
        <p:cxnSp>
          <p:nvCxnSpPr>
            <p:cNvPr id="1259" name="Google Shape;1259;p8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0" name="Google Shape;1260;p82"/>
            <p:cNvSpPr txBox="1"/>
            <p:nvPr/>
          </p:nvSpPr>
          <p:spPr>
            <a:xfrm rot="-5400000">
              <a:off x="5335142" y="2943409"/>
              <a:ext cx="19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82"/>
            <p:cNvSpPr txBox="1"/>
            <p:nvPr/>
          </p:nvSpPr>
          <p:spPr>
            <a:xfrm rot="-5400000">
              <a:off x="8319199" y="2943409"/>
              <a:ext cx="19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82"/>
          <p:cNvSpPr/>
          <p:nvPr/>
        </p:nvSpPr>
        <p:spPr>
          <a:xfrm rot="7199730">
            <a:off x="6102981" y="3902323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2"/>
          <p:cNvSpPr txBox="1"/>
          <p:nvPr/>
        </p:nvSpPr>
        <p:spPr>
          <a:xfrm>
            <a:off x="6173224" y="3742790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4" name="Google Shape;1264;p82"/>
          <p:cNvGrpSpPr/>
          <p:nvPr/>
        </p:nvGrpSpPr>
        <p:grpSpPr>
          <a:xfrm rot="7199900">
            <a:off x="5358435" y="3710578"/>
            <a:ext cx="2079479" cy="312128"/>
            <a:chOff x="5183492" y="2983850"/>
            <a:chExt cx="3565456" cy="312135"/>
          </a:xfrm>
        </p:grpSpPr>
        <p:cxnSp>
          <p:nvCxnSpPr>
            <p:cNvPr id="1265" name="Google Shape;1265;p8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82"/>
            <p:cNvSpPr txBox="1"/>
            <p:nvPr/>
          </p:nvSpPr>
          <p:spPr>
            <a:xfrm rot="-8081875">
              <a:off x="5353487" y="2923730"/>
              <a:ext cx="241410" cy="434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2"/>
            <p:cNvSpPr txBox="1"/>
            <p:nvPr/>
          </p:nvSpPr>
          <p:spPr>
            <a:xfrm rot="-8081875">
              <a:off x="8337544" y="2923730"/>
              <a:ext cx="241410" cy="434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3"/>
          <p:cNvSpPr txBox="1"/>
          <p:nvPr/>
        </p:nvSpPr>
        <p:spPr>
          <a:xfrm>
            <a:off x="324000" y="673325"/>
            <a:ext cx="84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a) Construct the perpendicular to AB through X and the perpendicular to BC through 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Label the point where the two perpendiculars intersect Z.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Which quadrilateral is bound by vertices XBYZ? Justify why you think the construction creates this shape.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pic>
        <p:nvPicPr>
          <p:cNvPr id="1274" name="Google Shape;127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075" y="2195087"/>
            <a:ext cx="4332246" cy="20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3"/>
          <p:cNvSpPr txBox="1"/>
          <p:nvPr/>
        </p:nvSpPr>
        <p:spPr>
          <a:xfrm>
            <a:off x="1298717" y="219887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83"/>
          <p:cNvSpPr txBox="1"/>
          <p:nvPr/>
        </p:nvSpPr>
        <p:spPr>
          <a:xfrm>
            <a:off x="1554067" y="278227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3"/>
          <p:cNvSpPr txBox="1"/>
          <p:nvPr/>
        </p:nvSpPr>
        <p:spPr>
          <a:xfrm>
            <a:off x="2211892" y="4188897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3"/>
          <p:cNvSpPr txBox="1"/>
          <p:nvPr/>
        </p:nvSpPr>
        <p:spPr>
          <a:xfrm>
            <a:off x="3700167" y="412042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3"/>
          <p:cNvSpPr txBox="1"/>
          <p:nvPr/>
        </p:nvSpPr>
        <p:spPr>
          <a:xfrm>
            <a:off x="5590292" y="400732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84"/>
          <p:cNvSpPr/>
          <p:nvPr/>
        </p:nvSpPr>
        <p:spPr>
          <a:xfrm>
            <a:off x="5975825" y="3770325"/>
            <a:ext cx="825900" cy="82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4"/>
          <p:cNvSpPr/>
          <p:nvPr/>
        </p:nvSpPr>
        <p:spPr>
          <a:xfrm rot="5400000">
            <a:off x="3088477" y="3648860"/>
            <a:ext cx="889800" cy="890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4"/>
          <p:cNvSpPr/>
          <p:nvPr/>
        </p:nvSpPr>
        <p:spPr>
          <a:xfrm rot="1800469">
            <a:off x="4194653" y="1487993"/>
            <a:ext cx="1159526" cy="1160456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4"/>
          <p:cNvSpPr txBox="1"/>
          <p:nvPr/>
        </p:nvSpPr>
        <p:spPr>
          <a:xfrm>
            <a:off x="324000" y="673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Complete the construction of the perpendicular through point Z on each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289" name="Google Shape;1289;p84"/>
          <p:cNvSpPr/>
          <p:nvPr/>
        </p:nvSpPr>
        <p:spPr>
          <a:xfrm>
            <a:off x="923410" y="2179267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4"/>
          <p:cNvSpPr txBox="1"/>
          <p:nvPr/>
        </p:nvSpPr>
        <p:spPr>
          <a:xfrm>
            <a:off x="796590" y="2526283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4"/>
          <p:cNvSpPr/>
          <p:nvPr/>
        </p:nvSpPr>
        <p:spPr>
          <a:xfrm>
            <a:off x="632700" y="1888975"/>
            <a:ext cx="1159500" cy="1160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4"/>
          <p:cNvGrpSpPr/>
          <p:nvPr/>
        </p:nvGrpSpPr>
        <p:grpSpPr>
          <a:xfrm>
            <a:off x="-363478" y="1468386"/>
            <a:ext cx="3152175" cy="1988000"/>
            <a:chOff x="-363478" y="1468386"/>
            <a:chExt cx="3152175" cy="1988000"/>
          </a:xfrm>
        </p:grpSpPr>
        <p:grpSp>
          <p:nvGrpSpPr>
            <p:cNvPr id="1293" name="Google Shape;1293;p84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294" name="Google Shape;1294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5" name="Google Shape;1295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96" name="Google Shape;1296;p84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297" name="Google Shape;1297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8" name="Google Shape;1298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99" name="Google Shape;1299;p84"/>
          <p:cNvGrpSpPr/>
          <p:nvPr/>
        </p:nvGrpSpPr>
        <p:grpSpPr>
          <a:xfrm>
            <a:off x="322409" y="2469800"/>
            <a:ext cx="2724795" cy="295650"/>
            <a:chOff x="5292934" y="2983850"/>
            <a:chExt cx="3266356" cy="295650"/>
          </a:xfrm>
        </p:grpSpPr>
        <p:cxnSp>
          <p:nvCxnSpPr>
            <p:cNvPr id="1300" name="Google Shape;1300;p8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1" name="Google Shape;1301;p84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4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3" name="Google Shape;1303;p84"/>
          <p:cNvSpPr/>
          <p:nvPr/>
        </p:nvSpPr>
        <p:spPr>
          <a:xfrm rot="1799730">
            <a:off x="4485743" y="1778387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4"/>
          <p:cNvSpPr txBox="1"/>
          <p:nvPr/>
        </p:nvSpPr>
        <p:spPr>
          <a:xfrm>
            <a:off x="4293495" y="1976737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5" name="Google Shape;1305;p84"/>
          <p:cNvGrpSpPr/>
          <p:nvPr/>
        </p:nvGrpSpPr>
        <p:grpSpPr>
          <a:xfrm rot="1800044">
            <a:off x="3201894" y="1068274"/>
            <a:ext cx="3152106" cy="1987956"/>
            <a:chOff x="-363478" y="1468386"/>
            <a:chExt cx="3152175" cy="1988000"/>
          </a:xfrm>
        </p:grpSpPr>
        <p:grpSp>
          <p:nvGrpSpPr>
            <p:cNvPr id="1306" name="Google Shape;1306;p84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307" name="Google Shape;1307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8" name="Google Shape;1308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09" name="Google Shape;1309;p84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310" name="Google Shape;1310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1" name="Google Shape;1311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12" name="Google Shape;1312;p84"/>
          <p:cNvGrpSpPr/>
          <p:nvPr/>
        </p:nvGrpSpPr>
        <p:grpSpPr>
          <a:xfrm rot="1800079">
            <a:off x="2896626" y="1804819"/>
            <a:ext cx="2831793" cy="357592"/>
            <a:chOff x="5228768" y="2962144"/>
            <a:chExt cx="3394756" cy="357600"/>
          </a:xfrm>
        </p:grpSpPr>
        <p:cxnSp>
          <p:nvCxnSpPr>
            <p:cNvPr id="1313" name="Google Shape;1313;p8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4" name="Google Shape;1314;p84"/>
            <p:cNvSpPr txBox="1"/>
            <p:nvPr/>
          </p:nvSpPr>
          <p:spPr>
            <a:xfrm rot="-1541202">
              <a:off x="5298462" y="2994980"/>
              <a:ext cx="271312" cy="291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4"/>
            <p:cNvSpPr txBox="1"/>
            <p:nvPr/>
          </p:nvSpPr>
          <p:spPr>
            <a:xfrm rot="-1541202">
              <a:off x="8282519" y="2994980"/>
              <a:ext cx="271312" cy="291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6" name="Google Shape;1316;p84"/>
          <p:cNvGrpSpPr/>
          <p:nvPr/>
        </p:nvGrpSpPr>
        <p:grpSpPr>
          <a:xfrm rot="-1171436">
            <a:off x="5694612" y="1100088"/>
            <a:ext cx="3130827" cy="1989413"/>
            <a:chOff x="6074491" y="1322118"/>
            <a:chExt cx="3130833" cy="1989417"/>
          </a:xfrm>
        </p:grpSpPr>
        <p:grpSp>
          <p:nvGrpSpPr>
            <p:cNvPr id="1317" name="Google Shape;1317;p84"/>
            <p:cNvGrpSpPr/>
            <p:nvPr/>
          </p:nvGrpSpPr>
          <p:grpSpPr>
            <a:xfrm>
              <a:off x="6474914" y="1323536"/>
              <a:ext cx="1988000" cy="1988000"/>
              <a:chOff x="129683" y="1865293"/>
              <a:chExt cx="1203900" cy="1203900"/>
            </a:xfrm>
          </p:grpSpPr>
          <p:sp>
            <p:nvSpPr>
              <p:cNvPr id="1318" name="Google Shape;1318;p84"/>
              <p:cNvSpPr/>
              <p:nvPr/>
            </p:nvSpPr>
            <p:spPr>
              <a:xfrm>
                <a:off x="129683" y="1865293"/>
                <a:ext cx="1203900" cy="1203900"/>
              </a:xfrm>
              <a:prstGeom prst="arc">
                <a:avLst>
                  <a:gd fmla="val 16961417" name="adj1"/>
                  <a:gd fmla="val 17948854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9" name="Google Shape;1319;p84"/>
              <p:cNvSpPr/>
              <p:nvPr/>
            </p:nvSpPr>
            <p:spPr>
              <a:xfrm flipH="1" rot="10800000">
                <a:off x="129683" y="1865293"/>
                <a:ext cx="1203900" cy="1203900"/>
              </a:xfrm>
              <a:prstGeom prst="arc">
                <a:avLst>
                  <a:gd fmla="val 16554866" name="adj1"/>
                  <a:gd fmla="val 17960911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0" name="Google Shape;1320;p84"/>
            <p:cNvGrpSpPr/>
            <p:nvPr/>
          </p:nvGrpSpPr>
          <p:grpSpPr>
            <a:xfrm>
              <a:off x="6074491" y="2304468"/>
              <a:ext cx="2803877" cy="339900"/>
              <a:chOff x="5245577" y="2970918"/>
              <a:chExt cx="3361156" cy="339900"/>
            </a:xfrm>
          </p:grpSpPr>
          <p:cxnSp>
            <p:nvCxnSpPr>
              <p:cNvPr id="1321" name="Google Shape;1321;p84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2" name="Google Shape;1322;p84"/>
              <p:cNvSpPr txBox="1"/>
              <p:nvPr/>
            </p:nvSpPr>
            <p:spPr>
              <a:xfrm rot="987358">
                <a:off x="5295394" y="2998918"/>
                <a:ext cx="277466" cy="28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3" name="Google Shape;1323;p84"/>
              <p:cNvSpPr txBox="1"/>
              <p:nvPr/>
            </p:nvSpPr>
            <p:spPr>
              <a:xfrm rot="987358">
                <a:off x="8279450" y="2998918"/>
                <a:ext cx="277466" cy="283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24" name="Google Shape;1324;p84"/>
            <p:cNvSpPr/>
            <p:nvPr/>
          </p:nvSpPr>
          <p:spPr>
            <a:xfrm>
              <a:off x="7470687" y="1943025"/>
              <a:ext cx="741600" cy="7422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5" name="Google Shape;1325;p84"/>
            <p:cNvGrpSpPr/>
            <p:nvPr/>
          </p:nvGrpSpPr>
          <p:grpSpPr>
            <a:xfrm flipH="1">
              <a:off x="7217324" y="1322118"/>
              <a:ext cx="1988000" cy="1988000"/>
              <a:chOff x="95125" y="1860572"/>
              <a:chExt cx="1203900" cy="1203900"/>
            </a:xfrm>
          </p:grpSpPr>
          <p:sp>
            <p:nvSpPr>
              <p:cNvPr id="1326" name="Google Shape;1326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6785779" name="adj1"/>
                  <a:gd fmla="val 18046543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7" name="Google Shape;1327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6960589" name="adj1"/>
                  <a:gd fmla="val 1798223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28" name="Google Shape;1328;p84"/>
            <p:cNvSpPr/>
            <p:nvPr/>
          </p:nvSpPr>
          <p:spPr>
            <a:xfrm>
              <a:off x="7553198" y="2026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9" name="Google Shape;1329;p84"/>
            <p:cNvSpPr txBox="1"/>
            <p:nvPr/>
          </p:nvSpPr>
          <p:spPr>
            <a:xfrm rot="1168906">
              <a:off x="7665207" y="2385899"/>
              <a:ext cx="342722" cy="2772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0" name="Google Shape;1330;p84"/>
          <p:cNvSpPr/>
          <p:nvPr/>
        </p:nvSpPr>
        <p:spPr>
          <a:xfrm rot="5400000">
            <a:off x="3244885" y="3804975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3166368" y="3710854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2" name="Google Shape;1332;p84"/>
          <p:cNvGrpSpPr/>
          <p:nvPr/>
        </p:nvGrpSpPr>
        <p:grpSpPr>
          <a:xfrm rot="5400000">
            <a:off x="2218951" y="3381644"/>
            <a:ext cx="2371492" cy="256109"/>
            <a:chOff x="5236592" y="2983850"/>
            <a:chExt cx="3379156" cy="256109"/>
          </a:xfrm>
        </p:grpSpPr>
        <p:cxnSp>
          <p:nvCxnSpPr>
            <p:cNvPr id="1333" name="Google Shape;1333;p8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4" name="Google Shape;1334;p84"/>
            <p:cNvSpPr txBox="1"/>
            <p:nvPr/>
          </p:nvSpPr>
          <p:spPr>
            <a:xfrm rot="-5400000">
              <a:off x="5335142" y="2943409"/>
              <a:ext cx="19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4"/>
            <p:cNvSpPr txBox="1"/>
            <p:nvPr/>
          </p:nvSpPr>
          <p:spPr>
            <a:xfrm rot="-5400000">
              <a:off x="8319199" y="2943409"/>
              <a:ext cx="1980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6" name="Google Shape;1336;p84"/>
          <p:cNvSpPr/>
          <p:nvPr/>
        </p:nvSpPr>
        <p:spPr>
          <a:xfrm rot="7199730">
            <a:off x="6102981" y="3902323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4"/>
          <p:cNvSpPr txBox="1"/>
          <p:nvPr/>
        </p:nvSpPr>
        <p:spPr>
          <a:xfrm>
            <a:off x="6173224" y="3742790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8" name="Google Shape;1338;p84"/>
          <p:cNvGrpSpPr/>
          <p:nvPr/>
        </p:nvGrpSpPr>
        <p:grpSpPr>
          <a:xfrm rot="7199900">
            <a:off x="5358435" y="3710578"/>
            <a:ext cx="2079479" cy="312128"/>
            <a:chOff x="5183492" y="2983850"/>
            <a:chExt cx="3565456" cy="312135"/>
          </a:xfrm>
        </p:grpSpPr>
        <p:cxnSp>
          <p:nvCxnSpPr>
            <p:cNvPr id="1339" name="Google Shape;1339;p8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0" name="Google Shape;1340;p84"/>
            <p:cNvSpPr txBox="1"/>
            <p:nvPr/>
          </p:nvSpPr>
          <p:spPr>
            <a:xfrm rot="-8081875">
              <a:off x="5353487" y="2923730"/>
              <a:ext cx="241410" cy="434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4"/>
            <p:cNvSpPr txBox="1"/>
            <p:nvPr/>
          </p:nvSpPr>
          <p:spPr>
            <a:xfrm rot="-8081875">
              <a:off x="8337544" y="2923730"/>
              <a:ext cx="241410" cy="4343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42" name="Google Shape;1342;p84"/>
          <p:cNvCxnSpPr/>
          <p:nvPr/>
        </p:nvCxnSpPr>
        <p:spPr>
          <a:xfrm>
            <a:off x="1214056" y="1371028"/>
            <a:ext cx="0" cy="21249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3" name="Google Shape;1343;p84"/>
          <p:cNvCxnSpPr/>
          <p:nvPr/>
        </p:nvCxnSpPr>
        <p:spPr>
          <a:xfrm flipH="1">
            <a:off x="4243475" y="1156725"/>
            <a:ext cx="1061400" cy="18282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84"/>
          <p:cNvCxnSpPr/>
          <p:nvPr/>
        </p:nvCxnSpPr>
        <p:spPr>
          <a:xfrm>
            <a:off x="7084325" y="1002725"/>
            <a:ext cx="758400" cy="21408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45" name="Google Shape;1345;p84"/>
          <p:cNvGrpSpPr/>
          <p:nvPr/>
        </p:nvGrpSpPr>
        <p:grpSpPr>
          <a:xfrm rot="5400000">
            <a:off x="1919738" y="3100166"/>
            <a:ext cx="3152175" cy="1988000"/>
            <a:chOff x="-363478" y="1468386"/>
            <a:chExt cx="3152175" cy="1988000"/>
          </a:xfrm>
        </p:grpSpPr>
        <p:grpSp>
          <p:nvGrpSpPr>
            <p:cNvPr id="1346" name="Google Shape;1346;p84"/>
            <p:cNvGrpSpPr/>
            <p:nvPr/>
          </p:nvGrpSpPr>
          <p:grpSpPr>
            <a:xfrm>
              <a:off x="-363478" y="1468386"/>
              <a:ext cx="1988000" cy="1988000"/>
              <a:chOff x="95125" y="1860572"/>
              <a:chExt cx="1203900" cy="1203900"/>
            </a:xfrm>
          </p:grpSpPr>
          <p:sp>
            <p:nvSpPr>
              <p:cNvPr id="1347" name="Google Shape;1347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966683" name="adj1"/>
                  <a:gd fmla="val 1922395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8" name="Google Shape;1348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659523" name="adj1"/>
                  <a:gd fmla="val 18936552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49" name="Google Shape;1349;p84"/>
            <p:cNvGrpSpPr/>
            <p:nvPr/>
          </p:nvGrpSpPr>
          <p:grpSpPr>
            <a:xfrm flipH="1">
              <a:off x="800697" y="1468386"/>
              <a:ext cx="1988000" cy="1988000"/>
              <a:chOff x="95125" y="1860572"/>
              <a:chExt cx="1203900" cy="1203900"/>
            </a:xfrm>
          </p:grpSpPr>
          <p:sp>
            <p:nvSpPr>
              <p:cNvPr id="1350" name="Google Shape;1350;p84"/>
              <p:cNvSpPr/>
              <p:nvPr/>
            </p:nvSpPr>
            <p:spPr>
              <a:xfrm>
                <a:off x="95125" y="1860572"/>
                <a:ext cx="1203900" cy="1203900"/>
              </a:xfrm>
              <a:prstGeom prst="arc">
                <a:avLst>
                  <a:gd fmla="val 17801998" name="adj1"/>
                  <a:gd fmla="val 19131496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1" name="Google Shape;1351;p84"/>
              <p:cNvSpPr/>
              <p:nvPr/>
            </p:nvSpPr>
            <p:spPr>
              <a:xfrm flipH="1" rot="10800000">
                <a:off x="95125" y="1860572"/>
                <a:ext cx="1203900" cy="1203900"/>
              </a:xfrm>
              <a:prstGeom prst="arc">
                <a:avLst>
                  <a:gd fmla="val 17793231" name="adj1"/>
                  <a:gd fmla="val 19048745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352" name="Google Shape;1352;p84"/>
          <p:cNvCxnSpPr/>
          <p:nvPr/>
        </p:nvCxnSpPr>
        <p:spPr>
          <a:xfrm>
            <a:off x="3524734" y="3033162"/>
            <a:ext cx="0" cy="21249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53" name="Google Shape;1353;p84"/>
          <p:cNvGrpSpPr/>
          <p:nvPr/>
        </p:nvGrpSpPr>
        <p:grpSpPr>
          <a:xfrm rot="1797696">
            <a:off x="5330934" y="2608487"/>
            <a:ext cx="2125243" cy="3152683"/>
            <a:chOff x="4711959" y="3719203"/>
            <a:chExt cx="2124900" cy="3152175"/>
          </a:xfrm>
        </p:grpSpPr>
        <p:grpSp>
          <p:nvGrpSpPr>
            <p:cNvPr id="1354" name="Google Shape;1354;p84"/>
            <p:cNvGrpSpPr/>
            <p:nvPr/>
          </p:nvGrpSpPr>
          <p:grpSpPr>
            <a:xfrm rot="5400000">
              <a:off x="4169413" y="4301291"/>
              <a:ext cx="3152175" cy="1988000"/>
              <a:chOff x="-363478" y="1468386"/>
              <a:chExt cx="3152175" cy="1988000"/>
            </a:xfrm>
          </p:grpSpPr>
          <p:grpSp>
            <p:nvGrpSpPr>
              <p:cNvPr id="1355" name="Google Shape;1355;p84"/>
              <p:cNvGrpSpPr/>
              <p:nvPr/>
            </p:nvGrpSpPr>
            <p:grpSpPr>
              <a:xfrm>
                <a:off x="-363478" y="1468386"/>
                <a:ext cx="1988000" cy="1988000"/>
                <a:chOff x="95125" y="1860572"/>
                <a:chExt cx="1203900" cy="1203900"/>
              </a:xfrm>
            </p:grpSpPr>
            <p:sp>
              <p:nvSpPr>
                <p:cNvPr id="1356" name="Google Shape;1356;p84"/>
                <p:cNvSpPr/>
                <p:nvPr/>
              </p:nvSpPr>
              <p:spPr>
                <a:xfrm>
                  <a:off x="95125" y="1860572"/>
                  <a:ext cx="1203900" cy="1203900"/>
                </a:xfrm>
                <a:prstGeom prst="arc">
                  <a:avLst>
                    <a:gd fmla="val 17966683" name="adj1"/>
                    <a:gd fmla="val 19223956" name="adj2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57" name="Google Shape;1357;p84"/>
                <p:cNvSpPr/>
                <p:nvPr/>
              </p:nvSpPr>
              <p:spPr>
                <a:xfrm flipH="1" rot="10800000">
                  <a:off x="95125" y="1860572"/>
                  <a:ext cx="1203900" cy="1203900"/>
                </a:xfrm>
                <a:prstGeom prst="arc">
                  <a:avLst>
                    <a:gd fmla="val 17659523" name="adj1"/>
                    <a:gd fmla="val 18936552" name="adj2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358" name="Google Shape;1358;p84"/>
              <p:cNvGrpSpPr/>
              <p:nvPr/>
            </p:nvGrpSpPr>
            <p:grpSpPr>
              <a:xfrm flipH="1">
                <a:off x="800697" y="1468386"/>
                <a:ext cx="1988000" cy="1988000"/>
                <a:chOff x="95125" y="1860572"/>
                <a:chExt cx="1203900" cy="1203900"/>
              </a:xfrm>
            </p:grpSpPr>
            <p:sp>
              <p:nvSpPr>
                <p:cNvPr id="1359" name="Google Shape;1359;p84"/>
                <p:cNvSpPr/>
                <p:nvPr/>
              </p:nvSpPr>
              <p:spPr>
                <a:xfrm>
                  <a:off x="95125" y="1860572"/>
                  <a:ext cx="1203900" cy="1203900"/>
                </a:xfrm>
                <a:prstGeom prst="arc">
                  <a:avLst>
                    <a:gd fmla="val 17801998" name="adj1"/>
                    <a:gd fmla="val 19131496" name="adj2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60" name="Google Shape;1360;p84"/>
                <p:cNvSpPr/>
                <p:nvPr/>
              </p:nvSpPr>
              <p:spPr>
                <a:xfrm flipH="1" rot="10800000">
                  <a:off x="95125" y="1860572"/>
                  <a:ext cx="1203900" cy="1203900"/>
                </a:xfrm>
                <a:prstGeom prst="arc">
                  <a:avLst>
                    <a:gd fmla="val 17793231" name="adj1"/>
                    <a:gd fmla="val 19048745" name="adj2"/>
                  </a:avLst>
                </a:prstGeom>
                <a:noFill/>
                <a:ln cap="flat" cmpd="sng" w="2857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cxnSp>
          <p:nvCxnSpPr>
            <p:cNvPr id="1361" name="Google Shape;1361;p84"/>
            <p:cNvCxnSpPr/>
            <p:nvPr/>
          </p:nvCxnSpPr>
          <p:spPr>
            <a:xfrm>
              <a:off x="5774409" y="4234287"/>
              <a:ext cx="0" cy="212490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82" y="1395880"/>
            <a:ext cx="4445875" cy="286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85"/>
          <p:cNvSpPr txBox="1"/>
          <p:nvPr/>
        </p:nvSpPr>
        <p:spPr>
          <a:xfrm>
            <a:off x="324000" y="673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a) Construct the perpendicular to AB through X and the perpendicular to BC through 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369" name="Google Shape;1369;p85"/>
          <p:cNvSpPr txBox="1"/>
          <p:nvPr/>
        </p:nvSpPr>
        <p:spPr>
          <a:xfrm>
            <a:off x="308117" y="219887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5"/>
          <p:cNvSpPr txBox="1"/>
          <p:nvPr/>
        </p:nvSpPr>
        <p:spPr>
          <a:xfrm>
            <a:off x="563467" y="278227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85"/>
          <p:cNvSpPr txBox="1"/>
          <p:nvPr/>
        </p:nvSpPr>
        <p:spPr>
          <a:xfrm>
            <a:off x="1221292" y="4188897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85"/>
          <p:cNvSpPr txBox="1"/>
          <p:nvPr/>
        </p:nvSpPr>
        <p:spPr>
          <a:xfrm>
            <a:off x="2709567" y="412042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85"/>
          <p:cNvSpPr txBox="1"/>
          <p:nvPr/>
        </p:nvSpPr>
        <p:spPr>
          <a:xfrm>
            <a:off x="4599692" y="4007322"/>
            <a:ext cx="315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5"/>
          <p:cNvSpPr/>
          <p:nvPr/>
        </p:nvSpPr>
        <p:spPr>
          <a:xfrm rot="5400000">
            <a:off x="2456140" y="1787330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5"/>
          <p:cNvSpPr txBox="1"/>
          <p:nvPr/>
        </p:nvSpPr>
        <p:spPr>
          <a:xfrm>
            <a:off x="2377623" y="1693210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5"/>
          <p:cNvSpPr txBox="1"/>
          <p:nvPr/>
        </p:nvSpPr>
        <p:spPr>
          <a:xfrm>
            <a:off x="4708950" y="1436100"/>
            <a:ext cx="4111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XBYZ creates a kite. This is because XB = BY, and XZ = YZ.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∠ZXB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∠ZYB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8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pic>
        <p:nvPicPr>
          <p:cNvPr id="1382" name="Google Shape;138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2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8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384" name="Google Shape;1384;p8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385" name="Google Shape;1385;p8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87"/>
          <p:cNvSpPr/>
          <p:nvPr/>
        </p:nvSpPr>
        <p:spPr>
          <a:xfrm rot="1500">
            <a:off x="4398849" y="2206336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1" name="Google Shape;1391;p87"/>
          <p:cNvCxnSpPr/>
          <p:nvPr/>
        </p:nvCxnSpPr>
        <p:spPr>
          <a:xfrm>
            <a:off x="4096275" y="2894675"/>
            <a:ext cx="395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92" name="Google Shape;1392;p87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1309375" y="3502975"/>
            <a:ext cx="1648640" cy="79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87"/>
          <p:cNvSpPr txBox="1"/>
          <p:nvPr/>
        </p:nvSpPr>
        <p:spPr>
          <a:xfrm>
            <a:off x="1442522" y="3561617"/>
            <a:ext cx="1537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Why is it impossible?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4" name="Google Shape;1394;p87"/>
          <p:cNvGrpSpPr/>
          <p:nvPr/>
        </p:nvGrpSpPr>
        <p:grpSpPr>
          <a:xfrm>
            <a:off x="1225082" y="2554777"/>
            <a:ext cx="2590819" cy="1986653"/>
            <a:chOff x="4482712" y="3603743"/>
            <a:chExt cx="3215213" cy="1325407"/>
          </a:xfrm>
        </p:grpSpPr>
        <p:sp>
          <p:nvSpPr>
            <p:cNvPr id="1395" name="Google Shape;1395;p87"/>
            <p:cNvSpPr/>
            <p:nvPr/>
          </p:nvSpPr>
          <p:spPr>
            <a:xfrm>
              <a:off x="4631925" y="3625650"/>
              <a:ext cx="3066000" cy="130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96" name="Google Shape;1396;p87"/>
            <p:cNvGrpSpPr/>
            <p:nvPr/>
          </p:nvGrpSpPr>
          <p:grpSpPr>
            <a:xfrm>
              <a:off x="4482712" y="3603743"/>
              <a:ext cx="3168024" cy="1318599"/>
              <a:chOff x="4639186" y="3548699"/>
              <a:chExt cx="3255265" cy="1602576"/>
            </a:xfrm>
          </p:grpSpPr>
          <p:pic>
            <p:nvPicPr>
              <p:cNvPr id="1397" name="Google Shape;1397;p87"/>
              <p:cNvPicPr preferRelativeResize="0"/>
              <p:nvPr/>
            </p:nvPicPr>
            <p:blipFill rotWithShape="1">
              <a:blip r:embed="rId3">
                <a:alphaModFix/>
              </a:blip>
              <a:srcRect b="4765" l="40550" r="0" t="12067"/>
              <a:stretch/>
            </p:blipFill>
            <p:spPr>
              <a:xfrm>
                <a:off x="4639186" y="3548699"/>
                <a:ext cx="3255265" cy="1602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8" name="Google Shape;1398;p87"/>
              <p:cNvSpPr txBox="1"/>
              <p:nvPr/>
            </p:nvSpPr>
            <p:spPr>
              <a:xfrm>
                <a:off x="4909238" y="3612517"/>
                <a:ext cx="2934900" cy="12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Can’t you just draw more of the line segment until it intersects the circle again?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99" name="Google Shape;1399;p87"/>
          <p:cNvGrpSpPr/>
          <p:nvPr/>
        </p:nvGrpSpPr>
        <p:grpSpPr>
          <a:xfrm>
            <a:off x="721880" y="842109"/>
            <a:ext cx="3545309" cy="1803859"/>
            <a:chOff x="4639186" y="3548699"/>
            <a:chExt cx="3255265" cy="1602576"/>
          </a:xfrm>
        </p:grpSpPr>
        <p:pic>
          <p:nvPicPr>
            <p:cNvPr id="1400" name="Google Shape;1400;p87"/>
            <p:cNvPicPr preferRelativeResize="0"/>
            <p:nvPr/>
          </p:nvPicPr>
          <p:blipFill rotWithShape="1">
            <a:blip r:embed="rId3">
              <a:alphaModFix/>
            </a:blip>
            <a:srcRect b="4765" l="40550" r="0" t="12067"/>
            <a:stretch/>
          </p:blipFill>
          <p:spPr>
            <a:xfrm>
              <a:off x="4639186" y="3548699"/>
              <a:ext cx="3255265" cy="1602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1" name="Google Shape;1401;p87"/>
            <p:cNvSpPr txBox="1"/>
            <p:nvPr/>
          </p:nvSpPr>
          <p:spPr>
            <a:xfrm>
              <a:off x="4909238" y="3639645"/>
              <a:ext cx="2934900" cy="12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knew some perpendiculars couldn’t be drawn!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if the point is at the end of a line segment?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2" name="Google Shape;1402;p87"/>
          <p:cNvGrpSpPr/>
          <p:nvPr/>
        </p:nvGrpSpPr>
        <p:grpSpPr>
          <a:xfrm>
            <a:off x="502164" y="613494"/>
            <a:ext cx="3855683" cy="1986653"/>
            <a:chOff x="4482712" y="3603743"/>
            <a:chExt cx="3215213" cy="1325407"/>
          </a:xfrm>
        </p:grpSpPr>
        <p:sp>
          <p:nvSpPr>
            <p:cNvPr id="1403" name="Google Shape;1403;p87"/>
            <p:cNvSpPr/>
            <p:nvPr/>
          </p:nvSpPr>
          <p:spPr>
            <a:xfrm>
              <a:off x="4631925" y="3625650"/>
              <a:ext cx="3066000" cy="130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404" name="Google Shape;1404;p87"/>
            <p:cNvGrpSpPr/>
            <p:nvPr/>
          </p:nvGrpSpPr>
          <p:grpSpPr>
            <a:xfrm>
              <a:off x="4482712" y="3603743"/>
              <a:ext cx="3168024" cy="1318599"/>
              <a:chOff x="4639186" y="3548699"/>
              <a:chExt cx="3255265" cy="1602576"/>
            </a:xfrm>
          </p:grpSpPr>
          <p:pic>
            <p:nvPicPr>
              <p:cNvPr id="1405" name="Google Shape;1405;p87"/>
              <p:cNvPicPr preferRelativeResize="0"/>
              <p:nvPr/>
            </p:nvPicPr>
            <p:blipFill rotWithShape="1">
              <a:blip r:embed="rId3">
                <a:alphaModFix/>
              </a:blip>
              <a:srcRect b="4765" l="40550" r="0" t="12067"/>
              <a:stretch/>
            </p:blipFill>
            <p:spPr>
              <a:xfrm>
                <a:off x="4639186" y="3548699"/>
                <a:ext cx="3255265" cy="1602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6" name="Google Shape;1406;p87"/>
              <p:cNvSpPr txBox="1"/>
              <p:nvPr/>
            </p:nvSpPr>
            <p:spPr>
              <a:xfrm>
                <a:off x="4909238" y="3627729"/>
                <a:ext cx="2934900" cy="125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Because any circle you draw will instantly go off of AB, and the rule was the circle still had to intersect AB exactly twice, right?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07" name="Google Shape;140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408" name="Google Shape;1408;p87"/>
          <p:cNvSpPr txBox="1"/>
          <p:nvPr/>
        </p:nvSpPr>
        <p:spPr>
          <a:xfrm flipH="1">
            <a:off x="324000" y="30789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9" name="Google Shape;140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1559" y="2279400"/>
            <a:ext cx="649083" cy="79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0" name="Google Shape;1410;p87"/>
          <p:cNvGrpSpPr/>
          <p:nvPr/>
        </p:nvGrpSpPr>
        <p:grpSpPr>
          <a:xfrm>
            <a:off x="4929609" y="2892275"/>
            <a:ext cx="3266356" cy="295650"/>
            <a:chOff x="5292934" y="2983850"/>
            <a:chExt cx="3266356" cy="295650"/>
          </a:xfrm>
        </p:grpSpPr>
        <p:cxnSp>
          <p:nvCxnSpPr>
            <p:cNvPr id="1411" name="Google Shape;1411;p8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2" name="Google Shape;1412;p8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3" name="Google Shape;1413;p8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14" name="Google Shape;1414;p87"/>
          <p:cNvSpPr/>
          <p:nvPr/>
        </p:nvSpPr>
        <p:spPr>
          <a:xfrm>
            <a:off x="4848424" y="2656352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7"/>
          <p:cNvSpPr txBox="1"/>
          <p:nvPr/>
        </p:nvSpPr>
        <p:spPr>
          <a:xfrm>
            <a:off x="640775" y="4450821"/>
            <a:ext cx="79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6" name="Google Shape;1416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4401" y="3808494"/>
            <a:ext cx="609629" cy="79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88"/>
          <p:cNvSpPr txBox="1"/>
          <p:nvPr/>
        </p:nvSpPr>
        <p:spPr>
          <a:xfrm>
            <a:off x="3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4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423" name="Google Shape;1423;p88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424" name="Google Shape;1424;p8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8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6" name="Google Shape;1426;p8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7" name="Google Shape;1427;p88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8"/>
          <p:cNvSpPr txBox="1"/>
          <p:nvPr/>
        </p:nvSpPr>
        <p:spPr>
          <a:xfrm>
            <a:off x="324000" y="3928050"/>
            <a:ext cx="399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point we want to construct the perpendicular through is at endpoint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8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8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1" name="Google Shape;1431;p88"/>
          <p:cNvGrpSpPr/>
          <p:nvPr/>
        </p:nvGrpSpPr>
        <p:grpSpPr>
          <a:xfrm>
            <a:off x="1561907" y="2764940"/>
            <a:ext cx="1942247" cy="1620300"/>
            <a:chOff x="1672655" y="2776866"/>
            <a:chExt cx="1622053" cy="1620300"/>
          </a:xfrm>
        </p:grpSpPr>
        <p:cxnSp>
          <p:nvCxnSpPr>
            <p:cNvPr id="1432" name="Google Shape;1432;p88"/>
            <p:cNvCxnSpPr/>
            <p:nvPr/>
          </p:nvCxnSpPr>
          <p:spPr>
            <a:xfrm flipH="1" rot="-8100000">
              <a:off x="1913286" y="3012563"/>
              <a:ext cx="1142543" cy="1148907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33" name="Google Shape;1433;p88"/>
            <p:cNvSpPr txBox="1"/>
            <p:nvPr/>
          </p:nvSpPr>
          <p:spPr>
            <a:xfrm rot="-27120">
              <a:off x="1672630" y="3584192"/>
              <a:ext cx="1559149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34" name="Google Shape;1434;p88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435" name="Google Shape;1435;p8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6" name="Google Shape;1436;p88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88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8" name="Google Shape;1438;p88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9" name="Google Shape;1439;p88"/>
          <p:cNvGrpSpPr/>
          <p:nvPr/>
        </p:nvGrpSpPr>
        <p:grpSpPr>
          <a:xfrm>
            <a:off x="5586325" y="2533311"/>
            <a:ext cx="2658222" cy="2217705"/>
            <a:chOff x="1672654" y="2776866"/>
            <a:chExt cx="1622054" cy="1620300"/>
          </a:xfrm>
        </p:grpSpPr>
        <p:cxnSp>
          <p:nvCxnSpPr>
            <p:cNvPr id="1440" name="Google Shape;1440;p88"/>
            <p:cNvCxnSpPr/>
            <p:nvPr/>
          </p:nvCxnSpPr>
          <p:spPr>
            <a:xfrm flipH="1" rot="-8100000">
              <a:off x="1913286" y="3012563"/>
              <a:ext cx="1142543" cy="1148907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41" name="Google Shape;1441;p88"/>
            <p:cNvSpPr txBox="1"/>
            <p:nvPr/>
          </p:nvSpPr>
          <p:spPr>
            <a:xfrm rot="-27359">
              <a:off x="1672629" y="3583899"/>
              <a:ext cx="1620951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b="0" i="0" lang="en-GB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89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9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9"/>
          <p:cNvSpPr txBox="1"/>
          <p:nvPr/>
        </p:nvSpPr>
        <p:spPr>
          <a:xfrm>
            <a:off x="324000" y="622800"/>
            <a:ext cx="40944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at point A and draw a circle.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450" name="Google Shape;1450;p89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451" name="Google Shape;1451;p8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2" name="Google Shape;1452;p89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89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4" name="Google Shape;1454;p89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9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9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7" name="Google Shape;1457;p89"/>
          <p:cNvGrpSpPr/>
          <p:nvPr/>
        </p:nvGrpSpPr>
        <p:grpSpPr>
          <a:xfrm rot="3119718">
            <a:off x="679627" y="2223312"/>
            <a:ext cx="1129250" cy="1281908"/>
            <a:chOff x="1031081" y="1359018"/>
            <a:chExt cx="1766536" cy="2005345"/>
          </a:xfrm>
        </p:grpSpPr>
        <p:pic>
          <p:nvPicPr>
            <p:cNvPr id="1458" name="Google Shape;1458;p89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035501">
              <a:off x="1375597" y="1886226"/>
              <a:ext cx="624656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9" name="Google Shape;1459;p89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0" name="Google Shape;1460;p89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1" name="Google Shape;1461;p89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462" name="Google Shape;1462;p8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3" name="Google Shape;1463;p89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4" name="Google Shape;1464;p89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5" name="Google Shape;1465;p89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0" name="Google Shape;1470;p90"/>
          <p:cNvCxnSpPr/>
          <p:nvPr/>
        </p:nvCxnSpPr>
        <p:spPr>
          <a:xfrm>
            <a:off x="5012525" y="3316625"/>
            <a:ext cx="213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90"/>
          <p:cNvCxnSpPr/>
          <p:nvPr/>
        </p:nvCxnSpPr>
        <p:spPr>
          <a:xfrm>
            <a:off x="541358" y="32749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2" name="Google Shape;1472;p90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0"/>
          <p:cNvSpPr txBox="1"/>
          <p:nvPr/>
        </p:nvSpPr>
        <p:spPr>
          <a:xfrm>
            <a:off x="324000" y="622800"/>
            <a:ext cx="40944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your ruler carefully over line segment AB and extend the line segment until it intersects the circle a second time.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0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476" name="Google Shape;1476;p90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477" name="Google Shape;1477;p9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8" name="Google Shape;1478;p90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9" name="Google Shape;1479;p90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0" name="Google Shape;1480;p90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0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0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3" name="Google Shape;1483;p90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484" name="Google Shape;1484;p90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5" name="Google Shape;1485;p90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6" name="Google Shape;1486;p90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7" name="Google Shape;1487;p90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88" name="Google Shape;1488;p90"/>
          <p:cNvGrpSpPr/>
          <p:nvPr/>
        </p:nvGrpSpPr>
        <p:grpSpPr>
          <a:xfrm rot="17975">
            <a:off x="306974" y="3223657"/>
            <a:ext cx="3720302" cy="781184"/>
            <a:chOff x="5005925" y="6107800"/>
            <a:chExt cx="3814077" cy="800875"/>
          </a:xfrm>
        </p:grpSpPr>
        <p:sp>
          <p:nvSpPr>
            <p:cNvPr id="1489" name="Google Shape;1489;p90"/>
            <p:cNvSpPr/>
            <p:nvPr/>
          </p:nvSpPr>
          <p:spPr>
            <a:xfrm>
              <a:off x="5101150" y="6217700"/>
              <a:ext cx="3688200" cy="58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490" name="Google Shape;1490;p90"/>
            <p:cNvPicPr preferRelativeResize="0"/>
            <p:nvPr/>
          </p:nvPicPr>
          <p:blipFill rotWithShape="1">
            <a:blip r:embed="rId3">
              <a:alphaModFix/>
            </a:blip>
            <a:srcRect b="0" l="1921" r="41572" t="0"/>
            <a:stretch/>
          </p:blipFill>
          <p:spPr>
            <a:xfrm>
              <a:off x="5005925" y="6107800"/>
              <a:ext cx="3814077" cy="800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5" name="Google Shape;1495;p91"/>
          <p:cNvCxnSpPr/>
          <p:nvPr/>
        </p:nvCxnSpPr>
        <p:spPr>
          <a:xfrm>
            <a:off x="5012525" y="3316625"/>
            <a:ext cx="213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91"/>
          <p:cNvCxnSpPr/>
          <p:nvPr/>
        </p:nvCxnSpPr>
        <p:spPr>
          <a:xfrm>
            <a:off x="541358" y="32749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7" name="Google Shape;1497;p91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91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500" name="Google Shape;1500;p91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501" name="Google Shape;1501;p9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2" name="Google Shape;1502;p91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91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04" name="Google Shape;1504;p91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1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6" name="Google Shape;1506;p91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507" name="Google Shape;1507;p9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8" name="Google Shape;1508;p91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1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0" name="Google Shape;1510;p91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1"/>
          <p:cNvSpPr txBox="1"/>
          <p:nvPr/>
        </p:nvSpPr>
        <p:spPr>
          <a:xfrm>
            <a:off x="3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the compass needle at one intersection between the extended line segment and the circle.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2" name="Google Shape;1512;p91"/>
          <p:cNvGrpSpPr/>
          <p:nvPr/>
        </p:nvGrpSpPr>
        <p:grpSpPr>
          <a:xfrm flipH="1" rot="-3119718">
            <a:off x="630085" y="2235442"/>
            <a:ext cx="1119150" cy="1239488"/>
            <a:chOff x="1046880" y="1359018"/>
            <a:chExt cx="1750736" cy="1938986"/>
          </a:xfrm>
        </p:grpSpPr>
        <p:pic>
          <p:nvPicPr>
            <p:cNvPr id="1513" name="Google Shape;1513;p91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4" name="Google Shape;1514;p91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5" name="Google Shape;1515;p91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0" name="Google Shape;1520;p92"/>
          <p:cNvCxnSpPr/>
          <p:nvPr/>
        </p:nvCxnSpPr>
        <p:spPr>
          <a:xfrm>
            <a:off x="5012525" y="3316625"/>
            <a:ext cx="213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1" name="Google Shape;1521;p92"/>
          <p:cNvCxnSpPr/>
          <p:nvPr/>
        </p:nvCxnSpPr>
        <p:spPr>
          <a:xfrm>
            <a:off x="541358" y="32749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92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92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525" name="Google Shape;1525;p92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526" name="Google Shape;1526;p9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7" name="Google Shape;1527;p92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92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29" name="Google Shape;1529;p92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92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2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2" name="Google Shape;1532;p92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533" name="Google Shape;1533;p9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4" name="Google Shape;1534;p92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92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6" name="Google Shape;1536;p92"/>
          <p:cNvSpPr txBox="1"/>
          <p:nvPr/>
        </p:nvSpPr>
        <p:spPr>
          <a:xfrm>
            <a:off x="3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Make the width of the compass needle over half the diameter of the circle and draw two arcs.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2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8" name="Google Shape;1538;p92"/>
          <p:cNvGrpSpPr/>
          <p:nvPr/>
        </p:nvGrpSpPr>
        <p:grpSpPr>
          <a:xfrm flipH="1" rot="-3119718">
            <a:off x="630085" y="2235442"/>
            <a:ext cx="1119150" cy="1239488"/>
            <a:chOff x="1046880" y="1359018"/>
            <a:chExt cx="1750736" cy="1938986"/>
          </a:xfrm>
        </p:grpSpPr>
        <p:pic>
          <p:nvPicPr>
            <p:cNvPr id="1539" name="Google Shape;1539;p9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2272602">
              <a:off x="1418570" y="1831233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0" name="Google Shape;1540;p9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119722">
              <a:off x="1893334" y="1418961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1" name="Google Shape;1541;p9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2" name="Google Shape;1542;p92"/>
          <p:cNvGrpSpPr/>
          <p:nvPr/>
        </p:nvGrpSpPr>
        <p:grpSpPr>
          <a:xfrm flipH="1" rot="-3119718">
            <a:off x="744050" y="2263458"/>
            <a:ext cx="1171779" cy="1320791"/>
            <a:chOff x="1033884" y="1359018"/>
            <a:chExt cx="1833067" cy="2066173"/>
          </a:xfrm>
        </p:grpSpPr>
        <p:pic>
          <p:nvPicPr>
            <p:cNvPr id="1543" name="Google Shape;1543;p92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678330">
              <a:off x="1331617" y="1936814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4" name="Google Shape;1544;p92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674639">
              <a:off x="1934093" y="1344024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5" name="Google Shape;1545;p92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6" name="Google Shape;1546;p92"/>
          <p:cNvGrpSpPr/>
          <p:nvPr/>
        </p:nvGrpSpPr>
        <p:grpSpPr>
          <a:xfrm>
            <a:off x="-12952" y="2380250"/>
            <a:ext cx="1788900" cy="1788900"/>
            <a:chOff x="-12952" y="2380250"/>
            <a:chExt cx="1788900" cy="1788900"/>
          </a:xfrm>
        </p:grpSpPr>
        <p:sp>
          <p:nvSpPr>
            <p:cNvPr id="1547" name="Google Shape;1547;p92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8951430" name="adj1"/>
                <a:gd fmla="val 199696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92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467678" name="adj1"/>
                <a:gd fmla="val 2641185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9" name="Google Shape;1549;p92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18011127" name="adj1"/>
              <a:gd fmla="val 1926146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2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2470068" name="adj1"/>
              <a:gd fmla="val 3610921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5" name="Google Shape;1555;p93"/>
          <p:cNvCxnSpPr/>
          <p:nvPr/>
        </p:nvCxnSpPr>
        <p:spPr>
          <a:xfrm>
            <a:off x="5012525" y="3316625"/>
            <a:ext cx="213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93"/>
          <p:cNvCxnSpPr/>
          <p:nvPr/>
        </p:nvCxnSpPr>
        <p:spPr>
          <a:xfrm>
            <a:off x="541358" y="32749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93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3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560" name="Google Shape;1560;p93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561" name="Google Shape;1561;p93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2" name="Google Shape;1562;p93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93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4" name="Google Shape;1564;p93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3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3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7" name="Google Shape;1567;p93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568" name="Google Shape;1568;p93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9" name="Google Shape;1569;p93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0" name="Google Shape;1570;p93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1" name="Google Shape;1571;p93"/>
          <p:cNvSpPr txBox="1"/>
          <p:nvPr/>
        </p:nvSpPr>
        <p:spPr>
          <a:xfrm>
            <a:off x="3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Keeping the compass width the same, repeat with the compass needle at the other intersection.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3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3" name="Google Shape;1573;p93"/>
          <p:cNvGrpSpPr/>
          <p:nvPr/>
        </p:nvGrpSpPr>
        <p:grpSpPr>
          <a:xfrm>
            <a:off x="-12952" y="2380250"/>
            <a:ext cx="1788900" cy="1788900"/>
            <a:chOff x="-12952" y="2380250"/>
            <a:chExt cx="1788900" cy="1788900"/>
          </a:xfrm>
        </p:grpSpPr>
        <p:sp>
          <p:nvSpPr>
            <p:cNvPr id="1574" name="Google Shape;1574;p93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8951430" name="adj1"/>
                <a:gd fmla="val 199696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5" name="Google Shape;1575;p93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467678" name="adj1"/>
                <a:gd fmla="val 2641185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6" name="Google Shape;1576;p93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18011127" name="adj1"/>
              <a:gd fmla="val 1926146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3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2470068" name="adj1"/>
              <a:gd fmla="val 3610921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8" name="Google Shape;1578;p93"/>
          <p:cNvGrpSpPr/>
          <p:nvPr/>
        </p:nvGrpSpPr>
        <p:grpSpPr>
          <a:xfrm>
            <a:off x="1367739" y="2380250"/>
            <a:ext cx="1788900" cy="1788900"/>
            <a:chOff x="1367739" y="2380250"/>
            <a:chExt cx="1788900" cy="1788900"/>
          </a:xfrm>
        </p:grpSpPr>
        <p:sp>
          <p:nvSpPr>
            <p:cNvPr id="1579" name="Google Shape;1579;p93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8951430" name="adj1"/>
                <a:gd fmla="val 199696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0" name="Google Shape;1580;p93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467678" name="adj1"/>
                <a:gd fmla="val 2641185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1" name="Google Shape;1581;p93"/>
          <p:cNvGrpSpPr/>
          <p:nvPr/>
        </p:nvGrpSpPr>
        <p:grpSpPr>
          <a:xfrm>
            <a:off x="5215646" y="2419300"/>
            <a:ext cx="1788900" cy="1788900"/>
            <a:chOff x="1367739" y="2380250"/>
            <a:chExt cx="1788900" cy="1788900"/>
          </a:xfrm>
        </p:grpSpPr>
        <p:sp>
          <p:nvSpPr>
            <p:cNvPr id="1582" name="Google Shape;1582;p93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792728" name="adj1"/>
                <a:gd fmla="val 18779827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93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591894" name="adj1"/>
                <a:gd fmla="val 3849356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4" name="Google Shape;1584;p93"/>
          <p:cNvGrpSpPr/>
          <p:nvPr/>
        </p:nvGrpSpPr>
        <p:grpSpPr>
          <a:xfrm rot="3119718">
            <a:off x="1225973" y="2263458"/>
            <a:ext cx="1171779" cy="1320791"/>
            <a:chOff x="1033884" y="1359018"/>
            <a:chExt cx="1833067" cy="2066173"/>
          </a:xfrm>
        </p:grpSpPr>
        <p:pic>
          <p:nvPicPr>
            <p:cNvPr id="1585" name="Google Shape;1585;p93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678330">
              <a:off x="1331617" y="1936814"/>
              <a:ext cx="624657" cy="142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93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3674639">
              <a:off x="1934093" y="1344024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93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283370" y="1337589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94"/>
          <p:cNvSpPr/>
          <p:nvPr/>
        </p:nvSpPr>
        <p:spPr>
          <a:xfrm>
            <a:off x="1570246" y="3028358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4"/>
          <p:cNvSpPr/>
          <p:nvPr/>
        </p:nvSpPr>
        <p:spPr>
          <a:xfrm>
            <a:off x="5599296" y="3070033"/>
            <a:ext cx="246600" cy="24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4" name="Google Shape;1594;p94"/>
          <p:cNvCxnSpPr/>
          <p:nvPr/>
        </p:nvCxnSpPr>
        <p:spPr>
          <a:xfrm>
            <a:off x="5012525" y="3316625"/>
            <a:ext cx="213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94"/>
          <p:cNvCxnSpPr/>
          <p:nvPr/>
        </p:nvCxnSpPr>
        <p:spPr>
          <a:xfrm>
            <a:off x="541358" y="32749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94"/>
          <p:cNvSpPr/>
          <p:nvPr/>
        </p:nvSpPr>
        <p:spPr>
          <a:xfrm rot="1011">
            <a:off x="5089450" y="2799250"/>
            <a:ext cx="1019700" cy="1020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4"/>
          <p:cNvSpPr/>
          <p:nvPr/>
        </p:nvSpPr>
        <p:spPr>
          <a:xfrm rot="1500">
            <a:off x="883649" y="2586611"/>
            <a:ext cx="1375500" cy="13767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pSp>
        <p:nvGrpSpPr>
          <p:cNvPr id="1599" name="Google Shape;1599;p94"/>
          <p:cNvGrpSpPr/>
          <p:nvPr/>
        </p:nvGrpSpPr>
        <p:grpSpPr>
          <a:xfrm>
            <a:off x="1460355" y="3273275"/>
            <a:ext cx="2135870" cy="295650"/>
            <a:chOff x="5292934" y="2983850"/>
            <a:chExt cx="3266356" cy="295650"/>
          </a:xfrm>
        </p:grpSpPr>
        <p:cxnSp>
          <p:nvCxnSpPr>
            <p:cNvPr id="1600" name="Google Shape;1600;p9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1" name="Google Shape;1601;p94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94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3" name="Google Shape;1603;p94"/>
          <p:cNvSpPr/>
          <p:nvPr/>
        </p:nvSpPr>
        <p:spPr>
          <a:xfrm>
            <a:off x="1333200" y="30367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4"/>
          <p:cNvSpPr txBox="1"/>
          <p:nvPr/>
        </p:nvSpPr>
        <p:spPr>
          <a:xfrm>
            <a:off x="4824000" y="622800"/>
            <a:ext cx="409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Construct the perpendicular to a      5 cm line segment AB through         point A.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4"/>
          <p:cNvSpPr txBox="1"/>
          <p:nvPr/>
        </p:nvSpPr>
        <p:spPr>
          <a:xfrm>
            <a:off x="4824000" y="4527937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b="0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6" name="Google Shape;1606;p94"/>
          <p:cNvGrpSpPr/>
          <p:nvPr/>
        </p:nvGrpSpPr>
        <p:grpSpPr>
          <a:xfrm>
            <a:off x="5447575" y="3314555"/>
            <a:ext cx="2923389" cy="302414"/>
            <a:chOff x="5292934" y="2983850"/>
            <a:chExt cx="3266356" cy="220950"/>
          </a:xfrm>
        </p:grpSpPr>
        <p:cxnSp>
          <p:nvCxnSpPr>
            <p:cNvPr id="1607" name="Google Shape;1607;p9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08" name="Google Shape;1608;p94"/>
            <p:cNvSpPr txBox="1"/>
            <p:nvPr/>
          </p:nvSpPr>
          <p:spPr>
            <a:xfrm>
              <a:off x="5292934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9" name="Google Shape;1609;p94"/>
            <p:cNvSpPr txBox="1"/>
            <p:nvPr/>
          </p:nvSpPr>
          <p:spPr>
            <a:xfrm>
              <a:off x="8276991" y="3002300"/>
              <a:ext cx="282300" cy="2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0" name="Google Shape;1610;p94"/>
          <p:cNvSpPr txBox="1"/>
          <p:nvPr/>
        </p:nvSpPr>
        <p:spPr>
          <a:xfrm>
            <a:off x="324000" y="622800"/>
            <a:ext cx="40944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perpendicular is a line that passes through both intersections.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94"/>
          <p:cNvSpPr/>
          <p:nvPr/>
        </p:nvSpPr>
        <p:spPr>
          <a:xfrm>
            <a:off x="5273350" y="2990682"/>
            <a:ext cx="651900" cy="6519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2" name="Google Shape;1612;p94"/>
          <p:cNvGrpSpPr/>
          <p:nvPr/>
        </p:nvGrpSpPr>
        <p:grpSpPr>
          <a:xfrm>
            <a:off x="-12952" y="2380250"/>
            <a:ext cx="1788900" cy="1788900"/>
            <a:chOff x="-12952" y="2380250"/>
            <a:chExt cx="1788900" cy="1788900"/>
          </a:xfrm>
        </p:grpSpPr>
        <p:sp>
          <p:nvSpPr>
            <p:cNvPr id="1613" name="Google Shape;1613;p94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8951430" name="adj1"/>
                <a:gd fmla="val 199696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94"/>
            <p:cNvSpPr/>
            <p:nvPr/>
          </p:nvSpPr>
          <p:spPr>
            <a:xfrm>
              <a:off x="-12952" y="2380250"/>
              <a:ext cx="1788900" cy="1788900"/>
            </a:xfrm>
            <a:prstGeom prst="arc">
              <a:avLst>
                <a:gd fmla="val 1467678" name="adj1"/>
                <a:gd fmla="val 2641185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5" name="Google Shape;1615;p94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18011127" name="adj1"/>
              <a:gd fmla="val 1926146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4"/>
          <p:cNvSpPr/>
          <p:nvPr/>
        </p:nvSpPr>
        <p:spPr>
          <a:xfrm>
            <a:off x="4193229" y="2421702"/>
            <a:ext cx="1788900" cy="1788900"/>
          </a:xfrm>
          <a:prstGeom prst="arc">
            <a:avLst>
              <a:gd fmla="val 2470068" name="adj1"/>
              <a:gd fmla="val 3610921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7" name="Google Shape;1617;p94"/>
          <p:cNvGrpSpPr/>
          <p:nvPr/>
        </p:nvGrpSpPr>
        <p:grpSpPr>
          <a:xfrm>
            <a:off x="1367739" y="2380250"/>
            <a:ext cx="1788900" cy="1788900"/>
            <a:chOff x="1367739" y="2380250"/>
            <a:chExt cx="1788900" cy="1788900"/>
          </a:xfrm>
        </p:grpSpPr>
        <p:sp>
          <p:nvSpPr>
            <p:cNvPr id="1618" name="Google Shape;1618;p94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8951430" name="adj1"/>
                <a:gd fmla="val 199696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9" name="Google Shape;1619;p94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467678" name="adj1"/>
                <a:gd fmla="val 2641185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0" name="Google Shape;1620;p94"/>
          <p:cNvGrpSpPr/>
          <p:nvPr/>
        </p:nvGrpSpPr>
        <p:grpSpPr>
          <a:xfrm>
            <a:off x="5215646" y="2419300"/>
            <a:ext cx="1788900" cy="1788900"/>
            <a:chOff x="1367739" y="2380250"/>
            <a:chExt cx="1788900" cy="1788900"/>
          </a:xfrm>
        </p:grpSpPr>
        <p:sp>
          <p:nvSpPr>
            <p:cNvPr id="1621" name="Google Shape;1621;p94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792728" name="adj1"/>
                <a:gd fmla="val 18779827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94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591894" name="adj1"/>
                <a:gd fmla="val 3849356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23" name="Google Shape;1623;p94"/>
          <p:cNvCxnSpPr/>
          <p:nvPr/>
        </p:nvCxnSpPr>
        <p:spPr>
          <a:xfrm>
            <a:off x="1570256" y="2254178"/>
            <a:ext cx="0" cy="21249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94"/>
          <p:cNvCxnSpPr/>
          <p:nvPr/>
        </p:nvCxnSpPr>
        <p:spPr>
          <a:xfrm>
            <a:off x="5599306" y="2254178"/>
            <a:ext cx="0" cy="21249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95"/>
          <p:cNvSpPr/>
          <p:nvPr/>
        </p:nvSpPr>
        <p:spPr>
          <a:xfrm rot="2070">
            <a:off x="5512150" y="2949474"/>
            <a:ext cx="498300" cy="4986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5"/>
          <p:cNvSpPr/>
          <p:nvPr/>
        </p:nvSpPr>
        <p:spPr>
          <a:xfrm rot="1772">
            <a:off x="5179077" y="2614451"/>
            <a:ext cx="1164300" cy="11652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632" name="Google Shape;1632;p95"/>
          <p:cNvSpPr txBox="1"/>
          <p:nvPr/>
        </p:nvSpPr>
        <p:spPr>
          <a:xfrm>
            <a:off x="324000" y="622800"/>
            <a:ext cx="40944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Extending a line segment is also useful when the point the perpendicular needs to pass through is close to an endpoint.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3" name="Google Shape;1633;p95"/>
          <p:cNvCxnSpPr/>
          <p:nvPr/>
        </p:nvCxnSpPr>
        <p:spPr>
          <a:xfrm>
            <a:off x="4503758" y="3198750"/>
            <a:ext cx="1951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95"/>
          <p:cNvCxnSpPr/>
          <p:nvPr/>
        </p:nvCxnSpPr>
        <p:spPr>
          <a:xfrm>
            <a:off x="5514671" y="3197075"/>
            <a:ext cx="1951107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95"/>
          <p:cNvSpPr/>
          <p:nvPr/>
        </p:nvSpPr>
        <p:spPr>
          <a:xfrm>
            <a:off x="5524200" y="2960546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5"/>
          <p:cNvSpPr txBox="1"/>
          <p:nvPr/>
        </p:nvSpPr>
        <p:spPr>
          <a:xfrm>
            <a:off x="324000" y="3004800"/>
            <a:ext cx="346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 prioritise extending the line segment so that the circle can be made bigger.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5"/>
          <p:cNvSpPr txBox="1"/>
          <p:nvPr/>
        </p:nvSpPr>
        <p:spPr>
          <a:xfrm>
            <a:off x="324000" y="2083500"/>
            <a:ext cx="346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extending the line segment, the circle is far too small to use effectively,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5"/>
          <p:cNvSpPr/>
          <p:nvPr/>
        </p:nvSpPr>
        <p:spPr>
          <a:xfrm>
            <a:off x="4154675" y="2176437"/>
            <a:ext cx="2046300" cy="2046300"/>
          </a:xfrm>
          <a:prstGeom prst="arc">
            <a:avLst>
              <a:gd fmla="val 18011127" name="adj1"/>
              <a:gd fmla="val 19261460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5"/>
          <p:cNvSpPr/>
          <p:nvPr/>
        </p:nvSpPr>
        <p:spPr>
          <a:xfrm>
            <a:off x="4154675" y="2176437"/>
            <a:ext cx="2046300" cy="2046300"/>
          </a:xfrm>
          <a:prstGeom prst="arc">
            <a:avLst>
              <a:gd fmla="val 2470068" name="adj1"/>
              <a:gd fmla="val 3610921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0" name="Google Shape;1640;p95"/>
          <p:cNvGrpSpPr/>
          <p:nvPr/>
        </p:nvGrpSpPr>
        <p:grpSpPr>
          <a:xfrm>
            <a:off x="5323997" y="2173579"/>
            <a:ext cx="2045965" cy="2045965"/>
            <a:chOff x="1367739" y="2380250"/>
            <a:chExt cx="1788900" cy="1788900"/>
          </a:xfrm>
        </p:grpSpPr>
        <p:sp>
          <p:nvSpPr>
            <p:cNvPr id="1641" name="Google Shape;1641;p95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792728" name="adj1"/>
                <a:gd fmla="val 18779827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2" name="Google Shape;1642;p95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591894" name="adj1"/>
                <a:gd fmla="val 3849356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43" name="Google Shape;1643;p95"/>
          <p:cNvCxnSpPr/>
          <p:nvPr/>
        </p:nvCxnSpPr>
        <p:spPr>
          <a:xfrm>
            <a:off x="5761256" y="2177978"/>
            <a:ext cx="0" cy="21249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8" name="Google Shape;1648;p96"/>
          <p:cNvCxnSpPr/>
          <p:nvPr/>
        </p:nvCxnSpPr>
        <p:spPr>
          <a:xfrm>
            <a:off x="5701650" y="4059350"/>
            <a:ext cx="862500" cy="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96"/>
          <p:cNvCxnSpPr/>
          <p:nvPr/>
        </p:nvCxnSpPr>
        <p:spPr>
          <a:xfrm>
            <a:off x="1717888" y="4059349"/>
            <a:ext cx="482700" cy="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0" name="Google Shape;1650;p96"/>
          <p:cNvSpPr/>
          <p:nvPr/>
        </p:nvSpPr>
        <p:spPr>
          <a:xfrm>
            <a:off x="5834125" y="3343825"/>
            <a:ext cx="1433100" cy="1433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1" name="Google Shape;1651;p96"/>
          <p:cNvCxnSpPr/>
          <p:nvPr/>
        </p:nvCxnSpPr>
        <p:spPr>
          <a:xfrm>
            <a:off x="5454650" y="1273175"/>
            <a:ext cx="1109400" cy="9252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2" name="Google Shape;165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653" name="Google Shape;1653;p96"/>
          <p:cNvSpPr/>
          <p:nvPr/>
        </p:nvSpPr>
        <p:spPr>
          <a:xfrm>
            <a:off x="1516775" y="1462875"/>
            <a:ext cx="1433100" cy="1433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96"/>
          <p:cNvSpPr txBox="1"/>
          <p:nvPr/>
        </p:nvSpPr>
        <p:spPr>
          <a:xfrm>
            <a:off x="324000" y="7242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Whose partially completed construction of a perpendicular that requires an extended line segment is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5" name="Google Shape;1655;p96"/>
          <p:cNvCxnSpPr/>
          <p:nvPr/>
        </p:nvCxnSpPr>
        <p:spPr>
          <a:xfrm>
            <a:off x="1990270" y="2178625"/>
            <a:ext cx="181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6" name="Google Shape;1656;p96"/>
          <p:cNvSpPr/>
          <p:nvPr/>
        </p:nvSpPr>
        <p:spPr>
          <a:xfrm>
            <a:off x="2045520" y="2004463"/>
            <a:ext cx="375600" cy="3756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96"/>
          <p:cNvSpPr txBox="1"/>
          <p:nvPr/>
        </p:nvSpPr>
        <p:spPr>
          <a:xfrm>
            <a:off x="2126175" y="1845601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8" name="Google Shape;1658;p96"/>
          <p:cNvGrpSpPr/>
          <p:nvPr/>
        </p:nvGrpSpPr>
        <p:grpSpPr>
          <a:xfrm>
            <a:off x="324000" y="1465085"/>
            <a:ext cx="1264200" cy="899200"/>
            <a:chOff x="9598625" y="653850"/>
            <a:chExt cx="1264200" cy="899200"/>
          </a:xfrm>
        </p:grpSpPr>
        <p:pic>
          <p:nvPicPr>
            <p:cNvPr id="1659" name="Google Shape;1659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955046" y="653850"/>
              <a:ext cx="551357" cy="7109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0" name="Google Shape;1660;p96"/>
            <p:cNvSpPr txBox="1"/>
            <p:nvPr/>
          </p:nvSpPr>
          <p:spPr>
            <a:xfrm flipH="1">
              <a:off x="9598625" y="1296850"/>
              <a:ext cx="126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1" name="Google Shape;1661;p96"/>
          <p:cNvGrpSpPr/>
          <p:nvPr/>
        </p:nvGrpSpPr>
        <p:grpSpPr>
          <a:xfrm>
            <a:off x="4889100" y="1458574"/>
            <a:ext cx="885300" cy="912222"/>
            <a:chOff x="9788075" y="1873804"/>
            <a:chExt cx="885300" cy="912222"/>
          </a:xfrm>
        </p:grpSpPr>
        <p:pic>
          <p:nvPicPr>
            <p:cNvPr id="1662" name="Google Shape;166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960875" y="1873804"/>
              <a:ext cx="539700" cy="5987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3" name="Google Shape;1663;p96"/>
            <p:cNvSpPr txBox="1"/>
            <p:nvPr/>
          </p:nvSpPr>
          <p:spPr>
            <a:xfrm>
              <a:off x="9788075" y="2472526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4" name="Google Shape;1664;p96"/>
          <p:cNvGrpSpPr/>
          <p:nvPr/>
        </p:nvGrpSpPr>
        <p:grpSpPr>
          <a:xfrm>
            <a:off x="513450" y="3769268"/>
            <a:ext cx="885300" cy="866107"/>
            <a:chOff x="9788075" y="2913893"/>
            <a:chExt cx="885300" cy="866107"/>
          </a:xfrm>
        </p:grpSpPr>
        <p:sp>
          <p:nvSpPr>
            <p:cNvPr id="1665" name="Google Shape;1665;p96"/>
            <p:cNvSpPr txBox="1"/>
            <p:nvPr/>
          </p:nvSpPr>
          <p:spPr>
            <a:xfrm>
              <a:off x="9788075" y="34665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66" name="Google Shape;1666;p9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9979947" y="2913893"/>
              <a:ext cx="501556" cy="578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7" name="Google Shape;1667;p96"/>
          <p:cNvSpPr/>
          <p:nvPr/>
        </p:nvSpPr>
        <p:spPr>
          <a:xfrm>
            <a:off x="5834125" y="1462875"/>
            <a:ext cx="1433100" cy="1433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8" name="Google Shape;1668;p96"/>
          <p:cNvCxnSpPr/>
          <p:nvPr/>
        </p:nvCxnSpPr>
        <p:spPr>
          <a:xfrm>
            <a:off x="6307620" y="2178625"/>
            <a:ext cx="181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9" name="Google Shape;1669;p96"/>
          <p:cNvSpPr/>
          <p:nvPr/>
        </p:nvSpPr>
        <p:spPr>
          <a:xfrm>
            <a:off x="6362870" y="2004463"/>
            <a:ext cx="375600" cy="3756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6"/>
          <p:cNvSpPr txBox="1"/>
          <p:nvPr/>
        </p:nvSpPr>
        <p:spPr>
          <a:xfrm>
            <a:off x="6443525" y="1845601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6"/>
          <p:cNvSpPr txBox="1"/>
          <p:nvPr/>
        </p:nvSpPr>
        <p:spPr>
          <a:xfrm flipH="1">
            <a:off x="4819650" y="43782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2" name="Google Shape;167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077775" y="3769275"/>
            <a:ext cx="507950" cy="6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96"/>
          <p:cNvSpPr/>
          <p:nvPr/>
        </p:nvSpPr>
        <p:spPr>
          <a:xfrm>
            <a:off x="1516775" y="3343825"/>
            <a:ext cx="1433100" cy="14331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4" name="Google Shape;1674;p96"/>
          <p:cNvCxnSpPr/>
          <p:nvPr/>
        </p:nvCxnSpPr>
        <p:spPr>
          <a:xfrm>
            <a:off x="1990270" y="4059575"/>
            <a:ext cx="181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5" name="Google Shape;1675;p96"/>
          <p:cNvSpPr/>
          <p:nvPr/>
        </p:nvSpPr>
        <p:spPr>
          <a:xfrm>
            <a:off x="2045520" y="3885413"/>
            <a:ext cx="375600" cy="3756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6"/>
          <p:cNvSpPr txBox="1"/>
          <p:nvPr/>
        </p:nvSpPr>
        <p:spPr>
          <a:xfrm>
            <a:off x="2126175" y="3726551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7" name="Google Shape;1677;p96"/>
          <p:cNvCxnSpPr/>
          <p:nvPr/>
        </p:nvCxnSpPr>
        <p:spPr>
          <a:xfrm>
            <a:off x="6307620" y="4059575"/>
            <a:ext cx="181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8" name="Google Shape;1678;p96"/>
          <p:cNvSpPr/>
          <p:nvPr/>
        </p:nvSpPr>
        <p:spPr>
          <a:xfrm>
            <a:off x="6362870" y="3885413"/>
            <a:ext cx="375600" cy="375600"/>
          </a:xfrm>
          <a:prstGeom prst="mathMultiply">
            <a:avLst>
              <a:gd fmla="val 7231" name="adj1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96"/>
          <p:cNvSpPr txBox="1"/>
          <p:nvPr/>
        </p:nvSpPr>
        <p:spPr>
          <a:xfrm>
            <a:off x="6443525" y="3726551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0" name="Google Shape;1680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33743" y="3343816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97"/>
          <p:cNvGrpSpPr/>
          <p:nvPr/>
        </p:nvGrpSpPr>
        <p:grpSpPr>
          <a:xfrm rot="-4232911">
            <a:off x="5670775" y="3707474"/>
            <a:ext cx="578385" cy="711496"/>
            <a:chOff x="4072210" y="2407867"/>
            <a:chExt cx="578400" cy="711514"/>
          </a:xfrm>
        </p:grpSpPr>
        <p:sp>
          <p:nvSpPr>
            <p:cNvPr id="1686" name="Google Shape;1686;p97"/>
            <p:cNvSpPr/>
            <p:nvPr/>
          </p:nvSpPr>
          <p:spPr>
            <a:xfrm>
              <a:off x="4072210" y="2407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7" name="Google Shape;1687;p97"/>
            <p:cNvSpPr txBox="1"/>
            <p:nvPr/>
          </p:nvSpPr>
          <p:spPr>
            <a:xfrm rot="4233932">
              <a:off x="4190074" y="2773053"/>
              <a:ext cx="342622" cy="277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8" name="Google Shape;1688;p97"/>
          <p:cNvSpPr/>
          <p:nvPr/>
        </p:nvSpPr>
        <p:spPr>
          <a:xfrm>
            <a:off x="632700" y="2117575"/>
            <a:ext cx="1159500" cy="1160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7"/>
          <p:cNvSpPr txBox="1"/>
          <p:nvPr/>
        </p:nvSpPr>
        <p:spPr>
          <a:xfrm>
            <a:off x="324000" y="67332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a) Construct a perpendicular to each line segment through point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Decide whether you need to shorten or extend (or both) the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a protractor to measure how close each perpendicular is to 90°.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691" name="Google Shape;1691;p97"/>
          <p:cNvSpPr/>
          <p:nvPr/>
        </p:nvSpPr>
        <p:spPr>
          <a:xfrm>
            <a:off x="923410" y="2407867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7"/>
          <p:cNvSpPr txBox="1"/>
          <p:nvPr/>
        </p:nvSpPr>
        <p:spPr>
          <a:xfrm>
            <a:off x="1041290" y="2772958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3" name="Google Shape;1693;p97"/>
          <p:cNvGrpSpPr/>
          <p:nvPr/>
        </p:nvGrpSpPr>
        <p:grpSpPr>
          <a:xfrm>
            <a:off x="780824" y="2698400"/>
            <a:ext cx="2266851" cy="295650"/>
            <a:chOff x="5292934" y="2983850"/>
            <a:chExt cx="3266356" cy="295650"/>
          </a:xfrm>
        </p:grpSpPr>
        <p:cxnSp>
          <p:nvCxnSpPr>
            <p:cNvPr id="1694" name="Google Shape;1694;p9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5" name="Google Shape;1695;p97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6" name="Google Shape;1696;p97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7" name="Google Shape;1697;p97"/>
          <p:cNvGrpSpPr/>
          <p:nvPr/>
        </p:nvGrpSpPr>
        <p:grpSpPr>
          <a:xfrm rot="-4232966">
            <a:off x="5007492" y="3439558"/>
            <a:ext cx="2397419" cy="295719"/>
            <a:chOff x="5198884" y="2983850"/>
            <a:chExt cx="3454456" cy="295727"/>
          </a:xfrm>
        </p:grpSpPr>
        <p:cxnSp>
          <p:nvCxnSpPr>
            <p:cNvPr id="1698" name="Google Shape;1698;p9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9" name="Google Shape;1699;p97"/>
            <p:cNvSpPr txBox="1"/>
            <p:nvPr/>
          </p:nvSpPr>
          <p:spPr>
            <a:xfrm rot="3783846">
              <a:off x="5330440" y="2947140"/>
              <a:ext cx="207288" cy="387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97"/>
            <p:cNvSpPr txBox="1"/>
            <p:nvPr/>
          </p:nvSpPr>
          <p:spPr>
            <a:xfrm rot="3783846">
              <a:off x="8314497" y="2947140"/>
              <a:ext cx="207288" cy="387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1" name="Google Shape;1701;p97"/>
          <p:cNvSpPr/>
          <p:nvPr/>
        </p:nvSpPr>
        <p:spPr>
          <a:xfrm flipH="1" rot="2700000">
            <a:off x="7788735" y="2974044"/>
            <a:ext cx="578272" cy="578272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2" name="Google Shape;1702;p97"/>
          <p:cNvGrpSpPr/>
          <p:nvPr/>
        </p:nvGrpSpPr>
        <p:grpSpPr>
          <a:xfrm flipH="1" rot="2700000">
            <a:off x="6003637" y="2468028"/>
            <a:ext cx="2415430" cy="405020"/>
            <a:chOff x="5178384" y="2973632"/>
            <a:chExt cx="3480674" cy="405024"/>
          </a:xfrm>
        </p:grpSpPr>
        <p:cxnSp>
          <p:nvCxnSpPr>
            <p:cNvPr id="1703" name="Google Shape;1703;p9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4" name="Google Shape;1704;p97"/>
            <p:cNvSpPr txBox="1"/>
            <p:nvPr/>
          </p:nvSpPr>
          <p:spPr>
            <a:xfrm rot="2087348">
              <a:off x="5297974" y="3039476"/>
              <a:ext cx="242920" cy="343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97"/>
            <p:cNvSpPr txBox="1"/>
            <p:nvPr/>
          </p:nvSpPr>
          <p:spPr>
            <a:xfrm rot="2087348">
              <a:off x="8296548" y="2968952"/>
              <a:ext cx="242920" cy="343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06" name="Google Shape;1706;p97"/>
          <p:cNvSpPr/>
          <p:nvPr/>
        </p:nvSpPr>
        <p:spPr>
          <a:xfrm flipH="1" rot="1799730">
            <a:off x="2813132" y="4038957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7"/>
          <p:cNvSpPr txBox="1"/>
          <p:nvPr/>
        </p:nvSpPr>
        <p:spPr>
          <a:xfrm flipH="1">
            <a:off x="2823889" y="4375293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8" name="Google Shape;1708;p97"/>
          <p:cNvGrpSpPr/>
          <p:nvPr/>
        </p:nvGrpSpPr>
        <p:grpSpPr>
          <a:xfrm flipH="1" rot="1724521">
            <a:off x="2333440" y="4197207"/>
            <a:ext cx="1118367" cy="336489"/>
            <a:chOff x="4946904" y="2947097"/>
            <a:chExt cx="3830380" cy="334707"/>
          </a:xfrm>
        </p:grpSpPr>
        <p:cxnSp>
          <p:nvCxnSpPr>
            <p:cNvPr id="1709" name="Google Shape;1709;p9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0" name="Google Shape;1710;p97"/>
            <p:cNvSpPr txBox="1"/>
            <p:nvPr/>
          </p:nvSpPr>
          <p:spPr>
            <a:xfrm rot="586513">
              <a:off x="5184084" y="2820902"/>
              <a:ext cx="243840" cy="535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1" name="Google Shape;1711;p97"/>
            <p:cNvSpPr txBox="1"/>
            <p:nvPr/>
          </p:nvSpPr>
          <p:spPr>
            <a:xfrm rot="586513">
              <a:off x="8296265" y="2872409"/>
              <a:ext cx="243840" cy="535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2" name="Google Shape;1712;p97"/>
          <p:cNvGrpSpPr/>
          <p:nvPr/>
        </p:nvGrpSpPr>
        <p:grpSpPr>
          <a:xfrm>
            <a:off x="896141" y="1804437"/>
            <a:ext cx="1788900" cy="1788900"/>
            <a:chOff x="1367739" y="2380250"/>
            <a:chExt cx="1788900" cy="1788900"/>
          </a:xfrm>
        </p:grpSpPr>
        <p:sp>
          <p:nvSpPr>
            <p:cNvPr id="1713" name="Google Shape;1713;p97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291330" name="adj1"/>
                <a:gd fmla="val 195195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97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155848" name="adj1"/>
                <a:gd fmla="val 4278067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5" name="Google Shape;1715;p97"/>
          <p:cNvGrpSpPr/>
          <p:nvPr/>
        </p:nvGrpSpPr>
        <p:grpSpPr>
          <a:xfrm rot="1215699">
            <a:off x="3033104" y="1889494"/>
            <a:ext cx="2742368" cy="1160374"/>
            <a:chOff x="3031978" y="1896725"/>
            <a:chExt cx="2742430" cy="1160400"/>
          </a:xfrm>
        </p:grpSpPr>
        <p:cxnSp>
          <p:nvCxnSpPr>
            <p:cNvPr id="1716" name="Google Shape;1716;p97"/>
            <p:cNvCxnSpPr/>
            <p:nvPr/>
          </p:nvCxnSpPr>
          <p:spPr>
            <a:xfrm>
              <a:off x="3823208" y="2478623"/>
              <a:ext cx="1951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717" name="Google Shape;1717;p97"/>
            <p:cNvSpPr/>
            <p:nvPr/>
          </p:nvSpPr>
          <p:spPr>
            <a:xfrm flipH="1">
              <a:off x="4329437" y="1896725"/>
              <a:ext cx="1159500" cy="11604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97"/>
            <p:cNvSpPr/>
            <p:nvPr/>
          </p:nvSpPr>
          <p:spPr>
            <a:xfrm flipH="1">
              <a:off x="4648323" y="218701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9" name="Google Shape;1719;p97"/>
            <p:cNvSpPr txBox="1"/>
            <p:nvPr/>
          </p:nvSpPr>
          <p:spPr>
            <a:xfrm flipH="1" rot="-1214681">
              <a:off x="4766368" y="2552037"/>
              <a:ext cx="342456" cy="277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20" name="Google Shape;1720;p97"/>
            <p:cNvGrpSpPr/>
            <p:nvPr/>
          </p:nvGrpSpPr>
          <p:grpSpPr>
            <a:xfrm flipH="1">
              <a:off x="3031978" y="2470653"/>
              <a:ext cx="2350756" cy="327900"/>
              <a:chOff x="5232530" y="2976953"/>
              <a:chExt cx="3387256" cy="327900"/>
            </a:xfrm>
          </p:grpSpPr>
          <p:cxnSp>
            <p:nvCxnSpPr>
              <p:cNvPr id="1721" name="Google Shape;1721;p97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2" name="Google Shape;1722;p97"/>
              <p:cNvSpPr txBox="1"/>
              <p:nvPr/>
            </p:nvSpPr>
            <p:spPr>
              <a:xfrm rot="861385">
                <a:off x="5297411" y="2993611"/>
                <a:ext cx="273439" cy="29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23" name="Google Shape;1723;p97"/>
              <p:cNvSpPr txBox="1"/>
              <p:nvPr/>
            </p:nvSpPr>
            <p:spPr>
              <a:xfrm rot="861385">
                <a:off x="8281467" y="2993611"/>
                <a:ext cx="273439" cy="29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98"/>
          <p:cNvSpPr txBox="1"/>
          <p:nvPr/>
        </p:nvSpPr>
        <p:spPr>
          <a:xfrm>
            <a:off x="4438225" y="1340275"/>
            <a:ext cx="4381800" cy="3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Coordinates A, B, C, and D lie on this coordinate grid.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AB through the point (3, 2).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AC through the point (3, 5).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BD through the point (7, 7).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Explain which two perpendiculars are parallel to each other and why.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pic>
        <p:nvPicPr>
          <p:cNvPr id="1730" name="Google Shape;173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5913"/>
            <a:ext cx="3925255" cy="38881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31" name="Google Shape;1731;p98"/>
          <p:cNvGraphicFramePr/>
          <p:nvPr/>
        </p:nvGraphicFramePr>
        <p:xfrm>
          <a:off x="4355825" y="7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{ABB4FF07-958F-4F7B-8B3A-B550FBBF3535}</a:tableStyleId>
              </a:tblPr>
              <a:tblGrid>
                <a:gridCol w="1116050"/>
                <a:gridCol w="1116050"/>
                <a:gridCol w="1116050"/>
                <a:gridCol w="111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A(1, 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B(5, 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C(5,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D(8,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6" name="Google Shape;1736;p99"/>
          <p:cNvCxnSpPr/>
          <p:nvPr/>
        </p:nvCxnSpPr>
        <p:spPr>
          <a:xfrm rot="-9075813">
            <a:off x="3103569" y="4570314"/>
            <a:ext cx="871082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99"/>
          <p:cNvCxnSpPr/>
          <p:nvPr/>
        </p:nvCxnSpPr>
        <p:spPr>
          <a:xfrm rot="-9075813">
            <a:off x="2005520" y="3967864"/>
            <a:ext cx="871082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99"/>
          <p:cNvCxnSpPr/>
          <p:nvPr/>
        </p:nvCxnSpPr>
        <p:spPr>
          <a:xfrm rot="-8100000">
            <a:off x="6778347" y="3002540"/>
            <a:ext cx="2070833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9" name="Google Shape;1739;p99"/>
          <p:cNvSpPr/>
          <p:nvPr/>
        </p:nvSpPr>
        <p:spPr>
          <a:xfrm>
            <a:off x="632700" y="2117575"/>
            <a:ext cx="1159500" cy="11604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9"/>
          <p:cNvSpPr txBox="1"/>
          <p:nvPr/>
        </p:nvSpPr>
        <p:spPr>
          <a:xfrm>
            <a:off x="324000" y="67332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a) Construct a perpendicular to each line segment through point 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Decide whether you need to shorten or extend (or both) the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a protractor to measure how close each perpendicular is to 90°.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742" name="Google Shape;1742;p99"/>
          <p:cNvSpPr/>
          <p:nvPr/>
        </p:nvSpPr>
        <p:spPr>
          <a:xfrm>
            <a:off x="923410" y="2407867"/>
            <a:ext cx="578400" cy="578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9"/>
          <p:cNvSpPr txBox="1"/>
          <p:nvPr/>
        </p:nvSpPr>
        <p:spPr>
          <a:xfrm>
            <a:off x="1041290" y="2772958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4" name="Google Shape;1744;p99"/>
          <p:cNvGrpSpPr/>
          <p:nvPr/>
        </p:nvGrpSpPr>
        <p:grpSpPr>
          <a:xfrm>
            <a:off x="780824" y="2698400"/>
            <a:ext cx="2266851" cy="295650"/>
            <a:chOff x="5292934" y="2983850"/>
            <a:chExt cx="3266356" cy="295650"/>
          </a:xfrm>
        </p:grpSpPr>
        <p:cxnSp>
          <p:nvCxnSpPr>
            <p:cNvPr id="1745" name="Google Shape;1745;p9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6" name="Google Shape;1746;p99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7" name="Google Shape;1747;p99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8" name="Google Shape;1748;p99"/>
          <p:cNvGrpSpPr/>
          <p:nvPr/>
        </p:nvGrpSpPr>
        <p:grpSpPr>
          <a:xfrm rot="-4232911">
            <a:off x="5670775" y="3707474"/>
            <a:ext cx="578385" cy="711496"/>
            <a:chOff x="4072210" y="2407867"/>
            <a:chExt cx="578400" cy="711514"/>
          </a:xfrm>
        </p:grpSpPr>
        <p:sp>
          <p:nvSpPr>
            <p:cNvPr id="1749" name="Google Shape;1749;p99"/>
            <p:cNvSpPr/>
            <p:nvPr/>
          </p:nvSpPr>
          <p:spPr>
            <a:xfrm>
              <a:off x="4072210" y="240786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0" name="Google Shape;1750;p99"/>
            <p:cNvSpPr txBox="1"/>
            <p:nvPr/>
          </p:nvSpPr>
          <p:spPr>
            <a:xfrm rot="4233932">
              <a:off x="4190074" y="2773053"/>
              <a:ext cx="342622" cy="277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1" name="Google Shape;1751;p99"/>
          <p:cNvGrpSpPr/>
          <p:nvPr/>
        </p:nvGrpSpPr>
        <p:grpSpPr>
          <a:xfrm rot="-4232966">
            <a:off x="5007492" y="3439558"/>
            <a:ext cx="2397419" cy="295719"/>
            <a:chOff x="5198884" y="2983850"/>
            <a:chExt cx="3454456" cy="295727"/>
          </a:xfrm>
        </p:grpSpPr>
        <p:cxnSp>
          <p:nvCxnSpPr>
            <p:cNvPr id="1752" name="Google Shape;1752;p9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3" name="Google Shape;1753;p99"/>
            <p:cNvSpPr txBox="1"/>
            <p:nvPr/>
          </p:nvSpPr>
          <p:spPr>
            <a:xfrm rot="3783846">
              <a:off x="5330440" y="2947140"/>
              <a:ext cx="207288" cy="387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4" name="Google Shape;1754;p99"/>
            <p:cNvSpPr txBox="1"/>
            <p:nvPr/>
          </p:nvSpPr>
          <p:spPr>
            <a:xfrm rot="3783846">
              <a:off x="8314497" y="2947140"/>
              <a:ext cx="207288" cy="387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5" name="Google Shape;1755;p99"/>
          <p:cNvSpPr/>
          <p:nvPr/>
        </p:nvSpPr>
        <p:spPr>
          <a:xfrm flipH="1" rot="2700000">
            <a:off x="7788735" y="2974044"/>
            <a:ext cx="578272" cy="578272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6" name="Google Shape;1756;p99"/>
          <p:cNvGrpSpPr/>
          <p:nvPr/>
        </p:nvGrpSpPr>
        <p:grpSpPr>
          <a:xfrm flipH="1" rot="2700000">
            <a:off x="6003637" y="2468028"/>
            <a:ext cx="2415430" cy="405020"/>
            <a:chOff x="5178384" y="2973632"/>
            <a:chExt cx="3480674" cy="405024"/>
          </a:xfrm>
        </p:grpSpPr>
        <p:cxnSp>
          <p:nvCxnSpPr>
            <p:cNvPr id="1757" name="Google Shape;1757;p9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8" name="Google Shape;1758;p99"/>
            <p:cNvSpPr txBox="1"/>
            <p:nvPr/>
          </p:nvSpPr>
          <p:spPr>
            <a:xfrm rot="2087348">
              <a:off x="5297974" y="3039476"/>
              <a:ext cx="242920" cy="343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99"/>
            <p:cNvSpPr txBox="1"/>
            <p:nvPr/>
          </p:nvSpPr>
          <p:spPr>
            <a:xfrm rot="2087348">
              <a:off x="8296548" y="2968952"/>
              <a:ext cx="242920" cy="343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0" name="Google Shape;1760;p99"/>
          <p:cNvSpPr/>
          <p:nvPr/>
        </p:nvSpPr>
        <p:spPr>
          <a:xfrm flipH="1" rot="1799730">
            <a:off x="2813132" y="4038957"/>
            <a:ext cx="578479" cy="578479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9"/>
          <p:cNvSpPr txBox="1"/>
          <p:nvPr/>
        </p:nvSpPr>
        <p:spPr>
          <a:xfrm flipH="1">
            <a:off x="2823889" y="4375293"/>
            <a:ext cx="34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2" name="Google Shape;1762;p99"/>
          <p:cNvGrpSpPr/>
          <p:nvPr/>
        </p:nvGrpSpPr>
        <p:grpSpPr>
          <a:xfrm flipH="1" rot="1724521">
            <a:off x="2333440" y="4197207"/>
            <a:ext cx="1118367" cy="336489"/>
            <a:chOff x="4946904" y="2947097"/>
            <a:chExt cx="3830380" cy="334707"/>
          </a:xfrm>
        </p:grpSpPr>
        <p:cxnSp>
          <p:nvCxnSpPr>
            <p:cNvPr id="1763" name="Google Shape;1763;p99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4" name="Google Shape;1764;p99"/>
            <p:cNvSpPr txBox="1"/>
            <p:nvPr/>
          </p:nvSpPr>
          <p:spPr>
            <a:xfrm rot="586513">
              <a:off x="5184084" y="2820902"/>
              <a:ext cx="243840" cy="535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5" name="Google Shape;1765;p99"/>
            <p:cNvSpPr txBox="1"/>
            <p:nvPr/>
          </p:nvSpPr>
          <p:spPr>
            <a:xfrm rot="586513">
              <a:off x="8296265" y="2872409"/>
              <a:ext cx="243840" cy="535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6" name="Google Shape;1766;p99"/>
          <p:cNvGrpSpPr/>
          <p:nvPr/>
        </p:nvGrpSpPr>
        <p:grpSpPr>
          <a:xfrm>
            <a:off x="896141" y="1804437"/>
            <a:ext cx="1788900" cy="1788900"/>
            <a:chOff x="1367739" y="2380250"/>
            <a:chExt cx="1788900" cy="1788900"/>
          </a:xfrm>
        </p:grpSpPr>
        <p:sp>
          <p:nvSpPr>
            <p:cNvPr id="1767" name="Google Shape;1767;p99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17291330" name="adj1"/>
                <a:gd fmla="val 19519579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8" name="Google Shape;1768;p99"/>
            <p:cNvSpPr/>
            <p:nvPr/>
          </p:nvSpPr>
          <p:spPr>
            <a:xfrm flipH="1">
              <a:off x="1367739" y="2380250"/>
              <a:ext cx="1788900" cy="1788900"/>
            </a:xfrm>
            <a:prstGeom prst="arc">
              <a:avLst>
                <a:gd fmla="val 2155848" name="adj1"/>
                <a:gd fmla="val 4278067" name="adj2"/>
              </a:avLst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9" name="Google Shape;1769;p99"/>
          <p:cNvGrpSpPr/>
          <p:nvPr/>
        </p:nvGrpSpPr>
        <p:grpSpPr>
          <a:xfrm rot="1215699">
            <a:off x="3033104" y="1889494"/>
            <a:ext cx="2742368" cy="1160374"/>
            <a:chOff x="3031978" y="1896725"/>
            <a:chExt cx="2742430" cy="1160400"/>
          </a:xfrm>
        </p:grpSpPr>
        <p:cxnSp>
          <p:nvCxnSpPr>
            <p:cNvPr id="1770" name="Google Shape;1770;p99"/>
            <p:cNvCxnSpPr/>
            <p:nvPr/>
          </p:nvCxnSpPr>
          <p:spPr>
            <a:xfrm>
              <a:off x="3823208" y="2478623"/>
              <a:ext cx="1951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1771" name="Google Shape;1771;p99"/>
            <p:cNvSpPr/>
            <p:nvPr/>
          </p:nvSpPr>
          <p:spPr>
            <a:xfrm flipH="1">
              <a:off x="4329437" y="1896725"/>
              <a:ext cx="1159500" cy="1160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2" name="Google Shape;1772;p99"/>
            <p:cNvSpPr/>
            <p:nvPr/>
          </p:nvSpPr>
          <p:spPr>
            <a:xfrm flipH="1">
              <a:off x="4648323" y="2187017"/>
              <a:ext cx="578400" cy="578400"/>
            </a:xfrm>
            <a:prstGeom prst="mathMultiply">
              <a:avLst>
                <a:gd fmla="val 7231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3" name="Google Shape;1773;p99"/>
            <p:cNvSpPr txBox="1"/>
            <p:nvPr/>
          </p:nvSpPr>
          <p:spPr>
            <a:xfrm flipH="1" rot="-1214681">
              <a:off x="4766368" y="2552037"/>
              <a:ext cx="342456" cy="2772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74" name="Google Shape;1774;p99"/>
            <p:cNvGrpSpPr/>
            <p:nvPr/>
          </p:nvGrpSpPr>
          <p:grpSpPr>
            <a:xfrm flipH="1">
              <a:off x="3031978" y="2470653"/>
              <a:ext cx="2350756" cy="327900"/>
              <a:chOff x="5232530" y="2976953"/>
              <a:chExt cx="3387256" cy="327900"/>
            </a:xfrm>
          </p:grpSpPr>
          <p:cxnSp>
            <p:nvCxnSpPr>
              <p:cNvPr id="1775" name="Google Shape;1775;p99"/>
              <p:cNvCxnSpPr/>
              <p:nvPr/>
            </p:nvCxnSpPr>
            <p:spPr>
              <a:xfrm>
                <a:off x="5433500" y="2983850"/>
                <a:ext cx="298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76" name="Google Shape;1776;p99"/>
              <p:cNvSpPr txBox="1"/>
              <p:nvPr/>
            </p:nvSpPr>
            <p:spPr>
              <a:xfrm rot="861385">
                <a:off x="5297411" y="2993611"/>
                <a:ext cx="273439" cy="29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77" name="Google Shape;1777;p99"/>
              <p:cNvSpPr txBox="1"/>
              <p:nvPr/>
            </p:nvSpPr>
            <p:spPr>
              <a:xfrm rot="861385">
                <a:off x="8281467" y="2993611"/>
                <a:ext cx="273439" cy="294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78" name="Google Shape;1778;p99"/>
          <p:cNvSpPr/>
          <p:nvPr/>
        </p:nvSpPr>
        <p:spPr>
          <a:xfrm>
            <a:off x="460200" y="1566600"/>
            <a:ext cx="8359800" cy="3333900"/>
          </a:xfrm>
          <a:prstGeom prst="rect">
            <a:avLst/>
          </a:prstGeom>
          <a:solidFill>
            <a:srgbClr val="E6F2F2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9" name="Google Shape;1779;p99"/>
          <p:cNvGrpSpPr/>
          <p:nvPr/>
        </p:nvGrpSpPr>
        <p:grpSpPr>
          <a:xfrm>
            <a:off x="1212601" y="1663788"/>
            <a:ext cx="7558470" cy="3046302"/>
            <a:chOff x="1212601" y="1663788"/>
            <a:chExt cx="7558470" cy="3046302"/>
          </a:xfrm>
        </p:grpSpPr>
        <p:cxnSp>
          <p:nvCxnSpPr>
            <p:cNvPr id="1780" name="Google Shape;1780;p99"/>
            <p:cNvCxnSpPr/>
            <p:nvPr/>
          </p:nvCxnSpPr>
          <p:spPr>
            <a:xfrm rot="5400000">
              <a:off x="177151" y="2699238"/>
              <a:ext cx="2070900" cy="0"/>
            </a:xfrm>
            <a:prstGeom prst="straightConnector1">
              <a:avLst/>
            </a:prstGeom>
            <a:noFill/>
            <a:ln cap="flat" cmpd="sng" w="38100">
              <a:solidFill>
                <a:srgbClr val="D02AA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99"/>
            <p:cNvCxnSpPr/>
            <p:nvPr/>
          </p:nvCxnSpPr>
          <p:spPr>
            <a:xfrm rot="-4184418">
              <a:off x="3879314" y="2644608"/>
              <a:ext cx="2070603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99"/>
            <p:cNvCxnSpPr/>
            <p:nvPr/>
          </p:nvCxnSpPr>
          <p:spPr>
            <a:xfrm rot="-2700000">
              <a:off x="7003505" y="3303890"/>
              <a:ext cx="2070833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3" name="Google Shape;1783;p99"/>
            <p:cNvCxnSpPr/>
            <p:nvPr/>
          </p:nvCxnSpPr>
          <p:spPr>
            <a:xfrm rot="-3675813">
              <a:off x="2666844" y="4328189"/>
              <a:ext cx="871082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4" name="Google Shape;1784;p99"/>
            <p:cNvCxnSpPr/>
            <p:nvPr/>
          </p:nvCxnSpPr>
          <p:spPr>
            <a:xfrm rot="1167203">
              <a:off x="4887302" y="4047345"/>
              <a:ext cx="2070923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00"/>
          <p:cNvSpPr txBox="1"/>
          <p:nvPr/>
        </p:nvSpPr>
        <p:spPr>
          <a:xfrm>
            <a:off x="4438225" y="1340275"/>
            <a:ext cx="4381800" cy="3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Coordinates A, B, C, and D lie on this coordinate grid.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AB through the point (3, 2).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AC through the point (3, 5).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perpendicular to BD through the point (7, 7).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Explain which two perpendiculars are parallel to each other and why.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pic>
        <p:nvPicPr>
          <p:cNvPr id="1791" name="Google Shape;179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5913"/>
            <a:ext cx="3925255" cy="38881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792" name="Google Shape;1792;p100"/>
          <p:cNvGraphicFramePr/>
          <p:nvPr/>
        </p:nvGraphicFramePr>
        <p:xfrm>
          <a:off x="4355825" y="7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{ABB4FF07-958F-4F7B-8B3A-B550FBBF3535}</a:tableStyleId>
              </a:tblPr>
              <a:tblGrid>
                <a:gridCol w="1116050"/>
                <a:gridCol w="1116050"/>
                <a:gridCol w="1116050"/>
                <a:gridCol w="111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A(1, 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B(5, 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C(5,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D(8,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793" name="Google Shape;1793;p100"/>
          <p:cNvPicPr preferRelativeResize="0"/>
          <p:nvPr/>
        </p:nvPicPr>
        <p:blipFill rotWithShape="1">
          <a:blip r:embed="rId4">
            <a:alphaModFix/>
          </a:blip>
          <a:srcRect b="6454" l="9008" r="0" t="4267"/>
          <a:stretch/>
        </p:blipFill>
        <p:spPr>
          <a:xfrm>
            <a:off x="550325" y="854700"/>
            <a:ext cx="3472776" cy="35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100"/>
          <p:cNvSpPr txBox="1"/>
          <p:nvPr/>
        </p:nvSpPr>
        <p:spPr>
          <a:xfrm>
            <a:off x="1781400" y="410425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5" name="Google Shape;1795;p100"/>
          <p:cNvSpPr txBox="1"/>
          <p:nvPr/>
        </p:nvSpPr>
        <p:spPr>
          <a:xfrm>
            <a:off x="3391416" y="347100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6" name="Google Shape;1796;p100"/>
          <p:cNvSpPr txBox="1"/>
          <p:nvPr/>
        </p:nvSpPr>
        <p:spPr>
          <a:xfrm>
            <a:off x="3391416" y="216000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7" name="Google Shape;1797;p100"/>
          <p:cNvSpPr txBox="1"/>
          <p:nvPr/>
        </p:nvSpPr>
        <p:spPr>
          <a:xfrm>
            <a:off x="653100" y="4042800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100"/>
          <p:cNvSpPr txBox="1"/>
          <p:nvPr/>
        </p:nvSpPr>
        <p:spPr>
          <a:xfrm>
            <a:off x="2202250" y="3471000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00"/>
          <p:cNvSpPr txBox="1"/>
          <p:nvPr/>
        </p:nvSpPr>
        <p:spPr>
          <a:xfrm>
            <a:off x="1914150" y="1213075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00"/>
          <p:cNvSpPr txBox="1"/>
          <p:nvPr/>
        </p:nvSpPr>
        <p:spPr>
          <a:xfrm>
            <a:off x="3176188" y="1213075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01"/>
          <p:cNvSpPr txBox="1"/>
          <p:nvPr/>
        </p:nvSpPr>
        <p:spPr>
          <a:xfrm>
            <a:off x="4438225" y="1340275"/>
            <a:ext cx="43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 Explain which two perpendiculars are parallel to each other and why.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graphicFrame>
        <p:nvGraphicFramePr>
          <p:cNvPr id="1807" name="Google Shape;1807;p101"/>
          <p:cNvGraphicFramePr/>
          <p:nvPr/>
        </p:nvGraphicFramePr>
        <p:xfrm>
          <a:off x="4355825" y="7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{ABB4FF07-958F-4F7B-8B3A-B550FBBF3535}</a:tableStyleId>
              </a:tblPr>
              <a:tblGrid>
                <a:gridCol w="1116050"/>
                <a:gridCol w="1116050"/>
                <a:gridCol w="1116050"/>
                <a:gridCol w="111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A(1, 1)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B(5, 3)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C(5,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D(8, 9)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808" name="Google Shape;1808;p101"/>
          <p:cNvSpPr txBox="1"/>
          <p:nvPr/>
        </p:nvSpPr>
        <p:spPr>
          <a:xfrm>
            <a:off x="4438225" y="2021575"/>
            <a:ext cx="4381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perpendiculars to AC and BD are parallel to each other because the line segments AC and BD are also parallel to each 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09" name="Google Shape;180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5913"/>
            <a:ext cx="3925255" cy="38881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0" name="Google Shape;1810;p101"/>
          <p:cNvPicPr preferRelativeResize="0"/>
          <p:nvPr/>
        </p:nvPicPr>
        <p:blipFill rotWithShape="1">
          <a:blip r:embed="rId4">
            <a:alphaModFix/>
          </a:blip>
          <a:srcRect b="6454" l="9008" r="0" t="4267"/>
          <a:stretch/>
        </p:blipFill>
        <p:spPr>
          <a:xfrm>
            <a:off x="550325" y="854700"/>
            <a:ext cx="3472776" cy="35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101"/>
          <p:cNvSpPr txBox="1"/>
          <p:nvPr/>
        </p:nvSpPr>
        <p:spPr>
          <a:xfrm>
            <a:off x="1781400" y="410425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2" name="Google Shape;1812;p101"/>
          <p:cNvSpPr txBox="1"/>
          <p:nvPr/>
        </p:nvSpPr>
        <p:spPr>
          <a:xfrm>
            <a:off x="3391416" y="347100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3" name="Google Shape;1813;p101"/>
          <p:cNvSpPr txBox="1"/>
          <p:nvPr/>
        </p:nvSpPr>
        <p:spPr>
          <a:xfrm>
            <a:off x="3391416" y="2160000"/>
            <a:ext cx="5130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4" name="Google Shape;1814;p101"/>
          <p:cNvSpPr txBox="1"/>
          <p:nvPr/>
        </p:nvSpPr>
        <p:spPr>
          <a:xfrm>
            <a:off x="653100" y="4042800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01"/>
          <p:cNvSpPr txBox="1"/>
          <p:nvPr/>
        </p:nvSpPr>
        <p:spPr>
          <a:xfrm>
            <a:off x="2202250" y="3471000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01"/>
          <p:cNvSpPr txBox="1"/>
          <p:nvPr/>
        </p:nvSpPr>
        <p:spPr>
          <a:xfrm>
            <a:off x="1914150" y="1213075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01"/>
          <p:cNvSpPr txBox="1"/>
          <p:nvPr/>
        </p:nvSpPr>
        <p:spPr>
          <a:xfrm>
            <a:off x="3176188" y="1213075"/>
            <a:ext cx="24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0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  <p:pic>
        <p:nvPicPr>
          <p:cNvPr id="1823" name="Google Shape;182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49" y="3707599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10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extended line segments</a:t>
            </a:r>
            <a:endParaRPr/>
          </a:p>
        </p:txBody>
      </p:sp>
      <p:sp>
        <p:nvSpPr>
          <p:cNvPr id="1825" name="Google Shape;1825;p10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at points on shortened line segments</a:t>
            </a:r>
            <a:endParaRPr/>
          </a:p>
        </p:txBody>
      </p:sp>
      <p:sp>
        <p:nvSpPr>
          <p:cNvPr id="1826" name="Google Shape;1826;p10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1" name="Google Shape;1831;p103"/>
          <p:cNvCxnSpPr/>
          <p:nvPr/>
        </p:nvCxnSpPr>
        <p:spPr>
          <a:xfrm>
            <a:off x="4463975" y="2891045"/>
            <a:ext cx="2239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2" name="Google Shape;1832;p103"/>
          <p:cNvSpPr/>
          <p:nvPr/>
        </p:nvSpPr>
        <p:spPr>
          <a:xfrm flipH="1">
            <a:off x="6470171" y="2309906"/>
            <a:ext cx="1159500" cy="1160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grpSp>
        <p:nvGrpSpPr>
          <p:cNvPr id="1834" name="Google Shape;1834;p103"/>
          <p:cNvGrpSpPr/>
          <p:nvPr/>
        </p:nvGrpSpPr>
        <p:grpSpPr>
          <a:xfrm>
            <a:off x="800871" y="592321"/>
            <a:ext cx="3559200" cy="1781050"/>
            <a:chOff x="9750600" y="378900"/>
            <a:chExt cx="3559200" cy="1781050"/>
          </a:xfrm>
        </p:grpSpPr>
        <p:sp>
          <p:nvSpPr>
            <p:cNvPr id="1835" name="Google Shape;1835;p103"/>
            <p:cNvSpPr/>
            <p:nvPr/>
          </p:nvSpPr>
          <p:spPr>
            <a:xfrm>
              <a:off x="9750600" y="401050"/>
              <a:ext cx="3559200" cy="1758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36" name="Google Shape;1836;p103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958500" y="378900"/>
              <a:ext cx="3148948" cy="1647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7" name="Google Shape;1837;p103"/>
            <p:cNvSpPr txBox="1"/>
            <p:nvPr/>
          </p:nvSpPr>
          <p:spPr>
            <a:xfrm>
              <a:off x="10212820" y="482599"/>
              <a:ext cx="28185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no matter where the point we want the perpendicular to pass through is…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8" name="Google Shape;1838;p103"/>
          <p:cNvGrpSpPr/>
          <p:nvPr/>
        </p:nvGrpSpPr>
        <p:grpSpPr>
          <a:xfrm>
            <a:off x="800871" y="599248"/>
            <a:ext cx="3559200" cy="1781050"/>
            <a:chOff x="9750600" y="378900"/>
            <a:chExt cx="3559200" cy="1781050"/>
          </a:xfrm>
        </p:grpSpPr>
        <p:sp>
          <p:nvSpPr>
            <p:cNvPr id="1839" name="Google Shape;1839;p103"/>
            <p:cNvSpPr/>
            <p:nvPr/>
          </p:nvSpPr>
          <p:spPr>
            <a:xfrm>
              <a:off x="9750600" y="401050"/>
              <a:ext cx="3559200" cy="1758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40" name="Google Shape;1840;p103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958500" y="378900"/>
              <a:ext cx="3148948" cy="1647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1" name="Google Shape;1841;p103"/>
            <p:cNvSpPr txBox="1"/>
            <p:nvPr/>
          </p:nvSpPr>
          <p:spPr>
            <a:xfrm>
              <a:off x="10212820" y="482599"/>
              <a:ext cx="28185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want to draw a circle with that point as the centre that intersects the line segment twice?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2" name="Google Shape;1842;p103"/>
          <p:cNvGrpSpPr/>
          <p:nvPr/>
        </p:nvGrpSpPr>
        <p:grpSpPr>
          <a:xfrm>
            <a:off x="863280" y="2568602"/>
            <a:ext cx="2990470" cy="1540918"/>
            <a:chOff x="4482712" y="3603743"/>
            <a:chExt cx="3215213" cy="1325407"/>
          </a:xfrm>
        </p:grpSpPr>
        <p:sp>
          <p:nvSpPr>
            <p:cNvPr id="1843" name="Google Shape;1843;p103"/>
            <p:cNvSpPr/>
            <p:nvPr/>
          </p:nvSpPr>
          <p:spPr>
            <a:xfrm>
              <a:off x="4631925" y="3625650"/>
              <a:ext cx="3066000" cy="130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44" name="Google Shape;1844;p103"/>
            <p:cNvGrpSpPr/>
            <p:nvPr/>
          </p:nvGrpSpPr>
          <p:grpSpPr>
            <a:xfrm>
              <a:off x="4482712" y="3603743"/>
              <a:ext cx="3168024" cy="1318599"/>
              <a:chOff x="4639186" y="3548699"/>
              <a:chExt cx="3255265" cy="1602576"/>
            </a:xfrm>
          </p:grpSpPr>
          <p:pic>
            <p:nvPicPr>
              <p:cNvPr id="1845" name="Google Shape;1845;p103"/>
              <p:cNvPicPr preferRelativeResize="0"/>
              <p:nvPr/>
            </p:nvPicPr>
            <p:blipFill rotWithShape="1">
              <a:blip r:embed="rId3">
                <a:alphaModFix/>
              </a:blip>
              <a:srcRect b="4765" l="40550" r="0" t="12067"/>
              <a:stretch/>
            </p:blipFill>
            <p:spPr>
              <a:xfrm>
                <a:off x="4639186" y="3548699"/>
                <a:ext cx="3255265" cy="16025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6" name="Google Shape;1846;p103"/>
              <p:cNvSpPr txBox="1"/>
              <p:nvPr/>
            </p:nvSpPr>
            <p:spPr>
              <a:xfrm>
                <a:off x="4909238" y="3624750"/>
                <a:ext cx="2934900" cy="128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 think so, but what if the point isn’t on the line segment to begin with?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47" name="Google Shape;1847;p103"/>
          <p:cNvSpPr txBox="1"/>
          <p:nvPr/>
        </p:nvSpPr>
        <p:spPr>
          <a:xfrm flipH="1">
            <a:off x="324000" y="4526775"/>
            <a:ext cx="102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8" name="Google Shape;1848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1559" y="3727200"/>
            <a:ext cx="649083" cy="799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9" name="Google Shape;1849;p103"/>
          <p:cNvGrpSpPr/>
          <p:nvPr/>
        </p:nvGrpSpPr>
        <p:grpSpPr>
          <a:xfrm>
            <a:off x="5310609" y="2892275"/>
            <a:ext cx="3266356" cy="295650"/>
            <a:chOff x="5292934" y="2983850"/>
            <a:chExt cx="3266356" cy="295650"/>
          </a:xfrm>
        </p:grpSpPr>
        <p:cxnSp>
          <p:nvCxnSpPr>
            <p:cNvPr id="1850" name="Google Shape;1850;p103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51" name="Google Shape;1851;p103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2" name="Google Shape;1852;p103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53" name="Google Shape;1853;p103"/>
          <p:cNvGrpSpPr/>
          <p:nvPr/>
        </p:nvGrpSpPr>
        <p:grpSpPr>
          <a:xfrm>
            <a:off x="542279" y="592317"/>
            <a:ext cx="4399883" cy="1904655"/>
            <a:chOff x="9750600" y="378900"/>
            <a:chExt cx="3559200" cy="1781050"/>
          </a:xfrm>
        </p:grpSpPr>
        <p:sp>
          <p:nvSpPr>
            <p:cNvPr id="1854" name="Google Shape;1854;p103"/>
            <p:cNvSpPr/>
            <p:nvPr/>
          </p:nvSpPr>
          <p:spPr>
            <a:xfrm>
              <a:off x="9750600" y="401050"/>
              <a:ext cx="3559200" cy="1758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55" name="Google Shape;1855;p103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958500" y="378900"/>
              <a:ext cx="3148948" cy="1647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103"/>
            <p:cNvSpPr txBox="1"/>
            <p:nvPr/>
          </p:nvSpPr>
          <p:spPr>
            <a:xfrm>
              <a:off x="10212820" y="455952"/>
              <a:ext cx="2818500" cy="127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the method will change…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We’ll probably have to extend the line segment, though.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7" name="Google Shape;1857;p103"/>
          <p:cNvSpPr txBox="1"/>
          <p:nvPr/>
        </p:nvSpPr>
        <p:spPr>
          <a:xfrm>
            <a:off x="335975" y="2241021"/>
            <a:ext cx="79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03"/>
          <p:cNvSpPr/>
          <p:nvPr/>
        </p:nvSpPr>
        <p:spPr>
          <a:xfrm flipH="1">
            <a:off x="4735671" y="875499"/>
            <a:ext cx="2362800" cy="23646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03"/>
          <p:cNvSpPr/>
          <p:nvPr/>
        </p:nvSpPr>
        <p:spPr>
          <a:xfrm>
            <a:off x="5711937" y="1852455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0" name="Google Shape;1860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601" y="1598694"/>
            <a:ext cx="609629" cy="79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1" name="Google Shape;1861;p103"/>
          <p:cNvSpPr/>
          <p:nvPr/>
        </p:nvSpPr>
        <p:spPr>
          <a:xfrm>
            <a:off x="6811725" y="2651908"/>
            <a:ext cx="476400" cy="476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6" name="Google Shape;1866;p104"/>
          <p:cNvCxnSpPr/>
          <p:nvPr/>
        </p:nvCxnSpPr>
        <p:spPr>
          <a:xfrm rot="10800000">
            <a:off x="5645337" y="3273395"/>
            <a:ext cx="2983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7" name="Google Shape;1867;p104"/>
          <p:cNvSpPr/>
          <p:nvPr/>
        </p:nvSpPr>
        <p:spPr>
          <a:xfrm>
            <a:off x="6570650" y="1536875"/>
            <a:ext cx="2106900" cy="21087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sp>
        <p:nvSpPr>
          <p:cNvPr id="1869" name="Google Shape;1869;p104"/>
          <p:cNvSpPr txBox="1"/>
          <p:nvPr/>
        </p:nvSpPr>
        <p:spPr>
          <a:xfrm>
            <a:off x="324000" y="673325"/>
            <a:ext cx="52185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construct the perpendicular to a line segment through a point that’s anywhere: on or off of the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point is off of the line segment, it is more likely that we have to: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0" name="Google Shape;1870;p104"/>
          <p:cNvGrpSpPr/>
          <p:nvPr/>
        </p:nvGrpSpPr>
        <p:grpSpPr>
          <a:xfrm flipH="1">
            <a:off x="4202271" y="3273275"/>
            <a:ext cx="3266356" cy="295650"/>
            <a:chOff x="5292934" y="2983850"/>
            <a:chExt cx="3266356" cy="295650"/>
          </a:xfrm>
        </p:grpSpPr>
        <p:cxnSp>
          <p:nvCxnSpPr>
            <p:cNvPr id="1871" name="Google Shape;1871;p10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2" name="Google Shape;1872;p104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3" name="Google Shape;1873;p104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4" name="Google Shape;1874;p104"/>
          <p:cNvSpPr/>
          <p:nvPr/>
        </p:nvSpPr>
        <p:spPr>
          <a:xfrm flipH="1">
            <a:off x="7418900" y="2385855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04"/>
          <p:cNvSpPr txBox="1"/>
          <p:nvPr/>
        </p:nvSpPr>
        <p:spPr>
          <a:xfrm>
            <a:off x="769400" y="2326075"/>
            <a:ext cx="267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a bigger circle so that it can reach and intersect the line segment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104"/>
          <p:cNvSpPr txBox="1"/>
          <p:nvPr/>
        </p:nvSpPr>
        <p:spPr>
          <a:xfrm>
            <a:off x="769400" y="3573525"/>
            <a:ext cx="267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extend the line segment so that it intersects the circle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7" name="Google Shape;1877;p104"/>
          <p:cNvGrpSpPr/>
          <p:nvPr/>
        </p:nvGrpSpPr>
        <p:grpSpPr>
          <a:xfrm>
            <a:off x="5537550" y="1989800"/>
            <a:ext cx="4174274" cy="2571020"/>
            <a:chOff x="5537550" y="1989800"/>
            <a:chExt cx="4174274" cy="2571020"/>
          </a:xfrm>
        </p:grpSpPr>
        <p:sp>
          <p:nvSpPr>
            <p:cNvPr id="1878" name="Google Shape;1878;p104"/>
            <p:cNvSpPr/>
            <p:nvPr/>
          </p:nvSpPr>
          <p:spPr>
            <a:xfrm>
              <a:off x="5537550" y="1989800"/>
              <a:ext cx="2570400" cy="2570400"/>
            </a:xfrm>
            <a:prstGeom prst="arc">
              <a:avLst>
                <a:gd fmla="val 18202296" name="adj1"/>
                <a:gd fmla="val 19072712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9" name="Google Shape;1879;p104"/>
            <p:cNvSpPr/>
            <p:nvPr/>
          </p:nvSpPr>
          <p:spPr>
            <a:xfrm flipH="1">
              <a:off x="7141424" y="1989800"/>
              <a:ext cx="2570400" cy="2570400"/>
            </a:xfrm>
            <a:prstGeom prst="arc">
              <a:avLst>
                <a:gd fmla="val 17982210" name="adj1"/>
                <a:gd fmla="val 18946048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0" name="Google Shape;1880;p104"/>
            <p:cNvSpPr/>
            <p:nvPr/>
          </p:nvSpPr>
          <p:spPr>
            <a:xfrm flipH="1" rot="10800000">
              <a:off x="5537550" y="1990420"/>
              <a:ext cx="2570400" cy="2570400"/>
            </a:xfrm>
            <a:prstGeom prst="arc">
              <a:avLst>
                <a:gd fmla="val 18202296" name="adj1"/>
                <a:gd fmla="val 19072712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1" name="Google Shape;1881;p104"/>
            <p:cNvSpPr/>
            <p:nvPr/>
          </p:nvSpPr>
          <p:spPr>
            <a:xfrm rot="10800000">
              <a:off x="7141424" y="1990420"/>
              <a:ext cx="2570400" cy="2570400"/>
            </a:xfrm>
            <a:prstGeom prst="arc">
              <a:avLst>
                <a:gd fmla="val 17982210" name="adj1"/>
                <a:gd fmla="val 18946048" name="adj2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82" name="Google Shape;1882;p104"/>
          <p:cNvCxnSpPr/>
          <p:nvPr/>
        </p:nvCxnSpPr>
        <p:spPr>
          <a:xfrm>
            <a:off x="7624100" y="1715675"/>
            <a:ext cx="0" cy="2869500"/>
          </a:xfrm>
          <a:prstGeom prst="straightConnector1">
            <a:avLst/>
          </a:pr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7" name="Google Shape;1887;p105"/>
          <p:cNvCxnSpPr/>
          <p:nvPr/>
        </p:nvCxnSpPr>
        <p:spPr>
          <a:xfrm rot="10800000">
            <a:off x="2285037" y="3871675"/>
            <a:ext cx="44718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8" name="Google Shape;1888;p105"/>
          <p:cNvSpPr/>
          <p:nvPr/>
        </p:nvSpPr>
        <p:spPr>
          <a:xfrm>
            <a:off x="2523300" y="788550"/>
            <a:ext cx="3972600" cy="39768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05"/>
          <p:cNvSpPr txBox="1"/>
          <p:nvPr/>
        </p:nvSpPr>
        <p:spPr>
          <a:xfrm>
            <a:off x="324000" y="673325"/>
            <a:ext cx="2105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circles will help in the construction of the perpendicular to QP through point Z?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grpSp>
        <p:nvGrpSpPr>
          <p:cNvPr id="1891" name="Google Shape;1891;p105"/>
          <p:cNvGrpSpPr/>
          <p:nvPr/>
        </p:nvGrpSpPr>
        <p:grpSpPr>
          <a:xfrm flipH="1">
            <a:off x="5497671" y="3871675"/>
            <a:ext cx="3266356" cy="295650"/>
            <a:chOff x="5292934" y="2983850"/>
            <a:chExt cx="3266356" cy="295650"/>
          </a:xfrm>
        </p:grpSpPr>
        <p:cxnSp>
          <p:nvCxnSpPr>
            <p:cNvPr id="1892" name="Google Shape;1892;p105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3" name="Google Shape;1893;p105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4" name="Google Shape;1894;p105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Q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5" name="Google Shape;1895;p105"/>
          <p:cNvSpPr/>
          <p:nvPr/>
        </p:nvSpPr>
        <p:spPr>
          <a:xfrm flipH="1">
            <a:off x="4304550" y="2571755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105"/>
          <p:cNvSpPr/>
          <p:nvPr/>
        </p:nvSpPr>
        <p:spPr>
          <a:xfrm>
            <a:off x="3896225" y="2162900"/>
            <a:ext cx="1227000" cy="1228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105"/>
          <p:cNvSpPr/>
          <p:nvPr/>
        </p:nvSpPr>
        <p:spPr>
          <a:xfrm>
            <a:off x="3022200" y="1287975"/>
            <a:ext cx="2975100" cy="29778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8" name="Google Shape;1898;p105"/>
          <p:cNvGrpSpPr/>
          <p:nvPr/>
        </p:nvGrpSpPr>
        <p:grpSpPr>
          <a:xfrm>
            <a:off x="3635312" y="2646571"/>
            <a:ext cx="260924" cy="260878"/>
            <a:chOff x="1020916" y="1442088"/>
            <a:chExt cx="457200" cy="457200"/>
          </a:xfrm>
        </p:grpSpPr>
        <p:pic>
          <p:nvPicPr>
            <p:cNvPr id="1899" name="Google Shape;1899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0" name="Google Shape;190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GB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1" name="Google Shape;1901;p105"/>
          <p:cNvGrpSpPr/>
          <p:nvPr/>
        </p:nvGrpSpPr>
        <p:grpSpPr>
          <a:xfrm>
            <a:off x="4379300" y="1287971"/>
            <a:ext cx="260924" cy="260878"/>
            <a:chOff x="1020916" y="1442088"/>
            <a:chExt cx="457200" cy="457200"/>
          </a:xfrm>
        </p:grpSpPr>
        <p:pic>
          <p:nvPicPr>
            <p:cNvPr id="1902" name="Google Shape;1902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3" name="Google Shape;190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4" name="Google Shape;1904;p105"/>
          <p:cNvGrpSpPr/>
          <p:nvPr/>
        </p:nvGrpSpPr>
        <p:grpSpPr>
          <a:xfrm>
            <a:off x="6495900" y="2646433"/>
            <a:ext cx="260924" cy="260878"/>
            <a:chOff x="1020916" y="1442088"/>
            <a:chExt cx="457200" cy="457200"/>
          </a:xfrm>
        </p:grpSpPr>
        <p:pic>
          <p:nvPicPr>
            <p:cNvPr id="1905" name="Google Shape;1905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6" name="Google Shape;190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i="0" sz="18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07" name="Google Shape;1907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1593" y="154884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8" name="Google Shape;1908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6818" y="256745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9" name="Google Shape;1909;p105"/>
          <p:cNvSpPr txBox="1"/>
          <p:nvPr/>
        </p:nvSpPr>
        <p:spPr>
          <a:xfrm>
            <a:off x="324000" y="3134525"/>
            <a:ext cx="2105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Extending QP will allow it to intersect with either circle b or 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0" name="Google Shape;1910;p105"/>
          <p:cNvSpPr txBox="1"/>
          <p:nvPr/>
        </p:nvSpPr>
        <p:spPr>
          <a:xfrm flipH="1">
            <a:off x="4178852" y="2821525"/>
            <a:ext cx="282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06"/>
          <p:cNvSpPr txBox="1"/>
          <p:nvPr/>
        </p:nvSpPr>
        <p:spPr>
          <a:xfrm>
            <a:off x="324000" y="645033"/>
            <a:ext cx="84960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a) Construct five perpendiculars to AB through each of the five points.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Measure the shortest distance from each point to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grpSp>
        <p:nvGrpSpPr>
          <p:cNvPr id="1917" name="Google Shape;1917;p106"/>
          <p:cNvGrpSpPr/>
          <p:nvPr/>
        </p:nvGrpSpPr>
        <p:grpSpPr>
          <a:xfrm flipH="1" rot="899960">
            <a:off x="293337" y="2718595"/>
            <a:ext cx="3266259" cy="295641"/>
            <a:chOff x="5292934" y="2983850"/>
            <a:chExt cx="3266356" cy="295650"/>
          </a:xfrm>
        </p:grpSpPr>
        <p:cxnSp>
          <p:nvCxnSpPr>
            <p:cNvPr id="1918" name="Google Shape;1918;p106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9" name="Google Shape;1919;p106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0" name="Google Shape;1920;p106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1" name="Google Shape;1921;p106"/>
          <p:cNvSpPr/>
          <p:nvPr/>
        </p:nvSpPr>
        <p:spPr>
          <a:xfrm flipH="1" rot="900095">
            <a:off x="1845483" y="2197173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2" name="Google Shape;1922;p106"/>
          <p:cNvGrpSpPr/>
          <p:nvPr/>
        </p:nvGrpSpPr>
        <p:grpSpPr>
          <a:xfrm flipH="1" rot="899960">
            <a:off x="5573869" y="3155032"/>
            <a:ext cx="3266259" cy="295641"/>
            <a:chOff x="5292934" y="2983850"/>
            <a:chExt cx="3266356" cy="295650"/>
          </a:xfrm>
        </p:grpSpPr>
        <p:cxnSp>
          <p:nvCxnSpPr>
            <p:cNvPr id="1923" name="Google Shape;1923;p106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24" name="Google Shape;1924;p106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5" name="Google Shape;1925;p106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6" name="Google Shape;1926;p106"/>
          <p:cNvSpPr/>
          <p:nvPr/>
        </p:nvSpPr>
        <p:spPr>
          <a:xfrm flipH="1" rot="900095">
            <a:off x="7038787" y="2959151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06"/>
          <p:cNvSpPr/>
          <p:nvPr/>
        </p:nvSpPr>
        <p:spPr>
          <a:xfrm flipH="1" rot="900095">
            <a:off x="2081052" y="4221883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06"/>
          <p:cNvSpPr/>
          <p:nvPr/>
        </p:nvSpPr>
        <p:spPr>
          <a:xfrm flipH="1" rot="900095">
            <a:off x="5795517" y="1852227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06"/>
          <p:cNvSpPr/>
          <p:nvPr/>
        </p:nvSpPr>
        <p:spPr>
          <a:xfrm flipH="1" rot="900095">
            <a:off x="5064714" y="3223558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06"/>
          <p:cNvSpPr txBox="1"/>
          <p:nvPr/>
        </p:nvSpPr>
        <p:spPr>
          <a:xfrm rot="899335">
            <a:off x="1766646" y="1987825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06"/>
          <p:cNvSpPr txBox="1"/>
          <p:nvPr/>
        </p:nvSpPr>
        <p:spPr>
          <a:xfrm rot="899335">
            <a:off x="2321203" y="4579748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06"/>
          <p:cNvSpPr txBox="1"/>
          <p:nvPr/>
        </p:nvSpPr>
        <p:spPr>
          <a:xfrm rot="899335">
            <a:off x="4833431" y="3456319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106"/>
          <p:cNvSpPr txBox="1"/>
          <p:nvPr/>
        </p:nvSpPr>
        <p:spPr>
          <a:xfrm rot="899335">
            <a:off x="5677332" y="1615280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06"/>
          <p:cNvSpPr txBox="1"/>
          <p:nvPr/>
        </p:nvSpPr>
        <p:spPr>
          <a:xfrm rot="899335">
            <a:off x="7398929" y="2850372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5" name="Google Shape;1935;p106"/>
          <p:cNvCxnSpPr>
            <a:stCxn id="1915" idx="2"/>
          </p:cNvCxnSpPr>
          <p:nvPr/>
        </p:nvCxnSpPr>
        <p:spPr>
          <a:xfrm>
            <a:off x="4572000" y="1327533"/>
            <a:ext cx="0" cy="3474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07"/>
          <p:cNvSpPr txBox="1"/>
          <p:nvPr/>
        </p:nvSpPr>
        <p:spPr>
          <a:xfrm>
            <a:off x="324000" y="645033"/>
            <a:ext cx="84960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 boat, out at sea, needs to find the closest port so that it can refuel.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port is the closest to the boat? And at which part of the port should the boat dock?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pic>
        <p:nvPicPr>
          <p:cNvPr id="1942" name="Google Shape;194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350" y="2248161"/>
            <a:ext cx="5378152" cy="23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3" name="Google Shape;1943;p107"/>
          <p:cNvSpPr txBox="1"/>
          <p:nvPr/>
        </p:nvSpPr>
        <p:spPr>
          <a:xfrm>
            <a:off x="1820025" y="4543200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07"/>
          <p:cNvSpPr txBox="1"/>
          <p:nvPr/>
        </p:nvSpPr>
        <p:spPr>
          <a:xfrm>
            <a:off x="2607225" y="2700000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07"/>
          <p:cNvSpPr txBox="1"/>
          <p:nvPr/>
        </p:nvSpPr>
        <p:spPr>
          <a:xfrm>
            <a:off x="7508500" y="3932425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07"/>
          <p:cNvSpPr/>
          <p:nvPr/>
        </p:nvSpPr>
        <p:spPr>
          <a:xfrm>
            <a:off x="1975302" y="4297417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107"/>
          <p:cNvSpPr/>
          <p:nvPr/>
        </p:nvSpPr>
        <p:spPr>
          <a:xfrm>
            <a:off x="1953132" y="2793332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07"/>
          <p:cNvSpPr/>
          <p:nvPr/>
        </p:nvSpPr>
        <p:spPr>
          <a:xfrm>
            <a:off x="3974838" y="3960185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07"/>
          <p:cNvSpPr/>
          <p:nvPr/>
        </p:nvSpPr>
        <p:spPr>
          <a:xfrm>
            <a:off x="5611713" y="2871148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07"/>
          <p:cNvSpPr/>
          <p:nvPr/>
        </p:nvSpPr>
        <p:spPr>
          <a:xfrm>
            <a:off x="7195103" y="3724826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07"/>
          <p:cNvSpPr/>
          <p:nvPr/>
        </p:nvSpPr>
        <p:spPr>
          <a:xfrm>
            <a:off x="2837295" y="2407301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07"/>
          <p:cNvSpPr/>
          <p:nvPr/>
        </p:nvSpPr>
        <p:spPr>
          <a:xfrm>
            <a:off x="3736820" y="2124751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07"/>
          <p:cNvSpPr txBox="1"/>
          <p:nvPr/>
        </p:nvSpPr>
        <p:spPr>
          <a:xfrm>
            <a:off x="4099700" y="4297425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8" name="Google Shape;1958;p108"/>
          <p:cNvCxnSpPr/>
          <p:nvPr/>
        </p:nvCxnSpPr>
        <p:spPr>
          <a:xfrm flipH="1" rot="10800000">
            <a:off x="5271500" y="2777150"/>
            <a:ext cx="541500" cy="645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108"/>
          <p:cNvCxnSpPr/>
          <p:nvPr/>
        </p:nvCxnSpPr>
        <p:spPr>
          <a:xfrm rot="-9900063">
            <a:off x="4974793" y="2952482"/>
            <a:ext cx="2983755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108"/>
          <p:cNvSpPr txBox="1"/>
          <p:nvPr/>
        </p:nvSpPr>
        <p:spPr>
          <a:xfrm>
            <a:off x="324000" y="645033"/>
            <a:ext cx="84960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a) Construct five perpendiculars to AB through each of the five points.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Measure the shortest distance from each point to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grpSp>
        <p:nvGrpSpPr>
          <p:cNvPr id="1962" name="Google Shape;1962;p108"/>
          <p:cNvGrpSpPr/>
          <p:nvPr/>
        </p:nvGrpSpPr>
        <p:grpSpPr>
          <a:xfrm flipH="1" rot="899960">
            <a:off x="293337" y="2718595"/>
            <a:ext cx="3266259" cy="295641"/>
            <a:chOff x="5292934" y="2983850"/>
            <a:chExt cx="3266356" cy="295650"/>
          </a:xfrm>
        </p:grpSpPr>
        <p:cxnSp>
          <p:nvCxnSpPr>
            <p:cNvPr id="1963" name="Google Shape;1963;p10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4" name="Google Shape;1964;p10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5" name="Google Shape;1965;p10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6" name="Google Shape;1966;p108"/>
          <p:cNvSpPr/>
          <p:nvPr/>
        </p:nvSpPr>
        <p:spPr>
          <a:xfrm flipH="1" rot="900095">
            <a:off x="1845483" y="2197173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7" name="Google Shape;1967;p108"/>
          <p:cNvGrpSpPr/>
          <p:nvPr/>
        </p:nvGrpSpPr>
        <p:grpSpPr>
          <a:xfrm flipH="1" rot="899960">
            <a:off x="5573869" y="3155032"/>
            <a:ext cx="3266259" cy="295641"/>
            <a:chOff x="5292934" y="2983850"/>
            <a:chExt cx="3266356" cy="295650"/>
          </a:xfrm>
        </p:grpSpPr>
        <p:cxnSp>
          <p:nvCxnSpPr>
            <p:cNvPr id="1968" name="Google Shape;1968;p10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9" name="Google Shape;1969;p108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0" name="Google Shape;1970;p108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1" name="Google Shape;1971;p108"/>
          <p:cNvSpPr/>
          <p:nvPr/>
        </p:nvSpPr>
        <p:spPr>
          <a:xfrm flipH="1" rot="900095">
            <a:off x="7038787" y="2959151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08"/>
          <p:cNvSpPr/>
          <p:nvPr/>
        </p:nvSpPr>
        <p:spPr>
          <a:xfrm flipH="1" rot="900095">
            <a:off x="2081052" y="4221883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08"/>
          <p:cNvSpPr/>
          <p:nvPr/>
        </p:nvSpPr>
        <p:spPr>
          <a:xfrm flipH="1" rot="900095">
            <a:off x="5795517" y="1852227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08"/>
          <p:cNvSpPr/>
          <p:nvPr/>
        </p:nvSpPr>
        <p:spPr>
          <a:xfrm flipH="1" rot="900095">
            <a:off x="5064714" y="3223558"/>
            <a:ext cx="410283" cy="410283"/>
          </a:xfrm>
          <a:prstGeom prst="mathMultiply">
            <a:avLst>
              <a:gd fmla="val 7231" name="adj1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08"/>
          <p:cNvSpPr txBox="1"/>
          <p:nvPr/>
        </p:nvSpPr>
        <p:spPr>
          <a:xfrm rot="899335">
            <a:off x="1766646" y="1987825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08"/>
          <p:cNvSpPr txBox="1"/>
          <p:nvPr/>
        </p:nvSpPr>
        <p:spPr>
          <a:xfrm rot="899335">
            <a:off x="2321203" y="4579748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08"/>
          <p:cNvSpPr txBox="1"/>
          <p:nvPr/>
        </p:nvSpPr>
        <p:spPr>
          <a:xfrm rot="899335">
            <a:off x="4833431" y="3456319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08"/>
          <p:cNvSpPr txBox="1"/>
          <p:nvPr/>
        </p:nvSpPr>
        <p:spPr>
          <a:xfrm rot="899335">
            <a:off x="5677332" y="1615280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08"/>
          <p:cNvSpPr txBox="1"/>
          <p:nvPr/>
        </p:nvSpPr>
        <p:spPr>
          <a:xfrm rot="899335">
            <a:off x="7398929" y="2850372"/>
            <a:ext cx="288827" cy="277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Z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0" name="Google Shape;1980;p108"/>
          <p:cNvCxnSpPr>
            <a:stCxn id="1960" idx="2"/>
          </p:cNvCxnSpPr>
          <p:nvPr/>
        </p:nvCxnSpPr>
        <p:spPr>
          <a:xfrm>
            <a:off x="4572000" y="1327533"/>
            <a:ext cx="0" cy="3474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108"/>
          <p:cNvCxnSpPr/>
          <p:nvPr/>
        </p:nvCxnSpPr>
        <p:spPr>
          <a:xfrm flipH="1" rot="10800000">
            <a:off x="1890175" y="1496200"/>
            <a:ext cx="407100" cy="1518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108"/>
          <p:cNvCxnSpPr/>
          <p:nvPr/>
        </p:nvCxnSpPr>
        <p:spPr>
          <a:xfrm flipH="1" rot="10800000">
            <a:off x="2260575" y="2798750"/>
            <a:ext cx="459300" cy="1713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108"/>
          <p:cNvCxnSpPr/>
          <p:nvPr/>
        </p:nvCxnSpPr>
        <p:spPr>
          <a:xfrm flipH="1" rot="10800000">
            <a:off x="5601800" y="1843050"/>
            <a:ext cx="459300" cy="1713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4" name="Google Shape;1984;p108"/>
          <p:cNvCxnSpPr/>
          <p:nvPr/>
        </p:nvCxnSpPr>
        <p:spPr>
          <a:xfrm flipH="1" rot="10800000">
            <a:off x="5153206" y="2132075"/>
            <a:ext cx="459300" cy="1713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108"/>
          <p:cNvCxnSpPr/>
          <p:nvPr/>
        </p:nvCxnSpPr>
        <p:spPr>
          <a:xfrm flipH="1" rot="10800000">
            <a:off x="6947081" y="2560700"/>
            <a:ext cx="459300" cy="17139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Perpendiculars through points off a line</a:t>
            </a:r>
            <a:endParaRPr/>
          </a:p>
        </p:txBody>
      </p:sp>
      <p:pic>
        <p:nvPicPr>
          <p:cNvPr id="1991" name="Google Shape;199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951" y="1798000"/>
            <a:ext cx="5549299" cy="28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p109"/>
          <p:cNvSpPr txBox="1"/>
          <p:nvPr/>
        </p:nvSpPr>
        <p:spPr>
          <a:xfrm>
            <a:off x="1820025" y="4543200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109"/>
          <p:cNvSpPr txBox="1"/>
          <p:nvPr/>
        </p:nvSpPr>
        <p:spPr>
          <a:xfrm>
            <a:off x="2607225" y="2700000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09"/>
          <p:cNvSpPr txBox="1"/>
          <p:nvPr/>
        </p:nvSpPr>
        <p:spPr>
          <a:xfrm>
            <a:off x="7508500" y="3932425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Port 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09"/>
          <p:cNvSpPr/>
          <p:nvPr/>
        </p:nvSpPr>
        <p:spPr>
          <a:xfrm>
            <a:off x="3434092" y="2214306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09"/>
          <p:cNvSpPr txBox="1"/>
          <p:nvPr/>
        </p:nvSpPr>
        <p:spPr>
          <a:xfrm>
            <a:off x="324000" y="645575"/>
            <a:ext cx="84957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Port B is closest.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Be careful, as the shortest distance to the extension of port C is closer - but actual port C is further away.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7" name="Google Shape;1997;p109"/>
          <p:cNvSpPr/>
          <p:nvPr/>
        </p:nvSpPr>
        <p:spPr>
          <a:xfrm>
            <a:off x="1975302" y="4297417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09"/>
          <p:cNvSpPr/>
          <p:nvPr/>
        </p:nvSpPr>
        <p:spPr>
          <a:xfrm>
            <a:off x="1953132" y="2793332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09"/>
          <p:cNvSpPr/>
          <p:nvPr/>
        </p:nvSpPr>
        <p:spPr>
          <a:xfrm>
            <a:off x="3974838" y="3960185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09"/>
          <p:cNvSpPr/>
          <p:nvPr/>
        </p:nvSpPr>
        <p:spPr>
          <a:xfrm>
            <a:off x="5611713" y="2871148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09"/>
          <p:cNvSpPr/>
          <p:nvPr/>
        </p:nvSpPr>
        <p:spPr>
          <a:xfrm>
            <a:off x="7195103" y="3724826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09"/>
          <p:cNvSpPr/>
          <p:nvPr/>
        </p:nvSpPr>
        <p:spPr>
          <a:xfrm>
            <a:off x="2837295" y="2407301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09"/>
          <p:cNvSpPr/>
          <p:nvPr/>
        </p:nvSpPr>
        <p:spPr>
          <a:xfrm>
            <a:off x="3736820" y="2124751"/>
            <a:ext cx="410400" cy="410400"/>
          </a:xfrm>
          <a:prstGeom prst="mathMultiply">
            <a:avLst>
              <a:gd fmla="val 7231" name="adj1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09"/>
          <p:cNvSpPr txBox="1"/>
          <p:nvPr/>
        </p:nvSpPr>
        <p:spPr>
          <a:xfrm>
            <a:off x="4099700" y="4297425"/>
            <a:ext cx="78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Boat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110"/>
          <p:cNvSpPr txBox="1"/>
          <p:nvPr/>
        </p:nvSpPr>
        <p:spPr>
          <a:xfrm>
            <a:off x="324000" y="984208"/>
            <a:ext cx="8496000" cy="3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perpendicular can be constructed through any point on a line segment, and may require parts of the line segment to be shortened or extended.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always possible to construct a perpendicular through any point, as long as: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a circle is drawn with a centre at that point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 the circle intersects the line segment twice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perpendicular can also be constructed through any point off of a line segment.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a perpendicular through a point off of a line segment intersects the original line segment, then the distance from the point to the line segment is its shortest distance.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10"/>
          <p:cNvSpPr txBox="1"/>
          <p:nvPr>
            <p:ph type="title"/>
          </p:nvPr>
        </p:nvSpPr>
        <p:spPr>
          <a:xfrm>
            <a:off x="1684800" y="150550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Perpendicular to a given line through a given point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11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16" name="Google Shape;2016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