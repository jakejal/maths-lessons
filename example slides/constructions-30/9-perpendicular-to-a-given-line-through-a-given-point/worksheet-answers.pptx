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7E7DCC-14ED-4741-8A7E-D166AC63660C}">
  <a:tblStyle styleId="{527E7DCC-14ED-4741-8A7E-D166AC6366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a91d3736a1_0_15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a91d3736a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734" y="5630101"/>
            <a:ext cx="2820971" cy="18150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20"/>
          <p:cNvCxnSpPr/>
          <p:nvPr/>
        </p:nvCxnSpPr>
        <p:spPr>
          <a:xfrm flipH="1">
            <a:off x="3516497" y="2062656"/>
            <a:ext cx="623700" cy="107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0"/>
          <p:cNvCxnSpPr/>
          <p:nvPr/>
        </p:nvCxnSpPr>
        <p:spPr>
          <a:xfrm>
            <a:off x="3093747" y="3241704"/>
            <a:ext cx="0" cy="1249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/>
          <p:nvPr/>
        </p:nvSpPr>
        <p:spPr>
          <a:xfrm>
            <a:off x="784354" y="2416865"/>
            <a:ext cx="681300" cy="682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to a given line through a given point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410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Perpendiculars at points on shortened line segments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534572" y="3675103"/>
            <a:ext cx="485400" cy="485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 rot="5400000">
            <a:off x="2837416" y="3603584"/>
            <a:ext cx="522900" cy="5235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 rot="1801015">
            <a:off x="3487543" y="2257475"/>
            <a:ext cx="681851" cy="682111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06617" y="1784950"/>
            <a:ext cx="655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Complete the construction of the perpendicular through point Z on each line segment.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955230" y="2587496"/>
            <a:ext cx="339900" cy="3399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880687" y="2791469"/>
            <a:ext cx="20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" name="Google Shape;184;p20"/>
          <p:cNvGrpSpPr/>
          <p:nvPr/>
        </p:nvGrpSpPr>
        <p:grpSpPr>
          <a:xfrm>
            <a:off x="198810" y="2169662"/>
            <a:ext cx="1852849" cy="1168546"/>
            <a:chOff x="-363478" y="1468386"/>
            <a:chExt cx="3152175" cy="1988000"/>
          </a:xfrm>
        </p:grpSpPr>
        <p:grpSp>
          <p:nvGrpSpPr>
            <p:cNvPr id="185" name="Google Shape;185;p20"/>
            <p:cNvGrpSpPr/>
            <p:nvPr/>
          </p:nvGrpSpPr>
          <p:grpSpPr>
            <a:xfrm>
              <a:off x="-363478" y="1468386"/>
              <a:ext cx="1988000" cy="1988000"/>
              <a:chOff x="95125" y="1860572"/>
              <a:chExt cx="1203900" cy="1203900"/>
            </a:xfrm>
          </p:grpSpPr>
          <p:sp>
            <p:nvSpPr>
              <p:cNvPr id="186" name="Google Shape;186;p20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966683" name="adj1"/>
                  <a:gd fmla="val 19223956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" name="Google Shape;187;p20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659523" name="adj1"/>
                  <a:gd fmla="val 18936552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8" name="Google Shape;188;p20"/>
            <p:cNvGrpSpPr/>
            <p:nvPr/>
          </p:nvGrpSpPr>
          <p:grpSpPr>
            <a:xfrm flipH="1">
              <a:off x="800697" y="1468386"/>
              <a:ext cx="1988000" cy="1988000"/>
              <a:chOff x="95125" y="1860572"/>
              <a:chExt cx="1203900" cy="1203900"/>
            </a:xfrm>
          </p:grpSpPr>
          <p:sp>
            <p:nvSpPr>
              <p:cNvPr id="189" name="Google Shape;189;p20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801998" name="adj1"/>
                  <a:gd fmla="val 19131496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" name="Google Shape;190;p20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793231" name="adj1"/>
                  <a:gd fmla="val 19048745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91" name="Google Shape;191;p20"/>
          <p:cNvGrpSpPr/>
          <p:nvPr/>
        </p:nvGrpSpPr>
        <p:grpSpPr>
          <a:xfrm>
            <a:off x="601802" y="2758299"/>
            <a:ext cx="1601495" cy="226332"/>
            <a:chOff x="5292934" y="2983850"/>
            <a:chExt cx="3266356" cy="385050"/>
          </a:xfrm>
        </p:grpSpPr>
        <p:cxnSp>
          <p:nvCxnSpPr>
            <p:cNvPr id="192" name="Google Shape;192;p20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3" name="Google Shape;193;p20"/>
            <p:cNvSpPr txBox="1"/>
            <p:nvPr/>
          </p:nvSpPr>
          <p:spPr>
            <a:xfrm>
              <a:off x="5292934" y="3002300"/>
              <a:ext cx="2823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8276991" y="3002300"/>
              <a:ext cx="2823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5" name="Google Shape;195;p20"/>
          <p:cNvSpPr/>
          <p:nvPr/>
        </p:nvSpPr>
        <p:spPr>
          <a:xfrm rot="1798999">
            <a:off x="3658851" y="2428003"/>
            <a:ext cx="339771" cy="339771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3545721" y="2544651"/>
            <a:ext cx="20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" name="Google Shape;197;p20"/>
          <p:cNvGrpSpPr/>
          <p:nvPr/>
        </p:nvGrpSpPr>
        <p:grpSpPr>
          <a:xfrm rot="1800652">
            <a:off x="2903749" y="2010699"/>
            <a:ext cx="1852870" cy="1168560"/>
            <a:chOff x="-363478" y="1468386"/>
            <a:chExt cx="3152175" cy="1988000"/>
          </a:xfrm>
        </p:grpSpPr>
        <p:grpSp>
          <p:nvGrpSpPr>
            <p:cNvPr id="198" name="Google Shape;198;p20"/>
            <p:cNvGrpSpPr/>
            <p:nvPr/>
          </p:nvGrpSpPr>
          <p:grpSpPr>
            <a:xfrm>
              <a:off x="-363478" y="1468386"/>
              <a:ext cx="1988000" cy="1988000"/>
              <a:chOff x="95125" y="1860572"/>
              <a:chExt cx="1203900" cy="1203900"/>
            </a:xfrm>
          </p:grpSpPr>
          <p:sp>
            <p:nvSpPr>
              <p:cNvPr id="199" name="Google Shape;199;p20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966683" name="adj1"/>
                  <a:gd fmla="val 19223956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" name="Google Shape;200;p20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659523" name="adj1"/>
                  <a:gd fmla="val 18936552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01" name="Google Shape;201;p20"/>
            <p:cNvGrpSpPr/>
            <p:nvPr/>
          </p:nvGrpSpPr>
          <p:grpSpPr>
            <a:xfrm flipH="1">
              <a:off x="800697" y="1468386"/>
              <a:ext cx="1988000" cy="1988000"/>
              <a:chOff x="95125" y="1860572"/>
              <a:chExt cx="1203900" cy="1203900"/>
            </a:xfrm>
          </p:grpSpPr>
          <p:sp>
            <p:nvSpPr>
              <p:cNvPr id="202" name="Google Shape;202;p20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801998" name="adj1"/>
                  <a:gd fmla="val 19131496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" name="Google Shape;203;p20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793231" name="adj1"/>
                  <a:gd fmla="val 19048745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04" name="Google Shape;204;p20"/>
          <p:cNvGrpSpPr/>
          <p:nvPr/>
        </p:nvGrpSpPr>
        <p:grpSpPr>
          <a:xfrm rot="1800347">
            <a:off x="2711060" y="2447274"/>
            <a:ext cx="1690828" cy="255696"/>
            <a:chOff x="5228768" y="2962144"/>
            <a:chExt cx="3448456" cy="435000"/>
          </a:xfrm>
        </p:grpSpPr>
        <p:cxnSp>
          <p:nvCxnSpPr>
            <p:cNvPr id="205" name="Google Shape;205;p20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6" name="Google Shape;206;p20"/>
            <p:cNvSpPr txBox="1"/>
            <p:nvPr/>
          </p:nvSpPr>
          <p:spPr>
            <a:xfrm rot="-1541202">
              <a:off x="5325312" y="2986578"/>
              <a:ext cx="271312" cy="386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0"/>
            <p:cNvSpPr txBox="1"/>
            <p:nvPr/>
          </p:nvSpPr>
          <p:spPr>
            <a:xfrm rot="-1541202">
              <a:off x="8309369" y="2986578"/>
              <a:ext cx="271312" cy="386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 rot="-1171204">
            <a:off x="4885622" y="2108831"/>
            <a:ext cx="1858050" cy="1169412"/>
            <a:chOff x="6044209" y="1322118"/>
            <a:chExt cx="3161115" cy="1989417"/>
          </a:xfrm>
        </p:grpSpPr>
        <p:grpSp>
          <p:nvGrpSpPr>
            <p:cNvPr id="209" name="Google Shape;209;p20"/>
            <p:cNvGrpSpPr/>
            <p:nvPr/>
          </p:nvGrpSpPr>
          <p:grpSpPr>
            <a:xfrm>
              <a:off x="6474914" y="1323536"/>
              <a:ext cx="1988000" cy="1988000"/>
              <a:chOff x="129683" y="1865293"/>
              <a:chExt cx="1203900" cy="1203900"/>
            </a:xfrm>
          </p:grpSpPr>
          <p:sp>
            <p:nvSpPr>
              <p:cNvPr id="210" name="Google Shape;210;p20"/>
              <p:cNvSpPr/>
              <p:nvPr/>
            </p:nvSpPr>
            <p:spPr>
              <a:xfrm>
                <a:off x="129683" y="1865293"/>
                <a:ext cx="1203900" cy="1203900"/>
              </a:xfrm>
              <a:prstGeom prst="arc">
                <a:avLst>
                  <a:gd fmla="val 16961417" name="adj1"/>
                  <a:gd fmla="val 17948854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" name="Google Shape;211;p20"/>
              <p:cNvSpPr/>
              <p:nvPr/>
            </p:nvSpPr>
            <p:spPr>
              <a:xfrm flipH="1" rot="10800000">
                <a:off x="129683" y="1865293"/>
                <a:ext cx="1203900" cy="1203900"/>
              </a:xfrm>
              <a:prstGeom prst="arc">
                <a:avLst>
                  <a:gd fmla="val 16554866" name="adj1"/>
                  <a:gd fmla="val 17960911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12" name="Google Shape;212;p20"/>
            <p:cNvGrpSpPr/>
            <p:nvPr/>
          </p:nvGrpSpPr>
          <p:grpSpPr>
            <a:xfrm>
              <a:off x="6044209" y="2304468"/>
              <a:ext cx="2834158" cy="423900"/>
              <a:chOff x="5209277" y="2970918"/>
              <a:chExt cx="3397456" cy="423900"/>
            </a:xfrm>
          </p:grpSpPr>
          <p:cxnSp>
            <p:nvCxnSpPr>
              <p:cNvPr id="213" name="Google Shape;213;p20"/>
              <p:cNvCxnSpPr/>
              <p:nvPr/>
            </p:nvCxnSpPr>
            <p:spPr>
              <a:xfrm>
                <a:off x="5433500" y="2983850"/>
                <a:ext cx="298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4" name="Google Shape;214;p20"/>
              <p:cNvSpPr txBox="1"/>
              <p:nvPr/>
            </p:nvSpPr>
            <p:spPr>
              <a:xfrm rot="987358">
                <a:off x="5277244" y="2995165"/>
                <a:ext cx="277466" cy="375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5" name="Google Shape;215;p20"/>
              <p:cNvSpPr txBox="1"/>
              <p:nvPr/>
            </p:nvSpPr>
            <p:spPr>
              <a:xfrm rot="987358">
                <a:off x="8261300" y="2995165"/>
                <a:ext cx="277466" cy="375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16" name="Google Shape;216;p20"/>
            <p:cNvSpPr/>
            <p:nvPr/>
          </p:nvSpPr>
          <p:spPr>
            <a:xfrm>
              <a:off x="7470687" y="1943025"/>
              <a:ext cx="741600" cy="742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7" name="Google Shape;217;p20"/>
            <p:cNvGrpSpPr/>
            <p:nvPr/>
          </p:nvGrpSpPr>
          <p:grpSpPr>
            <a:xfrm flipH="1">
              <a:off x="7217324" y="1322118"/>
              <a:ext cx="1988000" cy="1988000"/>
              <a:chOff x="95125" y="1860572"/>
              <a:chExt cx="1203900" cy="1203900"/>
            </a:xfrm>
          </p:grpSpPr>
          <p:sp>
            <p:nvSpPr>
              <p:cNvPr id="218" name="Google Shape;218;p20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6785779" name="adj1"/>
                  <a:gd fmla="val 1804654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9" name="Google Shape;219;p20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6960589" name="adj1"/>
                  <a:gd fmla="val 17982232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20" name="Google Shape;220;p20"/>
            <p:cNvSpPr/>
            <p:nvPr/>
          </p:nvSpPr>
          <p:spPr>
            <a:xfrm>
              <a:off x="7553198" y="2026867"/>
              <a:ext cx="578400" cy="578400"/>
            </a:xfrm>
            <a:prstGeom prst="mathMultiply">
              <a:avLst>
                <a:gd fmla="val 7231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0"/>
            <p:cNvSpPr txBox="1"/>
            <p:nvPr/>
          </p:nvSpPr>
          <p:spPr>
            <a:xfrm rot="1168906">
              <a:off x="7650057" y="2383250"/>
              <a:ext cx="342722" cy="366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2" name="Google Shape;222;p20"/>
          <p:cNvSpPr/>
          <p:nvPr/>
        </p:nvSpPr>
        <p:spPr>
          <a:xfrm rot="5400000">
            <a:off x="2929438" y="3695470"/>
            <a:ext cx="339900" cy="3399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2883211" y="3640147"/>
            <a:ext cx="20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4" name="Google Shape;224;p20"/>
          <p:cNvGrpSpPr/>
          <p:nvPr/>
        </p:nvGrpSpPr>
        <p:grpSpPr>
          <a:xfrm rot="5400000">
            <a:off x="2300070" y="3472800"/>
            <a:ext cx="1446372" cy="150541"/>
            <a:chOff x="5236592" y="2983850"/>
            <a:chExt cx="3506356" cy="256109"/>
          </a:xfrm>
        </p:grpSpPr>
        <p:cxnSp>
          <p:nvCxnSpPr>
            <p:cNvPr id="225" name="Google Shape;225;p20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6" name="Google Shape;226;p20"/>
            <p:cNvSpPr txBox="1"/>
            <p:nvPr/>
          </p:nvSpPr>
          <p:spPr>
            <a:xfrm rot="-5400000">
              <a:off x="5398742" y="2879809"/>
              <a:ext cx="1980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0"/>
            <p:cNvSpPr txBox="1"/>
            <p:nvPr/>
          </p:nvSpPr>
          <p:spPr>
            <a:xfrm rot="-5400000">
              <a:off x="8382799" y="2879809"/>
              <a:ext cx="1980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8" name="Google Shape;228;p20"/>
          <p:cNvSpPr/>
          <p:nvPr/>
        </p:nvSpPr>
        <p:spPr>
          <a:xfrm rot="7198999">
            <a:off x="4609623" y="3752820"/>
            <a:ext cx="339771" cy="339771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650601" y="3658919"/>
            <a:ext cx="20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0" name="Google Shape;230;p20"/>
          <p:cNvGrpSpPr/>
          <p:nvPr/>
        </p:nvGrpSpPr>
        <p:grpSpPr>
          <a:xfrm rot="7199867">
            <a:off x="4148518" y="3653104"/>
            <a:ext cx="1267779" cy="208613"/>
            <a:chOff x="5183492" y="2941085"/>
            <a:chExt cx="3698056" cy="354900"/>
          </a:xfrm>
        </p:grpSpPr>
        <p:cxnSp>
          <p:nvCxnSpPr>
            <p:cNvPr id="231" name="Google Shape;231;p20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2" name="Google Shape;232;p20"/>
            <p:cNvSpPr txBox="1"/>
            <p:nvPr/>
          </p:nvSpPr>
          <p:spPr>
            <a:xfrm rot="-8081875">
              <a:off x="5419787" y="2831414"/>
              <a:ext cx="241410" cy="574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0"/>
            <p:cNvSpPr txBox="1"/>
            <p:nvPr/>
          </p:nvSpPr>
          <p:spPr>
            <a:xfrm rot="-8081875">
              <a:off x="8403844" y="2831414"/>
              <a:ext cx="241410" cy="574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34" name="Google Shape;234;p20"/>
          <p:cNvCxnSpPr/>
          <p:nvPr/>
        </p:nvCxnSpPr>
        <p:spPr>
          <a:xfrm>
            <a:off x="1126068" y="2112422"/>
            <a:ext cx="0" cy="124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0"/>
          <p:cNvCxnSpPr/>
          <p:nvPr/>
        </p:nvCxnSpPr>
        <p:spPr>
          <a:xfrm>
            <a:off x="5719534" y="2048337"/>
            <a:ext cx="445800" cy="1258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6" name="Google Shape;236;p20"/>
          <p:cNvGrpSpPr/>
          <p:nvPr/>
        </p:nvGrpSpPr>
        <p:grpSpPr>
          <a:xfrm rot="5400000">
            <a:off x="2150405" y="3281193"/>
            <a:ext cx="1852849" cy="1168546"/>
            <a:chOff x="-363478" y="1468386"/>
            <a:chExt cx="3152175" cy="1988000"/>
          </a:xfrm>
        </p:grpSpPr>
        <p:grpSp>
          <p:nvGrpSpPr>
            <p:cNvPr id="237" name="Google Shape;237;p20"/>
            <p:cNvGrpSpPr/>
            <p:nvPr/>
          </p:nvGrpSpPr>
          <p:grpSpPr>
            <a:xfrm>
              <a:off x="-363478" y="1468386"/>
              <a:ext cx="1988000" cy="1988000"/>
              <a:chOff x="95125" y="1860572"/>
              <a:chExt cx="1203900" cy="1203900"/>
            </a:xfrm>
          </p:grpSpPr>
          <p:sp>
            <p:nvSpPr>
              <p:cNvPr id="238" name="Google Shape;238;p20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966683" name="adj1"/>
                  <a:gd fmla="val 19223956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9" name="Google Shape;239;p20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659523" name="adj1"/>
                  <a:gd fmla="val 18936552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40" name="Google Shape;240;p20"/>
            <p:cNvGrpSpPr/>
            <p:nvPr/>
          </p:nvGrpSpPr>
          <p:grpSpPr>
            <a:xfrm flipH="1">
              <a:off x="800697" y="1468386"/>
              <a:ext cx="1988000" cy="1988000"/>
              <a:chOff x="95125" y="1860572"/>
              <a:chExt cx="1203900" cy="1203900"/>
            </a:xfrm>
          </p:grpSpPr>
          <p:sp>
            <p:nvSpPr>
              <p:cNvPr id="241" name="Google Shape;241;p20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801998" name="adj1"/>
                  <a:gd fmla="val 19131496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2" name="Google Shape;242;p20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793231" name="adj1"/>
                  <a:gd fmla="val 19048745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43" name="Google Shape;243;p20"/>
          <p:cNvGrpSpPr/>
          <p:nvPr/>
        </p:nvGrpSpPr>
        <p:grpSpPr>
          <a:xfrm rot="1797457">
            <a:off x="4155913" y="2992497"/>
            <a:ext cx="1249342" cy="1853332"/>
            <a:chOff x="4711959" y="3719203"/>
            <a:chExt cx="2124900" cy="3152175"/>
          </a:xfrm>
        </p:grpSpPr>
        <p:grpSp>
          <p:nvGrpSpPr>
            <p:cNvPr id="244" name="Google Shape;244;p20"/>
            <p:cNvGrpSpPr/>
            <p:nvPr/>
          </p:nvGrpSpPr>
          <p:grpSpPr>
            <a:xfrm rot="5400000">
              <a:off x="4169413" y="4301291"/>
              <a:ext cx="3152175" cy="1988000"/>
              <a:chOff x="-363478" y="1468386"/>
              <a:chExt cx="3152175" cy="1988000"/>
            </a:xfrm>
          </p:grpSpPr>
          <p:grpSp>
            <p:nvGrpSpPr>
              <p:cNvPr id="245" name="Google Shape;245;p20"/>
              <p:cNvGrpSpPr/>
              <p:nvPr/>
            </p:nvGrpSpPr>
            <p:grpSpPr>
              <a:xfrm>
                <a:off x="-363478" y="1468386"/>
                <a:ext cx="1988000" cy="1988000"/>
                <a:chOff x="95125" y="1860572"/>
                <a:chExt cx="1203900" cy="1203900"/>
              </a:xfrm>
            </p:grpSpPr>
            <p:sp>
              <p:nvSpPr>
                <p:cNvPr id="246" name="Google Shape;246;p20"/>
                <p:cNvSpPr/>
                <p:nvPr/>
              </p:nvSpPr>
              <p:spPr>
                <a:xfrm>
                  <a:off x="95125" y="1860572"/>
                  <a:ext cx="1203900" cy="1203900"/>
                </a:xfrm>
                <a:prstGeom prst="arc">
                  <a:avLst>
                    <a:gd fmla="val 17966683" name="adj1"/>
                    <a:gd fmla="val 19223956" name="adj2"/>
                  </a:avLst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47" name="Google Shape;247;p20"/>
                <p:cNvSpPr/>
                <p:nvPr/>
              </p:nvSpPr>
              <p:spPr>
                <a:xfrm flipH="1" rot="10800000">
                  <a:off x="95125" y="1860572"/>
                  <a:ext cx="1203900" cy="1203900"/>
                </a:xfrm>
                <a:prstGeom prst="arc">
                  <a:avLst>
                    <a:gd fmla="val 17659523" name="adj1"/>
                    <a:gd fmla="val 18936552" name="adj2"/>
                  </a:avLst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248" name="Google Shape;248;p20"/>
              <p:cNvGrpSpPr/>
              <p:nvPr/>
            </p:nvGrpSpPr>
            <p:grpSpPr>
              <a:xfrm flipH="1">
                <a:off x="800697" y="1468386"/>
                <a:ext cx="1988000" cy="1988000"/>
                <a:chOff x="95125" y="1860572"/>
                <a:chExt cx="1203900" cy="1203900"/>
              </a:xfrm>
            </p:grpSpPr>
            <p:sp>
              <p:nvSpPr>
                <p:cNvPr id="249" name="Google Shape;249;p20"/>
                <p:cNvSpPr/>
                <p:nvPr/>
              </p:nvSpPr>
              <p:spPr>
                <a:xfrm>
                  <a:off x="95125" y="1860572"/>
                  <a:ext cx="1203900" cy="1203900"/>
                </a:xfrm>
                <a:prstGeom prst="arc">
                  <a:avLst>
                    <a:gd fmla="val 17801998" name="adj1"/>
                    <a:gd fmla="val 19131496" name="adj2"/>
                  </a:avLst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50" name="Google Shape;250;p20"/>
                <p:cNvSpPr/>
                <p:nvPr/>
              </p:nvSpPr>
              <p:spPr>
                <a:xfrm flipH="1" rot="10800000">
                  <a:off x="95125" y="1860572"/>
                  <a:ext cx="1203900" cy="1203900"/>
                </a:xfrm>
                <a:prstGeom prst="arc">
                  <a:avLst>
                    <a:gd fmla="val 17793231" name="adj1"/>
                    <a:gd fmla="val 19048745" name="adj2"/>
                  </a:avLst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cxnSp>
          <p:nvCxnSpPr>
            <p:cNvPr id="251" name="Google Shape;251;p20"/>
            <p:cNvCxnSpPr/>
            <p:nvPr/>
          </p:nvCxnSpPr>
          <p:spPr>
            <a:xfrm>
              <a:off x="5774409" y="4234287"/>
              <a:ext cx="0" cy="2124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2" name="Google Shape;252;p20"/>
          <p:cNvSpPr txBox="1"/>
          <p:nvPr/>
        </p:nvSpPr>
        <p:spPr>
          <a:xfrm>
            <a:off x="468000" y="514590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a) Construct the perpendicular to AB through X and the perpendicular to BC through 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Label the point where the two perpendiculars intersect Z.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468000" y="6139610"/>
            <a:ext cx="2001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630023" y="6509785"/>
            <a:ext cx="2001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1047423" y="7402307"/>
            <a:ext cx="2001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1991755" y="7358859"/>
            <a:ext cx="2001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3191067" y="7287095"/>
            <a:ext cx="2001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/>
          <p:nvPr/>
        </p:nvSpPr>
        <p:spPr>
          <a:xfrm rot="5400000">
            <a:off x="1831055" y="5878481"/>
            <a:ext cx="366900" cy="3669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1781132" y="5818760"/>
            <a:ext cx="21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3759025" y="5737050"/>
            <a:ext cx="330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c) XBYZ creates a kite. This is because XB = BY, and XZ = YZ.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∠ZXB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∠ZYB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61" name="Google Shape;261;p20"/>
          <p:cNvCxnSpPr/>
          <p:nvPr/>
        </p:nvCxnSpPr>
        <p:spPr>
          <a:xfrm>
            <a:off x="474757" y="98195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7" name="Google Shape;267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to a given line through a given point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9" name="Google Shape;269;p21"/>
          <p:cNvCxnSpPr/>
          <p:nvPr/>
        </p:nvCxnSpPr>
        <p:spPr>
          <a:xfrm rot="-9076362">
            <a:off x="2576999" y="4352065"/>
            <a:ext cx="622294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21"/>
          <p:cNvCxnSpPr/>
          <p:nvPr/>
        </p:nvCxnSpPr>
        <p:spPr>
          <a:xfrm rot="-9076362">
            <a:off x="1792636" y="3921722"/>
            <a:ext cx="622294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21"/>
          <p:cNvCxnSpPr/>
          <p:nvPr/>
        </p:nvCxnSpPr>
        <p:spPr>
          <a:xfrm rot="-8100000">
            <a:off x="5201922" y="3232082"/>
            <a:ext cx="1479409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21"/>
          <p:cNvSpPr/>
          <p:nvPr/>
        </p:nvSpPr>
        <p:spPr>
          <a:xfrm>
            <a:off x="812076" y="2599991"/>
            <a:ext cx="828300" cy="8289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68000" y="1473611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a) Construct a perpendicular to each line segment through point X.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Decide whether you need to shorten or extend (or both) the line segment.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Use a protractor to measure how close each perpendicular is to 90°.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1019737" y="2807353"/>
            <a:ext cx="413100" cy="4131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1103941" y="3068145"/>
            <a:ext cx="24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6" name="Google Shape;276;p21"/>
          <p:cNvGrpSpPr/>
          <p:nvPr/>
        </p:nvGrpSpPr>
        <p:grpSpPr>
          <a:xfrm>
            <a:off x="918196" y="3015120"/>
            <a:ext cx="1619460" cy="290296"/>
            <a:chOff x="5292934" y="2983850"/>
            <a:chExt cx="3266356" cy="406350"/>
          </a:xfrm>
        </p:grpSpPr>
        <p:cxnSp>
          <p:nvCxnSpPr>
            <p:cNvPr id="277" name="Google Shape;277;p21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8" name="Google Shape;278;p21"/>
            <p:cNvSpPr txBox="1"/>
            <p:nvPr/>
          </p:nvSpPr>
          <p:spPr>
            <a:xfrm>
              <a:off x="5292934" y="3002300"/>
              <a:ext cx="282300" cy="3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" name="Google Shape;279;p21"/>
            <p:cNvSpPr txBox="1"/>
            <p:nvPr/>
          </p:nvSpPr>
          <p:spPr>
            <a:xfrm>
              <a:off x="8276991" y="3002300"/>
              <a:ext cx="282300" cy="3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0" name="Google Shape;280;p21"/>
          <p:cNvGrpSpPr/>
          <p:nvPr/>
        </p:nvGrpSpPr>
        <p:grpSpPr>
          <a:xfrm rot="-4233171">
            <a:off x="4421563" y="3727846"/>
            <a:ext cx="415175" cy="534553"/>
            <a:chOff x="4069335" y="2407867"/>
            <a:chExt cx="581275" cy="748414"/>
          </a:xfrm>
        </p:grpSpPr>
        <p:sp>
          <p:nvSpPr>
            <p:cNvPr id="281" name="Google Shape;281;p21"/>
            <p:cNvSpPr/>
            <p:nvPr/>
          </p:nvSpPr>
          <p:spPr>
            <a:xfrm>
              <a:off x="4072210" y="2407867"/>
              <a:ext cx="578400" cy="578400"/>
            </a:xfrm>
            <a:prstGeom prst="mathMultiply">
              <a:avLst>
                <a:gd fmla="val 7231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" name="Google Shape;282;p21"/>
            <p:cNvSpPr txBox="1"/>
            <p:nvPr/>
          </p:nvSpPr>
          <p:spPr>
            <a:xfrm rot="4233932">
              <a:off x="4137874" y="2736138"/>
              <a:ext cx="342622" cy="387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3" name="Google Shape;283;p21"/>
          <p:cNvGrpSpPr/>
          <p:nvPr/>
        </p:nvGrpSpPr>
        <p:grpSpPr>
          <a:xfrm rot="-4232713">
            <a:off x="3899862" y="3570870"/>
            <a:ext cx="1787035" cy="237578"/>
            <a:chOff x="5048284" y="2983850"/>
            <a:chExt cx="3605056" cy="332627"/>
          </a:xfrm>
        </p:grpSpPr>
        <p:cxnSp>
          <p:nvCxnSpPr>
            <p:cNvPr id="284" name="Google Shape;284;p21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5" name="Google Shape;285;p21"/>
            <p:cNvSpPr txBox="1"/>
            <p:nvPr/>
          </p:nvSpPr>
          <p:spPr>
            <a:xfrm rot="3783846">
              <a:off x="5255140" y="2888063"/>
              <a:ext cx="207288" cy="54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" name="Google Shape;286;p21"/>
            <p:cNvSpPr txBox="1"/>
            <p:nvPr/>
          </p:nvSpPr>
          <p:spPr>
            <a:xfrm rot="3783846">
              <a:off x="8239197" y="2888063"/>
              <a:ext cx="207288" cy="54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7" name="Google Shape;287;p21"/>
          <p:cNvSpPr/>
          <p:nvPr/>
        </p:nvSpPr>
        <p:spPr>
          <a:xfrm flipH="1" rot="2700000">
            <a:off x="5923613" y="3211705"/>
            <a:ext cx="413233" cy="413233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8" name="Google Shape;288;p21"/>
          <p:cNvGrpSpPr/>
          <p:nvPr/>
        </p:nvGrpSpPr>
        <p:grpSpPr>
          <a:xfrm flipH="1" rot="2700000">
            <a:off x="4620878" y="2862036"/>
            <a:ext cx="1781220" cy="345248"/>
            <a:chOff x="5065584" y="2973632"/>
            <a:chExt cx="3593474" cy="483324"/>
          </a:xfrm>
        </p:grpSpPr>
        <p:cxnSp>
          <p:nvCxnSpPr>
            <p:cNvPr id="289" name="Google Shape;289;p21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0" name="Google Shape;290;p21"/>
            <p:cNvSpPr txBox="1"/>
            <p:nvPr/>
          </p:nvSpPr>
          <p:spPr>
            <a:xfrm rot="2087348">
              <a:off x="5241574" y="3009970"/>
              <a:ext cx="242920" cy="48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1" name="Google Shape;291;p21"/>
            <p:cNvSpPr txBox="1"/>
            <p:nvPr/>
          </p:nvSpPr>
          <p:spPr>
            <a:xfrm rot="2087348">
              <a:off x="8240148" y="2939446"/>
              <a:ext cx="242920" cy="48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2" name="Google Shape;292;p21"/>
          <p:cNvSpPr/>
          <p:nvPr/>
        </p:nvSpPr>
        <p:spPr>
          <a:xfrm flipH="1" rot="1800478">
            <a:off x="2369501" y="3972389"/>
            <a:ext cx="413300" cy="4133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 flipH="1">
            <a:off x="2377522" y="4212728"/>
            <a:ext cx="24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4" name="Google Shape;294;p21"/>
          <p:cNvGrpSpPr/>
          <p:nvPr/>
        </p:nvGrpSpPr>
        <p:grpSpPr>
          <a:xfrm flipH="1" rot="1724388">
            <a:off x="2006851" y="4090221"/>
            <a:ext cx="838867" cy="309926"/>
            <a:chOff x="4755804" y="2947097"/>
            <a:chExt cx="4021480" cy="431607"/>
          </a:xfrm>
        </p:grpSpPr>
        <p:cxnSp>
          <p:nvCxnSpPr>
            <p:cNvPr id="295" name="Google Shape;295;p21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6" name="Google Shape;296;p21"/>
            <p:cNvSpPr txBox="1"/>
            <p:nvPr/>
          </p:nvSpPr>
          <p:spPr>
            <a:xfrm rot="586513">
              <a:off x="5088534" y="2762221"/>
              <a:ext cx="243840" cy="749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" name="Google Shape;297;p21"/>
            <p:cNvSpPr txBox="1"/>
            <p:nvPr/>
          </p:nvSpPr>
          <p:spPr>
            <a:xfrm rot="586513">
              <a:off x="8200715" y="2813728"/>
              <a:ext cx="243840" cy="749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8" name="Google Shape;298;p21"/>
          <p:cNvGrpSpPr/>
          <p:nvPr/>
        </p:nvGrpSpPr>
        <p:grpSpPr>
          <a:xfrm>
            <a:off x="1000361" y="2376495"/>
            <a:ext cx="1277990" cy="1277990"/>
            <a:chOff x="1367739" y="2380250"/>
            <a:chExt cx="1788900" cy="1788900"/>
          </a:xfrm>
        </p:grpSpPr>
        <p:sp>
          <p:nvSpPr>
            <p:cNvPr id="299" name="Google Shape;299;p21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17291330" name="adj1"/>
                <a:gd fmla="val 19519579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" name="Google Shape;300;p21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2155848" name="adj1"/>
                <a:gd fmla="val 4278067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1" name="Google Shape;301;p21"/>
          <p:cNvGrpSpPr/>
          <p:nvPr/>
        </p:nvGrpSpPr>
        <p:grpSpPr>
          <a:xfrm rot="1215845">
            <a:off x="2526632" y="2437184"/>
            <a:ext cx="1958949" cy="828887"/>
            <a:chOff x="3031978" y="1896725"/>
            <a:chExt cx="2742430" cy="1160400"/>
          </a:xfrm>
        </p:grpSpPr>
        <p:cxnSp>
          <p:nvCxnSpPr>
            <p:cNvPr id="302" name="Google Shape;302;p21"/>
            <p:cNvCxnSpPr/>
            <p:nvPr/>
          </p:nvCxnSpPr>
          <p:spPr>
            <a:xfrm>
              <a:off x="3823208" y="2478623"/>
              <a:ext cx="1951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03" name="Google Shape;303;p21"/>
            <p:cNvSpPr/>
            <p:nvPr/>
          </p:nvSpPr>
          <p:spPr>
            <a:xfrm flipH="1">
              <a:off x="4329437" y="1896725"/>
              <a:ext cx="1159500" cy="11604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" name="Google Shape;304;p21"/>
            <p:cNvSpPr/>
            <p:nvPr/>
          </p:nvSpPr>
          <p:spPr>
            <a:xfrm flipH="1">
              <a:off x="4648323" y="2187017"/>
              <a:ext cx="578400" cy="578400"/>
            </a:xfrm>
            <a:prstGeom prst="mathMultiply">
              <a:avLst>
                <a:gd fmla="val 7231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" name="Google Shape;305;p21"/>
            <p:cNvSpPr txBox="1"/>
            <p:nvPr/>
          </p:nvSpPr>
          <p:spPr>
            <a:xfrm flipH="1" rot="-1214681">
              <a:off x="4785568" y="2548599"/>
              <a:ext cx="342456" cy="387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06" name="Google Shape;306;p21"/>
            <p:cNvGrpSpPr/>
            <p:nvPr/>
          </p:nvGrpSpPr>
          <p:grpSpPr>
            <a:xfrm flipH="1">
              <a:off x="3031978" y="2470653"/>
              <a:ext cx="2389065" cy="431700"/>
              <a:chOff x="5177330" y="2976953"/>
              <a:chExt cx="3442456" cy="431700"/>
            </a:xfrm>
          </p:grpSpPr>
          <p:cxnSp>
            <p:nvCxnSpPr>
              <p:cNvPr id="307" name="Google Shape;307;p21"/>
              <p:cNvCxnSpPr/>
              <p:nvPr/>
            </p:nvCxnSpPr>
            <p:spPr>
              <a:xfrm>
                <a:off x="5433500" y="2983850"/>
                <a:ext cx="2983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8" name="Google Shape;308;p21"/>
              <p:cNvSpPr txBox="1"/>
              <p:nvPr/>
            </p:nvSpPr>
            <p:spPr>
              <a:xfrm rot="861385">
                <a:off x="5269811" y="2986729"/>
                <a:ext cx="273439" cy="412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9" name="Google Shape;309;p21"/>
              <p:cNvSpPr txBox="1"/>
              <p:nvPr/>
            </p:nvSpPr>
            <p:spPr>
              <a:xfrm rot="861385">
                <a:off x="8253867" y="2986729"/>
                <a:ext cx="273439" cy="412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310" name="Google Shape;310;p21"/>
          <p:cNvGrpSpPr/>
          <p:nvPr/>
        </p:nvGrpSpPr>
        <p:grpSpPr>
          <a:xfrm>
            <a:off x="1226405" y="2275970"/>
            <a:ext cx="5399771" cy="2176278"/>
            <a:chOff x="1212601" y="1663788"/>
            <a:chExt cx="7558470" cy="3046302"/>
          </a:xfrm>
        </p:grpSpPr>
        <p:cxnSp>
          <p:nvCxnSpPr>
            <p:cNvPr id="311" name="Google Shape;311;p21"/>
            <p:cNvCxnSpPr/>
            <p:nvPr/>
          </p:nvCxnSpPr>
          <p:spPr>
            <a:xfrm rot="5400000">
              <a:off x="177151" y="2699238"/>
              <a:ext cx="2070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" name="Google Shape;312;p21"/>
            <p:cNvCxnSpPr/>
            <p:nvPr/>
          </p:nvCxnSpPr>
          <p:spPr>
            <a:xfrm rot="-4184418">
              <a:off x="3879314" y="2644608"/>
              <a:ext cx="207060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3" name="Google Shape;313;p21"/>
            <p:cNvCxnSpPr/>
            <p:nvPr/>
          </p:nvCxnSpPr>
          <p:spPr>
            <a:xfrm rot="-2700000">
              <a:off x="7003505" y="3303890"/>
              <a:ext cx="207083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4" name="Google Shape;314;p21"/>
            <p:cNvCxnSpPr/>
            <p:nvPr/>
          </p:nvCxnSpPr>
          <p:spPr>
            <a:xfrm rot="-3675813">
              <a:off x="2666844" y="4328189"/>
              <a:ext cx="87108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5" name="Google Shape;315;p21"/>
            <p:cNvCxnSpPr/>
            <p:nvPr/>
          </p:nvCxnSpPr>
          <p:spPr>
            <a:xfrm rot="1167203">
              <a:off x="4887302" y="4047345"/>
              <a:ext cx="207092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6" name="Google Shape;316;p21"/>
          <p:cNvSpPr txBox="1"/>
          <p:nvPr/>
        </p:nvSpPr>
        <p:spPr>
          <a:xfrm>
            <a:off x="3718864" y="5598648"/>
            <a:ext cx="3416400" cy="23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Coordinates A, B, C, and D lie on this coordinate grid.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perpendicular to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AB through the point (3, 2).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perpendicular to AC through the point (3, 5).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perpendicular to BD through the point (7, 7).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Explain which two perpendiculars are parallel to each other and why.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7" name="Google Shape;3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97" y="5217298"/>
            <a:ext cx="3060360" cy="303142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318" name="Google Shape;318;p21"/>
          <p:cNvGraphicFramePr/>
          <p:nvPr/>
        </p:nvGraphicFramePr>
        <p:xfrm>
          <a:off x="3771063" y="529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{527E7DCC-14ED-4741-8A7E-D166AC63660C}</a:tableStyleId>
              </a:tblPr>
              <a:tblGrid>
                <a:gridCol w="828000"/>
                <a:gridCol w="828000"/>
                <a:gridCol w="828000"/>
                <a:gridCol w="828000"/>
              </a:tblGrid>
              <a:tr h="16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A(1, 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B(5, 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C(5, 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D(8, 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319" name="Google Shape;319;p21"/>
          <p:cNvPicPr preferRelativeResize="0"/>
          <p:nvPr/>
        </p:nvPicPr>
        <p:blipFill rotWithShape="1">
          <a:blip r:embed="rId4">
            <a:alphaModFix/>
          </a:blip>
          <a:srcRect b="6454" l="9008" r="0" t="4267"/>
          <a:stretch/>
        </p:blipFill>
        <p:spPr>
          <a:xfrm>
            <a:off x="687654" y="5294318"/>
            <a:ext cx="2707580" cy="2774438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1"/>
          <p:cNvSpPr txBox="1"/>
          <p:nvPr/>
        </p:nvSpPr>
        <p:spPr>
          <a:xfrm>
            <a:off x="1647472" y="7827842"/>
            <a:ext cx="399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2902735" y="7334126"/>
            <a:ext cx="399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2902735" y="6312000"/>
            <a:ext cx="399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767783" y="7779932"/>
            <a:ext cx="192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1975591" y="7334126"/>
            <a:ext cx="192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1750972" y="5573726"/>
            <a:ext cx="192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2734930" y="5573726"/>
            <a:ext cx="192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3750725" y="8080200"/>
            <a:ext cx="331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perpendiculars to AC and BD are parallel to each other because the line segments AC and BD are also parallel to each other.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28" name="Google Shape;328;p21"/>
          <p:cNvCxnSpPr/>
          <p:nvPr/>
        </p:nvCxnSpPr>
        <p:spPr>
          <a:xfrm>
            <a:off x="474757" y="94165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21"/>
          <p:cNvSpPr txBox="1"/>
          <p:nvPr/>
        </p:nvSpPr>
        <p:spPr>
          <a:xfrm>
            <a:off x="468000" y="888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Perpendiculars at points on extended line segments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to a given line through a given point</a:t>
            </a:r>
            <a:endParaRPr/>
          </a:p>
        </p:txBody>
      </p:sp>
      <p:sp>
        <p:nvSpPr>
          <p:cNvPr id="335" name="Google Shape;335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cxnSp>
        <p:nvCxnSpPr>
          <p:cNvPr id="336" name="Google Shape;336;p22"/>
          <p:cNvCxnSpPr/>
          <p:nvPr/>
        </p:nvCxnSpPr>
        <p:spPr>
          <a:xfrm flipH="1" rot="10800000">
            <a:off x="4333773" y="2822343"/>
            <a:ext cx="419100" cy="500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22"/>
          <p:cNvCxnSpPr/>
          <p:nvPr/>
        </p:nvCxnSpPr>
        <p:spPr>
          <a:xfrm rot="-9900203">
            <a:off x="4104240" y="2958260"/>
            <a:ext cx="2309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22"/>
          <p:cNvSpPr txBox="1"/>
          <p:nvPr/>
        </p:nvSpPr>
        <p:spPr>
          <a:xfrm>
            <a:off x="504105" y="1172091"/>
            <a:ext cx="65763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a) Construct five perpendiculars to AB through each of the five points.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Measure the shortest distance from each point to AB.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9" name="Google Shape;339;p22"/>
          <p:cNvGrpSpPr/>
          <p:nvPr/>
        </p:nvGrpSpPr>
        <p:grpSpPr>
          <a:xfrm flipH="1" rot="899804">
            <a:off x="472093" y="2776381"/>
            <a:ext cx="2528370" cy="291319"/>
            <a:chOff x="5292934" y="2983850"/>
            <a:chExt cx="3266356" cy="376350"/>
          </a:xfrm>
        </p:grpSpPr>
        <p:cxnSp>
          <p:nvCxnSpPr>
            <p:cNvPr id="340" name="Google Shape;340;p22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1" name="Google Shape;341;p22"/>
            <p:cNvSpPr txBox="1"/>
            <p:nvPr/>
          </p:nvSpPr>
          <p:spPr>
            <a:xfrm>
              <a:off x="5292934" y="3002300"/>
              <a:ext cx="2823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2" name="Google Shape;342;p22"/>
            <p:cNvSpPr txBox="1"/>
            <p:nvPr/>
          </p:nvSpPr>
          <p:spPr>
            <a:xfrm>
              <a:off x="8276991" y="3002300"/>
              <a:ext cx="2823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43" name="Google Shape;343;p22"/>
          <p:cNvSpPr/>
          <p:nvPr/>
        </p:nvSpPr>
        <p:spPr>
          <a:xfrm flipH="1" rot="899649">
            <a:off x="1681692" y="2373546"/>
            <a:ext cx="317718" cy="317718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4" name="Google Shape;344;p22"/>
          <p:cNvGrpSpPr/>
          <p:nvPr/>
        </p:nvGrpSpPr>
        <p:grpSpPr>
          <a:xfrm flipH="1" rot="899804">
            <a:off x="4559548" y="3114210"/>
            <a:ext cx="2528370" cy="291319"/>
            <a:chOff x="5292934" y="2983850"/>
            <a:chExt cx="3266356" cy="376350"/>
          </a:xfrm>
        </p:grpSpPr>
        <p:cxnSp>
          <p:nvCxnSpPr>
            <p:cNvPr id="345" name="Google Shape;345;p22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6" name="Google Shape;346;p22"/>
            <p:cNvSpPr txBox="1"/>
            <p:nvPr/>
          </p:nvSpPr>
          <p:spPr>
            <a:xfrm>
              <a:off x="5292934" y="3002300"/>
              <a:ext cx="2823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7" name="Google Shape;347;p22"/>
            <p:cNvSpPr txBox="1"/>
            <p:nvPr/>
          </p:nvSpPr>
          <p:spPr>
            <a:xfrm>
              <a:off x="8276991" y="3002300"/>
              <a:ext cx="2823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48" name="Google Shape;348;p22"/>
          <p:cNvSpPr/>
          <p:nvPr/>
        </p:nvSpPr>
        <p:spPr>
          <a:xfrm flipH="1" rot="899649">
            <a:off x="5701627" y="2963363"/>
            <a:ext cx="317718" cy="317718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/>
          <p:nvPr/>
        </p:nvSpPr>
        <p:spPr>
          <a:xfrm flipH="1" rot="899649">
            <a:off x="1864037" y="3940793"/>
            <a:ext cx="317718" cy="317718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2"/>
          <p:cNvSpPr/>
          <p:nvPr/>
        </p:nvSpPr>
        <p:spPr>
          <a:xfrm flipH="1" rot="899649">
            <a:off x="4739260" y="2106537"/>
            <a:ext cx="317718" cy="317718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/>
          <p:nvPr/>
        </p:nvSpPr>
        <p:spPr>
          <a:xfrm flipH="1" rot="899649">
            <a:off x="4173574" y="3168030"/>
            <a:ext cx="317718" cy="317718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 rot="900341">
            <a:off x="1620792" y="2211531"/>
            <a:ext cx="223626" cy="214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 rot="900341">
            <a:off x="2050053" y="4217834"/>
            <a:ext cx="223626" cy="214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 rot="900341">
            <a:off x="3994671" y="3348233"/>
            <a:ext cx="223626" cy="214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 rot="900341">
            <a:off x="4647903" y="1923158"/>
            <a:ext cx="223626" cy="214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 rot="900341">
            <a:off x="5980524" y="2879193"/>
            <a:ext cx="223626" cy="214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7" name="Google Shape;357;p22"/>
          <p:cNvCxnSpPr>
            <a:stCxn id="338" idx="2"/>
          </p:cNvCxnSpPr>
          <p:nvPr/>
        </p:nvCxnSpPr>
        <p:spPr>
          <a:xfrm>
            <a:off x="3792255" y="1669791"/>
            <a:ext cx="0" cy="2689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22"/>
          <p:cNvCxnSpPr/>
          <p:nvPr/>
        </p:nvCxnSpPr>
        <p:spPr>
          <a:xfrm flipH="1" rot="10800000">
            <a:off x="1716420" y="1830965"/>
            <a:ext cx="315000" cy="117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22"/>
          <p:cNvCxnSpPr/>
          <p:nvPr/>
        </p:nvCxnSpPr>
        <p:spPr>
          <a:xfrm flipH="1" rot="10800000">
            <a:off x="2003132" y="2839259"/>
            <a:ext cx="355500" cy="132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22"/>
          <p:cNvCxnSpPr/>
          <p:nvPr/>
        </p:nvCxnSpPr>
        <p:spPr>
          <a:xfrm flipH="1" rot="10800000">
            <a:off x="4589445" y="2099490"/>
            <a:ext cx="355500" cy="132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22"/>
          <p:cNvCxnSpPr/>
          <p:nvPr/>
        </p:nvCxnSpPr>
        <p:spPr>
          <a:xfrm flipH="1" rot="10800000">
            <a:off x="4242206" y="2323212"/>
            <a:ext cx="355500" cy="132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22"/>
          <p:cNvCxnSpPr/>
          <p:nvPr/>
        </p:nvCxnSpPr>
        <p:spPr>
          <a:xfrm flipH="1" rot="10800000">
            <a:off x="5630775" y="2654994"/>
            <a:ext cx="355500" cy="132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22"/>
          <p:cNvSpPr txBox="1"/>
          <p:nvPr/>
        </p:nvSpPr>
        <p:spPr>
          <a:xfrm>
            <a:off x="468000" y="4809425"/>
            <a:ext cx="66240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 boat, out at sea, needs to find the closest port so that it can refuel.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port is the closest to the boat? And at which part of the port should the boat dock?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4" name="Google Shape;36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611" y="5578188"/>
            <a:ext cx="5556207" cy="288759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2"/>
          <p:cNvSpPr txBox="1"/>
          <p:nvPr/>
        </p:nvSpPr>
        <p:spPr>
          <a:xfrm>
            <a:off x="477450" y="8403005"/>
            <a:ext cx="78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Port 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1265630" y="6557510"/>
            <a:ext cx="78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Port 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6173006" y="7715270"/>
            <a:ext cx="78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Port 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2093527" y="5995012"/>
            <a:ext cx="411000" cy="411000"/>
          </a:xfrm>
          <a:prstGeom prst="mathMultiply">
            <a:avLst>
              <a:gd fmla="val 7231" name="adj1"/>
            </a:avLst>
          </a:prstGeom>
          <a:solidFill>
            <a:srgbClr val="845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632921" y="8080716"/>
            <a:ext cx="411000" cy="4110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610723" y="6574759"/>
            <a:ext cx="411000" cy="4110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2634945" y="7743064"/>
            <a:ext cx="411000" cy="4110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4273858" y="6652672"/>
            <a:ext cx="411000" cy="4110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5859220" y="7507412"/>
            <a:ext cx="411000" cy="4110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1495987" y="6188247"/>
            <a:ext cx="411000" cy="4110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2396631" y="5905345"/>
            <a:ext cx="411000" cy="411000"/>
          </a:xfrm>
          <a:prstGeom prst="mathMultiply">
            <a:avLst>
              <a:gd fmla="val 7231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2759963" y="8080724"/>
            <a:ext cx="78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Boat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468150" y="8883600"/>
            <a:ext cx="66240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Port B is closest.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Be careful, as the shortest distance to the extension of port C is closer - but actual port C is further away.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78" name="Google Shape;378;p22"/>
          <p:cNvCxnSpPr/>
          <p:nvPr/>
        </p:nvCxnSpPr>
        <p:spPr>
          <a:xfrm>
            <a:off x="474757" y="96995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22"/>
          <p:cNvSpPr txBox="1"/>
          <p:nvPr/>
        </p:nvSpPr>
        <p:spPr>
          <a:xfrm>
            <a:off x="468000" y="888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Perpendiculars through points off a line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