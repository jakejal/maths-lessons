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E3B0AE-D1D4-4C5D-95E1-EB89B2A408CB}">
  <a:tblStyle styleId="{8BE3B0AE-D1D4-4C5D-95E1-EB89B2A408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a927d5d875_0_9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a927d5d87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/>
          <p:nvPr/>
        </p:nvSpPr>
        <p:spPr>
          <a:xfrm rot="1800608">
            <a:off x="3417276" y="2448194"/>
            <a:ext cx="803754" cy="804164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0" name="Google Shape;160;p20"/>
          <p:cNvGrpSpPr/>
          <p:nvPr/>
        </p:nvGrpSpPr>
        <p:grpSpPr>
          <a:xfrm flipH="1" rot="1799969">
            <a:off x="3482099" y="2359106"/>
            <a:ext cx="1377765" cy="1377765"/>
            <a:chOff x="95125" y="1860572"/>
            <a:chExt cx="1203900" cy="1203900"/>
          </a:xfrm>
        </p:grpSpPr>
        <p:sp>
          <p:nvSpPr>
            <p:cNvPr id="161" name="Google Shape;161;p20"/>
            <p:cNvSpPr/>
            <p:nvPr/>
          </p:nvSpPr>
          <p:spPr>
            <a:xfrm>
              <a:off x="95125" y="1860572"/>
              <a:ext cx="1203900" cy="1203900"/>
            </a:xfrm>
            <a:prstGeom prst="arc">
              <a:avLst>
                <a:gd fmla="val 17801998" name="adj1"/>
                <a:gd fmla="val 4531188" name="adj2"/>
              </a:avLst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" name="Google Shape;162;p20"/>
            <p:cNvSpPr/>
            <p:nvPr/>
          </p:nvSpPr>
          <p:spPr>
            <a:xfrm flipH="1" rot="10800000">
              <a:off x="95125" y="1860572"/>
              <a:ext cx="1203900" cy="1203900"/>
            </a:xfrm>
            <a:prstGeom prst="arc">
              <a:avLst>
                <a:gd fmla="val 17793231" name="adj1"/>
                <a:gd fmla="val 19048745" name="adj2"/>
              </a:avLst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3" name="Google Shape;163;p20"/>
          <p:cNvSpPr/>
          <p:nvPr/>
        </p:nvSpPr>
        <p:spPr>
          <a:xfrm>
            <a:off x="738926" y="2822450"/>
            <a:ext cx="803700" cy="8043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" name="Google Shape;164;p20"/>
          <p:cNvGrpSpPr/>
          <p:nvPr/>
        </p:nvGrpSpPr>
        <p:grpSpPr>
          <a:xfrm>
            <a:off x="523712" y="3224869"/>
            <a:ext cx="1888281" cy="228378"/>
            <a:chOff x="5292934" y="2983850"/>
            <a:chExt cx="3266356" cy="329550"/>
          </a:xfrm>
        </p:grpSpPr>
        <p:cxnSp>
          <p:nvCxnSpPr>
            <p:cNvPr id="165" name="Google Shape;165;p20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6" name="Google Shape;166;p20"/>
            <p:cNvSpPr txBox="1"/>
            <p:nvPr/>
          </p:nvSpPr>
          <p:spPr>
            <a:xfrm>
              <a:off x="5292934" y="3002300"/>
              <a:ext cx="282300" cy="3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" name="Google Shape;167;p20"/>
            <p:cNvSpPr txBox="1"/>
            <p:nvPr/>
          </p:nvSpPr>
          <p:spPr>
            <a:xfrm>
              <a:off x="8276991" y="3002300"/>
              <a:ext cx="282300" cy="3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8" name="Google Shape;168;p20"/>
          <p:cNvGrpSpPr/>
          <p:nvPr/>
        </p:nvGrpSpPr>
        <p:grpSpPr>
          <a:xfrm>
            <a:off x="48551" y="2530909"/>
            <a:ext cx="2184457" cy="1377684"/>
            <a:chOff x="-363478" y="1468386"/>
            <a:chExt cx="3152175" cy="1988000"/>
          </a:xfrm>
        </p:grpSpPr>
        <p:grpSp>
          <p:nvGrpSpPr>
            <p:cNvPr id="169" name="Google Shape;169;p20"/>
            <p:cNvGrpSpPr/>
            <p:nvPr/>
          </p:nvGrpSpPr>
          <p:grpSpPr>
            <a:xfrm>
              <a:off x="-363478" y="1468386"/>
              <a:ext cx="1988000" cy="1988000"/>
              <a:chOff x="95125" y="1860572"/>
              <a:chExt cx="1203900" cy="1203900"/>
            </a:xfrm>
          </p:grpSpPr>
          <p:sp>
            <p:nvSpPr>
              <p:cNvPr id="170" name="Google Shape;170;p20"/>
              <p:cNvSpPr/>
              <p:nvPr/>
            </p:nvSpPr>
            <p:spPr>
              <a:xfrm>
                <a:off x="95125" y="1860572"/>
                <a:ext cx="1203900" cy="1203900"/>
              </a:xfrm>
              <a:prstGeom prst="arc">
                <a:avLst>
                  <a:gd fmla="val 17966683" name="adj1"/>
                  <a:gd fmla="val 19223956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" name="Google Shape;171;p20"/>
              <p:cNvSpPr/>
              <p:nvPr/>
            </p:nvSpPr>
            <p:spPr>
              <a:xfrm flipH="1" rot="10800000">
                <a:off x="95125" y="1860572"/>
                <a:ext cx="1203900" cy="1203900"/>
              </a:xfrm>
              <a:prstGeom prst="arc">
                <a:avLst>
                  <a:gd fmla="val 17659523" name="adj1"/>
                  <a:gd fmla="val 18936552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72" name="Google Shape;172;p20"/>
            <p:cNvGrpSpPr/>
            <p:nvPr/>
          </p:nvGrpSpPr>
          <p:grpSpPr>
            <a:xfrm flipH="1">
              <a:off x="800697" y="1468386"/>
              <a:ext cx="1988000" cy="1988000"/>
              <a:chOff x="95125" y="1860572"/>
              <a:chExt cx="1203900" cy="1203900"/>
            </a:xfrm>
          </p:grpSpPr>
          <p:sp>
            <p:nvSpPr>
              <p:cNvPr id="173" name="Google Shape;173;p20"/>
              <p:cNvSpPr/>
              <p:nvPr/>
            </p:nvSpPr>
            <p:spPr>
              <a:xfrm>
                <a:off x="95125" y="1860572"/>
                <a:ext cx="1203900" cy="1203900"/>
              </a:xfrm>
              <a:prstGeom prst="arc">
                <a:avLst>
                  <a:gd fmla="val 17801998" name="adj1"/>
                  <a:gd fmla="val 19131496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4" name="Google Shape;174;p20"/>
              <p:cNvSpPr/>
              <p:nvPr/>
            </p:nvSpPr>
            <p:spPr>
              <a:xfrm flipH="1" rot="10800000">
                <a:off x="95125" y="1860572"/>
                <a:ext cx="1203900" cy="1203900"/>
              </a:xfrm>
              <a:prstGeom prst="arc">
                <a:avLst>
                  <a:gd fmla="val 17793231" name="adj1"/>
                  <a:gd fmla="val 19048745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75" name="Google Shape;175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 to a given line through a given point</a:t>
            </a:r>
            <a:endParaRPr/>
          </a:p>
        </p:txBody>
      </p:sp>
      <p:sp>
        <p:nvSpPr>
          <p:cNvPr id="176" name="Google Shape;176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14108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Perpendiculars at points on shortened line segments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06617" y="1784950"/>
            <a:ext cx="655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Complete the construction of the perpendicular through point Z on each line segment.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68000" y="5603100"/>
            <a:ext cx="662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a) Construct the perpendicular to AB through X and the perpendicular to BC through Y.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Label the point where the two perpendiculars intersect Z.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Which quadrilateral is bound by vertices XBYZ? Justify why you think the construction creates this shape.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20"/>
          <p:cNvCxnSpPr/>
          <p:nvPr/>
        </p:nvCxnSpPr>
        <p:spPr>
          <a:xfrm>
            <a:off x="474757" y="98957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0"/>
          <p:cNvSpPr/>
          <p:nvPr/>
        </p:nvSpPr>
        <p:spPr>
          <a:xfrm rot="5400000">
            <a:off x="2650846" y="4098076"/>
            <a:ext cx="616500" cy="6171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940399" y="3023634"/>
            <a:ext cx="400800" cy="4008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852508" y="3264129"/>
            <a:ext cx="23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 rot="1800013">
            <a:off x="3619144" y="2649444"/>
            <a:ext cx="400797" cy="400797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485896" y="2786923"/>
            <a:ext cx="23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" name="Google Shape;186;p20"/>
          <p:cNvGrpSpPr/>
          <p:nvPr/>
        </p:nvGrpSpPr>
        <p:grpSpPr>
          <a:xfrm rot="1800622">
            <a:off x="2512155" y="2670331"/>
            <a:ext cx="1974535" cy="268206"/>
            <a:chOff x="5228768" y="2962144"/>
            <a:chExt cx="3414856" cy="387000"/>
          </a:xfrm>
        </p:grpSpPr>
        <p:cxnSp>
          <p:nvCxnSpPr>
            <p:cNvPr id="187" name="Google Shape;187;p20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8" name="Google Shape;188;p20"/>
            <p:cNvSpPr txBox="1"/>
            <p:nvPr/>
          </p:nvSpPr>
          <p:spPr>
            <a:xfrm rot="-1541202">
              <a:off x="5308512" y="2991873"/>
              <a:ext cx="271312" cy="3275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0"/>
            <p:cNvSpPr txBox="1"/>
            <p:nvPr/>
          </p:nvSpPr>
          <p:spPr>
            <a:xfrm rot="-1541202">
              <a:off x="8292569" y="2991873"/>
              <a:ext cx="271312" cy="3275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" name="Google Shape;190;p20"/>
          <p:cNvGrpSpPr/>
          <p:nvPr/>
        </p:nvGrpSpPr>
        <p:grpSpPr>
          <a:xfrm rot="-1171822">
            <a:off x="4837241" y="2066366"/>
            <a:ext cx="1951106" cy="1377906"/>
            <a:chOff x="6063229" y="1323436"/>
            <a:chExt cx="2815138" cy="1988100"/>
          </a:xfrm>
        </p:grpSpPr>
        <p:sp>
          <p:nvSpPr>
            <p:cNvPr id="191" name="Google Shape;191;p20"/>
            <p:cNvSpPr/>
            <p:nvPr/>
          </p:nvSpPr>
          <p:spPr>
            <a:xfrm flipH="1" rot="10800000">
              <a:off x="6474914" y="1323436"/>
              <a:ext cx="1988100" cy="1988100"/>
            </a:xfrm>
            <a:prstGeom prst="arc">
              <a:avLst>
                <a:gd fmla="val 15663451" name="adj1"/>
                <a:gd fmla="val 18834887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2" name="Google Shape;192;p20"/>
            <p:cNvGrpSpPr/>
            <p:nvPr/>
          </p:nvGrpSpPr>
          <p:grpSpPr>
            <a:xfrm>
              <a:off x="6063229" y="2304468"/>
              <a:ext cx="2815138" cy="371700"/>
              <a:chOff x="5232077" y="2970918"/>
              <a:chExt cx="3374656" cy="371700"/>
            </a:xfrm>
          </p:grpSpPr>
          <p:cxnSp>
            <p:nvCxnSpPr>
              <p:cNvPr id="193" name="Google Shape;193;p20"/>
              <p:cNvCxnSpPr/>
              <p:nvPr/>
            </p:nvCxnSpPr>
            <p:spPr>
              <a:xfrm>
                <a:off x="5433500" y="2983850"/>
                <a:ext cx="298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4" name="Google Shape;194;p20"/>
              <p:cNvSpPr txBox="1"/>
              <p:nvPr/>
            </p:nvSpPr>
            <p:spPr>
              <a:xfrm rot="987358">
                <a:off x="5288644" y="2997545"/>
                <a:ext cx="277466" cy="318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5" name="Google Shape;195;p20"/>
              <p:cNvSpPr txBox="1"/>
              <p:nvPr/>
            </p:nvSpPr>
            <p:spPr>
              <a:xfrm rot="987358">
                <a:off x="8272700" y="2997545"/>
                <a:ext cx="277466" cy="318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96" name="Google Shape;196;p20"/>
            <p:cNvSpPr/>
            <p:nvPr/>
          </p:nvSpPr>
          <p:spPr>
            <a:xfrm>
              <a:off x="7470687" y="1943025"/>
              <a:ext cx="741600" cy="742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7553198" y="2026867"/>
              <a:ext cx="578400" cy="578400"/>
            </a:xfrm>
            <a:prstGeom prst="mathMultiply">
              <a:avLst>
                <a:gd fmla="val 7231" name="adj1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" name="Google Shape;198;p20"/>
            <p:cNvSpPr txBox="1"/>
            <p:nvPr/>
          </p:nvSpPr>
          <p:spPr>
            <a:xfrm rot="1168906">
              <a:off x="7659657" y="2384958"/>
              <a:ext cx="342722" cy="310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9" name="Google Shape;199;p20"/>
          <p:cNvSpPr/>
          <p:nvPr/>
        </p:nvSpPr>
        <p:spPr>
          <a:xfrm rot="5400000">
            <a:off x="2759222" y="4206362"/>
            <a:ext cx="400800" cy="4008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704754" y="4141133"/>
            <a:ext cx="23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1" name="Google Shape;201;p20"/>
          <p:cNvGrpSpPr/>
          <p:nvPr/>
        </p:nvGrpSpPr>
        <p:grpSpPr>
          <a:xfrm rot="5400000">
            <a:off x="2017509" y="3943883"/>
            <a:ext cx="1705069" cy="177484"/>
            <a:chOff x="5236592" y="2983850"/>
            <a:chExt cx="3505487" cy="256109"/>
          </a:xfrm>
        </p:grpSpPr>
        <p:cxnSp>
          <p:nvCxnSpPr>
            <p:cNvPr id="202" name="Google Shape;202;p20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3" name="Google Shape;203;p20"/>
            <p:cNvSpPr txBox="1"/>
            <p:nvPr/>
          </p:nvSpPr>
          <p:spPr>
            <a:xfrm rot="-5400000">
              <a:off x="5359142" y="2919409"/>
              <a:ext cx="198000" cy="44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" name="Google Shape;204;p20"/>
            <p:cNvSpPr txBox="1"/>
            <p:nvPr/>
          </p:nvSpPr>
          <p:spPr>
            <a:xfrm rot="-5400000">
              <a:off x="8421529" y="2919409"/>
              <a:ext cx="198000" cy="44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5" name="Google Shape;205;p20"/>
          <p:cNvSpPr/>
          <p:nvPr/>
        </p:nvSpPr>
        <p:spPr>
          <a:xfrm rot="7200013">
            <a:off x="4740063" y="4273841"/>
            <a:ext cx="400797" cy="400797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788620" y="4163265"/>
            <a:ext cx="23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7" name="Google Shape;207;p20"/>
          <p:cNvGrpSpPr/>
          <p:nvPr/>
        </p:nvGrpSpPr>
        <p:grpSpPr>
          <a:xfrm rot="7200202">
            <a:off x="4213215" y="4146765"/>
            <a:ext cx="1461259" cy="226831"/>
            <a:chOff x="5183492" y="2968685"/>
            <a:chExt cx="3615556" cy="327300"/>
          </a:xfrm>
        </p:grpSpPr>
        <p:cxnSp>
          <p:nvCxnSpPr>
            <p:cNvPr id="208" name="Google Shape;208;p20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9" name="Google Shape;209;p20"/>
            <p:cNvSpPr txBox="1"/>
            <p:nvPr/>
          </p:nvSpPr>
          <p:spPr>
            <a:xfrm rot="-8081875">
              <a:off x="5378537" y="2888711"/>
              <a:ext cx="241410" cy="4872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0"/>
            <p:cNvSpPr txBox="1"/>
            <p:nvPr/>
          </p:nvSpPr>
          <p:spPr>
            <a:xfrm rot="-8081875">
              <a:off x="8362594" y="2888711"/>
              <a:ext cx="241410" cy="4872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11" name="Google Shape;2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486" y="6579392"/>
            <a:ext cx="2838042" cy="136903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566202" y="6581871"/>
            <a:ext cx="2067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733481" y="6964053"/>
            <a:ext cx="2067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1164420" y="7885525"/>
            <a:ext cx="2067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2139384" y="7840667"/>
            <a:ext cx="2067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3377600" y="7766576"/>
            <a:ext cx="2067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2" name="Google Shape;222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 to a given line through a given point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4" name="Google Shape;224;p21"/>
          <p:cNvCxnSpPr/>
          <p:nvPr/>
        </p:nvCxnSpPr>
        <p:spPr>
          <a:xfrm rot="-9076362">
            <a:off x="1792636" y="3921722"/>
            <a:ext cx="622294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21"/>
          <p:cNvSpPr/>
          <p:nvPr/>
        </p:nvSpPr>
        <p:spPr>
          <a:xfrm>
            <a:off x="812076" y="2599991"/>
            <a:ext cx="828300" cy="8289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468000" y="1473611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a) Construct a perpendicular to each line segment through point X.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Decide whether you need to shorten or extend (or both) the line segment.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Use a protractor to measure how close each perpendicular is to 90°.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1019737" y="2807353"/>
            <a:ext cx="413100" cy="413100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1103941" y="3068145"/>
            <a:ext cx="24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9" name="Google Shape;229;p21"/>
          <p:cNvGrpSpPr/>
          <p:nvPr/>
        </p:nvGrpSpPr>
        <p:grpSpPr>
          <a:xfrm>
            <a:off x="918196" y="3015120"/>
            <a:ext cx="1619460" cy="290296"/>
            <a:chOff x="5292934" y="2983850"/>
            <a:chExt cx="3266356" cy="406350"/>
          </a:xfrm>
        </p:grpSpPr>
        <p:cxnSp>
          <p:nvCxnSpPr>
            <p:cNvPr id="230" name="Google Shape;230;p21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1" name="Google Shape;231;p21"/>
            <p:cNvSpPr txBox="1"/>
            <p:nvPr/>
          </p:nvSpPr>
          <p:spPr>
            <a:xfrm>
              <a:off x="5292934" y="3002300"/>
              <a:ext cx="282300" cy="38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21"/>
            <p:cNvSpPr txBox="1"/>
            <p:nvPr/>
          </p:nvSpPr>
          <p:spPr>
            <a:xfrm>
              <a:off x="8276991" y="3002300"/>
              <a:ext cx="282300" cy="38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3" name="Google Shape;233;p21"/>
          <p:cNvGrpSpPr/>
          <p:nvPr/>
        </p:nvGrpSpPr>
        <p:grpSpPr>
          <a:xfrm rot="-4233171">
            <a:off x="4421563" y="3727846"/>
            <a:ext cx="415175" cy="534553"/>
            <a:chOff x="4069335" y="2407867"/>
            <a:chExt cx="581275" cy="748414"/>
          </a:xfrm>
        </p:grpSpPr>
        <p:sp>
          <p:nvSpPr>
            <p:cNvPr id="234" name="Google Shape;234;p21"/>
            <p:cNvSpPr/>
            <p:nvPr/>
          </p:nvSpPr>
          <p:spPr>
            <a:xfrm>
              <a:off x="4072210" y="2407867"/>
              <a:ext cx="578400" cy="578400"/>
            </a:xfrm>
            <a:prstGeom prst="mathMultiply">
              <a:avLst>
                <a:gd fmla="val 7231" name="adj1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1"/>
            <p:cNvSpPr txBox="1"/>
            <p:nvPr/>
          </p:nvSpPr>
          <p:spPr>
            <a:xfrm rot="4233932">
              <a:off x="4137874" y="2736138"/>
              <a:ext cx="342622" cy="387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6" name="Google Shape;236;p21"/>
          <p:cNvGrpSpPr/>
          <p:nvPr/>
        </p:nvGrpSpPr>
        <p:grpSpPr>
          <a:xfrm rot="-4232713">
            <a:off x="3899862" y="3570870"/>
            <a:ext cx="1787035" cy="237578"/>
            <a:chOff x="5048284" y="2983850"/>
            <a:chExt cx="3605056" cy="332627"/>
          </a:xfrm>
        </p:grpSpPr>
        <p:cxnSp>
          <p:nvCxnSpPr>
            <p:cNvPr id="237" name="Google Shape;237;p21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21"/>
            <p:cNvSpPr txBox="1"/>
            <p:nvPr/>
          </p:nvSpPr>
          <p:spPr>
            <a:xfrm rot="3783846">
              <a:off x="5255140" y="2888063"/>
              <a:ext cx="207288" cy="54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1"/>
            <p:cNvSpPr txBox="1"/>
            <p:nvPr/>
          </p:nvSpPr>
          <p:spPr>
            <a:xfrm rot="3783846">
              <a:off x="8239197" y="2888063"/>
              <a:ext cx="207288" cy="54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0" name="Google Shape;240;p21"/>
          <p:cNvSpPr/>
          <p:nvPr/>
        </p:nvSpPr>
        <p:spPr>
          <a:xfrm flipH="1" rot="2700000">
            <a:off x="5923613" y="3211705"/>
            <a:ext cx="413233" cy="413233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1" name="Google Shape;241;p21"/>
          <p:cNvGrpSpPr/>
          <p:nvPr/>
        </p:nvGrpSpPr>
        <p:grpSpPr>
          <a:xfrm flipH="1" rot="2700000">
            <a:off x="4620878" y="2862036"/>
            <a:ext cx="1781220" cy="345248"/>
            <a:chOff x="5065584" y="2973632"/>
            <a:chExt cx="3593474" cy="483324"/>
          </a:xfrm>
        </p:grpSpPr>
        <p:cxnSp>
          <p:nvCxnSpPr>
            <p:cNvPr id="242" name="Google Shape;242;p21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3" name="Google Shape;243;p21"/>
            <p:cNvSpPr txBox="1"/>
            <p:nvPr/>
          </p:nvSpPr>
          <p:spPr>
            <a:xfrm rot="2087348">
              <a:off x="5241574" y="3009970"/>
              <a:ext cx="242920" cy="48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" name="Google Shape;244;p21"/>
            <p:cNvSpPr txBox="1"/>
            <p:nvPr/>
          </p:nvSpPr>
          <p:spPr>
            <a:xfrm rot="2087348">
              <a:off x="8240148" y="2939446"/>
              <a:ext cx="242920" cy="48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5" name="Google Shape;245;p21"/>
          <p:cNvSpPr/>
          <p:nvPr/>
        </p:nvSpPr>
        <p:spPr>
          <a:xfrm flipH="1" rot="1800478">
            <a:off x="2369501" y="3972389"/>
            <a:ext cx="413300" cy="413300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 flipH="1">
            <a:off x="2377522" y="4212728"/>
            <a:ext cx="24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7" name="Google Shape;247;p21"/>
          <p:cNvGrpSpPr/>
          <p:nvPr/>
        </p:nvGrpSpPr>
        <p:grpSpPr>
          <a:xfrm flipH="1" rot="1724388">
            <a:off x="2006851" y="4090221"/>
            <a:ext cx="838867" cy="309926"/>
            <a:chOff x="4755804" y="2947097"/>
            <a:chExt cx="4021480" cy="431607"/>
          </a:xfrm>
        </p:grpSpPr>
        <p:cxnSp>
          <p:nvCxnSpPr>
            <p:cNvPr id="248" name="Google Shape;248;p21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9" name="Google Shape;249;p21"/>
            <p:cNvSpPr txBox="1"/>
            <p:nvPr/>
          </p:nvSpPr>
          <p:spPr>
            <a:xfrm rot="586513">
              <a:off x="5088534" y="2762221"/>
              <a:ext cx="243840" cy="7498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" name="Google Shape;250;p21"/>
            <p:cNvSpPr txBox="1"/>
            <p:nvPr/>
          </p:nvSpPr>
          <p:spPr>
            <a:xfrm rot="586513">
              <a:off x="8200715" y="2813728"/>
              <a:ext cx="243840" cy="7498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1" name="Google Shape;251;p21"/>
          <p:cNvGrpSpPr/>
          <p:nvPr/>
        </p:nvGrpSpPr>
        <p:grpSpPr>
          <a:xfrm>
            <a:off x="1000361" y="2376495"/>
            <a:ext cx="1277990" cy="1277990"/>
            <a:chOff x="1367739" y="2380250"/>
            <a:chExt cx="1788900" cy="1788900"/>
          </a:xfrm>
        </p:grpSpPr>
        <p:sp>
          <p:nvSpPr>
            <p:cNvPr id="252" name="Google Shape;252;p21"/>
            <p:cNvSpPr/>
            <p:nvPr/>
          </p:nvSpPr>
          <p:spPr>
            <a:xfrm flipH="1">
              <a:off x="1367739" y="2380250"/>
              <a:ext cx="1788900" cy="1788900"/>
            </a:xfrm>
            <a:prstGeom prst="arc">
              <a:avLst>
                <a:gd fmla="val 17291330" name="adj1"/>
                <a:gd fmla="val 19519579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1"/>
            <p:cNvSpPr/>
            <p:nvPr/>
          </p:nvSpPr>
          <p:spPr>
            <a:xfrm flipH="1">
              <a:off x="1367739" y="2380250"/>
              <a:ext cx="1788900" cy="1788900"/>
            </a:xfrm>
            <a:prstGeom prst="arc">
              <a:avLst>
                <a:gd fmla="val 2155848" name="adj1"/>
                <a:gd fmla="val 4278067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4" name="Google Shape;254;p21"/>
          <p:cNvGrpSpPr/>
          <p:nvPr/>
        </p:nvGrpSpPr>
        <p:grpSpPr>
          <a:xfrm rot="1215845">
            <a:off x="2526632" y="2437184"/>
            <a:ext cx="1958949" cy="828887"/>
            <a:chOff x="3031978" y="1896725"/>
            <a:chExt cx="2742430" cy="1160400"/>
          </a:xfrm>
        </p:grpSpPr>
        <p:cxnSp>
          <p:nvCxnSpPr>
            <p:cNvPr id="255" name="Google Shape;255;p21"/>
            <p:cNvCxnSpPr/>
            <p:nvPr/>
          </p:nvCxnSpPr>
          <p:spPr>
            <a:xfrm>
              <a:off x="3823208" y="2478623"/>
              <a:ext cx="195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256" name="Google Shape;256;p21"/>
            <p:cNvSpPr/>
            <p:nvPr/>
          </p:nvSpPr>
          <p:spPr>
            <a:xfrm flipH="1">
              <a:off x="4329437" y="1896725"/>
              <a:ext cx="1159500" cy="1160400"/>
            </a:xfrm>
            <a:prstGeom prst="ellipse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" name="Google Shape;257;p21"/>
            <p:cNvSpPr/>
            <p:nvPr/>
          </p:nvSpPr>
          <p:spPr>
            <a:xfrm flipH="1">
              <a:off x="4648323" y="2187017"/>
              <a:ext cx="578400" cy="578400"/>
            </a:xfrm>
            <a:prstGeom prst="mathMultiply">
              <a:avLst>
                <a:gd fmla="val 7231" name="adj1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" name="Google Shape;258;p21"/>
            <p:cNvSpPr txBox="1"/>
            <p:nvPr/>
          </p:nvSpPr>
          <p:spPr>
            <a:xfrm flipH="1" rot="-1214681">
              <a:off x="4785568" y="2548599"/>
              <a:ext cx="342456" cy="3879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59" name="Google Shape;259;p21"/>
            <p:cNvGrpSpPr/>
            <p:nvPr/>
          </p:nvGrpSpPr>
          <p:grpSpPr>
            <a:xfrm flipH="1">
              <a:off x="3031978" y="2470653"/>
              <a:ext cx="2389065" cy="431700"/>
              <a:chOff x="5177330" y="2976953"/>
              <a:chExt cx="3442456" cy="431700"/>
            </a:xfrm>
          </p:grpSpPr>
          <p:cxnSp>
            <p:nvCxnSpPr>
              <p:cNvPr id="260" name="Google Shape;260;p21"/>
              <p:cNvCxnSpPr/>
              <p:nvPr/>
            </p:nvCxnSpPr>
            <p:spPr>
              <a:xfrm>
                <a:off x="5433500" y="2983850"/>
                <a:ext cx="298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1" name="Google Shape;261;p21"/>
              <p:cNvSpPr txBox="1"/>
              <p:nvPr/>
            </p:nvSpPr>
            <p:spPr>
              <a:xfrm rot="861385">
                <a:off x="5269811" y="2986729"/>
                <a:ext cx="273439" cy="412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2" name="Google Shape;262;p21"/>
              <p:cNvSpPr txBox="1"/>
              <p:nvPr/>
            </p:nvSpPr>
            <p:spPr>
              <a:xfrm rot="861385">
                <a:off x="8253867" y="2986729"/>
                <a:ext cx="273439" cy="412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63" name="Google Shape;263;p21"/>
          <p:cNvSpPr txBox="1"/>
          <p:nvPr/>
        </p:nvSpPr>
        <p:spPr>
          <a:xfrm>
            <a:off x="3718864" y="5598648"/>
            <a:ext cx="3416400" cy="23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Coordinates A, B, C, and D lie on this coordinate grid.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perpendicular to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AB through the point (3, 2).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perpendicular to AC through the point (3, 5).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perpendicular to BD through the point (7, 7).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Explain which two perpendiculars are parallel to each other and why.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4" name="Google Shape;26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197" y="5217298"/>
            <a:ext cx="3060360" cy="303142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265" name="Google Shape;265;p21"/>
          <p:cNvGraphicFramePr/>
          <p:nvPr/>
        </p:nvGraphicFramePr>
        <p:xfrm>
          <a:off x="3771063" y="529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{8BE3B0AE-D1D4-4C5D-95E1-EB89B2A408CB}</a:tableStyleId>
              </a:tblPr>
              <a:tblGrid>
                <a:gridCol w="828000"/>
                <a:gridCol w="828000"/>
                <a:gridCol w="828000"/>
                <a:gridCol w="828000"/>
              </a:tblGrid>
              <a:tr h="16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A(1, 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B(5, 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C(5, 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D(8, 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cxnSp>
        <p:nvCxnSpPr>
          <p:cNvPr id="266" name="Google Shape;266;p21"/>
          <p:cNvCxnSpPr/>
          <p:nvPr/>
        </p:nvCxnSpPr>
        <p:spPr>
          <a:xfrm>
            <a:off x="474757" y="94165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21"/>
          <p:cNvSpPr txBox="1"/>
          <p:nvPr/>
        </p:nvSpPr>
        <p:spPr>
          <a:xfrm>
            <a:off x="468000" y="8881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Perpendiculars at points on extended line segments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 to a given line through a given point</a:t>
            </a:r>
            <a:endParaRPr/>
          </a:p>
        </p:txBody>
      </p:sp>
      <p:sp>
        <p:nvSpPr>
          <p:cNvPr id="273" name="Google Shape;273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74" name="Google Shape;274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75" name="Google Shape;275;p22"/>
          <p:cNvCxnSpPr/>
          <p:nvPr/>
        </p:nvCxnSpPr>
        <p:spPr>
          <a:xfrm rot="-9900203">
            <a:off x="4104240" y="2958260"/>
            <a:ext cx="2309458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Google Shape;276;p22"/>
          <p:cNvSpPr txBox="1"/>
          <p:nvPr/>
        </p:nvSpPr>
        <p:spPr>
          <a:xfrm>
            <a:off x="504105" y="1172091"/>
            <a:ext cx="65763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a) Construct five perpendiculars to AB through each of the five points.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Measure the shortest distance from each point to AB.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7" name="Google Shape;277;p22"/>
          <p:cNvGrpSpPr/>
          <p:nvPr/>
        </p:nvGrpSpPr>
        <p:grpSpPr>
          <a:xfrm flipH="1" rot="899804">
            <a:off x="472093" y="2776381"/>
            <a:ext cx="2528370" cy="291319"/>
            <a:chOff x="5292934" y="2983850"/>
            <a:chExt cx="3266356" cy="376350"/>
          </a:xfrm>
        </p:grpSpPr>
        <p:cxnSp>
          <p:nvCxnSpPr>
            <p:cNvPr id="278" name="Google Shape;278;p22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9" name="Google Shape;279;p22"/>
            <p:cNvSpPr txBox="1"/>
            <p:nvPr/>
          </p:nvSpPr>
          <p:spPr>
            <a:xfrm>
              <a:off x="5292934" y="3002300"/>
              <a:ext cx="282300" cy="3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" name="Google Shape;280;p22"/>
            <p:cNvSpPr txBox="1"/>
            <p:nvPr/>
          </p:nvSpPr>
          <p:spPr>
            <a:xfrm>
              <a:off x="8276991" y="3002300"/>
              <a:ext cx="282300" cy="3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1" name="Google Shape;281;p22"/>
          <p:cNvSpPr/>
          <p:nvPr/>
        </p:nvSpPr>
        <p:spPr>
          <a:xfrm flipH="1" rot="899649">
            <a:off x="1681692" y="2373546"/>
            <a:ext cx="317718" cy="317718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2" name="Google Shape;282;p22"/>
          <p:cNvGrpSpPr/>
          <p:nvPr/>
        </p:nvGrpSpPr>
        <p:grpSpPr>
          <a:xfrm flipH="1" rot="899804">
            <a:off x="4559548" y="3114210"/>
            <a:ext cx="2528370" cy="291319"/>
            <a:chOff x="5292934" y="2983850"/>
            <a:chExt cx="3266356" cy="376350"/>
          </a:xfrm>
        </p:grpSpPr>
        <p:cxnSp>
          <p:nvCxnSpPr>
            <p:cNvPr id="283" name="Google Shape;283;p22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4" name="Google Shape;284;p22"/>
            <p:cNvSpPr txBox="1"/>
            <p:nvPr/>
          </p:nvSpPr>
          <p:spPr>
            <a:xfrm>
              <a:off x="5292934" y="3002300"/>
              <a:ext cx="282300" cy="3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" name="Google Shape;285;p22"/>
            <p:cNvSpPr txBox="1"/>
            <p:nvPr/>
          </p:nvSpPr>
          <p:spPr>
            <a:xfrm>
              <a:off x="8276991" y="3002300"/>
              <a:ext cx="282300" cy="3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6" name="Google Shape;286;p22"/>
          <p:cNvSpPr/>
          <p:nvPr/>
        </p:nvSpPr>
        <p:spPr>
          <a:xfrm flipH="1" rot="899649">
            <a:off x="5701627" y="2963363"/>
            <a:ext cx="317718" cy="317718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2"/>
          <p:cNvSpPr/>
          <p:nvPr/>
        </p:nvSpPr>
        <p:spPr>
          <a:xfrm flipH="1" rot="899649">
            <a:off x="1864037" y="3940793"/>
            <a:ext cx="317718" cy="317718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2"/>
          <p:cNvSpPr/>
          <p:nvPr/>
        </p:nvSpPr>
        <p:spPr>
          <a:xfrm flipH="1" rot="899649">
            <a:off x="4739260" y="2106537"/>
            <a:ext cx="317718" cy="317718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2"/>
          <p:cNvSpPr/>
          <p:nvPr/>
        </p:nvSpPr>
        <p:spPr>
          <a:xfrm flipH="1" rot="899649">
            <a:off x="4173574" y="3168030"/>
            <a:ext cx="317718" cy="317718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 rot="900341">
            <a:off x="1620792" y="2211531"/>
            <a:ext cx="223626" cy="214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2"/>
          <p:cNvSpPr txBox="1"/>
          <p:nvPr/>
        </p:nvSpPr>
        <p:spPr>
          <a:xfrm rot="900341">
            <a:off x="2050053" y="4217834"/>
            <a:ext cx="223626" cy="214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2"/>
          <p:cNvSpPr txBox="1"/>
          <p:nvPr/>
        </p:nvSpPr>
        <p:spPr>
          <a:xfrm rot="900341">
            <a:off x="3994671" y="3348233"/>
            <a:ext cx="223626" cy="214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 rot="900341">
            <a:off x="4647903" y="1923158"/>
            <a:ext cx="223626" cy="214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 rot="900341">
            <a:off x="5980524" y="2879193"/>
            <a:ext cx="223626" cy="214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5" name="Google Shape;295;p22"/>
          <p:cNvCxnSpPr>
            <a:stCxn id="276" idx="2"/>
          </p:cNvCxnSpPr>
          <p:nvPr/>
        </p:nvCxnSpPr>
        <p:spPr>
          <a:xfrm>
            <a:off x="3792255" y="1669791"/>
            <a:ext cx="0" cy="2689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2"/>
          <p:cNvSpPr txBox="1"/>
          <p:nvPr/>
        </p:nvSpPr>
        <p:spPr>
          <a:xfrm>
            <a:off x="468000" y="4809425"/>
            <a:ext cx="66240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A boat, out at sea, needs to find the closest port so that it can refuel.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Which port is the closest to the boat? And at which part of the port should the boat dock?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7" name="Google Shape;297;p22"/>
          <p:cNvCxnSpPr/>
          <p:nvPr/>
        </p:nvCxnSpPr>
        <p:spPr>
          <a:xfrm>
            <a:off x="474757" y="96995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22"/>
          <p:cNvSpPr txBox="1"/>
          <p:nvPr/>
        </p:nvSpPr>
        <p:spPr>
          <a:xfrm>
            <a:off x="468000" y="8881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Perpendiculars through points off a line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060" y="5718657"/>
            <a:ext cx="5226831" cy="228414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2"/>
          <p:cNvSpPr txBox="1"/>
          <p:nvPr/>
        </p:nvSpPr>
        <p:spPr>
          <a:xfrm>
            <a:off x="645538" y="7949124"/>
            <a:ext cx="76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Port 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1410589" y="6157784"/>
            <a:ext cx="76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Port 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6173961" y="7355534"/>
            <a:ext cx="76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Port 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796446" y="7710256"/>
            <a:ext cx="399000" cy="399000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774900" y="6248490"/>
            <a:ext cx="399000" cy="399000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2739722" y="7382512"/>
            <a:ext cx="399000" cy="399000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4330542" y="6324117"/>
            <a:ext cx="399000" cy="399000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5869382" y="7153776"/>
            <a:ext cx="399000" cy="399000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1634186" y="5873320"/>
            <a:ext cx="399000" cy="399000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2508402" y="5598720"/>
            <a:ext cx="399000" cy="399000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2861071" y="7710264"/>
            <a:ext cx="76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Boat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