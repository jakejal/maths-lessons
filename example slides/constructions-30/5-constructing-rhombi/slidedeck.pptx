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a2f82cbd6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a2f82cbd6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a2f82cbd64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a2f82cbd64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a2f82cbd64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a2f82cbd64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2f82cbd64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a2f82cbd64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a57b411804_1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a57b411804_1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57b411804_1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57b411804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a57b411804_1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a57b411804_1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a57b411804_1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a57b411804_1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a57b411804_1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a57b411804_1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a57b411804_1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a57b411804_1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a57b411804_1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a57b411804_1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a57b411804_1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a57b411804_1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af6fda9c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af6fda9c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a57b411804_1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a57b411804_1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a57b411804_1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a57b411804_1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a2f82cbd64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a2f82cbd64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a362aa1ee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a362aa1ee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a362aa1ee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a362aa1ee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a2f82cbd64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a2f82cbd64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a2f82cbd64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a2f82cbd64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a3df11f64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a3df11f64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a3df11f64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a3df11f6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a57b41180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a57b4118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a57b41180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a57b41180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a57b41180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a57b41180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a57b4118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a57b4118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a57b411804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a57b411804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a57b411804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a57b411804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a57b411804_1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a57b411804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a57b411804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a57b411804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a2f82cbd64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a2f82cbd64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a362aa1ee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a362aa1ee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a362aa1ee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a362aa1ee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a362aa1ee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a362aa1ee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a362aa1ee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2a362aa1ee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a362aa1ee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a362aa1ee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75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5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Relationship Id="rId7" Type="http://schemas.openxmlformats.org/officeDocument/2006/relationships/image" Target="../media/image25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5.png"/><Relationship Id="rId4" Type="http://schemas.openxmlformats.org/officeDocument/2006/relationships/image" Target="../media/image29.png"/><Relationship Id="rId11" Type="http://schemas.openxmlformats.org/officeDocument/2006/relationships/image" Target="../media/image17.png"/><Relationship Id="rId10" Type="http://schemas.openxmlformats.org/officeDocument/2006/relationships/image" Target="../media/image42.png"/><Relationship Id="rId9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50" name="Google Shape;750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Relationship Id="rId4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6.png"/><Relationship Id="rId4" Type="http://schemas.openxmlformats.org/officeDocument/2006/relationships/image" Target="../media/image71.png"/><Relationship Id="rId9" Type="http://schemas.openxmlformats.org/officeDocument/2006/relationships/image" Target="../media/image72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11" Type="http://schemas.openxmlformats.org/officeDocument/2006/relationships/image" Target="../media/image43.png"/><Relationship Id="rId10" Type="http://schemas.openxmlformats.org/officeDocument/2006/relationships/image" Target="../media/image7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Relationship Id="rId4" Type="http://schemas.openxmlformats.org/officeDocument/2006/relationships/image" Target="../media/image71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8.png"/><Relationship Id="rId7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3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74.png"/><Relationship Id="rId7" Type="http://schemas.openxmlformats.org/officeDocument/2006/relationships/image" Target="../media/image7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1.png"/><Relationship Id="rId4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6.png"/><Relationship Id="rId6" Type="http://schemas.openxmlformats.org/officeDocument/2006/relationships/image" Target="../media/image53.png"/><Relationship Id="rId7" Type="http://schemas.openxmlformats.org/officeDocument/2006/relationships/image" Target="../media/image8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53.png"/><Relationship Id="rId8" Type="http://schemas.openxmlformats.org/officeDocument/2006/relationships/hyperlink" Target="https://www.geogebra.org/geometry/w2fuuxnu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2.png"/><Relationship Id="rId4" Type="http://schemas.openxmlformats.org/officeDocument/2006/relationships/hyperlink" Target="https://www.geogebra.org/geometry/w2fuuxnu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Relationship Id="rId6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Relationship Id="rId6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0.png"/><Relationship Id="rId4" Type="http://schemas.openxmlformats.org/officeDocument/2006/relationships/image" Target="../media/image98.png"/><Relationship Id="rId5" Type="http://schemas.openxmlformats.org/officeDocument/2006/relationships/image" Target="../media/image9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3.png"/><Relationship Id="rId4" Type="http://schemas.openxmlformats.org/officeDocument/2006/relationships/image" Target="../media/image9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757" name="Google Shape;757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intersecting circles to construct rhombi from given lengths.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0" y="826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line is a straight 1D figure that does not have a thickness, and it extends forever in both directions.  </a:t>
            </a:r>
            <a:endParaRPr sz="1800"/>
          </a:p>
        </p:txBody>
      </p:sp>
      <p:sp>
        <p:nvSpPr>
          <p:cNvPr id="773" name="Google Shape;773;p66"/>
          <p:cNvSpPr txBox="1"/>
          <p:nvPr>
            <p:ph idx="3" type="subTitle"/>
          </p:nvPr>
        </p:nvSpPr>
        <p:spPr>
          <a:xfrm>
            <a:off x="324000" y="18950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ray is a part of a line with a fixed starting point that extends forever in one direction.  </a:t>
            </a:r>
            <a:endParaRPr sz="1800"/>
          </a:p>
        </p:txBody>
      </p:sp>
      <p:sp>
        <p:nvSpPr>
          <p:cNvPr id="774" name="Google Shape;774;p66"/>
          <p:cNvSpPr txBox="1"/>
          <p:nvPr>
            <p:ph idx="4" type="subTitle"/>
          </p:nvPr>
        </p:nvSpPr>
        <p:spPr>
          <a:xfrm>
            <a:off x="324000" y="30370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line segment is a part of a line with a fixed start point and a distinct fixed end point. </a:t>
            </a:r>
            <a:endParaRPr sz="1800"/>
          </a:p>
        </p:txBody>
      </p:sp>
      <p:sp>
        <p:nvSpPr>
          <p:cNvPr id="775" name="Google Shape;775;p66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radius is any line segment that joins the centre of a circle to any point on its circumference. </a:t>
            </a:r>
            <a:endParaRPr sz="1800"/>
          </a:p>
        </p:txBody>
      </p:sp>
      <p:pic>
        <p:nvPicPr>
          <p:cNvPr id="776" name="Google Shape;7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600" y="1086600"/>
            <a:ext cx="1369674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8275" y="2179150"/>
            <a:ext cx="1714499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200" y="3403763"/>
            <a:ext cx="1333501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7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rhombus</a:t>
            </a:r>
            <a:r>
              <a:rPr lang="en-GB" sz="1800"/>
              <a:t> is a parallelogram where all sides are the same length.  </a:t>
            </a:r>
            <a:endParaRPr sz="1800"/>
          </a:p>
        </p:txBody>
      </p:sp>
      <p:sp>
        <p:nvSpPr>
          <p:cNvPr id="784" name="Google Shape;784;p67"/>
          <p:cNvSpPr txBox="1"/>
          <p:nvPr>
            <p:ph idx="1" type="subTitle"/>
          </p:nvPr>
        </p:nvSpPr>
        <p:spPr>
          <a:xfrm>
            <a:off x="324000" y="17812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plural of </a:t>
            </a:r>
            <a:r>
              <a:rPr b="1" lang="en-GB" sz="1800"/>
              <a:t>rhombus</a:t>
            </a:r>
            <a:r>
              <a:rPr lang="en-GB" sz="1800"/>
              <a:t> can be referred to as </a:t>
            </a:r>
            <a:r>
              <a:rPr b="1" lang="en-GB" sz="1800"/>
              <a:t>r</a:t>
            </a:r>
            <a:r>
              <a:rPr b="1" lang="en-GB" sz="1800"/>
              <a:t>hombi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785" name="Google Shape;78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9525" y="1133750"/>
            <a:ext cx="80994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Creating shapes from triangles</a:t>
            </a:r>
            <a:endParaRPr/>
          </a:p>
        </p:txBody>
      </p:sp>
      <p:sp>
        <p:nvSpPr>
          <p:cNvPr id="791" name="Google Shape;791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792" name="Google Shape;792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793" name="Google Shape;79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25" y="20593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79198" y="718575"/>
            <a:ext cx="2662052" cy="1224824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1905900" y="2383725"/>
            <a:ext cx="53322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quadrilaterals can be split into two triangles.</a:t>
            </a:r>
            <a:endParaRPr sz="1800"/>
          </a:p>
        </p:txBody>
      </p:sp>
      <p:sp>
        <p:nvSpPr>
          <p:cNvPr id="800" name="Google Shape;80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801" name="Google Shape;80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50" y="1757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0" y="2763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1182950" y="759300"/>
            <a:ext cx="2381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can construct </a:t>
            </a:r>
            <a:r>
              <a:rPr lang="en-GB" sz="1800">
                <a:solidFill>
                  <a:schemeClr val="accent4"/>
                </a:solidFill>
              </a:rPr>
              <a:t>any</a:t>
            </a:r>
            <a:r>
              <a:rPr lang="en-GB" sz="1800"/>
              <a:t> </a:t>
            </a:r>
            <a:r>
              <a:rPr lang="en-GB" sz="1800"/>
              <a:t>triangle if I know the three edge lengths.</a:t>
            </a:r>
            <a:endParaRPr sz="1800"/>
          </a:p>
        </p:txBody>
      </p:sp>
      <p:pic>
        <p:nvPicPr>
          <p:cNvPr id="804" name="Google Shape;80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9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518025" y="886200"/>
            <a:ext cx="2381399" cy="122482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5584578" y="926925"/>
            <a:ext cx="21306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that means you can construct quadrilaterals too.</a:t>
            </a:r>
            <a:endParaRPr sz="1800"/>
          </a:p>
        </p:txBody>
      </p:sp>
      <p:sp>
        <p:nvSpPr>
          <p:cNvPr id="808" name="Google Shape;808;p69"/>
          <p:cNvSpPr/>
          <p:nvPr/>
        </p:nvSpPr>
        <p:spPr>
          <a:xfrm>
            <a:off x="3072575" y="3086625"/>
            <a:ext cx="2926625" cy="1359600"/>
          </a:xfrm>
          <a:custGeom>
            <a:rect b="b" l="l" r="r" t="t"/>
            <a:pathLst>
              <a:path extrusionOk="0" h="54384" w="117065">
                <a:moveTo>
                  <a:pt x="0" y="8603"/>
                </a:moveTo>
                <a:lnTo>
                  <a:pt x="24273" y="54384"/>
                </a:lnTo>
                <a:lnTo>
                  <a:pt x="117065" y="46396"/>
                </a:lnTo>
                <a:lnTo>
                  <a:pt x="117065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09" name="Google Shape;809;p69"/>
          <p:cNvCxnSpPr/>
          <p:nvPr/>
        </p:nvCxnSpPr>
        <p:spPr>
          <a:xfrm flipH="1" rot="10800000">
            <a:off x="3687100" y="3087950"/>
            <a:ext cx="2304300" cy="135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69"/>
          <p:cNvSpPr/>
          <p:nvPr/>
        </p:nvSpPr>
        <p:spPr>
          <a:xfrm>
            <a:off x="4026625" y="3098138"/>
            <a:ext cx="1090750" cy="1336575"/>
          </a:xfrm>
          <a:custGeom>
            <a:rect b="b" l="l" r="r" t="t"/>
            <a:pathLst>
              <a:path extrusionOk="0" h="53463" w="43630">
                <a:moveTo>
                  <a:pt x="43630" y="0"/>
                </a:moveTo>
                <a:lnTo>
                  <a:pt x="0" y="15670"/>
                </a:lnTo>
                <a:lnTo>
                  <a:pt x="11983" y="53463"/>
                </a:lnTo>
                <a:lnTo>
                  <a:pt x="23659" y="22737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11" name="Google Shape;811;p69"/>
          <p:cNvCxnSpPr/>
          <p:nvPr/>
        </p:nvCxnSpPr>
        <p:spPr>
          <a:xfrm>
            <a:off x="4026625" y="3497588"/>
            <a:ext cx="599100" cy="16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69"/>
          <p:cNvSpPr/>
          <p:nvPr/>
        </p:nvSpPr>
        <p:spPr>
          <a:xfrm>
            <a:off x="3661713" y="3380550"/>
            <a:ext cx="1818300" cy="798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3" name="Google Shape;813;p69"/>
          <p:cNvCxnSpPr/>
          <p:nvPr/>
        </p:nvCxnSpPr>
        <p:spPr>
          <a:xfrm>
            <a:off x="3669388" y="3380550"/>
            <a:ext cx="1812900" cy="79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Google Shape;818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576275" y="775028"/>
            <a:ext cx="3245901" cy="20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79198" y="718575"/>
            <a:ext cx="2662052" cy="1534562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50" y="1757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0"/>
          <p:cNvSpPr txBox="1"/>
          <p:nvPr/>
        </p:nvSpPr>
        <p:spPr>
          <a:xfrm>
            <a:off x="0" y="2763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1182950" y="759300"/>
            <a:ext cx="2381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if I construct a scalene triangle, what quadrilaterals </a:t>
            </a:r>
            <a:r>
              <a:rPr lang="en-GB" sz="1800"/>
              <a:t>can</a:t>
            </a:r>
            <a:r>
              <a:rPr lang="en-GB" sz="1800"/>
              <a:t> I construct?</a:t>
            </a:r>
            <a:endParaRPr sz="1800"/>
          </a:p>
        </p:txBody>
      </p:sp>
      <p:pic>
        <p:nvPicPr>
          <p:cNvPr id="824" name="Google Shape;824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0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4654967" y="819999"/>
            <a:ext cx="30219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Hmm…I am not too sure. Let’s see.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If we have two copies of the triangle, how can we join them up?</a:t>
            </a:r>
            <a:endParaRPr sz="1800"/>
          </a:p>
        </p:txBody>
      </p:sp>
      <p:pic>
        <p:nvPicPr>
          <p:cNvPr id="827" name="Google Shape;827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7349" y="2253125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203435" y="2244825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660635" y="2244825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9155832">
            <a:off x="3736836" y="2397224"/>
            <a:ext cx="957651" cy="23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589521">
            <a:off x="3965436" y="2549625"/>
            <a:ext cx="957651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6257774">
            <a:off x="3965436" y="2702024"/>
            <a:ext cx="957651" cy="230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096701">
            <a:off x="3965436" y="2854425"/>
            <a:ext cx="957651" cy="23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068672">
            <a:off x="3813036" y="3006825"/>
            <a:ext cx="957651" cy="23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">
            <a:off x="3647261" y="2398787"/>
            <a:ext cx="957650" cy="23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7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79198" y="718575"/>
            <a:ext cx="2662052" cy="126324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842" name="Google Shape;84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50" y="1757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1"/>
          <p:cNvSpPr txBox="1"/>
          <p:nvPr/>
        </p:nvSpPr>
        <p:spPr>
          <a:xfrm>
            <a:off x="0" y="2763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 txBox="1"/>
          <p:nvPr>
            <p:ph idx="1" type="body"/>
          </p:nvPr>
        </p:nvSpPr>
        <p:spPr>
          <a:xfrm>
            <a:off x="1182950" y="759300"/>
            <a:ext cx="2381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Opposite edges are equal lengths, so this is a parallelogram.</a:t>
            </a:r>
            <a:endParaRPr sz="1800"/>
          </a:p>
        </p:txBody>
      </p:sp>
      <p:pic>
        <p:nvPicPr>
          <p:cNvPr id="845" name="Google Shape;84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1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5661221" y="1002825"/>
            <a:ext cx="17208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we have it any other way?</a:t>
            </a:r>
            <a:endParaRPr sz="1800"/>
          </a:p>
        </p:txBody>
      </p:sp>
      <p:pic>
        <p:nvPicPr>
          <p:cNvPr id="848" name="Google Shape;84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7349" y="2253125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203435" y="2244825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1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571050" y="843750"/>
            <a:ext cx="1888148" cy="9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1891" y="2253132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823991" y="2253132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02585" y="2251900"/>
            <a:ext cx="957650" cy="23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349" y="2253125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02585" y="2251900"/>
            <a:ext cx="957650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979202" y="718575"/>
            <a:ext cx="2016573" cy="11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862" name="Google Shape;862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850" y="1757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/>
          <p:cNvSpPr txBox="1"/>
          <p:nvPr/>
        </p:nvSpPr>
        <p:spPr>
          <a:xfrm>
            <a:off x="0" y="2763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1159906" y="751619"/>
            <a:ext cx="1774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Adjacent edges are equal, this is a kite!</a:t>
            </a:r>
            <a:endParaRPr sz="1800"/>
          </a:p>
        </p:txBody>
      </p:sp>
      <p:pic>
        <p:nvPicPr>
          <p:cNvPr id="865" name="Google Shape;865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2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5014752" y="850425"/>
            <a:ext cx="25197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</a:t>
            </a:r>
            <a:r>
              <a:rPr lang="en-GB" sz="1800"/>
              <a:t>think</a:t>
            </a:r>
            <a:r>
              <a:rPr lang="en-GB" sz="1800"/>
              <a:t> if you join other matching edges you still make kites and parallelograms.</a:t>
            </a:r>
            <a:endParaRPr sz="1800"/>
          </a:p>
        </p:txBody>
      </p:sp>
      <p:pic>
        <p:nvPicPr>
          <p:cNvPr id="868" name="Google Shape;868;p7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43600" y="809100"/>
            <a:ext cx="2767800" cy="16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996847" y="2175700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350" y="2176568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853847" y="2175700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350" y="2176568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781891" y="1970144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750" y="2481368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3174245">
            <a:off x="5786134" y="2374187"/>
            <a:ext cx="678276" cy="163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550" y="2481368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563141" y="3216357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000" y="2203580"/>
            <a:ext cx="678276" cy="163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5">
            <a:off x="6647377" y="3605035"/>
            <a:ext cx="678276" cy="163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1525" y="3094930"/>
            <a:ext cx="678276" cy="1632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Google Shape;885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769975" y="732900"/>
            <a:ext cx="3017626" cy="195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79200" y="718575"/>
            <a:ext cx="2331500" cy="11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888" name="Google Shape;88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50" y="1757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3"/>
          <p:cNvSpPr txBox="1"/>
          <p:nvPr/>
        </p:nvSpPr>
        <p:spPr>
          <a:xfrm>
            <a:off x="0" y="2763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1159899" y="751625"/>
            <a:ext cx="20427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I can construct kites and parallelograms.</a:t>
            </a:r>
            <a:endParaRPr sz="1800"/>
          </a:p>
        </p:txBody>
      </p:sp>
      <p:pic>
        <p:nvPicPr>
          <p:cNvPr id="891" name="Google Shape;89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3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3"/>
          <p:cNvSpPr txBox="1"/>
          <p:nvPr>
            <p:ph idx="1" type="body"/>
          </p:nvPr>
        </p:nvSpPr>
        <p:spPr>
          <a:xfrm>
            <a:off x="4838700" y="774225"/>
            <a:ext cx="26967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Yes and if it was a right angled scalene triangle, then the parallelogram is a rectangle and the kite is a triangle?</a:t>
            </a:r>
            <a:endParaRPr sz="1800"/>
          </a:p>
        </p:txBody>
      </p:sp>
      <p:pic>
        <p:nvPicPr>
          <p:cNvPr id="894" name="Google Shape;89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1577" y="2763150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2671937" y="2746089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1614" y="2754625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778575" y="2737564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8225" y="2763139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605536" y="2763139"/>
            <a:ext cx="705625" cy="1722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7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79200" y="718575"/>
            <a:ext cx="2331500" cy="11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906" name="Google Shape;90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50" y="1757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4"/>
          <p:cNvSpPr txBox="1"/>
          <p:nvPr/>
        </p:nvSpPr>
        <p:spPr>
          <a:xfrm>
            <a:off x="0" y="2763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4"/>
          <p:cNvSpPr txBox="1"/>
          <p:nvPr>
            <p:ph idx="1" type="body"/>
          </p:nvPr>
        </p:nvSpPr>
        <p:spPr>
          <a:xfrm>
            <a:off x="1159899" y="751625"/>
            <a:ext cx="20427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parallelogram, a rectangle or an isosceles triangle.</a:t>
            </a:r>
            <a:endParaRPr sz="1800"/>
          </a:p>
        </p:txBody>
      </p:sp>
      <p:pic>
        <p:nvPicPr>
          <p:cNvPr id="909" name="Google Shape;90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4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1577" y="2763150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2668281" y="2747917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1614" y="2754625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774918" y="2737564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8225" y="2763139"/>
            <a:ext cx="705625" cy="172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605536" y="2763139"/>
            <a:ext cx="705625" cy="1722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5"/>
          <p:cNvSpPr txBox="1"/>
          <p:nvPr>
            <p:ph idx="1" type="body"/>
          </p:nvPr>
        </p:nvSpPr>
        <p:spPr>
          <a:xfrm>
            <a:off x="324000" y="759300"/>
            <a:ext cx="8237700" cy="11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Two different scalene triangles, with one shared edge length, are joined together.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Name the shape created.</a:t>
            </a:r>
            <a:endParaRPr sz="1800"/>
          </a:p>
        </p:txBody>
      </p:sp>
      <p:sp>
        <p:nvSpPr>
          <p:cNvPr id="922" name="Google Shape;92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923" name="Google Shape;92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775" y="2058600"/>
            <a:ext cx="2651925" cy="2420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4" name="Google Shape;924;p75"/>
          <p:cNvSpPr txBox="1"/>
          <p:nvPr/>
        </p:nvSpPr>
        <p:spPr>
          <a:xfrm>
            <a:off x="4800900" y="2120075"/>
            <a:ext cx="412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Irregular quadrilateral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943600" y="809100"/>
            <a:ext cx="2599572" cy="865449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931" name="Google Shape;93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700" y="157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6"/>
          <p:cNvSpPr txBox="1"/>
          <p:nvPr/>
        </p:nvSpPr>
        <p:spPr>
          <a:xfrm>
            <a:off x="324000" y="265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3" name="Google Shape;93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6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 txBox="1"/>
          <p:nvPr>
            <p:ph idx="1" type="body"/>
          </p:nvPr>
        </p:nvSpPr>
        <p:spPr>
          <a:xfrm>
            <a:off x="5014750" y="850425"/>
            <a:ext cx="2405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if we used two isosceles triangles?</a:t>
            </a:r>
            <a:endParaRPr sz="1800"/>
          </a:p>
        </p:txBody>
      </p:sp>
      <p:sp>
        <p:nvSpPr>
          <p:cNvPr id="936" name="Google Shape;936;p76"/>
          <p:cNvSpPr txBox="1"/>
          <p:nvPr>
            <p:ph idx="1" type="body"/>
          </p:nvPr>
        </p:nvSpPr>
        <p:spPr>
          <a:xfrm flipH="1">
            <a:off x="1554972" y="1002825"/>
            <a:ext cx="2405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start with two different isosceles triangles but with the same base edge.</a:t>
            </a:r>
            <a:endParaRPr sz="1800"/>
          </a:p>
        </p:txBody>
      </p:sp>
      <p:pic>
        <p:nvPicPr>
          <p:cNvPr id="937" name="Google Shape;937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36741" y="899494"/>
            <a:ext cx="2662052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6"/>
          <p:cNvPicPr preferRelativeResize="0"/>
          <p:nvPr/>
        </p:nvPicPr>
        <p:blipFill rotWithShape="1">
          <a:blip r:embed="rId6">
            <a:alphaModFix/>
          </a:blip>
          <a:srcRect b="35026" l="0" r="0" t="0"/>
          <a:stretch/>
        </p:blipFill>
        <p:spPr>
          <a:xfrm>
            <a:off x="2982588" y="2842400"/>
            <a:ext cx="1499175" cy="141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6"/>
          <p:cNvPicPr preferRelativeResize="0"/>
          <p:nvPr/>
        </p:nvPicPr>
        <p:blipFill rotWithShape="1">
          <a:blip r:embed="rId6">
            <a:alphaModFix/>
          </a:blip>
          <a:srcRect b="0" l="0" r="0" t="69612"/>
          <a:stretch/>
        </p:blipFill>
        <p:spPr>
          <a:xfrm>
            <a:off x="4373775" y="3218976"/>
            <a:ext cx="1499175" cy="66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p7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943600" y="809100"/>
            <a:ext cx="2662052" cy="11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946" name="Google Shape;94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700" y="157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7"/>
          <p:cNvSpPr txBox="1"/>
          <p:nvPr/>
        </p:nvSpPr>
        <p:spPr>
          <a:xfrm>
            <a:off x="324000" y="265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8" name="Google Shape;948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7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7"/>
          <p:cNvSpPr txBox="1"/>
          <p:nvPr>
            <p:ph idx="1" type="body"/>
          </p:nvPr>
        </p:nvSpPr>
        <p:spPr>
          <a:xfrm>
            <a:off x="5014750" y="850425"/>
            <a:ext cx="2405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That is a kite. So there are two ways to construct a kite!</a:t>
            </a:r>
            <a:endParaRPr sz="1800"/>
          </a:p>
        </p:txBody>
      </p:sp>
      <p:sp>
        <p:nvSpPr>
          <p:cNvPr id="951" name="Google Shape;951;p77"/>
          <p:cNvSpPr txBox="1"/>
          <p:nvPr>
            <p:ph idx="1" type="body"/>
          </p:nvPr>
        </p:nvSpPr>
        <p:spPr>
          <a:xfrm flipH="1">
            <a:off x="1554972" y="1002825"/>
            <a:ext cx="2405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start with two different isosceles triangles but with the same base edge.</a:t>
            </a:r>
            <a:endParaRPr sz="1800"/>
          </a:p>
        </p:txBody>
      </p:sp>
      <p:pic>
        <p:nvPicPr>
          <p:cNvPr id="952" name="Google Shape;952;p7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36741" y="899494"/>
            <a:ext cx="2662052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7"/>
          <p:cNvPicPr preferRelativeResize="0"/>
          <p:nvPr/>
        </p:nvPicPr>
        <p:blipFill rotWithShape="1">
          <a:blip r:embed="rId6">
            <a:alphaModFix/>
          </a:blip>
          <a:srcRect b="35026" l="0" r="0" t="0"/>
          <a:stretch/>
        </p:blipFill>
        <p:spPr>
          <a:xfrm>
            <a:off x="3668388" y="2690000"/>
            <a:ext cx="1499175" cy="141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7"/>
          <p:cNvPicPr preferRelativeResize="0"/>
          <p:nvPr/>
        </p:nvPicPr>
        <p:blipFill rotWithShape="1">
          <a:blip r:embed="rId6">
            <a:alphaModFix/>
          </a:blip>
          <a:srcRect b="0" l="0" r="0" t="69612"/>
          <a:stretch/>
        </p:blipFill>
        <p:spPr>
          <a:xfrm>
            <a:off x="3668276" y="3890697"/>
            <a:ext cx="1499175" cy="66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sp>
        <p:nvSpPr>
          <p:cNvPr id="960" name="Google Shape;960;p78"/>
          <p:cNvSpPr txBox="1"/>
          <p:nvPr>
            <p:ph idx="4294967295" type="body"/>
          </p:nvPr>
        </p:nvSpPr>
        <p:spPr>
          <a:xfrm>
            <a:off x="324000" y="759300"/>
            <a:ext cx="8237700" cy="7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Which of these quadrilaterals can be created with two congruent isosceles triangles?</a:t>
            </a:r>
            <a:endParaRPr sz="2000"/>
          </a:p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61" name="Google Shape;961;p78"/>
          <p:cNvGrpSpPr/>
          <p:nvPr/>
        </p:nvGrpSpPr>
        <p:grpSpPr>
          <a:xfrm>
            <a:off x="399841" y="1651225"/>
            <a:ext cx="457200" cy="457200"/>
            <a:chOff x="1020916" y="1442088"/>
            <a:chExt cx="457200" cy="457200"/>
          </a:xfrm>
        </p:grpSpPr>
        <p:pic>
          <p:nvPicPr>
            <p:cNvPr id="962" name="Google Shape;962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4" name="Google Shape;964;p78"/>
          <p:cNvGrpSpPr/>
          <p:nvPr/>
        </p:nvGrpSpPr>
        <p:grpSpPr>
          <a:xfrm>
            <a:off x="4571991" y="1722025"/>
            <a:ext cx="457200" cy="457200"/>
            <a:chOff x="1020916" y="1442088"/>
            <a:chExt cx="457200" cy="457200"/>
          </a:xfrm>
        </p:grpSpPr>
        <p:pic>
          <p:nvPicPr>
            <p:cNvPr id="965" name="Google Shape;965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7" name="Google Shape;967;p78"/>
          <p:cNvGrpSpPr/>
          <p:nvPr/>
        </p:nvGrpSpPr>
        <p:grpSpPr>
          <a:xfrm>
            <a:off x="399853" y="3371850"/>
            <a:ext cx="457200" cy="457200"/>
            <a:chOff x="1020916" y="1442088"/>
            <a:chExt cx="457200" cy="457200"/>
          </a:xfrm>
        </p:grpSpPr>
        <p:pic>
          <p:nvPicPr>
            <p:cNvPr id="968" name="Google Shape;968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0" name="Google Shape;970;p78"/>
          <p:cNvGrpSpPr/>
          <p:nvPr/>
        </p:nvGrpSpPr>
        <p:grpSpPr>
          <a:xfrm>
            <a:off x="4571991" y="3407338"/>
            <a:ext cx="457200" cy="457200"/>
            <a:chOff x="1020916" y="1442088"/>
            <a:chExt cx="457200" cy="457200"/>
          </a:xfrm>
        </p:grpSpPr>
        <p:pic>
          <p:nvPicPr>
            <p:cNvPr id="971" name="Google Shape;971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2" name="Google Shape;972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3" name="Google Shape;973;p78"/>
          <p:cNvSpPr txBox="1"/>
          <p:nvPr>
            <p:ph idx="4294967295" type="subTitle"/>
          </p:nvPr>
        </p:nvSpPr>
        <p:spPr>
          <a:xfrm>
            <a:off x="1034425" y="1692000"/>
            <a:ext cx="168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trapezium</a:t>
            </a:r>
            <a:endParaRPr/>
          </a:p>
        </p:txBody>
      </p:sp>
      <p:sp>
        <p:nvSpPr>
          <p:cNvPr id="974" name="Google Shape;974;p78"/>
          <p:cNvSpPr txBox="1"/>
          <p:nvPr>
            <p:ph idx="4294967295" type="subTitle"/>
          </p:nvPr>
        </p:nvSpPr>
        <p:spPr>
          <a:xfrm>
            <a:off x="5301625" y="1692000"/>
            <a:ext cx="2278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parallelogram</a:t>
            </a:r>
            <a:endParaRPr/>
          </a:p>
        </p:txBody>
      </p:sp>
      <p:sp>
        <p:nvSpPr>
          <p:cNvPr id="975" name="Google Shape;975;p78"/>
          <p:cNvSpPr txBox="1"/>
          <p:nvPr>
            <p:ph idx="4294967295" type="subTitle"/>
          </p:nvPr>
        </p:nvSpPr>
        <p:spPr>
          <a:xfrm>
            <a:off x="1034425" y="3420000"/>
            <a:ext cx="195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rhombus</a:t>
            </a:r>
            <a:endParaRPr/>
          </a:p>
        </p:txBody>
      </p:sp>
      <p:sp>
        <p:nvSpPr>
          <p:cNvPr id="976" name="Google Shape;976;p78"/>
          <p:cNvSpPr txBox="1"/>
          <p:nvPr>
            <p:ph idx="4294967295" type="subTitle"/>
          </p:nvPr>
        </p:nvSpPr>
        <p:spPr>
          <a:xfrm>
            <a:off x="5377825" y="3428025"/>
            <a:ext cx="16011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kite</a:t>
            </a:r>
            <a:endParaRPr/>
          </a:p>
        </p:txBody>
      </p:sp>
      <p:pic>
        <p:nvPicPr>
          <p:cNvPr id="977" name="Google Shape;97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5933" y="3392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7933" y="3392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7933" y="1716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8"/>
          <p:cNvPicPr preferRelativeResize="0"/>
          <p:nvPr/>
        </p:nvPicPr>
        <p:blipFill rotWithShape="1">
          <a:blip r:embed="rId5">
            <a:alphaModFix/>
          </a:blip>
          <a:srcRect b="35026" l="0" r="0" t="0"/>
          <a:stretch/>
        </p:blipFill>
        <p:spPr>
          <a:xfrm>
            <a:off x="5655598" y="2283297"/>
            <a:ext cx="997677" cy="90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8"/>
          <p:cNvPicPr preferRelativeResize="0"/>
          <p:nvPr/>
        </p:nvPicPr>
        <p:blipFill rotWithShape="1">
          <a:blip r:embed="rId5">
            <a:alphaModFix/>
          </a:blip>
          <a:srcRect b="35026" l="0" r="0" t="0"/>
          <a:stretch/>
        </p:blipFill>
        <p:spPr>
          <a:xfrm rot="10799994">
            <a:off x="6103364" y="2224987"/>
            <a:ext cx="997677" cy="90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78"/>
          <p:cNvPicPr preferRelativeResize="0"/>
          <p:nvPr/>
        </p:nvPicPr>
        <p:blipFill rotWithShape="1">
          <a:blip r:embed="rId5">
            <a:alphaModFix/>
          </a:blip>
          <a:srcRect b="35026" l="0" r="0" t="0"/>
          <a:stretch/>
        </p:blipFill>
        <p:spPr>
          <a:xfrm>
            <a:off x="5655598" y="3882938"/>
            <a:ext cx="997686" cy="944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78"/>
          <p:cNvPicPr preferRelativeResize="0"/>
          <p:nvPr/>
        </p:nvPicPr>
        <p:blipFill rotWithShape="1">
          <a:blip r:embed="rId5">
            <a:alphaModFix/>
          </a:blip>
          <a:srcRect b="35026" l="0" r="0" t="0"/>
          <a:stretch/>
        </p:blipFill>
        <p:spPr>
          <a:xfrm rot="-3197415">
            <a:off x="6018695" y="3712759"/>
            <a:ext cx="999796" cy="942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8"/>
          <p:cNvPicPr preferRelativeResize="0"/>
          <p:nvPr/>
        </p:nvPicPr>
        <p:blipFill rotWithShape="1">
          <a:blip r:embed="rId5">
            <a:alphaModFix/>
          </a:blip>
          <a:srcRect b="35026" l="0" r="0" t="0"/>
          <a:stretch/>
        </p:blipFill>
        <p:spPr>
          <a:xfrm rot="5400000">
            <a:off x="2087485" y="3912686"/>
            <a:ext cx="997688" cy="94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78"/>
          <p:cNvPicPr preferRelativeResize="0"/>
          <p:nvPr/>
        </p:nvPicPr>
        <p:blipFill rotWithShape="1">
          <a:blip r:embed="rId5">
            <a:alphaModFix/>
          </a:blip>
          <a:srcRect b="35026" l="0" r="0" t="0"/>
          <a:stretch/>
        </p:blipFill>
        <p:spPr>
          <a:xfrm rot="-5400006">
            <a:off x="1308182" y="3941565"/>
            <a:ext cx="997688" cy="94221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8"/>
          <p:cNvSpPr txBox="1"/>
          <p:nvPr>
            <p:ph idx="4294967295" type="subTitle"/>
          </p:nvPr>
        </p:nvSpPr>
        <p:spPr>
          <a:xfrm>
            <a:off x="5157600" y="2148775"/>
            <a:ext cx="498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8"/>
          <p:cNvSpPr txBox="1"/>
          <p:nvPr>
            <p:ph idx="4294967295" type="subTitle"/>
          </p:nvPr>
        </p:nvSpPr>
        <p:spPr>
          <a:xfrm>
            <a:off x="933250" y="3884950"/>
            <a:ext cx="498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8"/>
          <p:cNvSpPr txBox="1"/>
          <p:nvPr>
            <p:ph idx="4294967295" type="subTitle"/>
          </p:nvPr>
        </p:nvSpPr>
        <p:spPr>
          <a:xfrm>
            <a:off x="5157600" y="3825175"/>
            <a:ext cx="498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7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956500" y="809100"/>
            <a:ext cx="2755676" cy="1667026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995" name="Google Shape;99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700" y="157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79"/>
          <p:cNvSpPr txBox="1"/>
          <p:nvPr/>
        </p:nvSpPr>
        <p:spPr>
          <a:xfrm>
            <a:off x="324000" y="265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7" name="Google Shape;997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9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9"/>
          <p:cNvSpPr txBox="1"/>
          <p:nvPr>
            <p:ph idx="1" type="body"/>
          </p:nvPr>
        </p:nvSpPr>
        <p:spPr>
          <a:xfrm flipH="1">
            <a:off x="1724675" y="1412100"/>
            <a:ext cx="15126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square.</a:t>
            </a:r>
            <a:endParaRPr sz="1800"/>
          </a:p>
        </p:txBody>
      </p:sp>
      <p:pic>
        <p:nvPicPr>
          <p:cNvPr id="1000" name="Google Shape;100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1151" y="2518600"/>
            <a:ext cx="1121467" cy="10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9"/>
          <p:cNvSpPr txBox="1"/>
          <p:nvPr>
            <p:ph idx="1" type="body"/>
          </p:nvPr>
        </p:nvSpPr>
        <p:spPr>
          <a:xfrm>
            <a:off x="5014750" y="850425"/>
            <a:ext cx="26388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</a:t>
            </a:r>
            <a:r>
              <a:rPr lang="en-GB" sz="1800"/>
              <a:t> can get right-angled isosceles </a:t>
            </a:r>
            <a:r>
              <a:rPr lang="en-GB" sz="1800"/>
              <a:t>triangles too. What do two of these create?</a:t>
            </a:r>
            <a:endParaRPr sz="1800"/>
          </a:p>
        </p:txBody>
      </p:sp>
      <p:pic>
        <p:nvPicPr>
          <p:cNvPr id="1002" name="Google Shape;1002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98" y="2518591"/>
            <a:ext cx="1121468" cy="10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382842" y="2494746"/>
            <a:ext cx="1121468" cy="107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4" name="Google Shape;1004;p79"/>
          <p:cNvGrpSpPr/>
          <p:nvPr/>
        </p:nvGrpSpPr>
        <p:grpSpPr>
          <a:xfrm flipH="1">
            <a:off x="1609717" y="1260350"/>
            <a:ext cx="1428537" cy="613500"/>
            <a:chOff x="2192982" y="650475"/>
            <a:chExt cx="3208754" cy="925199"/>
          </a:xfrm>
        </p:grpSpPr>
        <p:pic>
          <p:nvPicPr>
            <p:cNvPr id="1005" name="Google Shape;1005;p79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6" name="Google Shape;1006;p79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192982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79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20037" y="1246200"/>
              <a:ext cx="1400156" cy="32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79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20039" y="653869"/>
              <a:ext cx="1400156" cy="569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79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79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196452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5" name="Google Shape;1015;p80"/>
          <p:cNvGrpSpPr/>
          <p:nvPr/>
        </p:nvGrpSpPr>
        <p:grpSpPr>
          <a:xfrm>
            <a:off x="5460807" y="1260350"/>
            <a:ext cx="2046543" cy="613500"/>
            <a:chOff x="2192982" y="650475"/>
            <a:chExt cx="3208754" cy="925199"/>
          </a:xfrm>
        </p:grpSpPr>
        <p:pic>
          <p:nvPicPr>
            <p:cNvPr id="1016" name="Google Shape;1016;p80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p80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192982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8" name="Google Shape;1018;p80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20037" y="1246200"/>
              <a:ext cx="1400156" cy="32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9" name="Google Shape;1019;p80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20039" y="653869"/>
              <a:ext cx="1400156" cy="569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0" name="Google Shape;1020;p80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1" name="Google Shape;1021;p80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196452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2" name="Google Shape;102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1023" name="Google Shape;102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700" y="157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0"/>
          <p:cNvSpPr txBox="1"/>
          <p:nvPr/>
        </p:nvSpPr>
        <p:spPr>
          <a:xfrm>
            <a:off x="324000" y="265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5" name="Google Shape;1025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3525" y="17227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0"/>
          <p:cNvSpPr txBox="1"/>
          <p:nvPr/>
        </p:nvSpPr>
        <p:spPr>
          <a:xfrm>
            <a:off x="7382044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0"/>
          <p:cNvSpPr txBox="1"/>
          <p:nvPr>
            <p:ph idx="1" type="body"/>
          </p:nvPr>
        </p:nvSpPr>
        <p:spPr>
          <a:xfrm>
            <a:off x="5551753" y="1412100"/>
            <a:ext cx="19728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lang="en-GB" sz="1800"/>
              <a:t>parallelogram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028" name="Google Shape;102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1151" y="2518600"/>
            <a:ext cx="1121467" cy="10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382842" y="3378421"/>
            <a:ext cx="1121468" cy="10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1"/>
          <p:cNvSpPr txBox="1"/>
          <p:nvPr>
            <p:ph idx="1" type="body"/>
          </p:nvPr>
        </p:nvSpPr>
        <p:spPr>
          <a:xfrm>
            <a:off x="324000" y="759300"/>
            <a:ext cx="8237700" cy="7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considering the properties of the quadrilateral, what types of triangles are they?</a:t>
            </a:r>
            <a:endParaRPr sz="1800"/>
          </a:p>
        </p:txBody>
      </p:sp>
      <p:sp>
        <p:nvSpPr>
          <p:cNvPr id="1035" name="Google Shape;1035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1036" name="Google Shape;103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050" y="1620000"/>
            <a:ext cx="1326025" cy="131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622338" y="1377936"/>
            <a:ext cx="1632100" cy="162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325" y="3442213"/>
            <a:ext cx="2073675" cy="950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4100" y="1580421"/>
            <a:ext cx="1771001" cy="1159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8507" y="3449906"/>
            <a:ext cx="1770999" cy="80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06713" y="3305265"/>
            <a:ext cx="1967024" cy="111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55094" y="1620010"/>
            <a:ext cx="2148725" cy="120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13965" y="3445200"/>
            <a:ext cx="1326025" cy="838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4" name="Google Shape;1044;p81"/>
          <p:cNvGrpSpPr/>
          <p:nvPr/>
        </p:nvGrpSpPr>
        <p:grpSpPr>
          <a:xfrm>
            <a:off x="399841" y="1651225"/>
            <a:ext cx="457200" cy="457200"/>
            <a:chOff x="1020916" y="1442088"/>
            <a:chExt cx="457200" cy="457200"/>
          </a:xfrm>
        </p:grpSpPr>
        <p:pic>
          <p:nvPicPr>
            <p:cNvPr id="1045" name="Google Shape;1045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7" name="Google Shape;1047;p81"/>
          <p:cNvGrpSpPr/>
          <p:nvPr/>
        </p:nvGrpSpPr>
        <p:grpSpPr>
          <a:xfrm>
            <a:off x="2327466" y="1651225"/>
            <a:ext cx="457200" cy="457200"/>
            <a:chOff x="1020916" y="1442088"/>
            <a:chExt cx="457200" cy="457200"/>
          </a:xfrm>
        </p:grpSpPr>
        <p:pic>
          <p:nvPicPr>
            <p:cNvPr id="1048" name="Google Shape;1048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81"/>
          <p:cNvGrpSpPr/>
          <p:nvPr/>
        </p:nvGrpSpPr>
        <p:grpSpPr>
          <a:xfrm>
            <a:off x="4000253" y="1651225"/>
            <a:ext cx="457200" cy="457200"/>
            <a:chOff x="1020916" y="1442088"/>
            <a:chExt cx="457200" cy="457200"/>
          </a:xfrm>
        </p:grpSpPr>
        <p:pic>
          <p:nvPicPr>
            <p:cNvPr id="1051" name="Google Shape;1051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81"/>
          <p:cNvGrpSpPr/>
          <p:nvPr/>
        </p:nvGrpSpPr>
        <p:grpSpPr>
          <a:xfrm>
            <a:off x="6258841" y="16512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6" name="Google Shape;1056;p81"/>
          <p:cNvGrpSpPr/>
          <p:nvPr/>
        </p:nvGrpSpPr>
        <p:grpSpPr>
          <a:xfrm>
            <a:off x="399841" y="3445188"/>
            <a:ext cx="457200" cy="457200"/>
            <a:chOff x="1020916" y="1442088"/>
            <a:chExt cx="457200" cy="457200"/>
          </a:xfrm>
        </p:grpSpPr>
        <p:pic>
          <p:nvPicPr>
            <p:cNvPr id="1057" name="Google Shape;1057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9" name="Google Shape;1059;p81"/>
          <p:cNvGrpSpPr/>
          <p:nvPr/>
        </p:nvGrpSpPr>
        <p:grpSpPr>
          <a:xfrm>
            <a:off x="2702341" y="3445188"/>
            <a:ext cx="457200" cy="457200"/>
            <a:chOff x="1020916" y="1442088"/>
            <a:chExt cx="457200" cy="457200"/>
          </a:xfrm>
        </p:grpSpPr>
        <p:pic>
          <p:nvPicPr>
            <p:cNvPr id="1060" name="Google Shape;1060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1" name="Google Shape;1061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2" name="Google Shape;1062;p81"/>
          <p:cNvGrpSpPr/>
          <p:nvPr/>
        </p:nvGrpSpPr>
        <p:grpSpPr>
          <a:xfrm>
            <a:off x="4571991" y="3445188"/>
            <a:ext cx="457200" cy="457200"/>
            <a:chOff x="1020916" y="1442088"/>
            <a:chExt cx="457200" cy="457200"/>
          </a:xfrm>
        </p:grpSpPr>
        <p:pic>
          <p:nvPicPr>
            <p:cNvPr id="1063" name="Google Shape;1063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81"/>
          <p:cNvGrpSpPr/>
          <p:nvPr/>
        </p:nvGrpSpPr>
        <p:grpSpPr>
          <a:xfrm>
            <a:off x="6560266" y="3442213"/>
            <a:ext cx="457200" cy="457200"/>
            <a:chOff x="1020916" y="1442088"/>
            <a:chExt cx="457200" cy="457200"/>
          </a:xfrm>
        </p:grpSpPr>
        <p:pic>
          <p:nvPicPr>
            <p:cNvPr id="1066" name="Google Shape;1066;p8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considering the properties of the quadrilateral, what types of triangles are they?</a:t>
            </a:r>
            <a:endParaRPr sz="1800"/>
          </a:p>
        </p:txBody>
      </p:sp>
      <p:sp>
        <p:nvSpPr>
          <p:cNvPr id="1073" name="Google Shape;107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1074" name="Google Shape;107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050" y="1620000"/>
            <a:ext cx="1326025" cy="131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935488" y="3134048"/>
            <a:ext cx="1632100" cy="162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625" y="1651221"/>
            <a:ext cx="1771001" cy="1159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694" y="3340635"/>
            <a:ext cx="2148725" cy="1208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8" name="Google Shape;1078;p82"/>
          <p:cNvGrpSpPr/>
          <p:nvPr/>
        </p:nvGrpSpPr>
        <p:grpSpPr>
          <a:xfrm>
            <a:off x="399841" y="1651225"/>
            <a:ext cx="457200" cy="457200"/>
            <a:chOff x="1020916" y="1442088"/>
            <a:chExt cx="457200" cy="457200"/>
          </a:xfrm>
        </p:grpSpPr>
        <p:pic>
          <p:nvPicPr>
            <p:cNvPr id="1079" name="Google Shape;1079;p8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0" name="Google Shape;1080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1" name="Google Shape;1081;p82"/>
          <p:cNvGrpSpPr/>
          <p:nvPr/>
        </p:nvGrpSpPr>
        <p:grpSpPr>
          <a:xfrm>
            <a:off x="4571991" y="1722025"/>
            <a:ext cx="457200" cy="457200"/>
            <a:chOff x="1020916" y="1442088"/>
            <a:chExt cx="457200" cy="457200"/>
          </a:xfrm>
        </p:grpSpPr>
        <p:pic>
          <p:nvPicPr>
            <p:cNvPr id="1082" name="Google Shape;1082;p8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82"/>
          <p:cNvGrpSpPr/>
          <p:nvPr/>
        </p:nvGrpSpPr>
        <p:grpSpPr>
          <a:xfrm>
            <a:off x="399853" y="3371850"/>
            <a:ext cx="457200" cy="457200"/>
            <a:chOff x="1020916" y="1442088"/>
            <a:chExt cx="457200" cy="457200"/>
          </a:xfrm>
        </p:grpSpPr>
        <p:pic>
          <p:nvPicPr>
            <p:cNvPr id="1085" name="Google Shape;1085;p8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82"/>
          <p:cNvGrpSpPr/>
          <p:nvPr/>
        </p:nvGrpSpPr>
        <p:grpSpPr>
          <a:xfrm>
            <a:off x="4571991" y="3407338"/>
            <a:ext cx="457200" cy="457200"/>
            <a:chOff x="1020916" y="1442088"/>
            <a:chExt cx="457200" cy="457200"/>
          </a:xfrm>
        </p:grpSpPr>
        <p:pic>
          <p:nvPicPr>
            <p:cNvPr id="1088" name="Google Shape;1088;p8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0" name="Google Shape;1090;p82"/>
          <p:cNvSpPr txBox="1"/>
          <p:nvPr/>
        </p:nvSpPr>
        <p:spPr>
          <a:xfrm>
            <a:off x="2183075" y="1668600"/>
            <a:ext cx="214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congruent right-angled isosceles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82"/>
          <p:cNvSpPr txBox="1"/>
          <p:nvPr/>
        </p:nvSpPr>
        <p:spPr>
          <a:xfrm>
            <a:off x="6562600" y="1668600"/>
            <a:ext cx="214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congruent scalene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2" name="Google Shape;1092;p82"/>
          <p:cNvSpPr txBox="1"/>
          <p:nvPr/>
        </p:nvSpPr>
        <p:spPr>
          <a:xfrm>
            <a:off x="2506425" y="3407350"/>
            <a:ext cx="214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congruent isosceles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82"/>
          <p:cNvSpPr txBox="1"/>
          <p:nvPr/>
        </p:nvSpPr>
        <p:spPr>
          <a:xfrm>
            <a:off x="6717475" y="3478800"/>
            <a:ext cx="214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isosceles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considering the properties of the quadrilateral, what types of triangles are they?</a:t>
            </a:r>
            <a:endParaRPr sz="1800"/>
          </a:p>
        </p:txBody>
      </p:sp>
      <p:sp>
        <p:nvSpPr>
          <p:cNvPr id="1099" name="Google Shape;109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pic>
        <p:nvPicPr>
          <p:cNvPr id="1100" name="Google Shape;110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925" y="1749738"/>
            <a:ext cx="2073675" cy="950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682" y="1721581"/>
            <a:ext cx="1770999" cy="80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163" y="3351365"/>
            <a:ext cx="1967024" cy="111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3497" y="3439632"/>
            <a:ext cx="1326025" cy="838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4" name="Google Shape;1104;p83"/>
          <p:cNvGrpSpPr/>
          <p:nvPr/>
        </p:nvGrpSpPr>
        <p:grpSpPr>
          <a:xfrm>
            <a:off x="361441" y="1752713"/>
            <a:ext cx="457200" cy="457200"/>
            <a:chOff x="1020916" y="1442088"/>
            <a:chExt cx="457200" cy="457200"/>
          </a:xfrm>
        </p:grpSpPr>
        <p:pic>
          <p:nvPicPr>
            <p:cNvPr id="1105" name="Google Shape;1105;p8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83"/>
          <p:cNvGrpSpPr/>
          <p:nvPr/>
        </p:nvGrpSpPr>
        <p:grpSpPr>
          <a:xfrm>
            <a:off x="4530516" y="17168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8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83"/>
          <p:cNvGrpSpPr/>
          <p:nvPr/>
        </p:nvGrpSpPr>
        <p:grpSpPr>
          <a:xfrm>
            <a:off x="361441" y="3491288"/>
            <a:ext cx="457200" cy="457200"/>
            <a:chOff x="1020916" y="1442088"/>
            <a:chExt cx="457200" cy="457200"/>
          </a:xfrm>
        </p:grpSpPr>
        <p:pic>
          <p:nvPicPr>
            <p:cNvPr id="1111" name="Google Shape;1111;p8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3" name="Google Shape;1113;p83"/>
          <p:cNvGrpSpPr/>
          <p:nvPr/>
        </p:nvGrpSpPr>
        <p:grpSpPr>
          <a:xfrm>
            <a:off x="4492116" y="3489800"/>
            <a:ext cx="457200" cy="457200"/>
            <a:chOff x="1020916" y="1442088"/>
            <a:chExt cx="457200" cy="457200"/>
          </a:xfrm>
        </p:grpSpPr>
        <p:pic>
          <p:nvPicPr>
            <p:cNvPr id="1114" name="Google Shape;1114;p8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6" name="Google Shape;1116;p83"/>
          <p:cNvSpPr txBox="1"/>
          <p:nvPr/>
        </p:nvSpPr>
        <p:spPr>
          <a:xfrm>
            <a:off x="650225" y="26909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congruent scalene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3"/>
          <p:cNvSpPr txBox="1"/>
          <p:nvPr/>
        </p:nvSpPr>
        <p:spPr>
          <a:xfrm>
            <a:off x="4658725" y="26909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scalene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83"/>
          <p:cNvSpPr txBox="1"/>
          <p:nvPr/>
        </p:nvSpPr>
        <p:spPr>
          <a:xfrm>
            <a:off x="689400" y="439495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congruent isosceles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3"/>
          <p:cNvSpPr txBox="1"/>
          <p:nvPr/>
        </p:nvSpPr>
        <p:spPr>
          <a:xfrm>
            <a:off x="4658725" y="4116850"/>
            <a:ext cx="4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congruent right-angled scalene triangles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from triangles</a:t>
            </a:r>
            <a:endParaRPr/>
          </a:p>
        </p:txBody>
      </p:sp>
      <p:sp>
        <p:nvSpPr>
          <p:cNvPr id="1125" name="Google Shape;1125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126" name="Google Shape;1126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127" name="Google Shape;112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11" y="299477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" name="Google Shape;113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858" y="2419867"/>
            <a:ext cx="2991699" cy="162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500" y="2227350"/>
            <a:ext cx="3135925" cy="20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85"/>
          <p:cNvSpPr txBox="1"/>
          <p:nvPr>
            <p:ph idx="1" type="body"/>
          </p:nvPr>
        </p:nvSpPr>
        <p:spPr>
          <a:xfrm>
            <a:off x="324000" y="759300"/>
            <a:ext cx="8237700" cy="16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</a:t>
            </a:r>
            <a:r>
              <a:rPr b="1" lang="en-GB" sz="2000"/>
              <a:t>rhombus </a:t>
            </a:r>
            <a:r>
              <a:rPr lang="en-GB" sz="2000"/>
              <a:t>is a quadrilateral, just like a square, rectangle, trapezium, parallelogram, kite and other irregular quadrilaterals.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So what are the properties of a </a:t>
            </a:r>
            <a:r>
              <a:rPr b="1" lang="en-GB" sz="2000"/>
              <a:t>rhombus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135" name="Google Shape;113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136" name="Google Shape;113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3300" y="2190000"/>
            <a:ext cx="2991701" cy="19867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85"/>
          <p:cNvSpPr txBox="1"/>
          <p:nvPr/>
        </p:nvSpPr>
        <p:spPr>
          <a:xfrm>
            <a:off x="4334575" y="22130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pairs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parallel sides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8" name="Google Shape;1138;p85"/>
          <p:cNvSpPr txBox="1"/>
          <p:nvPr/>
        </p:nvSpPr>
        <p:spPr>
          <a:xfrm>
            <a:off x="4340475" y="26258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edges are equal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9" name="Google Shape;1139;p85"/>
          <p:cNvSpPr txBox="1"/>
          <p:nvPr/>
        </p:nvSpPr>
        <p:spPr>
          <a:xfrm>
            <a:off x="4343082" y="3072687"/>
            <a:ext cx="37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opposite angles are equal</a:t>
            </a:r>
            <a:endParaRPr/>
          </a:p>
        </p:txBody>
      </p:sp>
      <p:sp>
        <p:nvSpPr>
          <p:cNvPr id="1140" name="Google Shape;1140;p85"/>
          <p:cNvSpPr txBox="1"/>
          <p:nvPr/>
        </p:nvSpPr>
        <p:spPr>
          <a:xfrm>
            <a:off x="4343400" y="3530231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lines of symmetry</a:t>
            </a:r>
            <a:endParaRPr/>
          </a:p>
        </p:txBody>
      </p:sp>
      <p:pic>
        <p:nvPicPr>
          <p:cNvPr id="1141" name="Google Shape;1141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7225" y="2320200"/>
            <a:ext cx="3000000" cy="1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6925" y="2337400"/>
            <a:ext cx="2947801" cy="180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6"/>
          <p:cNvSpPr txBox="1"/>
          <p:nvPr>
            <p:ph idx="1" type="body"/>
          </p:nvPr>
        </p:nvSpPr>
        <p:spPr>
          <a:xfrm>
            <a:off x="324000" y="759300"/>
            <a:ext cx="8237700" cy="16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lines of symmetry means there are two </a:t>
            </a:r>
            <a:r>
              <a:rPr lang="en-GB" sz="2000"/>
              <a:t>congruent</a:t>
            </a:r>
            <a:r>
              <a:rPr lang="en-GB" sz="2000"/>
              <a:t> triangles in the </a:t>
            </a:r>
            <a:r>
              <a:rPr b="1" lang="en-GB" sz="2000"/>
              <a:t>rhombus.</a:t>
            </a:r>
            <a:endParaRPr b="1" sz="2000"/>
          </a:p>
        </p:txBody>
      </p:sp>
      <p:sp>
        <p:nvSpPr>
          <p:cNvPr id="1148" name="Google Shape;114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149" name="Google Shape;114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900" y="1620000"/>
            <a:ext cx="2412600" cy="157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50" y="1644925"/>
            <a:ext cx="2601697" cy="164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86"/>
          <p:cNvSpPr txBox="1"/>
          <p:nvPr>
            <p:ph idx="1" type="body"/>
          </p:nvPr>
        </p:nvSpPr>
        <p:spPr>
          <a:xfrm>
            <a:off x="324000" y="3295500"/>
            <a:ext cx="8237700" cy="16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As the edges are the same length on a </a:t>
            </a:r>
            <a:r>
              <a:rPr b="1" lang="en-GB" sz="2000"/>
              <a:t>rhombus</a:t>
            </a:r>
            <a:r>
              <a:rPr lang="en-GB" sz="2000"/>
              <a:t>, the triangles are isosceles.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means we can construct any </a:t>
            </a:r>
            <a:r>
              <a:rPr b="1" lang="en-GB" sz="2000"/>
              <a:t>rhombus</a:t>
            </a:r>
            <a:r>
              <a:rPr lang="en-GB" sz="2000"/>
              <a:t>, using two congruent isosceles triangles.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6" name="Google Shape;1156;p87"/>
          <p:cNvGrpSpPr/>
          <p:nvPr/>
        </p:nvGrpSpPr>
        <p:grpSpPr>
          <a:xfrm rot="10800000">
            <a:off x="4276618" y="2583690"/>
            <a:ext cx="1527368" cy="1602095"/>
            <a:chOff x="1937989" y="967413"/>
            <a:chExt cx="3362765" cy="3527290"/>
          </a:xfrm>
        </p:grpSpPr>
        <p:pic>
          <p:nvPicPr>
            <p:cNvPr id="1157" name="Google Shape;1157;p8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8" name="Google Shape;1158;p8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9" name="Google Shape;1159;p8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0" name="Google Shape;116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728913">
            <a:off x="3275762" y="3020884"/>
            <a:ext cx="2785104" cy="266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1" name="Google Shape;1161;p87"/>
          <p:cNvGrpSpPr/>
          <p:nvPr/>
        </p:nvGrpSpPr>
        <p:grpSpPr>
          <a:xfrm flipH="1" rot="10800000">
            <a:off x="3728205" y="2582798"/>
            <a:ext cx="1527368" cy="1602095"/>
            <a:chOff x="1937989" y="967413"/>
            <a:chExt cx="3362765" cy="3527290"/>
          </a:xfrm>
        </p:grpSpPr>
        <p:pic>
          <p:nvPicPr>
            <p:cNvPr id="1162" name="Google Shape;1162;p8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3" name="Google Shape;1163;p8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4" name="Google Shape;1164;p8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5" name="Google Shape;1165;p87"/>
          <p:cNvSpPr txBox="1"/>
          <p:nvPr>
            <p:ph idx="1" type="body"/>
          </p:nvPr>
        </p:nvSpPr>
        <p:spPr>
          <a:xfrm>
            <a:off x="324000" y="759300"/>
            <a:ext cx="39129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First construct </a:t>
            </a:r>
            <a:r>
              <a:rPr lang="en-GB" sz="1800"/>
              <a:t>an</a:t>
            </a:r>
            <a:r>
              <a:rPr lang="en-GB" sz="1800"/>
              <a:t> isosceles triangle.</a:t>
            </a:r>
            <a:endParaRPr b="1" sz="1800"/>
          </a:p>
        </p:txBody>
      </p:sp>
      <p:sp>
        <p:nvSpPr>
          <p:cNvPr id="1166" name="Google Shape;116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167" name="Google Shape;1167;p87"/>
          <p:cNvSpPr/>
          <p:nvPr/>
        </p:nvSpPr>
        <p:spPr>
          <a:xfrm flipH="1">
            <a:off x="3987621" y="1500225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7"/>
          <p:cNvSpPr/>
          <p:nvPr/>
        </p:nvSpPr>
        <p:spPr>
          <a:xfrm>
            <a:off x="3149421" y="1500225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9" name="Google Shape;1169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9">
            <a:off x="352489" y="4529706"/>
            <a:ext cx="2785099" cy="266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0" name="Google Shape;1170;p87"/>
          <p:cNvCxnSpPr/>
          <p:nvPr/>
        </p:nvCxnSpPr>
        <p:spPr>
          <a:xfrm>
            <a:off x="442248" y="4509600"/>
            <a:ext cx="122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71" name="Google Shape;1171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30" y="3645742"/>
            <a:ext cx="371550" cy="8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780" y="3653385"/>
            <a:ext cx="371550" cy="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87"/>
          <p:cNvSpPr txBox="1"/>
          <p:nvPr/>
        </p:nvSpPr>
        <p:spPr>
          <a:xfrm>
            <a:off x="773757" y="4425595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4" name="Google Shape;117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9">
            <a:off x="4236864" y="2708375"/>
            <a:ext cx="2785099" cy="26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5155" y="1830775"/>
            <a:ext cx="371550" cy="86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6" name="Google Shape;1176;p87"/>
          <p:cNvGrpSpPr/>
          <p:nvPr/>
        </p:nvGrpSpPr>
        <p:grpSpPr>
          <a:xfrm flipH="1">
            <a:off x="131648" y="2872821"/>
            <a:ext cx="920544" cy="1738864"/>
            <a:chOff x="4045431" y="1513250"/>
            <a:chExt cx="2005105" cy="3787550"/>
          </a:xfrm>
        </p:grpSpPr>
        <p:pic>
          <p:nvPicPr>
            <p:cNvPr id="1177" name="Google Shape;1177;p8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-946096">
              <a:off x="4385717" y="2528744"/>
              <a:ext cx="1158240" cy="2664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8" name="Google Shape;1178;p8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876952">
              <a:off x="4909437" y="2624675"/>
              <a:ext cx="836023" cy="252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8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5016136" y="1513250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0" name="Google Shape;1180;p87"/>
          <p:cNvGrpSpPr/>
          <p:nvPr/>
        </p:nvGrpSpPr>
        <p:grpSpPr>
          <a:xfrm flipH="1">
            <a:off x="4273919" y="1223103"/>
            <a:ext cx="1527368" cy="1602095"/>
            <a:chOff x="1937989" y="967413"/>
            <a:chExt cx="3362765" cy="3527290"/>
          </a:xfrm>
        </p:grpSpPr>
        <p:pic>
          <p:nvPicPr>
            <p:cNvPr id="1181" name="Google Shape;1181;p8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2" name="Google Shape;1182;p8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8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4" name="Google Shape;1184;p87"/>
          <p:cNvGrpSpPr/>
          <p:nvPr/>
        </p:nvGrpSpPr>
        <p:grpSpPr>
          <a:xfrm>
            <a:off x="3729140" y="1209516"/>
            <a:ext cx="1527368" cy="1602095"/>
            <a:chOff x="1937989" y="967413"/>
            <a:chExt cx="3362765" cy="3527290"/>
          </a:xfrm>
        </p:grpSpPr>
        <p:pic>
          <p:nvPicPr>
            <p:cNvPr id="1185" name="Google Shape;1185;p8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6" name="Google Shape;1186;p8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7" name="Google Shape;1187;p8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8" name="Google Shape;1188;p87"/>
          <p:cNvGrpSpPr/>
          <p:nvPr/>
        </p:nvGrpSpPr>
        <p:grpSpPr>
          <a:xfrm flipH="1">
            <a:off x="391298" y="3046001"/>
            <a:ext cx="1527368" cy="1602095"/>
            <a:chOff x="1937989" y="967413"/>
            <a:chExt cx="3362765" cy="3527290"/>
          </a:xfrm>
        </p:grpSpPr>
        <p:pic>
          <p:nvPicPr>
            <p:cNvPr id="1189" name="Google Shape;1189;p8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8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1" name="Google Shape;1191;p8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2" name="Google Shape;1192;p87"/>
          <p:cNvGrpSpPr/>
          <p:nvPr/>
        </p:nvGrpSpPr>
        <p:grpSpPr>
          <a:xfrm>
            <a:off x="4725082" y="1505811"/>
            <a:ext cx="123900" cy="123900"/>
            <a:chOff x="630000" y="1882500"/>
            <a:chExt cx="123900" cy="123900"/>
          </a:xfrm>
        </p:grpSpPr>
        <p:cxnSp>
          <p:nvCxnSpPr>
            <p:cNvPr id="1193" name="Google Shape;1193;p87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4" name="Google Shape;1194;p87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195" name="Google Shape;1195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068699">
            <a:off x="3364474" y="1877481"/>
            <a:ext cx="2785100" cy="26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6129" y="1835260"/>
            <a:ext cx="371550" cy="86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7" name="Google Shape;1197;p87"/>
          <p:cNvCxnSpPr/>
          <p:nvPr/>
        </p:nvCxnSpPr>
        <p:spPr>
          <a:xfrm flipH="1" rot="10800000">
            <a:off x="4326625" y="1575275"/>
            <a:ext cx="462000" cy="113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98" name="Google Shape;1198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5150" y="729117"/>
            <a:ext cx="371550" cy="8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4160830">
            <a:off x="3540441" y="2257256"/>
            <a:ext cx="2785101" cy="266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0" name="Google Shape;1200;p87"/>
          <p:cNvCxnSpPr/>
          <p:nvPr/>
        </p:nvCxnSpPr>
        <p:spPr>
          <a:xfrm rot="10800000">
            <a:off x="4784200" y="1579025"/>
            <a:ext cx="417900" cy="112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1" name="Google Shape;1201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0175" y="1835242"/>
            <a:ext cx="371550" cy="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87"/>
          <p:cNvSpPr txBox="1"/>
          <p:nvPr/>
        </p:nvSpPr>
        <p:spPr>
          <a:xfrm>
            <a:off x="5101600" y="1813353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7"/>
          <p:cNvSpPr txBox="1"/>
          <p:nvPr/>
        </p:nvSpPr>
        <p:spPr>
          <a:xfrm>
            <a:off x="3946275" y="1813366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4" name="Google Shape;1204;p87"/>
          <p:cNvCxnSpPr/>
          <p:nvPr/>
        </p:nvCxnSpPr>
        <p:spPr>
          <a:xfrm>
            <a:off x="4524286" y="2052063"/>
            <a:ext cx="112200" cy="4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87"/>
          <p:cNvCxnSpPr/>
          <p:nvPr/>
        </p:nvCxnSpPr>
        <p:spPr>
          <a:xfrm flipH="1">
            <a:off x="4918315" y="2046427"/>
            <a:ext cx="112200" cy="4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87"/>
          <p:cNvSpPr txBox="1"/>
          <p:nvPr>
            <p:ph idx="1" type="body"/>
          </p:nvPr>
        </p:nvSpPr>
        <p:spPr>
          <a:xfrm>
            <a:off x="324001" y="1537800"/>
            <a:ext cx="34698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using the same base line, construct the isosceles </a:t>
            </a:r>
            <a:r>
              <a:rPr lang="en-GB" sz="1800"/>
              <a:t>triangle</a:t>
            </a:r>
            <a:r>
              <a:rPr lang="en-GB" sz="1800"/>
              <a:t> underneath the line.</a:t>
            </a:r>
            <a:endParaRPr b="1" sz="1800"/>
          </a:p>
        </p:txBody>
      </p:sp>
      <p:sp>
        <p:nvSpPr>
          <p:cNvPr id="1207" name="Google Shape;1207;p87"/>
          <p:cNvSpPr/>
          <p:nvPr/>
        </p:nvSpPr>
        <p:spPr>
          <a:xfrm rot="10800000">
            <a:off x="3987621" y="1429030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7"/>
          <p:cNvSpPr/>
          <p:nvPr/>
        </p:nvSpPr>
        <p:spPr>
          <a:xfrm flipH="1" rot="10800000">
            <a:off x="3149421" y="1429030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9" name="Google Shape;1209;p87"/>
          <p:cNvCxnSpPr/>
          <p:nvPr/>
        </p:nvCxnSpPr>
        <p:spPr>
          <a:xfrm>
            <a:off x="4326623" y="2683065"/>
            <a:ext cx="874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10" name="Google Shape;1210;p87"/>
          <p:cNvGrpSpPr/>
          <p:nvPr/>
        </p:nvGrpSpPr>
        <p:grpSpPr>
          <a:xfrm flipH="1" rot="10800000">
            <a:off x="4725082" y="3740343"/>
            <a:ext cx="123900" cy="123900"/>
            <a:chOff x="630000" y="1882500"/>
            <a:chExt cx="123900" cy="123900"/>
          </a:xfrm>
        </p:grpSpPr>
        <p:cxnSp>
          <p:nvCxnSpPr>
            <p:cNvPr id="1211" name="Google Shape;1211;p87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87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13" name="Google Shape;1213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6625322">
            <a:off x="3546078" y="2836288"/>
            <a:ext cx="2785100" cy="26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304" y="1827895"/>
            <a:ext cx="371550" cy="86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5" name="Google Shape;1215;p87"/>
          <p:cNvCxnSpPr/>
          <p:nvPr/>
        </p:nvCxnSpPr>
        <p:spPr>
          <a:xfrm>
            <a:off x="4326625" y="2678230"/>
            <a:ext cx="462000" cy="113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87"/>
          <p:cNvCxnSpPr/>
          <p:nvPr/>
        </p:nvCxnSpPr>
        <p:spPr>
          <a:xfrm flipH="1">
            <a:off x="4784200" y="2667830"/>
            <a:ext cx="417900" cy="112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17" name="Google Shape;1217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0175" y="1827913"/>
            <a:ext cx="371550" cy="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87"/>
          <p:cNvSpPr txBox="1"/>
          <p:nvPr/>
        </p:nvSpPr>
        <p:spPr>
          <a:xfrm flipH="1">
            <a:off x="5071188" y="3095001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7"/>
          <p:cNvSpPr txBox="1"/>
          <p:nvPr/>
        </p:nvSpPr>
        <p:spPr>
          <a:xfrm flipH="1">
            <a:off x="3946275" y="3094989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0" name="Google Shape;1220;p87"/>
          <p:cNvCxnSpPr/>
          <p:nvPr/>
        </p:nvCxnSpPr>
        <p:spPr>
          <a:xfrm flipH="1" rot="10800000">
            <a:off x="4524286" y="3277492"/>
            <a:ext cx="112200" cy="4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87"/>
          <p:cNvCxnSpPr/>
          <p:nvPr/>
        </p:nvCxnSpPr>
        <p:spPr>
          <a:xfrm rot="10800000">
            <a:off x="4918315" y="3283128"/>
            <a:ext cx="112200" cy="4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22" name="Google Shape;1222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8650" y="2938688"/>
            <a:ext cx="371550" cy="86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3" name="Google Shape;1223;p87"/>
          <p:cNvGrpSpPr/>
          <p:nvPr/>
        </p:nvGrpSpPr>
        <p:grpSpPr>
          <a:xfrm>
            <a:off x="6014875" y="891025"/>
            <a:ext cx="2843450" cy="2235088"/>
            <a:chOff x="6014875" y="891025"/>
            <a:chExt cx="2843450" cy="2235088"/>
          </a:xfrm>
        </p:grpSpPr>
        <p:pic>
          <p:nvPicPr>
            <p:cNvPr id="1224" name="Google Shape;1224;p87"/>
            <p:cNvPicPr preferRelativeResize="0"/>
            <p:nvPr/>
          </p:nvPicPr>
          <p:blipFill rotWithShape="1">
            <a:blip r:embed="rId6">
              <a:alphaModFix/>
            </a:blip>
            <a:srcRect b="0" l="0" r="70143" t="56280"/>
            <a:stretch/>
          </p:blipFill>
          <p:spPr>
            <a:xfrm>
              <a:off x="6014875" y="891025"/>
              <a:ext cx="2099174" cy="1494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5" name="Google Shape;1225;p87"/>
            <p:cNvSpPr txBox="1"/>
            <p:nvPr/>
          </p:nvSpPr>
          <p:spPr>
            <a:xfrm>
              <a:off x="6128169" y="1053338"/>
              <a:ext cx="19821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big does the base of the triangles need to be?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26" name="Google Shape;1226;p8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14051" y="1959250"/>
              <a:ext cx="603260" cy="86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87"/>
            <p:cNvSpPr txBox="1"/>
            <p:nvPr/>
          </p:nvSpPr>
          <p:spPr>
            <a:xfrm>
              <a:off x="7973025" y="2812613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2" name="Google Shape;1232;p88"/>
          <p:cNvCxnSpPr/>
          <p:nvPr/>
        </p:nvCxnSpPr>
        <p:spPr>
          <a:xfrm>
            <a:off x="4326623" y="2683065"/>
            <a:ext cx="1652700" cy="1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233" name="Google Shape;1233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057981">
            <a:off x="3275763" y="2716085"/>
            <a:ext cx="2785103" cy="2661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4" name="Google Shape;1234;p88"/>
          <p:cNvGrpSpPr/>
          <p:nvPr/>
        </p:nvGrpSpPr>
        <p:grpSpPr>
          <a:xfrm flipH="1" rot="10800000">
            <a:off x="4490205" y="2582798"/>
            <a:ext cx="1527368" cy="1602095"/>
            <a:chOff x="1937989" y="967413"/>
            <a:chExt cx="3362765" cy="3527290"/>
          </a:xfrm>
        </p:grpSpPr>
        <p:pic>
          <p:nvPicPr>
            <p:cNvPr id="1235" name="Google Shape;1235;p88"/>
            <p:cNvPicPr preferRelativeResize="0"/>
            <p:nvPr/>
          </p:nvPicPr>
          <p:blipFill rotWithShape="1">
            <a:blip r:embed="rId4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6" name="Google Shape;1236;p88"/>
            <p:cNvPicPr preferRelativeResize="0"/>
            <p:nvPr/>
          </p:nvPicPr>
          <p:blipFill rotWithShape="1">
            <a:blip r:embed="rId4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7" name="Google Shape;1237;p88"/>
            <p:cNvPicPr preferRelativeResize="0"/>
            <p:nvPr/>
          </p:nvPicPr>
          <p:blipFill rotWithShape="1">
            <a:blip r:embed="rId4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8" name="Google Shape;1238;p88"/>
          <p:cNvSpPr txBox="1"/>
          <p:nvPr>
            <p:ph idx="1" type="body"/>
          </p:nvPr>
        </p:nvSpPr>
        <p:spPr>
          <a:xfrm>
            <a:off x="324000" y="759300"/>
            <a:ext cx="39129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base length has extended, but the edges will stay at 7 cm.</a:t>
            </a:r>
            <a:endParaRPr b="1" sz="1800"/>
          </a:p>
        </p:txBody>
      </p:sp>
      <p:sp>
        <p:nvSpPr>
          <p:cNvPr id="1239" name="Google Shape;123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240" name="Google Shape;1240;p88"/>
          <p:cNvSpPr/>
          <p:nvPr/>
        </p:nvSpPr>
        <p:spPr>
          <a:xfrm flipH="1">
            <a:off x="4755971" y="1500225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8"/>
          <p:cNvSpPr/>
          <p:nvPr/>
        </p:nvSpPr>
        <p:spPr>
          <a:xfrm>
            <a:off x="3149421" y="1500225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2" name="Google Shape;1242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9">
            <a:off x="352489" y="4529706"/>
            <a:ext cx="2785099" cy="266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3" name="Google Shape;1243;p88"/>
          <p:cNvCxnSpPr/>
          <p:nvPr/>
        </p:nvCxnSpPr>
        <p:spPr>
          <a:xfrm>
            <a:off x="442248" y="4509600"/>
            <a:ext cx="122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44" name="Google Shape;1244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30" y="3645742"/>
            <a:ext cx="371550" cy="8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780" y="3653385"/>
            <a:ext cx="371550" cy="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88"/>
          <p:cNvSpPr txBox="1"/>
          <p:nvPr/>
        </p:nvSpPr>
        <p:spPr>
          <a:xfrm>
            <a:off x="781275" y="4509426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7" name="Google Shape;124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9">
            <a:off x="4236864" y="2708375"/>
            <a:ext cx="2785099" cy="26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5155" y="1830775"/>
            <a:ext cx="371550" cy="86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9" name="Google Shape;1249;p88"/>
          <p:cNvGrpSpPr/>
          <p:nvPr/>
        </p:nvGrpSpPr>
        <p:grpSpPr>
          <a:xfrm flipH="1">
            <a:off x="131648" y="2872821"/>
            <a:ext cx="920544" cy="1738864"/>
            <a:chOff x="4045431" y="1513250"/>
            <a:chExt cx="2005105" cy="3787550"/>
          </a:xfrm>
        </p:grpSpPr>
        <p:pic>
          <p:nvPicPr>
            <p:cNvPr id="1250" name="Google Shape;1250;p88"/>
            <p:cNvPicPr preferRelativeResize="0"/>
            <p:nvPr/>
          </p:nvPicPr>
          <p:blipFill rotWithShape="1">
            <a:blip r:embed="rId4">
              <a:alphaModFix/>
            </a:blip>
            <a:srcRect b="7544" l="11418" r="67020" t="29160"/>
            <a:stretch/>
          </p:blipFill>
          <p:spPr>
            <a:xfrm rot="-946096">
              <a:off x="4385717" y="2528744"/>
              <a:ext cx="1158240" cy="2664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1" name="Google Shape;1251;p88"/>
            <p:cNvPicPr preferRelativeResize="0"/>
            <p:nvPr/>
          </p:nvPicPr>
          <p:blipFill rotWithShape="1">
            <a:blip r:embed="rId4">
              <a:alphaModFix/>
            </a:blip>
            <a:srcRect b="9195" l="63130" r="21307" t="30824"/>
            <a:stretch/>
          </p:blipFill>
          <p:spPr>
            <a:xfrm rot="876952">
              <a:off x="4909437" y="2624675"/>
              <a:ext cx="836023" cy="252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2" name="Google Shape;1252;p88"/>
            <p:cNvPicPr preferRelativeResize="0"/>
            <p:nvPr/>
          </p:nvPicPr>
          <p:blipFill rotWithShape="1">
            <a:blip r:embed="rId4">
              <a:alphaModFix/>
            </a:blip>
            <a:srcRect b="60188" l="45056" r="46189" t="8784"/>
            <a:stretch/>
          </p:blipFill>
          <p:spPr>
            <a:xfrm>
              <a:off x="5016136" y="1513250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3" name="Google Shape;1253;p88"/>
          <p:cNvGrpSpPr/>
          <p:nvPr/>
        </p:nvGrpSpPr>
        <p:grpSpPr>
          <a:xfrm flipH="1">
            <a:off x="4273919" y="1223103"/>
            <a:ext cx="1527368" cy="1602095"/>
            <a:chOff x="1937989" y="967413"/>
            <a:chExt cx="3362765" cy="3527290"/>
          </a:xfrm>
        </p:grpSpPr>
        <p:pic>
          <p:nvPicPr>
            <p:cNvPr id="1254" name="Google Shape;1254;p88"/>
            <p:cNvPicPr preferRelativeResize="0"/>
            <p:nvPr/>
          </p:nvPicPr>
          <p:blipFill rotWithShape="1">
            <a:blip r:embed="rId4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5" name="Google Shape;1255;p88"/>
            <p:cNvPicPr preferRelativeResize="0"/>
            <p:nvPr/>
          </p:nvPicPr>
          <p:blipFill rotWithShape="1">
            <a:blip r:embed="rId4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6" name="Google Shape;1256;p88"/>
            <p:cNvPicPr preferRelativeResize="0"/>
            <p:nvPr/>
          </p:nvPicPr>
          <p:blipFill rotWithShape="1">
            <a:blip r:embed="rId4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7" name="Google Shape;1257;p88"/>
          <p:cNvGrpSpPr/>
          <p:nvPr/>
        </p:nvGrpSpPr>
        <p:grpSpPr>
          <a:xfrm>
            <a:off x="4500665" y="1222216"/>
            <a:ext cx="1527368" cy="1602095"/>
            <a:chOff x="1937989" y="967413"/>
            <a:chExt cx="3362765" cy="3527290"/>
          </a:xfrm>
        </p:grpSpPr>
        <p:pic>
          <p:nvPicPr>
            <p:cNvPr id="1258" name="Google Shape;1258;p88"/>
            <p:cNvPicPr preferRelativeResize="0"/>
            <p:nvPr/>
          </p:nvPicPr>
          <p:blipFill rotWithShape="1">
            <a:blip r:embed="rId4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88"/>
            <p:cNvPicPr preferRelativeResize="0"/>
            <p:nvPr/>
          </p:nvPicPr>
          <p:blipFill rotWithShape="1">
            <a:blip r:embed="rId4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88"/>
            <p:cNvPicPr preferRelativeResize="0"/>
            <p:nvPr/>
          </p:nvPicPr>
          <p:blipFill rotWithShape="1">
            <a:blip r:embed="rId4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1" name="Google Shape;1261;p88"/>
          <p:cNvGrpSpPr/>
          <p:nvPr/>
        </p:nvGrpSpPr>
        <p:grpSpPr>
          <a:xfrm flipH="1">
            <a:off x="391298" y="3046001"/>
            <a:ext cx="1527368" cy="1602095"/>
            <a:chOff x="1937989" y="967413"/>
            <a:chExt cx="3362765" cy="3527290"/>
          </a:xfrm>
        </p:grpSpPr>
        <p:pic>
          <p:nvPicPr>
            <p:cNvPr id="1262" name="Google Shape;1262;p88"/>
            <p:cNvPicPr preferRelativeResize="0"/>
            <p:nvPr/>
          </p:nvPicPr>
          <p:blipFill rotWithShape="1">
            <a:blip r:embed="rId4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3" name="Google Shape;1263;p88"/>
            <p:cNvPicPr preferRelativeResize="0"/>
            <p:nvPr/>
          </p:nvPicPr>
          <p:blipFill rotWithShape="1">
            <a:blip r:embed="rId4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4" name="Google Shape;1264;p88"/>
            <p:cNvPicPr preferRelativeResize="0"/>
            <p:nvPr/>
          </p:nvPicPr>
          <p:blipFill rotWithShape="1">
            <a:blip r:embed="rId4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5" name="Google Shape;1265;p88"/>
          <p:cNvGrpSpPr/>
          <p:nvPr/>
        </p:nvGrpSpPr>
        <p:grpSpPr>
          <a:xfrm>
            <a:off x="5112432" y="1743936"/>
            <a:ext cx="123900" cy="123900"/>
            <a:chOff x="630000" y="1882500"/>
            <a:chExt cx="123900" cy="123900"/>
          </a:xfrm>
        </p:grpSpPr>
        <p:cxnSp>
          <p:nvCxnSpPr>
            <p:cNvPr id="1266" name="Google Shape;1266;p88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88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68" name="Google Shape;126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777975">
            <a:off x="3780400" y="1877483"/>
            <a:ext cx="2785099" cy="266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6129" y="1835260"/>
            <a:ext cx="371550" cy="86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0" name="Google Shape;1270;p88"/>
          <p:cNvCxnSpPr/>
          <p:nvPr/>
        </p:nvCxnSpPr>
        <p:spPr>
          <a:xfrm flipH="1" rot="10800000">
            <a:off x="4333875" y="1800150"/>
            <a:ext cx="838200" cy="88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1" name="Google Shape;1271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8787" y="962117"/>
            <a:ext cx="371550" cy="8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880026">
            <a:off x="4042453" y="2165832"/>
            <a:ext cx="2785103" cy="266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3" name="Google Shape;1273;p88"/>
          <p:cNvCxnSpPr/>
          <p:nvPr/>
        </p:nvCxnSpPr>
        <p:spPr>
          <a:xfrm rot="10800000">
            <a:off x="5172125" y="1800000"/>
            <a:ext cx="806400" cy="90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4" name="Google Shape;1274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0500" y="1838417"/>
            <a:ext cx="371550" cy="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8"/>
          <p:cNvSpPr txBox="1"/>
          <p:nvPr/>
        </p:nvSpPr>
        <p:spPr>
          <a:xfrm>
            <a:off x="5551750" y="1906978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8"/>
          <p:cNvSpPr txBox="1"/>
          <p:nvPr/>
        </p:nvSpPr>
        <p:spPr>
          <a:xfrm>
            <a:off x="4174875" y="1813366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7" name="Google Shape;1277;p88"/>
          <p:cNvCxnSpPr/>
          <p:nvPr/>
        </p:nvCxnSpPr>
        <p:spPr>
          <a:xfrm>
            <a:off x="4844961" y="2064763"/>
            <a:ext cx="85800" cy="8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88"/>
          <p:cNvCxnSpPr/>
          <p:nvPr/>
        </p:nvCxnSpPr>
        <p:spPr>
          <a:xfrm flipH="1">
            <a:off x="5413913" y="2073625"/>
            <a:ext cx="81300" cy="66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9" name="Google Shape;1279;p88"/>
          <p:cNvSpPr/>
          <p:nvPr/>
        </p:nvSpPr>
        <p:spPr>
          <a:xfrm rot="10800000">
            <a:off x="4749621" y="1429030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8"/>
          <p:cNvSpPr/>
          <p:nvPr/>
        </p:nvSpPr>
        <p:spPr>
          <a:xfrm flipH="1" rot="10800000">
            <a:off x="3149421" y="1429030"/>
            <a:ext cx="2440800" cy="2440800"/>
          </a:xfrm>
          <a:prstGeom prst="arc">
            <a:avLst>
              <a:gd fmla="val 16200000" name="adj1"/>
              <a:gd fmla="val 19059034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1" name="Google Shape;1281;p88"/>
          <p:cNvGrpSpPr/>
          <p:nvPr/>
        </p:nvGrpSpPr>
        <p:grpSpPr>
          <a:xfrm flipH="1" rot="10800000">
            <a:off x="5110995" y="3508518"/>
            <a:ext cx="123900" cy="123900"/>
            <a:chOff x="630000" y="1882500"/>
            <a:chExt cx="123900" cy="123900"/>
          </a:xfrm>
        </p:grpSpPr>
        <p:cxnSp>
          <p:nvCxnSpPr>
            <p:cNvPr id="1282" name="Google Shape;1282;p88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3" name="Google Shape;1283;p88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84" name="Google Shape;128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7962025">
            <a:off x="3843077" y="3156315"/>
            <a:ext cx="2785102" cy="26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304" y="1827895"/>
            <a:ext cx="371550" cy="86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6" name="Google Shape;1286;p88"/>
          <p:cNvCxnSpPr/>
          <p:nvPr/>
        </p:nvCxnSpPr>
        <p:spPr>
          <a:xfrm>
            <a:off x="4333875" y="2682875"/>
            <a:ext cx="844800" cy="89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88"/>
          <p:cNvCxnSpPr/>
          <p:nvPr/>
        </p:nvCxnSpPr>
        <p:spPr>
          <a:xfrm flipH="1">
            <a:off x="5172025" y="2698750"/>
            <a:ext cx="793800" cy="87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8" name="Google Shape;1288;p88"/>
          <p:cNvPicPr preferRelativeResize="0"/>
          <p:nvPr/>
        </p:nvPicPr>
        <p:blipFill rotWithShape="1">
          <a:blip r:embed="rId5">
            <a:alphaModFix/>
          </a:blip>
          <a:srcRect b="-2920" l="0" r="0" t="2920"/>
          <a:stretch/>
        </p:blipFill>
        <p:spPr>
          <a:xfrm>
            <a:off x="5971631" y="1860638"/>
            <a:ext cx="371550" cy="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88"/>
          <p:cNvSpPr txBox="1"/>
          <p:nvPr/>
        </p:nvSpPr>
        <p:spPr>
          <a:xfrm flipH="1">
            <a:off x="5668375" y="3054026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8"/>
          <p:cNvSpPr txBox="1"/>
          <p:nvPr/>
        </p:nvSpPr>
        <p:spPr>
          <a:xfrm flipH="1">
            <a:off x="4082800" y="3058539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1" name="Google Shape;1291;p88"/>
          <p:cNvCxnSpPr/>
          <p:nvPr/>
        </p:nvCxnSpPr>
        <p:spPr>
          <a:xfrm flipH="1" rot="10800000">
            <a:off x="4711261" y="3110417"/>
            <a:ext cx="82500" cy="76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88"/>
          <p:cNvCxnSpPr/>
          <p:nvPr/>
        </p:nvCxnSpPr>
        <p:spPr>
          <a:xfrm rot="10800000">
            <a:off x="5514925" y="3111375"/>
            <a:ext cx="90300" cy="8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3" name="Google Shape;1293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8787" y="2705763"/>
            <a:ext cx="371550" cy="86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4" name="Google Shape;1294;p88"/>
          <p:cNvGrpSpPr/>
          <p:nvPr/>
        </p:nvGrpSpPr>
        <p:grpSpPr>
          <a:xfrm rot="10800000">
            <a:off x="4276618" y="2548765"/>
            <a:ext cx="1527368" cy="1602095"/>
            <a:chOff x="1937989" y="967413"/>
            <a:chExt cx="3362765" cy="3527290"/>
          </a:xfrm>
        </p:grpSpPr>
        <p:pic>
          <p:nvPicPr>
            <p:cNvPr id="1295" name="Google Shape;1295;p88"/>
            <p:cNvPicPr preferRelativeResize="0"/>
            <p:nvPr/>
          </p:nvPicPr>
          <p:blipFill rotWithShape="1">
            <a:blip r:embed="rId4">
              <a:alphaModFix/>
            </a:blip>
            <a:srcRect b="7544" l="11418" r="67020" t="29160"/>
            <a:stretch/>
          </p:blipFill>
          <p:spPr>
            <a:xfrm rot="1287039">
              <a:off x="2385137" y="1710387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6" name="Google Shape;1296;p88"/>
            <p:cNvPicPr preferRelativeResize="0"/>
            <p:nvPr/>
          </p:nvPicPr>
          <p:blipFill rotWithShape="1">
            <a:blip r:embed="rId4">
              <a:alphaModFix/>
            </a:blip>
            <a:srcRect b="9195" l="63130" r="21307" t="30824"/>
            <a:stretch/>
          </p:blipFill>
          <p:spPr>
            <a:xfrm rot="-802406">
              <a:off x="4092300" y="1704123"/>
              <a:ext cx="906107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7" name="Google Shape;1297;p88"/>
            <p:cNvPicPr preferRelativeResize="0"/>
            <p:nvPr/>
          </p:nvPicPr>
          <p:blipFill rotWithShape="1">
            <a:blip r:embed="rId4">
              <a:alphaModFix/>
            </a:blip>
            <a:srcRect b="60188" l="45056" r="46189" t="8784"/>
            <a:stretch/>
          </p:blipFill>
          <p:spPr>
            <a:xfrm>
              <a:off x="3741320" y="967413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8" name="Google Shape;1298;p88"/>
          <p:cNvGrpSpPr/>
          <p:nvPr/>
        </p:nvGrpSpPr>
        <p:grpSpPr>
          <a:xfrm>
            <a:off x="6622025" y="1081550"/>
            <a:ext cx="2236300" cy="2044563"/>
            <a:chOff x="6622025" y="1081550"/>
            <a:chExt cx="2236300" cy="2044563"/>
          </a:xfrm>
        </p:grpSpPr>
        <p:pic>
          <p:nvPicPr>
            <p:cNvPr id="1299" name="Google Shape;1299;p8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8114051" y="1959250"/>
              <a:ext cx="603260" cy="86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88"/>
            <p:cNvSpPr txBox="1"/>
            <p:nvPr/>
          </p:nvSpPr>
          <p:spPr>
            <a:xfrm>
              <a:off x="7973025" y="2812613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01" name="Google Shape;1301;p88"/>
            <p:cNvGrpSpPr/>
            <p:nvPr/>
          </p:nvGrpSpPr>
          <p:grpSpPr>
            <a:xfrm>
              <a:off x="6622025" y="1081550"/>
              <a:ext cx="1351076" cy="1151799"/>
              <a:chOff x="6622025" y="1081550"/>
              <a:chExt cx="1351076" cy="1151799"/>
            </a:xfrm>
          </p:grpSpPr>
          <p:pic>
            <p:nvPicPr>
              <p:cNvPr id="1302" name="Google Shape;1302;p8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70143" t="56280"/>
              <a:stretch/>
            </p:blipFill>
            <p:spPr>
              <a:xfrm>
                <a:off x="6622025" y="1081550"/>
                <a:ext cx="1351076" cy="11517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3" name="Google Shape;1303;p88"/>
              <p:cNvSpPr txBox="1"/>
              <p:nvPr/>
            </p:nvSpPr>
            <p:spPr>
              <a:xfrm>
                <a:off x="6722400" y="1198000"/>
                <a:ext cx="1250700" cy="9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91425" wrap="square" tIns="180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It doesn’t seem to matter! 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04" name="Google Shape;1304;p88"/>
          <p:cNvSpPr txBox="1"/>
          <p:nvPr/>
        </p:nvSpPr>
        <p:spPr>
          <a:xfrm>
            <a:off x="5178675" y="4407150"/>
            <a:ext cx="328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8"/>
              </a:rPr>
              <a:t>Changing the base length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9"/>
          <p:cNvSpPr txBox="1"/>
          <p:nvPr>
            <p:ph idx="1" type="subTitle"/>
          </p:nvPr>
        </p:nvSpPr>
        <p:spPr>
          <a:xfrm>
            <a:off x="324000" y="1080000"/>
            <a:ext cx="8181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is only one unique </a:t>
            </a:r>
            <a:r>
              <a:rPr b="1" lang="en-GB"/>
              <a:t>rhombus</a:t>
            </a:r>
            <a:r>
              <a:rPr lang="en-GB"/>
              <a:t> with edge length 7 cm.</a:t>
            </a:r>
            <a:endParaRPr/>
          </a:p>
        </p:txBody>
      </p:sp>
      <p:sp>
        <p:nvSpPr>
          <p:cNvPr id="1310" name="Google Shape;131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311" name="Google Shape;1311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Opposite angles are equal in a </a:t>
            </a:r>
            <a:r>
              <a:rPr b="1" lang="en-GB" sz="1800"/>
              <a:t>rhombus</a:t>
            </a:r>
            <a:r>
              <a:rPr lang="en-GB" sz="1800"/>
              <a:t>, but they don’t have to be a fixed size.</a:t>
            </a:r>
            <a:endParaRPr sz="1800"/>
          </a:p>
        </p:txBody>
      </p:sp>
      <p:pic>
        <p:nvPicPr>
          <p:cNvPr id="1312" name="Google Shape;131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89"/>
          <p:cNvSpPr txBox="1"/>
          <p:nvPr>
            <p:ph idx="2" type="subTitle"/>
          </p:nvPr>
        </p:nvSpPr>
        <p:spPr>
          <a:xfrm>
            <a:off x="980575" y="3196144"/>
            <a:ext cx="7452600" cy="687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edge length is fixed, so is the size of the shape but that is only true for squares.</a:t>
            </a:r>
            <a:endParaRPr sz="1800"/>
          </a:p>
        </p:txBody>
      </p:sp>
      <p:pic>
        <p:nvPicPr>
          <p:cNvPr id="1314" name="Google Shape;13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1233" y="42734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89"/>
          <p:cNvSpPr txBox="1"/>
          <p:nvPr/>
        </p:nvSpPr>
        <p:spPr>
          <a:xfrm>
            <a:off x="2825475" y="4320000"/>
            <a:ext cx="328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Changing the base length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oogle Shape;1320;p90"/>
          <p:cNvGrpSpPr/>
          <p:nvPr/>
        </p:nvGrpSpPr>
        <p:grpSpPr>
          <a:xfrm flipH="1">
            <a:off x="391093" y="2969801"/>
            <a:ext cx="1345646" cy="1656131"/>
            <a:chOff x="2338531" y="799646"/>
            <a:chExt cx="2962673" cy="3646259"/>
          </a:xfrm>
        </p:grpSpPr>
        <p:pic>
          <p:nvPicPr>
            <p:cNvPr id="1321" name="Google Shape;1321;p90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2" name="Google Shape;1322;p90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3" name="Google Shape;1323;p90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4" name="Google Shape;1324;p90"/>
          <p:cNvGrpSpPr/>
          <p:nvPr/>
        </p:nvGrpSpPr>
        <p:grpSpPr>
          <a:xfrm flipH="1">
            <a:off x="131648" y="2872821"/>
            <a:ext cx="920544" cy="1738864"/>
            <a:chOff x="4045431" y="1513250"/>
            <a:chExt cx="2005105" cy="3787550"/>
          </a:xfrm>
        </p:grpSpPr>
        <p:pic>
          <p:nvPicPr>
            <p:cNvPr id="1325" name="Google Shape;1325;p90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-946096">
              <a:off x="4385717" y="2528744"/>
              <a:ext cx="1158240" cy="2664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6" name="Google Shape;1326;p90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876952">
              <a:off x="4909437" y="2624675"/>
              <a:ext cx="836023" cy="252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7" name="Google Shape;1327;p90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5016136" y="1513250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8" name="Google Shape;1328;p90"/>
          <p:cNvSpPr/>
          <p:nvPr/>
        </p:nvSpPr>
        <p:spPr>
          <a:xfrm flipH="1">
            <a:off x="5193575" y="2587075"/>
            <a:ext cx="2095200" cy="2095200"/>
          </a:xfrm>
          <a:prstGeom prst="arc">
            <a:avLst>
              <a:gd fmla="val 15867854" name="adj1"/>
              <a:gd fmla="val 5055787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9" name="Google Shape;1329;p90"/>
          <p:cNvGrpSpPr/>
          <p:nvPr/>
        </p:nvGrpSpPr>
        <p:grpSpPr>
          <a:xfrm flipH="1" rot="-5096212">
            <a:off x="4903953" y="2120887"/>
            <a:ext cx="1346159" cy="1656762"/>
            <a:chOff x="2338531" y="799646"/>
            <a:chExt cx="2962673" cy="3646259"/>
          </a:xfrm>
        </p:grpSpPr>
        <p:pic>
          <p:nvPicPr>
            <p:cNvPr id="1330" name="Google Shape;1330;p90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1" name="Google Shape;1331;p90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2" name="Google Shape;1332;p90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3" name="Google Shape;1333;p90"/>
          <p:cNvSpPr/>
          <p:nvPr/>
        </p:nvSpPr>
        <p:spPr>
          <a:xfrm>
            <a:off x="3669575" y="2206075"/>
            <a:ext cx="2095200" cy="2095200"/>
          </a:xfrm>
          <a:prstGeom prst="arc">
            <a:avLst>
              <a:gd fmla="val 18155901" name="adj1"/>
              <a:gd fmla="val 5055787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4" name="Google Shape;1334;p90"/>
          <p:cNvGrpSpPr/>
          <p:nvPr/>
        </p:nvGrpSpPr>
        <p:grpSpPr>
          <a:xfrm flipH="1" rot="5128883">
            <a:off x="4818925" y="2988941"/>
            <a:ext cx="1346276" cy="1656905"/>
            <a:chOff x="2338531" y="799646"/>
            <a:chExt cx="2962673" cy="3646259"/>
          </a:xfrm>
        </p:grpSpPr>
        <p:pic>
          <p:nvPicPr>
            <p:cNvPr id="1335" name="Google Shape;1335;p90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6" name="Google Shape;1336;p90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7" name="Google Shape;1337;p90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8" name="Google Shape;1338;p90"/>
          <p:cNvGrpSpPr/>
          <p:nvPr/>
        </p:nvGrpSpPr>
        <p:grpSpPr>
          <a:xfrm flipH="1" rot="-3316041">
            <a:off x="3806147" y="1501520"/>
            <a:ext cx="1345753" cy="1656262"/>
            <a:chOff x="2338531" y="799646"/>
            <a:chExt cx="2962673" cy="3646259"/>
          </a:xfrm>
        </p:grpSpPr>
        <p:pic>
          <p:nvPicPr>
            <p:cNvPr id="1339" name="Google Shape;1339;p90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0" name="Google Shape;1340;p90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1" name="Google Shape;1341;p90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2" name="Google Shape;1342;p90"/>
          <p:cNvSpPr txBox="1"/>
          <p:nvPr>
            <p:ph idx="1" type="body"/>
          </p:nvPr>
        </p:nvSpPr>
        <p:spPr>
          <a:xfrm>
            <a:off x="324000" y="733800"/>
            <a:ext cx="83610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 we need the base of the triangle to construct a </a:t>
            </a:r>
            <a:r>
              <a:rPr b="1" lang="en-GB" sz="1800"/>
              <a:t>rhombus</a:t>
            </a:r>
            <a:r>
              <a:rPr lang="en-GB" sz="1800"/>
              <a:t>?</a:t>
            </a:r>
            <a:endParaRPr b="1" sz="1800"/>
          </a:p>
        </p:txBody>
      </p:sp>
      <p:sp>
        <p:nvSpPr>
          <p:cNvPr id="1343" name="Google Shape;134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344" name="Google Shape;1344;p90"/>
          <p:cNvSpPr txBox="1"/>
          <p:nvPr/>
        </p:nvSpPr>
        <p:spPr>
          <a:xfrm>
            <a:off x="324000" y="1101800"/>
            <a:ext cx="816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it is the ends of the base edge that are important as these are opposite vertices in the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rhombus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45" name="Google Shape;1345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9">
            <a:off x="352489" y="4529706"/>
            <a:ext cx="2785099" cy="266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6" name="Google Shape;1346;p90"/>
          <p:cNvCxnSpPr/>
          <p:nvPr/>
        </p:nvCxnSpPr>
        <p:spPr>
          <a:xfrm>
            <a:off x="442248" y="4509600"/>
            <a:ext cx="104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47" name="Google Shape;1347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7599" y="3650504"/>
            <a:ext cx="371550" cy="8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780" y="3653385"/>
            <a:ext cx="371550" cy="86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9" name="Google Shape;1349;p90"/>
          <p:cNvGrpSpPr/>
          <p:nvPr/>
        </p:nvGrpSpPr>
        <p:grpSpPr>
          <a:xfrm>
            <a:off x="4655232" y="3191736"/>
            <a:ext cx="123900" cy="123900"/>
            <a:chOff x="630000" y="1882500"/>
            <a:chExt cx="123900" cy="123900"/>
          </a:xfrm>
        </p:grpSpPr>
        <p:cxnSp>
          <p:nvCxnSpPr>
            <p:cNvPr id="1350" name="Google Shape;1350;p90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1" name="Google Shape;1351;p90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2" name="Google Shape;1352;p90"/>
          <p:cNvGrpSpPr/>
          <p:nvPr/>
        </p:nvGrpSpPr>
        <p:grpSpPr>
          <a:xfrm>
            <a:off x="6179232" y="3572736"/>
            <a:ext cx="123900" cy="123900"/>
            <a:chOff x="630000" y="1882500"/>
            <a:chExt cx="123900" cy="123900"/>
          </a:xfrm>
        </p:grpSpPr>
        <p:cxnSp>
          <p:nvCxnSpPr>
            <p:cNvPr id="1353" name="Google Shape;1353;p90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4" name="Google Shape;1354;p90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5" name="Google Shape;1355;p90"/>
          <p:cNvGrpSpPr/>
          <p:nvPr/>
        </p:nvGrpSpPr>
        <p:grpSpPr>
          <a:xfrm>
            <a:off x="5590807" y="2706361"/>
            <a:ext cx="123900" cy="123900"/>
            <a:chOff x="630000" y="1882500"/>
            <a:chExt cx="123900" cy="123900"/>
          </a:xfrm>
        </p:grpSpPr>
        <p:cxnSp>
          <p:nvCxnSpPr>
            <p:cNvPr id="1356" name="Google Shape;1356;p90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90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8" name="Google Shape;1358;p90"/>
          <p:cNvGrpSpPr/>
          <p:nvPr/>
        </p:nvGrpSpPr>
        <p:grpSpPr>
          <a:xfrm>
            <a:off x="5252532" y="4055336"/>
            <a:ext cx="123900" cy="123900"/>
            <a:chOff x="630000" y="1882500"/>
            <a:chExt cx="123900" cy="123900"/>
          </a:xfrm>
        </p:grpSpPr>
        <p:cxnSp>
          <p:nvCxnSpPr>
            <p:cNvPr id="1359" name="Google Shape;1359;p90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90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61" name="Google Shape;1361;p90"/>
          <p:cNvCxnSpPr/>
          <p:nvPr/>
        </p:nvCxnSpPr>
        <p:spPr>
          <a:xfrm flipH="1" rot="10800000">
            <a:off x="4725000" y="2775000"/>
            <a:ext cx="937500" cy="48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90"/>
          <p:cNvCxnSpPr/>
          <p:nvPr/>
        </p:nvCxnSpPr>
        <p:spPr>
          <a:xfrm>
            <a:off x="5654675" y="2774950"/>
            <a:ext cx="587400" cy="863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90"/>
          <p:cNvCxnSpPr/>
          <p:nvPr/>
        </p:nvCxnSpPr>
        <p:spPr>
          <a:xfrm>
            <a:off x="4724400" y="3260725"/>
            <a:ext cx="593700" cy="863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90"/>
          <p:cNvCxnSpPr/>
          <p:nvPr/>
        </p:nvCxnSpPr>
        <p:spPr>
          <a:xfrm flipH="1" rot="10800000">
            <a:off x="5318125" y="3638450"/>
            <a:ext cx="924000" cy="48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5" name="Google Shape;1365;p90"/>
          <p:cNvGrpSpPr/>
          <p:nvPr/>
        </p:nvGrpSpPr>
        <p:grpSpPr>
          <a:xfrm flipH="1" rot="5829378">
            <a:off x="6207750" y="3513700"/>
            <a:ext cx="1346059" cy="1656639"/>
            <a:chOff x="2338531" y="799646"/>
            <a:chExt cx="2962673" cy="3646259"/>
          </a:xfrm>
        </p:grpSpPr>
        <p:pic>
          <p:nvPicPr>
            <p:cNvPr id="1366" name="Google Shape;1366;p90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7" name="Google Shape;1367;p90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8" name="Google Shape;1368;p90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9" name="Google Shape;1369;p90"/>
          <p:cNvSpPr txBox="1"/>
          <p:nvPr/>
        </p:nvSpPr>
        <p:spPr>
          <a:xfrm>
            <a:off x="705075" y="4433226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90"/>
          <p:cNvSpPr txBox="1"/>
          <p:nvPr/>
        </p:nvSpPr>
        <p:spPr>
          <a:xfrm>
            <a:off x="5907300" y="2830239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1" name="Google Shape;1371;p90"/>
          <p:cNvCxnSpPr/>
          <p:nvPr/>
        </p:nvCxnSpPr>
        <p:spPr>
          <a:xfrm flipH="1">
            <a:off x="4946106" y="3657600"/>
            <a:ext cx="159300" cy="8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90"/>
          <p:cNvSpPr txBox="1"/>
          <p:nvPr/>
        </p:nvSpPr>
        <p:spPr>
          <a:xfrm>
            <a:off x="4692475" y="2587064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3" name="Google Shape;1373;p90"/>
          <p:cNvCxnSpPr/>
          <p:nvPr/>
        </p:nvCxnSpPr>
        <p:spPr>
          <a:xfrm>
            <a:off x="5745963" y="3805238"/>
            <a:ext cx="99900" cy="14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4" name="Google Shape;1374;p90"/>
          <p:cNvSpPr txBox="1"/>
          <p:nvPr/>
        </p:nvSpPr>
        <p:spPr>
          <a:xfrm>
            <a:off x="5714700" y="3856189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5" name="Google Shape;1375;p90"/>
          <p:cNvCxnSpPr/>
          <p:nvPr/>
        </p:nvCxnSpPr>
        <p:spPr>
          <a:xfrm flipH="1" rot="10800000">
            <a:off x="5845975" y="3119419"/>
            <a:ext cx="147600" cy="7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90"/>
          <p:cNvSpPr txBox="1"/>
          <p:nvPr/>
        </p:nvSpPr>
        <p:spPr>
          <a:xfrm>
            <a:off x="4298900" y="3498239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7" name="Google Shape;1377;p90"/>
          <p:cNvCxnSpPr/>
          <p:nvPr/>
        </p:nvCxnSpPr>
        <p:spPr>
          <a:xfrm>
            <a:off x="5145000" y="2944406"/>
            <a:ext cx="91500" cy="14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90"/>
          <p:cNvSpPr txBox="1"/>
          <p:nvPr/>
        </p:nvSpPr>
        <p:spPr>
          <a:xfrm>
            <a:off x="323500" y="1854950"/>
            <a:ext cx="284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with edges of 6 cm.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91"/>
          <p:cNvSpPr txBox="1"/>
          <p:nvPr>
            <p:ph idx="1" type="body"/>
          </p:nvPr>
        </p:nvSpPr>
        <p:spPr>
          <a:xfrm>
            <a:off x="324000" y="733800"/>
            <a:ext cx="83610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has drawn two edges of a </a:t>
            </a:r>
            <a:r>
              <a:rPr b="1" lang="en-GB" sz="1800"/>
              <a:t>rhombus </a:t>
            </a:r>
            <a:r>
              <a:rPr lang="en-GB" sz="1800"/>
              <a:t>ABCD. </a:t>
            </a:r>
            <a:br>
              <a:rPr lang="en-GB" sz="1800"/>
            </a:br>
            <a:r>
              <a:rPr lang="en-GB" sz="1800"/>
              <a:t>He has challenged Sofia to construct the rest of it.</a:t>
            </a:r>
            <a:endParaRPr sz="1800"/>
          </a:p>
        </p:txBody>
      </p:sp>
      <p:sp>
        <p:nvSpPr>
          <p:cNvPr id="1384" name="Google Shape;138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385" name="Google Shape;138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1102" y="1430288"/>
            <a:ext cx="593700" cy="684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250" y="961375"/>
            <a:ext cx="593699" cy="65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9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 rot="10800000">
            <a:off x="5291200" y="1353475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91"/>
          <p:cNvSpPr txBox="1"/>
          <p:nvPr/>
        </p:nvSpPr>
        <p:spPr>
          <a:xfrm>
            <a:off x="5352130" y="1657369"/>
            <a:ext cx="2378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know that B is the centre of the circle,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A and C are on the circumference.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9" name="Google Shape;1389;p91"/>
          <p:cNvCxnSpPr/>
          <p:nvPr/>
        </p:nvCxnSpPr>
        <p:spPr>
          <a:xfrm flipH="1" rot="10800000">
            <a:off x="1840725" y="2228150"/>
            <a:ext cx="745200" cy="75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91"/>
          <p:cNvSpPr txBox="1"/>
          <p:nvPr/>
        </p:nvSpPr>
        <p:spPr>
          <a:xfrm>
            <a:off x="2619225" y="1912850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91"/>
          <p:cNvSpPr txBox="1"/>
          <p:nvPr/>
        </p:nvSpPr>
        <p:spPr>
          <a:xfrm>
            <a:off x="1553400" y="2810663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91"/>
          <p:cNvSpPr txBox="1"/>
          <p:nvPr/>
        </p:nvSpPr>
        <p:spPr>
          <a:xfrm>
            <a:off x="2651975" y="3565188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3" name="Google Shape;1393;p91"/>
          <p:cNvCxnSpPr/>
          <p:nvPr/>
        </p:nvCxnSpPr>
        <p:spPr>
          <a:xfrm flipH="1" rot="-6000719">
            <a:off x="1907058" y="2893337"/>
            <a:ext cx="745452" cy="75581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92"/>
          <p:cNvGrpSpPr/>
          <p:nvPr/>
        </p:nvGrpSpPr>
        <p:grpSpPr>
          <a:xfrm flipH="1" rot="-2700000">
            <a:off x="1104320" y="1193176"/>
            <a:ext cx="1345781" cy="1656296"/>
            <a:chOff x="2338531" y="799646"/>
            <a:chExt cx="2962673" cy="3646259"/>
          </a:xfrm>
        </p:grpSpPr>
        <p:pic>
          <p:nvPicPr>
            <p:cNvPr id="1399" name="Google Shape;1399;p92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92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1" name="Google Shape;1401;p92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2" name="Google Shape;1402;p92"/>
          <p:cNvSpPr txBox="1"/>
          <p:nvPr>
            <p:ph idx="1" type="body"/>
          </p:nvPr>
        </p:nvSpPr>
        <p:spPr>
          <a:xfrm>
            <a:off x="324000" y="733800"/>
            <a:ext cx="83610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has drawn two edges of a </a:t>
            </a:r>
            <a:r>
              <a:rPr b="1" lang="en-GB" sz="1800"/>
              <a:t>rhombus </a:t>
            </a:r>
            <a:r>
              <a:rPr lang="en-GB" sz="1800"/>
              <a:t>ABCD. </a:t>
            </a:r>
            <a:br>
              <a:rPr lang="en-GB" sz="1800"/>
            </a:br>
            <a:r>
              <a:rPr lang="en-GB" sz="1800"/>
              <a:t>He has challenged Sofia to construct the rest of it.</a:t>
            </a:r>
            <a:endParaRPr sz="1800"/>
          </a:p>
        </p:txBody>
      </p:sp>
      <p:sp>
        <p:nvSpPr>
          <p:cNvPr id="1403" name="Google Shape;140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404" name="Google Shape;140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1102" y="1430288"/>
            <a:ext cx="593700" cy="684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3250" y="961375"/>
            <a:ext cx="593699" cy="6586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6" name="Google Shape;1406;p92"/>
          <p:cNvCxnSpPr/>
          <p:nvPr/>
        </p:nvCxnSpPr>
        <p:spPr>
          <a:xfrm flipH="1" rot="10800000">
            <a:off x="1840725" y="2228150"/>
            <a:ext cx="745200" cy="75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92"/>
          <p:cNvSpPr txBox="1"/>
          <p:nvPr/>
        </p:nvSpPr>
        <p:spPr>
          <a:xfrm>
            <a:off x="2619225" y="1912850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2"/>
          <p:cNvSpPr txBox="1"/>
          <p:nvPr/>
        </p:nvSpPr>
        <p:spPr>
          <a:xfrm>
            <a:off x="1553400" y="2810663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2"/>
          <p:cNvSpPr txBox="1"/>
          <p:nvPr/>
        </p:nvSpPr>
        <p:spPr>
          <a:xfrm>
            <a:off x="2651975" y="3565188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0" name="Google Shape;1410;p9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 rot="10800000">
            <a:off x="5291200" y="1170663"/>
            <a:ext cx="2662052" cy="24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2"/>
          <p:cNvSpPr txBox="1"/>
          <p:nvPr/>
        </p:nvSpPr>
        <p:spPr>
          <a:xfrm>
            <a:off x="5352130" y="1657369"/>
            <a:ext cx="2378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means the length of the radius BA is the edge length of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rhombus.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can set my pair of compasses to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2" name="Google Shape;1412;p92"/>
          <p:cNvGrpSpPr/>
          <p:nvPr/>
        </p:nvGrpSpPr>
        <p:grpSpPr>
          <a:xfrm flipH="1" rot="-2527304">
            <a:off x="971588" y="1425039"/>
            <a:ext cx="920478" cy="1738740"/>
            <a:chOff x="4045431" y="1513250"/>
            <a:chExt cx="2005105" cy="3787550"/>
          </a:xfrm>
        </p:grpSpPr>
        <p:pic>
          <p:nvPicPr>
            <p:cNvPr id="1413" name="Google Shape;1413;p92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-946096">
              <a:off x="4385717" y="2528744"/>
              <a:ext cx="1158240" cy="2664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4" name="Google Shape;1414;p92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876952">
              <a:off x="4909437" y="2624675"/>
              <a:ext cx="836023" cy="252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5" name="Google Shape;1415;p92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5016136" y="1513250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16" name="Google Shape;1416;p92"/>
          <p:cNvCxnSpPr/>
          <p:nvPr/>
        </p:nvCxnSpPr>
        <p:spPr>
          <a:xfrm flipH="1" rot="-6000719">
            <a:off x="1907058" y="2893337"/>
            <a:ext cx="745452" cy="75581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93"/>
          <p:cNvSpPr/>
          <p:nvPr/>
        </p:nvSpPr>
        <p:spPr>
          <a:xfrm>
            <a:off x="1643853" y="2498227"/>
            <a:ext cx="2124000" cy="2124000"/>
          </a:xfrm>
          <a:prstGeom prst="arc">
            <a:avLst>
              <a:gd fmla="val 17899934" name="adj1"/>
              <a:gd fmla="val 1132530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3"/>
          <p:cNvSpPr/>
          <p:nvPr/>
        </p:nvSpPr>
        <p:spPr>
          <a:xfrm>
            <a:off x="1519400" y="1173100"/>
            <a:ext cx="2124000" cy="2124000"/>
          </a:xfrm>
          <a:prstGeom prst="arc">
            <a:avLst>
              <a:gd fmla="val 20726393" name="adj1"/>
              <a:gd fmla="val 3162130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3" name="Google Shape;1423;p93"/>
          <p:cNvGrpSpPr/>
          <p:nvPr/>
        </p:nvGrpSpPr>
        <p:grpSpPr>
          <a:xfrm flipH="1" rot="3205363">
            <a:off x="2865170" y="1473486"/>
            <a:ext cx="1345842" cy="1656371"/>
            <a:chOff x="2338531" y="799646"/>
            <a:chExt cx="2962673" cy="3646259"/>
          </a:xfrm>
        </p:grpSpPr>
        <p:pic>
          <p:nvPicPr>
            <p:cNvPr id="1424" name="Google Shape;1424;p93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5" name="Google Shape;1425;p93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6" name="Google Shape;1426;p93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7" name="Google Shape;1427;p93"/>
          <p:cNvGrpSpPr/>
          <p:nvPr/>
        </p:nvGrpSpPr>
        <p:grpSpPr>
          <a:xfrm flipH="1" rot="1128115">
            <a:off x="2861787" y="2261103"/>
            <a:ext cx="1345761" cy="1656273"/>
            <a:chOff x="2338531" y="799646"/>
            <a:chExt cx="2962673" cy="3646259"/>
          </a:xfrm>
        </p:grpSpPr>
        <p:pic>
          <p:nvPicPr>
            <p:cNvPr id="1428" name="Google Shape;1428;p93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9" name="Google Shape;1429;p93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p93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1" name="Google Shape;1431;p93"/>
          <p:cNvGrpSpPr/>
          <p:nvPr/>
        </p:nvGrpSpPr>
        <p:grpSpPr>
          <a:xfrm flipH="1" rot="-854839">
            <a:off x="2333502" y="548268"/>
            <a:ext cx="1345861" cy="1656395"/>
            <a:chOff x="2338531" y="799646"/>
            <a:chExt cx="2962673" cy="3646259"/>
          </a:xfrm>
        </p:grpSpPr>
        <p:pic>
          <p:nvPicPr>
            <p:cNvPr id="1432" name="Google Shape;1432;p93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3" name="Google Shape;1433;p93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4" name="Google Shape;1434;p93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5" name="Google Shape;1435;p93"/>
          <p:cNvSpPr txBox="1"/>
          <p:nvPr>
            <p:ph idx="1" type="body"/>
          </p:nvPr>
        </p:nvSpPr>
        <p:spPr>
          <a:xfrm>
            <a:off x="324000" y="733800"/>
            <a:ext cx="83610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has drawn two edges of a </a:t>
            </a:r>
            <a:r>
              <a:rPr b="1" lang="en-GB" sz="1800"/>
              <a:t>rhombus </a:t>
            </a:r>
            <a:r>
              <a:rPr lang="en-GB" sz="1800"/>
              <a:t>ABCD. </a:t>
            </a:r>
            <a:br>
              <a:rPr lang="en-GB" sz="1800"/>
            </a:br>
            <a:r>
              <a:rPr lang="en-GB" sz="1800"/>
              <a:t>He has challenged Sofia to construct the rest of it.</a:t>
            </a:r>
            <a:endParaRPr sz="1800"/>
          </a:p>
        </p:txBody>
      </p:sp>
      <p:sp>
        <p:nvSpPr>
          <p:cNvPr id="1436" name="Google Shape;143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437" name="Google Shape;143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1102" y="1430288"/>
            <a:ext cx="593700" cy="684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3250" y="961375"/>
            <a:ext cx="593699" cy="6586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9" name="Google Shape;1439;p93"/>
          <p:cNvCxnSpPr/>
          <p:nvPr/>
        </p:nvCxnSpPr>
        <p:spPr>
          <a:xfrm flipH="1" rot="10800000">
            <a:off x="1840725" y="2228150"/>
            <a:ext cx="745200" cy="75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93"/>
          <p:cNvSpPr txBox="1"/>
          <p:nvPr/>
        </p:nvSpPr>
        <p:spPr>
          <a:xfrm>
            <a:off x="2619225" y="1912850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93"/>
          <p:cNvSpPr txBox="1"/>
          <p:nvPr/>
        </p:nvSpPr>
        <p:spPr>
          <a:xfrm>
            <a:off x="1553400" y="2810663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93"/>
          <p:cNvSpPr txBox="1"/>
          <p:nvPr/>
        </p:nvSpPr>
        <p:spPr>
          <a:xfrm>
            <a:off x="2651975" y="3565188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3" name="Google Shape;1443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 rot="10800000">
            <a:off x="5291200" y="1454357"/>
            <a:ext cx="2662052" cy="10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93"/>
          <p:cNvSpPr txBox="1"/>
          <p:nvPr/>
        </p:nvSpPr>
        <p:spPr>
          <a:xfrm>
            <a:off x="5352130" y="1657369"/>
            <a:ext cx="237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then need to draw an arc from A, and from C of that length.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5" name="Google Shape;1445;p93"/>
          <p:cNvCxnSpPr/>
          <p:nvPr/>
        </p:nvCxnSpPr>
        <p:spPr>
          <a:xfrm flipH="1" rot="-6000719">
            <a:off x="1907058" y="2893337"/>
            <a:ext cx="745452" cy="75581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46" name="Google Shape;1446;p93"/>
          <p:cNvGrpSpPr/>
          <p:nvPr/>
        </p:nvGrpSpPr>
        <p:grpSpPr>
          <a:xfrm flipH="1" rot="-3691345">
            <a:off x="1691151" y="1840559"/>
            <a:ext cx="1345837" cy="1656365"/>
            <a:chOff x="2338531" y="799646"/>
            <a:chExt cx="2962673" cy="3646259"/>
          </a:xfrm>
        </p:grpSpPr>
        <p:pic>
          <p:nvPicPr>
            <p:cNvPr id="1447" name="Google Shape;1447;p93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1614">
              <a:off x="2674070" y="1654464"/>
              <a:ext cx="1158241" cy="266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8" name="Google Shape;1448;p93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1236">
              <a:off x="4213466" y="1676161"/>
              <a:ext cx="906107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p93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18408" y="799646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94"/>
          <p:cNvSpPr/>
          <p:nvPr/>
        </p:nvSpPr>
        <p:spPr>
          <a:xfrm>
            <a:off x="1643853" y="2498227"/>
            <a:ext cx="2124000" cy="2124000"/>
          </a:xfrm>
          <a:prstGeom prst="arc">
            <a:avLst>
              <a:gd fmla="val 17899934" name="adj1"/>
              <a:gd fmla="val 1132530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94"/>
          <p:cNvSpPr/>
          <p:nvPr/>
        </p:nvSpPr>
        <p:spPr>
          <a:xfrm>
            <a:off x="1519400" y="1173100"/>
            <a:ext cx="2124000" cy="2124000"/>
          </a:xfrm>
          <a:prstGeom prst="arc">
            <a:avLst>
              <a:gd fmla="val 20726393" name="adj1"/>
              <a:gd fmla="val 3162130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94"/>
          <p:cNvSpPr txBox="1"/>
          <p:nvPr>
            <p:ph idx="1" type="body"/>
          </p:nvPr>
        </p:nvSpPr>
        <p:spPr>
          <a:xfrm>
            <a:off x="324000" y="733800"/>
            <a:ext cx="83610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has drawn two edges of a </a:t>
            </a:r>
            <a:r>
              <a:rPr b="1" lang="en-GB" sz="1800"/>
              <a:t>rhombus </a:t>
            </a:r>
            <a:r>
              <a:rPr lang="en-GB" sz="1800"/>
              <a:t>ABCD. </a:t>
            </a:r>
            <a:br>
              <a:rPr lang="en-GB" sz="1800"/>
            </a:br>
            <a:r>
              <a:rPr lang="en-GB" sz="1800"/>
              <a:t>He has challenged Sofia to construct the rest of it.</a:t>
            </a:r>
            <a:endParaRPr sz="1800"/>
          </a:p>
        </p:txBody>
      </p:sp>
      <p:sp>
        <p:nvSpPr>
          <p:cNvPr id="1457" name="Google Shape;145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458" name="Google Shape;145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1102" y="1430288"/>
            <a:ext cx="593700" cy="684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250" y="961375"/>
            <a:ext cx="593699" cy="6586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0" name="Google Shape;1460;p94"/>
          <p:cNvCxnSpPr/>
          <p:nvPr/>
        </p:nvCxnSpPr>
        <p:spPr>
          <a:xfrm flipH="1" rot="10800000">
            <a:off x="1840725" y="2228150"/>
            <a:ext cx="745200" cy="75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94"/>
          <p:cNvSpPr txBox="1"/>
          <p:nvPr/>
        </p:nvSpPr>
        <p:spPr>
          <a:xfrm>
            <a:off x="2619225" y="1912850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4"/>
          <p:cNvSpPr txBox="1"/>
          <p:nvPr/>
        </p:nvSpPr>
        <p:spPr>
          <a:xfrm>
            <a:off x="1553400" y="2810663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94"/>
          <p:cNvSpPr txBox="1"/>
          <p:nvPr/>
        </p:nvSpPr>
        <p:spPr>
          <a:xfrm>
            <a:off x="2651975" y="3565188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4" name="Google Shape;1464;p9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 rot="10800000">
            <a:off x="5291200" y="1454357"/>
            <a:ext cx="2662052" cy="10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94"/>
          <p:cNvSpPr txBox="1"/>
          <p:nvPr/>
        </p:nvSpPr>
        <p:spPr>
          <a:xfrm>
            <a:off x="5352130" y="1657369"/>
            <a:ext cx="237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point of intersection is vertex 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6" name="Google Shape;1466;p94"/>
          <p:cNvCxnSpPr/>
          <p:nvPr/>
        </p:nvCxnSpPr>
        <p:spPr>
          <a:xfrm flipH="1" rot="-6000719">
            <a:off x="1907058" y="2893337"/>
            <a:ext cx="745452" cy="75581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7" name="Google Shape;1467;p94"/>
          <p:cNvGrpSpPr/>
          <p:nvPr/>
        </p:nvGrpSpPr>
        <p:grpSpPr>
          <a:xfrm>
            <a:off x="3407169" y="2760514"/>
            <a:ext cx="123900" cy="123900"/>
            <a:chOff x="630000" y="1882500"/>
            <a:chExt cx="123900" cy="123900"/>
          </a:xfrm>
        </p:grpSpPr>
        <p:cxnSp>
          <p:nvCxnSpPr>
            <p:cNvPr id="1468" name="Google Shape;1468;p94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9" name="Google Shape;1469;p94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0" name="Google Shape;1470;p94"/>
          <p:cNvSpPr txBox="1"/>
          <p:nvPr/>
        </p:nvSpPr>
        <p:spPr>
          <a:xfrm>
            <a:off x="3593550" y="2683875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1" name="Google Shape;1471;p94"/>
          <p:cNvCxnSpPr/>
          <p:nvPr/>
        </p:nvCxnSpPr>
        <p:spPr>
          <a:xfrm rot="10800000">
            <a:off x="2571445" y="2229992"/>
            <a:ext cx="905700" cy="59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94"/>
          <p:cNvCxnSpPr/>
          <p:nvPr/>
        </p:nvCxnSpPr>
        <p:spPr>
          <a:xfrm flipH="1">
            <a:off x="2704734" y="2812185"/>
            <a:ext cx="767700" cy="75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3" name="Google Shape;1473;p94"/>
          <p:cNvGrpSpPr/>
          <p:nvPr/>
        </p:nvGrpSpPr>
        <p:grpSpPr>
          <a:xfrm flipH="1">
            <a:off x="987033" y="1356992"/>
            <a:ext cx="1564001" cy="658664"/>
            <a:chOff x="3656199" y="650475"/>
            <a:chExt cx="1745537" cy="929791"/>
          </a:xfrm>
        </p:grpSpPr>
        <p:pic>
          <p:nvPicPr>
            <p:cNvPr id="1474" name="Google Shape;1474;p94"/>
            <p:cNvPicPr preferRelativeResize="0"/>
            <p:nvPr/>
          </p:nvPicPr>
          <p:blipFill rotWithShape="1">
            <a:blip r:embed="rId5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5" name="Google Shape;1475;p94"/>
            <p:cNvPicPr preferRelativeResize="0"/>
            <p:nvPr/>
          </p:nvPicPr>
          <p:blipFill rotWithShape="1">
            <a:blip r:embed="rId5">
              <a:alphaModFix/>
            </a:blip>
            <a:srcRect b="0" l="0" r="84914" t="89131"/>
            <a:stretch/>
          </p:blipFill>
          <p:spPr>
            <a:xfrm>
              <a:off x="3656199" y="125304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6" name="Google Shape;1476;p94"/>
            <p:cNvPicPr preferRelativeResize="0"/>
            <p:nvPr/>
          </p:nvPicPr>
          <p:blipFill rotWithShape="1">
            <a:blip r:embed="rId5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7" name="Google Shape;1477;p94"/>
            <p:cNvPicPr preferRelativeResize="0"/>
            <p:nvPr/>
          </p:nvPicPr>
          <p:blipFill rotWithShape="1">
            <a:blip r:embed="rId5">
              <a:alphaModFix/>
            </a:blip>
            <a:srcRect b="23662" l="0" r="84914" t="56280"/>
            <a:stretch/>
          </p:blipFill>
          <p:spPr>
            <a:xfrm>
              <a:off x="36641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8" name="Google Shape;1478;p94"/>
          <p:cNvSpPr txBox="1"/>
          <p:nvPr/>
        </p:nvSpPr>
        <p:spPr>
          <a:xfrm>
            <a:off x="1194117" y="1543669"/>
            <a:ext cx="23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Well done!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95"/>
          <p:cNvSpPr txBox="1"/>
          <p:nvPr>
            <p:ph idx="1" type="body"/>
          </p:nvPr>
        </p:nvSpPr>
        <p:spPr>
          <a:xfrm>
            <a:off x="324000" y="759300"/>
            <a:ext cx="82377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rhombus </a:t>
            </a:r>
            <a:r>
              <a:rPr lang="en-GB"/>
              <a:t>PQRS is being constructed. </a:t>
            </a:r>
            <a:br>
              <a:rPr lang="en-GB"/>
            </a:br>
            <a:r>
              <a:rPr lang="en-GB"/>
              <a:t>Locate </a:t>
            </a:r>
            <a:r>
              <a:rPr lang="en-GB"/>
              <a:t>where</a:t>
            </a:r>
            <a:r>
              <a:rPr lang="en-GB"/>
              <a:t> </a:t>
            </a:r>
            <a:r>
              <a:rPr lang="en-GB"/>
              <a:t>vertex</a:t>
            </a:r>
            <a:r>
              <a:rPr lang="en-GB"/>
              <a:t> S will be.</a:t>
            </a:r>
            <a:endParaRPr/>
          </a:p>
        </p:txBody>
      </p:sp>
      <p:cxnSp>
        <p:nvCxnSpPr>
          <p:cNvPr id="1484" name="Google Shape;1484;p95"/>
          <p:cNvCxnSpPr/>
          <p:nvPr/>
        </p:nvCxnSpPr>
        <p:spPr>
          <a:xfrm rot="10800000">
            <a:off x="1925475" y="2908075"/>
            <a:ext cx="512100" cy="97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5" name="Google Shape;14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cxnSp>
        <p:nvCxnSpPr>
          <p:cNvPr id="1486" name="Google Shape;1486;p95"/>
          <p:cNvCxnSpPr/>
          <p:nvPr/>
        </p:nvCxnSpPr>
        <p:spPr>
          <a:xfrm flipH="1" rot="10800000">
            <a:off x="1925475" y="1946050"/>
            <a:ext cx="512100" cy="97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95"/>
          <p:cNvSpPr txBox="1"/>
          <p:nvPr/>
        </p:nvSpPr>
        <p:spPr>
          <a:xfrm>
            <a:off x="2298850" y="1687700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5"/>
          <p:cNvSpPr txBox="1"/>
          <p:nvPr/>
        </p:nvSpPr>
        <p:spPr>
          <a:xfrm>
            <a:off x="1716848" y="2757955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5"/>
          <p:cNvSpPr txBox="1"/>
          <p:nvPr/>
        </p:nvSpPr>
        <p:spPr>
          <a:xfrm>
            <a:off x="2258907" y="3859332"/>
            <a:ext cx="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5"/>
          <p:cNvSpPr/>
          <p:nvPr/>
        </p:nvSpPr>
        <p:spPr>
          <a:xfrm>
            <a:off x="1334350" y="858648"/>
            <a:ext cx="2196000" cy="2196000"/>
          </a:xfrm>
          <a:prstGeom prst="arc">
            <a:avLst>
              <a:gd fmla="val 763529" name="adj1"/>
              <a:gd fmla="val 5106767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5"/>
          <p:cNvSpPr/>
          <p:nvPr/>
        </p:nvSpPr>
        <p:spPr>
          <a:xfrm>
            <a:off x="1334350" y="2779010"/>
            <a:ext cx="2196000" cy="2196000"/>
          </a:xfrm>
          <a:prstGeom prst="arc">
            <a:avLst>
              <a:gd fmla="val 16200000" name="adj1"/>
              <a:gd fmla="val 204951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2" name="Google Shape;1492;p95"/>
          <p:cNvGrpSpPr/>
          <p:nvPr/>
        </p:nvGrpSpPr>
        <p:grpSpPr>
          <a:xfrm>
            <a:off x="2896139" y="2854094"/>
            <a:ext cx="123900" cy="123900"/>
            <a:chOff x="630000" y="1882500"/>
            <a:chExt cx="123900" cy="123900"/>
          </a:xfrm>
        </p:grpSpPr>
        <p:cxnSp>
          <p:nvCxnSpPr>
            <p:cNvPr id="1493" name="Google Shape;1493;p95"/>
            <p:cNvCxnSpPr/>
            <p:nvPr/>
          </p:nvCxnSpPr>
          <p:spPr>
            <a:xfrm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4" name="Google Shape;1494;p95"/>
            <p:cNvCxnSpPr/>
            <p:nvPr/>
          </p:nvCxnSpPr>
          <p:spPr>
            <a:xfrm rot="5400000">
              <a:off x="630000" y="1882500"/>
              <a:ext cx="123900" cy="12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5" name="Google Shape;1495;p95"/>
          <p:cNvSpPr txBox="1"/>
          <p:nvPr/>
        </p:nvSpPr>
        <p:spPr>
          <a:xfrm>
            <a:off x="3052483" y="2770948"/>
            <a:ext cx="26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96"/>
          <p:cNvSpPr txBox="1"/>
          <p:nvPr>
            <p:ph idx="1" type="body"/>
          </p:nvPr>
        </p:nvSpPr>
        <p:spPr>
          <a:xfrm>
            <a:off x="324000" y="759300"/>
            <a:ext cx="857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Finish constructing this </a:t>
            </a:r>
            <a:r>
              <a:rPr b="1" lang="en-GB" sz="1800"/>
              <a:t>rhombus</a:t>
            </a:r>
            <a:r>
              <a:rPr lang="en-GB" sz="1800"/>
              <a:t>, from the two given sides.</a:t>
            </a:r>
            <a:endParaRPr sz="1800"/>
          </a:p>
        </p:txBody>
      </p:sp>
      <p:sp>
        <p:nvSpPr>
          <p:cNvPr id="1501" name="Google Shape;1501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502" name="Google Shape;150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000" y="1034200"/>
            <a:ext cx="3910000" cy="18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96"/>
          <p:cNvSpPr txBox="1"/>
          <p:nvPr>
            <p:ph idx="1" type="body"/>
          </p:nvPr>
        </p:nvSpPr>
        <p:spPr>
          <a:xfrm>
            <a:off x="324000" y="3162925"/>
            <a:ext cx="857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Construct three different </a:t>
            </a:r>
            <a:r>
              <a:rPr b="1" lang="en-GB" sz="1800"/>
              <a:t>rhombi</a:t>
            </a:r>
            <a:r>
              <a:rPr lang="en-GB" sz="1800"/>
              <a:t>, with side lengths 7 cm.</a:t>
            </a:r>
            <a:endParaRPr sz="1800"/>
          </a:p>
        </p:txBody>
      </p:sp>
      <p:sp>
        <p:nvSpPr>
          <p:cNvPr id="1504" name="Google Shape;1504;p96"/>
          <p:cNvSpPr txBox="1"/>
          <p:nvPr>
            <p:ph idx="1" type="body"/>
          </p:nvPr>
        </p:nvSpPr>
        <p:spPr>
          <a:xfrm>
            <a:off x="324000" y="3891425"/>
            <a:ext cx="857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Construct a </a:t>
            </a:r>
            <a:r>
              <a:rPr b="1" lang="en-GB" sz="1800"/>
              <a:t>rhombus</a:t>
            </a:r>
            <a:r>
              <a:rPr lang="en-GB" sz="1800"/>
              <a:t>, with a 60° angle.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Construct this isometric </a:t>
            </a:r>
            <a:r>
              <a:rPr lang="en-GB" sz="1800">
                <a:solidFill>
                  <a:schemeClr val="accent5"/>
                </a:solidFill>
              </a:rPr>
              <a:t>cube</a:t>
            </a:r>
            <a:r>
              <a:rPr lang="en-GB" sz="1800"/>
              <a:t>, where each face is a </a:t>
            </a:r>
            <a:r>
              <a:rPr b="1" lang="en-GB" sz="1800"/>
              <a:t>rhombus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510" name="Google Shape;151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75" y="1080000"/>
            <a:ext cx="2352514" cy="25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97"/>
          <p:cNvSpPr txBox="1"/>
          <p:nvPr>
            <p:ph idx="1" type="body"/>
          </p:nvPr>
        </p:nvSpPr>
        <p:spPr>
          <a:xfrm>
            <a:off x="324000" y="759300"/>
            <a:ext cx="857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Construct this isometric </a:t>
            </a:r>
            <a:r>
              <a:rPr lang="en-GB" sz="1800">
                <a:solidFill>
                  <a:schemeClr val="accent5"/>
                </a:solidFill>
              </a:rPr>
              <a:t>cube</a:t>
            </a:r>
            <a:r>
              <a:rPr lang="en-GB" sz="1800"/>
              <a:t>, where each face is a </a:t>
            </a:r>
            <a:r>
              <a:rPr b="1" lang="en-GB" sz="1800"/>
              <a:t>rhombus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512" name="Google Shape;1512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513" name="Google Shape;1513;p97"/>
          <p:cNvSpPr txBox="1"/>
          <p:nvPr/>
        </p:nvSpPr>
        <p:spPr>
          <a:xfrm>
            <a:off x="3014375" y="1045500"/>
            <a:ext cx="565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Hint: The three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rhombi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congruent, therefore the angles at the centre point (A) are all equal.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4" name="Google Shape;1514;p97"/>
          <p:cNvGrpSpPr/>
          <p:nvPr/>
        </p:nvGrpSpPr>
        <p:grpSpPr>
          <a:xfrm>
            <a:off x="7990610" y="1691283"/>
            <a:ext cx="678465" cy="738830"/>
            <a:chOff x="534675" y="1080000"/>
            <a:chExt cx="2352514" cy="2561825"/>
          </a:xfrm>
        </p:grpSpPr>
        <p:pic>
          <p:nvPicPr>
            <p:cNvPr id="1515" name="Google Shape;1515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4675" y="1080000"/>
              <a:ext cx="2352514" cy="2561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6" name="Google Shape;1516;p97"/>
            <p:cNvSpPr/>
            <p:nvPr/>
          </p:nvSpPr>
          <p:spPr>
            <a:xfrm rot="-1791081">
              <a:off x="1496536" y="2108220"/>
              <a:ext cx="540631" cy="540631"/>
            </a:xfrm>
            <a:prstGeom prst="pie">
              <a:avLst>
                <a:gd fmla="val 0" name="adj1"/>
                <a:gd fmla="val 7217425" name="adj2"/>
              </a:avLst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7" name="Google Shape;1517;p97"/>
            <p:cNvSpPr/>
            <p:nvPr/>
          </p:nvSpPr>
          <p:spPr>
            <a:xfrm rot="-8996146">
              <a:off x="1496220" y="2108110"/>
              <a:ext cx="540750" cy="540750"/>
            </a:xfrm>
            <a:prstGeom prst="pie">
              <a:avLst>
                <a:gd fmla="val 0" name="adj1"/>
                <a:gd fmla="val 7217425" name="adj2"/>
              </a:avLst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8" name="Google Shape;1518;p97"/>
            <p:cNvSpPr/>
            <p:nvPr/>
          </p:nvSpPr>
          <p:spPr>
            <a:xfrm rot="5400000">
              <a:off x="1496574" y="2108230"/>
              <a:ext cx="540600" cy="540600"/>
            </a:xfrm>
            <a:prstGeom prst="pie">
              <a:avLst>
                <a:gd fmla="val 0" name="adj1"/>
                <a:gd fmla="val 7217425" name="adj2"/>
              </a:avLst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9" name="Google Shape;1519;p97"/>
          <p:cNvSpPr/>
          <p:nvPr/>
        </p:nvSpPr>
        <p:spPr>
          <a:xfrm>
            <a:off x="1712969" y="2322425"/>
            <a:ext cx="107700" cy="107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97"/>
          <p:cNvSpPr txBox="1"/>
          <p:nvPr/>
        </p:nvSpPr>
        <p:spPr>
          <a:xfrm>
            <a:off x="1712975" y="2073976"/>
            <a:ext cx="22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98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Finish constructing this </a:t>
            </a:r>
            <a:r>
              <a:rPr b="1" lang="en-GB" sz="1800"/>
              <a:t>rhombus</a:t>
            </a:r>
            <a:r>
              <a:rPr lang="en-GB" sz="1800"/>
              <a:t>, from the two given sides.</a:t>
            </a:r>
            <a:endParaRPr sz="1800"/>
          </a:p>
        </p:txBody>
      </p:sp>
      <p:sp>
        <p:nvSpPr>
          <p:cNvPr id="1526" name="Google Shape;1526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pic>
        <p:nvPicPr>
          <p:cNvPr id="1527" name="Google Shape;152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75" y="1124925"/>
            <a:ext cx="4114410" cy="172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533" name="Google Shape;1533;p99"/>
          <p:cNvSpPr txBox="1"/>
          <p:nvPr>
            <p:ph idx="1" type="body"/>
          </p:nvPr>
        </p:nvSpPr>
        <p:spPr>
          <a:xfrm>
            <a:off x="324000" y="774325"/>
            <a:ext cx="857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Construct three different </a:t>
            </a:r>
            <a:r>
              <a:rPr b="1" lang="en-GB" sz="1800"/>
              <a:t>rhombi</a:t>
            </a:r>
            <a:r>
              <a:rPr lang="en-GB" sz="1800"/>
              <a:t>, with side lengths 7 cm.</a:t>
            </a:r>
            <a:endParaRPr sz="1800"/>
          </a:p>
        </p:txBody>
      </p:sp>
      <p:pic>
        <p:nvPicPr>
          <p:cNvPr id="1534" name="Google Shape;153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45" y="1509000"/>
            <a:ext cx="1204042" cy="27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200" y="1677775"/>
            <a:ext cx="1950725" cy="24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0250" y="2314575"/>
            <a:ext cx="2772674" cy="8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99"/>
          <p:cNvSpPr txBox="1"/>
          <p:nvPr/>
        </p:nvSpPr>
        <p:spPr>
          <a:xfrm>
            <a:off x="689400" y="1080000"/>
            <a:ext cx="439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99"/>
          <p:cNvSpPr txBox="1"/>
          <p:nvPr/>
        </p:nvSpPr>
        <p:spPr>
          <a:xfrm>
            <a:off x="728950" y="4124500"/>
            <a:ext cx="751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base of the isosceles triangles can vary but the two edges that are equal needed to be 7 cm.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544" name="Google Shape;1544;p100"/>
          <p:cNvSpPr txBox="1"/>
          <p:nvPr>
            <p:ph idx="1" type="body"/>
          </p:nvPr>
        </p:nvSpPr>
        <p:spPr>
          <a:xfrm>
            <a:off x="392700" y="810000"/>
            <a:ext cx="857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Construct a </a:t>
            </a:r>
            <a:r>
              <a:rPr b="1" lang="en-GB" sz="1800"/>
              <a:t>rhombus</a:t>
            </a:r>
            <a:r>
              <a:rPr lang="en-GB" sz="1800"/>
              <a:t>, with a 60° angle.</a:t>
            </a:r>
            <a:endParaRPr sz="1800"/>
          </a:p>
        </p:txBody>
      </p:sp>
      <p:pic>
        <p:nvPicPr>
          <p:cNvPr id="1545" name="Google Shape;154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425" y="1192800"/>
            <a:ext cx="6162285" cy="364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100"/>
          <p:cNvSpPr txBox="1"/>
          <p:nvPr/>
        </p:nvSpPr>
        <p:spPr>
          <a:xfrm>
            <a:off x="5102250" y="1192800"/>
            <a:ext cx="357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equilateral triangles need to be used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1" name="Google Shape;155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06" y="1077031"/>
            <a:ext cx="2352524" cy="2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Construct this isometric </a:t>
            </a:r>
            <a:r>
              <a:rPr lang="en-GB" sz="1800">
                <a:solidFill>
                  <a:schemeClr val="accent5"/>
                </a:solidFill>
              </a:rPr>
              <a:t>cube</a:t>
            </a:r>
            <a:r>
              <a:rPr lang="en-GB" sz="1800"/>
              <a:t>, where each face is a </a:t>
            </a:r>
            <a:r>
              <a:rPr b="1" lang="en-GB" sz="1800"/>
              <a:t>rhombus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553" name="Google Shape;1553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554" name="Google Shape;1554;p101"/>
          <p:cNvSpPr/>
          <p:nvPr/>
        </p:nvSpPr>
        <p:spPr>
          <a:xfrm rot="-1791081">
            <a:off x="1496536" y="2108220"/>
            <a:ext cx="540631" cy="540631"/>
          </a:xfrm>
          <a:prstGeom prst="pie">
            <a:avLst>
              <a:gd fmla="val 0" name="adj1"/>
              <a:gd fmla="val 7217425" name="adj2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01"/>
          <p:cNvSpPr/>
          <p:nvPr/>
        </p:nvSpPr>
        <p:spPr>
          <a:xfrm rot="-8996146">
            <a:off x="1496220" y="2108110"/>
            <a:ext cx="540750" cy="540750"/>
          </a:xfrm>
          <a:prstGeom prst="pie">
            <a:avLst>
              <a:gd fmla="val 0" name="adj1"/>
              <a:gd fmla="val 7217425" name="adj2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01"/>
          <p:cNvSpPr/>
          <p:nvPr/>
        </p:nvSpPr>
        <p:spPr>
          <a:xfrm rot="5400000">
            <a:off x="1496574" y="2108230"/>
            <a:ext cx="540600" cy="540600"/>
          </a:xfrm>
          <a:prstGeom prst="pie">
            <a:avLst>
              <a:gd fmla="val 0" name="adj1"/>
              <a:gd fmla="val 7217425" name="adj2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01"/>
          <p:cNvSpPr txBox="1"/>
          <p:nvPr/>
        </p:nvSpPr>
        <p:spPr>
          <a:xfrm>
            <a:off x="1560725" y="1698450"/>
            <a:ext cx="67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8" name="Google Shape;1558;p101"/>
          <p:cNvSpPr txBox="1"/>
          <p:nvPr/>
        </p:nvSpPr>
        <p:spPr>
          <a:xfrm>
            <a:off x="1891025" y="2418925"/>
            <a:ext cx="67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9" name="Google Shape;1559;p101"/>
          <p:cNvSpPr txBox="1"/>
          <p:nvPr/>
        </p:nvSpPr>
        <p:spPr>
          <a:xfrm>
            <a:off x="973225" y="2393450"/>
            <a:ext cx="67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0" name="Google Shape;1560;p101"/>
          <p:cNvSpPr/>
          <p:nvPr/>
        </p:nvSpPr>
        <p:spPr>
          <a:xfrm rot="-8996146">
            <a:off x="544097" y="1551216"/>
            <a:ext cx="540750" cy="540750"/>
          </a:xfrm>
          <a:prstGeom prst="pie">
            <a:avLst>
              <a:gd fmla="val 7108537" name="adj1"/>
              <a:gd fmla="val 10798831" name="adj2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01"/>
          <p:cNvSpPr txBox="1"/>
          <p:nvPr/>
        </p:nvSpPr>
        <p:spPr>
          <a:xfrm>
            <a:off x="1013400" y="1553500"/>
            <a:ext cx="67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62" name="Google Shape;156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025" y="1854150"/>
            <a:ext cx="2586924" cy="27716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01"/>
          <p:cNvSpPr txBox="1"/>
          <p:nvPr/>
        </p:nvSpPr>
        <p:spPr>
          <a:xfrm>
            <a:off x="3014375" y="1045500"/>
            <a:ext cx="565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Hint: The three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rhombi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congruent, therefore the angles at the centre point (A) are all equal.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4" name="Google Shape;156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0600" y="1691240"/>
            <a:ext cx="678476" cy="738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5" name="Google Shape;1565;p101"/>
          <p:cNvSpPr/>
          <p:nvPr/>
        </p:nvSpPr>
        <p:spPr>
          <a:xfrm rot="-1791081">
            <a:off x="8268010" y="1987822"/>
            <a:ext cx="155918" cy="155918"/>
          </a:xfrm>
          <a:prstGeom prst="pie">
            <a:avLst>
              <a:gd fmla="val 0" name="adj1"/>
              <a:gd fmla="val 7217425" name="adj2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01"/>
          <p:cNvSpPr/>
          <p:nvPr/>
        </p:nvSpPr>
        <p:spPr>
          <a:xfrm rot="-8996146">
            <a:off x="8267919" y="1987790"/>
            <a:ext cx="155952" cy="155952"/>
          </a:xfrm>
          <a:prstGeom prst="pie">
            <a:avLst>
              <a:gd fmla="val 0" name="adj1"/>
              <a:gd fmla="val 7217425" name="adj2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101"/>
          <p:cNvSpPr/>
          <p:nvPr/>
        </p:nvSpPr>
        <p:spPr>
          <a:xfrm rot="5400000">
            <a:off x="8268021" y="1987825"/>
            <a:ext cx="155909" cy="155909"/>
          </a:xfrm>
          <a:prstGeom prst="pie">
            <a:avLst>
              <a:gd fmla="val 0" name="adj1"/>
              <a:gd fmla="val 7217425" name="adj2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1712969" y="2322425"/>
            <a:ext cx="107700" cy="107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01"/>
          <p:cNvSpPr txBox="1"/>
          <p:nvPr/>
        </p:nvSpPr>
        <p:spPr>
          <a:xfrm>
            <a:off x="1712975" y="2073976"/>
            <a:ext cx="22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0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rhombus </a:t>
            </a:r>
            <a:r>
              <a:rPr lang="en-GB"/>
              <a:t>can be constructed using two congruent isosceles triangles, joined at the base edge.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a </a:t>
            </a:r>
            <a:r>
              <a:rPr b="1" lang="en-GB"/>
              <a:t>rhombus </a:t>
            </a:r>
            <a:r>
              <a:rPr lang="en-GB"/>
              <a:t>is constructed using two congruent equilateral triangles, then we know the interior angles are 60°, 120°, 60° and 120°.</a:t>
            </a:r>
            <a:endParaRPr/>
          </a:p>
        </p:txBody>
      </p:sp>
      <p:sp>
        <p:nvSpPr>
          <p:cNvPr id="1575" name="Google Shape;1575;p10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81" name="Google Shape;1581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