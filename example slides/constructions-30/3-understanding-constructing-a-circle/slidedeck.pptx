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/>
  <p:notesSz cx="6858000" cy="9144000"/>
  <p:embeddedFontLst>
    <p:embeddedFont>
      <p:font typeface="Lexend" panose="00000000000000000000"/>
      <p:regular r:id="rId36"/>
    </p:embeddedFont>
    <p:embeddedFont>
      <p:font typeface="Lexend Medium" panose="00000000000000000000"/>
      <p:regular r:id="rId37"/>
    </p:embeddedFont>
    <p:embeddedFont>
      <p:font typeface="Kalam" panose="02000000000000000000"/>
      <p:regular r:id="rId38"/>
    </p:embeddedFont>
    <p:embeddedFont>
      <p:font typeface="Lexend Light" panose="00000000000000000000"/>
      <p:regular r:id="rId39"/>
    </p:embeddedFont>
  </p:embeddedFontLst>
  <p:custDataLst>
    <p:tags r:id="rId3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tags" Target="tags/tag1.xml" /><Relationship Id="rId36" Type="http://schemas.openxmlformats.org/officeDocument/2006/relationships/font" Target="fonts/font1.fntdata" /><Relationship Id="rId37" Type="http://schemas.openxmlformats.org/officeDocument/2006/relationships/font" Target="fonts/font2.fntdata" /><Relationship Id="rId38" Type="http://schemas.openxmlformats.org/officeDocument/2006/relationships/font" Target="fonts/font3.fntdata" /><Relationship Id="rId39" Type="http://schemas.openxmlformats.org/officeDocument/2006/relationships/font" Target="fonts/font4.fntdata" /><Relationship Id="rId4" Type="http://schemas.openxmlformats.org/officeDocument/2006/relationships/slide" Target="slides/slide2.xml" /><Relationship Id="rId40" Type="http://schemas.openxmlformats.org/officeDocument/2006/relationships/presProps" Target="presProps.xml" /><Relationship Id="rId41" Type="http://schemas.openxmlformats.org/officeDocument/2006/relationships/viewProps" Target="viewProps.xml" /><Relationship Id="rId42" Type="http://schemas.openxmlformats.org/officeDocument/2006/relationships/theme" Target="theme/theme1.xml" /><Relationship Id="rId43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g1ec8e5d2491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ec8e5d249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g2a6cce4da9f_0_11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6cce4da9f_0_11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g1ec8e5d2491_0_7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c8e5d2491_0_7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sp>
        <p:nvSpPr>
          <p:cNvPr id="783" name="Google Shape;783;g2a6cce4da9f_0_6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a6cce4da9f_0_6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2" name="Shape 822"/>
        <p:cNvGrpSpPr/>
        <p:nvPr/>
      </p:nvGrpSpPr>
      <p:grpSpPr>
        <a:xfrm>
          <a:off x="0" y="0"/>
          <a:ext cx="0" cy="0"/>
        </a:xfrm>
      </p:grpSpPr>
      <p:sp>
        <p:nvSpPr>
          <p:cNvPr id="823" name="Google Shape;823;g2a6cce4da9f_0_20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a6cce4da9f_0_20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9" name="Shape 839"/>
        <p:cNvGrpSpPr/>
        <p:nvPr/>
      </p:nvGrpSpPr>
      <p:grpSpPr>
        <a:xfrm>
          <a:off x="0" y="0"/>
          <a:ext cx="0" cy="0"/>
        </a:xfrm>
      </p:grpSpPr>
      <p:sp>
        <p:nvSpPr>
          <p:cNvPr id="840" name="Google Shape;840;g2a6cce4da9f_0_20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a6cce4da9f_0_20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3" name="Shape 863"/>
        <p:cNvGrpSpPr/>
        <p:nvPr/>
      </p:nvGrpSpPr>
      <p:grpSpPr>
        <a:xfrm>
          <a:off x="0" y="0"/>
          <a:ext cx="0" cy="0"/>
        </a:xfrm>
      </p:grpSpPr>
      <p:sp>
        <p:nvSpPr>
          <p:cNvPr id="864" name="Google Shape;864;g2a6cce4da9f_0_2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a6cce4da9f_0_2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4" name="Shape 874"/>
        <p:cNvGrpSpPr/>
        <p:nvPr/>
      </p:nvGrpSpPr>
      <p:grpSpPr>
        <a:xfrm>
          <a:off x="0" y="0"/>
          <a:ext cx="0" cy="0"/>
        </a:xfrm>
      </p:grpSpPr>
      <p:sp>
        <p:nvSpPr>
          <p:cNvPr id="875" name="Google Shape;875;g2a6cce4da9f_0_21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a6cce4da9f_0_21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0" name="Shape 890"/>
        <p:cNvGrpSpPr/>
        <p:nvPr/>
      </p:nvGrpSpPr>
      <p:grpSpPr>
        <a:xfrm>
          <a:off x="0" y="0"/>
          <a:ext cx="0" cy="0"/>
        </a:xfrm>
      </p:grpSpPr>
      <p:sp>
        <p:nvSpPr>
          <p:cNvPr id="891" name="Google Shape;891;g2a6cce4da9f_0_23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a6cce4da9f_0_23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3" name="Shape 923"/>
        <p:cNvGrpSpPr/>
        <p:nvPr/>
      </p:nvGrpSpPr>
      <p:grpSpPr>
        <a:xfrm>
          <a:off x="0" y="0"/>
          <a:ext cx="0" cy="0"/>
        </a:xfrm>
      </p:grpSpPr>
      <p:sp>
        <p:nvSpPr>
          <p:cNvPr id="924" name="Google Shape;924;g2a6cce4da9f_0_21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a6cce4da9f_0_21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7" name="Shape 947"/>
        <p:cNvGrpSpPr/>
        <p:nvPr/>
      </p:nvGrpSpPr>
      <p:grpSpPr>
        <a:xfrm>
          <a:off x="0" y="0"/>
          <a:ext cx="0" cy="0"/>
        </a:xfrm>
      </p:grpSpPr>
      <p:sp>
        <p:nvSpPr>
          <p:cNvPr id="948" name="Google Shape;948;g2a6cce4da9f_0_7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a6cce4da9f_0_7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1" name="Shape 991"/>
        <p:cNvGrpSpPr/>
        <p:nvPr/>
      </p:nvGrpSpPr>
      <p:grpSpPr>
        <a:xfrm>
          <a:off x="0" y="0"/>
          <a:ext cx="0" cy="0"/>
        </a:xfrm>
      </p:grpSpPr>
      <p:sp>
        <p:nvSpPr>
          <p:cNvPr id="992" name="Google Shape;992;g2a6cce4da9f_0_21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a6cce4da9f_0_21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g2a6cce4da9f_0_21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a6cce4da9f_0_21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0" name="Shape 1020"/>
        <p:cNvGrpSpPr/>
        <p:nvPr/>
      </p:nvGrpSpPr>
      <p:grpSpPr>
        <a:xfrm>
          <a:off x="0" y="0"/>
          <a:ext cx="0" cy="0"/>
        </a:xfrm>
      </p:grpSpPr>
      <p:sp>
        <p:nvSpPr>
          <p:cNvPr id="1021" name="Google Shape;1021;g2a6cce4da9f_0_22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2a6cce4da9f_0_22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9" name="Shape 1029"/>
        <p:cNvGrpSpPr/>
        <p:nvPr/>
      </p:nvGrpSpPr>
      <p:grpSpPr>
        <a:xfrm>
          <a:off x="0" y="0"/>
          <a:ext cx="0" cy="0"/>
        </a:xfrm>
      </p:grpSpPr>
      <p:sp>
        <p:nvSpPr>
          <p:cNvPr id="1030" name="Google Shape;1030;g2a6cce4da9f_0_5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a6cce4da9f_0_5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sp>
        <p:nvSpPr>
          <p:cNvPr id="1069" name="Google Shape;1069;g2a677062a95_0_17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a677062a95_0_17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5" name="Shape 1075"/>
        <p:cNvGrpSpPr/>
        <p:nvPr/>
      </p:nvGrpSpPr>
      <p:grpSpPr>
        <a:xfrm>
          <a:off x="0" y="0"/>
          <a:ext cx="0" cy="0"/>
        </a:xfrm>
      </p:grpSpPr>
      <p:sp>
        <p:nvSpPr>
          <p:cNvPr id="1076" name="Google Shape;1076;g2a6cce4da9f_0_2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a6cce4da9f_0_2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6" name="Shape 1096"/>
        <p:cNvGrpSpPr/>
        <p:nvPr/>
      </p:nvGrpSpPr>
      <p:grpSpPr>
        <a:xfrm>
          <a:off x="0" y="0"/>
          <a:ext cx="0" cy="0"/>
        </a:xfrm>
      </p:grpSpPr>
      <p:sp>
        <p:nvSpPr>
          <p:cNvPr id="1097" name="Google Shape;1097;g2a6cce4da9f_0_5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a6cce4da9f_0_5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3" name="Shape 1143"/>
        <p:cNvGrpSpPr/>
        <p:nvPr/>
      </p:nvGrpSpPr>
      <p:grpSpPr>
        <a:xfrm>
          <a:off x="0" y="0"/>
          <a:ext cx="0" cy="0"/>
        </a:xfrm>
      </p:grpSpPr>
      <p:sp>
        <p:nvSpPr>
          <p:cNvPr id="1144" name="Google Shape;1144;g2a6cce4da9f_0_3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a6cce4da9f_0_3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7" name="Shape 1177"/>
        <p:cNvGrpSpPr/>
        <p:nvPr/>
      </p:nvGrpSpPr>
      <p:grpSpPr>
        <a:xfrm>
          <a:off x="0" y="0"/>
          <a:ext cx="0" cy="0"/>
        </a:xfrm>
      </p:grpSpPr>
      <p:sp>
        <p:nvSpPr>
          <p:cNvPr id="1178" name="Google Shape;1178;g2a677062a95_0_17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2a677062a95_0_17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5" name="Shape 1185"/>
        <p:cNvGrpSpPr/>
        <p:nvPr/>
      </p:nvGrpSpPr>
      <p:grpSpPr>
        <a:xfrm>
          <a:off x="0" y="0"/>
          <a:ext cx="0" cy="0"/>
        </a:xfrm>
      </p:grpSpPr>
      <p:sp>
        <p:nvSpPr>
          <p:cNvPr id="1186" name="Google Shape;1186;g2a6cce4da9f_0_22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a6cce4da9f_0_22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2" name="Shape 1212"/>
        <p:cNvGrpSpPr/>
        <p:nvPr/>
      </p:nvGrpSpPr>
      <p:grpSpPr>
        <a:xfrm>
          <a:off x="0" y="0"/>
          <a:ext cx="0" cy="0"/>
        </a:xfrm>
      </p:grpSpPr>
      <p:sp>
        <p:nvSpPr>
          <p:cNvPr id="1213" name="Google Shape;1213;g2a6cce4da9f_0_8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a6cce4da9f_0_8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sp>
        <p:nvSpPr>
          <p:cNvPr id="1249" name="Google Shape;1249;g2a6cce4da9f_0_22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a6cce4da9f_0_22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7" name="Shape 1277"/>
        <p:cNvGrpSpPr/>
        <p:nvPr/>
      </p:nvGrpSpPr>
      <p:grpSpPr>
        <a:xfrm>
          <a:off x="0" y="0"/>
          <a:ext cx="0" cy="0"/>
        </a:xfrm>
      </p:grpSpPr>
      <p:sp>
        <p:nvSpPr>
          <p:cNvPr id="1278" name="Google Shape;1278;g2a6cce4da9f_0_22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a6cce4da9f_0_22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5" name="Shape 1285"/>
        <p:cNvGrpSpPr/>
        <p:nvPr/>
      </p:nvGrpSpPr>
      <p:grpSpPr>
        <a:xfrm>
          <a:off x="0" y="0"/>
          <a:ext cx="0" cy="0"/>
        </a:xfrm>
      </p:grpSpPr>
      <p:sp>
        <p:nvSpPr>
          <p:cNvPr id="1286" name="Google Shape;1286;g2a6cce4da9f_0_10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a6cce4da9f_0_10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2" name="Shape 1352"/>
        <p:cNvGrpSpPr/>
        <p:nvPr/>
      </p:nvGrpSpPr>
      <p:grpSpPr>
        <a:xfrm>
          <a:off x="0" y="0"/>
          <a:ext cx="0" cy="0"/>
        </a:xfrm>
      </p:grpSpPr>
      <p:sp>
        <p:nvSpPr>
          <p:cNvPr id="1353" name="Google Shape;1353;g2a6cce4da9f_0_11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a6cce4da9f_0_11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4" name="Shape 1374"/>
        <p:cNvGrpSpPr/>
        <p:nvPr/>
      </p:nvGrpSpPr>
      <p:grpSpPr>
        <a:xfrm>
          <a:off x="0" y="0"/>
          <a:ext cx="0" cy="0"/>
        </a:xfrm>
      </p:grpSpPr>
      <p:sp>
        <p:nvSpPr>
          <p:cNvPr id="1375" name="Google Shape;1375;g2a6cce4da9f_0_22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a6cce4da9f_0_22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4" name="Shape 1404"/>
        <p:cNvGrpSpPr/>
        <p:nvPr/>
      </p:nvGrpSpPr>
      <p:grpSpPr>
        <a:xfrm>
          <a:off x="0" y="0"/>
          <a:ext cx="0" cy="0"/>
        </a:xfrm>
      </p:grpSpPr>
      <p:sp>
        <p:nvSpPr>
          <p:cNvPr id="1405" name="Google Shape;1405;g2a6cce4da9f_0_23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a6cce4da9f_0_23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35" name="Shape 1435"/>
        <p:cNvGrpSpPr/>
        <p:nvPr/>
      </p:nvGrpSpPr>
      <p:grpSpPr>
        <a:xfrm>
          <a:off x="0" y="0"/>
          <a:ext cx="0" cy="0"/>
        </a:xfrm>
      </p:grpSpPr>
      <p:sp>
        <p:nvSpPr>
          <p:cNvPr id="1436" name="Google Shape;1436;g2a6cce4da9f_0_23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2a6cce4da9f_0_23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1" name="Shape 1441"/>
        <p:cNvGrpSpPr/>
        <p:nvPr/>
      </p:nvGrpSpPr>
      <p:grpSpPr>
        <a:xfrm>
          <a:off x="0" y="0"/>
          <a:ext cx="0" cy="0"/>
        </a:xfrm>
      </p:grpSpPr>
      <p:sp>
        <p:nvSpPr>
          <p:cNvPr id="1442" name="Google Shape;1442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jpeg" /><Relationship Id="rId4" Type="http://schemas.openxmlformats.org/officeDocument/2006/relationships/image" Target="../media/image47.png" /><Relationship Id="rId5" Type="http://schemas.openxmlformats.org/officeDocument/2006/relationships/image" Target="../media/image44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8.jpeg" /><Relationship Id="rId4" Type="http://schemas.openxmlformats.org/officeDocument/2006/relationships/image" Target="../media/image49.png" /><Relationship Id="rId5" Type="http://schemas.openxmlformats.org/officeDocument/2006/relationships/image" Target="../media/image50.jpe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3.jpe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4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5.png" /><Relationship Id="rId4" Type="http://schemas.openxmlformats.org/officeDocument/2006/relationships/image" Target="../media/image54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4.png" /><Relationship Id="rId4" Type="http://schemas.openxmlformats.org/officeDocument/2006/relationships/image" Target="../media/image51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10" Type="http://schemas.openxmlformats.org/officeDocument/2006/relationships/image" Target="../media/image61.png" /><Relationship Id="rId11" Type="http://schemas.openxmlformats.org/officeDocument/2006/relationships/image" Target="../media/image62.png" /><Relationship Id="rId12" Type="http://schemas.openxmlformats.org/officeDocument/2006/relationships/image" Target="../media/image63.png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6.png" /><Relationship Id="rId4" Type="http://schemas.openxmlformats.org/officeDocument/2006/relationships/image" Target="../media/image45.png" /><Relationship Id="rId5" Type="http://schemas.openxmlformats.org/officeDocument/2006/relationships/image" Target="../media/image57.png" /><Relationship Id="rId6" Type="http://schemas.openxmlformats.org/officeDocument/2006/relationships/image" Target="../media/image58.png" /><Relationship Id="rId7" Type="http://schemas.openxmlformats.org/officeDocument/2006/relationships/image" Target="../media/image59.png" /><Relationship Id="rId8" Type="http://schemas.openxmlformats.org/officeDocument/2006/relationships/image" Target="../media/image60.png" /><Relationship Id="rId9" Type="http://schemas.openxmlformats.org/officeDocument/2006/relationships/image" Target="../media/image4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64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10" Type="http://schemas.openxmlformats.org/officeDocument/2006/relationships/image" Target="../media/image61.png" /><Relationship Id="rId11" Type="http://schemas.openxmlformats.org/officeDocument/2006/relationships/image" Target="../media/image62.png" /><Relationship Id="rId12" Type="http://schemas.openxmlformats.org/officeDocument/2006/relationships/image" Target="../media/image63.png" /><Relationship Id="rId13" Type="http://schemas.openxmlformats.org/officeDocument/2006/relationships/image" Target="../media/image54.png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6.png" /><Relationship Id="rId4" Type="http://schemas.openxmlformats.org/officeDocument/2006/relationships/image" Target="../media/image45.png" /><Relationship Id="rId5" Type="http://schemas.openxmlformats.org/officeDocument/2006/relationships/image" Target="../media/image57.png" /><Relationship Id="rId6" Type="http://schemas.openxmlformats.org/officeDocument/2006/relationships/image" Target="../media/image58.png" /><Relationship Id="rId7" Type="http://schemas.openxmlformats.org/officeDocument/2006/relationships/image" Target="../media/image59.png" /><Relationship Id="rId8" Type="http://schemas.openxmlformats.org/officeDocument/2006/relationships/image" Target="../media/image60.png" /><Relationship Id="rId9" Type="http://schemas.openxmlformats.org/officeDocument/2006/relationships/image" Target="../media/image47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4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4.png" /><Relationship Id="rId4" Type="http://schemas.openxmlformats.org/officeDocument/2006/relationships/image" Target="../media/image58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4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39.png" /><Relationship Id="rId4" Type="http://schemas.openxmlformats.org/officeDocument/2006/relationships/image" Target="../media/image51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4.png" /><Relationship Id="rId4" Type="http://schemas.openxmlformats.org/officeDocument/2006/relationships/image" Target="../media/image51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2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construction of a circle</a:t>
            </a:r>
            <a:endParaRPr/>
          </a:p>
        </p:txBody>
      </p:sp>
      <p:sp>
        <p:nvSpPr>
          <p:cNvPr id="755" name="Google Shape;755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9" name="Shape 759"/>
        <p:cNvGrpSpPr/>
        <p:nvPr/>
      </p:nvGrpSpPr>
      <p:grpSpPr>
        <a:xfrm>
          <a:off x="0" y="0"/>
          <a: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sp>
        <p:nvSpPr>
          <p:cNvPr id="765" name="Google Shape;765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 can recognise a circle as a collection of points equidistant from a fixed point.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p66"/>
          <p:cNvSpPr txBox="1"/>
          <p:nvPr/>
        </p:nvSpPr>
        <p:spPr>
          <a:xfrm>
            <a:off x="324000" y="1571637"/>
            <a:ext cx="84960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arc is part of a curve. An arc of a circle is part of the circle’s circumference.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324000" y="2537825"/>
            <a:ext cx="84960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Points A and B are equidistant from a third point C if the distance AC is equal to the distance BC.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6"/>
          <p:cNvSpPr txBox="1"/>
          <p:nvPr/>
        </p:nvSpPr>
        <p:spPr>
          <a:xfrm>
            <a:off x="324000" y="3522312"/>
            <a:ext cx="84960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fixed point is a point that does not change or move.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6"/>
          <p:cNvSpPr txBox="1"/>
          <p:nvPr/>
        </p:nvSpPr>
        <p:spPr>
          <a:xfrm>
            <a:off x="324000" y="993650"/>
            <a:ext cx="84960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circumference of a circle is the perimeter of the circle.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/>
          </a:p>
        </p:txBody>
      </p:sp>
      <p:sp>
        <p:nvSpPr>
          <p:cNvPr id="779" name="Google Shape;779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an arc of a circle</a:t>
            </a:r>
            <a:endParaRPr/>
          </a:p>
        </p:txBody>
      </p:sp>
      <p:sp>
        <p:nvSpPr>
          <p:cNvPr id="780" name="Google Shape;780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construction of a circle</a:t>
            </a:r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5" name="Shape 785"/>
        <p:cNvGrpSpPr/>
        <p:nvPr/>
      </p:nvGrpSpPr>
      <p:grpSpPr>
        <a:xfrm>
          <a:off x="0" y="0"/>
          <a:ext cx="0" cy="0"/>
        </a:xfrm>
      </p:grpSpPr>
      <p:grpSp>
        <p:nvGrpSpPr>
          <p:cNvPr id="786" name="Google Shape;786;p68"/>
          <p:cNvGrpSpPr/>
          <p:nvPr/>
        </p:nvGrpSpPr>
        <p:grpSpPr>
          <a:xfrm>
            <a:off x="4319934" y="2424525"/>
            <a:ext cx="4185276" cy="1013926"/>
            <a:chOff x="1679505" y="650475"/>
            <a:chExt cx="3722231" cy="925199"/>
          </a:xfrm>
        </p:grpSpPr>
        <p:pic>
          <p:nvPicPr>
            <p:cNvPr id="787" name="Google Shape;787;p68"/>
            <p:cNvPicPr preferRelativeResize="0"/>
            <p:nvPr/>
          </p:nvPicPr>
          <p:blipFill>
            <a:blip r:embed="rId3">
              <a:alphaModFix/>
            </a:blip>
            <a:srcRect l="16814" t="89131" r="69081"/>
            <a:stretch>
              <a:fillRect/>
            </a:stretch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8" name="Google Shape;788;p68"/>
            <p:cNvPicPr preferRelativeResize="0"/>
            <p:nvPr/>
          </p:nvPicPr>
          <p:blipFill>
            <a:blip r:embed="rId3">
              <a:alphaModFix/>
            </a:blip>
            <a:srcRect t="89131" r="84914"/>
            <a:stretch>
              <a:fillRect/>
            </a:stretch>
          </p:blipFill>
          <p:spPr>
            <a:xfrm>
              <a:off x="1679505" y="1242799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9" name="Google Shape;789;p68"/>
            <p:cNvPicPr preferRelativeResize="0"/>
            <p:nvPr/>
          </p:nvPicPr>
          <p:blipFill>
            <a:blip r:embed="rId3">
              <a:alphaModFix/>
            </a:blip>
            <a:srcRect l="13594" t="89131" r="78772"/>
            <a:stretch>
              <a:fillRect/>
            </a:stretch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0" name="Google Shape;790;p68"/>
            <p:cNvPicPr preferRelativeResize="0"/>
            <p:nvPr/>
          </p:nvPicPr>
          <p:blipFill>
            <a:blip r:embed="rId3">
              <a:alphaModFix/>
            </a:blip>
            <a:srcRect l="13594" t="56280" r="78772" b="24818"/>
            <a:stretch>
              <a:fillRect/>
            </a:stretch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1" name="Google Shape;791;p68"/>
            <p:cNvPicPr preferRelativeResize="0"/>
            <p:nvPr/>
          </p:nvPicPr>
          <p:blipFill>
            <a:blip r:embed="rId3">
              <a:alphaModFix/>
            </a:blip>
            <a:srcRect l="16814" t="56280" r="69081" b="23662"/>
            <a:stretch>
              <a:fillRect/>
            </a:stretch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2" name="Google Shape;792;p68"/>
            <p:cNvPicPr preferRelativeResize="0"/>
            <p:nvPr/>
          </p:nvPicPr>
          <p:blipFill>
            <a:blip r:embed="rId3">
              <a:alphaModFix/>
            </a:blip>
            <a:srcRect t="56280" r="84914" b="23662"/>
            <a:stretch>
              <a:fillRect/>
            </a:stretch>
          </p:blipFill>
          <p:spPr>
            <a:xfrm>
              <a:off x="1682975" y="650475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3" name="Google Shape;793;p68"/>
          <p:cNvSpPr/>
          <p:nvPr/>
        </p:nvSpPr>
        <p:spPr>
          <a:xfrm>
            <a:off x="1201546" y="2306650"/>
            <a:ext cx="2065800" cy="2065800"/>
          </a:xfrm>
          <a:prstGeom prst="ellipse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4" name="Google Shape;794;p68"/>
          <p:cNvGrpSpPr/>
          <p:nvPr/>
        </p:nvGrpSpPr>
        <p:grpSpPr>
          <a:xfrm>
            <a:off x="2175688" y="3311101"/>
            <a:ext cx="78305" cy="92079"/>
            <a:chOff x="1514525" y="2733525"/>
            <a:chExt cx="76800" cy="90300"/>
          </a:xfrm>
        </p:grpSpPr>
        <p:cxnSp>
          <p:nvCxnSpPr>
            <p:cNvPr id="795" name="Google Shape;795;p68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6" name="Google Shape;796;p68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97" name="Google Shape;797;p68"/>
          <p:cNvSpPr txBox="1"/>
          <p:nvPr>
            <p:ph type="body" idx="1"/>
          </p:nvPr>
        </p:nvSpPr>
        <p:spPr>
          <a:xfrm>
            <a:off x="324000" y="759300"/>
            <a:ext cx="8496000" cy="76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Take a piece of plain paper and mark a cross somewhere near the middle of the page.</a:t>
            </a:r>
            <a:endParaRPr sz="2000"/>
          </a:p>
        </p:txBody>
      </p:sp>
      <p:sp>
        <p:nvSpPr>
          <p:cNvPr id="798" name="Google Shape;798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a circle</a:t>
            </a:r>
            <a:endParaRPr sz="2200"/>
          </a:p>
        </p:txBody>
      </p:sp>
      <p:cxnSp>
        <p:nvCxnSpPr>
          <p:cNvPr id="799" name="Google Shape;799;p68"/>
          <p:cNvCxnSpPr/>
          <p:nvPr/>
        </p:nvCxnSpPr>
        <p:spPr>
          <a:xfrm rot="10800000">
            <a:off x="1201546" y="3339550"/>
            <a:ext cx="1035900" cy="2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00" name="Google Shape;800;p68"/>
          <p:cNvCxnSpPr/>
          <p:nvPr/>
        </p:nvCxnSpPr>
        <p:spPr>
          <a:xfrm rot="10800000">
            <a:off x="1718013" y="2483940"/>
            <a:ext cx="493800" cy="86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01" name="Google Shape;801;p68"/>
          <p:cNvSpPr txBox="1"/>
          <p:nvPr>
            <p:ph type="body" idx="1"/>
          </p:nvPr>
        </p:nvSpPr>
        <p:spPr>
          <a:xfrm>
            <a:off x="1460389" y="3133662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802" name="Google Shape;802;p68"/>
          <p:cNvSpPr txBox="1"/>
          <p:nvPr>
            <p:ph type="body" idx="1"/>
          </p:nvPr>
        </p:nvSpPr>
        <p:spPr>
          <a:xfrm>
            <a:off x="1959539" y="2632224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803" name="Google Shape;803;p68"/>
          <p:cNvSpPr txBox="1"/>
          <p:nvPr/>
        </p:nvSpPr>
        <p:spPr>
          <a:xfrm>
            <a:off x="228329" y="1368750"/>
            <a:ext cx="859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ruler, mark a point that is exactly 5 cm away from the cross.</a:t>
            </a:r>
            <a:endParaRPr/>
          </a:p>
        </p:txBody>
      </p:sp>
      <p:sp>
        <p:nvSpPr>
          <p:cNvPr id="804" name="Google Shape;804;p68"/>
          <p:cNvSpPr txBox="1"/>
          <p:nvPr/>
        </p:nvSpPr>
        <p:spPr>
          <a:xfrm>
            <a:off x="228329" y="1749750"/>
            <a:ext cx="859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 some more points that are exactly 5 cm away from the cross.</a:t>
            </a:r>
            <a:endParaRPr/>
          </a:p>
        </p:txBody>
      </p:sp>
      <p:sp>
        <p:nvSpPr>
          <p:cNvPr id="805" name="Google Shape;805;p68"/>
          <p:cNvSpPr txBox="1"/>
          <p:nvPr/>
        </p:nvSpPr>
        <p:spPr>
          <a:xfrm>
            <a:off x="4179152" y="3934491"/>
            <a:ext cx="250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notice?</a:t>
            </a:r>
            <a:endParaRPr sz="1800"/>
          </a:p>
        </p:txBody>
      </p:sp>
      <p:sp>
        <p:nvSpPr>
          <p:cNvPr id="806" name="Google Shape;806;p68"/>
          <p:cNvSpPr/>
          <p:nvPr/>
        </p:nvSpPr>
        <p:spPr>
          <a:xfrm>
            <a:off x="1167802" y="3307984"/>
            <a:ext cx="78300" cy="78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8"/>
          <p:cNvSpPr/>
          <p:nvPr/>
        </p:nvSpPr>
        <p:spPr>
          <a:xfrm>
            <a:off x="1225902" y="2942097"/>
            <a:ext cx="78300" cy="78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8"/>
          <p:cNvSpPr/>
          <p:nvPr/>
        </p:nvSpPr>
        <p:spPr>
          <a:xfrm>
            <a:off x="1382105" y="2660859"/>
            <a:ext cx="78300" cy="78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8"/>
          <p:cNvSpPr/>
          <p:nvPr/>
        </p:nvSpPr>
        <p:spPr>
          <a:xfrm>
            <a:off x="1651180" y="2417107"/>
            <a:ext cx="78300" cy="78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8"/>
          <p:cNvSpPr txBox="1"/>
          <p:nvPr>
            <p:ph type="body" idx="1"/>
          </p:nvPr>
        </p:nvSpPr>
        <p:spPr>
          <a:xfrm>
            <a:off x="1744328" y="2741895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cxnSp>
        <p:nvCxnSpPr>
          <p:cNvPr id="811" name="Google Shape;811;p68"/>
          <p:cNvCxnSpPr>
            <a:endCxn id="807" idx="5"/>
          </p:cNvCxnSpPr>
          <p:nvPr/>
        </p:nvCxnSpPr>
        <p:spPr>
          <a:xfrm rot="10800000">
            <a:off x="1292736" y="3008930"/>
            <a:ext cx="890100" cy="33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12" name="Google Shape;812;p68"/>
          <p:cNvSpPr txBox="1"/>
          <p:nvPr>
            <p:ph type="body" idx="1"/>
          </p:nvPr>
        </p:nvSpPr>
        <p:spPr>
          <a:xfrm>
            <a:off x="1605131" y="2921039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cxnSp>
        <p:nvCxnSpPr>
          <p:cNvPr id="813" name="Google Shape;813;p68"/>
          <p:cNvCxnSpPr>
            <a:stCxn id="808" idx="5"/>
          </p:cNvCxnSpPr>
          <p:nvPr/>
        </p:nvCxnSpPr>
        <p:spPr>
          <a:xfrm>
            <a:off x="1448938" y="2727692"/>
            <a:ext cx="763800" cy="62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14" name="Google Shape;814;p68"/>
          <p:cNvSpPr/>
          <p:nvPr/>
        </p:nvSpPr>
        <p:spPr>
          <a:xfrm>
            <a:off x="1945691" y="2300066"/>
            <a:ext cx="78300" cy="78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5" name="Google Shape;815;p68"/>
          <p:cNvCxnSpPr/>
          <p:nvPr/>
        </p:nvCxnSpPr>
        <p:spPr>
          <a:xfrm rot="10800000">
            <a:off x="1988175" y="2378450"/>
            <a:ext cx="212100" cy="967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16" name="Google Shape;816;p68"/>
          <p:cNvSpPr txBox="1"/>
          <p:nvPr>
            <p:ph type="body" idx="1"/>
          </p:nvPr>
        </p:nvSpPr>
        <p:spPr>
          <a:xfrm>
            <a:off x="2104961" y="2632224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817" name="Google Shape;817;p68"/>
          <p:cNvSpPr txBox="1"/>
          <p:nvPr/>
        </p:nvSpPr>
        <p:spPr>
          <a:xfrm>
            <a:off x="2590565" y="4459200"/>
            <a:ext cx="563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would it look like if we plotted 1000 points?</a:t>
            </a:r>
            <a:endParaRPr sz="1800"/>
          </a:p>
        </p:txBody>
      </p:sp>
      <p:sp>
        <p:nvSpPr>
          <p:cNvPr id="818" name="Google Shape;818;p68"/>
          <p:cNvSpPr txBox="1"/>
          <p:nvPr/>
        </p:nvSpPr>
        <p:spPr>
          <a:xfrm>
            <a:off x="7978675" y="41830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9" name="Google Shape;81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221930" y="3438448"/>
            <a:ext cx="420461" cy="7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68"/>
          <p:cNvSpPr txBox="1"/>
          <p:nvPr/>
        </p:nvSpPr>
        <p:spPr>
          <a:xfrm>
            <a:off x="4525766" y="2606700"/>
            <a:ext cx="3677700" cy="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points follow the path of a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circle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8"/>
          <p:cNvSpPr txBox="1"/>
          <p:nvPr/>
        </p:nvSpPr>
        <p:spPr>
          <a:xfrm>
            <a:off x="4523400" y="2606700"/>
            <a:ext cx="3620400" cy="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points would look like a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circle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5" name="Shape 825"/>
        <p:cNvGrpSpPr/>
        <p:nvPr/>
      </p:nvGrpSpPr>
      <p:grpSpPr>
        <a:xfrm>
          <a:off x="0" y="0"/>
          <a:ext cx="0" cy="0"/>
        </a:xfrm>
      </p:grpSpPr>
      <p:sp>
        <p:nvSpPr>
          <p:cNvPr id="826" name="Google Shape;826;p69"/>
          <p:cNvSpPr txBox="1"/>
          <p:nvPr>
            <p:ph type="body" idx="1"/>
          </p:nvPr>
        </p:nvSpPr>
        <p:spPr>
          <a:xfrm>
            <a:off x="324000" y="759300"/>
            <a:ext cx="8237700" cy="80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When we plot multiple points that are all </a:t>
            </a:r>
            <a:r>
              <a:rPr lang="en-GB" sz="2000">
                <a:solidFill>
                  <a:schemeClr val="accent4"/>
                </a:solidFill>
              </a:rPr>
              <a:t>equidistant</a:t>
            </a:r>
            <a:r>
              <a:rPr lang="en-GB" sz="2000"/>
              <a:t> from a single point, they follow the path of a </a:t>
            </a:r>
            <a:r>
              <a:rPr lang="en-GB" sz="2000">
                <a:solidFill>
                  <a:schemeClr val="accent4"/>
                </a:solidFill>
              </a:rPr>
              <a:t>circle</a:t>
            </a:r>
            <a:r>
              <a:rPr lang="en-GB" sz="2000"/>
              <a:t> or an </a:t>
            </a:r>
            <a:r>
              <a:rPr lang="en-GB" sz="2000">
                <a:solidFill>
                  <a:schemeClr val="accent4"/>
                </a:solidFill>
              </a:rPr>
              <a:t>arc</a:t>
            </a:r>
            <a:r>
              <a:rPr lang="en-GB" sz="2000"/>
              <a:t> of a circle.</a:t>
            </a:r>
            <a:endParaRPr sz="2000"/>
          </a:p>
        </p:txBody>
      </p:sp>
      <p:sp>
        <p:nvSpPr>
          <p:cNvPr id="827" name="Google Shape;82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 sz="2200"/>
          </a:p>
        </p:txBody>
      </p:sp>
      <p:grpSp>
        <p:nvGrpSpPr>
          <p:cNvPr id="828" name="Google Shape;828;p69"/>
          <p:cNvGrpSpPr/>
          <p:nvPr/>
        </p:nvGrpSpPr>
        <p:grpSpPr>
          <a:xfrm>
            <a:off x="4537888" y="3387301"/>
            <a:ext cx="78305" cy="92079"/>
            <a:chOff x="1514525" y="2733525"/>
            <a:chExt cx="76800" cy="90300"/>
          </a:xfrm>
        </p:grpSpPr>
        <p:cxnSp>
          <p:nvCxnSpPr>
            <p:cNvPr id="829" name="Google Shape;829;p69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0" name="Google Shape;830;p69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31" name="Google Shape;831;p69"/>
          <p:cNvSpPr/>
          <p:nvPr/>
        </p:nvSpPr>
        <p:spPr>
          <a:xfrm>
            <a:off x="3563746" y="2382850"/>
            <a:ext cx="2065800" cy="20658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2" name="Google Shape;832;p69"/>
          <p:cNvCxnSpPr>
            <a:endCxn id="831" idx="2"/>
          </p:cNvCxnSpPr>
          <p:nvPr/>
        </p:nvCxnSpPr>
        <p:spPr>
          <a:xfrm rot="10800000">
            <a:off x="3563746" y="3415750"/>
            <a:ext cx="1035900" cy="2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33" name="Google Shape;833;p69"/>
          <p:cNvCxnSpPr/>
          <p:nvPr/>
        </p:nvCxnSpPr>
        <p:spPr>
          <a:xfrm rot="10800000" flipH="1">
            <a:off x="4595197" y="2418373"/>
            <a:ext cx="273300" cy="1007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34" name="Google Shape;834;p69"/>
          <p:cNvSpPr txBox="1"/>
          <p:nvPr>
            <p:ph type="body" idx="1"/>
          </p:nvPr>
        </p:nvSpPr>
        <p:spPr>
          <a:xfrm>
            <a:off x="3832668" y="3184664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835" name="Google Shape;835;p69"/>
          <p:cNvSpPr txBox="1"/>
          <p:nvPr>
            <p:ph type="body" idx="1"/>
          </p:nvPr>
        </p:nvSpPr>
        <p:spPr>
          <a:xfrm>
            <a:off x="4793444" y="2860824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836" name="Google Shape;836;p69"/>
          <p:cNvSpPr txBox="1"/>
          <p:nvPr>
            <p:ph type="body" idx="1"/>
          </p:nvPr>
        </p:nvSpPr>
        <p:spPr>
          <a:xfrm>
            <a:off x="324000" y="1521300"/>
            <a:ext cx="8237700" cy="42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</a:t>
            </a:r>
            <a:r>
              <a:rPr lang="en-GB" sz="2000">
                <a:solidFill>
                  <a:schemeClr val="accent4"/>
                </a:solidFill>
              </a:rPr>
              <a:t>circle</a:t>
            </a:r>
            <a:r>
              <a:rPr lang="en-GB" sz="2000"/>
              <a:t> is a shape such that every point is equidistant to its centre.</a:t>
            </a:r>
            <a:endParaRPr sz="2000"/>
          </a:p>
        </p:txBody>
      </p:sp>
      <p:cxnSp>
        <p:nvCxnSpPr>
          <p:cNvPr id="837" name="Google Shape;837;p69"/>
          <p:cNvCxnSpPr/>
          <p:nvPr/>
        </p:nvCxnSpPr>
        <p:spPr>
          <a:xfrm rot="10800000">
            <a:off x="4588550" y="3452250"/>
            <a:ext cx="524100" cy="84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38" name="Google Shape;838;p69"/>
          <p:cNvSpPr txBox="1"/>
          <p:nvPr>
            <p:ph type="body" idx="1"/>
          </p:nvPr>
        </p:nvSpPr>
        <p:spPr>
          <a:xfrm>
            <a:off x="4864599" y="3646918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2" name="Shape 842"/>
        <p:cNvGrpSpPr/>
        <p:nvPr/>
      </p:nvGrpSpPr>
      <p:grpSpPr>
        <a:xfrm>
          <a:off x="0" y="0"/>
          <a:ext cx="0" cy="0"/>
        </a:xfrm>
      </p:grpSpPr>
      <p:sp>
        <p:nvSpPr>
          <p:cNvPr id="843" name="Google Shape;84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 sz="2200"/>
          </a:p>
        </p:txBody>
      </p:sp>
      <p:pic>
        <p:nvPicPr>
          <p:cNvPr id="844" name="Google Shape;84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900" y="1785175"/>
            <a:ext cx="4060355" cy="2626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5" name="Google Shape;845;p70"/>
          <p:cNvCxnSpPr/>
          <p:nvPr/>
        </p:nvCxnSpPr>
        <p:spPr>
          <a:xfrm flipH="1">
            <a:off x="3932282" y="3102821"/>
            <a:ext cx="338400" cy="443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46" name="Google Shape;846;p70"/>
          <p:cNvSpPr txBox="1"/>
          <p:nvPr>
            <p:ph type="body" idx="1"/>
          </p:nvPr>
        </p:nvSpPr>
        <p:spPr>
          <a:xfrm>
            <a:off x="4694125" y="3863538"/>
            <a:ext cx="24225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accent4"/>
                </a:solidFill>
              </a:rPr>
              <a:t>Each radius is 13 inches.</a:t>
            </a:r>
            <a:endParaRPr sz="1600">
              <a:solidFill>
                <a:schemeClr val="accent4"/>
              </a:solidFill>
            </a:endParaRPr>
          </a:p>
        </p:txBody>
      </p:sp>
      <p:pic>
        <p:nvPicPr>
          <p:cNvPr id="847" name="Google Shape;84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8787" y="29899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0"/>
          <p:cNvSpPr txBox="1"/>
          <p:nvPr/>
        </p:nvSpPr>
        <p:spPr>
          <a:xfrm>
            <a:off x="7886225" y="4006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9" name="Google Shape;849;p70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5429400" y="1705875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0"/>
          <p:cNvSpPr txBox="1"/>
          <p:nvPr/>
        </p:nvSpPr>
        <p:spPr>
          <a:xfrm>
            <a:off x="5500650" y="1813850"/>
            <a:ext cx="23412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Imagine what it would be like if every point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wasn’t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equidistant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to the centre.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1" name="Google Shape;851;p70"/>
          <p:cNvGrpSpPr/>
          <p:nvPr/>
        </p:nvGrpSpPr>
        <p:grpSpPr>
          <a:xfrm>
            <a:off x="3028176" y="2614249"/>
            <a:ext cx="1887340" cy="1843440"/>
            <a:chOff x="2799576" y="2461849"/>
            <a:chExt cx="1887340" cy="1843440"/>
          </a:xfrm>
        </p:grpSpPr>
        <p:grpSp>
          <p:nvGrpSpPr>
            <p:cNvPr id="852" name="Google Shape;852;p70"/>
            <p:cNvGrpSpPr/>
            <p:nvPr/>
          </p:nvGrpSpPr>
          <p:grpSpPr>
            <a:xfrm>
              <a:off x="2799576" y="2461849"/>
              <a:ext cx="1887340" cy="1843440"/>
              <a:chOff x="3104376" y="2461849"/>
              <a:chExt cx="1887340" cy="1843440"/>
            </a:xfrm>
          </p:grpSpPr>
          <p:sp>
            <p:nvSpPr>
              <p:cNvPr id="853" name="Google Shape;853;p70"/>
              <p:cNvSpPr/>
              <p:nvPr/>
            </p:nvSpPr>
            <p:spPr>
              <a:xfrm>
                <a:off x="3378625" y="2745850"/>
                <a:ext cx="1238600" cy="1304900"/>
              </a:xfrm>
              <a:custGeom>
                <a:rect l="l" t="t" r="r" b="b"/>
                <a:pathLst>
                  <a:path w="49544" h="52196" extrusionOk="0">
                    <a:moveTo>
                      <a:pt x="44520" y="1117"/>
                    </a:moveTo>
                    <a:lnTo>
                      <a:pt x="48009" y="7118"/>
                    </a:lnTo>
                    <a:lnTo>
                      <a:pt x="48846" y="13119"/>
                    </a:lnTo>
                    <a:lnTo>
                      <a:pt x="49544" y="22748"/>
                    </a:lnTo>
                    <a:lnTo>
                      <a:pt x="48846" y="35728"/>
                    </a:lnTo>
                    <a:lnTo>
                      <a:pt x="45217" y="43264"/>
                    </a:lnTo>
                    <a:lnTo>
                      <a:pt x="38937" y="49125"/>
                    </a:lnTo>
                    <a:lnTo>
                      <a:pt x="31820" y="52196"/>
                    </a:lnTo>
                    <a:lnTo>
                      <a:pt x="19957" y="52196"/>
                    </a:lnTo>
                    <a:lnTo>
                      <a:pt x="9909" y="48428"/>
                    </a:lnTo>
                    <a:lnTo>
                      <a:pt x="4745" y="42147"/>
                    </a:lnTo>
                    <a:lnTo>
                      <a:pt x="1116" y="31820"/>
                    </a:lnTo>
                    <a:lnTo>
                      <a:pt x="0" y="24004"/>
                    </a:lnTo>
                    <a:lnTo>
                      <a:pt x="1674" y="16468"/>
                    </a:lnTo>
                    <a:lnTo>
                      <a:pt x="3907" y="12142"/>
                    </a:lnTo>
                    <a:lnTo>
                      <a:pt x="8094" y="8234"/>
                    </a:lnTo>
                    <a:lnTo>
                      <a:pt x="14933" y="4745"/>
                    </a:lnTo>
                    <a:lnTo>
                      <a:pt x="20655" y="2652"/>
                    </a:lnTo>
                    <a:lnTo>
                      <a:pt x="29307" y="977"/>
                    </a:lnTo>
                    <a:lnTo>
                      <a:pt x="35448" y="0"/>
                    </a:lnTo>
                    <a:lnTo>
                      <a:pt x="41728" y="419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/>
            </p:txBody>
          </p:sp>
          <p:grpSp>
            <p:nvGrpSpPr>
              <p:cNvPr id="854" name="Google Shape;854;p70"/>
              <p:cNvGrpSpPr/>
              <p:nvPr/>
            </p:nvGrpSpPr>
            <p:grpSpPr>
              <a:xfrm rot="-7212367">
                <a:off x="3396312" y="2671049"/>
                <a:ext cx="1303468" cy="1425040"/>
                <a:chOff x="3043029" y="2758216"/>
                <a:chExt cx="1303500" cy="1425074"/>
              </a:xfrm>
            </p:grpSpPr>
            <p:sp>
              <p:nvSpPr>
                <p:cNvPr id="855" name="Google Shape;855;p70"/>
                <p:cNvSpPr/>
                <p:nvPr/>
              </p:nvSpPr>
              <p:spPr>
                <a:xfrm>
                  <a:off x="3043029" y="2758216"/>
                  <a:ext cx="1303500" cy="1303500"/>
                </a:xfrm>
                <a:prstGeom prst="arc">
                  <a:avLst>
                    <a:gd name="adj1" fmla="val 7810444"/>
                    <a:gd name="adj2" fmla="val 249177"/>
                  </a:avLst>
                </a:prstGeom>
                <a:noFill/>
                <a:ln w="152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56" name="Google Shape;856;p70"/>
                <p:cNvSpPr/>
                <p:nvPr/>
              </p:nvSpPr>
              <p:spPr>
                <a:xfrm>
                  <a:off x="3220347" y="3359916"/>
                  <a:ext cx="1123475" cy="823375"/>
                </a:xfrm>
                <a:custGeom>
                  <a:rect l="l" t="t" r="r" b="b"/>
                  <a:pathLst>
                    <a:path w="44939" h="32935" extrusionOk="0">
                      <a:moveTo>
                        <a:pt x="0" y="20097"/>
                      </a:moveTo>
                      <a:cubicBezTo>
                        <a:pt x="9681" y="26543"/>
                        <a:pt x="21375" y="35200"/>
                        <a:pt x="32658" y="32378"/>
                      </a:cubicBezTo>
                      <a:cubicBezTo>
                        <a:pt x="36839" y="31332"/>
                        <a:pt x="38034" y="25493"/>
                        <a:pt x="39636" y="21492"/>
                      </a:cubicBezTo>
                      <a:cubicBezTo>
                        <a:pt x="42379" y="14642"/>
                        <a:pt x="44939" y="7379"/>
                        <a:pt x="44939" y="0"/>
                      </a:cubicBezTo>
                    </a:path>
                  </a:pathLst>
                </a:custGeom>
                <a:noFill/>
                <a:ln w="1524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/>
              </p:txBody>
            </p:sp>
          </p:grpSp>
        </p:grpSp>
        <p:cxnSp>
          <p:nvCxnSpPr>
            <p:cNvPr id="857" name="Google Shape;857;p70"/>
            <p:cNvCxnSpPr/>
            <p:nvPr/>
          </p:nvCxnSpPr>
          <p:spPr>
            <a:xfrm flipH="1">
              <a:off x="3703800" y="2770275"/>
              <a:ext cx="388800" cy="62370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858" name="Google Shape;858;p70"/>
          <p:cNvCxnSpPr/>
          <p:nvPr/>
        </p:nvCxnSpPr>
        <p:spPr>
          <a:xfrm rot="10800000">
            <a:off x="3931923" y="3546105"/>
            <a:ext cx="254100" cy="552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59" name="Google Shape;859;p70"/>
          <p:cNvCxnSpPr/>
          <p:nvPr/>
        </p:nvCxnSpPr>
        <p:spPr>
          <a:xfrm flipH="1">
            <a:off x="3348848" y="3556668"/>
            <a:ext cx="580800" cy="84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60" name="Google Shape;860;p70"/>
          <p:cNvSpPr txBox="1"/>
          <p:nvPr>
            <p:ph type="body" idx="1"/>
          </p:nvPr>
        </p:nvSpPr>
        <p:spPr>
          <a:xfrm>
            <a:off x="308512" y="4516332"/>
            <a:ext cx="82377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Can you think of anything else that forms or moves in a circle?</a:t>
            </a:r>
            <a:endParaRPr sz="2000"/>
          </a:p>
        </p:txBody>
      </p:sp>
      <p:sp>
        <p:nvSpPr>
          <p:cNvPr id="861" name="Google Shape;861;p70"/>
          <p:cNvSpPr txBox="1"/>
          <p:nvPr>
            <p:ph type="body" idx="1"/>
          </p:nvPr>
        </p:nvSpPr>
        <p:spPr>
          <a:xfrm>
            <a:off x="324000" y="759300"/>
            <a:ext cx="8237700" cy="80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For example, the side view of a wheel is a </a:t>
            </a:r>
            <a:r>
              <a:rPr lang="en-GB" sz="2000">
                <a:solidFill>
                  <a:schemeClr val="accent4"/>
                </a:solidFill>
              </a:rPr>
              <a:t>circle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62" name="Google Shape;862;p70"/>
          <p:cNvSpPr txBox="1"/>
          <p:nvPr>
            <p:ph type="body" idx="1"/>
          </p:nvPr>
        </p:nvSpPr>
        <p:spPr>
          <a:xfrm>
            <a:off x="324000" y="1090644"/>
            <a:ext cx="8453100" cy="80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Why is it important for every point on the edge of a wheel to be </a:t>
            </a:r>
            <a:r>
              <a:rPr lang="en-GB" sz="2000">
                <a:solidFill>
                  <a:schemeClr val="accent4"/>
                </a:solidFill>
              </a:rPr>
              <a:t>equidistant</a:t>
            </a:r>
            <a:r>
              <a:rPr lang="en-GB" sz="2000"/>
              <a:t> to its centre?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6" name="Shape 866"/>
        <p:cNvGrpSpPr/>
        <p:nvPr/>
      </p:nvGrpSpPr>
      <p:grpSpPr>
        <a:xfrm>
          <a:off x="0" y="0"/>
          <a:ext cx="0" cy="0"/>
        </a:xfrm>
      </p:grpSpPr>
      <p:sp>
        <p:nvSpPr>
          <p:cNvPr id="867" name="Google Shape;86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 sz="2200"/>
          </a:p>
        </p:txBody>
      </p:sp>
      <p:sp>
        <p:nvSpPr>
          <p:cNvPr id="868" name="Google Shape;868;p71"/>
          <p:cNvSpPr txBox="1"/>
          <p:nvPr>
            <p:ph type="body" idx="1"/>
          </p:nvPr>
        </p:nvSpPr>
        <p:spPr>
          <a:xfrm>
            <a:off x="308500" y="3373325"/>
            <a:ext cx="2578800" cy="87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/>
              <a:t>Each pod is </a:t>
            </a:r>
            <a:r>
              <a:rPr lang="en-GB" sz="1700">
                <a:solidFill>
                  <a:schemeClr val="accent4"/>
                </a:solidFill>
              </a:rPr>
              <a:t>equidistant</a:t>
            </a:r>
            <a:r>
              <a:rPr lang="en-GB" sz="1700"/>
              <a:t> from the fixed point at the centre of the wheel.</a:t>
            </a:r>
            <a:endParaRPr sz="1700"/>
          </a:p>
        </p:txBody>
      </p:sp>
      <p:pic>
        <p:nvPicPr>
          <p:cNvPr id="869" name="Google Shape;869;p71"/>
          <p:cNvPicPr preferRelativeResize="0"/>
          <p:nvPr/>
        </p:nvPicPr>
        <p:blipFill>
          <a:blip r:embed="rId3">
            <a:alphaModFix/>
          </a:blip>
          <a:srcRect l="5617" t="56878" r="70682" b="8117"/>
          <a:stretch>
            <a:fillRect/>
          </a:stretch>
        </p:blipFill>
        <p:spPr>
          <a:xfrm>
            <a:off x="490398" y="1079999"/>
            <a:ext cx="2067087" cy="215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2457" y="1080000"/>
            <a:ext cx="216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1"/>
          <p:cNvPicPr preferRelativeResize="0"/>
          <p:nvPr/>
        </p:nvPicPr>
        <p:blipFill>
          <a:blip r:embed="rId5">
            <a:alphaModFix/>
          </a:blip>
          <a:srcRect t="14987"/>
          <a:stretch>
            <a:fillRect/>
          </a:stretch>
        </p:blipFill>
        <p:spPr>
          <a:xfrm>
            <a:off x="6180600" y="1079625"/>
            <a:ext cx="2540899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1"/>
          <p:cNvSpPr txBox="1"/>
          <p:nvPr>
            <p:ph type="body" idx="1"/>
          </p:nvPr>
        </p:nvSpPr>
        <p:spPr>
          <a:xfrm>
            <a:off x="3298357" y="3373325"/>
            <a:ext cx="2578800" cy="11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/>
              <a:t>The tip of each hand remains </a:t>
            </a:r>
            <a:r>
              <a:rPr lang="en-GB" sz="1700">
                <a:solidFill>
                  <a:schemeClr val="accent4"/>
                </a:solidFill>
              </a:rPr>
              <a:t>equidistant</a:t>
            </a:r>
            <a:r>
              <a:rPr lang="en-GB" sz="1700"/>
              <a:t> from the fixed point at the centre</a:t>
            </a:r>
            <a:r>
              <a:rPr lang="en-GB" sz="1700" b="1"/>
              <a:t> </a:t>
            </a:r>
            <a:r>
              <a:rPr lang="en-GB" sz="1700"/>
              <a:t>of the clock.</a:t>
            </a:r>
            <a:endParaRPr sz="1700"/>
          </a:p>
        </p:txBody>
      </p:sp>
      <p:sp>
        <p:nvSpPr>
          <p:cNvPr id="873" name="Google Shape;873;p71"/>
          <p:cNvSpPr txBox="1"/>
          <p:nvPr>
            <p:ph type="body" idx="1"/>
          </p:nvPr>
        </p:nvSpPr>
        <p:spPr>
          <a:xfrm>
            <a:off x="6184925" y="3373325"/>
            <a:ext cx="2636400" cy="11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/>
              <a:t>The edges of an impact crater are approximately </a:t>
            </a:r>
            <a:r>
              <a:rPr lang="en-GB" sz="1700">
                <a:solidFill>
                  <a:schemeClr val="accent4"/>
                </a:solidFill>
              </a:rPr>
              <a:t>equidistant</a:t>
            </a:r>
            <a:r>
              <a:rPr lang="en-GB" sz="1700"/>
              <a:t> from its centre.</a:t>
            </a:r>
            <a:endParaRPr sz="17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p72"/>
          <p:cNvSpPr/>
          <p:nvPr/>
        </p:nvSpPr>
        <p:spPr>
          <a:xfrm>
            <a:off x="5266250" y="2267925"/>
            <a:ext cx="2022000" cy="2022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2"/>
          <p:cNvSpPr txBox="1"/>
          <p:nvPr>
            <p:ph type="body" idx="1"/>
          </p:nvPr>
        </p:nvSpPr>
        <p:spPr>
          <a:xfrm>
            <a:off x="324000" y="759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 which circle is the centre plotted in the correct position?</a:t>
            </a:r>
            <a:endParaRPr sz="2000"/>
          </a:p>
        </p:txBody>
      </p:sp>
      <p:sp>
        <p:nvSpPr>
          <p:cNvPr id="880" name="Google Shape;88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a circle</a:t>
            </a:r>
            <a:r>
              <a:rPr lang="en-GB" sz="2200"/>
              <a:t> </a:t>
            </a:r>
            <a:endParaRPr/>
          </a:p>
        </p:txBody>
      </p:sp>
      <p:sp>
        <p:nvSpPr>
          <p:cNvPr id="881" name="Google Shape;881;p72"/>
          <p:cNvSpPr txBox="1"/>
          <p:nvPr>
            <p:ph type="body" idx="1"/>
          </p:nvPr>
        </p:nvSpPr>
        <p:spPr>
          <a:xfrm>
            <a:off x="324000" y="1140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Let’s investigate.</a:t>
            </a:r>
            <a:endParaRPr sz="2000"/>
          </a:p>
        </p:txBody>
      </p:sp>
      <p:sp>
        <p:nvSpPr>
          <p:cNvPr id="882" name="Google Shape;882;p72"/>
          <p:cNvSpPr/>
          <p:nvPr/>
        </p:nvSpPr>
        <p:spPr>
          <a:xfrm>
            <a:off x="2123650" y="3240125"/>
            <a:ext cx="77700" cy="77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2"/>
          <p:cNvSpPr/>
          <p:nvPr/>
        </p:nvSpPr>
        <p:spPr>
          <a:xfrm>
            <a:off x="1151450" y="2267925"/>
            <a:ext cx="2022000" cy="2022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2"/>
          <p:cNvSpPr/>
          <p:nvPr/>
        </p:nvSpPr>
        <p:spPr>
          <a:xfrm>
            <a:off x="6314650" y="3316325"/>
            <a:ext cx="77700" cy="77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5" name="Google Shape;88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1083" y="40896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3588" y="4089354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2"/>
          <p:cNvSpPr txBox="1"/>
          <p:nvPr>
            <p:ph type="body" idx="1"/>
          </p:nvPr>
        </p:nvSpPr>
        <p:spPr>
          <a:xfrm>
            <a:off x="316700" y="1838502"/>
            <a:ext cx="83508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point in the left diagram looks more like it is in the centre.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8" name="Google Shape;888;p72"/>
          <p:cNvSpPr txBox="1"/>
          <p:nvPr>
            <p:ph type="body" idx="1"/>
          </p:nvPr>
        </p:nvSpPr>
        <p:spPr>
          <a:xfrm>
            <a:off x="324000" y="1521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Method 1: look at each diagram</a:t>
            </a:r>
            <a:endParaRPr sz="2000"/>
          </a:p>
        </p:txBody>
      </p:sp>
      <p:sp>
        <p:nvSpPr>
          <p:cNvPr id="889" name="Google Shape;889;p72"/>
          <p:cNvSpPr txBox="1"/>
          <p:nvPr>
            <p:ph type="body" idx="1"/>
          </p:nvPr>
        </p:nvSpPr>
        <p:spPr>
          <a:xfrm>
            <a:off x="2586759" y="4549250"/>
            <a:ext cx="39546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could we be more certain?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3" name="Shape 893"/>
        <p:cNvGrpSpPr/>
        <p:nvPr/>
      </p:nvGrpSpPr>
      <p:grpSpPr>
        <a:xfrm>
          <a:off x="0" y="0"/>
          <a:ext cx="0" cy="0"/>
        </a:xfrm>
      </p:grpSpPr>
      <p:sp>
        <p:nvSpPr>
          <p:cNvPr id="894" name="Google Shape;894;p73"/>
          <p:cNvSpPr/>
          <p:nvPr/>
        </p:nvSpPr>
        <p:spPr>
          <a:xfrm>
            <a:off x="5266250" y="2267925"/>
            <a:ext cx="2022000" cy="2022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3"/>
          <p:cNvSpPr txBox="1"/>
          <p:nvPr>
            <p:ph type="body" idx="1"/>
          </p:nvPr>
        </p:nvSpPr>
        <p:spPr>
          <a:xfrm>
            <a:off x="324000" y="759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 which circle is the centre plotted in the correct position?</a:t>
            </a:r>
            <a:endParaRPr sz="2000"/>
          </a:p>
        </p:txBody>
      </p:sp>
      <p:sp>
        <p:nvSpPr>
          <p:cNvPr id="896" name="Google Shape;89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a circle</a:t>
            </a:r>
            <a:r>
              <a:rPr lang="en-GB" sz="2200"/>
              <a:t> </a:t>
            </a:r>
            <a:endParaRPr/>
          </a:p>
        </p:txBody>
      </p:sp>
      <p:sp>
        <p:nvSpPr>
          <p:cNvPr id="897" name="Google Shape;897;p73"/>
          <p:cNvSpPr txBox="1"/>
          <p:nvPr>
            <p:ph type="body" idx="1"/>
          </p:nvPr>
        </p:nvSpPr>
        <p:spPr>
          <a:xfrm>
            <a:off x="324000" y="1140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Let’s investigate.</a:t>
            </a:r>
            <a:endParaRPr sz="2000"/>
          </a:p>
        </p:txBody>
      </p:sp>
      <p:sp>
        <p:nvSpPr>
          <p:cNvPr id="898" name="Google Shape;898;p73"/>
          <p:cNvSpPr/>
          <p:nvPr/>
        </p:nvSpPr>
        <p:spPr>
          <a:xfrm>
            <a:off x="2123650" y="3240125"/>
            <a:ext cx="77700" cy="77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3"/>
          <p:cNvSpPr/>
          <p:nvPr/>
        </p:nvSpPr>
        <p:spPr>
          <a:xfrm>
            <a:off x="1151450" y="2267925"/>
            <a:ext cx="2022000" cy="2022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3"/>
          <p:cNvSpPr/>
          <p:nvPr/>
        </p:nvSpPr>
        <p:spPr>
          <a:xfrm>
            <a:off x="6314650" y="3316325"/>
            <a:ext cx="77700" cy="77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1" name="Google Shape;901;p73"/>
          <p:cNvPicPr preferRelativeResize="0"/>
          <p:nvPr/>
        </p:nvPicPr>
        <p:blipFill>
          <a:blip r:embed="rId3">
            <a:alphaModFix/>
          </a:blip>
          <a:srcRect l="3652" t="12995" r="63593" b="40325"/>
          <a:stretch>
            <a:fillRect/>
          </a:stretch>
        </p:blipFill>
        <p:spPr>
          <a:xfrm rot="-24">
            <a:off x="2079289" y="3278811"/>
            <a:ext cx="2229007" cy="384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3"/>
          <p:cNvPicPr preferRelativeResize="0"/>
          <p:nvPr/>
        </p:nvPicPr>
        <p:blipFill>
          <a:blip r:embed="rId3">
            <a:alphaModFix/>
          </a:blip>
          <a:srcRect l="3652" t="12995" r="63593" b="40325"/>
          <a:stretch>
            <a:fillRect/>
          </a:stretch>
        </p:blipFill>
        <p:spPr>
          <a:xfrm rot="-24">
            <a:off x="1069645" y="3283140"/>
            <a:ext cx="2229007" cy="384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3"/>
          <p:cNvPicPr preferRelativeResize="0"/>
          <p:nvPr/>
        </p:nvPicPr>
        <p:blipFill>
          <a:blip r:embed="rId3">
            <a:alphaModFix/>
          </a:blip>
          <a:srcRect l="3651" t="12995" r="69363" b="40325"/>
          <a:stretch>
            <a:fillRect/>
          </a:stretch>
        </p:blipFill>
        <p:spPr>
          <a:xfrm rot="2700000">
            <a:off x="1686534" y="3815746"/>
            <a:ext cx="1836405" cy="384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3"/>
          <p:cNvPicPr preferRelativeResize="0"/>
          <p:nvPr/>
        </p:nvPicPr>
        <p:blipFill>
          <a:blip r:embed="rId3">
            <a:alphaModFix/>
          </a:blip>
          <a:srcRect l="3652" t="12995" r="63593" b="40325"/>
          <a:stretch>
            <a:fillRect/>
          </a:stretch>
        </p:blipFill>
        <p:spPr>
          <a:xfrm rot="-24">
            <a:off x="6270289" y="3355011"/>
            <a:ext cx="2229007" cy="384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3"/>
          <p:cNvPicPr preferRelativeResize="0"/>
          <p:nvPr/>
        </p:nvPicPr>
        <p:blipFill>
          <a:blip r:embed="rId3">
            <a:alphaModFix/>
          </a:blip>
          <a:srcRect l="3652" t="12995" r="63593" b="40325"/>
          <a:stretch>
            <a:fillRect/>
          </a:stretch>
        </p:blipFill>
        <p:spPr>
          <a:xfrm rot="-24">
            <a:off x="5184445" y="3359340"/>
            <a:ext cx="2229007" cy="384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3"/>
          <p:cNvPicPr preferRelativeResize="0"/>
          <p:nvPr/>
        </p:nvPicPr>
        <p:blipFill>
          <a:blip r:embed="rId3">
            <a:alphaModFix/>
          </a:blip>
          <a:srcRect l="3652" t="12995" r="70423" b="40325"/>
          <a:stretch>
            <a:fillRect/>
          </a:stretch>
        </p:blipFill>
        <p:spPr>
          <a:xfrm rot="2699965">
            <a:off x="5901099" y="3862069"/>
            <a:ext cx="1764153" cy="38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3"/>
          <p:cNvPicPr preferRelativeResize="0"/>
          <p:nvPr/>
        </p:nvPicPr>
        <p:blipFill>
          <a:blip r:embed="rId3">
            <a:alphaModFix/>
          </a:blip>
          <a:srcRect l="3652" t="12995" r="63593" b="40325"/>
          <a:stretch>
            <a:fillRect/>
          </a:stretch>
        </p:blipFill>
        <p:spPr>
          <a:xfrm rot="2699978">
            <a:off x="925916" y="3242770"/>
            <a:ext cx="2229007" cy="384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3"/>
          <p:cNvPicPr preferRelativeResize="0"/>
          <p:nvPr/>
        </p:nvPicPr>
        <p:blipFill>
          <a:blip r:embed="rId3">
            <a:alphaModFix/>
          </a:blip>
          <a:srcRect l="3652" t="12995" r="63593" b="40325"/>
          <a:stretch>
            <a:fillRect/>
          </a:stretch>
        </p:blipFill>
        <p:spPr>
          <a:xfrm rot="2699978">
            <a:off x="5045045" y="3247100"/>
            <a:ext cx="2229007" cy="384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1083" y="40896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3588" y="4089354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3"/>
          <p:cNvSpPr txBox="1"/>
          <p:nvPr>
            <p:ph type="body" idx="1"/>
          </p:nvPr>
        </p:nvSpPr>
        <p:spPr>
          <a:xfrm>
            <a:off x="3533175" y="2430350"/>
            <a:ext cx="7065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2" name="Google Shape;912;p73"/>
          <p:cNvSpPr txBox="1"/>
          <p:nvPr>
            <p:ph type="body" idx="1"/>
          </p:nvPr>
        </p:nvSpPr>
        <p:spPr>
          <a:xfrm>
            <a:off x="3533175" y="2811350"/>
            <a:ext cx="7065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3" name="Google Shape;913;p73"/>
          <p:cNvSpPr txBox="1"/>
          <p:nvPr>
            <p:ph type="body" idx="1"/>
          </p:nvPr>
        </p:nvSpPr>
        <p:spPr>
          <a:xfrm>
            <a:off x="3533175" y="3192350"/>
            <a:ext cx="7065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4" name="Google Shape;914;p73"/>
          <p:cNvSpPr txBox="1"/>
          <p:nvPr>
            <p:ph type="body" idx="1"/>
          </p:nvPr>
        </p:nvSpPr>
        <p:spPr>
          <a:xfrm>
            <a:off x="3533175" y="3573350"/>
            <a:ext cx="7065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5" name="Google Shape;915;p73"/>
          <p:cNvSpPr txBox="1"/>
          <p:nvPr>
            <p:ph type="body" idx="1"/>
          </p:nvPr>
        </p:nvSpPr>
        <p:spPr>
          <a:xfrm>
            <a:off x="7647975" y="2430350"/>
            <a:ext cx="8823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5.3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3"/>
          <p:cNvSpPr txBox="1"/>
          <p:nvPr>
            <p:ph type="body" idx="1"/>
          </p:nvPr>
        </p:nvSpPr>
        <p:spPr>
          <a:xfrm>
            <a:off x="7647975" y="2811350"/>
            <a:ext cx="8823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4.6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7" name="Google Shape;917;p73"/>
          <p:cNvSpPr txBox="1"/>
          <p:nvPr>
            <p:ph type="body" idx="1"/>
          </p:nvPr>
        </p:nvSpPr>
        <p:spPr>
          <a:xfrm>
            <a:off x="7647975" y="3192350"/>
            <a:ext cx="9081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5.5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8" name="Google Shape;918;p73"/>
          <p:cNvSpPr txBox="1"/>
          <p:nvPr>
            <p:ph type="body" idx="1"/>
          </p:nvPr>
        </p:nvSpPr>
        <p:spPr>
          <a:xfrm>
            <a:off x="7647975" y="3573350"/>
            <a:ext cx="9081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4.5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9" name="Google Shape;919;p73"/>
          <p:cNvSpPr txBox="1"/>
          <p:nvPr>
            <p:ph type="body" idx="1"/>
          </p:nvPr>
        </p:nvSpPr>
        <p:spPr>
          <a:xfrm>
            <a:off x="3380775" y="2049350"/>
            <a:ext cx="7065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radii: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73"/>
          <p:cNvSpPr txBox="1"/>
          <p:nvPr>
            <p:ph type="body" idx="1"/>
          </p:nvPr>
        </p:nvSpPr>
        <p:spPr>
          <a:xfrm>
            <a:off x="7495575" y="2049350"/>
            <a:ext cx="706500" cy="2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radii: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1" name="Google Shape;921;p73"/>
          <p:cNvSpPr txBox="1"/>
          <p:nvPr>
            <p:ph type="body" idx="1"/>
          </p:nvPr>
        </p:nvSpPr>
        <p:spPr>
          <a:xfrm>
            <a:off x="324000" y="1521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Method 2: using a ruler</a:t>
            </a:r>
            <a:endParaRPr sz="2000"/>
          </a:p>
        </p:txBody>
      </p:sp>
      <p:sp>
        <p:nvSpPr>
          <p:cNvPr id="922" name="Google Shape;922;p73"/>
          <p:cNvSpPr txBox="1"/>
          <p:nvPr>
            <p:ph type="body" idx="1"/>
          </p:nvPr>
        </p:nvSpPr>
        <p:spPr>
          <a:xfrm>
            <a:off x="2586759" y="4549250"/>
            <a:ext cx="39546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could we be more certain?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sp>
        <p:nvSpPr>
          <p:cNvPr id="927" name="Google Shape;927;p74"/>
          <p:cNvSpPr/>
          <p:nvPr/>
        </p:nvSpPr>
        <p:spPr>
          <a:xfrm>
            <a:off x="5266250" y="2267925"/>
            <a:ext cx="2022000" cy="2022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4"/>
          <p:cNvSpPr txBox="1"/>
          <p:nvPr>
            <p:ph type="body" idx="1"/>
          </p:nvPr>
        </p:nvSpPr>
        <p:spPr>
          <a:xfrm>
            <a:off x="324000" y="759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 which circle is the centre plotted in the correct position?</a:t>
            </a:r>
            <a:endParaRPr sz="2000"/>
          </a:p>
        </p:txBody>
      </p:sp>
      <p:sp>
        <p:nvSpPr>
          <p:cNvPr id="929" name="Google Shape;92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a circle</a:t>
            </a:r>
            <a:r>
              <a:rPr lang="en-GB" sz="2200"/>
              <a:t> </a:t>
            </a:r>
            <a:endParaRPr/>
          </a:p>
        </p:txBody>
      </p:sp>
      <p:sp>
        <p:nvSpPr>
          <p:cNvPr id="930" name="Google Shape;930;p74"/>
          <p:cNvSpPr txBox="1"/>
          <p:nvPr>
            <p:ph type="body" idx="1"/>
          </p:nvPr>
        </p:nvSpPr>
        <p:spPr>
          <a:xfrm>
            <a:off x="324000" y="1140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Let’s investigate.</a:t>
            </a:r>
            <a:endParaRPr sz="2000"/>
          </a:p>
        </p:txBody>
      </p:sp>
      <p:sp>
        <p:nvSpPr>
          <p:cNvPr id="931" name="Google Shape;931;p74"/>
          <p:cNvSpPr/>
          <p:nvPr/>
        </p:nvSpPr>
        <p:spPr>
          <a:xfrm>
            <a:off x="2123650" y="3240125"/>
            <a:ext cx="77700" cy="77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4"/>
          <p:cNvSpPr/>
          <p:nvPr/>
        </p:nvSpPr>
        <p:spPr>
          <a:xfrm>
            <a:off x="1151450" y="2267925"/>
            <a:ext cx="2022000" cy="2022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4"/>
          <p:cNvSpPr/>
          <p:nvPr/>
        </p:nvSpPr>
        <p:spPr>
          <a:xfrm>
            <a:off x="6314650" y="3316325"/>
            <a:ext cx="77700" cy="77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4" name="Google Shape;93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1083" y="40896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3588" y="4089354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4"/>
          <p:cNvSpPr txBox="1"/>
          <p:nvPr>
            <p:ph type="body" idx="1"/>
          </p:nvPr>
        </p:nvSpPr>
        <p:spPr>
          <a:xfrm>
            <a:off x="324000" y="1521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Method 3: using a pair of compasses</a:t>
            </a:r>
            <a:endParaRPr sz="2000"/>
          </a:p>
        </p:txBody>
      </p:sp>
      <p:sp>
        <p:nvSpPr>
          <p:cNvPr id="937" name="Google Shape;937;p74"/>
          <p:cNvSpPr/>
          <p:nvPr/>
        </p:nvSpPr>
        <p:spPr>
          <a:xfrm>
            <a:off x="1151450" y="2267925"/>
            <a:ext cx="2022000" cy="20223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8" name="Google Shape;938;p74"/>
          <p:cNvGrpSpPr/>
          <p:nvPr/>
        </p:nvGrpSpPr>
        <p:grpSpPr>
          <a:xfrm>
            <a:off x="2091293" y="1853091"/>
            <a:ext cx="1309905" cy="1548141"/>
            <a:chOff x="4524154" y="1447627"/>
            <a:chExt cx="1459504" cy="1724948"/>
          </a:xfrm>
        </p:grpSpPr>
        <p:pic>
          <p:nvPicPr>
            <p:cNvPr id="939" name="Google Shape;939;p74"/>
            <p:cNvPicPr preferRelativeResize="0"/>
            <p:nvPr/>
          </p:nvPicPr>
          <p:blipFill>
            <a:blip r:embed="rId5">
              <a:alphaModFix/>
            </a:blip>
            <a:srcRect l="11816" t="29502" r="66857" b="8412"/>
            <a:stretch>
              <a:fillRect/>
            </a:stretch>
          </p:blipFill>
          <p:spPr>
            <a:xfrm rot="-991782" flipH="1">
              <a:off x="5273086" y="1877432"/>
              <a:ext cx="544965" cy="1243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0" name="Google Shape;940;p74"/>
            <p:cNvPicPr preferRelativeResize="0"/>
            <p:nvPr/>
          </p:nvPicPr>
          <p:blipFill>
            <a:blip r:embed="rId5">
              <a:alphaModFix/>
            </a:blip>
            <a:srcRect l="63467" t="30883" r="20736" b="10458"/>
            <a:stretch>
              <a:fillRect/>
            </a:stretch>
          </p:blipFill>
          <p:spPr>
            <a:xfrm rot="679646" flipH="1">
              <a:off x="4635584" y="1950136"/>
              <a:ext cx="403677" cy="1174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1" name="Google Shape;941;p74"/>
            <p:cNvPicPr preferRelativeResize="0"/>
            <p:nvPr/>
          </p:nvPicPr>
          <p:blipFill>
            <a:blip r:embed="rId5">
              <a:alphaModFix/>
            </a:blip>
            <a:srcRect l="45144" t="7144" r="46324" b="60199"/>
            <a:stretch>
              <a:fillRect/>
            </a:stretch>
          </p:blipFill>
          <p:spPr>
            <a:xfrm flipH="1">
              <a:off x="5018272" y="1447627"/>
              <a:ext cx="217992" cy="653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2" name="Google Shape;942;p74"/>
          <p:cNvSpPr/>
          <p:nvPr/>
        </p:nvSpPr>
        <p:spPr>
          <a:xfrm>
            <a:off x="5407956" y="2430475"/>
            <a:ext cx="1880400" cy="18804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3" name="Google Shape;943;p74"/>
          <p:cNvGrpSpPr/>
          <p:nvPr/>
        </p:nvGrpSpPr>
        <p:grpSpPr>
          <a:xfrm>
            <a:off x="6298242" y="1913217"/>
            <a:ext cx="1182490" cy="1548141"/>
            <a:chOff x="4524154" y="1447627"/>
            <a:chExt cx="1459504" cy="1724948"/>
          </a:xfrm>
        </p:grpSpPr>
        <p:pic>
          <p:nvPicPr>
            <p:cNvPr id="944" name="Google Shape;944;p74"/>
            <p:cNvPicPr preferRelativeResize="0"/>
            <p:nvPr/>
          </p:nvPicPr>
          <p:blipFill>
            <a:blip r:embed="rId5">
              <a:alphaModFix/>
            </a:blip>
            <a:srcRect l="11816" t="29502" r="66857" b="8412"/>
            <a:stretch>
              <a:fillRect/>
            </a:stretch>
          </p:blipFill>
          <p:spPr>
            <a:xfrm rot="-991782" flipH="1">
              <a:off x="5273086" y="1877432"/>
              <a:ext cx="544965" cy="1243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5" name="Google Shape;945;p74"/>
            <p:cNvPicPr preferRelativeResize="0"/>
            <p:nvPr/>
          </p:nvPicPr>
          <p:blipFill>
            <a:blip r:embed="rId5">
              <a:alphaModFix/>
            </a:blip>
            <a:srcRect l="63467" t="30883" r="20736" b="10458"/>
            <a:stretch>
              <a:fillRect/>
            </a:stretch>
          </p:blipFill>
          <p:spPr>
            <a:xfrm rot="679646" flipH="1">
              <a:off x="4635584" y="1950136"/>
              <a:ext cx="403677" cy="1174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6" name="Google Shape;946;p74"/>
            <p:cNvPicPr preferRelativeResize="0"/>
            <p:nvPr/>
          </p:nvPicPr>
          <p:blipFill>
            <a:blip r:embed="rId5">
              <a:alphaModFix/>
            </a:blip>
            <a:srcRect l="45144" t="7144" r="46324" b="60199"/>
            <a:stretch>
              <a:fillRect/>
            </a:stretch>
          </p:blipFill>
          <p:spPr>
            <a:xfrm flipH="1">
              <a:off x="5018272" y="1447627"/>
              <a:ext cx="217992" cy="6539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0" name="Shape 950"/>
        <p:cNvGrpSpPr/>
        <p:nvPr/>
      </p:nvGrpSpPr>
      <p:grpSpPr>
        <a:xfrm>
          <a:off x="0" y="0"/>
          <a:ext cx="0" cy="0"/>
        </a:xfrm>
      </p:grpSpPr>
      <p:pic>
        <p:nvPicPr>
          <p:cNvPr id="951" name="Google Shape;951;p75"/>
          <p:cNvPicPr preferRelativeResize="0"/>
          <p:nvPr/>
        </p:nvPicPr>
        <p:blipFill>
          <a:blip r:embed="rId3">
            <a:alphaModFix/>
          </a:blip>
          <a:srcRect l="10941" t="12675" r="11737" b="7349"/>
          <a:stretch>
            <a:fillRect/>
          </a:stretch>
        </p:blipFill>
        <p:spPr>
          <a:xfrm>
            <a:off x="1109819" y="1384800"/>
            <a:ext cx="3403675" cy="33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5"/>
          <p:cNvSpPr/>
          <p:nvPr/>
        </p:nvSpPr>
        <p:spPr>
          <a:xfrm>
            <a:off x="1527030" y="1762775"/>
            <a:ext cx="2591100" cy="25911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5"/>
          <p:cNvSpPr txBox="1"/>
          <p:nvPr>
            <p:ph type="body" idx="1"/>
          </p:nvPr>
        </p:nvSpPr>
        <p:spPr>
          <a:xfrm>
            <a:off x="324000" y="759300"/>
            <a:ext cx="8496000" cy="4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Find the coordinates of 12 points which are 5 units away from the origin.</a:t>
            </a:r>
            <a:endParaRPr sz="1900"/>
          </a:p>
        </p:txBody>
      </p:sp>
      <p:sp>
        <p:nvSpPr>
          <p:cNvPr id="954" name="Google Shape;95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 sz="2200"/>
          </a:p>
        </p:txBody>
      </p:sp>
      <p:sp>
        <p:nvSpPr>
          <p:cNvPr id="955" name="Google Shape;955;p75"/>
          <p:cNvSpPr/>
          <p:nvPr/>
        </p:nvSpPr>
        <p:spPr>
          <a:xfrm>
            <a:off x="4064406" y="3002031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5"/>
          <p:cNvSpPr/>
          <p:nvPr/>
        </p:nvSpPr>
        <p:spPr>
          <a:xfrm>
            <a:off x="2772713" y="1710338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5"/>
          <p:cNvSpPr/>
          <p:nvPr/>
        </p:nvSpPr>
        <p:spPr>
          <a:xfrm>
            <a:off x="1473606" y="3002031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5"/>
          <p:cNvSpPr/>
          <p:nvPr/>
        </p:nvSpPr>
        <p:spPr>
          <a:xfrm>
            <a:off x="2776419" y="4297431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9" name="Google Shape;959;p75"/>
          <p:cNvGrpSpPr/>
          <p:nvPr/>
        </p:nvGrpSpPr>
        <p:grpSpPr>
          <a:xfrm>
            <a:off x="2771449" y="1238974"/>
            <a:ext cx="1635958" cy="1933494"/>
            <a:chOff x="4524154" y="1447627"/>
            <a:chExt cx="1459504" cy="1724948"/>
          </a:xfrm>
        </p:grpSpPr>
        <p:pic>
          <p:nvPicPr>
            <p:cNvPr id="960" name="Google Shape;960;p75"/>
            <p:cNvPicPr preferRelativeResize="0"/>
            <p:nvPr/>
          </p:nvPicPr>
          <p:blipFill>
            <a:blip r:embed="rId4">
              <a:alphaModFix/>
            </a:blip>
            <a:srcRect l="11816" t="29502" r="66857" b="8412"/>
            <a:stretch>
              <a:fillRect/>
            </a:stretch>
          </p:blipFill>
          <p:spPr>
            <a:xfrm rot="-991782" flipH="1">
              <a:off x="5273086" y="1877432"/>
              <a:ext cx="544965" cy="1243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1" name="Google Shape;961;p75"/>
            <p:cNvPicPr preferRelativeResize="0"/>
            <p:nvPr/>
          </p:nvPicPr>
          <p:blipFill>
            <a:blip r:embed="rId4">
              <a:alphaModFix/>
            </a:blip>
            <a:srcRect l="63467" t="30883" r="20736" b="10458"/>
            <a:stretch>
              <a:fillRect/>
            </a:stretch>
          </p:blipFill>
          <p:spPr>
            <a:xfrm rot="679646" flipH="1">
              <a:off x="4635584" y="1950136"/>
              <a:ext cx="403677" cy="1174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2" name="Google Shape;962;p75"/>
            <p:cNvPicPr preferRelativeResize="0"/>
            <p:nvPr/>
          </p:nvPicPr>
          <p:blipFill>
            <a:blip r:embed="rId4">
              <a:alphaModFix/>
            </a:blip>
            <a:srcRect l="45144" t="7144" r="46324" b="60199"/>
            <a:stretch>
              <a:fillRect/>
            </a:stretch>
          </p:blipFill>
          <p:spPr>
            <a:xfrm flipH="1">
              <a:off x="5018272" y="1447627"/>
              <a:ext cx="217992" cy="653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3" name="Google Shape;963;p75"/>
          <p:cNvSpPr/>
          <p:nvPr/>
        </p:nvSpPr>
        <p:spPr>
          <a:xfrm>
            <a:off x="3814594" y="2226106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5"/>
          <p:cNvSpPr/>
          <p:nvPr/>
        </p:nvSpPr>
        <p:spPr>
          <a:xfrm>
            <a:off x="3535719" y="1970831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5"/>
          <p:cNvSpPr/>
          <p:nvPr/>
        </p:nvSpPr>
        <p:spPr>
          <a:xfrm>
            <a:off x="1998069" y="1970831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5"/>
          <p:cNvSpPr/>
          <p:nvPr/>
        </p:nvSpPr>
        <p:spPr>
          <a:xfrm>
            <a:off x="1731669" y="2226106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5"/>
          <p:cNvSpPr/>
          <p:nvPr/>
        </p:nvSpPr>
        <p:spPr>
          <a:xfrm>
            <a:off x="1731669" y="3780006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5"/>
          <p:cNvSpPr/>
          <p:nvPr/>
        </p:nvSpPr>
        <p:spPr>
          <a:xfrm>
            <a:off x="1990656" y="4043588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5"/>
          <p:cNvSpPr/>
          <p:nvPr/>
        </p:nvSpPr>
        <p:spPr>
          <a:xfrm>
            <a:off x="3535731" y="4043588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5"/>
          <p:cNvSpPr/>
          <p:nvPr/>
        </p:nvSpPr>
        <p:spPr>
          <a:xfrm>
            <a:off x="3814606" y="3779988"/>
            <a:ext cx="107400" cy="107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5"/>
          <p:cNvSpPr txBox="1"/>
          <p:nvPr>
            <p:ph type="body" idx="1"/>
          </p:nvPr>
        </p:nvSpPr>
        <p:spPr>
          <a:xfrm>
            <a:off x="5020575" y="1436850"/>
            <a:ext cx="7812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(5, 0)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2" name="Google Shape;972;p75"/>
          <p:cNvSpPr txBox="1"/>
          <p:nvPr>
            <p:ph type="body" idx="1"/>
          </p:nvPr>
        </p:nvSpPr>
        <p:spPr>
          <a:xfrm>
            <a:off x="5020575" y="1894050"/>
            <a:ext cx="7812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3" name="Google Shape;973;p75"/>
          <p:cNvSpPr txBox="1"/>
          <p:nvPr>
            <p:ph type="body" idx="1"/>
          </p:nvPr>
        </p:nvSpPr>
        <p:spPr>
          <a:xfrm>
            <a:off x="5020575" y="2351250"/>
            <a:ext cx="9363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(-5, 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75"/>
          <p:cNvSpPr txBox="1"/>
          <p:nvPr>
            <p:ph type="body" idx="1"/>
          </p:nvPr>
        </p:nvSpPr>
        <p:spPr>
          <a:xfrm>
            <a:off x="5020575" y="28084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-5)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75"/>
          <p:cNvSpPr txBox="1"/>
          <p:nvPr>
            <p:ph type="body" idx="1"/>
          </p:nvPr>
        </p:nvSpPr>
        <p:spPr>
          <a:xfrm>
            <a:off x="6315975" y="14368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(4, 3)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6" name="Google Shape;976;p75"/>
          <p:cNvSpPr txBox="1"/>
          <p:nvPr>
            <p:ph type="body" idx="1"/>
          </p:nvPr>
        </p:nvSpPr>
        <p:spPr>
          <a:xfrm>
            <a:off x="6315975" y="18940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(3, 4)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7" name="Google Shape;977;p75"/>
          <p:cNvSpPr txBox="1"/>
          <p:nvPr>
            <p:ph type="body" idx="1"/>
          </p:nvPr>
        </p:nvSpPr>
        <p:spPr>
          <a:xfrm>
            <a:off x="6315975" y="23512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(-3, 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8" name="Google Shape;978;p75"/>
          <p:cNvSpPr txBox="1"/>
          <p:nvPr>
            <p:ph type="body" idx="1"/>
          </p:nvPr>
        </p:nvSpPr>
        <p:spPr>
          <a:xfrm>
            <a:off x="6315975" y="28084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(-4, 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9" name="Google Shape;979;p75"/>
          <p:cNvSpPr txBox="1"/>
          <p:nvPr>
            <p:ph type="body" idx="1"/>
          </p:nvPr>
        </p:nvSpPr>
        <p:spPr>
          <a:xfrm>
            <a:off x="7611375" y="1436850"/>
            <a:ext cx="11484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(-4, -3)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0" name="Google Shape;980;p75"/>
          <p:cNvSpPr txBox="1"/>
          <p:nvPr>
            <p:ph type="body" idx="1"/>
          </p:nvPr>
        </p:nvSpPr>
        <p:spPr>
          <a:xfrm>
            <a:off x="7611375" y="1894050"/>
            <a:ext cx="11484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(-3, -4)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75"/>
          <p:cNvSpPr txBox="1"/>
          <p:nvPr>
            <p:ph type="body" idx="1"/>
          </p:nvPr>
        </p:nvSpPr>
        <p:spPr>
          <a:xfrm>
            <a:off x="7611375" y="23512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(3, -4)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75"/>
          <p:cNvSpPr txBox="1"/>
          <p:nvPr>
            <p:ph type="body" idx="1"/>
          </p:nvPr>
        </p:nvSpPr>
        <p:spPr>
          <a:xfrm>
            <a:off x="7611375" y="28084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(4, -3)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3" name="Google Shape;983;p75"/>
          <p:cNvCxnSpPr>
            <a:stCxn id="955" idx="2"/>
          </p:cNvCxnSpPr>
          <p:nvPr/>
        </p:nvCxnSpPr>
        <p:spPr>
          <a:xfrm flipH="1">
            <a:off x="2823006" y="3055731"/>
            <a:ext cx="1241400" cy="13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84" name="Google Shape;984;p75"/>
          <p:cNvSpPr txBox="1"/>
          <p:nvPr>
            <p:ph type="body" idx="1"/>
          </p:nvPr>
        </p:nvSpPr>
        <p:spPr>
          <a:xfrm>
            <a:off x="3380302" y="2793336"/>
            <a:ext cx="211500" cy="32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5" name="Google Shape;985;p75"/>
          <p:cNvCxnSpPr>
            <a:stCxn id="956" idx="4"/>
          </p:cNvCxnSpPr>
          <p:nvPr/>
        </p:nvCxnSpPr>
        <p:spPr>
          <a:xfrm flipH="1">
            <a:off x="2823113" y="1817738"/>
            <a:ext cx="3300" cy="12495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86" name="Google Shape;986;p75"/>
          <p:cNvCxnSpPr/>
          <p:nvPr/>
        </p:nvCxnSpPr>
        <p:spPr>
          <a:xfrm flipH="1">
            <a:off x="2823113" y="3058342"/>
            <a:ext cx="3300" cy="12495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87" name="Google Shape;987;p75"/>
          <p:cNvCxnSpPr/>
          <p:nvPr/>
        </p:nvCxnSpPr>
        <p:spPr>
          <a:xfrm flipH="1">
            <a:off x="1559713" y="3055731"/>
            <a:ext cx="1241400" cy="13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88" name="Google Shape;988;p75"/>
          <p:cNvSpPr txBox="1"/>
          <p:nvPr>
            <p:ph type="body" idx="1"/>
          </p:nvPr>
        </p:nvSpPr>
        <p:spPr>
          <a:xfrm>
            <a:off x="2852253" y="2259936"/>
            <a:ext cx="211500" cy="32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9" name="Google Shape;989;p75"/>
          <p:cNvSpPr txBox="1"/>
          <p:nvPr>
            <p:ph type="body" idx="1"/>
          </p:nvPr>
        </p:nvSpPr>
        <p:spPr>
          <a:xfrm>
            <a:off x="2090253" y="2793336"/>
            <a:ext cx="211500" cy="32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75"/>
          <p:cNvSpPr txBox="1"/>
          <p:nvPr>
            <p:ph type="body" idx="1"/>
          </p:nvPr>
        </p:nvSpPr>
        <p:spPr>
          <a:xfrm>
            <a:off x="2862956" y="3571390"/>
            <a:ext cx="211500" cy="32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4" name="Shape 994"/>
        <p:cNvGrpSpPr/>
        <p:nvPr/>
      </p:nvGrpSpPr>
      <p:grpSpPr>
        <a:xfrm>
          <a:off x="0" y="0"/>
          <a:ext cx="0" cy="0"/>
        </a:xfrm>
      </p:grpSpPr>
      <p:sp>
        <p:nvSpPr>
          <p:cNvPr id="995" name="Google Shape;995;p76"/>
          <p:cNvSpPr txBox="1"/>
          <p:nvPr>
            <p:ph type="body" idx="1"/>
          </p:nvPr>
        </p:nvSpPr>
        <p:spPr>
          <a:xfrm>
            <a:off x="1334375" y="2426625"/>
            <a:ext cx="6447300" cy="3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Every point on a circle is                     from its centre.</a:t>
            </a:r>
            <a:endParaRPr sz="2000"/>
          </a:p>
        </p:txBody>
      </p:sp>
      <p:sp>
        <p:nvSpPr>
          <p:cNvPr id="996" name="Google Shape;99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r>
              <a:rPr lang="en-GB" sz="2200"/>
              <a:t> </a:t>
            </a:r>
            <a:endParaRPr/>
          </a:p>
        </p:txBody>
      </p:sp>
      <p:sp>
        <p:nvSpPr>
          <p:cNvPr id="997" name="Google Shape;997;p76"/>
          <p:cNvSpPr txBox="1"/>
          <p:nvPr>
            <p:ph type="body" idx="1"/>
          </p:nvPr>
        </p:nvSpPr>
        <p:spPr>
          <a:xfrm>
            <a:off x="4437042" y="2412715"/>
            <a:ext cx="1623900" cy="3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equidistant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98" name="Google Shape;998;p76"/>
          <p:cNvCxnSpPr/>
          <p:nvPr/>
        </p:nvCxnSpPr>
        <p:spPr>
          <a:xfrm>
            <a:off x="4437042" y="2685917"/>
            <a:ext cx="1292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2" name="Shape 1002"/>
        <p:cNvGrpSpPr/>
        <p:nvPr/>
      </p:nvGrpSpPr>
      <p:grpSpPr>
        <a:xfrm>
          <a:off x="0" y="0"/>
          <a:ext cx="0" cy="0"/>
        </a:xfrm>
      </p:grpSpPr>
      <p:sp>
        <p:nvSpPr>
          <p:cNvPr id="1003" name="Google Shape;1003;p77"/>
          <p:cNvSpPr txBox="1"/>
          <p:nvPr>
            <p:ph type="subTitle" idx="1"/>
          </p:nvPr>
        </p:nvSpPr>
        <p:spPr>
          <a:xfrm>
            <a:off x="980575" y="3196125"/>
            <a:ext cx="76935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You can not tell without measuring with a ruler.</a:t>
            </a:r>
            <a:endParaRPr/>
          </a:p>
        </p:txBody>
      </p:sp>
      <p:sp>
        <p:nvSpPr>
          <p:cNvPr id="1004" name="Google Shape;1004;p77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AB = AC</a:t>
            </a:r>
            <a:endParaRPr/>
          </a:p>
        </p:txBody>
      </p:sp>
      <p:sp>
        <p:nvSpPr>
          <p:cNvPr id="1005" name="Google Shape;1005;p77"/>
          <p:cNvSpPr txBox="1"/>
          <p:nvPr>
            <p:ph type="subTitle" idx="3"/>
          </p:nvPr>
        </p:nvSpPr>
        <p:spPr>
          <a:xfrm>
            <a:off x="980575" y="4040353"/>
            <a:ext cx="76935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Every point on a circle is equidistant from its centre.</a:t>
            </a:r>
            <a:endParaRPr/>
          </a:p>
        </p:txBody>
      </p:sp>
      <p:sp>
        <p:nvSpPr>
          <p:cNvPr id="1006" name="Google Shape;100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r>
              <a:rPr lang="en-GB" sz="2200"/>
              <a:t> </a:t>
            </a:r>
            <a:endParaRPr/>
          </a:p>
        </p:txBody>
      </p:sp>
      <p:sp>
        <p:nvSpPr>
          <p:cNvPr id="1007" name="Google Shape;1007;p77"/>
          <p:cNvSpPr/>
          <p:nvPr/>
        </p:nvSpPr>
        <p:spPr>
          <a:xfrm>
            <a:off x="6344698" y="1166858"/>
            <a:ext cx="2058300" cy="2058300"/>
          </a:xfrm>
          <a:prstGeom prst="arc">
            <a:avLst>
              <a:gd name="adj1" fmla="val 21540497"/>
              <a:gd name="adj2" fmla="val 21330771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8" name="Google Shape;1008;p77"/>
          <p:cNvGrpSpPr/>
          <p:nvPr/>
        </p:nvGrpSpPr>
        <p:grpSpPr>
          <a:xfrm>
            <a:off x="7328719" y="758540"/>
            <a:ext cx="1294142" cy="1529511"/>
            <a:chOff x="4524154" y="1447627"/>
            <a:chExt cx="1459504" cy="1724948"/>
          </a:xfrm>
        </p:grpSpPr>
        <p:pic>
          <p:nvPicPr>
            <p:cNvPr id="1009" name="Google Shape;1009;p77"/>
            <p:cNvPicPr preferRelativeResize="0"/>
            <p:nvPr/>
          </p:nvPicPr>
          <p:blipFill>
            <a:blip r:embed="rId3">
              <a:alphaModFix/>
            </a:blip>
            <a:srcRect l="11816" t="29502" r="66857" b="8412"/>
            <a:stretch>
              <a:fillRect/>
            </a:stretch>
          </p:blipFill>
          <p:spPr>
            <a:xfrm rot="-991782" flipH="1">
              <a:off x="5273086" y="1877432"/>
              <a:ext cx="544965" cy="1243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77"/>
            <p:cNvPicPr preferRelativeResize="0"/>
            <p:nvPr/>
          </p:nvPicPr>
          <p:blipFill>
            <a:blip r:embed="rId3">
              <a:alphaModFix/>
            </a:blip>
            <a:srcRect l="63467" t="30883" r="20736" b="10458"/>
            <a:stretch>
              <a:fillRect/>
            </a:stretch>
          </p:blipFill>
          <p:spPr>
            <a:xfrm rot="679646" flipH="1">
              <a:off x="4635584" y="1950136"/>
              <a:ext cx="403677" cy="1174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1" name="Google Shape;1011;p77"/>
            <p:cNvPicPr preferRelativeResize="0"/>
            <p:nvPr/>
          </p:nvPicPr>
          <p:blipFill>
            <a:blip r:embed="rId3">
              <a:alphaModFix/>
            </a:blip>
            <a:srcRect l="45144" t="7144" r="46324" b="60199"/>
            <a:stretch>
              <a:fillRect/>
            </a:stretch>
          </p:blipFill>
          <p:spPr>
            <a:xfrm flipH="1">
              <a:off x="5018272" y="1447627"/>
              <a:ext cx="217992" cy="653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2" name="Google Shape;1012;p77"/>
          <p:cNvSpPr/>
          <p:nvPr/>
        </p:nvSpPr>
        <p:spPr>
          <a:xfrm>
            <a:off x="7347460" y="2153126"/>
            <a:ext cx="65400" cy="65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7"/>
          <p:cNvSpPr/>
          <p:nvPr/>
        </p:nvSpPr>
        <p:spPr>
          <a:xfrm>
            <a:off x="8367707" y="2153126"/>
            <a:ext cx="65400" cy="65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7"/>
          <p:cNvSpPr/>
          <p:nvPr/>
        </p:nvSpPr>
        <p:spPr>
          <a:xfrm>
            <a:off x="6625210" y="2902226"/>
            <a:ext cx="65400" cy="65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7"/>
          <p:cNvSpPr txBox="1"/>
          <p:nvPr>
            <p:ph type="body" idx="4294967295"/>
          </p:nvPr>
        </p:nvSpPr>
        <p:spPr>
          <a:xfrm>
            <a:off x="7174650" y="2053375"/>
            <a:ext cx="172800" cy="26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016" name="Google Shape;1016;p77"/>
          <p:cNvSpPr txBox="1"/>
          <p:nvPr>
            <p:ph type="body" idx="4294967295"/>
          </p:nvPr>
        </p:nvSpPr>
        <p:spPr>
          <a:xfrm>
            <a:off x="8450050" y="2027550"/>
            <a:ext cx="172800" cy="26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017" name="Google Shape;1017;p77"/>
          <p:cNvSpPr txBox="1"/>
          <p:nvPr>
            <p:ph type="body" idx="4294967295"/>
          </p:nvPr>
        </p:nvSpPr>
        <p:spPr>
          <a:xfrm>
            <a:off x="6452400" y="2802475"/>
            <a:ext cx="172800" cy="26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pic>
        <p:nvPicPr>
          <p:cNvPr id="1018" name="Google Shape;101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2933" y="162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058" y="39935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3" name="Shape 1023"/>
        <p:cNvGrpSpPr/>
        <p:nvPr/>
      </p:nvGrpSpPr>
      <p:grpSpPr>
        <a:xfrm>
          <a:off x="0" y="0"/>
          <a:ext cx="0" cy="0"/>
        </a:xfrm>
      </p:grpSpPr>
      <p:sp>
        <p:nvSpPr>
          <p:cNvPr id="1024" name="Google Shape;1024;p78"/>
          <p:cNvSpPr txBox="1"/>
          <p:nvPr>
            <p:ph type="body" idx="1"/>
          </p:nvPr>
        </p:nvSpPr>
        <p:spPr>
          <a:xfrm>
            <a:off x="324000" y="759300"/>
            <a:ext cx="8237700" cy="127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</a:t>
            </a:r>
            <a:br>
              <a:rPr lang="en-GB" sz="1600"/>
            </a:br>
            <a:r>
              <a:rPr lang="en-GB" sz="1600"/>
              <a:t>a) Mark 8 points that are exactly 7 cm away from the cross.</a:t>
            </a:r>
            <a:br>
              <a:rPr lang="en-GB" sz="1600"/>
            </a:br>
            <a:r>
              <a:rPr lang="en-GB" sz="1600"/>
              <a:t>b) Draw a circle with radius 7 cm and with the centre at the cross.</a:t>
            </a:r>
            <a:br>
              <a:rPr lang="en-GB" sz="1600"/>
            </a:br>
            <a:r>
              <a:rPr lang="en-GB" sz="1600"/>
              <a:t>c) What do you notice about the points from part (a) and the circle from part (b)?</a:t>
            </a:r>
            <a:endParaRPr sz="1600"/>
          </a:p>
        </p:txBody>
      </p:sp>
      <p:sp>
        <p:nvSpPr>
          <p:cNvPr id="1025" name="Google Shape;1025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/>
          </a:p>
        </p:txBody>
      </p:sp>
      <p:grpSp>
        <p:nvGrpSpPr>
          <p:cNvPr id="1026" name="Google Shape;1026;p78"/>
          <p:cNvGrpSpPr/>
          <p:nvPr/>
        </p:nvGrpSpPr>
        <p:grpSpPr>
          <a:xfrm>
            <a:off x="4537888" y="3311101"/>
            <a:ext cx="78305" cy="92079"/>
            <a:chOff x="1514525" y="2733525"/>
            <a:chExt cx="76800" cy="90300"/>
          </a:xfrm>
        </p:grpSpPr>
        <p:cxnSp>
          <p:nvCxnSpPr>
            <p:cNvPr id="1027" name="Google Shape;1027;p78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8" name="Google Shape;1028;p78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2" name="Shape 1032"/>
        <p:cNvGrpSpPr/>
        <p:nvPr/>
      </p:nvGrpSpPr>
      <p:grpSpPr>
        <a:xfrm>
          <a:off x="0" y="0"/>
          <a:ext cx="0" cy="0"/>
        </a:xfrm>
      </p:grpSpPr>
      <p:sp>
        <p:nvSpPr>
          <p:cNvPr id="1033" name="Google Shape;1033;p79"/>
          <p:cNvSpPr txBox="1"/>
          <p:nvPr>
            <p:ph type="body" idx="1"/>
          </p:nvPr>
        </p:nvSpPr>
        <p:spPr>
          <a:xfrm>
            <a:off x="324000" y="759300"/>
            <a:ext cx="5030700" cy="396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2) Aisha marks a cross on a piece of paper </a:t>
            </a:r>
            <a:br>
              <a:rPr lang="en-GB" sz="1600"/>
            </a:br>
            <a:r>
              <a:rPr lang="en-GB" sz="1600"/>
              <a:t>    and marks a point exactly 5 units away from it.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    She asks everyone else to mark a point </a:t>
            </a:r>
            <a:br>
              <a:rPr lang="en-GB" sz="1600"/>
            </a:br>
            <a:r>
              <a:rPr lang="en-GB" sz="1600"/>
              <a:t>    5 units away from the cross.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a) How could you use a pair of compasses </a:t>
            </a:r>
            <a:br>
              <a:rPr lang="en-GB" sz="1600"/>
            </a:br>
            <a:r>
              <a:rPr lang="en-GB" sz="1600"/>
              <a:t>     to check whether everyone’s point is the </a:t>
            </a:r>
            <a:br>
              <a:rPr lang="en-GB" sz="1600"/>
            </a:br>
            <a:r>
              <a:rPr lang="en-GB" sz="1600"/>
              <a:t>     correct distance away from the cross?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600"/>
            </a:br>
            <a:r>
              <a:rPr lang="en-GB" sz="1600"/>
              <a:t>b) Whose point is too close to the cross?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600"/>
            </a:br>
            <a:r>
              <a:rPr lang="en-GB" sz="1600"/>
              <a:t>c) Whose point is too far from the cross?</a:t>
            </a:r>
            <a:endParaRPr sz="1600"/>
          </a:p>
        </p:txBody>
      </p:sp>
      <p:sp>
        <p:nvSpPr>
          <p:cNvPr id="1034" name="Google Shape;1034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/>
          </a:p>
        </p:txBody>
      </p:sp>
      <p:grpSp>
        <p:nvGrpSpPr>
          <p:cNvPr id="1035" name="Google Shape;1035;p79"/>
          <p:cNvGrpSpPr/>
          <p:nvPr/>
        </p:nvGrpSpPr>
        <p:grpSpPr>
          <a:xfrm>
            <a:off x="6836886" y="2850414"/>
            <a:ext cx="102205" cy="120180"/>
            <a:chOff x="1514525" y="2733525"/>
            <a:chExt cx="76800" cy="90300"/>
          </a:xfrm>
        </p:grpSpPr>
        <p:cxnSp>
          <p:nvCxnSpPr>
            <p:cNvPr id="1036" name="Google Shape;1036;p79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7" name="Google Shape;1037;p79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038" name="Google Shape;103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721" y="2914370"/>
            <a:ext cx="303751" cy="379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450" y="2307979"/>
            <a:ext cx="260381" cy="49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2412" y="3390224"/>
            <a:ext cx="333468" cy="37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7675" y="3840882"/>
            <a:ext cx="337409" cy="44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7802" y="3894437"/>
            <a:ext cx="294883" cy="42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603803" y="816125"/>
            <a:ext cx="465439" cy="45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5648857" y="1281459"/>
            <a:ext cx="329305" cy="42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7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7513330" y="1346950"/>
            <a:ext cx="303752" cy="374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7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8091040" y="1915836"/>
            <a:ext cx="324568" cy="37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7901091" y="3842577"/>
            <a:ext cx="337411" cy="37431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79"/>
          <p:cNvSpPr/>
          <p:nvPr/>
        </p:nvSpPr>
        <p:spPr>
          <a:xfrm>
            <a:off x="5313957" y="2829943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9"/>
          <p:cNvSpPr/>
          <p:nvPr/>
        </p:nvSpPr>
        <p:spPr>
          <a:xfrm>
            <a:off x="5814163" y="1726289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9"/>
          <p:cNvSpPr/>
          <p:nvPr/>
        </p:nvSpPr>
        <p:spPr>
          <a:xfrm>
            <a:off x="6841725" y="1334449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9"/>
          <p:cNvSpPr/>
          <p:nvPr/>
        </p:nvSpPr>
        <p:spPr>
          <a:xfrm>
            <a:off x="7608056" y="1761449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9"/>
          <p:cNvSpPr/>
          <p:nvPr/>
        </p:nvSpPr>
        <p:spPr>
          <a:xfrm>
            <a:off x="8254956" y="2311629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9"/>
          <p:cNvSpPr/>
          <p:nvPr/>
        </p:nvSpPr>
        <p:spPr>
          <a:xfrm>
            <a:off x="8280303" y="3318926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9"/>
          <p:cNvSpPr/>
          <p:nvPr/>
        </p:nvSpPr>
        <p:spPr>
          <a:xfrm>
            <a:off x="8061320" y="4250053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9"/>
          <p:cNvSpPr/>
          <p:nvPr/>
        </p:nvSpPr>
        <p:spPr>
          <a:xfrm>
            <a:off x="7138187" y="4342753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9"/>
          <p:cNvSpPr/>
          <p:nvPr/>
        </p:nvSpPr>
        <p:spPr>
          <a:xfrm>
            <a:off x="6256789" y="4250058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9"/>
          <p:cNvSpPr/>
          <p:nvPr/>
        </p:nvSpPr>
        <p:spPr>
          <a:xfrm>
            <a:off x="5648850" y="3801713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9"/>
          <p:cNvSpPr txBox="1"/>
          <p:nvPr>
            <p:ph type="body" idx="1"/>
          </p:nvPr>
        </p:nvSpPr>
        <p:spPr>
          <a:xfrm>
            <a:off x="5092738" y="2894243"/>
            <a:ext cx="7959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  <p:sp>
        <p:nvSpPr>
          <p:cNvPr id="1059" name="Google Shape;1059;p79"/>
          <p:cNvSpPr txBox="1"/>
          <p:nvPr>
            <p:ph type="body" idx="1"/>
          </p:nvPr>
        </p:nvSpPr>
        <p:spPr>
          <a:xfrm>
            <a:off x="5475286" y="1799940"/>
            <a:ext cx="99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sp>
        <p:nvSpPr>
          <p:cNvPr id="1060" name="Google Shape;1060;p79"/>
          <p:cNvSpPr txBox="1"/>
          <p:nvPr>
            <p:ph type="body" idx="1"/>
          </p:nvPr>
        </p:nvSpPr>
        <p:spPr>
          <a:xfrm>
            <a:off x="6654305" y="1384008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sp>
        <p:nvSpPr>
          <p:cNvPr id="1061" name="Google Shape;1061;p79"/>
          <p:cNvSpPr txBox="1"/>
          <p:nvPr>
            <p:ph type="body" idx="1"/>
          </p:nvPr>
        </p:nvSpPr>
        <p:spPr>
          <a:xfrm>
            <a:off x="7012584" y="4416625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Sam</a:t>
            </a:r>
            <a:endParaRPr sz="1600"/>
          </a:p>
        </p:txBody>
      </p:sp>
      <p:sp>
        <p:nvSpPr>
          <p:cNvPr id="1062" name="Google Shape;1062;p79"/>
          <p:cNvSpPr txBox="1"/>
          <p:nvPr>
            <p:ph type="body" idx="1"/>
          </p:nvPr>
        </p:nvSpPr>
        <p:spPr>
          <a:xfrm>
            <a:off x="7864554" y="4310130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063" name="Google Shape;1063;p79"/>
          <p:cNvSpPr txBox="1"/>
          <p:nvPr>
            <p:ph type="body" idx="1"/>
          </p:nvPr>
        </p:nvSpPr>
        <p:spPr>
          <a:xfrm>
            <a:off x="8138148" y="3375753"/>
            <a:ext cx="6057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sp>
        <p:nvSpPr>
          <p:cNvPr id="1064" name="Google Shape;1064;p79"/>
          <p:cNvSpPr txBox="1"/>
          <p:nvPr>
            <p:ph type="body" idx="1"/>
          </p:nvPr>
        </p:nvSpPr>
        <p:spPr>
          <a:xfrm>
            <a:off x="8072427" y="2373060"/>
            <a:ext cx="6057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Alex</a:t>
            </a:r>
            <a:endParaRPr sz="1600"/>
          </a:p>
        </p:txBody>
      </p:sp>
      <p:sp>
        <p:nvSpPr>
          <p:cNvPr id="1065" name="Google Shape;1065;p79"/>
          <p:cNvSpPr txBox="1"/>
          <p:nvPr>
            <p:ph type="body" idx="1"/>
          </p:nvPr>
        </p:nvSpPr>
        <p:spPr>
          <a:xfrm>
            <a:off x="7369656" y="1828228"/>
            <a:ext cx="9150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/>
          </a:p>
        </p:txBody>
      </p:sp>
      <p:sp>
        <p:nvSpPr>
          <p:cNvPr id="1066" name="Google Shape;1066;p79"/>
          <p:cNvSpPr txBox="1"/>
          <p:nvPr>
            <p:ph type="body" idx="1"/>
          </p:nvPr>
        </p:nvSpPr>
        <p:spPr>
          <a:xfrm>
            <a:off x="6038416" y="4306939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Laura</a:t>
            </a:r>
            <a:endParaRPr sz="1600"/>
          </a:p>
        </p:txBody>
      </p:sp>
      <p:sp>
        <p:nvSpPr>
          <p:cNvPr id="1067" name="Google Shape;1067;p79"/>
          <p:cNvSpPr txBox="1"/>
          <p:nvPr>
            <p:ph type="body" idx="1"/>
          </p:nvPr>
        </p:nvSpPr>
        <p:spPr>
          <a:xfrm>
            <a:off x="5428816" y="3849739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Lucas</a:t>
            </a:r>
            <a:endParaRPr sz="1600"/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1" name="Shape 1071"/>
        <p:cNvGrpSpPr/>
        <p:nvPr/>
      </p:nvGrpSpPr>
      <p:grpSpPr>
        <a:xfrm>
          <a:off x="0" y="0"/>
          <a:ext cx="0" cy="0"/>
        </a:xfrm>
      </p:grpSpPr>
      <p:sp>
        <p:nvSpPr>
          <p:cNvPr id="1072" name="Google Shape;1072;p80"/>
          <p:cNvSpPr txBox="1"/>
          <p:nvPr>
            <p:ph type="body" idx="1"/>
          </p:nvPr>
        </p:nvSpPr>
        <p:spPr>
          <a:xfrm>
            <a:off x="324000" y="759300"/>
            <a:ext cx="8496000" cy="34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3) Find the coordinates of 12 points which are exactly 10 units from the origin.</a:t>
            </a:r>
            <a:endParaRPr sz="1600"/>
          </a:p>
        </p:txBody>
      </p:sp>
      <p:sp>
        <p:nvSpPr>
          <p:cNvPr id="1073" name="Google Shape;1073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/>
          </a:p>
        </p:txBody>
      </p:sp>
      <p:pic>
        <p:nvPicPr>
          <p:cNvPr id="1074" name="Google Shape;107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75" y="1080000"/>
            <a:ext cx="3708166" cy="37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8" name="Shape 1078"/>
        <p:cNvGrpSpPr/>
        <p:nvPr/>
      </p:nvGrpSpPr>
      <p:grpSpPr>
        <a:xfrm>
          <a:off x="0" y="0"/>
          <a:ext cx="0" cy="0"/>
        </a:xfrm>
      </p:grpSpPr>
      <p:sp>
        <p:nvSpPr>
          <p:cNvPr id="1079" name="Google Shape;1079;p81"/>
          <p:cNvSpPr/>
          <p:nvPr/>
        </p:nvSpPr>
        <p:spPr>
          <a:xfrm>
            <a:off x="3408175" y="2181124"/>
            <a:ext cx="2327700" cy="23316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1"/>
          <p:cNvSpPr txBox="1"/>
          <p:nvPr>
            <p:ph type="body" idx="1"/>
          </p:nvPr>
        </p:nvSpPr>
        <p:spPr>
          <a:xfrm>
            <a:off x="324000" y="759300"/>
            <a:ext cx="8237700" cy="123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</a:t>
            </a:r>
            <a:br>
              <a:rPr lang="en-GB" sz="1600"/>
            </a:br>
            <a:r>
              <a:rPr lang="en-GB" sz="1600"/>
              <a:t>a) Mark 8 points that are exactly 7 cm away from the cross.</a:t>
            </a:r>
            <a:br>
              <a:rPr lang="en-GB" sz="1600"/>
            </a:br>
            <a:r>
              <a:rPr lang="en-GB" sz="1600"/>
              <a:t>b) Draw a circle with radius 7 cm and with the centre at the cross.</a:t>
            </a:r>
            <a:br>
              <a:rPr lang="en-GB" sz="1600"/>
            </a:br>
            <a:r>
              <a:rPr lang="en-GB" sz="1600"/>
              <a:t>c) What do you notice about the points from part (a) and the circle from part (b)?</a:t>
            </a:r>
            <a:endParaRPr sz="1600"/>
          </a:p>
        </p:txBody>
      </p:sp>
      <p:sp>
        <p:nvSpPr>
          <p:cNvPr id="1081" name="Google Shape;1081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/>
          </a:p>
        </p:txBody>
      </p:sp>
      <p:grpSp>
        <p:nvGrpSpPr>
          <p:cNvPr id="1082" name="Google Shape;1082;p81"/>
          <p:cNvGrpSpPr/>
          <p:nvPr/>
        </p:nvGrpSpPr>
        <p:grpSpPr>
          <a:xfrm>
            <a:off x="4537888" y="3311101"/>
            <a:ext cx="78305" cy="92079"/>
            <a:chOff x="1514525" y="2733525"/>
            <a:chExt cx="76800" cy="90300"/>
          </a:xfrm>
        </p:grpSpPr>
        <p:cxnSp>
          <p:nvCxnSpPr>
            <p:cNvPr id="1083" name="Google Shape;1083;p8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4" name="Google Shape;1084;p8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85" name="Google Shape;1085;p81"/>
          <p:cNvGrpSpPr/>
          <p:nvPr/>
        </p:nvGrpSpPr>
        <p:grpSpPr>
          <a:xfrm>
            <a:off x="3371101" y="2154944"/>
            <a:ext cx="2403469" cy="2395668"/>
            <a:chOff x="655436" y="1127031"/>
            <a:chExt cx="3649360" cy="3637516"/>
          </a:xfrm>
        </p:grpSpPr>
        <p:sp>
          <p:nvSpPr>
            <p:cNvPr id="1086" name="Google Shape;1086;p81"/>
            <p:cNvSpPr/>
            <p:nvPr/>
          </p:nvSpPr>
          <p:spPr>
            <a:xfrm>
              <a:off x="4197396" y="2880381"/>
              <a:ext cx="107400" cy="1074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81"/>
            <p:cNvSpPr/>
            <p:nvPr/>
          </p:nvSpPr>
          <p:spPr>
            <a:xfrm>
              <a:off x="3830719" y="1817856"/>
              <a:ext cx="107400" cy="1074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81"/>
            <p:cNvSpPr/>
            <p:nvPr/>
          </p:nvSpPr>
          <p:spPr>
            <a:xfrm>
              <a:off x="2439756" y="1127031"/>
              <a:ext cx="107400" cy="1074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9" name="Google Shape;1089;p81"/>
            <p:cNvSpPr/>
            <p:nvPr/>
          </p:nvSpPr>
          <p:spPr>
            <a:xfrm>
              <a:off x="1107292" y="1706195"/>
              <a:ext cx="107400" cy="1074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81"/>
            <p:cNvSpPr/>
            <p:nvPr/>
          </p:nvSpPr>
          <p:spPr>
            <a:xfrm>
              <a:off x="655436" y="2875030"/>
              <a:ext cx="107400" cy="1074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81"/>
            <p:cNvSpPr/>
            <p:nvPr/>
          </p:nvSpPr>
          <p:spPr>
            <a:xfrm>
              <a:off x="1020384" y="3931105"/>
              <a:ext cx="107400" cy="1074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2" name="Google Shape;1092;p81"/>
            <p:cNvSpPr/>
            <p:nvPr/>
          </p:nvSpPr>
          <p:spPr>
            <a:xfrm>
              <a:off x="2429816" y="4657147"/>
              <a:ext cx="107400" cy="1074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81"/>
            <p:cNvSpPr/>
            <p:nvPr/>
          </p:nvSpPr>
          <p:spPr>
            <a:xfrm>
              <a:off x="3481966" y="4285372"/>
              <a:ext cx="107400" cy="1074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4" name="Google Shape;1094;p81"/>
          <p:cNvSpPr txBox="1"/>
          <p:nvPr>
            <p:ph type="body" idx="1"/>
          </p:nvPr>
        </p:nvSpPr>
        <p:spPr>
          <a:xfrm>
            <a:off x="564600" y="4490725"/>
            <a:ext cx="3472800" cy="30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All of the points lie on the circle.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5" name="Google Shape;1095;p81"/>
          <p:cNvSpPr txBox="1"/>
          <p:nvPr>
            <p:ph type="body" idx="1"/>
          </p:nvPr>
        </p:nvSpPr>
        <p:spPr>
          <a:xfrm>
            <a:off x="3155400" y="1899925"/>
            <a:ext cx="436200" cy="30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9" name="Shape 1099"/>
        <p:cNvGrpSpPr/>
        <p:nvPr/>
      </p:nvGrpSpPr>
      <p:grpSpPr>
        <a:xfrm>
          <a:off x="0" y="0"/>
          <a:ext cx="0" cy="0"/>
        </a:xfrm>
      </p:grpSpPr>
      <p:sp>
        <p:nvSpPr>
          <p:cNvPr id="1100" name="Google Shape;1100;p82"/>
          <p:cNvSpPr txBox="1"/>
          <p:nvPr>
            <p:ph type="body" idx="1"/>
          </p:nvPr>
        </p:nvSpPr>
        <p:spPr>
          <a:xfrm>
            <a:off x="324000" y="759300"/>
            <a:ext cx="4945200" cy="396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2) Aisha marks a cross on a piece of paper </a:t>
            </a:r>
            <a:br>
              <a:rPr lang="en-GB" sz="1600"/>
            </a:br>
            <a:r>
              <a:rPr lang="en-GB" sz="1600"/>
              <a:t>    and marks a point exactly 5 units away from it.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    She asks everyone else to mark a point </a:t>
            </a:r>
            <a:br>
              <a:rPr lang="en-GB" sz="1600"/>
            </a:br>
            <a:r>
              <a:rPr lang="en-GB" sz="1600"/>
              <a:t>    5 units away from the cross.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a) How could you use a pair of compasses </a:t>
            </a:r>
            <a:br>
              <a:rPr lang="en-GB" sz="1600"/>
            </a:br>
            <a:r>
              <a:rPr lang="en-GB" sz="1600"/>
              <a:t>     to check whether everyone’s point is the </a:t>
            </a:r>
            <a:br>
              <a:rPr lang="en-GB" sz="1600"/>
            </a:br>
            <a:r>
              <a:rPr lang="en-GB" sz="1600"/>
              <a:t>     correct distance away from the cross?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600"/>
            </a:br>
            <a:r>
              <a:rPr lang="en-GB" sz="1600"/>
              <a:t>b) Whose point is too close to the cross?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600"/>
            </a:br>
            <a:r>
              <a:rPr lang="en-GB" sz="1600"/>
              <a:t>c) Whose point is too far from the cross?</a:t>
            </a:r>
            <a:endParaRPr sz="1600"/>
          </a:p>
        </p:txBody>
      </p:sp>
      <p:sp>
        <p:nvSpPr>
          <p:cNvPr id="1101" name="Google Shape;1101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/>
          </a:p>
        </p:txBody>
      </p:sp>
      <p:grpSp>
        <p:nvGrpSpPr>
          <p:cNvPr id="1102" name="Google Shape;1102;p82"/>
          <p:cNvGrpSpPr/>
          <p:nvPr/>
        </p:nvGrpSpPr>
        <p:grpSpPr>
          <a:xfrm>
            <a:off x="6836886" y="2850414"/>
            <a:ext cx="102205" cy="120180"/>
            <a:chOff x="1514525" y="2733525"/>
            <a:chExt cx="76800" cy="90300"/>
          </a:xfrm>
        </p:grpSpPr>
        <p:cxnSp>
          <p:nvCxnSpPr>
            <p:cNvPr id="1103" name="Google Shape;1103;p82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4" name="Google Shape;1104;p82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05" name="Google Shape;1105;p82"/>
          <p:cNvSpPr/>
          <p:nvPr/>
        </p:nvSpPr>
        <p:spPr>
          <a:xfrm>
            <a:off x="5362345" y="1375538"/>
            <a:ext cx="3038400" cy="304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6" name="Google Shape;110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721" y="2914370"/>
            <a:ext cx="303751" cy="379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450" y="2307979"/>
            <a:ext cx="260381" cy="49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2412" y="3390224"/>
            <a:ext cx="333468" cy="374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7675" y="3840882"/>
            <a:ext cx="337409" cy="44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7802" y="3894437"/>
            <a:ext cx="294883" cy="42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603803" y="816125"/>
            <a:ext cx="465439" cy="45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5648857" y="1281459"/>
            <a:ext cx="329305" cy="42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7513330" y="1346950"/>
            <a:ext cx="303752" cy="374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8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8091040" y="1915836"/>
            <a:ext cx="324568" cy="37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8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7901091" y="3842577"/>
            <a:ext cx="337411" cy="374310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82"/>
          <p:cNvSpPr/>
          <p:nvPr/>
        </p:nvSpPr>
        <p:spPr>
          <a:xfrm>
            <a:off x="5313957" y="2829943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2"/>
          <p:cNvSpPr/>
          <p:nvPr/>
        </p:nvSpPr>
        <p:spPr>
          <a:xfrm>
            <a:off x="5814163" y="1726289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2"/>
          <p:cNvSpPr/>
          <p:nvPr/>
        </p:nvSpPr>
        <p:spPr>
          <a:xfrm>
            <a:off x="6841725" y="1334449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2"/>
          <p:cNvSpPr/>
          <p:nvPr/>
        </p:nvSpPr>
        <p:spPr>
          <a:xfrm>
            <a:off x="7608056" y="1761449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2"/>
          <p:cNvSpPr/>
          <p:nvPr/>
        </p:nvSpPr>
        <p:spPr>
          <a:xfrm>
            <a:off x="8254956" y="2311629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2"/>
          <p:cNvSpPr/>
          <p:nvPr/>
        </p:nvSpPr>
        <p:spPr>
          <a:xfrm>
            <a:off x="8280303" y="3318926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2"/>
          <p:cNvSpPr/>
          <p:nvPr/>
        </p:nvSpPr>
        <p:spPr>
          <a:xfrm>
            <a:off x="8061320" y="4250053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2"/>
          <p:cNvSpPr/>
          <p:nvPr/>
        </p:nvSpPr>
        <p:spPr>
          <a:xfrm>
            <a:off x="7138187" y="4342753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2"/>
          <p:cNvSpPr/>
          <p:nvPr/>
        </p:nvSpPr>
        <p:spPr>
          <a:xfrm>
            <a:off x="6256789" y="4250058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2"/>
          <p:cNvSpPr/>
          <p:nvPr/>
        </p:nvSpPr>
        <p:spPr>
          <a:xfrm>
            <a:off x="5648850" y="3801713"/>
            <a:ext cx="92700" cy="927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2"/>
          <p:cNvSpPr txBox="1"/>
          <p:nvPr>
            <p:ph type="body" idx="1"/>
          </p:nvPr>
        </p:nvSpPr>
        <p:spPr>
          <a:xfrm>
            <a:off x="5092738" y="2894243"/>
            <a:ext cx="7959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  <p:sp>
        <p:nvSpPr>
          <p:cNvPr id="1127" name="Google Shape;1127;p82"/>
          <p:cNvSpPr txBox="1"/>
          <p:nvPr>
            <p:ph type="body" idx="1"/>
          </p:nvPr>
        </p:nvSpPr>
        <p:spPr>
          <a:xfrm>
            <a:off x="5475286" y="1799940"/>
            <a:ext cx="99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Andeep</a:t>
            </a:r>
            <a:endParaRPr sz="1600"/>
          </a:p>
        </p:txBody>
      </p:sp>
      <p:sp>
        <p:nvSpPr>
          <p:cNvPr id="1128" name="Google Shape;1128;p82"/>
          <p:cNvSpPr txBox="1"/>
          <p:nvPr>
            <p:ph type="body" idx="1"/>
          </p:nvPr>
        </p:nvSpPr>
        <p:spPr>
          <a:xfrm>
            <a:off x="6654305" y="1384008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sp>
        <p:nvSpPr>
          <p:cNvPr id="1129" name="Google Shape;1129;p82"/>
          <p:cNvSpPr txBox="1"/>
          <p:nvPr>
            <p:ph type="body" idx="1"/>
          </p:nvPr>
        </p:nvSpPr>
        <p:spPr>
          <a:xfrm>
            <a:off x="7012584" y="4416625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Sam</a:t>
            </a:r>
            <a:endParaRPr sz="1600"/>
          </a:p>
        </p:txBody>
      </p:sp>
      <p:sp>
        <p:nvSpPr>
          <p:cNvPr id="1130" name="Google Shape;1130;p82"/>
          <p:cNvSpPr txBox="1"/>
          <p:nvPr>
            <p:ph type="body" idx="1"/>
          </p:nvPr>
        </p:nvSpPr>
        <p:spPr>
          <a:xfrm>
            <a:off x="7864554" y="4310130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Sofia</a:t>
            </a:r>
            <a:endParaRPr sz="1600"/>
          </a:p>
        </p:txBody>
      </p:sp>
      <p:sp>
        <p:nvSpPr>
          <p:cNvPr id="1131" name="Google Shape;1131;p82"/>
          <p:cNvSpPr txBox="1"/>
          <p:nvPr>
            <p:ph type="body" idx="1"/>
          </p:nvPr>
        </p:nvSpPr>
        <p:spPr>
          <a:xfrm>
            <a:off x="8138148" y="3375753"/>
            <a:ext cx="6057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sp>
        <p:nvSpPr>
          <p:cNvPr id="1132" name="Google Shape;1132;p82"/>
          <p:cNvSpPr txBox="1"/>
          <p:nvPr>
            <p:ph type="body" idx="1"/>
          </p:nvPr>
        </p:nvSpPr>
        <p:spPr>
          <a:xfrm>
            <a:off x="8072427" y="2373060"/>
            <a:ext cx="6057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Alex</a:t>
            </a:r>
            <a:endParaRPr sz="1600"/>
          </a:p>
        </p:txBody>
      </p:sp>
      <p:sp>
        <p:nvSpPr>
          <p:cNvPr id="1133" name="Google Shape;1133;p82"/>
          <p:cNvSpPr txBox="1"/>
          <p:nvPr>
            <p:ph type="body" idx="1"/>
          </p:nvPr>
        </p:nvSpPr>
        <p:spPr>
          <a:xfrm>
            <a:off x="7369656" y="1828228"/>
            <a:ext cx="9150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/>
          </a:p>
        </p:txBody>
      </p:sp>
      <p:sp>
        <p:nvSpPr>
          <p:cNvPr id="1134" name="Google Shape;1134;p82"/>
          <p:cNvSpPr txBox="1"/>
          <p:nvPr>
            <p:ph type="body" idx="1"/>
          </p:nvPr>
        </p:nvSpPr>
        <p:spPr>
          <a:xfrm>
            <a:off x="6038416" y="4306939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Laura</a:t>
            </a:r>
            <a:endParaRPr sz="1600"/>
          </a:p>
        </p:txBody>
      </p:sp>
      <p:sp>
        <p:nvSpPr>
          <p:cNvPr id="1135" name="Google Shape;1135;p82"/>
          <p:cNvSpPr txBox="1"/>
          <p:nvPr>
            <p:ph type="body" idx="1"/>
          </p:nvPr>
        </p:nvSpPr>
        <p:spPr>
          <a:xfrm>
            <a:off x="5428816" y="3849739"/>
            <a:ext cx="6348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Lucas</a:t>
            </a:r>
            <a:endParaRPr sz="1600"/>
          </a:p>
        </p:txBody>
      </p:sp>
      <p:sp>
        <p:nvSpPr>
          <p:cNvPr id="1136" name="Google Shape;1136;p82"/>
          <p:cNvSpPr txBox="1"/>
          <p:nvPr>
            <p:ph type="body" idx="1"/>
          </p:nvPr>
        </p:nvSpPr>
        <p:spPr>
          <a:xfrm>
            <a:off x="4309968" y="3777659"/>
            <a:ext cx="7959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Jacob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7" name="Google Shape;1137;p82"/>
          <p:cNvSpPr txBox="1"/>
          <p:nvPr>
            <p:ph type="body" idx="1"/>
          </p:nvPr>
        </p:nvSpPr>
        <p:spPr>
          <a:xfrm>
            <a:off x="4351471" y="4445372"/>
            <a:ext cx="795900" cy="3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Sofia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8" name="Google Shape;1138;p82"/>
          <p:cNvSpPr txBox="1"/>
          <p:nvPr>
            <p:ph type="body" idx="1"/>
          </p:nvPr>
        </p:nvSpPr>
        <p:spPr>
          <a:xfrm>
            <a:off x="648700" y="3017575"/>
            <a:ext cx="4255800" cy="6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Draw a circle with the cross at the centre and Aisha’s point on the circle.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39" name="Google Shape;1139;p82"/>
          <p:cNvGrpSpPr/>
          <p:nvPr/>
        </p:nvGrpSpPr>
        <p:grpSpPr>
          <a:xfrm flipH="1">
            <a:off x="5028734" y="811543"/>
            <a:ext cx="1934135" cy="2234842"/>
            <a:chOff x="4524154" y="1447627"/>
            <a:chExt cx="1459504" cy="1724948"/>
          </a:xfrm>
        </p:grpSpPr>
        <p:pic>
          <p:nvPicPr>
            <p:cNvPr id="1140" name="Google Shape;1140;p82"/>
            <p:cNvPicPr preferRelativeResize="0"/>
            <p:nvPr/>
          </p:nvPicPr>
          <p:blipFill>
            <a:blip r:embed="rId13">
              <a:alphaModFix/>
            </a:blip>
            <a:srcRect l="11816" t="29502" r="66857" b="8412"/>
            <a:stretch>
              <a:fillRect/>
            </a:stretch>
          </p:blipFill>
          <p:spPr>
            <a:xfrm rot="-991782" flipH="1">
              <a:off x="5273086" y="1877432"/>
              <a:ext cx="544965" cy="1243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1" name="Google Shape;1141;p82"/>
            <p:cNvPicPr preferRelativeResize="0"/>
            <p:nvPr/>
          </p:nvPicPr>
          <p:blipFill>
            <a:blip r:embed="rId13">
              <a:alphaModFix/>
            </a:blip>
            <a:srcRect l="63467" t="30883" r="20736" b="10458"/>
            <a:stretch>
              <a:fillRect/>
            </a:stretch>
          </p:blipFill>
          <p:spPr>
            <a:xfrm rot="679646" flipH="1">
              <a:off x="4635584" y="1950136"/>
              <a:ext cx="403677" cy="1174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2" name="Google Shape;1142;p82"/>
            <p:cNvPicPr preferRelativeResize="0"/>
            <p:nvPr/>
          </p:nvPicPr>
          <p:blipFill>
            <a:blip r:embed="rId13">
              <a:alphaModFix/>
            </a:blip>
            <a:srcRect l="45144" t="7144" r="46324" b="60199"/>
            <a:stretch>
              <a:fillRect/>
            </a:stretch>
          </p:blipFill>
          <p:spPr>
            <a:xfrm flipH="1">
              <a:off x="5018272" y="1447627"/>
              <a:ext cx="217992" cy="6539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6" name="Shape 1146"/>
        <p:cNvGrpSpPr/>
        <p:nvPr/>
      </p:nvGrpSpPr>
      <p:grpSpPr>
        <a:xfrm>
          <a:off x="0" y="0"/>
          <a:ext cx="0" cy="0"/>
        </a:xfrm>
      </p:grpSpPr>
      <p:sp>
        <p:nvSpPr>
          <p:cNvPr id="1147" name="Google Shape;1147;p83"/>
          <p:cNvSpPr txBox="1"/>
          <p:nvPr>
            <p:ph type="body" idx="1"/>
          </p:nvPr>
        </p:nvSpPr>
        <p:spPr>
          <a:xfrm>
            <a:off x="324000" y="759300"/>
            <a:ext cx="8496000" cy="2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3) Find the coordinates of 12 points which are exactly 10 units from the origin.</a:t>
            </a:r>
            <a:endParaRPr sz="1600"/>
          </a:p>
        </p:txBody>
      </p:sp>
      <p:sp>
        <p:nvSpPr>
          <p:cNvPr id="1148" name="Google Shape;1148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/>
          </a:p>
        </p:txBody>
      </p:sp>
      <p:pic>
        <p:nvPicPr>
          <p:cNvPr id="1149" name="Google Shape;114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75" y="1080000"/>
            <a:ext cx="3708166" cy="37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83"/>
          <p:cNvSpPr txBox="1"/>
          <p:nvPr>
            <p:ph type="body" idx="4294967295"/>
          </p:nvPr>
        </p:nvSpPr>
        <p:spPr>
          <a:xfrm>
            <a:off x="5020575" y="1436850"/>
            <a:ext cx="7812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(10, 0)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1" name="Google Shape;1151;p83"/>
          <p:cNvSpPr txBox="1"/>
          <p:nvPr>
            <p:ph type="body" idx="4294967295"/>
          </p:nvPr>
        </p:nvSpPr>
        <p:spPr>
          <a:xfrm>
            <a:off x="5020575" y="1894050"/>
            <a:ext cx="7812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(0, 10)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2" name="Google Shape;1152;p83"/>
          <p:cNvSpPr txBox="1"/>
          <p:nvPr>
            <p:ph type="body" idx="4294967295"/>
          </p:nvPr>
        </p:nvSpPr>
        <p:spPr>
          <a:xfrm>
            <a:off x="5020575" y="2351250"/>
            <a:ext cx="9363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(-10, 0)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3" name="Google Shape;1153;p83"/>
          <p:cNvSpPr txBox="1"/>
          <p:nvPr>
            <p:ph type="body" idx="4294967295"/>
          </p:nvPr>
        </p:nvSpPr>
        <p:spPr>
          <a:xfrm>
            <a:off x="5020575" y="28084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-10)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4" name="Google Shape;1154;p83"/>
          <p:cNvSpPr txBox="1"/>
          <p:nvPr>
            <p:ph type="body" idx="4294967295"/>
          </p:nvPr>
        </p:nvSpPr>
        <p:spPr>
          <a:xfrm>
            <a:off x="6315975" y="14368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(8, 6)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5" name="Google Shape;1155;p83"/>
          <p:cNvSpPr txBox="1"/>
          <p:nvPr>
            <p:ph type="body" idx="4294967295"/>
          </p:nvPr>
        </p:nvSpPr>
        <p:spPr>
          <a:xfrm>
            <a:off x="6315975" y="18940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(6, 8)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83"/>
          <p:cNvSpPr txBox="1"/>
          <p:nvPr>
            <p:ph type="body" idx="4294967295"/>
          </p:nvPr>
        </p:nvSpPr>
        <p:spPr>
          <a:xfrm>
            <a:off x="6315975" y="23512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(-6, 8)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7" name="Google Shape;1157;p83"/>
          <p:cNvSpPr txBox="1"/>
          <p:nvPr>
            <p:ph type="body" idx="4294967295"/>
          </p:nvPr>
        </p:nvSpPr>
        <p:spPr>
          <a:xfrm>
            <a:off x="6315975" y="28084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(-8, 6)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8" name="Google Shape;1158;p83"/>
          <p:cNvSpPr txBox="1"/>
          <p:nvPr>
            <p:ph type="body" idx="4294967295"/>
          </p:nvPr>
        </p:nvSpPr>
        <p:spPr>
          <a:xfrm>
            <a:off x="7611375" y="1436850"/>
            <a:ext cx="11484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(-8, -6)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83"/>
          <p:cNvSpPr txBox="1"/>
          <p:nvPr>
            <p:ph type="body" idx="4294967295"/>
          </p:nvPr>
        </p:nvSpPr>
        <p:spPr>
          <a:xfrm>
            <a:off x="7611375" y="1894050"/>
            <a:ext cx="11484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(-6, -8)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83"/>
          <p:cNvSpPr txBox="1"/>
          <p:nvPr>
            <p:ph type="body" idx="4294967295"/>
          </p:nvPr>
        </p:nvSpPr>
        <p:spPr>
          <a:xfrm>
            <a:off x="7611375" y="23512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(6, -8)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83"/>
          <p:cNvSpPr txBox="1"/>
          <p:nvPr>
            <p:ph type="body" idx="4294967295"/>
          </p:nvPr>
        </p:nvSpPr>
        <p:spPr>
          <a:xfrm>
            <a:off x="7611375" y="2808450"/>
            <a:ext cx="882900" cy="3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(8, -6)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62" name="Google Shape;1162;p83"/>
          <p:cNvGrpSpPr/>
          <p:nvPr/>
        </p:nvGrpSpPr>
        <p:grpSpPr>
          <a:xfrm>
            <a:off x="655436" y="1127031"/>
            <a:ext cx="3649360" cy="3637516"/>
            <a:chOff x="655436" y="1127031"/>
            <a:chExt cx="3649360" cy="3637516"/>
          </a:xfrm>
        </p:grpSpPr>
        <p:sp>
          <p:nvSpPr>
            <p:cNvPr id="1163" name="Google Shape;1163;p83"/>
            <p:cNvSpPr/>
            <p:nvPr/>
          </p:nvSpPr>
          <p:spPr>
            <a:xfrm>
              <a:off x="713976" y="1164550"/>
              <a:ext cx="3539100" cy="3539100"/>
            </a:xfrm>
            <a:prstGeom prst="ellipse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3"/>
            <p:cNvSpPr/>
            <p:nvPr/>
          </p:nvSpPr>
          <p:spPr>
            <a:xfrm>
              <a:off x="4197396" y="2880381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3"/>
            <p:cNvSpPr/>
            <p:nvPr/>
          </p:nvSpPr>
          <p:spPr>
            <a:xfrm>
              <a:off x="3830719" y="1817856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83"/>
            <p:cNvSpPr/>
            <p:nvPr/>
          </p:nvSpPr>
          <p:spPr>
            <a:xfrm>
              <a:off x="3481969" y="1466256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83"/>
            <p:cNvSpPr/>
            <p:nvPr/>
          </p:nvSpPr>
          <p:spPr>
            <a:xfrm>
              <a:off x="2439756" y="1127031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8" name="Google Shape;1168;p83"/>
            <p:cNvSpPr/>
            <p:nvPr/>
          </p:nvSpPr>
          <p:spPr>
            <a:xfrm>
              <a:off x="1371906" y="1455550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9" name="Google Shape;1169;p83"/>
            <p:cNvSpPr/>
            <p:nvPr/>
          </p:nvSpPr>
          <p:spPr>
            <a:xfrm>
              <a:off x="1020381" y="1812505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83"/>
            <p:cNvSpPr/>
            <p:nvPr/>
          </p:nvSpPr>
          <p:spPr>
            <a:xfrm>
              <a:off x="655436" y="2875030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1" name="Google Shape;1171;p83"/>
            <p:cNvSpPr/>
            <p:nvPr/>
          </p:nvSpPr>
          <p:spPr>
            <a:xfrm>
              <a:off x="1020384" y="3931105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2" name="Google Shape;1172;p83"/>
            <p:cNvSpPr/>
            <p:nvPr/>
          </p:nvSpPr>
          <p:spPr>
            <a:xfrm>
              <a:off x="1367991" y="4285372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83"/>
            <p:cNvSpPr/>
            <p:nvPr/>
          </p:nvSpPr>
          <p:spPr>
            <a:xfrm>
              <a:off x="2429816" y="4657147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3"/>
            <p:cNvSpPr/>
            <p:nvPr/>
          </p:nvSpPr>
          <p:spPr>
            <a:xfrm>
              <a:off x="3481966" y="4285372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5" name="Google Shape;1175;p83"/>
            <p:cNvSpPr/>
            <p:nvPr/>
          </p:nvSpPr>
          <p:spPr>
            <a:xfrm>
              <a:off x="3841419" y="3941800"/>
              <a:ext cx="107400" cy="1074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6" name="Google Shape;1176;p83"/>
          <p:cNvSpPr txBox="1"/>
          <p:nvPr>
            <p:ph type="body" idx="4294967295"/>
          </p:nvPr>
        </p:nvSpPr>
        <p:spPr>
          <a:xfrm>
            <a:off x="5020575" y="3570450"/>
            <a:ext cx="3616200" cy="10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These are the only coordinates with integer values. There are more coordinates with decimal values.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0" name="Shape 1180"/>
        <p:cNvGrpSpPr/>
        <p:nvPr/>
      </p:nvGrpSpPr>
      <p:grpSpPr>
        <a:xfrm>
          <a:off x="0" y="0"/>
          <a:ext cx="0" cy="0"/>
        </a:xfrm>
      </p:grpSpPr>
      <p:sp>
        <p:nvSpPr>
          <p:cNvPr id="1181" name="Google Shape;1181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 circle</a:t>
            </a:r>
            <a:endParaRPr/>
          </a:p>
        </p:txBody>
      </p:sp>
      <p:sp>
        <p:nvSpPr>
          <p:cNvPr id="1182" name="Google Shape;1182;p84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an arc of a circle</a:t>
            </a:r>
            <a:endParaRPr/>
          </a:p>
        </p:txBody>
      </p:sp>
      <p:sp>
        <p:nvSpPr>
          <p:cNvPr id="1183" name="Google Shape;1183;p8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construction of a circle</a:t>
            </a:r>
            <a:endParaRPr/>
          </a:p>
        </p:txBody>
      </p:sp>
      <p:pic>
        <p:nvPicPr>
          <p:cNvPr id="1184" name="Google Shape;118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7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8" name="Shape 1188"/>
        <p:cNvGrpSpPr/>
        <p:nvPr/>
      </p:nvGrpSpPr>
      <p:grpSpPr>
        <a:xfrm>
          <a:off x="0" y="0"/>
          <a:ext cx="0" cy="0"/>
        </a:xfrm>
      </p:grpSpPr>
      <p:sp>
        <p:nvSpPr>
          <p:cNvPr id="1189" name="Google Shape;1189;p85"/>
          <p:cNvSpPr txBox="1"/>
          <p:nvPr>
            <p:ph type="body" idx="1"/>
          </p:nvPr>
        </p:nvSpPr>
        <p:spPr>
          <a:xfrm>
            <a:off x="324000" y="759300"/>
            <a:ext cx="8237700" cy="38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</a:t>
            </a:r>
            <a:r>
              <a:rPr lang="en-GB" sz="2000">
                <a:solidFill>
                  <a:schemeClr val="accent4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arc</a:t>
            </a:r>
            <a:r>
              <a:rPr lang="en-GB" sz="2000"/>
              <a:t> of a circle is part of the circle’s circumference.</a:t>
            </a:r>
            <a:endParaRPr sz="2000"/>
          </a:p>
        </p:txBody>
      </p:sp>
      <p:sp>
        <p:nvSpPr>
          <p:cNvPr id="1190" name="Google Shape;1190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an arc of a circle</a:t>
            </a:r>
            <a:endParaRPr sz="2400"/>
          </a:p>
        </p:txBody>
      </p:sp>
      <p:sp>
        <p:nvSpPr>
          <p:cNvPr id="1191" name="Google Shape;1191;p85"/>
          <p:cNvSpPr/>
          <p:nvPr/>
        </p:nvSpPr>
        <p:spPr>
          <a:xfrm>
            <a:off x="5541461" y="2152173"/>
            <a:ext cx="2104200" cy="2104200"/>
          </a:xfrm>
          <a:prstGeom prst="arc">
            <a:avLst>
              <a:gd name="adj1" fmla="val 10783777"/>
              <a:gd name="adj2" fmla="val 1722307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2" name="Google Shape;1192;p85"/>
          <p:cNvGrpSpPr/>
          <p:nvPr/>
        </p:nvGrpSpPr>
        <p:grpSpPr>
          <a:xfrm>
            <a:off x="2328088" y="3158701"/>
            <a:ext cx="78305" cy="92079"/>
            <a:chOff x="1514525" y="2733525"/>
            <a:chExt cx="76800" cy="90300"/>
          </a:xfrm>
        </p:grpSpPr>
        <p:cxnSp>
          <p:nvCxnSpPr>
            <p:cNvPr id="1193" name="Google Shape;1193;p85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4" name="Google Shape;1194;p85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5" name="Google Shape;1195;p85"/>
          <p:cNvSpPr/>
          <p:nvPr/>
        </p:nvSpPr>
        <p:spPr>
          <a:xfrm>
            <a:off x="1353946" y="2154250"/>
            <a:ext cx="2065800" cy="20658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6" name="Google Shape;1196;p85"/>
          <p:cNvCxnSpPr>
            <a:endCxn id="1195" idx="2"/>
          </p:cNvCxnSpPr>
          <p:nvPr/>
        </p:nvCxnSpPr>
        <p:spPr>
          <a:xfrm rot="10800000">
            <a:off x="1353946" y="3187150"/>
            <a:ext cx="1035900" cy="2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97" name="Google Shape;1197;p85"/>
          <p:cNvCxnSpPr/>
          <p:nvPr/>
        </p:nvCxnSpPr>
        <p:spPr>
          <a:xfrm rot="10800000" flipH="1">
            <a:off x="2385397" y="2189773"/>
            <a:ext cx="273300" cy="1007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98" name="Google Shape;1198;p85"/>
          <p:cNvSpPr txBox="1"/>
          <p:nvPr>
            <p:ph type="body" idx="1"/>
          </p:nvPr>
        </p:nvSpPr>
        <p:spPr>
          <a:xfrm>
            <a:off x="1622868" y="2956064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99" name="Google Shape;1199;p85"/>
          <p:cNvSpPr txBox="1"/>
          <p:nvPr>
            <p:ph type="body" idx="1"/>
          </p:nvPr>
        </p:nvSpPr>
        <p:spPr>
          <a:xfrm>
            <a:off x="2583644" y="2632224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200" name="Google Shape;1200;p85"/>
          <p:cNvSpPr txBox="1"/>
          <p:nvPr>
            <p:ph type="body" idx="1"/>
          </p:nvPr>
        </p:nvSpPr>
        <p:spPr>
          <a:xfrm>
            <a:off x="324000" y="1216500"/>
            <a:ext cx="8237700" cy="42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Every point on the arc of a circle is </a:t>
            </a:r>
            <a:r>
              <a:rPr lang="en-GB" sz="2000">
                <a:solidFill>
                  <a:schemeClr val="accent5"/>
                </a:solidFill>
              </a:rPr>
              <a:t>equidistant</a:t>
            </a:r>
            <a:r>
              <a:rPr lang="en-GB" sz="2000"/>
              <a:t> to its centre.</a:t>
            </a:r>
            <a:endParaRPr sz="2000"/>
          </a:p>
        </p:txBody>
      </p:sp>
      <p:cxnSp>
        <p:nvCxnSpPr>
          <p:cNvPr id="1201" name="Google Shape;1201;p85"/>
          <p:cNvCxnSpPr/>
          <p:nvPr/>
        </p:nvCxnSpPr>
        <p:spPr>
          <a:xfrm rot="10800000">
            <a:off x="2378750" y="3223650"/>
            <a:ext cx="524100" cy="84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02" name="Google Shape;1202;p85"/>
          <p:cNvSpPr txBox="1"/>
          <p:nvPr>
            <p:ph type="body" idx="1"/>
          </p:nvPr>
        </p:nvSpPr>
        <p:spPr>
          <a:xfrm>
            <a:off x="2654799" y="3418318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grpSp>
        <p:nvGrpSpPr>
          <p:cNvPr id="1203" name="Google Shape;1203;p85"/>
          <p:cNvGrpSpPr/>
          <p:nvPr/>
        </p:nvGrpSpPr>
        <p:grpSpPr>
          <a:xfrm>
            <a:off x="6519088" y="3158701"/>
            <a:ext cx="78305" cy="92079"/>
            <a:chOff x="1514525" y="2733525"/>
            <a:chExt cx="76800" cy="90300"/>
          </a:xfrm>
        </p:grpSpPr>
        <p:cxnSp>
          <p:nvCxnSpPr>
            <p:cNvPr id="1204" name="Google Shape;1204;p85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5" name="Google Shape;1205;p85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06" name="Google Shape;1206;p85"/>
          <p:cNvCxnSpPr/>
          <p:nvPr/>
        </p:nvCxnSpPr>
        <p:spPr>
          <a:xfrm rot="10800000">
            <a:off x="5544946" y="3187150"/>
            <a:ext cx="1035900" cy="2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07" name="Google Shape;1207;p85"/>
          <p:cNvCxnSpPr/>
          <p:nvPr/>
        </p:nvCxnSpPr>
        <p:spPr>
          <a:xfrm rot="10800000" flipH="1">
            <a:off x="6576397" y="2189773"/>
            <a:ext cx="273300" cy="1007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08" name="Google Shape;1208;p85"/>
          <p:cNvSpPr txBox="1"/>
          <p:nvPr>
            <p:ph type="body" idx="1"/>
          </p:nvPr>
        </p:nvSpPr>
        <p:spPr>
          <a:xfrm>
            <a:off x="5813868" y="2960499"/>
            <a:ext cx="688800" cy="32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209" name="Google Shape;1209;p85"/>
          <p:cNvSpPr txBox="1"/>
          <p:nvPr>
            <p:ph type="body" idx="1"/>
          </p:nvPr>
        </p:nvSpPr>
        <p:spPr>
          <a:xfrm rot="-4377249">
            <a:off x="6573571" y="2483339"/>
            <a:ext cx="688757" cy="3244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cxnSp>
        <p:nvCxnSpPr>
          <p:cNvPr id="1210" name="Google Shape;1210;p85"/>
          <p:cNvCxnSpPr/>
          <p:nvPr/>
        </p:nvCxnSpPr>
        <p:spPr>
          <a:xfrm rot="10800000">
            <a:off x="5847476" y="2456779"/>
            <a:ext cx="697800" cy="72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11" name="Google Shape;1211;p85"/>
          <p:cNvSpPr txBox="1"/>
          <p:nvPr>
            <p:ph type="body" idx="1"/>
          </p:nvPr>
        </p:nvSpPr>
        <p:spPr>
          <a:xfrm rot="2928844">
            <a:off x="6006218" y="2663693"/>
            <a:ext cx="688833" cy="3244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5" name="Shape 1215"/>
        <p:cNvGrpSpPr/>
        <p:nvPr/>
      </p:nvGrpSpPr>
      <p:grpSpPr>
        <a:xfrm>
          <a:off x="0" y="0"/>
          <a:ext cx="0" cy="0"/>
        </a:xfrm>
      </p:grpSpPr>
      <p:sp>
        <p:nvSpPr>
          <p:cNvPr id="1216" name="Google Shape;1216;p8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For example, a wrecking ball swings in an arc of a circle.</a:t>
            </a:r>
            <a:endParaRPr sz="2000"/>
          </a:p>
        </p:txBody>
      </p:sp>
      <p:sp>
        <p:nvSpPr>
          <p:cNvPr id="1217" name="Google Shape;121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an arc of a circle</a:t>
            </a:r>
            <a:endParaRPr sz="2200"/>
          </a:p>
        </p:txBody>
      </p:sp>
      <p:pic>
        <p:nvPicPr>
          <p:cNvPr id="1218" name="Google Shape;1218;p86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334625" y="1645525"/>
            <a:ext cx="2851599" cy="18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86"/>
          <p:cNvSpPr txBox="1"/>
          <p:nvPr/>
        </p:nvSpPr>
        <p:spPr>
          <a:xfrm>
            <a:off x="5447675" y="1813850"/>
            <a:ext cx="24765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While the chain is taut, the ball is always the same distance away from the fixed point at tip of the crane.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6"/>
          <p:cNvSpPr/>
          <p:nvPr/>
        </p:nvSpPr>
        <p:spPr>
          <a:xfrm>
            <a:off x="1720400" y="197400"/>
            <a:ext cx="3149100" cy="3149100"/>
          </a:xfrm>
          <a:prstGeom prst="arc">
            <a:avLst>
              <a:gd name="adj1" fmla="val 3240928"/>
              <a:gd name="adj2" fmla="val 714272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1" name="Google Shape;1221;p86"/>
          <p:cNvGrpSpPr/>
          <p:nvPr/>
        </p:nvGrpSpPr>
        <p:grpSpPr>
          <a:xfrm>
            <a:off x="855429" y="1741225"/>
            <a:ext cx="2670296" cy="2318495"/>
            <a:chOff x="855429" y="1741225"/>
            <a:chExt cx="2670296" cy="2318495"/>
          </a:xfrm>
        </p:grpSpPr>
        <p:sp>
          <p:nvSpPr>
            <p:cNvPr id="1222" name="Google Shape;1222;p86"/>
            <p:cNvSpPr/>
            <p:nvPr/>
          </p:nvSpPr>
          <p:spPr>
            <a:xfrm>
              <a:off x="1144556" y="2908282"/>
              <a:ext cx="885300" cy="809700"/>
            </a:xfrm>
            <a:prstGeom prst="trapezoid">
              <a:avLst>
                <a:gd name="adj" fmla="val 25000"/>
              </a:avLst>
            </a:prstGeom>
            <a:solidFill>
              <a:schemeClr val="dk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23" name="Google Shape;1223;p86"/>
            <p:cNvCxnSpPr/>
            <p:nvPr/>
          </p:nvCxnSpPr>
          <p:spPr>
            <a:xfrm rot="10800000" flipH="1">
              <a:off x="1894925" y="1741225"/>
              <a:ext cx="1411200" cy="1325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4" name="Google Shape;1224;p86"/>
            <p:cNvCxnSpPr/>
            <p:nvPr/>
          </p:nvCxnSpPr>
          <p:spPr>
            <a:xfrm rot="10800000" flipH="1">
              <a:off x="1995725" y="1756300"/>
              <a:ext cx="1310400" cy="1854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5" name="Google Shape;1225;p86"/>
            <p:cNvCxnSpPr/>
            <p:nvPr/>
          </p:nvCxnSpPr>
          <p:spPr>
            <a:xfrm rot="10800000" flipH="1">
              <a:off x="1876274" y="3077515"/>
              <a:ext cx="468600" cy="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6" name="Google Shape;1226;p86"/>
            <p:cNvCxnSpPr/>
            <p:nvPr/>
          </p:nvCxnSpPr>
          <p:spPr>
            <a:xfrm flipH="1">
              <a:off x="2355450" y="2637700"/>
              <a:ext cx="0" cy="457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7" name="Google Shape;1227;p86"/>
            <p:cNvCxnSpPr/>
            <p:nvPr/>
          </p:nvCxnSpPr>
          <p:spPr>
            <a:xfrm>
              <a:off x="2341925" y="2646625"/>
              <a:ext cx="324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8" name="Google Shape;1228;p86"/>
            <p:cNvCxnSpPr/>
            <p:nvPr/>
          </p:nvCxnSpPr>
          <p:spPr>
            <a:xfrm rot="10800000" flipH="1">
              <a:off x="2666825" y="2343025"/>
              <a:ext cx="0" cy="2988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9" name="Google Shape;1229;p86"/>
            <p:cNvCxnSpPr/>
            <p:nvPr/>
          </p:nvCxnSpPr>
          <p:spPr>
            <a:xfrm>
              <a:off x="2686825" y="2343025"/>
              <a:ext cx="204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0" name="Google Shape;1230;p86"/>
            <p:cNvCxnSpPr/>
            <p:nvPr/>
          </p:nvCxnSpPr>
          <p:spPr>
            <a:xfrm flipH="1">
              <a:off x="2121150" y="2881375"/>
              <a:ext cx="0" cy="546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1" name="Google Shape;1231;p86"/>
            <p:cNvCxnSpPr/>
            <p:nvPr/>
          </p:nvCxnSpPr>
          <p:spPr>
            <a:xfrm>
              <a:off x="2121150" y="2871931"/>
              <a:ext cx="384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2" name="Google Shape;1232;p86"/>
            <p:cNvCxnSpPr/>
            <p:nvPr/>
          </p:nvCxnSpPr>
          <p:spPr>
            <a:xfrm flipH="1">
              <a:off x="2507850" y="2490375"/>
              <a:ext cx="0" cy="384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3" name="Google Shape;1233;p86"/>
            <p:cNvCxnSpPr/>
            <p:nvPr/>
          </p:nvCxnSpPr>
          <p:spPr>
            <a:xfrm>
              <a:off x="2507850" y="2492425"/>
              <a:ext cx="291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4" name="Google Shape;1234;p86"/>
            <p:cNvCxnSpPr/>
            <p:nvPr/>
          </p:nvCxnSpPr>
          <p:spPr>
            <a:xfrm rot="10800000" flipH="1">
              <a:off x="2793600" y="2242400"/>
              <a:ext cx="0" cy="253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5" name="Google Shape;1235;p86"/>
            <p:cNvCxnSpPr/>
            <p:nvPr/>
          </p:nvCxnSpPr>
          <p:spPr>
            <a:xfrm>
              <a:off x="2777375" y="2232058"/>
              <a:ext cx="189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" name="Google Shape;1236;p86"/>
            <p:cNvCxnSpPr/>
            <p:nvPr/>
          </p:nvCxnSpPr>
          <p:spPr>
            <a:xfrm rot="10800000" flipH="1">
              <a:off x="2961050" y="2053050"/>
              <a:ext cx="0" cy="191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7" name="Google Shape;1237;p86"/>
            <p:cNvCxnSpPr/>
            <p:nvPr/>
          </p:nvCxnSpPr>
          <p:spPr>
            <a:xfrm>
              <a:off x="2943731" y="2069191"/>
              <a:ext cx="13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8" name="Google Shape;1238;p86"/>
            <p:cNvCxnSpPr/>
            <p:nvPr/>
          </p:nvCxnSpPr>
          <p:spPr>
            <a:xfrm rot="10800000" flipH="1">
              <a:off x="2891125" y="2122000"/>
              <a:ext cx="0" cy="216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9" name="Google Shape;1239;p86"/>
            <p:cNvCxnSpPr/>
            <p:nvPr/>
          </p:nvCxnSpPr>
          <p:spPr>
            <a:xfrm>
              <a:off x="2891125" y="2136520"/>
              <a:ext cx="138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40" name="Google Shape;1240;p86"/>
            <p:cNvSpPr/>
            <p:nvPr/>
          </p:nvSpPr>
          <p:spPr>
            <a:xfrm>
              <a:off x="3080825" y="3090675"/>
              <a:ext cx="444900" cy="444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41" name="Google Shape;1241;p86"/>
            <p:cNvCxnSpPr>
              <a:endCxn id="1240" idx="0"/>
            </p:cNvCxnSpPr>
            <p:nvPr/>
          </p:nvCxnSpPr>
          <p:spPr>
            <a:xfrm flipH="1">
              <a:off x="3303275" y="1764375"/>
              <a:ext cx="900" cy="1326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42" name="Google Shape;1242;p86"/>
            <p:cNvSpPr/>
            <p:nvPr/>
          </p:nvSpPr>
          <p:spPr>
            <a:xfrm>
              <a:off x="855429" y="3734723"/>
              <a:ext cx="324900" cy="324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3" name="Google Shape;1243;p86"/>
            <p:cNvSpPr/>
            <p:nvPr/>
          </p:nvSpPr>
          <p:spPr>
            <a:xfrm>
              <a:off x="2161126" y="3734723"/>
              <a:ext cx="324900" cy="3249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4" name="Google Shape;1244;p86"/>
            <p:cNvSpPr/>
            <p:nvPr/>
          </p:nvSpPr>
          <p:spPr>
            <a:xfrm>
              <a:off x="1019426" y="3734820"/>
              <a:ext cx="1310400" cy="3249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45" name="Google Shape;1245;p86"/>
          <p:cNvSpPr txBox="1"/>
          <p:nvPr>
            <p:ph type="body" idx="1"/>
          </p:nvPr>
        </p:nvSpPr>
        <p:spPr>
          <a:xfrm>
            <a:off x="324000" y="4493100"/>
            <a:ext cx="82377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Can you think of anything else that forms or moves in an arc?</a:t>
            </a:r>
            <a:endParaRPr sz="1800"/>
          </a:p>
        </p:txBody>
      </p:sp>
      <p:pic>
        <p:nvPicPr>
          <p:cNvPr id="1246" name="Google Shape;124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97151" y="3160975"/>
            <a:ext cx="637975" cy="835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86"/>
          <p:cNvSpPr txBox="1"/>
          <p:nvPr/>
        </p:nvSpPr>
        <p:spPr>
          <a:xfrm>
            <a:off x="7973488" y="39965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1" name="Shape 1251"/>
        <p:cNvGrpSpPr/>
        <p:nvPr/>
      </p:nvGrpSpPr>
      <p:grpSpPr>
        <a:xfrm>
          <a:off x="0" y="0"/>
          <a:ext cx="0" cy="0"/>
        </a:xfrm>
      </p:grpSpPr>
      <p:sp>
        <p:nvSpPr>
          <p:cNvPr id="1252" name="Google Shape;1252;p87"/>
          <p:cNvSpPr/>
          <p:nvPr/>
        </p:nvSpPr>
        <p:spPr>
          <a:xfrm>
            <a:off x="5258006" y="1353425"/>
            <a:ext cx="3468300" cy="34683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7"/>
          <p:cNvSpPr/>
          <p:nvPr/>
        </p:nvSpPr>
        <p:spPr>
          <a:xfrm>
            <a:off x="5102130" y="1230814"/>
            <a:ext cx="3060900" cy="30609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7"/>
          <p:cNvSpPr/>
          <p:nvPr/>
        </p:nvSpPr>
        <p:spPr>
          <a:xfrm>
            <a:off x="5304312" y="2140202"/>
            <a:ext cx="2330100" cy="23301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an arc of a circle</a:t>
            </a:r>
            <a:endParaRPr sz="2200"/>
          </a:p>
        </p:txBody>
      </p:sp>
      <p:sp>
        <p:nvSpPr>
          <p:cNvPr id="1256" name="Google Shape;1256;p87"/>
          <p:cNvSpPr txBox="1"/>
          <p:nvPr>
            <p:ph type="body" idx="1"/>
          </p:nvPr>
        </p:nvSpPr>
        <p:spPr>
          <a:xfrm>
            <a:off x="324000" y="759300"/>
            <a:ext cx="8237700" cy="10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curve below is an arc of a circle.</a:t>
            </a:r>
            <a:br>
              <a:rPr lang="en-GB" sz="2000"/>
            </a:br>
            <a:r>
              <a:rPr lang="en-GB" sz="2000"/>
              <a:t>Which point would be the centre of the circle?</a:t>
            </a:r>
            <a:br>
              <a:rPr lang="en-GB" sz="2000"/>
            </a:br>
            <a:r>
              <a:rPr lang="en-GB" sz="2000"/>
              <a:t>How could we find out?</a:t>
            </a:r>
            <a:endParaRPr sz="2000"/>
          </a:p>
        </p:txBody>
      </p:sp>
      <p:sp>
        <p:nvSpPr>
          <p:cNvPr id="1257" name="Google Shape;1257;p87"/>
          <p:cNvSpPr/>
          <p:nvPr/>
        </p:nvSpPr>
        <p:spPr>
          <a:xfrm>
            <a:off x="6589869" y="2725602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87"/>
          <p:cNvSpPr/>
          <p:nvPr/>
        </p:nvSpPr>
        <p:spPr>
          <a:xfrm>
            <a:off x="6954737" y="3050152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7"/>
          <p:cNvSpPr/>
          <p:nvPr/>
        </p:nvSpPr>
        <p:spPr>
          <a:xfrm>
            <a:off x="6425645" y="3258679"/>
            <a:ext cx="75000" cy="7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7"/>
          <p:cNvSpPr txBox="1"/>
          <p:nvPr>
            <p:ph type="body" idx="1"/>
          </p:nvPr>
        </p:nvSpPr>
        <p:spPr>
          <a:xfrm>
            <a:off x="6549970" y="2484449"/>
            <a:ext cx="173400" cy="2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261" name="Google Shape;1261;p87"/>
          <p:cNvSpPr txBox="1"/>
          <p:nvPr>
            <p:ph type="body" idx="1"/>
          </p:nvPr>
        </p:nvSpPr>
        <p:spPr>
          <a:xfrm>
            <a:off x="6921219" y="2822884"/>
            <a:ext cx="173400" cy="2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262" name="Google Shape;1262;p87"/>
          <p:cNvSpPr txBox="1"/>
          <p:nvPr>
            <p:ph type="body" idx="1"/>
          </p:nvPr>
        </p:nvSpPr>
        <p:spPr>
          <a:xfrm>
            <a:off x="6391908" y="3032508"/>
            <a:ext cx="173400" cy="2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263" name="Google Shape;1263;p87"/>
          <p:cNvSpPr/>
          <p:nvPr/>
        </p:nvSpPr>
        <p:spPr>
          <a:xfrm>
            <a:off x="5299023" y="2133177"/>
            <a:ext cx="2335500" cy="2335500"/>
          </a:xfrm>
          <a:prstGeom prst="arc">
            <a:avLst>
              <a:gd name="adj1" fmla="val 5947341"/>
              <a:gd name="adj2" fmla="val 992242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4" name="Google Shape;1264;p87"/>
          <p:cNvGrpSpPr/>
          <p:nvPr/>
        </p:nvGrpSpPr>
        <p:grpSpPr>
          <a:xfrm rot="-1900116" flipH="1">
            <a:off x="4400104" y="1280391"/>
            <a:ext cx="1918742" cy="2267855"/>
            <a:chOff x="4524154" y="1447627"/>
            <a:chExt cx="1459504" cy="1724948"/>
          </a:xfrm>
        </p:grpSpPr>
        <p:pic>
          <p:nvPicPr>
            <p:cNvPr id="1265" name="Google Shape;1265;p87"/>
            <p:cNvPicPr preferRelativeResize="0"/>
            <p:nvPr/>
          </p:nvPicPr>
          <p:blipFill>
            <a:blip r:embed="rId3">
              <a:alphaModFix/>
            </a:blip>
            <a:srcRect l="11816" t="29502" r="66857" b="8412"/>
            <a:stretch>
              <a:fillRect/>
            </a:stretch>
          </p:blipFill>
          <p:spPr>
            <a:xfrm rot="-991782" flipH="1">
              <a:off x="5273086" y="1877432"/>
              <a:ext cx="544965" cy="1243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6" name="Google Shape;1266;p87"/>
            <p:cNvPicPr preferRelativeResize="0"/>
            <p:nvPr/>
          </p:nvPicPr>
          <p:blipFill>
            <a:blip r:embed="rId3">
              <a:alphaModFix/>
            </a:blip>
            <a:srcRect l="63467" t="30883" r="20736" b="10458"/>
            <a:stretch>
              <a:fillRect/>
            </a:stretch>
          </p:blipFill>
          <p:spPr>
            <a:xfrm rot="679646" flipH="1">
              <a:off x="4635584" y="1950136"/>
              <a:ext cx="403677" cy="1174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7" name="Google Shape;1267;p87"/>
            <p:cNvPicPr preferRelativeResize="0"/>
            <p:nvPr/>
          </p:nvPicPr>
          <p:blipFill>
            <a:blip r:embed="rId3">
              <a:alphaModFix/>
            </a:blip>
            <a:srcRect l="45144" t="7144" r="46324" b="60199"/>
            <a:stretch>
              <a:fillRect/>
            </a:stretch>
          </p:blipFill>
          <p:spPr>
            <a:xfrm flipH="1">
              <a:off x="5018272" y="1447627"/>
              <a:ext cx="217992" cy="6539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8" name="Google Shape;1268;p87"/>
          <p:cNvGrpSpPr/>
          <p:nvPr/>
        </p:nvGrpSpPr>
        <p:grpSpPr>
          <a:xfrm>
            <a:off x="5017876" y="1532191"/>
            <a:ext cx="1518902" cy="2088237"/>
            <a:chOff x="5017876" y="1532191"/>
            <a:chExt cx="1518902" cy="2088237"/>
          </a:xfrm>
        </p:grpSpPr>
        <p:pic>
          <p:nvPicPr>
            <p:cNvPr id="1269" name="Google Shape;1269;p87"/>
            <p:cNvPicPr preferRelativeResize="0"/>
            <p:nvPr/>
          </p:nvPicPr>
          <p:blipFill>
            <a:blip r:embed="rId3">
              <a:alphaModFix/>
            </a:blip>
            <a:srcRect l="11816" t="29502" r="66857" b="8412"/>
            <a:stretch>
              <a:fillRect/>
            </a:stretch>
          </p:blipFill>
          <p:spPr>
            <a:xfrm rot="102">
              <a:off x="5017876" y="2109069"/>
              <a:ext cx="662401" cy="1511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0" name="Google Shape;1270;p87"/>
            <p:cNvPicPr preferRelativeResize="0"/>
            <p:nvPr/>
          </p:nvPicPr>
          <p:blipFill>
            <a:blip r:embed="rId3">
              <a:alphaModFix/>
            </a:blip>
            <a:srcRect l="63467" t="30883" r="20736" b="10458"/>
            <a:stretch>
              <a:fillRect/>
            </a:stretch>
          </p:blipFill>
          <p:spPr>
            <a:xfrm rot="-1074854">
              <a:off x="5838429" y="2003266"/>
              <a:ext cx="490669" cy="1427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1" name="Google Shape;1271;p87"/>
            <p:cNvPicPr preferRelativeResize="0"/>
            <p:nvPr/>
          </p:nvPicPr>
          <p:blipFill>
            <a:blip r:embed="rId3">
              <a:alphaModFix/>
            </a:blip>
            <a:srcRect l="45144" t="7144" r="46324" b="60199"/>
            <a:stretch>
              <a:fillRect/>
            </a:stretch>
          </p:blipFill>
          <p:spPr>
            <a:xfrm rot="-799091">
              <a:off x="5487098" y="1552022"/>
              <a:ext cx="264967" cy="7949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2" name="Google Shape;1272;p87"/>
          <p:cNvGrpSpPr/>
          <p:nvPr/>
        </p:nvGrpSpPr>
        <p:grpSpPr>
          <a:xfrm>
            <a:off x="5009182" y="1481102"/>
            <a:ext cx="2059207" cy="2197756"/>
            <a:chOff x="5203136" y="1329821"/>
            <a:chExt cx="2350693" cy="2508853"/>
          </a:xfrm>
        </p:grpSpPr>
        <p:pic>
          <p:nvPicPr>
            <p:cNvPr id="1273" name="Google Shape;1273;p87"/>
            <p:cNvPicPr preferRelativeResize="0"/>
            <p:nvPr/>
          </p:nvPicPr>
          <p:blipFill>
            <a:blip r:embed="rId3">
              <a:alphaModFix/>
            </a:blip>
            <a:srcRect l="11816" t="29502" r="66857" b="8412"/>
            <a:stretch>
              <a:fillRect/>
            </a:stretch>
          </p:blipFill>
          <p:spPr>
            <a:xfrm rot="562985">
              <a:off x="5341600" y="2025524"/>
              <a:ext cx="772308" cy="17619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4" name="Google Shape;1274;p87"/>
            <p:cNvPicPr preferRelativeResize="0"/>
            <p:nvPr/>
          </p:nvPicPr>
          <p:blipFill>
            <a:blip r:embed="rId3">
              <a:alphaModFix/>
            </a:blip>
            <a:srcRect l="63467" t="30883" r="20736" b="10458"/>
            <a:stretch>
              <a:fillRect/>
            </a:stretch>
          </p:blipFill>
          <p:spPr>
            <a:xfrm rot="-2053496">
              <a:off x="6563126" y="1800027"/>
              <a:ext cx="572079" cy="1664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5" name="Google Shape;1275;p87"/>
            <p:cNvPicPr preferRelativeResize="0"/>
            <p:nvPr/>
          </p:nvPicPr>
          <p:blipFill>
            <a:blip r:embed="rId3">
              <a:alphaModFix/>
            </a:blip>
            <a:srcRect l="45144" t="7144" r="46324" b="60199"/>
            <a:stretch>
              <a:fillRect/>
            </a:stretch>
          </p:blipFill>
          <p:spPr>
            <a:xfrm rot="-1055466">
              <a:off x="5991176" y="1354835"/>
              <a:ext cx="308932" cy="9267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6" name="Google Shape;1276;p87"/>
          <p:cNvSpPr txBox="1"/>
          <p:nvPr>
            <p:ph type="body" idx="1"/>
          </p:nvPr>
        </p:nvSpPr>
        <p:spPr>
          <a:xfrm>
            <a:off x="1245350" y="2785225"/>
            <a:ext cx="2732400" cy="3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Point C is the centre.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0" name="Shape 1280"/>
        <p:cNvGrpSpPr/>
        <p:nvPr/>
      </p:nvGrpSpPr>
      <p:grpSpPr>
        <a:xfrm>
          <a:off x="0" y="0"/>
          <a:ext cx="0" cy="0"/>
        </a:xfrm>
      </p:grpSpPr>
      <p:sp>
        <p:nvSpPr>
          <p:cNvPr id="1281" name="Google Shape;1281;p88"/>
          <p:cNvSpPr txBox="1"/>
          <p:nvPr>
            <p:ph type="body" idx="1"/>
          </p:nvPr>
        </p:nvSpPr>
        <p:spPr>
          <a:xfrm>
            <a:off x="400200" y="2435700"/>
            <a:ext cx="8361600" cy="91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Every point on the arc of a circle is                    from the centre of its complete circle.</a:t>
            </a:r>
            <a:endParaRPr/>
          </a:p>
        </p:txBody>
      </p:sp>
      <p:sp>
        <p:nvSpPr>
          <p:cNvPr id="1282" name="Google Shape;128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an arc of a circle</a:t>
            </a:r>
            <a:endParaRPr/>
          </a:p>
        </p:txBody>
      </p:sp>
      <p:sp>
        <p:nvSpPr>
          <p:cNvPr id="1283" name="Google Shape;1283;p88"/>
          <p:cNvSpPr txBox="1"/>
          <p:nvPr>
            <p:ph type="body" idx="1"/>
          </p:nvPr>
        </p:nvSpPr>
        <p:spPr>
          <a:xfrm>
            <a:off x="5183777" y="2435403"/>
            <a:ext cx="1623900" cy="37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equidistant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84" name="Google Shape;1284;p88"/>
          <p:cNvCxnSpPr/>
          <p:nvPr/>
        </p:nvCxnSpPr>
        <p:spPr>
          <a:xfrm>
            <a:off x="5215991" y="2731837"/>
            <a:ext cx="1292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8" name="Shape 1288"/>
        <p:cNvGrpSpPr/>
        <p:nvPr/>
      </p:nvGrpSpPr>
      <p:grpSpPr>
        <a:xfrm>
          <a:off x="0" y="0"/>
          <a:ext cx="0" cy="0"/>
        </a:xfrm>
      </p:grpSpPr>
      <p:sp>
        <p:nvSpPr>
          <p:cNvPr id="1289" name="Google Shape;1289;p89"/>
          <p:cNvSpPr txBox="1"/>
          <p:nvPr>
            <p:ph type="body" idx="1"/>
          </p:nvPr>
        </p:nvSpPr>
        <p:spPr>
          <a:xfrm>
            <a:off x="324000" y="75930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see-saw tilts around a fixed point to raise and lower the seats at each end.</a:t>
            </a:r>
            <a:endParaRPr sz="2000"/>
          </a:p>
        </p:txBody>
      </p:sp>
      <p:sp>
        <p:nvSpPr>
          <p:cNvPr id="1290" name="Google Shape;129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an arc of a circle</a:t>
            </a:r>
            <a:endParaRPr/>
          </a:p>
        </p:txBody>
      </p:sp>
      <p:cxnSp>
        <p:nvCxnSpPr>
          <p:cNvPr id="1291" name="Google Shape;1291;p89"/>
          <p:cNvCxnSpPr/>
          <p:nvPr/>
        </p:nvCxnSpPr>
        <p:spPr>
          <a:xfrm>
            <a:off x="1811060" y="2321360"/>
            <a:ext cx="2128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2" name="Google Shape;1292;p89"/>
          <p:cNvSpPr/>
          <p:nvPr/>
        </p:nvSpPr>
        <p:spPr>
          <a:xfrm>
            <a:off x="2691476" y="1945393"/>
            <a:ext cx="367500" cy="3630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3" name="Google Shape;1293;p89"/>
          <p:cNvCxnSpPr/>
          <p:nvPr/>
        </p:nvCxnSpPr>
        <p:spPr>
          <a:xfrm>
            <a:off x="3483032" y="4124825"/>
            <a:ext cx="2128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4" name="Google Shape;1294;p89"/>
          <p:cNvSpPr/>
          <p:nvPr/>
        </p:nvSpPr>
        <p:spPr>
          <a:xfrm>
            <a:off x="4363448" y="3748858"/>
            <a:ext cx="367500" cy="3630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5" name="Google Shape;1295;p89"/>
          <p:cNvCxnSpPr/>
          <p:nvPr/>
        </p:nvCxnSpPr>
        <p:spPr>
          <a:xfrm>
            <a:off x="5186481" y="2321360"/>
            <a:ext cx="2128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6" name="Google Shape;1296;p89"/>
          <p:cNvSpPr/>
          <p:nvPr/>
        </p:nvSpPr>
        <p:spPr>
          <a:xfrm>
            <a:off x="6066896" y="1945393"/>
            <a:ext cx="367500" cy="3630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9"/>
          <p:cNvSpPr/>
          <p:nvPr/>
        </p:nvSpPr>
        <p:spPr>
          <a:xfrm rot="1119151">
            <a:off x="1811204" y="1887055"/>
            <a:ext cx="2123643" cy="7189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9"/>
          <p:cNvSpPr/>
          <p:nvPr/>
        </p:nvSpPr>
        <p:spPr>
          <a:xfrm rot="-1037788">
            <a:off x="5189913" y="1884383"/>
            <a:ext cx="2119967" cy="71821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9"/>
          <p:cNvSpPr/>
          <p:nvPr/>
        </p:nvSpPr>
        <p:spPr>
          <a:xfrm>
            <a:off x="3495979" y="3694507"/>
            <a:ext cx="2097900" cy="723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0" name="Google Shape;1300;p89"/>
          <p:cNvCxnSpPr/>
          <p:nvPr/>
        </p:nvCxnSpPr>
        <p:spPr>
          <a:xfrm>
            <a:off x="6448940" y="4124825"/>
            <a:ext cx="2128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1" name="Google Shape;1301;p89"/>
          <p:cNvSpPr/>
          <p:nvPr/>
        </p:nvSpPr>
        <p:spPr>
          <a:xfrm>
            <a:off x="7329355" y="3748858"/>
            <a:ext cx="367500" cy="3630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9"/>
          <p:cNvSpPr/>
          <p:nvPr/>
        </p:nvSpPr>
        <p:spPr>
          <a:xfrm>
            <a:off x="6461887" y="3694507"/>
            <a:ext cx="2097900" cy="723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3" name="Google Shape;1303;p89"/>
          <p:cNvCxnSpPr/>
          <p:nvPr/>
        </p:nvCxnSpPr>
        <p:spPr>
          <a:xfrm>
            <a:off x="517125" y="4124825"/>
            <a:ext cx="2128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4" name="Google Shape;1304;p89"/>
          <p:cNvSpPr/>
          <p:nvPr/>
        </p:nvSpPr>
        <p:spPr>
          <a:xfrm>
            <a:off x="1397540" y="3748858"/>
            <a:ext cx="367500" cy="3630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9"/>
          <p:cNvSpPr/>
          <p:nvPr/>
        </p:nvSpPr>
        <p:spPr>
          <a:xfrm>
            <a:off x="530071" y="3694507"/>
            <a:ext cx="2097900" cy="723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9"/>
          <p:cNvSpPr txBox="1"/>
          <p:nvPr>
            <p:ph type="body" idx="1"/>
          </p:nvPr>
        </p:nvSpPr>
        <p:spPr>
          <a:xfrm>
            <a:off x="324000" y="274050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Which image shows the path that the seats moves?</a:t>
            </a:r>
            <a:endParaRPr sz="2000"/>
          </a:p>
        </p:txBody>
      </p:sp>
      <p:sp>
        <p:nvSpPr>
          <p:cNvPr id="1307" name="Google Shape;1307;p89"/>
          <p:cNvSpPr/>
          <p:nvPr/>
        </p:nvSpPr>
        <p:spPr>
          <a:xfrm rot="1132570">
            <a:off x="1874611" y="1538045"/>
            <a:ext cx="86238" cy="28814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9"/>
          <p:cNvSpPr/>
          <p:nvPr/>
        </p:nvSpPr>
        <p:spPr>
          <a:xfrm rot="1133165">
            <a:off x="1967684" y="1511580"/>
            <a:ext cx="36146" cy="9139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9"/>
          <p:cNvSpPr/>
          <p:nvPr/>
        </p:nvSpPr>
        <p:spPr>
          <a:xfrm rot="1132570">
            <a:off x="3809238" y="2195145"/>
            <a:ext cx="86238" cy="28814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9"/>
          <p:cNvSpPr/>
          <p:nvPr/>
        </p:nvSpPr>
        <p:spPr>
          <a:xfrm rot="1133165">
            <a:off x="3779236" y="2117729"/>
            <a:ext cx="36146" cy="9139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9"/>
          <p:cNvSpPr/>
          <p:nvPr/>
        </p:nvSpPr>
        <p:spPr>
          <a:xfrm>
            <a:off x="528661" y="3673999"/>
            <a:ext cx="88800" cy="34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9"/>
          <p:cNvSpPr/>
          <p:nvPr/>
        </p:nvSpPr>
        <p:spPr>
          <a:xfrm>
            <a:off x="618257" y="3615179"/>
            <a:ext cx="31800" cy="957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3" name="Google Shape;1313;p89"/>
          <p:cNvGrpSpPr/>
          <p:nvPr/>
        </p:nvGrpSpPr>
        <p:grpSpPr>
          <a:xfrm flipH="1">
            <a:off x="2511870" y="3615179"/>
            <a:ext cx="121396" cy="95700"/>
            <a:chOff x="681061" y="3767579"/>
            <a:chExt cx="121396" cy="95700"/>
          </a:xfrm>
        </p:grpSpPr>
        <p:sp>
          <p:nvSpPr>
            <p:cNvPr id="1314" name="Google Shape;1314;p89"/>
            <p:cNvSpPr/>
            <p:nvPr/>
          </p:nvSpPr>
          <p:spPr>
            <a:xfrm>
              <a:off x="681061" y="3826399"/>
              <a:ext cx="88800" cy="342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89"/>
            <p:cNvSpPr/>
            <p:nvPr/>
          </p:nvSpPr>
          <p:spPr>
            <a:xfrm>
              <a:off x="770657" y="3767579"/>
              <a:ext cx="31800" cy="957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6" name="Google Shape;1316;p89"/>
          <p:cNvSpPr/>
          <p:nvPr/>
        </p:nvSpPr>
        <p:spPr>
          <a:xfrm>
            <a:off x="3491432" y="3673999"/>
            <a:ext cx="88800" cy="34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7" name="Google Shape;1317;p89"/>
          <p:cNvGrpSpPr/>
          <p:nvPr/>
        </p:nvGrpSpPr>
        <p:grpSpPr>
          <a:xfrm flipH="1">
            <a:off x="5474642" y="3615179"/>
            <a:ext cx="121396" cy="95700"/>
            <a:chOff x="681061" y="3767579"/>
            <a:chExt cx="121396" cy="95700"/>
          </a:xfrm>
        </p:grpSpPr>
        <p:sp>
          <p:nvSpPr>
            <p:cNvPr id="1318" name="Google Shape;1318;p89"/>
            <p:cNvSpPr/>
            <p:nvPr/>
          </p:nvSpPr>
          <p:spPr>
            <a:xfrm>
              <a:off x="681061" y="3826399"/>
              <a:ext cx="88800" cy="342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9" name="Google Shape;1319;p89"/>
            <p:cNvSpPr/>
            <p:nvPr/>
          </p:nvSpPr>
          <p:spPr>
            <a:xfrm>
              <a:off x="770657" y="3767579"/>
              <a:ext cx="31800" cy="957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0" name="Google Shape;1320;p89"/>
          <p:cNvSpPr/>
          <p:nvPr/>
        </p:nvSpPr>
        <p:spPr>
          <a:xfrm>
            <a:off x="3576514" y="3615179"/>
            <a:ext cx="31800" cy="957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89"/>
          <p:cNvSpPr/>
          <p:nvPr/>
        </p:nvSpPr>
        <p:spPr>
          <a:xfrm>
            <a:off x="6458718" y="3673999"/>
            <a:ext cx="88800" cy="34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9"/>
          <p:cNvSpPr/>
          <p:nvPr/>
        </p:nvSpPr>
        <p:spPr>
          <a:xfrm>
            <a:off x="6548314" y="3615179"/>
            <a:ext cx="31800" cy="957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3" name="Google Shape;1323;p89"/>
          <p:cNvGrpSpPr/>
          <p:nvPr/>
        </p:nvGrpSpPr>
        <p:grpSpPr>
          <a:xfrm flipH="1">
            <a:off x="8441928" y="3615179"/>
            <a:ext cx="121396" cy="95700"/>
            <a:chOff x="681061" y="3767579"/>
            <a:chExt cx="121396" cy="95700"/>
          </a:xfrm>
        </p:grpSpPr>
        <p:sp>
          <p:nvSpPr>
            <p:cNvPr id="1324" name="Google Shape;1324;p89"/>
            <p:cNvSpPr/>
            <p:nvPr/>
          </p:nvSpPr>
          <p:spPr>
            <a:xfrm>
              <a:off x="681061" y="3826399"/>
              <a:ext cx="88800" cy="342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5" name="Google Shape;1325;p89"/>
            <p:cNvSpPr/>
            <p:nvPr/>
          </p:nvSpPr>
          <p:spPr>
            <a:xfrm>
              <a:off x="770657" y="3767579"/>
              <a:ext cx="31800" cy="957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6" name="Google Shape;1326;p89"/>
          <p:cNvSpPr/>
          <p:nvPr/>
        </p:nvSpPr>
        <p:spPr>
          <a:xfrm rot="-1121241">
            <a:off x="5222594" y="2163229"/>
            <a:ext cx="86141" cy="28756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9"/>
          <p:cNvSpPr/>
          <p:nvPr/>
        </p:nvSpPr>
        <p:spPr>
          <a:xfrm rot="-807521">
            <a:off x="5302103" y="2094330"/>
            <a:ext cx="36091" cy="102085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9"/>
          <p:cNvSpPr/>
          <p:nvPr/>
        </p:nvSpPr>
        <p:spPr>
          <a:xfrm rot="-1121241">
            <a:off x="7167263" y="1563236"/>
            <a:ext cx="86141" cy="28756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9"/>
          <p:cNvSpPr/>
          <p:nvPr/>
        </p:nvSpPr>
        <p:spPr>
          <a:xfrm rot="-807521">
            <a:off x="7129352" y="1537689"/>
            <a:ext cx="36091" cy="7182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9"/>
          <p:cNvSpPr txBox="1"/>
          <p:nvPr>
            <p:ph type="body" idx="1"/>
          </p:nvPr>
        </p:nvSpPr>
        <p:spPr>
          <a:xfrm>
            <a:off x="1194900" y="1707900"/>
            <a:ext cx="489900" cy="24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seat</a:t>
            </a:r>
            <a:endParaRPr sz="1600"/>
          </a:p>
        </p:txBody>
      </p:sp>
      <p:cxnSp>
        <p:nvCxnSpPr>
          <p:cNvPr id="1331" name="Google Shape;1331;p89"/>
          <p:cNvCxnSpPr/>
          <p:nvPr/>
        </p:nvCxnSpPr>
        <p:spPr>
          <a:xfrm rot="10800000" flipH="1">
            <a:off x="1607230" y="1567902"/>
            <a:ext cx="256800" cy="194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2" name="Google Shape;1332;p89"/>
          <p:cNvSpPr/>
          <p:nvPr/>
        </p:nvSpPr>
        <p:spPr>
          <a:xfrm>
            <a:off x="6515174" y="2757447"/>
            <a:ext cx="1994400" cy="1994400"/>
          </a:xfrm>
          <a:prstGeom prst="arc">
            <a:avLst>
              <a:gd name="adj1" fmla="val 20115555"/>
              <a:gd name="adj2" fmla="val 1512109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9"/>
          <p:cNvSpPr/>
          <p:nvPr/>
        </p:nvSpPr>
        <p:spPr>
          <a:xfrm flipH="1">
            <a:off x="6497118" y="2757447"/>
            <a:ext cx="1994400" cy="1994400"/>
          </a:xfrm>
          <a:prstGeom prst="arc">
            <a:avLst>
              <a:gd name="adj1" fmla="val 20115555"/>
              <a:gd name="adj2" fmla="val 1512109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4" name="Google Shape;1334;p89"/>
          <p:cNvGrpSpPr/>
          <p:nvPr/>
        </p:nvGrpSpPr>
        <p:grpSpPr>
          <a:xfrm flipH="1">
            <a:off x="5475375" y="3274833"/>
            <a:ext cx="82200" cy="830310"/>
            <a:chOff x="3534842" y="3472094"/>
            <a:chExt cx="82200" cy="785534"/>
          </a:xfrm>
        </p:grpSpPr>
        <p:cxnSp>
          <p:nvCxnSpPr>
            <p:cNvPr id="1335" name="Google Shape;1335;p89"/>
            <p:cNvCxnSpPr/>
            <p:nvPr/>
          </p:nvCxnSpPr>
          <p:spPr>
            <a:xfrm rot="10800000" flipH="1">
              <a:off x="3537842" y="3472094"/>
              <a:ext cx="78000" cy="402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6" name="Google Shape;1336;p89"/>
            <p:cNvCxnSpPr/>
            <p:nvPr/>
          </p:nvCxnSpPr>
          <p:spPr>
            <a:xfrm>
              <a:off x="3534842" y="3861028"/>
              <a:ext cx="82200" cy="396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1337" name="Google Shape;1337;p89"/>
          <p:cNvCxnSpPr/>
          <p:nvPr/>
        </p:nvCxnSpPr>
        <p:spPr>
          <a:xfrm rot="10800000">
            <a:off x="2581762" y="3310260"/>
            <a:ext cx="13500" cy="798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38" name="Google Shape;1338;p89"/>
          <p:cNvCxnSpPr/>
          <p:nvPr/>
        </p:nvCxnSpPr>
        <p:spPr>
          <a:xfrm rot="10800000">
            <a:off x="564449" y="3310260"/>
            <a:ext cx="13500" cy="798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339" name="Google Shape;1339;p89"/>
          <p:cNvGrpSpPr/>
          <p:nvPr/>
        </p:nvGrpSpPr>
        <p:grpSpPr>
          <a:xfrm>
            <a:off x="3516750" y="3274833"/>
            <a:ext cx="82200" cy="830310"/>
            <a:chOff x="3534842" y="3472094"/>
            <a:chExt cx="82200" cy="785534"/>
          </a:xfrm>
        </p:grpSpPr>
        <p:cxnSp>
          <p:nvCxnSpPr>
            <p:cNvPr id="1340" name="Google Shape;1340;p89"/>
            <p:cNvCxnSpPr/>
            <p:nvPr/>
          </p:nvCxnSpPr>
          <p:spPr>
            <a:xfrm rot="10800000" flipH="1">
              <a:off x="3537842" y="3472094"/>
              <a:ext cx="78000" cy="402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1" name="Google Shape;1341;p89"/>
            <p:cNvCxnSpPr/>
            <p:nvPr/>
          </p:nvCxnSpPr>
          <p:spPr>
            <a:xfrm>
              <a:off x="3534842" y="3861028"/>
              <a:ext cx="82200" cy="396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342" name="Google Shape;1342;p89"/>
          <p:cNvGrpSpPr/>
          <p:nvPr/>
        </p:nvGrpSpPr>
        <p:grpSpPr>
          <a:xfrm>
            <a:off x="1344391" y="4320000"/>
            <a:ext cx="457200" cy="457200"/>
            <a:chOff x="1020916" y="1442088"/>
            <a:chExt cx="457200" cy="457200"/>
          </a:xfrm>
        </p:grpSpPr>
        <p:pic>
          <p:nvPicPr>
            <p:cNvPr id="1343" name="Google Shape;1343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5" name="Google Shape;1345;p89"/>
          <p:cNvGrpSpPr/>
          <p:nvPr/>
        </p:nvGrpSpPr>
        <p:grpSpPr>
          <a:xfrm>
            <a:off x="4368591" y="4320000"/>
            <a:ext cx="457200" cy="457200"/>
            <a:chOff x="1020916" y="1442088"/>
            <a:chExt cx="457200" cy="457200"/>
          </a:xfrm>
        </p:grpSpPr>
        <p:pic>
          <p:nvPicPr>
            <p:cNvPr id="1346" name="Google Shape;134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7" name="Google Shape;134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8" name="Google Shape;1348;p89"/>
          <p:cNvGrpSpPr/>
          <p:nvPr/>
        </p:nvGrpSpPr>
        <p:grpSpPr>
          <a:xfrm>
            <a:off x="7240391" y="4320000"/>
            <a:ext cx="457200" cy="457200"/>
            <a:chOff x="1020916" y="1442088"/>
            <a:chExt cx="457200" cy="457200"/>
          </a:xfrm>
        </p:grpSpPr>
        <p:pic>
          <p:nvPicPr>
            <p:cNvPr id="1349" name="Google Shape;1349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51" name="Google Shape;135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4358" y="43390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5" name="Shape 1355"/>
        <p:cNvGrpSpPr/>
        <p:nvPr/>
      </p:nvGrpSpPr>
      <p:grpSpPr>
        <a:xfrm>
          <a:off x="0" y="0"/>
          <a:ext cx="0" cy="0"/>
        </a:xfrm>
      </p:grpSpPr>
      <p:sp>
        <p:nvSpPr>
          <p:cNvPr id="1356" name="Google Shape;135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an arc of a circle</a:t>
            </a:r>
            <a:endParaRPr/>
          </a:p>
        </p:txBody>
      </p:sp>
      <p:grpSp>
        <p:nvGrpSpPr>
          <p:cNvPr id="1357" name="Google Shape;1357;p90"/>
          <p:cNvGrpSpPr/>
          <p:nvPr/>
        </p:nvGrpSpPr>
        <p:grpSpPr>
          <a:xfrm>
            <a:off x="6185838" y="2514763"/>
            <a:ext cx="78305" cy="92079"/>
            <a:chOff x="1514525" y="2733525"/>
            <a:chExt cx="76800" cy="90300"/>
          </a:xfrm>
        </p:grpSpPr>
        <p:cxnSp>
          <p:nvCxnSpPr>
            <p:cNvPr id="1358" name="Google Shape;1358;p9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9" name="Google Shape;1359;p9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60" name="Google Shape;1360;p90"/>
          <p:cNvSpPr txBox="1"/>
          <p:nvPr>
            <p:ph type="body" idx="4294967295"/>
          </p:nvPr>
        </p:nvSpPr>
        <p:spPr>
          <a:xfrm>
            <a:off x="3199922" y="2238070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grpSp>
        <p:nvGrpSpPr>
          <p:cNvPr id="1361" name="Google Shape;1361;p90"/>
          <p:cNvGrpSpPr/>
          <p:nvPr/>
        </p:nvGrpSpPr>
        <p:grpSpPr>
          <a:xfrm>
            <a:off x="6187579" y="821058"/>
            <a:ext cx="1561961" cy="1846039"/>
            <a:chOff x="4524154" y="1447627"/>
            <a:chExt cx="1459504" cy="1724948"/>
          </a:xfrm>
        </p:grpSpPr>
        <p:pic>
          <p:nvPicPr>
            <p:cNvPr id="1362" name="Google Shape;1362;p90"/>
            <p:cNvPicPr preferRelativeResize="0"/>
            <p:nvPr/>
          </p:nvPicPr>
          <p:blipFill>
            <a:blip r:embed="rId3">
              <a:alphaModFix/>
            </a:blip>
            <a:srcRect l="11816" t="29502" r="66857" b="8412"/>
            <a:stretch>
              <a:fillRect/>
            </a:stretch>
          </p:blipFill>
          <p:spPr>
            <a:xfrm rot="-991782" flipH="1">
              <a:off x="5273086" y="1877432"/>
              <a:ext cx="544965" cy="1243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3" name="Google Shape;1363;p90"/>
            <p:cNvPicPr preferRelativeResize="0"/>
            <p:nvPr/>
          </p:nvPicPr>
          <p:blipFill>
            <a:blip r:embed="rId3">
              <a:alphaModFix/>
            </a:blip>
            <a:srcRect l="63467" t="30883" r="20736" b="10458"/>
            <a:stretch>
              <a:fillRect/>
            </a:stretch>
          </p:blipFill>
          <p:spPr>
            <a:xfrm rot="679646" flipH="1">
              <a:off x="4635584" y="1950136"/>
              <a:ext cx="403677" cy="1174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4" name="Google Shape;1364;p90"/>
            <p:cNvPicPr preferRelativeResize="0"/>
            <p:nvPr/>
          </p:nvPicPr>
          <p:blipFill>
            <a:blip r:embed="rId3">
              <a:alphaModFix/>
            </a:blip>
            <a:srcRect l="45144" t="7144" r="46324" b="60199"/>
            <a:stretch>
              <a:fillRect/>
            </a:stretch>
          </p:blipFill>
          <p:spPr>
            <a:xfrm flipH="1">
              <a:off x="5018272" y="1447627"/>
              <a:ext cx="217992" cy="653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5" name="Google Shape;1365;p90"/>
          <p:cNvSpPr/>
          <p:nvPr/>
        </p:nvSpPr>
        <p:spPr>
          <a:xfrm>
            <a:off x="3287650" y="474561"/>
            <a:ext cx="4188600" cy="4188600"/>
          </a:xfrm>
          <a:prstGeom prst="arc">
            <a:avLst>
              <a:gd name="adj1" fmla="val 21575178"/>
              <a:gd name="adj2" fmla="val 10818054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90"/>
          <p:cNvSpPr/>
          <p:nvPr/>
        </p:nvSpPr>
        <p:spPr>
          <a:xfrm>
            <a:off x="4986971" y="1317625"/>
            <a:ext cx="2489100" cy="2489100"/>
          </a:xfrm>
          <a:prstGeom prst="arc">
            <a:avLst>
              <a:gd name="adj1" fmla="val 21575178"/>
              <a:gd name="adj2" fmla="val 1081805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90"/>
          <p:cNvSpPr/>
          <p:nvPr/>
        </p:nvSpPr>
        <p:spPr>
          <a:xfrm>
            <a:off x="5914001" y="1793328"/>
            <a:ext cx="1562100" cy="1562100"/>
          </a:xfrm>
          <a:prstGeom prst="arc">
            <a:avLst>
              <a:gd name="adj1" fmla="val 21575178"/>
              <a:gd name="adj2" fmla="val 10818054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90"/>
          <p:cNvSpPr/>
          <p:nvPr/>
        </p:nvSpPr>
        <p:spPr>
          <a:xfrm>
            <a:off x="6233361" y="1945318"/>
            <a:ext cx="1245600" cy="1245600"/>
          </a:xfrm>
          <a:prstGeom prst="arc">
            <a:avLst>
              <a:gd name="adj1" fmla="val 21575178"/>
              <a:gd name="adj2" fmla="val 10818054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90"/>
          <p:cNvSpPr txBox="1"/>
          <p:nvPr>
            <p:ph type="body" idx="4294967295"/>
          </p:nvPr>
        </p:nvSpPr>
        <p:spPr>
          <a:xfrm>
            <a:off x="4889833" y="2238070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370" name="Google Shape;1370;p90"/>
          <p:cNvSpPr txBox="1"/>
          <p:nvPr>
            <p:ph type="body" idx="4294967295"/>
          </p:nvPr>
        </p:nvSpPr>
        <p:spPr>
          <a:xfrm>
            <a:off x="5810988" y="2238070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371" name="Google Shape;1371;p90"/>
          <p:cNvSpPr txBox="1"/>
          <p:nvPr>
            <p:ph type="body" idx="4294967295"/>
          </p:nvPr>
        </p:nvSpPr>
        <p:spPr>
          <a:xfrm>
            <a:off x="6136054" y="2224559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372" name="Google Shape;1372;p90"/>
          <p:cNvSpPr txBox="1"/>
          <p:nvPr>
            <p:ph type="body" idx="1"/>
          </p:nvPr>
        </p:nvSpPr>
        <p:spPr>
          <a:xfrm>
            <a:off x="324000" y="75930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arc will the pair of compasses draw?</a:t>
            </a:r>
            <a:endParaRPr/>
          </a:p>
        </p:txBody>
      </p:sp>
      <p:pic>
        <p:nvPicPr>
          <p:cNvPr id="1373" name="Google Shape;1373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8" y="183371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7" name="Shape 1377"/>
        <p:cNvGrpSpPr/>
        <p:nvPr/>
      </p:nvGrpSpPr>
      <p:grpSpPr>
        <a:xfrm>
          <a:off x="0" y="0"/>
          <a:ext cx="0" cy="0"/>
        </a:xfrm>
      </p:grpSpPr>
      <p:sp>
        <p:nvSpPr>
          <p:cNvPr id="1378" name="Google Shape;1378;p91"/>
          <p:cNvSpPr/>
          <p:nvPr/>
        </p:nvSpPr>
        <p:spPr>
          <a:xfrm>
            <a:off x="3139250" y="2371301"/>
            <a:ext cx="1796400" cy="1796400"/>
          </a:xfrm>
          <a:prstGeom prst="arc">
            <a:avLst>
              <a:gd name="adj1" fmla="val 10421236"/>
              <a:gd name="adj2" fmla="val 16173505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91"/>
          <p:cNvSpPr/>
          <p:nvPr/>
        </p:nvSpPr>
        <p:spPr>
          <a:xfrm>
            <a:off x="2895550" y="1517804"/>
            <a:ext cx="3045600" cy="3046200"/>
          </a:xfrm>
          <a:prstGeom prst="arc">
            <a:avLst>
              <a:gd name="adj1" fmla="val 3018613"/>
              <a:gd name="adj2" fmla="val 7585666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91"/>
          <p:cNvSpPr/>
          <p:nvPr/>
        </p:nvSpPr>
        <p:spPr>
          <a:xfrm>
            <a:off x="2306325" y="2032950"/>
            <a:ext cx="3614700" cy="3614700"/>
          </a:xfrm>
          <a:prstGeom prst="arc">
            <a:avLst>
              <a:gd name="adj1" fmla="val 16684535"/>
              <a:gd name="adj2" fmla="val 1012089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91"/>
          <p:cNvSpPr/>
          <p:nvPr/>
        </p:nvSpPr>
        <p:spPr>
          <a:xfrm>
            <a:off x="2519600" y="1532150"/>
            <a:ext cx="4201500" cy="4201500"/>
          </a:xfrm>
          <a:prstGeom prst="arc">
            <a:avLst>
              <a:gd name="adj1" fmla="val 19375849"/>
              <a:gd name="adj2" fmla="val 1311329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9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W, X, Y and Z are arcs from four circles. </a:t>
            </a:r>
            <a:br>
              <a:rPr lang="en-GB" sz="1600"/>
            </a:br>
            <a:r>
              <a:rPr lang="en-GB" sz="1600"/>
              <a:t>    A, B, C and D are four possible centres for these circles.</a:t>
            </a:r>
            <a:br>
              <a:rPr lang="en-GB" sz="1600"/>
            </a:br>
            <a:r>
              <a:rPr lang="en-GB" sz="1600"/>
              <a:t>    Match the arcs to their centres. </a:t>
            </a:r>
            <a:endParaRPr sz="1600"/>
          </a:p>
        </p:txBody>
      </p:sp>
      <p:sp>
        <p:nvSpPr>
          <p:cNvPr id="1383" name="Google Shape;1383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an arc of a circle</a:t>
            </a:r>
            <a:endParaRPr/>
          </a:p>
        </p:txBody>
      </p:sp>
      <p:grpSp>
        <p:nvGrpSpPr>
          <p:cNvPr id="1384" name="Google Shape;1384;p91"/>
          <p:cNvGrpSpPr/>
          <p:nvPr/>
        </p:nvGrpSpPr>
        <p:grpSpPr>
          <a:xfrm>
            <a:off x="3991863" y="3233626"/>
            <a:ext cx="78305" cy="92079"/>
            <a:chOff x="1514525" y="2733525"/>
            <a:chExt cx="76800" cy="90300"/>
          </a:xfrm>
        </p:grpSpPr>
        <p:cxnSp>
          <p:nvCxnSpPr>
            <p:cNvPr id="1385" name="Google Shape;1385;p9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6" name="Google Shape;1386;p9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87" name="Google Shape;1387;p91"/>
          <p:cNvGrpSpPr/>
          <p:nvPr/>
        </p:nvGrpSpPr>
        <p:grpSpPr>
          <a:xfrm>
            <a:off x="4379713" y="2995526"/>
            <a:ext cx="78305" cy="92079"/>
            <a:chOff x="1514525" y="2733525"/>
            <a:chExt cx="76800" cy="90300"/>
          </a:xfrm>
        </p:grpSpPr>
        <p:cxnSp>
          <p:nvCxnSpPr>
            <p:cNvPr id="1388" name="Google Shape;1388;p9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9" name="Google Shape;1389;p9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0" name="Google Shape;1390;p91"/>
          <p:cNvGrpSpPr/>
          <p:nvPr/>
        </p:nvGrpSpPr>
        <p:grpSpPr>
          <a:xfrm>
            <a:off x="4585638" y="3581563"/>
            <a:ext cx="78305" cy="92079"/>
            <a:chOff x="1514525" y="2733525"/>
            <a:chExt cx="76800" cy="90300"/>
          </a:xfrm>
        </p:grpSpPr>
        <p:cxnSp>
          <p:nvCxnSpPr>
            <p:cNvPr id="1391" name="Google Shape;1391;p9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2" name="Google Shape;1392;p9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3" name="Google Shape;1393;p91"/>
          <p:cNvGrpSpPr/>
          <p:nvPr/>
        </p:nvGrpSpPr>
        <p:grpSpPr>
          <a:xfrm>
            <a:off x="4070163" y="3792813"/>
            <a:ext cx="78305" cy="92079"/>
            <a:chOff x="1514525" y="2733525"/>
            <a:chExt cx="76800" cy="90300"/>
          </a:xfrm>
        </p:grpSpPr>
        <p:cxnSp>
          <p:nvCxnSpPr>
            <p:cNvPr id="1394" name="Google Shape;1394;p9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5" name="Google Shape;1395;p9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96" name="Google Shape;1396;p91"/>
          <p:cNvSpPr txBox="1"/>
          <p:nvPr>
            <p:ph type="body" idx="1"/>
          </p:nvPr>
        </p:nvSpPr>
        <p:spPr>
          <a:xfrm>
            <a:off x="4347618" y="2764079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397" name="Google Shape;1397;p91"/>
          <p:cNvSpPr txBox="1"/>
          <p:nvPr>
            <p:ph type="body" idx="1"/>
          </p:nvPr>
        </p:nvSpPr>
        <p:spPr>
          <a:xfrm>
            <a:off x="5192494" y="4348804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Y</a:t>
            </a:r>
            <a:endParaRPr sz="1600"/>
          </a:p>
        </p:txBody>
      </p:sp>
      <p:sp>
        <p:nvSpPr>
          <p:cNvPr id="1398" name="Google Shape;1398;p91"/>
          <p:cNvSpPr txBox="1"/>
          <p:nvPr>
            <p:ph type="body" idx="1"/>
          </p:nvPr>
        </p:nvSpPr>
        <p:spPr>
          <a:xfrm>
            <a:off x="4553529" y="3329586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399" name="Google Shape;1399;p91"/>
          <p:cNvSpPr txBox="1"/>
          <p:nvPr>
            <p:ph type="body" idx="1"/>
          </p:nvPr>
        </p:nvSpPr>
        <p:spPr>
          <a:xfrm>
            <a:off x="4041534" y="3558186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400" name="Google Shape;1400;p91"/>
          <p:cNvSpPr txBox="1"/>
          <p:nvPr>
            <p:ph type="body" idx="1"/>
          </p:nvPr>
        </p:nvSpPr>
        <p:spPr>
          <a:xfrm>
            <a:off x="3965334" y="2948586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401" name="Google Shape;1401;p91"/>
          <p:cNvSpPr txBox="1"/>
          <p:nvPr>
            <p:ph type="body" idx="1"/>
          </p:nvPr>
        </p:nvSpPr>
        <p:spPr>
          <a:xfrm>
            <a:off x="3564419" y="2212079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Z</a:t>
            </a:r>
            <a:endParaRPr sz="1600"/>
          </a:p>
        </p:txBody>
      </p:sp>
      <p:sp>
        <p:nvSpPr>
          <p:cNvPr id="1402" name="Google Shape;1402;p91"/>
          <p:cNvSpPr txBox="1"/>
          <p:nvPr>
            <p:ph type="body" idx="1"/>
          </p:nvPr>
        </p:nvSpPr>
        <p:spPr>
          <a:xfrm>
            <a:off x="4553519" y="1863004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</a:t>
            </a:r>
            <a:endParaRPr sz="1600"/>
          </a:p>
        </p:txBody>
      </p:sp>
      <p:sp>
        <p:nvSpPr>
          <p:cNvPr id="1403" name="Google Shape;1403;p91"/>
          <p:cNvSpPr txBox="1"/>
          <p:nvPr>
            <p:ph type="body" idx="1"/>
          </p:nvPr>
        </p:nvSpPr>
        <p:spPr>
          <a:xfrm>
            <a:off x="6395494" y="2265004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X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7" name="Shape 1407"/>
        <p:cNvGrpSpPr/>
        <p:nvPr/>
      </p:nvGrpSpPr>
      <p:grpSpPr>
        <a:xfrm>
          <a:off x="0" y="0"/>
          <a:ext cx="0" cy="0"/>
        </a:xfrm>
      </p:grpSpPr>
      <p:sp>
        <p:nvSpPr>
          <p:cNvPr id="1408" name="Google Shape;1408;p92"/>
          <p:cNvSpPr/>
          <p:nvPr/>
        </p:nvSpPr>
        <p:spPr>
          <a:xfrm>
            <a:off x="2519600" y="1532150"/>
            <a:ext cx="4201500" cy="4201500"/>
          </a:xfrm>
          <a:prstGeom prst="arc">
            <a:avLst>
              <a:gd name="adj1" fmla="val 19375849"/>
              <a:gd name="adj2" fmla="val 1311329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92"/>
          <p:cNvSpPr txBox="1"/>
          <p:nvPr>
            <p:ph type="body" idx="1"/>
          </p:nvPr>
        </p:nvSpPr>
        <p:spPr>
          <a:xfrm>
            <a:off x="324000" y="759300"/>
            <a:ext cx="8237700" cy="9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W, X, Y and Z are arcs from four circles. </a:t>
            </a:r>
            <a:br>
              <a:rPr lang="en-GB" sz="1600"/>
            </a:br>
            <a:r>
              <a:rPr lang="en-GB" sz="1600"/>
              <a:t>    A, B, C and D are four possible centres for these circles.</a:t>
            </a:r>
            <a:br>
              <a:rPr lang="en-GB" sz="1600"/>
            </a:br>
            <a:r>
              <a:rPr lang="en-GB" sz="1600"/>
              <a:t>    Match the arcs to their centres. </a:t>
            </a:r>
            <a:endParaRPr sz="1600"/>
          </a:p>
        </p:txBody>
      </p:sp>
      <p:sp>
        <p:nvSpPr>
          <p:cNvPr id="1410" name="Google Shape;1410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Properties of an arc of a circle</a:t>
            </a:r>
            <a:endParaRPr/>
          </a:p>
        </p:txBody>
      </p:sp>
      <p:grpSp>
        <p:nvGrpSpPr>
          <p:cNvPr id="1411" name="Google Shape;1411;p92"/>
          <p:cNvGrpSpPr/>
          <p:nvPr/>
        </p:nvGrpSpPr>
        <p:grpSpPr>
          <a:xfrm>
            <a:off x="3991863" y="3233626"/>
            <a:ext cx="78305" cy="92079"/>
            <a:chOff x="1514525" y="2733525"/>
            <a:chExt cx="76800" cy="90300"/>
          </a:xfrm>
        </p:grpSpPr>
        <p:cxnSp>
          <p:nvCxnSpPr>
            <p:cNvPr id="1412" name="Google Shape;1412;p92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3" name="Google Shape;1413;p92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14" name="Google Shape;1414;p92"/>
          <p:cNvGrpSpPr/>
          <p:nvPr/>
        </p:nvGrpSpPr>
        <p:grpSpPr>
          <a:xfrm>
            <a:off x="4379713" y="2995526"/>
            <a:ext cx="78305" cy="92079"/>
            <a:chOff x="1514525" y="2733525"/>
            <a:chExt cx="76800" cy="90300"/>
          </a:xfrm>
        </p:grpSpPr>
        <p:cxnSp>
          <p:nvCxnSpPr>
            <p:cNvPr id="1415" name="Google Shape;1415;p92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6" name="Google Shape;1416;p92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17" name="Google Shape;1417;p92"/>
          <p:cNvGrpSpPr/>
          <p:nvPr/>
        </p:nvGrpSpPr>
        <p:grpSpPr>
          <a:xfrm>
            <a:off x="4585638" y="3581563"/>
            <a:ext cx="78305" cy="92079"/>
            <a:chOff x="1514525" y="2733525"/>
            <a:chExt cx="76800" cy="90300"/>
          </a:xfrm>
        </p:grpSpPr>
        <p:cxnSp>
          <p:nvCxnSpPr>
            <p:cNvPr id="1418" name="Google Shape;1418;p92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9" name="Google Shape;1419;p92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20" name="Google Shape;1420;p92"/>
          <p:cNvGrpSpPr/>
          <p:nvPr/>
        </p:nvGrpSpPr>
        <p:grpSpPr>
          <a:xfrm>
            <a:off x="4070163" y="3792813"/>
            <a:ext cx="78305" cy="92079"/>
            <a:chOff x="1514525" y="2733525"/>
            <a:chExt cx="76800" cy="90300"/>
          </a:xfrm>
        </p:grpSpPr>
        <p:cxnSp>
          <p:nvCxnSpPr>
            <p:cNvPr id="1421" name="Google Shape;1421;p92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2" name="Google Shape;1422;p92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23" name="Google Shape;1423;p92"/>
          <p:cNvSpPr/>
          <p:nvPr/>
        </p:nvSpPr>
        <p:spPr>
          <a:xfrm>
            <a:off x="2895550" y="1517804"/>
            <a:ext cx="3045600" cy="3046200"/>
          </a:xfrm>
          <a:prstGeom prst="arc">
            <a:avLst>
              <a:gd name="adj1" fmla="val 3018613"/>
              <a:gd name="adj2" fmla="val 7585666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92"/>
          <p:cNvSpPr txBox="1"/>
          <p:nvPr>
            <p:ph type="body" idx="1"/>
          </p:nvPr>
        </p:nvSpPr>
        <p:spPr>
          <a:xfrm>
            <a:off x="4347618" y="2764079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425" name="Google Shape;1425;p92"/>
          <p:cNvSpPr txBox="1"/>
          <p:nvPr>
            <p:ph type="body" idx="1"/>
          </p:nvPr>
        </p:nvSpPr>
        <p:spPr>
          <a:xfrm>
            <a:off x="5192494" y="4348804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Y</a:t>
            </a:r>
            <a:endParaRPr sz="1600"/>
          </a:p>
        </p:txBody>
      </p:sp>
      <p:sp>
        <p:nvSpPr>
          <p:cNvPr id="1426" name="Google Shape;1426;p92"/>
          <p:cNvSpPr txBox="1"/>
          <p:nvPr>
            <p:ph type="body" idx="1"/>
          </p:nvPr>
        </p:nvSpPr>
        <p:spPr>
          <a:xfrm>
            <a:off x="4553529" y="3329586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427" name="Google Shape;1427;p92"/>
          <p:cNvSpPr txBox="1"/>
          <p:nvPr>
            <p:ph type="body" idx="1"/>
          </p:nvPr>
        </p:nvSpPr>
        <p:spPr>
          <a:xfrm>
            <a:off x="4041534" y="3558186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428" name="Google Shape;1428;p92"/>
          <p:cNvSpPr txBox="1"/>
          <p:nvPr>
            <p:ph type="body" idx="1"/>
          </p:nvPr>
        </p:nvSpPr>
        <p:spPr>
          <a:xfrm>
            <a:off x="3965334" y="2948586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429" name="Google Shape;1429;p92"/>
          <p:cNvSpPr/>
          <p:nvPr/>
        </p:nvSpPr>
        <p:spPr>
          <a:xfrm>
            <a:off x="3139250" y="2371301"/>
            <a:ext cx="1796400" cy="1796400"/>
          </a:xfrm>
          <a:prstGeom prst="arc">
            <a:avLst>
              <a:gd name="adj1" fmla="val 10421236"/>
              <a:gd name="adj2" fmla="val 16173505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92"/>
          <p:cNvSpPr txBox="1"/>
          <p:nvPr>
            <p:ph type="body" idx="1"/>
          </p:nvPr>
        </p:nvSpPr>
        <p:spPr>
          <a:xfrm>
            <a:off x="3564419" y="2212079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Z</a:t>
            </a:r>
            <a:endParaRPr sz="1600"/>
          </a:p>
        </p:txBody>
      </p:sp>
      <p:sp>
        <p:nvSpPr>
          <p:cNvPr id="1431" name="Google Shape;1431;p92"/>
          <p:cNvSpPr/>
          <p:nvPr/>
        </p:nvSpPr>
        <p:spPr>
          <a:xfrm>
            <a:off x="2306325" y="2032950"/>
            <a:ext cx="3614700" cy="3614700"/>
          </a:xfrm>
          <a:prstGeom prst="arc">
            <a:avLst>
              <a:gd name="adj1" fmla="val 16684535"/>
              <a:gd name="adj2" fmla="val 1012089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92"/>
          <p:cNvSpPr txBox="1"/>
          <p:nvPr>
            <p:ph type="body" idx="1"/>
          </p:nvPr>
        </p:nvSpPr>
        <p:spPr>
          <a:xfrm>
            <a:off x="4553519" y="1863004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</a:t>
            </a:r>
            <a:endParaRPr sz="1600"/>
          </a:p>
        </p:txBody>
      </p:sp>
      <p:sp>
        <p:nvSpPr>
          <p:cNvPr id="1433" name="Google Shape;1433;p92"/>
          <p:cNvSpPr txBox="1"/>
          <p:nvPr>
            <p:ph type="body" idx="1"/>
          </p:nvPr>
        </p:nvSpPr>
        <p:spPr>
          <a:xfrm>
            <a:off x="6395494" y="2265004"/>
            <a:ext cx="165600" cy="2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X</a:t>
            </a:r>
            <a:endParaRPr sz="1600"/>
          </a:p>
        </p:txBody>
      </p:sp>
      <p:sp>
        <p:nvSpPr>
          <p:cNvPr id="1434" name="Google Shape;1434;p92"/>
          <p:cNvSpPr txBox="1"/>
          <p:nvPr>
            <p:ph type="body" idx="1"/>
          </p:nvPr>
        </p:nvSpPr>
        <p:spPr>
          <a:xfrm>
            <a:off x="995450" y="2089800"/>
            <a:ext cx="915000" cy="16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 and Y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 and X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 and W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 and Z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8" name="Shape 1438"/>
        <p:cNvGrpSpPr/>
        <p:nvPr/>
      </p:nvGrpSpPr>
      <p:grpSpPr>
        <a:xfrm>
          <a:off x="0" y="0"/>
          <a:ext cx="0" cy="0"/>
        </a:xfrm>
      </p:grpSpPr>
      <p:sp>
        <p:nvSpPr>
          <p:cNvPr id="1439" name="Google Shape;1439;p93"/>
          <p:cNvSpPr txBox="1"/>
          <p:nvPr>
            <p:ph type="body" idx="1"/>
          </p:nvPr>
        </p:nvSpPr>
        <p:spPr>
          <a:xfrm>
            <a:off x="324000" y="1080000"/>
            <a:ext cx="8496000" cy="37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collection of points an equal distance from a given point form a circle.</a:t>
            </a:r>
            <a:br>
              <a:rPr lang="en-GB"/>
            </a:br>
            <a:endParaRPr sz="1000"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A pair of compasses can be used to draw a circle with a particular radius.</a:t>
            </a:r>
            <a:br>
              <a:rPr lang="en-GB"/>
            </a:br>
            <a:endParaRPr sz="1000"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The centre of a circle is the point that is the same distance from every point on the circle.</a:t>
            </a:r>
            <a:br>
              <a:rPr lang="en-GB"/>
            </a:br>
            <a:endParaRPr sz="1000"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Char char="●"/>
            </a:pPr>
            <a:r>
              <a:rPr lang="en-GB"/>
              <a:t>Drawing with a pair of compasses becomes easier over time with practice.</a:t>
            </a:r>
            <a:endParaRPr/>
          </a:p>
        </p:txBody>
      </p:sp>
      <p:sp>
        <p:nvSpPr>
          <p:cNvPr id="1440" name="Google Shape;1440;p9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construction of a circle</a:t>
            </a:r>
            <a:endParaRPr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4" name="Shape 1444"/>
        <p:cNvGrpSpPr/>
        <p:nvPr/>
      </p:nvGrpSpPr>
      <p:grpSpPr>
        <a:xfrm>
          <a:off x="0" y="0"/>
          <a:ext cx="0" cy="0"/>
        </a:xfrm>
      </p:grpSpPr>
      <p:sp>
        <p:nvSpPr>
          <p:cNvPr id="1445" name="Google Shape;1445;p94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46" name="Google Shape;1446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224</Paragraphs>
  <Slides>32</Slides>
  <Notes>32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baseType="lpstr" size="40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Understanding construction of a circle</vt:lpstr>
      <vt:lpstr>PowerPoint Presentation</vt:lpstr>
      <vt:lpstr>PowerPoint Presentation</vt:lpstr>
      <vt:lpstr>PowerPoint Presentation</vt:lpstr>
      <vt:lpstr>Properties of a circle</vt:lpstr>
      <vt:lpstr>Properties of a circle</vt:lpstr>
      <vt:lpstr>Properties of a circle</vt:lpstr>
      <vt:lpstr>Properties of a circle</vt:lpstr>
      <vt:lpstr>Properties of a circle</vt:lpstr>
      <vt:lpstr>Properties of a circle </vt:lpstr>
      <vt:lpstr>Properties of a circle </vt:lpstr>
      <vt:lpstr>Properties of a circle </vt:lpstr>
      <vt:lpstr>Properties of a circle</vt:lpstr>
      <vt:lpstr>Properties of a circle </vt:lpstr>
      <vt:lpstr>Properties of a circle </vt:lpstr>
      <vt:lpstr>Properties of a circle</vt:lpstr>
      <vt:lpstr>Properties of a circle</vt:lpstr>
      <vt:lpstr>Properties of a circle</vt:lpstr>
      <vt:lpstr>Properties of a circle</vt:lpstr>
      <vt:lpstr>Properties of a circle</vt:lpstr>
      <vt:lpstr>Properties of a circle</vt:lpstr>
      <vt:lpstr>Properties of a circle</vt:lpstr>
      <vt:lpstr>Properties of an arc of a circle</vt:lpstr>
      <vt:lpstr>Properties of an arc of a circle</vt:lpstr>
      <vt:lpstr>Properties of an arc of a circle</vt:lpstr>
      <vt:lpstr>Properties of an arc of a circle</vt:lpstr>
      <vt:lpstr>Properties of an arc of a circle</vt:lpstr>
      <vt:lpstr>Properties of an arc of a circle</vt:lpstr>
      <vt:lpstr>Properties of an arc of a circle</vt:lpstr>
      <vt:lpstr>Properties of an arc of a circle</vt:lpstr>
      <vt:lpstr>Understanding construction of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2024-02-06T10:12:38.434</cp:lastPrinted>
  <dcterms:created xsi:type="dcterms:W3CDTF">2024-02-06T10:12:38Z</dcterms:created>
  <dcterms:modified xsi:type="dcterms:W3CDTF">2024-02-06T10:16:05Z</dcterms:modified>
</cp:coreProperties>
</file>