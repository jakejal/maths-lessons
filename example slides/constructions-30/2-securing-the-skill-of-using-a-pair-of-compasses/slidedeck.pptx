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9144000" cy="5143500"/>
  <p:notesSz cx="6858000" cy="9144000"/>
  <p:embeddedFontLst>
    <p:embeddedFont>
      <p:font typeface="Lexend" panose="00000000000000000000"/>
      <p:regular r:id="rId42"/>
    </p:embeddedFont>
    <p:embeddedFont>
      <p:font typeface="Lexend Medium" panose="00000000000000000000"/>
      <p:regular r:id="rId43"/>
    </p:embeddedFont>
    <p:embeddedFont>
      <p:font typeface="Kalam" panose="02000000000000000000"/>
      <p:regular r:id="rId44"/>
    </p:embeddedFont>
    <p:embeddedFont>
      <p:font typeface="Lexend Light" panose="00000000000000000000"/>
      <p:regular r:id="rId45"/>
    </p:embeddedFont>
  </p:embeddedFontLst>
  <p:custDataLst>
    <p:tags r:id="rId41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tags" Target="tags/tag1.xml" /><Relationship Id="rId42" Type="http://schemas.openxmlformats.org/officeDocument/2006/relationships/font" Target="fonts/font1.fntdata" /><Relationship Id="rId43" Type="http://schemas.openxmlformats.org/officeDocument/2006/relationships/font" Target="fonts/font2.fntdata" /><Relationship Id="rId44" Type="http://schemas.openxmlformats.org/officeDocument/2006/relationships/font" Target="fonts/font3.fntdata" /><Relationship Id="rId45" Type="http://schemas.openxmlformats.org/officeDocument/2006/relationships/font" Target="fonts/font4.fntdata" /><Relationship Id="rId46" Type="http://schemas.openxmlformats.org/officeDocument/2006/relationships/presProps" Target="presProps.xml" /><Relationship Id="rId47" Type="http://schemas.openxmlformats.org/officeDocument/2006/relationships/viewProps" Target="viewProps.xml" /><Relationship Id="rId48" Type="http://schemas.openxmlformats.org/officeDocument/2006/relationships/theme" Target="theme/theme1.xml" /><Relationship Id="rId49" Type="http://schemas.openxmlformats.org/officeDocument/2006/relationships/tableStyles" Target="tableStyles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0" name="Shape 750"/>
        <p:cNvGrpSpPr/>
        <p:nvPr/>
      </p:nvGrpSpPr>
      <p:grpSpPr>
        <a:xfrm>
          <a:off x="0" y="0"/>
          <a:ext cx="0" cy="0"/>
        </a:xfrm>
      </p:grpSpPr>
      <p:sp>
        <p:nvSpPr>
          <p:cNvPr id="751" name="Google Shape;751;g1ec8e5d248c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1ec8e5d248c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6" name="Shape 756"/>
        <p:cNvGrpSpPr/>
        <p:nvPr/>
      </p:nvGrpSpPr>
      <p:grpSpPr>
        <a:xfrm>
          <a:off x="0" y="0"/>
          <a:ext cx="0" cy="0"/>
        </a:xfrm>
      </p:grpSpPr>
      <p:sp>
        <p:nvSpPr>
          <p:cNvPr id="757" name="Google Shape;757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1" name="Shape 761"/>
        <p:cNvGrpSpPr/>
        <p:nvPr/>
      </p:nvGrpSpPr>
      <p:grpSpPr>
        <a:xfrm>
          <a:off x="0" y="0"/>
          <a:ext cx="0" cy="0"/>
        </a:xfrm>
      </p:grpSpPr>
      <p:sp>
        <p:nvSpPr>
          <p:cNvPr id="762" name="Google Shape;762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6" name="Shape 766"/>
        <p:cNvGrpSpPr/>
        <p:nvPr/>
      </p:nvGrpSpPr>
      <p:grpSpPr>
        <a:xfrm>
          <a:off x="0" y="0"/>
          <a:ext cx="0" cy="0"/>
        </a:xfrm>
      </p:grpSpPr>
      <p:sp>
        <p:nvSpPr>
          <p:cNvPr id="767" name="Google Shape;767;g2a670f94f9e_0_25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a670f94f9e_0_25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g1ec8e5d248c_0_7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ec8e5d248c_0_7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0" name="Shape 780"/>
        <p:cNvGrpSpPr/>
        <p:nvPr/>
      </p:nvGrpSpPr>
      <p:grpSpPr>
        <a:xfrm>
          <a:off x="0" y="0"/>
          <a:ext cx="0" cy="0"/>
        </a:xfrm>
      </p:grpSpPr>
      <p:sp>
        <p:nvSpPr>
          <p:cNvPr id="781" name="Google Shape;781;g2a670f94f9e_0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a670f94f9e_0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7" name="Shape 797"/>
        <p:cNvGrpSpPr/>
        <p:nvPr/>
      </p:nvGrpSpPr>
      <p:grpSpPr>
        <a:xfrm>
          <a:off x="0" y="0"/>
          <a:ext cx="0" cy="0"/>
        </a:xfrm>
      </p:grpSpPr>
      <p:sp>
        <p:nvSpPr>
          <p:cNvPr id="798" name="Google Shape;798;g2a670f94f9e_0_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2a670f94f9e_0_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9" name="Shape 819"/>
        <p:cNvGrpSpPr/>
        <p:nvPr/>
      </p:nvGrpSpPr>
      <p:grpSpPr>
        <a:xfrm>
          <a:off x="0" y="0"/>
          <a:ext cx="0" cy="0"/>
        </a:xfrm>
      </p:grpSpPr>
      <p:sp>
        <p:nvSpPr>
          <p:cNvPr id="820" name="Google Shape;820;g2a670f94f9e_0_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2a670f94f9e_0_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5" name="Shape 835"/>
        <p:cNvGrpSpPr/>
        <p:nvPr/>
      </p:nvGrpSpPr>
      <p:grpSpPr>
        <a:xfrm>
          <a:off x="0" y="0"/>
          <a:ext cx="0" cy="0"/>
        </a:xfrm>
      </p:grpSpPr>
      <p:sp>
        <p:nvSpPr>
          <p:cNvPr id="836" name="Google Shape;836;g2a670f94f9e_0_5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2a670f94f9e_0_5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5" name="Shape 845"/>
        <p:cNvGrpSpPr/>
        <p:nvPr/>
      </p:nvGrpSpPr>
      <p:grpSpPr>
        <a:xfrm>
          <a:off x="0" y="0"/>
          <a:ext cx="0" cy="0"/>
        </a:xfrm>
      </p:grpSpPr>
      <p:sp>
        <p:nvSpPr>
          <p:cNvPr id="846" name="Google Shape;846;g2a670f94f9e_0_179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a670f94f9e_0_17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6" name="Shape 866"/>
        <p:cNvGrpSpPr/>
        <p:nvPr/>
      </p:nvGrpSpPr>
      <p:grpSpPr>
        <a:xfrm>
          <a:off x="0" y="0"/>
          <a:ext cx="0" cy="0"/>
        </a:xfrm>
      </p:grpSpPr>
      <p:sp>
        <p:nvSpPr>
          <p:cNvPr id="867" name="Google Shape;867;g2a6d9ef2014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a6d9ef2014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5" name="Shape 885"/>
        <p:cNvGrpSpPr/>
        <p:nvPr/>
      </p:nvGrpSpPr>
      <p:grpSpPr>
        <a:xfrm>
          <a:off x="0" y="0"/>
          <a:ext cx="0" cy="0"/>
        </a:xfrm>
      </p:grpSpPr>
      <p:sp>
        <p:nvSpPr>
          <p:cNvPr id="886" name="Google Shape;886;g2a670f94f9e_0_18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2a670f94f9e_0_18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6" name="Shape 906"/>
        <p:cNvGrpSpPr/>
        <p:nvPr/>
      </p:nvGrpSpPr>
      <p:grpSpPr>
        <a:xfrm>
          <a:off x="0" y="0"/>
          <a:ext cx="0" cy="0"/>
        </a:xfrm>
      </p:grpSpPr>
      <p:sp>
        <p:nvSpPr>
          <p:cNvPr id="907" name="Google Shape;907;g2a670f94f9e_0_18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2a670f94f9e_0_18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28" name="Shape 928"/>
        <p:cNvGrpSpPr/>
        <p:nvPr/>
      </p:nvGrpSpPr>
      <p:grpSpPr>
        <a:xfrm>
          <a:off x="0" y="0"/>
          <a:ext cx="0" cy="0"/>
        </a:xfrm>
      </p:grpSpPr>
      <p:sp>
        <p:nvSpPr>
          <p:cNvPr id="929" name="Google Shape;929;g2a670f94f9e_0_1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a670f94f9e_0_1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8" name="Shape 948"/>
        <p:cNvGrpSpPr/>
        <p:nvPr/>
      </p:nvGrpSpPr>
      <p:grpSpPr>
        <a:xfrm>
          <a:off x="0" y="0"/>
          <a:ext cx="0" cy="0"/>
        </a:xfrm>
      </p:grpSpPr>
      <p:sp>
        <p:nvSpPr>
          <p:cNvPr id="949" name="Google Shape;949;g2a670f94f9e_0_17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a670f94f9e_0_17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6" name="Shape 976"/>
        <p:cNvGrpSpPr/>
        <p:nvPr/>
      </p:nvGrpSpPr>
      <p:grpSpPr>
        <a:xfrm>
          <a:off x="0" y="0"/>
          <a:ext cx="0" cy="0"/>
        </a:xfrm>
      </p:grpSpPr>
      <p:sp>
        <p:nvSpPr>
          <p:cNvPr id="977" name="Google Shape;977;g2a670f94f9e_0_19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2a670f94f9e_0_19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01" name="Shape 1001"/>
        <p:cNvGrpSpPr/>
        <p:nvPr/>
      </p:nvGrpSpPr>
      <p:grpSpPr>
        <a:xfrm>
          <a:off x="0" y="0"/>
          <a:ext cx="0" cy="0"/>
        </a:xfrm>
      </p:grpSpPr>
      <p:sp>
        <p:nvSpPr>
          <p:cNvPr id="1002" name="Google Shape;1002;g2a670f94f9e_0_17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2a670f94f9e_0_17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3" name="Shape 1013"/>
        <p:cNvGrpSpPr/>
        <p:nvPr/>
      </p:nvGrpSpPr>
      <p:grpSpPr>
        <a:xfrm>
          <a:off x="0" y="0"/>
          <a:ext cx="0" cy="0"/>
        </a:xfrm>
      </p:grpSpPr>
      <p:sp>
        <p:nvSpPr>
          <p:cNvPr id="1014" name="Google Shape;1014;g2a670f94f9e_0_195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a670f94f9e_0_195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1" name="Shape 1031"/>
        <p:cNvGrpSpPr/>
        <p:nvPr/>
      </p:nvGrpSpPr>
      <p:grpSpPr>
        <a:xfrm>
          <a:off x="0" y="0"/>
          <a:ext cx="0" cy="0"/>
        </a:xfrm>
      </p:grpSpPr>
      <p:sp>
        <p:nvSpPr>
          <p:cNvPr id="1032" name="Google Shape;1032;g2a670f94f9e_0_167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2a670f94f9e_0_16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8" name="Shape 1038"/>
        <p:cNvGrpSpPr/>
        <p:nvPr/>
      </p:nvGrpSpPr>
      <p:grpSpPr>
        <a:xfrm>
          <a:off x="0" y="0"/>
          <a:ext cx="0" cy="0"/>
        </a:xfrm>
      </p:grpSpPr>
      <p:sp>
        <p:nvSpPr>
          <p:cNvPr id="1039" name="Google Shape;1039;g2a670f94f9e_0_168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2a670f94f9e_0_168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1" name="Shape 1071"/>
        <p:cNvGrpSpPr/>
        <p:nvPr/>
      </p:nvGrpSpPr>
      <p:grpSpPr>
        <a:xfrm>
          <a:off x="0" y="0"/>
          <a:ext cx="0" cy="0"/>
        </a:xfrm>
      </p:grpSpPr>
      <p:sp>
        <p:nvSpPr>
          <p:cNvPr id="1072" name="Google Shape;1072;g2a670f94f9e_0_16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2a670f94f9e_0_16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12" name="Shape 1112"/>
        <p:cNvGrpSpPr/>
        <p:nvPr/>
      </p:nvGrpSpPr>
      <p:grpSpPr>
        <a:xfrm>
          <a:off x="0" y="0"/>
          <a:ext cx="0" cy="0"/>
        </a:xfrm>
      </p:grpSpPr>
      <p:sp>
        <p:nvSpPr>
          <p:cNvPr id="1113" name="Google Shape;1113;g2a670f94f9e_0_19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2a670f94f9e_0_19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20" name="Shape 1120"/>
        <p:cNvGrpSpPr/>
        <p:nvPr/>
      </p:nvGrpSpPr>
      <p:grpSpPr>
        <a:xfrm>
          <a:off x="0" y="0"/>
          <a:ext cx="0" cy="0"/>
        </a:xfrm>
      </p:grpSpPr>
      <p:sp>
        <p:nvSpPr>
          <p:cNvPr id="1121" name="Google Shape;1121;g2a670f94f9e_0_19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2a670f94f9e_0_19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5" name="Shape 1145"/>
        <p:cNvGrpSpPr/>
        <p:nvPr/>
      </p:nvGrpSpPr>
      <p:grpSpPr>
        <a:xfrm>
          <a:off x="0" y="0"/>
          <a:ext cx="0" cy="0"/>
        </a:xfrm>
      </p:grpSpPr>
      <p:sp>
        <p:nvSpPr>
          <p:cNvPr id="1146" name="Google Shape;1146;g2a670f94f9e_0_20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2a670f94f9e_0_20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68" name="Shape 1168"/>
        <p:cNvGrpSpPr/>
        <p:nvPr/>
      </p:nvGrpSpPr>
      <p:grpSpPr>
        <a:xfrm>
          <a:off x="0" y="0"/>
          <a:ext cx="0" cy="0"/>
        </a:xfrm>
      </p:grpSpPr>
      <p:sp>
        <p:nvSpPr>
          <p:cNvPr id="1169" name="Google Shape;1169;g2a670f94f9e_0_20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2a670f94f9e_0_20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91" name="Shape 1191"/>
        <p:cNvGrpSpPr/>
        <p:nvPr/>
      </p:nvGrpSpPr>
      <p:grpSpPr>
        <a:xfrm>
          <a:off x="0" y="0"/>
          <a:ext cx="0" cy="0"/>
        </a:xfrm>
      </p:grpSpPr>
      <p:sp>
        <p:nvSpPr>
          <p:cNvPr id="1192" name="Google Shape;1192;g2a670f94f9e_0_22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2a670f94f9e_0_22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15" name="Shape 1215"/>
        <p:cNvGrpSpPr/>
        <p:nvPr/>
      </p:nvGrpSpPr>
      <p:grpSpPr>
        <a:xfrm>
          <a:off x="0" y="0"/>
          <a:ext cx="0" cy="0"/>
        </a:xfrm>
      </p:grpSpPr>
      <p:sp>
        <p:nvSpPr>
          <p:cNvPr id="1216" name="Google Shape;1216;g2a670f94f9e_0_22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2a670f94f9e_0_22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36" name="Shape 1236"/>
        <p:cNvGrpSpPr/>
        <p:nvPr/>
      </p:nvGrpSpPr>
      <p:grpSpPr>
        <a:xfrm>
          <a:off x="0" y="0"/>
          <a:ext cx="0" cy="0"/>
        </a:xfrm>
      </p:grpSpPr>
      <p:sp>
        <p:nvSpPr>
          <p:cNvPr id="1237" name="Google Shape;1237;g2a670f94f9e_0_21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2a670f94f9e_0_21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85" name="Shape 1285"/>
        <p:cNvGrpSpPr/>
        <p:nvPr/>
      </p:nvGrpSpPr>
      <p:grpSpPr>
        <a:xfrm>
          <a:off x="0" y="0"/>
          <a:ext cx="0" cy="0"/>
        </a:xfrm>
      </p:grpSpPr>
      <p:sp>
        <p:nvSpPr>
          <p:cNvPr id="1286" name="Google Shape;1286;g2a670f94f9e_0_23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2a670f94f9e_0_23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34" name="Shape 1334"/>
        <p:cNvGrpSpPr/>
        <p:nvPr/>
      </p:nvGrpSpPr>
      <p:grpSpPr>
        <a:xfrm>
          <a:off x="0" y="0"/>
          <a:ext cx="0" cy="0"/>
        </a:xfrm>
      </p:grpSpPr>
      <p:sp>
        <p:nvSpPr>
          <p:cNvPr id="1335" name="Google Shape;1335;g2a670f94f9e_0_21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2a670f94f9e_0_21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54" name="Shape 1354"/>
        <p:cNvGrpSpPr/>
        <p:nvPr/>
      </p:nvGrpSpPr>
      <p:grpSpPr>
        <a:xfrm>
          <a:off x="0" y="0"/>
          <a:ext cx="0" cy="0"/>
        </a:xfrm>
      </p:grpSpPr>
      <p:sp>
        <p:nvSpPr>
          <p:cNvPr id="1355" name="Google Shape;1355;g2a670f94f9e_0_229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2a670f94f9e_0_22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83" name="Shape 1383"/>
        <p:cNvGrpSpPr/>
        <p:nvPr/>
      </p:nvGrpSpPr>
      <p:grpSpPr>
        <a:xfrm>
          <a:off x="0" y="0"/>
          <a:ext cx="0" cy="0"/>
        </a:xfrm>
      </p:grpSpPr>
      <p:sp>
        <p:nvSpPr>
          <p:cNvPr id="1384" name="Google Shape;1384;g2a6d9ef2014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5" name="Google Shape;1385;g2a6d9ef2014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91" name="Shape 1391"/>
        <p:cNvGrpSpPr/>
        <p:nvPr/>
      </p:nvGrpSpPr>
      <p:grpSpPr>
        <a:xfrm>
          <a:off x="0" y="0"/>
          <a:ext cx="0" cy="0"/>
        </a:xfrm>
      </p:grpSpPr>
      <p:sp>
        <p:nvSpPr>
          <p:cNvPr id="1392" name="Google Shape;1392;g2a670f94f9e_0_24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2a670f94f9e_0_24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18" name="Shape 1418"/>
        <p:cNvGrpSpPr/>
        <p:nvPr/>
      </p:nvGrpSpPr>
      <p:grpSpPr>
        <a:xfrm>
          <a:off x="0" y="0"/>
          <a:ext cx="0" cy="0"/>
        </a:xfrm>
      </p:grpSpPr>
      <p:sp>
        <p:nvSpPr>
          <p:cNvPr id="1419" name="Google Shape;1419;g2a670f94f9e_0_24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2a670f94f9e_0_24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50" name="Shape 1450"/>
        <p:cNvGrpSpPr/>
        <p:nvPr/>
      </p:nvGrpSpPr>
      <p:grpSpPr>
        <a:xfrm>
          <a:off x="0" y="0"/>
          <a:ext cx="0" cy="0"/>
        </a:xfrm>
      </p:grpSpPr>
      <p:sp>
        <p:nvSpPr>
          <p:cNvPr id="1451" name="Google Shape;1451;g2a670f94f9e_0_245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2a670f94f9e_0_24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59" name="Shape 1459"/>
        <p:cNvGrpSpPr/>
        <p:nvPr/>
      </p:nvGrpSpPr>
      <p:grpSpPr>
        <a:xfrm>
          <a:off x="0" y="0"/>
          <a:ext cx="0" cy="0"/>
        </a:xfrm>
      </p:grpSpPr>
      <p:sp>
        <p:nvSpPr>
          <p:cNvPr id="1460" name="Google Shape;1460;g2a670f94f9e_0_24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1" name="Google Shape;1461;g2a670f94f9e_0_24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88" name="Shape 1488"/>
        <p:cNvGrpSpPr/>
        <p:nvPr/>
      </p:nvGrpSpPr>
      <p:grpSpPr>
        <a:xfrm>
          <a:off x="0" y="0"/>
          <a:ext cx="0" cy="0"/>
        </a:xfrm>
      </p:grpSpPr>
      <p:sp>
        <p:nvSpPr>
          <p:cNvPr id="1489" name="Google Shape;1489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94" name="Shape 1494"/>
        <p:cNvGrpSpPr/>
        <p:nvPr/>
      </p:nvGrpSpPr>
      <p:grpSpPr>
        <a:xfrm>
          <a:off x="0" y="0"/>
          <a:ext cx="0" cy="0"/>
        </a:xfrm>
      </p:grpSpPr>
      <p:sp>
        <p:nvSpPr>
          <p:cNvPr id="1495" name="Google Shape;1495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</a:xfrm>
      </p:grpSpPr>
      <p:pic>
        <p:nvPicPr>
          <p:cNvPr id="166" name="Google Shape;166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pic>
        <p:nvPicPr>
          <p:cNvPr id="184" name="Google Shape;184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8" name="Google Shape;208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pic>
        <p:nvPicPr>
          <p:cNvPr id="213" name="Google Shape;213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5" name="Google Shape;215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</a:xfrm>
      </p:grpSpPr>
      <p:pic>
        <p:nvPicPr>
          <p:cNvPr id="220" name="Google Shape;220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" name="Google Shape;222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</a:xfrm>
      </p:grpSpPr>
      <p:pic>
        <p:nvPicPr>
          <p:cNvPr id="227" name="Google Shape;227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9" name="Google Shape;229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7" name="Google Shape;237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0" name="Google Shape;250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3" name="Google Shape;263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6" name="Google Shape;276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</a:xfrm>
      </p:grpSpPr>
      <p:pic>
        <p:nvPicPr>
          <p:cNvPr id="309" name="Google Shape;309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</a:xfrm>
      </p:grpSpPr>
      <p:pic>
        <p:nvPicPr>
          <p:cNvPr id="332" name="Google Shape;332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</a:xfrm>
      </p:grpSpPr>
      <p:pic>
        <p:nvPicPr>
          <p:cNvPr id="355" name="Google Shape;355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</a:xfrm>
      </p:grpSpPr>
      <p:pic>
        <p:nvPicPr>
          <p:cNvPr id="397" name="Google Shape;397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</a:xfrm>
      </p:grpSpPr>
      <p:pic>
        <p:nvPicPr>
          <p:cNvPr id="416" name="Google Shape;416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</a:xfrm>
      </p:grpSpPr>
      <p:pic>
        <p:nvPicPr>
          <p:cNvPr id="435" name="Google Shape;435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</a:xfrm>
      </p:grpSpPr>
      <p:pic>
        <p:nvPicPr>
          <p:cNvPr id="477" name="Google Shape;477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</a:xfrm>
      </p:grpSpPr>
      <p:pic>
        <p:nvPicPr>
          <p:cNvPr id="500" name="Google Shape;500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</a:xfrm>
      </p:grpSpPr>
      <p:pic>
        <p:nvPicPr>
          <p:cNvPr id="523" name="Google Shape;523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4" name="Google Shape;554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</a:xfrm>
      </p:grpSpPr>
      <p:pic>
        <p:nvPicPr>
          <p:cNvPr id="565" name="Google Shape;565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3" name="Google Shape;573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</a:xfrm>
      </p:grpSpPr>
      <p:pic>
        <p:nvPicPr>
          <p:cNvPr id="584" name="Google Shape;584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2" name="Google Shape;592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</a:xfrm>
      </p:grpSpPr>
      <p:pic>
        <p:nvPicPr>
          <p:cNvPr id="603" name="Google Shape;603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1" name="Google Shape;611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4" name="Google Shape;624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</a:xfrm>
      </p:grpSpPr>
      <p:pic>
        <p:nvPicPr>
          <p:cNvPr id="629" name="Google Shape;629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1" name="Google Shape;631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</a:xfrm>
      </p:grpSpPr>
      <p:pic>
        <p:nvPicPr>
          <p:cNvPr id="636" name="Google Shape;636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8" name="Google Shape;638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</a:xfrm>
      </p:grpSpPr>
      <p:pic>
        <p:nvPicPr>
          <p:cNvPr id="643" name="Google Shape;643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5" name="Google Shape;645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2" name="Google Shape;652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</a:xfrm>
      </p:grpSpPr>
      <p:pic>
        <p:nvPicPr>
          <p:cNvPr id="658" name="Google Shape;658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0" name="Google Shape;660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</a:xfrm>
      </p:grpSpPr>
      <p:pic>
        <p:nvPicPr>
          <p:cNvPr id="666" name="Google Shape;666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8" name="Google Shape;668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</a:xfrm>
      </p:grpSpPr>
      <p:pic>
        <p:nvPicPr>
          <p:cNvPr id="674" name="Google Shape;674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6" name="Google Shape;676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4" name="Google Shape;684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</a:xfrm>
      </p:grpSpPr>
      <p:pic>
        <p:nvPicPr>
          <p:cNvPr id="690" name="Google Shape;690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2" name="Google Shape;692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</a:xfrm>
      </p:grpSpPr>
      <p:pic>
        <p:nvPicPr>
          <p:cNvPr id="698" name="Google Shape;698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0" name="Google Shape;700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</a:xfrm>
      </p:grpSpPr>
      <p:pic>
        <p:nvPicPr>
          <p:cNvPr id="706" name="Google Shape;706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8" name="Google Shape;708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_2">
    <p:spTree>
      <p:nvGrpSpPr>
        <p:cNvPr id="743" name="Shape 743"/>
        <p:cNvGrpSpPr/>
        <p:nvPr/>
      </p:nvGrpSpPr>
      <p:grpSpPr>
        <a:xfrm>
          <a:off x="0" y="0"/>
          <a: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image" Target="../media/image42.png" /><Relationship Id="rId63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4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4.png" /><Relationship Id="rId4" Type="http://schemas.openxmlformats.org/officeDocument/2006/relationships/image" Target="../media/image45.jpeg" /><Relationship Id="rId5" Type="http://schemas.openxmlformats.org/officeDocument/2006/relationships/image" Target="../media/image46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5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5.jpeg" /><Relationship Id="rId4" Type="http://schemas.openxmlformats.org/officeDocument/2006/relationships/image" Target="../media/image46.png" /><Relationship Id="rId5" Type="http://schemas.openxmlformats.org/officeDocument/2006/relationships/image" Target="../media/image47.png" /><Relationship Id="rId6" Type="http://schemas.openxmlformats.org/officeDocument/2006/relationships/image" Target="../media/image4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9.png" /><Relationship Id="rId4" Type="http://schemas.openxmlformats.org/officeDocument/2006/relationships/image" Target="../media/image50.png" /><Relationship Id="rId5" Type="http://schemas.openxmlformats.org/officeDocument/2006/relationships/image" Target="../media/image51.png" /><Relationship Id="rId6" Type="http://schemas.openxmlformats.org/officeDocument/2006/relationships/image" Target="../media/image52.png" /><Relationship Id="rId7" Type="http://schemas.openxmlformats.org/officeDocument/2006/relationships/image" Target="../media/image53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9.png" /><Relationship Id="rId4" Type="http://schemas.openxmlformats.org/officeDocument/2006/relationships/image" Target="../media/image50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51.png" /><Relationship Id="rId4" Type="http://schemas.openxmlformats.org/officeDocument/2006/relationships/image" Target="../media/image50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0.png" /><Relationship Id="rId4" Type="http://schemas.openxmlformats.org/officeDocument/2006/relationships/image" Target="../media/image52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53.png" /><Relationship Id="rId4" Type="http://schemas.openxmlformats.org/officeDocument/2006/relationships/image" Target="../media/image50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4.png" /><Relationship Id="rId4" Type="http://schemas.openxmlformats.org/officeDocument/2006/relationships/image" Target="../media/image55.png" /><Relationship Id="rId5" Type="http://schemas.openxmlformats.org/officeDocument/2006/relationships/image" Target="../media/image50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1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47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1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47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9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0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43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56.png" /><Relationship Id="rId4" Type="http://schemas.openxmlformats.org/officeDocument/2006/relationships/image" Target="../media/image50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57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57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57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58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0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47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0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47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0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1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2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3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4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37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38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5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3" name="Shape 753"/>
        <p:cNvGrpSpPr/>
        <p:nvPr/>
      </p:nvGrpSpPr>
      <p:grpSpPr>
        <a:xfrm>
          <a:off x="0" y="0"/>
          <a: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the skill of using a pair of compasses</a:t>
            </a:r>
            <a:endParaRPr/>
          </a:p>
        </p:txBody>
      </p:sp>
      <p:sp>
        <p:nvSpPr>
          <p:cNvPr id="755" name="Google Shape;755;p6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Constructions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9" name="Shape 759"/>
        <p:cNvGrpSpPr/>
        <p:nvPr/>
      </p:nvGrpSpPr>
      <p:grpSpPr>
        <a:xfrm>
          <a:off x="0" y="0"/>
          <a: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4" name="Shape 764"/>
        <p:cNvGrpSpPr/>
        <p:nvPr/>
      </p:nvGrpSpPr>
      <p:grpSpPr>
        <a:xfrm>
          <a:off x="0" y="0"/>
          <a:ext cx="0" cy="0"/>
        </a:xfrm>
      </p:grpSpPr>
      <p:sp>
        <p:nvSpPr>
          <p:cNvPr id="765" name="Google Shape;765;p6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 can use a pair of compasses to draw different circles.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9" name="Shape 769"/>
        <p:cNvGrpSpPr/>
        <p:nvPr/>
      </p:nvGrpSpPr>
      <p:grpSpPr>
        <a:xfrm>
          <a:off x="0" y="0"/>
          <a:ext cx="0" cy="0"/>
        </a:xfrm>
      </p:grpSpPr>
      <p:sp>
        <p:nvSpPr>
          <p:cNvPr id="770" name="Google Shape;770;p66"/>
          <p:cNvSpPr txBox="1"/>
          <p:nvPr/>
        </p:nvSpPr>
        <p:spPr>
          <a:xfrm>
            <a:off x="324000" y="993650"/>
            <a:ext cx="84960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 radius is any line segment that joins the centre of a circle to its edge.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6"/>
          <p:cNvSpPr txBox="1"/>
          <p:nvPr/>
        </p:nvSpPr>
        <p:spPr>
          <a:xfrm>
            <a:off x="324000" y="2171597"/>
            <a:ext cx="8496000" cy="11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pair of compasses is a tool which can be used to draw circles and arcs. A pair of compasses is sometimes referred to just as a compass.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Drawing diagrams containing multiple circles</a:t>
            </a:r>
            <a:endParaRPr/>
          </a:p>
        </p:txBody>
      </p:sp>
      <p:sp>
        <p:nvSpPr>
          <p:cNvPr id="777" name="Google Shape;777;p6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circles that intersect exactly once</a:t>
            </a:r>
            <a:endParaRPr/>
          </a:p>
        </p:txBody>
      </p:sp>
      <p:sp>
        <p:nvSpPr>
          <p:cNvPr id="778" name="Google Shape;778;p6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the skill of using a pair of compasses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000" y="206070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3" name="Shape 783"/>
        <p:cNvGrpSpPr/>
        <p:nvPr/>
      </p:nvGrpSpPr>
      <p:grpSpPr>
        <a:xfrm>
          <a:off x="0" y="0"/>
          <a:ext cx="0" cy="0"/>
        </a:xfrm>
      </p:grpSpPr>
      <p:pic>
        <p:nvPicPr>
          <p:cNvPr id="784" name="Google Shape;784;p68"/>
          <p:cNvPicPr preferRelativeResize="0"/>
          <p:nvPr/>
        </p:nvPicPr>
        <p:blipFill>
          <a:blip r:embed="rId3">
            <a:alphaModFix/>
          </a:blip>
          <a:srcRect l="21627" r="26294"/>
          <a:stretch>
            <a:fillRect/>
          </a:stretch>
        </p:blipFill>
        <p:spPr>
          <a:xfrm rot="328723">
            <a:off x="5729572" y="839845"/>
            <a:ext cx="1995044" cy="3006366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68"/>
          <p:cNvSpPr txBox="1"/>
          <p:nvPr>
            <p:ph type="body" idx="1"/>
          </p:nvPr>
        </p:nvSpPr>
        <p:spPr>
          <a:xfrm>
            <a:off x="324000" y="759300"/>
            <a:ext cx="8237700" cy="8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pair of compasses and a ruler can be used to draw a circle with a specific radius.</a:t>
            </a:r>
            <a:endParaRPr sz="2000"/>
          </a:p>
        </p:txBody>
      </p:sp>
      <p:sp>
        <p:nvSpPr>
          <p:cNvPr id="786" name="Google Shape;786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diagrams containing multiple circles</a:t>
            </a:r>
            <a:r>
              <a:rPr lang="en-GB" sz="2200"/>
              <a:t> </a:t>
            </a:r>
            <a:endParaRPr sz="2400"/>
          </a:p>
        </p:txBody>
      </p:sp>
      <p:grpSp>
        <p:nvGrpSpPr>
          <p:cNvPr id="787" name="Google Shape;787;p68"/>
          <p:cNvGrpSpPr/>
          <p:nvPr/>
        </p:nvGrpSpPr>
        <p:grpSpPr>
          <a:xfrm>
            <a:off x="7113798" y="3575856"/>
            <a:ext cx="132296" cy="155560"/>
            <a:chOff x="1514525" y="2733525"/>
            <a:chExt cx="76800" cy="90300"/>
          </a:xfrm>
        </p:grpSpPr>
        <p:cxnSp>
          <p:nvCxnSpPr>
            <p:cNvPr id="788" name="Google Shape;788;p68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9" name="Google Shape;789;p68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90" name="Google Shape;790;p68"/>
          <p:cNvSpPr txBox="1"/>
          <p:nvPr>
            <p:ph type="body" idx="1"/>
          </p:nvPr>
        </p:nvSpPr>
        <p:spPr>
          <a:xfrm>
            <a:off x="324000" y="1673700"/>
            <a:ext cx="4539000" cy="68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sz="2000">
                <a:solidFill>
                  <a:schemeClr val="accent4"/>
                </a:solidFill>
              </a:rPr>
              <a:t>needle</a:t>
            </a:r>
            <a:r>
              <a:rPr lang="en-GB" sz="2000"/>
              <a:t> of the compass goes in the </a:t>
            </a:r>
            <a:r>
              <a:rPr lang="en-GB" sz="2000">
                <a:solidFill>
                  <a:schemeClr val="accent4"/>
                </a:solidFill>
              </a:rPr>
              <a:t>centre</a:t>
            </a:r>
            <a:r>
              <a:rPr lang="en-GB" sz="2000"/>
              <a:t> of the circle.</a:t>
            </a:r>
            <a:endParaRPr sz="2000"/>
          </a:p>
        </p:txBody>
      </p:sp>
      <p:sp>
        <p:nvSpPr>
          <p:cNvPr id="791" name="Google Shape;791;p68"/>
          <p:cNvSpPr txBox="1"/>
          <p:nvPr>
            <p:ph type="body" idx="1"/>
          </p:nvPr>
        </p:nvSpPr>
        <p:spPr>
          <a:xfrm>
            <a:off x="5393400" y="4240900"/>
            <a:ext cx="810000" cy="33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radius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cxnSp>
        <p:nvCxnSpPr>
          <p:cNvPr id="792" name="Google Shape;792;p68"/>
          <p:cNvCxnSpPr>
            <a:endCxn id="793" idx="2"/>
          </p:cNvCxnSpPr>
          <p:nvPr/>
        </p:nvCxnSpPr>
        <p:spPr>
          <a:xfrm rot="10800000">
            <a:off x="6201975" y="3653743"/>
            <a:ext cx="969000" cy="174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94" name="Google Shape;794;p68"/>
          <p:cNvCxnSpPr/>
          <p:nvPr/>
        </p:nvCxnSpPr>
        <p:spPr>
          <a:xfrm rot="10800000" flipH="1">
            <a:off x="6138275" y="3742350"/>
            <a:ext cx="507900" cy="579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5" name="Google Shape;795;p68"/>
          <p:cNvSpPr txBox="1"/>
          <p:nvPr>
            <p:ph type="body" idx="1"/>
          </p:nvPr>
        </p:nvSpPr>
        <p:spPr>
          <a:xfrm>
            <a:off x="324000" y="2664300"/>
            <a:ext cx="4539000" cy="128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distance between the </a:t>
            </a:r>
            <a:r>
              <a:rPr lang="en-GB" sz="2000">
                <a:solidFill>
                  <a:schemeClr val="accent4"/>
                </a:solidFill>
              </a:rPr>
              <a:t>needle </a:t>
            </a:r>
            <a:r>
              <a:rPr lang="en-GB" sz="2000"/>
              <a:t>and the </a:t>
            </a:r>
            <a:r>
              <a:rPr lang="en-GB" sz="2000">
                <a:solidFill>
                  <a:schemeClr val="accent4"/>
                </a:solidFill>
              </a:rPr>
              <a:t>pencil tip</a:t>
            </a:r>
            <a:r>
              <a:rPr lang="en-GB" sz="2000"/>
              <a:t> is equal to the </a:t>
            </a:r>
            <a:r>
              <a:rPr lang="en-GB" sz="2000">
                <a:solidFill>
                  <a:schemeClr val="accent4"/>
                </a:solidFill>
              </a:rPr>
              <a:t>radius</a:t>
            </a:r>
            <a:r>
              <a:rPr lang="en-GB" sz="2000"/>
              <a:t> of the circle. </a:t>
            </a:r>
            <a:endParaRPr sz="2000"/>
          </a:p>
        </p:txBody>
      </p:sp>
      <p:sp>
        <p:nvSpPr>
          <p:cNvPr id="796" name="Google Shape;796;p68"/>
          <p:cNvSpPr txBox="1"/>
          <p:nvPr>
            <p:ph type="body" idx="1"/>
          </p:nvPr>
        </p:nvSpPr>
        <p:spPr>
          <a:xfrm>
            <a:off x="324000" y="3959700"/>
            <a:ext cx="4539000" cy="68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pencil is rotated around the needle to inscribe the circle.</a:t>
            </a:r>
            <a:endParaRPr sz="2000"/>
          </a:p>
        </p:txBody>
      </p:sp>
      <p:sp>
        <p:nvSpPr>
          <p:cNvPr id="793" name="Google Shape;793;p68"/>
          <p:cNvSpPr/>
          <p:nvPr/>
        </p:nvSpPr>
        <p:spPr>
          <a:xfrm>
            <a:off x="6201975" y="2675593"/>
            <a:ext cx="1956000" cy="19563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0" name="Shape 800"/>
        <p:cNvGrpSpPr/>
        <p:nvPr/>
      </p:nvGrpSpPr>
      <p:grpSpPr>
        <a:xfrm>
          <a:off x="0" y="0"/>
          <a:ext cx="0" cy="0"/>
        </a:xfrm>
      </p:grpSpPr>
      <p:pic>
        <p:nvPicPr>
          <p:cNvPr id="801" name="Google Shape;801;p69"/>
          <p:cNvPicPr preferRelativeResize="0"/>
          <p:nvPr/>
        </p:nvPicPr>
        <p:blipFill>
          <a:blip r:embed="rId3">
            <a:alphaModFix/>
          </a:blip>
          <a:srcRect l="21627" r="26294"/>
          <a:stretch>
            <a:fillRect/>
          </a:stretch>
        </p:blipFill>
        <p:spPr>
          <a:xfrm flipH="1">
            <a:off x="6848018" y="1203612"/>
            <a:ext cx="1158075" cy="1745100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69"/>
          <p:cNvSpPr/>
          <p:nvPr/>
        </p:nvSpPr>
        <p:spPr>
          <a:xfrm>
            <a:off x="6028200" y="1620000"/>
            <a:ext cx="2258400" cy="31332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3" name="Google Shape;803;p69"/>
          <p:cNvPicPr preferRelativeResize="0"/>
          <p:nvPr/>
        </p:nvPicPr>
        <p:blipFill>
          <a:blip r:embed="rId3">
            <a:alphaModFix/>
          </a:blip>
          <a:srcRect l="21627" r="26294"/>
          <a:stretch>
            <a:fillRect/>
          </a:stretch>
        </p:blipFill>
        <p:spPr>
          <a:xfrm rot="-189317" flipH="1">
            <a:off x="6112944" y="2894650"/>
            <a:ext cx="1158076" cy="174510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Take a plain piece of paper and draw a circle with a radius of 5 cm.</a:t>
            </a:r>
            <a:endParaRPr sz="2000"/>
          </a:p>
        </p:txBody>
      </p:sp>
      <p:sp>
        <p:nvSpPr>
          <p:cNvPr id="805" name="Google Shape;805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Drawing diagrams containing multiple circles</a:t>
            </a:r>
            <a:r>
              <a:rPr lang="en-GB" sz="2200"/>
              <a:t> </a:t>
            </a:r>
            <a:endParaRPr sz="2200"/>
          </a:p>
        </p:txBody>
      </p:sp>
      <p:pic>
        <p:nvPicPr>
          <p:cNvPr id="806" name="Google Shape;806;p69"/>
          <p:cNvPicPr preferRelativeResize="0"/>
          <p:nvPr/>
        </p:nvPicPr>
        <p:blipFill>
          <a:blip r:embed="rId4">
            <a:alphaModFix/>
          </a:blip>
          <a:srcRect l="3652" t="12995" r="63593" b="40325"/>
          <a:stretch>
            <a:fillRect/>
          </a:stretch>
        </p:blipFill>
        <p:spPr>
          <a:xfrm rot="-29">
            <a:off x="6357674" y="4517498"/>
            <a:ext cx="1226501" cy="223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7" name="Google Shape;807;p69"/>
          <p:cNvGrpSpPr/>
          <p:nvPr/>
        </p:nvGrpSpPr>
        <p:grpSpPr>
          <a:xfrm>
            <a:off x="7048575" y="2763975"/>
            <a:ext cx="76800" cy="90300"/>
            <a:chOff x="1514525" y="2733525"/>
            <a:chExt cx="76800" cy="90300"/>
          </a:xfrm>
        </p:grpSpPr>
        <p:cxnSp>
          <p:nvCxnSpPr>
            <p:cNvPr id="808" name="Google Shape;808;p69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9" name="Google Shape;809;p69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10" name="Google Shape;810;p69"/>
          <p:cNvSpPr/>
          <p:nvPr/>
        </p:nvSpPr>
        <p:spPr>
          <a:xfrm>
            <a:off x="6519175" y="2241325"/>
            <a:ext cx="1135500" cy="11355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69"/>
          <p:cNvSpPr txBox="1"/>
          <p:nvPr>
            <p:ph type="body" idx="1"/>
          </p:nvPr>
        </p:nvSpPr>
        <p:spPr>
          <a:xfrm>
            <a:off x="324000" y="1600575"/>
            <a:ext cx="5369700" cy="110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Open up the pair of compasses so that the distance between the </a:t>
            </a:r>
            <a:r>
              <a:rPr lang="en-GB" sz="2000">
                <a:solidFill>
                  <a:schemeClr val="accent4"/>
                </a:solidFill>
              </a:rPr>
              <a:t>needle</a:t>
            </a:r>
            <a:r>
              <a:rPr lang="en-GB" sz="2000"/>
              <a:t> and </a:t>
            </a:r>
            <a:r>
              <a:rPr lang="en-GB" sz="2000">
                <a:solidFill>
                  <a:schemeClr val="accent4"/>
                </a:solidFill>
              </a:rPr>
              <a:t>pencil tip</a:t>
            </a:r>
            <a:r>
              <a:rPr lang="en-GB" sz="2000"/>
              <a:t> is 5 cm.</a:t>
            </a:r>
            <a:endParaRPr sz="2000"/>
          </a:p>
        </p:txBody>
      </p:sp>
      <p:grpSp>
        <p:nvGrpSpPr>
          <p:cNvPr id="812" name="Google Shape;812;p69"/>
          <p:cNvGrpSpPr/>
          <p:nvPr/>
        </p:nvGrpSpPr>
        <p:grpSpPr>
          <a:xfrm flipH="1">
            <a:off x="6070396" y="2968405"/>
            <a:ext cx="858215" cy="1595785"/>
            <a:chOff x="6446878" y="1195600"/>
            <a:chExt cx="1878755" cy="3493400"/>
          </a:xfrm>
        </p:grpSpPr>
        <p:pic>
          <p:nvPicPr>
            <p:cNvPr id="813" name="Google Shape;813;p69"/>
            <p:cNvPicPr preferRelativeResize="0"/>
            <p:nvPr/>
          </p:nvPicPr>
          <p:blipFill>
            <a:blip r:embed="rId5">
              <a:alphaModFix/>
            </a:blip>
            <a:srcRect l="11816" t="29502" r="66857" b="8412"/>
            <a:stretch>
              <a:fillRect/>
            </a:stretch>
          </p:blipFill>
          <p:spPr>
            <a:xfrm rot="-899998">
              <a:off x="6742532" y="2168231"/>
              <a:ext cx="1062725" cy="2424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4" name="Google Shape;814;p69"/>
            <p:cNvPicPr preferRelativeResize="0"/>
            <p:nvPr/>
          </p:nvPicPr>
          <p:blipFill>
            <a:blip r:embed="rId5">
              <a:alphaModFix/>
            </a:blip>
            <a:srcRect l="63467" t="30883" r="20736" b="10458"/>
            <a:stretch>
              <a:fillRect/>
            </a:stretch>
          </p:blipFill>
          <p:spPr>
            <a:xfrm rot="959495">
              <a:off x="7238122" y="2262262"/>
              <a:ext cx="787200" cy="2290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5" name="Google Shape;815;p69"/>
            <p:cNvPicPr preferRelativeResize="0"/>
            <p:nvPr/>
          </p:nvPicPr>
          <p:blipFill>
            <a:blip r:embed="rId5">
              <a:alphaModFix/>
            </a:blip>
            <a:srcRect l="45144" t="7144" r="46324" b="60199"/>
            <a:stretch>
              <a:fillRect/>
            </a:stretch>
          </p:blipFill>
          <p:spPr>
            <a:xfrm>
              <a:off x="7347150" y="1195600"/>
              <a:ext cx="425099" cy="1275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6" name="Google Shape;816;p69"/>
          <p:cNvSpPr txBox="1"/>
          <p:nvPr>
            <p:ph type="body" idx="1"/>
          </p:nvPr>
        </p:nvSpPr>
        <p:spPr>
          <a:xfrm>
            <a:off x="324000" y="4038975"/>
            <a:ext cx="5478600" cy="7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Place the needle at the centre point and draw a circle.</a:t>
            </a:r>
            <a:endParaRPr sz="2000"/>
          </a:p>
        </p:txBody>
      </p:sp>
      <p:sp>
        <p:nvSpPr>
          <p:cNvPr id="817" name="Google Shape;817;p69"/>
          <p:cNvSpPr txBox="1"/>
          <p:nvPr>
            <p:ph type="body" idx="1"/>
          </p:nvPr>
        </p:nvSpPr>
        <p:spPr>
          <a:xfrm>
            <a:off x="324000" y="2760675"/>
            <a:ext cx="5478600" cy="10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You may find it easier to draw a 5 cm line segment first and use that to open your pair of compasses up to the correct distance.</a:t>
            </a:r>
            <a:endParaRPr sz="2000"/>
          </a:p>
        </p:txBody>
      </p:sp>
      <p:cxnSp>
        <p:nvCxnSpPr>
          <p:cNvPr id="818" name="Google Shape;818;p69"/>
          <p:cNvCxnSpPr/>
          <p:nvPr/>
        </p:nvCxnSpPr>
        <p:spPr>
          <a:xfrm>
            <a:off x="6396050" y="4496200"/>
            <a:ext cx="567300" cy="3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2" name="Shape 822"/>
        <p:cNvGrpSpPr/>
        <p:nvPr/>
      </p:nvGrpSpPr>
      <p:grpSpPr>
        <a:xfrm>
          <a:off x="0" y="0"/>
          <a:ext cx="0" cy="0"/>
        </a:xfrm>
      </p:grpSpPr>
      <p:sp>
        <p:nvSpPr>
          <p:cNvPr id="823" name="Google Shape;823;p7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Sofia has got her pair of compasses ready to draw a circle. </a:t>
            </a:r>
            <a:br>
              <a:rPr lang="en-GB"/>
            </a:br>
            <a:r>
              <a:rPr lang="en-GB"/>
              <a:t>Which statement will be true?</a:t>
            </a:r>
            <a:endParaRPr/>
          </a:p>
        </p:txBody>
      </p:sp>
      <p:sp>
        <p:nvSpPr>
          <p:cNvPr id="824" name="Google Shape;824;p7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Drawing diagrams containing multiple circles</a:t>
            </a:r>
            <a:r>
              <a:rPr lang="en-GB" sz="2200"/>
              <a:t> </a:t>
            </a:r>
            <a:endParaRPr/>
          </a:p>
        </p:txBody>
      </p:sp>
      <p:sp>
        <p:nvSpPr>
          <p:cNvPr id="825" name="Google Shape;825;p7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radius will be 9 cm.</a:t>
            </a:r>
            <a:endParaRPr/>
          </a:p>
        </p:txBody>
      </p:sp>
      <p:sp>
        <p:nvSpPr>
          <p:cNvPr id="826" name="Google Shape;826;p7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diameter will be 9 cm.</a:t>
            </a:r>
            <a:endParaRPr/>
          </a:p>
        </p:txBody>
      </p:sp>
      <p:sp>
        <p:nvSpPr>
          <p:cNvPr id="827" name="Google Shape;827;p7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radius will be 8 cm.</a:t>
            </a:r>
            <a:endParaRPr/>
          </a:p>
        </p:txBody>
      </p:sp>
      <p:pic>
        <p:nvPicPr>
          <p:cNvPr id="828" name="Google Shape;828;p70"/>
          <p:cNvPicPr preferRelativeResize="0"/>
          <p:nvPr/>
        </p:nvPicPr>
        <p:blipFill>
          <a:blip r:embed="rId3">
            <a:alphaModFix/>
          </a:blip>
          <a:srcRect l="3652" t="12995" r="66066" b="40325"/>
          <a:stretch>
            <a:fillRect/>
          </a:stretch>
        </p:blipFill>
        <p:spPr>
          <a:xfrm rot="-30">
            <a:off x="5787850" y="3898385"/>
            <a:ext cx="2353577" cy="451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0"/>
          <p:cNvPicPr preferRelativeResize="0"/>
          <p:nvPr/>
        </p:nvPicPr>
        <p:blipFill>
          <a:blip r:embed="rId4">
            <a:alphaModFix/>
          </a:blip>
          <a:srcRect l="11816" t="29502" r="66857" b="8412"/>
          <a:stretch>
            <a:fillRect/>
          </a:stretch>
        </p:blipFill>
        <p:spPr>
          <a:xfrm rot="-1144495" flipH="1">
            <a:off x="7269437" y="2197987"/>
            <a:ext cx="783442" cy="1787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70"/>
          <p:cNvPicPr preferRelativeResize="0"/>
          <p:nvPr/>
        </p:nvPicPr>
        <p:blipFill>
          <a:blip r:embed="rId4">
            <a:alphaModFix/>
          </a:blip>
          <a:srcRect l="63467" t="30883" r="20736" b="10458"/>
          <a:stretch>
            <a:fillRect/>
          </a:stretch>
        </p:blipFill>
        <p:spPr>
          <a:xfrm rot="924937" flipH="1">
            <a:off x="6257335" y="2320672"/>
            <a:ext cx="580324" cy="1688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70"/>
          <p:cNvPicPr preferRelativeResize="0"/>
          <p:nvPr/>
        </p:nvPicPr>
        <p:blipFill>
          <a:blip r:embed="rId4">
            <a:alphaModFix/>
          </a:blip>
          <a:srcRect l="45144" t="7144" r="46324" b="60199"/>
          <a:stretch>
            <a:fillRect/>
          </a:stretch>
        </p:blipFill>
        <p:spPr>
          <a:xfrm flipH="1">
            <a:off x="6863577" y="1624961"/>
            <a:ext cx="313384" cy="940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5608" y="32152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55590" y="1266288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7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diameter will be 8 cm.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8" name="Shape 838"/>
        <p:cNvGrpSpPr/>
        <p:nvPr/>
      </p:nvGrpSpPr>
      <p:grpSpPr>
        <a:xfrm>
          <a:off x="0" y="0"/>
          <a:ext cx="0" cy="0"/>
        </a:xfrm>
      </p:grpSpPr>
      <p:sp>
        <p:nvSpPr>
          <p:cNvPr id="839" name="Google Shape;83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Drawing diagrams containing multiple circles</a:t>
            </a:r>
            <a:r>
              <a:rPr lang="en-GB" sz="2200"/>
              <a:t> </a:t>
            </a:r>
            <a:endParaRPr/>
          </a:p>
        </p:txBody>
      </p:sp>
      <p:sp>
        <p:nvSpPr>
          <p:cNvPr id="840" name="Google Shape;840;p7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Take a plain piece of paper and </a:t>
            </a:r>
            <a:r>
              <a:rPr lang="en-GB" sz="2000">
                <a:solidFill>
                  <a:schemeClr val="accent4"/>
                </a:solidFill>
              </a:rPr>
              <a:t>mark a cross</a:t>
            </a:r>
            <a:r>
              <a:rPr lang="en-GB" sz="2000"/>
              <a:t> somewhere near the middle of the page.</a:t>
            </a:r>
            <a:endParaRPr sz="2000"/>
          </a:p>
        </p:txBody>
      </p:sp>
      <p:sp>
        <p:nvSpPr>
          <p:cNvPr id="841" name="Google Shape;841;p71"/>
          <p:cNvSpPr txBox="1"/>
          <p:nvPr>
            <p:ph type="body" idx="1"/>
          </p:nvPr>
        </p:nvSpPr>
        <p:spPr>
          <a:xfrm>
            <a:off x="324000" y="1633425"/>
            <a:ext cx="8496000" cy="38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Using a pair of compasses, </a:t>
            </a:r>
            <a:r>
              <a:rPr lang="en-GB" sz="2000">
                <a:solidFill>
                  <a:schemeClr val="accent4"/>
                </a:solidFill>
              </a:rPr>
              <a:t>draw a circle</a:t>
            </a:r>
            <a:r>
              <a:rPr lang="en-GB" sz="2000"/>
              <a:t> with radius of 8 cm and the cross at the centre.</a:t>
            </a:r>
            <a:endParaRPr sz="2000"/>
          </a:p>
        </p:txBody>
      </p:sp>
      <p:sp>
        <p:nvSpPr>
          <p:cNvPr id="842" name="Google Shape;842;p71"/>
          <p:cNvSpPr txBox="1"/>
          <p:nvPr>
            <p:ph type="body" idx="1"/>
          </p:nvPr>
        </p:nvSpPr>
        <p:spPr>
          <a:xfrm>
            <a:off x="324000" y="2541150"/>
            <a:ext cx="3623100" cy="38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Draw </a:t>
            </a:r>
            <a:r>
              <a:rPr lang="en-GB" sz="2000">
                <a:solidFill>
                  <a:schemeClr val="accent4"/>
                </a:solidFill>
              </a:rPr>
              <a:t>two radii</a:t>
            </a:r>
            <a:r>
              <a:rPr lang="en-GB" sz="2000"/>
              <a:t> in your circle.</a:t>
            </a:r>
            <a:endParaRPr sz="2000"/>
          </a:p>
        </p:txBody>
      </p:sp>
      <p:sp>
        <p:nvSpPr>
          <p:cNvPr id="843" name="Google Shape;843;p71"/>
          <p:cNvSpPr txBox="1"/>
          <p:nvPr>
            <p:ph type="body" idx="1"/>
          </p:nvPr>
        </p:nvSpPr>
        <p:spPr>
          <a:xfrm>
            <a:off x="324000" y="3144075"/>
            <a:ext cx="8496000" cy="67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Use a ruler to </a:t>
            </a:r>
            <a:r>
              <a:rPr lang="en-GB" sz="2000">
                <a:solidFill>
                  <a:schemeClr val="accent4"/>
                </a:solidFill>
              </a:rPr>
              <a:t>accurately measure</a:t>
            </a:r>
            <a:r>
              <a:rPr lang="en-GB" sz="2000"/>
              <a:t> the length of each radius.</a:t>
            </a:r>
            <a:endParaRPr sz="2000"/>
          </a:p>
        </p:txBody>
      </p:sp>
      <p:sp>
        <p:nvSpPr>
          <p:cNvPr id="844" name="Google Shape;844;p71"/>
          <p:cNvSpPr txBox="1"/>
          <p:nvPr>
            <p:ph type="body" idx="1"/>
          </p:nvPr>
        </p:nvSpPr>
        <p:spPr>
          <a:xfrm>
            <a:off x="324000" y="3807300"/>
            <a:ext cx="84960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Are both of the radii in your circle 8 cm?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8" name="Shape 848"/>
        <p:cNvGrpSpPr/>
        <p:nvPr/>
      </p:nvGrpSpPr>
      <p:grpSpPr>
        <a:xfrm>
          <a:off x="0" y="0"/>
          <a:ext cx="0" cy="0"/>
        </a:xfrm>
      </p:grpSpPr>
      <p:sp>
        <p:nvSpPr>
          <p:cNvPr id="849" name="Google Shape;849;p72"/>
          <p:cNvSpPr txBox="1"/>
          <p:nvPr>
            <p:ph type="body" idx="1"/>
          </p:nvPr>
        </p:nvSpPr>
        <p:spPr>
          <a:xfrm>
            <a:off x="324000" y="759300"/>
            <a:ext cx="8496000" cy="112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Andeep, Izzy, Jun and Sam each draw two circles. One circle has a radius of 5 cm and the other has a radius of 8 cm.</a:t>
            </a:r>
            <a:endParaRPr sz="2000"/>
          </a:p>
        </p:txBody>
      </p:sp>
      <p:sp>
        <p:nvSpPr>
          <p:cNvPr id="850" name="Google Shape;85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diagrams containing multiple circles</a:t>
            </a:r>
            <a:r>
              <a:rPr lang="en-GB" sz="2200"/>
              <a:t> </a:t>
            </a:r>
            <a:endParaRPr/>
          </a:p>
        </p:txBody>
      </p:sp>
      <p:pic>
        <p:nvPicPr>
          <p:cNvPr id="851" name="Google Shape;85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8488" y="3871308"/>
            <a:ext cx="388938" cy="50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72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259025" y="2001575"/>
            <a:ext cx="1611300" cy="1869726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72"/>
          <p:cNvSpPr txBox="1"/>
          <p:nvPr>
            <p:ph type="body" idx="1"/>
          </p:nvPr>
        </p:nvSpPr>
        <p:spPr>
          <a:xfrm>
            <a:off x="409975" y="2090850"/>
            <a:ext cx="1446900" cy="96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My circles do not touch anywhere on the page.</a:t>
            </a:r>
            <a:endParaRPr sz="1800"/>
          </a:p>
        </p:txBody>
      </p:sp>
      <p:pic>
        <p:nvPicPr>
          <p:cNvPr id="854" name="Google Shape;854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1811901" y="3737387"/>
            <a:ext cx="575749" cy="557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72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1943899" y="2001575"/>
            <a:ext cx="1324626" cy="17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72"/>
          <p:cNvSpPr txBox="1"/>
          <p:nvPr>
            <p:ph type="body" idx="1"/>
          </p:nvPr>
        </p:nvSpPr>
        <p:spPr>
          <a:xfrm>
            <a:off x="2102288" y="2027400"/>
            <a:ext cx="1226700" cy="7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My circles intersect at two points.</a:t>
            </a:r>
            <a:endParaRPr sz="1800"/>
          </a:p>
        </p:txBody>
      </p:sp>
      <p:pic>
        <p:nvPicPr>
          <p:cNvPr id="857" name="Google Shape;857;p72"/>
          <p:cNvPicPr preferRelativeResize="0"/>
          <p:nvPr/>
        </p:nvPicPr>
        <p:blipFill>
          <a:blip r:embed="rId4">
            <a:alphaModFix/>
          </a:blip>
          <a:srcRect l="40550" t="13015" b="4760"/>
          <a:stretch>
            <a:fillRect/>
          </a:stretch>
        </p:blipFill>
        <p:spPr>
          <a:xfrm>
            <a:off x="3308850" y="1881600"/>
            <a:ext cx="2488274" cy="279934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2"/>
          <p:cNvSpPr txBox="1"/>
          <p:nvPr>
            <p:ph type="body" idx="1"/>
          </p:nvPr>
        </p:nvSpPr>
        <p:spPr>
          <a:xfrm>
            <a:off x="3574425" y="2027400"/>
            <a:ext cx="2222700" cy="55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My circles intersect at two points.</a:t>
            </a:r>
            <a:endParaRPr sz="1800"/>
          </a:p>
        </p:txBody>
      </p:sp>
      <p:pic>
        <p:nvPicPr>
          <p:cNvPr id="859" name="Google Shape;859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9600" y="4297862"/>
            <a:ext cx="401050" cy="50152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72"/>
          <p:cNvSpPr txBox="1"/>
          <p:nvPr>
            <p:ph type="body" idx="1"/>
          </p:nvPr>
        </p:nvSpPr>
        <p:spPr>
          <a:xfrm>
            <a:off x="3560950" y="2654563"/>
            <a:ext cx="2061600" cy="87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centre of one circle can be found somewhere inside the other circle.</a:t>
            </a:r>
            <a:endParaRPr sz="1800"/>
          </a:p>
        </p:txBody>
      </p:sp>
      <p:pic>
        <p:nvPicPr>
          <p:cNvPr id="861" name="Google Shape;861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67873" y="4268594"/>
            <a:ext cx="388925" cy="56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72"/>
          <p:cNvPicPr preferRelativeResize="0"/>
          <p:nvPr/>
        </p:nvPicPr>
        <p:blipFill>
          <a:blip r:embed="rId4">
            <a:alphaModFix/>
          </a:blip>
          <a:srcRect l="40550" t="13015" b="4760"/>
          <a:stretch>
            <a:fillRect/>
          </a:stretch>
        </p:blipFill>
        <p:spPr>
          <a:xfrm>
            <a:off x="5797025" y="1876500"/>
            <a:ext cx="2926577" cy="2799349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72"/>
          <p:cNvSpPr txBox="1"/>
          <p:nvPr>
            <p:ph type="body" idx="1"/>
          </p:nvPr>
        </p:nvSpPr>
        <p:spPr>
          <a:xfrm>
            <a:off x="6103025" y="2027400"/>
            <a:ext cx="2488200" cy="7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My circles do not touch anywhere on the page.</a:t>
            </a:r>
            <a:endParaRPr sz="1800"/>
          </a:p>
        </p:txBody>
      </p:sp>
      <p:sp>
        <p:nvSpPr>
          <p:cNvPr id="864" name="Google Shape;864;p72"/>
          <p:cNvSpPr txBox="1"/>
          <p:nvPr>
            <p:ph type="body" idx="1"/>
          </p:nvPr>
        </p:nvSpPr>
        <p:spPr>
          <a:xfrm>
            <a:off x="6078425" y="2954725"/>
            <a:ext cx="2537400" cy="87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centre of each circle can be found somewhere inside the other circle.</a:t>
            </a:r>
            <a:endParaRPr sz="1800"/>
          </a:p>
        </p:txBody>
      </p:sp>
      <p:sp>
        <p:nvSpPr>
          <p:cNvPr id="865" name="Google Shape;865;p72"/>
          <p:cNvSpPr txBox="1"/>
          <p:nvPr>
            <p:ph type="body" idx="1"/>
          </p:nvPr>
        </p:nvSpPr>
        <p:spPr>
          <a:xfrm>
            <a:off x="324000" y="1564800"/>
            <a:ext cx="7028700" cy="31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Recreate the drawings for each pupil.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9" name="Shape 869"/>
        <p:cNvGrpSpPr/>
        <p:nvPr/>
      </p:nvGrpSpPr>
      <p:grpSpPr>
        <a:xfrm>
          <a:off x="0" y="0"/>
          <a:ext cx="0" cy="0"/>
        </a:xfrm>
      </p:grpSpPr>
      <p:sp>
        <p:nvSpPr>
          <p:cNvPr id="870" name="Google Shape;870;p73"/>
          <p:cNvSpPr txBox="1"/>
          <p:nvPr>
            <p:ph type="body" idx="1"/>
          </p:nvPr>
        </p:nvSpPr>
        <p:spPr>
          <a:xfrm>
            <a:off x="324000" y="759300"/>
            <a:ext cx="8496000" cy="112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Andeep, Izzy, Jun and Sam each draw two circles. One circle has a radius of 5 cm and the other has a radius of 8 cm.</a:t>
            </a:r>
            <a:endParaRPr sz="2000"/>
          </a:p>
        </p:txBody>
      </p:sp>
      <p:sp>
        <p:nvSpPr>
          <p:cNvPr id="871" name="Google Shape;871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diagrams containing multiple circles</a:t>
            </a:r>
            <a:r>
              <a:rPr lang="en-GB" sz="2200"/>
              <a:t> </a:t>
            </a:r>
            <a:endParaRPr/>
          </a:p>
        </p:txBody>
      </p:sp>
      <p:sp>
        <p:nvSpPr>
          <p:cNvPr id="872" name="Google Shape;872;p73"/>
          <p:cNvSpPr txBox="1"/>
          <p:nvPr>
            <p:ph type="body" idx="1"/>
          </p:nvPr>
        </p:nvSpPr>
        <p:spPr>
          <a:xfrm>
            <a:off x="324000" y="1673700"/>
            <a:ext cx="8237700" cy="4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Here are Andeep’s drawings:</a:t>
            </a:r>
            <a:endParaRPr sz="2000"/>
          </a:p>
        </p:txBody>
      </p:sp>
      <p:pic>
        <p:nvPicPr>
          <p:cNvPr id="873" name="Google Shape;87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11025" y="4054425"/>
            <a:ext cx="594025" cy="765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73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1230773" y="2673875"/>
            <a:ext cx="2662052" cy="1480438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73"/>
          <p:cNvSpPr txBox="1"/>
          <p:nvPr>
            <p:ph type="body" idx="1"/>
          </p:nvPr>
        </p:nvSpPr>
        <p:spPr>
          <a:xfrm>
            <a:off x="1503550" y="2797750"/>
            <a:ext cx="2303700" cy="96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My circles do not touch anywhere on the page.</a:t>
            </a:r>
            <a:endParaRPr sz="1800"/>
          </a:p>
        </p:txBody>
      </p:sp>
      <p:sp>
        <p:nvSpPr>
          <p:cNvPr id="876" name="Google Shape;876;p73"/>
          <p:cNvSpPr/>
          <p:nvPr/>
        </p:nvSpPr>
        <p:spPr>
          <a:xfrm>
            <a:off x="5235789" y="2193225"/>
            <a:ext cx="961800" cy="9618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7" name="Google Shape;877;p73"/>
          <p:cNvGrpSpPr/>
          <p:nvPr/>
        </p:nvGrpSpPr>
        <p:grpSpPr>
          <a:xfrm>
            <a:off x="5670989" y="2620367"/>
            <a:ext cx="91423" cy="107502"/>
            <a:chOff x="1514525" y="2733525"/>
            <a:chExt cx="76800" cy="90300"/>
          </a:xfrm>
        </p:grpSpPr>
        <p:cxnSp>
          <p:nvCxnSpPr>
            <p:cNvPr id="878" name="Google Shape;878;p73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9" name="Google Shape;879;p73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80" name="Google Shape;880;p73"/>
          <p:cNvGrpSpPr/>
          <p:nvPr/>
        </p:nvGrpSpPr>
        <p:grpSpPr>
          <a:xfrm>
            <a:off x="5997869" y="2771944"/>
            <a:ext cx="1946917" cy="1946917"/>
            <a:chOff x="5485801" y="3239992"/>
            <a:chExt cx="1350900" cy="1350900"/>
          </a:xfrm>
        </p:grpSpPr>
        <p:sp>
          <p:nvSpPr>
            <p:cNvPr id="881" name="Google Shape;881;p73"/>
            <p:cNvSpPr/>
            <p:nvPr/>
          </p:nvSpPr>
          <p:spPr>
            <a:xfrm>
              <a:off x="5485801" y="3239992"/>
              <a:ext cx="1350900" cy="13509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82" name="Google Shape;882;p73"/>
            <p:cNvGrpSpPr/>
            <p:nvPr/>
          </p:nvGrpSpPr>
          <p:grpSpPr>
            <a:xfrm>
              <a:off x="6115539" y="3861692"/>
              <a:ext cx="91423" cy="107502"/>
              <a:chOff x="1514525" y="2733525"/>
              <a:chExt cx="76800" cy="90300"/>
            </a:xfrm>
          </p:grpSpPr>
          <p:cxnSp>
            <p:nvCxnSpPr>
              <p:cNvPr id="883" name="Google Shape;883;p73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4" name="Google Shape;884;p73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8" name="Shape 888"/>
        <p:cNvGrpSpPr/>
        <p:nvPr/>
      </p:nvGrpSpPr>
      <p:grpSpPr>
        <a:xfrm>
          <a:off x="0" y="0"/>
          <a:ext cx="0" cy="0"/>
        </a:xfrm>
      </p:grpSpPr>
      <p:grpSp>
        <p:nvGrpSpPr>
          <p:cNvPr id="889" name="Google Shape;889;p74"/>
          <p:cNvGrpSpPr/>
          <p:nvPr/>
        </p:nvGrpSpPr>
        <p:grpSpPr>
          <a:xfrm>
            <a:off x="5693069" y="2771944"/>
            <a:ext cx="1946917" cy="1946917"/>
            <a:chOff x="5485801" y="3239992"/>
            <a:chExt cx="1350900" cy="1350900"/>
          </a:xfrm>
        </p:grpSpPr>
        <p:sp>
          <p:nvSpPr>
            <p:cNvPr id="890" name="Google Shape;890;p74"/>
            <p:cNvSpPr/>
            <p:nvPr/>
          </p:nvSpPr>
          <p:spPr>
            <a:xfrm>
              <a:off x="5485801" y="3239992"/>
              <a:ext cx="1350900" cy="13509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91" name="Google Shape;891;p74"/>
            <p:cNvGrpSpPr/>
            <p:nvPr/>
          </p:nvGrpSpPr>
          <p:grpSpPr>
            <a:xfrm>
              <a:off x="6115539" y="3861692"/>
              <a:ext cx="91423" cy="107502"/>
              <a:chOff x="1514525" y="2733525"/>
              <a:chExt cx="76800" cy="90300"/>
            </a:xfrm>
          </p:grpSpPr>
          <p:cxnSp>
            <p:nvCxnSpPr>
              <p:cNvPr id="892" name="Google Shape;892;p74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3" name="Google Shape;893;p74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pic>
        <p:nvPicPr>
          <p:cNvPr id="894" name="Google Shape;89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41201" y="3989025"/>
            <a:ext cx="862575" cy="834776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74"/>
          <p:cNvSpPr txBox="1"/>
          <p:nvPr>
            <p:ph type="body" idx="1"/>
          </p:nvPr>
        </p:nvSpPr>
        <p:spPr>
          <a:xfrm>
            <a:off x="324000" y="759300"/>
            <a:ext cx="8237700" cy="112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Andeep, Izzy, Jun and Sam each draw two circles. One circle has a radius of 5 cm and the other has a radius of 8 cm.</a:t>
            </a:r>
            <a:endParaRPr sz="2000"/>
          </a:p>
        </p:txBody>
      </p:sp>
      <p:sp>
        <p:nvSpPr>
          <p:cNvPr id="896" name="Google Shape;89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diagrams containing multiple circles</a:t>
            </a:r>
            <a:r>
              <a:rPr lang="en-GB" sz="2200"/>
              <a:t> </a:t>
            </a:r>
            <a:endParaRPr/>
          </a:p>
        </p:txBody>
      </p:sp>
      <p:sp>
        <p:nvSpPr>
          <p:cNvPr id="897" name="Google Shape;897;p74"/>
          <p:cNvSpPr txBox="1"/>
          <p:nvPr>
            <p:ph type="body" idx="1"/>
          </p:nvPr>
        </p:nvSpPr>
        <p:spPr>
          <a:xfrm>
            <a:off x="324000" y="1673700"/>
            <a:ext cx="8237700" cy="4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Here are Izzy’s drawings:</a:t>
            </a:r>
            <a:endParaRPr sz="2000"/>
          </a:p>
        </p:txBody>
      </p:sp>
      <p:sp>
        <p:nvSpPr>
          <p:cNvPr id="898" name="Google Shape;898;p74"/>
          <p:cNvSpPr/>
          <p:nvPr/>
        </p:nvSpPr>
        <p:spPr>
          <a:xfrm>
            <a:off x="5235789" y="2421825"/>
            <a:ext cx="961800" cy="9618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9" name="Google Shape;899;p74"/>
          <p:cNvGrpSpPr/>
          <p:nvPr/>
        </p:nvGrpSpPr>
        <p:grpSpPr>
          <a:xfrm>
            <a:off x="5670989" y="2848967"/>
            <a:ext cx="91423" cy="107502"/>
            <a:chOff x="1514525" y="2733525"/>
            <a:chExt cx="76800" cy="90300"/>
          </a:xfrm>
        </p:grpSpPr>
        <p:cxnSp>
          <p:nvCxnSpPr>
            <p:cNvPr id="900" name="Google Shape;900;p74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1" name="Google Shape;901;p74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902" name="Google Shape;902;p74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1230773" y="2978675"/>
            <a:ext cx="2662052" cy="1234825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74"/>
          <p:cNvSpPr txBox="1"/>
          <p:nvPr>
            <p:ph type="body" idx="1"/>
          </p:nvPr>
        </p:nvSpPr>
        <p:spPr>
          <a:xfrm>
            <a:off x="1503550" y="3157200"/>
            <a:ext cx="2303700" cy="7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My circles intersect at two points.</a:t>
            </a:r>
            <a:endParaRPr sz="1800"/>
          </a:p>
        </p:txBody>
      </p:sp>
      <p:sp>
        <p:nvSpPr>
          <p:cNvPr id="904" name="Google Shape;904;p74"/>
          <p:cNvSpPr/>
          <p:nvPr/>
        </p:nvSpPr>
        <p:spPr>
          <a:xfrm>
            <a:off x="5719625" y="3340176"/>
            <a:ext cx="81900" cy="819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4"/>
          <p:cNvSpPr/>
          <p:nvPr/>
        </p:nvSpPr>
        <p:spPr>
          <a:xfrm>
            <a:off x="6155025" y="2848979"/>
            <a:ext cx="81900" cy="819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9" name="Shape 909"/>
        <p:cNvGrpSpPr/>
        <p:nvPr/>
      </p:nvGrpSpPr>
      <p:grpSpPr>
        <a:xfrm>
          <a:off x="0" y="0"/>
          <a:ext cx="0" cy="0"/>
        </a:xfrm>
      </p:grpSpPr>
      <p:grpSp>
        <p:nvGrpSpPr>
          <p:cNvPr id="910" name="Google Shape;910;p75"/>
          <p:cNvGrpSpPr/>
          <p:nvPr/>
        </p:nvGrpSpPr>
        <p:grpSpPr>
          <a:xfrm>
            <a:off x="5540669" y="2771944"/>
            <a:ext cx="1946917" cy="1946917"/>
            <a:chOff x="5485801" y="3239992"/>
            <a:chExt cx="1350900" cy="1350900"/>
          </a:xfrm>
        </p:grpSpPr>
        <p:sp>
          <p:nvSpPr>
            <p:cNvPr id="911" name="Google Shape;911;p75"/>
            <p:cNvSpPr/>
            <p:nvPr/>
          </p:nvSpPr>
          <p:spPr>
            <a:xfrm>
              <a:off x="5485801" y="3239992"/>
              <a:ext cx="1350900" cy="13509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12" name="Google Shape;912;p75"/>
            <p:cNvGrpSpPr/>
            <p:nvPr/>
          </p:nvGrpSpPr>
          <p:grpSpPr>
            <a:xfrm>
              <a:off x="6115539" y="3861692"/>
              <a:ext cx="91423" cy="107502"/>
              <a:chOff x="1514525" y="2733525"/>
              <a:chExt cx="76800" cy="90300"/>
            </a:xfrm>
          </p:grpSpPr>
          <p:cxnSp>
            <p:nvCxnSpPr>
              <p:cNvPr id="913" name="Google Shape;913;p75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4" name="Google Shape;914;p75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pic>
        <p:nvPicPr>
          <p:cNvPr id="915" name="Google Shape;915;p75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>
            <a:off x="1125324" y="2356775"/>
            <a:ext cx="3371151" cy="2219651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5"/>
          <p:cNvSpPr txBox="1"/>
          <p:nvPr>
            <p:ph type="body" idx="1"/>
          </p:nvPr>
        </p:nvSpPr>
        <p:spPr>
          <a:xfrm>
            <a:off x="324000" y="759300"/>
            <a:ext cx="8237700" cy="112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Andeep, Izzy, Jun and Sam each draw two circles. One circle has a radius of 5 cm and the other has a radius of 8 cm.</a:t>
            </a:r>
            <a:endParaRPr sz="2000"/>
          </a:p>
        </p:txBody>
      </p:sp>
      <p:sp>
        <p:nvSpPr>
          <p:cNvPr id="917" name="Google Shape;917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diagrams containing multiple circles</a:t>
            </a:r>
            <a:r>
              <a:rPr lang="en-GB" sz="2200"/>
              <a:t> </a:t>
            </a:r>
            <a:endParaRPr/>
          </a:p>
        </p:txBody>
      </p:sp>
      <p:sp>
        <p:nvSpPr>
          <p:cNvPr id="918" name="Google Shape;918;p75"/>
          <p:cNvSpPr txBox="1"/>
          <p:nvPr>
            <p:ph type="body" idx="1"/>
          </p:nvPr>
        </p:nvSpPr>
        <p:spPr>
          <a:xfrm>
            <a:off x="324000" y="1673700"/>
            <a:ext cx="8237700" cy="4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Here are Jun’s drawings:</a:t>
            </a:r>
            <a:endParaRPr sz="2000"/>
          </a:p>
        </p:txBody>
      </p:sp>
      <p:sp>
        <p:nvSpPr>
          <p:cNvPr id="919" name="Google Shape;919;p75"/>
          <p:cNvSpPr/>
          <p:nvPr/>
        </p:nvSpPr>
        <p:spPr>
          <a:xfrm>
            <a:off x="5464389" y="2726625"/>
            <a:ext cx="961800" cy="9618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0" name="Google Shape;920;p75"/>
          <p:cNvGrpSpPr/>
          <p:nvPr/>
        </p:nvGrpSpPr>
        <p:grpSpPr>
          <a:xfrm>
            <a:off x="5899589" y="3153767"/>
            <a:ext cx="91423" cy="107502"/>
            <a:chOff x="1514525" y="2733525"/>
            <a:chExt cx="76800" cy="90300"/>
          </a:xfrm>
        </p:grpSpPr>
        <p:cxnSp>
          <p:nvCxnSpPr>
            <p:cNvPr id="921" name="Google Shape;921;p75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2" name="Google Shape;922;p75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23" name="Google Shape;923;p75"/>
          <p:cNvSpPr txBox="1"/>
          <p:nvPr>
            <p:ph type="body" idx="1"/>
          </p:nvPr>
        </p:nvSpPr>
        <p:spPr>
          <a:xfrm>
            <a:off x="1449375" y="2557200"/>
            <a:ext cx="2943000" cy="7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My circles intersect at two points.</a:t>
            </a:r>
            <a:endParaRPr sz="1800"/>
          </a:p>
        </p:txBody>
      </p:sp>
      <p:sp>
        <p:nvSpPr>
          <p:cNvPr id="924" name="Google Shape;924;p75"/>
          <p:cNvSpPr/>
          <p:nvPr/>
        </p:nvSpPr>
        <p:spPr>
          <a:xfrm>
            <a:off x="5536164" y="3473865"/>
            <a:ext cx="81900" cy="819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5"/>
          <p:cNvSpPr/>
          <p:nvPr/>
        </p:nvSpPr>
        <p:spPr>
          <a:xfrm>
            <a:off x="6171404" y="2781189"/>
            <a:ext cx="81900" cy="819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6" name="Google Shape;926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953" y="4103797"/>
            <a:ext cx="575758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75"/>
          <p:cNvSpPr txBox="1"/>
          <p:nvPr>
            <p:ph type="body" idx="1"/>
          </p:nvPr>
        </p:nvSpPr>
        <p:spPr>
          <a:xfrm>
            <a:off x="1427350" y="3201800"/>
            <a:ext cx="3001200" cy="87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centre of one circle can be found somewhere inside the other circle.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31" name="Shape 931"/>
        <p:cNvGrpSpPr/>
        <p:nvPr/>
      </p:nvGrpSpPr>
      <p:grpSpPr>
        <a:xfrm>
          <a:off x="0" y="0"/>
          <a:ext cx="0" cy="0"/>
        </a:xfrm>
      </p:grpSpPr>
      <p:grpSp>
        <p:nvGrpSpPr>
          <p:cNvPr id="932" name="Google Shape;932;p76"/>
          <p:cNvGrpSpPr/>
          <p:nvPr/>
        </p:nvGrpSpPr>
        <p:grpSpPr>
          <a:xfrm>
            <a:off x="5312069" y="2390944"/>
            <a:ext cx="1946917" cy="1946917"/>
            <a:chOff x="5485801" y="3239992"/>
            <a:chExt cx="1350900" cy="1350900"/>
          </a:xfrm>
        </p:grpSpPr>
        <p:sp>
          <p:nvSpPr>
            <p:cNvPr id="933" name="Google Shape;933;p76"/>
            <p:cNvSpPr/>
            <p:nvPr/>
          </p:nvSpPr>
          <p:spPr>
            <a:xfrm>
              <a:off x="5485801" y="3239992"/>
              <a:ext cx="1350900" cy="13509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34" name="Google Shape;934;p76"/>
            <p:cNvGrpSpPr/>
            <p:nvPr/>
          </p:nvGrpSpPr>
          <p:grpSpPr>
            <a:xfrm>
              <a:off x="6115539" y="3861692"/>
              <a:ext cx="91423" cy="107502"/>
              <a:chOff x="1514525" y="2733525"/>
              <a:chExt cx="76800" cy="90300"/>
            </a:xfrm>
          </p:grpSpPr>
          <p:cxnSp>
            <p:nvCxnSpPr>
              <p:cNvPr id="935" name="Google Shape;935;p76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6" name="Google Shape;936;p76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937" name="Google Shape;937;p76"/>
          <p:cNvSpPr/>
          <p:nvPr/>
        </p:nvSpPr>
        <p:spPr>
          <a:xfrm>
            <a:off x="5628846" y="2702511"/>
            <a:ext cx="961800" cy="9618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8" name="Google Shape;93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052" y="4099304"/>
            <a:ext cx="499997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76"/>
          <p:cNvPicPr preferRelativeResize="0"/>
          <p:nvPr/>
        </p:nvPicPr>
        <p:blipFill>
          <a:blip r:embed="rId4">
            <a:alphaModFix/>
          </a:blip>
          <a:srcRect l="40550" t="13015" b="4760"/>
          <a:stretch>
            <a:fillRect/>
          </a:stretch>
        </p:blipFill>
        <p:spPr>
          <a:xfrm>
            <a:off x="1125324" y="2051975"/>
            <a:ext cx="3371151" cy="2219651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76"/>
          <p:cNvSpPr txBox="1"/>
          <p:nvPr>
            <p:ph type="body" idx="1"/>
          </p:nvPr>
        </p:nvSpPr>
        <p:spPr>
          <a:xfrm>
            <a:off x="324000" y="759300"/>
            <a:ext cx="8237700" cy="112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Andeep, Izzy, Jun and Sam each draw two circles. One circle has a radius of 5 cm and the other has a radius of 8 cm.</a:t>
            </a:r>
            <a:endParaRPr sz="2000"/>
          </a:p>
        </p:txBody>
      </p:sp>
      <p:sp>
        <p:nvSpPr>
          <p:cNvPr id="941" name="Google Shape;941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diagrams containing multiple circles</a:t>
            </a:r>
            <a:r>
              <a:rPr lang="en-GB" sz="2200"/>
              <a:t> </a:t>
            </a:r>
            <a:endParaRPr/>
          </a:p>
        </p:txBody>
      </p:sp>
      <p:sp>
        <p:nvSpPr>
          <p:cNvPr id="942" name="Google Shape;942;p76"/>
          <p:cNvSpPr txBox="1"/>
          <p:nvPr>
            <p:ph type="body" idx="1"/>
          </p:nvPr>
        </p:nvSpPr>
        <p:spPr>
          <a:xfrm>
            <a:off x="324000" y="1673700"/>
            <a:ext cx="8237700" cy="4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Here are Sam’s drawings:</a:t>
            </a:r>
            <a:endParaRPr sz="2000"/>
          </a:p>
        </p:txBody>
      </p:sp>
      <p:grpSp>
        <p:nvGrpSpPr>
          <p:cNvPr id="943" name="Google Shape;943;p76"/>
          <p:cNvGrpSpPr/>
          <p:nvPr/>
        </p:nvGrpSpPr>
        <p:grpSpPr>
          <a:xfrm>
            <a:off x="6064046" y="3129653"/>
            <a:ext cx="91423" cy="107502"/>
            <a:chOff x="1514525" y="2733525"/>
            <a:chExt cx="76800" cy="90300"/>
          </a:xfrm>
        </p:grpSpPr>
        <p:cxnSp>
          <p:nvCxnSpPr>
            <p:cNvPr id="944" name="Google Shape;944;p76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5" name="Google Shape;945;p76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46" name="Google Shape;946;p76"/>
          <p:cNvSpPr txBox="1"/>
          <p:nvPr>
            <p:ph type="body" idx="1"/>
          </p:nvPr>
        </p:nvSpPr>
        <p:spPr>
          <a:xfrm>
            <a:off x="1449375" y="2252400"/>
            <a:ext cx="2943000" cy="7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My circles do not touch anywhere on the page.</a:t>
            </a:r>
            <a:endParaRPr sz="1800"/>
          </a:p>
        </p:txBody>
      </p:sp>
      <p:sp>
        <p:nvSpPr>
          <p:cNvPr id="947" name="Google Shape;947;p76"/>
          <p:cNvSpPr txBox="1"/>
          <p:nvPr>
            <p:ph type="body" idx="1"/>
          </p:nvPr>
        </p:nvSpPr>
        <p:spPr>
          <a:xfrm>
            <a:off x="1427350" y="2897000"/>
            <a:ext cx="3001200" cy="87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centre of each circle can be found somewhere inside the other circle.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1" name="Shape 951"/>
        <p:cNvGrpSpPr/>
        <p:nvPr/>
      </p:nvGrpSpPr>
      <p:grpSpPr>
        <a:xfrm>
          <a:off x="0" y="0"/>
          <a:ext cx="0" cy="0"/>
        </a:xfrm>
      </p:grpSpPr>
      <p:grpSp>
        <p:nvGrpSpPr>
          <p:cNvPr id="952" name="Google Shape;952;p77"/>
          <p:cNvGrpSpPr/>
          <p:nvPr/>
        </p:nvGrpSpPr>
        <p:grpSpPr>
          <a:xfrm>
            <a:off x="3635669" y="2314744"/>
            <a:ext cx="1946917" cy="1946917"/>
            <a:chOff x="5485801" y="3239992"/>
            <a:chExt cx="1350900" cy="1350900"/>
          </a:xfrm>
        </p:grpSpPr>
        <p:sp>
          <p:nvSpPr>
            <p:cNvPr id="953" name="Google Shape;953;p77"/>
            <p:cNvSpPr/>
            <p:nvPr/>
          </p:nvSpPr>
          <p:spPr>
            <a:xfrm>
              <a:off x="5485801" y="3239992"/>
              <a:ext cx="1350900" cy="13509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54" name="Google Shape;954;p77"/>
            <p:cNvGrpSpPr/>
            <p:nvPr/>
          </p:nvGrpSpPr>
          <p:grpSpPr>
            <a:xfrm>
              <a:off x="6115539" y="3861692"/>
              <a:ext cx="91423" cy="107502"/>
              <a:chOff x="1514525" y="2733525"/>
              <a:chExt cx="76800" cy="90300"/>
            </a:xfrm>
          </p:grpSpPr>
          <p:cxnSp>
            <p:nvCxnSpPr>
              <p:cNvPr id="955" name="Google Shape;955;p77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6" name="Google Shape;956;p77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957" name="Google Shape;957;p77"/>
          <p:cNvSpPr txBox="1"/>
          <p:nvPr>
            <p:ph type="body" idx="1"/>
          </p:nvPr>
        </p:nvSpPr>
        <p:spPr>
          <a:xfrm>
            <a:off x="324000" y="1064100"/>
            <a:ext cx="8496000" cy="7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He prepares to draw a circle with radius of 5 cm by marking a point for its centre.</a:t>
            </a:r>
            <a:endParaRPr sz="1900"/>
          </a:p>
        </p:txBody>
      </p:sp>
      <p:sp>
        <p:nvSpPr>
          <p:cNvPr id="958" name="Google Shape;958;p77"/>
          <p:cNvSpPr txBox="1"/>
          <p:nvPr>
            <p:ph type="body" idx="1"/>
          </p:nvPr>
        </p:nvSpPr>
        <p:spPr>
          <a:xfrm>
            <a:off x="324000" y="759300"/>
            <a:ext cx="8237700" cy="36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Alex has drawn a circle with radius 8 cm. </a:t>
            </a:r>
            <a:endParaRPr sz="1900"/>
          </a:p>
        </p:txBody>
      </p:sp>
      <p:sp>
        <p:nvSpPr>
          <p:cNvPr id="959" name="Google Shape;959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diagrams containing multiple circles</a:t>
            </a:r>
            <a:r>
              <a:rPr lang="en-GB" sz="2200"/>
              <a:t> </a:t>
            </a:r>
            <a:endParaRPr/>
          </a:p>
        </p:txBody>
      </p:sp>
      <p:sp>
        <p:nvSpPr>
          <p:cNvPr id="960" name="Google Shape;960;p77"/>
          <p:cNvSpPr txBox="1"/>
          <p:nvPr>
            <p:ph type="body" idx="1"/>
          </p:nvPr>
        </p:nvSpPr>
        <p:spPr>
          <a:xfrm>
            <a:off x="1597961" y="1401212"/>
            <a:ext cx="6451800" cy="4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The distance between the two centre points is 2 cm.</a:t>
            </a:r>
            <a:endParaRPr sz="1900"/>
          </a:p>
        </p:txBody>
      </p:sp>
      <p:grpSp>
        <p:nvGrpSpPr>
          <p:cNvPr id="961" name="Google Shape;961;p77"/>
          <p:cNvGrpSpPr/>
          <p:nvPr/>
        </p:nvGrpSpPr>
        <p:grpSpPr>
          <a:xfrm>
            <a:off x="4874939" y="3097021"/>
            <a:ext cx="148093" cy="174135"/>
            <a:chOff x="1514525" y="2733525"/>
            <a:chExt cx="76800" cy="90300"/>
          </a:xfrm>
        </p:grpSpPr>
        <p:cxnSp>
          <p:nvCxnSpPr>
            <p:cNvPr id="962" name="Google Shape;962;p77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3" name="Google Shape;963;p77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964" name="Google Shape;964;p77"/>
          <p:cNvCxnSpPr/>
          <p:nvPr/>
        </p:nvCxnSpPr>
        <p:spPr>
          <a:xfrm flipH="1">
            <a:off x="4601325" y="3184125"/>
            <a:ext cx="340800" cy="1101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65" name="Google Shape;965;p77"/>
          <p:cNvSpPr txBox="1"/>
          <p:nvPr>
            <p:ph type="body" idx="1"/>
          </p:nvPr>
        </p:nvSpPr>
        <p:spPr>
          <a:xfrm>
            <a:off x="324000" y="1749900"/>
            <a:ext cx="8237700" cy="4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Alex and Lucas are trying to decide whether the circles will touch.</a:t>
            </a:r>
            <a:endParaRPr sz="1900"/>
          </a:p>
        </p:txBody>
      </p:sp>
      <p:pic>
        <p:nvPicPr>
          <p:cNvPr id="966" name="Google Shape;96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00201" y="3987650"/>
            <a:ext cx="531986" cy="61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77"/>
          <p:cNvSpPr txBox="1"/>
          <p:nvPr/>
        </p:nvSpPr>
        <p:spPr>
          <a:xfrm>
            <a:off x="7521200" y="4419585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8" name="Google Shape;96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15160" y="4025900"/>
            <a:ext cx="546540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77"/>
          <p:cNvSpPr txBox="1"/>
          <p:nvPr/>
        </p:nvSpPr>
        <p:spPr>
          <a:xfrm>
            <a:off x="-22275" y="4431823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0" name="Google Shape;970;p77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flipH="1">
            <a:off x="400201" y="2282475"/>
            <a:ext cx="3060424" cy="194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77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>
            <a:off x="5757625" y="2177838"/>
            <a:ext cx="3060424" cy="1946899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77"/>
          <p:cNvSpPr txBox="1"/>
          <p:nvPr>
            <p:ph type="body" idx="1"/>
          </p:nvPr>
        </p:nvSpPr>
        <p:spPr>
          <a:xfrm>
            <a:off x="622075" y="2314750"/>
            <a:ext cx="2768400" cy="141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 think they will because the radius will be 5 cm, but the point is only 2 cm from the centre of the first circle. </a:t>
            </a:r>
            <a:endParaRPr sz="1800"/>
          </a:p>
        </p:txBody>
      </p:sp>
      <p:sp>
        <p:nvSpPr>
          <p:cNvPr id="973" name="Google Shape;973;p77"/>
          <p:cNvSpPr txBox="1"/>
          <p:nvPr>
            <p:ph type="body" idx="1"/>
          </p:nvPr>
        </p:nvSpPr>
        <p:spPr>
          <a:xfrm>
            <a:off x="5882549" y="2245550"/>
            <a:ext cx="2720700" cy="141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 think they won’t because the radius will be 5 cm, but the point is 6 cm from the nearest point on the first circle.</a:t>
            </a:r>
            <a:endParaRPr sz="1800"/>
          </a:p>
        </p:txBody>
      </p:sp>
      <p:sp>
        <p:nvSpPr>
          <p:cNvPr id="974" name="Google Shape;974;p77"/>
          <p:cNvSpPr txBox="1"/>
          <p:nvPr>
            <p:ph type="body" idx="1"/>
          </p:nvPr>
        </p:nvSpPr>
        <p:spPr>
          <a:xfrm>
            <a:off x="3143400" y="4497614"/>
            <a:ext cx="3004200" cy="29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Who do you agree with?</a:t>
            </a:r>
            <a:endParaRPr sz="1900"/>
          </a:p>
        </p:txBody>
      </p:sp>
      <p:sp>
        <p:nvSpPr>
          <p:cNvPr id="975" name="Google Shape;975;p77"/>
          <p:cNvSpPr txBox="1"/>
          <p:nvPr>
            <p:ph type="body" idx="1"/>
          </p:nvPr>
        </p:nvSpPr>
        <p:spPr>
          <a:xfrm>
            <a:off x="4692050" y="3271150"/>
            <a:ext cx="517200" cy="29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4"/>
                </a:solidFill>
              </a:rPr>
              <a:t>2 cm</a:t>
            </a:r>
            <a:endParaRPr sz="1600">
              <a:solidFill>
                <a:schemeClr val="accent4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9" name="Shape 979"/>
        <p:cNvGrpSpPr/>
        <p:nvPr/>
      </p:nvGrpSpPr>
      <p:grpSpPr>
        <a:xfrm>
          <a:off x="0" y="0"/>
          <a:ext cx="0" cy="0"/>
        </a:xfrm>
      </p:grpSpPr>
      <p:grpSp>
        <p:nvGrpSpPr>
          <p:cNvPr id="980" name="Google Shape;980;p78"/>
          <p:cNvGrpSpPr/>
          <p:nvPr/>
        </p:nvGrpSpPr>
        <p:grpSpPr>
          <a:xfrm>
            <a:off x="399643" y="941300"/>
            <a:ext cx="3694441" cy="3694441"/>
            <a:chOff x="5485801" y="3239992"/>
            <a:chExt cx="1350900" cy="1350900"/>
          </a:xfrm>
        </p:grpSpPr>
        <p:sp>
          <p:nvSpPr>
            <p:cNvPr id="981" name="Google Shape;981;p78"/>
            <p:cNvSpPr/>
            <p:nvPr/>
          </p:nvSpPr>
          <p:spPr>
            <a:xfrm>
              <a:off x="5485801" y="3239992"/>
              <a:ext cx="1350900" cy="13509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82" name="Google Shape;982;p78"/>
            <p:cNvGrpSpPr/>
            <p:nvPr/>
          </p:nvGrpSpPr>
          <p:grpSpPr>
            <a:xfrm>
              <a:off x="6135695" y="3885395"/>
              <a:ext cx="51110" cy="60001"/>
              <a:chOff x="1531457" y="2753435"/>
              <a:chExt cx="42935" cy="50400"/>
            </a:xfrm>
          </p:grpSpPr>
          <p:cxnSp>
            <p:nvCxnSpPr>
              <p:cNvPr id="983" name="Google Shape;983;p78"/>
              <p:cNvCxnSpPr/>
              <p:nvPr/>
            </p:nvCxnSpPr>
            <p:spPr>
              <a:xfrm>
                <a:off x="1531457" y="2753435"/>
                <a:ext cx="42900" cy="504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4" name="Google Shape;984;p78"/>
              <p:cNvCxnSpPr/>
              <p:nvPr/>
            </p:nvCxnSpPr>
            <p:spPr>
              <a:xfrm flipH="1">
                <a:off x="1531492" y="2753435"/>
                <a:ext cx="42900" cy="504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985" name="Google Shape;985;p78"/>
          <p:cNvSpPr/>
          <p:nvPr/>
        </p:nvSpPr>
        <p:spPr>
          <a:xfrm>
            <a:off x="1982490" y="1680066"/>
            <a:ext cx="1825500" cy="18255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diagrams containing multiple circles</a:t>
            </a:r>
            <a:r>
              <a:rPr lang="en-GB" sz="2200"/>
              <a:t> </a:t>
            </a:r>
            <a:endParaRPr/>
          </a:p>
        </p:txBody>
      </p:sp>
      <p:grpSp>
        <p:nvGrpSpPr>
          <p:cNvPr id="987" name="Google Shape;987;p78"/>
          <p:cNvGrpSpPr/>
          <p:nvPr/>
        </p:nvGrpSpPr>
        <p:grpSpPr>
          <a:xfrm>
            <a:off x="2826456" y="2514434"/>
            <a:ext cx="130621" cy="153600"/>
            <a:chOff x="1514525" y="2733525"/>
            <a:chExt cx="76800" cy="90300"/>
          </a:xfrm>
        </p:grpSpPr>
        <p:cxnSp>
          <p:nvCxnSpPr>
            <p:cNvPr id="988" name="Google Shape;988;p78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9" name="Google Shape;989;p78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90" name="Google Shape;990;p78"/>
          <p:cNvSpPr txBox="1"/>
          <p:nvPr>
            <p:ph type="body" idx="1"/>
          </p:nvPr>
        </p:nvSpPr>
        <p:spPr>
          <a:xfrm>
            <a:off x="4494275" y="930204"/>
            <a:ext cx="4360500" cy="29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The radius of the large circle is 8 cm.</a:t>
            </a:r>
            <a:endParaRPr sz="1900"/>
          </a:p>
        </p:txBody>
      </p:sp>
      <p:sp>
        <p:nvSpPr>
          <p:cNvPr id="991" name="Google Shape;991;p78"/>
          <p:cNvSpPr txBox="1"/>
          <p:nvPr>
            <p:ph type="body" idx="1"/>
          </p:nvPr>
        </p:nvSpPr>
        <p:spPr>
          <a:xfrm>
            <a:off x="2472056" y="2796869"/>
            <a:ext cx="981300" cy="56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2 cm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992" name="Google Shape;992;p78"/>
          <p:cNvSpPr txBox="1"/>
          <p:nvPr>
            <p:ph type="body" idx="1"/>
          </p:nvPr>
        </p:nvSpPr>
        <p:spPr>
          <a:xfrm>
            <a:off x="3225028" y="2514641"/>
            <a:ext cx="981300" cy="56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5 cm</a:t>
            </a:r>
            <a:endParaRPr sz="1800">
              <a:solidFill>
                <a:schemeClr val="accent5"/>
              </a:solidFill>
            </a:endParaRPr>
          </a:p>
        </p:txBody>
      </p:sp>
      <p:cxnSp>
        <p:nvCxnSpPr>
          <p:cNvPr id="993" name="Google Shape;993;p78"/>
          <p:cNvCxnSpPr/>
          <p:nvPr/>
        </p:nvCxnSpPr>
        <p:spPr>
          <a:xfrm flipH="1">
            <a:off x="2239100" y="2212065"/>
            <a:ext cx="1750800" cy="5682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94" name="Google Shape;994;p78"/>
          <p:cNvSpPr txBox="1"/>
          <p:nvPr>
            <p:ph type="body" idx="1"/>
          </p:nvPr>
        </p:nvSpPr>
        <p:spPr>
          <a:xfrm>
            <a:off x="2686582" y="2191795"/>
            <a:ext cx="6090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8 cm</a:t>
            </a:r>
            <a:endParaRPr sz="1800">
              <a:solidFill>
                <a:schemeClr val="accent4"/>
              </a:solidFill>
            </a:endParaRPr>
          </a:p>
        </p:txBody>
      </p:sp>
      <p:cxnSp>
        <p:nvCxnSpPr>
          <p:cNvPr id="995" name="Google Shape;995;p78"/>
          <p:cNvCxnSpPr/>
          <p:nvPr/>
        </p:nvCxnSpPr>
        <p:spPr>
          <a:xfrm flipH="1">
            <a:off x="2268499" y="2658274"/>
            <a:ext cx="646500" cy="2088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96" name="Google Shape;996;p78"/>
          <p:cNvCxnSpPr/>
          <p:nvPr/>
        </p:nvCxnSpPr>
        <p:spPr>
          <a:xfrm flipH="1">
            <a:off x="2940850" y="2377968"/>
            <a:ext cx="828600" cy="2739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97" name="Google Shape;997;p78"/>
          <p:cNvSpPr txBox="1"/>
          <p:nvPr>
            <p:ph type="body" idx="1"/>
          </p:nvPr>
        </p:nvSpPr>
        <p:spPr>
          <a:xfrm>
            <a:off x="4494275" y="1514228"/>
            <a:ext cx="4360500" cy="73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The centre of the small circle is 2 cm along this radius.</a:t>
            </a:r>
            <a:endParaRPr sz="1900"/>
          </a:p>
        </p:txBody>
      </p:sp>
      <p:sp>
        <p:nvSpPr>
          <p:cNvPr id="998" name="Google Shape;998;p78"/>
          <p:cNvSpPr txBox="1"/>
          <p:nvPr>
            <p:ph type="body" idx="1"/>
          </p:nvPr>
        </p:nvSpPr>
        <p:spPr>
          <a:xfrm>
            <a:off x="4494275" y="2537452"/>
            <a:ext cx="43605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The radius of the small circle is 5 cm.</a:t>
            </a:r>
            <a:endParaRPr sz="1900"/>
          </a:p>
        </p:txBody>
      </p:sp>
      <p:sp>
        <p:nvSpPr>
          <p:cNvPr id="999" name="Google Shape;999;p78"/>
          <p:cNvSpPr txBox="1"/>
          <p:nvPr>
            <p:ph type="body" idx="1"/>
          </p:nvPr>
        </p:nvSpPr>
        <p:spPr>
          <a:xfrm>
            <a:off x="4494275" y="3261276"/>
            <a:ext cx="4360500" cy="65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This will not be far enough to meet the large circle.</a:t>
            </a:r>
            <a:endParaRPr sz="1900"/>
          </a:p>
        </p:txBody>
      </p:sp>
      <p:sp>
        <p:nvSpPr>
          <p:cNvPr id="1000" name="Google Shape;1000;p78"/>
          <p:cNvSpPr txBox="1"/>
          <p:nvPr>
            <p:ph type="body" idx="1"/>
          </p:nvPr>
        </p:nvSpPr>
        <p:spPr>
          <a:xfrm>
            <a:off x="4494275" y="4206800"/>
            <a:ext cx="43605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The circles will not touch.</a:t>
            </a:r>
            <a:endParaRPr sz="19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4" name="Shape 1004"/>
        <p:cNvGrpSpPr/>
        <p:nvPr/>
      </p:nvGrpSpPr>
      <p:grpSpPr>
        <a:xfrm>
          <a:off x="0" y="0"/>
          <a:ext cx="0" cy="0"/>
        </a:xfrm>
      </p:grpSpPr>
      <p:sp>
        <p:nvSpPr>
          <p:cNvPr id="1005" name="Google Shape;1005;p79"/>
          <p:cNvSpPr txBox="1"/>
          <p:nvPr>
            <p:ph type="subTitle" idx="1"/>
          </p:nvPr>
        </p:nvSpPr>
        <p:spPr>
          <a:xfrm>
            <a:off x="1034425" y="1837775"/>
            <a:ext cx="7506600" cy="52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circles </a:t>
            </a:r>
            <a:r>
              <a:rPr lang="en-GB">
                <a:solidFill>
                  <a:schemeClr val="accent4"/>
                </a:solidFill>
              </a:rPr>
              <a:t>do not</a:t>
            </a:r>
            <a:r>
              <a:rPr lang="en-GB"/>
              <a:t> touch. </a:t>
            </a:r>
            <a:endParaRPr sz="2800"/>
          </a:p>
        </p:txBody>
      </p:sp>
      <p:sp>
        <p:nvSpPr>
          <p:cNvPr id="1006" name="Google Shape;1006;p7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Drawing diagrams containing multiple circles</a:t>
            </a:r>
            <a:r>
              <a:rPr lang="en-GB" sz="2200"/>
              <a:t> </a:t>
            </a:r>
            <a:endParaRPr/>
          </a:p>
        </p:txBody>
      </p:sp>
      <p:sp>
        <p:nvSpPr>
          <p:cNvPr id="1007" name="Google Shape;1007;p7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statement is true about the two circles?</a:t>
            </a:r>
            <a:endParaRPr/>
          </a:p>
        </p:txBody>
      </p:sp>
      <p:sp>
        <p:nvSpPr>
          <p:cNvPr id="1008" name="Google Shape;1008;p79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circles touch </a:t>
            </a:r>
            <a:r>
              <a:rPr lang="en-GB">
                <a:solidFill>
                  <a:schemeClr val="accent4"/>
                </a:solidFill>
              </a:rPr>
              <a:t>once</a:t>
            </a:r>
            <a:r>
              <a:rPr lang="en-GB"/>
              <a:t>.</a:t>
            </a:r>
            <a:endParaRPr/>
          </a:p>
        </p:txBody>
      </p:sp>
      <p:sp>
        <p:nvSpPr>
          <p:cNvPr id="1009" name="Google Shape;1009;p79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circles intersect at </a:t>
            </a:r>
            <a:r>
              <a:rPr lang="en-GB">
                <a:solidFill>
                  <a:schemeClr val="accent4"/>
                </a:solidFill>
              </a:rPr>
              <a:t>two points</a:t>
            </a:r>
            <a:r>
              <a:rPr lang="en-GB"/>
              <a:t>. </a:t>
            </a:r>
            <a:endParaRPr/>
          </a:p>
        </p:txBody>
      </p:sp>
      <p:sp>
        <p:nvSpPr>
          <p:cNvPr id="1010" name="Google Shape;1010;p79"/>
          <p:cNvSpPr/>
          <p:nvPr/>
        </p:nvSpPr>
        <p:spPr>
          <a:xfrm>
            <a:off x="7127700" y="1649488"/>
            <a:ext cx="1081500" cy="10815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79"/>
          <p:cNvSpPr/>
          <p:nvPr/>
        </p:nvSpPr>
        <p:spPr>
          <a:xfrm>
            <a:off x="6309748" y="1802008"/>
            <a:ext cx="2189400" cy="21894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2" name="Google Shape;101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4658" y="36724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6" name="Shape 1016"/>
        <p:cNvGrpSpPr/>
        <p:nvPr/>
      </p:nvGrpSpPr>
      <p:grpSpPr>
        <a:xfrm>
          <a:off x="0" y="0"/>
          <a:ext cx="0" cy="0"/>
        </a:xfrm>
      </p:grpSpPr>
      <p:sp>
        <p:nvSpPr>
          <p:cNvPr id="1017" name="Google Shape;1017;p80"/>
          <p:cNvSpPr txBox="1"/>
          <p:nvPr>
            <p:ph type="subTitle" idx="1"/>
          </p:nvPr>
        </p:nvSpPr>
        <p:spPr>
          <a:xfrm>
            <a:off x="1034425" y="1837775"/>
            <a:ext cx="4740000" cy="52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accent4"/>
                </a:solidFill>
              </a:rPr>
              <a:t>Neither</a:t>
            </a:r>
            <a:r>
              <a:rPr lang="en-GB" sz="2000"/>
              <a:t> circle has its centre point inside the other circle.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600"/>
          </a:p>
        </p:txBody>
      </p:sp>
      <p:sp>
        <p:nvSpPr>
          <p:cNvPr id="1018" name="Google Shape;1018;p8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diagrams containing multiple circles</a:t>
            </a:r>
            <a:r>
              <a:rPr lang="en-GB" sz="2200"/>
              <a:t> </a:t>
            </a:r>
            <a:endParaRPr/>
          </a:p>
        </p:txBody>
      </p:sp>
      <p:sp>
        <p:nvSpPr>
          <p:cNvPr id="1019" name="Google Shape;1019;p8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statement is true about the two circles?</a:t>
            </a:r>
            <a:endParaRPr/>
          </a:p>
        </p:txBody>
      </p:sp>
      <p:sp>
        <p:nvSpPr>
          <p:cNvPr id="1020" name="Google Shape;1020;p80"/>
          <p:cNvSpPr txBox="1"/>
          <p:nvPr>
            <p:ph type="subTitle" idx="3"/>
          </p:nvPr>
        </p:nvSpPr>
        <p:spPr>
          <a:xfrm>
            <a:off x="1034425" y="2794251"/>
            <a:ext cx="47400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accent4"/>
                </a:solidFill>
              </a:rPr>
              <a:t>One</a:t>
            </a:r>
            <a:r>
              <a:rPr lang="en-GB" sz="2000"/>
              <a:t> circle has its centre point inside the other circle.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600"/>
          </a:p>
        </p:txBody>
      </p:sp>
      <p:sp>
        <p:nvSpPr>
          <p:cNvPr id="1021" name="Google Shape;1021;p80"/>
          <p:cNvSpPr txBox="1"/>
          <p:nvPr>
            <p:ph type="subTitle" idx="4"/>
          </p:nvPr>
        </p:nvSpPr>
        <p:spPr>
          <a:xfrm>
            <a:off x="1034425" y="3766974"/>
            <a:ext cx="4713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</a:rPr>
              <a:t>Both</a:t>
            </a:r>
            <a:r>
              <a:rPr lang="en-GB" sz="2000"/>
              <a:t> circles have their centre point inside the other circle.</a:t>
            </a:r>
            <a:endParaRPr sz="2600"/>
          </a:p>
        </p:txBody>
      </p:sp>
      <p:sp>
        <p:nvSpPr>
          <p:cNvPr id="1022" name="Google Shape;1022;p80"/>
          <p:cNvSpPr/>
          <p:nvPr/>
        </p:nvSpPr>
        <p:spPr>
          <a:xfrm>
            <a:off x="7127700" y="1649488"/>
            <a:ext cx="1081500" cy="10815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80"/>
          <p:cNvSpPr/>
          <p:nvPr/>
        </p:nvSpPr>
        <p:spPr>
          <a:xfrm>
            <a:off x="6309748" y="1802008"/>
            <a:ext cx="2189400" cy="21894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4" name="Google Shape;102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5133" y="2994775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5" name="Google Shape;1025;p80"/>
          <p:cNvGrpSpPr/>
          <p:nvPr/>
        </p:nvGrpSpPr>
        <p:grpSpPr>
          <a:xfrm>
            <a:off x="7343357" y="2916952"/>
            <a:ext cx="122173" cy="143676"/>
            <a:chOff x="1514525" y="2733525"/>
            <a:chExt cx="76800" cy="90300"/>
          </a:xfrm>
        </p:grpSpPr>
        <p:cxnSp>
          <p:nvCxnSpPr>
            <p:cNvPr id="1026" name="Google Shape;1026;p80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7" name="Google Shape;1027;p80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28" name="Google Shape;1028;p80"/>
          <p:cNvGrpSpPr/>
          <p:nvPr/>
        </p:nvGrpSpPr>
        <p:grpSpPr>
          <a:xfrm>
            <a:off x="7607369" y="2088164"/>
            <a:ext cx="122173" cy="143676"/>
            <a:chOff x="1514525" y="2733525"/>
            <a:chExt cx="76800" cy="90300"/>
          </a:xfrm>
        </p:grpSpPr>
        <p:cxnSp>
          <p:nvCxnSpPr>
            <p:cNvPr id="1029" name="Google Shape;1029;p80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0" name="Google Shape;1030;p80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4" name="Shape 1034"/>
        <p:cNvGrpSpPr/>
        <p:nvPr/>
      </p:nvGrpSpPr>
      <p:grpSpPr>
        <a:xfrm>
          <a:off x="0" y="0"/>
          <a:ext cx="0" cy="0"/>
        </a:xfrm>
      </p:grpSpPr>
      <p:sp>
        <p:nvSpPr>
          <p:cNvPr id="1035" name="Google Shape;1035;p81"/>
          <p:cNvSpPr txBox="1"/>
          <p:nvPr>
            <p:ph type="body" idx="1"/>
          </p:nvPr>
        </p:nvSpPr>
        <p:spPr>
          <a:xfrm>
            <a:off x="324000" y="638088"/>
            <a:ext cx="8496000" cy="10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For each question, draw two circles: one with a radius of 5 cm and the </a:t>
            </a:r>
            <a:br>
              <a:rPr lang="en-GB" sz="1800"/>
            </a:br>
            <a:r>
              <a:rPr lang="en-GB" sz="1800"/>
              <a:t>    other with a radius of 7 cm. Mark the positions of their centre points each </a:t>
            </a:r>
            <a:br>
              <a:rPr lang="en-GB" sz="1800"/>
            </a:br>
            <a:r>
              <a:rPr lang="en-GB" sz="1800"/>
              <a:t>    time. Draw each pair of circles according to the following conditions:</a:t>
            </a:r>
            <a:endParaRPr sz="1800"/>
          </a:p>
        </p:txBody>
      </p:sp>
      <p:sp>
        <p:nvSpPr>
          <p:cNvPr id="1036" name="Google Shape;1036;p81"/>
          <p:cNvSpPr txBox="1"/>
          <p:nvPr>
            <p:ph type="title"/>
          </p:nvPr>
        </p:nvSpPr>
        <p:spPr>
          <a:xfrm>
            <a:off x="1479300" y="94018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diagrams containing multiple circles</a:t>
            </a:r>
            <a:r>
              <a:rPr lang="en-GB" sz="2000"/>
              <a:t> </a:t>
            </a:r>
            <a:endParaRPr sz="1600"/>
          </a:p>
        </p:txBody>
      </p:sp>
      <p:sp>
        <p:nvSpPr>
          <p:cNvPr id="1037" name="Google Shape;1037;p81"/>
          <p:cNvSpPr txBox="1"/>
          <p:nvPr>
            <p:ph type="body" idx="1"/>
          </p:nvPr>
        </p:nvSpPr>
        <p:spPr>
          <a:xfrm>
            <a:off x="324000" y="1620000"/>
            <a:ext cx="8496000" cy="285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a) The circles do not touch. Neither circle has its centre point inside the other </a:t>
            </a:r>
            <a:br>
              <a:rPr lang="en-GB" sz="1800"/>
            </a:br>
            <a:r>
              <a:rPr lang="en-GB" sz="1800"/>
              <a:t>     circle.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b) The circles intersect at two points. Neither circle has its centre point inside </a:t>
            </a:r>
            <a:br>
              <a:rPr lang="en-GB" sz="1800"/>
            </a:br>
            <a:r>
              <a:rPr lang="en-GB" sz="1800"/>
              <a:t>     the other circle.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c) The circles intersect at two points. One circle has its centre point inside </a:t>
            </a:r>
            <a:br>
              <a:rPr lang="en-GB" sz="1800"/>
            </a:br>
            <a:r>
              <a:rPr lang="en-GB" sz="1800"/>
              <a:t>    the other circle.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d) The circles intersect at two points. Both circles have their centre point </a:t>
            </a:r>
            <a:br>
              <a:rPr lang="en-GB" sz="1800"/>
            </a:br>
            <a:r>
              <a:rPr lang="en-GB" sz="1800"/>
              <a:t>     inside the other circle.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e) The circles do not touch. Both circles have their centre point inside the </a:t>
            </a:r>
            <a:br>
              <a:rPr lang="en-GB" sz="1800"/>
            </a:br>
            <a:r>
              <a:rPr lang="en-GB" sz="1800"/>
              <a:t>     other circle.</a:t>
            </a:r>
            <a:endParaRPr sz="1800"/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41" name="Shape 1041"/>
        <p:cNvGrpSpPr/>
        <p:nvPr/>
      </p:nvGrpSpPr>
      <p:grpSpPr>
        <a:xfrm>
          <a:off x="0" y="0"/>
          <a:ext cx="0" cy="0"/>
        </a:xfrm>
      </p:grpSpPr>
      <p:sp>
        <p:nvSpPr>
          <p:cNvPr id="1042" name="Google Shape;1042;p82"/>
          <p:cNvSpPr txBox="1"/>
          <p:nvPr>
            <p:ph type="body" idx="1"/>
          </p:nvPr>
        </p:nvSpPr>
        <p:spPr>
          <a:xfrm>
            <a:off x="324000" y="2130900"/>
            <a:ext cx="8496000" cy="276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a) The circles do not touch. Neither circle has its centre point inside the other </a:t>
            </a:r>
            <a:br>
              <a:rPr lang="en-GB" sz="1800"/>
            </a:br>
            <a:r>
              <a:rPr lang="en-GB" sz="1800"/>
              <a:t>     circle.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b) The circles intersect at two points. Neither circle has its centre point inside </a:t>
            </a:r>
            <a:br>
              <a:rPr lang="en-GB" sz="1800"/>
            </a:br>
            <a:r>
              <a:rPr lang="en-GB" sz="1800"/>
              <a:t>     the other circle.</a:t>
            </a:r>
            <a:endParaRPr sz="1800"/>
          </a:p>
        </p:txBody>
      </p:sp>
      <p:sp>
        <p:nvSpPr>
          <p:cNvPr id="1043" name="Google Shape;1043;p82"/>
          <p:cNvSpPr txBox="1"/>
          <p:nvPr>
            <p:ph type="body" idx="1"/>
          </p:nvPr>
        </p:nvSpPr>
        <p:spPr>
          <a:xfrm>
            <a:off x="324000" y="759300"/>
            <a:ext cx="8496000" cy="9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For each question, draw two circles: one with a radius of 5 cm and the </a:t>
            </a:r>
            <a:br>
              <a:rPr lang="en-GB" sz="1800"/>
            </a:br>
            <a:r>
              <a:rPr lang="en-GB" sz="1800"/>
              <a:t>    other with a radius of 7 cm. Mark the positions of their centre points each </a:t>
            </a:r>
            <a:br>
              <a:rPr lang="en-GB" sz="1800"/>
            </a:br>
            <a:r>
              <a:rPr lang="en-GB" sz="1800"/>
              <a:t>    time. Draw each pair of circles according to the following conditions:</a:t>
            </a:r>
            <a:endParaRPr sz="1800"/>
          </a:p>
        </p:txBody>
      </p:sp>
      <p:sp>
        <p:nvSpPr>
          <p:cNvPr id="1044" name="Google Shape;1044;p82"/>
          <p:cNvSpPr txBox="1"/>
          <p:nvPr>
            <p:ph type="body" idx="1"/>
          </p:nvPr>
        </p:nvSpPr>
        <p:spPr>
          <a:xfrm>
            <a:off x="499550" y="1749900"/>
            <a:ext cx="84276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To check, measure the distance between the two centre points in each question.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5" name="Google Shape;1045;p82"/>
          <p:cNvSpPr txBox="1"/>
          <p:nvPr>
            <p:ph type="body" idx="1"/>
          </p:nvPr>
        </p:nvSpPr>
        <p:spPr>
          <a:xfrm>
            <a:off x="1479300" y="4184875"/>
            <a:ext cx="2800200" cy="27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 cm &lt; distance &lt; 12 cm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6" name="Google Shape;1046;p82"/>
          <p:cNvSpPr txBox="1"/>
          <p:nvPr>
            <p:ph type="body" idx="1"/>
          </p:nvPr>
        </p:nvSpPr>
        <p:spPr>
          <a:xfrm>
            <a:off x="1956450" y="2735525"/>
            <a:ext cx="1938300" cy="29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 cm &lt; distance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47" name="Google Shape;1047;p82"/>
          <p:cNvGrpSpPr/>
          <p:nvPr/>
        </p:nvGrpSpPr>
        <p:grpSpPr>
          <a:xfrm>
            <a:off x="4710675" y="2461025"/>
            <a:ext cx="1480625" cy="760800"/>
            <a:chOff x="4710675" y="2384825"/>
            <a:chExt cx="1480625" cy="760800"/>
          </a:xfrm>
        </p:grpSpPr>
        <p:grpSp>
          <p:nvGrpSpPr>
            <p:cNvPr id="1048" name="Google Shape;1048;p82"/>
            <p:cNvGrpSpPr/>
            <p:nvPr/>
          </p:nvGrpSpPr>
          <p:grpSpPr>
            <a:xfrm>
              <a:off x="4710675" y="2503200"/>
              <a:ext cx="524100" cy="524100"/>
              <a:chOff x="4405875" y="2503200"/>
              <a:chExt cx="524100" cy="524100"/>
            </a:xfrm>
          </p:grpSpPr>
          <p:sp>
            <p:nvSpPr>
              <p:cNvPr id="1049" name="Google Shape;1049;p82"/>
              <p:cNvSpPr/>
              <p:nvPr/>
            </p:nvSpPr>
            <p:spPr>
              <a:xfrm>
                <a:off x="4405875" y="2503200"/>
                <a:ext cx="524100" cy="524100"/>
              </a:xfrm>
              <a:prstGeom prst="ellipse">
                <a:avLst/>
              </a:prstGeom>
              <a:noFill/>
              <a:ln w="381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050" name="Google Shape;1050;p82"/>
              <p:cNvGrpSpPr/>
              <p:nvPr/>
            </p:nvGrpSpPr>
            <p:grpSpPr>
              <a:xfrm>
                <a:off x="4622164" y="2711442"/>
                <a:ext cx="91423" cy="107502"/>
                <a:chOff x="1514525" y="2733525"/>
                <a:chExt cx="76800" cy="90300"/>
              </a:xfrm>
            </p:grpSpPr>
            <p:cxnSp>
              <p:nvCxnSpPr>
                <p:cNvPr id="1051" name="Google Shape;1051;p82"/>
                <p:cNvCxnSpPr/>
                <p:nvPr/>
              </p:nvCxnSpPr>
              <p:spPr>
                <a:xfrm>
                  <a:off x="1514525" y="2733525"/>
                  <a:ext cx="76800" cy="90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52" name="Google Shape;1052;p82"/>
                <p:cNvCxnSpPr/>
                <p:nvPr/>
              </p:nvCxnSpPr>
              <p:spPr>
                <a:xfrm flipH="1">
                  <a:off x="1514525" y="2733525"/>
                  <a:ext cx="76800" cy="90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053" name="Google Shape;1053;p82"/>
            <p:cNvGrpSpPr/>
            <p:nvPr/>
          </p:nvGrpSpPr>
          <p:grpSpPr>
            <a:xfrm>
              <a:off x="5430500" y="2384825"/>
              <a:ext cx="760800" cy="760800"/>
              <a:chOff x="5430500" y="2384825"/>
              <a:chExt cx="760800" cy="760800"/>
            </a:xfrm>
          </p:grpSpPr>
          <p:sp>
            <p:nvSpPr>
              <p:cNvPr id="1054" name="Google Shape;1054;p82"/>
              <p:cNvSpPr/>
              <p:nvPr/>
            </p:nvSpPr>
            <p:spPr>
              <a:xfrm>
                <a:off x="5430500" y="2384825"/>
                <a:ext cx="760800" cy="760800"/>
              </a:xfrm>
              <a:prstGeom prst="ellipse">
                <a:avLst/>
              </a:prstGeom>
              <a:noFill/>
              <a:ln w="381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055" name="Google Shape;1055;p82"/>
              <p:cNvGrpSpPr/>
              <p:nvPr/>
            </p:nvGrpSpPr>
            <p:grpSpPr>
              <a:xfrm>
                <a:off x="5765164" y="2711442"/>
                <a:ext cx="91423" cy="107502"/>
                <a:chOff x="1514525" y="2733525"/>
                <a:chExt cx="76800" cy="90300"/>
              </a:xfrm>
            </p:grpSpPr>
            <p:cxnSp>
              <p:nvCxnSpPr>
                <p:cNvPr id="1056" name="Google Shape;1056;p82"/>
                <p:cNvCxnSpPr/>
                <p:nvPr/>
              </p:nvCxnSpPr>
              <p:spPr>
                <a:xfrm>
                  <a:off x="1514525" y="2733525"/>
                  <a:ext cx="76800" cy="90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57" name="Google Shape;1057;p82"/>
                <p:cNvCxnSpPr/>
                <p:nvPr/>
              </p:nvCxnSpPr>
              <p:spPr>
                <a:xfrm flipH="1">
                  <a:off x="1514525" y="2733525"/>
                  <a:ext cx="76800" cy="90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1058" name="Google Shape;1058;p82"/>
            <p:cNvCxnSpPr/>
            <p:nvPr/>
          </p:nvCxnSpPr>
          <p:spPr>
            <a:xfrm>
              <a:off x="4971550" y="2766150"/>
              <a:ext cx="856500" cy="360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059" name="Google Shape;1059;p82"/>
          <p:cNvGrpSpPr/>
          <p:nvPr/>
        </p:nvGrpSpPr>
        <p:grpSpPr>
          <a:xfrm>
            <a:off x="4710675" y="4179600"/>
            <a:ext cx="524100" cy="524100"/>
            <a:chOff x="4405875" y="2503200"/>
            <a:chExt cx="524100" cy="524100"/>
          </a:xfrm>
        </p:grpSpPr>
        <p:sp>
          <p:nvSpPr>
            <p:cNvPr id="1060" name="Google Shape;1060;p82"/>
            <p:cNvSpPr/>
            <p:nvPr/>
          </p:nvSpPr>
          <p:spPr>
            <a:xfrm>
              <a:off x="4405875" y="2503200"/>
              <a:ext cx="524100" cy="5241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61" name="Google Shape;1061;p82"/>
            <p:cNvGrpSpPr/>
            <p:nvPr/>
          </p:nvGrpSpPr>
          <p:grpSpPr>
            <a:xfrm>
              <a:off x="4622164" y="2711442"/>
              <a:ext cx="91423" cy="107502"/>
              <a:chOff x="1514525" y="2733525"/>
              <a:chExt cx="76800" cy="90300"/>
            </a:xfrm>
          </p:grpSpPr>
          <p:cxnSp>
            <p:nvCxnSpPr>
              <p:cNvPr id="1062" name="Google Shape;1062;p82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3" name="Google Shape;1063;p82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64" name="Google Shape;1064;p82"/>
          <p:cNvGrpSpPr/>
          <p:nvPr/>
        </p:nvGrpSpPr>
        <p:grpSpPr>
          <a:xfrm>
            <a:off x="5159675" y="4038650"/>
            <a:ext cx="760800" cy="760800"/>
            <a:chOff x="5430500" y="2384825"/>
            <a:chExt cx="760800" cy="760800"/>
          </a:xfrm>
        </p:grpSpPr>
        <p:sp>
          <p:nvSpPr>
            <p:cNvPr id="1065" name="Google Shape;1065;p82"/>
            <p:cNvSpPr/>
            <p:nvPr/>
          </p:nvSpPr>
          <p:spPr>
            <a:xfrm>
              <a:off x="5430500" y="2384825"/>
              <a:ext cx="760800" cy="7608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66" name="Google Shape;1066;p82"/>
            <p:cNvGrpSpPr/>
            <p:nvPr/>
          </p:nvGrpSpPr>
          <p:grpSpPr>
            <a:xfrm>
              <a:off x="5765164" y="2711442"/>
              <a:ext cx="91423" cy="107502"/>
              <a:chOff x="1514525" y="2733525"/>
              <a:chExt cx="76800" cy="90300"/>
            </a:xfrm>
          </p:grpSpPr>
          <p:cxnSp>
            <p:nvCxnSpPr>
              <p:cNvPr id="1067" name="Google Shape;1067;p82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8" name="Google Shape;1068;p82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1069" name="Google Shape;1069;p82"/>
          <p:cNvCxnSpPr/>
          <p:nvPr/>
        </p:nvCxnSpPr>
        <p:spPr>
          <a:xfrm rot="10800000" flipH="1">
            <a:off x="4971550" y="4421850"/>
            <a:ext cx="561600" cy="207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70" name="Google Shape;1070;p82"/>
          <p:cNvSpPr txBox="1"/>
          <p:nvPr>
            <p:ph type="title"/>
          </p:nvPr>
        </p:nvSpPr>
        <p:spPr>
          <a:xfrm>
            <a:off x="1479300" y="94018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diagrams containing multiple circles</a:t>
            </a:r>
            <a:r>
              <a:rPr lang="en-GB" sz="2000"/>
              <a:t> 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4" name="Shape 1074"/>
        <p:cNvGrpSpPr/>
        <p:nvPr/>
      </p:nvGrpSpPr>
      <p:grpSpPr>
        <a:xfrm>
          <a:off x="0" y="0"/>
          <a:ext cx="0" cy="0"/>
        </a:xfrm>
      </p:grpSpPr>
      <p:sp>
        <p:nvSpPr>
          <p:cNvPr id="1075" name="Google Shape;1075;p83"/>
          <p:cNvSpPr txBox="1"/>
          <p:nvPr>
            <p:ph type="body" idx="1"/>
          </p:nvPr>
        </p:nvSpPr>
        <p:spPr>
          <a:xfrm>
            <a:off x="324000" y="759300"/>
            <a:ext cx="8496000" cy="35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c) The circles intersect at two points. One circle has its centre point inside </a:t>
            </a:r>
            <a:br>
              <a:rPr lang="en-GB" sz="1800"/>
            </a:br>
            <a:r>
              <a:rPr lang="en-GB" sz="1800"/>
              <a:t>     the other circle.</a:t>
            </a:r>
            <a:endParaRPr sz="1800"/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d) The circles intersect at two points. Both circles have their centre point </a:t>
            </a:r>
            <a:br>
              <a:rPr lang="en-GB" sz="1800"/>
            </a:br>
            <a:r>
              <a:rPr lang="en-GB" sz="1800"/>
              <a:t>     inside the other circle.</a:t>
            </a:r>
            <a:endParaRPr sz="1800"/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e) The circles do not touch. Both circles have their centre point inside the </a:t>
            </a:r>
            <a:br>
              <a:rPr lang="en-GB" sz="1800"/>
            </a:br>
            <a:r>
              <a:rPr lang="en-GB" sz="1800"/>
              <a:t>     other circle.</a:t>
            </a:r>
            <a:endParaRPr sz="1800"/>
          </a:p>
        </p:txBody>
      </p:sp>
      <p:sp>
        <p:nvSpPr>
          <p:cNvPr id="1076" name="Google Shape;1076;p83"/>
          <p:cNvSpPr txBox="1"/>
          <p:nvPr>
            <p:ph type="body" idx="1"/>
          </p:nvPr>
        </p:nvSpPr>
        <p:spPr>
          <a:xfrm>
            <a:off x="2331224" y="4108675"/>
            <a:ext cx="1948200" cy="27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distance &lt; 2 cm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7" name="Google Shape;1077;p83"/>
          <p:cNvSpPr txBox="1"/>
          <p:nvPr>
            <p:ph type="body" idx="1"/>
          </p:nvPr>
        </p:nvSpPr>
        <p:spPr>
          <a:xfrm>
            <a:off x="1591150" y="1482900"/>
            <a:ext cx="2688600" cy="27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 cm &lt; distance &lt; 7 cm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8" name="Google Shape;1078;p83"/>
          <p:cNvSpPr txBox="1"/>
          <p:nvPr>
            <p:ph type="body" idx="1"/>
          </p:nvPr>
        </p:nvSpPr>
        <p:spPr>
          <a:xfrm>
            <a:off x="1544900" y="2813275"/>
            <a:ext cx="2734800" cy="27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 cm &lt; distance &lt; 5 cm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79" name="Google Shape;1079;p83"/>
          <p:cNvGrpSpPr/>
          <p:nvPr/>
        </p:nvGrpSpPr>
        <p:grpSpPr>
          <a:xfrm>
            <a:off x="4939275" y="1284000"/>
            <a:ext cx="524100" cy="524100"/>
            <a:chOff x="4405875" y="2503200"/>
            <a:chExt cx="524100" cy="524100"/>
          </a:xfrm>
        </p:grpSpPr>
        <p:sp>
          <p:nvSpPr>
            <p:cNvPr id="1080" name="Google Shape;1080;p83"/>
            <p:cNvSpPr/>
            <p:nvPr/>
          </p:nvSpPr>
          <p:spPr>
            <a:xfrm>
              <a:off x="4405875" y="2503200"/>
              <a:ext cx="524100" cy="5241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81" name="Google Shape;1081;p83"/>
            <p:cNvGrpSpPr/>
            <p:nvPr/>
          </p:nvGrpSpPr>
          <p:grpSpPr>
            <a:xfrm>
              <a:off x="4622164" y="2711442"/>
              <a:ext cx="91423" cy="107502"/>
              <a:chOff x="1514525" y="2733525"/>
              <a:chExt cx="76800" cy="90300"/>
            </a:xfrm>
          </p:grpSpPr>
          <p:cxnSp>
            <p:nvCxnSpPr>
              <p:cNvPr id="1082" name="Google Shape;1082;p83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3" name="Google Shape;1083;p83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84" name="Google Shape;1084;p83"/>
          <p:cNvGrpSpPr/>
          <p:nvPr/>
        </p:nvGrpSpPr>
        <p:grpSpPr>
          <a:xfrm>
            <a:off x="5150647" y="1143050"/>
            <a:ext cx="760800" cy="760800"/>
            <a:chOff x="5430500" y="2384825"/>
            <a:chExt cx="760800" cy="760800"/>
          </a:xfrm>
        </p:grpSpPr>
        <p:sp>
          <p:nvSpPr>
            <p:cNvPr id="1085" name="Google Shape;1085;p83"/>
            <p:cNvSpPr/>
            <p:nvPr/>
          </p:nvSpPr>
          <p:spPr>
            <a:xfrm>
              <a:off x="5430500" y="2384825"/>
              <a:ext cx="760800" cy="7608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86" name="Google Shape;1086;p83"/>
            <p:cNvGrpSpPr/>
            <p:nvPr/>
          </p:nvGrpSpPr>
          <p:grpSpPr>
            <a:xfrm>
              <a:off x="5765164" y="2711442"/>
              <a:ext cx="91423" cy="107502"/>
              <a:chOff x="1514525" y="2733525"/>
              <a:chExt cx="76800" cy="90300"/>
            </a:xfrm>
          </p:grpSpPr>
          <p:cxnSp>
            <p:nvCxnSpPr>
              <p:cNvPr id="1087" name="Google Shape;1087;p83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8" name="Google Shape;1088;p83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1089" name="Google Shape;1089;p83"/>
          <p:cNvCxnSpPr/>
          <p:nvPr/>
        </p:nvCxnSpPr>
        <p:spPr>
          <a:xfrm rot="10800000" flipH="1">
            <a:off x="5200150" y="1519350"/>
            <a:ext cx="321000" cy="276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090" name="Google Shape;1090;p83"/>
          <p:cNvGrpSpPr/>
          <p:nvPr/>
        </p:nvGrpSpPr>
        <p:grpSpPr>
          <a:xfrm>
            <a:off x="4863075" y="2731800"/>
            <a:ext cx="524100" cy="524100"/>
            <a:chOff x="4405875" y="2503200"/>
            <a:chExt cx="524100" cy="524100"/>
          </a:xfrm>
        </p:grpSpPr>
        <p:sp>
          <p:nvSpPr>
            <p:cNvPr id="1091" name="Google Shape;1091;p83"/>
            <p:cNvSpPr/>
            <p:nvPr/>
          </p:nvSpPr>
          <p:spPr>
            <a:xfrm>
              <a:off x="4405875" y="2503200"/>
              <a:ext cx="524100" cy="5241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92" name="Google Shape;1092;p83"/>
            <p:cNvGrpSpPr/>
            <p:nvPr/>
          </p:nvGrpSpPr>
          <p:grpSpPr>
            <a:xfrm>
              <a:off x="4622164" y="2711442"/>
              <a:ext cx="91423" cy="107502"/>
              <a:chOff x="1514525" y="2733525"/>
              <a:chExt cx="76800" cy="90300"/>
            </a:xfrm>
          </p:grpSpPr>
          <p:cxnSp>
            <p:nvCxnSpPr>
              <p:cNvPr id="1093" name="Google Shape;1093;p83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94" name="Google Shape;1094;p83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95" name="Google Shape;1095;p83"/>
          <p:cNvGrpSpPr/>
          <p:nvPr/>
        </p:nvGrpSpPr>
        <p:grpSpPr>
          <a:xfrm>
            <a:off x="4931075" y="2590850"/>
            <a:ext cx="760800" cy="760800"/>
            <a:chOff x="5430500" y="2384825"/>
            <a:chExt cx="760800" cy="760800"/>
          </a:xfrm>
        </p:grpSpPr>
        <p:sp>
          <p:nvSpPr>
            <p:cNvPr id="1096" name="Google Shape;1096;p83"/>
            <p:cNvSpPr/>
            <p:nvPr/>
          </p:nvSpPr>
          <p:spPr>
            <a:xfrm>
              <a:off x="5430500" y="2384825"/>
              <a:ext cx="760800" cy="7608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97" name="Google Shape;1097;p83"/>
            <p:cNvGrpSpPr/>
            <p:nvPr/>
          </p:nvGrpSpPr>
          <p:grpSpPr>
            <a:xfrm>
              <a:off x="5765164" y="2711442"/>
              <a:ext cx="91423" cy="107502"/>
              <a:chOff x="1514525" y="2733525"/>
              <a:chExt cx="76800" cy="90300"/>
            </a:xfrm>
          </p:grpSpPr>
          <p:cxnSp>
            <p:nvCxnSpPr>
              <p:cNvPr id="1098" name="Google Shape;1098;p83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99" name="Google Shape;1099;p83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1100" name="Google Shape;1100;p83"/>
          <p:cNvCxnSpPr/>
          <p:nvPr/>
        </p:nvCxnSpPr>
        <p:spPr>
          <a:xfrm rot="10800000" flipH="1">
            <a:off x="5123950" y="2972250"/>
            <a:ext cx="189300" cy="225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101" name="Google Shape;1101;p83"/>
          <p:cNvGrpSpPr/>
          <p:nvPr/>
        </p:nvGrpSpPr>
        <p:grpSpPr>
          <a:xfrm>
            <a:off x="4939275" y="4027200"/>
            <a:ext cx="524100" cy="524100"/>
            <a:chOff x="4405875" y="2503200"/>
            <a:chExt cx="524100" cy="524100"/>
          </a:xfrm>
        </p:grpSpPr>
        <p:sp>
          <p:nvSpPr>
            <p:cNvPr id="1102" name="Google Shape;1102;p83"/>
            <p:cNvSpPr/>
            <p:nvPr/>
          </p:nvSpPr>
          <p:spPr>
            <a:xfrm>
              <a:off x="4405875" y="2503200"/>
              <a:ext cx="524100" cy="5241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03" name="Google Shape;1103;p83"/>
            <p:cNvGrpSpPr/>
            <p:nvPr/>
          </p:nvGrpSpPr>
          <p:grpSpPr>
            <a:xfrm>
              <a:off x="4622164" y="2711442"/>
              <a:ext cx="91423" cy="107502"/>
              <a:chOff x="1514525" y="2733525"/>
              <a:chExt cx="76800" cy="90300"/>
            </a:xfrm>
          </p:grpSpPr>
          <p:cxnSp>
            <p:nvCxnSpPr>
              <p:cNvPr id="1104" name="Google Shape;1104;p83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5" name="Google Shape;1105;p83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106" name="Google Shape;1106;p83"/>
          <p:cNvGrpSpPr/>
          <p:nvPr/>
        </p:nvGrpSpPr>
        <p:grpSpPr>
          <a:xfrm>
            <a:off x="4886475" y="3890764"/>
            <a:ext cx="760800" cy="760800"/>
            <a:chOff x="5430500" y="2384825"/>
            <a:chExt cx="760800" cy="760800"/>
          </a:xfrm>
        </p:grpSpPr>
        <p:sp>
          <p:nvSpPr>
            <p:cNvPr id="1107" name="Google Shape;1107;p83"/>
            <p:cNvSpPr/>
            <p:nvPr/>
          </p:nvSpPr>
          <p:spPr>
            <a:xfrm>
              <a:off x="5430500" y="2384825"/>
              <a:ext cx="760800" cy="7608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08" name="Google Shape;1108;p83"/>
            <p:cNvGrpSpPr/>
            <p:nvPr/>
          </p:nvGrpSpPr>
          <p:grpSpPr>
            <a:xfrm>
              <a:off x="5765164" y="2711442"/>
              <a:ext cx="91423" cy="107502"/>
              <a:chOff x="1514525" y="2733525"/>
              <a:chExt cx="76800" cy="90300"/>
            </a:xfrm>
          </p:grpSpPr>
          <p:cxnSp>
            <p:nvCxnSpPr>
              <p:cNvPr id="1109" name="Google Shape;1109;p83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0" name="Google Shape;1110;p83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111" name="Google Shape;1111;p83"/>
          <p:cNvSpPr txBox="1"/>
          <p:nvPr>
            <p:ph type="title"/>
          </p:nvPr>
        </p:nvSpPr>
        <p:spPr>
          <a:xfrm>
            <a:off x="1479300" y="94018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diagrams containing multiple circles</a:t>
            </a:r>
            <a:r>
              <a:rPr lang="en-GB" sz="2000"/>
              <a:t> 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15" name="Shape 1115"/>
        <p:cNvGrpSpPr/>
        <p:nvPr/>
      </p:nvGrpSpPr>
      <p:grpSpPr>
        <a:xfrm>
          <a:off x="0" y="0"/>
          <a:ext cx="0" cy="0"/>
        </a:xfrm>
      </p:grpSpPr>
      <p:sp>
        <p:nvSpPr>
          <p:cNvPr id="1116" name="Google Shape;1116;p8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diagrams containing multiple circles</a:t>
            </a:r>
            <a:endParaRPr/>
          </a:p>
        </p:txBody>
      </p:sp>
      <p:sp>
        <p:nvSpPr>
          <p:cNvPr id="1117" name="Google Shape;1117;p84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circles that intersect exactly once</a:t>
            </a:r>
            <a:endParaRPr/>
          </a:p>
        </p:txBody>
      </p:sp>
      <p:sp>
        <p:nvSpPr>
          <p:cNvPr id="1118" name="Google Shape;1118;p84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the skill of using a pair of compasses</a:t>
            </a:r>
            <a:endParaRPr/>
          </a:p>
        </p:txBody>
      </p:sp>
      <p:pic>
        <p:nvPicPr>
          <p:cNvPr id="1119" name="Google Shape;1119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004" y="298838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23" name="Shape 1123"/>
        <p:cNvGrpSpPr/>
        <p:nvPr/>
      </p:nvGrpSpPr>
      <p:grpSpPr>
        <a:xfrm>
          <a:off x="0" y="0"/>
          <a:ext cx="0" cy="0"/>
        </a:xfrm>
      </p:grpSpPr>
      <p:pic>
        <p:nvPicPr>
          <p:cNvPr id="1124" name="Google Shape;1124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913" y="4052750"/>
            <a:ext cx="549748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85"/>
          <p:cNvSpPr/>
          <p:nvPr/>
        </p:nvSpPr>
        <p:spPr>
          <a:xfrm>
            <a:off x="5083469" y="2390944"/>
            <a:ext cx="1947000" cy="1947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85"/>
          <p:cNvSpPr/>
          <p:nvPr/>
        </p:nvSpPr>
        <p:spPr>
          <a:xfrm>
            <a:off x="6619446" y="1864311"/>
            <a:ext cx="961800" cy="9618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85"/>
          <p:cNvSpPr txBox="1"/>
          <p:nvPr>
            <p:ph type="body" idx="1"/>
          </p:nvPr>
        </p:nvSpPr>
        <p:spPr>
          <a:xfrm>
            <a:off x="324000" y="759300"/>
            <a:ext cx="8237700" cy="133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Laura draws two circles. One circle has a radius of 4 cm and the other has a radius of 8 cm.</a:t>
            </a:r>
            <a:endParaRPr sz="2000"/>
          </a:p>
        </p:txBody>
      </p:sp>
      <p:sp>
        <p:nvSpPr>
          <p:cNvPr id="1128" name="Google Shape;1128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circles that intersect exactly once</a:t>
            </a:r>
            <a:endParaRPr sz="2200"/>
          </a:p>
        </p:txBody>
      </p:sp>
      <p:sp>
        <p:nvSpPr>
          <p:cNvPr id="1129" name="Google Shape;1129;p85"/>
          <p:cNvSpPr txBox="1"/>
          <p:nvPr>
            <p:ph type="body" idx="1"/>
          </p:nvPr>
        </p:nvSpPr>
        <p:spPr>
          <a:xfrm>
            <a:off x="324000" y="1673700"/>
            <a:ext cx="8237700" cy="4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Here are Laura’s drawings:</a:t>
            </a:r>
            <a:endParaRPr sz="2000"/>
          </a:p>
        </p:txBody>
      </p:sp>
      <p:grpSp>
        <p:nvGrpSpPr>
          <p:cNvPr id="1130" name="Google Shape;1130;p85"/>
          <p:cNvGrpSpPr/>
          <p:nvPr/>
        </p:nvGrpSpPr>
        <p:grpSpPr>
          <a:xfrm>
            <a:off x="7054646" y="2291453"/>
            <a:ext cx="91423" cy="107502"/>
            <a:chOff x="1514525" y="2733525"/>
            <a:chExt cx="76800" cy="90300"/>
          </a:xfrm>
        </p:grpSpPr>
        <p:cxnSp>
          <p:nvCxnSpPr>
            <p:cNvPr id="1131" name="Google Shape;1131;p85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2" name="Google Shape;1132;p85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33" name="Google Shape;1133;p85"/>
          <p:cNvSpPr txBox="1"/>
          <p:nvPr>
            <p:ph type="body" idx="1"/>
          </p:nvPr>
        </p:nvSpPr>
        <p:spPr>
          <a:xfrm>
            <a:off x="1220775" y="2938200"/>
            <a:ext cx="2943000" cy="7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My circles touch each other exactly once.</a:t>
            </a:r>
            <a:endParaRPr sz="1800"/>
          </a:p>
        </p:txBody>
      </p:sp>
      <p:grpSp>
        <p:nvGrpSpPr>
          <p:cNvPr id="1134" name="Google Shape;1134;p85"/>
          <p:cNvGrpSpPr/>
          <p:nvPr/>
        </p:nvGrpSpPr>
        <p:grpSpPr>
          <a:xfrm>
            <a:off x="6002739" y="3300830"/>
            <a:ext cx="108349" cy="127404"/>
            <a:chOff x="1514525" y="2733525"/>
            <a:chExt cx="76800" cy="90300"/>
          </a:xfrm>
        </p:grpSpPr>
        <p:cxnSp>
          <p:nvCxnSpPr>
            <p:cNvPr id="1135" name="Google Shape;1135;p85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6" name="Google Shape;1136;p85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137" name="Google Shape;1137;p85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978051" y="2675087"/>
            <a:ext cx="2829174" cy="1405411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85"/>
          <p:cNvSpPr txBox="1"/>
          <p:nvPr>
            <p:ph type="body" idx="1"/>
          </p:nvPr>
        </p:nvSpPr>
        <p:spPr>
          <a:xfrm>
            <a:off x="2057400" y="4517100"/>
            <a:ext cx="5160000" cy="35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How far apart are the two centre points?</a:t>
            </a:r>
            <a:endParaRPr sz="2000"/>
          </a:p>
        </p:txBody>
      </p:sp>
      <p:cxnSp>
        <p:nvCxnSpPr>
          <p:cNvPr id="1139" name="Google Shape;1139;p85"/>
          <p:cNvCxnSpPr/>
          <p:nvPr/>
        </p:nvCxnSpPr>
        <p:spPr>
          <a:xfrm rot="10800000" flipH="1">
            <a:off x="6052697" y="2350522"/>
            <a:ext cx="1047300" cy="10065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40" name="Google Shape;1140;p85"/>
          <p:cNvCxnSpPr/>
          <p:nvPr/>
        </p:nvCxnSpPr>
        <p:spPr>
          <a:xfrm rot="10800000" flipH="1">
            <a:off x="6052598" y="2685259"/>
            <a:ext cx="707700" cy="6717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41" name="Google Shape;1141;p85"/>
          <p:cNvCxnSpPr/>
          <p:nvPr/>
        </p:nvCxnSpPr>
        <p:spPr>
          <a:xfrm rot="10800000" flipH="1">
            <a:off x="6760298" y="2341184"/>
            <a:ext cx="339300" cy="3339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42" name="Google Shape;1142;p85"/>
          <p:cNvSpPr txBox="1"/>
          <p:nvPr>
            <p:ph type="body" idx="1"/>
          </p:nvPr>
        </p:nvSpPr>
        <p:spPr>
          <a:xfrm>
            <a:off x="6404239" y="3013825"/>
            <a:ext cx="6387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accent5"/>
                </a:solidFill>
              </a:rPr>
              <a:t>8 cm</a:t>
            </a:r>
            <a:endParaRPr sz="1700">
              <a:solidFill>
                <a:schemeClr val="accent5"/>
              </a:solidFill>
            </a:endParaRPr>
          </a:p>
        </p:txBody>
      </p:sp>
      <p:sp>
        <p:nvSpPr>
          <p:cNvPr id="1143" name="Google Shape;1143;p85"/>
          <p:cNvSpPr txBox="1"/>
          <p:nvPr>
            <p:ph type="body" idx="1"/>
          </p:nvPr>
        </p:nvSpPr>
        <p:spPr>
          <a:xfrm>
            <a:off x="6902067" y="2530081"/>
            <a:ext cx="6387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accent5"/>
                </a:solidFill>
              </a:rPr>
              <a:t>4 cm</a:t>
            </a:r>
            <a:endParaRPr sz="1700">
              <a:solidFill>
                <a:schemeClr val="accent5"/>
              </a:solidFill>
            </a:endParaRPr>
          </a:p>
        </p:txBody>
      </p:sp>
      <p:sp>
        <p:nvSpPr>
          <p:cNvPr id="1144" name="Google Shape;1144;p85"/>
          <p:cNvSpPr txBox="1"/>
          <p:nvPr>
            <p:ph type="body" idx="1"/>
          </p:nvPr>
        </p:nvSpPr>
        <p:spPr>
          <a:xfrm>
            <a:off x="6005182" y="2515997"/>
            <a:ext cx="6387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accent5"/>
                </a:solidFill>
              </a:rPr>
              <a:t>12 cm</a:t>
            </a:r>
            <a:endParaRPr sz="1700">
              <a:solidFill>
                <a:schemeClr val="accent5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48" name="Shape 1148"/>
        <p:cNvGrpSpPr/>
        <p:nvPr/>
      </p:nvGrpSpPr>
      <p:grpSpPr>
        <a:xfrm>
          <a:off x="0" y="0"/>
          <a:ext cx="0" cy="0"/>
        </a:xfrm>
      </p:grpSpPr>
      <p:sp>
        <p:nvSpPr>
          <p:cNvPr id="1149" name="Google Shape;1149;p86"/>
          <p:cNvSpPr/>
          <p:nvPr/>
        </p:nvSpPr>
        <p:spPr>
          <a:xfrm>
            <a:off x="1502069" y="1933744"/>
            <a:ext cx="1947000" cy="1947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86"/>
          <p:cNvSpPr/>
          <p:nvPr/>
        </p:nvSpPr>
        <p:spPr>
          <a:xfrm>
            <a:off x="5485627" y="2254476"/>
            <a:ext cx="1400700" cy="14007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86"/>
          <p:cNvSpPr txBox="1"/>
          <p:nvPr>
            <p:ph type="body" idx="1"/>
          </p:nvPr>
        </p:nvSpPr>
        <p:spPr>
          <a:xfrm>
            <a:off x="324000" y="759300"/>
            <a:ext cx="8496000" cy="77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Jacob wants to redraw the circles below so that they touch exactly once. How far apart should he draw the two centre points?</a:t>
            </a:r>
            <a:endParaRPr sz="2000"/>
          </a:p>
        </p:txBody>
      </p:sp>
      <p:sp>
        <p:nvSpPr>
          <p:cNvPr id="1152" name="Google Shape;115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circles that intersect exactly once</a:t>
            </a:r>
            <a:endParaRPr sz="2200"/>
          </a:p>
        </p:txBody>
      </p:sp>
      <p:grpSp>
        <p:nvGrpSpPr>
          <p:cNvPr id="1153" name="Google Shape;1153;p86"/>
          <p:cNvGrpSpPr/>
          <p:nvPr/>
        </p:nvGrpSpPr>
        <p:grpSpPr>
          <a:xfrm>
            <a:off x="6140246" y="2901053"/>
            <a:ext cx="91423" cy="107502"/>
            <a:chOff x="1514525" y="2733525"/>
            <a:chExt cx="76800" cy="90300"/>
          </a:xfrm>
        </p:grpSpPr>
        <p:cxnSp>
          <p:nvCxnSpPr>
            <p:cNvPr id="1154" name="Google Shape;1154;p86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5" name="Google Shape;1155;p86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56" name="Google Shape;1156;p86"/>
          <p:cNvGrpSpPr/>
          <p:nvPr/>
        </p:nvGrpSpPr>
        <p:grpSpPr>
          <a:xfrm>
            <a:off x="2421339" y="2843630"/>
            <a:ext cx="108349" cy="127404"/>
            <a:chOff x="1514525" y="2733525"/>
            <a:chExt cx="76800" cy="90300"/>
          </a:xfrm>
        </p:grpSpPr>
        <p:cxnSp>
          <p:nvCxnSpPr>
            <p:cNvPr id="1157" name="Google Shape;1157;p86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8" name="Google Shape;1158;p86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159" name="Google Shape;1159;p86"/>
          <p:cNvCxnSpPr>
            <a:endCxn id="1149" idx="6"/>
          </p:cNvCxnSpPr>
          <p:nvPr/>
        </p:nvCxnSpPr>
        <p:spPr>
          <a:xfrm>
            <a:off x="2496569" y="2900644"/>
            <a:ext cx="952500" cy="66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60" name="Google Shape;1160;p86"/>
          <p:cNvCxnSpPr/>
          <p:nvPr/>
        </p:nvCxnSpPr>
        <p:spPr>
          <a:xfrm rot="10800000" flipH="1">
            <a:off x="6186934" y="2254476"/>
            <a:ext cx="17100" cy="7167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61" name="Google Shape;1161;p86"/>
          <p:cNvSpPr txBox="1"/>
          <p:nvPr>
            <p:ph type="body" idx="1"/>
          </p:nvPr>
        </p:nvSpPr>
        <p:spPr>
          <a:xfrm>
            <a:off x="6222639" y="2516517"/>
            <a:ext cx="6387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accent5"/>
                </a:solidFill>
              </a:rPr>
              <a:t>4 cm</a:t>
            </a:r>
            <a:endParaRPr sz="1700">
              <a:solidFill>
                <a:schemeClr val="accent5"/>
              </a:solidFill>
            </a:endParaRPr>
          </a:p>
        </p:txBody>
      </p:sp>
      <p:sp>
        <p:nvSpPr>
          <p:cNvPr id="1162" name="Google Shape;1162;p86"/>
          <p:cNvSpPr txBox="1"/>
          <p:nvPr>
            <p:ph type="body" idx="1"/>
          </p:nvPr>
        </p:nvSpPr>
        <p:spPr>
          <a:xfrm>
            <a:off x="2523095" y="2315024"/>
            <a:ext cx="6387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accent5"/>
                </a:solidFill>
              </a:rPr>
              <a:t>6 cm</a:t>
            </a:r>
            <a:endParaRPr sz="1700">
              <a:solidFill>
                <a:schemeClr val="accent5"/>
              </a:solidFill>
            </a:endParaRPr>
          </a:p>
        </p:txBody>
      </p:sp>
      <p:pic>
        <p:nvPicPr>
          <p:cNvPr id="1163" name="Google Shape;1163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4002" y="4132953"/>
            <a:ext cx="558101" cy="687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4" name="Google Shape;1164;p86"/>
          <p:cNvCxnSpPr/>
          <p:nvPr/>
        </p:nvCxnSpPr>
        <p:spPr>
          <a:xfrm rot="10800000" flipH="1">
            <a:off x="2468369" y="1933744"/>
            <a:ext cx="7200" cy="9675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65" name="Google Shape;1165;p86"/>
          <p:cNvSpPr txBox="1"/>
          <p:nvPr>
            <p:ph type="body" idx="1"/>
          </p:nvPr>
        </p:nvSpPr>
        <p:spPr>
          <a:xfrm>
            <a:off x="2693552" y="2633367"/>
            <a:ext cx="6387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accent5"/>
                </a:solidFill>
              </a:rPr>
              <a:t>6 cm</a:t>
            </a:r>
            <a:endParaRPr sz="1700">
              <a:solidFill>
                <a:schemeClr val="accent5"/>
              </a:solidFill>
            </a:endParaRPr>
          </a:p>
        </p:txBody>
      </p:sp>
      <p:cxnSp>
        <p:nvCxnSpPr>
          <p:cNvPr id="1166" name="Google Shape;1166;p86"/>
          <p:cNvCxnSpPr>
            <a:endCxn id="1150" idx="2"/>
          </p:cNvCxnSpPr>
          <p:nvPr/>
        </p:nvCxnSpPr>
        <p:spPr>
          <a:xfrm flipH="1">
            <a:off x="5485627" y="2945826"/>
            <a:ext cx="721500" cy="90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67" name="Google Shape;1167;p86"/>
          <p:cNvSpPr txBox="1"/>
          <p:nvPr>
            <p:ph type="body" idx="1"/>
          </p:nvPr>
        </p:nvSpPr>
        <p:spPr>
          <a:xfrm>
            <a:off x="5577467" y="2655375"/>
            <a:ext cx="6387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accent5"/>
                </a:solidFill>
              </a:rPr>
              <a:t>4 cm</a:t>
            </a:r>
            <a:endParaRPr sz="1700">
              <a:solidFill>
                <a:schemeClr val="accent5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71" name="Shape 1171"/>
        <p:cNvGrpSpPr/>
        <p:nvPr/>
      </p:nvGrpSpPr>
      <p:grpSpPr>
        <a:xfrm>
          <a:off x="0" y="0"/>
          <a:ext cx="0" cy="0"/>
        </a:xfrm>
      </p:grpSpPr>
      <p:sp>
        <p:nvSpPr>
          <p:cNvPr id="1172" name="Google Shape;1172;p87"/>
          <p:cNvSpPr/>
          <p:nvPr/>
        </p:nvSpPr>
        <p:spPr>
          <a:xfrm>
            <a:off x="1425869" y="1933744"/>
            <a:ext cx="1947000" cy="1947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87"/>
          <p:cNvSpPr/>
          <p:nvPr/>
        </p:nvSpPr>
        <p:spPr>
          <a:xfrm>
            <a:off x="3405656" y="2218362"/>
            <a:ext cx="1400700" cy="14007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87"/>
          <p:cNvSpPr txBox="1"/>
          <p:nvPr>
            <p:ph type="body" idx="1"/>
          </p:nvPr>
        </p:nvSpPr>
        <p:spPr>
          <a:xfrm>
            <a:off x="324000" y="759300"/>
            <a:ext cx="8496000" cy="77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Jacob wants to redraw the circles below so that they touch exactly once. How far apart should he draw the two centre points?</a:t>
            </a:r>
            <a:endParaRPr sz="2000"/>
          </a:p>
        </p:txBody>
      </p:sp>
      <p:sp>
        <p:nvSpPr>
          <p:cNvPr id="1175" name="Google Shape;1175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circles that intersect exactly once</a:t>
            </a:r>
            <a:endParaRPr sz="2200"/>
          </a:p>
        </p:txBody>
      </p:sp>
      <p:grpSp>
        <p:nvGrpSpPr>
          <p:cNvPr id="1176" name="Google Shape;1176;p87"/>
          <p:cNvGrpSpPr/>
          <p:nvPr/>
        </p:nvGrpSpPr>
        <p:grpSpPr>
          <a:xfrm>
            <a:off x="4060275" y="2864939"/>
            <a:ext cx="91423" cy="107502"/>
            <a:chOff x="1514525" y="2733525"/>
            <a:chExt cx="76800" cy="90300"/>
          </a:xfrm>
        </p:grpSpPr>
        <p:cxnSp>
          <p:nvCxnSpPr>
            <p:cNvPr id="1177" name="Google Shape;1177;p87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8" name="Google Shape;1178;p87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79" name="Google Shape;1179;p87"/>
          <p:cNvGrpSpPr/>
          <p:nvPr/>
        </p:nvGrpSpPr>
        <p:grpSpPr>
          <a:xfrm>
            <a:off x="2345139" y="2843630"/>
            <a:ext cx="108349" cy="127404"/>
            <a:chOff x="1514525" y="2733525"/>
            <a:chExt cx="76800" cy="90300"/>
          </a:xfrm>
        </p:grpSpPr>
        <p:cxnSp>
          <p:nvCxnSpPr>
            <p:cNvPr id="1180" name="Google Shape;1180;p87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1" name="Google Shape;1181;p87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182" name="Google Shape;1182;p87"/>
          <p:cNvCxnSpPr>
            <a:endCxn id="1172" idx="6"/>
          </p:cNvCxnSpPr>
          <p:nvPr/>
        </p:nvCxnSpPr>
        <p:spPr>
          <a:xfrm>
            <a:off x="2420369" y="2900644"/>
            <a:ext cx="952500" cy="66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1183" name="Google Shape;1183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4002" y="4132953"/>
            <a:ext cx="558101" cy="68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87"/>
          <p:cNvSpPr txBox="1"/>
          <p:nvPr>
            <p:ph type="body" idx="1"/>
          </p:nvPr>
        </p:nvSpPr>
        <p:spPr>
          <a:xfrm>
            <a:off x="2617352" y="2633367"/>
            <a:ext cx="6387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accent5"/>
                </a:solidFill>
              </a:rPr>
              <a:t>6 cm</a:t>
            </a:r>
            <a:endParaRPr sz="1700">
              <a:solidFill>
                <a:schemeClr val="accent5"/>
              </a:solidFill>
            </a:endParaRPr>
          </a:p>
        </p:txBody>
      </p:sp>
      <p:cxnSp>
        <p:nvCxnSpPr>
          <p:cNvPr id="1185" name="Google Shape;1185;p87"/>
          <p:cNvCxnSpPr>
            <a:endCxn id="1173" idx="2"/>
          </p:cNvCxnSpPr>
          <p:nvPr/>
        </p:nvCxnSpPr>
        <p:spPr>
          <a:xfrm flipH="1">
            <a:off x="3405656" y="2909712"/>
            <a:ext cx="721500" cy="90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86" name="Google Shape;1186;p87"/>
          <p:cNvSpPr txBox="1"/>
          <p:nvPr>
            <p:ph type="body" idx="1"/>
          </p:nvPr>
        </p:nvSpPr>
        <p:spPr>
          <a:xfrm>
            <a:off x="3497496" y="2619261"/>
            <a:ext cx="6387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accent5"/>
                </a:solidFill>
              </a:rPr>
              <a:t>4 cm</a:t>
            </a:r>
            <a:endParaRPr sz="1700">
              <a:solidFill>
                <a:schemeClr val="accent5"/>
              </a:solidFill>
            </a:endParaRPr>
          </a:p>
        </p:txBody>
      </p:sp>
      <p:cxnSp>
        <p:nvCxnSpPr>
          <p:cNvPr id="1187" name="Google Shape;1187;p87"/>
          <p:cNvCxnSpPr/>
          <p:nvPr/>
        </p:nvCxnSpPr>
        <p:spPr>
          <a:xfrm>
            <a:off x="2420369" y="2900644"/>
            <a:ext cx="1679100" cy="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88" name="Google Shape;1188;p87"/>
          <p:cNvSpPr txBox="1"/>
          <p:nvPr>
            <p:ph type="body" idx="1"/>
          </p:nvPr>
        </p:nvSpPr>
        <p:spPr>
          <a:xfrm>
            <a:off x="2769752" y="2633367"/>
            <a:ext cx="6387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accent5"/>
                </a:solidFill>
              </a:rPr>
              <a:t>10 cm</a:t>
            </a:r>
            <a:endParaRPr sz="1700">
              <a:solidFill>
                <a:schemeClr val="accent5"/>
              </a:solidFill>
            </a:endParaRPr>
          </a:p>
        </p:txBody>
      </p:sp>
      <p:sp>
        <p:nvSpPr>
          <p:cNvPr id="1189" name="Google Shape;1189;p87"/>
          <p:cNvSpPr txBox="1"/>
          <p:nvPr>
            <p:ph type="body" idx="1"/>
          </p:nvPr>
        </p:nvSpPr>
        <p:spPr>
          <a:xfrm>
            <a:off x="5880650" y="2342250"/>
            <a:ext cx="1611000" cy="39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 + 6 = 10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0" name="Google Shape;1190;p87"/>
          <p:cNvSpPr txBox="1"/>
          <p:nvPr>
            <p:ph type="body" idx="1"/>
          </p:nvPr>
        </p:nvSpPr>
        <p:spPr>
          <a:xfrm>
            <a:off x="6261650" y="2875650"/>
            <a:ext cx="340200" cy="39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or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4" name="Shape 1194"/>
        <p:cNvGrpSpPr/>
        <p:nvPr/>
      </p:nvGrpSpPr>
      <p:grpSpPr>
        <a:xfrm>
          <a:off x="0" y="0"/>
          <a:ext cx="0" cy="0"/>
        </a:xfrm>
      </p:grpSpPr>
      <p:sp>
        <p:nvSpPr>
          <p:cNvPr id="1195" name="Google Shape;1195;p88"/>
          <p:cNvSpPr/>
          <p:nvPr/>
        </p:nvSpPr>
        <p:spPr>
          <a:xfrm>
            <a:off x="1425869" y="1933744"/>
            <a:ext cx="1947000" cy="1947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88"/>
          <p:cNvSpPr/>
          <p:nvPr/>
        </p:nvSpPr>
        <p:spPr>
          <a:xfrm>
            <a:off x="1957856" y="2218362"/>
            <a:ext cx="1400700" cy="14007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88"/>
          <p:cNvSpPr txBox="1"/>
          <p:nvPr>
            <p:ph type="body" idx="1"/>
          </p:nvPr>
        </p:nvSpPr>
        <p:spPr>
          <a:xfrm>
            <a:off x="324000" y="759300"/>
            <a:ext cx="8496000" cy="77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Jacob wants to redraw the circles below so that they touch exactly once. How far apart should he draw the two centre points?</a:t>
            </a:r>
            <a:endParaRPr sz="2000"/>
          </a:p>
        </p:txBody>
      </p:sp>
      <p:sp>
        <p:nvSpPr>
          <p:cNvPr id="1198" name="Google Shape;119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circles that intersect exactly once</a:t>
            </a:r>
            <a:endParaRPr sz="2200"/>
          </a:p>
        </p:txBody>
      </p:sp>
      <p:grpSp>
        <p:nvGrpSpPr>
          <p:cNvPr id="1199" name="Google Shape;1199;p88"/>
          <p:cNvGrpSpPr/>
          <p:nvPr/>
        </p:nvGrpSpPr>
        <p:grpSpPr>
          <a:xfrm>
            <a:off x="2612475" y="2864939"/>
            <a:ext cx="91423" cy="107502"/>
            <a:chOff x="1514525" y="2733525"/>
            <a:chExt cx="76800" cy="90300"/>
          </a:xfrm>
        </p:grpSpPr>
        <p:cxnSp>
          <p:nvCxnSpPr>
            <p:cNvPr id="1200" name="Google Shape;1200;p88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1" name="Google Shape;1201;p88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02" name="Google Shape;1202;p88"/>
          <p:cNvGrpSpPr/>
          <p:nvPr/>
        </p:nvGrpSpPr>
        <p:grpSpPr>
          <a:xfrm>
            <a:off x="2345139" y="2843630"/>
            <a:ext cx="108349" cy="127404"/>
            <a:chOff x="1514525" y="2733525"/>
            <a:chExt cx="76800" cy="90300"/>
          </a:xfrm>
        </p:grpSpPr>
        <p:cxnSp>
          <p:nvCxnSpPr>
            <p:cNvPr id="1203" name="Google Shape;1203;p88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4" name="Google Shape;1204;p88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205" name="Google Shape;1205;p88"/>
          <p:cNvCxnSpPr>
            <a:endCxn id="1195" idx="6"/>
          </p:cNvCxnSpPr>
          <p:nvPr/>
        </p:nvCxnSpPr>
        <p:spPr>
          <a:xfrm>
            <a:off x="2420369" y="2900644"/>
            <a:ext cx="952500" cy="66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1206" name="Google Shape;1206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4002" y="4132953"/>
            <a:ext cx="558101" cy="68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88"/>
          <p:cNvSpPr txBox="1"/>
          <p:nvPr>
            <p:ph type="body" idx="1"/>
          </p:nvPr>
        </p:nvSpPr>
        <p:spPr>
          <a:xfrm>
            <a:off x="2617352" y="2633367"/>
            <a:ext cx="6387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accent5"/>
                </a:solidFill>
              </a:rPr>
              <a:t>6 cm</a:t>
            </a:r>
            <a:endParaRPr sz="1700">
              <a:solidFill>
                <a:schemeClr val="accent5"/>
              </a:solidFill>
            </a:endParaRPr>
          </a:p>
        </p:txBody>
      </p:sp>
      <p:cxnSp>
        <p:nvCxnSpPr>
          <p:cNvPr id="1208" name="Google Shape;1208;p88"/>
          <p:cNvCxnSpPr/>
          <p:nvPr/>
        </p:nvCxnSpPr>
        <p:spPr>
          <a:xfrm flipH="1">
            <a:off x="2643656" y="2909712"/>
            <a:ext cx="721500" cy="90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09" name="Google Shape;1209;p88"/>
          <p:cNvSpPr txBox="1"/>
          <p:nvPr>
            <p:ph type="body" idx="1"/>
          </p:nvPr>
        </p:nvSpPr>
        <p:spPr>
          <a:xfrm>
            <a:off x="2735496" y="2619261"/>
            <a:ext cx="6387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accent5"/>
                </a:solidFill>
              </a:rPr>
              <a:t>4 cm</a:t>
            </a:r>
            <a:endParaRPr sz="1700">
              <a:solidFill>
                <a:schemeClr val="accent5"/>
              </a:solidFill>
            </a:endParaRPr>
          </a:p>
        </p:txBody>
      </p:sp>
      <p:cxnSp>
        <p:nvCxnSpPr>
          <p:cNvPr id="1210" name="Google Shape;1210;p88"/>
          <p:cNvCxnSpPr/>
          <p:nvPr/>
        </p:nvCxnSpPr>
        <p:spPr>
          <a:xfrm>
            <a:off x="2393244" y="2903944"/>
            <a:ext cx="312000" cy="189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11" name="Google Shape;1211;p88"/>
          <p:cNvSpPr txBox="1"/>
          <p:nvPr>
            <p:ph type="body" idx="1"/>
          </p:nvPr>
        </p:nvSpPr>
        <p:spPr>
          <a:xfrm>
            <a:off x="2248502" y="2999067"/>
            <a:ext cx="6387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accent5"/>
                </a:solidFill>
              </a:rPr>
              <a:t>2 cm</a:t>
            </a:r>
            <a:endParaRPr sz="1700">
              <a:solidFill>
                <a:schemeClr val="accent5"/>
              </a:solidFill>
            </a:endParaRPr>
          </a:p>
        </p:txBody>
      </p:sp>
      <p:sp>
        <p:nvSpPr>
          <p:cNvPr id="1212" name="Google Shape;1212;p88"/>
          <p:cNvSpPr txBox="1"/>
          <p:nvPr>
            <p:ph type="body" idx="1"/>
          </p:nvPr>
        </p:nvSpPr>
        <p:spPr>
          <a:xfrm>
            <a:off x="5880650" y="2342250"/>
            <a:ext cx="1611000" cy="39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 + 6 = 10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3" name="Google Shape;1213;p88"/>
          <p:cNvSpPr txBox="1"/>
          <p:nvPr>
            <p:ph type="body" idx="1"/>
          </p:nvPr>
        </p:nvSpPr>
        <p:spPr>
          <a:xfrm>
            <a:off x="6261650" y="2875650"/>
            <a:ext cx="340200" cy="39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or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4" name="Google Shape;1214;p88"/>
          <p:cNvSpPr txBox="1"/>
          <p:nvPr>
            <p:ph type="body" idx="1"/>
          </p:nvPr>
        </p:nvSpPr>
        <p:spPr>
          <a:xfrm>
            <a:off x="5880650" y="3409050"/>
            <a:ext cx="1611000" cy="39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6 − 4 = 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18" name="Shape 1218"/>
        <p:cNvGrpSpPr/>
        <p:nvPr/>
      </p:nvGrpSpPr>
      <p:grpSpPr>
        <a:xfrm>
          <a:off x="0" y="0"/>
          <a:ext cx="0" cy="0"/>
        </a:xfrm>
      </p:grpSpPr>
      <p:sp>
        <p:nvSpPr>
          <p:cNvPr id="1219" name="Google Shape;1219;p89"/>
          <p:cNvSpPr txBox="1"/>
          <p:nvPr>
            <p:ph type="body" idx="1"/>
          </p:nvPr>
        </p:nvSpPr>
        <p:spPr>
          <a:xfrm>
            <a:off x="324000" y="759300"/>
            <a:ext cx="5776200" cy="109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Aisha draws two points 9 cm apart. She wants to draw a circle around each point, with them touching each other exactly once. </a:t>
            </a:r>
            <a:endParaRPr sz="2000"/>
          </a:p>
        </p:txBody>
      </p:sp>
      <p:sp>
        <p:nvSpPr>
          <p:cNvPr id="1220" name="Google Shape;122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circles that intersect exactly once</a:t>
            </a:r>
            <a:endParaRPr sz="2200"/>
          </a:p>
        </p:txBody>
      </p:sp>
      <p:grpSp>
        <p:nvGrpSpPr>
          <p:cNvPr id="1221" name="Google Shape;1221;p89"/>
          <p:cNvGrpSpPr/>
          <p:nvPr/>
        </p:nvGrpSpPr>
        <p:grpSpPr>
          <a:xfrm>
            <a:off x="8234278" y="2247100"/>
            <a:ext cx="79434" cy="93406"/>
            <a:chOff x="1514525" y="2733525"/>
            <a:chExt cx="76800" cy="90300"/>
          </a:xfrm>
        </p:grpSpPr>
        <p:cxnSp>
          <p:nvCxnSpPr>
            <p:cNvPr id="1222" name="Google Shape;1222;p89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3" name="Google Shape;1223;p89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24" name="Google Shape;1224;p89"/>
          <p:cNvGrpSpPr/>
          <p:nvPr/>
        </p:nvGrpSpPr>
        <p:grpSpPr>
          <a:xfrm>
            <a:off x="7217641" y="2517723"/>
            <a:ext cx="94149" cy="110699"/>
            <a:chOff x="1514525" y="2733525"/>
            <a:chExt cx="76800" cy="90300"/>
          </a:xfrm>
        </p:grpSpPr>
        <p:cxnSp>
          <p:nvCxnSpPr>
            <p:cNvPr id="1225" name="Google Shape;1225;p89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6" name="Google Shape;1226;p89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227" name="Google Shape;1227;p89"/>
          <p:cNvCxnSpPr/>
          <p:nvPr/>
        </p:nvCxnSpPr>
        <p:spPr>
          <a:xfrm rot="10800000" flipH="1">
            <a:off x="7272336" y="2290095"/>
            <a:ext cx="1004100" cy="2946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28" name="Google Shape;1228;p89"/>
          <p:cNvSpPr txBox="1"/>
          <p:nvPr>
            <p:ph type="body" idx="1"/>
          </p:nvPr>
        </p:nvSpPr>
        <p:spPr>
          <a:xfrm>
            <a:off x="7337569" y="2097365"/>
            <a:ext cx="721200" cy="25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accent5"/>
                </a:solidFill>
              </a:rPr>
              <a:t>9 cm</a:t>
            </a:r>
            <a:endParaRPr sz="1700">
              <a:solidFill>
                <a:schemeClr val="accent5"/>
              </a:solidFill>
            </a:endParaRPr>
          </a:p>
        </p:txBody>
      </p:sp>
      <p:sp>
        <p:nvSpPr>
          <p:cNvPr id="1229" name="Google Shape;1229;p89"/>
          <p:cNvSpPr txBox="1"/>
          <p:nvPr>
            <p:ph type="body" idx="1"/>
          </p:nvPr>
        </p:nvSpPr>
        <p:spPr>
          <a:xfrm>
            <a:off x="346800" y="4027400"/>
            <a:ext cx="7363200" cy="39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Any pair of positive numbers that sum to 9 (e.g. 6 and 3).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0" name="Google Shape;1230;p89"/>
          <p:cNvSpPr txBox="1"/>
          <p:nvPr/>
        </p:nvSpPr>
        <p:spPr>
          <a:xfrm>
            <a:off x="228600" y="1981200"/>
            <a:ext cx="5709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radius could she use for each circle?</a:t>
            </a:r>
            <a:endParaRPr/>
          </a:p>
        </p:txBody>
      </p:sp>
      <p:pic>
        <p:nvPicPr>
          <p:cNvPr id="1231" name="Google Shape;1231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395800" y="810002"/>
            <a:ext cx="435850" cy="822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2" name="Google Shape;1232;p89"/>
          <p:cNvSpPr txBox="1"/>
          <p:nvPr>
            <p:ph type="body" idx="1"/>
          </p:nvPr>
        </p:nvSpPr>
        <p:spPr>
          <a:xfrm>
            <a:off x="346800" y="4475575"/>
            <a:ext cx="7746300" cy="39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Any pair of positive numbers with a difference of 9 (e.g. 12 and 3).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3" name="Google Shape;1233;p89"/>
          <p:cNvSpPr/>
          <p:nvPr/>
        </p:nvSpPr>
        <p:spPr>
          <a:xfrm>
            <a:off x="5810200" y="1118500"/>
            <a:ext cx="2908800" cy="29088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89"/>
          <p:cNvSpPr/>
          <p:nvPr/>
        </p:nvSpPr>
        <p:spPr>
          <a:xfrm>
            <a:off x="6645350" y="1953650"/>
            <a:ext cx="1238400" cy="12384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89"/>
          <p:cNvSpPr/>
          <p:nvPr/>
        </p:nvSpPr>
        <p:spPr>
          <a:xfrm>
            <a:off x="7850393" y="1883580"/>
            <a:ext cx="822900" cy="8229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9" name="Shape 1239"/>
        <p:cNvGrpSpPr/>
        <p:nvPr/>
      </p:nvGrpSpPr>
      <p:grpSpPr>
        <a:xfrm>
          <a:off x="0" y="0"/>
          <a:ext cx="0" cy="0"/>
        </a:xfrm>
      </p:grpSpPr>
      <p:sp>
        <p:nvSpPr>
          <p:cNvPr id="1240" name="Google Shape;1240;p90"/>
          <p:cNvSpPr txBox="1"/>
          <p:nvPr>
            <p:ph type="title"/>
          </p:nvPr>
        </p:nvSpPr>
        <p:spPr>
          <a:xfrm>
            <a:off x="324000" y="748775"/>
            <a:ext cx="8496000" cy="6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The two centre points in each diagram are 10 cm apart. All lengths are given in cm. In which diagram could the measurements be correct? </a:t>
            </a:r>
            <a:endParaRPr sz="1900"/>
          </a:p>
        </p:txBody>
      </p:sp>
      <p:sp>
        <p:nvSpPr>
          <p:cNvPr id="1241" name="Google Shape;1241;p9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Drawing circles that intersect exactly once</a:t>
            </a:r>
            <a:endParaRPr/>
          </a:p>
        </p:txBody>
      </p:sp>
      <p:grpSp>
        <p:nvGrpSpPr>
          <p:cNvPr id="1242" name="Google Shape;1242;p90"/>
          <p:cNvGrpSpPr/>
          <p:nvPr/>
        </p:nvGrpSpPr>
        <p:grpSpPr>
          <a:xfrm>
            <a:off x="1150234" y="1636478"/>
            <a:ext cx="999820" cy="999820"/>
            <a:chOff x="2988731" y="2400762"/>
            <a:chExt cx="1400700" cy="1400700"/>
          </a:xfrm>
        </p:grpSpPr>
        <p:sp>
          <p:nvSpPr>
            <p:cNvPr id="1243" name="Google Shape;1243;p90"/>
            <p:cNvSpPr/>
            <p:nvPr/>
          </p:nvSpPr>
          <p:spPr>
            <a:xfrm>
              <a:off x="2988731" y="2400762"/>
              <a:ext cx="1400700" cy="1400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44" name="Google Shape;1244;p90"/>
            <p:cNvGrpSpPr/>
            <p:nvPr/>
          </p:nvGrpSpPr>
          <p:grpSpPr>
            <a:xfrm>
              <a:off x="3643350" y="3047339"/>
              <a:ext cx="91423" cy="107502"/>
              <a:chOff x="1514525" y="2733525"/>
              <a:chExt cx="76800" cy="90300"/>
            </a:xfrm>
          </p:grpSpPr>
          <p:cxnSp>
            <p:nvCxnSpPr>
              <p:cNvPr id="1245" name="Google Shape;1245;p90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6" name="Google Shape;1246;p90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47" name="Google Shape;1247;p90"/>
          <p:cNvGrpSpPr/>
          <p:nvPr/>
        </p:nvGrpSpPr>
        <p:grpSpPr>
          <a:xfrm>
            <a:off x="940660" y="2630667"/>
            <a:ext cx="1414106" cy="1414106"/>
            <a:chOff x="1008944" y="2116144"/>
            <a:chExt cx="1947000" cy="1947000"/>
          </a:xfrm>
        </p:grpSpPr>
        <p:sp>
          <p:nvSpPr>
            <p:cNvPr id="1248" name="Google Shape;1248;p90"/>
            <p:cNvSpPr/>
            <p:nvPr/>
          </p:nvSpPr>
          <p:spPr>
            <a:xfrm>
              <a:off x="1008944" y="2116144"/>
              <a:ext cx="1947000" cy="1947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49" name="Google Shape;1249;p90"/>
            <p:cNvGrpSpPr/>
            <p:nvPr/>
          </p:nvGrpSpPr>
          <p:grpSpPr>
            <a:xfrm>
              <a:off x="1928214" y="3026030"/>
              <a:ext cx="108349" cy="127404"/>
              <a:chOff x="1514525" y="2733525"/>
              <a:chExt cx="76800" cy="90300"/>
            </a:xfrm>
          </p:grpSpPr>
          <p:cxnSp>
            <p:nvCxnSpPr>
              <p:cNvPr id="1250" name="Google Shape;1250;p90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1" name="Google Shape;1251;p90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1252" name="Google Shape;1252;p90"/>
          <p:cNvCxnSpPr>
            <a:endCxn id="1248" idx="0"/>
          </p:cNvCxnSpPr>
          <p:nvPr/>
        </p:nvCxnSpPr>
        <p:spPr>
          <a:xfrm rot="10800000" flipH="1">
            <a:off x="1645013" y="2630667"/>
            <a:ext cx="2700" cy="7038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53" name="Google Shape;1253;p90"/>
          <p:cNvSpPr txBox="1"/>
          <p:nvPr>
            <p:ph type="body" idx="4294967295"/>
          </p:nvPr>
        </p:nvSpPr>
        <p:spPr>
          <a:xfrm>
            <a:off x="1740735" y="2219498"/>
            <a:ext cx="3534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4 </a:t>
            </a:r>
            <a:endParaRPr sz="2000">
              <a:solidFill>
                <a:schemeClr val="accent5"/>
              </a:solidFill>
            </a:endParaRPr>
          </a:p>
        </p:txBody>
      </p:sp>
      <p:cxnSp>
        <p:nvCxnSpPr>
          <p:cNvPr id="1254" name="Google Shape;1254;p90"/>
          <p:cNvCxnSpPr/>
          <p:nvPr/>
        </p:nvCxnSpPr>
        <p:spPr>
          <a:xfrm rot="10800000" flipH="1">
            <a:off x="1651017" y="2165369"/>
            <a:ext cx="0" cy="4653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255" name="Google Shape;1255;p90"/>
          <p:cNvGrpSpPr/>
          <p:nvPr/>
        </p:nvGrpSpPr>
        <p:grpSpPr>
          <a:xfrm>
            <a:off x="4072855" y="1636478"/>
            <a:ext cx="999820" cy="999820"/>
            <a:chOff x="2988731" y="2400762"/>
            <a:chExt cx="1400700" cy="1400700"/>
          </a:xfrm>
        </p:grpSpPr>
        <p:sp>
          <p:nvSpPr>
            <p:cNvPr id="1256" name="Google Shape;1256;p90"/>
            <p:cNvSpPr/>
            <p:nvPr/>
          </p:nvSpPr>
          <p:spPr>
            <a:xfrm>
              <a:off x="2988731" y="2400762"/>
              <a:ext cx="1400700" cy="1400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57" name="Google Shape;1257;p90"/>
            <p:cNvGrpSpPr/>
            <p:nvPr/>
          </p:nvGrpSpPr>
          <p:grpSpPr>
            <a:xfrm>
              <a:off x="3643350" y="3047339"/>
              <a:ext cx="91423" cy="107502"/>
              <a:chOff x="1514525" y="2733525"/>
              <a:chExt cx="76800" cy="90300"/>
            </a:xfrm>
          </p:grpSpPr>
          <p:cxnSp>
            <p:nvCxnSpPr>
              <p:cNvPr id="1258" name="Google Shape;1258;p90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9" name="Google Shape;1259;p90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60" name="Google Shape;1260;p90"/>
          <p:cNvGrpSpPr/>
          <p:nvPr/>
        </p:nvGrpSpPr>
        <p:grpSpPr>
          <a:xfrm>
            <a:off x="3863281" y="2630667"/>
            <a:ext cx="1414106" cy="1414106"/>
            <a:chOff x="1008944" y="2116144"/>
            <a:chExt cx="1947000" cy="1947000"/>
          </a:xfrm>
        </p:grpSpPr>
        <p:sp>
          <p:nvSpPr>
            <p:cNvPr id="1261" name="Google Shape;1261;p90"/>
            <p:cNvSpPr/>
            <p:nvPr/>
          </p:nvSpPr>
          <p:spPr>
            <a:xfrm>
              <a:off x="1008944" y="2116144"/>
              <a:ext cx="1947000" cy="1947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62" name="Google Shape;1262;p90"/>
            <p:cNvGrpSpPr/>
            <p:nvPr/>
          </p:nvGrpSpPr>
          <p:grpSpPr>
            <a:xfrm>
              <a:off x="1928214" y="3026030"/>
              <a:ext cx="108349" cy="127404"/>
              <a:chOff x="1514525" y="2733525"/>
              <a:chExt cx="76800" cy="90300"/>
            </a:xfrm>
          </p:grpSpPr>
          <p:cxnSp>
            <p:nvCxnSpPr>
              <p:cNvPr id="1263" name="Google Shape;1263;p90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4" name="Google Shape;1264;p90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65" name="Google Shape;1265;p90"/>
          <p:cNvGrpSpPr/>
          <p:nvPr/>
        </p:nvGrpSpPr>
        <p:grpSpPr>
          <a:xfrm>
            <a:off x="7037900" y="1636478"/>
            <a:ext cx="999820" cy="999820"/>
            <a:chOff x="2988731" y="2400762"/>
            <a:chExt cx="1400700" cy="1400700"/>
          </a:xfrm>
        </p:grpSpPr>
        <p:sp>
          <p:nvSpPr>
            <p:cNvPr id="1266" name="Google Shape;1266;p90"/>
            <p:cNvSpPr/>
            <p:nvPr/>
          </p:nvSpPr>
          <p:spPr>
            <a:xfrm>
              <a:off x="2988731" y="2400762"/>
              <a:ext cx="1400700" cy="1400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67" name="Google Shape;1267;p90"/>
            <p:cNvGrpSpPr/>
            <p:nvPr/>
          </p:nvGrpSpPr>
          <p:grpSpPr>
            <a:xfrm>
              <a:off x="3643350" y="3047339"/>
              <a:ext cx="91423" cy="107502"/>
              <a:chOff x="1514525" y="2733525"/>
              <a:chExt cx="76800" cy="90300"/>
            </a:xfrm>
          </p:grpSpPr>
          <p:cxnSp>
            <p:nvCxnSpPr>
              <p:cNvPr id="1268" name="Google Shape;1268;p90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9" name="Google Shape;1269;p90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70" name="Google Shape;1270;p90"/>
          <p:cNvGrpSpPr/>
          <p:nvPr/>
        </p:nvGrpSpPr>
        <p:grpSpPr>
          <a:xfrm>
            <a:off x="6828326" y="2630667"/>
            <a:ext cx="1414106" cy="1414106"/>
            <a:chOff x="1008944" y="2116144"/>
            <a:chExt cx="1947000" cy="1947000"/>
          </a:xfrm>
        </p:grpSpPr>
        <p:sp>
          <p:nvSpPr>
            <p:cNvPr id="1271" name="Google Shape;1271;p90"/>
            <p:cNvSpPr/>
            <p:nvPr/>
          </p:nvSpPr>
          <p:spPr>
            <a:xfrm>
              <a:off x="1008944" y="2116144"/>
              <a:ext cx="1947000" cy="1947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72" name="Google Shape;1272;p90"/>
            <p:cNvGrpSpPr/>
            <p:nvPr/>
          </p:nvGrpSpPr>
          <p:grpSpPr>
            <a:xfrm>
              <a:off x="1928214" y="3026030"/>
              <a:ext cx="108349" cy="127404"/>
              <a:chOff x="1514525" y="2733525"/>
              <a:chExt cx="76800" cy="90300"/>
            </a:xfrm>
          </p:grpSpPr>
          <p:cxnSp>
            <p:nvCxnSpPr>
              <p:cNvPr id="1273" name="Google Shape;1273;p90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4" name="Google Shape;1274;p90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275" name="Google Shape;1275;p90"/>
          <p:cNvSpPr txBox="1"/>
          <p:nvPr>
            <p:ph type="body" idx="4294967295"/>
          </p:nvPr>
        </p:nvSpPr>
        <p:spPr>
          <a:xfrm>
            <a:off x="1727224" y="2842609"/>
            <a:ext cx="3534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5 </a:t>
            </a:r>
            <a:endParaRPr sz="2000">
              <a:solidFill>
                <a:schemeClr val="accent5"/>
              </a:solidFill>
            </a:endParaRPr>
          </a:p>
        </p:txBody>
      </p:sp>
      <p:cxnSp>
        <p:nvCxnSpPr>
          <p:cNvPr id="1276" name="Google Shape;1276;p90"/>
          <p:cNvCxnSpPr/>
          <p:nvPr/>
        </p:nvCxnSpPr>
        <p:spPr>
          <a:xfrm rot="10800000" flipH="1">
            <a:off x="4571671" y="2630667"/>
            <a:ext cx="2700" cy="7038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77" name="Google Shape;1277;p90"/>
          <p:cNvSpPr txBox="1"/>
          <p:nvPr>
            <p:ph type="body" idx="4294967295"/>
          </p:nvPr>
        </p:nvSpPr>
        <p:spPr>
          <a:xfrm>
            <a:off x="4667393" y="2219498"/>
            <a:ext cx="3534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4 </a:t>
            </a:r>
            <a:endParaRPr sz="2000">
              <a:solidFill>
                <a:schemeClr val="accent5"/>
              </a:solidFill>
            </a:endParaRPr>
          </a:p>
        </p:txBody>
      </p:sp>
      <p:cxnSp>
        <p:nvCxnSpPr>
          <p:cNvPr id="1278" name="Google Shape;1278;p90"/>
          <p:cNvCxnSpPr/>
          <p:nvPr/>
        </p:nvCxnSpPr>
        <p:spPr>
          <a:xfrm rot="10800000" flipH="1">
            <a:off x="4577675" y="2165369"/>
            <a:ext cx="0" cy="4653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79" name="Google Shape;1279;p90"/>
          <p:cNvSpPr txBox="1"/>
          <p:nvPr>
            <p:ph type="body" idx="4294967295"/>
          </p:nvPr>
        </p:nvSpPr>
        <p:spPr>
          <a:xfrm>
            <a:off x="4653882" y="2842609"/>
            <a:ext cx="3534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6 </a:t>
            </a:r>
            <a:endParaRPr sz="2000">
              <a:solidFill>
                <a:schemeClr val="accent5"/>
              </a:solidFill>
            </a:endParaRPr>
          </a:p>
        </p:txBody>
      </p:sp>
      <p:cxnSp>
        <p:nvCxnSpPr>
          <p:cNvPr id="1280" name="Google Shape;1280;p90"/>
          <p:cNvCxnSpPr/>
          <p:nvPr/>
        </p:nvCxnSpPr>
        <p:spPr>
          <a:xfrm rot="10800000" flipH="1">
            <a:off x="7543471" y="2630667"/>
            <a:ext cx="2700" cy="7038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81" name="Google Shape;1281;p90"/>
          <p:cNvSpPr txBox="1"/>
          <p:nvPr>
            <p:ph type="body" idx="4294967295"/>
          </p:nvPr>
        </p:nvSpPr>
        <p:spPr>
          <a:xfrm>
            <a:off x="7639193" y="2219498"/>
            <a:ext cx="3534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4 </a:t>
            </a:r>
            <a:endParaRPr sz="2000">
              <a:solidFill>
                <a:schemeClr val="accent5"/>
              </a:solidFill>
            </a:endParaRPr>
          </a:p>
        </p:txBody>
      </p:sp>
      <p:cxnSp>
        <p:nvCxnSpPr>
          <p:cNvPr id="1282" name="Google Shape;1282;p90"/>
          <p:cNvCxnSpPr/>
          <p:nvPr/>
        </p:nvCxnSpPr>
        <p:spPr>
          <a:xfrm rot="10800000" flipH="1">
            <a:off x="7549475" y="2165369"/>
            <a:ext cx="0" cy="4653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83" name="Google Shape;1283;p90"/>
          <p:cNvSpPr txBox="1"/>
          <p:nvPr>
            <p:ph type="body" idx="4294967295"/>
          </p:nvPr>
        </p:nvSpPr>
        <p:spPr>
          <a:xfrm>
            <a:off x="7625682" y="2842609"/>
            <a:ext cx="3534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7 </a:t>
            </a:r>
            <a:endParaRPr sz="2000">
              <a:solidFill>
                <a:schemeClr val="accent5"/>
              </a:solidFill>
            </a:endParaRPr>
          </a:p>
        </p:txBody>
      </p:sp>
      <p:pic>
        <p:nvPicPr>
          <p:cNvPr id="1284" name="Google Shape;1284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3758" y="42088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8" name="Shape 1288"/>
        <p:cNvGrpSpPr/>
        <p:nvPr/>
      </p:nvGrpSpPr>
      <p:grpSpPr>
        <a:xfrm>
          <a:off x="0" y="0"/>
          <a:ext cx="0" cy="0"/>
        </a:xfrm>
      </p:grpSpPr>
      <p:sp>
        <p:nvSpPr>
          <p:cNvPr id="1289" name="Google Shape;1289;p91"/>
          <p:cNvSpPr txBox="1"/>
          <p:nvPr>
            <p:ph type="title"/>
          </p:nvPr>
        </p:nvSpPr>
        <p:spPr>
          <a:xfrm>
            <a:off x="324000" y="748775"/>
            <a:ext cx="8496000" cy="6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The two centre points in each diagram are 10 cm apart. All lengths are given in cm. In which diagram could the measurements be correct? </a:t>
            </a:r>
            <a:endParaRPr sz="1900"/>
          </a:p>
        </p:txBody>
      </p:sp>
      <p:sp>
        <p:nvSpPr>
          <p:cNvPr id="1290" name="Google Shape;1290;p9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circles that intersect exactly once</a:t>
            </a:r>
            <a:endParaRPr/>
          </a:p>
        </p:txBody>
      </p:sp>
      <p:grpSp>
        <p:nvGrpSpPr>
          <p:cNvPr id="1291" name="Google Shape;1291;p91"/>
          <p:cNvGrpSpPr/>
          <p:nvPr/>
        </p:nvGrpSpPr>
        <p:grpSpPr>
          <a:xfrm>
            <a:off x="1150234" y="1636478"/>
            <a:ext cx="999820" cy="999820"/>
            <a:chOff x="2988731" y="2400762"/>
            <a:chExt cx="1400700" cy="1400700"/>
          </a:xfrm>
        </p:grpSpPr>
        <p:sp>
          <p:nvSpPr>
            <p:cNvPr id="1292" name="Google Shape;1292;p91"/>
            <p:cNvSpPr/>
            <p:nvPr/>
          </p:nvSpPr>
          <p:spPr>
            <a:xfrm>
              <a:off x="2988731" y="2400762"/>
              <a:ext cx="1400700" cy="1400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93" name="Google Shape;1293;p91"/>
            <p:cNvGrpSpPr/>
            <p:nvPr/>
          </p:nvGrpSpPr>
          <p:grpSpPr>
            <a:xfrm>
              <a:off x="3643350" y="3047339"/>
              <a:ext cx="91423" cy="107502"/>
              <a:chOff x="1514525" y="2733525"/>
              <a:chExt cx="76800" cy="90300"/>
            </a:xfrm>
          </p:grpSpPr>
          <p:cxnSp>
            <p:nvCxnSpPr>
              <p:cNvPr id="1294" name="Google Shape;1294;p91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95" name="Google Shape;1295;p91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96" name="Google Shape;1296;p91"/>
          <p:cNvGrpSpPr/>
          <p:nvPr/>
        </p:nvGrpSpPr>
        <p:grpSpPr>
          <a:xfrm>
            <a:off x="408272" y="1619012"/>
            <a:ext cx="2478920" cy="2478920"/>
            <a:chOff x="1008944" y="2116144"/>
            <a:chExt cx="1947000" cy="1947000"/>
          </a:xfrm>
        </p:grpSpPr>
        <p:sp>
          <p:nvSpPr>
            <p:cNvPr id="1297" name="Google Shape;1297;p91"/>
            <p:cNvSpPr/>
            <p:nvPr/>
          </p:nvSpPr>
          <p:spPr>
            <a:xfrm>
              <a:off x="1008944" y="2116144"/>
              <a:ext cx="1947000" cy="1947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98" name="Google Shape;1298;p91"/>
            <p:cNvGrpSpPr/>
            <p:nvPr/>
          </p:nvGrpSpPr>
          <p:grpSpPr>
            <a:xfrm>
              <a:off x="1928214" y="3026030"/>
              <a:ext cx="108349" cy="127404"/>
              <a:chOff x="1514525" y="2733525"/>
              <a:chExt cx="76800" cy="90300"/>
            </a:xfrm>
          </p:grpSpPr>
          <p:cxnSp>
            <p:nvCxnSpPr>
              <p:cNvPr id="1299" name="Google Shape;1299;p91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0" name="Google Shape;1300;p91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1301" name="Google Shape;1301;p91"/>
          <p:cNvCxnSpPr>
            <a:stCxn id="1297" idx="4"/>
          </p:cNvCxnSpPr>
          <p:nvPr/>
        </p:nvCxnSpPr>
        <p:spPr>
          <a:xfrm rot="10800000" flipH="1">
            <a:off x="1647733" y="2861033"/>
            <a:ext cx="600" cy="12369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02" name="Google Shape;1302;p91"/>
          <p:cNvSpPr txBox="1"/>
          <p:nvPr>
            <p:ph type="body" idx="4294967295"/>
          </p:nvPr>
        </p:nvSpPr>
        <p:spPr>
          <a:xfrm>
            <a:off x="1740735" y="1762298"/>
            <a:ext cx="3534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4 </a:t>
            </a:r>
            <a:endParaRPr sz="2000">
              <a:solidFill>
                <a:schemeClr val="accent5"/>
              </a:solidFill>
            </a:endParaRPr>
          </a:p>
        </p:txBody>
      </p:sp>
      <p:cxnSp>
        <p:nvCxnSpPr>
          <p:cNvPr id="1303" name="Google Shape;1303;p91"/>
          <p:cNvCxnSpPr>
            <a:stCxn id="1297" idx="0"/>
          </p:cNvCxnSpPr>
          <p:nvPr/>
        </p:nvCxnSpPr>
        <p:spPr>
          <a:xfrm>
            <a:off x="1647733" y="1619012"/>
            <a:ext cx="600" cy="5127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04" name="Google Shape;1304;p91"/>
          <p:cNvSpPr txBox="1"/>
          <p:nvPr>
            <p:ph type="body" idx="4294967295"/>
          </p:nvPr>
        </p:nvSpPr>
        <p:spPr>
          <a:xfrm>
            <a:off x="1727224" y="3223609"/>
            <a:ext cx="3534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6 </a:t>
            </a:r>
            <a:endParaRPr sz="2000">
              <a:solidFill>
                <a:schemeClr val="accent5"/>
              </a:solidFill>
            </a:endParaRPr>
          </a:p>
        </p:txBody>
      </p:sp>
      <p:pic>
        <p:nvPicPr>
          <p:cNvPr id="1305" name="Google Shape;1305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2058" y="4148075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6" name="Google Shape;1306;p91"/>
          <p:cNvGrpSpPr/>
          <p:nvPr/>
        </p:nvGrpSpPr>
        <p:grpSpPr>
          <a:xfrm>
            <a:off x="4072855" y="1636478"/>
            <a:ext cx="999820" cy="999820"/>
            <a:chOff x="2988731" y="2400762"/>
            <a:chExt cx="1400700" cy="1400700"/>
          </a:xfrm>
        </p:grpSpPr>
        <p:sp>
          <p:nvSpPr>
            <p:cNvPr id="1307" name="Google Shape;1307;p91"/>
            <p:cNvSpPr/>
            <p:nvPr/>
          </p:nvSpPr>
          <p:spPr>
            <a:xfrm>
              <a:off x="2988731" y="2400762"/>
              <a:ext cx="1400700" cy="1400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08" name="Google Shape;1308;p91"/>
            <p:cNvGrpSpPr/>
            <p:nvPr/>
          </p:nvGrpSpPr>
          <p:grpSpPr>
            <a:xfrm>
              <a:off x="3643350" y="3047339"/>
              <a:ext cx="91423" cy="107502"/>
              <a:chOff x="1514525" y="2733525"/>
              <a:chExt cx="76800" cy="90300"/>
            </a:xfrm>
          </p:grpSpPr>
          <p:cxnSp>
            <p:nvCxnSpPr>
              <p:cNvPr id="1309" name="Google Shape;1309;p91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0" name="Google Shape;1310;p91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311" name="Google Shape;1311;p91"/>
          <p:cNvGrpSpPr/>
          <p:nvPr/>
        </p:nvGrpSpPr>
        <p:grpSpPr>
          <a:xfrm>
            <a:off x="3330894" y="1619012"/>
            <a:ext cx="2478920" cy="2478920"/>
            <a:chOff x="1008944" y="2116144"/>
            <a:chExt cx="1947000" cy="1947000"/>
          </a:xfrm>
        </p:grpSpPr>
        <p:sp>
          <p:nvSpPr>
            <p:cNvPr id="1312" name="Google Shape;1312;p91"/>
            <p:cNvSpPr/>
            <p:nvPr/>
          </p:nvSpPr>
          <p:spPr>
            <a:xfrm>
              <a:off x="1008944" y="2116144"/>
              <a:ext cx="1947000" cy="1947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13" name="Google Shape;1313;p91"/>
            <p:cNvGrpSpPr/>
            <p:nvPr/>
          </p:nvGrpSpPr>
          <p:grpSpPr>
            <a:xfrm>
              <a:off x="1928214" y="3026030"/>
              <a:ext cx="108349" cy="127404"/>
              <a:chOff x="1514525" y="2733525"/>
              <a:chExt cx="76800" cy="90300"/>
            </a:xfrm>
          </p:grpSpPr>
          <p:cxnSp>
            <p:nvCxnSpPr>
              <p:cNvPr id="1314" name="Google Shape;1314;p91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5" name="Google Shape;1315;p91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1316" name="Google Shape;1316;p91"/>
          <p:cNvCxnSpPr>
            <a:stCxn id="1312" idx="4"/>
          </p:cNvCxnSpPr>
          <p:nvPr/>
        </p:nvCxnSpPr>
        <p:spPr>
          <a:xfrm rot="10800000" flipH="1">
            <a:off x="4570354" y="2861033"/>
            <a:ext cx="600" cy="12369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17" name="Google Shape;1317;p91"/>
          <p:cNvSpPr txBox="1"/>
          <p:nvPr>
            <p:ph type="body" idx="4294967295"/>
          </p:nvPr>
        </p:nvSpPr>
        <p:spPr>
          <a:xfrm>
            <a:off x="4663356" y="1762298"/>
            <a:ext cx="3534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4 </a:t>
            </a:r>
            <a:endParaRPr sz="2000">
              <a:solidFill>
                <a:schemeClr val="accent5"/>
              </a:solidFill>
            </a:endParaRPr>
          </a:p>
        </p:txBody>
      </p:sp>
      <p:cxnSp>
        <p:nvCxnSpPr>
          <p:cNvPr id="1318" name="Google Shape;1318;p91"/>
          <p:cNvCxnSpPr>
            <a:stCxn id="1312" idx="0"/>
          </p:cNvCxnSpPr>
          <p:nvPr/>
        </p:nvCxnSpPr>
        <p:spPr>
          <a:xfrm>
            <a:off x="4570354" y="1619012"/>
            <a:ext cx="600" cy="5127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19" name="Google Shape;1319;p91"/>
          <p:cNvSpPr txBox="1"/>
          <p:nvPr>
            <p:ph type="body" idx="4294967295"/>
          </p:nvPr>
        </p:nvSpPr>
        <p:spPr>
          <a:xfrm>
            <a:off x="4649845" y="3223609"/>
            <a:ext cx="3534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10 </a:t>
            </a:r>
            <a:endParaRPr sz="2000">
              <a:solidFill>
                <a:schemeClr val="accent5"/>
              </a:solidFill>
            </a:endParaRPr>
          </a:p>
        </p:txBody>
      </p:sp>
      <p:grpSp>
        <p:nvGrpSpPr>
          <p:cNvPr id="1320" name="Google Shape;1320;p91"/>
          <p:cNvGrpSpPr/>
          <p:nvPr/>
        </p:nvGrpSpPr>
        <p:grpSpPr>
          <a:xfrm>
            <a:off x="7044655" y="1636478"/>
            <a:ext cx="999820" cy="999820"/>
            <a:chOff x="2988731" y="2400762"/>
            <a:chExt cx="1400700" cy="1400700"/>
          </a:xfrm>
        </p:grpSpPr>
        <p:sp>
          <p:nvSpPr>
            <p:cNvPr id="1321" name="Google Shape;1321;p91"/>
            <p:cNvSpPr/>
            <p:nvPr/>
          </p:nvSpPr>
          <p:spPr>
            <a:xfrm>
              <a:off x="2988731" y="2400762"/>
              <a:ext cx="1400700" cy="1400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22" name="Google Shape;1322;p91"/>
            <p:cNvGrpSpPr/>
            <p:nvPr/>
          </p:nvGrpSpPr>
          <p:grpSpPr>
            <a:xfrm>
              <a:off x="3643350" y="3047339"/>
              <a:ext cx="91423" cy="107502"/>
              <a:chOff x="1514525" y="2733525"/>
              <a:chExt cx="76800" cy="90300"/>
            </a:xfrm>
          </p:grpSpPr>
          <p:cxnSp>
            <p:nvCxnSpPr>
              <p:cNvPr id="1323" name="Google Shape;1323;p91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4" name="Google Shape;1324;p91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325" name="Google Shape;1325;p91"/>
          <p:cNvGrpSpPr/>
          <p:nvPr/>
        </p:nvGrpSpPr>
        <p:grpSpPr>
          <a:xfrm>
            <a:off x="6302694" y="1619012"/>
            <a:ext cx="2478920" cy="2478920"/>
            <a:chOff x="1008944" y="2116144"/>
            <a:chExt cx="1947000" cy="1947000"/>
          </a:xfrm>
        </p:grpSpPr>
        <p:sp>
          <p:nvSpPr>
            <p:cNvPr id="1326" name="Google Shape;1326;p91"/>
            <p:cNvSpPr/>
            <p:nvPr/>
          </p:nvSpPr>
          <p:spPr>
            <a:xfrm>
              <a:off x="1008944" y="2116144"/>
              <a:ext cx="1947000" cy="1947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27" name="Google Shape;1327;p91"/>
            <p:cNvGrpSpPr/>
            <p:nvPr/>
          </p:nvGrpSpPr>
          <p:grpSpPr>
            <a:xfrm>
              <a:off x="1928214" y="3026030"/>
              <a:ext cx="108349" cy="127404"/>
              <a:chOff x="1514525" y="2733525"/>
              <a:chExt cx="76800" cy="90300"/>
            </a:xfrm>
          </p:grpSpPr>
          <p:cxnSp>
            <p:nvCxnSpPr>
              <p:cNvPr id="1328" name="Google Shape;1328;p91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9" name="Google Shape;1329;p91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1330" name="Google Shape;1330;p91"/>
          <p:cNvCxnSpPr>
            <a:stCxn id="1326" idx="4"/>
          </p:cNvCxnSpPr>
          <p:nvPr/>
        </p:nvCxnSpPr>
        <p:spPr>
          <a:xfrm rot="10800000" flipH="1">
            <a:off x="7542154" y="2861033"/>
            <a:ext cx="600" cy="12369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31" name="Google Shape;1331;p91"/>
          <p:cNvSpPr txBox="1"/>
          <p:nvPr>
            <p:ph type="body" idx="4294967295"/>
          </p:nvPr>
        </p:nvSpPr>
        <p:spPr>
          <a:xfrm>
            <a:off x="7635156" y="1762298"/>
            <a:ext cx="3534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4 </a:t>
            </a:r>
            <a:endParaRPr sz="2000">
              <a:solidFill>
                <a:schemeClr val="accent5"/>
              </a:solidFill>
            </a:endParaRPr>
          </a:p>
        </p:txBody>
      </p:sp>
      <p:cxnSp>
        <p:nvCxnSpPr>
          <p:cNvPr id="1332" name="Google Shape;1332;p91"/>
          <p:cNvCxnSpPr>
            <a:stCxn id="1326" idx="0"/>
          </p:cNvCxnSpPr>
          <p:nvPr/>
        </p:nvCxnSpPr>
        <p:spPr>
          <a:xfrm>
            <a:off x="7542154" y="1619012"/>
            <a:ext cx="600" cy="5127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33" name="Google Shape;1333;p91"/>
          <p:cNvSpPr txBox="1"/>
          <p:nvPr>
            <p:ph type="body" idx="4294967295"/>
          </p:nvPr>
        </p:nvSpPr>
        <p:spPr>
          <a:xfrm>
            <a:off x="7621645" y="3223609"/>
            <a:ext cx="3534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14 </a:t>
            </a:r>
            <a:endParaRPr sz="2000">
              <a:solidFill>
                <a:schemeClr val="accent5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37" name="Shape 1337"/>
        <p:cNvGrpSpPr/>
        <p:nvPr/>
      </p:nvGrpSpPr>
      <p:grpSpPr>
        <a:xfrm>
          <a:off x="0" y="0"/>
          <a:ext cx="0" cy="0"/>
        </a:xfrm>
      </p:grpSpPr>
      <p:sp>
        <p:nvSpPr>
          <p:cNvPr id="1338" name="Google Shape;1338;p92"/>
          <p:cNvSpPr txBox="1"/>
          <p:nvPr>
            <p:ph type="title" idx="4294967295"/>
          </p:nvPr>
        </p:nvSpPr>
        <p:spPr>
          <a:xfrm>
            <a:off x="324000" y="748775"/>
            <a:ext cx="8496000" cy="6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 b="0"/>
              <a:t>How far apart would the centre points of these two circles need to be for the circles to touch exactly once?</a:t>
            </a:r>
            <a:endParaRPr sz="1900" b="0"/>
          </a:p>
        </p:txBody>
      </p:sp>
      <p:sp>
        <p:nvSpPr>
          <p:cNvPr id="1339" name="Google Shape;133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circles that intersect exactly once</a:t>
            </a:r>
            <a:endParaRPr/>
          </a:p>
        </p:txBody>
      </p:sp>
      <p:grpSp>
        <p:nvGrpSpPr>
          <p:cNvPr id="1340" name="Google Shape;1340;p92"/>
          <p:cNvGrpSpPr/>
          <p:nvPr/>
        </p:nvGrpSpPr>
        <p:grpSpPr>
          <a:xfrm>
            <a:off x="5532685" y="2258749"/>
            <a:ext cx="1836878" cy="1836878"/>
            <a:chOff x="2988731" y="2400762"/>
            <a:chExt cx="1400700" cy="1400700"/>
          </a:xfrm>
        </p:grpSpPr>
        <p:sp>
          <p:nvSpPr>
            <p:cNvPr id="1341" name="Google Shape;1341;p92"/>
            <p:cNvSpPr/>
            <p:nvPr/>
          </p:nvSpPr>
          <p:spPr>
            <a:xfrm>
              <a:off x="2988731" y="2400762"/>
              <a:ext cx="1400700" cy="1400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42" name="Google Shape;1342;p92"/>
            <p:cNvGrpSpPr/>
            <p:nvPr/>
          </p:nvGrpSpPr>
          <p:grpSpPr>
            <a:xfrm>
              <a:off x="3643350" y="3047339"/>
              <a:ext cx="91423" cy="107502"/>
              <a:chOff x="1514525" y="2733525"/>
              <a:chExt cx="76800" cy="90300"/>
            </a:xfrm>
          </p:grpSpPr>
          <p:cxnSp>
            <p:nvCxnSpPr>
              <p:cNvPr id="1343" name="Google Shape;1343;p92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4" name="Google Shape;1344;p92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345" name="Google Shape;1345;p92"/>
          <p:cNvGrpSpPr/>
          <p:nvPr/>
        </p:nvGrpSpPr>
        <p:grpSpPr>
          <a:xfrm>
            <a:off x="1419385" y="1845016"/>
            <a:ext cx="2201278" cy="2201278"/>
            <a:chOff x="1008944" y="2116144"/>
            <a:chExt cx="1947000" cy="1947000"/>
          </a:xfrm>
        </p:grpSpPr>
        <p:sp>
          <p:nvSpPr>
            <p:cNvPr id="1346" name="Google Shape;1346;p92"/>
            <p:cNvSpPr/>
            <p:nvPr/>
          </p:nvSpPr>
          <p:spPr>
            <a:xfrm>
              <a:off x="1008944" y="2116144"/>
              <a:ext cx="1947000" cy="1947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47" name="Google Shape;1347;p92"/>
            <p:cNvGrpSpPr/>
            <p:nvPr/>
          </p:nvGrpSpPr>
          <p:grpSpPr>
            <a:xfrm>
              <a:off x="1928214" y="3026030"/>
              <a:ext cx="108349" cy="127404"/>
              <a:chOff x="1514525" y="2733525"/>
              <a:chExt cx="76800" cy="90300"/>
            </a:xfrm>
          </p:grpSpPr>
          <p:cxnSp>
            <p:nvCxnSpPr>
              <p:cNvPr id="1348" name="Google Shape;1348;p92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9" name="Google Shape;1349;p92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1350" name="Google Shape;1350;p92"/>
          <p:cNvCxnSpPr>
            <a:endCxn id="1346" idx="5"/>
          </p:cNvCxnSpPr>
          <p:nvPr/>
        </p:nvCxnSpPr>
        <p:spPr>
          <a:xfrm>
            <a:off x="2515893" y="2940625"/>
            <a:ext cx="782400" cy="7833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51" name="Google Shape;1351;p92"/>
          <p:cNvCxnSpPr>
            <a:stCxn id="1341" idx="5"/>
          </p:cNvCxnSpPr>
          <p:nvPr/>
        </p:nvCxnSpPr>
        <p:spPr>
          <a:xfrm rot="10800000">
            <a:off x="6466958" y="3189723"/>
            <a:ext cx="633600" cy="6369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52" name="Google Shape;1352;p92"/>
          <p:cNvSpPr txBox="1"/>
          <p:nvPr>
            <p:ph type="body" idx="1"/>
          </p:nvPr>
        </p:nvSpPr>
        <p:spPr>
          <a:xfrm>
            <a:off x="2860576" y="2940625"/>
            <a:ext cx="6516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8 cm 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353" name="Google Shape;1353;p92"/>
          <p:cNvSpPr txBox="1"/>
          <p:nvPr>
            <p:ph type="body" idx="1"/>
          </p:nvPr>
        </p:nvSpPr>
        <p:spPr>
          <a:xfrm>
            <a:off x="6717900" y="3155760"/>
            <a:ext cx="768900" cy="53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5 cm </a:t>
            </a:r>
            <a:endParaRPr sz="2000">
              <a:solidFill>
                <a:schemeClr val="accent5"/>
              </a:solidFill>
            </a:endParaRPr>
          </a:p>
        </p:txBody>
      </p:sp>
    </p:spTree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57" name="Shape 1357"/>
        <p:cNvGrpSpPr/>
        <p:nvPr/>
      </p:nvGrpSpPr>
      <p:grpSpPr>
        <a:xfrm>
          <a:off x="0" y="0"/>
          <a:ext cx="0" cy="0"/>
        </a:xfrm>
      </p:grpSpPr>
      <p:sp>
        <p:nvSpPr>
          <p:cNvPr id="1358" name="Google Shape;1358;p93"/>
          <p:cNvSpPr txBox="1"/>
          <p:nvPr>
            <p:ph type="title" idx="4294967295"/>
          </p:nvPr>
        </p:nvSpPr>
        <p:spPr>
          <a:xfrm>
            <a:off x="324000" y="748775"/>
            <a:ext cx="8496000" cy="6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 b="0"/>
              <a:t>How far apart would the centre points of these two circles need to be for the circles to touch exactly once?</a:t>
            </a:r>
            <a:endParaRPr sz="1900" b="0"/>
          </a:p>
        </p:txBody>
      </p:sp>
      <p:sp>
        <p:nvSpPr>
          <p:cNvPr id="1359" name="Google Shape;1359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circles that intersect exactly once</a:t>
            </a:r>
            <a:endParaRPr/>
          </a:p>
        </p:txBody>
      </p:sp>
      <p:grpSp>
        <p:nvGrpSpPr>
          <p:cNvPr id="1360" name="Google Shape;1360;p93"/>
          <p:cNvGrpSpPr/>
          <p:nvPr/>
        </p:nvGrpSpPr>
        <p:grpSpPr>
          <a:xfrm>
            <a:off x="2547374" y="2715949"/>
            <a:ext cx="1836878" cy="1836878"/>
            <a:chOff x="2988731" y="2400762"/>
            <a:chExt cx="1400700" cy="1400700"/>
          </a:xfrm>
        </p:grpSpPr>
        <p:sp>
          <p:nvSpPr>
            <p:cNvPr id="1361" name="Google Shape;1361;p93"/>
            <p:cNvSpPr/>
            <p:nvPr/>
          </p:nvSpPr>
          <p:spPr>
            <a:xfrm>
              <a:off x="2988731" y="2400762"/>
              <a:ext cx="1400700" cy="1400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62" name="Google Shape;1362;p93"/>
            <p:cNvGrpSpPr/>
            <p:nvPr/>
          </p:nvGrpSpPr>
          <p:grpSpPr>
            <a:xfrm>
              <a:off x="3643350" y="3047339"/>
              <a:ext cx="91423" cy="107502"/>
              <a:chOff x="1514525" y="2733525"/>
              <a:chExt cx="76800" cy="90300"/>
            </a:xfrm>
          </p:grpSpPr>
          <p:cxnSp>
            <p:nvCxnSpPr>
              <p:cNvPr id="1363" name="Google Shape;1363;p93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4" name="Google Shape;1364;p93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365" name="Google Shape;1365;p93"/>
          <p:cNvGrpSpPr/>
          <p:nvPr/>
        </p:nvGrpSpPr>
        <p:grpSpPr>
          <a:xfrm>
            <a:off x="352585" y="2302216"/>
            <a:ext cx="2201278" cy="2201278"/>
            <a:chOff x="1008944" y="2116144"/>
            <a:chExt cx="1947000" cy="1947000"/>
          </a:xfrm>
        </p:grpSpPr>
        <p:sp>
          <p:nvSpPr>
            <p:cNvPr id="1366" name="Google Shape;1366;p93"/>
            <p:cNvSpPr/>
            <p:nvPr/>
          </p:nvSpPr>
          <p:spPr>
            <a:xfrm>
              <a:off x="1008944" y="2116144"/>
              <a:ext cx="1947000" cy="1947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67" name="Google Shape;1367;p93"/>
            <p:cNvGrpSpPr/>
            <p:nvPr/>
          </p:nvGrpSpPr>
          <p:grpSpPr>
            <a:xfrm>
              <a:off x="1928214" y="3026030"/>
              <a:ext cx="108349" cy="127404"/>
              <a:chOff x="1514525" y="2733525"/>
              <a:chExt cx="76800" cy="90300"/>
            </a:xfrm>
          </p:grpSpPr>
          <p:cxnSp>
            <p:nvCxnSpPr>
              <p:cNvPr id="1368" name="Google Shape;1368;p93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9" name="Google Shape;1369;p93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370" name="Google Shape;1370;p93"/>
          <p:cNvSpPr txBox="1"/>
          <p:nvPr>
            <p:ph type="body" idx="1"/>
          </p:nvPr>
        </p:nvSpPr>
        <p:spPr>
          <a:xfrm>
            <a:off x="774300" y="1707950"/>
            <a:ext cx="3137100" cy="53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 cm + 5 cm = 13 cm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1" name="Google Shape;1371;p93"/>
          <p:cNvSpPr txBox="1"/>
          <p:nvPr>
            <p:ph type="body" idx="1"/>
          </p:nvPr>
        </p:nvSpPr>
        <p:spPr>
          <a:xfrm>
            <a:off x="5270100" y="1714705"/>
            <a:ext cx="2864400" cy="36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 cm − 5 cm = 3 cm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372" name="Google Shape;1372;p93"/>
          <p:cNvGrpSpPr/>
          <p:nvPr/>
        </p:nvGrpSpPr>
        <p:grpSpPr>
          <a:xfrm>
            <a:off x="5671574" y="2639749"/>
            <a:ext cx="1836878" cy="1836878"/>
            <a:chOff x="2988731" y="2400762"/>
            <a:chExt cx="1400700" cy="1400700"/>
          </a:xfrm>
        </p:grpSpPr>
        <p:sp>
          <p:nvSpPr>
            <p:cNvPr id="1373" name="Google Shape;1373;p93"/>
            <p:cNvSpPr/>
            <p:nvPr/>
          </p:nvSpPr>
          <p:spPr>
            <a:xfrm>
              <a:off x="2988731" y="2400762"/>
              <a:ext cx="1400700" cy="1400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74" name="Google Shape;1374;p93"/>
            <p:cNvGrpSpPr/>
            <p:nvPr/>
          </p:nvGrpSpPr>
          <p:grpSpPr>
            <a:xfrm>
              <a:off x="3643350" y="3047339"/>
              <a:ext cx="91423" cy="107502"/>
              <a:chOff x="1514525" y="2733525"/>
              <a:chExt cx="76800" cy="90300"/>
            </a:xfrm>
          </p:grpSpPr>
          <p:cxnSp>
            <p:nvCxnSpPr>
              <p:cNvPr id="1375" name="Google Shape;1375;p93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6" name="Google Shape;1376;p93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377" name="Google Shape;1377;p93"/>
          <p:cNvGrpSpPr/>
          <p:nvPr/>
        </p:nvGrpSpPr>
        <p:grpSpPr>
          <a:xfrm>
            <a:off x="5381785" y="2302216"/>
            <a:ext cx="2201278" cy="2201278"/>
            <a:chOff x="1008944" y="2116144"/>
            <a:chExt cx="1947000" cy="1947000"/>
          </a:xfrm>
        </p:grpSpPr>
        <p:sp>
          <p:nvSpPr>
            <p:cNvPr id="1378" name="Google Shape;1378;p93"/>
            <p:cNvSpPr/>
            <p:nvPr/>
          </p:nvSpPr>
          <p:spPr>
            <a:xfrm>
              <a:off x="1008944" y="2116144"/>
              <a:ext cx="1947000" cy="1947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79" name="Google Shape;1379;p93"/>
            <p:cNvGrpSpPr/>
            <p:nvPr/>
          </p:nvGrpSpPr>
          <p:grpSpPr>
            <a:xfrm>
              <a:off x="1928214" y="3026030"/>
              <a:ext cx="108349" cy="127404"/>
              <a:chOff x="1514525" y="2733525"/>
              <a:chExt cx="76800" cy="90300"/>
            </a:xfrm>
          </p:grpSpPr>
          <p:cxnSp>
            <p:nvCxnSpPr>
              <p:cNvPr id="1380" name="Google Shape;1380;p93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1" name="Google Shape;1381;p93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382" name="Google Shape;1382;p93"/>
          <p:cNvSpPr txBox="1"/>
          <p:nvPr>
            <p:ph type="body" idx="1"/>
          </p:nvPr>
        </p:nvSpPr>
        <p:spPr>
          <a:xfrm>
            <a:off x="4415700" y="1676880"/>
            <a:ext cx="350100" cy="36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or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86" name="Shape 1386"/>
        <p:cNvGrpSpPr/>
        <p:nvPr/>
      </p:nvGrpSpPr>
      <p:grpSpPr>
        <a:xfrm>
          <a:off x="0" y="0"/>
          <a:ext cx="0" cy="0"/>
        </a:xfrm>
      </p:grpSpPr>
      <p:sp>
        <p:nvSpPr>
          <p:cNvPr id="1387" name="Google Shape;1387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circles that intersect exactly once</a:t>
            </a:r>
            <a:endParaRPr/>
          </a:p>
        </p:txBody>
      </p:sp>
      <p:sp>
        <p:nvSpPr>
          <p:cNvPr id="1388" name="Google Shape;1388;p94"/>
          <p:cNvSpPr txBox="1"/>
          <p:nvPr>
            <p:ph type="body" idx="1"/>
          </p:nvPr>
        </p:nvSpPr>
        <p:spPr>
          <a:xfrm>
            <a:off x="324000" y="759300"/>
            <a:ext cx="8496000" cy="81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1) For each question, draw two circles: one with a radius of 5 cm and the </a:t>
            </a:r>
            <a:br>
              <a:rPr lang="en-GB" sz="1800"/>
            </a:br>
            <a:r>
              <a:rPr lang="en-GB" sz="1800"/>
              <a:t>    other with a radius of 7 cm. Mark the positions of their centre points each </a:t>
            </a:r>
            <a:br>
              <a:rPr lang="en-GB" sz="1800"/>
            </a:br>
            <a:r>
              <a:rPr lang="en-GB" sz="1800"/>
              <a:t>    time. Draw each pair of circles according to the following conditions:</a:t>
            </a:r>
            <a:endParaRPr sz="1800"/>
          </a:p>
        </p:txBody>
      </p:sp>
      <p:sp>
        <p:nvSpPr>
          <p:cNvPr id="1389" name="Google Shape;1389;p94"/>
          <p:cNvSpPr txBox="1"/>
          <p:nvPr>
            <p:ph type="body" idx="1"/>
          </p:nvPr>
        </p:nvSpPr>
        <p:spPr>
          <a:xfrm>
            <a:off x="324000" y="1826100"/>
            <a:ext cx="8496000" cy="96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a) The circles touch exactly once. Neither circle has its centre point inside </a:t>
            </a:r>
            <a:br>
              <a:rPr lang="en-GB" sz="1800"/>
            </a:br>
            <a:r>
              <a:rPr lang="en-GB" sz="1800"/>
              <a:t>     the other.</a:t>
            </a:r>
            <a:br>
              <a:rPr lang="en-GB" sz="1800"/>
            </a:br>
            <a:br>
              <a:rPr lang="en-GB" sz="1800"/>
            </a:br>
            <a:r>
              <a:rPr lang="en-GB" sz="1800"/>
              <a:t>b) The circles touch exactly once. One circle has its centre point inside the </a:t>
            </a:r>
            <a:br>
              <a:rPr lang="en-GB" sz="1800"/>
            </a:br>
            <a:r>
              <a:rPr lang="en-GB" sz="1800"/>
              <a:t>     other.</a:t>
            </a:r>
            <a:endParaRPr sz="1800"/>
          </a:p>
        </p:txBody>
      </p:sp>
      <p:sp>
        <p:nvSpPr>
          <p:cNvPr id="1390" name="Google Shape;1390;p94"/>
          <p:cNvSpPr txBox="1"/>
          <p:nvPr>
            <p:ph type="body" idx="1"/>
          </p:nvPr>
        </p:nvSpPr>
        <p:spPr>
          <a:xfrm>
            <a:off x="324000" y="3947375"/>
            <a:ext cx="8496000" cy="60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Draw two points 12 cm apart. Draw a circle around each point so that </a:t>
            </a:r>
            <a:br>
              <a:rPr lang="en-GB" sz="1800"/>
            </a:br>
            <a:r>
              <a:rPr lang="en-GB" sz="1800"/>
              <a:t>    they touch each other exactly once. What is the radius of each circle?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94" name="Shape 1394"/>
        <p:cNvGrpSpPr/>
        <p:nvPr/>
      </p:nvGrpSpPr>
      <p:grpSpPr>
        <a:xfrm>
          <a:off x="0" y="0"/>
          <a:ext cx="0" cy="0"/>
        </a:xfrm>
      </p:grpSpPr>
      <p:sp>
        <p:nvSpPr>
          <p:cNvPr id="1395" name="Google Shape;1395;p95"/>
          <p:cNvSpPr/>
          <p:nvPr/>
        </p:nvSpPr>
        <p:spPr>
          <a:xfrm>
            <a:off x="1153500" y="1997075"/>
            <a:ext cx="1558200" cy="1558200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95"/>
          <p:cNvSpPr txBox="1"/>
          <p:nvPr>
            <p:ph type="body" idx="1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3) Points A, B, C and D are on the same line. Draw an accurate version of the </a:t>
            </a:r>
            <a:br>
              <a:rPr lang="en-GB" sz="1800"/>
            </a:br>
            <a:r>
              <a:rPr lang="en-GB" sz="1800"/>
              <a:t>    diagram.</a:t>
            </a:r>
            <a:endParaRPr sz="1800"/>
          </a:p>
        </p:txBody>
      </p:sp>
      <p:sp>
        <p:nvSpPr>
          <p:cNvPr id="1397" name="Google Shape;1397;p95"/>
          <p:cNvSpPr txBox="1"/>
          <p:nvPr>
            <p:ph type="title"/>
          </p:nvPr>
        </p:nvSpPr>
        <p:spPr>
          <a:xfrm>
            <a:off x="1479300" y="78947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circles that intersect exactly once</a:t>
            </a:r>
            <a:endParaRPr sz="1600"/>
          </a:p>
        </p:txBody>
      </p:sp>
      <p:sp>
        <p:nvSpPr>
          <p:cNvPr id="1398" name="Google Shape;1398;p95"/>
          <p:cNvSpPr/>
          <p:nvPr/>
        </p:nvSpPr>
        <p:spPr>
          <a:xfrm>
            <a:off x="1871875" y="2715450"/>
            <a:ext cx="121500" cy="12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95"/>
          <p:cNvSpPr/>
          <p:nvPr/>
        </p:nvSpPr>
        <p:spPr>
          <a:xfrm>
            <a:off x="3776875" y="2715450"/>
            <a:ext cx="121500" cy="12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95"/>
          <p:cNvSpPr/>
          <p:nvPr/>
        </p:nvSpPr>
        <p:spPr>
          <a:xfrm>
            <a:off x="5515964" y="2715450"/>
            <a:ext cx="121500" cy="12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1" name="Google Shape;1401;p95"/>
          <p:cNvSpPr/>
          <p:nvPr/>
        </p:nvSpPr>
        <p:spPr>
          <a:xfrm>
            <a:off x="6421718" y="2715450"/>
            <a:ext cx="121500" cy="12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95"/>
          <p:cNvSpPr/>
          <p:nvPr/>
        </p:nvSpPr>
        <p:spPr>
          <a:xfrm>
            <a:off x="2711700" y="1650275"/>
            <a:ext cx="2251800" cy="2251800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95"/>
          <p:cNvSpPr/>
          <p:nvPr/>
        </p:nvSpPr>
        <p:spPr>
          <a:xfrm>
            <a:off x="4962889" y="2160475"/>
            <a:ext cx="1245000" cy="1245000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95"/>
          <p:cNvSpPr/>
          <p:nvPr/>
        </p:nvSpPr>
        <p:spPr>
          <a:xfrm>
            <a:off x="4966558" y="1271874"/>
            <a:ext cx="3022200" cy="3022200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05" name="Google Shape;1405;p95"/>
          <p:cNvCxnSpPr>
            <a:endCxn id="1395" idx="4"/>
          </p:cNvCxnSpPr>
          <p:nvPr/>
        </p:nvCxnSpPr>
        <p:spPr>
          <a:xfrm flipH="1">
            <a:off x="1932600" y="2784275"/>
            <a:ext cx="5400" cy="7710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06" name="Google Shape;1406;p95"/>
          <p:cNvCxnSpPr>
            <a:endCxn id="1402" idx="4"/>
          </p:cNvCxnSpPr>
          <p:nvPr/>
        </p:nvCxnSpPr>
        <p:spPr>
          <a:xfrm>
            <a:off x="3834300" y="2799575"/>
            <a:ext cx="3300" cy="11025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07" name="Google Shape;1407;p95"/>
          <p:cNvCxnSpPr>
            <a:endCxn id="1403" idx="4"/>
          </p:cNvCxnSpPr>
          <p:nvPr/>
        </p:nvCxnSpPr>
        <p:spPr>
          <a:xfrm>
            <a:off x="5573389" y="2815075"/>
            <a:ext cx="12000" cy="5904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08" name="Google Shape;1408;p95"/>
          <p:cNvCxnSpPr>
            <a:endCxn id="1404" idx="4"/>
          </p:cNvCxnSpPr>
          <p:nvPr/>
        </p:nvCxnSpPr>
        <p:spPr>
          <a:xfrm flipH="1">
            <a:off x="6477658" y="2830374"/>
            <a:ext cx="10200" cy="14637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09" name="Google Shape;1409;p95"/>
          <p:cNvSpPr txBox="1"/>
          <p:nvPr>
            <p:ph type="body" idx="1"/>
          </p:nvPr>
        </p:nvSpPr>
        <p:spPr>
          <a:xfrm>
            <a:off x="5592155" y="2972071"/>
            <a:ext cx="517200" cy="25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 cm</a:t>
            </a:r>
            <a:endParaRPr sz="1600"/>
          </a:p>
        </p:txBody>
      </p:sp>
      <p:sp>
        <p:nvSpPr>
          <p:cNvPr id="1410" name="Google Shape;1410;p95"/>
          <p:cNvSpPr txBox="1"/>
          <p:nvPr>
            <p:ph type="body" idx="1"/>
          </p:nvPr>
        </p:nvSpPr>
        <p:spPr>
          <a:xfrm>
            <a:off x="6504669" y="3420625"/>
            <a:ext cx="736500" cy="25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411" name="Google Shape;1411;p95"/>
          <p:cNvSpPr txBox="1"/>
          <p:nvPr>
            <p:ph type="body" idx="1"/>
          </p:nvPr>
        </p:nvSpPr>
        <p:spPr>
          <a:xfrm>
            <a:off x="1941299" y="3048275"/>
            <a:ext cx="736500" cy="25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3.5 cm</a:t>
            </a:r>
            <a:endParaRPr sz="1600"/>
          </a:p>
        </p:txBody>
      </p:sp>
      <p:sp>
        <p:nvSpPr>
          <p:cNvPr id="1412" name="Google Shape;1412;p95"/>
          <p:cNvSpPr txBox="1"/>
          <p:nvPr>
            <p:ph type="body" idx="1"/>
          </p:nvPr>
        </p:nvSpPr>
        <p:spPr>
          <a:xfrm>
            <a:off x="3880087" y="3200671"/>
            <a:ext cx="517200" cy="25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 cm</a:t>
            </a:r>
            <a:endParaRPr sz="1600"/>
          </a:p>
        </p:txBody>
      </p:sp>
      <p:sp>
        <p:nvSpPr>
          <p:cNvPr id="1413" name="Google Shape;1413;p95"/>
          <p:cNvSpPr txBox="1"/>
          <p:nvPr>
            <p:ph type="body" idx="1"/>
          </p:nvPr>
        </p:nvSpPr>
        <p:spPr>
          <a:xfrm>
            <a:off x="1854626" y="2477864"/>
            <a:ext cx="223500" cy="25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414" name="Google Shape;1414;p95"/>
          <p:cNvSpPr txBox="1"/>
          <p:nvPr>
            <p:ph type="body" idx="1"/>
          </p:nvPr>
        </p:nvSpPr>
        <p:spPr>
          <a:xfrm>
            <a:off x="3759626" y="2477864"/>
            <a:ext cx="223500" cy="25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415" name="Google Shape;1415;p95"/>
          <p:cNvSpPr txBox="1"/>
          <p:nvPr>
            <p:ph type="body" idx="1"/>
          </p:nvPr>
        </p:nvSpPr>
        <p:spPr>
          <a:xfrm>
            <a:off x="5505471" y="2477864"/>
            <a:ext cx="223500" cy="25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416" name="Google Shape;1416;p95"/>
          <p:cNvSpPr txBox="1"/>
          <p:nvPr>
            <p:ph type="body" idx="1"/>
          </p:nvPr>
        </p:nvSpPr>
        <p:spPr>
          <a:xfrm>
            <a:off x="6406360" y="2477864"/>
            <a:ext cx="223500" cy="25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cxnSp>
        <p:nvCxnSpPr>
          <p:cNvPr id="1417" name="Google Shape;1417;p95"/>
          <p:cNvCxnSpPr/>
          <p:nvPr/>
        </p:nvCxnSpPr>
        <p:spPr>
          <a:xfrm>
            <a:off x="1935075" y="2776275"/>
            <a:ext cx="4554300" cy="6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21" name="Shape 1421"/>
        <p:cNvGrpSpPr/>
        <p:nvPr/>
      </p:nvGrpSpPr>
      <p:grpSpPr>
        <a:xfrm>
          <a:off x="0" y="0"/>
          <a:ext cx="0" cy="0"/>
        </a:xfrm>
      </p:grpSpPr>
      <p:sp>
        <p:nvSpPr>
          <p:cNvPr id="1422" name="Google Shape;1422;p96"/>
          <p:cNvSpPr txBox="1"/>
          <p:nvPr>
            <p:ph type="body" idx="1"/>
          </p:nvPr>
        </p:nvSpPr>
        <p:spPr>
          <a:xfrm>
            <a:off x="324000" y="835500"/>
            <a:ext cx="84960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For each question, draw two circles: one with a radius of 5 cm and the </a:t>
            </a:r>
            <a:br>
              <a:rPr lang="en-GB" sz="1800"/>
            </a:br>
            <a:r>
              <a:rPr lang="en-GB" sz="1800"/>
              <a:t>    other with a radius of 7 cm. Mark the positions of their centre points each </a:t>
            </a:r>
            <a:br>
              <a:rPr lang="en-GB" sz="1800"/>
            </a:br>
            <a:r>
              <a:rPr lang="en-GB" sz="1800"/>
              <a:t>    time. Draw each pair of circles according to the following conditions:</a:t>
            </a:r>
            <a:endParaRPr sz="1800"/>
          </a:p>
        </p:txBody>
      </p:sp>
      <p:sp>
        <p:nvSpPr>
          <p:cNvPr id="1423" name="Google Shape;1423;p96"/>
          <p:cNvSpPr txBox="1"/>
          <p:nvPr>
            <p:ph type="body" idx="1"/>
          </p:nvPr>
        </p:nvSpPr>
        <p:spPr>
          <a:xfrm>
            <a:off x="324000" y="2208900"/>
            <a:ext cx="8496000" cy="178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a) The circles touch exactly once. Neither circle has its centre point inside </a:t>
            </a:r>
            <a:br>
              <a:rPr lang="en-GB" sz="1800"/>
            </a:br>
            <a:r>
              <a:rPr lang="en-GB" sz="1800"/>
              <a:t>     the other.</a:t>
            </a:r>
            <a:br>
              <a:rPr lang="en-GB" sz="1800"/>
            </a:b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800"/>
            </a:br>
            <a:r>
              <a:rPr lang="en-GB" sz="1800"/>
              <a:t>b) The circles touch exactly once. One circle has its centre point inside the </a:t>
            </a:r>
            <a:br>
              <a:rPr lang="en-GB" sz="1800"/>
            </a:br>
            <a:r>
              <a:rPr lang="en-GB" sz="1800"/>
              <a:t>other.</a:t>
            </a:r>
            <a:endParaRPr sz="1800"/>
          </a:p>
        </p:txBody>
      </p:sp>
      <p:sp>
        <p:nvSpPr>
          <p:cNvPr id="1424" name="Google Shape;1424;p96"/>
          <p:cNvSpPr txBox="1"/>
          <p:nvPr>
            <p:ph type="body" idx="1"/>
          </p:nvPr>
        </p:nvSpPr>
        <p:spPr>
          <a:xfrm>
            <a:off x="299675" y="1826100"/>
            <a:ext cx="85203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To check, measure the distance between the two centre points in each question.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425" name="Google Shape;1425;p96"/>
          <p:cNvGrpSpPr/>
          <p:nvPr/>
        </p:nvGrpSpPr>
        <p:grpSpPr>
          <a:xfrm>
            <a:off x="4710650" y="2753539"/>
            <a:ext cx="605021" cy="605021"/>
            <a:chOff x="4405875" y="2503200"/>
            <a:chExt cx="524100" cy="524100"/>
          </a:xfrm>
        </p:grpSpPr>
        <p:sp>
          <p:nvSpPr>
            <p:cNvPr id="1426" name="Google Shape;1426;p96"/>
            <p:cNvSpPr/>
            <p:nvPr/>
          </p:nvSpPr>
          <p:spPr>
            <a:xfrm>
              <a:off x="4405875" y="2503200"/>
              <a:ext cx="524100" cy="5241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27" name="Google Shape;1427;p96"/>
            <p:cNvGrpSpPr/>
            <p:nvPr/>
          </p:nvGrpSpPr>
          <p:grpSpPr>
            <a:xfrm>
              <a:off x="4622164" y="2711442"/>
              <a:ext cx="91423" cy="107502"/>
              <a:chOff x="1514525" y="2733525"/>
              <a:chExt cx="76800" cy="90300"/>
            </a:xfrm>
          </p:grpSpPr>
          <p:cxnSp>
            <p:nvCxnSpPr>
              <p:cNvPr id="1428" name="Google Shape;1428;p96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9" name="Google Shape;1429;p96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430" name="Google Shape;1430;p96"/>
          <p:cNvGrpSpPr/>
          <p:nvPr/>
        </p:nvGrpSpPr>
        <p:grpSpPr>
          <a:xfrm>
            <a:off x="5305172" y="2590827"/>
            <a:ext cx="878268" cy="878268"/>
            <a:chOff x="5430500" y="2384825"/>
            <a:chExt cx="760800" cy="760800"/>
          </a:xfrm>
        </p:grpSpPr>
        <p:sp>
          <p:nvSpPr>
            <p:cNvPr id="1431" name="Google Shape;1431;p96"/>
            <p:cNvSpPr/>
            <p:nvPr/>
          </p:nvSpPr>
          <p:spPr>
            <a:xfrm>
              <a:off x="5430500" y="2384825"/>
              <a:ext cx="760800" cy="7608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32" name="Google Shape;1432;p96"/>
            <p:cNvGrpSpPr/>
            <p:nvPr/>
          </p:nvGrpSpPr>
          <p:grpSpPr>
            <a:xfrm>
              <a:off x="5765164" y="2711442"/>
              <a:ext cx="91423" cy="107502"/>
              <a:chOff x="1514525" y="2733525"/>
              <a:chExt cx="76800" cy="90300"/>
            </a:xfrm>
          </p:grpSpPr>
          <p:cxnSp>
            <p:nvCxnSpPr>
              <p:cNvPr id="1433" name="Google Shape;1433;p96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4" name="Google Shape;1434;p96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1435" name="Google Shape;1435;p96"/>
          <p:cNvCxnSpPr/>
          <p:nvPr/>
        </p:nvCxnSpPr>
        <p:spPr>
          <a:xfrm rot="10800000" flipH="1">
            <a:off x="5011831" y="3023216"/>
            <a:ext cx="744000" cy="339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436" name="Google Shape;1436;p96"/>
          <p:cNvGrpSpPr/>
          <p:nvPr/>
        </p:nvGrpSpPr>
        <p:grpSpPr>
          <a:xfrm>
            <a:off x="5320250" y="4125139"/>
            <a:ext cx="605021" cy="605021"/>
            <a:chOff x="4405875" y="2503200"/>
            <a:chExt cx="524100" cy="524100"/>
          </a:xfrm>
        </p:grpSpPr>
        <p:sp>
          <p:nvSpPr>
            <p:cNvPr id="1437" name="Google Shape;1437;p96"/>
            <p:cNvSpPr/>
            <p:nvPr/>
          </p:nvSpPr>
          <p:spPr>
            <a:xfrm>
              <a:off x="4405875" y="2503200"/>
              <a:ext cx="524100" cy="5241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38" name="Google Shape;1438;p96"/>
            <p:cNvGrpSpPr/>
            <p:nvPr/>
          </p:nvGrpSpPr>
          <p:grpSpPr>
            <a:xfrm>
              <a:off x="4622164" y="2711442"/>
              <a:ext cx="91423" cy="107502"/>
              <a:chOff x="1514525" y="2733525"/>
              <a:chExt cx="76800" cy="90300"/>
            </a:xfrm>
          </p:grpSpPr>
          <p:cxnSp>
            <p:nvCxnSpPr>
              <p:cNvPr id="1439" name="Google Shape;1439;p96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0" name="Google Shape;1440;p96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441" name="Google Shape;1441;p96"/>
          <p:cNvGrpSpPr/>
          <p:nvPr/>
        </p:nvGrpSpPr>
        <p:grpSpPr>
          <a:xfrm>
            <a:off x="5305172" y="3962427"/>
            <a:ext cx="878268" cy="878268"/>
            <a:chOff x="5430500" y="2384825"/>
            <a:chExt cx="760800" cy="760800"/>
          </a:xfrm>
        </p:grpSpPr>
        <p:sp>
          <p:nvSpPr>
            <p:cNvPr id="1442" name="Google Shape;1442;p96"/>
            <p:cNvSpPr/>
            <p:nvPr/>
          </p:nvSpPr>
          <p:spPr>
            <a:xfrm>
              <a:off x="5430500" y="2384825"/>
              <a:ext cx="760800" cy="7608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43" name="Google Shape;1443;p96"/>
            <p:cNvGrpSpPr/>
            <p:nvPr/>
          </p:nvGrpSpPr>
          <p:grpSpPr>
            <a:xfrm>
              <a:off x="5765164" y="2711442"/>
              <a:ext cx="91423" cy="107502"/>
              <a:chOff x="1514525" y="2733525"/>
              <a:chExt cx="76800" cy="90300"/>
            </a:xfrm>
          </p:grpSpPr>
          <p:cxnSp>
            <p:nvCxnSpPr>
              <p:cNvPr id="1444" name="Google Shape;1444;p96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5" name="Google Shape;1445;p96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1446" name="Google Shape;1446;p96"/>
          <p:cNvCxnSpPr/>
          <p:nvPr/>
        </p:nvCxnSpPr>
        <p:spPr>
          <a:xfrm rot="10800000" flipH="1">
            <a:off x="5617600" y="4395775"/>
            <a:ext cx="128700" cy="381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7" name="Google Shape;1447;p96"/>
          <p:cNvSpPr txBox="1"/>
          <p:nvPr>
            <p:ph type="body" idx="1"/>
          </p:nvPr>
        </p:nvSpPr>
        <p:spPr>
          <a:xfrm>
            <a:off x="1914925" y="2881175"/>
            <a:ext cx="1923900" cy="29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distance = 12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8" name="Google Shape;1448;p96"/>
          <p:cNvSpPr txBox="1"/>
          <p:nvPr>
            <p:ph type="body" idx="1"/>
          </p:nvPr>
        </p:nvSpPr>
        <p:spPr>
          <a:xfrm>
            <a:off x="1914925" y="4176575"/>
            <a:ext cx="1923900" cy="29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distance = 2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9" name="Google Shape;1449;p96"/>
          <p:cNvSpPr txBox="1"/>
          <p:nvPr>
            <p:ph type="title"/>
          </p:nvPr>
        </p:nvSpPr>
        <p:spPr>
          <a:xfrm>
            <a:off x="1479300" y="78947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circles that intersect exactly once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53" name="Shape 1453"/>
        <p:cNvGrpSpPr/>
        <p:nvPr/>
      </p:nvGrpSpPr>
      <p:grpSpPr>
        <a:xfrm>
          <a:off x="0" y="0"/>
          <a:ext cx="0" cy="0"/>
        </a:xfrm>
      </p:grpSpPr>
      <p:sp>
        <p:nvSpPr>
          <p:cNvPr id="1454" name="Google Shape;1454;p97"/>
          <p:cNvSpPr txBox="1"/>
          <p:nvPr>
            <p:ph type="body" idx="1"/>
          </p:nvPr>
        </p:nvSpPr>
        <p:spPr>
          <a:xfrm>
            <a:off x="324000" y="835500"/>
            <a:ext cx="8496000" cy="60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Draw two points 12 cm apart. Draw a circle around each point so that </a:t>
            </a:r>
            <a:br>
              <a:rPr lang="en-GB" sz="1800"/>
            </a:br>
            <a:r>
              <a:rPr lang="en-GB" sz="1800"/>
              <a:t>    they touch each other exactly once. What is the radius of each circle?</a:t>
            </a:r>
            <a:endParaRPr sz="1800"/>
          </a:p>
        </p:txBody>
      </p:sp>
      <p:sp>
        <p:nvSpPr>
          <p:cNvPr id="1455" name="Google Shape;1455;p97"/>
          <p:cNvSpPr txBox="1"/>
          <p:nvPr>
            <p:ph type="body" idx="4294967295"/>
          </p:nvPr>
        </p:nvSpPr>
        <p:spPr>
          <a:xfrm>
            <a:off x="575400" y="1665200"/>
            <a:ext cx="7363200" cy="39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Any pair of positive numbers that sum to 12 (e.g. 6 and 6).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6" name="Google Shape;1456;p97"/>
          <p:cNvSpPr txBox="1"/>
          <p:nvPr>
            <p:ph type="body" idx="4294967295"/>
          </p:nvPr>
        </p:nvSpPr>
        <p:spPr>
          <a:xfrm>
            <a:off x="575400" y="2570575"/>
            <a:ext cx="7746300" cy="39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Any pair of positive numbers with a difference of 12 (e.g. 14 and 2).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7" name="Google Shape;1457;p97"/>
          <p:cNvSpPr txBox="1"/>
          <p:nvPr>
            <p:ph type="body" idx="4294967295"/>
          </p:nvPr>
        </p:nvSpPr>
        <p:spPr>
          <a:xfrm>
            <a:off x="3666350" y="2115338"/>
            <a:ext cx="277800" cy="31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or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8" name="Google Shape;1458;p97"/>
          <p:cNvSpPr txBox="1"/>
          <p:nvPr>
            <p:ph type="title"/>
          </p:nvPr>
        </p:nvSpPr>
        <p:spPr>
          <a:xfrm>
            <a:off x="1479300" y="78947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circles that intersect exactly once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62" name="Shape 1462"/>
        <p:cNvGrpSpPr/>
        <p:nvPr/>
      </p:nvGrpSpPr>
      <p:grpSpPr>
        <a:xfrm>
          <a:off x="0" y="0"/>
          <a:ext cx="0" cy="0"/>
        </a:xfrm>
      </p:grpSpPr>
      <p:cxnSp>
        <p:nvCxnSpPr>
          <p:cNvPr id="1463" name="Google Shape;1463;p98"/>
          <p:cNvCxnSpPr/>
          <p:nvPr/>
        </p:nvCxnSpPr>
        <p:spPr>
          <a:xfrm>
            <a:off x="1935075" y="2776275"/>
            <a:ext cx="4554300" cy="6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4" name="Google Shape;1464;p98"/>
          <p:cNvSpPr/>
          <p:nvPr/>
        </p:nvSpPr>
        <p:spPr>
          <a:xfrm>
            <a:off x="1153500" y="1997075"/>
            <a:ext cx="1558200" cy="1558200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98"/>
          <p:cNvSpPr txBox="1"/>
          <p:nvPr>
            <p:ph type="body" idx="1"/>
          </p:nvPr>
        </p:nvSpPr>
        <p:spPr>
          <a:xfrm>
            <a:off x="324000" y="759300"/>
            <a:ext cx="8496000" cy="44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3) Points A, B, C and D are on the same line. Draw an accurate version of the </a:t>
            </a:r>
            <a:br>
              <a:rPr lang="en-GB" sz="1800"/>
            </a:br>
            <a:r>
              <a:rPr lang="en-GB" sz="1800"/>
              <a:t>    diagram.</a:t>
            </a:r>
            <a:endParaRPr sz="1800"/>
          </a:p>
        </p:txBody>
      </p:sp>
      <p:sp>
        <p:nvSpPr>
          <p:cNvPr id="1466" name="Google Shape;1466;p98"/>
          <p:cNvSpPr/>
          <p:nvPr/>
        </p:nvSpPr>
        <p:spPr>
          <a:xfrm>
            <a:off x="1871875" y="2715450"/>
            <a:ext cx="121500" cy="12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98"/>
          <p:cNvSpPr/>
          <p:nvPr/>
        </p:nvSpPr>
        <p:spPr>
          <a:xfrm>
            <a:off x="3776875" y="2715450"/>
            <a:ext cx="121500" cy="12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98"/>
          <p:cNvSpPr/>
          <p:nvPr/>
        </p:nvSpPr>
        <p:spPr>
          <a:xfrm>
            <a:off x="5515964" y="2715450"/>
            <a:ext cx="121500" cy="12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98"/>
          <p:cNvSpPr/>
          <p:nvPr/>
        </p:nvSpPr>
        <p:spPr>
          <a:xfrm>
            <a:off x="6421718" y="2715450"/>
            <a:ext cx="121500" cy="12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98"/>
          <p:cNvSpPr/>
          <p:nvPr/>
        </p:nvSpPr>
        <p:spPr>
          <a:xfrm>
            <a:off x="2711700" y="1650275"/>
            <a:ext cx="2251800" cy="2251800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98"/>
          <p:cNvSpPr/>
          <p:nvPr/>
        </p:nvSpPr>
        <p:spPr>
          <a:xfrm>
            <a:off x="4962889" y="2160475"/>
            <a:ext cx="1245000" cy="1245000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98"/>
          <p:cNvSpPr/>
          <p:nvPr/>
        </p:nvSpPr>
        <p:spPr>
          <a:xfrm>
            <a:off x="4966558" y="1271874"/>
            <a:ext cx="3022200" cy="3022200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73" name="Google Shape;1473;p98"/>
          <p:cNvCxnSpPr>
            <a:endCxn id="1464" idx="4"/>
          </p:cNvCxnSpPr>
          <p:nvPr/>
        </p:nvCxnSpPr>
        <p:spPr>
          <a:xfrm flipH="1">
            <a:off x="1932600" y="2784275"/>
            <a:ext cx="5400" cy="7710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74" name="Google Shape;1474;p98"/>
          <p:cNvCxnSpPr>
            <a:endCxn id="1470" idx="4"/>
          </p:cNvCxnSpPr>
          <p:nvPr/>
        </p:nvCxnSpPr>
        <p:spPr>
          <a:xfrm>
            <a:off x="3834300" y="2799575"/>
            <a:ext cx="3300" cy="11025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75" name="Google Shape;1475;p98"/>
          <p:cNvCxnSpPr>
            <a:endCxn id="1471" idx="4"/>
          </p:cNvCxnSpPr>
          <p:nvPr/>
        </p:nvCxnSpPr>
        <p:spPr>
          <a:xfrm>
            <a:off x="5573389" y="2815075"/>
            <a:ext cx="12000" cy="5904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76" name="Google Shape;1476;p98"/>
          <p:cNvCxnSpPr>
            <a:endCxn id="1472" idx="4"/>
          </p:cNvCxnSpPr>
          <p:nvPr/>
        </p:nvCxnSpPr>
        <p:spPr>
          <a:xfrm flipH="1">
            <a:off x="6477658" y="2830374"/>
            <a:ext cx="10200" cy="14637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77" name="Google Shape;1477;p98"/>
          <p:cNvSpPr txBox="1"/>
          <p:nvPr>
            <p:ph type="body" idx="1"/>
          </p:nvPr>
        </p:nvSpPr>
        <p:spPr>
          <a:xfrm>
            <a:off x="5592155" y="2972071"/>
            <a:ext cx="517200" cy="25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 cm</a:t>
            </a:r>
            <a:endParaRPr sz="1600"/>
          </a:p>
        </p:txBody>
      </p:sp>
      <p:sp>
        <p:nvSpPr>
          <p:cNvPr id="1478" name="Google Shape;1478;p98"/>
          <p:cNvSpPr txBox="1"/>
          <p:nvPr>
            <p:ph type="body" idx="1"/>
          </p:nvPr>
        </p:nvSpPr>
        <p:spPr>
          <a:xfrm>
            <a:off x="6504669" y="3420625"/>
            <a:ext cx="736500" cy="25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479" name="Google Shape;1479;p98"/>
          <p:cNvSpPr txBox="1"/>
          <p:nvPr>
            <p:ph type="body" idx="1"/>
          </p:nvPr>
        </p:nvSpPr>
        <p:spPr>
          <a:xfrm>
            <a:off x="1941299" y="3048275"/>
            <a:ext cx="736500" cy="25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3.5 cm</a:t>
            </a:r>
            <a:endParaRPr sz="1600"/>
          </a:p>
        </p:txBody>
      </p:sp>
      <p:sp>
        <p:nvSpPr>
          <p:cNvPr id="1480" name="Google Shape;1480;p98"/>
          <p:cNvSpPr txBox="1"/>
          <p:nvPr>
            <p:ph type="body" idx="1"/>
          </p:nvPr>
        </p:nvSpPr>
        <p:spPr>
          <a:xfrm>
            <a:off x="3880087" y="3200671"/>
            <a:ext cx="517200" cy="25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 cm</a:t>
            </a:r>
            <a:endParaRPr sz="1600"/>
          </a:p>
        </p:txBody>
      </p:sp>
      <p:sp>
        <p:nvSpPr>
          <p:cNvPr id="1481" name="Google Shape;1481;p98"/>
          <p:cNvSpPr txBox="1"/>
          <p:nvPr>
            <p:ph type="body" idx="1"/>
          </p:nvPr>
        </p:nvSpPr>
        <p:spPr>
          <a:xfrm>
            <a:off x="324000" y="4359950"/>
            <a:ext cx="8445900" cy="32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To check, measure the distance between points A and D. It should be 17.5 cm. 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2" name="Google Shape;1482;p98"/>
          <p:cNvSpPr txBox="1"/>
          <p:nvPr>
            <p:ph type="body" idx="1"/>
          </p:nvPr>
        </p:nvSpPr>
        <p:spPr>
          <a:xfrm>
            <a:off x="1854626" y="2477864"/>
            <a:ext cx="223500" cy="25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483" name="Google Shape;1483;p98"/>
          <p:cNvSpPr txBox="1"/>
          <p:nvPr>
            <p:ph type="body" idx="1"/>
          </p:nvPr>
        </p:nvSpPr>
        <p:spPr>
          <a:xfrm>
            <a:off x="3759626" y="2477864"/>
            <a:ext cx="223500" cy="25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484" name="Google Shape;1484;p98"/>
          <p:cNvSpPr txBox="1"/>
          <p:nvPr>
            <p:ph type="body" idx="1"/>
          </p:nvPr>
        </p:nvSpPr>
        <p:spPr>
          <a:xfrm>
            <a:off x="5505471" y="2477864"/>
            <a:ext cx="223500" cy="25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485" name="Google Shape;1485;p98"/>
          <p:cNvSpPr txBox="1"/>
          <p:nvPr>
            <p:ph type="body" idx="1"/>
          </p:nvPr>
        </p:nvSpPr>
        <p:spPr>
          <a:xfrm>
            <a:off x="6406360" y="2477864"/>
            <a:ext cx="223500" cy="25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cxnSp>
        <p:nvCxnSpPr>
          <p:cNvPr id="1486" name="Google Shape;1486;p98"/>
          <p:cNvCxnSpPr/>
          <p:nvPr/>
        </p:nvCxnSpPr>
        <p:spPr>
          <a:xfrm>
            <a:off x="1946110" y="2772196"/>
            <a:ext cx="45516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87" name="Google Shape;1487;p98"/>
          <p:cNvSpPr txBox="1"/>
          <p:nvPr>
            <p:ph type="title"/>
          </p:nvPr>
        </p:nvSpPr>
        <p:spPr>
          <a:xfrm>
            <a:off x="1479300" y="78947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Drawing circles that intersect exactly once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91" name="Shape 1491"/>
        <p:cNvGrpSpPr/>
        <p:nvPr/>
      </p:nvGrpSpPr>
      <p:grpSpPr>
        <a:xfrm>
          <a:off x="0" y="0"/>
          <a:ext cx="0" cy="0"/>
        </a:xfrm>
      </p:grpSpPr>
      <p:sp>
        <p:nvSpPr>
          <p:cNvPr id="1492" name="Google Shape;1492;p9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A pair of compasses can be used to draw a circle with a specific radius.</a:t>
            </a:r>
            <a:br>
              <a:rPr lang="en-GB"/>
            </a:br>
            <a:endParaRPr sz="600"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A pair of compasses can be used to draw two circles that intersect.</a:t>
            </a:r>
            <a:br>
              <a:rPr lang="en-GB"/>
            </a:br>
            <a:endParaRPr sz="600"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A pair of compasses can be used to draw two circles that intersect exactly once.</a:t>
            </a:r>
            <a:br>
              <a:rPr lang="en-GB"/>
            </a:br>
            <a:endParaRPr sz="600"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Drawing with a pair of compasses becomes easier over time with practice.</a:t>
            </a:r>
            <a:endParaRPr/>
          </a:p>
        </p:txBody>
      </p:sp>
      <p:sp>
        <p:nvSpPr>
          <p:cNvPr id="1493" name="Google Shape;1493;p99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the skill of using a pair of compasses</a:t>
            </a:r>
            <a:endParaRPr/>
          </a:p>
        </p:txBody>
      </p:sp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97" name="Shape 1497"/>
        <p:cNvGrpSpPr/>
        <p:nvPr/>
      </p:nvGrpSpPr>
      <p:grpSpPr>
        <a:xfrm>
          <a:off x="0" y="0"/>
          <a:ext cx="0" cy="0"/>
        </a:xfrm>
      </p:grpSpPr>
      <p:sp>
        <p:nvSpPr>
          <p:cNvPr id="1498" name="Google Shape;1498;p100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99" name="Google Shape;1499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218</Paragraphs>
  <Slides>38</Slides>
  <Notes>38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baseType="lpstr" size="46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Securing the skill of using a pair of compasses</vt:lpstr>
      <vt:lpstr>PowerPoint Presentation</vt:lpstr>
      <vt:lpstr>PowerPoint Presentation</vt:lpstr>
      <vt:lpstr>PowerPoint Presentation</vt:lpstr>
      <vt:lpstr>Drawing diagrams containing multiple circles</vt:lpstr>
      <vt:lpstr>Drawing diagrams containing multiple circles </vt:lpstr>
      <vt:lpstr>Drawing diagrams containing multiple circles </vt:lpstr>
      <vt:lpstr>Sofia has got her pair of compasses ready to draw a circle. Which statement will be true?</vt:lpstr>
      <vt:lpstr>Drawing diagrams containing multiple circles </vt:lpstr>
      <vt:lpstr>Drawing diagrams containing multiple circles </vt:lpstr>
      <vt:lpstr>Drawing diagrams containing multiple circles </vt:lpstr>
      <vt:lpstr>Drawing diagrams containing multiple circles </vt:lpstr>
      <vt:lpstr>Drawing diagrams containing multiple circles </vt:lpstr>
      <vt:lpstr>Drawing diagrams containing multiple circles </vt:lpstr>
      <vt:lpstr>Drawing diagrams containing multiple circles </vt:lpstr>
      <vt:lpstr>Drawing diagrams containing multiple circles </vt:lpstr>
      <vt:lpstr>Drawing diagrams containing multiple circles </vt:lpstr>
      <vt:lpstr>Drawing diagrams containing multiple circles </vt:lpstr>
      <vt:lpstr>Drawing diagrams containing multiple circles </vt:lpstr>
      <vt:lpstr>Drawing diagrams containing multiple circles </vt:lpstr>
      <vt:lpstr>Drawing diagrams containing multiple circles </vt:lpstr>
      <vt:lpstr>Drawing diagrams containing multiple circles</vt:lpstr>
      <vt:lpstr>Drawing circles that intersect exactly once</vt:lpstr>
      <vt:lpstr>Drawing circles that intersect exactly once</vt:lpstr>
      <vt:lpstr>Drawing circles that intersect exactly once</vt:lpstr>
      <vt:lpstr>Drawing circles that intersect exactly once</vt:lpstr>
      <vt:lpstr>Drawing circles that intersect exactly once</vt:lpstr>
      <vt:lpstr>The two centre points in each diagram are 10 cm apart. All lengths are given in cm. In which diagram could the measurements be correct? </vt:lpstr>
      <vt:lpstr>The two centre points in each diagram are 10 cm apart. All lengths are given in cm. In which diagram could the measurements be correct? </vt:lpstr>
      <vt:lpstr>How far apart would the centre points of these two circles need to be for the circles to touch exactly once?</vt:lpstr>
      <vt:lpstr>How far apart would the centre points of these two circles need to be for the circles to touch exactly once?</vt:lpstr>
      <vt:lpstr>Drawing circles that intersect exactly once</vt:lpstr>
      <vt:lpstr>Drawing circles that intersect exactly once</vt:lpstr>
      <vt:lpstr>Drawing circles that intersect exactly once</vt:lpstr>
      <vt:lpstr>Drawing circles that intersect exactly once</vt:lpstr>
      <vt:lpstr>Drawing circles that intersect exactly once</vt:lpstr>
      <vt:lpstr>Securing the skill of using a pair of compasses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2024-02-06T10:12:20.533</cp:lastPrinted>
  <dcterms:created xsi:type="dcterms:W3CDTF">2024-02-06T10:12:20Z</dcterms:created>
  <dcterms:modified xsi:type="dcterms:W3CDTF">2024-02-06T10:15:47Z</dcterms:modified>
</cp:coreProperties>
</file>