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36d481e83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g2a36d481e83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a36d481e83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g2a36d481e83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a36d481e8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2a36d481e8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a36d481e83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g2a36d481e83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72560e44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72560e44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a36d481e83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g2a36d481e83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a36d481e83_0_1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g2a36d481e83_0_1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a36d481e83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g2a36d481e83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a36d481e83_0_1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2a36d481e83_0_1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a36d481e83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3" name="Google Shape;943;g2a36d481e83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a36d481e83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g2a36d481e83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a36d481e83_0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g2a36d481e83_0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a36d481e83_0_1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g2a36d481e83_0_1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a36d481e83_0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5" name="Google Shape;1045;g2a36d481e83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a36d481e83_0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3" name="Google Shape;1073;g2a36d481e83_0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a36d481e83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6" name="Google Shape;1086;g2a36d481e83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a36d481e83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0" name="Google Shape;1120;g2a36d481e83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a36d481e83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1" name="Google Shape;1151;g2a36d481e83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2a36d481e83_0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3" name="Google Shape;1183;g2a36d481e83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a36d481e83_0_1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9" name="Google Shape;1209;g2a36d481e83_0_1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a36d481e83_0_1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0" name="Google Shape;1230;g2a36d481e83_0_1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a36d481e83_0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g2a36d481e83_0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a36d481e83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0" name="Google Shape;1250;g2a36d481e83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a36d481e83_0_1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7" name="Google Shape;1267;g2a36d481e83_0_1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72560e441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372560e441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a36d481e83_0_1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9" name="Google Shape;1299;g2a36d481e83_0_1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a36d481e83_0_1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g2a36d481e83_0_1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a36d481e83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g2a36d481e83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2a36d481e83_0_1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g2a36d481e83_0_1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a36d481e83_0_1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g2a36d481e83_0_1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2a36d481e83_0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5" name="Google Shape;1395;g2a36d481e83_0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a36d481e83_0_1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6" name="Google Shape;1416;g2a36d481e83_0_1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a36d481e83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5" name="Google Shape;1445;g2a36d481e83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a36d481e83_0_1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6" name="Google Shape;1476;g2a36d481e83_0_1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a36d481e83_0_1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7" name="Google Shape;1497;g2a36d481e83_0_1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a36d481e83_0_1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3" name="Google Shape;1523;g2a36d481e83_0_1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2a36d481e83_0_1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0" name="Google Shape;1550;g2a36d481e83_0_1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a36d481e83_0_1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1" name="Google Shape;1561;g2a36d481e83_0_1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372560e441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6" name="Google Shape;1586;g372560e441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a36d481e83_0_2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5" name="Google Shape;1595;g2a36d481e83_0_2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a36d481e83_0_2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2" name="Google Shape;1622;g2a36d481e83_0_2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a36d481e83_0_2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5" name="Google Shape;1645;g2a36d481e83_0_2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2a36d481e83_0_2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1" name="Google Shape;1661;g2a36d481e83_0_2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2a36d481e83_0_2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6" name="Google Shape;1676;g2a36d481e83_0_2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2a36d481e83_0_2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7" name="Google Shape;1697;g2a36d481e83_0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2a36d481e83_0_2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0" name="Google Shape;1720;g2a36d481e83_0_2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2a36d481e83_0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0" name="Google Shape;1750;g2a36d481e83_0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2a36d481e83_0_2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1" name="Google Shape;1771;g2a36d481e83_0_2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2a36d481e83_0_2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0" name="Google Shape;1810;g2a36d481e83_0_2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2a36d481e83_0_2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1" name="Google Shape;1821;g2a36d481e83_0_2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2a36d481e83_0_2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1" name="Google Shape;1831;g2a36d481e83_0_2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2a36d481e83_0_2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2" name="Google Shape;1852;g2a36d481e83_0_2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2a36d481e83_0_2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7" name="Google Shape;1867;g2a36d481e83_0_2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2a36d481e83_0_2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3" name="Google Shape;1873;g2a36d481e83_0_2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68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68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68.png"/><Relationship Id="rId4" Type="http://schemas.openxmlformats.org/officeDocument/2006/relationships/image" Target="../media/image28.png"/><Relationship Id="rId11" Type="http://schemas.openxmlformats.org/officeDocument/2006/relationships/image" Target="../media/image21.png"/><Relationship Id="rId10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7" name="Google Shape;74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0" name="Google Shape;750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 1">
  <p:cSld name="TITLE_AND_TWO_COLUMNS_1_1_5_1_3_1_1_1_2">
    <p:bg>
      <p:bgPr>
        <a:solidFill>
          <a:srgbClr val="F3EEFB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55" name="Google Shape;75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8" name="Google Shape;758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3" name="Google Shape;763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4" name="Google Shape;76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6" name="Google Shape;766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Google Shape;768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1" name="Google Shape;771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2" name="Google Shape;77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4" name="Google Shape;774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 1">
  <p:cSld name="TITLE_AND_TWO_COLUMNS_1_1_5_1_3_1_2_2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9" name="Google Shape;779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0" name="Google Shape;78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2" name="Google Shape;782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 1">
  <p:cSld name="TITLE_AND_TWO_COLUMNS_1_1_5_1_3_1_2_1_1">
    <p:bg>
      <p:bgPr>
        <a:solidFill>
          <a:srgbClr val="EBEDFE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7" name="Google Shape;787;p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0" name="Google Shape;790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 1">
  <p:cSld name="TITLE_AND_TWO_COLUMNS_1_1_5_1_3_1_1_1_1_1_2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5" name="Google Shape;795;p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8" name="Google Shape;798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 1">
  <p:cSld name="TITLE_AND_TWO_COLUMNS_1_1_5_1_3_1_1_1_1_1_1_1">
    <p:bg>
      <p:bgPr>
        <a:solidFill>
          <a:srgbClr val="FAEAF6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0" name="Google Shape;800;p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3" name="Google Shape;803;p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4" name="Google Shape;80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 1">
  <p:cSld name="TITLE_AND_TWO_COLUMNS_1_1_5_1_2_1_1_1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theme" Target="../theme/theme2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2.png"/><Relationship Id="rId4" Type="http://schemas.openxmlformats.org/officeDocument/2006/relationships/image" Target="../media/image58.png"/><Relationship Id="rId5" Type="http://schemas.openxmlformats.org/officeDocument/2006/relationships/image" Target="../media/image6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8.png"/><Relationship Id="rId4" Type="http://schemas.openxmlformats.org/officeDocument/2006/relationships/image" Target="../media/image64.png"/><Relationship Id="rId5" Type="http://schemas.openxmlformats.org/officeDocument/2006/relationships/image" Target="../media/image6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2.png"/><Relationship Id="rId4" Type="http://schemas.openxmlformats.org/officeDocument/2006/relationships/image" Target="../media/image58.png"/><Relationship Id="rId5" Type="http://schemas.openxmlformats.org/officeDocument/2006/relationships/image" Target="../media/image6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8.png"/><Relationship Id="rId4" Type="http://schemas.openxmlformats.org/officeDocument/2006/relationships/image" Target="../media/image67.png"/><Relationship Id="rId5" Type="http://schemas.openxmlformats.org/officeDocument/2006/relationships/image" Target="../media/image6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7.png"/><Relationship Id="rId4" Type="http://schemas.openxmlformats.org/officeDocument/2006/relationships/image" Target="../media/image58.png"/><Relationship Id="rId5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7.png"/><Relationship Id="rId4" Type="http://schemas.openxmlformats.org/officeDocument/2006/relationships/image" Target="../media/image62.png"/><Relationship Id="rId5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7.png"/><Relationship Id="rId4" Type="http://schemas.openxmlformats.org/officeDocument/2006/relationships/image" Target="../media/image58.png"/><Relationship Id="rId5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9.png"/><Relationship Id="rId4" Type="http://schemas.openxmlformats.org/officeDocument/2006/relationships/image" Target="../media/image7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8.png"/><Relationship Id="rId4" Type="http://schemas.openxmlformats.org/officeDocument/2006/relationships/image" Target="../media/image58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Relationship Id="rId4" Type="http://schemas.openxmlformats.org/officeDocument/2006/relationships/image" Target="../media/image7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4.png"/><Relationship Id="rId4" Type="http://schemas.openxmlformats.org/officeDocument/2006/relationships/image" Target="../media/image5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9.png"/><Relationship Id="rId4" Type="http://schemas.openxmlformats.org/officeDocument/2006/relationships/image" Target="../media/image44.png"/><Relationship Id="rId5" Type="http://schemas.openxmlformats.org/officeDocument/2006/relationships/image" Target="../media/image7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9.png"/><Relationship Id="rId4" Type="http://schemas.openxmlformats.org/officeDocument/2006/relationships/image" Target="../media/image4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Bisecting an angle</a:t>
            </a:r>
            <a:endParaRPr/>
          </a:p>
        </p:txBody>
      </p:sp>
      <p:sp>
        <p:nvSpPr>
          <p:cNvPr id="818" name="Google Shape;818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Constructions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2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I can use the properties of a rhombus to construct an angle bisector.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4"/>
          <p:cNvSpPr txBox="1"/>
          <p:nvPr>
            <p:ph idx="4" type="subTitle"/>
          </p:nvPr>
        </p:nvSpPr>
        <p:spPr>
          <a:xfrm>
            <a:off x="324000" y="8100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800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To </a:t>
            </a:r>
            <a:r>
              <a:rPr lang="en-GB">
                <a:solidFill>
                  <a:schemeClr val="dk1"/>
                </a:solidFill>
              </a:rPr>
              <a:t>bisect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means to cut or divide an object into two equal parts. </a:t>
            </a:r>
            <a:endParaRPr/>
          </a:p>
        </p:txBody>
      </p:sp>
      <p:sp>
        <p:nvSpPr>
          <p:cNvPr id="834" name="Google Shape;834;p74"/>
          <p:cNvSpPr txBox="1"/>
          <p:nvPr>
            <p:ph idx="2" type="subTitle"/>
          </p:nvPr>
        </p:nvSpPr>
        <p:spPr>
          <a:xfrm>
            <a:off x="324000" y="18360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800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A rhombus is a parallelogram where all sides are the same length.  </a:t>
            </a:r>
            <a:endParaRPr/>
          </a:p>
        </p:txBody>
      </p:sp>
      <p:sp>
        <p:nvSpPr>
          <p:cNvPr id="835" name="Google Shape;835;p74"/>
          <p:cNvSpPr txBox="1"/>
          <p:nvPr>
            <p:ph idx="6" type="subTitle"/>
          </p:nvPr>
        </p:nvSpPr>
        <p:spPr>
          <a:xfrm>
            <a:off x="324000" y="3240000"/>
            <a:ext cx="8496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800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If one shape can fit exactly on top of another using rotation, reflection or translation, then the shapes are </a:t>
            </a:r>
            <a:r>
              <a:rPr lang="en-GB">
                <a:solidFill>
                  <a:schemeClr val="dk1"/>
                </a:solidFill>
              </a:rPr>
              <a:t>congruent. </a:t>
            </a:r>
            <a:endParaRPr/>
          </a:p>
        </p:txBody>
      </p:sp>
      <p:pic>
        <p:nvPicPr>
          <p:cNvPr id="836" name="Google Shape;836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7174" y="1869750"/>
            <a:ext cx="932700" cy="7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842" name="Google Shape;842;p7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843" name="Google Shape;843;p7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sp>
        <p:nvSpPr>
          <p:cNvPr id="844" name="Google Shape;844;p7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Bisecting an angle</a:t>
            </a:r>
            <a:endParaRPr/>
          </a:p>
        </p:txBody>
      </p:sp>
      <p:pic>
        <p:nvPicPr>
          <p:cNvPr id="845" name="Google Shape;84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337" y="174364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pic>
        <p:nvPicPr>
          <p:cNvPr id="851" name="Google Shape;85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11559" y="1669800"/>
            <a:ext cx="649083" cy="79957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6"/>
          <p:cNvSpPr txBox="1"/>
          <p:nvPr/>
        </p:nvSpPr>
        <p:spPr>
          <a:xfrm flipH="1">
            <a:off x="324000" y="2469375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3" name="Google Shape;853;p76"/>
          <p:cNvGrpSpPr/>
          <p:nvPr/>
        </p:nvGrpSpPr>
        <p:grpSpPr>
          <a:xfrm>
            <a:off x="4770349" y="1951698"/>
            <a:ext cx="2905455" cy="1653843"/>
            <a:chOff x="2967399" y="1340673"/>
            <a:chExt cx="2905455" cy="1653843"/>
          </a:xfrm>
        </p:grpSpPr>
        <p:sp>
          <p:nvSpPr>
            <p:cNvPr id="854" name="Google Shape;854;p76"/>
            <p:cNvSpPr/>
            <p:nvPr/>
          </p:nvSpPr>
          <p:spPr>
            <a:xfrm rot="-5400000">
              <a:off x="2967399" y="1802316"/>
              <a:ext cx="1192200" cy="1192200"/>
            </a:xfrm>
            <a:prstGeom prst="arc">
              <a:avLst>
                <a:gd fmla="val 2008970" name="adj1"/>
                <a:gd fmla="val 5469624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5" name="Google Shape;855;p76"/>
            <p:cNvCxnSpPr/>
            <p:nvPr/>
          </p:nvCxnSpPr>
          <p:spPr>
            <a:xfrm>
              <a:off x="3533454" y="2412006"/>
              <a:ext cx="233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6" name="Google Shape;856;p76"/>
            <p:cNvCxnSpPr/>
            <p:nvPr/>
          </p:nvCxnSpPr>
          <p:spPr>
            <a:xfrm flipH="1" rot="10800000">
              <a:off x="3533476" y="1340673"/>
              <a:ext cx="735300" cy="108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7" name="Google Shape;857;p76"/>
            <p:cNvSpPr txBox="1"/>
            <p:nvPr/>
          </p:nvSpPr>
          <p:spPr>
            <a:xfrm>
              <a:off x="3619089" y="2114874"/>
              <a:ext cx="5958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56°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8" name="Google Shape;858;p76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004575" y="574825"/>
            <a:ext cx="3398098" cy="1653851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6"/>
          <p:cNvSpPr txBox="1"/>
          <p:nvPr/>
        </p:nvSpPr>
        <p:spPr>
          <a:xfrm>
            <a:off x="1279021" y="642421"/>
            <a:ext cx="30636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It’s impossible to construct a rhombus from this, as the two legs of the angle are different lengths!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1551" y="3826979"/>
            <a:ext cx="649101" cy="728622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/>
        </p:nvSpPr>
        <p:spPr>
          <a:xfrm flipH="1">
            <a:off x="324000" y="4555602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2" name="Google Shape;862;p76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004575" y="2776027"/>
            <a:ext cx="3398098" cy="1653851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6"/>
          <p:cNvSpPr txBox="1"/>
          <p:nvPr/>
        </p:nvSpPr>
        <p:spPr>
          <a:xfrm>
            <a:off x="1279021" y="2879243"/>
            <a:ext cx="30636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Oh, it’s possible! We just need to figure out a way to make the two legs of the angle the same length!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4" name="Google Shape;864;p76"/>
          <p:cNvGrpSpPr/>
          <p:nvPr/>
        </p:nvGrpSpPr>
        <p:grpSpPr>
          <a:xfrm>
            <a:off x="939524" y="612015"/>
            <a:ext cx="3523054" cy="1909770"/>
            <a:chOff x="4639186" y="3548575"/>
            <a:chExt cx="3524464" cy="1801500"/>
          </a:xfrm>
        </p:grpSpPr>
        <p:sp>
          <p:nvSpPr>
            <p:cNvPr id="865" name="Google Shape;865;p76"/>
            <p:cNvSpPr/>
            <p:nvPr/>
          </p:nvSpPr>
          <p:spPr>
            <a:xfrm>
              <a:off x="4887050" y="3548575"/>
              <a:ext cx="3276600" cy="180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66" name="Google Shape;866;p76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4639186" y="3578808"/>
              <a:ext cx="3427174" cy="1508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7" name="Google Shape;867;p76"/>
            <p:cNvSpPr txBox="1"/>
            <p:nvPr/>
          </p:nvSpPr>
          <p:spPr>
            <a:xfrm>
              <a:off x="4902086" y="3655259"/>
              <a:ext cx="3117300" cy="11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Oh,  we can just use a ruler to extend the shorter line! Make them both the same length!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77"/>
          <p:cNvGrpSpPr/>
          <p:nvPr/>
        </p:nvGrpSpPr>
        <p:grpSpPr>
          <a:xfrm>
            <a:off x="553441" y="3138265"/>
            <a:ext cx="3186925" cy="990462"/>
            <a:chOff x="4639187" y="3751531"/>
            <a:chExt cx="3255286" cy="1218431"/>
          </a:xfrm>
        </p:grpSpPr>
        <p:pic>
          <p:nvPicPr>
            <p:cNvPr id="873" name="Google Shape;873;p77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4639187" y="3751531"/>
              <a:ext cx="3255286" cy="1218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4" name="Google Shape;874;p77"/>
            <p:cNvSpPr txBox="1"/>
            <p:nvPr/>
          </p:nvSpPr>
          <p:spPr>
            <a:xfrm>
              <a:off x="4902086" y="3890981"/>
              <a:ext cx="29349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Oh no, exactly how many millimetres is that?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75" name="Google Shape;875;p77"/>
          <p:cNvPicPr preferRelativeResize="0"/>
          <p:nvPr/>
        </p:nvPicPr>
        <p:blipFill rotWithShape="1">
          <a:blip r:embed="rId4">
            <a:alphaModFix/>
          </a:blip>
          <a:srcRect b="0" l="0" r="63944" t="0"/>
          <a:stretch/>
        </p:blipFill>
        <p:spPr>
          <a:xfrm rot="-3360000">
            <a:off x="4783520" y="1769020"/>
            <a:ext cx="3186947" cy="104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6" name="Google Shape;876;p77"/>
          <p:cNvCxnSpPr/>
          <p:nvPr/>
        </p:nvCxnSpPr>
        <p:spPr>
          <a:xfrm flipH="1" rot="10800000">
            <a:off x="5339591" y="1051891"/>
            <a:ext cx="1338600" cy="1985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7" name="Google Shape;87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878" name="Google Shape;878;p77"/>
          <p:cNvSpPr/>
          <p:nvPr/>
        </p:nvSpPr>
        <p:spPr>
          <a:xfrm rot="-5400000">
            <a:off x="4770349" y="2413341"/>
            <a:ext cx="1192200" cy="1192200"/>
          </a:xfrm>
          <a:prstGeom prst="arc">
            <a:avLst>
              <a:gd fmla="val 2008970" name="adj1"/>
              <a:gd fmla="val 546962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9" name="Google Shape;879;p77"/>
          <p:cNvCxnSpPr/>
          <p:nvPr/>
        </p:nvCxnSpPr>
        <p:spPr>
          <a:xfrm>
            <a:off x="5336404" y="3023031"/>
            <a:ext cx="233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77"/>
          <p:cNvCxnSpPr/>
          <p:nvPr/>
        </p:nvCxnSpPr>
        <p:spPr>
          <a:xfrm flipH="1" rot="10800000">
            <a:off x="5336426" y="1951698"/>
            <a:ext cx="735300" cy="108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1" name="Google Shape;881;p77"/>
          <p:cNvSpPr txBox="1"/>
          <p:nvPr/>
        </p:nvSpPr>
        <p:spPr>
          <a:xfrm>
            <a:off x="5422039" y="2725899"/>
            <a:ext cx="595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2" name="Google Shape;882;p77"/>
          <p:cNvCxnSpPr/>
          <p:nvPr/>
        </p:nvCxnSpPr>
        <p:spPr>
          <a:xfrm flipH="1" rot="-7439301">
            <a:off x="5616837" y="2479165"/>
            <a:ext cx="735210" cy="108575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3" name="Google Shape;883;p77"/>
          <p:cNvSpPr txBox="1"/>
          <p:nvPr/>
        </p:nvSpPr>
        <p:spPr>
          <a:xfrm>
            <a:off x="324000" y="767700"/>
            <a:ext cx="478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Some lengths are really tricky to measure precisely using a ruler!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4" name="Google Shape;884;p77"/>
          <p:cNvPicPr preferRelativeResize="0"/>
          <p:nvPr/>
        </p:nvPicPr>
        <p:blipFill rotWithShape="1">
          <a:blip r:embed="rId4">
            <a:alphaModFix/>
          </a:blip>
          <a:srcRect b="0" l="0" r="63944" t="0"/>
          <a:stretch/>
        </p:blipFill>
        <p:spPr>
          <a:xfrm>
            <a:off x="4936371" y="2964525"/>
            <a:ext cx="3186949" cy="104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5" name="Google Shape;885;p77"/>
          <p:cNvGrpSpPr/>
          <p:nvPr/>
        </p:nvGrpSpPr>
        <p:grpSpPr>
          <a:xfrm>
            <a:off x="497106" y="2697036"/>
            <a:ext cx="3327913" cy="1538563"/>
            <a:chOff x="4639186" y="3548583"/>
            <a:chExt cx="3327913" cy="1538563"/>
          </a:xfrm>
        </p:grpSpPr>
        <p:sp>
          <p:nvSpPr>
            <p:cNvPr id="886" name="Google Shape;886;p77"/>
            <p:cNvSpPr/>
            <p:nvPr/>
          </p:nvSpPr>
          <p:spPr>
            <a:xfrm>
              <a:off x="4639199" y="3548583"/>
              <a:ext cx="3327900" cy="1538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87" name="Google Shape;887;p77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4639186" y="3751520"/>
              <a:ext cx="3255276" cy="1335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77"/>
            <p:cNvSpPr txBox="1"/>
            <p:nvPr/>
          </p:nvSpPr>
          <p:spPr>
            <a:xfrm>
              <a:off x="4902086" y="3890981"/>
              <a:ext cx="29349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 don’t think I drew it the same length. This won’t become a rhombus!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9" name="Google Shape;889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511559" y="4032000"/>
            <a:ext cx="649083" cy="799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0" name="Google Shape;890;p77"/>
          <p:cNvGrpSpPr/>
          <p:nvPr/>
        </p:nvGrpSpPr>
        <p:grpSpPr>
          <a:xfrm>
            <a:off x="732724" y="4609413"/>
            <a:ext cx="264750" cy="121125"/>
            <a:chOff x="4317524" y="5207113"/>
            <a:chExt cx="264750" cy="121125"/>
          </a:xfrm>
        </p:grpSpPr>
        <p:sp>
          <p:nvSpPr>
            <p:cNvPr id="891" name="Google Shape;891;p77"/>
            <p:cNvSpPr/>
            <p:nvPr/>
          </p:nvSpPr>
          <p:spPr>
            <a:xfrm>
              <a:off x="4320000" y="5215925"/>
              <a:ext cx="259800" cy="10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92" name="Google Shape;892;p77"/>
            <p:cNvPicPr preferRelativeResize="0"/>
            <p:nvPr/>
          </p:nvPicPr>
          <p:blipFill rotWithShape="1">
            <a:blip r:embed="rId5">
              <a:alphaModFix/>
            </a:blip>
            <a:srcRect b="14877" l="28999" r="30214" t="69972"/>
            <a:stretch/>
          </p:blipFill>
          <p:spPr>
            <a:xfrm flipH="1" rot="10800000">
              <a:off x="4317524" y="5207113"/>
              <a:ext cx="264750" cy="121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pic>
        <p:nvPicPr>
          <p:cNvPr id="898" name="Google Shape;89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11559" y="1669800"/>
            <a:ext cx="649083" cy="799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8"/>
          <p:cNvSpPr txBox="1"/>
          <p:nvPr/>
        </p:nvSpPr>
        <p:spPr>
          <a:xfrm flipH="1">
            <a:off x="324000" y="2469375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0" name="Google Shape;900;p78"/>
          <p:cNvGrpSpPr/>
          <p:nvPr/>
        </p:nvGrpSpPr>
        <p:grpSpPr>
          <a:xfrm>
            <a:off x="4770349" y="1951698"/>
            <a:ext cx="2905455" cy="1653843"/>
            <a:chOff x="2967399" y="1340673"/>
            <a:chExt cx="2905455" cy="1653843"/>
          </a:xfrm>
        </p:grpSpPr>
        <p:sp>
          <p:nvSpPr>
            <p:cNvPr id="901" name="Google Shape;901;p78"/>
            <p:cNvSpPr/>
            <p:nvPr/>
          </p:nvSpPr>
          <p:spPr>
            <a:xfrm rot="-5400000">
              <a:off x="2967399" y="1802316"/>
              <a:ext cx="1192200" cy="1192200"/>
            </a:xfrm>
            <a:prstGeom prst="arc">
              <a:avLst>
                <a:gd fmla="val 2008970" name="adj1"/>
                <a:gd fmla="val 5469624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02" name="Google Shape;902;p78"/>
            <p:cNvCxnSpPr/>
            <p:nvPr/>
          </p:nvCxnSpPr>
          <p:spPr>
            <a:xfrm>
              <a:off x="3533454" y="2412006"/>
              <a:ext cx="2339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3" name="Google Shape;903;p78"/>
            <p:cNvCxnSpPr/>
            <p:nvPr/>
          </p:nvCxnSpPr>
          <p:spPr>
            <a:xfrm flipH="1" rot="10800000">
              <a:off x="3533476" y="1340673"/>
              <a:ext cx="735300" cy="108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4" name="Google Shape;904;p78"/>
            <p:cNvSpPr txBox="1"/>
            <p:nvPr/>
          </p:nvSpPr>
          <p:spPr>
            <a:xfrm>
              <a:off x="3619089" y="2114874"/>
              <a:ext cx="5958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56°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5" name="Google Shape;905;p78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004575" y="574825"/>
            <a:ext cx="3398098" cy="1653851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8"/>
          <p:cNvSpPr txBox="1"/>
          <p:nvPr/>
        </p:nvSpPr>
        <p:spPr>
          <a:xfrm>
            <a:off x="1279021" y="642421"/>
            <a:ext cx="30636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It’s impossible to construct a rhombus from this, as the two legs of the angle are different lengths!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7" name="Google Shape;907;p78"/>
          <p:cNvGrpSpPr/>
          <p:nvPr/>
        </p:nvGrpSpPr>
        <p:grpSpPr>
          <a:xfrm>
            <a:off x="939950" y="612192"/>
            <a:ext cx="3524463" cy="1801500"/>
            <a:chOff x="4639187" y="3548575"/>
            <a:chExt cx="3524463" cy="1801500"/>
          </a:xfrm>
        </p:grpSpPr>
        <p:sp>
          <p:nvSpPr>
            <p:cNvPr id="908" name="Google Shape;908;p78"/>
            <p:cNvSpPr/>
            <p:nvPr/>
          </p:nvSpPr>
          <p:spPr>
            <a:xfrm>
              <a:off x="4887050" y="3548575"/>
              <a:ext cx="3276600" cy="180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09" name="Google Shape;909;p78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4639187" y="3566919"/>
              <a:ext cx="3255276" cy="158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78"/>
            <p:cNvSpPr txBox="1"/>
            <p:nvPr/>
          </p:nvSpPr>
          <p:spPr>
            <a:xfrm>
              <a:off x="4902098" y="3631675"/>
              <a:ext cx="29349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Maybe we can use a pair of </a:t>
              </a:r>
              <a:r>
                <a:rPr b="0" i="0" lang="en-GB" sz="1800" u="none" cap="none" strike="noStrike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compasses</a:t>
              </a: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to make both legs of the angle the same length.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11" name="Google Shape;911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1551" y="3826979"/>
            <a:ext cx="649101" cy="72862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8"/>
          <p:cNvSpPr txBox="1"/>
          <p:nvPr/>
        </p:nvSpPr>
        <p:spPr>
          <a:xfrm flipH="1">
            <a:off x="324000" y="4555602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3" name="Google Shape;913;p78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004575" y="2776027"/>
            <a:ext cx="3398098" cy="1653851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8"/>
          <p:cNvSpPr txBox="1"/>
          <p:nvPr/>
        </p:nvSpPr>
        <p:spPr>
          <a:xfrm>
            <a:off x="1279021" y="2879243"/>
            <a:ext cx="30636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guess so.                                  Doesn’t a circle have the same radius all around its centre? Maybe that’ll help!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9" name="Google Shape;919;p79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450983" y="2431278"/>
            <a:ext cx="3647524" cy="1653868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9"/>
          <p:cNvSpPr txBox="1"/>
          <p:nvPr/>
        </p:nvSpPr>
        <p:spPr>
          <a:xfrm>
            <a:off x="745575" y="2534495"/>
            <a:ext cx="32883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Oh yeah!                                       If you look at the part of each leg inside the circle… They’re both the same length!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9"/>
          <p:cNvSpPr/>
          <p:nvPr/>
        </p:nvSpPr>
        <p:spPr>
          <a:xfrm>
            <a:off x="4384875" y="2031594"/>
            <a:ext cx="1963200" cy="1963200"/>
          </a:xfrm>
          <a:prstGeom prst="arc">
            <a:avLst>
              <a:gd fmla="val 18186963" name="adj1"/>
              <a:gd fmla="val 1817323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9"/>
          <p:cNvSpPr txBox="1"/>
          <p:nvPr/>
        </p:nvSpPr>
        <p:spPr>
          <a:xfrm>
            <a:off x="324000" y="652725"/>
            <a:ext cx="38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 can place the compass needle on the vertex of the angle,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924" name="Google Shape;924;p79"/>
          <p:cNvSpPr/>
          <p:nvPr/>
        </p:nvSpPr>
        <p:spPr>
          <a:xfrm rot="-5400000">
            <a:off x="4770349" y="2413341"/>
            <a:ext cx="1192200" cy="1192200"/>
          </a:xfrm>
          <a:prstGeom prst="arc">
            <a:avLst>
              <a:gd fmla="val 2008970" name="adj1"/>
              <a:gd fmla="val 546962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5" name="Google Shape;925;p79"/>
          <p:cNvCxnSpPr/>
          <p:nvPr/>
        </p:nvCxnSpPr>
        <p:spPr>
          <a:xfrm>
            <a:off x="5336404" y="3023031"/>
            <a:ext cx="233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6" name="Google Shape;926;p79"/>
          <p:cNvCxnSpPr/>
          <p:nvPr/>
        </p:nvCxnSpPr>
        <p:spPr>
          <a:xfrm flipH="1" rot="10800000">
            <a:off x="5336426" y="1951698"/>
            <a:ext cx="735300" cy="108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7" name="Google Shape;927;p79"/>
          <p:cNvSpPr txBox="1"/>
          <p:nvPr/>
        </p:nvSpPr>
        <p:spPr>
          <a:xfrm>
            <a:off x="5422039" y="2725899"/>
            <a:ext cx="595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8" name="Google Shape;928;p79"/>
          <p:cNvCxnSpPr/>
          <p:nvPr/>
        </p:nvCxnSpPr>
        <p:spPr>
          <a:xfrm flipH="1" rot="-7439301">
            <a:off x="5616837" y="2479165"/>
            <a:ext cx="735210" cy="108575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29" name="Google Shape;929;p79"/>
          <p:cNvGrpSpPr/>
          <p:nvPr/>
        </p:nvGrpSpPr>
        <p:grpSpPr>
          <a:xfrm flipH="1" rot="-6487510">
            <a:off x="4787812" y="1739735"/>
            <a:ext cx="1296282" cy="1226233"/>
            <a:chOff x="890999" y="1653084"/>
            <a:chExt cx="1878274" cy="1777019"/>
          </a:xfrm>
        </p:grpSpPr>
        <p:pic>
          <p:nvPicPr>
            <p:cNvPr id="930" name="Google Shape;930;p79"/>
            <p:cNvPicPr preferRelativeResize="0"/>
            <p:nvPr/>
          </p:nvPicPr>
          <p:blipFill rotWithShape="1">
            <a:blip r:embed="rId4">
              <a:alphaModFix/>
            </a:blip>
            <a:srcRect b="8411" l="11815" r="66857" t="35884"/>
            <a:stretch/>
          </p:blipFill>
          <p:spPr>
            <a:xfrm rot="-1986420">
              <a:off x="1189464" y="2084733"/>
              <a:ext cx="624696" cy="1278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1" name="Google Shape;931;p79"/>
            <p:cNvPicPr preferRelativeResize="0"/>
            <p:nvPr/>
          </p:nvPicPr>
          <p:blipFill rotWithShape="1">
            <a:blip r:embed="rId4">
              <a:alphaModFix/>
            </a:blip>
            <a:srcRect b="10458" l="63467" r="20735" t="30883"/>
            <a:stretch/>
          </p:blipFill>
          <p:spPr>
            <a:xfrm rot="-4723037">
              <a:off x="1832435" y="1478765"/>
              <a:ext cx="462709" cy="134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2" name="Google Shape;932;p79"/>
            <p:cNvPicPr preferRelativeResize="0"/>
            <p:nvPr/>
          </p:nvPicPr>
          <p:blipFill rotWithShape="1">
            <a:blip r:embed="rId4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3" name="Google Shape;933;p79"/>
          <p:cNvSpPr txBox="1"/>
          <p:nvPr/>
        </p:nvSpPr>
        <p:spPr>
          <a:xfrm>
            <a:off x="324000" y="2024426"/>
            <a:ext cx="38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draw a full circle.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9"/>
          <p:cNvSpPr txBox="1"/>
          <p:nvPr/>
        </p:nvSpPr>
        <p:spPr>
          <a:xfrm>
            <a:off x="324000" y="1338576"/>
            <a:ext cx="38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set its length to less than the shortest leg of the angle,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5" name="Google Shape;935;p79"/>
          <p:cNvGrpSpPr/>
          <p:nvPr/>
        </p:nvGrpSpPr>
        <p:grpSpPr>
          <a:xfrm flipH="1" rot="-6487510">
            <a:off x="4654404" y="1930170"/>
            <a:ext cx="1363092" cy="842438"/>
            <a:chOff x="794194" y="1793394"/>
            <a:chExt cx="1975078" cy="1220835"/>
          </a:xfrm>
        </p:grpSpPr>
        <p:pic>
          <p:nvPicPr>
            <p:cNvPr id="936" name="Google Shape;936;p79"/>
            <p:cNvPicPr preferRelativeResize="0"/>
            <p:nvPr/>
          </p:nvPicPr>
          <p:blipFill rotWithShape="1">
            <a:blip r:embed="rId4">
              <a:alphaModFix/>
            </a:blip>
            <a:srcRect b="8411" l="11815" r="66857" t="35884"/>
            <a:stretch/>
          </p:blipFill>
          <p:spPr>
            <a:xfrm rot="-4685715">
              <a:off x="1542093" y="1937446"/>
              <a:ext cx="624689" cy="1278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7" name="Google Shape;937;p79"/>
            <p:cNvPicPr preferRelativeResize="0"/>
            <p:nvPr/>
          </p:nvPicPr>
          <p:blipFill rotWithShape="1">
            <a:blip r:embed="rId4">
              <a:alphaModFix/>
            </a:blip>
            <a:srcRect b="10458" l="63467" r="20735" t="30883"/>
            <a:stretch/>
          </p:blipFill>
          <p:spPr>
            <a:xfrm rot="-4723037">
              <a:off x="1832435" y="1478765"/>
              <a:ext cx="462709" cy="134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" name="Google Shape;938;p79"/>
            <p:cNvPicPr preferRelativeResize="0"/>
            <p:nvPr/>
          </p:nvPicPr>
          <p:blipFill rotWithShape="1">
            <a:blip r:embed="rId4">
              <a:alphaModFix/>
            </a:blip>
            <a:srcRect b="60197" l="45143" r="46324" t="7145"/>
            <a:stretch/>
          </p:blipFill>
          <p:spPr>
            <a:xfrm rot="-5399340">
              <a:off x="1044118" y="1872663"/>
              <a:ext cx="249846" cy="74964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39" name="Google Shape;939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630" y="3826979"/>
            <a:ext cx="649101" cy="728622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9"/>
          <p:cNvSpPr txBox="1"/>
          <p:nvPr/>
        </p:nvSpPr>
        <p:spPr>
          <a:xfrm flipH="1">
            <a:off x="184079" y="4555602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80"/>
          <p:cNvSpPr/>
          <p:nvPr/>
        </p:nvSpPr>
        <p:spPr>
          <a:xfrm>
            <a:off x="3715700" y="1362429"/>
            <a:ext cx="3301500" cy="3301500"/>
          </a:xfrm>
          <a:prstGeom prst="arc">
            <a:avLst>
              <a:gd fmla="val 18186963" name="adj1"/>
              <a:gd fmla="val 1817323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947" name="Google Shape;947;p80"/>
          <p:cNvSpPr/>
          <p:nvPr/>
        </p:nvSpPr>
        <p:spPr>
          <a:xfrm rot="-5400000">
            <a:off x="4770349" y="2413341"/>
            <a:ext cx="1192200" cy="1192200"/>
          </a:xfrm>
          <a:prstGeom prst="arc">
            <a:avLst>
              <a:gd fmla="val 2008970" name="adj1"/>
              <a:gd fmla="val 546962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8" name="Google Shape;948;p80"/>
          <p:cNvCxnSpPr/>
          <p:nvPr/>
        </p:nvCxnSpPr>
        <p:spPr>
          <a:xfrm>
            <a:off x="5336404" y="3023031"/>
            <a:ext cx="233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80"/>
          <p:cNvCxnSpPr/>
          <p:nvPr/>
        </p:nvCxnSpPr>
        <p:spPr>
          <a:xfrm flipH="1" rot="10800000">
            <a:off x="5336426" y="1951698"/>
            <a:ext cx="735300" cy="108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0" name="Google Shape;950;p80"/>
          <p:cNvSpPr txBox="1"/>
          <p:nvPr/>
        </p:nvSpPr>
        <p:spPr>
          <a:xfrm>
            <a:off x="5422039" y="2725899"/>
            <a:ext cx="595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1" name="Google Shape;951;p80"/>
          <p:cNvCxnSpPr/>
          <p:nvPr/>
        </p:nvCxnSpPr>
        <p:spPr>
          <a:xfrm flipH="1" rot="-7439301">
            <a:off x="5616837" y="2479165"/>
            <a:ext cx="735210" cy="108575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52" name="Google Shape;952;p80"/>
          <p:cNvGrpSpPr/>
          <p:nvPr/>
        </p:nvGrpSpPr>
        <p:grpSpPr>
          <a:xfrm flipH="1" rot="-6487510">
            <a:off x="4787812" y="1739735"/>
            <a:ext cx="1296282" cy="1226233"/>
            <a:chOff x="890999" y="1653084"/>
            <a:chExt cx="1878274" cy="1777019"/>
          </a:xfrm>
        </p:grpSpPr>
        <p:pic>
          <p:nvPicPr>
            <p:cNvPr id="953" name="Google Shape;953;p80"/>
            <p:cNvPicPr preferRelativeResize="0"/>
            <p:nvPr/>
          </p:nvPicPr>
          <p:blipFill rotWithShape="1">
            <a:blip r:embed="rId3">
              <a:alphaModFix/>
            </a:blip>
            <a:srcRect b="8411" l="11815" r="66857" t="35884"/>
            <a:stretch/>
          </p:blipFill>
          <p:spPr>
            <a:xfrm rot="-1986420">
              <a:off x="1189464" y="2084733"/>
              <a:ext cx="624696" cy="1278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4" name="Google Shape;954;p80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723037">
              <a:off x="1832435" y="1478765"/>
              <a:ext cx="462709" cy="134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5" name="Google Shape;955;p80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56" name="Google Shape;956;p80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450975" y="648737"/>
            <a:ext cx="3647524" cy="1302812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80"/>
          <p:cNvSpPr txBox="1"/>
          <p:nvPr/>
        </p:nvSpPr>
        <p:spPr>
          <a:xfrm>
            <a:off x="745567" y="730044"/>
            <a:ext cx="3288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But what if we made the length of the compasses larger? Would this still work?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8" name="Google Shape;958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630" y="1845779"/>
            <a:ext cx="649101" cy="728622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0"/>
          <p:cNvSpPr txBox="1"/>
          <p:nvPr/>
        </p:nvSpPr>
        <p:spPr>
          <a:xfrm flipH="1">
            <a:off x="184079" y="2574402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0" name="Google Shape;960;p80"/>
          <p:cNvGrpSpPr/>
          <p:nvPr/>
        </p:nvGrpSpPr>
        <p:grpSpPr>
          <a:xfrm flipH="1" rot="-6487510">
            <a:off x="5201086" y="1573564"/>
            <a:ext cx="1270244" cy="1479194"/>
            <a:chOff x="874581" y="1439232"/>
            <a:chExt cx="1840545" cy="2143603"/>
          </a:xfrm>
        </p:grpSpPr>
        <p:pic>
          <p:nvPicPr>
            <p:cNvPr id="961" name="Google Shape;961;p80"/>
            <p:cNvPicPr preferRelativeResize="0"/>
            <p:nvPr/>
          </p:nvPicPr>
          <p:blipFill rotWithShape="1">
            <a:blip r:embed="rId3">
              <a:alphaModFix/>
            </a:blip>
            <a:srcRect b="8411" l="11815" r="66857" t="35884"/>
            <a:stretch/>
          </p:blipFill>
          <p:spPr>
            <a:xfrm rot="-186574">
              <a:off x="908804" y="2288110"/>
              <a:ext cx="624609" cy="1278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2" name="Google Shape;962;p80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6487311">
              <a:off x="1771929" y="1195186"/>
              <a:ext cx="462644" cy="1346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3" name="Google Shape;963;p80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4" name="Google Shape;964;p80"/>
          <p:cNvGrpSpPr/>
          <p:nvPr/>
        </p:nvGrpSpPr>
        <p:grpSpPr>
          <a:xfrm>
            <a:off x="497025" y="2812791"/>
            <a:ext cx="2963927" cy="2034599"/>
            <a:chOff x="497034" y="2816421"/>
            <a:chExt cx="2963927" cy="1639748"/>
          </a:xfrm>
        </p:grpSpPr>
        <p:pic>
          <p:nvPicPr>
            <p:cNvPr id="965" name="Google Shape;965;p80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 flipH="1" rot="10800000">
              <a:off x="497034" y="2816421"/>
              <a:ext cx="2963927" cy="16397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80"/>
            <p:cNvSpPr txBox="1"/>
            <p:nvPr/>
          </p:nvSpPr>
          <p:spPr>
            <a:xfrm flipH="1">
              <a:off x="746988" y="3124312"/>
              <a:ext cx="2672100" cy="125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If you make the pair of compasses too wide, the circle will be too big to fit the whole line segment!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1" name="Google Shape;971;p81"/>
          <p:cNvGrpSpPr/>
          <p:nvPr/>
        </p:nvGrpSpPr>
        <p:grpSpPr>
          <a:xfrm flipH="1" rot="-6487510">
            <a:off x="5201086" y="1573564"/>
            <a:ext cx="1270244" cy="1479194"/>
            <a:chOff x="874581" y="1439232"/>
            <a:chExt cx="1840545" cy="2143603"/>
          </a:xfrm>
        </p:grpSpPr>
        <p:pic>
          <p:nvPicPr>
            <p:cNvPr id="972" name="Google Shape;972;p81"/>
            <p:cNvPicPr preferRelativeResize="0"/>
            <p:nvPr/>
          </p:nvPicPr>
          <p:blipFill rotWithShape="1">
            <a:blip r:embed="rId3">
              <a:alphaModFix/>
            </a:blip>
            <a:srcRect b="8411" l="11815" r="66857" t="35884"/>
            <a:stretch/>
          </p:blipFill>
          <p:spPr>
            <a:xfrm rot="-186574">
              <a:off x="908804" y="2288110"/>
              <a:ext cx="624609" cy="1278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8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6487311">
              <a:off x="1771929" y="1195186"/>
              <a:ext cx="462644" cy="1346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8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5" name="Google Shape;97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976" name="Google Shape;976;p81"/>
          <p:cNvSpPr/>
          <p:nvPr/>
        </p:nvSpPr>
        <p:spPr>
          <a:xfrm rot="-5400000">
            <a:off x="4770349" y="2413341"/>
            <a:ext cx="1192200" cy="1192200"/>
          </a:xfrm>
          <a:prstGeom prst="arc">
            <a:avLst>
              <a:gd fmla="val 2008970" name="adj1"/>
              <a:gd fmla="val 546962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7" name="Google Shape;977;p81"/>
          <p:cNvCxnSpPr/>
          <p:nvPr/>
        </p:nvCxnSpPr>
        <p:spPr>
          <a:xfrm>
            <a:off x="5336404" y="3023031"/>
            <a:ext cx="233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81"/>
          <p:cNvCxnSpPr/>
          <p:nvPr/>
        </p:nvCxnSpPr>
        <p:spPr>
          <a:xfrm flipH="1" rot="10800000">
            <a:off x="5336426" y="1951698"/>
            <a:ext cx="735300" cy="108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9" name="Google Shape;979;p81"/>
          <p:cNvSpPr txBox="1"/>
          <p:nvPr/>
        </p:nvSpPr>
        <p:spPr>
          <a:xfrm>
            <a:off x="5422039" y="2725899"/>
            <a:ext cx="595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0" name="Google Shape;980;p81"/>
          <p:cNvCxnSpPr/>
          <p:nvPr/>
        </p:nvCxnSpPr>
        <p:spPr>
          <a:xfrm flipH="1" rot="-7439301">
            <a:off x="5616837" y="2479165"/>
            <a:ext cx="735210" cy="108575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81" name="Google Shape;981;p81"/>
          <p:cNvGrpSpPr/>
          <p:nvPr/>
        </p:nvGrpSpPr>
        <p:grpSpPr>
          <a:xfrm flipH="1" rot="-6487510">
            <a:off x="4787812" y="1739735"/>
            <a:ext cx="1296282" cy="1226233"/>
            <a:chOff x="890999" y="1653084"/>
            <a:chExt cx="1878274" cy="1777019"/>
          </a:xfrm>
        </p:grpSpPr>
        <p:pic>
          <p:nvPicPr>
            <p:cNvPr id="982" name="Google Shape;982;p81"/>
            <p:cNvPicPr preferRelativeResize="0"/>
            <p:nvPr/>
          </p:nvPicPr>
          <p:blipFill rotWithShape="1">
            <a:blip r:embed="rId3">
              <a:alphaModFix/>
            </a:blip>
            <a:srcRect b="8411" l="11815" r="66857" t="35884"/>
            <a:stretch/>
          </p:blipFill>
          <p:spPr>
            <a:xfrm rot="-1986420">
              <a:off x="1189464" y="2084733"/>
              <a:ext cx="624696" cy="1278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3" name="Google Shape;983;p8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723037">
              <a:off x="1832435" y="1478765"/>
              <a:ext cx="462709" cy="134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8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5" name="Google Shape;985;p81"/>
          <p:cNvGrpSpPr/>
          <p:nvPr/>
        </p:nvGrpSpPr>
        <p:grpSpPr>
          <a:xfrm flipH="1" rot="-6487510">
            <a:off x="4679161" y="1774786"/>
            <a:ext cx="1378282" cy="1113305"/>
            <a:chOff x="772183" y="1653084"/>
            <a:chExt cx="1997089" cy="1613367"/>
          </a:xfrm>
        </p:grpSpPr>
        <p:pic>
          <p:nvPicPr>
            <p:cNvPr id="986" name="Google Shape;986;p81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2886188">
              <a:off x="1198760" y="1845655"/>
              <a:ext cx="624715" cy="14249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7" name="Google Shape;987;p8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723037">
              <a:off x="1832435" y="1478765"/>
              <a:ext cx="462709" cy="134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8" name="Google Shape;988;p8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9" name="Google Shape;989;p81"/>
          <p:cNvGrpSpPr/>
          <p:nvPr/>
        </p:nvGrpSpPr>
        <p:grpSpPr>
          <a:xfrm flipH="1" rot="-6487510">
            <a:off x="4480453" y="1771316"/>
            <a:ext cx="1416829" cy="1224874"/>
            <a:chOff x="772197" y="1653084"/>
            <a:chExt cx="2052942" cy="1775050"/>
          </a:xfrm>
        </p:grpSpPr>
        <p:pic>
          <p:nvPicPr>
            <p:cNvPr id="990" name="Google Shape;990;p81"/>
            <p:cNvPicPr preferRelativeResize="0"/>
            <p:nvPr/>
          </p:nvPicPr>
          <p:blipFill rotWithShape="1">
            <a:blip r:embed="rId3">
              <a:alphaModFix/>
            </a:blip>
            <a:srcRect b="8280" l="14182" r="64490" t="19081"/>
            <a:stretch/>
          </p:blipFill>
          <p:spPr>
            <a:xfrm rot="-2886250">
              <a:off x="1288911" y="1805399"/>
              <a:ext cx="624711" cy="1667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1" name="Google Shape;991;p8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787625">
              <a:off x="1888693" y="1650850"/>
              <a:ext cx="462729" cy="1346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2" name="Google Shape;992;p8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3" name="Google Shape;993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09334" y="1669800"/>
            <a:ext cx="649083" cy="799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81"/>
          <p:cNvSpPr txBox="1"/>
          <p:nvPr/>
        </p:nvSpPr>
        <p:spPr>
          <a:xfrm flipH="1">
            <a:off x="221775" y="2469375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5" name="Google Shape;995;p81"/>
          <p:cNvGrpSpPr/>
          <p:nvPr/>
        </p:nvGrpSpPr>
        <p:grpSpPr>
          <a:xfrm>
            <a:off x="837725" y="630536"/>
            <a:ext cx="3255276" cy="1584351"/>
            <a:chOff x="4639187" y="3566919"/>
            <a:chExt cx="3255276" cy="1584351"/>
          </a:xfrm>
        </p:grpSpPr>
        <p:pic>
          <p:nvPicPr>
            <p:cNvPr id="996" name="Google Shape;996;p81"/>
            <p:cNvPicPr preferRelativeResize="0"/>
            <p:nvPr/>
          </p:nvPicPr>
          <p:blipFill rotWithShape="1">
            <a:blip r:embed="rId5">
              <a:alphaModFix/>
            </a:blip>
            <a:srcRect b="4760" l="40550" r="0" t="13015"/>
            <a:stretch/>
          </p:blipFill>
          <p:spPr>
            <a:xfrm>
              <a:off x="4639187" y="3566919"/>
              <a:ext cx="3255276" cy="158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81"/>
            <p:cNvSpPr txBox="1"/>
            <p:nvPr/>
          </p:nvSpPr>
          <p:spPr>
            <a:xfrm>
              <a:off x="4902098" y="3631675"/>
              <a:ext cx="29349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So, you can make the width of the pair of compasses smaller than the legs of the angle.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8" name="Google Shape;998;p81"/>
          <p:cNvGrpSpPr/>
          <p:nvPr/>
        </p:nvGrpSpPr>
        <p:grpSpPr>
          <a:xfrm flipH="1" rot="10800000">
            <a:off x="685326" y="2638583"/>
            <a:ext cx="3255276" cy="1132335"/>
            <a:chOff x="4639187" y="3566919"/>
            <a:chExt cx="3255276" cy="1584351"/>
          </a:xfrm>
        </p:grpSpPr>
        <p:pic>
          <p:nvPicPr>
            <p:cNvPr id="999" name="Google Shape;999;p81"/>
            <p:cNvPicPr preferRelativeResize="0"/>
            <p:nvPr/>
          </p:nvPicPr>
          <p:blipFill rotWithShape="1">
            <a:blip r:embed="rId5">
              <a:alphaModFix/>
            </a:blip>
            <a:srcRect b="4760" l="40550" r="0" t="13015"/>
            <a:stretch/>
          </p:blipFill>
          <p:spPr>
            <a:xfrm>
              <a:off x="4639187" y="3566919"/>
              <a:ext cx="3255276" cy="158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81"/>
            <p:cNvSpPr txBox="1"/>
            <p:nvPr/>
          </p:nvSpPr>
          <p:spPr>
            <a:xfrm rot="10800000">
              <a:off x="4902098" y="3585475"/>
              <a:ext cx="2934900" cy="12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But you definitely can’t make it larger than either of them!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82"/>
          <p:cNvSpPr/>
          <p:nvPr/>
        </p:nvSpPr>
        <p:spPr>
          <a:xfrm>
            <a:off x="4093000" y="1739727"/>
            <a:ext cx="2547000" cy="2547000"/>
          </a:xfrm>
          <a:prstGeom prst="arc">
            <a:avLst>
              <a:gd fmla="val 18186963" name="adj1"/>
              <a:gd fmla="val 1817323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6" name="Google Shape;1006;p82"/>
          <p:cNvGrpSpPr/>
          <p:nvPr/>
        </p:nvGrpSpPr>
        <p:grpSpPr>
          <a:xfrm flipH="1" rot="-6487510">
            <a:off x="4858240" y="1599411"/>
            <a:ext cx="1325198" cy="1419360"/>
            <a:chOff x="849101" y="1653084"/>
            <a:chExt cx="1920172" cy="2056893"/>
          </a:xfrm>
        </p:grpSpPr>
        <p:pic>
          <p:nvPicPr>
            <p:cNvPr id="1007" name="Google Shape;1007;p82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123036">
              <a:off x="1061243" y="2222312"/>
              <a:ext cx="624656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82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723037">
              <a:off x="1832435" y="1478765"/>
              <a:ext cx="462709" cy="134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9" name="Google Shape;1009;p82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0" name="Google Shape;101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011" name="Google Shape;1011;p82"/>
          <p:cNvSpPr/>
          <p:nvPr/>
        </p:nvSpPr>
        <p:spPr>
          <a:xfrm rot="-5400000">
            <a:off x="4770349" y="2413341"/>
            <a:ext cx="1192200" cy="1192200"/>
          </a:xfrm>
          <a:prstGeom prst="arc">
            <a:avLst>
              <a:gd fmla="val 2008970" name="adj1"/>
              <a:gd fmla="val 546962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2" name="Google Shape;1012;p82"/>
          <p:cNvCxnSpPr/>
          <p:nvPr/>
        </p:nvCxnSpPr>
        <p:spPr>
          <a:xfrm>
            <a:off x="5336404" y="3023031"/>
            <a:ext cx="233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3" name="Google Shape;1013;p82"/>
          <p:cNvCxnSpPr/>
          <p:nvPr/>
        </p:nvCxnSpPr>
        <p:spPr>
          <a:xfrm flipH="1" rot="10800000">
            <a:off x="5336426" y="1951698"/>
            <a:ext cx="735300" cy="108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4" name="Google Shape;1014;p82"/>
          <p:cNvSpPr txBox="1"/>
          <p:nvPr/>
        </p:nvSpPr>
        <p:spPr>
          <a:xfrm>
            <a:off x="5422039" y="2725899"/>
            <a:ext cx="595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5" name="Google Shape;1015;p82"/>
          <p:cNvCxnSpPr/>
          <p:nvPr/>
        </p:nvCxnSpPr>
        <p:spPr>
          <a:xfrm flipH="1" rot="-7439301">
            <a:off x="5616837" y="2479165"/>
            <a:ext cx="735210" cy="108575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16" name="Google Shape;1016;p82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450975" y="648722"/>
            <a:ext cx="3647524" cy="1599066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82"/>
          <p:cNvSpPr txBox="1"/>
          <p:nvPr/>
        </p:nvSpPr>
        <p:spPr>
          <a:xfrm>
            <a:off x="745567" y="748519"/>
            <a:ext cx="32883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guess it’s safe to make the pair of compasses as wide as the shorter leg, if it can reach that far.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8" name="Google Shape;1018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630" y="1998179"/>
            <a:ext cx="649101" cy="728622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82"/>
          <p:cNvSpPr txBox="1"/>
          <p:nvPr/>
        </p:nvSpPr>
        <p:spPr>
          <a:xfrm flipH="1">
            <a:off x="184079" y="2726802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0" name="Google Shape;1020;p82"/>
          <p:cNvGrpSpPr/>
          <p:nvPr/>
        </p:nvGrpSpPr>
        <p:grpSpPr>
          <a:xfrm flipH="1" rot="-6487510">
            <a:off x="5201086" y="1573564"/>
            <a:ext cx="1270244" cy="1479194"/>
            <a:chOff x="874581" y="1439232"/>
            <a:chExt cx="1840545" cy="2143603"/>
          </a:xfrm>
        </p:grpSpPr>
        <p:pic>
          <p:nvPicPr>
            <p:cNvPr id="1021" name="Google Shape;1021;p82"/>
            <p:cNvPicPr preferRelativeResize="0"/>
            <p:nvPr/>
          </p:nvPicPr>
          <p:blipFill rotWithShape="1">
            <a:blip r:embed="rId3">
              <a:alphaModFix/>
            </a:blip>
            <a:srcRect b="8411" l="11815" r="66857" t="35884"/>
            <a:stretch/>
          </p:blipFill>
          <p:spPr>
            <a:xfrm rot="-186574">
              <a:off x="908804" y="2288110"/>
              <a:ext cx="624609" cy="1278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2" name="Google Shape;1022;p82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6487311">
              <a:off x="1771929" y="1195186"/>
              <a:ext cx="462644" cy="1346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3" name="Google Shape;1023;p82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029" name="Google Shape;1029;p83"/>
          <p:cNvSpPr/>
          <p:nvPr/>
        </p:nvSpPr>
        <p:spPr>
          <a:xfrm rot="-5400000">
            <a:off x="4770349" y="2413341"/>
            <a:ext cx="1192200" cy="1192200"/>
          </a:xfrm>
          <a:prstGeom prst="arc">
            <a:avLst>
              <a:gd fmla="val 2008970" name="adj1"/>
              <a:gd fmla="val 546962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0" name="Google Shape;1030;p83"/>
          <p:cNvCxnSpPr/>
          <p:nvPr/>
        </p:nvCxnSpPr>
        <p:spPr>
          <a:xfrm>
            <a:off x="5336404" y="3023031"/>
            <a:ext cx="233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1" name="Google Shape;1031;p83"/>
          <p:cNvCxnSpPr/>
          <p:nvPr/>
        </p:nvCxnSpPr>
        <p:spPr>
          <a:xfrm flipH="1" rot="10800000">
            <a:off x="5336426" y="1951698"/>
            <a:ext cx="735300" cy="108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2" name="Google Shape;1032;p83"/>
          <p:cNvSpPr txBox="1"/>
          <p:nvPr/>
        </p:nvSpPr>
        <p:spPr>
          <a:xfrm>
            <a:off x="5422039" y="2725899"/>
            <a:ext cx="595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3" name="Google Shape;1033;p83"/>
          <p:cNvCxnSpPr/>
          <p:nvPr/>
        </p:nvCxnSpPr>
        <p:spPr>
          <a:xfrm>
            <a:off x="5336404" y="3023031"/>
            <a:ext cx="2339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034" name="Google Shape;1034;p83"/>
          <p:cNvCxnSpPr/>
          <p:nvPr/>
        </p:nvCxnSpPr>
        <p:spPr>
          <a:xfrm flipH="1" rot="-7439301">
            <a:off x="5616837" y="2479165"/>
            <a:ext cx="735210" cy="108575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5" name="Google Shape;1035;p83"/>
          <p:cNvSpPr/>
          <p:nvPr/>
        </p:nvSpPr>
        <p:spPr>
          <a:xfrm>
            <a:off x="4093000" y="1739727"/>
            <a:ext cx="2547000" cy="2547000"/>
          </a:xfrm>
          <a:prstGeom prst="arc">
            <a:avLst>
              <a:gd fmla="val 18186963" name="adj1"/>
              <a:gd fmla="val 1817323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6" name="Google Shape;1036;p83"/>
          <p:cNvGrpSpPr/>
          <p:nvPr/>
        </p:nvGrpSpPr>
        <p:grpSpPr>
          <a:xfrm>
            <a:off x="184079" y="648737"/>
            <a:ext cx="3914420" cy="2182765"/>
            <a:chOff x="-4006921" y="648737"/>
            <a:chExt cx="3914420" cy="2182765"/>
          </a:xfrm>
        </p:grpSpPr>
        <p:pic>
          <p:nvPicPr>
            <p:cNvPr id="1037" name="Google Shape;1037;p83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-3740025" y="648737"/>
              <a:ext cx="3647524" cy="13028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8" name="Google Shape;1038;p83"/>
            <p:cNvSpPr txBox="1"/>
            <p:nvPr/>
          </p:nvSpPr>
          <p:spPr>
            <a:xfrm>
              <a:off x="-3445433" y="730044"/>
              <a:ext cx="32883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The parts of the legs inside the circle are the two sides of the rhombus… 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39" name="Google Shape;1039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3819370" y="1845779"/>
              <a:ext cx="649101" cy="7286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0" name="Google Shape;1040;p83"/>
            <p:cNvSpPr txBox="1"/>
            <p:nvPr/>
          </p:nvSpPr>
          <p:spPr>
            <a:xfrm flipH="1">
              <a:off x="-4006921" y="2574402"/>
              <a:ext cx="10242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b="1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1" name="Google Shape;1041;p83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 rot="10800000">
            <a:off x="298575" y="2945287"/>
            <a:ext cx="3647524" cy="1302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83"/>
          <p:cNvSpPr txBox="1"/>
          <p:nvPr/>
        </p:nvSpPr>
        <p:spPr>
          <a:xfrm flipH="1">
            <a:off x="593167" y="3252391"/>
            <a:ext cx="3288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So, we can just ignore the useless part of the leg that’s outside the circle.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048" name="Google Shape;1048;p84"/>
          <p:cNvSpPr/>
          <p:nvPr/>
        </p:nvSpPr>
        <p:spPr>
          <a:xfrm rot="-5400000">
            <a:off x="4770349" y="2413341"/>
            <a:ext cx="1192200" cy="1192200"/>
          </a:xfrm>
          <a:prstGeom prst="arc">
            <a:avLst>
              <a:gd fmla="val 2008970" name="adj1"/>
              <a:gd fmla="val 546962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9" name="Google Shape;1049;p84"/>
          <p:cNvCxnSpPr/>
          <p:nvPr/>
        </p:nvCxnSpPr>
        <p:spPr>
          <a:xfrm>
            <a:off x="5336404" y="3023031"/>
            <a:ext cx="233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0" name="Google Shape;1050;p84"/>
          <p:cNvCxnSpPr/>
          <p:nvPr/>
        </p:nvCxnSpPr>
        <p:spPr>
          <a:xfrm flipH="1" rot="10800000">
            <a:off x="5336426" y="1951698"/>
            <a:ext cx="735300" cy="108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1" name="Google Shape;1051;p84"/>
          <p:cNvSpPr txBox="1"/>
          <p:nvPr/>
        </p:nvSpPr>
        <p:spPr>
          <a:xfrm>
            <a:off x="5422039" y="2725899"/>
            <a:ext cx="595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4"/>
          <p:cNvSpPr txBox="1"/>
          <p:nvPr/>
        </p:nvSpPr>
        <p:spPr>
          <a:xfrm>
            <a:off x="324000" y="603600"/>
            <a:ext cx="35175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Just like before: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the compass needle on the open endpoint of a leg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the pencil on the vertex of the angle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circle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repeat on the open endpoint of the other leg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3" name="Google Shape;1053;p84"/>
          <p:cNvCxnSpPr/>
          <p:nvPr/>
        </p:nvCxnSpPr>
        <p:spPr>
          <a:xfrm>
            <a:off x="5336404" y="3023031"/>
            <a:ext cx="2339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054" name="Google Shape;1054;p84"/>
          <p:cNvCxnSpPr/>
          <p:nvPr/>
        </p:nvCxnSpPr>
        <p:spPr>
          <a:xfrm flipH="1" rot="-7439301">
            <a:off x="5616837" y="2479165"/>
            <a:ext cx="735210" cy="108575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5" name="Google Shape;1055;p84"/>
          <p:cNvSpPr/>
          <p:nvPr/>
        </p:nvSpPr>
        <p:spPr>
          <a:xfrm>
            <a:off x="4093000" y="1739727"/>
            <a:ext cx="2547000" cy="2547000"/>
          </a:xfrm>
          <a:prstGeom prst="arc">
            <a:avLst>
              <a:gd fmla="val 18186963" name="adj1"/>
              <a:gd fmla="val 1817323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4"/>
          <p:cNvSpPr/>
          <p:nvPr/>
        </p:nvSpPr>
        <p:spPr>
          <a:xfrm>
            <a:off x="4792719" y="676466"/>
            <a:ext cx="2547000" cy="2547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7" name="Google Shape;1057;p84"/>
          <p:cNvGrpSpPr/>
          <p:nvPr/>
        </p:nvGrpSpPr>
        <p:grpSpPr>
          <a:xfrm rot="-258802">
            <a:off x="4808623" y="1671191"/>
            <a:ext cx="1325023" cy="1419368"/>
            <a:chOff x="849101" y="1653084"/>
            <a:chExt cx="1920172" cy="2056893"/>
          </a:xfrm>
        </p:grpSpPr>
        <p:pic>
          <p:nvPicPr>
            <p:cNvPr id="1058" name="Google Shape;1058;p84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123036">
              <a:off x="1061243" y="2222312"/>
              <a:ext cx="624656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9" name="Google Shape;1059;p84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723037">
              <a:off x="1832435" y="1478765"/>
              <a:ext cx="462709" cy="134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84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1" name="Google Shape;1061;p84"/>
          <p:cNvSpPr/>
          <p:nvPr/>
        </p:nvSpPr>
        <p:spPr>
          <a:xfrm>
            <a:off x="5359069" y="1678020"/>
            <a:ext cx="2547000" cy="2547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2" name="Google Shape;1062;p84"/>
          <p:cNvGrpSpPr/>
          <p:nvPr/>
        </p:nvGrpSpPr>
        <p:grpSpPr>
          <a:xfrm flipH="1" rot="7610899">
            <a:off x="5295183" y="2568500"/>
            <a:ext cx="1325264" cy="1419339"/>
            <a:chOff x="849101" y="1653084"/>
            <a:chExt cx="1920172" cy="2056893"/>
          </a:xfrm>
        </p:grpSpPr>
        <p:pic>
          <p:nvPicPr>
            <p:cNvPr id="1063" name="Google Shape;1063;p84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123036">
              <a:off x="1061243" y="2222312"/>
              <a:ext cx="624656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4" name="Google Shape;1064;p84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723037">
              <a:off x="1832435" y="1478765"/>
              <a:ext cx="462709" cy="134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5" name="Google Shape;1065;p84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6" name="Google Shape;1066;p84"/>
          <p:cNvGrpSpPr/>
          <p:nvPr/>
        </p:nvGrpSpPr>
        <p:grpSpPr>
          <a:xfrm>
            <a:off x="6061875" y="1959475"/>
            <a:ext cx="1288865" cy="1071256"/>
            <a:chOff x="6061875" y="1959475"/>
            <a:chExt cx="1288865" cy="1071256"/>
          </a:xfrm>
        </p:grpSpPr>
        <p:cxnSp>
          <p:nvCxnSpPr>
            <p:cNvPr id="1067" name="Google Shape;1067;p84"/>
            <p:cNvCxnSpPr/>
            <p:nvPr/>
          </p:nvCxnSpPr>
          <p:spPr>
            <a:xfrm>
              <a:off x="6061875" y="1959475"/>
              <a:ext cx="1277700" cy="8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8" name="Google Shape;1068;p84"/>
            <p:cNvCxnSpPr/>
            <p:nvPr/>
          </p:nvCxnSpPr>
          <p:spPr>
            <a:xfrm rot="-3360461">
              <a:off x="6351474" y="2494837"/>
              <a:ext cx="1277631" cy="798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69" name="Google Shape;1069;p84"/>
          <p:cNvSpPr txBox="1"/>
          <p:nvPr/>
        </p:nvSpPr>
        <p:spPr>
          <a:xfrm>
            <a:off x="5424725" y="3425450"/>
            <a:ext cx="33261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part of the original leg of the angle that isn’t included in the final rhombus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4"/>
          <p:cNvSpPr/>
          <p:nvPr/>
        </p:nvSpPr>
        <p:spPr>
          <a:xfrm rot="5400000">
            <a:off x="7030625" y="2767550"/>
            <a:ext cx="294600" cy="1021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076" name="Google Shape;1076;p85"/>
          <p:cNvSpPr txBox="1"/>
          <p:nvPr/>
        </p:nvSpPr>
        <p:spPr>
          <a:xfrm>
            <a:off x="324000" y="71757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5"/>
          <p:cNvSpPr txBox="1"/>
          <p:nvPr/>
        </p:nvSpPr>
        <p:spPr>
          <a:xfrm>
            <a:off x="4824000" y="71757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8" name="Google Shape;1078;p85"/>
          <p:cNvCxnSpPr/>
          <p:nvPr/>
        </p:nvCxnSpPr>
        <p:spPr>
          <a:xfrm>
            <a:off x="1338675" y="3938175"/>
            <a:ext cx="89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9" name="Google Shape;1079;p85"/>
          <p:cNvCxnSpPr/>
          <p:nvPr/>
        </p:nvCxnSpPr>
        <p:spPr>
          <a:xfrm flipH="1" rot="10800000">
            <a:off x="1338675" y="3060375"/>
            <a:ext cx="1453800" cy="87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0" name="Google Shape;1080;p85"/>
          <p:cNvSpPr txBox="1"/>
          <p:nvPr/>
        </p:nvSpPr>
        <p:spPr>
          <a:xfrm>
            <a:off x="4824000" y="41210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5"/>
          <p:cNvSpPr txBox="1"/>
          <p:nvPr/>
        </p:nvSpPr>
        <p:spPr>
          <a:xfrm>
            <a:off x="4824000" y="43982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can be any pair of lines.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2" name="Google Shape;1082;p85"/>
          <p:cNvCxnSpPr/>
          <p:nvPr/>
        </p:nvCxnSpPr>
        <p:spPr>
          <a:xfrm>
            <a:off x="6465300" y="3678900"/>
            <a:ext cx="71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3" name="Google Shape;1083;p85"/>
          <p:cNvCxnSpPr/>
          <p:nvPr/>
        </p:nvCxnSpPr>
        <p:spPr>
          <a:xfrm flipH="1" rot="10800000">
            <a:off x="6465300" y="2688300"/>
            <a:ext cx="565500" cy="990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6"/>
          <p:cNvSpPr/>
          <p:nvPr/>
        </p:nvSpPr>
        <p:spPr>
          <a:xfrm>
            <a:off x="499840" y="3072213"/>
            <a:ext cx="1733100" cy="1733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6"/>
          <p:cNvSpPr txBox="1"/>
          <p:nvPr/>
        </p:nvSpPr>
        <p:spPr>
          <a:xfrm>
            <a:off x="324000" y="606097"/>
            <a:ext cx="39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the compass needle on the vertex of the angle,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091" name="Google Shape;1091;p86"/>
          <p:cNvSpPr txBox="1"/>
          <p:nvPr/>
        </p:nvSpPr>
        <p:spPr>
          <a:xfrm>
            <a:off x="4824000" y="71757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2" name="Google Shape;1092;p86"/>
          <p:cNvCxnSpPr/>
          <p:nvPr/>
        </p:nvCxnSpPr>
        <p:spPr>
          <a:xfrm>
            <a:off x="1338675" y="3938175"/>
            <a:ext cx="89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86"/>
          <p:cNvCxnSpPr/>
          <p:nvPr/>
        </p:nvCxnSpPr>
        <p:spPr>
          <a:xfrm flipH="1" rot="10800000">
            <a:off x="1338675" y="3060375"/>
            <a:ext cx="1453800" cy="87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4" name="Google Shape;1094;p86"/>
          <p:cNvGrpSpPr/>
          <p:nvPr/>
        </p:nvGrpSpPr>
        <p:grpSpPr>
          <a:xfrm>
            <a:off x="-3131264" y="3058204"/>
            <a:ext cx="1733222" cy="1733273"/>
            <a:chOff x="3604725" y="3903925"/>
            <a:chExt cx="513000" cy="513000"/>
          </a:xfrm>
        </p:grpSpPr>
        <p:sp>
          <p:nvSpPr>
            <p:cNvPr id="1095" name="Google Shape;1095;p86"/>
            <p:cNvSpPr/>
            <p:nvPr/>
          </p:nvSpPr>
          <p:spPr>
            <a:xfrm>
              <a:off x="3604725" y="3903925"/>
              <a:ext cx="513000" cy="5130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96" name="Google Shape;1096;p86"/>
            <p:cNvCxnSpPr>
              <a:stCxn id="1095" idx="0"/>
            </p:cNvCxnSpPr>
            <p:nvPr/>
          </p:nvCxnSpPr>
          <p:spPr>
            <a:xfrm>
              <a:off x="3861225" y="3903925"/>
              <a:ext cx="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7" name="Google Shape;1097;p86"/>
            <p:cNvCxnSpPr>
              <a:stCxn id="1095" idx="2"/>
              <a:endCxn id="1095" idx="6"/>
            </p:cNvCxnSpPr>
            <p:nvPr/>
          </p:nvCxnSpPr>
          <p:spPr>
            <a:xfrm>
              <a:off x="3604725" y="4160425"/>
              <a:ext cx="5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98" name="Google Shape;1098;p86"/>
          <p:cNvGrpSpPr/>
          <p:nvPr/>
        </p:nvGrpSpPr>
        <p:grpSpPr>
          <a:xfrm>
            <a:off x="-2393053" y="2605757"/>
            <a:ext cx="1733222" cy="1733273"/>
            <a:chOff x="3604725" y="3903925"/>
            <a:chExt cx="513000" cy="513000"/>
          </a:xfrm>
        </p:grpSpPr>
        <p:sp>
          <p:nvSpPr>
            <p:cNvPr id="1099" name="Google Shape;1099;p86"/>
            <p:cNvSpPr/>
            <p:nvPr/>
          </p:nvSpPr>
          <p:spPr>
            <a:xfrm>
              <a:off x="3604725" y="3903925"/>
              <a:ext cx="513000" cy="5130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0" name="Google Shape;1100;p86"/>
            <p:cNvCxnSpPr>
              <a:stCxn id="1099" idx="0"/>
            </p:cNvCxnSpPr>
            <p:nvPr/>
          </p:nvCxnSpPr>
          <p:spPr>
            <a:xfrm>
              <a:off x="3861225" y="3903925"/>
              <a:ext cx="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1" name="Google Shape;1101;p86"/>
            <p:cNvCxnSpPr>
              <a:stCxn id="1099" idx="2"/>
              <a:endCxn id="1099" idx="6"/>
            </p:cNvCxnSpPr>
            <p:nvPr/>
          </p:nvCxnSpPr>
          <p:spPr>
            <a:xfrm>
              <a:off x="3604725" y="4160425"/>
              <a:ext cx="5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02" name="Google Shape;1102;p86"/>
          <p:cNvSpPr txBox="1"/>
          <p:nvPr/>
        </p:nvSpPr>
        <p:spPr>
          <a:xfrm>
            <a:off x="4824000" y="2294550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3" name="Google Shape;1103;p86"/>
          <p:cNvGrpSpPr/>
          <p:nvPr/>
        </p:nvGrpSpPr>
        <p:grpSpPr>
          <a:xfrm flipH="1" rot="-3062771">
            <a:off x="1258231" y="2988286"/>
            <a:ext cx="1216563" cy="1222653"/>
            <a:chOff x="856732" y="1653084"/>
            <a:chExt cx="1921722" cy="1931342"/>
          </a:xfrm>
        </p:grpSpPr>
        <p:pic>
          <p:nvPicPr>
            <p:cNvPr id="1104" name="Google Shape;1104;p86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86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6" name="Google Shape;1106;p86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07" name="Google Shape;1107;p86"/>
          <p:cNvCxnSpPr/>
          <p:nvPr/>
        </p:nvCxnSpPr>
        <p:spPr>
          <a:xfrm>
            <a:off x="6465300" y="3678900"/>
            <a:ext cx="71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8" name="Google Shape;1108;p86"/>
          <p:cNvCxnSpPr/>
          <p:nvPr/>
        </p:nvCxnSpPr>
        <p:spPr>
          <a:xfrm flipH="1" rot="10800000">
            <a:off x="6465300" y="2688300"/>
            <a:ext cx="565500" cy="990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9" name="Google Shape;1109;p86"/>
          <p:cNvSpPr txBox="1"/>
          <p:nvPr/>
        </p:nvSpPr>
        <p:spPr>
          <a:xfrm>
            <a:off x="324000" y="1160197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the pencil on the open endpoint of the shorter leg of the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0" name="Google Shape;1110;p86"/>
          <p:cNvGrpSpPr/>
          <p:nvPr/>
        </p:nvGrpSpPr>
        <p:grpSpPr>
          <a:xfrm flipH="1" rot="-3062771">
            <a:off x="971647" y="2890980"/>
            <a:ext cx="997586" cy="1084869"/>
            <a:chOff x="861616" y="1653084"/>
            <a:chExt cx="1575819" cy="1713694"/>
          </a:xfrm>
        </p:grpSpPr>
        <p:pic>
          <p:nvPicPr>
            <p:cNvPr id="1111" name="Google Shape;1111;p86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3062756">
              <a:off x="1299772" y="196334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2" name="Google Shape;1112;p86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2162772">
              <a:off x="1622870" y="1797652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3" name="Google Shape;1113;p86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4" name="Google Shape;1114;p86"/>
          <p:cNvSpPr txBox="1"/>
          <p:nvPr/>
        </p:nvSpPr>
        <p:spPr>
          <a:xfrm>
            <a:off x="324000" y="1991497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full circle.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6"/>
          <p:cNvSpPr/>
          <p:nvPr/>
        </p:nvSpPr>
        <p:spPr>
          <a:xfrm>
            <a:off x="5781024" y="2973672"/>
            <a:ext cx="1398900" cy="1398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6"/>
          <p:cNvSpPr txBox="1"/>
          <p:nvPr/>
        </p:nvSpPr>
        <p:spPr>
          <a:xfrm>
            <a:off x="2574725" y="3625675"/>
            <a:ext cx="2352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part of the leg will not be included in the rhombus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6"/>
          <p:cNvSpPr/>
          <p:nvPr/>
        </p:nvSpPr>
        <p:spPr>
          <a:xfrm rot="3553048">
            <a:off x="2472113" y="3076608"/>
            <a:ext cx="195201" cy="76331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87"/>
          <p:cNvSpPr/>
          <p:nvPr/>
        </p:nvSpPr>
        <p:spPr>
          <a:xfrm>
            <a:off x="499840" y="3072213"/>
            <a:ext cx="1733100" cy="1733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7"/>
          <p:cNvSpPr txBox="1"/>
          <p:nvPr/>
        </p:nvSpPr>
        <p:spPr>
          <a:xfrm>
            <a:off x="324000" y="606097"/>
            <a:ext cx="399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two more circles.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one has the compass needle on an open endpoint of the rhombus (inside the first circle drawn), and the pencil on the vertex of the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4" name="Google Shape;1124;p87"/>
          <p:cNvCxnSpPr/>
          <p:nvPr/>
        </p:nvCxnSpPr>
        <p:spPr>
          <a:xfrm flipH="1" rot="10800000">
            <a:off x="1338675" y="3060375"/>
            <a:ext cx="1453800" cy="87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25" name="Google Shape;1125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126" name="Google Shape;1126;p87"/>
          <p:cNvSpPr txBox="1"/>
          <p:nvPr/>
        </p:nvSpPr>
        <p:spPr>
          <a:xfrm>
            <a:off x="4824000" y="71757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7" name="Google Shape;1127;p87"/>
          <p:cNvCxnSpPr/>
          <p:nvPr/>
        </p:nvCxnSpPr>
        <p:spPr>
          <a:xfrm>
            <a:off x="1338675" y="3938175"/>
            <a:ext cx="89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8" name="Google Shape;1128;p87"/>
          <p:cNvGrpSpPr/>
          <p:nvPr/>
        </p:nvGrpSpPr>
        <p:grpSpPr>
          <a:xfrm>
            <a:off x="-2393053" y="2605757"/>
            <a:ext cx="1733222" cy="1733273"/>
            <a:chOff x="3604725" y="3903925"/>
            <a:chExt cx="513000" cy="513000"/>
          </a:xfrm>
        </p:grpSpPr>
        <p:sp>
          <p:nvSpPr>
            <p:cNvPr id="1129" name="Google Shape;1129;p87"/>
            <p:cNvSpPr/>
            <p:nvPr/>
          </p:nvSpPr>
          <p:spPr>
            <a:xfrm>
              <a:off x="3604725" y="3903925"/>
              <a:ext cx="513000" cy="5130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0" name="Google Shape;1130;p87"/>
            <p:cNvCxnSpPr>
              <a:stCxn id="1129" idx="0"/>
            </p:cNvCxnSpPr>
            <p:nvPr/>
          </p:nvCxnSpPr>
          <p:spPr>
            <a:xfrm>
              <a:off x="3861225" y="3903925"/>
              <a:ext cx="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1" name="Google Shape;1131;p87"/>
            <p:cNvCxnSpPr>
              <a:stCxn id="1129" idx="2"/>
              <a:endCxn id="1129" idx="6"/>
            </p:cNvCxnSpPr>
            <p:nvPr/>
          </p:nvCxnSpPr>
          <p:spPr>
            <a:xfrm>
              <a:off x="3604725" y="4160425"/>
              <a:ext cx="5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32" name="Google Shape;1132;p87"/>
          <p:cNvSpPr txBox="1"/>
          <p:nvPr/>
        </p:nvSpPr>
        <p:spPr>
          <a:xfrm>
            <a:off x="4824000" y="2294550"/>
            <a:ext cx="1418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3" name="Google Shape;1133;p87"/>
          <p:cNvCxnSpPr/>
          <p:nvPr/>
        </p:nvCxnSpPr>
        <p:spPr>
          <a:xfrm>
            <a:off x="6465300" y="3678900"/>
            <a:ext cx="71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87"/>
          <p:cNvCxnSpPr/>
          <p:nvPr/>
        </p:nvCxnSpPr>
        <p:spPr>
          <a:xfrm flipH="1" rot="10800000">
            <a:off x="6465300" y="2688300"/>
            <a:ext cx="565500" cy="990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5" name="Google Shape;1135;p87"/>
          <p:cNvSpPr/>
          <p:nvPr/>
        </p:nvSpPr>
        <p:spPr>
          <a:xfrm>
            <a:off x="5781024" y="2973672"/>
            <a:ext cx="1398900" cy="13989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7"/>
          <p:cNvSpPr/>
          <p:nvPr/>
        </p:nvSpPr>
        <p:spPr>
          <a:xfrm>
            <a:off x="1364068" y="3071541"/>
            <a:ext cx="1733100" cy="1733400"/>
          </a:xfrm>
          <a:prstGeom prst="ellipse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7" name="Google Shape;1137;p87"/>
          <p:cNvCxnSpPr/>
          <p:nvPr/>
        </p:nvCxnSpPr>
        <p:spPr>
          <a:xfrm flipH="1" rot="10800000">
            <a:off x="1338675" y="3475875"/>
            <a:ext cx="764700" cy="462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8" name="Google Shape;1138;p87"/>
          <p:cNvSpPr/>
          <p:nvPr/>
        </p:nvSpPr>
        <p:spPr>
          <a:xfrm>
            <a:off x="1233061" y="2612208"/>
            <a:ext cx="1733100" cy="1733400"/>
          </a:xfrm>
          <a:prstGeom prst="ellipse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9" name="Google Shape;1139;p87"/>
          <p:cNvGrpSpPr/>
          <p:nvPr/>
        </p:nvGrpSpPr>
        <p:grpSpPr>
          <a:xfrm rot="3062771">
            <a:off x="1122609" y="2988286"/>
            <a:ext cx="1216563" cy="1222653"/>
            <a:chOff x="856732" y="1653084"/>
            <a:chExt cx="1921722" cy="1931342"/>
          </a:xfrm>
        </p:grpSpPr>
        <p:pic>
          <p:nvPicPr>
            <p:cNvPr id="1140" name="Google Shape;1140;p87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1" name="Google Shape;1141;p87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2" name="Google Shape;1142;p87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3" name="Google Shape;1143;p87"/>
          <p:cNvGrpSpPr/>
          <p:nvPr/>
        </p:nvGrpSpPr>
        <p:grpSpPr>
          <a:xfrm rot="1202281">
            <a:off x="889784" y="2836066"/>
            <a:ext cx="1216487" cy="1222577"/>
            <a:chOff x="856732" y="1653084"/>
            <a:chExt cx="1921722" cy="1931342"/>
          </a:xfrm>
        </p:grpSpPr>
        <p:pic>
          <p:nvPicPr>
            <p:cNvPr id="1144" name="Google Shape;1144;p87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5" name="Google Shape;1145;p87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6" name="Google Shape;1146;p87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7" name="Google Shape;1147;p87"/>
          <p:cNvSpPr/>
          <p:nvPr/>
        </p:nvSpPr>
        <p:spPr>
          <a:xfrm>
            <a:off x="6467374" y="2964977"/>
            <a:ext cx="1418100" cy="14181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7"/>
          <p:cNvSpPr/>
          <p:nvPr/>
        </p:nvSpPr>
        <p:spPr>
          <a:xfrm>
            <a:off x="6107219" y="2350037"/>
            <a:ext cx="1418100" cy="14181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3" name="Google Shape;1153;p88"/>
          <p:cNvGrpSpPr/>
          <p:nvPr/>
        </p:nvGrpSpPr>
        <p:grpSpPr>
          <a:xfrm>
            <a:off x="5781024" y="2350037"/>
            <a:ext cx="2104450" cy="2033040"/>
            <a:chOff x="5781024" y="2350037"/>
            <a:chExt cx="2104450" cy="2033040"/>
          </a:xfrm>
        </p:grpSpPr>
        <p:sp>
          <p:nvSpPr>
            <p:cNvPr id="1154" name="Google Shape;1154;p88"/>
            <p:cNvSpPr/>
            <p:nvPr/>
          </p:nvSpPr>
          <p:spPr>
            <a:xfrm>
              <a:off x="5781024" y="2973672"/>
              <a:ext cx="1398900" cy="13989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5" name="Google Shape;1155;p88"/>
            <p:cNvSpPr/>
            <p:nvPr/>
          </p:nvSpPr>
          <p:spPr>
            <a:xfrm>
              <a:off x="6467374" y="2964977"/>
              <a:ext cx="1418100" cy="14181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88"/>
            <p:cNvSpPr/>
            <p:nvPr/>
          </p:nvSpPr>
          <p:spPr>
            <a:xfrm>
              <a:off x="6107219" y="2350037"/>
              <a:ext cx="1418100" cy="14181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7" name="Google Shape;1157;p88"/>
          <p:cNvSpPr txBox="1"/>
          <p:nvPr/>
        </p:nvSpPr>
        <p:spPr>
          <a:xfrm>
            <a:off x="324000" y="606097"/>
            <a:ext cx="39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point where the last two circles drawn intersect.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8" name="Google Shape;1158;p88"/>
          <p:cNvCxnSpPr/>
          <p:nvPr/>
        </p:nvCxnSpPr>
        <p:spPr>
          <a:xfrm flipH="1" rot="10800000">
            <a:off x="1338675" y="3060375"/>
            <a:ext cx="1453800" cy="87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59" name="Google Shape;1159;p8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160" name="Google Shape;1160;p88"/>
          <p:cNvSpPr txBox="1"/>
          <p:nvPr/>
        </p:nvSpPr>
        <p:spPr>
          <a:xfrm>
            <a:off x="4824000" y="71757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1" name="Google Shape;1161;p88"/>
          <p:cNvCxnSpPr/>
          <p:nvPr/>
        </p:nvCxnSpPr>
        <p:spPr>
          <a:xfrm>
            <a:off x="1338675" y="3938175"/>
            <a:ext cx="89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62" name="Google Shape;1162;p88"/>
          <p:cNvGrpSpPr/>
          <p:nvPr/>
        </p:nvGrpSpPr>
        <p:grpSpPr>
          <a:xfrm>
            <a:off x="-2393053" y="2605757"/>
            <a:ext cx="1733222" cy="1733273"/>
            <a:chOff x="3604725" y="3903925"/>
            <a:chExt cx="513000" cy="513000"/>
          </a:xfrm>
        </p:grpSpPr>
        <p:sp>
          <p:nvSpPr>
            <p:cNvPr id="1163" name="Google Shape;1163;p88"/>
            <p:cNvSpPr/>
            <p:nvPr/>
          </p:nvSpPr>
          <p:spPr>
            <a:xfrm>
              <a:off x="3604725" y="3903925"/>
              <a:ext cx="513000" cy="5130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64" name="Google Shape;1164;p88"/>
            <p:cNvCxnSpPr>
              <a:stCxn id="1163" idx="0"/>
            </p:cNvCxnSpPr>
            <p:nvPr/>
          </p:nvCxnSpPr>
          <p:spPr>
            <a:xfrm>
              <a:off x="3861225" y="3903925"/>
              <a:ext cx="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5" name="Google Shape;1165;p88"/>
            <p:cNvCxnSpPr>
              <a:stCxn id="1163" idx="2"/>
              <a:endCxn id="1163" idx="6"/>
            </p:cNvCxnSpPr>
            <p:nvPr/>
          </p:nvCxnSpPr>
          <p:spPr>
            <a:xfrm>
              <a:off x="3604725" y="4160425"/>
              <a:ext cx="5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66" name="Google Shape;1166;p88"/>
          <p:cNvSpPr txBox="1"/>
          <p:nvPr/>
        </p:nvSpPr>
        <p:spPr>
          <a:xfrm>
            <a:off x="4824000" y="2294550"/>
            <a:ext cx="1418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7" name="Google Shape;1167;p88"/>
          <p:cNvCxnSpPr/>
          <p:nvPr/>
        </p:nvCxnSpPr>
        <p:spPr>
          <a:xfrm>
            <a:off x="6465300" y="3678900"/>
            <a:ext cx="71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8" name="Google Shape;1168;p88"/>
          <p:cNvCxnSpPr/>
          <p:nvPr/>
        </p:nvCxnSpPr>
        <p:spPr>
          <a:xfrm flipH="1" rot="10800000">
            <a:off x="6465300" y="2688300"/>
            <a:ext cx="565500" cy="990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9" name="Google Shape;1169;p88"/>
          <p:cNvCxnSpPr/>
          <p:nvPr/>
        </p:nvCxnSpPr>
        <p:spPr>
          <a:xfrm flipH="1" rot="10800000">
            <a:off x="1338675" y="3475875"/>
            <a:ext cx="764700" cy="462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70" name="Google Shape;1170;p88"/>
          <p:cNvGrpSpPr/>
          <p:nvPr/>
        </p:nvGrpSpPr>
        <p:grpSpPr>
          <a:xfrm>
            <a:off x="499840" y="2612208"/>
            <a:ext cx="2597328" cy="2193405"/>
            <a:chOff x="499840" y="2612208"/>
            <a:chExt cx="2597328" cy="2193405"/>
          </a:xfrm>
        </p:grpSpPr>
        <p:sp>
          <p:nvSpPr>
            <p:cNvPr id="1171" name="Google Shape;1171;p88"/>
            <p:cNvSpPr/>
            <p:nvPr/>
          </p:nvSpPr>
          <p:spPr>
            <a:xfrm>
              <a:off x="499840" y="3072213"/>
              <a:ext cx="1733100" cy="17334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2" name="Google Shape;1172;p88"/>
            <p:cNvSpPr/>
            <p:nvPr/>
          </p:nvSpPr>
          <p:spPr>
            <a:xfrm>
              <a:off x="1364068" y="3071541"/>
              <a:ext cx="1733100" cy="1733400"/>
            </a:xfrm>
            <a:prstGeom prst="ellipse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88"/>
            <p:cNvSpPr/>
            <p:nvPr/>
          </p:nvSpPr>
          <p:spPr>
            <a:xfrm>
              <a:off x="1233061" y="2612208"/>
              <a:ext cx="1733100" cy="1733400"/>
            </a:xfrm>
            <a:prstGeom prst="ellipse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4" name="Google Shape;1174;p88"/>
          <p:cNvSpPr/>
          <p:nvPr/>
        </p:nvSpPr>
        <p:spPr>
          <a:xfrm>
            <a:off x="2785307" y="3292279"/>
            <a:ext cx="360300" cy="360300"/>
          </a:xfrm>
          <a:prstGeom prst="mathMultiply">
            <a:avLst>
              <a:gd fmla="val 14445" name="adj1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8"/>
          <p:cNvSpPr txBox="1"/>
          <p:nvPr/>
        </p:nvSpPr>
        <p:spPr>
          <a:xfrm>
            <a:off x="324000" y="1160197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the final vertex of the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Join the vertices together to complete the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6" name="Google Shape;1176;p88"/>
          <p:cNvGrpSpPr/>
          <p:nvPr/>
        </p:nvGrpSpPr>
        <p:grpSpPr>
          <a:xfrm rot="10800000">
            <a:off x="2090780" y="3478850"/>
            <a:ext cx="887242" cy="462300"/>
            <a:chOff x="1491075" y="3628275"/>
            <a:chExt cx="898200" cy="462300"/>
          </a:xfrm>
        </p:grpSpPr>
        <p:cxnSp>
          <p:nvCxnSpPr>
            <p:cNvPr id="1177" name="Google Shape;1177;p88"/>
            <p:cNvCxnSpPr/>
            <p:nvPr/>
          </p:nvCxnSpPr>
          <p:spPr>
            <a:xfrm>
              <a:off x="1491075" y="4090575"/>
              <a:ext cx="898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88"/>
            <p:cNvCxnSpPr/>
            <p:nvPr/>
          </p:nvCxnSpPr>
          <p:spPr>
            <a:xfrm flipH="1" rot="10800000">
              <a:off x="1491075" y="3628275"/>
              <a:ext cx="764700" cy="462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79" name="Google Shape;1179;p88"/>
          <p:cNvCxnSpPr/>
          <p:nvPr/>
        </p:nvCxnSpPr>
        <p:spPr>
          <a:xfrm>
            <a:off x="6819725" y="3059075"/>
            <a:ext cx="71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0" name="Google Shape;1180;p88"/>
          <p:cNvCxnSpPr>
            <a:endCxn id="1156" idx="6"/>
          </p:cNvCxnSpPr>
          <p:nvPr/>
        </p:nvCxnSpPr>
        <p:spPr>
          <a:xfrm flipH="1" rot="10800000">
            <a:off x="7176119" y="3059087"/>
            <a:ext cx="349200" cy="617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89"/>
          <p:cNvSpPr/>
          <p:nvPr/>
        </p:nvSpPr>
        <p:spPr>
          <a:xfrm>
            <a:off x="1099394" y="2940610"/>
            <a:ext cx="1265400" cy="1265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9"/>
          <p:cNvSpPr/>
          <p:nvPr/>
        </p:nvSpPr>
        <p:spPr>
          <a:xfrm>
            <a:off x="989746" y="2323685"/>
            <a:ext cx="1265400" cy="1265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9"/>
          <p:cNvSpPr/>
          <p:nvPr/>
        </p:nvSpPr>
        <p:spPr>
          <a:xfrm>
            <a:off x="1737276" y="2944629"/>
            <a:ext cx="1265400" cy="1265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pic>
        <p:nvPicPr>
          <p:cNvPr id="1189" name="Google Shape;118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371" y="777324"/>
            <a:ext cx="485404" cy="916557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89"/>
          <p:cNvSpPr txBox="1"/>
          <p:nvPr/>
        </p:nvSpPr>
        <p:spPr>
          <a:xfrm>
            <a:off x="324000" y="1573943"/>
            <a:ext cx="10743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9"/>
          <p:cNvSpPr txBox="1"/>
          <p:nvPr/>
        </p:nvSpPr>
        <p:spPr>
          <a:xfrm>
            <a:off x="1463200" y="682300"/>
            <a:ext cx="300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begins construction of a rhombus from this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2" name="Google Shape;1192;p89"/>
          <p:cNvCxnSpPr/>
          <p:nvPr/>
        </p:nvCxnSpPr>
        <p:spPr>
          <a:xfrm>
            <a:off x="1723350" y="3578550"/>
            <a:ext cx="641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3" name="Google Shape;1193;p89"/>
          <p:cNvCxnSpPr/>
          <p:nvPr/>
        </p:nvCxnSpPr>
        <p:spPr>
          <a:xfrm rot="10800000">
            <a:off x="1581450" y="2668050"/>
            <a:ext cx="141900" cy="91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94" name="Google Shape;1194;p89"/>
          <p:cNvGrpSpPr/>
          <p:nvPr/>
        </p:nvGrpSpPr>
        <p:grpSpPr>
          <a:xfrm>
            <a:off x="1774113" y="3869702"/>
            <a:ext cx="548100" cy="702427"/>
            <a:chOff x="4378653" y="3077573"/>
            <a:chExt cx="548100" cy="702427"/>
          </a:xfrm>
        </p:grpSpPr>
        <p:sp>
          <p:nvSpPr>
            <p:cNvPr id="1195" name="Google Shape;1195;p89"/>
            <p:cNvSpPr/>
            <p:nvPr/>
          </p:nvSpPr>
          <p:spPr>
            <a:xfrm>
              <a:off x="4378653" y="3077573"/>
              <a:ext cx="548100" cy="548100"/>
            </a:xfrm>
            <a:prstGeom prst="mathMultiply">
              <a:avLst>
                <a:gd fmla="val 10427" name="adj1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89"/>
            <p:cNvSpPr txBox="1"/>
            <p:nvPr/>
          </p:nvSpPr>
          <p:spPr>
            <a:xfrm>
              <a:off x="4472700" y="3502800"/>
              <a:ext cx="36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7" name="Google Shape;1197;p89"/>
          <p:cNvGrpSpPr/>
          <p:nvPr/>
        </p:nvGrpSpPr>
        <p:grpSpPr>
          <a:xfrm>
            <a:off x="1977131" y="2638301"/>
            <a:ext cx="709822" cy="591298"/>
            <a:chOff x="4378653" y="3034375"/>
            <a:chExt cx="709822" cy="591298"/>
          </a:xfrm>
        </p:grpSpPr>
        <p:sp>
          <p:nvSpPr>
            <p:cNvPr id="1198" name="Google Shape;1198;p89"/>
            <p:cNvSpPr/>
            <p:nvPr/>
          </p:nvSpPr>
          <p:spPr>
            <a:xfrm>
              <a:off x="4378653" y="3077573"/>
              <a:ext cx="548100" cy="548100"/>
            </a:xfrm>
            <a:prstGeom prst="mathMultiply">
              <a:avLst>
                <a:gd fmla="val 10427" name="adj1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89"/>
            <p:cNvSpPr txBox="1"/>
            <p:nvPr/>
          </p:nvSpPr>
          <p:spPr>
            <a:xfrm>
              <a:off x="4728475" y="3034375"/>
              <a:ext cx="36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0" name="Google Shape;1200;p89"/>
          <p:cNvSpPr txBox="1"/>
          <p:nvPr/>
        </p:nvSpPr>
        <p:spPr>
          <a:xfrm>
            <a:off x="3742875" y="2361100"/>
            <a:ext cx="375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point is the final vertex of the rhombus?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1" name="Google Shape;1201;p89"/>
          <p:cNvGrpSpPr/>
          <p:nvPr/>
        </p:nvGrpSpPr>
        <p:grpSpPr>
          <a:xfrm flipH="1">
            <a:off x="701928" y="3059542"/>
            <a:ext cx="709822" cy="591298"/>
            <a:chOff x="4378653" y="3034375"/>
            <a:chExt cx="709822" cy="591298"/>
          </a:xfrm>
        </p:grpSpPr>
        <p:sp>
          <p:nvSpPr>
            <p:cNvPr id="1202" name="Google Shape;1202;p89"/>
            <p:cNvSpPr/>
            <p:nvPr/>
          </p:nvSpPr>
          <p:spPr>
            <a:xfrm>
              <a:off x="4378653" y="3077573"/>
              <a:ext cx="548100" cy="548100"/>
            </a:xfrm>
            <a:prstGeom prst="mathMultiply">
              <a:avLst>
                <a:gd fmla="val 10427" name="adj1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3" name="Google Shape;1203;p89"/>
            <p:cNvSpPr txBox="1"/>
            <p:nvPr/>
          </p:nvSpPr>
          <p:spPr>
            <a:xfrm>
              <a:off x="4728475" y="3034375"/>
              <a:ext cx="36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04" name="Google Shape;1204;p89"/>
          <p:cNvCxnSpPr/>
          <p:nvPr/>
        </p:nvCxnSpPr>
        <p:spPr>
          <a:xfrm>
            <a:off x="1615148" y="2956375"/>
            <a:ext cx="641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5" name="Google Shape;1205;p89"/>
          <p:cNvCxnSpPr/>
          <p:nvPr/>
        </p:nvCxnSpPr>
        <p:spPr>
          <a:xfrm rot="10800000">
            <a:off x="2263100" y="2945850"/>
            <a:ext cx="1017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06" name="Google Shape;1206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1321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1" name="Google Shape;1211;p90"/>
          <p:cNvGrpSpPr/>
          <p:nvPr/>
        </p:nvGrpSpPr>
        <p:grpSpPr>
          <a:xfrm>
            <a:off x="1331255" y="1235221"/>
            <a:ext cx="3609773" cy="3546878"/>
            <a:chOff x="1331255" y="1235221"/>
            <a:chExt cx="3609773" cy="3546878"/>
          </a:xfrm>
        </p:grpSpPr>
        <p:sp>
          <p:nvSpPr>
            <p:cNvPr id="1212" name="Google Shape;1212;p90"/>
            <p:cNvSpPr/>
            <p:nvPr/>
          </p:nvSpPr>
          <p:spPr>
            <a:xfrm>
              <a:off x="2533528" y="2374599"/>
              <a:ext cx="2407500" cy="24075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90"/>
            <p:cNvSpPr/>
            <p:nvPr/>
          </p:nvSpPr>
          <p:spPr>
            <a:xfrm>
              <a:off x="1331255" y="2374599"/>
              <a:ext cx="2407500" cy="24075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90"/>
            <p:cNvSpPr/>
            <p:nvPr/>
          </p:nvSpPr>
          <p:spPr>
            <a:xfrm>
              <a:off x="2160986" y="1235221"/>
              <a:ext cx="2407500" cy="24075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5" name="Google Shape;121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216" name="Google Shape;1216;p90"/>
          <p:cNvSpPr txBox="1"/>
          <p:nvPr/>
        </p:nvSpPr>
        <p:spPr>
          <a:xfrm>
            <a:off x="324000" y="6823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maximum radius of each circle in the construction of this rhombus?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7" name="Google Shape;1217;p90"/>
          <p:cNvCxnSpPr/>
          <p:nvPr/>
        </p:nvCxnSpPr>
        <p:spPr>
          <a:xfrm>
            <a:off x="2524550" y="3578445"/>
            <a:ext cx="123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8" name="Google Shape;1218;p90"/>
          <p:cNvCxnSpPr/>
          <p:nvPr/>
        </p:nvCxnSpPr>
        <p:spPr>
          <a:xfrm rot="10800000">
            <a:off x="3112782" y="1751145"/>
            <a:ext cx="642000" cy="182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19" name="Google Shape;1219;p90"/>
          <p:cNvGrpSpPr/>
          <p:nvPr/>
        </p:nvGrpSpPr>
        <p:grpSpPr>
          <a:xfrm rot="2700000">
            <a:off x="2714161" y="3249950"/>
            <a:ext cx="892187" cy="897394"/>
            <a:chOff x="6593600" y="1538175"/>
            <a:chExt cx="1131000" cy="1137600"/>
          </a:xfrm>
        </p:grpSpPr>
        <p:cxnSp>
          <p:nvCxnSpPr>
            <p:cNvPr id="1220" name="Google Shape;1220;p90"/>
            <p:cNvCxnSpPr/>
            <p:nvPr/>
          </p:nvCxnSpPr>
          <p:spPr>
            <a:xfrm flipH="1" rot="10800000">
              <a:off x="6593600" y="1538175"/>
              <a:ext cx="1131000" cy="11376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21" name="Google Shape;1221;p90"/>
            <p:cNvSpPr txBox="1"/>
            <p:nvPr/>
          </p:nvSpPr>
          <p:spPr>
            <a:xfrm rot="-2697343">
              <a:off x="6881378" y="2078444"/>
              <a:ext cx="823285" cy="35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90"/>
          <p:cNvGrpSpPr/>
          <p:nvPr/>
        </p:nvGrpSpPr>
        <p:grpSpPr>
          <a:xfrm rot="-3849200">
            <a:off x="2936761" y="1900962"/>
            <a:ext cx="1399857" cy="1578917"/>
            <a:chOff x="6593600" y="1538175"/>
            <a:chExt cx="1131000" cy="1275762"/>
          </a:xfrm>
        </p:grpSpPr>
        <p:cxnSp>
          <p:nvCxnSpPr>
            <p:cNvPr id="1223" name="Google Shape;1223;p90"/>
            <p:cNvCxnSpPr/>
            <p:nvPr/>
          </p:nvCxnSpPr>
          <p:spPr>
            <a:xfrm flipH="1" rot="10800000">
              <a:off x="6593600" y="1538175"/>
              <a:ext cx="1131000" cy="11376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24" name="Google Shape;1224;p90"/>
            <p:cNvSpPr txBox="1"/>
            <p:nvPr/>
          </p:nvSpPr>
          <p:spPr>
            <a:xfrm rot="3852596">
              <a:off x="6902485" y="2282567"/>
              <a:ext cx="823306" cy="2239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18.6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5" name="Google Shape;1225;p90"/>
          <p:cNvSpPr txBox="1"/>
          <p:nvPr/>
        </p:nvSpPr>
        <p:spPr>
          <a:xfrm>
            <a:off x="5774400" y="1162800"/>
            <a:ext cx="3045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cm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maximum radius of each circle should be the length of the shorter leg of the angle.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radius smaller than this is possible - whatever works for the length of your pair of compasses.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26" name="Google Shape;1226;p90"/>
          <p:cNvCxnSpPr/>
          <p:nvPr/>
        </p:nvCxnSpPr>
        <p:spPr>
          <a:xfrm>
            <a:off x="2143619" y="2439332"/>
            <a:ext cx="123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7" name="Google Shape;1227;p90"/>
          <p:cNvCxnSpPr>
            <a:endCxn id="1214" idx="2"/>
          </p:cNvCxnSpPr>
          <p:nvPr/>
        </p:nvCxnSpPr>
        <p:spPr>
          <a:xfrm rot="10800000">
            <a:off x="2160986" y="2438971"/>
            <a:ext cx="388200" cy="113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233" name="Google Shape;1233;p91"/>
          <p:cNvSpPr txBox="1"/>
          <p:nvPr/>
        </p:nvSpPr>
        <p:spPr>
          <a:xfrm>
            <a:off x="324000" y="6823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each construction to draw a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4" name="Google Shape;1234;p91"/>
          <p:cNvPicPr preferRelativeResize="0"/>
          <p:nvPr/>
        </p:nvPicPr>
        <p:blipFill rotWithShape="1">
          <a:blip r:embed="rId3">
            <a:alphaModFix/>
          </a:blip>
          <a:srcRect b="0" l="0" r="0" t="4205"/>
          <a:stretch/>
        </p:blipFill>
        <p:spPr>
          <a:xfrm>
            <a:off x="321500" y="911875"/>
            <a:ext cx="8500998" cy="371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1"/>
          <p:cNvSpPr txBox="1"/>
          <p:nvPr/>
        </p:nvSpPr>
        <p:spPr>
          <a:xfrm>
            <a:off x="4217293" y="107998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1"/>
          <p:cNvSpPr txBox="1"/>
          <p:nvPr/>
        </p:nvSpPr>
        <p:spPr>
          <a:xfrm>
            <a:off x="812093" y="121933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1"/>
          <p:cNvSpPr txBox="1"/>
          <p:nvPr/>
        </p:nvSpPr>
        <p:spPr>
          <a:xfrm>
            <a:off x="6546843" y="1115614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878800"/>
            <a:ext cx="8495998" cy="338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244" name="Google Shape;1244;p92"/>
          <p:cNvSpPr txBox="1"/>
          <p:nvPr/>
        </p:nvSpPr>
        <p:spPr>
          <a:xfrm>
            <a:off x="324000" y="6823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each construction to draw a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2"/>
          <p:cNvSpPr txBox="1"/>
          <p:nvPr/>
        </p:nvSpPr>
        <p:spPr>
          <a:xfrm>
            <a:off x="4217293" y="107998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2"/>
          <p:cNvSpPr txBox="1"/>
          <p:nvPr/>
        </p:nvSpPr>
        <p:spPr>
          <a:xfrm>
            <a:off x="812093" y="121933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92"/>
          <p:cNvSpPr txBox="1"/>
          <p:nvPr/>
        </p:nvSpPr>
        <p:spPr>
          <a:xfrm>
            <a:off x="6546843" y="1115614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253" name="Google Shape;1253;p93"/>
          <p:cNvSpPr txBox="1"/>
          <p:nvPr/>
        </p:nvSpPr>
        <p:spPr>
          <a:xfrm>
            <a:off x="324000" y="6823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each construction to draw a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4" name="Google Shape;1254;p93"/>
          <p:cNvPicPr preferRelativeResize="0"/>
          <p:nvPr/>
        </p:nvPicPr>
        <p:blipFill rotWithShape="1">
          <a:blip r:embed="rId3">
            <a:alphaModFix amt="50000"/>
          </a:blip>
          <a:srcRect b="0" l="0" r="0" t="4205"/>
          <a:stretch/>
        </p:blipFill>
        <p:spPr>
          <a:xfrm>
            <a:off x="321500" y="911875"/>
            <a:ext cx="8500998" cy="371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93"/>
          <p:cNvSpPr txBox="1"/>
          <p:nvPr/>
        </p:nvSpPr>
        <p:spPr>
          <a:xfrm>
            <a:off x="4217293" y="107998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93"/>
          <p:cNvSpPr txBox="1"/>
          <p:nvPr/>
        </p:nvSpPr>
        <p:spPr>
          <a:xfrm>
            <a:off x="812093" y="121933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93"/>
          <p:cNvSpPr txBox="1"/>
          <p:nvPr/>
        </p:nvSpPr>
        <p:spPr>
          <a:xfrm>
            <a:off x="6546843" y="1115614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8" name="Google Shape;1258;p93"/>
          <p:cNvGrpSpPr/>
          <p:nvPr/>
        </p:nvGrpSpPr>
        <p:grpSpPr>
          <a:xfrm>
            <a:off x="1639750" y="2604300"/>
            <a:ext cx="964550" cy="949525"/>
            <a:chOff x="1639750" y="2604300"/>
            <a:chExt cx="964550" cy="949525"/>
          </a:xfrm>
        </p:grpSpPr>
        <p:cxnSp>
          <p:nvCxnSpPr>
            <p:cNvPr id="1259" name="Google Shape;1259;p93"/>
            <p:cNvCxnSpPr/>
            <p:nvPr/>
          </p:nvCxnSpPr>
          <p:spPr>
            <a:xfrm>
              <a:off x="1639750" y="2604300"/>
              <a:ext cx="964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0" name="Google Shape;1260;p93"/>
            <p:cNvCxnSpPr/>
            <p:nvPr/>
          </p:nvCxnSpPr>
          <p:spPr>
            <a:xfrm flipH="1">
              <a:off x="2372100" y="2607325"/>
              <a:ext cx="232200" cy="94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61" name="Google Shape;1261;p93"/>
          <p:cNvCxnSpPr/>
          <p:nvPr/>
        </p:nvCxnSpPr>
        <p:spPr>
          <a:xfrm>
            <a:off x="4329950" y="2857800"/>
            <a:ext cx="708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2" name="Google Shape;1262;p93"/>
          <p:cNvCxnSpPr/>
          <p:nvPr/>
        </p:nvCxnSpPr>
        <p:spPr>
          <a:xfrm rot="10800000">
            <a:off x="5035950" y="2855075"/>
            <a:ext cx="143400" cy="697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3" name="Google Shape;1263;p93"/>
          <p:cNvCxnSpPr/>
          <p:nvPr/>
        </p:nvCxnSpPr>
        <p:spPr>
          <a:xfrm rot="10800000">
            <a:off x="7629050" y="2343900"/>
            <a:ext cx="615000" cy="51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4" name="Google Shape;1264;p93"/>
          <p:cNvCxnSpPr/>
          <p:nvPr/>
        </p:nvCxnSpPr>
        <p:spPr>
          <a:xfrm flipH="1">
            <a:off x="7918000" y="2855250"/>
            <a:ext cx="322800" cy="73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" name="Google Shape;1269;p94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24000" y="878800"/>
            <a:ext cx="8495998" cy="338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94"/>
          <p:cNvSpPr/>
          <p:nvPr/>
        </p:nvSpPr>
        <p:spPr>
          <a:xfrm>
            <a:off x="6605958" y="1679118"/>
            <a:ext cx="871800" cy="871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4"/>
          <p:cNvSpPr/>
          <p:nvPr/>
        </p:nvSpPr>
        <p:spPr>
          <a:xfrm>
            <a:off x="6292526" y="1982301"/>
            <a:ext cx="871800" cy="871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4"/>
          <p:cNvSpPr/>
          <p:nvPr/>
        </p:nvSpPr>
        <p:spPr>
          <a:xfrm>
            <a:off x="6966747" y="1928721"/>
            <a:ext cx="871800" cy="871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274" name="Google Shape;1274;p94"/>
          <p:cNvSpPr txBox="1"/>
          <p:nvPr/>
        </p:nvSpPr>
        <p:spPr>
          <a:xfrm>
            <a:off x="324000" y="6823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each construction to draw a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94"/>
          <p:cNvSpPr txBox="1"/>
          <p:nvPr/>
        </p:nvSpPr>
        <p:spPr>
          <a:xfrm>
            <a:off x="4217293" y="107998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94"/>
          <p:cNvSpPr txBox="1"/>
          <p:nvPr/>
        </p:nvSpPr>
        <p:spPr>
          <a:xfrm>
            <a:off x="812093" y="121933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4"/>
          <p:cNvSpPr txBox="1"/>
          <p:nvPr/>
        </p:nvSpPr>
        <p:spPr>
          <a:xfrm>
            <a:off x="6546843" y="1115614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4"/>
          <p:cNvSpPr/>
          <p:nvPr/>
        </p:nvSpPr>
        <p:spPr>
          <a:xfrm>
            <a:off x="1163571" y="2436954"/>
            <a:ext cx="1576200" cy="157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4"/>
          <p:cNvSpPr/>
          <p:nvPr/>
        </p:nvSpPr>
        <p:spPr>
          <a:xfrm>
            <a:off x="2895132" y="1875252"/>
            <a:ext cx="1536000" cy="1536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0" name="Google Shape;1280;p94"/>
          <p:cNvCxnSpPr/>
          <p:nvPr/>
        </p:nvCxnSpPr>
        <p:spPr>
          <a:xfrm>
            <a:off x="1563500" y="2544875"/>
            <a:ext cx="808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1" name="Google Shape;1281;p94"/>
          <p:cNvCxnSpPr/>
          <p:nvPr/>
        </p:nvCxnSpPr>
        <p:spPr>
          <a:xfrm flipH="1" rot="10800000">
            <a:off x="1931900" y="2548200"/>
            <a:ext cx="437100" cy="65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2" name="Google Shape;1282;p94"/>
          <p:cNvSpPr/>
          <p:nvPr/>
        </p:nvSpPr>
        <p:spPr>
          <a:xfrm>
            <a:off x="4188963" y="1453890"/>
            <a:ext cx="1536000" cy="15360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3" name="Google Shape;1283;p94"/>
          <p:cNvCxnSpPr>
            <a:stCxn id="1282" idx="3"/>
          </p:cNvCxnSpPr>
          <p:nvPr/>
        </p:nvCxnSpPr>
        <p:spPr>
          <a:xfrm flipH="1" rot="10800000">
            <a:off x="4413905" y="2232448"/>
            <a:ext cx="543900" cy="53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4" name="Google Shape;1284;p94"/>
          <p:cNvCxnSpPr>
            <a:stCxn id="1282" idx="3"/>
          </p:cNvCxnSpPr>
          <p:nvPr/>
        </p:nvCxnSpPr>
        <p:spPr>
          <a:xfrm rot="10800000">
            <a:off x="3663305" y="2649448"/>
            <a:ext cx="750600" cy="115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5" name="Google Shape;1285;p94"/>
          <p:cNvCxnSpPr/>
          <p:nvPr/>
        </p:nvCxnSpPr>
        <p:spPr>
          <a:xfrm flipH="1" rot="10800000">
            <a:off x="7091025" y="2376775"/>
            <a:ext cx="310500" cy="29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94"/>
          <p:cNvCxnSpPr/>
          <p:nvPr/>
        </p:nvCxnSpPr>
        <p:spPr>
          <a:xfrm rot="10800000">
            <a:off x="6725275" y="2413650"/>
            <a:ext cx="362400" cy="25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7" name="Google Shape;1287;p94"/>
          <p:cNvSpPr txBox="1"/>
          <p:nvPr/>
        </p:nvSpPr>
        <p:spPr>
          <a:xfrm>
            <a:off x="2895125" y="3612975"/>
            <a:ext cx="5468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Using a protractor, measure the opposite angles of each rhombus.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each pair of opposite angles are the same size, then your construction is accurate!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9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293" name="Google Shape;1293;p9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294" name="Google Shape;1294;p9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sp>
        <p:nvSpPr>
          <p:cNvPr id="1295" name="Google Shape;1295;p9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Bisecting an angle</a:t>
            </a:r>
            <a:endParaRPr/>
          </a:p>
        </p:txBody>
      </p:sp>
      <p:pic>
        <p:nvPicPr>
          <p:cNvPr id="1296" name="Google Shape;129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153" y="277583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pic>
        <p:nvPicPr>
          <p:cNvPr id="1302" name="Google Shape;1302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35795" y="1936877"/>
            <a:ext cx="702969" cy="6802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96"/>
          <p:cNvSpPr txBox="1"/>
          <p:nvPr/>
        </p:nvSpPr>
        <p:spPr>
          <a:xfrm flipH="1">
            <a:off x="323991" y="2617177"/>
            <a:ext cx="7029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4" name="Google Shape;1304;p96"/>
          <p:cNvGrpSpPr/>
          <p:nvPr/>
        </p:nvGrpSpPr>
        <p:grpSpPr>
          <a:xfrm>
            <a:off x="876236" y="587211"/>
            <a:ext cx="4165125" cy="2027177"/>
            <a:chOff x="4639187" y="3566919"/>
            <a:chExt cx="3255276" cy="1584351"/>
          </a:xfrm>
        </p:grpSpPr>
        <p:pic>
          <p:nvPicPr>
            <p:cNvPr id="1305" name="Google Shape;1305;p96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4639187" y="3566919"/>
              <a:ext cx="3255276" cy="158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96"/>
            <p:cNvSpPr txBox="1"/>
            <p:nvPr/>
          </p:nvSpPr>
          <p:spPr>
            <a:xfrm>
              <a:off x="4902098" y="3631675"/>
              <a:ext cx="2934900" cy="12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These constructions look really confusing and take up a lot of space!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Is there a better way to construct a rhombus?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7" name="Google Shape;1307;p96"/>
          <p:cNvSpPr txBox="1"/>
          <p:nvPr/>
        </p:nvSpPr>
        <p:spPr>
          <a:xfrm>
            <a:off x="335987" y="4563798"/>
            <a:ext cx="7026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8" name="Google Shape;1308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106" y="3832796"/>
            <a:ext cx="486880" cy="7011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9" name="Google Shape;1309;p96"/>
          <p:cNvGrpSpPr/>
          <p:nvPr/>
        </p:nvGrpSpPr>
        <p:grpSpPr>
          <a:xfrm>
            <a:off x="876108" y="2804875"/>
            <a:ext cx="3586012" cy="1745479"/>
            <a:chOff x="4639187" y="3566919"/>
            <a:chExt cx="3255276" cy="1584351"/>
          </a:xfrm>
        </p:grpSpPr>
        <p:pic>
          <p:nvPicPr>
            <p:cNvPr id="1310" name="Google Shape;1310;p96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4639187" y="3566919"/>
              <a:ext cx="3255276" cy="158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96"/>
            <p:cNvSpPr txBox="1"/>
            <p:nvPr/>
          </p:nvSpPr>
          <p:spPr>
            <a:xfrm>
              <a:off x="4902098" y="3670473"/>
              <a:ext cx="2934900" cy="11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 don’t think you need to draw every circle fully, since we only care about a couple of points on each circle.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12" name="Google Shape;1312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9983" y="830850"/>
            <a:ext cx="3824783" cy="34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7630" y="1483158"/>
            <a:ext cx="2353123" cy="2062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4" name="Google Shape;1314;p96"/>
          <p:cNvGrpSpPr/>
          <p:nvPr/>
        </p:nvGrpSpPr>
        <p:grpSpPr>
          <a:xfrm>
            <a:off x="5924950" y="2616941"/>
            <a:ext cx="484800" cy="674434"/>
            <a:chOff x="5924950" y="2616941"/>
            <a:chExt cx="484800" cy="674434"/>
          </a:xfrm>
        </p:grpSpPr>
        <p:sp>
          <p:nvSpPr>
            <p:cNvPr id="1315" name="Google Shape;1315;p96"/>
            <p:cNvSpPr/>
            <p:nvPr/>
          </p:nvSpPr>
          <p:spPr>
            <a:xfrm>
              <a:off x="5924950" y="2744775"/>
              <a:ext cx="484800" cy="54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16" name="Google Shape;1316;p96"/>
            <p:cNvGrpSpPr/>
            <p:nvPr/>
          </p:nvGrpSpPr>
          <p:grpSpPr>
            <a:xfrm>
              <a:off x="6115318" y="2616941"/>
              <a:ext cx="294432" cy="461634"/>
              <a:chOff x="4638500" y="2991075"/>
              <a:chExt cx="294432" cy="461634"/>
            </a:xfrm>
          </p:grpSpPr>
          <p:pic>
            <p:nvPicPr>
              <p:cNvPr id="1317" name="Google Shape;1317;p96"/>
              <p:cNvPicPr preferRelativeResize="0"/>
              <p:nvPr/>
            </p:nvPicPr>
            <p:blipFill rotWithShape="1">
              <a:blip r:embed="rId7">
                <a:alphaModFix/>
              </a:blip>
              <a:srcRect b="35998" l="19356" r="70283" t="42180"/>
              <a:stretch/>
            </p:blipFill>
            <p:spPr>
              <a:xfrm>
                <a:off x="4638500" y="2991075"/>
                <a:ext cx="243750" cy="450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8" name="Google Shape;1318;p96"/>
              <p:cNvPicPr preferRelativeResize="0"/>
              <p:nvPr/>
            </p:nvPicPr>
            <p:blipFill rotWithShape="1">
              <a:blip r:embed="rId7">
                <a:alphaModFix/>
              </a:blip>
              <a:srcRect b="22753" l="28298" r="60921" t="73130"/>
              <a:stretch/>
            </p:blipFill>
            <p:spPr>
              <a:xfrm>
                <a:off x="4679307" y="3367809"/>
                <a:ext cx="253625" cy="84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3" name="Google Shape;1323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7630" y="1483158"/>
            <a:ext cx="2353123" cy="2062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97"/>
          <p:cNvSpPr/>
          <p:nvPr/>
        </p:nvSpPr>
        <p:spPr>
          <a:xfrm>
            <a:off x="5924950" y="2744775"/>
            <a:ext cx="484800" cy="54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326" name="Google Shape;1326;p97"/>
          <p:cNvSpPr txBox="1"/>
          <p:nvPr/>
        </p:nvSpPr>
        <p:spPr>
          <a:xfrm>
            <a:off x="324000" y="682300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is possible to accurately construct a rhombus by drawing the arcs of a circle. We draw the arc if the circle will intersect a line segment or another circle.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7"/>
          <p:cNvSpPr txBox="1"/>
          <p:nvPr/>
        </p:nvSpPr>
        <p:spPr>
          <a:xfrm>
            <a:off x="324000" y="1848600"/>
            <a:ext cx="47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total, only four circular arcs would need to be drawn for any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8" name="Google Shape;1328;p97"/>
          <p:cNvGrpSpPr/>
          <p:nvPr/>
        </p:nvGrpSpPr>
        <p:grpSpPr>
          <a:xfrm>
            <a:off x="6115318" y="2616941"/>
            <a:ext cx="294432" cy="461634"/>
            <a:chOff x="4638500" y="2991075"/>
            <a:chExt cx="294432" cy="461634"/>
          </a:xfrm>
        </p:grpSpPr>
        <p:pic>
          <p:nvPicPr>
            <p:cNvPr id="1329" name="Google Shape;1329;p97"/>
            <p:cNvPicPr preferRelativeResize="0"/>
            <p:nvPr/>
          </p:nvPicPr>
          <p:blipFill rotWithShape="1">
            <a:blip r:embed="rId3">
              <a:alphaModFix/>
            </a:blip>
            <a:srcRect b="35998" l="19356" r="70283" t="42180"/>
            <a:stretch/>
          </p:blipFill>
          <p:spPr>
            <a:xfrm>
              <a:off x="4638500" y="2991075"/>
              <a:ext cx="243750" cy="450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0" name="Google Shape;1330;p97"/>
            <p:cNvPicPr preferRelativeResize="0"/>
            <p:nvPr/>
          </p:nvPicPr>
          <p:blipFill rotWithShape="1">
            <a:blip r:embed="rId3">
              <a:alphaModFix/>
            </a:blip>
            <a:srcRect b="22753" l="28298" r="60921" t="73130"/>
            <a:stretch/>
          </p:blipFill>
          <p:spPr>
            <a:xfrm>
              <a:off x="4679307" y="3367809"/>
              <a:ext cx="253625" cy="84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336" name="Google Shape;1336;p98"/>
          <p:cNvSpPr txBox="1"/>
          <p:nvPr/>
        </p:nvSpPr>
        <p:spPr>
          <a:xfrm>
            <a:off x="3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 by only constructing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98"/>
          <p:cNvSpPr txBox="1"/>
          <p:nvPr/>
        </p:nvSpPr>
        <p:spPr>
          <a:xfrm>
            <a:off x="48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 by only constructing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98"/>
          <p:cNvSpPr txBox="1"/>
          <p:nvPr/>
        </p:nvSpPr>
        <p:spPr>
          <a:xfrm>
            <a:off x="4824000" y="4543200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9" name="Google Shape;1339;p98"/>
          <p:cNvGrpSpPr/>
          <p:nvPr/>
        </p:nvGrpSpPr>
        <p:grpSpPr>
          <a:xfrm>
            <a:off x="6423436" y="2534700"/>
            <a:ext cx="1575245" cy="1547700"/>
            <a:chOff x="1147875" y="2390475"/>
            <a:chExt cx="2544000" cy="1547700"/>
          </a:xfrm>
        </p:grpSpPr>
        <p:cxnSp>
          <p:nvCxnSpPr>
            <p:cNvPr id="1340" name="Google Shape;1340;p98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1" name="Google Shape;1341;p98"/>
            <p:cNvCxnSpPr/>
            <p:nvPr/>
          </p:nvCxnSpPr>
          <p:spPr>
            <a:xfrm rot="10800000">
              <a:off x="1147875" y="2390475"/>
              <a:ext cx="190800" cy="154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42" name="Google Shape;1342;p98"/>
          <p:cNvGrpSpPr/>
          <p:nvPr/>
        </p:nvGrpSpPr>
        <p:grpSpPr>
          <a:xfrm>
            <a:off x="1481325" y="2842200"/>
            <a:ext cx="2353200" cy="1545000"/>
            <a:chOff x="1338675" y="2393175"/>
            <a:chExt cx="2353200" cy="1545000"/>
          </a:xfrm>
        </p:grpSpPr>
        <p:cxnSp>
          <p:nvCxnSpPr>
            <p:cNvPr id="1343" name="Google Shape;1343;p98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4" name="Google Shape;1344;p98"/>
            <p:cNvCxnSpPr/>
            <p:nvPr/>
          </p:nvCxnSpPr>
          <p:spPr>
            <a:xfrm flipH="1" rot="10800000">
              <a:off x="1338675" y="2393175"/>
              <a:ext cx="652800" cy="154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350" name="Google Shape;1350;p99"/>
          <p:cNvSpPr txBox="1"/>
          <p:nvPr/>
        </p:nvSpPr>
        <p:spPr>
          <a:xfrm>
            <a:off x="324000" y="717575"/>
            <a:ext cx="39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the compass needle on the vertex of the angle,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99"/>
          <p:cNvSpPr txBox="1"/>
          <p:nvPr/>
        </p:nvSpPr>
        <p:spPr>
          <a:xfrm>
            <a:off x="48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 by only constructing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2" name="Google Shape;1352;p99"/>
          <p:cNvGrpSpPr/>
          <p:nvPr/>
        </p:nvGrpSpPr>
        <p:grpSpPr>
          <a:xfrm>
            <a:off x="1481325" y="2842200"/>
            <a:ext cx="2353200" cy="1545000"/>
            <a:chOff x="1338675" y="2393175"/>
            <a:chExt cx="2353200" cy="1545000"/>
          </a:xfrm>
        </p:grpSpPr>
        <p:cxnSp>
          <p:nvCxnSpPr>
            <p:cNvPr id="1353" name="Google Shape;1353;p99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4" name="Google Shape;1354;p99"/>
            <p:cNvCxnSpPr/>
            <p:nvPr/>
          </p:nvCxnSpPr>
          <p:spPr>
            <a:xfrm flipH="1" rot="10800000">
              <a:off x="1338675" y="2393175"/>
              <a:ext cx="652800" cy="154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55" name="Google Shape;1355;p99"/>
          <p:cNvGrpSpPr/>
          <p:nvPr/>
        </p:nvGrpSpPr>
        <p:grpSpPr>
          <a:xfrm>
            <a:off x="6423436" y="2534700"/>
            <a:ext cx="1575245" cy="1547700"/>
            <a:chOff x="1147875" y="2390475"/>
            <a:chExt cx="2544000" cy="1547700"/>
          </a:xfrm>
        </p:grpSpPr>
        <p:cxnSp>
          <p:nvCxnSpPr>
            <p:cNvPr id="1356" name="Google Shape;1356;p99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7" name="Google Shape;1357;p99"/>
            <p:cNvCxnSpPr/>
            <p:nvPr/>
          </p:nvCxnSpPr>
          <p:spPr>
            <a:xfrm rot="10800000">
              <a:off x="1147875" y="2390475"/>
              <a:ext cx="190800" cy="154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58" name="Google Shape;1358;p99"/>
          <p:cNvGrpSpPr/>
          <p:nvPr/>
        </p:nvGrpSpPr>
        <p:grpSpPr>
          <a:xfrm flipH="1" rot="-7142327">
            <a:off x="751986" y="3171052"/>
            <a:ext cx="1216612" cy="1222702"/>
            <a:chOff x="856732" y="1653084"/>
            <a:chExt cx="1921722" cy="1931342"/>
          </a:xfrm>
        </p:grpSpPr>
        <p:pic>
          <p:nvPicPr>
            <p:cNvPr id="1359" name="Google Shape;1359;p99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0" name="Google Shape;1360;p99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1" name="Google Shape;1361;p99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2" name="Google Shape;1362;p99"/>
          <p:cNvGrpSpPr/>
          <p:nvPr/>
        </p:nvGrpSpPr>
        <p:grpSpPr>
          <a:xfrm flipH="1" rot="-7142327">
            <a:off x="563985" y="3552745"/>
            <a:ext cx="997626" cy="1084912"/>
            <a:chOff x="861616" y="1653084"/>
            <a:chExt cx="1575819" cy="1713694"/>
          </a:xfrm>
        </p:grpSpPr>
        <p:pic>
          <p:nvPicPr>
            <p:cNvPr id="1363" name="Google Shape;1363;p99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3062756">
              <a:off x="1299772" y="196334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4" name="Google Shape;1364;p99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2162772">
              <a:off x="1622870" y="1797652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5" name="Google Shape;1365;p99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6" name="Google Shape;1366;p99"/>
          <p:cNvSpPr txBox="1"/>
          <p:nvPr/>
        </p:nvSpPr>
        <p:spPr>
          <a:xfrm>
            <a:off x="324000" y="1271675"/>
            <a:ext cx="39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set it to any sensible length shorter than the shorter leg.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00"/>
          <p:cNvSpPr txBox="1"/>
          <p:nvPr/>
        </p:nvSpPr>
        <p:spPr>
          <a:xfrm>
            <a:off x="324000" y="71757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Keeping the needle in place, use the pencil to draw small arcs in the area where the pencil overlaps the two legs of the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373" name="Google Shape;1373;p100"/>
          <p:cNvSpPr txBox="1"/>
          <p:nvPr/>
        </p:nvSpPr>
        <p:spPr>
          <a:xfrm>
            <a:off x="48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 by only constructing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4" name="Google Shape;1374;p100"/>
          <p:cNvGrpSpPr/>
          <p:nvPr/>
        </p:nvGrpSpPr>
        <p:grpSpPr>
          <a:xfrm>
            <a:off x="1481325" y="2842200"/>
            <a:ext cx="2353200" cy="1545000"/>
            <a:chOff x="1338675" y="2393175"/>
            <a:chExt cx="2353200" cy="1545000"/>
          </a:xfrm>
        </p:grpSpPr>
        <p:cxnSp>
          <p:nvCxnSpPr>
            <p:cNvPr id="1375" name="Google Shape;1375;p100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6" name="Google Shape;1376;p100"/>
            <p:cNvCxnSpPr/>
            <p:nvPr/>
          </p:nvCxnSpPr>
          <p:spPr>
            <a:xfrm flipH="1" rot="10800000">
              <a:off x="1338675" y="2393175"/>
              <a:ext cx="652800" cy="154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77" name="Google Shape;1377;p100"/>
          <p:cNvSpPr txBox="1"/>
          <p:nvPr/>
        </p:nvSpPr>
        <p:spPr>
          <a:xfrm>
            <a:off x="4824000" y="4543200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8" name="Google Shape;1378;p100"/>
          <p:cNvGrpSpPr/>
          <p:nvPr/>
        </p:nvGrpSpPr>
        <p:grpSpPr>
          <a:xfrm>
            <a:off x="6423436" y="2534700"/>
            <a:ext cx="1575245" cy="1547700"/>
            <a:chOff x="1147875" y="2390475"/>
            <a:chExt cx="2544000" cy="1547700"/>
          </a:xfrm>
        </p:grpSpPr>
        <p:cxnSp>
          <p:nvCxnSpPr>
            <p:cNvPr id="1379" name="Google Shape;1379;p100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0" name="Google Shape;1380;p100"/>
            <p:cNvCxnSpPr/>
            <p:nvPr/>
          </p:nvCxnSpPr>
          <p:spPr>
            <a:xfrm rot="10800000">
              <a:off x="1147875" y="2390475"/>
              <a:ext cx="190800" cy="154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81" name="Google Shape;1381;p100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16623566" name="adj1"/>
              <a:gd fmla="val 18319806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0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21171367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3" name="Google Shape;1383;p100"/>
          <p:cNvGrpSpPr/>
          <p:nvPr/>
        </p:nvGrpSpPr>
        <p:grpSpPr>
          <a:xfrm flipH="1" rot="-7142327">
            <a:off x="751986" y="3171052"/>
            <a:ext cx="1216612" cy="1222702"/>
            <a:chOff x="856732" y="1653084"/>
            <a:chExt cx="1921722" cy="1931342"/>
          </a:xfrm>
        </p:grpSpPr>
        <p:pic>
          <p:nvPicPr>
            <p:cNvPr id="1384" name="Google Shape;1384;p100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5" name="Google Shape;1385;p100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6" name="Google Shape;1386;p100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7" name="Google Shape;1387;p100"/>
          <p:cNvGrpSpPr/>
          <p:nvPr/>
        </p:nvGrpSpPr>
        <p:grpSpPr>
          <a:xfrm flipH="1" rot="-2996913">
            <a:off x="1377781" y="3434090"/>
            <a:ext cx="1209821" cy="1214641"/>
            <a:chOff x="856732" y="1653084"/>
            <a:chExt cx="1921722" cy="1931342"/>
          </a:xfrm>
        </p:grpSpPr>
        <p:pic>
          <p:nvPicPr>
            <p:cNvPr id="1388" name="Google Shape;1388;p100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9" name="Google Shape;1389;p100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0" name="Google Shape;1390;p100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1" name="Google Shape;1391;p100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20789713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00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15284004" name="adj1"/>
              <a:gd fmla="val 1643507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01"/>
          <p:cNvSpPr txBox="1"/>
          <p:nvPr/>
        </p:nvSpPr>
        <p:spPr>
          <a:xfrm>
            <a:off x="324000" y="717575"/>
            <a:ext cx="39960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intersection is a vertex of the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Keep the compass at the same length (or reset the compass size by placing the compass needle on the intersection, and the pencil on the vertex of the angle.)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399" name="Google Shape;1399;p101"/>
          <p:cNvSpPr txBox="1"/>
          <p:nvPr/>
        </p:nvSpPr>
        <p:spPr>
          <a:xfrm>
            <a:off x="48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 by only constructing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0" name="Google Shape;1400;p101"/>
          <p:cNvGrpSpPr/>
          <p:nvPr/>
        </p:nvGrpSpPr>
        <p:grpSpPr>
          <a:xfrm>
            <a:off x="1481325" y="2842200"/>
            <a:ext cx="2353200" cy="1545000"/>
            <a:chOff x="1338675" y="2393175"/>
            <a:chExt cx="2353200" cy="1545000"/>
          </a:xfrm>
        </p:grpSpPr>
        <p:cxnSp>
          <p:nvCxnSpPr>
            <p:cNvPr id="1401" name="Google Shape;1401;p101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2" name="Google Shape;1402;p101"/>
            <p:cNvCxnSpPr/>
            <p:nvPr/>
          </p:nvCxnSpPr>
          <p:spPr>
            <a:xfrm flipH="1" rot="10800000">
              <a:off x="1338675" y="2393175"/>
              <a:ext cx="652800" cy="154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03" name="Google Shape;1403;p101"/>
          <p:cNvGrpSpPr/>
          <p:nvPr/>
        </p:nvGrpSpPr>
        <p:grpSpPr>
          <a:xfrm>
            <a:off x="6423436" y="2534700"/>
            <a:ext cx="1575245" cy="1547700"/>
            <a:chOff x="1147875" y="2390475"/>
            <a:chExt cx="2544000" cy="1547700"/>
          </a:xfrm>
        </p:grpSpPr>
        <p:cxnSp>
          <p:nvCxnSpPr>
            <p:cNvPr id="1404" name="Google Shape;1404;p101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5" name="Google Shape;1405;p101"/>
            <p:cNvCxnSpPr/>
            <p:nvPr/>
          </p:nvCxnSpPr>
          <p:spPr>
            <a:xfrm rot="10800000">
              <a:off x="1147875" y="2390475"/>
              <a:ext cx="190800" cy="154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06" name="Google Shape;1406;p101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16623566" name="adj1"/>
              <a:gd fmla="val 18319806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01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21171367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8" name="Google Shape;1408;p101"/>
          <p:cNvGrpSpPr/>
          <p:nvPr/>
        </p:nvGrpSpPr>
        <p:grpSpPr>
          <a:xfrm rot="-1041533">
            <a:off x="704139" y="3303396"/>
            <a:ext cx="1216712" cy="1222803"/>
            <a:chOff x="856732" y="1653084"/>
            <a:chExt cx="1921722" cy="1931342"/>
          </a:xfrm>
        </p:grpSpPr>
        <p:pic>
          <p:nvPicPr>
            <p:cNvPr id="1409" name="Google Shape;1409;p101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0" name="Google Shape;1410;p10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1" name="Google Shape;1411;p10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2" name="Google Shape;1412;p101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20789713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101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15284004" name="adj1"/>
              <a:gd fmla="val 1643507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419" name="Google Shape;1419;p102"/>
          <p:cNvSpPr txBox="1"/>
          <p:nvPr/>
        </p:nvSpPr>
        <p:spPr>
          <a:xfrm>
            <a:off x="324000" y="717575"/>
            <a:ext cx="3996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the compass needle on one of the intersections you just drew, create an arc in this general area.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 expect the final arc to intersect the second one somewhere in this space.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02"/>
          <p:cNvSpPr txBox="1"/>
          <p:nvPr/>
        </p:nvSpPr>
        <p:spPr>
          <a:xfrm>
            <a:off x="48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 by only constructing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1" name="Google Shape;1421;p102"/>
          <p:cNvGrpSpPr/>
          <p:nvPr/>
        </p:nvGrpSpPr>
        <p:grpSpPr>
          <a:xfrm>
            <a:off x="1481325" y="2842200"/>
            <a:ext cx="2353200" cy="1545000"/>
            <a:chOff x="1338675" y="2393175"/>
            <a:chExt cx="2353200" cy="1545000"/>
          </a:xfrm>
        </p:grpSpPr>
        <p:cxnSp>
          <p:nvCxnSpPr>
            <p:cNvPr id="1422" name="Google Shape;1422;p102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3" name="Google Shape;1423;p102"/>
            <p:cNvCxnSpPr/>
            <p:nvPr/>
          </p:nvCxnSpPr>
          <p:spPr>
            <a:xfrm flipH="1" rot="10800000">
              <a:off x="1338675" y="2393175"/>
              <a:ext cx="652800" cy="154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24" name="Google Shape;1424;p102"/>
          <p:cNvSpPr txBox="1"/>
          <p:nvPr/>
        </p:nvSpPr>
        <p:spPr>
          <a:xfrm>
            <a:off x="4824000" y="4543200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5" name="Google Shape;1425;p102"/>
          <p:cNvGrpSpPr/>
          <p:nvPr/>
        </p:nvGrpSpPr>
        <p:grpSpPr>
          <a:xfrm>
            <a:off x="6423436" y="2534700"/>
            <a:ext cx="1575245" cy="1547700"/>
            <a:chOff x="1147875" y="2390475"/>
            <a:chExt cx="2544000" cy="1547700"/>
          </a:xfrm>
        </p:grpSpPr>
        <p:cxnSp>
          <p:nvCxnSpPr>
            <p:cNvPr id="1426" name="Google Shape;1426;p102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7" name="Google Shape;1427;p102"/>
            <p:cNvCxnSpPr/>
            <p:nvPr/>
          </p:nvCxnSpPr>
          <p:spPr>
            <a:xfrm rot="10800000">
              <a:off x="1147875" y="2390475"/>
              <a:ext cx="190800" cy="154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28" name="Google Shape;1428;p102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16623566" name="adj1"/>
              <a:gd fmla="val 18319806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102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21171367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02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20789713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02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15284004" name="adj1"/>
              <a:gd fmla="val 1643507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2" name="Google Shape;1432;p102"/>
          <p:cNvGrpSpPr/>
          <p:nvPr/>
        </p:nvGrpSpPr>
        <p:grpSpPr>
          <a:xfrm rot="-8100000">
            <a:off x="1741162" y="3249905"/>
            <a:ext cx="1216726" cy="1222817"/>
            <a:chOff x="856732" y="1653084"/>
            <a:chExt cx="1921722" cy="1931342"/>
          </a:xfrm>
        </p:grpSpPr>
        <p:pic>
          <p:nvPicPr>
            <p:cNvPr id="1433" name="Google Shape;1433;p102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4" name="Google Shape;1434;p102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5" name="Google Shape;1435;p102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6" name="Google Shape;1436;p102"/>
          <p:cNvSpPr/>
          <p:nvPr/>
        </p:nvSpPr>
        <p:spPr>
          <a:xfrm>
            <a:off x="2263525" y="2700000"/>
            <a:ext cx="995400" cy="127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102"/>
          <p:cNvSpPr/>
          <p:nvPr/>
        </p:nvSpPr>
        <p:spPr>
          <a:xfrm>
            <a:off x="963718" y="2726371"/>
            <a:ext cx="1718100" cy="1718100"/>
          </a:xfrm>
          <a:prstGeom prst="arc">
            <a:avLst>
              <a:gd fmla="val 19548038" name="adj1"/>
              <a:gd fmla="val 640273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8" name="Google Shape;1438;p102"/>
          <p:cNvGrpSpPr/>
          <p:nvPr/>
        </p:nvGrpSpPr>
        <p:grpSpPr>
          <a:xfrm rot="-1041533">
            <a:off x="704139" y="3303396"/>
            <a:ext cx="1216712" cy="1222803"/>
            <a:chOff x="856732" y="1653084"/>
            <a:chExt cx="1921722" cy="1931342"/>
          </a:xfrm>
        </p:grpSpPr>
        <p:pic>
          <p:nvPicPr>
            <p:cNvPr id="1439" name="Google Shape;1439;p102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0" name="Google Shape;1440;p102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1" name="Google Shape;1441;p102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2" name="Google Shape;1442;p102"/>
          <p:cNvSpPr/>
          <p:nvPr/>
        </p:nvSpPr>
        <p:spPr>
          <a:xfrm>
            <a:off x="5480569" y="2112374"/>
            <a:ext cx="1970700" cy="1970700"/>
          </a:xfrm>
          <a:prstGeom prst="arc">
            <a:avLst>
              <a:gd fmla="val 19567910" name="adj1"/>
              <a:gd fmla="val 221684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448" name="Google Shape;1448;p103"/>
          <p:cNvSpPr txBox="1"/>
          <p:nvPr/>
        </p:nvSpPr>
        <p:spPr>
          <a:xfrm>
            <a:off x="48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 by only constructing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03"/>
          <p:cNvSpPr txBox="1"/>
          <p:nvPr/>
        </p:nvSpPr>
        <p:spPr>
          <a:xfrm>
            <a:off x="324000" y="71757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Put the compass needle on the other intersection you drew, and create a third arc that intersects the second one.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0" name="Google Shape;1450;p103"/>
          <p:cNvGrpSpPr/>
          <p:nvPr/>
        </p:nvGrpSpPr>
        <p:grpSpPr>
          <a:xfrm>
            <a:off x="1481325" y="2842200"/>
            <a:ext cx="2353200" cy="1545000"/>
            <a:chOff x="1338675" y="2393175"/>
            <a:chExt cx="2353200" cy="1545000"/>
          </a:xfrm>
        </p:grpSpPr>
        <p:cxnSp>
          <p:nvCxnSpPr>
            <p:cNvPr id="1451" name="Google Shape;1451;p103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2" name="Google Shape;1452;p103"/>
            <p:cNvCxnSpPr/>
            <p:nvPr/>
          </p:nvCxnSpPr>
          <p:spPr>
            <a:xfrm flipH="1" rot="10800000">
              <a:off x="1338675" y="2393175"/>
              <a:ext cx="652800" cy="154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53" name="Google Shape;1453;p103"/>
          <p:cNvSpPr txBox="1"/>
          <p:nvPr/>
        </p:nvSpPr>
        <p:spPr>
          <a:xfrm>
            <a:off x="4824000" y="4543200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4" name="Google Shape;1454;p103"/>
          <p:cNvGrpSpPr/>
          <p:nvPr/>
        </p:nvGrpSpPr>
        <p:grpSpPr>
          <a:xfrm>
            <a:off x="6423436" y="2534700"/>
            <a:ext cx="1575245" cy="1547700"/>
            <a:chOff x="1147875" y="2390475"/>
            <a:chExt cx="2544000" cy="1547700"/>
          </a:xfrm>
        </p:grpSpPr>
        <p:cxnSp>
          <p:nvCxnSpPr>
            <p:cNvPr id="1455" name="Google Shape;1455;p103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6" name="Google Shape;1456;p103"/>
            <p:cNvCxnSpPr/>
            <p:nvPr/>
          </p:nvCxnSpPr>
          <p:spPr>
            <a:xfrm rot="10800000">
              <a:off x="1147875" y="2390475"/>
              <a:ext cx="190800" cy="154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57" name="Google Shape;1457;p103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16623566" name="adj1"/>
              <a:gd fmla="val 18319806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03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21171367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03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20789713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103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15284004" name="adj1"/>
              <a:gd fmla="val 1643507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03"/>
          <p:cNvSpPr/>
          <p:nvPr/>
        </p:nvSpPr>
        <p:spPr>
          <a:xfrm>
            <a:off x="2263525" y="2700000"/>
            <a:ext cx="995400" cy="127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03"/>
          <p:cNvSpPr/>
          <p:nvPr/>
        </p:nvSpPr>
        <p:spPr>
          <a:xfrm>
            <a:off x="963718" y="2726371"/>
            <a:ext cx="1718100" cy="1718100"/>
          </a:xfrm>
          <a:prstGeom prst="arc">
            <a:avLst>
              <a:gd fmla="val 19548038" name="adj1"/>
              <a:gd fmla="val 640273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3" name="Google Shape;1463;p103"/>
          <p:cNvGrpSpPr/>
          <p:nvPr/>
        </p:nvGrpSpPr>
        <p:grpSpPr>
          <a:xfrm rot="3022998">
            <a:off x="1239772" y="3440392"/>
            <a:ext cx="1216656" cy="1222747"/>
            <a:chOff x="856732" y="1653084"/>
            <a:chExt cx="1921722" cy="1931342"/>
          </a:xfrm>
        </p:grpSpPr>
        <p:pic>
          <p:nvPicPr>
            <p:cNvPr id="1464" name="Google Shape;1464;p103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5" name="Google Shape;1465;p103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6" name="Google Shape;1466;p103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7" name="Google Shape;1467;p103"/>
          <p:cNvSpPr/>
          <p:nvPr/>
        </p:nvSpPr>
        <p:spPr>
          <a:xfrm>
            <a:off x="5480569" y="2112374"/>
            <a:ext cx="1970700" cy="1970700"/>
          </a:xfrm>
          <a:prstGeom prst="arc">
            <a:avLst>
              <a:gd fmla="val 19567910" name="adj1"/>
              <a:gd fmla="val 221684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03"/>
          <p:cNvSpPr/>
          <p:nvPr/>
        </p:nvSpPr>
        <p:spPr>
          <a:xfrm>
            <a:off x="1484440" y="3528712"/>
            <a:ext cx="1718100" cy="1718100"/>
          </a:xfrm>
          <a:prstGeom prst="arc">
            <a:avLst>
              <a:gd fmla="val 16927318" name="adj1"/>
              <a:gd fmla="val 18231873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9" name="Google Shape;1469;p103"/>
          <p:cNvGrpSpPr/>
          <p:nvPr/>
        </p:nvGrpSpPr>
        <p:grpSpPr>
          <a:xfrm rot="9284060">
            <a:off x="2186426" y="3362685"/>
            <a:ext cx="1216564" cy="1222655"/>
            <a:chOff x="856732" y="1653084"/>
            <a:chExt cx="1921722" cy="1931342"/>
          </a:xfrm>
        </p:grpSpPr>
        <p:pic>
          <p:nvPicPr>
            <p:cNvPr id="1470" name="Google Shape;1470;p103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1" name="Google Shape;1471;p103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2" name="Google Shape;1472;p103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3" name="Google Shape;1473;p103"/>
          <p:cNvSpPr/>
          <p:nvPr/>
        </p:nvSpPr>
        <p:spPr>
          <a:xfrm>
            <a:off x="6539838" y="3097654"/>
            <a:ext cx="1970700" cy="1970700"/>
          </a:xfrm>
          <a:prstGeom prst="arc">
            <a:avLst>
              <a:gd fmla="val 14816857" name="adj1"/>
              <a:gd fmla="val 1694072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479" name="Google Shape;1479;p104"/>
          <p:cNvSpPr txBox="1"/>
          <p:nvPr/>
        </p:nvSpPr>
        <p:spPr>
          <a:xfrm>
            <a:off x="48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 by only constructing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0" name="Google Shape;1480;p104"/>
          <p:cNvGrpSpPr/>
          <p:nvPr/>
        </p:nvGrpSpPr>
        <p:grpSpPr>
          <a:xfrm>
            <a:off x="1481325" y="2842200"/>
            <a:ext cx="2353200" cy="1545000"/>
            <a:chOff x="1338675" y="2393175"/>
            <a:chExt cx="2353200" cy="1545000"/>
          </a:xfrm>
        </p:grpSpPr>
        <p:cxnSp>
          <p:nvCxnSpPr>
            <p:cNvPr id="1481" name="Google Shape;1481;p104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2" name="Google Shape;1482;p104"/>
            <p:cNvCxnSpPr/>
            <p:nvPr/>
          </p:nvCxnSpPr>
          <p:spPr>
            <a:xfrm flipH="1" rot="10800000">
              <a:off x="1338675" y="2393175"/>
              <a:ext cx="652800" cy="154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83" name="Google Shape;1483;p104"/>
          <p:cNvGrpSpPr/>
          <p:nvPr/>
        </p:nvGrpSpPr>
        <p:grpSpPr>
          <a:xfrm>
            <a:off x="6423436" y="2534700"/>
            <a:ext cx="1575245" cy="1547700"/>
            <a:chOff x="1147875" y="2390475"/>
            <a:chExt cx="2544000" cy="1547700"/>
          </a:xfrm>
        </p:grpSpPr>
        <p:cxnSp>
          <p:nvCxnSpPr>
            <p:cNvPr id="1484" name="Google Shape;1484;p104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5" name="Google Shape;1485;p104"/>
            <p:cNvCxnSpPr/>
            <p:nvPr/>
          </p:nvCxnSpPr>
          <p:spPr>
            <a:xfrm rot="10800000">
              <a:off x="1147875" y="2390475"/>
              <a:ext cx="190800" cy="154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86" name="Google Shape;1486;p104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16623566" name="adj1"/>
              <a:gd fmla="val 18319806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04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21171367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04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20789713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04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15284004" name="adj1"/>
              <a:gd fmla="val 1643507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104"/>
          <p:cNvSpPr/>
          <p:nvPr/>
        </p:nvSpPr>
        <p:spPr>
          <a:xfrm>
            <a:off x="963718" y="2726371"/>
            <a:ext cx="1718100" cy="1718100"/>
          </a:xfrm>
          <a:prstGeom prst="arc">
            <a:avLst>
              <a:gd fmla="val 19548038" name="adj1"/>
              <a:gd fmla="val 640273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104"/>
          <p:cNvSpPr/>
          <p:nvPr/>
        </p:nvSpPr>
        <p:spPr>
          <a:xfrm>
            <a:off x="5480569" y="2112374"/>
            <a:ext cx="1970700" cy="1970700"/>
          </a:xfrm>
          <a:prstGeom prst="arc">
            <a:avLst>
              <a:gd fmla="val 19567910" name="adj1"/>
              <a:gd fmla="val 221684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104"/>
          <p:cNvSpPr/>
          <p:nvPr/>
        </p:nvSpPr>
        <p:spPr>
          <a:xfrm>
            <a:off x="1484440" y="3528712"/>
            <a:ext cx="1718100" cy="1718100"/>
          </a:xfrm>
          <a:prstGeom prst="arc">
            <a:avLst>
              <a:gd fmla="val 16927318" name="adj1"/>
              <a:gd fmla="val 18231873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104"/>
          <p:cNvSpPr/>
          <p:nvPr/>
        </p:nvSpPr>
        <p:spPr>
          <a:xfrm>
            <a:off x="6539838" y="3097654"/>
            <a:ext cx="1970700" cy="1970700"/>
          </a:xfrm>
          <a:prstGeom prst="arc">
            <a:avLst>
              <a:gd fmla="val 14816857" name="adj1"/>
              <a:gd fmla="val 1694072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04"/>
          <p:cNvSpPr txBox="1"/>
          <p:nvPr/>
        </p:nvSpPr>
        <p:spPr>
          <a:xfrm>
            <a:off x="324000" y="717563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your two arcs don’t intersect, then go back and make the arcs a bit longer until they do.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500" name="Google Shape;1500;p105"/>
          <p:cNvSpPr txBox="1"/>
          <p:nvPr/>
        </p:nvSpPr>
        <p:spPr>
          <a:xfrm>
            <a:off x="48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a ruler, draw any two lines of slightly different lengths.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rhombus from these two lines by only constructing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105"/>
          <p:cNvSpPr txBox="1"/>
          <p:nvPr/>
        </p:nvSpPr>
        <p:spPr>
          <a:xfrm>
            <a:off x="324000" y="71757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the two arcs intersect is the final vertex of the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Join this vertex to the two open endpoints to complete the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2" name="Google Shape;1502;p105"/>
          <p:cNvGrpSpPr/>
          <p:nvPr/>
        </p:nvGrpSpPr>
        <p:grpSpPr>
          <a:xfrm>
            <a:off x="1481325" y="2842200"/>
            <a:ext cx="2353200" cy="1545000"/>
            <a:chOff x="1338675" y="2393175"/>
            <a:chExt cx="2353200" cy="1545000"/>
          </a:xfrm>
        </p:grpSpPr>
        <p:cxnSp>
          <p:nvCxnSpPr>
            <p:cNvPr id="1503" name="Google Shape;1503;p105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4" name="Google Shape;1504;p105"/>
            <p:cNvCxnSpPr/>
            <p:nvPr/>
          </p:nvCxnSpPr>
          <p:spPr>
            <a:xfrm flipH="1" rot="10800000">
              <a:off x="1338675" y="2393175"/>
              <a:ext cx="652800" cy="154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05" name="Google Shape;1505;p105"/>
          <p:cNvSpPr txBox="1"/>
          <p:nvPr/>
        </p:nvSpPr>
        <p:spPr>
          <a:xfrm>
            <a:off x="4824000" y="4543200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6" name="Google Shape;1506;p105"/>
          <p:cNvGrpSpPr/>
          <p:nvPr/>
        </p:nvGrpSpPr>
        <p:grpSpPr>
          <a:xfrm>
            <a:off x="6423436" y="2534700"/>
            <a:ext cx="1575245" cy="1547700"/>
            <a:chOff x="1147875" y="2390475"/>
            <a:chExt cx="2544000" cy="1547700"/>
          </a:xfrm>
        </p:grpSpPr>
        <p:cxnSp>
          <p:nvCxnSpPr>
            <p:cNvPr id="1507" name="Google Shape;1507;p105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8" name="Google Shape;1508;p105"/>
            <p:cNvCxnSpPr/>
            <p:nvPr/>
          </p:nvCxnSpPr>
          <p:spPr>
            <a:xfrm rot="10800000">
              <a:off x="1147875" y="2390475"/>
              <a:ext cx="190800" cy="154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09" name="Google Shape;1509;p105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16623566" name="adj1"/>
              <a:gd fmla="val 18319806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05"/>
          <p:cNvSpPr/>
          <p:nvPr/>
        </p:nvSpPr>
        <p:spPr>
          <a:xfrm>
            <a:off x="625125" y="3507900"/>
            <a:ext cx="1718100" cy="1718100"/>
          </a:xfrm>
          <a:prstGeom prst="arc">
            <a:avLst>
              <a:gd fmla="val 21171367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05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20789713" name="adj1"/>
              <a:gd fmla="val 97408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05"/>
          <p:cNvSpPr/>
          <p:nvPr/>
        </p:nvSpPr>
        <p:spPr>
          <a:xfrm>
            <a:off x="5557525" y="3080549"/>
            <a:ext cx="1970700" cy="1970700"/>
          </a:xfrm>
          <a:prstGeom prst="arc">
            <a:avLst>
              <a:gd fmla="val 15284004" name="adj1"/>
              <a:gd fmla="val 1643507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05"/>
          <p:cNvSpPr/>
          <p:nvPr/>
        </p:nvSpPr>
        <p:spPr>
          <a:xfrm>
            <a:off x="963718" y="2726371"/>
            <a:ext cx="1718100" cy="1718100"/>
          </a:xfrm>
          <a:prstGeom prst="arc">
            <a:avLst>
              <a:gd fmla="val 19548038" name="adj1"/>
              <a:gd fmla="val 640273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105"/>
          <p:cNvSpPr/>
          <p:nvPr/>
        </p:nvSpPr>
        <p:spPr>
          <a:xfrm>
            <a:off x="5480569" y="2112374"/>
            <a:ext cx="1970700" cy="1970700"/>
          </a:xfrm>
          <a:prstGeom prst="arc">
            <a:avLst>
              <a:gd fmla="val 19567910" name="adj1"/>
              <a:gd fmla="val 2216842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105"/>
          <p:cNvSpPr/>
          <p:nvPr/>
        </p:nvSpPr>
        <p:spPr>
          <a:xfrm>
            <a:off x="1484440" y="3528712"/>
            <a:ext cx="1718100" cy="1718100"/>
          </a:xfrm>
          <a:prstGeom prst="arc">
            <a:avLst>
              <a:gd fmla="val 16927318" name="adj1"/>
              <a:gd fmla="val 18231873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05"/>
          <p:cNvSpPr/>
          <p:nvPr/>
        </p:nvSpPr>
        <p:spPr>
          <a:xfrm>
            <a:off x="6539838" y="3097654"/>
            <a:ext cx="1970700" cy="1970700"/>
          </a:xfrm>
          <a:prstGeom prst="arc">
            <a:avLst>
              <a:gd fmla="val 14816857" name="adj1"/>
              <a:gd fmla="val 1694072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7" name="Google Shape;1517;p105"/>
          <p:cNvCxnSpPr/>
          <p:nvPr/>
        </p:nvCxnSpPr>
        <p:spPr>
          <a:xfrm>
            <a:off x="1821663" y="3580244"/>
            <a:ext cx="87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8" name="Google Shape;1518;p105"/>
          <p:cNvCxnSpPr/>
          <p:nvPr/>
        </p:nvCxnSpPr>
        <p:spPr>
          <a:xfrm flipH="1" rot="10800000">
            <a:off x="2344125" y="3587850"/>
            <a:ext cx="330900" cy="80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9" name="Google Shape;1519;p105"/>
          <p:cNvCxnSpPr/>
          <p:nvPr/>
        </p:nvCxnSpPr>
        <p:spPr>
          <a:xfrm>
            <a:off x="6474650" y="3085744"/>
            <a:ext cx="982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0" name="Google Shape;1520;p105"/>
          <p:cNvCxnSpPr/>
          <p:nvPr/>
        </p:nvCxnSpPr>
        <p:spPr>
          <a:xfrm rot="10800000">
            <a:off x="7448875" y="3079925"/>
            <a:ext cx="81900" cy="100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526" name="Google Shape;1526;p106"/>
          <p:cNvSpPr txBox="1"/>
          <p:nvPr/>
        </p:nvSpPr>
        <p:spPr>
          <a:xfrm>
            <a:off x="324000" y="71757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this nearly completed construction, which arcs were the first to be drawn?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7" name="Google Shape;1527;p106"/>
          <p:cNvGrpSpPr/>
          <p:nvPr/>
        </p:nvGrpSpPr>
        <p:grpSpPr>
          <a:xfrm>
            <a:off x="3283300" y="1457100"/>
            <a:ext cx="2736000" cy="1941900"/>
            <a:chOff x="1338675" y="1996275"/>
            <a:chExt cx="2736000" cy="1941900"/>
          </a:xfrm>
        </p:grpSpPr>
        <p:cxnSp>
          <p:nvCxnSpPr>
            <p:cNvPr id="1528" name="Google Shape;1528;p106"/>
            <p:cNvCxnSpPr/>
            <p:nvPr/>
          </p:nvCxnSpPr>
          <p:spPr>
            <a:xfrm>
              <a:off x="1338675" y="3938175"/>
              <a:ext cx="2353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9" name="Google Shape;1529;p106"/>
            <p:cNvCxnSpPr/>
            <p:nvPr/>
          </p:nvCxnSpPr>
          <p:spPr>
            <a:xfrm flipH="1" rot="10800000">
              <a:off x="1338675" y="1996275"/>
              <a:ext cx="2736000" cy="1941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30" name="Google Shape;1530;p106"/>
          <p:cNvSpPr/>
          <p:nvPr/>
        </p:nvSpPr>
        <p:spPr>
          <a:xfrm>
            <a:off x="2232226" y="2303625"/>
            <a:ext cx="2166600" cy="2166600"/>
          </a:xfrm>
          <a:prstGeom prst="arc">
            <a:avLst>
              <a:gd fmla="val 21128329" name="adj1"/>
              <a:gd fmla="val 542231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106"/>
          <p:cNvSpPr/>
          <p:nvPr/>
        </p:nvSpPr>
        <p:spPr>
          <a:xfrm>
            <a:off x="2246101" y="2303625"/>
            <a:ext cx="2166600" cy="2166600"/>
          </a:xfrm>
          <a:prstGeom prst="arc">
            <a:avLst>
              <a:gd fmla="val 18966861" name="adj1"/>
              <a:gd fmla="val 19819869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06"/>
          <p:cNvSpPr/>
          <p:nvPr/>
        </p:nvSpPr>
        <p:spPr>
          <a:xfrm>
            <a:off x="3120711" y="1664215"/>
            <a:ext cx="2166600" cy="2166600"/>
          </a:xfrm>
          <a:prstGeom prst="arc">
            <a:avLst>
              <a:gd fmla="val 20165088" name="adj1"/>
              <a:gd fmla="val 1198487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06"/>
          <p:cNvSpPr/>
          <p:nvPr/>
        </p:nvSpPr>
        <p:spPr>
          <a:xfrm>
            <a:off x="3305798" y="2315690"/>
            <a:ext cx="2166600" cy="2166600"/>
          </a:xfrm>
          <a:prstGeom prst="arc">
            <a:avLst>
              <a:gd fmla="val 19293064" name="adj1"/>
              <a:gd fmla="val 20942199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4" name="Google Shape;1534;p106"/>
          <p:cNvGrpSpPr/>
          <p:nvPr/>
        </p:nvGrpSpPr>
        <p:grpSpPr>
          <a:xfrm>
            <a:off x="3833412" y="2423933"/>
            <a:ext cx="260924" cy="260878"/>
            <a:chOff x="1020916" y="1442088"/>
            <a:chExt cx="457200" cy="457200"/>
          </a:xfrm>
        </p:grpSpPr>
        <p:pic>
          <p:nvPicPr>
            <p:cNvPr id="1535" name="Google Shape;1535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6" name="Google Shape;153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7" name="Google Shape;1537;p106"/>
          <p:cNvGrpSpPr/>
          <p:nvPr/>
        </p:nvGrpSpPr>
        <p:grpSpPr>
          <a:xfrm>
            <a:off x="4258649" y="3569958"/>
            <a:ext cx="260924" cy="260878"/>
            <a:chOff x="1020916" y="1442088"/>
            <a:chExt cx="457200" cy="457200"/>
          </a:xfrm>
        </p:grpSpPr>
        <p:pic>
          <p:nvPicPr>
            <p:cNvPr id="1538" name="Google Shape;1538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9" name="Google Shape;153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0" name="Google Shape;1540;p106"/>
          <p:cNvGrpSpPr/>
          <p:nvPr/>
        </p:nvGrpSpPr>
        <p:grpSpPr>
          <a:xfrm>
            <a:off x="5287299" y="2188570"/>
            <a:ext cx="260924" cy="260878"/>
            <a:chOff x="1020916" y="1442088"/>
            <a:chExt cx="457200" cy="457200"/>
          </a:xfrm>
        </p:grpSpPr>
        <p:pic>
          <p:nvPicPr>
            <p:cNvPr id="1541" name="Google Shape;1541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2" name="Google Shape;154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3" name="Google Shape;1543;p106"/>
          <p:cNvGrpSpPr/>
          <p:nvPr/>
        </p:nvGrpSpPr>
        <p:grpSpPr>
          <a:xfrm>
            <a:off x="5500149" y="2981420"/>
            <a:ext cx="260924" cy="260878"/>
            <a:chOff x="1020916" y="1442088"/>
            <a:chExt cx="457200" cy="457200"/>
          </a:xfrm>
        </p:grpSpPr>
        <p:pic>
          <p:nvPicPr>
            <p:cNvPr id="1544" name="Google Shape;1544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5" name="Google Shape;154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46" name="Google Shape;1546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9596" y="23448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96" y="386131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Efficient construction of a rhombus</a:t>
            </a:r>
            <a:endParaRPr/>
          </a:p>
        </p:txBody>
      </p:sp>
      <p:pic>
        <p:nvPicPr>
          <p:cNvPr id="1553" name="Google Shape;1553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1415275"/>
            <a:ext cx="8496001" cy="2970986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107"/>
          <p:cNvSpPr txBox="1"/>
          <p:nvPr/>
        </p:nvSpPr>
        <p:spPr>
          <a:xfrm>
            <a:off x="324000" y="7175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only drawing arcs and straight lines, complete the construction of each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107"/>
          <p:cNvSpPr txBox="1"/>
          <p:nvPr/>
        </p:nvSpPr>
        <p:spPr>
          <a:xfrm>
            <a:off x="3699418" y="1415264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107"/>
          <p:cNvSpPr txBox="1"/>
          <p:nvPr/>
        </p:nvSpPr>
        <p:spPr>
          <a:xfrm>
            <a:off x="427393" y="156678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107"/>
          <p:cNvSpPr txBox="1"/>
          <p:nvPr/>
        </p:nvSpPr>
        <p:spPr>
          <a:xfrm>
            <a:off x="5912793" y="148138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107"/>
          <p:cNvSpPr txBox="1"/>
          <p:nvPr/>
        </p:nvSpPr>
        <p:spPr>
          <a:xfrm>
            <a:off x="6304618" y="438623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D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Efficient construction of a rhombus</a:t>
            </a:r>
            <a:endParaRPr/>
          </a:p>
        </p:txBody>
      </p:sp>
      <p:pic>
        <p:nvPicPr>
          <p:cNvPr id="1564" name="Google Shape;1564;p108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24000" y="1415275"/>
            <a:ext cx="8496001" cy="2970986"/>
          </a:xfrm>
          <a:prstGeom prst="rect">
            <a:avLst/>
          </a:prstGeom>
          <a:noFill/>
          <a:ln>
            <a:noFill/>
          </a:ln>
        </p:spPr>
      </p:pic>
      <p:sp>
        <p:nvSpPr>
          <p:cNvPr id="1565" name="Google Shape;1565;p108"/>
          <p:cNvSpPr txBox="1"/>
          <p:nvPr/>
        </p:nvSpPr>
        <p:spPr>
          <a:xfrm>
            <a:off x="324000" y="7175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only drawing arcs and straight lines, complete the construction of each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108"/>
          <p:cNvSpPr txBox="1"/>
          <p:nvPr/>
        </p:nvSpPr>
        <p:spPr>
          <a:xfrm>
            <a:off x="3699418" y="1415264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108"/>
          <p:cNvSpPr txBox="1"/>
          <p:nvPr/>
        </p:nvSpPr>
        <p:spPr>
          <a:xfrm>
            <a:off x="427393" y="156678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108"/>
          <p:cNvSpPr txBox="1"/>
          <p:nvPr/>
        </p:nvSpPr>
        <p:spPr>
          <a:xfrm>
            <a:off x="5912793" y="148138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108"/>
          <p:cNvSpPr txBox="1"/>
          <p:nvPr/>
        </p:nvSpPr>
        <p:spPr>
          <a:xfrm>
            <a:off x="6304618" y="4386239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D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0" name="Google Shape;1570;p108"/>
          <p:cNvCxnSpPr/>
          <p:nvPr/>
        </p:nvCxnSpPr>
        <p:spPr>
          <a:xfrm>
            <a:off x="718459" y="2567480"/>
            <a:ext cx="87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1" name="Google Shape;1571;p108"/>
          <p:cNvCxnSpPr/>
          <p:nvPr/>
        </p:nvCxnSpPr>
        <p:spPr>
          <a:xfrm flipH="1" rot="10800000">
            <a:off x="1357484" y="2571230"/>
            <a:ext cx="225000" cy="85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2" name="Google Shape;1572;p108"/>
          <p:cNvSpPr/>
          <p:nvPr/>
        </p:nvSpPr>
        <p:spPr>
          <a:xfrm>
            <a:off x="2832098" y="1199463"/>
            <a:ext cx="1823100" cy="1823100"/>
          </a:xfrm>
          <a:prstGeom prst="arc">
            <a:avLst>
              <a:gd fmla="val 1699046" name="adj1"/>
              <a:gd fmla="val 351425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08"/>
          <p:cNvSpPr/>
          <p:nvPr/>
        </p:nvSpPr>
        <p:spPr>
          <a:xfrm>
            <a:off x="5867155" y="1271939"/>
            <a:ext cx="2141100" cy="2141100"/>
          </a:xfrm>
          <a:prstGeom prst="arc">
            <a:avLst>
              <a:gd fmla="val 5584371" name="adj1"/>
              <a:gd fmla="val 824531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08"/>
          <p:cNvSpPr/>
          <p:nvPr/>
        </p:nvSpPr>
        <p:spPr>
          <a:xfrm>
            <a:off x="4583949" y="1620481"/>
            <a:ext cx="2141100" cy="2141100"/>
          </a:xfrm>
          <a:prstGeom prst="arc">
            <a:avLst>
              <a:gd fmla="val 1397666" name="adj1"/>
              <a:gd fmla="val 2887569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108"/>
          <p:cNvSpPr/>
          <p:nvPr/>
        </p:nvSpPr>
        <p:spPr>
          <a:xfrm>
            <a:off x="7565722" y="2516500"/>
            <a:ext cx="1803900" cy="1803600"/>
          </a:xfrm>
          <a:prstGeom prst="arc">
            <a:avLst>
              <a:gd fmla="val 9799574" name="adj1"/>
              <a:gd fmla="val 1196420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108"/>
          <p:cNvSpPr/>
          <p:nvPr/>
        </p:nvSpPr>
        <p:spPr>
          <a:xfrm>
            <a:off x="6916604" y="3164048"/>
            <a:ext cx="1803900" cy="1803600"/>
          </a:xfrm>
          <a:prstGeom prst="arc">
            <a:avLst>
              <a:gd fmla="val 10315249" name="adj1"/>
              <a:gd fmla="val 1138940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108"/>
          <p:cNvSpPr/>
          <p:nvPr/>
        </p:nvSpPr>
        <p:spPr>
          <a:xfrm>
            <a:off x="6014404" y="3164048"/>
            <a:ext cx="1803900" cy="1803600"/>
          </a:xfrm>
          <a:prstGeom prst="arc">
            <a:avLst>
              <a:gd fmla="val 18458854" name="adj1"/>
              <a:gd fmla="val 19384501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8" name="Google Shape;1578;p108"/>
          <p:cNvCxnSpPr/>
          <p:nvPr/>
        </p:nvCxnSpPr>
        <p:spPr>
          <a:xfrm flipH="1" rot="10800000">
            <a:off x="4136977" y="2763856"/>
            <a:ext cx="239700" cy="87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9" name="Google Shape;1579;p108"/>
          <p:cNvCxnSpPr/>
          <p:nvPr/>
        </p:nvCxnSpPr>
        <p:spPr>
          <a:xfrm rot="10800000">
            <a:off x="3747525" y="2114800"/>
            <a:ext cx="624600" cy="66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0" name="Google Shape;1580;p108"/>
          <p:cNvCxnSpPr/>
          <p:nvPr/>
        </p:nvCxnSpPr>
        <p:spPr>
          <a:xfrm rot="10800000">
            <a:off x="5649975" y="2691150"/>
            <a:ext cx="870300" cy="63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1" name="Google Shape;1581;p108"/>
          <p:cNvCxnSpPr/>
          <p:nvPr/>
        </p:nvCxnSpPr>
        <p:spPr>
          <a:xfrm flipH="1" rot="10800000">
            <a:off x="6518050" y="2346575"/>
            <a:ext cx="423900" cy="98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2" name="Google Shape;1582;p108"/>
          <p:cNvCxnSpPr/>
          <p:nvPr/>
        </p:nvCxnSpPr>
        <p:spPr>
          <a:xfrm flipH="1" rot="10800000">
            <a:off x="6916600" y="3437275"/>
            <a:ext cx="647100" cy="63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3" name="Google Shape;1583;p108"/>
          <p:cNvCxnSpPr/>
          <p:nvPr/>
        </p:nvCxnSpPr>
        <p:spPr>
          <a:xfrm flipH="1">
            <a:off x="7572825" y="3421475"/>
            <a:ext cx="899400" cy="2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 rhombus from an angle</a:t>
            </a:r>
            <a:endParaRPr/>
          </a:p>
        </p:txBody>
      </p:sp>
      <p:sp>
        <p:nvSpPr>
          <p:cNvPr id="1589" name="Google Shape;1589;p10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rhombus</a:t>
            </a:r>
            <a:endParaRPr/>
          </a:p>
        </p:txBody>
      </p:sp>
      <p:sp>
        <p:nvSpPr>
          <p:cNvPr id="1590" name="Google Shape;1590;p10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sp>
        <p:nvSpPr>
          <p:cNvPr id="1591" name="Google Shape;1591;p10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Bisecting an angle</a:t>
            </a:r>
            <a:endParaRPr/>
          </a:p>
        </p:txBody>
      </p:sp>
      <p:pic>
        <p:nvPicPr>
          <p:cNvPr id="1592" name="Google Shape;159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153" y="371029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10"/>
          <p:cNvSpPr/>
          <p:nvPr/>
        </p:nvSpPr>
        <p:spPr>
          <a:xfrm>
            <a:off x="4103850" y="1825400"/>
            <a:ext cx="2153100" cy="2153100"/>
          </a:xfrm>
          <a:prstGeom prst="arc">
            <a:avLst>
              <a:gd fmla="val 19471243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10"/>
          <p:cNvSpPr/>
          <p:nvPr/>
        </p:nvSpPr>
        <p:spPr>
          <a:xfrm rot="-2100369">
            <a:off x="6404011" y="1742821"/>
            <a:ext cx="199245" cy="199245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9" name="Google Shape;1599;p110"/>
          <p:cNvGrpSpPr/>
          <p:nvPr/>
        </p:nvGrpSpPr>
        <p:grpSpPr>
          <a:xfrm>
            <a:off x="5167706" y="1047108"/>
            <a:ext cx="2633100" cy="1862400"/>
            <a:chOff x="5167706" y="1047108"/>
            <a:chExt cx="2633100" cy="1862400"/>
          </a:xfrm>
        </p:grpSpPr>
        <p:cxnSp>
          <p:nvCxnSpPr>
            <p:cNvPr id="1600" name="Google Shape;1600;p110"/>
            <p:cNvCxnSpPr/>
            <p:nvPr/>
          </p:nvCxnSpPr>
          <p:spPr>
            <a:xfrm flipH="1" rot="10800000">
              <a:off x="5167706" y="1047108"/>
              <a:ext cx="2633100" cy="1862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1" name="Google Shape;1601;p110"/>
            <p:cNvCxnSpPr/>
            <p:nvPr/>
          </p:nvCxnSpPr>
          <p:spPr>
            <a:xfrm rot="10800000">
              <a:off x="5827481" y="1047108"/>
              <a:ext cx="1292400" cy="1862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02" name="Google Shape;1602;p110"/>
          <p:cNvSpPr/>
          <p:nvPr/>
        </p:nvSpPr>
        <p:spPr>
          <a:xfrm>
            <a:off x="4552701" y="2274250"/>
            <a:ext cx="1255200" cy="1255200"/>
          </a:xfrm>
          <a:prstGeom prst="arc">
            <a:avLst>
              <a:gd fmla="val 17403572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sp>
        <p:nvSpPr>
          <p:cNvPr id="1604" name="Google Shape;1604;p110"/>
          <p:cNvSpPr txBox="1"/>
          <p:nvPr/>
        </p:nvSpPr>
        <p:spPr>
          <a:xfrm>
            <a:off x="230375" y="2941125"/>
            <a:ext cx="79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5" name="Google Shape;1605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1" y="2192173"/>
            <a:ext cx="609629" cy="79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6" name="Google Shape;1606;p110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623575" y="699000"/>
            <a:ext cx="3358956" cy="1898649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110"/>
          <p:cNvSpPr txBox="1"/>
          <p:nvPr/>
        </p:nvSpPr>
        <p:spPr>
          <a:xfrm>
            <a:off x="894850" y="838251"/>
            <a:ext cx="3132900" cy="13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get how to construct a rhombus now.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But I still don’t understand why it’s helpful!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8" name="Google Shape;1608;p110"/>
          <p:cNvGrpSpPr/>
          <p:nvPr/>
        </p:nvGrpSpPr>
        <p:grpSpPr>
          <a:xfrm>
            <a:off x="5167700" y="1044690"/>
            <a:ext cx="2639682" cy="1864810"/>
            <a:chOff x="4177100" y="1578090"/>
            <a:chExt cx="2639682" cy="1864810"/>
          </a:xfrm>
        </p:grpSpPr>
        <p:cxnSp>
          <p:nvCxnSpPr>
            <p:cNvPr id="1609" name="Google Shape;1609;p110"/>
            <p:cNvCxnSpPr/>
            <p:nvPr/>
          </p:nvCxnSpPr>
          <p:spPr>
            <a:xfrm>
              <a:off x="4177100" y="3442900"/>
              <a:ext cx="1984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0" name="Google Shape;1610;p110"/>
            <p:cNvCxnSpPr/>
            <p:nvPr/>
          </p:nvCxnSpPr>
          <p:spPr>
            <a:xfrm rot="-4200214">
              <a:off x="3524194" y="2510490"/>
              <a:ext cx="198443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11" name="Google Shape;1611;p110"/>
            <p:cNvGrpSpPr/>
            <p:nvPr/>
          </p:nvGrpSpPr>
          <p:grpSpPr>
            <a:xfrm rot="10800000">
              <a:off x="4832282" y="1578090"/>
              <a:ext cx="1984500" cy="1864810"/>
              <a:chOff x="6405175" y="1578090"/>
              <a:chExt cx="1984500" cy="1864810"/>
            </a:xfrm>
          </p:grpSpPr>
          <p:cxnSp>
            <p:nvCxnSpPr>
              <p:cNvPr id="1612" name="Google Shape;1612;p110"/>
              <p:cNvCxnSpPr/>
              <p:nvPr/>
            </p:nvCxnSpPr>
            <p:spPr>
              <a:xfrm>
                <a:off x="6405175" y="3442900"/>
                <a:ext cx="19845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3" name="Google Shape;1613;p110"/>
              <p:cNvCxnSpPr/>
              <p:nvPr/>
            </p:nvCxnSpPr>
            <p:spPr>
              <a:xfrm rot="-4200214">
                <a:off x="5752269" y="2510490"/>
                <a:ext cx="1984434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614" name="Google Shape;1614;p110"/>
          <p:cNvSpPr txBox="1"/>
          <p:nvPr/>
        </p:nvSpPr>
        <p:spPr>
          <a:xfrm>
            <a:off x="5257474" y="2568524"/>
            <a:ext cx="48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10"/>
          <p:cNvSpPr txBox="1"/>
          <p:nvPr/>
        </p:nvSpPr>
        <p:spPr>
          <a:xfrm>
            <a:off x="2942800" y="3134125"/>
            <a:ext cx="587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diagonals of a rhombus intersect at right angles.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10"/>
          <p:cNvSpPr txBox="1"/>
          <p:nvPr/>
        </p:nvSpPr>
        <p:spPr>
          <a:xfrm>
            <a:off x="2942800" y="3503850"/>
            <a:ext cx="587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a diagonal is drawn, the interior angle of a rhombus is halved: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10"/>
          <p:cNvSpPr txBox="1"/>
          <p:nvPr/>
        </p:nvSpPr>
        <p:spPr>
          <a:xfrm>
            <a:off x="2942800" y="4150475"/>
            <a:ext cx="587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angle is </a:t>
            </a:r>
            <a:r>
              <a:rPr b="0" i="0" lang="en-GB" sz="1800" u="none" cap="none" strike="noStrike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bisected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10"/>
          <p:cNvSpPr txBox="1"/>
          <p:nvPr/>
        </p:nvSpPr>
        <p:spPr>
          <a:xfrm>
            <a:off x="5765861" y="2529987"/>
            <a:ext cx="48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9" name="Google Shape;1619;p110"/>
          <p:cNvCxnSpPr/>
          <p:nvPr/>
        </p:nvCxnSpPr>
        <p:spPr>
          <a:xfrm flipH="1" rot="10800000">
            <a:off x="5167706" y="1045908"/>
            <a:ext cx="2633100" cy="186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11"/>
          <p:cNvSpPr txBox="1"/>
          <p:nvPr/>
        </p:nvSpPr>
        <p:spPr>
          <a:xfrm>
            <a:off x="1243925" y="2456100"/>
            <a:ext cx="380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62°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28°</a:t>
            </a:r>
            <a:endParaRPr b="0" i="0" sz="2000" u="none" cap="none" strike="noStrike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90°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111"/>
          <p:cNvSpPr/>
          <p:nvPr/>
        </p:nvSpPr>
        <p:spPr>
          <a:xfrm rot="10800000">
            <a:off x="5112500" y="375875"/>
            <a:ext cx="1262700" cy="1262700"/>
          </a:xfrm>
          <a:prstGeom prst="arc">
            <a:avLst>
              <a:gd fmla="val 10734229" name="adj1"/>
              <a:gd fmla="val 12990622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11"/>
          <p:cNvSpPr/>
          <p:nvPr/>
        </p:nvSpPr>
        <p:spPr>
          <a:xfrm rot="10800000">
            <a:off x="6665776" y="1576774"/>
            <a:ext cx="683700" cy="683700"/>
          </a:xfrm>
          <a:prstGeom prst="arc">
            <a:avLst>
              <a:gd fmla="val 18068662" name="adj1"/>
              <a:gd fmla="val 2097998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7" name="Google Shape;1627;p111"/>
          <p:cNvCxnSpPr/>
          <p:nvPr/>
        </p:nvCxnSpPr>
        <p:spPr>
          <a:xfrm>
            <a:off x="5697608" y="1006613"/>
            <a:ext cx="2331600" cy="158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8" name="Google Shape;1628;p111"/>
          <p:cNvSpPr/>
          <p:nvPr/>
        </p:nvSpPr>
        <p:spPr>
          <a:xfrm>
            <a:off x="7841881" y="2272365"/>
            <a:ext cx="1081200" cy="1081200"/>
          </a:xfrm>
          <a:prstGeom prst="arc">
            <a:avLst>
              <a:gd fmla="val 10685303" name="adj1"/>
              <a:gd fmla="val 14879181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sp>
        <p:nvSpPr>
          <p:cNvPr id="1630" name="Google Shape;1630;p111"/>
          <p:cNvSpPr/>
          <p:nvPr/>
        </p:nvSpPr>
        <p:spPr>
          <a:xfrm rot="10800000">
            <a:off x="7110609" y="463200"/>
            <a:ext cx="1081200" cy="1081200"/>
          </a:xfrm>
          <a:prstGeom prst="arc">
            <a:avLst>
              <a:gd fmla="val 18272298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1" name="Google Shape;1631;p111"/>
          <p:cNvCxnSpPr/>
          <p:nvPr/>
        </p:nvCxnSpPr>
        <p:spPr>
          <a:xfrm flipH="1" rot="10800000">
            <a:off x="6414183" y="1002600"/>
            <a:ext cx="1241700" cy="1825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2" name="Google Shape;1632;p111"/>
          <p:cNvSpPr/>
          <p:nvPr/>
        </p:nvSpPr>
        <p:spPr>
          <a:xfrm>
            <a:off x="5885458" y="2282875"/>
            <a:ext cx="1081200" cy="1081200"/>
          </a:xfrm>
          <a:prstGeom prst="arc">
            <a:avLst>
              <a:gd fmla="val 14821915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3" name="Google Shape;1633;p111"/>
          <p:cNvCxnSpPr/>
          <p:nvPr/>
        </p:nvCxnSpPr>
        <p:spPr>
          <a:xfrm rot="10800000">
            <a:off x="6416908" y="2831150"/>
            <a:ext cx="1984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4" name="Google Shape;1634;p111"/>
          <p:cNvCxnSpPr/>
          <p:nvPr/>
        </p:nvCxnSpPr>
        <p:spPr>
          <a:xfrm rot="4080143">
            <a:off x="5052857" y="1911048"/>
            <a:ext cx="198468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5" name="Google Shape;1635;p111"/>
          <p:cNvCxnSpPr/>
          <p:nvPr/>
        </p:nvCxnSpPr>
        <p:spPr>
          <a:xfrm>
            <a:off x="5673500" y="990948"/>
            <a:ext cx="1984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6" name="Google Shape;1636;p111"/>
          <p:cNvCxnSpPr/>
          <p:nvPr/>
        </p:nvCxnSpPr>
        <p:spPr>
          <a:xfrm rot="-6719857">
            <a:off x="7037365" y="1911050"/>
            <a:ext cx="198468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7" name="Google Shape;1637;p111"/>
          <p:cNvSpPr txBox="1"/>
          <p:nvPr/>
        </p:nvSpPr>
        <p:spPr>
          <a:xfrm>
            <a:off x="6354009" y="2456100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124°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11"/>
          <p:cNvSpPr txBox="1"/>
          <p:nvPr/>
        </p:nvSpPr>
        <p:spPr>
          <a:xfrm>
            <a:off x="7130908" y="994285"/>
            <a:ext cx="48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111"/>
          <p:cNvSpPr txBox="1"/>
          <p:nvPr/>
        </p:nvSpPr>
        <p:spPr>
          <a:xfrm>
            <a:off x="7845907" y="2535165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111"/>
          <p:cNvSpPr txBox="1"/>
          <p:nvPr/>
        </p:nvSpPr>
        <p:spPr>
          <a:xfrm flipH="1">
            <a:off x="6674251" y="1822058"/>
            <a:ext cx="34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11"/>
          <p:cNvSpPr txBox="1"/>
          <p:nvPr/>
        </p:nvSpPr>
        <p:spPr>
          <a:xfrm>
            <a:off x="6044274" y="991506"/>
            <a:ext cx="29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11"/>
          <p:cNvSpPr txBox="1"/>
          <p:nvPr/>
        </p:nvSpPr>
        <p:spPr>
          <a:xfrm>
            <a:off x="324000" y="804500"/>
            <a:ext cx="4722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quadrilateral is a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Its diagonals are drawn.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values of angles </a:t>
            </a:r>
            <a:r>
              <a:rPr b="0" i="1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and, </a:t>
            </a:r>
            <a:r>
              <a:rPr b="0" i="1" lang="en-GB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12"/>
          <p:cNvSpPr/>
          <p:nvPr/>
        </p:nvSpPr>
        <p:spPr>
          <a:xfrm>
            <a:off x="389592" y="3067615"/>
            <a:ext cx="2053800" cy="2053800"/>
          </a:xfrm>
          <a:prstGeom prst="arc">
            <a:avLst>
              <a:gd fmla="val 19062178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8" name="Google Shape;1648;p112"/>
          <p:cNvCxnSpPr/>
          <p:nvPr/>
        </p:nvCxnSpPr>
        <p:spPr>
          <a:xfrm rot="-2519995">
            <a:off x="978700" y="2990826"/>
            <a:ext cx="33195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49" name="Google Shape;1649;p112"/>
          <p:cNvGrpSpPr/>
          <p:nvPr/>
        </p:nvGrpSpPr>
        <p:grpSpPr>
          <a:xfrm>
            <a:off x="875959" y="3553960"/>
            <a:ext cx="1081200" cy="1081200"/>
            <a:chOff x="875959" y="3553960"/>
            <a:chExt cx="1081200" cy="1081200"/>
          </a:xfrm>
        </p:grpSpPr>
        <p:sp>
          <p:nvSpPr>
            <p:cNvPr id="1650" name="Google Shape;1650;p112"/>
            <p:cNvSpPr/>
            <p:nvPr/>
          </p:nvSpPr>
          <p:spPr>
            <a:xfrm>
              <a:off x="875959" y="3553960"/>
              <a:ext cx="1081200" cy="1081200"/>
            </a:xfrm>
            <a:prstGeom prst="arc">
              <a:avLst>
                <a:gd fmla="val 16585307" name="adj1"/>
                <a:gd fmla="val 0" name="adj2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1" name="Google Shape;1651;p112"/>
            <p:cNvSpPr txBox="1"/>
            <p:nvPr/>
          </p:nvSpPr>
          <p:spPr>
            <a:xfrm>
              <a:off x="1405022" y="3754079"/>
              <a:ext cx="531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84°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2" name="Google Shape;1652;p112"/>
          <p:cNvSpPr txBox="1"/>
          <p:nvPr/>
        </p:nvSpPr>
        <p:spPr>
          <a:xfrm>
            <a:off x="324000" y="671400"/>
            <a:ext cx="211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Bisect this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cxnSp>
        <p:nvCxnSpPr>
          <p:cNvPr id="1654" name="Google Shape;1654;p112"/>
          <p:cNvCxnSpPr/>
          <p:nvPr/>
        </p:nvCxnSpPr>
        <p:spPr>
          <a:xfrm>
            <a:off x="1407425" y="4101425"/>
            <a:ext cx="331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5" name="Google Shape;1655;p112"/>
          <p:cNvCxnSpPr/>
          <p:nvPr/>
        </p:nvCxnSpPr>
        <p:spPr>
          <a:xfrm rot="-5039930">
            <a:off x="226748" y="2790123"/>
            <a:ext cx="26370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6" name="Google Shape;1656;p112"/>
          <p:cNvSpPr txBox="1"/>
          <p:nvPr/>
        </p:nvSpPr>
        <p:spPr>
          <a:xfrm>
            <a:off x="4423975" y="671400"/>
            <a:ext cx="439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bisected angle will cut the angle exactly in half.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12"/>
          <p:cNvSpPr txBox="1"/>
          <p:nvPr/>
        </p:nvSpPr>
        <p:spPr>
          <a:xfrm>
            <a:off x="1911797" y="3711430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12"/>
          <p:cNvSpPr txBox="1"/>
          <p:nvPr/>
        </p:nvSpPr>
        <p:spPr>
          <a:xfrm>
            <a:off x="4423975" y="2109363"/>
            <a:ext cx="4395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bisect any angle, we can construct a rhombus, then draw on its diagonal.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 follow the same method as before.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113"/>
          <p:cNvSpPr/>
          <p:nvPr/>
        </p:nvSpPr>
        <p:spPr>
          <a:xfrm>
            <a:off x="875959" y="3553960"/>
            <a:ext cx="1081200" cy="1081200"/>
          </a:xfrm>
          <a:prstGeom prst="arc">
            <a:avLst>
              <a:gd fmla="val 16585307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13"/>
          <p:cNvSpPr txBox="1"/>
          <p:nvPr/>
        </p:nvSpPr>
        <p:spPr>
          <a:xfrm>
            <a:off x="324000" y="671400"/>
            <a:ext cx="211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Bisect this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cxnSp>
        <p:nvCxnSpPr>
          <p:cNvPr id="1666" name="Google Shape;1666;p113"/>
          <p:cNvCxnSpPr/>
          <p:nvPr/>
        </p:nvCxnSpPr>
        <p:spPr>
          <a:xfrm>
            <a:off x="1407425" y="4101425"/>
            <a:ext cx="331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7" name="Google Shape;1667;p113"/>
          <p:cNvSpPr txBox="1"/>
          <p:nvPr/>
        </p:nvSpPr>
        <p:spPr>
          <a:xfrm>
            <a:off x="4824000" y="671400"/>
            <a:ext cx="3995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1: Set the pair of compasses at any width shorter than the two legs.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2: Construct a rhombus from four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8" name="Google Shape;1668;p113"/>
          <p:cNvCxnSpPr/>
          <p:nvPr/>
        </p:nvCxnSpPr>
        <p:spPr>
          <a:xfrm rot="-5039930">
            <a:off x="226748" y="2790123"/>
            <a:ext cx="26370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9" name="Google Shape;1669;p113"/>
          <p:cNvSpPr txBox="1"/>
          <p:nvPr/>
        </p:nvSpPr>
        <p:spPr>
          <a:xfrm>
            <a:off x="1405022" y="3754079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13"/>
          <p:cNvSpPr/>
          <p:nvPr/>
        </p:nvSpPr>
        <p:spPr>
          <a:xfrm>
            <a:off x="108974" y="2783850"/>
            <a:ext cx="2603700" cy="2603700"/>
          </a:xfrm>
          <a:prstGeom prst="arc">
            <a:avLst>
              <a:gd fmla="val 20990378" name="adj1"/>
              <a:gd fmla="val 82827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13"/>
          <p:cNvSpPr/>
          <p:nvPr/>
        </p:nvSpPr>
        <p:spPr>
          <a:xfrm>
            <a:off x="114699" y="2783850"/>
            <a:ext cx="2603700" cy="2603700"/>
          </a:xfrm>
          <a:prstGeom prst="arc">
            <a:avLst>
              <a:gd fmla="val 15572451" name="adj1"/>
              <a:gd fmla="val 17154619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13"/>
          <p:cNvSpPr/>
          <p:nvPr/>
        </p:nvSpPr>
        <p:spPr>
          <a:xfrm>
            <a:off x="239935" y="1501956"/>
            <a:ext cx="2603700" cy="2603700"/>
          </a:xfrm>
          <a:prstGeom prst="arc">
            <a:avLst>
              <a:gd fmla="val 20511208" name="adj1"/>
              <a:gd fmla="val 654667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13"/>
          <p:cNvSpPr/>
          <p:nvPr/>
        </p:nvSpPr>
        <p:spPr>
          <a:xfrm>
            <a:off x="1404110" y="2804414"/>
            <a:ext cx="2603700" cy="2603700"/>
          </a:xfrm>
          <a:prstGeom prst="arc">
            <a:avLst>
              <a:gd fmla="val 16147719" name="adj1"/>
              <a:gd fmla="val 1743852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14"/>
          <p:cNvSpPr/>
          <p:nvPr/>
        </p:nvSpPr>
        <p:spPr>
          <a:xfrm>
            <a:off x="389592" y="3067615"/>
            <a:ext cx="2053800" cy="2053800"/>
          </a:xfrm>
          <a:prstGeom prst="arc">
            <a:avLst>
              <a:gd fmla="val 19062178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114"/>
          <p:cNvSpPr txBox="1"/>
          <p:nvPr/>
        </p:nvSpPr>
        <p:spPr>
          <a:xfrm>
            <a:off x="1911797" y="3711430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0" name="Google Shape;1680;p114"/>
          <p:cNvCxnSpPr/>
          <p:nvPr/>
        </p:nvCxnSpPr>
        <p:spPr>
          <a:xfrm flipH="1" rot="10800000">
            <a:off x="1405019" y="2805126"/>
            <a:ext cx="1440300" cy="129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1" name="Google Shape;1681;p114"/>
          <p:cNvSpPr txBox="1"/>
          <p:nvPr/>
        </p:nvSpPr>
        <p:spPr>
          <a:xfrm>
            <a:off x="4824000" y="671400"/>
            <a:ext cx="399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Step 3: Draw the two sides of the rhombus and draw on its diagonal.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14"/>
          <p:cNvSpPr txBox="1"/>
          <p:nvPr/>
        </p:nvSpPr>
        <p:spPr>
          <a:xfrm>
            <a:off x="324000" y="671400"/>
            <a:ext cx="211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Bisect this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grpSp>
        <p:nvGrpSpPr>
          <p:cNvPr id="1684" name="Google Shape;1684;p114"/>
          <p:cNvGrpSpPr/>
          <p:nvPr/>
        </p:nvGrpSpPr>
        <p:grpSpPr>
          <a:xfrm>
            <a:off x="875959" y="3553960"/>
            <a:ext cx="1081200" cy="1081200"/>
            <a:chOff x="875959" y="3553960"/>
            <a:chExt cx="1081200" cy="1081200"/>
          </a:xfrm>
        </p:grpSpPr>
        <p:sp>
          <p:nvSpPr>
            <p:cNvPr id="1685" name="Google Shape;1685;p114"/>
            <p:cNvSpPr/>
            <p:nvPr/>
          </p:nvSpPr>
          <p:spPr>
            <a:xfrm>
              <a:off x="875959" y="3553960"/>
              <a:ext cx="1081200" cy="1081200"/>
            </a:xfrm>
            <a:prstGeom prst="arc">
              <a:avLst>
                <a:gd fmla="val 16585307" name="adj1"/>
                <a:gd fmla="val 0" name="adj2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6" name="Google Shape;1686;p114"/>
            <p:cNvSpPr txBox="1"/>
            <p:nvPr/>
          </p:nvSpPr>
          <p:spPr>
            <a:xfrm>
              <a:off x="1405022" y="3754079"/>
              <a:ext cx="531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84°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7" name="Google Shape;1687;p114"/>
          <p:cNvSpPr/>
          <p:nvPr/>
        </p:nvSpPr>
        <p:spPr>
          <a:xfrm>
            <a:off x="108974" y="2783850"/>
            <a:ext cx="2603700" cy="2603700"/>
          </a:xfrm>
          <a:prstGeom prst="arc">
            <a:avLst>
              <a:gd fmla="val 20990378" name="adj1"/>
              <a:gd fmla="val 82827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14"/>
          <p:cNvSpPr/>
          <p:nvPr/>
        </p:nvSpPr>
        <p:spPr>
          <a:xfrm>
            <a:off x="114699" y="2783850"/>
            <a:ext cx="2603700" cy="2603700"/>
          </a:xfrm>
          <a:prstGeom prst="arc">
            <a:avLst>
              <a:gd fmla="val 15572451" name="adj1"/>
              <a:gd fmla="val 17154619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14"/>
          <p:cNvSpPr/>
          <p:nvPr/>
        </p:nvSpPr>
        <p:spPr>
          <a:xfrm>
            <a:off x="239935" y="1501956"/>
            <a:ext cx="2603700" cy="2603700"/>
          </a:xfrm>
          <a:prstGeom prst="arc">
            <a:avLst>
              <a:gd fmla="val 20511208" name="adj1"/>
              <a:gd fmla="val 654667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14"/>
          <p:cNvSpPr/>
          <p:nvPr/>
        </p:nvSpPr>
        <p:spPr>
          <a:xfrm>
            <a:off x="1404110" y="2804414"/>
            <a:ext cx="2603700" cy="2603700"/>
          </a:xfrm>
          <a:prstGeom prst="arc">
            <a:avLst>
              <a:gd fmla="val 16147719" name="adj1"/>
              <a:gd fmla="val 1743852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1" name="Google Shape;1691;p114"/>
          <p:cNvCxnSpPr/>
          <p:nvPr/>
        </p:nvCxnSpPr>
        <p:spPr>
          <a:xfrm>
            <a:off x="1530208" y="2803800"/>
            <a:ext cx="130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2" name="Google Shape;1692;p114"/>
          <p:cNvCxnSpPr/>
          <p:nvPr/>
        </p:nvCxnSpPr>
        <p:spPr>
          <a:xfrm rot="-5040119">
            <a:off x="2126859" y="3454788"/>
            <a:ext cx="130916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3" name="Google Shape;1693;p114"/>
          <p:cNvCxnSpPr/>
          <p:nvPr/>
        </p:nvCxnSpPr>
        <p:spPr>
          <a:xfrm>
            <a:off x="1407425" y="4101425"/>
            <a:ext cx="331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4" name="Google Shape;1694;p114"/>
          <p:cNvCxnSpPr/>
          <p:nvPr/>
        </p:nvCxnSpPr>
        <p:spPr>
          <a:xfrm rot="-5039930">
            <a:off x="226748" y="2790123"/>
            <a:ext cx="26370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115"/>
          <p:cNvSpPr txBox="1"/>
          <p:nvPr/>
        </p:nvSpPr>
        <p:spPr>
          <a:xfrm>
            <a:off x="4824000" y="671400"/>
            <a:ext cx="3995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Alternative step 3: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It’s not even necessary to construct the full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115"/>
          <p:cNvSpPr/>
          <p:nvPr/>
        </p:nvSpPr>
        <p:spPr>
          <a:xfrm>
            <a:off x="389592" y="3067615"/>
            <a:ext cx="2053800" cy="2053800"/>
          </a:xfrm>
          <a:prstGeom prst="arc">
            <a:avLst>
              <a:gd fmla="val 19062178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15"/>
          <p:cNvSpPr txBox="1"/>
          <p:nvPr/>
        </p:nvSpPr>
        <p:spPr>
          <a:xfrm>
            <a:off x="1911797" y="3711430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2" name="Google Shape;1702;p115"/>
          <p:cNvCxnSpPr/>
          <p:nvPr/>
        </p:nvCxnSpPr>
        <p:spPr>
          <a:xfrm flipH="1" rot="10800000">
            <a:off x="1405019" y="2805126"/>
            <a:ext cx="1440300" cy="129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3" name="Google Shape;1703;p115"/>
          <p:cNvSpPr txBox="1"/>
          <p:nvPr/>
        </p:nvSpPr>
        <p:spPr>
          <a:xfrm>
            <a:off x="324000" y="671400"/>
            <a:ext cx="211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Bisect this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grpSp>
        <p:nvGrpSpPr>
          <p:cNvPr id="1705" name="Google Shape;1705;p115"/>
          <p:cNvGrpSpPr/>
          <p:nvPr/>
        </p:nvGrpSpPr>
        <p:grpSpPr>
          <a:xfrm>
            <a:off x="875959" y="3553960"/>
            <a:ext cx="1081200" cy="1081200"/>
            <a:chOff x="875959" y="3553960"/>
            <a:chExt cx="1081200" cy="1081200"/>
          </a:xfrm>
        </p:grpSpPr>
        <p:sp>
          <p:nvSpPr>
            <p:cNvPr id="1706" name="Google Shape;1706;p115"/>
            <p:cNvSpPr/>
            <p:nvPr/>
          </p:nvSpPr>
          <p:spPr>
            <a:xfrm>
              <a:off x="875959" y="3553960"/>
              <a:ext cx="1081200" cy="1081200"/>
            </a:xfrm>
            <a:prstGeom prst="arc">
              <a:avLst>
                <a:gd fmla="val 16585307" name="adj1"/>
                <a:gd fmla="val 0" name="adj2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7" name="Google Shape;1707;p115"/>
            <p:cNvSpPr txBox="1"/>
            <p:nvPr/>
          </p:nvSpPr>
          <p:spPr>
            <a:xfrm>
              <a:off x="1405022" y="3754079"/>
              <a:ext cx="531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84°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8" name="Google Shape;1708;p115"/>
          <p:cNvSpPr/>
          <p:nvPr/>
        </p:nvSpPr>
        <p:spPr>
          <a:xfrm>
            <a:off x="108974" y="2783850"/>
            <a:ext cx="2603700" cy="2603700"/>
          </a:xfrm>
          <a:prstGeom prst="arc">
            <a:avLst>
              <a:gd fmla="val 20990378" name="adj1"/>
              <a:gd fmla="val 82827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15"/>
          <p:cNvSpPr/>
          <p:nvPr/>
        </p:nvSpPr>
        <p:spPr>
          <a:xfrm>
            <a:off x="114699" y="2783850"/>
            <a:ext cx="2603700" cy="2603700"/>
          </a:xfrm>
          <a:prstGeom prst="arc">
            <a:avLst>
              <a:gd fmla="val 15572451" name="adj1"/>
              <a:gd fmla="val 17154619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15"/>
          <p:cNvSpPr/>
          <p:nvPr/>
        </p:nvSpPr>
        <p:spPr>
          <a:xfrm>
            <a:off x="239935" y="1501956"/>
            <a:ext cx="2603700" cy="2603700"/>
          </a:xfrm>
          <a:prstGeom prst="arc">
            <a:avLst>
              <a:gd fmla="val 20511208" name="adj1"/>
              <a:gd fmla="val 654667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15"/>
          <p:cNvSpPr/>
          <p:nvPr/>
        </p:nvSpPr>
        <p:spPr>
          <a:xfrm>
            <a:off x="1404110" y="2804414"/>
            <a:ext cx="2603700" cy="2603700"/>
          </a:xfrm>
          <a:prstGeom prst="arc">
            <a:avLst>
              <a:gd fmla="val 16147719" name="adj1"/>
              <a:gd fmla="val 1743852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2" name="Google Shape;1712;p115"/>
          <p:cNvCxnSpPr/>
          <p:nvPr/>
        </p:nvCxnSpPr>
        <p:spPr>
          <a:xfrm>
            <a:off x="1407425" y="4101425"/>
            <a:ext cx="331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3" name="Google Shape;1713;p115"/>
          <p:cNvCxnSpPr/>
          <p:nvPr/>
        </p:nvCxnSpPr>
        <p:spPr>
          <a:xfrm rot="-5039930">
            <a:off x="226748" y="2790123"/>
            <a:ext cx="26370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4" name="Google Shape;1714;p115"/>
          <p:cNvSpPr txBox="1"/>
          <p:nvPr/>
        </p:nvSpPr>
        <p:spPr>
          <a:xfrm>
            <a:off x="4824000" y="1501950"/>
            <a:ext cx="399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 long as you draw a line from the point where the two arcs intersect to the vertex of the angle, you will bisect that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5" name="Google Shape;1715;p115"/>
          <p:cNvGrpSpPr/>
          <p:nvPr/>
        </p:nvGrpSpPr>
        <p:grpSpPr>
          <a:xfrm>
            <a:off x="241235" y="1500193"/>
            <a:ext cx="3767875" cy="3906158"/>
            <a:chOff x="525685" y="861656"/>
            <a:chExt cx="3767875" cy="3906158"/>
          </a:xfrm>
        </p:grpSpPr>
        <p:sp>
          <p:nvSpPr>
            <p:cNvPr id="1716" name="Google Shape;1716;p115"/>
            <p:cNvSpPr/>
            <p:nvPr/>
          </p:nvSpPr>
          <p:spPr>
            <a:xfrm>
              <a:off x="525685" y="861656"/>
              <a:ext cx="2603700" cy="2603700"/>
            </a:xfrm>
            <a:prstGeom prst="arc">
              <a:avLst>
                <a:gd fmla="val 20511208" name="adj1"/>
                <a:gd fmla="val 654667" name="adj2"/>
              </a:avLst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7" name="Google Shape;1717;p115"/>
            <p:cNvSpPr/>
            <p:nvPr/>
          </p:nvSpPr>
          <p:spPr>
            <a:xfrm>
              <a:off x="1689860" y="2164114"/>
              <a:ext cx="2603700" cy="2603700"/>
            </a:xfrm>
            <a:prstGeom prst="arc">
              <a:avLst>
                <a:gd fmla="val 16147719" name="adj1"/>
                <a:gd fmla="val 17438522" name="adj2"/>
              </a:avLst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11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grpSp>
        <p:nvGrpSpPr>
          <p:cNvPr id="1723" name="Google Shape;1723;p116"/>
          <p:cNvGrpSpPr/>
          <p:nvPr/>
        </p:nvGrpSpPr>
        <p:grpSpPr>
          <a:xfrm rot="-2570881">
            <a:off x="1982772" y="3897070"/>
            <a:ext cx="1083687" cy="1081111"/>
            <a:chOff x="875959" y="3553960"/>
            <a:chExt cx="1083776" cy="1081200"/>
          </a:xfrm>
        </p:grpSpPr>
        <p:sp>
          <p:nvSpPr>
            <p:cNvPr id="1724" name="Google Shape;1724;p116"/>
            <p:cNvSpPr/>
            <p:nvPr/>
          </p:nvSpPr>
          <p:spPr>
            <a:xfrm>
              <a:off x="875959" y="3553960"/>
              <a:ext cx="1081200" cy="1081200"/>
            </a:xfrm>
            <a:prstGeom prst="arc">
              <a:avLst>
                <a:gd fmla="val 16585307" name="adj1"/>
                <a:gd fmla="val 0" name="adj2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5" name="Google Shape;1725;p116"/>
            <p:cNvSpPr txBox="1"/>
            <p:nvPr/>
          </p:nvSpPr>
          <p:spPr>
            <a:xfrm rot="2571008">
              <a:off x="1404909" y="3754002"/>
              <a:ext cx="531553" cy="277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78°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6" name="Google Shape;1726;p116"/>
          <p:cNvSpPr/>
          <p:nvPr/>
        </p:nvSpPr>
        <p:spPr>
          <a:xfrm rot="-2570847">
            <a:off x="1211878" y="3134284"/>
            <a:ext cx="2603637" cy="2603637"/>
          </a:xfrm>
          <a:prstGeom prst="arc">
            <a:avLst>
              <a:gd fmla="val 20990378" name="adj1"/>
              <a:gd fmla="val 82827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16"/>
          <p:cNvSpPr/>
          <p:nvPr/>
        </p:nvSpPr>
        <p:spPr>
          <a:xfrm rot="-2570847">
            <a:off x="1216076" y="3130390"/>
            <a:ext cx="2603637" cy="2603637"/>
          </a:xfrm>
          <a:prstGeom prst="arc">
            <a:avLst>
              <a:gd fmla="val 15572451" name="adj1"/>
              <a:gd fmla="val 17154619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8" name="Google Shape;1728;p116"/>
          <p:cNvCxnSpPr/>
          <p:nvPr/>
        </p:nvCxnSpPr>
        <p:spPr>
          <a:xfrm flipH="1" rot="10028884">
            <a:off x="2372507" y="3122724"/>
            <a:ext cx="1950258" cy="11243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9" name="Google Shape;1729;p116"/>
          <p:cNvCxnSpPr/>
          <p:nvPr/>
        </p:nvCxnSpPr>
        <p:spPr>
          <a:xfrm rot="-7610786">
            <a:off x="412821" y="3394839"/>
            <a:ext cx="263694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30" name="Google Shape;1730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971" y="777324"/>
            <a:ext cx="485404" cy="916557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16"/>
          <p:cNvSpPr txBox="1"/>
          <p:nvPr/>
        </p:nvSpPr>
        <p:spPr>
          <a:xfrm>
            <a:off x="324000" y="1573950"/>
            <a:ext cx="851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16"/>
          <p:cNvSpPr txBox="1"/>
          <p:nvPr/>
        </p:nvSpPr>
        <p:spPr>
          <a:xfrm>
            <a:off x="1158400" y="682300"/>
            <a:ext cx="300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begins construction of a rhombus to bisect this angle of 78°.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16"/>
          <p:cNvSpPr txBox="1"/>
          <p:nvPr/>
        </p:nvSpPr>
        <p:spPr>
          <a:xfrm>
            <a:off x="4879925" y="657150"/>
            <a:ext cx="394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of these could be a sensible next step in Aisha’s construction?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4" name="Google Shape;1734;p116"/>
          <p:cNvGrpSpPr/>
          <p:nvPr/>
        </p:nvGrpSpPr>
        <p:grpSpPr>
          <a:xfrm>
            <a:off x="4879937" y="1403308"/>
            <a:ext cx="260924" cy="260878"/>
            <a:chOff x="1020916" y="1442088"/>
            <a:chExt cx="457200" cy="457200"/>
          </a:xfrm>
        </p:grpSpPr>
        <p:pic>
          <p:nvPicPr>
            <p:cNvPr id="1735" name="Google Shape;1735;p1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6" name="Google Shape;1736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7" name="Google Shape;1737;p116"/>
          <p:cNvSpPr txBox="1"/>
          <p:nvPr/>
        </p:nvSpPr>
        <p:spPr>
          <a:xfrm>
            <a:off x="5214750" y="1403300"/>
            <a:ext cx="360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Set the length of the compass by placing the needle on the intersection and the pencil on the vertex of the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8" name="Google Shape;1738;p116"/>
          <p:cNvGrpSpPr/>
          <p:nvPr/>
        </p:nvGrpSpPr>
        <p:grpSpPr>
          <a:xfrm>
            <a:off x="4879937" y="2769708"/>
            <a:ext cx="260924" cy="260878"/>
            <a:chOff x="1020916" y="1442088"/>
            <a:chExt cx="457200" cy="457200"/>
          </a:xfrm>
        </p:grpSpPr>
        <p:pic>
          <p:nvPicPr>
            <p:cNvPr id="1739" name="Google Shape;1739;p1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0" name="Google Shape;1740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1" name="Google Shape;1741;p116"/>
          <p:cNvSpPr txBox="1"/>
          <p:nvPr/>
        </p:nvSpPr>
        <p:spPr>
          <a:xfrm>
            <a:off x="5214750" y="2769700"/>
            <a:ext cx="360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Drawing the diagonal of the rhombus to bisect the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2" name="Google Shape;1742;p116"/>
          <p:cNvGrpSpPr/>
          <p:nvPr/>
        </p:nvGrpSpPr>
        <p:grpSpPr>
          <a:xfrm>
            <a:off x="4879937" y="3582008"/>
            <a:ext cx="260924" cy="260878"/>
            <a:chOff x="1020916" y="1442088"/>
            <a:chExt cx="457200" cy="457200"/>
          </a:xfrm>
        </p:grpSpPr>
        <p:pic>
          <p:nvPicPr>
            <p:cNvPr id="1743" name="Google Shape;1743;p1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4" name="Google Shape;1744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5" name="Google Shape;1745;p116"/>
          <p:cNvSpPr txBox="1"/>
          <p:nvPr/>
        </p:nvSpPr>
        <p:spPr>
          <a:xfrm>
            <a:off x="5214750" y="3582000"/>
            <a:ext cx="360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another arc with the compass needle placed on the intersection Aisha already drew.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6" name="Google Shape;1746;p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4846" y="16641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" name="Google Shape;1747;p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4846" y="38428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1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grpSp>
        <p:nvGrpSpPr>
          <p:cNvPr id="1753" name="Google Shape;1753;p117"/>
          <p:cNvGrpSpPr/>
          <p:nvPr/>
        </p:nvGrpSpPr>
        <p:grpSpPr>
          <a:xfrm rot="-2570881">
            <a:off x="1982772" y="3897070"/>
            <a:ext cx="1083687" cy="1081111"/>
            <a:chOff x="875959" y="3553960"/>
            <a:chExt cx="1083776" cy="1081200"/>
          </a:xfrm>
        </p:grpSpPr>
        <p:sp>
          <p:nvSpPr>
            <p:cNvPr id="1754" name="Google Shape;1754;p117"/>
            <p:cNvSpPr/>
            <p:nvPr/>
          </p:nvSpPr>
          <p:spPr>
            <a:xfrm>
              <a:off x="875959" y="3553960"/>
              <a:ext cx="1081200" cy="1081200"/>
            </a:xfrm>
            <a:prstGeom prst="arc">
              <a:avLst>
                <a:gd fmla="val 16585307" name="adj1"/>
                <a:gd fmla="val 0" name="adj2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5" name="Google Shape;1755;p117"/>
            <p:cNvSpPr txBox="1"/>
            <p:nvPr/>
          </p:nvSpPr>
          <p:spPr>
            <a:xfrm rot="2571008">
              <a:off x="1404909" y="3754002"/>
              <a:ext cx="531553" cy="277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78°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6" name="Google Shape;1756;p117"/>
          <p:cNvSpPr/>
          <p:nvPr/>
        </p:nvSpPr>
        <p:spPr>
          <a:xfrm rot="-2570847">
            <a:off x="1211878" y="3134284"/>
            <a:ext cx="2603637" cy="2603637"/>
          </a:xfrm>
          <a:prstGeom prst="arc">
            <a:avLst>
              <a:gd fmla="val 20990378" name="adj1"/>
              <a:gd fmla="val 82827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17"/>
          <p:cNvSpPr/>
          <p:nvPr/>
        </p:nvSpPr>
        <p:spPr>
          <a:xfrm rot="-2570847">
            <a:off x="1216076" y="3130390"/>
            <a:ext cx="2603637" cy="2603637"/>
          </a:xfrm>
          <a:prstGeom prst="arc">
            <a:avLst>
              <a:gd fmla="val 15572451" name="adj1"/>
              <a:gd fmla="val 17154619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8" name="Google Shape;1758;p117"/>
          <p:cNvCxnSpPr/>
          <p:nvPr/>
        </p:nvCxnSpPr>
        <p:spPr>
          <a:xfrm flipH="1" rot="10028884">
            <a:off x="2372507" y="3122724"/>
            <a:ext cx="1950258" cy="11243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9" name="Google Shape;1759;p117"/>
          <p:cNvCxnSpPr/>
          <p:nvPr/>
        </p:nvCxnSpPr>
        <p:spPr>
          <a:xfrm rot="-7610786">
            <a:off x="412821" y="3394839"/>
            <a:ext cx="263694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60" name="Google Shape;1760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971" y="777324"/>
            <a:ext cx="485404" cy="916557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17"/>
          <p:cNvSpPr txBox="1"/>
          <p:nvPr/>
        </p:nvSpPr>
        <p:spPr>
          <a:xfrm>
            <a:off x="324000" y="1573950"/>
            <a:ext cx="851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17"/>
          <p:cNvSpPr txBox="1"/>
          <p:nvPr/>
        </p:nvSpPr>
        <p:spPr>
          <a:xfrm>
            <a:off x="1158400" y="682300"/>
            <a:ext cx="300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begins construction of a rhombus to bisect this angle of 78°.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17"/>
          <p:cNvSpPr txBox="1"/>
          <p:nvPr/>
        </p:nvSpPr>
        <p:spPr>
          <a:xfrm>
            <a:off x="4879925" y="657150"/>
            <a:ext cx="394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could be a sensible next step in Aisha’s construction?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4" name="Google Shape;1764;p117"/>
          <p:cNvGrpSpPr/>
          <p:nvPr/>
        </p:nvGrpSpPr>
        <p:grpSpPr>
          <a:xfrm>
            <a:off x="4879937" y="1403308"/>
            <a:ext cx="260924" cy="260878"/>
            <a:chOff x="1020916" y="1442088"/>
            <a:chExt cx="457200" cy="457200"/>
          </a:xfrm>
        </p:grpSpPr>
        <p:pic>
          <p:nvPicPr>
            <p:cNvPr id="1765" name="Google Shape;1765;p1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6" name="Google Shape;1766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7" name="Google Shape;1767;p117"/>
          <p:cNvSpPr txBox="1"/>
          <p:nvPr/>
        </p:nvSpPr>
        <p:spPr>
          <a:xfrm>
            <a:off x="5214750" y="1403300"/>
            <a:ext cx="360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Set the length of the compass by placing the needle on the intersection and the pencil on the vertex of the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17"/>
          <p:cNvSpPr txBox="1"/>
          <p:nvPr/>
        </p:nvSpPr>
        <p:spPr>
          <a:xfrm>
            <a:off x="4879925" y="2837075"/>
            <a:ext cx="3940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in doubt, it’s always good to reset the length of your pair of compasses so that the construction continues to make a rhombus.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18"/>
          <p:cNvSpPr txBox="1"/>
          <p:nvPr/>
        </p:nvSpPr>
        <p:spPr>
          <a:xfrm>
            <a:off x="324000" y="671400"/>
            <a:ext cx="4248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only wanted to bisect the 78°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construction lines didn’t need to be drawn?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1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sp>
        <p:nvSpPr>
          <p:cNvPr id="1775" name="Google Shape;1775;p118"/>
          <p:cNvSpPr/>
          <p:nvPr/>
        </p:nvSpPr>
        <p:spPr>
          <a:xfrm rot="-2571078">
            <a:off x="1496999" y="3411704"/>
            <a:ext cx="2053821" cy="2053821"/>
          </a:xfrm>
          <a:prstGeom prst="arc">
            <a:avLst>
              <a:gd fmla="val 19062178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118"/>
          <p:cNvSpPr txBox="1"/>
          <p:nvPr/>
        </p:nvSpPr>
        <p:spPr>
          <a:xfrm rot="1939">
            <a:off x="2649756" y="3603347"/>
            <a:ext cx="53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39°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7" name="Google Shape;1777;p118"/>
          <p:cNvCxnSpPr/>
          <p:nvPr/>
        </p:nvCxnSpPr>
        <p:spPr>
          <a:xfrm flipH="1" rot="8229665">
            <a:off x="1887384" y="2838709"/>
            <a:ext cx="1440128" cy="129619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78" name="Google Shape;1778;p118"/>
          <p:cNvGrpSpPr/>
          <p:nvPr/>
        </p:nvGrpSpPr>
        <p:grpSpPr>
          <a:xfrm rot="-2570881">
            <a:off x="1982772" y="3897070"/>
            <a:ext cx="1083687" cy="1081111"/>
            <a:chOff x="875959" y="3553960"/>
            <a:chExt cx="1083776" cy="1081200"/>
          </a:xfrm>
        </p:grpSpPr>
        <p:sp>
          <p:nvSpPr>
            <p:cNvPr id="1779" name="Google Shape;1779;p118"/>
            <p:cNvSpPr/>
            <p:nvPr/>
          </p:nvSpPr>
          <p:spPr>
            <a:xfrm>
              <a:off x="875959" y="3553960"/>
              <a:ext cx="1081200" cy="1081200"/>
            </a:xfrm>
            <a:prstGeom prst="arc">
              <a:avLst>
                <a:gd fmla="val 16585307" name="adj1"/>
                <a:gd fmla="val 0" name="adj2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0" name="Google Shape;1780;p118"/>
            <p:cNvSpPr txBox="1"/>
            <p:nvPr/>
          </p:nvSpPr>
          <p:spPr>
            <a:xfrm rot="2571008">
              <a:off x="1404909" y="3754002"/>
              <a:ext cx="531553" cy="277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78°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1" name="Google Shape;1781;p118"/>
          <p:cNvSpPr/>
          <p:nvPr/>
        </p:nvSpPr>
        <p:spPr>
          <a:xfrm rot="-2570847">
            <a:off x="1211878" y="3134284"/>
            <a:ext cx="2603637" cy="2603637"/>
          </a:xfrm>
          <a:prstGeom prst="arc">
            <a:avLst>
              <a:gd fmla="val 20990378" name="adj1"/>
              <a:gd fmla="val 828274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18"/>
          <p:cNvSpPr/>
          <p:nvPr/>
        </p:nvSpPr>
        <p:spPr>
          <a:xfrm rot="-2570847">
            <a:off x="1216076" y="3130390"/>
            <a:ext cx="2603637" cy="2603637"/>
          </a:xfrm>
          <a:prstGeom prst="arc">
            <a:avLst>
              <a:gd fmla="val 15572451" name="adj1"/>
              <a:gd fmla="val 17154619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18"/>
          <p:cNvSpPr/>
          <p:nvPr/>
        </p:nvSpPr>
        <p:spPr>
          <a:xfrm rot="-2570847">
            <a:off x="436141" y="2105384"/>
            <a:ext cx="2603637" cy="2603637"/>
          </a:xfrm>
          <a:prstGeom prst="arc">
            <a:avLst>
              <a:gd fmla="val 20511208" name="adj1"/>
              <a:gd fmla="val 654667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18"/>
          <p:cNvSpPr/>
          <p:nvPr/>
        </p:nvSpPr>
        <p:spPr>
          <a:xfrm rot="-2570847">
            <a:off x="2175411" y="2268603"/>
            <a:ext cx="2603637" cy="2603637"/>
          </a:xfrm>
          <a:prstGeom prst="arc">
            <a:avLst>
              <a:gd fmla="val 16147719" name="adj1"/>
              <a:gd fmla="val 1743852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5" name="Google Shape;1785;p118"/>
          <p:cNvCxnSpPr/>
          <p:nvPr/>
        </p:nvCxnSpPr>
        <p:spPr>
          <a:xfrm rot="-2571291">
            <a:off x="1554795" y="2969868"/>
            <a:ext cx="130913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6" name="Google Shape;1786;p118"/>
          <p:cNvCxnSpPr/>
          <p:nvPr/>
        </p:nvCxnSpPr>
        <p:spPr>
          <a:xfrm rot="-7610933">
            <a:off x="2435023" y="3041453"/>
            <a:ext cx="130914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7" name="Google Shape;1787;p118"/>
          <p:cNvCxnSpPr/>
          <p:nvPr/>
        </p:nvCxnSpPr>
        <p:spPr>
          <a:xfrm flipH="1" rot="10028884">
            <a:off x="2372507" y="3122724"/>
            <a:ext cx="1950258" cy="11243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8" name="Google Shape;1788;p118"/>
          <p:cNvCxnSpPr/>
          <p:nvPr/>
        </p:nvCxnSpPr>
        <p:spPr>
          <a:xfrm rot="-7610786">
            <a:off x="412821" y="3394839"/>
            <a:ext cx="263694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89" name="Google Shape;1789;p118"/>
          <p:cNvGrpSpPr/>
          <p:nvPr/>
        </p:nvGrpSpPr>
        <p:grpSpPr>
          <a:xfrm>
            <a:off x="4879937" y="904633"/>
            <a:ext cx="260924" cy="260878"/>
            <a:chOff x="1020916" y="1442088"/>
            <a:chExt cx="457200" cy="457200"/>
          </a:xfrm>
        </p:grpSpPr>
        <p:pic>
          <p:nvPicPr>
            <p:cNvPr id="1790" name="Google Shape;1790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1" name="Google Shape;1791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2" name="Google Shape;1792;p118"/>
          <p:cNvSpPr txBox="1"/>
          <p:nvPr/>
        </p:nvSpPr>
        <p:spPr>
          <a:xfrm>
            <a:off x="5214750" y="904625"/>
            <a:ext cx="360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two arcs that intersect each other.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3" name="Google Shape;1793;p118"/>
          <p:cNvGrpSpPr/>
          <p:nvPr/>
        </p:nvGrpSpPr>
        <p:grpSpPr>
          <a:xfrm>
            <a:off x="4879937" y="1695383"/>
            <a:ext cx="260924" cy="260878"/>
            <a:chOff x="1020916" y="1442088"/>
            <a:chExt cx="457200" cy="457200"/>
          </a:xfrm>
        </p:grpSpPr>
        <p:pic>
          <p:nvPicPr>
            <p:cNvPr id="1794" name="Google Shape;1794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5" name="Google Shape;1795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6" name="Google Shape;1796;p118"/>
          <p:cNvSpPr txBox="1"/>
          <p:nvPr/>
        </p:nvSpPr>
        <p:spPr>
          <a:xfrm>
            <a:off x="5214750" y="1695375"/>
            <a:ext cx="360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diagonal that bisects the 78°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18"/>
          <p:cNvSpPr txBox="1"/>
          <p:nvPr/>
        </p:nvSpPr>
        <p:spPr>
          <a:xfrm>
            <a:off x="5214750" y="2486125"/>
            <a:ext cx="360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last two sides of the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8" name="Google Shape;1798;p118"/>
          <p:cNvGrpSpPr/>
          <p:nvPr/>
        </p:nvGrpSpPr>
        <p:grpSpPr>
          <a:xfrm>
            <a:off x="4879937" y="2486133"/>
            <a:ext cx="260924" cy="260878"/>
            <a:chOff x="1020916" y="1442088"/>
            <a:chExt cx="457200" cy="457200"/>
          </a:xfrm>
        </p:grpSpPr>
        <p:pic>
          <p:nvPicPr>
            <p:cNvPr id="1799" name="Google Shape;1799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0" name="Google Shape;1800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01" name="Google Shape;1801;p118"/>
          <p:cNvSpPr txBox="1"/>
          <p:nvPr/>
        </p:nvSpPr>
        <p:spPr>
          <a:xfrm>
            <a:off x="5214750" y="3276875"/>
            <a:ext cx="36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angle marker for 39°.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2" name="Google Shape;1802;p118"/>
          <p:cNvGrpSpPr/>
          <p:nvPr/>
        </p:nvGrpSpPr>
        <p:grpSpPr>
          <a:xfrm>
            <a:off x="4879937" y="3276883"/>
            <a:ext cx="260924" cy="260878"/>
            <a:chOff x="1020916" y="1442088"/>
            <a:chExt cx="457200" cy="457200"/>
          </a:xfrm>
        </p:grpSpPr>
        <p:pic>
          <p:nvPicPr>
            <p:cNvPr id="1803" name="Google Shape;1803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4" name="Google Shape;1804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05" name="Google Shape;1805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3196" y="25536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118"/>
          <p:cNvSpPr txBox="1"/>
          <p:nvPr/>
        </p:nvSpPr>
        <p:spPr>
          <a:xfrm>
            <a:off x="488387" y="4411398"/>
            <a:ext cx="7026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7" name="Google Shape;1807;p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506" y="3680396"/>
            <a:ext cx="486880" cy="701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19"/>
          <p:cNvSpPr txBox="1"/>
          <p:nvPr/>
        </p:nvSpPr>
        <p:spPr>
          <a:xfrm>
            <a:off x="324000" y="641375"/>
            <a:ext cx="84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These constructions show partially drawn angle bisectors.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a) Using a protractor, measure the acute or obtuse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b) Complete each construction.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c) Using a protractor, measure the bisected angle and check if it is half the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original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11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pic>
        <p:nvPicPr>
          <p:cNvPr id="1814" name="Google Shape;1814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2102975"/>
            <a:ext cx="8495999" cy="2709337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119"/>
          <p:cNvSpPr txBox="1"/>
          <p:nvPr/>
        </p:nvSpPr>
        <p:spPr>
          <a:xfrm>
            <a:off x="324000" y="4374925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119"/>
          <p:cNvSpPr txBox="1"/>
          <p:nvPr/>
        </p:nvSpPr>
        <p:spPr>
          <a:xfrm>
            <a:off x="3080975" y="3890500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19"/>
          <p:cNvSpPr txBox="1"/>
          <p:nvPr/>
        </p:nvSpPr>
        <p:spPr>
          <a:xfrm>
            <a:off x="4975950" y="2014725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C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19"/>
          <p:cNvSpPr txBox="1"/>
          <p:nvPr/>
        </p:nvSpPr>
        <p:spPr>
          <a:xfrm>
            <a:off x="6483150" y="4458900"/>
            <a:ext cx="195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D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120"/>
          <p:cNvSpPr txBox="1"/>
          <p:nvPr/>
        </p:nvSpPr>
        <p:spPr>
          <a:xfrm>
            <a:off x="324000" y="6413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Bisect each of the given angles, and measure the size of the bisected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12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pic>
        <p:nvPicPr>
          <p:cNvPr id="1825" name="Google Shape;1825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1120969"/>
            <a:ext cx="8496000" cy="3042714"/>
          </a:xfrm>
          <a:prstGeom prst="rect">
            <a:avLst/>
          </a:prstGeom>
          <a:noFill/>
          <a:ln>
            <a:noFill/>
          </a:ln>
        </p:spPr>
      </p:pic>
      <p:sp>
        <p:nvSpPr>
          <p:cNvPr id="1826" name="Google Shape;1826;p120"/>
          <p:cNvSpPr txBox="1"/>
          <p:nvPr/>
        </p:nvSpPr>
        <p:spPr>
          <a:xfrm>
            <a:off x="324000" y="1421400"/>
            <a:ext cx="320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20"/>
          <p:cNvSpPr txBox="1"/>
          <p:nvPr/>
        </p:nvSpPr>
        <p:spPr>
          <a:xfrm>
            <a:off x="2469150" y="1421400"/>
            <a:ext cx="320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120"/>
          <p:cNvSpPr txBox="1"/>
          <p:nvPr/>
        </p:nvSpPr>
        <p:spPr>
          <a:xfrm>
            <a:off x="6344400" y="1421400"/>
            <a:ext cx="320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121"/>
          <p:cNvSpPr txBox="1"/>
          <p:nvPr/>
        </p:nvSpPr>
        <p:spPr>
          <a:xfrm>
            <a:off x="324000" y="641375"/>
            <a:ext cx="84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These constructions show partially drawn angle bisectors.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a) Using a protractor, measure the acute or obtuse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b) Complete each construction.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c) Using a protractor, measure the bisected angle and check if it is half the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original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2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pic>
        <p:nvPicPr>
          <p:cNvPr id="1835" name="Google Shape;1835;p12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24000" y="2102975"/>
            <a:ext cx="8495999" cy="27093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21"/>
          <p:cNvSpPr txBox="1"/>
          <p:nvPr/>
        </p:nvSpPr>
        <p:spPr>
          <a:xfrm>
            <a:off x="324000" y="4374925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21"/>
          <p:cNvSpPr txBox="1"/>
          <p:nvPr/>
        </p:nvSpPr>
        <p:spPr>
          <a:xfrm>
            <a:off x="3080975" y="3890500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21"/>
          <p:cNvSpPr txBox="1"/>
          <p:nvPr/>
        </p:nvSpPr>
        <p:spPr>
          <a:xfrm>
            <a:off x="4975950" y="2014725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C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21"/>
          <p:cNvSpPr txBox="1"/>
          <p:nvPr/>
        </p:nvSpPr>
        <p:spPr>
          <a:xfrm>
            <a:off x="6483150" y="4458900"/>
            <a:ext cx="195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D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121"/>
          <p:cNvSpPr txBox="1"/>
          <p:nvPr/>
        </p:nvSpPr>
        <p:spPr>
          <a:xfrm>
            <a:off x="267125" y="2291925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117° and 58.5°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1" name="Google Shape;1841;p121"/>
          <p:cNvSpPr txBox="1"/>
          <p:nvPr/>
        </p:nvSpPr>
        <p:spPr>
          <a:xfrm>
            <a:off x="3127050" y="4257600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115° and 57.5°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2" name="Google Shape;1842;p121"/>
          <p:cNvSpPr txBox="1"/>
          <p:nvPr/>
        </p:nvSpPr>
        <p:spPr>
          <a:xfrm>
            <a:off x="6162250" y="2224650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66° and 33°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3" name="Google Shape;1843;p121"/>
          <p:cNvSpPr txBox="1"/>
          <p:nvPr/>
        </p:nvSpPr>
        <p:spPr>
          <a:xfrm>
            <a:off x="5387450" y="4304050"/>
            <a:ext cx="1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83° and 41.5°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4" name="Google Shape;1844;p121"/>
          <p:cNvSpPr/>
          <p:nvPr/>
        </p:nvSpPr>
        <p:spPr>
          <a:xfrm rot="-2571182">
            <a:off x="4053766" y="2155309"/>
            <a:ext cx="1738370" cy="1738370"/>
          </a:xfrm>
          <a:prstGeom prst="arc">
            <a:avLst>
              <a:gd fmla="val 11408611" name="adj1"/>
              <a:gd fmla="val 14044295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5" name="Google Shape;1845;p121"/>
          <p:cNvCxnSpPr/>
          <p:nvPr/>
        </p:nvCxnSpPr>
        <p:spPr>
          <a:xfrm flipH="1" rot="10800000">
            <a:off x="4085000" y="2343525"/>
            <a:ext cx="291000" cy="88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6" name="Google Shape;1846;p121"/>
          <p:cNvCxnSpPr/>
          <p:nvPr/>
        </p:nvCxnSpPr>
        <p:spPr>
          <a:xfrm flipH="1" rot="10800000">
            <a:off x="5712025" y="2586875"/>
            <a:ext cx="1324500" cy="577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7" name="Google Shape;1847;p121"/>
          <p:cNvSpPr/>
          <p:nvPr/>
        </p:nvSpPr>
        <p:spPr>
          <a:xfrm rot="-2571458">
            <a:off x="7401749" y="2339074"/>
            <a:ext cx="1946399" cy="1946399"/>
          </a:xfrm>
          <a:prstGeom prst="arc">
            <a:avLst>
              <a:gd fmla="val 12002059" name="adj1"/>
              <a:gd fmla="val 14105773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121"/>
          <p:cNvSpPr/>
          <p:nvPr/>
        </p:nvSpPr>
        <p:spPr>
          <a:xfrm rot="-2571458">
            <a:off x="6550473" y="3306474"/>
            <a:ext cx="1946399" cy="1946399"/>
          </a:xfrm>
          <a:prstGeom prst="arc">
            <a:avLst>
              <a:gd fmla="val 17095360" name="adj1"/>
              <a:gd fmla="val 19885721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9" name="Google Shape;1849;p121"/>
          <p:cNvCxnSpPr/>
          <p:nvPr/>
        </p:nvCxnSpPr>
        <p:spPr>
          <a:xfrm>
            <a:off x="7405700" y="3317875"/>
            <a:ext cx="1099200" cy="972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4" name="Google Shape;1854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1120969"/>
            <a:ext cx="8496000" cy="3042714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2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Bisecting an angle using rhombi constructions</a:t>
            </a:r>
            <a:endParaRPr/>
          </a:p>
        </p:txBody>
      </p:sp>
      <p:sp>
        <p:nvSpPr>
          <p:cNvPr id="1856" name="Google Shape;1856;p122"/>
          <p:cNvSpPr txBox="1"/>
          <p:nvPr/>
        </p:nvSpPr>
        <p:spPr>
          <a:xfrm>
            <a:off x="459675" y="3130125"/>
            <a:ext cx="146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36°.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7" name="Google Shape;1857;p122"/>
          <p:cNvSpPr txBox="1"/>
          <p:nvPr/>
        </p:nvSpPr>
        <p:spPr>
          <a:xfrm>
            <a:off x="324000" y="6413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Bisect each of the given angles, and measure the size of the bisected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22"/>
          <p:cNvSpPr txBox="1"/>
          <p:nvPr/>
        </p:nvSpPr>
        <p:spPr>
          <a:xfrm>
            <a:off x="2693750" y="2186975"/>
            <a:ext cx="142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54°.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9" name="Google Shape;1859;p122"/>
          <p:cNvSpPr txBox="1"/>
          <p:nvPr/>
        </p:nvSpPr>
        <p:spPr>
          <a:xfrm>
            <a:off x="4932825" y="2062175"/>
            <a:ext cx="142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37°.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0" name="Google Shape;1860;p122"/>
          <p:cNvSpPr txBox="1"/>
          <p:nvPr/>
        </p:nvSpPr>
        <p:spPr>
          <a:xfrm>
            <a:off x="7326475" y="1164550"/>
            <a:ext cx="149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153°.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1" name="Google Shape;1861;p122"/>
          <p:cNvSpPr txBox="1"/>
          <p:nvPr/>
        </p:nvSpPr>
        <p:spPr>
          <a:xfrm>
            <a:off x="5622000" y="4042800"/>
            <a:ext cx="149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5°.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2" name="Google Shape;1862;p122"/>
          <p:cNvSpPr txBox="1"/>
          <p:nvPr/>
        </p:nvSpPr>
        <p:spPr>
          <a:xfrm>
            <a:off x="324000" y="1421400"/>
            <a:ext cx="320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22"/>
          <p:cNvSpPr txBox="1"/>
          <p:nvPr/>
        </p:nvSpPr>
        <p:spPr>
          <a:xfrm>
            <a:off x="2469150" y="1421400"/>
            <a:ext cx="320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22"/>
          <p:cNvSpPr txBox="1"/>
          <p:nvPr/>
        </p:nvSpPr>
        <p:spPr>
          <a:xfrm>
            <a:off x="6344400" y="1421400"/>
            <a:ext cx="320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23"/>
          <p:cNvSpPr txBox="1"/>
          <p:nvPr/>
        </p:nvSpPr>
        <p:spPr>
          <a:xfrm>
            <a:off x="324000" y="717575"/>
            <a:ext cx="8496000" cy="28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Knowing that rhombi have four equal side lengths makes it possible to construct a rhombus given only two of its sides.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drawing a suitable circle with centre at the vertex of an angle, a rhombus can be constructed from any angle with any leg length.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Constructions of rhombi can be made more efficient by drawing only four arcs: two which intersect at the legs of an angle, and two which intersect each other.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constructions involved in constructing a rhombus are helpful in bisecting an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12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Bisecting an angle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2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76" name="Google Shape;1876;p1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