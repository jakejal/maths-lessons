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92d1c85cd_1_2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a92d1c85cd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5442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Bisecting an angle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550950" y="9827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0"/>
          <p:cNvSpPr txBox="1"/>
          <p:nvPr/>
        </p:nvSpPr>
        <p:spPr>
          <a:xfrm>
            <a:off x="475844" y="1406200"/>
            <a:ext cx="660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each construction to draw a rhombus.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 amt="50000"/>
          </a:blip>
          <a:srcRect b="0" l="0" r="0" t="4205"/>
          <a:stretch/>
        </p:blipFill>
        <p:spPr>
          <a:xfrm>
            <a:off x="473900" y="1486723"/>
            <a:ext cx="6610501" cy="288953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3503325" y="1704560"/>
            <a:ext cx="1357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55392" y="1725811"/>
            <a:ext cx="1357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314817" y="1732262"/>
            <a:ext cx="1357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1498967" y="2802740"/>
            <a:ext cx="750034" cy="738351"/>
            <a:chOff x="1639750" y="2604300"/>
            <a:chExt cx="964550" cy="949525"/>
          </a:xfrm>
        </p:grpSpPr>
        <p:cxnSp>
          <p:nvCxnSpPr>
            <p:cNvPr id="179" name="Google Shape;179;p20"/>
            <p:cNvCxnSpPr/>
            <p:nvPr/>
          </p:nvCxnSpPr>
          <p:spPr>
            <a:xfrm>
              <a:off x="1639750" y="2604300"/>
              <a:ext cx="964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20"/>
            <p:cNvCxnSpPr/>
            <p:nvPr/>
          </p:nvCxnSpPr>
          <p:spPr>
            <a:xfrm flipH="1">
              <a:off x="2372100" y="2607325"/>
              <a:ext cx="232200" cy="946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1" name="Google Shape;181;p20"/>
          <p:cNvCxnSpPr/>
          <p:nvPr/>
        </p:nvCxnSpPr>
        <p:spPr>
          <a:xfrm>
            <a:off x="3590929" y="2999902"/>
            <a:ext cx="550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20"/>
          <p:cNvCxnSpPr/>
          <p:nvPr/>
        </p:nvCxnSpPr>
        <p:spPr>
          <a:xfrm rot="10800000">
            <a:off x="4140435" y="2998136"/>
            <a:ext cx="111000" cy="54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20"/>
          <p:cNvCxnSpPr/>
          <p:nvPr/>
        </p:nvCxnSpPr>
        <p:spPr>
          <a:xfrm rot="10800000">
            <a:off x="6156090" y="2600069"/>
            <a:ext cx="478500" cy="3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20"/>
          <p:cNvCxnSpPr/>
          <p:nvPr/>
        </p:nvCxnSpPr>
        <p:spPr>
          <a:xfrm flipH="1">
            <a:off x="6380963" y="2997919"/>
            <a:ext cx="251100" cy="57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20"/>
          <p:cNvSpPr txBox="1"/>
          <p:nvPr/>
        </p:nvSpPr>
        <p:spPr>
          <a:xfrm>
            <a:off x="466875" y="4825675"/>
            <a:ext cx="84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each construction to draw a rhombus.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564250" y="8250950"/>
            <a:ext cx="2482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Using a protractor, measure the opposite angles of each rhombus. If each pair of opposite angles are the same size, then your construction is accurate!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35534" y="7893538"/>
            <a:ext cx="1710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1008714" y="7363262"/>
            <a:ext cx="3783922" cy="2738366"/>
            <a:chOff x="3779996" y="6599392"/>
            <a:chExt cx="2133109" cy="1543698"/>
          </a:xfrm>
        </p:grpSpPr>
        <p:pic>
          <p:nvPicPr>
            <p:cNvPr id="189" name="Google Shape;189;p20"/>
            <p:cNvPicPr preferRelativeResize="0"/>
            <p:nvPr/>
          </p:nvPicPr>
          <p:blipFill rotWithShape="1">
            <a:blip r:embed="rId4">
              <a:alphaModFix amt="50000"/>
            </a:blip>
            <a:srcRect b="25644" l="65731" r="0" t="12128"/>
            <a:stretch/>
          </p:blipFill>
          <p:spPr>
            <a:xfrm>
              <a:off x="3779996" y="6599392"/>
              <a:ext cx="2133109" cy="15436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/>
            <p:nvPr/>
          </p:nvSpPr>
          <p:spPr>
            <a:xfrm>
              <a:off x="4290978" y="6884955"/>
              <a:ext cx="638700" cy="638700"/>
            </a:xfrm>
            <a:prstGeom prst="ellipse">
              <a:avLst/>
            </a:prstGeom>
            <a:noFill/>
            <a:ln cap="flat" cmpd="sng" w="15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050" lIns="74050" spcFirstLastPara="1" rIns="74050" wrap="square" tIns="74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4"/>
                <a:buFont typeface="Arial"/>
                <a:buNone/>
              </a:pPr>
              <a:r>
                <a:t/>
              </a:r>
              <a:endParaRPr b="0" i="0" sz="1133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061341" y="7107083"/>
              <a:ext cx="638700" cy="638700"/>
            </a:xfrm>
            <a:prstGeom prst="ellipse">
              <a:avLst/>
            </a:prstGeom>
            <a:noFill/>
            <a:ln cap="flat" cmpd="sng" w="15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050" lIns="74050" spcFirstLastPara="1" rIns="74050" wrap="square" tIns="74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4"/>
                <a:buFont typeface="Arial"/>
                <a:buNone/>
              </a:pPr>
              <a:r>
                <a:t/>
              </a:r>
              <a:endParaRPr b="0" i="0" sz="1133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4555311" y="7067828"/>
              <a:ext cx="638700" cy="638700"/>
            </a:xfrm>
            <a:prstGeom prst="ellipse">
              <a:avLst/>
            </a:prstGeom>
            <a:noFill/>
            <a:ln cap="flat" cmpd="sng" w="15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050" lIns="74050" spcFirstLastPara="1" rIns="74050" wrap="square" tIns="74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4"/>
                <a:buFont typeface="Arial"/>
                <a:buNone/>
              </a:pPr>
              <a:r>
                <a:t/>
              </a:r>
              <a:endParaRPr b="0" i="0" sz="1133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3" name="Google Shape;193;p20"/>
            <p:cNvCxnSpPr/>
            <p:nvPr/>
          </p:nvCxnSpPr>
          <p:spPr>
            <a:xfrm flipH="1" rot="10800000">
              <a:off x="4646363" y="7396155"/>
              <a:ext cx="227400" cy="216000"/>
            </a:xfrm>
            <a:prstGeom prst="straightConnector1">
              <a:avLst/>
            </a:prstGeom>
            <a:noFill/>
            <a:ln cap="flat" cmpd="sng" w="15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20"/>
            <p:cNvCxnSpPr/>
            <p:nvPr/>
          </p:nvCxnSpPr>
          <p:spPr>
            <a:xfrm rot="10800000">
              <a:off x="4378409" y="7423119"/>
              <a:ext cx="265500" cy="186600"/>
            </a:xfrm>
            <a:prstGeom prst="straightConnector1">
              <a:avLst/>
            </a:prstGeom>
            <a:noFill/>
            <a:ln cap="flat" cmpd="sng" w="15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 amt="50000"/>
          </a:blip>
          <a:srcRect b="0" l="0" r="33761" t="0"/>
          <a:stretch/>
        </p:blipFill>
        <p:spPr>
          <a:xfrm>
            <a:off x="809371" y="4534675"/>
            <a:ext cx="5627777" cy="33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702657" y="4778803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8257" y="5299153"/>
            <a:ext cx="17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648935" y="6092829"/>
            <a:ext cx="1576200" cy="157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380496" y="5531127"/>
            <a:ext cx="1536000" cy="1536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2048864" y="6200750"/>
            <a:ext cx="80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20"/>
          <p:cNvCxnSpPr/>
          <p:nvPr/>
        </p:nvCxnSpPr>
        <p:spPr>
          <a:xfrm flipH="1" rot="10800000">
            <a:off x="2417264" y="6204075"/>
            <a:ext cx="437100" cy="65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20"/>
          <p:cNvSpPr/>
          <p:nvPr/>
        </p:nvSpPr>
        <p:spPr>
          <a:xfrm>
            <a:off x="4674327" y="5109765"/>
            <a:ext cx="1536000" cy="1536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>
            <a:stCxn id="202" idx="3"/>
          </p:cNvCxnSpPr>
          <p:nvPr/>
        </p:nvCxnSpPr>
        <p:spPr>
          <a:xfrm flipH="1" rot="10800000">
            <a:off x="4899269" y="5888323"/>
            <a:ext cx="543900" cy="53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20"/>
          <p:cNvCxnSpPr>
            <a:stCxn id="202" idx="3"/>
          </p:cNvCxnSpPr>
          <p:nvPr/>
        </p:nvCxnSpPr>
        <p:spPr>
          <a:xfrm rot="10800000">
            <a:off x="4148669" y="6305323"/>
            <a:ext cx="750600" cy="115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Bisecting an angle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cxnSp>
        <p:nvCxnSpPr>
          <p:cNvPr id="213" name="Google Shape;213;p21"/>
          <p:cNvCxnSpPr/>
          <p:nvPr/>
        </p:nvCxnSpPr>
        <p:spPr>
          <a:xfrm>
            <a:off x="474750" y="421698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1"/>
          <p:cNvSpPr txBox="1"/>
          <p:nvPr/>
        </p:nvSpPr>
        <p:spPr>
          <a:xfrm>
            <a:off x="468000" y="4324975"/>
            <a:ext cx="5490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Bise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cting an angle using rhombi constructions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>
            <a:off x="474750" y="993436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1"/>
          <p:cNvSpPr txBox="1"/>
          <p:nvPr/>
        </p:nvSpPr>
        <p:spPr>
          <a:xfrm>
            <a:off x="468000" y="6959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Efficient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onstruction of a rhombus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314475" y="1332314"/>
            <a:ext cx="6729474" cy="235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466875" y="946175"/>
            <a:ext cx="654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only drawing arcs and straight lines, complete the construction of each rhombus.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2882850" y="1435015"/>
            <a:ext cx="1470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396370" y="1452324"/>
            <a:ext cx="138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747657" y="1398902"/>
            <a:ext cx="14706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415403" y="3596925"/>
            <a:ext cx="1382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D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21"/>
          <p:cNvCxnSpPr/>
          <p:nvPr/>
        </p:nvCxnSpPr>
        <p:spPr>
          <a:xfrm>
            <a:off x="626916" y="2244945"/>
            <a:ext cx="691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21"/>
          <p:cNvCxnSpPr/>
          <p:nvPr/>
        </p:nvCxnSpPr>
        <p:spPr>
          <a:xfrm flipH="1" rot="10800000">
            <a:off x="1133072" y="2247976"/>
            <a:ext cx="178200" cy="67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21"/>
          <p:cNvSpPr/>
          <p:nvPr/>
        </p:nvSpPr>
        <p:spPr>
          <a:xfrm>
            <a:off x="2301078" y="1161375"/>
            <a:ext cx="1444200" cy="1444200"/>
          </a:xfrm>
          <a:prstGeom prst="arc">
            <a:avLst>
              <a:gd fmla="val 1699046" name="adj1"/>
              <a:gd fmla="val 3514254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705071" y="1218781"/>
            <a:ext cx="1695900" cy="1695900"/>
          </a:xfrm>
          <a:prstGeom prst="arc">
            <a:avLst>
              <a:gd fmla="val 5584371" name="adj1"/>
              <a:gd fmla="val 8245314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688676" y="1494852"/>
            <a:ext cx="1695900" cy="1695900"/>
          </a:xfrm>
          <a:prstGeom prst="arc">
            <a:avLst>
              <a:gd fmla="val 1397666" name="adj1"/>
              <a:gd fmla="val 2887569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050464" y="2204565"/>
            <a:ext cx="1428600" cy="1428300"/>
          </a:xfrm>
          <a:prstGeom prst="arc">
            <a:avLst>
              <a:gd fmla="val 9799574" name="adj1"/>
              <a:gd fmla="val 11964205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536314" y="2717471"/>
            <a:ext cx="1428600" cy="1428300"/>
          </a:xfrm>
          <a:prstGeom prst="arc">
            <a:avLst>
              <a:gd fmla="val 10315249" name="adj1"/>
              <a:gd fmla="val 11389405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821704" y="2717471"/>
            <a:ext cx="1428600" cy="1428300"/>
          </a:xfrm>
          <a:prstGeom prst="arc">
            <a:avLst>
              <a:gd fmla="val 18458854" name="adj1"/>
              <a:gd fmla="val 19384501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" name="Google Shape;231;p21"/>
          <p:cNvCxnSpPr/>
          <p:nvPr/>
        </p:nvCxnSpPr>
        <p:spPr>
          <a:xfrm flipH="1" rot="10800000">
            <a:off x="3334640" y="2400395"/>
            <a:ext cx="189900" cy="69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21"/>
          <p:cNvCxnSpPr/>
          <p:nvPr/>
        </p:nvCxnSpPr>
        <p:spPr>
          <a:xfrm rot="10800000">
            <a:off x="3025895" y="1886059"/>
            <a:ext cx="495000" cy="52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21"/>
          <p:cNvCxnSpPr/>
          <p:nvPr/>
        </p:nvCxnSpPr>
        <p:spPr>
          <a:xfrm rot="10800000">
            <a:off x="4532692" y="2342909"/>
            <a:ext cx="689700" cy="50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21"/>
          <p:cNvCxnSpPr/>
          <p:nvPr/>
        </p:nvCxnSpPr>
        <p:spPr>
          <a:xfrm flipH="1" rot="10800000">
            <a:off x="5220629" y="2070171"/>
            <a:ext cx="335700" cy="77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21"/>
          <p:cNvCxnSpPr/>
          <p:nvPr/>
        </p:nvCxnSpPr>
        <p:spPr>
          <a:xfrm flipH="1" rot="10800000">
            <a:off x="5536311" y="2934183"/>
            <a:ext cx="512700" cy="50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21"/>
          <p:cNvCxnSpPr/>
          <p:nvPr/>
        </p:nvCxnSpPr>
        <p:spPr>
          <a:xfrm flipH="1">
            <a:off x="6055983" y="2921372"/>
            <a:ext cx="712500" cy="2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21"/>
          <p:cNvSpPr txBox="1"/>
          <p:nvPr/>
        </p:nvSpPr>
        <p:spPr>
          <a:xfrm>
            <a:off x="466875" y="4565675"/>
            <a:ext cx="661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constructions show partially drawn angle bisectors.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a) Using a protractor, measure the acute or obtuse angle.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b) Complete each construction.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c) Using a protractor, measure the bisected angle and chec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is half the original angle.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550190" y="5553538"/>
            <a:ext cx="6301988" cy="20096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09600" y="7253183"/>
            <a:ext cx="1109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A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485172" y="6666269"/>
            <a:ext cx="1514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B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008027" y="7048331"/>
            <a:ext cx="1514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C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428995" y="5459559"/>
            <a:ext cx="15987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bisector D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95316" y="5640271"/>
            <a:ext cx="1514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117° and 58.5°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2522905" y="6875210"/>
            <a:ext cx="1514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115° and 57.5°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444225" y="6593873"/>
            <a:ext cx="10320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66° and 33°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723730" y="5837079"/>
            <a:ext cx="9813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83° and 41.5°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/>
          <p:nvPr/>
        </p:nvSpPr>
        <p:spPr>
          <a:xfrm rot="-2570975">
            <a:off x="3316677" y="5592634"/>
            <a:ext cx="1288973" cy="1288973"/>
          </a:xfrm>
          <a:prstGeom prst="arc">
            <a:avLst>
              <a:gd fmla="val 11408611" name="adj1"/>
              <a:gd fmla="val 14044295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" name="Google Shape;248;p21"/>
          <p:cNvCxnSpPr/>
          <p:nvPr/>
        </p:nvCxnSpPr>
        <p:spPr>
          <a:xfrm flipH="1" rot="10800000">
            <a:off x="3339946" y="5731690"/>
            <a:ext cx="216000" cy="65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21"/>
          <p:cNvCxnSpPr/>
          <p:nvPr/>
        </p:nvCxnSpPr>
        <p:spPr>
          <a:xfrm flipH="1" rot="10800000">
            <a:off x="4546807" y="5912214"/>
            <a:ext cx="982500" cy="42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21"/>
          <p:cNvSpPr/>
          <p:nvPr/>
        </p:nvSpPr>
        <p:spPr>
          <a:xfrm rot="-2570678">
            <a:off x="5800205" y="5728805"/>
            <a:ext cx="1443944" cy="1443944"/>
          </a:xfrm>
          <a:prstGeom prst="arc">
            <a:avLst>
              <a:gd fmla="val 12002059" name="adj1"/>
              <a:gd fmla="val 14105773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rot="-2570973">
            <a:off x="5122972" y="6465561"/>
            <a:ext cx="1594234" cy="1594234"/>
          </a:xfrm>
          <a:prstGeom prst="arc">
            <a:avLst>
              <a:gd fmla="val 17095360" name="adj1"/>
              <a:gd fmla="val 19885721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>
            <a:off x="5803106" y="6454695"/>
            <a:ext cx="815400" cy="72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3" name="Google Shape;2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1035" y="7922694"/>
            <a:ext cx="4980651" cy="178372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1374188" y="7982992"/>
            <a:ext cx="35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2480490" y="7982992"/>
            <a:ext cx="35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823745" y="7982992"/>
            <a:ext cx="35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76400" y="7470800"/>
            <a:ext cx="605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Bisect each of the given angles, and measure the size of the bisected angle.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875444" y="9144618"/>
            <a:ext cx="1351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36°.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556898" y="9024980"/>
            <a:ext cx="131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54°.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427651" y="7780887"/>
            <a:ext cx="131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37°.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417203" y="7959725"/>
            <a:ext cx="1378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153°.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273366" y="9110325"/>
            <a:ext cx="1378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bisected angle of 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b="0" i="0" lang="en-GB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5°.</a:t>
            </a:r>
            <a:endParaRPr b="0" i="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