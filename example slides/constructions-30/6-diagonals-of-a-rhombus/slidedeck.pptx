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a2d19c06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a2d19c06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a2d19c0606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a2d19c0606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a2d19c0606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a2d19c0606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a5913c007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2a5913c007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2a5f4310c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2a5f4310c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a5f4310cb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2a5f4310cb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2a5f4310cb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2a5f4310cb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2a5f4310cb8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2a5f4310cb8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a5913c007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a5913c007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2a5913c0078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2a5913c007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2a5f4310cb8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2a5f4310cb8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2a2d19c0606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a2d19c0606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2a3801b5e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2a3801b5e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2a65f1bdb0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2a65f1bdb0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2a65f1bdb0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2a65f1bdb0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2a2d19c0606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2a2d19c0606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2a2d19c0606_0_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2a2d19c0606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2a65f1bdb0d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2a65f1bdb0d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2a65f1bdb0d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2a65f1bdb0d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2a65f1bdb0d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2a65f1bdb0d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2a65f1bdb0d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2a65f1bdb0d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2a65f1bdb0d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2a65f1bdb0d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2a65f1bdb0d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1" name="Google Shape;1511;g2a65f1bdb0d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2a65f1bdb0d_0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2a65f1bdb0d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g2a65f1bdb0d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9" name="Google Shape;1539;g2a65f1bdb0d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2a65f1bdb0d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2a65f1bdb0d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g2a65f1bdb0d_0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5" name="Google Shape;1585;g2a65f1bdb0d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2a65f1bdb0d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2a65f1bdb0d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2a65f1bdb0d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2a65f1bdb0d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g2a65f1bdb0d_0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1" name="Google Shape;1651;g2a65f1bdb0d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g2a65f1bdb0d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2" name="Google Shape;1662;g2a65f1bdb0d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g2a65f1bdb0d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6" name="Google Shape;1696;g2a65f1bdb0d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2a65f1bdb0d_0_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9" name="Google Shape;1729;g2a65f1bdb0d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g2a65f1bdb0d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5" name="Google Shape;1765;g2a65f1bdb0d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2a65f1bdb0d_0_1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4" name="Google Shape;1804;g2a65f1bdb0d_0_1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g2a65f1bdb0d_0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2" name="Google Shape;1822;g2a65f1bdb0d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g2a65f1bdb0d_0_1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2" name="Google Shape;1832;g2a65f1bdb0d_0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2a65f1bdb0d_0_1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2" name="Google Shape;1842;g2a65f1bdb0d_0_1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g2a65f1bdb0d_0_1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2" name="Google Shape;1852;g2a65f1bdb0d_0_1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g2a2d19c0606_0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5" name="Google Shape;1865;g2a2d19c0606_0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2a3801b5e3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0" name="Google Shape;1890;g2a3801b5e3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g2a3801b5e3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6" name="Google Shape;1896;g2a3801b5e3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g2a65f1bdb0d_0_1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5" name="Google Shape;1905;g2a65f1bdb0d_0_1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g2a65f1bdb0d_0_1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0" name="Google Shape;1930;g2a65f1bdb0d_0_1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g2a65f1bdb0d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0" name="Google Shape;1940;g2a65f1bdb0d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0" name="Google Shape;196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7" name="Google Shape;196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1.png"/><Relationship Id="rId4" Type="http://schemas.openxmlformats.org/officeDocument/2006/relationships/image" Target="../media/image78.png"/><Relationship Id="rId5" Type="http://schemas.openxmlformats.org/officeDocument/2006/relationships/image" Target="../media/image25.png"/><Relationship Id="rId6" Type="http://schemas.openxmlformats.org/officeDocument/2006/relationships/image" Target="../media/image39.png"/><Relationship Id="rId7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78.png"/><Relationship Id="rId4" Type="http://schemas.openxmlformats.org/officeDocument/2006/relationships/image" Target="../media/image18.png"/><Relationship Id="rId9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31.png"/><Relationship Id="rId7" Type="http://schemas.openxmlformats.org/officeDocument/2006/relationships/image" Target="../media/image25.png"/><Relationship Id="rId8" Type="http://schemas.openxmlformats.org/officeDocument/2006/relationships/image" Target="../media/image3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78.png"/><Relationship Id="rId4" Type="http://schemas.openxmlformats.org/officeDocument/2006/relationships/image" Target="../media/image32.png"/><Relationship Id="rId11" Type="http://schemas.openxmlformats.org/officeDocument/2006/relationships/image" Target="../media/image14.png"/><Relationship Id="rId10" Type="http://schemas.openxmlformats.org/officeDocument/2006/relationships/image" Target="../media/image40.png"/><Relationship Id="rId9" Type="http://schemas.openxmlformats.org/officeDocument/2006/relationships/image" Target="../media/image39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31.png"/><Relationship Id="rId8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0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50" name="Google Shape;750;p62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1" name="Google Shape;751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1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3.png"/><Relationship Id="rId4" Type="http://schemas.openxmlformats.org/officeDocument/2006/relationships/image" Target="../media/image52.png"/><Relationship Id="rId5" Type="http://schemas.openxmlformats.org/officeDocument/2006/relationships/image" Target="../media/image5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Relationship Id="rId4" Type="http://schemas.openxmlformats.org/officeDocument/2006/relationships/image" Target="../media/image6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2.png"/><Relationship Id="rId4" Type="http://schemas.openxmlformats.org/officeDocument/2006/relationships/image" Target="../media/image64.png"/><Relationship Id="rId5" Type="http://schemas.openxmlformats.org/officeDocument/2006/relationships/image" Target="../media/image6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2.png"/><Relationship Id="rId4" Type="http://schemas.openxmlformats.org/officeDocument/2006/relationships/image" Target="../media/image64.png"/><Relationship Id="rId5" Type="http://schemas.openxmlformats.org/officeDocument/2006/relationships/image" Target="../media/image6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4.png"/><Relationship Id="rId4" Type="http://schemas.openxmlformats.org/officeDocument/2006/relationships/image" Target="../media/image52.png"/><Relationship Id="rId5" Type="http://schemas.openxmlformats.org/officeDocument/2006/relationships/image" Target="../media/image6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4.png"/><Relationship Id="rId4" Type="http://schemas.openxmlformats.org/officeDocument/2006/relationships/image" Target="../media/image52.png"/><Relationship Id="rId5" Type="http://schemas.openxmlformats.org/officeDocument/2006/relationships/image" Target="../media/image6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4.png"/><Relationship Id="rId4" Type="http://schemas.openxmlformats.org/officeDocument/2006/relationships/image" Target="../media/image52.png"/><Relationship Id="rId5" Type="http://schemas.openxmlformats.org/officeDocument/2006/relationships/image" Target="../media/image6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6.png"/><Relationship Id="rId4" Type="http://schemas.openxmlformats.org/officeDocument/2006/relationships/image" Target="../media/image6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4.png"/><Relationship Id="rId4" Type="http://schemas.openxmlformats.org/officeDocument/2006/relationships/image" Target="../media/image60.png"/><Relationship Id="rId5" Type="http://schemas.openxmlformats.org/officeDocument/2006/relationships/image" Target="../media/image6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9.png"/><Relationship Id="rId4" Type="http://schemas.openxmlformats.org/officeDocument/2006/relationships/image" Target="../media/image71.png"/><Relationship Id="rId5" Type="http://schemas.openxmlformats.org/officeDocument/2006/relationships/image" Target="../media/image7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9.png"/><Relationship Id="rId4" Type="http://schemas.openxmlformats.org/officeDocument/2006/relationships/image" Target="../media/image71.png"/><Relationship Id="rId5" Type="http://schemas.openxmlformats.org/officeDocument/2006/relationships/image" Target="../media/image7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2.png"/><Relationship Id="rId4" Type="http://schemas.openxmlformats.org/officeDocument/2006/relationships/image" Target="../media/image5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6.png"/><Relationship Id="rId4" Type="http://schemas.openxmlformats.org/officeDocument/2006/relationships/image" Target="../media/image7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0.png"/><Relationship Id="rId4" Type="http://schemas.openxmlformats.org/officeDocument/2006/relationships/image" Target="../media/image7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8.png"/><Relationship Id="rId4" Type="http://schemas.openxmlformats.org/officeDocument/2006/relationships/image" Target="../media/image8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8.png"/><Relationship Id="rId4" Type="http://schemas.openxmlformats.org/officeDocument/2006/relationships/image" Target="../media/image8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Diagonals of a rhombus</a:t>
            </a:r>
            <a:endParaRPr/>
          </a:p>
        </p:txBody>
      </p:sp>
      <p:sp>
        <p:nvSpPr>
          <p:cNvPr id="757" name="Google Shape;757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that the diagonals of a rhombus bisect one another at right angles and the angles are bisected.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6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rhombus is a parallelogram where all sides are the same length.  </a:t>
            </a:r>
            <a:endParaRPr sz="1800"/>
          </a:p>
        </p:txBody>
      </p:sp>
      <p:sp>
        <p:nvSpPr>
          <p:cNvPr id="773" name="Google Shape;773;p66"/>
          <p:cNvSpPr txBox="1"/>
          <p:nvPr>
            <p:ph idx="2" type="subTitle"/>
          </p:nvPr>
        </p:nvSpPr>
        <p:spPr>
          <a:xfrm>
            <a:off x="324000" y="14364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diagonal of a shape is a line segment between two non-adjacent vertices. </a:t>
            </a:r>
            <a:endParaRPr sz="1800"/>
          </a:p>
        </p:txBody>
      </p:sp>
      <p:sp>
        <p:nvSpPr>
          <p:cNvPr id="774" name="Google Shape;774;p66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one shape can fit exactly on top of another using rotation, reflection or translation, then the shapes are congruent. </a:t>
            </a:r>
            <a:endParaRPr sz="1800"/>
          </a:p>
        </p:txBody>
      </p:sp>
      <p:sp>
        <p:nvSpPr>
          <p:cNvPr id="775" name="Google Shape;775;p66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line segment is a part of a line with a fixed start point and a distinct fixed end point. </a:t>
            </a:r>
            <a:endParaRPr sz="1800"/>
          </a:p>
        </p:txBody>
      </p:sp>
      <p:sp>
        <p:nvSpPr>
          <p:cNvPr id="776" name="Google Shape;776;p66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line is a straight 1D figure that does not have a thickness, and it extends forever in both directions.  </a:t>
            </a:r>
            <a:endParaRPr sz="1800"/>
          </a:p>
        </p:txBody>
      </p:sp>
      <p:pic>
        <p:nvPicPr>
          <p:cNvPr id="777" name="Google Shape;77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800" y="3514100"/>
            <a:ext cx="1045081" cy="58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8400" y="744050"/>
            <a:ext cx="583605" cy="43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9750" y="4320000"/>
            <a:ext cx="955276" cy="52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onals " id="780" name="Google Shape;780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79475" y="1727213"/>
            <a:ext cx="1045076" cy="560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7"/>
          <p:cNvSpPr txBox="1"/>
          <p:nvPr>
            <p:ph idx="1" type="subTitle"/>
          </p:nvPr>
        </p:nvSpPr>
        <p:spPr>
          <a:xfrm>
            <a:off x="324000" y="8964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To </a:t>
            </a:r>
            <a:r>
              <a:rPr b="1" lang="en-GB" sz="1800"/>
              <a:t>bisect</a:t>
            </a:r>
            <a:r>
              <a:rPr lang="en-GB" sz="1800"/>
              <a:t> means to cut or divide an object into two equal parts. </a:t>
            </a:r>
            <a:endParaRPr sz="1800"/>
          </a:p>
        </p:txBody>
      </p:sp>
      <p:sp>
        <p:nvSpPr>
          <p:cNvPr id="786" name="Google Shape;786;p67"/>
          <p:cNvSpPr txBox="1"/>
          <p:nvPr>
            <p:ph idx="1" type="subTitle"/>
          </p:nvPr>
        </p:nvSpPr>
        <p:spPr>
          <a:xfrm>
            <a:off x="324000" y="14787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The </a:t>
            </a:r>
            <a:r>
              <a:rPr b="1" lang="en-GB" sz="1800">
                <a:solidFill>
                  <a:schemeClr val="dk1"/>
                </a:solidFill>
              </a:rPr>
              <a:t>altitude</a:t>
            </a:r>
            <a:r>
              <a:rPr lang="en-GB" sz="1800">
                <a:solidFill>
                  <a:schemeClr val="dk1"/>
                </a:solidFill>
              </a:rPr>
              <a:t> of a triangle is a line segment from a vertex of a triangle to the opposite edge. It is perpendicular to that edge.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Isosceles triangles</a:t>
            </a:r>
            <a:endParaRPr/>
          </a:p>
        </p:txBody>
      </p:sp>
      <p:sp>
        <p:nvSpPr>
          <p:cNvPr id="792" name="Google Shape;792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sp>
        <p:nvSpPr>
          <p:cNvPr id="793" name="Google Shape;793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Diagonals of a rhombus</a:t>
            </a:r>
            <a:endParaRPr/>
          </a:p>
        </p:txBody>
      </p:sp>
      <p:pic>
        <p:nvPicPr>
          <p:cNvPr id="794" name="Google Shape;79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15" y="206168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69"/>
          <p:cNvSpPr/>
          <p:nvPr/>
        </p:nvSpPr>
        <p:spPr>
          <a:xfrm>
            <a:off x="4076292" y="4329325"/>
            <a:ext cx="138300" cy="138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>
            <p:ph idx="1" type="body"/>
          </p:nvPr>
        </p:nvSpPr>
        <p:spPr>
          <a:xfrm>
            <a:off x="324000" y="759300"/>
            <a:ext cx="8237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Isosceles triangles have some important features: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01" name="Google Shape;80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Isosceles triangles</a:t>
            </a:r>
            <a:endParaRPr/>
          </a:p>
        </p:txBody>
      </p:sp>
      <p:sp>
        <p:nvSpPr>
          <p:cNvPr id="802" name="Google Shape;802;p69"/>
          <p:cNvSpPr/>
          <p:nvPr/>
        </p:nvSpPr>
        <p:spPr>
          <a:xfrm rot="-3250761">
            <a:off x="3977612" y="894263"/>
            <a:ext cx="1320461" cy="2175066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69"/>
          <p:cNvSpPr/>
          <p:nvPr/>
        </p:nvSpPr>
        <p:spPr>
          <a:xfrm>
            <a:off x="4827635" y="2843924"/>
            <a:ext cx="613500" cy="613500"/>
          </a:xfrm>
          <a:prstGeom prst="pie">
            <a:avLst>
              <a:gd fmla="val 13937662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69"/>
          <p:cNvSpPr/>
          <p:nvPr/>
        </p:nvSpPr>
        <p:spPr>
          <a:xfrm rot="-6409846">
            <a:off x="5590324" y="1775968"/>
            <a:ext cx="613374" cy="613374"/>
          </a:xfrm>
          <a:prstGeom prst="pie">
            <a:avLst>
              <a:gd fmla="val 13937662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5" name="Google Shape;805;p69"/>
          <p:cNvCxnSpPr/>
          <p:nvPr/>
        </p:nvCxnSpPr>
        <p:spPr>
          <a:xfrm flipH="1" rot="10800000">
            <a:off x="4320000" y="2118900"/>
            <a:ext cx="173700" cy="14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69"/>
          <p:cNvCxnSpPr/>
          <p:nvPr/>
        </p:nvCxnSpPr>
        <p:spPr>
          <a:xfrm flipH="1">
            <a:off x="4728175" y="1579575"/>
            <a:ext cx="65400" cy="19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7" name="Google Shape;807;p69"/>
          <p:cNvSpPr txBox="1"/>
          <p:nvPr/>
        </p:nvSpPr>
        <p:spPr>
          <a:xfrm>
            <a:off x="304800" y="1143000"/>
            <a:ext cx="300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14300" lvl="0" marL="19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 equal angles</a:t>
            </a:r>
            <a:endParaRPr sz="1800"/>
          </a:p>
        </p:txBody>
      </p:sp>
      <p:sp>
        <p:nvSpPr>
          <p:cNvPr id="808" name="Google Shape;808;p69"/>
          <p:cNvSpPr txBox="1"/>
          <p:nvPr/>
        </p:nvSpPr>
        <p:spPr>
          <a:xfrm>
            <a:off x="301533" y="1485075"/>
            <a:ext cx="300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14300" lvl="0" marL="19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 equal edges</a:t>
            </a:r>
            <a:endParaRPr sz="1800"/>
          </a:p>
        </p:txBody>
      </p:sp>
      <p:cxnSp>
        <p:nvCxnSpPr>
          <p:cNvPr id="809" name="Google Shape;809;p69"/>
          <p:cNvCxnSpPr>
            <a:stCxn id="802" idx="0"/>
            <a:endCxn id="802" idx="3"/>
          </p:cNvCxnSpPr>
          <p:nvPr/>
        </p:nvCxnSpPr>
        <p:spPr>
          <a:xfrm>
            <a:off x="3755993" y="1345346"/>
            <a:ext cx="1763700" cy="127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10" name="Google Shape;810;p69"/>
          <p:cNvSpPr txBox="1"/>
          <p:nvPr/>
        </p:nvSpPr>
        <p:spPr>
          <a:xfrm>
            <a:off x="301533" y="1808601"/>
            <a:ext cx="300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14300" lvl="0" marL="19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 line of symmetry</a:t>
            </a:r>
            <a:endParaRPr sz="1800"/>
          </a:p>
        </p:txBody>
      </p:sp>
      <p:sp>
        <p:nvSpPr>
          <p:cNvPr id="811" name="Google Shape;811;p69"/>
          <p:cNvSpPr/>
          <p:nvPr/>
        </p:nvSpPr>
        <p:spPr>
          <a:xfrm rot="10800000">
            <a:off x="491600" y="2633850"/>
            <a:ext cx="3714300" cy="6135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69"/>
          <p:cNvSpPr/>
          <p:nvPr/>
        </p:nvSpPr>
        <p:spPr>
          <a:xfrm>
            <a:off x="184235" y="2326381"/>
            <a:ext cx="613500" cy="613500"/>
          </a:xfrm>
          <a:prstGeom prst="pie">
            <a:avLst>
              <a:gd fmla="val 14889" name="adj1"/>
              <a:gd fmla="val 1058983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9"/>
          <p:cNvSpPr/>
          <p:nvPr/>
        </p:nvSpPr>
        <p:spPr>
          <a:xfrm flipH="1">
            <a:off x="3909985" y="2326381"/>
            <a:ext cx="613500" cy="613500"/>
          </a:xfrm>
          <a:prstGeom prst="pie">
            <a:avLst>
              <a:gd fmla="val 14889" name="adj1"/>
              <a:gd fmla="val 1058983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4" name="Google Shape;814;p69"/>
          <p:cNvCxnSpPr/>
          <p:nvPr/>
        </p:nvCxnSpPr>
        <p:spPr>
          <a:xfrm flipH="1" rot="10800000">
            <a:off x="1524000" y="2909700"/>
            <a:ext cx="51900" cy="13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5" name="Google Shape;815;p69"/>
          <p:cNvCxnSpPr/>
          <p:nvPr/>
        </p:nvCxnSpPr>
        <p:spPr>
          <a:xfrm>
            <a:off x="3056086" y="2939884"/>
            <a:ext cx="51900" cy="13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6" name="Google Shape;816;p69"/>
          <p:cNvCxnSpPr>
            <a:stCxn id="811" idx="3"/>
            <a:endCxn id="811" idx="0"/>
          </p:cNvCxnSpPr>
          <p:nvPr/>
        </p:nvCxnSpPr>
        <p:spPr>
          <a:xfrm>
            <a:off x="2348750" y="2633850"/>
            <a:ext cx="0" cy="61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17" name="Google Shape;817;p69"/>
          <p:cNvSpPr/>
          <p:nvPr/>
        </p:nvSpPr>
        <p:spPr>
          <a:xfrm>
            <a:off x="6926950" y="1062150"/>
            <a:ext cx="764700" cy="30192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8" name="Google Shape;818;p69"/>
          <p:cNvCxnSpPr>
            <a:endCxn id="817" idx="3"/>
          </p:cNvCxnSpPr>
          <p:nvPr/>
        </p:nvCxnSpPr>
        <p:spPr>
          <a:xfrm>
            <a:off x="7309300" y="1079850"/>
            <a:ext cx="0" cy="300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69"/>
          <p:cNvCxnSpPr/>
          <p:nvPr/>
        </p:nvCxnSpPr>
        <p:spPr>
          <a:xfrm>
            <a:off x="7018600" y="2685200"/>
            <a:ext cx="167400" cy="1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69"/>
          <p:cNvCxnSpPr/>
          <p:nvPr/>
        </p:nvCxnSpPr>
        <p:spPr>
          <a:xfrm flipH="1">
            <a:off x="7432600" y="2685200"/>
            <a:ext cx="167400" cy="1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1" name="Google Shape;821;p69"/>
          <p:cNvSpPr/>
          <p:nvPr/>
        </p:nvSpPr>
        <p:spPr>
          <a:xfrm rot="-3144757">
            <a:off x="7384373" y="3771840"/>
            <a:ext cx="613308" cy="613308"/>
          </a:xfrm>
          <a:prstGeom prst="pie">
            <a:avLst>
              <a:gd fmla="val 13937662" name="adj1"/>
              <a:gd fmla="val 1891219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69"/>
          <p:cNvSpPr/>
          <p:nvPr/>
        </p:nvSpPr>
        <p:spPr>
          <a:xfrm rot="2700000">
            <a:off x="6623209" y="3771752"/>
            <a:ext cx="613486" cy="613486"/>
          </a:xfrm>
          <a:prstGeom prst="pie">
            <a:avLst>
              <a:gd fmla="val 13937662" name="adj1"/>
              <a:gd fmla="val 1891219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69"/>
          <p:cNvSpPr/>
          <p:nvPr/>
        </p:nvSpPr>
        <p:spPr>
          <a:xfrm>
            <a:off x="4076300" y="3262950"/>
            <a:ext cx="1205100" cy="12051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69"/>
          <p:cNvSpPr/>
          <p:nvPr/>
        </p:nvSpPr>
        <p:spPr>
          <a:xfrm rot="8639594">
            <a:off x="3769485" y="2953815"/>
            <a:ext cx="613390" cy="613390"/>
          </a:xfrm>
          <a:prstGeom prst="pie">
            <a:avLst>
              <a:gd fmla="val 15659210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69"/>
          <p:cNvSpPr/>
          <p:nvPr/>
        </p:nvSpPr>
        <p:spPr>
          <a:xfrm rot="-4832537">
            <a:off x="4975072" y="4160725"/>
            <a:ext cx="613438" cy="613438"/>
          </a:xfrm>
          <a:prstGeom prst="pie">
            <a:avLst>
              <a:gd fmla="val 15659210" name="adj1"/>
              <a:gd fmla="val 18310717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26" name="Google Shape;826;p69"/>
          <p:cNvCxnSpPr>
            <a:stCxn id="823" idx="2"/>
            <a:endCxn id="823" idx="5"/>
          </p:cNvCxnSpPr>
          <p:nvPr/>
        </p:nvCxnSpPr>
        <p:spPr>
          <a:xfrm flipH="1" rot="10800000">
            <a:off x="4076300" y="3865650"/>
            <a:ext cx="602700" cy="60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27" name="Google Shape;827;p69"/>
          <p:cNvCxnSpPr/>
          <p:nvPr/>
        </p:nvCxnSpPr>
        <p:spPr>
          <a:xfrm>
            <a:off x="4625612" y="4400029"/>
            <a:ext cx="0" cy="13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69"/>
          <p:cNvCxnSpPr/>
          <p:nvPr/>
        </p:nvCxnSpPr>
        <p:spPr>
          <a:xfrm>
            <a:off x="4076187" y="3868754"/>
            <a:ext cx="0" cy="13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0"/>
          <p:cNvSpPr/>
          <p:nvPr/>
        </p:nvSpPr>
        <p:spPr>
          <a:xfrm rot="-6419521">
            <a:off x="3457894" y="1776457"/>
            <a:ext cx="764786" cy="764786"/>
          </a:xfrm>
          <a:prstGeom prst="pie">
            <a:avLst>
              <a:gd fmla="val 13937662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0"/>
          <p:cNvSpPr txBox="1"/>
          <p:nvPr>
            <p:ph idx="1" type="body"/>
          </p:nvPr>
        </p:nvSpPr>
        <p:spPr>
          <a:xfrm>
            <a:off x="324000" y="759300"/>
            <a:ext cx="82377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 this isosceles triangle ABC, ∠ABC = 76°</a:t>
            </a:r>
            <a:endParaRPr sz="1800"/>
          </a:p>
        </p:txBody>
      </p:sp>
      <p:sp>
        <p:nvSpPr>
          <p:cNvPr id="835" name="Google Shape;83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Isosceles triangles</a:t>
            </a:r>
            <a:endParaRPr/>
          </a:p>
        </p:txBody>
      </p:sp>
      <p:sp>
        <p:nvSpPr>
          <p:cNvPr id="836" name="Google Shape;836;p70"/>
          <p:cNvSpPr/>
          <p:nvPr/>
        </p:nvSpPr>
        <p:spPr>
          <a:xfrm rot="-3250761">
            <a:off x="1920212" y="970463"/>
            <a:ext cx="1320461" cy="2175066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0"/>
          <p:cNvSpPr/>
          <p:nvPr/>
        </p:nvSpPr>
        <p:spPr>
          <a:xfrm>
            <a:off x="2770235" y="2920124"/>
            <a:ext cx="613500" cy="613500"/>
          </a:xfrm>
          <a:prstGeom prst="pie">
            <a:avLst>
              <a:gd fmla="val 13937662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0"/>
          <p:cNvSpPr/>
          <p:nvPr/>
        </p:nvSpPr>
        <p:spPr>
          <a:xfrm rot="-6409846">
            <a:off x="3532924" y="1852168"/>
            <a:ext cx="613374" cy="613374"/>
          </a:xfrm>
          <a:prstGeom prst="pie">
            <a:avLst>
              <a:gd fmla="val 13937662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9" name="Google Shape;839;p70"/>
          <p:cNvCxnSpPr/>
          <p:nvPr/>
        </p:nvCxnSpPr>
        <p:spPr>
          <a:xfrm flipH="1" rot="10800000">
            <a:off x="2262600" y="2195100"/>
            <a:ext cx="173700" cy="14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70"/>
          <p:cNvCxnSpPr/>
          <p:nvPr/>
        </p:nvCxnSpPr>
        <p:spPr>
          <a:xfrm flipH="1">
            <a:off x="2670775" y="1655775"/>
            <a:ext cx="65400" cy="19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1" name="Google Shape;841;p70"/>
          <p:cNvSpPr txBox="1"/>
          <p:nvPr>
            <p:ph idx="1" type="body"/>
          </p:nvPr>
        </p:nvSpPr>
        <p:spPr>
          <a:xfrm>
            <a:off x="1506068" y="1172906"/>
            <a:ext cx="2103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842" name="Google Shape;842;p70"/>
          <p:cNvSpPr txBox="1"/>
          <p:nvPr>
            <p:ph idx="1" type="body"/>
          </p:nvPr>
        </p:nvSpPr>
        <p:spPr>
          <a:xfrm>
            <a:off x="2953868" y="3230306"/>
            <a:ext cx="2103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843" name="Google Shape;843;p70"/>
          <p:cNvSpPr txBox="1"/>
          <p:nvPr>
            <p:ph idx="1" type="body"/>
          </p:nvPr>
        </p:nvSpPr>
        <p:spPr>
          <a:xfrm>
            <a:off x="3868268" y="1934906"/>
            <a:ext cx="2103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pic>
        <p:nvPicPr>
          <p:cNvPr id="844" name="Google Shape;84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893257" y="1533200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70"/>
          <p:cNvSpPr txBox="1"/>
          <p:nvPr/>
        </p:nvSpPr>
        <p:spPr>
          <a:xfrm>
            <a:off x="7803575" y="24917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6" name="Google Shape;846;p70"/>
          <p:cNvPicPr preferRelativeResize="0"/>
          <p:nvPr/>
        </p:nvPicPr>
        <p:blipFill rotWithShape="1">
          <a:blip r:embed="rId4">
            <a:alphaModFix/>
          </a:blip>
          <a:srcRect b="0" l="0" r="70143" t="56280"/>
          <a:stretch/>
        </p:blipFill>
        <p:spPr>
          <a:xfrm>
            <a:off x="5774400" y="759300"/>
            <a:ext cx="1966449" cy="1016574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70"/>
          <p:cNvSpPr txBox="1"/>
          <p:nvPr>
            <p:ph idx="1" type="body"/>
          </p:nvPr>
        </p:nvSpPr>
        <p:spPr>
          <a:xfrm>
            <a:off x="5871750" y="931352"/>
            <a:ext cx="1763700" cy="7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means that </a:t>
            </a:r>
            <a:r>
              <a:rPr lang="en-GB" sz="1800"/>
              <a:t>∠BCA = 76° too.</a:t>
            </a:r>
            <a:r>
              <a:rPr lang="en-GB" sz="1800"/>
              <a:t> </a:t>
            </a:r>
            <a:endParaRPr sz="1800"/>
          </a:p>
        </p:txBody>
      </p:sp>
      <p:grpSp>
        <p:nvGrpSpPr>
          <p:cNvPr id="848" name="Google Shape;848;p70"/>
          <p:cNvGrpSpPr/>
          <p:nvPr/>
        </p:nvGrpSpPr>
        <p:grpSpPr>
          <a:xfrm>
            <a:off x="5244136" y="2408900"/>
            <a:ext cx="1955251" cy="1316250"/>
            <a:chOff x="1902373" y="1608375"/>
            <a:chExt cx="1955251" cy="1316250"/>
          </a:xfrm>
        </p:grpSpPr>
        <p:pic>
          <p:nvPicPr>
            <p:cNvPr id="849" name="Google Shape;849;p70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902373" y="16083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0" name="Google Shape;850;p70"/>
            <p:cNvSpPr txBox="1"/>
            <p:nvPr/>
          </p:nvSpPr>
          <p:spPr>
            <a:xfrm flipH="1">
              <a:off x="2095913" y="1819577"/>
              <a:ext cx="1603800" cy="85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Then we can calculate that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∠BAC = 28°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51" name="Google Shape;851;p70"/>
          <p:cNvSpPr txBox="1"/>
          <p:nvPr/>
        </p:nvSpPr>
        <p:spPr>
          <a:xfrm>
            <a:off x="2081025" y="1655850"/>
            <a:ext cx="46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28°</a:t>
            </a:r>
            <a:endParaRPr/>
          </a:p>
        </p:txBody>
      </p:sp>
      <p:sp>
        <p:nvSpPr>
          <p:cNvPr id="852" name="Google Shape;852;p70"/>
          <p:cNvSpPr txBox="1"/>
          <p:nvPr/>
        </p:nvSpPr>
        <p:spPr>
          <a:xfrm>
            <a:off x="3059700" y="2036350"/>
            <a:ext cx="46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/>
          </a:p>
        </p:txBody>
      </p:sp>
      <p:sp>
        <p:nvSpPr>
          <p:cNvPr id="853" name="Google Shape;853;p70"/>
          <p:cNvSpPr txBox="1"/>
          <p:nvPr/>
        </p:nvSpPr>
        <p:spPr>
          <a:xfrm>
            <a:off x="2827569" y="2561400"/>
            <a:ext cx="46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/>
          </a:p>
        </p:txBody>
      </p:sp>
      <p:sp>
        <p:nvSpPr>
          <p:cNvPr id="854" name="Google Shape;854;p70"/>
          <p:cNvSpPr/>
          <p:nvPr/>
        </p:nvSpPr>
        <p:spPr>
          <a:xfrm>
            <a:off x="2694023" y="2845125"/>
            <a:ext cx="764700" cy="764700"/>
          </a:xfrm>
          <a:prstGeom prst="pie">
            <a:avLst>
              <a:gd fmla="val 13937662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0"/>
          <p:cNvSpPr/>
          <p:nvPr/>
        </p:nvSpPr>
        <p:spPr>
          <a:xfrm rot="7419072">
            <a:off x="1394981" y="1114942"/>
            <a:ext cx="613388" cy="613388"/>
          </a:xfrm>
          <a:prstGeom prst="pie">
            <a:avLst>
              <a:gd fmla="val 15320647" name="adj1"/>
              <a:gd fmla="val 1738089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6" name="Google Shape;856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9475" y="344334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70"/>
          <p:cNvSpPr txBox="1"/>
          <p:nvPr/>
        </p:nvSpPr>
        <p:spPr>
          <a:xfrm>
            <a:off x="4416150" y="440484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71"/>
          <p:cNvSpPr txBox="1"/>
          <p:nvPr>
            <p:ph idx="1" type="body"/>
          </p:nvPr>
        </p:nvSpPr>
        <p:spPr>
          <a:xfrm>
            <a:off x="5046175" y="893325"/>
            <a:ext cx="2811000" cy="13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symmetry of the triangle </a:t>
            </a:r>
            <a:r>
              <a:rPr lang="en-GB" sz="1800"/>
              <a:t>means that half of ∠BAC is either side of the line. The angle is </a:t>
            </a:r>
            <a:r>
              <a:rPr b="1" lang="en-GB" sz="1800"/>
              <a:t>bisected.</a:t>
            </a:r>
            <a:endParaRPr sz="1800"/>
          </a:p>
        </p:txBody>
      </p:sp>
      <p:pic>
        <p:nvPicPr>
          <p:cNvPr id="863" name="Google Shape;863;p7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5371152" y="2776200"/>
            <a:ext cx="2293499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71"/>
          <p:cNvSpPr/>
          <p:nvPr/>
        </p:nvSpPr>
        <p:spPr>
          <a:xfrm rot="-6419521">
            <a:off x="3457894" y="1776457"/>
            <a:ext cx="764786" cy="764786"/>
          </a:xfrm>
          <a:prstGeom prst="pie">
            <a:avLst>
              <a:gd fmla="val 13937662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1"/>
          <p:cNvSpPr txBox="1"/>
          <p:nvPr>
            <p:ph idx="1" type="body"/>
          </p:nvPr>
        </p:nvSpPr>
        <p:spPr>
          <a:xfrm>
            <a:off x="324000" y="759300"/>
            <a:ext cx="82377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 this isosceles triangle ABC, ∠ABC = 76°</a:t>
            </a:r>
            <a:endParaRPr sz="1800"/>
          </a:p>
        </p:txBody>
      </p:sp>
      <p:sp>
        <p:nvSpPr>
          <p:cNvPr id="866" name="Google Shape;86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Isosceles triangles</a:t>
            </a:r>
            <a:endParaRPr/>
          </a:p>
        </p:txBody>
      </p:sp>
      <p:sp>
        <p:nvSpPr>
          <p:cNvPr id="867" name="Google Shape;867;p71"/>
          <p:cNvSpPr/>
          <p:nvPr/>
        </p:nvSpPr>
        <p:spPr>
          <a:xfrm rot="-3250761">
            <a:off x="1920212" y="970463"/>
            <a:ext cx="1320461" cy="2175066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1"/>
          <p:cNvSpPr/>
          <p:nvPr/>
        </p:nvSpPr>
        <p:spPr>
          <a:xfrm>
            <a:off x="2770235" y="2920124"/>
            <a:ext cx="613500" cy="613500"/>
          </a:xfrm>
          <a:prstGeom prst="pie">
            <a:avLst>
              <a:gd fmla="val 13937662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1"/>
          <p:cNvSpPr/>
          <p:nvPr/>
        </p:nvSpPr>
        <p:spPr>
          <a:xfrm rot="-6409846">
            <a:off x="3532924" y="1852168"/>
            <a:ext cx="613374" cy="613374"/>
          </a:xfrm>
          <a:prstGeom prst="pie">
            <a:avLst>
              <a:gd fmla="val 13937662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0" name="Google Shape;870;p71"/>
          <p:cNvCxnSpPr/>
          <p:nvPr/>
        </p:nvCxnSpPr>
        <p:spPr>
          <a:xfrm flipH="1" rot="10800000">
            <a:off x="2262600" y="2195100"/>
            <a:ext cx="173700" cy="14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71"/>
          <p:cNvCxnSpPr/>
          <p:nvPr/>
        </p:nvCxnSpPr>
        <p:spPr>
          <a:xfrm flipH="1">
            <a:off x="2670775" y="1655775"/>
            <a:ext cx="65400" cy="19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2" name="Google Shape;872;p71"/>
          <p:cNvCxnSpPr/>
          <p:nvPr/>
        </p:nvCxnSpPr>
        <p:spPr>
          <a:xfrm>
            <a:off x="1720486" y="1436836"/>
            <a:ext cx="1763700" cy="127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73" name="Google Shape;873;p71"/>
          <p:cNvSpPr txBox="1"/>
          <p:nvPr>
            <p:ph idx="1" type="body"/>
          </p:nvPr>
        </p:nvSpPr>
        <p:spPr>
          <a:xfrm>
            <a:off x="1506068" y="1172906"/>
            <a:ext cx="2103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874" name="Google Shape;874;p71"/>
          <p:cNvSpPr txBox="1"/>
          <p:nvPr>
            <p:ph idx="1" type="body"/>
          </p:nvPr>
        </p:nvSpPr>
        <p:spPr>
          <a:xfrm>
            <a:off x="2953868" y="3230306"/>
            <a:ext cx="2103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875" name="Google Shape;875;p71"/>
          <p:cNvSpPr txBox="1"/>
          <p:nvPr>
            <p:ph idx="1" type="body"/>
          </p:nvPr>
        </p:nvSpPr>
        <p:spPr>
          <a:xfrm>
            <a:off x="3868268" y="1934906"/>
            <a:ext cx="2103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pic>
        <p:nvPicPr>
          <p:cNvPr id="876" name="Google Shape;876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93257" y="1533200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1"/>
          <p:cNvSpPr txBox="1"/>
          <p:nvPr/>
        </p:nvSpPr>
        <p:spPr>
          <a:xfrm>
            <a:off x="7803575" y="24917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1"/>
          <p:cNvSpPr txBox="1"/>
          <p:nvPr/>
        </p:nvSpPr>
        <p:spPr>
          <a:xfrm flipH="1">
            <a:off x="5607250" y="2853000"/>
            <a:ext cx="20574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line of symmetry splits it into two identical triangles.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9" name="Google Shape;879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9475" y="344334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71"/>
          <p:cNvSpPr txBox="1"/>
          <p:nvPr/>
        </p:nvSpPr>
        <p:spPr>
          <a:xfrm>
            <a:off x="2081025" y="1655850"/>
            <a:ext cx="46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28°</a:t>
            </a:r>
            <a:endParaRPr/>
          </a:p>
        </p:txBody>
      </p:sp>
      <p:sp>
        <p:nvSpPr>
          <p:cNvPr id="881" name="Google Shape;881;p71"/>
          <p:cNvSpPr txBox="1"/>
          <p:nvPr/>
        </p:nvSpPr>
        <p:spPr>
          <a:xfrm>
            <a:off x="3059700" y="2036350"/>
            <a:ext cx="46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76°</a:t>
            </a:r>
            <a:endParaRPr/>
          </a:p>
        </p:txBody>
      </p:sp>
      <p:sp>
        <p:nvSpPr>
          <p:cNvPr id="882" name="Google Shape;882;p71"/>
          <p:cNvSpPr txBox="1"/>
          <p:nvPr/>
        </p:nvSpPr>
        <p:spPr>
          <a:xfrm>
            <a:off x="2827569" y="2561400"/>
            <a:ext cx="46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76°</a:t>
            </a:r>
            <a:endParaRPr/>
          </a:p>
        </p:txBody>
      </p:sp>
      <p:sp>
        <p:nvSpPr>
          <p:cNvPr id="883" name="Google Shape;883;p71"/>
          <p:cNvSpPr/>
          <p:nvPr/>
        </p:nvSpPr>
        <p:spPr>
          <a:xfrm>
            <a:off x="2694023" y="2845125"/>
            <a:ext cx="764700" cy="764700"/>
          </a:xfrm>
          <a:prstGeom prst="pie">
            <a:avLst>
              <a:gd fmla="val 13937662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1"/>
          <p:cNvSpPr/>
          <p:nvPr/>
        </p:nvSpPr>
        <p:spPr>
          <a:xfrm rot="7419072">
            <a:off x="1394981" y="1114942"/>
            <a:ext cx="613388" cy="613388"/>
          </a:xfrm>
          <a:prstGeom prst="pie">
            <a:avLst>
              <a:gd fmla="val 15320647" name="adj1"/>
              <a:gd fmla="val 1738089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1"/>
          <p:cNvSpPr txBox="1"/>
          <p:nvPr/>
        </p:nvSpPr>
        <p:spPr>
          <a:xfrm>
            <a:off x="4416150" y="440484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1"/>
          <p:cNvSpPr txBox="1"/>
          <p:nvPr>
            <p:ph idx="1" type="body"/>
          </p:nvPr>
        </p:nvSpPr>
        <p:spPr>
          <a:xfrm>
            <a:off x="3457243" y="2636306"/>
            <a:ext cx="2103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</a:t>
            </a:r>
            <a:endParaRPr sz="1800"/>
          </a:p>
        </p:txBody>
      </p:sp>
      <p:pic>
        <p:nvPicPr>
          <p:cNvPr id="887" name="Google Shape;887;p71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4958624" y="809988"/>
            <a:ext cx="3001375" cy="1976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2" name="Google Shape;892;p7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984225" y="886200"/>
            <a:ext cx="3013176" cy="11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72"/>
          <p:cNvSpPr/>
          <p:nvPr/>
        </p:nvSpPr>
        <p:spPr>
          <a:xfrm rot="-6419521">
            <a:off x="3457894" y="1776457"/>
            <a:ext cx="764786" cy="764786"/>
          </a:xfrm>
          <a:prstGeom prst="pie">
            <a:avLst>
              <a:gd fmla="val 13937662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2"/>
          <p:cNvSpPr txBox="1"/>
          <p:nvPr>
            <p:ph idx="1" type="body"/>
          </p:nvPr>
        </p:nvSpPr>
        <p:spPr>
          <a:xfrm>
            <a:off x="324000" y="759300"/>
            <a:ext cx="82377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 this isosceles triangle ABC, ∠ABC = 76°</a:t>
            </a:r>
            <a:endParaRPr sz="1800"/>
          </a:p>
        </p:txBody>
      </p:sp>
      <p:sp>
        <p:nvSpPr>
          <p:cNvPr id="895" name="Google Shape;895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Isosceles triangles</a:t>
            </a:r>
            <a:endParaRPr/>
          </a:p>
        </p:txBody>
      </p:sp>
      <p:sp>
        <p:nvSpPr>
          <p:cNvPr id="896" name="Google Shape;896;p72"/>
          <p:cNvSpPr/>
          <p:nvPr/>
        </p:nvSpPr>
        <p:spPr>
          <a:xfrm rot="-3250761">
            <a:off x="1920212" y="970463"/>
            <a:ext cx="1320461" cy="2175066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2"/>
          <p:cNvSpPr/>
          <p:nvPr/>
        </p:nvSpPr>
        <p:spPr>
          <a:xfrm>
            <a:off x="2770235" y="2920124"/>
            <a:ext cx="613500" cy="613500"/>
          </a:xfrm>
          <a:prstGeom prst="pie">
            <a:avLst>
              <a:gd fmla="val 13937662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2"/>
          <p:cNvSpPr/>
          <p:nvPr/>
        </p:nvSpPr>
        <p:spPr>
          <a:xfrm rot="-6409846">
            <a:off x="3532924" y="1852168"/>
            <a:ext cx="613374" cy="613374"/>
          </a:xfrm>
          <a:prstGeom prst="pie">
            <a:avLst>
              <a:gd fmla="val 13937662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9" name="Google Shape;899;p72"/>
          <p:cNvCxnSpPr/>
          <p:nvPr/>
        </p:nvCxnSpPr>
        <p:spPr>
          <a:xfrm flipH="1" rot="10800000">
            <a:off x="2262600" y="2195100"/>
            <a:ext cx="173700" cy="14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p72"/>
          <p:cNvCxnSpPr/>
          <p:nvPr/>
        </p:nvCxnSpPr>
        <p:spPr>
          <a:xfrm flipH="1">
            <a:off x="2670775" y="1655775"/>
            <a:ext cx="65400" cy="19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72"/>
          <p:cNvCxnSpPr/>
          <p:nvPr/>
        </p:nvCxnSpPr>
        <p:spPr>
          <a:xfrm>
            <a:off x="1720486" y="1436836"/>
            <a:ext cx="1763700" cy="127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02" name="Google Shape;902;p72"/>
          <p:cNvSpPr txBox="1"/>
          <p:nvPr>
            <p:ph idx="1" type="body"/>
          </p:nvPr>
        </p:nvSpPr>
        <p:spPr>
          <a:xfrm>
            <a:off x="1506068" y="1172906"/>
            <a:ext cx="2103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903" name="Google Shape;903;p72"/>
          <p:cNvSpPr txBox="1"/>
          <p:nvPr>
            <p:ph idx="1" type="body"/>
          </p:nvPr>
        </p:nvSpPr>
        <p:spPr>
          <a:xfrm>
            <a:off x="2953868" y="3230306"/>
            <a:ext cx="2103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904" name="Google Shape;904;p72"/>
          <p:cNvSpPr txBox="1"/>
          <p:nvPr>
            <p:ph idx="1" type="body"/>
          </p:nvPr>
        </p:nvSpPr>
        <p:spPr>
          <a:xfrm>
            <a:off x="3868268" y="1934906"/>
            <a:ext cx="2103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pic>
        <p:nvPicPr>
          <p:cNvPr id="905" name="Google Shape;90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93257" y="1533200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72"/>
          <p:cNvSpPr txBox="1"/>
          <p:nvPr/>
        </p:nvSpPr>
        <p:spPr>
          <a:xfrm>
            <a:off x="7803575" y="24917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2"/>
          <p:cNvSpPr txBox="1"/>
          <p:nvPr>
            <p:ph idx="1" type="body"/>
          </p:nvPr>
        </p:nvSpPr>
        <p:spPr>
          <a:xfrm>
            <a:off x="5040275" y="931350"/>
            <a:ext cx="2807400" cy="13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Using only triangle ABM, </a:t>
            </a:r>
            <a:br>
              <a:rPr lang="en-GB" sz="1800"/>
            </a:br>
            <a:r>
              <a:rPr lang="en-GB" sz="1800"/>
              <a:t>∠BMA = 180 - (14 + 76) = 90°</a:t>
            </a:r>
            <a:endParaRPr sz="1800"/>
          </a:p>
        </p:txBody>
      </p:sp>
      <p:sp>
        <p:nvSpPr>
          <p:cNvPr id="908" name="Google Shape;908;p72"/>
          <p:cNvSpPr txBox="1"/>
          <p:nvPr/>
        </p:nvSpPr>
        <p:spPr>
          <a:xfrm flipH="1">
            <a:off x="5622850" y="2776800"/>
            <a:ext cx="26808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the line of symmetry of an isosceles triangle is perpendicular to the base edge.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9" name="Google Shape;909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9475" y="344334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72"/>
          <p:cNvSpPr txBox="1"/>
          <p:nvPr/>
        </p:nvSpPr>
        <p:spPr>
          <a:xfrm>
            <a:off x="2081025" y="1655850"/>
            <a:ext cx="46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28°</a:t>
            </a:r>
            <a:endParaRPr/>
          </a:p>
        </p:txBody>
      </p:sp>
      <p:sp>
        <p:nvSpPr>
          <p:cNvPr id="911" name="Google Shape;911;p72"/>
          <p:cNvSpPr txBox="1"/>
          <p:nvPr/>
        </p:nvSpPr>
        <p:spPr>
          <a:xfrm>
            <a:off x="3059700" y="2036350"/>
            <a:ext cx="46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76°</a:t>
            </a:r>
            <a:endParaRPr/>
          </a:p>
        </p:txBody>
      </p:sp>
      <p:sp>
        <p:nvSpPr>
          <p:cNvPr id="912" name="Google Shape;912;p72"/>
          <p:cNvSpPr txBox="1"/>
          <p:nvPr/>
        </p:nvSpPr>
        <p:spPr>
          <a:xfrm>
            <a:off x="2827569" y="2561400"/>
            <a:ext cx="46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76°</a:t>
            </a:r>
            <a:endParaRPr/>
          </a:p>
        </p:txBody>
      </p:sp>
      <p:sp>
        <p:nvSpPr>
          <p:cNvPr id="913" name="Google Shape;913;p72"/>
          <p:cNvSpPr/>
          <p:nvPr/>
        </p:nvSpPr>
        <p:spPr>
          <a:xfrm>
            <a:off x="2694023" y="2845125"/>
            <a:ext cx="764700" cy="764700"/>
          </a:xfrm>
          <a:prstGeom prst="pie">
            <a:avLst>
              <a:gd fmla="val 13937662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2"/>
          <p:cNvSpPr/>
          <p:nvPr/>
        </p:nvSpPr>
        <p:spPr>
          <a:xfrm rot="7419072">
            <a:off x="1394981" y="1114942"/>
            <a:ext cx="613388" cy="613388"/>
          </a:xfrm>
          <a:prstGeom prst="pie">
            <a:avLst>
              <a:gd fmla="val 15320647" name="adj1"/>
              <a:gd fmla="val 1738089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2"/>
          <p:cNvSpPr txBox="1"/>
          <p:nvPr/>
        </p:nvSpPr>
        <p:spPr>
          <a:xfrm>
            <a:off x="4416150" y="440484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2"/>
          <p:cNvSpPr/>
          <p:nvPr/>
        </p:nvSpPr>
        <p:spPr>
          <a:xfrm>
            <a:off x="791450" y="2571750"/>
            <a:ext cx="1753450" cy="1801100"/>
          </a:xfrm>
          <a:custGeom>
            <a:rect b="b" l="l" r="r" t="t"/>
            <a:pathLst>
              <a:path extrusionOk="0" h="72044" w="70138">
                <a:moveTo>
                  <a:pt x="0" y="0"/>
                </a:moveTo>
                <a:lnTo>
                  <a:pt x="54898" y="72044"/>
                </a:lnTo>
                <a:lnTo>
                  <a:pt x="70138" y="50742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17" name="Google Shape;917;p72"/>
          <p:cNvSpPr/>
          <p:nvPr/>
        </p:nvSpPr>
        <p:spPr>
          <a:xfrm>
            <a:off x="1860538" y="4065442"/>
            <a:ext cx="613500" cy="613500"/>
          </a:xfrm>
          <a:prstGeom prst="pie">
            <a:avLst>
              <a:gd fmla="val 13937662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2"/>
          <p:cNvSpPr/>
          <p:nvPr/>
        </p:nvSpPr>
        <p:spPr>
          <a:xfrm>
            <a:off x="1784325" y="3990443"/>
            <a:ext cx="764700" cy="764700"/>
          </a:xfrm>
          <a:prstGeom prst="pie">
            <a:avLst>
              <a:gd fmla="val 13937662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2"/>
          <p:cNvSpPr/>
          <p:nvPr/>
        </p:nvSpPr>
        <p:spPr>
          <a:xfrm rot="7419072">
            <a:off x="485206" y="2265067"/>
            <a:ext cx="613388" cy="613388"/>
          </a:xfrm>
          <a:prstGeom prst="pie">
            <a:avLst>
              <a:gd fmla="val 16342178" name="adj1"/>
              <a:gd fmla="val 1738089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0" name="Google Shape;920;p72"/>
          <p:cNvCxnSpPr/>
          <p:nvPr/>
        </p:nvCxnSpPr>
        <p:spPr>
          <a:xfrm flipH="1" rot="10800000">
            <a:off x="952500" y="2336100"/>
            <a:ext cx="38400" cy="291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1" name="Google Shape;921;p72"/>
          <p:cNvSpPr txBox="1"/>
          <p:nvPr/>
        </p:nvSpPr>
        <p:spPr>
          <a:xfrm>
            <a:off x="942100" y="2070713"/>
            <a:ext cx="46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/>
          </a:p>
        </p:txBody>
      </p:sp>
      <p:sp>
        <p:nvSpPr>
          <p:cNvPr id="922" name="Google Shape;922;p72"/>
          <p:cNvSpPr txBox="1"/>
          <p:nvPr/>
        </p:nvSpPr>
        <p:spPr>
          <a:xfrm>
            <a:off x="1935219" y="3739438"/>
            <a:ext cx="46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76°</a:t>
            </a:r>
            <a:endParaRPr/>
          </a:p>
        </p:txBody>
      </p:sp>
      <p:sp>
        <p:nvSpPr>
          <p:cNvPr id="923" name="Google Shape;923;p72"/>
          <p:cNvSpPr txBox="1"/>
          <p:nvPr>
            <p:ph idx="1" type="body"/>
          </p:nvPr>
        </p:nvSpPr>
        <p:spPr>
          <a:xfrm>
            <a:off x="581143" y="2301906"/>
            <a:ext cx="2103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924" name="Google Shape;924;p72"/>
          <p:cNvSpPr txBox="1"/>
          <p:nvPr>
            <p:ph idx="1" type="body"/>
          </p:nvPr>
        </p:nvSpPr>
        <p:spPr>
          <a:xfrm>
            <a:off x="2061518" y="4372856"/>
            <a:ext cx="2103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925" name="Google Shape;925;p72"/>
          <p:cNvSpPr txBox="1"/>
          <p:nvPr>
            <p:ph idx="1" type="body"/>
          </p:nvPr>
        </p:nvSpPr>
        <p:spPr>
          <a:xfrm>
            <a:off x="2549018" y="3745231"/>
            <a:ext cx="2103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</a:t>
            </a:r>
            <a:endParaRPr sz="1800"/>
          </a:p>
        </p:txBody>
      </p:sp>
      <p:sp>
        <p:nvSpPr>
          <p:cNvPr id="926" name="Google Shape;926;p72"/>
          <p:cNvSpPr txBox="1"/>
          <p:nvPr>
            <p:ph idx="1" type="body"/>
          </p:nvPr>
        </p:nvSpPr>
        <p:spPr>
          <a:xfrm>
            <a:off x="3458718" y="2636306"/>
            <a:ext cx="2103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</a:t>
            </a:r>
            <a:endParaRPr sz="1800"/>
          </a:p>
        </p:txBody>
      </p:sp>
      <p:pic>
        <p:nvPicPr>
          <p:cNvPr id="927" name="Google Shape;927;p72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5323800" y="2707025"/>
            <a:ext cx="3125176" cy="1605525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72"/>
          <p:cNvSpPr/>
          <p:nvPr/>
        </p:nvSpPr>
        <p:spPr>
          <a:xfrm rot="-3232973">
            <a:off x="3259833" y="2628217"/>
            <a:ext cx="168975" cy="1689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2"/>
          <p:cNvSpPr/>
          <p:nvPr/>
        </p:nvSpPr>
        <p:spPr>
          <a:xfrm rot="-3232973">
            <a:off x="2342153" y="3777346"/>
            <a:ext cx="168975" cy="1689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73"/>
          <p:cNvSpPr txBox="1"/>
          <p:nvPr>
            <p:ph idx="1" type="body"/>
          </p:nvPr>
        </p:nvSpPr>
        <p:spPr>
          <a:xfrm>
            <a:off x="324000" y="2571750"/>
            <a:ext cx="8237700" cy="7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If the non-base angle of an isosceles triangle is 34</a:t>
            </a:r>
            <a:r>
              <a:rPr lang="en-GB"/>
              <a:t>°, the line of symmetry will </a:t>
            </a:r>
            <a:r>
              <a:rPr b="1" lang="en-GB"/>
              <a:t>bisect </a:t>
            </a:r>
            <a:r>
              <a:rPr lang="en-GB"/>
              <a:t>the angle into two          ° angles. </a:t>
            </a:r>
            <a:endParaRPr/>
          </a:p>
        </p:txBody>
      </p:sp>
      <p:sp>
        <p:nvSpPr>
          <p:cNvPr id="935" name="Google Shape;93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Isosceles triangles</a:t>
            </a:r>
            <a:endParaRPr/>
          </a:p>
        </p:txBody>
      </p:sp>
      <p:cxnSp>
        <p:nvCxnSpPr>
          <p:cNvPr id="936" name="Google Shape;936;p73"/>
          <p:cNvCxnSpPr/>
          <p:nvPr/>
        </p:nvCxnSpPr>
        <p:spPr>
          <a:xfrm>
            <a:off x="6095975" y="3240000"/>
            <a:ext cx="695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7" name="Google Shape;937;p73"/>
          <p:cNvSpPr/>
          <p:nvPr/>
        </p:nvSpPr>
        <p:spPr>
          <a:xfrm rot="3954608">
            <a:off x="3619377" y="662504"/>
            <a:ext cx="1068675" cy="1482693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3"/>
          <p:cNvSpPr/>
          <p:nvPr/>
        </p:nvSpPr>
        <p:spPr>
          <a:xfrm rot="4559083">
            <a:off x="4630446" y="902225"/>
            <a:ext cx="397637" cy="397637"/>
          </a:xfrm>
          <a:prstGeom prst="pie">
            <a:avLst>
              <a:gd fmla="val 3564718" name="adj1"/>
              <a:gd fmla="val 6000281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9" name="Google Shape;939;p73"/>
          <p:cNvCxnSpPr/>
          <p:nvPr/>
        </p:nvCxnSpPr>
        <p:spPr>
          <a:xfrm>
            <a:off x="4027900" y="1092451"/>
            <a:ext cx="6300" cy="137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0" name="Google Shape;940;p73"/>
          <p:cNvCxnSpPr/>
          <p:nvPr/>
        </p:nvCxnSpPr>
        <p:spPr>
          <a:xfrm rot="7513056">
            <a:off x="4298210" y="1538733"/>
            <a:ext cx="6243" cy="13765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1" name="Google Shape;941;p73"/>
          <p:cNvSpPr txBox="1"/>
          <p:nvPr/>
        </p:nvSpPr>
        <p:spPr>
          <a:xfrm>
            <a:off x="6456647" y="2956834"/>
            <a:ext cx="31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74"/>
          <p:cNvSpPr txBox="1"/>
          <p:nvPr>
            <p:ph idx="1" type="body"/>
          </p:nvPr>
        </p:nvSpPr>
        <p:spPr>
          <a:xfrm>
            <a:off x="324000" y="759300"/>
            <a:ext cx="8237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</a:t>
            </a:r>
            <a:r>
              <a:rPr b="1" lang="en-GB" sz="1800"/>
              <a:t>altitude</a:t>
            </a:r>
            <a:r>
              <a:rPr lang="en-GB" sz="1800"/>
              <a:t> of a triangle is a line segment from a vertex of a triangle to the opposite edge. It is perpendicular to that edge.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7" name="Google Shape;94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Isosceles triangles</a:t>
            </a:r>
            <a:endParaRPr/>
          </a:p>
        </p:txBody>
      </p:sp>
      <p:sp>
        <p:nvSpPr>
          <p:cNvPr id="948" name="Google Shape;948;p74"/>
          <p:cNvSpPr/>
          <p:nvPr/>
        </p:nvSpPr>
        <p:spPr>
          <a:xfrm>
            <a:off x="394425" y="2181050"/>
            <a:ext cx="1522468" cy="929792"/>
          </a:xfrm>
          <a:custGeom>
            <a:rect b="b" l="l" r="r" t="t"/>
            <a:pathLst>
              <a:path extrusionOk="0" h="19648" w="31728">
                <a:moveTo>
                  <a:pt x="0" y="19515"/>
                </a:moveTo>
                <a:lnTo>
                  <a:pt x="9691" y="0"/>
                </a:lnTo>
                <a:lnTo>
                  <a:pt x="31728" y="19648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949" name="Google Shape;949;p74"/>
          <p:cNvCxnSpPr/>
          <p:nvPr/>
        </p:nvCxnSpPr>
        <p:spPr>
          <a:xfrm>
            <a:off x="864220" y="2187971"/>
            <a:ext cx="0" cy="91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50" name="Google Shape;950;p74"/>
          <p:cNvSpPr/>
          <p:nvPr/>
        </p:nvSpPr>
        <p:spPr>
          <a:xfrm>
            <a:off x="864214" y="3040186"/>
            <a:ext cx="66900" cy="669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4"/>
          <p:cNvSpPr/>
          <p:nvPr/>
        </p:nvSpPr>
        <p:spPr>
          <a:xfrm rot="-10112265">
            <a:off x="1908859" y="2230060"/>
            <a:ext cx="1239419" cy="787919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2" name="Google Shape;952;p74"/>
          <p:cNvCxnSpPr>
            <a:endCxn id="951" idx="2"/>
          </p:cNvCxnSpPr>
          <p:nvPr/>
        </p:nvCxnSpPr>
        <p:spPr>
          <a:xfrm flipH="1" rot="10800000">
            <a:off x="2724918" y="2361070"/>
            <a:ext cx="489300" cy="46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53" name="Google Shape;953;p74"/>
          <p:cNvSpPr/>
          <p:nvPr/>
        </p:nvSpPr>
        <p:spPr>
          <a:xfrm rot="-8100000">
            <a:off x="2700976" y="2744091"/>
            <a:ext cx="65761" cy="65761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4"/>
          <p:cNvSpPr txBox="1"/>
          <p:nvPr/>
        </p:nvSpPr>
        <p:spPr>
          <a:xfrm>
            <a:off x="324000" y="1678138"/>
            <a:ext cx="412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Examples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altitudes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4"/>
          <p:cNvSpPr/>
          <p:nvPr/>
        </p:nvSpPr>
        <p:spPr>
          <a:xfrm rot="-5400000">
            <a:off x="1137430" y="2973788"/>
            <a:ext cx="664559" cy="1930057"/>
          </a:xfrm>
          <a:custGeom>
            <a:rect b="b" l="l" r="r" t="t"/>
            <a:pathLst>
              <a:path extrusionOk="0" h="110289" w="38100">
                <a:moveTo>
                  <a:pt x="0" y="40105"/>
                </a:moveTo>
                <a:lnTo>
                  <a:pt x="0" y="110289"/>
                </a:lnTo>
                <a:lnTo>
                  <a:pt x="38100" y="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956" name="Google Shape;956;p74"/>
          <p:cNvCxnSpPr/>
          <p:nvPr/>
        </p:nvCxnSpPr>
        <p:spPr>
          <a:xfrm rot="10800000">
            <a:off x="504000" y="3600000"/>
            <a:ext cx="0" cy="67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57" name="Google Shape;957;p74"/>
          <p:cNvSpPr/>
          <p:nvPr/>
        </p:nvSpPr>
        <p:spPr>
          <a:xfrm>
            <a:off x="504003" y="4204552"/>
            <a:ext cx="65400" cy="651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8" name="Google Shape;958;p74"/>
          <p:cNvCxnSpPr/>
          <p:nvPr/>
        </p:nvCxnSpPr>
        <p:spPr>
          <a:xfrm>
            <a:off x="577885" y="4269856"/>
            <a:ext cx="603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59" name="Google Shape;959;p74"/>
          <p:cNvSpPr txBox="1"/>
          <p:nvPr/>
        </p:nvSpPr>
        <p:spPr>
          <a:xfrm>
            <a:off x="2589150" y="3401875"/>
            <a:ext cx="2016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the vertex overhangs the opposite edge, we extend the edge.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0" name="Google Shape;960;p74"/>
          <p:cNvCxnSpPr/>
          <p:nvPr/>
        </p:nvCxnSpPr>
        <p:spPr>
          <a:xfrm flipH="1">
            <a:off x="1795525" y="3652775"/>
            <a:ext cx="662700" cy="193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1" name="Google Shape;961;p74"/>
          <p:cNvSpPr txBox="1"/>
          <p:nvPr/>
        </p:nvSpPr>
        <p:spPr>
          <a:xfrm>
            <a:off x="4911400" y="1677600"/>
            <a:ext cx="412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Non-examples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altitudes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4"/>
          <p:cNvSpPr/>
          <p:nvPr/>
        </p:nvSpPr>
        <p:spPr>
          <a:xfrm>
            <a:off x="5118825" y="2181600"/>
            <a:ext cx="1522468" cy="962998"/>
          </a:xfrm>
          <a:custGeom>
            <a:rect b="b" l="l" r="r" t="t"/>
            <a:pathLst>
              <a:path extrusionOk="0" h="19648" w="31728">
                <a:moveTo>
                  <a:pt x="0" y="19515"/>
                </a:moveTo>
                <a:lnTo>
                  <a:pt x="9691" y="0"/>
                </a:lnTo>
                <a:lnTo>
                  <a:pt x="31728" y="19648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963" name="Google Shape;963;p74"/>
          <p:cNvCxnSpPr/>
          <p:nvPr/>
        </p:nvCxnSpPr>
        <p:spPr>
          <a:xfrm>
            <a:off x="5588716" y="2188767"/>
            <a:ext cx="429000" cy="97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64" name="Google Shape;964;p74"/>
          <p:cNvSpPr/>
          <p:nvPr/>
        </p:nvSpPr>
        <p:spPr>
          <a:xfrm rot="-5400000">
            <a:off x="6064816" y="2973109"/>
            <a:ext cx="676275" cy="1930057"/>
          </a:xfrm>
          <a:custGeom>
            <a:rect b="b" l="l" r="r" t="t"/>
            <a:pathLst>
              <a:path extrusionOk="0" h="110289" w="38100">
                <a:moveTo>
                  <a:pt x="0" y="40105"/>
                </a:moveTo>
                <a:lnTo>
                  <a:pt x="0" y="110289"/>
                </a:lnTo>
                <a:lnTo>
                  <a:pt x="38100" y="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965" name="Google Shape;965;p74"/>
          <p:cNvCxnSpPr/>
          <p:nvPr/>
        </p:nvCxnSpPr>
        <p:spPr>
          <a:xfrm rot="10800000">
            <a:off x="5494923" y="4260752"/>
            <a:ext cx="651000" cy="18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66" name="Google Shape;966;p74"/>
          <p:cNvSpPr/>
          <p:nvPr/>
        </p:nvSpPr>
        <p:spPr>
          <a:xfrm rot="-10112265">
            <a:off x="6790409" y="2228490"/>
            <a:ext cx="1239419" cy="787919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7" name="Google Shape;967;p74"/>
          <p:cNvCxnSpPr/>
          <p:nvPr/>
        </p:nvCxnSpPr>
        <p:spPr>
          <a:xfrm flipH="1">
            <a:off x="7465123" y="2240842"/>
            <a:ext cx="81000" cy="449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68" name="Google Shape;968;p74"/>
          <p:cNvSpPr/>
          <p:nvPr/>
        </p:nvSpPr>
        <p:spPr>
          <a:xfrm rot="-10183116">
            <a:off x="7478929" y="2242282"/>
            <a:ext cx="65553" cy="6555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75"/>
          <p:cNvSpPr/>
          <p:nvPr/>
        </p:nvSpPr>
        <p:spPr>
          <a:xfrm>
            <a:off x="4076292" y="4329325"/>
            <a:ext cx="138300" cy="138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5"/>
          <p:cNvSpPr txBox="1"/>
          <p:nvPr>
            <p:ph idx="1" type="body"/>
          </p:nvPr>
        </p:nvSpPr>
        <p:spPr>
          <a:xfrm>
            <a:off x="324000" y="759300"/>
            <a:ext cx="8237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Therefore, the line of symmetry in an isosceles triangle is also an </a:t>
            </a:r>
            <a:r>
              <a:rPr b="1" lang="en-GB" sz="1800"/>
              <a:t>altitude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5" name="Google Shape;975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Isosceles triangles</a:t>
            </a:r>
            <a:endParaRPr/>
          </a:p>
        </p:txBody>
      </p:sp>
      <p:sp>
        <p:nvSpPr>
          <p:cNvPr id="976" name="Google Shape;976;p75"/>
          <p:cNvSpPr/>
          <p:nvPr/>
        </p:nvSpPr>
        <p:spPr>
          <a:xfrm rot="-3250761">
            <a:off x="3977612" y="894263"/>
            <a:ext cx="1320461" cy="2175066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5"/>
          <p:cNvSpPr/>
          <p:nvPr/>
        </p:nvSpPr>
        <p:spPr>
          <a:xfrm>
            <a:off x="4827635" y="2843924"/>
            <a:ext cx="613500" cy="613500"/>
          </a:xfrm>
          <a:prstGeom prst="pie">
            <a:avLst>
              <a:gd fmla="val 13937662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5"/>
          <p:cNvSpPr/>
          <p:nvPr/>
        </p:nvSpPr>
        <p:spPr>
          <a:xfrm rot="-6409846">
            <a:off x="5590324" y="1775968"/>
            <a:ext cx="613374" cy="613374"/>
          </a:xfrm>
          <a:prstGeom prst="pie">
            <a:avLst>
              <a:gd fmla="val 13937662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9" name="Google Shape;979;p75"/>
          <p:cNvCxnSpPr/>
          <p:nvPr/>
        </p:nvCxnSpPr>
        <p:spPr>
          <a:xfrm flipH="1" rot="10800000">
            <a:off x="4320000" y="2118900"/>
            <a:ext cx="173700" cy="14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0" name="Google Shape;980;p75"/>
          <p:cNvCxnSpPr/>
          <p:nvPr/>
        </p:nvCxnSpPr>
        <p:spPr>
          <a:xfrm flipH="1">
            <a:off x="4728175" y="1579575"/>
            <a:ext cx="65400" cy="19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75"/>
          <p:cNvCxnSpPr>
            <a:stCxn id="976" idx="0"/>
            <a:endCxn id="976" idx="3"/>
          </p:cNvCxnSpPr>
          <p:nvPr/>
        </p:nvCxnSpPr>
        <p:spPr>
          <a:xfrm>
            <a:off x="3755993" y="1345346"/>
            <a:ext cx="1763700" cy="127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82" name="Google Shape;982;p75"/>
          <p:cNvSpPr/>
          <p:nvPr/>
        </p:nvSpPr>
        <p:spPr>
          <a:xfrm rot="10800000">
            <a:off x="491600" y="2633850"/>
            <a:ext cx="3714300" cy="6135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5"/>
          <p:cNvSpPr/>
          <p:nvPr/>
        </p:nvSpPr>
        <p:spPr>
          <a:xfrm>
            <a:off x="184235" y="2326381"/>
            <a:ext cx="613500" cy="613500"/>
          </a:xfrm>
          <a:prstGeom prst="pie">
            <a:avLst>
              <a:gd fmla="val 14889" name="adj1"/>
              <a:gd fmla="val 1058983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5"/>
          <p:cNvSpPr/>
          <p:nvPr/>
        </p:nvSpPr>
        <p:spPr>
          <a:xfrm flipH="1">
            <a:off x="3909985" y="2326381"/>
            <a:ext cx="613500" cy="613500"/>
          </a:xfrm>
          <a:prstGeom prst="pie">
            <a:avLst>
              <a:gd fmla="val 14889" name="adj1"/>
              <a:gd fmla="val 1058983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5" name="Google Shape;985;p75"/>
          <p:cNvCxnSpPr/>
          <p:nvPr/>
        </p:nvCxnSpPr>
        <p:spPr>
          <a:xfrm flipH="1" rot="10800000">
            <a:off x="1524000" y="2909700"/>
            <a:ext cx="51900" cy="13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6" name="Google Shape;986;p75"/>
          <p:cNvCxnSpPr/>
          <p:nvPr/>
        </p:nvCxnSpPr>
        <p:spPr>
          <a:xfrm>
            <a:off x="3056086" y="2939884"/>
            <a:ext cx="51900" cy="13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7" name="Google Shape;987;p75"/>
          <p:cNvCxnSpPr>
            <a:stCxn id="982" idx="3"/>
            <a:endCxn id="982" idx="0"/>
          </p:cNvCxnSpPr>
          <p:nvPr/>
        </p:nvCxnSpPr>
        <p:spPr>
          <a:xfrm>
            <a:off x="2348750" y="2633850"/>
            <a:ext cx="0" cy="61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88" name="Google Shape;988;p75"/>
          <p:cNvSpPr/>
          <p:nvPr/>
        </p:nvSpPr>
        <p:spPr>
          <a:xfrm>
            <a:off x="6926950" y="1062150"/>
            <a:ext cx="764700" cy="30192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9" name="Google Shape;989;p75"/>
          <p:cNvCxnSpPr>
            <a:endCxn id="988" idx="3"/>
          </p:cNvCxnSpPr>
          <p:nvPr/>
        </p:nvCxnSpPr>
        <p:spPr>
          <a:xfrm>
            <a:off x="7309300" y="1079850"/>
            <a:ext cx="0" cy="300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75"/>
          <p:cNvCxnSpPr/>
          <p:nvPr/>
        </p:nvCxnSpPr>
        <p:spPr>
          <a:xfrm>
            <a:off x="7018600" y="2685200"/>
            <a:ext cx="167400" cy="1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75"/>
          <p:cNvCxnSpPr/>
          <p:nvPr/>
        </p:nvCxnSpPr>
        <p:spPr>
          <a:xfrm flipH="1">
            <a:off x="7432600" y="2685200"/>
            <a:ext cx="167400" cy="1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2" name="Google Shape;992;p75"/>
          <p:cNvSpPr/>
          <p:nvPr/>
        </p:nvSpPr>
        <p:spPr>
          <a:xfrm rot="2700000">
            <a:off x="6737728" y="3887555"/>
            <a:ext cx="380565" cy="380565"/>
          </a:xfrm>
          <a:prstGeom prst="pie">
            <a:avLst>
              <a:gd fmla="val 13937662" name="adj1"/>
              <a:gd fmla="val 1891219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5"/>
          <p:cNvSpPr/>
          <p:nvPr/>
        </p:nvSpPr>
        <p:spPr>
          <a:xfrm>
            <a:off x="4076300" y="3262950"/>
            <a:ext cx="1205100" cy="12051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5"/>
          <p:cNvSpPr/>
          <p:nvPr/>
        </p:nvSpPr>
        <p:spPr>
          <a:xfrm rot="8639594">
            <a:off x="3769485" y="2953815"/>
            <a:ext cx="613390" cy="613390"/>
          </a:xfrm>
          <a:prstGeom prst="pie">
            <a:avLst>
              <a:gd fmla="val 15659210" name="adj1"/>
              <a:gd fmla="val 1834750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75"/>
          <p:cNvSpPr/>
          <p:nvPr/>
        </p:nvSpPr>
        <p:spPr>
          <a:xfrm rot="-4832537">
            <a:off x="4975072" y="4160725"/>
            <a:ext cx="613438" cy="613438"/>
          </a:xfrm>
          <a:prstGeom prst="pie">
            <a:avLst>
              <a:gd fmla="val 15659210" name="adj1"/>
              <a:gd fmla="val 18310717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6" name="Google Shape;996;p75"/>
          <p:cNvCxnSpPr>
            <a:stCxn id="993" idx="2"/>
            <a:endCxn id="993" idx="5"/>
          </p:cNvCxnSpPr>
          <p:nvPr/>
        </p:nvCxnSpPr>
        <p:spPr>
          <a:xfrm flipH="1" rot="10800000">
            <a:off x="4076300" y="3865650"/>
            <a:ext cx="602700" cy="60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7" name="Google Shape;997;p75"/>
          <p:cNvCxnSpPr/>
          <p:nvPr/>
        </p:nvCxnSpPr>
        <p:spPr>
          <a:xfrm>
            <a:off x="4625612" y="4400029"/>
            <a:ext cx="0" cy="13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8" name="Google Shape;998;p75"/>
          <p:cNvCxnSpPr/>
          <p:nvPr/>
        </p:nvCxnSpPr>
        <p:spPr>
          <a:xfrm>
            <a:off x="4076187" y="3868754"/>
            <a:ext cx="0" cy="13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9" name="Google Shape;999;p75"/>
          <p:cNvSpPr/>
          <p:nvPr/>
        </p:nvSpPr>
        <p:spPr>
          <a:xfrm>
            <a:off x="2238050" y="2637200"/>
            <a:ext cx="110700" cy="110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75"/>
          <p:cNvSpPr/>
          <p:nvPr/>
        </p:nvSpPr>
        <p:spPr>
          <a:xfrm rot="-3156114">
            <a:off x="5387101" y="2575432"/>
            <a:ext cx="110645" cy="11064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75"/>
          <p:cNvSpPr/>
          <p:nvPr/>
        </p:nvSpPr>
        <p:spPr>
          <a:xfrm>
            <a:off x="7198593" y="3970080"/>
            <a:ext cx="110700" cy="110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75"/>
          <p:cNvSpPr/>
          <p:nvPr/>
        </p:nvSpPr>
        <p:spPr>
          <a:xfrm flipH="1" rot="-2700000">
            <a:off x="7501729" y="3890566"/>
            <a:ext cx="380565" cy="380565"/>
          </a:xfrm>
          <a:prstGeom prst="pie">
            <a:avLst>
              <a:gd fmla="val 13937662" name="adj1"/>
              <a:gd fmla="val 18912194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75"/>
          <p:cNvSpPr/>
          <p:nvPr/>
        </p:nvSpPr>
        <p:spPr>
          <a:xfrm rot="2700000">
            <a:off x="4622319" y="3889524"/>
            <a:ext cx="110733" cy="11073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76"/>
          <p:cNvSpPr txBox="1"/>
          <p:nvPr>
            <p:ph idx="1" type="body"/>
          </p:nvPr>
        </p:nvSpPr>
        <p:spPr>
          <a:xfrm>
            <a:off x="324000" y="759300"/>
            <a:ext cx="8237700" cy="4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of these </a:t>
            </a:r>
            <a:r>
              <a:rPr b="1" lang="en-GB"/>
              <a:t>altitudes</a:t>
            </a:r>
            <a:r>
              <a:rPr lang="en-GB"/>
              <a:t> is also the line of symmetry?</a:t>
            </a:r>
            <a:endParaRPr/>
          </a:p>
        </p:txBody>
      </p:sp>
      <p:sp>
        <p:nvSpPr>
          <p:cNvPr id="1009" name="Google Shape;1009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Isosceles triangles</a:t>
            </a:r>
            <a:endParaRPr/>
          </a:p>
        </p:txBody>
      </p:sp>
      <p:sp>
        <p:nvSpPr>
          <p:cNvPr id="1010" name="Google Shape;1010;p76"/>
          <p:cNvSpPr/>
          <p:nvPr/>
        </p:nvSpPr>
        <p:spPr>
          <a:xfrm>
            <a:off x="3269250" y="1420500"/>
            <a:ext cx="2101500" cy="28995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1" name="Google Shape;1011;p76"/>
          <p:cNvCxnSpPr>
            <a:stCxn id="1010" idx="0"/>
            <a:endCxn id="1010" idx="3"/>
          </p:cNvCxnSpPr>
          <p:nvPr/>
        </p:nvCxnSpPr>
        <p:spPr>
          <a:xfrm>
            <a:off x="4320000" y="1420500"/>
            <a:ext cx="0" cy="289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76"/>
          <p:cNvCxnSpPr>
            <a:stCxn id="1010" idx="4"/>
          </p:cNvCxnSpPr>
          <p:nvPr/>
        </p:nvCxnSpPr>
        <p:spPr>
          <a:xfrm rot="10800000">
            <a:off x="3497850" y="3704400"/>
            <a:ext cx="1872900" cy="61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13" name="Google Shape;1013;p76"/>
          <p:cNvCxnSpPr>
            <a:stCxn id="1010" idx="2"/>
          </p:cNvCxnSpPr>
          <p:nvPr/>
        </p:nvCxnSpPr>
        <p:spPr>
          <a:xfrm flipH="1" rot="10800000">
            <a:off x="3269250" y="3690300"/>
            <a:ext cx="1881300" cy="6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14" name="Google Shape;1014;p76"/>
          <p:cNvSpPr/>
          <p:nvPr/>
        </p:nvSpPr>
        <p:spPr>
          <a:xfrm rot="1194561">
            <a:off x="3511833" y="3622266"/>
            <a:ext cx="99550" cy="995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6"/>
          <p:cNvSpPr/>
          <p:nvPr/>
        </p:nvSpPr>
        <p:spPr>
          <a:xfrm rot="4149655">
            <a:off x="5027538" y="3610984"/>
            <a:ext cx="99510" cy="9951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76"/>
          <p:cNvSpPr/>
          <p:nvPr/>
        </p:nvSpPr>
        <p:spPr>
          <a:xfrm>
            <a:off x="4319988" y="4220396"/>
            <a:ext cx="99600" cy="99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7" name="Google Shape;1017;p76"/>
          <p:cNvGrpSpPr/>
          <p:nvPr/>
        </p:nvGrpSpPr>
        <p:grpSpPr>
          <a:xfrm>
            <a:off x="2912391" y="3278600"/>
            <a:ext cx="457200" cy="457200"/>
            <a:chOff x="1020916" y="1442088"/>
            <a:chExt cx="457200" cy="457200"/>
          </a:xfrm>
        </p:grpSpPr>
        <p:pic>
          <p:nvPicPr>
            <p:cNvPr id="1018" name="Google Shape;1018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9" name="Google Shape;1019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0" name="Google Shape;1020;p76"/>
          <p:cNvGrpSpPr/>
          <p:nvPr/>
        </p:nvGrpSpPr>
        <p:grpSpPr>
          <a:xfrm>
            <a:off x="4091391" y="4363200"/>
            <a:ext cx="457200" cy="457200"/>
            <a:chOff x="1020916" y="1442088"/>
            <a:chExt cx="457200" cy="457200"/>
          </a:xfrm>
        </p:grpSpPr>
        <p:pic>
          <p:nvPicPr>
            <p:cNvPr id="1021" name="Google Shape;1021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3" name="Google Shape;1023;p76"/>
          <p:cNvGrpSpPr/>
          <p:nvPr/>
        </p:nvGrpSpPr>
        <p:grpSpPr>
          <a:xfrm>
            <a:off x="5270391" y="3372350"/>
            <a:ext cx="457200" cy="457200"/>
            <a:chOff x="1020916" y="1442088"/>
            <a:chExt cx="457200" cy="457200"/>
          </a:xfrm>
        </p:grpSpPr>
        <p:pic>
          <p:nvPicPr>
            <p:cNvPr id="1024" name="Google Shape;1024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26" name="Google Shape;1026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6008" y="43822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77"/>
          <p:cNvSpPr/>
          <p:nvPr/>
        </p:nvSpPr>
        <p:spPr>
          <a:xfrm rot="2087090">
            <a:off x="1965824" y="1152331"/>
            <a:ext cx="448557" cy="438653"/>
          </a:xfrm>
          <a:prstGeom prst="pie">
            <a:avLst>
              <a:gd fmla="val 1323964" name="adj1"/>
              <a:gd fmla="val 3396291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2" name="Google Shape;1032;p77"/>
          <p:cNvPicPr preferRelativeResize="0"/>
          <p:nvPr/>
        </p:nvPicPr>
        <p:blipFill rotWithShape="1">
          <a:blip r:embed="rId3">
            <a:alphaModFix/>
          </a:blip>
          <a:srcRect b="39429" l="8383" r="65028" t="22581"/>
          <a:stretch/>
        </p:blipFill>
        <p:spPr>
          <a:xfrm>
            <a:off x="952500" y="1197262"/>
            <a:ext cx="2417100" cy="1925474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77"/>
          <p:cNvSpPr/>
          <p:nvPr/>
        </p:nvSpPr>
        <p:spPr>
          <a:xfrm>
            <a:off x="2113747" y="2866472"/>
            <a:ext cx="70500" cy="7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7"/>
          <p:cNvSpPr/>
          <p:nvPr/>
        </p:nvSpPr>
        <p:spPr>
          <a:xfrm rot="-3428979">
            <a:off x="906688" y="2718253"/>
            <a:ext cx="448523" cy="438537"/>
          </a:xfrm>
          <a:prstGeom prst="pie">
            <a:avLst>
              <a:gd fmla="val 135894" name="adj1"/>
              <a:gd fmla="val 3444061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7"/>
          <p:cNvSpPr txBox="1"/>
          <p:nvPr>
            <p:ph idx="1" type="body"/>
          </p:nvPr>
        </p:nvSpPr>
        <p:spPr>
          <a:xfrm>
            <a:off x="324000" y="759300"/>
            <a:ext cx="8680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Decide which of the following are isosceles triangles. If not, state why not.</a:t>
            </a:r>
            <a:endParaRPr sz="1800"/>
          </a:p>
        </p:txBody>
      </p:sp>
      <p:sp>
        <p:nvSpPr>
          <p:cNvPr id="1036" name="Google Shape;1036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Isosceles triangles</a:t>
            </a:r>
            <a:endParaRPr/>
          </a:p>
        </p:txBody>
      </p:sp>
      <p:pic>
        <p:nvPicPr>
          <p:cNvPr id="1037" name="Google Shape;1037;p77"/>
          <p:cNvPicPr preferRelativeResize="0"/>
          <p:nvPr/>
        </p:nvPicPr>
        <p:blipFill rotWithShape="1">
          <a:blip r:embed="rId3">
            <a:alphaModFix/>
          </a:blip>
          <a:srcRect b="61386" l="36705" r="40864" t="8278"/>
          <a:stretch/>
        </p:blipFill>
        <p:spPr>
          <a:xfrm>
            <a:off x="5692438" y="1303000"/>
            <a:ext cx="2039175" cy="153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77"/>
          <p:cNvPicPr preferRelativeResize="0"/>
          <p:nvPr/>
        </p:nvPicPr>
        <p:blipFill rotWithShape="1">
          <a:blip r:embed="rId3">
            <a:alphaModFix/>
          </a:blip>
          <a:srcRect b="71310" l="68069" r="14445" t="2674"/>
          <a:stretch/>
        </p:blipFill>
        <p:spPr>
          <a:xfrm>
            <a:off x="3964850" y="1478950"/>
            <a:ext cx="1589550" cy="131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77"/>
          <p:cNvPicPr preferRelativeResize="0"/>
          <p:nvPr/>
        </p:nvPicPr>
        <p:blipFill rotWithShape="1">
          <a:blip r:embed="rId3">
            <a:alphaModFix/>
          </a:blip>
          <a:srcRect b="20713" l="46439" r="36076" t="53271"/>
          <a:stretch/>
        </p:blipFill>
        <p:spPr>
          <a:xfrm>
            <a:off x="6142075" y="3055675"/>
            <a:ext cx="1589550" cy="131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77"/>
          <p:cNvPicPr preferRelativeResize="0"/>
          <p:nvPr/>
        </p:nvPicPr>
        <p:blipFill rotWithShape="1">
          <a:blip r:embed="rId3">
            <a:alphaModFix/>
          </a:blip>
          <a:srcRect b="5559" l="3212" r="73355" t="68425"/>
          <a:stretch/>
        </p:blipFill>
        <p:spPr>
          <a:xfrm rot="8875271">
            <a:off x="3530252" y="3120711"/>
            <a:ext cx="2130298" cy="131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77"/>
          <p:cNvPicPr preferRelativeResize="0"/>
          <p:nvPr/>
        </p:nvPicPr>
        <p:blipFill rotWithShape="1">
          <a:blip r:embed="rId3">
            <a:alphaModFix/>
          </a:blip>
          <a:srcRect b="14020" l="74206" r="10228" t="38356"/>
          <a:stretch/>
        </p:blipFill>
        <p:spPr>
          <a:xfrm rot="-5400000">
            <a:off x="1319600" y="2740625"/>
            <a:ext cx="1415000" cy="2413774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77"/>
          <p:cNvSpPr/>
          <p:nvPr/>
        </p:nvSpPr>
        <p:spPr>
          <a:xfrm>
            <a:off x="2996549" y="3912137"/>
            <a:ext cx="70500" cy="7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7"/>
          <p:cNvSpPr/>
          <p:nvPr/>
        </p:nvSpPr>
        <p:spPr>
          <a:xfrm rot="-529223">
            <a:off x="4531387" y="3752130"/>
            <a:ext cx="70433" cy="70433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77"/>
          <p:cNvSpPr/>
          <p:nvPr/>
        </p:nvSpPr>
        <p:spPr>
          <a:xfrm rot="2700000">
            <a:off x="4657085" y="2105177"/>
            <a:ext cx="70428" cy="70428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77"/>
          <p:cNvSpPr/>
          <p:nvPr/>
        </p:nvSpPr>
        <p:spPr>
          <a:xfrm>
            <a:off x="6706970" y="2643887"/>
            <a:ext cx="70500" cy="7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77"/>
          <p:cNvSpPr/>
          <p:nvPr/>
        </p:nvSpPr>
        <p:spPr>
          <a:xfrm rot="2451920">
            <a:off x="7030265" y="3792588"/>
            <a:ext cx="70612" cy="7061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77"/>
          <p:cNvSpPr/>
          <p:nvPr/>
        </p:nvSpPr>
        <p:spPr>
          <a:xfrm rot="2700000">
            <a:off x="6484159" y="1193902"/>
            <a:ext cx="448447" cy="438689"/>
          </a:xfrm>
          <a:prstGeom prst="pie">
            <a:avLst>
              <a:gd fmla="val 671401" name="adj1"/>
              <a:gd fmla="val 4552821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8" name="Google Shape;1048;p77"/>
          <p:cNvCxnSpPr/>
          <p:nvPr/>
        </p:nvCxnSpPr>
        <p:spPr>
          <a:xfrm>
            <a:off x="4100026" y="1605205"/>
            <a:ext cx="0" cy="108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49" name="Google Shape;1049;p77"/>
          <p:cNvCxnSpPr/>
          <p:nvPr/>
        </p:nvCxnSpPr>
        <p:spPr>
          <a:xfrm>
            <a:off x="4759625" y="2226175"/>
            <a:ext cx="0" cy="108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0" name="Google Shape;1050;p77"/>
          <p:cNvCxnSpPr/>
          <p:nvPr/>
        </p:nvCxnSpPr>
        <p:spPr>
          <a:xfrm rot="-1925354">
            <a:off x="4675036" y="3665119"/>
            <a:ext cx="956066" cy="38239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1" name="Google Shape;1051;p77"/>
          <p:cNvCxnSpPr/>
          <p:nvPr/>
        </p:nvCxnSpPr>
        <p:spPr>
          <a:xfrm rot="-1924685">
            <a:off x="3656250" y="3818195"/>
            <a:ext cx="952409" cy="41352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52" name="Google Shape;1052;p77"/>
          <p:cNvSpPr/>
          <p:nvPr/>
        </p:nvSpPr>
        <p:spPr>
          <a:xfrm rot="5128316">
            <a:off x="2845443" y="3164704"/>
            <a:ext cx="448400" cy="438459"/>
          </a:xfrm>
          <a:prstGeom prst="pie">
            <a:avLst>
              <a:gd fmla="val 330144" name="adj1"/>
              <a:gd fmla="val 4721360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77"/>
          <p:cNvSpPr/>
          <p:nvPr/>
        </p:nvSpPr>
        <p:spPr>
          <a:xfrm flipH="1" rot="5671684">
            <a:off x="2842192" y="4208972"/>
            <a:ext cx="448400" cy="438459"/>
          </a:xfrm>
          <a:prstGeom prst="pie">
            <a:avLst>
              <a:gd fmla="val 330144" name="adj1"/>
              <a:gd fmla="val 4721360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4" name="Google Shape;1054;p77"/>
          <p:cNvCxnSpPr/>
          <p:nvPr/>
        </p:nvCxnSpPr>
        <p:spPr>
          <a:xfrm rot="10800000">
            <a:off x="6186350" y="3323725"/>
            <a:ext cx="788400" cy="63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5" name="Google Shape;1055;p77"/>
          <p:cNvCxnSpPr/>
          <p:nvPr/>
        </p:nvCxnSpPr>
        <p:spPr>
          <a:xfrm rot="-7738588">
            <a:off x="7300924" y="3433409"/>
            <a:ext cx="788393" cy="640106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56" name="Google Shape;1056;p77"/>
          <p:cNvSpPr txBox="1"/>
          <p:nvPr/>
        </p:nvSpPr>
        <p:spPr>
          <a:xfrm>
            <a:off x="1362176" y="2649709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59°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77"/>
          <p:cNvSpPr txBox="1"/>
          <p:nvPr/>
        </p:nvSpPr>
        <p:spPr>
          <a:xfrm>
            <a:off x="2329013" y="1274650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77"/>
          <p:cNvSpPr txBox="1"/>
          <p:nvPr/>
        </p:nvSpPr>
        <p:spPr>
          <a:xfrm>
            <a:off x="2586751" y="3518121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77"/>
          <p:cNvSpPr txBox="1"/>
          <p:nvPr/>
        </p:nvSpPr>
        <p:spPr>
          <a:xfrm>
            <a:off x="2586751" y="4016289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73°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77"/>
          <p:cNvSpPr txBox="1"/>
          <p:nvPr/>
        </p:nvSpPr>
        <p:spPr>
          <a:xfrm>
            <a:off x="6917851" y="1342789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74°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77"/>
          <p:cNvSpPr/>
          <p:nvPr/>
        </p:nvSpPr>
        <p:spPr>
          <a:xfrm rot="-3428979">
            <a:off x="5700200" y="2498046"/>
            <a:ext cx="448523" cy="438537"/>
          </a:xfrm>
          <a:prstGeom prst="pie">
            <a:avLst>
              <a:gd fmla="val 21512713" name="adj1"/>
              <a:gd fmla="val 3444061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77"/>
          <p:cNvSpPr txBox="1"/>
          <p:nvPr/>
        </p:nvSpPr>
        <p:spPr>
          <a:xfrm>
            <a:off x="6142076" y="2404052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77"/>
          <p:cNvSpPr txBox="1"/>
          <p:nvPr/>
        </p:nvSpPr>
        <p:spPr>
          <a:xfrm>
            <a:off x="4431822" y="2789799"/>
            <a:ext cx="71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2.3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77"/>
          <p:cNvSpPr txBox="1"/>
          <p:nvPr/>
        </p:nvSpPr>
        <p:spPr>
          <a:xfrm>
            <a:off x="3372089" y="1959281"/>
            <a:ext cx="71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2.3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77"/>
          <p:cNvSpPr txBox="1"/>
          <p:nvPr/>
        </p:nvSpPr>
        <p:spPr>
          <a:xfrm>
            <a:off x="3880801" y="4042806"/>
            <a:ext cx="71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77"/>
          <p:cNvSpPr txBox="1"/>
          <p:nvPr/>
        </p:nvSpPr>
        <p:spPr>
          <a:xfrm>
            <a:off x="4843702" y="3912125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19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77"/>
          <p:cNvSpPr txBox="1"/>
          <p:nvPr/>
        </p:nvSpPr>
        <p:spPr>
          <a:xfrm>
            <a:off x="6186346" y="3614838"/>
            <a:ext cx="47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77"/>
          <p:cNvSpPr txBox="1"/>
          <p:nvPr/>
        </p:nvSpPr>
        <p:spPr>
          <a:xfrm>
            <a:off x="7766796" y="3614838"/>
            <a:ext cx="47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9" name="Google Shape;1069;p77"/>
          <p:cNvCxnSpPr/>
          <p:nvPr/>
        </p:nvCxnSpPr>
        <p:spPr>
          <a:xfrm flipH="1" rot="10800000">
            <a:off x="2228725" y="1403950"/>
            <a:ext cx="108600" cy="108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p77"/>
          <p:cNvCxnSpPr>
            <a:endCxn id="1060" idx="1"/>
          </p:cNvCxnSpPr>
          <p:nvPr/>
        </p:nvCxnSpPr>
        <p:spPr>
          <a:xfrm flipH="1" rot="10800000">
            <a:off x="6724651" y="1481389"/>
            <a:ext cx="193200" cy="54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1" name="Google Shape;1071;p77"/>
          <p:cNvSpPr txBox="1"/>
          <p:nvPr/>
        </p:nvSpPr>
        <p:spPr>
          <a:xfrm>
            <a:off x="952500" y="126287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77"/>
          <p:cNvSpPr txBox="1"/>
          <p:nvPr/>
        </p:nvSpPr>
        <p:spPr>
          <a:xfrm>
            <a:off x="3369600" y="126287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77"/>
          <p:cNvSpPr txBox="1"/>
          <p:nvPr/>
        </p:nvSpPr>
        <p:spPr>
          <a:xfrm>
            <a:off x="5630825" y="126287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77"/>
          <p:cNvSpPr txBox="1"/>
          <p:nvPr/>
        </p:nvSpPr>
        <p:spPr>
          <a:xfrm>
            <a:off x="952500" y="317787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77"/>
          <p:cNvSpPr txBox="1"/>
          <p:nvPr/>
        </p:nvSpPr>
        <p:spPr>
          <a:xfrm>
            <a:off x="3369600" y="317787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77"/>
          <p:cNvSpPr txBox="1"/>
          <p:nvPr/>
        </p:nvSpPr>
        <p:spPr>
          <a:xfrm>
            <a:off x="5630825" y="317787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78"/>
          <p:cNvSpPr txBox="1"/>
          <p:nvPr>
            <p:ph idx="1" type="body"/>
          </p:nvPr>
        </p:nvSpPr>
        <p:spPr>
          <a:xfrm>
            <a:off x="324000" y="759300"/>
            <a:ext cx="8680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Add notation marks to the diagrams, where appropriate.</a:t>
            </a:r>
            <a:endParaRPr sz="1800"/>
          </a:p>
        </p:txBody>
      </p:sp>
      <p:sp>
        <p:nvSpPr>
          <p:cNvPr id="1082" name="Google Shape;1082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Isosceles triangles</a:t>
            </a:r>
            <a:endParaRPr/>
          </a:p>
        </p:txBody>
      </p:sp>
      <p:sp>
        <p:nvSpPr>
          <p:cNvPr id="1083" name="Google Shape;1083;p78"/>
          <p:cNvSpPr/>
          <p:nvPr/>
        </p:nvSpPr>
        <p:spPr>
          <a:xfrm rot="1999869">
            <a:off x="1143788" y="1332760"/>
            <a:ext cx="1540738" cy="2072676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4" name="Google Shape;1084;p78"/>
          <p:cNvCxnSpPr>
            <a:stCxn id="1083" idx="0"/>
            <a:endCxn id="1083" idx="3"/>
          </p:cNvCxnSpPr>
          <p:nvPr/>
        </p:nvCxnSpPr>
        <p:spPr>
          <a:xfrm flipH="1">
            <a:off x="1344607" y="1503298"/>
            <a:ext cx="1139100" cy="173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85" name="Google Shape;1085;p78"/>
          <p:cNvSpPr/>
          <p:nvPr/>
        </p:nvSpPr>
        <p:spPr>
          <a:xfrm rot="2080585">
            <a:off x="1277607" y="3086199"/>
            <a:ext cx="116005" cy="11600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6" name="Google Shape;1086;p78"/>
          <p:cNvCxnSpPr/>
          <p:nvPr/>
        </p:nvCxnSpPr>
        <p:spPr>
          <a:xfrm flipH="1" rot="10800000">
            <a:off x="2113225" y="1541650"/>
            <a:ext cx="478800" cy="217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87" name="Google Shape;1087;p78"/>
          <p:cNvSpPr txBox="1"/>
          <p:nvPr/>
        </p:nvSpPr>
        <p:spPr>
          <a:xfrm rot="-2562">
            <a:off x="2423419" y="2490708"/>
            <a:ext cx="80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/>
          </a:p>
        </p:txBody>
      </p:sp>
      <p:cxnSp>
        <p:nvCxnSpPr>
          <p:cNvPr id="1088" name="Google Shape;1088;p78"/>
          <p:cNvCxnSpPr/>
          <p:nvPr/>
        </p:nvCxnSpPr>
        <p:spPr>
          <a:xfrm flipH="1" rot="-8220386">
            <a:off x="1237472" y="981574"/>
            <a:ext cx="478651" cy="2175679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89" name="Google Shape;1089;p78"/>
          <p:cNvSpPr txBox="1"/>
          <p:nvPr/>
        </p:nvSpPr>
        <p:spPr>
          <a:xfrm rot="-2562">
            <a:off x="963219" y="1689605"/>
            <a:ext cx="80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 cm</a:t>
            </a:r>
            <a:endParaRPr/>
          </a:p>
        </p:txBody>
      </p:sp>
      <p:sp>
        <p:nvSpPr>
          <p:cNvPr id="1090" name="Google Shape;1090;p78"/>
          <p:cNvSpPr/>
          <p:nvPr/>
        </p:nvSpPr>
        <p:spPr>
          <a:xfrm>
            <a:off x="4165950" y="1478950"/>
            <a:ext cx="4181700" cy="9456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1" name="Google Shape;1091;p78"/>
          <p:cNvCxnSpPr>
            <a:stCxn id="1090" idx="0"/>
            <a:endCxn id="1090" idx="3"/>
          </p:cNvCxnSpPr>
          <p:nvPr/>
        </p:nvCxnSpPr>
        <p:spPr>
          <a:xfrm>
            <a:off x="6256800" y="1478950"/>
            <a:ext cx="0" cy="945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92" name="Google Shape;1092;p78"/>
          <p:cNvSpPr/>
          <p:nvPr/>
        </p:nvSpPr>
        <p:spPr>
          <a:xfrm>
            <a:off x="6140707" y="2304736"/>
            <a:ext cx="116100" cy="116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78"/>
          <p:cNvSpPr/>
          <p:nvPr/>
        </p:nvSpPr>
        <p:spPr>
          <a:xfrm rot="-1949696">
            <a:off x="3799548" y="2061961"/>
            <a:ext cx="722044" cy="722044"/>
          </a:xfrm>
          <a:prstGeom prst="pie">
            <a:avLst>
              <a:gd fmla="val 543387" name="adj1"/>
              <a:gd fmla="val 1917443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78"/>
          <p:cNvSpPr/>
          <p:nvPr/>
        </p:nvSpPr>
        <p:spPr>
          <a:xfrm flipH="1" rot="1949696">
            <a:off x="7991998" y="2061961"/>
            <a:ext cx="722044" cy="722044"/>
          </a:xfrm>
          <a:prstGeom prst="pie">
            <a:avLst>
              <a:gd fmla="val 543387" name="adj1"/>
              <a:gd fmla="val 1917443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78"/>
          <p:cNvSpPr txBox="1"/>
          <p:nvPr/>
        </p:nvSpPr>
        <p:spPr>
          <a:xfrm>
            <a:off x="4626973" y="217574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78"/>
          <p:cNvSpPr txBox="1"/>
          <p:nvPr/>
        </p:nvSpPr>
        <p:spPr>
          <a:xfrm>
            <a:off x="7542423" y="217574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78"/>
          <p:cNvSpPr/>
          <p:nvPr/>
        </p:nvSpPr>
        <p:spPr>
          <a:xfrm>
            <a:off x="4274450" y="2983450"/>
            <a:ext cx="1456200" cy="14562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8" name="Google Shape;1098;p78"/>
          <p:cNvCxnSpPr>
            <a:stCxn id="1097" idx="2"/>
          </p:cNvCxnSpPr>
          <p:nvPr/>
        </p:nvCxnSpPr>
        <p:spPr>
          <a:xfrm flipH="1" rot="10800000">
            <a:off x="4274450" y="3711550"/>
            <a:ext cx="728100" cy="728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99" name="Google Shape;1099;p78"/>
          <p:cNvSpPr/>
          <p:nvPr/>
        </p:nvSpPr>
        <p:spPr>
          <a:xfrm rot="3526007">
            <a:off x="3920436" y="2631923"/>
            <a:ext cx="722051" cy="722051"/>
          </a:xfrm>
          <a:prstGeom prst="pie">
            <a:avLst>
              <a:gd fmla="val 20758785" name="adj1"/>
              <a:gd fmla="val 1917443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78"/>
          <p:cNvSpPr/>
          <p:nvPr/>
        </p:nvSpPr>
        <p:spPr>
          <a:xfrm>
            <a:off x="4274450" y="4278250"/>
            <a:ext cx="161400" cy="1614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78"/>
          <p:cNvSpPr txBox="1"/>
          <p:nvPr/>
        </p:nvSpPr>
        <p:spPr>
          <a:xfrm>
            <a:off x="4308165" y="3339582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78"/>
          <p:cNvSpPr/>
          <p:nvPr/>
        </p:nvSpPr>
        <p:spPr>
          <a:xfrm rot="2700000">
            <a:off x="4944433" y="3736524"/>
            <a:ext cx="116248" cy="116248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78"/>
          <p:cNvSpPr txBox="1"/>
          <p:nvPr/>
        </p:nvSpPr>
        <p:spPr>
          <a:xfrm>
            <a:off x="446000" y="1394713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78"/>
          <p:cNvSpPr txBox="1"/>
          <p:nvPr/>
        </p:nvSpPr>
        <p:spPr>
          <a:xfrm>
            <a:off x="3662125" y="1394700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78"/>
          <p:cNvSpPr txBox="1"/>
          <p:nvPr/>
        </p:nvSpPr>
        <p:spPr>
          <a:xfrm>
            <a:off x="3662125" y="292142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79"/>
          <p:cNvSpPr/>
          <p:nvPr/>
        </p:nvSpPr>
        <p:spPr>
          <a:xfrm rot="2087090">
            <a:off x="1737224" y="1152331"/>
            <a:ext cx="448557" cy="438653"/>
          </a:xfrm>
          <a:prstGeom prst="pie">
            <a:avLst>
              <a:gd fmla="val 1323964" name="adj1"/>
              <a:gd fmla="val 3396291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1" name="Google Shape;1111;p79"/>
          <p:cNvPicPr preferRelativeResize="0"/>
          <p:nvPr/>
        </p:nvPicPr>
        <p:blipFill rotWithShape="1">
          <a:blip r:embed="rId3">
            <a:alphaModFix/>
          </a:blip>
          <a:srcRect b="39429" l="8383" r="65028" t="22581"/>
          <a:stretch/>
        </p:blipFill>
        <p:spPr>
          <a:xfrm>
            <a:off x="723900" y="1197262"/>
            <a:ext cx="2417100" cy="1925474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79"/>
          <p:cNvSpPr/>
          <p:nvPr/>
        </p:nvSpPr>
        <p:spPr>
          <a:xfrm>
            <a:off x="1885147" y="2866472"/>
            <a:ext cx="70500" cy="7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79"/>
          <p:cNvSpPr/>
          <p:nvPr/>
        </p:nvSpPr>
        <p:spPr>
          <a:xfrm rot="-3428979">
            <a:off x="678088" y="2718253"/>
            <a:ext cx="448523" cy="438537"/>
          </a:xfrm>
          <a:prstGeom prst="pie">
            <a:avLst>
              <a:gd fmla="val 135894" name="adj1"/>
              <a:gd fmla="val 3444061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79"/>
          <p:cNvSpPr txBox="1"/>
          <p:nvPr>
            <p:ph idx="1" type="body"/>
          </p:nvPr>
        </p:nvSpPr>
        <p:spPr>
          <a:xfrm>
            <a:off x="324000" y="759300"/>
            <a:ext cx="87831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Decide which of the following are isosceles triangles. If not, state why not.</a:t>
            </a:r>
            <a:endParaRPr sz="1800"/>
          </a:p>
        </p:txBody>
      </p:sp>
      <p:sp>
        <p:nvSpPr>
          <p:cNvPr id="1115" name="Google Shape;1115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Isosceles triangles</a:t>
            </a:r>
            <a:endParaRPr/>
          </a:p>
        </p:txBody>
      </p:sp>
      <p:pic>
        <p:nvPicPr>
          <p:cNvPr id="1116" name="Google Shape;1116;p79"/>
          <p:cNvPicPr preferRelativeResize="0"/>
          <p:nvPr/>
        </p:nvPicPr>
        <p:blipFill rotWithShape="1">
          <a:blip r:embed="rId3">
            <a:alphaModFix/>
          </a:blip>
          <a:srcRect b="61386" l="36705" r="40864" t="8278"/>
          <a:stretch/>
        </p:blipFill>
        <p:spPr>
          <a:xfrm>
            <a:off x="5768638" y="1074400"/>
            <a:ext cx="2039175" cy="153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79"/>
          <p:cNvPicPr preferRelativeResize="0"/>
          <p:nvPr/>
        </p:nvPicPr>
        <p:blipFill rotWithShape="1">
          <a:blip r:embed="rId3">
            <a:alphaModFix/>
          </a:blip>
          <a:srcRect b="71310" l="68069" r="14445" t="2674"/>
          <a:stretch/>
        </p:blipFill>
        <p:spPr>
          <a:xfrm>
            <a:off x="3812450" y="1097950"/>
            <a:ext cx="1589550" cy="131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79"/>
          <p:cNvPicPr preferRelativeResize="0"/>
          <p:nvPr/>
        </p:nvPicPr>
        <p:blipFill rotWithShape="1">
          <a:blip r:embed="rId3">
            <a:alphaModFix/>
          </a:blip>
          <a:srcRect b="20713" l="46439" r="36076" t="53271"/>
          <a:stretch/>
        </p:blipFill>
        <p:spPr>
          <a:xfrm>
            <a:off x="6294475" y="2750875"/>
            <a:ext cx="1589550" cy="131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79"/>
          <p:cNvPicPr preferRelativeResize="0"/>
          <p:nvPr/>
        </p:nvPicPr>
        <p:blipFill rotWithShape="1">
          <a:blip r:embed="rId3">
            <a:alphaModFix/>
          </a:blip>
          <a:srcRect b="5559" l="3212" r="73355" t="68425"/>
          <a:stretch/>
        </p:blipFill>
        <p:spPr>
          <a:xfrm rot="8875271">
            <a:off x="3377852" y="2663511"/>
            <a:ext cx="2130298" cy="131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79"/>
          <p:cNvPicPr preferRelativeResize="0"/>
          <p:nvPr/>
        </p:nvPicPr>
        <p:blipFill rotWithShape="1">
          <a:blip r:embed="rId3">
            <a:alphaModFix/>
          </a:blip>
          <a:srcRect b="14020" l="74206" r="10228" t="38356"/>
          <a:stretch/>
        </p:blipFill>
        <p:spPr>
          <a:xfrm rot="-5400000">
            <a:off x="1091000" y="2740625"/>
            <a:ext cx="1415000" cy="24137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79"/>
          <p:cNvSpPr/>
          <p:nvPr/>
        </p:nvSpPr>
        <p:spPr>
          <a:xfrm>
            <a:off x="2767949" y="3912137"/>
            <a:ext cx="70500" cy="7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79"/>
          <p:cNvSpPr/>
          <p:nvPr/>
        </p:nvSpPr>
        <p:spPr>
          <a:xfrm rot="-529223">
            <a:off x="4378987" y="3294930"/>
            <a:ext cx="70433" cy="70433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79"/>
          <p:cNvSpPr/>
          <p:nvPr/>
        </p:nvSpPr>
        <p:spPr>
          <a:xfrm rot="2700000">
            <a:off x="4555400" y="1768775"/>
            <a:ext cx="70428" cy="70428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79"/>
          <p:cNvSpPr/>
          <p:nvPr/>
        </p:nvSpPr>
        <p:spPr>
          <a:xfrm>
            <a:off x="6783170" y="2415287"/>
            <a:ext cx="70500" cy="70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79"/>
          <p:cNvSpPr/>
          <p:nvPr/>
        </p:nvSpPr>
        <p:spPr>
          <a:xfrm rot="2451920">
            <a:off x="7182665" y="3487788"/>
            <a:ext cx="70612" cy="7061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79"/>
          <p:cNvSpPr/>
          <p:nvPr/>
        </p:nvSpPr>
        <p:spPr>
          <a:xfrm rot="2700000">
            <a:off x="6560359" y="965302"/>
            <a:ext cx="448447" cy="438689"/>
          </a:xfrm>
          <a:prstGeom prst="pie">
            <a:avLst>
              <a:gd fmla="val 671401" name="adj1"/>
              <a:gd fmla="val 4552821" name="adj2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7" name="Google Shape;1127;p79"/>
          <p:cNvCxnSpPr/>
          <p:nvPr/>
        </p:nvCxnSpPr>
        <p:spPr>
          <a:xfrm>
            <a:off x="3947626" y="1224205"/>
            <a:ext cx="0" cy="108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28" name="Google Shape;1128;p79"/>
          <p:cNvCxnSpPr/>
          <p:nvPr/>
        </p:nvCxnSpPr>
        <p:spPr>
          <a:xfrm>
            <a:off x="4607225" y="1845175"/>
            <a:ext cx="0" cy="108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29" name="Google Shape;1129;p79"/>
          <p:cNvCxnSpPr/>
          <p:nvPr/>
        </p:nvCxnSpPr>
        <p:spPr>
          <a:xfrm rot="-1925354">
            <a:off x="4522636" y="3207919"/>
            <a:ext cx="956066" cy="38239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30" name="Google Shape;1130;p79"/>
          <p:cNvCxnSpPr/>
          <p:nvPr/>
        </p:nvCxnSpPr>
        <p:spPr>
          <a:xfrm rot="-1924685">
            <a:off x="3503850" y="3360995"/>
            <a:ext cx="952409" cy="41352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1" name="Google Shape;1131;p79"/>
          <p:cNvSpPr/>
          <p:nvPr/>
        </p:nvSpPr>
        <p:spPr>
          <a:xfrm rot="5128316">
            <a:off x="2616843" y="3164704"/>
            <a:ext cx="448400" cy="438459"/>
          </a:xfrm>
          <a:prstGeom prst="pie">
            <a:avLst>
              <a:gd fmla="val 330144" name="adj1"/>
              <a:gd fmla="val 4721360" name="adj2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79"/>
          <p:cNvSpPr/>
          <p:nvPr/>
        </p:nvSpPr>
        <p:spPr>
          <a:xfrm flipH="1" rot="5671684">
            <a:off x="2613592" y="4208972"/>
            <a:ext cx="448400" cy="438459"/>
          </a:xfrm>
          <a:prstGeom prst="pie">
            <a:avLst>
              <a:gd fmla="val 330144" name="adj1"/>
              <a:gd fmla="val 4721360" name="adj2"/>
            </a:avLst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3" name="Google Shape;1133;p79"/>
          <p:cNvCxnSpPr/>
          <p:nvPr/>
        </p:nvCxnSpPr>
        <p:spPr>
          <a:xfrm rot="10800000">
            <a:off x="6338750" y="3018925"/>
            <a:ext cx="788400" cy="63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34" name="Google Shape;1134;p79"/>
          <p:cNvCxnSpPr/>
          <p:nvPr/>
        </p:nvCxnSpPr>
        <p:spPr>
          <a:xfrm rot="-7738588">
            <a:off x="7453324" y="3128609"/>
            <a:ext cx="788393" cy="640106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5" name="Google Shape;1135;p79"/>
          <p:cNvSpPr txBox="1"/>
          <p:nvPr/>
        </p:nvSpPr>
        <p:spPr>
          <a:xfrm>
            <a:off x="1133576" y="2649709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59°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79"/>
          <p:cNvSpPr txBox="1"/>
          <p:nvPr/>
        </p:nvSpPr>
        <p:spPr>
          <a:xfrm>
            <a:off x="2100413" y="1274650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31°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79"/>
          <p:cNvSpPr txBox="1"/>
          <p:nvPr/>
        </p:nvSpPr>
        <p:spPr>
          <a:xfrm>
            <a:off x="2358151" y="3518121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73°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79"/>
          <p:cNvSpPr txBox="1"/>
          <p:nvPr/>
        </p:nvSpPr>
        <p:spPr>
          <a:xfrm>
            <a:off x="2358151" y="4016289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73°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79"/>
          <p:cNvSpPr txBox="1"/>
          <p:nvPr/>
        </p:nvSpPr>
        <p:spPr>
          <a:xfrm>
            <a:off x="6994051" y="1114189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74°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79"/>
          <p:cNvSpPr/>
          <p:nvPr/>
        </p:nvSpPr>
        <p:spPr>
          <a:xfrm rot="-3428979">
            <a:off x="5776400" y="2269446"/>
            <a:ext cx="448523" cy="438537"/>
          </a:xfrm>
          <a:prstGeom prst="pie">
            <a:avLst>
              <a:gd fmla="val 21512713" name="adj1"/>
              <a:gd fmla="val 3444061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79"/>
          <p:cNvSpPr txBox="1"/>
          <p:nvPr/>
        </p:nvSpPr>
        <p:spPr>
          <a:xfrm>
            <a:off x="6218276" y="2175452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53°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79"/>
          <p:cNvSpPr txBox="1"/>
          <p:nvPr/>
        </p:nvSpPr>
        <p:spPr>
          <a:xfrm>
            <a:off x="4279422" y="2408799"/>
            <a:ext cx="71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2.3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79"/>
          <p:cNvSpPr txBox="1"/>
          <p:nvPr/>
        </p:nvSpPr>
        <p:spPr>
          <a:xfrm>
            <a:off x="3219689" y="1578281"/>
            <a:ext cx="71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2.3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79"/>
          <p:cNvSpPr txBox="1"/>
          <p:nvPr/>
        </p:nvSpPr>
        <p:spPr>
          <a:xfrm>
            <a:off x="3728401" y="3585606"/>
            <a:ext cx="71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1.8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79"/>
          <p:cNvSpPr txBox="1"/>
          <p:nvPr/>
        </p:nvSpPr>
        <p:spPr>
          <a:xfrm>
            <a:off x="4691302" y="3454925"/>
            <a:ext cx="87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19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79"/>
          <p:cNvSpPr txBox="1"/>
          <p:nvPr/>
        </p:nvSpPr>
        <p:spPr>
          <a:xfrm>
            <a:off x="6338746" y="3310038"/>
            <a:ext cx="47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79"/>
          <p:cNvSpPr txBox="1"/>
          <p:nvPr/>
        </p:nvSpPr>
        <p:spPr>
          <a:xfrm>
            <a:off x="7919196" y="3310038"/>
            <a:ext cx="47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79"/>
          <p:cNvSpPr txBox="1"/>
          <p:nvPr/>
        </p:nvSpPr>
        <p:spPr>
          <a:xfrm>
            <a:off x="360700" y="1762975"/>
            <a:ext cx="108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sosceles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9" name="Google Shape;1149;p79"/>
          <p:cNvSpPr txBox="1"/>
          <p:nvPr/>
        </p:nvSpPr>
        <p:spPr>
          <a:xfrm>
            <a:off x="4540825" y="1298750"/>
            <a:ext cx="108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isosceles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0" name="Google Shape;1150;p79"/>
          <p:cNvSpPr txBox="1"/>
          <p:nvPr/>
        </p:nvSpPr>
        <p:spPr>
          <a:xfrm>
            <a:off x="7403850" y="1451500"/>
            <a:ext cx="108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isosceles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1" name="Google Shape;1151;p79"/>
          <p:cNvSpPr txBox="1"/>
          <p:nvPr/>
        </p:nvSpPr>
        <p:spPr>
          <a:xfrm>
            <a:off x="1025425" y="4116850"/>
            <a:ext cx="108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isosceles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2" name="Google Shape;1152;p79"/>
          <p:cNvSpPr txBox="1"/>
          <p:nvPr/>
        </p:nvSpPr>
        <p:spPr>
          <a:xfrm>
            <a:off x="3368850" y="3910350"/>
            <a:ext cx="269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ot an isosceles - the altitude does not </a:t>
            </a: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bisect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the base edge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3" name="Google Shape;1153;p79"/>
          <p:cNvSpPr txBox="1"/>
          <p:nvPr/>
        </p:nvSpPr>
        <p:spPr>
          <a:xfrm>
            <a:off x="6213647" y="3910934"/>
            <a:ext cx="227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not an isosceles - there are not two equal edges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54" name="Google Shape;1154;p79"/>
          <p:cNvCxnSpPr/>
          <p:nvPr/>
        </p:nvCxnSpPr>
        <p:spPr>
          <a:xfrm flipH="1" rot="10800000">
            <a:off x="2000125" y="1403950"/>
            <a:ext cx="108600" cy="108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5" name="Google Shape;1155;p79"/>
          <p:cNvCxnSpPr/>
          <p:nvPr/>
        </p:nvCxnSpPr>
        <p:spPr>
          <a:xfrm flipH="1" rot="10800000">
            <a:off x="6800851" y="1252789"/>
            <a:ext cx="193200" cy="54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6" name="Google Shape;1156;p79"/>
          <p:cNvSpPr txBox="1"/>
          <p:nvPr/>
        </p:nvSpPr>
        <p:spPr>
          <a:xfrm>
            <a:off x="571500" y="126287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79"/>
          <p:cNvSpPr txBox="1"/>
          <p:nvPr/>
        </p:nvSpPr>
        <p:spPr>
          <a:xfrm>
            <a:off x="2988600" y="126287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79"/>
          <p:cNvSpPr txBox="1"/>
          <p:nvPr/>
        </p:nvSpPr>
        <p:spPr>
          <a:xfrm>
            <a:off x="5935625" y="126287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79"/>
          <p:cNvSpPr txBox="1"/>
          <p:nvPr/>
        </p:nvSpPr>
        <p:spPr>
          <a:xfrm>
            <a:off x="571500" y="317787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79"/>
          <p:cNvSpPr txBox="1"/>
          <p:nvPr/>
        </p:nvSpPr>
        <p:spPr>
          <a:xfrm>
            <a:off x="2988600" y="317787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79"/>
          <p:cNvSpPr txBox="1"/>
          <p:nvPr/>
        </p:nvSpPr>
        <p:spPr>
          <a:xfrm>
            <a:off x="5935625" y="317787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80"/>
          <p:cNvSpPr/>
          <p:nvPr/>
        </p:nvSpPr>
        <p:spPr>
          <a:xfrm rot="-1898976">
            <a:off x="3920394" y="4077754"/>
            <a:ext cx="722095" cy="722095"/>
          </a:xfrm>
          <a:prstGeom prst="pie">
            <a:avLst>
              <a:gd fmla="val 20758785" name="adj1"/>
              <a:gd fmla="val 1917443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80"/>
          <p:cNvSpPr/>
          <p:nvPr/>
        </p:nvSpPr>
        <p:spPr>
          <a:xfrm rot="-4594528">
            <a:off x="3858465" y="4010998"/>
            <a:ext cx="845091" cy="845091"/>
          </a:xfrm>
          <a:prstGeom prst="pie">
            <a:avLst>
              <a:gd fmla="val 20758785" name="adj1"/>
              <a:gd fmla="val 1917443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80"/>
          <p:cNvSpPr/>
          <p:nvPr/>
        </p:nvSpPr>
        <p:spPr>
          <a:xfrm rot="-1898209">
            <a:off x="3861114" y="4016058"/>
            <a:ext cx="845323" cy="845323"/>
          </a:xfrm>
          <a:prstGeom prst="pie">
            <a:avLst>
              <a:gd fmla="val 20758785" name="adj1"/>
              <a:gd fmla="val 1917443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80"/>
          <p:cNvSpPr txBox="1"/>
          <p:nvPr>
            <p:ph idx="1" type="body"/>
          </p:nvPr>
        </p:nvSpPr>
        <p:spPr>
          <a:xfrm>
            <a:off x="324000" y="759300"/>
            <a:ext cx="8237700" cy="3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Add notation marks to the diagrams, where appropriate.</a:t>
            </a:r>
            <a:endParaRPr sz="1800"/>
          </a:p>
        </p:txBody>
      </p:sp>
      <p:sp>
        <p:nvSpPr>
          <p:cNvPr id="1170" name="Google Shape;1170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Isosceles triangles</a:t>
            </a:r>
            <a:endParaRPr/>
          </a:p>
        </p:txBody>
      </p:sp>
      <p:sp>
        <p:nvSpPr>
          <p:cNvPr id="1171" name="Google Shape;1171;p80"/>
          <p:cNvSpPr/>
          <p:nvPr/>
        </p:nvSpPr>
        <p:spPr>
          <a:xfrm rot="1999869">
            <a:off x="1143788" y="1332760"/>
            <a:ext cx="1540738" cy="2072676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2" name="Google Shape;1172;p80"/>
          <p:cNvCxnSpPr>
            <a:stCxn id="1171" idx="0"/>
            <a:endCxn id="1171" idx="3"/>
          </p:cNvCxnSpPr>
          <p:nvPr/>
        </p:nvCxnSpPr>
        <p:spPr>
          <a:xfrm flipH="1">
            <a:off x="1344607" y="1503298"/>
            <a:ext cx="1139100" cy="173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73" name="Google Shape;1173;p80"/>
          <p:cNvSpPr/>
          <p:nvPr/>
        </p:nvSpPr>
        <p:spPr>
          <a:xfrm rot="2080585">
            <a:off x="1277607" y="3086199"/>
            <a:ext cx="116005" cy="11600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4" name="Google Shape;1174;p80"/>
          <p:cNvCxnSpPr/>
          <p:nvPr/>
        </p:nvCxnSpPr>
        <p:spPr>
          <a:xfrm flipH="1" rot="10800000">
            <a:off x="2113225" y="1541650"/>
            <a:ext cx="478800" cy="217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75" name="Google Shape;1175;p80"/>
          <p:cNvSpPr txBox="1"/>
          <p:nvPr/>
        </p:nvSpPr>
        <p:spPr>
          <a:xfrm rot="-2562">
            <a:off x="2423419" y="2490708"/>
            <a:ext cx="80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 cm</a:t>
            </a:r>
            <a:endParaRPr/>
          </a:p>
        </p:txBody>
      </p:sp>
      <p:cxnSp>
        <p:nvCxnSpPr>
          <p:cNvPr id="1176" name="Google Shape;1176;p80"/>
          <p:cNvCxnSpPr/>
          <p:nvPr/>
        </p:nvCxnSpPr>
        <p:spPr>
          <a:xfrm flipH="1" rot="-8220386">
            <a:off x="1237472" y="981574"/>
            <a:ext cx="478651" cy="2175679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77" name="Google Shape;1177;p80"/>
          <p:cNvSpPr txBox="1"/>
          <p:nvPr/>
        </p:nvSpPr>
        <p:spPr>
          <a:xfrm rot="-2562">
            <a:off x="963219" y="1689605"/>
            <a:ext cx="80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 cm</a:t>
            </a:r>
            <a:endParaRPr/>
          </a:p>
        </p:txBody>
      </p:sp>
      <p:sp>
        <p:nvSpPr>
          <p:cNvPr id="1178" name="Google Shape;1178;p80"/>
          <p:cNvSpPr/>
          <p:nvPr/>
        </p:nvSpPr>
        <p:spPr>
          <a:xfrm>
            <a:off x="4165950" y="1478950"/>
            <a:ext cx="4181700" cy="9456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9" name="Google Shape;1179;p80"/>
          <p:cNvCxnSpPr>
            <a:stCxn id="1178" idx="0"/>
            <a:endCxn id="1178" idx="3"/>
          </p:cNvCxnSpPr>
          <p:nvPr/>
        </p:nvCxnSpPr>
        <p:spPr>
          <a:xfrm>
            <a:off x="6256800" y="1478950"/>
            <a:ext cx="0" cy="945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80" name="Google Shape;1180;p80"/>
          <p:cNvSpPr/>
          <p:nvPr/>
        </p:nvSpPr>
        <p:spPr>
          <a:xfrm>
            <a:off x="6140707" y="2304736"/>
            <a:ext cx="116100" cy="116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80"/>
          <p:cNvSpPr/>
          <p:nvPr/>
        </p:nvSpPr>
        <p:spPr>
          <a:xfrm rot="-1949696">
            <a:off x="3799548" y="2061961"/>
            <a:ext cx="722044" cy="722044"/>
          </a:xfrm>
          <a:prstGeom prst="pie">
            <a:avLst>
              <a:gd fmla="val 543387" name="adj1"/>
              <a:gd fmla="val 1917443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80"/>
          <p:cNvSpPr/>
          <p:nvPr/>
        </p:nvSpPr>
        <p:spPr>
          <a:xfrm flipH="1" rot="1949696">
            <a:off x="7991998" y="2061961"/>
            <a:ext cx="722044" cy="722044"/>
          </a:xfrm>
          <a:prstGeom prst="pie">
            <a:avLst>
              <a:gd fmla="val 543387" name="adj1"/>
              <a:gd fmla="val 1917443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80"/>
          <p:cNvSpPr txBox="1"/>
          <p:nvPr/>
        </p:nvSpPr>
        <p:spPr>
          <a:xfrm>
            <a:off x="4626973" y="217574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80"/>
          <p:cNvSpPr txBox="1"/>
          <p:nvPr/>
        </p:nvSpPr>
        <p:spPr>
          <a:xfrm>
            <a:off x="7542423" y="217574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80"/>
          <p:cNvSpPr/>
          <p:nvPr/>
        </p:nvSpPr>
        <p:spPr>
          <a:xfrm>
            <a:off x="4274450" y="2983450"/>
            <a:ext cx="1456200" cy="14562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6" name="Google Shape;1186;p80"/>
          <p:cNvCxnSpPr>
            <a:stCxn id="1185" idx="2"/>
          </p:cNvCxnSpPr>
          <p:nvPr/>
        </p:nvCxnSpPr>
        <p:spPr>
          <a:xfrm flipH="1" rot="10800000">
            <a:off x="4274450" y="3711550"/>
            <a:ext cx="728100" cy="728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87" name="Google Shape;1187;p80"/>
          <p:cNvSpPr/>
          <p:nvPr/>
        </p:nvSpPr>
        <p:spPr>
          <a:xfrm rot="3526007">
            <a:off x="3920436" y="2631923"/>
            <a:ext cx="722051" cy="722051"/>
          </a:xfrm>
          <a:prstGeom prst="pie">
            <a:avLst>
              <a:gd fmla="val 20758785" name="adj1"/>
              <a:gd fmla="val 1917443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80"/>
          <p:cNvSpPr/>
          <p:nvPr/>
        </p:nvSpPr>
        <p:spPr>
          <a:xfrm>
            <a:off x="4274450" y="4278250"/>
            <a:ext cx="161400" cy="161400"/>
          </a:xfrm>
          <a:prstGeom prst="rect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80"/>
          <p:cNvSpPr txBox="1"/>
          <p:nvPr/>
        </p:nvSpPr>
        <p:spPr>
          <a:xfrm>
            <a:off x="4308165" y="3339582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80"/>
          <p:cNvSpPr/>
          <p:nvPr/>
        </p:nvSpPr>
        <p:spPr>
          <a:xfrm rot="2700000">
            <a:off x="4944433" y="3736524"/>
            <a:ext cx="116248" cy="116248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1" name="Google Shape;1191;p80"/>
          <p:cNvCxnSpPr/>
          <p:nvPr/>
        </p:nvCxnSpPr>
        <p:spPr>
          <a:xfrm>
            <a:off x="1617900" y="2033850"/>
            <a:ext cx="116700" cy="140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2" name="Google Shape;1192;p80"/>
          <p:cNvCxnSpPr/>
          <p:nvPr/>
        </p:nvCxnSpPr>
        <p:spPr>
          <a:xfrm rot="-2141505">
            <a:off x="2215658" y="2352626"/>
            <a:ext cx="116725" cy="14072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3" name="Google Shape;1193;p80"/>
          <p:cNvCxnSpPr/>
          <p:nvPr/>
        </p:nvCxnSpPr>
        <p:spPr>
          <a:xfrm flipH="1" rot="10800000">
            <a:off x="936246" y="2937461"/>
            <a:ext cx="83400" cy="11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4" name="Google Shape;1194;p80"/>
          <p:cNvCxnSpPr/>
          <p:nvPr/>
        </p:nvCxnSpPr>
        <p:spPr>
          <a:xfrm flipH="1" rot="10800000">
            <a:off x="975196" y="2968211"/>
            <a:ext cx="83400" cy="11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5" name="Google Shape;1195;p80"/>
          <p:cNvCxnSpPr/>
          <p:nvPr/>
        </p:nvCxnSpPr>
        <p:spPr>
          <a:xfrm flipH="1" rot="10800000">
            <a:off x="1587321" y="3361636"/>
            <a:ext cx="83400" cy="11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6" name="Google Shape;1196;p80"/>
          <p:cNvCxnSpPr/>
          <p:nvPr/>
        </p:nvCxnSpPr>
        <p:spPr>
          <a:xfrm flipH="1" rot="10800000">
            <a:off x="1626271" y="3392386"/>
            <a:ext cx="83400" cy="11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97" name="Google Shape;1197;p80"/>
          <p:cNvGrpSpPr/>
          <p:nvPr/>
        </p:nvGrpSpPr>
        <p:grpSpPr>
          <a:xfrm>
            <a:off x="511973" y="2622984"/>
            <a:ext cx="381300" cy="381300"/>
            <a:chOff x="511973" y="2622984"/>
            <a:chExt cx="381300" cy="381300"/>
          </a:xfrm>
        </p:grpSpPr>
        <p:sp>
          <p:nvSpPr>
            <p:cNvPr id="1198" name="Google Shape;1198;p80"/>
            <p:cNvSpPr/>
            <p:nvPr/>
          </p:nvSpPr>
          <p:spPr>
            <a:xfrm rot="-238505">
              <a:off x="565836" y="2673589"/>
              <a:ext cx="276966" cy="276966"/>
            </a:xfrm>
            <a:prstGeom prst="pie">
              <a:avLst>
                <a:gd fmla="val 19587920" name="adj1"/>
                <a:gd fmla="val 2235337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9" name="Google Shape;1199;p80"/>
            <p:cNvSpPr/>
            <p:nvPr/>
          </p:nvSpPr>
          <p:spPr>
            <a:xfrm rot="-239790">
              <a:off x="523989" y="2635000"/>
              <a:ext cx="357269" cy="357269"/>
            </a:xfrm>
            <a:prstGeom prst="pie">
              <a:avLst>
                <a:gd fmla="val 19587920" name="adj1"/>
                <a:gd fmla="val 2235337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0" name="Google Shape;1200;p80"/>
          <p:cNvGrpSpPr/>
          <p:nvPr/>
        </p:nvGrpSpPr>
        <p:grpSpPr>
          <a:xfrm rot="7630827">
            <a:off x="6064210" y="1292486"/>
            <a:ext cx="381283" cy="381283"/>
            <a:chOff x="511973" y="2622984"/>
            <a:chExt cx="381300" cy="381300"/>
          </a:xfrm>
        </p:grpSpPr>
        <p:sp>
          <p:nvSpPr>
            <p:cNvPr id="1201" name="Google Shape;1201;p80"/>
            <p:cNvSpPr/>
            <p:nvPr/>
          </p:nvSpPr>
          <p:spPr>
            <a:xfrm rot="-238505">
              <a:off x="565836" y="2673589"/>
              <a:ext cx="276966" cy="276966"/>
            </a:xfrm>
            <a:prstGeom prst="pie">
              <a:avLst>
                <a:gd fmla="val 19587920" name="adj1"/>
                <a:gd fmla="val 2053117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2" name="Google Shape;1202;p80"/>
            <p:cNvSpPr/>
            <p:nvPr/>
          </p:nvSpPr>
          <p:spPr>
            <a:xfrm rot="-239790">
              <a:off x="523989" y="2635000"/>
              <a:ext cx="357269" cy="357269"/>
            </a:xfrm>
            <a:prstGeom prst="pie">
              <a:avLst>
                <a:gd fmla="val 19587920" name="adj1"/>
                <a:gd fmla="val 1982748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3" name="Google Shape;1203;p80"/>
          <p:cNvGrpSpPr/>
          <p:nvPr/>
        </p:nvGrpSpPr>
        <p:grpSpPr>
          <a:xfrm flipH="1" rot="-7630827">
            <a:off x="6067646" y="1292486"/>
            <a:ext cx="381283" cy="381283"/>
            <a:chOff x="511973" y="2622984"/>
            <a:chExt cx="381300" cy="381300"/>
          </a:xfrm>
        </p:grpSpPr>
        <p:sp>
          <p:nvSpPr>
            <p:cNvPr id="1204" name="Google Shape;1204;p80"/>
            <p:cNvSpPr/>
            <p:nvPr/>
          </p:nvSpPr>
          <p:spPr>
            <a:xfrm rot="-238505">
              <a:off x="565836" y="2673589"/>
              <a:ext cx="276966" cy="276966"/>
            </a:xfrm>
            <a:prstGeom prst="pie">
              <a:avLst>
                <a:gd fmla="val 19587920" name="adj1"/>
                <a:gd fmla="val 2053117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5" name="Google Shape;1205;p80"/>
            <p:cNvSpPr/>
            <p:nvPr/>
          </p:nvSpPr>
          <p:spPr>
            <a:xfrm rot="-239790">
              <a:off x="523989" y="2635000"/>
              <a:ext cx="357269" cy="357269"/>
            </a:xfrm>
            <a:prstGeom prst="pie">
              <a:avLst>
                <a:gd fmla="val 19587920" name="adj1"/>
                <a:gd fmla="val 1982748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06" name="Google Shape;1206;p80"/>
          <p:cNvSpPr/>
          <p:nvPr/>
        </p:nvSpPr>
        <p:spPr>
          <a:xfrm rot="-10017754">
            <a:off x="5358416" y="4069880"/>
            <a:ext cx="722114" cy="722114"/>
          </a:xfrm>
          <a:prstGeom prst="pie">
            <a:avLst>
              <a:gd fmla="val 20758785" name="adj1"/>
              <a:gd fmla="val 1917443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7" name="Google Shape;1207;p80"/>
          <p:cNvGrpSpPr/>
          <p:nvPr/>
        </p:nvGrpSpPr>
        <p:grpSpPr>
          <a:xfrm rot="-6554256">
            <a:off x="1796997" y="3464926"/>
            <a:ext cx="381316" cy="381316"/>
            <a:chOff x="511973" y="2622984"/>
            <a:chExt cx="381300" cy="381300"/>
          </a:xfrm>
        </p:grpSpPr>
        <p:sp>
          <p:nvSpPr>
            <p:cNvPr id="1208" name="Google Shape;1208;p80"/>
            <p:cNvSpPr/>
            <p:nvPr/>
          </p:nvSpPr>
          <p:spPr>
            <a:xfrm rot="-238505">
              <a:off x="565836" y="2673589"/>
              <a:ext cx="276966" cy="276966"/>
            </a:xfrm>
            <a:prstGeom prst="pie">
              <a:avLst>
                <a:gd fmla="val 19587920" name="adj1"/>
                <a:gd fmla="val 2235337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9" name="Google Shape;1209;p80"/>
            <p:cNvSpPr/>
            <p:nvPr/>
          </p:nvSpPr>
          <p:spPr>
            <a:xfrm rot="-239790">
              <a:off x="523989" y="2635000"/>
              <a:ext cx="357269" cy="357269"/>
            </a:xfrm>
            <a:prstGeom prst="pie">
              <a:avLst>
                <a:gd fmla="val 19587920" name="adj1"/>
                <a:gd fmla="val 2235337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10" name="Google Shape;1210;p80"/>
          <p:cNvSpPr/>
          <p:nvPr/>
        </p:nvSpPr>
        <p:spPr>
          <a:xfrm rot="-4595590">
            <a:off x="3918470" y="4074179"/>
            <a:ext cx="721975" cy="721975"/>
          </a:xfrm>
          <a:prstGeom prst="pie">
            <a:avLst>
              <a:gd fmla="val 20758785" name="adj1"/>
              <a:gd fmla="val 1917443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11" name="Google Shape;1211;p80"/>
          <p:cNvCxnSpPr/>
          <p:nvPr/>
        </p:nvCxnSpPr>
        <p:spPr>
          <a:xfrm>
            <a:off x="5286275" y="1826700"/>
            <a:ext cx="89700" cy="155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2" name="Google Shape;1212;p80"/>
          <p:cNvCxnSpPr/>
          <p:nvPr/>
        </p:nvCxnSpPr>
        <p:spPr>
          <a:xfrm flipH="1">
            <a:off x="7137625" y="1826700"/>
            <a:ext cx="89700" cy="155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3" name="Google Shape;1213;p80"/>
          <p:cNvCxnSpPr/>
          <p:nvPr/>
        </p:nvCxnSpPr>
        <p:spPr>
          <a:xfrm>
            <a:off x="5331125" y="2356075"/>
            <a:ext cx="0" cy="133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4" name="Google Shape;1214;p80"/>
          <p:cNvCxnSpPr/>
          <p:nvPr/>
        </p:nvCxnSpPr>
        <p:spPr>
          <a:xfrm>
            <a:off x="5375975" y="2356075"/>
            <a:ext cx="0" cy="133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5" name="Google Shape;1215;p80"/>
          <p:cNvCxnSpPr/>
          <p:nvPr/>
        </p:nvCxnSpPr>
        <p:spPr>
          <a:xfrm>
            <a:off x="7137625" y="2356075"/>
            <a:ext cx="0" cy="133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6" name="Google Shape;1216;p80"/>
          <p:cNvCxnSpPr/>
          <p:nvPr/>
        </p:nvCxnSpPr>
        <p:spPr>
          <a:xfrm>
            <a:off x="7182475" y="2356075"/>
            <a:ext cx="0" cy="133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7" name="Google Shape;1217;p80"/>
          <p:cNvCxnSpPr/>
          <p:nvPr/>
        </p:nvCxnSpPr>
        <p:spPr>
          <a:xfrm>
            <a:off x="4759304" y="3396059"/>
            <a:ext cx="0" cy="134149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8" name="Google Shape;1218;p80"/>
          <p:cNvCxnSpPr/>
          <p:nvPr/>
        </p:nvCxnSpPr>
        <p:spPr>
          <a:xfrm>
            <a:off x="4789897" y="3428856"/>
            <a:ext cx="0" cy="134149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9" name="Google Shape;1219;p80"/>
          <p:cNvCxnSpPr/>
          <p:nvPr/>
        </p:nvCxnSpPr>
        <p:spPr>
          <a:xfrm>
            <a:off x="5267653" y="3904187"/>
            <a:ext cx="0" cy="134149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0" name="Google Shape;1220;p80"/>
          <p:cNvCxnSpPr/>
          <p:nvPr/>
        </p:nvCxnSpPr>
        <p:spPr>
          <a:xfrm>
            <a:off x="5298246" y="3936984"/>
            <a:ext cx="0" cy="134149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1" name="Google Shape;1221;p80"/>
          <p:cNvCxnSpPr/>
          <p:nvPr/>
        </p:nvCxnSpPr>
        <p:spPr>
          <a:xfrm>
            <a:off x="4996774" y="4380809"/>
            <a:ext cx="0" cy="12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2" name="Google Shape;1222;p80"/>
          <p:cNvCxnSpPr/>
          <p:nvPr/>
        </p:nvCxnSpPr>
        <p:spPr>
          <a:xfrm>
            <a:off x="4275947" y="3715509"/>
            <a:ext cx="0" cy="12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3" name="Google Shape;1223;p80"/>
          <p:cNvSpPr/>
          <p:nvPr/>
        </p:nvSpPr>
        <p:spPr>
          <a:xfrm rot="5687479">
            <a:off x="2124114" y="1150007"/>
            <a:ext cx="721923" cy="721923"/>
          </a:xfrm>
          <a:prstGeom prst="pie">
            <a:avLst>
              <a:gd fmla="val 543387" name="adj1"/>
              <a:gd fmla="val 1803749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80"/>
          <p:cNvSpPr/>
          <p:nvPr/>
        </p:nvSpPr>
        <p:spPr>
          <a:xfrm rot="6859071">
            <a:off x="2117111" y="1150103"/>
            <a:ext cx="721955" cy="721955"/>
          </a:xfrm>
          <a:prstGeom prst="pie">
            <a:avLst>
              <a:gd fmla="val 543387" name="adj1"/>
              <a:gd fmla="val 1803749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80"/>
          <p:cNvSpPr txBox="1"/>
          <p:nvPr/>
        </p:nvSpPr>
        <p:spPr>
          <a:xfrm>
            <a:off x="446000" y="1394713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80"/>
          <p:cNvSpPr txBox="1"/>
          <p:nvPr/>
        </p:nvSpPr>
        <p:spPr>
          <a:xfrm>
            <a:off x="3662125" y="1394700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80"/>
          <p:cNvSpPr txBox="1"/>
          <p:nvPr/>
        </p:nvSpPr>
        <p:spPr>
          <a:xfrm>
            <a:off x="3662125" y="292142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8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Isosceles triangles</a:t>
            </a:r>
            <a:endParaRPr/>
          </a:p>
        </p:txBody>
      </p:sp>
      <p:sp>
        <p:nvSpPr>
          <p:cNvPr id="1233" name="Google Shape;1233;p8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sp>
        <p:nvSpPr>
          <p:cNvPr id="1234" name="Google Shape;1234;p8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Diagonals of a rhombus</a:t>
            </a:r>
            <a:endParaRPr/>
          </a:p>
        </p:txBody>
      </p:sp>
      <p:pic>
        <p:nvPicPr>
          <p:cNvPr id="1235" name="Google Shape;123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15" y="299566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82"/>
          <p:cNvSpPr txBox="1"/>
          <p:nvPr>
            <p:ph idx="1" type="body"/>
          </p:nvPr>
        </p:nvSpPr>
        <p:spPr>
          <a:xfrm>
            <a:off x="324000" y="759300"/>
            <a:ext cx="8237700" cy="7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rhombus can be thought of as two congruent isosceles triangles joined together at the base edge.</a:t>
            </a:r>
            <a:endParaRPr sz="1800"/>
          </a:p>
        </p:txBody>
      </p:sp>
      <p:sp>
        <p:nvSpPr>
          <p:cNvPr id="1241" name="Google Shape;1241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grpSp>
        <p:nvGrpSpPr>
          <p:cNvPr id="1242" name="Google Shape;1242;p82"/>
          <p:cNvGrpSpPr/>
          <p:nvPr/>
        </p:nvGrpSpPr>
        <p:grpSpPr>
          <a:xfrm>
            <a:off x="988343" y="1461596"/>
            <a:ext cx="2909769" cy="2647429"/>
            <a:chOff x="988343" y="1461596"/>
            <a:chExt cx="2909769" cy="2647429"/>
          </a:xfrm>
        </p:grpSpPr>
        <p:sp>
          <p:nvSpPr>
            <p:cNvPr id="1243" name="Google Shape;1243;p82"/>
            <p:cNvSpPr/>
            <p:nvPr/>
          </p:nvSpPr>
          <p:spPr>
            <a:xfrm rot="-3250761">
              <a:off x="1596362" y="1545863"/>
              <a:ext cx="1320461" cy="2175066"/>
            </a:xfrm>
            <a:prstGeom prst="triangle">
              <a:avLst>
                <a:gd fmla="val 50000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4" name="Google Shape;1244;p82"/>
            <p:cNvSpPr/>
            <p:nvPr/>
          </p:nvSpPr>
          <p:spPr>
            <a:xfrm>
              <a:off x="2446385" y="3495524"/>
              <a:ext cx="613500" cy="613500"/>
            </a:xfrm>
            <a:prstGeom prst="pie">
              <a:avLst>
                <a:gd fmla="val 13937662" name="adj1"/>
                <a:gd fmla="val 1834750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5" name="Google Shape;1245;p82"/>
            <p:cNvSpPr/>
            <p:nvPr/>
          </p:nvSpPr>
          <p:spPr>
            <a:xfrm rot="-6409846">
              <a:off x="3209074" y="2427568"/>
              <a:ext cx="613374" cy="613374"/>
            </a:xfrm>
            <a:prstGeom prst="pie">
              <a:avLst>
                <a:gd fmla="val 13937662" name="adj1"/>
                <a:gd fmla="val 1834750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46" name="Google Shape;1246;p82"/>
            <p:cNvCxnSpPr/>
            <p:nvPr/>
          </p:nvCxnSpPr>
          <p:spPr>
            <a:xfrm flipH="1" rot="10800000">
              <a:off x="1938750" y="2770500"/>
              <a:ext cx="173700" cy="141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7" name="Google Shape;1247;p82"/>
            <p:cNvCxnSpPr/>
            <p:nvPr/>
          </p:nvCxnSpPr>
          <p:spPr>
            <a:xfrm flipH="1">
              <a:off x="2346925" y="2231175"/>
              <a:ext cx="65400" cy="19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8" name="Google Shape;1248;p82"/>
            <p:cNvCxnSpPr>
              <a:stCxn id="1243" idx="0"/>
              <a:endCxn id="1243" idx="3"/>
            </p:cNvCxnSpPr>
            <p:nvPr/>
          </p:nvCxnSpPr>
          <p:spPr>
            <a:xfrm>
              <a:off x="1374743" y="1996946"/>
              <a:ext cx="1763700" cy="1272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249" name="Google Shape;1249;p82"/>
            <p:cNvSpPr/>
            <p:nvPr/>
          </p:nvSpPr>
          <p:spPr>
            <a:xfrm rot="-3156114">
              <a:off x="3005851" y="3227032"/>
              <a:ext cx="110645" cy="110645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50" name="Google Shape;1250;p82"/>
            <p:cNvCxnSpPr/>
            <p:nvPr/>
          </p:nvCxnSpPr>
          <p:spPr>
            <a:xfrm>
              <a:off x="2914225" y="3454725"/>
              <a:ext cx="121800" cy="91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1" name="Google Shape;1251;p82"/>
            <p:cNvCxnSpPr/>
            <p:nvPr/>
          </p:nvCxnSpPr>
          <p:spPr>
            <a:xfrm>
              <a:off x="2938075" y="3420750"/>
              <a:ext cx="121800" cy="91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2" name="Google Shape;1252;p82"/>
            <p:cNvCxnSpPr/>
            <p:nvPr/>
          </p:nvCxnSpPr>
          <p:spPr>
            <a:xfrm>
              <a:off x="3217507" y="3028135"/>
              <a:ext cx="121800" cy="91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3" name="Google Shape;1253;p82"/>
            <p:cNvCxnSpPr/>
            <p:nvPr/>
          </p:nvCxnSpPr>
          <p:spPr>
            <a:xfrm>
              <a:off x="3241357" y="2994160"/>
              <a:ext cx="121800" cy="91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54" name="Google Shape;1254;p82"/>
          <p:cNvGrpSpPr/>
          <p:nvPr/>
        </p:nvGrpSpPr>
        <p:grpSpPr>
          <a:xfrm rot="10800000">
            <a:off x="2911789" y="2430894"/>
            <a:ext cx="2909769" cy="2647429"/>
            <a:chOff x="988343" y="1461596"/>
            <a:chExt cx="2909769" cy="2647429"/>
          </a:xfrm>
        </p:grpSpPr>
        <p:sp>
          <p:nvSpPr>
            <p:cNvPr id="1255" name="Google Shape;1255;p82"/>
            <p:cNvSpPr/>
            <p:nvPr/>
          </p:nvSpPr>
          <p:spPr>
            <a:xfrm rot="-3250761">
              <a:off x="1596362" y="1545863"/>
              <a:ext cx="1320461" cy="2175066"/>
            </a:xfrm>
            <a:prstGeom prst="triangle">
              <a:avLst>
                <a:gd fmla="val 50000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6" name="Google Shape;1256;p82"/>
            <p:cNvSpPr/>
            <p:nvPr/>
          </p:nvSpPr>
          <p:spPr>
            <a:xfrm>
              <a:off x="2446385" y="3495524"/>
              <a:ext cx="613500" cy="613500"/>
            </a:xfrm>
            <a:prstGeom prst="pie">
              <a:avLst>
                <a:gd fmla="val 13937662" name="adj1"/>
                <a:gd fmla="val 1834750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7" name="Google Shape;1257;p82"/>
            <p:cNvSpPr/>
            <p:nvPr/>
          </p:nvSpPr>
          <p:spPr>
            <a:xfrm rot="-6409846">
              <a:off x="3209074" y="2427568"/>
              <a:ext cx="613374" cy="613374"/>
            </a:xfrm>
            <a:prstGeom prst="pie">
              <a:avLst>
                <a:gd fmla="val 13937662" name="adj1"/>
                <a:gd fmla="val 1834750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58" name="Google Shape;1258;p82"/>
            <p:cNvCxnSpPr/>
            <p:nvPr/>
          </p:nvCxnSpPr>
          <p:spPr>
            <a:xfrm flipH="1" rot="10800000">
              <a:off x="1938750" y="2770500"/>
              <a:ext cx="173700" cy="141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9" name="Google Shape;1259;p82"/>
            <p:cNvCxnSpPr/>
            <p:nvPr/>
          </p:nvCxnSpPr>
          <p:spPr>
            <a:xfrm flipH="1">
              <a:off x="2346925" y="2231175"/>
              <a:ext cx="65400" cy="19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0" name="Google Shape;1260;p82"/>
            <p:cNvCxnSpPr>
              <a:stCxn id="1255" idx="0"/>
              <a:endCxn id="1255" idx="3"/>
            </p:cNvCxnSpPr>
            <p:nvPr/>
          </p:nvCxnSpPr>
          <p:spPr>
            <a:xfrm>
              <a:off x="1374743" y="1996946"/>
              <a:ext cx="1763700" cy="1272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261" name="Google Shape;1261;p82"/>
            <p:cNvSpPr/>
            <p:nvPr/>
          </p:nvSpPr>
          <p:spPr>
            <a:xfrm rot="-3156114">
              <a:off x="3005851" y="3227032"/>
              <a:ext cx="110645" cy="110645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62" name="Google Shape;1262;p82"/>
            <p:cNvCxnSpPr/>
            <p:nvPr/>
          </p:nvCxnSpPr>
          <p:spPr>
            <a:xfrm>
              <a:off x="2914225" y="3454725"/>
              <a:ext cx="121800" cy="91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3" name="Google Shape;1263;p82"/>
            <p:cNvCxnSpPr/>
            <p:nvPr/>
          </p:nvCxnSpPr>
          <p:spPr>
            <a:xfrm>
              <a:off x="2938075" y="3420750"/>
              <a:ext cx="121800" cy="91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4" name="Google Shape;1264;p82"/>
            <p:cNvCxnSpPr/>
            <p:nvPr/>
          </p:nvCxnSpPr>
          <p:spPr>
            <a:xfrm>
              <a:off x="3215837" y="3026486"/>
              <a:ext cx="121800" cy="91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5" name="Google Shape;1265;p82"/>
            <p:cNvCxnSpPr/>
            <p:nvPr/>
          </p:nvCxnSpPr>
          <p:spPr>
            <a:xfrm>
              <a:off x="3239687" y="2992511"/>
              <a:ext cx="121800" cy="91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66" name="Google Shape;1266;p82"/>
          <p:cNvGrpSpPr/>
          <p:nvPr/>
        </p:nvGrpSpPr>
        <p:grpSpPr>
          <a:xfrm rot="10800000">
            <a:off x="2378389" y="2430894"/>
            <a:ext cx="2909769" cy="2647429"/>
            <a:chOff x="988343" y="1461596"/>
            <a:chExt cx="2909769" cy="2647429"/>
          </a:xfrm>
        </p:grpSpPr>
        <p:sp>
          <p:nvSpPr>
            <p:cNvPr id="1267" name="Google Shape;1267;p82"/>
            <p:cNvSpPr/>
            <p:nvPr/>
          </p:nvSpPr>
          <p:spPr>
            <a:xfrm rot="-3250761">
              <a:off x="1596362" y="1545863"/>
              <a:ext cx="1320461" cy="2175066"/>
            </a:xfrm>
            <a:prstGeom prst="triangle">
              <a:avLst>
                <a:gd fmla="val 50000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8" name="Google Shape;1268;p82"/>
            <p:cNvSpPr/>
            <p:nvPr/>
          </p:nvSpPr>
          <p:spPr>
            <a:xfrm>
              <a:off x="2446385" y="3495524"/>
              <a:ext cx="613500" cy="613500"/>
            </a:xfrm>
            <a:prstGeom prst="pie">
              <a:avLst>
                <a:gd fmla="val 13937662" name="adj1"/>
                <a:gd fmla="val 1834750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9" name="Google Shape;1269;p82"/>
            <p:cNvSpPr/>
            <p:nvPr/>
          </p:nvSpPr>
          <p:spPr>
            <a:xfrm rot="-6409846">
              <a:off x="3209074" y="2427568"/>
              <a:ext cx="613374" cy="613374"/>
            </a:xfrm>
            <a:prstGeom prst="pie">
              <a:avLst>
                <a:gd fmla="val 13937662" name="adj1"/>
                <a:gd fmla="val 1834750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70" name="Google Shape;1270;p82"/>
            <p:cNvCxnSpPr/>
            <p:nvPr/>
          </p:nvCxnSpPr>
          <p:spPr>
            <a:xfrm flipH="1" rot="10800000">
              <a:off x="1938750" y="2770500"/>
              <a:ext cx="173700" cy="141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1" name="Google Shape;1271;p82"/>
            <p:cNvCxnSpPr/>
            <p:nvPr/>
          </p:nvCxnSpPr>
          <p:spPr>
            <a:xfrm flipH="1">
              <a:off x="2346925" y="2231175"/>
              <a:ext cx="65400" cy="19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2" name="Google Shape;1272;p82"/>
            <p:cNvCxnSpPr>
              <a:stCxn id="1267" idx="0"/>
              <a:endCxn id="1267" idx="3"/>
            </p:cNvCxnSpPr>
            <p:nvPr/>
          </p:nvCxnSpPr>
          <p:spPr>
            <a:xfrm>
              <a:off x="1374743" y="1996946"/>
              <a:ext cx="1763700" cy="1272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273" name="Google Shape;1273;p82"/>
            <p:cNvSpPr/>
            <p:nvPr/>
          </p:nvSpPr>
          <p:spPr>
            <a:xfrm rot="-3156114">
              <a:off x="3005851" y="3227032"/>
              <a:ext cx="110645" cy="110645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74" name="Google Shape;1274;p82"/>
            <p:cNvCxnSpPr/>
            <p:nvPr/>
          </p:nvCxnSpPr>
          <p:spPr>
            <a:xfrm>
              <a:off x="2914225" y="3454725"/>
              <a:ext cx="121800" cy="91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5" name="Google Shape;1275;p82"/>
            <p:cNvCxnSpPr/>
            <p:nvPr/>
          </p:nvCxnSpPr>
          <p:spPr>
            <a:xfrm>
              <a:off x="2938075" y="3420750"/>
              <a:ext cx="121800" cy="91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6" name="Google Shape;1276;p82"/>
            <p:cNvCxnSpPr/>
            <p:nvPr/>
          </p:nvCxnSpPr>
          <p:spPr>
            <a:xfrm>
              <a:off x="3215837" y="3026486"/>
              <a:ext cx="121800" cy="91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7" name="Google Shape;1277;p82"/>
            <p:cNvCxnSpPr/>
            <p:nvPr/>
          </p:nvCxnSpPr>
          <p:spPr>
            <a:xfrm>
              <a:off x="3239687" y="2992511"/>
              <a:ext cx="121800" cy="91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83"/>
          <p:cNvSpPr txBox="1"/>
          <p:nvPr>
            <p:ph idx="1" type="body"/>
          </p:nvPr>
        </p:nvSpPr>
        <p:spPr>
          <a:xfrm>
            <a:off x="324000" y="759300"/>
            <a:ext cx="8237700" cy="7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rhombus can be thought of as two congruent isosceles triangles joined together at the base edge.</a:t>
            </a:r>
            <a:endParaRPr sz="1800"/>
          </a:p>
        </p:txBody>
      </p:sp>
      <p:sp>
        <p:nvSpPr>
          <p:cNvPr id="1283" name="Google Shape;1283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grpSp>
        <p:nvGrpSpPr>
          <p:cNvPr id="1284" name="Google Shape;1284;p83"/>
          <p:cNvGrpSpPr/>
          <p:nvPr/>
        </p:nvGrpSpPr>
        <p:grpSpPr>
          <a:xfrm rot="1489030">
            <a:off x="808277" y="2245178"/>
            <a:ext cx="5122658" cy="1048164"/>
            <a:chOff x="574870" y="2609026"/>
            <a:chExt cx="5122950" cy="1048224"/>
          </a:xfrm>
        </p:grpSpPr>
        <p:sp>
          <p:nvSpPr>
            <p:cNvPr id="1285" name="Google Shape;1285;p83"/>
            <p:cNvSpPr/>
            <p:nvPr/>
          </p:nvSpPr>
          <p:spPr>
            <a:xfrm>
              <a:off x="957100" y="2609026"/>
              <a:ext cx="4362300" cy="662400"/>
            </a:xfrm>
            <a:prstGeom prst="triangle">
              <a:avLst>
                <a:gd fmla="val 49893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86" name="Google Shape;1286;p83"/>
            <p:cNvCxnSpPr/>
            <p:nvPr/>
          </p:nvCxnSpPr>
          <p:spPr>
            <a:xfrm flipH="1" rot="-2152386">
              <a:off x="1940694" y="2853123"/>
              <a:ext cx="65530" cy="198333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7" name="Google Shape;1287;p83"/>
            <p:cNvCxnSpPr/>
            <p:nvPr/>
          </p:nvCxnSpPr>
          <p:spPr>
            <a:xfrm flipH="1" rot="-2148122">
              <a:off x="4204495" y="2899415"/>
              <a:ext cx="173850" cy="14096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8" name="Google Shape;1288;p83"/>
            <p:cNvCxnSpPr>
              <a:stCxn id="1285" idx="0"/>
              <a:endCxn id="1285" idx="3"/>
            </p:cNvCxnSpPr>
            <p:nvPr/>
          </p:nvCxnSpPr>
          <p:spPr>
            <a:xfrm flipH="1" rot="-1489359">
              <a:off x="2994591" y="2639625"/>
              <a:ext cx="277982" cy="601202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289" name="Google Shape;1289;p83"/>
            <p:cNvSpPr/>
            <p:nvPr/>
          </p:nvSpPr>
          <p:spPr>
            <a:xfrm rot="-5306859">
              <a:off x="3135047" y="3159207"/>
              <a:ext cx="110741" cy="110741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90" name="Google Shape;1290;p83"/>
            <p:cNvGrpSpPr/>
            <p:nvPr/>
          </p:nvGrpSpPr>
          <p:grpSpPr>
            <a:xfrm>
              <a:off x="574870" y="2881750"/>
              <a:ext cx="775500" cy="775500"/>
              <a:chOff x="-886872" y="1772250"/>
              <a:chExt cx="775500" cy="775500"/>
            </a:xfrm>
          </p:grpSpPr>
          <p:sp>
            <p:nvSpPr>
              <p:cNvPr id="1291" name="Google Shape;1291;p83"/>
              <p:cNvSpPr/>
              <p:nvPr/>
            </p:nvSpPr>
            <p:spPr>
              <a:xfrm>
                <a:off x="-824918" y="1834199"/>
                <a:ext cx="651600" cy="651600"/>
              </a:xfrm>
              <a:prstGeom prst="pie">
                <a:avLst>
                  <a:gd fmla="val 20591304" name="adj1"/>
                  <a:gd fmla="val 844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92" name="Google Shape;1292;p83"/>
              <p:cNvSpPr/>
              <p:nvPr/>
            </p:nvSpPr>
            <p:spPr>
              <a:xfrm>
                <a:off x="-886872" y="1772250"/>
                <a:ext cx="775500" cy="775500"/>
              </a:xfrm>
              <a:prstGeom prst="pie">
                <a:avLst>
                  <a:gd fmla="val 20591304" name="adj1"/>
                  <a:gd fmla="val 844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93" name="Google Shape;1293;p83"/>
            <p:cNvGrpSpPr/>
            <p:nvPr/>
          </p:nvGrpSpPr>
          <p:grpSpPr>
            <a:xfrm flipH="1">
              <a:off x="4922320" y="2881750"/>
              <a:ext cx="775500" cy="775500"/>
              <a:chOff x="-886872" y="1772250"/>
              <a:chExt cx="775500" cy="775500"/>
            </a:xfrm>
          </p:grpSpPr>
          <p:sp>
            <p:nvSpPr>
              <p:cNvPr id="1294" name="Google Shape;1294;p83"/>
              <p:cNvSpPr/>
              <p:nvPr/>
            </p:nvSpPr>
            <p:spPr>
              <a:xfrm>
                <a:off x="-824918" y="1834199"/>
                <a:ext cx="651600" cy="651600"/>
              </a:xfrm>
              <a:prstGeom prst="pie">
                <a:avLst>
                  <a:gd fmla="val 20591304" name="adj1"/>
                  <a:gd fmla="val 844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95" name="Google Shape;1295;p83"/>
              <p:cNvSpPr/>
              <p:nvPr/>
            </p:nvSpPr>
            <p:spPr>
              <a:xfrm>
                <a:off x="-886872" y="1772250"/>
                <a:ext cx="775500" cy="775500"/>
              </a:xfrm>
              <a:prstGeom prst="pie">
                <a:avLst>
                  <a:gd fmla="val 20591304" name="adj1"/>
                  <a:gd fmla="val 844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296" name="Google Shape;1296;p83"/>
            <p:cNvCxnSpPr/>
            <p:nvPr/>
          </p:nvCxnSpPr>
          <p:spPr>
            <a:xfrm>
              <a:off x="2203500" y="3199000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7" name="Google Shape;1297;p83"/>
            <p:cNvCxnSpPr/>
            <p:nvPr/>
          </p:nvCxnSpPr>
          <p:spPr>
            <a:xfrm>
              <a:off x="2243525" y="3199000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8" name="Google Shape;1298;p83"/>
            <p:cNvCxnSpPr/>
            <p:nvPr/>
          </p:nvCxnSpPr>
          <p:spPr>
            <a:xfrm>
              <a:off x="2282439" y="3199000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9" name="Google Shape;1299;p83"/>
            <p:cNvCxnSpPr/>
            <p:nvPr/>
          </p:nvCxnSpPr>
          <p:spPr>
            <a:xfrm>
              <a:off x="4023625" y="3199000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0" name="Google Shape;1300;p83"/>
            <p:cNvCxnSpPr/>
            <p:nvPr/>
          </p:nvCxnSpPr>
          <p:spPr>
            <a:xfrm>
              <a:off x="4063650" y="3199000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1" name="Google Shape;1301;p83"/>
            <p:cNvCxnSpPr/>
            <p:nvPr/>
          </p:nvCxnSpPr>
          <p:spPr>
            <a:xfrm>
              <a:off x="4102564" y="3199000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02" name="Google Shape;1302;p83"/>
          <p:cNvGrpSpPr/>
          <p:nvPr/>
        </p:nvGrpSpPr>
        <p:grpSpPr>
          <a:xfrm rot="-9312051">
            <a:off x="686107" y="2492149"/>
            <a:ext cx="5122478" cy="1048127"/>
            <a:chOff x="574870" y="2609026"/>
            <a:chExt cx="5122950" cy="1048224"/>
          </a:xfrm>
        </p:grpSpPr>
        <p:sp>
          <p:nvSpPr>
            <p:cNvPr id="1303" name="Google Shape;1303;p83"/>
            <p:cNvSpPr/>
            <p:nvPr/>
          </p:nvSpPr>
          <p:spPr>
            <a:xfrm>
              <a:off x="957100" y="2609026"/>
              <a:ext cx="4362300" cy="662400"/>
            </a:xfrm>
            <a:prstGeom prst="triangle">
              <a:avLst>
                <a:gd fmla="val 49893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04" name="Google Shape;1304;p83"/>
            <p:cNvCxnSpPr/>
            <p:nvPr/>
          </p:nvCxnSpPr>
          <p:spPr>
            <a:xfrm flipH="1" rot="-2152386">
              <a:off x="1940694" y="2853123"/>
              <a:ext cx="65530" cy="198333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5" name="Google Shape;1305;p83"/>
            <p:cNvCxnSpPr/>
            <p:nvPr/>
          </p:nvCxnSpPr>
          <p:spPr>
            <a:xfrm flipH="1" rot="-2148122">
              <a:off x="4204495" y="2899415"/>
              <a:ext cx="173850" cy="14096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6" name="Google Shape;1306;p83"/>
            <p:cNvCxnSpPr>
              <a:stCxn id="1303" idx="0"/>
              <a:endCxn id="1303" idx="3"/>
            </p:cNvCxnSpPr>
            <p:nvPr/>
          </p:nvCxnSpPr>
          <p:spPr>
            <a:xfrm flipH="1" rot="-1485990">
              <a:off x="2994654" y="2639489"/>
              <a:ext cx="277857" cy="601474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307" name="Google Shape;1307;p83"/>
            <p:cNvSpPr/>
            <p:nvPr/>
          </p:nvSpPr>
          <p:spPr>
            <a:xfrm rot="-5306859">
              <a:off x="3135047" y="3159207"/>
              <a:ext cx="110741" cy="110741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08" name="Google Shape;1308;p83"/>
            <p:cNvGrpSpPr/>
            <p:nvPr/>
          </p:nvGrpSpPr>
          <p:grpSpPr>
            <a:xfrm>
              <a:off x="574870" y="2881750"/>
              <a:ext cx="775500" cy="775500"/>
              <a:chOff x="-886872" y="1772250"/>
              <a:chExt cx="775500" cy="775500"/>
            </a:xfrm>
          </p:grpSpPr>
          <p:sp>
            <p:nvSpPr>
              <p:cNvPr id="1309" name="Google Shape;1309;p83"/>
              <p:cNvSpPr/>
              <p:nvPr/>
            </p:nvSpPr>
            <p:spPr>
              <a:xfrm>
                <a:off x="-824918" y="1834199"/>
                <a:ext cx="651600" cy="651600"/>
              </a:xfrm>
              <a:prstGeom prst="pie">
                <a:avLst>
                  <a:gd fmla="val 20591304" name="adj1"/>
                  <a:gd fmla="val 844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10" name="Google Shape;1310;p83"/>
              <p:cNvSpPr/>
              <p:nvPr/>
            </p:nvSpPr>
            <p:spPr>
              <a:xfrm>
                <a:off x="-886872" y="1772250"/>
                <a:ext cx="775500" cy="775500"/>
              </a:xfrm>
              <a:prstGeom prst="pie">
                <a:avLst>
                  <a:gd fmla="val 20591304" name="adj1"/>
                  <a:gd fmla="val 844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11" name="Google Shape;1311;p83"/>
            <p:cNvGrpSpPr/>
            <p:nvPr/>
          </p:nvGrpSpPr>
          <p:grpSpPr>
            <a:xfrm flipH="1">
              <a:off x="4922320" y="2881750"/>
              <a:ext cx="775500" cy="775500"/>
              <a:chOff x="-886872" y="1772250"/>
              <a:chExt cx="775500" cy="775500"/>
            </a:xfrm>
          </p:grpSpPr>
          <p:sp>
            <p:nvSpPr>
              <p:cNvPr id="1312" name="Google Shape;1312;p83"/>
              <p:cNvSpPr/>
              <p:nvPr/>
            </p:nvSpPr>
            <p:spPr>
              <a:xfrm>
                <a:off x="-824918" y="1834199"/>
                <a:ext cx="651600" cy="651600"/>
              </a:xfrm>
              <a:prstGeom prst="pie">
                <a:avLst>
                  <a:gd fmla="val 20591304" name="adj1"/>
                  <a:gd fmla="val 844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13" name="Google Shape;1313;p83"/>
              <p:cNvSpPr/>
              <p:nvPr/>
            </p:nvSpPr>
            <p:spPr>
              <a:xfrm>
                <a:off x="-886872" y="1772250"/>
                <a:ext cx="775500" cy="775500"/>
              </a:xfrm>
              <a:prstGeom prst="pie">
                <a:avLst>
                  <a:gd fmla="val 20591304" name="adj1"/>
                  <a:gd fmla="val 844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314" name="Google Shape;1314;p83"/>
            <p:cNvCxnSpPr/>
            <p:nvPr/>
          </p:nvCxnSpPr>
          <p:spPr>
            <a:xfrm>
              <a:off x="2203500" y="3199000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5" name="Google Shape;1315;p83"/>
            <p:cNvCxnSpPr/>
            <p:nvPr/>
          </p:nvCxnSpPr>
          <p:spPr>
            <a:xfrm>
              <a:off x="2243525" y="3199000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6" name="Google Shape;1316;p83"/>
            <p:cNvCxnSpPr/>
            <p:nvPr/>
          </p:nvCxnSpPr>
          <p:spPr>
            <a:xfrm>
              <a:off x="2162869" y="3195962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7" name="Google Shape;1317;p83"/>
            <p:cNvCxnSpPr/>
            <p:nvPr/>
          </p:nvCxnSpPr>
          <p:spPr>
            <a:xfrm>
              <a:off x="4023625" y="3199000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8" name="Google Shape;1318;p83"/>
            <p:cNvCxnSpPr/>
            <p:nvPr/>
          </p:nvCxnSpPr>
          <p:spPr>
            <a:xfrm>
              <a:off x="4063650" y="3199000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9" name="Google Shape;1319;p83"/>
            <p:cNvCxnSpPr/>
            <p:nvPr/>
          </p:nvCxnSpPr>
          <p:spPr>
            <a:xfrm>
              <a:off x="3981730" y="3199398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20" name="Google Shape;1320;p83"/>
          <p:cNvGrpSpPr/>
          <p:nvPr/>
        </p:nvGrpSpPr>
        <p:grpSpPr>
          <a:xfrm rot="-9312051">
            <a:off x="838507" y="3025549"/>
            <a:ext cx="5122478" cy="1048127"/>
            <a:chOff x="574870" y="2609026"/>
            <a:chExt cx="5122950" cy="1048224"/>
          </a:xfrm>
        </p:grpSpPr>
        <p:sp>
          <p:nvSpPr>
            <p:cNvPr id="1321" name="Google Shape;1321;p83"/>
            <p:cNvSpPr/>
            <p:nvPr/>
          </p:nvSpPr>
          <p:spPr>
            <a:xfrm>
              <a:off x="957100" y="2609026"/>
              <a:ext cx="4362300" cy="662400"/>
            </a:xfrm>
            <a:prstGeom prst="triangle">
              <a:avLst>
                <a:gd fmla="val 49893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22" name="Google Shape;1322;p83"/>
            <p:cNvCxnSpPr/>
            <p:nvPr/>
          </p:nvCxnSpPr>
          <p:spPr>
            <a:xfrm flipH="1" rot="-2152386">
              <a:off x="1940694" y="2853123"/>
              <a:ext cx="65530" cy="198333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3" name="Google Shape;1323;p83"/>
            <p:cNvCxnSpPr/>
            <p:nvPr/>
          </p:nvCxnSpPr>
          <p:spPr>
            <a:xfrm flipH="1" rot="-2148122">
              <a:off x="4204495" y="2899415"/>
              <a:ext cx="173850" cy="14096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4" name="Google Shape;1324;p83"/>
            <p:cNvCxnSpPr>
              <a:stCxn id="1321" idx="0"/>
              <a:endCxn id="1321" idx="3"/>
            </p:cNvCxnSpPr>
            <p:nvPr/>
          </p:nvCxnSpPr>
          <p:spPr>
            <a:xfrm flipH="1" rot="-1485990">
              <a:off x="2994654" y="2639489"/>
              <a:ext cx="277857" cy="601474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325" name="Google Shape;1325;p83"/>
            <p:cNvSpPr/>
            <p:nvPr/>
          </p:nvSpPr>
          <p:spPr>
            <a:xfrm rot="-5306859">
              <a:off x="3135047" y="3159207"/>
              <a:ext cx="110741" cy="110741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26" name="Google Shape;1326;p83"/>
            <p:cNvGrpSpPr/>
            <p:nvPr/>
          </p:nvGrpSpPr>
          <p:grpSpPr>
            <a:xfrm>
              <a:off x="574870" y="2881750"/>
              <a:ext cx="775500" cy="775500"/>
              <a:chOff x="-886872" y="1772250"/>
              <a:chExt cx="775500" cy="775500"/>
            </a:xfrm>
          </p:grpSpPr>
          <p:sp>
            <p:nvSpPr>
              <p:cNvPr id="1327" name="Google Shape;1327;p83"/>
              <p:cNvSpPr/>
              <p:nvPr/>
            </p:nvSpPr>
            <p:spPr>
              <a:xfrm>
                <a:off x="-824918" y="1834199"/>
                <a:ext cx="651600" cy="651600"/>
              </a:xfrm>
              <a:prstGeom prst="pie">
                <a:avLst>
                  <a:gd fmla="val 20591304" name="adj1"/>
                  <a:gd fmla="val 844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28" name="Google Shape;1328;p83"/>
              <p:cNvSpPr/>
              <p:nvPr/>
            </p:nvSpPr>
            <p:spPr>
              <a:xfrm>
                <a:off x="-886872" y="1772250"/>
                <a:ext cx="775500" cy="775500"/>
              </a:xfrm>
              <a:prstGeom prst="pie">
                <a:avLst>
                  <a:gd fmla="val 20591304" name="adj1"/>
                  <a:gd fmla="val 844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29" name="Google Shape;1329;p83"/>
            <p:cNvGrpSpPr/>
            <p:nvPr/>
          </p:nvGrpSpPr>
          <p:grpSpPr>
            <a:xfrm flipH="1">
              <a:off x="4922320" y="2881750"/>
              <a:ext cx="775500" cy="775500"/>
              <a:chOff x="-886872" y="1772250"/>
              <a:chExt cx="775500" cy="775500"/>
            </a:xfrm>
          </p:grpSpPr>
          <p:sp>
            <p:nvSpPr>
              <p:cNvPr id="1330" name="Google Shape;1330;p83"/>
              <p:cNvSpPr/>
              <p:nvPr/>
            </p:nvSpPr>
            <p:spPr>
              <a:xfrm>
                <a:off x="-824918" y="1834199"/>
                <a:ext cx="651600" cy="651600"/>
              </a:xfrm>
              <a:prstGeom prst="pie">
                <a:avLst>
                  <a:gd fmla="val 20591304" name="adj1"/>
                  <a:gd fmla="val 844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31" name="Google Shape;1331;p83"/>
              <p:cNvSpPr/>
              <p:nvPr/>
            </p:nvSpPr>
            <p:spPr>
              <a:xfrm>
                <a:off x="-886872" y="1772250"/>
                <a:ext cx="775500" cy="775500"/>
              </a:xfrm>
              <a:prstGeom prst="pie">
                <a:avLst>
                  <a:gd fmla="val 20591304" name="adj1"/>
                  <a:gd fmla="val 844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332" name="Google Shape;1332;p83"/>
            <p:cNvCxnSpPr/>
            <p:nvPr/>
          </p:nvCxnSpPr>
          <p:spPr>
            <a:xfrm>
              <a:off x="2203500" y="3199000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3" name="Google Shape;1333;p83"/>
            <p:cNvCxnSpPr/>
            <p:nvPr/>
          </p:nvCxnSpPr>
          <p:spPr>
            <a:xfrm>
              <a:off x="2243525" y="3199000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4" name="Google Shape;1334;p83"/>
            <p:cNvCxnSpPr/>
            <p:nvPr/>
          </p:nvCxnSpPr>
          <p:spPr>
            <a:xfrm>
              <a:off x="2162869" y="3195962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5" name="Google Shape;1335;p83"/>
            <p:cNvCxnSpPr/>
            <p:nvPr/>
          </p:nvCxnSpPr>
          <p:spPr>
            <a:xfrm>
              <a:off x="4023625" y="3199000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6" name="Google Shape;1336;p83"/>
            <p:cNvCxnSpPr/>
            <p:nvPr/>
          </p:nvCxnSpPr>
          <p:spPr>
            <a:xfrm>
              <a:off x="4063650" y="3199000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7" name="Google Shape;1337;p83"/>
            <p:cNvCxnSpPr/>
            <p:nvPr/>
          </p:nvCxnSpPr>
          <p:spPr>
            <a:xfrm>
              <a:off x="3981730" y="3199398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84"/>
          <p:cNvSpPr txBox="1"/>
          <p:nvPr>
            <p:ph idx="1" type="body"/>
          </p:nvPr>
        </p:nvSpPr>
        <p:spPr>
          <a:xfrm>
            <a:off x="324000" y="759300"/>
            <a:ext cx="8544000" cy="7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Each isosceles triangle is made from two congruent right-angled triangles, therefore the rhombus is made from four congruent right-angled triangles in total.</a:t>
            </a:r>
            <a:endParaRPr sz="1800"/>
          </a:p>
        </p:txBody>
      </p:sp>
      <p:sp>
        <p:nvSpPr>
          <p:cNvPr id="1343" name="Google Shape;1343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grpSp>
        <p:nvGrpSpPr>
          <p:cNvPr id="1344" name="Google Shape;1344;p84"/>
          <p:cNvGrpSpPr/>
          <p:nvPr/>
        </p:nvGrpSpPr>
        <p:grpSpPr>
          <a:xfrm rot="-3690757">
            <a:off x="2027183" y="344121"/>
            <a:ext cx="1774036" cy="3510104"/>
            <a:chOff x="3698500" y="1036900"/>
            <a:chExt cx="1520765" cy="3026748"/>
          </a:xfrm>
        </p:grpSpPr>
        <p:sp>
          <p:nvSpPr>
            <p:cNvPr id="1345" name="Google Shape;1345;p84"/>
            <p:cNvSpPr/>
            <p:nvPr/>
          </p:nvSpPr>
          <p:spPr>
            <a:xfrm>
              <a:off x="4126675" y="1461600"/>
              <a:ext cx="660000" cy="21741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6" name="Google Shape;1346;p84"/>
            <p:cNvSpPr/>
            <p:nvPr/>
          </p:nvSpPr>
          <p:spPr>
            <a:xfrm rot="-3166285">
              <a:off x="4482819" y="3327201"/>
              <a:ext cx="613392" cy="613392"/>
            </a:xfrm>
            <a:prstGeom prst="pie">
              <a:avLst>
                <a:gd fmla="val 13937662" name="adj1"/>
                <a:gd fmla="val 1834750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7" name="Google Shape;1347;p84"/>
            <p:cNvSpPr/>
            <p:nvPr/>
          </p:nvSpPr>
          <p:spPr>
            <a:xfrm rot="83831">
              <a:off x="4128011" y="3523634"/>
              <a:ext cx="110733" cy="110733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8" name="Google Shape;1348;p84"/>
            <p:cNvSpPr/>
            <p:nvPr/>
          </p:nvSpPr>
          <p:spPr>
            <a:xfrm rot="5400000">
              <a:off x="3738997" y="1077403"/>
              <a:ext cx="775500" cy="775500"/>
            </a:xfrm>
            <a:prstGeom prst="pie">
              <a:avLst>
                <a:gd fmla="val 20591304" name="adj1"/>
                <a:gd fmla="val 844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9" name="Google Shape;1349;p84"/>
            <p:cNvSpPr/>
            <p:nvPr/>
          </p:nvSpPr>
          <p:spPr>
            <a:xfrm rot="5400000">
              <a:off x="3698500" y="1036900"/>
              <a:ext cx="856500" cy="856500"/>
            </a:xfrm>
            <a:prstGeom prst="pie">
              <a:avLst>
                <a:gd fmla="val 20591304" name="adj1"/>
                <a:gd fmla="val 844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50" name="Google Shape;1350;p84"/>
            <p:cNvCxnSpPr/>
            <p:nvPr/>
          </p:nvCxnSpPr>
          <p:spPr>
            <a:xfrm flipH="1" rot="3238358">
              <a:off x="4439903" y="2516258"/>
              <a:ext cx="65287" cy="19826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51" name="Google Shape;1351;p84"/>
            <p:cNvGrpSpPr/>
            <p:nvPr/>
          </p:nvGrpSpPr>
          <p:grpSpPr>
            <a:xfrm rot="3243640">
              <a:off x="4330934" y="3568730"/>
              <a:ext cx="145643" cy="125169"/>
              <a:chOff x="3215837" y="2992511"/>
              <a:chExt cx="145650" cy="125175"/>
            </a:xfrm>
          </p:grpSpPr>
          <p:cxnSp>
            <p:nvCxnSpPr>
              <p:cNvPr id="1352" name="Google Shape;1352;p84"/>
              <p:cNvCxnSpPr/>
              <p:nvPr/>
            </p:nvCxnSpPr>
            <p:spPr>
              <a:xfrm>
                <a:off x="3215837" y="3026486"/>
                <a:ext cx="121800" cy="91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3" name="Google Shape;1353;p84"/>
              <p:cNvCxnSpPr/>
              <p:nvPr/>
            </p:nvCxnSpPr>
            <p:spPr>
              <a:xfrm>
                <a:off x="3239687" y="2992511"/>
                <a:ext cx="121800" cy="91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54" name="Google Shape;1354;p84"/>
            <p:cNvGrpSpPr/>
            <p:nvPr/>
          </p:nvGrpSpPr>
          <p:grpSpPr>
            <a:xfrm rot="-5400000">
              <a:off x="4087328" y="2558626"/>
              <a:ext cx="81912" cy="143183"/>
              <a:chOff x="3981730" y="3199000"/>
              <a:chExt cx="81920" cy="143198"/>
            </a:xfrm>
          </p:grpSpPr>
          <p:cxnSp>
            <p:nvCxnSpPr>
              <p:cNvPr id="1355" name="Google Shape;1355;p84"/>
              <p:cNvCxnSpPr/>
              <p:nvPr/>
            </p:nvCxnSpPr>
            <p:spPr>
              <a:xfrm>
                <a:off x="4023625" y="3199000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6" name="Google Shape;1356;p84"/>
              <p:cNvCxnSpPr/>
              <p:nvPr/>
            </p:nvCxnSpPr>
            <p:spPr>
              <a:xfrm>
                <a:off x="4063650" y="3199000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7" name="Google Shape;1357;p84"/>
              <p:cNvCxnSpPr/>
              <p:nvPr/>
            </p:nvCxnSpPr>
            <p:spPr>
              <a:xfrm>
                <a:off x="3981730" y="3199398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58" name="Google Shape;1358;p84"/>
          <p:cNvGrpSpPr/>
          <p:nvPr/>
        </p:nvGrpSpPr>
        <p:grpSpPr>
          <a:xfrm flipH="1" rot="-3690757">
            <a:off x="1659741" y="1019889"/>
            <a:ext cx="1774036" cy="3510104"/>
            <a:chOff x="3698500" y="1036900"/>
            <a:chExt cx="1520765" cy="3026748"/>
          </a:xfrm>
        </p:grpSpPr>
        <p:sp>
          <p:nvSpPr>
            <p:cNvPr id="1359" name="Google Shape;1359;p84"/>
            <p:cNvSpPr/>
            <p:nvPr/>
          </p:nvSpPr>
          <p:spPr>
            <a:xfrm>
              <a:off x="4126675" y="1461600"/>
              <a:ext cx="660000" cy="21741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0" name="Google Shape;1360;p84"/>
            <p:cNvSpPr/>
            <p:nvPr/>
          </p:nvSpPr>
          <p:spPr>
            <a:xfrm rot="-3166285">
              <a:off x="4482819" y="3327201"/>
              <a:ext cx="613392" cy="613392"/>
            </a:xfrm>
            <a:prstGeom prst="pie">
              <a:avLst>
                <a:gd fmla="val 13937662" name="adj1"/>
                <a:gd fmla="val 1834750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1" name="Google Shape;1361;p84"/>
            <p:cNvSpPr/>
            <p:nvPr/>
          </p:nvSpPr>
          <p:spPr>
            <a:xfrm rot="83831">
              <a:off x="4128011" y="3523634"/>
              <a:ext cx="110733" cy="110733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2" name="Google Shape;1362;p84"/>
            <p:cNvSpPr/>
            <p:nvPr/>
          </p:nvSpPr>
          <p:spPr>
            <a:xfrm rot="5400000">
              <a:off x="3738997" y="1077403"/>
              <a:ext cx="775500" cy="775500"/>
            </a:xfrm>
            <a:prstGeom prst="pie">
              <a:avLst>
                <a:gd fmla="val 20591304" name="adj1"/>
                <a:gd fmla="val 844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3" name="Google Shape;1363;p84"/>
            <p:cNvSpPr/>
            <p:nvPr/>
          </p:nvSpPr>
          <p:spPr>
            <a:xfrm rot="5400000">
              <a:off x="3698500" y="1036900"/>
              <a:ext cx="856500" cy="856500"/>
            </a:xfrm>
            <a:prstGeom prst="pie">
              <a:avLst>
                <a:gd fmla="val 20591304" name="adj1"/>
                <a:gd fmla="val 844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64" name="Google Shape;1364;p84"/>
            <p:cNvCxnSpPr/>
            <p:nvPr/>
          </p:nvCxnSpPr>
          <p:spPr>
            <a:xfrm flipH="1" rot="3238358">
              <a:off x="4439903" y="2516258"/>
              <a:ext cx="65287" cy="19826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65" name="Google Shape;1365;p84"/>
            <p:cNvGrpSpPr/>
            <p:nvPr/>
          </p:nvGrpSpPr>
          <p:grpSpPr>
            <a:xfrm rot="3243640">
              <a:off x="4330934" y="3568730"/>
              <a:ext cx="145643" cy="125169"/>
              <a:chOff x="3215837" y="2992511"/>
              <a:chExt cx="145650" cy="125175"/>
            </a:xfrm>
          </p:grpSpPr>
          <p:cxnSp>
            <p:nvCxnSpPr>
              <p:cNvPr id="1366" name="Google Shape;1366;p84"/>
              <p:cNvCxnSpPr/>
              <p:nvPr/>
            </p:nvCxnSpPr>
            <p:spPr>
              <a:xfrm>
                <a:off x="3215837" y="3026486"/>
                <a:ext cx="121800" cy="91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7" name="Google Shape;1367;p84"/>
              <p:cNvCxnSpPr/>
              <p:nvPr/>
            </p:nvCxnSpPr>
            <p:spPr>
              <a:xfrm>
                <a:off x="3239687" y="2992511"/>
                <a:ext cx="121800" cy="91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68" name="Google Shape;1368;p84"/>
            <p:cNvGrpSpPr/>
            <p:nvPr/>
          </p:nvGrpSpPr>
          <p:grpSpPr>
            <a:xfrm rot="-5400000">
              <a:off x="4087328" y="2558626"/>
              <a:ext cx="81912" cy="143183"/>
              <a:chOff x="3981730" y="3199000"/>
              <a:chExt cx="81920" cy="143198"/>
            </a:xfrm>
          </p:grpSpPr>
          <p:cxnSp>
            <p:nvCxnSpPr>
              <p:cNvPr id="1369" name="Google Shape;1369;p84"/>
              <p:cNvCxnSpPr/>
              <p:nvPr/>
            </p:nvCxnSpPr>
            <p:spPr>
              <a:xfrm>
                <a:off x="4023625" y="3199000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0" name="Google Shape;1370;p84"/>
              <p:cNvCxnSpPr/>
              <p:nvPr/>
            </p:nvCxnSpPr>
            <p:spPr>
              <a:xfrm>
                <a:off x="4063650" y="3199000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1" name="Google Shape;1371;p84"/>
              <p:cNvCxnSpPr/>
              <p:nvPr/>
            </p:nvCxnSpPr>
            <p:spPr>
              <a:xfrm>
                <a:off x="3981730" y="3199398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72" name="Google Shape;1372;p84"/>
          <p:cNvGrpSpPr/>
          <p:nvPr/>
        </p:nvGrpSpPr>
        <p:grpSpPr>
          <a:xfrm flipH="1" rot="7109243">
            <a:off x="4234012" y="1539225"/>
            <a:ext cx="1774036" cy="3510104"/>
            <a:chOff x="3698500" y="1036900"/>
            <a:chExt cx="1520765" cy="3026748"/>
          </a:xfrm>
        </p:grpSpPr>
        <p:sp>
          <p:nvSpPr>
            <p:cNvPr id="1373" name="Google Shape;1373;p84"/>
            <p:cNvSpPr/>
            <p:nvPr/>
          </p:nvSpPr>
          <p:spPr>
            <a:xfrm>
              <a:off x="4126675" y="1461600"/>
              <a:ext cx="660000" cy="21741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4" name="Google Shape;1374;p84"/>
            <p:cNvSpPr/>
            <p:nvPr/>
          </p:nvSpPr>
          <p:spPr>
            <a:xfrm rot="-3166285">
              <a:off x="4482819" y="3327201"/>
              <a:ext cx="613392" cy="613392"/>
            </a:xfrm>
            <a:prstGeom prst="pie">
              <a:avLst>
                <a:gd fmla="val 13937662" name="adj1"/>
                <a:gd fmla="val 1834750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5" name="Google Shape;1375;p84"/>
            <p:cNvSpPr/>
            <p:nvPr/>
          </p:nvSpPr>
          <p:spPr>
            <a:xfrm rot="83831">
              <a:off x="4128011" y="3523634"/>
              <a:ext cx="110733" cy="110733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6" name="Google Shape;1376;p84"/>
            <p:cNvSpPr/>
            <p:nvPr/>
          </p:nvSpPr>
          <p:spPr>
            <a:xfrm rot="5400000">
              <a:off x="3738997" y="1077403"/>
              <a:ext cx="775500" cy="775500"/>
            </a:xfrm>
            <a:prstGeom prst="pie">
              <a:avLst>
                <a:gd fmla="val 20591304" name="adj1"/>
                <a:gd fmla="val 844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7" name="Google Shape;1377;p84"/>
            <p:cNvSpPr/>
            <p:nvPr/>
          </p:nvSpPr>
          <p:spPr>
            <a:xfrm rot="5400000">
              <a:off x="3698500" y="1036900"/>
              <a:ext cx="856500" cy="856500"/>
            </a:xfrm>
            <a:prstGeom prst="pie">
              <a:avLst>
                <a:gd fmla="val 20591304" name="adj1"/>
                <a:gd fmla="val 844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78" name="Google Shape;1378;p84"/>
            <p:cNvCxnSpPr/>
            <p:nvPr/>
          </p:nvCxnSpPr>
          <p:spPr>
            <a:xfrm flipH="1" rot="3238358">
              <a:off x="4439903" y="2516258"/>
              <a:ext cx="65287" cy="19826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79" name="Google Shape;1379;p84"/>
            <p:cNvGrpSpPr/>
            <p:nvPr/>
          </p:nvGrpSpPr>
          <p:grpSpPr>
            <a:xfrm rot="3243640">
              <a:off x="4330934" y="3568730"/>
              <a:ext cx="145643" cy="125169"/>
              <a:chOff x="3215837" y="2992511"/>
              <a:chExt cx="145650" cy="125175"/>
            </a:xfrm>
          </p:grpSpPr>
          <p:cxnSp>
            <p:nvCxnSpPr>
              <p:cNvPr id="1380" name="Google Shape;1380;p84"/>
              <p:cNvCxnSpPr/>
              <p:nvPr/>
            </p:nvCxnSpPr>
            <p:spPr>
              <a:xfrm>
                <a:off x="3215837" y="3026486"/>
                <a:ext cx="121800" cy="91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1" name="Google Shape;1381;p84"/>
              <p:cNvCxnSpPr/>
              <p:nvPr/>
            </p:nvCxnSpPr>
            <p:spPr>
              <a:xfrm>
                <a:off x="3239687" y="2992511"/>
                <a:ext cx="121800" cy="91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82" name="Google Shape;1382;p84"/>
            <p:cNvGrpSpPr/>
            <p:nvPr/>
          </p:nvGrpSpPr>
          <p:grpSpPr>
            <a:xfrm rot="-5400000">
              <a:off x="4087328" y="2558626"/>
              <a:ext cx="81912" cy="143183"/>
              <a:chOff x="3981730" y="3199000"/>
              <a:chExt cx="81920" cy="143198"/>
            </a:xfrm>
          </p:grpSpPr>
          <p:cxnSp>
            <p:nvCxnSpPr>
              <p:cNvPr id="1383" name="Google Shape;1383;p84"/>
              <p:cNvCxnSpPr/>
              <p:nvPr/>
            </p:nvCxnSpPr>
            <p:spPr>
              <a:xfrm>
                <a:off x="4023625" y="3199000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4" name="Google Shape;1384;p84"/>
              <p:cNvCxnSpPr/>
              <p:nvPr/>
            </p:nvCxnSpPr>
            <p:spPr>
              <a:xfrm>
                <a:off x="4063650" y="3199000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5" name="Google Shape;1385;p84"/>
              <p:cNvCxnSpPr/>
              <p:nvPr/>
            </p:nvCxnSpPr>
            <p:spPr>
              <a:xfrm>
                <a:off x="3981730" y="3199398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86" name="Google Shape;1386;p84"/>
          <p:cNvGrpSpPr/>
          <p:nvPr/>
        </p:nvGrpSpPr>
        <p:grpSpPr>
          <a:xfrm rot="7109243">
            <a:off x="3863395" y="2218168"/>
            <a:ext cx="1774036" cy="3510104"/>
            <a:chOff x="3698500" y="1036900"/>
            <a:chExt cx="1520765" cy="3026748"/>
          </a:xfrm>
        </p:grpSpPr>
        <p:sp>
          <p:nvSpPr>
            <p:cNvPr id="1387" name="Google Shape;1387;p84"/>
            <p:cNvSpPr/>
            <p:nvPr/>
          </p:nvSpPr>
          <p:spPr>
            <a:xfrm>
              <a:off x="4126675" y="1461600"/>
              <a:ext cx="660000" cy="21741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8" name="Google Shape;1388;p84"/>
            <p:cNvSpPr/>
            <p:nvPr/>
          </p:nvSpPr>
          <p:spPr>
            <a:xfrm rot="-3166285">
              <a:off x="4482819" y="3327201"/>
              <a:ext cx="613392" cy="613392"/>
            </a:xfrm>
            <a:prstGeom prst="pie">
              <a:avLst>
                <a:gd fmla="val 13937662" name="adj1"/>
                <a:gd fmla="val 1834750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9" name="Google Shape;1389;p84"/>
            <p:cNvSpPr/>
            <p:nvPr/>
          </p:nvSpPr>
          <p:spPr>
            <a:xfrm rot="83831">
              <a:off x="4128011" y="3523634"/>
              <a:ext cx="110733" cy="110733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0" name="Google Shape;1390;p84"/>
            <p:cNvSpPr/>
            <p:nvPr/>
          </p:nvSpPr>
          <p:spPr>
            <a:xfrm rot="5400000">
              <a:off x="3738997" y="1077403"/>
              <a:ext cx="775500" cy="775500"/>
            </a:xfrm>
            <a:prstGeom prst="pie">
              <a:avLst>
                <a:gd fmla="val 20591304" name="adj1"/>
                <a:gd fmla="val 844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1" name="Google Shape;1391;p84"/>
            <p:cNvSpPr/>
            <p:nvPr/>
          </p:nvSpPr>
          <p:spPr>
            <a:xfrm rot="5400000">
              <a:off x="3698500" y="1036900"/>
              <a:ext cx="856500" cy="856500"/>
            </a:xfrm>
            <a:prstGeom prst="pie">
              <a:avLst>
                <a:gd fmla="val 20591304" name="adj1"/>
                <a:gd fmla="val 844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92" name="Google Shape;1392;p84"/>
            <p:cNvCxnSpPr/>
            <p:nvPr/>
          </p:nvCxnSpPr>
          <p:spPr>
            <a:xfrm flipH="1" rot="3238358">
              <a:off x="4439903" y="2516258"/>
              <a:ext cx="65287" cy="19826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93" name="Google Shape;1393;p84"/>
            <p:cNvGrpSpPr/>
            <p:nvPr/>
          </p:nvGrpSpPr>
          <p:grpSpPr>
            <a:xfrm rot="3243640">
              <a:off x="4330934" y="3568730"/>
              <a:ext cx="145643" cy="125169"/>
              <a:chOff x="3215837" y="2992511"/>
              <a:chExt cx="145650" cy="125175"/>
            </a:xfrm>
          </p:grpSpPr>
          <p:cxnSp>
            <p:nvCxnSpPr>
              <p:cNvPr id="1394" name="Google Shape;1394;p84"/>
              <p:cNvCxnSpPr/>
              <p:nvPr/>
            </p:nvCxnSpPr>
            <p:spPr>
              <a:xfrm>
                <a:off x="3215837" y="3026486"/>
                <a:ext cx="121800" cy="91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5" name="Google Shape;1395;p84"/>
              <p:cNvCxnSpPr/>
              <p:nvPr/>
            </p:nvCxnSpPr>
            <p:spPr>
              <a:xfrm>
                <a:off x="3239687" y="2992511"/>
                <a:ext cx="121800" cy="91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96" name="Google Shape;1396;p84"/>
            <p:cNvGrpSpPr/>
            <p:nvPr/>
          </p:nvGrpSpPr>
          <p:grpSpPr>
            <a:xfrm rot="-5400000">
              <a:off x="4087328" y="2558626"/>
              <a:ext cx="81912" cy="143183"/>
              <a:chOff x="3981730" y="3199000"/>
              <a:chExt cx="81920" cy="143198"/>
            </a:xfrm>
          </p:grpSpPr>
          <p:cxnSp>
            <p:nvCxnSpPr>
              <p:cNvPr id="1397" name="Google Shape;1397;p84"/>
              <p:cNvCxnSpPr/>
              <p:nvPr/>
            </p:nvCxnSpPr>
            <p:spPr>
              <a:xfrm>
                <a:off x="4023625" y="3199000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8" name="Google Shape;1398;p84"/>
              <p:cNvCxnSpPr/>
              <p:nvPr/>
            </p:nvCxnSpPr>
            <p:spPr>
              <a:xfrm>
                <a:off x="4063650" y="3199000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9" name="Google Shape;1399;p84"/>
              <p:cNvCxnSpPr/>
              <p:nvPr/>
            </p:nvCxnSpPr>
            <p:spPr>
              <a:xfrm>
                <a:off x="3981730" y="3199398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85"/>
          <p:cNvSpPr txBox="1"/>
          <p:nvPr>
            <p:ph idx="1" type="body"/>
          </p:nvPr>
        </p:nvSpPr>
        <p:spPr>
          <a:xfrm>
            <a:off x="324000" y="759300"/>
            <a:ext cx="8544000" cy="7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dashed lines are the </a:t>
            </a:r>
            <a:r>
              <a:rPr lang="en-GB" sz="1800">
                <a:solidFill>
                  <a:schemeClr val="accent5"/>
                </a:solidFill>
              </a:rPr>
              <a:t>diagonals</a:t>
            </a:r>
            <a:r>
              <a:rPr lang="en-GB" sz="1800"/>
              <a:t> of the rhombus.</a:t>
            </a:r>
            <a:endParaRPr sz="1800"/>
          </a:p>
        </p:txBody>
      </p:sp>
      <p:sp>
        <p:nvSpPr>
          <p:cNvPr id="1405" name="Google Shape;140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grpSp>
        <p:nvGrpSpPr>
          <p:cNvPr id="1406" name="Google Shape;1406;p85"/>
          <p:cNvGrpSpPr/>
          <p:nvPr/>
        </p:nvGrpSpPr>
        <p:grpSpPr>
          <a:xfrm rot="-3690757">
            <a:off x="960383" y="344121"/>
            <a:ext cx="1774036" cy="3510104"/>
            <a:chOff x="3698500" y="1036900"/>
            <a:chExt cx="1520765" cy="3026748"/>
          </a:xfrm>
        </p:grpSpPr>
        <p:sp>
          <p:nvSpPr>
            <p:cNvPr id="1407" name="Google Shape;1407;p85"/>
            <p:cNvSpPr/>
            <p:nvPr/>
          </p:nvSpPr>
          <p:spPr>
            <a:xfrm>
              <a:off x="4126675" y="1461600"/>
              <a:ext cx="660000" cy="21741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8" name="Google Shape;1408;p85"/>
            <p:cNvSpPr/>
            <p:nvPr/>
          </p:nvSpPr>
          <p:spPr>
            <a:xfrm rot="-3166285">
              <a:off x="4482819" y="3327201"/>
              <a:ext cx="613392" cy="613392"/>
            </a:xfrm>
            <a:prstGeom prst="pie">
              <a:avLst>
                <a:gd fmla="val 13937662" name="adj1"/>
                <a:gd fmla="val 1834750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9" name="Google Shape;1409;p85"/>
            <p:cNvSpPr/>
            <p:nvPr/>
          </p:nvSpPr>
          <p:spPr>
            <a:xfrm rot="83831">
              <a:off x="4128011" y="3523634"/>
              <a:ext cx="110733" cy="110733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0" name="Google Shape;1410;p85"/>
            <p:cNvSpPr/>
            <p:nvPr/>
          </p:nvSpPr>
          <p:spPr>
            <a:xfrm rot="5400000">
              <a:off x="3738997" y="1077403"/>
              <a:ext cx="775500" cy="775500"/>
            </a:xfrm>
            <a:prstGeom prst="pie">
              <a:avLst>
                <a:gd fmla="val 20591304" name="adj1"/>
                <a:gd fmla="val 844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1" name="Google Shape;1411;p85"/>
            <p:cNvSpPr/>
            <p:nvPr/>
          </p:nvSpPr>
          <p:spPr>
            <a:xfrm rot="5400000">
              <a:off x="3698500" y="1036900"/>
              <a:ext cx="856500" cy="856500"/>
            </a:xfrm>
            <a:prstGeom prst="pie">
              <a:avLst>
                <a:gd fmla="val 20591304" name="adj1"/>
                <a:gd fmla="val 844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12" name="Google Shape;1412;p85"/>
            <p:cNvCxnSpPr/>
            <p:nvPr/>
          </p:nvCxnSpPr>
          <p:spPr>
            <a:xfrm flipH="1" rot="3238358">
              <a:off x="4439903" y="2516258"/>
              <a:ext cx="65287" cy="19826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13" name="Google Shape;1413;p85"/>
            <p:cNvGrpSpPr/>
            <p:nvPr/>
          </p:nvGrpSpPr>
          <p:grpSpPr>
            <a:xfrm rot="3243640">
              <a:off x="4330934" y="3568730"/>
              <a:ext cx="145643" cy="125169"/>
              <a:chOff x="3215837" y="2992511"/>
              <a:chExt cx="145650" cy="125175"/>
            </a:xfrm>
          </p:grpSpPr>
          <p:cxnSp>
            <p:nvCxnSpPr>
              <p:cNvPr id="1414" name="Google Shape;1414;p85"/>
              <p:cNvCxnSpPr/>
              <p:nvPr/>
            </p:nvCxnSpPr>
            <p:spPr>
              <a:xfrm>
                <a:off x="3215837" y="3026486"/>
                <a:ext cx="121800" cy="91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5" name="Google Shape;1415;p85"/>
              <p:cNvCxnSpPr/>
              <p:nvPr/>
            </p:nvCxnSpPr>
            <p:spPr>
              <a:xfrm>
                <a:off x="3239687" y="2992511"/>
                <a:ext cx="121800" cy="91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16" name="Google Shape;1416;p85"/>
            <p:cNvGrpSpPr/>
            <p:nvPr/>
          </p:nvGrpSpPr>
          <p:grpSpPr>
            <a:xfrm rot="-5400000">
              <a:off x="4087328" y="2558626"/>
              <a:ext cx="81912" cy="143183"/>
              <a:chOff x="3981730" y="3199000"/>
              <a:chExt cx="81920" cy="143198"/>
            </a:xfrm>
          </p:grpSpPr>
          <p:cxnSp>
            <p:nvCxnSpPr>
              <p:cNvPr id="1417" name="Google Shape;1417;p85"/>
              <p:cNvCxnSpPr/>
              <p:nvPr/>
            </p:nvCxnSpPr>
            <p:spPr>
              <a:xfrm>
                <a:off x="4023625" y="3199000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8" name="Google Shape;1418;p85"/>
              <p:cNvCxnSpPr/>
              <p:nvPr/>
            </p:nvCxnSpPr>
            <p:spPr>
              <a:xfrm>
                <a:off x="4063650" y="3199000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9" name="Google Shape;1419;p85"/>
              <p:cNvCxnSpPr/>
              <p:nvPr/>
            </p:nvCxnSpPr>
            <p:spPr>
              <a:xfrm>
                <a:off x="3981730" y="3199398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420" name="Google Shape;1420;p85"/>
          <p:cNvGrpSpPr/>
          <p:nvPr/>
        </p:nvGrpSpPr>
        <p:grpSpPr>
          <a:xfrm flipH="1" rot="-3690757">
            <a:off x="592941" y="1019889"/>
            <a:ext cx="1774036" cy="3510104"/>
            <a:chOff x="3698500" y="1036900"/>
            <a:chExt cx="1520765" cy="3026748"/>
          </a:xfrm>
        </p:grpSpPr>
        <p:sp>
          <p:nvSpPr>
            <p:cNvPr id="1421" name="Google Shape;1421;p85"/>
            <p:cNvSpPr/>
            <p:nvPr/>
          </p:nvSpPr>
          <p:spPr>
            <a:xfrm>
              <a:off x="4126675" y="1461600"/>
              <a:ext cx="660000" cy="21741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2" name="Google Shape;1422;p85"/>
            <p:cNvSpPr/>
            <p:nvPr/>
          </p:nvSpPr>
          <p:spPr>
            <a:xfrm rot="-3166285">
              <a:off x="4482819" y="3327201"/>
              <a:ext cx="613392" cy="613392"/>
            </a:xfrm>
            <a:prstGeom prst="pie">
              <a:avLst>
                <a:gd fmla="val 13937662" name="adj1"/>
                <a:gd fmla="val 1834750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3" name="Google Shape;1423;p85"/>
            <p:cNvSpPr/>
            <p:nvPr/>
          </p:nvSpPr>
          <p:spPr>
            <a:xfrm rot="83831">
              <a:off x="4128011" y="3523634"/>
              <a:ext cx="110733" cy="110733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4" name="Google Shape;1424;p85"/>
            <p:cNvSpPr/>
            <p:nvPr/>
          </p:nvSpPr>
          <p:spPr>
            <a:xfrm rot="5400000">
              <a:off x="3738997" y="1077403"/>
              <a:ext cx="775500" cy="775500"/>
            </a:xfrm>
            <a:prstGeom prst="pie">
              <a:avLst>
                <a:gd fmla="val 20591304" name="adj1"/>
                <a:gd fmla="val 844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5" name="Google Shape;1425;p85"/>
            <p:cNvSpPr/>
            <p:nvPr/>
          </p:nvSpPr>
          <p:spPr>
            <a:xfrm rot="5400000">
              <a:off x="3698500" y="1036900"/>
              <a:ext cx="856500" cy="856500"/>
            </a:xfrm>
            <a:prstGeom prst="pie">
              <a:avLst>
                <a:gd fmla="val 20591304" name="adj1"/>
                <a:gd fmla="val 844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26" name="Google Shape;1426;p85"/>
            <p:cNvCxnSpPr/>
            <p:nvPr/>
          </p:nvCxnSpPr>
          <p:spPr>
            <a:xfrm flipH="1" rot="3238358">
              <a:off x="4439903" y="2516258"/>
              <a:ext cx="65287" cy="19826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7" name="Google Shape;1427;p85"/>
            <p:cNvGrpSpPr/>
            <p:nvPr/>
          </p:nvGrpSpPr>
          <p:grpSpPr>
            <a:xfrm rot="3243640">
              <a:off x="4330934" y="3568730"/>
              <a:ext cx="145643" cy="125169"/>
              <a:chOff x="3215837" y="2992511"/>
              <a:chExt cx="145650" cy="125175"/>
            </a:xfrm>
          </p:grpSpPr>
          <p:cxnSp>
            <p:nvCxnSpPr>
              <p:cNvPr id="1428" name="Google Shape;1428;p85"/>
              <p:cNvCxnSpPr/>
              <p:nvPr/>
            </p:nvCxnSpPr>
            <p:spPr>
              <a:xfrm>
                <a:off x="3215837" y="3026486"/>
                <a:ext cx="121800" cy="91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9" name="Google Shape;1429;p85"/>
              <p:cNvCxnSpPr/>
              <p:nvPr/>
            </p:nvCxnSpPr>
            <p:spPr>
              <a:xfrm>
                <a:off x="3239687" y="2992511"/>
                <a:ext cx="121800" cy="91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30" name="Google Shape;1430;p85"/>
            <p:cNvGrpSpPr/>
            <p:nvPr/>
          </p:nvGrpSpPr>
          <p:grpSpPr>
            <a:xfrm rot="-5400000">
              <a:off x="4087328" y="2558626"/>
              <a:ext cx="81912" cy="143183"/>
              <a:chOff x="3981730" y="3199000"/>
              <a:chExt cx="81920" cy="143198"/>
            </a:xfrm>
          </p:grpSpPr>
          <p:cxnSp>
            <p:nvCxnSpPr>
              <p:cNvPr id="1431" name="Google Shape;1431;p85"/>
              <p:cNvCxnSpPr/>
              <p:nvPr/>
            </p:nvCxnSpPr>
            <p:spPr>
              <a:xfrm>
                <a:off x="4023625" y="3199000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2" name="Google Shape;1432;p85"/>
              <p:cNvCxnSpPr/>
              <p:nvPr/>
            </p:nvCxnSpPr>
            <p:spPr>
              <a:xfrm>
                <a:off x="4063650" y="3199000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3" name="Google Shape;1433;p85"/>
              <p:cNvCxnSpPr/>
              <p:nvPr/>
            </p:nvCxnSpPr>
            <p:spPr>
              <a:xfrm>
                <a:off x="3981730" y="3199398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434" name="Google Shape;1434;p85"/>
          <p:cNvGrpSpPr/>
          <p:nvPr/>
        </p:nvGrpSpPr>
        <p:grpSpPr>
          <a:xfrm flipH="1" rot="7109243">
            <a:off x="3167212" y="1539225"/>
            <a:ext cx="1774036" cy="3510104"/>
            <a:chOff x="3698500" y="1036900"/>
            <a:chExt cx="1520765" cy="3026748"/>
          </a:xfrm>
        </p:grpSpPr>
        <p:sp>
          <p:nvSpPr>
            <p:cNvPr id="1435" name="Google Shape;1435;p85"/>
            <p:cNvSpPr/>
            <p:nvPr/>
          </p:nvSpPr>
          <p:spPr>
            <a:xfrm>
              <a:off x="4126675" y="1461600"/>
              <a:ext cx="660000" cy="21741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6" name="Google Shape;1436;p85"/>
            <p:cNvSpPr/>
            <p:nvPr/>
          </p:nvSpPr>
          <p:spPr>
            <a:xfrm rot="-3166285">
              <a:off x="4482819" y="3327201"/>
              <a:ext cx="613392" cy="613392"/>
            </a:xfrm>
            <a:prstGeom prst="pie">
              <a:avLst>
                <a:gd fmla="val 13937662" name="adj1"/>
                <a:gd fmla="val 1834750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7" name="Google Shape;1437;p85"/>
            <p:cNvSpPr/>
            <p:nvPr/>
          </p:nvSpPr>
          <p:spPr>
            <a:xfrm rot="83831">
              <a:off x="4128011" y="3523634"/>
              <a:ext cx="110733" cy="110733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8" name="Google Shape;1438;p85"/>
            <p:cNvSpPr/>
            <p:nvPr/>
          </p:nvSpPr>
          <p:spPr>
            <a:xfrm rot="5400000">
              <a:off x="3738997" y="1077403"/>
              <a:ext cx="775500" cy="775500"/>
            </a:xfrm>
            <a:prstGeom prst="pie">
              <a:avLst>
                <a:gd fmla="val 20591304" name="adj1"/>
                <a:gd fmla="val 844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9" name="Google Shape;1439;p85"/>
            <p:cNvSpPr/>
            <p:nvPr/>
          </p:nvSpPr>
          <p:spPr>
            <a:xfrm rot="5400000">
              <a:off x="3698500" y="1036900"/>
              <a:ext cx="856500" cy="856500"/>
            </a:xfrm>
            <a:prstGeom prst="pie">
              <a:avLst>
                <a:gd fmla="val 20591304" name="adj1"/>
                <a:gd fmla="val 844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40" name="Google Shape;1440;p85"/>
            <p:cNvCxnSpPr/>
            <p:nvPr/>
          </p:nvCxnSpPr>
          <p:spPr>
            <a:xfrm flipH="1" rot="3238358">
              <a:off x="4439903" y="2516258"/>
              <a:ext cx="65287" cy="19826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41" name="Google Shape;1441;p85"/>
            <p:cNvGrpSpPr/>
            <p:nvPr/>
          </p:nvGrpSpPr>
          <p:grpSpPr>
            <a:xfrm rot="3243640">
              <a:off x="4330934" y="3568730"/>
              <a:ext cx="145643" cy="125169"/>
              <a:chOff x="3215837" y="2992511"/>
              <a:chExt cx="145650" cy="125175"/>
            </a:xfrm>
          </p:grpSpPr>
          <p:cxnSp>
            <p:nvCxnSpPr>
              <p:cNvPr id="1442" name="Google Shape;1442;p85"/>
              <p:cNvCxnSpPr/>
              <p:nvPr/>
            </p:nvCxnSpPr>
            <p:spPr>
              <a:xfrm>
                <a:off x="3215837" y="3026486"/>
                <a:ext cx="121800" cy="91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3" name="Google Shape;1443;p85"/>
              <p:cNvCxnSpPr/>
              <p:nvPr/>
            </p:nvCxnSpPr>
            <p:spPr>
              <a:xfrm>
                <a:off x="3239687" y="2992511"/>
                <a:ext cx="121800" cy="91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44" name="Google Shape;1444;p85"/>
            <p:cNvGrpSpPr/>
            <p:nvPr/>
          </p:nvGrpSpPr>
          <p:grpSpPr>
            <a:xfrm rot="-5400000">
              <a:off x="4087328" y="2558626"/>
              <a:ext cx="81912" cy="143183"/>
              <a:chOff x="3981730" y="3199000"/>
              <a:chExt cx="81920" cy="143198"/>
            </a:xfrm>
          </p:grpSpPr>
          <p:cxnSp>
            <p:nvCxnSpPr>
              <p:cNvPr id="1445" name="Google Shape;1445;p85"/>
              <p:cNvCxnSpPr/>
              <p:nvPr/>
            </p:nvCxnSpPr>
            <p:spPr>
              <a:xfrm>
                <a:off x="4023625" y="3199000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6" name="Google Shape;1446;p85"/>
              <p:cNvCxnSpPr/>
              <p:nvPr/>
            </p:nvCxnSpPr>
            <p:spPr>
              <a:xfrm>
                <a:off x="4063650" y="3199000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7" name="Google Shape;1447;p85"/>
              <p:cNvCxnSpPr/>
              <p:nvPr/>
            </p:nvCxnSpPr>
            <p:spPr>
              <a:xfrm>
                <a:off x="3981730" y="3199398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448" name="Google Shape;1448;p85"/>
          <p:cNvGrpSpPr/>
          <p:nvPr/>
        </p:nvGrpSpPr>
        <p:grpSpPr>
          <a:xfrm rot="7109243">
            <a:off x="2796595" y="2218168"/>
            <a:ext cx="1774036" cy="3510104"/>
            <a:chOff x="3698500" y="1036900"/>
            <a:chExt cx="1520765" cy="3026748"/>
          </a:xfrm>
        </p:grpSpPr>
        <p:sp>
          <p:nvSpPr>
            <p:cNvPr id="1449" name="Google Shape;1449;p85"/>
            <p:cNvSpPr/>
            <p:nvPr/>
          </p:nvSpPr>
          <p:spPr>
            <a:xfrm>
              <a:off x="4126675" y="1461600"/>
              <a:ext cx="660000" cy="21741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0" name="Google Shape;1450;p85"/>
            <p:cNvSpPr/>
            <p:nvPr/>
          </p:nvSpPr>
          <p:spPr>
            <a:xfrm rot="-3166285">
              <a:off x="4482819" y="3327201"/>
              <a:ext cx="613392" cy="613392"/>
            </a:xfrm>
            <a:prstGeom prst="pie">
              <a:avLst>
                <a:gd fmla="val 13937662" name="adj1"/>
                <a:gd fmla="val 1834750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1" name="Google Shape;1451;p85"/>
            <p:cNvSpPr/>
            <p:nvPr/>
          </p:nvSpPr>
          <p:spPr>
            <a:xfrm rot="83831">
              <a:off x="4128011" y="3523634"/>
              <a:ext cx="110733" cy="110733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2" name="Google Shape;1452;p85"/>
            <p:cNvSpPr/>
            <p:nvPr/>
          </p:nvSpPr>
          <p:spPr>
            <a:xfrm rot="5400000">
              <a:off x="3738997" y="1077403"/>
              <a:ext cx="775500" cy="775500"/>
            </a:xfrm>
            <a:prstGeom prst="pie">
              <a:avLst>
                <a:gd fmla="val 20591304" name="adj1"/>
                <a:gd fmla="val 844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3" name="Google Shape;1453;p85"/>
            <p:cNvSpPr/>
            <p:nvPr/>
          </p:nvSpPr>
          <p:spPr>
            <a:xfrm rot="5400000">
              <a:off x="3698500" y="1036900"/>
              <a:ext cx="856500" cy="856500"/>
            </a:xfrm>
            <a:prstGeom prst="pie">
              <a:avLst>
                <a:gd fmla="val 20591304" name="adj1"/>
                <a:gd fmla="val 844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54" name="Google Shape;1454;p85"/>
            <p:cNvCxnSpPr/>
            <p:nvPr/>
          </p:nvCxnSpPr>
          <p:spPr>
            <a:xfrm flipH="1" rot="3238358">
              <a:off x="4439903" y="2516258"/>
              <a:ext cx="65287" cy="19826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55" name="Google Shape;1455;p85"/>
            <p:cNvGrpSpPr/>
            <p:nvPr/>
          </p:nvGrpSpPr>
          <p:grpSpPr>
            <a:xfrm rot="3243640">
              <a:off x="4330934" y="3568730"/>
              <a:ext cx="145643" cy="125169"/>
              <a:chOff x="3215837" y="2992511"/>
              <a:chExt cx="145650" cy="125175"/>
            </a:xfrm>
          </p:grpSpPr>
          <p:cxnSp>
            <p:nvCxnSpPr>
              <p:cNvPr id="1456" name="Google Shape;1456;p85"/>
              <p:cNvCxnSpPr/>
              <p:nvPr/>
            </p:nvCxnSpPr>
            <p:spPr>
              <a:xfrm>
                <a:off x="3215837" y="3026486"/>
                <a:ext cx="121800" cy="91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7" name="Google Shape;1457;p85"/>
              <p:cNvCxnSpPr/>
              <p:nvPr/>
            </p:nvCxnSpPr>
            <p:spPr>
              <a:xfrm>
                <a:off x="3239687" y="2992511"/>
                <a:ext cx="121800" cy="91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58" name="Google Shape;1458;p85"/>
            <p:cNvGrpSpPr/>
            <p:nvPr/>
          </p:nvGrpSpPr>
          <p:grpSpPr>
            <a:xfrm rot="-5400000">
              <a:off x="4087328" y="2558626"/>
              <a:ext cx="81912" cy="143183"/>
              <a:chOff x="3981730" y="3199000"/>
              <a:chExt cx="81920" cy="143198"/>
            </a:xfrm>
          </p:grpSpPr>
          <p:cxnSp>
            <p:nvCxnSpPr>
              <p:cNvPr id="1459" name="Google Shape;1459;p85"/>
              <p:cNvCxnSpPr/>
              <p:nvPr/>
            </p:nvCxnSpPr>
            <p:spPr>
              <a:xfrm>
                <a:off x="4023625" y="3199000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0" name="Google Shape;1460;p85"/>
              <p:cNvCxnSpPr/>
              <p:nvPr/>
            </p:nvCxnSpPr>
            <p:spPr>
              <a:xfrm>
                <a:off x="4063650" y="3199000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1" name="Google Shape;1461;p85"/>
              <p:cNvCxnSpPr/>
              <p:nvPr/>
            </p:nvCxnSpPr>
            <p:spPr>
              <a:xfrm>
                <a:off x="3981730" y="3199398"/>
                <a:ext cx="0" cy="14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462" name="Google Shape;1462;p85"/>
          <p:cNvGrpSpPr/>
          <p:nvPr/>
        </p:nvGrpSpPr>
        <p:grpSpPr>
          <a:xfrm>
            <a:off x="568325" y="1841581"/>
            <a:ext cx="4399879" cy="2388553"/>
            <a:chOff x="242106" y="2472513"/>
            <a:chExt cx="4421100" cy="2393100"/>
          </a:xfrm>
        </p:grpSpPr>
        <p:cxnSp>
          <p:nvCxnSpPr>
            <p:cNvPr id="1463" name="Google Shape;1463;p85"/>
            <p:cNvCxnSpPr/>
            <p:nvPr/>
          </p:nvCxnSpPr>
          <p:spPr>
            <a:xfrm>
              <a:off x="242106" y="2472513"/>
              <a:ext cx="4421100" cy="23931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4" name="Google Shape;1464;p85"/>
            <p:cNvCxnSpPr/>
            <p:nvPr/>
          </p:nvCxnSpPr>
          <p:spPr>
            <a:xfrm>
              <a:off x="242106" y="2472513"/>
              <a:ext cx="4421100" cy="23931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65" name="Google Shape;1465;p85"/>
          <p:cNvGrpSpPr/>
          <p:nvPr/>
        </p:nvGrpSpPr>
        <p:grpSpPr>
          <a:xfrm flipH="1" rot="1709009">
            <a:off x="1698033" y="2396869"/>
            <a:ext cx="94991" cy="167027"/>
            <a:chOff x="3981730" y="3199000"/>
            <a:chExt cx="81920" cy="143198"/>
          </a:xfrm>
        </p:grpSpPr>
        <p:cxnSp>
          <p:nvCxnSpPr>
            <p:cNvPr id="1466" name="Google Shape;1466;p85"/>
            <p:cNvCxnSpPr/>
            <p:nvPr/>
          </p:nvCxnSpPr>
          <p:spPr>
            <a:xfrm>
              <a:off x="4023625" y="3199000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7" name="Google Shape;1467;p85"/>
            <p:cNvCxnSpPr/>
            <p:nvPr/>
          </p:nvCxnSpPr>
          <p:spPr>
            <a:xfrm>
              <a:off x="4063650" y="3199000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8" name="Google Shape;1468;p85"/>
            <p:cNvCxnSpPr/>
            <p:nvPr/>
          </p:nvCxnSpPr>
          <p:spPr>
            <a:xfrm>
              <a:off x="3981730" y="3199398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69" name="Google Shape;1469;p85"/>
          <p:cNvGrpSpPr/>
          <p:nvPr/>
        </p:nvGrpSpPr>
        <p:grpSpPr>
          <a:xfrm flipH="1" rot="1709009">
            <a:off x="3741447" y="3506100"/>
            <a:ext cx="94991" cy="167027"/>
            <a:chOff x="3981730" y="3199000"/>
            <a:chExt cx="81920" cy="143198"/>
          </a:xfrm>
        </p:grpSpPr>
        <p:cxnSp>
          <p:nvCxnSpPr>
            <p:cNvPr id="1470" name="Google Shape;1470;p85"/>
            <p:cNvCxnSpPr/>
            <p:nvPr/>
          </p:nvCxnSpPr>
          <p:spPr>
            <a:xfrm>
              <a:off x="4023625" y="3199000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1" name="Google Shape;1471;p85"/>
            <p:cNvCxnSpPr/>
            <p:nvPr/>
          </p:nvCxnSpPr>
          <p:spPr>
            <a:xfrm>
              <a:off x="4063650" y="3199000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2" name="Google Shape;1472;p85"/>
            <p:cNvCxnSpPr/>
            <p:nvPr/>
          </p:nvCxnSpPr>
          <p:spPr>
            <a:xfrm>
              <a:off x="3981730" y="3199398"/>
              <a:ext cx="0" cy="1428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73" name="Google Shape;1473;p85"/>
          <p:cNvGrpSpPr/>
          <p:nvPr/>
        </p:nvGrpSpPr>
        <p:grpSpPr>
          <a:xfrm flipH="1">
            <a:off x="2398127" y="2353517"/>
            <a:ext cx="740976" cy="1359520"/>
            <a:chOff x="242106" y="2472513"/>
            <a:chExt cx="4421100" cy="2393100"/>
          </a:xfrm>
        </p:grpSpPr>
        <p:cxnSp>
          <p:nvCxnSpPr>
            <p:cNvPr id="1474" name="Google Shape;1474;p85"/>
            <p:cNvCxnSpPr/>
            <p:nvPr/>
          </p:nvCxnSpPr>
          <p:spPr>
            <a:xfrm>
              <a:off x="242106" y="2472513"/>
              <a:ext cx="4421100" cy="23931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5" name="Google Shape;1475;p85"/>
            <p:cNvCxnSpPr/>
            <p:nvPr/>
          </p:nvCxnSpPr>
          <p:spPr>
            <a:xfrm>
              <a:off x="242106" y="2472513"/>
              <a:ext cx="4421100" cy="23931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76" name="Google Shape;1476;p85"/>
          <p:cNvGrpSpPr/>
          <p:nvPr/>
        </p:nvGrpSpPr>
        <p:grpSpPr>
          <a:xfrm flipH="1" rot="3875036">
            <a:off x="2836912" y="2680235"/>
            <a:ext cx="169240" cy="145726"/>
            <a:chOff x="3215837" y="2992511"/>
            <a:chExt cx="145650" cy="125175"/>
          </a:xfrm>
        </p:grpSpPr>
        <p:cxnSp>
          <p:nvCxnSpPr>
            <p:cNvPr id="1477" name="Google Shape;1477;p85"/>
            <p:cNvCxnSpPr/>
            <p:nvPr/>
          </p:nvCxnSpPr>
          <p:spPr>
            <a:xfrm>
              <a:off x="3215837" y="3026486"/>
              <a:ext cx="121800" cy="912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8" name="Google Shape;1478;p85"/>
            <p:cNvCxnSpPr/>
            <p:nvPr/>
          </p:nvCxnSpPr>
          <p:spPr>
            <a:xfrm>
              <a:off x="3239687" y="2992511"/>
              <a:ext cx="121800" cy="912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79" name="Google Shape;1479;p85"/>
          <p:cNvGrpSpPr/>
          <p:nvPr/>
        </p:nvGrpSpPr>
        <p:grpSpPr>
          <a:xfrm flipH="1" rot="3875036">
            <a:off x="2527943" y="3246361"/>
            <a:ext cx="169240" cy="145726"/>
            <a:chOff x="3215837" y="2992511"/>
            <a:chExt cx="145650" cy="125175"/>
          </a:xfrm>
        </p:grpSpPr>
        <p:cxnSp>
          <p:nvCxnSpPr>
            <p:cNvPr id="1480" name="Google Shape;1480;p85"/>
            <p:cNvCxnSpPr/>
            <p:nvPr/>
          </p:nvCxnSpPr>
          <p:spPr>
            <a:xfrm>
              <a:off x="3215837" y="3026486"/>
              <a:ext cx="121800" cy="912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85"/>
            <p:cNvCxnSpPr/>
            <p:nvPr/>
          </p:nvCxnSpPr>
          <p:spPr>
            <a:xfrm>
              <a:off x="3239687" y="2992511"/>
              <a:ext cx="121800" cy="912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82" name="Google Shape;1482;p85"/>
          <p:cNvSpPr txBox="1"/>
          <p:nvPr/>
        </p:nvSpPr>
        <p:spPr>
          <a:xfrm>
            <a:off x="4774175" y="1207975"/>
            <a:ext cx="406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can we infer about the diagonals of a rhombus?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85"/>
          <p:cNvSpPr txBox="1"/>
          <p:nvPr/>
        </p:nvSpPr>
        <p:spPr>
          <a:xfrm>
            <a:off x="4682300" y="1841563"/>
            <a:ext cx="4064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they are perpendicular to each other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hey </a:t>
            </a: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bisect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each other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they </a:t>
            </a: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bisect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angle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8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diagonals of a rhombus …</a:t>
            </a:r>
            <a:endParaRPr/>
          </a:p>
        </p:txBody>
      </p:sp>
      <p:sp>
        <p:nvSpPr>
          <p:cNvPr id="1489" name="Google Shape;1489;p8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sp>
        <p:nvSpPr>
          <p:cNvPr id="1490" name="Google Shape;1490;p8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bisect </a:t>
            </a:r>
            <a:r>
              <a:rPr lang="en-GB"/>
              <a:t>each other</a:t>
            </a:r>
            <a:endParaRPr/>
          </a:p>
        </p:txBody>
      </p:sp>
      <p:sp>
        <p:nvSpPr>
          <p:cNvPr id="1491" name="Google Shape;1491;p8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/>
              <a:t>re perpendicular to each other</a:t>
            </a:r>
            <a:endParaRPr/>
          </a:p>
        </p:txBody>
      </p:sp>
      <p:sp>
        <p:nvSpPr>
          <p:cNvPr id="1492" name="Google Shape;1492;p8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/>
              <a:t>re always equal in length</a:t>
            </a:r>
            <a:endParaRPr/>
          </a:p>
        </p:txBody>
      </p:sp>
      <p:sp>
        <p:nvSpPr>
          <p:cNvPr id="1493" name="Google Shape;1493;p8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b</a:t>
            </a:r>
            <a:r>
              <a:rPr b="1" lang="en-GB"/>
              <a:t>isect </a:t>
            </a:r>
            <a:r>
              <a:rPr lang="en-GB"/>
              <a:t>the angle</a:t>
            </a:r>
            <a:endParaRPr/>
          </a:p>
        </p:txBody>
      </p:sp>
      <p:pic>
        <p:nvPicPr>
          <p:cNvPr id="1494" name="Google Shape;149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058" y="16849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5" name="Google Shape;149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6408" y="24503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6" name="Google Shape;149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8108" y="40656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1" name="Google Shape;1501;p8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319900" y="1696000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2" name="Google Shape;1502;p87"/>
          <p:cNvSpPr txBox="1"/>
          <p:nvPr>
            <p:ph idx="1" type="body"/>
          </p:nvPr>
        </p:nvSpPr>
        <p:spPr>
          <a:xfrm>
            <a:off x="324000" y="759300"/>
            <a:ext cx="8544000" cy="7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is a rhombus with the diagonals drawn on and one angle given.</a:t>
            </a:r>
            <a:endParaRPr sz="1800"/>
          </a:p>
        </p:txBody>
      </p:sp>
      <p:sp>
        <p:nvSpPr>
          <p:cNvPr id="1503" name="Google Shape;1503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pic>
        <p:nvPicPr>
          <p:cNvPr id="1504" name="Google Shape;1504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775" y="1584263"/>
            <a:ext cx="4687724" cy="22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5" name="Google Shape;1505;p87"/>
          <p:cNvSpPr txBox="1"/>
          <p:nvPr/>
        </p:nvSpPr>
        <p:spPr>
          <a:xfrm>
            <a:off x="3199976" y="3051884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6" name="Google Shape;1506;p87"/>
          <p:cNvSpPr txBox="1"/>
          <p:nvPr/>
        </p:nvSpPr>
        <p:spPr>
          <a:xfrm>
            <a:off x="7313253" y="39144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07" name="Google Shape;1507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3359" y="3170288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p87"/>
          <p:cNvSpPr txBox="1"/>
          <p:nvPr>
            <p:ph idx="1" type="body"/>
          </p:nvPr>
        </p:nvSpPr>
        <p:spPr>
          <a:xfrm>
            <a:off x="5386200" y="1755525"/>
            <a:ext cx="2408700" cy="7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 this </a:t>
            </a:r>
            <a:r>
              <a:rPr lang="en-GB" sz="1800"/>
              <a:t>enough information to know all other angles on this diagram?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3" name="Google Shape;1513;p8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319900" y="1696000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14" name="Google Shape;1514;p88"/>
          <p:cNvSpPr txBox="1"/>
          <p:nvPr>
            <p:ph idx="1" type="body"/>
          </p:nvPr>
        </p:nvSpPr>
        <p:spPr>
          <a:xfrm>
            <a:off x="324000" y="759300"/>
            <a:ext cx="8544000" cy="7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is a rhombus with the diagonals drawn on and one angle given.</a:t>
            </a:r>
            <a:endParaRPr sz="1800"/>
          </a:p>
        </p:txBody>
      </p:sp>
      <p:sp>
        <p:nvSpPr>
          <p:cNvPr id="1515" name="Google Shape;151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pic>
        <p:nvPicPr>
          <p:cNvPr id="1516" name="Google Shape;1516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775" y="1584263"/>
            <a:ext cx="4687724" cy="22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7" name="Google Shape;1517;p88"/>
          <p:cNvSpPr txBox="1"/>
          <p:nvPr/>
        </p:nvSpPr>
        <p:spPr>
          <a:xfrm>
            <a:off x="3199976" y="3051884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88"/>
          <p:cNvSpPr txBox="1"/>
          <p:nvPr/>
        </p:nvSpPr>
        <p:spPr>
          <a:xfrm>
            <a:off x="7313253" y="39144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19" name="Google Shape;1519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3359" y="3170288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520" name="Google Shape;1520;p88"/>
          <p:cNvSpPr txBox="1"/>
          <p:nvPr>
            <p:ph idx="1" type="body"/>
          </p:nvPr>
        </p:nvSpPr>
        <p:spPr>
          <a:xfrm>
            <a:off x="5386200" y="1755525"/>
            <a:ext cx="2408700" cy="7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Diagonals in a rhombus are perpendicular to each other.</a:t>
            </a:r>
            <a:endParaRPr sz="1800"/>
          </a:p>
        </p:txBody>
      </p:sp>
      <p:sp>
        <p:nvSpPr>
          <p:cNvPr id="1521" name="Google Shape;1521;p88"/>
          <p:cNvSpPr/>
          <p:nvPr/>
        </p:nvSpPr>
        <p:spPr>
          <a:xfrm rot="-1223017">
            <a:off x="2707505" y="2528076"/>
            <a:ext cx="385009" cy="385009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89"/>
          <p:cNvSpPr/>
          <p:nvPr/>
        </p:nvSpPr>
        <p:spPr>
          <a:xfrm rot="9865145">
            <a:off x="2969362" y="3323907"/>
            <a:ext cx="518244" cy="518244"/>
          </a:xfrm>
          <a:prstGeom prst="pie">
            <a:avLst>
              <a:gd fmla="val 884807" name="adj1"/>
              <a:gd fmla="val 513583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7" name="Google Shape;1527;p8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319900" y="2077000"/>
            <a:ext cx="2662052" cy="1355874"/>
          </a:xfrm>
          <a:prstGeom prst="rect">
            <a:avLst/>
          </a:prstGeom>
          <a:noFill/>
          <a:ln>
            <a:noFill/>
          </a:ln>
        </p:spPr>
      </p:pic>
      <p:sp>
        <p:nvSpPr>
          <p:cNvPr id="1528" name="Google Shape;1528;p89"/>
          <p:cNvSpPr txBox="1"/>
          <p:nvPr>
            <p:ph idx="1" type="body"/>
          </p:nvPr>
        </p:nvSpPr>
        <p:spPr>
          <a:xfrm>
            <a:off x="324000" y="759300"/>
            <a:ext cx="8544000" cy="7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is a rhombus with the diagonals drawn on and one angle given.</a:t>
            </a:r>
            <a:endParaRPr sz="1800"/>
          </a:p>
        </p:txBody>
      </p:sp>
      <p:sp>
        <p:nvSpPr>
          <p:cNvPr id="1529" name="Google Shape;152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sp>
        <p:nvSpPr>
          <p:cNvPr id="1530" name="Google Shape;1530;p89"/>
          <p:cNvSpPr txBox="1"/>
          <p:nvPr/>
        </p:nvSpPr>
        <p:spPr>
          <a:xfrm>
            <a:off x="3199976" y="3051884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89"/>
          <p:cNvSpPr txBox="1"/>
          <p:nvPr/>
        </p:nvSpPr>
        <p:spPr>
          <a:xfrm>
            <a:off x="7313253" y="39144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2" name="Google Shape;1532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3359" y="3170288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533" name="Google Shape;1533;p89"/>
          <p:cNvSpPr txBox="1"/>
          <p:nvPr>
            <p:ph idx="1" type="body"/>
          </p:nvPr>
        </p:nvSpPr>
        <p:spPr>
          <a:xfrm>
            <a:off x="5386200" y="2136525"/>
            <a:ext cx="2408700" cy="7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diagonal </a:t>
            </a:r>
            <a:r>
              <a:rPr b="1" lang="en-GB" sz="1800"/>
              <a:t>bisects </a:t>
            </a:r>
            <a:r>
              <a:rPr lang="en-GB" sz="1800"/>
              <a:t>the angle it passes through.</a:t>
            </a:r>
            <a:endParaRPr sz="1800"/>
          </a:p>
        </p:txBody>
      </p:sp>
      <p:sp>
        <p:nvSpPr>
          <p:cNvPr id="1534" name="Google Shape;1534;p89"/>
          <p:cNvSpPr/>
          <p:nvPr/>
        </p:nvSpPr>
        <p:spPr>
          <a:xfrm rot="-1223017">
            <a:off x="2707505" y="2528076"/>
            <a:ext cx="385009" cy="385009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89"/>
          <p:cNvSpPr txBox="1"/>
          <p:nvPr/>
        </p:nvSpPr>
        <p:spPr>
          <a:xfrm>
            <a:off x="2703263" y="3228809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6" name="Google Shape;1536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775" y="1584263"/>
            <a:ext cx="4687724" cy="223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1" name="Google Shape;1541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775" y="1584263"/>
            <a:ext cx="4687724" cy="22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2" name="Google Shape;1542;p90"/>
          <p:cNvSpPr/>
          <p:nvPr/>
        </p:nvSpPr>
        <p:spPr>
          <a:xfrm rot="9865145">
            <a:off x="2969362" y="3323907"/>
            <a:ext cx="518244" cy="518244"/>
          </a:xfrm>
          <a:prstGeom prst="pie">
            <a:avLst>
              <a:gd fmla="val 884807" name="adj1"/>
              <a:gd fmla="val 513583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43" name="Google Shape;1543;p9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5319900" y="2077000"/>
            <a:ext cx="2662052" cy="1355874"/>
          </a:xfrm>
          <a:prstGeom prst="rect">
            <a:avLst/>
          </a:prstGeom>
          <a:noFill/>
          <a:ln>
            <a:noFill/>
          </a:ln>
        </p:spPr>
      </p:pic>
      <p:sp>
        <p:nvSpPr>
          <p:cNvPr id="1544" name="Google Shape;1544;p90"/>
          <p:cNvSpPr txBox="1"/>
          <p:nvPr>
            <p:ph idx="1" type="body"/>
          </p:nvPr>
        </p:nvSpPr>
        <p:spPr>
          <a:xfrm>
            <a:off x="324000" y="759300"/>
            <a:ext cx="8544000" cy="7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is a rhombus with the diagonals drawn on and one angle given.</a:t>
            </a:r>
            <a:endParaRPr sz="1800"/>
          </a:p>
        </p:txBody>
      </p:sp>
      <p:sp>
        <p:nvSpPr>
          <p:cNvPr id="1545" name="Google Shape;154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sp>
        <p:nvSpPr>
          <p:cNvPr id="1546" name="Google Shape;1546;p90"/>
          <p:cNvSpPr txBox="1"/>
          <p:nvPr/>
        </p:nvSpPr>
        <p:spPr>
          <a:xfrm>
            <a:off x="3199976" y="3051884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7" name="Google Shape;1547;p90"/>
          <p:cNvSpPr txBox="1"/>
          <p:nvPr/>
        </p:nvSpPr>
        <p:spPr>
          <a:xfrm>
            <a:off x="7313253" y="39144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48" name="Google Shape;1548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3359" y="3170288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549" name="Google Shape;1549;p90"/>
          <p:cNvSpPr txBox="1"/>
          <p:nvPr>
            <p:ph idx="1" type="body"/>
          </p:nvPr>
        </p:nvSpPr>
        <p:spPr>
          <a:xfrm>
            <a:off x="5386200" y="2136525"/>
            <a:ext cx="2408700" cy="7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Two congruent isosceles triangles create a rhombus.</a:t>
            </a:r>
            <a:endParaRPr sz="1800"/>
          </a:p>
        </p:txBody>
      </p:sp>
      <p:sp>
        <p:nvSpPr>
          <p:cNvPr id="1550" name="Google Shape;1550;p90"/>
          <p:cNvSpPr/>
          <p:nvPr/>
        </p:nvSpPr>
        <p:spPr>
          <a:xfrm rot="-1223017">
            <a:off x="2707505" y="2528076"/>
            <a:ext cx="385009" cy="385009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1" name="Google Shape;1551;p90"/>
          <p:cNvSpPr txBox="1"/>
          <p:nvPr/>
        </p:nvSpPr>
        <p:spPr>
          <a:xfrm>
            <a:off x="2703263" y="3228809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2" name="Google Shape;1552;p90"/>
          <p:cNvSpPr/>
          <p:nvPr/>
        </p:nvSpPr>
        <p:spPr>
          <a:xfrm rot="-934855">
            <a:off x="2308655" y="1594656"/>
            <a:ext cx="518244" cy="518244"/>
          </a:xfrm>
          <a:prstGeom prst="pie">
            <a:avLst>
              <a:gd fmla="val 884807" name="adj1"/>
              <a:gd fmla="val 513583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90"/>
          <p:cNvSpPr txBox="1"/>
          <p:nvPr/>
        </p:nvSpPr>
        <p:spPr>
          <a:xfrm>
            <a:off x="2293463" y="2094859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90"/>
          <p:cNvSpPr txBox="1"/>
          <p:nvPr/>
        </p:nvSpPr>
        <p:spPr>
          <a:xfrm>
            <a:off x="2790176" y="1924134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90"/>
          <p:cNvSpPr/>
          <p:nvPr/>
        </p:nvSpPr>
        <p:spPr>
          <a:xfrm flipH="1" rot="-1528057">
            <a:off x="2303776" y="1596699"/>
            <a:ext cx="518371" cy="518371"/>
          </a:xfrm>
          <a:prstGeom prst="pie">
            <a:avLst>
              <a:gd fmla="val 961029" name="adj1"/>
              <a:gd fmla="val 513583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0" name="Google Shape;156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775" y="1584263"/>
            <a:ext cx="4687724" cy="22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1" name="Google Shape;1561;p91"/>
          <p:cNvSpPr/>
          <p:nvPr/>
        </p:nvSpPr>
        <p:spPr>
          <a:xfrm rot="9865145">
            <a:off x="2969362" y="3323907"/>
            <a:ext cx="518244" cy="518244"/>
          </a:xfrm>
          <a:prstGeom prst="pie">
            <a:avLst>
              <a:gd fmla="val 884807" name="adj1"/>
              <a:gd fmla="val 513583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62" name="Google Shape;1562;p91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5319900" y="2536800"/>
            <a:ext cx="2662052" cy="896076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91"/>
          <p:cNvSpPr txBox="1"/>
          <p:nvPr>
            <p:ph idx="1" type="body"/>
          </p:nvPr>
        </p:nvSpPr>
        <p:spPr>
          <a:xfrm>
            <a:off x="324000" y="759300"/>
            <a:ext cx="8544000" cy="7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is a rhombus with the diagonals drawn on and one angle given.</a:t>
            </a:r>
            <a:endParaRPr sz="1800"/>
          </a:p>
        </p:txBody>
      </p:sp>
      <p:sp>
        <p:nvSpPr>
          <p:cNvPr id="1564" name="Google Shape;1564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sp>
        <p:nvSpPr>
          <p:cNvPr id="1565" name="Google Shape;1565;p91"/>
          <p:cNvSpPr txBox="1"/>
          <p:nvPr/>
        </p:nvSpPr>
        <p:spPr>
          <a:xfrm>
            <a:off x="3199976" y="3051884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91"/>
          <p:cNvSpPr txBox="1"/>
          <p:nvPr/>
        </p:nvSpPr>
        <p:spPr>
          <a:xfrm>
            <a:off x="7313253" y="39144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67" name="Google Shape;1567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3359" y="3170288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568" name="Google Shape;1568;p91"/>
          <p:cNvSpPr txBox="1"/>
          <p:nvPr>
            <p:ph idx="1" type="body"/>
          </p:nvPr>
        </p:nvSpPr>
        <p:spPr>
          <a:xfrm>
            <a:off x="5386200" y="2593725"/>
            <a:ext cx="2408700" cy="7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Angles in a triangle sum to 180°</a:t>
            </a:r>
            <a:endParaRPr sz="1800"/>
          </a:p>
        </p:txBody>
      </p:sp>
      <p:sp>
        <p:nvSpPr>
          <p:cNvPr id="1569" name="Google Shape;1569;p91"/>
          <p:cNvSpPr/>
          <p:nvPr/>
        </p:nvSpPr>
        <p:spPr>
          <a:xfrm rot="-1223017">
            <a:off x="2707505" y="2528076"/>
            <a:ext cx="385009" cy="385009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91"/>
          <p:cNvSpPr txBox="1"/>
          <p:nvPr/>
        </p:nvSpPr>
        <p:spPr>
          <a:xfrm>
            <a:off x="2703263" y="3228809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91"/>
          <p:cNvSpPr/>
          <p:nvPr/>
        </p:nvSpPr>
        <p:spPr>
          <a:xfrm rot="-934855">
            <a:off x="2308655" y="1594656"/>
            <a:ext cx="518244" cy="518244"/>
          </a:xfrm>
          <a:prstGeom prst="pie">
            <a:avLst>
              <a:gd fmla="val 884807" name="adj1"/>
              <a:gd fmla="val 513583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91"/>
          <p:cNvSpPr txBox="1"/>
          <p:nvPr/>
        </p:nvSpPr>
        <p:spPr>
          <a:xfrm>
            <a:off x="2293463" y="2094859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91"/>
          <p:cNvSpPr txBox="1"/>
          <p:nvPr/>
        </p:nvSpPr>
        <p:spPr>
          <a:xfrm>
            <a:off x="2790176" y="1924134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91"/>
          <p:cNvSpPr/>
          <p:nvPr/>
        </p:nvSpPr>
        <p:spPr>
          <a:xfrm flipH="1" rot="-1528057">
            <a:off x="2303776" y="1596699"/>
            <a:ext cx="518371" cy="518371"/>
          </a:xfrm>
          <a:prstGeom prst="pie">
            <a:avLst>
              <a:gd fmla="val 961029" name="adj1"/>
              <a:gd fmla="val 513583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91"/>
          <p:cNvSpPr/>
          <p:nvPr/>
        </p:nvSpPr>
        <p:spPr>
          <a:xfrm rot="-5158041">
            <a:off x="297075" y="3226491"/>
            <a:ext cx="716674" cy="716674"/>
          </a:xfrm>
          <a:prstGeom prst="pie">
            <a:avLst>
              <a:gd fmla="val 3875378" name="adj1"/>
              <a:gd fmla="val 513583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91"/>
          <p:cNvSpPr/>
          <p:nvPr/>
        </p:nvSpPr>
        <p:spPr>
          <a:xfrm rot="-6431880">
            <a:off x="293743" y="3227903"/>
            <a:ext cx="716328" cy="716328"/>
          </a:xfrm>
          <a:prstGeom prst="pie">
            <a:avLst>
              <a:gd fmla="val 3875378" name="adj1"/>
              <a:gd fmla="val 513583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91"/>
          <p:cNvSpPr txBox="1"/>
          <p:nvPr/>
        </p:nvSpPr>
        <p:spPr>
          <a:xfrm>
            <a:off x="1156013" y="306171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91"/>
          <p:cNvSpPr txBox="1"/>
          <p:nvPr/>
        </p:nvSpPr>
        <p:spPr>
          <a:xfrm>
            <a:off x="1276663" y="3310159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22°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91"/>
          <p:cNvSpPr/>
          <p:nvPr/>
        </p:nvSpPr>
        <p:spPr>
          <a:xfrm rot="5641959">
            <a:off x="4788580" y="1487518"/>
            <a:ext cx="716674" cy="716674"/>
          </a:xfrm>
          <a:prstGeom prst="pie">
            <a:avLst>
              <a:gd fmla="val 3875378" name="adj1"/>
              <a:gd fmla="val 513583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91"/>
          <p:cNvSpPr/>
          <p:nvPr/>
        </p:nvSpPr>
        <p:spPr>
          <a:xfrm rot="4368120">
            <a:off x="4792258" y="1486452"/>
            <a:ext cx="716328" cy="716328"/>
          </a:xfrm>
          <a:prstGeom prst="pie">
            <a:avLst>
              <a:gd fmla="val 3875378" name="adj1"/>
              <a:gd fmla="val 513583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1" name="Google Shape;1581;p91"/>
          <p:cNvSpPr txBox="1"/>
          <p:nvPr/>
        </p:nvSpPr>
        <p:spPr>
          <a:xfrm>
            <a:off x="4307995" y="182981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22°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91"/>
          <p:cNvSpPr txBox="1"/>
          <p:nvPr/>
        </p:nvSpPr>
        <p:spPr>
          <a:xfrm>
            <a:off x="4372288" y="2089371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22°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7" name="Google Shape;1587;p92"/>
          <p:cNvGrpSpPr/>
          <p:nvPr/>
        </p:nvGrpSpPr>
        <p:grpSpPr>
          <a:xfrm>
            <a:off x="4307995" y="1396566"/>
            <a:ext cx="1290477" cy="970006"/>
            <a:chOff x="4307995" y="1396566"/>
            <a:chExt cx="1290477" cy="970006"/>
          </a:xfrm>
        </p:grpSpPr>
        <p:sp>
          <p:nvSpPr>
            <p:cNvPr id="1588" name="Google Shape;1588;p92"/>
            <p:cNvSpPr/>
            <p:nvPr/>
          </p:nvSpPr>
          <p:spPr>
            <a:xfrm rot="5641959">
              <a:off x="4788580" y="1487518"/>
              <a:ext cx="716674" cy="716674"/>
            </a:xfrm>
            <a:prstGeom prst="pie">
              <a:avLst>
                <a:gd fmla="val 3875378" name="adj1"/>
                <a:gd fmla="val 513583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9" name="Google Shape;1589;p92"/>
            <p:cNvSpPr/>
            <p:nvPr/>
          </p:nvSpPr>
          <p:spPr>
            <a:xfrm rot="4368120">
              <a:off x="4792258" y="1486452"/>
              <a:ext cx="716328" cy="716328"/>
            </a:xfrm>
            <a:prstGeom prst="pie">
              <a:avLst>
                <a:gd fmla="val 3875378" name="adj1"/>
                <a:gd fmla="val 513583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0" name="Google Shape;1590;p92"/>
            <p:cNvSpPr txBox="1"/>
            <p:nvPr/>
          </p:nvSpPr>
          <p:spPr>
            <a:xfrm>
              <a:off x="4307995" y="1829815"/>
              <a:ext cx="409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22°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1" name="Google Shape;1591;p92"/>
            <p:cNvSpPr txBox="1"/>
            <p:nvPr/>
          </p:nvSpPr>
          <p:spPr>
            <a:xfrm>
              <a:off x="4372288" y="2089371"/>
              <a:ext cx="409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22°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92" name="Google Shape;159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775" y="1584263"/>
            <a:ext cx="4687724" cy="223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3" name="Google Shape;1593;p92"/>
          <p:cNvGrpSpPr/>
          <p:nvPr/>
        </p:nvGrpSpPr>
        <p:grpSpPr>
          <a:xfrm>
            <a:off x="2217512" y="1510435"/>
            <a:ext cx="1124949" cy="709215"/>
            <a:chOff x="2217512" y="824635"/>
            <a:chExt cx="1124949" cy="709215"/>
          </a:xfrm>
        </p:grpSpPr>
        <p:sp>
          <p:nvSpPr>
            <p:cNvPr id="1594" name="Google Shape;1594;p92"/>
            <p:cNvSpPr txBox="1"/>
            <p:nvPr/>
          </p:nvSpPr>
          <p:spPr>
            <a:xfrm>
              <a:off x="2778461" y="1256650"/>
              <a:ext cx="564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136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5" name="Google Shape;1595;p92"/>
            <p:cNvSpPr/>
            <p:nvPr/>
          </p:nvSpPr>
          <p:spPr>
            <a:xfrm flipH="1" rot="-1528057">
              <a:off x="2303776" y="910899"/>
              <a:ext cx="518371" cy="518371"/>
            </a:xfrm>
            <a:prstGeom prst="pie">
              <a:avLst>
                <a:gd fmla="val 961029" name="adj1"/>
                <a:gd fmla="val 9329865" name="adj2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96" name="Google Shape;1596;p92"/>
          <p:cNvSpPr/>
          <p:nvPr/>
        </p:nvSpPr>
        <p:spPr>
          <a:xfrm rot="9865145">
            <a:off x="2969362" y="3323907"/>
            <a:ext cx="518244" cy="518244"/>
          </a:xfrm>
          <a:prstGeom prst="pie">
            <a:avLst>
              <a:gd fmla="val 884807" name="adj1"/>
              <a:gd fmla="val 513583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97" name="Google Shape;1597;p9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5319900" y="2228500"/>
            <a:ext cx="2662052" cy="1204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98" name="Google Shape;1598;p92"/>
          <p:cNvSpPr txBox="1"/>
          <p:nvPr>
            <p:ph idx="1" type="body"/>
          </p:nvPr>
        </p:nvSpPr>
        <p:spPr>
          <a:xfrm>
            <a:off x="324000" y="759300"/>
            <a:ext cx="8544000" cy="4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is a rhombus with the diagonals drawn on and one angle given.</a:t>
            </a:r>
            <a:endParaRPr sz="1800"/>
          </a:p>
        </p:txBody>
      </p:sp>
      <p:sp>
        <p:nvSpPr>
          <p:cNvPr id="1599" name="Google Shape;159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sp>
        <p:nvSpPr>
          <p:cNvPr id="1600" name="Google Shape;1600;p92"/>
          <p:cNvSpPr txBox="1"/>
          <p:nvPr/>
        </p:nvSpPr>
        <p:spPr>
          <a:xfrm>
            <a:off x="3199976" y="3051884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92"/>
          <p:cNvSpPr txBox="1"/>
          <p:nvPr/>
        </p:nvSpPr>
        <p:spPr>
          <a:xfrm>
            <a:off x="7313253" y="39144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2" name="Google Shape;1602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3359" y="3170288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92"/>
          <p:cNvSpPr txBox="1"/>
          <p:nvPr>
            <p:ph idx="1" type="body"/>
          </p:nvPr>
        </p:nvSpPr>
        <p:spPr>
          <a:xfrm>
            <a:off x="5386200" y="2292675"/>
            <a:ext cx="2408700" cy="10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interior angles of this rhombus are 44°, 136°, 44° and 136°</a:t>
            </a:r>
            <a:endParaRPr sz="1800"/>
          </a:p>
        </p:txBody>
      </p:sp>
      <p:sp>
        <p:nvSpPr>
          <p:cNvPr id="1604" name="Google Shape;1604;p92"/>
          <p:cNvSpPr/>
          <p:nvPr/>
        </p:nvSpPr>
        <p:spPr>
          <a:xfrm rot="-1223017">
            <a:off x="2707505" y="2528076"/>
            <a:ext cx="385009" cy="385009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92"/>
          <p:cNvSpPr txBox="1"/>
          <p:nvPr/>
        </p:nvSpPr>
        <p:spPr>
          <a:xfrm>
            <a:off x="2703263" y="3228809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p92"/>
          <p:cNvSpPr/>
          <p:nvPr/>
        </p:nvSpPr>
        <p:spPr>
          <a:xfrm rot="-5158041">
            <a:off x="297075" y="3226491"/>
            <a:ext cx="716674" cy="716674"/>
          </a:xfrm>
          <a:prstGeom prst="pie">
            <a:avLst>
              <a:gd fmla="val 3875378" name="adj1"/>
              <a:gd fmla="val 513583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92"/>
          <p:cNvSpPr/>
          <p:nvPr/>
        </p:nvSpPr>
        <p:spPr>
          <a:xfrm rot="-6431880">
            <a:off x="293743" y="3227903"/>
            <a:ext cx="716328" cy="716328"/>
          </a:xfrm>
          <a:prstGeom prst="pie">
            <a:avLst>
              <a:gd fmla="val 3875378" name="adj1"/>
              <a:gd fmla="val 513583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92"/>
          <p:cNvSpPr txBox="1"/>
          <p:nvPr/>
        </p:nvSpPr>
        <p:spPr>
          <a:xfrm>
            <a:off x="1156013" y="306171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22°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92"/>
          <p:cNvSpPr txBox="1"/>
          <p:nvPr/>
        </p:nvSpPr>
        <p:spPr>
          <a:xfrm>
            <a:off x="1276663" y="3310159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22°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10" name="Google Shape;1610;p92"/>
          <p:cNvGrpSpPr/>
          <p:nvPr/>
        </p:nvGrpSpPr>
        <p:grpSpPr>
          <a:xfrm>
            <a:off x="4268862" y="1463205"/>
            <a:ext cx="1260705" cy="765300"/>
            <a:chOff x="4268862" y="929805"/>
            <a:chExt cx="1260705" cy="765300"/>
          </a:xfrm>
        </p:grpSpPr>
        <p:sp>
          <p:nvSpPr>
            <p:cNvPr id="1611" name="Google Shape;1611;p92"/>
            <p:cNvSpPr/>
            <p:nvPr/>
          </p:nvSpPr>
          <p:spPr>
            <a:xfrm rot="5641959">
              <a:off x="4788580" y="954118"/>
              <a:ext cx="716674" cy="716674"/>
            </a:xfrm>
            <a:prstGeom prst="pie">
              <a:avLst>
                <a:gd fmla="val 2590319" name="adj1"/>
                <a:gd fmla="val 5135830" name="adj2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2" name="Google Shape;1612;p92"/>
            <p:cNvSpPr txBox="1"/>
            <p:nvPr/>
          </p:nvSpPr>
          <p:spPr>
            <a:xfrm>
              <a:off x="4268862" y="1295815"/>
              <a:ext cx="409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44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13" name="Google Shape;1613;p92"/>
          <p:cNvGrpSpPr/>
          <p:nvPr/>
        </p:nvGrpSpPr>
        <p:grpSpPr>
          <a:xfrm>
            <a:off x="2217512" y="1510435"/>
            <a:ext cx="982464" cy="861624"/>
            <a:chOff x="2217512" y="1510435"/>
            <a:chExt cx="982464" cy="861624"/>
          </a:xfrm>
        </p:grpSpPr>
        <p:sp>
          <p:nvSpPr>
            <p:cNvPr id="1614" name="Google Shape;1614;p92"/>
            <p:cNvSpPr/>
            <p:nvPr/>
          </p:nvSpPr>
          <p:spPr>
            <a:xfrm rot="-934855">
              <a:off x="2308655" y="1594656"/>
              <a:ext cx="518244" cy="518244"/>
            </a:xfrm>
            <a:prstGeom prst="pie">
              <a:avLst>
                <a:gd fmla="val 884807" name="adj1"/>
                <a:gd fmla="val 513583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5" name="Google Shape;1615;p92"/>
            <p:cNvSpPr txBox="1"/>
            <p:nvPr/>
          </p:nvSpPr>
          <p:spPr>
            <a:xfrm>
              <a:off x="2293463" y="2094859"/>
              <a:ext cx="409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68°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6" name="Google Shape;1616;p92"/>
            <p:cNvSpPr txBox="1"/>
            <p:nvPr/>
          </p:nvSpPr>
          <p:spPr>
            <a:xfrm>
              <a:off x="2790176" y="1924134"/>
              <a:ext cx="409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68°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7" name="Google Shape;1617;p92"/>
            <p:cNvSpPr/>
            <p:nvPr/>
          </p:nvSpPr>
          <p:spPr>
            <a:xfrm flipH="1" rot="-1528057">
              <a:off x="2303776" y="1596699"/>
              <a:ext cx="518371" cy="518371"/>
            </a:xfrm>
            <a:prstGeom prst="pie">
              <a:avLst>
                <a:gd fmla="val 961029" name="adj1"/>
                <a:gd fmla="val 513583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93"/>
          <p:cNvSpPr/>
          <p:nvPr/>
        </p:nvSpPr>
        <p:spPr>
          <a:xfrm rot="8606690">
            <a:off x="5578853" y="2520273"/>
            <a:ext cx="797352" cy="797352"/>
          </a:xfrm>
          <a:prstGeom prst="pie">
            <a:avLst>
              <a:gd fmla="val 179405" name="adj1"/>
              <a:gd fmla="val 5618576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93"/>
          <p:cNvSpPr txBox="1"/>
          <p:nvPr>
            <p:ph idx="1" type="body"/>
          </p:nvPr>
        </p:nvSpPr>
        <p:spPr>
          <a:xfrm>
            <a:off x="324000" y="759300"/>
            <a:ext cx="8237700" cy="48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Here is a rhombus with the diagonals marked on and one angle given.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Work out the value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/>
              <a:t>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/>
              <a:t> 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624" name="Google Shape;1624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sp>
        <p:nvSpPr>
          <p:cNvPr id="1625" name="Google Shape;1625;p93"/>
          <p:cNvSpPr txBox="1"/>
          <p:nvPr/>
        </p:nvSpPr>
        <p:spPr>
          <a:xfrm>
            <a:off x="6573351" y="3557084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6" name="Google Shape;1626;p93"/>
          <p:cNvSpPr txBox="1"/>
          <p:nvPr/>
        </p:nvSpPr>
        <p:spPr>
          <a:xfrm>
            <a:off x="5624376" y="2710397"/>
            <a:ext cx="32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93"/>
          <p:cNvSpPr/>
          <p:nvPr/>
        </p:nvSpPr>
        <p:spPr>
          <a:xfrm rot="-2094650">
            <a:off x="3381336" y="3502535"/>
            <a:ext cx="1335661" cy="1335661"/>
          </a:xfrm>
          <a:prstGeom prst="pie">
            <a:avLst>
              <a:gd fmla="val 77985" name="adj1"/>
              <a:gd fmla="val 2049873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93"/>
          <p:cNvSpPr txBox="1"/>
          <p:nvPr/>
        </p:nvSpPr>
        <p:spPr>
          <a:xfrm>
            <a:off x="4389451" y="3872204"/>
            <a:ext cx="40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9" name="Google Shape;1629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0800" y="1457675"/>
            <a:ext cx="4100725" cy="2862324"/>
          </a:xfrm>
          <a:prstGeom prst="rect">
            <a:avLst/>
          </a:prstGeom>
          <a:noFill/>
          <a:ln>
            <a:noFill/>
          </a:ln>
        </p:spPr>
      </p:pic>
      <p:sp>
        <p:nvSpPr>
          <p:cNvPr id="1630" name="Google Shape;1630;p93"/>
          <p:cNvSpPr/>
          <p:nvPr/>
        </p:nvSpPr>
        <p:spPr>
          <a:xfrm>
            <a:off x="4771523" y="1269572"/>
            <a:ext cx="797400" cy="797400"/>
          </a:xfrm>
          <a:prstGeom prst="pie">
            <a:avLst>
              <a:gd fmla="val 0" name="adj1"/>
              <a:gd fmla="val 6861324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93"/>
          <p:cNvSpPr txBox="1"/>
          <p:nvPr/>
        </p:nvSpPr>
        <p:spPr>
          <a:xfrm>
            <a:off x="5158166" y="1683071"/>
            <a:ext cx="40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93"/>
          <p:cNvSpPr txBox="1"/>
          <p:nvPr/>
        </p:nvSpPr>
        <p:spPr>
          <a:xfrm>
            <a:off x="569400" y="2187200"/>
            <a:ext cx="1115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90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3" name="Google Shape;1633;p93"/>
          <p:cNvSpPr txBox="1"/>
          <p:nvPr/>
        </p:nvSpPr>
        <p:spPr>
          <a:xfrm>
            <a:off x="569400" y="2627238"/>
            <a:ext cx="1115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114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4" name="Google Shape;1634;p93"/>
          <p:cNvSpPr txBox="1"/>
          <p:nvPr/>
        </p:nvSpPr>
        <p:spPr>
          <a:xfrm>
            <a:off x="569400" y="3008238"/>
            <a:ext cx="1115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33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94"/>
          <p:cNvSpPr txBox="1"/>
          <p:nvPr>
            <p:ph idx="1" type="body"/>
          </p:nvPr>
        </p:nvSpPr>
        <p:spPr>
          <a:xfrm>
            <a:off x="1543200" y="759300"/>
            <a:ext cx="7276800" cy="7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Izzy thinks she has drawn two sides and a diagonal of a rhombus.</a:t>
            </a:r>
            <a:endParaRPr sz="1800"/>
          </a:p>
        </p:txBody>
      </p:sp>
      <p:sp>
        <p:nvSpPr>
          <p:cNvPr id="1640" name="Google Shape;164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pic>
        <p:nvPicPr>
          <p:cNvPr id="1641" name="Google Shape;1641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3988" y="759962"/>
            <a:ext cx="1114250" cy="1078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2" name="Google Shape;1642;p94"/>
          <p:cNvCxnSpPr/>
          <p:nvPr/>
        </p:nvCxnSpPr>
        <p:spPr>
          <a:xfrm flipH="1" rot="10800000">
            <a:off x="1930050" y="1703025"/>
            <a:ext cx="282600" cy="1054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3" name="Google Shape;1643;p94"/>
          <p:cNvCxnSpPr/>
          <p:nvPr/>
        </p:nvCxnSpPr>
        <p:spPr>
          <a:xfrm rot="-3057562">
            <a:off x="2279356" y="2439895"/>
            <a:ext cx="281962" cy="105367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4" name="Google Shape;1644;p94"/>
          <p:cNvCxnSpPr/>
          <p:nvPr/>
        </p:nvCxnSpPr>
        <p:spPr>
          <a:xfrm flipH="1" rot="10800000">
            <a:off x="1942050" y="1746375"/>
            <a:ext cx="1113900" cy="100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45" name="Google Shape;1645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74646" y="127938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6" name="Google Shape;1646;p94"/>
          <p:cNvSpPr txBox="1"/>
          <p:nvPr>
            <p:ph idx="1" type="body"/>
          </p:nvPr>
        </p:nvSpPr>
        <p:spPr>
          <a:xfrm>
            <a:off x="4157025" y="1382900"/>
            <a:ext cx="3660900" cy="7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Jun thinks that Izzy hasn’t managed to do that.</a:t>
            </a:r>
            <a:endParaRPr sz="1800"/>
          </a:p>
        </p:txBody>
      </p:sp>
      <p:sp>
        <p:nvSpPr>
          <p:cNvPr id="1647" name="Google Shape;1647;p94"/>
          <p:cNvSpPr txBox="1"/>
          <p:nvPr>
            <p:ph idx="1" type="body"/>
          </p:nvPr>
        </p:nvSpPr>
        <p:spPr>
          <a:xfrm>
            <a:off x="4194750" y="2267750"/>
            <a:ext cx="3660900" cy="7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Who is correct?</a:t>
            </a:r>
            <a:endParaRPr sz="1800"/>
          </a:p>
        </p:txBody>
      </p:sp>
      <p:sp>
        <p:nvSpPr>
          <p:cNvPr id="1648" name="Google Shape;1648;p94"/>
          <p:cNvSpPr txBox="1"/>
          <p:nvPr/>
        </p:nvSpPr>
        <p:spPr>
          <a:xfrm>
            <a:off x="4127500" y="2730500"/>
            <a:ext cx="4064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Jun, the diagonal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should </a:t>
            </a: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bisect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angle but even without using a protractor it is clear the two angles are not equal.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95"/>
          <p:cNvSpPr txBox="1"/>
          <p:nvPr>
            <p:ph idx="1" type="body"/>
          </p:nvPr>
        </p:nvSpPr>
        <p:spPr>
          <a:xfrm>
            <a:off x="1543200" y="759300"/>
            <a:ext cx="7276800" cy="7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Izzy tries again but this time draws two edges and both diagonals of the rhombus. </a:t>
            </a:r>
            <a:endParaRPr sz="1800"/>
          </a:p>
        </p:txBody>
      </p:sp>
      <p:sp>
        <p:nvSpPr>
          <p:cNvPr id="1654" name="Google Shape;1654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pic>
        <p:nvPicPr>
          <p:cNvPr id="1655" name="Google Shape;165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3988" y="759962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6" name="Google Shape;1656;p95"/>
          <p:cNvSpPr txBox="1"/>
          <p:nvPr>
            <p:ph idx="1" type="body"/>
          </p:nvPr>
        </p:nvSpPr>
        <p:spPr>
          <a:xfrm>
            <a:off x="4671600" y="1343050"/>
            <a:ext cx="3660900" cy="7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can she check that this is accurate?</a:t>
            </a:r>
            <a:endParaRPr sz="1800"/>
          </a:p>
        </p:txBody>
      </p:sp>
      <p:sp>
        <p:nvSpPr>
          <p:cNvPr id="1657" name="Google Shape;1657;p95"/>
          <p:cNvSpPr txBox="1"/>
          <p:nvPr/>
        </p:nvSpPr>
        <p:spPr>
          <a:xfrm>
            <a:off x="4671600" y="2005175"/>
            <a:ext cx="4064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Use a protractor to check: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diagonals are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perpendicular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to each other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 angle has been </a:t>
            </a: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bisected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Use a ruler to check: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diagonals have </a:t>
            </a: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bisected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each other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rhombus’ edges are equal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8" name="Google Shape;1658;p95"/>
          <p:cNvSpPr/>
          <p:nvPr/>
        </p:nvSpPr>
        <p:spPr>
          <a:xfrm rot="-5400000">
            <a:off x="584200" y="2137825"/>
            <a:ext cx="1693200" cy="19614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9" name="Google Shape;1659;p95"/>
          <p:cNvCxnSpPr/>
          <p:nvPr/>
        </p:nvCxnSpPr>
        <p:spPr>
          <a:xfrm>
            <a:off x="450100" y="3114925"/>
            <a:ext cx="3922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96"/>
          <p:cNvSpPr txBox="1"/>
          <p:nvPr>
            <p:ph idx="1" type="body"/>
          </p:nvPr>
        </p:nvSpPr>
        <p:spPr>
          <a:xfrm>
            <a:off x="324000" y="759300"/>
            <a:ext cx="8496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of these show two edges and a diagonal of a rhombus?</a:t>
            </a:r>
            <a:endParaRPr sz="1800"/>
          </a:p>
        </p:txBody>
      </p:sp>
      <p:sp>
        <p:nvSpPr>
          <p:cNvPr id="1665" name="Google Shape;1665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grpSp>
        <p:nvGrpSpPr>
          <p:cNvPr id="1666" name="Google Shape;1666;p96"/>
          <p:cNvGrpSpPr/>
          <p:nvPr/>
        </p:nvGrpSpPr>
        <p:grpSpPr>
          <a:xfrm>
            <a:off x="487216" y="1171200"/>
            <a:ext cx="457200" cy="457200"/>
            <a:chOff x="1020916" y="1442088"/>
            <a:chExt cx="457200" cy="457200"/>
          </a:xfrm>
        </p:grpSpPr>
        <p:pic>
          <p:nvPicPr>
            <p:cNvPr id="1667" name="Google Shape;1667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8" name="Google Shape;166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69" name="Google Shape;1669;p96"/>
          <p:cNvGrpSpPr/>
          <p:nvPr/>
        </p:nvGrpSpPr>
        <p:grpSpPr>
          <a:xfrm>
            <a:off x="4629016" y="1171200"/>
            <a:ext cx="457200" cy="457200"/>
            <a:chOff x="1020916" y="1442088"/>
            <a:chExt cx="457200" cy="457200"/>
          </a:xfrm>
        </p:grpSpPr>
        <p:pic>
          <p:nvPicPr>
            <p:cNvPr id="1670" name="Google Shape;1670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1" name="Google Shape;1671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2" name="Google Shape;1672;p96"/>
          <p:cNvGrpSpPr/>
          <p:nvPr/>
        </p:nvGrpSpPr>
        <p:grpSpPr>
          <a:xfrm>
            <a:off x="487216" y="2954700"/>
            <a:ext cx="457200" cy="457200"/>
            <a:chOff x="1020916" y="1442088"/>
            <a:chExt cx="457200" cy="457200"/>
          </a:xfrm>
        </p:grpSpPr>
        <p:pic>
          <p:nvPicPr>
            <p:cNvPr id="1673" name="Google Shape;1673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4" name="Google Shape;1674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5" name="Google Shape;1675;p96"/>
          <p:cNvGrpSpPr/>
          <p:nvPr/>
        </p:nvGrpSpPr>
        <p:grpSpPr>
          <a:xfrm>
            <a:off x="4629016" y="2954700"/>
            <a:ext cx="457200" cy="457200"/>
            <a:chOff x="1020916" y="1442088"/>
            <a:chExt cx="457200" cy="457200"/>
          </a:xfrm>
        </p:grpSpPr>
        <p:pic>
          <p:nvPicPr>
            <p:cNvPr id="1676" name="Google Shape;1676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7" name="Google Shape;1677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678" name="Google Shape;1678;p96"/>
          <p:cNvCxnSpPr/>
          <p:nvPr/>
        </p:nvCxnSpPr>
        <p:spPr>
          <a:xfrm>
            <a:off x="5715950" y="1628400"/>
            <a:ext cx="671700" cy="67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9" name="Google Shape;1679;p96"/>
          <p:cNvCxnSpPr/>
          <p:nvPr/>
        </p:nvCxnSpPr>
        <p:spPr>
          <a:xfrm flipH="1">
            <a:off x="1055613" y="1650777"/>
            <a:ext cx="1058400" cy="100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0" name="Google Shape;1680;p96"/>
          <p:cNvCxnSpPr/>
          <p:nvPr/>
        </p:nvCxnSpPr>
        <p:spPr>
          <a:xfrm flipH="1" rot="10800000">
            <a:off x="1060450" y="1353550"/>
            <a:ext cx="2497800" cy="129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1" name="Google Shape;1681;p96"/>
          <p:cNvCxnSpPr/>
          <p:nvPr/>
        </p:nvCxnSpPr>
        <p:spPr>
          <a:xfrm flipH="1" rot="10800000">
            <a:off x="1060450" y="2361353"/>
            <a:ext cx="1411200" cy="282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2" name="Google Shape;1682;p96"/>
          <p:cNvCxnSpPr/>
          <p:nvPr/>
        </p:nvCxnSpPr>
        <p:spPr>
          <a:xfrm>
            <a:off x="5656876" y="3631403"/>
            <a:ext cx="888900" cy="613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3" name="Google Shape;1683;p96"/>
          <p:cNvCxnSpPr/>
          <p:nvPr/>
        </p:nvCxnSpPr>
        <p:spPr>
          <a:xfrm>
            <a:off x="6081900" y="3015550"/>
            <a:ext cx="465600" cy="123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4" name="Google Shape;1684;p96"/>
          <p:cNvCxnSpPr/>
          <p:nvPr/>
        </p:nvCxnSpPr>
        <p:spPr>
          <a:xfrm flipH="1" rot="10800000">
            <a:off x="6538826" y="3654252"/>
            <a:ext cx="1037100" cy="585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5" name="Google Shape;1685;p96"/>
          <p:cNvCxnSpPr/>
          <p:nvPr/>
        </p:nvCxnSpPr>
        <p:spPr>
          <a:xfrm flipH="1" rot="10800000">
            <a:off x="1247050" y="3207578"/>
            <a:ext cx="973800" cy="38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6" name="Google Shape;1686;p96"/>
          <p:cNvCxnSpPr/>
          <p:nvPr/>
        </p:nvCxnSpPr>
        <p:spPr>
          <a:xfrm flipH="1">
            <a:off x="1211825" y="3201475"/>
            <a:ext cx="1008900" cy="1502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7" name="Google Shape;1687;p96"/>
          <p:cNvCxnSpPr/>
          <p:nvPr/>
        </p:nvCxnSpPr>
        <p:spPr>
          <a:xfrm>
            <a:off x="2209916" y="3198498"/>
            <a:ext cx="395100" cy="888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8" name="Google Shape;1688;p96"/>
          <p:cNvCxnSpPr/>
          <p:nvPr/>
        </p:nvCxnSpPr>
        <p:spPr>
          <a:xfrm rot="7200688">
            <a:off x="6497420" y="1838248"/>
            <a:ext cx="671767" cy="67176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9" name="Google Shape;1689;p96"/>
          <p:cNvCxnSpPr/>
          <p:nvPr/>
        </p:nvCxnSpPr>
        <p:spPr>
          <a:xfrm rot="3599312">
            <a:off x="6168021" y="1501587"/>
            <a:ext cx="671767" cy="67176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90" name="Google Shape;1690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1608" y="18772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1" name="Google Shape;1691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3188" y="365424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2" name="Google Shape;1692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3208" y="18772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3" name="Google Shape;1693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1588" y="3560042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8" name="Google Shape;1698;p97"/>
          <p:cNvGrpSpPr/>
          <p:nvPr/>
        </p:nvGrpSpPr>
        <p:grpSpPr>
          <a:xfrm rot="296133">
            <a:off x="2366574" y="2375085"/>
            <a:ext cx="1796797" cy="1221478"/>
            <a:chOff x="1041987" y="1097058"/>
            <a:chExt cx="4670324" cy="3174924"/>
          </a:xfrm>
        </p:grpSpPr>
        <p:pic>
          <p:nvPicPr>
            <p:cNvPr id="1699" name="Google Shape;1699;p97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2555268">
              <a:off x="1790908" y="1441800"/>
              <a:ext cx="1158240" cy="2664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0" name="Google Shape;1700;p97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2253392">
              <a:off x="4070937" y="1557149"/>
              <a:ext cx="906108" cy="272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1" name="Google Shape;1701;p97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390410" y="1097058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02" name="Google Shape;1702;p97"/>
          <p:cNvGrpSpPr/>
          <p:nvPr/>
        </p:nvGrpSpPr>
        <p:grpSpPr>
          <a:xfrm rot="-227121">
            <a:off x="2311217" y="2506673"/>
            <a:ext cx="1796857" cy="1221518"/>
            <a:chOff x="1041987" y="1097058"/>
            <a:chExt cx="4670324" cy="3174924"/>
          </a:xfrm>
        </p:grpSpPr>
        <p:pic>
          <p:nvPicPr>
            <p:cNvPr id="1703" name="Google Shape;1703;p97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2555268">
              <a:off x="1790908" y="1441800"/>
              <a:ext cx="1158240" cy="2664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4" name="Google Shape;1704;p97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2253392">
              <a:off x="4070937" y="1557149"/>
              <a:ext cx="906108" cy="272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5" name="Google Shape;1705;p97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390410" y="1097058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6" name="Google Shape;1706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sp>
        <p:nvSpPr>
          <p:cNvPr id="1707" name="Google Shape;1707;p97"/>
          <p:cNvSpPr txBox="1"/>
          <p:nvPr>
            <p:ph idx="1" type="body"/>
          </p:nvPr>
        </p:nvSpPr>
        <p:spPr>
          <a:xfrm>
            <a:off x="324000" y="733800"/>
            <a:ext cx="84960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we have two perpendicular lines, can a rhombus be constructed?</a:t>
            </a:r>
            <a:endParaRPr sz="1800"/>
          </a:p>
        </p:txBody>
      </p:sp>
      <p:cxnSp>
        <p:nvCxnSpPr>
          <p:cNvPr id="1708" name="Google Shape;1708;p97"/>
          <p:cNvCxnSpPr/>
          <p:nvPr/>
        </p:nvCxnSpPr>
        <p:spPr>
          <a:xfrm>
            <a:off x="4080925" y="3059300"/>
            <a:ext cx="0" cy="77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9" name="Google Shape;1709;p97"/>
          <p:cNvCxnSpPr/>
          <p:nvPr/>
        </p:nvCxnSpPr>
        <p:spPr>
          <a:xfrm>
            <a:off x="4080925" y="3059300"/>
            <a:ext cx="0" cy="77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0" name="Google Shape;1710;p97"/>
          <p:cNvSpPr/>
          <p:nvPr/>
        </p:nvSpPr>
        <p:spPr>
          <a:xfrm>
            <a:off x="4080925" y="3313250"/>
            <a:ext cx="134100" cy="134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97"/>
          <p:cNvSpPr txBox="1"/>
          <p:nvPr/>
        </p:nvSpPr>
        <p:spPr>
          <a:xfrm>
            <a:off x="324000" y="1112100"/>
            <a:ext cx="730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would be the point at which the diagonals intersect.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2" name="Google Shape;1712;p97"/>
          <p:cNvSpPr txBox="1"/>
          <p:nvPr/>
        </p:nvSpPr>
        <p:spPr>
          <a:xfrm>
            <a:off x="324000" y="1490275"/>
            <a:ext cx="730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lines can be extended in all directions, but need t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 be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equal either side, as the diagonals </a:t>
            </a:r>
            <a:r>
              <a:rPr b="1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bisect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each other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713" name="Google Shape;1713;p97"/>
          <p:cNvGrpSpPr/>
          <p:nvPr/>
        </p:nvGrpSpPr>
        <p:grpSpPr>
          <a:xfrm flipH="1" rot="-296133">
            <a:off x="3998470" y="2375085"/>
            <a:ext cx="1796797" cy="1221478"/>
            <a:chOff x="1041987" y="1097058"/>
            <a:chExt cx="4670324" cy="3174924"/>
          </a:xfrm>
        </p:grpSpPr>
        <p:pic>
          <p:nvPicPr>
            <p:cNvPr id="1714" name="Google Shape;1714;p97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2555268">
              <a:off x="1790908" y="1441800"/>
              <a:ext cx="1158240" cy="2664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5" name="Google Shape;1715;p97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2253392">
              <a:off x="4070937" y="1557149"/>
              <a:ext cx="906108" cy="272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6" name="Google Shape;1716;p97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390410" y="1097058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17" name="Google Shape;1717;p97"/>
          <p:cNvGrpSpPr/>
          <p:nvPr/>
        </p:nvGrpSpPr>
        <p:grpSpPr>
          <a:xfrm flipH="1" rot="227121">
            <a:off x="4053767" y="2506673"/>
            <a:ext cx="1796857" cy="1221518"/>
            <a:chOff x="1041987" y="1097058"/>
            <a:chExt cx="4670324" cy="3174924"/>
          </a:xfrm>
        </p:grpSpPr>
        <p:pic>
          <p:nvPicPr>
            <p:cNvPr id="1718" name="Google Shape;1718;p97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2555268">
              <a:off x="1790908" y="1441800"/>
              <a:ext cx="1158240" cy="2664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9" name="Google Shape;1719;p97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2253392">
              <a:off x="4070937" y="1557149"/>
              <a:ext cx="906108" cy="272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0" name="Google Shape;1720;p97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390410" y="1097058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1" name="Google Shape;1721;p97"/>
          <p:cNvSpPr/>
          <p:nvPr/>
        </p:nvSpPr>
        <p:spPr>
          <a:xfrm>
            <a:off x="2509525" y="1875950"/>
            <a:ext cx="3142800" cy="3142800"/>
          </a:xfrm>
          <a:prstGeom prst="arc">
            <a:avLst>
              <a:gd fmla="val 21295032" name="adj1"/>
              <a:gd fmla="val 225659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97"/>
          <p:cNvSpPr/>
          <p:nvPr/>
        </p:nvSpPr>
        <p:spPr>
          <a:xfrm flipH="1">
            <a:off x="2509525" y="1875950"/>
            <a:ext cx="3142800" cy="3142800"/>
          </a:xfrm>
          <a:prstGeom prst="arc">
            <a:avLst>
              <a:gd fmla="val 21295032" name="adj1"/>
              <a:gd fmla="val 225659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3" name="Google Shape;1723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30">
            <a:off x="2163698" y="3459266"/>
            <a:ext cx="3779032" cy="361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4" name="Google Shape;1724;p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04533" y="2791456"/>
            <a:ext cx="282875" cy="66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5" name="Google Shape;1725;p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40063" y="2809901"/>
            <a:ext cx="282875" cy="6613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6" name="Google Shape;1726;p97"/>
          <p:cNvCxnSpPr/>
          <p:nvPr/>
        </p:nvCxnSpPr>
        <p:spPr>
          <a:xfrm>
            <a:off x="2509250" y="3446853"/>
            <a:ext cx="3143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1" name="Google Shape;1731;p98"/>
          <p:cNvGrpSpPr/>
          <p:nvPr/>
        </p:nvGrpSpPr>
        <p:grpSpPr>
          <a:xfrm rot="-5957454">
            <a:off x="3035042" y="3367309"/>
            <a:ext cx="1095191" cy="1346610"/>
            <a:chOff x="2444172" y="926824"/>
            <a:chExt cx="2847270" cy="3500906"/>
          </a:xfrm>
        </p:grpSpPr>
        <p:pic>
          <p:nvPicPr>
            <p:cNvPr id="1732" name="Google Shape;1732;p98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936428">
              <a:off x="2781290" y="1639877"/>
              <a:ext cx="1158241" cy="2664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3" name="Google Shape;1733;p98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474530">
              <a:off x="4202472" y="1657734"/>
              <a:ext cx="906108" cy="2720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4" name="Google Shape;1734;p98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957386" y="926824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5" name="Google Shape;1735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sp>
        <p:nvSpPr>
          <p:cNvPr id="1736" name="Google Shape;1736;p98"/>
          <p:cNvSpPr txBox="1"/>
          <p:nvPr>
            <p:ph idx="1" type="body"/>
          </p:nvPr>
        </p:nvSpPr>
        <p:spPr>
          <a:xfrm>
            <a:off x="324000" y="733800"/>
            <a:ext cx="84960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we have two perpendicular lines, can a rhombus be constructed?</a:t>
            </a:r>
            <a:endParaRPr sz="1800"/>
          </a:p>
        </p:txBody>
      </p:sp>
      <p:cxnSp>
        <p:nvCxnSpPr>
          <p:cNvPr id="1737" name="Google Shape;1737;p98"/>
          <p:cNvCxnSpPr/>
          <p:nvPr/>
        </p:nvCxnSpPr>
        <p:spPr>
          <a:xfrm>
            <a:off x="4080925" y="3059300"/>
            <a:ext cx="0" cy="77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8" name="Google Shape;1738;p98"/>
          <p:cNvCxnSpPr/>
          <p:nvPr/>
        </p:nvCxnSpPr>
        <p:spPr>
          <a:xfrm>
            <a:off x="4080925" y="3059300"/>
            <a:ext cx="0" cy="77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9" name="Google Shape;1739;p98"/>
          <p:cNvSpPr/>
          <p:nvPr/>
        </p:nvSpPr>
        <p:spPr>
          <a:xfrm>
            <a:off x="4080925" y="3313250"/>
            <a:ext cx="134100" cy="134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98"/>
          <p:cNvSpPr txBox="1"/>
          <p:nvPr/>
        </p:nvSpPr>
        <p:spPr>
          <a:xfrm>
            <a:off x="324000" y="1112100"/>
            <a:ext cx="730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would be the point at which the diagonals intersect.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1" name="Google Shape;1741;p98"/>
          <p:cNvSpPr txBox="1"/>
          <p:nvPr/>
        </p:nvSpPr>
        <p:spPr>
          <a:xfrm>
            <a:off x="324000" y="1490275"/>
            <a:ext cx="730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lines can be extended in all directions, but need to be equal either side, as the diagonals </a:t>
            </a:r>
            <a:r>
              <a:rPr b="1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bisect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each other.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2" name="Google Shape;1742;p98"/>
          <p:cNvSpPr/>
          <p:nvPr/>
        </p:nvSpPr>
        <p:spPr>
          <a:xfrm>
            <a:off x="2509525" y="1875950"/>
            <a:ext cx="3142800" cy="3142800"/>
          </a:xfrm>
          <a:prstGeom prst="arc">
            <a:avLst>
              <a:gd fmla="val 21295032" name="adj1"/>
              <a:gd fmla="val 225659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98"/>
          <p:cNvSpPr/>
          <p:nvPr/>
        </p:nvSpPr>
        <p:spPr>
          <a:xfrm flipH="1">
            <a:off x="2509525" y="1875950"/>
            <a:ext cx="3142800" cy="3142800"/>
          </a:xfrm>
          <a:prstGeom prst="arc">
            <a:avLst>
              <a:gd fmla="val 21295032" name="adj1"/>
              <a:gd fmla="val 225659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4" name="Google Shape;1744;p98"/>
          <p:cNvCxnSpPr/>
          <p:nvPr/>
        </p:nvCxnSpPr>
        <p:spPr>
          <a:xfrm>
            <a:off x="2509250" y="3446853"/>
            <a:ext cx="3143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5" name="Google Shape;1745;p98"/>
          <p:cNvSpPr/>
          <p:nvPr/>
        </p:nvSpPr>
        <p:spPr>
          <a:xfrm>
            <a:off x="3234925" y="2600850"/>
            <a:ext cx="1692000" cy="1692000"/>
          </a:xfrm>
          <a:prstGeom prst="arc">
            <a:avLst>
              <a:gd fmla="val 15656899" name="adj1"/>
              <a:gd fmla="val 16757521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6" name="Google Shape;1746;p98"/>
          <p:cNvGrpSpPr/>
          <p:nvPr/>
        </p:nvGrpSpPr>
        <p:grpSpPr>
          <a:xfrm flipH="1" rot="-5952900">
            <a:off x="2873610" y="2358423"/>
            <a:ext cx="1095243" cy="1346674"/>
            <a:chOff x="2444172" y="926824"/>
            <a:chExt cx="2847270" cy="3500906"/>
          </a:xfrm>
        </p:grpSpPr>
        <p:pic>
          <p:nvPicPr>
            <p:cNvPr id="1747" name="Google Shape;1747;p98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936428">
              <a:off x="2781290" y="1639877"/>
              <a:ext cx="1158241" cy="2664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8" name="Google Shape;1748;p98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474530">
              <a:off x="4202472" y="1657734"/>
              <a:ext cx="906108" cy="2720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9" name="Google Shape;1749;p98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957386" y="926824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0" name="Google Shape;1750;p98"/>
          <p:cNvSpPr/>
          <p:nvPr/>
        </p:nvSpPr>
        <p:spPr>
          <a:xfrm flipH="1" rot="10800000">
            <a:off x="3234925" y="2591902"/>
            <a:ext cx="1692000" cy="1692000"/>
          </a:xfrm>
          <a:prstGeom prst="arc">
            <a:avLst>
              <a:gd fmla="val 15656899" name="adj1"/>
              <a:gd fmla="val 16757521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1" name="Google Shape;1751;p98"/>
          <p:cNvGrpSpPr/>
          <p:nvPr/>
        </p:nvGrpSpPr>
        <p:grpSpPr>
          <a:xfrm rot="-4847100">
            <a:off x="2873610" y="3179655"/>
            <a:ext cx="1095243" cy="1346674"/>
            <a:chOff x="2444172" y="926824"/>
            <a:chExt cx="2847270" cy="3500906"/>
          </a:xfrm>
        </p:grpSpPr>
        <p:pic>
          <p:nvPicPr>
            <p:cNvPr id="1752" name="Google Shape;1752;p98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936428">
              <a:off x="2781290" y="1639877"/>
              <a:ext cx="1158241" cy="2664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3" name="Google Shape;1753;p98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474530">
              <a:off x="4202472" y="1657734"/>
              <a:ext cx="906108" cy="2720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4" name="Google Shape;1754;p98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957386" y="926824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55" name="Google Shape;1755;p98"/>
          <p:cNvGrpSpPr/>
          <p:nvPr/>
        </p:nvGrpSpPr>
        <p:grpSpPr>
          <a:xfrm flipH="1" rot="-4842546">
            <a:off x="3035042" y="2177108"/>
            <a:ext cx="1095191" cy="1346610"/>
            <a:chOff x="2444172" y="926824"/>
            <a:chExt cx="2847270" cy="3500906"/>
          </a:xfrm>
        </p:grpSpPr>
        <p:pic>
          <p:nvPicPr>
            <p:cNvPr id="1756" name="Google Shape;1756;p98"/>
            <p:cNvPicPr preferRelativeResize="0"/>
            <p:nvPr/>
          </p:nvPicPr>
          <p:blipFill rotWithShape="1">
            <a:blip r:embed="rId3">
              <a:alphaModFix/>
            </a:blip>
            <a:srcRect b="7544" l="11418" r="67020" t="29160"/>
            <a:stretch/>
          </p:blipFill>
          <p:spPr>
            <a:xfrm rot="936428">
              <a:off x="2781290" y="1639877"/>
              <a:ext cx="1158241" cy="2664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7" name="Google Shape;1757;p98"/>
            <p:cNvPicPr preferRelativeResize="0"/>
            <p:nvPr/>
          </p:nvPicPr>
          <p:blipFill rotWithShape="1">
            <a:blip r:embed="rId3">
              <a:alphaModFix/>
            </a:blip>
            <a:srcRect b="9195" l="63130" r="21307" t="30824"/>
            <a:stretch/>
          </p:blipFill>
          <p:spPr>
            <a:xfrm rot="-474530">
              <a:off x="4202472" y="1657734"/>
              <a:ext cx="906108" cy="2720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8" name="Google Shape;1758;p98"/>
            <p:cNvPicPr preferRelativeResize="0"/>
            <p:nvPr/>
          </p:nvPicPr>
          <p:blipFill rotWithShape="1">
            <a:blip r:embed="rId3">
              <a:alphaModFix/>
            </a:blip>
            <a:srcRect b="60188" l="45056" r="46189" t="8784"/>
            <a:stretch/>
          </p:blipFill>
          <p:spPr>
            <a:xfrm>
              <a:off x="3957386" y="926824"/>
              <a:ext cx="470263" cy="130628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59" name="Google Shape;1759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399970">
            <a:off x="2387873" y="3406341"/>
            <a:ext cx="3779032" cy="361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0" name="Google Shape;1760;p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4408" y="3636287"/>
            <a:ext cx="282875" cy="6613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1" name="Google Shape;1761;p98"/>
          <p:cNvCxnSpPr/>
          <p:nvPr/>
        </p:nvCxnSpPr>
        <p:spPr>
          <a:xfrm rot="10800000">
            <a:off x="4079875" y="2599500"/>
            <a:ext cx="0" cy="169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2" name="Google Shape;1762;p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0388" y="1961376"/>
            <a:ext cx="282875" cy="66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sp>
        <p:nvSpPr>
          <p:cNvPr id="1768" name="Google Shape;1768;p99"/>
          <p:cNvSpPr txBox="1"/>
          <p:nvPr>
            <p:ph idx="1" type="body"/>
          </p:nvPr>
        </p:nvSpPr>
        <p:spPr>
          <a:xfrm>
            <a:off x="324000" y="733800"/>
            <a:ext cx="8496000" cy="3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we have two perpendicular lines, can a rhombus be constructed?</a:t>
            </a:r>
            <a:endParaRPr sz="1800"/>
          </a:p>
        </p:txBody>
      </p:sp>
      <p:cxnSp>
        <p:nvCxnSpPr>
          <p:cNvPr id="1769" name="Google Shape;1769;p99"/>
          <p:cNvCxnSpPr/>
          <p:nvPr/>
        </p:nvCxnSpPr>
        <p:spPr>
          <a:xfrm>
            <a:off x="4080925" y="3059300"/>
            <a:ext cx="0" cy="77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0" name="Google Shape;1770;p99"/>
          <p:cNvCxnSpPr/>
          <p:nvPr/>
        </p:nvCxnSpPr>
        <p:spPr>
          <a:xfrm>
            <a:off x="4080925" y="3059300"/>
            <a:ext cx="0" cy="77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1" name="Google Shape;1771;p99"/>
          <p:cNvSpPr/>
          <p:nvPr/>
        </p:nvSpPr>
        <p:spPr>
          <a:xfrm>
            <a:off x="4080925" y="3313250"/>
            <a:ext cx="134100" cy="134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99"/>
          <p:cNvSpPr txBox="1"/>
          <p:nvPr/>
        </p:nvSpPr>
        <p:spPr>
          <a:xfrm>
            <a:off x="324000" y="1112100"/>
            <a:ext cx="730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would be the point at which the diagonals intersect.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3" name="Google Shape;1773;p99"/>
          <p:cNvSpPr txBox="1"/>
          <p:nvPr/>
        </p:nvSpPr>
        <p:spPr>
          <a:xfrm>
            <a:off x="324000" y="1490275"/>
            <a:ext cx="730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lines can be extended in all directions, but need to be equal either side, as the diagonals </a:t>
            </a:r>
            <a:r>
              <a:rPr b="1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bisect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each other.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4" name="Google Shape;1774;p99"/>
          <p:cNvSpPr/>
          <p:nvPr/>
        </p:nvSpPr>
        <p:spPr>
          <a:xfrm>
            <a:off x="2509525" y="1875950"/>
            <a:ext cx="3142800" cy="3142800"/>
          </a:xfrm>
          <a:prstGeom prst="arc">
            <a:avLst>
              <a:gd fmla="val 21295032" name="adj1"/>
              <a:gd fmla="val 225659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5" name="Google Shape;1775;p99"/>
          <p:cNvSpPr/>
          <p:nvPr/>
        </p:nvSpPr>
        <p:spPr>
          <a:xfrm flipH="1">
            <a:off x="2509525" y="1875950"/>
            <a:ext cx="3142800" cy="3142800"/>
          </a:xfrm>
          <a:prstGeom prst="arc">
            <a:avLst>
              <a:gd fmla="val 21295032" name="adj1"/>
              <a:gd fmla="val 225659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6" name="Google Shape;1776;p99"/>
          <p:cNvCxnSpPr/>
          <p:nvPr/>
        </p:nvCxnSpPr>
        <p:spPr>
          <a:xfrm>
            <a:off x="2509250" y="3446853"/>
            <a:ext cx="3143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7" name="Google Shape;1777;p99"/>
          <p:cNvSpPr/>
          <p:nvPr/>
        </p:nvSpPr>
        <p:spPr>
          <a:xfrm>
            <a:off x="3234925" y="2600850"/>
            <a:ext cx="1692000" cy="1692000"/>
          </a:xfrm>
          <a:prstGeom prst="arc">
            <a:avLst>
              <a:gd fmla="val 15656899" name="adj1"/>
              <a:gd fmla="val 16757521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8" name="Google Shape;1778;p99"/>
          <p:cNvSpPr/>
          <p:nvPr/>
        </p:nvSpPr>
        <p:spPr>
          <a:xfrm flipH="1" rot="10800000">
            <a:off x="3234925" y="2591902"/>
            <a:ext cx="1692000" cy="1692000"/>
          </a:xfrm>
          <a:prstGeom prst="arc">
            <a:avLst>
              <a:gd fmla="val 15656899" name="adj1"/>
              <a:gd fmla="val 16757521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9" name="Google Shape;1779;p99"/>
          <p:cNvCxnSpPr/>
          <p:nvPr/>
        </p:nvCxnSpPr>
        <p:spPr>
          <a:xfrm rot="10800000">
            <a:off x="4079875" y="2599500"/>
            <a:ext cx="0" cy="169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0" name="Google Shape;1780;p99"/>
          <p:cNvCxnSpPr/>
          <p:nvPr/>
        </p:nvCxnSpPr>
        <p:spPr>
          <a:xfrm flipH="1" rot="10800000">
            <a:off x="2512231" y="2611556"/>
            <a:ext cx="1572300" cy="837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1" name="Google Shape;1781;p99"/>
          <p:cNvCxnSpPr/>
          <p:nvPr/>
        </p:nvCxnSpPr>
        <p:spPr>
          <a:xfrm flipH="1" rot="10800000">
            <a:off x="4081981" y="3446856"/>
            <a:ext cx="1572300" cy="837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2" name="Google Shape;1782;p99"/>
          <p:cNvCxnSpPr/>
          <p:nvPr/>
        </p:nvCxnSpPr>
        <p:spPr>
          <a:xfrm>
            <a:off x="2509255" y="3443888"/>
            <a:ext cx="1572300" cy="837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3" name="Google Shape;1783;p99"/>
          <p:cNvCxnSpPr/>
          <p:nvPr/>
        </p:nvCxnSpPr>
        <p:spPr>
          <a:xfrm>
            <a:off x="4078831" y="2611556"/>
            <a:ext cx="1572300" cy="837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4" name="Google Shape;1784;p99"/>
          <p:cNvCxnSpPr/>
          <p:nvPr/>
        </p:nvCxnSpPr>
        <p:spPr>
          <a:xfrm>
            <a:off x="3368700" y="3376442"/>
            <a:ext cx="0" cy="13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5" name="Google Shape;1785;p99"/>
          <p:cNvCxnSpPr/>
          <p:nvPr/>
        </p:nvCxnSpPr>
        <p:spPr>
          <a:xfrm>
            <a:off x="4824000" y="3379992"/>
            <a:ext cx="0" cy="13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6" name="Google Shape;1786;p99"/>
          <p:cNvCxnSpPr/>
          <p:nvPr/>
        </p:nvCxnSpPr>
        <p:spPr>
          <a:xfrm>
            <a:off x="4079875" y="2940042"/>
            <a:ext cx="0" cy="13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7" name="Google Shape;1787;p99"/>
          <p:cNvCxnSpPr/>
          <p:nvPr/>
        </p:nvCxnSpPr>
        <p:spPr>
          <a:xfrm>
            <a:off x="4079875" y="2987667"/>
            <a:ext cx="0" cy="13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8" name="Google Shape;1788;p99"/>
          <p:cNvCxnSpPr/>
          <p:nvPr/>
        </p:nvCxnSpPr>
        <p:spPr>
          <a:xfrm>
            <a:off x="4079875" y="3702042"/>
            <a:ext cx="0" cy="13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9" name="Google Shape;1789;p99"/>
          <p:cNvCxnSpPr/>
          <p:nvPr/>
        </p:nvCxnSpPr>
        <p:spPr>
          <a:xfrm>
            <a:off x="4079875" y="3749667"/>
            <a:ext cx="0" cy="13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0" name="Google Shape;1790;p99"/>
          <p:cNvCxnSpPr/>
          <p:nvPr/>
        </p:nvCxnSpPr>
        <p:spPr>
          <a:xfrm rot="10800000">
            <a:off x="3333767" y="2940800"/>
            <a:ext cx="74400" cy="119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1" name="Google Shape;1791;p99"/>
          <p:cNvCxnSpPr/>
          <p:nvPr/>
        </p:nvCxnSpPr>
        <p:spPr>
          <a:xfrm rot="10800000">
            <a:off x="3372463" y="2916988"/>
            <a:ext cx="74400" cy="119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2" name="Google Shape;1792;p99"/>
          <p:cNvCxnSpPr/>
          <p:nvPr/>
        </p:nvCxnSpPr>
        <p:spPr>
          <a:xfrm rot="10800000">
            <a:off x="3296263" y="2963422"/>
            <a:ext cx="74400" cy="119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3" name="Google Shape;1793;p99"/>
          <p:cNvCxnSpPr/>
          <p:nvPr/>
        </p:nvCxnSpPr>
        <p:spPr>
          <a:xfrm rot="10800000">
            <a:off x="4801811" y="3819989"/>
            <a:ext cx="74400" cy="119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4" name="Google Shape;1794;p99"/>
          <p:cNvCxnSpPr/>
          <p:nvPr/>
        </p:nvCxnSpPr>
        <p:spPr>
          <a:xfrm rot="10800000">
            <a:off x="4840506" y="3796177"/>
            <a:ext cx="74400" cy="119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5" name="Google Shape;1795;p99"/>
          <p:cNvCxnSpPr/>
          <p:nvPr/>
        </p:nvCxnSpPr>
        <p:spPr>
          <a:xfrm rot="10800000">
            <a:off x="4764306" y="3842611"/>
            <a:ext cx="74400" cy="119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6" name="Google Shape;1796;p99"/>
          <p:cNvCxnSpPr/>
          <p:nvPr/>
        </p:nvCxnSpPr>
        <p:spPr>
          <a:xfrm flipH="1" rot="10800000">
            <a:off x="4751577" y="2930736"/>
            <a:ext cx="74400" cy="119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7" name="Google Shape;1797;p99"/>
          <p:cNvCxnSpPr/>
          <p:nvPr/>
        </p:nvCxnSpPr>
        <p:spPr>
          <a:xfrm flipH="1" rot="10800000">
            <a:off x="4712881" y="2906923"/>
            <a:ext cx="74400" cy="119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8" name="Google Shape;1798;p99"/>
          <p:cNvCxnSpPr/>
          <p:nvPr/>
        </p:nvCxnSpPr>
        <p:spPr>
          <a:xfrm flipH="1" rot="10800000">
            <a:off x="4789081" y="2953358"/>
            <a:ext cx="74400" cy="119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9" name="Google Shape;1799;p99"/>
          <p:cNvCxnSpPr/>
          <p:nvPr/>
        </p:nvCxnSpPr>
        <p:spPr>
          <a:xfrm flipH="1" rot="10800000">
            <a:off x="3332102" y="3851511"/>
            <a:ext cx="74400" cy="119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0" name="Google Shape;1800;p99"/>
          <p:cNvCxnSpPr/>
          <p:nvPr/>
        </p:nvCxnSpPr>
        <p:spPr>
          <a:xfrm flipH="1" rot="10800000">
            <a:off x="3293406" y="3827698"/>
            <a:ext cx="74400" cy="119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1" name="Google Shape;1801;p99"/>
          <p:cNvCxnSpPr/>
          <p:nvPr/>
        </p:nvCxnSpPr>
        <p:spPr>
          <a:xfrm flipH="1" rot="10800000">
            <a:off x="3369606" y="3874133"/>
            <a:ext cx="74400" cy="119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6" name="Google Shape;1806;p10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174602" y="707450"/>
            <a:ext cx="2965473" cy="159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7" name="Google Shape;1807;p100"/>
          <p:cNvSpPr txBox="1"/>
          <p:nvPr>
            <p:ph idx="1" type="body"/>
          </p:nvPr>
        </p:nvSpPr>
        <p:spPr>
          <a:xfrm>
            <a:off x="1375500" y="753425"/>
            <a:ext cx="2840100" cy="9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diagonals of this shape are perpendicular to each other. This must be a rhombus.</a:t>
            </a:r>
            <a:endParaRPr sz="1800"/>
          </a:p>
        </p:txBody>
      </p:sp>
      <p:sp>
        <p:nvSpPr>
          <p:cNvPr id="1808" name="Google Shape;1808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cxnSp>
        <p:nvCxnSpPr>
          <p:cNvPr id="1809" name="Google Shape;1809;p100"/>
          <p:cNvCxnSpPr/>
          <p:nvPr/>
        </p:nvCxnSpPr>
        <p:spPr>
          <a:xfrm>
            <a:off x="6346850" y="1162888"/>
            <a:ext cx="0" cy="1799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0" name="Google Shape;1810;p100"/>
          <p:cNvCxnSpPr/>
          <p:nvPr/>
        </p:nvCxnSpPr>
        <p:spPr>
          <a:xfrm>
            <a:off x="6346850" y="896063"/>
            <a:ext cx="0" cy="1799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1" name="Google Shape;1811;p100"/>
          <p:cNvSpPr/>
          <p:nvPr/>
        </p:nvSpPr>
        <p:spPr>
          <a:xfrm>
            <a:off x="6346850" y="1655645"/>
            <a:ext cx="141000" cy="141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2" name="Google Shape;1812;p100"/>
          <p:cNvCxnSpPr/>
          <p:nvPr/>
        </p:nvCxnSpPr>
        <p:spPr>
          <a:xfrm flipH="1">
            <a:off x="5459047" y="1175133"/>
            <a:ext cx="888900" cy="613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3" name="Google Shape;1813;p100"/>
          <p:cNvCxnSpPr/>
          <p:nvPr/>
        </p:nvCxnSpPr>
        <p:spPr>
          <a:xfrm>
            <a:off x="6346847" y="1175133"/>
            <a:ext cx="888900" cy="613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4" name="Google Shape;1814;p100"/>
          <p:cNvCxnSpPr/>
          <p:nvPr/>
        </p:nvCxnSpPr>
        <p:spPr>
          <a:xfrm flipH="1">
            <a:off x="6350150" y="1797438"/>
            <a:ext cx="885600" cy="115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5" name="Google Shape;1815;p100"/>
          <p:cNvCxnSpPr/>
          <p:nvPr/>
        </p:nvCxnSpPr>
        <p:spPr>
          <a:xfrm>
            <a:off x="5457950" y="1802288"/>
            <a:ext cx="885600" cy="115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16" name="Google Shape;1816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475" y="14739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817" name="Google Shape;1817;p100"/>
          <p:cNvSpPr txBox="1"/>
          <p:nvPr/>
        </p:nvSpPr>
        <p:spPr>
          <a:xfrm>
            <a:off x="639625" y="2714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8" name="Google Shape;1818;p100"/>
          <p:cNvSpPr txBox="1"/>
          <p:nvPr/>
        </p:nvSpPr>
        <p:spPr>
          <a:xfrm>
            <a:off x="2150200" y="2640600"/>
            <a:ext cx="407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 you agree with Aisha?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100"/>
          <p:cNvSpPr txBox="1"/>
          <p:nvPr/>
        </p:nvSpPr>
        <p:spPr>
          <a:xfrm>
            <a:off x="2065325" y="3102700"/>
            <a:ext cx="407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 - in a rhombus the diagonals are perpendicular but they also need to </a:t>
            </a: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bisect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each other.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pic>
        <p:nvPicPr>
          <p:cNvPr id="1825" name="Google Shape;1825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375" y="2209050"/>
            <a:ext cx="2672799" cy="24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6" name="Google Shape;1826;p101"/>
          <p:cNvSpPr txBox="1"/>
          <p:nvPr/>
        </p:nvSpPr>
        <p:spPr>
          <a:xfrm>
            <a:off x="324550" y="705550"/>
            <a:ext cx="831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diagonals of this rhombus have lengths of 10.5 units and 5.8 units.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area of the rhombus?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7" name="Google Shape;1827;p101"/>
          <p:cNvSpPr txBox="1"/>
          <p:nvPr/>
        </p:nvSpPr>
        <p:spPr>
          <a:xfrm>
            <a:off x="324000" y="1467550"/>
            <a:ext cx="84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rhombus is made from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two congruent isosceles triangles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or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four congruent right-angled triangles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, so we can calculate the area using these.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28" name="Google Shape;1828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7950" y="2232000"/>
            <a:ext cx="2564890" cy="241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9" name="Google Shape;1829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8375" y="2218300"/>
            <a:ext cx="2556401" cy="245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4" name="Google Shape;1834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350" y="1470000"/>
            <a:ext cx="2564890" cy="241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5" name="Google Shape;1835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sp>
        <p:nvSpPr>
          <p:cNvPr id="1836" name="Google Shape;1836;p102"/>
          <p:cNvSpPr txBox="1"/>
          <p:nvPr/>
        </p:nvSpPr>
        <p:spPr>
          <a:xfrm>
            <a:off x="324550" y="705550"/>
            <a:ext cx="831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diagonals of this rhombus have lengths of 10.5 units and 5.8 units.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area of the rhombus?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102"/>
          <p:cNvSpPr txBox="1"/>
          <p:nvPr/>
        </p:nvSpPr>
        <p:spPr>
          <a:xfrm>
            <a:off x="3369600" y="1584225"/>
            <a:ext cx="5504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isosceles triangle has a base length of 10.5 units and a perpendicular height of 2.9 units.</a:t>
            </a:r>
            <a:br>
              <a:rPr lang="en-GB" sz="7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Its area is   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10.5 × 2.9 = 15.225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unit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838" name="Google Shape;1838;p102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2265" y="2402419"/>
            <a:ext cx="168991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9" name="Google Shape;1839;p102"/>
          <p:cNvSpPr txBox="1"/>
          <p:nvPr/>
        </p:nvSpPr>
        <p:spPr>
          <a:xfrm>
            <a:off x="3369600" y="3070650"/>
            <a:ext cx="527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So, the area of the rhombus is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30.45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unit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4" name="Google Shape;1844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175" y="1456300"/>
            <a:ext cx="2556401" cy="24563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5" name="Google Shape;1845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sp>
        <p:nvSpPr>
          <p:cNvPr id="1846" name="Google Shape;1846;p103"/>
          <p:cNvSpPr txBox="1"/>
          <p:nvPr/>
        </p:nvSpPr>
        <p:spPr>
          <a:xfrm>
            <a:off x="324550" y="705550"/>
            <a:ext cx="831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diagonals of this rhombus have lengths of 10.5 units and 5.8 units.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area of the rhombus?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7" name="Google Shape;1847;p103"/>
          <p:cNvSpPr txBox="1"/>
          <p:nvPr/>
        </p:nvSpPr>
        <p:spPr>
          <a:xfrm>
            <a:off x="3293400" y="1415050"/>
            <a:ext cx="5526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right-angled triangle has a base length of 5.25 units and a perpendicular height of 2.9 units.</a:t>
            </a:r>
            <a:br>
              <a:rPr lang="en-GB" sz="7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Its area is   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5.25 × 2.9 = 7.6125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unit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848" name="Google Shape;1848;p103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3138" y="2219262"/>
            <a:ext cx="168991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Google Shape;1849;p103"/>
          <p:cNvSpPr txBox="1"/>
          <p:nvPr/>
        </p:nvSpPr>
        <p:spPr>
          <a:xfrm>
            <a:off x="3293400" y="2970675"/>
            <a:ext cx="509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So, the area of the rhombus is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30.45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unit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104"/>
          <p:cNvSpPr txBox="1"/>
          <p:nvPr>
            <p:ph idx="1" type="body"/>
          </p:nvPr>
        </p:nvSpPr>
        <p:spPr>
          <a:xfrm>
            <a:off x="324000" y="759300"/>
            <a:ext cx="8237700" cy="9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diagonals of this rhombus have a length of 7.5 cm and 9.4 cm. </a:t>
            </a:r>
            <a:br>
              <a:rPr lang="en-GB" sz="2000"/>
            </a:br>
            <a:r>
              <a:rPr lang="en-GB" sz="2000"/>
              <a:t>What is the area of the rhombus?</a:t>
            </a:r>
            <a:endParaRPr sz="2000"/>
          </a:p>
        </p:txBody>
      </p:sp>
      <p:sp>
        <p:nvSpPr>
          <p:cNvPr id="1855" name="Google Shape;1855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pic>
        <p:nvPicPr>
          <p:cNvPr id="1856" name="Google Shape;1856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775" y="1532325"/>
            <a:ext cx="2430653" cy="312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7" name="Google Shape;1857;p104"/>
          <p:cNvSpPr txBox="1"/>
          <p:nvPr/>
        </p:nvSpPr>
        <p:spPr>
          <a:xfrm>
            <a:off x="3671850" y="1807675"/>
            <a:ext cx="49254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 =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  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7.5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4.7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or  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×    × 3.75 × 9.4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8" name="Google Shape;1858;p104"/>
          <p:cNvSpPr txBox="1"/>
          <p:nvPr/>
        </p:nvSpPr>
        <p:spPr>
          <a:xfrm>
            <a:off x="5721525" y="3060350"/>
            <a:ext cx="4070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   × 3.75 × 4.7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9" name="Google Shape;1859;p104"/>
          <p:cNvSpPr txBox="1"/>
          <p:nvPr/>
        </p:nvSpPr>
        <p:spPr>
          <a:xfrm>
            <a:off x="3671850" y="3878975"/>
            <a:ext cx="488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35.25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860" name="Google Shape;1860;p104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9712" y="2374399"/>
            <a:ext cx="164220" cy="5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861" name="Google Shape;1861;p104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2756" y="3044445"/>
            <a:ext cx="164220" cy="5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862" name="Google Shape;1862;p104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0512" y="2374399"/>
            <a:ext cx="164220" cy="5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10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Work out the missing angles in these rhombi</a:t>
            </a:r>
            <a:endParaRPr sz="1800"/>
          </a:p>
        </p:txBody>
      </p:sp>
      <p:sp>
        <p:nvSpPr>
          <p:cNvPr id="1868" name="Google Shape;1868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sp>
        <p:nvSpPr>
          <p:cNvPr id="1869" name="Google Shape;1869;p105"/>
          <p:cNvSpPr/>
          <p:nvPr/>
        </p:nvSpPr>
        <p:spPr>
          <a:xfrm rot="8607782">
            <a:off x="1823665" y="1931923"/>
            <a:ext cx="567910" cy="567910"/>
          </a:xfrm>
          <a:prstGeom prst="pie">
            <a:avLst>
              <a:gd fmla="val 179405" name="adj1"/>
              <a:gd fmla="val 5618576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0" name="Google Shape;1870;p105"/>
          <p:cNvSpPr txBox="1"/>
          <p:nvPr/>
        </p:nvSpPr>
        <p:spPr>
          <a:xfrm>
            <a:off x="2484821" y="2604585"/>
            <a:ext cx="40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55°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1" name="Google Shape;1871;p105"/>
          <p:cNvSpPr txBox="1"/>
          <p:nvPr/>
        </p:nvSpPr>
        <p:spPr>
          <a:xfrm>
            <a:off x="1523797" y="2040625"/>
            <a:ext cx="40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2" name="Google Shape;1872;p105"/>
          <p:cNvSpPr/>
          <p:nvPr/>
        </p:nvSpPr>
        <p:spPr>
          <a:xfrm rot="-2094460">
            <a:off x="257976" y="2631785"/>
            <a:ext cx="951498" cy="951498"/>
          </a:xfrm>
          <a:prstGeom prst="pie">
            <a:avLst>
              <a:gd fmla="val 77985" name="adj1"/>
              <a:gd fmla="val 2049873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3" name="Google Shape;1873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922" y="1174980"/>
            <a:ext cx="2921353" cy="203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874" name="Google Shape;1874;p105"/>
          <p:cNvSpPr/>
          <p:nvPr/>
        </p:nvSpPr>
        <p:spPr>
          <a:xfrm>
            <a:off x="1248356" y="1040975"/>
            <a:ext cx="568200" cy="568200"/>
          </a:xfrm>
          <a:prstGeom prst="pie">
            <a:avLst>
              <a:gd fmla="val 0" name="adj1"/>
              <a:gd fmla="val 6861324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5" name="Google Shape;1875;p105"/>
          <p:cNvSpPr txBox="1"/>
          <p:nvPr/>
        </p:nvSpPr>
        <p:spPr>
          <a:xfrm>
            <a:off x="1523801" y="1335552"/>
            <a:ext cx="29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6" name="Google Shape;1876;p105"/>
          <p:cNvSpPr txBox="1"/>
          <p:nvPr/>
        </p:nvSpPr>
        <p:spPr>
          <a:xfrm>
            <a:off x="1248347" y="2779875"/>
            <a:ext cx="40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7" name="Google Shape;1877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8687" y="1022538"/>
            <a:ext cx="4736224" cy="2494224"/>
          </a:xfrm>
          <a:prstGeom prst="rect">
            <a:avLst/>
          </a:prstGeom>
          <a:noFill/>
          <a:ln>
            <a:noFill/>
          </a:ln>
        </p:spPr>
      </p:pic>
      <p:sp>
        <p:nvSpPr>
          <p:cNvPr id="1878" name="Google Shape;1878;p105"/>
          <p:cNvSpPr/>
          <p:nvPr/>
        </p:nvSpPr>
        <p:spPr>
          <a:xfrm>
            <a:off x="8278568" y="809284"/>
            <a:ext cx="568200" cy="568200"/>
          </a:xfrm>
          <a:prstGeom prst="pie">
            <a:avLst>
              <a:gd fmla="val 8202162" name="adj1"/>
              <a:gd fmla="val 10210007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9" name="Google Shape;1879;p105"/>
          <p:cNvSpPr/>
          <p:nvPr/>
        </p:nvSpPr>
        <p:spPr>
          <a:xfrm rot="1867788">
            <a:off x="6309631" y="2631876"/>
            <a:ext cx="568109" cy="568109"/>
          </a:xfrm>
          <a:prstGeom prst="pie">
            <a:avLst>
              <a:gd fmla="val 8202162" name="adj1"/>
              <a:gd fmla="val 12742143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0" name="Google Shape;1880;p105"/>
          <p:cNvSpPr/>
          <p:nvPr/>
        </p:nvSpPr>
        <p:spPr>
          <a:xfrm rot="1867702">
            <a:off x="3514234" y="2972495"/>
            <a:ext cx="895432" cy="895432"/>
          </a:xfrm>
          <a:prstGeom prst="pie">
            <a:avLst>
              <a:gd fmla="val 17138694" name="adj1"/>
              <a:gd fmla="val 18125022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1" name="Google Shape;1881;p105"/>
          <p:cNvSpPr txBox="1"/>
          <p:nvPr/>
        </p:nvSpPr>
        <p:spPr>
          <a:xfrm>
            <a:off x="3888676" y="2881777"/>
            <a:ext cx="29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2" name="Google Shape;1882;p105"/>
          <p:cNvSpPr txBox="1"/>
          <p:nvPr/>
        </p:nvSpPr>
        <p:spPr>
          <a:xfrm>
            <a:off x="6068651" y="2613077"/>
            <a:ext cx="29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3" name="Google Shape;1883;p105"/>
          <p:cNvSpPr txBox="1"/>
          <p:nvPr/>
        </p:nvSpPr>
        <p:spPr>
          <a:xfrm>
            <a:off x="8357776" y="1350859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4" name="Google Shape;1884;p105"/>
          <p:cNvCxnSpPr/>
          <p:nvPr/>
        </p:nvCxnSpPr>
        <p:spPr>
          <a:xfrm>
            <a:off x="4095675" y="3145592"/>
            <a:ext cx="84900" cy="12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5" name="Google Shape;1885;p105"/>
          <p:cNvCxnSpPr/>
          <p:nvPr/>
        </p:nvCxnSpPr>
        <p:spPr>
          <a:xfrm>
            <a:off x="8416450" y="1174967"/>
            <a:ext cx="84900" cy="12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6" name="Google Shape;1886;p105"/>
          <p:cNvSpPr txBox="1"/>
          <p:nvPr/>
        </p:nvSpPr>
        <p:spPr>
          <a:xfrm>
            <a:off x="598400" y="1242313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105"/>
          <p:cNvSpPr txBox="1"/>
          <p:nvPr/>
        </p:nvSpPr>
        <p:spPr>
          <a:xfrm>
            <a:off x="3933225" y="124232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10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Work out the area of the rhombus in each part: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One diagonal is 8 cm and the other is 6 cm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One diagonal is 9 cm and the other is 4.5 cm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c) Half of one of the diagonals is 5 cm and the other diagonal is 1 cm</a:t>
            </a:r>
            <a:endParaRPr sz="1800"/>
          </a:p>
        </p:txBody>
      </p:sp>
      <p:sp>
        <p:nvSpPr>
          <p:cNvPr id="1893" name="Google Shape;1893;p10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107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Construct a rhombus from this set of perpendicular lines.</a:t>
            </a:r>
            <a:endParaRPr sz="1800"/>
          </a:p>
        </p:txBody>
      </p:sp>
      <p:sp>
        <p:nvSpPr>
          <p:cNvPr id="1899" name="Google Shape;1899;p10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cxnSp>
        <p:nvCxnSpPr>
          <p:cNvPr id="1900" name="Google Shape;1900;p107"/>
          <p:cNvCxnSpPr/>
          <p:nvPr/>
        </p:nvCxnSpPr>
        <p:spPr>
          <a:xfrm>
            <a:off x="4536175" y="2319950"/>
            <a:ext cx="0" cy="980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1" name="Google Shape;1901;p107"/>
          <p:cNvCxnSpPr/>
          <p:nvPr/>
        </p:nvCxnSpPr>
        <p:spPr>
          <a:xfrm>
            <a:off x="4536175" y="2209650"/>
            <a:ext cx="0" cy="980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2" name="Google Shape;1902;p107"/>
          <p:cNvSpPr/>
          <p:nvPr/>
        </p:nvSpPr>
        <p:spPr>
          <a:xfrm>
            <a:off x="4536175" y="2549443"/>
            <a:ext cx="150900" cy="1509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p108"/>
          <p:cNvSpPr/>
          <p:nvPr/>
        </p:nvSpPr>
        <p:spPr>
          <a:xfrm rot="8607782">
            <a:off x="1823665" y="1931923"/>
            <a:ext cx="567910" cy="567910"/>
          </a:xfrm>
          <a:prstGeom prst="pie">
            <a:avLst>
              <a:gd fmla="val 179405" name="adj1"/>
              <a:gd fmla="val 5618576" name="adj2"/>
            </a:avLst>
          </a:prstGeom>
          <a:solidFill>
            <a:srgbClr val="E6F2F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8" name="Google Shape;1908;p108"/>
          <p:cNvSpPr/>
          <p:nvPr/>
        </p:nvSpPr>
        <p:spPr>
          <a:xfrm rot="-2094460">
            <a:off x="257976" y="2631785"/>
            <a:ext cx="951498" cy="951498"/>
          </a:xfrm>
          <a:prstGeom prst="pie">
            <a:avLst>
              <a:gd fmla="val 77985" name="adj1"/>
              <a:gd fmla="val 2049873" name="adj2"/>
            </a:avLst>
          </a:prstGeom>
          <a:solidFill>
            <a:srgbClr val="E6F2F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9" name="Google Shape;1909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922" y="1174980"/>
            <a:ext cx="2921353" cy="203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910" name="Google Shape;1910;p108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Work out the missing angles in these rhombi</a:t>
            </a:r>
            <a:endParaRPr sz="1800"/>
          </a:p>
        </p:txBody>
      </p:sp>
      <p:sp>
        <p:nvSpPr>
          <p:cNvPr id="1911" name="Google Shape;1911;p10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sp>
        <p:nvSpPr>
          <p:cNvPr id="1912" name="Google Shape;1912;p108"/>
          <p:cNvSpPr txBox="1"/>
          <p:nvPr/>
        </p:nvSpPr>
        <p:spPr>
          <a:xfrm>
            <a:off x="2484821" y="2604585"/>
            <a:ext cx="40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55°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3" name="Google Shape;1913;p108"/>
          <p:cNvSpPr/>
          <p:nvPr/>
        </p:nvSpPr>
        <p:spPr>
          <a:xfrm>
            <a:off x="1248356" y="1040975"/>
            <a:ext cx="568200" cy="568200"/>
          </a:xfrm>
          <a:prstGeom prst="pie">
            <a:avLst>
              <a:gd fmla="val 0" name="adj1"/>
              <a:gd fmla="val 6861324" name="adj2"/>
            </a:avLst>
          </a:prstGeom>
          <a:solidFill>
            <a:srgbClr val="E6F2F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4" name="Google Shape;1914;p108"/>
          <p:cNvSpPr txBox="1"/>
          <p:nvPr/>
        </p:nvSpPr>
        <p:spPr>
          <a:xfrm>
            <a:off x="1816550" y="1377463"/>
            <a:ext cx="4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110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15" name="Google Shape;1915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8687" y="1022538"/>
            <a:ext cx="4736224" cy="2494224"/>
          </a:xfrm>
          <a:prstGeom prst="rect">
            <a:avLst/>
          </a:prstGeom>
          <a:noFill/>
          <a:ln>
            <a:noFill/>
          </a:ln>
        </p:spPr>
      </p:pic>
      <p:sp>
        <p:nvSpPr>
          <p:cNvPr id="1916" name="Google Shape;1916;p108"/>
          <p:cNvSpPr/>
          <p:nvPr/>
        </p:nvSpPr>
        <p:spPr>
          <a:xfrm>
            <a:off x="8278568" y="809284"/>
            <a:ext cx="568200" cy="568200"/>
          </a:xfrm>
          <a:prstGeom prst="pie">
            <a:avLst>
              <a:gd fmla="val 8202162" name="adj1"/>
              <a:gd fmla="val 10210007" name="adj2"/>
            </a:avLst>
          </a:prstGeom>
          <a:solidFill>
            <a:srgbClr val="E6F2F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7" name="Google Shape;1917;p108"/>
          <p:cNvSpPr/>
          <p:nvPr/>
        </p:nvSpPr>
        <p:spPr>
          <a:xfrm rot="1867788">
            <a:off x="6309631" y="2631876"/>
            <a:ext cx="568109" cy="568109"/>
          </a:xfrm>
          <a:prstGeom prst="pie">
            <a:avLst>
              <a:gd fmla="val 8202162" name="adj1"/>
              <a:gd fmla="val 12742143" name="adj2"/>
            </a:avLst>
          </a:prstGeom>
          <a:solidFill>
            <a:srgbClr val="E6F2F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8" name="Google Shape;1918;p108"/>
          <p:cNvSpPr/>
          <p:nvPr/>
        </p:nvSpPr>
        <p:spPr>
          <a:xfrm rot="1867702">
            <a:off x="3514234" y="2972495"/>
            <a:ext cx="895432" cy="895432"/>
          </a:xfrm>
          <a:prstGeom prst="pie">
            <a:avLst>
              <a:gd fmla="val 17138694" name="adj1"/>
              <a:gd fmla="val 18125022" name="adj2"/>
            </a:avLst>
          </a:prstGeom>
          <a:solidFill>
            <a:srgbClr val="E6F2F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9" name="Google Shape;1919;p108"/>
          <p:cNvSpPr txBox="1"/>
          <p:nvPr/>
        </p:nvSpPr>
        <p:spPr>
          <a:xfrm>
            <a:off x="8357776" y="1350859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0" name="Google Shape;1920;p108"/>
          <p:cNvCxnSpPr/>
          <p:nvPr/>
        </p:nvCxnSpPr>
        <p:spPr>
          <a:xfrm>
            <a:off x="4095675" y="3145592"/>
            <a:ext cx="84900" cy="12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1" name="Google Shape;1921;p108"/>
          <p:cNvCxnSpPr/>
          <p:nvPr/>
        </p:nvCxnSpPr>
        <p:spPr>
          <a:xfrm>
            <a:off x="8416450" y="1174967"/>
            <a:ext cx="84900" cy="12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2" name="Google Shape;1922;p108"/>
          <p:cNvSpPr txBox="1"/>
          <p:nvPr/>
        </p:nvSpPr>
        <p:spPr>
          <a:xfrm>
            <a:off x="1432600" y="2040613"/>
            <a:ext cx="4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3" name="Google Shape;1923;p108"/>
          <p:cNvSpPr txBox="1"/>
          <p:nvPr/>
        </p:nvSpPr>
        <p:spPr>
          <a:xfrm>
            <a:off x="1258225" y="2779863"/>
            <a:ext cx="4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35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4" name="Google Shape;1924;p108"/>
          <p:cNvSpPr txBox="1"/>
          <p:nvPr/>
        </p:nvSpPr>
        <p:spPr>
          <a:xfrm>
            <a:off x="3820350" y="2837788"/>
            <a:ext cx="4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5" name="Google Shape;1925;p108"/>
          <p:cNvSpPr txBox="1"/>
          <p:nvPr/>
        </p:nvSpPr>
        <p:spPr>
          <a:xfrm>
            <a:off x="5930150" y="2613063"/>
            <a:ext cx="4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74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6" name="Google Shape;1926;p108"/>
          <p:cNvSpPr txBox="1"/>
          <p:nvPr/>
        </p:nvSpPr>
        <p:spPr>
          <a:xfrm>
            <a:off x="598400" y="1242313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108"/>
          <p:cNvSpPr txBox="1"/>
          <p:nvPr/>
        </p:nvSpPr>
        <p:spPr>
          <a:xfrm>
            <a:off x="3933225" y="1242325"/>
            <a:ext cx="40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Work out the area of the rhombus in each part: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One diagonal is 8 cm and the other is 6 cm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One diagonal is 9 cm and the other is 4.5 cm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c) Half of one of the diagonals is 5 cm and the other diagonal is 1 cm</a:t>
            </a:r>
            <a:endParaRPr sz="1800"/>
          </a:p>
        </p:txBody>
      </p:sp>
      <p:sp>
        <p:nvSpPr>
          <p:cNvPr id="1933" name="Google Shape;1933;p10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sp>
        <p:nvSpPr>
          <p:cNvPr id="1934" name="Google Shape;1934;p109"/>
          <p:cNvSpPr txBox="1"/>
          <p:nvPr/>
        </p:nvSpPr>
        <p:spPr>
          <a:xfrm>
            <a:off x="1102375" y="1512225"/>
            <a:ext cx="403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5" name="Google Shape;1935;p109"/>
          <p:cNvSpPr txBox="1"/>
          <p:nvPr/>
        </p:nvSpPr>
        <p:spPr>
          <a:xfrm>
            <a:off x="1604100" y="1527525"/>
            <a:ext cx="673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24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E.g. (0.5 × 4 × 3) × 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6" name="Google Shape;1936;p109"/>
          <p:cNvSpPr txBox="1"/>
          <p:nvPr/>
        </p:nvSpPr>
        <p:spPr>
          <a:xfrm>
            <a:off x="1604100" y="2414825"/>
            <a:ext cx="6409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20.25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(0.5 × 4.5 × 4.5) × 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7" name="Google Shape;1937;p109"/>
          <p:cNvSpPr txBox="1"/>
          <p:nvPr/>
        </p:nvSpPr>
        <p:spPr>
          <a:xfrm>
            <a:off x="1604100" y="3253025"/>
            <a:ext cx="685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(0.5 × 5 × 1) × 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110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Construct a rhombus from this set of perpendicular lines.</a:t>
            </a:r>
            <a:endParaRPr sz="1800"/>
          </a:p>
        </p:txBody>
      </p:sp>
      <p:sp>
        <p:nvSpPr>
          <p:cNvPr id="1943" name="Google Shape;1943;p11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a rhombus</a:t>
            </a:r>
            <a:endParaRPr/>
          </a:p>
        </p:txBody>
      </p:sp>
      <p:cxnSp>
        <p:nvCxnSpPr>
          <p:cNvPr id="1944" name="Google Shape;1944;p110"/>
          <p:cNvCxnSpPr/>
          <p:nvPr/>
        </p:nvCxnSpPr>
        <p:spPr>
          <a:xfrm>
            <a:off x="4536175" y="2319950"/>
            <a:ext cx="0" cy="980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5" name="Google Shape;1945;p110"/>
          <p:cNvCxnSpPr/>
          <p:nvPr/>
        </p:nvCxnSpPr>
        <p:spPr>
          <a:xfrm>
            <a:off x="4536175" y="2209650"/>
            <a:ext cx="0" cy="980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6" name="Google Shape;1946;p110"/>
          <p:cNvSpPr/>
          <p:nvPr/>
        </p:nvSpPr>
        <p:spPr>
          <a:xfrm>
            <a:off x="4536175" y="2549443"/>
            <a:ext cx="150900" cy="1509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7" name="Google Shape;1947;p110"/>
          <p:cNvSpPr txBox="1"/>
          <p:nvPr/>
        </p:nvSpPr>
        <p:spPr>
          <a:xfrm>
            <a:off x="600600" y="1127400"/>
            <a:ext cx="228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 example: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48" name="Google Shape;1948;p110"/>
          <p:cNvCxnSpPr/>
          <p:nvPr/>
        </p:nvCxnSpPr>
        <p:spPr>
          <a:xfrm>
            <a:off x="4536175" y="2042850"/>
            <a:ext cx="0" cy="1314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9" name="Google Shape;1949;p110"/>
          <p:cNvCxnSpPr/>
          <p:nvPr/>
        </p:nvCxnSpPr>
        <p:spPr>
          <a:xfrm>
            <a:off x="3410875" y="2700000"/>
            <a:ext cx="2250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0" name="Google Shape;1950;p110"/>
          <p:cNvSpPr/>
          <p:nvPr/>
        </p:nvSpPr>
        <p:spPr>
          <a:xfrm>
            <a:off x="3879025" y="2042850"/>
            <a:ext cx="1314300" cy="1314300"/>
          </a:xfrm>
          <a:prstGeom prst="arc">
            <a:avLst>
              <a:gd fmla="val 15002772" name="adj1"/>
              <a:gd fmla="val 17487708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1" name="Google Shape;1951;p110"/>
          <p:cNvSpPr/>
          <p:nvPr/>
        </p:nvSpPr>
        <p:spPr>
          <a:xfrm flipH="1" rot="10800000">
            <a:off x="3879025" y="2042850"/>
            <a:ext cx="1314300" cy="1314300"/>
          </a:xfrm>
          <a:prstGeom prst="arc">
            <a:avLst>
              <a:gd fmla="val 14687733" name="adj1"/>
              <a:gd fmla="val 17471377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2" name="Google Shape;1952;p110"/>
          <p:cNvSpPr/>
          <p:nvPr/>
        </p:nvSpPr>
        <p:spPr>
          <a:xfrm>
            <a:off x="3410875" y="1574700"/>
            <a:ext cx="2250600" cy="2250600"/>
          </a:xfrm>
          <a:prstGeom prst="arc">
            <a:avLst>
              <a:gd fmla="val 20948868" name="adj1"/>
              <a:gd fmla="val 70603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3" name="Google Shape;1953;p110"/>
          <p:cNvSpPr/>
          <p:nvPr/>
        </p:nvSpPr>
        <p:spPr>
          <a:xfrm>
            <a:off x="3410875" y="1574700"/>
            <a:ext cx="2250600" cy="2250600"/>
          </a:xfrm>
          <a:prstGeom prst="arc">
            <a:avLst>
              <a:gd fmla="val 10192065" name="adj1"/>
              <a:gd fmla="val 11344068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4" name="Google Shape;1954;p110"/>
          <p:cNvCxnSpPr/>
          <p:nvPr/>
        </p:nvCxnSpPr>
        <p:spPr>
          <a:xfrm flipH="1" rot="10800000">
            <a:off x="3418425" y="2047950"/>
            <a:ext cx="1121700" cy="656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5" name="Google Shape;1955;p110"/>
          <p:cNvCxnSpPr/>
          <p:nvPr/>
        </p:nvCxnSpPr>
        <p:spPr>
          <a:xfrm flipH="1" rot="10800000">
            <a:off x="4536175" y="2700000"/>
            <a:ext cx="1121700" cy="656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6" name="Google Shape;1956;p110"/>
          <p:cNvCxnSpPr/>
          <p:nvPr/>
        </p:nvCxnSpPr>
        <p:spPr>
          <a:xfrm>
            <a:off x="4538175" y="2060675"/>
            <a:ext cx="1110900" cy="63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7" name="Google Shape;1957;p110"/>
          <p:cNvCxnSpPr/>
          <p:nvPr/>
        </p:nvCxnSpPr>
        <p:spPr>
          <a:xfrm>
            <a:off x="3423825" y="2709750"/>
            <a:ext cx="1110900" cy="63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111"/>
          <p:cNvSpPr txBox="1"/>
          <p:nvPr>
            <p:ph idx="1" type="body"/>
          </p:nvPr>
        </p:nvSpPr>
        <p:spPr>
          <a:xfrm>
            <a:off x="324000" y="1080000"/>
            <a:ext cx="8113800" cy="17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diagonals of a rhombus: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</a:t>
            </a:r>
            <a:r>
              <a:rPr lang="en-GB"/>
              <a:t>re perpendicular to each other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/>
              <a:t>bisect </a:t>
            </a:r>
            <a:r>
              <a:rPr lang="en-GB"/>
              <a:t>each other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/>
              <a:t>bisect </a:t>
            </a:r>
            <a:r>
              <a:rPr lang="en-GB"/>
              <a:t>the angles that it passes through</a:t>
            </a:r>
            <a:endParaRPr/>
          </a:p>
        </p:txBody>
      </p:sp>
      <p:sp>
        <p:nvSpPr>
          <p:cNvPr id="1963" name="Google Shape;1963;p111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Diagonals of a rhombus</a:t>
            </a:r>
            <a:endParaRPr/>
          </a:p>
        </p:txBody>
      </p:sp>
      <p:pic>
        <p:nvPicPr>
          <p:cNvPr id="1964" name="Google Shape;1964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7327" y="968100"/>
            <a:ext cx="2140075" cy="358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112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70" name="Google Shape;1970;p1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