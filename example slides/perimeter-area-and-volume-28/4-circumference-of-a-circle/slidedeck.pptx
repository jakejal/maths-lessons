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7e8de51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7e8de51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7e8de5102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7e8de5102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a819f678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a819f678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a819f678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a819f67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9a819f678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a819f678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9a819f678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9a819f678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9a819f6782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9a819f6782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9a819f6782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9a819f6782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a819f6782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a819f6782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a819f6782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a819f6782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a819f6782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a819f6782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a819f6782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a819f6782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a819f6782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a819f6782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9a819f6782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9a819f6782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9b046d09a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b046d09a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9b046d09a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9b046d09a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9b046d09a6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9b046d09a6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9b046d09a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9b046d09a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9a819f678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a819f67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9a819f6782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9a819f6782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9a819f6782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9a819f6782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9a819f6782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9a819f6782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9aafd3f6d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9aafd3f6d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9a819f6782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9a819f6782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9aafd3f6d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9aafd3f6d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9aafd3f6d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9aafd3f6d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9aafd3f6d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9aafd3f6d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9aafd3f6d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9aafd3f6d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9b046d09a6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9b046d09a6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9e61e05e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9e61e05e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9b046d09a6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9b046d09a6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88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8.png"/><Relationship Id="rId4" Type="http://schemas.openxmlformats.org/officeDocument/2006/relationships/image" Target="../media/image25.png"/><Relationship Id="rId9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8.png"/><Relationship Id="rId4" Type="http://schemas.openxmlformats.org/officeDocument/2006/relationships/image" Target="../media/image29.png"/><Relationship Id="rId11" Type="http://schemas.openxmlformats.org/officeDocument/2006/relationships/image" Target="../media/image14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11" Type="http://schemas.openxmlformats.org/officeDocument/2006/relationships/image" Target="../media/image62.png"/><Relationship Id="rId10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5" Type="http://schemas.openxmlformats.org/officeDocument/2006/relationships/image" Target="../media/image63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71.png"/><Relationship Id="rId11" Type="http://schemas.openxmlformats.org/officeDocument/2006/relationships/image" Target="../media/image70.png"/><Relationship Id="rId10" Type="http://schemas.openxmlformats.org/officeDocument/2006/relationships/image" Target="../media/image6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Relationship Id="rId9" Type="http://schemas.openxmlformats.org/officeDocument/2006/relationships/image" Target="../media/image57.png"/><Relationship Id="rId5" Type="http://schemas.openxmlformats.org/officeDocument/2006/relationships/image" Target="../media/image72.png"/><Relationship Id="rId6" Type="http://schemas.openxmlformats.org/officeDocument/2006/relationships/image" Target="../media/image78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Relationship Id="rId11" Type="http://schemas.openxmlformats.org/officeDocument/2006/relationships/image" Target="../media/image81.png"/><Relationship Id="rId10" Type="http://schemas.openxmlformats.org/officeDocument/2006/relationships/image" Target="../media/image67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8.png"/><Relationship Id="rId4" Type="http://schemas.openxmlformats.org/officeDocument/2006/relationships/image" Target="../media/image75.png"/><Relationship Id="rId5" Type="http://schemas.openxmlformats.org/officeDocument/2006/relationships/image" Target="../media/image77.png"/><Relationship Id="rId6" Type="http://schemas.openxmlformats.org/officeDocument/2006/relationships/image" Target="../media/image5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relationship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/>
              <a:t> to calculate unknown lengths in contexts involving the circumference of circles.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993650"/>
            <a:ext cx="8496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circumference of a circle is the perimeter of the circle.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2033538"/>
            <a:ext cx="84960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radius is any line segment that joins the centre of a circle to its edge.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324000" y="3483825"/>
            <a:ext cx="84960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diameter of a circle is any line segment that starts and ends on the edge of the circle and passes through the centre.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formula to calculate the circumference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formula to calculate the diameter and radius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/>
        </p:nvSpPr>
        <p:spPr>
          <a:xfrm>
            <a:off x="3665750" y="2879125"/>
            <a:ext cx="3696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7135200" cy="8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circumference of a circle can be calculated when the diameter is known by using the </a:t>
            </a:r>
            <a:r>
              <a:rPr lang="en-GB" sz="2100">
                <a:solidFill>
                  <a:schemeClr val="accent4"/>
                </a:solidFill>
              </a:rPr>
              <a:t>formula </a:t>
            </a:r>
            <a:r>
              <a:rPr i="1"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784" name="Google Shape;784;p69"/>
          <p:cNvSpPr txBox="1"/>
          <p:nvPr/>
        </p:nvSpPr>
        <p:spPr>
          <a:xfrm>
            <a:off x="5088932" y="2276250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69"/>
          <p:cNvSpPr/>
          <p:nvPr/>
        </p:nvSpPr>
        <p:spPr>
          <a:xfrm>
            <a:off x="903520" y="221511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6" name="Google Shape;786;p69"/>
          <p:cNvCxnSpPr/>
          <p:nvPr/>
        </p:nvCxnSpPr>
        <p:spPr>
          <a:xfrm>
            <a:off x="946681" y="2917339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7" name="Google Shape;787;p69"/>
          <p:cNvSpPr/>
          <p:nvPr/>
        </p:nvSpPr>
        <p:spPr>
          <a:xfrm>
            <a:off x="1827323" y="313898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1793258" y="2773717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2591807" y="22795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/>
        </p:nvSpPr>
        <p:spPr>
          <a:xfrm>
            <a:off x="3665750" y="2879125"/>
            <a:ext cx="4098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324000" y="759300"/>
            <a:ext cx="7135200" cy="8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circumference of a circle can be calculated when the radius is known by using the </a:t>
            </a:r>
            <a:r>
              <a:rPr lang="en-GB" sz="2100">
                <a:solidFill>
                  <a:schemeClr val="accent4"/>
                </a:solidFill>
              </a:rPr>
              <a:t>formula </a:t>
            </a:r>
            <a:r>
              <a:rPr i="1"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/>
          </a:p>
        </p:txBody>
      </p:sp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797" name="Google Shape;797;p70"/>
          <p:cNvSpPr txBox="1"/>
          <p:nvPr/>
        </p:nvSpPr>
        <p:spPr>
          <a:xfrm>
            <a:off x="5088932" y="2276250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70"/>
          <p:cNvSpPr/>
          <p:nvPr/>
        </p:nvSpPr>
        <p:spPr>
          <a:xfrm>
            <a:off x="903520" y="221511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9" name="Google Shape;799;p70"/>
          <p:cNvCxnSpPr>
            <a:endCxn id="800" idx="1"/>
          </p:cNvCxnSpPr>
          <p:nvPr/>
        </p:nvCxnSpPr>
        <p:spPr>
          <a:xfrm>
            <a:off x="946785" y="2917242"/>
            <a:ext cx="889500" cy="230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0" name="Google Shape;800;p70"/>
          <p:cNvSpPr/>
          <p:nvPr/>
        </p:nvSpPr>
        <p:spPr>
          <a:xfrm>
            <a:off x="1827323" y="313898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1428336" y="2699989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2591807" y="22795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1"/>
          <p:cNvSpPr txBox="1"/>
          <p:nvPr>
            <p:ph idx="1" type="body"/>
          </p:nvPr>
        </p:nvSpPr>
        <p:spPr>
          <a:xfrm>
            <a:off x="324000" y="759300"/>
            <a:ext cx="7135200" cy="8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These formulae give the same result because the diameter is double the length of the radius.</a:t>
            </a:r>
            <a:endParaRPr sz="2100"/>
          </a:p>
        </p:txBody>
      </p:sp>
      <p:sp>
        <p:nvSpPr>
          <p:cNvPr id="808" name="Google Shape;80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809" name="Google Shape;809;p71"/>
          <p:cNvSpPr txBox="1"/>
          <p:nvPr/>
        </p:nvSpPr>
        <p:spPr>
          <a:xfrm>
            <a:off x="5260009" y="4318211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4808397" y="212347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1" name="Google Shape;811;p71"/>
          <p:cNvCxnSpPr>
            <a:endCxn id="812" idx="1"/>
          </p:cNvCxnSpPr>
          <p:nvPr/>
        </p:nvCxnSpPr>
        <p:spPr>
          <a:xfrm>
            <a:off x="4851662" y="2825603"/>
            <a:ext cx="889500" cy="230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2" name="Google Shape;812;p71"/>
          <p:cNvSpPr/>
          <p:nvPr/>
        </p:nvSpPr>
        <p:spPr>
          <a:xfrm>
            <a:off x="5732199" y="304734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/>
        </p:nvSpPr>
        <p:spPr>
          <a:xfrm>
            <a:off x="5333213" y="26083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71"/>
          <p:cNvSpPr txBox="1"/>
          <p:nvPr/>
        </p:nvSpPr>
        <p:spPr>
          <a:xfrm>
            <a:off x="6496683" y="218791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5" name="Google Shape;815;p71"/>
          <p:cNvCxnSpPr/>
          <p:nvPr/>
        </p:nvCxnSpPr>
        <p:spPr>
          <a:xfrm>
            <a:off x="5774412" y="3074979"/>
            <a:ext cx="889500" cy="230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6" name="Google Shape;816;p71"/>
          <p:cNvSpPr/>
          <p:nvPr/>
        </p:nvSpPr>
        <p:spPr>
          <a:xfrm>
            <a:off x="1320379" y="2126460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7" name="Google Shape;817;p71"/>
          <p:cNvCxnSpPr/>
          <p:nvPr/>
        </p:nvCxnSpPr>
        <p:spPr>
          <a:xfrm>
            <a:off x="1363540" y="2828688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8" name="Google Shape;818;p71"/>
          <p:cNvSpPr/>
          <p:nvPr/>
        </p:nvSpPr>
        <p:spPr>
          <a:xfrm>
            <a:off x="2244181" y="3050329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2210117" y="2685066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3008665" y="2190899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1831009" y="4318211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6183864" y="2843175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Calculations involving circles can be performed accurately by using the</a:t>
            </a:r>
            <a:r>
              <a:rPr lang="en-GB" sz="2000"/>
              <a:t> </a:t>
            </a:r>
            <a:r>
              <a:rPr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solidFill>
                  <a:schemeClr val="accent4"/>
                </a:solidFill>
              </a:rPr>
              <a:t> button</a:t>
            </a:r>
            <a:r>
              <a:rPr lang="en-GB" sz="2000"/>
              <a:t> on a scientific calculator.</a:t>
            </a:r>
            <a:endParaRPr sz="2000"/>
          </a:p>
        </p:txBody>
      </p:sp>
      <p:sp>
        <p:nvSpPr>
          <p:cNvPr id="828" name="Google Shape;82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829" name="Google Shape;829;p72"/>
          <p:cNvSpPr txBox="1"/>
          <p:nvPr>
            <p:ph idx="1" type="body"/>
          </p:nvPr>
        </p:nvSpPr>
        <p:spPr>
          <a:xfrm>
            <a:off x="322818" y="1815650"/>
            <a:ext cx="4801800" cy="7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 this calculator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symbol is above the 7 button. </a:t>
            </a:r>
            <a:endParaRPr sz="2000"/>
          </a:p>
        </p:txBody>
      </p:sp>
      <p:pic>
        <p:nvPicPr>
          <p:cNvPr id="830" name="Google Shape;830;p72"/>
          <p:cNvPicPr preferRelativeResize="0"/>
          <p:nvPr/>
        </p:nvPicPr>
        <p:blipFill rotWithShape="1">
          <a:blip r:embed="rId3">
            <a:alphaModFix/>
          </a:blip>
          <a:srcRect b="0" l="0" r="5392" t="0"/>
          <a:stretch/>
        </p:blipFill>
        <p:spPr>
          <a:xfrm>
            <a:off x="6409200" y="1289100"/>
            <a:ext cx="2037424" cy="35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2"/>
          <p:cNvSpPr txBox="1"/>
          <p:nvPr>
            <p:ph idx="1" type="body"/>
          </p:nvPr>
        </p:nvSpPr>
        <p:spPr>
          <a:xfrm>
            <a:off x="333875" y="2916300"/>
            <a:ext cx="50835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So, you need press the </a:t>
            </a:r>
            <a:r>
              <a:rPr lang="en-GB" sz="2000">
                <a:solidFill>
                  <a:schemeClr val="accent4"/>
                </a:solidFill>
              </a:rPr>
              <a:t>shift button </a:t>
            </a:r>
            <a:r>
              <a:rPr lang="en-GB" sz="2000"/>
              <a:t>before pressing the 7 button to enter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/>
          </a:p>
        </p:txBody>
      </p:sp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5241469" y="3857500"/>
            <a:ext cx="10725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button </a:t>
            </a:r>
            <a:endParaRPr sz="1800"/>
          </a:p>
        </p:txBody>
      </p:sp>
      <p:cxnSp>
        <p:nvCxnSpPr>
          <p:cNvPr id="833" name="Google Shape;833;p72"/>
          <p:cNvCxnSpPr/>
          <p:nvPr/>
        </p:nvCxnSpPr>
        <p:spPr>
          <a:xfrm flipH="1" rot="10800000">
            <a:off x="6141150" y="3689275"/>
            <a:ext cx="332100" cy="20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72"/>
          <p:cNvSpPr txBox="1"/>
          <p:nvPr>
            <p:ph idx="1" type="body"/>
          </p:nvPr>
        </p:nvSpPr>
        <p:spPr>
          <a:xfrm>
            <a:off x="4861500" y="2409700"/>
            <a:ext cx="15288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shift button </a:t>
            </a:r>
            <a:endParaRPr sz="1800"/>
          </a:p>
        </p:txBody>
      </p:sp>
      <p:cxnSp>
        <p:nvCxnSpPr>
          <p:cNvPr id="835" name="Google Shape;835;p72"/>
          <p:cNvCxnSpPr/>
          <p:nvPr/>
        </p:nvCxnSpPr>
        <p:spPr>
          <a:xfrm>
            <a:off x="6123994" y="2649350"/>
            <a:ext cx="376200" cy="20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6" name="Google Shape;836;p72"/>
          <p:cNvPicPr preferRelativeResize="0"/>
          <p:nvPr/>
        </p:nvPicPr>
        <p:blipFill rotWithShape="1">
          <a:blip r:embed="rId4">
            <a:alphaModFix/>
          </a:blip>
          <a:srcRect b="4517" l="5231" r="0" t="5131"/>
          <a:stretch/>
        </p:blipFill>
        <p:spPr>
          <a:xfrm>
            <a:off x="2482775" y="3845825"/>
            <a:ext cx="787891" cy="66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7" name="Google Shape;837;p72"/>
          <p:cNvPicPr preferRelativeResize="0"/>
          <p:nvPr/>
        </p:nvPicPr>
        <p:blipFill rotWithShape="1">
          <a:blip r:embed="rId5">
            <a:alphaModFix/>
          </a:blip>
          <a:srcRect b="0" l="0" r="0" t="6200"/>
          <a:stretch/>
        </p:blipFill>
        <p:spPr>
          <a:xfrm>
            <a:off x="1181100" y="3845825"/>
            <a:ext cx="607450" cy="6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2"/>
          <p:cNvSpPr/>
          <p:nvPr/>
        </p:nvSpPr>
        <p:spPr>
          <a:xfrm>
            <a:off x="1947563" y="4053575"/>
            <a:ext cx="376200" cy="24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 txBox="1"/>
          <p:nvPr>
            <p:ph idx="1" type="body"/>
          </p:nvPr>
        </p:nvSpPr>
        <p:spPr>
          <a:xfrm>
            <a:off x="324000" y="759300"/>
            <a:ext cx="8359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use the diameter and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to calculate the circumference of the circle.</a:t>
            </a:r>
            <a:endParaRPr sz="2000"/>
          </a:p>
        </p:txBody>
      </p:sp>
      <p:sp>
        <p:nvSpPr>
          <p:cNvPr id="844" name="Google Shape;84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845" name="Google Shape;845;p73"/>
          <p:cNvSpPr/>
          <p:nvPr/>
        </p:nvSpPr>
        <p:spPr>
          <a:xfrm>
            <a:off x="736292" y="1860507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6" name="Google Shape;846;p73"/>
          <p:cNvCxnSpPr/>
          <p:nvPr/>
        </p:nvCxnSpPr>
        <p:spPr>
          <a:xfrm>
            <a:off x="779453" y="2562735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7" name="Google Shape;847;p73"/>
          <p:cNvSpPr/>
          <p:nvPr/>
        </p:nvSpPr>
        <p:spPr>
          <a:xfrm>
            <a:off x="1660095" y="2784376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3"/>
          <p:cNvSpPr txBox="1"/>
          <p:nvPr/>
        </p:nvSpPr>
        <p:spPr>
          <a:xfrm>
            <a:off x="2424579" y="1924946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1389688" y="2452572"/>
            <a:ext cx="7905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 cm</a:t>
            </a:r>
            <a:endParaRPr sz="1800"/>
          </a:p>
        </p:txBody>
      </p:sp>
      <p:sp>
        <p:nvSpPr>
          <p:cNvPr id="850" name="Google Shape;850;p73"/>
          <p:cNvSpPr txBox="1"/>
          <p:nvPr/>
        </p:nvSpPr>
        <p:spPr>
          <a:xfrm>
            <a:off x="3931232" y="19691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73"/>
          <p:cNvSpPr txBox="1"/>
          <p:nvPr/>
        </p:nvSpPr>
        <p:spPr>
          <a:xfrm>
            <a:off x="3931221" y="24714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2" name="Google Shape;852;p73"/>
          <p:cNvPicPr preferRelativeResize="0"/>
          <p:nvPr/>
        </p:nvPicPr>
        <p:blipFill rotWithShape="1">
          <a:blip r:embed="rId3">
            <a:alphaModFix/>
          </a:blip>
          <a:srcRect b="9124" l="5075" r="80044" t="82160"/>
          <a:stretch/>
        </p:blipFill>
        <p:spPr>
          <a:xfrm>
            <a:off x="5678900" y="4307664"/>
            <a:ext cx="379697" cy="364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3"/>
          <p:cNvPicPr preferRelativeResize="0"/>
          <p:nvPr/>
        </p:nvPicPr>
        <p:blipFill rotWithShape="1">
          <a:blip r:embed="rId3">
            <a:alphaModFix/>
          </a:blip>
          <a:srcRect b="8986" l="22474" r="62645" t="82298"/>
          <a:stretch/>
        </p:blipFill>
        <p:spPr>
          <a:xfrm>
            <a:off x="6149685" y="4307335"/>
            <a:ext cx="379697" cy="364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3"/>
          <p:cNvPicPr preferRelativeResize="0"/>
          <p:nvPr/>
        </p:nvPicPr>
        <p:blipFill rotWithShape="1">
          <a:blip r:embed="rId3">
            <a:alphaModFix/>
          </a:blip>
          <a:srcRect b="17759" l="57851" r="28874" t="74214"/>
          <a:stretch/>
        </p:blipFill>
        <p:spPr>
          <a:xfrm>
            <a:off x="6620471" y="4336487"/>
            <a:ext cx="338701" cy="33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3"/>
          <p:cNvPicPr preferRelativeResize="0"/>
          <p:nvPr/>
        </p:nvPicPr>
        <p:blipFill rotWithShape="1">
          <a:blip r:embed="rId3">
            <a:alphaModFix/>
          </a:blip>
          <a:srcRect b="50546" l="6566" r="82641" t="41427"/>
          <a:stretch/>
        </p:blipFill>
        <p:spPr>
          <a:xfrm>
            <a:off x="7050260" y="4336487"/>
            <a:ext cx="275368" cy="33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 rotWithShape="1">
          <a:blip r:embed="rId3">
            <a:alphaModFix/>
          </a:blip>
          <a:srcRect b="26122" l="4577" r="80541" t="64693"/>
          <a:stretch/>
        </p:blipFill>
        <p:spPr>
          <a:xfrm>
            <a:off x="7416716" y="4288024"/>
            <a:ext cx="379697" cy="3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3"/>
          <p:cNvSpPr txBox="1"/>
          <p:nvPr>
            <p:ph idx="1" type="body"/>
          </p:nvPr>
        </p:nvSpPr>
        <p:spPr>
          <a:xfrm>
            <a:off x="323425" y="4242600"/>
            <a:ext cx="53556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this calculator, we would use the buttons:</a:t>
            </a:r>
            <a:endParaRPr sz="1800"/>
          </a:p>
        </p:txBody>
      </p:sp>
      <p:pic>
        <p:nvPicPr>
          <p:cNvPr id="858" name="Google Shape;858;p73"/>
          <p:cNvPicPr preferRelativeResize="0"/>
          <p:nvPr/>
        </p:nvPicPr>
        <p:blipFill rotWithShape="1">
          <a:blip r:embed="rId3">
            <a:alphaModFix/>
          </a:blip>
          <a:srcRect b="0" l="73278" r="11249" t="90956"/>
          <a:stretch/>
        </p:blipFill>
        <p:spPr>
          <a:xfrm>
            <a:off x="7887502" y="4290965"/>
            <a:ext cx="394775" cy="378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3"/>
          <p:cNvPicPr preferRelativeResize="0"/>
          <p:nvPr/>
        </p:nvPicPr>
        <p:blipFill rotWithShape="1">
          <a:blip r:embed="rId3">
            <a:alphaModFix/>
          </a:blip>
          <a:srcRect b="0" l="0" r="5392" t="0"/>
          <a:stretch/>
        </p:blipFill>
        <p:spPr>
          <a:xfrm>
            <a:off x="7105563" y="1620000"/>
            <a:ext cx="1425236" cy="24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996" y="1712665"/>
            <a:ext cx="1215050" cy="5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3"/>
          <p:cNvSpPr txBox="1"/>
          <p:nvPr/>
        </p:nvSpPr>
        <p:spPr>
          <a:xfrm>
            <a:off x="3931221" y="30048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4"/>
          <p:cNvSpPr txBox="1"/>
          <p:nvPr/>
        </p:nvSpPr>
        <p:spPr>
          <a:xfrm>
            <a:off x="3931221" y="30048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37.7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24000" y="759300"/>
            <a:ext cx="8359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use the diameter and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to calculate the circumference of the circle.</a:t>
            </a:r>
            <a:endParaRPr sz="2000"/>
          </a:p>
        </p:txBody>
      </p:sp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869" name="Google Shape;869;p74"/>
          <p:cNvSpPr/>
          <p:nvPr/>
        </p:nvSpPr>
        <p:spPr>
          <a:xfrm>
            <a:off x="736292" y="1860507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0" name="Google Shape;870;p74"/>
          <p:cNvCxnSpPr/>
          <p:nvPr/>
        </p:nvCxnSpPr>
        <p:spPr>
          <a:xfrm>
            <a:off x="779453" y="2562735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1" name="Google Shape;871;p74"/>
          <p:cNvSpPr/>
          <p:nvPr/>
        </p:nvSpPr>
        <p:spPr>
          <a:xfrm>
            <a:off x="1660095" y="2784376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4"/>
          <p:cNvSpPr txBox="1"/>
          <p:nvPr/>
        </p:nvSpPr>
        <p:spPr>
          <a:xfrm>
            <a:off x="2424579" y="1924946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74"/>
          <p:cNvSpPr txBox="1"/>
          <p:nvPr>
            <p:ph idx="1" type="body"/>
          </p:nvPr>
        </p:nvSpPr>
        <p:spPr>
          <a:xfrm>
            <a:off x="1389688" y="2452572"/>
            <a:ext cx="7905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 cm</a:t>
            </a:r>
            <a:endParaRPr sz="1800"/>
          </a:p>
        </p:txBody>
      </p:sp>
      <p:sp>
        <p:nvSpPr>
          <p:cNvPr id="874" name="Google Shape;874;p74"/>
          <p:cNvSpPr txBox="1"/>
          <p:nvPr/>
        </p:nvSpPr>
        <p:spPr>
          <a:xfrm>
            <a:off x="3931232" y="19691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74"/>
          <p:cNvSpPr txBox="1"/>
          <p:nvPr/>
        </p:nvSpPr>
        <p:spPr>
          <a:xfrm>
            <a:off x="3931221" y="24714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74"/>
          <p:cNvSpPr txBox="1"/>
          <p:nvPr>
            <p:ph idx="1" type="body"/>
          </p:nvPr>
        </p:nvSpPr>
        <p:spPr>
          <a:xfrm>
            <a:off x="340434" y="4234096"/>
            <a:ext cx="788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convert the answer to a decimal by pressing </a:t>
            </a:r>
            <a:r>
              <a:rPr lang="en-GB" sz="1800">
                <a:solidFill>
                  <a:schemeClr val="accent4"/>
                </a:solidFill>
              </a:rPr>
              <a:t>format</a:t>
            </a:r>
            <a:r>
              <a:rPr lang="en-GB" sz="1800"/>
              <a:t> and then selecting </a:t>
            </a:r>
            <a:r>
              <a:rPr lang="en-GB" sz="1800">
                <a:solidFill>
                  <a:schemeClr val="accent4"/>
                </a:solidFill>
              </a:rPr>
              <a:t>decimal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877" name="Google Shape;877;p74"/>
          <p:cNvPicPr preferRelativeResize="0"/>
          <p:nvPr/>
        </p:nvPicPr>
        <p:blipFill rotWithShape="1">
          <a:blip r:embed="rId3">
            <a:alphaModFix/>
          </a:blip>
          <a:srcRect b="0" l="0" r="5392" t="0"/>
          <a:stretch/>
        </p:blipFill>
        <p:spPr>
          <a:xfrm>
            <a:off x="7105563" y="1620000"/>
            <a:ext cx="1425236" cy="24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308" y="1720039"/>
            <a:ext cx="1215050" cy="55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2884" y="1717273"/>
            <a:ext cx="1189681" cy="5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4"/>
          <p:cNvSpPr/>
          <p:nvPr/>
        </p:nvSpPr>
        <p:spPr>
          <a:xfrm>
            <a:off x="7982577" y="3893300"/>
            <a:ext cx="183300" cy="196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9996" y="1712665"/>
            <a:ext cx="1215050" cy="5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4"/>
          <p:cNvSpPr txBox="1"/>
          <p:nvPr>
            <p:ph idx="1" type="body"/>
          </p:nvPr>
        </p:nvSpPr>
        <p:spPr>
          <a:xfrm>
            <a:off x="340434" y="4234096"/>
            <a:ext cx="788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convert the answer to a decimal by pressing </a:t>
            </a:r>
            <a:r>
              <a:rPr lang="en-GB" sz="1800">
                <a:solidFill>
                  <a:schemeClr val="accent4"/>
                </a:solidFill>
              </a:rPr>
              <a:t>format</a:t>
            </a:r>
            <a:r>
              <a:rPr lang="en-GB" sz="1800"/>
              <a:t> and then selecting </a:t>
            </a:r>
            <a:r>
              <a:rPr lang="en-GB" sz="1800">
                <a:solidFill>
                  <a:schemeClr val="accent4"/>
                </a:solidFill>
              </a:rPr>
              <a:t>decimal</a:t>
            </a:r>
            <a:r>
              <a:rPr lang="en-GB" sz="1800"/>
              <a:t>. </a:t>
            </a:r>
            <a:r>
              <a:rPr lang="en-GB" sz="1800"/>
              <a:t>We would then need to </a:t>
            </a:r>
            <a:r>
              <a:rPr lang="en-GB" sz="1800">
                <a:solidFill>
                  <a:schemeClr val="accent4"/>
                </a:solidFill>
              </a:rPr>
              <a:t>round</a:t>
            </a:r>
            <a:r>
              <a:rPr lang="en-GB" sz="1800"/>
              <a:t> our answer.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75"/>
          <p:cNvPicPr preferRelativeResize="0"/>
          <p:nvPr/>
        </p:nvPicPr>
        <p:blipFill rotWithShape="1">
          <a:blip r:embed="rId3">
            <a:alphaModFix/>
          </a:blip>
          <a:srcRect b="0" l="0" r="5392" t="0"/>
          <a:stretch/>
        </p:blipFill>
        <p:spPr>
          <a:xfrm>
            <a:off x="7105563" y="1620000"/>
            <a:ext cx="1425236" cy="24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2884" y="1717273"/>
            <a:ext cx="1189681" cy="5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5"/>
          <p:cNvSpPr txBox="1"/>
          <p:nvPr/>
        </p:nvSpPr>
        <p:spPr>
          <a:xfrm>
            <a:off x="3931221" y="30048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37.7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 txBox="1"/>
          <p:nvPr>
            <p:ph idx="1" type="body"/>
          </p:nvPr>
        </p:nvSpPr>
        <p:spPr>
          <a:xfrm>
            <a:off x="324000" y="759300"/>
            <a:ext cx="8078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use the diameter and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to calculate the circumference of the circle.</a:t>
            </a:r>
            <a:endParaRPr sz="2000"/>
          </a:p>
        </p:txBody>
      </p:sp>
      <p:sp>
        <p:nvSpPr>
          <p:cNvPr id="891" name="Google Shape;89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892" name="Google Shape;892;p75"/>
          <p:cNvSpPr/>
          <p:nvPr/>
        </p:nvSpPr>
        <p:spPr>
          <a:xfrm>
            <a:off x="736292" y="1860507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3" name="Google Shape;893;p75"/>
          <p:cNvCxnSpPr/>
          <p:nvPr/>
        </p:nvCxnSpPr>
        <p:spPr>
          <a:xfrm>
            <a:off x="779453" y="2562735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4" name="Google Shape;894;p75"/>
          <p:cNvSpPr/>
          <p:nvPr/>
        </p:nvSpPr>
        <p:spPr>
          <a:xfrm>
            <a:off x="1660095" y="2784376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 txBox="1"/>
          <p:nvPr/>
        </p:nvSpPr>
        <p:spPr>
          <a:xfrm>
            <a:off x="2424579" y="1924946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75"/>
          <p:cNvSpPr txBox="1"/>
          <p:nvPr>
            <p:ph idx="1" type="body"/>
          </p:nvPr>
        </p:nvSpPr>
        <p:spPr>
          <a:xfrm>
            <a:off x="1389688" y="2452572"/>
            <a:ext cx="7905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 cm</a:t>
            </a:r>
            <a:endParaRPr sz="1800"/>
          </a:p>
        </p:txBody>
      </p:sp>
      <p:sp>
        <p:nvSpPr>
          <p:cNvPr id="897" name="Google Shape;897;p75"/>
          <p:cNvSpPr txBox="1"/>
          <p:nvPr/>
        </p:nvSpPr>
        <p:spPr>
          <a:xfrm>
            <a:off x="3931232" y="19691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75"/>
          <p:cNvSpPr txBox="1"/>
          <p:nvPr/>
        </p:nvSpPr>
        <p:spPr>
          <a:xfrm>
            <a:off x="3931221" y="24714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75"/>
          <p:cNvSpPr txBox="1"/>
          <p:nvPr>
            <p:ph idx="1" type="body"/>
          </p:nvPr>
        </p:nvSpPr>
        <p:spPr>
          <a:xfrm>
            <a:off x="340425" y="4234100"/>
            <a:ext cx="82578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more decimal places we use, the more accurate our answer will be.</a:t>
            </a:r>
            <a:endParaRPr sz="1800"/>
          </a:p>
        </p:txBody>
      </p:sp>
      <p:sp>
        <p:nvSpPr>
          <p:cNvPr id="900" name="Google Shape;900;p75"/>
          <p:cNvSpPr txBox="1"/>
          <p:nvPr/>
        </p:nvSpPr>
        <p:spPr>
          <a:xfrm>
            <a:off x="3931227" y="3004800"/>
            <a:ext cx="2217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37.699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5"/>
          <p:cNvSpPr txBox="1"/>
          <p:nvPr/>
        </p:nvSpPr>
        <p:spPr>
          <a:xfrm>
            <a:off x="3931225" y="3004800"/>
            <a:ext cx="2685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37.699112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3931225" y="3004800"/>
            <a:ext cx="2685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37.69911184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 txBox="1"/>
          <p:nvPr>
            <p:ph idx="1" type="body"/>
          </p:nvPr>
        </p:nvSpPr>
        <p:spPr>
          <a:xfrm>
            <a:off x="340425" y="4522231"/>
            <a:ext cx="82578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only way to be </a:t>
            </a:r>
            <a:r>
              <a:rPr lang="en-GB" sz="1800">
                <a:solidFill>
                  <a:schemeClr val="accent4"/>
                </a:solidFill>
              </a:rPr>
              <a:t>exact</a:t>
            </a:r>
            <a:r>
              <a:rPr lang="en-GB" sz="1800"/>
              <a:t> is to give our answer </a:t>
            </a:r>
            <a:r>
              <a:rPr lang="en-GB" sz="1800">
                <a:solidFill>
                  <a:schemeClr val="accent4"/>
                </a:solidFill>
              </a:rPr>
              <a:t>in terms of </a:t>
            </a:r>
            <a:r>
              <a:rPr lang="en-GB" sz="2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04" name="Google Shape;904;p75"/>
          <p:cNvSpPr txBox="1"/>
          <p:nvPr/>
        </p:nvSpPr>
        <p:spPr>
          <a:xfrm>
            <a:off x="3931225" y="3002968"/>
            <a:ext cx="2685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6"/>
          <p:cNvSpPr txBox="1"/>
          <p:nvPr>
            <p:ph idx="1" type="body"/>
          </p:nvPr>
        </p:nvSpPr>
        <p:spPr>
          <a:xfrm>
            <a:off x="324000" y="759300"/>
            <a:ext cx="8205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the radius and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to calculate the circumference of the circle.</a:t>
            </a:r>
            <a:endParaRPr sz="2000"/>
          </a:p>
        </p:txBody>
      </p:sp>
      <p:sp>
        <p:nvSpPr>
          <p:cNvPr id="910" name="Google Shape;91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911" name="Google Shape;911;p76"/>
          <p:cNvSpPr/>
          <p:nvPr/>
        </p:nvSpPr>
        <p:spPr>
          <a:xfrm>
            <a:off x="736292" y="1860507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2" name="Google Shape;912;p76"/>
          <p:cNvCxnSpPr/>
          <p:nvPr/>
        </p:nvCxnSpPr>
        <p:spPr>
          <a:xfrm>
            <a:off x="779453" y="2562735"/>
            <a:ext cx="908400" cy="243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3" name="Google Shape;913;p76"/>
          <p:cNvSpPr/>
          <p:nvPr/>
        </p:nvSpPr>
        <p:spPr>
          <a:xfrm>
            <a:off x="1660095" y="2784376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6"/>
          <p:cNvSpPr txBox="1"/>
          <p:nvPr/>
        </p:nvSpPr>
        <p:spPr>
          <a:xfrm>
            <a:off x="2424579" y="1924946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76"/>
          <p:cNvSpPr txBox="1"/>
          <p:nvPr>
            <p:ph idx="1" type="body"/>
          </p:nvPr>
        </p:nvSpPr>
        <p:spPr>
          <a:xfrm>
            <a:off x="1141784" y="2353422"/>
            <a:ext cx="7905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916" name="Google Shape;916;p76"/>
          <p:cNvSpPr txBox="1"/>
          <p:nvPr/>
        </p:nvSpPr>
        <p:spPr>
          <a:xfrm>
            <a:off x="6598232" y="22739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>
            <a:off x="6598221" y="27762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76"/>
          <p:cNvSpPr txBox="1"/>
          <p:nvPr>
            <p:ph idx="1" type="body"/>
          </p:nvPr>
        </p:nvSpPr>
        <p:spPr>
          <a:xfrm>
            <a:off x="6360225" y="1871900"/>
            <a:ext cx="23556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the diameter:</a:t>
            </a:r>
            <a:endParaRPr sz="1800"/>
          </a:p>
        </p:txBody>
      </p:sp>
      <p:sp>
        <p:nvSpPr>
          <p:cNvPr id="919" name="Google Shape;919;p76"/>
          <p:cNvSpPr txBox="1"/>
          <p:nvPr>
            <p:ph idx="1" type="body"/>
          </p:nvPr>
        </p:nvSpPr>
        <p:spPr>
          <a:xfrm>
            <a:off x="340425" y="4141225"/>
            <a:ext cx="8028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gives the same result as using the diameter because the diameter is </a:t>
            </a:r>
            <a:r>
              <a:rPr lang="en-GB" sz="1800">
                <a:solidFill>
                  <a:schemeClr val="accent4"/>
                </a:solidFill>
              </a:rPr>
              <a:t>double</a:t>
            </a:r>
            <a:r>
              <a:rPr lang="en-GB" sz="1800"/>
              <a:t> the length of the radius.</a:t>
            </a:r>
            <a:endParaRPr sz="1800"/>
          </a:p>
        </p:txBody>
      </p:sp>
      <p:sp>
        <p:nvSpPr>
          <p:cNvPr id="920" name="Google Shape;920;p76"/>
          <p:cNvSpPr txBox="1"/>
          <p:nvPr/>
        </p:nvSpPr>
        <p:spPr>
          <a:xfrm>
            <a:off x="6598225" y="3309600"/>
            <a:ext cx="1647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 txBox="1"/>
          <p:nvPr/>
        </p:nvSpPr>
        <p:spPr>
          <a:xfrm>
            <a:off x="3550224" y="2273925"/>
            <a:ext cx="1182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76"/>
          <p:cNvSpPr txBox="1"/>
          <p:nvPr/>
        </p:nvSpPr>
        <p:spPr>
          <a:xfrm>
            <a:off x="3550226" y="2776200"/>
            <a:ext cx="2024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76"/>
          <p:cNvSpPr txBox="1"/>
          <p:nvPr/>
        </p:nvSpPr>
        <p:spPr>
          <a:xfrm>
            <a:off x="3550225" y="3309600"/>
            <a:ext cx="1591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 txBox="1"/>
          <p:nvPr>
            <p:ph idx="1" type="body"/>
          </p:nvPr>
        </p:nvSpPr>
        <p:spPr>
          <a:xfrm>
            <a:off x="3388425" y="1871900"/>
            <a:ext cx="23556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the radius:</a:t>
            </a:r>
            <a:endParaRPr sz="1800"/>
          </a:p>
        </p:txBody>
      </p:sp>
      <p:cxnSp>
        <p:nvCxnSpPr>
          <p:cNvPr id="925" name="Google Shape;925;p76"/>
          <p:cNvCxnSpPr/>
          <p:nvPr/>
        </p:nvCxnSpPr>
        <p:spPr>
          <a:xfrm>
            <a:off x="4067550" y="3130850"/>
            <a:ext cx="176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76"/>
          <p:cNvCxnSpPr/>
          <p:nvPr/>
        </p:nvCxnSpPr>
        <p:spPr>
          <a:xfrm>
            <a:off x="4824000" y="3130850"/>
            <a:ext cx="339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76"/>
          <p:cNvCxnSpPr/>
          <p:nvPr/>
        </p:nvCxnSpPr>
        <p:spPr>
          <a:xfrm>
            <a:off x="7587263" y="3130850"/>
            <a:ext cx="339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7"/>
          <p:cNvSpPr txBox="1"/>
          <p:nvPr>
            <p:ph idx="1" type="subTitle"/>
          </p:nvPr>
        </p:nvSpPr>
        <p:spPr>
          <a:xfrm>
            <a:off x="980575" y="3062777"/>
            <a:ext cx="74526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the radius to calculate the circumference by using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r.</a:t>
            </a:r>
            <a:endParaRPr/>
          </a:p>
        </p:txBody>
      </p:sp>
      <p:sp>
        <p:nvSpPr>
          <p:cNvPr id="933" name="Google Shape;933;p77"/>
          <p:cNvSpPr txBox="1"/>
          <p:nvPr>
            <p:ph idx="2" type="subTitle"/>
          </p:nvPr>
        </p:nvSpPr>
        <p:spPr>
          <a:xfrm>
            <a:off x="324000" y="1080000"/>
            <a:ext cx="8496000" cy="7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only </a:t>
            </a:r>
            <a:r>
              <a:rPr lang="en-GB"/>
              <a:t>calculate</a:t>
            </a:r>
            <a:r>
              <a:rPr lang="en-GB"/>
              <a:t> the circumference when we know the diameter.</a:t>
            </a:r>
            <a:endParaRPr/>
          </a:p>
        </p:txBody>
      </p:sp>
      <p:sp>
        <p:nvSpPr>
          <p:cNvPr id="934" name="Google Shape;934;p77"/>
          <p:cNvSpPr txBox="1"/>
          <p:nvPr>
            <p:ph idx="3" type="subTitle"/>
          </p:nvPr>
        </p:nvSpPr>
        <p:spPr>
          <a:xfrm>
            <a:off x="980575" y="39641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need to know the diameter so that we can use the formula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d.</a:t>
            </a:r>
            <a:endParaRPr/>
          </a:p>
        </p:txBody>
      </p:sp>
      <p:sp>
        <p:nvSpPr>
          <p:cNvPr id="935" name="Google Shape;93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pic>
        <p:nvPicPr>
          <p:cNvPr id="936" name="Google Shape;9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27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8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8"/>
          <p:cNvSpPr txBox="1"/>
          <p:nvPr>
            <p:ph idx="1" type="subTitle"/>
          </p:nvPr>
        </p:nvSpPr>
        <p:spPr>
          <a:xfrm>
            <a:off x="980575" y="3119927"/>
            <a:ext cx="74526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be exact by writing down all of the decimals on our calculator display.</a:t>
            </a:r>
            <a:endParaRPr/>
          </a:p>
        </p:txBody>
      </p:sp>
      <p:sp>
        <p:nvSpPr>
          <p:cNvPr id="943" name="Google Shape;943;p78"/>
          <p:cNvSpPr txBox="1"/>
          <p:nvPr>
            <p:ph idx="2" type="subTitle"/>
          </p:nvPr>
        </p:nvSpPr>
        <p:spPr>
          <a:xfrm>
            <a:off x="324000" y="964888"/>
            <a:ext cx="8496000" cy="7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multiplying a number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/>
              <a:t>, the only way to provide an exact answer is to write it in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/>
              <a:t>.</a:t>
            </a:r>
            <a:endParaRPr/>
          </a:p>
        </p:txBody>
      </p:sp>
      <p:sp>
        <p:nvSpPr>
          <p:cNvPr id="944" name="Google Shape;944;p78"/>
          <p:cNvSpPr txBox="1"/>
          <p:nvPr>
            <p:ph idx="3" type="subTitle"/>
          </p:nvPr>
        </p:nvSpPr>
        <p:spPr>
          <a:xfrm>
            <a:off x="980575" y="39641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/>
              <a:t> has an infinite number of decimal places, so writing in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/>
              <a:t> is the only way to be exact.</a:t>
            </a:r>
            <a:endParaRPr/>
          </a:p>
        </p:txBody>
      </p:sp>
      <p:sp>
        <p:nvSpPr>
          <p:cNvPr id="945" name="Google Shape;94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pic>
        <p:nvPicPr>
          <p:cNvPr id="946" name="Google Shape;94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533" y="1868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58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9"/>
          <p:cNvSpPr txBox="1"/>
          <p:nvPr>
            <p:ph idx="1" type="subTitle"/>
          </p:nvPr>
        </p:nvSpPr>
        <p:spPr>
          <a:xfrm>
            <a:off x="337825" y="810000"/>
            <a:ext cx="3982200" cy="11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circumference of the circle. Give your answer to 1 decimal place.</a:t>
            </a:r>
            <a:endParaRPr/>
          </a:p>
        </p:txBody>
      </p:sp>
      <p:sp>
        <p:nvSpPr>
          <p:cNvPr id="953" name="Google Shape;953;p79"/>
          <p:cNvSpPr/>
          <p:nvPr/>
        </p:nvSpPr>
        <p:spPr>
          <a:xfrm>
            <a:off x="411276" y="2184527"/>
            <a:ext cx="1647000" cy="1647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9"/>
          <p:cNvSpPr txBox="1"/>
          <p:nvPr>
            <p:ph idx="2" type="subTitle"/>
          </p:nvPr>
        </p:nvSpPr>
        <p:spPr>
          <a:xfrm>
            <a:off x="4824000" y="810000"/>
            <a:ext cx="3982200" cy="11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circumference of the circle. Give your answer to 1 decimal place.</a:t>
            </a:r>
            <a:endParaRPr/>
          </a:p>
        </p:txBody>
      </p:sp>
      <p:sp>
        <p:nvSpPr>
          <p:cNvPr id="955" name="Google Shape;955;p7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956" name="Google Shape;956;p79"/>
          <p:cNvSpPr/>
          <p:nvPr/>
        </p:nvSpPr>
        <p:spPr>
          <a:xfrm>
            <a:off x="431499" y="2191155"/>
            <a:ext cx="1614300" cy="16146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7" name="Google Shape;957;p79"/>
          <p:cNvCxnSpPr/>
          <p:nvPr/>
        </p:nvCxnSpPr>
        <p:spPr>
          <a:xfrm>
            <a:off x="411265" y="3958625"/>
            <a:ext cx="162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8" name="Google Shape;958;p79"/>
          <p:cNvSpPr txBox="1"/>
          <p:nvPr>
            <p:ph idx="4294967295" type="body"/>
          </p:nvPr>
        </p:nvSpPr>
        <p:spPr>
          <a:xfrm>
            <a:off x="845274" y="3963300"/>
            <a:ext cx="822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26</a:t>
            </a:r>
            <a:r>
              <a:rPr lang="en-GB" sz="1800"/>
              <a:t> mm</a:t>
            </a:r>
            <a:endParaRPr sz="1800"/>
          </a:p>
        </p:txBody>
      </p:sp>
      <p:sp>
        <p:nvSpPr>
          <p:cNvPr id="959" name="Google Shape;959;p79"/>
          <p:cNvSpPr txBox="1"/>
          <p:nvPr/>
        </p:nvSpPr>
        <p:spPr>
          <a:xfrm>
            <a:off x="2559632" y="25787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9"/>
          <p:cNvSpPr txBox="1"/>
          <p:nvPr/>
        </p:nvSpPr>
        <p:spPr>
          <a:xfrm>
            <a:off x="2559621" y="30810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9"/>
          <p:cNvSpPr txBox="1"/>
          <p:nvPr>
            <p:ph idx="4294967295" type="body"/>
          </p:nvPr>
        </p:nvSpPr>
        <p:spPr>
          <a:xfrm>
            <a:off x="2305179" y="2126025"/>
            <a:ext cx="2091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iameter = 26 mm</a:t>
            </a:r>
            <a:endParaRPr sz="1800"/>
          </a:p>
        </p:txBody>
      </p:sp>
      <p:sp>
        <p:nvSpPr>
          <p:cNvPr id="962" name="Google Shape;962;p79"/>
          <p:cNvSpPr txBox="1"/>
          <p:nvPr/>
        </p:nvSpPr>
        <p:spPr>
          <a:xfrm>
            <a:off x="2559625" y="3614400"/>
            <a:ext cx="1760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81.6814…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9"/>
          <p:cNvSpPr txBox="1"/>
          <p:nvPr/>
        </p:nvSpPr>
        <p:spPr>
          <a:xfrm>
            <a:off x="2559625" y="4147800"/>
            <a:ext cx="1760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81.7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/>
          <p:nvPr/>
        </p:nvSpPr>
        <p:spPr>
          <a:xfrm>
            <a:off x="4851099" y="2191155"/>
            <a:ext cx="1614300" cy="16146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5" name="Google Shape;965;p79"/>
          <p:cNvCxnSpPr/>
          <p:nvPr/>
        </p:nvCxnSpPr>
        <p:spPr>
          <a:xfrm>
            <a:off x="4830865" y="3958625"/>
            <a:ext cx="162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6" name="Google Shape;966;p79"/>
          <p:cNvSpPr txBox="1"/>
          <p:nvPr>
            <p:ph idx="4294967295" type="body"/>
          </p:nvPr>
        </p:nvSpPr>
        <p:spPr>
          <a:xfrm>
            <a:off x="5468500" y="3963300"/>
            <a:ext cx="6186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m</a:t>
            </a:r>
            <a:endParaRPr sz="1800"/>
          </a:p>
        </p:txBody>
      </p:sp>
      <p:sp>
        <p:nvSpPr>
          <p:cNvPr id="967" name="Google Shape;967;p79"/>
          <p:cNvSpPr txBox="1"/>
          <p:nvPr/>
        </p:nvSpPr>
        <p:spPr>
          <a:xfrm>
            <a:off x="6826832" y="25787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79"/>
          <p:cNvSpPr txBox="1"/>
          <p:nvPr/>
        </p:nvSpPr>
        <p:spPr>
          <a:xfrm>
            <a:off x="6826821" y="3081000"/>
            <a:ext cx="1528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i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79"/>
          <p:cNvSpPr txBox="1"/>
          <p:nvPr>
            <p:ph idx="4294967295" type="body"/>
          </p:nvPr>
        </p:nvSpPr>
        <p:spPr>
          <a:xfrm>
            <a:off x="6724779" y="2126025"/>
            <a:ext cx="2091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diameter = 4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79"/>
          <p:cNvSpPr txBox="1"/>
          <p:nvPr/>
        </p:nvSpPr>
        <p:spPr>
          <a:xfrm>
            <a:off x="6826825" y="3614400"/>
            <a:ext cx="184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12.56637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…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9"/>
          <p:cNvSpPr txBox="1"/>
          <p:nvPr/>
        </p:nvSpPr>
        <p:spPr>
          <a:xfrm>
            <a:off x="6826825" y="4147800"/>
            <a:ext cx="1760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3024653" y="4497675"/>
            <a:ext cx="1280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(to 1 d.p.)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9"/>
          <p:cNvSpPr txBox="1"/>
          <p:nvPr/>
        </p:nvSpPr>
        <p:spPr>
          <a:xfrm>
            <a:off x="7291853" y="4497675"/>
            <a:ext cx="1280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(to 1 d.p.)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80"/>
          <p:cNvGrpSpPr/>
          <p:nvPr/>
        </p:nvGrpSpPr>
        <p:grpSpPr>
          <a:xfrm rot="-5400000">
            <a:off x="5115837" y="2526258"/>
            <a:ext cx="662100" cy="577909"/>
            <a:chOff x="5274852" y="2420160"/>
            <a:chExt cx="662100" cy="577909"/>
          </a:xfrm>
        </p:grpSpPr>
        <p:cxnSp>
          <p:nvCxnSpPr>
            <p:cNvPr id="979" name="Google Shape;979;p80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80" name="Google Shape;980;p80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981" name="Google Shape;981;p80"/>
          <p:cNvSpPr/>
          <p:nvPr/>
        </p:nvSpPr>
        <p:spPr>
          <a:xfrm>
            <a:off x="5173404" y="2589701"/>
            <a:ext cx="1122000" cy="1122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0"/>
          <p:cNvSpPr txBox="1"/>
          <p:nvPr>
            <p:ph idx="1" type="subTitle"/>
          </p:nvPr>
        </p:nvSpPr>
        <p:spPr>
          <a:xfrm>
            <a:off x="337825" y="810000"/>
            <a:ext cx="39822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circumference of the circle. Give your answer in terms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π.</a:t>
            </a:r>
            <a:endParaRPr sz="1600"/>
          </a:p>
        </p:txBody>
      </p:sp>
      <p:sp>
        <p:nvSpPr>
          <p:cNvPr id="983" name="Google Shape;983;p80"/>
          <p:cNvSpPr/>
          <p:nvPr/>
        </p:nvSpPr>
        <p:spPr>
          <a:xfrm>
            <a:off x="563675" y="2514227"/>
            <a:ext cx="706800" cy="706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0"/>
          <p:cNvSpPr txBox="1"/>
          <p:nvPr>
            <p:ph idx="2" type="subTitle"/>
          </p:nvPr>
        </p:nvSpPr>
        <p:spPr>
          <a:xfrm>
            <a:off x="4824000" y="810000"/>
            <a:ext cx="3982200" cy="7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circumference of the circle. Give your answer in terms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π.</a:t>
            </a:r>
            <a:endParaRPr/>
          </a:p>
        </p:txBody>
      </p:sp>
      <p:sp>
        <p:nvSpPr>
          <p:cNvPr id="985" name="Google Shape;985;p8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986" name="Google Shape;986;p80"/>
          <p:cNvSpPr/>
          <p:nvPr/>
        </p:nvSpPr>
        <p:spPr>
          <a:xfrm>
            <a:off x="581056" y="2519924"/>
            <a:ext cx="1387500" cy="138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7" name="Google Shape;987;p80"/>
          <p:cNvCxnSpPr/>
          <p:nvPr/>
        </p:nvCxnSpPr>
        <p:spPr>
          <a:xfrm>
            <a:off x="551950" y="2407002"/>
            <a:ext cx="732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8" name="Google Shape;988;p80"/>
          <p:cNvSpPr txBox="1"/>
          <p:nvPr>
            <p:ph idx="4294967295" type="body"/>
          </p:nvPr>
        </p:nvSpPr>
        <p:spPr>
          <a:xfrm>
            <a:off x="667378" y="2092475"/>
            <a:ext cx="5460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989" name="Google Shape;989;p80"/>
          <p:cNvSpPr txBox="1"/>
          <p:nvPr/>
        </p:nvSpPr>
        <p:spPr>
          <a:xfrm>
            <a:off x="2559632" y="2578725"/>
            <a:ext cx="1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80"/>
          <p:cNvSpPr txBox="1"/>
          <p:nvPr/>
        </p:nvSpPr>
        <p:spPr>
          <a:xfrm>
            <a:off x="2559625" y="3081000"/>
            <a:ext cx="157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0"/>
          <p:cNvSpPr txBox="1"/>
          <p:nvPr>
            <p:ph idx="4294967295" type="body"/>
          </p:nvPr>
        </p:nvSpPr>
        <p:spPr>
          <a:xfrm>
            <a:off x="2305179" y="2126025"/>
            <a:ext cx="2091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radius = 8 cm</a:t>
            </a:r>
            <a:endParaRPr sz="1800"/>
          </a:p>
        </p:txBody>
      </p:sp>
      <p:sp>
        <p:nvSpPr>
          <p:cNvPr id="992" name="Google Shape;992;p80"/>
          <p:cNvSpPr txBox="1"/>
          <p:nvPr/>
        </p:nvSpPr>
        <p:spPr>
          <a:xfrm>
            <a:off x="2559625" y="3614400"/>
            <a:ext cx="1760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3" name="Google Shape;993;p80"/>
          <p:cNvCxnSpPr/>
          <p:nvPr/>
        </p:nvCxnSpPr>
        <p:spPr>
          <a:xfrm rot="10800000">
            <a:off x="5155404" y="2487172"/>
            <a:ext cx="579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4" name="Google Shape;994;p80"/>
          <p:cNvSpPr txBox="1"/>
          <p:nvPr>
            <p:ph idx="4294967295" type="body"/>
          </p:nvPr>
        </p:nvSpPr>
        <p:spPr>
          <a:xfrm>
            <a:off x="5235428" y="2172150"/>
            <a:ext cx="468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m</a:t>
            </a:r>
            <a:endParaRPr sz="1800"/>
          </a:p>
        </p:txBody>
      </p:sp>
      <p:sp>
        <p:nvSpPr>
          <p:cNvPr id="995" name="Google Shape;995;p80"/>
          <p:cNvSpPr txBox="1"/>
          <p:nvPr/>
        </p:nvSpPr>
        <p:spPr>
          <a:xfrm>
            <a:off x="6832960" y="2578725"/>
            <a:ext cx="1088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6832953" y="3081000"/>
            <a:ext cx="1904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i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i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80"/>
          <p:cNvSpPr txBox="1"/>
          <p:nvPr>
            <p:ph idx="4294967295" type="body"/>
          </p:nvPr>
        </p:nvSpPr>
        <p:spPr>
          <a:xfrm>
            <a:off x="6724775" y="2126025"/>
            <a:ext cx="22167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radius = 5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>
            <a:off x="6832952" y="3614400"/>
            <a:ext cx="1951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m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80"/>
          <p:cNvSpPr/>
          <p:nvPr/>
        </p:nvSpPr>
        <p:spPr>
          <a:xfrm>
            <a:off x="1252349" y="3191269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0"/>
          <p:cNvSpPr/>
          <p:nvPr/>
        </p:nvSpPr>
        <p:spPr>
          <a:xfrm>
            <a:off x="5708352" y="3124669"/>
            <a:ext cx="51600" cy="516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1"/>
          <p:cNvSpPr txBox="1"/>
          <p:nvPr>
            <p:ph idx="1" type="body"/>
          </p:nvPr>
        </p:nvSpPr>
        <p:spPr>
          <a:xfrm>
            <a:off x="324000" y="773457"/>
            <a:ext cx="8237700" cy="6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circumference of each circle. </a:t>
            </a:r>
            <a:br>
              <a:rPr lang="en-GB" sz="1800"/>
            </a:br>
            <a:r>
              <a:rPr lang="en-GB" sz="1800"/>
              <a:t>    Give each answer: i)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; ii) rounded to 3 significant figures.</a:t>
            </a:r>
            <a:endParaRPr sz="1800"/>
          </a:p>
        </p:txBody>
      </p:sp>
      <p:sp>
        <p:nvSpPr>
          <p:cNvPr id="1006" name="Google Shape;1006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grpSp>
        <p:nvGrpSpPr>
          <p:cNvPr id="1007" name="Google Shape;1007;p81"/>
          <p:cNvGrpSpPr/>
          <p:nvPr/>
        </p:nvGrpSpPr>
        <p:grpSpPr>
          <a:xfrm>
            <a:off x="5155428" y="3436702"/>
            <a:ext cx="1379616" cy="1379925"/>
            <a:chOff x="7175525" y="1625315"/>
            <a:chExt cx="1204800" cy="1205175"/>
          </a:xfrm>
        </p:grpSpPr>
        <p:sp>
          <p:nvSpPr>
            <p:cNvPr id="1008" name="Google Shape;1008;p81"/>
            <p:cNvSpPr/>
            <p:nvPr/>
          </p:nvSpPr>
          <p:spPr>
            <a:xfrm>
              <a:off x="7175525" y="1625690"/>
              <a:ext cx="1204800" cy="12048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81"/>
            <p:cNvSpPr/>
            <p:nvPr/>
          </p:nvSpPr>
          <p:spPr>
            <a:xfrm>
              <a:off x="7175525" y="1625315"/>
              <a:ext cx="1204800" cy="1204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1"/>
          <p:cNvGrpSpPr/>
          <p:nvPr/>
        </p:nvGrpSpPr>
        <p:grpSpPr>
          <a:xfrm>
            <a:off x="815602" y="1610543"/>
            <a:ext cx="990451" cy="990451"/>
            <a:chOff x="1288934" y="1608461"/>
            <a:chExt cx="797400" cy="797400"/>
          </a:xfrm>
        </p:grpSpPr>
        <p:sp>
          <p:nvSpPr>
            <p:cNvPr id="1011" name="Google Shape;1011;p81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2" name="Google Shape;1012;p81"/>
            <p:cNvCxnSpPr>
              <a:stCxn id="1011" idx="3"/>
              <a:endCxn id="1011" idx="7"/>
            </p:cNvCxnSpPr>
            <p:nvPr/>
          </p:nvCxnSpPr>
          <p:spPr>
            <a:xfrm flipH="1" rot="10800000">
              <a:off x="1405711" y="1725384"/>
              <a:ext cx="563700" cy="56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3" name="Google Shape;1013;p81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81"/>
          <p:cNvGrpSpPr/>
          <p:nvPr/>
        </p:nvGrpSpPr>
        <p:grpSpPr>
          <a:xfrm>
            <a:off x="5226269" y="1553796"/>
            <a:ext cx="1238622" cy="1238622"/>
            <a:chOff x="2870094" y="1609830"/>
            <a:chExt cx="997200" cy="997200"/>
          </a:xfrm>
        </p:grpSpPr>
        <p:sp>
          <p:nvSpPr>
            <p:cNvPr id="1015" name="Google Shape;1015;p81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6" name="Google Shape;1016;p81"/>
            <p:cNvCxnSpPr>
              <a:endCxn id="1015" idx="5"/>
            </p:cNvCxnSpPr>
            <p:nvPr/>
          </p:nvCxnSpPr>
          <p:spPr>
            <a:xfrm>
              <a:off x="3365457" y="2112093"/>
              <a:ext cx="355800" cy="34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7" name="Google Shape;1017;p81"/>
            <p:cNvSpPr/>
            <p:nvPr/>
          </p:nvSpPr>
          <p:spPr>
            <a:xfrm>
              <a:off x="3318436" y="2058171"/>
              <a:ext cx="100200" cy="1002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8" name="Google Shape;1018;p81"/>
          <p:cNvSpPr txBox="1"/>
          <p:nvPr>
            <p:ph idx="1" type="body"/>
          </p:nvPr>
        </p:nvSpPr>
        <p:spPr>
          <a:xfrm>
            <a:off x="1278650" y="2138188"/>
            <a:ext cx="515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1019" name="Google Shape;1019;p81"/>
          <p:cNvSpPr txBox="1"/>
          <p:nvPr>
            <p:ph idx="1" type="body"/>
          </p:nvPr>
        </p:nvSpPr>
        <p:spPr>
          <a:xfrm>
            <a:off x="5622002" y="2392189"/>
            <a:ext cx="515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020" name="Google Shape;1020;p81"/>
          <p:cNvSpPr txBox="1"/>
          <p:nvPr>
            <p:ph idx="1" type="body"/>
          </p:nvPr>
        </p:nvSpPr>
        <p:spPr>
          <a:xfrm>
            <a:off x="2097634" y="4084558"/>
            <a:ext cx="70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5.5 cm</a:t>
            </a:r>
            <a:endParaRPr sz="1600"/>
          </a:p>
        </p:txBody>
      </p:sp>
      <p:sp>
        <p:nvSpPr>
          <p:cNvPr id="1021" name="Google Shape;1021;p81"/>
          <p:cNvSpPr txBox="1"/>
          <p:nvPr>
            <p:ph idx="1" type="body"/>
          </p:nvPr>
        </p:nvSpPr>
        <p:spPr>
          <a:xfrm>
            <a:off x="5518695" y="3055089"/>
            <a:ext cx="700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grpSp>
        <p:nvGrpSpPr>
          <p:cNvPr id="1022" name="Google Shape;1022;p81"/>
          <p:cNvGrpSpPr/>
          <p:nvPr/>
        </p:nvGrpSpPr>
        <p:grpSpPr>
          <a:xfrm flipH="1">
            <a:off x="504810" y="3178207"/>
            <a:ext cx="1538345" cy="1443644"/>
            <a:chOff x="4731425" y="1166097"/>
            <a:chExt cx="1238503" cy="1162260"/>
          </a:xfrm>
        </p:grpSpPr>
        <p:grpSp>
          <p:nvGrpSpPr>
            <p:cNvPr id="1023" name="Google Shape;1023;p81"/>
            <p:cNvGrpSpPr/>
            <p:nvPr/>
          </p:nvGrpSpPr>
          <p:grpSpPr>
            <a:xfrm>
              <a:off x="4808928" y="1166097"/>
              <a:ext cx="1161000" cy="1162260"/>
              <a:chOff x="5183440" y="1623297"/>
              <a:chExt cx="1161000" cy="1162260"/>
            </a:xfrm>
          </p:grpSpPr>
          <p:sp>
            <p:nvSpPr>
              <p:cNvPr id="1024" name="Google Shape;1024;p81"/>
              <p:cNvSpPr/>
              <p:nvPr/>
            </p:nvSpPr>
            <p:spPr>
              <a:xfrm>
                <a:off x="5183441" y="2200857"/>
                <a:ext cx="584700" cy="584700"/>
              </a:xfrm>
              <a:prstGeom prst="rect">
                <a:avLst/>
              </a:prstGeom>
              <a:noFill/>
              <a:ln cap="flat" cmpd="sng" w="28575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5" name="Google Shape;1025;p81"/>
              <p:cNvSpPr/>
              <p:nvPr/>
            </p:nvSpPr>
            <p:spPr>
              <a:xfrm>
                <a:off x="5183440" y="1623297"/>
                <a:ext cx="1161000" cy="11610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6" name="Google Shape;1026;p81"/>
              <p:cNvSpPr/>
              <p:nvPr/>
            </p:nvSpPr>
            <p:spPr>
              <a:xfrm>
                <a:off x="5705506" y="2145362"/>
                <a:ext cx="116700" cy="116700"/>
              </a:xfrm>
              <a:prstGeom prst="ellipse">
                <a:avLst/>
              </a:pr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27" name="Google Shape;1027;p81"/>
            <p:cNvCxnSpPr/>
            <p:nvPr/>
          </p:nvCxnSpPr>
          <p:spPr>
            <a:xfrm rot="10800000">
              <a:off x="4731425" y="1744725"/>
              <a:ext cx="0" cy="57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028" name="Google Shape;1028;p81"/>
          <p:cNvCxnSpPr/>
          <p:nvPr/>
        </p:nvCxnSpPr>
        <p:spPr>
          <a:xfrm rot="10800000">
            <a:off x="5155087" y="3336227"/>
            <a:ext cx="1385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9" name="Google Shape;1029;p81"/>
          <p:cNvSpPr txBox="1"/>
          <p:nvPr>
            <p:ph idx="1" type="body"/>
          </p:nvPr>
        </p:nvSpPr>
        <p:spPr>
          <a:xfrm>
            <a:off x="2217425" y="1674563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r>
              <a:rPr lang="en-GB" sz="1800" u="sng"/>
              <a:t>    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030" name="Google Shape;1030;p81"/>
          <p:cNvSpPr txBox="1"/>
          <p:nvPr>
            <p:ph idx="1" type="body"/>
          </p:nvPr>
        </p:nvSpPr>
        <p:spPr>
          <a:xfrm>
            <a:off x="2217425" y="2258650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r>
              <a:rPr lang="en-GB" sz="1800" u="sng"/>
              <a:t>          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031" name="Google Shape;1031;p81"/>
          <p:cNvSpPr txBox="1"/>
          <p:nvPr>
            <p:ph idx="1" type="body"/>
          </p:nvPr>
        </p:nvSpPr>
        <p:spPr>
          <a:xfrm>
            <a:off x="6772279" y="1674563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endParaRPr sz="1800"/>
          </a:p>
        </p:txBody>
      </p:sp>
      <p:sp>
        <p:nvSpPr>
          <p:cNvPr id="1032" name="Google Shape;1032;p81"/>
          <p:cNvSpPr txBox="1"/>
          <p:nvPr>
            <p:ph idx="1" type="body"/>
          </p:nvPr>
        </p:nvSpPr>
        <p:spPr>
          <a:xfrm>
            <a:off x="6772279" y="2258650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endParaRPr sz="1800"/>
          </a:p>
        </p:txBody>
      </p:sp>
      <p:sp>
        <p:nvSpPr>
          <p:cNvPr id="1033" name="Google Shape;1033;p81"/>
          <p:cNvSpPr txBox="1"/>
          <p:nvPr>
            <p:ph idx="1" type="body"/>
          </p:nvPr>
        </p:nvSpPr>
        <p:spPr>
          <a:xfrm>
            <a:off x="2887196" y="3540238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endParaRPr sz="1800"/>
          </a:p>
        </p:txBody>
      </p:sp>
      <p:sp>
        <p:nvSpPr>
          <p:cNvPr id="1034" name="Google Shape;1034;p81"/>
          <p:cNvSpPr txBox="1"/>
          <p:nvPr>
            <p:ph idx="1" type="body"/>
          </p:nvPr>
        </p:nvSpPr>
        <p:spPr>
          <a:xfrm>
            <a:off x="2887196" y="4124325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endParaRPr sz="1800"/>
          </a:p>
        </p:txBody>
      </p:sp>
      <p:sp>
        <p:nvSpPr>
          <p:cNvPr id="1035" name="Google Shape;1035;p81"/>
          <p:cNvSpPr txBox="1"/>
          <p:nvPr>
            <p:ph idx="1" type="body"/>
          </p:nvPr>
        </p:nvSpPr>
        <p:spPr>
          <a:xfrm>
            <a:off x="6772279" y="3540238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endParaRPr sz="1800"/>
          </a:p>
        </p:txBody>
      </p:sp>
      <p:sp>
        <p:nvSpPr>
          <p:cNvPr id="1036" name="Google Shape;1036;p81"/>
          <p:cNvSpPr txBox="1"/>
          <p:nvPr>
            <p:ph idx="1" type="body"/>
          </p:nvPr>
        </p:nvSpPr>
        <p:spPr>
          <a:xfrm>
            <a:off x="6772279" y="4124325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endParaRPr sz="1800"/>
          </a:p>
        </p:txBody>
      </p:sp>
      <p:sp>
        <p:nvSpPr>
          <p:cNvPr id="1037" name="Google Shape;1037;p81"/>
          <p:cNvSpPr txBox="1"/>
          <p:nvPr>
            <p:ph idx="1" type="body"/>
          </p:nvPr>
        </p:nvSpPr>
        <p:spPr>
          <a:xfrm>
            <a:off x="332825" y="1495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38" name="Google Shape;1038;p81"/>
          <p:cNvSpPr txBox="1"/>
          <p:nvPr>
            <p:ph idx="1" type="body"/>
          </p:nvPr>
        </p:nvSpPr>
        <p:spPr>
          <a:xfrm>
            <a:off x="4828625" y="1495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</a:t>
            </a:r>
            <a:endParaRPr sz="1800"/>
          </a:p>
        </p:txBody>
      </p:sp>
      <p:sp>
        <p:nvSpPr>
          <p:cNvPr id="1039" name="Google Shape;1039;p81"/>
          <p:cNvSpPr txBox="1"/>
          <p:nvPr>
            <p:ph idx="1" type="body"/>
          </p:nvPr>
        </p:nvSpPr>
        <p:spPr>
          <a:xfrm>
            <a:off x="324009" y="2968329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</a:t>
            </a:r>
            <a:endParaRPr sz="1800"/>
          </a:p>
        </p:txBody>
      </p:sp>
      <p:sp>
        <p:nvSpPr>
          <p:cNvPr id="1040" name="Google Shape;1040;p81"/>
          <p:cNvSpPr txBox="1"/>
          <p:nvPr>
            <p:ph idx="1" type="body"/>
          </p:nvPr>
        </p:nvSpPr>
        <p:spPr>
          <a:xfrm>
            <a:off x="4831987" y="303922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2"/>
          <p:cNvSpPr txBox="1"/>
          <p:nvPr>
            <p:ph idx="1" type="body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Calculate the circumference of each circle. </a:t>
            </a:r>
            <a:br>
              <a:rPr lang="en-GB" sz="1800"/>
            </a:br>
            <a:r>
              <a:rPr lang="en-GB" sz="1800"/>
              <a:t>    Give each answer rounded to 1 decimal place. </a:t>
            </a:r>
            <a:endParaRPr sz="1800"/>
          </a:p>
        </p:txBody>
      </p:sp>
      <p:sp>
        <p:nvSpPr>
          <p:cNvPr id="1046" name="Google Shape;1046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1047" name="Google Shape;1047;p82"/>
          <p:cNvSpPr/>
          <p:nvPr/>
        </p:nvSpPr>
        <p:spPr>
          <a:xfrm>
            <a:off x="492075" y="1868169"/>
            <a:ext cx="1604700" cy="1605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82"/>
          <p:cNvCxnSpPr/>
          <p:nvPr/>
        </p:nvCxnSpPr>
        <p:spPr>
          <a:xfrm>
            <a:off x="547020" y="2380972"/>
            <a:ext cx="1497900" cy="57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9" name="Google Shape;1049;p82"/>
          <p:cNvSpPr/>
          <p:nvPr/>
        </p:nvSpPr>
        <p:spPr>
          <a:xfrm>
            <a:off x="1213477" y="2589567"/>
            <a:ext cx="161700" cy="1617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0" name="Google Shape;1050;p82"/>
          <p:cNvCxnSpPr>
            <a:endCxn id="1047" idx="7"/>
          </p:cNvCxnSpPr>
          <p:nvPr/>
        </p:nvCxnSpPr>
        <p:spPr>
          <a:xfrm flipH="1" rot="10800000">
            <a:off x="975572" y="2103216"/>
            <a:ext cx="886200" cy="43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1" name="Google Shape;1051;p82"/>
          <p:cNvSpPr/>
          <p:nvPr/>
        </p:nvSpPr>
        <p:spPr>
          <a:xfrm>
            <a:off x="2763224" y="1859279"/>
            <a:ext cx="1604700" cy="1605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2" name="Google Shape;1052;p82"/>
          <p:cNvCxnSpPr>
            <a:stCxn id="1051" idx="2"/>
            <a:endCxn id="1051" idx="7"/>
          </p:cNvCxnSpPr>
          <p:nvPr/>
        </p:nvCxnSpPr>
        <p:spPr>
          <a:xfrm flipH="1" rot="10800000">
            <a:off x="2763224" y="2094179"/>
            <a:ext cx="1369800" cy="56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3" name="Google Shape;1053;p82"/>
          <p:cNvSpPr/>
          <p:nvPr/>
        </p:nvSpPr>
        <p:spPr>
          <a:xfrm>
            <a:off x="3484627" y="2580677"/>
            <a:ext cx="161700" cy="1617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4" name="Google Shape;1054;p82"/>
          <p:cNvCxnSpPr/>
          <p:nvPr/>
        </p:nvCxnSpPr>
        <p:spPr>
          <a:xfrm rot="10800000">
            <a:off x="3561216" y="2661038"/>
            <a:ext cx="21600" cy="80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5" name="Google Shape;1055;p82"/>
          <p:cNvSpPr/>
          <p:nvPr/>
        </p:nvSpPr>
        <p:spPr>
          <a:xfrm>
            <a:off x="5047024" y="1889151"/>
            <a:ext cx="1434300" cy="14343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82"/>
          <p:cNvCxnSpPr>
            <a:stCxn id="1055" idx="1"/>
            <a:endCxn id="1057" idx="1"/>
          </p:cNvCxnSpPr>
          <p:nvPr/>
        </p:nvCxnSpPr>
        <p:spPr>
          <a:xfrm>
            <a:off x="5257072" y="2099200"/>
            <a:ext cx="456000" cy="45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7" name="Google Shape;1057;p82"/>
          <p:cNvSpPr/>
          <p:nvPr/>
        </p:nvSpPr>
        <p:spPr>
          <a:xfrm>
            <a:off x="5692024" y="2534135"/>
            <a:ext cx="144300" cy="1443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8" name="Google Shape;1058;p82"/>
          <p:cNvCxnSpPr>
            <a:stCxn id="1055" idx="6"/>
            <a:endCxn id="1055" idx="2"/>
          </p:cNvCxnSpPr>
          <p:nvPr/>
        </p:nvCxnSpPr>
        <p:spPr>
          <a:xfrm rot="10800000">
            <a:off x="5047024" y="2606301"/>
            <a:ext cx="1434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9" name="Google Shape;1059;p82"/>
          <p:cNvGrpSpPr/>
          <p:nvPr/>
        </p:nvGrpSpPr>
        <p:grpSpPr>
          <a:xfrm>
            <a:off x="7138227" y="1874264"/>
            <a:ext cx="1528154" cy="1533311"/>
            <a:chOff x="7134875" y="3138800"/>
            <a:chExt cx="1336500" cy="1340776"/>
          </a:xfrm>
        </p:grpSpPr>
        <p:grpSp>
          <p:nvGrpSpPr>
            <p:cNvPr id="1060" name="Google Shape;1060;p82"/>
            <p:cNvGrpSpPr/>
            <p:nvPr/>
          </p:nvGrpSpPr>
          <p:grpSpPr>
            <a:xfrm>
              <a:off x="7134875" y="3138800"/>
              <a:ext cx="1336350" cy="1340776"/>
              <a:chOff x="6794225" y="3247925"/>
              <a:chExt cx="1336350" cy="1340776"/>
            </a:xfrm>
          </p:grpSpPr>
          <p:sp>
            <p:nvSpPr>
              <p:cNvPr id="1061" name="Google Shape;1061;p82"/>
              <p:cNvSpPr/>
              <p:nvPr/>
            </p:nvSpPr>
            <p:spPr>
              <a:xfrm>
                <a:off x="679422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2" name="Google Shape;1062;p82"/>
              <p:cNvSpPr/>
              <p:nvPr/>
            </p:nvSpPr>
            <p:spPr>
              <a:xfrm>
                <a:off x="712827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3" name="Google Shape;1063;p82"/>
              <p:cNvSpPr/>
              <p:nvPr/>
            </p:nvSpPr>
            <p:spPr>
              <a:xfrm>
                <a:off x="746232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4" name="Google Shape;1064;p82"/>
              <p:cNvSpPr/>
              <p:nvPr/>
            </p:nvSpPr>
            <p:spPr>
              <a:xfrm>
                <a:off x="779637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5" name="Google Shape;1065;p82"/>
              <p:cNvSpPr/>
              <p:nvPr/>
            </p:nvSpPr>
            <p:spPr>
              <a:xfrm>
                <a:off x="679422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6" name="Google Shape;1066;p82"/>
              <p:cNvSpPr/>
              <p:nvPr/>
            </p:nvSpPr>
            <p:spPr>
              <a:xfrm>
                <a:off x="712827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7" name="Google Shape;1067;p82"/>
              <p:cNvSpPr/>
              <p:nvPr/>
            </p:nvSpPr>
            <p:spPr>
              <a:xfrm>
                <a:off x="746232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8" name="Google Shape;1068;p82"/>
              <p:cNvSpPr/>
              <p:nvPr/>
            </p:nvSpPr>
            <p:spPr>
              <a:xfrm>
                <a:off x="779637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9" name="Google Shape;1069;p82"/>
              <p:cNvSpPr/>
              <p:nvPr/>
            </p:nvSpPr>
            <p:spPr>
              <a:xfrm>
                <a:off x="679422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0" name="Google Shape;1070;p82"/>
              <p:cNvSpPr/>
              <p:nvPr/>
            </p:nvSpPr>
            <p:spPr>
              <a:xfrm>
                <a:off x="712827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1" name="Google Shape;1071;p82"/>
              <p:cNvSpPr/>
              <p:nvPr/>
            </p:nvSpPr>
            <p:spPr>
              <a:xfrm>
                <a:off x="746232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2" name="Google Shape;1072;p82"/>
              <p:cNvSpPr/>
              <p:nvPr/>
            </p:nvSpPr>
            <p:spPr>
              <a:xfrm>
                <a:off x="779637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3" name="Google Shape;1073;p82"/>
              <p:cNvSpPr/>
              <p:nvPr/>
            </p:nvSpPr>
            <p:spPr>
              <a:xfrm>
                <a:off x="679422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4" name="Google Shape;1074;p82"/>
              <p:cNvSpPr/>
              <p:nvPr/>
            </p:nvSpPr>
            <p:spPr>
              <a:xfrm>
                <a:off x="712827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5" name="Google Shape;1075;p82"/>
              <p:cNvSpPr/>
              <p:nvPr/>
            </p:nvSpPr>
            <p:spPr>
              <a:xfrm>
                <a:off x="746232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6" name="Google Shape;1076;p82"/>
              <p:cNvSpPr/>
              <p:nvPr/>
            </p:nvSpPr>
            <p:spPr>
              <a:xfrm>
                <a:off x="779637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77" name="Google Shape;1077;p82"/>
            <p:cNvSpPr/>
            <p:nvPr/>
          </p:nvSpPr>
          <p:spPr>
            <a:xfrm>
              <a:off x="7134875" y="3141013"/>
              <a:ext cx="1336500" cy="13365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8" name="Google Shape;1078;p82"/>
          <p:cNvSpPr txBox="1"/>
          <p:nvPr>
            <p:ph idx="1" type="body"/>
          </p:nvPr>
        </p:nvSpPr>
        <p:spPr>
          <a:xfrm rot="1320698">
            <a:off x="864768" y="2763267"/>
            <a:ext cx="986940" cy="37954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22.8 m</a:t>
            </a:r>
            <a:endParaRPr sz="1600"/>
          </a:p>
        </p:txBody>
      </p:sp>
      <p:sp>
        <p:nvSpPr>
          <p:cNvPr id="1079" name="Google Shape;1079;p82"/>
          <p:cNvSpPr txBox="1"/>
          <p:nvPr>
            <p:ph idx="1" type="body"/>
          </p:nvPr>
        </p:nvSpPr>
        <p:spPr>
          <a:xfrm rot="-1569419">
            <a:off x="856971" y="2027553"/>
            <a:ext cx="885371" cy="37915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080" name="Google Shape;1080;p82"/>
          <p:cNvSpPr txBox="1"/>
          <p:nvPr>
            <p:ph idx="1" type="body"/>
          </p:nvPr>
        </p:nvSpPr>
        <p:spPr>
          <a:xfrm rot="-1334160">
            <a:off x="2977740" y="2061403"/>
            <a:ext cx="888689" cy="37983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 m</a:t>
            </a:r>
            <a:endParaRPr sz="1600"/>
          </a:p>
        </p:txBody>
      </p:sp>
      <p:sp>
        <p:nvSpPr>
          <p:cNvPr id="1081" name="Google Shape;1081;p82"/>
          <p:cNvSpPr txBox="1"/>
          <p:nvPr>
            <p:ph idx="1" type="body"/>
          </p:nvPr>
        </p:nvSpPr>
        <p:spPr>
          <a:xfrm rot="2602">
            <a:off x="3579242" y="2837514"/>
            <a:ext cx="7926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11.4 m</a:t>
            </a:r>
            <a:endParaRPr sz="1600"/>
          </a:p>
        </p:txBody>
      </p:sp>
      <p:sp>
        <p:nvSpPr>
          <p:cNvPr id="1082" name="Google Shape;1082;p82"/>
          <p:cNvSpPr txBox="1"/>
          <p:nvPr>
            <p:ph idx="1" type="body"/>
          </p:nvPr>
        </p:nvSpPr>
        <p:spPr>
          <a:xfrm rot="1606">
            <a:off x="5569036" y="2640807"/>
            <a:ext cx="642000" cy="3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8.2 m</a:t>
            </a:r>
            <a:endParaRPr sz="1600"/>
          </a:p>
        </p:txBody>
      </p:sp>
      <p:sp>
        <p:nvSpPr>
          <p:cNvPr id="1083" name="Google Shape;1083;p82"/>
          <p:cNvSpPr txBox="1"/>
          <p:nvPr>
            <p:ph idx="1" type="body"/>
          </p:nvPr>
        </p:nvSpPr>
        <p:spPr>
          <a:xfrm rot="2700000">
            <a:off x="5297551" y="2131771"/>
            <a:ext cx="642336" cy="33898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4.1 m</a:t>
            </a:r>
            <a:endParaRPr sz="1600"/>
          </a:p>
        </p:txBody>
      </p:sp>
      <p:sp>
        <p:nvSpPr>
          <p:cNvPr id="1084" name="Google Shape;1084;p82"/>
          <p:cNvSpPr txBox="1"/>
          <p:nvPr>
            <p:ph idx="1" type="body"/>
          </p:nvPr>
        </p:nvSpPr>
        <p:spPr>
          <a:xfrm rot="1930">
            <a:off x="7134836" y="3492033"/>
            <a:ext cx="534300" cy="3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cxnSp>
        <p:nvCxnSpPr>
          <p:cNvPr id="1085" name="Google Shape;1085;p82"/>
          <p:cNvCxnSpPr/>
          <p:nvPr/>
        </p:nvCxnSpPr>
        <p:spPr>
          <a:xfrm rot="10800000">
            <a:off x="7138200" y="3478250"/>
            <a:ext cx="38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6" name="Google Shape;1086;p82"/>
          <p:cNvSpPr txBox="1"/>
          <p:nvPr>
            <p:ph idx="1" type="body"/>
          </p:nvPr>
        </p:nvSpPr>
        <p:spPr>
          <a:xfrm>
            <a:off x="332825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087" name="Google Shape;1087;p82"/>
          <p:cNvSpPr txBox="1"/>
          <p:nvPr>
            <p:ph idx="1" type="body"/>
          </p:nvPr>
        </p:nvSpPr>
        <p:spPr>
          <a:xfrm>
            <a:off x="2542625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088" name="Google Shape;1088;p82"/>
          <p:cNvSpPr txBox="1"/>
          <p:nvPr>
            <p:ph idx="1" type="body"/>
          </p:nvPr>
        </p:nvSpPr>
        <p:spPr>
          <a:xfrm>
            <a:off x="4845634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089" name="Google Shape;1089;p82"/>
          <p:cNvSpPr txBox="1"/>
          <p:nvPr>
            <p:ph idx="1" type="body"/>
          </p:nvPr>
        </p:nvSpPr>
        <p:spPr>
          <a:xfrm>
            <a:off x="6903374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sp>
        <p:nvSpPr>
          <p:cNvPr id="1095" name="Google Shape;1095;p83"/>
          <p:cNvSpPr txBox="1"/>
          <p:nvPr>
            <p:ph idx="1" type="body"/>
          </p:nvPr>
        </p:nvSpPr>
        <p:spPr>
          <a:xfrm>
            <a:off x="324000" y="697257"/>
            <a:ext cx="8237700" cy="6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Calculate the circumference of each circle. </a:t>
            </a:r>
            <a:br>
              <a:rPr lang="en-GB" sz="1800"/>
            </a:br>
            <a:r>
              <a:rPr lang="en-GB" sz="1800"/>
              <a:t>    Give each answer: i)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; ii) rounded to 3 significant figures.</a:t>
            </a:r>
            <a:endParaRPr sz="1800"/>
          </a:p>
        </p:txBody>
      </p:sp>
      <p:grpSp>
        <p:nvGrpSpPr>
          <p:cNvPr id="1096" name="Google Shape;1096;p83"/>
          <p:cNvGrpSpPr/>
          <p:nvPr/>
        </p:nvGrpSpPr>
        <p:grpSpPr>
          <a:xfrm>
            <a:off x="5155428" y="3436702"/>
            <a:ext cx="1379616" cy="1379925"/>
            <a:chOff x="7175525" y="1625315"/>
            <a:chExt cx="1204800" cy="1205175"/>
          </a:xfrm>
        </p:grpSpPr>
        <p:sp>
          <p:nvSpPr>
            <p:cNvPr id="1097" name="Google Shape;1097;p83"/>
            <p:cNvSpPr/>
            <p:nvPr/>
          </p:nvSpPr>
          <p:spPr>
            <a:xfrm>
              <a:off x="7175525" y="1625690"/>
              <a:ext cx="1204800" cy="12048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3"/>
            <p:cNvSpPr/>
            <p:nvPr/>
          </p:nvSpPr>
          <p:spPr>
            <a:xfrm>
              <a:off x="7175525" y="1625315"/>
              <a:ext cx="1204800" cy="1204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83"/>
          <p:cNvGrpSpPr/>
          <p:nvPr/>
        </p:nvGrpSpPr>
        <p:grpSpPr>
          <a:xfrm>
            <a:off x="815602" y="1610543"/>
            <a:ext cx="990451" cy="990451"/>
            <a:chOff x="1288934" y="1608461"/>
            <a:chExt cx="797400" cy="797400"/>
          </a:xfrm>
        </p:grpSpPr>
        <p:sp>
          <p:nvSpPr>
            <p:cNvPr id="1100" name="Google Shape;1100;p83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1" name="Google Shape;1101;p83"/>
            <p:cNvCxnSpPr>
              <a:stCxn id="1100" idx="3"/>
              <a:endCxn id="1100" idx="7"/>
            </p:cNvCxnSpPr>
            <p:nvPr/>
          </p:nvCxnSpPr>
          <p:spPr>
            <a:xfrm flipH="1" rot="10800000">
              <a:off x="1405711" y="1725384"/>
              <a:ext cx="563700" cy="56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2" name="Google Shape;1102;p83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3" name="Google Shape;1103;p83"/>
          <p:cNvGrpSpPr/>
          <p:nvPr/>
        </p:nvGrpSpPr>
        <p:grpSpPr>
          <a:xfrm>
            <a:off x="5226269" y="1553796"/>
            <a:ext cx="1238622" cy="1238622"/>
            <a:chOff x="2870094" y="1609830"/>
            <a:chExt cx="997200" cy="997200"/>
          </a:xfrm>
        </p:grpSpPr>
        <p:sp>
          <p:nvSpPr>
            <p:cNvPr id="1104" name="Google Shape;1104;p83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5" name="Google Shape;1105;p83"/>
            <p:cNvCxnSpPr>
              <a:endCxn id="1104" idx="5"/>
            </p:cNvCxnSpPr>
            <p:nvPr/>
          </p:nvCxnSpPr>
          <p:spPr>
            <a:xfrm>
              <a:off x="3365457" y="2112093"/>
              <a:ext cx="355800" cy="34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6" name="Google Shape;1106;p83"/>
            <p:cNvSpPr/>
            <p:nvPr/>
          </p:nvSpPr>
          <p:spPr>
            <a:xfrm>
              <a:off x="3318436" y="2058171"/>
              <a:ext cx="100200" cy="1002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7" name="Google Shape;1107;p83"/>
          <p:cNvSpPr txBox="1"/>
          <p:nvPr>
            <p:ph idx="1" type="body"/>
          </p:nvPr>
        </p:nvSpPr>
        <p:spPr>
          <a:xfrm>
            <a:off x="1278650" y="2138188"/>
            <a:ext cx="515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1108" name="Google Shape;1108;p83"/>
          <p:cNvSpPr txBox="1"/>
          <p:nvPr>
            <p:ph idx="1" type="body"/>
          </p:nvPr>
        </p:nvSpPr>
        <p:spPr>
          <a:xfrm>
            <a:off x="5622002" y="2392189"/>
            <a:ext cx="515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09" name="Google Shape;1109;p83"/>
          <p:cNvSpPr txBox="1"/>
          <p:nvPr>
            <p:ph idx="1" type="body"/>
          </p:nvPr>
        </p:nvSpPr>
        <p:spPr>
          <a:xfrm>
            <a:off x="2097634" y="4084558"/>
            <a:ext cx="70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5.5 cm</a:t>
            </a:r>
            <a:endParaRPr sz="1600"/>
          </a:p>
        </p:txBody>
      </p:sp>
      <p:sp>
        <p:nvSpPr>
          <p:cNvPr id="1110" name="Google Shape;1110;p83"/>
          <p:cNvSpPr txBox="1"/>
          <p:nvPr>
            <p:ph idx="1" type="body"/>
          </p:nvPr>
        </p:nvSpPr>
        <p:spPr>
          <a:xfrm>
            <a:off x="5518695" y="3055089"/>
            <a:ext cx="700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grpSp>
        <p:nvGrpSpPr>
          <p:cNvPr id="1111" name="Google Shape;1111;p83"/>
          <p:cNvGrpSpPr/>
          <p:nvPr/>
        </p:nvGrpSpPr>
        <p:grpSpPr>
          <a:xfrm flipH="1">
            <a:off x="504810" y="3178207"/>
            <a:ext cx="1538345" cy="1443644"/>
            <a:chOff x="4731425" y="1166097"/>
            <a:chExt cx="1238503" cy="1162260"/>
          </a:xfrm>
        </p:grpSpPr>
        <p:grpSp>
          <p:nvGrpSpPr>
            <p:cNvPr id="1112" name="Google Shape;1112;p83"/>
            <p:cNvGrpSpPr/>
            <p:nvPr/>
          </p:nvGrpSpPr>
          <p:grpSpPr>
            <a:xfrm>
              <a:off x="4808928" y="1166097"/>
              <a:ext cx="1161000" cy="1162260"/>
              <a:chOff x="5183440" y="1623297"/>
              <a:chExt cx="1161000" cy="1162260"/>
            </a:xfrm>
          </p:grpSpPr>
          <p:sp>
            <p:nvSpPr>
              <p:cNvPr id="1113" name="Google Shape;1113;p83"/>
              <p:cNvSpPr/>
              <p:nvPr/>
            </p:nvSpPr>
            <p:spPr>
              <a:xfrm>
                <a:off x="5183441" y="2200857"/>
                <a:ext cx="584700" cy="584700"/>
              </a:xfrm>
              <a:prstGeom prst="rect">
                <a:avLst/>
              </a:prstGeom>
              <a:noFill/>
              <a:ln cap="flat" cmpd="sng" w="28575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14" name="Google Shape;1114;p83"/>
              <p:cNvSpPr/>
              <p:nvPr/>
            </p:nvSpPr>
            <p:spPr>
              <a:xfrm>
                <a:off x="5183440" y="1623297"/>
                <a:ext cx="1161000" cy="11610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15" name="Google Shape;1115;p83"/>
              <p:cNvSpPr/>
              <p:nvPr/>
            </p:nvSpPr>
            <p:spPr>
              <a:xfrm>
                <a:off x="5705506" y="2145362"/>
                <a:ext cx="116700" cy="116700"/>
              </a:xfrm>
              <a:prstGeom prst="ellipse">
                <a:avLst/>
              </a:pr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16" name="Google Shape;1116;p83"/>
            <p:cNvCxnSpPr/>
            <p:nvPr/>
          </p:nvCxnSpPr>
          <p:spPr>
            <a:xfrm rot="10800000">
              <a:off x="4731425" y="1744725"/>
              <a:ext cx="0" cy="57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117" name="Google Shape;1117;p83"/>
          <p:cNvCxnSpPr/>
          <p:nvPr/>
        </p:nvCxnSpPr>
        <p:spPr>
          <a:xfrm rot="10800000">
            <a:off x="5155087" y="3336227"/>
            <a:ext cx="1385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8" name="Google Shape;1118;p83"/>
          <p:cNvSpPr txBox="1"/>
          <p:nvPr>
            <p:ph idx="1" type="body"/>
          </p:nvPr>
        </p:nvSpPr>
        <p:spPr>
          <a:xfrm>
            <a:off x="2217425" y="1674563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119" name="Google Shape;1119;p83"/>
          <p:cNvSpPr txBox="1"/>
          <p:nvPr>
            <p:ph idx="1" type="body"/>
          </p:nvPr>
        </p:nvSpPr>
        <p:spPr>
          <a:xfrm>
            <a:off x="2217425" y="2258650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28.3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120" name="Google Shape;1120;p83"/>
          <p:cNvSpPr txBox="1"/>
          <p:nvPr>
            <p:ph idx="1" type="body"/>
          </p:nvPr>
        </p:nvSpPr>
        <p:spPr>
          <a:xfrm>
            <a:off x="6772279" y="1674563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21" name="Google Shape;1121;p83"/>
          <p:cNvSpPr txBox="1"/>
          <p:nvPr>
            <p:ph idx="1" type="body"/>
          </p:nvPr>
        </p:nvSpPr>
        <p:spPr>
          <a:xfrm>
            <a:off x="6772279" y="2258650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31.4 cm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22" name="Google Shape;1122;p83"/>
          <p:cNvSpPr txBox="1"/>
          <p:nvPr>
            <p:ph idx="1" type="body"/>
          </p:nvPr>
        </p:nvSpPr>
        <p:spPr>
          <a:xfrm>
            <a:off x="2887196" y="3540238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123" name="Google Shape;1123;p83"/>
          <p:cNvSpPr txBox="1"/>
          <p:nvPr>
            <p:ph idx="1" type="body"/>
          </p:nvPr>
        </p:nvSpPr>
        <p:spPr>
          <a:xfrm>
            <a:off x="2887196" y="4124325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34.6 cm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124" name="Google Shape;1124;p83"/>
          <p:cNvSpPr txBox="1"/>
          <p:nvPr>
            <p:ph idx="1" type="body"/>
          </p:nvPr>
        </p:nvSpPr>
        <p:spPr>
          <a:xfrm>
            <a:off x="6772279" y="3541338"/>
            <a:ext cx="1211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125" name="Google Shape;1125;p83"/>
          <p:cNvSpPr txBox="1"/>
          <p:nvPr>
            <p:ph idx="1" type="body"/>
          </p:nvPr>
        </p:nvSpPr>
        <p:spPr>
          <a:xfrm>
            <a:off x="6772279" y="4124325"/>
            <a:ext cx="13323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37.7 cm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26" name="Google Shape;1126;p83"/>
          <p:cNvSpPr txBox="1"/>
          <p:nvPr>
            <p:ph idx="1" type="body"/>
          </p:nvPr>
        </p:nvSpPr>
        <p:spPr>
          <a:xfrm>
            <a:off x="332825" y="1495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127" name="Google Shape;1127;p83"/>
          <p:cNvSpPr txBox="1"/>
          <p:nvPr>
            <p:ph idx="1" type="body"/>
          </p:nvPr>
        </p:nvSpPr>
        <p:spPr>
          <a:xfrm>
            <a:off x="4828625" y="1495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128" name="Google Shape;1128;p83"/>
          <p:cNvSpPr txBox="1"/>
          <p:nvPr>
            <p:ph idx="1" type="body"/>
          </p:nvPr>
        </p:nvSpPr>
        <p:spPr>
          <a:xfrm>
            <a:off x="324009" y="2968329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129" name="Google Shape;1129;p83"/>
          <p:cNvSpPr txBox="1"/>
          <p:nvPr>
            <p:ph idx="1" type="body"/>
          </p:nvPr>
        </p:nvSpPr>
        <p:spPr>
          <a:xfrm>
            <a:off x="4831987" y="303922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4"/>
          <p:cNvSpPr txBox="1"/>
          <p:nvPr>
            <p:ph idx="1" type="body"/>
          </p:nvPr>
        </p:nvSpPr>
        <p:spPr>
          <a:xfrm>
            <a:off x="324000" y="759300"/>
            <a:ext cx="82377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Calculate the circumference of each circle. </a:t>
            </a:r>
            <a:br>
              <a:rPr lang="en-GB" sz="1800"/>
            </a:br>
            <a:r>
              <a:rPr lang="en-GB" sz="1800"/>
              <a:t>    Give each answer rounded to 1 decimal place. </a:t>
            </a:r>
            <a:endParaRPr sz="1800"/>
          </a:p>
        </p:txBody>
      </p:sp>
      <p:sp>
        <p:nvSpPr>
          <p:cNvPr id="1135" name="Google Shape;113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circumference</a:t>
            </a:r>
            <a:endParaRPr/>
          </a:p>
        </p:txBody>
      </p:sp>
      <p:grpSp>
        <p:nvGrpSpPr>
          <p:cNvPr id="1136" name="Google Shape;1136;p84"/>
          <p:cNvGrpSpPr/>
          <p:nvPr/>
        </p:nvGrpSpPr>
        <p:grpSpPr>
          <a:xfrm>
            <a:off x="7138227" y="1874264"/>
            <a:ext cx="1528154" cy="1533311"/>
            <a:chOff x="7134875" y="3138800"/>
            <a:chExt cx="1336500" cy="1340776"/>
          </a:xfrm>
        </p:grpSpPr>
        <p:grpSp>
          <p:nvGrpSpPr>
            <p:cNvPr id="1137" name="Google Shape;1137;p84"/>
            <p:cNvGrpSpPr/>
            <p:nvPr/>
          </p:nvGrpSpPr>
          <p:grpSpPr>
            <a:xfrm>
              <a:off x="7134875" y="3138800"/>
              <a:ext cx="1336350" cy="1340776"/>
              <a:chOff x="6794225" y="3247925"/>
              <a:chExt cx="1336350" cy="1340776"/>
            </a:xfrm>
          </p:grpSpPr>
          <p:sp>
            <p:nvSpPr>
              <p:cNvPr id="1138" name="Google Shape;1138;p84"/>
              <p:cNvSpPr/>
              <p:nvPr/>
            </p:nvSpPr>
            <p:spPr>
              <a:xfrm>
                <a:off x="679422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9" name="Google Shape;1139;p84"/>
              <p:cNvSpPr/>
              <p:nvPr/>
            </p:nvSpPr>
            <p:spPr>
              <a:xfrm>
                <a:off x="712827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0" name="Google Shape;1140;p84"/>
              <p:cNvSpPr/>
              <p:nvPr/>
            </p:nvSpPr>
            <p:spPr>
              <a:xfrm>
                <a:off x="746232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1" name="Google Shape;1141;p84"/>
              <p:cNvSpPr/>
              <p:nvPr/>
            </p:nvSpPr>
            <p:spPr>
              <a:xfrm>
                <a:off x="7796375" y="3247925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2" name="Google Shape;1142;p84"/>
              <p:cNvSpPr/>
              <p:nvPr/>
            </p:nvSpPr>
            <p:spPr>
              <a:xfrm>
                <a:off x="679422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3" name="Google Shape;1143;p84"/>
              <p:cNvSpPr/>
              <p:nvPr/>
            </p:nvSpPr>
            <p:spPr>
              <a:xfrm>
                <a:off x="712827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4" name="Google Shape;1144;p84"/>
              <p:cNvSpPr/>
              <p:nvPr/>
            </p:nvSpPr>
            <p:spPr>
              <a:xfrm>
                <a:off x="746232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5" name="Google Shape;1145;p84"/>
              <p:cNvSpPr/>
              <p:nvPr/>
            </p:nvSpPr>
            <p:spPr>
              <a:xfrm>
                <a:off x="7796375" y="3584340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6" name="Google Shape;1146;p84"/>
              <p:cNvSpPr/>
              <p:nvPr/>
            </p:nvSpPr>
            <p:spPr>
              <a:xfrm>
                <a:off x="679422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7" name="Google Shape;1147;p84"/>
              <p:cNvSpPr/>
              <p:nvPr/>
            </p:nvSpPr>
            <p:spPr>
              <a:xfrm>
                <a:off x="712827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8" name="Google Shape;1148;p84"/>
              <p:cNvSpPr/>
              <p:nvPr/>
            </p:nvSpPr>
            <p:spPr>
              <a:xfrm>
                <a:off x="746232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9" name="Google Shape;1149;p84"/>
              <p:cNvSpPr/>
              <p:nvPr/>
            </p:nvSpPr>
            <p:spPr>
              <a:xfrm>
                <a:off x="7796375" y="3918386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0" name="Google Shape;1150;p84"/>
              <p:cNvSpPr/>
              <p:nvPr/>
            </p:nvSpPr>
            <p:spPr>
              <a:xfrm>
                <a:off x="679422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1" name="Google Shape;1151;p84"/>
              <p:cNvSpPr/>
              <p:nvPr/>
            </p:nvSpPr>
            <p:spPr>
              <a:xfrm>
                <a:off x="712827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2" name="Google Shape;1152;p84"/>
              <p:cNvSpPr/>
              <p:nvPr/>
            </p:nvSpPr>
            <p:spPr>
              <a:xfrm>
                <a:off x="746232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3" name="Google Shape;1153;p84"/>
              <p:cNvSpPr/>
              <p:nvPr/>
            </p:nvSpPr>
            <p:spPr>
              <a:xfrm>
                <a:off x="7796375" y="4254801"/>
                <a:ext cx="334200" cy="3339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54" name="Google Shape;1154;p84"/>
            <p:cNvSpPr/>
            <p:nvPr/>
          </p:nvSpPr>
          <p:spPr>
            <a:xfrm>
              <a:off x="7134875" y="3141013"/>
              <a:ext cx="1336500" cy="13365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5" name="Google Shape;1155;p84"/>
          <p:cNvSpPr txBox="1"/>
          <p:nvPr>
            <p:ph idx="1" type="body"/>
          </p:nvPr>
        </p:nvSpPr>
        <p:spPr>
          <a:xfrm rot="1930">
            <a:off x="7134836" y="3492033"/>
            <a:ext cx="534300" cy="3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cxnSp>
        <p:nvCxnSpPr>
          <p:cNvPr id="1156" name="Google Shape;1156;p84"/>
          <p:cNvCxnSpPr/>
          <p:nvPr/>
        </p:nvCxnSpPr>
        <p:spPr>
          <a:xfrm rot="10800000">
            <a:off x="7138200" y="3478250"/>
            <a:ext cx="38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7" name="Google Shape;1157;p84"/>
          <p:cNvSpPr txBox="1"/>
          <p:nvPr>
            <p:ph idx="1" type="body"/>
          </p:nvPr>
        </p:nvSpPr>
        <p:spPr>
          <a:xfrm>
            <a:off x="6903374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endParaRPr sz="1600"/>
          </a:p>
        </p:txBody>
      </p:sp>
      <p:sp>
        <p:nvSpPr>
          <p:cNvPr id="1158" name="Google Shape;1158;p84"/>
          <p:cNvSpPr txBox="1"/>
          <p:nvPr>
            <p:ph idx="1" type="body"/>
          </p:nvPr>
        </p:nvSpPr>
        <p:spPr>
          <a:xfrm>
            <a:off x="901304" y="3869025"/>
            <a:ext cx="850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71.6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4"/>
          <p:cNvSpPr txBox="1"/>
          <p:nvPr>
            <p:ph idx="1" type="body"/>
          </p:nvPr>
        </p:nvSpPr>
        <p:spPr>
          <a:xfrm>
            <a:off x="3230166" y="3869025"/>
            <a:ext cx="850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71.6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4"/>
          <p:cNvSpPr txBox="1"/>
          <p:nvPr>
            <p:ph idx="1" type="body"/>
          </p:nvPr>
        </p:nvSpPr>
        <p:spPr>
          <a:xfrm>
            <a:off x="5363766" y="3869025"/>
            <a:ext cx="850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25.8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4"/>
          <p:cNvSpPr txBox="1"/>
          <p:nvPr>
            <p:ph idx="1" type="body"/>
          </p:nvPr>
        </p:nvSpPr>
        <p:spPr>
          <a:xfrm>
            <a:off x="7573566" y="3869025"/>
            <a:ext cx="850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84"/>
          <p:cNvSpPr/>
          <p:nvPr/>
        </p:nvSpPr>
        <p:spPr>
          <a:xfrm>
            <a:off x="492075" y="1868169"/>
            <a:ext cx="1604700" cy="1605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3" name="Google Shape;1163;p84"/>
          <p:cNvCxnSpPr/>
          <p:nvPr/>
        </p:nvCxnSpPr>
        <p:spPr>
          <a:xfrm>
            <a:off x="547020" y="2380972"/>
            <a:ext cx="1497900" cy="57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4" name="Google Shape;1164;p84"/>
          <p:cNvSpPr/>
          <p:nvPr/>
        </p:nvSpPr>
        <p:spPr>
          <a:xfrm>
            <a:off x="1213477" y="2589567"/>
            <a:ext cx="161700" cy="1617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84"/>
          <p:cNvCxnSpPr>
            <a:endCxn id="1162" idx="7"/>
          </p:cNvCxnSpPr>
          <p:nvPr/>
        </p:nvCxnSpPr>
        <p:spPr>
          <a:xfrm flipH="1" rot="10800000">
            <a:off x="975572" y="2103216"/>
            <a:ext cx="886200" cy="43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6" name="Google Shape;1166;p84"/>
          <p:cNvSpPr/>
          <p:nvPr/>
        </p:nvSpPr>
        <p:spPr>
          <a:xfrm>
            <a:off x="2763224" y="1859279"/>
            <a:ext cx="1604700" cy="1605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7" name="Google Shape;1167;p84"/>
          <p:cNvCxnSpPr>
            <a:stCxn id="1166" idx="2"/>
            <a:endCxn id="1166" idx="7"/>
          </p:cNvCxnSpPr>
          <p:nvPr/>
        </p:nvCxnSpPr>
        <p:spPr>
          <a:xfrm flipH="1" rot="10800000">
            <a:off x="2763224" y="2094179"/>
            <a:ext cx="1369800" cy="56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8" name="Google Shape;1168;p84"/>
          <p:cNvSpPr/>
          <p:nvPr/>
        </p:nvSpPr>
        <p:spPr>
          <a:xfrm>
            <a:off x="3484627" y="2580677"/>
            <a:ext cx="161700" cy="1617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84"/>
          <p:cNvCxnSpPr/>
          <p:nvPr/>
        </p:nvCxnSpPr>
        <p:spPr>
          <a:xfrm rot="10800000">
            <a:off x="3561216" y="2661038"/>
            <a:ext cx="21600" cy="80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0" name="Google Shape;1170;p84"/>
          <p:cNvSpPr/>
          <p:nvPr/>
        </p:nvSpPr>
        <p:spPr>
          <a:xfrm>
            <a:off x="5047024" y="1889151"/>
            <a:ext cx="1434300" cy="14343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84"/>
          <p:cNvCxnSpPr>
            <a:stCxn id="1170" idx="1"/>
            <a:endCxn id="1172" idx="1"/>
          </p:cNvCxnSpPr>
          <p:nvPr/>
        </p:nvCxnSpPr>
        <p:spPr>
          <a:xfrm>
            <a:off x="5257072" y="2099200"/>
            <a:ext cx="456000" cy="45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2" name="Google Shape;1172;p84"/>
          <p:cNvSpPr/>
          <p:nvPr/>
        </p:nvSpPr>
        <p:spPr>
          <a:xfrm>
            <a:off x="5692024" y="2534135"/>
            <a:ext cx="144300" cy="1443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3" name="Google Shape;1173;p84"/>
          <p:cNvCxnSpPr>
            <a:stCxn id="1170" idx="6"/>
            <a:endCxn id="1170" idx="2"/>
          </p:cNvCxnSpPr>
          <p:nvPr/>
        </p:nvCxnSpPr>
        <p:spPr>
          <a:xfrm rot="10800000">
            <a:off x="5047024" y="2606301"/>
            <a:ext cx="1434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84"/>
          <p:cNvSpPr txBox="1"/>
          <p:nvPr>
            <p:ph idx="1" type="body"/>
          </p:nvPr>
        </p:nvSpPr>
        <p:spPr>
          <a:xfrm rot="1320698">
            <a:off x="864768" y="2763267"/>
            <a:ext cx="986940" cy="37954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22.8 m</a:t>
            </a:r>
            <a:endParaRPr sz="1600"/>
          </a:p>
        </p:txBody>
      </p:sp>
      <p:sp>
        <p:nvSpPr>
          <p:cNvPr id="1175" name="Google Shape;1175;p84"/>
          <p:cNvSpPr txBox="1"/>
          <p:nvPr>
            <p:ph idx="1" type="body"/>
          </p:nvPr>
        </p:nvSpPr>
        <p:spPr>
          <a:xfrm rot="-1569419">
            <a:off x="856971" y="2027553"/>
            <a:ext cx="885371" cy="37915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 m</a:t>
            </a:r>
            <a:endParaRPr sz="1600"/>
          </a:p>
        </p:txBody>
      </p:sp>
      <p:sp>
        <p:nvSpPr>
          <p:cNvPr id="1176" name="Google Shape;1176;p84"/>
          <p:cNvSpPr txBox="1"/>
          <p:nvPr>
            <p:ph idx="1" type="body"/>
          </p:nvPr>
        </p:nvSpPr>
        <p:spPr>
          <a:xfrm rot="-1334160">
            <a:off x="2977740" y="2061403"/>
            <a:ext cx="888689" cy="37983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 m</a:t>
            </a:r>
            <a:endParaRPr sz="1600"/>
          </a:p>
        </p:txBody>
      </p:sp>
      <p:sp>
        <p:nvSpPr>
          <p:cNvPr id="1177" name="Google Shape;1177;p84"/>
          <p:cNvSpPr txBox="1"/>
          <p:nvPr>
            <p:ph idx="1" type="body"/>
          </p:nvPr>
        </p:nvSpPr>
        <p:spPr>
          <a:xfrm rot="2602">
            <a:off x="3579242" y="2837514"/>
            <a:ext cx="7926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11.4 m</a:t>
            </a:r>
            <a:endParaRPr sz="1600"/>
          </a:p>
        </p:txBody>
      </p:sp>
      <p:sp>
        <p:nvSpPr>
          <p:cNvPr id="1178" name="Google Shape;1178;p84"/>
          <p:cNvSpPr txBox="1"/>
          <p:nvPr>
            <p:ph idx="1" type="body"/>
          </p:nvPr>
        </p:nvSpPr>
        <p:spPr>
          <a:xfrm rot="1606">
            <a:off x="5569036" y="2640807"/>
            <a:ext cx="642000" cy="3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8.2 m</a:t>
            </a:r>
            <a:endParaRPr sz="1600"/>
          </a:p>
        </p:txBody>
      </p:sp>
      <p:sp>
        <p:nvSpPr>
          <p:cNvPr id="1179" name="Google Shape;1179;p84"/>
          <p:cNvSpPr txBox="1"/>
          <p:nvPr>
            <p:ph idx="1" type="body"/>
          </p:nvPr>
        </p:nvSpPr>
        <p:spPr>
          <a:xfrm rot="2700000">
            <a:off x="5297551" y="2131771"/>
            <a:ext cx="642336" cy="33898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4.1 m</a:t>
            </a:r>
            <a:endParaRPr sz="1600"/>
          </a:p>
        </p:txBody>
      </p:sp>
      <p:sp>
        <p:nvSpPr>
          <p:cNvPr id="1180" name="Google Shape;1180;p84"/>
          <p:cNvSpPr txBox="1"/>
          <p:nvPr>
            <p:ph idx="1" type="body"/>
          </p:nvPr>
        </p:nvSpPr>
        <p:spPr>
          <a:xfrm>
            <a:off x="332825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181" name="Google Shape;1181;p84"/>
          <p:cNvSpPr txBox="1"/>
          <p:nvPr>
            <p:ph idx="1" type="body"/>
          </p:nvPr>
        </p:nvSpPr>
        <p:spPr>
          <a:xfrm>
            <a:off x="2542625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182" name="Google Shape;1182;p84"/>
          <p:cNvSpPr txBox="1"/>
          <p:nvPr>
            <p:ph idx="1" type="body"/>
          </p:nvPr>
        </p:nvSpPr>
        <p:spPr>
          <a:xfrm>
            <a:off x="4845634" y="15714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formula to calculate the circumference</a:t>
            </a:r>
            <a:endParaRPr/>
          </a:p>
        </p:txBody>
      </p:sp>
      <p:sp>
        <p:nvSpPr>
          <p:cNvPr id="1188" name="Google Shape;1188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formula to calculate the diameter and radius</a:t>
            </a:r>
            <a:endParaRPr/>
          </a:p>
        </p:txBody>
      </p:sp>
      <p:sp>
        <p:nvSpPr>
          <p:cNvPr id="1189" name="Google Shape;1189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pic>
        <p:nvPicPr>
          <p:cNvPr id="1190" name="Google Shape;119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cases where the circumference is known, the formulae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can be used to calculate the </a:t>
            </a:r>
            <a:r>
              <a:rPr lang="en-GB" sz="2000"/>
              <a:t>diameter</a:t>
            </a:r>
            <a:r>
              <a:rPr lang="en-GB" sz="2000"/>
              <a:t> or radius.</a:t>
            </a:r>
            <a:endParaRPr sz="2000"/>
          </a:p>
        </p:txBody>
      </p:sp>
      <p:sp>
        <p:nvSpPr>
          <p:cNvPr id="1196" name="Google Shape;119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197" name="Google Shape;1197;p86"/>
          <p:cNvSpPr txBox="1"/>
          <p:nvPr>
            <p:ph idx="1" type="body"/>
          </p:nvPr>
        </p:nvSpPr>
        <p:spPr>
          <a:xfrm>
            <a:off x="324000" y="1774800"/>
            <a:ext cx="82377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can be done by </a:t>
            </a:r>
            <a:r>
              <a:rPr lang="en-GB" sz="2000">
                <a:solidFill>
                  <a:schemeClr val="accent5"/>
                </a:solidFill>
              </a:rPr>
              <a:t>substituting</a:t>
            </a:r>
            <a:r>
              <a:rPr lang="en-GB" sz="2000"/>
              <a:t> the known values into a formula to form an equation and then </a:t>
            </a:r>
            <a:r>
              <a:rPr lang="en-GB" sz="2000">
                <a:solidFill>
                  <a:schemeClr val="accent5"/>
                </a:solidFill>
              </a:rPr>
              <a:t>rearranging</a:t>
            </a:r>
            <a:r>
              <a:rPr lang="en-GB" sz="2000"/>
              <a:t> the equation.</a:t>
            </a:r>
            <a:endParaRPr sz="2000"/>
          </a:p>
        </p:txBody>
      </p:sp>
      <p:sp>
        <p:nvSpPr>
          <p:cNvPr id="1198" name="Google Shape;1198;p86"/>
          <p:cNvSpPr txBox="1"/>
          <p:nvPr>
            <p:ph idx="1" type="body"/>
          </p:nvPr>
        </p:nvSpPr>
        <p:spPr>
          <a:xfrm>
            <a:off x="324000" y="3451200"/>
            <a:ext cx="82377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Decimal answers may need to be </a:t>
            </a:r>
            <a:r>
              <a:rPr lang="en-GB" sz="2000">
                <a:solidFill>
                  <a:schemeClr val="accent5"/>
                </a:solidFill>
              </a:rPr>
              <a:t>rounded</a:t>
            </a:r>
            <a:r>
              <a:rPr lang="en-GB" sz="2000"/>
              <a:t> to a suitable degree of accuracy.</a:t>
            </a:r>
            <a:endParaRPr sz="2000"/>
          </a:p>
        </p:txBody>
      </p:sp>
      <p:sp>
        <p:nvSpPr>
          <p:cNvPr id="1199" name="Google Shape;1199;p86"/>
          <p:cNvSpPr txBox="1"/>
          <p:nvPr>
            <p:ph idx="1" type="body"/>
          </p:nvPr>
        </p:nvSpPr>
        <p:spPr>
          <a:xfrm>
            <a:off x="324000" y="2765400"/>
            <a:ext cx="82377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will usually involve </a:t>
            </a:r>
            <a:r>
              <a:rPr lang="en-GB" sz="2000">
                <a:solidFill>
                  <a:schemeClr val="accent5"/>
                </a:solidFill>
              </a:rPr>
              <a:t>dividing</a:t>
            </a:r>
            <a:r>
              <a:rPr lang="en-GB" sz="2000"/>
              <a:t> the circumference by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or 2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125\ =\pi d&quot;&gt;&lt;mn&gt;125&lt;/mn&gt;&lt;mtext&gt;&lt;/mtext&gt;&lt;mo&gt;=&lt;/mo&gt;&lt;mi&gt;π&lt;/mi&gt;&lt;mi&gt;d&lt;/mi&gt;&lt;/math&gt;" id="1204" name="Google Shape;1204;p87" title="125 equals pi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3965" y="2355725"/>
            <a:ext cx="1145618" cy="20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5}{\pi}=\ \frac{\pi d}{\pi}&quot;&gt;&lt;mfrac&gt;&lt;mn&gt;125&lt;/mn&gt;&lt;mi&gt;π&lt;/mi&gt;&lt;/mfrac&gt;&lt;mo&gt;=&lt;/mo&gt;&lt;mtext&gt;&lt;/mtext&gt;&lt;mfrac&gt;&lt;mrow&gt;&lt;mi&gt;π&lt;/mi&gt;&lt;mi&gt;d&lt;/mi&gt;&lt;/mrow&gt;&lt;mi&gt;π&lt;/mi&gt;&lt;/mfrac&gt;&lt;/math&gt;" id="1205" name="Google Shape;1205;p87" title="125 over pi equals pi d over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158" y="2802744"/>
            <a:ext cx="1350700" cy="610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9.78873...=\ d&quot;&gt;&lt;mn&gt;39.78873&lt;/mn&gt;&lt;mo&gt;.&lt;/mo&gt;&lt;mo&gt;.&lt;/mo&gt;&lt;mo&gt;.&lt;/mo&gt;&lt;mo&gt;=&lt;/mo&gt;&lt;mtext&gt;&lt;/mtext&gt;&lt;mi&gt;d&lt;/mi&gt;&lt;/math&gt;" id="1206" name="Google Shape;1206;p87" title="39.78873 period period period equals 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7382" y="3670631"/>
            <a:ext cx="2033078" cy="2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7"/>
          <p:cNvSpPr txBox="1"/>
          <p:nvPr>
            <p:ph idx="1" type="subTitle"/>
          </p:nvPr>
        </p:nvSpPr>
        <p:spPr>
          <a:xfrm>
            <a:off x="337825" y="810000"/>
            <a:ext cx="3908100" cy="7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circumference of the circle is 20 cm. Calculate the diameter.</a:t>
            </a:r>
            <a:endParaRPr/>
          </a:p>
        </p:txBody>
      </p:sp>
      <p:sp>
        <p:nvSpPr>
          <p:cNvPr id="1208" name="Google Shape;1208;p87"/>
          <p:cNvSpPr txBox="1"/>
          <p:nvPr>
            <p:ph idx="2" type="subTitle"/>
          </p:nvPr>
        </p:nvSpPr>
        <p:spPr>
          <a:xfrm>
            <a:off x="4824000" y="810000"/>
            <a:ext cx="3982200" cy="7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circumference of the circle is 125 mm. Calculate the diameter.</a:t>
            </a:r>
            <a:endParaRPr/>
          </a:p>
        </p:txBody>
      </p:sp>
      <p:sp>
        <p:nvSpPr>
          <p:cNvPr id="1209" name="Google Shape;120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210" name="Google Shape;1210;p87"/>
          <p:cNvSpPr/>
          <p:nvPr/>
        </p:nvSpPr>
        <p:spPr>
          <a:xfrm>
            <a:off x="606570" y="2079733"/>
            <a:ext cx="1387500" cy="138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1" name="Google Shape;1211;p87"/>
          <p:cNvCxnSpPr>
            <a:stCxn id="1210" idx="3"/>
            <a:endCxn id="1210" idx="7"/>
          </p:cNvCxnSpPr>
          <p:nvPr/>
        </p:nvCxnSpPr>
        <p:spPr>
          <a:xfrm flipH="1" rot="10800000">
            <a:off x="809764" y="2282995"/>
            <a:ext cx="981000" cy="981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2" name="Google Shape;1212;p87"/>
          <p:cNvSpPr txBox="1"/>
          <p:nvPr>
            <p:ph idx="4294967295" type="body"/>
          </p:nvPr>
        </p:nvSpPr>
        <p:spPr>
          <a:xfrm>
            <a:off x="329320" y="1719796"/>
            <a:ext cx="6711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20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213" name="Google Shape;1213;p87"/>
          <p:cNvSpPr/>
          <p:nvPr/>
        </p:nvSpPr>
        <p:spPr>
          <a:xfrm>
            <a:off x="1277862" y="2751078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7"/>
          <p:cNvSpPr txBox="1"/>
          <p:nvPr/>
        </p:nvSpPr>
        <p:spPr>
          <a:xfrm>
            <a:off x="1109556" y="2461049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5" name="Google Shape;1215;p87"/>
          <p:cNvCxnSpPr>
            <a:stCxn id="1212" idx="3"/>
          </p:cNvCxnSpPr>
          <p:nvPr/>
        </p:nvCxnSpPr>
        <p:spPr>
          <a:xfrm>
            <a:off x="1000420" y="1860046"/>
            <a:ext cx="321900" cy="17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6" name="Google Shape;1216;p87"/>
          <p:cNvSpPr/>
          <p:nvPr/>
        </p:nvSpPr>
        <p:spPr>
          <a:xfrm>
            <a:off x="5002751" y="1903949"/>
            <a:ext cx="1129500" cy="112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7" name="Google Shape;1217;p87"/>
          <p:cNvCxnSpPr>
            <a:stCxn id="1216" idx="2"/>
            <a:endCxn id="1216" idx="6"/>
          </p:cNvCxnSpPr>
          <p:nvPr/>
        </p:nvCxnSpPr>
        <p:spPr>
          <a:xfrm>
            <a:off x="5002751" y="2468849"/>
            <a:ext cx="1129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8" name="Google Shape;1218;p87"/>
          <p:cNvSpPr/>
          <p:nvPr/>
        </p:nvSpPr>
        <p:spPr>
          <a:xfrm>
            <a:off x="5549232" y="2450475"/>
            <a:ext cx="36000" cy="360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7"/>
          <p:cNvSpPr txBox="1"/>
          <p:nvPr/>
        </p:nvSpPr>
        <p:spPr>
          <a:xfrm>
            <a:off x="5488418" y="2138169"/>
            <a:ext cx="3102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87"/>
          <p:cNvSpPr txBox="1"/>
          <p:nvPr>
            <p:ph idx="4294967295" type="body"/>
          </p:nvPr>
        </p:nvSpPr>
        <p:spPr>
          <a:xfrm>
            <a:off x="5269302" y="3233400"/>
            <a:ext cx="874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125</a:t>
            </a:r>
            <a:r>
              <a:rPr lang="en-GB" sz="1800"/>
              <a:t> mm</a:t>
            </a:r>
            <a:endParaRPr sz="1800"/>
          </a:p>
        </p:txBody>
      </p:sp>
      <p:cxnSp>
        <p:nvCxnSpPr>
          <p:cNvPr id="1221" name="Google Shape;1221;p87"/>
          <p:cNvCxnSpPr/>
          <p:nvPr/>
        </p:nvCxnSpPr>
        <p:spPr>
          <a:xfrm rot="10800000">
            <a:off x="5181325" y="2933550"/>
            <a:ext cx="130200" cy="33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2" name="Google Shape;1222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2794" y="1885900"/>
            <a:ext cx="895429" cy="204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87"/>
          <p:cNvSpPr txBox="1"/>
          <p:nvPr/>
        </p:nvSpPr>
        <p:spPr>
          <a:xfrm>
            <a:off x="2209835" y="4473593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3 s.f.)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=\pi d&quot;&gt;&lt;mn&gt;20&lt;/mn&gt;&lt;mo&gt;=&lt;/mo&gt;&lt;mi&gt;π&lt;/mi&gt;&lt;mi&gt;d&lt;/mi&gt;&lt;/math&gt;" id="1224" name="Google Shape;1224;p87" title="20 equals pi 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4875" y="2362510"/>
            <a:ext cx="948809" cy="198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\pi}=\frac{\pi d}{\pi}&quot;&gt;&lt;mfrac&gt;&lt;mn&gt;20&lt;/mn&gt;&lt;mi&gt;π&lt;/mi&gt;&lt;/mfrac&gt;&lt;mo&gt;=&lt;/mo&gt;&lt;mfrac&gt;&lt;mrow&gt;&lt;mi&gt;π&lt;/mi&gt;&lt;mi&gt;d&lt;/mi&gt;&lt;/mrow&gt;&lt;mi&gt;π&lt;/mi&gt;&lt;/mfrac&gt;&lt;/math&gt;" id="1225" name="Google Shape;1225;p87" title="20 over pi equals pi d over pi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08043" y="2832991"/>
            <a:ext cx="1052732" cy="567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.36619...=d&quot;&gt;&lt;mn&gt;6.36619&lt;/mn&gt;&lt;mo&gt;.&lt;/mo&gt;&lt;mo&gt;.&lt;/mo&gt;&lt;mo&gt;.&lt;/mo&gt;&lt;mo&gt;=&lt;/mo&gt;&lt;mi&gt;d&lt;/mi&gt;&lt;/math&gt;" id="1226" name="Google Shape;1226;p87" title="6.36619 period period period equals 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64500" y="3672387"/>
            <a:ext cx="1688662" cy="214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7194" y="1885900"/>
            <a:ext cx="895429" cy="204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7"/>
          <p:cNvSpPr txBox="1"/>
          <p:nvPr/>
        </p:nvSpPr>
        <p:spPr>
          <a:xfrm>
            <a:off x="6934235" y="4473593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3 s.f.)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.37\ \text{cm}=d&quot;&gt;&lt;mn&gt;6.37&lt;/mn&gt;&lt;mtext&gt;&lt;/mtext&gt;&lt;mtext&gt;cm&lt;/mtext&gt;&lt;mo&gt;=&lt;/mo&gt;&lt;mi&gt;d&lt;/mi&gt;&lt;/math&gt;" id="1229" name="Google Shape;1229;p87" title="6.37 cm equals 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71241" y="4167575"/>
            <a:ext cx="1493834" cy="21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9.8\ \text{mm}=\ d&quot;&gt;&lt;mn&gt;39.8&lt;/mn&gt;&lt;mtext&gt;&lt;/mtext&gt;&lt;mtext&gt;mm&lt;/mtext&gt;&lt;mo&gt;=&lt;/mo&gt;&lt;mtext&gt;&lt;/mtext&gt;&lt;mi&gt;d&lt;/mi&gt;&lt;/math&gt;" id="1230" name="Google Shape;1230;p87" title="39.8 mm equals 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95222" y="4151225"/>
            <a:ext cx="1668151" cy="2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5.65070...\ =\ r&quot;&gt;&lt;mn&gt;35.65070&lt;/mn&gt;&lt;mo&gt;.&lt;/mo&gt;&lt;mo&gt;.&lt;/mo&gt;&lt;mo&gt;.&lt;/mo&gt;&lt;mtext&gt;&lt;/mtext&gt;&lt;mo&gt;=&lt;/mo&gt;&lt;mtext&gt;&lt;/mtext&gt;&lt;mi&gt;r&lt;/mi&gt;&lt;/math&gt;" id="1235" name="Google Shape;1235;p88" title="35.65070 period period period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8606" y="3751200"/>
            <a:ext cx="1868404" cy="2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4}{2\pi}\ =\ \frac{2\pi r}{2\pi}&quot;&gt;&lt;mfrac&gt;&lt;mn&gt;224&lt;/mn&gt;&lt;mrow&gt;&lt;mn&gt;2&lt;/mn&gt;&lt;mi&gt;π&lt;/mi&gt;&lt;/mrow&gt;&lt;/mfrac&gt;&lt;mtext&gt;&lt;/mtext&gt;&lt;mo&gt;=&lt;/mo&gt;&lt;mtext&gt;&lt;/mtext&gt;&lt;mfrac&gt;&lt;mrow&gt;&lt;mn&gt;2&lt;/mn&gt;&lt;mi&gt;π&lt;/mi&gt;&lt;mi&gt;r&lt;/mi&gt;&lt;/mrow&gt;&lt;mrow&gt;&lt;mn&gt;2&lt;/mn&gt;&lt;mi&gt;π&lt;/mi&gt;&lt;/mrow&gt;&lt;/mfrac&gt;&lt;/math&gt;" id="1236" name="Google Shape;1236;p88" title="224 over 2 pi equals 2 pi r over 2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64" y="2877216"/>
            <a:ext cx="1450584" cy="5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24\ =\ 2\pi r&quot;&gt;&lt;mn&gt;224&lt;/mn&gt;&lt;mtext&gt;&lt;/mtext&gt;&lt;mo&gt;=&lt;/mo&gt;&lt;mtext&gt;&lt;/mtext&gt;&lt;mn&gt;2&lt;/mn&gt;&lt;mi&gt;π&lt;/mi&gt;&lt;mi&gt;r&lt;/mi&gt;&lt;/math&gt;" id="1237" name="Google Shape;1237;p88" title="224 equals 2 pi 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667" y="2376082"/>
            <a:ext cx="1324262" cy="2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97619...\ =\ r&quot;&gt;&lt;mn&gt;2.97619&lt;/mn&gt;&lt;mo&gt;.&lt;/mo&gt;&lt;mo&gt;.&lt;/mo&gt;&lt;mo&gt;.&lt;/mo&gt;&lt;mtext&gt;&lt;/mtext&gt;&lt;mo&gt;=&lt;/mo&gt;&lt;mtext&gt;&lt;/mtext&gt;&lt;mi&gt;r&lt;/mi&gt;&lt;/math&gt;" id="1238" name="Google Shape;1238;p88" title="2.97619 period period period equals 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4075" y="3749783"/>
            <a:ext cx="1733786" cy="20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.7}{2\pi}\ =\ \frac{2\pi r}{2\pi}&quot;&gt;&lt;mfrac&gt;&lt;mn&gt;18.7&lt;/mn&gt;&lt;mrow&gt;&lt;mn&gt;2&lt;/mn&gt;&lt;mi&gt;π&lt;/mi&gt;&lt;/mrow&gt;&lt;/mfrac&gt;&lt;mtext&gt;&lt;/mtext&gt;&lt;mo&gt;=&lt;/mo&gt;&lt;mtext&gt;&lt;/mtext&gt;&lt;mfrac&gt;&lt;mrow&gt;&lt;mn&gt;2&lt;/mn&gt;&lt;mi&gt;π&lt;/mi&gt;&lt;mi&gt;r&lt;/mi&gt;&lt;/mrow&gt;&lt;mrow&gt;&lt;mn&gt;2&lt;/mn&gt;&lt;mi&gt;π&lt;/mi&gt;&lt;/mrow&gt;&lt;/mfrac&gt;&lt;/math&gt;" id="1239" name="Google Shape;1239;p88" title="18.7 over 2 pi equals 2 pi r over 2 pi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6437" y="2874341"/>
            <a:ext cx="1521488" cy="57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7\ =\ 2\pi r&quot;&gt;&lt;mn&gt;18.7&lt;/mn&gt;&lt;mtext&gt;&lt;/mtext&gt;&lt;mo&gt;=&lt;/mo&gt;&lt;mtext&gt;&lt;/mtext&gt;&lt;mn&gt;2&lt;/mn&gt;&lt;mi&gt;π&lt;/mi&gt;&lt;mi&gt;r&lt;/mi&gt;&lt;/math&gt;" id="1240" name="Google Shape;1240;p88" title="18.7 equals 2 pi 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6547" y="2376087"/>
            <a:ext cx="1372267" cy="20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\ =\ 2\pi r&quot;&gt;&lt;mi&gt;C&lt;/mi&gt;&lt;mtext&gt;&lt;/mtext&gt;&lt;mo&gt;=&lt;/mo&gt;&lt;mtext&gt;&lt;/mtext&gt;&lt;mn&gt;2&lt;/mn&gt;&lt;mi&gt;π&lt;/mi&gt;&lt;mi&gt;r&lt;/mi&gt;&lt;/math&gt;" id="1241" name="Google Shape;1241;p88" title="C equals 2 pi 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08366" y="1877833"/>
            <a:ext cx="1141148" cy="20223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88"/>
          <p:cNvSpPr txBox="1"/>
          <p:nvPr>
            <p:ph idx="1" type="subTitle"/>
          </p:nvPr>
        </p:nvSpPr>
        <p:spPr>
          <a:xfrm>
            <a:off x="337825" y="810000"/>
            <a:ext cx="3908100" cy="7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circumference of the circle is 18.7 cm. Calculate the radius.</a:t>
            </a:r>
            <a:endParaRPr/>
          </a:p>
        </p:txBody>
      </p:sp>
      <p:sp>
        <p:nvSpPr>
          <p:cNvPr id="1243" name="Google Shape;1243;p88"/>
          <p:cNvSpPr txBox="1"/>
          <p:nvPr>
            <p:ph idx="2" type="subTitle"/>
          </p:nvPr>
        </p:nvSpPr>
        <p:spPr>
          <a:xfrm>
            <a:off x="4824000" y="810000"/>
            <a:ext cx="3982200" cy="7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circumference of the circle is 224 cm. Calculate the radius.</a:t>
            </a:r>
            <a:endParaRPr/>
          </a:p>
        </p:txBody>
      </p:sp>
      <p:sp>
        <p:nvSpPr>
          <p:cNvPr id="1244" name="Google Shape;124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245" name="Google Shape;1245;p88"/>
          <p:cNvSpPr/>
          <p:nvPr/>
        </p:nvSpPr>
        <p:spPr>
          <a:xfrm>
            <a:off x="606570" y="2079733"/>
            <a:ext cx="1387500" cy="138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6" name="Google Shape;1246;p88"/>
          <p:cNvCxnSpPr>
            <a:endCxn id="1245" idx="7"/>
          </p:cNvCxnSpPr>
          <p:nvPr/>
        </p:nvCxnSpPr>
        <p:spPr>
          <a:xfrm flipH="1" rot="10800000">
            <a:off x="1329475" y="2282972"/>
            <a:ext cx="461400" cy="469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7" name="Google Shape;1247;p88"/>
          <p:cNvSpPr/>
          <p:nvPr/>
        </p:nvSpPr>
        <p:spPr>
          <a:xfrm>
            <a:off x="1277862" y="2751078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8"/>
          <p:cNvSpPr txBox="1"/>
          <p:nvPr/>
        </p:nvSpPr>
        <p:spPr>
          <a:xfrm>
            <a:off x="1381766" y="2230899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88"/>
          <p:cNvSpPr txBox="1"/>
          <p:nvPr/>
        </p:nvSpPr>
        <p:spPr>
          <a:xfrm>
            <a:off x="2205572" y="4534540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3 s.f.)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C\ =\ 2\pi r&quot;&gt;&lt;mi&gt;C&lt;/mi&gt;&lt;mtext&gt;&lt;/mtext&gt;&lt;mo&gt;=&lt;/mo&gt;&lt;mtext&gt;&lt;/mtext&gt;&lt;mn&gt;2&lt;/mn&gt;&lt;mi&gt;π&lt;/mi&gt;&lt;mi&gt;r&lt;/mi&gt;&lt;/math&gt;" id="1250" name="Google Shape;1250;p88" title="C equals 2 pi 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1766" y="1877833"/>
            <a:ext cx="1141148" cy="20223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8"/>
          <p:cNvSpPr txBox="1"/>
          <p:nvPr/>
        </p:nvSpPr>
        <p:spPr>
          <a:xfrm>
            <a:off x="6629435" y="4473593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3 s.f.)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8"/>
          <p:cNvSpPr/>
          <p:nvPr/>
        </p:nvSpPr>
        <p:spPr>
          <a:xfrm>
            <a:off x="4873770" y="2079733"/>
            <a:ext cx="1387500" cy="138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3" name="Google Shape;1253;p88"/>
          <p:cNvCxnSpPr>
            <a:endCxn id="1252" idx="7"/>
          </p:cNvCxnSpPr>
          <p:nvPr/>
        </p:nvCxnSpPr>
        <p:spPr>
          <a:xfrm flipH="1" rot="10800000">
            <a:off x="5596675" y="2282972"/>
            <a:ext cx="461400" cy="469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4" name="Google Shape;1254;p88"/>
          <p:cNvSpPr/>
          <p:nvPr/>
        </p:nvSpPr>
        <p:spPr>
          <a:xfrm>
            <a:off x="5545062" y="2751078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8"/>
          <p:cNvSpPr txBox="1"/>
          <p:nvPr/>
        </p:nvSpPr>
        <p:spPr>
          <a:xfrm>
            <a:off x="5648966" y="2230899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2.98\ \text{cm}\ =\ r&quot;&gt;&lt;mn&gt;2.98&lt;/mn&gt;&lt;mtext&gt;&lt;/mtext&gt;&lt;mtext&gt;cm&lt;/mtext&gt;&lt;mtext&gt;&lt;/mtext&gt;&lt;mo&gt;=&lt;/mo&gt;&lt;mtext&gt;&lt;/mtext&gt;&lt;mi&gt;r&lt;/mi&gt;&lt;/math&gt;" id="1256" name="Google Shape;1256;p88" title="2.98 cm equals 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99475" y="4234275"/>
            <a:ext cx="152619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5.7\ \text{cm}\ =\ r&quot;&gt;&lt;mn&gt;35.7&lt;/mn&gt;&lt;mtext&gt;&lt;/mtext&gt;&lt;mtext&gt;cm&lt;/mtext&gt;&lt;mtext&gt;&lt;/mtext&gt;&lt;mo&gt;=&lt;/mo&gt;&lt;mtext&gt;&lt;/mtext&gt;&lt;mi&gt;r&lt;/mi&gt;&lt;/math&gt;" id="1257" name="Google Shape;1257;p88" title="35.7 cm equals r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57243" y="4188145"/>
            <a:ext cx="1513987" cy="2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.87\ \text{m}=\ r&quot;&gt;&lt;mn&gt;2.87&lt;/mn&gt;&lt;mtext&gt;&lt;/mtext&gt;&lt;mtext&gt;m&lt;/mtext&gt;&lt;mo&gt;=&lt;/mo&gt;&lt;mtext&gt;&lt;/mtext&gt;&lt;mi&gt;r&lt;/mi&gt;&lt;/math&gt;" id="1262" name="Google Shape;1262;p89" title="2.87 m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4175" y="4559996"/>
            <a:ext cx="1217825" cy="1873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73\ \text{m}=\ d&quot;&gt;&lt;mn&gt;5.73&lt;/mn&gt;&lt;mtext&gt;&lt;/mtext&gt;&lt;mtext&gt;m&lt;/mtext&gt;&lt;mo&gt;=&lt;/mo&gt;&lt;mtext&gt;&lt;/mtext&gt;&lt;mi&gt;d&lt;/mi&gt;&lt;/math&gt;" id="1263" name="Google Shape;1263;p89" title="5.73 m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4172" y="4203430"/>
            <a:ext cx="1217832" cy="1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86478...\ =\ r&quot;&gt;&lt;mn&gt;2.86478&lt;/mn&gt;&lt;mo&gt;.&lt;/mo&gt;&lt;mo&gt;.&lt;/mo&gt;&lt;mo&gt;.&lt;/mo&gt;&lt;mtext&gt;&lt;/mtext&gt;&lt;mo&gt;=&lt;/mo&gt;&lt;mtext&gt;&lt;/mtext&gt;&lt;mi&gt;r&lt;/mi&gt;&lt;/math&gt;" id="1264" name="Google Shape;1264;p89" title="2.86478 period period period equals 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6881" y="3755822"/>
            <a:ext cx="1536570" cy="179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729577...=\ d&quot;&gt;&lt;mn&gt;5.729577&lt;/mn&gt;&lt;mo&gt;.&lt;/mo&gt;&lt;mo&gt;.&lt;/mo&gt;&lt;mo&gt;.&lt;/mo&gt;&lt;mo&gt;=&lt;/mo&gt;&lt;mtext&gt;&lt;/mtext&gt;&lt;mi&gt;d&lt;/mi&gt;&lt;/math&gt;" id="1265" name="Google Shape;1265;p89" title="5.729577 period period period equals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075" y="3756900"/>
            <a:ext cx="1601158" cy="179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\pi}=\ \frac{\pi d}{\pi}&quot;&gt;&lt;mfrac&gt;&lt;mn&gt;18&lt;/mn&gt;&lt;mi&gt;π&lt;/mi&gt;&lt;/mfrac&gt;&lt;mo&gt;=&lt;/mo&gt;&lt;mtext&gt;&lt;/mtext&gt;&lt;mfrac&gt;&lt;mrow&gt;&lt;mi&gt;π&lt;/mi&gt;&lt;mi&gt;d&lt;/mi&gt;&lt;/mrow&gt;&lt;mi&gt;π&lt;/mi&gt;&lt;/mfrac&gt;&lt;/math&gt;" id="1266" name="Google Shape;1266;p89" title="18 over pi equals pi d over pi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7841" y="3040885"/>
            <a:ext cx="939478" cy="474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=\ \pi d&quot;&gt;&lt;mn&gt;18&lt;/mn&gt;&lt;mo&gt;=&lt;/mo&gt;&lt;mtext&gt;&lt;/mtext&gt;&lt;mi&gt;π&lt;/mi&gt;&lt;mi&gt;d&lt;/mi&gt;&lt;/math&gt;" id="1267" name="Google Shape;1267;p89" title="18 equals pi 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5351" y="2645643"/>
            <a:ext cx="859690" cy="17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89"/>
          <p:cNvSpPr txBox="1"/>
          <p:nvPr>
            <p:ph idx="1" type="body"/>
          </p:nvPr>
        </p:nvSpPr>
        <p:spPr>
          <a:xfrm>
            <a:off x="324000" y="759300"/>
            <a:ext cx="82377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alternative method for calculating the radius could be to first calculate</a:t>
            </a:r>
            <a:r>
              <a:rPr lang="en-GB" sz="1800"/>
              <a:t> the diameter and then divide by 2.</a:t>
            </a:r>
            <a:endParaRPr sz="1800"/>
          </a:p>
        </p:txBody>
      </p:sp>
      <p:sp>
        <p:nvSpPr>
          <p:cNvPr id="1269" name="Google Shape;126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270" name="Google Shape;1270;p89"/>
          <p:cNvSpPr txBox="1"/>
          <p:nvPr>
            <p:ph idx="1" type="body"/>
          </p:nvPr>
        </p:nvSpPr>
        <p:spPr>
          <a:xfrm>
            <a:off x="361600" y="4228459"/>
            <a:ext cx="3091200" cy="7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Why are the solutions slightly different?</a:t>
            </a:r>
            <a:endParaRPr sz="1800"/>
          </a:p>
        </p:txBody>
      </p:sp>
      <p:sp>
        <p:nvSpPr>
          <p:cNvPr id="1271" name="Google Shape;1271;p89"/>
          <p:cNvSpPr/>
          <p:nvPr/>
        </p:nvSpPr>
        <p:spPr>
          <a:xfrm>
            <a:off x="1095230" y="2407190"/>
            <a:ext cx="1406400" cy="1406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9"/>
          <p:cNvSpPr txBox="1"/>
          <p:nvPr>
            <p:ph idx="1" type="body"/>
          </p:nvPr>
        </p:nvSpPr>
        <p:spPr>
          <a:xfrm>
            <a:off x="868815" y="1966875"/>
            <a:ext cx="8538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m</a:t>
            </a:r>
            <a:endParaRPr sz="1800"/>
          </a:p>
        </p:txBody>
      </p:sp>
      <p:cxnSp>
        <p:nvCxnSpPr>
          <p:cNvPr id="1273" name="Google Shape;1273;p89"/>
          <p:cNvCxnSpPr/>
          <p:nvPr/>
        </p:nvCxnSpPr>
        <p:spPr>
          <a:xfrm>
            <a:off x="1449310" y="2218159"/>
            <a:ext cx="326400" cy="18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4" name="Google Shape;1274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70359" y="2226432"/>
            <a:ext cx="749680" cy="171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\ =\ 2\pi r&quot;&gt;&lt;mi&gt;C&lt;/mi&gt;&lt;mtext&gt;&lt;/mtext&gt;&lt;mo&gt;=&lt;/mo&gt;&lt;mtext&gt;&lt;/mtext&gt;&lt;mn&gt;2&lt;/mn&gt;&lt;mi&gt;π&lt;/mi&gt;&lt;mi&gt;r&lt;/mi&gt;&lt;/math&gt;" id="1275" name="Google Shape;1275;p89" title="C equals 2 pi 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4851" y="2229493"/>
            <a:ext cx="965624" cy="171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\ =\ 2\pi r&quot;&gt;&lt;mn&gt;18&lt;/mn&gt;&lt;mtext&gt;&lt;/mtext&gt;&lt;mo&gt;=&lt;/mo&gt;&lt;mtext&gt;&lt;/mtext&gt;&lt;mn&gt;2&lt;/mn&gt;&lt;mi&gt;π&lt;/mi&gt;&lt;mi&gt;r&lt;/mi&gt;&lt;/math&gt;" id="1276" name="Google Shape;1276;p89" title="18 equals 2 pi r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80276" y="2649181"/>
            <a:ext cx="991363" cy="171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\pi}\ =\ \frac{2\pi r}{2\pi}&quot;&gt;&lt;mfrac&gt;&lt;mn&gt;18&lt;/mn&gt;&lt;mrow&gt;&lt;mn&gt;2&lt;/mn&gt;&lt;mi&gt;π&lt;/mi&gt;&lt;/mrow&gt;&lt;/mfrac&gt;&lt;mtext&gt;&lt;/mtext&gt;&lt;mo&gt;=&lt;/mo&gt;&lt;mtext&gt;&lt;/mtext&gt;&lt;mfrac&gt;&lt;mrow&gt;&lt;mn&gt;2&lt;/mn&gt;&lt;mi&gt;π&lt;/mi&gt;&lt;mi&gt;r&lt;/mi&gt;&lt;/mrow&gt;&lt;mrow&gt;&lt;mn&gt;2&lt;/mn&gt;&lt;mi&gt;π&lt;/mi&gt;&lt;/mrow&gt;&lt;/mfrac&gt;&lt;/math&gt;" id="1277" name="Google Shape;1277;p89" title="18 over 2 pi equals 2 pi r over 2 pi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22557" y="3051238"/>
            <a:ext cx="1062636" cy="464506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89"/>
          <p:cNvSpPr txBox="1"/>
          <p:nvPr>
            <p:ph idx="1" type="body"/>
          </p:nvPr>
        </p:nvSpPr>
        <p:spPr>
          <a:xfrm>
            <a:off x="324000" y="1445100"/>
            <a:ext cx="84960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Example: calculate the radius, giving your answer to 2 d.p.</a:t>
            </a:r>
            <a:endParaRPr sz="1800"/>
          </a:p>
        </p:txBody>
      </p:sp>
      <p:sp>
        <p:nvSpPr>
          <p:cNvPr id="1279" name="Google Shape;1279;p89"/>
          <p:cNvSpPr txBox="1"/>
          <p:nvPr>
            <p:ph idx="1" type="body"/>
          </p:nvPr>
        </p:nvSpPr>
        <p:spPr>
          <a:xfrm>
            <a:off x="3752400" y="1870750"/>
            <a:ext cx="12975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1:</a:t>
            </a:r>
            <a:endParaRPr sz="1800"/>
          </a:p>
        </p:txBody>
      </p:sp>
      <p:sp>
        <p:nvSpPr>
          <p:cNvPr id="1280" name="Google Shape;1280;p89"/>
          <p:cNvSpPr txBox="1"/>
          <p:nvPr>
            <p:ph idx="1" type="body"/>
          </p:nvPr>
        </p:nvSpPr>
        <p:spPr>
          <a:xfrm>
            <a:off x="6571800" y="1870750"/>
            <a:ext cx="12975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2:</a:t>
            </a:r>
            <a:endParaRPr sz="1800"/>
          </a:p>
        </p:txBody>
      </p:sp>
      <p:cxnSp>
        <p:nvCxnSpPr>
          <p:cNvPr id="1281" name="Google Shape;1281;p89"/>
          <p:cNvCxnSpPr/>
          <p:nvPr/>
        </p:nvCxnSpPr>
        <p:spPr>
          <a:xfrm>
            <a:off x="6969867" y="4789267"/>
            <a:ext cx="382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89"/>
          <p:cNvCxnSpPr/>
          <p:nvPr/>
        </p:nvCxnSpPr>
        <p:spPr>
          <a:xfrm>
            <a:off x="3908500" y="4408275"/>
            <a:ext cx="446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2.86\ \text{m}\ =\ r&quot;&gt;&lt;mn&gt;2.86&lt;/mn&gt;&lt;mtext&gt;&lt;/mtext&gt;&lt;mtext&gt;m&lt;/mtext&gt;&lt;mtext&gt;&lt;/mtext&gt;&lt;mo&gt;=&lt;/mo&gt;&lt;mtext&gt;&lt;/mtext&gt;&lt;mi&gt;r&lt;/mi&gt;&lt;/math&gt;" id="1283" name="Google Shape;1283;p89" title="2.86 m equals r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26603" y="4196322"/>
            <a:ext cx="1188150" cy="172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0"/>
          <p:cNvSpPr txBox="1"/>
          <p:nvPr/>
        </p:nvSpPr>
        <p:spPr>
          <a:xfrm>
            <a:off x="6875931" y="4400963"/>
            <a:ext cx="1958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2.8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90"/>
          <p:cNvSpPr txBox="1"/>
          <p:nvPr/>
        </p:nvSpPr>
        <p:spPr>
          <a:xfrm>
            <a:off x="6865088" y="4038387"/>
            <a:ext cx="1958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5.73 m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5.729577...=\ d&quot;&gt;&lt;mn&gt;5.729577&lt;/mn&gt;&lt;mo&gt;.&lt;/mo&gt;&lt;mo&gt;.&lt;/mo&gt;&lt;mo&gt;.&lt;/mo&gt;&lt;mo&gt;=&lt;/mo&gt;&lt;mtext&gt;&lt;/mtext&gt;&lt;mi&gt;d&lt;/mi&gt;&lt;/math&gt;" id="1290" name="Google Shape;1290;p90" title="5.729577 period period period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075" y="3756900"/>
            <a:ext cx="1601158" cy="179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\pi}=\ \frac{\pi d}{\pi}&quot;&gt;&lt;mfrac&gt;&lt;mn&gt;18&lt;/mn&gt;&lt;mi&gt;π&lt;/mi&gt;&lt;/mfrac&gt;&lt;mo&gt;=&lt;/mo&gt;&lt;mtext&gt;&lt;/mtext&gt;&lt;mfrac&gt;&lt;mrow&gt;&lt;mi&gt;π&lt;/mi&gt;&lt;mi&gt;d&lt;/mi&gt;&lt;/mrow&gt;&lt;mi&gt;π&lt;/mi&gt;&lt;/mfrac&gt;&lt;/math&gt;" id="1291" name="Google Shape;1291;p90" title="18 over pi equals pi d over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7841" y="3040885"/>
            <a:ext cx="939478" cy="474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=\ \pi d&quot;&gt;&lt;mn&gt;18&lt;/mn&gt;&lt;mo&gt;=&lt;/mo&gt;&lt;mtext&gt;&lt;/mtext&gt;&lt;mi&gt;π&lt;/mi&gt;&lt;mi&gt;d&lt;/mi&gt;&lt;/math&gt;" id="1292" name="Google Shape;1292;p90" title="18 equals pi 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5351" y="2645643"/>
            <a:ext cx="859690" cy="17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Rounding reduces the accuracy</a:t>
            </a:r>
            <a:r>
              <a:rPr lang="en-GB" sz="1800"/>
              <a:t> of an answer. </a:t>
            </a:r>
            <a:r>
              <a:rPr lang="en-GB" sz="1800"/>
              <a:t>Calculating with rounded numbers is less accurate than calculating with the unrounded number.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294" name="Google Shape;129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pic>
        <p:nvPicPr>
          <p:cNvPr id="1295" name="Google Shape;1295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0359" y="2226432"/>
            <a:ext cx="749680" cy="17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0"/>
          <p:cNvSpPr txBox="1"/>
          <p:nvPr>
            <p:ph idx="1" type="body"/>
          </p:nvPr>
        </p:nvSpPr>
        <p:spPr>
          <a:xfrm>
            <a:off x="6571800" y="1870750"/>
            <a:ext cx="12975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</a:t>
            </a:r>
            <a:r>
              <a:rPr lang="en-GB" sz="1800"/>
              <a:t> 2:</a:t>
            </a:r>
            <a:endParaRPr sz="1800"/>
          </a:p>
        </p:txBody>
      </p:sp>
      <p:sp>
        <p:nvSpPr>
          <p:cNvPr id="1297" name="Google Shape;1297;p90"/>
          <p:cNvSpPr txBox="1"/>
          <p:nvPr>
            <p:ph idx="1" type="body"/>
          </p:nvPr>
        </p:nvSpPr>
        <p:spPr>
          <a:xfrm>
            <a:off x="324000" y="1604100"/>
            <a:ext cx="55782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accuracy of this method could be improved by halving the diameter </a:t>
            </a:r>
            <a:r>
              <a:rPr lang="en-GB" sz="1800">
                <a:solidFill>
                  <a:schemeClr val="accent5"/>
                </a:solidFill>
              </a:rPr>
              <a:t>before</a:t>
            </a:r>
            <a:r>
              <a:rPr lang="en-GB" sz="1800"/>
              <a:t> rounding.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8" name="Google Shape;1298;p90"/>
          <p:cNvSpPr txBox="1"/>
          <p:nvPr>
            <p:ph idx="1" type="body"/>
          </p:nvPr>
        </p:nvSpPr>
        <p:spPr>
          <a:xfrm>
            <a:off x="324000" y="2594700"/>
            <a:ext cx="55602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problem could be avoided by using</a:t>
            </a:r>
            <a:r>
              <a:rPr lang="en-GB" sz="2000"/>
              <a:t>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πr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to calculate radius and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πd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to calculate diameter.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9" name="Google Shape;1299;p90"/>
          <p:cNvSpPr txBox="1"/>
          <p:nvPr/>
        </p:nvSpPr>
        <p:spPr>
          <a:xfrm>
            <a:off x="6875931" y="4048051"/>
            <a:ext cx="1958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2.86 m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the circumference of a circle is a </a:t>
            </a:r>
            <a:r>
              <a:rPr lang="en-GB" sz="2000">
                <a:solidFill>
                  <a:schemeClr val="accent5"/>
                </a:solidFill>
              </a:rPr>
              <a:t>multiple of </a:t>
            </a:r>
            <a:r>
              <a:rPr lang="en-GB" sz="23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, each side of the equation will have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a</a:t>
            </a:r>
            <a:r>
              <a:rPr lang="en-GB" sz="2000"/>
              <a:t>s a factor. </a:t>
            </a:r>
            <a:endParaRPr sz="2000"/>
          </a:p>
        </p:txBody>
      </p:sp>
      <p:sp>
        <p:nvSpPr>
          <p:cNvPr id="1305" name="Google Shape;130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306" name="Google Shape;1306;p91"/>
          <p:cNvSpPr txBox="1"/>
          <p:nvPr>
            <p:ph idx="1" type="body"/>
          </p:nvPr>
        </p:nvSpPr>
        <p:spPr>
          <a:xfrm>
            <a:off x="324000" y="1558050"/>
            <a:ext cx="8496000" cy="4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Dividing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gives 1, so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will cancel on both sides of the equation.</a:t>
            </a:r>
            <a:endParaRPr sz="2000"/>
          </a:p>
        </p:txBody>
      </p:sp>
      <p:sp>
        <p:nvSpPr>
          <p:cNvPr id="1307" name="Google Shape;1307;p91"/>
          <p:cNvSpPr txBox="1"/>
          <p:nvPr>
            <p:ph idx="1" type="body"/>
          </p:nvPr>
        </p:nvSpPr>
        <p:spPr>
          <a:xfrm>
            <a:off x="324000" y="2015250"/>
            <a:ext cx="8237700" cy="4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Example: the circumference of a circle is 18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m. Find the diameter.</a:t>
            </a:r>
            <a:endParaRPr sz="2000"/>
          </a:p>
        </p:txBody>
      </p:sp>
      <p:sp>
        <p:nvSpPr>
          <p:cNvPr id="1308" name="Google Shape;1308;p91"/>
          <p:cNvSpPr/>
          <p:nvPr/>
        </p:nvSpPr>
        <p:spPr>
          <a:xfrm>
            <a:off x="1323830" y="3016790"/>
            <a:ext cx="1406400" cy="1406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1"/>
          <p:cNvCxnSpPr>
            <a:stCxn id="1308" idx="3"/>
            <a:endCxn id="1308" idx="7"/>
          </p:cNvCxnSpPr>
          <p:nvPr/>
        </p:nvCxnSpPr>
        <p:spPr>
          <a:xfrm flipH="1" rot="10800000">
            <a:off x="1529793" y="3222684"/>
            <a:ext cx="994500" cy="99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0" name="Google Shape;1310;p91"/>
          <p:cNvSpPr txBox="1"/>
          <p:nvPr>
            <p:ph idx="1" type="body"/>
          </p:nvPr>
        </p:nvSpPr>
        <p:spPr>
          <a:xfrm>
            <a:off x="945015" y="2576475"/>
            <a:ext cx="8538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m</a:t>
            </a:r>
            <a:endParaRPr sz="1800"/>
          </a:p>
        </p:txBody>
      </p:sp>
      <p:sp>
        <p:nvSpPr>
          <p:cNvPr id="1311" name="Google Shape;1311;p91"/>
          <p:cNvSpPr/>
          <p:nvPr/>
        </p:nvSpPr>
        <p:spPr>
          <a:xfrm>
            <a:off x="2004324" y="3697346"/>
            <a:ext cx="45000" cy="450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1"/>
          <p:cNvSpPr txBox="1"/>
          <p:nvPr/>
        </p:nvSpPr>
        <p:spPr>
          <a:xfrm>
            <a:off x="1833710" y="3403337"/>
            <a:ext cx="386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3" name="Google Shape;1313;p91"/>
          <p:cNvCxnSpPr/>
          <p:nvPr/>
        </p:nvCxnSpPr>
        <p:spPr>
          <a:xfrm>
            <a:off x="1677910" y="2827759"/>
            <a:ext cx="326400" cy="18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18\pi\ =\ \pi d&quot;&gt;&lt;mn&gt;18&lt;/mn&gt;&lt;mi&gt;π&lt;/mi&gt;&lt;mtext&gt;&lt;/mtext&gt;&lt;mo&gt;=&lt;/mo&gt;&lt;mtext&gt;&lt;/mtext&gt;&lt;mi&gt;π&lt;/mi&gt;&lt;mi&gt;d&lt;/mi&gt;&lt;/math&gt;" id="1314" name="Google Shape;1314;p91" title="18 pi equals pi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796" y="3192142"/>
            <a:ext cx="1265366" cy="20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\pi}{\pi}\ =\ \frac{\pi d}{\pi}&quot;&gt;&lt;mfrac&gt;&lt;mrow&gt;&lt;mn&gt;18&lt;/mn&gt;&lt;mi&gt;π&lt;/mi&gt;&lt;/mrow&gt;&lt;mi&gt;π&lt;/mi&gt;&lt;/mfrac&gt;&lt;mtext&gt;&lt;/mtext&gt;&lt;mo&gt;=&lt;/mo&gt;&lt;mtext&gt;&lt;/mtext&gt;&lt;mfrac&gt;&lt;mrow&gt;&lt;mi&gt;π&lt;/mi&gt;&lt;mi&gt;d&lt;/mi&gt;&lt;/mrow&gt;&lt;mi&gt;π&lt;/mi&gt;&lt;/mfrac&gt;&lt;/math&gt;" id="1315" name="Google Shape;1315;p91" title="18 pi over pi equals pi d over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793" y="3651792"/>
            <a:ext cx="145047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\ =\ d&quot;&gt;&lt;mn&gt;18&lt;/mn&gt;&lt;mtext&gt;&lt;/mtext&gt;&lt;mo&gt;=&lt;/mo&gt;&lt;mtext&gt;&lt;/mtext&gt;&lt;mi&gt;d&lt;/mi&gt;&lt;/math&gt;" id="1316" name="Google Shape;1316;p91" title="18 equals 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5275" y="4499799"/>
            <a:ext cx="934408" cy="20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\ =\ \pi d&quot;&gt;&lt;mi&gt;C&lt;/mi&gt;&lt;mtext&gt;&lt;/mtext&gt;&lt;mo&gt;=&lt;/mo&gt;&lt;mtext&gt;&lt;/mtext&gt;&lt;mi&gt;π&lt;/mi&gt;&lt;mi&gt;d&lt;/mi&gt;&lt;/math&gt;" id="1317" name="Google Shape;1317;p91" title="C equals pi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4151" y="2779600"/>
            <a:ext cx="1041467" cy="2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1"/>
          <p:cNvSpPr txBox="1"/>
          <p:nvPr>
            <p:ph idx="1" type="body"/>
          </p:nvPr>
        </p:nvSpPr>
        <p:spPr>
          <a:xfrm>
            <a:off x="6643217" y="3148330"/>
            <a:ext cx="18675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diameter = 18 m</a:t>
            </a:r>
            <a:endParaRPr sz="1800"/>
          </a:p>
        </p:txBody>
      </p:sp>
      <p:sp>
        <p:nvSpPr>
          <p:cNvPr id="1319" name="Google Shape;1319;p91"/>
          <p:cNvSpPr txBox="1"/>
          <p:nvPr>
            <p:ph idx="1" type="body"/>
          </p:nvPr>
        </p:nvSpPr>
        <p:spPr>
          <a:xfrm>
            <a:off x="6073225" y="2700000"/>
            <a:ext cx="25257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circumference = 18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m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92"/>
          <p:cNvSpPr txBox="1"/>
          <p:nvPr>
            <p:ph type="title"/>
          </p:nvPr>
        </p:nvSpPr>
        <p:spPr>
          <a:xfrm>
            <a:off x="324000" y="748783"/>
            <a:ext cx="8179200" cy="7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the </a:t>
            </a:r>
            <a:r>
              <a:rPr lang="en-GB">
                <a:solidFill>
                  <a:schemeClr val="accent5"/>
                </a:solidFill>
              </a:rPr>
              <a:t>least</a:t>
            </a:r>
            <a:r>
              <a:rPr lang="en-GB"/>
              <a:t> accurate method for calculating the diameter of a circle?</a:t>
            </a:r>
            <a:endParaRPr/>
          </a:p>
        </p:txBody>
      </p:sp>
      <p:sp>
        <p:nvSpPr>
          <p:cNvPr id="1325" name="Google Shape;1325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326" name="Google Shape;1326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 the formula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 the diameter.</a:t>
            </a:r>
            <a:endParaRPr sz="2000"/>
          </a:p>
        </p:txBody>
      </p:sp>
      <p:sp>
        <p:nvSpPr>
          <p:cNvPr id="1327" name="Google Shape;1327;p92"/>
          <p:cNvSpPr txBox="1"/>
          <p:nvPr>
            <p:ph idx="3" type="subTitle"/>
          </p:nvPr>
        </p:nvSpPr>
        <p:spPr>
          <a:xfrm>
            <a:off x="1034425" y="2734186"/>
            <a:ext cx="75066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Use the formula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 the radius, round the answer and then multiply by 2 to get the diameter.</a:t>
            </a:r>
            <a:endParaRPr/>
          </a:p>
        </p:txBody>
      </p:sp>
      <p:sp>
        <p:nvSpPr>
          <p:cNvPr id="1328" name="Google Shape;1328;p92"/>
          <p:cNvSpPr txBox="1"/>
          <p:nvPr>
            <p:ph idx="4" type="subTitle"/>
          </p:nvPr>
        </p:nvSpPr>
        <p:spPr>
          <a:xfrm>
            <a:off x="1034425" y="3766993"/>
            <a:ext cx="7464600" cy="9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Use the formula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 the radius, multiply by 2 to get the diameter and then round the answer.</a:t>
            </a:r>
            <a:endParaRPr/>
          </a:p>
        </p:txBody>
      </p:sp>
      <p:pic>
        <p:nvPicPr>
          <p:cNvPr id="1329" name="Google Shape;132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233" y="29540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3"/>
          <p:cNvSpPr txBox="1"/>
          <p:nvPr>
            <p:ph idx="1" type="body"/>
          </p:nvPr>
        </p:nvSpPr>
        <p:spPr>
          <a:xfrm>
            <a:off x="324000" y="759300"/>
            <a:ext cx="8496000" cy="4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</a:t>
            </a:r>
            <a:r>
              <a:rPr lang="en-GB" sz="2100"/>
              <a:t>circumference</a:t>
            </a:r>
            <a:r>
              <a:rPr lang="en-GB" sz="2100"/>
              <a:t> of the circle is 14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100"/>
              <a:t>m</a:t>
            </a:r>
            <a:r>
              <a:rPr lang="en-GB" sz="2100"/>
              <a:t>.  Calculate the diameter.</a:t>
            </a:r>
            <a:endParaRPr sz="2100"/>
          </a:p>
        </p:txBody>
      </p:sp>
      <p:sp>
        <p:nvSpPr>
          <p:cNvPr id="1335" name="Google Shape;133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336" name="Google Shape;1336;p93"/>
          <p:cNvSpPr/>
          <p:nvPr/>
        </p:nvSpPr>
        <p:spPr>
          <a:xfrm>
            <a:off x="2117105" y="2264263"/>
            <a:ext cx="2202900" cy="2203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7" name="Google Shape;1337;p93"/>
          <p:cNvCxnSpPr>
            <a:stCxn id="1336" idx="3"/>
            <a:endCxn id="1336" idx="7"/>
          </p:cNvCxnSpPr>
          <p:nvPr/>
        </p:nvCxnSpPr>
        <p:spPr>
          <a:xfrm flipH="1" rot="10800000">
            <a:off x="2439712" y="2586868"/>
            <a:ext cx="1557600" cy="155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8" name="Google Shape;1338;p93"/>
          <p:cNvSpPr txBox="1"/>
          <p:nvPr>
            <p:ph idx="1" type="body"/>
          </p:nvPr>
        </p:nvSpPr>
        <p:spPr>
          <a:xfrm>
            <a:off x="1763731" y="1672950"/>
            <a:ext cx="1337400" cy="4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14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/>
              <a:t> m</a:t>
            </a:r>
            <a:endParaRPr/>
          </a:p>
        </p:txBody>
      </p:sp>
      <p:sp>
        <p:nvSpPr>
          <p:cNvPr id="1339" name="Google Shape;1339;p93"/>
          <p:cNvSpPr/>
          <p:nvPr/>
        </p:nvSpPr>
        <p:spPr>
          <a:xfrm>
            <a:off x="3183025" y="3330288"/>
            <a:ext cx="70500" cy="705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3"/>
          <p:cNvSpPr txBox="1"/>
          <p:nvPr/>
        </p:nvSpPr>
        <p:spPr>
          <a:xfrm>
            <a:off x="2991977" y="3022151"/>
            <a:ext cx="60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41" name="Google Shape;1341;p93"/>
          <p:cNvCxnSpPr/>
          <p:nvPr/>
        </p:nvCxnSpPr>
        <p:spPr>
          <a:xfrm>
            <a:off x="2671733" y="1968162"/>
            <a:ext cx="511200" cy="28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93"/>
          <p:cNvSpPr txBox="1"/>
          <p:nvPr>
            <p:ph idx="1" type="body"/>
          </p:nvPr>
        </p:nvSpPr>
        <p:spPr>
          <a:xfrm>
            <a:off x="5172295" y="2804250"/>
            <a:ext cx="2460300" cy="4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diameter =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14 m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"/>
          <p:cNvSpPr txBox="1"/>
          <p:nvPr>
            <p:ph idx="1" type="body"/>
          </p:nvPr>
        </p:nvSpPr>
        <p:spPr>
          <a:xfrm>
            <a:off x="324000" y="759300"/>
            <a:ext cx="84960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1) Calculate the length labelled in each diagram. Round decimals to 1 decimal place.</a:t>
            </a:r>
            <a:endParaRPr/>
          </a:p>
        </p:txBody>
      </p:sp>
      <p:sp>
        <p:nvSpPr>
          <p:cNvPr id="1348" name="Google Shape;1348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grpSp>
        <p:nvGrpSpPr>
          <p:cNvPr id="1349" name="Google Shape;1349;p94"/>
          <p:cNvGrpSpPr/>
          <p:nvPr/>
        </p:nvGrpSpPr>
        <p:grpSpPr>
          <a:xfrm>
            <a:off x="1149075" y="1409033"/>
            <a:ext cx="862069" cy="862069"/>
            <a:chOff x="1288934" y="1608461"/>
            <a:chExt cx="797400" cy="797400"/>
          </a:xfrm>
        </p:grpSpPr>
        <p:sp>
          <p:nvSpPr>
            <p:cNvPr id="1350" name="Google Shape;1350;p94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1" name="Google Shape;1351;p94"/>
            <p:cNvCxnSpPr/>
            <p:nvPr/>
          </p:nvCxnSpPr>
          <p:spPr>
            <a:xfrm rot="10800000">
              <a:off x="1409424" y="1736173"/>
              <a:ext cx="571200" cy="56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2" name="Google Shape;1352;p94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3" name="Google Shape;1353;p94"/>
          <p:cNvGrpSpPr/>
          <p:nvPr/>
        </p:nvGrpSpPr>
        <p:grpSpPr>
          <a:xfrm>
            <a:off x="3835861" y="1386946"/>
            <a:ext cx="1045265" cy="1118521"/>
            <a:chOff x="2870094" y="1609830"/>
            <a:chExt cx="997200" cy="1067087"/>
          </a:xfrm>
        </p:grpSpPr>
        <p:sp>
          <p:nvSpPr>
            <p:cNvPr id="1354" name="Google Shape;1354;p94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5" name="Google Shape;1355;p94"/>
            <p:cNvCxnSpPr/>
            <p:nvPr/>
          </p:nvCxnSpPr>
          <p:spPr>
            <a:xfrm>
              <a:off x="2870094" y="2676917"/>
              <a:ext cx="997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56" name="Google Shape;1356;p94"/>
          <p:cNvSpPr txBox="1"/>
          <p:nvPr>
            <p:ph idx="1" type="body"/>
          </p:nvPr>
        </p:nvSpPr>
        <p:spPr>
          <a:xfrm>
            <a:off x="1631780" y="1615273"/>
            <a:ext cx="139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7" name="Google Shape;1357;p94"/>
          <p:cNvSpPr/>
          <p:nvPr/>
        </p:nvSpPr>
        <p:spPr>
          <a:xfrm flipH="1">
            <a:off x="2416962" y="3297613"/>
            <a:ext cx="615000" cy="1221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4"/>
          <p:cNvSpPr/>
          <p:nvPr/>
        </p:nvSpPr>
        <p:spPr>
          <a:xfrm flipH="1">
            <a:off x="1810957" y="3296300"/>
            <a:ext cx="1221000" cy="1221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4"/>
          <p:cNvSpPr/>
          <p:nvPr/>
        </p:nvSpPr>
        <p:spPr>
          <a:xfrm flipH="1">
            <a:off x="2376095" y="3861240"/>
            <a:ext cx="90900" cy="90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0" name="Google Shape;1360;p94"/>
          <p:cNvCxnSpPr/>
          <p:nvPr/>
        </p:nvCxnSpPr>
        <p:spPr>
          <a:xfrm rot="10800000">
            <a:off x="3127700" y="3307711"/>
            <a:ext cx="0" cy="120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1" name="Google Shape;1361;p94"/>
          <p:cNvSpPr txBox="1"/>
          <p:nvPr>
            <p:ph idx="1" type="body"/>
          </p:nvPr>
        </p:nvSpPr>
        <p:spPr>
          <a:xfrm>
            <a:off x="332825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362" name="Google Shape;1362;p94"/>
          <p:cNvSpPr txBox="1"/>
          <p:nvPr>
            <p:ph idx="1" type="body"/>
          </p:nvPr>
        </p:nvSpPr>
        <p:spPr>
          <a:xfrm>
            <a:off x="2999825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363" name="Google Shape;1363;p94"/>
          <p:cNvSpPr txBox="1"/>
          <p:nvPr>
            <p:ph idx="1" type="body"/>
          </p:nvPr>
        </p:nvSpPr>
        <p:spPr>
          <a:xfrm>
            <a:off x="5810721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endParaRPr sz="1600"/>
          </a:p>
        </p:txBody>
      </p:sp>
      <p:sp>
        <p:nvSpPr>
          <p:cNvPr id="1364" name="Google Shape;1364;p94"/>
          <p:cNvSpPr txBox="1"/>
          <p:nvPr>
            <p:ph idx="1" type="body"/>
          </p:nvPr>
        </p:nvSpPr>
        <p:spPr>
          <a:xfrm>
            <a:off x="4316330" y="2451380"/>
            <a:ext cx="135300" cy="3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65" name="Google Shape;1365;p94"/>
          <p:cNvGrpSpPr/>
          <p:nvPr/>
        </p:nvGrpSpPr>
        <p:grpSpPr>
          <a:xfrm>
            <a:off x="6819070" y="1407013"/>
            <a:ext cx="985347" cy="985347"/>
            <a:chOff x="1288934" y="1608461"/>
            <a:chExt cx="797400" cy="797400"/>
          </a:xfrm>
        </p:grpSpPr>
        <p:sp>
          <p:nvSpPr>
            <p:cNvPr id="1366" name="Google Shape;1366;p94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7" name="Google Shape;1367;p94"/>
            <p:cNvCxnSpPr>
              <a:stCxn id="1368" idx="3"/>
              <a:endCxn id="1366" idx="3"/>
            </p:cNvCxnSpPr>
            <p:nvPr/>
          </p:nvCxnSpPr>
          <p:spPr>
            <a:xfrm flipH="1">
              <a:off x="1405561" y="2021410"/>
              <a:ext cx="267900" cy="267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68" name="Google Shape;1368;p94"/>
            <p:cNvSpPr/>
            <p:nvPr/>
          </p:nvSpPr>
          <p:spPr>
            <a:xfrm>
              <a:off x="1667574" y="1987098"/>
              <a:ext cx="40200" cy="4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9" name="Google Shape;1369;p94"/>
          <p:cNvSpPr txBox="1"/>
          <p:nvPr>
            <p:ph idx="1" type="body"/>
          </p:nvPr>
        </p:nvSpPr>
        <p:spPr>
          <a:xfrm>
            <a:off x="6966154" y="1846303"/>
            <a:ext cx="1596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70" name="Google Shape;1370;p94"/>
          <p:cNvCxnSpPr/>
          <p:nvPr/>
        </p:nvCxnSpPr>
        <p:spPr>
          <a:xfrm>
            <a:off x="2421503" y="4629627"/>
            <a:ext cx="606000" cy="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1" name="Google Shape;1371;p94"/>
          <p:cNvSpPr txBox="1"/>
          <p:nvPr>
            <p:ph idx="1" type="body"/>
          </p:nvPr>
        </p:nvSpPr>
        <p:spPr>
          <a:xfrm>
            <a:off x="2696664" y="4588245"/>
            <a:ext cx="1359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94"/>
          <p:cNvSpPr txBox="1"/>
          <p:nvPr>
            <p:ph idx="1" type="body"/>
          </p:nvPr>
        </p:nvSpPr>
        <p:spPr>
          <a:xfrm>
            <a:off x="3174954" y="3811046"/>
            <a:ext cx="1359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94"/>
          <p:cNvSpPr/>
          <p:nvPr/>
        </p:nvSpPr>
        <p:spPr>
          <a:xfrm flipH="1" rot="-5400000">
            <a:off x="6005450" y="3634669"/>
            <a:ext cx="1149600" cy="11496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94"/>
          <p:cNvSpPr/>
          <p:nvPr/>
        </p:nvSpPr>
        <p:spPr>
          <a:xfrm flipH="1" rot="-5400000">
            <a:off x="6537359" y="4166590"/>
            <a:ext cx="85500" cy="8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94"/>
          <p:cNvSpPr/>
          <p:nvPr/>
        </p:nvSpPr>
        <p:spPr>
          <a:xfrm flipH="1" rot="-5400000">
            <a:off x="6294648" y="3062700"/>
            <a:ext cx="571200" cy="5712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94"/>
          <p:cNvSpPr/>
          <p:nvPr/>
        </p:nvSpPr>
        <p:spPr>
          <a:xfrm flipH="1" rot="-5400000">
            <a:off x="6558943" y="3336040"/>
            <a:ext cx="42300" cy="423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7" name="Google Shape;1377;p94"/>
          <p:cNvCxnSpPr>
            <a:stCxn id="1373" idx="6"/>
            <a:endCxn id="1375" idx="2"/>
          </p:cNvCxnSpPr>
          <p:nvPr/>
        </p:nvCxnSpPr>
        <p:spPr>
          <a:xfrm rot="10800000">
            <a:off x="6580250" y="3062569"/>
            <a:ext cx="0" cy="17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8" name="Google Shape;1378;p94"/>
          <p:cNvSpPr txBox="1"/>
          <p:nvPr>
            <p:ph idx="1" type="body"/>
          </p:nvPr>
        </p:nvSpPr>
        <p:spPr>
          <a:xfrm>
            <a:off x="1094825" y="3019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79" name="Google Shape;1379;p94"/>
          <p:cNvSpPr txBox="1"/>
          <p:nvPr>
            <p:ph idx="1" type="body"/>
          </p:nvPr>
        </p:nvSpPr>
        <p:spPr>
          <a:xfrm>
            <a:off x="716250" y="1083748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sz="1600"/>
          </a:p>
        </p:txBody>
      </p:sp>
      <p:sp>
        <p:nvSpPr>
          <p:cNvPr id="1380" name="Google Shape;1380;p94"/>
          <p:cNvSpPr txBox="1"/>
          <p:nvPr>
            <p:ph idx="1" type="body"/>
          </p:nvPr>
        </p:nvSpPr>
        <p:spPr>
          <a:xfrm>
            <a:off x="3383250" y="1083748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sz="1600"/>
          </a:p>
        </p:txBody>
      </p:sp>
      <p:sp>
        <p:nvSpPr>
          <p:cNvPr id="1381" name="Google Shape;1381;p94"/>
          <p:cNvSpPr txBox="1"/>
          <p:nvPr>
            <p:ph idx="1" type="body"/>
          </p:nvPr>
        </p:nvSpPr>
        <p:spPr>
          <a:xfrm>
            <a:off x="6202650" y="1083748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21.2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sz="1600"/>
          </a:p>
        </p:txBody>
      </p:sp>
      <p:sp>
        <p:nvSpPr>
          <p:cNvPr id="1382" name="Google Shape;1382;p94"/>
          <p:cNvSpPr txBox="1"/>
          <p:nvPr>
            <p:ph idx="1" type="body"/>
          </p:nvPr>
        </p:nvSpPr>
        <p:spPr>
          <a:xfrm>
            <a:off x="1472025" y="3019875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9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mm</a:t>
            </a:r>
            <a:endParaRPr sz="1600"/>
          </a:p>
        </p:txBody>
      </p:sp>
      <p:sp>
        <p:nvSpPr>
          <p:cNvPr id="1383" name="Google Shape;1383;p94"/>
          <p:cNvSpPr txBox="1"/>
          <p:nvPr>
            <p:ph idx="1" type="body"/>
          </p:nvPr>
        </p:nvSpPr>
        <p:spPr>
          <a:xfrm>
            <a:off x="4676225" y="3019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84" name="Google Shape;1384;p94"/>
          <p:cNvSpPr txBox="1"/>
          <p:nvPr>
            <p:ph idx="1" type="body"/>
          </p:nvPr>
        </p:nvSpPr>
        <p:spPr>
          <a:xfrm>
            <a:off x="6628848" y="3671102"/>
            <a:ext cx="1896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94"/>
          <p:cNvSpPr txBox="1"/>
          <p:nvPr>
            <p:ph idx="1" type="body"/>
          </p:nvPr>
        </p:nvSpPr>
        <p:spPr>
          <a:xfrm>
            <a:off x="5135850" y="3096075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</a:t>
            </a:r>
            <a:r>
              <a:rPr lang="en-GB" sz="1600"/>
              <a:t>m</a:t>
            </a:r>
            <a:endParaRPr sz="1600"/>
          </a:p>
        </p:txBody>
      </p:sp>
      <p:sp>
        <p:nvSpPr>
          <p:cNvPr id="1386" name="Google Shape;1386;p94"/>
          <p:cNvSpPr txBox="1"/>
          <p:nvPr>
            <p:ph idx="1" type="body"/>
          </p:nvPr>
        </p:nvSpPr>
        <p:spPr>
          <a:xfrm>
            <a:off x="4884650" y="3679200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36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sz="1600"/>
          </a:p>
        </p:txBody>
      </p:sp>
      <p:cxnSp>
        <p:nvCxnSpPr>
          <p:cNvPr id="1387" name="Google Shape;1387;p94"/>
          <p:cNvCxnSpPr/>
          <p:nvPr/>
        </p:nvCxnSpPr>
        <p:spPr>
          <a:xfrm>
            <a:off x="1583800" y="1308725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94"/>
          <p:cNvCxnSpPr/>
          <p:nvPr/>
        </p:nvCxnSpPr>
        <p:spPr>
          <a:xfrm>
            <a:off x="4368750" y="1308725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94"/>
          <p:cNvCxnSpPr/>
          <p:nvPr/>
        </p:nvCxnSpPr>
        <p:spPr>
          <a:xfrm>
            <a:off x="7328900" y="1316000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94"/>
          <p:cNvCxnSpPr/>
          <p:nvPr/>
        </p:nvCxnSpPr>
        <p:spPr>
          <a:xfrm flipH="1" rot="10800000">
            <a:off x="6185450" y="3142000"/>
            <a:ext cx="168900" cy="9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94"/>
          <p:cNvCxnSpPr/>
          <p:nvPr/>
        </p:nvCxnSpPr>
        <p:spPr>
          <a:xfrm flipH="1" rot="10800000">
            <a:off x="5933786" y="3809125"/>
            <a:ext cx="206400" cy="3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94"/>
          <p:cNvCxnSpPr/>
          <p:nvPr/>
        </p:nvCxnSpPr>
        <p:spPr>
          <a:xfrm>
            <a:off x="1930669" y="3270812"/>
            <a:ext cx="2700" cy="23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94"/>
          <p:cNvSpPr txBox="1"/>
          <p:nvPr>
            <p:ph idx="1" type="body"/>
          </p:nvPr>
        </p:nvSpPr>
        <p:spPr>
          <a:xfrm>
            <a:off x="7117425" y="3089250"/>
            <a:ext cx="15537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total height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95"/>
          <p:cNvSpPr/>
          <p:nvPr/>
        </p:nvSpPr>
        <p:spPr>
          <a:xfrm rot="5891283">
            <a:off x="6689149" y="2224946"/>
            <a:ext cx="2013728" cy="2013728"/>
          </a:xfrm>
          <a:prstGeom prst="arc">
            <a:avLst>
              <a:gd fmla="val 10833709" name="adj1"/>
              <a:gd fmla="val 9658571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95"/>
          <p:cNvSpPr txBox="1"/>
          <p:nvPr>
            <p:ph idx="1" type="body"/>
          </p:nvPr>
        </p:nvSpPr>
        <p:spPr>
          <a:xfrm>
            <a:off x="324000" y="703795"/>
            <a:ext cx="8496000" cy="6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2) The diagram is a 2D representation of the International Space Station orbiting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the Earth. The diagram is not drawn to scale.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00" name="Google Shape;1400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sp>
        <p:nvSpPr>
          <p:cNvPr id="1401" name="Google Shape;1401;p95"/>
          <p:cNvSpPr txBox="1"/>
          <p:nvPr>
            <p:ph idx="1" type="body"/>
          </p:nvPr>
        </p:nvSpPr>
        <p:spPr>
          <a:xfrm>
            <a:off x="326350" y="1607925"/>
            <a:ext cx="6315900" cy="3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a) The circumference of Earth is approximately 40 075 km.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 Calculate the radius of Earth (to the nearest km).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700"/>
            </a:br>
            <a:r>
              <a:rPr lang="en-GB" sz="1700"/>
              <a:t>b) The circumference of the space station’s orbit is </a:t>
            </a:r>
            <a:br>
              <a:rPr lang="en-GB" sz="1700"/>
            </a:br>
            <a:r>
              <a:rPr lang="en-GB" sz="1700"/>
              <a:t>     approximately 42 590 km.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 </a:t>
            </a:r>
            <a:r>
              <a:rPr lang="en-GB" sz="1700"/>
              <a:t>Calculate the distance between the space station </a:t>
            </a:r>
            <a:br>
              <a:rPr lang="en-GB" sz="1700"/>
            </a:br>
            <a:r>
              <a:rPr lang="en-GB" sz="1700"/>
              <a:t>     </a:t>
            </a:r>
            <a:r>
              <a:rPr lang="en-GB" sz="1700"/>
              <a:t>a</a:t>
            </a:r>
            <a:r>
              <a:rPr lang="en-GB" sz="1700"/>
              <a:t>nd the centre of the Earth (to the nearest km).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700"/>
            </a:br>
            <a:r>
              <a:rPr lang="en-GB" sz="1700"/>
              <a:t>c) How far is the space station above the ground </a:t>
            </a:r>
            <a:br>
              <a:rPr lang="en-GB" sz="1700"/>
            </a:br>
            <a:r>
              <a:rPr lang="en-GB" sz="1700"/>
              <a:t>    (to the nearest km)?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02" name="Google Shape;140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120" y="2595947"/>
            <a:ext cx="1321702" cy="1314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95"/>
          <p:cNvSpPr/>
          <p:nvPr/>
        </p:nvSpPr>
        <p:spPr>
          <a:xfrm>
            <a:off x="7546595" y="2162437"/>
            <a:ext cx="245400" cy="14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5"/>
          <p:cNvSpPr txBox="1"/>
          <p:nvPr>
            <p:ph idx="1" type="body"/>
          </p:nvPr>
        </p:nvSpPr>
        <p:spPr>
          <a:xfrm>
            <a:off x="7162225" y="1381172"/>
            <a:ext cx="1450800" cy="5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International Space Station</a:t>
            </a:r>
            <a:endParaRPr sz="1600"/>
          </a:p>
        </p:txBody>
      </p:sp>
      <p:cxnSp>
        <p:nvCxnSpPr>
          <p:cNvPr id="1405" name="Google Shape;1405;p95"/>
          <p:cNvCxnSpPr>
            <a:endCxn id="1403" idx="0"/>
          </p:cNvCxnSpPr>
          <p:nvPr/>
        </p:nvCxnSpPr>
        <p:spPr>
          <a:xfrm flipH="1">
            <a:off x="7669295" y="1902937"/>
            <a:ext cx="115800" cy="25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96"/>
          <p:cNvSpPr txBox="1"/>
          <p:nvPr>
            <p:ph idx="1" type="body"/>
          </p:nvPr>
        </p:nvSpPr>
        <p:spPr>
          <a:xfrm>
            <a:off x="324000" y="759300"/>
            <a:ext cx="8496000" cy="2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1) </a:t>
            </a:r>
            <a:r>
              <a:rPr lang="en-GB" sz="1600"/>
              <a:t>Calculate the length labelled in each diagram. Round decimals to 1 decimal place.</a:t>
            </a:r>
            <a:endParaRPr/>
          </a:p>
        </p:txBody>
      </p:sp>
      <p:sp>
        <p:nvSpPr>
          <p:cNvPr id="1411" name="Google Shape;1411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grpSp>
        <p:nvGrpSpPr>
          <p:cNvPr id="1412" name="Google Shape;1412;p96"/>
          <p:cNvGrpSpPr/>
          <p:nvPr/>
        </p:nvGrpSpPr>
        <p:grpSpPr>
          <a:xfrm>
            <a:off x="1149075" y="1409033"/>
            <a:ext cx="862069" cy="862069"/>
            <a:chOff x="1288934" y="1608461"/>
            <a:chExt cx="797400" cy="797400"/>
          </a:xfrm>
        </p:grpSpPr>
        <p:sp>
          <p:nvSpPr>
            <p:cNvPr id="1413" name="Google Shape;1413;p96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4" name="Google Shape;1414;p96"/>
            <p:cNvCxnSpPr/>
            <p:nvPr/>
          </p:nvCxnSpPr>
          <p:spPr>
            <a:xfrm rot="10800000">
              <a:off x="1409424" y="1736173"/>
              <a:ext cx="571200" cy="56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15" name="Google Shape;1415;p96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6" name="Google Shape;1416;p96"/>
          <p:cNvGrpSpPr/>
          <p:nvPr/>
        </p:nvGrpSpPr>
        <p:grpSpPr>
          <a:xfrm>
            <a:off x="3835861" y="1386946"/>
            <a:ext cx="1045265" cy="1118521"/>
            <a:chOff x="2870094" y="1609830"/>
            <a:chExt cx="997200" cy="1067087"/>
          </a:xfrm>
        </p:grpSpPr>
        <p:sp>
          <p:nvSpPr>
            <p:cNvPr id="1417" name="Google Shape;1417;p96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8" name="Google Shape;1418;p96"/>
            <p:cNvCxnSpPr/>
            <p:nvPr/>
          </p:nvCxnSpPr>
          <p:spPr>
            <a:xfrm>
              <a:off x="2870094" y="2676917"/>
              <a:ext cx="997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19" name="Google Shape;1419;p96"/>
          <p:cNvSpPr txBox="1"/>
          <p:nvPr>
            <p:ph idx="1" type="body"/>
          </p:nvPr>
        </p:nvSpPr>
        <p:spPr>
          <a:xfrm>
            <a:off x="1631780" y="1615273"/>
            <a:ext cx="139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0" name="Google Shape;1420;p96"/>
          <p:cNvSpPr/>
          <p:nvPr/>
        </p:nvSpPr>
        <p:spPr>
          <a:xfrm flipH="1">
            <a:off x="2416962" y="3297613"/>
            <a:ext cx="615000" cy="1221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6"/>
          <p:cNvSpPr/>
          <p:nvPr/>
        </p:nvSpPr>
        <p:spPr>
          <a:xfrm flipH="1">
            <a:off x="1810957" y="3296300"/>
            <a:ext cx="1221000" cy="1221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6"/>
          <p:cNvSpPr/>
          <p:nvPr/>
        </p:nvSpPr>
        <p:spPr>
          <a:xfrm flipH="1">
            <a:off x="2376095" y="3861240"/>
            <a:ext cx="90900" cy="90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3" name="Google Shape;1423;p96"/>
          <p:cNvCxnSpPr/>
          <p:nvPr/>
        </p:nvCxnSpPr>
        <p:spPr>
          <a:xfrm rot="10800000">
            <a:off x="3127700" y="3307711"/>
            <a:ext cx="0" cy="120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4" name="Google Shape;1424;p96"/>
          <p:cNvSpPr txBox="1"/>
          <p:nvPr>
            <p:ph idx="1" type="body"/>
          </p:nvPr>
        </p:nvSpPr>
        <p:spPr>
          <a:xfrm>
            <a:off x="332825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425" name="Google Shape;1425;p96"/>
          <p:cNvSpPr txBox="1"/>
          <p:nvPr>
            <p:ph idx="1" type="body"/>
          </p:nvPr>
        </p:nvSpPr>
        <p:spPr>
          <a:xfrm>
            <a:off x="2999825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426" name="Google Shape;1426;p96"/>
          <p:cNvSpPr txBox="1"/>
          <p:nvPr>
            <p:ph idx="1" type="body"/>
          </p:nvPr>
        </p:nvSpPr>
        <p:spPr>
          <a:xfrm>
            <a:off x="5810721" y="1089373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endParaRPr sz="1600"/>
          </a:p>
        </p:txBody>
      </p:sp>
      <p:sp>
        <p:nvSpPr>
          <p:cNvPr id="1427" name="Google Shape;1427;p96"/>
          <p:cNvSpPr txBox="1"/>
          <p:nvPr>
            <p:ph idx="1" type="body"/>
          </p:nvPr>
        </p:nvSpPr>
        <p:spPr>
          <a:xfrm>
            <a:off x="4316330" y="2451380"/>
            <a:ext cx="135300" cy="3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28" name="Google Shape;1428;p96"/>
          <p:cNvGrpSpPr/>
          <p:nvPr/>
        </p:nvGrpSpPr>
        <p:grpSpPr>
          <a:xfrm>
            <a:off x="6819070" y="1407013"/>
            <a:ext cx="985347" cy="985347"/>
            <a:chOff x="1288934" y="1608461"/>
            <a:chExt cx="797400" cy="797400"/>
          </a:xfrm>
        </p:grpSpPr>
        <p:sp>
          <p:nvSpPr>
            <p:cNvPr id="1429" name="Google Shape;1429;p96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0" name="Google Shape;1430;p96"/>
            <p:cNvCxnSpPr>
              <a:stCxn id="1431" idx="3"/>
              <a:endCxn id="1429" idx="3"/>
            </p:cNvCxnSpPr>
            <p:nvPr/>
          </p:nvCxnSpPr>
          <p:spPr>
            <a:xfrm flipH="1">
              <a:off x="1405561" y="2021410"/>
              <a:ext cx="267900" cy="267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31" name="Google Shape;1431;p96"/>
            <p:cNvSpPr/>
            <p:nvPr/>
          </p:nvSpPr>
          <p:spPr>
            <a:xfrm>
              <a:off x="1667574" y="1987098"/>
              <a:ext cx="40200" cy="4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2" name="Google Shape;1432;p96"/>
          <p:cNvSpPr txBox="1"/>
          <p:nvPr>
            <p:ph idx="1" type="body"/>
          </p:nvPr>
        </p:nvSpPr>
        <p:spPr>
          <a:xfrm>
            <a:off x="6966154" y="1846303"/>
            <a:ext cx="1596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3" name="Google Shape;1433;p96"/>
          <p:cNvCxnSpPr/>
          <p:nvPr/>
        </p:nvCxnSpPr>
        <p:spPr>
          <a:xfrm>
            <a:off x="2421503" y="4629627"/>
            <a:ext cx="606000" cy="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4" name="Google Shape;1434;p96"/>
          <p:cNvSpPr txBox="1"/>
          <p:nvPr>
            <p:ph idx="1" type="body"/>
          </p:nvPr>
        </p:nvSpPr>
        <p:spPr>
          <a:xfrm>
            <a:off x="2696664" y="4588245"/>
            <a:ext cx="1359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96"/>
          <p:cNvSpPr txBox="1"/>
          <p:nvPr>
            <p:ph idx="1" type="body"/>
          </p:nvPr>
        </p:nvSpPr>
        <p:spPr>
          <a:xfrm>
            <a:off x="3174954" y="3811046"/>
            <a:ext cx="1359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6" name="Google Shape;1436;p96"/>
          <p:cNvSpPr/>
          <p:nvPr/>
        </p:nvSpPr>
        <p:spPr>
          <a:xfrm flipH="1" rot="-5400000">
            <a:off x="6005450" y="3634669"/>
            <a:ext cx="1149600" cy="11496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6"/>
          <p:cNvSpPr/>
          <p:nvPr/>
        </p:nvSpPr>
        <p:spPr>
          <a:xfrm flipH="1" rot="-5400000">
            <a:off x="6537359" y="4166590"/>
            <a:ext cx="85500" cy="8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96"/>
          <p:cNvSpPr/>
          <p:nvPr/>
        </p:nvSpPr>
        <p:spPr>
          <a:xfrm flipH="1" rot="-5400000">
            <a:off x="6294648" y="3062700"/>
            <a:ext cx="571200" cy="5712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96"/>
          <p:cNvSpPr/>
          <p:nvPr/>
        </p:nvSpPr>
        <p:spPr>
          <a:xfrm flipH="1" rot="-5400000">
            <a:off x="6558943" y="3336040"/>
            <a:ext cx="42300" cy="423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0" name="Google Shape;1440;p96"/>
          <p:cNvCxnSpPr>
            <a:stCxn id="1436" idx="6"/>
            <a:endCxn id="1438" idx="2"/>
          </p:cNvCxnSpPr>
          <p:nvPr/>
        </p:nvCxnSpPr>
        <p:spPr>
          <a:xfrm rot="10800000">
            <a:off x="6580250" y="3062569"/>
            <a:ext cx="0" cy="17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1" name="Google Shape;1441;p96"/>
          <p:cNvSpPr txBox="1"/>
          <p:nvPr>
            <p:ph idx="1" type="body"/>
          </p:nvPr>
        </p:nvSpPr>
        <p:spPr>
          <a:xfrm>
            <a:off x="1094825" y="3019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endParaRPr sz="1600"/>
          </a:p>
        </p:txBody>
      </p:sp>
      <p:sp>
        <p:nvSpPr>
          <p:cNvPr id="1442" name="Google Shape;1442;p96"/>
          <p:cNvSpPr txBox="1"/>
          <p:nvPr>
            <p:ph idx="1" type="body"/>
          </p:nvPr>
        </p:nvSpPr>
        <p:spPr>
          <a:xfrm>
            <a:off x="716250" y="1083748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sz="1600"/>
          </a:p>
        </p:txBody>
      </p:sp>
      <p:sp>
        <p:nvSpPr>
          <p:cNvPr id="1443" name="Google Shape;1443;p96"/>
          <p:cNvSpPr txBox="1"/>
          <p:nvPr>
            <p:ph idx="1" type="body"/>
          </p:nvPr>
        </p:nvSpPr>
        <p:spPr>
          <a:xfrm>
            <a:off x="3383250" y="1083748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600"/>
              <a:t>m</a:t>
            </a:r>
            <a:endParaRPr sz="1600"/>
          </a:p>
        </p:txBody>
      </p:sp>
      <p:sp>
        <p:nvSpPr>
          <p:cNvPr id="1444" name="Google Shape;1444;p96"/>
          <p:cNvSpPr txBox="1"/>
          <p:nvPr>
            <p:ph idx="1" type="body"/>
          </p:nvPr>
        </p:nvSpPr>
        <p:spPr>
          <a:xfrm>
            <a:off x="6202650" y="1083748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21.2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sz="1600"/>
          </a:p>
        </p:txBody>
      </p:sp>
      <p:sp>
        <p:nvSpPr>
          <p:cNvPr id="1445" name="Google Shape;1445;p96"/>
          <p:cNvSpPr txBox="1"/>
          <p:nvPr>
            <p:ph idx="1" type="body"/>
          </p:nvPr>
        </p:nvSpPr>
        <p:spPr>
          <a:xfrm>
            <a:off x="1472025" y="3019875"/>
            <a:ext cx="9855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9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mm</a:t>
            </a:r>
            <a:endParaRPr sz="1600"/>
          </a:p>
        </p:txBody>
      </p:sp>
      <p:sp>
        <p:nvSpPr>
          <p:cNvPr id="1446" name="Google Shape;1446;p96"/>
          <p:cNvSpPr txBox="1"/>
          <p:nvPr>
            <p:ph idx="1" type="body"/>
          </p:nvPr>
        </p:nvSpPr>
        <p:spPr>
          <a:xfrm>
            <a:off x="4676225" y="3019275"/>
            <a:ext cx="3309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</a:t>
            </a:r>
            <a:endParaRPr sz="1600"/>
          </a:p>
        </p:txBody>
      </p:sp>
      <p:sp>
        <p:nvSpPr>
          <p:cNvPr id="1447" name="Google Shape;1447;p96"/>
          <p:cNvSpPr txBox="1"/>
          <p:nvPr>
            <p:ph idx="1" type="body"/>
          </p:nvPr>
        </p:nvSpPr>
        <p:spPr>
          <a:xfrm>
            <a:off x="6628848" y="3671102"/>
            <a:ext cx="1896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8" name="Google Shape;1448;p96"/>
          <p:cNvSpPr txBox="1"/>
          <p:nvPr>
            <p:ph idx="1" type="body"/>
          </p:nvPr>
        </p:nvSpPr>
        <p:spPr>
          <a:xfrm>
            <a:off x="5135850" y="3096075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14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sz="1600"/>
          </a:p>
        </p:txBody>
      </p:sp>
      <p:sp>
        <p:nvSpPr>
          <p:cNvPr id="1449" name="Google Shape;1449;p96"/>
          <p:cNvSpPr txBox="1"/>
          <p:nvPr>
            <p:ph idx="1" type="body"/>
          </p:nvPr>
        </p:nvSpPr>
        <p:spPr>
          <a:xfrm>
            <a:off x="4884650" y="3679200"/>
            <a:ext cx="12321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600"/>
              <a:t>36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sz="1600"/>
          </a:p>
        </p:txBody>
      </p:sp>
      <p:cxnSp>
        <p:nvCxnSpPr>
          <p:cNvPr id="1450" name="Google Shape;1450;p96"/>
          <p:cNvCxnSpPr/>
          <p:nvPr/>
        </p:nvCxnSpPr>
        <p:spPr>
          <a:xfrm>
            <a:off x="1583800" y="1308725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96"/>
          <p:cNvCxnSpPr/>
          <p:nvPr/>
        </p:nvCxnSpPr>
        <p:spPr>
          <a:xfrm>
            <a:off x="4368750" y="1308725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96"/>
          <p:cNvCxnSpPr/>
          <p:nvPr/>
        </p:nvCxnSpPr>
        <p:spPr>
          <a:xfrm>
            <a:off x="7328900" y="1316000"/>
            <a:ext cx="125700" cy="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96"/>
          <p:cNvCxnSpPr/>
          <p:nvPr/>
        </p:nvCxnSpPr>
        <p:spPr>
          <a:xfrm flipH="1" rot="10800000">
            <a:off x="6185450" y="3142000"/>
            <a:ext cx="168900" cy="9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96"/>
          <p:cNvCxnSpPr/>
          <p:nvPr/>
        </p:nvCxnSpPr>
        <p:spPr>
          <a:xfrm flipH="1" rot="10800000">
            <a:off x="5933786" y="3809125"/>
            <a:ext cx="206400" cy="3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96"/>
          <p:cNvCxnSpPr/>
          <p:nvPr/>
        </p:nvCxnSpPr>
        <p:spPr>
          <a:xfrm>
            <a:off x="1930669" y="3270812"/>
            <a:ext cx="2700" cy="23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96"/>
          <p:cNvSpPr txBox="1"/>
          <p:nvPr>
            <p:ph idx="1" type="body"/>
          </p:nvPr>
        </p:nvSpPr>
        <p:spPr>
          <a:xfrm>
            <a:off x="7117425" y="3089250"/>
            <a:ext cx="1553700" cy="3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 sz="1600"/>
              <a:t>= total height</a:t>
            </a:r>
            <a:endParaRPr sz="1600"/>
          </a:p>
        </p:txBody>
      </p:sp>
      <p:sp>
        <p:nvSpPr>
          <p:cNvPr id="1457" name="Google Shape;1457;p96"/>
          <p:cNvSpPr txBox="1"/>
          <p:nvPr>
            <p:ph idx="1" type="body"/>
          </p:nvPr>
        </p:nvSpPr>
        <p:spPr>
          <a:xfrm>
            <a:off x="2012751" y="2148675"/>
            <a:ext cx="985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4.8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8" name="Google Shape;1458;p96"/>
          <p:cNvSpPr txBox="1"/>
          <p:nvPr>
            <p:ph idx="1" type="body"/>
          </p:nvPr>
        </p:nvSpPr>
        <p:spPr>
          <a:xfrm>
            <a:off x="5060751" y="2148675"/>
            <a:ext cx="985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15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9" name="Google Shape;1459;p96"/>
          <p:cNvSpPr txBox="1"/>
          <p:nvPr>
            <p:ph idx="1" type="body"/>
          </p:nvPr>
        </p:nvSpPr>
        <p:spPr>
          <a:xfrm>
            <a:off x="7738004" y="2148675"/>
            <a:ext cx="11127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3.4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0" name="Google Shape;1460;p96"/>
          <p:cNvSpPr txBox="1"/>
          <p:nvPr>
            <p:ph idx="1" type="body"/>
          </p:nvPr>
        </p:nvSpPr>
        <p:spPr>
          <a:xfrm>
            <a:off x="3378125" y="4206075"/>
            <a:ext cx="11496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1.4 mm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1" name="Google Shape;1461;p96"/>
          <p:cNvSpPr txBox="1"/>
          <p:nvPr>
            <p:ph idx="1" type="body"/>
          </p:nvPr>
        </p:nvSpPr>
        <p:spPr>
          <a:xfrm>
            <a:off x="3378125" y="4510875"/>
            <a:ext cx="11127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2.9 mm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96"/>
          <p:cNvSpPr txBox="1"/>
          <p:nvPr>
            <p:ph idx="1" type="body"/>
          </p:nvPr>
        </p:nvSpPr>
        <p:spPr>
          <a:xfrm>
            <a:off x="7264325" y="4510875"/>
            <a:ext cx="11127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15.9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97"/>
          <p:cNvSpPr txBox="1"/>
          <p:nvPr>
            <p:ph idx="1" type="body"/>
          </p:nvPr>
        </p:nvSpPr>
        <p:spPr>
          <a:xfrm>
            <a:off x="326350" y="1607925"/>
            <a:ext cx="6152700" cy="3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a) The circumference of Earth is approximately 40 075 km.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 Calculate the radius of Earth (to the nearest km).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700"/>
            </a:br>
            <a:r>
              <a:rPr lang="en-GB" sz="1700"/>
              <a:t>b) The circumference of the space station’s orbit is </a:t>
            </a:r>
            <a:br>
              <a:rPr lang="en-GB" sz="1700"/>
            </a:br>
            <a:r>
              <a:rPr lang="en-GB" sz="1700"/>
              <a:t>     approximately 42 590 km.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 Calculate the distance between the space station </a:t>
            </a:r>
            <a:br>
              <a:rPr lang="en-GB" sz="1700"/>
            </a:br>
            <a:r>
              <a:rPr lang="en-GB" sz="1700"/>
              <a:t>     and the centre of the Earth (to the nearest km).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700"/>
            </a:br>
            <a:r>
              <a:rPr lang="en-GB" sz="1700"/>
              <a:t>c) How far is the space station above the ground </a:t>
            </a:r>
            <a:br>
              <a:rPr lang="en-GB" sz="1700"/>
            </a:br>
            <a:r>
              <a:rPr lang="en-GB" sz="1700"/>
              <a:t>    (to the nearest km)?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68" name="Google Shape;1468;p97"/>
          <p:cNvSpPr/>
          <p:nvPr/>
        </p:nvSpPr>
        <p:spPr>
          <a:xfrm rot="5891283">
            <a:off x="6689149" y="2224946"/>
            <a:ext cx="2013728" cy="2013728"/>
          </a:xfrm>
          <a:prstGeom prst="arc">
            <a:avLst>
              <a:gd fmla="val 10833709" name="adj1"/>
              <a:gd fmla="val 9658571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a formula to calculate the diameter and radius</a:t>
            </a:r>
            <a:endParaRPr/>
          </a:p>
        </p:txBody>
      </p:sp>
      <p:pic>
        <p:nvPicPr>
          <p:cNvPr id="1470" name="Google Shape;147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120" y="2595947"/>
            <a:ext cx="1321702" cy="1314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97"/>
          <p:cNvSpPr/>
          <p:nvPr/>
        </p:nvSpPr>
        <p:spPr>
          <a:xfrm>
            <a:off x="7546595" y="2162437"/>
            <a:ext cx="245400" cy="14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7"/>
          <p:cNvSpPr txBox="1"/>
          <p:nvPr>
            <p:ph idx="1" type="body"/>
          </p:nvPr>
        </p:nvSpPr>
        <p:spPr>
          <a:xfrm>
            <a:off x="7162225" y="1381172"/>
            <a:ext cx="1450800" cy="5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International Space Station</a:t>
            </a:r>
            <a:endParaRPr sz="1600"/>
          </a:p>
        </p:txBody>
      </p:sp>
      <p:cxnSp>
        <p:nvCxnSpPr>
          <p:cNvPr id="1473" name="Google Shape;1473;p97"/>
          <p:cNvCxnSpPr>
            <a:endCxn id="1471" idx="0"/>
          </p:cNvCxnSpPr>
          <p:nvPr/>
        </p:nvCxnSpPr>
        <p:spPr>
          <a:xfrm flipH="1">
            <a:off x="7669295" y="1902937"/>
            <a:ext cx="115800" cy="25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4" name="Google Shape;1474;p97"/>
          <p:cNvSpPr txBox="1"/>
          <p:nvPr>
            <p:ph idx="1" type="body"/>
          </p:nvPr>
        </p:nvSpPr>
        <p:spPr>
          <a:xfrm>
            <a:off x="5974439" y="1879591"/>
            <a:ext cx="985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6378 km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5" name="Google Shape;1475;p97"/>
          <p:cNvSpPr txBox="1"/>
          <p:nvPr>
            <p:ph idx="1" type="body"/>
          </p:nvPr>
        </p:nvSpPr>
        <p:spPr>
          <a:xfrm>
            <a:off x="5686520" y="3383789"/>
            <a:ext cx="985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6778 km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6" name="Google Shape;1476;p97"/>
          <p:cNvSpPr txBox="1"/>
          <p:nvPr>
            <p:ph idx="1" type="body"/>
          </p:nvPr>
        </p:nvSpPr>
        <p:spPr>
          <a:xfrm>
            <a:off x="5646727" y="4211617"/>
            <a:ext cx="9855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 km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7" name="Google Shape;1477;p97"/>
          <p:cNvSpPr txBox="1"/>
          <p:nvPr>
            <p:ph idx="1" type="body"/>
          </p:nvPr>
        </p:nvSpPr>
        <p:spPr>
          <a:xfrm>
            <a:off x="324000" y="703795"/>
            <a:ext cx="8496000" cy="6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2) The diagram is a 2D representation of the International Space Station orbiting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    the Earth. The diagram is not drawn to scale.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98"/>
          <p:cNvSpPr txBox="1"/>
          <p:nvPr>
            <p:ph idx="1" type="body"/>
          </p:nvPr>
        </p:nvSpPr>
        <p:spPr>
          <a:xfrm>
            <a:off x="324000" y="851400"/>
            <a:ext cx="84087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formula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C=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can be used to find the circumference when you know the diameter.</a:t>
            </a:r>
            <a:r>
              <a:rPr lang="en-GB" sz="2000"/>
              <a:t> </a:t>
            </a:r>
            <a:br>
              <a:rPr lang="en-GB" sz="2000"/>
            </a:br>
            <a:endParaRPr sz="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formula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C=2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can be used to find the circumference when you know the radius. </a:t>
            </a:r>
            <a:br>
              <a:rPr lang="en-GB" sz="2000"/>
            </a:br>
            <a:endParaRPr sz="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formulae can be used to find the radius or diameter when you know the circumference.</a:t>
            </a:r>
            <a:br>
              <a:rPr lang="en-GB" sz="2000"/>
            </a:br>
            <a:endParaRPr sz="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Answers written as a decimal will need to be rounded to an appropriate degree of accuracy.</a:t>
            </a:r>
            <a:br>
              <a:rPr lang="en-GB" sz="2000"/>
            </a:br>
            <a:endParaRPr sz="5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GB" sz="2000"/>
              <a:t>An answer can be exact by writing it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83" name="Google Shape;1483;p9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89" name="Google Shape;148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