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81859d9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81859d9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81859d96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81859d96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98ed19e206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98ed19e206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98ed19e206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98ed19e206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98ed19e206_0_1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98ed19e206_0_1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98ed19e206_0_1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98ed19e206_0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98ed19e206_0_1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98ed19e206_0_1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98ed19e206_0_1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98ed19e206_0_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986d77bc5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986d77bc5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29e5d2d857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29e5d2d857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981859d96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981859d96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986d77bc58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986d77bc58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9e5d2d8577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9e5d2d8577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29e5d2d8577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9e5d2d8577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986d77bc58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2986d77bc58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98ed19e206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98ed19e206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298ed19e206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298ed19e206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29e5d2d8577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29e5d2d8577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98ed19e206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98ed19e206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9e5d2d8577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9e5d2d8577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29e5d2d8577_0_1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29e5d2d8577_0_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29e5d2d8577_0_1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29e5d2d8577_0_1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29e5d2d8577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g29e5d2d8577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g2981859d96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2" name="Google Shape;1732;g2981859d96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298ed19e206_0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298ed19e206_0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98ed19e206_0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98ed19e206_0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g298ed19e206_0_1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8" name="Google Shape;1828;g298ed19e206_0_1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298ed19e206_0_1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298ed19e206_0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298ed19e206_0_1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298ed19e206_0_1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8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g29e5d2d8577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0" name="Google Shape;2010;g29e5d2d8577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9" name="Google Shape;206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0.png"/><Relationship Id="rId4" Type="http://schemas.openxmlformats.org/officeDocument/2006/relationships/image" Target="../media/image62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2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2.png"/><Relationship Id="rId4" Type="http://schemas.openxmlformats.org/officeDocument/2006/relationships/image" Target="../media/image32.png"/><Relationship Id="rId11" Type="http://schemas.openxmlformats.org/officeDocument/2006/relationships/image" Target="../media/image21.png"/><Relationship Id="rId10" Type="http://schemas.openxmlformats.org/officeDocument/2006/relationships/image" Target="../media/image39.png"/><Relationship Id="rId9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33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110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Relationship Id="rId4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8.png"/><Relationship Id="rId4" Type="http://schemas.openxmlformats.org/officeDocument/2006/relationships/image" Target="../media/image5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3.png"/><Relationship Id="rId4" Type="http://schemas.openxmlformats.org/officeDocument/2006/relationships/image" Target="../media/image6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Perimeter, area and volume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area of triangles, quadrilaterals and composite rectilinear shapes.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6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area is the size of the surface and states the number of unit squares needed to completely cover that surface. </a:t>
            </a:r>
            <a:endParaRPr sz="20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071188"/>
            <a:ext cx="8496000" cy="10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trapezium is a quadrilateral with exactly one pair of parallel opposite sides. The plural of trapezium </a:t>
            </a:r>
            <a:r>
              <a:rPr lang="en-GB" sz="2000"/>
              <a:t>can be referred to a</a:t>
            </a:r>
            <a:r>
              <a:rPr lang="en-GB" sz="2000"/>
              <a:t>s trapezia or trapeziums. </a:t>
            </a:r>
            <a:endParaRPr sz="20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483825"/>
            <a:ext cx="8496000" cy="6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composite rectilinear shape is a composite shape made from rectangles.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rectangles, triangles and parallelograms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trapezia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composite shapes</a:t>
            </a:r>
            <a:endParaRPr/>
          </a:p>
        </p:txBody>
      </p:sp>
      <p:sp>
        <p:nvSpPr>
          <p:cNvPr id="776" name="Google Shape;776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2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Areas of rectangles, triangles and parallelograms</a:t>
            </a:r>
            <a:endParaRPr/>
          </a:p>
        </p:txBody>
      </p:sp>
      <p:sp>
        <p:nvSpPr>
          <p:cNvPr id="783" name="Google Shape;783;p69"/>
          <p:cNvSpPr/>
          <p:nvPr/>
        </p:nvSpPr>
        <p:spPr>
          <a:xfrm>
            <a:off x="3181172" y="3177405"/>
            <a:ext cx="1824900" cy="112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324000" y="772725"/>
            <a:ext cx="7135200" cy="36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rectangle below represents a field that is surrounded by a wall.</a:t>
            </a:r>
            <a:endParaRPr sz="2000"/>
          </a:p>
        </p:txBody>
      </p:sp>
      <p:cxnSp>
        <p:nvCxnSpPr>
          <p:cNvPr id="785" name="Google Shape;785;p69"/>
          <p:cNvCxnSpPr/>
          <p:nvPr/>
        </p:nvCxnSpPr>
        <p:spPr>
          <a:xfrm>
            <a:off x="3190321" y="4419051"/>
            <a:ext cx="1815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6" name="Google Shape;786;p69"/>
          <p:cNvSpPr txBox="1"/>
          <p:nvPr>
            <p:ph idx="1" type="body"/>
          </p:nvPr>
        </p:nvSpPr>
        <p:spPr>
          <a:xfrm>
            <a:off x="2551516" y="3648801"/>
            <a:ext cx="5226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90 m</a:t>
            </a:r>
            <a:endParaRPr sz="1600"/>
          </a:p>
        </p:txBody>
      </p:sp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3853919" y="4433378"/>
            <a:ext cx="637500" cy="297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120 m</a:t>
            </a:r>
            <a:endParaRPr sz="1600"/>
          </a:p>
        </p:txBody>
      </p:sp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293520" y="2557813"/>
            <a:ext cx="8667600" cy="317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area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of the field is the amount of space covered with grass.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789" name="Google Shape;789;p69"/>
          <p:cNvCxnSpPr/>
          <p:nvPr/>
        </p:nvCxnSpPr>
        <p:spPr>
          <a:xfrm>
            <a:off x="3195365" y="4296707"/>
            <a:ext cx="18057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69"/>
          <p:cNvCxnSpPr/>
          <p:nvPr/>
        </p:nvCxnSpPr>
        <p:spPr>
          <a:xfrm rot="10800000">
            <a:off x="3077475" y="3157078"/>
            <a:ext cx="0" cy="113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1" name="Google Shape;791;p69"/>
          <p:cNvCxnSpPr/>
          <p:nvPr/>
        </p:nvCxnSpPr>
        <p:spPr>
          <a:xfrm rot="10800000">
            <a:off x="3190780" y="3167703"/>
            <a:ext cx="0" cy="1161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69"/>
          <p:cNvCxnSpPr/>
          <p:nvPr/>
        </p:nvCxnSpPr>
        <p:spPr>
          <a:xfrm rot="10800000">
            <a:off x="4990956" y="3162681"/>
            <a:ext cx="0" cy="1161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69"/>
          <p:cNvCxnSpPr/>
          <p:nvPr/>
        </p:nvCxnSpPr>
        <p:spPr>
          <a:xfrm>
            <a:off x="3173466" y="3194064"/>
            <a:ext cx="18276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324000" y="1648486"/>
            <a:ext cx="7885200" cy="687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Which could be found by calculating the </a:t>
            </a:r>
            <a:r>
              <a:rPr lang="en-GB" sz="2000">
                <a:solidFill>
                  <a:schemeClr val="accent4"/>
                </a:solidFill>
              </a:rPr>
              <a:t>area</a:t>
            </a:r>
            <a:r>
              <a:rPr lang="en-GB" sz="2000">
                <a:solidFill>
                  <a:schemeClr val="accent4"/>
                </a:solidFill>
              </a:rPr>
              <a:t> of the field</a:t>
            </a:r>
            <a:r>
              <a:rPr lang="en-GB" sz="2000">
                <a:solidFill>
                  <a:srgbClr val="282828"/>
                </a:solidFill>
              </a:rPr>
              <a:t>: </a:t>
            </a:r>
            <a:br>
              <a:rPr lang="en-GB" sz="2000">
                <a:solidFill>
                  <a:srgbClr val="282828"/>
                </a:solidFill>
              </a:rPr>
            </a:br>
            <a:r>
              <a:rPr lang="en-GB" sz="2000">
                <a:solidFill>
                  <a:srgbClr val="282828"/>
                </a:solidFill>
              </a:rPr>
              <a:t>the total amount of grass or the total length of wall?</a:t>
            </a:r>
            <a:endParaRPr sz="2000"/>
          </a:p>
        </p:txBody>
      </p:sp>
      <p:sp>
        <p:nvSpPr>
          <p:cNvPr id="795" name="Google Shape;795;p69"/>
          <p:cNvSpPr txBox="1"/>
          <p:nvPr>
            <p:ph idx="1" type="body"/>
          </p:nvPr>
        </p:nvSpPr>
        <p:spPr>
          <a:xfrm>
            <a:off x="5798196" y="3576550"/>
            <a:ext cx="2180700" cy="317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rea 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= 10800 m</a:t>
            </a:r>
            <a:r>
              <a:rPr baseline="30000"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0" name="Google Shape;800;p70"/>
          <p:cNvGrpSpPr/>
          <p:nvPr/>
        </p:nvGrpSpPr>
        <p:grpSpPr>
          <a:xfrm>
            <a:off x="5634973" y="2601751"/>
            <a:ext cx="1768000" cy="1777082"/>
            <a:chOff x="5663975" y="2801052"/>
            <a:chExt cx="1169390" cy="1175397"/>
          </a:xfrm>
        </p:grpSpPr>
        <p:sp>
          <p:nvSpPr>
            <p:cNvPr id="801" name="Google Shape;801;p70"/>
            <p:cNvSpPr/>
            <p:nvPr/>
          </p:nvSpPr>
          <p:spPr>
            <a:xfrm>
              <a:off x="5663975" y="3584100"/>
              <a:ext cx="391200" cy="3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2" name="Google Shape;802;p70"/>
            <p:cNvSpPr/>
            <p:nvPr/>
          </p:nvSpPr>
          <p:spPr>
            <a:xfrm>
              <a:off x="5663975" y="3193493"/>
              <a:ext cx="391200" cy="3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70"/>
            <p:cNvSpPr/>
            <p:nvPr/>
          </p:nvSpPr>
          <p:spPr>
            <a:xfrm>
              <a:off x="5663975" y="2801052"/>
              <a:ext cx="391200" cy="3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70"/>
            <p:cNvSpPr/>
            <p:nvPr/>
          </p:nvSpPr>
          <p:spPr>
            <a:xfrm>
              <a:off x="6055768" y="2801052"/>
              <a:ext cx="391200" cy="3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70"/>
            <p:cNvSpPr/>
            <p:nvPr/>
          </p:nvSpPr>
          <p:spPr>
            <a:xfrm>
              <a:off x="6055768" y="3192845"/>
              <a:ext cx="391200" cy="3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6" name="Google Shape;806;p70"/>
            <p:cNvSpPr/>
            <p:nvPr/>
          </p:nvSpPr>
          <p:spPr>
            <a:xfrm>
              <a:off x="6055768" y="3585249"/>
              <a:ext cx="391200" cy="3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7" name="Google Shape;807;p70"/>
            <p:cNvSpPr/>
            <p:nvPr/>
          </p:nvSpPr>
          <p:spPr>
            <a:xfrm>
              <a:off x="6442165" y="2801052"/>
              <a:ext cx="391200" cy="3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8" name="Google Shape;808;p70"/>
            <p:cNvSpPr/>
            <p:nvPr/>
          </p:nvSpPr>
          <p:spPr>
            <a:xfrm>
              <a:off x="6442165" y="3192845"/>
              <a:ext cx="391200" cy="3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70"/>
            <p:cNvSpPr/>
            <p:nvPr/>
          </p:nvSpPr>
          <p:spPr>
            <a:xfrm>
              <a:off x="6442165" y="3585249"/>
              <a:ext cx="391200" cy="391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0" name="Google Shape;810;p70"/>
          <p:cNvSpPr/>
          <p:nvPr/>
        </p:nvSpPr>
        <p:spPr>
          <a:xfrm>
            <a:off x="5654076" y="2601426"/>
            <a:ext cx="1749000" cy="1777200"/>
          </a:xfrm>
          <a:prstGeom prst="parallelogram">
            <a:avLst>
              <a:gd fmla="val 33156" name="adj"/>
            </a:avLst>
          </a:prstGeom>
          <a:solidFill>
            <a:srgbClr val="845AD9">
              <a:alpha val="31650"/>
            </a:srgbClr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324000" y="759300"/>
            <a:ext cx="8237700" cy="45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Area is the amount of 2D </a:t>
            </a:r>
            <a:r>
              <a:rPr lang="en-GB" sz="2000">
                <a:solidFill>
                  <a:schemeClr val="accent4"/>
                </a:solidFill>
              </a:rPr>
              <a:t>space</a:t>
            </a:r>
            <a:r>
              <a:rPr lang="en-GB" sz="2000">
                <a:solidFill>
                  <a:srgbClr val="282828"/>
                </a:solidFill>
              </a:rPr>
              <a:t> that is taken up by a shape.</a:t>
            </a:r>
            <a:endParaRPr sz="2000"/>
          </a:p>
        </p:txBody>
      </p:sp>
      <p:sp>
        <p:nvSpPr>
          <p:cNvPr id="812" name="Google Shape;81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rectangles, triangles and parallelograms</a:t>
            </a:r>
            <a:endParaRPr/>
          </a:p>
        </p:txBody>
      </p:sp>
      <p:sp>
        <p:nvSpPr>
          <p:cNvPr id="813" name="Google Shape;813;p70"/>
          <p:cNvSpPr txBox="1"/>
          <p:nvPr>
            <p:ph idx="1" type="body"/>
          </p:nvPr>
        </p:nvSpPr>
        <p:spPr>
          <a:xfrm>
            <a:off x="324000" y="1243975"/>
            <a:ext cx="8444100" cy="7398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Finding the area of a shape always involves </a:t>
            </a:r>
            <a:r>
              <a:rPr lang="en-GB" sz="2000">
                <a:solidFill>
                  <a:srgbClr val="282828"/>
                </a:solidFill>
              </a:rPr>
              <a:t>multiplying</a:t>
            </a:r>
            <a:r>
              <a:rPr lang="en-GB" sz="2000">
                <a:solidFill>
                  <a:srgbClr val="282828"/>
                </a:solidFill>
              </a:rPr>
              <a:t> together two </a:t>
            </a:r>
            <a:r>
              <a:rPr lang="en-GB" sz="2000">
                <a:solidFill>
                  <a:schemeClr val="accent4"/>
                </a:solidFill>
              </a:rPr>
              <a:t>perpendicular lengths</a:t>
            </a:r>
            <a:r>
              <a:rPr lang="en-GB" sz="2000">
                <a:solidFill>
                  <a:srgbClr val="282828"/>
                </a:solidFill>
              </a:rPr>
              <a:t> somewhere within the calculation.</a:t>
            </a:r>
            <a:endParaRPr sz="2000"/>
          </a:p>
        </p:txBody>
      </p:sp>
      <p:sp>
        <p:nvSpPr>
          <p:cNvPr id="814" name="Google Shape;814;p70"/>
          <p:cNvSpPr txBox="1"/>
          <p:nvPr>
            <p:ph idx="1" type="body"/>
          </p:nvPr>
        </p:nvSpPr>
        <p:spPr>
          <a:xfrm>
            <a:off x="324000" y="2082175"/>
            <a:ext cx="4209000" cy="451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Area is measured in </a:t>
            </a:r>
            <a:r>
              <a:rPr lang="en-GB" sz="2000">
                <a:solidFill>
                  <a:schemeClr val="accent4"/>
                </a:solidFill>
              </a:rPr>
              <a:t>square units</a:t>
            </a:r>
            <a:r>
              <a:rPr lang="en-GB" sz="2000">
                <a:solidFill>
                  <a:srgbClr val="282828"/>
                </a:solidFill>
              </a:rPr>
              <a:t>.</a:t>
            </a:r>
            <a:endParaRPr sz="2000"/>
          </a:p>
        </p:txBody>
      </p:sp>
      <p:grpSp>
        <p:nvGrpSpPr>
          <p:cNvPr id="815" name="Google Shape;815;p70"/>
          <p:cNvGrpSpPr/>
          <p:nvPr/>
        </p:nvGrpSpPr>
        <p:grpSpPr>
          <a:xfrm>
            <a:off x="5575375" y="2617322"/>
            <a:ext cx="1896496" cy="1852814"/>
            <a:chOff x="5642548" y="2595310"/>
            <a:chExt cx="1443300" cy="1417500"/>
          </a:xfrm>
        </p:grpSpPr>
        <p:cxnSp>
          <p:nvCxnSpPr>
            <p:cNvPr id="816" name="Google Shape;816;p70"/>
            <p:cNvCxnSpPr/>
            <p:nvPr/>
          </p:nvCxnSpPr>
          <p:spPr>
            <a:xfrm rot="10800000">
              <a:off x="5645501" y="2595310"/>
              <a:ext cx="0" cy="141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17" name="Google Shape;817;p70"/>
            <p:cNvCxnSpPr/>
            <p:nvPr/>
          </p:nvCxnSpPr>
          <p:spPr>
            <a:xfrm>
              <a:off x="5642548" y="4012034"/>
              <a:ext cx="1443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18" name="Google Shape;818;p70"/>
          <p:cNvSpPr txBox="1"/>
          <p:nvPr>
            <p:ph idx="1" type="body"/>
          </p:nvPr>
        </p:nvSpPr>
        <p:spPr>
          <a:xfrm>
            <a:off x="324000" y="2632075"/>
            <a:ext cx="4553700" cy="1380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Examples of units: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          k</a:t>
            </a:r>
            <a:r>
              <a:rPr lang="en-GB" sz="2000">
                <a:solidFill>
                  <a:srgbClr val="282828"/>
                </a:solidFill>
              </a:rPr>
              <a:t>m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r>
              <a:rPr lang="en-GB" sz="2000">
                <a:solidFill>
                  <a:srgbClr val="282828"/>
                </a:solidFill>
              </a:rPr>
              <a:t>, </a:t>
            </a:r>
            <a:r>
              <a:rPr lang="en-GB" sz="2000">
                <a:solidFill>
                  <a:srgbClr val="282828"/>
                </a:solidFill>
              </a:rPr>
              <a:t>m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r>
              <a:rPr lang="en-GB" sz="2000">
                <a:solidFill>
                  <a:srgbClr val="282828"/>
                </a:solidFill>
              </a:rPr>
              <a:t>, cm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r>
              <a:rPr lang="en-GB" sz="2000">
                <a:solidFill>
                  <a:srgbClr val="282828"/>
                </a:solidFill>
              </a:rPr>
              <a:t>, mm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r>
              <a:rPr lang="en-GB" sz="2000">
                <a:solidFill>
                  <a:srgbClr val="282828"/>
                </a:solidFill>
              </a:rPr>
              <a:t> 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          miles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r>
              <a:rPr lang="en-GB" sz="2000">
                <a:solidFill>
                  <a:srgbClr val="282828"/>
                </a:solidFill>
              </a:rPr>
              <a:t>, feet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r>
              <a:rPr lang="en-GB" sz="2000">
                <a:solidFill>
                  <a:srgbClr val="282828"/>
                </a:solidFill>
              </a:rPr>
              <a:t>, inches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endParaRPr sz="2000">
              <a:solidFill>
                <a:srgbClr val="282828"/>
              </a:solidFill>
            </a:endParaRPr>
          </a:p>
        </p:txBody>
      </p:sp>
      <p:grpSp>
        <p:nvGrpSpPr>
          <p:cNvPr id="819" name="Google Shape;819;p70"/>
          <p:cNvGrpSpPr/>
          <p:nvPr/>
        </p:nvGrpSpPr>
        <p:grpSpPr>
          <a:xfrm>
            <a:off x="5579529" y="2579051"/>
            <a:ext cx="1283047" cy="1914709"/>
            <a:chOff x="5645501" y="2565712"/>
            <a:chExt cx="822572" cy="1481514"/>
          </a:xfrm>
        </p:grpSpPr>
        <p:cxnSp>
          <p:nvCxnSpPr>
            <p:cNvPr id="820" name="Google Shape;820;p70"/>
            <p:cNvCxnSpPr/>
            <p:nvPr/>
          </p:nvCxnSpPr>
          <p:spPr>
            <a:xfrm rot="10800000">
              <a:off x="5645501" y="2565712"/>
              <a:ext cx="0" cy="1417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21" name="Google Shape;821;p70"/>
            <p:cNvCxnSpPr/>
            <p:nvPr/>
          </p:nvCxnSpPr>
          <p:spPr>
            <a:xfrm>
              <a:off x="5667072" y="4047226"/>
              <a:ext cx="8010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822" name="Google Shape;822;p70"/>
          <p:cNvGrpSpPr/>
          <p:nvPr/>
        </p:nvGrpSpPr>
        <p:grpSpPr>
          <a:xfrm rot="-5400000">
            <a:off x="5583899" y="4200135"/>
            <a:ext cx="260345" cy="249983"/>
            <a:chOff x="3397534" y="3193326"/>
            <a:chExt cx="179400" cy="172200"/>
          </a:xfrm>
        </p:grpSpPr>
        <p:cxnSp>
          <p:nvCxnSpPr>
            <p:cNvPr id="823" name="Google Shape;823;p7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70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29" name="Google Shape;829;p71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70475" l="0" r="0" t="0"/>
          <a:stretch/>
        </p:blipFill>
        <p:spPr>
          <a:xfrm>
            <a:off x="873775" y="4286297"/>
            <a:ext cx="1341300" cy="58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1"/>
          <p:cNvSpPr txBox="1"/>
          <p:nvPr>
            <p:ph idx="1" type="body"/>
          </p:nvPr>
        </p:nvSpPr>
        <p:spPr>
          <a:xfrm>
            <a:off x="324000" y="759300"/>
            <a:ext cx="7135200" cy="7884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There are different formulae for calculating areas, which all include a multiplication of two perpendicular lengths. </a:t>
            </a:r>
            <a:endParaRPr sz="2000"/>
          </a:p>
        </p:txBody>
      </p:sp>
      <p:sp>
        <p:nvSpPr>
          <p:cNvPr id="831" name="Google Shape;83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rectangles, triangles and parallelograms</a:t>
            </a:r>
            <a:endParaRPr/>
          </a:p>
        </p:txBody>
      </p:sp>
      <p:sp>
        <p:nvSpPr>
          <p:cNvPr id="832" name="Google Shape;832;p71"/>
          <p:cNvSpPr/>
          <p:nvPr/>
        </p:nvSpPr>
        <p:spPr>
          <a:xfrm rot="5400000">
            <a:off x="6930075" y="1996817"/>
            <a:ext cx="1443900" cy="1448400"/>
          </a:xfrm>
          <a:prstGeom prst="triangle">
            <a:avLst>
              <a:gd fmla="val 29739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/>
          <p:nvPr/>
        </p:nvSpPr>
        <p:spPr>
          <a:xfrm>
            <a:off x="3295325" y="1998216"/>
            <a:ext cx="1777500" cy="1394700"/>
          </a:xfrm>
          <a:prstGeom prst="parallelogram">
            <a:avLst>
              <a:gd fmla="val 56709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1"/>
          <p:cNvSpPr/>
          <p:nvPr/>
        </p:nvSpPr>
        <p:spPr>
          <a:xfrm>
            <a:off x="804900" y="2017591"/>
            <a:ext cx="977100" cy="1375200"/>
          </a:xfrm>
          <a:prstGeom prst="parallelogram">
            <a:avLst>
              <a:gd fmla="val 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1"/>
          <p:cNvSpPr txBox="1"/>
          <p:nvPr>
            <p:ph idx="4294967295" type="body"/>
          </p:nvPr>
        </p:nvSpPr>
        <p:spPr>
          <a:xfrm>
            <a:off x="539994" y="2576801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836" name="Google Shape;836;p71"/>
          <p:cNvSpPr txBox="1"/>
          <p:nvPr>
            <p:ph idx="4294967295" type="body"/>
          </p:nvPr>
        </p:nvSpPr>
        <p:spPr>
          <a:xfrm>
            <a:off x="1541930" y="4590935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units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837" name="Google Shape;837;p71"/>
          <p:cNvSpPr txBox="1"/>
          <p:nvPr>
            <p:ph idx="4294967295" type="body"/>
          </p:nvPr>
        </p:nvSpPr>
        <p:spPr>
          <a:xfrm>
            <a:off x="1184136" y="3466552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838" name="Google Shape;838;p71"/>
          <p:cNvSpPr txBox="1"/>
          <p:nvPr>
            <p:ph idx="4294967295" type="body"/>
          </p:nvPr>
        </p:nvSpPr>
        <p:spPr>
          <a:xfrm>
            <a:off x="6638732" y="2525812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839" name="Google Shape;839;p71"/>
          <p:cNvSpPr txBox="1"/>
          <p:nvPr>
            <p:ph idx="4294967295" type="body"/>
          </p:nvPr>
        </p:nvSpPr>
        <p:spPr>
          <a:xfrm>
            <a:off x="7593008" y="1816228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</a:t>
            </a:r>
            <a:endParaRPr sz="1800"/>
          </a:p>
        </p:txBody>
      </p:sp>
      <p:sp>
        <p:nvSpPr>
          <p:cNvPr id="840" name="Google Shape;840;p71"/>
          <p:cNvSpPr txBox="1"/>
          <p:nvPr>
            <p:ph idx="4294967295" type="body"/>
          </p:nvPr>
        </p:nvSpPr>
        <p:spPr>
          <a:xfrm>
            <a:off x="5240178" y="2596981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841" name="Google Shape;841;p71"/>
          <p:cNvSpPr txBox="1"/>
          <p:nvPr>
            <p:ph idx="4294967295" type="body"/>
          </p:nvPr>
        </p:nvSpPr>
        <p:spPr>
          <a:xfrm>
            <a:off x="3713750" y="3473978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842" name="Google Shape;842;p71"/>
          <p:cNvSpPr txBox="1"/>
          <p:nvPr>
            <p:ph idx="4294967295" type="body"/>
          </p:nvPr>
        </p:nvSpPr>
        <p:spPr>
          <a:xfrm>
            <a:off x="7576864" y="3470201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cxnSp>
        <p:nvCxnSpPr>
          <p:cNvPr id="843" name="Google Shape;843;p71"/>
          <p:cNvCxnSpPr/>
          <p:nvPr/>
        </p:nvCxnSpPr>
        <p:spPr>
          <a:xfrm>
            <a:off x="4296304" y="3410985"/>
            <a:ext cx="865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844" name="Google Shape;844;p71"/>
          <p:cNvGrpSpPr/>
          <p:nvPr/>
        </p:nvGrpSpPr>
        <p:grpSpPr>
          <a:xfrm rot="10800000">
            <a:off x="4926917" y="3178416"/>
            <a:ext cx="241293" cy="231592"/>
            <a:chOff x="3397534" y="3193326"/>
            <a:chExt cx="179400" cy="172200"/>
          </a:xfrm>
        </p:grpSpPr>
        <p:cxnSp>
          <p:nvCxnSpPr>
            <p:cNvPr id="845" name="Google Shape;845;p7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71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47" name="Google Shape;847;p71"/>
          <p:cNvCxnSpPr/>
          <p:nvPr/>
        </p:nvCxnSpPr>
        <p:spPr>
          <a:xfrm>
            <a:off x="5163813" y="1979686"/>
            <a:ext cx="0" cy="143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8" name="Google Shape;848;p71"/>
          <p:cNvCxnSpPr/>
          <p:nvPr/>
        </p:nvCxnSpPr>
        <p:spPr>
          <a:xfrm>
            <a:off x="8387104" y="2421339"/>
            <a:ext cx="0" cy="104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71"/>
          <p:cNvCxnSpPr/>
          <p:nvPr/>
        </p:nvCxnSpPr>
        <p:spPr>
          <a:xfrm>
            <a:off x="6931849" y="3501033"/>
            <a:ext cx="1449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850" name="Google Shape;850;p71"/>
          <p:cNvGrpSpPr/>
          <p:nvPr/>
        </p:nvGrpSpPr>
        <p:grpSpPr>
          <a:xfrm rot="10800000">
            <a:off x="8127317" y="3267542"/>
            <a:ext cx="241293" cy="231592"/>
            <a:chOff x="3397534" y="3193326"/>
            <a:chExt cx="179400" cy="172200"/>
          </a:xfrm>
        </p:grpSpPr>
        <p:cxnSp>
          <p:nvCxnSpPr>
            <p:cNvPr id="851" name="Google Shape;851;p71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2" name="Google Shape;852;p71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3" name="Google Shape;853;p71"/>
          <p:cNvSpPr txBox="1"/>
          <p:nvPr>
            <p:ph idx="4294967295" type="body"/>
          </p:nvPr>
        </p:nvSpPr>
        <p:spPr>
          <a:xfrm>
            <a:off x="3347764" y="2512276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854" name="Google Shape;854;p71"/>
          <p:cNvSpPr txBox="1"/>
          <p:nvPr>
            <p:ph idx="1" type="body"/>
          </p:nvPr>
        </p:nvSpPr>
        <p:spPr>
          <a:xfrm>
            <a:off x="324000" y="1521300"/>
            <a:ext cx="8237700" cy="375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Example: find the area of each shape.</a:t>
            </a:r>
            <a:endParaRPr sz="2000"/>
          </a:p>
        </p:txBody>
      </p:sp>
      <p:sp>
        <p:nvSpPr>
          <p:cNvPr id="855" name="Google Shape;855;p71"/>
          <p:cNvSpPr txBox="1"/>
          <p:nvPr>
            <p:ph idx="1" type="body"/>
          </p:nvPr>
        </p:nvSpPr>
        <p:spPr>
          <a:xfrm>
            <a:off x="324000" y="3764778"/>
            <a:ext cx="2431500" cy="375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rgbClr val="282828"/>
                </a:solidFill>
              </a:rPr>
              <a:t>a</a:t>
            </a:r>
            <a:r>
              <a:rPr lang="en-GB" sz="1700">
                <a:solidFill>
                  <a:srgbClr val="282828"/>
                </a:solidFill>
              </a:rPr>
              <a:t>rea </a:t>
            </a:r>
            <a:r>
              <a:rPr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700">
                <a:solidFill>
                  <a:srgbClr val="282828"/>
                </a:solidFill>
              </a:rPr>
              <a:t> width </a:t>
            </a:r>
            <a:r>
              <a:rPr i="1"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700">
                <a:solidFill>
                  <a:srgbClr val="282828"/>
                </a:solidFill>
              </a:rPr>
              <a:t> length</a:t>
            </a:r>
            <a:endParaRPr sz="1700"/>
          </a:p>
        </p:txBody>
      </p:sp>
      <p:sp>
        <p:nvSpPr>
          <p:cNvPr id="856" name="Google Shape;856;p71"/>
          <p:cNvSpPr txBox="1"/>
          <p:nvPr>
            <p:ph idx="1" type="body"/>
          </p:nvPr>
        </p:nvSpPr>
        <p:spPr>
          <a:xfrm>
            <a:off x="3219600" y="3764778"/>
            <a:ext cx="2431500" cy="375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rgbClr val="282828"/>
                </a:solidFill>
              </a:rPr>
              <a:t>area </a:t>
            </a:r>
            <a:r>
              <a:rPr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700">
                <a:solidFill>
                  <a:srgbClr val="282828"/>
                </a:solidFill>
              </a:rPr>
              <a:t> base </a:t>
            </a:r>
            <a:r>
              <a:rPr i="1"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700">
                <a:solidFill>
                  <a:srgbClr val="282828"/>
                </a:solidFill>
              </a:rPr>
              <a:t> height</a:t>
            </a:r>
            <a:endParaRPr sz="1700"/>
          </a:p>
        </p:txBody>
      </p:sp>
      <p:sp>
        <p:nvSpPr>
          <p:cNvPr id="857" name="Google Shape;857;p71"/>
          <p:cNvSpPr txBox="1"/>
          <p:nvPr>
            <p:ph idx="1" type="body"/>
          </p:nvPr>
        </p:nvSpPr>
        <p:spPr>
          <a:xfrm>
            <a:off x="6038177" y="3764787"/>
            <a:ext cx="2788200" cy="375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rgbClr val="282828"/>
                </a:solidFill>
              </a:rPr>
              <a:t>area </a:t>
            </a:r>
            <a:r>
              <a:rPr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700">
                <a:solidFill>
                  <a:srgbClr val="282828"/>
                </a:solidFill>
              </a:rPr>
              <a:t>    </a:t>
            </a:r>
            <a:r>
              <a:rPr i="1"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1700">
                <a:solidFill>
                  <a:srgbClr val="282828"/>
                </a:solidFill>
              </a:rPr>
              <a:t>base</a:t>
            </a:r>
            <a:r>
              <a:rPr lang="en-GB" sz="1700">
                <a:solidFill>
                  <a:srgbClr val="282828"/>
                </a:solidFill>
              </a:rPr>
              <a:t> </a:t>
            </a:r>
            <a:r>
              <a:rPr i="1" lang="en-GB" sz="19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700">
                <a:solidFill>
                  <a:srgbClr val="282828"/>
                </a:solidFill>
              </a:rPr>
              <a:t> height</a:t>
            </a:r>
            <a:endParaRPr sz="17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58" name="Google Shape;858;p71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35442" l="0" r="0" t="30863"/>
          <a:stretch/>
        </p:blipFill>
        <p:spPr>
          <a:xfrm>
            <a:off x="3740446" y="4203199"/>
            <a:ext cx="1341300" cy="67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59" name="Google Shape;859;p71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0" l="0" r="0" t="64556"/>
          <a:stretch/>
        </p:blipFill>
        <p:spPr>
          <a:xfrm>
            <a:off x="6547925" y="4111397"/>
            <a:ext cx="1341300" cy="7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60" name="Google Shape;860;p71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6699900" y="3739273"/>
            <a:ext cx="293525" cy="375601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1"/>
          <p:cNvSpPr txBox="1"/>
          <p:nvPr>
            <p:ph idx="4294967295" type="body"/>
          </p:nvPr>
        </p:nvSpPr>
        <p:spPr>
          <a:xfrm>
            <a:off x="4437530" y="4590935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units</a:t>
            </a:r>
            <a:r>
              <a:rPr baseline="30000" lang="en-GB" sz="1800"/>
              <a:t>2</a:t>
            </a:r>
            <a:endParaRPr baseline="30000" sz="1800"/>
          </a:p>
        </p:txBody>
      </p:sp>
      <p:sp>
        <p:nvSpPr>
          <p:cNvPr id="862" name="Google Shape;862;p71"/>
          <p:cNvSpPr txBox="1"/>
          <p:nvPr>
            <p:ph idx="4294967295" type="body"/>
          </p:nvPr>
        </p:nvSpPr>
        <p:spPr>
          <a:xfrm>
            <a:off x="7256930" y="4590935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units</a:t>
            </a:r>
            <a:r>
              <a:rPr baseline="30000" lang="en-GB" sz="1800"/>
              <a:t>2</a:t>
            </a:r>
            <a:endParaRPr baseline="30000" sz="1800"/>
          </a:p>
        </p:txBody>
      </p:sp>
      <p:cxnSp>
        <p:nvCxnSpPr>
          <p:cNvPr id="863" name="Google Shape;863;p71"/>
          <p:cNvCxnSpPr/>
          <p:nvPr/>
        </p:nvCxnSpPr>
        <p:spPr>
          <a:xfrm>
            <a:off x="694472" y="2017611"/>
            <a:ext cx="0" cy="137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4" name="Google Shape;864;p71"/>
          <p:cNvCxnSpPr/>
          <p:nvPr/>
        </p:nvCxnSpPr>
        <p:spPr>
          <a:xfrm flipH="1">
            <a:off x="811314" y="3494716"/>
            <a:ext cx="9726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5" name="Google Shape;865;p71"/>
          <p:cNvCxnSpPr/>
          <p:nvPr/>
        </p:nvCxnSpPr>
        <p:spPr>
          <a:xfrm flipH="1">
            <a:off x="3301698" y="3494716"/>
            <a:ext cx="9726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6" name="Google Shape;866;p71"/>
          <p:cNvCxnSpPr/>
          <p:nvPr/>
        </p:nvCxnSpPr>
        <p:spPr>
          <a:xfrm flipH="1">
            <a:off x="3139875" y="2019300"/>
            <a:ext cx="774900" cy="137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7" name="Google Shape;867;p71"/>
          <p:cNvCxnSpPr/>
          <p:nvPr/>
        </p:nvCxnSpPr>
        <p:spPr>
          <a:xfrm>
            <a:off x="6799530" y="2008190"/>
            <a:ext cx="0" cy="143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8" name="Google Shape;868;p71"/>
          <p:cNvCxnSpPr/>
          <p:nvPr/>
        </p:nvCxnSpPr>
        <p:spPr>
          <a:xfrm>
            <a:off x="6960113" y="1862811"/>
            <a:ext cx="1448400" cy="429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72"/>
          <p:cNvSpPr txBox="1"/>
          <p:nvPr>
            <p:ph type="title"/>
          </p:nvPr>
        </p:nvSpPr>
        <p:spPr>
          <a:xfrm>
            <a:off x="324000" y="748777"/>
            <a:ext cx="81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is the formula to calculate the area of a triangle?</a:t>
            </a:r>
            <a:endParaRPr/>
          </a:p>
        </p:txBody>
      </p:sp>
      <p:sp>
        <p:nvSpPr>
          <p:cNvPr id="874" name="Google Shape;874;p7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Areas of rectangles, triangles and parallelograms</a:t>
            </a:r>
            <a:endParaRPr/>
          </a:p>
        </p:txBody>
      </p:sp>
      <p:sp>
        <p:nvSpPr>
          <p:cNvPr id="875" name="Google Shape;875;p72"/>
          <p:cNvSpPr txBox="1"/>
          <p:nvPr>
            <p:ph idx="4294967295" type="body"/>
          </p:nvPr>
        </p:nvSpPr>
        <p:spPr>
          <a:xfrm>
            <a:off x="953516" y="3764775"/>
            <a:ext cx="3003600" cy="375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82828"/>
                </a:solidFill>
              </a:rPr>
              <a:t>area </a:t>
            </a:r>
            <a:r>
              <a:rPr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100">
                <a:solidFill>
                  <a:srgbClr val="282828"/>
                </a:solidFill>
              </a:rPr>
              <a:t> width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100">
                <a:solidFill>
                  <a:srgbClr val="282828"/>
                </a:solidFill>
              </a:rPr>
              <a:t> length</a:t>
            </a:r>
            <a:endParaRPr sz="2100"/>
          </a:p>
        </p:txBody>
      </p:sp>
      <p:sp>
        <p:nvSpPr>
          <p:cNvPr id="876" name="Google Shape;876;p72"/>
          <p:cNvSpPr txBox="1"/>
          <p:nvPr>
            <p:ph idx="4294967295" type="body"/>
          </p:nvPr>
        </p:nvSpPr>
        <p:spPr>
          <a:xfrm>
            <a:off x="953516" y="1796150"/>
            <a:ext cx="3003600" cy="375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82828"/>
                </a:solidFill>
              </a:rPr>
              <a:t>area </a:t>
            </a:r>
            <a:r>
              <a:rPr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100">
                <a:solidFill>
                  <a:srgbClr val="282828"/>
                </a:solidFill>
              </a:rPr>
              <a:t> base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100">
                <a:solidFill>
                  <a:srgbClr val="282828"/>
                </a:solidFill>
              </a:rPr>
              <a:t> height</a:t>
            </a:r>
            <a:endParaRPr sz="2100"/>
          </a:p>
        </p:txBody>
      </p:sp>
      <p:sp>
        <p:nvSpPr>
          <p:cNvPr id="877" name="Google Shape;877;p72"/>
          <p:cNvSpPr txBox="1"/>
          <p:nvPr>
            <p:ph idx="4294967295" type="body"/>
          </p:nvPr>
        </p:nvSpPr>
        <p:spPr>
          <a:xfrm>
            <a:off x="952500" y="2850384"/>
            <a:ext cx="3444300" cy="375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82828"/>
                </a:solidFill>
              </a:rPr>
              <a:t>area </a:t>
            </a:r>
            <a:r>
              <a:rPr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100">
                <a:solidFill>
                  <a:srgbClr val="282828"/>
                </a:solidFill>
              </a:rPr>
              <a:t>   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</a:t>
            </a:r>
            <a:r>
              <a:rPr lang="en-GB" sz="2100">
                <a:solidFill>
                  <a:srgbClr val="282828"/>
                </a:solidFill>
              </a:rPr>
              <a:t>base </a:t>
            </a:r>
            <a:r>
              <a:rPr i="1" lang="en-GB" sz="23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100">
                <a:solidFill>
                  <a:srgbClr val="282828"/>
                </a:solidFill>
              </a:rPr>
              <a:t> height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begin{array}{l}=\ 4\ \times5\\&amp;#13;&amp;#10;=\ 20\\&amp;#13;&amp;#10;\begin{array}{l}=\ 4\ \times5\\&amp;#13;&amp;#10;=\ 20\end{array}\\&amp;#13;&amp;#10;\begin{array}{l}=\ \frac{1}{2}\times5\ \times6\\&amp;#13;&amp;#10;=\ 15\end{array}\end{array}&quot;&gt;&lt;mtable columnalign=&quot;left&quot;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mtr&gt;&lt;mtd&gt;&lt;mtable columnspacing=&quot;1em&quot; rowspacing=&quot;4pt&quot;&gt;&lt;mtr&gt;&lt;mtd&gt;&lt;mo&gt;=&lt;/mo&gt;&lt;mtext&gt;&lt;/mtext&gt;&lt;mn&gt;4&lt;/mn&gt;&lt;mtext&gt;&lt;/mtext&gt;&lt;mo&gt;×&lt;/mo&gt;&lt;mn&gt;5&lt;/mn&gt;&lt;/mtd&gt;&lt;/mtr&gt;&lt;mtr&gt;&lt;mtd&gt;&lt;mo&gt;=&lt;/mo&gt;&lt;mtext&gt;&lt;/mtext&gt;&lt;mn&gt;20&lt;/mn&gt;&lt;/mtd&gt;&lt;/mtr&gt;&lt;/mtable&gt;&lt;/mtd&gt;&lt;/mtr&gt;&lt;mtr&gt;&lt;mtd&gt;&lt;mtable columnspacing=&quot;1em&quot; rowspacing=&quot;4pt&quot;&gt;&lt;mtr&gt;&lt;mtd&gt;&lt;mo&gt;=&lt;/mo&gt;&lt;mtext&gt;&lt;/mtext&gt;&lt;mfrac&gt;&lt;mn&gt;1&lt;/mn&gt;&lt;mn&gt;2&lt;/mn&gt;&lt;/mfrac&gt;&lt;mo&gt;×&lt;/mo&gt;&lt;mn&gt;5&lt;/mn&gt;&lt;mtext&gt;&lt;/mtext&gt;&lt;mo&gt;×&lt;/mo&gt;&lt;mn&gt;6&lt;/mn&gt;&lt;/mtd&gt;&lt;/mtr&gt;&lt;mtr&gt;&lt;mtd&gt;&lt;mo&gt;=&lt;/mo&gt;&lt;mtext&gt;&lt;/mtext&gt;&lt;mn&gt;15&lt;/mn&gt;&lt;/mtd&gt;&lt;/mtr&gt;&lt;/mtable&gt;&lt;/mtd&gt;&lt;/mtr&gt;&lt;/mtable&gt;&lt;/math&gt;" id="878" name="Google Shape;878;p72" title="4 lines Line 1: equals 4 times 5 Line 2: equals 20 Line 3: Line 1: equals 4 times 5 Line 2: equals 20 Line 4: Line 1: equals one half times 5 times 6 Line 2: equals 15"/>
          <p:cNvPicPr preferRelativeResize="0"/>
          <p:nvPr/>
        </p:nvPicPr>
        <p:blipFill rotWithShape="1">
          <a:blip r:embed="rId3">
            <a:alphaModFix/>
          </a:blip>
          <a:srcRect b="13790" l="18915" r="59200" t="67326"/>
          <a:stretch/>
        </p:blipFill>
        <p:spPr>
          <a:xfrm>
            <a:off x="1732607" y="2765345"/>
            <a:ext cx="443850" cy="56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608" y="28286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need to multiply together two lengths to find an area.</a:t>
            </a:r>
            <a:endParaRPr sz="2000"/>
          </a:p>
        </p:txBody>
      </p:sp>
      <p:sp>
        <p:nvSpPr>
          <p:cNvPr id="885" name="Google Shape;885;p73"/>
          <p:cNvSpPr txBox="1"/>
          <p:nvPr>
            <p:ph idx="2" type="subTitle"/>
          </p:nvPr>
        </p:nvSpPr>
        <p:spPr>
          <a:xfrm>
            <a:off x="324000" y="1080000"/>
            <a:ext cx="84960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can calculate the area of the parallelogram by multiplying together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</a:t>
            </a:r>
            <a:r>
              <a:rPr lang="en-GB" sz="2000"/>
              <a:t>and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86" name="Google Shape;886;p7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 calculation for area must include the multiplication of two perpendicular lengths.</a:t>
            </a:r>
            <a:endParaRPr/>
          </a:p>
        </p:txBody>
      </p:sp>
      <p:sp>
        <p:nvSpPr>
          <p:cNvPr id="887" name="Google Shape;88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Areas of rectangles, triangles and parallelograms</a:t>
            </a:r>
            <a:endParaRPr/>
          </a:p>
        </p:txBody>
      </p:sp>
      <p:sp>
        <p:nvSpPr>
          <p:cNvPr id="888" name="Google Shape;888;p73"/>
          <p:cNvSpPr/>
          <p:nvPr/>
        </p:nvSpPr>
        <p:spPr>
          <a:xfrm>
            <a:off x="6902275" y="1675375"/>
            <a:ext cx="1530900" cy="1024500"/>
          </a:xfrm>
          <a:prstGeom prst="parallelogram">
            <a:avLst>
              <a:gd fmla="val 6889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9" name="Google Shape;889;p73"/>
          <p:cNvCxnSpPr/>
          <p:nvPr/>
        </p:nvCxnSpPr>
        <p:spPr>
          <a:xfrm>
            <a:off x="6902275" y="2839600"/>
            <a:ext cx="82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90" name="Google Shape;890;p73"/>
          <p:cNvCxnSpPr/>
          <p:nvPr/>
        </p:nvCxnSpPr>
        <p:spPr>
          <a:xfrm flipH="1" rot="10800000">
            <a:off x="6778750" y="1660523"/>
            <a:ext cx="652800" cy="101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1" name="Google Shape;891;p73"/>
          <p:cNvSpPr txBox="1"/>
          <p:nvPr/>
        </p:nvSpPr>
        <p:spPr>
          <a:xfrm>
            <a:off x="7140082" y="2707316"/>
            <a:ext cx="339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892" name="Google Shape;892;p73"/>
          <p:cNvSpPr txBox="1"/>
          <p:nvPr/>
        </p:nvSpPr>
        <p:spPr>
          <a:xfrm>
            <a:off x="6841675" y="1767345"/>
            <a:ext cx="339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pic>
        <p:nvPicPr>
          <p:cNvPr id="893" name="Google Shape;89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808" y="20235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583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4"/>
          <p:cNvSpPr txBox="1"/>
          <p:nvPr>
            <p:ph type="title"/>
          </p:nvPr>
        </p:nvSpPr>
        <p:spPr>
          <a:xfrm>
            <a:off x="324000" y="810008"/>
            <a:ext cx="8179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two calculations could be used to calculate the area of the parallelogram?</a:t>
            </a:r>
            <a:endParaRPr sz="2000"/>
          </a:p>
        </p:txBody>
      </p:sp>
      <p:sp>
        <p:nvSpPr>
          <p:cNvPr id="900" name="Google Shape;900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Areas of rectangles, triangles and parallelograms</a:t>
            </a:r>
            <a:endParaRPr/>
          </a:p>
        </p:txBody>
      </p:sp>
      <p:sp>
        <p:nvSpPr>
          <p:cNvPr id="901" name="Google Shape;901;p74"/>
          <p:cNvSpPr txBox="1"/>
          <p:nvPr>
            <p:ph idx="1" type="subTitle"/>
          </p:nvPr>
        </p:nvSpPr>
        <p:spPr>
          <a:xfrm>
            <a:off x="1034425" y="1685375"/>
            <a:ext cx="9204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2" name="Google Shape;902;p74"/>
          <p:cNvSpPr txBox="1"/>
          <p:nvPr>
            <p:ph idx="3" type="subTitle"/>
          </p:nvPr>
        </p:nvSpPr>
        <p:spPr>
          <a:xfrm>
            <a:off x="1034425" y="2489450"/>
            <a:ext cx="1222200" cy="5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903" name="Google Shape;903;p74"/>
          <p:cNvSpPr txBox="1"/>
          <p:nvPr>
            <p:ph idx="4" type="subTitle"/>
          </p:nvPr>
        </p:nvSpPr>
        <p:spPr>
          <a:xfrm>
            <a:off x="1034425" y="3309745"/>
            <a:ext cx="12153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904" name="Google Shape;904;p74"/>
          <p:cNvSpPr txBox="1"/>
          <p:nvPr>
            <p:ph idx="5" type="subTitle"/>
          </p:nvPr>
        </p:nvSpPr>
        <p:spPr>
          <a:xfrm>
            <a:off x="1034425" y="4113824"/>
            <a:ext cx="1222200" cy="4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905" name="Google Shape;905;p74"/>
          <p:cNvSpPr/>
          <p:nvPr/>
        </p:nvSpPr>
        <p:spPr>
          <a:xfrm>
            <a:off x="4977819" y="1889834"/>
            <a:ext cx="2594400" cy="1736100"/>
          </a:xfrm>
          <a:prstGeom prst="parallelogram">
            <a:avLst>
              <a:gd fmla="val 6889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6" name="Google Shape;906;p74"/>
          <p:cNvCxnSpPr/>
          <p:nvPr/>
        </p:nvCxnSpPr>
        <p:spPr>
          <a:xfrm>
            <a:off x="7637256" y="1888850"/>
            <a:ext cx="0" cy="173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07" name="Google Shape;907;p74"/>
          <p:cNvCxnSpPr/>
          <p:nvPr/>
        </p:nvCxnSpPr>
        <p:spPr>
          <a:xfrm>
            <a:off x="5780076" y="2523490"/>
            <a:ext cx="920400" cy="59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08" name="Google Shape;908;p74"/>
          <p:cNvSpPr txBox="1"/>
          <p:nvPr/>
        </p:nvSpPr>
        <p:spPr>
          <a:xfrm>
            <a:off x="5533243" y="3630672"/>
            <a:ext cx="57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700"/>
          </a:p>
        </p:txBody>
      </p:sp>
      <p:sp>
        <p:nvSpPr>
          <p:cNvPr id="909" name="Google Shape;909;p74"/>
          <p:cNvSpPr txBox="1"/>
          <p:nvPr/>
        </p:nvSpPr>
        <p:spPr>
          <a:xfrm>
            <a:off x="5154556" y="2263142"/>
            <a:ext cx="57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700"/>
          </a:p>
        </p:txBody>
      </p:sp>
      <p:sp>
        <p:nvSpPr>
          <p:cNvPr id="910" name="Google Shape;910;p74"/>
          <p:cNvSpPr txBox="1"/>
          <p:nvPr/>
        </p:nvSpPr>
        <p:spPr>
          <a:xfrm>
            <a:off x="7572218" y="2531136"/>
            <a:ext cx="57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700"/>
          </a:p>
        </p:txBody>
      </p:sp>
      <p:sp>
        <p:nvSpPr>
          <p:cNvPr id="911" name="Google Shape;911;p74"/>
          <p:cNvSpPr txBox="1"/>
          <p:nvPr/>
        </p:nvSpPr>
        <p:spPr>
          <a:xfrm>
            <a:off x="6184005" y="2379423"/>
            <a:ext cx="57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700"/>
          </a:p>
        </p:txBody>
      </p:sp>
      <p:pic>
        <p:nvPicPr>
          <p:cNvPr id="912" name="Google Shape;912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33" y="17520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33" y="41415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4" name="Google Shape;914;p74"/>
          <p:cNvGrpSpPr/>
          <p:nvPr/>
        </p:nvGrpSpPr>
        <p:grpSpPr>
          <a:xfrm rot="10800000">
            <a:off x="7380664" y="3375745"/>
            <a:ext cx="241293" cy="231592"/>
            <a:chOff x="3397534" y="3193326"/>
            <a:chExt cx="179400" cy="172200"/>
          </a:xfrm>
        </p:grpSpPr>
        <p:cxnSp>
          <p:nvCxnSpPr>
            <p:cNvPr id="915" name="Google Shape;915;p74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74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17" name="Google Shape;917;p74"/>
          <p:cNvGrpSpPr/>
          <p:nvPr/>
        </p:nvGrpSpPr>
        <p:grpSpPr>
          <a:xfrm rot="7321786">
            <a:off x="6415680" y="3054487"/>
            <a:ext cx="241282" cy="231598"/>
            <a:chOff x="3397534" y="3193326"/>
            <a:chExt cx="179400" cy="172200"/>
          </a:xfrm>
        </p:grpSpPr>
        <p:cxnSp>
          <p:nvCxnSpPr>
            <p:cNvPr id="918" name="Google Shape;918;p74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74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20" name="Google Shape;920;p74"/>
          <p:cNvCxnSpPr/>
          <p:nvPr/>
        </p:nvCxnSpPr>
        <p:spPr>
          <a:xfrm>
            <a:off x="6506104" y="3628246"/>
            <a:ext cx="113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74"/>
          <p:cNvCxnSpPr/>
          <p:nvPr/>
        </p:nvCxnSpPr>
        <p:spPr>
          <a:xfrm flipH="1">
            <a:off x="4819180" y="1868795"/>
            <a:ext cx="1176600" cy="174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22" name="Google Shape;922;p74"/>
          <p:cNvCxnSpPr/>
          <p:nvPr/>
        </p:nvCxnSpPr>
        <p:spPr>
          <a:xfrm rot="10800000">
            <a:off x="4985775" y="3769850"/>
            <a:ext cx="13854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Google Shape;927;p75"/>
          <p:cNvPicPr preferRelativeResize="0"/>
          <p:nvPr/>
        </p:nvPicPr>
        <p:blipFill rotWithShape="1">
          <a:blip r:embed="rId3">
            <a:alphaModFix/>
          </a:blip>
          <a:srcRect b="7886" l="36485" r="41176" t="49114"/>
          <a:stretch/>
        </p:blipFill>
        <p:spPr>
          <a:xfrm>
            <a:off x="3362325" y="2959575"/>
            <a:ext cx="1662900" cy="1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75"/>
          <p:cNvPicPr preferRelativeResize="0"/>
          <p:nvPr/>
        </p:nvPicPr>
        <p:blipFill rotWithShape="1">
          <a:blip r:embed="rId3">
            <a:alphaModFix/>
          </a:blip>
          <a:srcRect b="4020" l="4150" r="73798" t="52979"/>
          <a:stretch/>
        </p:blipFill>
        <p:spPr>
          <a:xfrm>
            <a:off x="650125" y="3095325"/>
            <a:ext cx="1641602" cy="1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5"/>
          <p:cNvPicPr preferRelativeResize="0"/>
          <p:nvPr/>
        </p:nvPicPr>
        <p:blipFill rotWithShape="1">
          <a:blip r:embed="rId3">
            <a:alphaModFix/>
          </a:blip>
          <a:srcRect b="61339" l="36487" r="36908" t="3009"/>
          <a:stretch/>
        </p:blipFill>
        <p:spPr>
          <a:xfrm>
            <a:off x="3362325" y="1056299"/>
            <a:ext cx="1980598" cy="12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5"/>
          <p:cNvPicPr preferRelativeResize="0"/>
          <p:nvPr/>
        </p:nvPicPr>
        <p:blipFill rotWithShape="1">
          <a:blip r:embed="rId3">
            <a:alphaModFix/>
          </a:blip>
          <a:srcRect b="69864" l="4518" r="76178" t="3008"/>
          <a:stretch/>
        </p:blipFill>
        <p:spPr>
          <a:xfrm>
            <a:off x="677575" y="1056300"/>
            <a:ext cx="14369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75"/>
          <p:cNvPicPr preferRelativeResize="0"/>
          <p:nvPr/>
        </p:nvPicPr>
        <p:blipFill rotWithShape="1">
          <a:blip r:embed="rId3">
            <a:alphaModFix/>
          </a:blip>
          <a:srcRect b="4020" l="72038" r="1356" t="52979"/>
          <a:stretch/>
        </p:blipFill>
        <p:spPr>
          <a:xfrm>
            <a:off x="6466150" y="2942925"/>
            <a:ext cx="1980598" cy="1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75"/>
          <p:cNvPicPr preferRelativeResize="0"/>
          <p:nvPr/>
        </p:nvPicPr>
        <p:blipFill rotWithShape="1">
          <a:blip r:embed="rId3">
            <a:alphaModFix/>
          </a:blip>
          <a:srcRect b="59283" l="74693" r="0" t="0"/>
          <a:stretch/>
        </p:blipFill>
        <p:spPr>
          <a:xfrm>
            <a:off x="6511375" y="950700"/>
            <a:ext cx="1883999" cy="1429675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75"/>
          <p:cNvSpPr txBox="1"/>
          <p:nvPr>
            <p:ph idx="1" type="body"/>
          </p:nvPr>
        </p:nvSpPr>
        <p:spPr>
          <a:xfrm>
            <a:off x="324000" y="6831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Find the area of each shape.</a:t>
            </a:r>
            <a:endParaRPr sz="1800"/>
          </a:p>
        </p:txBody>
      </p:sp>
      <p:sp>
        <p:nvSpPr>
          <p:cNvPr id="934" name="Google Shape;934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Areas of rectangles, triangles and parallelograms</a:t>
            </a:r>
            <a:endParaRPr/>
          </a:p>
        </p:txBody>
      </p:sp>
      <p:sp>
        <p:nvSpPr>
          <p:cNvPr id="935" name="Google Shape;935;p75"/>
          <p:cNvSpPr txBox="1"/>
          <p:nvPr>
            <p:ph idx="1" type="body"/>
          </p:nvPr>
        </p:nvSpPr>
        <p:spPr>
          <a:xfrm>
            <a:off x="3755705" y="1363257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 cm</a:t>
            </a:r>
            <a:endParaRPr sz="1600"/>
          </a:p>
        </p:txBody>
      </p:sp>
      <p:sp>
        <p:nvSpPr>
          <p:cNvPr id="936" name="Google Shape;936;p75"/>
          <p:cNvSpPr txBox="1"/>
          <p:nvPr>
            <p:ph idx="1" type="body"/>
          </p:nvPr>
        </p:nvSpPr>
        <p:spPr>
          <a:xfrm>
            <a:off x="3866103" y="2204741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937" name="Google Shape;937;p75"/>
          <p:cNvSpPr txBox="1"/>
          <p:nvPr>
            <p:ph idx="1" type="body"/>
          </p:nvPr>
        </p:nvSpPr>
        <p:spPr>
          <a:xfrm>
            <a:off x="5262445" y="1599405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938" name="Google Shape;938;p75"/>
          <p:cNvSpPr txBox="1"/>
          <p:nvPr>
            <p:ph idx="1" type="body"/>
          </p:nvPr>
        </p:nvSpPr>
        <p:spPr>
          <a:xfrm>
            <a:off x="7881670" y="1483846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cm</a:t>
            </a:r>
            <a:endParaRPr sz="1600"/>
          </a:p>
        </p:txBody>
      </p:sp>
      <p:sp>
        <p:nvSpPr>
          <p:cNvPr id="939" name="Google Shape;939;p75"/>
          <p:cNvSpPr txBox="1"/>
          <p:nvPr>
            <p:ph idx="1" type="body"/>
          </p:nvPr>
        </p:nvSpPr>
        <p:spPr>
          <a:xfrm>
            <a:off x="6857303" y="2079166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 cm</a:t>
            </a:r>
            <a:endParaRPr sz="1600"/>
          </a:p>
        </p:txBody>
      </p:sp>
      <p:cxnSp>
        <p:nvCxnSpPr>
          <p:cNvPr id="940" name="Google Shape;940;p75"/>
          <p:cNvCxnSpPr/>
          <p:nvPr/>
        </p:nvCxnSpPr>
        <p:spPr>
          <a:xfrm>
            <a:off x="6835055" y="1161945"/>
            <a:ext cx="941400" cy="22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41" name="Google Shape;941;p75"/>
          <p:cNvSpPr txBox="1"/>
          <p:nvPr>
            <p:ph idx="1" type="body"/>
          </p:nvPr>
        </p:nvSpPr>
        <p:spPr>
          <a:xfrm>
            <a:off x="6964803" y="1271980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942" name="Google Shape;942;p75"/>
          <p:cNvCxnSpPr/>
          <p:nvPr/>
        </p:nvCxnSpPr>
        <p:spPr>
          <a:xfrm>
            <a:off x="1301639" y="3229884"/>
            <a:ext cx="0" cy="103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43" name="Google Shape;943;p75"/>
          <p:cNvSpPr txBox="1"/>
          <p:nvPr>
            <p:ph idx="1" type="body"/>
          </p:nvPr>
        </p:nvSpPr>
        <p:spPr>
          <a:xfrm>
            <a:off x="375349" y="3349493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mm</a:t>
            </a:r>
            <a:endParaRPr sz="1600"/>
          </a:p>
        </p:txBody>
      </p:sp>
      <p:sp>
        <p:nvSpPr>
          <p:cNvPr id="944" name="Google Shape;944;p75"/>
          <p:cNvSpPr txBox="1"/>
          <p:nvPr>
            <p:ph idx="1" type="body"/>
          </p:nvPr>
        </p:nvSpPr>
        <p:spPr>
          <a:xfrm>
            <a:off x="1685720" y="3084461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mm</a:t>
            </a:r>
            <a:endParaRPr sz="1600"/>
          </a:p>
        </p:txBody>
      </p:sp>
      <p:sp>
        <p:nvSpPr>
          <p:cNvPr id="945" name="Google Shape;945;p75"/>
          <p:cNvSpPr txBox="1"/>
          <p:nvPr>
            <p:ph idx="1" type="body"/>
          </p:nvPr>
        </p:nvSpPr>
        <p:spPr>
          <a:xfrm>
            <a:off x="1308789" y="3688694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mm</a:t>
            </a:r>
            <a:endParaRPr sz="1600"/>
          </a:p>
        </p:txBody>
      </p:sp>
      <p:sp>
        <p:nvSpPr>
          <p:cNvPr id="946" name="Google Shape;946;p75"/>
          <p:cNvSpPr txBox="1"/>
          <p:nvPr>
            <p:ph idx="1" type="body"/>
          </p:nvPr>
        </p:nvSpPr>
        <p:spPr>
          <a:xfrm>
            <a:off x="4889150" y="3228316"/>
            <a:ext cx="6744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cm</a:t>
            </a:r>
            <a:endParaRPr sz="1600"/>
          </a:p>
        </p:txBody>
      </p:sp>
      <p:cxnSp>
        <p:nvCxnSpPr>
          <p:cNvPr id="947" name="Google Shape;947;p75"/>
          <p:cNvCxnSpPr/>
          <p:nvPr/>
        </p:nvCxnSpPr>
        <p:spPr>
          <a:xfrm>
            <a:off x="3527164" y="3212333"/>
            <a:ext cx="0" cy="79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48" name="Google Shape;948;p75"/>
          <p:cNvSpPr txBox="1"/>
          <p:nvPr>
            <p:ph idx="1" type="body"/>
          </p:nvPr>
        </p:nvSpPr>
        <p:spPr>
          <a:xfrm>
            <a:off x="4151666" y="3977811"/>
            <a:ext cx="6948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 cm</a:t>
            </a:r>
            <a:endParaRPr sz="1600"/>
          </a:p>
        </p:txBody>
      </p:sp>
      <p:sp>
        <p:nvSpPr>
          <p:cNvPr id="949" name="Google Shape;949;p75"/>
          <p:cNvSpPr txBox="1"/>
          <p:nvPr>
            <p:ph idx="1" type="body"/>
          </p:nvPr>
        </p:nvSpPr>
        <p:spPr>
          <a:xfrm>
            <a:off x="3853473" y="2961472"/>
            <a:ext cx="6948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 cm</a:t>
            </a:r>
            <a:endParaRPr sz="1600"/>
          </a:p>
        </p:txBody>
      </p:sp>
      <p:cxnSp>
        <p:nvCxnSpPr>
          <p:cNvPr id="950" name="Google Shape;950;p75"/>
          <p:cNvCxnSpPr/>
          <p:nvPr/>
        </p:nvCxnSpPr>
        <p:spPr>
          <a:xfrm>
            <a:off x="7579080" y="3107649"/>
            <a:ext cx="227400" cy="105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51" name="Google Shape;951;p75"/>
          <p:cNvSpPr txBox="1"/>
          <p:nvPr>
            <p:ph idx="1" type="body"/>
          </p:nvPr>
        </p:nvSpPr>
        <p:spPr>
          <a:xfrm>
            <a:off x="7791650" y="4242038"/>
            <a:ext cx="6948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sp>
        <p:nvSpPr>
          <p:cNvPr id="952" name="Google Shape;952;p75"/>
          <p:cNvSpPr txBox="1"/>
          <p:nvPr>
            <p:ph idx="1" type="body"/>
          </p:nvPr>
        </p:nvSpPr>
        <p:spPr>
          <a:xfrm>
            <a:off x="8055586" y="3278518"/>
            <a:ext cx="6948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m</a:t>
            </a:r>
            <a:endParaRPr sz="1600"/>
          </a:p>
        </p:txBody>
      </p:sp>
      <p:sp>
        <p:nvSpPr>
          <p:cNvPr id="953" name="Google Shape;953;p75"/>
          <p:cNvSpPr txBox="1"/>
          <p:nvPr>
            <p:ph idx="1" type="body"/>
          </p:nvPr>
        </p:nvSpPr>
        <p:spPr>
          <a:xfrm rot="-688615">
            <a:off x="7377471" y="3637789"/>
            <a:ext cx="363366" cy="301236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m</a:t>
            </a:r>
            <a:endParaRPr sz="1600"/>
          </a:p>
        </p:txBody>
      </p:sp>
      <p:cxnSp>
        <p:nvCxnSpPr>
          <p:cNvPr id="954" name="Google Shape;954;p75"/>
          <p:cNvCxnSpPr/>
          <p:nvPr/>
        </p:nvCxnSpPr>
        <p:spPr>
          <a:xfrm flipH="1">
            <a:off x="6889903" y="3094797"/>
            <a:ext cx="665100" cy="53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955" name="Google Shape;955;p75"/>
          <p:cNvSpPr txBox="1"/>
          <p:nvPr>
            <p:ph idx="1" type="body"/>
          </p:nvPr>
        </p:nvSpPr>
        <p:spPr>
          <a:xfrm rot="-2289684">
            <a:off x="6871291" y="3160732"/>
            <a:ext cx="694797" cy="301036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r>
              <a:rPr lang="en-GB" sz="1600"/>
              <a:t>.5 m</a:t>
            </a:r>
            <a:endParaRPr sz="1600"/>
          </a:p>
        </p:txBody>
      </p:sp>
      <p:grpSp>
        <p:nvGrpSpPr>
          <p:cNvPr id="956" name="Google Shape;956;p75"/>
          <p:cNvGrpSpPr/>
          <p:nvPr/>
        </p:nvGrpSpPr>
        <p:grpSpPr>
          <a:xfrm>
            <a:off x="7657355" y="1379586"/>
            <a:ext cx="90397" cy="129329"/>
            <a:chOff x="7468500" y="1536950"/>
            <a:chExt cx="96300" cy="137775"/>
          </a:xfrm>
        </p:grpSpPr>
        <p:cxnSp>
          <p:nvCxnSpPr>
            <p:cNvPr id="957" name="Google Shape;957;p75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8" name="Google Shape;958;p75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59" name="Google Shape;959;p75"/>
          <p:cNvGrpSpPr/>
          <p:nvPr/>
        </p:nvGrpSpPr>
        <p:grpSpPr>
          <a:xfrm rot="3855398">
            <a:off x="7695092" y="4059366"/>
            <a:ext cx="90393" cy="129324"/>
            <a:chOff x="7468500" y="1536950"/>
            <a:chExt cx="96300" cy="137775"/>
          </a:xfrm>
        </p:grpSpPr>
        <p:cxnSp>
          <p:nvCxnSpPr>
            <p:cNvPr id="960" name="Google Shape;960;p75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1" name="Google Shape;961;p75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2" name="Google Shape;962;p75"/>
          <p:cNvGrpSpPr/>
          <p:nvPr/>
        </p:nvGrpSpPr>
        <p:grpSpPr>
          <a:xfrm flipH="1" rot="-1467274">
            <a:off x="6924423" y="3581305"/>
            <a:ext cx="90398" cy="129331"/>
            <a:chOff x="7468500" y="1536950"/>
            <a:chExt cx="96300" cy="137775"/>
          </a:xfrm>
        </p:grpSpPr>
        <p:cxnSp>
          <p:nvCxnSpPr>
            <p:cNvPr id="963" name="Google Shape;963;p75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4" name="Google Shape;964;p75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65" name="Google Shape;965;p75"/>
          <p:cNvCxnSpPr/>
          <p:nvPr/>
        </p:nvCxnSpPr>
        <p:spPr>
          <a:xfrm>
            <a:off x="3517996" y="3188734"/>
            <a:ext cx="122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966" name="Google Shape;966;p75"/>
          <p:cNvGrpSpPr/>
          <p:nvPr/>
        </p:nvGrpSpPr>
        <p:grpSpPr>
          <a:xfrm>
            <a:off x="3531140" y="3202671"/>
            <a:ext cx="168403" cy="161644"/>
            <a:chOff x="3397534" y="3193326"/>
            <a:chExt cx="179400" cy="172200"/>
          </a:xfrm>
        </p:grpSpPr>
        <p:cxnSp>
          <p:nvCxnSpPr>
            <p:cNvPr id="967" name="Google Shape;967;p75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8" name="Google Shape;968;p75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69" name="Google Shape;969;p75"/>
          <p:cNvCxnSpPr/>
          <p:nvPr/>
        </p:nvCxnSpPr>
        <p:spPr>
          <a:xfrm>
            <a:off x="4692354" y="2145010"/>
            <a:ext cx="551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970" name="Google Shape;970;p75"/>
          <p:cNvGrpSpPr/>
          <p:nvPr/>
        </p:nvGrpSpPr>
        <p:grpSpPr>
          <a:xfrm rot="10800000">
            <a:off x="5077870" y="1976184"/>
            <a:ext cx="168403" cy="161644"/>
            <a:chOff x="3397534" y="3193326"/>
            <a:chExt cx="179400" cy="172200"/>
          </a:xfrm>
        </p:grpSpPr>
        <p:cxnSp>
          <p:nvCxnSpPr>
            <p:cNvPr id="971" name="Google Shape;971;p75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2" name="Google Shape;972;p75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73" name="Google Shape;973;p75"/>
          <p:cNvCxnSpPr/>
          <p:nvPr/>
        </p:nvCxnSpPr>
        <p:spPr>
          <a:xfrm>
            <a:off x="5240013" y="1141486"/>
            <a:ext cx="0" cy="99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4" name="Google Shape;974;p75"/>
          <p:cNvSpPr txBox="1"/>
          <p:nvPr>
            <p:ph idx="1" type="body"/>
          </p:nvPr>
        </p:nvSpPr>
        <p:spPr>
          <a:xfrm>
            <a:off x="341225" y="1051994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975" name="Google Shape;975;p75"/>
          <p:cNvSpPr txBox="1"/>
          <p:nvPr>
            <p:ph idx="1" type="body"/>
          </p:nvPr>
        </p:nvSpPr>
        <p:spPr>
          <a:xfrm>
            <a:off x="3286309" y="1051994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976" name="Google Shape;976;p75"/>
          <p:cNvSpPr txBox="1"/>
          <p:nvPr>
            <p:ph idx="1" type="body"/>
          </p:nvPr>
        </p:nvSpPr>
        <p:spPr>
          <a:xfrm>
            <a:off x="6237781" y="1051994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977" name="Google Shape;977;p75"/>
          <p:cNvSpPr txBox="1"/>
          <p:nvPr>
            <p:ph idx="1" type="body"/>
          </p:nvPr>
        </p:nvSpPr>
        <p:spPr>
          <a:xfrm>
            <a:off x="341225" y="2942929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978" name="Google Shape;978;p75"/>
          <p:cNvSpPr txBox="1"/>
          <p:nvPr>
            <p:ph idx="1" type="body"/>
          </p:nvPr>
        </p:nvSpPr>
        <p:spPr>
          <a:xfrm>
            <a:off x="3286309" y="2942929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</a:t>
            </a:r>
            <a:endParaRPr sz="1800"/>
          </a:p>
        </p:txBody>
      </p:sp>
      <p:sp>
        <p:nvSpPr>
          <p:cNvPr id="979" name="Google Shape;979;p75"/>
          <p:cNvSpPr txBox="1"/>
          <p:nvPr>
            <p:ph idx="1" type="body"/>
          </p:nvPr>
        </p:nvSpPr>
        <p:spPr>
          <a:xfrm>
            <a:off x="6237781" y="2942929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f)</a:t>
            </a:r>
            <a:endParaRPr sz="1800"/>
          </a:p>
        </p:txBody>
      </p:sp>
      <p:sp>
        <p:nvSpPr>
          <p:cNvPr id="980" name="Google Shape;980;p75"/>
          <p:cNvSpPr txBox="1"/>
          <p:nvPr>
            <p:ph idx="1" type="body"/>
          </p:nvPr>
        </p:nvSpPr>
        <p:spPr>
          <a:xfrm>
            <a:off x="677574" y="2500099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</a:t>
            </a:r>
            <a:r>
              <a:rPr lang="en-GB" sz="1600" u="sng"/>
              <a:t>      </a:t>
            </a:r>
            <a:r>
              <a:rPr lang="en-GB" sz="1600"/>
              <a:t> units</a:t>
            </a:r>
            <a:r>
              <a:rPr baseline="30000" lang="en-GB" sz="1600"/>
              <a:t>2</a:t>
            </a:r>
            <a:endParaRPr baseline="30000" sz="1600"/>
          </a:p>
        </p:txBody>
      </p:sp>
      <p:sp>
        <p:nvSpPr>
          <p:cNvPr id="981" name="Google Shape;981;p75"/>
          <p:cNvSpPr txBox="1"/>
          <p:nvPr>
            <p:ph idx="1" type="body"/>
          </p:nvPr>
        </p:nvSpPr>
        <p:spPr>
          <a:xfrm>
            <a:off x="3496974" y="2500099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</a:t>
            </a:r>
            <a:r>
              <a:rPr lang="en-GB" sz="1600" u="sng"/>
              <a:t>      </a:t>
            </a:r>
            <a:r>
              <a:rPr lang="en-GB" sz="1600"/>
              <a:t> cm</a:t>
            </a:r>
            <a:r>
              <a:rPr baseline="30000" lang="en-GB" sz="1600"/>
              <a:t>2</a:t>
            </a:r>
            <a:endParaRPr baseline="30000" sz="1600"/>
          </a:p>
        </p:txBody>
      </p:sp>
      <p:sp>
        <p:nvSpPr>
          <p:cNvPr id="982" name="Google Shape;982;p75"/>
          <p:cNvSpPr txBox="1"/>
          <p:nvPr>
            <p:ph idx="1" type="body"/>
          </p:nvPr>
        </p:nvSpPr>
        <p:spPr>
          <a:xfrm>
            <a:off x="6621174" y="2500099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</a:t>
            </a:r>
            <a:r>
              <a:rPr lang="en-GB" sz="1600" u="sng"/>
              <a:t>        </a:t>
            </a:r>
            <a:r>
              <a:rPr lang="en-GB" sz="1600" u="sng"/>
              <a:t>_</a:t>
            </a:r>
            <a:endParaRPr baseline="30000" sz="1600" u="sng"/>
          </a:p>
        </p:txBody>
      </p:sp>
      <p:sp>
        <p:nvSpPr>
          <p:cNvPr id="983" name="Google Shape;983;p75"/>
          <p:cNvSpPr txBox="1"/>
          <p:nvPr>
            <p:ph idx="1" type="body"/>
          </p:nvPr>
        </p:nvSpPr>
        <p:spPr>
          <a:xfrm>
            <a:off x="6621174" y="4605124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</a:t>
            </a:r>
            <a:r>
              <a:rPr lang="en-GB" sz="1600" u="sng"/>
              <a:t>        _</a:t>
            </a:r>
            <a:endParaRPr baseline="30000" sz="1600"/>
          </a:p>
        </p:txBody>
      </p:sp>
      <p:sp>
        <p:nvSpPr>
          <p:cNvPr id="984" name="Google Shape;984;p75"/>
          <p:cNvSpPr txBox="1"/>
          <p:nvPr>
            <p:ph idx="1" type="body"/>
          </p:nvPr>
        </p:nvSpPr>
        <p:spPr>
          <a:xfrm>
            <a:off x="3447989" y="4605124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</a:t>
            </a:r>
            <a:r>
              <a:rPr lang="en-GB" sz="1600" u="sng"/>
              <a:t>        _</a:t>
            </a:r>
            <a:endParaRPr baseline="30000" sz="1600"/>
          </a:p>
        </p:txBody>
      </p:sp>
      <p:sp>
        <p:nvSpPr>
          <p:cNvPr id="985" name="Google Shape;985;p75"/>
          <p:cNvSpPr txBox="1"/>
          <p:nvPr>
            <p:ph idx="1" type="body"/>
          </p:nvPr>
        </p:nvSpPr>
        <p:spPr>
          <a:xfrm>
            <a:off x="704789" y="4605124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</a:t>
            </a:r>
            <a:r>
              <a:rPr lang="en-GB" sz="1600" u="sng"/>
              <a:t>        _</a:t>
            </a:r>
            <a:endParaRPr baseline="30000" sz="1600"/>
          </a:p>
        </p:txBody>
      </p:sp>
      <p:cxnSp>
        <p:nvCxnSpPr>
          <p:cNvPr id="986" name="Google Shape;986;p75"/>
          <p:cNvCxnSpPr/>
          <p:nvPr/>
        </p:nvCxnSpPr>
        <p:spPr>
          <a:xfrm flipH="1">
            <a:off x="3438619" y="1086162"/>
            <a:ext cx="1662900" cy="95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7" name="Google Shape;987;p75"/>
          <p:cNvCxnSpPr/>
          <p:nvPr/>
        </p:nvCxnSpPr>
        <p:spPr>
          <a:xfrm rot="10800000">
            <a:off x="3525650" y="2238175"/>
            <a:ext cx="112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8" name="Google Shape;988;p75"/>
          <p:cNvCxnSpPr/>
          <p:nvPr/>
        </p:nvCxnSpPr>
        <p:spPr>
          <a:xfrm rot="10800000">
            <a:off x="6609142" y="2098091"/>
            <a:ext cx="104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89" name="Google Shape;989;p75"/>
          <p:cNvCxnSpPr/>
          <p:nvPr/>
        </p:nvCxnSpPr>
        <p:spPr>
          <a:xfrm flipH="1">
            <a:off x="7754202" y="1130075"/>
            <a:ext cx="210000" cy="86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0" name="Google Shape;990;p75"/>
          <p:cNvCxnSpPr/>
          <p:nvPr/>
        </p:nvCxnSpPr>
        <p:spPr>
          <a:xfrm flipH="1" rot="10800000">
            <a:off x="696928" y="3124386"/>
            <a:ext cx="499800" cy="82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1" name="Google Shape;991;p75"/>
          <p:cNvCxnSpPr/>
          <p:nvPr/>
        </p:nvCxnSpPr>
        <p:spPr>
          <a:xfrm rot="10800000">
            <a:off x="1328762" y="3092332"/>
            <a:ext cx="879900" cy="50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2" name="Google Shape;992;p75"/>
          <p:cNvCxnSpPr/>
          <p:nvPr/>
        </p:nvCxnSpPr>
        <p:spPr>
          <a:xfrm rot="10800000">
            <a:off x="4844650" y="3215390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3" name="Google Shape;993;p75"/>
          <p:cNvCxnSpPr/>
          <p:nvPr/>
        </p:nvCxnSpPr>
        <p:spPr>
          <a:xfrm flipH="1" rot="10800000">
            <a:off x="3556595" y="3614663"/>
            <a:ext cx="1194600" cy="80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4" name="Google Shape;994;p75"/>
          <p:cNvCxnSpPr/>
          <p:nvPr/>
        </p:nvCxnSpPr>
        <p:spPr>
          <a:xfrm rot="10800000">
            <a:off x="7662800" y="3001800"/>
            <a:ext cx="791100" cy="99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5" name="Google Shape;995;p75"/>
          <p:cNvCxnSpPr/>
          <p:nvPr/>
        </p:nvCxnSpPr>
        <p:spPr>
          <a:xfrm flipH="1">
            <a:off x="7430650" y="4149888"/>
            <a:ext cx="1007100" cy="20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Google Shape;1000;p76"/>
          <p:cNvPicPr preferRelativeResize="0"/>
          <p:nvPr/>
        </p:nvPicPr>
        <p:blipFill rotWithShape="1">
          <a:blip r:embed="rId3">
            <a:alphaModFix/>
          </a:blip>
          <a:srcRect b="0" l="72035" r="1912" t="45091"/>
          <a:stretch/>
        </p:blipFill>
        <p:spPr>
          <a:xfrm>
            <a:off x="6466151" y="2665982"/>
            <a:ext cx="1939577" cy="192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76"/>
          <p:cNvPicPr preferRelativeResize="0"/>
          <p:nvPr/>
        </p:nvPicPr>
        <p:blipFill rotWithShape="1">
          <a:blip r:embed="rId3">
            <a:alphaModFix/>
          </a:blip>
          <a:srcRect b="10125" l="36485" r="44031" t="53854"/>
          <a:stretch/>
        </p:blipFill>
        <p:spPr>
          <a:xfrm>
            <a:off x="3362425" y="3126125"/>
            <a:ext cx="1450526" cy="1264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76"/>
          <p:cNvPicPr preferRelativeResize="0"/>
          <p:nvPr/>
        </p:nvPicPr>
        <p:blipFill rotWithShape="1">
          <a:blip r:embed="rId3">
            <a:alphaModFix/>
          </a:blip>
          <a:srcRect b="4019" l="4757" r="74694" t="53808"/>
          <a:stretch/>
        </p:blipFill>
        <p:spPr>
          <a:xfrm>
            <a:off x="695325" y="3124375"/>
            <a:ext cx="1529899" cy="148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76"/>
          <p:cNvPicPr preferRelativeResize="0"/>
          <p:nvPr/>
        </p:nvPicPr>
        <p:blipFill rotWithShape="1">
          <a:blip r:embed="rId3">
            <a:alphaModFix/>
          </a:blip>
          <a:srcRect b="67669" l="75103" r="5595" t="2196"/>
          <a:stretch/>
        </p:blipFill>
        <p:spPr>
          <a:xfrm>
            <a:off x="6542350" y="1027875"/>
            <a:ext cx="1436975" cy="10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76"/>
          <p:cNvPicPr preferRelativeResize="0"/>
          <p:nvPr/>
        </p:nvPicPr>
        <p:blipFill rotWithShape="1">
          <a:blip r:embed="rId3">
            <a:alphaModFix/>
          </a:blip>
          <a:srcRect b="63621" l="37728" r="36966" t="4044"/>
          <a:stretch/>
        </p:blipFill>
        <p:spPr>
          <a:xfrm>
            <a:off x="3454950" y="1092700"/>
            <a:ext cx="1883999" cy="11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76"/>
          <p:cNvPicPr preferRelativeResize="0"/>
          <p:nvPr/>
        </p:nvPicPr>
        <p:blipFill rotWithShape="1">
          <a:blip r:embed="rId3">
            <a:alphaModFix/>
          </a:blip>
          <a:srcRect b="69864" l="4560" r="76137" t="3008"/>
          <a:stretch/>
        </p:blipFill>
        <p:spPr>
          <a:xfrm>
            <a:off x="680825" y="1056300"/>
            <a:ext cx="14369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76"/>
          <p:cNvSpPr txBox="1"/>
          <p:nvPr>
            <p:ph idx="1" type="body"/>
          </p:nvPr>
        </p:nvSpPr>
        <p:spPr>
          <a:xfrm>
            <a:off x="324000" y="683100"/>
            <a:ext cx="8237700" cy="2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Find the area of each shape.</a:t>
            </a:r>
            <a:endParaRPr sz="1800"/>
          </a:p>
        </p:txBody>
      </p:sp>
      <p:sp>
        <p:nvSpPr>
          <p:cNvPr id="1007" name="Google Shape;1007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Areas of rectangles, triangles and parallelograms</a:t>
            </a:r>
            <a:endParaRPr/>
          </a:p>
        </p:txBody>
      </p:sp>
      <p:sp>
        <p:nvSpPr>
          <p:cNvPr id="1008" name="Google Shape;1008;p76"/>
          <p:cNvSpPr txBox="1"/>
          <p:nvPr>
            <p:ph idx="1" type="body"/>
          </p:nvPr>
        </p:nvSpPr>
        <p:spPr>
          <a:xfrm>
            <a:off x="3755705" y="1363257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 cm</a:t>
            </a:r>
            <a:endParaRPr sz="1600"/>
          </a:p>
        </p:txBody>
      </p:sp>
      <p:sp>
        <p:nvSpPr>
          <p:cNvPr id="1009" name="Google Shape;1009;p76"/>
          <p:cNvSpPr txBox="1"/>
          <p:nvPr>
            <p:ph idx="1" type="body"/>
          </p:nvPr>
        </p:nvSpPr>
        <p:spPr>
          <a:xfrm>
            <a:off x="3866103" y="2204741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010" name="Google Shape;1010;p76"/>
          <p:cNvSpPr txBox="1"/>
          <p:nvPr>
            <p:ph idx="1" type="body"/>
          </p:nvPr>
        </p:nvSpPr>
        <p:spPr>
          <a:xfrm>
            <a:off x="5262445" y="1599405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011" name="Google Shape;1011;p76"/>
          <p:cNvSpPr txBox="1"/>
          <p:nvPr>
            <p:ph idx="1" type="body"/>
          </p:nvPr>
        </p:nvSpPr>
        <p:spPr>
          <a:xfrm>
            <a:off x="7881670" y="1483846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cm</a:t>
            </a:r>
            <a:endParaRPr sz="1600"/>
          </a:p>
        </p:txBody>
      </p:sp>
      <p:sp>
        <p:nvSpPr>
          <p:cNvPr id="1012" name="Google Shape;1012;p76"/>
          <p:cNvSpPr txBox="1"/>
          <p:nvPr>
            <p:ph idx="1" type="body"/>
          </p:nvPr>
        </p:nvSpPr>
        <p:spPr>
          <a:xfrm>
            <a:off x="6857303" y="2079166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 cm</a:t>
            </a:r>
            <a:endParaRPr sz="1600"/>
          </a:p>
        </p:txBody>
      </p:sp>
      <p:cxnSp>
        <p:nvCxnSpPr>
          <p:cNvPr id="1013" name="Google Shape;1013;p76"/>
          <p:cNvCxnSpPr/>
          <p:nvPr/>
        </p:nvCxnSpPr>
        <p:spPr>
          <a:xfrm>
            <a:off x="6835055" y="1161945"/>
            <a:ext cx="941400" cy="22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014" name="Google Shape;1014;p76"/>
          <p:cNvSpPr txBox="1"/>
          <p:nvPr>
            <p:ph idx="1" type="body"/>
          </p:nvPr>
        </p:nvSpPr>
        <p:spPr>
          <a:xfrm>
            <a:off x="6964803" y="1271980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015" name="Google Shape;1015;p76"/>
          <p:cNvCxnSpPr/>
          <p:nvPr/>
        </p:nvCxnSpPr>
        <p:spPr>
          <a:xfrm>
            <a:off x="1301639" y="3229884"/>
            <a:ext cx="0" cy="1036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016" name="Google Shape;1016;p76"/>
          <p:cNvSpPr txBox="1"/>
          <p:nvPr>
            <p:ph idx="1" type="body"/>
          </p:nvPr>
        </p:nvSpPr>
        <p:spPr>
          <a:xfrm>
            <a:off x="375349" y="3349493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mm</a:t>
            </a:r>
            <a:endParaRPr sz="1600"/>
          </a:p>
        </p:txBody>
      </p:sp>
      <p:sp>
        <p:nvSpPr>
          <p:cNvPr id="1017" name="Google Shape;1017;p76"/>
          <p:cNvSpPr txBox="1"/>
          <p:nvPr>
            <p:ph idx="1" type="body"/>
          </p:nvPr>
        </p:nvSpPr>
        <p:spPr>
          <a:xfrm>
            <a:off x="1685720" y="3084461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mm</a:t>
            </a:r>
            <a:endParaRPr sz="1600"/>
          </a:p>
        </p:txBody>
      </p:sp>
      <p:sp>
        <p:nvSpPr>
          <p:cNvPr id="1018" name="Google Shape;1018;p76"/>
          <p:cNvSpPr txBox="1"/>
          <p:nvPr>
            <p:ph idx="1" type="body"/>
          </p:nvPr>
        </p:nvSpPr>
        <p:spPr>
          <a:xfrm>
            <a:off x="1308789" y="3688694"/>
            <a:ext cx="60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mm</a:t>
            </a:r>
            <a:endParaRPr sz="1600"/>
          </a:p>
        </p:txBody>
      </p:sp>
      <p:sp>
        <p:nvSpPr>
          <p:cNvPr id="1019" name="Google Shape;1019;p76"/>
          <p:cNvSpPr txBox="1"/>
          <p:nvPr>
            <p:ph idx="1" type="body"/>
          </p:nvPr>
        </p:nvSpPr>
        <p:spPr>
          <a:xfrm>
            <a:off x="4889150" y="3228316"/>
            <a:ext cx="6744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 cm</a:t>
            </a:r>
            <a:endParaRPr sz="1600"/>
          </a:p>
        </p:txBody>
      </p:sp>
      <p:cxnSp>
        <p:nvCxnSpPr>
          <p:cNvPr id="1020" name="Google Shape;1020;p76"/>
          <p:cNvCxnSpPr/>
          <p:nvPr/>
        </p:nvCxnSpPr>
        <p:spPr>
          <a:xfrm>
            <a:off x="3527164" y="3212333"/>
            <a:ext cx="0" cy="79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21" name="Google Shape;1021;p76"/>
          <p:cNvSpPr txBox="1"/>
          <p:nvPr>
            <p:ph idx="1" type="body"/>
          </p:nvPr>
        </p:nvSpPr>
        <p:spPr>
          <a:xfrm>
            <a:off x="4151666" y="3977811"/>
            <a:ext cx="6948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 cm</a:t>
            </a:r>
            <a:endParaRPr sz="1600"/>
          </a:p>
        </p:txBody>
      </p:sp>
      <p:sp>
        <p:nvSpPr>
          <p:cNvPr id="1022" name="Google Shape;1022;p76"/>
          <p:cNvSpPr txBox="1"/>
          <p:nvPr>
            <p:ph idx="1" type="body"/>
          </p:nvPr>
        </p:nvSpPr>
        <p:spPr>
          <a:xfrm>
            <a:off x="3853473" y="2961472"/>
            <a:ext cx="6948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 cm</a:t>
            </a:r>
            <a:endParaRPr sz="1600"/>
          </a:p>
        </p:txBody>
      </p:sp>
      <p:cxnSp>
        <p:nvCxnSpPr>
          <p:cNvPr id="1023" name="Google Shape;1023;p76"/>
          <p:cNvCxnSpPr/>
          <p:nvPr/>
        </p:nvCxnSpPr>
        <p:spPr>
          <a:xfrm>
            <a:off x="7579080" y="3107649"/>
            <a:ext cx="227400" cy="105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024" name="Google Shape;1024;p76"/>
          <p:cNvSpPr txBox="1"/>
          <p:nvPr>
            <p:ph idx="1" type="body"/>
          </p:nvPr>
        </p:nvSpPr>
        <p:spPr>
          <a:xfrm>
            <a:off x="7791650" y="4242038"/>
            <a:ext cx="6948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sp>
        <p:nvSpPr>
          <p:cNvPr id="1025" name="Google Shape;1025;p76"/>
          <p:cNvSpPr txBox="1"/>
          <p:nvPr>
            <p:ph idx="1" type="body"/>
          </p:nvPr>
        </p:nvSpPr>
        <p:spPr>
          <a:xfrm>
            <a:off x="8055586" y="3278518"/>
            <a:ext cx="6948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m</a:t>
            </a:r>
            <a:endParaRPr sz="1600"/>
          </a:p>
        </p:txBody>
      </p:sp>
      <p:sp>
        <p:nvSpPr>
          <p:cNvPr id="1026" name="Google Shape;1026;p76"/>
          <p:cNvSpPr txBox="1"/>
          <p:nvPr>
            <p:ph idx="1" type="body"/>
          </p:nvPr>
        </p:nvSpPr>
        <p:spPr>
          <a:xfrm rot="-688615">
            <a:off x="7377471" y="3637789"/>
            <a:ext cx="363366" cy="301236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m</a:t>
            </a:r>
            <a:endParaRPr sz="1600"/>
          </a:p>
        </p:txBody>
      </p:sp>
      <p:cxnSp>
        <p:nvCxnSpPr>
          <p:cNvPr id="1027" name="Google Shape;1027;p76"/>
          <p:cNvCxnSpPr/>
          <p:nvPr/>
        </p:nvCxnSpPr>
        <p:spPr>
          <a:xfrm flipH="1">
            <a:off x="6889903" y="3094797"/>
            <a:ext cx="665100" cy="53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028" name="Google Shape;1028;p76"/>
          <p:cNvSpPr txBox="1"/>
          <p:nvPr>
            <p:ph idx="1" type="body"/>
          </p:nvPr>
        </p:nvSpPr>
        <p:spPr>
          <a:xfrm rot="-2289684">
            <a:off x="6871291" y="3160732"/>
            <a:ext cx="694797" cy="301036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r>
              <a:rPr lang="en-GB" sz="1600"/>
              <a:t>.5 m</a:t>
            </a:r>
            <a:endParaRPr sz="1600"/>
          </a:p>
        </p:txBody>
      </p:sp>
      <p:grpSp>
        <p:nvGrpSpPr>
          <p:cNvPr id="1029" name="Google Shape;1029;p76"/>
          <p:cNvGrpSpPr/>
          <p:nvPr/>
        </p:nvGrpSpPr>
        <p:grpSpPr>
          <a:xfrm>
            <a:off x="7657355" y="1379586"/>
            <a:ext cx="90397" cy="129329"/>
            <a:chOff x="7468500" y="1536950"/>
            <a:chExt cx="96300" cy="137775"/>
          </a:xfrm>
        </p:grpSpPr>
        <p:cxnSp>
          <p:nvCxnSpPr>
            <p:cNvPr id="1030" name="Google Shape;1030;p76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76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2" name="Google Shape;1032;p76"/>
          <p:cNvGrpSpPr/>
          <p:nvPr/>
        </p:nvGrpSpPr>
        <p:grpSpPr>
          <a:xfrm rot="3855398">
            <a:off x="7695092" y="4059366"/>
            <a:ext cx="90393" cy="129324"/>
            <a:chOff x="7468500" y="1536950"/>
            <a:chExt cx="96300" cy="137775"/>
          </a:xfrm>
        </p:grpSpPr>
        <p:cxnSp>
          <p:nvCxnSpPr>
            <p:cNvPr id="1033" name="Google Shape;1033;p76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4" name="Google Shape;1034;p76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5" name="Google Shape;1035;p76"/>
          <p:cNvGrpSpPr/>
          <p:nvPr/>
        </p:nvGrpSpPr>
        <p:grpSpPr>
          <a:xfrm flipH="1" rot="-1467274">
            <a:off x="6924423" y="3581305"/>
            <a:ext cx="90398" cy="129331"/>
            <a:chOff x="7468500" y="1536950"/>
            <a:chExt cx="96300" cy="137775"/>
          </a:xfrm>
        </p:grpSpPr>
        <p:cxnSp>
          <p:nvCxnSpPr>
            <p:cNvPr id="1036" name="Google Shape;1036;p76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7" name="Google Shape;1037;p76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38" name="Google Shape;1038;p76"/>
          <p:cNvCxnSpPr/>
          <p:nvPr/>
        </p:nvCxnSpPr>
        <p:spPr>
          <a:xfrm>
            <a:off x="3517996" y="3188734"/>
            <a:ext cx="122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039" name="Google Shape;1039;p76"/>
          <p:cNvGrpSpPr/>
          <p:nvPr/>
        </p:nvGrpSpPr>
        <p:grpSpPr>
          <a:xfrm>
            <a:off x="3531140" y="3202671"/>
            <a:ext cx="168403" cy="161644"/>
            <a:chOff x="3397534" y="3193326"/>
            <a:chExt cx="179400" cy="172200"/>
          </a:xfrm>
        </p:grpSpPr>
        <p:cxnSp>
          <p:nvCxnSpPr>
            <p:cNvPr id="1040" name="Google Shape;1040;p76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1" name="Google Shape;1041;p76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42" name="Google Shape;1042;p76"/>
          <p:cNvCxnSpPr/>
          <p:nvPr/>
        </p:nvCxnSpPr>
        <p:spPr>
          <a:xfrm>
            <a:off x="4692354" y="2145010"/>
            <a:ext cx="551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043" name="Google Shape;1043;p76"/>
          <p:cNvGrpSpPr/>
          <p:nvPr/>
        </p:nvGrpSpPr>
        <p:grpSpPr>
          <a:xfrm rot="10800000">
            <a:off x="5077870" y="1976184"/>
            <a:ext cx="168403" cy="161644"/>
            <a:chOff x="3397534" y="3193326"/>
            <a:chExt cx="179400" cy="172200"/>
          </a:xfrm>
        </p:grpSpPr>
        <p:cxnSp>
          <p:nvCxnSpPr>
            <p:cNvPr id="1044" name="Google Shape;1044;p76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5" name="Google Shape;1045;p76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46" name="Google Shape;1046;p76"/>
          <p:cNvCxnSpPr/>
          <p:nvPr/>
        </p:nvCxnSpPr>
        <p:spPr>
          <a:xfrm>
            <a:off x="5240013" y="1141486"/>
            <a:ext cx="0" cy="99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7" name="Google Shape;1047;p76"/>
          <p:cNvSpPr txBox="1"/>
          <p:nvPr>
            <p:ph idx="1" type="body"/>
          </p:nvPr>
        </p:nvSpPr>
        <p:spPr>
          <a:xfrm>
            <a:off x="341225" y="1051994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048" name="Google Shape;1048;p76"/>
          <p:cNvSpPr txBox="1"/>
          <p:nvPr>
            <p:ph idx="1" type="body"/>
          </p:nvPr>
        </p:nvSpPr>
        <p:spPr>
          <a:xfrm>
            <a:off x="3286309" y="1051994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049" name="Google Shape;1049;p76"/>
          <p:cNvSpPr txBox="1"/>
          <p:nvPr>
            <p:ph idx="1" type="body"/>
          </p:nvPr>
        </p:nvSpPr>
        <p:spPr>
          <a:xfrm>
            <a:off x="6237781" y="1051994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050" name="Google Shape;1050;p76"/>
          <p:cNvSpPr txBox="1"/>
          <p:nvPr>
            <p:ph idx="1" type="body"/>
          </p:nvPr>
        </p:nvSpPr>
        <p:spPr>
          <a:xfrm>
            <a:off x="341225" y="2942929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1051" name="Google Shape;1051;p76"/>
          <p:cNvSpPr txBox="1"/>
          <p:nvPr>
            <p:ph idx="1" type="body"/>
          </p:nvPr>
        </p:nvSpPr>
        <p:spPr>
          <a:xfrm>
            <a:off x="3286309" y="2942929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</a:t>
            </a:r>
            <a:endParaRPr sz="1800"/>
          </a:p>
        </p:txBody>
      </p:sp>
      <p:sp>
        <p:nvSpPr>
          <p:cNvPr id="1052" name="Google Shape;1052;p76"/>
          <p:cNvSpPr txBox="1"/>
          <p:nvPr>
            <p:ph idx="1" type="body"/>
          </p:nvPr>
        </p:nvSpPr>
        <p:spPr>
          <a:xfrm>
            <a:off x="6237781" y="2942929"/>
            <a:ext cx="273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f)</a:t>
            </a:r>
            <a:endParaRPr sz="1800"/>
          </a:p>
        </p:txBody>
      </p:sp>
      <p:sp>
        <p:nvSpPr>
          <p:cNvPr id="1053" name="Google Shape;1053;p76"/>
          <p:cNvSpPr txBox="1"/>
          <p:nvPr>
            <p:ph idx="1" type="body"/>
          </p:nvPr>
        </p:nvSpPr>
        <p:spPr>
          <a:xfrm>
            <a:off x="677574" y="2500099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       units</a:t>
            </a:r>
            <a:r>
              <a:rPr baseline="30000" lang="en-GB" sz="1600"/>
              <a:t>2</a:t>
            </a:r>
            <a:endParaRPr baseline="30000" sz="1600"/>
          </a:p>
        </p:txBody>
      </p:sp>
      <p:sp>
        <p:nvSpPr>
          <p:cNvPr id="1054" name="Google Shape;1054;p76"/>
          <p:cNvSpPr txBox="1"/>
          <p:nvPr>
            <p:ph idx="1" type="body"/>
          </p:nvPr>
        </p:nvSpPr>
        <p:spPr>
          <a:xfrm>
            <a:off x="3496974" y="2500099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       cm</a:t>
            </a:r>
            <a:r>
              <a:rPr baseline="30000" lang="en-GB" sz="1600"/>
              <a:t>2</a:t>
            </a:r>
            <a:endParaRPr baseline="30000" sz="1600"/>
          </a:p>
        </p:txBody>
      </p:sp>
      <p:sp>
        <p:nvSpPr>
          <p:cNvPr id="1055" name="Google Shape;1055;p76"/>
          <p:cNvSpPr txBox="1"/>
          <p:nvPr>
            <p:ph idx="1" type="body"/>
          </p:nvPr>
        </p:nvSpPr>
        <p:spPr>
          <a:xfrm>
            <a:off x="6621174" y="2500099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        </a:t>
            </a:r>
            <a:endParaRPr baseline="30000" sz="1600"/>
          </a:p>
        </p:txBody>
      </p:sp>
      <p:sp>
        <p:nvSpPr>
          <p:cNvPr id="1056" name="Google Shape;1056;p76"/>
          <p:cNvSpPr txBox="1"/>
          <p:nvPr>
            <p:ph idx="1" type="body"/>
          </p:nvPr>
        </p:nvSpPr>
        <p:spPr>
          <a:xfrm>
            <a:off x="6621174" y="4605124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        </a:t>
            </a:r>
            <a:endParaRPr baseline="30000" sz="1600"/>
          </a:p>
        </p:txBody>
      </p:sp>
      <p:sp>
        <p:nvSpPr>
          <p:cNvPr id="1057" name="Google Shape;1057;p76"/>
          <p:cNvSpPr txBox="1"/>
          <p:nvPr>
            <p:ph idx="1" type="body"/>
          </p:nvPr>
        </p:nvSpPr>
        <p:spPr>
          <a:xfrm>
            <a:off x="3447989" y="4605124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        </a:t>
            </a:r>
            <a:endParaRPr baseline="30000" sz="1600"/>
          </a:p>
        </p:txBody>
      </p:sp>
      <p:sp>
        <p:nvSpPr>
          <p:cNvPr id="1058" name="Google Shape;1058;p76"/>
          <p:cNvSpPr txBox="1"/>
          <p:nvPr>
            <p:ph idx="1" type="body"/>
          </p:nvPr>
        </p:nvSpPr>
        <p:spPr>
          <a:xfrm>
            <a:off x="704789" y="4605124"/>
            <a:ext cx="16416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area =        </a:t>
            </a:r>
            <a:endParaRPr baseline="30000" sz="1600"/>
          </a:p>
        </p:txBody>
      </p:sp>
      <p:cxnSp>
        <p:nvCxnSpPr>
          <p:cNvPr id="1059" name="Google Shape;1059;p76"/>
          <p:cNvCxnSpPr/>
          <p:nvPr/>
        </p:nvCxnSpPr>
        <p:spPr>
          <a:xfrm flipH="1">
            <a:off x="3438619" y="1086162"/>
            <a:ext cx="1662900" cy="95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0" name="Google Shape;1060;p76"/>
          <p:cNvCxnSpPr/>
          <p:nvPr/>
        </p:nvCxnSpPr>
        <p:spPr>
          <a:xfrm rot="10800000">
            <a:off x="3525650" y="2238175"/>
            <a:ext cx="1127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1" name="Google Shape;1061;p76"/>
          <p:cNvCxnSpPr/>
          <p:nvPr/>
        </p:nvCxnSpPr>
        <p:spPr>
          <a:xfrm rot="10800000">
            <a:off x="6609142" y="2098091"/>
            <a:ext cx="104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2" name="Google Shape;1062;p76"/>
          <p:cNvCxnSpPr/>
          <p:nvPr/>
        </p:nvCxnSpPr>
        <p:spPr>
          <a:xfrm flipH="1">
            <a:off x="7754202" y="1130075"/>
            <a:ext cx="210000" cy="86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3" name="Google Shape;1063;p76"/>
          <p:cNvCxnSpPr/>
          <p:nvPr/>
        </p:nvCxnSpPr>
        <p:spPr>
          <a:xfrm flipH="1" rot="10800000">
            <a:off x="696928" y="3124386"/>
            <a:ext cx="499800" cy="82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4" name="Google Shape;1064;p76"/>
          <p:cNvCxnSpPr/>
          <p:nvPr/>
        </p:nvCxnSpPr>
        <p:spPr>
          <a:xfrm rot="10800000">
            <a:off x="1328762" y="3092332"/>
            <a:ext cx="879900" cy="50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5" name="Google Shape;1065;p76"/>
          <p:cNvCxnSpPr/>
          <p:nvPr/>
        </p:nvCxnSpPr>
        <p:spPr>
          <a:xfrm rot="10800000">
            <a:off x="4844650" y="3215390"/>
            <a:ext cx="0" cy="28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6" name="Google Shape;1066;p76"/>
          <p:cNvCxnSpPr/>
          <p:nvPr/>
        </p:nvCxnSpPr>
        <p:spPr>
          <a:xfrm flipH="1" rot="10800000">
            <a:off x="3556595" y="3614663"/>
            <a:ext cx="1194600" cy="80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7" name="Google Shape;1067;p76"/>
          <p:cNvCxnSpPr/>
          <p:nvPr/>
        </p:nvCxnSpPr>
        <p:spPr>
          <a:xfrm rot="10800000">
            <a:off x="7662800" y="3001800"/>
            <a:ext cx="791100" cy="99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8" name="Google Shape;1068;p76"/>
          <p:cNvCxnSpPr/>
          <p:nvPr/>
        </p:nvCxnSpPr>
        <p:spPr>
          <a:xfrm flipH="1">
            <a:off x="7430650" y="4149888"/>
            <a:ext cx="1007100" cy="20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9" name="Google Shape;1069;p76"/>
          <p:cNvSpPr txBox="1"/>
          <p:nvPr>
            <p:ph idx="1" type="body"/>
          </p:nvPr>
        </p:nvSpPr>
        <p:spPr>
          <a:xfrm>
            <a:off x="1420604" y="2486489"/>
            <a:ext cx="374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0" name="Google Shape;1070;p76"/>
          <p:cNvSpPr txBox="1"/>
          <p:nvPr>
            <p:ph idx="1" type="body"/>
          </p:nvPr>
        </p:nvSpPr>
        <p:spPr>
          <a:xfrm>
            <a:off x="4295793" y="2496014"/>
            <a:ext cx="374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1" name="Google Shape;1071;p76"/>
          <p:cNvSpPr txBox="1"/>
          <p:nvPr>
            <p:ph idx="1" type="body"/>
          </p:nvPr>
        </p:nvSpPr>
        <p:spPr>
          <a:xfrm>
            <a:off x="7334274" y="2496025"/>
            <a:ext cx="7755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90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76"/>
          <p:cNvSpPr txBox="1"/>
          <p:nvPr>
            <p:ph idx="1" type="body"/>
          </p:nvPr>
        </p:nvSpPr>
        <p:spPr>
          <a:xfrm>
            <a:off x="1416277" y="4595400"/>
            <a:ext cx="903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64 mm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3" name="Google Shape;1073;p76"/>
          <p:cNvSpPr txBox="1"/>
          <p:nvPr>
            <p:ph idx="1" type="body"/>
          </p:nvPr>
        </p:nvSpPr>
        <p:spPr>
          <a:xfrm>
            <a:off x="4188050" y="4595400"/>
            <a:ext cx="7755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 cm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4" name="Google Shape;1074;p76"/>
          <p:cNvSpPr txBox="1"/>
          <p:nvPr>
            <p:ph idx="1" type="body"/>
          </p:nvPr>
        </p:nvSpPr>
        <p:spPr>
          <a:xfrm>
            <a:off x="7359877" y="4595400"/>
            <a:ext cx="903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54 m</a:t>
            </a:r>
            <a:r>
              <a:rPr baseline="30000"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7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rectangles, triangles and parallelograms</a:t>
            </a:r>
            <a:endParaRPr/>
          </a:p>
        </p:txBody>
      </p:sp>
      <p:sp>
        <p:nvSpPr>
          <p:cNvPr id="1080" name="Google Shape;1080;p7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trapezia</a:t>
            </a:r>
            <a:endParaRPr/>
          </a:p>
        </p:txBody>
      </p:sp>
      <p:sp>
        <p:nvSpPr>
          <p:cNvPr id="1081" name="Google Shape;1081;p7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composite shapes</a:t>
            </a:r>
            <a:endParaRPr/>
          </a:p>
        </p:txBody>
      </p:sp>
      <p:sp>
        <p:nvSpPr>
          <p:cNvPr id="1082" name="Google Shape;1082;p77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pic>
        <p:nvPicPr>
          <p:cNvPr id="1083" name="Google Shape;108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25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8" name="Google Shape;108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828" y="1404114"/>
            <a:ext cx="2544366" cy="15702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9" name="Google Shape;1089;p78"/>
          <p:cNvCxnSpPr/>
          <p:nvPr/>
        </p:nvCxnSpPr>
        <p:spPr>
          <a:xfrm>
            <a:off x="6153015" y="1482450"/>
            <a:ext cx="0" cy="146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0" name="Google Shape;1090;p78"/>
          <p:cNvSpPr txBox="1"/>
          <p:nvPr>
            <p:ph idx="1" type="body"/>
          </p:nvPr>
        </p:nvSpPr>
        <p:spPr>
          <a:xfrm>
            <a:off x="324000" y="759300"/>
            <a:ext cx="82377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area of each shape.</a:t>
            </a:r>
            <a:endParaRPr sz="2000"/>
          </a:p>
        </p:txBody>
      </p:sp>
      <p:sp>
        <p:nvSpPr>
          <p:cNvPr id="1091" name="Google Shape;109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Areas of trapezia</a:t>
            </a:r>
            <a:endParaRPr/>
          </a:p>
        </p:txBody>
      </p:sp>
      <p:pic>
        <p:nvPicPr>
          <p:cNvPr id="1092" name="Google Shape;1092;p78"/>
          <p:cNvPicPr preferRelativeResize="0"/>
          <p:nvPr/>
        </p:nvPicPr>
        <p:blipFill rotWithShape="1">
          <a:blip r:embed="rId4">
            <a:alphaModFix/>
          </a:blip>
          <a:srcRect b="53729" l="29174" r="36372" t="0"/>
          <a:stretch/>
        </p:blipFill>
        <p:spPr>
          <a:xfrm>
            <a:off x="1919438" y="1352559"/>
            <a:ext cx="1401637" cy="17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78"/>
          <p:cNvPicPr preferRelativeResize="0"/>
          <p:nvPr/>
        </p:nvPicPr>
        <p:blipFill rotWithShape="1">
          <a:blip r:embed="rId4">
            <a:alphaModFix/>
          </a:blip>
          <a:srcRect b="53729" l="68164" r="-3" t="0"/>
          <a:stretch/>
        </p:blipFill>
        <p:spPr>
          <a:xfrm>
            <a:off x="3810831" y="1352559"/>
            <a:ext cx="1295288" cy="17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78"/>
          <p:cNvPicPr preferRelativeResize="0"/>
          <p:nvPr/>
        </p:nvPicPr>
        <p:blipFill rotWithShape="1">
          <a:blip r:embed="rId4">
            <a:alphaModFix/>
          </a:blip>
          <a:srcRect b="53729" l="0" r="74947" t="0"/>
          <a:stretch/>
        </p:blipFill>
        <p:spPr>
          <a:xfrm>
            <a:off x="512992" y="1352559"/>
            <a:ext cx="1019225" cy="172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78"/>
          <p:cNvSpPr txBox="1"/>
          <p:nvPr>
            <p:ph idx="4294967295" type="body"/>
          </p:nvPr>
        </p:nvSpPr>
        <p:spPr>
          <a:xfrm>
            <a:off x="1052046" y="3008906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endParaRPr sz="1800"/>
          </a:p>
        </p:txBody>
      </p:sp>
      <p:sp>
        <p:nvSpPr>
          <p:cNvPr id="1096" name="Google Shape;1096;p78"/>
          <p:cNvSpPr txBox="1"/>
          <p:nvPr>
            <p:ph idx="4294967295" type="body"/>
          </p:nvPr>
        </p:nvSpPr>
        <p:spPr>
          <a:xfrm>
            <a:off x="2527861" y="3012863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097" name="Google Shape;1097;p78"/>
          <p:cNvSpPr txBox="1"/>
          <p:nvPr>
            <p:ph idx="4294967295" type="body"/>
          </p:nvPr>
        </p:nvSpPr>
        <p:spPr>
          <a:xfrm>
            <a:off x="4328646" y="3003525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098" name="Google Shape;1098;p78"/>
          <p:cNvSpPr txBox="1"/>
          <p:nvPr>
            <p:ph idx="4294967295" type="body"/>
          </p:nvPr>
        </p:nvSpPr>
        <p:spPr>
          <a:xfrm>
            <a:off x="333958" y="2155917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099" name="Google Shape;1099;p78"/>
          <p:cNvSpPr txBox="1"/>
          <p:nvPr>
            <p:ph idx="4294967295" type="body"/>
          </p:nvPr>
        </p:nvSpPr>
        <p:spPr>
          <a:xfrm>
            <a:off x="7252244" y="3007478"/>
            <a:ext cx="3414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100" name="Google Shape;1100;p78"/>
          <p:cNvSpPr txBox="1"/>
          <p:nvPr>
            <p:ph idx="4294967295" type="body"/>
          </p:nvPr>
        </p:nvSpPr>
        <p:spPr>
          <a:xfrm>
            <a:off x="7180161" y="1128219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101" name="Google Shape;1101;p78"/>
          <p:cNvSpPr txBox="1"/>
          <p:nvPr>
            <p:ph idx="4294967295" type="body"/>
          </p:nvPr>
        </p:nvSpPr>
        <p:spPr>
          <a:xfrm>
            <a:off x="5986370" y="2161299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cxnSp>
        <p:nvCxnSpPr>
          <p:cNvPr id="1102" name="Google Shape;1102;p78"/>
          <p:cNvCxnSpPr/>
          <p:nvPr/>
        </p:nvCxnSpPr>
        <p:spPr>
          <a:xfrm>
            <a:off x="6760925" y="1454109"/>
            <a:ext cx="0" cy="150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78"/>
          <p:cNvCxnSpPr/>
          <p:nvPr/>
        </p:nvCxnSpPr>
        <p:spPr>
          <a:xfrm>
            <a:off x="7751525" y="1454109"/>
            <a:ext cx="0" cy="150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04" name="Google Shape;1104;p78"/>
          <p:cNvSpPr txBox="1"/>
          <p:nvPr>
            <p:ph idx="1" type="body"/>
          </p:nvPr>
        </p:nvSpPr>
        <p:spPr>
          <a:xfrm>
            <a:off x="324000" y="4059059"/>
            <a:ext cx="82377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shapes combine to make a trapezium.</a:t>
            </a:r>
            <a:endParaRPr sz="2000"/>
          </a:p>
        </p:txBody>
      </p:sp>
      <p:sp>
        <p:nvSpPr>
          <p:cNvPr id="1105" name="Google Shape;1105;p78"/>
          <p:cNvSpPr txBox="1"/>
          <p:nvPr>
            <p:ph idx="4294967295" type="body"/>
          </p:nvPr>
        </p:nvSpPr>
        <p:spPr>
          <a:xfrm>
            <a:off x="380050" y="347445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78"/>
          <p:cNvSpPr txBox="1"/>
          <p:nvPr>
            <p:ph idx="4294967295" type="body"/>
          </p:nvPr>
        </p:nvSpPr>
        <p:spPr>
          <a:xfrm>
            <a:off x="2056450" y="347445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78"/>
          <p:cNvSpPr txBox="1"/>
          <p:nvPr>
            <p:ph idx="4294967295" type="body"/>
          </p:nvPr>
        </p:nvSpPr>
        <p:spPr>
          <a:xfrm>
            <a:off x="4037650" y="347445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78"/>
          <p:cNvSpPr txBox="1"/>
          <p:nvPr>
            <p:ph idx="4294967295" type="body"/>
          </p:nvPr>
        </p:nvSpPr>
        <p:spPr>
          <a:xfrm>
            <a:off x="6857050" y="347445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9" name="Google Shape;1109;p78"/>
          <p:cNvSpPr txBox="1"/>
          <p:nvPr>
            <p:ph idx="4294967295" type="body"/>
          </p:nvPr>
        </p:nvSpPr>
        <p:spPr>
          <a:xfrm>
            <a:off x="5742450" y="3481578"/>
            <a:ext cx="2652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0" name="Google Shape;1110;p78"/>
          <p:cNvSpPr txBox="1"/>
          <p:nvPr>
            <p:ph idx="4294967295" type="body"/>
          </p:nvPr>
        </p:nvSpPr>
        <p:spPr>
          <a:xfrm>
            <a:off x="3456450" y="3481578"/>
            <a:ext cx="2652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78"/>
          <p:cNvSpPr txBox="1"/>
          <p:nvPr>
            <p:ph idx="4294967295" type="body"/>
          </p:nvPr>
        </p:nvSpPr>
        <p:spPr>
          <a:xfrm>
            <a:off x="1551450" y="3481578"/>
            <a:ext cx="2652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78"/>
          <p:cNvSpPr/>
          <p:nvPr/>
        </p:nvSpPr>
        <p:spPr>
          <a:xfrm>
            <a:off x="5332175" y="2015253"/>
            <a:ext cx="602400" cy="30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8"/>
          <p:cNvSpPr txBox="1"/>
          <p:nvPr>
            <p:ph idx="1" type="body"/>
          </p:nvPr>
        </p:nvSpPr>
        <p:spPr>
          <a:xfrm>
            <a:off x="324000" y="4510843"/>
            <a:ext cx="82377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total area of the</a:t>
            </a:r>
            <a:r>
              <a:rPr lang="en-GB" sz="2000"/>
              <a:t> trapezium.</a:t>
            </a:r>
            <a:endParaRPr sz="2000"/>
          </a:p>
        </p:txBody>
      </p:sp>
      <p:cxnSp>
        <p:nvCxnSpPr>
          <p:cNvPr id="1114" name="Google Shape;1114;p78"/>
          <p:cNvCxnSpPr/>
          <p:nvPr/>
        </p:nvCxnSpPr>
        <p:spPr>
          <a:xfrm flipH="1">
            <a:off x="859025" y="3027763"/>
            <a:ext cx="522900" cy="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5" name="Google Shape;1115;p78"/>
          <p:cNvCxnSpPr/>
          <p:nvPr/>
        </p:nvCxnSpPr>
        <p:spPr>
          <a:xfrm rot="10800000">
            <a:off x="2078375" y="3030475"/>
            <a:ext cx="103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6" name="Google Shape;1116;p78"/>
          <p:cNvCxnSpPr/>
          <p:nvPr/>
        </p:nvCxnSpPr>
        <p:spPr>
          <a:xfrm rot="10800000">
            <a:off x="3923319" y="3030475"/>
            <a:ext cx="103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17" name="Google Shape;1117;p78"/>
          <p:cNvCxnSpPr/>
          <p:nvPr/>
        </p:nvCxnSpPr>
        <p:spPr>
          <a:xfrm rot="10800000">
            <a:off x="489075" y="1409640"/>
            <a:ext cx="0" cy="152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118" name="Google Shape;1118;p78"/>
          <p:cNvGrpSpPr/>
          <p:nvPr/>
        </p:nvGrpSpPr>
        <p:grpSpPr>
          <a:xfrm>
            <a:off x="6236150" y="1371080"/>
            <a:ext cx="2497800" cy="1659395"/>
            <a:chOff x="6236150" y="2094980"/>
            <a:chExt cx="2497800" cy="1659395"/>
          </a:xfrm>
        </p:grpSpPr>
        <p:cxnSp>
          <p:nvCxnSpPr>
            <p:cNvPr id="1119" name="Google Shape;1119;p78"/>
            <p:cNvCxnSpPr/>
            <p:nvPr/>
          </p:nvCxnSpPr>
          <p:spPr>
            <a:xfrm rot="10800000">
              <a:off x="6236150" y="3754375"/>
              <a:ext cx="2497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20" name="Google Shape;1120;p78"/>
            <p:cNvCxnSpPr/>
            <p:nvPr/>
          </p:nvCxnSpPr>
          <p:spPr>
            <a:xfrm rot="10800000">
              <a:off x="6758918" y="2094980"/>
              <a:ext cx="1012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121" name="Google Shape;1121;p78"/>
          <p:cNvCxnSpPr/>
          <p:nvPr/>
        </p:nvCxnSpPr>
        <p:spPr>
          <a:xfrm rot="10800000">
            <a:off x="494575" y="1409739"/>
            <a:ext cx="343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78"/>
          <p:cNvCxnSpPr/>
          <p:nvPr/>
        </p:nvCxnSpPr>
        <p:spPr>
          <a:xfrm rot="10800000">
            <a:off x="482467" y="2941811"/>
            <a:ext cx="3436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79"/>
          <p:cNvPicPr preferRelativeResize="0"/>
          <p:nvPr/>
        </p:nvPicPr>
        <p:blipFill rotWithShape="1">
          <a:blip r:embed="rId3">
            <a:alphaModFix/>
          </a:blip>
          <a:srcRect b="1045" l="56729" r="2549" t="52681"/>
          <a:stretch/>
        </p:blipFill>
        <p:spPr>
          <a:xfrm>
            <a:off x="3115803" y="1385200"/>
            <a:ext cx="1656676" cy="17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9828" y="1461264"/>
            <a:ext cx="2544366" cy="1570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79"/>
          <p:cNvSpPr txBox="1"/>
          <p:nvPr>
            <p:ph idx="1" type="body"/>
          </p:nvPr>
        </p:nvSpPr>
        <p:spPr>
          <a:xfrm>
            <a:off x="324000" y="759300"/>
            <a:ext cx="82377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area of each shape.</a:t>
            </a:r>
            <a:endParaRPr sz="2000"/>
          </a:p>
        </p:txBody>
      </p:sp>
      <p:sp>
        <p:nvSpPr>
          <p:cNvPr id="1130" name="Google Shape;113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Areas of trapezia</a:t>
            </a:r>
            <a:endParaRPr/>
          </a:p>
        </p:txBody>
      </p:sp>
      <p:pic>
        <p:nvPicPr>
          <p:cNvPr id="1131" name="Google Shape;1131;p79"/>
          <p:cNvPicPr preferRelativeResize="0"/>
          <p:nvPr/>
        </p:nvPicPr>
        <p:blipFill rotWithShape="1">
          <a:blip r:embed="rId3">
            <a:alphaModFix/>
          </a:blip>
          <a:srcRect b="1045" l="5671" r="51912" t="52681"/>
          <a:stretch/>
        </p:blipFill>
        <p:spPr>
          <a:xfrm>
            <a:off x="657678" y="1385200"/>
            <a:ext cx="1725624" cy="172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79"/>
          <p:cNvSpPr txBox="1"/>
          <p:nvPr>
            <p:ph idx="4294967295" type="body"/>
          </p:nvPr>
        </p:nvSpPr>
        <p:spPr>
          <a:xfrm>
            <a:off x="1703668" y="1171819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133" name="Google Shape;1133;p79"/>
          <p:cNvSpPr txBox="1"/>
          <p:nvPr>
            <p:ph idx="4294967295" type="body"/>
          </p:nvPr>
        </p:nvSpPr>
        <p:spPr>
          <a:xfrm>
            <a:off x="3871446" y="3124444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134" name="Google Shape;1134;p79"/>
          <p:cNvSpPr txBox="1"/>
          <p:nvPr>
            <p:ph idx="4294967295" type="body"/>
          </p:nvPr>
        </p:nvSpPr>
        <p:spPr>
          <a:xfrm>
            <a:off x="7223669" y="3086153"/>
            <a:ext cx="3414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135" name="Google Shape;1135;p79"/>
          <p:cNvSpPr txBox="1"/>
          <p:nvPr>
            <p:ph idx="4294967295" type="body"/>
          </p:nvPr>
        </p:nvSpPr>
        <p:spPr>
          <a:xfrm>
            <a:off x="7180161" y="1174606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136" name="Google Shape;1136;p79"/>
          <p:cNvSpPr txBox="1"/>
          <p:nvPr>
            <p:ph idx="4294967295" type="body"/>
          </p:nvPr>
        </p:nvSpPr>
        <p:spPr>
          <a:xfrm>
            <a:off x="5938185" y="2128241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cxnSp>
        <p:nvCxnSpPr>
          <p:cNvPr id="1137" name="Google Shape;1137;p79"/>
          <p:cNvCxnSpPr/>
          <p:nvPr/>
        </p:nvCxnSpPr>
        <p:spPr>
          <a:xfrm flipH="1">
            <a:off x="7238793" y="1533290"/>
            <a:ext cx="489600" cy="150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38" name="Google Shape;1138;p79"/>
          <p:cNvSpPr txBox="1"/>
          <p:nvPr>
            <p:ph idx="1" type="body"/>
          </p:nvPr>
        </p:nvSpPr>
        <p:spPr>
          <a:xfrm>
            <a:off x="324000" y="4068584"/>
            <a:ext cx="82377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shapes combine to make a trapezium.</a:t>
            </a:r>
            <a:endParaRPr sz="2000"/>
          </a:p>
        </p:txBody>
      </p:sp>
      <p:sp>
        <p:nvSpPr>
          <p:cNvPr id="1139" name="Google Shape;1139;p79"/>
          <p:cNvSpPr txBox="1"/>
          <p:nvPr>
            <p:ph idx="4294967295" type="body"/>
          </p:nvPr>
        </p:nvSpPr>
        <p:spPr>
          <a:xfrm>
            <a:off x="761050" y="353160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0" name="Google Shape;1140;p79"/>
          <p:cNvSpPr txBox="1"/>
          <p:nvPr>
            <p:ph idx="4294967295" type="body"/>
          </p:nvPr>
        </p:nvSpPr>
        <p:spPr>
          <a:xfrm>
            <a:off x="3504250" y="353160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1" name="Google Shape;1141;p79"/>
          <p:cNvSpPr txBox="1"/>
          <p:nvPr>
            <p:ph idx="4294967295" type="body"/>
          </p:nvPr>
        </p:nvSpPr>
        <p:spPr>
          <a:xfrm>
            <a:off x="6857050" y="353160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2" name="Google Shape;1142;p79"/>
          <p:cNvSpPr txBox="1"/>
          <p:nvPr>
            <p:ph idx="4294967295" type="body"/>
          </p:nvPr>
        </p:nvSpPr>
        <p:spPr>
          <a:xfrm>
            <a:off x="5742450" y="3538728"/>
            <a:ext cx="2652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3" name="Google Shape;1143;p79"/>
          <p:cNvSpPr txBox="1"/>
          <p:nvPr>
            <p:ph idx="4294967295" type="body"/>
          </p:nvPr>
        </p:nvSpPr>
        <p:spPr>
          <a:xfrm>
            <a:off x="2618250" y="3538728"/>
            <a:ext cx="2652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4" name="Google Shape;1144;p79"/>
          <p:cNvSpPr/>
          <p:nvPr/>
        </p:nvSpPr>
        <p:spPr>
          <a:xfrm>
            <a:off x="5027375" y="2072403"/>
            <a:ext cx="602400" cy="30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9"/>
          <p:cNvSpPr txBox="1"/>
          <p:nvPr>
            <p:ph idx="1" type="body"/>
          </p:nvPr>
        </p:nvSpPr>
        <p:spPr>
          <a:xfrm>
            <a:off x="324000" y="4520368"/>
            <a:ext cx="82377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total area of the trapezium.</a:t>
            </a:r>
            <a:endParaRPr sz="2000"/>
          </a:p>
        </p:txBody>
      </p:sp>
      <p:sp>
        <p:nvSpPr>
          <p:cNvPr id="1146" name="Google Shape;1146;p79"/>
          <p:cNvSpPr txBox="1"/>
          <p:nvPr>
            <p:ph idx="4294967295" type="body"/>
          </p:nvPr>
        </p:nvSpPr>
        <p:spPr>
          <a:xfrm>
            <a:off x="476833" y="2251167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cxnSp>
        <p:nvCxnSpPr>
          <p:cNvPr id="1147" name="Google Shape;1147;p79"/>
          <p:cNvCxnSpPr/>
          <p:nvPr/>
        </p:nvCxnSpPr>
        <p:spPr>
          <a:xfrm rot="10800000">
            <a:off x="631950" y="1504890"/>
            <a:ext cx="0" cy="152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8" name="Google Shape;1148;p79"/>
          <p:cNvCxnSpPr/>
          <p:nvPr/>
        </p:nvCxnSpPr>
        <p:spPr>
          <a:xfrm rot="10800000">
            <a:off x="642825" y="1505000"/>
            <a:ext cx="3066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79"/>
          <p:cNvCxnSpPr/>
          <p:nvPr/>
        </p:nvCxnSpPr>
        <p:spPr>
          <a:xfrm rot="10800000">
            <a:off x="631885" y="3037050"/>
            <a:ext cx="2593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79"/>
          <p:cNvCxnSpPr/>
          <p:nvPr/>
        </p:nvCxnSpPr>
        <p:spPr>
          <a:xfrm rot="10800000">
            <a:off x="1287800" y="1430275"/>
            <a:ext cx="103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51" name="Google Shape;1151;p79"/>
          <p:cNvCxnSpPr/>
          <p:nvPr/>
        </p:nvCxnSpPr>
        <p:spPr>
          <a:xfrm rot="10800000">
            <a:off x="3170775" y="3106675"/>
            <a:ext cx="154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152" name="Google Shape;1152;p79"/>
          <p:cNvGrpSpPr/>
          <p:nvPr/>
        </p:nvGrpSpPr>
        <p:grpSpPr>
          <a:xfrm>
            <a:off x="6146011" y="1411225"/>
            <a:ext cx="2616989" cy="1695450"/>
            <a:chOff x="6146011" y="2077975"/>
            <a:chExt cx="2616989" cy="1695450"/>
          </a:xfrm>
        </p:grpSpPr>
        <p:cxnSp>
          <p:nvCxnSpPr>
            <p:cNvPr id="1153" name="Google Shape;1153;p79"/>
            <p:cNvCxnSpPr/>
            <p:nvPr/>
          </p:nvCxnSpPr>
          <p:spPr>
            <a:xfrm>
              <a:off x="6146011" y="2192343"/>
              <a:ext cx="0" cy="1467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54" name="Google Shape;1154;p79"/>
            <p:cNvCxnSpPr/>
            <p:nvPr/>
          </p:nvCxnSpPr>
          <p:spPr>
            <a:xfrm rot="10800000">
              <a:off x="6237900" y="3773425"/>
              <a:ext cx="2525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55" name="Google Shape;1155;p79"/>
            <p:cNvCxnSpPr/>
            <p:nvPr/>
          </p:nvCxnSpPr>
          <p:spPr>
            <a:xfrm rot="10800000">
              <a:off x="6761625" y="2077975"/>
              <a:ext cx="982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80"/>
          <p:cNvPicPr preferRelativeResize="0"/>
          <p:nvPr/>
        </p:nvPicPr>
        <p:blipFill rotWithShape="1">
          <a:blip r:embed="rId3">
            <a:alphaModFix/>
          </a:blip>
          <a:srcRect b="0" l="0" r="47859" t="0"/>
          <a:stretch/>
        </p:blipFill>
        <p:spPr>
          <a:xfrm>
            <a:off x="548629" y="1420650"/>
            <a:ext cx="2679225" cy="16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p80"/>
          <p:cNvPicPr preferRelativeResize="0"/>
          <p:nvPr/>
        </p:nvPicPr>
        <p:blipFill rotWithShape="1">
          <a:blip r:embed="rId3">
            <a:alphaModFix/>
          </a:blip>
          <a:srcRect b="0" l="58162" r="0" t="0"/>
          <a:stretch/>
        </p:blipFill>
        <p:spPr>
          <a:xfrm>
            <a:off x="3308681" y="1420650"/>
            <a:ext cx="2149849" cy="16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80"/>
          <p:cNvSpPr txBox="1"/>
          <p:nvPr>
            <p:ph idx="1" type="body"/>
          </p:nvPr>
        </p:nvSpPr>
        <p:spPr>
          <a:xfrm>
            <a:off x="324000" y="759300"/>
            <a:ext cx="82377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area of each shape.</a:t>
            </a:r>
            <a:endParaRPr sz="2000"/>
          </a:p>
        </p:txBody>
      </p:sp>
      <p:sp>
        <p:nvSpPr>
          <p:cNvPr id="1163" name="Google Shape;116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Areas of trapezia</a:t>
            </a:r>
            <a:endParaRPr/>
          </a:p>
        </p:txBody>
      </p:sp>
      <p:pic>
        <p:nvPicPr>
          <p:cNvPr id="1164" name="Google Shape;116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9828" y="1461264"/>
            <a:ext cx="2544366" cy="1570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80"/>
          <p:cNvSpPr txBox="1"/>
          <p:nvPr>
            <p:ph idx="4294967295" type="body"/>
          </p:nvPr>
        </p:nvSpPr>
        <p:spPr>
          <a:xfrm>
            <a:off x="1686265" y="3114675"/>
            <a:ext cx="3849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166" name="Google Shape;1166;p80"/>
          <p:cNvSpPr txBox="1"/>
          <p:nvPr>
            <p:ph idx="4294967295" type="body"/>
          </p:nvPr>
        </p:nvSpPr>
        <p:spPr>
          <a:xfrm>
            <a:off x="3814296" y="1190869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167" name="Google Shape;1167;p80"/>
          <p:cNvSpPr txBox="1"/>
          <p:nvPr>
            <p:ph idx="4294967295" type="body"/>
          </p:nvPr>
        </p:nvSpPr>
        <p:spPr>
          <a:xfrm>
            <a:off x="337455" y="2142249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168" name="Google Shape;1168;p80"/>
          <p:cNvSpPr txBox="1"/>
          <p:nvPr>
            <p:ph idx="4294967295" type="body"/>
          </p:nvPr>
        </p:nvSpPr>
        <p:spPr>
          <a:xfrm>
            <a:off x="7328444" y="3086153"/>
            <a:ext cx="3414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169" name="Google Shape;1169;p80"/>
          <p:cNvSpPr txBox="1"/>
          <p:nvPr>
            <p:ph idx="4294967295" type="body"/>
          </p:nvPr>
        </p:nvSpPr>
        <p:spPr>
          <a:xfrm>
            <a:off x="7180161" y="1168558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170" name="Google Shape;1170;p80"/>
          <p:cNvSpPr txBox="1"/>
          <p:nvPr>
            <p:ph idx="4294967295" type="body"/>
          </p:nvPr>
        </p:nvSpPr>
        <p:spPr>
          <a:xfrm>
            <a:off x="5986370" y="2066049"/>
            <a:ext cx="2160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cxnSp>
        <p:nvCxnSpPr>
          <p:cNvPr id="1171" name="Google Shape;1171;p80"/>
          <p:cNvCxnSpPr/>
          <p:nvPr/>
        </p:nvCxnSpPr>
        <p:spPr>
          <a:xfrm>
            <a:off x="6760925" y="1511259"/>
            <a:ext cx="1953600" cy="148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72" name="Google Shape;1172;p80"/>
          <p:cNvSpPr txBox="1"/>
          <p:nvPr>
            <p:ph idx="1" type="body"/>
          </p:nvPr>
        </p:nvSpPr>
        <p:spPr>
          <a:xfrm>
            <a:off x="324000" y="4068584"/>
            <a:ext cx="82377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shapes combine to make a trapezium.</a:t>
            </a:r>
            <a:endParaRPr sz="2000"/>
          </a:p>
        </p:txBody>
      </p:sp>
      <p:sp>
        <p:nvSpPr>
          <p:cNvPr id="1173" name="Google Shape;1173;p80"/>
          <p:cNvSpPr txBox="1"/>
          <p:nvPr>
            <p:ph idx="4294967295" type="body"/>
          </p:nvPr>
        </p:nvSpPr>
        <p:spPr>
          <a:xfrm>
            <a:off x="989650" y="353160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80"/>
          <p:cNvSpPr txBox="1"/>
          <p:nvPr>
            <p:ph idx="4294967295" type="body"/>
          </p:nvPr>
        </p:nvSpPr>
        <p:spPr>
          <a:xfrm>
            <a:off x="3961450" y="353160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80"/>
          <p:cNvSpPr txBox="1"/>
          <p:nvPr>
            <p:ph idx="4294967295" type="body"/>
          </p:nvPr>
        </p:nvSpPr>
        <p:spPr>
          <a:xfrm>
            <a:off x="6857050" y="353160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6" name="Google Shape;1176;p80"/>
          <p:cNvSpPr txBox="1"/>
          <p:nvPr>
            <p:ph idx="4294967295" type="body"/>
          </p:nvPr>
        </p:nvSpPr>
        <p:spPr>
          <a:xfrm>
            <a:off x="5742450" y="3538728"/>
            <a:ext cx="2652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7" name="Google Shape;1177;p80"/>
          <p:cNvSpPr txBox="1"/>
          <p:nvPr>
            <p:ph idx="4294967295" type="body"/>
          </p:nvPr>
        </p:nvSpPr>
        <p:spPr>
          <a:xfrm>
            <a:off x="2999250" y="3538728"/>
            <a:ext cx="2652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8" name="Google Shape;1178;p80"/>
          <p:cNvSpPr/>
          <p:nvPr/>
        </p:nvSpPr>
        <p:spPr>
          <a:xfrm>
            <a:off x="5332175" y="2072403"/>
            <a:ext cx="602400" cy="301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80"/>
          <p:cNvSpPr txBox="1"/>
          <p:nvPr>
            <p:ph idx="1" type="body"/>
          </p:nvPr>
        </p:nvSpPr>
        <p:spPr>
          <a:xfrm>
            <a:off x="324000" y="4520368"/>
            <a:ext cx="82377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Find the total area of the trapezium.</a:t>
            </a:r>
            <a:endParaRPr sz="2000"/>
          </a:p>
        </p:txBody>
      </p:sp>
      <p:cxnSp>
        <p:nvCxnSpPr>
          <p:cNvPr id="1180" name="Google Shape;1180;p80"/>
          <p:cNvCxnSpPr/>
          <p:nvPr/>
        </p:nvCxnSpPr>
        <p:spPr>
          <a:xfrm>
            <a:off x="488275" y="1558270"/>
            <a:ext cx="0" cy="144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1" name="Google Shape;1181;p80"/>
          <p:cNvCxnSpPr/>
          <p:nvPr/>
        </p:nvCxnSpPr>
        <p:spPr>
          <a:xfrm flipH="1">
            <a:off x="421150" y="1503600"/>
            <a:ext cx="3992100" cy="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80"/>
          <p:cNvCxnSpPr/>
          <p:nvPr/>
        </p:nvCxnSpPr>
        <p:spPr>
          <a:xfrm rot="10800000">
            <a:off x="402975" y="3037050"/>
            <a:ext cx="5017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80"/>
          <p:cNvCxnSpPr/>
          <p:nvPr/>
        </p:nvCxnSpPr>
        <p:spPr>
          <a:xfrm rot="10800000">
            <a:off x="3370869" y="1430275"/>
            <a:ext cx="103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84" name="Google Shape;1184;p80"/>
          <p:cNvCxnSpPr/>
          <p:nvPr/>
        </p:nvCxnSpPr>
        <p:spPr>
          <a:xfrm rot="10800000">
            <a:off x="651900" y="3113250"/>
            <a:ext cx="2472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185" name="Google Shape;1185;p80"/>
          <p:cNvGrpSpPr/>
          <p:nvPr/>
        </p:nvGrpSpPr>
        <p:grpSpPr>
          <a:xfrm>
            <a:off x="6146011" y="1411225"/>
            <a:ext cx="2616989" cy="1695450"/>
            <a:chOff x="6146011" y="2077975"/>
            <a:chExt cx="2616989" cy="1695450"/>
          </a:xfrm>
        </p:grpSpPr>
        <p:cxnSp>
          <p:nvCxnSpPr>
            <p:cNvPr id="1186" name="Google Shape;1186;p80"/>
            <p:cNvCxnSpPr/>
            <p:nvPr/>
          </p:nvCxnSpPr>
          <p:spPr>
            <a:xfrm>
              <a:off x="6146011" y="2192343"/>
              <a:ext cx="0" cy="1467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87" name="Google Shape;1187;p80"/>
            <p:cNvCxnSpPr/>
            <p:nvPr/>
          </p:nvCxnSpPr>
          <p:spPr>
            <a:xfrm rot="10800000">
              <a:off x="6237900" y="3773425"/>
              <a:ext cx="2525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88" name="Google Shape;1188;p80"/>
            <p:cNvCxnSpPr/>
            <p:nvPr/>
          </p:nvCxnSpPr>
          <p:spPr>
            <a:xfrm rot="10800000">
              <a:off x="6761625" y="2077975"/>
              <a:ext cx="982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1"/>
          <p:cNvSpPr/>
          <p:nvPr/>
        </p:nvSpPr>
        <p:spPr>
          <a:xfrm rot="10800000">
            <a:off x="5469218" y="2687957"/>
            <a:ext cx="432300" cy="656700"/>
          </a:xfrm>
          <a:prstGeom prst="triangle">
            <a:avLst>
              <a:gd fmla="val 53594" name="adj"/>
            </a:avLst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1"/>
          <p:cNvSpPr/>
          <p:nvPr/>
        </p:nvSpPr>
        <p:spPr>
          <a:xfrm>
            <a:off x="832248" y="2688035"/>
            <a:ext cx="1071300" cy="656700"/>
          </a:xfrm>
          <a:prstGeom prst="triangle">
            <a:avLst>
              <a:gd fmla="val 20226" name="adj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1"/>
          <p:cNvSpPr/>
          <p:nvPr/>
        </p:nvSpPr>
        <p:spPr>
          <a:xfrm>
            <a:off x="5685773" y="1502947"/>
            <a:ext cx="638700" cy="656700"/>
          </a:xfrm>
          <a:prstGeom prst="triangle">
            <a:avLst>
              <a:gd fmla="val 33741" name="adj"/>
            </a:avLst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1"/>
          <p:cNvSpPr/>
          <p:nvPr/>
        </p:nvSpPr>
        <p:spPr>
          <a:xfrm>
            <a:off x="1038582" y="1495138"/>
            <a:ext cx="417600" cy="656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1"/>
          <p:cNvSpPr txBox="1"/>
          <p:nvPr>
            <p:ph idx="1" type="body"/>
          </p:nvPr>
        </p:nvSpPr>
        <p:spPr>
          <a:xfrm>
            <a:off x="324000" y="759300"/>
            <a:ext cx="84960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Areas of trapezia can be calculated by splitting into other shapes.</a:t>
            </a:r>
            <a:endParaRPr sz="2000"/>
          </a:p>
        </p:txBody>
      </p:sp>
      <p:sp>
        <p:nvSpPr>
          <p:cNvPr id="1198" name="Google Shape;119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Areas of trapezia</a:t>
            </a:r>
            <a:endParaRPr/>
          </a:p>
        </p:txBody>
      </p:sp>
      <p:sp>
        <p:nvSpPr>
          <p:cNvPr id="1199" name="Google Shape;1199;p81"/>
          <p:cNvSpPr/>
          <p:nvPr/>
        </p:nvSpPr>
        <p:spPr>
          <a:xfrm>
            <a:off x="1956313" y="1734130"/>
            <a:ext cx="366300" cy="18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1"/>
          <p:cNvSpPr/>
          <p:nvPr/>
        </p:nvSpPr>
        <p:spPr>
          <a:xfrm>
            <a:off x="1456345" y="1496128"/>
            <a:ext cx="435300" cy="656700"/>
          </a:xfrm>
          <a:prstGeom prst="rtTriangle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1"/>
          <p:cNvSpPr/>
          <p:nvPr/>
        </p:nvSpPr>
        <p:spPr>
          <a:xfrm flipH="1">
            <a:off x="797990" y="1496128"/>
            <a:ext cx="234300" cy="656700"/>
          </a:xfrm>
          <a:prstGeom prst="rtTriangle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1"/>
          <p:cNvSpPr/>
          <p:nvPr/>
        </p:nvSpPr>
        <p:spPr>
          <a:xfrm>
            <a:off x="3483680" y="1496128"/>
            <a:ext cx="435300" cy="656700"/>
          </a:xfrm>
          <a:prstGeom prst="rtTriangle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1"/>
          <p:cNvSpPr/>
          <p:nvPr/>
        </p:nvSpPr>
        <p:spPr>
          <a:xfrm flipH="1">
            <a:off x="3242211" y="1496128"/>
            <a:ext cx="234300" cy="656700"/>
          </a:xfrm>
          <a:prstGeom prst="rtTriangle">
            <a:avLst/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1"/>
          <p:cNvSpPr/>
          <p:nvPr/>
        </p:nvSpPr>
        <p:spPr>
          <a:xfrm>
            <a:off x="2557778" y="1495138"/>
            <a:ext cx="417600" cy="656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1"/>
          <p:cNvSpPr/>
          <p:nvPr/>
        </p:nvSpPr>
        <p:spPr>
          <a:xfrm>
            <a:off x="5253338" y="1502932"/>
            <a:ext cx="649500" cy="656700"/>
          </a:xfrm>
          <a:prstGeom prst="parallelogram">
            <a:avLst>
              <a:gd fmla="val 33565" name="adj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1"/>
          <p:cNvSpPr/>
          <p:nvPr/>
        </p:nvSpPr>
        <p:spPr>
          <a:xfrm>
            <a:off x="6842710" y="1502932"/>
            <a:ext cx="649500" cy="656700"/>
          </a:xfrm>
          <a:prstGeom prst="parallelogram">
            <a:avLst>
              <a:gd fmla="val 33565" name="adj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1"/>
          <p:cNvSpPr/>
          <p:nvPr/>
        </p:nvSpPr>
        <p:spPr>
          <a:xfrm>
            <a:off x="7736963" y="1502947"/>
            <a:ext cx="638700" cy="656700"/>
          </a:xfrm>
          <a:prstGeom prst="triangle">
            <a:avLst>
              <a:gd fmla="val 33741" name="adj"/>
            </a:avLst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1"/>
          <p:cNvSpPr/>
          <p:nvPr/>
        </p:nvSpPr>
        <p:spPr>
          <a:xfrm>
            <a:off x="6377401" y="1678079"/>
            <a:ext cx="366300" cy="18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1"/>
          <p:cNvSpPr/>
          <p:nvPr/>
        </p:nvSpPr>
        <p:spPr>
          <a:xfrm rot="2277482">
            <a:off x="1019766" y="2784649"/>
            <a:ext cx="1071073" cy="261644"/>
          </a:xfrm>
          <a:prstGeom prst="triangle">
            <a:avLst>
              <a:gd fmla="val 31457" name="adj"/>
            </a:avLst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1"/>
          <p:cNvSpPr/>
          <p:nvPr/>
        </p:nvSpPr>
        <p:spPr>
          <a:xfrm>
            <a:off x="2491797" y="2688035"/>
            <a:ext cx="1071300" cy="656700"/>
          </a:xfrm>
          <a:prstGeom prst="triangle">
            <a:avLst>
              <a:gd fmla="val 20226" name="adj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1"/>
          <p:cNvSpPr/>
          <p:nvPr/>
        </p:nvSpPr>
        <p:spPr>
          <a:xfrm rot="2277482">
            <a:off x="3326415" y="2784649"/>
            <a:ext cx="1071073" cy="261644"/>
          </a:xfrm>
          <a:prstGeom prst="triangle">
            <a:avLst>
              <a:gd fmla="val 31457" name="adj"/>
            </a:avLst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81"/>
          <p:cNvSpPr/>
          <p:nvPr/>
        </p:nvSpPr>
        <p:spPr>
          <a:xfrm>
            <a:off x="1956313" y="2867361"/>
            <a:ext cx="366300" cy="18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1"/>
          <p:cNvSpPr/>
          <p:nvPr/>
        </p:nvSpPr>
        <p:spPr>
          <a:xfrm>
            <a:off x="5248641" y="2689960"/>
            <a:ext cx="417600" cy="656700"/>
          </a:xfrm>
          <a:prstGeom prst="triangle">
            <a:avLst>
              <a:gd fmla="val 51841" name="adj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1"/>
          <p:cNvSpPr/>
          <p:nvPr/>
        </p:nvSpPr>
        <p:spPr>
          <a:xfrm>
            <a:off x="5673077" y="2689960"/>
            <a:ext cx="665400" cy="656700"/>
          </a:xfrm>
          <a:prstGeom prst="triangle">
            <a:avLst>
              <a:gd fmla="val 34306" name="adj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1"/>
          <p:cNvSpPr/>
          <p:nvPr/>
        </p:nvSpPr>
        <p:spPr>
          <a:xfrm>
            <a:off x="6792513" y="2689960"/>
            <a:ext cx="417600" cy="656700"/>
          </a:xfrm>
          <a:prstGeom prst="triangle">
            <a:avLst>
              <a:gd fmla="val 51841" name="adj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1"/>
          <p:cNvSpPr/>
          <p:nvPr/>
        </p:nvSpPr>
        <p:spPr>
          <a:xfrm>
            <a:off x="7778357" y="2689960"/>
            <a:ext cx="665400" cy="656700"/>
          </a:xfrm>
          <a:prstGeom prst="triangle">
            <a:avLst>
              <a:gd fmla="val 34306" name="adj"/>
            </a:avLst>
          </a:prstGeom>
          <a:solidFill>
            <a:schemeClr val="accent5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1"/>
          <p:cNvSpPr/>
          <p:nvPr/>
        </p:nvSpPr>
        <p:spPr>
          <a:xfrm rot="10800000">
            <a:off x="7293794" y="2687957"/>
            <a:ext cx="432300" cy="656700"/>
          </a:xfrm>
          <a:prstGeom prst="triangle">
            <a:avLst>
              <a:gd fmla="val 53594" name="adj"/>
            </a:avLst>
          </a:prstGeom>
          <a:solidFill>
            <a:schemeClr val="l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1"/>
          <p:cNvSpPr/>
          <p:nvPr/>
        </p:nvSpPr>
        <p:spPr>
          <a:xfrm>
            <a:off x="6377401" y="2877092"/>
            <a:ext cx="366300" cy="18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1"/>
          <p:cNvSpPr txBox="1"/>
          <p:nvPr>
            <p:ph idx="1" type="body"/>
          </p:nvPr>
        </p:nvSpPr>
        <p:spPr>
          <a:xfrm>
            <a:off x="3079389" y="1697446"/>
            <a:ext cx="1899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</a:t>
            </a:r>
            <a:endParaRPr sz="1800"/>
          </a:p>
        </p:txBody>
      </p:sp>
      <p:sp>
        <p:nvSpPr>
          <p:cNvPr id="1220" name="Google Shape;1220;p81"/>
          <p:cNvSpPr txBox="1"/>
          <p:nvPr>
            <p:ph idx="1" type="body"/>
          </p:nvPr>
        </p:nvSpPr>
        <p:spPr>
          <a:xfrm>
            <a:off x="7551303" y="1697446"/>
            <a:ext cx="1899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</a:t>
            </a:r>
            <a:endParaRPr sz="1800"/>
          </a:p>
        </p:txBody>
      </p:sp>
      <p:sp>
        <p:nvSpPr>
          <p:cNvPr id="1221" name="Google Shape;1221;p81"/>
          <p:cNvSpPr txBox="1"/>
          <p:nvPr>
            <p:ph idx="1" type="body"/>
          </p:nvPr>
        </p:nvSpPr>
        <p:spPr>
          <a:xfrm>
            <a:off x="7193973" y="2890008"/>
            <a:ext cx="1899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</a:t>
            </a:r>
            <a:endParaRPr sz="1800"/>
          </a:p>
        </p:txBody>
      </p:sp>
      <p:sp>
        <p:nvSpPr>
          <p:cNvPr id="1222" name="Google Shape;1222;p81"/>
          <p:cNvSpPr txBox="1"/>
          <p:nvPr>
            <p:ph idx="1" type="body"/>
          </p:nvPr>
        </p:nvSpPr>
        <p:spPr>
          <a:xfrm>
            <a:off x="7678755" y="2890008"/>
            <a:ext cx="1899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</a:t>
            </a:r>
            <a:endParaRPr sz="1800"/>
          </a:p>
        </p:txBody>
      </p:sp>
      <p:sp>
        <p:nvSpPr>
          <p:cNvPr id="1223" name="Google Shape;1223;p81"/>
          <p:cNvSpPr txBox="1"/>
          <p:nvPr>
            <p:ph idx="1" type="body"/>
          </p:nvPr>
        </p:nvSpPr>
        <p:spPr>
          <a:xfrm>
            <a:off x="3372219" y="2883558"/>
            <a:ext cx="189900" cy="4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</a:t>
            </a:r>
            <a:endParaRPr sz="1800"/>
          </a:p>
        </p:txBody>
      </p:sp>
      <p:sp>
        <p:nvSpPr>
          <p:cNvPr id="1224" name="Google Shape;1224;p81"/>
          <p:cNvSpPr txBox="1"/>
          <p:nvPr>
            <p:ph idx="1" type="body"/>
          </p:nvPr>
        </p:nvSpPr>
        <p:spPr>
          <a:xfrm>
            <a:off x="324000" y="3939000"/>
            <a:ext cx="29409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is also a formula:</a:t>
            </a:r>
            <a:endParaRPr sz="2000"/>
          </a:p>
        </p:txBody>
      </p:sp>
      <p:grpSp>
        <p:nvGrpSpPr>
          <p:cNvPr id="1225" name="Google Shape;1225;p81"/>
          <p:cNvGrpSpPr/>
          <p:nvPr/>
        </p:nvGrpSpPr>
        <p:grpSpPr>
          <a:xfrm>
            <a:off x="6399908" y="3967734"/>
            <a:ext cx="1155900" cy="691242"/>
            <a:chOff x="3858850" y="3948492"/>
            <a:chExt cx="1155900" cy="691242"/>
          </a:xfrm>
        </p:grpSpPr>
        <p:cxnSp>
          <p:nvCxnSpPr>
            <p:cNvPr id="1226" name="Google Shape;1226;p81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7" name="Google Shape;1227;p81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8" name="Google Shape;1228;p81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9" name="Google Shape;1229;p81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30" name="Google Shape;1230;p81"/>
          <p:cNvSpPr txBox="1"/>
          <p:nvPr>
            <p:ph idx="1" type="body"/>
          </p:nvPr>
        </p:nvSpPr>
        <p:spPr>
          <a:xfrm>
            <a:off x="6849007" y="4573235"/>
            <a:ext cx="2544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1" name="Google Shape;1231;p81"/>
          <p:cNvSpPr txBox="1"/>
          <p:nvPr>
            <p:ph idx="1" type="body"/>
          </p:nvPr>
        </p:nvSpPr>
        <p:spPr>
          <a:xfrm>
            <a:off x="6792049" y="3697320"/>
            <a:ext cx="2544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2" name="Google Shape;1232;p81"/>
          <p:cNvSpPr txBox="1"/>
          <p:nvPr>
            <p:ph idx="1" type="body"/>
          </p:nvPr>
        </p:nvSpPr>
        <p:spPr>
          <a:xfrm>
            <a:off x="6091308" y="4158255"/>
            <a:ext cx="2544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33" name="Google Shape;1233;p81"/>
          <p:cNvCxnSpPr/>
          <p:nvPr/>
        </p:nvCxnSpPr>
        <p:spPr>
          <a:xfrm>
            <a:off x="6255683" y="3961250"/>
            <a:ext cx="0" cy="70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4" name="Google Shape;1234;p81"/>
          <p:cNvSpPr txBox="1"/>
          <p:nvPr>
            <p:ph idx="1" type="body"/>
          </p:nvPr>
        </p:nvSpPr>
        <p:spPr>
          <a:xfrm>
            <a:off x="324321" y="4486824"/>
            <a:ext cx="49668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Where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/>
              <a:t> are the parallel sides.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1235" name="Google Shape;1235;p81" title="A equals one half times open paren a plus b close paren time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650" y="3763950"/>
            <a:ext cx="1992750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82"/>
          <p:cNvSpPr txBox="1"/>
          <p:nvPr>
            <p:ph idx="1" type="subTitle"/>
          </p:nvPr>
        </p:nvSpPr>
        <p:spPr>
          <a:xfrm>
            <a:off x="337825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area of the trapezium by splitting it into smaller shapes.</a:t>
            </a:r>
            <a:endParaRPr/>
          </a:p>
        </p:txBody>
      </p:sp>
      <p:sp>
        <p:nvSpPr>
          <p:cNvPr id="1241" name="Google Shape;1241;p82"/>
          <p:cNvSpPr txBox="1"/>
          <p:nvPr>
            <p:ph idx="2" type="subTitle"/>
          </p:nvPr>
        </p:nvSpPr>
        <p:spPr>
          <a:xfrm>
            <a:off x="4824000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area of the trapezium by splitting it into smaller shapes.</a:t>
            </a:r>
            <a:endParaRPr/>
          </a:p>
        </p:txBody>
      </p:sp>
      <p:sp>
        <p:nvSpPr>
          <p:cNvPr id="1242" name="Google Shape;124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Areas of trapezia</a:t>
            </a:r>
            <a:endParaRPr/>
          </a:p>
        </p:txBody>
      </p:sp>
      <p:pic>
        <p:nvPicPr>
          <p:cNvPr id="1243" name="Google Shape;1243;p82"/>
          <p:cNvPicPr preferRelativeResize="0"/>
          <p:nvPr/>
        </p:nvPicPr>
        <p:blipFill rotWithShape="1">
          <a:blip r:embed="rId3">
            <a:alphaModFix/>
          </a:blip>
          <a:srcRect b="57493" l="0" r="52887" t="0"/>
          <a:stretch/>
        </p:blipFill>
        <p:spPr>
          <a:xfrm>
            <a:off x="630750" y="1691098"/>
            <a:ext cx="2195375" cy="111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82"/>
          <p:cNvSpPr txBox="1"/>
          <p:nvPr>
            <p:ph idx="4294967295" type="body"/>
          </p:nvPr>
        </p:nvSpPr>
        <p:spPr>
          <a:xfrm>
            <a:off x="1669542" y="2810113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245" name="Google Shape;1245;p82"/>
          <p:cNvSpPr txBox="1"/>
          <p:nvPr>
            <p:ph idx="4294967295" type="body"/>
          </p:nvPr>
        </p:nvSpPr>
        <p:spPr>
          <a:xfrm>
            <a:off x="437950" y="454260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6" name="Google Shape;1246;p82"/>
          <p:cNvSpPr txBox="1"/>
          <p:nvPr>
            <p:ph idx="4294967295" type="body"/>
          </p:nvPr>
        </p:nvSpPr>
        <p:spPr>
          <a:xfrm>
            <a:off x="1839473" y="1462780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247" name="Google Shape;1247;p82"/>
          <p:cNvSpPr txBox="1"/>
          <p:nvPr>
            <p:ph idx="4294967295" type="body"/>
          </p:nvPr>
        </p:nvSpPr>
        <p:spPr>
          <a:xfrm>
            <a:off x="2820502" y="2154587"/>
            <a:ext cx="1977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cxnSp>
        <p:nvCxnSpPr>
          <p:cNvPr id="1248" name="Google Shape;1248;p82"/>
          <p:cNvCxnSpPr/>
          <p:nvPr/>
        </p:nvCxnSpPr>
        <p:spPr>
          <a:xfrm>
            <a:off x="2360432" y="1761089"/>
            <a:ext cx="401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249" name="Google Shape;1249;p82"/>
          <p:cNvGrpSpPr/>
          <p:nvPr/>
        </p:nvGrpSpPr>
        <p:grpSpPr>
          <a:xfrm flipH="1">
            <a:off x="2610043" y="1760259"/>
            <a:ext cx="166106" cy="159440"/>
            <a:chOff x="3397534" y="3193326"/>
            <a:chExt cx="179400" cy="172200"/>
          </a:xfrm>
        </p:grpSpPr>
        <p:cxnSp>
          <p:nvCxnSpPr>
            <p:cNvPr id="1250" name="Google Shape;1250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1" name="Google Shape;1251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52" name="Google Shape;1252;p82"/>
          <p:cNvCxnSpPr/>
          <p:nvPr/>
        </p:nvCxnSpPr>
        <p:spPr>
          <a:xfrm>
            <a:off x="2765086" y="1771676"/>
            <a:ext cx="0" cy="9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253" name="Google Shape;1253;p82"/>
          <p:cNvGrpSpPr/>
          <p:nvPr/>
        </p:nvGrpSpPr>
        <p:grpSpPr>
          <a:xfrm>
            <a:off x="5054253" y="1701333"/>
            <a:ext cx="2245937" cy="952111"/>
            <a:chOff x="5054253" y="1701333"/>
            <a:chExt cx="2245937" cy="952111"/>
          </a:xfrm>
        </p:grpSpPr>
        <p:pic>
          <p:nvPicPr>
            <p:cNvPr id="1254" name="Google Shape;1254;p82"/>
            <p:cNvPicPr preferRelativeResize="0"/>
            <p:nvPr/>
          </p:nvPicPr>
          <p:blipFill rotWithShape="1">
            <a:blip r:embed="rId3">
              <a:alphaModFix/>
            </a:blip>
            <a:srcRect b="57493" l="51802" r="0" t="6272"/>
            <a:stretch/>
          </p:blipFill>
          <p:spPr>
            <a:xfrm>
              <a:off x="5054253" y="1701333"/>
              <a:ext cx="2245937" cy="95211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255" name="Google Shape;1255;p82"/>
            <p:cNvCxnSpPr/>
            <p:nvPr/>
          </p:nvCxnSpPr>
          <p:spPr>
            <a:xfrm>
              <a:off x="5977929" y="1796934"/>
              <a:ext cx="12150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grpSp>
          <p:nvGrpSpPr>
            <p:cNvPr id="1256" name="Google Shape;1256;p82"/>
            <p:cNvGrpSpPr/>
            <p:nvPr/>
          </p:nvGrpSpPr>
          <p:grpSpPr>
            <a:xfrm flipH="1">
              <a:off x="7040892" y="1796107"/>
              <a:ext cx="166106" cy="159440"/>
              <a:chOff x="3397534" y="3193326"/>
              <a:chExt cx="179400" cy="172200"/>
            </a:xfrm>
          </p:grpSpPr>
          <p:cxnSp>
            <p:nvCxnSpPr>
              <p:cNvPr id="1257" name="Google Shape;1257;p82"/>
              <p:cNvCxnSpPr/>
              <p:nvPr/>
            </p:nvCxnSpPr>
            <p:spPr>
              <a:xfrm>
                <a:off x="3397534" y="3363142"/>
                <a:ext cx="1794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58" name="Google Shape;1258;p82"/>
              <p:cNvCxnSpPr/>
              <p:nvPr/>
            </p:nvCxnSpPr>
            <p:spPr>
              <a:xfrm rot="10800000">
                <a:off x="3571988" y="3193326"/>
                <a:ext cx="0" cy="17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259" name="Google Shape;1259;p82"/>
            <p:cNvCxnSpPr/>
            <p:nvPr/>
          </p:nvCxnSpPr>
          <p:spPr>
            <a:xfrm>
              <a:off x="7195934" y="1807525"/>
              <a:ext cx="0" cy="7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260" name="Google Shape;1260;p82"/>
          <p:cNvSpPr/>
          <p:nvPr/>
        </p:nvSpPr>
        <p:spPr>
          <a:xfrm>
            <a:off x="2715912" y="3185253"/>
            <a:ext cx="401700" cy="984600"/>
          </a:xfrm>
          <a:prstGeom prst="rtTriangle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82"/>
          <p:cNvSpPr/>
          <p:nvPr/>
        </p:nvSpPr>
        <p:spPr>
          <a:xfrm flipH="1">
            <a:off x="1928562" y="3185997"/>
            <a:ext cx="785400" cy="984600"/>
          </a:xfrm>
          <a:prstGeom prst="rtTriangle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82"/>
          <p:cNvSpPr/>
          <p:nvPr/>
        </p:nvSpPr>
        <p:spPr>
          <a:xfrm>
            <a:off x="597516" y="3185235"/>
            <a:ext cx="793200" cy="984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2"/>
          <p:cNvSpPr/>
          <p:nvPr/>
        </p:nvSpPr>
        <p:spPr>
          <a:xfrm>
            <a:off x="2322617" y="1777005"/>
            <a:ext cx="383400" cy="9642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2"/>
          <p:cNvSpPr/>
          <p:nvPr/>
        </p:nvSpPr>
        <p:spPr>
          <a:xfrm flipH="1">
            <a:off x="763879" y="1777533"/>
            <a:ext cx="766200" cy="9642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5" name="Google Shape;1265;p82"/>
          <p:cNvCxnSpPr>
            <a:endCxn id="1264" idx="2"/>
          </p:cNvCxnSpPr>
          <p:nvPr/>
        </p:nvCxnSpPr>
        <p:spPr>
          <a:xfrm>
            <a:off x="1527679" y="1777533"/>
            <a:ext cx="2400" cy="9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82"/>
          <p:cNvCxnSpPr/>
          <p:nvPr/>
        </p:nvCxnSpPr>
        <p:spPr>
          <a:xfrm>
            <a:off x="2320961" y="1777533"/>
            <a:ext cx="2400" cy="96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67" name="Google Shape;1267;p82"/>
          <p:cNvSpPr txBox="1"/>
          <p:nvPr>
            <p:ph idx="4294967295" type="body"/>
          </p:nvPr>
        </p:nvSpPr>
        <p:spPr>
          <a:xfrm>
            <a:off x="920597" y="4224726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268" name="Google Shape;1268;p82"/>
          <p:cNvSpPr txBox="1"/>
          <p:nvPr>
            <p:ph idx="4294967295" type="body"/>
          </p:nvPr>
        </p:nvSpPr>
        <p:spPr>
          <a:xfrm>
            <a:off x="2508906" y="4241296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cxnSp>
        <p:nvCxnSpPr>
          <p:cNvPr id="1269" name="Google Shape;1269;p82"/>
          <p:cNvCxnSpPr/>
          <p:nvPr/>
        </p:nvCxnSpPr>
        <p:spPr>
          <a:xfrm flipH="1" rot="10800000">
            <a:off x="1928772" y="4254592"/>
            <a:ext cx="11886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0" name="Google Shape;1270;p82"/>
          <p:cNvSpPr txBox="1"/>
          <p:nvPr>
            <p:ph idx="4294967295" type="body"/>
          </p:nvPr>
        </p:nvSpPr>
        <p:spPr>
          <a:xfrm>
            <a:off x="3234038" y="3583277"/>
            <a:ext cx="1977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cxnSp>
        <p:nvCxnSpPr>
          <p:cNvPr id="1271" name="Google Shape;1271;p82"/>
          <p:cNvCxnSpPr/>
          <p:nvPr/>
        </p:nvCxnSpPr>
        <p:spPr>
          <a:xfrm>
            <a:off x="2752401" y="3189779"/>
            <a:ext cx="46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272" name="Google Shape;1272;p82"/>
          <p:cNvGrpSpPr/>
          <p:nvPr/>
        </p:nvGrpSpPr>
        <p:grpSpPr>
          <a:xfrm flipH="1">
            <a:off x="3023579" y="3188948"/>
            <a:ext cx="166106" cy="159440"/>
            <a:chOff x="3397534" y="3193326"/>
            <a:chExt cx="179400" cy="172200"/>
          </a:xfrm>
        </p:grpSpPr>
        <p:cxnSp>
          <p:nvCxnSpPr>
            <p:cNvPr id="1273" name="Google Shape;1273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4" name="Google Shape;1274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75" name="Google Shape;1275;p82"/>
          <p:cNvCxnSpPr/>
          <p:nvPr/>
        </p:nvCxnSpPr>
        <p:spPr>
          <a:xfrm>
            <a:off x="3178621" y="3200365"/>
            <a:ext cx="0" cy="9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76" name="Google Shape;1276;p82"/>
          <p:cNvSpPr txBox="1"/>
          <p:nvPr>
            <p:ph idx="4294967295" type="body"/>
          </p:nvPr>
        </p:nvSpPr>
        <p:spPr>
          <a:xfrm>
            <a:off x="1527131" y="3555704"/>
            <a:ext cx="1977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1277" name="Google Shape;1277;p82"/>
          <p:cNvSpPr txBox="1"/>
          <p:nvPr>
            <p:ph idx="4294967295" type="body"/>
          </p:nvPr>
        </p:nvSpPr>
        <p:spPr>
          <a:xfrm>
            <a:off x="2038150" y="454260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82"/>
          <p:cNvSpPr txBox="1"/>
          <p:nvPr>
            <p:ph idx="4294967295" type="body"/>
          </p:nvPr>
        </p:nvSpPr>
        <p:spPr>
          <a:xfrm>
            <a:off x="3485950" y="4542603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9" name="Google Shape;1279;p82"/>
          <p:cNvSpPr txBox="1"/>
          <p:nvPr>
            <p:ph idx="4294967295" type="body"/>
          </p:nvPr>
        </p:nvSpPr>
        <p:spPr>
          <a:xfrm>
            <a:off x="1657150" y="4542600"/>
            <a:ext cx="1977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0" name="Google Shape;1280;p82"/>
          <p:cNvSpPr txBox="1"/>
          <p:nvPr>
            <p:ph idx="4294967295" type="body"/>
          </p:nvPr>
        </p:nvSpPr>
        <p:spPr>
          <a:xfrm>
            <a:off x="3164141" y="4542600"/>
            <a:ext cx="1977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1" name="Google Shape;1281;p82"/>
          <p:cNvSpPr txBox="1"/>
          <p:nvPr>
            <p:ph idx="4294967295" type="body"/>
          </p:nvPr>
        </p:nvSpPr>
        <p:spPr>
          <a:xfrm>
            <a:off x="1192932" y="2264767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82" name="Google Shape;1282;p82"/>
          <p:cNvSpPr txBox="1"/>
          <p:nvPr>
            <p:ph idx="4294967295" type="body"/>
          </p:nvPr>
        </p:nvSpPr>
        <p:spPr>
          <a:xfrm>
            <a:off x="2369949" y="2264767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C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83" name="Google Shape;1283;p82"/>
          <p:cNvSpPr txBox="1"/>
          <p:nvPr>
            <p:ph idx="4294967295" type="body"/>
          </p:nvPr>
        </p:nvSpPr>
        <p:spPr>
          <a:xfrm>
            <a:off x="1819541" y="2256262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284" name="Google Shape;1284;p82"/>
          <p:cNvSpPr txBox="1"/>
          <p:nvPr>
            <p:ph idx="4294967295" type="body"/>
          </p:nvPr>
        </p:nvSpPr>
        <p:spPr>
          <a:xfrm>
            <a:off x="2388506" y="3702816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A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85" name="Google Shape;1285;p82"/>
          <p:cNvSpPr txBox="1"/>
          <p:nvPr>
            <p:ph idx="4294967295" type="body"/>
          </p:nvPr>
        </p:nvSpPr>
        <p:spPr>
          <a:xfrm>
            <a:off x="2752837" y="3702816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C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86" name="Google Shape;1286;p82"/>
          <p:cNvSpPr txBox="1"/>
          <p:nvPr>
            <p:ph idx="4294967295" type="body"/>
          </p:nvPr>
        </p:nvSpPr>
        <p:spPr>
          <a:xfrm>
            <a:off x="905141" y="3551662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287" name="Google Shape;1287;p82"/>
          <p:cNvSpPr/>
          <p:nvPr/>
        </p:nvSpPr>
        <p:spPr>
          <a:xfrm flipH="1">
            <a:off x="5149425" y="1805500"/>
            <a:ext cx="197700" cy="7833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82"/>
          <p:cNvSpPr/>
          <p:nvPr/>
        </p:nvSpPr>
        <p:spPr>
          <a:xfrm>
            <a:off x="5938725" y="1821350"/>
            <a:ext cx="1137000" cy="7638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2"/>
          <p:cNvSpPr/>
          <p:nvPr/>
        </p:nvSpPr>
        <p:spPr>
          <a:xfrm flipH="1">
            <a:off x="6186025" y="3046944"/>
            <a:ext cx="197700" cy="763800"/>
          </a:xfrm>
          <a:prstGeom prst="rtTriangle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2"/>
          <p:cNvSpPr/>
          <p:nvPr/>
        </p:nvSpPr>
        <p:spPr>
          <a:xfrm>
            <a:off x="6384986" y="3048675"/>
            <a:ext cx="1137000" cy="763800"/>
          </a:xfrm>
          <a:prstGeom prst="rtTriangle">
            <a:avLst/>
          </a:prstGeom>
          <a:solidFill>
            <a:schemeClr val="accent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2"/>
          <p:cNvSpPr/>
          <p:nvPr/>
        </p:nvSpPr>
        <p:spPr>
          <a:xfrm>
            <a:off x="4976725" y="3032900"/>
            <a:ext cx="584100" cy="78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2"/>
          <p:cNvSpPr txBox="1"/>
          <p:nvPr>
            <p:ph idx="4294967295" type="body"/>
          </p:nvPr>
        </p:nvSpPr>
        <p:spPr>
          <a:xfrm>
            <a:off x="7669880" y="3280037"/>
            <a:ext cx="1977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cxnSp>
        <p:nvCxnSpPr>
          <p:cNvPr id="1293" name="Google Shape;1293;p82"/>
          <p:cNvCxnSpPr/>
          <p:nvPr/>
        </p:nvCxnSpPr>
        <p:spPr>
          <a:xfrm>
            <a:off x="6409615" y="3042203"/>
            <a:ext cx="1215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294" name="Google Shape;1294;p82"/>
          <p:cNvGrpSpPr/>
          <p:nvPr/>
        </p:nvGrpSpPr>
        <p:grpSpPr>
          <a:xfrm flipH="1">
            <a:off x="7472579" y="3055699"/>
            <a:ext cx="166106" cy="159440"/>
            <a:chOff x="3397534" y="3193326"/>
            <a:chExt cx="179400" cy="172200"/>
          </a:xfrm>
        </p:grpSpPr>
        <p:cxnSp>
          <p:nvCxnSpPr>
            <p:cNvPr id="1295" name="Google Shape;1295;p82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6" name="Google Shape;1296;p82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97" name="Google Shape;1297;p82"/>
          <p:cNvCxnSpPr/>
          <p:nvPr/>
        </p:nvCxnSpPr>
        <p:spPr>
          <a:xfrm>
            <a:off x="7627621" y="3026725"/>
            <a:ext cx="0" cy="79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98" name="Google Shape;1298;p82"/>
          <p:cNvSpPr txBox="1"/>
          <p:nvPr>
            <p:ph idx="4294967295" type="body"/>
          </p:nvPr>
        </p:nvSpPr>
        <p:spPr>
          <a:xfrm>
            <a:off x="5208156" y="3876670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299" name="Google Shape;1299;p82"/>
          <p:cNvSpPr txBox="1"/>
          <p:nvPr>
            <p:ph idx="4294967295" type="body"/>
          </p:nvPr>
        </p:nvSpPr>
        <p:spPr>
          <a:xfrm>
            <a:off x="6732156" y="3876670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</a:t>
            </a:r>
            <a:endParaRPr sz="1600"/>
          </a:p>
        </p:txBody>
      </p:sp>
      <p:sp>
        <p:nvSpPr>
          <p:cNvPr id="1300" name="Google Shape;1300;p82"/>
          <p:cNvSpPr txBox="1"/>
          <p:nvPr>
            <p:ph idx="4294967295" type="body"/>
          </p:nvPr>
        </p:nvSpPr>
        <p:spPr>
          <a:xfrm>
            <a:off x="5660428" y="3316361"/>
            <a:ext cx="1977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301" name="Google Shape;1301;p82"/>
          <p:cNvSpPr txBox="1"/>
          <p:nvPr>
            <p:ph idx="4294967295" type="body"/>
          </p:nvPr>
        </p:nvSpPr>
        <p:spPr>
          <a:xfrm>
            <a:off x="4781350" y="4125795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2" name="Google Shape;1302;p82"/>
          <p:cNvSpPr txBox="1"/>
          <p:nvPr>
            <p:ph idx="4294967295" type="body"/>
          </p:nvPr>
        </p:nvSpPr>
        <p:spPr>
          <a:xfrm>
            <a:off x="6381550" y="4125795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3" name="Google Shape;1303;p82"/>
          <p:cNvSpPr txBox="1"/>
          <p:nvPr>
            <p:ph idx="4294967295" type="body"/>
          </p:nvPr>
        </p:nvSpPr>
        <p:spPr>
          <a:xfrm>
            <a:off x="7829350" y="4125795"/>
            <a:ext cx="10761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4" name="Google Shape;1304;p82"/>
          <p:cNvSpPr txBox="1"/>
          <p:nvPr>
            <p:ph idx="4294967295" type="body"/>
          </p:nvPr>
        </p:nvSpPr>
        <p:spPr>
          <a:xfrm>
            <a:off x="6000550" y="4125792"/>
            <a:ext cx="1977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5" name="Google Shape;1305;p82"/>
          <p:cNvSpPr txBox="1"/>
          <p:nvPr>
            <p:ph idx="4294967295" type="body"/>
          </p:nvPr>
        </p:nvSpPr>
        <p:spPr>
          <a:xfrm>
            <a:off x="7507541" y="4125792"/>
            <a:ext cx="1977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6" name="Google Shape;1306;p82"/>
          <p:cNvSpPr/>
          <p:nvPr/>
        </p:nvSpPr>
        <p:spPr>
          <a:xfrm>
            <a:off x="5143200" y="1815400"/>
            <a:ext cx="786300" cy="773400"/>
          </a:xfrm>
          <a:prstGeom prst="parallelogram">
            <a:avLst>
              <a:gd fmla="val 25821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7" name="Google Shape;1307;p82"/>
          <p:cNvCxnSpPr/>
          <p:nvPr/>
        </p:nvCxnSpPr>
        <p:spPr>
          <a:xfrm flipH="1">
            <a:off x="5714247" y="1842085"/>
            <a:ext cx="211200" cy="783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08" name="Google Shape;1308;p82"/>
          <p:cNvSpPr/>
          <p:nvPr/>
        </p:nvSpPr>
        <p:spPr>
          <a:xfrm>
            <a:off x="5150775" y="1839172"/>
            <a:ext cx="1925100" cy="747900"/>
          </a:xfrm>
          <a:prstGeom prst="triangle">
            <a:avLst>
              <a:gd fmla="val 4202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9" name="Google Shape;1309;p82"/>
          <p:cNvCxnSpPr/>
          <p:nvPr/>
        </p:nvCxnSpPr>
        <p:spPr>
          <a:xfrm flipH="1">
            <a:off x="5156025" y="1842100"/>
            <a:ext cx="786300" cy="74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82"/>
          <p:cNvGrpSpPr/>
          <p:nvPr/>
        </p:nvGrpSpPr>
        <p:grpSpPr>
          <a:xfrm>
            <a:off x="5356693" y="1832532"/>
            <a:ext cx="584030" cy="747993"/>
            <a:chOff x="5890093" y="1984932"/>
            <a:chExt cx="584030" cy="747993"/>
          </a:xfrm>
        </p:grpSpPr>
        <p:cxnSp>
          <p:nvCxnSpPr>
            <p:cNvPr id="1311" name="Google Shape;1311;p82"/>
            <p:cNvCxnSpPr/>
            <p:nvPr/>
          </p:nvCxnSpPr>
          <p:spPr>
            <a:xfrm>
              <a:off x="5890093" y="1991324"/>
              <a:ext cx="0" cy="741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312" name="Google Shape;1312;p82"/>
            <p:cNvCxnSpPr/>
            <p:nvPr/>
          </p:nvCxnSpPr>
          <p:spPr>
            <a:xfrm>
              <a:off x="6474122" y="1984932"/>
              <a:ext cx="0" cy="741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313" name="Google Shape;1313;p82"/>
          <p:cNvSpPr txBox="1"/>
          <p:nvPr>
            <p:ph idx="4294967295" type="body"/>
          </p:nvPr>
        </p:nvSpPr>
        <p:spPr>
          <a:xfrm>
            <a:off x="5926273" y="2652934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314" name="Google Shape;1314;p82"/>
          <p:cNvSpPr txBox="1"/>
          <p:nvPr>
            <p:ph idx="4294967295" type="body"/>
          </p:nvPr>
        </p:nvSpPr>
        <p:spPr>
          <a:xfrm>
            <a:off x="5564930" y="1498522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315" name="Google Shape;1315;p82"/>
          <p:cNvSpPr txBox="1"/>
          <p:nvPr>
            <p:ph idx="4294967295" type="body"/>
          </p:nvPr>
        </p:nvSpPr>
        <p:spPr>
          <a:xfrm>
            <a:off x="7238194" y="2060837"/>
            <a:ext cx="1977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cxnSp>
        <p:nvCxnSpPr>
          <p:cNvPr id="1316" name="Google Shape;1316;p82"/>
          <p:cNvCxnSpPr/>
          <p:nvPr/>
        </p:nvCxnSpPr>
        <p:spPr>
          <a:xfrm flipH="1" rot="10800000">
            <a:off x="1530079" y="1680553"/>
            <a:ext cx="792600" cy="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7" name="Google Shape;1317;p82"/>
          <p:cNvCxnSpPr/>
          <p:nvPr/>
        </p:nvCxnSpPr>
        <p:spPr>
          <a:xfrm>
            <a:off x="743850" y="2821450"/>
            <a:ext cx="1962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318" name="Google Shape;1318;p82"/>
          <p:cNvGrpSpPr/>
          <p:nvPr/>
        </p:nvGrpSpPr>
        <p:grpSpPr>
          <a:xfrm>
            <a:off x="597525" y="3191038"/>
            <a:ext cx="902549" cy="1064425"/>
            <a:chOff x="597525" y="3191038"/>
            <a:chExt cx="902549" cy="1064425"/>
          </a:xfrm>
        </p:grpSpPr>
        <p:cxnSp>
          <p:nvCxnSpPr>
            <p:cNvPr id="1319" name="Google Shape;1319;p82"/>
            <p:cNvCxnSpPr/>
            <p:nvPr/>
          </p:nvCxnSpPr>
          <p:spPr>
            <a:xfrm>
              <a:off x="597525" y="4255463"/>
              <a:ext cx="801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20" name="Google Shape;1320;p82"/>
            <p:cNvCxnSpPr/>
            <p:nvPr/>
          </p:nvCxnSpPr>
          <p:spPr>
            <a:xfrm rot="10800000">
              <a:off x="1500074" y="3191038"/>
              <a:ext cx="0" cy="969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21" name="Google Shape;1321;p82"/>
          <p:cNvGrpSpPr/>
          <p:nvPr/>
        </p:nvGrpSpPr>
        <p:grpSpPr>
          <a:xfrm>
            <a:off x="5131950" y="1730051"/>
            <a:ext cx="1980000" cy="947050"/>
            <a:chOff x="5131950" y="1730051"/>
            <a:chExt cx="1980000" cy="947050"/>
          </a:xfrm>
        </p:grpSpPr>
        <p:cxnSp>
          <p:nvCxnSpPr>
            <p:cNvPr id="1322" name="Google Shape;1322;p82"/>
            <p:cNvCxnSpPr/>
            <p:nvPr/>
          </p:nvCxnSpPr>
          <p:spPr>
            <a:xfrm flipH="1" rot="10800000">
              <a:off x="5337400" y="1730051"/>
              <a:ext cx="593400" cy="1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23" name="Google Shape;1323;p82"/>
            <p:cNvCxnSpPr/>
            <p:nvPr/>
          </p:nvCxnSpPr>
          <p:spPr>
            <a:xfrm>
              <a:off x="5131950" y="2677101"/>
              <a:ext cx="198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324" name="Google Shape;1324;p82"/>
          <p:cNvGrpSpPr/>
          <p:nvPr/>
        </p:nvGrpSpPr>
        <p:grpSpPr>
          <a:xfrm>
            <a:off x="4966525" y="3048751"/>
            <a:ext cx="677672" cy="842000"/>
            <a:chOff x="4966525" y="3048751"/>
            <a:chExt cx="677672" cy="842000"/>
          </a:xfrm>
        </p:grpSpPr>
        <p:cxnSp>
          <p:nvCxnSpPr>
            <p:cNvPr id="1325" name="Google Shape;1325;p82"/>
            <p:cNvCxnSpPr/>
            <p:nvPr/>
          </p:nvCxnSpPr>
          <p:spPr>
            <a:xfrm flipH="1" rot="10800000">
              <a:off x="4966525" y="3888951"/>
              <a:ext cx="593400" cy="1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26" name="Google Shape;1326;p82"/>
            <p:cNvCxnSpPr/>
            <p:nvPr/>
          </p:nvCxnSpPr>
          <p:spPr>
            <a:xfrm>
              <a:off x="5644197" y="3048751"/>
              <a:ext cx="0" cy="765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327" name="Google Shape;1327;p82"/>
          <p:cNvCxnSpPr/>
          <p:nvPr/>
        </p:nvCxnSpPr>
        <p:spPr>
          <a:xfrm>
            <a:off x="6178137" y="3890751"/>
            <a:ext cx="133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83"/>
          <p:cNvSpPr txBox="1"/>
          <p:nvPr>
            <p:ph idx="1" type="subTitle"/>
          </p:nvPr>
        </p:nvSpPr>
        <p:spPr>
          <a:xfrm>
            <a:off x="337825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area of the trapezium by using the formula.</a:t>
            </a:r>
            <a:endParaRPr/>
          </a:p>
        </p:txBody>
      </p:sp>
      <p:sp>
        <p:nvSpPr>
          <p:cNvPr id="1333" name="Google Shape;1333;p83"/>
          <p:cNvSpPr txBox="1"/>
          <p:nvPr>
            <p:ph idx="2" type="subTitle"/>
          </p:nvPr>
        </p:nvSpPr>
        <p:spPr>
          <a:xfrm>
            <a:off x="4824000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area of the trapezium by </a:t>
            </a:r>
            <a:r>
              <a:rPr lang="en-GB"/>
              <a:t>using the formula.</a:t>
            </a:r>
            <a:endParaRPr/>
          </a:p>
        </p:txBody>
      </p:sp>
      <p:sp>
        <p:nvSpPr>
          <p:cNvPr id="1334" name="Google Shape;133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Areas of trapezia</a:t>
            </a:r>
            <a:endParaRPr/>
          </a:p>
        </p:txBody>
      </p:sp>
      <p:pic>
        <p:nvPicPr>
          <p:cNvPr id="1335" name="Google Shape;1335;p83"/>
          <p:cNvPicPr preferRelativeResize="0"/>
          <p:nvPr/>
        </p:nvPicPr>
        <p:blipFill rotWithShape="1">
          <a:blip r:embed="rId3">
            <a:alphaModFix/>
          </a:blip>
          <a:srcRect b="0" l="20559" r="57562" t="51390"/>
          <a:stretch/>
        </p:blipFill>
        <p:spPr>
          <a:xfrm>
            <a:off x="1122038" y="1391388"/>
            <a:ext cx="1536897" cy="192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83"/>
          <p:cNvPicPr preferRelativeResize="0"/>
          <p:nvPr/>
        </p:nvPicPr>
        <p:blipFill rotWithShape="1">
          <a:blip r:embed="rId3">
            <a:alphaModFix/>
          </a:blip>
          <a:srcRect b="3168" l="55476" r="22645" t="53539"/>
          <a:stretch/>
        </p:blipFill>
        <p:spPr>
          <a:xfrm>
            <a:off x="5962266" y="1511697"/>
            <a:ext cx="1536897" cy="17148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1337" name="Google Shape;1337;p83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729" y="3535350"/>
            <a:ext cx="1778750" cy="547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1338" name="Google Shape;1338;p83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1129" y="3535350"/>
            <a:ext cx="1778750" cy="547617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83"/>
          <p:cNvSpPr txBox="1"/>
          <p:nvPr>
            <p:ph idx="4294967295" type="body"/>
          </p:nvPr>
        </p:nvSpPr>
        <p:spPr>
          <a:xfrm>
            <a:off x="7468604" y="2347475"/>
            <a:ext cx="3522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340" name="Google Shape;1340;p83"/>
          <p:cNvSpPr txBox="1"/>
          <p:nvPr>
            <p:ph idx="4294967295" type="body"/>
          </p:nvPr>
        </p:nvSpPr>
        <p:spPr>
          <a:xfrm>
            <a:off x="5830402" y="2240312"/>
            <a:ext cx="1977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</a:t>
            </a:r>
            <a:endParaRPr sz="1800"/>
          </a:p>
        </p:txBody>
      </p:sp>
      <p:cxnSp>
        <p:nvCxnSpPr>
          <p:cNvPr id="1341" name="Google Shape;1341;p83"/>
          <p:cNvCxnSpPr/>
          <p:nvPr/>
        </p:nvCxnSpPr>
        <p:spPr>
          <a:xfrm>
            <a:off x="7322625" y="2829550"/>
            <a:ext cx="0" cy="337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342" name="Google Shape;1342;p83"/>
          <p:cNvGrpSpPr/>
          <p:nvPr/>
        </p:nvGrpSpPr>
        <p:grpSpPr>
          <a:xfrm flipH="1" rot="5400000">
            <a:off x="7148149" y="3004266"/>
            <a:ext cx="166106" cy="159440"/>
            <a:chOff x="3397534" y="3193326"/>
            <a:chExt cx="179400" cy="172200"/>
          </a:xfrm>
        </p:grpSpPr>
        <p:cxnSp>
          <p:nvCxnSpPr>
            <p:cNvPr id="1343" name="Google Shape;1343;p83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4" name="Google Shape;1344;p83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345" name="Google Shape;1345;p83"/>
          <p:cNvCxnSpPr/>
          <p:nvPr/>
        </p:nvCxnSpPr>
        <p:spPr>
          <a:xfrm rot="10800000">
            <a:off x="6151275" y="3163800"/>
            <a:ext cx="115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46" name="Google Shape;1346;p83"/>
          <p:cNvSpPr txBox="1"/>
          <p:nvPr>
            <p:ph idx="4294967295" type="body"/>
          </p:nvPr>
        </p:nvSpPr>
        <p:spPr>
          <a:xfrm>
            <a:off x="1077474" y="2469524"/>
            <a:ext cx="249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347" name="Google Shape;1347;p83"/>
          <p:cNvSpPr txBox="1"/>
          <p:nvPr>
            <p:ph idx="4294967295" type="body"/>
          </p:nvPr>
        </p:nvSpPr>
        <p:spPr>
          <a:xfrm>
            <a:off x="2665566" y="2272728"/>
            <a:ext cx="249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348" name="Google Shape;1348;p83"/>
          <p:cNvSpPr txBox="1"/>
          <p:nvPr>
            <p:ph idx="4294967295" type="body"/>
          </p:nvPr>
        </p:nvSpPr>
        <p:spPr>
          <a:xfrm>
            <a:off x="1839474" y="3130339"/>
            <a:ext cx="249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grpSp>
        <p:nvGrpSpPr>
          <p:cNvPr id="1349" name="Google Shape;1349;p83"/>
          <p:cNvGrpSpPr/>
          <p:nvPr/>
        </p:nvGrpSpPr>
        <p:grpSpPr>
          <a:xfrm flipH="1" rot="5400000">
            <a:off x="2348321" y="2884113"/>
            <a:ext cx="166106" cy="159440"/>
            <a:chOff x="3397534" y="3193326"/>
            <a:chExt cx="179400" cy="172200"/>
          </a:xfrm>
        </p:grpSpPr>
        <p:cxnSp>
          <p:nvCxnSpPr>
            <p:cNvPr id="1350" name="Google Shape;1350;p83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1" name="Google Shape;1351;p83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52" name="Google Shape;1352;p83"/>
          <p:cNvGrpSpPr/>
          <p:nvPr/>
        </p:nvGrpSpPr>
        <p:grpSpPr>
          <a:xfrm rot="-5400000">
            <a:off x="1352935" y="2884113"/>
            <a:ext cx="166106" cy="159440"/>
            <a:chOff x="3397534" y="3193326"/>
            <a:chExt cx="179400" cy="172200"/>
          </a:xfrm>
        </p:grpSpPr>
        <p:cxnSp>
          <p:nvCxnSpPr>
            <p:cNvPr id="1353" name="Google Shape;1353;p83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4" name="Google Shape;1354;p83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5" name="Google Shape;1355;p83"/>
          <p:cNvSpPr txBox="1"/>
          <p:nvPr>
            <p:ph idx="4294967295" type="body"/>
          </p:nvPr>
        </p:nvSpPr>
        <p:spPr>
          <a:xfrm>
            <a:off x="6684823" y="3130339"/>
            <a:ext cx="2493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A\ =\ \frac{1}{2}\left(3+5\right)\times4\ =16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n&gt;3&lt;/mn&gt;&lt;mo&gt;+&lt;/mo&gt;&lt;mn&gt;5&lt;/mn&gt;&lt;mo data-mjx-texclass=&quot;CLOSE&quot;&gt;)&lt;/mo&gt;&lt;/mrow&gt;&lt;mo&gt;×&lt;/mo&gt;&lt;mn&gt;4&lt;/mn&gt;&lt;mtext&gt;&lt;/mtext&gt;&lt;mo&gt;=&lt;/mo&gt;&lt;mn&gt;16&lt;/mn&gt;&lt;/math&gt;" id="1356" name="Google Shape;1356;p83" title="A equals one half times open paren 3 plus 5 close paren times 4 equals 16"/>
          <p:cNvPicPr preferRelativeResize="0"/>
          <p:nvPr/>
        </p:nvPicPr>
        <p:blipFill rotWithShape="1">
          <a:blip r:embed="rId5">
            <a:alphaModFix/>
          </a:blip>
          <a:srcRect b="0" l="11007" r="21167" t="0"/>
          <a:stretch/>
        </p:blipFill>
        <p:spPr>
          <a:xfrm>
            <a:off x="888575" y="4249325"/>
            <a:ext cx="1821900" cy="54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\ =\ \frac{1}{2}\left(7+4\right)\times6\ =33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n&gt;7&lt;/mn&gt;&lt;mo&gt;+&lt;/mo&gt;&lt;mn&gt;4&lt;/mn&gt;&lt;mo data-mjx-texclass=&quot;CLOSE&quot;&gt;)&lt;/mo&gt;&lt;/mrow&gt;&lt;mo&gt;×&lt;/mo&gt;&lt;mn&gt;6&lt;/mn&gt;&lt;mtext&gt;&lt;/mtext&gt;&lt;mo&gt;=&lt;/mo&gt;&lt;mn&gt;33&lt;/mn&gt;&lt;/math&gt;" id="1357" name="Google Shape;1357;p83" title="A equals one half times open paren 7 plus 4 close paren times 6 equals 33"/>
          <p:cNvPicPr preferRelativeResize="0"/>
          <p:nvPr/>
        </p:nvPicPr>
        <p:blipFill rotWithShape="1">
          <a:blip r:embed="rId6">
            <a:alphaModFix/>
          </a:blip>
          <a:srcRect b="0" l="10734" r="21238" t="0"/>
          <a:stretch/>
        </p:blipFill>
        <p:spPr>
          <a:xfrm>
            <a:off x="5245000" y="4249325"/>
            <a:ext cx="1821899" cy="54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\ =\ \frac{1}{2}\left(3+5\right)\times4\ =16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n&gt;3&lt;/mn&gt;&lt;mo&gt;+&lt;/mo&gt;&lt;mn&gt;5&lt;/mn&gt;&lt;mo data-mjx-texclass=&quot;CLOSE&quot;&gt;)&lt;/mo&gt;&lt;/mrow&gt;&lt;mo&gt;×&lt;/mo&gt;&lt;mn&gt;4&lt;/mn&gt;&lt;mtext&gt;&lt;/mtext&gt;&lt;mo&gt;=&lt;/mo&gt;&lt;mn&gt;16&lt;/mn&gt;&lt;/math&gt;" id="1358" name="Google Shape;1358;p83" title="A equals one half times open paren 3 plus 5 close paren times 4 equals 16"/>
          <p:cNvPicPr preferRelativeResize="0"/>
          <p:nvPr/>
        </p:nvPicPr>
        <p:blipFill rotWithShape="1">
          <a:blip r:embed="rId5">
            <a:alphaModFix/>
          </a:blip>
          <a:srcRect b="0" l="78830" r="0" t="0"/>
          <a:stretch/>
        </p:blipFill>
        <p:spPr>
          <a:xfrm>
            <a:off x="2710475" y="4249325"/>
            <a:ext cx="568675" cy="54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\ =\ \frac{1}{2}\left(7+4\right)\times6\ =33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n&gt;7&lt;/mn&gt;&lt;mo&gt;+&lt;/mo&gt;&lt;mn&gt;4&lt;/mn&gt;&lt;mo data-mjx-texclass=&quot;CLOSE&quot;&gt;)&lt;/mo&gt;&lt;/mrow&gt;&lt;mo&gt;×&lt;/mo&gt;&lt;mn&gt;6&lt;/mn&gt;&lt;mtext&gt;&lt;/mtext&gt;&lt;mo&gt;=&lt;/mo&gt;&lt;mn&gt;33&lt;/mn&gt;&lt;/math&gt;" id="1359" name="Google Shape;1359;p83" title="A equals one half times open paren 7 plus 4 close paren times 6 equals 33"/>
          <p:cNvPicPr preferRelativeResize="0"/>
          <p:nvPr/>
        </p:nvPicPr>
        <p:blipFill rotWithShape="1">
          <a:blip r:embed="rId6">
            <a:alphaModFix/>
          </a:blip>
          <a:srcRect b="0" l="78766" r="0" t="0"/>
          <a:stretch/>
        </p:blipFill>
        <p:spPr>
          <a:xfrm>
            <a:off x="7066900" y="4249325"/>
            <a:ext cx="568674" cy="5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83"/>
          <p:cNvSpPr txBox="1"/>
          <p:nvPr>
            <p:ph idx="4294967295" type="body"/>
          </p:nvPr>
        </p:nvSpPr>
        <p:spPr>
          <a:xfrm>
            <a:off x="3409750" y="4381696"/>
            <a:ext cx="6984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1" name="Google Shape;1361;p83"/>
          <p:cNvSpPr txBox="1"/>
          <p:nvPr>
            <p:ph idx="4294967295" type="body"/>
          </p:nvPr>
        </p:nvSpPr>
        <p:spPr>
          <a:xfrm>
            <a:off x="7753150" y="4381696"/>
            <a:ext cx="698400" cy="30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62" name="Google Shape;1362;p83"/>
          <p:cNvCxnSpPr/>
          <p:nvPr/>
        </p:nvCxnSpPr>
        <p:spPr>
          <a:xfrm rot="10800000">
            <a:off x="1350675" y="3163800"/>
            <a:ext cx="115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3" name="Google Shape;1363;p83"/>
          <p:cNvCxnSpPr/>
          <p:nvPr/>
        </p:nvCxnSpPr>
        <p:spPr>
          <a:xfrm>
            <a:off x="2632655" y="1561950"/>
            <a:ext cx="0" cy="1495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4" name="Google Shape;1364;p83"/>
          <p:cNvCxnSpPr/>
          <p:nvPr/>
        </p:nvCxnSpPr>
        <p:spPr>
          <a:xfrm>
            <a:off x="1224726" y="2163300"/>
            <a:ext cx="0" cy="89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365" name="Google Shape;1365;p83"/>
          <p:cNvGrpSpPr/>
          <p:nvPr/>
        </p:nvGrpSpPr>
        <p:grpSpPr>
          <a:xfrm>
            <a:off x="5999975" y="1619250"/>
            <a:ext cx="1447800" cy="1457700"/>
            <a:chOff x="5999975" y="1619250"/>
            <a:chExt cx="1447800" cy="1457700"/>
          </a:xfrm>
        </p:grpSpPr>
        <p:cxnSp>
          <p:nvCxnSpPr>
            <p:cNvPr id="1366" name="Google Shape;1366;p83"/>
            <p:cNvCxnSpPr/>
            <p:nvPr/>
          </p:nvCxnSpPr>
          <p:spPr>
            <a:xfrm>
              <a:off x="5999975" y="1619250"/>
              <a:ext cx="0" cy="1457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367" name="Google Shape;1367;p83"/>
            <p:cNvCxnSpPr/>
            <p:nvPr/>
          </p:nvCxnSpPr>
          <p:spPr>
            <a:xfrm>
              <a:off x="7447775" y="2181225"/>
              <a:ext cx="0" cy="600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84"/>
          <p:cNvSpPr txBox="1"/>
          <p:nvPr>
            <p:ph idx="1" type="body"/>
          </p:nvPr>
        </p:nvSpPr>
        <p:spPr>
          <a:xfrm>
            <a:off x="324000" y="1099775"/>
            <a:ext cx="8384700" cy="5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a) Use each letter once to fill in the gaps in the calculations.</a:t>
            </a:r>
            <a:br>
              <a:rPr lang="en-GB" sz="1800"/>
            </a:br>
            <a:r>
              <a:rPr lang="en-GB" sz="1800"/>
              <a:t>     Multiple solutions exist.</a:t>
            </a:r>
            <a:endParaRPr sz="1800"/>
          </a:p>
        </p:txBody>
      </p:sp>
      <p:pic>
        <p:nvPicPr>
          <p:cNvPr id="1373" name="Google Shape;1373;p84"/>
          <p:cNvPicPr preferRelativeResize="0"/>
          <p:nvPr/>
        </p:nvPicPr>
        <p:blipFill rotWithShape="1">
          <a:blip r:embed="rId3">
            <a:alphaModFix/>
          </a:blip>
          <a:srcRect b="67814" l="6524" r="75660" t="0"/>
          <a:stretch/>
        </p:blipFill>
        <p:spPr>
          <a:xfrm rot="10800000">
            <a:off x="7314561" y="3898090"/>
            <a:ext cx="1009839" cy="1045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84"/>
          <p:cNvPicPr preferRelativeResize="0"/>
          <p:nvPr/>
        </p:nvPicPr>
        <p:blipFill rotWithShape="1">
          <a:blip r:embed="rId3">
            <a:alphaModFix/>
          </a:blip>
          <a:srcRect b="0" l="2184" r="40936" t="70500"/>
          <a:stretch/>
        </p:blipFill>
        <p:spPr>
          <a:xfrm rot="10800000">
            <a:off x="5415694" y="1580938"/>
            <a:ext cx="3224204" cy="95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84"/>
          <p:cNvPicPr preferRelativeResize="0"/>
          <p:nvPr/>
        </p:nvPicPr>
        <p:blipFill rotWithShape="1">
          <a:blip r:embed="rId3">
            <a:alphaModFix/>
          </a:blip>
          <a:srcRect b="0" l="62338" r="0" t="70500"/>
          <a:stretch/>
        </p:blipFill>
        <p:spPr>
          <a:xfrm rot="10800000">
            <a:off x="3168350" y="1580938"/>
            <a:ext cx="2134889" cy="958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84"/>
          <p:cNvSpPr txBox="1"/>
          <p:nvPr/>
        </p:nvSpPr>
        <p:spPr>
          <a:xfrm>
            <a:off x="1172829" y="1821925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377" name="Google Shape;1377;p84"/>
          <p:cNvPicPr preferRelativeResize="0"/>
          <p:nvPr/>
        </p:nvPicPr>
        <p:blipFill rotWithShape="1">
          <a:blip r:embed="rId3">
            <a:alphaModFix/>
          </a:blip>
          <a:srcRect b="36814" l="0" r="0" t="32529"/>
          <a:stretch/>
        </p:blipFill>
        <p:spPr>
          <a:xfrm rot="10800000">
            <a:off x="3095205" y="2770366"/>
            <a:ext cx="5668498" cy="996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84"/>
          <p:cNvPicPr preferRelativeResize="0"/>
          <p:nvPr/>
        </p:nvPicPr>
        <p:blipFill rotWithShape="1">
          <a:blip r:embed="rId3">
            <a:alphaModFix/>
          </a:blip>
          <a:srcRect b="67814" l="32405" r="0" t="0"/>
          <a:stretch/>
        </p:blipFill>
        <p:spPr>
          <a:xfrm rot="10800000">
            <a:off x="3099076" y="3706082"/>
            <a:ext cx="3831473" cy="1045736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84"/>
          <p:cNvSpPr txBox="1"/>
          <p:nvPr>
            <p:ph idx="1" type="body"/>
          </p:nvPr>
        </p:nvSpPr>
        <p:spPr>
          <a:xfrm>
            <a:off x="324000" y="759300"/>
            <a:ext cx="8496000" cy="2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letters inside each shape represents its area. </a:t>
            </a:r>
            <a:endParaRPr sz="1800"/>
          </a:p>
        </p:txBody>
      </p:sp>
      <p:sp>
        <p:nvSpPr>
          <p:cNvPr id="1380" name="Google Shape;1380;p84"/>
          <p:cNvSpPr txBox="1"/>
          <p:nvPr>
            <p:ph idx="2" type="subTitle"/>
          </p:nvPr>
        </p:nvSpPr>
        <p:spPr>
          <a:xfrm>
            <a:off x="1570025" y="144193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trapezia</a:t>
            </a:r>
            <a:endParaRPr/>
          </a:p>
        </p:txBody>
      </p:sp>
      <p:sp>
        <p:nvSpPr>
          <p:cNvPr id="1381" name="Google Shape;1381;p84"/>
          <p:cNvSpPr txBox="1"/>
          <p:nvPr/>
        </p:nvSpPr>
        <p:spPr>
          <a:xfrm>
            <a:off x="4270035" y="190211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aseline="30000"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84"/>
          <p:cNvSpPr txBox="1"/>
          <p:nvPr/>
        </p:nvSpPr>
        <p:spPr>
          <a:xfrm>
            <a:off x="6754115" y="190211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84"/>
          <p:cNvSpPr txBox="1"/>
          <p:nvPr/>
        </p:nvSpPr>
        <p:spPr>
          <a:xfrm>
            <a:off x="3580215" y="301836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4"/>
          <p:cNvSpPr txBox="1"/>
          <p:nvPr/>
        </p:nvSpPr>
        <p:spPr>
          <a:xfrm>
            <a:off x="4906196" y="302393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4"/>
          <p:cNvSpPr txBox="1"/>
          <p:nvPr/>
        </p:nvSpPr>
        <p:spPr>
          <a:xfrm>
            <a:off x="6130712" y="312539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4"/>
          <p:cNvSpPr txBox="1"/>
          <p:nvPr/>
        </p:nvSpPr>
        <p:spPr>
          <a:xfrm>
            <a:off x="7859292" y="3051798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4"/>
          <p:cNvSpPr txBox="1"/>
          <p:nvPr/>
        </p:nvSpPr>
        <p:spPr>
          <a:xfrm>
            <a:off x="3968820" y="4146770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4"/>
          <p:cNvSpPr txBox="1"/>
          <p:nvPr/>
        </p:nvSpPr>
        <p:spPr>
          <a:xfrm>
            <a:off x="5584790" y="411890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84"/>
          <p:cNvSpPr txBox="1"/>
          <p:nvPr/>
        </p:nvSpPr>
        <p:spPr>
          <a:xfrm>
            <a:off x="7620533" y="4044372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84"/>
          <p:cNvSpPr txBox="1"/>
          <p:nvPr/>
        </p:nvSpPr>
        <p:spPr>
          <a:xfrm>
            <a:off x="781205" y="2264350"/>
            <a:ext cx="150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+</a:t>
            </a:r>
            <a:endParaRPr baseline="30000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4"/>
          <p:cNvSpPr txBox="1"/>
          <p:nvPr/>
        </p:nvSpPr>
        <p:spPr>
          <a:xfrm>
            <a:off x="4308813" y="138112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4"/>
          <p:cNvSpPr txBox="1"/>
          <p:nvPr/>
        </p:nvSpPr>
        <p:spPr>
          <a:xfrm>
            <a:off x="4121702" y="239813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3" name="Google Shape;1393;p84"/>
          <p:cNvCxnSpPr/>
          <p:nvPr/>
        </p:nvCxnSpPr>
        <p:spPr>
          <a:xfrm>
            <a:off x="5158873" y="17584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4" name="Google Shape;1394;p84"/>
          <p:cNvSpPr txBox="1"/>
          <p:nvPr/>
        </p:nvSpPr>
        <p:spPr>
          <a:xfrm>
            <a:off x="5087324" y="190884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5" name="Google Shape;1395;p84"/>
          <p:cNvCxnSpPr/>
          <p:nvPr/>
        </p:nvCxnSpPr>
        <p:spPr>
          <a:xfrm>
            <a:off x="8612072" y="17584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6" name="Google Shape;1396;p84"/>
          <p:cNvSpPr txBox="1"/>
          <p:nvPr/>
        </p:nvSpPr>
        <p:spPr>
          <a:xfrm>
            <a:off x="8551669" y="190884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7" name="Google Shape;1397;p84"/>
          <p:cNvCxnSpPr/>
          <p:nvPr/>
        </p:nvCxnSpPr>
        <p:spPr>
          <a:xfrm>
            <a:off x="8600927" y="2874717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8" name="Google Shape;1398;p84"/>
          <p:cNvSpPr txBox="1"/>
          <p:nvPr/>
        </p:nvSpPr>
        <p:spPr>
          <a:xfrm>
            <a:off x="8534951" y="302509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9" name="Google Shape;1399;p84"/>
          <p:cNvCxnSpPr/>
          <p:nvPr/>
        </p:nvCxnSpPr>
        <p:spPr>
          <a:xfrm>
            <a:off x="4581663" y="28635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0" name="Google Shape;1400;p84"/>
          <p:cNvSpPr txBox="1"/>
          <p:nvPr/>
        </p:nvSpPr>
        <p:spPr>
          <a:xfrm>
            <a:off x="4348371" y="3003183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1" name="Google Shape;1401;p84"/>
          <p:cNvCxnSpPr/>
          <p:nvPr/>
        </p:nvCxnSpPr>
        <p:spPr>
          <a:xfrm>
            <a:off x="5946117" y="3880525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02" name="Google Shape;1402;p84"/>
          <p:cNvSpPr txBox="1"/>
          <p:nvPr/>
        </p:nvSpPr>
        <p:spPr>
          <a:xfrm>
            <a:off x="5891286" y="407106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3" name="Google Shape;1403;p84"/>
          <p:cNvCxnSpPr/>
          <p:nvPr/>
        </p:nvCxnSpPr>
        <p:spPr>
          <a:xfrm>
            <a:off x="7347310" y="4072533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4" name="Google Shape;1404;p84"/>
          <p:cNvSpPr txBox="1"/>
          <p:nvPr/>
        </p:nvSpPr>
        <p:spPr>
          <a:xfrm>
            <a:off x="7122275" y="4222907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84"/>
          <p:cNvSpPr txBox="1"/>
          <p:nvPr/>
        </p:nvSpPr>
        <p:spPr>
          <a:xfrm>
            <a:off x="6481800" y="2404996"/>
            <a:ext cx="5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84"/>
          <p:cNvSpPr txBox="1"/>
          <p:nvPr/>
        </p:nvSpPr>
        <p:spPr>
          <a:xfrm>
            <a:off x="3190595" y="299171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84"/>
          <p:cNvSpPr txBox="1"/>
          <p:nvPr/>
        </p:nvSpPr>
        <p:spPr>
          <a:xfrm>
            <a:off x="5833342" y="302985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84"/>
          <p:cNvSpPr txBox="1"/>
          <p:nvPr/>
        </p:nvSpPr>
        <p:spPr>
          <a:xfrm>
            <a:off x="4432803" y="404857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4"/>
          <p:cNvSpPr txBox="1"/>
          <p:nvPr/>
        </p:nvSpPr>
        <p:spPr>
          <a:xfrm>
            <a:off x="3592305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0" name="Google Shape;1410;p84"/>
          <p:cNvSpPr txBox="1"/>
          <p:nvPr/>
        </p:nvSpPr>
        <p:spPr>
          <a:xfrm>
            <a:off x="5127945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84"/>
          <p:cNvSpPr txBox="1"/>
          <p:nvPr/>
        </p:nvSpPr>
        <p:spPr>
          <a:xfrm>
            <a:off x="6216403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84"/>
          <p:cNvSpPr txBox="1"/>
          <p:nvPr/>
        </p:nvSpPr>
        <p:spPr>
          <a:xfrm>
            <a:off x="7785870" y="349526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84"/>
          <p:cNvSpPr txBox="1"/>
          <p:nvPr/>
        </p:nvSpPr>
        <p:spPr>
          <a:xfrm>
            <a:off x="3815834" y="452416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84"/>
          <p:cNvSpPr txBox="1"/>
          <p:nvPr/>
        </p:nvSpPr>
        <p:spPr>
          <a:xfrm>
            <a:off x="5776005" y="452816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4"/>
          <p:cNvSpPr txBox="1"/>
          <p:nvPr/>
        </p:nvSpPr>
        <p:spPr>
          <a:xfrm>
            <a:off x="7467803" y="371112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4"/>
          <p:cNvSpPr txBox="1"/>
          <p:nvPr/>
        </p:nvSpPr>
        <p:spPr>
          <a:xfrm>
            <a:off x="781205" y="1807150"/>
            <a:ext cx="150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+      +</a:t>
            </a:r>
            <a:endParaRPr baseline="30000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4"/>
          <p:cNvSpPr txBox="1"/>
          <p:nvPr/>
        </p:nvSpPr>
        <p:spPr>
          <a:xfrm>
            <a:off x="781205" y="2721550"/>
            <a:ext cx="150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+      </a:t>
            </a:r>
            <a:endParaRPr baseline="30000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4"/>
          <p:cNvSpPr txBox="1"/>
          <p:nvPr/>
        </p:nvSpPr>
        <p:spPr>
          <a:xfrm>
            <a:off x="781205" y="3178750"/>
            <a:ext cx="150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÷ 2</a:t>
            </a:r>
            <a:endParaRPr baseline="30000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9" name="Google Shape;1419;p84"/>
          <p:cNvCxnSpPr/>
          <p:nvPr/>
        </p:nvCxnSpPr>
        <p:spPr>
          <a:xfrm>
            <a:off x="1207003" y="2603204"/>
            <a:ext cx="27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0" name="Google Shape;1420;p84"/>
          <p:cNvCxnSpPr/>
          <p:nvPr/>
        </p:nvCxnSpPr>
        <p:spPr>
          <a:xfrm>
            <a:off x="1664203" y="2603204"/>
            <a:ext cx="27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84"/>
          <p:cNvCxnSpPr/>
          <p:nvPr/>
        </p:nvCxnSpPr>
        <p:spPr>
          <a:xfrm>
            <a:off x="1660655" y="2146004"/>
            <a:ext cx="27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84"/>
          <p:cNvCxnSpPr/>
          <p:nvPr/>
        </p:nvCxnSpPr>
        <p:spPr>
          <a:xfrm>
            <a:off x="2194055" y="2146004"/>
            <a:ext cx="27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84"/>
          <p:cNvCxnSpPr/>
          <p:nvPr/>
        </p:nvCxnSpPr>
        <p:spPr>
          <a:xfrm>
            <a:off x="1207003" y="3053309"/>
            <a:ext cx="27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84"/>
          <p:cNvCxnSpPr/>
          <p:nvPr/>
        </p:nvCxnSpPr>
        <p:spPr>
          <a:xfrm>
            <a:off x="1660655" y="3053309"/>
            <a:ext cx="27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84"/>
          <p:cNvCxnSpPr/>
          <p:nvPr/>
        </p:nvCxnSpPr>
        <p:spPr>
          <a:xfrm>
            <a:off x="1207003" y="3510509"/>
            <a:ext cx="27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6" name="Google Shape;1426;p84"/>
          <p:cNvSpPr txBox="1"/>
          <p:nvPr>
            <p:ph idx="1" type="body"/>
          </p:nvPr>
        </p:nvSpPr>
        <p:spPr>
          <a:xfrm>
            <a:off x="324000" y="3988275"/>
            <a:ext cx="3045600" cy="2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Find the value of T.</a:t>
            </a:r>
            <a:endParaRPr sz="1800"/>
          </a:p>
        </p:txBody>
      </p:sp>
      <p:cxnSp>
        <p:nvCxnSpPr>
          <p:cNvPr id="1427" name="Google Shape;1427;p84"/>
          <p:cNvCxnSpPr/>
          <p:nvPr/>
        </p:nvCxnSpPr>
        <p:spPr>
          <a:xfrm>
            <a:off x="1068548" y="4704807"/>
            <a:ext cx="38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84"/>
          <p:cNvSpPr txBox="1"/>
          <p:nvPr>
            <p:ph idx="1" type="body"/>
          </p:nvPr>
        </p:nvSpPr>
        <p:spPr>
          <a:xfrm>
            <a:off x="718944" y="4458250"/>
            <a:ext cx="1480200" cy="2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 =         units</a:t>
            </a:r>
            <a:r>
              <a:rPr baseline="30000" lang="en-GB" sz="1600"/>
              <a:t>2</a:t>
            </a:r>
            <a:endParaRPr baseline="30000" sz="1600"/>
          </a:p>
        </p:txBody>
      </p:sp>
      <p:cxnSp>
        <p:nvCxnSpPr>
          <p:cNvPr id="1429" name="Google Shape;1429;p84"/>
          <p:cNvCxnSpPr/>
          <p:nvPr/>
        </p:nvCxnSpPr>
        <p:spPr>
          <a:xfrm>
            <a:off x="3427041" y="2866625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0" name="Google Shape;1430;p84"/>
          <p:cNvCxnSpPr/>
          <p:nvPr/>
        </p:nvCxnSpPr>
        <p:spPr>
          <a:xfrm>
            <a:off x="6054913" y="28635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1" name="Google Shape;1431;p84"/>
          <p:cNvCxnSpPr/>
          <p:nvPr/>
        </p:nvCxnSpPr>
        <p:spPr>
          <a:xfrm rot="10800000">
            <a:off x="3513216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2" name="Google Shape;1432;p84"/>
          <p:cNvCxnSpPr/>
          <p:nvPr/>
        </p:nvCxnSpPr>
        <p:spPr>
          <a:xfrm rot="10800000">
            <a:off x="5064777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3" name="Google Shape;1433;p84"/>
          <p:cNvCxnSpPr/>
          <p:nvPr/>
        </p:nvCxnSpPr>
        <p:spPr>
          <a:xfrm rot="10800000">
            <a:off x="6150808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4" name="Google Shape;1434;p84"/>
          <p:cNvCxnSpPr/>
          <p:nvPr/>
        </p:nvCxnSpPr>
        <p:spPr>
          <a:xfrm rot="10800000">
            <a:off x="7242766" y="3613002"/>
            <a:ext cx="13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5" name="Google Shape;1435;p84"/>
          <p:cNvCxnSpPr/>
          <p:nvPr/>
        </p:nvCxnSpPr>
        <p:spPr>
          <a:xfrm rot="10800000">
            <a:off x="3516988" y="4638685"/>
            <a:ext cx="86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6" name="Google Shape;1436;p84"/>
          <p:cNvCxnSpPr/>
          <p:nvPr/>
        </p:nvCxnSpPr>
        <p:spPr>
          <a:xfrm rot="10800000">
            <a:off x="5053026" y="4638685"/>
            <a:ext cx="176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7" name="Google Shape;1437;p84"/>
          <p:cNvCxnSpPr/>
          <p:nvPr/>
        </p:nvCxnSpPr>
        <p:spPr>
          <a:xfrm rot="10800000">
            <a:off x="7408249" y="4027341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8" name="Google Shape;1438;p84"/>
          <p:cNvCxnSpPr/>
          <p:nvPr/>
        </p:nvCxnSpPr>
        <p:spPr>
          <a:xfrm rot="10800000">
            <a:off x="4247435" y="1699193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39" name="Google Shape;1439;p84"/>
          <p:cNvCxnSpPr/>
          <p:nvPr/>
        </p:nvCxnSpPr>
        <p:spPr>
          <a:xfrm rot="10800000">
            <a:off x="5457323" y="2516286"/>
            <a:ext cx="2254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0" name="Google Shape;1440;p84"/>
          <p:cNvCxnSpPr/>
          <p:nvPr/>
        </p:nvCxnSpPr>
        <p:spPr>
          <a:xfrm rot="10800000">
            <a:off x="3336202" y="2516287"/>
            <a:ext cx="178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41" name="Google Shape;1441;p84"/>
          <p:cNvCxnSpPr/>
          <p:nvPr/>
        </p:nvCxnSpPr>
        <p:spPr>
          <a:xfrm>
            <a:off x="4493841" y="3906519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85"/>
          <p:cNvPicPr preferRelativeResize="0"/>
          <p:nvPr/>
        </p:nvPicPr>
        <p:blipFill rotWithShape="1">
          <a:blip r:embed="rId3">
            <a:alphaModFix/>
          </a:blip>
          <a:srcRect b="6874" l="0" r="79976" t="5436"/>
          <a:stretch/>
        </p:blipFill>
        <p:spPr>
          <a:xfrm rot="-2705260">
            <a:off x="7102856" y="2514745"/>
            <a:ext cx="1291651" cy="21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7" name="Google Shape;1447;p85"/>
          <p:cNvPicPr preferRelativeResize="0"/>
          <p:nvPr/>
        </p:nvPicPr>
        <p:blipFill rotWithShape="1">
          <a:blip r:embed="rId3">
            <a:alphaModFix/>
          </a:blip>
          <a:srcRect b="28714" l="28067" r="50838" t="9011"/>
          <a:stretch/>
        </p:blipFill>
        <p:spPr>
          <a:xfrm>
            <a:off x="4319226" y="2691460"/>
            <a:ext cx="1360724" cy="138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85"/>
          <p:cNvPicPr preferRelativeResize="0"/>
          <p:nvPr/>
        </p:nvPicPr>
        <p:blipFill rotWithShape="1">
          <a:blip r:embed="rId3">
            <a:alphaModFix/>
          </a:blip>
          <a:srcRect b="28718" l="55318" r="2453" t="15766"/>
          <a:stretch/>
        </p:blipFill>
        <p:spPr>
          <a:xfrm rot="10800000">
            <a:off x="839422" y="2674136"/>
            <a:ext cx="2724026" cy="13837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9" name="Google Shape;1449;p85"/>
          <p:cNvCxnSpPr/>
          <p:nvPr/>
        </p:nvCxnSpPr>
        <p:spPr>
          <a:xfrm rot="5400000">
            <a:off x="7287724" y="3108142"/>
            <a:ext cx="578100" cy="57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450" name="Google Shape;1450;p85"/>
          <p:cNvSpPr txBox="1"/>
          <p:nvPr/>
        </p:nvSpPr>
        <p:spPr>
          <a:xfrm>
            <a:off x="4699409" y="3978852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5"/>
          <p:cNvSpPr txBox="1"/>
          <p:nvPr/>
        </p:nvSpPr>
        <p:spPr>
          <a:xfrm>
            <a:off x="3766282" y="3123181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5"/>
          <p:cNvSpPr txBox="1"/>
          <p:nvPr/>
        </p:nvSpPr>
        <p:spPr>
          <a:xfrm>
            <a:off x="5635871" y="3631130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85"/>
          <p:cNvSpPr txBox="1"/>
          <p:nvPr/>
        </p:nvSpPr>
        <p:spPr>
          <a:xfrm>
            <a:off x="5068301" y="2847960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85"/>
          <p:cNvSpPr txBox="1"/>
          <p:nvPr/>
        </p:nvSpPr>
        <p:spPr>
          <a:xfrm>
            <a:off x="6672268" y="3652142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5"/>
          <p:cNvSpPr txBox="1"/>
          <p:nvPr/>
        </p:nvSpPr>
        <p:spPr>
          <a:xfrm>
            <a:off x="8073102" y="2893059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5"/>
          <p:cNvSpPr txBox="1"/>
          <p:nvPr/>
        </p:nvSpPr>
        <p:spPr>
          <a:xfrm>
            <a:off x="7821270" y="4009866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85"/>
          <p:cNvSpPr txBox="1"/>
          <p:nvPr/>
        </p:nvSpPr>
        <p:spPr>
          <a:xfrm rot="-2821961">
            <a:off x="7155063" y="3112079"/>
            <a:ext cx="681797" cy="4311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8" name="Google Shape;1458;p85"/>
          <p:cNvCxnSpPr/>
          <p:nvPr/>
        </p:nvCxnSpPr>
        <p:spPr>
          <a:xfrm>
            <a:off x="4472111" y="3843395"/>
            <a:ext cx="105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85"/>
          <p:cNvCxnSpPr/>
          <p:nvPr/>
        </p:nvCxnSpPr>
        <p:spPr>
          <a:xfrm rot="10800000">
            <a:off x="4581501" y="3833660"/>
            <a:ext cx="0" cy="13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0" name="Google Shape;1460;p85"/>
          <p:cNvCxnSpPr/>
          <p:nvPr/>
        </p:nvCxnSpPr>
        <p:spPr>
          <a:xfrm>
            <a:off x="5466568" y="3843395"/>
            <a:ext cx="105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1" name="Google Shape;1461;p85"/>
          <p:cNvCxnSpPr/>
          <p:nvPr/>
        </p:nvCxnSpPr>
        <p:spPr>
          <a:xfrm rot="10800000">
            <a:off x="5475334" y="3833660"/>
            <a:ext cx="0" cy="13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2" name="Google Shape;1462;p85"/>
          <p:cNvSpPr txBox="1"/>
          <p:nvPr/>
        </p:nvSpPr>
        <p:spPr>
          <a:xfrm>
            <a:off x="883460" y="3943680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85"/>
          <p:cNvSpPr txBox="1"/>
          <p:nvPr/>
        </p:nvSpPr>
        <p:spPr>
          <a:xfrm>
            <a:off x="2239710" y="2354784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4" name="Google Shape;1464;p85"/>
          <p:cNvCxnSpPr/>
          <p:nvPr/>
        </p:nvCxnSpPr>
        <p:spPr>
          <a:xfrm>
            <a:off x="895087" y="2780451"/>
            <a:ext cx="0" cy="114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65" name="Google Shape;1465;p85"/>
          <p:cNvSpPr txBox="1"/>
          <p:nvPr/>
        </p:nvSpPr>
        <p:spPr>
          <a:xfrm>
            <a:off x="290869" y="3057048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6" name="Google Shape;1466;p85"/>
          <p:cNvCxnSpPr/>
          <p:nvPr/>
        </p:nvCxnSpPr>
        <p:spPr>
          <a:xfrm rot="10800000">
            <a:off x="889770" y="2775915"/>
            <a:ext cx="862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67" name="Google Shape;1467;p85"/>
          <p:cNvSpPr txBox="1"/>
          <p:nvPr>
            <p:ph idx="1" type="body"/>
          </p:nvPr>
        </p:nvSpPr>
        <p:spPr>
          <a:xfrm>
            <a:off x="324000" y="2359500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468" name="Google Shape;1468;p85"/>
          <p:cNvSpPr txBox="1"/>
          <p:nvPr>
            <p:ph idx="1" type="body"/>
          </p:nvPr>
        </p:nvSpPr>
        <p:spPr>
          <a:xfrm>
            <a:off x="3841651" y="2359500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469" name="Google Shape;1469;p85"/>
          <p:cNvSpPr txBox="1"/>
          <p:nvPr>
            <p:ph idx="1" type="body"/>
          </p:nvPr>
        </p:nvSpPr>
        <p:spPr>
          <a:xfrm>
            <a:off x="6539778" y="2359500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470" name="Google Shape;1470;p85"/>
          <p:cNvSpPr txBox="1"/>
          <p:nvPr/>
        </p:nvSpPr>
        <p:spPr>
          <a:xfrm>
            <a:off x="324000" y="759300"/>
            <a:ext cx="84960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of the shapes below are trapezia.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formula or any other method to calculate the area of each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trapezium.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85"/>
          <p:cNvSpPr txBox="1"/>
          <p:nvPr/>
        </p:nvSpPr>
        <p:spPr>
          <a:xfrm>
            <a:off x="596370" y="1167725"/>
            <a:ext cx="5024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a trapezium with parallel sides 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1472" name="Google Shape;1472;p85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368" y="1085897"/>
            <a:ext cx="1621576" cy="499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3" name="Google Shape;1473;p85"/>
          <p:cNvCxnSpPr/>
          <p:nvPr/>
        </p:nvCxnSpPr>
        <p:spPr>
          <a:xfrm flipH="1" rot="10800000">
            <a:off x="1779875" y="2676548"/>
            <a:ext cx="1706100" cy="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4" name="Google Shape;1474;p85"/>
          <p:cNvCxnSpPr/>
          <p:nvPr/>
        </p:nvCxnSpPr>
        <p:spPr>
          <a:xfrm>
            <a:off x="929567" y="4012772"/>
            <a:ext cx="57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5" name="Google Shape;1475;p85"/>
          <p:cNvCxnSpPr/>
          <p:nvPr/>
        </p:nvCxnSpPr>
        <p:spPr>
          <a:xfrm rot="10800000">
            <a:off x="4351287" y="2721025"/>
            <a:ext cx="0" cy="126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6" name="Google Shape;1476;p85"/>
          <p:cNvCxnSpPr/>
          <p:nvPr/>
        </p:nvCxnSpPr>
        <p:spPr>
          <a:xfrm rot="10800000">
            <a:off x="5686563" y="3717925"/>
            <a:ext cx="0" cy="27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7" name="Google Shape;1477;p85"/>
          <p:cNvCxnSpPr/>
          <p:nvPr/>
        </p:nvCxnSpPr>
        <p:spPr>
          <a:xfrm rot="10800000">
            <a:off x="4548125" y="2648750"/>
            <a:ext cx="1122000" cy="9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8" name="Google Shape;1478;p85"/>
          <p:cNvCxnSpPr/>
          <p:nvPr/>
        </p:nvCxnSpPr>
        <p:spPr>
          <a:xfrm flipH="1">
            <a:off x="4467875" y="4080566"/>
            <a:ext cx="11220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79" name="Google Shape;1479;p85"/>
          <p:cNvCxnSpPr/>
          <p:nvPr/>
        </p:nvCxnSpPr>
        <p:spPr>
          <a:xfrm rot="10800000">
            <a:off x="7456975" y="2522428"/>
            <a:ext cx="1401600" cy="138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80" name="Google Shape;1480;p85"/>
          <p:cNvCxnSpPr/>
          <p:nvPr/>
        </p:nvCxnSpPr>
        <p:spPr>
          <a:xfrm flipH="1">
            <a:off x="7599975" y="4120448"/>
            <a:ext cx="1170300" cy="1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81" name="Google Shape;1481;p85"/>
          <p:cNvCxnSpPr/>
          <p:nvPr/>
        </p:nvCxnSpPr>
        <p:spPr>
          <a:xfrm>
            <a:off x="6898031" y="3487275"/>
            <a:ext cx="585300" cy="58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82" name="Google Shape;1482;p85"/>
          <p:cNvSpPr txBox="1"/>
          <p:nvPr>
            <p:ph idx="2" type="subTitle"/>
          </p:nvPr>
        </p:nvSpPr>
        <p:spPr>
          <a:xfrm>
            <a:off x="1570025" y="144193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trapezia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86"/>
          <p:cNvSpPr txBox="1"/>
          <p:nvPr>
            <p:ph idx="1" type="body"/>
          </p:nvPr>
        </p:nvSpPr>
        <p:spPr>
          <a:xfrm>
            <a:off x="324000" y="1092675"/>
            <a:ext cx="8496000" cy="10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a) Use each letter once to fill in the gaps in the calculations.</a:t>
            </a:r>
            <a:br>
              <a:rPr lang="en-GB" sz="1800"/>
            </a:br>
            <a:r>
              <a:rPr lang="en-GB" sz="1800"/>
              <a:t>     Multiple solutions exist.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Possible solution:</a:t>
            </a:r>
            <a:endParaRPr sz="1800"/>
          </a:p>
        </p:txBody>
      </p:sp>
      <p:sp>
        <p:nvSpPr>
          <p:cNvPr id="1488" name="Google Shape;1488;p86"/>
          <p:cNvSpPr txBox="1"/>
          <p:nvPr>
            <p:ph idx="1" type="body"/>
          </p:nvPr>
        </p:nvSpPr>
        <p:spPr>
          <a:xfrm>
            <a:off x="324000" y="759300"/>
            <a:ext cx="8496000" cy="2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letters inside each shape represents its area. </a:t>
            </a:r>
            <a:endParaRPr sz="1800"/>
          </a:p>
        </p:txBody>
      </p:sp>
      <p:sp>
        <p:nvSpPr>
          <p:cNvPr id="1489" name="Google Shape;1489;p86"/>
          <p:cNvSpPr txBox="1"/>
          <p:nvPr/>
        </p:nvSpPr>
        <p:spPr>
          <a:xfrm>
            <a:off x="628805" y="2616775"/>
            <a:ext cx="15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+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86"/>
          <p:cNvSpPr txBox="1"/>
          <p:nvPr/>
        </p:nvSpPr>
        <p:spPr>
          <a:xfrm>
            <a:off x="628805" y="3073975"/>
            <a:ext cx="15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+      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86"/>
          <p:cNvSpPr txBox="1"/>
          <p:nvPr/>
        </p:nvSpPr>
        <p:spPr>
          <a:xfrm>
            <a:off x="628805" y="3531175"/>
            <a:ext cx="15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÷ 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86"/>
          <p:cNvSpPr txBox="1"/>
          <p:nvPr/>
        </p:nvSpPr>
        <p:spPr>
          <a:xfrm>
            <a:off x="628805" y="2159575"/>
            <a:ext cx="15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+      +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86"/>
          <p:cNvSpPr txBox="1"/>
          <p:nvPr/>
        </p:nvSpPr>
        <p:spPr>
          <a:xfrm>
            <a:off x="1493128" y="2182550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4" name="Google Shape;1494;p86"/>
          <p:cNvSpPr txBox="1"/>
          <p:nvPr/>
        </p:nvSpPr>
        <p:spPr>
          <a:xfrm>
            <a:off x="1021983" y="2627299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5" name="Google Shape;1495;p86"/>
          <p:cNvSpPr txBox="1"/>
          <p:nvPr/>
        </p:nvSpPr>
        <p:spPr>
          <a:xfrm>
            <a:off x="1479183" y="2627299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6" name="Google Shape;1496;p86"/>
          <p:cNvSpPr txBox="1"/>
          <p:nvPr/>
        </p:nvSpPr>
        <p:spPr>
          <a:xfrm>
            <a:off x="1034434" y="3065823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7" name="Google Shape;1497;p86"/>
          <p:cNvSpPr txBox="1"/>
          <p:nvPr/>
        </p:nvSpPr>
        <p:spPr>
          <a:xfrm>
            <a:off x="1491634" y="3078274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8" name="Google Shape;1498;p86"/>
          <p:cNvSpPr txBox="1"/>
          <p:nvPr/>
        </p:nvSpPr>
        <p:spPr>
          <a:xfrm>
            <a:off x="1034434" y="3535474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9" name="Google Shape;1499;p86"/>
          <p:cNvSpPr txBox="1"/>
          <p:nvPr/>
        </p:nvSpPr>
        <p:spPr>
          <a:xfrm>
            <a:off x="1020429" y="2174350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0" name="Google Shape;1500;p86"/>
          <p:cNvSpPr txBox="1"/>
          <p:nvPr/>
        </p:nvSpPr>
        <p:spPr>
          <a:xfrm>
            <a:off x="1942608" y="2182550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1" name="Google Shape;1501;p86"/>
          <p:cNvSpPr txBox="1"/>
          <p:nvPr>
            <p:ph idx="2" type="subTitle"/>
          </p:nvPr>
        </p:nvSpPr>
        <p:spPr>
          <a:xfrm>
            <a:off x="1570025" y="144193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trapezia</a:t>
            </a:r>
            <a:endParaRPr/>
          </a:p>
        </p:txBody>
      </p:sp>
      <p:pic>
        <p:nvPicPr>
          <p:cNvPr id="1502" name="Google Shape;1502;p86"/>
          <p:cNvPicPr preferRelativeResize="0"/>
          <p:nvPr/>
        </p:nvPicPr>
        <p:blipFill rotWithShape="1">
          <a:blip r:embed="rId3">
            <a:alphaModFix/>
          </a:blip>
          <a:srcRect b="0" l="1848" r="40554" t="70674"/>
          <a:stretch/>
        </p:blipFill>
        <p:spPr>
          <a:xfrm rot="10800000">
            <a:off x="5460383" y="1614500"/>
            <a:ext cx="3143335" cy="917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p86"/>
          <p:cNvPicPr preferRelativeResize="0"/>
          <p:nvPr/>
        </p:nvPicPr>
        <p:blipFill rotWithShape="1">
          <a:blip r:embed="rId3">
            <a:alphaModFix/>
          </a:blip>
          <a:srcRect b="0" l="64839" r="0" t="70674"/>
          <a:stretch/>
        </p:blipFill>
        <p:spPr>
          <a:xfrm rot="10800000">
            <a:off x="3195134" y="1591622"/>
            <a:ext cx="1970194" cy="941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4" name="Google Shape;1504;p86"/>
          <p:cNvPicPr preferRelativeResize="0"/>
          <p:nvPr/>
        </p:nvPicPr>
        <p:blipFill rotWithShape="1">
          <a:blip r:embed="rId3">
            <a:alphaModFix/>
          </a:blip>
          <a:srcRect b="35631" l="0" r="0" t="31675"/>
          <a:stretch/>
        </p:blipFill>
        <p:spPr>
          <a:xfrm rot="10800000">
            <a:off x="3135588" y="2745294"/>
            <a:ext cx="5603412" cy="1050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86"/>
          <p:cNvPicPr preferRelativeResize="0"/>
          <p:nvPr/>
        </p:nvPicPr>
        <p:blipFill rotWithShape="1">
          <a:blip r:embed="rId3">
            <a:alphaModFix/>
          </a:blip>
          <a:srcRect b="67474" l="6820" r="76093" t="0"/>
          <a:stretch/>
        </p:blipFill>
        <p:spPr>
          <a:xfrm rot="10800000">
            <a:off x="7353297" y="3893900"/>
            <a:ext cx="957401" cy="10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6" name="Google Shape;1506;p86"/>
          <p:cNvPicPr preferRelativeResize="0"/>
          <p:nvPr/>
        </p:nvPicPr>
        <p:blipFill rotWithShape="1">
          <a:blip r:embed="rId3">
            <a:alphaModFix/>
          </a:blip>
          <a:srcRect b="67474" l="32917" r="0" t="0"/>
          <a:stretch/>
        </p:blipFill>
        <p:spPr>
          <a:xfrm rot="10800000">
            <a:off x="3146702" y="3703400"/>
            <a:ext cx="3758923" cy="10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86"/>
          <p:cNvSpPr txBox="1"/>
          <p:nvPr/>
        </p:nvSpPr>
        <p:spPr>
          <a:xfrm>
            <a:off x="4270035" y="190211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aseline="30000"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86"/>
          <p:cNvSpPr txBox="1"/>
          <p:nvPr/>
        </p:nvSpPr>
        <p:spPr>
          <a:xfrm>
            <a:off x="6754115" y="190211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86"/>
          <p:cNvSpPr txBox="1"/>
          <p:nvPr/>
        </p:nvSpPr>
        <p:spPr>
          <a:xfrm>
            <a:off x="3580215" y="301836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86"/>
          <p:cNvSpPr txBox="1"/>
          <p:nvPr/>
        </p:nvSpPr>
        <p:spPr>
          <a:xfrm>
            <a:off x="4906196" y="302393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86"/>
          <p:cNvSpPr txBox="1"/>
          <p:nvPr/>
        </p:nvSpPr>
        <p:spPr>
          <a:xfrm>
            <a:off x="6130712" y="312539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86"/>
          <p:cNvSpPr txBox="1"/>
          <p:nvPr/>
        </p:nvSpPr>
        <p:spPr>
          <a:xfrm>
            <a:off x="7859292" y="3051798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86"/>
          <p:cNvSpPr txBox="1"/>
          <p:nvPr/>
        </p:nvSpPr>
        <p:spPr>
          <a:xfrm>
            <a:off x="3968820" y="4146770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86"/>
          <p:cNvSpPr txBox="1"/>
          <p:nvPr/>
        </p:nvSpPr>
        <p:spPr>
          <a:xfrm>
            <a:off x="5584790" y="411890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86"/>
          <p:cNvSpPr txBox="1"/>
          <p:nvPr/>
        </p:nvSpPr>
        <p:spPr>
          <a:xfrm>
            <a:off x="7620533" y="4044372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86"/>
          <p:cNvSpPr txBox="1"/>
          <p:nvPr/>
        </p:nvSpPr>
        <p:spPr>
          <a:xfrm>
            <a:off x="4308813" y="138112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6"/>
          <p:cNvSpPr txBox="1"/>
          <p:nvPr/>
        </p:nvSpPr>
        <p:spPr>
          <a:xfrm>
            <a:off x="4121702" y="239813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8" name="Google Shape;1518;p86"/>
          <p:cNvCxnSpPr/>
          <p:nvPr/>
        </p:nvCxnSpPr>
        <p:spPr>
          <a:xfrm>
            <a:off x="5158873" y="17584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9" name="Google Shape;1519;p86"/>
          <p:cNvSpPr txBox="1"/>
          <p:nvPr/>
        </p:nvSpPr>
        <p:spPr>
          <a:xfrm>
            <a:off x="5087324" y="190884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0" name="Google Shape;1520;p86"/>
          <p:cNvCxnSpPr/>
          <p:nvPr/>
        </p:nvCxnSpPr>
        <p:spPr>
          <a:xfrm>
            <a:off x="8612072" y="17584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1" name="Google Shape;1521;p86"/>
          <p:cNvSpPr txBox="1"/>
          <p:nvPr/>
        </p:nvSpPr>
        <p:spPr>
          <a:xfrm>
            <a:off x="8551669" y="190884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2" name="Google Shape;1522;p86"/>
          <p:cNvCxnSpPr/>
          <p:nvPr/>
        </p:nvCxnSpPr>
        <p:spPr>
          <a:xfrm>
            <a:off x="8600927" y="2874717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3" name="Google Shape;1523;p86"/>
          <p:cNvSpPr txBox="1"/>
          <p:nvPr/>
        </p:nvSpPr>
        <p:spPr>
          <a:xfrm>
            <a:off x="8534951" y="302509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4" name="Google Shape;1524;p86"/>
          <p:cNvCxnSpPr/>
          <p:nvPr/>
        </p:nvCxnSpPr>
        <p:spPr>
          <a:xfrm>
            <a:off x="4581663" y="28635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5" name="Google Shape;1525;p86"/>
          <p:cNvSpPr txBox="1"/>
          <p:nvPr/>
        </p:nvSpPr>
        <p:spPr>
          <a:xfrm>
            <a:off x="4348371" y="3003183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6" name="Google Shape;1526;p86"/>
          <p:cNvCxnSpPr/>
          <p:nvPr/>
        </p:nvCxnSpPr>
        <p:spPr>
          <a:xfrm>
            <a:off x="5946117" y="3880525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527" name="Google Shape;1527;p86"/>
          <p:cNvSpPr txBox="1"/>
          <p:nvPr/>
        </p:nvSpPr>
        <p:spPr>
          <a:xfrm>
            <a:off x="5891286" y="407106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28" name="Google Shape;1528;p86"/>
          <p:cNvCxnSpPr/>
          <p:nvPr/>
        </p:nvCxnSpPr>
        <p:spPr>
          <a:xfrm>
            <a:off x="7347310" y="4072533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29" name="Google Shape;1529;p86"/>
          <p:cNvSpPr txBox="1"/>
          <p:nvPr/>
        </p:nvSpPr>
        <p:spPr>
          <a:xfrm>
            <a:off x="7122275" y="4222907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86"/>
          <p:cNvSpPr txBox="1"/>
          <p:nvPr/>
        </p:nvSpPr>
        <p:spPr>
          <a:xfrm>
            <a:off x="6481800" y="2404996"/>
            <a:ext cx="5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86"/>
          <p:cNvSpPr txBox="1"/>
          <p:nvPr/>
        </p:nvSpPr>
        <p:spPr>
          <a:xfrm>
            <a:off x="3190595" y="299171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86"/>
          <p:cNvSpPr txBox="1"/>
          <p:nvPr/>
        </p:nvSpPr>
        <p:spPr>
          <a:xfrm>
            <a:off x="5833342" y="302985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86"/>
          <p:cNvSpPr txBox="1"/>
          <p:nvPr/>
        </p:nvSpPr>
        <p:spPr>
          <a:xfrm>
            <a:off x="4432803" y="404857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86"/>
          <p:cNvSpPr txBox="1"/>
          <p:nvPr/>
        </p:nvSpPr>
        <p:spPr>
          <a:xfrm>
            <a:off x="3592305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86"/>
          <p:cNvSpPr txBox="1"/>
          <p:nvPr/>
        </p:nvSpPr>
        <p:spPr>
          <a:xfrm>
            <a:off x="5127945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86"/>
          <p:cNvSpPr txBox="1"/>
          <p:nvPr/>
        </p:nvSpPr>
        <p:spPr>
          <a:xfrm>
            <a:off x="6216403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86"/>
          <p:cNvSpPr txBox="1"/>
          <p:nvPr/>
        </p:nvSpPr>
        <p:spPr>
          <a:xfrm>
            <a:off x="7785870" y="349526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86"/>
          <p:cNvSpPr txBox="1"/>
          <p:nvPr/>
        </p:nvSpPr>
        <p:spPr>
          <a:xfrm>
            <a:off x="3815834" y="452416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86"/>
          <p:cNvSpPr txBox="1"/>
          <p:nvPr/>
        </p:nvSpPr>
        <p:spPr>
          <a:xfrm>
            <a:off x="5776005" y="452816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86"/>
          <p:cNvSpPr txBox="1"/>
          <p:nvPr/>
        </p:nvSpPr>
        <p:spPr>
          <a:xfrm>
            <a:off x="7467803" y="371112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41" name="Google Shape;1541;p86"/>
          <p:cNvCxnSpPr/>
          <p:nvPr/>
        </p:nvCxnSpPr>
        <p:spPr>
          <a:xfrm>
            <a:off x="3427041" y="2866625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2" name="Google Shape;1542;p86"/>
          <p:cNvCxnSpPr/>
          <p:nvPr/>
        </p:nvCxnSpPr>
        <p:spPr>
          <a:xfrm>
            <a:off x="6054913" y="28635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3" name="Google Shape;1543;p86"/>
          <p:cNvCxnSpPr/>
          <p:nvPr/>
        </p:nvCxnSpPr>
        <p:spPr>
          <a:xfrm rot="10800000">
            <a:off x="3513216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4" name="Google Shape;1544;p86"/>
          <p:cNvCxnSpPr/>
          <p:nvPr/>
        </p:nvCxnSpPr>
        <p:spPr>
          <a:xfrm rot="10800000">
            <a:off x="5064777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5" name="Google Shape;1545;p86"/>
          <p:cNvCxnSpPr/>
          <p:nvPr/>
        </p:nvCxnSpPr>
        <p:spPr>
          <a:xfrm rot="10800000">
            <a:off x="6150808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6" name="Google Shape;1546;p86"/>
          <p:cNvCxnSpPr/>
          <p:nvPr/>
        </p:nvCxnSpPr>
        <p:spPr>
          <a:xfrm rot="10800000">
            <a:off x="7242766" y="3613002"/>
            <a:ext cx="13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7" name="Google Shape;1547;p86"/>
          <p:cNvCxnSpPr/>
          <p:nvPr/>
        </p:nvCxnSpPr>
        <p:spPr>
          <a:xfrm rot="10800000">
            <a:off x="3516988" y="4638685"/>
            <a:ext cx="86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8" name="Google Shape;1548;p86"/>
          <p:cNvCxnSpPr/>
          <p:nvPr/>
        </p:nvCxnSpPr>
        <p:spPr>
          <a:xfrm rot="10800000">
            <a:off x="5053026" y="4638685"/>
            <a:ext cx="176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9" name="Google Shape;1549;p86"/>
          <p:cNvCxnSpPr/>
          <p:nvPr/>
        </p:nvCxnSpPr>
        <p:spPr>
          <a:xfrm rot="10800000">
            <a:off x="7408249" y="4027341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0" name="Google Shape;1550;p86"/>
          <p:cNvCxnSpPr/>
          <p:nvPr/>
        </p:nvCxnSpPr>
        <p:spPr>
          <a:xfrm rot="10800000">
            <a:off x="4247435" y="1699193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1" name="Google Shape;1551;p86"/>
          <p:cNvCxnSpPr/>
          <p:nvPr/>
        </p:nvCxnSpPr>
        <p:spPr>
          <a:xfrm rot="10800000">
            <a:off x="5457323" y="2516286"/>
            <a:ext cx="2254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2" name="Google Shape;1552;p86"/>
          <p:cNvCxnSpPr/>
          <p:nvPr/>
        </p:nvCxnSpPr>
        <p:spPr>
          <a:xfrm rot="10800000">
            <a:off x="3336202" y="2516287"/>
            <a:ext cx="178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3" name="Google Shape;1553;p86"/>
          <p:cNvCxnSpPr/>
          <p:nvPr/>
        </p:nvCxnSpPr>
        <p:spPr>
          <a:xfrm>
            <a:off x="4493841" y="3906519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87"/>
          <p:cNvSpPr txBox="1"/>
          <p:nvPr>
            <p:ph idx="1" type="body"/>
          </p:nvPr>
        </p:nvSpPr>
        <p:spPr>
          <a:xfrm>
            <a:off x="324000" y="1092675"/>
            <a:ext cx="8725200" cy="104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a) Use each letter once to fill in the gaps in the calculations.</a:t>
            </a:r>
            <a:br>
              <a:rPr lang="en-GB" sz="1800"/>
            </a:br>
            <a:r>
              <a:rPr lang="en-GB" sz="1800"/>
              <a:t>     Multiple solutions exist.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Alternative solution:</a:t>
            </a:r>
            <a:endParaRPr sz="1800"/>
          </a:p>
        </p:txBody>
      </p:sp>
      <p:sp>
        <p:nvSpPr>
          <p:cNvPr id="1559" name="Google Shape;1559;p87"/>
          <p:cNvSpPr txBox="1"/>
          <p:nvPr>
            <p:ph idx="1" type="body"/>
          </p:nvPr>
        </p:nvSpPr>
        <p:spPr>
          <a:xfrm>
            <a:off x="324000" y="759300"/>
            <a:ext cx="8496000" cy="2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letters inside each shape represents its area. </a:t>
            </a:r>
            <a:endParaRPr sz="1800"/>
          </a:p>
        </p:txBody>
      </p:sp>
      <p:sp>
        <p:nvSpPr>
          <p:cNvPr id="1560" name="Google Shape;1560;p87"/>
          <p:cNvSpPr txBox="1"/>
          <p:nvPr/>
        </p:nvSpPr>
        <p:spPr>
          <a:xfrm>
            <a:off x="662823" y="2616775"/>
            <a:ext cx="15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+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87"/>
          <p:cNvSpPr txBox="1"/>
          <p:nvPr/>
        </p:nvSpPr>
        <p:spPr>
          <a:xfrm>
            <a:off x="662823" y="3073975"/>
            <a:ext cx="15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+      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87"/>
          <p:cNvSpPr txBox="1"/>
          <p:nvPr/>
        </p:nvSpPr>
        <p:spPr>
          <a:xfrm>
            <a:off x="662823" y="3531175"/>
            <a:ext cx="15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÷ 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87"/>
          <p:cNvSpPr txBox="1"/>
          <p:nvPr/>
        </p:nvSpPr>
        <p:spPr>
          <a:xfrm>
            <a:off x="662823" y="2159575"/>
            <a:ext cx="150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 =      +      +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87"/>
          <p:cNvSpPr txBox="1"/>
          <p:nvPr/>
        </p:nvSpPr>
        <p:spPr>
          <a:xfrm>
            <a:off x="1493128" y="2182550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5" name="Google Shape;1565;p87"/>
          <p:cNvSpPr txBox="1"/>
          <p:nvPr/>
        </p:nvSpPr>
        <p:spPr>
          <a:xfrm>
            <a:off x="1942608" y="2182550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6" name="Google Shape;1566;p87"/>
          <p:cNvSpPr txBox="1"/>
          <p:nvPr/>
        </p:nvSpPr>
        <p:spPr>
          <a:xfrm>
            <a:off x="1098183" y="2627299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7" name="Google Shape;1567;p87"/>
          <p:cNvSpPr txBox="1"/>
          <p:nvPr/>
        </p:nvSpPr>
        <p:spPr>
          <a:xfrm>
            <a:off x="1479183" y="2627299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8" name="Google Shape;1568;p87"/>
          <p:cNvSpPr txBox="1"/>
          <p:nvPr/>
        </p:nvSpPr>
        <p:spPr>
          <a:xfrm>
            <a:off x="1110634" y="3065823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9" name="Google Shape;1569;p87"/>
          <p:cNvSpPr txBox="1"/>
          <p:nvPr/>
        </p:nvSpPr>
        <p:spPr>
          <a:xfrm>
            <a:off x="1491634" y="3078274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0" name="Google Shape;1570;p87"/>
          <p:cNvSpPr txBox="1"/>
          <p:nvPr/>
        </p:nvSpPr>
        <p:spPr>
          <a:xfrm>
            <a:off x="1110634" y="3535474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1" name="Google Shape;1571;p87"/>
          <p:cNvSpPr txBox="1"/>
          <p:nvPr/>
        </p:nvSpPr>
        <p:spPr>
          <a:xfrm>
            <a:off x="1096629" y="2174350"/>
            <a:ext cx="33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2" name="Google Shape;1572;p87"/>
          <p:cNvSpPr txBox="1"/>
          <p:nvPr/>
        </p:nvSpPr>
        <p:spPr>
          <a:xfrm>
            <a:off x="314475" y="3916475"/>
            <a:ext cx="305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other alternatives, find the area of each shape and check that all the calculations give 15.</a:t>
            </a:r>
            <a:endParaRPr baseline="30000" sz="16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3" name="Google Shape;1573;p87"/>
          <p:cNvSpPr txBox="1"/>
          <p:nvPr>
            <p:ph idx="2" type="subTitle"/>
          </p:nvPr>
        </p:nvSpPr>
        <p:spPr>
          <a:xfrm>
            <a:off x="1570025" y="144193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trapezia</a:t>
            </a:r>
            <a:endParaRPr/>
          </a:p>
        </p:txBody>
      </p:sp>
      <p:pic>
        <p:nvPicPr>
          <p:cNvPr id="1574" name="Google Shape;1574;p87"/>
          <p:cNvPicPr preferRelativeResize="0"/>
          <p:nvPr/>
        </p:nvPicPr>
        <p:blipFill rotWithShape="1">
          <a:blip r:embed="rId3">
            <a:alphaModFix/>
          </a:blip>
          <a:srcRect b="0" l="1848" r="40554" t="70674"/>
          <a:stretch/>
        </p:blipFill>
        <p:spPr>
          <a:xfrm rot="10800000">
            <a:off x="5460383" y="1614500"/>
            <a:ext cx="3143335" cy="917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87"/>
          <p:cNvPicPr preferRelativeResize="0"/>
          <p:nvPr/>
        </p:nvPicPr>
        <p:blipFill rotWithShape="1">
          <a:blip r:embed="rId3">
            <a:alphaModFix/>
          </a:blip>
          <a:srcRect b="0" l="64839" r="0" t="70674"/>
          <a:stretch/>
        </p:blipFill>
        <p:spPr>
          <a:xfrm rot="10800000">
            <a:off x="3195134" y="1591622"/>
            <a:ext cx="1970194" cy="941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6" name="Google Shape;1576;p87"/>
          <p:cNvPicPr preferRelativeResize="0"/>
          <p:nvPr/>
        </p:nvPicPr>
        <p:blipFill rotWithShape="1">
          <a:blip r:embed="rId3">
            <a:alphaModFix/>
          </a:blip>
          <a:srcRect b="35631" l="0" r="0" t="31675"/>
          <a:stretch/>
        </p:blipFill>
        <p:spPr>
          <a:xfrm rot="10800000">
            <a:off x="3135588" y="2745294"/>
            <a:ext cx="5603412" cy="1050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87"/>
          <p:cNvPicPr preferRelativeResize="0"/>
          <p:nvPr/>
        </p:nvPicPr>
        <p:blipFill rotWithShape="1">
          <a:blip r:embed="rId3">
            <a:alphaModFix/>
          </a:blip>
          <a:srcRect b="67474" l="6820" r="76093" t="0"/>
          <a:stretch/>
        </p:blipFill>
        <p:spPr>
          <a:xfrm rot="10800000">
            <a:off x="7353297" y="3893900"/>
            <a:ext cx="957401" cy="10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87"/>
          <p:cNvPicPr preferRelativeResize="0"/>
          <p:nvPr/>
        </p:nvPicPr>
        <p:blipFill rotWithShape="1">
          <a:blip r:embed="rId3">
            <a:alphaModFix/>
          </a:blip>
          <a:srcRect b="67474" l="32917" r="0" t="0"/>
          <a:stretch/>
        </p:blipFill>
        <p:spPr>
          <a:xfrm rot="10800000">
            <a:off x="3146702" y="3703400"/>
            <a:ext cx="3758923" cy="10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87"/>
          <p:cNvSpPr txBox="1"/>
          <p:nvPr/>
        </p:nvSpPr>
        <p:spPr>
          <a:xfrm>
            <a:off x="4270035" y="190211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aseline="30000"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87"/>
          <p:cNvSpPr txBox="1"/>
          <p:nvPr/>
        </p:nvSpPr>
        <p:spPr>
          <a:xfrm>
            <a:off x="6754115" y="190211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87"/>
          <p:cNvSpPr txBox="1"/>
          <p:nvPr/>
        </p:nvSpPr>
        <p:spPr>
          <a:xfrm>
            <a:off x="3580215" y="301836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87"/>
          <p:cNvSpPr txBox="1"/>
          <p:nvPr/>
        </p:nvSpPr>
        <p:spPr>
          <a:xfrm>
            <a:off x="4906196" y="302393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87"/>
          <p:cNvSpPr txBox="1"/>
          <p:nvPr/>
        </p:nvSpPr>
        <p:spPr>
          <a:xfrm>
            <a:off x="6130712" y="312539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87"/>
          <p:cNvSpPr txBox="1"/>
          <p:nvPr/>
        </p:nvSpPr>
        <p:spPr>
          <a:xfrm>
            <a:off x="7859292" y="3051798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87"/>
          <p:cNvSpPr txBox="1"/>
          <p:nvPr/>
        </p:nvSpPr>
        <p:spPr>
          <a:xfrm>
            <a:off x="3968820" y="4146770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87"/>
          <p:cNvSpPr txBox="1"/>
          <p:nvPr/>
        </p:nvSpPr>
        <p:spPr>
          <a:xfrm>
            <a:off x="5584790" y="411890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87"/>
          <p:cNvSpPr txBox="1"/>
          <p:nvPr/>
        </p:nvSpPr>
        <p:spPr>
          <a:xfrm>
            <a:off x="7620533" y="4044372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87"/>
          <p:cNvSpPr txBox="1"/>
          <p:nvPr/>
        </p:nvSpPr>
        <p:spPr>
          <a:xfrm>
            <a:off x="4308813" y="138112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87"/>
          <p:cNvSpPr txBox="1"/>
          <p:nvPr/>
        </p:nvSpPr>
        <p:spPr>
          <a:xfrm>
            <a:off x="4121702" y="239813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0" name="Google Shape;1590;p87"/>
          <p:cNvCxnSpPr/>
          <p:nvPr/>
        </p:nvCxnSpPr>
        <p:spPr>
          <a:xfrm>
            <a:off x="5158873" y="17584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1" name="Google Shape;1591;p87"/>
          <p:cNvSpPr txBox="1"/>
          <p:nvPr/>
        </p:nvSpPr>
        <p:spPr>
          <a:xfrm>
            <a:off x="5087324" y="190884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2" name="Google Shape;1592;p87"/>
          <p:cNvCxnSpPr/>
          <p:nvPr/>
        </p:nvCxnSpPr>
        <p:spPr>
          <a:xfrm>
            <a:off x="8612072" y="17584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3" name="Google Shape;1593;p87"/>
          <p:cNvSpPr txBox="1"/>
          <p:nvPr/>
        </p:nvSpPr>
        <p:spPr>
          <a:xfrm>
            <a:off x="8551669" y="190884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4" name="Google Shape;1594;p87"/>
          <p:cNvCxnSpPr/>
          <p:nvPr/>
        </p:nvCxnSpPr>
        <p:spPr>
          <a:xfrm>
            <a:off x="8600927" y="2874717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5" name="Google Shape;1595;p87"/>
          <p:cNvSpPr txBox="1"/>
          <p:nvPr/>
        </p:nvSpPr>
        <p:spPr>
          <a:xfrm>
            <a:off x="8534951" y="302509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6" name="Google Shape;1596;p87"/>
          <p:cNvCxnSpPr/>
          <p:nvPr/>
        </p:nvCxnSpPr>
        <p:spPr>
          <a:xfrm>
            <a:off x="4581663" y="28635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7" name="Google Shape;1597;p87"/>
          <p:cNvSpPr txBox="1"/>
          <p:nvPr/>
        </p:nvSpPr>
        <p:spPr>
          <a:xfrm>
            <a:off x="4348371" y="3003183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8" name="Google Shape;1598;p87"/>
          <p:cNvCxnSpPr/>
          <p:nvPr/>
        </p:nvCxnSpPr>
        <p:spPr>
          <a:xfrm>
            <a:off x="5946117" y="3880525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599" name="Google Shape;1599;p87"/>
          <p:cNvSpPr txBox="1"/>
          <p:nvPr/>
        </p:nvSpPr>
        <p:spPr>
          <a:xfrm>
            <a:off x="5891286" y="407106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0" name="Google Shape;1600;p87"/>
          <p:cNvCxnSpPr/>
          <p:nvPr/>
        </p:nvCxnSpPr>
        <p:spPr>
          <a:xfrm>
            <a:off x="7347310" y="4072533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1" name="Google Shape;1601;p87"/>
          <p:cNvSpPr txBox="1"/>
          <p:nvPr/>
        </p:nvSpPr>
        <p:spPr>
          <a:xfrm>
            <a:off x="7122275" y="4222907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87"/>
          <p:cNvSpPr txBox="1"/>
          <p:nvPr/>
        </p:nvSpPr>
        <p:spPr>
          <a:xfrm>
            <a:off x="6481800" y="2404996"/>
            <a:ext cx="5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87"/>
          <p:cNvSpPr txBox="1"/>
          <p:nvPr/>
        </p:nvSpPr>
        <p:spPr>
          <a:xfrm>
            <a:off x="3190595" y="299171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87"/>
          <p:cNvSpPr txBox="1"/>
          <p:nvPr/>
        </p:nvSpPr>
        <p:spPr>
          <a:xfrm>
            <a:off x="5833342" y="302985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87"/>
          <p:cNvSpPr txBox="1"/>
          <p:nvPr/>
        </p:nvSpPr>
        <p:spPr>
          <a:xfrm>
            <a:off x="4432803" y="404857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87"/>
          <p:cNvSpPr txBox="1"/>
          <p:nvPr/>
        </p:nvSpPr>
        <p:spPr>
          <a:xfrm>
            <a:off x="3592305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87"/>
          <p:cNvSpPr txBox="1"/>
          <p:nvPr/>
        </p:nvSpPr>
        <p:spPr>
          <a:xfrm>
            <a:off x="5127945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87"/>
          <p:cNvSpPr txBox="1"/>
          <p:nvPr/>
        </p:nvSpPr>
        <p:spPr>
          <a:xfrm>
            <a:off x="6216403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87"/>
          <p:cNvSpPr txBox="1"/>
          <p:nvPr/>
        </p:nvSpPr>
        <p:spPr>
          <a:xfrm>
            <a:off x="7785870" y="349526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87"/>
          <p:cNvSpPr txBox="1"/>
          <p:nvPr/>
        </p:nvSpPr>
        <p:spPr>
          <a:xfrm>
            <a:off x="3815834" y="452416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87"/>
          <p:cNvSpPr txBox="1"/>
          <p:nvPr/>
        </p:nvSpPr>
        <p:spPr>
          <a:xfrm>
            <a:off x="5776005" y="452816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2" name="Google Shape;1612;p87"/>
          <p:cNvSpPr txBox="1"/>
          <p:nvPr/>
        </p:nvSpPr>
        <p:spPr>
          <a:xfrm>
            <a:off x="7467803" y="371112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3" name="Google Shape;1613;p87"/>
          <p:cNvCxnSpPr/>
          <p:nvPr/>
        </p:nvCxnSpPr>
        <p:spPr>
          <a:xfrm>
            <a:off x="3427041" y="2866625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4" name="Google Shape;1614;p87"/>
          <p:cNvCxnSpPr/>
          <p:nvPr/>
        </p:nvCxnSpPr>
        <p:spPr>
          <a:xfrm>
            <a:off x="6054913" y="28635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5" name="Google Shape;1615;p87"/>
          <p:cNvCxnSpPr/>
          <p:nvPr/>
        </p:nvCxnSpPr>
        <p:spPr>
          <a:xfrm rot="10800000">
            <a:off x="3513216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6" name="Google Shape;1616;p87"/>
          <p:cNvCxnSpPr/>
          <p:nvPr/>
        </p:nvCxnSpPr>
        <p:spPr>
          <a:xfrm rot="10800000">
            <a:off x="5064777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7" name="Google Shape;1617;p87"/>
          <p:cNvCxnSpPr/>
          <p:nvPr/>
        </p:nvCxnSpPr>
        <p:spPr>
          <a:xfrm rot="10800000">
            <a:off x="6150808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8" name="Google Shape;1618;p87"/>
          <p:cNvCxnSpPr/>
          <p:nvPr/>
        </p:nvCxnSpPr>
        <p:spPr>
          <a:xfrm rot="10800000">
            <a:off x="7242766" y="3613002"/>
            <a:ext cx="13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9" name="Google Shape;1619;p87"/>
          <p:cNvCxnSpPr/>
          <p:nvPr/>
        </p:nvCxnSpPr>
        <p:spPr>
          <a:xfrm rot="10800000">
            <a:off x="3516988" y="4638685"/>
            <a:ext cx="86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0" name="Google Shape;1620;p87"/>
          <p:cNvCxnSpPr/>
          <p:nvPr/>
        </p:nvCxnSpPr>
        <p:spPr>
          <a:xfrm rot="10800000">
            <a:off x="5053026" y="4638685"/>
            <a:ext cx="176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1" name="Google Shape;1621;p87"/>
          <p:cNvCxnSpPr/>
          <p:nvPr/>
        </p:nvCxnSpPr>
        <p:spPr>
          <a:xfrm rot="10800000">
            <a:off x="7408249" y="4027341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2" name="Google Shape;1622;p87"/>
          <p:cNvCxnSpPr/>
          <p:nvPr/>
        </p:nvCxnSpPr>
        <p:spPr>
          <a:xfrm rot="10800000">
            <a:off x="4247435" y="1699193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3" name="Google Shape;1623;p87"/>
          <p:cNvCxnSpPr/>
          <p:nvPr/>
        </p:nvCxnSpPr>
        <p:spPr>
          <a:xfrm rot="10800000">
            <a:off x="5457323" y="2516286"/>
            <a:ext cx="2254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4" name="Google Shape;1624;p87"/>
          <p:cNvCxnSpPr/>
          <p:nvPr/>
        </p:nvCxnSpPr>
        <p:spPr>
          <a:xfrm rot="10800000">
            <a:off x="3336202" y="2516287"/>
            <a:ext cx="178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25" name="Google Shape;1625;p87"/>
          <p:cNvCxnSpPr/>
          <p:nvPr/>
        </p:nvCxnSpPr>
        <p:spPr>
          <a:xfrm>
            <a:off x="4493841" y="3906519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0" name="Google Shape;1630;p88"/>
          <p:cNvPicPr preferRelativeResize="0"/>
          <p:nvPr/>
        </p:nvPicPr>
        <p:blipFill rotWithShape="1">
          <a:blip r:embed="rId3">
            <a:alphaModFix/>
          </a:blip>
          <a:srcRect b="0" l="1848" r="40554" t="70674"/>
          <a:stretch/>
        </p:blipFill>
        <p:spPr>
          <a:xfrm rot="10800000">
            <a:off x="5460383" y="1614500"/>
            <a:ext cx="3143335" cy="917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1" name="Google Shape;1631;p88"/>
          <p:cNvPicPr preferRelativeResize="0"/>
          <p:nvPr/>
        </p:nvPicPr>
        <p:blipFill rotWithShape="1">
          <a:blip r:embed="rId3">
            <a:alphaModFix/>
          </a:blip>
          <a:srcRect b="0" l="64839" r="0" t="70674"/>
          <a:stretch/>
        </p:blipFill>
        <p:spPr>
          <a:xfrm rot="10800000">
            <a:off x="3195134" y="1591622"/>
            <a:ext cx="1970194" cy="941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2" name="Google Shape;1632;p88"/>
          <p:cNvPicPr preferRelativeResize="0"/>
          <p:nvPr/>
        </p:nvPicPr>
        <p:blipFill rotWithShape="1">
          <a:blip r:embed="rId3">
            <a:alphaModFix/>
          </a:blip>
          <a:srcRect b="35631" l="0" r="0" t="31675"/>
          <a:stretch/>
        </p:blipFill>
        <p:spPr>
          <a:xfrm rot="10800000">
            <a:off x="3135588" y="2745294"/>
            <a:ext cx="5603412" cy="1050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3" name="Google Shape;1633;p88"/>
          <p:cNvPicPr preferRelativeResize="0"/>
          <p:nvPr/>
        </p:nvPicPr>
        <p:blipFill rotWithShape="1">
          <a:blip r:embed="rId3">
            <a:alphaModFix/>
          </a:blip>
          <a:srcRect b="67474" l="6820" r="76093" t="0"/>
          <a:stretch/>
        </p:blipFill>
        <p:spPr>
          <a:xfrm rot="10800000">
            <a:off x="7353297" y="3893900"/>
            <a:ext cx="957401" cy="10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88"/>
          <p:cNvPicPr preferRelativeResize="0"/>
          <p:nvPr/>
        </p:nvPicPr>
        <p:blipFill rotWithShape="1">
          <a:blip r:embed="rId3">
            <a:alphaModFix/>
          </a:blip>
          <a:srcRect b="67474" l="32917" r="0" t="0"/>
          <a:stretch/>
        </p:blipFill>
        <p:spPr>
          <a:xfrm rot="10800000">
            <a:off x="3146702" y="3703400"/>
            <a:ext cx="3758923" cy="10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88"/>
          <p:cNvSpPr txBox="1"/>
          <p:nvPr/>
        </p:nvSpPr>
        <p:spPr>
          <a:xfrm>
            <a:off x="4270035" y="190211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aseline="30000"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88"/>
          <p:cNvSpPr txBox="1"/>
          <p:nvPr/>
        </p:nvSpPr>
        <p:spPr>
          <a:xfrm>
            <a:off x="6754115" y="190211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88"/>
          <p:cNvSpPr txBox="1"/>
          <p:nvPr/>
        </p:nvSpPr>
        <p:spPr>
          <a:xfrm>
            <a:off x="3580215" y="301836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88"/>
          <p:cNvSpPr txBox="1"/>
          <p:nvPr/>
        </p:nvSpPr>
        <p:spPr>
          <a:xfrm>
            <a:off x="4906196" y="302393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88"/>
          <p:cNvSpPr txBox="1"/>
          <p:nvPr/>
        </p:nvSpPr>
        <p:spPr>
          <a:xfrm>
            <a:off x="6130712" y="312539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88"/>
          <p:cNvSpPr txBox="1"/>
          <p:nvPr/>
        </p:nvSpPr>
        <p:spPr>
          <a:xfrm>
            <a:off x="7859292" y="3051798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88"/>
          <p:cNvSpPr txBox="1"/>
          <p:nvPr/>
        </p:nvSpPr>
        <p:spPr>
          <a:xfrm>
            <a:off x="3968820" y="4146770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88"/>
          <p:cNvSpPr txBox="1"/>
          <p:nvPr/>
        </p:nvSpPr>
        <p:spPr>
          <a:xfrm>
            <a:off x="5584790" y="411890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88"/>
          <p:cNvSpPr txBox="1"/>
          <p:nvPr/>
        </p:nvSpPr>
        <p:spPr>
          <a:xfrm>
            <a:off x="7620533" y="4044372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88"/>
          <p:cNvSpPr txBox="1"/>
          <p:nvPr/>
        </p:nvSpPr>
        <p:spPr>
          <a:xfrm>
            <a:off x="4308813" y="138112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88"/>
          <p:cNvSpPr txBox="1"/>
          <p:nvPr/>
        </p:nvSpPr>
        <p:spPr>
          <a:xfrm>
            <a:off x="4121702" y="239813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6" name="Google Shape;1646;p88"/>
          <p:cNvCxnSpPr/>
          <p:nvPr/>
        </p:nvCxnSpPr>
        <p:spPr>
          <a:xfrm>
            <a:off x="5158873" y="17584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7" name="Google Shape;1647;p88"/>
          <p:cNvSpPr txBox="1"/>
          <p:nvPr/>
        </p:nvSpPr>
        <p:spPr>
          <a:xfrm>
            <a:off x="5087324" y="190884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8" name="Google Shape;1648;p88"/>
          <p:cNvCxnSpPr/>
          <p:nvPr/>
        </p:nvCxnSpPr>
        <p:spPr>
          <a:xfrm>
            <a:off x="8612072" y="17584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9" name="Google Shape;1649;p88"/>
          <p:cNvSpPr txBox="1"/>
          <p:nvPr/>
        </p:nvSpPr>
        <p:spPr>
          <a:xfrm>
            <a:off x="8551669" y="190884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0" name="Google Shape;1650;p88"/>
          <p:cNvCxnSpPr/>
          <p:nvPr/>
        </p:nvCxnSpPr>
        <p:spPr>
          <a:xfrm>
            <a:off x="8600927" y="2874717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1" name="Google Shape;1651;p88"/>
          <p:cNvSpPr txBox="1"/>
          <p:nvPr/>
        </p:nvSpPr>
        <p:spPr>
          <a:xfrm>
            <a:off x="8534951" y="302509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2" name="Google Shape;1652;p88"/>
          <p:cNvCxnSpPr/>
          <p:nvPr/>
        </p:nvCxnSpPr>
        <p:spPr>
          <a:xfrm>
            <a:off x="4581663" y="28635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3" name="Google Shape;1653;p88"/>
          <p:cNvSpPr txBox="1"/>
          <p:nvPr/>
        </p:nvSpPr>
        <p:spPr>
          <a:xfrm>
            <a:off x="4348371" y="3003183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4" name="Google Shape;1654;p88"/>
          <p:cNvCxnSpPr/>
          <p:nvPr/>
        </p:nvCxnSpPr>
        <p:spPr>
          <a:xfrm>
            <a:off x="5946117" y="3880525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655" name="Google Shape;1655;p88"/>
          <p:cNvSpPr txBox="1"/>
          <p:nvPr/>
        </p:nvSpPr>
        <p:spPr>
          <a:xfrm>
            <a:off x="5891286" y="407106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6" name="Google Shape;1656;p88"/>
          <p:cNvCxnSpPr/>
          <p:nvPr/>
        </p:nvCxnSpPr>
        <p:spPr>
          <a:xfrm>
            <a:off x="7347310" y="4072533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7" name="Google Shape;1657;p88"/>
          <p:cNvSpPr txBox="1"/>
          <p:nvPr/>
        </p:nvSpPr>
        <p:spPr>
          <a:xfrm>
            <a:off x="7122275" y="4222907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88"/>
          <p:cNvSpPr txBox="1"/>
          <p:nvPr/>
        </p:nvSpPr>
        <p:spPr>
          <a:xfrm>
            <a:off x="6481800" y="2404996"/>
            <a:ext cx="5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88"/>
          <p:cNvSpPr txBox="1"/>
          <p:nvPr/>
        </p:nvSpPr>
        <p:spPr>
          <a:xfrm>
            <a:off x="3190595" y="299171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88"/>
          <p:cNvSpPr txBox="1"/>
          <p:nvPr/>
        </p:nvSpPr>
        <p:spPr>
          <a:xfrm>
            <a:off x="5833342" y="3029856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88"/>
          <p:cNvSpPr txBox="1"/>
          <p:nvPr/>
        </p:nvSpPr>
        <p:spPr>
          <a:xfrm>
            <a:off x="4432803" y="404857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88"/>
          <p:cNvSpPr txBox="1"/>
          <p:nvPr/>
        </p:nvSpPr>
        <p:spPr>
          <a:xfrm>
            <a:off x="3592305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88"/>
          <p:cNvSpPr txBox="1"/>
          <p:nvPr/>
        </p:nvSpPr>
        <p:spPr>
          <a:xfrm>
            <a:off x="5127945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88"/>
          <p:cNvSpPr txBox="1"/>
          <p:nvPr/>
        </p:nvSpPr>
        <p:spPr>
          <a:xfrm>
            <a:off x="6216403" y="3517555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88"/>
          <p:cNvSpPr txBox="1"/>
          <p:nvPr/>
        </p:nvSpPr>
        <p:spPr>
          <a:xfrm>
            <a:off x="7785870" y="3495264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88"/>
          <p:cNvSpPr txBox="1"/>
          <p:nvPr/>
        </p:nvSpPr>
        <p:spPr>
          <a:xfrm>
            <a:off x="3815834" y="452416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88"/>
          <p:cNvSpPr txBox="1"/>
          <p:nvPr/>
        </p:nvSpPr>
        <p:spPr>
          <a:xfrm>
            <a:off x="5776005" y="4528161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88"/>
          <p:cNvSpPr txBox="1"/>
          <p:nvPr/>
        </p:nvSpPr>
        <p:spPr>
          <a:xfrm>
            <a:off x="7467803" y="3711129"/>
            <a:ext cx="2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9" name="Google Shape;1669;p88"/>
          <p:cNvCxnSpPr/>
          <p:nvPr/>
        </p:nvCxnSpPr>
        <p:spPr>
          <a:xfrm>
            <a:off x="3427041" y="2866625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0" name="Google Shape;1670;p88"/>
          <p:cNvCxnSpPr/>
          <p:nvPr/>
        </p:nvCxnSpPr>
        <p:spPr>
          <a:xfrm>
            <a:off x="6054913" y="2863571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1" name="Google Shape;1671;p88"/>
          <p:cNvCxnSpPr/>
          <p:nvPr/>
        </p:nvCxnSpPr>
        <p:spPr>
          <a:xfrm rot="10800000">
            <a:off x="3513216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2" name="Google Shape;1672;p88"/>
          <p:cNvCxnSpPr/>
          <p:nvPr/>
        </p:nvCxnSpPr>
        <p:spPr>
          <a:xfrm rot="10800000">
            <a:off x="5064777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3" name="Google Shape;1673;p88"/>
          <p:cNvCxnSpPr/>
          <p:nvPr/>
        </p:nvCxnSpPr>
        <p:spPr>
          <a:xfrm rot="10800000">
            <a:off x="6150808" y="3613008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4" name="Google Shape;1674;p88"/>
          <p:cNvCxnSpPr/>
          <p:nvPr/>
        </p:nvCxnSpPr>
        <p:spPr>
          <a:xfrm rot="10800000">
            <a:off x="7242766" y="3613002"/>
            <a:ext cx="13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5" name="Google Shape;1675;p88"/>
          <p:cNvCxnSpPr/>
          <p:nvPr/>
        </p:nvCxnSpPr>
        <p:spPr>
          <a:xfrm rot="10800000">
            <a:off x="3516988" y="4638685"/>
            <a:ext cx="86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6" name="Google Shape;1676;p88"/>
          <p:cNvCxnSpPr/>
          <p:nvPr/>
        </p:nvCxnSpPr>
        <p:spPr>
          <a:xfrm rot="10800000">
            <a:off x="5053026" y="4638685"/>
            <a:ext cx="1765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7" name="Google Shape;1677;p88"/>
          <p:cNvCxnSpPr/>
          <p:nvPr/>
        </p:nvCxnSpPr>
        <p:spPr>
          <a:xfrm rot="10800000">
            <a:off x="7408249" y="4027341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8" name="Google Shape;1678;p88"/>
          <p:cNvCxnSpPr/>
          <p:nvPr/>
        </p:nvCxnSpPr>
        <p:spPr>
          <a:xfrm rot="10800000">
            <a:off x="4247435" y="1699193"/>
            <a:ext cx="42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9" name="Google Shape;1679;p88"/>
          <p:cNvCxnSpPr/>
          <p:nvPr/>
        </p:nvCxnSpPr>
        <p:spPr>
          <a:xfrm rot="10800000">
            <a:off x="5457323" y="2516286"/>
            <a:ext cx="2254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0" name="Google Shape;1680;p88"/>
          <p:cNvCxnSpPr/>
          <p:nvPr/>
        </p:nvCxnSpPr>
        <p:spPr>
          <a:xfrm rot="10800000">
            <a:off x="3336202" y="2516287"/>
            <a:ext cx="1788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1" name="Google Shape;1681;p88"/>
          <p:cNvCxnSpPr/>
          <p:nvPr/>
        </p:nvCxnSpPr>
        <p:spPr>
          <a:xfrm>
            <a:off x="4493841" y="3906519"/>
            <a:ext cx="0" cy="67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2" name="Google Shape;1682;p88"/>
          <p:cNvSpPr txBox="1"/>
          <p:nvPr>
            <p:ph idx="1" type="body"/>
          </p:nvPr>
        </p:nvSpPr>
        <p:spPr>
          <a:xfrm>
            <a:off x="718944" y="2096050"/>
            <a:ext cx="1480200" cy="2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 =         units</a:t>
            </a:r>
            <a:r>
              <a:rPr baseline="30000" lang="en-GB" sz="1600"/>
              <a:t>2</a:t>
            </a:r>
            <a:endParaRPr baseline="30000" sz="1600"/>
          </a:p>
        </p:txBody>
      </p:sp>
      <p:sp>
        <p:nvSpPr>
          <p:cNvPr id="1683" name="Google Shape;1683;p88"/>
          <p:cNvSpPr txBox="1"/>
          <p:nvPr/>
        </p:nvSpPr>
        <p:spPr>
          <a:xfrm>
            <a:off x="1085723" y="1997949"/>
            <a:ext cx="43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baseline="30000"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4" name="Google Shape;1684;p88"/>
          <p:cNvSpPr txBox="1"/>
          <p:nvPr>
            <p:ph idx="1" type="body"/>
          </p:nvPr>
        </p:nvSpPr>
        <p:spPr>
          <a:xfrm>
            <a:off x="324000" y="1626075"/>
            <a:ext cx="2866500" cy="2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Find the value of T.</a:t>
            </a:r>
            <a:endParaRPr sz="1800"/>
          </a:p>
        </p:txBody>
      </p:sp>
      <p:sp>
        <p:nvSpPr>
          <p:cNvPr id="1685" name="Google Shape;1685;p88"/>
          <p:cNvSpPr txBox="1"/>
          <p:nvPr>
            <p:ph idx="2" type="subTitle"/>
          </p:nvPr>
        </p:nvSpPr>
        <p:spPr>
          <a:xfrm>
            <a:off x="1570025" y="144193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trapezia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0" name="Google Shape;1690;p89"/>
          <p:cNvPicPr preferRelativeResize="0"/>
          <p:nvPr/>
        </p:nvPicPr>
        <p:blipFill rotWithShape="1">
          <a:blip r:embed="rId3">
            <a:alphaModFix/>
          </a:blip>
          <a:srcRect b="7098" l="2295" r="82045" t="8789"/>
          <a:stretch/>
        </p:blipFill>
        <p:spPr>
          <a:xfrm rot="-2705261">
            <a:off x="7231555" y="2554857"/>
            <a:ext cx="1012022" cy="2096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1" name="Google Shape;1691;p89"/>
          <p:cNvPicPr preferRelativeResize="0"/>
          <p:nvPr/>
        </p:nvPicPr>
        <p:blipFill rotWithShape="1">
          <a:blip r:embed="rId3">
            <a:alphaModFix/>
          </a:blip>
          <a:srcRect b="30512" l="55418" r="2432" t="15891"/>
          <a:stretch/>
        </p:blipFill>
        <p:spPr>
          <a:xfrm rot="10800000">
            <a:off x="800092" y="2674197"/>
            <a:ext cx="2724026" cy="133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2" name="Google Shape;1692;p89"/>
          <p:cNvPicPr preferRelativeResize="0"/>
          <p:nvPr/>
        </p:nvPicPr>
        <p:blipFill rotWithShape="1">
          <a:blip r:embed="rId3">
            <a:alphaModFix/>
          </a:blip>
          <a:srcRect b="28937" l="29282" r="50731" t="8792"/>
          <a:stretch/>
        </p:blipFill>
        <p:spPr>
          <a:xfrm>
            <a:off x="4348597" y="2652131"/>
            <a:ext cx="1291648" cy="1383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3" name="Google Shape;1693;p89"/>
          <p:cNvCxnSpPr/>
          <p:nvPr/>
        </p:nvCxnSpPr>
        <p:spPr>
          <a:xfrm rot="5400000">
            <a:off x="7248395" y="3068813"/>
            <a:ext cx="578100" cy="57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694" name="Google Shape;1694;p89"/>
          <p:cNvSpPr txBox="1"/>
          <p:nvPr/>
        </p:nvSpPr>
        <p:spPr>
          <a:xfrm>
            <a:off x="4660080" y="3939523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89"/>
          <p:cNvSpPr txBox="1"/>
          <p:nvPr/>
        </p:nvSpPr>
        <p:spPr>
          <a:xfrm>
            <a:off x="3726953" y="3083852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89"/>
          <p:cNvSpPr txBox="1"/>
          <p:nvPr/>
        </p:nvSpPr>
        <p:spPr>
          <a:xfrm>
            <a:off x="5596542" y="3591801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89"/>
          <p:cNvSpPr txBox="1"/>
          <p:nvPr/>
        </p:nvSpPr>
        <p:spPr>
          <a:xfrm>
            <a:off x="5028972" y="2808631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89"/>
          <p:cNvSpPr txBox="1"/>
          <p:nvPr/>
        </p:nvSpPr>
        <p:spPr>
          <a:xfrm>
            <a:off x="6632939" y="3612813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89"/>
          <p:cNvSpPr txBox="1"/>
          <p:nvPr/>
        </p:nvSpPr>
        <p:spPr>
          <a:xfrm>
            <a:off x="8033772" y="2853730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89"/>
          <p:cNvSpPr txBox="1"/>
          <p:nvPr/>
        </p:nvSpPr>
        <p:spPr>
          <a:xfrm>
            <a:off x="7781941" y="3970537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89"/>
          <p:cNvSpPr txBox="1"/>
          <p:nvPr/>
        </p:nvSpPr>
        <p:spPr>
          <a:xfrm rot="-2821961">
            <a:off x="7115734" y="3072750"/>
            <a:ext cx="681797" cy="43111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2" name="Google Shape;1702;p89"/>
          <p:cNvCxnSpPr/>
          <p:nvPr/>
        </p:nvCxnSpPr>
        <p:spPr>
          <a:xfrm>
            <a:off x="4432782" y="3804066"/>
            <a:ext cx="105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3" name="Google Shape;1703;p89"/>
          <p:cNvCxnSpPr/>
          <p:nvPr/>
        </p:nvCxnSpPr>
        <p:spPr>
          <a:xfrm rot="10800000">
            <a:off x="4542172" y="3794331"/>
            <a:ext cx="0" cy="13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4" name="Google Shape;1704;p89"/>
          <p:cNvCxnSpPr/>
          <p:nvPr/>
        </p:nvCxnSpPr>
        <p:spPr>
          <a:xfrm>
            <a:off x="5427239" y="3804066"/>
            <a:ext cx="105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89"/>
          <p:cNvCxnSpPr/>
          <p:nvPr/>
        </p:nvCxnSpPr>
        <p:spPr>
          <a:xfrm rot="10800000">
            <a:off x="5436005" y="3794331"/>
            <a:ext cx="0" cy="13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6" name="Google Shape;1706;p89"/>
          <p:cNvSpPr txBox="1"/>
          <p:nvPr/>
        </p:nvSpPr>
        <p:spPr>
          <a:xfrm>
            <a:off x="844131" y="3904351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89"/>
          <p:cNvSpPr txBox="1"/>
          <p:nvPr/>
        </p:nvSpPr>
        <p:spPr>
          <a:xfrm>
            <a:off x="2200381" y="2315455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8" name="Google Shape;1708;p89"/>
          <p:cNvCxnSpPr/>
          <p:nvPr/>
        </p:nvCxnSpPr>
        <p:spPr>
          <a:xfrm>
            <a:off x="855758" y="2741122"/>
            <a:ext cx="0" cy="114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09" name="Google Shape;1709;p89"/>
          <p:cNvSpPr txBox="1"/>
          <p:nvPr/>
        </p:nvSpPr>
        <p:spPr>
          <a:xfrm>
            <a:off x="251540" y="3017719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0" name="Google Shape;1710;p89"/>
          <p:cNvCxnSpPr/>
          <p:nvPr/>
        </p:nvCxnSpPr>
        <p:spPr>
          <a:xfrm rot="10800000">
            <a:off x="850441" y="2736586"/>
            <a:ext cx="862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11" name="Google Shape;1711;p89"/>
          <p:cNvSpPr txBox="1"/>
          <p:nvPr>
            <p:ph idx="1" type="body"/>
          </p:nvPr>
        </p:nvSpPr>
        <p:spPr>
          <a:xfrm>
            <a:off x="3802322" y="2320171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712" name="Google Shape;1712;p89"/>
          <p:cNvSpPr txBox="1"/>
          <p:nvPr>
            <p:ph idx="1" type="body"/>
          </p:nvPr>
        </p:nvSpPr>
        <p:spPr>
          <a:xfrm>
            <a:off x="6500449" y="2320171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cxnSp>
        <p:nvCxnSpPr>
          <p:cNvPr id="1713" name="Google Shape;1713;p89"/>
          <p:cNvCxnSpPr/>
          <p:nvPr/>
        </p:nvCxnSpPr>
        <p:spPr>
          <a:xfrm flipH="1" rot="10800000">
            <a:off x="1740546" y="2637219"/>
            <a:ext cx="1706100" cy="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4" name="Google Shape;1714;p89"/>
          <p:cNvCxnSpPr/>
          <p:nvPr/>
        </p:nvCxnSpPr>
        <p:spPr>
          <a:xfrm>
            <a:off x="890238" y="3973443"/>
            <a:ext cx="57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5" name="Google Shape;1715;p89"/>
          <p:cNvCxnSpPr/>
          <p:nvPr/>
        </p:nvCxnSpPr>
        <p:spPr>
          <a:xfrm rot="10800000">
            <a:off x="4311958" y="2681696"/>
            <a:ext cx="0" cy="126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6" name="Google Shape;1716;p89"/>
          <p:cNvCxnSpPr/>
          <p:nvPr/>
        </p:nvCxnSpPr>
        <p:spPr>
          <a:xfrm rot="10800000">
            <a:off x="5647234" y="3678596"/>
            <a:ext cx="0" cy="27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7" name="Google Shape;1717;p89"/>
          <p:cNvCxnSpPr/>
          <p:nvPr/>
        </p:nvCxnSpPr>
        <p:spPr>
          <a:xfrm rot="10800000">
            <a:off x="4508796" y="2609421"/>
            <a:ext cx="1122000" cy="9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8" name="Google Shape;1718;p89"/>
          <p:cNvCxnSpPr/>
          <p:nvPr/>
        </p:nvCxnSpPr>
        <p:spPr>
          <a:xfrm flipH="1">
            <a:off x="4428546" y="4041237"/>
            <a:ext cx="11220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9" name="Google Shape;1719;p89"/>
          <p:cNvCxnSpPr/>
          <p:nvPr/>
        </p:nvCxnSpPr>
        <p:spPr>
          <a:xfrm rot="10800000">
            <a:off x="7417646" y="2483099"/>
            <a:ext cx="1401600" cy="138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0" name="Google Shape;1720;p89"/>
          <p:cNvCxnSpPr/>
          <p:nvPr/>
        </p:nvCxnSpPr>
        <p:spPr>
          <a:xfrm flipH="1">
            <a:off x="7560646" y="4081119"/>
            <a:ext cx="1170300" cy="1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1" name="Google Shape;1721;p89"/>
          <p:cNvCxnSpPr/>
          <p:nvPr/>
        </p:nvCxnSpPr>
        <p:spPr>
          <a:xfrm>
            <a:off x="6858702" y="3447946"/>
            <a:ext cx="585300" cy="58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2" name="Google Shape;1722;p89"/>
          <p:cNvSpPr txBox="1"/>
          <p:nvPr/>
        </p:nvSpPr>
        <p:spPr>
          <a:xfrm>
            <a:off x="1080749" y="4481496"/>
            <a:ext cx="11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 cm</a:t>
            </a:r>
            <a:r>
              <a:rPr baseline="30000"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3" name="Google Shape;1723;p89"/>
          <p:cNvSpPr txBox="1"/>
          <p:nvPr/>
        </p:nvSpPr>
        <p:spPr>
          <a:xfrm>
            <a:off x="4509749" y="4481496"/>
            <a:ext cx="11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cm</a:t>
            </a:r>
            <a:r>
              <a:rPr baseline="30000"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4" name="Google Shape;1724;p89"/>
          <p:cNvSpPr txBox="1"/>
          <p:nvPr/>
        </p:nvSpPr>
        <p:spPr>
          <a:xfrm>
            <a:off x="7176749" y="4481496"/>
            <a:ext cx="11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cm</a:t>
            </a:r>
            <a:r>
              <a:rPr baseline="30000"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5" name="Google Shape;1725;p89"/>
          <p:cNvSpPr txBox="1"/>
          <p:nvPr>
            <p:ph idx="1" type="body"/>
          </p:nvPr>
        </p:nvSpPr>
        <p:spPr>
          <a:xfrm>
            <a:off x="324000" y="2350282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726" name="Google Shape;1726;p89"/>
          <p:cNvSpPr txBox="1"/>
          <p:nvPr/>
        </p:nvSpPr>
        <p:spPr>
          <a:xfrm>
            <a:off x="324000" y="759300"/>
            <a:ext cx="8496000" cy="10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of the shapes below are trapezia.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formula or any other method to calculate the area of each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trapezium.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89"/>
          <p:cNvSpPr txBox="1"/>
          <p:nvPr/>
        </p:nvSpPr>
        <p:spPr>
          <a:xfrm>
            <a:off x="596370" y="1167725"/>
            <a:ext cx="5024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a trapezium with parallel sides 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1728" name="Google Shape;1728;p89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368" y="1085897"/>
            <a:ext cx="1621576" cy="4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89"/>
          <p:cNvSpPr txBox="1"/>
          <p:nvPr>
            <p:ph idx="2" type="subTitle"/>
          </p:nvPr>
        </p:nvSpPr>
        <p:spPr>
          <a:xfrm>
            <a:off x="1570025" y="144193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trapezia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9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rectangles, triangles and parallelograms</a:t>
            </a:r>
            <a:endParaRPr/>
          </a:p>
        </p:txBody>
      </p:sp>
      <p:sp>
        <p:nvSpPr>
          <p:cNvPr id="1735" name="Google Shape;1735;p9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trapezia</a:t>
            </a:r>
            <a:endParaRPr/>
          </a:p>
        </p:txBody>
      </p:sp>
      <p:sp>
        <p:nvSpPr>
          <p:cNvPr id="1736" name="Google Shape;1736;p9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of composite shapes</a:t>
            </a:r>
            <a:endParaRPr/>
          </a:p>
        </p:txBody>
      </p:sp>
      <p:sp>
        <p:nvSpPr>
          <p:cNvPr id="1737" name="Google Shape;1737;p9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pic>
        <p:nvPicPr>
          <p:cNvPr id="1738" name="Google Shape;173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25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91"/>
          <p:cNvSpPr/>
          <p:nvPr/>
        </p:nvSpPr>
        <p:spPr>
          <a:xfrm>
            <a:off x="772925" y="1967775"/>
            <a:ext cx="677700" cy="8607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1"/>
          <p:cNvSpPr/>
          <p:nvPr/>
        </p:nvSpPr>
        <p:spPr>
          <a:xfrm>
            <a:off x="769798" y="1973025"/>
            <a:ext cx="1914300" cy="2007300"/>
          </a:xfrm>
          <a:prstGeom prst="corner">
            <a:avLst>
              <a:gd fmla="val 60858" name="adj1"/>
              <a:gd fmla="val 3557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9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A</a:t>
            </a:r>
            <a:r>
              <a:rPr lang="en-GB" sz="2000">
                <a:solidFill>
                  <a:srgbClr val="282828"/>
                </a:solidFill>
              </a:rPr>
              <a:t>reas of </a:t>
            </a:r>
            <a:r>
              <a:rPr lang="en-GB" sz="2000"/>
              <a:t>composite shapes</a:t>
            </a:r>
            <a:r>
              <a:rPr lang="en-GB" sz="2000">
                <a:solidFill>
                  <a:srgbClr val="282828"/>
                </a:solidFill>
              </a:rPr>
              <a:t> can be found by splitting them into shapes whose area can be found.</a:t>
            </a:r>
            <a:endParaRPr/>
          </a:p>
        </p:txBody>
      </p:sp>
      <p:sp>
        <p:nvSpPr>
          <p:cNvPr id="1746" name="Google Shape;1746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composite shapes</a:t>
            </a:r>
            <a:endParaRPr/>
          </a:p>
        </p:txBody>
      </p:sp>
      <p:sp>
        <p:nvSpPr>
          <p:cNvPr id="1747" name="Google Shape;1747;p91"/>
          <p:cNvSpPr txBox="1"/>
          <p:nvPr>
            <p:ph idx="1" type="body"/>
          </p:nvPr>
        </p:nvSpPr>
        <p:spPr>
          <a:xfrm>
            <a:off x="1037117" y="1576158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2</a:t>
            </a:r>
            <a:endParaRPr/>
          </a:p>
        </p:txBody>
      </p:sp>
      <p:sp>
        <p:nvSpPr>
          <p:cNvPr id="1748" name="Google Shape;1748;p91"/>
          <p:cNvSpPr txBox="1"/>
          <p:nvPr>
            <p:ph idx="1" type="body"/>
          </p:nvPr>
        </p:nvSpPr>
        <p:spPr>
          <a:xfrm>
            <a:off x="1594321" y="2255990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3</a:t>
            </a:r>
            <a:endParaRPr/>
          </a:p>
        </p:txBody>
      </p:sp>
      <p:sp>
        <p:nvSpPr>
          <p:cNvPr id="1749" name="Google Shape;1749;p91"/>
          <p:cNvSpPr txBox="1"/>
          <p:nvPr>
            <p:ph idx="1" type="body"/>
          </p:nvPr>
        </p:nvSpPr>
        <p:spPr>
          <a:xfrm>
            <a:off x="1890072" y="2905197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4</a:t>
            </a:r>
            <a:endParaRPr/>
          </a:p>
        </p:txBody>
      </p:sp>
      <p:sp>
        <p:nvSpPr>
          <p:cNvPr id="1750" name="Google Shape;1750;p91"/>
          <p:cNvSpPr txBox="1"/>
          <p:nvPr>
            <p:ph idx="1" type="body"/>
          </p:nvPr>
        </p:nvSpPr>
        <p:spPr>
          <a:xfrm>
            <a:off x="2846728" y="3214478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5</a:t>
            </a:r>
            <a:endParaRPr/>
          </a:p>
        </p:txBody>
      </p:sp>
      <p:sp>
        <p:nvSpPr>
          <p:cNvPr id="1751" name="Google Shape;1751;p91"/>
          <p:cNvSpPr txBox="1"/>
          <p:nvPr>
            <p:ph idx="1" type="body"/>
          </p:nvPr>
        </p:nvSpPr>
        <p:spPr>
          <a:xfrm>
            <a:off x="1656729" y="4080537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6</a:t>
            </a:r>
            <a:endParaRPr/>
          </a:p>
        </p:txBody>
      </p:sp>
      <p:sp>
        <p:nvSpPr>
          <p:cNvPr id="1752" name="Google Shape;1752;p91"/>
          <p:cNvSpPr txBox="1"/>
          <p:nvPr>
            <p:ph idx="1" type="body"/>
          </p:nvPr>
        </p:nvSpPr>
        <p:spPr>
          <a:xfrm>
            <a:off x="468862" y="2892669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8</a:t>
            </a:r>
            <a:endParaRPr/>
          </a:p>
        </p:txBody>
      </p:sp>
      <p:sp>
        <p:nvSpPr>
          <p:cNvPr id="1753" name="Google Shape;1753;p91"/>
          <p:cNvSpPr/>
          <p:nvPr/>
        </p:nvSpPr>
        <p:spPr>
          <a:xfrm>
            <a:off x="3897125" y="1891575"/>
            <a:ext cx="677700" cy="860700"/>
          </a:xfrm>
          <a:prstGeom prst="rect">
            <a:avLst/>
          </a:prstGeom>
          <a:solidFill>
            <a:schemeClr val="accen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91"/>
          <p:cNvSpPr/>
          <p:nvPr/>
        </p:nvSpPr>
        <p:spPr>
          <a:xfrm>
            <a:off x="5350349" y="2447475"/>
            <a:ext cx="1914300" cy="11520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1"/>
          <p:cNvSpPr txBox="1"/>
          <p:nvPr>
            <p:ph idx="1" type="body"/>
          </p:nvPr>
        </p:nvSpPr>
        <p:spPr>
          <a:xfrm>
            <a:off x="3782475" y="4096125"/>
            <a:ext cx="1050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6 units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endParaRPr baseline="30000"/>
          </a:p>
        </p:txBody>
      </p:sp>
      <p:sp>
        <p:nvSpPr>
          <p:cNvPr id="1756" name="Google Shape;1756;p91"/>
          <p:cNvSpPr txBox="1"/>
          <p:nvPr>
            <p:ph idx="1" type="body"/>
          </p:nvPr>
        </p:nvSpPr>
        <p:spPr>
          <a:xfrm>
            <a:off x="5916075" y="4096125"/>
            <a:ext cx="1050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30</a:t>
            </a:r>
            <a:r>
              <a:rPr lang="en-GB" sz="2000">
                <a:solidFill>
                  <a:srgbClr val="282828"/>
                </a:solidFill>
              </a:rPr>
              <a:t> units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endParaRPr baseline="30000"/>
          </a:p>
        </p:txBody>
      </p:sp>
      <p:sp>
        <p:nvSpPr>
          <p:cNvPr id="1757" name="Google Shape;1757;p91"/>
          <p:cNvSpPr txBox="1"/>
          <p:nvPr>
            <p:ph idx="1" type="body"/>
          </p:nvPr>
        </p:nvSpPr>
        <p:spPr>
          <a:xfrm>
            <a:off x="5230275" y="4096125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+</a:t>
            </a:r>
            <a:endParaRPr baseline="30000"/>
          </a:p>
        </p:txBody>
      </p:sp>
      <p:sp>
        <p:nvSpPr>
          <p:cNvPr id="1758" name="Google Shape;1758;p91"/>
          <p:cNvSpPr txBox="1"/>
          <p:nvPr>
            <p:ph idx="1" type="body"/>
          </p:nvPr>
        </p:nvSpPr>
        <p:spPr>
          <a:xfrm>
            <a:off x="7363875" y="4096125"/>
            <a:ext cx="15093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=    </a:t>
            </a:r>
            <a:r>
              <a:rPr lang="en-GB" sz="2000">
                <a:solidFill>
                  <a:srgbClr val="282828"/>
                </a:solidFill>
              </a:rPr>
              <a:t>36 units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endParaRPr baseline="30000"/>
          </a:p>
        </p:txBody>
      </p:sp>
      <p:grpSp>
        <p:nvGrpSpPr>
          <p:cNvPr id="1759" name="Google Shape;1759;p91"/>
          <p:cNvGrpSpPr/>
          <p:nvPr/>
        </p:nvGrpSpPr>
        <p:grpSpPr>
          <a:xfrm>
            <a:off x="649700" y="1865008"/>
            <a:ext cx="2155095" cy="2228875"/>
            <a:chOff x="649700" y="1865008"/>
            <a:chExt cx="2155095" cy="2228875"/>
          </a:xfrm>
        </p:grpSpPr>
        <p:cxnSp>
          <p:nvCxnSpPr>
            <p:cNvPr id="1760" name="Google Shape;1760;p91"/>
            <p:cNvCxnSpPr/>
            <p:nvPr/>
          </p:nvCxnSpPr>
          <p:spPr>
            <a:xfrm>
              <a:off x="770875" y="1865008"/>
              <a:ext cx="682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61" name="Google Shape;1761;p91"/>
            <p:cNvCxnSpPr/>
            <p:nvPr/>
          </p:nvCxnSpPr>
          <p:spPr>
            <a:xfrm rot="10800000">
              <a:off x="1561863" y="1985598"/>
              <a:ext cx="3600" cy="815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62" name="Google Shape;1762;p91"/>
            <p:cNvCxnSpPr/>
            <p:nvPr/>
          </p:nvCxnSpPr>
          <p:spPr>
            <a:xfrm rot="10800000">
              <a:off x="1461075" y="2929122"/>
              <a:ext cx="1160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63" name="Google Shape;1763;p91"/>
            <p:cNvCxnSpPr/>
            <p:nvPr/>
          </p:nvCxnSpPr>
          <p:spPr>
            <a:xfrm>
              <a:off x="2804795" y="2828850"/>
              <a:ext cx="0" cy="114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64" name="Google Shape;1764;p91"/>
            <p:cNvCxnSpPr/>
            <p:nvPr/>
          </p:nvCxnSpPr>
          <p:spPr>
            <a:xfrm rot="10800000">
              <a:off x="766175" y="4093883"/>
              <a:ext cx="1926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65" name="Google Shape;1765;p91"/>
            <p:cNvCxnSpPr/>
            <p:nvPr/>
          </p:nvCxnSpPr>
          <p:spPr>
            <a:xfrm>
              <a:off x="649700" y="2005275"/>
              <a:ext cx="0" cy="196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66" name="Google Shape;1766;p91"/>
          <p:cNvSpPr txBox="1"/>
          <p:nvPr>
            <p:ph idx="1" type="body"/>
          </p:nvPr>
        </p:nvSpPr>
        <p:spPr>
          <a:xfrm>
            <a:off x="4161317" y="1499958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2</a:t>
            </a:r>
            <a:endParaRPr/>
          </a:p>
        </p:txBody>
      </p:sp>
      <p:sp>
        <p:nvSpPr>
          <p:cNvPr id="1767" name="Google Shape;1767;p91"/>
          <p:cNvSpPr txBox="1"/>
          <p:nvPr>
            <p:ph idx="1" type="body"/>
          </p:nvPr>
        </p:nvSpPr>
        <p:spPr>
          <a:xfrm>
            <a:off x="4718521" y="2179790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3</a:t>
            </a:r>
            <a:endParaRPr/>
          </a:p>
        </p:txBody>
      </p:sp>
      <p:cxnSp>
        <p:nvCxnSpPr>
          <p:cNvPr id="1768" name="Google Shape;1768;p91"/>
          <p:cNvCxnSpPr/>
          <p:nvPr/>
        </p:nvCxnSpPr>
        <p:spPr>
          <a:xfrm>
            <a:off x="3895075" y="1788808"/>
            <a:ext cx="68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69" name="Google Shape;1769;p91"/>
          <p:cNvCxnSpPr/>
          <p:nvPr/>
        </p:nvCxnSpPr>
        <p:spPr>
          <a:xfrm rot="10800000">
            <a:off x="4686063" y="1909398"/>
            <a:ext cx="3600" cy="81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0" name="Google Shape;1770;p91"/>
          <p:cNvSpPr txBox="1"/>
          <p:nvPr>
            <p:ph idx="1" type="body"/>
          </p:nvPr>
        </p:nvSpPr>
        <p:spPr>
          <a:xfrm>
            <a:off x="7418728" y="2833478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5</a:t>
            </a:r>
            <a:endParaRPr/>
          </a:p>
        </p:txBody>
      </p:sp>
      <p:sp>
        <p:nvSpPr>
          <p:cNvPr id="1771" name="Google Shape;1771;p91"/>
          <p:cNvSpPr txBox="1"/>
          <p:nvPr>
            <p:ph idx="1" type="body"/>
          </p:nvPr>
        </p:nvSpPr>
        <p:spPr>
          <a:xfrm>
            <a:off x="6228729" y="3699537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6</a:t>
            </a:r>
            <a:endParaRPr/>
          </a:p>
        </p:txBody>
      </p:sp>
      <p:cxnSp>
        <p:nvCxnSpPr>
          <p:cNvPr id="1772" name="Google Shape;1772;p91"/>
          <p:cNvCxnSpPr/>
          <p:nvPr/>
        </p:nvCxnSpPr>
        <p:spPr>
          <a:xfrm>
            <a:off x="7376795" y="2447850"/>
            <a:ext cx="0" cy="114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73" name="Google Shape;1773;p91"/>
          <p:cNvCxnSpPr/>
          <p:nvPr/>
        </p:nvCxnSpPr>
        <p:spPr>
          <a:xfrm rot="10800000">
            <a:off x="5338175" y="3712883"/>
            <a:ext cx="1926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8" name="Google Shape;1778;p92"/>
          <p:cNvGrpSpPr/>
          <p:nvPr/>
        </p:nvGrpSpPr>
        <p:grpSpPr>
          <a:xfrm>
            <a:off x="772925" y="1967775"/>
            <a:ext cx="677700" cy="1996800"/>
            <a:chOff x="772925" y="1967775"/>
            <a:chExt cx="677700" cy="1996800"/>
          </a:xfrm>
        </p:grpSpPr>
        <p:sp>
          <p:nvSpPr>
            <p:cNvPr id="1779" name="Google Shape;1779;p92"/>
            <p:cNvSpPr/>
            <p:nvPr/>
          </p:nvSpPr>
          <p:spPr>
            <a:xfrm>
              <a:off x="772925" y="1967775"/>
              <a:ext cx="677700" cy="860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0" name="Google Shape;1780;p92"/>
            <p:cNvSpPr/>
            <p:nvPr/>
          </p:nvSpPr>
          <p:spPr>
            <a:xfrm rot="5400000">
              <a:off x="543725" y="3057675"/>
              <a:ext cx="1136100" cy="6777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81" name="Google Shape;1781;p92"/>
            <p:cNvCxnSpPr>
              <a:stCxn id="1780" idx="0"/>
              <a:endCxn id="1780" idx="4"/>
            </p:cNvCxnSpPr>
            <p:nvPr/>
          </p:nvCxnSpPr>
          <p:spPr>
            <a:xfrm flipH="1">
              <a:off x="772925" y="2828475"/>
              <a:ext cx="677700" cy="1136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782" name="Google Shape;1782;p92"/>
          <p:cNvSpPr/>
          <p:nvPr/>
        </p:nvSpPr>
        <p:spPr>
          <a:xfrm>
            <a:off x="769798" y="1973025"/>
            <a:ext cx="1914300" cy="2007300"/>
          </a:xfrm>
          <a:prstGeom prst="corner">
            <a:avLst>
              <a:gd fmla="val 60858" name="adj1"/>
              <a:gd fmla="val 35577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92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Areas of composite shapes can be found by splitting them into shapes whose area can be found.</a:t>
            </a:r>
            <a:endParaRPr/>
          </a:p>
        </p:txBody>
      </p:sp>
      <p:sp>
        <p:nvSpPr>
          <p:cNvPr id="1784" name="Google Shape;178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Areas of composite shapes</a:t>
            </a:r>
            <a:endParaRPr/>
          </a:p>
        </p:txBody>
      </p:sp>
      <p:sp>
        <p:nvSpPr>
          <p:cNvPr id="1785" name="Google Shape;1785;p92"/>
          <p:cNvSpPr txBox="1"/>
          <p:nvPr>
            <p:ph idx="1" type="body"/>
          </p:nvPr>
        </p:nvSpPr>
        <p:spPr>
          <a:xfrm>
            <a:off x="4239686" y="1441709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2</a:t>
            </a:r>
            <a:endParaRPr/>
          </a:p>
        </p:txBody>
      </p:sp>
      <p:sp>
        <p:nvSpPr>
          <p:cNvPr id="1786" name="Google Shape;1786;p92"/>
          <p:cNvSpPr txBox="1"/>
          <p:nvPr>
            <p:ph idx="1" type="body"/>
          </p:nvPr>
        </p:nvSpPr>
        <p:spPr>
          <a:xfrm>
            <a:off x="3710820" y="2341127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8</a:t>
            </a:r>
            <a:endParaRPr/>
          </a:p>
        </p:txBody>
      </p:sp>
      <p:sp>
        <p:nvSpPr>
          <p:cNvPr id="1787" name="Google Shape;1787;p92"/>
          <p:cNvSpPr txBox="1"/>
          <p:nvPr>
            <p:ph idx="1" type="body"/>
          </p:nvPr>
        </p:nvSpPr>
        <p:spPr>
          <a:xfrm>
            <a:off x="7304466" y="2951860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5</a:t>
            </a:r>
            <a:endParaRPr/>
          </a:p>
        </p:txBody>
      </p:sp>
      <p:sp>
        <p:nvSpPr>
          <p:cNvPr id="1788" name="Google Shape;1788;p92"/>
          <p:cNvSpPr txBox="1"/>
          <p:nvPr>
            <p:ph idx="1" type="body"/>
          </p:nvPr>
        </p:nvSpPr>
        <p:spPr>
          <a:xfrm>
            <a:off x="6164205" y="3768150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6</a:t>
            </a:r>
            <a:endParaRPr/>
          </a:p>
        </p:txBody>
      </p:sp>
      <p:sp>
        <p:nvSpPr>
          <p:cNvPr id="1789" name="Google Shape;1789;p92"/>
          <p:cNvSpPr txBox="1"/>
          <p:nvPr>
            <p:ph idx="1" type="body"/>
          </p:nvPr>
        </p:nvSpPr>
        <p:spPr>
          <a:xfrm>
            <a:off x="3706275" y="4134225"/>
            <a:ext cx="1050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11</a:t>
            </a:r>
            <a:r>
              <a:rPr lang="en-GB" sz="2000">
                <a:solidFill>
                  <a:srgbClr val="282828"/>
                </a:solidFill>
              </a:rPr>
              <a:t> units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endParaRPr baseline="30000"/>
          </a:p>
        </p:txBody>
      </p:sp>
      <p:sp>
        <p:nvSpPr>
          <p:cNvPr id="1790" name="Google Shape;1790;p92"/>
          <p:cNvSpPr txBox="1"/>
          <p:nvPr>
            <p:ph idx="1" type="body"/>
          </p:nvPr>
        </p:nvSpPr>
        <p:spPr>
          <a:xfrm>
            <a:off x="5916075" y="4134225"/>
            <a:ext cx="1050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25</a:t>
            </a:r>
            <a:r>
              <a:rPr lang="en-GB" sz="2000">
                <a:solidFill>
                  <a:srgbClr val="282828"/>
                </a:solidFill>
              </a:rPr>
              <a:t> units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endParaRPr baseline="30000"/>
          </a:p>
        </p:txBody>
      </p:sp>
      <p:sp>
        <p:nvSpPr>
          <p:cNvPr id="1791" name="Google Shape;1791;p92"/>
          <p:cNvSpPr txBox="1"/>
          <p:nvPr>
            <p:ph idx="1" type="body"/>
          </p:nvPr>
        </p:nvSpPr>
        <p:spPr>
          <a:xfrm>
            <a:off x="5230275" y="4134225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+</a:t>
            </a:r>
            <a:endParaRPr baseline="30000"/>
          </a:p>
        </p:txBody>
      </p:sp>
      <p:sp>
        <p:nvSpPr>
          <p:cNvPr id="1792" name="Google Shape;1792;p92"/>
          <p:cNvSpPr txBox="1"/>
          <p:nvPr>
            <p:ph idx="1" type="body"/>
          </p:nvPr>
        </p:nvSpPr>
        <p:spPr>
          <a:xfrm>
            <a:off x="7363875" y="4134225"/>
            <a:ext cx="15093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=    36 units</a:t>
            </a:r>
            <a:r>
              <a:rPr baseline="30000" lang="en-GB" sz="2000">
                <a:solidFill>
                  <a:srgbClr val="282828"/>
                </a:solidFill>
              </a:rPr>
              <a:t>2</a:t>
            </a:r>
            <a:endParaRPr baseline="30000"/>
          </a:p>
        </p:txBody>
      </p:sp>
      <p:grpSp>
        <p:nvGrpSpPr>
          <p:cNvPr id="1793" name="Google Shape;1793;p92"/>
          <p:cNvGrpSpPr/>
          <p:nvPr/>
        </p:nvGrpSpPr>
        <p:grpSpPr>
          <a:xfrm>
            <a:off x="3968867" y="1789862"/>
            <a:ext cx="693600" cy="1995804"/>
            <a:chOff x="3816467" y="1942262"/>
            <a:chExt cx="693600" cy="1995804"/>
          </a:xfrm>
        </p:grpSpPr>
        <p:sp>
          <p:nvSpPr>
            <p:cNvPr id="1794" name="Google Shape;1794;p92"/>
            <p:cNvSpPr/>
            <p:nvPr/>
          </p:nvSpPr>
          <p:spPr>
            <a:xfrm>
              <a:off x="3820925" y="1942262"/>
              <a:ext cx="677700" cy="860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5" name="Google Shape;1795;p92"/>
            <p:cNvSpPr/>
            <p:nvPr/>
          </p:nvSpPr>
          <p:spPr>
            <a:xfrm rot="5400000">
              <a:off x="3591725" y="3025769"/>
              <a:ext cx="1136100" cy="6777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96" name="Google Shape;1796;p92"/>
            <p:cNvCxnSpPr/>
            <p:nvPr/>
          </p:nvCxnSpPr>
          <p:spPr>
            <a:xfrm>
              <a:off x="3816467" y="1954987"/>
              <a:ext cx="693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7" name="Google Shape;1797;p92"/>
            <p:cNvCxnSpPr/>
            <p:nvPr/>
          </p:nvCxnSpPr>
          <p:spPr>
            <a:xfrm rot="10800000">
              <a:off x="4498625" y="1954862"/>
              <a:ext cx="0" cy="848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8" name="Google Shape;1798;p92"/>
            <p:cNvCxnSpPr/>
            <p:nvPr/>
          </p:nvCxnSpPr>
          <p:spPr>
            <a:xfrm flipH="1" rot="10800000">
              <a:off x="3820925" y="1953866"/>
              <a:ext cx="7200" cy="1984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9" name="Google Shape;1799;p92"/>
            <p:cNvCxnSpPr>
              <a:stCxn id="1795" idx="4"/>
            </p:cNvCxnSpPr>
            <p:nvPr/>
          </p:nvCxnSpPr>
          <p:spPr>
            <a:xfrm flipH="1" rot="10800000">
              <a:off x="3820925" y="2801969"/>
              <a:ext cx="679200" cy="1130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00" name="Google Shape;1800;p92"/>
          <p:cNvGrpSpPr/>
          <p:nvPr/>
        </p:nvGrpSpPr>
        <p:grpSpPr>
          <a:xfrm>
            <a:off x="5268575" y="2559984"/>
            <a:ext cx="1912200" cy="1161252"/>
            <a:chOff x="925175" y="2966498"/>
            <a:chExt cx="1912200" cy="1161252"/>
          </a:xfrm>
        </p:grpSpPr>
        <p:cxnSp>
          <p:nvCxnSpPr>
            <p:cNvPr id="1801" name="Google Shape;1801;p92"/>
            <p:cNvCxnSpPr/>
            <p:nvPr/>
          </p:nvCxnSpPr>
          <p:spPr>
            <a:xfrm>
              <a:off x="1603025" y="2966498"/>
              <a:ext cx="123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2" name="Google Shape;1802;p92"/>
            <p:cNvCxnSpPr/>
            <p:nvPr/>
          </p:nvCxnSpPr>
          <p:spPr>
            <a:xfrm rot="10800000">
              <a:off x="2833936" y="2966750"/>
              <a:ext cx="0" cy="1161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3" name="Google Shape;1803;p92"/>
            <p:cNvCxnSpPr/>
            <p:nvPr/>
          </p:nvCxnSpPr>
          <p:spPr>
            <a:xfrm rot="10800000">
              <a:off x="925175" y="4116975"/>
              <a:ext cx="1912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4" name="Google Shape;1804;p92"/>
            <p:cNvCxnSpPr/>
            <p:nvPr/>
          </p:nvCxnSpPr>
          <p:spPr>
            <a:xfrm flipH="1">
              <a:off x="925325" y="2980875"/>
              <a:ext cx="677700" cy="11361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05" name="Google Shape;1805;p92"/>
          <p:cNvSpPr txBox="1"/>
          <p:nvPr>
            <p:ph idx="1" type="body"/>
          </p:nvPr>
        </p:nvSpPr>
        <p:spPr>
          <a:xfrm>
            <a:off x="4782613" y="2095518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3</a:t>
            </a:r>
            <a:endParaRPr/>
          </a:p>
        </p:txBody>
      </p:sp>
      <p:sp>
        <p:nvSpPr>
          <p:cNvPr id="1806" name="Google Shape;1806;p92"/>
          <p:cNvSpPr txBox="1"/>
          <p:nvPr>
            <p:ph idx="1" type="body"/>
          </p:nvPr>
        </p:nvSpPr>
        <p:spPr>
          <a:xfrm>
            <a:off x="6452565" y="2627770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4</a:t>
            </a:r>
            <a:endParaRPr/>
          </a:p>
        </p:txBody>
      </p:sp>
      <p:sp>
        <p:nvSpPr>
          <p:cNvPr id="1807" name="Google Shape;1807;p92"/>
          <p:cNvSpPr txBox="1"/>
          <p:nvPr>
            <p:ph idx="1" type="body"/>
          </p:nvPr>
        </p:nvSpPr>
        <p:spPr>
          <a:xfrm>
            <a:off x="1037117" y="1576158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2</a:t>
            </a:r>
            <a:endParaRPr/>
          </a:p>
        </p:txBody>
      </p:sp>
      <p:sp>
        <p:nvSpPr>
          <p:cNvPr id="1808" name="Google Shape;1808;p92"/>
          <p:cNvSpPr txBox="1"/>
          <p:nvPr>
            <p:ph idx="1" type="body"/>
          </p:nvPr>
        </p:nvSpPr>
        <p:spPr>
          <a:xfrm>
            <a:off x="1594321" y="2255990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3</a:t>
            </a:r>
            <a:endParaRPr/>
          </a:p>
        </p:txBody>
      </p:sp>
      <p:sp>
        <p:nvSpPr>
          <p:cNvPr id="1809" name="Google Shape;1809;p92"/>
          <p:cNvSpPr txBox="1"/>
          <p:nvPr>
            <p:ph idx="1" type="body"/>
          </p:nvPr>
        </p:nvSpPr>
        <p:spPr>
          <a:xfrm>
            <a:off x="1890072" y="2905197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4</a:t>
            </a:r>
            <a:endParaRPr/>
          </a:p>
        </p:txBody>
      </p:sp>
      <p:sp>
        <p:nvSpPr>
          <p:cNvPr id="1810" name="Google Shape;1810;p92"/>
          <p:cNvSpPr txBox="1"/>
          <p:nvPr>
            <p:ph idx="1" type="body"/>
          </p:nvPr>
        </p:nvSpPr>
        <p:spPr>
          <a:xfrm>
            <a:off x="2846728" y="3214478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5</a:t>
            </a:r>
            <a:endParaRPr/>
          </a:p>
        </p:txBody>
      </p:sp>
      <p:sp>
        <p:nvSpPr>
          <p:cNvPr id="1811" name="Google Shape;1811;p92"/>
          <p:cNvSpPr txBox="1"/>
          <p:nvPr>
            <p:ph idx="1" type="body"/>
          </p:nvPr>
        </p:nvSpPr>
        <p:spPr>
          <a:xfrm>
            <a:off x="1656729" y="4080537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6</a:t>
            </a:r>
            <a:endParaRPr/>
          </a:p>
        </p:txBody>
      </p:sp>
      <p:sp>
        <p:nvSpPr>
          <p:cNvPr id="1812" name="Google Shape;1812;p92"/>
          <p:cNvSpPr txBox="1"/>
          <p:nvPr>
            <p:ph idx="1" type="body"/>
          </p:nvPr>
        </p:nvSpPr>
        <p:spPr>
          <a:xfrm>
            <a:off x="468862" y="2892669"/>
            <a:ext cx="2079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8</a:t>
            </a:r>
            <a:endParaRPr/>
          </a:p>
        </p:txBody>
      </p:sp>
      <p:grpSp>
        <p:nvGrpSpPr>
          <p:cNvPr id="1813" name="Google Shape;1813;p92"/>
          <p:cNvGrpSpPr/>
          <p:nvPr/>
        </p:nvGrpSpPr>
        <p:grpSpPr>
          <a:xfrm>
            <a:off x="649700" y="1865008"/>
            <a:ext cx="2155095" cy="2228875"/>
            <a:chOff x="649700" y="1865008"/>
            <a:chExt cx="2155095" cy="2228875"/>
          </a:xfrm>
        </p:grpSpPr>
        <p:cxnSp>
          <p:nvCxnSpPr>
            <p:cNvPr id="1814" name="Google Shape;1814;p92"/>
            <p:cNvCxnSpPr/>
            <p:nvPr/>
          </p:nvCxnSpPr>
          <p:spPr>
            <a:xfrm>
              <a:off x="770875" y="1865008"/>
              <a:ext cx="682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5" name="Google Shape;1815;p92"/>
            <p:cNvCxnSpPr/>
            <p:nvPr/>
          </p:nvCxnSpPr>
          <p:spPr>
            <a:xfrm rot="10800000">
              <a:off x="1561863" y="1985598"/>
              <a:ext cx="3600" cy="815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6" name="Google Shape;1816;p92"/>
            <p:cNvCxnSpPr/>
            <p:nvPr/>
          </p:nvCxnSpPr>
          <p:spPr>
            <a:xfrm rot="10800000">
              <a:off x="1461075" y="2929122"/>
              <a:ext cx="1160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7" name="Google Shape;1817;p92"/>
            <p:cNvCxnSpPr/>
            <p:nvPr/>
          </p:nvCxnSpPr>
          <p:spPr>
            <a:xfrm>
              <a:off x="2804795" y="2828850"/>
              <a:ext cx="0" cy="114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8" name="Google Shape;1818;p92"/>
            <p:cNvCxnSpPr/>
            <p:nvPr/>
          </p:nvCxnSpPr>
          <p:spPr>
            <a:xfrm rot="10800000">
              <a:off x="766175" y="4093883"/>
              <a:ext cx="1926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9" name="Google Shape;1819;p92"/>
            <p:cNvCxnSpPr/>
            <p:nvPr/>
          </p:nvCxnSpPr>
          <p:spPr>
            <a:xfrm>
              <a:off x="649700" y="2005275"/>
              <a:ext cx="0" cy="1969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cxnSp>
        <p:nvCxnSpPr>
          <p:cNvPr id="1820" name="Google Shape;1820;p92"/>
          <p:cNvCxnSpPr/>
          <p:nvPr/>
        </p:nvCxnSpPr>
        <p:spPr>
          <a:xfrm>
            <a:off x="3971275" y="1712608"/>
            <a:ext cx="68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1" name="Google Shape;1821;p92"/>
          <p:cNvCxnSpPr/>
          <p:nvPr/>
        </p:nvCxnSpPr>
        <p:spPr>
          <a:xfrm flipH="1" rot="10800000">
            <a:off x="4739333" y="1813169"/>
            <a:ext cx="1500" cy="83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2" name="Google Shape;1822;p92"/>
          <p:cNvCxnSpPr/>
          <p:nvPr/>
        </p:nvCxnSpPr>
        <p:spPr>
          <a:xfrm flipH="1" rot="10800000">
            <a:off x="3889053" y="1813169"/>
            <a:ext cx="5400" cy="196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3" name="Google Shape;1823;p92"/>
          <p:cNvCxnSpPr/>
          <p:nvPr/>
        </p:nvCxnSpPr>
        <p:spPr>
          <a:xfrm>
            <a:off x="5965714" y="2647022"/>
            <a:ext cx="1198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4" name="Google Shape;1824;p92"/>
          <p:cNvCxnSpPr/>
          <p:nvPr/>
        </p:nvCxnSpPr>
        <p:spPr>
          <a:xfrm rot="10800000">
            <a:off x="7268733" y="2575100"/>
            <a:ext cx="0" cy="113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5" name="Google Shape;1825;p92"/>
          <p:cNvCxnSpPr/>
          <p:nvPr/>
        </p:nvCxnSpPr>
        <p:spPr>
          <a:xfrm rot="10800000">
            <a:off x="5287575" y="3805480"/>
            <a:ext cx="188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93"/>
          <p:cNvSpPr/>
          <p:nvPr/>
        </p:nvSpPr>
        <p:spPr>
          <a:xfrm>
            <a:off x="855033" y="3329990"/>
            <a:ext cx="1171800" cy="783000"/>
          </a:xfrm>
          <a:prstGeom prst="triangle">
            <a:avLst>
              <a:gd fmla="val 67103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1" name="Google Shape;1831;p93"/>
          <p:cNvSpPr txBox="1"/>
          <p:nvPr>
            <p:ph idx="1" type="subTitle"/>
          </p:nvPr>
        </p:nvSpPr>
        <p:spPr>
          <a:xfrm>
            <a:off x="337825" y="810000"/>
            <a:ext cx="3982200" cy="3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area.</a:t>
            </a:r>
            <a:endParaRPr/>
          </a:p>
        </p:txBody>
      </p:sp>
      <p:sp>
        <p:nvSpPr>
          <p:cNvPr id="1832" name="Google Shape;1832;p93"/>
          <p:cNvSpPr txBox="1"/>
          <p:nvPr>
            <p:ph idx="2" type="subTitle"/>
          </p:nvPr>
        </p:nvSpPr>
        <p:spPr>
          <a:xfrm>
            <a:off x="4824000" y="810000"/>
            <a:ext cx="3982200" cy="3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area.</a:t>
            </a:r>
            <a:endParaRPr/>
          </a:p>
        </p:txBody>
      </p:sp>
      <p:sp>
        <p:nvSpPr>
          <p:cNvPr id="1833" name="Google Shape;183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composite shapes</a:t>
            </a:r>
            <a:endParaRPr/>
          </a:p>
        </p:txBody>
      </p:sp>
      <p:pic>
        <p:nvPicPr>
          <p:cNvPr id="1834" name="Google Shape;1834;p93"/>
          <p:cNvPicPr preferRelativeResize="0"/>
          <p:nvPr/>
        </p:nvPicPr>
        <p:blipFill rotWithShape="1">
          <a:blip r:embed="rId3">
            <a:alphaModFix/>
          </a:blip>
          <a:srcRect b="43950" l="0" r="57884" t="239"/>
          <a:stretch/>
        </p:blipFill>
        <p:spPr>
          <a:xfrm>
            <a:off x="1259450" y="1184625"/>
            <a:ext cx="1619150" cy="172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5" name="Google Shape;1835;p93"/>
          <p:cNvPicPr preferRelativeResize="0"/>
          <p:nvPr/>
        </p:nvPicPr>
        <p:blipFill rotWithShape="1">
          <a:blip r:embed="rId3">
            <a:alphaModFix/>
          </a:blip>
          <a:srcRect b="43951" l="61394" r="0" t="582"/>
          <a:stretch/>
        </p:blipFill>
        <p:spPr>
          <a:xfrm>
            <a:off x="6711725" y="974050"/>
            <a:ext cx="1484200" cy="171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93"/>
          <p:cNvSpPr txBox="1"/>
          <p:nvPr>
            <p:ph idx="4294967295" type="body"/>
          </p:nvPr>
        </p:nvSpPr>
        <p:spPr>
          <a:xfrm>
            <a:off x="2969732" y="2404983"/>
            <a:ext cx="5250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  <p:sp>
        <p:nvSpPr>
          <p:cNvPr id="1837" name="Google Shape;1837;p93"/>
          <p:cNvSpPr txBox="1"/>
          <p:nvPr>
            <p:ph idx="4294967295" type="body"/>
          </p:nvPr>
        </p:nvSpPr>
        <p:spPr>
          <a:xfrm>
            <a:off x="1847485" y="2933826"/>
            <a:ext cx="5250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600"/>
          </a:p>
        </p:txBody>
      </p:sp>
      <p:sp>
        <p:nvSpPr>
          <p:cNvPr id="1838" name="Google Shape;1838;p93"/>
          <p:cNvSpPr txBox="1"/>
          <p:nvPr>
            <p:ph idx="4294967295" type="body"/>
          </p:nvPr>
        </p:nvSpPr>
        <p:spPr>
          <a:xfrm>
            <a:off x="693474" y="1889306"/>
            <a:ext cx="5550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7 cm</a:t>
            </a:r>
            <a:endParaRPr sz="1600"/>
          </a:p>
        </p:txBody>
      </p:sp>
      <p:sp>
        <p:nvSpPr>
          <p:cNvPr id="1839" name="Google Shape;1839;p93"/>
          <p:cNvSpPr txBox="1"/>
          <p:nvPr>
            <p:ph idx="4294967295" type="body"/>
          </p:nvPr>
        </p:nvSpPr>
        <p:spPr>
          <a:xfrm>
            <a:off x="7047047" y="2681920"/>
            <a:ext cx="5550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4</a:t>
            </a:r>
            <a:r>
              <a:rPr lang="en-GB" sz="1800">
                <a:solidFill>
                  <a:srgbClr val="282828"/>
                </a:solidFill>
              </a:rPr>
              <a:t> cm</a:t>
            </a:r>
            <a:endParaRPr sz="2000"/>
          </a:p>
        </p:txBody>
      </p:sp>
      <p:sp>
        <p:nvSpPr>
          <p:cNvPr id="1840" name="Google Shape;1840;p93"/>
          <p:cNvSpPr txBox="1"/>
          <p:nvPr>
            <p:ph idx="4294967295" type="body"/>
          </p:nvPr>
        </p:nvSpPr>
        <p:spPr>
          <a:xfrm>
            <a:off x="6382951" y="1326377"/>
            <a:ext cx="5550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4 cm</a:t>
            </a:r>
            <a:endParaRPr sz="2000"/>
          </a:p>
        </p:txBody>
      </p:sp>
      <p:sp>
        <p:nvSpPr>
          <p:cNvPr id="1841" name="Google Shape;1841;p93"/>
          <p:cNvSpPr txBox="1"/>
          <p:nvPr>
            <p:ph idx="4294967295" type="body"/>
          </p:nvPr>
        </p:nvSpPr>
        <p:spPr>
          <a:xfrm>
            <a:off x="8302817" y="1654903"/>
            <a:ext cx="5550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7</a:t>
            </a:r>
            <a:r>
              <a:rPr lang="en-GB" sz="1800">
                <a:solidFill>
                  <a:srgbClr val="282828"/>
                </a:solidFill>
              </a:rPr>
              <a:t> cm</a:t>
            </a:r>
            <a:endParaRPr sz="2000"/>
          </a:p>
        </p:txBody>
      </p:sp>
      <p:cxnSp>
        <p:nvCxnSpPr>
          <p:cNvPr id="1842" name="Google Shape;1842;p93"/>
          <p:cNvCxnSpPr/>
          <p:nvPr/>
        </p:nvCxnSpPr>
        <p:spPr>
          <a:xfrm rot="10800000">
            <a:off x="1204690" y="1183601"/>
            <a:ext cx="0" cy="165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3" name="Google Shape;1843;p93"/>
          <p:cNvCxnSpPr/>
          <p:nvPr/>
        </p:nvCxnSpPr>
        <p:spPr>
          <a:xfrm>
            <a:off x="1417022" y="2140035"/>
            <a:ext cx="140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44" name="Google Shape;1844;p93"/>
          <p:cNvSpPr txBox="1"/>
          <p:nvPr>
            <p:ph idx="4294967295" type="body"/>
          </p:nvPr>
        </p:nvSpPr>
        <p:spPr>
          <a:xfrm>
            <a:off x="2105267" y="1662556"/>
            <a:ext cx="2169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A</a:t>
            </a:r>
            <a:endParaRPr sz="1800"/>
          </a:p>
        </p:txBody>
      </p:sp>
      <p:sp>
        <p:nvSpPr>
          <p:cNvPr id="1845" name="Google Shape;1845;p93"/>
          <p:cNvSpPr txBox="1"/>
          <p:nvPr>
            <p:ph idx="4294967295" type="body"/>
          </p:nvPr>
        </p:nvSpPr>
        <p:spPr>
          <a:xfrm>
            <a:off x="2052022" y="2342414"/>
            <a:ext cx="2169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B</a:t>
            </a:r>
            <a:endParaRPr sz="1800"/>
          </a:p>
        </p:txBody>
      </p:sp>
      <p:cxnSp>
        <p:nvCxnSpPr>
          <p:cNvPr id="1846" name="Google Shape;1846;p93"/>
          <p:cNvCxnSpPr/>
          <p:nvPr/>
        </p:nvCxnSpPr>
        <p:spPr>
          <a:xfrm>
            <a:off x="7109210" y="1903913"/>
            <a:ext cx="897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47" name="Google Shape;1847;p93"/>
          <p:cNvSpPr txBox="1"/>
          <p:nvPr>
            <p:ph idx="4294967295" type="body"/>
          </p:nvPr>
        </p:nvSpPr>
        <p:spPr>
          <a:xfrm>
            <a:off x="7310513" y="1501352"/>
            <a:ext cx="2169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8" name="Google Shape;1848;p93"/>
          <p:cNvSpPr txBox="1"/>
          <p:nvPr>
            <p:ph idx="4294967295" type="body"/>
          </p:nvPr>
        </p:nvSpPr>
        <p:spPr>
          <a:xfrm>
            <a:off x="7339525" y="2113814"/>
            <a:ext cx="216900" cy="3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9" name="Google Shape;1849;p93"/>
          <p:cNvSpPr txBox="1"/>
          <p:nvPr>
            <p:ph idx="4294967295" type="body"/>
          </p:nvPr>
        </p:nvSpPr>
        <p:spPr>
          <a:xfrm>
            <a:off x="1462836" y="3699856"/>
            <a:ext cx="1878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A</a:t>
            </a:r>
            <a:endParaRPr sz="1600"/>
          </a:p>
        </p:txBody>
      </p:sp>
      <p:sp>
        <p:nvSpPr>
          <p:cNvPr id="1850" name="Google Shape;1850;p93"/>
          <p:cNvSpPr/>
          <p:nvPr/>
        </p:nvSpPr>
        <p:spPr>
          <a:xfrm>
            <a:off x="2436496" y="3518979"/>
            <a:ext cx="1153200" cy="5868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93"/>
          <p:cNvSpPr txBox="1"/>
          <p:nvPr>
            <p:ph idx="4294967295" type="body"/>
          </p:nvPr>
        </p:nvSpPr>
        <p:spPr>
          <a:xfrm>
            <a:off x="2912814" y="3734613"/>
            <a:ext cx="1878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B</a:t>
            </a:r>
            <a:endParaRPr sz="1600"/>
          </a:p>
        </p:txBody>
      </p:sp>
      <p:sp>
        <p:nvSpPr>
          <p:cNvPr id="1852" name="Google Shape;1852;p93"/>
          <p:cNvSpPr txBox="1"/>
          <p:nvPr>
            <p:ph idx="4294967295" type="body"/>
          </p:nvPr>
        </p:nvSpPr>
        <p:spPr>
          <a:xfrm>
            <a:off x="3739354" y="3703080"/>
            <a:ext cx="5241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3 cm</a:t>
            </a:r>
            <a:endParaRPr sz="1600"/>
          </a:p>
        </p:txBody>
      </p:sp>
      <p:sp>
        <p:nvSpPr>
          <p:cNvPr id="1853" name="Google Shape;1853;p93"/>
          <p:cNvSpPr txBox="1"/>
          <p:nvPr>
            <p:ph idx="4294967295" type="body"/>
          </p:nvPr>
        </p:nvSpPr>
        <p:spPr>
          <a:xfrm>
            <a:off x="274226" y="3592533"/>
            <a:ext cx="524100" cy="2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</a:t>
            </a:r>
            <a:r>
              <a:rPr lang="en-GB" sz="1600">
                <a:solidFill>
                  <a:srgbClr val="282828"/>
                </a:solidFill>
              </a:rPr>
              <a:t> cm</a:t>
            </a:r>
            <a:endParaRPr sz="1800"/>
          </a:p>
        </p:txBody>
      </p:sp>
      <p:sp>
        <p:nvSpPr>
          <p:cNvPr id="1854" name="Google Shape;1854;p93"/>
          <p:cNvSpPr txBox="1"/>
          <p:nvPr>
            <p:ph idx="4294967295" type="body"/>
          </p:nvPr>
        </p:nvSpPr>
        <p:spPr>
          <a:xfrm>
            <a:off x="1210982" y="4178930"/>
            <a:ext cx="5670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sp>
        <p:nvSpPr>
          <p:cNvPr id="1855" name="Google Shape;1855;p93"/>
          <p:cNvSpPr txBox="1"/>
          <p:nvPr>
            <p:ph idx="4294967295" type="body"/>
          </p:nvPr>
        </p:nvSpPr>
        <p:spPr>
          <a:xfrm>
            <a:off x="2788676" y="4200115"/>
            <a:ext cx="5670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cm</a:t>
            </a:r>
            <a:endParaRPr sz="1800"/>
          </a:p>
        </p:txBody>
      </p:sp>
      <p:sp>
        <p:nvSpPr>
          <p:cNvPr id="1856" name="Google Shape;1856;p93"/>
          <p:cNvSpPr txBox="1"/>
          <p:nvPr>
            <p:ph idx="4294967295" type="body"/>
          </p:nvPr>
        </p:nvSpPr>
        <p:spPr>
          <a:xfrm>
            <a:off x="1028699" y="4581725"/>
            <a:ext cx="7311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</a:t>
            </a:r>
            <a:r>
              <a:rPr lang="en-GB" sz="1800">
                <a:solidFill>
                  <a:srgbClr val="282828"/>
                </a:solidFill>
              </a:rPr>
              <a:t> cm</a:t>
            </a:r>
            <a:r>
              <a:rPr baseline="30000" lang="en-GB" sz="1800">
                <a:solidFill>
                  <a:srgbClr val="282828"/>
                </a:solidFill>
              </a:rPr>
              <a:t>2</a:t>
            </a:r>
            <a:endParaRPr baseline="30000" sz="2000"/>
          </a:p>
        </p:txBody>
      </p:sp>
      <p:sp>
        <p:nvSpPr>
          <p:cNvPr id="1857" name="Google Shape;1857;p93"/>
          <p:cNvSpPr txBox="1"/>
          <p:nvPr>
            <p:ph idx="4294967295" type="body"/>
          </p:nvPr>
        </p:nvSpPr>
        <p:spPr>
          <a:xfrm>
            <a:off x="2485900" y="4581725"/>
            <a:ext cx="7311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18 cm</a:t>
            </a:r>
            <a:r>
              <a:rPr baseline="30000" lang="en-GB" sz="1800">
                <a:solidFill>
                  <a:srgbClr val="282828"/>
                </a:solidFill>
              </a:rPr>
              <a:t>2</a:t>
            </a:r>
            <a:endParaRPr baseline="30000" sz="2000"/>
          </a:p>
        </p:txBody>
      </p:sp>
      <p:sp>
        <p:nvSpPr>
          <p:cNvPr id="1858" name="Google Shape;1858;p93"/>
          <p:cNvSpPr txBox="1"/>
          <p:nvPr>
            <p:ph idx="4294967295" type="body"/>
          </p:nvPr>
        </p:nvSpPr>
        <p:spPr>
          <a:xfrm>
            <a:off x="3407200" y="4581725"/>
            <a:ext cx="10887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=  30</a:t>
            </a:r>
            <a:r>
              <a:rPr lang="en-GB" sz="1800">
                <a:solidFill>
                  <a:srgbClr val="282828"/>
                </a:solidFill>
              </a:rPr>
              <a:t> cm</a:t>
            </a:r>
            <a:r>
              <a:rPr baseline="30000" lang="en-GB" sz="1800">
                <a:solidFill>
                  <a:srgbClr val="282828"/>
                </a:solidFill>
              </a:rPr>
              <a:t>2</a:t>
            </a:r>
            <a:endParaRPr baseline="30000" sz="2000"/>
          </a:p>
        </p:txBody>
      </p:sp>
      <p:sp>
        <p:nvSpPr>
          <p:cNvPr id="1859" name="Google Shape;1859;p93"/>
          <p:cNvSpPr txBox="1"/>
          <p:nvPr>
            <p:ph idx="4294967295" type="body"/>
          </p:nvPr>
        </p:nvSpPr>
        <p:spPr>
          <a:xfrm>
            <a:off x="2072344" y="4581725"/>
            <a:ext cx="2013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+</a:t>
            </a:r>
            <a:endParaRPr baseline="30000" sz="2000"/>
          </a:p>
        </p:txBody>
      </p:sp>
      <p:sp>
        <p:nvSpPr>
          <p:cNvPr id="1860" name="Google Shape;1860;p93"/>
          <p:cNvSpPr/>
          <p:nvPr/>
        </p:nvSpPr>
        <p:spPr>
          <a:xfrm>
            <a:off x="6633547" y="3293646"/>
            <a:ext cx="1035000" cy="631500"/>
          </a:xfrm>
          <a:prstGeom prst="parallelogram">
            <a:avLst>
              <a:gd fmla="val 32868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93"/>
          <p:cNvSpPr/>
          <p:nvPr/>
        </p:nvSpPr>
        <p:spPr>
          <a:xfrm>
            <a:off x="5281236" y="3087601"/>
            <a:ext cx="827100" cy="8337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93"/>
          <p:cNvSpPr txBox="1"/>
          <p:nvPr>
            <p:ph idx="4294967295" type="body"/>
          </p:nvPr>
        </p:nvSpPr>
        <p:spPr>
          <a:xfrm>
            <a:off x="5373159" y="3988591"/>
            <a:ext cx="728700" cy="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3" name="Google Shape;1863;p93"/>
          <p:cNvSpPr txBox="1"/>
          <p:nvPr>
            <p:ph idx="4294967295" type="body"/>
          </p:nvPr>
        </p:nvSpPr>
        <p:spPr>
          <a:xfrm>
            <a:off x="4602725" y="3361000"/>
            <a:ext cx="614100" cy="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4" name="Google Shape;1864;p93"/>
          <p:cNvSpPr txBox="1"/>
          <p:nvPr>
            <p:ph idx="4294967295" type="body"/>
          </p:nvPr>
        </p:nvSpPr>
        <p:spPr>
          <a:xfrm>
            <a:off x="6819878" y="4023325"/>
            <a:ext cx="614100" cy="2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4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5" name="Google Shape;1865;p93"/>
          <p:cNvSpPr txBox="1"/>
          <p:nvPr>
            <p:ph idx="4294967295" type="body"/>
          </p:nvPr>
        </p:nvSpPr>
        <p:spPr>
          <a:xfrm>
            <a:off x="7845276" y="3526600"/>
            <a:ext cx="682500" cy="17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66" name="Google Shape;1866;p93"/>
          <p:cNvCxnSpPr/>
          <p:nvPr/>
        </p:nvCxnSpPr>
        <p:spPr>
          <a:xfrm rot="10800000">
            <a:off x="7784801" y="3309251"/>
            <a:ext cx="0" cy="63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7" name="Google Shape;1867;p93"/>
          <p:cNvSpPr txBox="1"/>
          <p:nvPr>
            <p:ph idx="4294967295" type="body"/>
          </p:nvPr>
        </p:nvSpPr>
        <p:spPr>
          <a:xfrm>
            <a:off x="5379021" y="4581725"/>
            <a:ext cx="6825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8" name="Google Shape;1868;p93"/>
          <p:cNvSpPr txBox="1"/>
          <p:nvPr>
            <p:ph idx="4294967295" type="body"/>
          </p:nvPr>
        </p:nvSpPr>
        <p:spPr>
          <a:xfrm>
            <a:off x="6576823" y="4581725"/>
            <a:ext cx="8739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9" name="Google Shape;1869;p93"/>
          <p:cNvSpPr txBox="1"/>
          <p:nvPr>
            <p:ph idx="4294967295" type="body"/>
          </p:nvPr>
        </p:nvSpPr>
        <p:spPr>
          <a:xfrm>
            <a:off x="7411412" y="4581725"/>
            <a:ext cx="11532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= 20 cm</a:t>
            </a:r>
            <a:r>
              <a:rPr baseline="30000"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0" name="Google Shape;1870;p93"/>
          <p:cNvSpPr txBox="1"/>
          <p:nvPr>
            <p:ph idx="4294967295" type="body"/>
          </p:nvPr>
        </p:nvSpPr>
        <p:spPr>
          <a:xfrm>
            <a:off x="6195831" y="4581725"/>
            <a:ext cx="1878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endParaRPr baseline="30000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1" name="Google Shape;1871;p93"/>
          <p:cNvSpPr txBox="1"/>
          <p:nvPr>
            <p:ph idx="4294967295" type="body"/>
          </p:nvPr>
        </p:nvSpPr>
        <p:spPr>
          <a:xfrm>
            <a:off x="5425236" y="3492741"/>
            <a:ext cx="1878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2" name="Google Shape;1872;p93"/>
          <p:cNvSpPr txBox="1"/>
          <p:nvPr>
            <p:ph idx="4294967295" type="body"/>
          </p:nvPr>
        </p:nvSpPr>
        <p:spPr>
          <a:xfrm>
            <a:off x="7053683" y="3455881"/>
            <a:ext cx="187800" cy="26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73" name="Google Shape;1873;p93"/>
          <p:cNvCxnSpPr/>
          <p:nvPr/>
        </p:nvCxnSpPr>
        <p:spPr>
          <a:xfrm>
            <a:off x="1415425" y="2955170"/>
            <a:ext cx="139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4" name="Google Shape;1874;p93"/>
          <p:cNvCxnSpPr/>
          <p:nvPr/>
        </p:nvCxnSpPr>
        <p:spPr>
          <a:xfrm rot="10800000">
            <a:off x="2932801" y="2159150"/>
            <a:ext cx="0" cy="682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875" name="Google Shape;1875;p93"/>
          <p:cNvGrpSpPr/>
          <p:nvPr/>
        </p:nvGrpSpPr>
        <p:grpSpPr>
          <a:xfrm>
            <a:off x="801199" y="3318399"/>
            <a:ext cx="2903708" cy="893115"/>
            <a:chOff x="801199" y="3318399"/>
            <a:chExt cx="2903708" cy="893115"/>
          </a:xfrm>
        </p:grpSpPr>
        <p:cxnSp>
          <p:nvCxnSpPr>
            <p:cNvPr id="1876" name="Google Shape;1876;p93"/>
            <p:cNvCxnSpPr/>
            <p:nvPr/>
          </p:nvCxnSpPr>
          <p:spPr>
            <a:xfrm rot="10800000">
              <a:off x="801199" y="3318399"/>
              <a:ext cx="0" cy="79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77" name="Google Shape;1877;p93"/>
            <p:cNvCxnSpPr/>
            <p:nvPr/>
          </p:nvCxnSpPr>
          <p:spPr>
            <a:xfrm>
              <a:off x="855033" y="4199953"/>
              <a:ext cx="1171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78" name="Google Shape;1878;p93"/>
            <p:cNvCxnSpPr/>
            <p:nvPr/>
          </p:nvCxnSpPr>
          <p:spPr>
            <a:xfrm>
              <a:off x="2429164" y="4211514"/>
              <a:ext cx="1171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79" name="Google Shape;1879;p93"/>
            <p:cNvCxnSpPr/>
            <p:nvPr/>
          </p:nvCxnSpPr>
          <p:spPr>
            <a:xfrm rot="10800000">
              <a:off x="3704907" y="3526282"/>
              <a:ext cx="0" cy="57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80" name="Google Shape;1880;p93"/>
          <p:cNvGrpSpPr/>
          <p:nvPr/>
        </p:nvGrpSpPr>
        <p:grpSpPr>
          <a:xfrm>
            <a:off x="6850900" y="955001"/>
            <a:ext cx="1401864" cy="1767262"/>
            <a:chOff x="6850900" y="955001"/>
            <a:chExt cx="1401864" cy="1767262"/>
          </a:xfrm>
        </p:grpSpPr>
        <p:grpSp>
          <p:nvGrpSpPr>
            <p:cNvPr id="1881" name="Google Shape;1881;p93"/>
            <p:cNvGrpSpPr/>
            <p:nvPr/>
          </p:nvGrpSpPr>
          <p:grpSpPr>
            <a:xfrm>
              <a:off x="6850900" y="955001"/>
              <a:ext cx="1401864" cy="1767262"/>
              <a:chOff x="6850900" y="955001"/>
              <a:chExt cx="1401864" cy="1767262"/>
            </a:xfrm>
          </p:grpSpPr>
          <p:cxnSp>
            <p:nvCxnSpPr>
              <p:cNvPr id="1882" name="Google Shape;1882;p93"/>
              <p:cNvCxnSpPr/>
              <p:nvPr/>
            </p:nvCxnSpPr>
            <p:spPr>
              <a:xfrm rot="10800000">
                <a:off x="8252764" y="955001"/>
                <a:ext cx="0" cy="1655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1883" name="Google Shape;1883;p93"/>
              <p:cNvCxnSpPr/>
              <p:nvPr/>
            </p:nvCxnSpPr>
            <p:spPr>
              <a:xfrm>
                <a:off x="6850900" y="2722263"/>
                <a:ext cx="9255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cxnSp>
          <p:nvCxnSpPr>
            <p:cNvPr id="1884" name="Google Shape;1884;p93"/>
            <p:cNvCxnSpPr/>
            <p:nvPr/>
          </p:nvCxnSpPr>
          <p:spPr>
            <a:xfrm rot="10800000">
              <a:off x="6973712" y="1003925"/>
              <a:ext cx="0" cy="898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85" name="Google Shape;1885;p93"/>
            <p:cNvCxnSpPr/>
            <p:nvPr/>
          </p:nvCxnSpPr>
          <p:spPr>
            <a:xfrm flipH="1" rot="10800000">
              <a:off x="6925416" y="2215512"/>
              <a:ext cx="49800" cy="151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86" name="Google Shape;1886;p93"/>
            <p:cNvCxnSpPr/>
            <p:nvPr/>
          </p:nvCxnSpPr>
          <p:spPr>
            <a:xfrm flipH="1" rot="10800000">
              <a:off x="7855960" y="2243764"/>
              <a:ext cx="49800" cy="151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887" name="Google Shape;1887;p93"/>
          <p:cNvGrpSpPr/>
          <p:nvPr/>
        </p:nvGrpSpPr>
        <p:grpSpPr>
          <a:xfrm>
            <a:off x="5188892" y="3087601"/>
            <a:ext cx="2254514" cy="917972"/>
            <a:chOff x="5188892" y="3087601"/>
            <a:chExt cx="2254514" cy="917972"/>
          </a:xfrm>
        </p:grpSpPr>
        <p:cxnSp>
          <p:nvCxnSpPr>
            <p:cNvPr id="1888" name="Google Shape;1888;p93"/>
            <p:cNvCxnSpPr/>
            <p:nvPr/>
          </p:nvCxnSpPr>
          <p:spPr>
            <a:xfrm>
              <a:off x="5281236" y="4005573"/>
              <a:ext cx="823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89" name="Google Shape;1889;p93"/>
            <p:cNvCxnSpPr/>
            <p:nvPr/>
          </p:nvCxnSpPr>
          <p:spPr>
            <a:xfrm rot="10800000">
              <a:off x="5188892" y="3087601"/>
              <a:ext cx="0" cy="83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90" name="Google Shape;1890;p93"/>
            <p:cNvCxnSpPr/>
            <p:nvPr/>
          </p:nvCxnSpPr>
          <p:spPr>
            <a:xfrm>
              <a:off x="6619606" y="4005573"/>
              <a:ext cx="8238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891" name="Google Shape;1891;p93"/>
          <p:cNvGrpSpPr/>
          <p:nvPr/>
        </p:nvGrpSpPr>
        <p:grpSpPr>
          <a:xfrm>
            <a:off x="1416837" y="2741558"/>
            <a:ext cx="76477" cy="87600"/>
            <a:chOff x="1342546" y="2743301"/>
            <a:chExt cx="76477" cy="87600"/>
          </a:xfrm>
        </p:grpSpPr>
        <p:cxnSp>
          <p:nvCxnSpPr>
            <p:cNvPr id="1892" name="Google Shape;1892;p93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3" name="Google Shape;1893;p93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94" name="Google Shape;1894;p93"/>
          <p:cNvGrpSpPr/>
          <p:nvPr/>
        </p:nvGrpSpPr>
        <p:grpSpPr>
          <a:xfrm flipH="1">
            <a:off x="2721308" y="2741558"/>
            <a:ext cx="76477" cy="87600"/>
            <a:chOff x="1342546" y="2743301"/>
            <a:chExt cx="76477" cy="87600"/>
          </a:xfrm>
        </p:grpSpPr>
        <p:cxnSp>
          <p:nvCxnSpPr>
            <p:cNvPr id="1895" name="Google Shape;1895;p93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6" name="Google Shape;1896;p93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94"/>
          <p:cNvSpPr txBox="1"/>
          <p:nvPr>
            <p:ph idx="1" type="subTitle"/>
          </p:nvPr>
        </p:nvSpPr>
        <p:spPr>
          <a:xfrm>
            <a:off x="337825" y="810000"/>
            <a:ext cx="3982200" cy="3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area.</a:t>
            </a:r>
            <a:endParaRPr/>
          </a:p>
        </p:txBody>
      </p:sp>
      <p:sp>
        <p:nvSpPr>
          <p:cNvPr id="1902" name="Google Shape;1902;p94"/>
          <p:cNvSpPr txBox="1"/>
          <p:nvPr>
            <p:ph idx="2" type="subTitle"/>
          </p:nvPr>
        </p:nvSpPr>
        <p:spPr>
          <a:xfrm>
            <a:off x="4824000" y="810000"/>
            <a:ext cx="3982200" cy="35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area.</a:t>
            </a:r>
            <a:endParaRPr/>
          </a:p>
        </p:txBody>
      </p:sp>
      <p:sp>
        <p:nvSpPr>
          <p:cNvPr id="1903" name="Google Shape;190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composite shapes</a:t>
            </a:r>
            <a:endParaRPr/>
          </a:p>
        </p:txBody>
      </p:sp>
      <p:pic>
        <p:nvPicPr>
          <p:cNvPr id="1904" name="Google Shape;1904;p94"/>
          <p:cNvPicPr preferRelativeResize="0"/>
          <p:nvPr/>
        </p:nvPicPr>
        <p:blipFill rotWithShape="1">
          <a:blip r:embed="rId3">
            <a:alphaModFix/>
          </a:blip>
          <a:srcRect b="0" l="0" r="57666" t="67102"/>
          <a:stretch/>
        </p:blipFill>
        <p:spPr>
          <a:xfrm>
            <a:off x="1032725" y="1133100"/>
            <a:ext cx="2150279" cy="1345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5" name="Google Shape;1905;p94"/>
          <p:cNvPicPr preferRelativeResize="0"/>
          <p:nvPr/>
        </p:nvPicPr>
        <p:blipFill rotWithShape="1">
          <a:blip r:embed="rId3">
            <a:alphaModFix/>
          </a:blip>
          <a:srcRect b="0" l="56245" r="0" t="67102"/>
          <a:stretch/>
        </p:blipFill>
        <p:spPr>
          <a:xfrm>
            <a:off x="5586105" y="1124575"/>
            <a:ext cx="2442120" cy="1478714"/>
          </a:xfrm>
          <a:prstGeom prst="rect">
            <a:avLst/>
          </a:prstGeom>
          <a:noFill/>
          <a:ln>
            <a:noFill/>
          </a:ln>
        </p:spPr>
      </p:pic>
      <p:sp>
        <p:nvSpPr>
          <p:cNvPr id="1906" name="Google Shape;1906;p94"/>
          <p:cNvSpPr txBox="1"/>
          <p:nvPr>
            <p:ph idx="4294967295" type="body"/>
          </p:nvPr>
        </p:nvSpPr>
        <p:spPr>
          <a:xfrm>
            <a:off x="1902641" y="2521826"/>
            <a:ext cx="5934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m</a:t>
            </a:r>
            <a:endParaRPr sz="2000"/>
          </a:p>
        </p:txBody>
      </p:sp>
      <p:cxnSp>
        <p:nvCxnSpPr>
          <p:cNvPr id="1907" name="Google Shape;1907;p94"/>
          <p:cNvCxnSpPr/>
          <p:nvPr/>
        </p:nvCxnSpPr>
        <p:spPr>
          <a:xfrm rot="10800000">
            <a:off x="2150913" y="1838066"/>
            <a:ext cx="0" cy="62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908" name="Google Shape;1908;p94"/>
          <p:cNvSpPr txBox="1"/>
          <p:nvPr>
            <p:ph idx="4294967295" type="body"/>
          </p:nvPr>
        </p:nvSpPr>
        <p:spPr>
          <a:xfrm>
            <a:off x="687797" y="1698581"/>
            <a:ext cx="5934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5</a:t>
            </a:r>
            <a:r>
              <a:rPr lang="en-GB" sz="1800">
                <a:solidFill>
                  <a:srgbClr val="282828"/>
                </a:solidFill>
              </a:rPr>
              <a:t> m</a:t>
            </a:r>
            <a:endParaRPr sz="2000"/>
          </a:p>
        </p:txBody>
      </p:sp>
      <p:sp>
        <p:nvSpPr>
          <p:cNvPr id="1909" name="Google Shape;1909;p94"/>
          <p:cNvSpPr txBox="1"/>
          <p:nvPr>
            <p:ph idx="4294967295" type="body"/>
          </p:nvPr>
        </p:nvSpPr>
        <p:spPr>
          <a:xfrm>
            <a:off x="2192690" y="1987557"/>
            <a:ext cx="593400" cy="3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3</a:t>
            </a:r>
            <a:r>
              <a:rPr lang="en-GB" sz="1800">
                <a:solidFill>
                  <a:srgbClr val="282828"/>
                </a:solidFill>
              </a:rPr>
              <a:t> m</a:t>
            </a:r>
            <a:endParaRPr sz="2000"/>
          </a:p>
        </p:txBody>
      </p:sp>
      <p:sp>
        <p:nvSpPr>
          <p:cNvPr id="1910" name="Google Shape;1910;p94"/>
          <p:cNvSpPr txBox="1"/>
          <p:nvPr>
            <p:ph idx="4294967295" type="body"/>
          </p:nvPr>
        </p:nvSpPr>
        <p:spPr>
          <a:xfrm>
            <a:off x="6511718" y="2713519"/>
            <a:ext cx="6522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 m</a:t>
            </a:r>
            <a:endParaRPr sz="2000"/>
          </a:p>
        </p:txBody>
      </p:sp>
      <p:cxnSp>
        <p:nvCxnSpPr>
          <p:cNvPr id="1911" name="Google Shape;1911;p94"/>
          <p:cNvCxnSpPr/>
          <p:nvPr/>
        </p:nvCxnSpPr>
        <p:spPr>
          <a:xfrm rot="10800000">
            <a:off x="6742881" y="1284950"/>
            <a:ext cx="0" cy="90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912" name="Google Shape;1912;p94"/>
          <p:cNvSpPr txBox="1"/>
          <p:nvPr>
            <p:ph idx="4294967295" type="body"/>
          </p:nvPr>
        </p:nvSpPr>
        <p:spPr>
          <a:xfrm>
            <a:off x="6557160" y="2281991"/>
            <a:ext cx="6522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2</a:t>
            </a:r>
            <a:r>
              <a:rPr lang="en-GB" sz="1800">
                <a:solidFill>
                  <a:srgbClr val="282828"/>
                </a:solidFill>
              </a:rPr>
              <a:t> m</a:t>
            </a:r>
            <a:endParaRPr sz="2000"/>
          </a:p>
        </p:txBody>
      </p:sp>
      <p:sp>
        <p:nvSpPr>
          <p:cNvPr id="1913" name="Google Shape;1913;p94"/>
          <p:cNvSpPr txBox="1"/>
          <p:nvPr>
            <p:ph idx="4294967295" type="body"/>
          </p:nvPr>
        </p:nvSpPr>
        <p:spPr>
          <a:xfrm>
            <a:off x="6742880" y="1724443"/>
            <a:ext cx="5841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3</a:t>
            </a:r>
            <a:r>
              <a:rPr lang="en-GB" sz="1800">
                <a:solidFill>
                  <a:srgbClr val="282828"/>
                </a:solidFill>
              </a:rPr>
              <a:t> m</a:t>
            </a:r>
            <a:endParaRPr sz="2000"/>
          </a:p>
        </p:txBody>
      </p:sp>
      <p:cxnSp>
        <p:nvCxnSpPr>
          <p:cNvPr id="1914" name="Google Shape;1914;p94"/>
          <p:cNvCxnSpPr/>
          <p:nvPr/>
        </p:nvCxnSpPr>
        <p:spPr>
          <a:xfrm rot="10800000">
            <a:off x="5735188" y="2741796"/>
            <a:ext cx="200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5" name="Google Shape;1915;p94"/>
          <p:cNvSpPr txBox="1"/>
          <p:nvPr>
            <p:ph idx="4294967295" type="body"/>
          </p:nvPr>
        </p:nvSpPr>
        <p:spPr>
          <a:xfrm>
            <a:off x="5210875" y="1706458"/>
            <a:ext cx="689400" cy="37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4</a:t>
            </a:r>
            <a:r>
              <a:rPr lang="en-GB" sz="1800">
                <a:solidFill>
                  <a:srgbClr val="282828"/>
                </a:solidFill>
              </a:rPr>
              <a:t> m</a:t>
            </a:r>
            <a:endParaRPr sz="2000"/>
          </a:p>
        </p:txBody>
      </p:sp>
      <p:cxnSp>
        <p:nvCxnSpPr>
          <p:cNvPr id="1916" name="Google Shape;1916;p94"/>
          <p:cNvCxnSpPr/>
          <p:nvPr/>
        </p:nvCxnSpPr>
        <p:spPr>
          <a:xfrm rot="10800000">
            <a:off x="5663689" y="1188456"/>
            <a:ext cx="0" cy="132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7" name="Google Shape;1917;p94"/>
          <p:cNvCxnSpPr/>
          <p:nvPr/>
        </p:nvCxnSpPr>
        <p:spPr>
          <a:xfrm rot="10800000">
            <a:off x="6429948" y="2318199"/>
            <a:ext cx="62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8" name="Google Shape;1918;p94"/>
          <p:cNvCxnSpPr/>
          <p:nvPr/>
        </p:nvCxnSpPr>
        <p:spPr>
          <a:xfrm>
            <a:off x="1246148" y="1222568"/>
            <a:ext cx="183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94"/>
          <p:cNvCxnSpPr/>
          <p:nvPr/>
        </p:nvCxnSpPr>
        <p:spPr>
          <a:xfrm>
            <a:off x="6447703" y="2567220"/>
            <a:ext cx="64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0" name="Google Shape;1920;p94"/>
          <p:cNvSpPr/>
          <p:nvPr/>
        </p:nvSpPr>
        <p:spPr>
          <a:xfrm>
            <a:off x="827600" y="3198600"/>
            <a:ext cx="1256100" cy="828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94"/>
          <p:cNvSpPr/>
          <p:nvPr/>
        </p:nvSpPr>
        <p:spPr>
          <a:xfrm rot="10799173">
            <a:off x="2363925" y="3220087"/>
            <a:ext cx="1247400" cy="4137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94"/>
          <p:cNvSpPr txBox="1"/>
          <p:nvPr>
            <p:ph idx="4294967295" type="body"/>
          </p:nvPr>
        </p:nvSpPr>
        <p:spPr>
          <a:xfrm>
            <a:off x="356614" y="3503800"/>
            <a:ext cx="524100" cy="2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5</a:t>
            </a:r>
            <a:r>
              <a:rPr lang="en-GB" sz="1600">
                <a:solidFill>
                  <a:srgbClr val="282828"/>
                </a:solidFill>
              </a:rPr>
              <a:t> m</a:t>
            </a:r>
            <a:endParaRPr sz="1800"/>
          </a:p>
        </p:txBody>
      </p:sp>
      <p:cxnSp>
        <p:nvCxnSpPr>
          <p:cNvPr id="1923" name="Google Shape;1923;p94"/>
          <p:cNvCxnSpPr/>
          <p:nvPr/>
        </p:nvCxnSpPr>
        <p:spPr>
          <a:xfrm rot="10800000">
            <a:off x="3677461" y="3216051"/>
            <a:ext cx="0" cy="41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24" name="Google Shape;1924;p94"/>
          <p:cNvSpPr txBox="1"/>
          <p:nvPr>
            <p:ph idx="4294967295" type="body"/>
          </p:nvPr>
        </p:nvSpPr>
        <p:spPr>
          <a:xfrm>
            <a:off x="1181099" y="4505525"/>
            <a:ext cx="7311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30</a:t>
            </a:r>
            <a:r>
              <a:rPr lang="en-GB" sz="1800">
                <a:solidFill>
                  <a:srgbClr val="282828"/>
                </a:solidFill>
              </a:rPr>
              <a:t> m</a:t>
            </a:r>
            <a:r>
              <a:rPr baseline="30000" lang="en-GB" sz="1800">
                <a:solidFill>
                  <a:srgbClr val="282828"/>
                </a:solidFill>
              </a:rPr>
              <a:t>2</a:t>
            </a:r>
            <a:endParaRPr baseline="30000" sz="2000"/>
          </a:p>
        </p:txBody>
      </p:sp>
      <p:sp>
        <p:nvSpPr>
          <p:cNvPr id="1925" name="Google Shape;1925;p94"/>
          <p:cNvSpPr txBox="1"/>
          <p:nvPr>
            <p:ph idx="4294967295" type="body"/>
          </p:nvPr>
        </p:nvSpPr>
        <p:spPr>
          <a:xfrm>
            <a:off x="3483400" y="4505525"/>
            <a:ext cx="10887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=  24 m</a:t>
            </a:r>
            <a:r>
              <a:rPr baseline="30000" lang="en-GB" sz="1800">
                <a:solidFill>
                  <a:srgbClr val="282828"/>
                </a:solidFill>
              </a:rPr>
              <a:t>2</a:t>
            </a:r>
            <a:endParaRPr baseline="30000" sz="2000"/>
          </a:p>
        </p:txBody>
      </p:sp>
      <p:sp>
        <p:nvSpPr>
          <p:cNvPr id="1926" name="Google Shape;1926;p94"/>
          <p:cNvSpPr txBox="1"/>
          <p:nvPr>
            <p:ph idx="4294967295" type="body"/>
          </p:nvPr>
        </p:nvSpPr>
        <p:spPr>
          <a:xfrm>
            <a:off x="2148551" y="4476950"/>
            <a:ext cx="2490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−</a:t>
            </a:r>
            <a:endParaRPr baseline="30000"/>
          </a:p>
        </p:txBody>
      </p:sp>
      <p:sp>
        <p:nvSpPr>
          <p:cNvPr id="1927" name="Google Shape;1927;p94"/>
          <p:cNvSpPr txBox="1"/>
          <p:nvPr>
            <p:ph idx="4294967295" type="body"/>
          </p:nvPr>
        </p:nvSpPr>
        <p:spPr>
          <a:xfrm>
            <a:off x="1265571" y="4118843"/>
            <a:ext cx="524100" cy="2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</a:t>
            </a:r>
            <a:r>
              <a:rPr lang="en-GB" sz="1600">
                <a:solidFill>
                  <a:srgbClr val="282828"/>
                </a:solidFill>
              </a:rPr>
              <a:t> m</a:t>
            </a:r>
            <a:endParaRPr sz="1800"/>
          </a:p>
        </p:txBody>
      </p:sp>
      <p:sp>
        <p:nvSpPr>
          <p:cNvPr id="1928" name="Google Shape;1928;p94"/>
          <p:cNvSpPr txBox="1"/>
          <p:nvPr>
            <p:ph idx="4294967295" type="body"/>
          </p:nvPr>
        </p:nvSpPr>
        <p:spPr>
          <a:xfrm>
            <a:off x="3754272" y="3321649"/>
            <a:ext cx="524100" cy="2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</a:t>
            </a:r>
            <a:r>
              <a:rPr lang="en-GB" sz="1600">
                <a:solidFill>
                  <a:srgbClr val="282828"/>
                </a:solidFill>
              </a:rPr>
              <a:t> m</a:t>
            </a:r>
            <a:endParaRPr sz="1800"/>
          </a:p>
        </p:txBody>
      </p:sp>
      <p:sp>
        <p:nvSpPr>
          <p:cNvPr id="1929" name="Google Shape;1929;p94"/>
          <p:cNvSpPr txBox="1"/>
          <p:nvPr>
            <p:ph idx="4294967295" type="body"/>
          </p:nvPr>
        </p:nvSpPr>
        <p:spPr>
          <a:xfrm>
            <a:off x="2780046" y="2895699"/>
            <a:ext cx="524100" cy="2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m</a:t>
            </a:r>
            <a:endParaRPr sz="1800"/>
          </a:p>
        </p:txBody>
      </p:sp>
      <p:sp>
        <p:nvSpPr>
          <p:cNvPr id="1930" name="Google Shape;1930;p94"/>
          <p:cNvSpPr txBox="1"/>
          <p:nvPr>
            <p:ph idx="4294967295" type="body"/>
          </p:nvPr>
        </p:nvSpPr>
        <p:spPr>
          <a:xfrm>
            <a:off x="2705099" y="4505525"/>
            <a:ext cx="7311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6</a:t>
            </a:r>
            <a:r>
              <a:rPr lang="en-GB" sz="1800">
                <a:solidFill>
                  <a:srgbClr val="282828"/>
                </a:solidFill>
              </a:rPr>
              <a:t> m</a:t>
            </a:r>
            <a:r>
              <a:rPr baseline="30000" lang="en-GB" sz="1800">
                <a:solidFill>
                  <a:srgbClr val="282828"/>
                </a:solidFill>
              </a:rPr>
              <a:t>2</a:t>
            </a:r>
            <a:endParaRPr baseline="30000" sz="2000"/>
          </a:p>
        </p:txBody>
      </p:sp>
      <p:sp>
        <p:nvSpPr>
          <p:cNvPr id="1931" name="Google Shape;1931;p94"/>
          <p:cNvSpPr/>
          <p:nvPr/>
        </p:nvSpPr>
        <p:spPr>
          <a:xfrm rot="-851">
            <a:off x="5188201" y="3178348"/>
            <a:ext cx="1211700" cy="8112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2" name="Google Shape;1932;p94"/>
          <p:cNvSpPr/>
          <p:nvPr/>
        </p:nvSpPr>
        <p:spPr>
          <a:xfrm>
            <a:off x="6826241" y="3781192"/>
            <a:ext cx="415800" cy="2085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3" name="Google Shape;1933;p94"/>
          <p:cNvSpPr txBox="1"/>
          <p:nvPr>
            <p:ph idx="4294967295" type="body"/>
          </p:nvPr>
        </p:nvSpPr>
        <p:spPr>
          <a:xfrm>
            <a:off x="4712861" y="3488800"/>
            <a:ext cx="457500" cy="23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4 m</a:t>
            </a:r>
            <a:endParaRPr sz="1600"/>
          </a:p>
        </p:txBody>
      </p:sp>
      <p:sp>
        <p:nvSpPr>
          <p:cNvPr id="1934" name="Google Shape;1934;p94"/>
          <p:cNvSpPr txBox="1"/>
          <p:nvPr>
            <p:ph idx="4294967295" type="body"/>
          </p:nvPr>
        </p:nvSpPr>
        <p:spPr>
          <a:xfrm>
            <a:off x="5604843" y="4083188"/>
            <a:ext cx="524100" cy="2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6 m</a:t>
            </a:r>
            <a:endParaRPr sz="1800"/>
          </a:p>
        </p:txBody>
      </p:sp>
      <p:sp>
        <p:nvSpPr>
          <p:cNvPr id="1935" name="Google Shape;1935;p94"/>
          <p:cNvSpPr txBox="1"/>
          <p:nvPr>
            <p:ph idx="4294967295" type="body"/>
          </p:nvPr>
        </p:nvSpPr>
        <p:spPr>
          <a:xfrm>
            <a:off x="6868993" y="4082473"/>
            <a:ext cx="524100" cy="2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2</a:t>
            </a:r>
            <a:r>
              <a:rPr lang="en-GB" sz="1600">
                <a:solidFill>
                  <a:srgbClr val="282828"/>
                </a:solidFill>
              </a:rPr>
              <a:t> m</a:t>
            </a:r>
            <a:endParaRPr sz="1800"/>
          </a:p>
        </p:txBody>
      </p:sp>
      <p:sp>
        <p:nvSpPr>
          <p:cNvPr id="1936" name="Google Shape;1936;p94"/>
          <p:cNvSpPr txBox="1"/>
          <p:nvPr>
            <p:ph idx="4294967295" type="body"/>
          </p:nvPr>
        </p:nvSpPr>
        <p:spPr>
          <a:xfrm>
            <a:off x="7425663" y="3750366"/>
            <a:ext cx="524100" cy="2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</a:rPr>
              <a:t>1</a:t>
            </a:r>
            <a:r>
              <a:rPr lang="en-GB" sz="1600">
                <a:solidFill>
                  <a:srgbClr val="282828"/>
                </a:solidFill>
              </a:rPr>
              <a:t> m</a:t>
            </a:r>
            <a:endParaRPr sz="1800"/>
          </a:p>
        </p:txBody>
      </p:sp>
      <p:sp>
        <p:nvSpPr>
          <p:cNvPr id="1937" name="Google Shape;1937;p94"/>
          <p:cNvSpPr txBox="1"/>
          <p:nvPr>
            <p:ph idx="4294967295" type="body"/>
          </p:nvPr>
        </p:nvSpPr>
        <p:spPr>
          <a:xfrm>
            <a:off x="5524499" y="4505525"/>
            <a:ext cx="7311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12</a:t>
            </a:r>
            <a:r>
              <a:rPr lang="en-GB" sz="1800">
                <a:solidFill>
                  <a:srgbClr val="282828"/>
                </a:solidFill>
              </a:rPr>
              <a:t> m</a:t>
            </a:r>
            <a:r>
              <a:rPr baseline="30000" lang="en-GB" sz="1800">
                <a:solidFill>
                  <a:srgbClr val="282828"/>
                </a:solidFill>
              </a:rPr>
              <a:t>2</a:t>
            </a:r>
            <a:endParaRPr baseline="30000" sz="2000"/>
          </a:p>
        </p:txBody>
      </p:sp>
      <p:sp>
        <p:nvSpPr>
          <p:cNvPr id="1938" name="Google Shape;1938;p94"/>
          <p:cNvSpPr txBox="1"/>
          <p:nvPr>
            <p:ph idx="4294967295" type="body"/>
          </p:nvPr>
        </p:nvSpPr>
        <p:spPr>
          <a:xfrm>
            <a:off x="7522000" y="4505525"/>
            <a:ext cx="10887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=  10 m</a:t>
            </a:r>
            <a:r>
              <a:rPr baseline="30000" lang="en-GB" sz="1800">
                <a:solidFill>
                  <a:srgbClr val="282828"/>
                </a:solidFill>
              </a:rPr>
              <a:t>2</a:t>
            </a:r>
            <a:endParaRPr baseline="30000" sz="2000"/>
          </a:p>
        </p:txBody>
      </p:sp>
      <p:sp>
        <p:nvSpPr>
          <p:cNvPr id="1939" name="Google Shape;1939;p94"/>
          <p:cNvSpPr txBox="1"/>
          <p:nvPr>
            <p:ph idx="4294967295" type="body"/>
          </p:nvPr>
        </p:nvSpPr>
        <p:spPr>
          <a:xfrm>
            <a:off x="6339551" y="4476950"/>
            <a:ext cx="2490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−</a:t>
            </a:r>
            <a:endParaRPr baseline="30000"/>
          </a:p>
        </p:txBody>
      </p:sp>
      <p:sp>
        <p:nvSpPr>
          <p:cNvPr id="1940" name="Google Shape;1940;p94"/>
          <p:cNvSpPr txBox="1"/>
          <p:nvPr>
            <p:ph idx="4294967295" type="body"/>
          </p:nvPr>
        </p:nvSpPr>
        <p:spPr>
          <a:xfrm>
            <a:off x="6819899" y="4505525"/>
            <a:ext cx="731100" cy="2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</a:rPr>
              <a:t>2</a:t>
            </a:r>
            <a:r>
              <a:rPr lang="en-GB" sz="1800">
                <a:solidFill>
                  <a:srgbClr val="282828"/>
                </a:solidFill>
              </a:rPr>
              <a:t> m</a:t>
            </a:r>
            <a:r>
              <a:rPr baseline="30000" lang="en-GB" sz="1800">
                <a:solidFill>
                  <a:srgbClr val="282828"/>
                </a:solidFill>
              </a:rPr>
              <a:t>2</a:t>
            </a:r>
            <a:endParaRPr baseline="30000" sz="2000"/>
          </a:p>
        </p:txBody>
      </p:sp>
      <p:grpSp>
        <p:nvGrpSpPr>
          <p:cNvPr id="1941" name="Google Shape;1941;p94"/>
          <p:cNvGrpSpPr/>
          <p:nvPr/>
        </p:nvGrpSpPr>
        <p:grpSpPr>
          <a:xfrm>
            <a:off x="1240246" y="2345439"/>
            <a:ext cx="76477" cy="87600"/>
            <a:chOff x="1342546" y="2743301"/>
            <a:chExt cx="76477" cy="87600"/>
          </a:xfrm>
        </p:grpSpPr>
        <p:cxnSp>
          <p:nvCxnSpPr>
            <p:cNvPr id="1942" name="Google Shape;1942;p94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3" name="Google Shape;1943;p94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44" name="Google Shape;1944;p94"/>
          <p:cNvGrpSpPr/>
          <p:nvPr/>
        </p:nvGrpSpPr>
        <p:grpSpPr>
          <a:xfrm flipH="1">
            <a:off x="2989822" y="2345439"/>
            <a:ext cx="76477" cy="87600"/>
            <a:chOff x="1342546" y="2743301"/>
            <a:chExt cx="76477" cy="87600"/>
          </a:xfrm>
        </p:grpSpPr>
        <p:cxnSp>
          <p:nvCxnSpPr>
            <p:cNvPr id="1945" name="Google Shape;1945;p94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6" name="Google Shape;1946;p94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947" name="Google Shape;1947;p94"/>
          <p:cNvCxnSpPr/>
          <p:nvPr/>
        </p:nvCxnSpPr>
        <p:spPr>
          <a:xfrm rot="10800000">
            <a:off x="1114800" y="1213525"/>
            <a:ext cx="0" cy="123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8" name="Google Shape;1948;p94"/>
          <p:cNvCxnSpPr/>
          <p:nvPr/>
        </p:nvCxnSpPr>
        <p:spPr>
          <a:xfrm>
            <a:off x="1223300" y="2549050"/>
            <a:ext cx="186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949" name="Google Shape;1949;p94"/>
          <p:cNvGrpSpPr/>
          <p:nvPr/>
        </p:nvGrpSpPr>
        <p:grpSpPr>
          <a:xfrm>
            <a:off x="733425" y="3123557"/>
            <a:ext cx="2877900" cy="1006644"/>
            <a:chOff x="733425" y="3123557"/>
            <a:chExt cx="2877900" cy="1006644"/>
          </a:xfrm>
        </p:grpSpPr>
        <p:cxnSp>
          <p:nvCxnSpPr>
            <p:cNvPr id="1950" name="Google Shape;1950;p94"/>
            <p:cNvCxnSpPr/>
            <p:nvPr/>
          </p:nvCxnSpPr>
          <p:spPr>
            <a:xfrm>
              <a:off x="817875" y="4130200"/>
              <a:ext cx="1287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51" name="Google Shape;1951;p94"/>
            <p:cNvCxnSpPr/>
            <p:nvPr/>
          </p:nvCxnSpPr>
          <p:spPr>
            <a:xfrm rot="10800000">
              <a:off x="733425" y="3210000"/>
              <a:ext cx="0" cy="828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52" name="Google Shape;1952;p94"/>
            <p:cNvCxnSpPr/>
            <p:nvPr/>
          </p:nvCxnSpPr>
          <p:spPr>
            <a:xfrm flipH="1" rot="10800000">
              <a:off x="2363925" y="3123557"/>
              <a:ext cx="12474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953" name="Google Shape;1953;p94"/>
          <p:cNvGrpSpPr/>
          <p:nvPr/>
        </p:nvGrpSpPr>
        <p:grpSpPr>
          <a:xfrm>
            <a:off x="5108617" y="3189139"/>
            <a:ext cx="2250160" cy="888867"/>
            <a:chOff x="5108617" y="3189139"/>
            <a:chExt cx="2250160" cy="888867"/>
          </a:xfrm>
        </p:grpSpPr>
        <p:cxnSp>
          <p:nvCxnSpPr>
            <p:cNvPr id="1954" name="Google Shape;1954;p94"/>
            <p:cNvCxnSpPr/>
            <p:nvPr/>
          </p:nvCxnSpPr>
          <p:spPr>
            <a:xfrm rot="10800000">
              <a:off x="5108617" y="3189139"/>
              <a:ext cx="0" cy="811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55" name="Google Shape;1955;p94"/>
            <p:cNvCxnSpPr/>
            <p:nvPr/>
          </p:nvCxnSpPr>
          <p:spPr>
            <a:xfrm flipH="1" rot="10800000">
              <a:off x="5188201" y="4077706"/>
              <a:ext cx="12117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56" name="Google Shape;1956;p94"/>
            <p:cNvCxnSpPr/>
            <p:nvPr/>
          </p:nvCxnSpPr>
          <p:spPr>
            <a:xfrm>
              <a:off x="6824900" y="4077700"/>
              <a:ext cx="413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57" name="Google Shape;1957;p94"/>
            <p:cNvCxnSpPr/>
            <p:nvPr/>
          </p:nvCxnSpPr>
          <p:spPr>
            <a:xfrm rot="10800000">
              <a:off x="7358777" y="3749511"/>
              <a:ext cx="0" cy="259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2" name="Google Shape;196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3505" y="1359450"/>
            <a:ext cx="1416950" cy="2003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3" name="Google Shape;1963;p95"/>
          <p:cNvPicPr preferRelativeResize="0"/>
          <p:nvPr/>
        </p:nvPicPr>
        <p:blipFill rotWithShape="1">
          <a:blip r:embed="rId4">
            <a:alphaModFix/>
          </a:blip>
          <a:srcRect b="0" l="40095" r="29217" t="0"/>
          <a:stretch/>
        </p:blipFill>
        <p:spPr>
          <a:xfrm>
            <a:off x="4049450" y="1434625"/>
            <a:ext cx="2125526" cy="211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95"/>
          <p:cNvPicPr preferRelativeResize="0"/>
          <p:nvPr/>
        </p:nvPicPr>
        <p:blipFill rotWithShape="1">
          <a:blip r:embed="rId4">
            <a:alphaModFix/>
          </a:blip>
          <a:srcRect b="0" l="0" r="71415" t="0"/>
          <a:stretch/>
        </p:blipFill>
        <p:spPr>
          <a:xfrm flipH="1">
            <a:off x="811873" y="1282225"/>
            <a:ext cx="1979926" cy="211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95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Find the area of each composite shape.</a:t>
            </a:r>
            <a:endParaRPr sz="1800"/>
          </a:p>
        </p:txBody>
      </p:sp>
      <p:sp>
        <p:nvSpPr>
          <p:cNvPr id="1966" name="Google Shape;1966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composite shapes</a:t>
            </a:r>
            <a:endParaRPr/>
          </a:p>
        </p:txBody>
      </p:sp>
      <p:cxnSp>
        <p:nvCxnSpPr>
          <p:cNvPr id="1967" name="Google Shape;1967;p95"/>
          <p:cNvCxnSpPr/>
          <p:nvPr/>
        </p:nvCxnSpPr>
        <p:spPr>
          <a:xfrm>
            <a:off x="813655" y="1478511"/>
            <a:ext cx="0" cy="173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68" name="Google Shape;1968;p95"/>
          <p:cNvSpPr txBox="1"/>
          <p:nvPr/>
        </p:nvSpPr>
        <p:spPr>
          <a:xfrm>
            <a:off x="232922" y="2221700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9" name="Google Shape;1969;p95"/>
          <p:cNvSpPr txBox="1"/>
          <p:nvPr/>
        </p:nvSpPr>
        <p:spPr>
          <a:xfrm>
            <a:off x="2635950" y="2544300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0" name="Google Shape;1970;p95"/>
          <p:cNvSpPr txBox="1"/>
          <p:nvPr/>
        </p:nvSpPr>
        <p:spPr>
          <a:xfrm>
            <a:off x="1654240" y="3203314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95"/>
          <p:cNvSpPr txBox="1"/>
          <p:nvPr/>
        </p:nvSpPr>
        <p:spPr>
          <a:xfrm>
            <a:off x="3334419" y="2050275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95"/>
          <p:cNvSpPr txBox="1"/>
          <p:nvPr/>
        </p:nvSpPr>
        <p:spPr>
          <a:xfrm>
            <a:off x="4671389" y="2887869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95"/>
          <p:cNvSpPr txBox="1"/>
          <p:nvPr/>
        </p:nvSpPr>
        <p:spPr>
          <a:xfrm>
            <a:off x="4701949" y="1671393"/>
            <a:ext cx="82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4" name="Google Shape;1974;p95"/>
          <p:cNvCxnSpPr/>
          <p:nvPr/>
        </p:nvCxnSpPr>
        <p:spPr>
          <a:xfrm rot="10800000">
            <a:off x="4618264" y="1567254"/>
            <a:ext cx="0" cy="5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75" name="Google Shape;1975;p95"/>
          <p:cNvCxnSpPr/>
          <p:nvPr/>
        </p:nvCxnSpPr>
        <p:spPr>
          <a:xfrm>
            <a:off x="4117541" y="1585473"/>
            <a:ext cx="51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6" name="Google Shape;1976;p95"/>
          <p:cNvSpPr txBox="1"/>
          <p:nvPr/>
        </p:nvSpPr>
        <p:spPr>
          <a:xfrm>
            <a:off x="4029028" y="1234639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7" name="Google Shape;1977;p95"/>
          <p:cNvCxnSpPr/>
          <p:nvPr/>
        </p:nvCxnSpPr>
        <p:spPr>
          <a:xfrm>
            <a:off x="6174977" y="2100580"/>
            <a:ext cx="0" cy="74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8" name="Google Shape;1978;p95"/>
          <p:cNvSpPr txBox="1"/>
          <p:nvPr/>
        </p:nvSpPr>
        <p:spPr>
          <a:xfrm>
            <a:off x="6115526" y="2272100"/>
            <a:ext cx="72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9" name="Google Shape;1979;p95"/>
          <p:cNvCxnSpPr/>
          <p:nvPr/>
        </p:nvCxnSpPr>
        <p:spPr>
          <a:xfrm>
            <a:off x="8369113" y="1470849"/>
            <a:ext cx="0" cy="3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0" name="Google Shape;1980;p95"/>
          <p:cNvSpPr txBox="1"/>
          <p:nvPr/>
        </p:nvSpPr>
        <p:spPr>
          <a:xfrm>
            <a:off x="8342216" y="1415401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1" name="Google Shape;1981;p95"/>
          <p:cNvCxnSpPr/>
          <p:nvPr/>
        </p:nvCxnSpPr>
        <p:spPr>
          <a:xfrm>
            <a:off x="8074950" y="1478500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2" name="Google Shape;1982;p95"/>
          <p:cNvSpPr txBox="1"/>
          <p:nvPr/>
        </p:nvSpPr>
        <p:spPr>
          <a:xfrm>
            <a:off x="7954575" y="1129728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95"/>
          <p:cNvSpPr txBox="1"/>
          <p:nvPr>
            <p:ph idx="1" type="body"/>
          </p:nvPr>
        </p:nvSpPr>
        <p:spPr>
          <a:xfrm>
            <a:off x="324000" y="1064100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984" name="Google Shape;1984;p95"/>
          <p:cNvSpPr txBox="1"/>
          <p:nvPr>
            <p:ph idx="1" type="body"/>
          </p:nvPr>
        </p:nvSpPr>
        <p:spPr>
          <a:xfrm>
            <a:off x="3384451" y="1064100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985" name="Google Shape;1985;p95"/>
          <p:cNvSpPr txBox="1"/>
          <p:nvPr>
            <p:ph idx="1" type="body"/>
          </p:nvPr>
        </p:nvSpPr>
        <p:spPr>
          <a:xfrm>
            <a:off x="6844578" y="1064100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grpSp>
        <p:nvGrpSpPr>
          <p:cNvPr id="1986" name="Google Shape;1986;p95"/>
          <p:cNvGrpSpPr/>
          <p:nvPr/>
        </p:nvGrpSpPr>
        <p:grpSpPr>
          <a:xfrm>
            <a:off x="1371161" y="3079671"/>
            <a:ext cx="76477" cy="87600"/>
            <a:chOff x="1342546" y="2743301"/>
            <a:chExt cx="76477" cy="87600"/>
          </a:xfrm>
        </p:grpSpPr>
        <p:cxnSp>
          <p:nvCxnSpPr>
            <p:cNvPr id="1987" name="Google Shape;1987;p95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8" name="Google Shape;1988;p95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89" name="Google Shape;1989;p95"/>
          <p:cNvGrpSpPr/>
          <p:nvPr/>
        </p:nvGrpSpPr>
        <p:grpSpPr>
          <a:xfrm flipH="1">
            <a:off x="2470777" y="3079671"/>
            <a:ext cx="76477" cy="87600"/>
            <a:chOff x="1342546" y="2743301"/>
            <a:chExt cx="76477" cy="87600"/>
          </a:xfrm>
        </p:grpSpPr>
        <p:cxnSp>
          <p:nvCxnSpPr>
            <p:cNvPr id="1990" name="Google Shape;1990;p95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1" name="Google Shape;1991;p95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92" name="Google Shape;1992;p95"/>
          <p:cNvGrpSpPr/>
          <p:nvPr/>
        </p:nvGrpSpPr>
        <p:grpSpPr>
          <a:xfrm>
            <a:off x="4149453" y="2747657"/>
            <a:ext cx="76477" cy="87600"/>
            <a:chOff x="1342546" y="2743301"/>
            <a:chExt cx="76477" cy="87600"/>
          </a:xfrm>
        </p:grpSpPr>
        <p:cxnSp>
          <p:nvCxnSpPr>
            <p:cNvPr id="1993" name="Google Shape;1993;p95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4" name="Google Shape;1994;p95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95" name="Google Shape;1995;p95"/>
          <p:cNvGrpSpPr/>
          <p:nvPr/>
        </p:nvGrpSpPr>
        <p:grpSpPr>
          <a:xfrm>
            <a:off x="1516967" y="1496787"/>
            <a:ext cx="172200" cy="0"/>
            <a:chOff x="1459229" y="1496787"/>
            <a:chExt cx="172200" cy="0"/>
          </a:xfrm>
        </p:grpSpPr>
        <p:cxnSp>
          <p:nvCxnSpPr>
            <p:cNvPr id="1996" name="Google Shape;1996;p95"/>
            <p:cNvCxnSpPr/>
            <p:nvPr/>
          </p:nvCxnSpPr>
          <p:spPr>
            <a:xfrm>
              <a:off x="14592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997" name="Google Shape;1997;p95"/>
            <p:cNvCxnSpPr/>
            <p:nvPr/>
          </p:nvCxnSpPr>
          <p:spPr>
            <a:xfrm>
              <a:off x="15354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1998" name="Google Shape;1998;p95"/>
          <p:cNvGrpSpPr/>
          <p:nvPr/>
        </p:nvGrpSpPr>
        <p:grpSpPr>
          <a:xfrm>
            <a:off x="1882244" y="3182258"/>
            <a:ext cx="172200" cy="0"/>
            <a:chOff x="1459229" y="1496787"/>
            <a:chExt cx="172200" cy="0"/>
          </a:xfrm>
        </p:grpSpPr>
        <p:cxnSp>
          <p:nvCxnSpPr>
            <p:cNvPr id="1999" name="Google Shape;1999;p95"/>
            <p:cNvCxnSpPr/>
            <p:nvPr/>
          </p:nvCxnSpPr>
          <p:spPr>
            <a:xfrm>
              <a:off x="14592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000" name="Google Shape;2000;p95"/>
            <p:cNvCxnSpPr/>
            <p:nvPr/>
          </p:nvCxnSpPr>
          <p:spPr>
            <a:xfrm>
              <a:off x="15354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cxnSp>
        <p:nvCxnSpPr>
          <p:cNvPr id="2001" name="Google Shape;2001;p95"/>
          <p:cNvCxnSpPr/>
          <p:nvPr/>
        </p:nvCxnSpPr>
        <p:spPr>
          <a:xfrm rot="10800000">
            <a:off x="1107675" y="1837350"/>
            <a:ext cx="125400" cy="18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2" name="Google Shape;2002;p95"/>
          <p:cNvCxnSpPr/>
          <p:nvPr/>
        </p:nvCxnSpPr>
        <p:spPr>
          <a:xfrm rot="10800000">
            <a:off x="1351915" y="3315902"/>
            <a:ext cx="121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3" name="Google Shape;2003;p95"/>
          <p:cNvCxnSpPr/>
          <p:nvPr/>
        </p:nvCxnSpPr>
        <p:spPr>
          <a:xfrm rot="10800000">
            <a:off x="2282644" y="1794793"/>
            <a:ext cx="40800" cy="6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4" name="Google Shape;2004;p95"/>
          <p:cNvCxnSpPr/>
          <p:nvPr/>
        </p:nvCxnSpPr>
        <p:spPr>
          <a:xfrm rot="10800000">
            <a:off x="2707190" y="2228575"/>
            <a:ext cx="0" cy="95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5" name="Google Shape;2005;p95"/>
          <p:cNvCxnSpPr/>
          <p:nvPr/>
        </p:nvCxnSpPr>
        <p:spPr>
          <a:xfrm rot="10800000">
            <a:off x="4001757" y="1682325"/>
            <a:ext cx="0" cy="118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6" name="Google Shape;2006;p95"/>
          <p:cNvCxnSpPr/>
          <p:nvPr/>
        </p:nvCxnSpPr>
        <p:spPr>
          <a:xfrm rot="10800000">
            <a:off x="4139650" y="2988303"/>
            <a:ext cx="191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7" name="Google Shape;2007;p95"/>
          <p:cNvCxnSpPr/>
          <p:nvPr/>
        </p:nvCxnSpPr>
        <p:spPr>
          <a:xfrm rot="10800000">
            <a:off x="4612038" y="2009510"/>
            <a:ext cx="96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2" name="Google Shape;201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8171" y="1397449"/>
            <a:ext cx="1357232" cy="1965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3" name="Google Shape;2013;p96"/>
          <p:cNvPicPr preferRelativeResize="0"/>
          <p:nvPr/>
        </p:nvPicPr>
        <p:blipFill rotWithShape="1">
          <a:blip r:embed="rId4">
            <a:alphaModFix/>
          </a:blip>
          <a:srcRect b="0" l="0" r="71415" t="0"/>
          <a:stretch/>
        </p:blipFill>
        <p:spPr>
          <a:xfrm flipH="1">
            <a:off x="814923" y="1285725"/>
            <a:ext cx="1979926" cy="211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4" name="Google Shape;2014;p96"/>
          <p:cNvPicPr preferRelativeResize="0"/>
          <p:nvPr/>
        </p:nvPicPr>
        <p:blipFill rotWithShape="1">
          <a:blip r:embed="rId4">
            <a:alphaModFix/>
          </a:blip>
          <a:srcRect b="0" l="40097" r="29216" t="0"/>
          <a:stretch/>
        </p:blipFill>
        <p:spPr>
          <a:xfrm>
            <a:off x="4049450" y="1438125"/>
            <a:ext cx="2125526" cy="21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5" name="Google Shape;2015;p96"/>
          <p:cNvSpPr txBox="1"/>
          <p:nvPr>
            <p:ph idx="1" type="body"/>
          </p:nvPr>
        </p:nvSpPr>
        <p:spPr>
          <a:xfrm>
            <a:off x="324000" y="759300"/>
            <a:ext cx="8237700" cy="3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Find the area of each composite shape.</a:t>
            </a:r>
            <a:endParaRPr sz="1800"/>
          </a:p>
        </p:txBody>
      </p:sp>
      <p:sp>
        <p:nvSpPr>
          <p:cNvPr id="2016" name="Google Shape;2016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Areas of composite shapes</a:t>
            </a:r>
            <a:endParaRPr/>
          </a:p>
        </p:txBody>
      </p:sp>
      <p:cxnSp>
        <p:nvCxnSpPr>
          <p:cNvPr id="2017" name="Google Shape;2017;p96"/>
          <p:cNvCxnSpPr/>
          <p:nvPr/>
        </p:nvCxnSpPr>
        <p:spPr>
          <a:xfrm>
            <a:off x="813655" y="1478511"/>
            <a:ext cx="0" cy="173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8" name="Google Shape;2018;p96"/>
          <p:cNvSpPr txBox="1"/>
          <p:nvPr/>
        </p:nvSpPr>
        <p:spPr>
          <a:xfrm>
            <a:off x="232922" y="2221700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96"/>
          <p:cNvSpPr txBox="1"/>
          <p:nvPr/>
        </p:nvSpPr>
        <p:spPr>
          <a:xfrm>
            <a:off x="2635950" y="2544300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0" name="Google Shape;2020;p96"/>
          <p:cNvSpPr txBox="1"/>
          <p:nvPr/>
        </p:nvSpPr>
        <p:spPr>
          <a:xfrm>
            <a:off x="1654240" y="3203314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1" name="Google Shape;2021;p96"/>
          <p:cNvSpPr txBox="1"/>
          <p:nvPr/>
        </p:nvSpPr>
        <p:spPr>
          <a:xfrm>
            <a:off x="3334419" y="2050275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96"/>
          <p:cNvSpPr txBox="1"/>
          <p:nvPr/>
        </p:nvSpPr>
        <p:spPr>
          <a:xfrm>
            <a:off x="4671389" y="2887869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96"/>
          <p:cNvSpPr txBox="1"/>
          <p:nvPr/>
        </p:nvSpPr>
        <p:spPr>
          <a:xfrm>
            <a:off x="4701949" y="1671393"/>
            <a:ext cx="82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4" name="Google Shape;2024;p96"/>
          <p:cNvCxnSpPr/>
          <p:nvPr/>
        </p:nvCxnSpPr>
        <p:spPr>
          <a:xfrm rot="10800000">
            <a:off x="4618264" y="1567254"/>
            <a:ext cx="0" cy="50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25" name="Google Shape;2025;p96"/>
          <p:cNvCxnSpPr/>
          <p:nvPr/>
        </p:nvCxnSpPr>
        <p:spPr>
          <a:xfrm>
            <a:off x="4117541" y="1585473"/>
            <a:ext cx="51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6" name="Google Shape;2026;p96"/>
          <p:cNvSpPr txBox="1"/>
          <p:nvPr/>
        </p:nvSpPr>
        <p:spPr>
          <a:xfrm>
            <a:off x="4029028" y="1234639"/>
            <a:ext cx="78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7" name="Google Shape;2027;p96"/>
          <p:cNvCxnSpPr/>
          <p:nvPr/>
        </p:nvCxnSpPr>
        <p:spPr>
          <a:xfrm>
            <a:off x="6174977" y="2100580"/>
            <a:ext cx="0" cy="74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8" name="Google Shape;2028;p96"/>
          <p:cNvSpPr txBox="1"/>
          <p:nvPr/>
        </p:nvSpPr>
        <p:spPr>
          <a:xfrm>
            <a:off x="6115526" y="2272100"/>
            <a:ext cx="72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mm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9" name="Google Shape;2029;p96"/>
          <p:cNvCxnSpPr/>
          <p:nvPr/>
        </p:nvCxnSpPr>
        <p:spPr>
          <a:xfrm>
            <a:off x="8369113" y="1470849"/>
            <a:ext cx="0" cy="31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0" name="Google Shape;2030;p96"/>
          <p:cNvSpPr txBox="1"/>
          <p:nvPr/>
        </p:nvSpPr>
        <p:spPr>
          <a:xfrm>
            <a:off x="8342216" y="1415401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1" name="Google Shape;2031;p96"/>
          <p:cNvCxnSpPr/>
          <p:nvPr/>
        </p:nvCxnSpPr>
        <p:spPr>
          <a:xfrm>
            <a:off x="8074950" y="1478500"/>
            <a:ext cx="30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2" name="Google Shape;2032;p96"/>
          <p:cNvSpPr txBox="1"/>
          <p:nvPr/>
        </p:nvSpPr>
        <p:spPr>
          <a:xfrm>
            <a:off x="7954575" y="1129728"/>
            <a:ext cx="68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96"/>
          <p:cNvSpPr txBox="1"/>
          <p:nvPr>
            <p:ph idx="1" type="body"/>
          </p:nvPr>
        </p:nvSpPr>
        <p:spPr>
          <a:xfrm>
            <a:off x="324000" y="1064100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2034" name="Google Shape;2034;p96"/>
          <p:cNvSpPr txBox="1"/>
          <p:nvPr>
            <p:ph idx="1" type="body"/>
          </p:nvPr>
        </p:nvSpPr>
        <p:spPr>
          <a:xfrm>
            <a:off x="3384451" y="1064100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2035" name="Google Shape;2035;p96"/>
          <p:cNvSpPr txBox="1"/>
          <p:nvPr>
            <p:ph idx="1" type="body"/>
          </p:nvPr>
        </p:nvSpPr>
        <p:spPr>
          <a:xfrm>
            <a:off x="6844578" y="1064100"/>
            <a:ext cx="304800" cy="4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grpSp>
        <p:nvGrpSpPr>
          <p:cNvPr id="2036" name="Google Shape;2036;p96"/>
          <p:cNvGrpSpPr/>
          <p:nvPr/>
        </p:nvGrpSpPr>
        <p:grpSpPr>
          <a:xfrm>
            <a:off x="1371161" y="3079671"/>
            <a:ext cx="76477" cy="87600"/>
            <a:chOff x="1342546" y="2743301"/>
            <a:chExt cx="76477" cy="87600"/>
          </a:xfrm>
        </p:grpSpPr>
        <p:cxnSp>
          <p:nvCxnSpPr>
            <p:cNvPr id="2037" name="Google Shape;2037;p96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8" name="Google Shape;2038;p96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39" name="Google Shape;2039;p96"/>
          <p:cNvGrpSpPr/>
          <p:nvPr/>
        </p:nvGrpSpPr>
        <p:grpSpPr>
          <a:xfrm flipH="1">
            <a:off x="2470777" y="3079671"/>
            <a:ext cx="76477" cy="87600"/>
            <a:chOff x="1342546" y="2743301"/>
            <a:chExt cx="76477" cy="87600"/>
          </a:xfrm>
        </p:grpSpPr>
        <p:cxnSp>
          <p:nvCxnSpPr>
            <p:cNvPr id="2040" name="Google Shape;2040;p96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1" name="Google Shape;2041;p96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42" name="Google Shape;2042;p96"/>
          <p:cNvGrpSpPr/>
          <p:nvPr/>
        </p:nvGrpSpPr>
        <p:grpSpPr>
          <a:xfrm>
            <a:off x="4149453" y="2747657"/>
            <a:ext cx="76477" cy="87600"/>
            <a:chOff x="1342546" y="2743301"/>
            <a:chExt cx="76477" cy="87600"/>
          </a:xfrm>
        </p:grpSpPr>
        <p:cxnSp>
          <p:nvCxnSpPr>
            <p:cNvPr id="2043" name="Google Shape;2043;p96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4" name="Google Shape;2044;p96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45" name="Google Shape;2045;p96"/>
          <p:cNvGrpSpPr/>
          <p:nvPr/>
        </p:nvGrpSpPr>
        <p:grpSpPr>
          <a:xfrm>
            <a:off x="1516967" y="1496787"/>
            <a:ext cx="172200" cy="0"/>
            <a:chOff x="1459229" y="1496787"/>
            <a:chExt cx="172200" cy="0"/>
          </a:xfrm>
        </p:grpSpPr>
        <p:cxnSp>
          <p:nvCxnSpPr>
            <p:cNvPr id="2046" name="Google Shape;2046;p96"/>
            <p:cNvCxnSpPr/>
            <p:nvPr/>
          </p:nvCxnSpPr>
          <p:spPr>
            <a:xfrm>
              <a:off x="14592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047" name="Google Shape;2047;p96"/>
            <p:cNvCxnSpPr/>
            <p:nvPr/>
          </p:nvCxnSpPr>
          <p:spPr>
            <a:xfrm>
              <a:off x="15354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2048" name="Google Shape;2048;p96"/>
          <p:cNvGrpSpPr/>
          <p:nvPr/>
        </p:nvGrpSpPr>
        <p:grpSpPr>
          <a:xfrm>
            <a:off x="1882244" y="3182258"/>
            <a:ext cx="172200" cy="0"/>
            <a:chOff x="1459229" y="1496787"/>
            <a:chExt cx="172200" cy="0"/>
          </a:xfrm>
        </p:grpSpPr>
        <p:cxnSp>
          <p:nvCxnSpPr>
            <p:cNvPr id="2049" name="Google Shape;2049;p96"/>
            <p:cNvCxnSpPr/>
            <p:nvPr/>
          </p:nvCxnSpPr>
          <p:spPr>
            <a:xfrm>
              <a:off x="14592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2050" name="Google Shape;2050;p96"/>
            <p:cNvCxnSpPr/>
            <p:nvPr/>
          </p:nvCxnSpPr>
          <p:spPr>
            <a:xfrm>
              <a:off x="15354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cxnSp>
        <p:nvCxnSpPr>
          <p:cNvPr id="2051" name="Google Shape;2051;p96"/>
          <p:cNvCxnSpPr/>
          <p:nvPr/>
        </p:nvCxnSpPr>
        <p:spPr>
          <a:xfrm rot="10800000">
            <a:off x="1136333" y="1846802"/>
            <a:ext cx="40800" cy="6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2" name="Google Shape;2052;p96"/>
          <p:cNvCxnSpPr/>
          <p:nvPr/>
        </p:nvCxnSpPr>
        <p:spPr>
          <a:xfrm rot="10800000">
            <a:off x="1351915" y="3315902"/>
            <a:ext cx="121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3" name="Google Shape;2053;p96"/>
          <p:cNvCxnSpPr/>
          <p:nvPr/>
        </p:nvCxnSpPr>
        <p:spPr>
          <a:xfrm rot="10800000">
            <a:off x="2282644" y="1794793"/>
            <a:ext cx="40800" cy="6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4" name="Google Shape;2054;p96"/>
          <p:cNvCxnSpPr/>
          <p:nvPr/>
        </p:nvCxnSpPr>
        <p:spPr>
          <a:xfrm rot="10800000">
            <a:off x="2707190" y="2228575"/>
            <a:ext cx="0" cy="95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5" name="Google Shape;2055;p96"/>
          <p:cNvCxnSpPr/>
          <p:nvPr/>
        </p:nvCxnSpPr>
        <p:spPr>
          <a:xfrm rot="10800000">
            <a:off x="4001757" y="1682325"/>
            <a:ext cx="0" cy="118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6" name="Google Shape;2056;p96"/>
          <p:cNvCxnSpPr/>
          <p:nvPr/>
        </p:nvCxnSpPr>
        <p:spPr>
          <a:xfrm rot="10800000">
            <a:off x="4139650" y="2988303"/>
            <a:ext cx="191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7" name="Google Shape;2057;p96"/>
          <p:cNvCxnSpPr/>
          <p:nvPr/>
        </p:nvCxnSpPr>
        <p:spPr>
          <a:xfrm rot="10800000">
            <a:off x="4612038" y="2009510"/>
            <a:ext cx="966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58" name="Google Shape;2058;p96"/>
          <p:cNvSpPr txBox="1"/>
          <p:nvPr/>
        </p:nvSpPr>
        <p:spPr>
          <a:xfrm>
            <a:off x="1120078" y="3987425"/>
            <a:ext cx="115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35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9" name="Google Shape;2059;p96"/>
          <p:cNvSpPr txBox="1"/>
          <p:nvPr/>
        </p:nvSpPr>
        <p:spPr>
          <a:xfrm>
            <a:off x="4549078" y="3987425"/>
            <a:ext cx="115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23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0" name="Google Shape;2060;p96"/>
          <p:cNvSpPr txBox="1"/>
          <p:nvPr/>
        </p:nvSpPr>
        <p:spPr>
          <a:xfrm>
            <a:off x="7216078" y="3987425"/>
            <a:ext cx="1154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baseline="30000"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9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The area is the size of the surface and states the number of unit squares needed to completely cover that surface. </a:t>
            </a:r>
            <a:br>
              <a:rPr lang="en-GB" sz="2000">
                <a:solidFill>
                  <a:srgbClr val="282828"/>
                </a:solidFill>
              </a:rPr>
            </a:br>
            <a:br>
              <a:rPr lang="en-GB" sz="2000">
                <a:solidFill>
                  <a:srgbClr val="282828"/>
                </a:solidFill>
              </a:rPr>
            </a:br>
            <a:r>
              <a:rPr lang="en-GB" sz="2000">
                <a:solidFill>
                  <a:srgbClr val="282828"/>
                </a:solidFill>
              </a:rPr>
              <a:t>A formula can be used to find the area of a rectangle, triangle or parallelogram.</a:t>
            </a:r>
            <a:br>
              <a:rPr lang="en-GB" sz="2000">
                <a:solidFill>
                  <a:srgbClr val="282828"/>
                </a:solidFill>
              </a:rPr>
            </a:br>
            <a:br>
              <a:rPr lang="en-GB" sz="2000">
                <a:solidFill>
                  <a:srgbClr val="282828"/>
                </a:solidFill>
              </a:rPr>
            </a:br>
            <a:r>
              <a:rPr lang="en-GB" sz="2000">
                <a:solidFill>
                  <a:srgbClr val="282828"/>
                </a:solidFill>
              </a:rPr>
              <a:t>There can be more than one way to find the area of a trapezium.</a:t>
            </a:r>
            <a:br>
              <a:rPr lang="en-GB" sz="2000">
                <a:solidFill>
                  <a:srgbClr val="282828"/>
                </a:solidFill>
              </a:rPr>
            </a:br>
            <a:br>
              <a:rPr lang="en-GB" sz="2000">
                <a:solidFill>
                  <a:srgbClr val="282828"/>
                </a:solidFill>
              </a:rPr>
            </a:br>
            <a:r>
              <a:rPr lang="en-GB" sz="2000">
                <a:solidFill>
                  <a:srgbClr val="282828"/>
                </a:solidFill>
              </a:rPr>
              <a:t>The area of composite shapes can be found by splitting them into shapes whose area can be found.</a:t>
            </a:r>
            <a:endParaRPr sz="2000">
              <a:solidFill>
                <a:srgbClr val="282828"/>
              </a:solidFill>
            </a:endParaRPr>
          </a:p>
        </p:txBody>
      </p:sp>
      <p:sp>
        <p:nvSpPr>
          <p:cNvPr id="2066" name="Google Shape;2066;p9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9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72" name="Google Shape;2072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