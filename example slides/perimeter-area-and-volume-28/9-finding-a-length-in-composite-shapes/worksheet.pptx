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EB913F-18FE-4A31-8206-6172159F923C}">
  <a:tblStyle styleId="{15EB913F-18FE-4A31-8206-6172159F92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length in composite shapes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61" name="Google Shape;161;p20"/>
          <p:cNvGraphicFramePr/>
          <p:nvPr/>
        </p:nvGraphicFramePr>
        <p:xfrm>
          <a:off x="468000" y="213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{15EB913F-18FE-4A31-8206-6172159F923C}</a:tableStyleId>
              </a:tblPr>
              <a:tblGrid>
                <a:gridCol w="971475"/>
                <a:gridCol w="1413125"/>
                <a:gridCol w="1413125"/>
                <a:gridCol w="1413125"/>
                <a:gridCol w="1413125"/>
              </a:tblGrid>
              <a:tr h="85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sector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4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× 2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full circle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0"/>
          <p:cNvSpPr txBox="1"/>
          <p:nvPr/>
        </p:nvSpPr>
        <p:spPr>
          <a:xfrm>
            <a:off x="468000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lengths from areas of circles and sectors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963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table to find the area of the full circle that the sector comes from.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 b="15104" l="48702" r="26012" t="25265"/>
          <a:stretch/>
        </p:blipFill>
        <p:spPr>
          <a:xfrm>
            <a:off x="2999369" y="2297455"/>
            <a:ext cx="1089661" cy="587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168" l="77259" r="868" t="6172"/>
          <a:stretch/>
        </p:blipFill>
        <p:spPr>
          <a:xfrm>
            <a:off x="6016248" y="2225856"/>
            <a:ext cx="746503" cy="73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 rot="10800000">
            <a:off x="4564794" y="2237958"/>
            <a:ext cx="704746" cy="706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>
            <a:off x="1723625" y="2190225"/>
            <a:ext cx="799982" cy="80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3976474" y="4910499"/>
            <a:ext cx="311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Using your answer to part a, complete the method to calculate the radius of this quarter-circle.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13" y="4835184"/>
            <a:ext cx="2341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area of this quarter-circle is 900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area of the full circle that the sector comes from.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995021" y="4910499"/>
            <a:ext cx="178500" cy="178500"/>
          </a:xfrm>
          <a:prstGeom prst="rect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77019" l="10054" r="67299" t="0"/>
          <a:stretch/>
        </p:blipFill>
        <p:spPr>
          <a:xfrm>
            <a:off x="2953075" y="4860192"/>
            <a:ext cx="683175" cy="68978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3976471" y="5622411"/>
            <a:ext cx="259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full circle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274106" y="6252118"/>
            <a:ext cx="99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274121" y="5945241"/>
            <a:ext cx="85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492938" y="5902902"/>
            <a:ext cx="715500" cy="25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76137" y="6509896"/>
            <a:ext cx="99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 cm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492938" y="6206395"/>
            <a:ext cx="715500" cy="25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492938" y="5899449"/>
            <a:ext cx="715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492938" y="6206397"/>
            <a:ext cx="715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 rotWithShape="1">
          <a:blip r:embed="rId5">
            <a:alphaModFix/>
          </a:blip>
          <a:srcRect b="56289" l="77172" r="0" t="0"/>
          <a:stretch/>
        </p:blipFill>
        <p:spPr>
          <a:xfrm>
            <a:off x="3957061" y="7106252"/>
            <a:ext cx="1262124" cy="1260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/>
          <p:nvPr/>
        </p:nvSpPr>
        <p:spPr>
          <a:xfrm>
            <a:off x="4597250" y="7754741"/>
            <a:ext cx="600300" cy="60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98973" y="8102169"/>
            <a:ext cx="259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full circle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096452" y="8819784"/>
            <a:ext cx="9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100887" y="8488455"/>
            <a:ext cx="85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320600" y="8446175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096443" y="9150846"/>
            <a:ext cx="43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1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320600" y="8775592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6400" y="7122111"/>
            <a:ext cx="311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area of a semicircle                           is 39.3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method to calculate the diameter of this semicircle.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320600" y="9105008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 rotWithShape="1">
          <a:blip r:embed="rId4">
            <a:alphaModFix/>
          </a:blip>
          <a:srcRect b="35653" l="5289" r="62534" t="46211"/>
          <a:stretch/>
        </p:blipFill>
        <p:spPr>
          <a:xfrm rot="5400000">
            <a:off x="2865001" y="8748478"/>
            <a:ext cx="969561" cy="54369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2096450" y="9486801"/>
            <a:ext cx="43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320600" y="9434425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 rot="5400000">
            <a:off x="2442196" y="8938812"/>
            <a:ext cx="935401" cy="223360"/>
            <a:chOff x="4150800" y="4091060"/>
            <a:chExt cx="842400" cy="286800"/>
          </a:xfrm>
        </p:grpSpPr>
        <p:cxnSp>
          <p:nvCxnSpPr>
            <p:cNvPr id="194" name="Google Shape;194;p20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5" name="Google Shape;195;p20"/>
            <p:cNvSpPr/>
            <p:nvPr/>
          </p:nvSpPr>
          <p:spPr>
            <a:xfrm rot="-5400000">
              <a:off x="4482078" y="4114460"/>
              <a:ext cx="286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6" name="Google Shape;196;p20"/>
          <p:cNvCxnSpPr/>
          <p:nvPr/>
        </p:nvCxnSpPr>
        <p:spPr>
          <a:xfrm>
            <a:off x="3784591" y="7030529"/>
            <a:ext cx="0" cy="291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4597245" y="7754741"/>
            <a:ext cx="600300" cy="60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219192" y="7155634"/>
            <a:ext cx="188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area of this three-quarter-circle is 1357.2 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radius of the sector?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5215341" y="5578124"/>
            <a:ext cx="294300" cy="27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198609" y="5578130"/>
            <a:ext cx="689700" cy="27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a length in composite shapes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2320486" y="1398607"/>
            <a:ext cx="47715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the areas, in terms of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for the three component parts of this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00" y="1337676"/>
            <a:ext cx="1478675" cy="147535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468025" y="997648"/>
            <a:ext cx="6422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composite shape has an area of 470.7 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 rot="-5400000">
            <a:off x="848320" y="2078110"/>
            <a:ext cx="116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1"/>
          <p:cNvCxnSpPr/>
          <p:nvPr/>
        </p:nvCxnSpPr>
        <p:spPr>
          <a:xfrm rot="-5400000">
            <a:off x="1558648" y="2787822"/>
            <a:ext cx="116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1211572" y="2442610"/>
            <a:ext cx="116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5" name="Google Shape;215;p21"/>
          <p:cNvGrpSpPr/>
          <p:nvPr/>
        </p:nvGrpSpPr>
        <p:grpSpPr>
          <a:xfrm>
            <a:off x="1261290" y="2883172"/>
            <a:ext cx="710901" cy="153490"/>
            <a:chOff x="4150800" y="4092900"/>
            <a:chExt cx="842400" cy="225987"/>
          </a:xfrm>
        </p:grpSpPr>
        <p:cxnSp>
          <p:nvCxnSpPr>
            <p:cNvPr id="216" name="Google Shape;216;p2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7" name="Google Shape;217;p21"/>
            <p:cNvSpPr/>
            <p:nvPr/>
          </p:nvSpPr>
          <p:spPr>
            <a:xfrm>
              <a:off x="4240654" y="4147887"/>
              <a:ext cx="662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" name="Google Shape;218;p21"/>
          <p:cNvGrpSpPr/>
          <p:nvPr/>
        </p:nvGrpSpPr>
        <p:grpSpPr>
          <a:xfrm>
            <a:off x="791619" y="1599888"/>
            <a:ext cx="216118" cy="216118"/>
            <a:chOff x="1020916" y="1442088"/>
            <a:chExt cx="457200" cy="457200"/>
          </a:xfrm>
        </p:grpSpPr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21"/>
            <p:cNvSpPr txBox="1"/>
            <p:nvPr/>
          </p:nvSpPr>
          <p:spPr>
            <a:xfrm>
              <a:off x="1045522" y="1526411"/>
              <a:ext cx="408000" cy="1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1" name="Google Shape;221;p21"/>
          <p:cNvGrpSpPr/>
          <p:nvPr/>
        </p:nvGrpSpPr>
        <p:grpSpPr>
          <a:xfrm>
            <a:off x="1483205" y="2309140"/>
            <a:ext cx="216118" cy="216118"/>
            <a:chOff x="1020916" y="1442088"/>
            <a:chExt cx="457200" cy="457200"/>
          </a:xfrm>
        </p:grpSpPr>
        <p:pic>
          <p:nvPicPr>
            <p:cNvPr id="222" name="Google Shape;22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" name="Google Shape;224;p21"/>
          <p:cNvGrpSpPr/>
          <p:nvPr/>
        </p:nvGrpSpPr>
        <p:grpSpPr>
          <a:xfrm>
            <a:off x="1483205" y="1599888"/>
            <a:ext cx="216118" cy="216118"/>
            <a:chOff x="1020916" y="1442088"/>
            <a:chExt cx="457200" cy="457200"/>
          </a:xfrm>
        </p:grpSpPr>
        <p:pic>
          <p:nvPicPr>
            <p:cNvPr id="225" name="Google Shape;22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" name="Google Shape;227;p21"/>
          <p:cNvGrpSpPr/>
          <p:nvPr/>
        </p:nvGrpSpPr>
        <p:grpSpPr>
          <a:xfrm>
            <a:off x="2994029" y="1961000"/>
            <a:ext cx="219593" cy="206700"/>
            <a:chOff x="1020916" y="1442088"/>
            <a:chExt cx="457200" cy="457200"/>
          </a:xfrm>
        </p:grpSpPr>
        <p:pic>
          <p:nvPicPr>
            <p:cNvPr id="228" name="Google Shape;22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0" name="Google Shape;230;p21"/>
          <p:cNvSpPr txBox="1"/>
          <p:nvPr/>
        </p:nvSpPr>
        <p:spPr>
          <a:xfrm>
            <a:off x="2346496" y="1961224"/>
            <a:ext cx="648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" name="Google Shape;231;p21"/>
          <p:cNvGrpSpPr/>
          <p:nvPr/>
        </p:nvGrpSpPr>
        <p:grpSpPr>
          <a:xfrm>
            <a:off x="2988479" y="2410200"/>
            <a:ext cx="219593" cy="238155"/>
            <a:chOff x="1020916" y="1442088"/>
            <a:chExt cx="457200" cy="457200"/>
          </a:xfrm>
        </p:grpSpPr>
        <p:pic>
          <p:nvPicPr>
            <p:cNvPr id="232" name="Google Shape;23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4" name="Google Shape;234;p21"/>
          <p:cNvSpPr txBox="1"/>
          <p:nvPr/>
        </p:nvSpPr>
        <p:spPr>
          <a:xfrm>
            <a:off x="2340955" y="2410424"/>
            <a:ext cx="648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5" name="Google Shape;235;p21"/>
          <p:cNvGrpSpPr/>
          <p:nvPr/>
        </p:nvGrpSpPr>
        <p:grpSpPr>
          <a:xfrm>
            <a:off x="2994793" y="2890938"/>
            <a:ext cx="219593" cy="225765"/>
            <a:chOff x="1020916" y="1442088"/>
            <a:chExt cx="457200" cy="457200"/>
          </a:xfrm>
        </p:grpSpPr>
        <p:pic>
          <p:nvPicPr>
            <p:cNvPr id="236" name="Google Shape;23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8" name="Google Shape;238;p21"/>
          <p:cNvSpPr txBox="1"/>
          <p:nvPr/>
        </p:nvSpPr>
        <p:spPr>
          <a:xfrm>
            <a:off x="2340962" y="2891161"/>
            <a:ext cx="648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17900" y="3339188"/>
            <a:ext cx="47184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Show by factorising that the area of the composite shape can be written as: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40" name="Google Shape;240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900777" y="3739570"/>
            <a:ext cx="216123" cy="32461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1164308" y="3773620"/>
            <a:ext cx="1070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88815" y="657613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lengths of composite shapes using algebra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88825" y="4214325"/>
            <a:ext cx="66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the calculation to find the radius of the quarter-circle, given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44" name="Google Shape;244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872225" y="4612100"/>
            <a:ext cx="195277" cy="29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1058626" y="4612100"/>
            <a:ext cx="132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831372" y="4612096"/>
            <a:ext cx="107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470.7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630975" y="6093775"/>
            <a:ext cx="878700" cy="26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76400" y="5020556"/>
            <a:ext cx="661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composite shape has an area of 11 633.7 mm².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steps to calculate the value of r, giving your answer to the closest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 rotWithShape="1">
          <a:blip r:embed="rId6">
            <a:alphaModFix/>
          </a:blip>
          <a:srcRect b="53056" l="0" r="70349" t="2060"/>
          <a:stretch/>
        </p:blipFill>
        <p:spPr>
          <a:xfrm>
            <a:off x="488825" y="5588208"/>
            <a:ext cx="1323001" cy="1315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21"/>
          <p:cNvGrpSpPr/>
          <p:nvPr/>
        </p:nvGrpSpPr>
        <p:grpSpPr>
          <a:xfrm>
            <a:off x="814125" y="6178891"/>
            <a:ext cx="710924" cy="133911"/>
            <a:chOff x="3864472" y="4092900"/>
            <a:chExt cx="1481400" cy="227045"/>
          </a:xfrm>
        </p:grpSpPr>
        <p:cxnSp>
          <p:nvCxnSpPr>
            <p:cNvPr id="251" name="Google Shape;251;p2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2" name="Google Shape;252;p21"/>
            <p:cNvSpPr/>
            <p:nvPr/>
          </p:nvSpPr>
          <p:spPr>
            <a:xfrm>
              <a:off x="3864472" y="4253945"/>
              <a:ext cx="1481400" cy="6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mm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53" name="Google Shape;253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70977" r="17106" t="0"/>
          <a:stretch/>
        </p:blipFill>
        <p:spPr>
          <a:xfrm>
            <a:off x="4976944" y="5508775"/>
            <a:ext cx="195275" cy="4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4198609" y="5849335"/>
            <a:ext cx="68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120091" y="5849335"/>
            <a:ext cx="68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637265" y="5588188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11633.7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2914520" y="5599148"/>
            <a:ext cx="1135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58" name="Google Shape;258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0" t="0"/>
          <a:stretch/>
        </p:blipFill>
        <p:spPr>
          <a:xfrm>
            <a:off x="4408914" y="6016483"/>
            <a:ext cx="154413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5637265" y="6095908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11633.7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2914520" y="6106867"/>
            <a:ext cx="1135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factorise: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61" name="Google Shape;261;p21" title="one half open paren close paren"/>
          <p:cNvPicPr preferRelativeResize="0"/>
          <p:nvPr/>
        </p:nvPicPr>
        <p:blipFill rotWithShape="1">
          <a:blip r:embed="rId7">
            <a:alphaModFix/>
          </a:blip>
          <a:srcRect b="0" l="25606" r="68076" t="0"/>
          <a:stretch/>
        </p:blipFill>
        <p:spPr>
          <a:xfrm>
            <a:off x="4635427" y="5993804"/>
            <a:ext cx="85050" cy="44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62" name="Google Shape;262;p21" title="one half open paren close paren"/>
          <p:cNvPicPr preferRelativeResize="0"/>
          <p:nvPr/>
        </p:nvPicPr>
        <p:blipFill rotWithShape="1">
          <a:blip r:embed="rId7">
            <a:alphaModFix/>
          </a:blip>
          <a:srcRect b="0" l="25606" r="68076" t="0"/>
          <a:stretch/>
        </p:blipFill>
        <p:spPr>
          <a:xfrm flipH="1">
            <a:off x="5422096" y="5993804"/>
            <a:ext cx="85050" cy="44290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/>
          <p:nvPr/>
        </p:nvSpPr>
        <p:spPr>
          <a:xfrm>
            <a:off x="4630975" y="6484975"/>
            <a:ext cx="878700" cy="292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64" name="Google Shape;264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0" t="0"/>
          <a:stretch/>
        </p:blipFill>
        <p:spPr>
          <a:xfrm>
            <a:off x="4408914" y="6467290"/>
            <a:ext cx="154413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5637265" y="6490116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11633.7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125024" y="6501076"/>
            <a:ext cx="192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expression into decimal: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67" name="Google Shape;267;p21" title="one half open paren close paren"/>
          <p:cNvPicPr preferRelativeResize="0"/>
          <p:nvPr/>
        </p:nvPicPr>
        <p:blipFill rotWithShape="1">
          <a:blip r:embed="rId7">
            <a:alphaModFix/>
          </a:blip>
          <a:srcRect b="0" l="25606" r="68076" t="0"/>
          <a:stretch/>
        </p:blipFill>
        <p:spPr>
          <a:xfrm>
            <a:off x="4635427" y="6388013"/>
            <a:ext cx="85050" cy="44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68" name="Google Shape;268;p21" title="one half open paren close paren"/>
          <p:cNvPicPr preferRelativeResize="0"/>
          <p:nvPr/>
        </p:nvPicPr>
        <p:blipFill rotWithShape="1">
          <a:blip r:embed="rId7">
            <a:alphaModFix/>
          </a:blip>
          <a:srcRect b="0" l="25606" r="68076" t="0"/>
          <a:stretch/>
        </p:blipFill>
        <p:spPr>
          <a:xfrm flipH="1">
            <a:off x="5422096" y="6388013"/>
            <a:ext cx="85050" cy="44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69" name="Google Shape;269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0" t="0"/>
          <a:stretch/>
        </p:blipFill>
        <p:spPr>
          <a:xfrm>
            <a:off x="4408914" y="6861805"/>
            <a:ext cx="154413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5637265" y="6907003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851525" y="6906675"/>
            <a:ext cx="1089300" cy="256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2125024" y="7334851"/>
            <a:ext cx="192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root: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73" name="Google Shape;273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4239" t="0"/>
          <a:stretch/>
        </p:blipFill>
        <p:spPr>
          <a:xfrm>
            <a:off x="4408914" y="7246795"/>
            <a:ext cx="93065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5637265" y="7323891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5851525" y="7293575"/>
            <a:ext cx="878700" cy="25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125024" y="6917963"/>
            <a:ext cx="192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divide: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618785" y="6478838"/>
            <a:ext cx="878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851517" y="6907003"/>
            <a:ext cx="1135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851517" y="7304841"/>
            <a:ext cx="878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21"/>
          <p:cNvPicPr preferRelativeResize="0"/>
          <p:nvPr/>
        </p:nvPicPr>
        <p:blipFill rotWithShape="1">
          <a:blip r:embed="rId6">
            <a:alphaModFix/>
          </a:blip>
          <a:srcRect b="51881" l="77095" r="0" t="0"/>
          <a:stretch/>
        </p:blipFill>
        <p:spPr>
          <a:xfrm>
            <a:off x="530300" y="8285608"/>
            <a:ext cx="1006801" cy="13889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21"/>
          <p:cNvGrpSpPr/>
          <p:nvPr/>
        </p:nvGrpSpPr>
        <p:grpSpPr>
          <a:xfrm>
            <a:off x="519775" y="8849872"/>
            <a:ext cx="648355" cy="131954"/>
            <a:chOff x="3966553" y="4092900"/>
            <a:chExt cx="1371600" cy="227116"/>
          </a:xfrm>
        </p:grpSpPr>
        <p:cxnSp>
          <p:nvCxnSpPr>
            <p:cNvPr id="282" name="Google Shape;282;p2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83" name="Google Shape;283;p21"/>
            <p:cNvSpPr/>
            <p:nvPr/>
          </p:nvSpPr>
          <p:spPr>
            <a:xfrm>
              <a:off x="3966553" y="4149016"/>
              <a:ext cx="13716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4" name="Google Shape;284;p21"/>
          <p:cNvSpPr txBox="1"/>
          <p:nvPr/>
        </p:nvSpPr>
        <p:spPr>
          <a:xfrm>
            <a:off x="476400" y="7821120"/>
            <a:ext cx="661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composite shape has an area of 4031 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value of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giving your answer to the closest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