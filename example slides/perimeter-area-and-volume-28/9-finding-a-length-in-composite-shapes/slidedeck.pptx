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AA7282-5BF7-4F40-B1DE-E8E49530A6CE}">
  <a:tblStyle styleId="{EDAA7282-5BF7-4F40-B1DE-E8E49530A6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e5677615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e567761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a0432bf5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a0432bf5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a0432bf52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a0432bf52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0432bf52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a0432bf52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a0432bf52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a0432bf52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a0432bf52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a0432bf52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a0432bf52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a0432bf52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a0432bf52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a0432bf52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a0432bf52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a0432bf52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a0432bf520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a0432bf52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a0432bf520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a0432bf52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a0432bf520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a0432bf520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a0432bf520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a0432bf52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a0432bf520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a0432bf520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a0432bf520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a0432bf520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a0432bf520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a0432bf520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a0432bf520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a0432bf520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a0432bf520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a0432bf520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a0432bf520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a0432bf520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a0432bf520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a0432bf520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2a0432bf520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2a0432bf520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a0432bf520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a0432bf520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a0432bf520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a0432bf520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2a0432bf520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2a0432bf520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a0432bf520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a0432bf520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a0432bf520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a0432bf520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a0432bf520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a0432bf520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2a0432bf520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2a0432bf520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a0432bf520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a0432bf520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a0432bf520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a0432bf520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a0432bf520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a0432bf520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2a0432bf520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a0432bf520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a0432bf520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a0432bf520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2a0432bf520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2a0432bf520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2a0432bf520_0_1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2a0432bf520_0_1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2a0432bf520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2a0432bf520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2a0432bf520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a0432bf520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74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4.pn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4.png"/><Relationship Id="rId4" Type="http://schemas.openxmlformats.org/officeDocument/2006/relationships/image" Target="../media/image28.png"/><Relationship Id="rId11" Type="http://schemas.openxmlformats.org/officeDocument/2006/relationships/image" Target="../media/image13.png"/><Relationship Id="rId10" Type="http://schemas.openxmlformats.org/officeDocument/2006/relationships/image" Target="../media/image34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Relationship Id="rId4" Type="http://schemas.openxmlformats.org/officeDocument/2006/relationships/image" Target="../media/image43.png"/><Relationship Id="rId5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Relationship Id="rId5" Type="http://schemas.openxmlformats.org/officeDocument/2006/relationships/image" Target="../media/image43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png"/><Relationship Id="rId4" Type="http://schemas.openxmlformats.org/officeDocument/2006/relationships/image" Target="../media/image43.png"/><Relationship Id="rId5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43.png"/><Relationship Id="rId5" Type="http://schemas.openxmlformats.org/officeDocument/2006/relationships/image" Target="../media/image6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8.png"/><Relationship Id="rId4" Type="http://schemas.openxmlformats.org/officeDocument/2006/relationships/image" Target="../media/image43.png"/><Relationship Id="rId5" Type="http://schemas.openxmlformats.org/officeDocument/2006/relationships/image" Target="../media/image66.png"/><Relationship Id="rId6" Type="http://schemas.openxmlformats.org/officeDocument/2006/relationships/image" Target="../media/image7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8.png"/><Relationship Id="rId4" Type="http://schemas.openxmlformats.org/officeDocument/2006/relationships/image" Target="../media/image43.png"/><Relationship Id="rId5" Type="http://schemas.openxmlformats.org/officeDocument/2006/relationships/image" Target="../media/image6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Relationship Id="rId6" Type="http://schemas.openxmlformats.org/officeDocument/2006/relationships/image" Target="../media/image7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length in composite shapes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solve area problems of composite shapes involving whole and/or part circles where the area is known and the radius or diameter must be found.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688850"/>
            <a:ext cx="5842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sector is the region formed between two radii and their connecting arc.  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764000"/>
            <a:ext cx="4847100" cy="15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diameter of a circle is any line segment that starts and ends on the edge of the circle and passes through the centre of the circle.  </a:t>
            </a:r>
            <a:endParaRPr/>
          </a:p>
        </p:txBody>
      </p:sp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199982">
            <a:off x="6524269" y="1090571"/>
            <a:ext cx="2226789" cy="210113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/>
        </p:nvSpPr>
        <p:spPr>
          <a:xfrm>
            <a:off x="5499925" y="2258475"/>
            <a:ext cx="8184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sector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0" name="Google Shape;770;p67"/>
          <p:cNvCxnSpPr/>
          <p:nvPr/>
        </p:nvCxnSpPr>
        <p:spPr>
          <a:xfrm flipH="1" rot="10800000">
            <a:off x="6119512" y="2071143"/>
            <a:ext cx="974700" cy="2538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1" name="Google Shape;771;p67"/>
          <p:cNvSpPr txBox="1"/>
          <p:nvPr/>
        </p:nvSpPr>
        <p:spPr>
          <a:xfrm>
            <a:off x="6698795" y="3271825"/>
            <a:ext cx="989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2" name="Google Shape;772;p67"/>
          <p:cNvCxnSpPr/>
          <p:nvPr/>
        </p:nvCxnSpPr>
        <p:spPr>
          <a:xfrm flipH="1" rot="10800000">
            <a:off x="7164628" y="2519271"/>
            <a:ext cx="87000" cy="78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3" name="Google Shape;773;p67"/>
          <p:cNvSpPr txBox="1"/>
          <p:nvPr/>
        </p:nvSpPr>
        <p:spPr>
          <a:xfrm>
            <a:off x="8059461" y="667850"/>
            <a:ext cx="9747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sector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4" name="Google Shape;774;p67"/>
          <p:cNvCxnSpPr/>
          <p:nvPr/>
        </p:nvCxnSpPr>
        <p:spPr>
          <a:xfrm flipH="1">
            <a:off x="7798359" y="911732"/>
            <a:ext cx="495000" cy="7686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5" name="Google Shape;775;p67"/>
          <p:cNvSpPr txBox="1"/>
          <p:nvPr>
            <p:ph idx="2" type="subTitle"/>
          </p:nvPr>
        </p:nvSpPr>
        <p:spPr>
          <a:xfrm>
            <a:off x="324000" y="3702550"/>
            <a:ext cx="48471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radius is any line segment that joins the centre of a circle to its edge.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sp>
        <p:nvSpPr>
          <p:cNvPr id="781" name="Google Shape;78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782" name="Google Shape;782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length in composite shapes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05603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69"/>
          <p:cNvPicPr preferRelativeResize="0"/>
          <p:nvPr/>
        </p:nvPicPr>
        <p:blipFill rotWithShape="1">
          <a:blip r:embed="rId3">
            <a:alphaModFix/>
          </a:blip>
          <a:srcRect b="1448" l="41999" r="340" t="0"/>
          <a:stretch/>
        </p:blipFill>
        <p:spPr>
          <a:xfrm>
            <a:off x="762265" y="1992825"/>
            <a:ext cx="1933874" cy="19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24025" y="683100"/>
            <a:ext cx="464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of this quarter-circle is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cm².</a:t>
            </a:r>
            <a:endParaRPr sz="1800"/>
          </a:p>
        </p:txBody>
      </p:sp>
      <p:sp>
        <p:nvSpPr>
          <p:cNvPr id="790" name="Google Shape;79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24025" y="1296400"/>
            <a:ext cx="3836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many of these quarter-circles fit into a </a:t>
            </a:r>
            <a:r>
              <a:rPr lang="en-GB" sz="1800">
                <a:solidFill>
                  <a:schemeClr val="accent4"/>
                </a:solidFill>
              </a:rPr>
              <a:t>full circle</a:t>
            </a:r>
            <a:r>
              <a:rPr lang="en-GB" sz="1800"/>
              <a:t>?</a:t>
            </a:r>
            <a:endParaRPr sz="1800"/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3">
            <a:alphaModFix/>
          </a:blip>
          <a:srcRect b="47818" l="0" r="69578" t="0"/>
          <a:stretch/>
        </p:blipFill>
        <p:spPr>
          <a:xfrm>
            <a:off x="1681275" y="1992825"/>
            <a:ext cx="1020351" cy="10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56725" y="2305125"/>
            <a:ext cx="3836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Four quarter-circles fit into a full circle.</a:t>
            </a:r>
            <a:endParaRPr sz="1800"/>
          </a:p>
        </p:txBody>
      </p: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370050" y="4077825"/>
            <a:ext cx="6554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of these quarter-circles are congruent to the first, and therefore each will have the same area.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1448" l="41999" r="340" t="0"/>
          <a:stretch/>
        </p:blipFill>
        <p:spPr>
          <a:xfrm>
            <a:off x="762265" y="1992825"/>
            <a:ext cx="1933874" cy="19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324025" y="710776"/>
            <a:ext cx="464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of this quarter-circle is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cm².</a:t>
            </a:r>
            <a:endParaRPr sz="1800"/>
          </a:p>
        </p:txBody>
      </p:sp>
      <p:sp>
        <p:nvSpPr>
          <p:cNvPr id="801" name="Google Shape;80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3913200" y="2098600"/>
            <a:ext cx="3722400" cy="12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total area of the full circle is: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+ 9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+ 9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+ 9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× 4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36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</a:t>
            </a:r>
            <a:endParaRPr sz="1800"/>
          </a:p>
        </p:txBody>
      </p: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324025" y="1296400"/>
            <a:ext cx="3836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is the area of the </a:t>
            </a:r>
            <a:r>
              <a:rPr lang="en-GB" sz="1800">
                <a:solidFill>
                  <a:schemeClr val="accent4"/>
                </a:solidFill>
              </a:rPr>
              <a:t>full circle</a:t>
            </a:r>
            <a:r>
              <a:rPr lang="en-GB" sz="1800"/>
              <a:t> this sector comes from?</a:t>
            </a:r>
            <a:endParaRPr sz="1800"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70050" y="4077825"/>
            <a:ext cx="6554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of these quarter-circles are congruent to the first, and therefore each will have the same area.</a:t>
            </a:r>
            <a:endParaRPr sz="1800"/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1688399" y="2442725"/>
            <a:ext cx="901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1688399" y="3070650"/>
            <a:ext cx="901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819274" y="2442725"/>
            <a:ext cx="901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819274" y="3070650"/>
            <a:ext cx="901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809" name="Google Shape;809;p70"/>
          <p:cNvSpPr/>
          <p:nvPr/>
        </p:nvSpPr>
        <p:spPr>
          <a:xfrm>
            <a:off x="4416029" y="2758918"/>
            <a:ext cx="370500" cy="2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0" name="Google Shape;810;p70"/>
          <p:cNvCxnSpPr>
            <a:stCxn id="809" idx="3"/>
          </p:cNvCxnSpPr>
          <p:nvPr/>
        </p:nvCxnSpPr>
        <p:spPr>
          <a:xfrm>
            <a:off x="4786529" y="2893618"/>
            <a:ext cx="1717500" cy="354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6500925" y="3019125"/>
            <a:ext cx="23190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need 4 quarter-circles to create one full circle.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p71"/>
          <p:cNvPicPr preferRelativeResize="0"/>
          <p:nvPr/>
        </p:nvPicPr>
        <p:blipFill rotWithShape="1">
          <a:blip r:embed="rId3">
            <a:alphaModFix/>
          </a:blip>
          <a:srcRect b="56600" l="53081" r="23900" t="0"/>
          <a:stretch/>
        </p:blipFill>
        <p:spPr>
          <a:xfrm>
            <a:off x="889822" y="1744100"/>
            <a:ext cx="1930075" cy="18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>
            <p:ph idx="1" type="body"/>
          </p:nvPr>
        </p:nvSpPr>
        <p:spPr>
          <a:xfrm>
            <a:off x="1981450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18" name="Google Shape;818;p71"/>
          <p:cNvSpPr txBox="1"/>
          <p:nvPr>
            <p:ph idx="1" type="body"/>
          </p:nvPr>
        </p:nvSpPr>
        <p:spPr>
          <a:xfrm>
            <a:off x="324025" y="717887"/>
            <a:ext cx="5541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of this three-quarter-circle is 27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cm².</a:t>
            </a:r>
            <a:endParaRPr sz="1800"/>
          </a:p>
        </p:txBody>
      </p:sp>
      <p:sp>
        <p:nvSpPr>
          <p:cNvPr id="819" name="Google Shape;81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pic>
        <p:nvPicPr>
          <p:cNvPr id="820" name="Google Shape;820;p71"/>
          <p:cNvPicPr preferRelativeResize="0"/>
          <p:nvPr/>
        </p:nvPicPr>
        <p:blipFill rotWithShape="1">
          <a:blip r:embed="rId4">
            <a:alphaModFix/>
          </a:blip>
          <a:srcRect b="77087" l="0" r="86410" t="0"/>
          <a:stretch/>
        </p:blipFill>
        <p:spPr>
          <a:xfrm>
            <a:off x="5022175" y="1758348"/>
            <a:ext cx="988099" cy="1002001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324025" y="3711250"/>
            <a:ext cx="28533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is different, we can’t fit a multiple of these sectors into a full circle.</a:t>
            </a:r>
            <a:endParaRPr sz="1800"/>
          </a:p>
        </p:txBody>
      </p:sp>
      <p:cxnSp>
        <p:nvCxnSpPr>
          <p:cNvPr id="822" name="Google Shape;822;p71"/>
          <p:cNvCxnSpPr/>
          <p:nvPr/>
        </p:nvCxnSpPr>
        <p:spPr>
          <a:xfrm>
            <a:off x="1863350" y="1837125"/>
            <a:ext cx="0" cy="85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71"/>
          <p:cNvCxnSpPr/>
          <p:nvPr/>
        </p:nvCxnSpPr>
        <p:spPr>
          <a:xfrm rot="10800000">
            <a:off x="995740" y="2715577"/>
            <a:ext cx="848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71"/>
          <p:cNvCxnSpPr/>
          <p:nvPr/>
        </p:nvCxnSpPr>
        <p:spPr>
          <a:xfrm>
            <a:off x="3284150" y="2714225"/>
            <a:ext cx="826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4049850" y="3711250"/>
            <a:ext cx="2425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But, we can split the shape up into three quarter-circles.</a:t>
            </a:r>
            <a:endParaRPr sz="1800"/>
          </a:p>
        </p:txBody>
      </p:sp>
      <p:sp>
        <p:nvSpPr>
          <p:cNvPr id="826" name="Google Shape;826;p71"/>
          <p:cNvSpPr/>
          <p:nvPr/>
        </p:nvSpPr>
        <p:spPr>
          <a:xfrm>
            <a:off x="4560475" y="777012"/>
            <a:ext cx="461700" cy="2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1189250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28" name="Google Shape;828;p71"/>
          <p:cNvSpPr txBox="1"/>
          <p:nvPr>
            <p:ph idx="1" type="body"/>
          </p:nvPr>
        </p:nvSpPr>
        <p:spPr>
          <a:xfrm>
            <a:off x="1189250" y="295185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grpSp>
        <p:nvGrpSpPr>
          <p:cNvPr id="829" name="Google Shape;829;p71"/>
          <p:cNvGrpSpPr/>
          <p:nvPr/>
        </p:nvGrpSpPr>
        <p:grpSpPr>
          <a:xfrm>
            <a:off x="4107931" y="1765299"/>
            <a:ext cx="1911385" cy="1905750"/>
            <a:chOff x="4107931" y="1765299"/>
            <a:chExt cx="1911385" cy="1905750"/>
          </a:xfrm>
        </p:grpSpPr>
        <p:pic>
          <p:nvPicPr>
            <p:cNvPr id="830" name="Google Shape;830;p71"/>
            <p:cNvPicPr preferRelativeResize="0"/>
            <p:nvPr/>
          </p:nvPicPr>
          <p:blipFill rotWithShape="1">
            <a:blip r:embed="rId4">
              <a:alphaModFix/>
            </a:blip>
            <a:srcRect b="77087" l="0" r="86410" t="0"/>
            <a:stretch/>
          </p:blipFill>
          <p:spPr>
            <a:xfrm rot="-5400000">
              <a:off x="4114882" y="1758348"/>
              <a:ext cx="988099" cy="1002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1" name="Google Shape;831;p71"/>
            <p:cNvPicPr preferRelativeResize="0"/>
            <p:nvPr/>
          </p:nvPicPr>
          <p:blipFill rotWithShape="1">
            <a:blip r:embed="rId4">
              <a:alphaModFix/>
            </a:blip>
            <a:srcRect b="77087" l="0" r="86410" t="0"/>
            <a:stretch/>
          </p:blipFill>
          <p:spPr>
            <a:xfrm rot="10800000">
              <a:off x="4116974" y="2669048"/>
              <a:ext cx="988099" cy="1002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2" name="Google Shape;832;p71"/>
            <p:cNvPicPr preferRelativeResize="0"/>
            <p:nvPr/>
          </p:nvPicPr>
          <p:blipFill rotWithShape="1">
            <a:blip r:embed="rId4">
              <a:alphaModFix/>
            </a:blip>
            <a:srcRect b="77087" l="0" r="86410" t="0"/>
            <a:stretch/>
          </p:blipFill>
          <p:spPr>
            <a:xfrm rot="5400000">
              <a:off x="5024267" y="2669048"/>
              <a:ext cx="988099" cy="1002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3" name="Google Shape;833;p71"/>
          <p:cNvSpPr txBox="1"/>
          <p:nvPr>
            <p:ph idx="1" type="body"/>
          </p:nvPr>
        </p:nvSpPr>
        <p:spPr>
          <a:xfrm>
            <a:off x="5234075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34" name="Google Shape;834;p71"/>
          <p:cNvSpPr txBox="1"/>
          <p:nvPr>
            <p:ph idx="1" type="body"/>
          </p:nvPr>
        </p:nvSpPr>
        <p:spPr>
          <a:xfrm>
            <a:off x="6475647" y="1871125"/>
            <a:ext cx="2344500" cy="11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each quarter circle has an area of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, then the full circle has an area of </a:t>
            </a:r>
            <a:endParaRPr sz="1800"/>
          </a:p>
        </p:txBody>
      </p:sp>
      <p:sp>
        <p:nvSpPr>
          <p:cNvPr id="835" name="Google Shape;835;p71"/>
          <p:cNvSpPr txBox="1"/>
          <p:nvPr>
            <p:ph idx="1" type="body"/>
          </p:nvPr>
        </p:nvSpPr>
        <p:spPr>
          <a:xfrm>
            <a:off x="4441513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4441513" y="295185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37" name="Google Shape;837;p71"/>
          <p:cNvSpPr txBox="1"/>
          <p:nvPr>
            <p:ph idx="1" type="body"/>
          </p:nvPr>
        </p:nvSpPr>
        <p:spPr>
          <a:xfrm>
            <a:off x="5234063" y="295185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38" name="Google Shape;838;p71"/>
          <p:cNvSpPr txBox="1"/>
          <p:nvPr>
            <p:ph idx="1" type="body"/>
          </p:nvPr>
        </p:nvSpPr>
        <p:spPr>
          <a:xfrm>
            <a:off x="4021628" y="3711250"/>
            <a:ext cx="2425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are still four quarter-circles in a full circle.</a:t>
            </a:r>
            <a:endParaRPr sz="1800"/>
          </a:p>
        </p:txBody>
      </p:sp>
      <p:sp>
        <p:nvSpPr>
          <p:cNvPr id="839" name="Google Shape;839;p71"/>
          <p:cNvSpPr txBox="1"/>
          <p:nvPr>
            <p:ph idx="1" type="body"/>
          </p:nvPr>
        </p:nvSpPr>
        <p:spPr>
          <a:xfrm>
            <a:off x="6475647" y="3028050"/>
            <a:ext cx="23445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4 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36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</a:t>
            </a:r>
            <a:endParaRPr sz="1800"/>
          </a:p>
        </p:txBody>
      </p:sp>
      <p:sp>
        <p:nvSpPr>
          <p:cNvPr id="840" name="Google Shape;840;p71"/>
          <p:cNvSpPr txBox="1"/>
          <p:nvPr>
            <p:ph idx="1" type="body"/>
          </p:nvPr>
        </p:nvSpPr>
        <p:spPr>
          <a:xfrm>
            <a:off x="324025" y="1296400"/>
            <a:ext cx="7006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is the area of the </a:t>
            </a:r>
            <a:r>
              <a:rPr lang="en-GB" sz="1800">
                <a:solidFill>
                  <a:schemeClr val="accent4"/>
                </a:solidFill>
              </a:rPr>
              <a:t>full circle</a:t>
            </a:r>
            <a:r>
              <a:rPr lang="en-GB" sz="1800"/>
              <a:t> this sector comes from?</a:t>
            </a:r>
            <a:endParaRPr sz="1800"/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6417153" y="1854050"/>
            <a:ext cx="24258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We can divide the 27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across each of three quarter-circles.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27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÷ 3 = 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6" name="Google Shape;846;p72"/>
          <p:cNvPicPr preferRelativeResize="0"/>
          <p:nvPr/>
        </p:nvPicPr>
        <p:blipFill rotWithShape="1">
          <a:blip r:embed="rId3">
            <a:alphaModFix/>
          </a:blip>
          <a:srcRect b="56600" l="53081" r="23900" t="0"/>
          <a:stretch/>
        </p:blipFill>
        <p:spPr>
          <a:xfrm>
            <a:off x="889822" y="1744100"/>
            <a:ext cx="1930075" cy="18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2"/>
          <p:cNvSpPr txBox="1"/>
          <p:nvPr>
            <p:ph idx="1" type="body"/>
          </p:nvPr>
        </p:nvSpPr>
        <p:spPr>
          <a:xfrm>
            <a:off x="1981450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48" name="Google Shape;848;p72"/>
          <p:cNvSpPr txBox="1"/>
          <p:nvPr>
            <p:ph idx="1" type="body"/>
          </p:nvPr>
        </p:nvSpPr>
        <p:spPr>
          <a:xfrm>
            <a:off x="324025" y="714160"/>
            <a:ext cx="5541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of this three-quarter-circle is 27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cm².</a:t>
            </a:r>
            <a:endParaRPr sz="1800"/>
          </a:p>
        </p:txBody>
      </p:sp>
      <p:sp>
        <p:nvSpPr>
          <p:cNvPr id="849" name="Google Shape;84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pic>
        <p:nvPicPr>
          <p:cNvPr id="850" name="Google Shape;850;p72"/>
          <p:cNvPicPr preferRelativeResize="0"/>
          <p:nvPr/>
        </p:nvPicPr>
        <p:blipFill rotWithShape="1">
          <a:blip r:embed="rId4">
            <a:alphaModFix/>
          </a:blip>
          <a:srcRect b="77087" l="0" r="86410" t="0"/>
          <a:stretch/>
        </p:blipFill>
        <p:spPr>
          <a:xfrm>
            <a:off x="7829638" y="1758348"/>
            <a:ext cx="988099" cy="100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1" name="Google Shape;851;p72"/>
          <p:cNvCxnSpPr/>
          <p:nvPr/>
        </p:nvCxnSpPr>
        <p:spPr>
          <a:xfrm>
            <a:off x="1863350" y="1837125"/>
            <a:ext cx="0" cy="85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72"/>
          <p:cNvCxnSpPr/>
          <p:nvPr/>
        </p:nvCxnSpPr>
        <p:spPr>
          <a:xfrm rot="10800000">
            <a:off x="995740" y="2715577"/>
            <a:ext cx="848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72"/>
          <p:cNvCxnSpPr/>
          <p:nvPr/>
        </p:nvCxnSpPr>
        <p:spPr>
          <a:xfrm>
            <a:off x="5863013" y="2714225"/>
            <a:ext cx="826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4" name="Google Shape;854;p72"/>
          <p:cNvSpPr/>
          <p:nvPr/>
        </p:nvSpPr>
        <p:spPr>
          <a:xfrm>
            <a:off x="4560475" y="773285"/>
            <a:ext cx="461700" cy="2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>
            <p:ph idx="1" type="body"/>
          </p:nvPr>
        </p:nvSpPr>
        <p:spPr>
          <a:xfrm>
            <a:off x="1189250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56" name="Google Shape;856;p72"/>
          <p:cNvSpPr txBox="1"/>
          <p:nvPr>
            <p:ph idx="1" type="body"/>
          </p:nvPr>
        </p:nvSpPr>
        <p:spPr>
          <a:xfrm>
            <a:off x="1189250" y="295185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pic>
        <p:nvPicPr>
          <p:cNvPr id="857" name="Google Shape;857;p72"/>
          <p:cNvPicPr preferRelativeResize="0"/>
          <p:nvPr/>
        </p:nvPicPr>
        <p:blipFill rotWithShape="1">
          <a:blip r:embed="rId4">
            <a:alphaModFix/>
          </a:blip>
          <a:srcRect b="77087" l="0" r="86410" t="0"/>
          <a:stretch/>
        </p:blipFill>
        <p:spPr>
          <a:xfrm rot="-5400000">
            <a:off x="6922345" y="1758348"/>
            <a:ext cx="988099" cy="100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/>
          <p:cNvPicPr preferRelativeResize="0"/>
          <p:nvPr/>
        </p:nvPicPr>
        <p:blipFill rotWithShape="1">
          <a:blip r:embed="rId4">
            <a:alphaModFix/>
          </a:blip>
          <a:srcRect b="77087" l="0" r="86410" t="0"/>
          <a:stretch/>
        </p:blipFill>
        <p:spPr>
          <a:xfrm rot="10800000">
            <a:off x="6924436" y="2669048"/>
            <a:ext cx="988099" cy="100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2"/>
          <p:cNvPicPr preferRelativeResize="0"/>
          <p:nvPr/>
        </p:nvPicPr>
        <p:blipFill rotWithShape="1">
          <a:blip r:embed="rId4">
            <a:alphaModFix/>
          </a:blip>
          <a:srcRect b="77087" l="0" r="86410" t="0"/>
          <a:stretch/>
        </p:blipFill>
        <p:spPr>
          <a:xfrm rot="5400000">
            <a:off x="7831729" y="2669048"/>
            <a:ext cx="988099" cy="1002001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8041538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61" name="Google Shape;861;p72"/>
          <p:cNvSpPr txBox="1"/>
          <p:nvPr>
            <p:ph idx="1" type="body"/>
          </p:nvPr>
        </p:nvSpPr>
        <p:spPr>
          <a:xfrm>
            <a:off x="7248975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7248975" y="295185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1256625" y="3711250"/>
            <a:ext cx="988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8041525" y="295185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pic>
        <p:nvPicPr>
          <p:cNvPr id="865" name="Google Shape;865;p72"/>
          <p:cNvPicPr preferRelativeResize="0"/>
          <p:nvPr/>
        </p:nvPicPr>
        <p:blipFill rotWithShape="1">
          <a:blip r:embed="rId4">
            <a:alphaModFix/>
          </a:blip>
          <a:srcRect b="77087" l="0" r="86410" t="0"/>
          <a:stretch/>
        </p:blipFill>
        <p:spPr>
          <a:xfrm>
            <a:off x="4413750" y="1758348"/>
            <a:ext cx="988099" cy="100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6" name="Google Shape;866;p72"/>
          <p:cNvCxnSpPr/>
          <p:nvPr/>
        </p:nvCxnSpPr>
        <p:spPr>
          <a:xfrm>
            <a:off x="3132925" y="2714225"/>
            <a:ext cx="826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7" name="Google Shape;867;p72"/>
          <p:cNvSpPr txBox="1"/>
          <p:nvPr>
            <p:ph idx="1" type="body"/>
          </p:nvPr>
        </p:nvSpPr>
        <p:spPr>
          <a:xfrm>
            <a:off x="4625650" y="2104100"/>
            <a:ext cx="461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endParaRPr sz="1800"/>
          </a:p>
        </p:txBody>
      </p:sp>
      <p:sp>
        <p:nvSpPr>
          <p:cNvPr id="868" name="Google Shape;868;p72"/>
          <p:cNvSpPr txBox="1"/>
          <p:nvPr>
            <p:ph idx="1" type="body"/>
          </p:nvPr>
        </p:nvSpPr>
        <p:spPr>
          <a:xfrm>
            <a:off x="4413700" y="3711250"/>
            <a:ext cx="988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69" name="Google Shape;869;p72"/>
          <p:cNvSpPr txBox="1"/>
          <p:nvPr>
            <p:ph idx="1" type="body"/>
          </p:nvPr>
        </p:nvSpPr>
        <p:spPr>
          <a:xfrm>
            <a:off x="7362900" y="3711250"/>
            <a:ext cx="988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70" name="Google Shape;870;p72"/>
          <p:cNvSpPr txBox="1"/>
          <p:nvPr>
            <p:ph idx="1" type="body"/>
          </p:nvPr>
        </p:nvSpPr>
        <p:spPr>
          <a:xfrm>
            <a:off x="3052075" y="2357550"/>
            <a:ext cx="98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871" name="Google Shape;871;p72"/>
          <p:cNvSpPr txBox="1"/>
          <p:nvPr>
            <p:ph idx="1" type="body"/>
          </p:nvPr>
        </p:nvSpPr>
        <p:spPr>
          <a:xfrm>
            <a:off x="5775325" y="2357550"/>
            <a:ext cx="98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× 4</a:t>
            </a:r>
            <a:endParaRPr sz="1800"/>
          </a:p>
        </p:txBody>
      </p:sp>
      <p:sp>
        <p:nvSpPr>
          <p:cNvPr id="872" name="Google Shape;872;p72"/>
          <p:cNvSpPr txBox="1"/>
          <p:nvPr>
            <p:ph idx="1" type="body"/>
          </p:nvPr>
        </p:nvSpPr>
        <p:spPr>
          <a:xfrm>
            <a:off x="324025" y="1296400"/>
            <a:ext cx="7135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is the area of the </a:t>
            </a:r>
            <a:r>
              <a:rPr lang="en-GB" sz="1800">
                <a:solidFill>
                  <a:schemeClr val="accent4"/>
                </a:solidFill>
              </a:rPr>
              <a:t>full circle</a:t>
            </a:r>
            <a:r>
              <a:rPr lang="en-GB" sz="1800"/>
              <a:t> this sector comes from?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3"/>
          <p:cNvSpPr txBox="1"/>
          <p:nvPr>
            <p:ph idx="1" type="body"/>
          </p:nvPr>
        </p:nvSpPr>
        <p:spPr>
          <a:xfrm>
            <a:off x="324025" y="606900"/>
            <a:ext cx="84960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of these sectors has the same area of 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Match the sector to the calculation to find the area of the full circle that the sector comes from, and the value of the area of the full circle.</a:t>
            </a:r>
            <a:endParaRPr sz="1800"/>
          </a:p>
        </p:txBody>
      </p:sp>
      <p:sp>
        <p:nvSpPr>
          <p:cNvPr id="878" name="Google Shape;87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879" name="Google Shape;879;p73"/>
          <p:cNvSpPr txBox="1"/>
          <p:nvPr>
            <p:ph idx="1" type="body"/>
          </p:nvPr>
        </p:nvSpPr>
        <p:spPr>
          <a:xfrm>
            <a:off x="756922" y="3762125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2</a:t>
            </a:r>
            <a:endParaRPr sz="1800"/>
          </a:p>
        </p:txBody>
      </p:sp>
      <p:pic>
        <p:nvPicPr>
          <p:cNvPr id="880" name="Google Shape;88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99" y="1817150"/>
            <a:ext cx="6889801" cy="15745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73"/>
          <p:cNvGrpSpPr/>
          <p:nvPr/>
        </p:nvGrpSpPr>
        <p:grpSpPr>
          <a:xfrm>
            <a:off x="1008905" y="1914975"/>
            <a:ext cx="277200" cy="277200"/>
            <a:chOff x="1020916" y="1442088"/>
            <a:chExt cx="457200" cy="457200"/>
          </a:xfrm>
        </p:grpSpPr>
        <p:pic>
          <p:nvPicPr>
            <p:cNvPr id="882" name="Google Shape;88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4" name="Google Shape;884;p73"/>
          <p:cNvGrpSpPr/>
          <p:nvPr/>
        </p:nvGrpSpPr>
        <p:grpSpPr>
          <a:xfrm>
            <a:off x="2716355" y="1914975"/>
            <a:ext cx="277200" cy="277200"/>
            <a:chOff x="1020916" y="1442088"/>
            <a:chExt cx="457200" cy="457200"/>
          </a:xfrm>
        </p:grpSpPr>
        <p:pic>
          <p:nvPicPr>
            <p:cNvPr id="885" name="Google Shape;885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7" name="Google Shape;887;p73"/>
          <p:cNvGrpSpPr/>
          <p:nvPr/>
        </p:nvGrpSpPr>
        <p:grpSpPr>
          <a:xfrm>
            <a:off x="5185805" y="1914975"/>
            <a:ext cx="277200" cy="277200"/>
            <a:chOff x="1020916" y="1442088"/>
            <a:chExt cx="457200" cy="457200"/>
          </a:xfrm>
        </p:grpSpPr>
        <p:pic>
          <p:nvPicPr>
            <p:cNvPr id="888" name="Google Shape;888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9" name="Google Shape;889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0" name="Google Shape;890;p73"/>
          <p:cNvGrpSpPr/>
          <p:nvPr/>
        </p:nvGrpSpPr>
        <p:grpSpPr>
          <a:xfrm>
            <a:off x="7810480" y="1914975"/>
            <a:ext cx="277200" cy="277200"/>
            <a:chOff x="1020916" y="1442088"/>
            <a:chExt cx="457200" cy="457200"/>
          </a:xfrm>
        </p:grpSpPr>
        <p:pic>
          <p:nvPicPr>
            <p:cNvPr id="891" name="Google Shape;89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3" name="Google Shape;893;p73"/>
          <p:cNvGrpSpPr/>
          <p:nvPr/>
        </p:nvGrpSpPr>
        <p:grpSpPr>
          <a:xfrm>
            <a:off x="451505" y="3762125"/>
            <a:ext cx="277200" cy="277200"/>
            <a:chOff x="1020916" y="1442088"/>
            <a:chExt cx="457200" cy="457200"/>
          </a:xfrm>
        </p:grpSpPr>
        <p:pic>
          <p:nvPicPr>
            <p:cNvPr id="894" name="Google Shape;894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6" name="Google Shape;896;p73"/>
          <p:cNvSpPr txBox="1"/>
          <p:nvPr>
            <p:ph idx="1" type="body"/>
          </p:nvPr>
        </p:nvSpPr>
        <p:spPr>
          <a:xfrm>
            <a:off x="756922" y="4271400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3</a:t>
            </a:r>
            <a:endParaRPr sz="1800"/>
          </a:p>
        </p:txBody>
      </p:sp>
      <p:grpSp>
        <p:nvGrpSpPr>
          <p:cNvPr id="897" name="Google Shape;897;p73"/>
          <p:cNvGrpSpPr/>
          <p:nvPr/>
        </p:nvGrpSpPr>
        <p:grpSpPr>
          <a:xfrm>
            <a:off x="451505" y="4271400"/>
            <a:ext cx="277200" cy="277200"/>
            <a:chOff x="1020916" y="1442088"/>
            <a:chExt cx="457200" cy="457200"/>
          </a:xfrm>
        </p:grpSpPr>
        <p:pic>
          <p:nvPicPr>
            <p:cNvPr id="898" name="Google Shape;898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0" name="Google Shape;900;p73"/>
          <p:cNvSpPr txBox="1"/>
          <p:nvPr>
            <p:ph idx="1" type="body"/>
          </p:nvPr>
        </p:nvSpPr>
        <p:spPr>
          <a:xfrm>
            <a:off x="2676022" y="3762125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4</a:t>
            </a:r>
            <a:endParaRPr sz="1800"/>
          </a:p>
        </p:txBody>
      </p:sp>
      <p:grpSp>
        <p:nvGrpSpPr>
          <p:cNvPr id="901" name="Google Shape;901;p73"/>
          <p:cNvGrpSpPr/>
          <p:nvPr/>
        </p:nvGrpSpPr>
        <p:grpSpPr>
          <a:xfrm>
            <a:off x="2370605" y="3762125"/>
            <a:ext cx="277200" cy="277200"/>
            <a:chOff x="1020916" y="1442088"/>
            <a:chExt cx="457200" cy="457200"/>
          </a:xfrm>
        </p:grpSpPr>
        <p:pic>
          <p:nvPicPr>
            <p:cNvPr id="902" name="Google Shape;90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3" name="Google Shape;903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4" name="Google Shape;904;p73"/>
          <p:cNvSpPr txBox="1"/>
          <p:nvPr>
            <p:ph idx="1" type="body"/>
          </p:nvPr>
        </p:nvSpPr>
        <p:spPr>
          <a:xfrm>
            <a:off x="5676047" y="3762125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72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</a:t>
            </a:r>
            <a:endParaRPr sz="1800"/>
          </a:p>
        </p:txBody>
      </p:sp>
      <p:sp>
        <p:nvSpPr>
          <p:cNvPr id="905" name="Google Shape;905;p73"/>
          <p:cNvSpPr txBox="1"/>
          <p:nvPr>
            <p:ph idx="1" type="body"/>
          </p:nvPr>
        </p:nvSpPr>
        <p:spPr>
          <a:xfrm>
            <a:off x="2676026" y="4271400"/>
            <a:ext cx="12822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4 ÷ 3</a:t>
            </a:r>
            <a:endParaRPr sz="1800"/>
          </a:p>
        </p:txBody>
      </p:sp>
      <p:grpSp>
        <p:nvGrpSpPr>
          <p:cNvPr id="906" name="Google Shape;906;p73"/>
          <p:cNvGrpSpPr/>
          <p:nvPr/>
        </p:nvGrpSpPr>
        <p:grpSpPr>
          <a:xfrm>
            <a:off x="2370605" y="4271400"/>
            <a:ext cx="277200" cy="277200"/>
            <a:chOff x="1020916" y="1442088"/>
            <a:chExt cx="457200" cy="457200"/>
          </a:xfrm>
        </p:grpSpPr>
        <p:pic>
          <p:nvPicPr>
            <p:cNvPr id="907" name="Google Shape;907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8" name="Google Shape;908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9" name="Google Shape;909;p73"/>
          <p:cNvGrpSpPr/>
          <p:nvPr/>
        </p:nvGrpSpPr>
        <p:grpSpPr>
          <a:xfrm>
            <a:off x="5370630" y="3762125"/>
            <a:ext cx="277200" cy="277200"/>
            <a:chOff x="1020916" y="1442088"/>
            <a:chExt cx="457200" cy="457200"/>
          </a:xfrm>
        </p:grpSpPr>
        <p:pic>
          <p:nvPicPr>
            <p:cNvPr id="910" name="Google Shape;91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2" name="Google Shape;912;p73"/>
          <p:cNvGrpSpPr/>
          <p:nvPr/>
        </p:nvGrpSpPr>
        <p:grpSpPr>
          <a:xfrm>
            <a:off x="5370630" y="4271400"/>
            <a:ext cx="277200" cy="277200"/>
            <a:chOff x="1020916" y="1442088"/>
            <a:chExt cx="457200" cy="457200"/>
          </a:xfrm>
        </p:grpSpPr>
        <p:pic>
          <p:nvPicPr>
            <p:cNvPr id="913" name="Google Shape;913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5" name="Google Shape;915;p73"/>
          <p:cNvSpPr txBox="1"/>
          <p:nvPr>
            <p:ph idx="1" type="body"/>
          </p:nvPr>
        </p:nvSpPr>
        <p:spPr>
          <a:xfrm>
            <a:off x="5676051" y="4271400"/>
            <a:ext cx="12822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113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cm²</a:t>
            </a:r>
            <a:endParaRPr sz="1800"/>
          </a:p>
        </p:txBody>
      </p:sp>
      <p:sp>
        <p:nvSpPr>
          <p:cNvPr id="916" name="Google Shape;916;p73"/>
          <p:cNvSpPr txBox="1"/>
          <p:nvPr>
            <p:ph idx="1" type="body"/>
          </p:nvPr>
        </p:nvSpPr>
        <p:spPr>
          <a:xfrm>
            <a:off x="7446997" y="3762125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</a:t>
            </a:r>
            <a:endParaRPr sz="1800"/>
          </a:p>
        </p:txBody>
      </p:sp>
      <p:grpSp>
        <p:nvGrpSpPr>
          <p:cNvPr id="917" name="Google Shape;917;p73"/>
          <p:cNvGrpSpPr/>
          <p:nvPr/>
        </p:nvGrpSpPr>
        <p:grpSpPr>
          <a:xfrm>
            <a:off x="7141580" y="3762125"/>
            <a:ext cx="277200" cy="277200"/>
            <a:chOff x="1020916" y="1442088"/>
            <a:chExt cx="457200" cy="457200"/>
          </a:xfrm>
        </p:grpSpPr>
        <p:pic>
          <p:nvPicPr>
            <p:cNvPr id="918" name="Google Shape;918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9" name="Google Shape;919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0" name="Google Shape;920;p73"/>
          <p:cNvGrpSpPr/>
          <p:nvPr/>
        </p:nvGrpSpPr>
        <p:grpSpPr>
          <a:xfrm>
            <a:off x="7141580" y="4271400"/>
            <a:ext cx="277200" cy="277200"/>
            <a:chOff x="1020916" y="1442088"/>
            <a:chExt cx="457200" cy="457200"/>
          </a:xfrm>
        </p:grpSpPr>
        <p:pic>
          <p:nvPicPr>
            <p:cNvPr id="921" name="Google Shape;92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3" name="Google Shape;923;p73"/>
          <p:cNvSpPr txBox="1"/>
          <p:nvPr>
            <p:ph idx="1" type="body"/>
          </p:nvPr>
        </p:nvSpPr>
        <p:spPr>
          <a:xfrm>
            <a:off x="7447001" y="4271400"/>
            <a:ext cx="12822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169.6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cm²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4"/>
          <p:cNvSpPr txBox="1"/>
          <p:nvPr>
            <p:ph idx="1" type="body"/>
          </p:nvPr>
        </p:nvSpPr>
        <p:spPr>
          <a:xfrm>
            <a:off x="324025" y="606900"/>
            <a:ext cx="84960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of these sectors has the same area of 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Match the sector to the calculation to find the area of the full circle that the sector comes from, and the value of the area of the full circle.</a:t>
            </a:r>
            <a:endParaRPr sz="1800"/>
          </a:p>
        </p:txBody>
      </p:sp>
      <p:sp>
        <p:nvSpPr>
          <p:cNvPr id="929" name="Google Shape;92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930" name="Google Shape;930;p74"/>
          <p:cNvSpPr txBox="1"/>
          <p:nvPr>
            <p:ph idx="1" type="body"/>
          </p:nvPr>
        </p:nvSpPr>
        <p:spPr>
          <a:xfrm>
            <a:off x="4918297" y="3191400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2</a:t>
            </a:r>
            <a:endParaRPr sz="1800"/>
          </a:p>
        </p:txBody>
      </p:sp>
      <p:pic>
        <p:nvPicPr>
          <p:cNvPr id="931" name="Google Shape;93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99" y="1817150"/>
            <a:ext cx="6889801" cy="15745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2" name="Google Shape;932;p74"/>
          <p:cNvGrpSpPr/>
          <p:nvPr/>
        </p:nvGrpSpPr>
        <p:grpSpPr>
          <a:xfrm>
            <a:off x="1008905" y="1914975"/>
            <a:ext cx="277200" cy="277200"/>
            <a:chOff x="1020916" y="1442088"/>
            <a:chExt cx="457200" cy="457200"/>
          </a:xfrm>
        </p:grpSpPr>
        <p:pic>
          <p:nvPicPr>
            <p:cNvPr id="933" name="Google Shape;933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4" name="Google Shape;934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5" name="Google Shape;935;p74"/>
          <p:cNvGrpSpPr/>
          <p:nvPr/>
        </p:nvGrpSpPr>
        <p:grpSpPr>
          <a:xfrm>
            <a:off x="2716355" y="1914975"/>
            <a:ext cx="277200" cy="277200"/>
            <a:chOff x="1020916" y="1442088"/>
            <a:chExt cx="457200" cy="457200"/>
          </a:xfrm>
        </p:grpSpPr>
        <p:pic>
          <p:nvPicPr>
            <p:cNvPr id="936" name="Google Shape;936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" name="Google Shape;937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8" name="Google Shape;938;p74"/>
          <p:cNvGrpSpPr/>
          <p:nvPr/>
        </p:nvGrpSpPr>
        <p:grpSpPr>
          <a:xfrm>
            <a:off x="5185805" y="1914975"/>
            <a:ext cx="277200" cy="277200"/>
            <a:chOff x="1020916" y="1442088"/>
            <a:chExt cx="457200" cy="457200"/>
          </a:xfrm>
        </p:grpSpPr>
        <p:pic>
          <p:nvPicPr>
            <p:cNvPr id="939" name="Google Shape;939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0" name="Google Shape;940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1" name="Google Shape;941;p74"/>
          <p:cNvGrpSpPr/>
          <p:nvPr/>
        </p:nvGrpSpPr>
        <p:grpSpPr>
          <a:xfrm>
            <a:off x="7810480" y="1914975"/>
            <a:ext cx="277200" cy="277200"/>
            <a:chOff x="1020916" y="1442088"/>
            <a:chExt cx="457200" cy="457200"/>
          </a:xfrm>
        </p:grpSpPr>
        <p:pic>
          <p:nvPicPr>
            <p:cNvPr id="942" name="Google Shape;942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4" name="Google Shape;944;p74"/>
          <p:cNvGrpSpPr/>
          <p:nvPr/>
        </p:nvGrpSpPr>
        <p:grpSpPr>
          <a:xfrm>
            <a:off x="4612880" y="3191400"/>
            <a:ext cx="277200" cy="277200"/>
            <a:chOff x="1020916" y="1442088"/>
            <a:chExt cx="457200" cy="457200"/>
          </a:xfrm>
        </p:grpSpPr>
        <p:pic>
          <p:nvPicPr>
            <p:cNvPr id="945" name="Google Shape;945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7" name="Google Shape;947;p74"/>
          <p:cNvSpPr txBox="1"/>
          <p:nvPr>
            <p:ph idx="1" type="body"/>
          </p:nvPr>
        </p:nvSpPr>
        <p:spPr>
          <a:xfrm>
            <a:off x="1283672" y="3228725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3</a:t>
            </a:r>
            <a:endParaRPr sz="1800"/>
          </a:p>
        </p:txBody>
      </p:sp>
      <p:grpSp>
        <p:nvGrpSpPr>
          <p:cNvPr id="948" name="Google Shape;948;p74"/>
          <p:cNvGrpSpPr/>
          <p:nvPr/>
        </p:nvGrpSpPr>
        <p:grpSpPr>
          <a:xfrm>
            <a:off x="978255" y="3228725"/>
            <a:ext cx="277200" cy="277200"/>
            <a:chOff x="1020916" y="1442088"/>
            <a:chExt cx="457200" cy="457200"/>
          </a:xfrm>
        </p:grpSpPr>
        <p:pic>
          <p:nvPicPr>
            <p:cNvPr id="949" name="Google Shape;949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1" name="Google Shape;951;p74"/>
          <p:cNvSpPr txBox="1"/>
          <p:nvPr>
            <p:ph idx="1" type="body"/>
          </p:nvPr>
        </p:nvSpPr>
        <p:spPr>
          <a:xfrm>
            <a:off x="3261647" y="3228725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× 4</a:t>
            </a:r>
            <a:endParaRPr sz="1800"/>
          </a:p>
        </p:txBody>
      </p:sp>
      <p:grpSp>
        <p:nvGrpSpPr>
          <p:cNvPr id="952" name="Google Shape;952;p74"/>
          <p:cNvGrpSpPr/>
          <p:nvPr/>
        </p:nvGrpSpPr>
        <p:grpSpPr>
          <a:xfrm>
            <a:off x="2956230" y="3228725"/>
            <a:ext cx="277200" cy="277200"/>
            <a:chOff x="1020916" y="1442088"/>
            <a:chExt cx="457200" cy="457200"/>
          </a:xfrm>
        </p:grpSpPr>
        <p:pic>
          <p:nvPicPr>
            <p:cNvPr id="953" name="Google Shape;953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5" name="Google Shape;955;p74"/>
          <p:cNvSpPr txBox="1"/>
          <p:nvPr>
            <p:ph idx="1" type="body"/>
          </p:nvPr>
        </p:nvSpPr>
        <p:spPr>
          <a:xfrm>
            <a:off x="3261647" y="3527092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72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</a:t>
            </a:r>
            <a:endParaRPr sz="1800"/>
          </a:p>
        </p:txBody>
      </p:sp>
      <p:sp>
        <p:nvSpPr>
          <p:cNvPr id="956" name="Google Shape;956;p74"/>
          <p:cNvSpPr txBox="1"/>
          <p:nvPr>
            <p:ph idx="1" type="body"/>
          </p:nvPr>
        </p:nvSpPr>
        <p:spPr>
          <a:xfrm>
            <a:off x="7064576" y="3391700"/>
            <a:ext cx="12822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× 4 ÷ 3</a:t>
            </a:r>
            <a:endParaRPr sz="1800"/>
          </a:p>
        </p:txBody>
      </p:sp>
      <p:grpSp>
        <p:nvGrpSpPr>
          <p:cNvPr id="957" name="Google Shape;957;p74"/>
          <p:cNvGrpSpPr/>
          <p:nvPr/>
        </p:nvGrpSpPr>
        <p:grpSpPr>
          <a:xfrm>
            <a:off x="6759155" y="3391700"/>
            <a:ext cx="277200" cy="277200"/>
            <a:chOff x="1020916" y="1442088"/>
            <a:chExt cx="457200" cy="457200"/>
          </a:xfrm>
        </p:grpSpPr>
        <p:pic>
          <p:nvPicPr>
            <p:cNvPr id="958" name="Google Shape;958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9" name="Google Shape;959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0" name="Google Shape;960;p74"/>
          <p:cNvGrpSpPr/>
          <p:nvPr/>
        </p:nvGrpSpPr>
        <p:grpSpPr>
          <a:xfrm>
            <a:off x="2956230" y="3527092"/>
            <a:ext cx="277200" cy="277200"/>
            <a:chOff x="1020916" y="1442088"/>
            <a:chExt cx="457200" cy="457200"/>
          </a:xfrm>
        </p:grpSpPr>
        <p:pic>
          <p:nvPicPr>
            <p:cNvPr id="961" name="Google Shape;961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3" name="Google Shape;963;p74"/>
          <p:cNvGrpSpPr/>
          <p:nvPr/>
        </p:nvGrpSpPr>
        <p:grpSpPr>
          <a:xfrm>
            <a:off x="4606792" y="3487605"/>
            <a:ext cx="277200" cy="277200"/>
            <a:chOff x="1020916" y="1442088"/>
            <a:chExt cx="457200" cy="457200"/>
          </a:xfrm>
        </p:grpSpPr>
        <p:pic>
          <p:nvPicPr>
            <p:cNvPr id="964" name="Google Shape;964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6" name="Google Shape;966;p74"/>
          <p:cNvSpPr txBox="1"/>
          <p:nvPr>
            <p:ph idx="1" type="body"/>
          </p:nvPr>
        </p:nvSpPr>
        <p:spPr>
          <a:xfrm>
            <a:off x="4912213" y="3487606"/>
            <a:ext cx="12822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113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cm²</a:t>
            </a:r>
            <a:endParaRPr sz="1800"/>
          </a:p>
        </p:txBody>
      </p:sp>
      <p:sp>
        <p:nvSpPr>
          <p:cNvPr id="967" name="Google Shape;967;p74"/>
          <p:cNvSpPr txBox="1"/>
          <p:nvPr>
            <p:ph idx="1" type="body"/>
          </p:nvPr>
        </p:nvSpPr>
        <p:spPr>
          <a:xfrm>
            <a:off x="7064572" y="3685339"/>
            <a:ext cx="100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</a:t>
            </a:r>
            <a:endParaRPr sz="1800"/>
          </a:p>
        </p:txBody>
      </p:sp>
      <p:grpSp>
        <p:nvGrpSpPr>
          <p:cNvPr id="968" name="Google Shape;968;p74"/>
          <p:cNvGrpSpPr/>
          <p:nvPr/>
        </p:nvGrpSpPr>
        <p:grpSpPr>
          <a:xfrm>
            <a:off x="6759155" y="3685339"/>
            <a:ext cx="277200" cy="277200"/>
            <a:chOff x="1020916" y="1442088"/>
            <a:chExt cx="457200" cy="457200"/>
          </a:xfrm>
        </p:grpSpPr>
        <p:pic>
          <p:nvPicPr>
            <p:cNvPr id="969" name="Google Shape;969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" name="Google Shape;970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1" name="Google Shape;971;p74"/>
          <p:cNvGrpSpPr/>
          <p:nvPr/>
        </p:nvGrpSpPr>
        <p:grpSpPr>
          <a:xfrm>
            <a:off x="978255" y="3527100"/>
            <a:ext cx="277200" cy="277200"/>
            <a:chOff x="1020916" y="1442088"/>
            <a:chExt cx="457200" cy="457200"/>
          </a:xfrm>
        </p:grpSpPr>
        <p:pic>
          <p:nvPicPr>
            <p:cNvPr id="972" name="Google Shape;972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3" name="Google Shape;97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4" name="Google Shape;974;p74"/>
          <p:cNvSpPr txBox="1"/>
          <p:nvPr>
            <p:ph idx="1" type="body"/>
          </p:nvPr>
        </p:nvSpPr>
        <p:spPr>
          <a:xfrm>
            <a:off x="1283676" y="3527100"/>
            <a:ext cx="12822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169.6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cm²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5"/>
          <p:cNvSpPr txBox="1"/>
          <p:nvPr/>
        </p:nvSpPr>
        <p:spPr>
          <a:xfrm>
            <a:off x="989053" y="3042038"/>
            <a:ext cx="128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5"/>
          <p:cNvSpPr txBox="1"/>
          <p:nvPr/>
        </p:nvSpPr>
        <p:spPr>
          <a:xfrm>
            <a:off x="989053" y="3549025"/>
            <a:ext cx="14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113.097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5"/>
          <p:cNvSpPr txBox="1"/>
          <p:nvPr/>
        </p:nvSpPr>
        <p:spPr>
          <a:xfrm>
            <a:off x="989053" y="2535050"/>
            <a:ext cx="11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5"/>
          <p:cNvSpPr txBox="1"/>
          <p:nvPr>
            <p:ph idx="1" type="subTitle"/>
          </p:nvPr>
        </p:nvSpPr>
        <p:spPr>
          <a:xfrm>
            <a:off x="337825" y="810000"/>
            <a:ext cx="2549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</a:t>
            </a:r>
            <a:r>
              <a:rPr lang="en-GB" sz="1800"/>
              <a:t>ind the area of this circle.</a:t>
            </a:r>
            <a:endParaRPr sz="1800"/>
          </a:p>
        </p:txBody>
      </p:sp>
      <p:sp>
        <p:nvSpPr>
          <p:cNvPr id="983" name="Google Shape;983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984" name="Google Shape;984;p75"/>
          <p:cNvSpPr txBox="1"/>
          <p:nvPr>
            <p:ph idx="1" type="subTitle"/>
          </p:nvPr>
        </p:nvSpPr>
        <p:spPr>
          <a:xfrm>
            <a:off x="4824000" y="810000"/>
            <a:ext cx="22668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</a:t>
            </a:r>
            <a:r>
              <a:rPr lang="en-GB" sz="1800"/>
              <a:t>ind the area of this circle</a:t>
            </a:r>
            <a:r>
              <a:rPr lang="en-GB"/>
              <a:t>, giving your answer both in terms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and rounded to                       1 decimal place.</a:t>
            </a:r>
            <a:endParaRPr sz="1800"/>
          </a:p>
        </p:txBody>
      </p:sp>
      <p:pic>
        <p:nvPicPr>
          <p:cNvPr id="985" name="Google Shape;98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0" y="759300"/>
            <a:ext cx="1432800" cy="13515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6" name="Google Shape;986;p75"/>
          <p:cNvGrpSpPr/>
          <p:nvPr/>
        </p:nvGrpSpPr>
        <p:grpSpPr>
          <a:xfrm>
            <a:off x="3540377" y="1448820"/>
            <a:ext cx="717772" cy="227099"/>
            <a:chOff x="4068339" y="4092900"/>
            <a:chExt cx="1007400" cy="227099"/>
          </a:xfrm>
        </p:grpSpPr>
        <p:cxnSp>
          <p:nvCxnSpPr>
            <p:cNvPr id="987" name="Google Shape;987;p75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88" name="Google Shape;988;p75"/>
            <p:cNvSpPr/>
            <p:nvPr/>
          </p:nvSpPr>
          <p:spPr>
            <a:xfrm>
              <a:off x="4068339" y="4148999"/>
              <a:ext cx="10074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89" name="Google Shape;98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2351" y="759300"/>
            <a:ext cx="1682826" cy="158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0" name="Google Shape;990;p75"/>
          <p:cNvGrpSpPr/>
          <p:nvPr/>
        </p:nvGrpSpPr>
        <p:grpSpPr>
          <a:xfrm>
            <a:off x="7788596" y="1566613"/>
            <a:ext cx="1039932" cy="266728"/>
            <a:chOff x="3950826" y="4092900"/>
            <a:chExt cx="1242600" cy="227099"/>
          </a:xfrm>
        </p:grpSpPr>
        <p:cxnSp>
          <p:nvCxnSpPr>
            <p:cNvPr id="991" name="Google Shape;991;p75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2" name="Google Shape;992;p75"/>
            <p:cNvSpPr/>
            <p:nvPr/>
          </p:nvSpPr>
          <p:spPr>
            <a:xfrm flipH="1">
              <a:off x="3950826" y="4148999"/>
              <a:ext cx="12426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3" name="Google Shape;993;p75"/>
          <p:cNvSpPr txBox="1"/>
          <p:nvPr/>
        </p:nvSpPr>
        <p:spPr>
          <a:xfrm>
            <a:off x="989053" y="4025402"/>
            <a:ext cx="118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5"/>
          <p:cNvSpPr txBox="1"/>
          <p:nvPr/>
        </p:nvSpPr>
        <p:spPr>
          <a:xfrm>
            <a:off x="337825" y="2028075"/>
            <a:ext cx="212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5"/>
          <p:cNvSpPr txBox="1"/>
          <p:nvPr/>
        </p:nvSpPr>
        <p:spPr>
          <a:xfrm>
            <a:off x="2724749" y="2465250"/>
            <a:ext cx="16278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either leave the area in terms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or use a calculator to convert it into a decimal.</a:t>
            </a:r>
            <a:endParaRPr baseline="30000"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6" name="Google Shape;996;p75"/>
          <p:cNvSpPr/>
          <p:nvPr/>
        </p:nvSpPr>
        <p:spPr>
          <a:xfrm>
            <a:off x="1153050" y="3062000"/>
            <a:ext cx="900000" cy="2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5"/>
          <p:cNvSpPr/>
          <p:nvPr/>
        </p:nvSpPr>
        <p:spPr>
          <a:xfrm>
            <a:off x="1153050" y="4025706"/>
            <a:ext cx="900000" cy="2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5"/>
          <p:cNvSpPr txBox="1"/>
          <p:nvPr>
            <p:ph idx="1" type="subTitle"/>
          </p:nvPr>
        </p:nvSpPr>
        <p:spPr>
          <a:xfrm>
            <a:off x="4815972" y="2950675"/>
            <a:ext cx="110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do.</a:t>
            </a:r>
            <a:endParaRPr sz="1800"/>
          </a:p>
        </p:txBody>
      </p:sp>
      <p:grpSp>
        <p:nvGrpSpPr>
          <p:cNvPr id="999" name="Google Shape;999;p75"/>
          <p:cNvGrpSpPr/>
          <p:nvPr/>
        </p:nvGrpSpPr>
        <p:grpSpPr>
          <a:xfrm>
            <a:off x="5450320" y="2509640"/>
            <a:ext cx="2600143" cy="2305139"/>
            <a:chOff x="5297875" y="2509661"/>
            <a:chExt cx="2124300" cy="2305139"/>
          </a:xfrm>
        </p:grpSpPr>
        <p:sp>
          <p:nvSpPr>
            <p:cNvPr id="1000" name="Google Shape;1000;p75"/>
            <p:cNvSpPr txBox="1"/>
            <p:nvPr/>
          </p:nvSpPr>
          <p:spPr>
            <a:xfrm>
              <a:off x="5949103" y="3523624"/>
              <a:ext cx="1289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= 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100</a:t>
              </a: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π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cm²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01" name="Google Shape;1001;p75"/>
            <p:cNvSpPr txBox="1"/>
            <p:nvPr/>
          </p:nvSpPr>
          <p:spPr>
            <a:xfrm>
              <a:off x="5949103" y="4030611"/>
              <a:ext cx="1473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= 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314.159</a:t>
              </a: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… 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02" name="Google Shape;1002;p75"/>
            <p:cNvSpPr txBox="1"/>
            <p:nvPr/>
          </p:nvSpPr>
          <p:spPr>
            <a:xfrm>
              <a:off x="5949103" y="3016636"/>
              <a:ext cx="1181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=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π × 10</a:t>
              </a:r>
              <a:r>
                <a:rPr baseline="30000"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03" name="Google Shape;1003;p75"/>
            <p:cNvSpPr txBox="1"/>
            <p:nvPr/>
          </p:nvSpPr>
          <p:spPr>
            <a:xfrm>
              <a:off x="5949100" y="4507000"/>
              <a:ext cx="1255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≈ 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314.2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cm²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04" name="Google Shape;1004;p75"/>
            <p:cNvSpPr txBox="1"/>
            <p:nvPr/>
          </p:nvSpPr>
          <p:spPr>
            <a:xfrm>
              <a:off x="5297875" y="2509661"/>
              <a:ext cx="2124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area = π × </a:t>
              </a:r>
              <a:r>
                <a:rPr i="1" lang="en-GB" sz="2000">
                  <a:latin typeface="Kalam"/>
                  <a:ea typeface="Kalam"/>
                  <a:cs typeface="Kalam"/>
                  <a:sym typeface="Kalam"/>
                </a:rPr>
                <a:t>r</a:t>
              </a:r>
              <a:r>
                <a:rPr baseline="30000"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05" name="Google Shape;1005;p75"/>
            <p:cNvSpPr/>
            <p:nvPr/>
          </p:nvSpPr>
          <p:spPr>
            <a:xfrm>
              <a:off x="6113096" y="3540597"/>
              <a:ext cx="954900" cy="269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06" name="Google Shape;1006;p75"/>
            <p:cNvSpPr/>
            <p:nvPr/>
          </p:nvSpPr>
          <p:spPr>
            <a:xfrm>
              <a:off x="6113096" y="4510247"/>
              <a:ext cx="954900" cy="269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6"/>
          <p:cNvSpPr/>
          <p:nvPr/>
        </p:nvSpPr>
        <p:spPr>
          <a:xfrm>
            <a:off x="754075" y="2797350"/>
            <a:ext cx="647400" cy="50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6"/>
          <p:cNvSpPr txBox="1"/>
          <p:nvPr/>
        </p:nvSpPr>
        <p:spPr>
          <a:xfrm>
            <a:off x="795025" y="2778150"/>
            <a:ext cx="212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254.5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6"/>
          <p:cNvSpPr txBox="1"/>
          <p:nvPr>
            <p:ph idx="1" type="subTitle"/>
          </p:nvPr>
        </p:nvSpPr>
        <p:spPr>
          <a:xfrm>
            <a:off x="337825" y="810000"/>
            <a:ext cx="2701800" cy="143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this circle is 254.5 mm².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its radius,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Give your answer to the nearest integer.</a:t>
            </a:r>
            <a:endParaRPr/>
          </a:p>
        </p:txBody>
      </p:sp>
      <p:sp>
        <p:nvSpPr>
          <p:cNvPr id="1014" name="Google Shape;1014;p7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015" name="Google Shape;1015;p76"/>
          <p:cNvSpPr txBox="1"/>
          <p:nvPr/>
        </p:nvSpPr>
        <p:spPr>
          <a:xfrm>
            <a:off x="795025" y="2332875"/>
            <a:ext cx="212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6" name="Google Shape;10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600" y="606900"/>
            <a:ext cx="1432800" cy="13515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7" name="Google Shape;1017;p76"/>
          <p:cNvGrpSpPr/>
          <p:nvPr/>
        </p:nvGrpSpPr>
        <p:grpSpPr>
          <a:xfrm>
            <a:off x="3751531" y="1296420"/>
            <a:ext cx="661561" cy="227105"/>
            <a:chOff x="4150800" y="4092900"/>
            <a:chExt cx="928507" cy="227105"/>
          </a:xfrm>
        </p:grpSpPr>
        <p:cxnSp>
          <p:nvCxnSpPr>
            <p:cNvPr id="1018" name="Google Shape;1018;p76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19" name="Google Shape;1019;p76"/>
            <p:cNvSpPr/>
            <p:nvPr/>
          </p:nvSpPr>
          <p:spPr>
            <a:xfrm>
              <a:off x="4358407" y="4149005"/>
              <a:ext cx="7209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0" name="Google Shape;1020;p76"/>
          <p:cNvGrpSpPr/>
          <p:nvPr/>
        </p:nvGrpSpPr>
        <p:grpSpPr>
          <a:xfrm>
            <a:off x="333431" y="1080000"/>
            <a:ext cx="1021844" cy="1577194"/>
            <a:chOff x="333431" y="1080000"/>
            <a:chExt cx="1021844" cy="1577194"/>
          </a:xfrm>
        </p:grpSpPr>
        <p:sp>
          <p:nvSpPr>
            <p:cNvPr id="1021" name="Google Shape;1021;p76"/>
            <p:cNvSpPr/>
            <p:nvPr/>
          </p:nvSpPr>
          <p:spPr>
            <a:xfrm>
              <a:off x="754075" y="2387794"/>
              <a:ext cx="601200" cy="269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2" name="Google Shape;1022;p76"/>
            <p:cNvSpPr/>
            <p:nvPr/>
          </p:nvSpPr>
          <p:spPr>
            <a:xfrm>
              <a:off x="333431" y="1080000"/>
              <a:ext cx="601200" cy="269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3" name="Google Shape;1023;p76"/>
          <p:cNvSpPr/>
          <p:nvPr/>
        </p:nvSpPr>
        <p:spPr>
          <a:xfrm>
            <a:off x="754075" y="2833069"/>
            <a:ext cx="647400" cy="2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4" name="Google Shape;1024;p76"/>
          <p:cNvGrpSpPr/>
          <p:nvPr/>
        </p:nvGrpSpPr>
        <p:grpSpPr>
          <a:xfrm>
            <a:off x="1605726" y="2993847"/>
            <a:ext cx="513600" cy="338700"/>
            <a:chOff x="820975" y="2993847"/>
            <a:chExt cx="513600" cy="338700"/>
          </a:xfrm>
        </p:grpSpPr>
        <p:sp>
          <p:nvSpPr>
            <p:cNvPr id="1025" name="Google Shape;1025;p76"/>
            <p:cNvSpPr txBox="1"/>
            <p:nvPr/>
          </p:nvSpPr>
          <p:spPr>
            <a:xfrm>
              <a:off x="960325" y="2993847"/>
              <a:ext cx="2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π</a:t>
              </a:r>
              <a:endParaRPr baseline="30000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26" name="Google Shape;1026;p76"/>
            <p:cNvCxnSpPr/>
            <p:nvPr/>
          </p:nvCxnSpPr>
          <p:spPr>
            <a:xfrm>
              <a:off x="820975" y="3065422"/>
              <a:ext cx="513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27" name="Google Shape;1027;p76"/>
          <p:cNvCxnSpPr/>
          <p:nvPr/>
        </p:nvCxnSpPr>
        <p:spPr>
          <a:xfrm rot="-893057">
            <a:off x="1578917" y="2855668"/>
            <a:ext cx="211393" cy="2113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76"/>
          <p:cNvCxnSpPr/>
          <p:nvPr/>
        </p:nvCxnSpPr>
        <p:spPr>
          <a:xfrm rot="-893057">
            <a:off x="1756817" y="3066643"/>
            <a:ext cx="211393" cy="2113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9" name="Google Shape;1029;p76"/>
          <p:cNvSpPr txBox="1"/>
          <p:nvPr/>
        </p:nvSpPr>
        <p:spPr>
          <a:xfrm>
            <a:off x="502116" y="3498255"/>
            <a:ext cx="14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81.00…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030" name="Google Shape;1030;p76" title="the square root of"/>
          <p:cNvPicPr preferRelativeResize="0"/>
          <p:nvPr/>
        </p:nvPicPr>
        <p:blipFill rotWithShape="1">
          <a:blip r:embed="rId4">
            <a:alphaModFix/>
          </a:blip>
          <a:srcRect b="10" l="0" r="18360" t="0"/>
          <a:stretch/>
        </p:blipFill>
        <p:spPr>
          <a:xfrm>
            <a:off x="331974" y="3496675"/>
            <a:ext cx="903250" cy="28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031" name="Google Shape;1031;p76" title="the square root of"/>
          <p:cNvPicPr preferRelativeResize="0"/>
          <p:nvPr/>
        </p:nvPicPr>
        <p:blipFill rotWithShape="1">
          <a:blip r:embed="rId4">
            <a:alphaModFix/>
          </a:blip>
          <a:srcRect b="10" l="0" r="63745" t="0"/>
          <a:stretch/>
        </p:blipFill>
        <p:spPr>
          <a:xfrm>
            <a:off x="1582508" y="3496675"/>
            <a:ext cx="401125" cy="28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76"/>
          <p:cNvSpPr txBox="1"/>
          <p:nvPr/>
        </p:nvSpPr>
        <p:spPr>
          <a:xfrm>
            <a:off x="1131737" y="3975025"/>
            <a:ext cx="14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6"/>
          <p:cNvSpPr txBox="1"/>
          <p:nvPr/>
        </p:nvSpPr>
        <p:spPr>
          <a:xfrm>
            <a:off x="502127" y="4543200"/>
            <a:ext cx="346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radius is 9 mm (to 1 s.f.).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6"/>
          <p:cNvSpPr/>
          <p:nvPr/>
        </p:nvSpPr>
        <p:spPr>
          <a:xfrm>
            <a:off x="461222" y="3555238"/>
            <a:ext cx="774000" cy="258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6"/>
          <p:cNvSpPr txBox="1"/>
          <p:nvPr>
            <p:ph idx="1" type="subTitle"/>
          </p:nvPr>
        </p:nvSpPr>
        <p:spPr>
          <a:xfrm>
            <a:off x="4754675" y="810000"/>
            <a:ext cx="2701800" cy="14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this circle is 78.5 inches².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its radius,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Give your answer to the nearest integer. </a:t>
            </a:r>
            <a:endParaRPr/>
          </a:p>
        </p:txBody>
      </p:sp>
      <p:pic>
        <p:nvPicPr>
          <p:cNvPr id="1036" name="Google Shape;103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600001">
            <a:off x="7456450" y="606900"/>
            <a:ext cx="1432799" cy="13515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76"/>
          <p:cNvGrpSpPr/>
          <p:nvPr/>
        </p:nvGrpSpPr>
        <p:grpSpPr>
          <a:xfrm rot="3600105">
            <a:off x="7884377" y="1425262"/>
            <a:ext cx="600157" cy="369892"/>
            <a:chOff x="4150800" y="4049514"/>
            <a:chExt cx="842400" cy="369900"/>
          </a:xfrm>
        </p:grpSpPr>
        <p:cxnSp>
          <p:nvCxnSpPr>
            <p:cNvPr id="1038" name="Google Shape;1038;p76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9" name="Google Shape;1039;p76"/>
            <p:cNvSpPr/>
            <p:nvPr/>
          </p:nvSpPr>
          <p:spPr>
            <a:xfrm rot="-3059289">
              <a:off x="4389014" y="4122067"/>
              <a:ext cx="366016" cy="224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0" name="Google Shape;1040;p76"/>
          <p:cNvGrpSpPr/>
          <p:nvPr/>
        </p:nvGrpSpPr>
        <p:grpSpPr>
          <a:xfrm>
            <a:off x="4715932" y="2549550"/>
            <a:ext cx="3642320" cy="2067225"/>
            <a:chOff x="9697157" y="2549550"/>
            <a:chExt cx="3642320" cy="2067225"/>
          </a:xfrm>
        </p:grpSpPr>
        <p:sp>
          <p:nvSpPr>
            <p:cNvPr id="1041" name="Google Shape;1041;p76"/>
            <p:cNvSpPr txBox="1"/>
            <p:nvPr/>
          </p:nvSpPr>
          <p:spPr>
            <a:xfrm>
              <a:off x="10414406" y="2549550"/>
              <a:ext cx="2124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78.5</a:t>
              </a: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 = </a:t>
              </a:r>
              <a:r>
                <a:rPr i="1"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π × </a:t>
              </a:r>
              <a:r>
                <a:rPr i="1" lang="en-GB" sz="2000">
                  <a:latin typeface="Kalam"/>
                  <a:ea typeface="Kalam"/>
                  <a:cs typeface="Kalam"/>
                  <a:sym typeface="Kalam"/>
                </a:rPr>
                <a:t>r</a:t>
              </a:r>
              <a:r>
                <a:rPr baseline="30000"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42" name="Google Shape;1042;p76"/>
            <p:cNvSpPr txBox="1"/>
            <p:nvPr/>
          </p:nvSpPr>
          <p:spPr>
            <a:xfrm>
              <a:off x="10482256" y="2765247"/>
              <a:ext cx="2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π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043" name="Google Shape;1043;p76"/>
            <p:cNvCxnSpPr/>
            <p:nvPr/>
          </p:nvCxnSpPr>
          <p:spPr>
            <a:xfrm>
              <a:off x="10378656" y="2836822"/>
              <a:ext cx="513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4" name="Google Shape;1044;p76"/>
            <p:cNvSpPr txBox="1"/>
            <p:nvPr/>
          </p:nvSpPr>
          <p:spPr>
            <a:xfrm>
              <a:off x="11364457" y="2765247"/>
              <a:ext cx="2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π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045" name="Google Shape;1045;p76"/>
            <p:cNvCxnSpPr/>
            <p:nvPr/>
          </p:nvCxnSpPr>
          <p:spPr>
            <a:xfrm>
              <a:off x="11225107" y="2836822"/>
              <a:ext cx="513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6" name="Google Shape;1046;p76"/>
            <p:cNvCxnSpPr/>
            <p:nvPr/>
          </p:nvCxnSpPr>
          <p:spPr>
            <a:xfrm rot="-893057">
              <a:off x="11248723" y="2615162"/>
              <a:ext cx="211393" cy="2113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7" name="Google Shape;1047;p76"/>
            <p:cNvCxnSpPr/>
            <p:nvPr/>
          </p:nvCxnSpPr>
          <p:spPr>
            <a:xfrm rot="-893057">
              <a:off x="11376198" y="2826137"/>
              <a:ext cx="211393" cy="2113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8" name="Google Shape;1048;p76"/>
            <p:cNvSpPr txBox="1"/>
            <p:nvPr/>
          </p:nvSpPr>
          <p:spPr>
            <a:xfrm>
              <a:off x="9867287" y="3301275"/>
              <a:ext cx="1799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24.98…</a:t>
              </a: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   =   </a:t>
              </a:r>
              <a:r>
                <a:rPr i="1" lang="en-GB" sz="2000">
                  <a:latin typeface="Kalam"/>
                  <a:ea typeface="Kalam"/>
                  <a:cs typeface="Kalam"/>
                  <a:sym typeface="Kalam"/>
                </a:rPr>
                <a:t>r</a:t>
              </a:r>
              <a:r>
                <a:rPr baseline="30000"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049" name="Google Shape;1049;p76" title="the square root of"/>
            <p:cNvPicPr preferRelativeResize="0"/>
            <p:nvPr/>
          </p:nvPicPr>
          <p:blipFill rotWithShape="1">
            <a:blip r:embed="rId4">
              <a:alphaModFix/>
            </a:blip>
            <a:srcRect b="10" l="0" r="7808" t="0"/>
            <a:stretch/>
          </p:blipFill>
          <p:spPr>
            <a:xfrm>
              <a:off x="9697157" y="3278625"/>
              <a:ext cx="1020000" cy="283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050" name="Google Shape;1050;p76" title="the square root of"/>
            <p:cNvPicPr preferRelativeResize="0"/>
            <p:nvPr/>
          </p:nvPicPr>
          <p:blipFill rotWithShape="1">
            <a:blip r:embed="rId4">
              <a:alphaModFix/>
            </a:blip>
            <a:srcRect b="10" l="0" r="63745" t="0"/>
            <a:stretch/>
          </p:blipFill>
          <p:spPr>
            <a:xfrm>
              <a:off x="11245155" y="3268075"/>
              <a:ext cx="401125" cy="283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76"/>
            <p:cNvSpPr txBox="1"/>
            <p:nvPr/>
          </p:nvSpPr>
          <p:spPr>
            <a:xfrm>
              <a:off x="10507437" y="3746425"/>
              <a:ext cx="1474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   </a:t>
              </a:r>
              <a:r>
                <a:rPr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≈</a:t>
              </a: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   </a:t>
              </a:r>
              <a:r>
                <a:rPr i="1" lang="en-GB" sz="2000"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baseline="30000" i="1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52" name="Google Shape;1052;p76"/>
            <p:cNvSpPr txBox="1"/>
            <p:nvPr/>
          </p:nvSpPr>
          <p:spPr>
            <a:xfrm>
              <a:off x="10012477" y="4308975"/>
              <a:ext cx="3327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The radius is 5 inches (1 s.f.).</a:t>
              </a:r>
              <a:endParaRPr baseline="30000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053" name="Google Shape;1053;p76"/>
          <p:cNvSpPr txBox="1"/>
          <p:nvPr>
            <p:ph idx="1" type="subTitle"/>
          </p:nvPr>
        </p:nvSpPr>
        <p:spPr>
          <a:xfrm>
            <a:off x="4815972" y="2950675"/>
            <a:ext cx="110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do.</a:t>
            </a:r>
            <a:endParaRPr sz="1800"/>
          </a:p>
        </p:txBody>
      </p:sp>
      <p:grpSp>
        <p:nvGrpSpPr>
          <p:cNvPr id="1054" name="Google Shape;1054;p76"/>
          <p:cNvGrpSpPr/>
          <p:nvPr/>
        </p:nvGrpSpPr>
        <p:grpSpPr>
          <a:xfrm>
            <a:off x="820975" y="2993847"/>
            <a:ext cx="513600" cy="338700"/>
            <a:chOff x="820975" y="2993847"/>
            <a:chExt cx="513600" cy="338700"/>
          </a:xfrm>
        </p:grpSpPr>
        <p:sp>
          <p:nvSpPr>
            <p:cNvPr id="1055" name="Google Shape;1055;p76"/>
            <p:cNvSpPr txBox="1"/>
            <p:nvPr/>
          </p:nvSpPr>
          <p:spPr>
            <a:xfrm>
              <a:off x="960325" y="2993847"/>
              <a:ext cx="2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π</a:t>
              </a:r>
              <a:endParaRPr baseline="30000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56" name="Google Shape;1056;p76"/>
            <p:cNvCxnSpPr/>
            <p:nvPr/>
          </p:nvCxnSpPr>
          <p:spPr>
            <a:xfrm>
              <a:off x="820975" y="3065422"/>
              <a:ext cx="513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7"/>
          <p:cNvSpPr/>
          <p:nvPr/>
        </p:nvSpPr>
        <p:spPr>
          <a:xfrm>
            <a:off x="6642977" y="3341350"/>
            <a:ext cx="5754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7"/>
          <p:cNvSpPr txBox="1"/>
          <p:nvPr/>
        </p:nvSpPr>
        <p:spPr>
          <a:xfrm>
            <a:off x="6687189" y="3320475"/>
            <a:ext cx="18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3" name="Google Shape;1063;p77"/>
          <p:cNvSpPr txBox="1"/>
          <p:nvPr>
            <p:ph idx="1" type="body"/>
          </p:nvPr>
        </p:nvSpPr>
        <p:spPr>
          <a:xfrm>
            <a:off x="4320000" y="2267600"/>
            <a:ext cx="4500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Step 2: Find the radius using the area of the full circle from step 1.</a:t>
            </a:r>
            <a:endParaRPr sz="1800"/>
          </a:p>
        </p:txBody>
      </p:sp>
      <p:grpSp>
        <p:nvGrpSpPr>
          <p:cNvPr id="1064" name="Google Shape;1064;p77"/>
          <p:cNvGrpSpPr/>
          <p:nvPr/>
        </p:nvGrpSpPr>
        <p:grpSpPr>
          <a:xfrm>
            <a:off x="324005" y="2148588"/>
            <a:ext cx="2264373" cy="2245117"/>
            <a:chOff x="4394350" y="1810120"/>
            <a:chExt cx="2851496" cy="2826892"/>
          </a:xfrm>
        </p:grpSpPr>
        <p:pic>
          <p:nvPicPr>
            <p:cNvPr id="1065" name="Google Shape;1065;p77"/>
            <p:cNvPicPr preferRelativeResize="0"/>
            <p:nvPr/>
          </p:nvPicPr>
          <p:blipFill rotWithShape="1">
            <a:blip r:embed="rId3">
              <a:alphaModFix/>
            </a:blip>
            <a:srcRect b="61348" l="60939" r="1685" t="0"/>
            <a:stretch/>
          </p:blipFill>
          <p:spPr>
            <a:xfrm rot="5400000">
              <a:off x="4415288" y="3169900"/>
              <a:ext cx="1446174" cy="1488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6" name="Google Shape;1066;p77"/>
            <p:cNvPicPr preferRelativeResize="0"/>
            <p:nvPr/>
          </p:nvPicPr>
          <p:blipFill rotWithShape="1">
            <a:blip r:embed="rId3">
              <a:alphaModFix/>
            </a:blip>
            <a:srcRect b="61348" l="60939" r="1685" t="0"/>
            <a:stretch/>
          </p:blipFill>
          <p:spPr>
            <a:xfrm rot="10800000">
              <a:off x="4419306" y="1810120"/>
              <a:ext cx="1446174" cy="1488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7" name="Google Shape;1067;p77"/>
            <p:cNvPicPr preferRelativeResize="0"/>
            <p:nvPr/>
          </p:nvPicPr>
          <p:blipFill rotWithShape="1">
            <a:blip r:embed="rId3">
              <a:alphaModFix/>
            </a:blip>
            <a:srcRect b="61348" l="60939" r="1685" t="0"/>
            <a:stretch/>
          </p:blipFill>
          <p:spPr>
            <a:xfrm rot="-5400000">
              <a:off x="5778734" y="1810120"/>
              <a:ext cx="1446174" cy="1488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8" name="Google Shape;1068;p77"/>
          <p:cNvSpPr txBox="1"/>
          <p:nvPr>
            <p:ph idx="1" type="body"/>
          </p:nvPr>
        </p:nvSpPr>
        <p:spPr>
          <a:xfrm>
            <a:off x="1625425" y="2638025"/>
            <a:ext cx="562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1069" name="Google Shape;1069;p77"/>
          <p:cNvSpPr txBox="1"/>
          <p:nvPr>
            <p:ph idx="1" type="body"/>
          </p:nvPr>
        </p:nvSpPr>
        <p:spPr>
          <a:xfrm>
            <a:off x="324000" y="657600"/>
            <a:ext cx="3372900" cy="14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of this quarter-circle is 25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 the radius of this quarter-circle.</a:t>
            </a:r>
            <a:endParaRPr sz="1800"/>
          </a:p>
        </p:txBody>
      </p:sp>
      <p:sp>
        <p:nvSpPr>
          <p:cNvPr id="1070" name="Google Shape;107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grpSp>
        <p:nvGrpSpPr>
          <p:cNvPr id="1071" name="Google Shape;1071;p77"/>
          <p:cNvGrpSpPr/>
          <p:nvPr/>
        </p:nvGrpSpPr>
        <p:grpSpPr>
          <a:xfrm>
            <a:off x="1423415" y="3230281"/>
            <a:ext cx="1148407" cy="1181809"/>
            <a:chOff x="520050" y="2400500"/>
            <a:chExt cx="1446174" cy="1488049"/>
          </a:xfrm>
        </p:grpSpPr>
        <p:sp>
          <p:nvSpPr>
            <p:cNvPr id="1072" name="Google Shape;1072;p77"/>
            <p:cNvSpPr/>
            <p:nvPr/>
          </p:nvSpPr>
          <p:spPr>
            <a:xfrm>
              <a:off x="573725" y="2465012"/>
              <a:ext cx="228900" cy="2289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73" name="Google Shape;1073;p77"/>
            <p:cNvPicPr preferRelativeResize="0"/>
            <p:nvPr/>
          </p:nvPicPr>
          <p:blipFill rotWithShape="1">
            <a:blip r:embed="rId3">
              <a:alphaModFix/>
            </a:blip>
            <a:srcRect b="61348" l="60939" r="1685" t="0"/>
            <a:stretch/>
          </p:blipFill>
          <p:spPr>
            <a:xfrm>
              <a:off x="520050" y="2400500"/>
              <a:ext cx="1446174" cy="1488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4" name="Google Shape;1074;p77"/>
          <p:cNvSpPr txBox="1"/>
          <p:nvPr>
            <p:ph idx="1" type="body"/>
          </p:nvPr>
        </p:nvSpPr>
        <p:spPr>
          <a:xfrm>
            <a:off x="1625425" y="3610650"/>
            <a:ext cx="562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1075" name="Google Shape;1075;p77"/>
          <p:cNvSpPr txBox="1"/>
          <p:nvPr>
            <p:ph idx="1" type="body"/>
          </p:nvPr>
        </p:nvSpPr>
        <p:spPr>
          <a:xfrm>
            <a:off x="691800" y="2638025"/>
            <a:ext cx="562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1076" name="Google Shape;1076;p77"/>
          <p:cNvSpPr txBox="1"/>
          <p:nvPr>
            <p:ph idx="1" type="body"/>
          </p:nvPr>
        </p:nvSpPr>
        <p:spPr>
          <a:xfrm>
            <a:off x="4320000" y="810000"/>
            <a:ext cx="4500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Step 1: Find the area of the full circle that this sector comes from.</a:t>
            </a:r>
            <a:endParaRPr sz="1800"/>
          </a:p>
        </p:txBody>
      </p:sp>
      <p:sp>
        <p:nvSpPr>
          <p:cNvPr id="1077" name="Google Shape;1077;p77"/>
          <p:cNvSpPr txBox="1"/>
          <p:nvPr>
            <p:ph idx="1" type="body"/>
          </p:nvPr>
        </p:nvSpPr>
        <p:spPr>
          <a:xfrm>
            <a:off x="691800" y="3610650"/>
            <a:ext cx="562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1078" name="Google Shape;1078;p77"/>
          <p:cNvSpPr txBox="1"/>
          <p:nvPr>
            <p:ph idx="1" type="body"/>
          </p:nvPr>
        </p:nvSpPr>
        <p:spPr>
          <a:xfrm>
            <a:off x="4687050" y="1355450"/>
            <a:ext cx="4133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quarter-circle = 25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1079" name="Google Shape;1079;p77"/>
          <p:cNvSpPr txBox="1"/>
          <p:nvPr>
            <p:ph idx="1" type="body"/>
          </p:nvPr>
        </p:nvSpPr>
        <p:spPr>
          <a:xfrm>
            <a:off x="4687050" y="1723223"/>
            <a:ext cx="4133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full circle = 100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sp>
        <p:nvSpPr>
          <p:cNvPr id="1080" name="Google Shape;1080;p77"/>
          <p:cNvSpPr txBox="1"/>
          <p:nvPr>
            <p:ph idx="1" type="body"/>
          </p:nvPr>
        </p:nvSpPr>
        <p:spPr>
          <a:xfrm>
            <a:off x="324000" y="4393700"/>
            <a:ext cx="2264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area = 100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/>
          </a:p>
        </p:txBody>
      </p:sp>
      <p:grpSp>
        <p:nvGrpSpPr>
          <p:cNvPr id="1081" name="Google Shape;1081;p77"/>
          <p:cNvGrpSpPr/>
          <p:nvPr/>
        </p:nvGrpSpPr>
        <p:grpSpPr>
          <a:xfrm>
            <a:off x="6687100" y="3573025"/>
            <a:ext cx="499990" cy="338700"/>
            <a:chOff x="5016431" y="5584647"/>
            <a:chExt cx="513600" cy="338700"/>
          </a:xfrm>
        </p:grpSpPr>
        <p:sp>
          <p:nvSpPr>
            <p:cNvPr id="1082" name="Google Shape;1082;p77"/>
            <p:cNvSpPr txBox="1"/>
            <p:nvPr/>
          </p:nvSpPr>
          <p:spPr>
            <a:xfrm>
              <a:off x="5120031" y="5584647"/>
              <a:ext cx="2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π</a:t>
              </a:r>
              <a:endParaRPr baseline="30000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83" name="Google Shape;1083;p77"/>
            <p:cNvCxnSpPr/>
            <p:nvPr/>
          </p:nvCxnSpPr>
          <p:spPr>
            <a:xfrm>
              <a:off x="5016431" y="5656222"/>
              <a:ext cx="513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84" name="Google Shape;1084;p77"/>
          <p:cNvCxnSpPr/>
          <p:nvPr/>
        </p:nvCxnSpPr>
        <p:spPr>
          <a:xfrm rot="-893057">
            <a:off x="7525848" y="3401012"/>
            <a:ext cx="211393" cy="2113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085" name="Google Shape;1085;p77" title="the square root of"/>
          <p:cNvPicPr preferRelativeResize="0"/>
          <p:nvPr/>
        </p:nvPicPr>
        <p:blipFill rotWithShape="1">
          <a:blip r:embed="rId4">
            <a:alphaModFix/>
          </a:blip>
          <a:srcRect b="10" l="0" r="56318" t="0"/>
          <a:stretch/>
        </p:blipFill>
        <p:spPr>
          <a:xfrm>
            <a:off x="6661003" y="4004311"/>
            <a:ext cx="483300" cy="28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77"/>
          <p:cNvSpPr txBox="1"/>
          <p:nvPr/>
        </p:nvSpPr>
        <p:spPr>
          <a:xfrm>
            <a:off x="5356975" y="2930200"/>
            <a:ext cx="33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full circle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87" name="Google Shape;1087;p77"/>
          <p:cNvGrpSpPr/>
          <p:nvPr/>
        </p:nvGrpSpPr>
        <p:grpSpPr>
          <a:xfrm>
            <a:off x="7560978" y="3573025"/>
            <a:ext cx="608411" cy="338700"/>
            <a:chOff x="5016431" y="5584647"/>
            <a:chExt cx="513600" cy="338700"/>
          </a:xfrm>
        </p:grpSpPr>
        <p:sp>
          <p:nvSpPr>
            <p:cNvPr id="1088" name="Google Shape;1088;p77"/>
            <p:cNvSpPr txBox="1"/>
            <p:nvPr/>
          </p:nvSpPr>
          <p:spPr>
            <a:xfrm>
              <a:off x="5120031" y="5584647"/>
              <a:ext cx="2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π</a:t>
              </a:r>
              <a:endParaRPr baseline="30000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89" name="Google Shape;1089;p77"/>
            <p:cNvCxnSpPr/>
            <p:nvPr/>
          </p:nvCxnSpPr>
          <p:spPr>
            <a:xfrm>
              <a:off x="5016431" y="5656222"/>
              <a:ext cx="513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90" name="Google Shape;1090;p77"/>
          <p:cNvCxnSpPr/>
          <p:nvPr/>
        </p:nvCxnSpPr>
        <p:spPr>
          <a:xfrm rot="-893057">
            <a:off x="7717598" y="3674312"/>
            <a:ext cx="211393" cy="2113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77"/>
          <p:cNvCxnSpPr/>
          <p:nvPr/>
        </p:nvCxnSpPr>
        <p:spPr>
          <a:xfrm rot="-893057">
            <a:off x="7012573" y="3416887"/>
            <a:ext cx="211393" cy="2113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77"/>
          <p:cNvCxnSpPr/>
          <p:nvPr/>
        </p:nvCxnSpPr>
        <p:spPr>
          <a:xfrm rot="-893057">
            <a:off x="6796961" y="3669020"/>
            <a:ext cx="211393" cy="2113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3" name="Google Shape;1093;p77"/>
          <p:cNvSpPr txBox="1"/>
          <p:nvPr/>
        </p:nvSpPr>
        <p:spPr>
          <a:xfrm>
            <a:off x="6815590" y="4043150"/>
            <a:ext cx="127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i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i="1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094" name="Google Shape;1094;p77" title="the square root of"/>
          <p:cNvPicPr preferRelativeResize="0"/>
          <p:nvPr/>
        </p:nvPicPr>
        <p:blipFill rotWithShape="1">
          <a:blip r:embed="rId4">
            <a:alphaModFix/>
          </a:blip>
          <a:srcRect b="10" l="0" r="56318" t="0"/>
          <a:stretch/>
        </p:blipFill>
        <p:spPr>
          <a:xfrm>
            <a:off x="7452400" y="4004300"/>
            <a:ext cx="483300" cy="28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77"/>
          <p:cNvSpPr txBox="1"/>
          <p:nvPr/>
        </p:nvSpPr>
        <p:spPr>
          <a:xfrm>
            <a:off x="6934695" y="4462215"/>
            <a:ext cx="957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i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aseline="30000" i="1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96" name="Google Shape;1096;p77"/>
          <p:cNvGrpSpPr/>
          <p:nvPr/>
        </p:nvGrpSpPr>
        <p:grpSpPr>
          <a:xfrm>
            <a:off x="5310225" y="1743975"/>
            <a:ext cx="2108150" cy="1522457"/>
            <a:chOff x="4776825" y="1743975"/>
            <a:chExt cx="2108150" cy="1522457"/>
          </a:xfrm>
        </p:grpSpPr>
        <p:sp>
          <p:nvSpPr>
            <p:cNvPr id="1097" name="Google Shape;1097;p77"/>
            <p:cNvSpPr/>
            <p:nvPr/>
          </p:nvSpPr>
          <p:spPr>
            <a:xfrm>
              <a:off x="4776825" y="2958632"/>
              <a:ext cx="1937400" cy="307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77"/>
            <p:cNvSpPr/>
            <p:nvPr/>
          </p:nvSpPr>
          <p:spPr>
            <a:xfrm>
              <a:off x="6322475" y="1743975"/>
              <a:ext cx="562500" cy="307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9" name="Google Shape;1099;p77"/>
          <p:cNvSpPr txBox="1"/>
          <p:nvPr>
            <p:ph idx="1" type="body"/>
          </p:nvPr>
        </p:nvSpPr>
        <p:spPr>
          <a:xfrm>
            <a:off x="2750700" y="3272349"/>
            <a:ext cx="19365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radius of this quarter-circle is 10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endParaRPr sz="1800"/>
          </a:p>
        </p:txBody>
      </p:sp>
      <p:grpSp>
        <p:nvGrpSpPr>
          <p:cNvPr id="1100" name="Google Shape;1100;p77"/>
          <p:cNvGrpSpPr/>
          <p:nvPr/>
        </p:nvGrpSpPr>
        <p:grpSpPr>
          <a:xfrm rot="10800000">
            <a:off x="1218071" y="2986671"/>
            <a:ext cx="1565645" cy="227099"/>
            <a:chOff x="3923777" y="4092900"/>
            <a:chExt cx="1296600" cy="227099"/>
          </a:xfrm>
        </p:grpSpPr>
        <p:cxnSp>
          <p:nvCxnSpPr>
            <p:cNvPr id="1101" name="Google Shape;1101;p77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2" name="Google Shape;1102;p77"/>
            <p:cNvSpPr/>
            <p:nvPr/>
          </p:nvSpPr>
          <p:spPr>
            <a:xfrm rot="10800000">
              <a:off x="3923777" y="4148999"/>
              <a:ext cx="12966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10 cm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108" name="Google Shape;1108;p78"/>
          <p:cNvSpPr txBox="1"/>
          <p:nvPr>
            <p:ph idx="4294967295" type="body"/>
          </p:nvPr>
        </p:nvSpPr>
        <p:spPr>
          <a:xfrm>
            <a:off x="324000" y="683100"/>
            <a:ext cx="8496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Complete the table to find the </a:t>
            </a:r>
            <a:r>
              <a:rPr lang="en-GB" sz="1800">
                <a:solidFill>
                  <a:schemeClr val="accent4"/>
                </a:solidFill>
              </a:rPr>
              <a:t>area of the full circle</a:t>
            </a:r>
            <a:r>
              <a:rPr lang="en-GB" sz="1800"/>
              <a:t> that the sector comes from.</a:t>
            </a:r>
            <a:endParaRPr sz="1800"/>
          </a:p>
        </p:txBody>
      </p:sp>
      <p:pic>
        <p:nvPicPr>
          <p:cNvPr id="1109" name="Google Shape;1109;p78"/>
          <p:cNvPicPr preferRelativeResize="0"/>
          <p:nvPr/>
        </p:nvPicPr>
        <p:blipFill rotWithShape="1">
          <a:blip r:embed="rId3">
            <a:alphaModFix/>
          </a:blip>
          <a:srcRect b="15104" l="48702" r="26012" t="25265"/>
          <a:stretch/>
        </p:blipFill>
        <p:spPr>
          <a:xfrm>
            <a:off x="3419475" y="1434076"/>
            <a:ext cx="1741999" cy="938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0" name="Google Shape;1110;p78"/>
          <p:cNvGraphicFramePr/>
          <p:nvPr/>
        </p:nvGraphicFramePr>
        <p:xfrm>
          <a:off x="324000" y="129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{EDAA7282-5BF7-4F40-B1DE-E8E49530A6CE}</a:tableStyleId>
              </a:tblPr>
              <a:tblGrid>
                <a:gridCol w="1318500"/>
                <a:gridCol w="1740000"/>
                <a:gridCol w="1812475"/>
                <a:gridCol w="1812475"/>
                <a:gridCol w="1812475"/>
              </a:tblGrid>
              <a:tr h="12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sector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×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full circle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11" name="Google Shape;1111;p78"/>
          <p:cNvPicPr preferRelativeResize="0"/>
          <p:nvPr/>
        </p:nvPicPr>
        <p:blipFill rotWithShape="1">
          <a:blip r:embed="rId3">
            <a:alphaModFix/>
          </a:blip>
          <a:srcRect b="168" l="77259" r="868" t="6172"/>
          <a:stretch/>
        </p:blipFill>
        <p:spPr>
          <a:xfrm>
            <a:off x="7298350" y="1319614"/>
            <a:ext cx="1193400" cy="11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78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 rot="10800000">
            <a:off x="5541374" y="1338961"/>
            <a:ext cx="1126651" cy="11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78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>
            <a:off x="1836812" y="1262651"/>
            <a:ext cx="1278899" cy="12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9"/>
          <p:cNvSpPr txBox="1"/>
          <p:nvPr>
            <p:ph idx="4294967295" type="body"/>
          </p:nvPr>
        </p:nvSpPr>
        <p:spPr>
          <a:xfrm>
            <a:off x="324000" y="2228925"/>
            <a:ext cx="7135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Using your answer to part a, complete the method to calculate the radius of this quarter-circle.</a:t>
            </a:r>
            <a:endParaRPr sz="1800"/>
          </a:p>
        </p:txBody>
      </p:sp>
      <p:sp>
        <p:nvSpPr>
          <p:cNvPr id="1119" name="Google Shape;1119;p79"/>
          <p:cNvSpPr txBox="1"/>
          <p:nvPr>
            <p:ph idx="4294967295" type="body"/>
          </p:nvPr>
        </p:nvSpPr>
        <p:spPr>
          <a:xfrm>
            <a:off x="324000" y="657600"/>
            <a:ext cx="5121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area of this quarter-circle is 900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cm².</a:t>
            </a:r>
            <a:endParaRPr sz="1800"/>
          </a:p>
        </p:txBody>
      </p:sp>
      <p:sp>
        <p:nvSpPr>
          <p:cNvPr id="1120" name="Google Shape;1120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121" name="Google Shape;1121;p79"/>
          <p:cNvSpPr/>
          <p:nvPr/>
        </p:nvSpPr>
        <p:spPr>
          <a:xfrm>
            <a:off x="5756350" y="733800"/>
            <a:ext cx="228900" cy="228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2" name="Google Shape;1122;p79"/>
          <p:cNvPicPr preferRelativeResize="0"/>
          <p:nvPr/>
        </p:nvPicPr>
        <p:blipFill rotWithShape="1">
          <a:blip r:embed="rId3">
            <a:alphaModFix/>
          </a:blip>
          <a:srcRect b="77019" l="10054" r="67299" t="0"/>
          <a:stretch/>
        </p:blipFill>
        <p:spPr>
          <a:xfrm>
            <a:off x="5698200" y="659075"/>
            <a:ext cx="876249" cy="88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79"/>
          <p:cNvSpPr txBox="1"/>
          <p:nvPr/>
        </p:nvSpPr>
        <p:spPr>
          <a:xfrm>
            <a:off x="323998" y="2933625"/>
            <a:ext cx="33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full circle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9"/>
          <p:cNvSpPr txBox="1"/>
          <p:nvPr/>
        </p:nvSpPr>
        <p:spPr>
          <a:xfrm>
            <a:off x="2246890" y="4001875"/>
            <a:ext cx="127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79"/>
          <p:cNvSpPr txBox="1"/>
          <p:nvPr/>
        </p:nvSpPr>
        <p:spPr>
          <a:xfrm>
            <a:off x="2252585" y="3429650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9"/>
          <p:cNvSpPr/>
          <p:nvPr/>
        </p:nvSpPr>
        <p:spPr>
          <a:xfrm>
            <a:off x="1250643" y="3375350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9"/>
          <p:cNvSpPr txBox="1"/>
          <p:nvPr/>
        </p:nvSpPr>
        <p:spPr>
          <a:xfrm>
            <a:off x="1532594" y="4512600"/>
            <a:ext cx="127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 cm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79"/>
          <p:cNvSpPr/>
          <p:nvPr/>
        </p:nvSpPr>
        <p:spPr>
          <a:xfrm>
            <a:off x="1250643" y="3916825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9"/>
          <p:cNvSpPr txBox="1"/>
          <p:nvPr>
            <p:ph idx="4294967295" type="body"/>
          </p:nvPr>
        </p:nvSpPr>
        <p:spPr>
          <a:xfrm>
            <a:off x="324000" y="1675600"/>
            <a:ext cx="7135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Find the </a:t>
            </a:r>
            <a:r>
              <a:rPr lang="en-GB" sz="1800">
                <a:solidFill>
                  <a:schemeClr val="accent4"/>
                </a:solidFill>
              </a:rPr>
              <a:t>area of the full circle</a:t>
            </a:r>
            <a:r>
              <a:rPr lang="en-GB" sz="1800"/>
              <a:t> that the sector comes from. 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p80"/>
          <p:cNvPicPr preferRelativeResize="0"/>
          <p:nvPr/>
        </p:nvPicPr>
        <p:blipFill rotWithShape="1">
          <a:blip r:embed="rId3">
            <a:alphaModFix/>
          </a:blip>
          <a:srcRect b="56289" l="77172" r="0" t="0"/>
          <a:stretch/>
        </p:blipFill>
        <p:spPr>
          <a:xfrm>
            <a:off x="4823991" y="1967923"/>
            <a:ext cx="1620675" cy="1618462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80"/>
          <p:cNvSpPr/>
          <p:nvPr/>
        </p:nvSpPr>
        <p:spPr>
          <a:xfrm>
            <a:off x="5646050" y="2800638"/>
            <a:ext cx="770700" cy="7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137" name="Google Shape;1137;p80"/>
          <p:cNvSpPr txBox="1"/>
          <p:nvPr/>
        </p:nvSpPr>
        <p:spPr>
          <a:xfrm>
            <a:off x="481394" y="2111772"/>
            <a:ext cx="33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full circle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0"/>
          <p:cNvSpPr txBox="1"/>
          <p:nvPr/>
        </p:nvSpPr>
        <p:spPr>
          <a:xfrm>
            <a:off x="2404286" y="3180022"/>
            <a:ext cx="127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0"/>
          <p:cNvSpPr txBox="1"/>
          <p:nvPr/>
        </p:nvSpPr>
        <p:spPr>
          <a:xfrm>
            <a:off x="2409981" y="2607797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0"/>
          <p:cNvSpPr/>
          <p:nvPr/>
        </p:nvSpPr>
        <p:spPr>
          <a:xfrm>
            <a:off x="1408038" y="2553497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0"/>
          <p:cNvSpPr txBox="1"/>
          <p:nvPr/>
        </p:nvSpPr>
        <p:spPr>
          <a:xfrm>
            <a:off x="2404274" y="3690751"/>
            <a:ext cx="56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0"/>
          <p:cNvSpPr/>
          <p:nvPr/>
        </p:nvSpPr>
        <p:spPr>
          <a:xfrm>
            <a:off x="1408038" y="3094972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0"/>
          <p:cNvSpPr txBox="1"/>
          <p:nvPr>
            <p:ph idx="4294967295" type="body"/>
          </p:nvPr>
        </p:nvSpPr>
        <p:spPr>
          <a:xfrm>
            <a:off x="324000" y="657600"/>
            <a:ext cx="3996000" cy="14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The area of a semicircle                           is 39.3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Complete the method to calculate the diameter of this semicircle.</a:t>
            </a:r>
            <a:endParaRPr sz="1800"/>
          </a:p>
        </p:txBody>
      </p:sp>
      <p:sp>
        <p:nvSpPr>
          <p:cNvPr id="1144" name="Google Shape;1144;p80"/>
          <p:cNvSpPr/>
          <p:nvPr/>
        </p:nvSpPr>
        <p:spPr>
          <a:xfrm>
            <a:off x="1408038" y="3636447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5" name="Google Shape;1145;p80"/>
          <p:cNvPicPr preferRelativeResize="0"/>
          <p:nvPr/>
        </p:nvPicPr>
        <p:blipFill rotWithShape="1">
          <a:blip r:embed="rId4">
            <a:alphaModFix/>
          </a:blip>
          <a:srcRect b="35653" l="5289" r="62534" t="46211"/>
          <a:stretch/>
        </p:blipFill>
        <p:spPr>
          <a:xfrm rot="5400000">
            <a:off x="3391169" y="3430926"/>
            <a:ext cx="1245000" cy="698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80"/>
          <p:cNvSpPr txBox="1"/>
          <p:nvPr/>
        </p:nvSpPr>
        <p:spPr>
          <a:xfrm>
            <a:off x="2404274" y="4232226"/>
            <a:ext cx="56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0"/>
          <p:cNvSpPr/>
          <p:nvPr/>
        </p:nvSpPr>
        <p:spPr>
          <a:xfrm>
            <a:off x="1408038" y="4177922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8" name="Google Shape;1148;p80"/>
          <p:cNvGrpSpPr/>
          <p:nvPr/>
        </p:nvGrpSpPr>
        <p:grpSpPr>
          <a:xfrm rot="5400000">
            <a:off x="2877861" y="3637113"/>
            <a:ext cx="1201178" cy="286800"/>
            <a:chOff x="4150800" y="4091060"/>
            <a:chExt cx="842400" cy="286800"/>
          </a:xfrm>
        </p:grpSpPr>
        <p:cxnSp>
          <p:nvCxnSpPr>
            <p:cNvPr id="1149" name="Google Shape;1149;p80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50" name="Google Shape;1150;p80"/>
            <p:cNvSpPr/>
            <p:nvPr/>
          </p:nvSpPr>
          <p:spPr>
            <a:xfrm rot="-5400000">
              <a:off x="4464197" y="4114460"/>
              <a:ext cx="286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51" name="Google Shape;1151;p80"/>
          <p:cNvCxnSpPr/>
          <p:nvPr/>
        </p:nvCxnSpPr>
        <p:spPr>
          <a:xfrm>
            <a:off x="4572000" y="540000"/>
            <a:ext cx="0" cy="419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80"/>
          <p:cNvSpPr/>
          <p:nvPr/>
        </p:nvSpPr>
        <p:spPr>
          <a:xfrm>
            <a:off x="5646043" y="2800638"/>
            <a:ext cx="770700" cy="7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0"/>
          <p:cNvSpPr txBox="1"/>
          <p:nvPr>
            <p:ph idx="4294967295" type="body"/>
          </p:nvPr>
        </p:nvSpPr>
        <p:spPr>
          <a:xfrm>
            <a:off x="4823999" y="731725"/>
            <a:ext cx="3738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The area of this three-quarter-circle is 1357.2 cm².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is the radius of the sector?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159" name="Google Shape;1159;p81"/>
          <p:cNvSpPr txBox="1"/>
          <p:nvPr>
            <p:ph idx="4294967295" type="body"/>
          </p:nvPr>
        </p:nvSpPr>
        <p:spPr>
          <a:xfrm>
            <a:off x="324000" y="683100"/>
            <a:ext cx="8496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Complete the table to find the </a:t>
            </a:r>
            <a:r>
              <a:rPr lang="en-GB" sz="1800">
                <a:solidFill>
                  <a:schemeClr val="accent4"/>
                </a:solidFill>
              </a:rPr>
              <a:t>area of the full circle</a:t>
            </a:r>
            <a:r>
              <a:rPr lang="en-GB" sz="1800"/>
              <a:t> that the sector comes from.</a:t>
            </a:r>
            <a:endParaRPr sz="1800"/>
          </a:p>
        </p:txBody>
      </p:sp>
      <p:pic>
        <p:nvPicPr>
          <p:cNvPr id="1160" name="Google Shape;1160;p81"/>
          <p:cNvPicPr preferRelativeResize="0"/>
          <p:nvPr/>
        </p:nvPicPr>
        <p:blipFill rotWithShape="1">
          <a:blip r:embed="rId3">
            <a:alphaModFix/>
          </a:blip>
          <a:srcRect b="15104" l="48702" r="26012" t="25265"/>
          <a:stretch/>
        </p:blipFill>
        <p:spPr>
          <a:xfrm>
            <a:off x="3419475" y="1434076"/>
            <a:ext cx="1741999" cy="938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1" name="Google Shape;1161;p81"/>
          <p:cNvGraphicFramePr/>
          <p:nvPr/>
        </p:nvGraphicFramePr>
        <p:xfrm>
          <a:off x="324000" y="129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{EDAA7282-5BF7-4F40-B1DE-E8E49530A6CE}</a:tableStyleId>
              </a:tblPr>
              <a:tblGrid>
                <a:gridCol w="1308150"/>
                <a:gridCol w="1750350"/>
                <a:gridCol w="1812475"/>
                <a:gridCol w="1812475"/>
                <a:gridCol w="1812475"/>
              </a:tblGrid>
              <a:tr h="12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sector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×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31π ×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60π ÷ 3 ×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full circle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50.2 cm²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124π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80π cm²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62" name="Google Shape;1162;p81"/>
          <p:cNvPicPr preferRelativeResize="0"/>
          <p:nvPr/>
        </p:nvPicPr>
        <p:blipFill rotWithShape="1">
          <a:blip r:embed="rId3">
            <a:alphaModFix/>
          </a:blip>
          <a:srcRect b="168" l="77259" r="868" t="6172"/>
          <a:stretch/>
        </p:blipFill>
        <p:spPr>
          <a:xfrm>
            <a:off x="7298350" y="1319614"/>
            <a:ext cx="1193400" cy="11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81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 rot="10800000">
            <a:off x="5541374" y="1338961"/>
            <a:ext cx="1126651" cy="11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81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>
            <a:off x="1836812" y="1262651"/>
            <a:ext cx="1278899" cy="12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170" name="Google Shape;1170;p82"/>
          <p:cNvSpPr/>
          <p:nvPr/>
        </p:nvSpPr>
        <p:spPr>
          <a:xfrm>
            <a:off x="1225943" y="3400288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2"/>
          <p:cNvSpPr/>
          <p:nvPr/>
        </p:nvSpPr>
        <p:spPr>
          <a:xfrm>
            <a:off x="1225943" y="3941763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2"/>
          <p:cNvSpPr txBox="1"/>
          <p:nvPr>
            <p:ph idx="4294967295" type="body"/>
          </p:nvPr>
        </p:nvSpPr>
        <p:spPr>
          <a:xfrm>
            <a:off x="324000" y="1914130"/>
            <a:ext cx="3003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full circle = 3600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π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82"/>
          <p:cNvSpPr txBox="1"/>
          <p:nvPr>
            <p:ph idx="4294967295" type="body"/>
          </p:nvPr>
        </p:nvSpPr>
        <p:spPr>
          <a:xfrm>
            <a:off x="1225950" y="3395863"/>
            <a:ext cx="917700" cy="46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3600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π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2"/>
          <p:cNvSpPr txBox="1"/>
          <p:nvPr>
            <p:ph idx="4294967295" type="body"/>
          </p:nvPr>
        </p:nvSpPr>
        <p:spPr>
          <a:xfrm>
            <a:off x="1225950" y="3921908"/>
            <a:ext cx="917700" cy="46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2"/>
          <p:cNvSpPr txBox="1"/>
          <p:nvPr>
            <p:ph idx="4294967295" type="body"/>
          </p:nvPr>
        </p:nvSpPr>
        <p:spPr>
          <a:xfrm>
            <a:off x="324000" y="2381325"/>
            <a:ext cx="7135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Using your answer to part a, complete the method to calculate the radius of this quarter-circle.</a:t>
            </a:r>
            <a:endParaRPr sz="1800"/>
          </a:p>
        </p:txBody>
      </p:sp>
      <p:sp>
        <p:nvSpPr>
          <p:cNvPr id="1176" name="Google Shape;1176;p82"/>
          <p:cNvSpPr txBox="1"/>
          <p:nvPr>
            <p:ph idx="4294967295" type="body"/>
          </p:nvPr>
        </p:nvSpPr>
        <p:spPr>
          <a:xfrm>
            <a:off x="324000" y="657600"/>
            <a:ext cx="5121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area of this quarter-circle is 900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800"/>
              <a:t>cm².</a:t>
            </a:r>
            <a:endParaRPr sz="1800"/>
          </a:p>
        </p:txBody>
      </p:sp>
      <p:sp>
        <p:nvSpPr>
          <p:cNvPr id="1177" name="Google Shape;1177;p82"/>
          <p:cNvSpPr/>
          <p:nvPr/>
        </p:nvSpPr>
        <p:spPr>
          <a:xfrm>
            <a:off x="5756350" y="733800"/>
            <a:ext cx="228900" cy="228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8" name="Google Shape;1178;p82"/>
          <p:cNvPicPr preferRelativeResize="0"/>
          <p:nvPr/>
        </p:nvPicPr>
        <p:blipFill rotWithShape="1">
          <a:blip r:embed="rId3">
            <a:alphaModFix/>
          </a:blip>
          <a:srcRect b="77019" l="10054" r="67299" t="0"/>
          <a:stretch/>
        </p:blipFill>
        <p:spPr>
          <a:xfrm>
            <a:off x="5698200" y="659075"/>
            <a:ext cx="876249" cy="88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82"/>
          <p:cNvSpPr txBox="1"/>
          <p:nvPr/>
        </p:nvSpPr>
        <p:spPr>
          <a:xfrm>
            <a:off x="323998" y="2933625"/>
            <a:ext cx="33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full circle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2"/>
          <p:cNvSpPr txBox="1"/>
          <p:nvPr/>
        </p:nvSpPr>
        <p:spPr>
          <a:xfrm>
            <a:off x="2246890" y="4001875"/>
            <a:ext cx="127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2"/>
          <p:cNvSpPr txBox="1"/>
          <p:nvPr/>
        </p:nvSpPr>
        <p:spPr>
          <a:xfrm>
            <a:off x="2252585" y="3429650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2"/>
          <p:cNvSpPr txBox="1"/>
          <p:nvPr/>
        </p:nvSpPr>
        <p:spPr>
          <a:xfrm>
            <a:off x="1532594" y="4512600"/>
            <a:ext cx="127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 cm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2"/>
          <p:cNvSpPr txBox="1"/>
          <p:nvPr>
            <p:ph idx="4294967295" type="body"/>
          </p:nvPr>
        </p:nvSpPr>
        <p:spPr>
          <a:xfrm>
            <a:off x="324000" y="1599400"/>
            <a:ext cx="7135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Find the </a:t>
            </a:r>
            <a:r>
              <a:rPr lang="en-GB" sz="1800">
                <a:solidFill>
                  <a:schemeClr val="accent4"/>
                </a:solidFill>
              </a:rPr>
              <a:t>area of the full circle</a:t>
            </a:r>
            <a:r>
              <a:rPr lang="en-GB" sz="1800"/>
              <a:t> that the sector comes from. 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189" name="Google Shape;1189;p83"/>
          <p:cNvSpPr txBox="1"/>
          <p:nvPr/>
        </p:nvSpPr>
        <p:spPr>
          <a:xfrm>
            <a:off x="481394" y="2111772"/>
            <a:ext cx="33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full circle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3"/>
          <p:cNvSpPr txBox="1"/>
          <p:nvPr/>
        </p:nvSpPr>
        <p:spPr>
          <a:xfrm>
            <a:off x="2404286" y="3180022"/>
            <a:ext cx="127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3"/>
          <p:cNvSpPr txBox="1"/>
          <p:nvPr/>
        </p:nvSpPr>
        <p:spPr>
          <a:xfrm>
            <a:off x="2409981" y="2607797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3"/>
          <p:cNvSpPr/>
          <p:nvPr/>
        </p:nvSpPr>
        <p:spPr>
          <a:xfrm>
            <a:off x="1408038" y="2553497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3"/>
          <p:cNvSpPr txBox="1"/>
          <p:nvPr/>
        </p:nvSpPr>
        <p:spPr>
          <a:xfrm>
            <a:off x="2404274" y="3690751"/>
            <a:ext cx="56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1"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3"/>
          <p:cNvSpPr/>
          <p:nvPr/>
        </p:nvSpPr>
        <p:spPr>
          <a:xfrm>
            <a:off x="1408038" y="3094972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3"/>
          <p:cNvSpPr txBox="1"/>
          <p:nvPr>
            <p:ph idx="4294967295" type="body"/>
          </p:nvPr>
        </p:nvSpPr>
        <p:spPr>
          <a:xfrm>
            <a:off x="324000" y="657600"/>
            <a:ext cx="3996000" cy="14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The area of a semicircle                           is 39.3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Complete the method to calculate the diameter of this semicircle.</a:t>
            </a:r>
            <a:endParaRPr sz="1800"/>
          </a:p>
        </p:txBody>
      </p:sp>
      <p:sp>
        <p:nvSpPr>
          <p:cNvPr id="1196" name="Google Shape;1196;p83"/>
          <p:cNvSpPr/>
          <p:nvPr/>
        </p:nvSpPr>
        <p:spPr>
          <a:xfrm>
            <a:off x="1408038" y="3636447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7" name="Google Shape;1197;p83"/>
          <p:cNvPicPr preferRelativeResize="0"/>
          <p:nvPr/>
        </p:nvPicPr>
        <p:blipFill rotWithShape="1">
          <a:blip r:embed="rId3">
            <a:alphaModFix/>
          </a:blip>
          <a:srcRect b="35653" l="5289" r="62534" t="46211"/>
          <a:stretch/>
        </p:blipFill>
        <p:spPr>
          <a:xfrm rot="5400000">
            <a:off x="3391169" y="3430926"/>
            <a:ext cx="1245000" cy="698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83"/>
          <p:cNvSpPr txBox="1"/>
          <p:nvPr/>
        </p:nvSpPr>
        <p:spPr>
          <a:xfrm>
            <a:off x="2404274" y="4232226"/>
            <a:ext cx="56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≈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3"/>
          <p:cNvSpPr/>
          <p:nvPr/>
        </p:nvSpPr>
        <p:spPr>
          <a:xfrm>
            <a:off x="1408038" y="4177922"/>
            <a:ext cx="917700" cy="44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0" name="Google Shape;1200;p83"/>
          <p:cNvGrpSpPr/>
          <p:nvPr/>
        </p:nvGrpSpPr>
        <p:grpSpPr>
          <a:xfrm rot="5400000">
            <a:off x="2877861" y="3637113"/>
            <a:ext cx="1201178" cy="286800"/>
            <a:chOff x="4150800" y="4091060"/>
            <a:chExt cx="842400" cy="286800"/>
          </a:xfrm>
        </p:grpSpPr>
        <p:cxnSp>
          <p:nvCxnSpPr>
            <p:cNvPr id="1201" name="Google Shape;1201;p83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02" name="Google Shape;1202;p83"/>
            <p:cNvSpPr/>
            <p:nvPr/>
          </p:nvSpPr>
          <p:spPr>
            <a:xfrm rot="-5400000">
              <a:off x="4482078" y="4114460"/>
              <a:ext cx="286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03" name="Google Shape;1203;p83"/>
          <p:cNvCxnSpPr/>
          <p:nvPr/>
        </p:nvCxnSpPr>
        <p:spPr>
          <a:xfrm>
            <a:off x="4572000" y="540000"/>
            <a:ext cx="0" cy="419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83"/>
          <p:cNvSpPr txBox="1"/>
          <p:nvPr>
            <p:ph idx="4294967295" type="body"/>
          </p:nvPr>
        </p:nvSpPr>
        <p:spPr>
          <a:xfrm>
            <a:off x="1408050" y="2539171"/>
            <a:ext cx="917700" cy="46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78.6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83"/>
          <p:cNvSpPr txBox="1"/>
          <p:nvPr>
            <p:ph idx="4294967295" type="body"/>
          </p:nvPr>
        </p:nvSpPr>
        <p:spPr>
          <a:xfrm>
            <a:off x="1408050" y="3085071"/>
            <a:ext cx="917700" cy="46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25.01…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6" name="Google Shape;1206;p83"/>
          <p:cNvSpPr txBox="1"/>
          <p:nvPr>
            <p:ph idx="4294967295" type="body"/>
          </p:nvPr>
        </p:nvSpPr>
        <p:spPr>
          <a:xfrm>
            <a:off x="1408050" y="3626546"/>
            <a:ext cx="917700" cy="46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5.001…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83"/>
          <p:cNvSpPr txBox="1"/>
          <p:nvPr>
            <p:ph idx="4294967295" type="body"/>
          </p:nvPr>
        </p:nvSpPr>
        <p:spPr>
          <a:xfrm>
            <a:off x="4793475" y="3618475"/>
            <a:ext cx="4036200" cy="4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quarter-circle = 452.4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full circle = 1809.6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 = 24 cm (2 s.f.)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8" name="Google Shape;1208;p83"/>
          <p:cNvSpPr txBox="1"/>
          <p:nvPr>
            <p:ph idx="4294967295" type="body"/>
          </p:nvPr>
        </p:nvSpPr>
        <p:spPr>
          <a:xfrm>
            <a:off x="1408050" y="4168021"/>
            <a:ext cx="917700" cy="46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09" name="Google Shape;1209;p83"/>
          <p:cNvPicPr preferRelativeResize="0"/>
          <p:nvPr/>
        </p:nvPicPr>
        <p:blipFill rotWithShape="1">
          <a:blip r:embed="rId4">
            <a:alphaModFix/>
          </a:blip>
          <a:srcRect b="56289" l="77172" r="0" t="0"/>
          <a:stretch/>
        </p:blipFill>
        <p:spPr>
          <a:xfrm>
            <a:off x="4823991" y="1967923"/>
            <a:ext cx="1620675" cy="1618462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83"/>
          <p:cNvSpPr/>
          <p:nvPr/>
        </p:nvSpPr>
        <p:spPr>
          <a:xfrm>
            <a:off x="5646050" y="2800638"/>
            <a:ext cx="770700" cy="7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3"/>
          <p:cNvSpPr/>
          <p:nvPr/>
        </p:nvSpPr>
        <p:spPr>
          <a:xfrm>
            <a:off x="5646043" y="2800638"/>
            <a:ext cx="770700" cy="7707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3"/>
          <p:cNvSpPr txBox="1"/>
          <p:nvPr>
            <p:ph idx="4294967295" type="body"/>
          </p:nvPr>
        </p:nvSpPr>
        <p:spPr>
          <a:xfrm>
            <a:off x="4823999" y="731725"/>
            <a:ext cx="3738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The area of this three-quarter-circle is 1357.2 cm².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is the radius of the sector?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sp>
        <p:nvSpPr>
          <p:cNvPr id="1218" name="Google Shape;1218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from areas of circles and sectors</a:t>
            </a:r>
            <a:endParaRPr/>
          </a:p>
        </p:txBody>
      </p:sp>
      <p:sp>
        <p:nvSpPr>
          <p:cNvPr id="1219" name="Google Shape;1219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length in composite shapes</a:t>
            </a:r>
            <a:endParaRPr/>
          </a:p>
        </p:txBody>
      </p:sp>
      <p:pic>
        <p:nvPicPr>
          <p:cNvPr id="1220" name="Google Shape;122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99468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sp>
        <p:nvSpPr>
          <p:cNvPr id="1226" name="Google Shape;1226;p85"/>
          <p:cNvSpPr txBox="1"/>
          <p:nvPr>
            <p:ph idx="1" type="body"/>
          </p:nvPr>
        </p:nvSpPr>
        <p:spPr>
          <a:xfrm>
            <a:off x="324000" y="639600"/>
            <a:ext cx="53397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order to find the lengths in a composite shape involving sectors of a circle, we will look at two techniques you could use depending on the shape:</a:t>
            </a:r>
            <a:endParaRPr sz="1800"/>
          </a:p>
        </p:txBody>
      </p:sp>
      <p:sp>
        <p:nvSpPr>
          <p:cNvPr id="1227" name="Google Shape;1227;p85"/>
          <p:cNvSpPr txBox="1"/>
          <p:nvPr>
            <p:ph idx="1" type="body"/>
          </p:nvPr>
        </p:nvSpPr>
        <p:spPr>
          <a:xfrm>
            <a:off x="1357218" y="1893425"/>
            <a:ext cx="4306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break a composite shape into its component parts</a:t>
            </a:r>
            <a:endParaRPr sz="1800"/>
          </a:p>
        </p:txBody>
      </p:sp>
      <p:sp>
        <p:nvSpPr>
          <p:cNvPr id="1228" name="Google Shape;1228;p85"/>
          <p:cNvSpPr txBox="1"/>
          <p:nvPr>
            <p:ph idx="1" type="body"/>
          </p:nvPr>
        </p:nvSpPr>
        <p:spPr>
          <a:xfrm>
            <a:off x="1357218" y="2593150"/>
            <a:ext cx="43062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rearrange the component parts of a shape to make shapes whose areas are easier to deal with</a:t>
            </a:r>
            <a:endParaRPr sz="1800"/>
          </a:p>
        </p:txBody>
      </p:sp>
      <p:pic>
        <p:nvPicPr>
          <p:cNvPr id="1229" name="Google Shape;1229;p85"/>
          <p:cNvPicPr preferRelativeResize="0"/>
          <p:nvPr/>
        </p:nvPicPr>
        <p:blipFill rotWithShape="1">
          <a:blip r:embed="rId3">
            <a:alphaModFix/>
          </a:blip>
          <a:srcRect b="48218" l="2523" r="79440" t="0"/>
          <a:stretch/>
        </p:blipFill>
        <p:spPr>
          <a:xfrm>
            <a:off x="6961500" y="810000"/>
            <a:ext cx="995400" cy="17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86"/>
          <p:cNvSpPr txBox="1"/>
          <p:nvPr>
            <p:ph idx="1" type="body"/>
          </p:nvPr>
        </p:nvSpPr>
        <p:spPr>
          <a:xfrm>
            <a:off x="324000" y="3200850"/>
            <a:ext cx="21888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1606.9 cm²</a:t>
            </a:r>
            <a:endParaRPr sz="1800"/>
          </a:p>
        </p:txBody>
      </p:sp>
      <p:sp>
        <p:nvSpPr>
          <p:cNvPr id="1235" name="Google Shape;123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236" name="Google Shape;1236;p86"/>
          <p:cNvPicPr preferRelativeResize="0"/>
          <p:nvPr/>
        </p:nvPicPr>
        <p:blipFill rotWithShape="1">
          <a:blip r:embed="rId3">
            <a:alphaModFix/>
          </a:blip>
          <a:srcRect b="48218" l="29811" r="52152" t="24145"/>
          <a:stretch/>
        </p:blipFill>
        <p:spPr>
          <a:xfrm>
            <a:off x="6608925" y="1322238"/>
            <a:ext cx="995400" cy="9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86"/>
          <p:cNvPicPr preferRelativeResize="0"/>
          <p:nvPr/>
        </p:nvPicPr>
        <p:blipFill rotWithShape="1">
          <a:blip r:embed="rId3">
            <a:alphaModFix/>
          </a:blip>
          <a:srcRect b="73185" l="60465" r="21498" t="0"/>
          <a:stretch/>
        </p:blipFill>
        <p:spPr>
          <a:xfrm>
            <a:off x="3752219" y="1321550"/>
            <a:ext cx="995400" cy="93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8" name="Google Shape;1238;p86"/>
          <p:cNvGrpSpPr/>
          <p:nvPr/>
        </p:nvGrpSpPr>
        <p:grpSpPr>
          <a:xfrm>
            <a:off x="920700" y="1321550"/>
            <a:ext cx="999638" cy="1822688"/>
            <a:chOff x="920700" y="1550150"/>
            <a:chExt cx="999638" cy="1822688"/>
          </a:xfrm>
        </p:grpSpPr>
        <p:pic>
          <p:nvPicPr>
            <p:cNvPr id="1239" name="Google Shape;1239;p86"/>
            <p:cNvPicPr preferRelativeResize="0"/>
            <p:nvPr/>
          </p:nvPicPr>
          <p:blipFill rotWithShape="1">
            <a:blip r:embed="rId3">
              <a:alphaModFix/>
            </a:blip>
            <a:srcRect b="48218" l="2523" r="79440" t="0"/>
            <a:stretch/>
          </p:blipFill>
          <p:spPr>
            <a:xfrm>
              <a:off x="920700" y="1550150"/>
              <a:ext cx="995400" cy="179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40" name="Google Shape;1240;p86"/>
            <p:cNvCxnSpPr/>
            <p:nvPr/>
          </p:nvCxnSpPr>
          <p:spPr>
            <a:xfrm>
              <a:off x="1749338" y="2859700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86"/>
            <p:cNvCxnSpPr/>
            <p:nvPr/>
          </p:nvCxnSpPr>
          <p:spPr>
            <a:xfrm rot="5400000">
              <a:off x="1328387" y="3287338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42" name="Google Shape;1242;p86"/>
          <p:cNvCxnSpPr/>
          <p:nvPr/>
        </p:nvCxnSpPr>
        <p:spPr>
          <a:xfrm>
            <a:off x="3842193" y="2314654"/>
            <a:ext cx="8424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3" name="Google Shape;1243;p86"/>
          <p:cNvSpPr txBox="1"/>
          <p:nvPr>
            <p:ph idx="4294967295" type="subTitle"/>
          </p:nvPr>
        </p:nvSpPr>
        <p:spPr>
          <a:xfrm>
            <a:off x="3693094" y="2434350"/>
            <a:ext cx="11265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this radius is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800"/>
          </a:p>
        </p:txBody>
      </p:sp>
      <p:grpSp>
        <p:nvGrpSpPr>
          <p:cNvPr id="1244" name="Google Shape;1244;p86"/>
          <p:cNvGrpSpPr/>
          <p:nvPr/>
        </p:nvGrpSpPr>
        <p:grpSpPr>
          <a:xfrm>
            <a:off x="6691453" y="2299224"/>
            <a:ext cx="842400" cy="227100"/>
            <a:chOff x="4150800" y="4092900"/>
            <a:chExt cx="842400" cy="227100"/>
          </a:xfrm>
        </p:grpSpPr>
        <p:cxnSp>
          <p:nvCxnSpPr>
            <p:cNvPr id="1245" name="Google Shape;1245;p86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46" name="Google Shape;1246;p86"/>
            <p:cNvSpPr/>
            <p:nvPr/>
          </p:nvSpPr>
          <p:spPr>
            <a:xfrm>
              <a:off x="4336200" y="4149000"/>
              <a:ext cx="4716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7" name="Google Shape;1247;p86"/>
          <p:cNvGrpSpPr/>
          <p:nvPr/>
        </p:nvGrpSpPr>
        <p:grpSpPr>
          <a:xfrm rot="5400000">
            <a:off x="6045465" y="1657679"/>
            <a:ext cx="842400" cy="282077"/>
            <a:chOff x="4150800" y="4092900"/>
            <a:chExt cx="842400" cy="282077"/>
          </a:xfrm>
        </p:grpSpPr>
        <p:cxnSp>
          <p:nvCxnSpPr>
            <p:cNvPr id="1248" name="Google Shape;1248;p86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49" name="Google Shape;1249;p86"/>
            <p:cNvSpPr/>
            <p:nvPr/>
          </p:nvSpPr>
          <p:spPr>
            <a:xfrm rot="-5400000">
              <a:off x="4431590" y="4149077"/>
              <a:ext cx="2808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86"/>
          <p:cNvGrpSpPr/>
          <p:nvPr/>
        </p:nvGrpSpPr>
        <p:grpSpPr>
          <a:xfrm rot="5400000">
            <a:off x="3195559" y="1645716"/>
            <a:ext cx="842400" cy="282077"/>
            <a:chOff x="4150800" y="4092900"/>
            <a:chExt cx="842400" cy="282077"/>
          </a:xfrm>
        </p:grpSpPr>
        <p:cxnSp>
          <p:nvCxnSpPr>
            <p:cNvPr id="1251" name="Google Shape;1251;p86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52" name="Google Shape;1252;p86"/>
            <p:cNvSpPr/>
            <p:nvPr/>
          </p:nvSpPr>
          <p:spPr>
            <a:xfrm rot="-5400000">
              <a:off x="4431590" y="4149077"/>
              <a:ext cx="2808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3" name="Google Shape;1253;p86"/>
          <p:cNvSpPr txBox="1"/>
          <p:nvPr>
            <p:ph idx="4294967295" type="subTitle"/>
          </p:nvPr>
        </p:nvSpPr>
        <p:spPr>
          <a:xfrm>
            <a:off x="324000" y="625200"/>
            <a:ext cx="8496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break a composite shape up into its component parts if you can spot that it is made from many different rectangles, sectors, etc.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87"/>
          <p:cNvSpPr txBox="1"/>
          <p:nvPr>
            <p:ph idx="1" type="body"/>
          </p:nvPr>
        </p:nvSpPr>
        <p:spPr>
          <a:xfrm>
            <a:off x="6055375" y="2779225"/>
            <a:ext cx="2514900" cy="46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is a square with sides of length r.</a:t>
            </a:r>
            <a:endParaRPr sz="1800"/>
          </a:p>
        </p:txBody>
      </p:sp>
      <p:sp>
        <p:nvSpPr>
          <p:cNvPr id="1259" name="Google Shape;1259;p87"/>
          <p:cNvSpPr txBox="1"/>
          <p:nvPr>
            <p:ph idx="4294967295" type="subTitle"/>
          </p:nvPr>
        </p:nvSpPr>
        <p:spPr>
          <a:xfrm>
            <a:off x="324000" y="3200850"/>
            <a:ext cx="21888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1606.9 cm²</a:t>
            </a:r>
            <a:endParaRPr sz="1800"/>
          </a:p>
        </p:txBody>
      </p:sp>
      <p:sp>
        <p:nvSpPr>
          <p:cNvPr id="1260" name="Google Shape;1260;p87"/>
          <p:cNvSpPr txBox="1"/>
          <p:nvPr>
            <p:ph idx="4294967295" type="subTitle"/>
          </p:nvPr>
        </p:nvSpPr>
        <p:spPr>
          <a:xfrm>
            <a:off x="3299250" y="3543000"/>
            <a:ext cx="725700" cy="46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=</a:t>
            </a:r>
            <a:endParaRPr sz="1800"/>
          </a:p>
        </p:txBody>
      </p:sp>
      <p:sp>
        <p:nvSpPr>
          <p:cNvPr id="1261" name="Google Shape;126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262" name="Google Shape;1262;p87"/>
          <p:cNvPicPr preferRelativeResize="0"/>
          <p:nvPr/>
        </p:nvPicPr>
        <p:blipFill rotWithShape="1">
          <a:blip r:embed="rId3">
            <a:alphaModFix/>
          </a:blip>
          <a:srcRect b="48218" l="29811" r="52152" t="24145"/>
          <a:stretch/>
        </p:blipFill>
        <p:spPr>
          <a:xfrm>
            <a:off x="6608925" y="1322238"/>
            <a:ext cx="995400" cy="9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87"/>
          <p:cNvPicPr preferRelativeResize="0"/>
          <p:nvPr/>
        </p:nvPicPr>
        <p:blipFill rotWithShape="1">
          <a:blip r:embed="rId3">
            <a:alphaModFix/>
          </a:blip>
          <a:srcRect b="73185" l="60465" r="21498" t="0"/>
          <a:stretch/>
        </p:blipFill>
        <p:spPr>
          <a:xfrm>
            <a:off x="3752219" y="1321550"/>
            <a:ext cx="995400" cy="93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4" name="Google Shape;1264;p87"/>
          <p:cNvGrpSpPr/>
          <p:nvPr/>
        </p:nvGrpSpPr>
        <p:grpSpPr>
          <a:xfrm>
            <a:off x="920700" y="1321550"/>
            <a:ext cx="999638" cy="1822688"/>
            <a:chOff x="920700" y="1550150"/>
            <a:chExt cx="999638" cy="1822688"/>
          </a:xfrm>
        </p:grpSpPr>
        <p:pic>
          <p:nvPicPr>
            <p:cNvPr id="1265" name="Google Shape;1265;p87"/>
            <p:cNvPicPr preferRelativeResize="0"/>
            <p:nvPr/>
          </p:nvPicPr>
          <p:blipFill rotWithShape="1">
            <a:blip r:embed="rId3">
              <a:alphaModFix/>
            </a:blip>
            <a:srcRect b="48218" l="2523" r="79440" t="0"/>
            <a:stretch/>
          </p:blipFill>
          <p:spPr>
            <a:xfrm>
              <a:off x="920700" y="1550150"/>
              <a:ext cx="995400" cy="179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66" name="Google Shape;1266;p87"/>
            <p:cNvCxnSpPr/>
            <p:nvPr/>
          </p:nvCxnSpPr>
          <p:spPr>
            <a:xfrm>
              <a:off x="1749338" y="2859700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87"/>
            <p:cNvCxnSpPr/>
            <p:nvPr/>
          </p:nvCxnSpPr>
          <p:spPr>
            <a:xfrm rot="5400000">
              <a:off x="1328387" y="3287338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8" name="Google Shape;1268;p87"/>
          <p:cNvGrpSpPr/>
          <p:nvPr/>
        </p:nvGrpSpPr>
        <p:grpSpPr>
          <a:xfrm>
            <a:off x="6691453" y="2299224"/>
            <a:ext cx="842400" cy="227100"/>
            <a:chOff x="4150800" y="4092900"/>
            <a:chExt cx="842400" cy="227100"/>
          </a:xfrm>
        </p:grpSpPr>
        <p:cxnSp>
          <p:nvCxnSpPr>
            <p:cNvPr id="1269" name="Google Shape;1269;p87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70" name="Google Shape;1270;p87"/>
            <p:cNvSpPr/>
            <p:nvPr/>
          </p:nvSpPr>
          <p:spPr>
            <a:xfrm>
              <a:off x="4336200" y="4149000"/>
              <a:ext cx="4716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87"/>
          <p:cNvGrpSpPr/>
          <p:nvPr/>
        </p:nvGrpSpPr>
        <p:grpSpPr>
          <a:xfrm rot="5400000">
            <a:off x="6045465" y="1657679"/>
            <a:ext cx="842400" cy="282077"/>
            <a:chOff x="4150800" y="4092900"/>
            <a:chExt cx="842400" cy="282077"/>
          </a:xfrm>
        </p:grpSpPr>
        <p:cxnSp>
          <p:nvCxnSpPr>
            <p:cNvPr id="1272" name="Google Shape;1272;p87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73" name="Google Shape;1273;p87"/>
            <p:cNvSpPr/>
            <p:nvPr/>
          </p:nvSpPr>
          <p:spPr>
            <a:xfrm rot="-5400000">
              <a:off x="4431590" y="4149077"/>
              <a:ext cx="2808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4" name="Google Shape;1274;p87"/>
          <p:cNvGrpSpPr/>
          <p:nvPr/>
        </p:nvGrpSpPr>
        <p:grpSpPr>
          <a:xfrm rot="5400000">
            <a:off x="3195559" y="1645716"/>
            <a:ext cx="842400" cy="282077"/>
            <a:chOff x="4150800" y="4092900"/>
            <a:chExt cx="842400" cy="282077"/>
          </a:xfrm>
        </p:grpSpPr>
        <p:cxnSp>
          <p:nvCxnSpPr>
            <p:cNvPr id="1275" name="Google Shape;1275;p87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76" name="Google Shape;1276;p87"/>
            <p:cNvSpPr/>
            <p:nvPr/>
          </p:nvSpPr>
          <p:spPr>
            <a:xfrm rot="-5400000">
              <a:off x="4431590" y="4149077"/>
              <a:ext cx="2808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pi\times r^2&quot;&gt;&lt;mfrac&gt;&lt;mn&gt;1&lt;/mn&gt;&lt;mn&gt;4&lt;/mn&gt;&lt;/mfrac&gt;&lt;mo&gt;×&lt;/mo&gt;&lt;mi&gt;π&lt;/mi&gt;&lt;mo&gt;×&lt;/mo&gt;&lt;msup&gt;&lt;mi&gt;r&lt;/mi&gt;&lt;mn&gt;2&lt;/mn&gt;&lt;/msup&gt;&lt;/math&gt;" id="1277" name="Google Shape;1277;p87" title="one fourth times pi times r squared"/>
          <p:cNvPicPr preferRelativeResize="0"/>
          <p:nvPr/>
        </p:nvPicPr>
        <p:blipFill rotWithShape="1">
          <a:blip r:embed="rId4">
            <a:alphaModFix/>
          </a:blip>
          <a:srcRect b="0" l="42096" r="0" t="0"/>
          <a:stretch/>
        </p:blipFill>
        <p:spPr>
          <a:xfrm>
            <a:off x="4071349" y="3484200"/>
            <a:ext cx="676275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8" name="Google Shape;1278;p87"/>
          <p:cNvGrpSpPr/>
          <p:nvPr/>
        </p:nvGrpSpPr>
        <p:grpSpPr>
          <a:xfrm>
            <a:off x="3845403" y="2313472"/>
            <a:ext cx="842400" cy="227100"/>
            <a:chOff x="4150800" y="4092900"/>
            <a:chExt cx="842400" cy="227100"/>
          </a:xfrm>
        </p:grpSpPr>
        <p:cxnSp>
          <p:nvCxnSpPr>
            <p:cNvPr id="1279" name="Google Shape;1279;p87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80" name="Google Shape;1280;p87"/>
            <p:cNvSpPr/>
            <p:nvPr/>
          </p:nvSpPr>
          <p:spPr>
            <a:xfrm>
              <a:off x="4336200" y="4149000"/>
              <a:ext cx="4716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81" name="Google Shape;1281;p87"/>
          <p:cNvSpPr txBox="1"/>
          <p:nvPr>
            <p:ph idx="4294967295" type="subTitle"/>
          </p:nvPr>
        </p:nvSpPr>
        <p:spPr>
          <a:xfrm>
            <a:off x="3027675" y="2779225"/>
            <a:ext cx="2514900" cy="46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is a quarter-circle with a radius of r.</a:t>
            </a:r>
            <a:endParaRPr sz="1800"/>
          </a:p>
        </p:txBody>
      </p:sp>
      <p:grpSp>
        <p:nvGrpSpPr>
          <p:cNvPr id="1282" name="Google Shape;1282;p87"/>
          <p:cNvGrpSpPr/>
          <p:nvPr/>
        </p:nvGrpSpPr>
        <p:grpSpPr>
          <a:xfrm>
            <a:off x="4808274" y="3484200"/>
            <a:ext cx="400459" cy="568800"/>
            <a:chOff x="4794026" y="3331800"/>
            <a:chExt cx="400459" cy="568800"/>
          </a:xfrm>
        </p:grpSpPr>
        <p:pic>
          <p:nvPicPr>
            <p:cNvPr descr="&lt;math xmlns=&quot;http://www.w3.org/1998/Math/MathML&quot; display=&quot;block&quot; data-is-equatio=&quot;1&quot; data-latex=&quot;\frac{1}{4}\times\pi\times r^2&quot;&gt;&lt;mfrac&gt;&lt;mn&gt;1&lt;/mn&gt;&lt;mn&gt;4&lt;/mn&gt;&lt;/mfrac&gt;&lt;mo&gt;×&lt;/mo&gt;&lt;mi&gt;π&lt;/mi&gt;&lt;mo&gt;×&lt;/mo&gt;&lt;msup&gt;&lt;mi&gt;r&lt;/mi&gt;&lt;mn&gt;2&lt;/mn&gt;&lt;/msup&gt;&lt;/math&gt;" id="1283" name="Google Shape;1283;p87" title="one fourth times pi times r squared"/>
            <p:cNvPicPr preferRelativeResize="0"/>
            <p:nvPr/>
          </p:nvPicPr>
          <p:blipFill rotWithShape="1">
            <a:blip r:embed="rId4">
              <a:alphaModFix/>
            </a:blip>
            <a:srcRect b="0" l="0" r="83524" t="0"/>
            <a:stretch/>
          </p:blipFill>
          <p:spPr>
            <a:xfrm>
              <a:off x="5002060" y="3331800"/>
              <a:ext cx="192425" cy="56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\times\pi\times r^2&quot;&gt;&lt;mfrac&gt;&lt;mn&gt;1&lt;/mn&gt;&lt;mn&gt;4&lt;/mn&gt;&lt;/mfrac&gt;&lt;mo&gt;×&lt;/mo&gt;&lt;mi&gt;π&lt;/mi&gt;&lt;mo&gt;×&lt;/mo&gt;&lt;msup&gt;&lt;mi&gt;r&lt;/mi&gt;&lt;mn&gt;2&lt;/mn&gt;&lt;/msup&gt;&lt;/math&gt;" id="1284" name="Google Shape;1284;p87" title="one fourth times pi times r squared"/>
            <p:cNvPicPr preferRelativeResize="0"/>
            <p:nvPr/>
          </p:nvPicPr>
          <p:blipFill rotWithShape="1">
            <a:blip r:embed="rId4">
              <a:alphaModFix/>
            </a:blip>
            <a:srcRect b="0" l="23660" r="59863" t="0"/>
            <a:stretch/>
          </p:blipFill>
          <p:spPr>
            <a:xfrm>
              <a:off x="4794026" y="3331800"/>
              <a:ext cx="192425" cy="568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1}{4}\times\pi\times r^2&quot;&gt;&lt;mfrac&gt;&lt;mn&gt;1&lt;/mn&gt;&lt;mn&gt;4&lt;/mn&gt;&lt;/mfrac&gt;&lt;mo&gt;×&lt;/mo&gt;&lt;mi&gt;π&lt;/mi&gt;&lt;mo&gt;×&lt;/mo&gt;&lt;msup&gt;&lt;mi&gt;r&lt;/mi&gt;&lt;mn&gt;2&lt;/mn&gt;&lt;/msup&gt;&lt;/math&gt;" id="1285" name="Google Shape;1285;p87" title="one fourth times pi times r squared"/>
          <p:cNvPicPr preferRelativeResize="0"/>
          <p:nvPr/>
        </p:nvPicPr>
        <p:blipFill rotWithShape="1">
          <a:blip r:embed="rId4">
            <a:alphaModFix/>
          </a:blip>
          <a:srcRect b="0" l="80829" r="0" t="0"/>
          <a:stretch/>
        </p:blipFill>
        <p:spPr>
          <a:xfrm>
            <a:off x="7314054" y="3484200"/>
            <a:ext cx="22390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87"/>
          <p:cNvSpPr txBox="1"/>
          <p:nvPr>
            <p:ph idx="4294967295" type="subTitle"/>
          </p:nvPr>
        </p:nvSpPr>
        <p:spPr>
          <a:xfrm>
            <a:off x="6540650" y="3543000"/>
            <a:ext cx="725700" cy="46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=</a:t>
            </a:r>
            <a:endParaRPr sz="1800"/>
          </a:p>
        </p:txBody>
      </p:sp>
      <p:sp>
        <p:nvSpPr>
          <p:cNvPr id="1287" name="Google Shape;1287;p87"/>
          <p:cNvSpPr txBox="1"/>
          <p:nvPr>
            <p:ph idx="4294967295" type="subTitle"/>
          </p:nvPr>
        </p:nvSpPr>
        <p:spPr>
          <a:xfrm>
            <a:off x="324000" y="625200"/>
            <a:ext cx="8496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break a composite shape up into its component parts if you can spot that it is made from many different rectangles, sectors, etc.</a:t>
            </a:r>
            <a:endParaRPr sz="1800"/>
          </a:p>
        </p:txBody>
      </p:sp>
      <p:sp>
        <p:nvSpPr>
          <p:cNvPr id="1288" name="Google Shape;1288;p87"/>
          <p:cNvSpPr txBox="1"/>
          <p:nvPr>
            <p:ph idx="4294967295" type="subTitle"/>
          </p:nvPr>
        </p:nvSpPr>
        <p:spPr>
          <a:xfrm>
            <a:off x="3299250" y="4299350"/>
            <a:ext cx="725700" cy="46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=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\times\pi\times r^2&quot;&gt;&lt;mfrac&gt;&lt;mn&gt;1&lt;/mn&gt;&lt;mn&gt;4&lt;/mn&gt;&lt;/mfrac&gt;&lt;mo&gt;×&lt;/mo&gt;&lt;mi&gt;π&lt;/mi&gt;&lt;mo&gt;×&lt;/mo&gt;&lt;msup&gt;&lt;mi&gt;r&lt;/mi&gt;&lt;mn&gt;2&lt;/mn&gt;&lt;/msup&gt;&lt;/math&gt;" id="1289" name="Google Shape;1289;p87" title="one fourth times pi times r squared"/>
          <p:cNvPicPr preferRelativeResize="0"/>
          <p:nvPr/>
        </p:nvPicPr>
        <p:blipFill rotWithShape="1">
          <a:blip r:embed="rId4">
            <a:alphaModFix/>
          </a:blip>
          <a:srcRect b="0" l="42096" r="0" t="0"/>
          <a:stretch/>
        </p:blipFill>
        <p:spPr>
          <a:xfrm>
            <a:off x="4491312" y="4240550"/>
            <a:ext cx="676275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0" name="Google Shape;1290;p87"/>
          <p:cNvGrpSpPr/>
          <p:nvPr/>
        </p:nvGrpSpPr>
        <p:grpSpPr>
          <a:xfrm>
            <a:off x="4071358" y="4240550"/>
            <a:ext cx="407735" cy="568800"/>
            <a:chOff x="5002060" y="3331800"/>
            <a:chExt cx="407735" cy="568800"/>
          </a:xfrm>
        </p:grpSpPr>
        <p:pic>
          <p:nvPicPr>
            <p:cNvPr descr="&lt;math xmlns=&quot;http://www.w3.org/1998/Math/MathML&quot; display=&quot;block&quot; data-is-equatio=&quot;1&quot; data-latex=&quot;\frac{1}{4}\times\pi\times r^2&quot;&gt;&lt;mfrac&gt;&lt;mn&gt;1&lt;/mn&gt;&lt;mn&gt;4&lt;/mn&gt;&lt;/mfrac&gt;&lt;mo&gt;×&lt;/mo&gt;&lt;mi&gt;π&lt;/mi&gt;&lt;mo&gt;×&lt;/mo&gt;&lt;msup&gt;&lt;mi&gt;r&lt;/mi&gt;&lt;mn&gt;2&lt;/mn&gt;&lt;/msup&gt;&lt;/math&gt;" id="1291" name="Google Shape;1291;p87" title="one fourth times pi times r squared"/>
            <p:cNvPicPr preferRelativeResize="0"/>
            <p:nvPr/>
          </p:nvPicPr>
          <p:blipFill rotWithShape="1">
            <a:blip r:embed="rId4">
              <a:alphaModFix/>
            </a:blip>
            <a:srcRect b="0" l="0" r="83524" t="0"/>
            <a:stretch/>
          </p:blipFill>
          <p:spPr>
            <a:xfrm>
              <a:off x="5002060" y="3331800"/>
              <a:ext cx="192425" cy="56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\times\pi\times r^2&quot;&gt;&lt;mfrac&gt;&lt;mn&gt;1&lt;/mn&gt;&lt;mn&gt;4&lt;/mn&gt;&lt;/mfrac&gt;&lt;mo&gt;×&lt;/mo&gt;&lt;mi&gt;π&lt;/mi&gt;&lt;mo&gt;×&lt;/mo&gt;&lt;msup&gt;&lt;mi&gt;r&lt;/mi&gt;&lt;mn&gt;2&lt;/mn&gt;&lt;/msup&gt;&lt;/math&gt;" id="1292" name="Google Shape;1292;p87" title="one fourth times pi times r squared"/>
            <p:cNvPicPr preferRelativeResize="0"/>
            <p:nvPr/>
          </p:nvPicPr>
          <p:blipFill rotWithShape="1">
            <a:blip r:embed="rId4">
              <a:alphaModFix/>
            </a:blip>
            <a:srcRect b="0" l="23660" r="59863" t="0"/>
            <a:stretch/>
          </p:blipFill>
          <p:spPr>
            <a:xfrm>
              <a:off x="5217370" y="3331800"/>
              <a:ext cx="192425" cy="56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88"/>
          <p:cNvSpPr/>
          <p:nvPr/>
        </p:nvSpPr>
        <p:spPr>
          <a:xfrm>
            <a:off x="3369600" y="1250402"/>
            <a:ext cx="1959000" cy="7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8"/>
          <p:cNvSpPr txBox="1"/>
          <p:nvPr>
            <p:ph idx="1" type="body"/>
          </p:nvPr>
        </p:nvSpPr>
        <p:spPr>
          <a:xfrm>
            <a:off x="324000" y="625200"/>
            <a:ext cx="8496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total area of this composite shape can be written as an equation, with the algebraic representation on one side, and the numerical on the other:</a:t>
            </a:r>
            <a:endParaRPr sz="1800"/>
          </a:p>
        </p:txBody>
      </p:sp>
      <p:sp>
        <p:nvSpPr>
          <p:cNvPr id="1299" name="Google Shape;1299;p88"/>
          <p:cNvSpPr txBox="1"/>
          <p:nvPr>
            <p:ph idx="4294967295" type="subTitle"/>
          </p:nvPr>
        </p:nvSpPr>
        <p:spPr>
          <a:xfrm>
            <a:off x="324000" y="3200850"/>
            <a:ext cx="21888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1606.9 cm²</a:t>
            </a:r>
            <a:endParaRPr sz="1800"/>
          </a:p>
        </p:txBody>
      </p:sp>
      <p:sp>
        <p:nvSpPr>
          <p:cNvPr id="1300" name="Google Shape;130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grpSp>
        <p:nvGrpSpPr>
          <p:cNvPr id="1301" name="Google Shape;1301;p88"/>
          <p:cNvGrpSpPr/>
          <p:nvPr/>
        </p:nvGrpSpPr>
        <p:grpSpPr>
          <a:xfrm>
            <a:off x="920700" y="1321550"/>
            <a:ext cx="999638" cy="1822688"/>
            <a:chOff x="920700" y="1550150"/>
            <a:chExt cx="999638" cy="1822688"/>
          </a:xfrm>
        </p:grpSpPr>
        <p:pic>
          <p:nvPicPr>
            <p:cNvPr id="1302" name="Google Shape;1302;p88"/>
            <p:cNvPicPr preferRelativeResize="0"/>
            <p:nvPr/>
          </p:nvPicPr>
          <p:blipFill rotWithShape="1">
            <a:blip r:embed="rId3">
              <a:alphaModFix/>
            </a:blip>
            <a:srcRect b="48218" l="2523" r="79440" t="0"/>
            <a:stretch/>
          </p:blipFill>
          <p:spPr>
            <a:xfrm>
              <a:off x="920700" y="1550150"/>
              <a:ext cx="995400" cy="179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3" name="Google Shape;1303;p88"/>
            <p:cNvCxnSpPr/>
            <p:nvPr/>
          </p:nvCxnSpPr>
          <p:spPr>
            <a:xfrm>
              <a:off x="1749338" y="2859700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4" name="Google Shape;1304;p88"/>
            <p:cNvCxnSpPr/>
            <p:nvPr/>
          </p:nvCxnSpPr>
          <p:spPr>
            <a:xfrm rot="5400000">
              <a:off x="1328387" y="3287338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1}{4}\times r^2\times\pi\ +\ r^2\ \ &quot;&gt;&lt;mfrac&gt;&lt;mn&gt;1&lt;/mn&gt;&lt;mn&gt;4&lt;/mn&gt;&lt;/mfrac&gt;&lt;mo&gt;×&lt;/mo&gt;&lt;msup&gt;&lt;mi&gt;r&lt;/mi&gt;&lt;mn&gt;2&lt;/mn&gt;&lt;/msup&gt;&lt;mo&gt;×&lt;/mo&gt;&lt;mi&gt;π&lt;/mi&gt;&lt;mtext&gt;&lt;/mtext&gt;&lt;mo&gt;+&lt;/mo&gt;&lt;mtext&gt;&lt;/mtext&gt;&lt;msup&gt;&lt;mi&gt;r&lt;/mi&gt;&lt;mn&gt;2&lt;/mn&gt;&lt;/msup&gt;&lt;mtext&gt;&lt;/mtext&gt;&lt;mtext&gt;&lt;/mtext&gt;&lt;/math&gt;" id="1305" name="Google Shape;1305;p88" title="one fourth times r squared times pi plus r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450" y="1327952"/>
            <a:ext cx="1854288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6" name="Google Shape;1306;p88"/>
          <p:cNvGrpSpPr/>
          <p:nvPr/>
        </p:nvGrpSpPr>
        <p:grpSpPr>
          <a:xfrm>
            <a:off x="3105975" y="1250477"/>
            <a:ext cx="1560300" cy="1022925"/>
            <a:chOff x="3105975" y="1798125"/>
            <a:chExt cx="1560300" cy="1022925"/>
          </a:xfrm>
        </p:grpSpPr>
        <p:sp>
          <p:nvSpPr>
            <p:cNvPr id="1307" name="Google Shape;1307;p88"/>
            <p:cNvSpPr/>
            <p:nvPr/>
          </p:nvSpPr>
          <p:spPr>
            <a:xfrm>
              <a:off x="3386475" y="1798125"/>
              <a:ext cx="1279800" cy="723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8" name="Google Shape;1308;p88"/>
            <p:cNvSpPr/>
            <p:nvPr/>
          </p:nvSpPr>
          <p:spPr>
            <a:xfrm>
              <a:off x="3105975" y="2578950"/>
              <a:ext cx="15603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quarter-circle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88"/>
          <p:cNvGrpSpPr/>
          <p:nvPr/>
        </p:nvGrpSpPr>
        <p:grpSpPr>
          <a:xfrm>
            <a:off x="4991325" y="1414477"/>
            <a:ext cx="836100" cy="638100"/>
            <a:chOff x="3386478" y="1962125"/>
            <a:chExt cx="836100" cy="638100"/>
          </a:xfrm>
        </p:grpSpPr>
        <p:sp>
          <p:nvSpPr>
            <p:cNvPr id="1310" name="Google Shape;1310;p88"/>
            <p:cNvSpPr/>
            <p:nvPr/>
          </p:nvSpPr>
          <p:spPr>
            <a:xfrm>
              <a:off x="3386478" y="1962125"/>
              <a:ext cx="337500" cy="396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88"/>
            <p:cNvSpPr/>
            <p:nvPr/>
          </p:nvSpPr>
          <p:spPr>
            <a:xfrm>
              <a:off x="3386478" y="2358125"/>
              <a:ext cx="8361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2" name="Google Shape;1312;p88"/>
          <p:cNvSpPr txBox="1"/>
          <p:nvPr>
            <p:ph idx="4294967295" type="subTitle"/>
          </p:nvPr>
        </p:nvSpPr>
        <p:spPr>
          <a:xfrm>
            <a:off x="5431897" y="1447802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1606.9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88"/>
          <p:cNvSpPr txBox="1"/>
          <p:nvPr>
            <p:ph idx="4294967295" type="subTitle"/>
          </p:nvPr>
        </p:nvSpPr>
        <p:spPr>
          <a:xfrm>
            <a:off x="7031350" y="1367552"/>
            <a:ext cx="17886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order to solve this equation, we need to factorise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r>
              <a:rPr lang="en-GB" sz="1800"/>
              <a:t> out of the left expression.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 help, we can treat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r>
              <a:rPr lang="en-GB" sz="1800"/>
              <a:t> term as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r>
              <a:rPr lang="en-GB" sz="1800"/>
              <a:t>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\times r^2\times\pi\ +\ 1r^2\ \ &quot;&gt;&lt;mfrac&gt;&lt;mn&gt;1&lt;/mn&gt;&lt;mn&gt;4&lt;/mn&gt;&lt;/mfrac&gt;&lt;mo&gt;×&lt;/mo&gt;&lt;msup&gt;&lt;mi&gt;r&lt;/mi&gt;&lt;mn&gt;2&lt;/mn&gt;&lt;/msup&gt;&lt;mo&gt;×&lt;/mo&gt;&lt;mi&gt;π&lt;/mi&gt;&lt;mtext&gt;&lt;/mtext&gt;&lt;mo&gt;+&lt;/mo&gt;&lt;mtext&gt;&lt;/mtext&gt;&lt;mn&gt;1&lt;/mn&gt;&lt;msup&gt;&lt;mi&gt;r&lt;/mi&gt;&lt;mn&gt;2&lt;/mn&gt;&lt;/msup&gt;&lt;mtext&gt;&lt;/mtext&gt;&lt;mtext&gt;&lt;/mtext&gt;&lt;/math&gt;" id="1314" name="Google Shape;1314;p88" title="one fourth times r squared times pi plus 1 r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1443" y="2288980"/>
            <a:ext cx="199079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^2\left(\frac{1}{4}\pi+1\right)&quot;&gt;&lt;msup&gt;&lt;mi&gt;r&lt;/mi&gt;&lt;mn&gt;2&lt;/mn&gt;&lt;/msup&gt;&lt;mrow data-mjx-texclass=&quot;INNER&quot;&gt;&lt;mo data-mjx-texclass=&quot;OPEN&quot;&gt;(&lt;/mo&gt;&lt;mfrac&gt;&lt;mn&gt;1&lt;/mn&gt;&lt;mn&gt;4&lt;/mn&gt;&lt;/mfrac&gt;&lt;mi&gt;π&lt;/mi&gt;&lt;mo&gt;+&lt;/mo&gt;&lt;mn&gt;1&lt;/mn&gt;&lt;mo data-mjx-texclass=&quot;CLOSE&quot;&gt;)&lt;/mo&gt;&lt;/mrow&gt;&lt;/math&gt;" id="1315" name="Google Shape;1315;p88" title="r squared times open paren one fourth pi plus 1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2400" y="2926569"/>
            <a:ext cx="1236192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6" name="Google Shape;1316;p88"/>
          <p:cNvGrpSpPr/>
          <p:nvPr/>
        </p:nvGrpSpPr>
        <p:grpSpPr>
          <a:xfrm>
            <a:off x="3748125" y="2383119"/>
            <a:ext cx="1580600" cy="329100"/>
            <a:chOff x="3748125" y="2502000"/>
            <a:chExt cx="1580600" cy="329100"/>
          </a:xfrm>
        </p:grpSpPr>
        <p:sp>
          <p:nvSpPr>
            <p:cNvPr id="1317" name="Google Shape;1317;p88"/>
            <p:cNvSpPr/>
            <p:nvPr/>
          </p:nvSpPr>
          <p:spPr>
            <a:xfrm>
              <a:off x="5052725" y="2502000"/>
              <a:ext cx="276000" cy="329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88"/>
            <p:cNvSpPr/>
            <p:nvPr/>
          </p:nvSpPr>
          <p:spPr>
            <a:xfrm>
              <a:off x="3748125" y="2502000"/>
              <a:ext cx="276000" cy="329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9" name="Google Shape;1319;p88"/>
          <p:cNvSpPr/>
          <p:nvPr/>
        </p:nvSpPr>
        <p:spPr>
          <a:xfrm>
            <a:off x="4032167" y="3017986"/>
            <a:ext cx="276000" cy="32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8"/>
          <p:cNvSpPr txBox="1"/>
          <p:nvPr>
            <p:ph idx="4294967295" type="subTitle"/>
          </p:nvPr>
        </p:nvSpPr>
        <p:spPr>
          <a:xfrm>
            <a:off x="5431897" y="2402855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1606.9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1" name="Google Shape;1321;p88"/>
          <p:cNvSpPr txBox="1"/>
          <p:nvPr>
            <p:ph idx="4294967295" type="subTitle"/>
          </p:nvPr>
        </p:nvSpPr>
        <p:spPr>
          <a:xfrm>
            <a:off x="5431897" y="2987988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1606.9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22" name="Google Shape;1322;p88"/>
          <p:cNvGrpSpPr/>
          <p:nvPr/>
        </p:nvGrpSpPr>
        <p:grpSpPr>
          <a:xfrm>
            <a:off x="3248850" y="2249593"/>
            <a:ext cx="1620850" cy="1292734"/>
            <a:chOff x="3248850" y="2263841"/>
            <a:chExt cx="1620850" cy="1292734"/>
          </a:xfrm>
        </p:grpSpPr>
        <p:sp>
          <p:nvSpPr>
            <p:cNvPr id="1323" name="Google Shape;1323;p88"/>
            <p:cNvSpPr/>
            <p:nvPr/>
          </p:nvSpPr>
          <p:spPr>
            <a:xfrm>
              <a:off x="3248850" y="2263841"/>
              <a:ext cx="276000" cy="662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88"/>
            <p:cNvSpPr/>
            <p:nvPr/>
          </p:nvSpPr>
          <p:spPr>
            <a:xfrm>
              <a:off x="4276775" y="2430639"/>
              <a:ext cx="276000" cy="329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88"/>
            <p:cNvSpPr/>
            <p:nvPr/>
          </p:nvSpPr>
          <p:spPr>
            <a:xfrm>
              <a:off x="4475200" y="2893875"/>
              <a:ext cx="394500" cy="662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88"/>
          <p:cNvGrpSpPr/>
          <p:nvPr/>
        </p:nvGrpSpPr>
        <p:grpSpPr>
          <a:xfrm>
            <a:off x="4926275" y="2383127"/>
            <a:ext cx="292233" cy="966025"/>
            <a:chOff x="4926275" y="2397375"/>
            <a:chExt cx="292233" cy="966025"/>
          </a:xfrm>
        </p:grpSpPr>
        <p:sp>
          <p:nvSpPr>
            <p:cNvPr id="1327" name="Google Shape;1327;p88"/>
            <p:cNvSpPr/>
            <p:nvPr/>
          </p:nvSpPr>
          <p:spPr>
            <a:xfrm>
              <a:off x="4926275" y="2397375"/>
              <a:ext cx="148800" cy="329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8" name="Google Shape;1328;p88"/>
            <p:cNvSpPr/>
            <p:nvPr/>
          </p:nvSpPr>
          <p:spPr>
            <a:xfrm>
              <a:off x="5069708" y="3034300"/>
              <a:ext cx="148800" cy="329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9" name="Google Shape;1329;p88"/>
          <p:cNvGrpSpPr/>
          <p:nvPr/>
        </p:nvGrpSpPr>
        <p:grpSpPr>
          <a:xfrm>
            <a:off x="1174550" y="1447802"/>
            <a:ext cx="5305125" cy="2307846"/>
            <a:chOff x="1174550" y="1233450"/>
            <a:chExt cx="5305125" cy="2307846"/>
          </a:xfrm>
        </p:grpSpPr>
        <p:sp>
          <p:nvSpPr>
            <p:cNvPr id="1330" name="Google Shape;1330;p88"/>
            <p:cNvSpPr/>
            <p:nvPr/>
          </p:nvSpPr>
          <p:spPr>
            <a:xfrm>
              <a:off x="5643575" y="1233450"/>
              <a:ext cx="836100" cy="329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88"/>
            <p:cNvSpPr/>
            <p:nvPr/>
          </p:nvSpPr>
          <p:spPr>
            <a:xfrm>
              <a:off x="1174550" y="3253296"/>
              <a:ext cx="1218000" cy="288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9"/>
          <p:cNvSpPr txBox="1"/>
          <p:nvPr/>
        </p:nvSpPr>
        <p:spPr>
          <a:xfrm>
            <a:off x="4937699" y="4383025"/>
            <a:ext cx="196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   =   900.02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</p:txBody>
      </p:sp>
      <p:sp>
        <p:nvSpPr>
          <p:cNvPr id="1337" name="Google Shape;1337;p89"/>
          <p:cNvSpPr txBox="1"/>
          <p:nvPr>
            <p:ph idx="4294967295" type="subTitle"/>
          </p:nvPr>
        </p:nvSpPr>
        <p:spPr>
          <a:xfrm>
            <a:off x="4167700" y="3704125"/>
            <a:ext cx="12363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1.785…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8" name="Google Shape;1338;p89"/>
          <p:cNvCxnSpPr/>
          <p:nvPr/>
        </p:nvCxnSpPr>
        <p:spPr>
          <a:xfrm>
            <a:off x="4572000" y="3723577"/>
            <a:ext cx="620400" cy="297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9" name="Google Shape;1339;p89"/>
          <p:cNvSpPr/>
          <p:nvPr/>
        </p:nvSpPr>
        <p:spPr>
          <a:xfrm>
            <a:off x="4374450" y="3704125"/>
            <a:ext cx="954000" cy="32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0" name="Google Shape;1340;p89"/>
          <p:cNvCxnSpPr/>
          <p:nvPr/>
        </p:nvCxnSpPr>
        <p:spPr>
          <a:xfrm>
            <a:off x="4311075" y="4005902"/>
            <a:ext cx="620400" cy="297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1" name="Google Shape;1341;p89"/>
          <p:cNvSpPr/>
          <p:nvPr/>
        </p:nvSpPr>
        <p:spPr>
          <a:xfrm>
            <a:off x="5620800" y="3677800"/>
            <a:ext cx="916200" cy="66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9"/>
          <p:cNvSpPr/>
          <p:nvPr/>
        </p:nvSpPr>
        <p:spPr>
          <a:xfrm>
            <a:off x="5741925" y="4473525"/>
            <a:ext cx="1072200" cy="32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9"/>
          <p:cNvSpPr txBox="1"/>
          <p:nvPr>
            <p:ph idx="1" type="body"/>
          </p:nvPr>
        </p:nvSpPr>
        <p:spPr>
          <a:xfrm>
            <a:off x="324000" y="3200850"/>
            <a:ext cx="21888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1606.9 cm²</a:t>
            </a:r>
            <a:endParaRPr sz="1800"/>
          </a:p>
        </p:txBody>
      </p:sp>
      <p:sp>
        <p:nvSpPr>
          <p:cNvPr id="1344" name="Google Shape;134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grpSp>
        <p:nvGrpSpPr>
          <p:cNvPr id="1345" name="Google Shape;1345;p89"/>
          <p:cNvGrpSpPr/>
          <p:nvPr/>
        </p:nvGrpSpPr>
        <p:grpSpPr>
          <a:xfrm>
            <a:off x="920700" y="1321550"/>
            <a:ext cx="999638" cy="1822688"/>
            <a:chOff x="920700" y="1550150"/>
            <a:chExt cx="999638" cy="1822688"/>
          </a:xfrm>
        </p:grpSpPr>
        <p:pic>
          <p:nvPicPr>
            <p:cNvPr id="1346" name="Google Shape;1346;p89"/>
            <p:cNvPicPr preferRelativeResize="0"/>
            <p:nvPr/>
          </p:nvPicPr>
          <p:blipFill rotWithShape="1">
            <a:blip r:embed="rId3">
              <a:alphaModFix/>
            </a:blip>
            <a:srcRect b="48218" l="2523" r="79440" t="0"/>
            <a:stretch/>
          </p:blipFill>
          <p:spPr>
            <a:xfrm>
              <a:off x="920700" y="1550150"/>
              <a:ext cx="995400" cy="179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47" name="Google Shape;1347;p89"/>
            <p:cNvCxnSpPr/>
            <p:nvPr/>
          </p:nvCxnSpPr>
          <p:spPr>
            <a:xfrm>
              <a:off x="1749338" y="2859700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8" name="Google Shape;1348;p89"/>
            <p:cNvCxnSpPr/>
            <p:nvPr/>
          </p:nvCxnSpPr>
          <p:spPr>
            <a:xfrm rot="5400000">
              <a:off x="1328387" y="3287338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1}{4}\times r^2\times\pi\ +\ r^2\ \ &quot;&gt;&lt;mfrac&gt;&lt;mn&gt;1&lt;/mn&gt;&lt;mn&gt;4&lt;/mn&gt;&lt;/mfrac&gt;&lt;mo&gt;×&lt;/mo&gt;&lt;msup&gt;&lt;mi&gt;r&lt;/mi&gt;&lt;mn&gt;2&lt;/mn&gt;&lt;/msup&gt;&lt;mo&gt;×&lt;/mo&gt;&lt;mi&gt;π&lt;/mi&gt;&lt;mtext&gt;&lt;/mtext&gt;&lt;mo&gt;+&lt;/mo&gt;&lt;mtext&gt;&lt;/mtext&gt;&lt;msup&gt;&lt;mi&gt;r&lt;/mi&gt;&lt;mn&gt;2&lt;/mn&gt;&lt;/msup&gt;&lt;mtext&gt;&lt;/mtext&gt;&lt;mtext&gt;&lt;/mtext&gt;&lt;/math&gt;" id="1349" name="Google Shape;1349;p89" title="one fourth times r squared times pi plus r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450" y="1327952"/>
            <a:ext cx="1854288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89"/>
          <p:cNvSpPr txBox="1"/>
          <p:nvPr>
            <p:ph idx="4294967295" type="subTitle"/>
          </p:nvPr>
        </p:nvSpPr>
        <p:spPr>
          <a:xfrm>
            <a:off x="5431897" y="1447802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1606.9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times r^2\times\pi\ +\ 1r^2\ \ &quot;&gt;&lt;mfrac&gt;&lt;mn&gt;1&lt;/mn&gt;&lt;mn&gt;4&lt;/mn&gt;&lt;/mfrac&gt;&lt;mo&gt;×&lt;/mo&gt;&lt;msup&gt;&lt;mi&gt;r&lt;/mi&gt;&lt;mn&gt;2&lt;/mn&gt;&lt;/msup&gt;&lt;mo&gt;×&lt;/mo&gt;&lt;mi&gt;π&lt;/mi&gt;&lt;mtext&gt;&lt;/mtext&gt;&lt;mo&gt;+&lt;/mo&gt;&lt;mtext&gt;&lt;/mtext&gt;&lt;mn&gt;1&lt;/mn&gt;&lt;msup&gt;&lt;mi&gt;r&lt;/mi&gt;&lt;mn&gt;2&lt;/mn&gt;&lt;/msup&gt;&lt;mtext&gt;&lt;/mtext&gt;&lt;mtext&gt;&lt;/mtext&gt;&lt;/math&gt;" id="1351" name="Google Shape;1351;p89" title="one fourth times r squared times pi plus 1 r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1443" y="2288980"/>
            <a:ext cx="199079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^2\left(\frac{1}{4}\pi+1\right)&quot;&gt;&lt;msup&gt;&lt;mi&gt;r&lt;/mi&gt;&lt;mn&gt;2&lt;/mn&gt;&lt;/msup&gt;&lt;mrow data-mjx-texclass=&quot;INNER&quot;&gt;&lt;mo data-mjx-texclass=&quot;OPEN&quot;&gt;(&lt;/mo&gt;&lt;mfrac&gt;&lt;mn&gt;1&lt;/mn&gt;&lt;mn&gt;4&lt;/mn&gt;&lt;/mfrac&gt;&lt;mi&gt;π&lt;/mi&gt;&lt;mo&gt;+&lt;/mo&gt;&lt;mn&gt;1&lt;/mn&gt;&lt;mo data-mjx-texclass=&quot;CLOSE&quot;&gt;)&lt;/mo&gt;&lt;/mrow&gt;&lt;/math&gt;" id="1352" name="Google Shape;1352;p89" title="r squared times open paren one fourth pi plus 1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2400" y="2926569"/>
            <a:ext cx="1236192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89"/>
          <p:cNvSpPr txBox="1"/>
          <p:nvPr>
            <p:ph idx="4294967295" type="subTitle"/>
          </p:nvPr>
        </p:nvSpPr>
        <p:spPr>
          <a:xfrm>
            <a:off x="5431897" y="2402855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1606.9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89"/>
          <p:cNvSpPr txBox="1"/>
          <p:nvPr>
            <p:ph idx="4294967295" type="subTitle"/>
          </p:nvPr>
        </p:nvSpPr>
        <p:spPr>
          <a:xfrm>
            <a:off x="5431897" y="2987988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1606.9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5" name="Google Shape;1355;p89"/>
          <p:cNvSpPr txBox="1"/>
          <p:nvPr>
            <p:ph idx="4294967295" type="subTitle"/>
          </p:nvPr>
        </p:nvSpPr>
        <p:spPr>
          <a:xfrm>
            <a:off x="7031350" y="1367552"/>
            <a:ext cx="17886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expression inside the bracket is just a number.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Type this into your calculator to get:</a:t>
            </a:r>
            <a:endParaRPr sz="1800"/>
          </a:p>
        </p:txBody>
      </p:sp>
      <p:sp>
        <p:nvSpPr>
          <p:cNvPr id="1356" name="Google Shape;1356;p89"/>
          <p:cNvSpPr/>
          <p:nvPr/>
        </p:nvSpPr>
        <p:spPr>
          <a:xfrm>
            <a:off x="4374450" y="2879627"/>
            <a:ext cx="954000" cy="66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r^2\left(\frac{1}{4}\pi+1\right)&quot;&gt;&lt;msup&gt;&lt;mi&gt;r&lt;/mi&gt;&lt;mn&gt;2&lt;/mn&gt;&lt;/msup&gt;&lt;mrow data-mjx-texclass=&quot;INNER&quot;&gt;&lt;mo data-mjx-texclass=&quot;OPEN&quot;&gt;(&lt;/mo&gt;&lt;mfrac&gt;&lt;mn&gt;1&lt;/mn&gt;&lt;mn&gt;4&lt;/mn&gt;&lt;/mfrac&gt;&lt;mi&gt;π&lt;/mi&gt;&lt;mo&gt;+&lt;/mo&gt;&lt;mn&gt;1&lt;/mn&gt;&lt;mo data-mjx-texclass=&quot;CLOSE&quot;&gt;)&lt;/mo&gt;&lt;/mrow&gt;&lt;/math&gt;" id="1357" name="Google Shape;1357;p89" title="r squared times open paren one fourth pi plus 1 close paren"/>
          <p:cNvPicPr preferRelativeResize="0"/>
          <p:nvPr/>
        </p:nvPicPr>
        <p:blipFill rotWithShape="1">
          <a:blip r:embed="rId6">
            <a:alphaModFix/>
          </a:blip>
          <a:srcRect b="0" l="0" r="81588" t="0"/>
          <a:stretch/>
        </p:blipFill>
        <p:spPr>
          <a:xfrm>
            <a:off x="3940000" y="3640377"/>
            <a:ext cx="22760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89"/>
          <p:cNvSpPr txBox="1"/>
          <p:nvPr>
            <p:ph idx="4294967295" type="subTitle"/>
          </p:nvPr>
        </p:nvSpPr>
        <p:spPr>
          <a:xfrm>
            <a:off x="5431897" y="3704133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1606.9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59" name="Google Shape;1359;p89"/>
          <p:cNvGrpSpPr/>
          <p:nvPr/>
        </p:nvGrpSpPr>
        <p:grpSpPr>
          <a:xfrm>
            <a:off x="3851625" y="3985202"/>
            <a:ext cx="1415695" cy="338700"/>
            <a:chOff x="5456403" y="4091825"/>
            <a:chExt cx="755400" cy="338700"/>
          </a:xfrm>
        </p:grpSpPr>
        <p:sp>
          <p:nvSpPr>
            <p:cNvPr id="1360" name="Google Shape;1360;p89"/>
            <p:cNvSpPr txBox="1"/>
            <p:nvPr/>
          </p:nvSpPr>
          <p:spPr>
            <a:xfrm>
              <a:off x="5563640" y="4091825"/>
              <a:ext cx="606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1.785…</a:t>
              </a:r>
              <a:endParaRPr baseline="30000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61" name="Google Shape;1361;p89"/>
            <p:cNvCxnSpPr/>
            <p:nvPr/>
          </p:nvCxnSpPr>
          <p:spPr>
            <a:xfrm>
              <a:off x="5456403" y="4132323"/>
              <a:ext cx="755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62" name="Google Shape;1362;p89"/>
          <p:cNvGrpSpPr/>
          <p:nvPr/>
        </p:nvGrpSpPr>
        <p:grpSpPr>
          <a:xfrm>
            <a:off x="5594788" y="3985200"/>
            <a:ext cx="927922" cy="338700"/>
            <a:chOff x="5493008" y="4091823"/>
            <a:chExt cx="746158" cy="338700"/>
          </a:xfrm>
        </p:grpSpPr>
        <p:sp>
          <p:nvSpPr>
            <p:cNvPr id="1363" name="Google Shape;1363;p89"/>
            <p:cNvSpPr txBox="1"/>
            <p:nvPr/>
          </p:nvSpPr>
          <p:spPr>
            <a:xfrm>
              <a:off x="5502366" y="4091823"/>
              <a:ext cx="73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1.785…</a:t>
              </a:r>
              <a:endParaRPr baseline="30000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64" name="Google Shape;1364;p89"/>
            <p:cNvCxnSpPr/>
            <p:nvPr/>
          </p:nvCxnSpPr>
          <p:spPr>
            <a:xfrm flipH="1" rot="10800000">
              <a:off x="5493008" y="4113673"/>
              <a:ext cx="746100" cy="18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5" name="Google Shape;1365;p89"/>
          <p:cNvSpPr txBox="1"/>
          <p:nvPr>
            <p:ph idx="4294967295" type="subTitle"/>
          </p:nvPr>
        </p:nvSpPr>
        <p:spPr>
          <a:xfrm>
            <a:off x="324000" y="625200"/>
            <a:ext cx="8496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total area of this composite shape can be written as an equation, with the algebraic representation on one side, and the numerical on the other: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90"/>
          <p:cNvSpPr txBox="1"/>
          <p:nvPr/>
        </p:nvSpPr>
        <p:spPr>
          <a:xfrm>
            <a:off x="4937698" y="1654075"/>
            <a:ext cx="178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   =   900.02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371" name="Google Shape;1371;p90" title="the square root of"/>
          <p:cNvPicPr preferRelativeResize="0"/>
          <p:nvPr/>
        </p:nvPicPr>
        <p:blipFill rotWithShape="1">
          <a:blip r:embed="rId3">
            <a:alphaModFix/>
          </a:blip>
          <a:srcRect b="10" l="0" r="19620" t="0"/>
          <a:stretch/>
        </p:blipFill>
        <p:spPr>
          <a:xfrm>
            <a:off x="5585952" y="1742150"/>
            <a:ext cx="1072525" cy="3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90"/>
          <p:cNvSpPr txBox="1"/>
          <p:nvPr>
            <p:ph idx="1" type="body"/>
          </p:nvPr>
        </p:nvSpPr>
        <p:spPr>
          <a:xfrm>
            <a:off x="324000" y="3200850"/>
            <a:ext cx="21888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1606.9 cm²</a:t>
            </a:r>
            <a:endParaRPr sz="1800"/>
          </a:p>
        </p:txBody>
      </p:sp>
      <p:sp>
        <p:nvSpPr>
          <p:cNvPr id="1373" name="Google Shape;137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grpSp>
        <p:nvGrpSpPr>
          <p:cNvPr id="1374" name="Google Shape;1374;p90"/>
          <p:cNvGrpSpPr/>
          <p:nvPr/>
        </p:nvGrpSpPr>
        <p:grpSpPr>
          <a:xfrm>
            <a:off x="920700" y="1321550"/>
            <a:ext cx="999638" cy="1822688"/>
            <a:chOff x="920700" y="1550150"/>
            <a:chExt cx="999638" cy="1822688"/>
          </a:xfrm>
        </p:grpSpPr>
        <p:pic>
          <p:nvPicPr>
            <p:cNvPr id="1375" name="Google Shape;1375;p90"/>
            <p:cNvPicPr preferRelativeResize="0"/>
            <p:nvPr/>
          </p:nvPicPr>
          <p:blipFill rotWithShape="1">
            <a:blip r:embed="rId4">
              <a:alphaModFix/>
            </a:blip>
            <a:srcRect b="48218" l="2523" r="79440" t="0"/>
            <a:stretch/>
          </p:blipFill>
          <p:spPr>
            <a:xfrm>
              <a:off x="920700" y="1550150"/>
              <a:ext cx="995400" cy="179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76" name="Google Shape;1376;p90"/>
            <p:cNvCxnSpPr/>
            <p:nvPr/>
          </p:nvCxnSpPr>
          <p:spPr>
            <a:xfrm>
              <a:off x="1749338" y="2859700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7" name="Google Shape;1377;p90"/>
            <p:cNvCxnSpPr/>
            <p:nvPr/>
          </p:nvCxnSpPr>
          <p:spPr>
            <a:xfrm rot="5400000">
              <a:off x="1328387" y="3287338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sqrt{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378" name="Google Shape;1378;p90" title="the square root of"/>
          <p:cNvPicPr preferRelativeResize="0"/>
          <p:nvPr/>
        </p:nvPicPr>
        <p:blipFill rotWithShape="1">
          <a:blip r:embed="rId3">
            <a:alphaModFix/>
          </a:blip>
          <a:srcRect b="10" l="0" r="57345" t="0"/>
          <a:stretch/>
        </p:blipFill>
        <p:spPr>
          <a:xfrm>
            <a:off x="4814953" y="1742150"/>
            <a:ext cx="569150" cy="3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90"/>
          <p:cNvSpPr txBox="1"/>
          <p:nvPr/>
        </p:nvSpPr>
        <p:spPr>
          <a:xfrm>
            <a:off x="4919775" y="2199400"/>
            <a:ext cx="253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=  30 cm (2 </a:t>
            </a:r>
            <a:r>
              <a:rPr lang="en-GB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s.f.)</a:t>
            </a:r>
            <a:endParaRPr/>
          </a:p>
        </p:txBody>
      </p:sp>
      <p:sp>
        <p:nvSpPr>
          <p:cNvPr id="1380" name="Google Shape;1380;p90"/>
          <p:cNvSpPr txBox="1"/>
          <p:nvPr>
            <p:ph idx="4294967295" type="subTitle"/>
          </p:nvPr>
        </p:nvSpPr>
        <p:spPr>
          <a:xfrm>
            <a:off x="324000" y="625200"/>
            <a:ext cx="8496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total area of this composite shape can be written as an equation, with the algebraic representation on one side, and the numerical on the other:</a:t>
            </a:r>
            <a:endParaRPr sz="1800"/>
          </a:p>
        </p:txBody>
      </p:sp>
      <p:sp>
        <p:nvSpPr>
          <p:cNvPr id="1381" name="Google Shape;1381;p90"/>
          <p:cNvSpPr txBox="1"/>
          <p:nvPr/>
        </p:nvSpPr>
        <p:spPr>
          <a:xfrm>
            <a:off x="6466437" y="1712596"/>
            <a:ext cx="458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91"/>
          <p:cNvSpPr txBox="1"/>
          <p:nvPr>
            <p:ph idx="1" type="body"/>
          </p:nvPr>
        </p:nvSpPr>
        <p:spPr>
          <a:xfrm>
            <a:off x="324000" y="3611875"/>
            <a:ext cx="22833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200.5 cm²</a:t>
            </a:r>
            <a:endParaRPr sz="1800"/>
          </a:p>
        </p:txBody>
      </p:sp>
      <p:sp>
        <p:nvSpPr>
          <p:cNvPr id="1387" name="Google Shape;138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grpSp>
        <p:nvGrpSpPr>
          <p:cNvPr id="1388" name="Google Shape;1388;p91"/>
          <p:cNvGrpSpPr/>
          <p:nvPr/>
        </p:nvGrpSpPr>
        <p:grpSpPr>
          <a:xfrm>
            <a:off x="684533" y="716025"/>
            <a:ext cx="1182792" cy="2491125"/>
            <a:chOff x="298983" y="716025"/>
            <a:chExt cx="1182792" cy="2491125"/>
          </a:xfrm>
        </p:grpSpPr>
        <p:pic>
          <p:nvPicPr>
            <p:cNvPr id="1389" name="Google Shape;1389;p91"/>
            <p:cNvPicPr preferRelativeResize="0"/>
            <p:nvPr/>
          </p:nvPicPr>
          <p:blipFill rotWithShape="1">
            <a:blip r:embed="rId3">
              <a:alphaModFix/>
            </a:blip>
            <a:srcRect b="0" l="0" r="61452" t="0"/>
            <a:stretch/>
          </p:blipFill>
          <p:spPr>
            <a:xfrm>
              <a:off x="324000" y="716025"/>
              <a:ext cx="1157775" cy="24911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90" name="Google Shape;1390;p91"/>
            <p:cNvCxnSpPr/>
            <p:nvPr/>
          </p:nvCxnSpPr>
          <p:spPr>
            <a:xfrm rot="5400000">
              <a:off x="820325" y="2726788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1" name="Google Shape;1391;p91"/>
            <p:cNvCxnSpPr/>
            <p:nvPr/>
          </p:nvCxnSpPr>
          <p:spPr>
            <a:xfrm rot="10800000">
              <a:off x="298983" y="2203656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392" name="Google Shape;1392;p91"/>
          <p:cNvPicPr preferRelativeResize="0"/>
          <p:nvPr/>
        </p:nvPicPr>
        <p:blipFill rotWithShape="1">
          <a:blip r:embed="rId3">
            <a:alphaModFix/>
          </a:blip>
          <a:srcRect b="0" l="61591" r="-138" t="0"/>
          <a:stretch/>
        </p:blipFill>
        <p:spPr>
          <a:xfrm>
            <a:off x="2499825" y="716025"/>
            <a:ext cx="1157775" cy="2491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3" name="Google Shape;1393;p91"/>
          <p:cNvGrpSpPr/>
          <p:nvPr/>
        </p:nvGrpSpPr>
        <p:grpSpPr>
          <a:xfrm>
            <a:off x="2955952" y="1392919"/>
            <a:ext cx="769871" cy="227101"/>
            <a:chOff x="3993104" y="4092900"/>
            <a:chExt cx="1157700" cy="227101"/>
          </a:xfrm>
        </p:grpSpPr>
        <p:cxnSp>
          <p:nvCxnSpPr>
            <p:cNvPr id="1394" name="Google Shape;1394;p9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95" name="Google Shape;1395;p91"/>
            <p:cNvSpPr/>
            <p:nvPr/>
          </p:nvSpPr>
          <p:spPr>
            <a:xfrm>
              <a:off x="3993104" y="4149001"/>
              <a:ext cx="1157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96" name="Google Shape;1396;p91"/>
          <p:cNvCxnSpPr/>
          <p:nvPr/>
        </p:nvCxnSpPr>
        <p:spPr>
          <a:xfrm rot="-5400000">
            <a:off x="3228745" y="2617255"/>
            <a:ext cx="1029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7" name="Google Shape;1397;p91"/>
          <p:cNvSpPr txBox="1"/>
          <p:nvPr>
            <p:ph idx="4294967295" type="subTitle"/>
          </p:nvPr>
        </p:nvSpPr>
        <p:spPr>
          <a:xfrm>
            <a:off x="4632750" y="733800"/>
            <a:ext cx="41871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expressions represents the area of the semicircle (1) and which the square (2)?</a:t>
            </a:r>
            <a:endParaRPr sz="1800"/>
          </a:p>
        </p:txBody>
      </p:sp>
      <p:sp>
        <p:nvSpPr>
          <p:cNvPr id="1398" name="Google Shape;1398;p91"/>
          <p:cNvSpPr/>
          <p:nvPr/>
        </p:nvSpPr>
        <p:spPr>
          <a:xfrm>
            <a:off x="3743250" y="2486250"/>
            <a:ext cx="6951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9" name="Google Shape;1399;p91"/>
          <p:cNvGrpSpPr/>
          <p:nvPr/>
        </p:nvGrpSpPr>
        <p:grpSpPr>
          <a:xfrm>
            <a:off x="2955938" y="864612"/>
            <a:ext cx="277200" cy="277200"/>
            <a:chOff x="1020916" y="1442088"/>
            <a:chExt cx="457200" cy="457200"/>
          </a:xfrm>
        </p:grpSpPr>
        <p:pic>
          <p:nvPicPr>
            <p:cNvPr id="1400" name="Google Shape;1400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1" name="Google Shape;1401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2" name="Google Shape;1402;p91"/>
          <p:cNvGrpSpPr/>
          <p:nvPr/>
        </p:nvGrpSpPr>
        <p:grpSpPr>
          <a:xfrm>
            <a:off x="2955938" y="2478650"/>
            <a:ext cx="277200" cy="277200"/>
            <a:chOff x="1020916" y="1442088"/>
            <a:chExt cx="457200" cy="457200"/>
          </a:xfrm>
        </p:grpSpPr>
        <p:pic>
          <p:nvPicPr>
            <p:cNvPr id="1403" name="Google Shape;1403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4" name="Google Shape;140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5" name="Google Shape;1405;p91"/>
          <p:cNvGrpSpPr/>
          <p:nvPr/>
        </p:nvGrpSpPr>
        <p:grpSpPr>
          <a:xfrm>
            <a:off x="5387924" y="1758125"/>
            <a:ext cx="335310" cy="335310"/>
            <a:chOff x="1020916" y="1442088"/>
            <a:chExt cx="457200" cy="457200"/>
          </a:xfrm>
        </p:grpSpPr>
        <p:pic>
          <p:nvPicPr>
            <p:cNvPr id="1406" name="Google Shape;1406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7" name="Google Shape;140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8" name="Google Shape;1408;p91"/>
          <p:cNvGrpSpPr/>
          <p:nvPr/>
        </p:nvGrpSpPr>
        <p:grpSpPr>
          <a:xfrm>
            <a:off x="5387924" y="2406000"/>
            <a:ext cx="335310" cy="335310"/>
            <a:chOff x="1020916" y="1442088"/>
            <a:chExt cx="457200" cy="457200"/>
          </a:xfrm>
        </p:grpSpPr>
        <p:pic>
          <p:nvPicPr>
            <p:cNvPr id="1409" name="Google Shape;140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1" name="Google Shape;1411;p91"/>
          <p:cNvGrpSpPr/>
          <p:nvPr/>
        </p:nvGrpSpPr>
        <p:grpSpPr>
          <a:xfrm>
            <a:off x="5387924" y="3053875"/>
            <a:ext cx="335310" cy="335310"/>
            <a:chOff x="1020916" y="1442088"/>
            <a:chExt cx="457200" cy="457200"/>
          </a:xfrm>
        </p:grpSpPr>
        <p:pic>
          <p:nvPicPr>
            <p:cNvPr id="1412" name="Google Shape;141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3" name="Google Shape;141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4" name="Google Shape;1414;p91"/>
          <p:cNvGrpSpPr/>
          <p:nvPr/>
        </p:nvGrpSpPr>
        <p:grpSpPr>
          <a:xfrm>
            <a:off x="5387924" y="3701750"/>
            <a:ext cx="335310" cy="335310"/>
            <a:chOff x="1020916" y="1442088"/>
            <a:chExt cx="457200" cy="457200"/>
          </a:xfrm>
        </p:grpSpPr>
        <p:pic>
          <p:nvPicPr>
            <p:cNvPr id="1415" name="Google Shape;141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6" name="Google Shape;141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7" name="Google Shape;1417;p91"/>
          <p:cNvGrpSpPr/>
          <p:nvPr/>
        </p:nvGrpSpPr>
        <p:grpSpPr>
          <a:xfrm>
            <a:off x="5387924" y="4349625"/>
            <a:ext cx="335310" cy="335310"/>
            <a:chOff x="1020916" y="1442088"/>
            <a:chExt cx="457200" cy="457200"/>
          </a:xfrm>
        </p:grpSpPr>
        <p:pic>
          <p:nvPicPr>
            <p:cNvPr id="1418" name="Google Shape;1418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9" name="Google Shape;1419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r\times r=r^2\ \ \ \ \ 2r\times2r=4r^2\ \ \ \ \ 2r\times2r=2r^2\ \ \ \ \ \ \ \ \pi\times r^2\ \ \ \ \ \ \ \ \ \frac{1}{2}\pi\times r^2&quot;&gt;&lt;mi&gt;r&lt;/mi&gt;&lt;mo&gt;×&lt;/mo&gt;&lt;mi&gt;r&lt;/mi&gt;&lt;mo&gt;=&lt;/mo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4&lt;/mn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2&lt;/mn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2&lt;/mn&gt;&lt;/mfrac&gt;&lt;mi&gt;π&lt;/mi&gt;&lt;mo&gt;×&lt;/mo&gt;&lt;msup&gt;&lt;mi&gt;r&lt;/mi&gt;&lt;mn&gt;2&lt;/mn&gt;&lt;/msup&gt;&lt;/math&gt;" id="1420" name="Google Shape;1420;p91" title="r times r equals r squared 2 r times 2 r equals 4 r squared 2 r times 2 r equals 2 r squared pi times r squared one half pi times r squared"/>
          <p:cNvPicPr preferRelativeResize="0"/>
          <p:nvPr/>
        </p:nvPicPr>
        <p:blipFill rotWithShape="1">
          <a:blip r:embed="rId5">
            <a:alphaModFix/>
          </a:blip>
          <a:srcRect b="0" l="0" r="85204" t="0"/>
          <a:stretch/>
        </p:blipFill>
        <p:spPr>
          <a:xfrm>
            <a:off x="5813150" y="1641392"/>
            <a:ext cx="1119327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\times r=r^2\ \ \ \ \ 2r\times2r=4r^2\ \ \ \ \ 2r\times2r=2r^2\ \ \ \ \ \ \ \ \pi\times r^2\ \ \ \ \ \ \ \ \ \frac{1}{2}\pi\times r^2&quot;&gt;&lt;mi&gt;r&lt;/mi&gt;&lt;mo&gt;×&lt;/mo&gt;&lt;mi&gt;r&lt;/mi&gt;&lt;mo&gt;=&lt;/mo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4&lt;/mn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2&lt;/mn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2&lt;/mn&gt;&lt;/mfrac&gt;&lt;mi&gt;π&lt;/mi&gt;&lt;mo&gt;×&lt;/mo&gt;&lt;msup&gt;&lt;mi&gt;r&lt;/mi&gt;&lt;mn&gt;2&lt;/mn&gt;&lt;/msup&gt;&lt;/math&gt;" id="1421" name="Google Shape;1421;p91" title="r times r equals r squared 2 r times 2 r equals 4 r squared 2 r times 2 r equals 2 r squared pi times r squared one half pi times r squared"/>
          <p:cNvPicPr preferRelativeResize="0"/>
          <p:nvPr/>
        </p:nvPicPr>
        <p:blipFill rotWithShape="1">
          <a:blip r:embed="rId5">
            <a:alphaModFix/>
          </a:blip>
          <a:srcRect b="0" l="18976" r="61136" t="0"/>
          <a:stretch/>
        </p:blipFill>
        <p:spPr>
          <a:xfrm>
            <a:off x="5813150" y="2289267"/>
            <a:ext cx="150447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\times r=r^2\ \ \ \ \ 2r\times2r=4r^2\ \ \ \ \ 2r\times2r=2r^2\ \ \ \ \ \ \ \ \pi\times r^2\ \ \ \ \ \ \ \ \ \frac{1}{2}\pi\times r^2&quot;&gt;&lt;mi&gt;r&lt;/mi&gt;&lt;mo&gt;×&lt;/mo&gt;&lt;mi&gt;r&lt;/mi&gt;&lt;mo&gt;=&lt;/mo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4&lt;/mn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2&lt;/mn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2&lt;/mn&gt;&lt;/mfrac&gt;&lt;mi&gt;π&lt;/mi&gt;&lt;mo&gt;×&lt;/mo&gt;&lt;msup&gt;&lt;mi&gt;r&lt;/mi&gt;&lt;mn&gt;2&lt;/mn&gt;&lt;/msup&gt;&lt;/math&gt;" id="1422" name="Google Shape;1422;p91" title="r times r equals r squared 2 r times 2 r equals 4 r squared 2 r times 2 r equals 2 r squared pi times r squared one half pi times r squared"/>
          <p:cNvPicPr preferRelativeResize="0"/>
          <p:nvPr/>
        </p:nvPicPr>
        <p:blipFill rotWithShape="1">
          <a:blip r:embed="rId5">
            <a:alphaModFix/>
          </a:blip>
          <a:srcRect b="0" l="43365" r="36747" t="0"/>
          <a:stretch/>
        </p:blipFill>
        <p:spPr>
          <a:xfrm>
            <a:off x="5813150" y="2937142"/>
            <a:ext cx="150447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\times r=r^2\ \ \ \ \ 2r\times2r=4r^2\ \ \ \ \ 2r\times2r=2r^2\ \ \ \ \ \ \ \ \pi\times r^2\ \ \ \ \ \ \ \ \ \frac{1}{2}\pi\times r^2&quot;&gt;&lt;mi&gt;r&lt;/mi&gt;&lt;mo&gt;×&lt;/mo&gt;&lt;mi&gt;r&lt;/mi&gt;&lt;mo&gt;=&lt;/mo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4&lt;/mn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2&lt;/mn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2&lt;/mn&gt;&lt;/mfrac&gt;&lt;mi&gt;π&lt;/mi&gt;&lt;mo&gt;×&lt;/mo&gt;&lt;msup&gt;&lt;mi&gt;r&lt;/mi&gt;&lt;mn&gt;2&lt;/mn&gt;&lt;/msup&gt;&lt;/math&gt;" id="1423" name="Google Shape;1423;p91" title="r times r equals r squared 2 r times 2 r equals 4 r squared 2 r times 2 r equals 2 r squared pi times r squared one half pi times r squared"/>
          <p:cNvPicPr preferRelativeResize="0"/>
          <p:nvPr/>
        </p:nvPicPr>
        <p:blipFill rotWithShape="1">
          <a:blip r:embed="rId5">
            <a:alphaModFix/>
          </a:blip>
          <a:srcRect b="0" l="70696" r="20115" t="0"/>
          <a:stretch/>
        </p:blipFill>
        <p:spPr>
          <a:xfrm>
            <a:off x="5813150" y="3585017"/>
            <a:ext cx="695101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\times r=r^2\ \ \ \ \ 2r\times2r=4r^2\ \ \ \ \ 2r\times2r=2r^2\ \ \ \ \ \ \ \ \pi\times r^2\ \ \ \ \ \ \ \ \ \frac{1}{2}\pi\times r^2&quot;&gt;&lt;mi&gt;r&lt;/mi&gt;&lt;mo&gt;×&lt;/mo&gt;&lt;mi&gt;r&lt;/mi&gt;&lt;mo&gt;=&lt;/mo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4&lt;/mn&gt;&lt;msup&gt;&lt;mi&gt;r&lt;/mi&gt;&lt;mn&gt;2&lt;/mn&gt;&lt;/msup&gt;&lt;mtext&gt;&lt;/mtext&gt;&lt;mtext&gt;&lt;/mtext&gt;&lt;mtext&gt;&lt;/mtext&gt;&lt;mtext&gt;&lt;/mtext&gt;&lt;mtext&gt;&lt;/mtext&gt;&lt;mn&gt;2&lt;/mn&gt;&lt;mi&gt;r&lt;/mi&gt;&lt;mo&gt;×&lt;/mo&gt;&lt;mn&gt;2&lt;/mn&gt;&lt;mi&gt;r&lt;/mi&gt;&lt;mo&gt;=&lt;/mo&gt;&lt;mn&gt;2&lt;/mn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2&lt;/mn&gt;&lt;/mfrac&gt;&lt;mi&gt;π&lt;/mi&gt;&lt;mo&gt;×&lt;/mo&gt;&lt;msup&gt;&lt;mi&gt;r&lt;/mi&gt;&lt;mn&gt;2&lt;/mn&gt;&lt;/msup&gt;&lt;/math&gt;" id="1424" name="Google Shape;1424;p91" title="r times r equals r squared 2 r times 2 r equals 4 r squared 2 r times 2 r equals 2 r squared pi times r squared one half pi times r squared"/>
          <p:cNvPicPr preferRelativeResize="0"/>
          <p:nvPr/>
        </p:nvPicPr>
        <p:blipFill rotWithShape="1">
          <a:blip r:embed="rId5">
            <a:alphaModFix/>
          </a:blip>
          <a:srcRect b="0" l="88295" r="0" t="0"/>
          <a:stretch/>
        </p:blipFill>
        <p:spPr>
          <a:xfrm>
            <a:off x="5813150" y="4232892"/>
            <a:ext cx="885499" cy="56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5" name="Google Shape;1425;p91"/>
          <p:cNvGrpSpPr/>
          <p:nvPr/>
        </p:nvGrpSpPr>
        <p:grpSpPr>
          <a:xfrm>
            <a:off x="5020788" y="4378700"/>
            <a:ext cx="277200" cy="277200"/>
            <a:chOff x="1020916" y="1442088"/>
            <a:chExt cx="457200" cy="457200"/>
          </a:xfrm>
        </p:grpSpPr>
        <p:pic>
          <p:nvPicPr>
            <p:cNvPr id="1426" name="Google Shape;1426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7" name="Google Shape;142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8" name="Google Shape;1428;p91"/>
          <p:cNvGrpSpPr/>
          <p:nvPr/>
        </p:nvGrpSpPr>
        <p:grpSpPr>
          <a:xfrm>
            <a:off x="5020788" y="2435075"/>
            <a:ext cx="277200" cy="277200"/>
            <a:chOff x="1020916" y="1442088"/>
            <a:chExt cx="457200" cy="457200"/>
          </a:xfrm>
        </p:grpSpPr>
        <p:pic>
          <p:nvPicPr>
            <p:cNvPr id="1429" name="Google Shape;142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0" name="Google Shape;143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92"/>
          <p:cNvSpPr txBox="1"/>
          <p:nvPr>
            <p:ph idx="1" type="body"/>
          </p:nvPr>
        </p:nvSpPr>
        <p:spPr>
          <a:xfrm>
            <a:off x="324000" y="3611875"/>
            <a:ext cx="22833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200.5 cm²</a:t>
            </a:r>
            <a:endParaRPr sz="1800"/>
          </a:p>
        </p:txBody>
      </p:sp>
      <p:sp>
        <p:nvSpPr>
          <p:cNvPr id="1436" name="Google Shape;143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grpSp>
        <p:nvGrpSpPr>
          <p:cNvPr id="1437" name="Google Shape;1437;p92"/>
          <p:cNvGrpSpPr/>
          <p:nvPr/>
        </p:nvGrpSpPr>
        <p:grpSpPr>
          <a:xfrm>
            <a:off x="684533" y="716025"/>
            <a:ext cx="1182792" cy="2491125"/>
            <a:chOff x="298983" y="716025"/>
            <a:chExt cx="1182792" cy="2491125"/>
          </a:xfrm>
        </p:grpSpPr>
        <p:pic>
          <p:nvPicPr>
            <p:cNvPr id="1438" name="Google Shape;1438;p92"/>
            <p:cNvPicPr preferRelativeResize="0"/>
            <p:nvPr/>
          </p:nvPicPr>
          <p:blipFill rotWithShape="1">
            <a:blip r:embed="rId3">
              <a:alphaModFix/>
            </a:blip>
            <a:srcRect b="0" l="0" r="61452" t="0"/>
            <a:stretch/>
          </p:blipFill>
          <p:spPr>
            <a:xfrm>
              <a:off x="324000" y="716025"/>
              <a:ext cx="1157775" cy="24911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39" name="Google Shape;1439;p92"/>
            <p:cNvCxnSpPr/>
            <p:nvPr/>
          </p:nvCxnSpPr>
          <p:spPr>
            <a:xfrm rot="5400000">
              <a:off x="820325" y="2726788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0" name="Google Shape;1440;p92"/>
            <p:cNvCxnSpPr/>
            <p:nvPr/>
          </p:nvCxnSpPr>
          <p:spPr>
            <a:xfrm rot="10800000">
              <a:off x="298983" y="2203656"/>
              <a:ext cx="17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441" name="Google Shape;1441;p92"/>
          <p:cNvPicPr preferRelativeResize="0"/>
          <p:nvPr/>
        </p:nvPicPr>
        <p:blipFill rotWithShape="1">
          <a:blip r:embed="rId3">
            <a:alphaModFix/>
          </a:blip>
          <a:srcRect b="0" l="61591" r="-138" t="0"/>
          <a:stretch/>
        </p:blipFill>
        <p:spPr>
          <a:xfrm>
            <a:off x="2499825" y="716025"/>
            <a:ext cx="1157775" cy="2491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2" name="Google Shape;1442;p92"/>
          <p:cNvGrpSpPr/>
          <p:nvPr/>
        </p:nvGrpSpPr>
        <p:grpSpPr>
          <a:xfrm>
            <a:off x="2955952" y="1392919"/>
            <a:ext cx="769871" cy="227101"/>
            <a:chOff x="3993104" y="4092900"/>
            <a:chExt cx="1157700" cy="227101"/>
          </a:xfrm>
        </p:grpSpPr>
        <p:cxnSp>
          <p:nvCxnSpPr>
            <p:cNvPr id="1443" name="Google Shape;1443;p92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44" name="Google Shape;1444;p92"/>
            <p:cNvSpPr/>
            <p:nvPr/>
          </p:nvSpPr>
          <p:spPr>
            <a:xfrm>
              <a:off x="3993104" y="4149001"/>
              <a:ext cx="1157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445" name="Google Shape;1445;p92"/>
          <p:cNvCxnSpPr/>
          <p:nvPr/>
        </p:nvCxnSpPr>
        <p:spPr>
          <a:xfrm rot="-5400000">
            <a:off x="3228745" y="2617255"/>
            <a:ext cx="1029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6" name="Google Shape;1446;p92"/>
          <p:cNvSpPr/>
          <p:nvPr/>
        </p:nvSpPr>
        <p:spPr>
          <a:xfrm>
            <a:off x="3743250" y="2486250"/>
            <a:ext cx="6951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pi\times r^2\ +\ 4r^2&quot;&gt;&lt;mfrac&gt;&lt;mn&gt;1&lt;/mn&gt;&lt;mn&gt;2&lt;/mn&gt;&lt;/mfrac&gt;&lt;mi&gt;π&lt;/mi&gt;&lt;mo&gt;×&lt;/mo&gt;&lt;msup&gt;&lt;mi&gt;r&lt;/mi&gt;&lt;mn&gt;2&lt;/mn&gt;&lt;/msup&gt;&lt;mtext&gt;&lt;/mtext&gt;&lt;mo&gt;+&lt;/mo&gt;&lt;mtext&gt;&lt;/mtext&gt;&lt;mn&gt;4&lt;/mn&gt;&lt;msup&gt;&lt;mi&gt;r&lt;/mi&gt;&lt;mn&gt;2&lt;/mn&gt;&lt;/msup&gt;&lt;/math&gt;" id="1447" name="Google Shape;1447;p92" title="one half pi times r squared plus 4 r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3254" y="1121025"/>
            <a:ext cx="168744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92"/>
          <p:cNvSpPr txBox="1"/>
          <p:nvPr>
            <p:ph idx="4294967295" type="subTitle"/>
          </p:nvPr>
        </p:nvSpPr>
        <p:spPr>
          <a:xfrm>
            <a:off x="4632750" y="1927200"/>
            <a:ext cx="40230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expressions is the correctly fully factorised form of the area?</a:t>
            </a:r>
            <a:endParaRPr sz="1800"/>
          </a:p>
        </p:txBody>
      </p:sp>
      <p:sp>
        <p:nvSpPr>
          <p:cNvPr id="1449" name="Google Shape;1449;p92"/>
          <p:cNvSpPr txBox="1"/>
          <p:nvPr>
            <p:ph idx="4294967295" type="subTitle"/>
          </p:nvPr>
        </p:nvSpPr>
        <p:spPr>
          <a:xfrm>
            <a:off x="4632750" y="733800"/>
            <a:ext cx="40230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of this composite shape is</a:t>
            </a:r>
            <a:endParaRPr sz="1800"/>
          </a:p>
        </p:txBody>
      </p:sp>
      <p:grpSp>
        <p:nvGrpSpPr>
          <p:cNvPr id="1450" name="Google Shape;1450;p92"/>
          <p:cNvGrpSpPr/>
          <p:nvPr/>
        </p:nvGrpSpPr>
        <p:grpSpPr>
          <a:xfrm>
            <a:off x="5387924" y="2824925"/>
            <a:ext cx="335310" cy="335310"/>
            <a:chOff x="1020916" y="1442088"/>
            <a:chExt cx="457200" cy="457200"/>
          </a:xfrm>
        </p:grpSpPr>
        <p:pic>
          <p:nvPicPr>
            <p:cNvPr id="1451" name="Google Shape;1451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2" name="Google Shape;14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3" name="Google Shape;1453;p92"/>
          <p:cNvGrpSpPr/>
          <p:nvPr/>
        </p:nvGrpSpPr>
        <p:grpSpPr>
          <a:xfrm>
            <a:off x="5387924" y="3472800"/>
            <a:ext cx="335310" cy="335310"/>
            <a:chOff x="1020916" y="1442088"/>
            <a:chExt cx="457200" cy="457200"/>
          </a:xfrm>
        </p:grpSpPr>
        <p:pic>
          <p:nvPicPr>
            <p:cNvPr id="1454" name="Google Shape;1454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5" name="Google Shape;14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6" name="Google Shape;1456;p92"/>
          <p:cNvGrpSpPr/>
          <p:nvPr/>
        </p:nvGrpSpPr>
        <p:grpSpPr>
          <a:xfrm>
            <a:off x="5387924" y="4120675"/>
            <a:ext cx="335310" cy="335310"/>
            <a:chOff x="1020916" y="1442088"/>
            <a:chExt cx="457200" cy="457200"/>
          </a:xfrm>
        </p:grpSpPr>
        <p:pic>
          <p:nvPicPr>
            <p:cNvPr id="1457" name="Google Shape;1457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8" name="Google Shape;1458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r\left(\frac{1}{2}\pi+4\right)\ \ \ r^2\left(4.5\pi\right)\ \ \ r^2\left(\frac{1}{2}\pi+4\right)\ \ \ &quot;&gt;&lt;mi&gt;r&lt;/mi&gt;&lt;mrow data-mjx-texclass=&quot;INNER&quot;&gt;&lt;mo data-mjx-texclass=&quot;OPEN&quot;&gt;(&lt;/mo&gt;&lt;mfrac&gt;&lt;mn&gt;1&lt;/mn&gt;&lt;mn&gt;2&lt;/mn&gt;&lt;/mfrac&gt;&lt;mi&gt;π&lt;/mi&gt;&lt;mo&gt;+&lt;/mo&gt;&lt;mn&gt;4&lt;/mn&gt;&lt;mo data-mjx-texclass=&quot;CLOSE&quot;&gt;)&lt;/mo&gt;&lt;/mrow&gt;&lt;mtext&gt;&lt;/mtext&gt;&lt;mtext&gt;&lt;/mtext&gt;&lt;mtext&gt;&lt;/mtext&gt;&lt;msup&gt;&lt;mi&gt;r&lt;/mi&gt;&lt;mn&gt;2&lt;/mn&gt;&lt;/msup&gt;&lt;mrow data-mjx-texclass=&quot;INNER&quot;&gt;&lt;mo data-mjx-texclass=&quot;OPEN&quot;&gt;(&lt;/mo&gt;&lt;mn&gt;4.5&lt;/mn&gt;&lt;mi&gt;π&lt;/mi&gt;&lt;mo data-mjx-texclass=&quot;CLOSE&quot;&gt;)&lt;/mo&gt;&lt;/mrow&gt;&lt;mtext&gt;&lt;/mtext&gt;&lt;mtext&gt;&lt;/mtext&gt;&lt;mtext&gt;&lt;/mtext&gt;&lt;msup&gt;&lt;mi&gt;r&lt;/mi&gt;&lt;mn&gt;2&lt;/mn&gt;&lt;/msup&gt;&lt;mrow data-mjx-texclass=&quot;INNER&quot;&gt;&lt;mo data-mjx-texclass=&quot;OPEN&quot;&gt;(&lt;/mo&gt;&lt;mfrac&gt;&lt;mn&gt;1&lt;/mn&gt;&lt;mn&gt;2&lt;/mn&gt;&lt;/mfrac&gt;&lt;mi&gt;π&lt;/mi&gt;&lt;mo&gt;+&lt;/mo&gt;&lt;mn&gt;4&lt;/mn&gt;&lt;mo data-mjx-texclass=&quot;CLOSE&quot;&gt;)&lt;/mo&gt;&lt;/mrow&gt;&lt;mtext&gt;&lt;/mtext&gt;&lt;mtext&gt;&lt;/mtext&gt;&lt;mtext&gt;&lt;/mtext&gt;&lt;/math&gt;" id="1459" name="Google Shape;1459;p92" title="r of open paren one half pi plus 4 close paren r squared of 4.5 pi r squared of open paren one half pi plus 4 close paren"/>
          <p:cNvPicPr preferRelativeResize="0"/>
          <p:nvPr/>
        </p:nvPicPr>
        <p:blipFill rotWithShape="1">
          <a:blip r:embed="rId6">
            <a:alphaModFix/>
          </a:blip>
          <a:srcRect b="0" l="0" r="67508" t="0"/>
          <a:stretch/>
        </p:blipFill>
        <p:spPr>
          <a:xfrm>
            <a:off x="5774400" y="2708175"/>
            <a:ext cx="118280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\left(\frac{1}{2}\pi+4\right)\ \ \ r^2\left(4.5\pi\right)\ \ \ r^2\left(\frac{1}{2}\pi+4\right)\ \ \ &quot;&gt;&lt;mi&gt;r&lt;/mi&gt;&lt;mrow data-mjx-texclass=&quot;INNER&quot;&gt;&lt;mo data-mjx-texclass=&quot;OPEN&quot;&gt;(&lt;/mo&gt;&lt;mfrac&gt;&lt;mn&gt;1&lt;/mn&gt;&lt;mn&gt;2&lt;/mn&gt;&lt;/mfrac&gt;&lt;mi&gt;π&lt;/mi&gt;&lt;mo&gt;+&lt;/mo&gt;&lt;mn&gt;4&lt;/mn&gt;&lt;mo data-mjx-texclass=&quot;CLOSE&quot;&gt;)&lt;/mo&gt;&lt;/mrow&gt;&lt;mtext&gt;&lt;/mtext&gt;&lt;mtext&gt;&lt;/mtext&gt;&lt;mtext&gt;&lt;/mtext&gt;&lt;msup&gt;&lt;mi&gt;r&lt;/mi&gt;&lt;mn&gt;2&lt;/mn&gt;&lt;/msup&gt;&lt;mrow data-mjx-texclass=&quot;INNER&quot;&gt;&lt;mo data-mjx-texclass=&quot;OPEN&quot;&gt;(&lt;/mo&gt;&lt;mn&gt;4.5&lt;/mn&gt;&lt;mi&gt;π&lt;/mi&gt;&lt;mo data-mjx-texclass=&quot;CLOSE&quot;&gt;)&lt;/mo&gt;&lt;/mrow&gt;&lt;mtext&gt;&lt;/mtext&gt;&lt;mtext&gt;&lt;/mtext&gt;&lt;mtext&gt;&lt;/mtext&gt;&lt;msup&gt;&lt;mi&gt;r&lt;/mi&gt;&lt;mn&gt;2&lt;/mn&gt;&lt;/msup&gt;&lt;mrow data-mjx-texclass=&quot;INNER&quot;&gt;&lt;mo data-mjx-texclass=&quot;OPEN&quot;&gt;(&lt;/mo&gt;&lt;mfrac&gt;&lt;mn&gt;1&lt;/mn&gt;&lt;mn&gt;2&lt;/mn&gt;&lt;/mfrac&gt;&lt;mi&gt;π&lt;/mi&gt;&lt;mo&gt;+&lt;/mo&gt;&lt;mn&gt;4&lt;/mn&gt;&lt;mo data-mjx-texclass=&quot;CLOSE&quot;&gt;)&lt;/mo&gt;&lt;/mrow&gt;&lt;mtext&gt;&lt;/mtext&gt;&lt;mtext&gt;&lt;/mtext&gt;&lt;mtext&gt;&lt;/mtext&gt;&lt;/math&gt;" id="1460" name="Google Shape;1460;p92" title="r of open paren one half pi plus 4 close paren r squared of 4.5 pi r squared of open paren one half pi plus 4 close paren"/>
          <p:cNvPicPr preferRelativeResize="0"/>
          <p:nvPr/>
        </p:nvPicPr>
        <p:blipFill rotWithShape="1">
          <a:blip r:embed="rId6">
            <a:alphaModFix/>
          </a:blip>
          <a:srcRect b="0" l="37274" r="37981" t="0"/>
          <a:stretch/>
        </p:blipFill>
        <p:spPr>
          <a:xfrm>
            <a:off x="5774400" y="3356050"/>
            <a:ext cx="90075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r\left(\frac{1}{2}\pi+4\right)\ \ \ r^2\left(4.5\pi\right)\ \ \ r^2\left(\frac{1}{2}\pi+4\right)\ \ \ &quot;&gt;&lt;mi&gt;r&lt;/mi&gt;&lt;mrow data-mjx-texclass=&quot;INNER&quot;&gt;&lt;mo data-mjx-texclass=&quot;OPEN&quot;&gt;(&lt;/mo&gt;&lt;mfrac&gt;&lt;mn&gt;1&lt;/mn&gt;&lt;mn&gt;2&lt;/mn&gt;&lt;/mfrac&gt;&lt;mi&gt;π&lt;/mi&gt;&lt;mo&gt;+&lt;/mo&gt;&lt;mn&gt;4&lt;/mn&gt;&lt;mo data-mjx-texclass=&quot;CLOSE&quot;&gt;)&lt;/mo&gt;&lt;/mrow&gt;&lt;mtext&gt;&lt;/mtext&gt;&lt;mtext&gt;&lt;/mtext&gt;&lt;mtext&gt;&lt;/mtext&gt;&lt;msup&gt;&lt;mi&gt;r&lt;/mi&gt;&lt;mn&gt;2&lt;/mn&gt;&lt;/msup&gt;&lt;mrow data-mjx-texclass=&quot;INNER&quot;&gt;&lt;mo data-mjx-texclass=&quot;OPEN&quot;&gt;(&lt;/mo&gt;&lt;mn&gt;4.5&lt;/mn&gt;&lt;mi&gt;π&lt;/mi&gt;&lt;mo data-mjx-texclass=&quot;CLOSE&quot;&gt;)&lt;/mo&gt;&lt;/mrow&gt;&lt;mtext&gt;&lt;/mtext&gt;&lt;mtext&gt;&lt;/mtext&gt;&lt;mtext&gt;&lt;/mtext&gt;&lt;msup&gt;&lt;mi&gt;r&lt;/mi&gt;&lt;mn&gt;2&lt;/mn&gt;&lt;/msup&gt;&lt;mrow data-mjx-texclass=&quot;INNER&quot;&gt;&lt;mo data-mjx-texclass=&quot;OPEN&quot;&gt;(&lt;/mo&gt;&lt;mfrac&gt;&lt;mn&gt;1&lt;/mn&gt;&lt;mn&gt;2&lt;/mn&gt;&lt;/mfrac&gt;&lt;mi&gt;π&lt;/mi&gt;&lt;mo&gt;+&lt;/mo&gt;&lt;mn&gt;4&lt;/mn&gt;&lt;mo data-mjx-texclass=&quot;CLOSE&quot;&gt;)&lt;/mo&gt;&lt;/mrow&gt;&lt;mtext&gt;&lt;/mtext&gt;&lt;mtext&gt;&lt;/mtext&gt;&lt;mtext&gt;&lt;/mtext&gt;&lt;/math&gt;" id="1461" name="Google Shape;1461;p92" title="r of open paren one half pi plus 4 close paren r squared of 4.5 pi r squared of open paren one half pi plus 4 close paren"/>
          <p:cNvPicPr preferRelativeResize="0"/>
          <p:nvPr/>
        </p:nvPicPr>
        <p:blipFill rotWithShape="1">
          <a:blip r:embed="rId6">
            <a:alphaModFix/>
          </a:blip>
          <a:srcRect b="0" l="65074" r="0" t="0"/>
          <a:stretch/>
        </p:blipFill>
        <p:spPr>
          <a:xfrm>
            <a:off x="5774400" y="4003925"/>
            <a:ext cx="1271399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2" name="Google Shape;1462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04053" y="4078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93"/>
          <p:cNvSpPr txBox="1"/>
          <p:nvPr>
            <p:ph idx="1" type="body"/>
          </p:nvPr>
        </p:nvSpPr>
        <p:spPr>
          <a:xfrm>
            <a:off x="324000" y="682344"/>
            <a:ext cx="8496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rearrange the component parts of a shape if it is possible to make more complete shapes, such as full circles.</a:t>
            </a:r>
            <a:endParaRPr sz="1800"/>
          </a:p>
        </p:txBody>
      </p:sp>
      <p:sp>
        <p:nvSpPr>
          <p:cNvPr id="1468" name="Google Shape;146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469" name="Google Shape;1469;p93"/>
          <p:cNvPicPr preferRelativeResize="0"/>
          <p:nvPr/>
        </p:nvPicPr>
        <p:blipFill rotWithShape="1">
          <a:blip r:embed="rId3">
            <a:alphaModFix/>
          </a:blip>
          <a:srcRect b="52625" l="43586" r="35741" t="1632"/>
          <a:stretch/>
        </p:blipFill>
        <p:spPr>
          <a:xfrm>
            <a:off x="324000" y="1435500"/>
            <a:ext cx="1563848" cy="227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93"/>
          <p:cNvSpPr txBox="1"/>
          <p:nvPr>
            <p:ph idx="4294967295" type="subTitle"/>
          </p:nvPr>
        </p:nvSpPr>
        <p:spPr>
          <a:xfrm>
            <a:off x="324000" y="3780000"/>
            <a:ext cx="21888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202.9 cm²</a:t>
            </a:r>
            <a:endParaRPr sz="1800"/>
          </a:p>
        </p:txBody>
      </p:sp>
      <p:pic>
        <p:nvPicPr>
          <p:cNvPr id="1471" name="Google Shape;1471;p93"/>
          <p:cNvPicPr preferRelativeResize="0"/>
          <p:nvPr/>
        </p:nvPicPr>
        <p:blipFill rotWithShape="1">
          <a:blip r:embed="rId3">
            <a:alphaModFix/>
          </a:blip>
          <a:srcRect b="749" l="43680" r="32351" t="49277"/>
          <a:stretch/>
        </p:blipFill>
        <p:spPr>
          <a:xfrm>
            <a:off x="3166475" y="1587900"/>
            <a:ext cx="1813175" cy="248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93"/>
          <p:cNvSpPr txBox="1"/>
          <p:nvPr>
            <p:ph idx="1" type="body"/>
          </p:nvPr>
        </p:nvSpPr>
        <p:spPr>
          <a:xfrm>
            <a:off x="5278850" y="1632625"/>
            <a:ext cx="35412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These are the component parts of this composite shape.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These two parts rearrange to create a full circle.</a:t>
            </a:r>
            <a:endParaRPr sz="1800"/>
          </a:p>
        </p:txBody>
      </p:sp>
      <p:cxnSp>
        <p:nvCxnSpPr>
          <p:cNvPr id="1473" name="Google Shape;1473;p93"/>
          <p:cNvCxnSpPr/>
          <p:nvPr/>
        </p:nvCxnSpPr>
        <p:spPr>
          <a:xfrm>
            <a:off x="4402600" y="2054500"/>
            <a:ext cx="833400" cy="56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93"/>
          <p:cNvCxnSpPr/>
          <p:nvPr/>
        </p:nvCxnSpPr>
        <p:spPr>
          <a:xfrm flipH="1" rot="10800000">
            <a:off x="4402600" y="2829600"/>
            <a:ext cx="833400" cy="56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94"/>
          <p:cNvSpPr txBox="1"/>
          <p:nvPr>
            <p:ph idx="1" type="body"/>
          </p:nvPr>
        </p:nvSpPr>
        <p:spPr>
          <a:xfrm>
            <a:off x="324000" y="682344"/>
            <a:ext cx="8496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rearrange the component parts of a shape if it is possible to make more complete shapes, such as full circles.</a:t>
            </a:r>
            <a:endParaRPr sz="1800"/>
          </a:p>
        </p:txBody>
      </p:sp>
      <p:sp>
        <p:nvSpPr>
          <p:cNvPr id="1480" name="Google Shape;148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481" name="Google Shape;1481;p94"/>
          <p:cNvPicPr preferRelativeResize="0"/>
          <p:nvPr/>
        </p:nvPicPr>
        <p:blipFill rotWithShape="1">
          <a:blip r:embed="rId3">
            <a:alphaModFix/>
          </a:blip>
          <a:srcRect b="52625" l="43586" r="35741" t="1632"/>
          <a:stretch/>
        </p:blipFill>
        <p:spPr>
          <a:xfrm>
            <a:off x="324000" y="1435500"/>
            <a:ext cx="1563848" cy="227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94"/>
          <p:cNvSpPr txBox="1"/>
          <p:nvPr>
            <p:ph idx="4294967295" type="subTitle"/>
          </p:nvPr>
        </p:nvSpPr>
        <p:spPr>
          <a:xfrm>
            <a:off x="324000" y="3780000"/>
            <a:ext cx="21888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has an area of 202.9 cm²</a:t>
            </a:r>
            <a:endParaRPr sz="1800"/>
          </a:p>
        </p:txBody>
      </p:sp>
      <p:pic>
        <p:nvPicPr>
          <p:cNvPr id="1483" name="Google Shape;1483;p94"/>
          <p:cNvPicPr preferRelativeResize="0"/>
          <p:nvPr/>
        </p:nvPicPr>
        <p:blipFill rotWithShape="1">
          <a:blip r:embed="rId3">
            <a:alphaModFix/>
          </a:blip>
          <a:srcRect b="34016" l="43680" r="45158" t="49278"/>
          <a:stretch/>
        </p:blipFill>
        <p:spPr>
          <a:xfrm>
            <a:off x="3166475" y="1587900"/>
            <a:ext cx="844324" cy="8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94"/>
          <p:cNvPicPr preferRelativeResize="0"/>
          <p:nvPr/>
        </p:nvPicPr>
        <p:blipFill rotWithShape="1">
          <a:blip r:embed="rId3">
            <a:alphaModFix/>
          </a:blip>
          <a:srcRect b="750" l="43682" r="35081" t="67702"/>
          <a:stretch/>
        </p:blipFill>
        <p:spPr>
          <a:xfrm>
            <a:off x="3166475" y="2503300"/>
            <a:ext cx="1606574" cy="15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94"/>
          <p:cNvPicPr preferRelativeResize="0"/>
          <p:nvPr/>
        </p:nvPicPr>
        <p:blipFill rotWithShape="1">
          <a:blip r:embed="rId3">
            <a:alphaModFix/>
          </a:blip>
          <a:srcRect b="34016" l="56443" r="33009" t="49278"/>
          <a:stretch/>
        </p:blipFill>
        <p:spPr>
          <a:xfrm rot="5400000">
            <a:off x="3196487" y="3243013"/>
            <a:ext cx="797901" cy="829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6" name="Google Shape;1486;p94"/>
          <p:cNvGrpSpPr/>
          <p:nvPr/>
        </p:nvGrpSpPr>
        <p:grpSpPr>
          <a:xfrm rot="10800000">
            <a:off x="3122861" y="2989104"/>
            <a:ext cx="981151" cy="227101"/>
            <a:chOff x="3993104" y="4092900"/>
            <a:chExt cx="1157700" cy="227101"/>
          </a:xfrm>
        </p:grpSpPr>
        <p:cxnSp>
          <p:nvCxnSpPr>
            <p:cNvPr id="1487" name="Google Shape;1487;p94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88" name="Google Shape;1488;p94"/>
            <p:cNvSpPr/>
            <p:nvPr/>
          </p:nvSpPr>
          <p:spPr>
            <a:xfrm rot="10800000">
              <a:off x="3993104" y="4149001"/>
              <a:ext cx="1157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9" name="Google Shape;1489;p94"/>
          <p:cNvGrpSpPr/>
          <p:nvPr/>
        </p:nvGrpSpPr>
        <p:grpSpPr>
          <a:xfrm rot="10800000">
            <a:off x="3122861" y="1353313"/>
            <a:ext cx="981151" cy="227101"/>
            <a:chOff x="3993104" y="4092900"/>
            <a:chExt cx="1157700" cy="227101"/>
          </a:xfrm>
        </p:grpSpPr>
        <p:cxnSp>
          <p:nvCxnSpPr>
            <p:cNvPr id="1490" name="Google Shape;1490;p94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91" name="Google Shape;1491;p94"/>
            <p:cNvSpPr/>
            <p:nvPr/>
          </p:nvSpPr>
          <p:spPr>
            <a:xfrm rot="10800000">
              <a:off x="3993104" y="4149001"/>
              <a:ext cx="1157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492" name="Google Shape;1492;p94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27135" r="36775" t="0"/>
          <a:stretch/>
        </p:blipFill>
        <p:spPr>
          <a:xfrm>
            <a:off x="5365625" y="1875600"/>
            <a:ext cx="7595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493" name="Google Shape;1493;p94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70977" r="0" t="0"/>
          <a:stretch/>
        </p:blipFill>
        <p:spPr>
          <a:xfrm>
            <a:off x="6288985" y="1875600"/>
            <a:ext cx="610799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94"/>
          <p:cNvSpPr txBox="1"/>
          <p:nvPr>
            <p:ph idx="1" type="body"/>
          </p:nvPr>
        </p:nvSpPr>
        <p:spPr>
          <a:xfrm>
            <a:off x="4572000" y="1533900"/>
            <a:ext cx="4248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of this composite shape is:</a:t>
            </a:r>
            <a:endParaRPr sz="1800"/>
          </a:p>
        </p:txBody>
      </p:sp>
      <p:sp>
        <p:nvSpPr>
          <p:cNvPr id="1495" name="Google Shape;1495;p94"/>
          <p:cNvSpPr/>
          <p:nvPr/>
        </p:nvSpPr>
        <p:spPr>
          <a:xfrm>
            <a:off x="5289425" y="1964683"/>
            <a:ext cx="885900" cy="34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4"/>
          <p:cNvSpPr txBox="1"/>
          <p:nvPr>
            <p:ph idx="1" type="body"/>
          </p:nvPr>
        </p:nvSpPr>
        <p:spPr>
          <a:xfrm>
            <a:off x="5289425" y="2312975"/>
            <a:ext cx="88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circle</a:t>
            </a:r>
            <a:endParaRPr sz="1800"/>
          </a:p>
        </p:txBody>
      </p:sp>
      <p:sp>
        <p:nvSpPr>
          <p:cNvPr id="1497" name="Google Shape;1497;p94"/>
          <p:cNvSpPr/>
          <p:nvPr/>
        </p:nvSpPr>
        <p:spPr>
          <a:xfrm>
            <a:off x="6595150" y="1964675"/>
            <a:ext cx="378000" cy="34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4"/>
          <p:cNvSpPr txBox="1"/>
          <p:nvPr>
            <p:ph idx="1" type="body"/>
          </p:nvPr>
        </p:nvSpPr>
        <p:spPr>
          <a:xfrm>
            <a:off x="6595150" y="2312975"/>
            <a:ext cx="88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square</a:t>
            </a:r>
            <a:endParaRPr sz="1800"/>
          </a:p>
        </p:txBody>
      </p:sp>
      <p:sp>
        <p:nvSpPr>
          <p:cNvPr id="1499" name="Google Shape;1499;p94"/>
          <p:cNvSpPr txBox="1"/>
          <p:nvPr>
            <p:ph idx="4294967295" type="subTitle"/>
          </p:nvPr>
        </p:nvSpPr>
        <p:spPr>
          <a:xfrm>
            <a:off x="7137000" y="1977596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202.9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\ \ \ \ \ \ \ r^2\left(\pi+1\right)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mtext&gt;&lt;/mtext&gt;&lt;mtext&gt;&lt;/mtext&gt;&lt;mtext&gt;&lt;/mtext&gt;&lt;mtext&gt;&lt;/mtext&gt;&lt;mtext&gt;&lt;/mtext&gt;&lt;mtext&gt;&lt;/mtext&gt;&lt;mtext&gt;&lt;/mtext&gt;&lt;msup&gt;&lt;mi&gt;r&lt;/mi&gt;&lt;mn&gt;2&lt;/mn&gt;&lt;/msup&gt;&lt;mrow data-mjx-texclass=&quot;INNER&quot;&gt;&lt;mo data-mjx-texclass=&quot;OPEN&quot;&gt;(&lt;/mo&gt;&lt;mi&gt;π&lt;/mi&gt;&lt;mo&gt;+&lt;/mo&gt;&lt;mn&gt;1&lt;/mn&gt;&lt;mo data-mjx-texclass=&quot;CLOSE&quot;&gt;)&lt;/mo&gt;&lt;/mrow&gt;&lt;/math&gt;" id="1500" name="Google Shape;1500;p94" title="one half pi times r squared plus r squared r squared times open paren pi plus 1 close paren"/>
          <p:cNvPicPr preferRelativeResize="0"/>
          <p:nvPr/>
        </p:nvPicPr>
        <p:blipFill rotWithShape="1">
          <a:blip r:embed="rId5">
            <a:alphaModFix/>
          </a:blip>
          <a:srcRect b="0" l="70909" r="0" t="0"/>
          <a:stretch/>
        </p:blipFill>
        <p:spPr>
          <a:xfrm>
            <a:off x="5900958" y="2700000"/>
            <a:ext cx="107220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94"/>
          <p:cNvSpPr txBox="1"/>
          <p:nvPr>
            <p:ph idx="4294967295" type="subTitle"/>
          </p:nvPr>
        </p:nvSpPr>
        <p:spPr>
          <a:xfrm>
            <a:off x="7137000" y="2851346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202.9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\ \ \ \ \ \ \ r^2\left(\pi+1\right)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mtext&gt;&lt;/mtext&gt;&lt;mtext&gt;&lt;/mtext&gt;&lt;mtext&gt;&lt;/mtext&gt;&lt;mtext&gt;&lt;/mtext&gt;&lt;mtext&gt;&lt;/mtext&gt;&lt;mtext&gt;&lt;/mtext&gt;&lt;mtext&gt;&lt;/mtext&gt;&lt;msup&gt;&lt;mi&gt;r&lt;/mi&gt;&lt;mn&gt;2&lt;/mn&gt;&lt;/msup&gt;&lt;mrow data-mjx-texclass=&quot;INNER&quot;&gt;&lt;mo data-mjx-texclass=&quot;OPEN&quot;&gt;(&lt;/mo&gt;&lt;mi&gt;π&lt;/mi&gt;&lt;mo&gt;+&lt;/mo&gt;&lt;mn&gt;1&lt;/mn&gt;&lt;mo data-mjx-texclass=&quot;CLOSE&quot;&gt;)&lt;/mo&gt;&lt;/mrow&gt;&lt;/math&gt;" id="1502" name="Google Shape;1502;p94" title="one half pi times r squared plus r squared r squared times open paren pi plus 1 close paren"/>
          <p:cNvPicPr preferRelativeResize="0"/>
          <p:nvPr/>
        </p:nvPicPr>
        <p:blipFill rotWithShape="1">
          <a:blip r:embed="rId5">
            <a:alphaModFix/>
          </a:blip>
          <a:srcRect b="19386" l="70909" r="21646" t="19380"/>
          <a:stretch/>
        </p:blipFill>
        <p:spPr>
          <a:xfrm>
            <a:off x="5748550" y="3324575"/>
            <a:ext cx="274374" cy="3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94"/>
          <p:cNvSpPr txBox="1"/>
          <p:nvPr>
            <p:ph idx="4294967295" type="subTitle"/>
          </p:nvPr>
        </p:nvSpPr>
        <p:spPr>
          <a:xfrm>
            <a:off x="7137000" y="3334171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202.9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4" name="Google Shape;1504;p94"/>
          <p:cNvSpPr txBox="1"/>
          <p:nvPr>
            <p:ph idx="4294967295" type="subTitle"/>
          </p:nvPr>
        </p:nvSpPr>
        <p:spPr>
          <a:xfrm>
            <a:off x="6027200" y="3334175"/>
            <a:ext cx="12204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4.141…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\ \ \ \ \ \ \ r^2\left(\pi+1\right)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mtext&gt;&lt;/mtext&gt;&lt;mtext&gt;&lt;/mtext&gt;&lt;mtext&gt;&lt;/mtext&gt;&lt;mtext&gt;&lt;/mtext&gt;&lt;mtext&gt;&lt;/mtext&gt;&lt;mtext&gt;&lt;/mtext&gt;&lt;mtext&gt;&lt;/mtext&gt;&lt;msup&gt;&lt;mi&gt;r&lt;/mi&gt;&lt;mn&gt;2&lt;/mn&gt;&lt;/msup&gt;&lt;mrow data-mjx-texclass=&quot;INNER&quot;&gt;&lt;mo data-mjx-texclass=&quot;OPEN&quot;&gt;(&lt;/mo&gt;&lt;mi&gt;π&lt;/mi&gt;&lt;mo&gt;+&lt;/mo&gt;&lt;mn&gt;1&lt;/mn&gt;&lt;mo data-mjx-texclass=&quot;CLOSE&quot;&gt;)&lt;/mo&gt;&lt;/mrow&gt;&lt;/math&gt;" id="1505" name="Google Shape;1505;p94" title="one half pi times r squared plus r squared r squared times open paren pi plus 1 close paren"/>
          <p:cNvPicPr preferRelativeResize="0"/>
          <p:nvPr/>
        </p:nvPicPr>
        <p:blipFill rotWithShape="1">
          <a:blip r:embed="rId5">
            <a:alphaModFix/>
          </a:blip>
          <a:srcRect b="19386" l="70909" r="21646" t="19380"/>
          <a:stretch/>
        </p:blipFill>
        <p:spPr>
          <a:xfrm>
            <a:off x="6815350" y="3817000"/>
            <a:ext cx="274374" cy="3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94"/>
          <p:cNvSpPr txBox="1"/>
          <p:nvPr>
            <p:ph idx="4294967295" type="subTitle"/>
          </p:nvPr>
        </p:nvSpPr>
        <p:spPr>
          <a:xfrm>
            <a:off x="7137000" y="3826600"/>
            <a:ext cx="14946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48.990…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\ \ \ \ \ \ \ r^2\left(\pi+1\right)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mtext&gt;&lt;/mtext&gt;&lt;mtext&gt;&lt;/mtext&gt;&lt;mtext&gt;&lt;/mtext&gt;&lt;mtext&gt;&lt;/mtext&gt;&lt;mtext&gt;&lt;/mtext&gt;&lt;mtext&gt;&lt;/mtext&gt;&lt;mtext&gt;&lt;/mtext&gt;&lt;msup&gt;&lt;mi&gt;r&lt;/mi&gt;&lt;mn&gt;2&lt;/mn&gt;&lt;/msup&gt;&lt;mrow data-mjx-texclass=&quot;INNER&quot;&gt;&lt;mo data-mjx-texclass=&quot;OPEN&quot;&gt;(&lt;/mo&gt;&lt;mi&gt;π&lt;/mi&gt;&lt;mo&gt;+&lt;/mo&gt;&lt;mn&gt;1&lt;/mn&gt;&lt;mo data-mjx-texclass=&quot;CLOSE&quot;&gt;)&lt;/mo&gt;&lt;/mrow&gt;&lt;/math&gt;" id="1507" name="Google Shape;1507;p94" title="one half pi times r squared plus r squared r squared times open paren pi plus 1 close paren"/>
          <p:cNvPicPr preferRelativeResize="0"/>
          <p:nvPr/>
        </p:nvPicPr>
        <p:blipFill rotWithShape="1">
          <a:blip r:embed="rId5">
            <a:alphaModFix/>
          </a:blip>
          <a:srcRect b="19386" l="70909" r="25664" t="19380"/>
          <a:stretch/>
        </p:blipFill>
        <p:spPr>
          <a:xfrm>
            <a:off x="6815350" y="4309425"/>
            <a:ext cx="126251" cy="3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94"/>
          <p:cNvSpPr txBox="1"/>
          <p:nvPr>
            <p:ph idx="4294967295" type="subTitle"/>
          </p:nvPr>
        </p:nvSpPr>
        <p:spPr>
          <a:xfrm>
            <a:off x="7137000" y="4319021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7 cm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95"/>
          <p:cNvSpPr txBox="1"/>
          <p:nvPr>
            <p:ph idx="4294967295" type="subTitle"/>
          </p:nvPr>
        </p:nvSpPr>
        <p:spPr>
          <a:xfrm>
            <a:off x="2699975" y="1099638"/>
            <a:ext cx="612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Write down the areas, in terms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, for the three component parts of this shape.</a:t>
            </a:r>
            <a:endParaRPr sz="1800"/>
          </a:p>
        </p:txBody>
      </p:sp>
      <p:sp>
        <p:nvSpPr>
          <p:cNvPr id="1514" name="Google Shape;1514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515" name="Google Shape;151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73875"/>
            <a:ext cx="2177125" cy="21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95"/>
          <p:cNvSpPr txBox="1"/>
          <p:nvPr>
            <p:ph idx="1" type="body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This composite shape has an area of 470.7 m².</a:t>
            </a:r>
            <a:endParaRPr sz="1800"/>
          </a:p>
        </p:txBody>
      </p:sp>
      <p:cxnSp>
        <p:nvCxnSpPr>
          <p:cNvPr id="1517" name="Google Shape;1517;p95"/>
          <p:cNvCxnSpPr/>
          <p:nvPr/>
        </p:nvCxnSpPr>
        <p:spPr>
          <a:xfrm rot="-5400000">
            <a:off x="792206" y="216402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95"/>
          <p:cNvCxnSpPr/>
          <p:nvPr/>
        </p:nvCxnSpPr>
        <p:spPr>
          <a:xfrm rot="-5400000">
            <a:off x="1838057" y="320897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95"/>
          <p:cNvCxnSpPr/>
          <p:nvPr/>
        </p:nvCxnSpPr>
        <p:spPr>
          <a:xfrm>
            <a:off x="1327069" y="2700733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20" name="Google Shape;1520;p95"/>
          <p:cNvGrpSpPr/>
          <p:nvPr/>
        </p:nvGrpSpPr>
        <p:grpSpPr>
          <a:xfrm>
            <a:off x="1400211" y="3349294"/>
            <a:ext cx="1046682" cy="227109"/>
            <a:chOff x="4150800" y="4092900"/>
            <a:chExt cx="842400" cy="227109"/>
          </a:xfrm>
        </p:grpSpPr>
        <p:cxnSp>
          <p:nvCxnSpPr>
            <p:cNvPr id="1521" name="Google Shape;1521;p95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22" name="Google Shape;1522;p95"/>
            <p:cNvSpPr/>
            <p:nvPr/>
          </p:nvSpPr>
          <p:spPr>
            <a:xfrm>
              <a:off x="4240590" y="4149009"/>
              <a:ext cx="662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3" name="Google Shape;1523;p95"/>
          <p:cNvGrpSpPr/>
          <p:nvPr/>
        </p:nvGrpSpPr>
        <p:grpSpPr>
          <a:xfrm>
            <a:off x="739088" y="1481400"/>
            <a:ext cx="277200" cy="277200"/>
            <a:chOff x="1020916" y="1442088"/>
            <a:chExt cx="457200" cy="457200"/>
          </a:xfrm>
        </p:grpSpPr>
        <p:pic>
          <p:nvPicPr>
            <p:cNvPr id="1524" name="Google Shape;152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5" name="Google Shape;152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6" name="Google Shape;1526;p95"/>
          <p:cNvGrpSpPr/>
          <p:nvPr/>
        </p:nvGrpSpPr>
        <p:grpSpPr>
          <a:xfrm>
            <a:off x="1784938" y="2562125"/>
            <a:ext cx="277200" cy="277200"/>
            <a:chOff x="1020916" y="1442088"/>
            <a:chExt cx="457200" cy="457200"/>
          </a:xfrm>
        </p:grpSpPr>
        <p:pic>
          <p:nvPicPr>
            <p:cNvPr id="1527" name="Google Shape;152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8" name="Google Shape;1528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9" name="Google Shape;1529;p95"/>
          <p:cNvGrpSpPr/>
          <p:nvPr/>
        </p:nvGrpSpPr>
        <p:grpSpPr>
          <a:xfrm>
            <a:off x="1784938" y="1481400"/>
            <a:ext cx="277200" cy="277200"/>
            <a:chOff x="1020916" y="1442088"/>
            <a:chExt cx="457200" cy="457200"/>
          </a:xfrm>
        </p:grpSpPr>
        <p:pic>
          <p:nvPicPr>
            <p:cNvPr id="1530" name="Google Shape;1530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1" name="Google Shape;1531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2" name="Google Shape;1532;p95"/>
          <p:cNvGrpSpPr/>
          <p:nvPr/>
        </p:nvGrpSpPr>
        <p:grpSpPr>
          <a:xfrm>
            <a:off x="4194220" y="1874250"/>
            <a:ext cx="277200" cy="277200"/>
            <a:chOff x="1020916" y="1442088"/>
            <a:chExt cx="457200" cy="457200"/>
          </a:xfrm>
        </p:grpSpPr>
        <p:pic>
          <p:nvPicPr>
            <p:cNvPr id="1533" name="Google Shape;153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4" name="Google Shape;153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5" name="Google Shape;1535;p95"/>
          <p:cNvSpPr txBox="1"/>
          <p:nvPr>
            <p:ph idx="4294967295" type="subTitle"/>
          </p:nvPr>
        </p:nvSpPr>
        <p:spPr>
          <a:xfrm>
            <a:off x="3319775" y="1865700"/>
            <a:ext cx="8316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 </a:t>
            </a:r>
            <a:endParaRPr sz="1800"/>
          </a:p>
        </p:txBody>
      </p:sp>
      <p:grpSp>
        <p:nvGrpSpPr>
          <p:cNvPr id="1536" name="Google Shape;1536;p95"/>
          <p:cNvGrpSpPr/>
          <p:nvPr/>
        </p:nvGrpSpPr>
        <p:grpSpPr>
          <a:xfrm>
            <a:off x="4194220" y="2279447"/>
            <a:ext cx="277200" cy="277200"/>
            <a:chOff x="1020916" y="1442088"/>
            <a:chExt cx="457200" cy="457200"/>
          </a:xfrm>
        </p:grpSpPr>
        <p:pic>
          <p:nvPicPr>
            <p:cNvPr id="1537" name="Google Shape;153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8" name="Google Shape;1538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9" name="Google Shape;1539;p95"/>
          <p:cNvSpPr txBox="1"/>
          <p:nvPr>
            <p:ph idx="4294967295" type="subTitle"/>
          </p:nvPr>
        </p:nvSpPr>
        <p:spPr>
          <a:xfrm>
            <a:off x="3319775" y="2270897"/>
            <a:ext cx="8316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 </a:t>
            </a:r>
            <a:endParaRPr sz="1800"/>
          </a:p>
        </p:txBody>
      </p:sp>
      <p:grpSp>
        <p:nvGrpSpPr>
          <p:cNvPr id="1540" name="Google Shape;1540;p95"/>
          <p:cNvGrpSpPr/>
          <p:nvPr/>
        </p:nvGrpSpPr>
        <p:grpSpPr>
          <a:xfrm>
            <a:off x="4194220" y="2684644"/>
            <a:ext cx="277200" cy="277200"/>
            <a:chOff x="1020916" y="1442088"/>
            <a:chExt cx="457200" cy="457200"/>
          </a:xfrm>
        </p:grpSpPr>
        <p:pic>
          <p:nvPicPr>
            <p:cNvPr id="1541" name="Google Shape;154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2" name="Google Shape;154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3" name="Google Shape;1543;p95"/>
          <p:cNvSpPr txBox="1"/>
          <p:nvPr>
            <p:ph idx="4294967295" type="subTitle"/>
          </p:nvPr>
        </p:nvSpPr>
        <p:spPr>
          <a:xfrm>
            <a:off x="3319775" y="2676094"/>
            <a:ext cx="8316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 </a:t>
            </a:r>
            <a:endParaRPr sz="1800"/>
          </a:p>
        </p:txBody>
      </p:sp>
      <p:sp>
        <p:nvSpPr>
          <p:cNvPr id="1544" name="Google Shape;1544;p95"/>
          <p:cNvSpPr txBox="1"/>
          <p:nvPr>
            <p:ph idx="4294967295" type="subTitle"/>
          </p:nvPr>
        </p:nvSpPr>
        <p:spPr>
          <a:xfrm>
            <a:off x="2699975" y="3315688"/>
            <a:ext cx="612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Show by factorising that the area of the composite shape can be written as: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545" name="Google Shape;1545;p95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3319775" y="3957750"/>
            <a:ext cx="277200" cy="4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95"/>
          <p:cNvSpPr txBox="1"/>
          <p:nvPr>
            <p:ph idx="4294967295" type="subTitle"/>
          </p:nvPr>
        </p:nvSpPr>
        <p:spPr>
          <a:xfrm>
            <a:off x="3632602" y="4001375"/>
            <a:ext cx="144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96"/>
          <p:cNvSpPr txBox="1"/>
          <p:nvPr>
            <p:ph idx="4294967295" type="subTitle"/>
          </p:nvPr>
        </p:nvSpPr>
        <p:spPr>
          <a:xfrm>
            <a:off x="2699975" y="1099638"/>
            <a:ext cx="612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Complete the calculation to find the radius of the quarter-circle, given to the nearest integer.</a:t>
            </a:r>
            <a:endParaRPr sz="1800"/>
          </a:p>
        </p:txBody>
      </p:sp>
      <p:sp>
        <p:nvSpPr>
          <p:cNvPr id="1552" name="Google Shape;1552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553" name="Google Shape;155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73875"/>
            <a:ext cx="2177125" cy="217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4" name="Google Shape;1554;p96"/>
          <p:cNvCxnSpPr/>
          <p:nvPr/>
        </p:nvCxnSpPr>
        <p:spPr>
          <a:xfrm rot="-5400000">
            <a:off x="792206" y="216402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96"/>
          <p:cNvCxnSpPr/>
          <p:nvPr/>
        </p:nvCxnSpPr>
        <p:spPr>
          <a:xfrm rot="-5400000">
            <a:off x="1838057" y="320897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96"/>
          <p:cNvCxnSpPr/>
          <p:nvPr/>
        </p:nvCxnSpPr>
        <p:spPr>
          <a:xfrm>
            <a:off x="1327069" y="2700733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57" name="Google Shape;1557;p96"/>
          <p:cNvGrpSpPr/>
          <p:nvPr/>
        </p:nvGrpSpPr>
        <p:grpSpPr>
          <a:xfrm>
            <a:off x="1400211" y="3349294"/>
            <a:ext cx="1046682" cy="227109"/>
            <a:chOff x="4150800" y="4092900"/>
            <a:chExt cx="842400" cy="227109"/>
          </a:xfrm>
        </p:grpSpPr>
        <p:cxnSp>
          <p:nvCxnSpPr>
            <p:cNvPr id="1558" name="Google Shape;1558;p96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59" name="Google Shape;1559;p96"/>
            <p:cNvSpPr/>
            <p:nvPr/>
          </p:nvSpPr>
          <p:spPr>
            <a:xfrm>
              <a:off x="4240590" y="4149009"/>
              <a:ext cx="662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0" name="Google Shape;1560;p96"/>
          <p:cNvGrpSpPr/>
          <p:nvPr/>
        </p:nvGrpSpPr>
        <p:grpSpPr>
          <a:xfrm>
            <a:off x="739088" y="1481400"/>
            <a:ext cx="277200" cy="277200"/>
            <a:chOff x="1020916" y="1442088"/>
            <a:chExt cx="457200" cy="457200"/>
          </a:xfrm>
        </p:grpSpPr>
        <p:pic>
          <p:nvPicPr>
            <p:cNvPr id="1561" name="Google Shape;156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3" name="Google Shape;1563;p96"/>
          <p:cNvGrpSpPr/>
          <p:nvPr/>
        </p:nvGrpSpPr>
        <p:grpSpPr>
          <a:xfrm>
            <a:off x="1784938" y="2562125"/>
            <a:ext cx="277200" cy="277200"/>
            <a:chOff x="1020916" y="1442088"/>
            <a:chExt cx="457200" cy="457200"/>
          </a:xfrm>
        </p:grpSpPr>
        <p:pic>
          <p:nvPicPr>
            <p:cNvPr id="1564" name="Google Shape;156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5" name="Google Shape;156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6" name="Google Shape;1566;p96"/>
          <p:cNvGrpSpPr/>
          <p:nvPr/>
        </p:nvGrpSpPr>
        <p:grpSpPr>
          <a:xfrm>
            <a:off x="1784938" y="1481400"/>
            <a:ext cx="277200" cy="277200"/>
            <a:chOff x="1020916" y="1442088"/>
            <a:chExt cx="457200" cy="457200"/>
          </a:xfrm>
        </p:grpSpPr>
        <p:pic>
          <p:nvPicPr>
            <p:cNvPr id="1567" name="Google Shape;156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8" name="Google Shape;156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569" name="Google Shape;1569;p96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3319775" y="1758600"/>
            <a:ext cx="277200" cy="4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96"/>
          <p:cNvSpPr txBox="1"/>
          <p:nvPr>
            <p:ph idx="4294967295" type="subTitle"/>
          </p:nvPr>
        </p:nvSpPr>
        <p:spPr>
          <a:xfrm>
            <a:off x="3632602" y="1802225"/>
            <a:ext cx="14937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1" name="Google Shape;1571;p96"/>
          <p:cNvSpPr txBox="1"/>
          <p:nvPr>
            <p:ph idx="4294967295" type="subTitle"/>
          </p:nvPr>
        </p:nvSpPr>
        <p:spPr>
          <a:xfrm>
            <a:off x="4862547" y="1802221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470.7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2" name="Google Shape;1572;p96"/>
          <p:cNvSpPr txBox="1"/>
          <p:nvPr>
            <p:ph idx="1" type="body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This composite shape has an area of 470.7 m².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97"/>
          <p:cNvSpPr/>
          <p:nvPr/>
        </p:nvSpPr>
        <p:spPr>
          <a:xfrm>
            <a:off x="5104200" y="1376333"/>
            <a:ext cx="885900" cy="34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7"/>
          <p:cNvSpPr/>
          <p:nvPr/>
        </p:nvSpPr>
        <p:spPr>
          <a:xfrm>
            <a:off x="6409925" y="1376325"/>
            <a:ext cx="378000" cy="34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7"/>
          <p:cNvSpPr txBox="1"/>
          <p:nvPr>
            <p:ph idx="1" type="body"/>
          </p:nvPr>
        </p:nvSpPr>
        <p:spPr>
          <a:xfrm>
            <a:off x="2441225" y="3684150"/>
            <a:ext cx="2471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divide: </a:t>
            </a:r>
            <a:endParaRPr sz="1800"/>
          </a:p>
        </p:txBody>
      </p:sp>
      <p:sp>
        <p:nvSpPr>
          <p:cNvPr id="1580" name="Google Shape;1580;p97"/>
          <p:cNvSpPr/>
          <p:nvPr/>
        </p:nvSpPr>
        <p:spPr>
          <a:xfrm>
            <a:off x="5659450" y="2149125"/>
            <a:ext cx="11286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97"/>
          <p:cNvSpPr txBox="1"/>
          <p:nvPr>
            <p:ph idx="4294967295" type="subTitle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This composite shape has an area of 11 633.7 mm².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Complete the steps to calculate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, giving your answer to the closest integer.</a:t>
            </a:r>
            <a:endParaRPr sz="1800"/>
          </a:p>
        </p:txBody>
      </p:sp>
      <p:sp>
        <p:nvSpPr>
          <p:cNvPr id="1582" name="Google Shape;1582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583" name="Google Shape;1583;p97"/>
          <p:cNvPicPr preferRelativeResize="0"/>
          <p:nvPr/>
        </p:nvPicPr>
        <p:blipFill rotWithShape="1">
          <a:blip r:embed="rId3">
            <a:alphaModFix/>
          </a:blip>
          <a:srcRect b="53056" l="0" r="70349" t="2060"/>
          <a:stretch/>
        </p:blipFill>
        <p:spPr>
          <a:xfrm>
            <a:off x="324000" y="1668250"/>
            <a:ext cx="2243125" cy="2229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4" name="Google Shape;1584;p97"/>
          <p:cNvGrpSpPr/>
          <p:nvPr/>
        </p:nvGrpSpPr>
        <p:grpSpPr>
          <a:xfrm>
            <a:off x="1023928" y="2669765"/>
            <a:ext cx="854036" cy="227110"/>
            <a:chOff x="4047154" y="4092900"/>
            <a:chExt cx="1049700" cy="227110"/>
          </a:xfrm>
        </p:grpSpPr>
        <p:cxnSp>
          <p:nvCxnSpPr>
            <p:cNvPr id="1585" name="Google Shape;1585;p97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86" name="Google Shape;1586;p97"/>
            <p:cNvSpPr/>
            <p:nvPr/>
          </p:nvSpPr>
          <p:spPr>
            <a:xfrm>
              <a:off x="4047154" y="4149010"/>
              <a:ext cx="1049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587" name="Google Shape;1587;p97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70977" r="17510" t="0"/>
          <a:stretch/>
        </p:blipFill>
        <p:spPr>
          <a:xfrm>
            <a:off x="6103756" y="1287250"/>
            <a:ext cx="24227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97"/>
          <p:cNvSpPr txBox="1"/>
          <p:nvPr>
            <p:ph idx="4294967295" type="body"/>
          </p:nvPr>
        </p:nvSpPr>
        <p:spPr>
          <a:xfrm>
            <a:off x="5104200" y="1724625"/>
            <a:ext cx="88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circle</a:t>
            </a:r>
            <a:endParaRPr sz="1800"/>
          </a:p>
        </p:txBody>
      </p:sp>
      <p:sp>
        <p:nvSpPr>
          <p:cNvPr id="1589" name="Google Shape;1589;p97"/>
          <p:cNvSpPr txBox="1"/>
          <p:nvPr>
            <p:ph idx="4294967295" type="body"/>
          </p:nvPr>
        </p:nvSpPr>
        <p:spPr>
          <a:xfrm>
            <a:off x="6409925" y="1724625"/>
            <a:ext cx="88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square</a:t>
            </a:r>
            <a:endParaRPr sz="1800"/>
          </a:p>
        </p:txBody>
      </p:sp>
      <p:sp>
        <p:nvSpPr>
          <p:cNvPr id="1590" name="Google Shape;1590;p97"/>
          <p:cNvSpPr txBox="1"/>
          <p:nvPr>
            <p:ph idx="4294967295" type="subTitle"/>
          </p:nvPr>
        </p:nvSpPr>
        <p:spPr>
          <a:xfrm>
            <a:off x="6951775" y="1389250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1" name="Google Shape;1591;p97"/>
          <p:cNvSpPr txBox="1"/>
          <p:nvPr>
            <p:ph idx="4294967295" type="subTitle"/>
          </p:nvPr>
        </p:nvSpPr>
        <p:spPr>
          <a:xfrm>
            <a:off x="3455125" y="1403325"/>
            <a:ext cx="1457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592" name="Google Shape;1592;p97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0" t="0"/>
          <a:stretch/>
        </p:blipFill>
        <p:spPr>
          <a:xfrm>
            <a:off x="5392125" y="2135000"/>
            <a:ext cx="22457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97"/>
          <p:cNvSpPr txBox="1"/>
          <p:nvPr>
            <p:ph idx="4294967295" type="subTitle"/>
          </p:nvPr>
        </p:nvSpPr>
        <p:spPr>
          <a:xfrm>
            <a:off x="6951775" y="2237000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4" name="Google Shape;1594;p97"/>
          <p:cNvSpPr txBox="1"/>
          <p:nvPr>
            <p:ph idx="4294967295" type="subTitle"/>
          </p:nvPr>
        </p:nvSpPr>
        <p:spPr>
          <a:xfrm>
            <a:off x="3455125" y="2251075"/>
            <a:ext cx="1457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factorise: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595" name="Google Shape;1595;p97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>
            <a:off x="5665178" y="2105875"/>
            <a:ext cx="1092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596" name="Google Shape;1596;p97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 flipH="1">
            <a:off x="6675448" y="2105875"/>
            <a:ext cx="10922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97"/>
          <p:cNvSpPr/>
          <p:nvPr/>
        </p:nvSpPr>
        <p:spPr>
          <a:xfrm>
            <a:off x="5659450" y="2851100"/>
            <a:ext cx="11286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598" name="Google Shape;1598;p97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0" t="0"/>
          <a:stretch/>
        </p:blipFill>
        <p:spPr>
          <a:xfrm>
            <a:off x="5392125" y="2836975"/>
            <a:ext cx="22457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97"/>
          <p:cNvSpPr txBox="1"/>
          <p:nvPr>
            <p:ph idx="4294967295" type="subTitle"/>
          </p:nvPr>
        </p:nvSpPr>
        <p:spPr>
          <a:xfrm>
            <a:off x="6951775" y="2938975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0" name="Google Shape;1600;p97"/>
          <p:cNvSpPr txBox="1"/>
          <p:nvPr>
            <p:ph idx="4294967295" type="subTitle"/>
          </p:nvPr>
        </p:nvSpPr>
        <p:spPr>
          <a:xfrm>
            <a:off x="2441225" y="2953050"/>
            <a:ext cx="2471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convert π expression into decimal: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601" name="Google Shape;1601;p97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>
            <a:off x="5665178" y="2807850"/>
            <a:ext cx="1092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602" name="Google Shape;1602;p97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 flipH="1">
            <a:off x="6675448" y="2807850"/>
            <a:ext cx="1092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603" name="Google Shape;1603;p97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0" t="0"/>
          <a:stretch/>
        </p:blipFill>
        <p:spPr>
          <a:xfrm>
            <a:off x="5392125" y="3568075"/>
            <a:ext cx="22457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97"/>
          <p:cNvSpPr txBox="1"/>
          <p:nvPr>
            <p:ph idx="4294967295" type="subTitle"/>
          </p:nvPr>
        </p:nvSpPr>
        <p:spPr>
          <a:xfrm>
            <a:off x="6951775" y="3670075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5" name="Google Shape;1605;p97"/>
          <p:cNvSpPr/>
          <p:nvPr/>
        </p:nvSpPr>
        <p:spPr>
          <a:xfrm>
            <a:off x="7226925" y="3582200"/>
            <a:ext cx="11286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7"/>
          <p:cNvSpPr txBox="1"/>
          <p:nvPr>
            <p:ph idx="4294967295" type="subTitle"/>
          </p:nvPr>
        </p:nvSpPr>
        <p:spPr>
          <a:xfrm>
            <a:off x="2441225" y="4415250"/>
            <a:ext cx="2471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square root: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607" name="Google Shape;1607;p97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4239" t="0"/>
          <a:stretch/>
        </p:blipFill>
        <p:spPr>
          <a:xfrm>
            <a:off x="5392125" y="4299175"/>
            <a:ext cx="13535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97"/>
          <p:cNvSpPr txBox="1"/>
          <p:nvPr>
            <p:ph idx="4294967295" type="subTitle"/>
          </p:nvPr>
        </p:nvSpPr>
        <p:spPr>
          <a:xfrm>
            <a:off x="6951775" y="4401175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9" name="Google Shape;1609;p97"/>
          <p:cNvSpPr/>
          <p:nvPr/>
        </p:nvSpPr>
        <p:spPr>
          <a:xfrm>
            <a:off x="7226925" y="4313300"/>
            <a:ext cx="11286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98"/>
          <p:cNvPicPr preferRelativeResize="0"/>
          <p:nvPr/>
        </p:nvPicPr>
        <p:blipFill rotWithShape="1">
          <a:blip r:embed="rId3">
            <a:alphaModFix/>
          </a:blip>
          <a:srcRect b="51881" l="77095" r="0" t="0"/>
          <a:stretch/>
        </p:blipFill>
        <p:spPr>
          <a:xfrm>
            <a:off x="323999" y="1359437"/>
            <a:ext cx="1732825" cy="23905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grpSp>
        <p:nvGrpSpPr>
          <p:cNvPr id="1616" name="Google Shape;1616;p98"/>
          <p:cNvGrpSpPr/>
          <p:nvPr/>
        </p:nvGrpSpPr>
        <p:grpSpPr>
          <a:xfrm>
            <a:off x="387961" y="2330727"/>
            <a:ext cx="854036" cy="227110"/>
            <a:chOff x="4047154" y="4092900"/>
            <a:chExt cx="1049700" cy="227110"/>
          </a:xfrm>
        </p:grpSpPr>
        <p:cxnSp>
          <p:nvCxnSpPr>
            <p:cNvPr id="1617" name="Google Shape;1617;p98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18" name="Google Shape;1618;p98"/>
            <p:cNvSpPr/>
            <p:nvPr/>
          </p:nvSpPr>
          <p:spPr>
            <a:xfrm>
              <a:off x="4047154" y="4149010"/>
              <a:ext cx="1049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9" name="Google Shape;1619;p98"/>
          <p:cNvSpPr txBox="1"/>
          <p:nvPr>
            <p:ph idx="4294967295" type="subTitle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This composite shape has an area of 4031 cm².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, giving your answer to the closest integer.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99"/>
          <p:cNvSpPr txBox="1"/>
          <p:nvPr>
            <p:ph idx="4294967295" type="subTitle"/>
          </p:nvPr>
        </p:nvSpPr>
        <p:spPr>
          <a:xfrm>
            <a:off x="2699975" y="1099638"/>
            <a:ext cx="612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Write down the areas, in terms of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, for the three component parts of this shape.</a:t>
            </a:r>
            <a:endParaRPr sz="1800"/>
          </a:p>
        </p:txBody>
      </p:sp>
      <p:sp>
        <p:nvSpPr>
          <p:cNvPr id="1625" name="Google Shape;1625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626" name="Google Shape;162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73875"/>
            <a:ext cx="2177125" cy="217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7" name="Google Shape;1627;p99"/>
          <p:cNvCxnSpPr/>
          <p:nvPr/>
        </p:nvCxnSpPr>
        <p:spPr>
          <a:xfrm rot="-5400000">
            <a:off x="792206" y="216402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99"/>
          <p:cNvCxnSpPr/>
          <p:nvPr/>
        </p:nvCxnSpPr>
        <p:spPr>
          <a:xfrm rot="-5400000">
            <a:off x="1838057" y="320897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99"/>
          <p:cNvCxnSpPr/>
          <p:nvPr/>
        </p:nvCxnSpPr>
        <p:spPr>
          <a:xfrm>
            <a:off x="1327069" y="2700733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30" name="Google Shape;1630;p99"/>
          <p:cNvGrpSpPr/>
          <p:nvPr/>
        </p:nvGrpSpPr>
        <p:grpSpPr>
          <a:xfrm>
            <a:off x="1400211" y="3349294"/>
            <a:ext cx="1046682" cy="227109"/>
            <a:chOff x="4150800" y="4092900"/>
            <a:chExt cx="842400" cy="227109"/>
          </a:xfrm>
        </p:grpSpPr>
        <p:cxnSp>
          <p:nvCxnSpPr>
            <p:cNvPr id="1631" name="Google Shape;1631;p99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32" name="Google Shape;1632;p99"/>
            <p:cNvSpPr/>
            <p:nvPr/>
          </p:nvSpPr>
          <p:spPr>
            <a:xfrm>
              <a:off x="4240590" y="4149009"/>
              <a:ext cx="662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3" name="Google Shape;1633;p99"/>
          <p:cNvGrpSpPr/>
          <p:nvPr/>
        </p:nvGrpSpPr>
        <p:grpSpPr>
          <a:xfrm>
            <a:off x="739088" y="1481400"/>
            <a:ext cx="277200" cy="277200"/>
            <a:chOff x="1020916" y="1442088"/>
            <a:chExt cx="457200" cy="457200"/>
          </a:xfrm>
        </p:grpSpPr>
        <p:pic>
          <p:nvPicPr>
            <p:cNvPr id="1634" name="Google Shape;163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5" name="Google Shape;163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6" name="Google Shape;1636;p99"/>
          <p:cNvGrpSpPr/>
          <p:nvPr/>
        </p:nvGrpSpPr>
        <p:grpSpPr>
          <a:xfrm>
            <a:off x="1784938" y="2562125"/>
            <a:ext cx="277200" cy="277200"/>
            <a:chOff x="1020916" y="1442088"/>
            <a:chExt cx="457200" cy="457200"/>
          </a:xfrm>
        </p:grpSpPr>
        <p:pic>
          <p:nvPicPr>
            <p:cNvPr id="1637" name="Google Shape;163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8" name="Google Shape;163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9" name="Google Shape;1639;p99"/>
          <p:cNvGrpSpPr/>
          <p:nvPr/>
        </p:nvGrpSpPr>
        <p:grpSpPr>
          <a:xfrm>
            <a:off x="1784938" y="1481400"/>
            <a:ext cx="277200" cy="277200"/>
            <a:chOff x="1020916" y="1442088"/>
            <a:chExt cx="457200" cy="457200"/>
          </a:xfrm>
        </p:grpSpPr>
        <p:pic>
          <p:nvPicPr>
            <p:cNvPr id="1640" name="Google Shape;164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2" name="Google Shape;1642;p99"/>
          <p:cNvGrpSpPr/>
          <p:nvPr/>
        </p:nvGrpSpPr>
        <p:grpSpPr>
          <a:xfrm>
            <a:off x="4194220" y="1874250"/>
            <a:ext cx="277200" cy="277200"/>
            <a:chOff x="1020916" y="1442088"/>
            <a:chExt cx="457200" cy="457200"/>
          </a:xfrm>
        </p:grpSpPr>
        <p:pic>
          <p:nvPicPr>
            <p:cNvPr id="1643" name="Google Shape;164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4" name="Google Shape;164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5" name="Google Shape;1645;p99"/>
          <p:cNvSpPr txBox="1"/>
          <p:nvPr>
            <p:ph idx="4294967295" type="subTitle"/>
          </p:nvPr>
        </p:nvSpPr>
        <p:spPr>
          <a:xfrm>
            <a:off x="3319775" y="1865700"/>
            <a:ext cx="8316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 </a:t>
            </a:r>
            <a:endParaRPr sz="1800"/>
          </a:p>
        </p:txBody>
      </p:sp>
      <p:grpSp>
        <p:nvGrpSpPr>
          <p:cNvPr id="1646" name="Google Shape;1646;p99"/>
          <p:cNvGrpSpPr/>
          <p:nvPr/>
        </p:nvGrpSpPr>
        <p:grpSpPr>
          <a:xfrm>
            <a:off x="4194220" y="2599247"/>
            <a:ext cx="277200" cy="277200"/>
            <a:chOff x="1020916" y="1442088"/>
            <a:chExt cx="457200" cy="457200"/>
          </a:xfrm>
        </p:grpSpPr>
        <p:pic>
          <p:nvPicPr>
            <p:cNvPr id="1647" name="Google Shape;164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8" name="Google Shape;164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9" name="Google Shape;1649;p99"/>
          <p:cNvSpPr txBox="1"/>
          <p:nvPr>
            <p:ph idx="4294967295" type="subTitle"/>
          </p:nvPr>
        </p:nvSpPr>
        <p:spPr>
          <a:xfrm>
            <a:off x="3319775" y="2590697"/>
            <a:ext cx="8316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 </a:t>
            </a:r>
            <a:endParaRPr sz="1800"/>
          </a:p>
        </p:txBody>
      </p:sp>
      <p:grpSp>
        <p:nvGrpSpPr>
          <p:cNvPr id="1650" name="Google Shape;1650;p99"/>
          <p:cNvGrpSpPr/>
          <p:nvPr/>
        </p:nvGrpSpPr>
        <p:grpSpPr>
          <a:xfrm>
            <a:off x="6344420" y="1874244"/>
            <a:ext cx="277200" cy="277200"/>
            <a:chOff x="1020916" y="1442088"/>
            <a:chExt cx="457200" cy="457200"/>
          </a:xfrm>
        </p:grpSpPr>
        <p:pic>
          <p:nvPicPr>
            <p:cNvPr id="1651" name="Google Shape;165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2" name="Google Shape;16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3" name="Google Shape;1653;p99"/>
          <p:cNvSpPr txBox="1"/>
          <p:nvPr>
            <p:ph idx="4294967295" type="subTitle"/>
          </p:nvPr>
        </p:nvSpPr>
        <p:spPr>
          <a:xfrm>
            <a:off x="5469975" y="1865694"/>
            <a:ext cx="8316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of </a:t>
            </a:r>
            <a:endParaRPr sz="1800"/>
          </a:p>
        </p:txBody>
      </p:sp>
      <p:sp>
        <p:nvSpPr>
          <p:cNvPr id="1654" name="Google Shape;1654;p99"/>
          <p:cNvSpPr txBox="1"/>
          <p:nvPr>
            <p:ph idx="4294967295" type="subTitle"/>
          </p:nvPr>
        </p:nvSpPr>
        <p:spPr>
          <a:xfrm>
            <a:off x="2699975" y="3315688"/>
            <a:ext cx="612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Show by factorising that the area of the composite shape can be written as: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655" name="Google Shape;1655;p99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6621625" y="4033950"/>
            <a:ext cx="277200" cy="4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99"/>
          <p:cNvSpPr txBox="1"/>
          <p:nvPr>
            <p:ph idx="4294967295" type="subTitle"/>
          </p:nvPr>
        </p:nvSpPr>
        <p:spPr>
          <a:xfrm>
            <a:off x="6934451" y="4077575"/>
            <a:ext cx="13731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1657" name="Google Shape;1657;p99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0" r="84947" t="0"/>
          <a:stretch/>
        </p:blipFill>
        <p:spPr>
          <a:xfrm>
            <a:off x="6712050" y="1728450"/>
            <a:ext cx="747150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1658" name="Google Shape;1658;p99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10795" r="84947" t="0"/>
          <a:stretch/>
        </p:blipFill>
        <p:spPr>
          <a:xfrm>
            <a:off x="4522322" y="1728450"/>
            <a:ext cx="211276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1659" name="Google Shape;1659;p99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10795" r="84947" t="0"/>
          <a:stretch/>
        </p:blipFill>
        <p:spPr>
          <a:xfrm>
            <a:off x="4522322" y="2453450"/>
            <a:ext cx="211276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1660" name="Google Shape;1660;p99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29745" r="0" t="0"/>
          <a:stretch/>
        </p:blipFill>
        <p:spPr>
          <a:xfrm>
            <a:off x="2661813" y="3957725"/>
            <a:ext cx="348732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99"/>
          <p:cNvSpPr txBox="1"/>
          <p:nvPr>
            <p:ph idx="4294967295" type="subTitle"/>
          </p:nvPr>
        </p:nvSpPr>
        <p:spPr>
          <a:xfrm>
            <a:off x="4359136" y="4077575"/>
            <a:ext cx="211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2" name="Google Shape;1662;p99"/>
          <p:cNvSpPr txBox="1"/>
          <p:nvPr>
            <p:ph idx="4294967295" type="subTitle"/>
          </p:nvPr>
        </p:nvSpPr>
        <p:spPr>
          <a:xfrm>
            <a:off x="6279765" y="4077575"/>
            <a:ext cx="211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3" name="Google Shape;1663;p99"/>
          <p:cNvSpPr txBox="1"/>
          <p:nvPr>
            <p:ph idx="1" type="body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This composite shape has an area of 470.7 m².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00"/>
          <p:cNvSpPr txBox="1"/>
          <p:nvPr>
            <p:ph idx="4294967295" type="subTitle"/>
          </p:nvPr>
        </p:nvSpPr>
        <p:spPr>
          <a:xfrm>
            <a:off x="2699975" y="1099638"/>
            <a:ext cx="612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Complete the calculation to find the radius of the quarter-circle, given to the nearest integer.</a:t>
            </a:r>
            <a:endParaRPr sz="1800"/>
          </a:p>
        </p:txBody>
      </p:sp>
      <p:sp>
        <p:nvSpPr>
          <p:cNvPr id="1669" name="Google Shape;1669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670" name="Google Shape;167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73875"/>
            <a:ext cx="2177125" cy="217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1" name="Google Shape;1671;p100"/>
          <p:cNvCxnSpPr/>
          <p:nvPr/>
        </p:nvCxnSpPr>
        <p:spPr>
          <a:xfrm rot="-5400000">
            <a:off x="792206" y="216402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2" name="Google Shape;1672;p100"/>
          <p:cNvCxnSpPr/>
          <p:nvPr/>
        </p:nvCxnSpPr>
        <p:spPr>
          <a:xfrm rot="-5400000">
            <a:off x="1838057" y="3208979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3" name="Google Shape;1673;p100"/>
          <p:cNvCxnSpPr/>
          <p:nvPr/>
        </p:nvCxnSpPr>
        <p:spPr>
          <a:xfrm>
            <a:off x="1327069" y="2700733"/>
            <a:ext cx="1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74" name="Google Shape;1674;p100"/>
          <p:cNvGrpSpPr/>
          <p:nvPr/>
        </p:nvGrpSpPr>
        <p:grpSpPr>
          <a:xfrm>
            <a:off x="1400211" y="3349294"/>
            <a:ext cx="1046682" cy="227109"/>
            <a:chOff x="4150800" y="4092900"/>
            <a:chExt cx="842400" cy="227109"/>
          </a:xfrm>
        </p:grpSpPr>
        <p:cxnSp>
          <p:nvCxnSpPr>
            <p:cNvPr id="1675" name="Google Shape;1675;p100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76" name="Google Shape;1676;p100"/>
            <p:cNvSpPr/>
            <p:nvPr/>
          </p:nvSpPr>
          <p:spPr>
            <a:xfrm>
              <a:off x="4240590" y="4149009"/>
              <a:ext cx="662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7" name="Google Shape;1677;p100"/>
          <p:cNvGrpSpPr/>
          <p:nvPr/>
        </p:nvGrpSpPr>
        <p:grpSpPr>
          <a:xfrm>
            <a:off x="739088" y="1481400"/>
            <a:ext cx="277200" cy="277200"/>
            <a:chOff x="1020916" y="1442088"/>
            <a:chExt cx="457200" cy="457200"/>
          </a:xfrm>
        </p:grpSpPr>
        <p:pic>
          <p:nvPicPr>
            <p:cNvPr id="1678" name="Google Shape;167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0" name="Google Shape;1680;p100"/>
          <p:cNvGrpSpPr/>
          <p:nvPr/>
        </p:nvGrpSpPr>
        <p:grpSpPr>
          <a:xfrm>
            <a:off x="1784938" y="2562125"/>
            <a:ext cx="277200" cy="277200"/>
            <a:chOff x="1020916" y="1442088"/>
            <a:chExt cx="457200" cy="457200"/>
          </a:xfrm>
        </p:grpSpPr>
        <p:pic>
          <p:nvPicPr>
            <p:cNvPr id="1681" name="Google Shape;168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2" name="Google Shape;168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3" name="Google Shape;1683;p100"/>
          <p:cNvGrpSpPr/>
          <p:nvPr/>
        </p:nvGrpSpPr>
        <p:grpSpPr>
          <a:xfrm>
            <a:off x="1784938" y="1481400"/>
            <a:ext cx="277200" cy="277200"/>
            <a:chOff x="1020916" y="1442088"/>
            <a:chExt cx="457200" cy="457200"/>
          </a:xfrm>
        </p:grpSpPr>
        <p:pic>
          <p:nvPicPr>
            <p:cNvPr id="1684" name="Google Shape;168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686" name="Google Shape;1686;p100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3319775" y="1758600"/>
            <a:ext cx="277200" cy="4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00"/>
          <p:cNvSpPr txBox="1"/>
          <p:nvPr>
            <p:ph idx="4294967295" type="subTitle"/>
          </p:nvPr>
        </p:nvSpPr>
        <p:spPr>
          <a:xfrm>
            <a:off x="3632601" y="1802225"/>
            <a:ext cx="1323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8" name="Google Shape;1688;p100"/>
          <p:cNvSpPr txBox="1"/>
          <p:nvPr>
            <p:ph idx="4294967295" type="subTitle"/>
          </p:nvPr>
        </p:nvSpPr>
        <p:spPr>
          <a:xfrm>
            <a:off x="4786347" y="1802221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470.7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689" name="Google Shape;1689;p100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4386575" y="2392650"/>
            <a:ext cx="277200" cy="4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00"/>
          <p:cNvSpPr txBox="1"/>
          <p:nvPr>
            <p:ph idx="4294967295" type="subTitle"/>
          </p:nvPr>
        </p:nvSpPr>
        <p:spPr>
          <a:xfrm>
            <a:off x="4786347" y="2436271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169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691" name="Google Shape;1691;p100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43514" t="13402"/>
          <a:stretch/>
        </p:blipFill>
        <p:spPr>
          <a:xfrm>
            <a:off x="4386575" y="3026700"/>
            <a:ext cx="135350" cy="4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100"/>
          <p:cNvSpPr txBox="1"/>
          <p:nvPr>
            <p:ph idx="4294967295" type="subTitle"/>
          </p:nvPr>
        </p:nvSpPr>
        <p:spPr>
          <a:xfrm>
            <a:off x="4786347" y="3070321"/>
            <a:ext cx="10722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13 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3" name="Google Shape;1693;p100"/>
          <p:cNvSpPr txBox="1"/>
          <p:nvPr>
            <p:ph idx="1" type="body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This composite shape has an area of 470.7 m².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01"/>
          <p:cNvSpPr/>
          <p:nvPr/>
        </p:nvSpPr>
        <p:spPr>
          <a:xfrm>
            <a:off x="5659450" y="2149125"/>
            <a:ext cx="11286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pic>
        <p:nvPicPr>
          <p:cNvPr id="1700" name="Google Shape;1700;p101"/>
          <p:cNvPicPr preferRelativeResize="0"/>
          <p:nvPr/>
        </p:nvPicPr>
        <p:blipFill rotWithShape="1">
          <a:blip r:embed="rId3">
            <a:alphaModFix/>
          </a:blip>
          <a:srcRect b="53056" l="0" r="70349" t="2060"/>
          <a:stretch/>
        </p:blipFill>
        <p:spPr>
          <a:xfrm>
            <a:off x="324000" y="1668250"/>
            <a:ext cx="2243125" cy="2229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1" name="Google Shape;1701;p101"/>
          <p:cNvGrpSpPr/>
          <p:nvPr/>
        </p:nvGrpSpPr>
        <p:grpSpPr>
          <a:xfrm>
            <a:off x="1023928" y="2669765"/>
            <a:ext cx="854036" cy="227110"/>
            <a:chOff x="4047154" y="4092900"/>
            <a:chExt cx="1049700" cy="227110"/>
          </a:xfrm>
        </p:grpSpPr>
        <p:cxnSp>
          <p:nvCxnSpPr>
            <p:cNvPr id="1702" name="Google Shape;1702;p10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03" name="Google Shape;1703;p101"/>
            <p:cNvSpPr/>
            <p:nvPr/>
          </p:nvSpPr>
          <p:spPr>
            <a:xfrm>
              <a:off x="4047154" y="4149010"/>
              <a:ext cx="1049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704" name="Google Shape;1704;p101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27135" r="36775" t="0"/>
          <a:stretch/>
        </p:blipFill>
        <p:spPr>
          <a:xfrm>
            <a:off x="5180400" y="1287250"/>
            <a:ext cx="7595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705" name="Google Shape;1705;p101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70977" r="0" t="0"/>
          <a:stretch/>
        </p:blipFill>
        <p:spPr>
          <a:xfrm>
            <a:off x="6103760" y="1287250"/>
            <a:ext cx="610799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01"/>
          <p:cNvSpPr/>
          <p:nvPr/>
        </p:nvSpPr>
        <p:spPr>
          <a:xfrm>
            <a:off x="5104200" y="1376333"/>
            <a:ext cx="885900" cy="34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01"/>
          <p:cNvSpPr txBox="1"/>
          <p:nvPr>
            <p:ph idx="4294967295" type="body"/>
          </p:nvPr>
        </p:nvSpPr>
        <p:spPr>
          <a:xfrm>
            <a:off x="5104200" y="1724625"/>
            <a:ext cx="88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circle</a:t>
            </a:r>
            <a:endParaRPr sz="1800"/>
          </a:p>
        </p:txBody>
      </p:sp>
      <p:sp>
        <p:nvSpPr>
          <p:cNvPr id="1708" name="Google Shape;1708;p101"/>
          <p:cNvSpPr/>
          <p:nvPr/>
        </p:nvSpPr>
        <p:spPr>
          <a:xfrm>
            <a:off x="6409925" y="1376325"/>
            <a:ext cx="378000" cy="34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01"/>
          <p:cNvSpPr txBox="1"/>
          <p:nvPr>
            <p:ph idx="4294967295" type="body"/>
          </p:nvPr>
        </p:nvSpPr>
        <p:spPr>
          <a:xfrm>
            <a:off x="6409925" y="1724625"/>
            <a:ext cx="88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square</a:t>
            </a:r>
            <a:endParaRPr sz="1800"/>
          </a:p>
        </p:txBody>
      </p:sp>
      <p:sp>
        <p:nvSpPr>
          <p:cNvPr id="1710" name="Google Shape;1710;p101"/>
          <p:cNvSpPr txBox="1"/>
          <p:nvPr>
            <p:ph idx="4294967295" type="subTitle"/>
          </p:nvPr>
        </p:nvSpPr>
        <p:spPr>
          <a:xfrm>
            <a:off x="6951775" y="1389250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1" name="Google Shape;1711;p101"/>
          <p:cNvSpPr txBox="1"/>
          <p:nvPr>
            <p:ph idx="4294967295" type="subTitle"/>
          </p:nvPr>
        </p:nvSpPr>
        <p:spPr>
          <a:xfrm>
            <a:off x="3455125" y="1403325"/>
            <a:ext cx="1457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712" name="Google Shape;1712;p101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0" t="0"/>
          <a:stretch/>
        </p:blipFill>
        <p:spPr>
          <a:xfrm>
            <a:off x="5392125" y="2135000"/>
            <a:ext cx="22457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01"/>
          <p:cNvSpPr txBox="1"/>
          <p:nvPr>
            <p:ph idx="4294967295" type="subTitle"/>
          </p:nvPr>
        </p:nvSpPr>
        <p:spPr>
          <a:xfrm>
            <a:off x="6951775" y="2237000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4" name="Google Shape;1714;p101"/>
          <p:cNvSpPr txBox="1"/>
          <p:nvPr>
            <p:ph idx="4294967295" type="subTitle"/>
          </p:nvPr>
        </p:nvSpPr>
        <p:spPr>
          <a:xfrm>
            <a:off x="3455125" y="2251075"/>
            <a:ext cx="1457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factorise: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715" name="Google Shape;1715;p101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>
            <a:off x="5665178" y="2105875"/>
            <a:ext cx="1092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716" name="Google Shape;1716;p101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 flipH="1">
            <a:off x="6675448" y="2105875"/>
            <a:ext cx="109225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101"/>
          <p:cNvSpPr/>
          <p:nvPr/>
        </p:nvSpPr>
        <p:spPr>
          <a:xfrm>
            <a:off x="5659450" y="2851100"/>
            <a:ext cx="11286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718" name="Google Shape;1718;p101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0" t="0"/>
          <a:stretch/>
        </p:blipFill>
        <p:spPr>
          <a:xfrm>
            <a:off x="5239725" y="2836975"/>
            <a:ext cx="22457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101"/>
          <p:cNvSpPr txBox="1"/>
          <p:nvPr>
            <p:ph idx="4294967295" type="subTitle"/>
          </p:nvPr>
        </p:nvSpPr>
        <p:spPr>
          <a:xfrm>
            <a:off x="6951775" y="2938975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0" name="Google Shape;1720;p101"/>
          <p:cNvSpPr txBox="1"/>
          <p:nvPr>
            <p:ph idx="4294967295" type="subTitle"/>
          </p:nvPr>
        </p:nvSpPr>
        <p:spPr>
          <a:xfrm>
            <a:off x="2441225" y="2953050"/>
            <a:ext cx="2471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convert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expression into decimal: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721" name="Google Shape;1721;p101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>
            <a:off x="5665178" y="2807850"/>
            <a:ext cx="1092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1722" name="Google Shape;1722;p101" title="one half open paren close paren"/>
          <p:cNvPicPr preferRelativeResize="0"/>
          <p:nvPr/>
        </p:nvPicPr>
        <p:blipFill rotWithShape="1">
          <a:blip r:embed="rId5">
            <a:alphaModFix/>
          </a:blip>
          <a:srcRect b="0" l="25606" r="68076" t="0"/>
          <a:stretch/>
        </p:blipFill>
        <p:spPr>
          <a:xfrm flipH="1">
            <a:off x="6675448" y="2807850"/>
            <a:ext cx="10922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723" name="Google Shape;1723;p101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0" t="0"/>
          <a:stretch/>
        </p:blipFill>
        <p:spPr>
          <a:xfrm>
            <a:off x="5392125" y="3568075"/>
            <a:ext cx="224574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p101"/>
          <p:cNvSpPr txBox="1"/>
          <p:nvPr>
            <p:ph idx="4294967295" type="subTitle"/>
          </p:nvPr>
        </p:nvSpPr>
        <p:spPr>
          <a:xfrm>
            <a:off x="6951775" y="3670075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5" name="Google Shape;1725;p101"/>
          <p:cNvSpPr/>
          <p:nvPr/>
        </p:nvSpPr>
        <p:spPr>
          <a:xfrm>
            <a:off x="7226925" y="3582200"/>
            <a:ext cx="13989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01"/>
          <p:cNvSpPr txBox="1"/>
          <p:nvPr>
            <p:ph idx="4294967295" type="subTitle"/>
          </p:nvPr>
        </p:nvSpPr>
        <p:spPr>
          <a:xfrm>
            <a:off x="2441225" y="4415250"/>
            <a:ext cx="2471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square root: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1727" name="Google Shape;1727;p101" title="one half pi times r squared plus r squared"/>
          <p:cNvPicPr preferRelativeResize="0"/>
          <p:nvPr/>
        </p:nvPicPr>
        <p:blipFill rotWithShape="1">
          <a:blip r:embed="rId4">
            <a:alphaModFix/>
          </a:blip>
          <a:srcRect b="0" l="89329" r="4239" t="0"/>
          <a:stretch/>
        </p:blipFill>
        <p:spPr>
          <a:xfrm>
            <a:off x="5392125" y="4299175"/>
            <a:ext cx="135350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101"/>
          <p:cNvSpPr txBox="1"/>
          <p:nvPr>
            <p:ph idx="4294967295" type="subTitle"/>
          </p:nvPr>
        </p:nvSpPr>
        <p:spPr>
          <a:xfrm>
            <a:off x="6951775" y="4401175"/>
            <a:ext cx="15660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9" name="Google Shape;1729;p101"/>
          <p:cNvSpPr/>
          <p:nvPr/>
        </p:nvSpPr>
        <p:spPr>
          <a:xfrm>
            <a:off x="7226925" y="4313300"/>
            <a:ext cx="1128600" cy="4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01"/>
          <p:cNvSpPr txBox="1"/>
          <p:nvPr>
            <p:ph idx="4294967295" type="subTitle"/>
          </p:nvPr>
        </p:nvSpPr>
        <p:spPr>
          <a:xfrm>
            <a:off x="2441225" y="3684150"/>
            <a:ext cx="2471700" cy="29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divide: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\ \ \ \ \ \ \ \ \left(\ \pi\ \ +\ \ 1\ 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row data-mjx-texclass=&quot;INNER&quot;&gt;&lt;mo data-mjx-texclass=&quot;OPEN&quot;&gt;(&lt;/mo&gt;&lt;mtext&gt;&lt;/mtext&gt;&lt;mi&gt;π&lt;/mi&gt;&lt;mtext&gt;&lt;/mtext&gt;&lt;mtext&gt;&lt;/mtext&gt;&lt;mo&gt;+&lt;/mo&gt;&lt;mtext&gt;&lt;/mtext&gt;&lt;mtext&gt;&lt;/mtext&gt;&lt;mn&gt;1&lt;/mn&gt;&lt;mtext&gt;&lt;/mtext&gt;&lt;mo data-mjx-texclass=&quot;CLOSE&quot;&gt;)&lt;/mo&gt;&lt;/mrow&gt;&lt;/math&gt;" id="1731" name="Google Shape;1731;p101" title="one fourth pi times r squared the second power of r of one fourth pi times r squared plus 2 the second power of r of r squared of open paren one fourth pi plus 2 close paren open paren pi plus 1 close paren"/>
          <p:cNvPicPr preferRelativeResize="0"/>
          <p:nvPr/>
        </p:nvPicPr>
        <p:blipFill rotWithShape="1">
          <a:blip r:embed="rId6">
            <a:alphaModFix/>
          </a:blip>
          <a:srcRect b="28814" l="86478" r="1757" t="28810"/>
          <a:stretch/>
        </p:blipFill>
        <p:spPr>
          <a:xfrm>
            <a:off x="5770400" y="2269849"/>
            <a:ext cx="906701" cy="2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p101"/>
          <p:cNvSpPr txBox="1"/>
          <p:nvPr>
            <p:ph idx="4294967295" type="subTitle"/>
          </p:nvPr>
        </p:nvSpPr>
        <p:spPr>
          <a:xfrm>
            <a:off x="5770400" y="2938975"/>
            <a:ext cx="9066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4.14…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3" name="Google Shape;1733;p101"/>
          <p:cNvSpPr txBox="1"/>
          <p:nvPr>
            <p:ph idx="4294967295" type="subTitle"/>
          </p:nvPr>
        </p:nvSpPr>
        <p:spPr>
          <a:xfrm>
            <a:off x="7226925" y="3670075"/>
            <a:ext cx="14577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2808.99…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4" name="Google Shape;1734;p101"/>
          <p:cNvSpPr txBox="1"/>
          <p:nvPr>
            <p:ph idx="4294967295" type="subTitle"/>
          </p:nvPr>
        </p:nvSpPr>
        <p:spPr>
          <a:xfrm>
            <a:off x="7226925" y="4401175"/>
            <a:ext cx="11286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53 mm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5" name="Google Shape;1735;p101"/>
          <p:cNvSpPr txBox="1"/>
          <p:nvPr>
            <p:ph idx="4294967295" type="subTitle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This composite shape has an area of 11 633.7 mm².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Complete the steps to calculate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, giving your answer to the closest integer.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" name="Google Shape;1740;p102"/>
          <p:cNvPicPr preferRelativeResize="0"/>
          <p:nvPr/>
        </p:nvPicPr>
        <p:blipFill rotWithShape="1">
          <a:blip r:embed="rId3">
            <a:alphaModFix/>
          </a:blip>
          <a:srcRect b="51881" l="77095" r="0" t="0"/>
          <a:stretch/>
        </p:blipFill>
        <p:spPr>
          <a:xfrm>
            <a:off x="323999" y="1359437"/>
            <a:ext cx="1732825" cy="2390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lengths of composite shapes using algebra</a:t>
            </a:r>
            <a:endParaRPr/>
          </a:p>
        </p:txBody>
      </p:sp>
      <p:grpSp>
        <p:nvGrpSpPr>
          <p:cNvPr id="1742" name="Google Shape;1742;p102"/>
          <p:cNvGrpSpPr/>
          <p:nvPr/>
        </p:nvGrpSpPr>
        <p:grpSpPr>
          <a:xfrm>
            <a:off x="387961" y="2330727"/>
            <a:ext cx="854036" cy="227110"/>
            <a:chOff x="4047154" y="4092900"/>
            <a:chExt cx="1049700" cy="227110"/>
          </a:xfrm>
        </p:grpSpPr>
        <p:cxnSp>
          <p:nvCxnSpPr>
            <p:cNvPr id="1743" name="Google Shape;1743;p102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44" name="Google Shape;1744;p102"/>
            <p:cNvSpPr/>
            <p:nvPr/>
          </p:nvSpPr>
          <p:spPr>
            <a:xfrm>
              <a:off x="4047154" y="4149010"/>
              <a:ext cx="1049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5" name="Google Shape;1745;p102"/>
          <p:cNvSpPr txBox="1"/>
          <p:nvPr>
            <p:ph idx="4294967295" type="subTitle"/>
          </p:nvPr>
        </p:nvSpPr>
        <p:spPr>
          <a:xfrm>
            <a:off x="3019425" y="1472850"/>
            <a:ext cx="3129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²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²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4031 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6" name="Google Shape;1746;p102"/>
          <p:cNvSpPr txBox="1"/>
          <p:nvPr>
            <p:ph idx="1" type="body"/>
          </p:nvPr>
        </p:nvSpPr>
        <p:spPr>
          <a:xfrm>
            <a:off x="324000" y="660275"/>
            <a:ext cx="8496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This composite shape has an area of 4031 cm².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, giving your answer to the closest integer.</a:t>
            </a:r>
            <a:endParaRPr sz="1800"/>
          </a:p>
        </p:txBody>
      </p:sp>
      <p:sp>
        <p:nvSpPr>
          <p:cNvPr id="1747" name="Google Shape;1747;p102"/>
          <p:cNvSpPr txBox="1"/>
          <p:nvPr/>
        </p:nvSpPr>
        <p:spPr>
          <a:xfrm>
            <a:off x="3776200" y="18179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28 cm (0 d.p.)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03"/>
          <p:cNvSpPr txBox="1"/>
          <p:nvPr/>
        </p:nvSpPr>
        <p:spPr>
          <a:xfrm>
            <a:off x="592350" y="3013925"/>
            <a:ext cx="822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an algebraic equation that equates an algebraic and numerical representation of the 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103"/>
          <p:cNvSpPr txBox="1"/>
          <p:nvPr/>
        </p:nvSpPr>
        <p:spPr>
          <a:xfrm>
            <a:off x="592350" y="3683525"/>
            <a:ext cx="822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terms and/or non-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terms of the algebraic and numerical representations of the 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03"/>
          <p:cNvSpPr txBox="1"/>
          <p:nvPr>
            <p:ph idx="1" type="body"/>
          </p:nvPr>
        </p:nvSpPr>
        <p:spPr>
          <a:xfrm>
            <a:off x="448900" y="810000"/>
            <a:ext cx="8371200" cy="14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the radius or diameter of a sector of a circle (such as a semicircle or quarter-circle) can be made easier by first finding the area of the full circle that the sector comes from.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radius of a sector can be found by solving an algebraic equation that equates an algebraic and numerical representation of the area of the sector.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Lengths of a composite shape can be found by either:</a:t>
            </a:r>
            <a:endParaRPr sz="1800"/>
          </a:p>
        </p:txBody>
      </p:sp>
      <p:sp>
        <p:nvSpPr>
          <p:cNvPr id="1755" name="Google Shape;1755;p10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length in composite shapes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61" name="Google Shape;1761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