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5"/>
    <p:sldMasterId id="2147483666" r:id="rId6"/>
  </p:sldMasterIdLst>
  <p:notesMasterIdLst>
    <p:notesMasterId r:id="rId7"/>
  </p:notesMasterIdLst>
  <p:sldIdLst>
    <p:sldId id="256" r:id="rId8"/>
    <p:sldId id="257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472069-57C1-487D-A7F8-77AF08876E01}">
  <a:tblStyle styleId="{12472069-57C1-487D-A7F8-77AF08876E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20"/>
          <p:cNvGraphicFramePr/>
          <p:nvPr/>
        </p:nvGraphicFramePr>
        <p:xfrm>
          <a:off x="468000" y="213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{12472069-57C1-487D-A7F8-77AF08876E01}</a:tableStyleId>
              </a:tblPr>
              <a:tblGrid>
                <a:gridCol w="971475"/>
                <a:gridCol w="1413125"/>
                <a:gridCol w="1413125"/>
                <a:gridCol w="1413125"/>
                <a:gridCol w="1413125"/>
              </a:tblGrid>
              <a:tr h="85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of sector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25.1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4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25.1 × 2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31π × 4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60π ÷ 3 × 4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 of  full circle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Kalam"/>
                          <a:ea typeface="Kalam"/>
                          <a:cs typeface="Kalam"/>
                          <a:sym typeface="Kalam"/>
                        </a:rPr>
                        <a:t>50.2 cm²</a:t>
                      </a:r>
                      <a:endParaRPr sz="13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124π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80π cm²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length in composite shapes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Finding lengths from areas of circles and sectors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7963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table to find the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the full circle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that the sector comes from.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 rotWithShape="1">
          <a:blip r:embed="rId3">
            <a:alphaModFix/>
          </a:blip>
          <a:srcRect b="15104" l="48702" r="26012" t="25265"/>
          <a:stretch/>
        </p:blipFill>
        <p:spPr>
          <a:xfrm>
            <a:off x="2999369" y="2297455"/>
            <a:ext cx="1089661" cy="587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168" l="77259" r="868" t="6172"/>
          <a:stretch/>
        </p:blipFill>
        <p:spPr>
          <a:xfrm>
            <a:off x="6016248" y="2225856"/>
            <a:ext cx="746503" cy="73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b="15100" l="26642" r="54794" t="3492"/>
          <a:stretch/>
        </p:blipFill>
        <p:spPr>
          <a:xfrm rot="10800000">
            <a:off x="4564794" y="2237958"/>
            <a:ext cx="704746" cy="706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 b="15100" l="26642" r="54794" t="3492"/>
          <a:stretch/>
        </p:blipFill>
        <p:spPr>
          <a:xfrm>
            <a:off x="1723625" y="2190225"/>
            <a:ext cx="799982" cy="80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3976474" y="4910499"/>
            <a:ext cx="311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Using your answer to part a, complete the method to calculate the radius of this quarter-circle.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13" y="4835184"/>
            <a:ext cx="2341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area of this quarter-circle is 900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of the full circle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that the sector comes from.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995021" y="4910499"/>
            <a:ext cx="178500" cy="178500"/>
          </a:xfrm>
          <a:prstGeom prst="rect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4">
            <a:alphaModFix/>
          </a:blip>
          <a:srcRect b="77019" l="10054" r="67299" t="0"/>
          <a:stretch/>
        </p:blipFill>
        <p:spPr>
          <a:xfrm>
            <a:off x="2953075" y="4860192"/>
            <a:ext cx="683175" cy="68978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976471" y="5622411"/>
            <a:ext cx="259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full circle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274106" y="6252118"/>
            <a:ext cx="99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274121" y="5945241"/>
            <a:ext cx="854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492938" y="5902902"/>
            <a:ext cx="715500" cy="25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776137" y="6509896"/>
            <a:ext cx="99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 cm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492938" y="6206395"/>
            <a:ext cx="715500" cy="25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8013" y="6104391"/>
            <a:ext cx="234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full circle = 3600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π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492938" y="5899449"/>
            <a:ext cx="715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3600</a:t>
            </a:r>
            <a:r>
              <a:rPr i="1"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π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492938" y="6206397"/>
            <a:ext cx="715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3600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5">
            <a:alphaModFix/>
          </a:blip>
          <a:srcRect b="56289" l="77172" r="0" t="0"/>
          <a:stretch/>
        </p:blipFill>
        <p:spPr>
          <a:xfrm>
            <a:off x="3957061" y="7106252"/>
            <a:ext cx="1262124" cy="126040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>
            <a:off x="4597250" y="7754741"/>
            <a:ext cx="600300" cy="60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98973" y="8102169"/>
            <a:ext cx="259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full circle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096452" y="8819784"/>
            <a:ext cx="9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100887" y="8488455"/>
            <a:ext cx="85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320600" y="8446175"/>
            <a:ext cx="714600" cy="27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096443" y="9150846"/>
            <a:ext cx="43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1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1320600" y="8775592"/>
            <a:ext cx="714600" cy="27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6400" y="7122111"/>
            <a:ext cx="311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area of a semicircle                           is 39.3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method to calculate the diameter of this semicircle.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320600" y="9105008"/>
            <a:ext cx="714600" cy="27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 rotWithShape="1">
          <a:blip r:embed="rId4">
            <a:alphaModFix/>
          </a:blip>
          <a:srcRect b="35653" l="5289" r="62534" t="46211"/>
          <a:stretch/>
        </p:blipFill>
        <p:spPr>
          <a:xfrm rot="5400000">
            <a:off x="2865001" y="8748478"/>
            <a:ext cx="969561" cy="54369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2096443" y="9486803"/>
            <a:ext cx="43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≈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1320600" y="9434425"/>
            <a:ext cx="714600" cy="272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 rot="5400000">
            <a:off x="2442196" y="8938812"/>
            <a:ext cx="935401" cy="223360"/>
            <a:chOff x="4150800" y="4091060"/>
            <a:chExt cx="842400" cy="286800"/>
          </a:xfrm>
        </p:grpSpPr>
        <p:cxnSp>
          <p:nvCxnSpPr>
            <p:cNvPr id="207" name="Google Shape;207;p20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8" name="Google Shape;208;p20"/>
            <p:cNvSpPr/>
            <p:nvPr/>
          </p:nvSpPr>
          <p:spPr>
            <a:xfrm rot="-5400000">
              <a:off x="4482078" y="4114460"/>
              <a:ext cx="2868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9" name="Google Shape;209;p20"/>
          <p:cNvCxnSpPr/>
          <p:nvPr/>
        </p:nvCxnSpPr>
        <p:spPr>
          <a:xfrm>
            <a:off x="3784591" y="7030529"/>
            <a:ext cx="0" cy="291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0"/>
          <p:cNvSpPr/>
          <p:nvPr/>
        </p:nvSpPr>
        <p:spPr>
          <a:xfrm>
            <a:off x="4597245" y="7754741"/>
            <a:ext cx="600300" cy="60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219192" y="7155634"/>
            <a:ext cx="188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area of this three-quarter-circle is 1357.2 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radius of the sector?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320600" y="8438477"/>
            <a:ext cx="7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78.6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320600" y="8775598"/>
            <a:ext cx="7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25.01…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320600" y="9112723"/>
            <a:ext cx="714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5.001…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957067" y="8656491"/>
            <a:ext cx="3143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quarter-circle = 452.4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full circle = 1809.6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 = 24 cm (2 s.f.)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320600" y="9429301"/>
            <a:ext cx="714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cm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>
            <a:off x="474757" y="9918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3" name="Google Shape;22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length in composite shapes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320486" y="1551007"/>
            <a:ext cx="47715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the areas, in terms of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for the three component parts of this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00" y="1566276"/>
            <a:ext cx="1478675" cy="147535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468025" y="1226248"/>
            <a:ext cx="6422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composite shape has an area of 470.7 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" name="Google Shape;228;p21"/>
          <p:cNvCxnSpPr/>
          <p:nvPr/>
        </p:nvCxnSpPr>
        <p:spPr>
          <a:xfrm rot="-5400000">
            <a:off x="848320" y="2306710"/>
            <a:ext cx="116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1"/>
          <p:cNvCxnSpPr/>
          <p:nvPr/>
        </p:nvCxnSpPr>
        <p:spPr>
          <a:xfrm rot="-5400000">
            <a:off x="1558648" y="3016422"/>
            <a:ext cx="116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1"/>
          <p:cNvCxnSpPr/>
          <p:nvPr/>
        </p:nvCxnSpPr>
        <p:spPr>
          <a:xfrm>
            <a:off x="1211572" y="2671210"/>
            <a:ext cx="116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1" name="Google Shape;231;p21"/>
          <p:cNvGrpSpPr/>
          <p:nvPr/>
        </p:nvGrpSpPr>
        <p:grpSpPr>
          <a:xfrm>
            <a:off x="1261290" y="3111772"/>
            <a:ext cx="710901" cy="153490"/>
            <a:chOff x="4150800" y="4092900"/>
            <a:chExt cx="842400" cy="225987"/>
          </a:xfrm>
        </p:grpSpPr>
        <p:cxnSp>
          <p:nvCxnSpPr>
            <p:cNvPr id="232" name="Google Shape;232;p21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3" name="Google Shape;233;p21"/>
            <p:cNvSpPr/>
            <p:nvPr/>
          </p:nvSpPr>
          <p:spPr>
            <a:xfrm>
              <a:off x="4240654" y="4147887"/>
              <a:ext cx="662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m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4" name="Google Shape;234;p21"/>
          <p:cNvGrpSpPr/>
          <p:nvPr/>
        </p:nvGrpSpPr>
        <p:grpSpPr>
          <a:xfrm>
            <a:off x="791619" y="1828488"/>
            <a:ext cx="216118" cy="216118"/>
            <a:chOff x="1020916" y="1442088"/>
            <a:chExt cx="457200" cy="457200"/>
          </a:xfrm>
        </p:grpSpPr>
        <p:pic>
          <p:nvPicPr>
            <p:cNvPr id="235" name="Google Shape;23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1"/>
            <p:cNvSpPr txBox="1"/>
            <p:nvPr/>
          </p:nvSpPr>
          <p:spPr>
            <a:xfrm>
              <a:off x="1045522" y="1526411"/>
              <a:ext cx="408000" cy="1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1483205" y="2537740"/>
            <a:ext cx="216118" cy="216118"/>
            <a:chOff x="1020916" y="1442088"/>
            <a:chExt cx="457200" cy="457200"/>
          </a:xfrm>
        </p:grpSpPr>
        <p:pic>
          <p:nvPicPr>
            <p:cNvPr id="238" name="Google Shape;23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0" name="Google Shape;240;p21"/>
          <p:cNvGrpSpPr/>
          <p:nvPr/>
        </p:nvGrpSpPr>
        <p:grpSpPr>
          <a:xfrm>
            <a:off x="1483205" y="1828488"/>
            <a:ext cx="216118" cy="216118"/>
            <a:chOff x="1020916" y="1442088"/>
            <a:chExt cx="457200" cy="457200"/>
          </a:xfrm>
        </p:grpSpPr>
        <p:pic>
          <p:nvPicPr>
            <p:cNvPr id="241" name="Google Shape;24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2994029" y="2113400"/>
            <a:ext cx="219593" cy="206700"/>
            <a:chOff x="1020916" y="1442088"/>
            <a:chExt cx="457200" cy="457200"/>
          </a:xfrm>
        </p:grpSpPr>
        <p:pic>
          <p:nvPicPr>
            <p:cNvPr id="244" name="Google Shape;24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6" name="Google Shape;246;p21"/>
          <p:cNvSpPr txBox="1"/>
          <p:nvPr/>
        </p:nvSpPr>
        <p:spPr>
          <a:xfrm>
            <a:off x="2346496" y="2113624"/>
            <a:ext cx="648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1"/>
          <p:cNvGrpSpPr/>
          <p:nvPr/>
        </p:nvGrpSpPr>
        <p:grpSpPr>
          <a:xfrm>
            <a:off x="4723895" y="2113400"/>
            <a:ext cx="219593" cy="238155"/>
            <a:chOff x="1020916" y="1442088"/>
            <a:chExt cx="457200" cy="457200"/>
          </a:xfrm>
        </p:grpSpPr>
        <p:pic>
          <p:nvPicPr>
            <p:cNvPr id="248" name="Google Shape;24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0" name="Google Shape;250;p21"/>
          <p:cNvSpPr txBox="1"/>
          <p:nvPr/>
        </p:nvSpPr>
        <p:spPr>
          <a:xfrm>
            <a:off x="4076371" y="2113624"/>
            <a:ext cx="648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" name="Google Shape;251;p21"/>
          <p:cNvGrpSpPr/>
          <p:nvPr/>
        </p:nvGrpSpPr>
        <p:grpSpPr>
          <a:xfrm>
            <a:off x="6157510" y="2113400"/>
            <a:ext cx="219593" cy="225765"/>
            <a:chOff x="1020916" y="1442088"/>
            <a:chExt cx="457200" cy="457200"/>
          </a:xfrm>
        </p:grpSpPr>
        <p:pic>
          <p:nvPicPr>
            <p:cNvPr id="252" name="Google Shape;25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" name="Google Shape;254;p21"/>
          <p:cNvSpPr txBox="1"/>
          <p:nvPr/>
        </p:nvSpPr>
        <p:spPr>
          <a:xfrm>
            <a:off x="5549153" y="2113624"/>
            <a:ext cx="6483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2373450" y="2556450"/>
            <a:ext cx="47184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Show by factorising that the area of the composite shape can be written as: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56" name="Google Shape;256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5433827" y="3133907"/>
            <a:ext cx="216123" cy="32461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5677726" y="3167920"/>
            <a:ext cx="1070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2.785…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/math&gt;" id="258" name="Google Shape;258;p21" title="one fourth pi times r squared the second power of r of one fourth pi times r squared plus 2 the second power of r of r squared of open paren one fourth pi plus 2 close paren"/>
          <p:cNvPicPr preferRelativeResize="0"/>
          <p:nvPr/>
        </p:nvPicPr>
        <p:blipFill rotWithShape="1">
          <a:blip r:embed="rId6">
            <a:alphaModFix/>
          </a:blip>
          <a:srcRect b="0" l="0" r="84947" t="0"/>
          <a:stretch/>
        </p:blipFill>
        <p:spPr>
          <a:xfrm>
            <a:off x="6433241" y="2006637"/>
            <a:ext cx="582526" cy="443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/math&gt;" id="259" name="Google Shape;259;p21" title="one fourth pi times r squared the second power of r of one fourth pi times r squared plus 2 the second power of r of r squared of open paren one fourth pi plus 2 close paren"/>
          <p:cNvPicPr preferRelativeResize="0"/>
          <p:nvPr/>
        </p:nvPicPr>
        <p:blipFill rotWithShape="1">
          <a:blip r:embed="rId6">
            <a:alphaModFix/>
          </a:blip>
          <a:srcRect b="0" l="10795" r="84947" t="0"/>
          <a:stretch/>
        </p:blipFill>
        <p:spPr>
          <a:xfrm>
            <a:off x="3284077" y="2006637"/>
            <a:ext cx="164723" cy="443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/math&gt;" id="260" name="Google Shape;260;p21" title="one fourth pi times r squared the second power of r of one fourth pi times r squared plus 2 the second power of r of r squared of open paren one fourth pi plus 2 close paren"/>
          <p:cNvPicPr preferRelativeResize="0"/>
          <p:nvPr/>
        </p:nvPicPr>
        <p:blipFill rotWithShape="1">
          <a:blip r:embed="rId6">
            <a:alphaModFix/>
          </a:blip>
          <a:srcRect b="0" l="10795" r="84947" t="0"/>
          <a:stretch/>
        </p:blipFill>
        <p:spPr>
          <a:xfrm>
            <a:off x="5013952" y="2006637"/>
            <a:ext cx="164723" cy="443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/math&gt;" id="261" name="Google Shape;261;p21" title="one fourth pi times r squared the second power of r of one fourth pi times r squared plus 2 the second power of r of r squared of open paren one fourth pi plus 2 close paren"/>
          <p:cNvPicPr preferRelativeResize="0"/>
          <p:nvPr/>
        </p:nvPicPr>
        <p:blipFill rotWithShape="1">
          <a:blip r:embed="rId6">
            <a:alphaModFix/>
          </a:blip>
          <a:srcRect b="0" l="29745" r="0" t="0"/>
          <a:stretch/>
        </p:blipFill>
        <p:spPr>
          <a:xfrm>
            <a:off x="2346507" y="3074478"/>
            <a:ext cx="2718940" cy="44347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3669847" y="3167920"/>
            <a:ext cx="164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5167292" y="3167920"/>
            <a:ext cx="164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88815" y="886213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Finding lengths of composite shapes using algebra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88825" y="3604725"/>
            <a:ext cx="66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Complete the calculation to find the radius of the quarter-circle, given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66" name="Google Shape;266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1405625" y="3926300"/>
            <a:ext cx="195277" cy="29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1592026" y="3926300"/>
            <a:ext cx="132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2.785…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517172" y="3926296"/>
            <a:ext cx="107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470.7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69" name="Google Shape;269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36774" t="13402"/>
          <a:stretch/>
        </p:blipFill>
        <p:spPr>
          <a:xfrm>
            <a:off x="2233348" y="4295259"/>
            <a:ext cx="195277" cy="29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2517172" y="4274596"/>
            <a:ext cx="107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169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71" name="Google Shape;271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13402" l="50054" r="43514" t="13402"/>
          <a:stretch/>
        </p:blipFill>
        <p:spPr>
          <a:xfrm>
            <a:off x="2233348" y="4683268"/>
            <a:ext cx="95353" cy="29231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2517172" y="4660996"/>
            <a:ext cx="107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13 m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630975" y="6093775"/>
            <a:ext cx="878700" cy="26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76400" y="5020556"/>
            <a:ext cx="661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composite shape has an area of 11 633.7 mm².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steps to calculate the value of r, giving your answer to the closest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5" name="Google Shape;275;p21"/>
          <p:cNvPicPr preferRelativeResize="0"/>
          <p:nvPr/>
        </p:nvPicPr>
        <p:blipFill rotWithShape="1">
          <a:blip r:embed="rId7">
            <a:alphaModFix/>
          </a:blip>
          <a:srcRect b="53056" l="0" r="70349" t="2060"/>
          <a:stretch/>
        </p:blipFill>
        <p:spPr>
          <a:xfrm>
            <a:off x="488825" y="5588208"/>
            <a:ext cx="1323001" cy="1315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21"/>
          <p:cNvGrpSpPr/>
          <p:nvPr/>
        </p:nvGrpSpPr>
        <p:grpSpPr>
          <a:xfrm>
            <a:off x="814125" y="6178891"/>
            <a:ext cx="710924" cy="133911"/>
            <a:chOff x="3864472" y="4092900"/>
            <a:chExt cx="1481400" cy="227045"/>
          </a:xfrm>
        </p:grpSpPr>
        <p:cxnSp>
          <p:nvCxnSpPr>
            <p:cNvPr id="277" name="Google Shape;277;p21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8" name="Google Shape;278;p21"/>
            <p:cNvSpPr/>
            <p:nvPr/>
          </p:nvSpPr>
          <p:spPr>
            <a:xfrm>
              <a:off x="3864472" y="4253945"/>
              <a:ext cx="1481400" cy="6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mm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79" name="Google Shape;279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27135" r="36775" t="0"/>
          <a:stretch/>
        </p:blipFill>
        <p:spPr>
          <a:xfrm>
            <a:off x="4257944" y="5508764"/>
            <a:ext cx="591422" cy="44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80" name="Google Shape;280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70977" r="0" t="0"/>
          <a:stretch/>
        </p:blipFill>
        <p:spPr>
          <a:xfrm>
            <a:off x="4976939" y="5508764"/>
            <a:ext cx="475613" cy="44290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/>
          <p:nvPr/>
        </p:nvSpPr>
        <p:spPr>
          <a:xfrm>
            <a:off x="4198609" y="5578130"/>
            <a:ext cx="689700" cy="271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198609" y="5849335"/>
            <a:ext cx="68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5215341" y="5578124"/>
            <a:ext cx="294300" cy="271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120091" y="5849335"/>
            <a:ext cx="68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637265" y="5588188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2914520" y="5599148"/>
            <a:ext cx="1135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87" name="Google Shape;287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89329" r="0" t="0"/>
          <a:stretch/>
        </p:blipFill>
        <p:spPr>
          <a:xfrm>
            <a:off x="4408914" y="6016483"/>
            <a:ext cx="154413" cy="38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>
            <a:off x="5637265" y="6095908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2914520" y="6106867"/>
            <a:ext cx="1135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factorise: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290" name="Google Shape;290;p21" title="one half open paren close paren"/>
          <p:cNvPicPr preferRelativeResize="0"/>
          <p:nvPr/>
        </p:nvPicPr>
        <p:blipFill rotWithShape="1">
          <a:blip r:embed="rId8">
            <a:alphaModFix/>
          </a:blip>
          <a:srcRect b="0" l="25606" r="68076" t="0"/>
          <a:stretch/>
        </p:blipFill>
        <p:spPr>
          <a:xfrm>
            <a:off x="4635427" y="5993804"/>
            <a:ext cx="85050" cy="44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291" name="Google Shape;291;p21" title="one half open paren close paren"/>
          <p:cNvPicPr preferRelativeResize="0"/>
          <p:nvPr/>
        </p:nvPicPr>
        <p:blipFill rotWithShape="1">
          <a:blip r:embed="rId8">
            <a:alphaModFix/>
          </a:blip>
          <a:srcRect b="0" l="25606" r="68076" t="0"/>
          <a:stretch/>
        </p:blipFill>
        <p:spPr>
          <a:xfrm flipH="1">
            <a:off x="5422096" y="5993804"/>
            <a:ext cx="85050" cy="4429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/>
          <p:nvPr/>
        </p:nvSpPr>
        <p:spPr>
          <a:xfrm>
            <a:off x="4630975" y="6484975"/>
            <a:ext cx="878700" cy="292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93" name="Google Shape;293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89329" r="0" t="0"/>
          <a:stretch/>
        </p:blipFill>
        <p:spPr>
          <a:xfrm>
            <a:off x="4408914" y="6467290"/>
            <a:ext cx="154413" cy="38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 txBox="1"/>
          <p:nvPr/>
        </p:nvSpPr>
        <p:spPr>
          <a:xfrm>
            <a:off x="5637265" y="6490116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11 633.7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125024" y="6501076"/>
            <a:ext cx="192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expression into decimal: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296" name="Google Shape;296;p21" title="one half open paren close paren"/>
          <p:cNvPicPr preferRelativeResize="0"/>
          <p:nvPr/>
        </p:nvPicPr>
        <p:blipFill rotWithShape="1">
          <a:blip r:embed="rId8">
            <a:alphaModFix/>
          </a:blip>
          <a:srcRect b="0" l="25606" r="68076" t="0"/>
          <a:stretch/>
        </p:blipFill>
        <p:spPr>
          <a:xfrm>
            <a:off x="4635427" y="6388013"/>
            <a:ext cx="85050" cy="44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left(\ \ \ \ \ \ \ \ \ \ \ \ \ \ \ \ \right)&quot;&gt;&lt;mfrac&gt;&lt;mn&gt;1&lt;/mn&gt;&lt;mn&gt;2&lt;/mn&gt;&lt;/mfrac&gt;&lt;mtext&gt;&lt;/mtext&gt;&lt;mtext&gt;&lt;/mtext&gt;&lt;mtext&gt;&lt;/mtext&gt;&lt;mrow data-mjx-texclass=&quot;INNER&quot;&gt;&lt;mo data-mjx-texclass=&quot;OPEN&quot;&gt;(&lt;/mo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 data-mjx-texclass=&quot;CLOSE&quot;&gt;)&lt;/mo&gt;&lt;/mrow&gt;&lt;/math&gt;" id="297" name="Google Shape;297;p21" title="one half open paren close paren"/>
          <p:cNvPicPr preferRelativeResize="0"/>
          <p:nvPr/>
        </p:nvPicPr>
        <p:blipFill rotWithShape="1">
          <a:blip r:embed="rId8">
            <a:alphaModFix/>
          </a:blip>
          <a:srcRect b="0" l="25606" r="68076" t="0"/>
          <a:stretch/>
        </p:blipFill>
        <p:spPr>
          <a:xfrm flipH="1">
            <a:off x="5422096" y="6388013"/>
            <a:ext cx="85050" cy="442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298" name="Google Shape;298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89329" r="0" t="0"/>
          <a:stretch/>
        </p:blipFill>
        <p:spPr>
          <a:xfrm>
            <a:off x="4408914" y="6861805"/>
            <a:ext cx="154413" cy="38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5637265" y="6907003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851525" y="6906675"/>
            <a:ext cx="1089300" cy="256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2125024" y="7334851"/>
            <a:ext cx="192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root: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 \ \ \ \pi\times r^2\ \ +\ \ r^2&quot;&gt;&lt;mfrac&gt;&lt;mn&gt;1&lt;/mn&gt;&lt;mn&gt;2&lt;/mn&gt;&lt;/mfrac&gt;&lt;mtext&gt;&lt;/mtext&gt;&lt;mtext&gt;&lt;/mtext&gt;&lt;mtext&gt;&lt;/mtext&gt;&lt;mtext&gt;&lt;/mtext&gt;&lt;mtext&gt;&lt;/mtext&gt;&lt;mtext&gt;&lt;/mtext&gt;&lt;mi&gt;π&lt;/mi&gt;&lt;mo&gt;×&lt;/mo&gt;&lt;msup&gt;&lt;mi&gt;r&lt;/mi&gt;&lt;mn&gt;2&lt;/mn&gt;&lt;/msup&gt;&lt;mtext&gt;&lt;/mtext&gt;&lt;mtext&gt;&lt;/mtext&gt;&lt;mo&gt;+&lt;/mo&gt;&lt;mtext&gt;&lt;/mtext&gt;&lt;mtext&gt;&lt;/mtext&gt;&lt;msup&gt;&lt;mi&gt;r&lt;/mi&gt;&lt;mn&gt;2&lt;/mn&gt;&lt;/msup&gt;&lt;/math&gt;" id="302" name="Google Shape;302;p21" title="one half pi times r squared plus r squared"/>
          <p:cNvPicPr preferRelativeResize="0"/>
          <p:nvPr/>
        </p:nvPicPr>
        <p:blipFill rotWithShape="1">
          <a:blip r:embed="rId5">
            <a:alphaModFix/>
          </a:blip>
          <a:srcRect b="0" l="89329" r="4239" t="0"/>
          <a:stretch/>
        </p:blipFill>
        <p:spPr>
          <a:xfrm>
            <a:off x="4408914" y="7246795"/>
            <a:ext cx="93065" cy="38878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1"/>
          <p:cNvSpPr txBox="1"/>
          <p:nvPr/>
        </p:nvSpPr>
        <p:spPr>
          <a:xfrm>
            <a:off x="5637265" y="7323891"/>
            <a:ext cx="121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5851525" y="7293575"/>
            <a:ext cx="878700" cy="25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2125024" y="6917963"/>
            <a:ext cx="192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divide: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pi\times r^2\ \ \ r^{2\ \ \ \ \ \ \ }\frac{1}{4}\pi\times r^2\ \ +\ \ 2r^{2\ \ \ \ \ \ \ }r^2\left(\frac{1}{4}\pi\ \ +\ \ 2\right)\ \ \ \ \ \ \ \ \left(\ \pi\ \ +\ \ 1\ \right)&quot;&gt;&lt;mfrac&gt;&lt;mn&gt;1&lt;/mn&gt;&lt;mn&gt;4&lt;/mn&gt;&lt;/mfrac&gt;&lt;mi&gt;π&lt;/mi&gt;&lt;mo&gt;×&lt;/mo&gt;&lt;msup&gt;&lt;mi&gt;r&lt;/mi&gt;&lt;mn&gt;2&lt;/mn&gt;&lt;/msup&gt;&lt;mtext&gt;&lt;/mtext&gt;&lt;mtext&gt;&lt;/mtext&gt;&lt;mtext&gt;&lt;/mtext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frac&gt;&lt;mn&gt;1&lt;/mn&gt;&lt;mn&gt;4&lt;/mn&gt;&lt;/mfrac&gt;&lt;mi&gt;π&lt;/mi&gt;&lt;mo&gt;×&lt;/mo&gt;&lt;msup&gt;&lt;mi&gt;r&lt;/mi&gt;&lt;mn&gt;2&lt;/mn&gt;&lt;/msup&gt;&lt;mtext&gt;&lt;/mtext&gt;&lt;mtext&gt;&lt;/mtext&gt;&lt;mo&gt;+&lt;/mo&gt;&lt;mtext&gt;&lt;/mtext&gt;&lt;mtext&gt;&lt;/mtext&gt;&lt;mn&gt;2&lt;/mn&gt;&lt;msup&gt;&lt;mi&gt;r&lt;/mi&gt;&lt;mrow data-mjx-texclass=&quot;ORD&quot;&gt;&lt;mn&gt;2&lt;/mn&gt;&lt;mtext&gt;&lt;/mtext&gt;&lt;mtext&gt;&lt;/mtext&gt;&lt;mtext&gt;&lt;/mtext&gt;&lt;mtext&gt;&lt;/mtext&gt;&lt;mtext&gt;&lt;/mtext&gt;&lt;mtext&gt;&lt;/mtext&gt;&lt;mtext&gt;&lt;/mtext&gt;&lt;/mrow&gt;&lt;/msup&gt;&lt;msup&gt;&lt;mi&gt;r&lt;/mi&gt;&lt;mn&gt;2&lt;/mn&gt;&lt;/msup&gt;&lt;mrow data-mjx-texclass=&quot;INNER&quot;&gt;&lt;mo data-mjx-texclass=&quot;OPEN&quot;&gt;(&lt;/mo&gt;&lt;mfrac&gt;&lt;mn&gt;1&lt;/mn&gt;&lt;mn&gt;4&lt;/mn&gt;&lt;/mfrac&gt;&lt;mi&gt;π&lt;/mi&gt;&lt;mtext&gt;&lt;/mtext&gt;&lt;mtext&gt;&lt;/mtext&gt;&lt;mo&gt;+&lt;/mo&gt;&lt;mtext&gt;&lt;/mtext&gt;&lt;mtext&gt;&lt;/mtext&gt;&lt;mn&gt;2&lt;/mn&gt;&lt;mo data-mjx-texclass=&quot;CLOSE&quot;&gt;)&lt;/mo&gt;&lt;/mrow&gt;&lt;mtext&gt;&lt;/mtext&gt;&lt;mtext&gt;&lt;/mtext&gt;&lt;mtext&gt;&lt;/mtext&gt;&lt;mtext&gt;&lt;/mtext&gt;&lt;mtext&gt;&lt;/mtext&gt;&lt;mtext&gt;&lt;/mtext&gt;&lt;mtext&gt;&lt;/mtext&gt;&lt;mtext&gt;&lt;/mtext&gt;&lt;mrow data-mjx-texclass=&quot;INNER&quot;&gt;&lt;mo data-mjx-texclass=&quot;OPEN&quot;&gt;(&lt;/mo&gt;&lt;mtext&gt;&lt;/mtext&gt;&lt;mi&gt;π&lt;/mi&gt;&lt;mtext&gt;&lt;/mtext&gt;&lt;mtext&gt;&lt;/mtext&gt;&lt;mo&gt;+&lt;/mo&gt;&lt;mtext&gt;&lt;/mtext&gt;&lt;mtext&gt;&lt;/mtext&gt;&lt;mn&gt;1&lt;/mn&gt;&lt;mtext&gt;&lt;/mtext&gt;&lt;mo data-mjx-texclass=&quot;CLOSE&quot;&gt;)&lt;/mo&gt;&lt;/mrow&gt;&lt;/math&gt;" id="306" name="Google Shape;306;p21" title="one fourth pi times r squared the second power of r of one fourth pi times r squared plus 2 the second power of r of r squared of open paren one fourth pi plus 2 close paren open paren pi plus 1 close paren"/>
          <p:cNvPicPr preferRelativeResize="0"/>
          <p:nvPr/>
        </p:nvPicPr>
        <p:blipFill rotWithShape="1">
          <a:blip r:embed="rId9">
            <a:alphaModFix/>
          </a:blip>
          <a:srcRect b="28814" l="86478" r="1757" t="28810"/>
          <a:stretch/>
        </p:blipFill>
        <p:spPr>
          <a:xfrm>
            <a:off x="4717361" y="6121486"/>
            <a:ext cx="706023" cy="22131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1"/>
          <p:cNvSpPr txBox="1"/>
          <p:nvPr/>
        </p:nvSpPr>
        <p:spPr>
          <a:xfrm>
            <a:off x="4618785" y="6478838"/>
            <a:ext cx="878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4.14…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5851517" y="6907003"/>
            <a:ext cx="1135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2808.99…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5851517" y="7304841"/>
            <a:ext cx="878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 mm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" name="Google Shape;310;p21"/>
          <p:cNvPicPr preferRelativeResize="0"/>
          <p:nvPr/>
        </p:nvPicPr>
        <p:blipFill rotWithShape="1">
          <a:blip r:embed="rId7">
            <a:alphaModFix/>
          </a:blip>
          <a:srcRect b="51881" l="77095" r="0" t="0"/>
          <a:stretch/>
        </p:blipFill>
        <p:spPr>
          <a:xfrm>
            <a:off x="530300" y="8285608"/>
            <a:ext cx="1006801" cy="13889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21"/>
          <p:cNvGrpSpPr/>
          <p:nvPr/>
        </p:nvGrpSpPr>
        <p:grpSpPr>
          <a:xfrm>
            <a:off x="519775" y="8849872"/>
            <a:ext cx="648355" cy="131954"/>
            <a:chOff x="3966553" y="4092900"/>
            <a:chExt cx="1371600" cy="227116"/>
          </a:xfrm>
        </p:grpSpPr>
        <p:cxnSp>
          <p:nvCxnSpPr>
            <p:cNvPr id="312" name="Google Shape;312;p21"/>
            <p:cNvCxnSpPr/>
            <p:nvPr/>
          </p:nvCxnSpPr>
          <p:spPr>
            <a:xfrm>
              <a:off x="4150800" y="4092900"/>
              <a:ext cx="8424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13" name="Google Shape;313;p21"/>
            <p:cNvSpPr/>
            <p:nvPr/>
          </p:nvSpPr>
          <p:spPr>
            <a:xfrm>
              <a:off x="3966553" y="4149016"/>
              <a:ext cx="13716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4" name="Google Shape;314;p21"/>
          <p:cNvSpPr txBox="1"/>
          <p:nvPr/>
        </p:nvSpPr>
        <p:spPr>
          <a:xfrm>
            <a:off x="2575253" y="8453852"/>
            <a:ext cx="2437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𝜋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4031 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76400" y="7821120"/>
            <a:ext cx="6615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composite shape has an area of 4031 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value of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giving your answer to the closest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3069283" y="8722573"/>
            <a:ext cx="233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28 cm (0 d.p.)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7" name="Google Shape;317;p21"/>
          <p:cNvCxnSpPr/>
          <p:nvPr/>
        </p:nvCxnSpPr>
        <p:spPr>
          <a:xfrm>
            <a:off x="474757" y="99185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