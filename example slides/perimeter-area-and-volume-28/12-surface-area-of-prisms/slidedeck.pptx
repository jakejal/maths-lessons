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9813cb729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9813cb729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813cb729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813cb72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9813cb729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9813cb729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9813cb729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9813cb729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813cb729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9813cb729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9813cb729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29813cb729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9892e6f6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9892e6f6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9892e6f62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9892e6f6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9813cb729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9813cb729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a57b68a8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a57b68a8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9813cb729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9813cb72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9813cb729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9813cb729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9bff4762f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bff4762f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9813cb7296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9813cb729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813cb729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813cb729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9892e6f62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9892e6f62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813cb729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813cb729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9092f00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9092f00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99092f00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99092f00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9092f001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9092f00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9813cb729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9813cb729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9f7f0b16e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9f7f0b16e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9f7f0b16e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9f7f0b16e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9813cb729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9813cb729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9892e6f626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9892e6f626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9813cb729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9813cb729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9892e6f626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9892e6f626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9892e6f626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9892e6f626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9892e6f626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9892e6f626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9813cb729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9813cb729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9813cb729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9813cb729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9f7f0b16e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9f7f0b16e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9892e6f626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9892e6f626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9892e6f626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9892e6f626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9813cb729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9813cb729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299092f001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299092f001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299092f001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299092f001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299092f0017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299092f001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99092f0017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99092f0017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83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3.png"/><Relationship Id="rId4" Type="http://schemas.openxmlformats.org/officeDocument/2006/relationships/image" Target="../media/image27.png"/><Relationship Id="rId11" Type="http://schemas.openxmlformats.org/officeDocument/2006/relationships/image" Target="../media/image17.png"/><Relationship Id="rId10" Type="http://schemas.openxmlformats.org/officeDocument/2006/relationships/image" Target="../media/image40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8" name="Google Shape;748;p6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9" name="Google Shape;749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9.png"/><Relationship Id="rId5" Type="http://schemas.openxmlformats.org/officeDocument/2006/relationships/image" Target="../media/image43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Relationship Id="rId8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png"/><Relationship Id="rId4" Type="http://schemas.openxmlformats.org/officeDocument/2006/relationships/image" Target="../media/image67.jpg"/><Relationship Id="rId5" Type="http://schemas.openxmlformats.org/officeDocument/2006/relationships/image" Target="../media/image43.png"/><Relationship Id="rId6" Type="http://schemas.openxmlformats.org/officeDocument/2006/relationships/image" Target="../media/image68.jpg"/><Relationship Id="rId7" Type="http://schemas.openxmlformats.org/officeDocument/2006/relationships/image" Target="../media/image65.jpg"/><Relationship Id="rId8" Type="http://schemas.openxmlformats.org/officeDocument/2006/relationships/image" Target="../media/image5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63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9" Type="http://schemas.openxmlformats.org/officeDocument/2006/relationships/image" Target="../media/image73.png"/><Relationship Id="rId5" Type="http://schemas.openxmlformats.org/officeDocument/2006/relationships/image" Target="../media/image66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69.png"/><Relationship Id="rId10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2.png"/><Relationship Id="rId4" Type="http://schemas.openxmlformats.org/officeDocument/2006/relationships/image" Target="../media/image7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78.png"/><Relationship Id="rId6" Type="http://schemas.openxmlformats.org/officeDocument/2006/relationships/image" Target="../media/image9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79.png"/><Relationship Id="rId6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png"/><Relationship Id="rId4" Type="http://schemas.openxmlformats.org/officeDocument/2006/relationships/image" Target="../media/image84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Relationship Id="rId7" Type="http://schemas.openxmlformats.org/officeDocument/2006/relationships/image" Target="../media/image8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9.png"/><Relationship Id="rId4" Type="http://schemas.openxmlformats.org/officeDocument/2006/relationships/image" Target="../media/image9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5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6.png"/><Relationship Id="rId4" Type="http://schemas.openxmlformats.org/officeDocument/2006/relationships/image" Target="../media/image9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0.png"/><Relationship Id="rId4" Type="http://schemas.openxmlformats.org/officeDocument/2006/relationships/image" Target="../media/image9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0.png"/><Relationship Id="rId4" Type="http://schemas.openxmlformats.org/officeDocument/2006/relationships/image" Target="../media/image103.png"/><Relationship Id="rId5" Type="http://schemas.openxmlformats.org/officeDocument/2006/relationships/image" Target="../media/image91.png"/><Relationship Id="rId6" Type="http://schemas.openxmlformats.org/officeDocument/2006/relationships/image" Target="../media/image104.png"/><Relationship Id="rId7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8.png"/><Relationship Id="rId4" Type="http://schemas.openxmlformats.org/officeDocument/2006/relationships/image" Target="../media/image110.png"/><Relationship Id="rId5" Type="http://schemas.openxmlformats.org/officeDocument/2006/relationships/image" Target="../media/image117.png"/><Relationship Id="rId6" Type="http://schemas.openxmlformats.org/officeDocument/2006/relationships/image" Target="../media/image1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6.png"/><Relationship Id="rId4" Type="http://schemas.openxmlformats.org/officeDocument/2006/relationships/image" Target="../media/image9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sp>
        <p:nvSpPr>
          <p:cNvPr id="755" name="Google Shape;755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surface area of 3D shapes in an efficient way.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8"/>
          <p:cNvSpPr txBox="1"/>
          <p:nvPr>
            <p:ph idx="1" type="subTitle"/>
          </p:nvPr>
        </p:nvSpPr>
        <p:spPr>
          <a:xfrm>
            <a:off x="324000" y="744050"/>
            <a:ext cx="8593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prism is a polyhedron with a base that is a polygon and a parallel opposite face that is identical. The corresponding edges of the two polygons are joined by parallelograms.  </a:t>
            </a:r>
            <a:endParaRPr sz="1800"/>
          </a:p>
        </p:txBody>
      </p:sp>
      <p:sp>
        <p:nvSpPr>
          <p:cNvPr id="771" name="Google Shape;771;p68"/>
          <p:cNvSpPr txBox="1"/>
          <p:nvPr>
            <p:ph idx="2" type="subTitle"/>
          </p:nvPr>
        </p:nvSpPr>
        <p:spPr>
          <a:xfrm>
            <a:off x="324000" y="2123547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Faces are the flat 2D surfaces of a 3D shape.  </a:t>
            </a:r>
            <a:endParaRPr sz="1800"/>
          </a:p>
        </p:txBody>
      </p:sp>
      <p:sp>
        <p:nvSpPr>
          <p:cNvPr id="772" name="Google Shape;772;p68"/>
          <p:cNvSpPr txBox="1"/>
          <p:nvPr>
            <p:ph idx="3" type="subTitle"/>
          </p:nvPr>
        </p:nvSpPr>
        <p:spPr>
          <a:xfrm>
            <a:off x="324000" y="288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net of a 3D object is a 2D representation of its faces that can be folded up into the 3D object. </a:t>
            </a:r>
            <a:endParaRPr sz="1800"/>
          </a:p>
        </p:txBody>
      </p:sp>
      <p:sp>
        <p:nvSpPr>
          <p:cNvPr id="773" name="Google Shape;773;p68"/>
          <p:cNvSpPr txBox="1"/>
          <p:nvPr>
            <p:ph idx="4" type="subTitle"/>
          </p:nvPr>
        </p:nvSpPr>
        <p:spPr>
          <a:xfrm>
            <a:off x="324000" y="39801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surface area is the total area of all the surfaces of a closed 3D shape. The surfaces include all faces and any curved surfaces. </a:t>
            </a:r>
            <a:endParaRPr sz="1800"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300" y="1756375"/>
            <a:ext cx="1209944" cy="10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321200"/>
            <a:ext cx="979807" cy="6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7200" y="3173300"/>
            <a:ext cx="1160595" cy="677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sp>
        <p:nvSpPr>
          <p:cNvPr id="782" name="Google Shape;782;p6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783" name="Google Shape;783;p6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784" name="Google Shape;784;p6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pic>
        <p:nvPicPr>
          <p:cNvPr id="785" name="Google Shape;7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0" y="17485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810000"/>
            <a:ext cx="82377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net can be folded to form a three-dimensional (3D) shape, without overlap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791" name="Google Shape;79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grpSp>
        <p:nvGrpSpPr>
          <p:cNvPr id="792" name="Google Shape;792;p70"/>
          <p:cNvGrpSpPr/>
          <p:nvPr/>
        </p:nvGrpSpPr>
        <p:grpSpPr>
          <a:xfrm>
            <a:off x="963853" y="1777487"/>
            <a:ext cx="2273427" cy="2681671"/>
            <a:chOff x="820175" y="1527925"/>
            <a:chExt cx="2731500" cy="3222000"/>
          </a:xfrm>
        </p:grpSpPr>
        <p:sp>
          <p:nvSpPr>
            <p:cNvPr id="793" name="Google Shape;793;p70"/>
            <p:cNvSpPr/>
            <p:nvPr/>
          </p:nvSpPr>
          <p:spPr>
            <a:xfrm>
              <a:off x="1452275" y="1527925"/>
              <a:ext cx="1467300" cy="632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70"/>
            <p:cNvSpPr/>
            <p:nvPr/>
          </p:nvSpPr>
          <p:spPr>
            <a:xfrm>
              <a:off x="1452275" y="2160025"/>
              <a:ext cx="1467300" cy="978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70"/>
            <p:cNvSpPr/>
            <p:nvPr/>
          </p:nvSpPr>
          <p:spPr>
            <a:xfrm>
              <a:off x="1452275" y="3771025"/>
              <a:ext cx="1467300" cy="978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70"/>
            <p:cNvSpPr/>
            <p:nvPr/>
          </p:nvSpPr>
          <p:spPr>
            <a:xfrm>
              <a:off x="1452275" y="3138925"/>
              <a:ext cx="1467300" cy="632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70"/>
            <p:cNvSpPr/>
            <p:nvPr/>
          </p:nvSpPr>
          <p:spPr>
            <a:xfrm rot="5400000">
              <a:off x="2746025" y="2333550"/>
              <a:ext cx="979200" cy="632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70"/>
            <p:cNvSpPr/>
            <p:nvPr/>
          </p:nvSpPr>
          <p:spPr>
            <a:xfrm rot="5400000">
              <a:off x="646625" y="2333550"/>
              <a:ext cx="979200" cy="6321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9" name="Google Shape;799;p70"/>
          <p:cNvSpPr txBox="1"/>
          <p:nvPr/>
        </p:nvSpPr>
        <p:spPr>
          <a:xfrm>
            <a:off x="226925" y="1457800"/>
            <a:ext cx="12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0" name="Google Shape;80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824000" y="2245500"/>
            <a:ext cx="2028950" cy="16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1" name="Google Shape;801;p70"/>
          <p:cNvCxnSpPr/>
          <p:nvPr/>
        </p:nvCxnSpPr>
        <p:spPr>
          <a:xfrm>
            <a:off x="3766850" y="3176875"/>
            <a:ext cx="82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70"/>
          <p:cNvSpPr txBox="1"/>
          <p:nvPr/>
        </p:nvSpPr>
        <p:spPr>
          <a:xfrm>
            <a:off x="1800857" y="2469150"/>
            <a:ext cx="599400" cy="461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5237151" y="1850025"/>
            <a:ext cx="1142100" cy="461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solid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75100" y="663600"/>
            <a:ext cx="6921684" cy="42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21044" y="717940"/>
            <a:ext cx="6839900" cy="4161914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2"/>
          <p:cNvSpPr txBox="1"/>
          <p:nvPr>
            <p:ph idx="1" type="body"/>
          </p:nvPr>
        </p:nvSpPr>
        <p:spPr>
          <a:xfrm>
            <a:off x="324000" y="759300"/>
            <a:ext cx="8237700" cy="6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look at the 3D solid, we can count the number of faces and state </a:t>
            </a:r>
            <a:r>
              <a:rPr lang="en-GB" sz="1800"/>
              <a:t>what</a:t>
            </a:r>
            <a:r>
              <a:rPr lang="en-GB" sz="1800"/>
              <a:t> 2D shape they are.</a:t>
            </a:r>
            <a:endParaRPr sz="1800"/>
          </a:p>
        </p:txBody>
      </p:sp>
      <p:sp>
        <p:nvSpPr>
          <p:cNvPr id="816" name="Google Shape;81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sp>
        <p:nvSpPr>
          <p:cNvPr id="817" name="Google Shape;817;p72"/>
          <p:cNvSpPr txBox="1"/>
          <p:nvPr/>
        </p:nvSpPr>
        <p:spPr>
          <a:xfrm>
            <a:off x="577263" y="1807775"/>
            <a:ext cx="11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Cuboid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2"/>
          <p:cNvSpPr txBox="1"/>
          <p:nvPr/>
        </p:nvSpPr>
        <p:spPr>
          <a:xfrm>
            <a:off x="2714313" y="2160000"/>
            <a:ext cx="412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faces in total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ll the faces are rectangles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are three pairs of rectangles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522208" y="1929092"/>
            <a:ext cx="1923249" cy="2268610"/>
            <a:chOff x="6522208" y="1929092"/>
            <a:chExt cx="1923249" cy="2268610"/>
          </a:xfrm>
        </p:grpSpPr>
        <p:grpSp>
          <p:nvGrpSpPr>
            <p:cNvPr id="820" name="Google Shape;820;p72"/>
            <p:cNvGrpSpPr/>
            <p:nvPr/>
          </p:nvGrpSpPr>
          <p:grpSpPr>
            <a:xfrm>
              <a:off x="6522208" y="1929092"/>
              <a:ext cx="1923249" cy="2268610"/>
              <a:chOff x="820175" y="1527925"/>
              <a:chExt cx="2731500" cy="3222000"/>
            </a:xfrm>
          </p:grpSpPr>
          <p:sp>
            <p:nvSpPr>
              <p:cNvPr id="821" name="Google Shape;821;p72"/>
              <p:cNvSpPr/>
              <p:nvPr/>
            </p:nvSpPr>
            <p:spPr>
              <a:xfrm>
                <a:off x="1452275" y="1527925"/>
                <a:ext cx="1467300" cy="6321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2" name="Google Shape;822;p72"/>
              <p:cNvSpPr/>
              <p:nvPr/>
            </p:nvSpPr>
            <p:spPr>
              <a:xfrm>
                <a:off x="1452275" y="2160025"/>
                <a:ext cx="1467300" cy="9789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3" name="Google Shape;823;p72"/>
              <p:cNvSpPr/>
              <p:nvPr/>
            </p:nvSpPr>
            <p:spPr>
              <a:xfrm>
                <a:off x="1452275" y="3771025"/>
                <a:ext cx="1467300" cy="9789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4" name="Google Shape;824;p72"/>
              <p:cNvSpPr/>
              <p:nvPr/>
            </p:nvSpPr>
            <p:spPr>
              <a:xfrm>
                <a:off x="1452275" y="3138925"/>
                <a:ext cx="1467300" cy="6321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5" name="Google Shape;825;p72"/>
              <p:cNvSpPr/>
              <p:nvPr/>
            </p:nvSpPr>
            <p:spPr>
              <a:xfrm rot="5400000">
                <a:off x="2746025" y="2333550"/>
                <a:ext cx="979200" cy="6321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26" name="Google Shape;826;p72"/>
              <p:cNvSpPr/>
              <p:nvPr/>
            </p:nvSpPr>
            <p:spPr>
              <a:xfrm rot="5400000">
                <a:off x="646625" y="2333550"/>
                <a:ext cx="979200" cy="6321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27" name="Google Shape;827;p72"/>
            <p:cNvSpPr txBox="1"/>
            <p:nvPr/>
          </p:nvSpPr>
          <p:spPr>
            <a:xfrm>
              <a:off x="6571410" y="2469150"/>
              <a:ext cx="325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72"/>
            <p:cNvSpPr txBox="1"/>
            <p:nvPr/>
          </p:nvSpPr>
          <p:spPr>
            <a:xfrm>
              <a:off x="8048063" y="2469150"/>
              <a:ext cx="325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9" name="Google Shape;829;p72"/>
          <p:cNvGrpSpPr/>
          <p:nvPr/>
        </p:nvGrpSpPr>
        <p:grpSpPr>
          <a:xfrm>
            <a:off x="577263" y="2160000"/>
            <a:ext cx="2028950" cy="1620000"/>
            <a:chOff x="577263" y="2160000"/>
            <a:chExt cx="2028950" cy="1620000"/>
          </a:xfrm>
        </p:grpSpPr>
        <p:pic>
          <p:nvPicPr>
            <p:cNvPr id="830" name="Google Shape;830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77263" y="2160000"/>
              <a:ext cx="2028950" cy="162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72"/>
            <p:cNvSpPr txBox="1"/>
            <p:nvPr/>
          </p:nvSpPr>
          <p:spPr>
            <a:xfrm rot="-589639">
              <a:off x="1943536" y="3014871"/>
              <a:ext cx="325171" cy="461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1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72"/>
            <p:cNvSpPr txBox="1"/>
            <p:nvPr/>
          </p:nvSpPr>
          <p:spPr>
            <a:xfrm rot="2344862">
              <a:off x="1408559" y="2484269"/>
              <a:ext cx="325022" cy="4617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i="1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72"/>
            <p:cNvSpPr txBox="1"/>
            <p:nvPr/>
          </p:nvSpPr>
          <p:spPr>
            <a:xfrm rot="1261953">
              <a:off x="996131" y="2879089"/>
              <a:ext cx="249096" cy="46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i="1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4" name="Google Shape;834;p72"/>
          <p:cNvSpPr txBox="1"/>
          <p:nvPr/>
        </p:nvSpPr>
        <p:spPr>
          <a:xfrm>
            <a:off x="2811800" y="3636275"/>
            <a:ext cx="371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of the net is created from the faces.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is describing the net of a solid. Which solid is she describing?</a:t>
            </a:r>
            <a:endParaRPr sz="1800"/>
          </a:p>
        </p:txBody>
      </p:sp>
      <p:sp>
        <p:nvSpPr>
          <p:cNvPr id="840" name="Google Shape;84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pic>
        <p:nvPicPr>
          <p:cNvPr id="841" name="Google Shape;84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940476" y="2029375"/>
            <a:ext cx="865349" cy="8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3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542923" y="1361525"/>
            <a:ext cx="2102902" cy="907674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3"/>
          <p:cNvSpPr txBox="1"/>
          <p:nvPr/>
        </p:nvSpPr>
        <p:spPr>
          <a:xfrm>
            <a:off x="1633825" y="1421600"/>
            <a:ext cx="222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net is made of 5 faces.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73"/>
          <p:cNvGrpSpPr/>
          <p:nvPr/>
        </p:nvGrpSpPr>
        <p:grpSpPr>
          <a:xfrm>
            <a:off x="4571991" y="1489800"/>
            <a:ext cx="457200" cy="457200"/>
            <a:chOff x="1020916" y="1442088"/>
            <a:chExt cx="457200" cy="457200"/>
          </a:xfrm>
        </p:grpSpPr>
        <p:pic>
          <p:nvPicPr>
            <p:cNvPr id="845" name="Google Shape;84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7" name="Google Shape;847;p73"/>
          <p:cNvGrpSpPr/>
          <p:nvPr/>
        </p:nvGrpSpPr>
        <p:grpSpPr>
          <a:xfrm>
            <a:off x="4571991" y="2766588"/>
            <a:ext cx="457200" cy="457200"/>
            <a:chOff x="1020916" y="1442088"/>
            <a:chExt cx="457200" cy="457200"/>
          </a:xfrm>
        </p:grpSpPr>
        <p:pic>
          <p:nvPicPr>
            <p:cNvPr id="848" name="Google Shape;848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" name="Google Shape;849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0" name="Google Shape;850;p73"/>
          <p:cNvGrpSpPr/>
          <p:nvPr/>
        </p:nvGrpSpPr>
        <p:grpSpPr>
          <a:xfrm>
            <a:off x="4571991" y="4043375"/>
            <a:ext cx="457200" cy="457200"/>
            <a:chOff x="1020916" y="1442088"/>
            <a:chExt cx="457200" cy="457200"/>
          </a:xfrm>
        </p:grpSpPr>
        <p:pic>
          <p:nvPicPr>
            <p:cNvPr id="851" name="Google Shape;85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7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3" name="Google Shape;85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3887" y="3873488"/>
            <a:ext cx="1222561" cy="7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7313" y="1140775"/>
            <a:ext cx="1264925" cy="115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32875" y="2445538"/>
            <a:ext cx="1164575" cy="10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42408" y="4043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sketch of the net needs to convey the important information. It doesn’t need to be to scale.</a:t>
            </a:r>
            <a:endParaRPr sz="1800"/>
          </a:p>
        </p:txBody>
      </p:sp>
      <p:sp>
        <p:nvSpPr>
          <p:cNvPr id="862" name="Google Shape;86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pic>
        <p:nvPicPr>
          <p:cNvPr id="863" name="Google Shape;86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825" y="1508700"/>
            <a:ext cx="2070800" cy="25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4"/>
          <p:cNvSpPr txBox="1"/>
          <p:nvPr/>
        </p:nvSpPr>
        <p:spPr>
          <a:xfrm>
            <a:off x="2061300" y="3408450"/>
            <a:ext cx="7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4"/>
          <p:cNvSpPr txBox="1"/>
          <p:nvPr/>
        </p:nvSpPr>
        <p:spPr>
          <a:xfrm>
            <a:off x="283725" y="2712400"/>
            <a:ext cx="69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4"/>
          <p:cNvSpPr txBox="1"/>
          <p:nvPr/>
        </p:nvSpPr>
        <p:spPr>
          <a:xfrm>
            <a:off x="677275" y="3799600"/>
            <a:ext cx="69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4"/>
          <p:cNvSpPr txBox="1"/>
          <p:nvPr/>
        </p:nvSpPr>
        <p:spPr>
          <a:xfrm>
            <a:off x="2294050" y="2064450"/>
            <a:ext cx="69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8" name="Google Shape;868;p74"/>
          <p:cNvCxnSpPr/>
          <p:nvPr/>
        </p:nvCxnSpPr>
        <p:spPr>
          <a:xfrm>
            <a:off x="2188797" y="2297253"/>
            <a:ext cx="465000" cy="28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9" name="Google Shape;869;p74"/>
          <p:cNvCxnSpPr/>
          <p:nvPr/>
        </p:nvCxnSpPr>
        <p:spPr>
          <a:xfrm>
            <a:off x="790825" y="3679885"/>
            <a:ext cx="465000" cy="28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0" name="Google Shape;870;p74"/>
          <p:cNvCxnSpPr/>
          <p:nvPr/>
        </p:nvCxnSpPr>
        <p:spPr>
          <a:xfrm>
            <a:off x="744684" y="2104675"/>
            <a:ext cx="0" cy="150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1" name="Google Shape;871;p74"/>
          <p:cNvCxnSpPr/>
          <p:nvPr/>
        </p:nvCxnSpPr>
        <p:spPr>
          <a:xfrm flipH="1">
            <a:off x="1728075" y="3192063"/>
            <a:ext cx="898500" cy="51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2" name="Google Shape;872;p74"/>
          <p:cNvSpPr txBox="1"/>
          <p:nvPr/>
        </p:nvSpPr>
        <p:spPr>
          <a:xfrm>
            <a:off x="3727725" y="1216350"/>
            <a:ext cx="492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of these sketches is the best?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4"/>
          <p:cNvSpPr txBox="1"/>
          <p:nvPr/>
        </p:nvSpPr>
        <p:spPr>
          <a:xfrm>
            <a:off x="1327219" y="2288550"/>
            <a:ext cx="69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4"/>
          <p:cNvSpPr txBox="1"/>
          <p:nvPr/>
        </p:nvSpPr>
        <p:spPr>
          <a:xfrm>
            <a:off x="2662500" y="2639863"/>
            <a:ext cx="69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5" name="Google Shape;875;p74"/>
          <p:cNvCxnSpPr/>
          <p:nvPr/>
        </p:nvCxnSpPr>
        <p:spPr>
          <a:xfrm>
            <a:off x="1336666" y="2381522"/>
            <a:ext cx="0" cy="49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6" name="Google Shape;876;p74"/>
          <p:cNvCxnSpPr/>
          <p:nvPr/>
        </p:nvCxnSpPr>
        <p:spPr>
          <a:xfrm>
            <a:off x="2662792" y="2600189"/>
            <a:ext cx="0" cy="52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77" name="Google Shape;877;p74"/>
          <p:cNvGrpSpPr/>
          <p:nvPr/>
        </p:nvGrpSpPr>
        <p:grpSpPr>
          <a:xfrm>
            <a:off x="3058116" y="1678038"/>
            <a:ext cx="2028059" cy="2050462"/>
            <a:chOff x="3546116" y="1631338"/>
            <a:chExt cx="2028059" cy="2050462"/>
          </a:xfrm>
        </p:grpSpPr>
        <p:pic>
          <p:nvPicPr>
            <p:cNvPr id="878" name="Google Shape;878;p74"/>
            <p:cNvPicPr preferRelativeResize="0"/>
            <p:nvPr/>
          </p:nvPicPr>
          <p:blipFill rotWithShape="1">
            <a:blip r:embed="rId4">
              <a:alphaModFix/>
            </a:blip>
            <a:srcRect b="28877" l="4231" r="13131" t="19866"/>
            <a:stretch/>
          </p:blipFill>
          <p:spPr>
            <a:xfrm rot="-5400000">
              <a:off x="3705038" y="1812663"/>
              <a:ext cx="2017323" cy="1720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74"/>
            <p:cNvGrpSpPr/>
            <p:nvPr/>
          </p:nvGrpSpPr>
          <p:grpSpPr>
            <a:xfrm>
              <a:off x="3546116" y="1631338"/>
              <a:ext cx="457200" cy="457200"/>
              <a:chOff x="1020916" y="1442088"/>
              <a:chExt cx="457200" cy="457200"/>
            </a:xfrm>
          </p:grpSpPr>
          <p:pic>
            <p:nvPicPr>
              <p:cNvPr id="880" name="Google Shape;880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1" name="Google Shape;881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82" name="Google Shape;882;p74"/>
          <p:cNvGrpSpPr/>
          <p:nvPr/>
        </p:nvGrpSpPr>
        <p:grpSpPr>
          <a:xfrm>
            <a:off x="5012391" y="1678048"/>
            <a:ext cx="1956906" cy="2048652"/>
            <a:chOff x="5317191" y="1678048"/>
            <a:chExt cx="1956906" cy="2048652"/>
          </a:xfrm>
        </p:grpSpPr>
        <p:pic>
          <p:nvPicPr>
            <p:cNvPr id="883" name="Google Shape;883;p74"/>
            <p:cNvPicPr preferRelativeResize="0"/>
            <p:nvPr/>
          </p:nvPicPr>
          <p:blipFill rotWithShape="1">
            <a:blip r:embed="rId6">
              <a:alphaModFix/>
            </a:blip>
            <a:srcRect b="27483" l="5370" r="13506" t="18700"/>
            <a:stretch/>
          </p:blipFill>
          <p:spPr>
            <a:xfrm rot="-5400000">
              <a:off x="5315233" y="1767836"/>
              <a:ext cx="2048652" cy="18690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4" name="Google Shape;884;p74"/>
            <p:cNvGrpSpPr/>
            <p:nvPr/>
          </p:nvGrpSpPr>
          <p:grpSpPr>
            <a:xfrm>
              <a:off x="5317191" y="1678050"/>
              <a:ext cx="457200" cy="457200"/>
              <a:chOff x="1020916" y="1442088"/>
              <a:chExt cx="457200" cy="457200"/>
            </a:xfrm>
          </p:grpSpPr>
          <p:pic>
            <p:nvPicPr>
              <p:cNvPr id="885" name="Google Shape;885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6" name="Google Shape;886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87" name="Google Shape;887;p74"/>
          <p:cNvGrpSpPr/>
          <p:nvPr/>
        </p:nvGrpSpPr>
        <p:grpSpPr>
          <a:xfrm>
            <a:off x="6984751" y="1693250"/>
            <a:ext cx="1890623" cy="2036275"/>
            <a:chOff x="7230591" y="1769900"/>
            <a:chExt cx="1890623" cy="2036275"/>
          </a:xfrm>
        </p:grpSpPr>
        <p:pic>
          <p:nvPicPr>
            <p:cNvPr id="888" name="Google Shape;888;p74"/>
            <p:cNvPicPr preferRelativeResize="0"/>
            <p:nvPr/>
          </p:nvPicPr>
          <p:blipFill rotWithShape="1">
            <a:blip r:embed="rId7">
              <a:alphaModFix/>
            </a:blip>
            <a:srcRect b="28399" l="6017" r="13095" t="20995"/>
            <a:stretch/>
          </p:blipFill>
          <p:spPr>
            <a:xfrm rot="-5400000">
              <a:off x="7226876" y="1911837"/>
              <a:ext cx="2036275" cy="17524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9" name="Google Shape;889;p74"/>
            <p:cNvGrpSpPr/>
            <p:nvPr/>
          </p:nvGrpSpPr>
          <p:grpSpPr>
            <a:xfrm>
              <a:off x="7230591" y="1769900"/>
              <a:ext cx="457200" cy="457200"/>
              <a:chOff x="1020916" y="1442088"/>
              <a:chExt cx="457200" cy="457200"/>
            </a:xfrm>
          </p:grpSpPr>
          <p:pic>
            <p:nvPicPr>
              <p:cNvPr id="890" name="Google Shape;890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1" name="Google Shape;891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92" name="Google Shape;892;p74"/>
          <p:cNvGrpSpPr/>
          <p:nvPr/>
        </p:nvGrpSpPr>
        <p:grpSpPr>
          <a:xfrm>
            <a:off x="4998448" y="1564191"/>
            <a:ext cx="2774739" cy="3252680"/>
            <a:chOff x="5851950" y="1633401"/>
            <a:chExt cx="2574925" cy="3018449"/>
          </a:xfrm>
        </p:grpSpPr>
        <p:pic>
          <p:nvPicPr>
            <p:cNvPr id="893" name="Google Shape;893;p74"/>
            <p:cNvPicPr preferRelativeResize="0"/>
            <p:nvPr/>
          </p:nvPicPr>
          <p:blipFill rotWithShape="1">
            <a:blip r:embed="rId4">
              <a:alphaModFix/>
            </a:blip>
            <a:srcRect b="28877" l="4231" r="13131" t="19866"/>
            <a:stretch/>
          </p:blipFill>
          <p:spPr>
            <a:xfrm rot="-5400000">
              <a:off x="5630188" y="1855163"/>
              <a:ext cx="3018449" cy="2574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4" name="Google Shape;894;p74"/>
            <p:cNvGrpSpPr/>
            <p:nvPr/>
          </p:nvGrpSpPr>
          <p:grpSpPr>
            <a:xfrm>
              <a:off x="5964066" y="1678050"/>
              <a:ext cx="457200" cy="457200"/>
              <a:chOff x="1020916" y="1442088"/>
              <a:chExt cx="457200" cy="457200"/>
            </a:xfrm>
          </p:grpSpPr>
          <p:pic>
            <p:nvPicPr>
              <p:cNvPr id="895" name="Google Shape;895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6" name="Google Shape;896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97" name="Google Shape;897;p74"/>
          <p:cNvGrpSpPr/>
          <p:nvPr/>
        </p:nvGrpSpPr>
        <p:grpSpPr>
          <a:xfrm>
            <a:off x="4870014" y="1590512"/>
            <a:ext cx="2906343" cy="3200041"/>
            <a:chOff x="4374625" y="1620000"/>
            <a:chExt cx="2697052" cy="2969600"/>
          </a:xfrm>
        </p:grpSpPr>
        <p:pic>
          <p:nvPicPr>
            <p:cNvPr id="898" name="Google Shape;898;p74"/>
            <p:cNvPicPr preferRelativeResize="0"/>
            <p:nvPr/>
          </p:nvPicPr>
          <p:blipFill rotWithShape="1">
            <a:blip r:embed="rId6">
              <a:alphaModFix/>
            </a:blip>
            <a:srcRect b="27483" l="5370" r="13506" t="18700"/>
            <a:stretch/>
          </p:blipFill>
          <p:spPr>
            <a:xfrm rot="-5400000">
              <a:off x="4245051" y="1762973"/>
              <a:ext cx="2956201" cy="26970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9" name="Google Shape;899;p74"/>
            <p:cNvGrpSpPr/>
            <p:nvPr/>
          </p:nvGrpSpPr>
          <p:grpSpPr>
            <a:xfrm>
              <a:off x="4472153" y="1620000"/>
              <a:ext cx="457200" cy="457200"/>
              <a:chOff x="1020916" y="1442088"/>
              <a:chExt cx="457200" cy="457200"/>
            </a:xfrm>
          </p:grpSpPr>
          <p:pic>
            <p:nvPicPr>
              <p:cNvPr id="900" name="Google Shape;900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1" name="Google Shape;901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02" name="Google Shape;902;p74"/>
          <p:cNvGrpSpPr/>
          <p:nvPr/>
        </p:nvGrpSpPr>
        <p:grpSpPr>
          <a:xfrm>
            <a:off x="4920690" y="1560820"/>
            <a:ext cx="2804941" cy="3259391"/>
            <a:chOff x="5018825" y="1678038"/>
            <a:chExt cx="2602952" cy="3024676"/>
          </a:xfrm>
        </p:grpSpPr>
        <p:pic>
          <p:nvPicPr>
            <p:cNvPr id="903" name="Google Shape;903;p74"/>
            <p:cNvPicPr preferRelativeResize="0"/>
            <p:nvPr/>
          </p:nvPicPr>
          <p:blipFill rotWithShape="1">
            <a:blip r:embed="rId7">
              <a:alphaModFix/>
            </a:blip>
            <a:srcRect b="28399" l="6017" r="13095" t="20995"/>
            <a:stretch/>
          </p:blipFill>
          <p:spPr>
            <a:xfrm rot="-5400000">
              <a:off x="4807963" y="1888900"/>
              <a:ext cx="3024676" cy="26029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4" name="Google Shape;904;p74"/>
            <p:cNvGrpSpPr/>
            <p:nvPr/>
          </p:nvGrpSpPr>
          <p:grpSpPr>
            <a:xfrm>
              <a:off x="5108366" y="1678050"/>
              <a:ext cx="457200" cy="457200"/>
              <a:chOff x="1020916" y="1442088"/>
              <a:chExt cx="457200" cy="457200"/>
            </a:xfrm>
          </p:grpSpPr>
          <p:pic>
            <p:nvPicPr>
              <p:cNvPr id="905" name="Google Shape;905;p7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6" name="Google Shape;906;p74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07" name="Google Shape;907;p74"/>
          <p:cNvSpPr txBox="1"/>
          <p:nvPr/>
        </p:nvSpPr>
        <p:spPr>
          <a:xfrm>
            <a:off x="4013513" y="3795325"/>
            <a:ext cx="478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: it has just enough information on it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8" name="Google Shape;908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07208" y="31258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 the dimensions to the net of this right triangular prism.</a:t>
            </a:r>
            <a:endParaRPr sz="1800"/>
          </a:p>
        </p:txBody>
      </p:sp>
      <p:sp>
        <p:nvSpPr>
          <p:cNvPr id="914" name="Google Shape;91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pic>
        <p:nvPicPr>
          <p:cNvPr id="915" name="Google Shape;91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00" y="1262263"/>
            <a:ext cx="2495000" cy="17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8875" y="1293200"/>
            <a:ext cx="3557374" cy="28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5"/>
          <p:cNvSpPr txBox="1"/>
          <p:nvPr/>
        </p:nvSpPr>
        <p:spPr>
          <a:xfrm>
            <a:off x="2458275" y="2571750"/>
            <a:ext cx="9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2458275" y="1389150"/>
            <a:ext cx="9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 txBox="1"/>
          <p:nvPr/>
        </p:nvSpPr>
        <p:spPr>
          <a:xfrm>
            <a:off x="802886" y="2719784"/>
            <a:ext cx="9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 rot="-3557024">
            <a:off x="174023" y="1843175"/>
            <a:ext cx="893327" cy="4618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1" name="Google Shape;921;p75"/>
          <p:cNvCxnSpPr/>
          <p:nvPr/>
        </p:nvCxnSpPr>
        <p:spPr>
          <a:xfrm flipH="1">
            <a:off x="2102900" y="2412900"/>
            <a:ext cx="1005900" cy="5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2" name="Google Shape;922;p75"/>
          <p:cNvCxnSpPr/>
          <p:nvPr/>
        </p:nvCxnSpPr>
        <p:spPr>
          <a:xfrm rot="10800000">
            <a:off x="665500" y="2594350"/>
            <a:ext cx="1331400" cy="37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3" name="Google Shape;923;p75"/>
          <p:cNvCxnSpPr/>
          <p:nvPr/>
        </p:nvCxnSpPr>
        <p:spPr>
          <a:xfrm rot="10800000">
            <a:off x="2087528" y="1292859"/>
            <a:ext cx="1013700" cy="99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4" name="Google Shape;924;p75"/>
          <p:cNvCxnSpPr/>
          <p:nvPr/>
        </p:nvCxnSpPr>
        <p:spPr>
          <a:xfrm flipH="1" rot="10800000">
            <a:off x="612675" y="1913750"/>
            <a:ext cx="317700" cy="57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5" name="Google Shape;925;p75"/>
          <p:cNvCxnSpPr/>
          <p:nvPr/>
        </p:nvCxnSpPr>
        <p:spPr>
          <a:xfrm rot="10800000">
            <a:off x="5271850" y="1351652"/>
            <a:ext cx="135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6" name="Google Shape;926;p75"/>
          <p:cNvCxnSpPr/>
          <p:nvPr/>
        </p:nvCxnSpPr>
        <p:spPr>
          <a:xfrm rot="10800000">
            <a:off x="6687422" y="1442975"/>
            <a:ext cx="0" cy="93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7" name="Google Shape;927;p75"/>
          <p:cNvCxnSpPr/>
          <p:nvPr/>
        </p:nvCxnSpPr>
        <p:spPr>
          <a:xfrm rot="10800000">
            <a:off x="4266650" y="2805675"/>
            <a:ext cx="952500" cy="32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8" name="Google Shape;928;p75"/>
          <p:cNvCxnSpPr/>
          <p:nvPr/>
        </p:nvCxnSpPr>
        <p:spPr>
          <a:xfrm rot="10800000">
            <a:off x="5357150" y="2453250"/>
            <a:ext cx="5700" cy="57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9" name="Google Shape;929;p75"/>
          <p:cNvSpPr txBox="1"/>
          <p:nvPr/>
        </p:nvSpPr>
        <p:spPr>
          <a:xfrm>
            <a:off x="5589775" y="959494"/>
            <a:ext cx="9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0" name="Google Shape;930;p75"/>
          <p:cNvSpPr txBox="1"/>
          <p:nvPr/>
        </p:nvSpPr>
        <p:spPr>
          <a:xfrm>
            <a:off x="6687425" y="1662719"/>
            <a:ext cx="9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1" name="Google Shape;931;p75"/>
          <p:cNvSpPr txBox="1"/>
          <p:nvPr/>
        </p:nvSpPr>
        <p:spPr>
          <a:xfrm>
            <a:off x="4200000" y="2911894"/>
            <a:ext cx="9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3.5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2" name="Google Shape;932;p75"/>
          <p:cNvSpPr txBox="1"/>
          <p:nvPr/>
        </p:nvSpPr>
        <p:spPr>
          <a:xfrm>
            <a:off x="5335970" y="2496894"/>
            <a:ext cx="9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.5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6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Match the net to its prism. Sketch the missing net and prism.</a:t>
            </a:r>
            <a:endParaRPr sz="1800"/>
          </a:p>
        </p:txBody>
      </p:sp>
      <p:sp>
        <p:nvSpPr>
          <p:cNvPr id="938" name="Google Shape;93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Nets of right prisms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939" name="Google Shape;939;p76"/>
          <p:cNvGrpSpPr/>
          <p:nvPr/>
        </p:nvGrpSpPr>
        <p:grpSpPr>
          <a:xfrm>
            <a:off x="682575" y="1162050"/>
            <a:ext cx="1671600" cy="1426200"/>
            <a:chOff x="849000" y="1446900"/>
            <a:chExt cx="1671600" cy="1426200"/>
          </a:xfrm>
        </p:grpSpPr>
        <p:sp>
          <p:nvSpPr>
            <p:cNvPr id="940" name="Google Shape;940;p76"/>
            <p:cNvSpPr/>
            <p:nvPr/>
          </p:nvSpPr>
          <p:spPr>
            <a:xfrm>
              <a:off x="849000" y="14469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1" name="Google Shape;94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10613" y="1477900"/>
              <a:ext cx="948375" cy="13641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2" name="Google Shape;942;p76"/>
          <p:cNvGrpSpPr/>
          <p:nvPr/>
        </p:nvGrpSpPr>
        <p:grpSpPr>
          <a:xfrm>
            <a:off x="6753725" y="1162050"/>
            <a:ext cx="1671600" cy="1426200"/>
            <a:chOff x="6210000" y="1446900"/>
            <a:chExt cx="1671600" cy="1426200"/>
          </a:xfrm>
        </p:grpSpPr>
        <p:sp>
          <p:nvSpPr>
            <p:cNvPr id="943" name="Google Shape;943;p76"/>
            <p:cNvSpPr/>
            <p:nvPr/>
          </p:nvSpPr>
          <p:spPr>
            <a:xfrm>
              <a:off x="6210000" y="14469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4" name="Google Shape;944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37650" y="1477900"/>
              <a:ext cx="1401818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5" name="Google Shape;945;p76"/>
          <p:cNvSpPr/>
          <p:nvPr/>
        </p:nvSpPr>
        <p:spPr>
          <a:xfrm>
            <a:off x="4730013" y="1162050"/>
            <a:ext cx="1671600" cy="14262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6" name="Google Shape;946;p76"/>
          <p:cNvGrpSpPr/>
          <p:nvPr/>
        </p:nvGrpSpPr>
        <p:grpSpPr>
          <a:xfrm>
            <a:off x="2706292" y="1162050"/>
            <a:ext cx="1671600" cy="1426200"/>
            <a:chOff x="2706292" y="1162050"/>
            <a:chExt cx="1671600" cy="1426200"/>
          </a:xfrm>
        </p:grpSpPr>
        <p:sp>
          <p:nvSpPr>
            <p:cNvPr id="947" name="Google Shape;947;p76"/>
            <p:cNvSpPr/>
            <p:nvPr/>
          </p:nvSpPr>
          <p:spPr>
            <a:xfrm>
              <a:off x="2706292" y="116205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8" name="Google Shape;948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78842" y="1193050"/>
              <a:ext cx="132651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9" name="Google Shape;949;p76"/>
            <p:cNvPicPr preferRelativeResize="0"/>
            <p:nvPr/>
          </p:nvPicPr>
          <p:blipFill rotWithShape="1">
            <a:blip r:embed="rId5">
              <a:alphaModFix/>
            </a:blip>
            <a:srcRect b="64837" l="0" r="71233" t="0"/>
            <a:stretch/>
          </p:blipFill>
          <p:spPr>
            <a:xfrm>
              <a:off x="2765700" y="1635300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0" name="Google Shape;950;p76"/>
            <p:cNvPicPr preferRelativeResize="0"/>
            <p:nvPr/>
          </p:nvPicPr>
          <p:blipFill rotWithShape="1">
            <a:blip r:embed="rId5">
              <a:alphaModFix/>
            </a:blip>
            <a:srcRect b="0" l="0" r="66337" t="0"/>
            <a:stretch/>
          </p:blipFill>
          <p:spPr>
            <a:xfrm>
              <a:off x="298327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1" name="Google Shape;951;p76"/>
            <p:cNvPicPr preferRelativeResize="0"/>
            <p:nvPr/>
          </p:nvPicPr>
          <p:blipFill rotWithShape="1">
            <a:blip r:embed="rId5">
              <a:alphaModFix/>
            </a:blip>
            <a:srcRect b="64837" l="0" r="71233" t="0"/>
            <a:stretch/>
          </p:blipFill>
          <p:spPr>
            <a:xfrm>
              <a:off x="3909450" y="1973663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2" name="Google Shape;952;p76"/>
            <p:cNvPicPr preferRelativeResize="0"/>
            <p:nvPr/>
          </p:nvPicPr>
          <p:blipFill rotWithShape="1">
            <a:blip r:embed="rId5">
              <a:alphaModFix/>
            </a:blip>
            <a:srcRect b="0" l="64288" r="0" t="0"/>
            <a:stretch/>
          </p:blipFill>
          <p:spPr>
            <a:xfrm>
              <a:off x="373432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3" name="Google Shape;953;p76"/>
          <p:cNvGrpSpPr/>
          <p:nvPr/>
        </p:nvGrpSpPr>
        <p:grpSpPr>
          <a:xfrm>
            <a:off x="4730017" y="3358950"/>
            <a:ext cx="1671600" cy="1426200"/>
            <a:chOff x="4320708" y="3209000"/>
            <a:chExt cx="1671600" cy="1426200"/>
          </a:xfrm>
        </p:grpSpPr>
        <p:sp>
          <p:nvSpPr>
            <p:cNvPr id="954" name="Google Shape;954;p76"/>
            <p:cNvSpPr/>
            <p:nvPr/>
          </p:nvSpPr>
          <p:spPr>
            <a:xfrm>
              <a:off x="4320708" y="32090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55" name="Google Shape;955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03100" y="3240000"/>
              <a:ext cx="1106805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6" name="Google Shape;956;p76"/>
          <p:cNvGrpSpPr/>
          <p:nvPr/>
        </p:nvGrpSpPr>
        <p:grpSpPr>
          <a:xfrm>
            <a:off x="6753733" y="3358950"/>
            <a:ext cx="1671600" cy="1426200"/>
            <a:chOff x="6202783" y="3209000"/>
            <a:chExt cx="1671600" cy="1426200"/>
          </a:xfrm>
        </p:grpSpPr>
        <p:sp>
          <p:nvSpPr>
            <p:cNvPr id="957" name="Google Shape;957;p76"/>
            <p:cNvSpPr/>
            <p:nvPr/>
          </p:nvSpPr>
          <p:spPr>
            <a:xfrm>
              <a:off x="6202783" y="32090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58" name="Google Shape;958;p7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10063" y="3240000"/>
              <a:ext cx="1257004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9" name="Google Shape;959;p76"/>
          <p:cNvGrpSpPr/>
          <p:nvPr/>
        </p:nvGrpSpPr>
        <p:grpSpPr>
          <a:xfrm>
            <a:off x="682583" y="3358950"/>
            <a:ext cx="1671600" cy="1426200"/>
            <a:chOff x="849008" y="3243925"/>
            <a:chExt cx="1671600" cy="1426200"/>
          </a:xfrm>
        </p:grpSpPr>
        <p:sp>
          <p:nvSpPr>
            <p:cNvPr id="960" name="Google Shape;960;p76"/>
            <p:cNvSpPr/>
            <p:nvPr/>
          </p:nvSpPr>
          <p:spPr>
            <a:xfrm>
              <a:off x="849008" y="3243925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61" name="Google Shape;961;p7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01638" y="3274925"/>
              <a:ext cx="966313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2" name="Google Shape;962;p76"/>
          <p:cNvSpPr/>
          <p:nvPr/>
        </p:nvSpPr>
        <p:spPr>
          <a:xfrm>
            <a:off x="2703893" y="3358950"/>
            <a:ext cx="1671600" cy="14262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77"/>
          <p:cNvGrpSpPr/>
          <p:nvPr/>
        </p:nvGrpSpPr>
        <p:grpSpPr>
          <a:xfrm>
            <a:off x="2706292" y="1162050"/>
            <a:ext cx="1671600" cy="1426200"/>
            <a:chOff x="2706292" y="1162050"/>
            <a:chExt cx="1671600" cy="1426200"/>
          </a:xfrm>
        </p:grpSpPr>
        <p:sp>
          <p:nvSpPr>
            <p:cNvPr id="968" name="Google Shape;968;p77"/>
            <p:cNvSpPr/>
            <p:nvPr/>
          </p:nvSpPr>
          <p:spPr>
            <a:xfrm>
              <a:off x="2706292" y="116205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69" name="Google Shape;969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78842" y="1193050"/>
              <a:ext cx="132651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77"/>
            <p:cNvPicPr preferRelativeResize="0"/>
            <p:nvPr/>
          </p:nvPicPr>
          <p:blipFill rotWithShape="1">
            <a:blip r:embed="rId3">
              <a:alphaModFix/>
            </a:blip>
            <a:srcRect b="64837" l="0" r="71233" t="0"/>
            <a:stretch/>
          </p:blipFill>
          <p:spPr>
            <a:xfrm>
              <a:off x="2765700" y="1635300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77"/>
            <p:cNvPicPr preferRelativeResize="0"/>
            <p:nvPr/>
          </p:nvPicPr>
          <p:blipFill rotWithShape="1">
            <a:blip r:embed="rId3">
              <a:alphaModFix/>
            </a:blip>
            <a:srcRect b="0" l="0" r="66337" t="0"/>
            <a:stretch/>
          </p:blipFill>
          <p:spPr>
            <a:xfrm>
              <a:off x="298327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77"/>
            <p:cNvPicPr preferRelativeResize="0"/>
            <p:nvPr/>
          </p:nvPicPr>
          <p:blipFill rotWithShape="1">
            <a:blip r:embed="rId3">
              <a:alphaModFix/>
            </a:blip>
            <a:srcRect b="64837" l="0" r="71233" t="0"/>
            <a:stretch/>
          </p:blipFill>
          <p:spPr>
            <a:xfrm>
              <a:off x="3909450" y="1973663"/>
              <a:ext cx="342100" cy="47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3" name="Google Shape;973;p77"/>
            <p:cNvPicPr preferRelativeResize="0"/>
            <p:nvPr/>
          </p:nvPicPr>
          <p:blipFill rotWithShape="1">
            <a:blip r:embed="rId3">
              <a:alphaModFix/>
            </a:blip>
            <a:srcRect b="0" l="64288" r="0" t="0"/>
            <a:stretch/>
          </p:blipFill>
          <p:spPr>
            <a:xfrm>
              <a:off x="3734325" y="1193050"/>
              <a:ext cx="342100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4" name="Google Shape;97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Nets of right prisms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975" name="Google Shape;975;p77"/>
          <p:cNvGrpSpPr/>
          <p:nvPr/>
        </p:nvGrpSpPr>
        <p:grpSpPr>
          <a:xfrm>
            <a:off x="682575" y="1162050"/>
            <a:ext cx="1671600" cy="1426200"/>
            <a:chOff x="849000" y="1446900"/>
            <a:chExt cx="1671600" cy="1426200"/>
          </a:xfrm>
        </p:grpSpPr>
        <p:sp>
          <p:nvSpPr>
            <p:cNvPr id="976" name="Google Shape;976;p77"/>
            <p:cNvSpPr/>
            <p:nvPr/>
          </p:nvSpPr>
          <p:spPr>
            <a:xfrm>
              <a:off x="849000" y="14469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77" name="Google Shape;977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10613" y="1477900"/>
              <a:ext cx="948375" cy="13641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8" name="Google Shape;978;p77"/>
          <p:cNvGrpSpPr/>
          <p:nvPr/>
        </p:nvGrpSpPr>
        <p:grpSpPr>
          <a:xfrm>
            <a:off x="6753725" y="1162050"/>
            <a:ext cx="1671600" cy="1426200"/>
            <a:chOff x="6210000" y="1446900"/>
            <a:chExt cx="1671600" cy="1426200"/>
          </a:xfrm>
        </p:grpSpPr>
        <p:sp>
          <p:nvSpPr>
            <p:cNvPr id="979" name="Google Shape;979;p77"/>
            <p:cNvSpPr/>
            <p:nvPr/>
          </p:nvSpPr>
          <p:spPr>
            <a:xfrm>
              <a:off x="6210000" y="14469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80" name="Google Shape;980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37650" y="1477900"/>
              <a:ext cx="1401818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1" name="Google Shape;981;p77"/>
          <p:cNvGrpSpPr/>
          <p:nvPr/>
        </p:nvGrpSpPr>
        <p:grpSpPr>
          <a:xfrm>
            <a:off x="4730017" y="3358950"/>
            <a:ext cx="1671600" cy="1426200"/>
            <a:chOff x="4320708" y="3209000"/>
            <a:chExt cx="1671600" cy="1426200"/>
          </a:xfrm>
        </p:grpSpPr>
        <p:sp>
          <p:nvSpPr>
            <p:cNvPr id="982" name="Google Shape;982;p77"/>
            <p:cNvSpPr/>
            <p:nvPr/>
          </p:nvSpPr>
          <p:spPr>
            <a:xfrm>
              <a:off x="4320708" y="32090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83" name="Google Shape;983;p7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03100" y="3240000"/>
              <a:ext cx="1106805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4" name="Google Shape;984;p77"/>
          <p:cNvGrpSpPr/>
          <p:nvPr/>
        </p:nvGrpSpPr>
        <p:grpSpPr>
          <a:xfrm>
            <a:off x="6753733" y="3358950"/>
            <a:ext cx="1671600" cy="1426200"/>
            <a:chOff x="6202783" y="3209000"/>
            <a:chExt cx="1671600" cy="1426200"/>
          </a:xfrm>
        </p:grpSpPr>
        <p:sp>
          <p:nvSpPr>
            <p:cNvPr id="985" name="Google Shape;985;p77"/>
            <p:cNvSpPr/>
            <p:nvPr/>
          </p:nvSpPr>
          <p:spPr>
            <a:xfrm>
              <a:off x="6202783" y="3209000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86" name="Google Shape;986;p7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410063" y="3240000"/>
              <a:ext cx="1257004" cy="136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7" name="Google Shape;987;p77"/>
          <p:cNvGrpSpPr/>
          <p:nvPr/>
        </p:nvGrpSpPr>
        <p:grpSpPr>
          <a:xfrm>
            <a:off x="682583" y="3358950"/>
            <a:ext cx="1671600" cy="1426200"/>
            <a:chOff x="849008" y="3243925"/>
            <a:chExt cx="1671600" cy="1426200"/>
          </a:xfrm>
        </p:grpSpPr>
        <p:sp>
          <p:nvSpPr>
            <p:cNvPr id="988" name="Google Shape;988;p77"/>
            <p:cNvSpPr/>
            <p:nvPr/>
          </p:nvSpPr>
          <p:spPr>
            <a:xfrm>
              <a:off x="849008" y="3243925"/>
              <a:ext cx="1671600" cy="14262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89" name="Google Shape;989;p7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01638" y="3274925"/>
              <a:ext cx="966313" cy="1364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0" name="Google Shape;990;p77"/>
          <p:cNvSpPr/>
          <p:nvPr/>
        </p:nvSpPr>
        <p:spPr>
          <a:xfrm>
            <a:off x="2706300" y="3358950"/>
            <a:ext cx="1671600" cy="14262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7"/>
          <p:cNvSpPr/>
          <p:nvPr/>
        </p:nvSpPr>
        <p:spPr>
          <a:xfrm>
            <a:off x="4730013" y="1162050"/>
            <a:ext cx="1671600" cy="14262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92" name="Google Shape;992;p77"/>
          <p:cNvCxnSpPr>
            <a:stCxn id="976" idx="2"/>
            <a:endCxn id="982" idx="0"/>
          </p:cNvCxnSpPr>
          <p:nvPr/>
        </p:nvCxnSpPr>
        <p:spPr>
          <a:xfrm>
            <a:off x="1518375" y="2588250"/>
            <a:ext cx="4047300" cy="77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7"/>
          <p:cNvCxnSpPr>
            <a:endCxn id="985" idx="0"/>
          </p:cNvCxnSpPr>
          <p:nvPr/>
        </p:nvCxnSpPr>
        <p:spPr>
          <a:xfrm>
            <a:off x="3542233" y="2588250"/>
            <a:ext cx="4047300" cy="77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77"/>
          <p:cNvCxnSpPr>
            <a:stCxn id="979" idx="2"/>
            <a:endCxn id="990" idx="0"/>
          </p:cNvCxnSpPr>
          <p:nvPr/>
        </p:nvCxnSpPr>
        <p:spPr>
          <a:xfrm flipH="1">
            <a:off x="3542225" y="2588250"/>
            <a:ext cx="4047300" cy="77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7"/>
          <p:cNvCxnSpPr>
            <a:stCxn id="991" idx="2"/>
            <a:endCxn id="988" idx="0"/>
          </p:cNvCxnSpPr>
          <p:nvPr/>
        </p:nvCxnSpPr>
        <p:spPr>
          <a:xfrm flipH="1">
            <a:off x="1518513" y="2588250"/>
            <a:ext cx="4047300" cy="77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96" name="Google Shape;996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61425" y="3412275"/>
            <a:ext cx="1361350" cy="13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31874" y="1261225"/>
            <a:ext cx="1267876" cy="124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7"/>
          <p:cNvSpPr txBox="1"/>
          <p:nvPr/>
        </p:nvSpPr>
        <p:spPr>
          <a:xfrm>
            <a:off x="2702743" y="3172325"/>
            <a:ext cx="59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4730018" y="1055763"/>
            <a:ext cx="5997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7"/>
          <p:cNvSpPr txBox="1"/>
          <p:nvPr>
            <p:ph idx="1" type="body"/>
          </p:nvPr>
        </p:nvSpPr>
        <p:spPr>
          <a:xfrm>
            <a:off x="324000" y="7593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Match the net to its prism. Sketch the missing net and prism.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sp>
        <p:nvSpPr>
          <p:cNvPr id="1006" name="Google Shape;1006;p7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007" name="Google Shape;1007;p7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008" name="Google Shape;1008;p7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pic>
        <p:nvPicPr>
          <p:cNvPr id="1009" name="Google Shape;10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47" y="277362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50" y="2194716"/>
            <a:ext cx="2730430" cy="22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9"/>
          <p:cNvSpPr txBox="1"/>
          <p:nvPr>
            <p:ph idx="1" type="body"/>
          </p:nvPr>
        </p:nvSpPr>
        <p:spPr>
          <a:xfrm>
            <a:off x="324000" y="614838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surface area is the total of all the faces’ areas.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net is a compound shape made up of the faces of the solid.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⇒ Nets can help to find the surface area of prisms (and other 3D shapes). </a:t>
            </a:r>
            <a:endParaRPr sz="1800"/>
          </a:p>
        </p:txBody>
      </p:sp>
      <p:sp>
        <p:nvSpPr>
          <p:cNvPr id="1016" name="Google Shape;101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017" name="Google Shape;1017;p79"/>
          <p:cNvSpPr txBox="1"/>
          <p:nvPr/>
        </p:nvSpPr>
        <p:spPr>
          <a:xfrm rot="2344862">
            <a:off x="1408559" y="2636669"/>
            <a:ext cx="325022" cy="4617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9"/>
          <p:cNvSpPr txBox="1"/>
          <p:nvPr/>
        </p:nvSpPr>
        <p:spPr>
          <a:xfrm>
            <a:off x="551623" y="3053380"/>
            <a:ext cx="71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9"/>
          <p:cNvSpPr txBox="1"/>
          <p:nvPr/>
        </p:nvSpPr>
        <p:spPr>
          <a:xfrm>
            <a:off x="1232850" y="3879000"/>
            <a:ext cx="6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 txBox="1"/>
          <p:nvPr/>
        </p:nvSpPr>
        <p:spPr>
          <a:xfrm>
            <a:off x="3198088" y="2507336"/>
            <a:ext cx="6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 txBox="1"/>
          <p:nvPr/>
        </p:nvSpPr>
        <p:spPr>
          <a:xfrm>
            <a:off x="3106200" y="3932400"/>
            <a:ext cx="11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2" name="Google Shape;1022;p79"/>
          <p:cNvCxnSpPr/>
          <p:nvPr/>
        </p:nvCxnSpPr>
        <p:spPr>
          <a:xfrm>
            <a:off x="1210275" y="2946000"/>
            <a:ext cx="0" cy="65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3" name="Google Shape;1023;p79"/>
          <p:cNvCxnSpPr/>
          <p:nvPr/>
        </p:nvCxnSpPr>
        <p:spPr>
          <a:xfrm rot="10800000">
            <a:off x="1278263" y="3722600"/>
            <a:ext cx="1213800" cy="71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4" name="Google Shape;1024;p79"/>
          <p:cNvCxnSpPr/>
          <p:nvPr/>
        </p:nvCxnSpPr>
        <p:spPr>
          <a:xfrm flipH="1">
            <a:off x="2565776" y="3699348"/>
            <a:ext cx="1245900" cy="7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5" name="Google Shape;1025;p79"/>
          <p:cNvCxnSpPr/>
          <p:nvPr/>
        </p:nvCxnSpPr>
        <p:spPr>
          <a:xfrm rot="10800000">
            <a:off x="2609725" y="2179975"/>
            <a:ext cx="1225200" cy="139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6" name="Google Shape;1026;p79"/>
          <p:cNvSpPr txBox="1"/>
          <p:nvPr/>
        </p:nvSpPr>
        <p:spPr>
          <a:xfrm>
            <a:off x="4386600" y="1878350"/>
            <a:ext cx="44337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triangular prism has 5 faces: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congruent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right-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angled scalene triangles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different rectangles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150" y="2194716"/>
            <a:ext cx="2730430" cy="228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80"/>
          <p:cNvSpPr txBox="1"/>
          <p:nvPr>
            <p:ph idx="1" type="body"/>
          </p:nvPr>
        </p:nvSpPr>
        <p:spPr>
          <a:xfrm>
            <a:off x="324000" y="613488"/>
            <a:ext cx="82377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surface area is the total of all the faces’ areas.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net is a compound shape made up of the faces of the solid.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⇒ Nets can help to find the surface area of prisms (and other 3D shapes). </a:t>
            </a:r>
            <a:endParaRPr sz="1800"/>
          </a:p>
        </p:txBody>
      </p:sp>
      <p:sp>
        <p:nvSpPr>
          <p:cNvPr id="1033" name="Google Shape;103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034" name="Google Shape;1034;p80"/>
          <p:cNvSpPr txBox="1"/>
          <p:nvPr/>
        </p:nvSpPr>
        <p:spPr>
          <a:xfrm rot="2344862">
            <a:off x="1408559" y="2636669"/>
            <a:ext cx="325022" cy="4617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0"/>
          <p:cNvSpPr txBox="1"/>
          <p:nvPr/>
        </p:nvSpPr>
        <p:spPr>
          <a:xfrm>
            <a:off x="551623" y="3053380"/>
            <a:ext cx="71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0"/>
          <p:cNvSpPr txBox="1"/>
          <p:nvPr/>
        </p:nvSpPr>
        <p:spPr>
          <a:xfrm>
            <a:off x="1232850" y="3879000"/>
            <a:ext cx="6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0"/>
          <p:cNvSpPr txBox="1"/>
          <p:nvPr/>
        </p:nvSpPr>
        <p:spPr>
          <a:xfrm>
            <a:off x="3198088" y="2507336"/>
            <a:ext cx="6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0"/>
          <p:cNvSpPr txBox="1"/>
          <p:nvPr/>
        </p:nvSpPr>
        <p:spPr>
          <a:xfrm>
            <a:off x="3106200" y="3932400"/>
            <a:ext cx="11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9" name="Google Shape;1039;p80"/>
          <p:cNvCxnSpPr/>
          <p:nvPr/>
        </p:nvCxnSpPr>
        <p:spPr>
          <a:xfrm>
            <a:off x="1210275" y="2946000"/>
            <a:ext cx="0" cy="65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0" name="Google Shape;1040;p80"/>
          <p:cNvCxnSpPr/>
          <p:nvPr/>
        </p:nvCxnSpPr>
        <p:spPr>
          <a:xfrm rot="10800000">
            <a:off x="1278263" y="3722600"/>
            <a:ext cx="1213800" cy="71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1" name="Google Shape;1041;p80"/>
          <p:cNvCxnSpPr/>
          <p:nvPr/>
        </p:nvCxnSpPr>
        <p:spPr>
          <a:xfrm flipH="1">
            <a:off x="2565776" y="3699348"/>
            <a:ext cx="1245900" cy="7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2" name="Google Shape;1042;p80"/>
          <p:cNvCxnSpPr/>
          <p:nvPr/>
        </p:nvCxnSpPr>
        <p:spPr>
          <a:xfrm rot="10800000">
            <a:off x="2609725" y="2179975"/>
            <a:ext cx="1225200" cy="139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043" name="Google Shape;1043;p80"/>
          <p:cNvGrpSpPr/>
          <p:nvPr/>
        </p:nvGrpSpPr>
        <p:grpSpPr>
          <a:xfrm>
            <a:off x="5764525" y="1800063"/>
            <a:ext cx="2739192" cy="3020342"/>
            <a:chOff x="9775700" y="1077563"/>
            <a:chExt cx="2739192" cy="3020342"/>
          </a:xfrm>
        </p:grpSpPr>
        <p:pic>
          <p:nvPicPr>
            <p:cNvPr id="1044" name="Google Shape;1044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784467" y="1189172"/>
              <a:ext cx="2730425" cy="26833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5" name="Google Shape;1045;p80"/>
            <p:cNvGrpSpPr/>
            <p:nvPr/>
          </p:nvGrpSpPr>
          <p:grpSpPr>
            <a:xfrm>
              <a:off x="9775700" y="1077563"/>
              <a:ext cx="2225150" cy="3020342"/>
              <a:chOff x="4999775" y="2095225"/>
              <a:chExt cx="2225150" cy="3020342"/>
            </a:xfrm>
          </p:grpSpPr>
          <p:sp>
            <p:nvSpPr>
              <p:cNvPr id="1046" name="Google Shape;1046;p80"/>
              <p:cNvSpPr/>
              <p:nvPr/>
            </p:nvSpPr>
            <p:spPr>
              <a:xfrm>
                <a:off x="4999775" y="2095225"/>
                <a:ext cx="543000" cy="476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47" name="Google Shape;1047;p80"/>
              <p:cNvSpPr txBox="1"/>
              <p:nvPr/>
            </p:nvSpPr>
            <p:spPr>
              <a:xfrm>
                <a:off x="6205251" y="3388150"/>
                <a:ext cx="711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48" name="Google Shape;1048;p80"/>
              <p:cNvSpPr txBox="1"/>
              <p:nvPr/>
            </p:nvSpPr>
            <p:spPr>
              <a:xfrm>
                <a:off x="5232825" y="3885550"/>
                <a:ext cx="679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49" name="Google Shape;1049;p80"/>
              <p:cNvSpPr txBox="1"/>
              <p:nvPr/>
            </p:nvSpPr>
            <p:spPr>
              <a:xfrm>
                <a:off x="6057025" y="4684467"/>
                <a:ext cx="116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4.5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50" name="Google Shape;1050;p80"/>
              <p:cNvSpPr txBox="1"/>
              <p:nvPr/>
            </p:nvSpPr>
            <p:spPr>
              <a:xfrm>
                <a:off x="5302015" y="2594286"/>
                <a:ext cx="679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51" name="Google Shape;1051;p80"/>
              <p:cNvCxnSpPr/>
              <p:nvPr/>
            </p:nvCxnSpPr>
            <p:spPr>
              <a:xfrm>
                <a:off x="6746300" y="3321850"/>
                <a:ext cx="0" cy="563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52" name="Google Shape;1052;p80"/>
              <p:cNvCxnSpPr/>
              <p:nvPr/>
            </p:nvCxnSpPr>
            <p:spPr>
              <a:xfrm>
                <a:off x="5856350" y="2321725"/>
                <a:ext cx="0" cy="976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53" name="Google Shape;1053;p80"/>
              <p:cNvCxnSpPr/>
              <p:nvPr/>
            </p:nvCxnSpPr>
            <p:spPr>
              <a:xfrm rot="10800000">
                <a:off x="5929175" y="4782992"/>
                <a:ext cx="893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54" name="Google Shape;1054;p80"/>
              <p:cNvCxnSpPr/>
              <p:nvPr/>
            </p:nvCxnSpPr>
            <p:spPr>
              <a:xfrm rot="10800000">
                <a:off x="5147625" y="3980450"/>
                <a:ext cx="76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055" name="Google Shape;1055;p80"/>
          <p:cNvSpPr txBox="1"/>
          <p:nvPr/>
        </p:nvSpPr>
        <p:spPr>
          <a:xfrm>
            <a:off x="4386600" y="1884900"/>
            <a:ext cx="204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Its net could look like this: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oogle Shape;1060;p81"/>
          <p:cNvGrpSpPr/>
          <p:nvPr/>
        </p:nvGrpSpPr>
        <p:grpSpPr>
          <a:xfrm>
            <a:off x="438553" y="1461283"/>
            <a:ext cx="2739192" cy="3016642"/>
            <a:chOff x="9775700" y="1077563"/>
            <a:chExt cx="2739192" cy="3016642"/>
          </a:xfrm>
        </p:grpSpPr>
        <p:pic>
          <p:nvPicPr>
            <p:cNvPr id="1061" name="Google Shape;1061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84467" y="1189172"/>
              <a:ext cx="2730425" cy="26833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2" name="Google Shape;1062;p81"/>
            <p:cNvGrpSpPr/>
            <p:nvPr/>
          </p:nvGrpSpPr>
          <p:grpSpPr>
            <a:xfrm>
              <a:off x="9775700" y="1077563"/>
              <a:ext cx="2136600" cy="3016642"/>
              <a:chOff x="4999775" y="2095225"/>
              <a:chExt cx="2136600" cy="3016642"/>
            </a:xfrm>
          </p:grpSpPr>
          <p:sp>
            <p:nvSpPr>
              <p:cNvPr id="1063" name="Google Shape;1063;p81"/>
              <p:cNvSpPr/>
              <p:nvPr/>
            </p:nvSpPr>
            <p:spPr>
              <a:xfrm>
                <a:off x="4999775" y="2095225"/>
                <a:ext cx="543000" cy="476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4" name="Google Shape;1064;p81"/>
              <p:cNvSpPr txBox="1"/>
              <p:nvPr/>
            </p:nvSpPr>
            <p:spPr>
              <a:xfrm>
                <a:off x="6137100" y="3388150"/>
                <a:ext cx="711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5" name="Google Shape;1065;p81"/>
              <p:cNvSpPr txBox="1"/>
              <p:nvPr/>
            </p:nvSpPr>
            <p:spPr>
              <a:xfrm>
                <a:off x="5232825" y="3885550"/>
                <a:ext cx="679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6" name="Google Shape;1066;p81"/>
              <p:cNvSpPr txBox="1"/>
              <p:nvPr/>
            </p:nvSpPr>
            <p:spPr>
              <a:xfrm>
                <a:off x="5968475" y="4680767"/>
                <a:ext cx="116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4.5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7" name="Google Shape;1067;p81"/>
              <p:cNvSpPr txBox="1"/>
              <p:nvPr/>
            </p:nvSpPr>
            <p:spPr>
              <a:xfrm>
                <a:off x="5232813" y="2575661"/>
                <a:ext cx="679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r>
                  <a:rPr lang="en-GB" sz="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cm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68" name="Google Shape;1068;p81"/>
              <p:cNvCxnSpPr/>
              <p:nvPr/>
            </p:nvCxnSpPr>
            <p:spPr>
              <a:xfrm>
                <a:off x="6746300" y="3321850"/>
                <a:ext cx="0" cy="563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69" name="Google Shape;1069;p81"/>
              <p:cNvCxnSpPr/>
              <p:nvPr/>
            </p:nvCxnSpPr>
            <p:spPr>
              <a:xfrm>
                <a:off x="5856350" y="2321725"/>
                <a:ext cx="0" cy="976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70" name="Google Shape;1070;p81"/>
              <p:cNvCxnSpPr/>
              <p:nvPr/>
            </p:nvCxnSpPr>
            <p:spPr>
              <a:xfrm rot="10800000">
                <a:off x="5929175" y="4782992"/>
                <a:ext cx="893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071" name="Google Shape;1071;p81"/>
              <p:cNvCxnSpPr/>
              <p:nvPr/>
            </p:nvCxnSpPr>
            <p:spPr>
              <a:xfrm rot="10800000">
                <a:off x="5147625" y="3980450"/>
                <a:ext cx="7644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sp>
        <p:nvSpPr>
          <p:cNvPr id="1072" name="Google Shape;1072;p81"/>
          <p:cNvSpPr txBox="1"/>
          <p:nvPr>
            <p:ph idx="1" type="body"/>
          </p:nvPr>
        </p:nvSpPr>
        <p:spPr>
          <a:xfrm>
            <a:off x="324000" y="759300"/>
            <a:ext cx="7639800" cy="3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First we will find the area of each face. </a:t>
            </a:r>
            <a:endParaRPr sz="1800"/>
          </a:p>
        </p:txBody>
      </p:sp>
      <p:sp>
        <p:nvSpPr>
          <p:cNvPr id="1073" name="Google Shape;107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074" name="Google Shape;1074;p81"/>
          <p:cNvSpPr txBox="1"/>
          <p:nvPr/>
        </p:nvSpPr>
        <p:spPr>
          <a:xfrm>
            <a:off x="1649475" y="1922275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1"/>
          <p:cNvSpPr txBox="1"/>
          <p:nvPr/>
        </p:nvSpPr>
        <p:spPr>
          <a:xfrm>
            <a:off x="1337142" y="2603297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1"/>
          <p:cNvSpPr txBox="1"/>
          <p:nvPr/>
        </p:nvSpPr>
        <p:spPr>
          <a:xfrm>
            <a:off x="1649475" y="3399011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1"/>
          <p:cNvSpPr txBox="1"/>
          <p:nvPr/>
        </p:nvSpPr>
        <p:spPr>
          <a:xfrm>
            <a:off x="989350" y="2781286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1"/>
          <p:cNvSpPr txBox="1"/>
          <p:nvPr/>
        </p:nvSpPr>
        <p:spPr>
          <a:xfrm>
            <a:off x="3359700" y="1099675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A: 5 ✕ 4.5 = 22.5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1"/>
          <p:cNvSpPr txBox="1"/>
          <p:nvPr/>
        </p:nvSpPr>
        <p:spPr>
          <a:xfrm>
            <a:off x="3359700" y="1561375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3 ✕ 4.5 = 13.5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1"/>
          <p:cNvSpPr txBox="1"/>
          <p:nvPr/>
        </p:nvSpPr>
        <p:spPr>
          <a:xfrm>
            <a:off x="3359700" y="2023075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4 ✕ 4.5 = 18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1"/>
          <p:cNvSpPr txBox="1"/>
          <p:nvPr/>
        </p:nvSpPr>
        <p:spPr>
          <a:xfrm>
            <a:off x="3359700" y="2538438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(3 ✕ 4) ÷ 2 = 6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1"/>
          <p:cNvSpPr txBox="1"/>
          <p:nvPr/>
        </p:nvSpPr>
        <p:spPr>
          <a:xfrm>
            <a:off x="3359700" y="3053825"/>
            <a:ext cx="406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D: (3 ✕ 4) ÷ 2 = 6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1"/>
          <p:cNvSpPr txBox="1"/>
          <p:nvPr/>
        </p:nvSpPr>
        <p:spPr>
          <a:xfrm>
            <a:off x="2265573" y="2796367"/>
            <a:ext cx="39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1"/>
          <p:cNvSpPr txBox="1"/>
          <p:nvPr/>
        </p:nvSpPr>
        <p:spPr>
          <a:xfrm>
            <a:off x="3359700" y="4236825"/>
            <a:ext cx="519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22.5 + 13.5 + 18 + 6 + 6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</a:t>
            </a:r>
            <a:r>
              <a:rPr lang="en-GB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66</a:t>
            </a:r>
            <a:r>
              <a:rPr lang="en-GB" sz="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1"/>
          <p:cNvSpPr txBox="1"/>
          <p:nvPr/>
        </p:nvSpPr>
        <p:spPr>
          <a:xfrm>
            <a:off x="3359700" y="3531100"/>
            <a:ext cx="5450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we will sum the areas to find the surface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091" name="Google Shape;1091;p82"/>
          <p:cNvSpPr txBox="1"/>
          <p:nvPr>
            <p:ph idx="1" type="body"/>
          </p:nvPr>
        </p:nvSpPr>
        <p:spPr>
          <a:xfrm>
            <a:off x="324000" y="759300"/>
            <a:ext cx="8237700" cy="9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Nets are made up of the faces from the solid. </a:t>
            </a:r>
            <a:br>
              <a:rPr lang="en-GB" sz="1800"/>
            </a:br>
            <a:r>
              <a:rPr lang="en-GB" sz="1800"/>
              <a:t>The surface area is not reliant on the arrangement of the faces, only the total area.</a:t>
            </a:r>
            <a:endParaRPr sz="1800"/>
          </a:p>
        </p:txBody>
      </p:sp>
      <p:grpSp>
        <p:nvGrpSpPr>
          <p:cNvPr id="1092" name="Google Shape;1092;p82"/>
          <p:cNvGrpSpPr/>
          <p:nvPr/>
        </p:nvGrpSpPr>
        <p:grpSpPr>
          <a:xfrm>
            <a:off x="436203" y="1811669"/>
            <a:ext cx="3012523" cy="3114681"/>
            <a:chOff x="436203" y="1811669"/>
            <a:chExt cx="3012523" cy="3114681"/>
          </a:xfrm>
        </p:grpSpPr>
        <p:pic>
          <p:nvPicPr>
            <p:cNvPr id="1093" name="Google Shape;1093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6203" y="2814125"/>
              <a:ext cx="707421" cy="1931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82"/>
            <p:cNvSpPr txBox="1"/>
            <p:nvPr/>
          </p:nvSpPr>
          <p:spPr>
            <a:xfrm>
              <a:off x="1066576" y="4340450"/>
              <a:ext cx="8970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95" name="Google Shape;1095;p82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1066574" y="1811669"/>
              <a:ext cx="2382152" cy="1517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82"/>
            <p:cNvSpPr txBox="1"/>
            <p:nvPr/>
          </p:nvSpPr>
          <p:spPr>
            <a:xfrm>
              <a:off x="1262625" y="1830475"/>
              <a:ext cx="21861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means you do not have to draw a net every time.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7" name="Google Shape;1097;p82"/>
          <p:cNvGrpSpPr/>
          <p:nvPr/>
        </p:nvGrpSpPr>
        <p:grpSpPr>
          <a:xfrm>
            <a:off x="6132712" y="1513000"/>
            <a:ext cx="2259126" cy="3413350"/>
            <a:chOff x="6132713" y="1513000"/>
            <a:chExt cx="2259126" cy="3413350"/>
          </a:xfrm>
        </p:grpSpPr>
        <p:sp>
          <p:nvSpPr>
            <p:cNvPr id="1098" name="Google Shape;1098;p82"/>
            <p:cNvSpPr txBox="1"/>
            <p:nvPr/>
          </p:nvSpPr>
          <p:spPr>
            <a:xfrm>
              <a:off x="6170545" y="1607824"/>
              <a:ext cx="1805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Just the polygons that are involved.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99" name="Google Shape;1099;p82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6132713" y="1513000"/>
              <a:ext cx="1888174" cy="131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0" name="Google Shape;1100;p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23072" y="2814126"/>
              <a:ext cx="568766" cy="1931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82"/>
            <p:cNvSpPr txBox="1"/>
            <p:nvPr/>
          </p:nvSpPr>
          <p:spPr>
            <a:xfrm>
              <a:off x="7028328" y="4340450"/>
              <a:ext cx="10878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2" name="Google Shape;1102;p82"/>
          <p:cNvGrpSpPr/>
          <p:nvPr/>
        </p:nvGrpSpPr>
        <p:grpSpPr>
          <a:xfrm>
            <a:off x="4092163" y="2203550"/>
            <a:ext cx="2352674" cy="2597346"/>
            <a:chOff x="4092163" y="2203550"/>
            <a:chExt cx="2352674" cy="2597346"/>
          </a:xfrm>
        </p:grpSpPr>
        <p:pic>
          <p:nvPicPr>
            <p:cNvPr id="1103" name="Google Shape;1103;p82"/>
            <p:cNvPicPr preferRelativeResize="0"/>
            <p:nvPr/>
          </p:nvPicPr>
          <p:blipFill rotWithShape="1">
            <a:blip r:embed="rId4">
              <a:alphaModFix/>
            </a:blip>
            <a:srcRect b="-1508" l="0" r="70143" t="57788"/>
            <a:stretch/>
          </p:blipFill>
          <p:spPr>
            <a:xfrm>
              <a:off x="4092163" y="2203550"/>
              <a:ext cx="1888174" cy="131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4" name="Google Shape;1104;p8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03973" y="3328726"/>
              <a:ext cx="1340864" cy="14721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5" name="Google Shape;1105;p82"/>
            <p:cNvSpPr txBox="1"/>
            <p:nvPr/>
          </p:nvSpPr>
          <p:spPr>
            <a:xfrm>
              <a:off x="4236150" y="3968348"/>
              <a:ext cx="13794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2"/>
            <p:cNvSpPr txBox="1"/>
            <p:nvPr/>
          </p:nvSpPr>
          <p:spPr>
            <a:xfrm>
              <a:off x="4129995" y="2298374"/>
              <a:ext cx="18057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Being careful not to miss any!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112" name="Google Shape;1112;p8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these could be the faces of a triangular prism?</a:t>
            </a:r>
            <a:endParaRPr sz="1800"/>
          </a:p>
        </p:txBody>
      </p:sp>
      <p:pic>
        <p:nvPicPr>
          <p:cNvPr id="1113" name="Google Shape;111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057" y="1903186"/>
            <a:ext cx="2595475" cy="205082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4" name="Google Shape;111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6157" y="1903188"/>
            <a:ext cx="2411700" cy="2050825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5" name="Google Shape;1115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3344" y="1895022"/>
            <a:ext cx="2411699" cy="2067174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6" name="Google Shape;1116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3583" y="41616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3"/>
          <p:cNvSpPr txBox="1"/>
          <p:nvPr/>
        </p:nvSpPr>
        <p:spPr>
          <a:xfrm>
            <a:off x="324000" y="1119950"/>
            <a:ext cx="286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the rectangles should be the same length.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3"/>
          <p:cNvSpPr txBox="1"/>
          <p:nvPr/>
        </p:nvSpPr>
        <p:spPr>
          <a:xfrm>
            <a:off x="6070725" y="1119950"/>
            <a:ext cx="286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two triangles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should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 congruent.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4"/>
          <p:cNvSpPr txBox="1"/>
          <p:nvPr>
            <p:ph idx="2" type="subTitle"/>
          </p:nvPr>
        </p:nvSpPr>
        <p:spPr>
          <a:xfrm>
            <a:off x="1570025" y="134975"/>
            <a:ext cx="6855300" cy="3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surface area of prisms</a:t>
            </a:r>
            <a:endParaRPr/>
          </a:p>
        </p:txBody>
      </p:sp>
      <p:pic>
        <p:nvPicPr>
          <p:cNvPr id="1124" name="Google Shape;112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775" y="759300"/>
            <a:ext cx="1599874" cy="18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324000" y="694544"/>
            <a:ext cx="68553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a) Complete the description of the faces for this right octagonal prism.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irregular octagons</a:t>
            </a:r>
            <a:br>
              <a:rPr lang="en-GB" sz="1800"/>
            </a:br>
            <a:r>
              <a:rPr lang="en-GB" sz="1800"/>
              <a:t>         8  </a:t>
            </a:r>
            <a:endParaRPr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00"/>
            </a:br>
            <a:r>
              <a:rPr lang="en-GB" sz="1800"/>
              <a:t>b) Draw all the </a:t>
            </a:r>
            <a:r>
              <a:rPr lang="en-GB" sz="1800">
                <a:solidFill>
                  <a:schemeClr val="accent5"/>
                </a:solidFill>
              </a:rPr>
              <a:t>unique</a:t>
            </a:r>
            <a:r>
              <a:rPr lang="en-GB" sz="1800"/>
              <a:t> faces of this prism, with dimensions. </a:t>
            </a:r>
            <a:endParaRPr sz="1800"/>
          </a:p>
        </p:txBody>
      </p:sp>
      <p:cxnSp>
        <p:nvCxnSpPr>
          <p:cNvPr id="1126" name="Google Shape;1126;p84"/>
          <p:cNvCxnSpPr/>
          <p:nvPr/>
        </p:nvCxnSpPr>
        <p:spPr>
          <a:xfrm>
            <a:off x="725550" y="1887888"/>
            <a:ext cx="547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84"/>
          <p:cNvCxnSpPr/>
          <p:nvPr/>
        </p:nvCxnSpPr>
        <p:spPr>
          <a:xfrm>
            <a:off x="1163025" y="2284544"/>
            <a:ext cx="206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2" name="Google Shape;113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550" y="1279492"/>
            <a:ext cx="2277925" cy="3001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85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Work out the surface area of this right trapezium prism.</a:t>
            </a:r>
            <a:endParaRPr sz="1800"/>
          </a:p>
        </p:txBody>
      </p:sp>
      <p:sp>
        <p:nvSpPr>
          <p:cNvPr id="1134" name="Google Shape;1134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135" name="Google Shape;1135;p85"/>
          <p:cNvSpPr txBox="1"/>
          <p:nvPr/>
        </p:nvSpPr>
        <p:spPr>
          <a:xfrm>
            <a:off x="2487800" y="126677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 txBox="1"/>
          <p:nvPr/>
        </p:nvSpPr>
        <p:spPr>
          <a:xfrm>
            <a:off x="3174500" y="2426500"/>
            <a:ext cx="5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 txBox="1"/>
          <p:nvPr/>
        </p:nvSpPr>
        <p:spPr>
          <a:xfrm>
            <a:off x="556475" y="2612125"/>
            <a:ext cx="5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5"/>
          <p:cNvSpPr txBox="1"/>
          <p:nvPr/>
        </p:nvSpPr>
        <p:spPr>
          <a:xfrm>
            <a:off x="1065425" y="393272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5"/>
          <p:cNvSpPr txBox="1"/>
          <p:nvPr/>
        </p:nvSpPr>
        <p:spPr>
          <a:xfrm>
            <a:off x="1213400" y="126677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0" name="Google Shape;1140;p85"/>
          <p:cNvCxnSpPr/>
          <p:nvPr/>
        </p:nvCxnSpPr>
        <p:spPr>
          <a:xfrm>
            <a:off x="3125000" y="2220650"/>
            <a:ext cx="0" cy="12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1" name="Google Shape;1141;p85"/>
          <p:cNvCxnSpPr/>
          <p:nvPr/>
        </p:nvCxnSpPr>
        <p:spPr>
          <a:xfrm>
            <a:off x="1121882" y="2066263"/>
            <a:ext cx="0" cy="163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2" name="Google Shape;1142;p85"/>
          <p:cNvCxnSpPr/>
          <p:nvPr/>
        </p:nvCxnSpPr>
        <p:spPr>
          <a:xfrm flipH="1" rot="10800000">
            <a:off x="1144175" y="1323925"/>
            <a:ext cx="1116900" cy="6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3" name="Google Shape;1143;p85"/>
          <p:cNvCxnSpPr/>
          <p:nvPr/>
        </p:nvCxnSpPr>
        <p:spPr>
          <a:xfrm>
            <a:off x="1181650" y="3825775"/>
            <a:ext cx="718500" cy="42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4" name="Google Shape;1144;p85"/>
          <p:cNvCxnSpPr/>
          <p:nvPr/>
        </p:nvCxnSpPr>
        <p:spPr>
          <a:xfrm>
            <a:off x="2380975" y="1358375"/>
            <a:ext cx="725100" cy="82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150" name="Google Shape;1150;p86"/>
          <p:cNvSpPr txBox="1"/>
          <p:nvPr>
            <p:ph idx="1" type="body"/>
          </p:nvPr>
        </p:nvSpPr>
        <p:spPr>
          <a:xfrm>
            <a:off x="324000" y="694544"/>
            <a:ext cx="6855300" cy="3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a) </a:t>
            </a:r>
            <a:r>
              <a:rPr lang="en-GB" sz="1800"/>
              <a:t>Complete the description of the faces for this right octagonal prism.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             irregular octag</a:t>
            </a:r>
            <a:r>
              <a:rPr lang="en-GB" sz="1800"/>
              <a:t>ons</a:t>
            </a:r>
            <a:br>
              <a:rPr lang="en-GB" sz="1800"/>
            </a:br>
            <a:r>
              <a:rPr lang="en-GB" sz="1800"/>
              <a:t>        </a:t>
            </a:r>
            <a:r>
              <a:rPr lang="en-GB" sz="1800"/>
              <a:t> 8 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00"/>
            </a:br>
            <a:r>
              <a:rPr lang="en-GB" sz="1800"/>
              <a:t>b) Draw all the </a:t>
            </a:r>
            <a:r>
              <a:rPr lang="en-GB" sz="1800">
                <a:solidFill>
                  <a:schemeClr val="accent5"/>
                </a:solidFill>
              </a:rPr>
              <a:t>unique</a:t>
            </a:r>
            <a:r>
              <a:rPr lang="en-GB" sz="1800"/>
              <a:t> faces of this prism, with dimensions. </a:t>
            </a:r>
            <a:endParaRPr sz="1800"/>
          </a:p>
        </p:txBody>
      </p:sp>
      <p:pic>
        <p:nvPicPr>
          <p:cNvPr id="1151" name="Google Shape;115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775" y="759300"/>
            <a:ext cx="1599874" cy="1866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2" name="Google Shape;1152;p86"/>
          <p:cNvCxnSpPr/>
          <p:nvPr/>
        </p:nvCxnSpPr>
        <p:spPr>
          <a:xfrm>
            <a:off x="725550" y="1859894"/>
            <a:ext cx="547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86"/>
          <p:cNvCxnSpPr/>
          <p:nvPr/>
        </p:nvCxnSpPr>
        <p:spPr>
          <a:xfrm>
            <a:off x="1163025" y="2227195"/>
            <a:ext cx="2062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86"/>
          <p:cNvSpPr txBox="1"/>
          <p:nvPr/>
        </p:nvSpPr>
        <p:spPr>
          <a:xfrm>
            <a:off x="796125" y="1610871"/>
            <a:ext cx="6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86"/>
          <p:cNvSpPr txBox="1"/>
          <p:nvPr/>
        </p:nvSpPr>
        <p:spPr>
          <a:xfrm>
            <a:off x="1258950" y="1857522"/>
            <a:ext cx="16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ectangles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56" name="Google Shape;1156;p86"/>
          <p:cNvGrpSpPr/>
          <p:nvPr/>
        </p:nvGrpSpPr>
        <p:grpSpPr>
          <a:xfrm>
            <a:off x="1141994" y="2586196"/>
            <a:ext cx="1574000" cy="2397713"/>
            <a:chOff x="896444" y="2442131"/>
            <a:chExt cx="1574000" cy="2397713"/>
          </a:xfrm>
        </p:grpSpPr>
        <p:pic>
          <p:nvPicPr>
            <p:cNvPr id="1157" name="Google Shape;1157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90800" y="2828875"/>
              <a:ext cx="966300" cy="1658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86"/>
            <p:cNvSpPr txBox="1"/>
            <p:nvPr/>
          </p:nvSpPr>
          <p:spPr>
            <a:xfrm>
              <a:off x="896444" y="335653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59" name="Google Shape;1159;p86"/>
            <p:cNvSpPr txBox="1"/>
            <p:nvPr/>
          </p:nvSpPr>
          <p:spPr>
            <a:xfrm>
              <a:off x="1726900" y="3569868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60" name="Google Shape;1160;p86"/>
            <p:cNvSpPr txBox="1"/>
            <p:nvPr/>
          </p:nvSpPr>
          <p:spPr>
            <a:xfrm>
              <a:off x="1506044" y="244213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61" name="Google Shape;1161;p86"/>
            <p:cNvSpPr txBox="1"/>
            <p:nvPr/>
          </p:nvSpPr>
          <p:spPr>
            <a:xfrm>
              <a:off x="1506044" y="4347244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62" name="Google Shape;1162;p86"/>
            <p:cNvSpPr txBox="1"/>
            <p:nvPr/>
          </p:nvSpPr>
          <p:spPr>
            <a:xfrm>
              <a:off x="2039444" y="305173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63" name="Google Shape;1163;p86"/>
            <p:cNvCxnSpPr/>
            <p:nvPr/>
          </p:nvCxnSpPr>
          <p:spPr>
            <a:xfrm>
              <a:off x="1221082" y="2928588"/>
              <a:ext cx="0" cy="1413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64" name="Google Shape;1164;p86"/>
            <p:cNvCxnSpPr/>
            <p:nvPr/>
          </p:nvCxnSpPr>
          <p:spPr>
            <a:xfrm>
              <a:off x="2106206" y="2934562"/>
              <a:ext cx="0" cy="671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65" name="Google Shape;1165;p86"/>
            <p:cNvSpPr txBox="1"/>
            <p:nvPr/>
          </p:nvSpPr>
          <p:spPr>
            <a:xfrm>
              <a:off x="2088844" y="3896056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66" name="Google Shape;1166;p86"/>
            <p:cNvCxnSpPr/>
            <p:nvPr/>
          </p:nvCxnSpPr>
          <p:spPr>
            <a:xfrm>
              <a:off x="2106194" y="3987075"/>
              <a:ext cx="0" cy="341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67" name="Google Shape;1167;p86"/>
            <p:cNvCxnSpPr/>
            <p:nvPr/>
          </p:nvCxnSpPr>
          <p:spPr>
            <a:xfrm>
              <a:off x="1732938" y="3636600"/>
              <a:ext cx="0" cy="341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68" name="Google Shape;1168;p86"/>
          <p:cNvGrpSpPr/>
          <p:nvPr/>
        </p:nvGrpSpPr>
        <p:grpSpPr>
          <a:xfrm>
            <a:off x="3968644" y="3774647"/>
            <a:ext cx="1805756" cy="1220406"/>
            <a:chOff x="3106244" y="3624894"/>
            <a:chExt cx="1805756" cy="1220406"/>
          </a:xfrm>
        </p:grpSpPr>
        <p:pic>
          <p:nvPicPr>
            <p:cNvPr id="1169" name="Google Shape;1169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375700" y="3624894"/>
              <a:ext cx="1536300" cy="8368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86"/>
            <p:cNvSpPr txBox="1"/>
            <p:nvPr/>
          </p:nvSpPr>
          <p:spPr>
            <a:xfrm>
              <a:off x="3106244" y="388993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71" name="Google Shape;1171;p86"/>
            <p:cNvSpPr txBox="1"/>
            <p:nvPr/>
          </p:nvSpPr>
          <p:spPr>
            <a:xfrm>
              <a:off x="3953044" y="4352700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72" name="Google Shape;1172;p86"/>
            <p:cNvCxnSpPr/>
            <p:nvPr/>
          </p:nvCxnSpPr>
          <p:spPr>
            <a:xfrm>
              <a:off x="3369606" y="3715062"/>
              <a:ext cx="0" cy="671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3" name="Google Shape;1173;p86"/>
            <p:cNvCxnSpPr/>
            <p:nvPr/>
          </p:nvCxnSpPr>
          <p:spPr>
            <a:xfrm rot="10800000">
              <a:off x="3457125" y="4456675"/>
              <a:ext cx="1350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74" name="Google Shape;1174;p86"/>
          <p:cNvGrpSpPr/>
          <p:nvPr/>
        </p:nvGrpSpPr>
        <p:grpSpPr>
          <a:xfrm>
            <a:off x="3948456" y="2729778"/>
            <a:ext cx="1846131" cy="936681"/>
            <a:chOff x="3106244" y="2700000"/>
            <a:chExt cx="1846131" cy="936681"/>
          </a:xfrm>
        </p:grpSpPr>
        <p:pic>
          <p:nvPicPr>
            <p:cNvPr id="1175" name="Google Shape;1175;p8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307475" y="2700000"/>
              <a:ext cx="1644900" cy="5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86"/>
            <p:cNvSpPr txBox="1"/>
            <p:nvPr/>
          </p:nvSpPr>
          <p:spPr>
            <a:xfrm>
              <a:off x="3980719" y="314408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77" name="Google Shape;1177;p86"/>
            <p:cNvSpPr txBox="1"/>
            <p:nvPr/>
          </p:nvSpPr>
          <p:spPr>
            <a:xfrm>
              <a:off x="3106244" y="282313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78" name="Google Shape;1178;p86"/>
            <p:cNvCxnSpPr/>
            <p:nvPr/>
          </p:nvCxnSpPr>
          <p:spPr>
            <a:xfrm rot="10800000">
              <a:off x="3457125" y="3240000"/>
              <a:ext cx="1350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9" name="Google Shape;1179;p86"/>
            <p:cNvCxnSpPr/>
            <p:nvPr/>
          </p:nvCxnSpPr>
          <p:spPr>
            <a:xfrm>
              <a:off x="3375694" y="2803600"/>
              <a:ext cx="0" cy="341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80" name="Google Shape;1180;p86"/>
          <p:cNvGrpSpPr/>
          <p:nvPr/>
        </p:nvGrpSpPr>
        <p:grpSpPr>
          <a:xfrm>
            <a:off x="6660869" y="2599515"/>
            <a:ext cx="1815106" cy="1900263"/>
            <a:chOff x="5874844" y="2359612"/>
            <a:chExt cx="1815106" cy="1900263"/>
          </a:xfrm>
        </p:grpSpPr>
        <p:pic>
          <p:nvPicPr>
            <p:cNvPr id="1181" name="Google Shape;1181;p8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53650" y="2723575"/>
              <a:ext cx="1536300" cy="153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86"/>
            <p:cNvSpPr txBox="1"/>
            <p:nvPr/>
          </p:nvSpPr>
          <p:spPr>
            <a:xfrm>
              <a:off x="5874844" y="3316981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83" name="Google Shape;1183;p86"/>
            <p:cNvSpPr txBox="1"/>
            <p:nvPr/>
          </p:nvSpPr>
          <p:spPr>
            <a:xfrm>
              <a:off x="6673175" y="2359612"/>
              <a:ext cx="381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84" name="Google Shape;1184;p86"/>
            <p:cNvCxnSpPr/>
            <p:nvPr/>
          </p:nvCxnSpPr>
          <p:spPr>
            <a:xfrm rot="10800000">
              <a:off x="6256450" y="2723575"/>
              <a:ext cx="1350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5" name="Google Shape;1185;p86"/>
            <p:cNvCxnSpPr/>
            <p:nvPr/>
          </p:nvCxnSpPr>
          <p:spPr>
            <a:xfrm>
              <a:off x="6153650" y="2831575"/>
              <a:ext cx="0" cy="132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86" name="Google Shape;1186;p86"/>
          <p:cNvSpPr txBox="1"/>
          <p:nvPr/>
        </p:nvSpPr>
        <p:spPr>
          <a:xfrm>
            <a:off x="470300" y="2927528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✕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86"/>
          <p:cNvSpPr txBox="1"/>
          <p:nvPr/>
        </p:nvSpPr>
        <p:spPr>
          <a:xfrm>
            <a:off x="3235450" y="2791340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✕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86"/>
          <p:cNvSpPr txBox="1"/>
          <p:nvPr/>
        </p:nvSpPr>
        <p:spPr>
          <a:xfrm>
            <a:off x="3296950" y="3951040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✕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86"/>
          <p:cNvSpPr txBox="1"/>
          <p:nvPr/>
        </p:nvSpPr>
        <p:spPr>
          <a:xfrm>
            <a:off x="6196500" y="2963465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✕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90" name="Google Shape;1190;p86"/>
          <p:cNvCxnSpPr/>
          <p:nvPr/>
        </p:nvCxnSpPr>
        <p:spPr>
          <a:xfrm flipH="1">
            <a:off x="1542612" y="3002800"/>
            <a:ext cx="706800" cy="1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1" name="Google Shape;1191;p86"/>
          <p:cNvCxnSpPr/>
          <p:nvPr/>
        </p:nvCxnSpPr>
        <p:spPr>
          <a:xfrm flipH="1">
            <a:off x="1542612" y="4543600"/>
            <a:ext cx="706800" cy="1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2" name="Google Shape;1192;p86"/>
          <p:cNvCxnSpPr/>
          <p:nvPr/>
        </p:nvCxnSpPr>
        <p:spPr>
          <a:xfrm flipH="1">
            <a:off x="1907127" y="3699948"/>
            <a:ext cx="3255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93" name="Google Shape;1193;p86"/>
          <p:cNvCxnSpPr/>
          <p:nvPr/>
        </p:nvCxnSpPr>
        <p:spPr>
          <a:xfrm flipH="1">
            <a:off x="1907127" y="4203223"/>
            <a:ext cx="3255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525" y="1305813"/>
            <a:ext cx="2146000" cy="29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200" name="Google Shape;1200;p87"/>
          <p:cNvSpPr txBox="1"/>
          <p:nvPr/>
        </p:nvSpPr>
        <p:spPr>
          <a:xfrm>
            <a:off x="2487800" y="126677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7"/>
          <p:cNvSpPr txBox="1"/>
          <p:nvPr/>
        </p:nvSpPr>
        <p:spPr>
          <a:xfrm>
            <a:off x="3174500" y="2426500"/>
            <a:ext cx="5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7"/>
          <p:cNvSpPr txBox="1"/>
          <p:nvPr/>
        </p:nvSpPr>
        <p:spPr>
          <a:xfrm>
            <a:off x="556475" y="2612125"/>
            <a:ext cx="58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7"/>
          <p:cNvSpPr txBox="1"/>
          <p:nvPr/>
        </p:nvSpPr>
        <p:spPr>
          <a:xfrm>
            <a:off x="1065425" y="393272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7"/>
          <p:cNvSpPr txBox="1"/>
          <p:nvPr/>
        </p:nvSpPr>
        <p:spPr>
          <a:xfrm>
            <a:off x="1213400" y="1266775"/>
            <a:ext cx="127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5" name="Google Shape;1205;p87"/>
          <p:cNvCxnSpPr/>
          <p:nvPr/>
        </p:nvCxnSpPr>
        <p:spPr>
          <a:xfrm>
            <a:off x="3125000" y="2220650"/>
            <a:ext cx="0" cy="126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6" name="Google Shape;1206;p87"/>
          <p:cNvCxnSpPr/>
          <p:nvPr/>
        </p:nvCxnSpPr>
        <p:spPr>
          <a:xfrm>
            <a:off x="1121882" y="2066263"/>
            <a:ext cx="0" cy="163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7" name="Google Shape;1207;p87"/>
          <p:cNvCxnSpPr/>
          <p:nvPr/>
        </p:nvCxnSpPr>
        <p:spPr>
          <a:xfrm flipH="1" rot="10800000">
            <a:off x="1144175" y="1323925"/>
            <a:ext cx="1116900" cy="6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8" name="Google Shape;1208;p87"/>
          <p:cNvCxnSpPr/>
          <p:nvPr/>
        </p:nvCxnSpPr>
        <p:spPr>
          <a:xfrm>
            <a:off x="1181650" y="3825775"/>
            <a:ext cx="718500" cy="42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9" name="Google Shape;1209;p87"/>
          <p:cNvCxnSpPr/>
          <p:nvPr/>
        </p:nvCxnSpPr>
        <p:spPr>
          <a:xfrm>
            <a:off x="2380975" y="1358375"/>
            <a:ext cx="725100" cy="82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0" name="Google Shape;1210;p87"/>
          <p:cNvSpPr txBox="1"/>
          <p:nvPr/>
        </p:nvSpPr>
        <p:spPr>
          <a:xfrm>
            <a:off x="3701175" y="1076125"/>
            <a:ext cx="50061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✕ area of each trapezium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✕ (    ✕ (4 + 3) ✕ 2) = 14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ectangle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 = 2 ✕ 3 = 6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rectangle 2 = 3 ✕ 3 = 9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rectangle 3 = 3 ✕ 2.6 = 7.8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rectangle 4 = 3 ✕ 4 = 12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14 + 6 + 9 + 7.8 + 12 = 48.8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1" name="Google Shape;1211;p87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6506" y="1653988"/>
            <a:ext cx="165700" cy="5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87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Work out the surface area of this right trapezium prism.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right prisms</a:t>
            </a:r>
            <a:endParaRPr/>
          </a:p>
        </p:txBody>
      </p:sp>
      <p:sp>
        <p:nvSpPr>
          <p:cNvPr id="1218" name="Google Shape;1218;p8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surface area of prisms</a:t>
            </a:r>
            <a:endParaRPr/>
          </a:p>
        </p:txBody>
      </p:sp>
      <p:sp>
        <p:nvSpPr>
          <p:cNvPr id="1219" name="Google Shape;1219;p8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220" name="Google Shape;1220;p8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  <p:pic>
        <p:nvPicPr>
          <p:cNvPr id="1221" name="Google Shape;122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00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227" name="Google Shape;122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46" y="1797550"/>
            <a:ext cx="1991200" cy="106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9"/>
          <p:cNvSpPr txBox="1"/>
          <p:nvPr/>
        </p:nvSpPr>
        <p:spPr>
          <a:xfrm>
            <a:off x="976496" y="2859925"/>
            <a:ext cx="12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rectangle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9"/>
          <p:cNvSpPr txBox="1"/>
          <p:nvPr/>
        </p:nvSpPr>
        <p:spPr>
          <a:xfrm>
            <a:off x="2887200" y="1402725"/>
            <a:ext cx="593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identical rectangular faces.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89"/>
          <p:cNvSpPr txBox="1"/>
          <p:nvPr/>
        </p:nvSpPr>
        <p:spPr>
          <a:xfrm>
            <a:off x="234483" y="748900"/>
            <a:ext cx="856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can you tell about the faces of a right prism with this base?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9"/>
          <p:cNvSpPr txBox="1"/>
          <p:nvPr/>
        </p:nvSpPr>
        <p:spPr>
          <a:xfrm>
            <a:off x="2887200" y="2056500"/>
            <a:ext cx="593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four additional faces that are rectangles.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89"/>
          <p:cNvSpPr txBox="1"/>
          <p:nvPr/>
        </p:nvSpPr>
        <p:spPr>
          <a:xfrm>
            <a:off x="2887200" y="2744050"/>
            <a:ext cx="5932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rectangle will have the same perpendicular height. There will be </a:t>
            </a:r>
            <a:r>
              <a:rPr lang="en-GB" sz="2000">
                <a:solidFill>
                  <a:srgbClr val="374CF1"/>
                </a:solidFill>
                <a:latin typeface="Kalam"/>
                <a:ea typeface="Kalam"/>
                <a:cs typeface="Kalam"/>
                <a:sym typeface="Kalam"/>
              </a:rPr>
              <a:t>two pairs of identical rectangles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238" name="Google Shape;123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75" y="1512248"/>
            <a:ext cx="1846650" cy="16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90"/>
          <p:cNvSpPr txBox="1"/>
          <p:nvPr/>
        </p:nvSpPr>
        <p:spPr>
          <a:xfrm>
            <a:off x="874250" y="3029550"/>
            <a:ext cx="13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equilateral triangle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0"/>
          <p:cNvSpPr txBox="1"/>
          <p:nvPr/>
        </p:nvSpPr>
        <p:spPr>
          <a:xfrm>
            <a:off x="250582" y="744604"/>
            <a:ext cx="856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can you tell about the faces of a right prism with this base?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>
            <a:off x="2887200" y="1402725"/>
            <a:ext cx="592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two identical equilateral triangular faces.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2" name="Google Shape;1242;p90"/>
          <p:cNvSpPr txBox="1"/>
          <p:nvPr/>
        </p:nvSpPr>
        <p:spPr>
          <a:xfrm>
            <a:off x="382532" y="4091404"/>
            <a:ext cx="856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Considering the properties can make finding the surface area more efficient.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0"/>
          <p:cNvSpPr txBox="1"/>
          <p:nvPr/>
        </p:nvSpPr>
        <p:spPr>
          <a:xfrm>
            <a:off x="2887200" y="1991325"/>
            <a:ext cx="592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has three faces that are rectangles.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90"/>
          <p:cNvSpPr txBox="1"/>
          <p:nvPr/>
        </p:nvSpPr>
        <p:spPr>
          <a:xfrm>
            <a:off x="2887200" y="2581163"/>
            <a:ext cx="592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rectangle has the</a:t>
            </a:r>
            <a:r>
              <a:rPr lang="en-GB" sz="2000">
                <a:solidFill>
                  <a:srgbClr val="374CF1"/>
                </a:solidFill>
                <a:latin typeface="Kalam"/>
                <a:ea typeface="Kalam"/>
                <a:cs typeface="Kalam"/>
                <a:sym typeface="Kalam"/>
              </a:rPr>
              <a:t> same perpendicular height and the same width…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5" name="Google Shape;1245;p90"/>
          <p:cNvSpPr txBox="1"/>
          <p:nvPr/>
        </p:nvSpPr>
        <p:spPr>
          <a:xfrm>
            <a:off x="2887200" y="3116550"/>
            <a:ext cx="592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…so all three rectangles will have the same area.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91"/>
          <p:cNvSpPr txBox="1"/>
          <p:nvPr/>
        </p:nvSpPr>
        <p:spPr>
          <a:xfrm flipH="1">
            <a:off x="261975" y="2971850"/>
            <a:ext cx="7736100" cy="13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Surface area =        +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        +           +          +           +          +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210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 + 7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9 + 210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210 + 63 + 63 + 63 + 63 + 63 + 63 + 210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798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1" name="Google Shape;1251;p91"/>
          <p:cNvGrpSpPr/>
          <p:nvPr/>
        </p:nvGrpSpPr>
        <p:grpSpPr>
          <a:xfrm>
            <a:off x="2075727" y="3076316"/>
            <a:ext cx="5728700" cy="252050"/>
            <a:chOff x="1868172" y="3086839"/>
            <a:chExt cx="5728700" cy="252050"/>
          </a:xfrm>
        </p:grpSpPr>
        <p:sp>
          <p:nvSpPr>
            <p:cNvPr id="1252" name="Google Shape;1252;p91"/>
            <p:cNvSpPr/>
            <p:nvPr/>
          </p:nvSpPr>
          <p:spPr>
            <a:xfrm>
              <a:off x="1868172" y="3086889"/>
              <a:ext cx="290700" cy="2520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91"/>
            <p:cNvSpPr/>
            <p:nvPr/>
          </p:nvSpPr>
          <p:spPr>
            <a:xfrm>
              <a:off x="7306172" y="3086839"/>
              <a:ext cx="290700" cy="2520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91"/>
            <p:cNvSpPr/>
            <p:nvPr/>
          </p:nvSpPr>
          <p:spPr>
            <a:xfrm rot="-5400000">
              <a:off x="2618597" y="308690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91"/>
            <p:cNvSpPr/>
            <p:nvPr/>
          </p:nvSpPr>
          <p:spPr>
            <a:xfrm rot="5400000">
              <a:off x="5804218" y="3086887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91"/>
            <p:cNvSpPr/>
            <p:nvPr/>
          </p:nvSpPr>
          <p:spPr>
            <a:xfrm rot="-5400000">
              <a:off x="3385696" y="308690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91"/>
            <p:cNvSpPr/>
            <p:nvPr/>
          </p:nvSpPr>
          <p:spPr>
            <a:xfrm rot="5393905">
              <a:off x="4157460" y="308684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91"/>
            <p:cNvSpPr/>
            <p:nvPr/>
          </p:nvSpPr>
          <p:spPr>
            <a:xfrm rot="5400000">
              <a:off x="4958198" y="308690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91"/>
            <p:cNvSpPr/>
            <p:nvPr/>
          </p:nvSpPr>
          <p:spPr>
            <a:xfrm rot="5400000">
              <a:off x="6650248" y="308690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0" name="Google Shape;126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261" name="Google Shape;1261;p91"/>
          <p:cNvSpPr txBox="1"/>
          <p:nvPr>
            <p:ph idx="1" type="body"/>
          </p:nvPr>
        </p:nvSpPr>
        <p:spPr>
          <a:xfrm>
            <a:off x="361825" y="72615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right regular hexagonal prism.  </a:t>
            </a:r>
            <a:endParaRPr sz="1800"/>
          </a:p>
        </p:txBody>
      </p:sp>
      <p:pic>
        <p:nvPicPr>
          <p:cNvPr id="1262" name="Google Shape;126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49" y="1083299"/>
            <a:ext cx="1711800" cy="1662781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91"/>
          <p:cNvSpPr txBox="1"/>
          <p:nvPr/>
        </p:nvSpPr>
        <p:spPr>
          <a:xfrm rot="1638469">
            <a:off x="889083" y="1247884"/>
            <a:ext cx="1076355" cy="6773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210 cm</a:t>
            </a:r>
            <a:r>
              <a:rPr baseline="30000" i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1"/>
          <p:cNvSpPr txBox="1"/>
          <p:nvPr/>
        </p:nvSpPr>
        <p:spPr>
          <a:xfrm>
            <a:off x="2253349" y="1602800"/>
            <a:ext cx="81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1"/>
          <p:cNvSpPr txBox="1"/>
          <p:nvPr/>
        </p:nvSpPr>
        <p:spPr>
          <a:xfrm>
            <a:off x="1358086" y="2635750"/>
            <a:ext cx="81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6" name="Google Shape;1266;p91"/>
          <p:cNvCxnSpPr/>
          <p:nvPr/>
        </p:nvCxnSpPr>
        <p:spPr>
          <a:xfrm flipH="1" rot="10800000">
            <a:off x="1211725" y="2645099"/>
            <a:ext cx="777300" cy="10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7" name="Google Shape;1267;p91"/>
          <p:cNvCxnSpPr/>
          <p:nvPr/>
        </p:nvCxnSpPr>
        <p:spPr>
          <a:xfrm rot="10800000">
            <a:off x="2290250" y="1465505"/>
            <a:ext cx="0" cy="63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68" name="Google Shape;1268;p91"/>
          <p:cNvSpPr txBox="1"/>
          <p:nvPr/>
        </p:nvSpPr>
        <p:spPr>
          <a:xfrm>
            <a:off x="2927625" y="1014653"/>
            <a:ext cx="572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 and Andeep both calculate the surface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9" name="Google Shape;126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2187" y="157486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91"/>
          <p:cNvSpPr txBox="1"/>
          <p:nvPr/>
        </p:nvSpPr>
        <p:spPr>
          <a:xfrm>
            <a:off x="3816125" y="1500300"/>
            <a:ext cx="5048100" cy="13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Surface area = 2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+ 6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2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210 + 6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(7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9)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420 + 378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        = 798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1" name="Google Shape;1271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5887" y="2966912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91"/>
          <p:cNvSpPr txBox="1"/>
          <p:nvPr/>
        </p:nvSpPr>
        <p:spPr>
          <a:xfrm>
            <a:off x="361825" y="4319988"/>
            <a:ext cx="43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Whose method is the most efficient?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1"/>
          <p:cNvSpPr/>
          <p:nvPr/>
        </p:nvSpPr>
        <p:spPr>
          <a:xfrm>
            <a:off x="118650" y="2954100"/>
            <a:ext cx="8906700" cy="1418400"/>
          </a:xfrm>
          <a:prstGeom prst="rect">
            <a:avLst/>
          </a:prstGeom>
          <a:solidFill>
            <a:srgbClr val="FFFFFF">
              <a:alpha val="639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1"/>
          <p:cNvSpPr txBox="1"/>
          <p:nvPr/>
        </p:nvSpPr>
        <p:spPr>
          <a:xfrm>
            <a:off x="4653125" y="4102300"/>
            <a:ext cx="3606300" cy="8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Jun’s as it made use of the regularity of the hexagon.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5" name="Google Shape;1275;p91"/>
          <p:cNvGrpSpPr/>
          <p:nvPr/>
        </p:nvGrpSpPr>
        <p:grpSpPr>
          <a:xfrm>
            <a:off x="5975183" y="1574839"/>
            <a:ext cx="1360566" cy="252000"/>
            <a:chOff x="5693618" y="1602789"/>
            <a:chExt cx="1360566" cy="252000"/>
          </a:xfrm>
        </p:grpSpPr>
        <p:sp>
          <p:nvSpPr>
            <p:cNvPr id="1276" name="Google Shape;1276;p91"/>
            <p:cNvSpPr/>
            <p:nvPr/>
          </p:nvSpPr>
          <p:spPr>
            <a:xfrm>
              <a:off x="5693618" y="1602789"/>
              <a:ext cx="290700" cy="2520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91"/>
            <p:cNvSpPr/>
            <p:nvPr/>
          </p:nvSpPr>
          <p:spPr>
            <a:xfrm rot="5400000">
              <a:off x="6843584" y="1602800"/>
              <a:ext cx="169200" cy="2520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2"/>
          <p:cNvSpPr txBox="1"/>
          <p:nvPr/>
        </p:nvSpPr>
        <p:spPr>
          <a:xfrm>
            <a:off x="4349275" y="1331250"/>
            <a:ext cx="4356900" cy="3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(5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 +     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6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+ 16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+ 2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    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+     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(10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12)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256 + 192 + 120 + 240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         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2"/>
          <p:cNvSpPr txBox="1"/>
          <p:nvPr/>
        </p:nvSpPr>
        <p:spPr>
          <a:xfrm>
            <a:off x="4726800" y="4060818"/>
            <a:ext cx="139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2"/>
          <p:cNvSpPr txBox="1"/>
          <p:nvPr>
            <p:ph idx="1" type="body"/>
          </p:nvPr>
        </p:nvSpPr>
        <p:spPr>
          <a:xfrm>
            <a:off x="324000" y="759300"/>
            <a:ext cx="82377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the method for the surface area of this right pentagonal prism.</a:t>
            </a:r>
            <a:endParaRPr sz="1800"/>
          </a:p>
        </p:txBody>
      </p:sp>
      <p:sp>
        <p:nvSpPr>
          <p:cNvPr id="1285" name="Google Shape;128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286" name="Google Shape;128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550" y="1332148"/>
            <a:ext cx="2301926" cy="21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92"/>
          <p:cNvSpPr txBox="1"/>
          <p:nvPr/>
        </p:nvSpPr>
        <p:spPr>
          <a:xfrm>
            <a:off x="2813800" y="310290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2"/>
          <p:cNvSpPr txBox="1"/>
          <p:nvPr/>
        </p:nvSpPr>
        <p:spPr>
          <a:xfrm>
            <a:off x="1146350" y="30853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92"/>
          <p:cNvSpPr txBox="1"/>
          <p:nvPr/>
        </p:nvSpPr>
        <p:spPr>
          <a:xfrm>
            <a:off x="618152" y="2276125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2"/>
          <p:cNvSpPr txBox="1"/>
          <p:nvPr/>
        </p:nvSpPr>
        <p:spPr>
          <a:xfrm>
            <a:off x="3463306" y="2276125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2"/>
          <p:cNvSpPr txBox="1"/>
          <p:nvPr/>
        </p:nvSpPr>
        <p:spPr>
          <a:xfrm>
            <a:off x="3199675" y="149815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2"/>
          <p:cNvSpPr txBox="1"/>
          <p:nvPr/>
        </p:nvSpPr>
        <p:spPr>
          <a:xfrm>
            <a:off x="1029375" y="1543800"/>
            <a:ext cx="10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3" name="Google Shape;1293;p92"/>
          <p:cNvCxnSpPr/>
          <p:nvPr/>
        </p:nvCxnSpPr>
        <p:spPr>
          <a:xfrm>
            <a:off x="2980200" y="1297900"/>
            <a:ext cx="4992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4" name="Google Shape;1294;p92"/>
          <p:cNvCxnSpPr/>
          <p:nvPr/>
        </p:nvCxnSpPr>
        <p:spPr>
          <a:xfrm flipH="1">
            <a:off x="2444375" y="2904575"/>
            <a:ext cx="1027500" cy="60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5" name="Google Shape;1295;p92"/>
          <p:cNvCxnSpPr/>
          <p:nvPr/>
        </p:nvCxnSpPr>
        <p:spPr>
          <a:xfrm rot="10800000">
            <a:off x="1302150" y="2231325"/>
            <a:ext cx="0" cy="59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6" name="Google Shape;1296;p92"/>
          <p:cNvCxnSpPr/>
          <p:nvPr/>
        </p:nvCxnSpPr>
        <p:spPr>
          <a:xfrm rot="10800000">
            <a:off x="3501783" y="2225011"/>
            <a:ext cx="0" cy="59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7" name="Google Shape;1297;p92"/>
          <p:cNvCxnSpPr/>
          <p:nvPr/>
        </p:nvCxnSpPr>
        <p:spPr>
          <a:xfrm>
            <a:off x="1362825" y="2902650"/>
            <a:ext cx="989700" cy="56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8" name="Google Shape;1298;p92"/>
          <p:cNvCxnSpPr/>
          <p:nvPr/>
        </p:nvCxnSpPr>
        <p:spPr>
          <a:xfrm flipH="1" rot="10800000">
            <a:off x="1361525" y="1890825"/>
            <a:ext cx="499200" cy="26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9" name="Google Shape;1299;p92"/>
          <p:cNvCxnSpPr/>
          <p:nvPr/>
        </p:nvCxnSpPr>
        <p:spPr>
          <a:xfrm flipH="1" rot="10800000">
            <a:off x="1875875" y="1959900"/>
            <a:ext cx="13200" cy="11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300" name="Google Shape;1300;p92"/>
          <p:cNvSpPr txBox="1"/>
          <p:nvPr/>
        </p:nvSpPr>
        <p:spPr>
          <a:xfrm>
            <a:off x="1845585" y="2353079"/>
            <a:ext cx="1013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1" name="Google Shape;1301;p92"/>
          <p:cNvCxnSpPr/>
          <p:nvPr/>
        </p:nvCxnSpPr>
        <p:spPr>
          <a:xfrm>
            <a:off x="6930243" y="2245092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92"/>
          <p:cNvCxnSpPr/>
          <p:nvPr/>
        </p:nvCxnSpPr>
        <p:spPr>
          <a:xfrm>
            <a:off x="5701400" y="2541082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92"/>
          <p:cNvCxnSpPr/>
          <p:nvPr/>
        </p:nvCxnSpPr>
        <p:spPr>
          <a:xfrm>
            <a:off x="6132000" y="2856393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92"/>
          <p:cNvCxnSpPr/>
          <p:nvPr/>
        </p:nvCxnSpPr>
        <p:spPr>
          <a:xfrm>
            <a:off x="5855694" y="3090514"/>
            <a:ext cx="249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92"/>
          <p:cNvCxnSpPr/>
          <p:nvPr/>
        </p:nvCxnSpPr>
        <p:spPr>
          <a:xfrm>
            <a:off x="4650600" y="4283689"/>
            <a:ext cx="67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06" name="Google Shape;1306;p9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550" y="1914209"/>
            <a:ext cx="140817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92"/>
          <p:cNvSpPr txBox="1"/>
          <p:nvPr/>
        </p:nvSpPr>
        <p:spPr>
          <a:xfrm>
            <a:off x="5685448" y="2301301"/>
            <a:ext cx="4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92"/>
          <p:cNvSpPr txBox="1"/>
          <p:nvPr/>
        </p:nvSpPr>
        <p:spPr>
          <a:xfrm>
            <a:off x="5905606" y="2888633"/>
            <a:ext cx="4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92"/>
          <p:cNvSpPr txBox="1"/>
          <p:nvPr/>
        </p:nvSpPr>
        <p:spPr>
          <a:xfrm>
            <a:off x="6958800" y="1989227"/>
            <a:ext cx="4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92"/>
          <p:cNvSpPr txBox="1"/>
          <p:nvPr/>
        </p:nvSpPr>
        <p:spPr>
          <a:xfrm>
            <a:off x="6172809" y="2584746"/>
            <a:ext cx="4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rectangular faces create a ‘tube’, when the net is folded. This is the case for all right prisms.</a:t>
            </a:r>
            <a:endParaRPr sz="1800"/>
          </a:p>
        </p:txBody>
      </p:sp>
      <p:sp>
        <p:nvSpPr>
          <p:cNvPr id="1316" name="Google Shape;131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317" name="Google Shape;1317;p93"/>
          <p:cNvPicPr preferRelativeResize="0"/>
          <p:nvPr/>
        </p:nvPicPr>
        <p:blipFill rotWithShape="1">
          <a:blip r:embed="rId3">
            <a:alphaModFix/>
          </a:blip>
          <a:srcRect b="58670" l="23290" r="54013" t="14680"/>
          <a:stretch/>
        </p:blipFill>
        <p:spPr>
          <a:xfrm>
            <a:off x="2800375" y="1308600"/>
            <a:ext cx="2034698" cy="137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93"/>
          <p:cNvPicPr preferRelativeResize="0"/>
          <p:nvPr/>
        </p:nvPicPr>
        <p:blipFill rotWithShape="1">
          <a:blip r:embed="rId3">
            <a:alphaModFix/>
          </a:blip>
          <a:srcRect b="67052" l="47012" r="35016" t="10595"/>
          <a:stretch/>
        </p:blipFill>
        <p:spPr>
          <a:xfrm>
            <a:off x="5357525" y="1294550"/>
            <a:ext cx="1611126" cy="114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" name="Google Shape;1319;p93"/>
          <p:cNvPicPr preferRelativeResize="0"/>
          <p:nvPr/>
        </p:nvPicPr>
        <p:blipFill rotWithShape="1">
          <a:blip r:embed="rId3">
            <a:alphaModFix/>
          </a:blip>
          <a:srcRect b="36912" l="78046" r="5101" t="40734"/>
          <a:stretch/>
        </p:blipFill>
        <p:spPr>
          <a:xfrm>
            <a:off x="4961125" y="3049125"/>
            <a:ext cx="1510825" cy="1149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0" name="Google Shape;1320;p93"/>
          <p:cNvGrpSpPr/>
          <p:nvPr/>
        </p:nvGrpSpPr>
        <p:grpSpPr>
          <a:xfrm>
            <a:off x="431175" y="1515600"/>
            <a:ext cx="2080000" cy="1316125"/>
            <a:chOff x="431175" y="1134600"/>
            <a:chExt cx="2080000" cy="1316125"/>
          </a:xfrm>
        </p:grpSpPr>
        <p:pic>
          <p:nvPicPr>
            <p:cNvPr id="1321" name="Google Shape;1321;p93"/>
            <p:cNvPicPr preferRelativeResize="0"/>
            <p:nvPr/>
          </p:nvPicPr>
          <p:blipFill rotWithShape="1">
            <a:blip r:embed="rId3">
              <a:alphaModFix/>
            </a:blip>
            <a:srcRect b="41050" l="3883" r="73420" t="34097"/>
            <a:stretch/>
          </p:blipFill>
          <p:spPr>
            <a:xfrm>
              <a:off x="431175" y="1172425"/>
              <a:ext cx="2034698" cy="127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93"/>
            <p:cNvSpPr/>
            <p:nvPr/>
          </p:nvSpPr>
          <p:spPr>
            <a:xfrm>
              <a:off x="2254075" y="1134600"/>
              <a:ext cx="257100" cy="219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93"/>
          <p:cNvGrpSpPr/>
          <p:nvPr/>
        </p:nvGrpSpPr>
        <p:grpSpPr>
          <a:xfrm>
            <a:off x="2065800" y="3081000"/>
            <a:ext cx="1611125" cy="1211676"/>
            <a:chOff x="1684800" y="2700000"/>
            <a:chExt cx="1611125" cy="1211676"/>
          </a:xfrm>
        </p:grpSpPr>
        <p:pic>
          <p:nvPicPr>
            <p:cNvPr id="1324" name="Google Shape;1324;p93"/>
            <p:cNvPicPr preferRelativeResize="0"/>
            <p:nvPr/>
          </p:nvPicPr>
          <p:blipFill rotWithShape="1">
            <a:blip r:embed="rId3">
              <a:alphaModFix/>
            </a:blip>
            <a:srcRect b="54273" l="63572" r="19575" t="23373"/>
            <a:stretch/>
          </p:blipFill>
          <p:spPr>
            <a:xfrm>
              <a:off x="1785100" y="2761950"/>
              <a:ext cx="1510825" cy="1149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93"/>
            <p:cNvSpPr/>
            <p:nvPr/>
          </p:nvSpPr>
          <p:spPr>
            <a:xfrm>
              <a:off x="1684800" y="2700000"/>
              <a:ext cx="257100" cy="219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4"/>
          <p:cNvSpPr txBox="1"/>
          <p:nvPr>
            <p:ph idx="1" type="body"/>
          </p:nvPr>
        </p:nvSpPr>
        <p:spPr>
          <a:xfrm>
            <a:off x="324000" y="759300"/>
            <a:ext cx="82377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of this triangular prism can be calculated by finding the area of each face and totalling.</a:t>
            </a:r>
            <a:endParaRPr sz="1800"/>
          </a:p>
        </p:txBody>
      </p:sp>
      <p:sp>
        <p:nvSpPr>
          <p:cNvPr id="1331" name="Google Shape;133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332" name="Google Shape;13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25" y="1846025"/>
            <a:ext cx="2796676" cy="24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94"/>
          <p:cNvSpPr txBox="1"/>
          <p:nvPr/>
        </p:nvSpPr>
        <p:spPr>
          <a:xfrm>
            <a:off x="1684800" y="4156731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4"/>
          <p:cNvSpPr txBox="1"/>
          <p:nvPr/>
        </p:nvSpPr>
        <p:spPr>
          <a:xfrm>
            <a:off x="2646525" y="26002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4"/>
          <p:cNvSpPr txBox="1"/>
          <p:nvPr/>
        </p:nvSpPr>
        <p:spPr>
          <a:xfrm>
            <a:off x="2722725" y="3493350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4"/>
          <p:cNvSpPr txBox="1"/>
          <p:nvPr/>
        </p:nvSpPr>
        <p:spPr>
          <a:xfrm>
            <a:off x="1399600" y="20623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7" name="Google Shape;1337;p94"/>
          <p:cNvCxnSpPr/>
          <p:nvPr/>
        </p:nvCxnSpPr>
        <p:spPr>
          <a:xfrm>
            <a:off x="1459850" y="1955700"/>
            <a:ext cx="0" cy="62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8" name="Google Shape;1338;p94"/>
          <p:cNvCxnSpPr/>
          <p:nvPr/>
        </p:nvCxnSpPr>
        <p:spPr>
          <a:xfrm>
            <a:off x="2761975" y="3240000"/>
            <a:ext cx="0" cy="9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9" name="Google Shape;1339;p94"/>
          <p:cNvCxnSpPr/>
          <p:nvPr/>
        </p:nvCxnSpPr>
        <p:spPr>
          <a:xfrm rot="10800000">
            <a:off x="1371118" y="4244353"/>
            <a:ext cx="1314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0" name="Google Shape;1340;p94"/>
          <p:cNvSpPr txBox="1"/>
          <p:nvPr/>
        </p:nvSpPr>
        <p:spPr>
          <a:xfrm>
            <a:off x="3963525" y="1414475"/>
            <a:ext cx="4893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triangular faces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41" name="Google Shape;1341;p9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0245" y="1414483"/>
            <a:ext cx="161600" cy="5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94"/>
          <p:cNvSpPr txBox="1"/>
          <p:nvPr/>
        </p:nvSpPr>
        <p:spPr>
          <a:xfrm>
            <a:off x="3963525" y="2457550"/>
            <a:ext cx="4893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rectangular faces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 +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8) + (5.7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109.6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94"/>
          <p:cNvSpPr txBox="1"/>
          <p:nvPr/>
        </p:nvSpPr>
        <p:spPr>
          <a:xfrm>
            <a:off x="3963525" y="3602625"/>
            <a:ext cx="1747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 + 109.6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125.6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44" name="Google Shape;1344;p94"/>
          <p:cNvCxnSpPr/>
          <p:nvPr/>
        </p:nvCxnSpPr>
        <p:spPr>
          <a:xfrm flipH="1">
            <a:off x="2686596" y="2657725"/>
            <a:ext cx="6669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5"/>
          <p:cNvSpPr txBox="1"/>
          <p:nvPr/>
        </p:nvSpPr>
        <p:spPr>
          <a:xfrm>
            <a:off x="3963525" y="2457550"/>
            <a:ext cx="489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rectangular faces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5"/>
          <p:cNvSpPr txBox="1"/>
          <p:nvPr>
            <p:ph idx="1" type="body"/>
          </p:nvPr>
        </p:nvSpPr>
        <p:spPr>
          <a:xfrm>
            <a:off x="324000" y="759300"/>
            <a:ext cx="82377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of this triangular prism can be calculated by finding the area of each face and totalling.</a:t>
            </a:r>
            <a:endParaRPr sz="1800"/>
          </a:p>
        </p:txBody>
      </p:sp>
      <p:sp>
        <p:nvSpPr>
          <p:cNvPr id="1351" name="Google Shape;135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352" name="Google Shape;135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25" y="1846025"/>
            <a:ext cx="2796676" cy="24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95"/>
          <p:cNvSpPr txBox="1"/>
          <p:nvPr/>
        </p:nvSpPr>
        <p:spPr>
          <a:xfrm>
            <a:off x="1684800" y="4156731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4" name="Google Shape;13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47" y="1884223"/>
            <a:ext cx="2713901" cy="2339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95"/>
          <p:cNvSpPr txBox="1"/>
          <p:nvPr/>
        </p:nvSpPr>
        <p:spPr>
          <a:xfrm>
            <a:off x="2646525" y="26002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5"/>
          <p:cNvSpPr txBox="1"/>
          <p:nvPr/>
        </p:nvSpPr>
        <p:spPr>
          <a:xfrm>
            <a:off x="2722725" y="3493350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95"/>
          <p:cNvSpPr txBox="1"/>
          <p:nvPr/>
        </p:nvSpPr>
        <p:spPr>
          <a:xfrm>
            <a:off x="1399600" y="20623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8" name="Google Shape;1358;p95"/>
          <p:cNvCxnSpPr/>
          <p:nvPr/>
        </p:nvCxnSpPr>
        <p:spPr>
          <a:xfrm>
            <a:off x="1459850" y="1955700"/>
            <a:ext cx="0" cy="62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9" name="Google Shape;1359;p95"/>
          <p:cNvCxnSpPr/>
          <p:nvPr/>
        </p:nvCxnSpPr>
        <p:spPr>
          <a:xfrm>
            <a:off x="2761975" y="3240000"/>
            <a:ext cx="0" cy="9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0" name="Google Shape;1360;p95"/>
          <p:cNvCxnSpPr/>
          <p:nvPr/>
        </p:nvCxnSpPr>
        <p:spPr>
          <a:xfrm rot="10800000">
            <a:off x="1371118" y="4244353"/>
            <a:ext cx="1314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1" name="Google Shape;1361;p95"/>
          <p:cNvSpPr txBox="1"/>
          <p:nvPr/>
        </p:nvSpPr>
        <p:spPr>
          <a:xfrm>
            <a:off x="3963525" y="1414475"/>
            <a:ext cx="489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triangular faces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b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= 16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62" name="Google Shape;1362;p95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0245" y="1414483"/>
            <a:ext cx="161600" cy="5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95"/>
          <p:cNvSpPr txBox="1"/>
          <p:nvPr/>
        </p:nvSpPr>
        <p:spPr>
          <a:xfrm>
            <a:off x="3963525" y="3602625"/>
            <a:ext cx="1747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 + 109.6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125.6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95"/>
          <p:cNvSpPr txBox="1"/>
          <p:nvPr/>
        </p:nvSpPr>
        <p:spPr>
          <a:xfrm>
            <a:off x="6663875" y="24575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one rectangle</a:t>
            </a:r>
            <a:endParaRPr/>
          </a:p>
        </p:txBody>
      </p:sp>
      <p:sp>
        <p:nvSpPr>
          <p:cNvPr id="1365" name="Google Shape;1365;p95"/>
          <p:cNvSpPr txBox="1"/>
          <p:nvPr/>
        </p:nvSpPr>
        <p:spPr>
          <a:xfrm>
            <a:off x="4001350" y="2743818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+ 4 + 5.7)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109.6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6" name="Google Shape;1366;p95"/>
          <p:cNvSpPr txBox="1"/>
          <p:nvPr/>
        </p:nvSpPr>
        <p:spPr>
          <a:xfrm>
            <a:off x="4001350" y="2743750"/>
            <a:ext cx="489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(4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 +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8) + (5.7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109.6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67" name="Google Shape;1367;p95"/>
          <p:cNvCxnSpPr/>
          <p:nvPr/>
        </p:nvCxnSpPr>
        <p:spPr>
          <a:xfrm flipH="1">
            <a:off x="2686596" y="2657725"/>
            <a:ext cx="6669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96"/>
          <p:cNvSpPr txBox="1"/>
          <p:nvPr>
            <p:ph idx="1" type="body"/>
          </p:nvPr>
        </p:nvSpPr>
        <p:spPr>
          <a:xfrm>
            <a:off x="324000" y="759300"/>
            <a:ext cx="8237700" cy="6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of this triangular prism can be calculated by finding the area of each face and totalling.</a:t>
            </a:r>
            <a:endParaRPr sz="1800"/>
          </a:p>
        </p:txBody>
      </p:sp>
      <p:sp>
        <p:nvSpPr>
          <p:cNvPr id="1373" name="Google Shape;137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374" name="Google Shape;137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25" y="1846025"/>
            <a:ext cx="2796676" cy="247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96"/>
          <p:cNvSpPr txBox="1"/>
          <p:nvPr/>
        </p:nvSpPr>
        <p:spPr>
          <a:xfrm>
            <a:off x="1684800" y="4156731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6" name="Google Shape;137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78" y="1863295"/>
            <a:ext cx="2673449" cy="236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96"/>
          <p:cNvSpPr txBox="1"/>
          <p:nvPr/>
        </p:nvSpPr>
        <p:spPr>
          <a:xfrm>
            <a:off x="2646525" y="26002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96"/>
          <p:cNvSpPr txBox="1"/>
          <p:nvPr/>
        </p:nvSpPr>
        <p:spPr>
          <a:xfrm>
            <a:off x="2722725" y="3493350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96"/>
          <p:cNvSpPr txBox="1"/>
          <p:nvPr/>
        </p:nvSpPr>
        <p:spPr>
          <a:xfrm>
            <a:off x="1399600" y="2062325"/>
            <a:ext cx="9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0" name="Google Shape;1380;p96"/>
          <p:cNvCxnSpPr/>
          <p:nvPr/>
        </p:nvCxnSpPr>
        <p:spPr>
          <a:xfrm>
            <a:off x="1459850" y="1955700"/>
            <a:ext cx="0" cy="62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1" name="Google Shape;1381;p96"/>
          <p:cNvCxnSpPr/>
          <p:nvPr/>
        </p:nvCxnSpPr>
        <p:spPr>
          <a:xfrm>
            <a:off x="2761975" y="3240000"/>
            <a:ext cx="0" cy="93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2" name="Google Shape;1382;p96"/>
          <p:cNvCxnSpPr/>
          <p:nvPr/>
        </p:nvCxnSpPr>
        <p:spPr>
          <a:xfrm rot="10800000">
            <a:off x="1371118" y="4244353"/>
            <a:ext cx="1314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3" name="Google Shape;1383;p96"/>
          <p:cNvSpPr txBox="1"/>
          <p:nvPr/>
        </p:nvSpPr>
        <p:spPr>
          <a:xfrm>
            <a:off x="3963525" y="1414475"/>
            <a:ext cx="489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triangular faces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b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= 16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84" name="Google Shape;1384;p96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0245" y="1414483"/>
            <a:ext cx="161600" cy="5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96"/>
          <p:cNvSpPr txBox="1"/>
          <p:nvPr/>
        </p:nvSpPr>
        <p:spPr>
          <a:xfrm>
            <a:off x="3963525" y="2457550"/>
            <a:ext cx="4893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rectangular faces → one rectangle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✕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+ 4 + 5.7)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109.6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96"/>
          <p:cNvSpPr txBox="1"/>
          <p:nvPr/>
        </p:nvSpPr>
        <p:spPr>
          <a:xfrm>
            <a:off x="3963525" y="3602625"/>
            <a:ext cx="1747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16 + 109.6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125.6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96"/>
          <p:cNvSpPr txBox="1"/>
          <p:nvPr/>
        </p:nvSpPr>
        <p:spPr>
          <a:xfrm>
            <a:off x="7488288" y="4267946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8" name="Google Shape;1388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31315" y="352613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6"/>
          <p:cNvPicPr preferRelativeResize="0"/>
          <p:nvPr/>
        </p:nvPicPr>
        <p:blipFill rotWithShape="1">
          <a:blip r:embed="rId7">
            <a:alphaModFix/>
          </a:blip>
          <a:srcRect b="0" l="0" r="70143" t="56280"/>
          <a:stretch/>
        </p:blipFill>
        <p:spPr>
          <a:xfrm>
            <a:off x="5913025" y="2928100"/>
            <a:ext cx="1961626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96"/>
          <p:cNvSpPr txBox="1"/>
          <p:nvPr/>
        </p:nvSpPr>
        <p:spPr>
          <a:xfrm>
            <a:off x="5910933" y="3016714"/>
            <a:ext cx="200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 + 4 + 5.7)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this is the perimeter of the triangle</a:t>
            </a:r>
            <a:endParaRPr/>
          </a:p>
        </p:txBody>
      </p:sp>
      <p:cxnSp>
        <p:nvCxnSpPr>
          <p:cNvPr id="1391" name="Google Shape;1391;p96"/>
          <p:cNvCxnSpPr/>
          <p:nvPr/>
        </p:nvCxnSpPr>
        <p:spPr>
          <a:xfrm flipH="1">
            <a:off x="2693600" y="2657725"/>
            <a:ext cx="6669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same for </a:t>
            </a:r>
            <a:r>
              <a:rPr lang="en-GB" sz="1800">
                <a:solidFill>
                  <a:schemeClr val="accent2"/>
                </a:solidFill>
              </a:rPr>
              <a:t>all</a:t>
            </a:r>
            <a:r>
              <a:rPr lang="en-GB" sz="1800"/>
              <a:t> right prisms. The perimeter of the cross-sectional face is the </a:t>
            </a:r>
            <a:r>
              <a:rPr lang="en-GB" sz="1800"/>
              <a:t>length</a:t>
            </a:r>
            <a:r>
              <a:rPr lang="en-GB" sz="1800"/>
              <a:t> of all the </a:t>
            </a:r>
            <a:r>
              <a:rPr lang="en-GB" sz="1800"/>
              <a:t>rectangular</a:t>
            </a:r>
            <a:r>
              <a:rPr lang="en-GB" sz="1800"/>
              <a:t> faces combined as one. </a:t>
            </a:r>
            <a:endParaRPr sz="1800"/>
          </a:p>
        </p:txBody>
      </p:sp>
      <p:sp>
        <p:nvSpPr>
          <p:cNvPr id="1397" name="Google Shape;139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398" name="Google Shape;139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75" y="1485150"/>
            <a:ext cx="3248975" cy="322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775" y="1485150"/>
            <a:ext cx="2244060" cy="30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6139" y="1462458"/>
            <a:ext cx="2303402" cy="309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1" name="Google Shape;1401;p97"/>
          <p:cNvCxnSpPr/>
          <p:nvPr/>
        </p:nvCxnSpPr>
        <p:spPr>
          <a:xfrm>
            <a:off x="5688125" y="1586075"/>
            <a:ext cx="0" cy="286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2" name="Google Shape;1402;p97"/>
          <p:cNvSpPr txBox="1"/>
          <p:nvPr/>
        </p:nvSpPr>
        <p:spPr>
          <a:xfrm>
            <a:off x="5685875" y="1638850"/>
            <a:ext cx="266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perimeter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8"/>
          <p:cNvSpPr/>
          <p:nvPr/>
        </p:nvSpPr>
        <p:spPr>
          <a:xfrm rot="5192977">
            <a:off x="6101468" y="1156980"/>
            <a:ext cx="1717096" cy="1729880"/>
          </a:xfrm>
          <a:prstGeom prst="flowChartInputOutput">
            <a:avLst/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98"/>
          <p:cNvSpPr txBox="1"/>
          <p:nvPr/>
        </p:nvSpPr>
        <p:spPr>
          <a:xfrm>
            <a:off x="324000" y="761425"/>
            <a:ext cx="4860600" cy="3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" lIns="0" spcFirstLastPara="1" rIns="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surface area of this right equilateral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triangular prism using the following three methods:</a:t>
            </a:r>
            <a:b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find the area of each face then sum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9999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find the area of each unique face then sum multiples of those.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9999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use the perimeter of the shape to help find the area of all the rectangular faces and add the area of the two triangles.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410" name="Google Shape;1410;p98"/>
          <p:cNvSpPr/>
          <p:nvPr/>
        </p:nvSpPr>
        <p:spPr>
          <a:xfrm rot="1101212">
            <a:off x="5519753" y="1202308"/>
            <a:ext cx="934644" cy="1294685"/>
          </a:xfrm>
          <a:prstGeom prst="triangle">
            <a:avLst>
              <a:gd fmla="val 25209" name="adj"/>
            </a:avLst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8"/>
          <p:cNvSpPr/>
          <p:nvPr/>
        </p:nvSpPr>
        <p:spPr>
          <a:xfrm rot="1101212">
            <a:off x="7261578" y="1464053"/>
            <a:ext cx="934644" cy="1294685"/>
          </a:xfrm>
          <a:prstGeom prst="triangle">
            <a:avLst>
              <a:gd fmla="val 25209" name="adj"/>
            </a:avLst>
          </a:prstGeom>
          <a:solidFill>
            <a:srgbClr val="EBEDFE"/>
          </a:solidFill>
          <a:ln cap="flat" cmpd="sng" w="19050">
            <a:solidFill>
              <a:srgbClr val="374C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2" name="Google Shape;1412;p98"/>
          <p:cNvCxnSpPr>
            <a:stCxn id="1410" idx="2"/>
            <a:endCxn id="1411" idx="2"/>
          </p:cNvCxnSpPr>
          <p:nvPr/>
        </p:nvCxnSpPr>
        <p:spPr>
          <a:xfrm>
            <a:off x="5253125" y="2281050"/>
            <a:ext cx="1741800" cy="261600"/>
          </a:xfrm>
          <a:prstGeom prst="straightConnector1">
            <a:avLst/>
          </a:prstGeom>
          <a:noFill/>
          <a:ln cap="flat" cmpd="sng" w="19050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13" name="Google Shape;1413;p98"/>
          <p:cNvCxnSpPr/>
          <p:nvPr/>
        </p:nvCxnSpPr>
        <p:spPr>
          <a:xfrm>
            <a:off x="6126209" y="2431404"/>
            <a:ext cx="161100" cy="2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98"/>
          <p:cNvCxnSpPr/>
          <p:nvPr/>
        </p:nvCxnSpPr>
        <p:spPr>
          <a:xfrm rot="10800000">
            <a:off x="6279225" y="2455273"/>
            <a:ext cx="0" cy="14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98"/>
          <p:cNvCxnSpPr>
            <a:stCxn id="1411" idx="0"/>
            <a:endCxn id="1411" idx="4"/>
          </p:cNvCxnSpPr>
          <p:nvPr/>
        </p:nvCxnSpPr>
        <p:spPr>
          <a:xfrm>
            <a:off x="7799379" y="1459886"/>
            <a:ext cx="82800" cy="1377300"/>
          </a:xfrm>
          <a:prstGeom prst="straightConnector1">
            <a:avLst/>
          </a:prstGeom>
          <a:noFill/>
          <a:ln cap="flat" cmpd="sng" w="1905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98"/>
          <p:cNvCxnSpPr>
            <a:stCxn id="1410" idx="1"/>
            <a:endCxn id="1410" idx="1"/>
          </p:cNvCxnSpPr>
          <p:nvPr/>
        </p:nvCxnSpPr>
        <p:spPr>
          <a:xfrm>
            <a:off x="5655340" y="173959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98"/>
          <p:cNvSpPr txBox="1"/>
          <p:nvPr/>
        </p:nvSpPr>
        <p:spPr>
          <a:xfrm>
            <a:off x="6505275" y="738450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18" name="Google Shape;1418;p98"/>
          <p:cNvSpPr txBox="1"/>
          <p:nvPr/>
        </p:nvSpPr>
        <p:spPr>
          <a:xfrm>
            <a:off x="7954550" y="1880550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cxnSp>
        <p:nvCxnSpPr>
          <p:cNvPr id="1419" name="Google Shape;1419;p98"/>
          <p:cNvCxnSpPr/>
          <p:nvPr/>
        </p:nvCxnSpPr>
        <p:spPr>
          <a:xfrm>
            <a:off x="5896958" y="1196533"/>
            <a:ext cx="0" cy="125193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20" name="Google Shape;1420;p98"/>
          <p:cNvSpPr txBox="1"/>
          <p:nvPr/>
        </p:nvSpPr>
        <p:spPr>
          <a:xfrm rot="1050832">
            <a:off x="5720135" y="1654069"/>
            <a:ext cx="295079" cy="462861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100"/>
          </a:p>
        </p:txBody>
      </p:sp>
      <p:cxnSp>
        <p:nvCxnSpPr>
          <p:cNvPr id="1421" name="Google Shape;1421;p98"/>
          <p:cNvCxnSpPr/>
          <p:nvPr/>
        </p:nvCxnSpPr>
        <p:spPr>
          <a:xfrm>
            <a:off x="7905175" y="1479525"/>
            <a:ext cx="104700" cy="13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2" name="Google Shape;1422;p98"/>
          <p:cNvCxnSpPr/>
          <p:nvPr/>
        </p:nvCxnSpPr>
        <p:spPr>
          <a:xfrm>
            <a:off x="6078000" y="1077050"/>
            <a:ext cx="1746600" cy="25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3" name="Google Shape;1423;p98"/>
          <p:cNvSpPr txBox="1"/>
          <p:nvPr/>
        </p:nvSpPr>
        <p:spPr>
          <a:xfrm>
            <a:off x="5314250" y="3022650"/>
            <a:ext cx="3505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Prism length 5 cm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Triangle: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perpendicular height 3.5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edge lengths 4 cm </a:t>
            </a:r>
            <a:endParaRPr sz="1900"/>
          </a:p>
        </p:txBody>
      </p:sp>
      <p:cxnSp>
        <p:nvCxnSpPr>
          <p:cNvPr id="1424" name="Google Shape;1424;p98"/>
          <p:cNvCxnSpPr/>
          <p:nvPr/>
        </p:nvCxnSpPr>
        <p:spPr>
          <a:xfrm>
            <a:off x="5788226" y="2295725"/>
            <a:ext cx="132300" cy="4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98"/>
          <p:cNvCxnSpPr/>
          <p:nvPr/>
        </p:nvCxnSpPr>
        <p:spPr>
          <a:xfrm flipH="1" rot="10800000">
            <a:off x="5876751" y="2334950"/>
            <a:ext cx="35700" cy="1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99"/>
          <p:cNvSpPr txBox="1"/>
          <p:nvPr>
            <p:ph idx="1" type="body"/>
          </p:nvPr>
        </p:nvSpPr>
        <p:spPr>
          <a:xfrm>
            <a:off x="324000" y="658325"/>
            <a:ext cx="82377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1: Total all the areas</a:t>
            </a:r>
            <a:endParaRPr sz="1800"/>
          </a:p>
        </p:txBody>
      </p:sp>
      <p:sp>
        <p:nvSpPr>
          <p:cNvPr id="1431" name="Google Shape;143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432" name="Google Shape;1432;p99"/>
          <p:cNvSpPr/>
          <p:nvPr/>
        </p:nvSpPr>
        <p:spPr>
          <a:xfrm>
            <a:off x="945500" y="1130552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99"/>
          <p:cNvSpPr/>
          <p:nvPr/>
        </p:nvSpPr>
        <p:spPr>
          <a:xfrm>
            <a:off x="2512350" y="1130552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9"/>
          <p:cNvSpPr/>
          <p:nvPr/>
        </p:nvSpPr>
        <p:spPr>
          <a:xfrm>
            <a:off x="4145050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9"/>
          <p:cNvSpPr/>
          <p:nvPr/>
        </p:nvSpPr>
        <p:spPr>
          <a:xfrm>
            <a:off x="5711925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9"/>
          <p:cNvSpPr/>
          <p:nvPr/>
        </p:nvSpPr>
        <p:spPr>
          <a:xfrm>
            <a:off x="7278800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9"/>
          <p:cNvSpPr txBox="1"/>
          <p:nvPr/>
        </p:nvSpPr>
        <p:spPr>
          <a:xfrm>
            <a:off x="1189775" y="22530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38" name="Google Shape;1438;p99"/>
          <p:cNvSpPr txBox="1"/>
          <p:nvPr/>
        </p:nvSpPr>
        <p:spPr>
          <a:xfrm>
            <a:off x="4340650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39" name="Google Shape;1439;p99"/>
          <p:cNvSpPr txBox="1"/>
          <p:nvPr/>
        </p:nvSpPr>
        <p:spPr>
          <a:xfrm>
            <a:off x="5916625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40" name="Google Shape;1440;p99"/>
          <p:cNvSpPr txBox="1"/>
          <p:nvPr/>
        </p:nvSpPr>
        <p:spPr>
          <a:xfrm>
            <a:off x="7474400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41" name="Google Shape;1441;p99"/>
          <p:cNvSpPr txBox="1"/>
          <p:nvPr/>
        </p:nvSpPr>
        <p:spPr>
          <a:xfrm>
            <a:off x="734460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42" name="Google Shape;1442;p99"/>
          <p:cNvSpPr txBox="1"/>
          <p:nvPr/>
        </p:nvSpPr>
        <p:spPr>
          <a:xfrm>
            <a:off x="577775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43" name="Google Shape;1443;p99"/>
          <p:cNvSpPr txBox="1"/>
          <p:nvPr/>
        </p:nvSpPr>
        <p:spPr>
          <a:xfrm>
            <a:off x="414945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44" name="Google Shape;1444;p99"/>
          <p:cNvSpPr txBox="1"/>
          <p:nvPr/>
        </p:nvSpPr>
        <p:spPr>
          <a:xfrm>
            <a:off x="2740875" y="2199752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cxnSp>
        <p:nvCxnSpPr>
          <p:cNvPr id="1445" name="Google Shape;1445;p99"/>
          <p:cNvCxnSpPr/>
          <p:nvPr/>
        </p:nvCxnSpPr>
        <p:spPr>
          <a:xfrm>
            <a:off x="3137173" y="1128752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46" name="Google Shape;1446;p99"/>
          <p:cNvSpPr txBox="1"/>
          <p:nvPr/>
        </p:nvSpPr>
        <p:spPr>
          <a:xfrm>
            <a:off x="2955750" y="1469527"/>
            <a:ext cx="349500" cy="5541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447" name="Google Shape;1447;p99"/>
          <p:cNvCxnSpPr/>
          <p:nvPr/>
        </p:nvCxnSpPr>
        <p:spPr>
          <a:xfrm>
            <a:off x="876148" y="1116752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48" name="Google Shape;1448;p99"/>
          <p:cNvSpPr txBox="1"/>
          <p:nvPr/>
        </p:nvSpPr>
        <p:spPr>
          <a:xfrm>
            <a:off x="701400" y="1377127"/>
            <a:ext cx="3495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449" name="Google Shape;1449;p99"/>
          <p:cNvCxnSpPr/>
          <p:nvPr/>
        </p:nvCxnSpPr>
        <p:spPr>
          <a:xfrm>
            <a:off x="941300" y="2275719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0" name="Google Shape;1450;p99"/>
          <p:cNvCxnSpPr/>
          <p:nvPr/>
        </p:nvCxnSpPr>
        <p:spPr>
          <a:xfrm>
            <a:off x="2518808" y="2275719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1" name="Google Shape;1451;p99"/>
          <p:cNvCxnSpPr/>
          <p:nvPr/>
        </p:nvCxnSpPr>
        <p:spPr>
          <a:xfrm>
            <a:off x="4156828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2" name="Google Shape;1452;p99"/>
          <p:cNvCxnSpPr/>
          <p:nvPr/>
        </p:nvCxnSpPr>
        <p:spPr>
          <a:xfrm>
            <a:off x="5703520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3" name="Google Shape;1453;p99"/>
          <p:cNvCxnSpPr/>
          <p:nvPr/>
        </p:nvCxnSpPr>
        <p:spPr>
          <a:xfrm>
            <a:off x="7281028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4" name="Google Shape;1454;p99"/>
          <p:cNvCxnSpPr/>
          <p:nvPr/>
        </p:nvCxnSpPr>
        <p:spPr>
          <a:xfrm>
            <a:off x="4220714" y="1033502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5" name="Google Shape;1455;p99"/>
          <p:cNvCxnSpPr/>
          <p:nvPr/>
        </p:nvCxnSpPr>
        <p:spPr>
          <a:xfrm>
            <a:off x="5797652" y="1036627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6" name="Google Shape;1456;p99"/>
          <p:cNvCxnSpPr/>
          <p:nvPr/>
        </p:nvCxnSpPr>
        <p:spPr>
          <a:xfrm>
            <a:off x="7367292" y="1028530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7" name="Google Shape;1457;p99"/>
          <p:cNvSpPr txBox="1"/>
          <p:nvPr/>
        </p:nvSpPr>
        <p:spPr>
          <a:xfrm>
            <a:off x="701400" y="2785627"/>
            <a:ext cx="1896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4 × 3.5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8" name="Google Shape;1458;p99"/>
          <p:cNvSpPr txBox="1"/>
          <p:nvPr/>
        </p:nvSpPr>
        <p:spPr>
          <a:xfrm>
            <a:off x="4156825" y="2824552"/>
            <a:ext cx="1006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× 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9" name="Google Shape;1459;p99"/>
          <p:cNvSpPr txBox="1"/>
          <p:nvPr/>
        </p:nvSpPr>
        <p:spPr>
          <a:xfrm>
            <a:off x="5703525" y="2785627"/>
            <a:ext cx="103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× 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0" name="Google Shape;1460;p99"/>
          <p:cNvSpPr txBox="1"/>
          <p:nvPr/>
        </p:nvSpPr>
        <p:spPr>
          <a:xfrm>
            <a:off x="7278725" y="2785627"/>
            <a:ext cx="103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 × 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1" name="Google Shape;1461;p99"/>
          <p:cNvSpPr txBox="1"/>
          <p:nvPr/>
        </p:nvSpPr>
        <p:spPr>
          <a:xfrm>
            <a:off x="324000" y="4293650"/>
            <a:ext cx="529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 + 7 + 20 + 20 + 20 = 74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62" name="Google Shape;1462;p99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899" y="3214277"/>
            <a:ext cx="156300" cy="51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99"/>
          <p:cNvSpPr txBox="1"/>
          <p:nvPr/>
        </p:nvSpPr>
        <p:spPr>
          <a:xfrm>
            <a:off x="2448807" y="2786509"/>
            <a:ext cx="1896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4 × 3.5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64" name="Google Shape;1464;p99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306" y="3215159"/>
            <a:ext cx="156300" cy="51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00"/>
          <p:cNvSpPr txBox="1"/>
          <p:nvPr>
            <p:ph idx="1" type="body"/>
          </p:nvPr>
        </p:nvSpPr>
        <p:spPr>
          <a:xfrm>
            <a:off x="324000" y="653973"/>
            <a:ext cx="82377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2: Use congruent faces to be more efficient</a:t>
            </a:r>
            <a:endParaRPr sz="1800"/>
          </a:p>
        </p:txBody>
      </p:sp>
      <p:sp>
        <p:nvSpPr>
          <p:cNvPr id="1470" name="Google Shape;147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471" name="Google Shape;1471;p100"/>
          <p:cNvSpPr txBox="1"/>
          <p:nvPr/>
        </p:nvSpPr>
        <p:spPr>
          <a:xfrm>
            <a:off x="1189775" y="2738950"/>
            <a:ext cx="2766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× (     × 4 × 3.5)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100"/>
          <p:cNvSpPr txBox="1"/>
          <p:nvPr/>
        </p:nvSpPr>
        <p:spPr>
          <a:xfrm>
            <a:off x="4156825" y="2772500"/>
            <a:ext cx="2166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× (4 × 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100"/>
          <p:cNvSpPr txBox="1"/>
          <p:nvPr/>
        </p:nvSpPr>
        <p:spPr>
          <a:xfrm>
            <a:off x="2887200" y="3754750"/>
            <a:ext cx="513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 + 60 = 74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74" name="Google Shape;1474;p100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293" y="3021357"/>
            <a:ext cx="156300" cy="51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00"/>
          <p:cNvSpPr/>
          <p:nvPr/>
        </p:nvSpPr>
        <p:spPr>
          <a:xfrm>
            <a:off x="945500" y="1130552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00"/>
          <p:cNvSpPr/>
          <p:nvPr/>
        </p:nvSpPr>
        <p:spPr>
          <a:xfrm>
            <a:off x="2512350" y="1130552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00"/>
          <p:cNvSpPr/>
          <p:nvPr/>
        </p:nvSpPr>
        <p:spPr>
          <a:xfrm>
            <a:off x="4145050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00"/>
          <p:cNvSpPr/>
          <p:nvPr/>
        </p:nvSpPr>
        <p:spPr>
          <a:xfrm>
            <a:off x="5711925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00"/>
          <p:cNvSpPr/>
          <p:nvPr/>
        </p:nvSpPr>
        <p:spPr>
          <a:xfrm>
            <a:off x="7278800" y="1000627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00"/>
          <p:cNvSpPr txBox="1"/>
          <p:nvPr/>
        </p:nvSpPr>
        <p:spPr>
          <a:xfrm>
            <a:off x="1189775" y="22530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81" name="Google Shape;1481;p100"/>
          <p:cNvSpPr txBox="1"/>
          <p:nvPr/>
        </p:nvSpPr>
        <p:spPr>
          <a:xfrm>
            <a:off x="4340650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82" name="Google Shape;1482;p100"/>
          <p:cNvSpPr txBox="1"/>
          <p:nvPr/>
        </p:nvSpPr>
        <p:spPr>
          <a:xfrm>
            <a:off x="5916625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83" name="Google Shape;1483;p100"/>
          <p:cNvSpPr txBox="1"/>
          <p:nvPr/>
        </p:nvSpPr>
        <p:spPr>
          <a:xfrm>
            <a:off x="7474400" y="24001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484" name="Google Shape;1484;p100"/>
          <p:cNvSpPr txBox="1"/>
          <p:nvPr/>
        </p:nvSpPr>
        <p:spPr>
          <a:xfrm>
            <a:off x="734460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85" name="Google Shape;1485;p100"/>
          <p:cNvSpPr txBox="1"/>
          <p:nvPr/>
        </p:nvSpPr>
        <p:spPr>
          <a:xfrm>
            <a:off x="577775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86" name="Google Shape;1486;p100"/>
          <p:cNvSpPr txBox="1"/>
          <p:nvPr/>
        </p:nvSpPr>
        <p:spPr>
          <a:xfrm>
            <a:off x="4149450" y="1469527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487" name="Google Shape;1487;p100"/>
          <p:cNvSpPr txBox="1"/>
          <p:nvPr/>
        </p:nvSpPr>
        <p:spPr>
          <a:xfrm>
            <a:off x="2740875" y="2199752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cxnSp>
        <p:nvCxnSpPr>
          <p:cNvPr id="1488" name="Google Shape;1488;p100"/>
          <p:cNvCxnSpPr/>
          <p:nvPr/>
        </p:nvCxnSpPr>
        <p:spPr>
          <a:xfrm>
            <a:off x="3137173" y="1128752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89" name="Google Shape;1489;p100"/>
          <p:cNvSpPr txBox="1"/>
          <p:nvPr/>
        </p:nvSpPr>
        <p:spPr>
          <a:xfrm>
            <a:off x="2955750" y="1469527"/>
            <a:ext cx="349500" cy="5541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490" name="Google Shape;1490;p100"/>
          <p:cNvCxnSpPr/>
          <p:nvPr/>
        </p:nvCxnSpPr>
        <p:spPr>
          <a:xfrm>
            <a:off x="876148" y="1116752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91" name="Google Shape;1491;p100"/>
          <p:cNvSpPr txBox="1"/>
          <p:nvPr/>
        </p:nvSpPr>
        <p:spPr>
          <a:xfrm>
            <a:off x="701400" y="1377127"/>
            <a:ext cx="3495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492" name="Google Shape;1492;p100"/>
          <p:cNvCxnSpPr/>
          <p:nvPr/>
        </p:nvCxnSpPr>
        <p:spPr>
          <a:xfrm>
            <a:off x="941300" y="2275719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3" name="Google Shape;1493;p100"/>
          <p:cNvCxnSpPr/>
          <p:nvPr/>
        </p:nvCxnSpPr>
        <p:spPr>
          <a:xfrm>
            <a:off x="2518808" y="2275719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4" name="Google Shape;1494;p100"/>
          <p:cNvCxnSpPr/>
          <p:nvPr/>
        </p:nvCxnSpPr>
        <p:spPr>
          <a:xfrm>
            <a:off x="4156828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5" name="Google Shape;1495;p100"/>
          <p:cNvCxnSpPr/>
          <p:nvPr/>
        </p:nvCxnSpPr>
        <p:spPr>
          <a:xfrm>
            <a:off x="5703520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6" name="Google Shape;1496;p100"/>
          <p:cNvCxnSpPr/>
          <p:nvPr/>
        </p:nvCxnSpPr>
        <p:spPr>
          <a:xfrm>
            <a:off x="7281028" y="2496755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7" name="Google Shape;1497;p100"/>
          <p:cNvCxnSpPr/>
          <p:nvPr/>
        </p:nvCxnSpPr>
        <p:spPr>
          <a:xfrm>
            <a:off x="4220714" y="1033502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8" name="Google Shape;1498;p100"/>
          <p:cNvCxnSpPr/>
          <p:nvPr/>
        </p:nvCxnSpPr>
        <p:spPr>
          <a:xfrm>
            <a:off x="5797652" y="1036627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9" name="Google Shape;1499;p100"/>
          <p:cNvCxnSpPr/>
          <p:nvPr/>
        </p:nvCxnSpPr>
        <p:spPr>
          <a:xfrm>
            <a:off x="7367292" y="1028530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01"/>
          <p:cNvSpPr txBox="1"/>
          <p:nvPr>
            <p:ph idx="1" type="body"/>
          </p:nvPr>
        </p:nvSpPr>
        <p:spPr>
          <a:xfrm>
            <a:off x="324000" y="664484"/>
            <a:ext cx="82377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 3: Use one rectangular face and two congruent faces </a:t>
            </a:r>
            <a:endParaRPr sz="1800"/>
          </a:p>
        </p:txBody>
      </p:sp>
      <p:sp>
        <p:nvSpPr>
          <p:cNvPr id="1505" name="Google Shape;1505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Being efficient in finding the surface area</a:t>
            </a:r>
            <a:endParaRPr/>
          </a:p>
        </p:txBody>
      </p:sp>
      <p:sp>
        <p:nvSpPr>
          <p:cNvPr id="1506" name="Google Shape;1506;p101"/>
          <p:cNvSpPr/>
          <p:nvPr/>
        </p:nvSpPr>
        <p:spPr>
          <a:xfrm>
            <a:off x="945500" y="1230900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01"/>
          <p:cNvSpPr/>
          <p:nvPr/>
        </p:nvSpPr>
        <p:spPr>
          <a:xfrm>
            <a:off x="2512350" y="1230900"/>
            <a:ext cx="1236300" cy="1069200"/>
          </a:xfrm>
          <a:prstGeom prst="triangle">
            <a:avLst>
              <a:gd fmla="val 50000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01"/>
          <p:cNvSpPr/>
          <p:nvPr/>
        </p:nvSpPr>
        <p:spPr>
          <a:xfrm>
            <a:off x="4145050" y="1100975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01"/>
          <p:cNvSpPr/>
          <p:nvPr/>
        </p:nvSpPr>
        <p:spPr>
          <a:xfrm>
            <a:off x="5384850" y="1103564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01"/>
          <p:cNvSpPr/>
          <p:nvPr/>
        </p:nvSpPr>
        <p:spPr>
          <a:xfrm>
            <a:off x="6624650" y="1100439"/>
            <a:ext cx="1236300" cy="13995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01"/>
          <p:cNvSpPr txBox="1"/>
          <p:nvPr/>
        </p:nvSpPr>
        <p:spPr>
          <a:xfrm>
            <a:off x="1189775" y="2353375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sp>
        <p:nvSpPr>
          <p:cNvPr id="1512" name="Google Shape;1512;p101"/>
          <p:cNvSpPr txBox="1"/>
          <p:nvPr/>
        </p:nvSpPr>
        <p:spPr>
          <a:xfrm>
            <a:off x="5384850" y="2499950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513" name="Google Shape;1513;p101"/>
          <p:cNvSpPr txBox="1"/>
          <p:nvPr/>
        </p:nvSpPr>
        <p:spPr>
          <a:xfrm>
            <a:off x="4210900" y="1564900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sp>
        <p:nvSpPr>
          <p:cNvPr id="1514" name="Google Shape;1514;p101"/>
          <p:cNvSpPr txBox="1"/>
          <p:nvPr/>
        </p:nvSpPr>
        <p:spPr>
          <a:xfrm>
            <a:off x="2740875" y="2300100"/>
            <a:ext cx="8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/>
          </a:p>
        </p:txBody>
      </p:sp>
      <p:cxnSp>
        <p:nvCxnSpPr>
          <p:cNvPr id="1515" name="Google Shape;1515;p101"/>
          <p:cNvCxnSpPr/>
          <p:nvPr/>
        </p:nvCxnSpPr>
        <p:spPr>
          <a:xfrm>
            <a:off x="3137173" y="1229100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16" name="Google Shape;1516;p101"/>
          <p:cNvSpPr txBox="1"/>
          <p:nvPr/>
        </p:nvSpPr>
        <p:spPr>
          <a:xfrm>
            <a:off x="2955750" y="1569875"/>
            <a:ext cx="349500" cy="5541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517" name="Google Shape;1517;p101"/>
          <p:cNvCxnSpPr/>
          <p:nvPr/>
        </p:nvCxnSpPr>
        <p:spPr>
          <a:xfrm>
            <a:off x="876148" y="1217100"/>
            <a:ext cx="0" cy="10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18" name="Google Shape;1518;p101"/>
          <p:cNvSpPr txBox="1"/>
          <p:nvPr/>
        </p:nvSpPr>
        <p:spPr>
          <a:xfrm>
            <a:off x="701400" y="1477475"/>
            <a:ext cx="3495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/>
          </a:p>
        </p:txBody>
      </p:sp>
      <p:cxnSp>
        <p:nvCxnSpPr>
          <p:cNvPr id="1519" name="Google Shape;1519;p101"/>
          <p:cNvCxnSpPr/>
          <p:nvPr/>
        </p:nvCxnSpPr>
        <p:spPr>
          <a:xfrm>
            <a:off x="941300" y="2376067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0" name="Google Shape;1520;p101"/>
          <p:cNvCxnSpPr/>
          <p:nvPr/>
        </p:nvCxnSpPr>
        <p:spPr>
          <a:xfrm>
            <a:off x="2518808" y="2376067"/>
            <a:ext cx="124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1" name="Google Shape;1521;p101"/>
          <p:cNvCxnSpPr/>
          <p:nvPr/>
        </p:nvCxnSpPr>
        <p:spPr>
          <a:xfrm>
            <a:off x="4156828" y="2597103"/>
            <a:ext cx="370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2" name="Google Shape;1522;p101"/>
          <p:cNvCxnSpPr/>
          <p:nvPr/>
        </p:nvCxnSpPr>
        <p:spPr>
          <a:xfrm>
            <a:off x="4220714" y="1133850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3" name="Google Shape;1523;p101"/>
          <p:cNvSpPr txBox="1"/>
          <p:nvPr/>
        </p:nvSpPr>
        <p:spPr>
          <a:xfrm>
            <a:off x="1189775" y="2815150"/>
            <a:ext cx="2766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  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4" name="Google Shape;1524;p101"/>
          <p:cNvSpPr txBox="1"/>
          <p:nvPr/>
        </p:nvSpPr>
        <p:spPr>
          <a:xfrm>
            <a:off x="5185750" y="2815150"/>
            <a:ext cx="2166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 × 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60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101"/>
          <p:cNvSpPr txBox="1"/>
          <p:nvPr/>
        </p:nvSpPr>
        <p:spPr>
          <a:xfrm>
            <a:off x="2887200" y="3830950"/>
            <a:ext cx="513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 + 60 = 74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26" name="Google Shape;1526;p10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4868" y="3097557"/>
            <a:ext cx="156300" cy="51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239" y="3170400"/>
            <a:ext cx="1445929" cy="156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02"/>
          <p:cNvSpPr txBox="1"/>
          <p:nvPr>
            <p:ph idx="1" type="body"/>
          </p:nvPr>
        </p:nvSpPr>
        <p:spPr>
          <a:xfrm>
            <a:off x="324000" y="759300"/>
            <a:ext cx="8237700" cy="3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Calculate the surface area of the following right prisms:</a:t>
            </a:r>
            <a:endParaRPr sz="1800"/>
          </a:p>
        </p:txBody>
      </p:sp>
      <p:sp>
        <p:nvSpPr>
          <p:cNvPr id="1533" name="Google Shape;153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efficient in finding the surface area</a:t>
            </a:r>
            <a:endParaRPr/>
          </a:p>
        </p:txBody>
      </p:sp>
      <p:pic>
        <p:nvPicPr>
          <p:cNvPr id="1534" name="Google Shape;153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4938" y="1255525"/>
            <a:ext cx="1502786" cy="15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718" y="1156187"/>
            <a:ext cx="1150750" cy="18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0193" y="3088650"/>
            <a:ext cx="1415630" cy="16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02"/>
          <p:cNvSpPr txBox="1"/>
          <p:nvPr/>
        </p:nvSpPr>
        <p:spPr>
          <a:xfrm flipH="1">
            <a:off x="2332025" y="1156200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102"/>
          <p:cNvSpPr txBox="1"/>
          <p:nvPr/>
        </p:nvSpPr>
        <p:spPr>
          <a:xfrm flipH="1">
            <a:off x="1142575" y="1643838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102"/>
          <p:cNvSpPr txBox="1"/>
          <p:nvPr/>
        </p:nvSpPr>
        <p:spPr>
          <a:xfrm flipH="1">
            <a:off x="2679425" y="2545350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02"/>
          <p:cNvSpPr txBox="1"/>
          <p:nvPr/>
        </p:nvSpPr>
        <p:spPr>
          <a:xfrm flipH="1">
            <a:off x="3034388" y="2106431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02"/>
          <p:cNvSpPr txBox="1"/>
          <p:nvPr/>
        </p:nvSpPr>
        <p:spPr>
          <a:xfrm flipH="1">
            <a:off x="1340750" y="1022400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02"/>
          <p:cNvSpPr txBox="1"/>
          <p:nvPr/>
        </p:nvSpPr>
        <p:spPr>
          <a:xfrm flipH="1">
            <a:off x="6413493" y="1856600"/>
            <a:ext cx="75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02"/>
          <p:cNvSpPr txBox="1"/>
          <p:nvPr/>
        </p:nvSpPr>
        <p:spPr>
          <a:xfrm flipH="1">
            <a:off x="6035643" y="1098725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02"/>
          <p:cNvSpPr txBox="1"/>
          <p:nvPr/>
        </p:nvSpPr>
        <p:spPr>
          <a:xfrm flipH="1">
            <a:off x="6007293" y="2708700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02"/>
          <p:cNvSpPr txBox="1"/>
          <p:nvPr/>
        </p:nvSpPr>
        <p:spPr>
          <a:xfrm flipH="1">
            <a:off x="4874823" y="1540575"/>
            <a:ext cx="84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102"/>
          <p:cNvSpPr txBox="1"/>
          <p:nvPr/>
        </p:nvSpPr>
        <p:spPr>
          <a:xfrm flipH="1">
            <a:off x="4970843" y="2823275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102"/>
          <p:cNvSpPr txBox="1"/>
          <p:nvPr/>
        </p:nvSpPr>
        <p:spPr>
          <a:xfrm flipH="1">
            <a:off x="1241325" y="3576225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102"/>
          <p:cNvSpPr txBox="1"/>
          <p:nvPr/>
        </p:nvSpPr>
        <p:spPr>
          <a:xfrm flipH="1">
            <a:off x="1727200" y="4219500"/>
            <a:ext cx="106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102"/>
          <p:cNvSpPr txBox="1"/>
          <p:nvPr/>
        </p:nvSpPr>
        <p:spPr>
          <a:xfrm flipH="1">
            <a:off x="1707100" y="3072325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102"/>
          <p:cNvSpPr txBox="1"/>
          <p:nvPr/>
        </p:nvSpPr>
        <p:spPr>
          <a:xfrm flipH="1">
            <a:off x="2897300" y="3316207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102"/>
          <p:cNvSpPr txBox="1"/>
          <p:nvPr/>
        </p:nvSpPr>
        <p:spPr>
          <a:xfrm flipH="1">
            <a:off x="5606668" y="3723432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 m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102"/>
          <p:cNvSpPr txBox="1"/>
          <p:nvPr/>
        </p:nvSpPr>
        <p:spPr>
          <a:xfrm flipH="1">
            <a:off x="6175893" y="4511107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02"/>
          <p:cNvSpPr txBox="1"/>
          <p:nvPr/>
        </p:nvSpPr>
        <p:spPr>
          <a:xfrm flipH="1">
            <a:off x="6808668" y="3480782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02"/>
          <p:cNvSpPr txBox="1"/>
          <p:nvPr/>
        </p:nvSpPr>
        <p:spPr>
          <a:xfrm flipH="1">
            <a:off x="5015143" y="3316207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02"/>
          <p:cNvSpPr txBox="1"/>
          <p:nvPr/>
        </p:nvSpPr>
        <p:spPr>
          <a:xfrm flipH="1">
            <a:off x="5175393" y="4109632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02"/>
          <p:cNvSpPr txBox="1"/>
          <p:nvPr/>
        </p:nvSpPr>
        <p:spPr>
          <a:xfrm flipH="1">
            <a:off x="6620943" y="4075975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102"/>
          <p:cNvSpPr txBox="1"/>
          <p:nvPr/>
        </p:nvSpPr>
        <p:spPr>
          <a:xfrm flipH="1">
            <a:off x="6413493" y="2947269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8" name="Google Shape;1558;p102"/>
          <p:cNvCxnSpPr/>
          <p:nvPr/>
        </p:nvCxnSpPr>
        <p:spPr>
          <a:xfrm rot="10800000">
            <a:off x="1986375" y="1314400"/>
            <a:ext cx="845400" cy="4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9" name="Google Shape;1559;p102"/>
          <p:cNvCxnSpPr/>
          <p:nvPr/>
        </p:nvCxnSpPr>
        <p:spPr>
          <a:xfrm rot="10800000">
            <a:off x="1658000" y="1497925"/>
            <a:ext cx="0" cy="7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0" name="Google Shape;1560;p102"/>
          <p:cNvCxnSpPr/>
          <p:nvPr/>
        </p:nvCxnSpPr>
        <p:spPr>
          <a:xfrm rot="10800000">
            <a:off x="3058475" y="2220375"/>
            <a:ext cx="3600" cy="25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1" name="Google Shape;1561;p102"/>
          <p:cNvCxnSpPr/>
          <p:nvPr/>
        </p:nvCxnSpPr>
        <p:spPr>
          <a:xfrm rot="10800000">
            <a:off x="1898275" y="3669975"/>
            <a:ext cx="3600" cy="32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2" name="Google Shape;1562;p102"/>
          <p:cNvCxnSpPr/>
          <p:nvPr/>
        </p:nvCxnSpPr>
        <p:spPr>
          <a:xfrm rot="10800000">
            <a:off x="6465068" y="1613875"/>
            <a:ext cx="0" cy="96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3" name="Google Shape;1563;p102"/>
          <p:cNvCxnSpPr/>
          <p:nvPr/>
        </p:nvCxnSpPr>
        <p:spPr>
          <a:xfrm rot="10800000">
            <a:off x="5816493" y="1210800"/>
            <a:ext cx="597000" cy="34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4" name="Google Shape;1564;p102"/>
          <p:cNvCxnSpPr/>
          <p:nvPr/>
        </p:nvCxnSpPr>
        <p:spPr>
          <a:xfrm flipH="1">
            <a:off x="5526018" y="1595088"/>
            <a:ext cx="368700" cy="2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5" name="Google Shape;1565;p102"/>
          <p:cNvCxnSpPr/>
          <p:nvPr/>
        </p:nvCxnSpPr>
        <p:spPr>
          <a:xfrm rot="10800000">
            <a:off x="5496774" y="2864400"/>
            <a:ext cx="205200" cy="12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6" name="Google Shape;1566;p102"/>
          <p:cNvCxnSpPr/>
          <p:nvPr/>
        </p:nvCxnSpPr>
        <p:spPr>
          <a:xfrm flipH="1" rot="10800000">
            <a:off x="5775637" y="2647938"/>
            <a:ext cx="646500" cy="3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7" name="Google Shape;1567;p102"/>
          <p:cNvCxnSpPr/>
          <p:nvPr/>
        </p:nvCxnSpPr>
        <p:spPr>
          <a:xfrm flipH="1">
            <a:off x="1898275" y="3326313"/>
            <a:ext cx="564600" cy="33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8" name="Google Shape;1568;p102"/>
          <p:cNvCxnSpPr/>
          <p:nvPr/>
        </p:nvCxnSpPr>
        <p:spPr>
          <a:xfrm rot="10800000">
            <a:off x="1898300" y="4050150"/>
            <a:ext cx="1063200" cy="62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9" name="Google Shape;1569;p102"/>
          <p:cNvCxnSpPr/>
          <p:nvPr/>
        </p:nvCxnSpPr>
        <p:spPr>
          <a:xfrm rot="10800000">
            <a:off x="5496768" y="3935925"/>
            <a:ext cx="427200" cy="77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0" name="Google Shape;1570;p102"/>
          <p:cNvCxnSpPr/>
          <p:nvPr/>
        </p:nvCxnSpPr>
        <p:spPr>
          <a:xfrm flipH="1">
            <a:off x="6074043" y="4458900"/>
            <a:ext cx="469800" cy="2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1" name="Google Shape;1571;p102"/>
          <p:cNvCxnSpPr/>
          <p:nvPr/>
        </p:nvCxnSpPr>
        <p:spPr>
          <a:xfrm rot="10800000">
            <a:off x="6330093" y="3141275"/>
            <a:ext cx="447300" cy="25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2" name="Google Shape;1572;p102"/>
          <p:cNvCxnSpPr/>
          <p:nvPr/>
        </p:nvCxnSpPr>
        <p:spPr>
          <a:xfrm rot="10800000">
            <a:off x="6813937" y="3453150"/>
            <a:ext cx="6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3" name="Google Shape;1573;p102"/>
          <p:cNvCxnSpPr/>
          <p:nvPr/>
        </p:nvCxnSpPr>
        <p:spPr>
          <a:xfrm flipH="1" rot="10800000">
            <a:off x="6575155" y="4017712"/>
            <a:ext cx="2472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4" name="Google Shape;1574;p102"/>
          <p:cNvCxnSpPr/>
          <p:nvPr/>
        </p:nvCxnSpPr>
        <p:spPr>
          <a:xfrm flipH="1" rot="10800000">
            <a:off x="5475780" y="3454325"/>
            <a:ext cx="2472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5" name="Google Shape;1575;p102"/>
          <p:cNvCxnSpPr/>
          <p:nvPr/>
        </p:nvCxnSpPr>
        <p:spPr>
          <a:xfrm flipH="1">
            <a:off x="2607000" y="2554644"/>
            <a:ext cx="399300" cy="23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6" name="Google Shape;1576;p102"/>
          <p:cNvCxnSpPr/>
          <p:nvPr/>
        </p:nvCxnSpPr>
        <p:spPr>
          <a:xfrm flipH="1">
            <a:off x="1684156" y="1329944"/>
            <a:ext cx="202200" cy="12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7" name="Google Shape;1577;p102"/>
          <p:cNvSpPr txBox="1"/>
          <p:nvPr/>
        </p:nvSpPr>
        <p:spPr>
          <a:xfrm>
            <a:off x="7407675" y="759300"/>
            <a:ext cx="1446000" cy="5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8" name="Google Shape;1578;p102"/>
          <p:cNvGrpSpPr/>
          <p:nvPr/>
        </p:nvGrpSpPr>
        <p:grpSpPr>
          <a:xfrm>
            <a:off x="2429246" y="3267183"/>
            <a:ext cx="951344" cy="788779"/>
            <a:chOff x="2817517" y="3198254"/>
            <a:chExt cx="951344" cy="788779"/>
          </a:xfrm>
        </p:grpSpPr>
        <p:grpSp>
          <p:nvGrpSpPr>
            <p:cNvPr id="1579" name="Google Shape;1579;p102"/>
            <p:cNvGrpSpPr/>
            <p:nvPr/>
          </p:nvGrpSpPr>
          <p:grpSpPr>
            <a:xfrm>
              <a:off x="2913861" y="3198254"/>
              <a:ext cx="854999" cy="788779"/>
              <a:chOff x="2887201" y="3210372"/>
              <a:chExt cx="854999" cy="788779"/>
            </a:xfrm>
          </p:grpSpPr>
          <p:sp>
            <p:nvSpPr>
              <p:cNvPr id="1580" name="Google Shape;1580;p102"/>
              <p:cNvSpPr/>
              <p:nvPr/>
            </p:nvSpPr>
            <p:spPr>
              <a:xfrm rot="2565571">
                <a:off x="2909823" y="3240545"/>
                <a:ext cx="135656" cy="119954"/>
              </a:xfrm>
              <a:prstGeom prst="parallelogram">
                <a:avLst>
                  <a:gd fmla="val 25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81" name="Google Shape;1581;p102"/>
              <p:cNvCxnSpPr/>
              <p:nvPr/>
            </p:nvCxnSpPr>
            <p:spPr>
              <a:xfrm>
                <a:off x="2997000" y="3236251"/>
                <a:ext cx="745200" cy="76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med" w="med" type="stealth"/>
                <a:tailEnd len="med" w="med" type="triangle"/>
              </a:ln>
            </p:spPr>
          </p:cxnSp>
        </p:grpSp>
        <p:cxnSp>
          <p:nvCxnSpPr>
            <p:cNvPr id="1582" name="Google Shape;1582;p102"/>
            <p:cNvCxnSpPr/>
            <p:nvPr/>
          </p:nvCxnSpPr>
          <p:spPr>
            <a:xfrm flipH="1">
              <a:off x="2817517" y="3250129"/>
              <a:ext cx="148800" cy="10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583" name="Google Shape;1583;p102"/>
          <p:cNvCxnSpPr/>
          <p:nvPr/>
        </p:nvCxnSpPr>
        <p:spPr>
          <a:xfrm flipH="1" rot="-1499468">
            <a:off x="2328748" y="3902467"/>
            <a:ext cx="161192" cy="76899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102"/>
          <p:cNvCxnSpPr/>
          <p:nvPr/>
        </p:nvCxnSpPr>
        <p:spPr>
          <a:xfrm flipH="1" rot="1496769">
            <a:off x="2629936" y="3738571"/>
            <a:ext cx="161464" cy="7682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102"/>
          <p:cNvSpPr txBox="1"/>
          <p:nvPr/>
        </p:nvSpPr>
        <p:spPr>
          <a:xfrm>
            <a:off x="867375" y="1127375"/>
            <a:ext cx="4473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02"/>
          <p:cNvSpPr txBox="1"/>
          <p:nvPr/>
        </p:nvSpPr>
        <p:spPr>
          <a:xfrm>
            <a:off x="4505043" y="1127375"/>
            <a:ext cx="4473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2"/>
          <p:cNvSpPr txBox="1"/>
          <p:nvPr/>
        </p:nvSpPr>
        <p:spPr>
          <a:xfrm>
            <a:off x="847675" y="3129300"/>
            <a:ext cx="4473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02"/>
          <p:cNvSpPr txBox="1"/>
          <p:nvPr/>
        </p:nvSpPr>
        <p:spPr>
          <a:xfrm>
            <a:off x="4505043" y="3129300"/>
            <a:ext cx="4473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9" name="Google Shape;1589;p102"/>
          <p:cNvCxnSpPr/>
          <p:nvPr/>
        </p:nvCxnSpPr>
        <p:spPr>
          <a:xfrm flipH="1" rot="10800000">
            <a:off x="3011175" y="3957650"/>
            <a:ext cx="499200" cy="33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efficient in finding the surface area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03"/>
          <p:cNvSpPr txBox="1"/>
          <p:nvPr>
            <p:ph idx="1" type="body"/>
          </p:nvPr>
        </p:nvSpPr>
        <p:spPr>
          <a:xfrm>
            <a:off x="324000" y="759300"/>
            <a:ext cx="82377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) Calculate the surface area of the following right prisms</a:t>
            </a:r>
            <a:endParaRPr sz="1800"/>
          </a:p>
        </p:txBody>
      </p:sp>
      <p:grpSp>
        <p:nvGrpSpPr>
          <p:cNvPr id="1596" name="Google Shape;1596;p103"/>
          <p:cNvGrpSpPr/>
          <p:nvPr/>
        </p:nvGrpSpPr>
        <p:grpSpPr>
          <a:xfrm>
            <a:off x="380575" y="1098600"/>
            <a:ext cx="2647513" cy="1954050"/>
            <a:chOff x="1523575" y="946200"/>
            <a:chExt cx="2647513" cy="1954050"/>
          </a:xfrm>
        </p:grpSpPr>
        <p:pic>
          <p:nvPicPr>
            <p:cNvPr id="1597" name="Google Shape;1597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86182" y="1222232"/>
              <a:ext cx="1496150" cy="15048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8" name="Google Shape;1598;p103"/>
            <p:cNvSpPr txBox="1"/>
            <p:nvPr/>
          </p:nvSpPr>
          <p:spPr>
            <a:xfrm flipH="1">
              <a:off x="2713025" y="1080000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9" name="Google Shape;1599;p103"/>
            <p:cNvSpPr txBox="1"/>
            <p:nvPr/>
          </p:nvSpPr>
          <p:spPr>
            <a:xfrm flipH="1">
              <a:off x="1523575" y="1567638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103"/>
            <p:cNvSpPr txBox="1"/>
            <p:nvPr/>
          </p:nvSpPr>
          <p:spPr>
            <a:xfrm flipH="1">
              <a:off x="3060425" y="2469150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 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103"/>
            <p:cNvSpPr txBox="1"/>
            <p:nvPr/>
          </p:nvSpPr>
          <p:spPr>
            <a:xfrm flipH="1">
              <a:off x="3415388" y="2030231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103"/>
            <p:cNvSpPr txBox="1"/>
            <p:nvPr/>
          </p:nvSpPr>
          <p:spPr>
            <a:xfrm flipH="1">
              <a:off x="1721750" y="946200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 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3" name="Google Shape;1603;p103"/>
            <p:cNvCxnSpPr/>
            <p:nvPr/>
          </p:nvCxnSpPr>
          <p:spPr>
            <a:xfrm rot="10800000">
              <a:off x="2367375" y="1238200"/>
              <a:ext cx="845400" cy="494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4" name="Google Shape;1604;p103"/>
            <p:cNvCxnSpPr/>
            <p:nvPr/>
          </p:nvCxnSpPr>
          <p:spPr>
            <a:xfrm rot="10800000">
              <a:off x="2039000" y="1421725"/>
              <a:ext cx="0" cy="74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5" name="Google Shape;1605;p103"/>
            <p:cNvCxnSpPr/>
            <p:nvPr/>
          </p:nvCxnSpPr>
          <p:spPr>
            <a:xfrm rot="10800000">
              <a:off x="3439475" y="2144175"/>
              <a:ext cx="3600" cy="2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6" name="Google Shape;1606;p103"/>
            <p:cNvCxnSpPr/>
            <p:nvPr/>
          </p:nvCxnSpPr>
          <p:spPr>
            <a:xfrm flipH="1">
              <a:off x="2988000" y="2478444"/>
              <a:ext cx="399300" cy="230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07" name="Google Shape;1607;p103"/>
            <p:cNvCxnSpPr/>
            <p:nvPr/>
          </p:nvCxnSpPr>
          <p:spPr>
            <a:xfrm flipH="1">
              <a:off x="2065156" y="1253744"/>
              <a:ext cx="202200" cy="126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08" name="Google Shape;1608;p103"/>
          <p:cNvSpPr/>
          <p:nvPr/>
        </p:nvSpPr>
        <p:spPr>
          <a:xfrm>
            <a:off x="3524100" y="1340400"/>
            <a:ext cx="795900" cy="1006800"/>
          </a:xfrm>
          <a:prstGeom prst="corner">
            <a:avLst>
              <a:gd fmla="val 50000" name="adj1"/>
              <a:gd fmla="val 50000" name="adj2"/>
            </a:avLst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03"/>
          <p:cNvSpPr txBox="1"/>
          <p:nvPr/>
        </p:nvSpPr>
        <p:spPr>
          <a:xfrm flipH="1">
            <a:off x="2898130" y="1626626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0" name="Google Shape;1610;p103"/>
          <p:cNvSpPr txBox="1"/>
          <p:nvPr/>
        </p:nvSpPr>
        <p:spPr>
          <a:xfrm flipH="1">
            <a:off x="4319988" y="1913730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1" name="Google Shape;1611;p103"/>
          <p:cNvSpPr txBox="1"/>
          <p:nvPr/>
        </p:nvSpPr>
        <p:spPr>
          <a:xfrm flipH="1">
            <a:off x="3625738" y="2325480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2" name="Google Shape;1612;p103"/>
          <p:cNvSpPr txBox="1"/>
          <p:nvPr/>
        </p:nvSpPr>
        <p:spPr>
          <a:xfrm flipH="1">
            <a:off x="3450762" y="921592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3" name="Google Shape;1613;p103"/>
          <p:cNvSpPr txBox="1"/>
          <p:nvPr/>
        </p:nvSpPr>
        <p:spPr>
          <a:xfrm flipH="1">
            <a:off x="3857638" y="1841231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14" name="Google Shape;1614;p103"/>
          <p:cNvCxnSpPr/>
          <p:nvPr/>
        </p:nvCxnSpPr>
        <p:spPr>
          <a:xfrm flipH="1" rot="10800000">
            <a:off x="3908475" y="1337912"/>
            <a:ext cx="4224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103"/>
          <p:cNvCxnSpPr/>
          <p:nvPr/>
        </p:nvCxnSpPr>
        <p:spPr>
          <a:xfrm>
            <a:off x="4320000" y="1342800"/>
            <a:ext cx="0" cy="60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16" name="Google Shape;1616;p103"/>
          <p:cNvSpPr txBox="1"/>
          <p:nvPr/>
        </p:nvSpPr>
        <p:spPr>
          <a:xfrm>
            <a:off x="4979100" y="1289700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Area of L shape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((3 × 2) - (2 × 1))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4 = 8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103"/>
          <p:cNvSpPr/>
          <p:nvPr/>
        </p:nvSpPr>
        <p:spPr>
          <a:xfrm>
            <a:off x="3170400" y="2933375"/>
            <a:ext cx="1653600" cy="1574700"/>
          </a:xfrm>
          <a:prstGeom prst="rect">
            <a:avLst/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03"/>
          <p:cNvSpPr txBox="1"/>
          <p:nvPr/>
        </p:nvSpPr>
        <p:spPr>
          <a:xfrm flipH="1">
            <a:off x="2433155" y="3489876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103"/>
          <p:cNvSpPr txBox="1"/>
          <p:nvPr/>
        </p:nvSpPr>
        <p:spPr>
          <a:xfrm flipH="1">
            <a:off x="3398347" y="2913597"/>
            <a:ext cx="137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of L shape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0" name="Google Shape;1620;p103"/>
          <p:cNvSpPr txBox="1"/>
          <p:nvPr/>
        </p:nvSpPr>
        <p:spPr>
          <a:xfrm>
            <a:off x="5075700" y="2843375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perimeter of L shape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 × (3 + 1 + 2 + 1 + 1 + 2)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 × 10 = 120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1" name="Google Shape;1621;p103"/>
          <p:cNvSpPr txBox="1"/>
          <p:nvPr/>
        </p:nvSpPr>
        <p:spPr>
          <a:xfrm>
            <a:off x="5039025" y="4132625"/>
            <a:ext cx="39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128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22" name="Google Shape;1622;p103"/>
          <p:cNvCxnSpPr/>
          <p:nvPr/>
        </p:nvCxnSpPr>
        <p:spPr>
          <a:xfrm rot="10800000">
            <a:off x="3085938" y="2937875"/>
            <a:ext cx="0" cy="156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3" name="Google Shape;1623;p103"/>
          <p:cNvCxnSpPr/>
          <p:nvPr/>
        </p:nvCxnSpPr>
        <p:spPr>
          <a:xfrm>
            <a:off x="3151481" y="3015075"/>
            <a:ext cx="167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4" name="Google Shape;1624;p103"/>
          <p:cNvCxnSpPr/>
          <p:nvPr/>
        </p:nvCxnSpPr>
        <p:spPr>
          <a:xfrm>
            <a:off x="3524106" y="1285513"/>
            <a:ext cx="3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5" name="Google Shape;1625;p103"/>
          <p:cNvCxnSpPr/>
          <p:nvPr/>
        </p:nvCxnSpPr>
        <p:spPr>
          <a:xfrm>
            <a:off x="3945081" y="1883425"/>
            <a:ext cx="3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6" name="Google Shape;1626;p103"/>
          <p:cNvCxnSpPr/>
          <p:nvPr/>
        </p:nvCxnSpPr>
        <p:spPr>
          <a:xfrm rot="10800000">
            <a:off x="3554826" y="2419769"/>
            <a:ext cx="73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7" name="Google Shape;1627;p103"/>
          <p:cNvCxnSpPr/>
          <p:nvPr/>
        </p:nvCxnSpPr>
        <p:spPr>
          <a:xfrm rot="5400000">
            <a:off x="4188556" y="2144563"/>
            <a:ext cx="3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8" name="Google Shape;1628;p103"/>
          <p:cNvCxnSpPr/>
          <p:nvPr/>
        </p:nvCxnSpPr>
        <p:spPr>
          <a:xfrm>
            <a:off x="3848425" y="1384138"/>
            <a:ext cx="0" cy="56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9" name="Google Shape;1629;p103"/>
          <p:cNvCxnSpPr/>
          <p:nvPr/>
        </p:nvCxnSpPr>
        <p:spPr>
          <a:xfrm>
            <a:off x="3432400" y="1369213"/>
            <a:ext cx="0" cy="97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0" name="Google Shape;1630;p103"/>
          <p:cNvSpPr txBox="1"/>
          <p:nvPr/>
        </p:nvSpPr>
        <p:spPr>
          <a:xfrm flipH="1">
            <a:off x="3832263" y="1404443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1" name="Google Shape;1631;p103"/>
          <p:cNvSpPr txBox="1"/>
          <p:nvPr/>
        </p:nvSpPr>
        <p:spPr>
          <a:xfrm>
            <a:off x="7407675" y="759300"/>
            <a:ext cx="1446000" cy="5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104"/>
          <p:cNvGrpSpPr/>
          <p:nvPr/>
        </p:nvGrpSpPr>
        <p:grpSpPr>
          <a:xfrm>
            <a:off x="323988" y="1112901"/>
            <a:ext cx="2198363" cy="2155650"/>
            <a:chOff x="323988" y="1112901"/>
            <a:chExt cx="2198363" cy="2155650"/>
          </a:xfrm>
        </p:grpSpPr>
        <p:pic>
          <p:nvPicPr>
            <p:cNvPr id="1637" name="Google Shape;1637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2244" y="1229826"/>
              <a:ext cx="1037100" cy="18042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104"/>
            <p:cNvSpPr txBox="1"/>
            <p:nvPr/>
          </p:nvSpPr>
          <p:spPr>
            <a:xfrm flipH="1">
              <a:off x="1766650" y="1870776"/>
              <a:ext cx="7557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 mm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9" name="Google Shape;1639;p104"/>
            <p:cNvSpPr txBox="1"/>
            <p:nvPr/>
          </p:nvSpPr>
          <p:spPr>
            <a:xfrm flipH="1">
              <a:off x="1388800" y="1112901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0" name="Google Shape;1640;p104"/>
            <p:cNvSpPr txBox="1"/>
            <p:nvPr/>
          </p:nvSpPr>
          <p:spPr>
            <a:xfrm flipH="1">
              <a:off x="1360450" y="2722876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 mm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1" name="Google Shape;1641;p104"/>
            <p:cNvSpPr txBox="1"/>
            <p:nvPr/>
          </p:nvSpPr>
          <p:spPr>
            <a:xfrm flipH="1">
              <a:off x="323988" y="1249951"/>
              <a:ext cx="5970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 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2" name="Google Shape;1642;p104"/>
            <p:cNvSpPr txBox="1"/>
            <p:nvPr/>
          </p:nvSpPr>
          <p:spPr>
            <a:xfrm flipH="1">
              <a:off x="324000" y="2837451"/>
              <a:ext cx="755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mm</a:t>
              </a:r>
              <a:endParaRPr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3" name="Google Shape;1643;p104"/>
            <p:cNvCxnSpPr/>
            <p:nvPr/>
          </p:nvCxnSpPr>
          <p:spPr>
            <a:xfrm rot="10800000">
              <a:off x="1818225" y="1628051"/>
              <a:ext cx="0" cy="96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4" name="Google Shape;1644;p104"/>
            <p:cNvCxnSpPr/>
            <p:nvPr/>
          </p:nvCxnSpPr>
          <p:spPr>
            <a:xfrm rot="10800000">
              <a:off x="1169650" y="1224976"/>
              <a:ext cx="597000" cy="346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5" name="Google Shape;1645;p104"/>
            <p:cNvCxnSpPr/>
            <p:nvPr/>
          </p:nvCxnSpPr>
          <p:spPr>
            <a:xfrm flipH="1">
              <a:off x="879175" y="1609263"/>
              <a:ext cx="368700" cy="22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6" name="Google Shape;1646;p104"/>
            <p:cNvCxnSpPr/>
            <p:nvPr/>
          </p:nvCxnSpPr>
          <p:spPr>
            <a:xfrm flipH="1" rot="10800000">
              <a:off x="1128794" y="2662114"/>
              <a:ext cx="646500" cy="373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7" name="Google Shape;1647;p104"/>
            <p:cNvCxnSpPr/>
            <p:nvPr/>
          </p:nvCxnSpPr>
          <p:spPr>
            <a:xfrm rot="10800000">
              <a:off x="838731" y="2897100"/>
              <a:ext cx="205200" cy="12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48" name="Google Shape;1648;p104"/>
          <p:cNvSpPr txBox="1"/>
          <p:nvPr>
            <p:ph idx="1" type="body"/>
          </p:nvPr>
        </p:nvSpPr>
        <p:spPr>
          <a:xfrm>
            <a:off x="324000" y="759300"/>
            <a:ext cx="82377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Calculate the surface area of the following right prisms</a:t>
            </a:r>
            <a:endParaRPr sz="1800"/>
          </a:p>
        </p:txBody>
      </p:sp>
      <p:sp>
        <p:nvSpPr>
          <p:cNvPr id="1649" name="Google Shape;1649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efficient in finding the surface area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04"/>
          <p:cNvSpPr/>
          <p:nvPr/>
        </p:nvSpPr>
        <p:spPr>
          <a:xfrm flipH="1">
            <a:off x="3369600" y="1340400"/>
            <a:ext cx="1144500" cy="1144500"/>
          </a:xfrm>
          <a:prstGeom prst="corner">
            <a:avLst>
              <a:gd fmla="val 32883" name="adj1"/>
              <a:gd fmla="val 34900" name="adj2"/>
            </a:avLst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04"/>
          <p:cNvSpPr txBox="1"/>
          <p:nvPr/>
        </p:nvSpPr>
        <p:spPr>
          <a:xfrm flipH="1">
            <a:off x="3385600" y="1725900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2" name="Google Shape;1652;p104"/>
          <p:cNvSpPr txBox="1"/>
          <p:nvPr/>
        </p:nvSpPr>
        <p:spPr>
          <a:xfrm flipH="1">
            <a:off x="3589800" y="2450629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3" name="Google Shape;1653;p104"/>
          <p:cNvSpPr txBox="1"/>
          <p:nvPr/>
        </p:nvSpPr>
        <p:spPr>
          <a:xfrm flipH="1">
            <a:off x="4535525" y="1681800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4" name="Google Shape;1654;p104"/>
          <p:cNvSpPr txBox="1"/>
          <p:nvPr/>
        </p:nvSpPr>
        <p:spPr>
          <a:xfrm flipH="1">
            <a:off x="2806604" y="1912250"/>
            <a:ext cx="62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5" name="Google Shape;1655;p104"/>
          <p:cNvSpPr txBox="1"/>
          <p:nvPr/>
        </p:nvSpPr>
        <p:spPr>
          <a:xfrm flipH="1">
            <a:off x="3385600" y="1450538"/>
            <a:ext cx="9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6" name="Google Shape;1656;p104"/>
          <p:cNvSpPr txBox="1"/>
          <p:nvPr/>
        </p:nvSpPr>
        <p:spPr>
          <a:xfrm flipH="1">
            <a:off x="3910649" y="919717"/>
            <a:ext cx="8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7" name="Google Shape;1657;p104"/>
          <p:cNvSpPr txBox="1"/>
          <p:nvPr/>
        </p:nvSpPr>
        <p:spPr>
          <a:xfrm>
            <a:off x="5361350" y="1346350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Area of L shape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((9 × 9) - (6 × 6))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45 = 90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58" name="Google Shape;1658;p104"/>
          <p:cNvCxnSpPr/>
          <p:nvPr/>
        </p:nvCxnSpPr>
        <p:spPr>
          <a:xfrm rot="10800000">
            <a:off x="3369400" y="1340500"/>
            <a:ext cx="0" cy="73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104"/>
          <p:cNvCxnSpPr/>
          <p:nvPr/>
        </p:nvCxnSpPr>
        <p:spPr>
          <a:xfrm>
            <a:off x="3374494" y="1351281"/>
            <a:ext cx="727500" cy="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0" name="Google Shape;1660;p104"/>
          <p:cNvSpPr/>
          <p:nvPr/>
        </p:nvSpPr>
        <p:spPr>
          <a:xfrm>
            <a:off x="2172925" y="2933375"/>
            <a:ext cx="2719200" cy="1574700"/>
          </a:xfrm>
          <a:prstGeom prst="rect">
            <a:avLst/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04"/>
          <p:cNvSpPr txBox="1"/>
          <p:nvPr/>
        </p:nvSpPr>
        <p:spPr>
          <a:xfrm flipH="1">
            <a:off x="1625066" y="3489876"/>
            <a:ext cx="755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mm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2" name="Google Shape;1662;p104"/>
          <p:cNvSpPr txBox="1"/>
          <p:nvPr/>
        </p:nvSpPr>
        <p:spPr>
          <a:xfrm flipH="1">
            <a:off x="2346450" y="2902200"/>
            <a:ext cx="227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of L shape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3" name="Google Shape;1663;p104"/>
          <p:cNvSpPr txBox="1"/>
          <p:nvPr/>
        </p:nvSpPr>
        <p:spPr>
          <a:xfrm>
            <a:off x="5075700" y="2843375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× perimeter of L shape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 × (9 + 3 + 6 + 6 + 3 + 9)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 × 36 = 432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4" name="Google Shape;1664;p104"/>
          <p:cNvSpPr txBox="1"/>
          <p:nvPr/>
        </p:nvSpPr>
        <p:spPr>
          <a:xfrm>
            <a:off x="5039025" y="4132625"/>
            <a:ext cx="39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522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65" name="Google Shape;1665;p104"/>
          <p:cNvCxnSpPr/>
          <p:nvPr/>
        </p:nvCxnSpPr>
        <p:spPr>
          <a:xfrm rot="10800000">
            <a:off x="2105675" y="2943300"/>
            <a:ext cx="0" cy="156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6" name="Google Shape;1666;p104"/>
          <p:cNvCxnSpPr/>
          <p:nvPr/>
        </p:nvCxnSpPr>
        <p:spPr>
          <a:xfrm>
            <a:off x="2196256" y="3268538"/>
            <a:ext cx="2705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7" name="Google Shape;1667;p104"/>
          <p:cNvCxnSpPr/>
          <p:nvPr/>
        </p:nvCxnSpPr>
        <p:spPr>
          <a:xfrm>
            <a:off x="4126025" y="1270150"/>
            <a:ext cx="3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8" name="Google Shape;1668;p104"/>
          <p:cNvCxnSpPr/>
          <p:nvPr/>
        </p:nvCxnSpPr>
        <p:spPr>
          <a:xfrm rot="10800000">
            <a:off x="3369551" y="2166076"/>
            <a:ext cx="73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9" name="Google Shape;1669;p104"/>
          <p:cNvCxnSpPr/>
          <p:nvPr/>
        </p:nvCxnSpPr>
        <p:spPr>
          <a:xfrm rot="5400000">
            <a:off x="3105444" y="2297050"/>
            <a:ext cx="3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0" name="Google Shape;1670;p104"/>
          <p:cNvCxnSpPr/>
          <p:nvPr/>
        </p:nvCxnSpPr>
        <p:spPr>
          <a:xfrm>
            <a:off x="4587363" y="1340388"/>
            <a:ext cx="0" cy="114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1" name="Google Shape;1671;p104"/>
          <p:cNvCxnSpPr/>
          <p:nvPr/>
        </p:nvCxnSpPr>
        <p:spPr>
          <a:xfrm rot="-5400000">
            <a:off x="3810952" y="1720576"/>
            <a:ext cx="73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2" name="Google Shape;1672;p104"/>
          <p:cNvSpPr txBox="1"/>
          <p:nvPr/>
        </p:nvSpPr>
        <p:spPr>
          <a:xfrm>
            <a:off x="7407675" y="759300"/>
            <a:ext cx="1446000" cy="5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3" name="Google Shape;1673;p104"/>
          <p:cNvCxnSpPr/>
          <p:nvPr/>
        </p:nvCxnSpPr>
        <p:spPr>
          <a:xfrm rot="10800000">
            <a:off x="3364575" y="2550414"/>
            <a:ext cx="1159800" cy="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8" name="Google Shape;167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494" y="1440281"/>
            <a:ext cx="1262573" cy="13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05"/>
          <p:cNvSpPr txBox="1"/>
          <p:nvPr>
            <p:ph idx="1" type="body"/>
          </p:nvPr>
        </p:nvSpPr>
        <p:spPr>
          <a:xfrm>
            <a:off x="324000" y="759300"/>
            <a:ext cx="82377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Calculate the surface area of the following right prisms</a:t>
            </a:r>
            <a:endParaRPr sz="1800"/>
          </a:p>
        </p:txBody>
      </p:sp>
      <p:sp>
        <p:nvSpPr>
          <p:cNvPr id="1680" name="Google Shape;1680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efficient in finding the surface area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05"/>
          <p:cNvSpPr txBox="1"/>
          <p:nvPr/>
        </p:nvSpPr>
        <p:spPr>
          <a:xfrm flipH="1">
            <a:off x="324000" y="1710250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05"/>
          <p:cNvSpPr txBox="1"/>
          <p:nvPr/>
        </p:nvSpPr>
        <p:spPr>
          <a:xfrm flipH="1">
            <a:off x="1041163" y="2353525"/>
            <a:ext cx="75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05"/>
          <p:cNvSpPr txBox="1"/>
          <p:nvPr/>
        </p:nvSpPr>
        <p:spPr>
          <a:xfrm flipH="1">
            <a:off x="789775" y="120635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05"/>
          <p:cNvSpPr txBox="1"/>
          <p:nvPr/>
        </p:nvSpPr>
        <p:spPr>
          <a:xfrm flipH="1">
            <a:off x="1979975" y="1450232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5" name="Google Shape;1685;p105"/>
          <p:cNvCxnSpPr/>
          <p:nvPr/>
        </p:nvCxnSpPr>
        <p:spPr>
          <a:xfrm rot="10800000">
            <a:off x="980950" y="1804000"/>
            <a:ext cx="3600" cy="32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6" name="Google Shape;1686;p105"/>
          <p:cNvCxnSpPr/>
          <p:nvPr/>
        </p:nvCxnSpPr>
        <p:spPr>
          <a:xfrm flipH="1">
            <a:off x="980950" y="1460338"/>
            <a:ext cx="564600" cy="33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7" name="Google Shape;1687;p105"/>
          <p:cNvCxnSpPr/>
          <p:nvPr/>
        </p:nvCxnSpPr>
        <p:spPr>
          <a:xfrm rot="10800000">
            <a:off x="980975" y="2184175"/>
            <a:ext cx="1063200" cy="62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88" name="Google Shape;1688;p105"/>
          <p:cNvGrpSpPr/>
          <p:nvPr/>
        </p:nvGrpSpPr>
        <p:grpSpPr>
          <a:xfrm>
            <a:off x="1511921" y="1401208"/>
            <a:ext cx="951344" cy="788779"/>
            <a:chOff x="2817517" y="3198254"/>
            <a:chExt cx="951344" cy="788779"/>
          </a:xfrm>
        </p:grpSpPr>
        <p:grpSp>
          <p:nvGrpSpPr>
            <p:cNvPr id="1689" name="Google Shape;1689;p105"/>
            <p:cNvGrpSpPr/>
            <p:nvPr/>
          </p:nvGrpSpPr>
          <p:grpSpPr>
            <a:xfrm>
              <a:off x="2913861" y="3198254"/>
              <a:ext cx="854999" cy="788779"/>
              <a:chOff x="2887201" y="3210372"/>
              <a:chExt cx="854999" cy="788779"/>
            </a:xfrm>
          </p:grpSpPr>
          <p:sp>
            <p:nvSpPr>
              <p:cNvPr id="1690" name="Google Shape;1690;p105"/>
              <p:cNvSpPr/>
              <p:nvPr/>
            </p:nvSpPr>
            <p:spPr>
              <a:xfrm rot="2565571">
                <a:off x="2909823" y="3240545"/>
                <a:ext cx="135656" cy="119954"/>
              </a:xfrm>
              <a:prstGeom prst="parallelogram">
                <a:avLst>
                  <a:gd fmla="val 2500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691" name="Google Shape;1691;p105"/>
              <p:cNvCxnSpPr/>
              <p:nvPr/>
            </p:nvCxnSpPr>
            <p:spPr>
              <a:xfrm>
                <a:off x="2997000" y="3236251"/>
                <a:ext cx="745200" cy="762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ash"/>
                <a:round/>
                <a:headEnd len="med" w="med" type="stealth"/>
                <a:tailEnd len="med" w="med" type="triangle"/>
              </a:ln>
            </p:spPr>
          </p:cxnSp>
        </p:grpSp>
        <p:cxnSp>
          <p:nvCxnSpPr>
            <p:cNvPr id="1692" name="Google Shape;1692;p105"/>
            <p:cNvCxnSpPr/>
            <p:nvPr/>
          </p:nvCxnSpPr>
          <p:spPr>
            <a:xfrm flipH="1">
              <a:off x="2817517" y="3250129"/>
              <a:ext cx="148800" cy="10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93" name="Google Shape;1693;p105"/>
          <p:cNvCxnSpPr/>
          <p:nvPr/>
        </p:nvCxnSpPr>
        <p:spPr>
          <a:xfrm flipH="1" rot="-1499468">
            <a:off x="1411423" y="2036492"/>
            <a:ext cx="161192" cy="76899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105"/>
          <p:cNvCxnSpPr/>
          <p:nvPr/>
        </p:nvCxnSpPr>
        <p:spPr>
          <a:xfrm flipH="1" rot="1496769">
            <a:off x="1712611" y="1872596"/>
            <a:ext cx="161464" cy="7682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105"/>
          <p:cNvSpPr/>
          <p:nvPr/>
        </p:nvSpPr>
        <p:spPr>
          <a:xfrm>
            <a:off x="3410575" y="1252075"/>
            <a:ext cx="630000" cy="975600"/>
          </a:xfrm>
          <a:prstGeom prst="triangle">
            <a:avLst>
              <a:gd fmla="val 50000" name="adj"/>
            </a:avLst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05"/>
          <p:cNvSpPr txBox="1"/>
          <p:nvPr/>
        </p:nvSpPr>
        <p:spPr>
          <a:xfrm flipH="1">
            <a:off x="3369600" y="223620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7" name="Google Shape;1697;p105"/>
          <p:cNvSpPr txBox="1"/>
          <p:nvPr/>
        </p:nvSpPr>
        <p:spPr>
          <a:xfrm flipH="1">
            <a:off x="3939300" y="1434925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8" name="Google Shape;1698;p105"/>
          <p:cNvSpPr txBox="1"/>
          <p:nvPr/>
        </p:nvSpPr>
        <p:spPr>
          <a:xfrm flipH="1">
            <a:off x="2990638" y="1680150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99" name="Google Shape;1699;p105"/>
          <p:cNvCxnSpPr/>
          <p:nvPr/>
        </p:nvCxnSpPr>
        <p:spPr>
          <a:xfrm>
            <a:off x="3725575" y="1225225"/>
            <a:ext cx="0" cy="102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700" name="Google Shape;1700;p105"/>
          <p:cNvCxnSpPr/>
          <p:nvPr/>
        </p:nvCxnSpPr>
        <p:spPr>
          <a:xfrm flipH="1" rot="1496769">
            <a:off x="3485798" y="1701471"/>
            <a:ext cx="161464" cy="7682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1" name="Google Shape;1701;p105"/>
          <p:cNvCxnSpPr/>
          <p:nvPr/>
        </p:nvCxnSpPr>
        <p:spPr>
          <a:xfrm flipH="1" rot="1496769">
            <a:off x="3805961" y="1701471"/>
            <a:ext cx="161464" cy="76821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2" name="Google Shape;1702;p105"/>
          <p:cNvSpPr txBox="1"/>
          <p:nvPr/>
        </p:nvSpPr>
        <p:spPr>
          <a:xfrm>
            <a:off x="5361350" y="1298425"/>
            <a:ext cx="397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Area of triangle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(   × 10 × 12)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120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3" name="Google Shape;1703;p105"/>
          <p:cNvSpPr/>
          <p:nvPr/>
        </p:nvSpPr>
        <p:spPr>
          <a:xfrm>
            <a:off x="2172925" y="3466775"/>
            <a:ext cx="2719200" cy="620100"/>
          </a:xfrm>
          <a:prstGeom prst="rect">
            <a:avLst/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05"/>
          <p:cNvSpPr txBox="1"/>
          <p:nvPr/>
        </p:nvSpPr>
        <p:spPr>
          <a:xfrm flipH="1">
            <a:off x="1415505" y="3489876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5" name="Google Shape;1705;p105"/>
          <p:cNvSpPr txBox="1"/>
          <p:nvPr/>
        </p:nvSpPr>
        <p:spPr>
          <a:xfrm flipH="1">
            <a:off x="2358862" y="3007575"/>
            <a:ext cx="227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of triangle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6" name="Google Shape;1706;p105"/>
          <p:cNvSpPr txBox="1"/>
          <p:nvPr/>
        </p:nvSpPr>
        <p:spPr>
          <a:xfrm>
            <a:off x="5075700" y="2843375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perimeter of triangle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 × (13 + 10 + 13)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 × 36 = 144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7" name="Google Shape;1707;p105"/>
          <p:cNvSpPr txBox="1"/>
          <p:nvPr/>
        </p:nvSpPr>
        <p:spPr>
          <a:xfrm>
            <a:off x="5039025" y="4132625"/>
            <a:ext cx="39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264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08" name="Google Shape;1708;p105"/>
          <p:cNvCxnSpPr/>
          <p:nvPr/>
        </p:nvCxnSpPr>
        <p:spPr>
          <a:xfrm rot="10800000">
            <a:off x="2093500" y="3466850"/>
            <a:ext cx="0" cy="65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9" name="Google Shape;1709;p105"/>
          <p:cNvCxnSpPr/>
          <p:nvPr/>
        </p:nvCxnSpPr>
        <p:spPr>
          <a:xfrm>
            <a:off x="2172450" y="3382013"/>
            <a:ext cx="2705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0" name="Google Shape;1710;p105"/>
          <p:cNvCxnSpPr/>
          <p:nvPr/>
        </p:nvCxnSpPr>
        <p:spPr>
          <a:xfrm rot="10800000">
            <a:off x="3410500" y="2316900"/>
            <a:ext cx="645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1" name="Google Shape;1711;p105"/>
          <p:cNvCxnSpPr/>
          <p:nvPr/>
        </p:nvCxnSpPr>
        <p:spPr>
          <a:xfrm rot="10800000">
            <a:off x="3822375" y="1192750"/>
            <a:ext cx="333300" cy="102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712" name="Google Shape;1712;p105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443" y="1750182"/>
            <a:ext cx="156300" cy="512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05"/>
          <p:cNvSpPr txBox="1"/>
          <p:nvPr/>
        </p:nvSpPr>
        <p:spPr>
          <a:xfrm>
            <a:off x="7407675" y="759300"/>
            <a:ext cx="1446000" cy="5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Google Shape;171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745" y="1317789"/>
            <a:ext cx="1300750" cy="170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106"/>
          <p:cNvSpPr txBox="1"/>
          <p:nvPr>
            <p:ph idx="1" type="body"/>
          </p:nvPr>
        </p:nvSpPr>
        <p:spPr>
          <a:xfrm>
            <a:off x="324000" y="759300"/>
            <a:ext cx="8237700" cy="2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Calculate the surface area of the following right prisms</a:t>
            </a:r>
            <a:endParaRPr sz="1800"/>
          </a:p>
        </p:txBody>
      </p:sp>
      <p:sp>
        <p:nvSpPr>
          <p:cNvPr id="1720" name="Google Shape;1720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Being efficient in finding the surface area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06"/>
          <p:cNvSpPr txBox="1"/>
          <p:nvPr/>
        </p:nvSpPr>
        <p:spPr>
          <a:xfrm flipH="1">
            <a:off x="970987" y="1938694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 m</a:t>
            </a:r>
            <a:r>
              <a:rPr baseline="30000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106"/>
          <p:cNvSpPr txBox="1"/>
          <p:nvPr/>
        </p:nvSpPr>
        <p:spPr>
          <a:xfrm flipH="1">
            <a:off x="1570938" y="2726369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06"/>
          <p:cNvSpPr txBox="1"/>
          <p:nvPr/>
        </p:nvSpPr>
        <p:spPr>
          <a:xfrm flipH="1">
            <a:off x="2203712" y="1696044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06"/>
          <p:cNvSpPr txBox="1"/>
          <p:nvPr/>
        </p:nvSpPr>
        <p:spPr>
          <a:xfrm flipH="1">
            <a:off x="410188" y="1531469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06"/>
          <p:cNvSpPr txBox="1"/>
          <p:nvPr/>
        </p:nvSpPr>
        <p:spPr>
          <a:xfrm flipH="1">
            <a:off x="570438" y="2324894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06"/>
          <p:cNvSpPr txBox="1"/>
          <p:nvPr/>
        </p:nvSpPr>
        <p:spPr>
          <a:xfrm flipH="1">
            <a:off x="2015988" y="2291238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106"/>
          <p:cNvSpPr txBox="1"/>
          <p:nvPr/>
        </p:nvSpPr>
        <p:spPr>
          <a:xfrm flipH="1">
            <a:off x="1808538" y="1162532"/>
            <a:ext cx="7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8" name="Google Shape;1728;p106"/>
          <p:cNvCxnSpPr/>
          <p:nvPr/>
        </p:nvCxnSpPr>
        <p:spPr>
          <a:xfrm rot="10800000">
            <a:off x="891813" y="2151188"/>
            <a:ext cx="427200" cy="77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9" name="Google Shape;1729;p106"/>
          <p:cNvCxnSpPr/>
          <p:nvPr/>
        </p:nvCxnSpPr>
        <p:spPr>
          <a:xfrm flipH="1">
            <a:off x="1469088" y="2674163"/>
            <a:ext cx="469800" cy="2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0" name="Google Shape;1730;p106"/>
          <p:cNvCxnSpPr/>
          <p:nvPr/>
        </p:nvCxnSpPr>
        <p:spPr>
          <a:xfrm rot="10800000">
            <a:off x="1725138" y="1356538"/>
            <a:ext cx="447300" cy="25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1" name="Google Shape;1731;p106"/>
          <p:cNvCxnSpPr/>
          <p:nvPr/>
        </p:nvCxnSpPr>
        <p:spPr>
          <a:xfrm rot="10800000">
            <a:off x="2208981" y="1668413"/>
            <a:ext cx="6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2" name="Google Shape;1732;p106"/>
          <p:cNvCxnSpPr/>
          <p:nvPr/>
        </p:nvCxnSpPr>
        <p:spPr>
          <a:xfrm flipH="1" rot="10800000">
            <a:off x="1970200" y="2232975"/>
            <a:ext cx="2472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3" name="Google Shape;1733;p106"/>
          <p:cNvCxnSpPr/>
          <p:nvPr/>
        </p:nvCxnSpPr>
        <p:spPr>
          <a:xfrm flipH="1" rot="10800000">
            <a:off x="870825" y="1669587"/>
            <a:ext cx="2472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4" name="Google Shape;1734;p106"/>
          <p:cNvSpPr txBox="1"/>
          <p:nvPr/>
        </p:nvSpPr>
        <p:spPr>
          <a:xfrm>
            <a:off x="3300525" y="1310125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Area of pentagon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45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90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5" name="Google Shape;1735;p106"/>
          <p:cNvSpPr/>
          <p:nvPr/>
        </p:nvSpPr>
        <p:spPr>
          <a:xfrm>
            <a:off x="2172925" y="3466775"/>
            <a:ext cx="2719200" cy="620100"/>
          </a:xfrm>
          <a:prstGeom prst="rect">
            <a:avLst/>
          </a:prstGeom>
          <a:solidFill>
            <a:srgbClr val="D9DDFD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06"/>
          <p:cNvSpPr txBox="1"/>
          <p:nvPr/>
        </p:nvSpPr>
        <p:spPr>
          <a:xfrm flipH="1">
            <a:off x="1515380" y="3549151"/>
            <a:ext cx="75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7" name="Google Shape;1737;p106"/>
          <p:cNvSpPr txBox="1"/>
          <p:nvPr/>
        </p:nvSpPr>
        <p:spPr>
          <a:xfrm flipH="1">
            <a:off x="2290657" y="3009150"/>
            <a:ext cx="254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Perimeter of pentagon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8" name="Google Shape;1738;p106"/>
          <p:cNvSpPr txBox="1"/>
          <p:nvPr/>
        </p:nvSpPr>
        <p:spPr>
          <a:xfrm>
            <a:off x="5075700" y="2843375"/>
            <a:ext cx="3978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perimeter of pentagon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(2 + 4 + 2.5 + 2 + 2)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2 × 12.5 = 25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9" name="Google Shape;1739;p106"/>
          <p:cNvSpPr txBox="1"/>
          <p:nvPr/>
        </p:nvSpPr>
        <p:spPr>
          <a:xfrm>
            <a:off x="5039025" y="4132625"/>
            <a:ext cx="39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115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40" name="Google Shape;1740;p106"/>
          <p:cNvCxnSpPr/>
          <p:nvPr/>
        </p:nvCxnSpPr>
        <p:spPr>
          <a:xfrm rot="10800000">
            <a:off x="2093500" y="3466850"/>
            <a:ext cx="0" cy="65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1" name="Google Shape;1741;p106"/>
          <p:cNvCxnSpPr/>
          <p:nvPr/>
        </p:nvCxnSpPr>
        <p:spPr>
          <a:xfrm>
            <a:off x="2172450" y="3382013"/>
            <a:ext cx="2705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42" name="Google Shape;1742;p106"/>
          <p:cNvSpPr txBox="1"/>
          <p:nvPr/>
        </p:nvSpPr>
        <p:spPr>
          <a:xfrm>
            <a:off x="7407675" y="759300"/>
            <a:ext cx="1446000" cy="5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Diagrams not drawn to scale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07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surface area of a prism is the sum of the area of all faces.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net of a prism can be helpful to find the surface area of the prism.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To be more</a:t>
            </a:r>
            <a:r>
              <a:rPr lang="en-GB" sz="2000"/>
              <a:t> efficient try to use the properties of the shape to find congruent faces.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best method to use is the one you understand best and can apply reliably to different prisms.</a:t>
            </a:r>
            <a:br>
              <a:rPr lang="en-GB" sz="2000"/>
            </a:br>
            <a:br>
              <a:rPr lang="en-GB" sz="2000"/>
            </a:br>
            <a:endParaRPr sz="2000"/>
          </a:p>
        </p:txBody>
      </p:sp>
      <p:sp>
        <p:nvSpPr>
          <p:cNvPr id="1748" name="Google Shape;1748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prisms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</a:t>
            </a:r>
            <a:r>
              <a:rPr lang="en-GB"/>
              <a:t>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54" name="Google Shape;1754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