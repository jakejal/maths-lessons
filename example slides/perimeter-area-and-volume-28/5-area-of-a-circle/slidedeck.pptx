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911ddc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911ddc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a911ddc9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a911ddc9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b0ef50f95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b0ef50f95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b0ef50f95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b0ef50f95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9b0ef50f95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9b0ef50f95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b0ef50f95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b0ef50f95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b0ef50f95_0_1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b0ef50f95_0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9e65e02d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9e65e02d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9e65e02de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9e65e02de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9e65e02de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9e65e02de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9e65e02de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9e65e02de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9e65e02de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9e65e02de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9e65e02de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9e65e02de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9e65e02de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e65e02de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9e65e02de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9e65e02de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e65e02de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e65e02de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9e9912115c_0_7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9e9912115c_0_7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9e9912115c_0_7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9e9912115c_0_7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9e9912115c_0_7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9e9912115c_0_7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e9912115c_0_7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e9912115c_0_7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9e9912115c_0_7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9e9912115c_0_7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e9912115c_0_7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e9912115c_0_7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1ea911ddc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1ea911ddc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9e9912115c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9e9912115c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29e9912115c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29e9912115c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9e9912115c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9e9912115c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9e9912115c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9e9912115c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9e9912115c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9e9912115c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29e9912115c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29e9912115c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9e9912115c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29e9912115c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29e9912115c_0_4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29e9912115c_0_4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29e9912115c_0_4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29e9912115c_0_4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29e9912115c_0_5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29e9912115c_0_5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29e9912115c_0_6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29e9912115c_0_6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29e9912115c_0_6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2" name="Google Shape;2832;g29e9912115c_0_6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g29e9912115c_0_6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3" name="Google Shape;3063;g29e9912115c_0_6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g29e9912115c_0_5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6" name="Google Shape;3106;g29e9912115c_0_5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1" name="Shape 3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Google Shape;334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3" name="Google Shape;334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Relationship Id="rId4" Type="http://schemas.openxmlformats.org/officeDocument/2006/relationships/image" Target="../media/image5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5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57.png"/><Relationship Id="rId4" Type="http://schemas.openxmlformats.org/officeDocument/2006/relationships/image" Target="../media/image27.png"/><Relationship Id="rId11" Type="http://schemas.openxmlformats.org/officeDocument/2006/relationships/image" Target="../media/image14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the derivation of the area of a circle.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is the size of the surface and states the number of unit squares needed to completely cover that surface.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238725"/>
            <a:ext cx="8496000" cy="78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radius is any line segment that joins the centre of a circle to its edge.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75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diameter of a circle is any line segment that starts and ends on the edge of the circle and passes through the centre.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areas of circles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to calculate areas of circles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125" y="1850725"/>
            <a:ext cx="22002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9"/>
          <p:cNvSpPr/>
          <p:nvPr/>
        </p:nvSpPr>
        <p:spPr>
          <a:xfrm>
            <a:off x="1241441" y="1893975"/>
            <a:ext cx="2130300" cy="2130300"/>
          </a:xfrm>
          <a:prstGeom prst="ellipse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8237700" cy="5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is estimating the area of the circle.</a:t>
            </a:r>
            <a:endParaRPr/>
          </a:p>
        </p:txBody>
      </p:sp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54050" y="3615651"/>
            <a:ext cx="590524" cy="77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9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5217726" y="1755475"/>
            <a:ext cx="3177999" cy="18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5381026" y="1905425"/>
            <a:ext cx="2700000" cy="13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I overlay the circle onto a grid then I could estimate the area by </a:t>
            </a:r>
            <a:r>
              <a:rPr lang="en-GB" sz="1800">
                <a:solidFill>
                  <a:schemeClr val="accent4"/>
                </a:solidFill>
              </a:rPr>
              <a:t>counting unit squares</a:t>
            </a:r>
            <a:r>
              <a:rPr lang="en-GB" sz="1800"/>
              <a:t>.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788" name="Google Shape;788;p69"/>
          <p:cNvCxnSpPr/>
          <p:nvPr/>
        </p:nvCxnSpPr>
        <p:spPr>
          <a:xfrm rot="10800000">
            <a:off x="3492984" y="3490275"/>
            <a:ext cx="0" cy="55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600000" y="3610275"/>
            <a:ext cx="7962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 unit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125" y="1850725"/>
            <a:ext cx="22002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70"/>
          <p:cNvSpPr/>
          <p:nvPr/>
        </p:nvSpPr>
        <p:spPr>
          <a:xfrm>
            <a:off x="1241441" y="1893975"/>
            <a:ext cx="2130300" cy="2130300"/>
          </a:xfrm>
          <a:prstGeom prst="ellipse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324000" y="759300"/>
            <a:ext cx="8237700" cy="5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is estimating the area of the circle.</a:t>
            </a:r>
            <a:endParaRPr/>
          </a:p>
        </p:txBody>
      </p:sp>
      <p:sp>
        <p:nvSpPr>
          <p:cNvPr id="797" name="Google Shape;79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pic>
        <p:nvPicPr>
          <p:cNvPr id="798" name="Google Shape;79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54050" y="3615651"/>
            <a:ext cx="590524" cy="77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400006" y="1584399"/>
            <a:ext cx="4121723" cy="19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4520025" y="1753025"/>
            <a:ext cx="3612000" cy="4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16 squares in </a:t>
            </a:r>
            <a:r>
              <a:rPr lang="en-GB" sz="1800">
                <a:solidFill>
                  <a:schemeClr val="accent4"/>
                </a:solidFill>
              </a:rPr>
              <a:t>total</a:t>
            </a:r>
            <a:r>
              <a:rPr lang="en-GB" sz="1800"/>
              <a:t>. </a:t>
            </a:r>
            <a:endParaRPr sz="2000"/>
          </a:p>
        </p:txBody>
      </p:sp>
      <p:cxnSp>
        <p:nvCxnSpPr>
          <p:cNvPr id="801" name="Google Shape;801;p70"/>
          <p:cNvCxnSpPr/>
          <p:nvPr/>
        </p:nvCxnSpPr>
        <p:spPr>
          <a:xfrm>
            <a:off x="1238925" y="4206600"/>
            <a:ext cx="2122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2" name="Google Shape;802;p70"/>
          <p:cNvCxnSpPr/>
          <p:nvPr/>
        </p:nvCxnSpPr>
        <p:spPr>
          <a:xfrm rot="10800000">
            <a:off x="1058124" y="1896975"/>
            <a:ext cx="0" cy="212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2225699" y="4267625"/>
            <a:ext cx="2343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827703" y="2787203"/>
            <a:ext cx="2343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/>
          </a:p>
        </p:txBody>
      </p:sp>
      <p:sp>
        <p:nvSpPr>
          <p:cNvPr id="805" name="Google Shape;805;p70"/>
          <p:cNvSpPr txBox="1"/>
          <p:nvPr>
            <p:ph idx="4294967295" type="body"/>
          </p:nvPr>
        </p:nvSpPr>
        <p:spPr>
          <a:xfrm>
            <a:off x="4115125" y="3593250"/>
            <a:ext cx="3668400" cy="3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otal number of squares</a:t>
            </a:r>
            <a:r>
              <a:rPr lang="en-GB" sz="1800"/>
              <a:t> = 16 </a:t>
            </a:r>
            <a:endParaRPr baseline="30000" sz="1800"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4502475" y="2149200"/>
            <a:ext cx="3612000" cy="10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circle</a:t>
            </a:r>
            <a:r>
              <a:rPr lang="en-GB" sz="1800"/>
              <a:t> takes up less space than that so its area must be </a:t>
            </a:r>
            <a:r>
              <a:rPr lang="en-GB" sz="1800">
                <a:solidFill>
                  <a:schemeClr val="accent4"/>
                </a:solidFill>
              </a:rPr>
              <a:t>less than 16</a:t>
            </a:r>
            <a:r>
              <a:rPr lang="en-GB" sz="1800"/>
              <a:t> </a:t>
            </a:r>
            <a:r>
              <a:rPr lang="en-GB" sz="1800">
                <a:solidFill>
                  <a:schemeClr val="accent4"/>
                </a:solidFill>
              </a:rPr>
              <a:t>units</a:t>
            </a:r>
            <a:r>
              <a:rPr baseline="30000" lang="en-GB" sz="1800">
                <a:solidFill>
                  <a:schemeClr val="accent4"/>
                </a:solidFill>
              </a:rPr>
              <a:t>2</a:t>
            </a:r>
            <a:r>
              <a:rPr lang="en-GB" sz="1800"/>
              <a:t>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125" y="1844500"/>
            <a:ext cx="21907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/>
          <p:nvPr/>
        </p:nvSpPr>
        <p:spPr>
          <a:xfrm>
            <a:off x="1241441" y="1893975"/>
            <a:ext cx="2130300" cy="2130300"/>
          </a:xfrm>
          <a:prstGeom prst="ellipse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759300"/>
            <a:ext cx="8237700" cy="5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is estimating the area of the circle.</a:t>
            </a:r>
            <a:endParaRPr/>
          </a:p>
        </p:txBody>
      </p:sp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pic>
        <p:nvPicPr>
          <p:cNvPr id="815" name="Google Shape;81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54050" y="3615651"/>
            <a:ext cx="590524" cy="77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1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400002" y="1434753"/>
            <a:ext cx="4121723" cy="21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4520025" y="1524425"/>
            <a:ext cx="3612000" cy="6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4 complete squares </a:t>
            </a:r>
            <a:r>
              <a:rPr lang="en-GB" sz="1800">
                <a:solidFill>
                  <a:schemeClr val="accent4"/>
                </a:solidFill>
              </a:rPr>
              <a:t>inside</a:t>
            </a:r>
            <a:r>
              <a:rPr lang="en-GB" sz="1800"/>
              <a:t> the circle.</a:t>
            </a:r>
            <a:endParaRPr sz="2000"/>
          </a:p>
        </p:txBody>
      </p:sp>
      <p:cxnSp>
        <p:nvCxnSpPr>
          <p:cNvPr id="818" name="Google Shape;818;p71"/>
          <p:cNvCxnSpPr/>
          <p:nvPr/>
        </p:nvCxnSpPr>
        <p:spPr>
          <a:xfrm rot="10800000">
            <a:off x="1058124" y="1896975"/>
            <a:ext cx="0" cy="212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9" name="Google Shape;819;p71"/>
          <p:cNvSpPr txBox="1"/>
          <p:nvPr>
            <p:ph idx="4294967295" type="body"/>
          </p:nvPr>
        </p:nvSpPr>
        <p:spPr>
          <a:xfrm>
            <a:off x="4115125" y="3593250"/>
            <a:ext cx="3668400" cy="7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total number of squares = 16 </a:t>
            </a:r>
            <a:endParaRPr baseline="30000"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number of square inside = 4</a:t>
            </a:r>
            <a:endParaRPr baseline="30000" sz="1800"/>
          </a:p>
        </p:txBody>
      </p:sp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4520025" y="2210225"/>
            <a:ext cx="3612000" cy="10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circle</a:t>
            </a:r>
            <a:r>
              <a:rPr lang="en-GB" sz="1800"/>
              <a:t> takes up more space than that so its area must be </a:t>
            </a:r>
            <a:r>
              <a:rPr lang="en-GB" sz="1800">
                <a:solidFill>
                  <a:schemeClr val="accent4"/>
                </a:solidFill>
              </a:rPr>
              <a:t>greater than 4</a:t>
            </a:r>
            <a:r>
              <a:rPr lang="en-GB" sz="1800"/>
              <a:t> </a:t>
            </a:r>
            <a:r>
              <a:rPr lang="en-GB" sz="1800">
                <a:solidFill>
                  <a:schemeClr val="accent4"/>
                </a:solidFill>
              </a:rPr>
              <a:t>units</a:t>
            </a:r>
            <a:r>
              <a:rPr baseline="30000" lang="en-GB" sz="1800">
                <a:solidFill>
                  <a:schemeClr val="accent4"/>
                </a:solidFill>
              </a:rPr>
              <a:t>2</a:t>
            </a:r>
            <a:r>
              <a:rPr lang="en-GB" sz="1800"/>
              <a:t>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125" y="1844500"/>
            <a:ext cx="21907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2"/>
          <p:cNvSpPr/>
          <p:nvPr/>
        </p:nvSpPr>
        <p:spPr>
          <a:xfrm>
            <a:off x="1241441" y="1893975"/>
            <a:ext cx="2130300" cy="2130300"/>
          </a:xfrm>
          <a:prstGeom prst="ellipse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2"/>
          <p:cNvSpPr txBox="1"/>
          <p:nvPr>
            <p:ph idx="1" type="body"/>
          </p:nvPr>
        </p:nvSpPr>
        <p:spPr>
          <a:xfrm>
            <a:off x="324000" y="759300"/>
            <a:ext cx="8237700" cy="5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is estimating the area of the circle.</a:t>
            </a:r>
            <a:endParaRPr/>
          </a:p>
        </p:txBody>
      </p:sp>
      <p:sp>
        <p:nvSpPr>
          <p:cNvPr id="828" name="Google Shape;82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pic>
        <p:nvPicPr>
          <p:cNvPr id="829" name="Google Shape;82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54050" y="3615651"/>
            <a:ext cx="590524" cy="77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2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400002" y="2083800"/>
            <a:ext cx="4121723" cy="1279624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2"/>
          <p:cNvSpPr txBox="1"/>
          <p:nvPr>
            <p:ph idx="1" type="body"/>
          </p:nvPr>
        </p:nvSpPr>
        <p:spPr>
          <a:xfrm>
            <a:off x="4596225" y="2319047"/>
            <a:ext cx="3549900" cy="6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the area of the </a:t>
            </a:r>
            <a:r>
              <a:rPr lang="en-GB" sz="1800">
                <a:solidFill>
                  <a:schemeClr val="accent4"/>
                </a:solidFill>
              </a:rPr>
              <a:t>circle</a:t>
            </a:r>
            <a:r>
              <a:rPr lang="en-GB" sz="1800"/>
              <a:t> must be between 4 and 16 </a:t>
            </a:r>
            <a:r>
              <a:rPr lang="en-GB" sz="1800"/>
              <a:t>units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832" name="Google Shape;832;p72"/>
          <p:cNvCxnSpPr/>
          <p:nvPr/>
        </p:nvCxnSpPr>
        <p:spPr>
          <a:xfrm rot="10800000">
            <a:off x="1058124" y="1896975"/>
            <a:ext cx="0" cy="212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3" name="Google Shape;833;p72"/>
          <p:cNvSpPr txBox="1"/>
          <p:nvPr>
            <p:ph idx="4294967295" type="body"/>
          </p:nvPr>
        </p:nvSpPr>
        <p:spPr>
          <a:xfrm>
            <a:off x="4115125" y="3593250"/>
            <a:ext cx="3871800" cy="11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total number of squares = 16 </a:t>
            </a:r>
            <a:endParaRPr baseline="30000"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number of square inside = </a:t>
            </a:r>
            <a:r>
              <a:rPr lang="en-GB" sz="1800"/>
              <a:t>4</a:t>
            </a:r>
            <a:endParaRPr baseline="30000"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4 units</a:t>
            </a:r>
            <a:r>
              <a:rPr baseline="30000" lang="en-GB" sz="1800"/>
              <a:t>2</a:t>
            </a:r>
            <a:r>
              <a:rPr lang="en-GB" sz="1800"/>
              <a:t> &lt; area of circle &lt; 16 units</a:t>
            </a:r>
            <a:r>
              <a:rPr baseline="30000" lang="en-GB" sz="1800"/>
              <a:t>2</a:t>
            </a:r>
            <a:r>
              <a:rPr lang="en-GB" sz="1600"/>
              <a:t>   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398699"/>
            <a:ext cx="2733675" cy="27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3"/>
          <p:cNvSpPr txBox="1"/>
          <p:nvPr>
            <p:ph idx="1" type="subTitle"/>
          </p:nvPr>
        </p:nvSpPr>
        <p:spPr>
          <a:xfrm>
            <a:off x="1034425" y="1837775"/>
            <a:ext cx="4172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etween 0 </a:t>
            </a:r>
            <a:r>
              <a:rPr lang="en-GB" sz="2000"/>
              <a:t>units</a:t>
            </a:r>
            <a:r>
              <a:rPr baseline="30000" lang="en-GB" sz="2000"/>
              <a:t>2</a:t>
            </a:r>
            <a:r>
              <a:rPr lang="en-GB" sz="2000"/>
              <a:t> and 9 units</a:t>
            </a:r>
            <a:r>
              <a:rPr baseline="30000" lang="en-GB" sz="2000"/>
              <a:t>2</a:t>
            </a:r>
            <a:endParaRPr baseline="30000" sz="2000"/>
          </a:p>
        </p:txBody>
      </p:sp>
      <p:sp>
        <p:nvSpPr>
          <p:cNvPr id="840" name="Google Shape;840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841" name="Google Shape;841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range would the area of the circle be in?</a:t>
            </a:r>
            <a:endParaRPr/>
          </a:p>
        </p:txBody>
      </p:sp>
      <p:sp>
        <p:nvSpPr>
          <p:cNvPr id="842" name="Google Shape;842;p73"/>
          <p:cNvSpPr txBox="1"/>
          <p:nvPr>
            <p:ph idx="3" type="subTitle"/>
          </p:nvPr>
        </p:nvSpPr>
        <p:spPr>
          <a:xfrm>
            <a:off x="1034425" y="2794250"/>
            <a:ext cx="4078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between </a:t>
            </a:r>
            <a:r>
              <a:rPr lang="en-GB" sz="2000"/>
              <a:t>9 </a:t>
            </a:r>
            <a:r>
              <a:rPr lang="en-GB" sz="2000"/>
              <a:t>units</a:t>
            </a:r>
            <a:r>
              <a:rPr baseline="30000" lang="en-GB" sz="2000"/>
              <a:t>2</a:t>
            </a:r>
            <a:r>
              <a:rPr lang="en-GB" sz="2000"/>
              <a:t> </a:t>
            </a:r>
            <a:r>
              <a:rPr lang="en-GB" sz="2000"/>
              <a:t>and 25 units</a:t>
            </a:r>
            <a:r>
              <a:rPr baseline="30000" lang="en-GB" sz="2000"/>
              <a:t>2</a:t>
            </a:r>
            <a:endParaRPr sz="2000"/>
          </a:p>
        </p:txBody>
      </p:sp>
      <p:sp>
        <p:nvSpPr>
          <p:cNvPr id="843" name="Google Shape;843;p73"/>
          <p:cNvSpPr txBox="1"/>
          <p:nvPr>
            <p:ph idx="4" type="subTitle"/>
          </p:nvPr>
        </p:nvSpPr>
        <p:spPr>
          <a:xfrm>
            <a:off x="1034425" y="3766975"/>
            <a:ext cx="4391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between </a:t>
            </a:r>
            <a:r>
              <a:rPr lang="en-GB" sz="2000"/>
              <a:t>25</a:t>
            </a:r>
            <a:r>
              <a:rPr lang="en-GB" sz="2000"/>
              <a:t> units</a:t>
            </a:r>
            <a:r>
              <a:rPr baseline="30000" lang="en-GB" sz="2000"/>
              <a:t>2</a:t>
            </a:r>
            <a:r>
              <a:rPr lang="en-GB" sz="2000"/>
              <a:t> and 36 units</a:t>
            </a:r>
            <a:r>
              <a:rPr baseline="30000" lang="en-GB" sz="2000"/>
              <a:t>2</a:t>
            </a:r>
            <a:endParaRPr sz="2000"/>
          </a:p>
        </p:txBody>
      </p:sp>
      <p:pic>
        <p:nvPicPr>
          <p:cNvPr id="844" name="Google Shape;84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8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5" name="Google Shape;845;p73"/>
          <p:cNvCxnSpPr/>
          <p:nvPr/>
        </p:nvCxnSpPr>
        <p:spPr>
          <a:xfrm rot="10800000">
            <a:off x="5782282" y="4214494"/>
            <a:ext cx="56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6" name="Google Shape;846;p73"/>
          <p:cNvSpPr txBox="1"/>
          <p:nvPr>
            <p:ph idx="4294967295" type="body"/>
          </p:nvPr>
        </p:nvSpPr>
        <p:spPr>
          <a:xfrm>
            <a:off x="5786807" y="4287650"/>
            <a:ext cx="7962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 unit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2" name="Google Shape;852;p74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853" name="Google Shape;853;p74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" name="Google Shape;854;p74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p74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74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7" name="Google Shape;857;p74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74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860" name="Google Shape;86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861" name="Google Shape;861;p74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2" name="Google Shape;862;p74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74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4" name="Google Shape;86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4"/>
          <p:cNvSpPr txBox="1"/>
          <p:nvPr>
            <p:ph idx="1" type="body"/>
          </p:nvPr>
        </p:nvSpPr>
        <p:spPr>
          <a:xfrm>
            <a:off x="3346100" y="3055575"/>
            <a:ext cx="48630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Areas are normally calculated by </a:t>
            </a:r>
            <a:r>
              <a:rPr lang="en-GB" sz="1800">
                <a:solidFill>
                  <a:schemeClr val="accent4"/>
                </a:solidFill>
              </a:rPr>
              <a:t>multiplying</a:t>
            </a:r>
            <a:r>
              <a:rPr lang="en-GB" sz="1800"/>
              <a:t> two perpendicular lengths. </a:t>
            </a:r>
            <a:br>
              <a:rPr lang="en-GB" sz="1800"/>
            </a:br>
            <a:r>
              <a:rPr lang="en-GB" sz="1800"/>
              <a:t>But I can only see one length on the circle.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5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1" name="Google Shape;871;p75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872" name="Google Shape;872;p75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3" name="Google Shape;873;p75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4" name="Google Shape;874;p75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5" name="Google Shape;875;p75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6" name="Google Shape;876;p75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7" name="Google Shape;877;p75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8" name="Google Shape;87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5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5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881" name="Google Shape;88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882" name="Google Shape;882;p75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3" name="Google Shape;883;p75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4" name="Google Shape;884;p75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75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75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 txBox="1"/>
          <p:nvPr>
            <p:ph idx="1" type="body"/>
          </p:nvPr>
        </p:nvSpPr>
        <p:spPr>
          <a:xfrm>
            <a:off x="3301025" y="3061800"/>
            <a:ext cx="49692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radius in a circle is the same in every direction. So I could draw on another radius that is </a:t>
            </a:r>
            <a:r>
              <a:rPr lang="en-GB" sz="1800">
                <a:solidFill>
                  <a:schemeClr val="accent4"/>
                </a:solidFill>
              </a:rPr>
              <a:t>perpendicular</a:t>
            </a:r>
            <a:r>
              <a:rPr lang="en-GB" sz="1800"/>
              <a:t> to the first one.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6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3" name="Google Shape;893;p76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894" name="Google Shape;894;p76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5" name="Google Shape;895;p76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76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76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76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76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00" name="Google Shape;90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6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6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6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904" name="Google Shape;90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905" name="Google Shape;905;p76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6" name="Google Shape;906;p76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7" name="Google Shape;907;p76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76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9" name="Google Shape;909;p76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6"/>
          <p:cNvSpPr txBox="1"/>
          <p:nvPr>
            <p:ph idx="1" type="body"/>
          </p:nvPr>
        </p:nvSpPr>
        <p:spPr>
          <a:xfrm>
            <a:off x="3346100" y="3061799"/>
            <a:ext cx="48543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I multiplied the two radii then I would have the </a:t>
            </a:r>
            <a:r>
              <a:rPr lang="en-GB" sz="1800">
                <a:solidFill>
                  <a:schemeClr val="accent4"/>
                </a:solidFill>
              </a:rPr>
              <a:t>area of a square</a:t>
            </a:r>
            <a:r>
              <a:rPr lang="en-GB" sz="1800"/>
              <a:t> whose length is equal to the radius. </a:t>
            </a:r>
            <a:endParaRPr sz="1800"/>
          </a:p>
        </p:txBody>
      </p:sp>
      <p:sp>
        <p:nvSpPr>
          <p:cNvPr id="911" name="Google Shape;911;p76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2" name="Google Shape;912;p76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3" name="Google Shape;913;p76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6"/>
          <p:cNvSpPr/>
          <p:nvPr/>
        </p:nvSpPr>
        <p:spPr>
          <a:xfrm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5" name="Google Shape;915;p76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916" name="Google Shape;916;p76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17" name="Google Shape;917;p76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7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7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4" name="Google Shape;924;p77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925" name="Google Shape;925;p77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6" name="Google Shape;926;p77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7" name="Google Shape;927;p77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8" name="Google Shape;928;p77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9" name="Google Shape;929;p77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0" name="Google Shape;930;p77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1" name="Google Shape;931;p77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7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7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934" name="Google Shape;93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935" name="Google Shape;935;p77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6" name="Google Shape;936;p77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7" name="Google Shape;937;p77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77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77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77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77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7"/>
          <p:cNvSpPr txBox="1"/>
          <p:nvPr>
            <p:ph idx="1" type="body"/>
          </p:nvPr>
        </p:nvSpPr>
        <p:spPr>
          <a:xfrm>
            <a:off x="3422300" y="3226650"/>
            <a:ext cx="4516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area of this square would be equal to the </a:t>
            </a:r>
            <a:r>
              <a:rPr lang="en-GB" sz="1800">
                <a:solidFill>
                  <a:schemeClr val="accent4"/>
                </a:solidFill>
              </a:rPr>
              <a:t>radius squared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43" name="Google Shape;94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7"/>
          <p:cNvSpPr/>
          <p:nvPr/>
        </p:nvSpPr>
        <p:spPr>
          <a:xfrm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77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946" name="Google Shape;946;p77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7" name="Google Shape;947;p77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48" name="Google Shape;948;p77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8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8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5" name="Google Shape;955;p78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956" name="Google Shape;956;p78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78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8" name="Google Shape;958;p78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9" name="Google Shape;959;p78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0" name="Google Shape;960;p78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1" name="Google Shape;961;p78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2" name="Google Shape;962;p78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8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8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965" name="Google Shape;96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966" name="Google Shape;966;p78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7" name="Google Shape;967;p78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8" name="Google Shape;968;p78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78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78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8"/>
          <p:cNvSpPr txBox="1"/>
          <p:nvPr>
            <p:ph idx="1" type="body"/>
          </p:nvPr>
        </p:nvSpPr>
        <p:spPr>
          <a:xfrm>
            <a:off x="3428525" y="3214200"/>
            <a:ext cx="46461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area of the circle is </a:t>
            </a:r>
            <a:r>
              <a:rPr lang="en-GB" sz="1800">
                <a:solidFill>
                  <a:schemeClr val="accent4"/>
                </a:solidFill>
              </a:rPr>
              <a:t>greater than </a:t>
            </a:r>
            <a:r>
              <a:rPr lang="en-GB" sz="1800"/>
              <a:t>the area of </a:t>
            </a:r>
            <a:r>
              <a:rPr lang="en-GB" sz="1800">
                <a:solidFill>
                  <a:schemeClr val="accent4"/>
                </a:solidFill>
              </a:rPr>
              <a:t>1 square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72" name="Google Shape;97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8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78"/>
          <p:cNvSpPr/>
          <p:nvPr/>
        </p:nvSpPr>
        <p:spPr>
          <a:xfrm rot="10800000"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8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78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77" name="Google Shape;977;p78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978" name="Google Shape;978;p78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79" name="Google Shape;979;p78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80" name="Google Shape;980;p78"/>
          <p:cNvSpPr txBox="1"/>
          <p:nvPr>
            <p:ph idx="1" type="body"/>
          </p:nvPr>
        </p:nvSpPr>
        <p:spPr>
          <a:xfrm>
            <a:off x="742425" y="4107175"/>
            <a:ext cx="20718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&lt; area of circle</a:t>
            </a:r>
            <a:endParaRPr sz="1800"/>
          </a:p>
        </p:txBody>
      </p:sp>
      <p:sp>
        <p:nvSpPr>
          <p:cNvPr id="981" name="Google Shape;981;p78"/>
          <p:cNvSpPr txBox="1"/>
          <p:nvPr/>
        </p:nvSpPr>
        <p:spPr>
          <a:xfrm>
            <a:off x="440400" y="3982400"/>
            <a:ext cx="3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9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9"/>
          <p:cNvSpPr/>
          <p:nvPr/>
        </p:nvSpPr>
        <p:spPr>
          <a:xfrm>
            <a:off x="640002" y="1419150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9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9" name="Google Shape;989;p79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990" name="Google Shape;990;p79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79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2" name="Google Shape;992;p79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3" name="Google Shape;993;p79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4" name="Google Shape;994;p79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5" name="Google Shape;995;p79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6" name="Google Shape;996;p79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9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9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999" name="Google Shape;99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1000" name="Google Shape;1000;p79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1" name="Google Shape;1001;p79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02" name="Google Shape;1002;p79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3" name="Google Shape;1003;p79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79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9"/>
          <p:cNvSpPr txBox="1"/>
          <p:nvPr>
            <p:ph idx="1" type="body"/>
          </p:nvPr>
        </p:nvSpPr>
        <p:spPr>
          <a:xfrm>
            <a:off x="3422300" y="3226650"/>
            <a:ext cx="4516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area of the circle looks convincingly </a:t>
            </a:r>
            <a:r>
              <a:rPr lang="en-GB" sz="1800">
                <a:solidFill>
                  <a:schemeClr val="accent4"/>
                </a:solidFill>
              </a:rPr>
              <a:t>greater than</a:t>
            </a:r>
            <a:r>
              <a:rPr lang="en-GB" sz="1800"/>
              <a:t> the area of </a:t>
            </a:r>
            <a:r>
              <a:rPr lang="en-GB" sz="1800">
                <a:solidFill>
                  <a:schemeClr val="accent4"/>
                </a:solidFill>
              </a:rPr>
              <a:t>2 squares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006" name="Google Shape;100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9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8" name="Google Shape;1008;p79"/>
          <p:cNvSpPr/>
          <p:nvPr/>
        </p:nvSpPr>
        <p:spPr>
          <a:xfrm rot="10800000"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9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79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1" name="Google Shape;1011;p79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1012" name="Google Shape;1012;p79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13" name="Google Shape;1013;p79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14" name="Google Shape;1014;p79"/>
          <p:cNvSpPr txBox="1"/>
          <p:nvPr>
            <p:ph idx="1" type="body"/>
          </p:nvPr>
        </p:nvSpPr>
        <p:spPr>
          <a:xfrm>
            <a:off x="742425" y="4107175"/>
            <a:ext cx="20718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&lt; area of circle</a:t>
            </a:r>
            <a:endParaRPr sz="1800"/>
          </a:p>
        </p:txBody>
      </p:sp>
      <p:sp>
        <p:nvSpPr>
          <p:cNvPr id="1015" name="Google Shape;1015;p79"/>
          <p:cNvSpPr txBox="1"/>
          <p:nvPr/>
        </p:nvSpPr>
        <p:spPr>
          <a:xfrm>
            <a:off x="301576" y="3982400"/>
            <a:ext cx="5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0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0"/>
          <p:cNvSpPr/>
          <p:nvPr/>
        </p:nvSpPr>
        <p:spPr>
          <a:xfrm>
            <a:off x="640002" y="2506121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0"/>
          <p:cNvSpPr/>
          <p:nvPr/>
        </p:nvSpPr>
        <p:spPr>
          <a:xfrm>
            <a:off x="640002" y="1419150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0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4" name="Google Shape;1024;p80"/>
          <p:cNvGrpSpPr/>
          <p:nvPr/>
        </p:nvGrpSpPr>
        <p:grpSpPr>
          <a:xfrm>
            <a:off x="3145444" y="2743751"/>
            <a:ext cx="5254673" cy="1668226"/>
            <a:chOff x="1679505" y="650475"/>
            <a:chExt cx="3722231" cy="925199"/>
          </a:xfrm>
        </p:grpSpPr>
        <p:pic>
          <p:nvPicPr>
            <p:cNvPr id="1025" name="Google Shape;1025;p80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Google Shape;1026;p80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80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p80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9" name="Google Shape;1029;p80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Google Shape;1030;p80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1" name="Google Shape;1031;p80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0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0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1034" name="Google Shape;103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1035" name="Google Shape;1035;p80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6" name="Google Shape;1036;p80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7" name="Google Shape;1037;p80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80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9" name="Google Shape;1039;p80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0"/>
          <p:cNvSpPr txBox="1"/>
          <p:nvPr>
            <p:ph idx="1" type="body"/>
          </p:nvPr>
        </p:nvSpPr>
        <p:spPr>
          <a:xfrm>
            <a:off x="3422300" y="3074250"/>
            <a:ext cx="4516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It’s </a:t>
            </a:r>
            <a:r>
              <a:rPr lang="en-GB" sz="1800">
                <a:solidFill>
                  <a:schemeClr val="accent4"/>
                </a:solidFill>
              </a:rPr>
              <a:t>difficult to see</a:t>
            </a:r>
            <a:r>
              <a:rPr lang="en-GB" sz="1800"/>
              <a:t> whether the area of the circle is less than or greater than the area of </a:t>
            </a:r>
            <a:r>
              <a:rPr lang="en-GB" sz="1800">
                <a:solidFill>
                  <a:schemeClr val="accent4"/>
                </a:solidFill>
              </a:rPr>
              <a:t>3 squares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041" name="Google Shape;104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0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80"/>
          <p:cNvSpPr/>
          <p:nvPr/>
        </p:nvSpPr>
        <p:spPr>
          <a:xfrm rot="10800000"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0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80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6" name="Google Shape;1046;p80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1047" name="Google Shape;1047;p80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48" name="Google Shape;1048;p80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49" name="Google Shape;1049;p80"/>
          <p:cNvSpPr txBox="1"/>
          <p:nvPr>
            <p:ph idx="1" type="body"/>
          </p:nvPr>
        </p:nvSpPr>
        <p:spPr>
          <a:xfrm>
            <a:off x="742425" y="4107175"/>
            <a:ext cx="20718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&lt; area of circle</a:t>
            </a:r>
            <a:endParaRPr sz="1800"/>
          </a:p>
        </p:txBody>
      </p:sp>
      <p:sp>
        <p:nvSpPr>
          <p:cNvPr id="1050" name="Google Shape;1050;p80"/>
          <p:cNvSpPr txBox="1"/>
          <p:nvPr/>
        </p:nvSpPr>
        <p:spPr>
          <a:xfrm>
            <a:off x="301576" y="3982400"/>
            <a:ext cx="5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1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1"/>
          <p:cNvSpPr/>
          <p:nvPr/>
        </p:nvSpPr>
        <p:spPr>
          <a:xfrm>
            <a:off x="1711338" y="2506121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640002" y="2506121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1"/>
          <p:cNvSpPr/>
          <p:nvPr/>
        </p:nvSpPr>
        <p:spPr>
          <a:xfrm>
            <a:off x="640002" y="1419150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1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0" name="Google Shape;1060;p81"/>
          <p:cNvGrpSpPr/>
          <p:nvPr/>
        </p:nvGrpSpPr>
        <p:grpSpPr>
          <a:xfrm>
            <a:off x="3145449" y="2843390"/>
            <a:ext cx="5254673" cy="1440350"/>
            <a:chOff x="1679505" y="650475"/>
            <a:chExt cx="3722231" cy="925199"/>
          </a:xfrm>
        </p:grpSpPr>
        <p:pic>
          <p:nvPicPr>
            <p:cNvPr id="1061" name="Google Shape;1061;p81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2" name="Google Shape;1062;p81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3" name="Google Shape;1063;p81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81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81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6" name="Google Shape;1066;p81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7" name="Google Shape;1067;p81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1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1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1070" name="Google Shape;107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1071" name="Google Shape;1071;p81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2" name="Google Shape;1072;p81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3" name="Google Shape;1073;p81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p81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81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1"/>
          <p:cNvSpPr txBox="1"/>
          <p:nvPr>
            <p:ph idx="1" type="body"/>
          </p:nvPr>
        </p:nvSpPr>
        <p:spPr>
          <a:xfrm>
            <a:off x="3397400" y="3226650"/>
            <a:ext cx="474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circle is fully inside 4 squares, so its area is </a:t>
            </a:r>
            <a:r>
              <a:rPr lang="en-GB" sz="1800">
                <a:solidFill>
                  <a:schemeClr val="accent4"/>
                </a:solidFill>
              </a:rPr>
              <a:t>less than</a:t>
            </a:r>
            <a:r>
              <a:rPr lang="en-GB" sz="1800"/>
              <a:t> the area of </a:t>
            </a:r>
            <a:r>
              <a:rPr lang="en-GB" sz="1800">
                <a:solidFill>
                  <a:schemeClr val="accent4"/>
                </a:solidFill>
              </a:rPr>
              <a:t>4 squares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077" name="Google Shape;107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81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81"/>
          <p:cNvSpPr/>
          <p:nvPr/>
        </p:nvSpPr>
        <p:spPr>
          <a:xfrm rot="10800000"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1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81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2" name="Google Shape;1082;p81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1083" name="Google Shape;1083;p81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84" name="Google Shape;1084;p81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85" name="Google Shape;1085;p81"/>
          <p:cNvSpPr txBox="1"/>
          <p:nvPr/>
        </p:nvSpPr>
        <p:spPr>
          <a:xfrm>
            <a:off x="2600200" y="3982400"/>
            <a:ext cx="58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81"/>
          <p:cNvSpPr txBox="1"/>
          <p:nvPr>
            <p:ph idx="1" type="body"/>
          </p:nvPr>
        </p:nvSpPr>
        <p:spPr>
          <a:xfrm>
            <a:off x="742425" y="4107175"/>
            <a:ext cx="20718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&lt; area of circle &lt;</a:t>
            </a:r>
            <a:endParaRPr sz="1800"/>
          </a:p>
        </p:txBody>
      </p:sp>
      <p:sp>
        <p:nvSpPr>
          <p:cNvPr id="1087" name="Google Shape;1087;p81"/>
          <p:cNvSpPr txBox="1"/>
          <p:nvPr/>
        </p:nvSpPr>
        <p:spPr>
          <a:xfrm>
            <a:off x="301576" y="3982400"/>
            <a:ext cx="5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2"/>
          <p:cNvSpPr/>
          <p:nvPr/>
        </p:nvSpPr>
        <p:spPr>
          <a:xfrm>
            <a:off x="1711627" y="1422749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2"/>
          <p:cNvSpPr/>
          <p:nvPr/>
        </p:nvSpPr>
        <p:spPr>
          <a:xfrm>
            <a:off x="1711338" y="2506121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2"/>
          <p:cNvSpPr/>
          <p:nvPr/>
        </p:nvSpPr>
        <p:spPr>
          <a:xfrm>
            <a:off x="640002" y="2506121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2"/>
          <p:cNvSpPr/>
          <p:nvPr/>
        </p:nvSpPr>
        <p:spPr>
          <a:xfrm>
            <a:off x="640002" y="1419150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2"/>
          <p:cNvSpPr/>
          <p:nvPr/>
        </p:nvSpPr>
        <p:spPr>
          <a:xfrm>
            <a:off x="4048925" y="1439682"/>
            <a:ext cx="1075500" cy="1075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2"/>
          <p:cNvSpPr/>
          <p:nvPr/>
        </p:nvSpPr>
        <p:spPr>
          <a:xfrm>
            <a:off x="1711625" y="2327050"/>
            <a:ext cx="165000" cy="165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2"/>
          <p:cNvSpPr/>
          <p:nvPr/>
        </p:nvSpPr>
        <p:spPr>
          <a:xfrm>
            <a:off x="656743" y="1418099"/>
            <a:ext cx="2130300" cy="213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2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is using reasoning to think about the area of a circle.</a:t>
            </a:r>
            <a:endParaRPr sz="2000"/>
          </a:p>
        </p:txBody>
      </p:sp>
      <p:sp>
        <p:nvSpPr>
          <p:cNvPr id="1100" name="Google Shape;110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cxnSp>
        <p:nvCxnSpPr>
          <p:cNvPr id="1101" name="Google Shape;1101;p82"/>
          <p:cNvCxnSpPr/>
          <p:nvPr/>
        </p:nvCxnSpPr>
        <p:spPr>
          <a:xfrm>
            <a:off x="1715927" y="2500724"/>
            <a:ext cx="106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2" name="Google Shape;1102;p82"/>
          <p:cNvCxnSpPr/>
          <p:nvPr/>
        </p:nvCxnSpPr>
        <p:spPr>
          <a:xfrm flipH="1" rot="10800000">
            <a:off x="1711891" y="1416749"/>
            <a:ext cx="3600" cy="10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3" name="Google Shape;1103;p82"/>
          <p:cNvSpPr txBox="1"/>
          <p:nvPr/>
        </p:nvSpPr>
        <p:spPr>
          <a:xfrm>
            <a:off x="2128173" y="232706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4" name="Google Shape;1104;p82"/>
          <p:cNvSpPr txBox="1"/>
          <p:nvPr/>
        </p:nvSpPr>
        <p:spPr>
          <a:xfrm>
            <a:off x="1486823" y="1685711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5" name="Google Shape;1105;p82"/>
          <p:cNvSpPr/>
          <p:nvPr/>
        </p:nvSpPr>
        <p:spPr>
          <a:xfrm>
            <a:off x="1643589" y="2430149"/>
            <a:ext cx="136200" cy="13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2"/>
          <p:cNvSpPr txBox="1"/>
          <p:nvPr>
            <p:ph idx="1" type="body"/>
          </p:nvPr>
        </p:nvSpPr>
        <p:spPr>
          <a:xfrm>
            <a:off x="3416075" y="3220425"/>
            <a:ext cx="4748400" cy="7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area of the circle must be </a:t>
            </a:r>
            <a:r>
              <a:rPr lang="en-GB" sz="1800">
                <a:solidFill>
                  <a:schemeClr val="accent4"/>
                </a:solidFill>
              </a:rPr>
              <a:t>between 2 and 4</a:t>
            </a:r>
            <a:r>
              <a:rPr lang="en-GB" sz="1800"/>
              <a:t> lots of the </a:t>
            </a:r>
            <a:r>
              <a:rPr lang="en-GB" sz="1800">
                <a:solidFill>
                  <a:schemeClr val="accent4"/>
                </a:solidFill>
              </a:rPr>
              <a:t>radius squared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107" name="Google Shape;110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2"/>
          <p:cNvSpPr txBox="1"/>
          <p:nvPr/>
        </p:nvSpPr>
        <p:spPr>
          <a:xfrm>
            <a:off x="4428996" y="1696406"/>
            <a:ext cx="44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9" name="Google Shape;1109;p82"/>
          <p:cNvSpPr txBox="1"/>
          <p:nvPr>
            <p:ph idx="1" type="body"/>
          </p:nvPr>
        </p:nvSpPr>
        <p:spPr>
          <a:xfrm>
            <a:off x="742425" y="4107175"/>
            <a:ext cx="20718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1800"/>
              <a:t>&lt;</a:t>
            </a:r>
            <a:r>
              <a:rPr lang="en-GB" sz="1800"/>
              <a:t> area of circle &lt;</a:t>
            </a:r>
            <a:endParaRPr sz="1800"/>
          </a:p>
        </p:txBody>
      </p:sp>
      <p:sp>
        <p:nvSpPr>
          <p:cNvPr id="1110" name="Google Shape;1110;p82"/>
          <p:cNvSpPr txBox="1"/>
          <p:nvPr/>
        </p:nvSpPr>
        <p:spPr>
          <a:xfrm>
            <a:off x="301576" y="3982400"/>
            <a:ext cx="5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82"/>
          <p:cNvSpPr txBox="1"/>
          <p:nvPr/>
        </p:nvSpPr>
        <p:spPr>
          <a:xfrm>
            <a:off x="2600200" y="3982400"/>
            <a:ext cx="58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82"/>
          <p:cNvSpPr/>
          <p:nvPr/>
        </p:nvSpPr>
        <p:spPr>
          <a:xfrm rot="10800000">
            <a:off x="3279101" y="1890700"/>
            <a:ext cx="244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2"/>
          <p:cNvSpPr txBox="1"/>
          <p:nvPr/>
        </p:nvSpPr>
        <p:spPr>
          <a:xfrm>
            <a:off x="4465471" y="2456012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4" name="Google Shape;1114;p82"/>
          <p:cNvSpPr txBox="1"/>
          <p:nvPr/>
        </p:nvSpPr>
        <p:spPr>
          <a:xfrm>
            <a:off x="3671721" y="1702644"/>
            <a:ext cx="2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15" name="Google Shape;1115;p82"/>
          <p:cNvGrpSpPr/>
          <p:nvPr/>
        </p:nvGrpSpPr>
        <p:grpSpPr>
          <a:xfrm>
            <a:off x="3936019" y="1445403"/>
            <a:ext cx="1186517" cy="1179066"/>
            <a:chOff x="3936019" y="1445403"/>
            <a:chExt cx="1186517" cy="1179066"/>
          </a:xfrm>
        </p:grpSpPr>
        <p:cxnSp>
          <p:nvCxnSpPr>
            <p:cNvPr id="1116" name="Google Shape;1116;p82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7" name="Google Shape;1117;p82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18" name="Google Shape;1118;p82"/>
          <p:cNvGrpSpPr/>
          <p:nvPr/>
        </p:nvGrpSpPr>
        <p:grpSpPr>
          <a:xfrm>
            <a:off x="3145449" y="2843390"/>
            <a:ext cx="5254673" cy="1440350"/>
            <a:chOff x="1679505" y="650475"/>
            <a:chExt cx="3722231" cy="925199"/>
          </a:xfrm>
        </p:grpSpPr>
        <p:pic>
          <p:nvPicPr>
            <p:cNvPr id="1119" name="Google Shape;1119;p82"/>
            <p:cNvPicPr preferRelativeResize="0"/>
            <p:nvPr/>
          </p:nvPicPr>
          <p:blipFill rotWithShape="1">
            <a:blip r:embed="rId4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82"/>
            <p:cNvPicPr preferRelativeResize="0"/>
            <p:nvPr/>
          </p:nvPicPr>
          <p:blipFill rotWithShape="1">
            <a:blip r:embed="rId4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82"/>
            <p:cNvPicPr preferRelativeResize="0"/>
            <p:nvPr/>
          </p:nvPicPr>
          <p:blipFill rotWithShape="1">
            <a:blip r:embed="rId4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82"/>
            <p:cNvPicPr preferRelativeResize="0"/>
            <p:nvPr/>
          </p:nvPicPr>
          <p:blipFill rotWithShape="1">
            <a:blip r:embed="rId4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3" name="Google Shape;1123;p82"/>
            <p:cNvPicPr preferRelativeResize="0"/>
            <p:nvPr/>
          </p:nvPicPr>
          <p:blipFill rotWithShape="1">
            <a:blip r:embed="rId4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4" name="Google Shape;1124;p82"/>
            <p:cNvPicPr preferRelativeResize="0"/>
            <p:nvPr/>
          </p:nvPicPr>
          <p:blipFill rotWithShape="1">
            <a:blip r:embed="rId4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3"/>
          <p:cNvSpPr/>
          <p:nvPr/>
        </p:nvSpPr>
        <p:spPr>
          <a:xfrm>
            <a:off x="1420568" y="1422190"/>
            <a:ext cx="975000" cy="9750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0" name="Google Shape;113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80600" y="4184073"/>
            <a:ext cx="490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3"/>
          <p:cNvSpPr/>
          <p:nvPr/>
        </p:nvSpPr>
        <p:spPr>
          <a:xfrm>
            <a:off x="1420566" y="2242090"/>
            <a:ext cx="149700" cy="149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3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uses his conclusion to estimate the area of the circle.</a:t>
            </a:r>
            <a:endParaRPr sz="2000"/>
          </a:p>
        </p:txBody>
      </p:sp>
      <p:sp>
        <p:nvSpPr>
          <p:cNvPr id="1133" name="Google Shape;113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134" name="Google Shape;1134;p83"/>
          <p:cNvSpPr/>
          <p:nvPr/>
        </p:nvSpPr>
        <p:spPr>
          <a:xfrm>
            <a:off x="1358880" y="2335566"/>
            <a:ext cx="123600" cy="123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3"/>
          <p:cNvSpPr/>
          <p:nvPr/>
        </p:nvSpPr>
        <p:spPr>
          <a:xfrm>
            <a:off x="3692109" y="1437543"/>
            <a:ext cx="975000" cy="9750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3"/>
          <p:cNvSpPr/>
          <p:nvPr/>
        </p:nvSpPr>
        <p:spPr>
          <a:xfrm>
            <a:off x="2779763" y="1846466"/>
            <a:ext cx="222000" cy="24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7" name="Google Shape;1137;p83"/>
          <p:cNvGrpSpPr/>
          <p:nvPr/>
        </p:nvGrpSpPr>
        <p:grpSpPr>
          <a:xfrm>
            <a:off x="3589887" y="1442778"/>
            <a:ext cx="1075815" cy="1069059"/>
            <a:chOff x="3936019" y="1445403"/>
            <a:chExt cx="1186517" cy="1179066"/>
          </a:xfrm>
        </p:grpSpPr>
        <p:cxnSp>
          <p:nvCxnSpPr>
            <p:cNvPr id="1138" name="Google Shape;1138;p83"/>
            <p:cNvCxnSpPr/>
            <p:nvPr/>
          </p:nvCxnSpPr>
          <p:spPr>
            <a:xfrm>
              <a:off x="4056636" y="2624469"/>
              <a:ext cx="106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39" name="Google Shape;1139;p83"/>
            <p:cNvCxnSpPr/>
            <p:nvPr/>
          </p:nvCxnSpPr>
          <p:spPr>
            <a:xfrm flipH="1" rot="10800000">
              <a:off x="3936019" y="1445403"/>
              <a:ext cx="3600" cy="108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40" name="Google Shape;1140;p83"/>
          <p:cNvSpPr txBox="1"/>
          <p:nvPr>
            <p:ph idx="4294967295" type="title"/>
          </p:nvPr>
        </p:nvSpPr>
        <p:spPr>
          <a:xfrm>
            <a:off x="1007422" y="1791366"/>
            <a:ext cx="444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6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83"/>
          <p:cNvSpPr txBox="1"/>
          <p:nvPr>
            <p:ph idx="4294967295" type="title"/>
          </p:nvPr>
        </p:nvSpPr>
        <p:spPr>
          <a:xfrm>
            <a:off x="3163366" y="1791366"/>
            <a:ext cx="444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6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83"/>
          <p:cNvSpPr txBox="1"/>
          <p:nvPr>
            <p:ph idx="4294967295" type="title"/>
          </p:nvPr>
        </p:nvSpPr>
        <p:spPr>
          <a:xfrm>
            <a:off x="3992419" y="2489325"/>
            <a:ext cx="444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6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83"/>
          <p:cNvSpPr txBox="1"/>
          <p:nvPr>
            <p:ph idx="4294967295" type="title"/>
          </p:nvPr>
        </p:nvSpPr>
        <p:spPr>
          <a:xfrm>
            <a:off x="3898804" y="1788800"/>
            <a:ext cx="696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36 m</a:t>
            </a:r>
            <a:r>
              <a:rPr b="0" baseline="30000" lang="en-GB" sz="1800"/>
              <a:t>2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4" name="Google Shape;1144;p83"/>
          <p:cNvGrpSpPr/>
          <p:nvPr/>
        </p:nvGrpSpPr>
        <p:grpSpPr>
          <a:xfrm>
            <a:off x="3069249" y="2939700"/>
            <a:ext cx="5254673" cy="1304161"/>
            <a:chOff x="1679505" y="650475"/>
            <a:chExt cx="3722231" cy="925199"/>
          </a:xfrm>
        </p:grpSpPr>
        <p:pic>
          <p:nvPicPr>
            <p:cNvPr id="1145" name="Google Shape;1145;p83"/>
            <p:cNvPicPr preferRelativeResize="0"/>
            <p:nvPr/>
          </p:nvPicPr>
          <p:blipFill rotWithShape="1">
            <a:blip r:embed="rId4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6" name="Google Shape;1146;p83"/>
            <p:cNvPicPr preferRelativeResize="0"/>
            <p:nvPr/>
          </p:nvPicPr>
          <p:blipFill rotWithShape="1">
            <a:blip r:embed="rId4">
              <a:alphaModFix/>
            </a:blip>
            <a:srcRect b="0" l="0" r="84914" t="89131"/>
            <a:stretch/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7" name="Google Shape;1147;p83"/>
            <p:cNvPicPr preferRelativeResize="0"/>
            <p:nvPr/>
          </p:nvPicPr>
          <p:blipFill rotWithShape="1">
            <a:blip r:embed="rId4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8" name="Google Shape;1148;p83"/>
            <p:cNvPicPr preferRelativeResize="0"/>
            <p:nvPr/>
          </p:nvPicPr>
          <p:blipFill rotWithShape="1">
            <a:blip r:embed="rId4">
              <a:alphaModFix/>
            </a:blip>
            <a:srcRect b="23662" l="0" r="84914" t="56280"/>
            <a:stretch/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9" name="Google Shape;1149;p83"/>
            <p:cNvPicPr preferRelativeResize="0"/>
            <p:nvPr/>
          </p:nvPicPr>
          <p:blipFill rotWithShape="1">
            <a:blip r:embed="rId4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0" name="Google Shape;1150;p83"/>
            <p:cNvPicPr preferRelativeResize="0"/>
            <p:nvPr/>
          </p:nvPicPr>
          <p:blipFill rotWithShape="1">
            <a:blip r:embed="rId4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1" name="Google Shape;1151;p83"/>
          <p:cNvSpPr txBox="1"/>
          <p:nvPr>
            <p:ph idx="1" type="body"/>
          </p:nvPr>
        </p:nvSpPr>
        <p:spPr>
          <a:xfrm>
            <a:off x="3339875" y="3220425"/>
            <a:ext cx="4647000" cy="7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area of the circle is </a:t>
            </a:r>
            <a:r>
              <a:rPr lang="en-GB" sz="1800">
                <a:solidFill>
                  <a:schemeClr val="accent4"/>
                </a:solidFill>
              </a:rPr>
              <a:t>between 2 and 4</a:t>
            </a:r>
            <a:r>
              <a:rPr lang="en-GB" sz="1800"/>
              <a:t> times the area of the</a:t>
            </a:r>
            <a:r>
              <a:rPr lang="en-GB" sz="1800">
                <a:solidFill>
                  <a:schemeClr val="accent4"/>
                </a:solidFill>
              </a:rPr>
              <a:t> square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152" name="Google Shape;1152;p83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201208" y="3042396"/>
            <a:ext cx="3177999" cy="114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83"/>
          <p:cNvSpPr txBox="1"/>
          <p:nvPr>
            <p:ph idx="1" type="body"/>
          </p:nvPr>
        </p:nvSpPr>
        <p:spPr>
          <a:xfrm>
            <a:off x="5257708" y="3121096"/>
            <a:ext cx="28587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length of the square is the same as the </a:t>
            </a:r>
            <a:r>
              <a:rPr lang="en-GB" sz="1800">
                <a:solidFill>
                  <a:schemeClr val="accent4"/>
                </a:solidFill>
              </a:rPr>
              <a:t>radius</a:t>
            </a:r>
            <a:r>
              <a:rPr lang="en-GB" sz="1800"/>
              <a:t>. </a:t>
            </a:r>
            <a:endParaRPr sz="1800"/>
          </a:p>
        </p:txBody>
      </p:sp>
      <p:pic>
        <p:nvPicPr>
          <p:cNvPr id="1154" name="Google Shape;1154;p83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6053150" y="3081839"/>
            <a:ext cx="2207099" cy="114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3"/>
          <p:cNvSpPr txBox="1"/>
          <p:nvPr>
            <p:ph idx="1" type="body"/>
          </p:nvPr>
        </p:nvSpPr>
        <p:spPr>
          <a:xfrm>
            <a:off x="6172108" y="3252354"/>
            <a:ext cx="23301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area of the </a:t>
            </a:r>
            <a:r>
              <a:rPr lang="en-GB" sz="1800">
                <a:solidFill>
                  <a:schemeClr val="accent4"/>
                </a:solidFill>
              </a:rPr>
              <a:t>square</a:t>
            </a:r>
            <a:r>
              <a:rPr lang="en-GB" sz="1800"/>
              <a:t> is 36 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</p:txBody>
      </p:sp>
      <p:cxnSp>
        <p:nvCxnSpPr>
          <p:cNvPr id="1156" name="Google Shape;1156;p83"/>
          <p:cNvCxnSpPr/>
          <p:nvPr/>
        </p:nvCxnSpPr>
        <p:spPr>
          <a:xfrm flipH="1" rot="10800000">
            <a:off x="1420807" y="1416610"/>
            <a:ext cx="3300" cy="98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7" name="Google Shape;1157;p83"/>
          <p:cNvSpPr/>
          <p:nvPr/>
        </p:nvSpPr>
        <p:spPr>
          <a:xfrm>
            <a:off x="464143" y="1417974"/>
            <a:ext cx="1931400" cy="1931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3"/>
          <p:cNvSpPr txBox="1"/>
          <p:nvPr>
            <p:ph idx="4294967295" type="title"/>
          </p:nvPr>
        </p:nvSpPr>
        <p:spPr>
          <a:xfrm>
            <a:off x="5105300" y="2374300"/>
            <a:ext cx="754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72</a:t>
            </a:r>
            <a:r>
              <a:rPr b="0" lang="en-GB" sz="1800"/>
              <a:t> m</a:t>
            </a:r>
            <a:r>
              <a:rPr b="0" baseline="30000" lang="en-GB" sz="1800"/>
              <a:t>2</a:t>
            </a:r>
            <a:endParaRPr b="0" baseline="30000" sz="2000"/>
          </a:p>
        </p:txBody>
      </p:sp>
      <p:sp>
        <p:nvSpPr>
          <p:cNvPr id="1159" name="Google Shape;1159;p83"/>
          <p:cNvSpPr txBox="1"/>
          <p:nvPr>
            <p:ph idx="4294967295" type="title"/>
          </p:nvPr>
        </p:nvSpPr>
        <p:spPr>
          <a:xfrm>
            <a:off x="7924700" y="2374300"/>
            <a:ext cx="9339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144 </a:t>
            </a:r>
            <a:r>
              <a:rPr b="0" lang="en-GB" sz="1800"/>
              <a:t>m</a:t>
            </a:r>
            <a:r>
              <a:rPr b="0" baseline="30000" lang="en-GB" sz="1800"/>
              <a:t>2</a:t>
            </a:r>
            <a:endParaRPr b="0" baseline="30000" sz="2000"/>
          </a:p>
        </p:txBody>
      </p:sp>
      <p:sp>
        <p:nvSpPr>
          <p:cNvPr id="1160" name="Google Shape;1160;p83"/>
          <p:cNvSpPr txBox="1"/>
          <p:nvPr>
            <p:ph idx="4294967295" type="title"/>
          </p:nvPr>
        </p:nvSpPr>
        <p:spPr>
          <a:xfrm>
            <a:off x="5105300" y="1383700"/>
            <a:ext cx="31050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area of 2 squares = 72 m</a:t>
            </a:r>
            <a:r>
              <a:rPr b="0" baseline="30000" lang="en-GB" sz="1800"/>
              <a:t>2</a:t>
            </a:r>
            <a:endParaRPr b="0" baseline="30000" sz="2000"/>
          </a:p>
        </p:txBody>
      </p:sp>
      <p:sp>
        <p:nvSpPr>
          <p:cNvPr id="1161" name="Google Shape;1161;p83"/>
          <p:cNvSpPr txBox="1"/>
          <p:nvPr>
            <p:ph idx="4294967295" type="title"/>
          </p:nvPr>
        </p:nvSpPr>
        <p:spPr>
          <a:xfrm>
            <a:off x="5105300" y="1879000"/>
            <a:ext cx="31050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area of 4 squares = 144 m</a:t>
            </a:r>
            <a:r>
              <a:rPr b="0" baseline="30000" lang="en-GB" sz="1800"/>
              <a:t>2</a:t>
            </a:r>
            <a:endParaRPr b="0" baseline="30000" sz="2000"/>
          </a:p>
        </p:txBody>
      </p:sp>
      <p:sp>
        <p:nvSpPr>
          <p:cNvPr id="1162" name="Google Shape;1162;p83"/>
          <p:cNvSpPr txBox="1"/>
          <p:nvPr>
            <p:ph idx="4294967295" type="title"/>
          </p:nvPr>
        </p:nvSpPr>
        <p:spPr>
          <a:xfrm>
            <a:off x="5933697" y="2374300"/>
            <a:ext cx="19314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&lt; </a:t>
            </a:r>
            <a:r>
              <a:rPr b="0" lang="en-GB" sz="1800"/>
              <a:t>area of circle &lt;</a:t>
            </a:r>
            <a:endParaRPr b="0" baseline="3000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4"/>
          <p:cNvSpPr txBox="1"/>
          <p:nvPr>
            <p:ph type="title"/>
          </p:nvPr>
        </p:nvSpPr>
        <p:spPr>
          <a:xfrm>
            <a:off x="324000" y="748784"/>
            <a:ext cx="8179200" cy="8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area of the circle is between 2 and 4 times the area of the square.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Which is the most appropriate range for the area of the circle?</a:t>
            </a:r>
            <a:endParaRPr/>
          </a:p>
        </p:txBody>
      </p:sp>
      <p:sp>
        <p:nvSpPr>
          <p:cNvPr id="1168" name="Google Shape;1168;p8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169" name="Google Shape;1169;p84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Between 10 cm</a:t>
            </a:r>
            <a:r>
              <a:rPr baseline="30000" lang="en-GB" sz="1800"/>
              <a:t>2</a:t>
            </a:r>
            <a:r>
              <a:rPr lang="en-GB" sz="1800"/>
              <a:t> and 20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70" name="Google Shape;1170;p84"/>
          <p:cNvSpPr txBox="1"/>
          <p:nvPr>
            <p:ph idx="3" type="subTitle"/>
          </p:nvPr>
        </p:nvSpPr>
        <p:spPr>
          <a:xfrm>
            <a:off x="1034425" y="2794251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Between 25 cm</a:t>
            </a:r>
            <a:r>
              <a:rPr baseline="30000" lang="en-GB" sz="1800"/>
              <a:t>2</a:t>
            </a:r>
            <a:r>
              <a:rPr lang="en-GB" sz="1800"/>
              <a:t> and 50 cm</a:t>
            </a:r>
            <a:r>
              <a:rPr baseline="30000" lang="en-GB" sz="1800"/>
              <a:t>2</a:t>
            </a:r>
            <a:endParaRPr sz="1800"/>
          </a:p>
        </p:txBody>
      </p:sp>
      <p:sp>
        <p:nvSpPr>
          <p:cNvPr id="1171" name="Google Shape;1171;p84"/>
          <p:cNvSpPr txBox="1"/>
          <p:nvPr>
            <p:ph idx="4" type="subTitle"/>
          </p:nvPr>
        </p:nvSpPr>
        <p:spPr>
          <a:xfrm>
            <a:off x="1034425" y="3766974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Between 50 cm</a:t>
            </a:r>
            <a:r>
              <a:rPr baseline="30000" lang="en-GB" sz="1800"/>
              <a:t>2</a:t>
            </a:r>
            <a:r>
              <a:rPr lang="en-GB" sz="1800"/>
              <a:t> and 100 cm</a:t>
            </a:r>
            <a:r>
              <a:rPr baseline="30000" lang="en-GB" sz="1800"/>
              <a:t>2</a:t>
            </a:r>
            <a:endParaRPr sz="1800"/>
          </a:p>
        </p:txBody>
      </p:sp>
      <p:cxnSp>
        <p:nvCxnSpPr>
          <p:cNvPr id="1172" name="Google Shape;1172;p84"/>
          <p:cNvCxnSpPr/>
          <p:nvPr/>
        </p:nvCxnSpPr>
        <p:spPr>
          <a:xfrm rot="10800000">
            <a:off x="6125053" y="2095031"/>
            <a:ext cx="163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84"/>
          <p:cNvCxnSpPr/>
          <p:nvPr/>
        </p:nvCxnSpPr>
        <p:spPr>
          <a:xfrm rot="10800000">
            <a:off x="6125053" y="3009431"/>
            <a:ext cx="163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74" name="Google Shape;1174;p84"/>
          <p:cNvSpPr/>
          <p:nvPr/>
        </p:nvSpPr>
        <p:spPr>
          <a:xfrm>
            <a:off x="6837937" y="2077198"/>
            <a:ext cx="1842300" cy="1842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4"/>
          <p:cNvSpPr/>
          <p:nvPr/>
        </p:nvSpPr>
        <p:spPr>
          <a:xfrm>
            <a:off x="5155228" y="2081220"/>
            <a:ext cx="930000" cy="9300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4"/>
          <p:cNvSpPr/>
          <p:nvPr/>
        </p:nvSpPr>
        <p:spPr>
          <a:xfrm>
            <a:off x="7691388" y="2952456"/>
            <a:ext cx="117300" cy="117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7" name="Google Shape;1177;p84"/>
          <p:cNvCxnSpPr>
            <a:endCxn id="1174" idx="0"/>
          </p:cNvCxnSpPr>
          <p:nvPr/>
        </p:nvCxnSpPr>
        <p:spPr>
          <a:xfrm flipH="1" rot="10800000">
            <a:off x="7753987" y="2077198"/>
            <a:ext cx="5100" cy="93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8" name="Google Shape;1178;p84"/>
          <p:cNvSpPr txBox="1"/>
          <p:nvPr>
            <p:ph type="title"/>
          </p:nvPr>
        </p:nvSpPr>
        <p:spPr>
          <a:xfrm>
            <a:off x="7777406" y="2413545"/>
            <a:ext cx="6447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5</a:t>
            </a:r>
            <a:r>
              <a:rPr b="0"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GB" sz="1800"/>
              <a:t>cm</a:t>
            </a:r>
            <a:endParaRPr b="0" baseline="30000" sz="1800"/>
          </a:p>
        </p:txBody>
      </p:sp>
      <p:cxnSp>
        <p:nvCxnSpPr>
          <p:cNvPr id="1179" name="Google Shape;1179;p84"/>
          <p:cNvCxnSpPr/>
          <p:nvPr/>
        </p:nvCxnSpPr>
        <p:spPr>
          <a:xfrm>
            <a:off x="5151275" y="3144950"/>
            <a:ext cx="930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0" name="Google Shape;1180;p84"/>
          <p:cNvSpPr txBox="1"/>
          <p:nvPr>
            <p:ph type="title"/>
          </p:nvPr>
        </p:nvSpPr>
        <p:spPr>
          <a:xfrm>
            <a:off x="5376170" y="3114959"/>
            <a:ext cx="6447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5</a:t>
            </a:r>
            <a:r>
              <a:rPr b="0"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GB" sz="1800"/>
              <a:t>cm</a:t>
            </a:r>
            <a:endParaRPr b="0" baseline="30000" sz="1800"/>
          </a:p>
        </p:txBody>
      </p:sp>
      <p:pic>
        <p:nvPicPr>
          <p:cNvPr id="1181" name="Google Shape;11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458" y="38152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Google Shape;1186;p85"/>
          <p:cNvPicPr preferRelativeResize="0"/>
          <p:nvPr/>
        </p:nvPicPr>
        <p:blipFill rotWithShape="1">
          <a:blip r:embed="rId3">
            <a:alphaModFix/>
          </a:blip>
          <a:srcRect b="23371" l="61572" r="0" t="0"/>
          <a:stretch/>
        </p:blipFill>
        <p:spPr>
          <a:xfrm>
            <a:off x="671375" y="1788339"/>
            <a:ext cx="1392279" cy="140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85"/>
          <p:cNvPicPr preferRelativeResize="0"/>
          <p:nvPr/>
        </p:nvPicPr>
        <p:blipFill rotWithShape="1">
          <a:blip r:embed="rId3">
            <a:alphaModFix/>
          </a:blip>
          <a:srcRect b="0" l="0" r="49052" t="0"/>
          <a:stretch/>
        </p:blipFill>
        <p:spPr>
          <a:xfrm>
            <a:off x="4930569" y="1788615"/>
            <a:ext cx="1845881" cy="1829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8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For each diagram: i) find the number of complete squares inside the circle;</a:t>
            </a:r>
            <a:br>
              <a:rPr lang="en-GB" sz="1600"/>
            </a:br>
            <a:r>
              <a:rPr lang="en-GB" sz="1600"/>
              <a:t>                                    ii) find the total number of squares;</a:t>
            </a:r>
            <a:br>
              <a:rPr lang="en-GB" sz="1600"/>
            </a:br>
            <a:r>
              <a:rPr lang="en-GB" sz="1600"/>
              <a:t>                                   iii) complete the range for the area of the circle.</a:t>
            </a:r>
            <a:endParaRPr sz="1600"/>
          </a:p>
        </p:txBody>
      </p:sp>
      <p:sp>
        <p:nvSpPr>
          <p:cNvPr id="1189" name="Google Shape;118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190" name="Google Shape;1190;p85"/>
          <p:cNvSpPr txBox="1"/>
          <p:nvPr>
            <p:ph idx="1" type="body"/>
          </p:nvPr>
        </p:nvSpPr>
        <p:spPr>
          <a:xfrm>
            <a:off x="322300" y="3770550"/>
            <a:ext cx="3966600" cy="12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i) number of squares inside =       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ii) total number of squares =</a:t>
            </a:r>
            <a:r>
              <a:rPr lang="en-GB" sz="1600"/>
              <a:t> </a:t>
            </a:r>
            <a:endParaRPr baseline="30000"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iii) </a:t>
            </a:r>
            <a:r>
              <a:rPr lang="en-GB" sz="1600" u="sng"/>
              <a:t>     </a:t>
            </a:r>
            <a:r>
              <a:rPr lang="en-GB" sz="1600"/>
              <a:t> </a:t>
            </a:r>
            <a:r>
              <a:rPr lang="en-GB" sz="1600"/>
              <a:t>units</a:t>
            </a:r>
            <a:r>
              <a:rPr baseline="30000" lang="en-GB" sz="1600"/>
              <a:t>2</a:t>
            </a:r>
            <a:r>
              <a:rPr lang="en-GB" sz="1600"/>
              <a:t> &lt; area of circle &lt; </a:t>
            </a:r>
            <a:r>
              <a:rPr lang="en-GB" sz="1600" u="sng"/>
              <a:t>     </a:t>
            </a:r>
            <a:r>
              <a:rPr lang="en-GB" sz="1600"/>
              <a:t> </a:t>
            </a:r>
            <a:r>
              <a:rPr lang="en-GB" sz="1600"/>
              <a:t>units</a:t>
            </a:r>
            <a:r>
              <a:rPr baseline="30000" lang="en-GB" sz="1600"/>
              <a:t>2</a:t>
            </a:r>
            <a:r>
              <a:rPr lang="en-GB" sz="1600"/>
              <a:t>                 </a:t>
            </a:r>
            <a:endParaRPr baseline="30000" sz="1600"/>
          </a:p>
        </p:txBody>
      </p:sp>
      <p:sp>
        <p:nvSpPr>
          <p:cNvPr id="1191" name="Google Shape;1191;p85"/>
          <p:cNvSpPr txBox="1"/>
          <p:nvPr>
            <p:ph idx="1" type="body"/>
          </p:nvPr>
        </p:nvSpPr>
        <p:spPr>
          <a:xfrm>
            <a:off x="4606175" y="3770562"/>
            <a:ext cx="4112100" cy="11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i) number of squares inside =       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ii) total number of squares =</a:t>
            </a:r>
            <a:r>
              <a:rPr lang="en-GB" sz="1600"/>
              <a:t> </a:t>
            </a:r>
            <a:endParaRPr baseline="30000"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iii)</a:t>
            </a:r>
            <a:r>
              <a:rPr lang="en-GB" sz="1600"/>
              <a:t> </a:t>
            </a:r>
            <a:r>
              <a:rPr lang="en-GB" sz="1600" u="sng"/>
              <a:t>     </a:t>
            </a:r>
            <a:r>
              <a:rPr lang="en-GB" sz="1600"/>
              <a:t> units</a:t>
            </a:r>
            <a:r>
              <a:rPr baseline="30000" lang="en-GB" sz="1600"/>
              <a:t>2</a:t>
            </a:r>
            <a:r>
              <a:rPr lang="en-GB" sz="1600"/>
              <a:t> &lt; area of circle &lt; </a:t>
            </a:r>
            <a:r>
              <a:rPr lang="en-GB" sz="1600" u="sng"/>
              <a:t>     </a:t>
            </a:r>
            <a:r>
              <a:rPr lang="en-GB" sz="1600"/>
              <a:t> units</a:t>
            </a:r>
            <a:r>
              <a:rPr baseline="30000" lang="en-GB" sz="1600"/>
              <a:t>2</a:t>
            </a:r>
            <a:r>
              <a:rPr lang="en-GB" sz="1600"/>
              <a:t>     </a:t>
            </a:r>
            <a:endParaRPr sz="1600"/>
          </a:p>
        </p:txBody>
      </p:sp>
      <p:sp>
        <p:nvSpPr>
          <p:cNvPr id="1192" name="Google Shape;1192;p85"/>
          <p:cNvSpPr txBox="1"/>
          <p:nvPr>
            <p:ph idx="1" type="body"/>
          </p:nvPr>
        </p:nvSpPr>
        <p:spPr>
          <a:xfrm>
            <a:off x="326368" y="1741513"/>
            <a:ext cx="253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193" name="Google Shape;1193;p85"/>
          <p:cNvSpPr txBox="1"/>
          <p:nvPr>
            <p:ph idx="1" type="body"/>
          </p:nvPr>
        </p:nvSpPr>
        <p:spPr>
          <a:xfrm>
            <a:off x="4593568" y="1741513"/>
            <a:ext cx="253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8" name="Google Shape;1198;p86"/>
          <p:cNvGrpSpPr/>
          <p:nvPr/>
        </p:nvGrpSpPr>
        <p:grpSpPr>
          <a:xfrm>
            <a:off x="6295702" y="1737898"/>
            <a:ext cx="2513841" cy="1538106"/>
            <a:chOff x="2190976" y="1392600"/>
            <a:chExt cx="3134074" cy="1917598"/>
          </a:xfrm>
        </p:grpSpPr>
        <p:cxnSp>
          <p:nvCxnSpPr>
            <p:cNvPr id="1199" name="Google Shape;1199;p86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200" name="Google Shape;1200;p86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201" name="Google Shape;1201;p86"/>
              <p:cNvCxnSpPr>
                <a:endCxn id="1202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3" name="Google Shape;1203;p86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4" name="Google Shape;1204;p86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2" name="Google Shape;1202;p86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05" name="Google Shape;1205;p86"/>
              <p:cNvCxnSpPr>
                <a:endCxn id="1203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06" name="Google Shape;1206;p86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7" name="Google Shape;1207;p86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" name="Google Shape;1208;p86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86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10" name="Google Shape;1210;p86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11" name="Google Shape;1211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12" name="Google Shape;1212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13" name="Google Shape;1213;p86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14" name="Google Shape;1214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15" name="Google Shape;1215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16" name="Google Shape;1216;p86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17" name="Google Shape;1217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18" name="Google Shape;1218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19" name="Google Shape;1219;p86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20" name="Google Shape;1220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1" name="Google Shape;1221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222" name="Google Shape;1222;p86"/>
          <p:cNvSpPr txBox="1"/>
          <p:nvPr>
            <p:ph idx="1" type="body"/>
          </p:nvPr>
        </p:nvSpPr>
        <p:spPr>
          <a:xfrm>
            <a:off x="324000" y="759300"/>
            <a:ext cx="8496000" cy="56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Use the information provided to fill in the gaps.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The area of each circle is between 2 and 4 times the area of its accompanying square. </a:t>
            </a:r>
            <a:endParaRPr sz="1600"/>
          </a:p>
        </p:txBody>
      </p:sp>
      <p:sp>
        <p:nvSpPr>
          <p:cNvPr id="1223" name="Google Shape;122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224" name="Google Shape;1224;p86"/>
          <p:cNvSpPr txBox="1"/>
          <p:nvPr>
            <p:ph idx="4294967295" type="title"/>
          </p:nvPr>
        </p:nvSpPr>
        <p:spPr>
          <a:xfrm>
            <a:off x="1588437" y="1578308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9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sz="1600"/>
          </a:p>
        </p:txBody>
      </p:sp>
      <p:grpSp>
        <p:nvGrpSpPr>
          <p:cNvPr id="1225" name="Google Shape;1225;p86"/>
          <p:cNvGrpSpPr/>
          <p:nvPr/>
        </p:nvGrpSpPr>
        <p:grpSpPr>
          <a:xfrm>
            <a:off x="500030" y="1959681"/>
            <a:ext cx="1866968" cy="1142313"/>
            <a:chOff x="2190976" y="1392600"/>
            <a:chExt cx="3134074" cy="1917598"/>
          </a:xfrm>
        </p:grpSpPr>
        <p:cxnSp>
          <p:nvCxnSpPr>
            <p:cNvPr id="1226" name="Google Shape;1226;p86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227" name="Google Shape;1227;p86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228" name="Google Shape;1228;p86"/>
              <p:cNvCxnSpPr>
                <a:endCxn id="1229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0" name="Google Shape;1230;p86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31" name="Google Shape;1231;p86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29" name="Google Shape;1229;p86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32" name="Google Shape;1232;p86"/>
              <p:cNvCxnSpPr>
                <a:endCxn id="1230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33" name="Google Shape;1233;p86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4" name="Google Shape;1234;p86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" name="Google Shape;1235;p86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" name="Google Shape;1236;p86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37" name="Google Shape;1237;p86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38" name="Google Shape;1238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9" name="Google Shape;1239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40" name="Google Shape;1240;p86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41" name="Google Shape;1241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43" name="Google Shape;1243;p86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44" name="Google Shape;1244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46" name="Google Shape;1246;p86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47" name="Google Shape;1247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8" name="Google Shape;1248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1249" name="Google Shape;1249;p86"/>
          <p:cNvGrpSpPr/>
          <p:nvPr/>
        </p:nvGrpSpPr>
        <p:grpSpPr>
          <a:xfrm>
            <a:off x="3391123" y="1909849"/>
            <a:ext cx="2143393" cy="1311445"/>
            <a:chOff x="2190976" y="1392600"/>
            <a:chExt cx="3134074" cy="1917598"/>
          </a:xfrm>
        </p:grpSpPr>
        <p:cxnSp>
          <p:nvCxnSpPr>
            <p:cNvPr id="1250" name="Google Shape;1250;p86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251" name="Google Shape;1251;p86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252" name="Google Shape;1252;p86"/>
              <p:cNvCxnSpPr>
                <a:endCxn id="1253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4" name="Google Shape;1254;p86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5" name="Google Shape;1255;p86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3" name="Google Shape;1253;p86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56" name="Google Shape;1256;p86"/>
              <p:cNvCxnSpPr>
                <a:endCxn id="1254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57" name="Google Shape;1257;p86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8" name="Google Shape;1258;p86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9" name="Google Shape;1259;p86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86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61" name="Google Shape;1261;p86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62" name="Google Shape;1262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3" name="Google Shape;1263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64" name="Google Shape;1264;p86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65" name="Google Shape;1265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6" name="Google Shape;1266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67" name="Google Shape;1267;p86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68" name="Google Shape;1268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9" name="Google Shape;1269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70" name="Google Shape;1270;p86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271" name="Google Shape;1271;p86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2" name="Google Shape;1272;p86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273" name="Google Shape;1273;p86"/>
          <p:cNvSpPr txBox="1"/>
          <p:nvPr>
            <p:ph idx="4294967295" type="body"/>
          </p:nvPr>
        </p:nvSpPr>
        <p:spPr>
          <a:xfrm>
            <a:off x="1130037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600"/>
              <a:t>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4" name="Google Shape;1274;p86"/>
          <p:cNvSpPr txBox="1"/>
          <p:nvPr>
            <p:ph idx="4294967295" type="title"/>
          </p:nvPr>
        </p:nvSpPr>
        <p:spPr>
          <a:xfrm>
            <a:off x="1292890" y="3142353"/>
            <a:ext cx="1248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275" name="Google Shape;1275;p86"/>
          <p:cNvSpPr txBox="1"/>
          <p:nvPr>
            <p:ph idx="4294967295" type="title"/>
          </p:nvPr>
        </p:nvSpPr>
        <p:spPr>
          <a:xfrm>
            <a:off x="4618860" y="3113000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6" name="Google Shape;1276;p86"/>
          <p:cNvSpPr txBox="1"/>
          <p:nvPr>
            <p:ph idx="4294967295" type="title"/>
          </p:nvPr>
        </p:nvSpPr>
        <p:spPr>
          <a:xfrm>
            <a:off x="7618744" y="3113000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7" name="Google Shape;1277;p86"/>
          <p:cNvCxnSpPr/>
          <p:nvPr/>
        </p:nvCxnSpPr>
        <p:spPr>
          <a:xfrm>
            <a:off x="4837287" y="1840700"/>
            <a:ext cx="72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8" name="Google Shape;1278;p86"/>
          <p:cNvSpPr txBox="1"/>
          <p:nvPr>
            <p:ph idx="4294967295" type="title"/>
          </p:nvPr>
        </p:nvSpPr>
        <p:spPr>
          <a:xfrm>
            <a:off x="5016528" y="1616966"/>
            <a:ext cx="5913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4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86"/>
          <p:cNvSpPr txBox="1"/>
          <p:nvPr>
            <p:ph idx="4294967295" type="title"/>
          </p:nvPr>
        </p:nvSpPr>
        <p:spPr>
          <a:xfrm>
            <a:off x="6513750" y="2113190"/>
            <a:ext cx="690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10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0" name="Google Shape;1280;p86"/>
          <p:cNvCxnSpPr/>
          <p:nvPr/>
        </p:nvCxnSpPr>
        <p:spPr>
          <a:xfrm>
            <a:off x="1859722" y="1827296"/>
            <a:ext cx="139200" cy="41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86"/>
          <p:cNvCxnSpPr>
            <a:endCxn id="1274" idx="1"/>
          </p:cNvCxnSpPr>
          <p:nvPr/>
        </p:nvCxnSpPr>
        <p:spPr>
          <a:xfrm>
            <a:off x="1051690" y="2867103"/>
            <a:ext cx="241200" cy="43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86"/>
          <p:cNvCxnSpPr>
            <a:endCxn id="1275" idx="1"/>
          </p:cNvCxnSpPr>
          <p:nvPr/>
        </p:nvCxnSpPr>
        <p:spPr>
          <a:xfrm>
            <a:off x="4053360" y="2915150"/>
            <a:ext cx="565500" cy="35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86"/>
          <p:cNvCxnSpPr>
            <a:endCxn id="1276" idx="1"/>
          </p:cNvCxnSpPr>
          <p:nvPr/>
        </p:nvCxnSpPr>
        <p:spPr>
          <a:xfrm>
            <a:off x="7155544" y="2926250"/>
            <a:ext cx="463200" cy="34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86"/>
          <p:cNvSpPr txBox="1"/>
          <p:nvPr>
            <p:ph idx="4294967295" type="title"/>
          </p:nvPr>
        </p:nvSpPr>
        <p:spPr>
          <a:xfrm>
            <a:off x="317365" y="3688001"/>
            <a:ext cx="258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</a:t>
            </a:r>
            <a:r>
              <a:rPr b="0" lang="en-GB" sz="1600" u="sng"/>
              <a:t>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285" name="Google Shape;1285;p86"/>
          <p:cNvSpPr txBox="1"/>
          <p:nvPr>
            <p:ph idx="4294967295" type="title"/>
          </p:nvPr>
        </p:nvSpPr>
        <p:spPr>
          <a:xfrm>
            <a:off x="317365" y="4123653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</a:t>
            </a:r>
            <a:r>
              <a:rPr b="0" lang="en-GB" sz="1600" u="sng"/>
              <a:t>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286" name="Google Shape;1286;p86"/>
          <p:cNvSpPr txBox="1"/>
          <p:nvPr>
            <p:ph idx="4294967295" type="title"/>
          </p:nvPr>
        </p:nvSpPr>
        <p:spPr>
          <a:xfrm>
            <a:off x="322150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a)</a:t>
            </a:r>
            <a:endParaRPr b="0" baseline="30000" sz="1800"/>
          </a:p>
        </p:txBody>
      </p:sp>
      <p:sp>
        <p:nvSpPr>
          <p:cNvPr id="1287" name="Google Shape;1287;p86"/>
          <p:cNvSpPr txBox="1"/>
          <p:nvPr>
            <p:ph idx="4294967295" type="title"/>
          </p:nvPr>
        </p:nvSpPr>
        <p:spPr>
          <a:xfrm>
            <a:off x="3180587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b)</a:t>
            </a:r>
            <a:endParaRPr b="0" baseline="30000" sz="1800"/>
          </a:p>
        </p:txBody>
      </p:sp>
      <p:sp>
        <p:nvSpPr>
          <p:cNvPr id="1288" name="Google Shape;1288;p86"/>
          <p:cNvSpPr txBox="1"/>
          <p:nvPr>
            <p:ph idx="4294967295" type="title"/>
          </p:nvPr>
        </p:nvSpPr>
        <p:spPr>
          <a:xfrm>
            <a:off x="6130839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c)</a:t>
            </a:r>
            <a:endParaRPr b="0" baseline="30000" sz="1800"/>
          </a:p>
        </p:txBody>
      </p:sp>
      <p:cxnSp>
        <p:nvCxnSpPr>
          <p:cNvPr id="1289" name="Google Shape;1289;p86"/>
          <p:cNvCxnSpPr/>
          <p:nvPr/>
        </p:nvCxnSpPr>
        <p:spPr>
          <a:xfrm rot="10800000">
            <a:off x="751919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86"/>
          <p:cNvCxnSpPr/>
          <p:nvPr/>
        </p:nvCxnSpPr>
        <p:spPr>
          <a:xfrm rot="10800000">
            <a:off x="1742519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1" name="Google Shape;1291;p86"/>
          <p:cNvSpPr txBox="1"/>
          <p:nvPr>
            <p:ph idx="4294967295" type="title"/>
          </p:nvPr>
        </p:nvSpPr>
        <p:spPr>
          <a:xfrm>
            <a:off x="3328202" y="3688001"/>
            <a:ext cx="258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</a:t>
            </a:r>
            <a:r>
              <a:rPr b="0" lang="en-GB" sz="1600" u="sng"/>
              <a:t>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292" name="Google Shape;1292;p86"/>
          <p:cNvSpPr txBox="1"/>
          <p:nvPr>
            <p:ph idx="4294967295" type="title"/>
          </p:nvPr>
        </p:nvSpPr>
        <p:spPr>
          <a:xfrm>
            <a:off x="3328202" y="4123653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</a:t>
            </a:r>
            <a:r>
              <a:rPr b="0" lang="en-GB" sz="1600" u="sng"/>
              <a:t>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cxnSp>
        <p:nvCxnSpPr>
          <p:cNvPr id="1293" name="Google Shape;1293;p86"/>
          <p:cNvCxnSpPr/>
          <p:nvPr/>
        </p:nvCxnSpPr>
        <p:spPr>
          <a:xfrm rot="10800000">
            <a:off x="3762756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86"/>
          <p:cNvCxnSpPr/>
          <p:nvPr/>
        </p:nvCxnSpPr>
        <p:spPr>
          <a:xfrm rot="10800000">
            <a:off x="4753356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86"/>
          <p:cNvSpPr txBox="1"/>
          <p:nvPr>
            <p:ph idx="4294967295" type="title"/>
          </p:nvPr>
        </p:nvSpPr>
        <p:spPr>
          <a:xfrm>
            <a:off x="6218458" y="3688001"/>
            <a:ext cx="258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</a:t>
            </a:r>
            <a:r>
              <a:rPr b="0" lang="en-GB" sz="1600" u="sng"/>
              <a:t> 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296" name="Google Shape;1296;p86"/>
          <p:cNvSpPr txBox="1"/>
          <p:nvPr>
            <p:ph idx="4294967295" type="title"/>
          </p:nvPr>
        </p:nvSpPr>
        <p:spPr>
          <a:xfrm>
            <a:off x="6218458" y="4123653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</a:t>
            </a:r>
            <a:r>
              <a:rPr b="0" lang="en-GB" sz="1600" u="sng"/>
              <a:t>     </a:t>
            </a:r>
            <a:r>
              <a:rPr b="0" lang="en-GB" sz="1600"/>
              <a:t>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cxnSp>
        <p:nvCxnSpPr>
          <p:cNvPr id="1297" name="Google Shape;1297;p86"/>
          <p:cNvCxnSpPr/>
          <p:nvPr/>
        </p:nvCxnSpPr>
        <p:spPr>
          <a:xfrm rot="10800000">
            <a:off x="6699267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86"/>
          <p:cNvCxnSpPr/>
          <p:nvPr/>
        </p:nvCxnSpPr>
        <p:spPr>
          <a:xfrm rot="10800000">
            <a:off x="7689867" y="4795448"/>
            <a:ext cx="2871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86"/>
          <p:cNvSpPr txBox="1"/>
          <p:nvPr>
            <p:ph idx="4294967295" type="body"/>
          </p:nvPr>
        </p:nvSpPr>
        <p:spPr>
          <a:xfrm>
            <a:off x="4146808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86"/>
          <p:cNvSpPr txBox="1"/>
          <p:nvPr>
            <p:ph idx="4294967295" type="body"/>
          </p:nvPr>
        </p:nvSpPr>
        <p:spPr>
          <a:xfrm>
            <a:off x="7052089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87"/>
          <p:cNvPicPr preferRelativeResize="0"/>
          <p:nvPr/>
        </p:nvPicPr>
        <p:blipFill rotWithShape="1">
          <a:blip r:embed="rId3">
            <a:alphaModFix/>
          </a:blip>
          <a:srcRect b="23371" l="61572" r="0" t="0"/>
          <a:stretch/>
        </p:blipFill>
        <p:spPr>
          <a:xfrm>
            <a:off x="671375" y="1788339"/>
            <a:ext cx="1392279" cy="140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87"/>
          <p:cNvPicPr preferRelativeResize="0"/>
          <p:nvPr/>
        </p:nvPicPr>
        <p:blipFill rotWithShape="1">
          <a:blip r:embed="rId3">
            <a:alphaModFix/>
          </a:blip>
          <a:srcRect b="0" l="0" r="49052" t="0"/>
          <a:stretch/>
        </p:blipFill>
        <p:spPr>
          <a:xfrm>
            <a:off x="4930569" y="1788615"/>
            <a:ext cx="1845881" cy="1829661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8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For each diagram: i) find the number of complete squares inside the circle;</a:t>
            </a:r>
            <a:br>
              <a:rPr lang="en-GB" sz="1600"/>
            </a:br>
            <a:r>
              <a:rPr lang="en-GB" sz="1600"/>
              <a:t>                                    ii) find the total number of squares;</a:t>
            </a:r>
            <a:br>
              <a:rPr lang="en-GB" sz="1600"/>
            </a:br>
            <a:r>
              <a:rPr lang="en-GB" sz="1600"/>
              <a:t>                                   iii) </a:t>
            </a:r>
            <a:r>
              <a:rPr lang="en-GB" sz="1600"/>
              <a:t>complete the range for the area of the circle.</a:t>
            </a:r>
            <a:endParaRPr sz="1600"/>
          </a:p>
        </p:txBody>
      </p:sp>
      <p:sp>
        <p:nvSpPr>
          <p:cNvPr id="1308" name="Google Shape;130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309" name="Google Shape;1309;p87"/>
          <p:cNvSpPr txBox="1"/>
          <p:nvPr>
            <p:ph idx="1" type="body"/>
          </p:nvPr>
        </p:nvSpPr>
        <p:spPr>
          <a:xfrm>
            <a:off x="322300" y="3770550"/>
            <a:ext cx="3966600" cy="12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i) </a:t>
            </a:r>
            <a:r>
              <a:rPr lang="en-GB" sz="1600"/>
              <a:t>number of squares inside =</a:t>
            </a:r>
            <a:r>
              <a:rPr lang="en-GB" sz="1600"/>
              <a:t>       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ii) </a:t>
            </a:r>
            <a:r>
              <a:rPr lang="en-GB" sz="1600"/>
              <a:t>total number of squares =</a:t>
            </a:r>
            <a:r>
              <a:rPr lang="en-GB" sz="1600"/>
              <a:t> </a:t>
            </a:r>
            <a:endParaRPr baseline="30000"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iii)       units</a:t>
            </a:r>
            <a:r>
              <a:rPr baseline="30000" lang="en-GB" sz="1600"/>
              <a:t>2</a:t>
            </a:r>
            <a:r>
              <a:rPr lang="en-GB" sz="1600"/>
              <a:t> &lt; area of circle &lt;       units</a:t>
            </a:r>
            <a:r>
              <a:rPr baseline="30000" lang="en-GB" sz="1600"/>
              <a:t>2</a:t>
            </a:r>
            <a:r>
              <a:rPr lang="en-GB" sz="1600"/>
              <a:t>                 </a:t>
            </a:r>
            <a:endParaRPr baseline="30000" sz="1600"/>
          </a:p>
        </p:txBody>
      </p:sp>
      <p:sp>
        <p:nvSpPr>
          <p:cNvPr id="1310" name="Google Shape;1310;p87"/>
          <p:cNvSpPr txBox="1"/>
          <p:nvPr>
            <p:ph idx="1" type="body"/>
          </p:nvPr>
        </p:nvSpPr>
        <p:spPr>
          <a:xfrm>
            <a:off x="4606175" y="3770562"/>
            <a:ext cx="4112100" cy="11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i) </a:t>
            </a:r>
            <a:r>
              <a:rPr lang="en-GB" sz="1600"/>
              <a:t>number of squares inside =</a:t>
            </a:r>
            <a:r>
              <a:rPr lang="en-GB" sz="1600"/>
              <a:t>       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ii) </a:t>
            </a:r>
            <a:r>
              <a:rPr lang="en-GB" sz="1600"/>
              <a:t>total number of squares =</a:t>
            </a:r>
            <a:r>
              <a:rPr lang="en-GB" sz="1600"/>
              <a:t>  </a:t>
            </a:r>
            <a:endParaRPr baseline="30000"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iii)       units</a:t>
            </a:r>
            <a:r>
              <a:rPr baseline="30000" lang="en-GB" sz="1600"/>
              <a:t>2</a:t>
            </a:r>
            <a:r>
              <a:rPr lang="en-GB" sz="1600"/>
              <a:t> &lt; area of circle &lt;       units</a:t>
            </a:r>
            <a:r>
              <a:rPr baseline="30000" lang="en-GB" sz="1600"/>
              <a:t>2</a:t>
            </a:r>
            <a:r>
              <a:rPr lang="en-GB" sz="1600"/>
              <a:t>     </a:t>
            </a:r>
            <a:endParaRPr sz="1600"/>
          </a:p>
        </p:txBody>
      </p:sp>
      <p:sp>
        <p:nvSpPr>
          <p:cNvPr id="1311" name="Google Shape;1311;p87"/>
          <p:cNvSpPr txBox="1"/>
          <p:nvPr>
            <p:ph idx="1" type="body"/>
          </p:nvPr>
        </p:nvSpPr>
        <p:spPr>
          <a:xfrm>
            <a:off x="326368" y="1741513"/>
            <a:ext cx="253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312" name="Google Shape;1312;p87"/>
          <p:cNvSpPr txBox="1"/>
          <p:nvPr>
            <p:ph idx="1" type="body"/>
          </p:nvPr>
        </p:nvSpPr>
        <p:spPr>
          <a:xfrm>
            <a:off x="4593568" y="1741513"/>
            <a:ext cx="253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1313" name="Google Shape;1313;p87"/>
          <p:cNvSpPr txBox="1"/>
          <p:nvPr>
            <p:ph idx="1" type="body"/>
          </p:nvPr>
        </p:nvSpPr>
        <p:spPr>
          <a:xfrm>
            <a:off x="3306916" y="3760081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4" name="Google Shape;1314;p87"/>
          <p:cNvSpPr txBox="1"/>
          <p:nvPr>
            <p:ph idx="1" type="body"/>
          </p:nvPr>
        </p:nvSpPr>
        <p:spPr>
          <a:xfrm>
            <a:off x="3201256" y="4170541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87"/>
          <p:cNvSpPr txBox="1"/>
          <p:nvPr>
            <p:ph idx="1" type="body"/>
          </p:nvPr>
        </p:nvSpPr>
        <p:spPr>
          <a:xfrm>
            <a:off x="676672" y="4580215"/>
            <a:ext cx="287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87"/>
          <p:cNvSpPr txBox="1"/>
          <p:nvPr>
            <p:ph idx="1" type="body"/>
          </p:nvPr>
        </p:nvSpPr>
        <p:spPr>
          <a:xfrm>
            <a:off x="7536763" y="3760081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7"/>
          <p:cNvSpPr txBox="1"/>
          <p:nvPr>
            <p:ph idx="1" type="body"/>
          </p:nvPr>
        </p:nvSpPr>
        <p:spPr>
          <a:xfrm>
            <a:off x="7519754" y="4158090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7"/>
          <p:cNvSpPr txBox="1"/>
          <p:nvPr>
            <p:ph idx="1" type="body"/>
          </p:nvPr>
        </p:nvSpPr>
        <p:spPr>
          <a:xfrm>
            <a:off x="3253731" y="4558048"/>
            <a:ext cx="326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7"/>
          <p:cNvSpPr txBox="1"/>
          <p:nvPr>
            <p:ph idx="1" type="body"/>
          </p:nvPr>
        </p:nvSpPr>
        <p:spPr>
          <a:xfrm>
            <a:off x="7536763" y="4558230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87"/>
          <p:cNvSpPr txBox="1"/>
          <p:nvPr>
            <p:ph idx="1" type="body"/>
          </p:nvPr>
        </p:nvSpPr>
        <p:spPr>
          <a:xfrm>
            <a:off x="4921147" y="4568445"/>
            <a:ext cx="40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88"/>
          <p:cNvSpPr txBox="1"/>
          <p:nvPr>
            <p:ph idx="4294967295" type="title"/>
          </p:nvPr>
        </p:nvSpPr>
        <p:spPr>
          <a:xfrm>
            <a:off x="798575" y="4521015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88"/>
          <p:cNvSpPr txBox="1"/>
          <p:nvPr>
            <p:ph idx="4294967295" type="title"/>
          </p:nvPr>
        </p:nvSpPr>
        <p:spPr>
          <a:xfrm>
            <a:off x="1754363" y="4521015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36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88"/>
          <p:cNvSpPr txBox="1"/>
          <p:nvPr>
            <p:ph idx="4294967295" type="title"/>
          </p:nvPr>
        </p:nvSpPr>
        <p:spPr>
          <a:xfrm>
            <a:off x="3786885" y="4521015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32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88"/>
          <p:cNvSpPr txBox="1"/>
          <p:nvPr>
            <p:ph idx="4294967295" type="title"/>
          </p:nvPr>
        </p:nvSpPr>
        <p:spPr>
          <a:xfrm>
            <a:off x="4773903" y="4521015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64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88"/>
          <p:cNvSpPr txBox="1"/>
          <p:nvPr>
            <p:ph idx="4294967295" type="title"/>
          </p:nvPr>
        </p:nvSpPr>
        <p:spPr>
          <a:xfrm>
            <a:off x="6512097" y="4521025"/>
            <a:ext cx="498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200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0" name="Google Shape;1330;p88"/>
          <p:cNvSpPr txBox="1"/>
          <p:nvPr>
            <p:ph idx="4294967295" type="title"/>
          </p:nvPr>
        </p:nvSpPr>
        <p:spPr>
          <a:xfrm>
            <a:off x="7697973" y="4521025"/>
            <a:ext cx="498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400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31" name="Google Shape;1331;p88"/>
          <p:cNvGrpSpPr/>
          <p:nvPr/>
        </p:nvGrpSpPr>
        <p:grpSpPr>
          <a:xfrm>
            <a:off x="6295702" y="1737898"/>
            <a:ext cx="2513841" cy="1538106"/>
            <a:chOff x="2190976" y="1392600"/>
            <a:chExt cx="3134074" cy="1917598"/>
          </a:xfrm>
        </p:grpSpPr>
        <p:cxnSp>
          <p:nvCxnSpPr>
            <p:cNvPr id="1332" name="Google Shape;1332;p88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333" name="Google Shape;1333;p88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334" name="Google Shape;1334;p88"/>
              <p:cNvCxnSpPr>
                <a:endCxn id="1335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6" name="Google Shape;1336;p88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7" name="Google Shape;1337;p88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5" name="Google Shape;1335;p88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38" name="Google Shape;1338;p88"/>
              <p:cNvCxnSpPr>
                <a:endCxn id="1336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39" name="Google Shape;1339;p88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0" name="Google Shape;1340;p88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1" name="Google Shape;1341;p88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2" name="Google Shape;1342;p88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43" name="Google Shape;1343;p88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44" name="Google Shape;1344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5" name="Google Shape;1345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46" name="Google Shape;1346;p88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47" name="Google Shape;1347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8" name="Google Shape;1348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49" name="Google Shape;1349;p88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50" name="Google Shape;1350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1" name="Google Shape;1351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52" name="Google Shape;1352;p88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53" name="Google Shape;1353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4" name="Google Shape;1354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355" name="Google Shape;1355;p88"/>
          <p:cNvSpPr txBox="1"/>
          <p:nvPr>
            <p:ph idx="1" type="body"/>
          </p:nvPr>
        </p:nvSpPr>
        <p:spPr>
          <a:xfrm>
            <a:off x="324000" y="759300"/>
            <a:ext cx="86955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Use the information provided to fill in the gaps.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The area of each circle is between 2 and 4 times the area of its accompanying square. </a:t>
            </a:r>
            <a:endParaRPr sz="1600"/>
          </a:p>
        </p:txBody>
      </p:sp>
      <p:sp>
        <p:nvSpPr>
          <p:cNvPr id="1356" name="Google Shape;1356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Estimating areas of circles</a:t>
            </a:r>
            <a:endParaRPr/>
          </a:p>
        </p:txBody>
      </p:sp>
      <p:sp>
        <p:nvSpPr>
          <p:cNvPr id="1357" name="Google Shape;1357;p88"/>
          <p:cNvSpPr txBox="1"/>
          <p:nvPr>
            <p:ph idx="4294967295" type="title"/>
          </p:nvPr>
        </p:nvSpPr>
        <p:spPr>
          <a:xfrm>
            <a:off x="1588437" y="1578308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9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sz="1600"/>
          </a:p>
        </p:txBody>
      </p:sp>
      <p:grpSp>
        <p:nvGrpSpPr>
          <p:cNvPr id="1358" name="Google Shape;1358;p88"/>
          <p:cNvGrpSpPr/>
          <p:nvPr/>
        </p:nvGrpSpPr>
        <p:grpSpPr>
          <a:xfrm>
            <a:off x="500030" y="1959681"/>
            <a:ext cx="1866968" cy="1142313"/>
            <a:chOff x="2190976" y="1392600"/>
            <a:chExt cx="3134074" cy="1917598"/>
          </a:xfrm>
        </p:grpSpPr>
        <p:cxnSp>
          <p:nvCxnSpPr>
            <p:cNvPr id="1359" name="Google Shape;1359;p88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360" name="Google Shape;1360;p88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361" name="Google Shape;1361;p88"/>
              <p:cNvCxnSpPr>
                <a:endCxn id="1362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3" name="Google Shape;1363;p88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4" name="Google Shape;1364;p88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2" name="Google Shape;1362;p88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5" name="Google Shape;1365;p88"/>
              <p:cNvCxnSpPr>
                <a:endCxn id="1363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66" name="Google Shape;1366;p88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88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" name="Google Shape;1368;p88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" name="Google Shape;1369;p88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70" name="Google Shape;1370;p88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71" name="Google Shape;1371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2" name="Google Shape;1372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73" name="Google Shape;1373;p88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74" name="Google Shape;1374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5" name="Google Shape;1375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76" name="Google Shape;1376;p88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77" name="Google Shape;1377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78" name="Google Shape;1378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79" name="Google Shape;1379;p88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80" name="Google Shape;1380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1" name="Google Shape;1381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1382" name="Google Shape;1382;p88"/>
          <p:cNvGrpSpPr/>
          <p:nvPr/>
        </p:nvGrpSpPr>
        <p:grpSpPr>
          <a:xfrm>
            <a:off x="3391123" y="1909849"/>
            <a:ext cx="2143393" cy="1311445"/>
            <a:chOff x="2190976" y="1392600"/>
            <a:chExt cx="3134074" cy="1917598"/>
          </a:xfrm>
        </p:grpSpPr>
        <p:cxnSp>
          <p:nvCxnSpPr>
            <p:cNvPr id="1383" name="Google Shape;1383;p88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384" name="Google Shape;1384;p88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385" name="Google Shape;1385;p88"/>
              <p:cNvCxnSpPr>
                <a:endCxn id="1386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7" name="Google Shape;1387;p88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8" name="Google Shape;1388;p88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6" name="Google Shape;1386;p88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89" name="Google Shape;1389;p88"/>
              <p:cNvCxnSpPr>
                <a:endCxn id="1387" idx="0"/>
              </p:cNvCxnSpPr>
              <p:nvPr/>
            </p:nvCxnSpPr>
            <p:spPr>
              <a:xfrm flipH="1" rot="10800000">
                <a:off x="3107026" y="1467598"/>
                <a:ext cx="5100" cy="93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90" name="Google Shape;1390;p88"/>
              <p:cNvCxnSpPr/>
              <p:nvPr/>
            </p:nvCxnSpPr>
            <p:spPr>
              <a:xfrm rot="10800000">
                <a:off x="4777425" y="2330725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" name="Google Shape;1391;p88"/>
              <p:cNvCxnSpPr/>
              <p:nvPr/>
            </p:nvCxnSpPr>
            <p:spPr>
              <a:xfrm rot="10800000">
                <a:off x="4777425" y="1392600"/>
                <a:ext cx="0" cy="15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" name="Google Shape;1392;p88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88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94" name="Google Shape;1394;p88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95" name="Google Shape;1395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96" name="Google Shape;1396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97" name="Google Shape;1397;p88"/>
              <p:cNvGrpSpPr/>
              <p:nvPr/>
            </p:nvGrpSpPr>
            <p:grpSpPr>
              <a:xfrm flipH="1" rot="10800000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398" name="Google Shape;1398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99" name="Google Shape;1399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400" name="Google Shape;1400;p88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401" name="Google Shape;1401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02" name="Google Shape;1402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403" name="Google Shape;1403;p88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404" name="Google Shape;1404;p88"/>
                <p:cNvCxnSpPr/>
                <p:nvPr/>
              </p:nvCxnSpPr>
              <p:spPr>
                <a:xfrm rot="10800000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05" name="Google Shape;1405;p88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406" name="Google Shape;1406;p88"/>
          <p:cNvSpPr txBox="1"/>
          <p:nvPr>
            <p:ph idx="4294967295" type="title"/>
          </p:nvPr>
        </p:nvSpPr>
        <p:spPr>
          <a:xfrm>
            <a:off x="1292890" y="3142353"/>
            <a:ext cx="1248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07" name="Google Shape;1407;p88"/>
          <p:cNvSpPr txBox="1"/>
          <p:nvPr>
            <p:ph idx="4294967295" type="title"/>
          </p:nvPr>
        </p:nvSpPr>
        <p:spPr>
          <a:xfrm>
            <a:off x="4618860" y="3113000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8" name="Google Shape;1408;p88"/>
          <p:cNvSpPr txBox="1"/>
          <p:nvPr>
            <p:ph idx="4294967295" type="title"/>
          </p:nvPr>
        </p:nvSpPr>
        <p:spPr>
          <a:xfrm>
            <a:off x="7618744" y="3113000"/>
            <a:ext cx="1356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= </a:t>
            </a:r>
            <a:r>
              <a:rPr b="0"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lang="en-GB" sz="1600"/>
              <a:t>m</a:t>
            </a:r>
            <a:r>
              <a:rPr b="0" baseline="30000" lang="en-GB" sz="1600"/>
              <a:t>2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9" name="Google Shape;1409;p88"/>
          <p:cNvCxnSpPr/>
          <p:nvPr/>
        </p:nvCxnSpPr>
        <p:spPr>
          <a:xfrm>
            <a:off x="4837287" y="1840700"/>
            <a:ext cx="72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0" name="Google Shape;1410;p88"/>
          <p:cNvSpPr txBox="1"/>
          <p:nvPr>
            <p:ph idx="4294967295" type="title"/>
          </p:nvPr>
        </p:nvSpPr>
        <p:spPr>
          <a:xfrm>
            <a:off x="5016528" y="1616966"/>
            <a:ext cx="5913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4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1" name="Google Shape;1411;p88"/>
          <p:cNvSpPr txBox="1"/>
          <p:nvPr>
            <p:ph idx="4294967295" type="title"/>
          </p:nvPr>
        </p:nvSpPr>
        <p:spPr>
          <a:xfrm>
            <a:off x="6513750" y="2113190"/>
            <a:ext cx="690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10 m</a:t>
            </a:r>
            <a:endParaRPr b="0" baseline="30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2" name="Google Shape;1412;p88"/>
          <p:cNvCxnSpPr/>
          <p:nvPr/>
        </p:nvCxnSpPr>
        <p:spPr>
          <a:xfrm>
            <a:off x="1859722" y="1827296"/>
            <a:ext cx="139200" cy="41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3" name="Google Shape;1413;p88"/>
          <p:cNvCxnSpPr>
            <a:endCxn id="1406" idx="1"/>
          </p:cNvCxnSpPr>
          <p:nvPr/>
        </p:nvCxnSpPr>
        <p:spPr>
          <a:xfrm>
            <a:off x="1051690" y="2867103"/>
            <a:ext cx="241200" cy="43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88"/>
          <p:cNvCxnSpPr>
            <a:endCxn id="1407" idx="1"/>
          </p:cNvCxnSpPr>
          <p:nvPr/>
        </p:nvCxnSpPr>
        <p:spPr>
          <a:xfrm>
            <a:off x="4053360" y="2915150"/>
            <a:ext cx="565500" cy="35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88"/>
          <p:cNvCxnSpPr>
            <a:endCxn id="1408" idx="1"/>
          </p:cNvCxnSpPr>
          <p:nvPr/>
        </p:nvCxnSpPr>
        <p:spPr>
          <a:xfrm>
            <a:off x="7155544" y="2926250"/>
            <a:ext cx="463200" cy="34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88"/>
          <p:cNvSpPr txBox="1"/>
          <p:nvPr>
            <p:ph idx="4294967295" type="title"/>
          </p:nvPr>
        </p:nvSpPr>
        <p:spPr>
          <a:xfrm>
            <a:off x="317365" y="3688001"/>
            <a:ext cx="258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17" name="Google Shape;1417;p88"/>
          <p:cNvSpPr txBox="1"/>
          <p:nvPr>
            <p:ph idx="4294967295" type="title"/>
          </p:nvPr>
        </p:nvSpPr>
        <p:spPr>
          <a:xfrm>
            <a:off x="317365" y="4123653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18" name="Google Shape;1418;p88"/>
          <p:cNvSpPr txBox="1"/>
          <p:nvPr>
            <p:ph idx="4294967295" type="title"/>
          </p:nvPr>
        </p:nvSpPr>
        <p:spPr>
          <a:xfrm>
            <a:off x="322150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a)</a:t>
            </a:r>
            <a:endParaRPr b="0" baseline="30000" sz="1800"/>
          </a:p>
        </p:txBody>
      </p:sp>
      <p:sp>
        <p:nvSpPr>
          <p:cNvPr id="1419" name="Google Shape;1419;p88"/>
          <p:cNvSpPr txBox="1"/>
          <p:nvPr>
            <p:ph idx="4294967295" type="title"/>
          </p:nvPr>
        </p:nvSpPr>
        <p:spPr>
          <a:xfrm>
            <a:off x="3180587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b)</a:t>
            </a:r>
            <a:endParaRPr b="0" baseline="30000" sz="1800"/>
          </a:p>
        </p:txBody>
      </p:sp>
      <p:sp>
        <p:nvSpPr>
          <p:cNvPr id="1420" name="Google Shape;1420;p88"/>
          <p:cNvSpPr txBox="1"/>
          <p:nvPr>
            <p:ph idx="4294967295" type="title"/>
          </p:nvPr>
        </p:nvSpPr>
        <p:spPr>
          <a:xfrm>
            <a:off x="6130839" y="1574400"/>
            <a:ext cx="25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c)</a:t>
            </a:r>
            <a:endParaRPr b="0" baseline="30000" sz="1800"/>
          </a:p>
        </p:txBody>
      </p:sp>
      <p:sp>
        <p:nvSpPr>
          <p:cNvPr id="1421" name="Google Shape;1421;p88"/>
          <p:cNvSpPr txBox="1"/>
          <p:nvPr>
            <p:ph idx="4294967295" type="title"/>
          </p:nvPr>
        </p:nvSpPr>
        <p:spPr>
          <a:xfrm>
            <a:off x="3328202" y="3688001"/>
            <a:ext cx="258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22" name="Google Shape;1422;p88"/>
          <p:cNvSpPr txBox="1"/>
          <p:nvPr>
            <p:ph idx="4294967295" type="title"/>
          </p:nvPr>
        </p:nvSpPr>
        <p:spPr>
          <a:xfrm>
            <a:off x="3328202" y="4123653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23" name="Google Shape;1423;p88"/>
          <p:cNvSpPr txBox="1"/>
          <p:nvPr>
            <p:ph idx="4294967295" type="title"/>
          </p:nvPr>
        </p:nvSpPr>
        <p:spPr>
          <a:xfrm>
            <a:off x="6218445" y="3688000"/>
            <a:ext cx="2688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2 squares =  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24" name="Google Shape;1424;p88"/>
          <p:cNvSpPr txBox="1"/>
          <p:nvPr>
            <p:ph idx="4294967295" type="title"/>
          </p:nvPr>
        </p:nvSpPr>
        <p:spPr>
          <a:xfrm>
            <a:off x="6218445" y="4123650"/>
            <a:ext cx="280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area of 4 squares =        m</a:t>
            </a:r>
            <a:r>
              <a:rPr b="0" baseline="30000" lang="en-GB" sz="1600"/>
              <a:t>2</a:t>
            </a:r>
            <a:endParaRPr b="0" baseline="30000" sz="1800"/>
          </a:p>
        </p:txBody>
      </p:sp>
      <p:sp>
        <p:nvSpPr>
          <p:cNvPr id="1425" name="Google Shape;1425;p88"/>
          <p:cNvSpPr txBox="1"/>
          <p:nvPr>
            <p:ph idx="4294967295" type="title"/>
          </p:nvPr>
        </p:nvSpPr>
        <p:spPr>
          <a:xfrm>
            <a:off x="2227685" y="3675007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6" name="Google Shape;1426;p88"/>
          <p:cNvSpPr txBox="1"/>
          <p:nvPr>
            <p:ph idx="4294967295" type="title"/>
          </p:nvPr>
        </p:nvSpPr>
        <p:spPr>
          <a:xfrm>
            <a:off x="2213514" y="4107342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36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7" name="Google Shape;1427;p88"/>
          <p:cNvSpPr txBox="1"/>
          <p:nvPr>
            <p:ph idx="4294967295" type="title"/>
          </p:nvPr>
        </p:nvSpPr>
        <p:spPr>
          <a:xfrm>
            <a:off x="5245739" y="3656506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32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8" name="Google Shape;1428;p88"/>
          <p:cNvSpPr txBox="1"/>
          <p:nvPr>
            <p:ph idx="4294967295" type="title"/>
          </p:nvPr>
        </p:nvSpPr>
        <p:spPr>
          <a:xfrm>
            <a:off x="5245739" y="4116593"/>
            <a:ext cx="3120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64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9" name="Google Shape;1429;p88"/>
          <p:cNvSpPr txBox="1"/>
          <p:nvPr>
            <p:ph idx="4294967295" type="title"/>
          </p:nvPr>
        </p:nvSpPr>
        <p:spPr>
          <a:xfrm>
            <a:off x="8123178" y="3675000"/>
            <a:ext cx="5655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200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0" name="Google Shape;1430;p88"/>
          <p:cNvSpPr txBox="1"/>
          <p:nvPr>
            <p:ph idx="4294967295" type="title"/>
          </p:nvPr>
        </p:nvSpPr>
        <p:spPr>
          <a:xfrm>
            <a:off x="8138803" y="4098098"/>
            <a:ext cx="5655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400</a:t>
            </a:r>
            <a:endParaRPr b="0" baseline="30000"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1" name="Google Shape;1431;p88"/>
          <p:cNvSpPr txBox="1"/>
          <p:nvPr>
            <p:ph idx="4294967295" type="body"/>
          </p:nvPr>
        </p:nvSpPr>
        <p:spPr>
          <a:xfrm>
            <a:off x="1130037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600"/>
              <a:t>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88"/>
          <p:cNvSpPr txBox="1"/>
          <p:nvPr>
            <p:ph idx="4294967295" type="body"/>
          </p:nvPr>
        </p:nvSpPr>
        <p:spPr>
          <a:xfrm>
            <a:off x="4146808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600"/>
              <a:t>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88"/>
          <p:cNvSpPr txBox="1"/>
          <p:nvPr>
            <p:ph idx="4294967295" type="body"/>
          </p:nvPr>
        </p:nvSpPr>
        <p:spPr>
          <a:xfrm>
            <a:off x="7052089" y="4510200"/>
            <a:ext cx="7278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 &lt;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600"/>
              <a:t>&lt;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areas of circles</a:t>
            </a:r>
            <a:endParaRPr/>
          </a:p>
        </p:txBody>
      </p:sp>
      <p:sp>
        <p:nvSpPr>
          <p:cNvPr id="1439" name="Google Shape;1439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to calculate areas of circles</a:t>
            </a:r>
            <a:endParaRPr/>
          </a:p>
        </p:txBody>
      </p:sp>
      <p:sp>
        <p:nvSpPr>
          <p:cNvPr id="1440" name="Google Shape;1440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pic>
        <p:nvPicPr>
          <p:cNvPr id="1441" name="Google Shape;144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6" name="Google Shape;1446;p90"/>
          <p:cNvGrpSpPr/>
          <p:nvPr/>
        </p:nvGrpSpPr>
        <p:grpSpPr>
          <a:xfrm flipH="1" rot="10800000">
            <a:off x="4131728" y="1213796"/>
            <a:ext cx="4315735" cy="2885620"/>
            <a:chOff x="4500112" y="1579385"/>
            <a:chExt cx="3968127" cy="2653200"/>
          </a:xfrm>
        </p:grpSpPr>
        <p:sp>
          <p:nvSpPr>
            <p:cNvPr id="1447" name="Google Shape;1447;p90"/>
            <p:cNvSpPr/>
            <p:nvPr/>
          </p:nvSpPr>
          <p:spPr>
            <a:xfrm rot="2700389">
              <a:off x="4888470" y="1968044"/>
              <a:ext cx="1875884" cy="1875884"/>
            </a:xfrm>
            <a:prstGeom prst="arc">
              <a:avLst>
                <a:gd fmla="val 10833709" name="adj1"/>
                <a:gd fmla="val 16248711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90"/>
            <p:cNvSpPr/>
            <p:nvPr/>
          </p:nvSpPr>
          <p:spPr>
            <a:xfrm rot="2700389">
              <a:off x="6203997" y="1968044"/>
              <a:ext cx="1875884" cy="1875884"/>
            </a:xfrm>
            <a:prstGeom prst="arc">
              <a:avLst>
                <a:gd fmla="val 10833709" name="adj1"/>
                <a:gd fmla="val 16248711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9" name="Google Shape;1449;p90"/>
          <p:cNvSpPr txBox="1"/>
          <p:nvPr>
            <p:ph idx="1" type="body"/>
          </p:nvPr>
        </p:nvSpPr>
        <p:spPr>
          <a:xfrm>
            <a:off x="321949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/>
              <a:t>=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50" name="Google Shape;1450;p90"/>
          <p:cNvSpPr/>
          <p:nvPr/>
        </p:nvSpPr>
        <p:spPr>
          <a:xfrm>
            <a:off x="1022494" y="1463305"/>
            <a:ext cx="2257200" cy="2256900"/>
          </a:xfrm>
          <a:prstGeom prst="arc">
            <a:avLst>
              <a:gd fmla="val 10833709" name="adj1"/>
              <a:gd fmla="val 1072701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90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90"/>
          <p:cNvSpPr txBox="1"/>
          <p:nvPr>
            <p:ph idx="1" type="body"/>
          </p:nvPr>
        </p:nvSpPr>
        <p:spPr>
          <a:xfrm>
            <a:off x="324000" y="759300"/>
            <a:ext cx="8496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formula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900"/>
              <a:t> =</a:t>
            </a:r>
            <a:r>
              <a:rPr lang="en-GB" sz="21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900"/>
              <a:t>2</a:t>
            </a:r>
            <a:r>
              <a:rPr lang="en-GB" sz="1900"/>
              <a:t> can be derived by </a:t>
            </a:r>
            <a:r>
              <a:rPr lang="en-GB" sz="1900">
                <a:solidFill>
                  <a:schemeClr val="accent5"/>
                </a:solidFill>
              </a:rPr>
              <a:t>splitting</a:t>
            </a:r>
            <a:r>
              <a:rPr lang="en-GB" sz="1900"/>
              <a:t> a circle into sectors.</a:t>
            </a:r>
            <a:endParaRPr sz="2300"/>
          </a:p>
        </p:txBody>
      </p:sp>
      <p:sp>
        <p:nvSpPr>
          <p:cNvPr id="1453" name="Google Shape;145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454" name="Google Shape;1454;p90"/>
          <p:cNvSpPr/>
          <p:nvPr/>
        </p:nvSpPr>
        <p:spPr>
          <a:xfrm rot="2700000">
            <a:off x="5323650" y="2314824"/>
            <a:ext cx="1906218" cy="1906218"/>
          </a:xfrm>
          <a:prstGeom prst="pie">
            <a:avLst>
              <a:gd fmla="val 10779654" name="adj1"/>
              <a:gd fmla="val 16200000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90"/>
          <p:cNvSpPr/>
          <p:nvPr/>
        </p:nvSpPr>
        <p:spPr>
          <a:xfrm rot="2700000">
            <a:off x="6682865" y="2306045"/>
            <a:ext cx="1906218" cy="1906218"/>
          </a:xfrm>
          <a:prstGeom prst="pie">
            <a:avLst>
              <a:gd fmla="val 10779654" name="adj1"/>
              <a:gd fmla="val 16200000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0"/>
          <p:cNvSpPr/>
          <p:nvPr/>
        </p:nvSpPr>
        <p:spPr>
          <a:xfrm rot="-8100000">
            <a:off x="4650890" y="1639816"/>
            <a:ext cx="1906218" cy="1906218"/>
          </a:xfrm>
          <a:prstGeom prst="pie">
            <a:avLst>
              <a:gd fmla="val 10779654" name="adj1"/>
              <a:gd fmla="val 1620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90"/>
          <p:cNvSpPr/>
          <p:nvPr/>
        </p:nvSpPr>
        <p:spPr>
          <a:xfrm rot="-8100000">
            <a:off x="6009871" y="1639816"/>
            <a:ext cx="1906218" cy="1906218"/>
          </a:xfrm>
          <a:prstGeom prst="pie">
            <a:avLst>
              <a:gd fmla="val 10779654" name="adj1"/>
              <a:gd fmla="val 1620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90"/>
          <p:cNvSpPr/>
          <p:nvPr/>
        </p:nvSpPr>
        <p:spPr>
          <a:xfrm rot="10800000">
            <a:off x="1022449" y="1478799"/>
            <a:ext cx="2257200" cy="2256900"/>
          </a:xfrm>
          <a:prstGeom prst="arc">
            <a:avLst>
              <a:gd fmla="val 10833709" name="adj1"/>
              <a:gd fmla="val 3874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triangl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90"/>
          <p:cNvSpPr txBox="1"/>
          <p:nvPr>
            <p:ph idx="1" type="body"/>
          </p:nvPr>
        </p:nvSpPr>
        <p:spPr>
          <a:xfrm>
            <a:off x="1525603" y="3958226"/>
            <a:ext cx="25359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circumference  </a:t>
            </a:r>
            <a:r>
              <a:rPr lang="en-GB"/>
              <a:t>= 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60" name="Google Shape;1460;p90"/>
          <p:cNvSpPr txBox="1"/>
          <p:nvPr>
            <p:ph idx="1" type="body"/>
          </p:nvPr>
        </p:nvSpPr>
        <p:spPr>
          <a:xfrm>
            <a:off x="4977738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461" name="Google Shape;1461;p90"/>
          <p:cNvCxnSpPr/>
          <p:nvPr/>
        </p:nvCxnSpPr>
        <p:spPr>
          <a:xfrm flipH="1">
            <a:off x="5375188" y="3666698"/>
            <a:ext cx="107100" cy="31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90"/>
          <p:cNvCxnSpPr/>
          <p:nvPr/>
        </p:nvCxnSpPr>
        <p:spPr>
          <a:xfrm flipH="1">
            <a:off x="1793825" y="3731375"/>
            <a:ext cx="90000" cy="25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90"/>
          <p:cNvCxnSpPr/>
          <p:nvPr/>
        </p:nvCxnSpPr>
        <p:spPr>
          <a:xfrm>
            <a:off x="5609307" y="2605526"/>
            <a:ext cx="0" cy="9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64" name="Google Shape;1464;p90"/>
          <p:cNvSpPr txBox="1"/>
          <p:nvPr>
            <p:ph idx="1" type="body"/>
          </p:nvPr>
        </p:nvSpPr>
        <p:spPr>
          <a:xfrm>
            <a:off x="5447301" y="2914635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65" name="Google Shape;1465;p90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6" name="Google Shape;1466;p90"/>
          <p:cNvGrpSpPr/>
          <p:nvPr/>
        </p:nvGrpSpPr>
        <p:grpSpPr>
          <a:xfrm>
            <a:off x="1184021" y="1638518"/>
            <a:ext cx="1906315" cy="1906325"/>
            <a:chOff x="-35179" y="1638518"/>
            <a:chExt cx="1906315" cy="1906325"/>
          </a:xfrm>
        </p:grpSpPr>
        <p:sp>
          <p:nvSpPr>
            <p:cNvPr id="1467" name="Google Shape;1467;p90"/>
            <p:cNvSpPr/>
            <p:nvPr/>
          </p:nvSpPr>
          <p:spPr>
            <a:xfrm>
              <a:off x="-35064" y="1638644"/>
              <a:ext cx="1906200" cy="1906200"/>
            </a:xfrm>
            <a:prstGeom prst="pie">
              <a:avLst>
                <a:gd fmla="val 10779654" name="adj1"/>
                <a:gd fmla="val 16200000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90"/>
            <p:cNvSpPr/>
            <p:nvPr/>
          </p:nvSpPr>
          <p:spPr>
            <a:xfrm rot="5400000">
              <a:off x="-35179" y="1638644"/>
              <a:ext cx="1906200" cy="1906200"/>
            </a:xfrm>
            <a:prstGeom prst="pie">
              <a:avLst>
                <a:gd fmla="val 10779654" name="adj1"/>
                <a:gd fmla="val 16200000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90"/>
            <p:cNvSpPr/>
            <p:nvPr/>
          </p:nvSpPr>
          <p:spPr>
            <a:xfrm rot="10800000">
              <a:off x="-35179" y="1638518"/>
              <a:ext cx="1906200" cy="1906200"/>
            </a:xfrm>
            <a:prstGeom prst="pie">
              <a:avLst>
                <a:gd fmla="val 10779654" name="adj1"/>
                <a:gd fmla="val 16200000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90"/>
            <p:cNvSpPr/>
            <p:nvPr/>
          </p:nvSpPr>
          <p:spPr>
            <a:xfrm rot="-5400000">
              <a:off x="-35064" y="1638518"/>
              <a:ext cx="1906200" cy="1906200"/>
            </a:xfrm>
            <a:prstGeom prst="pie">
              <a:avLst>
                <a:gd fmla="val 10779654" name="adj1"/>
                <a:gd fmla="val 16200000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71" name="Google Shape;147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251" y="2797900"/>
            <a:ext cx="331300" cy="3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676" y="2797900"/>
            <a:ext cx="331300" cy="3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451" y="2058300"/>
            <a:ext cx="331300" cy="3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676" y="2058300"/>
            <a:ext cx="331300" cy="350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5" name="Google Shape;1475;p90"/>
          <p:cNvCxnSpPr/>
          <p:nvPr/>
        </p:nvCxnSpPr>
        <p:spPr>
          <a:xfrm flipH="1">
            <a:off x="1516900" y="2615750"/>
            <a:ext cx="599700" cy="66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76" name="Google Shape;1476;p90"/>
          <p:cNvSpPr txBox="1"/>
          <p:nvPr>
            <p:ph idx="1" type="body"/>
          </p:nvPr>
        </p:nvSpPr>
        <p:spPr>
          <a:xfrm>
            <a:off x="1686937" y="2728081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1" name="Google Shape;1481;p91"/>
          <p:cNvGrpSpPr/>
          <p:nvPr/>
        </p:nvGrpSpPr>
        <p:grpSpPr>
          <a:xfrm>
            <a:off x="3864398" y="1223023"/>
            <a:ext cx="5147529" cy="2854402"/>
            <a:chOff x="3864398" y="1204082"/>
            <a:chExt cx="5147529" cy="2854402"/>
          </a:xfrm>
        </p:grpSpPr>
        <p:sp>
          <p:nvSpPr>
            <p:cNvPr id="1482" name="Google Shape;1482;p91"/>
            <p:cNvSpPr/>
            <p:nvPr/>
          </p:nvSpPr>
          <p:spPr>
            <a:xfrm flipH="1" rot="7511695">
              <a:off x="5035629" y="1611246"/>
              <a:ext cx="2040392" cy="2040074"/>
            </a:xfrm>
            <a:prstGeom prst="arc">
              <a:avLst>
                <a:gd fmla="val 11570268" name="adj1"/>
                <a:gd fmla="val 14282984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91"/>
            <p:cNvSpPr/>
            <p:nvPr/>
          </p:nvSpPr>
          <p:spPr>
            <a:xfrm flipH="1" rot="7511695">
              <a:off x="5805656" y="1608571"/>
              <a:ext cx="2040392" cy="2040074"/>
            </a:xfrm>
            <a:prstGeom prst="arc">
              <a:avLst>
                <a:gd fmla="val 11570268" name="adj1"/>
                <a:gd fmla="val 14282984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91"/>
            <p:cNvSpPr/>
            <p:nvPr/>
          </p:nvSpPr>
          <p:spPr>
            <a:xfrm flipH="1" rot="7511695">
              <a:off x="6570331" y="1605895"/>
              <a:ext cx="2040392" cy="2040074"/>
            </a:xfrm>
            <a:prstGeom prst="arc">
              <a:avLst>
                <a:gd fmla="val 11570268" name="adj1"/>
                <a:gd fmla="val 14282984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91"/>
            <p:cNvSpPr/>
            <p:nvPr/>
          </p:nvSpPr>
          <p:spPr>
            <a:xfrm flipH="1" rot="7511695">
              <a:off x="4265602" y="1616597"/>
              <a:ext cx="2040392" cy="2040074"/>
            </a:xfrm>
            <a:prstGeom prst="arc">
              <a:avLst>
                <a:gd fmla="val 11570268" name="adj1"/>
                <a:gd fmla="val 14282984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6" name="Google Shape;1486;p91"/>
          <p:cNvSpPr/>
          <p:nvPr/>
        </p:nvSpPr>
        <p:spPr>
          <a:xfrm flipH="1" rot="6763642">
            <a:off x="4353954" y="163108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1"/>
          <p:cNvSpPr/>
          <p:nvPr/>
        </p:nvSpPr>
        <p:spPr>
          <a:xfrm flipH="1" rot="6763642">
            <a:off x="5115954" y="163108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1"/>
          <p:cNvSpPr/>
          <p:nvPr/>
        </p:nvSpPr>
        <p:spPr>
          <a:xfrm flipH="1" rot="6763642">
            <a:off x="5877954" y="163108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1"/>
          <p:cNvSpPr/>
          <p:nvPr/>
        </p:nvSpPr>
        <p:spPr>
          <a:xfrm flipH="1" rot="6763642">
            <a:off x="6639954" y="163108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1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1"/>
          <p:cNvSpPr txBox="1"/>
          <p:nvPr>
            <p:ph idx="1" type="body"/>
          </p:nvPr>
        </p:nvSpPr>
        <p:spPr>
          <a:xfrm>
            <a:off x="321949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92" name="Google Shape;1492;p91"/>
          <p:cNvSpPr txBox="1"/>
          <p:nvPr>
            <p:ph idx="1" type="body"/>
          </p:nvPr>
        </p:nvSpPr>
        <p:spPr>
          <a:xfrm>
            <a:off x="324000" y="759300"/>
            <a:ext cx="8496000" cy="6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time the circle is split into more sectors, the new shape becomes more and more like a </a:t>
            </a:r>
            <a:r>
              <a:rPr lang="en-GB" sz="1800">
                <a:solidFill>
                  <a:schemeClr val="accent5"/>
                </a:solidFill>
              </a:rPr>
              <a:t>parallelogram</a:t>
            </a:r>
            <a:r>
              <a:rPr lang="en-GB" sz="1800"/>
              <a:t>.</a:t>
            </a:r>
            <a:endParaRPr/>
          </a:p>
        </p:txBody>
      </p:sp>
      <p:sp>
        <p:nvSpPr>
          <p:cNvPr id="1493" name="Google Shape;149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494" name="Google Shape;1494;p91"/>
          <p:cNvSpPr txBox="1"/>
          <p:nvPr>
            <p:ph idx="1" type="body"/>
          </p:nvPr>
        </p:nvSpPr>
        <p:spPr>
          <a:xfrm>
            <a:off x="4977738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95" name="Google Shape;1495;p91"/>
          <p:cNvCxnSpPr/>
          <p:nvPr/>
        </p:nvCxnSpPr>
        <p:spPr>
          <a:xfrm flipH="1">
            <a:off x="5375188" y="3666698"/>
            <a:ext cx="107100" cy="31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6" name="Google Shape;1496;p91"/>
          <p:cNvGrpSpPr/>
          <p:nvPr/>
        </p:nvGrpSpPr>
        <p:grpSpPr>
          <a:xfrm>
            <a:off x="1022449" y="1478799"/>
            <a:ext cx="2257200" cy="2504276"/>
            <a:chOff x="1022449" y="1478799"/>
            <a:chExt cx="2257200" cy="2504276"/>
          </a:xfrm>
        </p:grpSpPr>
        <p:sp>
          <p:nvSpPr>
            <p:cNvPr id="1497" name="Google Shape;1497;p91"/>
            <p:cNvSpPr/>
            <p:nvPr/>
          </p:nvSpPr>
          <p:spPr>
            <a:xfrm rot="10800000">
              <a:off x="1022449" y="1478799"/>
              <a:ext cx="2257200" cy="2256900"/>
            </a:xfrm>
            <a:prstGeom prst="arc">
              <a:avLst>
                <a:gd fmla="val 10833709" name="adj1"/>
                <a:gd fmla="val 3874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8" name="Google Shape;1498;p91"/>
            <p:cNvCxnSpPr/>
            <p:nvPr/>
          </p:nvCxnSpPr>
          <p:spPr>
            <a:xfrm flipH="1">
              <a:off x="1793825" y="3731375"/>
              <a:ext cx="90000" cy="25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99" name="Google Shape;1499;p91"/>
          <p:cNvCxnSpPr/>
          <p:nvPr/>
        </p:nvCxnSpPr>
        <p:spPr>
          <a:xfrm>
            <a:off x="5304507" y="2621670"/>
            <a:ext cx="0" cy="9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00" name="Google Shape;1500;p91"/>
          <p:cNvSpPr txBox="1"/>
          <p:nvPr>
            <p:ph idx="1" type="body"/>
          </p:nvPr>
        </p:nvSpPr>
        <p:spPr>
          <a:xfrm>
            <a:off x="5174789" y="2989974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01" name="Google Shape;1501;p91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2" name="Google Shape;1502;p91"/>
          <p:cNvGrpSpPr/>
          <p:nvPr/>
        </p:nvGrpSpPr>
        <p:grpSpPr>
          <a:xfrm>
            <a:off x="778574" y="1238466"/>
            <a:ext cx="2711940" cy="2695809"/>
            <a:chOff x="778574" y="1227703"/>
            <a:chExt cx="2711940" cy="2695809"/>
          </a:xfrm>
        </p:grpSpPr>
        <p:sp>
          <p:nvSpPr>
            <p:cNvPr id="1503" name="Google Shape;1503;p91"/>
            <p:cNvSpPr/>
            <p:nvPr/>
          </p:nvSpPr>
          <p:spPr>
            <a:xfrm>
              <a:off x="1173374" y="1622499"/>
              <a:ext cx="1906200" cy="1906200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91"/>
            <p:cNvSpPr/>
            <p:nvPr/>
          </p:nvSpPr>
          <p:spPr>
            <a:xfrm rot="2700000">
              <a:off x="1173365" y="1622503"/>
              <a:ext cx="1906218" cy="1906218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91"/>
            <p:cNvSpPr/>
            <p:nvPr/>
          </p:nvSpPr>
          <p:spPr>
            <a:xfrm rot="5400000">
              <a:off x="1184146" y="1622503"/>
              <a:ext cx="1906200" cy="1906200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91"/>
            <p:cNvSpPr/>
            <p:nvPr/>
          </p:nvSpPr>
          <p:spPr>
            <a:xfrm rot="8100000">
              <a:off x="1189505" y="1622494"/>
              <a:ext cx="1906218" cy="1906218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91"/>
          <p:cNvGrpSpPr/>
          <p:nvPr/>
        </p:nvGrpSpPr>
        <p:grpSpPr>
          <a:xfrm flipH="1" rot="10800000">
            <a:off x="783955" y="1243847"/>
            <a:ext cx="2711940" cy="2695809"/>
            <a:chOff x="778574" y="1227703"/>
            <a:chExt cx="2711940" cy="2695809"/>
          </a:xfrm>
        </p:grpSpPr>
        <p:sp>
          <p:nvSpPr>
            <p:cNvPr id="1508" name="Google Shape;1508;p91"/>
            <p:cNvSpPr/>
            <p:nvPr/>
          </p:nvSpPr>
          <p:spPr>
            <a:xfrm>
              <a:off x="1173374" y="1622499"/>
              <a:ext cx="1906200" cy="1906200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1"/>
            <p:cNvSpPr/>
            <p:nvPr/>
          </p:nvSpPr>
          <p:spPr>
            <a:xfrm rot="2700000">
              <a:off x="1173365" y="1622503"/>
              <a:ext cx="1906218" cy="1906218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91"/>
            <p:cNvSpPr/>
            <p:nvPr/>
          </p:nvSpPr>
          <p:spPr>
            <a:xfrm rot="5400000">
              <a:off x="1184146" y="1622503"/>
              <a:ext cx="1906200" cy="1906200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91"/>
            <p:cNvSpPr/>
            <p:nvPr/>
          </p:nvSpPr>
          <p:spPr>
            <a:xfrm rot="8100000">
              <a:off x="1189505" y="1622494"/>
              <a:ext cx="1906218" cy="1906218"/>
            </a:xfrm>
            <a:prstGeom prst="pie">
              <a:avLst>
                <a:gd fmla="val 10779654" name="adj1"/>
                <a:gd fmla="val 1351630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2" name="Google Shape;1512;p91"/>
          <p:cNvSpPr/>
          <p:nvPr/>
        </p:nvSpPr>
        <p:spPr>
          <a:xfrm rot="4036358">
            <a:off x="4734954" y="250695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1"/>
          <p:cNvSpPr/>
          <p:nvPr/>
        </p:nvSpPr>
        <p:spPr>
          <a:xfrm rot="4036358">
            <a:off x="5496954" y="250695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91"/>
          <p:cNvSpPr/>
          <p:nvPr/>
        </p:nvSpPr>
        <p:spPr>
          <a:xfrm rot="4036358">
            <a:off x="6258954" y="250695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1"/>
          <p:cNvSpPr/>
          <p:nvPr/>
        </p:nvSpPr>
        <p:spPr>
          <a:xfrm rot="4036358">
            <a:off x="7020954" y="2506958"/>
            <a:ext cx="1906319" cy="1906319"/>
          </a:xfrm>
          <a:prstGeom prst="pie">
            <a:avLst>
              <a:gd fmla="val 10779654" name="adj1"/>
              <a:gd fmla="val 13516301" name="adj2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6" name="Google Shape;151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087" y="2730587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087" y="2210312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837" y="1856862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737" y="1831687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249" y="2210312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249" y="2682387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249" y="2993562"/>
            <a:ext cx="237828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74" y="2993562"/>
            <a:ext cx="237828" cy="251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4" name="Google Shape;1524;p91"/>
          <p:cNvCxnSpPr/>
          <p:nvPr/>
        </p:nvCxnSpPr>
        <p:spPr>
          <a:xfrm flipH="1">
            <a:off x="1797390" y="2615678"/>
            <a:ext cx="307800" cy="84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25" name="Google Shape;1525;p91"/>
          <p:cNvSpPr txBox="1"/>
          <p:nvPr>
            <p:ph idx="1" type="body"/>
          </p:nvPr>
        </p:nvSpPr>
        <p:spPr>
          <a:xfrm>
            <a:off x="1793695" y="2923306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0" name="Google Shape;1530;p92"/>
          <p:cNvGrpSpPr/>
          <p:nvPr/>
        </p:nvGrpSpPr>
        <p:grpSpPr>
          <a:xfrm>
            <a:off x="3772900" y="1229650"/>
            <a:ext cx="5524979" cy="2843700"/>
            <a:chOff x="3772900" y="1229650"/>
            <a:chExt cx="5524979" cy="2843700"/>
          </a:xfrm>
        </p:grpSpPr>
        <p:sp>
          <p:nvSpPr>
            <p:cNvPr id="1531" name="Google Shape;1531;p92"/>
            <p:cNvSpPr/>
            <p:nvPr/>
          </p:nvSpPr>
          <p:spPr>
            <a:xfrm flipH="1" rot="7511695">
              <a:off x="4174104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92"/>
            <p:cNvSpPr/>
            <p:nvPr/>
          </p:nvSpPr>
          <p:spPr>
            <a:xfrm flipH="1" rot="7511695">
              <a:off x="4711299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92"/>
            <p:cNvSpPr/>
            <p:nvPr/>
          </p:nvSpPr>
          <p:spPr>
            <a:xfrm flipH="1" rot="7511695">
              <a:off x="5248494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92"/>
            <p:cNvSpPr/>
            <p:nvPr/>
          </p:nvSpPr>
          <p:spPr>
            <a:xfrm flipH="1" rot="7511695">
              <a:off x="5785688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92"/>
            <p:cNvSpPr/>
            <p:nvPr/>
          </p:nvSpPr>
          <p:spPr>
            <a:xfrm flipH="1" rot="7511695">
              <a:off x="6319088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92"/>
            <p:cNvSpPr/>
            <p:nvPr/>
          </p:nvSpPr>
          <p:spPr>
            <a:xfrm flipH="1" rot="7511695">
              <a:off x="6856283" y="1631463"/>
              <a:ext cx="2040392" cy="2040074"/>
            </a:xfrm>
            <a:prstGeom prst="arc">
              <a:avLst>
                <a:gd fmla="val 11979332" name="adj1"/>
                <a:gd fmla="val 1386836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7" name="Google Shape;1537;p92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2"/>
          <p:cNvSpPr txBox="1"/>
          <p:nvPr>
            <p:ph idx="1" type="body"/>
          </p:nvPr>
        </p:nvSpPr>
        <p:spPr>
          <a:xfrm>
            <a:off x="321949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39" name="Google Shape;1539;p92"/>
          <p:cNvSpPr txBox="1"/>
          <p:nvPr>
            <p:ph idx="1" type="body"/>
          </p:nvPr>
        </p:nvSpPr>
        <p:spPr>
          <a:xfrm>
            <a:off x="324000" y="759300"/>
            <a:ext cx="8496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time the circle is split into more sectors, the new shape becomes more and more like a </a:t>
            </a:r>
            <a:r>
              <a:rPr lang="en-GB" sz="1800">
                <a:solidFill>
                  <a:schemeClr val="accent5"/>
                </a:solidFill>
              </a:rPr>
              <a:t>parallelogram</a:t>
            </a:r>
            <a:r>
              <a:rPr lang="en-GB" sz="1800"/>
              <a:t>. </a:t>
            </a:r>
            <a:endParaRPr/>
          </a:p>
        </p:txBody>
      </p:sp>
      <p:sp>
        <p:nvSpPr>
          <p:cNvPr id="1540" name="Google Shape;154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541" name="Google Shape;1541;p92"/>
          <p:cNvSpPr txBox="1"/>
          <p:nvPr>
            <p:ph idx="1" type="body"/>
          </p:nvPr>
        </p:nvSpPr>
        <p:spPr>
          <a:xfrm>
            <a:off x="4977738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542" name="Google Shape;1542;p92"/>
          <p:cNvCxnSpPr/>
          <p:nvPr/>
        </p:nvCxnSpPr>
        <p:spPr>
          <a:xfrm flipH="1">
            <a:off x="5375100" y="3728275"/>
            <a:ext cx="68400" cy="25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3" name="Google Shape;1543;p92"/>
          <p:cNvGrpSpPr/>
          <p:nvPr/>
        </p:nvGrpSpPr>
        <p:grpSpPr>
          <a:xfrm>
            <a:off x="1022449" y="1478799"/>
            <a:ext cx="2257200" cy="2504276"/>
            <a:chOff x="1022449" y="1478799"/>
            <a:chExt cx="2257200" cy="2504276"/>
          </a:xfrm>
        </p:grpSpPr>
        <p:sp>
          <p:nvSpPr>
            <p:cNvPr id="1544" name="Google Shape;1544;p92"/>
            <p:cNvSpPr/>
            <p:nvPr/>
          </p:nvSpPr>
          <p:spPr>
            <a:xfrm rot="10800000">
              <a:off x="1022449" y="1478799"/>
              <a:ext cx="2257200" cy="2256900"/>
            </a:xfrm>
            <a:prstGeom prst="arc">
              <a:avLst>
                <a:gd fmla="val 10833709" name="adj1"/>
                <a:gd fmla="val 38740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5" name="Google Shape;1545;p92"/>
            <p:cNvCxnSpPr/>
            <p:nvPr/>
          </p:nvCxnSpPr>
          <p:spPr>
            <a:xfrm flipH="1">
              <a:off x="1793825" y="3731375"/>
              <a:ext cx="90000" cy="25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46" name="Google Shape;1546;p92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92"/>
          <p:cNvSpPr txBox="1"/>
          <p:nvPr>
            <p:ph idx="1" type="body"/>
          </p:nvPr>
        </p:nvSpPr>
        <p:spPr>
          <a:xfrm>
            <a:off x="716132" y="2907162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548" name="Google Shape;1548;p92"/>
          <p:cNvGrpSpPr/>
          <p:nvPr/>
        </p:nvGrpSpPr>
        <p:grpSpPr>
          <a:xfrm>
            <a:off x="823694" y="1272441"/>
            <a:ext cx="2632612" cy="2632568"/>
            <a:chOff x="823694" y="1272441"/>
            <a:chExt cx="2632612" cy="2632568"/>
          </a:xfrm>
        </p:grpSpPr>
        <p:grpSp>
          <p:nvGrpSpPr>
            <p:cNvPr id="1549" name="Google Shape;1549;p92"/>
            <p:cNvGrpSpPr/>
            <p:nvPr/>
          </p:nvGrpSpPr>
          <p:grpSpPr>
            <a:xfrm>
              <a:off x="823694" y="1272441"/>
              <a:ext cx="2632612" cy="2632568"/>
              <a:chOff x="823694" y="1272441"/>
              <a:chExt cx="2632612" cy="2632568"/>
            </a:xfrm>
          </p:grpSpPr>
          <p:sp>
            <p:nvSpPr>
              <p:cNvPr id="1550" name="Google Shape;1550;p92"/>
              <p:cNvSpPr/>
              <p:nvPr/>
            </p:nvSpPr>
            <p:spPr>
              <a:xfrm>
                <a:off x="1176538" y="1625247"/>
                <a:ext cx="1926900" cy="19269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1" name="Google Shape;1551;p92"/>
              <p:cNvSpPr/>
              <p:nvPr/>
            </p:nvSpPr>
            <p:spPr>
              <a:xfrm rot="-1798435">
                <a:off x="1176558" y="1625181"/>
                <a:ext cx="1926920" cy="192692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2" name="Google Shape;1552;p92"/>
              <p:cNvSpPr/>
              <p:nvPr/>
            </p:nvSpPr>
            <p:spPr>
              <a:xfrm rot="-3598445">
                <a:off x="1176564" y="1625245"/>
                <a:ext cx="1926890" cy="192689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3" name="Google Shape;1553;p92"/>
              <p:cNvSpPr/>
              <p:nvPr/>
            </p:nvSpPr>
            <p:spPr>
              <a:xfrm rot="1800824">
                <a:off x="1176556" y="1625258"/>
                <a:ext cx="1927000" cy="19270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4" name="Google Shape;1554;p92"/>
              <p:cNvSpPr/>
              <p:nvPr/>
            </p:nvSpPr>
            <p:spPr>
              <a:xfrm rot="3599176">
                <a:off x="1176444" y="1625228"/>
                <a:ext cx="1927000" cy="19270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5" name="Google Shape;1555;p92"/>
              <p:cNvSpPr/>
              <p:nvPr/>
            </p:nvSpPr>
            <p:spPr>
              <a:xfrm rot="5400000">
                <a:off x="1176544" y="1625228"/>
                <a:ext cx="1926900" cy="19269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56" name="Google Shape;1556;p92"/>
            <p:cNvGrpSpPr/>
            <p:nvPr/>
          </p:nvGrpSpPr>
          <p:grpSpPr>
            <a:xfrm flipH="1" rot="10800000">
              <a:off x="823694" y="1272441"/>
              <a:ext cx="2632612" cy="2632568"/>
              <a:chOff x="823694" y="1272441"/>
              <a:chExt cx="2632612" cy="2632568"/>
            </a:xfrm>
          </p:grpSpPr>
          <p:sp>
            <p:nvSpPr>
              <p:cNvPr id="1557" name="Google Shape;1557;p92"/>
              <p:cNvSpPr/>
              <p:nvPr/>
            </p:nvSpPr>
            <p:spPr>
              <a:xfrm>
                <a:off x="1176538" y="1625247"/>
                <a:ext cx="1926900" cy="19269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8" name="Google Shape;1558;p92"/>
              <p:cNvSpPr/>
              <p:nvPr/>
            </p:nvSpPr>
            <p:spPr>
              <a:xfrm rot="-1798435">
                <a:off x="1176558" y="1625181"/>
                <a:ext cx="1926920" cy="192692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9" name="Google Shape;1559;p92"/>
              <p:cNvSpPr/>
              <p:nvPr/>
            </p:nvSpPr>
            <p:spPr>
              <a:xfrm rot="-3598445">
                <a:off x="1176564" y="1625245"/>
                <a:ext cx="1926890" cy="192689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0" name="Google Shape;1560;p92"/>
              <p:cNvSpPr/>
              <p:nvPr/>
            </p:nvSpPr>
            <p:spPr>
              <a:xfrm rot="1800824">
                <a:off x="1176556" y="1625258"/>
                <a:ext cx="1927000" cy="19270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1" name="Google Shape;1561;p92"/>
              <p:cNvSpPr/>
              <p:nvPr/>
            </p:nvSpPr>
            <p:spPr>
              <a:xfrm rot="3599176">
                <a:off x="1176444" y="1625228"/>
                <a:ext cx="1927000" cy="19270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2" name="Google Shape;1562;p92"/>
              <p:cNvSpPr/>
              <p:nvPr/>
            </p:nvSpPr>
            <p:spPr>
              <a:xfrm rot="5400000">
                <a:off x="1176544" y="1625228"/>
                <a:ext cx="1926900" cy="1926900"/>
              </a:xfrm>
              <a:prstGeom prst="pie">
                <a:avLst>
                  <a:gd fmla="val 1437085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63" name="Google Shape;1563;p92"/>
          <p:cNvGrpSpPr/>
          <p:nvPr/>
        </p:nvGrpSpPr>
        <p:grpSpPr>
          <a:xfrm>
            <a:off x="4030095" y="1393181"/>
            <a:ext cx="5297251" cy="3289144"/>
            <a:chOff x="4030095" y="1393181"/>
            <a:chExt cx="5297251" cy="3289144"/>
          </a:xfrm>
        </p:grpSpPr>
        <p:sp>
          <p:nvSpPr>
            <p:cNvPr id="1564" name="Google Shape;1564;p92"/>
            <p:cNvSpPr/>
            <p:nvPr/>
          </p:nvSpPr>
          <p:spPr>
            <a:xfrm flipH="1" rot="9902908">
              <a:off x="42460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92"/>
            <p:cNvSpPr/>
            <p:nvPr/>
          </p:nvSpPr>
          <p:spPr>
            <a:xfrm flipH="1" rot="9902908">
              <a:off x="47794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92"/>
            <p:cNvSpPr/>
            <p:nvPr/>
          </p:nvSpPr>
          <p:spPr>
            <a:xfrm flipH="1" rot="9902908">
              <a:off x="53128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92"/>
            <p:cNvSpPr/>
            <p:nvPr/>
          </p:nvSpPr>
          <p:spPr>
            <a:xfrm flipH="1" rot="9902908">
              <a:off x="58462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92"/>
            <p:cNvSpPr/>
            <p:nvPr/>
          </p:nvSpPr>
          <p:spPr>
            <a:xfrm flipH="1" rot="9902908">
              <a:off x="63796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92"/>
            <p:cNvSpPr/>
            <p:nvPr/>
          </p:nvSpPr>
          <p:spPr>
            <a:xfrm flipH="1" rot="9902908">
              <a:off x="6913029" y="1609116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2"/>
            <p:cNvSpPr/>
            <p:nvPr/>
          </p:nvSpPr>
          <p:spPr>
            <a:xfrm rot="897092">
              <a:off x="45176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92"/>
            <p:cNvSpPr/>
            <p:nvPr/>
          </p:nvSpPr>
          <p:spPr>
            <a:xfrm rot="897092">
              <a:off x="50510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92"/>
            <p:cNvSpPr/>
            <p:nvPr/>
          </p:nvSpPr>
          <p:spPr>
            <a:xfrm rot="897092">
              <a:off x="55844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92"/>
            <p:cNvSpPr/>
            <p:nvPr/>
          </p:nvSpPr>
          <p:spPr>
            <a:xfrm rot="897092">
              <a:off x="61178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92"/>
            <p:cNvSpPr/>
            <p:nvPr/>
          </p:nvSpPr>
          <p:spPr>
            <a:xfrm rot="897092">
              <a:off x="66512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92"/>
            <p:cNvSpPr/>
            <p:nvPr/>
          </p:nvSpPr>
          <p:spPr>
            <a:xfrm rot="897092">
              <a:off x="7184680" y="2539660"/>
              <a:ext cx="1926731" cy="1926731"/>
            </a:xfrm>
            <a:prstGeom prst="pie">
              <a:avLst>
                <a:gd fmla="val 1437085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76" name="Google Shape;1576;p92"/>
          <p:cNvCxnSpPr/>
          <p:nvPr/>
        </p:nvCxnSpPr>
        <p:spPr>
          <a:xfrm>
            <a:off x="841094" y="2590025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7" name="Google Shape;1577;p92"/>
          <p:cNvSpPr txBox="1"/>
          <p:nvPr>
            <p:ph idx="1" type="body"/>
          </p:nvPr>
        </p:nvSpPr>
        <p:spPr>
          <a:xfrm>
            <a:off x="4658121" y="2885636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578" name="Google Shape;1578;p92"/>
          <p:cNvCxnSpPr/>
          <p:nvPr/>
        </p:nvCxnSpPr>
        <p:spPr>
          <a:xfrm>
            <a:off x="4803494" y="2568500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3" name="Google Shape;1583;p93"/>
          <p:cNvGrpSpPr/>
          <p:nvPr/>
        </p:nvGrpSpPr>
        <p:grpSpPr>
          <a:xfrm>
            <a:off x="3680314" y="1220776"/>
            <a:ext cx="5802625" cy="2843700"/>
            <a:chOff x="3680314" y="1220776"/>
            <a:chExt cx="5802625" cy="2843700"/>
          </a:xfrm>
        </p:grpSpPr>
        <p:sp>
          <p:nvSpPr>
            <p:cNvPr id="1584" name="Google Shape;1584;p93"/>
            <p:cNvSpPr/>
            <p:nvPr/>
          </p:nvSpPr>
          <p:spPr>
            <a:xfrm flipH="1" rot="7511695">
              <a:off x="4081518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93"/>
            <p:cNvSpPr/>
            <p:nvPr/>
          </p:nvSpPr>
          <p:spPr>
            <a:xfrm flipH="1" rot="7511695">
              <a:off x="4351246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93"/>
            <p:cNvSpPr/>
            <p:nvPr/>
          </p:nvSpPr>
          <p:spPr>
            <a:xfrm flipH="1" rot="7511695">
              <a:off x="4620283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93"/>
            <p:cNvSpPr/>
            <p:nvPr/>
          </p:nvSpPr>
          <p:spPr>
            <a:xfrm flipH="1" rot="7511695">
              <a:off x="4890011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93"/>
            <p:cNvSpPr/>
            <p:nvPr/>
          </p:nvSpPr>
          <p:spPr>
            <a:xfrm flipH="1" rot="7511695">
              <a:off x="5158451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93"/>
            <p:cNvSpPr/>
            <p:nvPr/>
          </p:nvSpPr>
          <p:spPr>
            <a:xfrm flipH="1" rot="7511695">
              <a:off x="5428179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93"/>
            <p:cNvSpPr/>
            <p:nvPr/>
          </p:nvSpPr>
          <p:spPr>
            <a:xfrm flipH="1" rot="7511695">
              <a:off x="5697216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93"/>
            <p:cNvSpPr/>
            <p:nvPr/>
          </p:nvSpPr>
          <p:spPr>
            <a:xfrm flipH="1" rot="7511695">
              <a:off x="5966944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93"/>
            <p:cNvSpPr/>
            <p:nvPr/>
          </p:nvSpPr>
          <p:spPr>
            <a:xfrm flipH="1" rot="7511695">
              <a:off x="6232851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93"/>
            <p:cNvSpPr/>
            <p:nvPr/>
          </p:nvSpPr>
          <p:spPr>
            <a:xfrm flipH="1" rot="7511695">
              <a:off x="6502579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93"/>
            <p:cNvSpPr/>
            <p:nvPr/>
          </p:nvSpPr>
          <p:spPr>
            <a:xfrm flipH="1" rot="7511695">
              <a:off x="6771615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93"/>
            <p:cNvSpPr/>
            <p:nvPr/>
          </p:nvSpPr>
          <p:spPr>
            <a:xfrm flipH="1" rot="7511695">
              <a:off x="7041343" y="1622588"/>
              <a:ext cx="2040392" cy="2040074"/>
            </a:xfrm>
            <a:prstGeom prst="arc">
              <a:avLst>
                <a:gd fmla="val 12450458" name="adj1"/>
                <a:gd fmla="val 13388247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6" name="Google Shape;1596;p93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3"/>
          <p:cNvSpPr txBox="1"/>
          <p:nvPr>
            <p:ph idx="1" type="body"/>
          </p:nvPr>
        </p:nvSpPr>
        <p:spPr>
          <a:xfrm>
            <a:off x="321949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98" name="Google Shape;1598;p93"/>
          <p:cNvSpPr txBox="1"/>
          <p:nvPr>
            <p:ph idx="1" type="body"/>
          </p:nvPr>
        </p:nvSpPr>
        <p:spPr>
          <a:xfrm>
            <a:off x="324000" y="759300"/>
            <a:ext cx="8496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time the circle is split into more sectors, the new shape becomes more and more like a </a:t>
            </a:r>
            <a:r>
              <a:rPr lang="en-GB" sz="1800">
                <a:solidFill>
                  <a:schemeClr val="accent5"/>
                </a:solidFill>
              </a:rPr>
              <a:t>parallelogram</a:t>
            </a:r>
            <a:r>
              <a:rPr lang="en-GB" sz="1800"/>
              <a:t>.</a:t>
            </a:r>
            <a:endParaRPr/>
          </a:p>
        </p:txBody>
      </p:sp>
      <p:sp>
        <p:nvSpPr>
          <p:cNvPr id="1599" name="Google Shape;159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600" name="Google Shape;1600;p93"/>
          <p:cNvSpPr/>
          <p:nvPr/>
        </p:nvSpPr>
        <p:spPr>
          <a:xfrm rot="10800000">
            <a:off x="1022449" y="1478799"/>
            <a:ext cx="2257200" cy="2256900"/>
          </a:xfrm>
          <a:prstGeom prst="arc">
            <a:avLst>
              <a:gd fmla="val 10833709" name="adj1"/>
              <a:gd fmla="val 3874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triangl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93"/>
          <p:cNvSpPr txBox="1"/>
          <p:nvPr>
            <p:ph idx="1" type="body"/>
          </p:nvPr>
        </p:nvSpPr>
        <p:spPr>
          <a:xfrm>
            <a:off x="4977738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02" name="Google Shape;1602;p93"/>
          <p:cNvCxnSpPr/>
          <p:nvPr/>
        </p:nvCxnSpPr>
        <p:spPr>
          <a:xfrm flipH="1">
            <a:off x="5375100" y="3728275"/>
            <a:ext cx="68400" cy="25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93"/>
          <p:cNvCxnSpPr/>
          <p:nvPr/>
        </p:nvCxnSpPr>
        <p:spPr>
          <a:xfrm flipH="1">
            <a:off x="1793825" y="3731375"/>
            <a:ext cx="90000" cy="25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93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3"/>
          <p:cNvSpPr txBox="1"/>
          <p:nvPr>
            <p:ph idx="1" type="body"/>
          </p:nvPr>
        </p:nvSpPr>
        <p:spPr>
          <a:xfrm>
            <a:off x="716132" y="2907162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06" name="Google Shape;1606;p93"/>
          <p:cNvCxnSpPr/>
          <p:nvPr/>
        </p:nvCxnSpPr>
        <p:spPr>
          <a:xfrm>
            <a:off x="841094" y="2590025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7" name="Google Shape;1607;p93"/>
          <p:cNvSpPr txBox="1"/>
          <p:nvPr>
            <p:ph idx="1" type="body"/>
          </p:nvPr>
        </p:nvSpPr>
        <p:spPr>
          <a:xfrm>
            <a:off x="4658121" y="2885636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608" name="Google Shape;1608;p93"/>
          <p:cNvCxnSpPr/>
          <p:nvPr/>
        </p:nvCxnSpPr>
        <p:spPr>
          <a:xfrm>
            <a:off x="4803494" y="2568500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09" name="Google Shape;1609;p93"/>
          <p:cNvGrpSpPr/>
          <p:nvPr/>
        </p:nvGrpSpPr>
        <p:grpSpPr>
          <a:xfrm>
            <a:off x="779296" y="1224286"/>
            <a:ext cx="2725200" cy="2725200"/>
            <a:chOff x="779296" y="1224286"/>
            <a:chExt cx="2725200" cy="2725200"/>
          </a:xfrm>
        </p:grpSpPr>
        <p:sp>
          <p:nvSpPr>
            <p:cNvPr id="1610" name="Google Shape;1610;p93"/>
            <p:cNvSpPr/>
            <p:nvPr/>
          </p:nvSpPr>
          <p:spPr>
            <a:xfrm rot="897609">
              <a:off x="1176539" y="1625244"/>
              <a:ext cx="1926808" cy="1926808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93"/>
            <p:cNvSpPr/>
            <p:nvPr/>
          </p:nvSpPr>
          <p:spPr>
            <a:xfrm rot="1802750">
              <a:off x="1176541" y="1623366"/>
              <a:ext cx="1926931" cy="1926931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93"/>
            <p:cNvSpPr/>
            <p:nvPr/>
          </p:nvSpPr>
          <p:spPr>
            <a:xfrm rot="2700000">
              <a:off x="1178393" y="1623382"/>
              <a:ext cx="1927007" cy="1927007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3" name="Google Shape;1613;p93"/>
            <p:cNvSpPr/>
            <p:nvPr/>
          </p:nvSpPr>
          <p:spPr>
            <a:xfrm rot="3598713">
              <a:off x="1182074" y="1623408"/>
              <a:ext cx="1927150" cy="192715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93"/>
            <p:cNvSpPr/>
            <p:nvPr/>
          </p:nvSpPr>
          <p:spPr>
            <a:xfrm rot="4499806">
              <a:off x="1181934" y="1623354"/>
              <a:ext cx="1927196" cy="1927196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93"/>
            <p:cNvSpPr/>
            <p:nvPr/>
          </p:nvSpPr>
          <p:spPr>
            <a:xfrm rot="5400000">
              <a:off x="1181930" y="1623354"/>
              <a:ext cx="1927200" cy="192720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93"/>
            <p:cNvSpPr/>
            <p:nvPr/>
          </p:nvSpPr>
          <p:spPr>
            <a:xfrm flipH="1" rot="-897609">
              <a:off x="1180446" y="1625244"/>
              <a:ext cx="1926808" cy="1926808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93"/>
            <p:cNvSpPr/>
            <p:nvPr/>
          </p:nvSpPr>
          <p:spPr>
            <a:xfrm flipH="1" rot="-1802750">
              <a:off x="1180321" y="1623366"/>
              <a:ext cx="1926931" cy="1926931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93"/>
            <p:cNvSpPr/>
            <p:nvPr/>
          </p:nvSpPr>
          <p:spPr>
            <a:xfrm flipH="1" rot="-2700000">
              <a:off x="1178393" y="1623382"/>
              <a:ext cx="1927007" cy="1927007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93"/>
            <p:cNvSpPr/>
            <p:nvPr/>
          </p:nvSpPr>
          <p:spPr>
            <a:xfrm flipH="1" rot="-3598713">
              <a:off x="1174569" y="1623408"/>
              <a:ext cx="1927150" cy="192715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93"/>
            <p:cNvSpPr/>
            <p:nvPr/>
          </p:nvSpPr>
          <p:spPr>
            <a:xfrm flipH="1" rot="-4499806">
              <a:off x="1174663" y="1623354"/>
              <a:ext cx="1927196" cy="1927196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93"/>
            <p:cNvSpPr/>
            <p:nvPr/>
          </p:nvSpPr>
          <p:spPr>
            <a:xfrm flipH="1" rot="-5400000">
              <a:off x="1174663" y="1623354"/>
              <a:ext cx="1927200" cy="192720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accent5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2" name="Google Shape;1622;p93"/>
          <p:cNvGrpSpPr/>
          <p:nvPr/>
        </p:nvGrpSpPr>
        <p:grpSpPr>
          <a:xfrm flipH="1" rot="10800000">
            <a:off x="779296" y="1224286"/>
            <a:ext cx="2725200" cy="2725200"/>
            <a:chOff x="779296" y="1224286"/>
            <a:chExt cx="2725200" cy="2725200"/>
          </a:xfrm>
        </p:grpSpPr>
        <p:sp>
          <p:nvSpPr>
            <p:cNvPr id="1623" name="Google Shape;1623;p93"/>
            <p:cNvSpPr/>
            <p:nvPr/>
          </p:nvSpPr>
          <p:spPr>
            <a:xfrm rot="897609">
              <a:off x="1176539" y="1625244"/>
              <a:ext cx="1926808" cy="1926808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93"/>
            <p:cNvSpPr/>
            <p:nvPr/>
          </p:nvSpPr>
          <p:spPr>
            <a:xfrm rot="1802750">
              <a:off x="1176541" y="1623366"/>
              <a:ext cx="1926931" cy="1926931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5" name="Google Shape;1625;p93"/>
            <p:cNvSpPr/>
            <p:nvPr/>
          </p:nvSpPr>
          <p:spPr>
            <a:xfrm rot="2700000">
              <a:off x="1178393" y="1623382"/>
              <a:ext cx="1927007" cy="1927007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93"/>
            <p:cNvSpPr/>
            <p:nvPr/>
          </p:nvSpPr>
          <p:spPr>
            <a:xfrm rot="3598713">
              <a:off x="1182074" y="1623408"/>
              <a:ext cx="1927150" cy="192715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93"/>
            <p:cNvSpPr/>
            <p:nvPr/>
          </p:nvSpPr>
          <p:spPr>
            <a:xfrm rot="4499806">
              <a:off x="1181934" y="1623354"/>
              <a:ext cx="1927196" cy="1927196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8" name="Google Shape;1628;p93"/>
            <p:cNvSpPr/>
            <p:nvPr/>
          </p:nvSpPr>
          <p:spPr>
            <a:xfrm rot="5400000">
              <a:off x="1181930" y="1623354"/>
              <a:ext cx="1927200" cy="192720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93"/>
            <p:cNvSpPr/>
            <p:nvPr/>
          </p:nvSpPr>
          <p:spPr>
            <a:xfrm flipH="1" rot="-897609">
              <a:off x="1180446" y="1625244"/>
              <a:ext cx="1926808" cy="1926808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93"/>
            <p:cNvSpPr/>
            <p:nvPr/>
          </p:nvSpPr>
          <p:spPr>
            <a:xfrm flipH="1" rot="-1802750">
              <a:off x="1180321" y="1623366"/>
              <a:ext cx="1926931" cy="1926931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93"/>
            <p:cNvSpPr/>
            <p:nvPr/>
          </p:nvSpPr>
          <p:spPr>
            <a:xfrm flipH="1" rot="-2700000">
              <a:off x="1178393" y="1623382"/>
              <a:ext cx="1927007" cy="1927007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93"/>
            <p:cNvSpPr/>
            <p:nvPr/>
          </p:nvSpPr>
          <p:spPr>
            <a:xfrm flipH="1" rot="-3598713">
              <a:off x="1174569" y="1623408"/>
              <a:ext cx="1927150" cy="192715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3" name="Google Shape;1633;p93"/>
            <p:cNvSpPr/>
            <p:nvPr/>
          </p:nvSpPr>
          <p:spPr>
            <a:xfrm flipH="1" rot="-4499806">
              <a:off x="1174663" y="1623354"/>
              <a:ext cx="1927196" cy="1927196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4" name="Google Shape;1634;p93"/>
            <p:cNvSpPr/>
            <p:nvPr/>
          </p:nvSpPr>
          <p:spPr>
            <a:xfrm flipH="1" rot="-5400000">
              <a:off x="1174663" y="1623354"/>
              <a:ext cx="1927200" cy="1927200"/>
            </a:xfrm>
            <a:prstGeom prst="pie">
              <a:avLst>
                <a:gd fmla="val 15293500" name="adj1"/>
                <a:gd fmla="val 16225541" name="adj2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5" name="Google Shape;1635;p93"/>
          <p:cNvGrpSpPr/>
          <p:nvPr/>
        </p:nvGrpSpPr>
        <p:grpSpPr>
          <a:xfrm>
            <a:off x="4027707" y="1467887"/>
            <a:ext cx="5231589" cy="3112758"/>
            <a:chOff x="4027707" y="1467887"/>
            <a:chExt cx="5231589" cy="3112758"/>
          </a:xfrm>
        </p:grpSpPr>
        <p:grpSp>
          <p:nvGrpSpPr>
            <p:cNvPr id="1636" name="Google Shape;1636;p93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1637" name="Google Shape;1637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8" name="Google Shape;1638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39" name="Google Shape;1639;p93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1640" name="Google Shape;1640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1" name="Google Shape;1641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42" name="Google Shape;1642;p93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1643" name="Google Shape;1643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4" name="Google Shape;1644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45" name="Google Shape;1645;p93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1646" name="Google Shape;1646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7" name="Google Shape;1647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48" name="Google Shape;1648;p93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1649" name="Google Shape;1649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0" name="Google Shape;1650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51" name="Google Shape;1651;p93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1652" name="Google Shape;1652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3" name="Google Shape;1653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54" name="Google Shape;1654;p93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1655" name="Google Shape;1655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6" name="Google Shape;1656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57" name="Google Shape;1657;p93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1658" name="Google Shape;1658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9" name="Google Shape;1659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0" name="Google Shape;1660;p93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1661" name="Google Shape;1661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2" name="Google Shape;1662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3" name="Google Shape;1663;p93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1664" name="Google Shape;1664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5" name="Google Shape;1665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6" name="Google Shape;1666;p93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1667" name="Google Shape;1667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8" name="Google Shape;1668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9" name="Google Shape;1669;p93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1670" name="Google Shape;1670;p9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1" name="Google Shape;1671;p9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94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94"/>
          <p:cNvSpPr txBox="1"/>
          <p:nvPr>
            <p:ph idx="1" type="body"/>
          </p:nvPr>
        </p:nvSpPr>
        <p:spPr>
          <a:xfrm>
            <a:off x="321949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78" name="Google Shape;1678;p94"/>
          <p:cNvSpPr txBox="1"/>
          <p:nvPr>
            <p:ph idx="1" type="body"/>
          </p:nvPr>
        </p:nvSpPr>
        <p:spPr>
          <a:xfrm>
            <a:off x="324000" y="759300"/>
            <a:ext cx="8496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time the circle is split into more sectors, the new shape becomes more and more like a </a:t>
            </a:r>
            <a:r>
              <a:rPr lang="en-GB" sz="1800">
                <a:solidFill>
                  <a:schemeClr val="accent5"/>
                </a:solidFill>
              </a:rPr>
              <a:t>parallelogram</a:t>
            </a:r>
            <a:r>
              <a:rPr lang="en-GB" sz="1800"/>
              <a:t>.</a:t>
            </a:r>
            <a:endParaRPr/>
          </a:p>
        </p:txBody>
      </p:sp>
      <p:sp>
        <p:nvSpPr>
          <p:cNvPr id="1679" name="Google Shape;167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680" name="Google Shape;1680;p94"/>
          <p:cNvSpPr/>
          <p:nvPr/>
        </p:nvSpPr>
        <p:spPr>
          <a:xfrm rot="10800000">
            <a:off x="1022449" y="1478799"/>
            <a:ext cx="2257200" cy="2256900"/>
          </a:xfrm>
          <a:prstGeom prst="arc">
            <a:avLst>
              <a:gd fmla="val 10833709" name="adj1"/>
              <a:gd fmla="val 3874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triangl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94"/>
          <p:cNvSpPr txBox="1"/>
          <p:nvPr>
            <p:ph idx="1" type="body"/>
          </p:nvPr>
        </p:nvSpPr>
        <p:spPr>
          <a:xfrm>
            <a:off x="4977738" y="3957363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</a:t>
            </a:r>
            <a:r>
              <a:rPr lang="en-GB" sz="2000"/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82" name="Google Shape;1682;p94"/>
          <p:cNvCxnSpPr/>
          <p:nvPr/>
        </p:nvCxnSpPr>
        <p:spPr>
          <a:xfrm flipH="1">
            <a:off x="5375250" y="3685975"/>
            <a:ext cx="79500" cy="29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94"/>
          <p:cNvCxnSpPr/>
          <p:nvPr/>
        </p:nvCxnSpPr>
        <p:spPr>
          <a:xfrm flipH="1">
            <a:off x="1793825" y="3731375"/>
            <a:ext cx="90000" cy="25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4" name="Google Shape;1684;p94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4"/>
          <p:cNvSpPr txBox="1"/>
          <p:nvPr>
            <p:ph idx="1" type="body"/>
          </p:nvPr>
        </p:nvSpPr>
        <p:spPr>
          <a:xfrm>
            <a:off x="716132" y="2907162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686" name="Google Shape;1686;p94"/>
          <p:cNvCxnSpPr/>
          <p:nvPr/>
        </p:nvCxnSpPr>
        <p:spPr>
          <a:xfrm>
            <a:off x="841094" y="2590025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7" name="Google Shape;1687;p94"/>
          <p:cNvCxnSpPr/>
          <p:nvPr/>
        </p:nvCxnSpPr>
        <p:spPr>
          <a:xfrm>
            <a:off x="4803494" y="2568500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88" name="Google Shape;1688;p94"/>
          <p:cNvGrpSpPr/>
          <p:nvPr/>
        </p:nvGrpSpPr>
        <p:grpSpPr>
          <a:xfrm>
            <a:off x="531184" y="972246"/>
            <a:ext cx="3225598" cy="3225598"/>
            <a:chOff x="531184" y="972246"/>
            <a:chExt cx="3225598" cy="3225598"/>
          </a:xfrm>
        </p:grpSpPr>
        <p:grpSp>
          <p:nvGrpSpPr>
            <p:cNvPr id="1689" name="Google Shape;1689;p94"/>
            <p:cNvGrpSpPr/>
            <p:nvPr/>
          </p:nvGrpSpPr>
          <p:grpSpPr>
            <a:xfrm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690" name="Google Shape;1690;p94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691" name="Google Shape;1691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2" name="Google Shape;1692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3" name="Google Shape;1693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4" name="Google Shape;1694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695" name="Google Shape;1695;p94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696" name="Google Shape;1696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7" name="Google Shape;1697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8" name="Google Shape;1698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99" name="Google Shape;1699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00" name="Google Shape;1700;p94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701" name="Google Shape;1701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02" name="Google Shape;1702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03" name="Google Shape;1703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04" name="Google Shape;1704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705" name="Google Shape;1705;p94"/>
            <p:cNvGrpSpPr/>
            <p:nvPr/>
          </p:nvGrpSpPr>
          <p:grpSpPr>
            <a:xfrm flipH="1"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706" name="Google Shape;1706;p94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707" name="Google Shape;1707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08" name="Google Shape;1708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09" name="Google Shape;1709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0" name="Google Shape;1710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11" name="Google Shape;1711;p94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712" name="Google Shape;1712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3" name="Google Shape;1713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4" name="Google Shape;1714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5" name="Google Shape;1715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16" name="Google Shape;1716;p94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717" name="Google Shape;1717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8" name="Google Shape;1718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19" name="Google Shape;1719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20" name="Google Shape;1720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1721" name="Google Shape;1721;p94"/>
          <p:cNvGrpSpPr/>
          <p:nvPr/>
        </p:nvGrpSpPr>
        <p:grpSpPr>
          <a:xfrm flipH="1" rot="10800000">
            <a:off x="531184" y="972246"/>
            <a:ext cx="3225598" cy="3225598"/>
            <a:chOff x="531184" y="972246"/>
            <a:chExt cx="3225598" cy="3225598"/>
          </a:xfrm>
        </p:grpSpPr>
        <p:grpSp>
          <p:nvGrpSpPr>
            <p:cNvPr id="1722" name="Google Shape;1722;p94"/>
            <p:cNvGrpSpPr/>
            <p:nvPr/>
          </p:nvGrpSpPr>
          <p:grpSpPr>
            <a:xfrm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723" name="Google Shape;1723;p94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724" name="Google Shape;1724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25" name="Google Shape;1725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26" name="Google Shape;1726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27" name="Google Shape;1727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28" name="Google Shape;1728;p94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729" name="Google Shape;1729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0" name="Google Shape;1730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1" name="Google Shape;1731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2" name="Google Shape;1732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33" name="Google Shape;1733;p94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734" name="Google Shape;1734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5" name="Google Shape;1735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6" name="Google Shape;1736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37" name="Google Shape;1737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738" name="Google Shape;1738;p94"/>
            <p:cNvGrpSpPr/>
            <p:nvPr/>
          </p:nvGrpSpPr>
          <p:grpSpPr>
            <a:xfrm flipH="1"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739" name="Google Shape;1739;p94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740" name="Google Shape;1740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1" name="Google Shape;1741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2" name="Google Shape;1742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3" name="Google Shape;1743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44" name="Google Shape;1744;p94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745" name="Google Shape;1745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6" name="Google Shape;1746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7" name="Google Shape;1747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48" name="Google Shape;1748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749" name="Google Shape;1749;p94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750" name="Google Shape;1750;p94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51" name="Google Shape;1751;p94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52" name="Google Shape;1752;p94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753" name="Google Shape;1753;p94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1754" name="Google Shape;1754;p94"/>
          <p:cNvGrpSpPr/>
          <p:nvPr/>
        </p:nvGrpSpPr>
        <p:grpSpPr>
          <a:xfrm>
            <a:off x="5038747" y="1423003"/>
            <a:ext cx="3311046" cy="3225321"/>
            <a:chOff x="4039983" y="1423003"/>
            <a:chExt cx="3311046" cy="3225321"/>
          </a:xfrm>
        </p:grpSpPr>
        <p:grpSp>
          <p:nvGrpSpPr>
            <p:cNvPr id="1755" name="Google Shape;1755;p94"/>
            <p:cNvGrpSpPr/>
            <p:nvPr/>
          </p:nvGrpSpPr>
          <p:grpSpPr>
            <a:xfrm>
              <a:off x="4039983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756" name="Google Shape;1756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57" name="Google Shape;1757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58" name="Google Shape;1758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59" name="Google Shape;1759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60" name="Google Shape;1760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61" name="Google Shape;1761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62" name="Google Shape;1762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763" name="Google Shape;1763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64" name="Google Shape;1764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65" name="Google Shape;1765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66" name="Google Shape;1766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67" name="Google Shape;1767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68" name="Google Shape;1768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69" name="Google Shape;1769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  <p:grpSp>
          <p:nvGrpSpPr>
            <p:cNvPr id="1770" name="Google Shape;1770;p94"/>
            <p:cNvGrpSpPr/>
            <p:nvPr/>
          </p:nvGrpSpPr>
          <p:grpSpPr>
            <a:xfrm>
              <a:off x="4595154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771" name="Google Shape;1771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72" name="Google Shape;1772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73" name="Google Shape;1773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74" name="Google Shape;1774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75" name="Google Shape;1775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76" name="Google Shape;1776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77" name="Google Shape;1777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778" name="Google Shape;1778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79" name="Google Shape;1779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80" name="Google Shape;1780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81" name="Google Shape;1781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82" name="Google Shape;1782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83" name="Google Shape;1783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84" name="Google Shape;1784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</p:grpSp>
      <p:grpSp>
        <p:nvGrpSpPr>
          <p:cNvPr id="1785" name="Google Shape;1785;p94"/>
          <p:cNvGrpSpPr/>
          <p:nvPr/>
        </p:nvGrpSpPr>
        <p:grpSpPr>
          <a:xfrm>
            <a:off x="6151131" y="1423003"/>
            <a:ext cx="3311046" cy="3225321"/>
            <a:chOff x="4039983" y="1423003"/>
            <a:chExt cx="3311046" cy="3225321"/>
          </a:xfrm>
        </p:grpSpPr>
        <p:grpSp>
          <p:nvGrpSpPr>
            <p:cNvPr id="1786" name="Google Shape;1786;p94"/>
            <p:cNvGrpSpPr/>
            <p:nvPr/>
          </p:nvGrpSpPr>
          <p:grpSpPr>
            <a:xfrm>
              <a:off x="4039983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787" name="Google Shape;1787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88" name="Google Shape;1788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89" name="Google Shape;1789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90" name="Google Shape;1790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91" name="Google Shape;1791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92" name="Google Shape;1792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93" name="Google Shape;1793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794" name="Google Shape;1794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795" name="Google Shape;1795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96" name="Google Shape;1796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97" name="Google Shape;1797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798" name="Google Shape;1798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799" name="Google Shape;1799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00" name="Google Shape;1800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  <p:grpSp>
          <p:nvGrpSpPr>
            <p:cNvPr id="1801" name="Google Shape;1801;p94"/>
            <p:cNvGrpSpPr/>
            <p:nvPr/>
          </p:nvGrpSpPr>
          <p:grpSpPr>
            <a:xfrm>
              <a:off x="4595154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802" name="Google Shape;1802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03" name="Google Shape;1803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04" name="Google Shape;1804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05" name="Google Shape;1805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06" name="Google Shape;1806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07" name="Google Shape;1807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08" name="Google Shape;1808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809" name="Google Shape;1809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10" name="Google Shape;1810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11" name="Google Shape;1811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12" name="Google Shape;1812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13" name="Google Shape;1813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14" name="Google Shape;1814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15" name="Google Shape;1815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</p:grpSp>
      <p:grpSp>
        <p:nvGrpSpPr>
          <p:cNvPr id="1816" name="Google Shape;1816;p94"/>
          <p:cNvGrpSpPr/>
          <p:nvPr/>
        </p:nvGrpSpPr>
        <p:grpSpPr>
          <a:xfrm>
            <a:off x="3929765" y="1423003"/>
            <a:ext cx="3311046" cy="3225321"/>
            <a:chOff x="4039983" y="1423003"/>
            <a:chExt cx="3311046" cy="3225321"/>
          </a:xfrm>
        </p:grpSpPr>
        <p:grpSp>
          <p:nvGrpSpPr>
            <p:cNvPr id="1817" name="Google Shape;1817;p94"/>
            <p:cNvGrpSpPr/>
            <p:nvPr/>
          </p:nvGrpSpPr>
          <p:grpSpPr>
            <a:xfrm>
              <a:off x="4039983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818" name="Google Shape;1818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19" name="Google Shape;1819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20" name="Google Shape;1820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21" name="Google Shape;1821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22" name="Google Shape;1822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23" name="Google Shape;1823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24" name="Google Shape;1824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825" name="Google Shape;1825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26" name="Google Shape;1826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27" name="Google Shape;1827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28" name="Google Shape;1828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29" name="Google Shape;1829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30" name="Google Shape;1830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31" name="Google Shape;1831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  <p:grpSp>
          <p:nvGrpSpPr>
            <p:cNvPr id="1832" name="Google Shape;1832;p94"/>
            <p:cNvGrpSpPr/>
            <p:nvPr/>
          </p:nvGrpSpPr>
          <p:grpSpPr>
            <a:xfrm>
              <a:off x="4595154" y="1423003"/>
              <a:ext cx="2755875" cy="3225321"/>
              <a:chOff x="4039983" y="1423003"/>
              <a:chExt cx="2755875" cy="3225321"/>
            </a:xfrm>
          </p:grpSpPr>
          <p:grpSp>
            <p:nvGrpSpPr>
              <p:cNvPr id="1833" name="Google Shape;1833;p94"/>
              <p:cNvGrpSpPr/>
              <p:nvPr/>
            </p:nvGrpSpPr>
            <p:grpSpPr>
              <a:xfrm>
                <a:off x="4039983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34" name="Google Shape;1834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35" name="Google Shape;1835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36" name="Google Shape;1836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37" name="Google Shape;1837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38" name="Google Shape;1838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39" name="Google Shape;1839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grpSp>
            <p:nvGrpSpPr>
              <p:cNvPr id="1840" name="Google Shape;1840;p94"/>
              <p:cNvGrpSpPr/>
              <p:nvPr/>
            </p:nvGrpSpPr>
            <p:grpSpPr>
              <a:xfrm>
                <a:off x="4317569" y="1423003"/>
                <a:ext cx="2478289" cy="3225321"/>
                <a:chOff x="4039983" y="1423003"/>
                <a:chExt cx="2478289" cy="3225321"/>
              </a:xfrm>
            </p:grpSpPr>
            <p:grpSp>
              <p:nvGrpSpPr>
                <p:cNvPr id="1841" name="Google Shape;1841;p94"/>
                <p:cNvGrpSpPr/>
                <p:nvPr/>
              </p:nvGrpSpPr>
              <p:grpSpPr>
                <a:xfrm>
                  <a:off x="4039983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42" name="Google Shape;1842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43" name="Google Shape;1843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  <p:grpSp>
              <p:nvGrpSpPr>
                <p:cNvPr id="1844" name="Google Shape;1844;p94"/>
                <p:cNvGrpSpPr/>
                <p:nvPr/>
              </p:nvGrpSpPr>
              <p:grpSpPr>
                <a:xfrm>
                  <a:off x="4178776" y="1423003"/>
                  <a:ext cx="2339496" cy="3225321"/>
                  <a:chOff x="4039983" y="1423003"/>
                  <a:chExt cx="2339496" cy="3225321"/>
                </a:xfrm>
              </p:grpSpPr>
              <p:sp>
                <p:nvSpPr>
                  <p:cNvPr id="1845" name="Google Shape;1845;p94"/>
                  <p:cNvSpPr/>
                  <p:nvPr/>
                </p:nvSpPr>
                <p:spPr>
                  <a:xfrm rot="684158">
                    <a:off x="4280861" y="2549705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accent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46" name="Google Shape;1846;p94"/>
                  <p:cNvSpPr/>
                  <p:nvPr/>
                </p:nvSpPr>
                <p:spPr>
                  <a:xfrm flipH="1" rot="10115842">
                    <a:off x="4211464" y="1594484"/>
                    <a:ext cx="1927138" cy="1927138"/>
                  </a:xfrm>
                  <a:prstGeom prst="pie">
                    <a:avLst>
                      <a:gd fmla="val 15293500" name="adj1"/>
                      <a:gd fmla="val 15757993" name="adj2"/>
                    </a:avLst>
                  </a:prstGeom>
                  <a:solidFill>
                    <a:schemeClr val="lt1"/>
                  </a:solidFill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</p:grpSp>
      </p:grpSp>
      <p:cxnSp>
        <p:nvCxnSpPr>
          <p:cNvPr id="1847" name="Google Shape;1847;p94"/>
          <p:cNvCxnSpPr/>
          <p:nvPr/>
        </p:nvCxnSpPr>
        <p:spPr>
          <a:xfrm>
            <a:off x="5004382" y="3653675"/>
            <a:ext cx="3344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8" name="Google Shape;1848;p94"/>
          <p:cNvSpPr txBox="1"/>
          <p:nvPr>
            <p:ph idx="1" type="body"/>
          </p:nvPr>
        </p:nvSpPr>
        <p:spPr>
          <a:xfrm>
            <a:off x="4658121" y="2885636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95"/>
          <p:cNvSpPr/>
          <p:nvPr/>
        </p:nvSpPr>
        <p:spPr>
          <a:xfrm>
            <a:off x="1170187" y="1618693"/>
            <a:ext cx="1939800" cy="193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95"/>
          <p:cNvSpPr txBox="1"/>
          <p:nvPr>
            <p:ph idx="1" type="body"/>
          </p:nvPr>
        </p:nvSpPr>
        <p:spPr>
          <a:xfrm>
            <a:off x="321949" y="3982429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=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55" name="Google Shape;1855;p95"/>
          <p:cNvSpPr txBox="1"/>
          <p:nvPr>
            <p:ph idx="1" type="body"/>
          </p:nvPr>
        </p:nvSpPr>
        <p:spPr>
          <a:xfrm>
            <a:off x="4334025" y="766104"/>
            <a:ext cx="4495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 of parallelogram = base × height</a:t>
            </a:r>
            <a:endParaRPr sz="2300"/>
          </a:p>
        </p:txBody>
      </p:sp>
      <p:sp>
        <p:nvSpPr>
          <p:cNvPr id="1856" name="Google Shape;185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1857" name="Google Shape;1857;p95"/>
          <p:cNvSpPr/>
          <p:nvPr/>
        </p:nvSpPr>
        <p:spPr>
          <a:xfrm rot="10800000">
            <a:off x="1022449" y="1478799"/>
            <a:ext cx="2257200" cy="2256900"/>
          </a:xfrm>
          <a:prstGeom prst="arc">
            <a:avLst>
              <a:gd fmla="val 10833709" name="adj1"/>
              <a:gd fmla="val 3874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triangl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95"/>
          <p:cNvSpPr txBox="1"/>
          <p:nvPr>
            <p:ph idx="1" type="body"/>
          </p:nvPr>
        </p:nvSpPr>
        <p:spPr>
          <a:xfrm>
            <a:off x="4977738" y="3982429"/>
            <a:ext cx="3822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half of the circumference 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859" name="Google Shape;1859;p95"/>
          <p:cNvCxnSpPr/>
          <p:nvPr/>
        </p:nvCxnSpPr>
        <p:spPr>
          <a:xfrm flipH="1">
            <a:off x="5375250" y="3685975"/>
            <a:ext cx="79500" cy="29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95"/>
          <p:cNvCxnSpPr/>
          <p:nvPr/>
        </p:nvCxnSpPr>
        <p:spPr>
          <a:xfrm flipH="1">
            <a:off x="1793825" y="3731375"/>
            <a:ext cx="90000" cy="25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1" name="Google Shape;1861;p95"/>
          <p:cNvSpPr/>
          <p:nvPr/>
        </p:nvSpPr>
        <p:spPr>
          <a:xfrm>
            <a:off x="4079989" y="2408925"/>
            <a:ext cx="3999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5"/>
          <p:cNvSpPr txBox="1"/>
          <p:nvPr>
            <p:ph idx="1" type="body"/>
          </p:nvPr>
        </p:nvSpPr>
        <p:spPr>
          <a:xfrm>
            <a:off x="716132" y="2907162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863" name="Google Shape;1863;p95"/>
          <p:cNvCxnSpPr/>
          <p:nvPr/>
        </p:nvCxnSpPr>
        <p:spPr>
          <a:xfrm>
            <a:off x="841094" y="2590025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4" name="Google Shape;1864;p95"/>
          <p:cNvCxnSpPr/>
          <p:nvPr/>
        </p:nvCxnSpPr>
        <p:spPr>
          <a:xfrm>
            <a:off x="4803494" y="2568500"/>
            <a:ext cx="16200" cy="9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865" name="Google Shape;1865;p95"/>
          <p:cNvGrpSpPr/>
          <p:nvPr/>
        </p:nvGrpSpPr>
        <p:grpSpPr>
          <a:xfrm>
            <a:off x="531184" y="972246"/>
            <a:ext cx="3225598" cy="3225598"/>
            <a:chOff x="531184" y="972246"/>
            <a:chExt cx="3225598" cy="3225598"/>
          </a:xfrm>
        </p:grpSpPr>
        <p:grpSp>
          <p:nvGrpSpPr>
            <p:cNvPr id="1866" name="Google Shape;1866;p95"/>
            <p:cNvGrpSpPr/>
            <p:nvPr/>
          </p:nvGrpSpPr>
          <p:grpSpPr>
            <a:xfrm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867" name="Google Shape;1867;p95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868" name="Google Shape;1868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69" name="Google Shape;1869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0" name="Google Shape;1870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1" name="Google Shape;1871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872" name="Google Shape;1872;p95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873" name="Google Shape;1873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4" name="Google Shape;1874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5" name="Google Shape;1875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6" name="Google Shape;1876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877" name="Google Shape;1877;p95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878" name="Google Shape;1878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79" name="Google Shape;1879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80" name="Google Shape;1880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81" name="Google Shape;1881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882" name="Google Shape;1882;p95"/>
            <p:cNvGrpSpPr/>
            <p:nvPr/>
          </p:nvGrpSpPr>
          <p:grpSpPr>
            <a:xfrm flipH="1"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883" name="Google Shape;1883;p95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884" name="Google Shape;1884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85" name="Google Shape;1885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86" name="Google Shape;1886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87" name="Google Shape;1887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888" name="Google Shape;1888;p95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889" name="Google Shape;1889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0" name="Google Shape;1890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1" name="Google Shape;1891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2" name="Google Shape;1892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893" name="Google Shape;1893;p95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894" name="Google Shape;1894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5" name="Google Shape;1895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6" name="Google Shape;1896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897" name="Google Shape;1897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accent5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1898" name="Google Shape;1898;p95"/>
          <p:cNvGrpSpPr/>
          <p:nvPr/>
        </p:nvGrpSpPr>
        <p:grpSpPr>
          <a:xfrm flipH="1" rot="10800000">
            <a:off x="531184" y="972246"/>
            <a:ext cx="3225598" cy="3225598"/>
            <a:chOff x="531184" y="972246"/>
            <a:chExt cx="3225598" cy="3225598"/>
          </a:xfrm>
        </p:grpSpPr>
        <p:grpSp>
          <p:nvGrpSpPr>
            <p:cNvPr id="1899" name="Google Shape;1899;p95"/>
            <p:cNvGrpSpPr/>
            <p:nvPr/>
          </p:nvGrpSpPr>
          <p:grpSpPr>
            <a:xfrm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900" name="Google Shape;1900;p95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901" name="Google Shape;1901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2" name="Google Shape;1902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3" name="Google Shape;1903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4" name="Google Shape;1904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905" name="Google Shape;1905;p95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906" name="Google Shape;1906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7" name="Google Shape;1907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8" name="Google Shape;1908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09" name="Google Shape;1909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910" name="Google Shape;1910;p95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911" name="Google Shape;1911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2" name="Google Shape;1912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3" name="Google Shape;1913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4" name="Google Shape;1914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915" name="Google Shape;1915;p95"/>
            <p:cNvGrpSpPr/>
            <p:nvPr/>
          </p:nvGrpSpPr>
          <p:grpSpPr>
            <a:xfrm flipH="1">
              <a:off x="531184" y="972246"/>
              <a:ext cx="3225598" cy="3225598"/>
              <a:chOff x="531184" y="972246"/>
              <a:chExt cx="3225598" cy="3225598"/>
            </a:xfrm>
          </p:grpSpPr>
          <p:grpSp>
            <p:nvGrpSpPr>
              <p:cNvPr id="1916" name="Google Shape;1916;p95"/>
              <p:cNvGrpSpPr/>
              <p:nvPr/>
            </p:nvGrpSpPr>
            <p:grpSpPr>
              <a:xfrm>
                <a:off x="963474" y="1404591"/>
                <a:ext cx="2361000" cy="2361000"/>
                <a:chOff x="963474" y="1408181"/>
                <a:chExt cx="2361000" cy="2361000"/>
              </a:xfrm>
            </p:grpSpPr>
            <p:sp>
              <p:nvSpPr>
                <p:cNvPr id="1917" name="Google Shape;1917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8" name="Google Shape;1918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19" name="Google Shape;1919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0" name="Google Shape;1920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921" name="Google Shape;1921;p95"/>
              <p:cNvGrpSpPr/>
              <p:nvPr/>
            </p:nvGrpSpPr>
            <p:grpSpPr>
              <a:xfrm rot="1799574">
                <a:off x="963576" y="1404604"/>
                <a:ext cx="2361034" cy="2361034"/>
                <a:chOff x="963474" y="1408181"/>
                <a:chExt cx="2361000" cy="2361000"/>
              </a:xfrm>
            </p:grpSpPr>
            <p:sp>
              <p:nvSpPr>
                <p:cNvPr id="1922" name="Google Shape;1922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3" name="Google Shape;1923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4" name="Google Shape;1924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5" name="Google Shape;1925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926" name="Google Shape;1926;p95"/>
              <p:cNvGrpSpPr/>
              <p:nvPr/>
            </p:nvGrpSpPr>
            <p:grpSpPr>
              <a:xfrm rot="3598422">
                <a:off x="963477" y="1404539"/>
                <a:ext cx="2361012" cy="2361012"/>
                <a:chOff x="963474" y="1408181"/>
                <a:chExt cx="2361000" cy="2361000"/>
              </a:xfrm>
            </p:grpSpPr>
            <p:sp>
              <p:nvSpPr>
                <p:cNvPr id="1927" name="Google Shape;1927;p95"/>
                <p:cNvSpPr/>
                <p:nvPr/>
              </p:nvSpPr>
              <p:spPr>
                <a:xfrm flipH="1" rot="-450869">
                  <a:off x="1180340" y="1625272"/>
                  <a:ext cx="1926949" cy="1926949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8" name="Google Shape;1928;p95"/>
                <p:cNvSpPr/>
                <p:nvPr/>
              </p:nvSpPr>
              <p:spPr>
                <a:xfrm flipH="1">
                  <a:off x="1180389" y="1625272"/>
                  <a:ext cx="1926900" cy="1926900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29" name="Google Shape;1929;p95"/>
                <p:cNvSpPr/>
                <p:nvPr/>
              </p:nvSpPr>
              <p:spPr>
                <a:xfrm flipH="1" rot="453592">
                  <a:off x="1180479" y="1625322"/>
                  <a:ext cx="1926848" cy="1926848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930" name="Google Shape;1930;p95"/>
                <p:cNvSpPr/>
                <p:nvPr/>
              </p:nvSpPr>
              <p:spPr>
                <a:xfrm flipH="1" rot="903195">
                  <a:off x="1180617" y="1625324"/>
                  <a:ext cx="1926715" cy="1926715"/>
                </a:xfrm>
                <a:prstGeom prst="pie">
                  <a:avLst>
                    <a:gd fmla="val 15293500" name="adj1"/>
                    <a:gd fmla="val 15757993" name="adj2"/>
                  </a:avLst>
                </a:prstGeom>
                <a:solidFill>
                  <a:schemeClr val="lt1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1931" name="Google Shape;1931;p95"/>
          <p:cNvGrpSpPr/>
          <p:nvPr/>
        </p:nvGrpSpPr>
        <p:grpSpPr>
          <a:xfrm>
            <a:off x="3929765" y="1423003"/>
            <a:ext cx="5532413" cy="3225321"/>
            <a:chOff x="3929765" y="1423003"/>
            <a:chExt cx="5532413" cy="3225321"/>
          </a:xfrm>
        </p:grpSpPr>
        <p:grpSp>
          <p:nvGrpSpPr>
            <p:cNvPr id="1932" name="Google Shape;1932;p95"/>
            <p:cNvGrpSpPr/>
            <p:nvPr/>
          </p:nvGrpSpPr>
          <p:grpSpPr>
            <a:xfrm>
              <a:off x="5038747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1933" name="Google Shape;1933;p95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1934" name="Google Shape;1934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35" name="Google Shape;1935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36" name="Google Shape;1936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37" name="Google Shape;1937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38" name="Google Shape;1938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39" name="Google Shape;1939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40" name="Google Shape;1940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1941" name="Google Shape;1941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42" name="Google Shape;1942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43" name="Google Shape;1943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44" name="Google Shape;1944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45" name="Google Shape;1945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46" name="Google Shape;1946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47" name="Google Shape;1947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1948" name="Google Shape;1948;p95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1949" name="Google Shape;1949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50" name="Google Shape;1950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51" name="Google Shape;1951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52" name="Google Shape;1952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53" name="Google Shape;1953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54" name="Google Shape;1954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55" name="Google Shape;1955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1956" name="Google Shape;1956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57" name="Google Shape;1957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58" name="Google Shape;1958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59" name="Google Shape;1959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60" name="Google Shape;1960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61" name="Google Shape;1961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62" name="Google Shape;1962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1963" name="Google Shape;1963;p95"/>
            <p:cNvGrpSpPr/>
            <p:nvPr/>
          </p:nvGrpSpPr>
          <p:grpSpPr>
            <a:xfrm>
              <a:off x="6151131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1964" name="Google Shape;1964;p95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1965" name="Google Shape;1965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66" name="Google Shape;1966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67" name="Google Shape;1967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68" name="Google Shape;1968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69" name="Google Shape;1969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70" name="Google Shape;1970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71" name="Google Shape;1971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1972" name="Google Shape;1972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73" name="Google Shape;1973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74" name="Google Shape;1974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75" name="Google Shape;1975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76" name="Google Shape;1976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77" name="Google Shape;1977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78" name="Google Shape;1978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1979" name="Google Shape;1979;p95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1980" name="Google Shape;1980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81" name="Google Shape;1981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82" name="Google Shape;1982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83" name="Google Shape;1983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84" name="Google Shape;1984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85" name="Google Shape;1985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86" name="Google Shape;1986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1987" name="Google Shape;1987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88" name="Google Shape;1988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89" name="Google Shape;1989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90" name="Google Shape;1990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1991" name="Google Shape;1991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92" name="Google Shape;1992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93" name="Google Shape;1993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1994" name="Google Shape;1994;p95"/>
            <p:cNvGrpSpPr/>
            <p:nvPr/>
          </p:nvGrpSpPr>
          <p:grpSpPr>
            <a:xfrm>
              <a:off x="3929765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1995" name="Google Shape;1995;p95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1996" name="Google Shape;1996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1997" name="Google Shape;1997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1998" name="Google Shape;1998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1999" name="Google Shape;1999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00" name="Google Shape;2000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01" name="Google Shape;2001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02" name="Google Shape;2002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003" name="Google Shape;2003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004" name="Google Shape;2004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05" name="Google Shape;2005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06" name="Google Shape;2006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07" name="Google Shape;2007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08" name="Google Shape;2008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09" name="Google Shape;2009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010" name="Google Shape;2010;p95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011" name="Google Shape;2011;p95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012" name="Google Shape;2012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13" name="Google Shape;2013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14" name="Google Shape;2014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15" name="Google Shape;2015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16" name="Google Shape;2016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17" name="Google Shape;2017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018" name="Google Shape;2018;p95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019" name="Google Shape;2019;p95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20" name="Google Shape;2020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21" name="Google Shape;2021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22" name="Google Shape;2022;p95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023" name="Google Shape;2023;p95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24" name="Google Shape;2024;p95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</p:grpSp>
      <p:cxnSp>
        <p:nvCxnSpPr>
          <p:cNvPr id="2025" name="Google Shape;2025;p95"/>
          <p:cNvCxnSpPr/>
          <p:nvPr/>
        </p:nvCxnSpPr>
        <p:spPr>
          <a:xfrm>
            <a:off x="5004382" y="3653675"/>
            <a:ext cx="3344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6" name="Google Shape;2026;p95"/>
          <p:cNvSpPr txBox="1"/>
          <p:nvPr>
            <p:ph idx="1" type="body"/>
          </p:nvPr>
        </p:nvSpPr>
        <p:spPr>
          <a:xfrm>
            <a:off x="7382121" y="1143418"/>
            <a:ext cx="2730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100"/>
              <a:t> </a:t>
            </a:r>
            <a:endParaRPr sz="2100"/>
          </a:p>
        </p:txBody>
      </p:sp>
      <p:sp>
        <p:nvSpPr>
          <p:cNvPr id="2027" name="Google Shape;2027;p95"/>
          <p:cNvSpPr txBox="1"/>
          <p:nvPr>
            <p:ph idx="1" type="body"/>
          </p:nvPr>
        </p:nvSpPr>
        <p:spPr>
          <a:xfrm>
            <a:off x="4658121" y="2885636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028" name="Google Shape;2028;p95"/>
          <p:cNvSpPr txBox="1"/>
          <p:nvPr>
            <p:ph idx="1" type="body"/>
          </p:nvPr>
        </p:nvSpPr>
        <p:spPr>
          <a:xfrm>
            <a:off x="7783436" y="1181121"/>
            <a:ext cx="193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×</a:t>
            </a:r>
            <a:endParaRPr sz="2300"/>
          </a:p>
        </p:txBody>
      </p:sp>
      <p:sp>
        <p:nvSpPr>
          <p:cNvPr id="2029" name="Google Shape;2029;p95"/>
          <p:cNvSpPr txBox="1"/>
          <p:nvPr>
            <p:ph idx="1" type="body"/>
          </p:nvPr>
        </p:nvSpPr>
        <p:spPr>
          <a:xfrm>
            <a:off x="6723465" y="1162061"/>
            <a:ext cx="4704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900"/>
              <a:t> = </a:t>
            </a:r>
            <a:endParaRPr sz="2300"/>
          </a:p>
        </p:txBody>
      </p:sp>
      <p:sp>
        <p:nvSpPr>
          <p:cNvPr id="2030" name="Google Shape;2030;p95"/>
          <p:cNvSpPr txBox="1"/>
          <p:nvPr>
            <p:ph idx="1" type="body"/>
          </p:nvPr>
        </p:nvSpPr>
        <p:spPr>
          <a:xfrm>
            <a:off x="8067921" y="1143418"/>
            <a:ext cx="2730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100"/>
              <a:t> </a:t>
            </a:r>
            <a:endParaRPr sz="2100"/>
          </a:p>
        </p:txBody>
      </p:sp>
      <p:sp>
        <p:nvSpPr>
          <p:cNvPr id="2031" name="Google Shape;2031;p95"/>
          <p:cNvSpPr txBox="1"/>
          <p:nvPr>
            <p:ph idx="1" type="body"/>
          </p:nvPr>
        </p:nvSpPr>
        <p:spPr>
          <a:xfrm>
            <a:off x="322639" y="745693"/>
            <a:ext cx="4495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 of circle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900"/>
              <a:t> × radius</a:t>
            </a:r>
            <a:r>
              <a:rPr baseline="30000" lang="en-GB" sz="1900"/>
              <a:t>2</a:t>
            </a:r>
            <a:endParaRPr baseline="30000" sz="2300"/>
          </a:p>
        </p:txBody>
      </p:sp>
      <p:sp>
        <p:nvSpPr>
          <p:cNvPr id="2032" name="Google Shape;2032;p95"/>
          <p:cNvSpPr txBox="1"/>
          <p:nvPr>
            <p:ph idx="1" type="body"/>
          </p:nvPr>
        </p:nvSpPr>
        <p:spPr>
          <a:xfrm>
            <a:off x="1687436" y="1160704"/>
            <a:ext cx="9207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900"/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endParaRPr baseline="30000" sz="2300"/>
          </a:p>
        </p:txBody>
      </p:sp>
      <p:sp>
        <p:nvSpPr>
          <p:cNvPr id="2033" name="Google Shape;2033;p95"/>
          <p:cNvSpPr txBox="1"/>
          <p:nvPr>
            <p:ph idx="1" type="body"/>
          </p:nvPr>
        </p:nvSpPr>
        <p:spPr>
          <a:xfrm>
            <a:off x="6723470" y="1619250"/>
            <a:ext cx="13446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900"/>
              <a:t> =  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1900"/>
              <a:t> </a:t>
            </a:r>
            <a:endParaRPr sz="2300"/>
          </a:p>
        </p:txBody>
      </p:sp>
      <p:cxnSp>
        <p:nvCxnSpPr>
          <p:cNvPr id="2034" name="Google Shape;2034;p95"/>
          <p:cNvCxnSpPr/>
          <p:nvPr/>
        </p:nvCxnSpPr>
        <p:spPr>
          <a:xfrm>
            <a:off x="7164225" y="1065050"/>
            <a:ext cx="551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95"/>
          <p:cNvCxnSpPr/>
          <p:nvPr/>
        </p:nvCxnSpPr>
        <p:spPr>
          <a:xfrm>
            <a:off x="8078625" y="4265450"/>
            <a:ext cx="2490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95"/>
          <p:cNvCxnSpPr/>
          <p:nvPr/>
        </p:nvCxnSpPr>
        <p:spPr>
          <a:xfrm>
            <a:off x="8002425" y="1065050"/>
            <a:ext cx="699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95"/>
          <p:cNvCxnSpPr/>
          <p:nvPr/>
        </p:nvCxnSpPr>
        <p:spPr>
          <a:xfrm>
            <a:off x="4619675" y="3183675"/>
            <a:ext cx="1470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2" name="Google Shape;2042;p96"/>
          <p:cNvGrpSpPr/>
          <p:nvPr/>
        </p:nvGrpSpPr>
        <p:grpSpPr>
          <a:xfrm>
            <a:off x="5774328" y="2278347"/>
            <a:ext cx="1253340" cy="904191"/>
            <a:chOff x="4926092" y="3522501"/>
            <a:chExt cx="1139503" cy="822066"/>
          </a:xfrm>
        </p:grpSpPr>
        <p:cxnSp>
          <p:nvCxnSpPr>
            <p:cNvPr id="2043" name="Google Shape;2043;p96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44" name="Google Shape;2044;p96"/>
            <p:cNvCxnSpPr/>
            <p:nvPr/>
          </p:nvCxnSpPr>
          <p:spPr>
            <a:xfrm>
              <a:off x="4939995" y="4337068"/>
              <a:ext cx="1125600" cy="75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45" name="Google Shape;2045;p96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046" name="Google Shape;2046;p96"/>
          <p:cNvGrpSpPr/>
          <p:nvPr/>
        </p:nvGrpSpPr>
        <p:grpSpPr>
          <a:xfrm>
            <a:off x="927245" y="2241740"/>
            <a:ext cx="894129" cy="898804"/>
            <a:chOff x="4926092" y="3522501"/>
            <a:chExt cx="812919" cy="817169"/>
          </a:xfrm>
        </p:grpSpPr>
        <p:cxnSp>
          <p:nvCxnSpPr>
            <p:cNvPr id="2047" name="Google Shape;2047;p96"/>
            <p:cNvCxnSpPr/>
            <p:nvPr/>
          </p:nvCxnSpPr>
          <p:spPr>
            <a:xfrm rot="10800000">
              <a:off x="5043459" y="4235331"/>
              <a:ext cx="0" cy="9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8" name="Google Shape;2048;p96"/>
            <p:cNvCxnSpPr/>
            <p:nvPr/>
          </p:nvCxnSpPr>
          <p:spPr>
            <a:xfrm>
              <a:off x="4967368" y="4235334"/>
              <a:ext cx="86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9" name="Google Shape;2049;p96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50" name="Google Shape;2050;p96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51" name="Google Shape;2051;p96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052" name="Google Shape;2052;p96"/>
          <p:cNvGrpSpPr/>
          <p:nvPr/>
        </p:nvGrpSpPr>
        <p:grpSpPr>
          <a:xfrm>
            <a:off x="5479978" y="797443"/>
            <a:ext cx="2965615" cy="2965615"/>
            <a:chOff x="9141784" y="972246"/>
            <a:chExt cx="3225598" cy="3225598"/>
          </a:xfrm>
        </p:grpSpPr>
        <p:grpSp>
          <p:nvGrpSpPr>
            <p:cNvPr id="2053" name="Google Shape;2053;p96"/>
            <p:cNvGrpSpPr/>
            <p:nvPr/>
          </p:nvGrpSpPr>
          <p:grpSpPr>
            <a:xfrm>
              <a:off x="9141784" y="972246"/>
              <a:ext cx="3225598" cy="3225598"/>
              <a:chOff x="9141784" y="972246"/>
              <a:chExt cx="3225598" cy="3225598"/>
            </a:xfrm>
          </p:grpSpPr>
          <p:grpSp>
            <p:nvGrpSpPr>
              <p:cNvPr id="2054" name="Google Shape;2054;p96"/>
              <p:cNvGrpSpPr/>
              <p:nvPr/>
            </p:nvGrpSpPr>
            <p:grpSpPr>
              <a:xfrm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055" name="Google Shape;2055;p96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056" name="Google Shape;2056;p96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057" name="Google Shape;2057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58" name="Google Shape;2058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59" name="Google Shape;2059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0" name="Google Shape;2060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61" name="Google Shape;2061;p96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062" name="Google Shape;2062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3" name="Google Shape;2063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4" name="Google Shape;2064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5" name="Google Shape;2065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66" name="Google Shape;2066;p96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067" name="Google Shape;2067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8" name="Google Shape;2068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69" name="Google Shape;2069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70" name="Google Shape;2070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071" name="Google Shape;2071;p96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072" name="Google Shape;2072;p96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073" name="Google Shape;2073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74" name="Google Shape;2074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75" name="Google Shape;2075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76" name="Google Shape;2076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77" name="Google Shape;2077;p96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078" name="Google Shape;2078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79" name="Google Shape;2079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80" name="Google Shape;2080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81" name="Google Shape;2081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82" name="Google Shape;2082;p96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083" name="Google Shape;2083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84" name="Google Shape;2084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85" name="Google Shape;2085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86" name="Google Shape;2086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087" name="Google Shape;2087;p96"/>
              <p:cNvGrpSpPr/>
              <p:nvPr/>
            </p:nvGrpSpPr>
            <p:grpSpPr>
              <a:xfrm flipH="1" rot="10800000"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088" name="Google Shape;2088;p96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089" name="Google Shape;2089;p96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090" name="Google Shape;2090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1" name="Google Shape;2091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2" name="Google Shape;2092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3" name="Google Shape;2093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94" name="Google Shape;2094;p96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095" name="Google Shape;2095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6" name="Google Shape;2096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7" name="Google Shape;2097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098" name="Google Shape;2098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099" name="Google Shape;2099;p96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100" name="Google Shape;2100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1" name="Google Shape;2101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2" name="Google Shape;2102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3" name="Google Shape;2103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04" name="Google Shape;2104;p96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105" name="Google Shape;2105;p96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106" name="Google Shape;2106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7" name="Google Shape;2107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8" name="Google Shape;2108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09" name="Google Shape;2109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10" name="Google Shape;2110;p96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111" name="Google Shape;2111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2" name="Google Shape;2112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3" name="Google Shape;2113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4" name="Google Shape;2114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15" name="Google Shape;2115;p96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116" name="Google Shape;2116;p96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7" name="Google Shape;2117;p96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8" name="Google Shape;2118;p96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19" name="Google Shape;2119;p96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sp>
          <p:nvSpPr>
            <p:cNvPr id="2120" name="Google Shape;2120;p96"/>
            <p:cNvSpPr/>
            <p:nvPr/>
          </p:nvSpPr>
          <p:spPr>
            <a:xfrm>
              <a:off x="9780787" y="1618693"/>
              <a:ext cx="1939800" cy="19398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1" name="Google Shape;212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grpSp>
        <p:nvGrpSpPr>
          <p:cNvPr id="2122" name="Google Shape;2122;p96"/>
          <p:cNvGrpSpPr/>
          <p:nvPr/>
        </p:nvGrpSpPr>
        <p:grpSpPr>
          <a:xfrm>
            <a:off x="307048" y="1211869"/>
            <a:ext cx="5086500" cy="2965361"/>
            <a:chOff x="3929765" y="1423003"/>
            <a:chExt cx="5532413" cy="3225321"/>
          </a:xfrm>
        </p:grpSpPr>
        <p:grpSp>
          <p:nvGrpSpPr>
            <p:cNvPr id="2123" name="Google Shape;2123;p96"/>
            <p:cNvGrpSpPr/>
            <p:nvPr/>
          </p:nvGrpSpPr>
          <p:grpSpPr>
            <a:xfrm>
              <a:off x="5038747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124" name="Google Shape;2124;p96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125" name="Google Shape;2125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26" name="Google Shape;2126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27" name="Google Shape;2127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28" name="Google Shape;2128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29" name="Google Shape;2129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30" name="Google Shape;2130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31" name="Google Shape;2131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32" name="Google Shape;2132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33" name="Google Shape;2133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34" name="Google Shape;2134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35" name="Google Shape;2135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36" name="Google Shape;2136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37" name="Google Shape;2137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38" name="Google Shape;2138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139" name="Google Shape;2139;p96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140" name="Google Shape;2140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41" name="Google Shape;2141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42" name="Google Shape;2142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43" name="Google Shape;2143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44" name="Google Shape;2144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45" name="Google Shape;2145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46" name="Google Shape;2146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47" name="Google Shape;2147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48" name="Google Shape;2148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49" name="Google Shape;2149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50" name="Google Shape;2150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51" name="Google Shape;2151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52" name="Google Shape;2152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53" name="Google Shape;2153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154" name="Google Shape;2154;p96"/>
            <p:cNvGrpSpPr/>
            <p:nvPr/>
          </p:nvGrpSpPr>
          <p:grpSpPr>
            <a:xfrm>
              <a:off x="6151131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155" name="Google Shape;2155;p96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156" name="Google Shape;2156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57" name="Google Shape;2157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58" name="Google Shape;2158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59" name="Google Shape;2159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60" name="Google Shape;2160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61" name="Google Shape;2161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62" name="Google Shape;2162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63" name="Google Shape;2163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64" name="Google Shape;2164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65" name="Google Shape;2165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66" name="Google Shape;2166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67" name="Google Shape;2167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68" name="Google Shape;2168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69" name="Google Shape;2169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170" name="Google Shape;2170;p96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171" name="Google Shape;2171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72" name="Google Shape;2172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73" name="Google Shape;2173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74" name="Google Shape;2174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75" name="Google Shape;2175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76" name="Google Shape;2176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77" name="Google Shape;2177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78" name="Google Shape;2178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79" name="Google Shape;2179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80" name="Google Shape;2180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81" name="Google Shape;2181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82" name="Google Shape;2182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83" name="Google Shape;2183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84" name="Google Shape;2184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185" name="Google Shape;2185;p96"/>
            <p:cNvGrpSpPr/>
            <p:nvPr/>
          </p:nvGrpSpPr>
          <p:grpSpPr>
            <a:xfrm>
              <a:off x="3929765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186" name="Google Shape;2186;p96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187" name="Google Shape;2187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88" name="Google Shape;2188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89" name="Google Shape;2189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90" name="Google Shape;2190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91" name="Google Shape;2191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92" name="Google Shape;2192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93" name="Google Shape;2193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194" name="Google Shape;2194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195" name="Google Shape;2195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96" name="Google Shape;2196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197" name="Google Shape;2197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198" name="Google Shape;2198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199" name="Google Shape;2199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00" name="Google Shape;2200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201" name="Google Shape;2201;p96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202" name="Google Shape;2202;p96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03" name="Google Shape;2203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04" name="Google Shape;2204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05" name="Google Shape;2205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06" name="Google Shape;2206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07" name="Google Shape;2207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08" name="Google Shape;2208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209" name="Google Shape;2209;p96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10" name="Google Shape;2210;p96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11" name="Google Shape;2211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12" name="Google Shape;2212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13" name="Google Shape;2213;p96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14" name="Google Shape;2214;p96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15" name="Google Shape;2215;p96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</p:grpSp>
      <p:cxnSp>
        <p:nvCxnSpPr>
          <p:cNvPr id="2216" name="Google Shape;2216;p96"/>
          <p:cNvCxnSpPr/>
          <p:nvPr/>
        </p:nvCxnSpPr>
        <p:spPr>
          <a:xfrm>
            <a:off x="1295269" y="3262912"/>
            <a:ext cx="307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17" name="Google Shape;2217;p96"/>
          <p:cNvSpPr txBox="1"/>
          <p:nvPr>
            <p:ph idx="1" type="body"/>
          </p:nvPr>
        </p:nvSpPr>
        <p:spPr>
          <a:xfrm>
            <a:off x="363649" y="2563367"/>
            <a:ext cx="5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218" name="Google Shape;2218;p96"/>
          <p:cNvSpPr txBox="1"/>
          <p:nvPr>
            <p:ph idx="1" type="body"/>
          </p:nvPr>
        </p:nvSpPr>
        <p:spPr>
          <a:xfrm>
            <a:off x="322650" y="745700"/>
            <a:ext cx="8497500" cy="8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area of this parallelogram is equal to the area of the circle.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Find the area of each shape.</a:t>
            </a:r>
            <a:endParaRPr baseline="30000" sz="2000"/>
          </a:p>
        </p:txBody>
      </p:sp>
      <p:sp>
        <p:nvSpPr>
          <p:cNvPr id="2219" name="Google Shape;2219;p96"/>
          <p:cNvSpPr txBox="1"/>
          <p:nvPr>
            <p:ph idx="1" type="body"/>
          </p:nvPr>
        </p:nvSpPr>
        <p:spPr>
          <a:xfrm>
            <a:off x="2563606" y="3277255"/>
            <a:ext cx="764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220" name="Google Shape;2220;p96"/>
          <p:cNvSpPr txBox="1"/>
          <p:nvPr>
            <p:ph idx="1" type="body"/>
          </p:nvPr>
        </p:nvSpPr>
        <p:spPr>
          <a:xfrm>
            <a:off x="5221906" y="2570867"/>
            <a:ext cx="5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221" name="Google Shape;2221;p96"/>
          <p:cNvSpPr txBox="1"/>
          <p:nvPr>
            <p:ph idx="1" type="body"/>
          </p:nvPr>
        </p:nvSpPr>
        <p:spPr>
          <a:xfrm>
            <a:off x="2946050" y="4082953"/>
            <a:ext cx="17715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=   3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900"/>
              <a:t>×   3</a:t>
            </a:r>
            <a:r>
              <a:rPr lang="en-GB" sz="1900"/>
              <a:t> </a:t>
            </a:r>
            <a:endParaRPr sz="1900"/>
          </a:p>
        </p:txBody>
      </p:sp>
      <p:sp>
        <p:nvSpPr>
          <p:cNvPr id="2222" name="Google Shape;2222;p96"/>
          <p:cNvSpPr/>
          <p:nvPr/>
        </p:nvSpPr>
        <p:spPr>
          <a:xfrm>
            <a:off x="1294113" y="2242930"/>
            <a:ext cx="3125100" cy="898800"/>
          </a:xfrm>
          <a:prstGeom prst="parallelogram">
            <a:avLst>
              <a:gd fmla="val 628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96"/>
          <p:cNvSpPr txBox="1"/>
          <p:nvPr>
            <p:ph idx="1" type="body"/>
          </p:nvPr>
        </p:nvSpPr>
        <p:spPr>
          <a:xfrm>
            <a:off x="327999" y="3737904"/>
            <a:ext cx="4495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 of parallelogram = base × height</a:t>
            </a:r>
            <a:endParaRPr sz="2300"/>
          </a:p>
        </p:txBody>
      </p:sp>
      <p:sp>
        <p:nvSpPr>
          <p:cNvPr id="2224" name="Google Shape;2224;p96"/>
          <p:cNvSpPr txBox="1"/>
          <p:nvPr>
            <p:ph idx="1" type="body"/>
          </p:nvPr>
        </p:nvSpPr>
        <p:spPr>
          <a:xfrm>
            <a:off x="5402744" y="3699468"/>
            <a:ext cx="31311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 of circle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900"/>
              <a:t> × radius</a:t>
            </a:r>
            <a:r>
              <a:rPr baseline="30000" lang="en-GB" sz="1900"/>
              <a:t>2</a:t>
            </a:r>
            <a:endParaRPr baseline="30000" sz="2300"/>
          </a:p>
        </p:txBody>
      </p:sp>
      <p:sp>
        <p:nvSpPr>
          <p:cNvPr id="2225" name="Google Shape;2225;p96"/>
          <p:cNvSpPr txBox="1"/>
          <p:nvPr>
            <p:ph idx="1" type="body"/>
          </p:nvPr>
        </p:nvSpPr>
        <p:spPr>
          <a:xfrm>
            <a:off x="2946050" y="4471224"/>
            <a:ext cx="7362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=  9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sp>
        <p:nvSpPr>
          <p:cNvPr id="2226" name="Google Shape;2226;p96"/>
          <p:cNvSpPr txBox="1"/>
          <p:nvPr>
            <p:ph idx="1" type="body"/>
          </p:nvPr>
        </p:nvSpPr>
        <p:spPr>
          <a:xfrm>
            <a:off x="6999192" y="4082953"/>
            <a:ext cx="17715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=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/>
              <a:t>×</a:t>
            </a:r>
            <a:r>
              <a:rPr lang="en-GB" sz="2000"/>
              <a:t> </a:t>
            </a:r>
            <a:r>
              <a:rPr lang="en-GB" sz="1900"/>
              <a:t>3</a:t>
            </a:r>
            <a:r>
              <a:rPr baseline="30000" lang="en-GB" sz="1900"/>
              <a:t>2</a:t>
            </a:r>
            <a:r>
              <a:rPr lang="en-GB" sz="1900"/>
              <a:t> </a:t>
            </a:r>
            <a:endParaRPr sz="2300"/>
          </a:p>
        </p:txBody>
      </p:sp>
      <p:sp>
        <p:nvSpPr>
          <p:cNvPr id="2227" name="Google Shape;2227;p96"/>
          <p:cNvSpPr txBox="1"/>
          <p:nvPr>
            <p:ph idx="1" type="body"/>
          </p:nvPr>
        </p:nvSpPr>
        <p:spPr>
          <a:xfrm>
            <a:off x="6999192" y="4471224"/>
            <a:ext cx="7362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= 9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sp>
        <p:nvSpPr>
          <p:cNvPr id="2228" name="Google Shape;2228;p96"/>
          <p:cNvSpPr txBox="1"/>
          <p:nvPr>
            <p:ph idx="1" type="body"/>
          </p:nvPr>
        </p:nvSpPr>
        <p:spPr>
          <a:xfrm>
            <a:off x="3622659" y="4492837"/>
            <a:ext cx="5112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cm</a:t>
            </a:r>
            <a:r>
              <a:rPr baseline="30000" lang="en-GB" sz="1900"/>
              <a:t>2</a:t>
            </a:r>
            <a:endParaRPr/>
          </a:p>
        </p:txBody>
      </p:sp>
      <p:sp>
        <p:nvSpPr>
          <p:cNvPr id="2229" name="Google Shape;2229;p96"/>
          <p:cNvSpPr txBox="1"/>
          <p:nvPr>
            <p:ph idx="1" type="body"/>
          </p:nvPr>
        </p:nvSpPr>
        <p:spPr>
          <a:xfrm>
            <a:off x="7599601" y="4492837"/>
            <a:ext cx="5112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cm</a:t>
            </a:r>
            <a:r>
              <a:rPr baseline="30000" lang="en-GB" sz="1900"/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4" name="Google Shape;2234;p97"/>
          <p:cNvGrpSpPr/>
          <p:nvPr/>
        </p:nvGrpSpPr>
        <p:grpSpPr>
          <a:xfrm>
            <a:off x="1299293" y="1606772"/>
            <a:ext cx="1148898" cy="817169"/>
            <a:chOff x="4926092" y="3522501"/>
            <a:chExt cx="812919" cy="817169"/>
          </a:xfrm>
        </p:grpSpPr>
        <p:cxnSp>
          <p:nvCxnSpPr>
            <p:cNvPr id="2235" name="Google Shape;2235;p97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36" name="Google Shape;2236;p97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37" name="Google Shape;2237;p97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238" name="Google Shape;2238;p97"/>
          <p:cNvGrpSpPr/>
          <p:nvPr/>
        </p:nvGrpSpPr>
        <p:grpSpPr>
          <a:xfrm>
            <a:off x="4849892" y="1617501"/>
            <a:ext cx="812919" cy="817169"/>
            <a:chOff x="4926092" y="3522501"/>
            <a:chExt cx="812919" cy="817169"/>
          </a:xfrm>
        </p:grpSpPr>
        <p:cxnSp>
          <p:nvCxnSpPr>
            <p:cNvPr id="2239" name="Google Shape;2239;p97"/>
            <p:cNvCxnSpPr/>
            <p:nvPr/>
          </p:nvCxnSpPr>
          <p:spPr>
            <a:xfrm rot="10800000">
              <a:off x="5043459" y="4235331"/>
              <a:ext cx="0" cy="9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0" name="Google Shape;2240;p97"/>
            <p:cNvCxnSpPr/>
            <p:nvPr/>
          </p:nvCxnSpPr>
          <p:spPr>
            <a:xfrm>
              <a:off x="4967368" y="4235334"/>
              <a:ext cx="86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1" name="Google Shape;2241;p97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42" name="Google Shape;2242;p97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43" name="Google Shape;2243;p97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244" name="Google Shape;2244;p97"/>
          <p:cNvSpPr txBox="1"/>
          <p:nvPr>
            <p:ph idx="1" type="body"/>
          </p:nvPr>
        </p:nvSpPr>
        <p:spPr>
          <a:xfrm>
            <a:off x="4259122" y="191075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245" name="Google Shape;2245;p97"/>
          <p:cNvSpPr txBox="1"/>
          <p:nvPr>
            <p:ph idx="1" type="body"/>
          </p:nvPr>
        </p:nvSpPr>
        <p:spPr>
          <a:xfrm>
            <a:off x="324000" y="7593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area of the circle </a:t>
            </a:r>
            <a:r>
              <a:rPr lang="en-GB" sz="1900"/>
              <a:t>is equal</a:t>
            </a:r>
            <a:r>
              <a:rPr lang="en-GB" sz="1900"/>
              <a:t> to the area of the parallelogram. </a:t>
            </a:r>
            <a:endParaRPr/>
          </a:p>
        </p:txBody>
      </p:sp>
      <p:sp>
        <p:nvSpPr>
          <p:cNvPr id="2246" name="Google Shape;224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2247" name="Google Shape;2247;p97"/>
          <p:cNvSpPr txBox="1"/>
          <p:nvPr>
            <p:ph idx="1" type="body"/>
          </p:nvPr>
        </p:nvSpPr>
        <p:spPr>
          <a:xfrm>
            <a:off x="724121" y="188526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248" name="Google Shape;2248;p97"/>
          <p:cNvSpPr/>
          <p:nvPr/>
        </p:nvSpPr>
        <p:spPr>
          <a:xfrm>
            <a:off x="5243419" y="1623301"/>
            <a:ext cx="2808000" cy="807600"/>
          </a:xfrm>
          <a:prstGeom prst="parallelogram">
            <a:avLst>
              <a:gd fmla="val 628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9" name="Google Shape;2249;p97"/>
          <p:cNvGrpSpPr/>
          <p:nvPr/>
        </p:nvGrpSpPr>
        <p:grpSpPr>
          <a:xfrm>
            <a:off x="4356803" y="696967"/>
            <a:ext cx="4570879" cy="2664761"/>
            <a:chOff x="3929765" y="1423003"/>
            <a:chExt cx="5532413" cy="3225321"/>
          </a:xfrm>
        </p:grpSpPr>
        <p:grpSp>
          <p:nvGrpSpPr>
            <p:cNvPr id="2250" name="Google Shape;2250;p97"/>
            <p:cNvGrpSpPr/>
            <p:nvPr/>
          </p:nvGrpSpPr>
          <p:grpSpPr>
            <a:xfrm>
              <a:off x="5038747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251" name="Google Shape;2251;p97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252" name="Google Shape;2252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53" name="Google Shape;2253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54" name="Google Shape;2254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55" name="Google Shape;2255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56" name="Google Shape;2256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57" name="Google Shape;2257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58" name="Google Shape;2258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259" name="Google Shape;2259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60" name="Google Shape;2260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61" name="Google Shape;2261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62" name="Google Shape;2262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63" name="Google Shape;2263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64" name="Google Shape;2264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65" name="Google Shape;2265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266" name="Google Shape;2266;p97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267" name="Google Shape;2267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68" name="Google Shape;2268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69" name="Google Shape;2269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70" name="Google Shape;2270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71" name="Google Shape;2271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72" name="Google Shape;2272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73" name="Google Shape;2273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274" name="Google Shape;2274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75" name="Google Shape;2275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76" name="Google Shape;2276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77" name="Google Shape;2277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78" name="Google Shape;2278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79" name="Google Shape;2279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80" name="Google Shape;2280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281" name="Google Shape;2281;p97"/>
            <p:cNvGrpSpPr/>
            <p:nvPr/>
          </p:nvGrpSpPr>
          <p:grpSpPr>
            <a:xfrm>
              <a:off x="6151131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282" name="Google Shape;2282;p97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283" name="Google Shape;2283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84" name="Google Shape;2284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85" name="Google Shape;2285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86" name="Google Shape;2286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87" name="Google Shape;2287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88" name="Google Shape;2288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89" name="Google Shape;2289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290" name="Google Shape;2290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91" name="Google Shape;2291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92" name="Google Shape;2292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93" name="Google Shape;2293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294" name="Google Shape;2294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295" name="Google Shape;2295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296" name="Google Shape;2296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297" name="Google Shape;2297;p97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298" name="Google Shape;2298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299" name="Google Shape;2299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00" name="Google Shape;2300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01" name="Google Shape;2301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02" name="Google Shape;2302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03" name="Google Shape;2303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04" name="Google Shape;2304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305" name="Google Shape;2305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306" name="Google Shape;2306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07" name="Google Shape;2307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08" name="Google Shape;2308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09" name="Google Shape;2309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10" name="Google Shape;2310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11" name="Google Shape;2311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312" name="Google Shape;2312;p97"/>
            <p:cNvGrpSpPr/>
            <p:nvPr/>
          </p:nvGrpSpPr>
          <p:grpSpPr>
            <a:xfrm>
              <a:off x="3929765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313" name="Google Shape;2313;p97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314" name="Google Shape;2314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315" name="Google Shape;2315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16" name="Google Shape;2316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17" name="Google Shape;2317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18" name="Google Shape;2318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19" name="Google Shape;2319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20" name="Google Shape;2320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321" name="Google Shape;2321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322" name="Google Shape;2322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23" name="Google Shape;2323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24" name="Google Shape;2324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25" name="Google Shape;2325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26" name="Google Shape;2326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27" name="Google Shape;2327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328" name="Google Shape;2328;p97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329" name="Google Shape;2329;p97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330" name="Google Shape;2330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31" name="Google Shape;2331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32" name="Google Shape;2332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33" name="Google Shape;2333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34" name="Google Shape;2334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35" name="Google Shape;2335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336" name="Google Shape;2336;p97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337" name="Google Shape;2337;p97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38" name="Google Shape;2338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39" name="Google Shape;2339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40" name="Google Shape;2340;p97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341" name="Google Shape;2341;p97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42" name="Google Shape;2342;p97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2343" name="Google Shape;2343;p97"/>
          <p:cNvGrpSpPr/>
          <p:nvPr/>
        </p:nvGrpSpPr>
        <p:grpSpPr>
          <a:xfrm>
            <a:off x="1108902" y="1080037"/>
            <a:ext cx="2664989" cy="2664989"/>
            <a:chOff x="9141784" y="972246"/>
            <a:chExt cx="3225598" cy="3225598"/>
          </a:xfrm>
        </p:grpSpPr>
        <p:grpSp>
          <p:nvGrpSpPr>
            <p:cNvPr id="2344" name="Google Shape;2344;p97"/>
            <p:cNvGrpSpPr/>
            <p:nvPr/>
          </p:nvGrpSpPr>
          <p:grpSpPr>
            <a:xfrm>
              <a:off x="9141784" y="972246"/>
              <a:ext cx="3225598" cy="3225598"/>
              <a:chOff x="9141784" y="972246"/>
              <a:chExt cx="3225598" cy="3225598"/>
            </a:xfrm>
          </p:grpSpPr>
          <p:grpSp>
            <p:nvGrpSpPr>
              <p:cNvPr id="2345" name="Google Shape;2345;p97"/>
              <p:cNvGrpSpPr/>
              <p:nvPr/>
            </p:nvGrpSpPr>
            <p:grpSpPr>
              <a:xfrm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346" name="Google Shape;2346;p97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347" name="Google Shape;2347;p97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348" name="Google Shape;2348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49" name="Google Shape;2349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0" name="Google Shape;2350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1" name="Google Shape;2351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52" name="Google Shape;2352;p97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353" name="Google Shape;2353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4" name="Google Shape;2354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5" name="Google Shape;2355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6" name="Google Shape;2356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57" name="Google Shape;2357;p97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358" name="Google Shape;2358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59" name="Google Shape;2359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60" name="Google Shape;2360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61" name="Google Shape;2361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362" name="Google Shape;2362;p97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363" name="Google Shape;2363;p97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364" name="Google Shape;2364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65" name="Google Shape;2365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66" name="Google Shape;2366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67" name="Google Shape;2367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68" name="Google Shape;2368;p97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369" name="Google Shape;2369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0" name="Google Shape;2370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1" name="Google Shape;2371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2" name="Google Shape;2372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73" name="Google Shape;2373;p97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374" name="Google Shape;2374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5" name="Google Shape;2375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6" name="Google Shape;2376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77" name="Google Shape;2377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378" name="Google Shape;2378;p97"/>
              <p:cNvGrpSpPr/>
              <p:nvPr/>
            </p:nvGrpSpPr>
            <p:grpSpPr>
              <a:xfrm flipH="1" rot="10800000"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379" name="Google Shape;2379;p97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380" name="Google Shape;2380;p97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381" name="Google Shape;2381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2" name="Google Shape;2382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3" name="Google Shape;2383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4" name="Google Shape;2384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85" name="Google Shape;2385;p97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386" name="Google Shape;2386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7" name="Google Shape;2387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8" name="Google Shape;2388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89" name="Google Shape;2389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390" name="Google Shape;2390;p97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391" name="Google Shape;2391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92" name="Google Shape;2392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93" name="Google Shape;2393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94" name="Google Shape;2394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395" name="Google Shape;2395;p97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396" name="Google Shape;2396;p97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397" name="Google Shape;2397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98" name="Google Shape;2398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399" name="Google Shape;2399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0" name="Google Shape;2400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01" name="Google Shape;2401;p97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402" name="Google Shape;2402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3" name="Google Shape;2403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4" name="Google Shape;2404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5" name="Google Shape;2405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06" name="Google Shape;2406;p97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407" name="Google Shape;2407;p97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8" name="Google Shape;2408;p97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09" name="Google Shape;2409;p97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10" name="Google Shape;2410;p97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sp>
          <p:nvSpPr>
            <p:cNvPr id="2411" name="Google Shape;2411;p97"/>
            <p:cNvSpPr/>
            <p:nvPr/>
          </p:nvSpPr>
          <p:spPr>
            <a:xfrm>
              <a:off x="9780787" y="1618693"/>
              <a:ext cx="1939800" cy="19398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2" name="Google Shape;2412;p97"/>
          <p:cNvSpPr txBox="1"/>
          <p:nvPr>
            <p:ph idx="1" type="body"/>
          </p:nvPr>
        </p:nvSpPr>
        <p:spPr>
          <a:xfrm>
            <a:off x="324000" y="3771350"/>
            <a:ext cx="63306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circumference of the circle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900"/>
              <a:t>? </a:t>
            </a:r>
            <a:endParaRPr/>
          </a:p>
        </p:txBody>
      </p:sp>
      <p:cxnSp>
        <p:nvCxnSpPr>
          <p:cNvPr id="2413" name="Google Shape;2413;p97"/>
          <p:cNvCxnSpPr>
            <a:stCxn id="2414" idx="1"/>
          </p:cNvCxnSpPr>
          <p:nvPr/>
        </p:nvCxnSpPr>
        <p:spPr>
          <a:xfrm rot="10800000">
            <a:off x="2788202" y="3184658"/>
            <a:ext cx="231600" cy="5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5" name="Google Shape;2415;p97"/>
          <p:cNvSpPr txBox="1"/>
          <p:nvPr>
            <p:ph idx="1" type="body"/>
          </p:nvPr>
        </p:nvSpPr>
        <p:spPr>
          <a:xfrm>
            <a:off x="4002500" y="4334400"/>
            <a:ext cx="10719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6" name="Google Shape;2416;p97"/>
          <p:cNvSpPr txBox="1"/>
          <p:nvPr>
            <p:ph idx="1" type="body"/>
          </p:nvPr>
        </p:nvSpPr>
        <p:spPr>
          <a:xfrm>
            <a:off x="3061215" y="3101858"/>
            <a:ext cx="8520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1" name="Google Shape;2421;p98"/>
          <p:cNvGrpSpPr/>
          <p:nvPr/>
        </p:nvGrpSpPr>
        <p:grpSpPr>
          <a:xfrm>
            <a:off x="1299293" y="1606772"/>
            <a:ext cx="1148898" cy="817169"/>
            <a:chOff x="4926092" y="3522501"/>
            <a:chExt cx="812919" cy="817169"/>
          </a:xfrm>
        </p:grpSpPr>
        <p:cxnSp>
          <p:nvCxnSpPr>
            <p:cNvPr id="2422" name="Google Shape;2422;p98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23" name="Google Shape;2423;p98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24" name="Google Shape;2424;p98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425" name="Google Shape;2425;p98"/>
          <p:cNvGrpSpPr/>
          <p:nvPr/>
        </p:nvGrpSpPr>
        <p:grpSpPr>
          <a:xfrm>
            <a:off x="4849892" y="1617501"/>
            <a:ext cx="812919" cy="817169"/>
            <a:chOff x="4926092" y="3522501"/>
            <a:chExt cx="812919" cy="817169"/>
          </a:xfrm>
        </p:grpSpPr>
        <p:cxnSp>
          <p:nvCxnSpPr>
            <p:cNvPr id="2426" name="Google Shape;2426;p98"/>
            <p:cNvCxnSpPr/>
            <p:nvPr/>
          </p:nvCxnSpPr>
          <p:spPr>
            <a:xfrm rot="10800000">
              <a:off x="5043459" y="4235331"/>
              <a:ext cx="0" cy="9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7" name="Google Shape;2427;p98"/>
            <p:cNvCxnSpPr/>
            <p:nvPr/>
          </p:nvCxnSpPr>
          <p:spPr>
            <a:xfrm>
              <a:off x="4967368" y="4235334"/>
              <a:ext cx="86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8" name="Google Shape;2428;p98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29" name="Google Shape;2429;p98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30" name="Google Shape;2430;p98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31" name="Google Shape;2431;p98"/>
          <p:cNvSpPr txBox="1"/>
          <p:nvPr>
            <p:ph idx="1" type="body"/>
          </p:nvPr>
        </p:nvSpPr>
        <p:spPr>
          <a:xfrm>
            <a:off x="4259122" y="191075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432" name="Google Shape;2432;p98"/>
          <p:cNvSpPr txBox="1"/>
          <p:nvPr>
            <p:ph idx="1" type="body"/>
          </p:nvPr>
        </p:nvSpPr>
        <p:spPr>
          <a:xfrm>
            <a:off x="324000" y="7593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area of the circle </a:t>
            </a:r>
            <a:r>
              <a:rPr lang="en-GB" sz="1900"/>
              <a:t>is equal</a:t>
            </a:r>
            <a:r>
              <a:rPr lang="en-GB" sz="1900"/>
              <a:t> to the area of the parallelogram. </a:t>
            </a:r>
            <a:endParaRPr/>
          </a:p>
        </p:txBody>
      </p:sp>
      <p:sp>
        <p:nvSpPr>
          <p:cNvPr id="2433" name="Google Shape;2433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2434" name="Google Shape;2434;p98"/>
          <p:cNvSpPr txBox="1"/>
          <p:nvPr>
            <p:ph idx="1" type="body"/>
          </p:nvPr>
        </p:nvSpPr>
        <p:spPr>
          <a:xfrm>
            <a:off x="724121" y="188526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435" name="Google Shape;2435;p98"/>
          <p:cNvSpPr/>
          <p:nvPr/>
        </p:nvSpPr>
        <p:spPr>
          <a:xfrm>
            <a:off x="5243419" y="1623301"/>
            <a:ext cx="2808000" cy="807600"/>
          </a:xfrm>
          <a:prstGeom prst="parallelogram">
            <a:avLst>
              <a:gd fmla="val 628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6" name="Google Shape;2436;p98"/>
          <p:cNvGrpSpPr/>
          <p:nvPr/>
        </p:nvGrpSpPr>
        <p:grpSpPr>
          <a:xfrm>
            <a:off x="4356803" y="696967"/>
            <a:ext cx="4570879" cy="2664761"/>
            <a:chOff x="3929765" y="1423003"/>
            <a:chExt cx="5532413" cy="3225321"/>
          </a:xfrm>
        </p:grpSpPr>
        <p:grpSp>
          <p:nvGrpSpPr>
            <p:cNvPr id="2437" name="Google Shape;2437;p98"/>
            <p:cNvGrpSpPr/>
            <p:nvPr/>
          </p:nvGrpSpPr>
          <p:grpSpPr>
            <a:xfrm>
              <a:off x="5038747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438" name="Google Shape;2438;p98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439" name="Google Shape;2439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40" name="Google Shape;2440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41" name="Google Shape;2441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42" name="Google Shape;2442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43" name="Google Shape;2443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44" name="Google Shape;2444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45" name="Google Shape;2445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446" name="Google Shape;2446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47" name="Google Shape;2447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48" name="Google Shape;2448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49" name="Google Shape;2449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50" name="Google Shape;2450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51" name="Google Shape;2451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52" name="Google Shape;2452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453" name="Google Shape;2453;p98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454" name="Google Shape;2454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55" name="Google Shape;2455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56" name="Google Shape;2456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57" name="Google Shape;2457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58" name="Google Shape;2458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59" name="Google Shape;2459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60" name="Google Shape;2460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461" name="Google Shape;2461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62" name="Google Shape;2462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63" name="Google Shape;2463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64" name="Google Shape;2464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65" name="Google Shape;2465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66" name="Google Shape;2466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67" name="Google Shape;2467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468" name="Google Shape;2468;p98"/>
            <p:cNvGrpSpPr/>
            <p:nvPr/>
          </p:nvGrpSpPr>
          <p:grpSpPr>
            <a:xfrm>
              <a:off x="6151131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469" name="Google Shape;2469;p98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470" name="Google Shape;2470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71" name="Google Shape;2471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72" name="Google Shape;2472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73" name="Google Shape;2473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74" name="Google Shape;2474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75" name="Google Shape;2475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76" name="Google Shape;2476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477" name="Google Shape;2477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78" name="Google Shape;2478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79" name="Google Shape;2479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80" name="Google Shape;2480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81" name="Google Shape;2481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82" name="Google Shape;2482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83" name="Google Shape;2483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484" name="Google Shape;2484;p98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485" name="Google Shape;2485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86" name="Google Shape;2486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87" name="Google Shape;2487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88" name="Google Shape;2488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89" name="Google Shape;2489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90" name="Google Shape;2490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91" name="Google Shape;2491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492" name="Google Shape;2492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493" name="Google Shape;2493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94" name="Google Shape;2494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95" name="Google Shape;2495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496" name="Google Shape;2496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497" name="Google Shape;2497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498" name="Google Shape;2498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499" name="Google Shape;2499;p98"/>
            <p:cNvGrpSpPr/>
            <p:nvPr/>
          </p:nvGrpSpPr>
          <p:grpSpPr>
            <a:xfrm>
              <a:off x="3929765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500" name="Google Shape;2500;p98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501" name="Google Shape;2501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502" name="Google Shape;2502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03" name="Google Shape;2503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04" name="Google Shape;2504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05" name="Google Shape;2505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06" name="Google Shape;2506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07" name="Google Shape;2507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508" name="Google Shape;2508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509" name="Google Shape;2509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10" name="Google Shape;2510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11" name="Google Shape;2511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12" name="Google Shape;2512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13" name="Google Shape;2513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14" name="Google Shape;2514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515" name="Google Shape;2515;p98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516" name="Google Shape;2516;p98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517" name="Google Shape;2517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18" name="Google Shape;2518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19" name="Google Shape;2519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20" name="Google Shape;2520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21" name="Google Shape;2521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22" name="Google Shape;2522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523" name="Google Shape;2523;p98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524" name="Google Shape;2524;p98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25" name="Google Shape;2525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26" name="Google Shape;2526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27" name="Google Shape;2527;p98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528" name="Google Shape;2528;p98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29" name="Google Shape;2529;p98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2530" name="Google Shape;2530;p98"/>
          <p:cNvGrpSpPr/>
          <p:nvPr/>
        </p:nvGrpSpPr>
        <p:grpSpPr>
          <a:xfrm>
            <a:off x="1108902" y="1080037"/>
            <a:ext cx="2664989" cy="2664989"/>
            <a:chOff x="9141784" y="972246"/>
            <a:chExt cx="3225598" cy="3225598"/>
          </a:xfrm>
        </p:grpSpPr>
        <p:grpSp>
          <p:nvGrpSpPr>
            <p:cNvPr id="2531" name="Google Shape;2531;p98"/>
            <p:cNvGrpSpPr/>
            <p:nvPr/>
          </p:nvGrpSpPr>
          <p:grpSpPr>
            <a:xfrm>
              <a:off x="9141784" y="972246"/>
              <a:ext cx="3225598" cy="3225598"/>
              <a:chOff x="9141784" y="972246"/>
              <a:chExt cx="3225598" cy="3225598"/>
            </a:xfrm>
          </p:grpSpPr>
          <p:grpSp>
            <p:nvGrpSpPr>
              <p:cNvPr id="2532" name="Google Shape;2532;p98"/>
              <p:cNvGrpSpPr/>
              <p:nvPr/>
            </p:nvGrpSpPr>
            <p:grpSpPr>
              <a:xfrm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533" name="Google Shape;2533;p98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534" name="Google Shape;2534;p98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535" name="Google Shape;2535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36" name="Google Shape;2536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37" name="Google Shape;2537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38" name="Google Shape;2538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39" name="Google Shape;2539;p98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540" name="Google Shape;2540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1" name="Google Shape;2541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2" name="Google Shape;2542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3" name="Google Shape;2543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44" name="Google Shape;2544;p98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545" name="Google Shape;2545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6" name="Google Shape;2546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7" name="Google Shape;2547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48" name="Google Shape;2548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549" name="Google Shape;2549;p98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550" name="Google Shape;2550;p98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551" name="Google Shape;2551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2" name="Google Shape;2552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3" name="Google Shape;2553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4" name="Google Shape;2554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55" name="Google Shape;2555;p98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556" name="Google Shape;2556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7" name="Google Shape;2557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8" name="Google Shape;2558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59" name="Google Shape;2559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60" name="Google Shape;2560;p98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561" name="Google Shape;2561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62" name="Google Shape;2562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63" name="Google Shape;2563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64" name="Google Shape;2564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565" name="Google Shape;2565;p98"/>
              <p:cNvGrpSpPr/>
              <p:nvPr/>
            </p:nvGrpSpPr>
            <p:grpSpPr>
              <a:xfrm flipH="1" rot="10800000"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566" name="Google Shape;2566;p98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567" name="Google Shape;2567;p98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568" name="Google Shape;2568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69" name="Google Shape;2569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0" name="Google Shape;2570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1" name="Google Shape;2571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72" name="Google Shape;2572;p98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573" name="Google Shape;2573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4" name="Google Shape;2574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5" name="Google Shape;2575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6" name="Google Shape;2576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77" name="Google Shape;2577;p98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578" name="Google Shape;2578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79" name="Google Shape;2579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80" name="Google Shape;2580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81" name="Google Shape;2581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582" name="Google Shape;2582;p98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583" name="Google Shape;2583;p98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584" name="Google Shape;2584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85" name="Google Shape;2585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86" name="Google Shape;2586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87" name="Google Shape;2587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88" name="Google Shape;2588;p98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589" name="Google Shape;2589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0" name="Google Shape;2590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1" name="Google Shape;2591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2" name="Google Shape;2592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593" name="Google Shape;2593;p98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594" name="Google Shape;2594;p98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5" name="Google Shape;2595;p98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6" name="Google Shape;2596;p98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597" name="Google Shape;2597;p98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sp>
          <p:nvSpPr>
            <p:cNvPr id="2598" name="Google Shape;2598;p98"/>
            <p:cNvSpPr/>
            <p:nvPr/>
          </p:nvSpPr>
          <p:spPr>
            <a:xfrm>
              <a:off x="9780787" y="1618693"/>
              <a:ext cx="1939800" cy="19398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9" name="Google Shape;2599;p98"/>
          <p:cNvSpPr txBox="1"/>
          <p:nvPr>
            <p:ph idx="1" type="body"/>
          </p:nvPr>
        </p:nvSpPr>
        <p:spPr>
          <a:xfrm>
            <a:off x="324000" y="3771350"/>
            <a:ext cx="5674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long is the base of the parallelogram?</a:t>
            </a:r>
            <a:endParaRPr/>
          </a:p>
        </p:txBody>
      </p:sp>
      <p:sp>
        <p:nvSpPr>
          <p:cNvPr id="2600" name="Google Shape;2600;p98"/>
          <p:cNvSpPr txBox="1"/>
          <p:nvPr>
            <p:ph idx="1" type="body"/>
          </p:nvPr>
        </p:nvSpPr>
        <p:spPr>
          <a:xfrm>
            <a:off x="3019802" y="3101858"/>
            <a:ext cx="8520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 </a:t>
            </a:r>
            <a:endParaRPr sz="1800"/>
          </a:p>
        </p:txBody>
      </p:sp>
      <p:cxnSp>
        <p:nvCxnSpPr>
          <p:cNvPr id="2601" name="Google Shape;2601;p98"/>
          <p:cNvCxnSpPr>
            <a:stCxn id="2600" idx="1"/>
          </p:cNvCxnSpPr>
          <p:nvPr/>
        </p:nvCxnSpPr>
        <p:spPr>
          <a:xfrm rot="10800000">
            <a:off x="2788202" y="3184658"/>
            <a:ext cx="231600" cy="5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2" name="Google Shape;2602;p98"/>
          <p:cNvCxnSpPr/>
          <p:nvPr/>
        </p:nvCxnSpPr>
        <p:spPr>
          <a:xfrm>
            <a:off x="5244458" y="2539797"/>
            <a:ext cx="276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03" name="Google Shape;2603;p98"/>
          <p:cNvSpPr txBox="1"/>
          <p:nvPr>
            <p:ph idx="1" type="body"/>
          </p:nvPr>
        </p:nvSpPr>
        <p:spPr>
          <a:xfrm>
            <a:off x="6596249" y="2552675"/>
            <a:ext cx="3624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604" name="Google Shape;2604;p98"/>
          <p:cNvSpPr txBox="1"/>
          <p:nvPr>
            <p:ph idx="1" type="body"/>
          </p:nvPr>
        </p:nvSpPr>
        <p:spPr>
          <a:xfrm>
            <a:off x="3926300" y="4334400"/>
            <a:ext cx="9162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9" name="Google Shape;2609;p99"/>
          <p:cNvGrpSpPr/>
          <p:nvPr/>
        </p:nvGrpSpPr>
        <p:grpSpPr>
          <a:xfrm>
            <a:off x="1299293" y="1606772"/>
            <a:ext cx="1148898" cy="817169"/>
            <a:chOff x="4926092" y="3522501"/>
            <a:chExt cx="812919" cy="817169"/>
          </a:xfrm>
        </p:grpSpPr>
        <p:cxnSp>
          <p:nvCxnSpPr>
            <p:cNvPr id="2610" name="Google Shape;2610;p99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11" name="Google Shape;2611;p99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12" name="Google Shape;2612;p99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613" name="Google Shape;2613;p99"/>
          <p:cNvGrpSpPr/>
          <p:nvPr/>
        </p:nvGrpSpPr>
        <p:grpSpPr>
          <a:xfrm>
            <a:off x="4849892" y="1617501"/>
            <a:ext cx="812919" cy="817169"/>
            <a:chOff x="4926092" y="3522501"/>
            <a:chExt cx="812919" cy="817169"/>
          </a:xfrm>
        </p:grpSpPr>
        <p:cxnSp>
          <p:nvCxnSpPr>
            <p:cNvPr id="2614" name="Google Shape;2614;p99"/>
            <p:cNvCxnSpPr/>
            <p:nvPr/>
          </p:nvCxnSpPr>
          <p:spPr>
            <a:xfrm rot="10800000">
              <a:off x="5043459" y="4235331"/>
              <a:ext cx="0" cy="9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5" name="Google Shape;2615;p99"/>
            <p:cNvCxnSpPr/>
            <p:nvPr/>
          </p:nvCxnSpPr>
          <p:spPr>
            <a:xfrm>
              <a:off x="4967368" y="4235334"/>
              <a:ext cx="86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6" name="Google Shape;2616;p99"/>
            <p:cNvCxnSpPr/>
            <p:nvPr/>
          </p:nvCxnSpPr>
          <p:spPr>
            <a:xfrm>
              <a:off x="4948810" y="3522501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17" name="Google Shape;2617;p99"/>
            <p:cNvCxnSpPr/>
            <p:nvPr/>
          </p:nvCxnSpPr>
          <p:spPr>
            <a:xfrm>
              <a:off x="4940013" y="4337057"/>
              <a:ext cx="790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18" name="Google Shape;2618;p99"/>
            <p:cNvCxnSpPr/>
            <p:nvPr/>
          </p:nvCxnSpPr>
          <p:spPr>
            <a:xfrm>
              <a:off x="4926092" y="3548270"/>
              <a:ext cx="13500" cy="791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619" name="Google Shape;2619;p99"/>
          <p:cNvSpPr txBox="1"/>
          <p:nvPr>
            <p:ph idx="1" type="body"/>
          </p:nvPr>
        </p:nvSpPr>
        <p:spPr>
          <a:xfrm>
            <a:off x="4259122" y="191075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620" name="Google Shape;2620;p99"/>
          <p:cNvSpPr txBox="1"/>
          <p:nvPr>
            <p:ph idx="1" type="body"/>
          </p:nvPr>
        </p:nvSpPr>
        <p:spPr>
          <a:xfrm>
            <a:off x="324000" y="7593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area of the circle </a:t>
            </a:r>
            <a:r>
              <a:rPr lang="en-GB" sz="1900"/>
              <a:t>is equal</a:t>
            </a:r>
            <a:r>
              <a:rPr lang="en-GB" sz="1900"/>
              <a:t> to the area of the parallelogram. </a:t>
            </a:r>
            <a:endParaRPr/>
          </a:p>
        </p:txBody>
      </p:sp>
      <p:sp>
        <p:nvSpPr>
          <p:cNvPr id="2621" name="Google Shape;262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2622" name="Google Shape;2622;p99"/>
          <p:cNvSpPr txBox="1"/>
          <p:nvPr>
            <p:ph idx="1" type="body"/>
          </p:nvPr>
        </p:nvSpPr>
        <p:spPr>
          <a:xfrm>
            <a:off x="724121" y="1885268"/>
            <a:ext cx="649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623" name="Google Shape;2623;p99"/>
          <p:cNvSpPr/>
          <p:nvPr/>
        </p:nvSpPr>
        <p:spPr>
          <a:xfrm>
            <a:off x="5243419" y="1623301"/>
            <a:ext cx="2808000" cy="807600"/>
          </a:xfrm>
          <a:prstGeom prst="parallelogram">
            <a:avLst>
              <a:gd fmla="val 628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24" name="Google Shape;2624;p99"/>
          <p:cNvGrpSpPr/>
          <p:nvPr/>
        </p:nvGrpSpPr>
        <p:grpSpPr>
          <a:xfrm>
            <a:off x="4356803" y="696967"/>
            <a:ext cx="4570879" cy="2664761"/>
            <a:chOff x="3929765" y="1423003"/>
            <a:chExt cx="5532413" cy="3225321"/>
          </a:xfrm>
        </p:grpSpPr>
        <p:grpSp>
          <p:nvGrpSpPr>
            <p:cNvPr id="2625" name="Google Shape;2625;p99"/>
            <p:cNvGrpSpPr/>
            <p:nvPr/>
          </p:nvGrpSpPr>
          <p:grpSpPr>
            <a:xfrm>
              <a:off x="5038747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626" name="Google Shape;2626;p99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627" name="Google Shape;2627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28" name="Google Shape;2628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29" name="Google Shape;2629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30" name="Google Shape;2630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31" name="Google Shape;2631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32" name="Google Shape;2632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33" name="Google Shape;2633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634" name="Google Shape;2634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35" name="Google Shape;2635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36" name="Google Shape;2636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37" name="Google Shape;2637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38" name="Google Shape;2638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39" name="Google Shape;2639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40" name="Google Shape;2640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641" name="Google Shape;2641;p99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642" name="Google Shape;2642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43" name="Google Shape;2643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44" name="Google Shape;2644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45" name="Google Shape;2645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46" name="Google Shape;2646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47" name="Google Shape;2647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48" name="Google Shape;2648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649" name="Google Shape;2649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50" name="Google Shape;2650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51" name="Google Shape;2651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52" name="Google Shape;2652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53" name="Google Shape;2653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54" name="Google Shape;2654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55" name="Google Shape;2655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656" name="Google Shape;2656;p99"/>
            <p:cNvGrpSpPr/>
            <p:nvPr/>
          </p:nvGrpSpPr>
          <p:grpSpPr>
            <a:xfrm>
              <a:off x="6151131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657" name="Google Shape;2657;p99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658" name="Google Shape;2658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59" name="Google Shape;2659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60" name="Google Shape;2660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61" name="Google Shape;2661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62" name="Google Shape;2662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63" name="Google Shape;2663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64" name="Google Shape;2664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665" name="Google Shape;2665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66" name="Google Shape;2666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67" name="Google Shape;2667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68" name="Google Shape;2668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69" name="Google Shape;2669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70" name="Google Shape;2670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71" name="Google Shape;2671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672" name="Google Shape;2672;p99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673" name="Google Shape;2673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74" name="Google Shape;2674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75" name="Google Shape;2675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76" name="Google Shape;2676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77" name="Google Shape;2677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78" name="Google Shape;2678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79" name="Google Shape;2679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680" name="Google Shape;2680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81" name="Google Shape;2681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82" name="Google Shape;2682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83" name="Google Shape;2683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84" name="Google Shape;2684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85" name="Google Shape;2685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86" name="Google Shape;2686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grpSp>
          <p:nvGrpSpPr>
            <p:cNvPr id="2687" name="Google Shape;2687;p99"/>
            <p:cNvGrpSpPr/>
            <p:nvPr/>
          </p:nvGrpSpPr>
          <p:grpSpPr>
            <a:xfrm>
              <a:off x="3929765" y="1423003"/>
              <a:ext cx="3311046" cy="3225321"/>
              <a:chOff x="4039983" y="1423003"/>
              <a:chExt cx="3311046" cy="3225321"/>
            </a:xfrm>
          </p:grpSpPr>
          <p:grpSp>
            <p:nvGrpSpPr>
              <p:cNvPr id="2688" name="Google Shape;2688;p99"/>
              <p:cNvGrpSpPr/>
              <p:nvPr/>
            </p:nvGrpSpPr>
            <p:grpSpPr>
              <a:xfrm>
                <a:off x="4039983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689" name="Google Shape;2689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90" name="Google Shape;2690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91" name="Google Shape;2691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92" name="Google Shape;2692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693" name="Google Shape;2693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94" name="Google Shape;2694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95" name="Google Shape;2695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696" name="Google Shape;2696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697" name="Google Shape;2697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698" name="Google Shape;2698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699" name="Google Shape;2699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00" name="Google Shape;2700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701" name="Google Shape;2701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02" name="Google Shape;2702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703" name="Google Shape;2703;p99"/>
              <p:cNvGrpSpPr/>
              <p:nvPr/>
            </p:nvGrpSpPr>
            <p:grpSpPr>
              <a:xfrm>
                <a:off x="4595154" y="1423003"/>
                <a:ext cx="2755875" cy="3225321"/>
                <a:chOff x="4039983" y="1423003"/>
                <a:chExt cx="2755875" cy="3225321"/>
              </a:xfrm>
            </p:grpSpPr>
            <p:grpSp>
              <p:nvGrpSpPr>
                <p:cNvPr id="2704" name="Google Shape;2704;p99"/>
                <p:cNvGrpSpPr/>
                <p:nvPr/>
              </p:nvGrpSpPr>
              <p:grpSpPr>
                <a:xfrm>
                  <a:off x="4039983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705" name="Google Shape;2705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706" name="Google Shape;2706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07" name="Google Shape;2707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08" name="Google Shape;2708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709" name="Google Shape;2709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10" name="Google Shape;2710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711" name="Google Shape;2711;p99"/>
                <p:cNvGrpSpPr/>
                <p:nvPr/>
              </p:nvGrpSpPr>
              <p:grpSpPr>
                <a:xfrm>
                  <a:off x="4317569" y="1423003"/>
                  <a:ext cx="2478289" cy="3225321"/>
                  <a:chOff x="4039983" y="1423003"/>
                  <a:chExt cx="2478289" cy="3225321"/>
                </a:xfrm>
              </p:grpSpPr>
              <p:grpSp>
                <p:nvGrpSpPr>
                  <p:cNvPr id="2712" name="Google Shape;2712;p99"/>
                  <p:cNvGrpSpPr/>
                  <p:nvPr/>
                </p:nvGrpSpPr>
                <p:grpSpPr>
                  <a:xfrm>
                    <a:off x="4039983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713" name="Google Shape;2713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14" name="Google Shape;2714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15" name="Google Shape;2715;p99"/>
                  <p:cNvGrpSpPr/>
                  <p:nvPr/>
                </p:nvGrpSpPr>
                <p:grpSpPr>
                  <a:xfrm>
                    <a:off x="4178776" y="1423003"/>
                    <a:ext cx="2339496" cy="3225321"/>
                    <a:chOff x="4039983" y="1423003"/>
                    <a:chExt cx="2339496" cy="3225321"/>
                  </a:xfrm>
                </p:grpSpPr>
                <p:sp>
                  <p:nvSpPr>
                    <p:cNvPr id="2716" name="Google Shape;2716;p99"/>
                    <p:cNvSpPr/>
                    <p:nvPr/>
                  </p:nvSpPr>
                  <p:spPr>
                    <a:xfrm rot="684158">
                      <a:off x="4280861" y="2549705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17" name="Google Shape;2717;p99"/>
                    <p:cNvSpPr/>
                    <p:nvPr/>
                  </p:nvSpPr>
                  <p:spPr>
                    <a:xfrm flipH="1" rot="10115842">
                      <a:off x="4211464" y="1594484"/>
                      <a:ext cx="1927138" cy="192713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2718" name="Google Shape;2718;p99"/>
          <p:cNvGrpSpPr/>
          <p:nvPr/>
        </p:nvGrpSpPr>
        <p:grpSpPr>
          <a:xfrm>
            <a:off x="1108902" y="1080037"/>
            <a:ext cx="2664989" cy="2664989"/>
            <a:chOff x="9141784" y="972246"/>
            <a:chExt cx="3225598" cy="3225598"/>
          </a:xfrm>
        </p:grpSpPr>
        <p:grpSp>
          <p:nvGrpSpPr>
            <p:cNvPr id="2719" name="Google Shape;2719;p99"/>
            <p:cNvGrpSpPr/>
            <p:nvPr/>
          </p:nvGrpSpPr>
          <p:grpSpPr>
            <a:xfrm>
              <a:off x="9141784" y="972246"/>
              <a:ext cx="3225598" cy="3225598"/>
              <a:chOff x="9141784" y="972246"/>
              <a:chExt cx="3225598" cy="3225598"/>
            </a:xfrm>
          </p:grpSpPr>
          <p:grpSp>
            <p:nvGrpSpPr>
              <p:cNvPr id="2720" name="Google Shape;2720;p99"/>
              <p:cNvGrpSpPr/>
              <p:nvPr/>
            </p:nvGrpSpPr>
            <p:grpSpPr>
              <a:xfrm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721" name="Google Shape;2721;p99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722" name="Google Shape;2722;p99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723" name="Google Shape;2723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24" name="Google Shape;2724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25" name="Google Shape;2725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26" name="Google Shape;2726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27" name="Google Shape;2727;p99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728" name="Google Shape;2728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29" name="Google Shape;2729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30" name="Google Shape;2730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31" name="Google Shape;2731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32" name="Google Shape;2732;p99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733" name="Google Shape;2733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34" name="Google Shape;2734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35" name="Google Shape;2735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36" name="Google Shape;2736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737" name="Google Shape;2737;p99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738" name="Google Shape;2738;p99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739" name="Google Shape;2739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0" name="Google Shape;2740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1" name="Google Shape;2741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2" name="Google Shape;2742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43" name="Google Shape;2743;p99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744" name="Google Shape;2744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5" name="Google Shape;2745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6" name="Google Shape;2746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47" name="Google Shape;2747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48" name="Google Shape;2748;p99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749" name="Google Shape;2749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0" name="Google Shape;2750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1" name="Google Shape;2751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2" name="Google Shape;2752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accent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  <p:grpSp>
            <p:nvGrpSpPr>
              <p:cNvPr id="2753" name="Google Shape;2753;p99"/>
              <p:cNvGrpSpPr/>
              <p:nvPr/>
            </p:nvGrpSpPr>
            <p:grpSpPr>
              <a:xfrm flipH="1" rot="10800000">
                <a:off x="9141784" y="972246"/>
                <a:ext cx="3225598" cy="3225598"/>
                <a:chOff x="531184" y="972246"/>
                <a:chExt cx="3225598" cy="3225598"/>
              </a:xfrm>
            </p:grpSpPr>
            <p:grpSp>
              <p:nvGrpSpPr>
                <p:cNvPr id="2754" name="Google Shape;2754;p99"/>
                <p:cNvGrpSpPr/>
                <p:nvPr/>
              </p:nvGrpSpPr>
              <p:grpSpPr>
                <a:xfrm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755" name="Google Shape;2755;p99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756" name="Google Shape;2756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7" name="Google Shape;2757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8" name="Google Shape;2758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59" name="Google Shape;2759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60" name="Google Shape;2760;p99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761" name="Google Shape;2761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2" name="Google Shape;2762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3" name="Google Shape;2763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4" name="Google Shape;2764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65" name="Google Shape;2765;p99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766" name="Google Shape;2766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7" name="Google Shape;2767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8" name="Google Shape;2768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69" name="Google Shape;2769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  <p:grpSp>
              <p:nvGrpSpPr>
                <p:cNvPr id="2770" name="Google Shape;2770;p99"/>
                <p:cNvGrpSpPr/>
                <p:nvPr/>
              </p:nvGrpSpPr>
              <p:grpSpPr>
                <a:xfrm flipH="1">
                  <a:off x="531184" y="972246"/>
                  <a:ext cx="3225598" cy="3225598"/>
                  <a:chOff x="531184" y="972246"/>
                  <a:chExt cx="3225598" cy="3225598"/>
                </a:xfrm>
              </p:grpSpPr>
              <p:grpSp>
                <p:nvGrpSpPr>
                  <p:cNvPr id="2771" name="Google Shape;2771;p99"/>
                  <p:cNvGrpSpPr/>
                  <p:nvPr/>
                </p:nvGrpSpPr>
                <p:grpSpPr>
                  <a:xfrm>
                    <a:off x="963474" y="1404591"/>
                    <a:ext cx="2361000" cy="2361000"/>
                    <a:chOff x="963474" y="1408181"/>
                    <a:chExt cx="2361000" cy="2361000"/>
                  </a:xfrm>
                </p:grpSpPr>
                <p:sp>
                  <p:nvSpPr>
                    <p:cNvPr id="2772" name="Google Shape;2772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73" name="Google Shape;2773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74" name="Google Shape;2774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75" name="Google Shape;2775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76" name="Google Shape;2776;p99"/>
                  <p:cNvGrpSpPr/>
                  <p:nvPr/>
                </p:nvGrpSpPr>
                <p:grpSpPr>
                  <a:xfrm rot="1799574">
                    <a:off x="963576" y="1404604"/>
                    <a:ext cx="2361034" cy="2361034"/>
                    <a:chOff x="963474" y="1408181"/>
                    <a:chExt cx="2361000" cy="2361000"/>
                  </a:xfrm>
                </p:grpSpPr>
                <p:sp>
                  <p:nvSpPr>
                    <p:cNvPr id="2777" name="Google Shape;2777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78" name="Google Shape;2778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79" name="Google Shape;2779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80" name="Google Shape;2780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  <p:grpSp>
                <p:nvGrpSpPr>
                  <p:cNvPr id="2781" name="Google Shape;2781;p99"/>
                  <p:cNvGrpSpPr/>
                  <p:nvPr/>
                </p:nvGrpSpPr>
                <p:grpSpPr>
                  <a:xfrm rot="3598422">
                    <a:off x="963477" y="1404539"/>
                    <a:ext cx="2361012" cy="2361012"/>
                    <a:chOff x="963474" y="1408181"/>
                    <a:chExt cx="2361000" cy="2361000"/>
                  </a:xfrm>
                </p:grpSpPr>
                <p:sp>
                  <p:nvSpPr>
                    <p:cNvPr id="2782" name="Google Shape;2782;p99"/>
                    <p:cNvSpPr/>
                    <p:nvPr/>
                  </p:nvSpPr>
                  <p:spPr>
                    <a:xfrm flipH="1" rot="-450869">
                      <a:off x="1180340" y="1625272"/>
                      <a:ext cx="1926949" cy="1926949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83" name="Google Shape;2783;p99"/>
                    <p:cNvSpPr/>
                    <p:nvPr/>
                  </p:nvSpPr>
                  <p:spPr>
                    <a:xfrm flipH="1">
                      <a:off x="1180389" y="1625272"/>
                      <a:ext cx="1926900" cy="1926900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84" name="Google Shape;2784;p99"/>
                    <p:cNvSpPr/>
                    <p:nvPr/>
                  </p:nvSpPr>
                  <p:spPr>
                    <a:xfrm flipH="1" rot="453592">
                      <a:off x="1180479" y="1625322"/>
                      <a:ext cx="1926848" cy="1926848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  <p:sp>
                  <p:nvSpPr>
                    <p:cNvPr id="2785" name="Google Shape;2785;p99"/>
                    <p:cNvSpPr/>
                    <p:nvPr/>
                  </p:nvSpPr>
                  <p:spPr>
                    <a:xfrm flipH="1" rot="903195">
                      <a:off x="1180617" y="1625324"/>
                      <a:ext cx="1926715" cy="1926715"/>
                    </a:xfrm>
                    <a:prstGeom prst="pie">
                      <a:avLst>
                        <a:gd fmla="val 15293500" name="adj1"/>
                        <a:gd fmla="val 15757993" name="adj2"/>
                      </a:avLst>
                    </a:prstGeom>
                    <a:solidFill>
                      <a:schemeClr val="lt1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p:txBody>
                </p:sp>
              </p:grpSp>
            </p:grpSp>
          </p:grpSp>
        </p:grpSp>
        <p:sp>
          <p:nvSpPr>
            <p:cNvPr id="2786" name="Google Shape;2786;p99"/>
            <p:cNvSpPr/>
            <p:nvPr/>
          </p:nvSpPr>
          <p:spPr>
            <a:xfrm>
              <a:off x="9780787" y="1618693"/>
              <a:ext cx="1939800" cy="19398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7" name="Google Shape;2787;p99"/>
          <p:cNvSpPr txBox="1"/>
          <p:nvPr>
            <p:ph idx="1" type="body"/>
          </p:nvPr>
        </p:nvSpPr>
        <p:spPr>
          <a:xfrm>
            <a:off x="324000" y="3771350"/>
            <a:ext cx="5674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area of each shape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900"/>
              <a:t>?</a:t>
            </a:r>
            <a:endParaRPr/>
          </a:p>
        </p:txBody>
      </p:sp>
      <p:sp>
        <p:nvSpPr>
          <p:cNvPr id="2788" name="Google Shape;2788;p99"/>
          <p:cNvSpPr txBox="1"/>
          <p:nvPr>
            <p:ph idx="1" type="body"/>
          </p:nvPr>
        </p:nvSpPr>
        <p:spPr>
          <a:xfrm>
            <a:off x="3019802" y="3101858"/>
            <a:ext cx="8520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 </a:t>
            </a:r>
            <a:endParaRPr sz="1800"/>
          </a:p>
        </p:txBody>
      </p:sp>
      <p:cxnSp>
        <p:nvCxnSpPr>
          <p:cNvPr id="2789" name="Google Shape;2789;p99"/>
          <p:cNvCxnSpPr>
            <a:stCxn id="2788" idx="1"/>
          </p:cNvCxnSpPr>
          <p:nvPr/>
        </p:nvCxnSpPr>
        <p:spPr>
          <a:xfrm rot="10800000">
            <a:off x="2788202" y="3184658"/>
            <a:ext cx="231600" cy="5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0" name="Google Shape;2790;p99"/>
          <p:cNvCxnSpPr/>
          <p:nvPr/>
        </p:nvCxnSpPr>
        <p:spPr>
          <a:xfrm>
            <a:off x="5244458" y="2539797"/>
            <a:ext cx="276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91" name="Google Shape;2791;p99"/>
          <p:cNvSpPr txBox="1"/>
          <p:nvPr>
            <p:ph idx="1" type="body"/>
          </p:nvPr>
        </p:nvSpPr>
        <p:spPr>
          <a:xfrm>
            <a:off x="6384116" y="2552685"/>
            <a:ext cx="6864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 cm </a:t>
            </a:r>
            <a:endParaRPr sz="1800"/>
          </a:p>
        </p:txBody>
      </p:sp>
      <p:sp>
        <p:nvSpPr>
          <p:cNvPr id="2792" name="Google Shape;2792;p99"/>
          <p:cNvSpPr txBox="1"/>
          <p:nvPr>
            <p:ph idx="1" type="body"/>
          </p:nvPr>
        </p:nvSpPr>
        <p:spPr>
          <a:xfrm>
            <a:off x="4002500" y="4334400"/>
            <a:ext cx="10719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00"/>
          <p:cNvSpPr txBox="1"/>
          <p:nvPr>
            <p:ph idx="1" type="body"/>
          </p:nvPr>
        </p:nvSpPr>
        <p:spPr>
          <a:xfrm>
            <a:off x="324000" y="683100"/>
            <a:ext cx="89283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Each circle overlaps with a square. For each question:</a:t>
            </a:r>
            <a:endParaRPr sz="1800"/>
          </a:p>
        </p:txBody>
      </p:sp>
      <p:sp>
        <p:nvSpPr>
          <p:cNvPr id="2798" name="Google Shape;279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2799" name="Google Shape;2799;p100"/>
          <p:cNvSpPr txBox="1"/>
          <p:nvPr>
            <p:ph idx="1" type="body"/>
          </p:nvPr>
        </p:nvSpPr>
        <p:spPr>
          <a:xfrm>
            <a:off x="597311" y="1027032"/>
            <a:ext cx="358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Find the area of the square.</a:t>
            </a:r>
            <a:endParaRPr sz="1800"/>
          </a:p>
        </p:txBody>
      </p:sp>
      <p:sp>
        <p:nvSpPr>
          <p:cNvPr id="2800" name="Google Shape;2800;p100"/>
          <p:cNvSpPr txBox="1"/>
          <p:nvPr>
            <p:ph idx="1" type="body"/>
          </p:nvPr>
        </p:nvSpPr>
        <p:spPr>
          <a:xfrm>
            <a:off x="597311" y="1330657"/>
            <a:ext cx="464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Find the area of the circle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801" name="Google Shape;2801;p100"/>
          <p:cNvSpPr/>
          <p:nvPr/>
        </p:nvSpPr>
        <p:spPr>
          <a:xfrm rot="2913237">
            <a:off x="4480385" y="2446015"/>
            <a:ext cx="677580" cy="67758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2" name="Google Shape;2802;p100"/>
          <p:cNvSpPr/>
          <p:nvPr/>
        </p:nvSpPr>
        <p:spPr>
          <a:xfrm>
            <a:off x="3680175" y="2078664"/>
            <a:ext cx="1341900" cy="1342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3" name="Google Shape;2803;p100"/>
          <p:cNvSpPr/>
          <p:nvPr/>
        </p:nvSpPr>
        <p:spPr>
          <a:xfrm>
            <a:off x="4306208" y="2705675"/>
            <a:ext cx="85800" cy="8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4" name="Google Shape;2804;p100"/>
          <p:cNvSpPr txBox="1"/>
          <p:nvPr>
            <p:ph idx="1" type="body"/>
          </p:nvPr>
        </p:nvSpPr>
        <p:spPr>
          <a:xfrm>
            <a:off x="324000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2805" name="Google Shape;2805;p100"/>
          <p:cNvSpPr txBox="1"/>
          <p:nvPr>
            <p:ph idx="1" type="body"/>
          </p:nvPr>
        </p:nvSpPr>
        <p:spPr>
          <a:xfrm>
            <a:off x="3208610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2806" name="Google Shape;2806;p100"/>
          <p:cNvSpPr txBox="1"/>
          <p:nvPr>
            <p:ph idx="1" type="body"/>
          </p:nvPr>
        </p:nvSpPr>
        <p:spPr>
          <a:xfrm>
            <a:off x="6093219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/>
          </a:p>
        </p:txBody>
      </p:sp>
      <p:grpSp>
        <p:nvGrpSpPr>
          <p:cNvPr id="2807" name="Google Shape;2807;p100"/>
          <p:cNvGrpSpPr/>
          <p:nvPr/>
        </p:nvGrpSpPr>
        <p:grpSpPr>
          <a:xfrm>
            <a:off x="624200" y="1928498"/>
            <a:ext cx="1617063" cy="1617247"/>
            <a:chOff x="10520725" y="1758260"/>
            <a:chExt cx="2635800" cy="2636100"/>
          </a:xfrm>
        </p:grpSpPr>
        <p:sp>
          <p:nvSpPr>
            <p:cNvPr id="2808" name="Google Shape;2808;p100"/>
            <p:cNvSpPr/>
            <p:nvPr/>
          </p:nvSpPr>
          <p:spPr>
            <a:xfrm>
              <a:off x="11825777" y="1764013"/>
              <a:ext cx="1330500" cy="1330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9" name="Google Shape;2809;p100"/>
            <p:cNvSpPr/>
            <p:nvPr/>
          </p:nvSpPr>
          <p:spPr>
            <a:xfrm>
              <a:off x="10520725" y="1758260"/>
              <a:ext cx="2635800" cy="26361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0" name="Google Shape;2810;p100"/>
            <p:cNvSpPr/>
            <p:nvPr/>
          </p:nvSpPr>
          <p:spPr>
            <a:xfrm>
              <a:off x="11825774" y="2882772"/>
              <a:ext cx="203700" cy="203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1" name="Google Shape;2811;p100"/>
            <p:cNvCxnSpPr/>
            <p:nvPr/>
          </p:nvCxnSpPr>
          <p:spPr>
            <a:xfrm>
              <a:off x="11831097" y="3097632"/>
              <a:ext cx="1318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12" name="Google Shape;2812;p100"/>
            <p:cNvSpPr/>
            <p:nvPr/>
          </p:nvSpPr>
          <p:spPr>
            <a:xfrm>
              <a:off x="11741603" y="3010320"/>
              <a:ext cx="168000" cy="1680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813" name="Google Shape;2813;p100"/>
          <p:cNvCxnSpPr/>
          <p:nvPr/>
        </p:nvCxnSpPr>
        <p:spPr>
          <a:xfrm flipH="1" rot="10800000">
            <a:off x="1423867" y="1928428"/>
            <a:ext cx="8100" cy="76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4" name="Google Shape;2814;p100"/>
          <p:cNvSpPr txBox="1"/>
          <p:nvPr/>
        </p:nvSpPr>
        <p:spPr>
          <a:xfrm>
            <a:off x="1586772" y="2795737"/>
            <a:ext cx="563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5" name="Google Shape;2815;p100"/>
          <p:cNvSpPr txBox="1"/>
          <p:nvPr/>
        </p:nvSpPr>
        <p:spPr>
          <a:xfrm>
            <a:off x="4073411" y="2297013"/>
            <a:ext cx="533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6" name="Google Shape;2816;p100"/>
          <p:cNvSpPr/>
          <p:nvPr/>
        </p:nvSpPr>
        <p:spPr>
          <a:xfrm>
            <a:off x="7070712" y="2740181"/>
            <a:ext cx="762600" cy="7626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7" name="Google Shape;2817;p100"/>
          <p:cNvSpPr/>
          <p:nvPr/>
        </p:nvSpPr>
        <p:spPr>
          <a:xfrm>
            <a:off x="6306175" y="1971675"/>
            <a:ext cx="1530600" cy="1530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8" name="Google Shape;2818;p100"/>
          <p:cNvSpPr/>
          <p:nvPr/>
        </p:nvSpPr>
        <p:spPr>
          <a:xfrm>
            <a:off x="7015186" y="2698802"/>
            <a:ext cx="97800" cy="9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9" name="Google Shape;2819;p100"/>
          <p:cNvCxnSpPr>
            <a:stCxn id="2817" idx="1"/>
            <a:endCxn id="2818" idx="1"/>
          </p:cNvCxnSpPr>
          <p:nvPr/>
        </p:nvCxnSpPr>
        <p:spPr>
          <a:xfrm>
            <a:off x="6530326" y="2195870"/>
            <a:ext cx="499200" cy="51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20" name="Google Shape;2820;p100"/>
          <p:cNvSpPr txBox="1"/>
          <p:nvPr/>
        </p:nvSpPr>
        <p:spPr>
          <a:xfrm>
            <a:off x="6797161" y="2243578"/>
            <a:ext cx="5337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1" name="Google Shape;2821;p100"/>
          <p:cNvCxnSpPr/>
          <p:nvPr/>
        </p:nvCxnSpPr>
        <p:spPr>
          <a:xfrm rot="10800000">
            <a:off x="4428728" y="2693086"/>
            <a:ext cx="64500" cy="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2" name="Google Shape;2822;p100"/>
          <p:cNvCxnSpPr/>
          <p:nvPr/>
        </p:nvCxnSpPr>
        <p:spPr>
          <a:xfrm flipH="1" rot="10800000">
            <a:off x="4417018" y="2755744"/>
            <a:ext cx="77400" cy="6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100"/>
          <p:cNvCxnSpPr/>
          <p:nvPr/>
        </p:nvCxnSpPr>
        <p:spPr>
          <a:xfrm flipH="1" rot="10800000">
            <a:off x="4351759" y="2310530"/>
            <a:ext cx="492300" cy="43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24" name="Google Shape;2824;p100"/>
          <p:cNvSpPr txBox="1"/>
          <p:nvPr>
            <p:ph idx="1" type="body"/>
          </p:nvPr>
        </p:nvSpPr>
        <p:spPr>
          <a:xfrm>
            <a:off x="330505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2825" name="Google Shape;2825;p100"/>
          <p:cNvSpPr txBox="1"/>
          <p:nvPr>
            <p:ph idx="1" type="body"/>
          </p:nvPr>
        </p:nvSpPr>
        <p:spPr>
          <a:xfrm>
            <a:off x="330505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  <p:sp>
        <p:nvSpPr>
          <p:cNvPr id="2826" name="Google Shape;2826;p100"/>
          <p:cNvSpPr txBox="1"/>
          <p:nvPr>
            <p:ph idx="1" type="body"/>
          </p:nvPr>
        </p:nvSpPr>
        <p:spPr>
          <a:xfrm>
            <a:off x="3230626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2827" name="Google Shape;2827;p100"/>
          <p:cNvSpPr txBox="1"/>
          <p:nvPr>
            <p:ph idx="1" type="body"/>
          </p:nvPr>
        </p:nvSpPr>
        <p:spPr>
          <a:xfrm>
            <a:off x="3230626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  <p:sp>
        <p:nvSpPr>
          <p:cNvPr id="2828" name="Google Shape;2828;p100"/>
          <p:cNvSpPr txBox="1"/>
          <p:nvPr>
            <p:ph idx="1" type="body"/>
          </p:nvPr>
        </p:nvSpPr>
        <p:spPr>
          <a:xfrm>
            <a:off x="6100666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2829" name="Google Shape;2829;p100"/>
          <p:cNvSpPr txBox="1"/>
          <p:nvPr>
            <p:ph idx="1" type="body"/>
          </p:nvPr>
        </p:nvSpPr>
        <p:spPr>
          <a:xfrm>
            <a:off x="6100666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4" name="Google Shape;2834;p101"/>
          <p:cNvCxnSpPr/>
          <p:nvPr/>
        </p:nvCxnSpPr>
        <p:spPr>
          <a:xfrm rot="10800000">
            <a:off x="2652050" y="2003374"/>
            <a:ext cx="7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101"/>
          <p:cNvCxnSpPr/>
          <p:nvPr/>
        </p:nvCxnSpPr>
        <p:spPr>
          <a:xfrm>
            <a:off x="2057386" y="1517205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6" name="Google Shape;2836;p101"/>
          <p:cNvCxnSpPr/>
          <p:nvPr/>
        </p:nvCxnSpPr>
        <p:spPr>
          <a:xfrm>
            <a:off x="2048588" y="210681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7" name="Google Shape;2837;p101"/>
          <p:cNvCxnSpPr/>
          <p:nvPr/>
        </p:nvCxnSpPr>
        <p:spPr>
          <a:xfrm rot="10800000">
            <a:off x="2652075" y="2001875"/>
            <a:ext cx="0" cy="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8" name="Google Shape;2838;p101"/>
          <p:cNvCxnSpPr/>
          <p:nvPr/>
        </p:nvCxnSpPr>
        <p:spPr>
          <a:xfrm rot="10800000">
            <a:off x="5623850" y="2003374"/>
            <a:ext cx="7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9" name="Google Shape;2839;p101"/>
          <p:cNvCxnSpPr/>
          <p:nvPr/>
        </p:nvCxnSpPr>
        <p:spPr>
          <a:xfrm>
            <a:off x="5029186" y="1517205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0" name="Google Shape;2840;p101"/>
          <p:cNvCxnSpPr/>
          <p:nvPr/>
        </p:nvCxnSpPr>
        <p:spPr>
          <a:xfrm>
            <a:off x="5020388" y="210681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1" name="Google Shape;2841;p101"/>
          <p:cNvCxnSpPr/>
          <p:nvPr/>
        </p:nvCxnSpPr>
        <p:spPr>
          <a:xfrm>
            <a:off x="6979920" y="272326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2" name="Google Shape;2842;p101"/>
          <p:cNvCxnSpPr/>
          <p:nvPr/>
        </p:nvCxnSpPr>
        <p:spPr>
          <a:xfrm>
            <a:off x="6975202" y="3874316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3" name="Google Shape;2843;p101"/>
          <p:cNvCxnSpPr/>
          <p:nvPr/>
        </p:nvCxnSpPr>
        <p:spPr>
          <a:xfrm>
            <a:off x="1544064" y="3291670"/>
            <a:ext cx="769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101"/>
          <p:cNvCxnSpPr/>
          <p:nvPr/>
        </p:nvCxnSpPr>
        <p:spPr>
          <a:xfrm>
            <a:off x="1549212" y="2712962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45" name="Google Shape;2845;p101"/>
          <p:cNvSpPr txBox="1"/>
          <p:nvPr>
            <p:ph idx="1" type="body"/>
          </p:nvPr>
        </p:nvSpPr>
        <p:spPr>
          <a:xfrm>
            <a:off x="324000" y="759300"/>
            <a:ext cx="82377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Each parallelogram is made from the sectors of one of the three circles.</a:t>
            </a:r>
            <a:br>
              <a:rPr lang="en-GB" sz="1800"/>
            </a:br>
            <a:r>
              <a:rPr lang="en-GB" sz="1800"/>
              <a:t>    The diagrams are not drawn to scale.</a:t>
            </a:r>
            <a:endParaRPr sz="1800"/>
          </a:p>
        </p:txBody>
      </p:sp>
      <p:sp>
        <p:nvSpPr>
          <p:cNvPr id="2846" name="Google Shape;284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grpSp>
        <p:nvGrpSpPr>
          <p:cNvPr id="2847" name="Google Shape;2847;p101"/>
          <p:cNvGrpSpPr/>
          <p:nvPr/>
        </p:nvGrpSpPr>
        <p:grpSpPr>
          <a:xfrm>
            <a:off x="674349" y="2471013"/>
            <a:ext cx="1641660" cy="1641660"/>
            <a:chOff x="779296" y="1224286"/>
            <a:chExt cx="2725200" cy="2725200"/>
          </a:xfrm>
        </p:grpSpPr>
        <p:grpSp>
          <p:nvGrpSpPr>
            <p:cNvPr id="2848" name="Google Shape;2848;p10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2849" name="Google Shape;2849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0" name="Google Shape;2850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1" name="Google Shape;2851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2" name="Google Shape;2852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3" name="Google Shape;2853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4" name="Google Shape;2854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5" name="Google Shape;2855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6" name="Google Shape;2856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7" name="Google Shape;2857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8" name="Google Shape;2858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9" name="Google Shape;2859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0" name="Google Shape;2860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61" name="Google Shape;2861;p101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2862" name="Google Shape;2862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3" name="Google Shape;2863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4" name="Google Shape;2864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5" name="Google Shape;2865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6" name="Google Shape;2866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7" name="Google Shape;2867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8" name="Google Shape;2868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69" name="Google Shape;2869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70" name="Google Shape;2870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71" name="Google Shape;2871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72" name="Google Shape;2872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73" name="Google Shape;2873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874" name="Google Shape;2874;p10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75" name="Google Shape;2875;p101"/>
          <p:cNvGrpSpPr/>
          <p:nvPr/>
        </p:nvGrpSpPr>
        <p:grpSpPr>
          <a:xfrm>
            <a:off x="-46608" y="875213"/>
            <a:ext cx="3151509" cy="1875125"/>
            <a:chOff x="4027707" y="1467887"/>
            <a:chExt cx="5231589" cy="3112758"/>
          </a:xfrm>
        </p:grpSpPr>
        <p:grpSp>
          <p:nvGrpSpPr>
            <p:cNvPr id="2876" name="Google Shape;2876;p10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877" name="Google Shape;2877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78" name="Google Shape;2878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79" name="Google Shape;2879;p10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880" name="Google Shape;2880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1" name="Google Shape;2881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82" name="Google Shape;2882;p10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883" name="Google Shape;2883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4" name="Google Shape;2884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85" name="Google Shape;2885;p10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886" name="Google Shape;2886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87" name="Google Shape;2887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88" name="Google Shape;2888;p10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889" name="Google Shape;2889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0" name="Google Shape;2890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91" name="Google Shape;2891;p10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892" name="Google Shape;2892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3" name="Google Shape;2893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94" name="Google Shape;2894;p10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895" name="Google Shape;2895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6" name="Google Shape;2896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97" name="Google Shape;2897;p10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898" name="Google Shape;2898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99" name="Google Shape;2899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00" name="Google Shape;2900;p10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01" name="Google Shape;2901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2" name="Google Shape;2902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03" name="Google Shape;2903;p10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04" name="Google Shape;2904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5" name="Google Shape;2905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06" name="Google Shape;2906;p10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07" name="Google Shape;2907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08" name="Google Shape;2908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09" name="Google Shape;2909;p10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910" name="Google Shape;2910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1" name="Google Shape;2911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912" name="Google Shape;2912;p10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3" name="Google Shape;2913;p101"/>
          <p:cNvGrpSpPr/>
          <p:nvPr/>
        </p:nvGrpSpPr>
        <p:grpSpPr>
          <a:xfrm>
            <a:off x="3715214" y="2471797"/>
            <a:ext cx="1641660" cy="1641660"/>
            <a:chOff x="779296" y="1224286"/>
            <a:chExt cx="2725200" cy="2725200"/>
          </a:xfrm>
        </p:grpSpPr>
        <p:grpSp>
          <p:nvGrpSpPr>
            <p:cNvPr id="2914" name="Google Shape;2914;p10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2915" name="Google Shape;2915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6" name="Google Shape;2916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7" name="Google Shape;2917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8" name="Google Shape;2918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19" name="Google Shape;2919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0" name="Google Shape;2920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1" name="Google Shape;2921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2" name="Google Shape;2922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3" name="Google Shape;2923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4" name="Google Shape;2924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5" name="Google Shape;2925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6" name="Google Shape;2926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27" name="Google Shape;2927;p101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2928" name="Google Shape;2928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9" name="Google Shape;2929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0" name="Google Shape;2930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1" name="Google Shape;2931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2" name="Google Shape;2932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3" name="Google Shape;2933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4" name="Google Shape;2934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5" name="Google Shape;2935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6" name="Google Shape;2936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7" name="Google Shape;2937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8" name="Google Shape;2938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39" name="Google Shape;2939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940" name="Google Shape;2940;p10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41" name="Google Shape;2941;p101"/>
          <p:cNvGrpSpPr/>
          <p:nvPr/>
        </p:nvGrpSpPr>
        <p:grpSpPr>
          <a:xfrm>
            <a:off x="2961609" y="875213"/>
            <a:ext cx="3151509" cy="1875125"/>
            <a:chOff x="4027707" y="1467887"/>
            <a:chExt cx="5231589" cy="3112758"/>
          </a:xfrm>
        </p:grpSpPr>
        <p:grpSp>
          <p:nvGrpSpPr>
            <p:cNvPr id="2942" name="Google Shape;2942;p10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43" name="Google Shape;2943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4" name="Google Shape;2944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45" name="Google Shape;2945;p10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46" name="Google Shape;2946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7" name="Google Shape;2947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48" name="Google Shape;2948;p10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49" name="Google Shape;2949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0" name="Google Shape;2950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51" name="Google Shape;2951;p10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952" name="Google Shape;2952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3" name="Google Shape;2953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54" name="Google Shape;2954;p10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55" name="Google Shape;2955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6" name="Google Shape;2956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57" name="Google Shape;2957;p10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58" name="Google Shape;2958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9" name="Google Shape;2959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60" name="Google Shape;2960;p10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61" name="Google Shape;2961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2" name="Google Shape;2962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63" name="Google Shape;2963;p10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964" name="Google Shape;2964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5" name="Google Shape;2965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66" name="Google Shape;2966;p10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67" name="Google Shape;2967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8" name="Google Shape;2968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69" name="Google Shape;2969;p10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70" name="Google Shape;2970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1" name="Google Shape;2971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72" name="Google Shape;2972;p10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73" name="Google Shape;2973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4" name="Google Shape;2974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75" name="Google Shape;2975;p10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976" name="Google Shape;2976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7" name="Google Shape;2977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978" name="Google Shape;2978;p10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9" name="Google Shape;2979;p101"/>
          <p:cNvGrpSpPr/>
          <p:nvPr/>
        </p:nvGrpSpPr>
        <p:grpSpPr>
          <a:xfrm>
            <a:off x="6070149" y="875213"/>
            <a:ext cx="3151509" cy="1875125"/>
            <a:chOff x="4027707" y="1467887"/>
            <a:chExt cx="5231589" cy="3112758"/>
          </a:xfrm>
        </p:grpSpPr>
        <p:grpSp>
          <p:nvGrpSpPr>
            <p:cNvPr id="2980" name="Google Shape;2980;p10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81" name="Google Shape;2981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2" name="Google Shape;2982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83" name="Google Shape;2983;p10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84" name="Google Shape;2984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5" name="Google Shape;2985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86" name="Google Shape;2986;p10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87" name="Google Shape;2987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8" name="Google Shape;2988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89" name="Google Shape;2989;p10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2990" name="Google Shape;2990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1" name="Google Shape;2991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92" name="Google Shape;2992;p10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2993" name="Google Shape;2993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4" name="Google Shape;2994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95" name="Google Shape;2995;p10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2996" name="Google Shape;2996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7" name="Google Shape;2997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98" name="Google Shape;2998;p10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2999" name="Google Shape;2999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0" name="Google Shape;3000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01" name="Google Shape;3001;p10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002" name="Google Shape;3002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3" name="Google Shape;3003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04" name="Google Shape;3004;p10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005" name="Google Shape;3005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6" name="Google Shape;3006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07" name="Google Shape;3007;p10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008" name="Google Shape;3008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9" name="Google Shape;3009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10" name="Google Shape;3010;p10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011" name="Google Shape;3011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12" name="Google Shape;3012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13" name="Google Shape;3013;p10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014" name="Google Shape;3014;p101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15" name="Google Shape;3015;p10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16" name="Google Shape;3016;p10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7" name="Google Shape;3017;p101"/>
          <p:cNvGrpSpPr/>
          <p:nvPr/>
        </p:nvGrpSpPr>
        <p:grpSpPr>
          <a:xfrm>
            <a:off x="6867999" y="2477911"/>
            <a:ext cx="1641660" cy="1641660"/>
            <a:chOff x="779296" y="1224286"/>
            <a:chExt cx="2725200" cy="2725200"/>
          </a:xfrm>
        </p:grpSpPr>
        <p:grpSp>
          <p:nvGrpSpPr>
            <p:cNvPr id="3018" name="Google Shape;3018;p10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019" name="Google Shape;3019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0" name="Google Shape;3020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1" name="Google Shape;3021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2" name="Google Shape;3022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3" name="Google Shape;3023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4" name="Google Shape;3024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5" name="Google Shape;3025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6" name="Google Shape;3026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7" name="Google Shape;3027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8" name="Google Shape;3028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9" name="Google Shape;3029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0" name="Google Shape;3030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031" name="Google Shape;3031;p101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032" name="Google Shape;3032;p10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3" name="Google Shape;3033;p10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4" name="Google Shape;3034;p10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5" name="Google Shape;3035;p10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6" name="Google Shape;3036;p10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7" name="Google Shape;3037;p10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8" name="Google Shape;3038;p101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9" name="Google Shape;3039;p101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0" name="Google Shape;3040;p101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1" name="Google Shape;3041;p101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2" name="Google Shape;3042;p101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3" name="Google Shape;3043;p101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44" name="Google Shape;3044;p10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45" name="Google Shape;3045;p101"/>
          <p:cNvSpPr txBox="1"/>
          <p:nvPr>
            <p:ph idx="1" type="body"/>
          </p:nvPr>
        </p:nvSpPr>
        <p:spPr>
          <a:xfrm>
            <a:off x="338650" y="4112100"/>
            <a:ext cx="8481300" cy="7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Match each parallelogram with the circle of the same approximate area.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Find the area of each circle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</p:txBody>
      </p:sp>
      <p:cxnSp>
        <p:nvCxnSpPr>
          <p:cNvPr id="3046" name="Google Shape;3046;p101"/>
          <p:cNvCxnSpPr/>
          <p:nvPr/>
        </p:nvCxnSpPr>
        <p:spPr>
          <a:xfrm>
            <a:off x="510894" y="2214504"/>
            <a:ext cx="194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7" name="Google Shape;3047;p101"/>
          <p:cNvCxnSpPr/>
          <p:nvPr/>
        </p:nvCxnSpPr>
        <p:spPr>
          <a:xfrm rot="10800000">
            <a:off x="5730609" y="1512800"/>
            <a:ext cx="0" cy="5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8" name="Google Shape;3048;p101"/>
          <p:cNvCxnSpPr/>
          <p:nvPr/>
        </p:nvCxnSpPr>
        <p:spPr>
          <a:xfrm rot="10800000">
            <a:off x="2257152" y="2718111"/>
            <a:ext cx="0" cy="55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9" name="Google Shape;3049;p101"/>
          <p:cNvCxnSpPr/>
          <p:nvPr/>
        </p:nvCxnSpPr>
        <p:spPr>
          <a:xfrm flipH="1">
            <a:off x="4729875" y="2719250"/>
            <a:ext cx="281100" cy="2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0" name="Google Shape;3050;p101"/>
          <p:cNvCxnSpPr/>
          <p:nvPr/>
        </p:nvCxnSpPr>
        <p:spPr>
          <a:xfrm rot="10800000">
            <a:off x="2760785" y="1512800"/>
            <a:ext cx="0" cy="5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1" name="Google Shape;3051;p101"/>
          <p:cNvCxnSpPr/>
          <p:nvPr/>
        </p:nvCxnSpPr>
        <p:spPr>
          <a:xfrm>
            <a:off x="6631327" y="2214504"/>
            <a:ext cx="194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2" name="Google Shape;3052;p101"/>
          <p:cNvCxnSpPr/>
          <p:nvPr/>
        </p:nvCxnSpPr>
        <p:spPr>
          <a:xfrm rot="10800000">
            <a:off x="7003002" y="2750400"/>
            <a:ext cx="0" cy="112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3" name="Google Shape;3053;p101"/>
          <p:cNvCxnSpPr/>
          <p:nvPr/>
        </p:nvCxnSpPr>
        <p:spPr>
          <a:xfrm rot="10800000">
            <a:off x="5623875" y="2001875"/>
            <a:ext cx="0" cy="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4" name="Google Shape;3054;p101"/>
          <p:cNvSpPr txBox="1"/>
          <p:nvPr>
            <p:ph idx="1" type="body"/>
          </p:nvPr>
        </p:nvSpPr>
        <p:spPr>
          <a:xfrm>
            <a:off x="2790073" y="1682800"/>
            <a:ext cx="531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3055" name="Google Shape;3055;p101"/>
          <p:cNvSpPr txBox="1"/>
          <p:nvPr>
            <p:ph idx="1" type="body"/>
          </p:nvPr>
        </p:nvSpPr>
        <p:spPr>
          <a:xfrm>
            <a:off x="1273400" y="2172250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056" name="Google Shape;3056;p101"/>
          <p:cNvSpPr txBox="1"/>
          <p:nvPr>
            <p:ph idx="1" type="body"/>
          </p:nvPr>
        </p:nvSpPr>
        <p:spPr>
          <a:xfrm>
            <a:off x="5761873" y="1675475"/>
            <a:ext cx="531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3057" name="Google Shape;3057;p101"/>
          <p:cNvSpPr txBox="1"/>
          <p:nvPr>
            <p:ph idx="1" type="body"/>
          </p:nvPr>
        </p:nvSpPr>
        <p:spPr>
          <a:xfrm>
            <a:off x="7470799" y="2172650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058" name="Google Shape;3058;p101"/>
          <p:cNvSpPr txBox="1"/>
          <p:nvPr>
            <p:ph idx="1" type="body"/>
          </p:nvPr>
        </p:nvSpPr>
        <p:spPr>
          <a:xfrm>
            <a:off x="6508475" y="3137375"/>
            <a:ext cx="500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3059" name="Google Shape;3059;p101"/>
          <p:cNvSpPr txBox="1"/>
          <p:nvPr>
            <p:ph idx="1" type="body"/>
          </p:nvPr>
        </p:nvSpPr>
        <p:spPr>
          <a:xfrm>
            <a:off x="5045873" y="2572665"/>
            <a:ext cx="1075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= 10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060" name="Google Shape;3060;p101"/>
          <p:cNvSpPr txBox="1"/>
          <p:nvPr>
            <p:ph idx="1" type="body"/>
          </p:nvPr>
        </p:nvSpPr>
        <p:spPr>
          <a:xfrm>
            <a:off x="2299553" y="2867354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102"/>
          <p:cNvSpPr/>
          <p:nvPr/>
        </p:nvSpPr>
        <p:spPr>
          <a:xfrm rot="2913237">
            <a:off x="4480385" y="2446015"/>
            <a:ext cx="677580" cy="67758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6" name="Google Shape;3066;p102"/>
          <p:cNvSpPr/>
          <p:nvPr/>
        </p:nvSpPr>
        <p:spPr>
          <a:xfrm>
            <a:off x="3680175" y="2078664"/>
            <a:ext cx="1341900" cy="1342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7" name="Google Shape;3067;p102"/>
          <p:cNvSpPr/>
          <p:nvPr/>
        </p:nvSpPr>
        <p:spPr>
          <a:xfrm>
            <a:off x="4306208" y="2705675"/>
            <a:ext cx="85800" cy="8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8" name="Google Shape;306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sp>
        <p:nvSpPr>
          <p:cNvPr id="3069" name="Google Shape;3069;p102"/>
          <p:cNvSpPr txBox="1"/>
          <p:nvPr>
            <p:ph idx="1" type="body"/>
          </p:nvPr>
        </p:nvSpPr>
        <p:spPr>
          <a:xfrm>
            <a:off x="324000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3070" name="Google Shape;3070;p102"/>
          <p:cNvSpPr txBox="1"/>
          <p:nvPr>
            <p:ph idx="1" type="body"/>
          </p:nvPr>
        </p:nvSpPr>
        <p:spPr>
          <a:xfrm>
            <a:off x="3208610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3071" name="Google Shape;3071;p102"/>
          <p:cNvSpPr txBox="1"/>
          <p:nvPr>
            <p:ph idx="1" type="body"/>
          </p:nvPr>
        </p:nvSpPr>
        <p:spPr>
          <a:xfrm>
            <a:off x="6093219" y="1799700"/>
            <a:ext cx="276900" cy="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/>
          </a:p>
        </p:txBody>
      </p:sp>
      <p:grpSp>
        <p:nvGrpSpPr>
          <p:cNvPr id="3072" name="Google Shape;3072;p102"/>
          <p:cNvGrpSpPr/>
          <p:nvPr/>
        </p:nvGrpSpPr>
        <p:grpSpPr>
          <a:xfrm>
            <a:off x="624200" y="1928498"/>
            <a:ext cx="1617063" cy="1617247"/>
            <a:chOff x="10520725" y="1758260"/>
            <a:chExt cx="2635800" cy="2636100"/>
          </a:xfrm>
        </p:grpSpPr>
        <p:sp>
          <p:nvSpPr>
            <p:cNvPr id="3073" name="Google Shape;3073;p102"/>
            <p:cNvSpPr/>
            <p:nvPr/>
          </p:nvSpPr>
          <p:spPr>
            <a:xfrm>
              <a:off x="11825777" y="1764013"/>
              <a:ext cx="1330500" cy="1330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4" name="Google Shape;3074;p102"/>
            <p:cNvSpPr/>
            <p:nvPr/>
          </p:nvSpPr>
          <p:spPr>
            <a:xfrm>
              <a:off x="10520725" y="1758260"/>
              <a:ext cx="2635800" cy="26361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5" name="Google Shape;3075;p102"/>
            <p:cNvSpPr/>
            <p:nvPr/>
          </p:nvSpPr>
          <p:spPr>
            <a:xfrm>
              <a:off x="11825774" y="2882772"/>
              <a:ext cx="203700" cy="203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76" name="Google Shape;3076;p102"/>
            <p:cNvCxnSpPr/>
            <p:nvPr/>
          </p:nvCxnSpPr>
          <p:spPr>
            <a:xfrm>
              <a:off x="11831097" y="3097632"/>
              <a:ext cx="1318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77" name="Google Shape;3077;p102"/>
            <p:cNvSpPr/>
            <p:nvPr/>
          </p:nvSpPr>
          <p:spPr>
            <a:xfrm>
              <a:off x="11741603" y="3010320"/>
              <a:ext cx="168000" cy="1680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078" name="Google Shape;3078;p102"/>
          <p:cNvCxnSpPr/>
          <p:nvPr/>
        </p:nvCxnSpPr>
        <p:spPr>
          <a:xfrm flipH="1" rot="10800000">
            <a:off x="1423867" y="1928428"/>
            <a:ext cx="8100" cy="76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9" name="Google Shape;3079;p102"/>
          <p:cNvSpPr txBox="1"/>
          <p:nvPr/>
        </p:nvSpPr>
        <p:spPr>
          <a:xfrm>
            <a:off x="1586772" y="2795737"/>
            <a:ext cx="563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0" name="Google Shape;3080;p102"/>
          <p:cNvSpPr txBox="1"/>
          <p:nvPr/>
        </p:nvSpPr>
        <p:spPr>
          <a:xfrm>
            <a:off x="4073411" y="2297013"/>
            <a:ext cx="533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1" name="Google Shape;3081;p102"/>
          <p:cNvSpPr/>
          <p:nvPr/>
        </p:nvSpPr>
        <p:spPr>
          <a:xfrm>
            <a:off x="7070712" y="2740181"/>
            <a:ext cx="762600" cy="7626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2" name="Google Shape;3082;p102"/>
          <p:cNvSpPr/>
          <p:nvPr/>
        </p:nvSpPr>
        <p:spPr>
          <a:xfrm>
            <a:off x="6306175" y="1971675"/>
            <a:ext cx="1530600" cy="1530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3" name="Google Shape;3083;p102"/>
          <p:cNvSpPr/>
          <p:nvPr/>
        </p:nvSpPr>
        <p:spPr>
          <a:xfrm>
            <a:off x="7015186" y="2698802"/>
            <a:ext cx="97800" cy="9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4" name="Google Shape;3084;p102"/>
          <p:cNvCxnSpPr>
            <a:stCxn id="3082" idx="1"/>
            <a:endCxn id="3083" idx="1"/>
          </p:cNvCxnSpPr>
          <p:nvPr/>
        </p:nvCxnSpPr>
        <p:spPr>
          <a:xfrm>
            <a:off x="6530326" y="2195870"/>
            <a:ext cx="499200" cy="51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5" name="Google Shape;3085;p102"/>
          <p:cNvSpPr txBox="1"/>
          <p:nvPr/>
        </p:nvSpPr>
        <p:spPr>
          <a:xfrm>
            <a:off x="6797161" y="2243578"/>
            <a:ext cx="5337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6" name="Google Shape;3086;p102"/>
          <p:cNvCxnSpPr/>
          <p:nvPr/>
        </p:nvCxnSpPr>
        <p:spPr>
          <a:xfrm rot="10800000">
            <a:off x="4428728" y="2693086"/>
            <a:ext cx="64500" cy="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7" name="Google Shape;3087;p102"/>
          <p:cNvCxnSpPr/>
          <p:nvPr/>
        </p:nvCxnSpPr>
        <p:spPr>
          <a:xfrm flipH="1" rot="10800000">
            <a:off x="4417018" y="2755744"/>
            <a:ext cx="77400" cy="6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8" name="Google Shape;3088;p102"/>
          <p:cNvCxnSpPr/>
          <p:nvPr/>
        </p:nvCxnSpPr>
        <p:spPr>
          <a:xfrm flipH="1" rot="10800000">
            <a:off x="4351759" y="2310530"/>
            <a:ext cx="492300" cy="43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9" name="Google Shape;3089;p102"/>
          <p:cNvSpPr txBox="1"/>
          <p:nvPr>
            <p:ph idx="1" type="body"/>
          </p:nvPr>
        </p:nvSpPr>
        <p:spPr>
          <a:xfrm>
            <a:off x="330505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3090" name="Google Shape;3090;p102"/>
          <p:cNvSpPr txBox="1"/>
          <p:nvPr>
            <p:ph idx="1" type="body"/>
          </p:nvPr>
        </p:nvSpPr>
        <p:spPr>
          <a:xfrm>
            <a:off x="330505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  <p:sp>
        <p:nvSpPr>
          <p:cNvPr id="3091" name="Google Shape;3091;p102"/>
          <p:cNvSpPr txBox="1"/>
          <p:nvPr>
            <p:ph idx="1" type="body"/>
          </p:nvPr>
        </p:nvSpPr>
        <p:spPr>
          <a:xfrm>
            <a:off x="3230626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3092" name="Google Shape;3092;p102"/>
          <p:cNvSpPr txBox="1"/>
          <p:nvPr>
            <p:ph idx="1" type="body"/>
          </p:nvPr>
        </p:nvSpPr>
        <p:spPr>
          <a:xfrm>
            <a:off x="3230626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  <p:sp>
        <p:nvSpPr>
          <p:cNvPr id="3093" name="Google Shape;3093;p102"/>
          <p:cNvSpPr txBox="1"/>
          <p:nvPr>
            <p:ph idx="1" type="body"/>
          </p:nvPr>
        </p:nvSpPr>
        <p:spPr>
          <a:xfrm>
            <a:off x="6100666" y="3747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i) area of square =</a:t>
            </a:r>
            <a:endParaRPr sz="1600"/>
          </a:p>
        </p:txBody>
      </p:sp>
      <p:sp>
        <p:nvSpPr>
          <p:cNvPr id="3094" name="Google Shape;3094;p102"/>
          <p:cNvSpPr txBox="1"/>
          <p:nvPr>
            <p:ph idx="1" type="body"/>
          </p:nvPr>
        </p:nvSpPr>
        <p:spPr>
          <a:xfrm>
            <a:off x="6100666" y="4128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ii) area of circle =</a:t>
            </a:r>
            <a:endParaRPr sz="1600"/>
          </a:p>
        </p:txBody>
      </p:sp>
      <p:sp>
        <p:nvSpPr>
          <p:cNvPr id="3095" name="Google Shape;3095;p102"/>
          <p:cNvSpPr txBox="1"/>
          <p:nvPr>
            <p:ph idx="1" type="body"/>
          </p:nvPr>
        </p:nvSpPr>
        <p:spPr>
          <a:xfrm>
            <a:off x="2198538" y="3725888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6" name="Google Shape;3096;p102"/>
          <p:cNvSpPr txBox="1"/>
          <p:nvPr>
            <p:ph idx="1" type="body"/>
          </p:nvPr>
        </p:nvSpPr>
        <p:spPr>
          <a:xfrm>
            <a:off x="2114595" y="4091400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7" name="Google Shape;3097;p102"/>
          <p:cNvSpPr txBox="1"/>
          <p:nvPr>
            <p:ph idx="1" type="body"/>
          </p:nvPr>
        </p:nvSpPr>
        <p:spPr>
          <a:xfrm>
            <a:off x="5076667" y="3725888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8" name="Google Shape;3098;p102"/>
          <p:cNvSpPr txBox="1"/>
          <p:nvPr>
            <p:ph idx="1" type="body"/>
          </p:nvPr>
        </p:nvSpPr>
        <p:spPr>
          <a:xfrm>
            <a:off x="4992723" y="4091400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9" name="Google Shape;3099;p102"/>
          <p:cNvSpPr txBox="1"/>
          <p:nvPr>
            <p:ph idx="1" type="body"/>
          </p:nvPr>
        </p:nvSpPr>
        <p:spPr>
          <a:xfrm>
            <a:off x="7946707" y="3725888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49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0" name="Google Shape;3100;p102"/>
          <p:cNvSpPr txBox="1"/>
          <p:nvPr>
            <p:ph idx="1" type="body"/>
          </p:nvPr>
        </p:nvSpPr>
        <p:spPr>
          <a:xfrm>
            <a:off x="7862777" y="4091400"/>
            <a:ext cx="11370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49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1" name="Google Shape;3101;p102"/>
          <p:cNvSpPr txBox="1"/>
          <p:nvPr>
            <p:ph idx="1" type="body"/>
          </p:nvPr>
        </p:nvSpPr>
        <p:spPr>
          <a:xfrm>
            <a:off x="324000" y="683100"/>
            <a:ext cx="89283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Each circle overlaps with a square. For each question:</a:t>
            </a:r>
            <a:endParaRPr sz="1800"/>
          </a:p>
        </p:txBody>
      </p:sp>
      <p:sp>
        <p:nvSpPr>
          <p:cNvPr id="3102" name="Google Shape;3102;p102"/>
          <p:cNvSpPr txBox="1"/>
          <p:nvPr>
            <p:ph idx="1" type="body"/>
          </p:nvPr>
        </p:nvSpPr>
        <p:spPr>
          <a:xfrm>
            <a:off x="597311" y="1027032"/>
            <a:ext cx="358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i) Find the area of the square.</a:t>
            </a:r>
            <a:endParaRPr sz="1800"/>
          </a:p>
        </p:txBody>
      </p:sp>
      <p:sp>
        <p:nvSpPr>
          <p:cNvPr id="3103" name="Google Shape;3103;p102"/>
          <p:cNvSpPr txBox="1"/>
          <p:nvPr>
            <p:ph idx="1" type="body"/>
          </p:nvPr>
        </p:nvSpPr>
        <p:spPr>
          <a:xfrm>
            <a:off x="597311" y="1330657"/>
            <a:ext cx="464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ii) Find the area of the circle in terms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8" name="Google Shape;3108;p103"/>
          <p:cNvCxnSpPr/>
          <p:nvPr/>
        </p:nvCxnSpPr>
        <p:spPr>
          <a:xfrm rot="10800000">
            <a:off x="2652050" y="2003374"/>
            <a:ext cx="7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9" name="Google Shape;3109;p103"/>
          <p:cNvCxnSpPr/>
          <p:nvPr/>
        </p:nvCxnSpPr>
        <p:spPr>
          <a:xfrm>
            <a:off x="2057386" y="1517205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0" name="Google Shape;3110;p103"/>
          <p:cNvCxnSpPr/>
          <p:nvPr/>
        </p:nvCxnSpPr>
        <p:spPr>
          <a:xfrm>
            <a:off x="2048588" y="210681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1" name="Google Shape;3111;p103"/>
          <p:cNvCxnSpPr/>
          <p:nvPr/>
        </p:nvCxnSpPr>
        <p:spPr>
          <a:xfrm rot="10800000">
            <a:off x="2652075" y="2001875"/>
            <a:ext cx="0" cy="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2" name="Google Shape;3112;p103"/>
          <p:cNvCxnSpPr/>
          <p:nvPr/>
        </p:nvCxnSpPr>
        <p:spPr>
          <a:xfrm rot="10800000">
            <a:off x="5623850" y="2003374"/>
            <a:ext cx="7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3" name="Google Shape;3113;p103"/>
          <p:cNvCxnSpPr/>
          <p:nvPr/>
        </p:nvCxnSpPr>
        <p:spPr>
          <a:xfrm>
            <a:off x="5029186" y="1517205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103"/>
          <p:cNvCxnSpPr/>
          <p:nvPr/>
        </p:nvCxnSpPr>
        <p:spPr>
          <a:xfrm>
            <a:off x="5020388" y="210681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103"/>
          <p:cNvCxnSpPr/>
          <p:nvPr/>
        </p:nvCxnSpPr>
        <p:spPr>
          <a:xfrm>
            <a:off x="6979920" y="2723260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6" name="Google Shape;3116;p103"/>
          <p:cNvCxnSpPr/>
          <p:nvPr/>
        </p:nvCxnSpPr>
        <p:spPr>
          <a:xfrm>
            <a:off x="6975202" y="3874316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103"/>
          <p:cNvCxnSpPr/>
          <p:nvPr/>
        </p:nvCxnSpPr>
        <p:spPr>
          <a:xfrm>
            <a:off x="1544064" y="3291670"/>
            <a:ext cx="769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8" name="Google Shape;3118;p103"/>
          <p:cNvCxnSpPr/>
          <p:nvPr/>
        </p:nvCxnSpPr>
        <p:spPr>
          <a:xfrm>
            <a:off x="1549212" y="2712962"/>
            <a:ext cx="79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19" name="Google Shape;3119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Deriving the formula to calculate areas of circles</a:t>
            </a:r>
            <a:endParaRPr/>
          </a:p>
        </p:txBody>
      </p:sp>
      <p:grpSp>
        <p:nvGrpSpPr>
          <p:cNvPr id="3120" name="Google Shape;3120;p103"/>
          <p:cNvGrpSpPr/>
          <p:nvPr/>
        </p:nvGrpSpPr>
        <p:grpSpPr>
          <a:xfrm>
            <a:off x="674349" y="2471013"/>
            <a:ext cx="1641660" cy="1641660"/>
            <a:chOff x="779296" y="1224286"/>
            <a:chExt cx="2725200" cy="2725200"/>
          </a:xfrm>
        </p:grpSpPr>
        <p:grpSp>
          <p:nvGrpSpPr>
            <p:cNvPr id="3121" name="Google Shape;3121;p103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122" name="Google Shape;3122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3" name="Google Shape;3123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4" name="Google Shape;3124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5" name="Google Shape;3125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6" name="Google Shape;3126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7" name="Google Shape;3127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8" name="Google Shape;3128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9" name="Google Shape;3129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0" name="Google Shape;3130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1" name="Google Shape;3131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2" name="Google Shape;3132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3" name="Google Shape;3133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34" name="Google Shape;3134;p103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135" name="Google Shape;3135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6" name="Google Shape;3136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7" name="Google Shape;3137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8" name="Google Shape;3138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9" name="Google Shape;3139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0" name="Google Shape;3140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1" name="Google Shape;3141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2" name="Google Shape;3142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3" name="Google Shape;3143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4" name="Google Shape;3144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5" name="Google Shape;3145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6" name="Google Shape;3146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47" name="Google Shape;3147;p103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48" name="Google Shape;3148;p103"/>
          <p:cNvGrpSpPr/>
          <p:nvPr/>
        </p:nvGrpSpPr>
        <p:grpSpPr>
          <a:xfrm>
            <a:off x="-46608" y="875213"/>
            <a:ext cx="3151509" cy="1875125"/>
            <a:chOff x="4027707" y="1467887"/>
            <a:chExt cx="5231589" cy="3112758"/>
          </a:xfrm>
        </p:grpSpPr>
        <p:grpSp>
          <p:nvGrpSpPr>
            <p:cNvPr id="3149" name="Google Shape;3149;p103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150" name="Google Shape;3150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1" name="Google Shape;3151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52" name="Google Shape;3152;p103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153" name="Google Shape;3153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4" name="Google Shape;3154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55" name="Google Shape;3155;p103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156" name="Google Shape;3156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7" name="Google Shape;3157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58" name="Google Shape;3158;p103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159" name="Google Shape;3159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0" name="Google Shape;3160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61" name="Google Shape;3161;p103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162" name="Google Shape;3162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3" name="Google Shape;3163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64" name="Google Shape;3164;p103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165" name="Google Shape;3165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6" name="Google Shape;3166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67" name="Google Shape;3167;p103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168" name="Google Shape;3168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9" name="Google Shape;3169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70" name="Google Shape;3170;p103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171" name="Google Shape;3171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2" name="Google Shape;3172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73" name="Google Shape;3173;p103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174" name="Google Shape;3174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5" name="Google Shape;3175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76" name="Google Shape;3176;p103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177" name="Google Shape;3177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78" name="Google Shape;3178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79" name="Google Shape;3179;p103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180" name="Google Shape;3180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1" name="Google Shape;3181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82" name="Google Shape;3182;p103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183" name="Google Shape;3183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4" name="Google Shape;3184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85" name="Google Shape;3185;p103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86" name="Google Shape;3186;p103"/>
          <p:cNvGrpSpPr/>
          <p:nvPr/>
        </p:nvGrpSpPr>
        <p:grpSpPr>
          <a:xfrm>
            <a:off x="3715214" y="2471797"/>
            <a:ext cx="1641660" cy="1641660"/>
            <a:chOff x="779296" y="1224286"/>
            <a:chExt cx="2725200" cy="2725200"/>
          </a:xfrm>
        </p:grpSpPr>
        <p:grpSp>
          <p:nvGrpSpPr>
            <p:cNvPr id="3187" name="Google Shape;3187;p103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188" name="Google Shape;3188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9" name="Google Shape;3189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0" name="Google Shape;3190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1" name="Google Shape;3191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2" name="Google Shape;3192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3" name="Google Shape;3193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4" name="Google Shape;3194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5" name="Google Shape;3195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6" name="Google Shape;3196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7" name="Google Shape;3197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8" name="Google Shape;3198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9" name="Google Shape;3199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00" name="Google Shape;3200;p103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201" name="Google Shape;3201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2" name="Google Shape;3202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3" name="Google Shape;3203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4" name="Google Shape;3204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5" name="Google Shape;3205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6" name="Google Shape;3206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7" name="Google Shape;3207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8" name="Google Shape;3208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9" name="Google Shape;3209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0" name="Google Shape;3210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1" name="Google Shape;3211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2" name="Google Shape;3212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213" name="Google Shape;3213;p103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14" name="Google Shape;3214;p103"/>
          <p:cNvGrpSpPr/>
          <p:nvPr/>
        </p:nvGrpSpPr>
        <p:grpSpPr>
          <a:xfrm>
            <a:off x="2961609" y="875213"/>
            <a:ext cx="3151509" cy="1875125"/>
            <a:chOff x="4027707" y="1467887"/>
            <a:chExt cx="5231589" cy="3112758"/>
          </a:xfrm>
        </p:grpSpPr>
        <p:grpSp>
          <p:nvGrpSpPr>
            <p:cNvPr id="3215" name="Google Shape;3215;p103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16" name="Google Shape;3216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7" name="Google Shape;3217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18" name="Google Shape;3218;p103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19" name="Google Shape;3219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0" name="Google Shape;3220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21" name="Google Shape;3221;p103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22" name="Google Shape;3222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3" name="Google Shape;3223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24" name="Google Shape;3224;p103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25" name="Google Shape;3225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6" name="Google Shape;3226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27" name="Google Shape;3227;p103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28" name="Google Shape;3228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9" name="Google Shape;3229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30" name="Google Shape;3230;p103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31" name="Google Shape;3231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32" name="Google Shape;3232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33" name="Google Shape;3233;p103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34" name="Google Shape;3234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35" name="Google Shape;3235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36" name="Google Shape;3236;p103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37" name="Google Shape;3237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38" name="Google Shape;3238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39" name="Google Shape;3239;p103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40" name="Google Shape;3240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41" name="Google Shape;3241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42" name="Google Shape;3242;p103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43" name="Google Shape;3243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44" name="Google Shape;3244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45" name="Google Shape;3245;p103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46" name="Google Shape;3246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47" name="Google Shape;3247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48" name="Google Shape;3248;p103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49" name="Google Shape;3249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50" name="Google Shape;3250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251" name="Google Shape;3251;p103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52" name="Google Shape;3252;p103"/>
          <p:cNvGrpSpPr/>
          <p:nvPr/>
        </p:nvGrpSpPr>
        <p:grpSpPr>
          <a:xfrm>
            <a:off x="6070149" y="875213"/>
            <a:ext cx="3151509" cy="1875125"/>
            <a:chOff x="4027707" y="1467887"/>
            <a:chExt cx="5231589" cy="3112758"/>
          </a:xfrm>
        </p:grpSpPr>
        <p:grpSp>
          <p:nvGrpSpPr>
            <p:cNvPr id="3253" name="Google Shape;3253;p103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54" name="Google Shape;3254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55" name="Google Shape;3255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56" name="Google Shape;3256;p103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57" name="Google Shape;3257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58" name="Google Shape;3258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59" name="Google Shape;3259;p103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60" name="Google Shape;3260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61" name="Google Shape;3261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62" name="Google Shape;3262;p103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63" name="Google Shape;3263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64" name="Google Shape;3264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65" name="Google Shape;3265;p103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66" name="Google Shape;3266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67" name="Google Shape;3267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68" name="Google Shape;3268;p103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69" name="Google Shape;3269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70" name="Google Shape;3270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71" name="Google Shape;3271;p103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72" name="Google Shape;3272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73" name="Google Shape;3273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74" name="Google Shape;3274;p103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75" name="Google Shape;3275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76" name="Google Shape;3276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77" name="Google Shape;3277;p103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278" name="Google Shape;3278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79" name="Google Shape;3279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80" name="Google Shape;3280;p103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281" name="Google Shape;3281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2" name="Google Shape;3282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83" name="Google Shape;3283;p103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284" name="Google Shape;3284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5" name="Google Shape;3285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86" name="Google Shape;3286;p103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287" name="Google Shape;3287;p103"/>
              <p:cNvSpPr/>
              <p:nvPr/>
            </p:nvSpPr>
            <p:spPr>
              <a:xfrm flipH="1" rot="-448215">
                <a:off x="4507051" y="2536818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8" name="Google Shape;3288;p103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289" name="Google Shape;3289;p103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fmla="val 1260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90" name="Google Shape;3290;p103"/>
          <p:cNvGrpSpPr/>
          <p:nvPr/>
        </p:nvGrpSpPr>
        <p:grpSpPr>
          <a:xfrm>
            <a:off x="6867999" y="2477911"/>
            <a:ext cx="1641660" cy="1641660"/>
            <a:chOff x="779296" y="1224286"/>
            <a:chExt cx="2725200" cy="2725200"/>
          </a:xfrm>
        </p:grpSpPr>
        <p:grpSp>
          <p:nvGrpSpPr>
            <p:cNvPr id="3291" name="Google Shape;3291;p103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292" name="Google Shape;3292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3" name="Google Shape;3293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4" name="Google Shape;3294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5" name="Google Shape;3295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6" name="Google Shape;3296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7" name="Google Shape;3297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8" name="Google Shape;3298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9" name="Google Shape;3299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0" name="Google Shape;3300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1" name="Google Shape;3301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2" name="Google Shape;3302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3" name="Google Shape;3303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304" name="Google Shape;3304;p103"/>
            <p:cNvGrpSpPr/>
            <p:nvPr/>
          </p:nvGrpSpPr>
          <p:grpSpPr>
            <a:xfrm flipH="1" rot="10800000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305" name="Google Shape;3305;p103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6" name="Google Shape;3306;p103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7" name="Google Shape;3307;p103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8" name="Google Shape;3308;p103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9" name="Google Shape;3309;p103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0" name="Google Shape;3310;p103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1" name="Google Shape;3311;p103"/>
              <p:cNvSpPr/>
              <p:nvPr/>
            </p:nvSpPr>
            <p:spPr>
              <a:xfrm flipH="1" rot="-897609">
                <a:off x="1180446" y="1625244"/>
                <a:ext cx="1926808" cy="1926808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2" name="Google Shape;3312;p103"/>
              <p:cNvSpPr/>
              <p:nvPr/>
            </p:nvSpPr>
            <p:spPr>
              <a:xfrm flipH="1" rot="-1802750">
                <a:off x="1180321" y="1623366"/>
                <a:ext cx="1926931" cy="1926931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3" name="Google Shape;3313;p103"/>
              <p:cNvSpPr/>
              <p:nvPr/>
            </p:nvSpPr>
            <p:spPr>
              <a:xfrm flipH="1" rot="-2700000">
                <a:off x="1178393" y="1623382"/>
                <a:ext cx="1927007" cy="1927007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4" name="Google Shape;3314;p103"/>
              <p:cNvSpPr/>
              <p:nvPr/>
            </p:nvSpPr>
            <p:spPr>
              <a:xfrm flipH="1" rot="-3598713">
                <a:off x="1174569" y="1623408"/>
                <a:ext cx="1927150" cy="192715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5" name="Google Shape;3315;p103"/>
              <p:cNvSpPr/>
              <p:nvPr/>
            </p:nvSpPr>
            <p:spPr>
              <a:xfrm flipH="1" rot="-4499806">
                <a:off x="1174663" y="1623354"/>
                <a:ext cx="1927196" cy="1927196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6" name="Google Shape;3316;p103"/>
              <p:cNvSpPr/>
              <p:nvPr/>
            </p:nvSpPr>
            <p:spPr>
              <a:xfrm flipH="1" rot="-5400000">
                <a:off x="1174663" y="1623354"/>
                <a:ext cx="1927200" cy="1927200"/>
              </a:xfrm>
              <a:prstGeom prst="pie">
                <a:avLst>
                  <a:gd fmla="val 15293500" name="adj1"/>
                  <a:gd fmla="val 16225541" name="adj2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17" name="Google Shape;3317;p103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18" name="Google Shape;3318;p103"/>
          <p:cNvSpPr txBox="1"/>
          <p:nvPr>
            <p:ph idx="1" type="body"/>
          </p:nvPr>
        </p:nvSpPr>
        <p:spPr>
          <a:xfrm>
            <a:off x="338650" y="4083865"/>
            <a:ext cx="8466300" cy="7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Match each parallelogram with the circle of the same approximate area.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Find the area of each circle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1800"/>
          </a:p>
        </p:txBody>
      </p:sp>
      <p:cxnSp>
        <p:nvCxnSpPr>
          <p:cNvPr id="3319" name="Google Shape;3319;p103"/>
          <p:cNvCxnSpPr/>
          <p:nvPr/>
        </p:nvCxnSpPr>
        <p:spPr>
          <a:xfrm>
            <a:off x="510894" y="2214504"/>
            <a:ext cx="194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0" name="Google Shape;3320;p103"/>
          <p:cNvCxnSpPr/>
          <p:nvPr/>
        </p:nvCxnSpPr>
        <p:spPr>
          <a:xfrm rot="10800000">
            <a:off x="5730609" y="1512800"/>
            <a:ext cx="0" cy="5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1" name="Google Shape;3321;p103"/>
          <p:cNvCxnSpPr/>
          <p:nvPr/>
        </p:nvCxnSpPr>
        <p:spPr>
          <a:xfrm rot="10800000">
            <a:off x="2257152" y="2718111"/>
            <a:ext cx="0" cy="55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2" name="Google Shape;3322;p103"/>
          <p:cNvCxnSpPr/>
          <p:nvPr/>
        </p:nvCxnSpPr>
        <p:spPr>
          <a:xfrm flipH="1">
            <a:off x="4729875" y="2719250"/>
            <a:ext cx="281100" cy="2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3" name="Google Shape;3323;p103"/>
          <p:cNvCxnSpPr/>
          <p:nvPr/>
        </p:nvCxnSpPr>
        <p:spPr>
          <a:xfrm rot="10800000">
            <a:off x="2760785" y="1512800"/>
            <a:ext cx="0" cy="5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4" name="Google Shape;3324;p103"/>
          <p:cNvCxnSpPr/>
          <p:nvPr/>
        </p:nvCxnSpPr>
        <p:spPr>
          <a:xfrm>
            <a:off x="6631327" y="2214504"/>
            <a:ext cx="194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5" name="Google Shape;3325;p103"/>
          <p:cNvCxnSpPr/>
          <p:nvPr/>
        </p:nvCxnSpPr>
        <p:spPr>
          <a:xfrm rot="10800000">
            <a:off x="7003002" y="2750400"/>
            <a:ext cx="0" cy="112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6" name="Google Shape;3326;p103"/>
          <p:cNvCxnSpPr/>
          <p:nvPr/>
        </p:nvCxnSpPr>
        <p:spPr>
          <a:xfrm rot="10800000">
            <a:off x="5623875" y="2001875"/>
            <a:ext cx="0" cy="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7" name="Google Shape;3327;p103"/>
          <p:cNvSpPr txBox="1"/>
          <p:nvPr>
            <p:ph idx="1" type="body"/>
          </p:nvPr>
        </p:nvSpPr>
        <p:spPr>
          <a:xfrm>
            <a:off x="2790073" y="1682800"/>
            <a:ext cx="531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3328" name="Google Shape;3328;p103"/>
          <p:cNvSpPr txBox="1"/>
          <p:nvPr>
            <p:ph idx="1" type="body"/>
          </p:nvPr>
        </p:nvSpPr>
        <p:spPr>
          <a:xfrm>
            <a:off x="1273400" y="2172250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329" name="Google Shape;3329;p103"/>
          <p:cNvSpPr txBox="1"/>
          <p:nvPr>
            <p:ph idx="1" type="body"/>
          </p:nvPr>
        </p:nvSpPr>
        <p:spPr>
          <a:xfrm>
            <a:off x="5761873" y="1675475"/>
            <a:ext cx="5316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3330" name="Google Shape;3330;p103"/>
          <p:cNvSpPr txBox="1"/>
          <p:nvPr>
            <p:ph idx="1" type="body"/>
          </p:nvPr>
        </p:nvSpPr>
        <p:spPr>
          <a:xfrm>
            <a:off x="7470799" y="2172650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331" name="Google Shape;3331;p103"/>
          <p:cNvSpPr txBox="1"/>
          <p:nvPr>
            <p:ph idx="1" type="body"/>
          </p:nvPr>
        </p:nvSpPr>
        <p:spPr>
          <a:xfrm>
            <a:off x="6508475" y="3137375"/>
            <a:ext cx="500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3332" name="Google Shape;3332;p103"/>
          <p:cNvSpPr txBox="1"/>
          <p:nvPr>
            <p:ph idx="1" type="body"/>
          </p:nvPr>
        </p:nvSpPr>
        <p:spPr>
          <a:xfrm>
            <a:off x="5045873" y="2572665"/>
            <a:ext cx="1075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= 10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3333" name="Google Shape;3333;p103"/>
          <p:cNvSpPr txBox="1"/>
          <p:nvPr>
            <p:ph idx="1" type="body"/>
          </p:nvPr>
        </p:nvSpPr>
        <p:spPr>
          <a:xfrm>
            <a:off x="2299553" y="2867354"/>
            <a:ext cx="604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cxnSp>
        <p:nvCxnSpPr>
          <p:cNvPr id="3334" name="Google Shape;3334;p103"/>
          <p:cNvCxnSpPr/>
          <p:nvPr/>
        </p:nvCxnSpPr>
        <p:spPr>
          <a:xfrm>
            <a:off x="2454600" y="2119725"/>
            <a:ext cx="5084700" cy="622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5" name="Google Shape;3335;p103"/>
          <p:cNvCxnSpPr/>
          <p:nvPr/>
        </p:nvCxnSpPr>
        <p:spPr>
          <a:xfrm flipH="1" rot="10800000">
            <a:off x="2005950" y="2127100"/>
            <a:ext cx="2112000" cy="844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6" name="Google Shape;3336;p103"/>
          <p:cNvCxnSpPr>
            <a:stCxn id="3213" idx="6"/>
          </p:cNvCxnSpPr>
          <p:nvPr/>
        </p:nvCxnSpPr>
        <p:spPr>
          <a:xfrm flipH="1" rot="10800000">
            <a:off x="5109712" y="2127091"/>
            <a:ext cx="2312400" cy="116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7" name="Google Shape;3337;p103"/>
          <p:cNvSpPr txBox="1"/>
          <p:nvPr>
            <p:ph idx="1" type="body"/>
          </p:nvPr>
        </p:nvSpPr>
        <p:spPr>
          <a:xfrm>
            <a:off x="1923475" y="3786600"/>
            <a:ext cx="9528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400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8" name="Google Shape;3338;p103"/>
          <p:cNvSpPr txBox="1"/>
          <p:nvPr>
            <p:ph idx="1" type="body"/>
          </p:nvPr>
        </p:nvSpPr>
        <p:spPr>
          <a:xfrm>
            <a:off x="4971475" y="3786600"/>
            <a:ext cx="811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9" name="Google Shape;3339;p103"/>
          <p:cNvSpPr txBox="1"/>
          <p:nvPr>
            <p:ph idx="1" type="body"/>
          </p:nvPr>
        </p:nvSpPr>
        <p:spPr>
          <a:xfrm>
            <a:off x="7993592" y="3786600"/>
            <a:ext cx="811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0" name="Google Shape;3340;p103"/>
          <p:cNvSpPr txBox="1"/>
          <p:nvPr>
            <p:ph idx="1" type="body"/>
          </p:nvPr>
        </p:nvSpPr>
        <p:spPr>
          <a:xfrm>
            <a:off x="324000" y="759300"/>
            <a:ext cx="82377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Each parallelogram is made from the sectors of one of the three circles.</a:t>
            </a:r>
            <a:br>
              <a:rPr lang="en-GB" sz="1800"/>
            </a:br>
            <a:r>
              <a:rPr lang="en-GB" sz="1800"/>
              <a:t>    The diagrams are not drawn to scale.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104"/>
          <p:cNvSpPr txBox="1"/>
          <p:nvPr>
            <p:ph idx="1" type="body"/>
          </p:nvPr>
        </p:nvSpPr>
        <p:spPr>
          <a:xfrm>
            <a:off x="253734" y="1017541"/>
            <a:ext cx="8468700" cy="37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area of a circle can be estimated by using </a:t>
            </a:r>
            <a:r>
              <a:rPr lang="en-GB" sz="2000"/>
              <a:t>squares</a:t>
            </a:r>
            <a:r>
              <a:rPr lang="en-GB" sz="2000"/>
              <a:t>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circle can be cut into sectors that are placed together to make a parallelogram.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length of the parallelogram is half the circumference of the circle.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height of the parallelogram is the radius of the circle.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formula for the area of a circle can be derived from the area of this parallelogram.</a:t>
            </a:r>
            <a:endParaRPr sz="2000"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 sz="2000"/>
              <a:t>The area of a circle can be calculated using the formula</a:t>
            </a:r>
            <a:r>
              <a:rPr lang="en-GB"/>
              <a:t> </a:t>
            </a:r>
            <a:r>
              <a:rPr lang="en-GB" sz="2000"/>
              <a:t>A =</a:t>
            </a:r>
            <a:r>
              <a:rPr lang="en-GB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2000"/>
              <a:t>.</a:t>
            </a:r>
            <a:r>
              <a:rPr lang="en-GB" sz="2300"/>
              <a:t> </a:t>
            </a:r>
            <a:endParaRPr sz="2300"/>
          </a:p>
        </p:txBody>
      </p:sp>
      <p:sp>
        <p:nvSpPr>
          <p:cNvPr id="3346" name="Google Shape;3346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" name="Google Shape;3351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352" name="Google Shape;335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