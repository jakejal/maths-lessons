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17A9B6-E5ED-4A57-AC65-1D6FB952D6EC}">
  <a:tblStyle styleId="{0017A9B6-E5ED-4A57-AC65-1D6FB952D6E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a3677ce35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g2a3677ce35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a3677ce35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g2a3677ce35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a3677ce35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g2a3677ce35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a3677ce35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g2a3677ce35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a3677ce35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g2a3677ce35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a3677ce35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g2a3677ce35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a3677ce358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g2a3677ce35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a3677ce358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2a3677ce35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a3677ce35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4" name="Google Shape;884;g2a3677ce35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a3677ce358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g2a3677ce358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a3677ce358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g2a3677ce358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a3677ce358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g2a3677ce358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2a3677ce358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g2a3677ce358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a3677ce358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3" name="Google Shape;1083;g2a3677ce358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a3677ce358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g2a3677ce358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a3677ce358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5" name="Google Shape;1145;g2a3677ce358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a3677ce358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g2a3677ce358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a3677ce358_0_8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4" name="Google Shape;1214;g2a3677ce358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9958ee409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9958ee409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9958ee409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9958ee409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9958ee409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9958ee409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9958ee409c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9958ee409c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9958ee409c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9958ee409c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9958ee409c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9958ee409c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29958ee409c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29958ee409c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9958ee409c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29958ee409c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9958ee409c_0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29958ee409c_0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9958ee409c_0_1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9958ee409c_0_1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29958ee409c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29958ee409c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9958ee409c_0_1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29958ee409c_0_1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9958ee409c_0_1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9958ee409c_0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29958ee409c_0_1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29958ee409c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29958ee409c_0_1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29958ee409c_0_1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29958ee409c_0_1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29958ee409c_0_1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1" name="Google Shape;184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Relationship Id="rId4" Type="http://schemas.openxmlformats.org/officeDocument/2006/relationships/image" Target="../media/image124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24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24.png"/><Relationship Id="rId4" Type="http://schemas.openxmlformats.org/officeDocument/2006/relationships/image" Target="../media/image26.png"/><Relationship Id="rId11" Type="http://schemas.openxmlformats.org/officeDocument/2006/relationships/image" Target="../media/image20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Relationship Id="rId4" Type="http://schemas.openxmlformats.org/officeDocument/2006/relationships/image" Target="../media/image124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76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 1">
  <p:cSld name="CUSTOM_3_3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8" name="Google Shape;748;p64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64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64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1" name="Google Shape;751;p64"/>
          <p:cNvCxnSpPr>
            <a:endCxn id="752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53" name="Google Shape;753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5" name="Google Shape;755;p6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2" name="Google Shape;752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4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1">
  <p:cSld name="TITLE_AND_TWO_COLUMNS_1_1_5_1_3_1_1_2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3" name="Google Shape;763;p6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4" name="Google Shape;764;p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 1">
  <p:cSld name="TITLE_AND_TWO_COLUMNS_1_1_5_1_3_1_1_1_2">
    <p:bg>
      <p:bgPr>
        <a:solidFill>
          <a:srgbClr val="F3EEFB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Google Shape;768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1" name="Google Shape;771;p66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3" name="Google Shape;77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7" Type="http://schemas.openxmlformats.org/officeDocument/2006/relationships/theme" Target="../theme/theme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6.png"/><Relationship Id="rId4" Type="http://schemas.openxmlformats.org/officeDocument/2006/relationships/image" Target="../media/image61.png"/><Relationship Id="rId5" Type="http://schemas.openxmlformats.org/officeDocument/2006/relationships/image" Target="../media/image60.png"/><Relationship Id="rId6" Type="http://schemas.openxmlformats.org/officeDocument/2006/relationships/image" Target="../media/image62.png"/><Relationship Id="rId7" Type="http://schemas.openxmlformats.org/officeDocument/2006/relationships/image" Target="../media/image6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5.png"/><Relationship Id="rId4" Type="http://schemas.openxmlformats.org/officeDocument/2006/relationships/image" Target="../media/image43.png"/><Relationship Id="rId5" Type="http://schemas.openxmlformats.org/officeDocument/2006/relationships/image" Target="../media/image68.png"/><Relationship Id="rId6" Type="http://schemas.openxmlformats.org/officeDocument/2006/relationships/image" Target="../media/image7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5.png"/><Relationship Id="rId4" Type="http://schemas.openxmlformats.org/officeDocument/2006/relationships/image" Target="../media/image43.png"/><Relationship Id="rId5" Type="http://schemas.openxmlformats.org/officeDocument/2006/relationships/image" Target="../media/image68.png"/><Relationship Id="rId6" Type="http://schemas.openxmlformats.org/officeDocument/2006/relationships/image" Target="../media/image71.png"/><Relationship Id="rId7" Type="http://schemas.openxmlformats.org/officeDocument/2006/relationships/image" Target="../media/image7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6.png"/><Relationship Id="rId4" Type="http://schemas.openxmlformats.org/officeDocument/2006/relationships/image" Target="../media/image72.png"/><Relationship Id="rId9" Type="http://schemas.openxmlformats.org/officeDocument/2006/relationships/image" Target="../media/image73.png"/><Relationship Id="rId5" Type="http://schemas.openxmlformats.org/officeDocument/2006/relationships/image" Target="../media/image79.png"/><Relationship Id="rId6" Type="http://schemas.openxmlformats.org/officeDocument/2006/relationships/image" Target="../media/image74.png"/><Relationship Id="rId7" Type="http://schemas.openxmlformats.org/officeDocument/2006/relationships/image" Target="../media/image86.png"/><Relationship Id="rId8" Type="http://schemas.openxmlformats.org/officeDocument/2006/relationships/image" Target="../media/image78.png"/><Relationship Id="rId11" Type="http://schemas.openxmlformats.org/officeDocument/2006/relationships/image" Target="../media/image80.png"/><Relationship Id="rId10" Type="http://schemas.openxmlformats.org/officeDocument/2006/relationships/image" Target="../media/image8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6.png"/><Relationship Id="rId4" Type="http://schemas.openxmlformats.org/officeDocument/2006/relationships/image" Target="../media/image72.png"/><Relationship Id="rId9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78.png"/><Relationship Id="rId7" Type="http://schemas.openxmlformats.org/officeDocument/2006/relationships/image" Target="../media/image73.png"/><Relationship Id="rId8" Type="http://schemas.openxmlformats.org/officeDocument/2006/relationships/image" Target="../media/image8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5.png"/><Relationship Id="rId4" Type="http://schemas.openxmlformats.org/officeDocument/2006/relationships/image" Target="../media/image89.png"/><Relationship Id="rId5" Type="http://schemas.openxmlformats.org/officeDocument/2006/relationships/image" Target="../media/image9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5.png"/><Relationship Id="rId4" Type="http://schemas.openxmlformats.org/officeDocument/2006/relationships/image" Target="../media/image97.png"/><Relationship Id="rId5" Type="http://schemas.openxmlformats.org/officeDocument/2006/relationships/image" Target="../media/image105.png"/><Relationship Id="rId6" Type="http://schemas.openxmlformats.org/officeDocument/2006/relationships/image" Target="../media/image9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5.png"/><Relationship Id="rId4" Type="http://schemas.openxmlformats.org/officeDocument/2006/relationships/image" Target="../media/image89.png"/><Relationship Id="rId5" Type="http://schemas.openxmlformats.org/officeDocument/2006/relationships/image" Target="../media/image9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5.png"/><Relationship Id="rId4" Type="http://schemas.openxmlformats.org/officeDocument/2006/relationships/image" Target="../media/image97.png"/><Relationship Id="rId9" Type="http://schemas.openxmlformats.org/officeDocument/2006/relationships/image" Target="../media/image108.png"/><Relationship Id="rId5" Type="http://schemas.openxmlformats.org/officeDocument/2006/relationships/image" Target="../media/image105.png"/><Relationship Id="rId6" Type="http://schemas.openxmlformats.org/officeDocument/2006/relationships/image" Target="../media/image98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10" Type="http://schemas.openxmlformats.org/officeDocument/2006/relationships/image" Target="../media/image10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5.png"/><Relationship Id="rId4" Type="http://schemas.openxmlformats.org/officeDocument/2006/relationships/image" Target="../media/image111.png"/><Relationship Id="rId9" Type="http://schemas.openxmlformats.org/officeDocument/2006/relationships/image" Target="../media/image117.png"/><Relationship Id="rId5" Type="http://schemas.openxmlformats.org/officeDocument/2006/relationships/image" Target="../media/image61.png"/><Relationship Id="rId6" Type="http://schemas.openxmlformats.org/officeDocument/2006/relationships/image" Target="../media/image113.png"/><Relationship Id="rId7" Type="http://schemas.openxmlformats.org/officeDocument/2006/relationships/image" Target="../media/image115.png"/><Relationship Id="rId8" Type="http://schemas.openxmlformats.org/officeDocument/2006/relationships/image" Target="../media/image1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9.png"/><Relationship Id="rId4" Type="http://schemas.openxmlformats.org/officeDocument/2006/relationships/image" Target="../media/image118.png"/><Relationship Id="rId5" Type="http://schemas.openxmlformats.org/officeDocument/2006/relationships/image" Target="../media/image1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5.png"/><Relationship Id="rId4" Type="http://schemas.openxmlformats.org/officeDocument/2006/relationships/image" Target="../media/image43.png"/><Relationship Id="rId5" Type="http://schemas.openxmlformats.org/officeDocument/2006/relationships/image" Target="../media/image7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5.png"/><Relationship Id="rId4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9.png"/><Relationship Id="rId4" Type="http://schemas.openxmlformats.org/officeDocument/2006/relationships/image" Target="../media/image1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8.png"/><Relationship Id="rId4" Type="http://schemas.openxmlformats.org/officeDocument/2006/relationships/image" Target="../media/image1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1.png"/><Relationship Id="rId4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9.png"/><Relationship Id="rId4" Type="http://schemas.openxmlformats.org/officeDocument/2006/relationships/image" Target="../media/image1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8.png"/><Relationship Id="rId4" Type="http://schemas.openxmlformats.org/officeDocument/2006/relationships/image" Target="../media/image1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1.png"/><Relationship Id="rId4" Type="http://schemas.openxmlformats.org/officeDocument/2006/relationships/image" Target="../media/image4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Perimeter of composite shapes</a:t>
            </a:r>
            <a:endParaRPr/>
          </a:p>
        </p:txBody>
      </p:sp>
      <p:sp>
        <p:nvSpPr>
          <p:cNvPr id="780" name="Google Shape;780;p6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9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I can solve perimeter problems of composite shapes involving whole and/or part circles.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0"/>
          <p:cNvSpPr txBox="1"/>
          <p:nvPr>
            <p:ph idx="2" type="subTitle"/>
          </p:nvPr>
        </p:nvSpPr>
        <p:spPr>
          <a:xfrm>
            <a:off x="324000" y="82662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An </a:t>
            </a:r>
            <a:r>
              <a:rPr b="1" lang="en-GB"/>
              <a:t>arc</a:t>
            </a:r>
            <a:r>
              <a:rPr lang="en-GB"/>
              <a:t> is a part of a curve.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An </a:t>
            </a:r>
            <a:r>
              <a:rPr b="1" lang="en-GB"/>
              <a:t>arc</a:t>
            </a:r>
            <a:r>
              <a:rPr lang="en-GB"/>
              <a:t> of a circle is part of the circle’s circumference.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96" name="Google Shape;796;p70"/>
          <p:cNvSpPr txBox="1"/>
          <p:nvPr>
            <p:ph idx="2" type="subTitle"/>
          </p:nvPr>
        </p:nvSpPr>
        <p:spPr>
          <a:xfrm>
            <a:off x="2216150" y="3480550"/>
            <a:ext cx="9420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/>
              <a:t>arc</a:t>
            </a:r>
            <a:endParaRPr>
              <a:solidFill>
                <a:srgbClr val="FF0000"/>
              </a:solidFill>
            </a:endParaRPr>
          </a:p>
        </p:txBody>
      </p:sp>
      <p:grpSp>
        <p:nvGrpSpPr>
          <p:cNvPr id="797" name="Google Shape;797;p70"/>
          <p:cNvGrpSpPr/>
          <p:nvPr/>
        </p:nvGrpSpPr>
        <p:grpSpPr>
          <a:xfrm>
            <a:off x="2836575" y="2371725"/>
            <a:ext cx="2600550" cy="1612500"/>
            <a:chOff x="2836575" y="2371725"/>
            <a:chExt cx="2600550" cy="1612500"/>
          </a:xfrm>
        </p:grpSpPr>
        <p:cxnSp>
          <p:nvCxnSpPr>
            <p:cNvPr id="798" name="Google Shape;798;p70"/>
            <p:cNvCxnSpPr/>
            <p:nvPr/>
          </p:nvCxnSpPr>
          <p:spPr>
            <a:xfrm flipH="1" rot="10800000">
              <a:off x="2836575" y="3236350"/>
              <a:ext cx="877500" cy="2442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9" name="Google Shape;799;p70"/>
            <p:cNvSpPr/>
            <p:nvPr/>
          </p:nvSpPr>
          <p:spPr>
            <a:xfrm>
              <a:off x="3824625" y="2371725"/>
              <a:ext cx="1612500" cy="1612500"/>
            </a:xfrm>
            <a:prstGeom prst="ellipse">
              <a:avLst/>
            </a:prstGeom>
            <a:noFill/>
            <a:ln cap="flat" cmpd="sng" w="76200">
              <a:solidFill>
                <a:srgbClr val="CCCCC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0" name="Google Shape;800;p70"/>
            <p:cNvSpPr/>
            <p:nvPr/>
          </p:nvSpPr>
          <p:spPr>
            <a:xfrm>
              <a:off x="3824625" y="2371725"/>
              <a:ext cx="1612500" cy="1612500"/>
            </a:xfrm>
            <a:prstGeom prst="pie">
              <a:avLst>
                <a:gd fmla="val 0" name="adj1"/>
                <a:gd fmla="val 13287287" name="adj2"/>
              </a:avLst>
            </a:prstGeom>
            <a:noFill/>
            <a:ln cap="flat" cmpd="sng" w="762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1" name="Google Shape;801;p70"/>
            <p:cNvSpPr/>
            <p:nvPr/>
          </p:nvSpPr>
          <p:spPr>
            <a:xfrm>
              <a:off x="3859595" y="2396160"/>
              <a:ext cx="1556400" cy="155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sp>
        <p:nvSpPr>
          <p:cNvPr id="807" name="Google Shape;807;p7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sp>
        <p:nvSpPr>
          <p:cNvPr id="808" name="Google Shape;808;p7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Perimeter of composite shapes</a:t>
            </a:r>
            <a:endParaRPr/>
          </a:p>
        </p:txBody>
      </p:sp>
      <p:pic>
        <p:nvPicPr>
          <p:cNvPr id="809" name="Google Shape;80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700" y="20596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2"/>
          <p:cNvSpPr txBox="1"/>
          <p:nvPr>
            <p:ph idx="1" type="body"/>
          </p:nvPr>
        </p:nvSpPr>
        <p:spPr>
          <a:xfrm>
            <a:off x="324000" y="759300"/>
            <a:ext cx="286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length around the outside of a circle is called a circumference. </a:t>
            </a:r>
            <a:endParaRPr sz="1800"/>
          </a:p>
        </p:txBody>
      </p:sp>
      <p:sp>
        <p:nvSpPr>
          <p:cNvPr id="815" name="Google Shape;815;p72"/>
          <p:cNvSpPr txBox="1"/>
          <p:nvPr>
            <p:ph idx="1" type="body"/>
          </p:nvPr>
        </p:nvSpPr>
        <p:spPr>
          <a:xfrm>
            <a:off x="4261175" y="759300"/>
            <a:ext cx="45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But, there are two different options when considering the length created by a sector of a circle.</a:t>
            </a:r>
            <a:endParaRPr sz="1800"/>
          </a:p>
        </p:txBody>
      </p:sp>
      <p:sp>
        <p:nvSpPr>
          <p:cNvPr id="816" name="Google Shape;81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sp>
        <p:nvSpPr>
          <p:cNvPr id="817" name="Google Shape;817;p72"/>
          <p:cNvSpPr/>
          <p:nvPr/>
        </p:nvSpPr>
        <p:spPr>
          <a:xfrm>
            <a:off x="676200" y="2193300"/>
            <a:ext cx="2160000" cy="2160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2"/>
          <p:cNvSpPr/>
          <p:nvPr/>
        </p:nvSpPr>
        <p:spPr>
          <a:xfrm>
            <a:off x="676200" y="2193300"/>
            <a:ext cx="2160000" cy="216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2"/>
          <p:cNvSpPr txBox="1"/>
          <p:nvPr>
            <p:ph idx="1" type="body"/>
          </p:nvPr>
        </p:nvSpPr>
        <p:spPr>
          <a:xfrm>
            <a:off x="324000" y="4412025"/>
            <a:ext cx="181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circumference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\times\pi\times r&quot;&gt;&lt;mn&gt;2&lt;/mn&gt;&lt;mo&gt;×&lt;/mo&gt;&lt;mi&gt;π&lt;/mi&gt;&lt;mo&gt;×&lt;/mo&gt;&lt;mi&gt;r&lt;/mi&gt;&lt;/math&gt;" id="820" name="Google Shape;820;p72" title="2 times pi times r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9170" y="4462425"/>
            <a:ext cx="899640" cy="1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3"/>
          <p:cNvSpPr/>
          <p:nvPr/>
        </p:nvSpPr>
        <p:spPr>
          <a:xfrm>
            <a:off x="5742000" y="2193300"/>
            <a:ext cx="2160000" cy="2160000"/>
          </a:xfrm>
          <a:prstGeom prst="pie">
            <a:avLst>
              <a:gd fmla="val 16211153" name="adj1"/>
              <a:gd fmla="val 23088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3"/>
          <p:cNvSpPr/>
          <p:nvPr/>
        </p:nvSpPr>
        <p:spPr>
          <a:xfrm>
            <a:off x="5742000" y="2193300"/>
            <a:ext cx="2160000" cy="216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3"/>
          <p:cNvSpPr txBox="1"/>
          <p:nvPr>
            <p:ph idx="1" type="body"/>
          </p:nvPr>
        </p:nvSpPr>
        <p:spPr>
          <a:xfrm>
            <a:off x="4824000" y="7593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 </a:t>
            </a:r>
            <a:r>
              <a:rPr lang="en-GB" sz="1800">
                <a:solidFill>
                  <a:schemeClr val="accent4"/>
                </a:solidFill>
              </a:rPr>
              <a:t>perimeter</a:t>
            </a:r>
            <a:r>
              <a:rPr lang="en-GB" sz="1800"/>
              <a:t> of a sector includes both the </a:t>
            </a:r>
            <a:r>
              <a:rPr b="1" lang="en-GB" sz="1800"/>
              <a:t>arc</a:t>
            </a:r>
            <a:r>
              <a:rPr lang="en-GB" sz="1800"/>
              <a:t> length and the two radii that form the bounds of the sector.</a:t>
            </a:r>
            <a:endParaRPr sz="1800"/>
          </a:p>
        </p:txBody>
      </p:sp>
      <p:sp>
        <p:nvSpPr>
          <p:cNvPr id="828" name="Google Shape;828;p73"/>
          <p:cNvSpPr/>
          <p:nvPr/>
        </p:nvSpPr>
        <p:spPr>
          <a:xfrm>
            <a:off x="676200" y="2193300"/>
            <a:ext cx="2160000" cy="216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sp>
        <p:nvSpPr>
          <p:cNvPr id="830" name="Google Shape;830;p73"/>
          <p:cNvSpPr/>
          <p:nvPr/>
        </p:nvSpPr>
        <p:spPr>
          <a:xfrm>
            <a:off x="676200" y="2193300"/>
            <a:ext cx="2160000" cy="216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3"/>
          <p:cNvSpPr txBox="1"/>
          <p:nvPr>
            <p:ph idx="1" type="body"/>
          </p:nvPr>
        </p:nvSpPr>
        <p:spPr>
          <a:xfrm>
            <a:off x="324000" y="759300"/>
            <a:ext cx="399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</a:t>
            </a:r>
            <a:r>
              <a:rPr lang="en-GB" sz="1800"/>
              <a:t>n</a:t>
            </a:r>
            <a:r>
              <a:rPr lang="en-GB" sz="1800"/>
              <a:t> </a:t>
            </a:r>
            <a:r>
              <a:rPr b="1" lang="en-GB" sz="1800"/>
              <a:t>arc </a:t>
            </a:r>
            <a:r>
              <a:rPr lang="en-GB" sz="1800"/>
              <a:t>length</a:t>
            </a:r>
            <a:r>
              <a:rPr lang="en-GB" sz="1800"/>
              <a:t> is the length of the curved part of </a:t>
            </a:r>
            <a:r>
              <a:rPr lang="en-GB" sz="1800"/>
              <a:t>a</a:t>
            </a:r>
            <a:r>
              <a:rPr lang="en-GB" sz="1800"/>
              <a:t> sector: </a:t>
            </a:r>
            <a:r>
              <a:rPr lang="en-GB" sz="1800"/>
              <a:t>a fraction</a:t>
            </a:r>
            <a:r>
              <a:rPr lang="en-GB" sz="1800"/>
              <a:t> of the circle’s circumference.</a:t>
            </a:r>
            <a:endParaRPr sz="1800"/>
          </a:p>
        </p:txBody>
      </p:sp>
      <p:sp>
        <p:nvSpPr>
          <p:cNvPr id="832" name="Google Shape;832;p73"/>
          <p:cNvSpPr/>
          <p:nvPr/>
        </p:nvSpPr>
        <p:spPr>
          <a:xfrm>
            <a:off x="1689360" y="2193300"/>
            <a:ext cx="2160000" cy="216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/>
          <p:nvPr/>
        </p:nvSpPr>
        <p:spPr>
          <a:xfrm>
            <a:off x="2702520" y="2193300"/>
            <a:ext cx="2160000" cy="216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/>
          <p:nvPr/>
        </p:nvSpPr>
        <p:spPr>
          <a:xfrm>
            <a:off x="3715680" y="2193300"/>
            <a:ext cx="2160000" cy="216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/>
          <p:nvPr/>
        </p:nvSpPr>
        <p:spPr>
          <a:xfrm>
            <a:off x="4728840" y="2193300"/>
            <a:ext cx="2160000" cy="216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6" name="Google Shape;836;p73"/>
          <p:cNvGrpSpPr/>
          <p:nvPr/>
        </p:nvGrpSpPr>
        <p:grpSpPr>
          <a:xfrm>
            <a:off x="6821774" y="3411750"/>
            <a:ext cx="1079965" cy="320700"/>
            <a:chOff x="7309296" y="2202115"/>
            <a:chExt cx="1102230" cy="320700"/>
          </a:xfrm>
        </p:grpSpPr>
        <p:sp>
          <p:nvSpPr>
            <p:cNvPr id="837" name="Google Shape;837;p73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radius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38" name="Google Shape;838;p7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839" name="Google Shape;839;p73"/>
          <p:cNvGrpSpPr/>
          <p:nvPr/>
        </p:nvGrpSpPr>
        <p:grpSpPr>
          <a:xfrm rot="5400000">
            <a:off x="5756496" y="2395380"/>
            <a:ext cx="1079936" cy="675321"/>
            <a:chOff x="7309296" y="2227128"/>
            <a:chExt cx="1102200" cy="675321"/>
          </a:xfrm>
        </p:grpSpPr>
        <p:sp>
          <p:nvSpPr>
            <p:cNvPr id="840" name="Google Shape;840;p73"/>
            <p:cNvSpPr/>
            <p:nvPr/>
          </p:nvSpPr>
          <p:spPr>
            <a:xfrm rot="-5400000">
              <a:off x="7522777" y="2401149"/>
              <a:ext cx="6753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radius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1" name="Google Shape;841;p7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842" name="Google Shape;842;p73"/>
          <p:cNvSpPr/>
          <p:nvPr/>
        </p:nvSpPr>
        <p:spPr>
          <a:xfrm>
            <a:off x="7464027" y="2193299"/>
            <a:ext cx="108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b="0" i="0" lang="en-GB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length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4"/>
          <p:cNvPicPr preferRelativeResize="0"/>
          <p:nvPr/>
        </p:nvPicPr>
        <p:blipFill rotWithShape="1">
          <a:blip r:embed="rId3">
            <a:alphaModFix/>
          </a:blip>
          <a:srcRect b="44726" l="31000" r="39398" t="7545"/>
          <a:stretch/>
        </p:blipFill>
        <p:spPr>
          <a:xfrm>
            <a:off x="1139950" y="1537200"/>
            <a:ext cx="1566099" cy="101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 txBox="1"/>
          <p:nvPr>
            <p:ph idx="1" type="body"/>
          </p:nvPr>
        </p:nvSpPr>
        <p:spPr>
          <a:xfrm>
            <a:off x="324000" y="629400"/>
            <a:ext cx="304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Find the </a:t>
            </a:r>
            <a:r>
              <a:rPr b="1" lang="en-GB" sz="1800"/>
              <a:t>arc </a:t>
            </a:r>
            <a:r>
              <a:rPr lang="en-GB" sz="1800"/>
              <a:t>length</a:t>
            </a:r>
            <a:r>
              <a:rPr lang="en-GB" sz="1800"/>
              <a:t> and perimeter</a:t>
            </a:r>
            <a:r>
              <a:rPr lang="en-GB" sz="1800">
                <a:solidFill>
                  <a:schemeClr val="accent4"/>
                </a:solidFill>
              </a:rPr>
              <a:t> </a:t>
            </a:r>
            <a:r>
              <a:rPr lang="en-GB" sz="1800"/>
              <a:t>of one sector of this circle.</a:t>
            </a:r>
            <a:endParaRPr sz="1800"/>
          </a:p>
        </p:txBody>
      </p:sp>
      <p:sp>
        <p:nvSpPr>
          <p:cNvPr id="849" name="Google Shape;84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pic>
        <p:nvPicPr>
          <p:cNvPr id="850" name="Google Shape;850;p74"/>
          <p:cNvPicPr preferRelativeResize="0"/>
          <p:nvPr/>
        </p:nvPicPr>
        <p:blipFill rotWithShape="1">
          <a:blip r:embed="rId3">
            <a:alphaModFix/>
          </a:blip>
          <a:srcRect b="1874" l="62933" r="490" t="7545"/>
          <a:stretch/>
        </p:blipFill>
        <p:spPr>
          <a:xfrm>
            <a:off x="717212" y="1537200"/>
            <a:ext cx="1935176" cy="19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 rotWithShape="1">
          <a:blip r:embed="rId3">
            <a:alphaModFix/>
          </a:blip>
          <a:srcRect b="44726" l="-710" r="71110" t="7545"/>
          <a:stretch/>
        </p:blipFill>
        <p:spPr>
          <a:xfrm>
            <a:off x="1102057" y="1537200"/>
            <a:ext cx="1566099" cy="101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4"/>
          <p:cNvPicPr preferRelativeResize="0"/>
          <p:nvPr/>
        </p:nvPicPr>
        <p:blipFill rotWithShape="1">
          <a:blip r:embed="rId3">
            <a:alphaModFix/>
          </a:blip>
          <a:srcRect b="44726" l="-710" r="71110" t="7545"/>
          <a:stretch/>
        </p:blipFill>
        <p:spPr>
          <a:xfrm>
            <a:off x="3574553" y="2826475"/>
            <a:ext cx="1566099" cy="101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4"/>
          <p:cNvPicPr preferRelativeResize="0"/>
          <p:nvPr/>
        </p:nvPicPr>
        <p:blipFill rotWithShape="1">
          <a:blip r:embed="rId3">
            <a:alphaModFix/>
          </a:blip>
          <a:srcRect b="44726" l="31000" r="39398" t="7545"/>
          <a:stretch/>
        </p:blipFill>
        <p:spPr>
          <a:xfrm>
            <a:off x="3574553" y="1537200"/>
            <a:ext cx="1566099" cy="101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4" name="Google Shape;854;p74"/>
          <p:cNvGrpSpPr/>
          <p:nvPr/>
        </p:nvGrpSpPr>
        <p:grpSpPr>
          <a:xfrm>
            <a:off x="1685060" y="2584075"/>
            <a:ext cx="931164" cy="320700"/>
            <a:chOff x="7309296" y="2202115"/>
            <a:chExt cx="1102230" cy="320700"/>
          </a:xfrm>
        </p:grpSpPr>
        <p:sp>
          <p:nvSpPr>
            <p:cNvPr id="855" name="Google Shape;855;p74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 = 6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6" name="Google Shape;856;p74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857" name="Google Shape;857;p74"/>
          <p:cNvSpPr txBox="1"/>
          <p:nvPr>
            <p:ph idx="1" type="body"/>
          </p:nvPr>
        </p:nvSpPr>
        <p:spPr>
          <a:xfrm>
            <a:off x="5626500" y="775200"/>
            <a:ext cx="3045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This </a:t>
            </a:r>
            <a:r>
              <a:rPr b="1" lang="en-GB" sz="1800"/>
              <a:t>arc</a:t>
            </a:r>
            <a:r>
              <a:rPr lang="en-GB" sz="1800"/>
              <a:t> is     the length of the full circumference</a:t>
            </a:r>
            <a:endParaRPr sz="1800"/>
          </a:p>
        </p:txBody>
      </p:sp>
      <p:sp>
        <p:nvSpPr>
          <p:cNvPr id="858" name="Google Shape;858;p74"/>
          <p:cNvSpPr txBox="1"/>
          <p:nvPr>
            <p:ph idx="1" type="body"/>
          </p:nvPr>
        </p:nvSpPr>
        <p:spPr>
          <a:xfrm>
            <a:off x="324000" y="3613075"/>
            <a:ext cx="2721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circumference of full circle</a:t>
            </a:r>
            <a:endParaRPr sz="1800"/>
          </a:p>
        </p:txBody>
      </p:sp>
      <p:sp>
        <p:nvSpPr>
          <p:cNvPr id="859" name="Google Shape;859;p74"/>
          <p:cNvSpPr txBox="1"/>
          <p:nvPr>
            <p:ph idx="1" type="body"/>
          </p:nvPr>
        </p:nvSpPr>
        <p:spPr>
          <a:xfrm>
            <a:off x="324000" y="4208875"/>
            <a:ext cx="272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× 6 = 12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860" name="Google Shape;860;p74" title="one third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1961" y="667490"/>
            <a:ext cx="143640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4"/>
          <p:cNvSpPr txBox="1"/>
          <p:nvPr>
            <p:ph idx="1" type="body"/>
          </p:nvPr>
        </p:nvSpPr>
        <p:spPr>
          <a:xfrm>
            <a:off x="5597850" y="1907100"/>
            <a:ext cx="130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1800"/>
              <a:t>arc </a:t>
            </a:r>
            <a:r>
              <a:rPr lang="en-GB" sz="1800"/>
              <a:t>length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=\frac{1}{3}\times12\pi\ =\ 4\pi&quot;&gt;&lt;mo&gt;=&lt;/mo&gt;&lt;mfrac&gt;&lt;mn&gt;1&lt;/mn&gt;&lt;mn&gt;3&lt;/mn&gt;&lt;/mfrac&gt;&lt;mo&gt;×&lt;/mo&gt;&lt;mn&gt;12&lt;/mn&gt;&lt;mi&gt;π&lt;/mi&gt;&lt;mtext&gt;&lt;/mtext&gt;&lt;mo&gt;=&lt;/mo&gt;&lt;mtext&gt;&lt;/mtext&gt;&lt;mn&gt;4&lt;/mn&gt;&lt;mi&gt;π&lt;/mi&gt;&lt;/math&gt;" id="862" name="Google Shape;862;p74" title="equals one third times 12 pi equals 4 pi"/>
          <p:cNvPicPr preferRelativeResize="0"/>
          <p:nvPr/>
        </p:nvPicPr>
        <p:blipFill rotWithShape="1">
          <a:blip r:embed="rId5">
            <a:alphaModFix/>
          </a:blip>
          <a:srcRect b="0" l="0" r="35001" t="0"/>
          <a:stretch/>
        </p:blipFill>
        <p:spPr>
          <a:xfrm>
            <a:off x="6901046" y="1806300"/>
            <a:ext cx="1086850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}{3}\times12\pi\ =\ 4\pi&quot;&gt;&lt;mo&gt;=&lt;/mo&gt;&lt;mfrac&gt;&lt;mn&gt;1&lt;/mn&gt;&lt;mn&gt;3&lt;/mn&gt;&lt;/mfrac&gt;&lt;mo&gt;×&lt;/mo&gt;&lt;mn&gt;12&lt;/mn&gt;&lt;mi&gt;π&lt;/mi&gt;&lt;mtext&gt;&lt;/mtext&gt;&lt;mo&gt;=&lt;/mo&gt;&lt;mtext&gt;&lt;/mtext&gt;&lt;mn&gt;4&lt;/mn&gt;&lt;mi&gt;π&lt;/mi&gt;&lt;/math&gt;" id="863" name="Google Shape;863;p74" title="equals one third times 12 pi equals 4 pi"/>
          <p:cNvPicPr preferRelativeResize="0"/>
          <p:nvPr/>
        </p:nvPicPr>
        <p:blipFill rotWithShape="1">
          <a:blip r:embed="rId5">
            <a:alphaModFix/>
          </a:blip>
          <a:srcRect b="0" l="64999" r="0" t="0"/>
          <a:stretch/>
        </p:blipFill>
        <p:spPr>
          <a:xfrm>
            <a:off x="7987903" y="1806300"/>
            <a:ext cx="585249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4"/>
          <p:cNvSpPr txBox="1"/>
          <p:nvPr>
            <p:ph idx="1" type="body"/>
          </p:nvPr>
        </p:nvSpPr>
        <p:spPr>
          <a:xfrm>
            <a:off x="5597850" y="3196375"/>
            <a:ext cx="130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perimeter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=\ 4\pi\ +\ 6\ +\ 6&quot;&gt;&lt;mo&gt;=&lt;/mo&gt;&lt;mtext&gt;&lt;/mtext&gt;&lt;mn&gt;4&lt;/mn&gt;&lt;mi&gt;π&lt;/mi&gt;&lt;mtext&gt;&lt;/mtext&gt;&lt;mo&gt;+&lt;/mo&gt;&lt;mtext&gt;&lt;/mtext&gt;&lt;mn&gt;6&lt;/mn&gt;&lt;mtext&gt;&lt;/mtext&gt;&lt;mo&gt;+&lt;/mo&gt;&lt;mtext&gt;&lt;/mtext&gt;&lt;mn&gt;6&lt;/mn&gt;&lt;/math&gt;" id="865" name="Google Shape;865;p74" title="equals 4 pi plus 6 plus 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6931" y="3248075"/>
            <a:ext cx="1519825" cy="171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6" name="Google Shape;866;p74"/>
          <p:cNvGrpSpPr/>
          <p:nvPr/>
        </p:nvGrpSpPr>
        <p:grpSpPr>
          <a:xfrm>
            <a:off x="4159435" y="3847178"/>
            <a:ext cx="931164" cy="320700"/>
            <a:chOff x="7309296" y="2202115"/>
            <a:chExt cx="1102230" cy="320700"/>
          </a:xfrm>
        </p:grpSpPr>
        <p:sp>
          <p:nvSpPr>
            <p:cNvPr id="867" name="Google Shape;867;p74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 = 6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68" name="Google Shape;868;p74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869" name="Google Shape;869;p74"/>
          <p:cNvGrpSpPr/>
          <p:nvPr/>
        </p:nvGrpSpPr>
        <p:grpSpPr>
          <a:xfrm rot="3599759">
            <a:off x="3268334" y="3329272"/>
            <a:ext cx="931051" cy="320709"/>
            <a:chOff x="7309296" y="2202115"/>
            <a:chExt cx="1102230" cy="320700"/>
          </a:xfrm>
        </p:grpSpPr>
        <p:sp>
          <p:nvSpPr>
            <p:cNvPr id="870" name="Google Shape;870;p74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 = 6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71" name="Google Shape;871;p74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=\ 4\pi\ +\ 12&quot;&gt;&lt;mo&gt;=&lt;/mo&gt;&lt;mtext&gt;&lt;/mtext&gt;&lt;mn&gt;4&lt;/mn&gt;&lt;mi&gt;π&lt;/mi&gt;&lt;mtext&gt;&lt;/mtext&gt;&lt;mo&gt;+&lt;/mo&gt;&lt;mtext&gt;&lt;/mtext&gt;&lt;mn&gt;12&lt;/mn&gt;&lt;/math&gt;" id="872" name="Google Shape;872;p74" title="equals 4 pi plus 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1040" y="3670665"/>
            <a:ext cx="1144800" cy="1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4"/>
          <p:cNvSpPr/>
          <p:nvPr/>
        </p:nvSpPr>
        <p:spPr>
          <a:xfrm>
            <a:off x="7140398" y="3605889"/>
            <a:ext cx="327900" cy="30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4"/>
          <p:cNvSpPr/>
          <p:nvPr/>
        </p:nvSpPr>
        <p:spPr>
          <a:xfrm>
            <a:off x="7780673" y="3605889"/>
            <a:ext cx="327900" cy="30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5" name="Google Shape;875;p74"/>
          <p:cNvCxnSpPr/>
          <p:nvPr/>
        </p:nvCxnSpPr>
        <p:spPr>
          <a:xfrm flipH="1">
            <a:off x="6655575" y="3896813"/>
            <a:ext cx="501000" cy="389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6" name="Google Shape;876;p74"/>
          <p:cNvSpPr txBox="1"/>
          <p:nvPr>
            <p:ph idx="1" type="body"/>
          </p:nvPr>
        </p:nvSpPr>
        <p:spPr>
          <a:xfrm>
            <a:off x="6093042" y="4286225"/>
            <a:ext cx="114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1800"/>
              <a:t>arc</a:t>
            </a:r>
            <a:r>
              <a:rPr lang="en-GB" sz="1800"/>
              <a:t> length</a:t>
            </a:r>
            <a:endParaRPr sz="1800"/>
          </a:p>
        </p:txBody>
      </p:sp>
      <p:cxnSp>
        <p:nvCxnSpPr>
          <p:cNvPr id="877" name="Google Shape;877;p74"/>
          <p:cNvCxnSpPr>
            <a:stCxn id="874" idx="2"/>
            <a:endCxn id="878" idx="0"/>
          </p:cNvCxnSpPr>
          <p:nvPr/>
        </p:nvCxnSpPr>
        <p:spPr>
          <a:xfrm>
            <a:off x="7944623" y="3914889"/>
            <a:ext cx="0" cy="3714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74"/>
          <p:cNvSpPr txBox="1"/>
          <p:nvPr>
            <p:ph idx="1" type="body"/>
          </p:nvPr>
        </p:nvSpPr>
        <p:spPr>
          <a:xfrm>
            <a:off x="7521323" y="4286225"/>
            <a:ext cx="84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radii</a:t>
            </a:r>
            <a:endParaRPr sz="1800"/>
          </a:p>
        </p:txBody>
      </p:sp>
      <p:sp>
        <p:nvSpPr>
          <p:cNvPr id="879" name="Google Shape;879;p74"/>
          <p:cNvSpPr/>
          <p:nvPr/>
        </p:nvSpPr>
        <p:spPr>
          <a:xfrm>
            <a:off x="8294381" y="1891199"/>
            <a:ext cx="327900" cy="30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4"/>
          <p:cNvSpPr/>
          <p:nvPr/>
        </p:nvSpPr>
        <p:spPr>
          <a:xfrm>
            <a:off x="4170700" y="3853028"/>
            <a:ext cx="919800" cy="30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4"/>
          <p:cNvSpPr/>
          <p:nvPr/>
        </p:nvSpPr>
        <p:spPr>
          <a:xfrm rot="3599869">
            <a:off x="3270863" y="3333657"/>
            <a:ext cx="919739" cy="308998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75"/>
          <p:cNvPicPr preferRelativeResize="0"/>
          <p:nvPr/>
        </p:nvPicPr>
        <p:blipFill rotWithShape="1">
          <a:blip r:embed="rId3">
            <a:alphaModFix/>
          </a:blip>
          <a:srcRect b="0" l="0" r="70246" t="48979"/>
          <a:stretch/>
        </p:blipFill>
        <p:spPr>
          <a:xfrm>
            <a:off x="7165854" y="951650"/>
            <a:ext cx="1240025" cy="123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5"/>
          <p:cNvPicPr preferRelativeResize="0"/>
          <p:nvPr/>
        </p:nvPicPr>
        <p:blipFill rotWithShape="1">
          <a:blip r:embed="rId3">
            <a:alphaModFix/>
          </a:blip>
          <a:srcRect b="48070" l="0" r="70246" t="0"/>
          <a:stretch/>
        </p:blipFill>
        <p:spPr>
          <a:xfrm>
            <a:off x="4204291" y="940663"/>
            <a:ext cx="1240025" cy="1254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5"/>
          <p:cNvSpPr txBox="1"/>
          <p:nvPr>
            <p:ph idx="1" type="body"/>
          </p:nvPr>
        </p:nvSpPr>
        <p:spPr>
          <a:xfrm>
            <a:off x="324000" y="599835"/>
            <a:ext cx="3081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Match the </a:t>
            </a:r>
            <a:r>
              <a:rPr b="1" lang="en-GB" sz="1800"/>
              <a:t>arc</a:t>
            </a:r>
            <a:r>
              <a:rPr lang="en-GB" sz="1800"/>
              <a:t> and sector of the circle to its corresponding length and perimeter calculations.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Some calculations do not match with either.</a:t>
            </a:r>
            <a:endParaRPr sz="1800"/>
          </a:p>
        </p:txBody>
      </p:sp>
      <p:sp>
        <p:nvSpPr>
          <p:cNvPr id="889" name="Google Shape;88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pic>
        <p:nvPicPr>
          <p:cNvPr id="890" name="Google Shape;890;p75"/>
          <p:cNvPicPr preferRelativeResize="0"/>
          <p:nvPr/>
        </p:nvPicPr>
        <p:blipFill rotWithShape="1">
          <a:blip r:embed="rId3">
            <a:alphaModFix/>
          </a:blip>
          <a:srcRect b="0" l="42116" r="0" t="0"/>
          <a:stretch/>
        </p:blipFill>
        <p:spPr>
          <a:xfrm>
            <a:off x="658612" y="2359500"/>
            <a:ext cx="2412376" cy="2416725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5"/>
          <p:cNvSpPr/>
          <p:nvPr/>
        </p:nvSpPr>
        <p:spPr>
          <a:xfrm>
            <a:off x="5171750" y="810000"/>
            <a:ext cx="558300" cy="2262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5"/>
          <p:cNvSpPr/>
          <p:nvPr/>
        </p:nvSpPr>
        <p:spPr>
          <a:xfrm>
            <a:off x="4154525" y="2046900"/>
            <a:ext cx="558300" cy="2262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3" name="Google Shape;893;p75"/>
          <p:cNvGrpSpPr/>
          <p:nvPr/>
        </p:nvGrpSpPr>
        <p:grpSpPr>
          <a:xfrm>
            <a:off x="5035937" y="919437"/>
            <a:ext cx="496336" cy="320680"/>
            <a:chOff x="1020916" y="1442088"/>
            <a:chExt cx="457200" cy="457200"/>
          </a:xfrm>
        </p:grpSpPr>
        <p:pic>
          <p:nvPicPr>
            <p:cNvPr id="894" name="Google Shape;894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arc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6" name="Google Shape;896;p75"/>
          <p:cNvGrpSpPr/>
          <p:nvPr/>
        </p:nvGrpSpPr>
        <p:grpSpPr>
          <a:xfrm>
            <a:off x="3930503" y="2633787"/>
            <a:ext cx="320680" cy="320680"/>
            <a:chOff x="1020916" y="1442088"/>
            <a:chExt cx="457200" cy="457200"/>
          </a:xfrm>
        </p:grpSpPr>
        <p:pic>
          <p:nvPicPr>
            <p:cNvPr id="897" name="Google Shape;897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8" name="Google Shape;898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9" name="Google Shape;899;p75"/>
          <p:cNvGrpSpPr/>
          <p:nvPr/>
        </p:nvGrpSpPr>
        <p:grpSpPr>
          <a:xfrm>
            <a:off x="7987544" y="919287"/>
            <a:ext cx="816148" cy="320680"/>
            <a:chOff x="1020916" y="1442088"/>
            <a:chExt cx="457200" cy="457200"/>
          </a:xfrm>
        </p:grpSpPr>
        <p:pic>
          <p:nvPicPr>
            <p:cNvPr id="900" name="Google Shape;900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1" name="Google Shape;901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sector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02" name="Google Shape;902;p75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0" r="86078" t="0"/>
          <a:stretch/>
        </p:blipFill>
        <p:spPr>
          <a:xfrm>
            <a:off x="4320000" y="2509725"/>
            <a:ext cx="1432724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3" name="Google Shape;903;p75"/>
          <p:cNvGrpSpPr/>
          <p:nvPr/>
        </p:nvGrpSpPr>
        <p:grpSpPr>
          <a:xfrm>
            <a:off x="3930503" y="3439212"/>
            <a:ext cx="320680" cy="320680"/>
            <a:chOff x="1020916" y="1442088"/>
            <a:chExt cx="457200" cy="457200"/>
          </a:xfrm>
        </p:grpSpPr>
        <p:pic>
          <p:nvPicPr>
            <p:cNvPr id="904" name="Google Shape;904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5" name="Google Shape;905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06" name="Google Shape;906;p75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23613" r="71884" t="0"/>
          <a:stretch/>
        </p:blipFill>
        <p:spPr>
          <a:xfrm>
            <a:off x="4320000" y="3315150"/>
            <a:ext cx="463176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7" name="Google Shape;907;p75"/>
          <p:cNvGrpSpPr/>
          <p:nvPr/>
        </p:nvGrpSpPr>
        <p:grpSpPr>
          <a:xfrm>
            <a:off x="3930503" y="4244637"/>
            <a:ext cx="320680" cy="320680"/>
            <a:chOff x="1020916" y="1442088"/>
            <a:chExt cx="457200" cy="457200"/>
          </a:xfrm>
        </p:grpSpPr>
        <p:pic>
          <p:nvPicPr>
            <p:cNvPr id="908" name="Google Shape;908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" name="Google Shape;909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10" name="Google Shape;910;p75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48092" r="40126" t="0"/>
          <a:stretch/>
        </p:blipFill>
        <p:spPr>
          <a:xfrm>
            <a:off x="4320000" y="4120575"/>
            <a:ext cx="1212273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1" name="Google Shape;911;p75"/>
          <p:cNvGrpSpPr/>
          <p:nvPr/>
        </p:nvGrpSpPr>
        <p:grpSpPr>
          <a:xfrm>
            <a:off x="6671603" y="2633787"/>
            <a:ext cx="320680" cy="320680"/>
            <a:chOff x="1020916" y="1442088"/>
            <a:chExt cx="457200" cy="457200"/>
          </a:xfrm>
        </p:grpSpPr>
        <p:pic>
          <p:nvPicPr>
            <p:cNvPr id="912" name="Google Shape;912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3" name="Google Shape;913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14" name="Google Shape;914;p75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62041" r="23310" t="0"/>
          <a:stretch/>
        </p:blipFill>
        <p:spPr>
          <a:xfrm>
            <a:off x="7061100" y="2509725"/>
            <a:ext cx="1507425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5" name="Google Shape;915;p75"/>
          <p:cNvGrpSpPr/>
          <p:nvPr/>
        </p:nvGrpSpPr>
        <p:grpSpPr>
          <a:xfrm>
            <a:off x="6671603" y="3439212"/>
            <a:ext cx="320680" cy="320680"/>
            <a:chOff x="1020916" y="1442088"/>
            <a:chExt cx="457200" cy="457200"/>
          </a:xfrm>
        </p:grpSpPr>
        <p:pic>
          <p:nvPicPr>
            <p:cNvPr id="916" name="Google Shape;916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7" name="Google Shape;917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18" name="Google Shape;918;p75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91490" r="-1806" t="0"/>
          <a:stretch/>
        </p:blipFill>
        <p:spPr>
          <a:xfrm>
            <a:off x="7061100" y="3315150"/>
            <a:ext cx="1061601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9" name="Google Shape;919;p75"/>
          <p:cNvGrpSpPr/>
          <p:nvPr/>
        </p:nvGrpSpPr>
        <p:grpSpPr>
          <a:xfrm>
            <a:off x="6671603" y="4244637"/>
            <a:ext cx="320680" cy="320680"/>
            <a:chOff x="1020916" y="1442088"/>
            <a:chExt cx="457200" cy="457200"/>
          </a:xfrm>
        </p:grpSpPr>
        <p:pic>
          <p:nvPicPr>
            <p:cNvPr id="920" name="Google Shape;920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22" name="Google Shape;922;p75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78914" r="10769" t="0"/>
          <a:stretch/>
        </p:blipFill>
        <p:spPr>
          <a:xfrm>
            <a:off x="7061100" y="4120575"/>
            <a:ext cx="1061601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pi\times10^2\ \ \ \ 2\times\pi\times100\ \ \ \ 2\times\pi\times10\ \ \ \ 100\pi\ \ \ \ 20\pi\ \ \ \ \frac{1}{4}&quot;&gt;&lt;mi&gt;π&lt;/mi&gt;&lt;mo&gt;×&lt;/mo&gt;&lt;msup&gt;&lt;mn&gt;10&lt;/mn&gt;&lt;mn&gt;2&lt;/mn&gt;&lt;/msup&gt;&lt;mtext&gt;&lt;/mtext&gt;&lt;mtext&gt;&lt;/mtext&gt;&lt;mtext&gt;&lt;/mtext&gt;&lt;mtext&gt;&lt;/mtext&gt;&lt;mn&gt;2&lt;/mn&gt;&lt;mo&gt;×&lt;/mo&gt;&lt;mi&gt;π&lt;/mi&gt;&lt;mo&gt;×&lt;/mo&gt;&lt;mn&gt;100&lt;/mn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100&lt;/mn&gt;&lt;mi&gt;π&lt;/mi&gt;&lt;mtext&gt;&lt;/mtext&gt;&lt;mtext&gt;&lt;/mtext&gt;&lt;mtext&gt;&lt;/mtext&gt;&lt;mtext&gt;&lt;/mtext&gt;&lt;mn&gt;20&lt;/mn&gt;&lt;mi&gt;π&lt;/mi&gt;&lt;mtext&gt;&lt;/mtext&gt;&lt;mtext&gt;&lt;/mtext&gt;&lt;mtext&gt;&lt;/mtext&gt;&lt;mtext&gt;&lt;/mtext&gt;&lt;mfrac&gt;&lt;mn&gt;1&lt;/mn&gt;&lt;mn&gt;4&lt;/mn&gt;&lt;/mfrac&gt;&lt;/math&gt;" id="923" name="Google Shape;923;p75" title="pi times 10 squared 2 times pi times 100 2 times pi times 10 100 pi 20 pi one fourth"/>
          <p:cNvPicPr preferRelativeResize="0"/>
          <p:nvPr/>
        </p:nvPicPr>
        <p:blipFill rotWithShape="1">
          <a:blip r:embed="rId6">
            <a:alphaModFix/>
          </a:blip>
          <a:srcRect b="0" l="84551" r="7200" t="0"/>
          <a:stretch/>
        </p:blipFill>
        <p:spPr>
          <a:xfrm>
            <a:off x="4855675" y="3315150"/>
            <a:ext cx="486601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4" name="Google Shape;924;p75"/>
          <p:cNvGrpSpPr/>
          <p:nvPr/>
        </p:nvGrpSpPr>
        <p:grpSpPr>
          <a:xfrm>
            <a:off x="1837330" y="3650875"/>
            <a:ext cx="1172332" cy="320700"/>
            <a:chOff x="7309296" y="2202115"/>
            <a:chExt cx="1102230" cy="320700"/>
          </a:xfrm>
        </p:grpSpPr>
        <p:sp>
          <p:nvSpPr>
            <p:cNvPr id="925" name="Google Shape;925;p75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 = 10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26" name="Google Shape;926;p75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p76"/>
          <p:cNvPicPr preferRelativeResize="0"/>
          <p:nvPr/>
        </p:nvPicPr>
        <p:blipFill rotWithShape="1">
          <a:blip r:embed="rId3">
            <a:alphaModFix/>
          </a:blip>
          <a:srcRect b="0" l="0" r="70246" t="48979"/>
          <a:stretch/>
        </p:blipFill>
        <p:spPr>
          <a:xfrm>
            <a:off x="7165854" y="951650"/>
            <a:ext cx="1240025" cy="123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76"/>
          <p:cNvPicPr preferRelativeResize="0"/>
          <p:nvPr/>
        </p:nvPicPr>
        <p:blipFill rotWithShape="1">
          <a:blip r:embed="rId3">
            <a:alphaModFix/>
          </a:blip>
          <a:srcRect b="48070" l="0" r="70246" t="0"/>
          <a:stretch/>
        </p:blipFill>
        <p:spPr>
          <a:xfrm>
            <a:off x="4204291" y="940663"/>
            <a:ext cx="1240025" cy="1254975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76"/>
          <p:cNvSpPr txBox="1"/>
          <p:nvPr>
            <p:ph idx="1" type="body"/>
          </p:nvPr>
        </p:nvSpPr>
        <p:spPr>
          <a:xfrm>
            <a:off x="324000" y="599835"/>
            <a:ext cx="3081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Match the </a:t>
            </a:r>
            <a:r>
              <a:rPr b="1" lang="en-GB" sz="1800"/>
              <a:t>arc</a:t>
            </a:r>
            <a:r>
              <a:rPr lang="en-GB" sz="1800"/>
              <a:t> and sector of the circle to its corresponding length and perimeter calculations.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Some calculations do not match with either.</a:t>
            </a:r>
            <a:endParaRPr sz="1800"/>
          </a:p>
        </p:txBody>
      </p:sp>
      <p:sp>
        <p:nvSpPr>
          <p:cNvPr id="934" name="Google Shape;93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pic>
        <p:nvPicPr>
          <p:cNvPr id="935" name="Google Shape;935;p76"/>
          <p:cNvPicPr preferRelativeResize="0"/>
          <p:nvPr/>
        </p:nvPicPr>
        <p:blipFill rotWithShape="1">
          <a:blip r:embed="rId3">
            <a:alphaModFix/>
          </a:blip>
          <a:srcRect b="0" l="42116" r="0" t="0"/>
          <a:stretch/>
        </p:blipFill>
        <p:spPr>
          <a:xfrm>
            <a:off x="658612" y="2359500"/>
            <a:ext cx="2412376" cy="2416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6" name="Google Shape;936;p76"/>
          <p:cNvGrpSpPr/>
          <p:nvPr/>
        </p:nvGrpSpPr>
        <p:grpSpPr>
          <a:xfrm>
            <a:off x="1837330" y="3650875"/>
            <a:ext cx="1172332" cy="320700"/>
            <a:chOff x="7309296" y="2202115"/>
            <a:chExt cx="1102230" cy="320700"/>
          </a:xfrm>
        </p:grpSpPr>
        <p:sp>
          <p:nvSpPr>
            <p:cNvPr id="937" name="Google Shape;937;p76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 = 10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38" name="Google Shape;938;p76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39" name="Google Shape;939;p76"/>
          <p:cNvSpPr/>
          <p:nvPr/>
        </p:nvSpPr>
        <p:spPr>
          <a:xfrm>
            <a:off x="5171750" y="810000"/>
            <a:ext cx="558300" cy="2262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6"/>
          <p:cNvSpPr/>
          <p:nvPr/>
        </p:nvSpPr>
        <p:spPr>
          <a:xfrm>
            <a:off x="4154525" y="2046900"/>
            <a:ext cx="558300" cy="2262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1" name="Google Shape;941;p76"/>
          <p:cNvGrpSpPr/>
          <p:nvPr/>
        </p:nvGrpSpPr>
        <p:grpSpPr>
          <a:xfrm>
            <a:off x="5035937" y="919437"/>
            <a:ext cx="496336" cy="320680"/>
            <a:chOff x="1020916" y="1442088"/>
            <a:chExt cx="457200" cy="457200"/>
          </a:xfrm>
        </p:grpSpPr>
        <p:pic>
          <p:nvPicPr>
            <p:cNvPr id="942" name="Google Shape;942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arc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4" name="Google Shape;944;p76"/>
          <p:cNvGrpSpPr/>
          <p:nvPr/>
        </p:nvGrpSpPr>
        <p:grpSpPr>
          <a:xfrm>
            <a:off x="7987544" y="919287"/>
            <a:ext cx="816148" cy="320680"/>
            <a:chOff x="1020916" y="1442088"/>
            <a:chExt cx="457200" cy="457200"/>
          </a:xfrm>
        </p:grpSpPr>
        <p:pic>
          <p:nvPicPr>
            <p:cNvPr id="945" name="Google Shape;945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sector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7" name="Google Shape;947;p76"/>
          <p:cNvGrpSpPr/>
          <p:nvPr/>
        </p:nvGrpSpPr>
        <p:grpSpPr>
          <a:xfrm>
            <a:off x="6671603" y="2633787"/>
            <a:ext cx="320680" cy="320680"/>
            <a:chOff x="1020916" y="1442088"/>
            <a:chExt cx="457200" cy="457200"/>
          </a:xfrm>
        </p:grpSpPr>
        <p:pic>
          <p:nvPicPr>
            <p:cNvPr id="948" name="Google Shape;948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9" name="Google Shape;949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50" name="Google Shape;950;p76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62041" r="23310" t="0"/>
          <a:stretch/>
        </p:blipFill>
        <p:spPr>
          <a:xfrm>
            <a:off x="7061100" y="2509725"/>
            <a:ext cx="1507425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1" name="Google Shape;951;p76"/>
          <p:cNvGrpSpPr/>
          <p:nvPr/>
        </p:nvGrpSpPr>
        <p:grpSpPr>
          <a:xfrm>
            <a:off x="6671603" y="3439212"/>
            <a:ext cx="320680" cy="320680"/>
            <a:chOff x="1020916" y="1442088"/>
            <a:chExt cx="457200" cy="457200"/>
          </a:xfrm>
        </p:grpSpPr>
        <p:pic>
          <p:nvPicPr>
            <p:cNvPr id="952" name="Google Shape;952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" name="Google Shape;953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54" name="Google Shape;954;p76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91490" r="-1806" t="0"/>
          <a:stretch/>
        </p:blipFill>
        <p:spPr>
          <a:xfrm>
            <a:off x="7061100" y="3315150"/>
            <a:ext cx="1061601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55" name="Google Shape;955;p76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41587" r="53910" t="0"/>
          <a:stretch/>
        </p:blipFill>
        <p:spPr>
          <a:xfrm>
            <a:off x="5211313" y="1277213"/>
            <a:ext cx="463176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56" name="Google Shape;956;p76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41587" r="53910" t="0"/>
          <a:stretch/>
        </p:blipFill>
        <p:spPr>
          <a:xfrm>
            <a:off x="8174208" y="1277213"/>
            <a:ext cx="463176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7" name="Google Shape;957;p76"/>
          <p:cNvGrpSpPr/>
          <p:nvPr/>
        </p:nvGrpSpPr>
        <p:grpSpPr>
          <a:xfrm>
            <a:off x="7199693" y="2211215"/>
            <a:ext cx="1172332" cy="320700"/>
            <a:chOff x="7309296" y="2202115"/>
            <a:chExt cx="1102230" cy="320700"/>
          </a:xfrm>
        </p:grpSpPr>
        <p:sp>
          <p:nvSpPr>
            <p:cNvPr id="958" name="Google Shape;958;p76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 = 10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59" name="Google Shape;959;p76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960" name="Google Shape;960;p76"/>
          <p:cNvGrpSpPr/>
          <p:nvPr/>
        </p:nvGrpSpPr>
        <p:grpSpPr>
          <a:xfrm rot="5400000">
            <a:off x="6392713" y="1401262"/>
            <a:ext cx="1172332" cy="320700"/>
            <a:chOff x="7309296" y="2202115"/>
            <a:chExt cx="1102230" cy="320700"/>
          </a:xfrm>
        </p:grpSpPr>
        <p:sp>
          <p:nvSpPr>
            <p:cNvPr id="961" name="Google Shape;961;p76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 = 10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62" name="Google Shape;962;p76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963" name="Google Shape;963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5608" y="2584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5608" y="339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6358" y="3346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\ \pi\times10^2\ \ \ \ 25\pi\ \ \ \ \frac{1}{4}\times2\times\pi\times10\ \ \ \ 5\pi\ \ \ \ 2\times\pi\times10\ \ \ \ 5\pi+10+10\ \ \ \ 20\pi+20\ \ \ \ 5\pi+20&quot;&gt;&lt;mfrac&gt;&lt;mn&gt;1&lt;/mn&gt;&lt;mn&gt;4&lt;/mn&gt;&lt;/mfrac&gt;&lt;mo&gt;×&lt;/mo&gt;&lt;mtext&gt;&lt;/mtext&gt;&lt;mi&gt;π&lt;/mi&gt;&lt;mo&gt;×&lt;/mo&gt;&lt;msup&gt;&lt;mn&gt;10&lt;/mn&gt;&lt;mn&gt;2&lt;/mn&gt;&lt;/msup&gt;&lt;mtext&gt;&lt;/mtext&gt;&lt;mtext&gt;&lt;/mtext&gt;&lt;mtext&gt;&lt;/mtext&gt;&lt;mtext&gt;&lt;/mtext&gt;&lt;mn&gt;25&lt;/mn&gt;&lt;mi&gt;π&lt;/mi&gt;&lt;mtext&gt;&lt;/mtext&gt;&lt;mtext&gt;&lt;/mtext&gt;&lt;mtext&gt;&lt;/mtext&gt;&lt;mtext&gt;&lt;/mtext&gt;&lt;mfrac&gt;&lt;mn&gt;1&lt;/mn&gt;&lt;mn&gt;4&lt;/mn&gt;&lt;/mfrac&gt;&lt;mo&gt;×&lt;/mo&gt;&lt;mn&gt;2&lt;/mn&gt;&lt;mo&gt;×&lt;/mo&gt;&lt;mi&gt;π&lt;/mi&gt;&lt;mo&gt;×&lt;/mo&gt;&lt;mn&gt;10&lt;/mn&gt;&lt;mtext&gt;&lt;/mtext&gt;&lt;mtext&gt;&lt;/mtext&gt;&lt;mtext&gt;&lt;/mtext&gt;&lt;mtext&gt;&lt;/mtext&gt;&lt;mn&gt;5&lt;/mn&gt;&lt;mi&gt;π&lt;/mi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5&lt;/mn&gt;&lt;mi&gt;π&lt;/mi&gt;&lt;mo&gt;+&lt;/mo&gt;&lt;mn&gt;10&lt;/mn&gt;&lt;mo&gt;+&lt;/mo&gt;&lt;mn&gt;10&lt;/mn&gt;&lt;mtext&gt;&lt;/mtext&gt;&lt;mtext&gt;&lt;/mtext&gt;&lt;mtext&gt;&lt;/mtext&gt;&lt;mtext&gt;&lt;/mtext&gt;&lt;mn&gt;20&lt;/mn&gt;&lt;mi&gt;π&lt;/mi&gt;&lt;mo&gt;+&lt;/mo&gt;&lt;mn&gt;20&lt;/mn&gt;&lt;mtext&gt;&lt;/mtext&gt;&lt;mtext&gt;&lt;/mtext&gt;&lt;mtext&gt;&lt;/mtext&gt;&lt;mtext&gt;&lt;/mtext&gt;&lt;mn&gt;5&lt;/mn&gt;&lt;mi&gt;π&lt;/mi&gt;&lt;mo&gt;+&lt;/mo&gt;&lt;mn&gt;20&lt;/mn&gt;&lt;/math&gt;" id="966" name="Google Shape;966;p76" title="one fourth times pi times 10 squared 25 pi one fourth times 2 times pi times 10 5 pi 2 times pi times 10 5 pi plus 10 plus 10 20 pi plus 20 5 pi plus 20"/>
          <p:cNvPicPr preferRelativeResize="0"/>
          <p:nvPr/>
        </p:nvPicPr>
        <p:blipFill rotWithShape="1">
          <a:blip r:embed="rId5">
            <a:alphaModFix/>
          </a:blip>
          <a:srcRect b="0" l="23613" r="71884" t="0"/>
          <a:stretch/>
        </p:blipFill>
        <p:spPr>
          <a:xfrm>
            <a:off x="4320000" y="3315150"/>
            <a:ext cx="463176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pi\times10^2\ \ \ \ 2\times\pi\times100\ \ \ \ 2\times\pi\times10\ \ \ \ 100\pi\ \ \ \ 20\pi\ \ \ \ \frac{1}{4}&quot;&gt;&lt;mi&gt;π&lt;/mi&gt;&lt;mo&gt;×&lt;/mo&gt;&lt;msup&gt;&lt;mn&gt;10&lt;/mn&gt;&lt;mn&gt;2&lt;/mn&gt;&lt;/msup&gt;&lt;mtext&gt;&lt;/mtext&gt;&lt;mtext&gt;&lt;/mtext&gt;&lt;mtext&gt;&lt;/mtext&gt;&lt;mtext&gt;&lt;/mtext&gt;&lt;mn&gt;2&lt;/mn&gt;&lt;mo&gt;×&lt;/mo&gt;&lt;mi&gt;π&lt;/mi&gt;&lt;mo&gt;×&lt;/mo&gt;&lt;mn&gt;100&lt;/mn&gt;&lt;mtext&gt;&lt;/mtext&gt;&lt;mtext&gt;&lt;/mtext&gt;&lt;mtext&gt;&lt;/mtext&gt;&lt;mtext&gt;&lt;/mtext&gt;&lt;mn&gt;2&lt;/mn&gt;&lt;mo&gt;×&lt;/mo&gt;&lt;mi&gt;π&lt;/mi&gt;&lt;mo&gt;×&lt;/mo&gt;&lt;mn&gt;10&lt;/mn&gt;&lt;mtext&gt;&lt;/mtext&gt;&lt;mtext&gt;&lt;/mtext&gt;&lt;mtext&gt;&lt;/mtext&gt;&lt;mtext&gt;&lt;/mtext&gt;&lt;mn&gt;100&lt;/mn&gt;&lt;mi&gt;π&lt;/mi&gt;&lt;mtext&gt;&lt;/mtext&gt;&lt;mtext&gt;&lt;/mtext&gt;&lt;mtext&gt;&lt;/mtext&gt;&lt;mtext&gt;&lt;/mtext&gt;&lt;mn&gt;20&lt;/mn&gt;&lt;mi&gt;π&lt;/mi&gt;&lt;mtext&gt;&lt;/mtext&gt;&lt;mtext&gt;&lt;/mtext&gt;&lt;mtext&gt;&lt;/mtext&gt;&lt;mtext&gt;&lt;/mtext&gt;&lt;mfrac&gt;&lt;mn&gt;1&lt;/mn&gt;&lt;mn&gt;4&lt;/mn&gt;&lt;/mfrac&gt;&lt;/math&gt;" id="967" name="Google Shape;967;p76" title="pi times 10 squared 2 times pi times 100 2 times pi times 10 100 pi 20 pi one fourth"/>
          <p:cNvPicPr preferRelativeResize="0"/>
          <p:nvPr/>
        </p:nvPicPr>
        <p:blipFill rotWithShape="1">
          <a:blip r:embed="rId7">
            <a:alphaModFix/>
          </a:blip>
          <a:srcRect b="0" l="84551" r="7200" t="0"/>
          <a:stretch/>
        </p:blipFill>
        <p:spPr>
          <a:xfrm>
            <a:off x="4855675" y="3315150"/>
            <a:ext cx="486601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8" name="Google Shape;968;p76"/>
          <p:cNvGrpSpPr/>
          <p:nvPr/>
        </p:nvGrpSpPr>
        <p:grpSpPr>
          <a:xfrm>
            <a:off x="3930503" y="3439212"/>
            <a:ext cx="320680" cy="320680"/>
            <a:chOff x="1020916" y="1442088"/>
            <a:chExt cx="457200" cy="457200"/>
          </a:xfrm>
        </p:grpSpPr>
        <p:pic>
          <p:nvPicPr>
            <p:cNvPr id="969" name="Google Shape;969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" name="Google Shape;970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7"/>
          <p:cNvSpPr txBox="1"/>
          <p:nvPr>
            <p:ph idx="1" type="body"/>
          </p:nvPr>
        </p:nvSpPr>
        <p:spPr>
          <a:xfrm flipH="1">
            <a:off x="6575700" y="631325"/>
            <a:ext cx="22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Is Aisha’s statement correct?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=8\pi+36\ \ \ \ 8\pi+18+18\ \ \ \ \frac{1}{4}&quot;&gt;&lt;mo&gt;=&lt;/mo&gt;&lt;mn&gt;8&lt;/mn&gt;&lt;mi&gt;π&lt;/mi&gt;&lt;mo&gt;+&lt;/mo&gt;&lt;mn&gt;36&lt;/mn&gt;&lt;mtext&gt;&lt;/mtext&gt;&lt;mtext&gt;&lt;/mtext&gt;&lt;mtext&gt;&lt;/mtext&gt;&lt;mtext&gt;&lt;/mtext&gt;&lt;mn&gt;8&lt;/mn&gt;&lt;mi&gt;π&lt;/mi&gt;&lt;mo&gt;+&lt;/mo&gt;&lt;mn&gt;18&lt;/mn&gt;&lt;mo&gt;+&lt;/mo&gt;&lt;mn&gt;18&lt;/mn&gt;&lt;mtext&gt;&lt;/mtext&gt;&lt;mtext&gt;&lt;/mtext&gt;&lt;mtext&gt;&lt;/mtext&gt;&lt;mtext&gt;&lt;/mtext&gt;&lt;mfrac&gt;&lt;mn&gt;1&lt;/mn&gt;&lt;mn&gt;4&lt;/mn&gt;&lt;/mfrac&gt;&lt;/math&gt;" id="976" name="Google Shape;976;p77" title="equals 8 pi plus 36 8 pi plus 18 plus 18 one fourth"/>
          <p:cNvPicPr preferRelativeResize="0"/>
          <p:nvPr/>
        </p:nvPicPr>
        <p:blipFill rotWithShape="1">
          <a:blip r:embed="rId3">
            <a:alphaModFix/>
          </a:blip>
          <a:srcRect b="0" l="38967" r="14066" t="0"/>
          <a:stretch/>
        </p:blipFill>
        <p:spPr>
          <a:xfrm>
            <a:off x="239575" y="3787950"/>
            <a:ext cx="15778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\times2\times\pi\times18\ =\ 8\pi&quot;&gt;&lt;mfrac&gt;&lt;mn&gt;2&lt;/mn&gt;&lt;mn&gt;9&lt;/mn&gt;&lt;/mfrac&gt;&lt;mo&gt;×&lt;/mo&gt;&lt;mn&gt;2&lt;/mn&gt;&lt;mo&gt;×&lt;/mo&gt;&lt;mi&gt;π&lt;/mi&gt;&lt;mo&gt;×&lt;/mo&gt;&lt;mn&gt;18&lt;/mn&gt;&lt;mtext&gt;&lt;/mtext&gt;&lt;mo&gt;=&lt;/mo&gt;&lt;mtext&gt;&lt;/mtext&gt;&lt;mn&gt;8&lt;/mn&gt;&lt;mi&gt;π&lt;/mi&gt;&lt;/math&gt;" id="977" name="Google Shape;977;p77" title="two ninths times 2 times pi times 18 equals 8 pi"/>
          <p:cNvPicPr preferRelativeResize="0"/>
          <p:nvPr/>
        </p:nvPicPr>
        <p:blipFill rotWithShape="1">
          <a:blip r:embed="rId4">
            <a:alphaModFix/>
          </a:blip>
          <a:srcRect b="0" l="0" r="29986" t="0"/>
          <a:stretch/>
        </p:blipFill>
        <p:spPr>
          <a:xfrm>
            <a:off x="334200" y="2757725"/>
            <a:ext cx="1701850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978" name="Google Shape;978;p77" title="two ninths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7384" y="884434"/>
            <a:ext cx="178224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pic>
        <p:nvPicPr>
          <p:cNvPr id="980" name="Google Shape;980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280825" y="3460860"/>
            <a:ext cx="539175" cy="10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77"/>
          <p:cNvPicPr preferRelativeResize="0"/>
          <p:nvPr/>
        </p:nvPicPr>
        <p:blipFill rotWithShape="1">
          <a:blip r:embed="rId7">
            <a:alphaModFix/>
          </a:blip>
          <a:srcRect b="4760" l="43243" r="0" t="13015"/>
          <a:stretch/>
        </p:blipFill>
        <p:spPr>
          <a:xfrm flipH="1">
            <a:off x="6575777" y="1212086"/>
            <a:ext cx="1867325" cy="25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77"/>
          <p:cNvSpPr txBox="1"/>
          <p:nvPr>
            <p:ph idx="1" type="body"/>
          </p:nvPr>
        </p:nvSpPr>
        <p:spPr>
          <a:xfrm flipH="1">
            <a:off x="6653053" y="1339236"/>
            <a:ext cx="1672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If I double the size of the angle in this sector, the perimeter of the sector will also double.</a:t>
            </a:r>
            <a:endParaRPr sz="1800"/>
          </a:p>
        </p:txBody>
      </p:sp>
      <p:pic>
        <p:nvPicPr>
          <p:cNvPr id="983" name="Google Shape;983;p77"/>
          <p:cNvPicPr preferRelativeResize="0"/>
          <p:nvPr/>
        </p:nvPicPr>
        <p:blipFill rotWithShape="1">
          <a:blip r:embed="rId8">
            <a:alphaModFix/>
          </a:blip>
          <a:srcRect b="59303" l="0" r="54869" t="0"/>
          <a:stretch/>
        </p:blipFill>
        <p:spPr>
          <a:xfrm>
            <a:off x="4714025" y="884433"/>
            <a:ext cx="1577825" cy="1579837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77"/>
          <p:cNvSpPr txBox="1"/>
          <p:nvPr>
            <p:ph idx="1" type="body"/>
          </p:nvPr>
        </p:nvSpPr>
        <p:spPr>
          <a:xfrm>
            <a:off x="5190222" y="1275228"/>
            <a:ext cx="44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40°</a:t>
            </a:r>
            <a:endParaRPr sz="1800"/>
          </a:p>
        </p:txBody>
      </p:sp>
      <p:grpSp>
        <p:nvGrpSpPr>
          <p:cNvPr id="985" name="Google Shape;985;p77"/>
          <p:cNvGrpSpPr/>
          <p:nvPr/>
        </p:nvGrpSpPr>
        <p:grpSpPr>
          <a:xfrm>
            <a:off x="5485074" y="1757495"/>
            <a:ext cx="773104" cy="298769"/>
            <a:chOff x="7309296" y="2227128"/>
            <a:chExt cx="1102230" cy="360223"/>
          </a:xfrm>
        </p:grpSpPr>
        <p:sp>
          <p:nvSpPr>
            <p:cNvPr id="986" name="Google Shape;986;p77"/>
            <p:cNvSpPr/>
            <p:nvPr/>
          </p:nvSpPr>
          <p:spPr>
            <a:xfrm>
              <a:off x="7309326" y="2266651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87" name="Google Shape;987;p77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40}{360}=\frac{1}{9}&quot;&gt;&lt;mfrac&gt;&lt;mn&gt;40&lt;/mn&gt;&lt;mn&gt;360&lt;/mn&gt;&lt;/mfrac&gt;&lt;mo&gt;=&lt;/mo&gt;&lt;mfrac&gt;&lt;mn&gt;1&lt;/mn&gt;&lt;mn&gt;9&lt;/mn&gt;&lt;/mfrac&gt;&lt;/math&gt;" id="988" name="Google Shape;988;p77" title="40 over 360 equals one ninth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73914" y="1552433"/>
            <a:ext cx="1016256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77"/>
          <p:cNvSpPr txBox="1"/>
          <p:nvPr>
            <p:ph idx="1" type="body"/>
          </p:nvPr>
        </p:nvSpPr>
        <p:spPr>
          <a:xfrm flipH="1">
            <a:off x="3793089" y="907108"/>
            <a:ext cx="87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of a full circle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40}{360}=\frac{1}{9}&quot;&gt;&lt;mfrac&gt;&lt;mn&gt;40&lt;/mn&gt;&lt;mn&gt;360&lt;/mn&gt;&lt;/mfrac&gt;&lt;mo&gt;=&lt;/mo&gt;&lt;mfrac&gt;&lt;mn&gt;1&lt;/mn&gt;&lt;mn&gt;9&lt;/mn&gt;&lt;/mfrac&gt;&lt;/math&gt;" id="990" name="Google Shape;990;p77" title="40 over 360 equals one ninth"/>
          <p:cNvPicPr preferRelativeResize="0"/>
          <p:nvPr/>
        </p:nvPicPr>
        <p:blipFill rotWithShape="1">
          <a:blip r:embed="rId9">
            <a:alphaModFix/>
          </a:blip>
          <a:srcRect b="0" l="82314" r="0" t="0"/>
          <a:stretch/>
        </p:blipFill>
        <p:spPr>
          <a:xfrm>
            <a:off x="3560471" y="884440"/>
            <a:ext cx="179725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77"/>
          <p:cNvSpPr txBox="1"/>
          <p:nvPr>
            <p:ph idx="1" type="body"/>
          </p:nvPr>
        </p:nvSpPr>
        <p:spPr>
          <a:xfrm flipH="1">
            <a:off x="3454975" y="2459087"/>
            <a:ext cx="148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1800"/>
              <a:t>arc</a:t>
            </a:r>
            <a:r>
              <a:rPr lang="en-GB" sz="1800"/>
              <a:t> length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9}\times2\times\pi\times18\ =\ 4\pi&quot;&gt;&lt;mfrac&gt;&lt;mn&gt;1&lt;/mn&gt;&lt;mn&gt;9&lt;/mn&gt;&lt;/mfrac&gt;&lt;mo&gt;×&lt;/mo&gt;&lt;mn&gt;2&lt;/mn&gt;&lt;mo&gt;×&lt;/mo&gt;&lt;mi&gt;π&lt;/mi&gt;&lt;mo&gt;×&lt;/mo&gt;&lt;mn&gt;18&lt;/mn&gt;&lt;mtext&gt;&lt;/mtext&gt;&lt;mo&gt;=&lt;/mo&gt;&lt;mtext&gt;&lt;/mtext&gt;&lt;mn&gt;4&lt;/mn&gt;&lt;mi&gt;π&lt;/mi&gt;&lt;/math&gt;" id="992" name="Google Shape;992;p77" title="one ninth times 2 times pi times 18 equals 4 pi"/>
          <p:cNvPicPr preferRelativeResize="0"/>
          <p:nvPr/>
        </p:nvPicPr>
        <p:blipFill rotWithShape="1">
          <a:blip r:embed="rId10">
            <a:alphaModFix/>
          </a:blip>
          <a:srcRect b="0" l="0" r="29986" t="0"/>
          <a:stretch/>
        </p:blipFill>
        <p:spPr>
          <a:xfrm>
            <a:off x="3662826" y="2757725"/>
            <a:ext cx="1701850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7"/>
          <p:cNvSpPr txBox="1"/>
          <p:nvPr>
            <p:ph idx="1" type="body"/>
          </p:nvPr>
        </p:nvSpPr>
        <p:spPr>
          <a:xfrm flipH="1">
            <a:off x="3662825" y="3482650"/>
            <a:ext cx="148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perimeter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=4\pi+36\ \ \ \ 4\pi+18+18\ \ \ \ \frac{1}{4}&quot;&gt;&lt;mo&gt;=&lt;/mo&gt;&lt;mn&gt;4&lt;/mn&gt;&lt;mi&gt;π&lt;/mi&gt;&lt;mo&gt;+&lt;/mo&gt;&lt;mn&gt;36&lt;/mn&gt;&lt;mtext&gt;&lt;/mtext&gt;&lt;mtext&gt;&lt;/mtext&gt;&lt;mtext&gt;&lt;/mtext&gt;&lt;mtext&gt;&lt;/mtext&gt;&lt;mn&gt;4&lt;/mn&gt;&lt;mi&gt;π&lt;/mi&gt;&lt;mo&gt;+&lt;/mo&gt;&lt;mn&gt;18&lt;/mn&gt;&lt;mo&gt;+&lt;/mo&gt;&lt;mn&gt;18&lt;/mn&gt;&lt;mtext&gt;&lt;/mtext&gt;&lt;mtext&gt;&lt;/mtext&gt;&lt;mtext&gt;&lt;/mtext&gt;&lt;mtext&gt;&lt;/mtext&gt;&lt;mfrac&gt;&lt;mn&gt;1&lt;/mn&gt;&lt;mn&gt;4&lt;/mn&gt;&lt;/mfrac&gt;&lt;/math&gt;" id="994" name="Google Shape;994;p77" title="equals 4 pi plus 36 4 pi plus 18 plus 18 one fourth"/>
          <p:cNvPicPr preferRelativeResize="0"/>
          <p:nvPr/>
        </p:nvPicPr>
        <p:blipFill rotWithShape="1">
          <a:blip r:embed="rId11">
            <a:alphaModFix/>
          </a:blip>
          <a:srcRect b="0" l="41283" r="14605" t="0"/>
          <a:stretch/>
        </p:blipFill>
        <p:spPr>
          <a:xfrm>
            <a:off x="3587866" y="3743850"/>
            <a:ext cx="1481999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4\pi+36\ \ \ \ 4\pi+18+18\ \ \ \ \frac{1}{4}&quot;&gt;&lt;mo&gt;=&lt;/mo&gt;&lt;mn&gt;4&lt;/mn&gt;&lt;mi&gt;π&lt;/mi&gt;&lt;mo&gt;+&lt;/mo&gt;&lt;mn&gt;36&lt;/mn&gt;&lt;mtext&gt;&lt;/mtext&gt;&lt;mtext&gt;&lt;/mtext&gt;&lt;mtext&gt;&lt;/mtext&gt;&lt;mtext&gt;&lt;/mtext&gt;&lt;mn&gt;4&lt;/mn&gt;&lt;mi&gt;π&lt;/mi&gt;&lt;mo&gt;+&lt;/mo&gt;&lt;mn&gt;18&lt;/mn&gt;&lt;mo&gt;+&lt;/mo&gt;&lt;mn&gt;18&lt;/mn&gt;&lt;mtext&gt;&lt;/mtext&gt;&lt;mtext&gt;&lt;/mtext&gt;&lt;mtext&gt;&lt;/mtext&gt;&lt;mtext&gt;&lt;/mtext&gt;&lt;mfrac&gt;&lt;mn&gt;1&lt;/mn&gt;&lt;mn&gt;4&lt;/mn&gt;&lt;/mfrac&gt;&lt;/math&gt;" id="995" name="Google Shape;995;p77" title="equals 4 pi plus 36 4 pi plus 18 plus 18 one fourth"/>
          <p:cNvPicPr preferRelativeResize="0"/>
          <p:nvPr/>
        </p:nvPicPr>
        <p:blipFill rotWithShape="1">
          <a:blip r:embed="rId11">
            <a:alphaModFix/>
          </a:blip>
          <a:srcRect b="0" l="-949" r="65254" t="0"/>
          <a:stretch/>
        </p:blipFill>
        <p:spPr>
          <a:xfrm>
            <a:off x="5161500" y="3736306"/>
            <a:ext cx="1199249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77"/>
          <p:cNvPicPr preferRelativeResize="0"/>
          <p:nvPr/>
        </p:nvPicPr>
        <p:blipFill rotWithShape="1">
          <a:blip r:embed="rId8">
            <a:alphaModFix/>
          </a:blip>
          <a:srcRect b="59303" l="54492" r="374" t="0"/>
          <a:stretch/>
        </p:blipFill>
        <p:spPr>
          <a:xfrm>
            <a:off x="324000" y="884433"/>
            <a:ext cx="1577825" cy="1579837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77"/>
          <p:cNvSpPr txBox="1"/>
          <p:nvPr>
            <p:ph idx="1" type="body"/>
          </p:nvPr>
        </p:nvSpPr>
        <p:spPr>
          <a:xfrm>
            <a:off x="1306433" y="1155891"/>
            <a:ext cx="44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80°</a:t>
            </a:r>
            <a:endParaRPr sz="1800"/>
          </a:p>
        </p:txBody>
      </p:sp>
      <p:grpSp>
        <p:nvGrpSpPr>
          <p:cNvPr id="998" name="Google Shape;998;p77"/>
          <p:cNvGrpSpPr/>
          <p:nvPr/>
        </p:nvGrpSpPr>
        <p:grpSpPr>
          <a:xfrm>
            <a:off x="1095049" y="1757495"/>
            <a:ext cx="773104" cy="298769"/>
            <a:chOff x="7309296" y="2227128"/>
            <a:chExt cx="1102230" cy="360223"/>
          </a:xfrm>
        </p:grpSpPr>
        <p:sp>
          <p:nvSpPr>
            <p:cNvPr id="999" name="Google Shape;999;p77"/>
            <p:cNvSpPr/>
            <p:nvPr/>
          </p:nvSpPr>
          <p:spPr>
            <a:xfrm>
              <a:off x="7309326" y="2266651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00" name="Google Shape;1000;p77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01" name="Google Shape;1001;p77"/>
          <p:cNvSpPr txBox="1"/>
          <p:nvPr>
            <p:ph idx="1" type="body"/>
          </p:nvPr>
        </p:nvSpPr>
        <p:spPr>
          <a:xfrm flipH="1">
            <a:off x="2102931" y="907108"/>
            <a:ext cx="87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of a full circle</a:t>
            </a:r>
            <a:endParaRPr sz="1800"/>
          </a:p>
        </p:txBody>
      </p:sp>
      <p:sp>
        <p:nvSpPr>
          <p:cNvPr id="1002" name="Google Shape;1002;p77"/>
          <p:cNvSpPr txBox="1"/>
          <p:nvPr>
            <p:ph idx="1" type="body"/>
          </p:nvPr>
        </p:nvSpPr>
        <p:spPr>
          <a:xfrm flipH="1">
            <a:off x="334200" y="2459087"/>
            <a:ext cx="148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1800"/>
              <a:t>arc</a:t>
            </a:r>
            <a:r>
              <a:rPr lang="en-GB" sz="1800"/>
              <a:t> length </a:t>
            </a:r>
            <a:endParaRPr sz="1800"/>
          </a:p>
        </p:txBody>
      </p:sp>
      <p:sp>
        <p:nvSpPr>
          <p:cNvPr id="1003" name="Google Shape;1003;p77"/>
          <p:cNvSpPr txBox="1"/>
          <p:nvPr>
            <p:ph idx="1" type="body"/>
          </p:nvPr>
        </p:nvSpPr>
        <p:spPr>
          <a:xfrm flipH="1">
            <a:off x="347625" y="3503175"/>
            <a:ext cx="148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perimeter</a:t>
            </a:r>
            <a:endParaRPr sz="1800"/>
          </a:p>
        </p:txBody>
      </p:sp>
      <p:sp>
        <p:nvSpPr>
          <p:cNvPr id="1004" name="Google Shape;1004;p77"/>
          <p:cNvSpPr txBox="1"/>
          <p:nvPr>
            <p:ph idx="1" type="body"/>
          </p:nvPr>
        </p:nvSpPr>
        <p:spPr>
          <a:xfrm flipH="1">
            <a:off x="1704416" y="4276250"/>
            <a:ext cx="148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61.1 cm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5" name="Google Shape;1005;p77"/>
          <p:cNvSpPr txBox="1"/>
          <p:nvPr>
            <p:ph idx="1" type="body"/>
          </p:nvPr>
        </p:nvSpPr>
        <p:spPr>
          <a:xfrm flipH="1">
            <a:off x="5012166" y="4243225"/>
            <a:ext cx="148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48.6 cm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6" name="Google Shape;1006;p77"/>
          <p:cNvCxnSpPr/>
          <p:nvPr/>
        </p:nvCxnSpPr>
        <p:spPr>
          <a:xfrm>
            <a:off x="3366394" y="623175"/>
            <a:ext cx="0" cy="4177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&lt;math xmlns=&quot;http://www.w3.org/1998/Math/MathML&quot; display=&quot;block&quot; data-is-equatio=&quot;1&quot; data-latex=&quot;=8\pi+36\ \ \ \ 8\pi+18+18\ \ \ \ \frac{1}{4}&quot;&gt;&lt;mo&gt;=&lt;/mo&gt;&lt;mn&gt;8&lt;/mn&gt;&lt;mi&gt;π&lt;/mi&gt;&lt;mo&gt;+&lt;/mo&gt;&lt;mn&gt;36&lt;/mn&gt;&lt;mtext&gt;&lt;/mtext&gt;&lt;mtext&gt;&lt;/mtext&gt;&lt;mtext&gt;&lt;/mtext&gt;&lt;mtext&gt;&lt;/mtext&gt;&lt;mn&gt;8&lt;/mn&gt;&lt;mi&gt;π&lt;/mi&gt;&lt;mo&gt;+&lt;/mo&gt;&lt;mn&gt;18&lt;/mn&gt;&lt;mo&gt;+&lt;/mo&gt;&lt;mn&gt;18&lt;/mn&gt;&lt;mtext&gt;&lt;/mtext&gt;&lt;mtext&gt;&lt;/mtext&gt;&lt;mtext&gt;&lt;/mtext&gt;&lt;mtext&gt;&lt;/mtext&gt;&lt;mfrac&gt;&lt;mn&gt;1&lt;/mn&gt;&lt;mn&gt;4&lt;/mn&gt;&lt;/mfrac&gt;&lt;/math&gt;" id="1007" name="Google Shape;1007;p77" title="equals 8 pi plus 36 8 pi plus 18 plus 18 one fourth"/>
          <p:cNvPicPr preferRelativeResize="0"/>
          <p:nvPr/>
        </p:nvPicPr>
        <p:blipFill rotWithShape="1">
          <a:blip r:embed="rId3">
            <a:alphaModFix/>
          </a:blip>
          <a:srcRect b="0" l="-1017" r="65322" t="0"/>
          <a:stretch/>
        </p:blipFill>
        <p:spPr>
          <a:xfrm>
            <a:off x="1858497" y="3774961"/>
            <a:ext cx="1199249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7"/>
          <p:cNvSpPr/>
          <p:nvPr/>
        </p:nvSpPr>
        <p:spPr>
          <a:xfrm>
            <a:off x="120600" y="887365"/>
            <a:ext cx="8902800" cy="4164600"/>
          </a:xfrm>
          <a:prstGeom prst="rect">
            <a:avLst/>
          </a:prstGeom>
          <a:solidFill>
            <a:srgbClr val="FFFFFF">
              <a:alpha val="745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9}\times2\times\pi\times18\ =\ 4\pi&quot;&gt;&lt;mfrac&gt;&lt;mn&gt;1&lt;/mn&gt;&lt;mn&gt;9&lt;/mn&gt;&lt;/mfrac&gt;&lt;mo&gt;×&lt;/mo&gt;&lt;mn&gt;2&lt;/mn&gt;&lt;mo&gt;×&lt;/mo&gt;&lt;mi&gt;π&lt;/mi&gt;&lt;mo&gt;×&lt;/mo&gt;&lt;mn&gt;18&lt;/mn&gt;&lt;mtext&gt;&lt;/mtext&gt;&lt;mo&gt;=&lt;/mo&gt;&lt;mtext&gt;&lt;/mtext&gt;&lt;mn&gt;4&lt;/mn&gt;&lt;mi&gt;π&lt;/mi&gt;&lt;/math&gt;" id="1009" name="Google Shape;1009;p77" title="one ninth times 2 times pi times 18 equals 4 pi"/>
          <p:cNvPicPr preferRelativeResize="0"/>
          <p:nvPr/>
        </p:nvPicPr>
        <p:blipFill rotWithShape="1">
          <a:blip r:embed="rId10">
            <a:alphaModFix/>
          </a:blip>
          <a:srcRect b="0" l="72143" r="-2" t="0"/>
          <a:stretch/>
        </p:blipFill>
        <p:spPr>
          <a:xfrm>
            <a:off x="5517076" y="2761058"/>
            <a:ext cx="677174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\times2\times\pi\times18\ =\ 8\pi&quot;&gt;&lt;mfrac&gt;&lt;mn&gt;2&lt;/mn&gt;&lt;mn&gt;9&lt;/mn&gt;&lt;/mfrac&gt;&lt;mo&gt;×&lt;/mo&gt;&lt;mn&gt;2&lt;/mn&gt;&lt;mo&gt;×&lt;/mo&gt;&lt;mi&gt;π&lt;/mi&gt;&lt;mo&gt;×&lt;/mo&gt;&lt;mn&gt;18&lt;/mn&gt;&lt;mtext&gt;&lt;/mtext&gt;&lt;mo&gt;=&lt;/mo&gt;&lt;mtext&gt;&lt;/mtext&gt;&lt;mn&gt;8&lt;/mn&gt;&lt;mi&gt;π&lt;/mi&gt;&lt;/math&gt;" id="1010" name="Google Shape;1010;p77" title="two ninths times 2 times pi times 18 equals 8 pi"/>
          <p:cNvPicPr preferRelativeResize="0"/>
          <p:nvPr/>
        </p:nvPicPr>
        <p:blipFill rotWithShape="1">
          <a:blip r:embed="rId4">
            <a:alphaModFix/>
          </a:blip>
          <a:srcRect b="0" l="73053" r="0" t="0"/>
          <a:stretch/>
        </p:blipFill>
        <p:spPr>
          <a:xfrm>
            <a:off x="2041745" y="2774814"/>
            <a:ext cx="654949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1" name="Google Shape;1011;p77"/>
          <p:cNvGrpSpPr/>
          <p:nvPr/>
        </p:nvGrpSpPr>
        <p:grpSpPr>
          <a:xfrm>
            <a:off x="2032359" y="2911475"/>
            <a:ext cx="4404538" cy="326100"/>
            <a:chOff x="2377379" y="3670675"/>
            <a:chExt cx="4404538" cy="326100"/>
          </a:xfrm>
        </p:grpSpPr>
        <p:sp>
          <p:nvSpPr>
            <p:cNvPr id="1012" name="Google Shape;1012;p77"/>
            <p:cNvSpPr/>
            <p:nvPr/>
          </p:nvSpPr>
          <p:spPr>
            <a:xfrm>
              <a:off x="2377379" y="3687775"/>
              <a:ext cx="919800" cy="309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77"/>
            <p:cNvSpPr/>
            <p:nvPr/>
          </p:nvSpPr>
          <p:spPr>
            <a:xfrm>
              <a:off x="5862117" y="3670675"/>
              <a:ext cx="919800" cy="309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4" name="Google Shape;1014;p77"/>
          <p:cNvSpPr txBox="1"/>
          <p:nvPr>
            <p:ph idx="1" type="body"/>
          </p:nvPr>
        </p:nvSpPr>
        <p:spPr>
          <a:xfrm>
            <a:off x="324000" y="3543775"/>
            <a:ext cx="29127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If the angle of a sector doubles, then the </a:t>
            </a:r>
            <a:r>
              <a:rPr b="1" lang="en-GB" sz="1800"/>
              <a:t>arc</a:t>
            </a:r>
            <a:r>
              <a:rPr lang="en-GB" sz="1800"/>
              <a:t> length also doubles.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=8\pi+36\ \ \ \ 8\pi+18+18\ \ \ \ \frac{1}{4}&quot;&gt;&lt;mo&gt;=&lt;/mo&gt;&lt;mn&gt;8&lt;/mn&gt;&lt;mi&gt;π&lt;/mi&gt;&lt;mo&gt;+&lt;/mo&gt;&lt;mn&gt;36&lt;/mn&gt;&lt;mtext&gt;&lt;/mtext&gt;&lt;mtext&gt;&lt;/mtext&gt;&lt;mtext&gt;&lt;/mtext&gt;&lt;mtext&gt;&lt;/mtext&gt;&lt;mn&gt;8&lt;/mn&gt;&lt;mi&gt;π&lt;/mi&gt;&lt;mo&gt;+&lt;/mo&gt;&lt;mn&gt;18&lt;/mn&gt;&lt;mo&gt;+&lt;/mo&gt;&lt;mn&gt;18&lt;/mn&gt;&lt;mtext&gt;&lt;/mtext&gt;&lt;mtext&gt;&lt;/mtext&gt;&lt;mtext&gt;&lt;/mtext&gt;&lt;mtext&gt;&lt;/mtext&gt;&lt;mfrac&gt;&lt;mn&gt;1&lt;/mn&gt;&lt;mn&gt;4&lt;/mn&gt;&lt;/mfrac&gt;&lt;/math&gt;" id="1019" name="Google Shape;1019;p78" title="equals 8 pi plus 36 8 pi plus 18 plus 18 one fourth"/>
          <p:cNvPicPr preferRelativeResize="0"/>
          <p:nvPr/>
        </p:nvPicPr>
        <p:blipFill rotWithShape="1">
          <a:blip r:embed="rId3">
            <a:alphaModFix/>
          </a:blip>
          <a:srcRect b="0" l="38967" r="14066" t="0"/>
          <a:stretch/>
        </p:blipFill>
        <p:spPr>
          <a:xfrm>
            <a:off x="239575" y="3787950"/>
            <a:ext cx="15778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\times2\times\pi\times18\ =\ 8\pi&quot;&gt;&lt;mfrac&gt;&lt;mn&gt;2&lt;/mn&gt;&lt;mn&gt;9&lt;/mn&gt;&lt;/mfrac&gt;&lt;mo&gt;×&lt;/mo&gt;&lt;mn&gt;2&lt;/mn&gt;&lt;mo&gt;×&lt;/mo&gt;&lt;mi&gt;π&lt;/mi&gt;&lt;mo&gt;×&lt;/mo&gt;&lt;mn&gt;18&lt;/mn&gt;&lt;mtext&gt;&lt;/mtext&gt;&lt;mo&gt;=&lt;/mo&gt;&lt;mtext&gt;&lt;/mtext&gt;&lt;mn&gt;8&lt;/mn&gt;&lt;mi&gt;π&lt;/mi&gt;&lt;/math&gt;" id="1020" name="Google Shape;1020;p78" title="two ninths times 2 times pi times 18 equals 8 pi"/>
          <p:cNvPicPr preferRelativeResize="0"/>
          <p:nvPr/>
        </p:nvPicPr>
        <p:blipFill rotWithShape="1">
          <a:blip r:embed="rId4">
            <a:alphaModFix/>
          </a:blip>
          <a:srcRect b="0" l="0" r="29986" t="0"/>
          <a:stretch/>
        </p:blipFill>
        <p:spPr>
          <a:xfrm>
            <a:off x="334200" y="2757725"/>
            <a:ext cx="1701850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021" name="Google Shape;1021;p78" title="two ninths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7384" y="884434"/>
            <a:ext cx="178224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pic>
        <p:nvPicPr>
          <p:cNvPr id="1023" name="Google Shape;1023;p78"/>
          <p:cNvPicPr preferRelativeResize="0"/>
          <p:nvPr/>
        </p:nvPicPr>
        <p:blipFill rotWithShape="1">
          <a:blip r:embed="rId6">
            <a:alphaModFix/>
          </a:blip>
          <a:srcRect b="59303" l="0" r="54869" t="0"/>
          <a:stretch/>
        </p:blipFill>
        <p:spPr>
          <a:xfrm>
            <a:off x="4714025" y="884433"/>
            <a:ext cx="1577825" cy="15798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78"/>
          <p:cNvSpPr txBox="1"/>
          <p:nvPr>
            <p:ph idx="1" type="body"/>
          </p:nvPr>
        </p:nvSpPr>
        <p:spPr>
          <a:xfrm>
            <a:off x="5190222" y="1275228"/>
            <a:ext cx="44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40°</a:t>
            </a:r>
            <a:endParaRPr sz="1800"/>
          </a:p>
        </p:txBody>
      </p:sp>
      <p:grpSp>
        <p:nvGrpSpPr>
          <p:cNvPr id="1025" name="Google Shape;1025;p78"/>
          <p:cNvGrpSpPr/>
          <p:nvPr/>
        </p:nvGrpSpPr>
        <p:grpSpPr>
          <a:xfrm>
            <a:off x="5485074" y="1757495"/>
            <a:ext cx="773104" cy="298769"/>
            <a:chOff x="7309296" y="2227128"/>
            <a:chExt cx="1102230" cy="360223"/>
          </a:xfrm>
        </p:grpSpPr>
        <p:sp>
          <p:nvSpPr>
            <p:cNvPr id="1026" name="Google Shape;1026;p78"/>
            <p:cNvSpPr/>
            <p:nvPr/>
          </p:nvSpPr>
          <p:spPr>
            <a:xfrm>
              <a:off x="7309326" y="2266651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27" name="Google Shape;1027;p78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28" name="Google Shape;1028;p78"/>
          <p:cNvSpPr txBox="1"/>
          <p:nvPr>
            <p:ph idx="1" type="body"/>
          </p:nvPr>
        </p:nvSpPr>
        <p:spPr>
          <a:xfrm flipH="1">
            <a:off x="3793089" y="907108"/>
            <a:ext cx="87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of a full circle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40}{360}=\frac{1}{9}&quot;&gt;&lt;mfrac&gt;&lt;mn&gt;40&lt;/mn&gt;&lt;mn&gt;360&lt;/mn&gt;&lt;/mfrac&gt;&lt;mo&gt;=&lt;/mo&gt;&lt;mfrac&gt;&lt;mn&gt;1&lt;/mn&gt;&lt;mn&gt;9&lt;/mn&gt;&lt;/mfrac&gt;&lt;/math&gt;" id="1029" name="Google Shape;1029;p78" title="40 over 360 equals one ninth"/>
          <p:cNvPicPr preferRelativeResize="0"/>
          <p:nvPr/>
        </p:nvPicPr>
        <p:blipFill rotWithShape="1">
          <a:blip r:embed="rId7">
            <a:alphaModFix/>
          </a:blip>
          <a:srcRect b="0" l="82314" r="0" t="0"/>
          <a:stretch/>
        </p:blipFill>
        <p:spPr>
          <a:xfrm>
            <a:off x="3560471" y="884440"/>
            <a:ext cx="179725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78"/>
          <p:cNvSpPr txBox="1"/>
          <p:nvPr>
            <p:ph idx="1" type="body"/>
          </p:nvPr>
        </p:nvSpPr>
        <p:spPr>
          <a:xfrm flipH="1">
            <a:off x="3454975" y="2459087"/>
            <a:ext cx="148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1800"/>
              <a:t>arc</a:t>
            </a:r>
            <a:r>
              <a:rPr lang="en-GB" sz="1800"/>
              <a:t> length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9}\times2\times\pi\times18\ =\ 4\pi&quot;&gt;&lt;mfrac&gt;&lt;mn&gt;1&lt;/mn&gt;&lt;mn&gt;9&lt;/mn&gt;&lt;/mfrac&gt;&lt;mo&gt;×&lt;/mo&gt;&lt;mn&gt;2&lt;/mn&gt;&lt;mo&gt;×&lt;/mo&gt;&lt;mi&gt;π&lt;/mi&gt;&lt;mo&gt;×&lt;/mo&gt;&lt;mn&gt;18&lt;/mn&gt;&lt;mtext&gt;&lt;/mtext&gt;&lt;mo&gt;=&lt;/mo&gt;&lt;mtext&gt;&lt;/mtext&gt;&lt;mn&gt;4&lt;/mn&gt;&lt;mi&gt;π&lt;/mi&gt;&lt;/math&gt;" id="1031" name="Google Shape;1031;p78" title="one ninth times 2 times pi times 18 equals 4 pi"/>
          <p:cNvPicPr preferRelativeResize="0"/>
          <p:nvPr/>
        </p:nvPicPr>
        <p:blipFill rotWithShape="1">
          <a:blip r:embed="rId8">
            <a:alphaModFix/>
          </a:blip>
          <a:srcRect b="0" l="0" r="29986" t="0"/>
          <a:stretch/>
        </p:blipFill>
        <p:spPr>
          <a:xfrm>
            <a:off x="3662826" y="2757725"/>
            <a:ext cx="1701850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78"/>
          <p:cNvSpPr txBox="1"/>
          <p:nvPr>
            <p:ph idx="1" type="body"/>
          </p:nvPr>
        </p:nvSpPr>
        <p:spPr>
          <a:xfrm flipH="1">
            <a:off x="3662825" y="3482650"/>
            <a:ext cx="148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perimeter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=4\pi+36\ \ \ \ 4\pi+18+18\ \ \ \ \frac{1}{4}&quot;&gt;&lt;mo&gt;=&lt;/mo&gt;&lt;mn&gt;4&lt;/mn&gt;&lt;mi&gt;π&lt;/mi&gt;&lt;mo&gt;+&lt;/mo&gt;&lt;mn&gt;36&lt;/mn&gt;&lt;mtext&gt;&lt;/mtext&gt;&lt;mtext&gt;&lt;/mtext&gt;&lt;mtext&gt;&lt;/mtext&gt;&lt;mtext&gt;&lt;/mtext&gt;&lt;mn&gt;4&lt;/mn&gt;&lt;mi&gt;π&lt;/mi&gt;&lt;mo&gt;+&lt;/mo&gt;&lt;mn&gt;18&lt;/mn&gt;&lt;mo&gt;+&lt;/mo&gt;&lt;mn&gt;18&lt;/mn&gt;&lt;mtext&gt;&lt;/mtext&gt;&lt;mtext&gt;&lt;/mtext&gt;&lt;mtext&gt;&lt;/mtext&gt;&lt;mtext&gt;&lt;/mtext&gt;&lt;mfrac&gt;&lt;mn&gt;1&lt;/mn&gt;&lt;mn&gt;4&lt;/mn&gt;&lt;/mfrac&gt;&lt;/math&gt;" id="1033" name="Google Shape;1033;p78" title="equals 4 pi plus 36 4 pi plus 18 plus 18 one fourth"/>
          <p:cNvPicPr preferRelativeResize="0"/>
          <p:nvPr/>
        </p:nvPicPr>
        <p:blipFill rotWithShape="1">
          <a:blip r:embed="rId9">
            <a:alphaModFix/>
          </a:blip>
          <a:srcRect b="0" l="41283" r="14605" t="0"/>
          <a:stretch/>
        </p:blipFill>
        <p:spPr>
          <a:xfrm>
            <a:off x="3585564" y="3743850"/>
            <a:ext cx="1481999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4\pi+36\ \ \ \ 4\pi+18+18\ \ \ \ \frac{1}{4}&quot;&gt;&lt;mo&gt;=&lt;/mo&gt;&lt;mn&gt;4&lt;/mn&gt;&lt;mi&gt;π&lt;/mi&gt;&lt;mo&gt;+&lt;/mo&gt;&lt;mn&gt;36&lt;/mn&gt;&lt;mtext&gt;&lt;/mtext&gt;&lt;mtext&gt;&lt;/mtext&gt;&lt;mtext&gt;&lt;/mtext&gt;&lt;mtext&gt;&lt;/mtext&gt;&lt;mn&gt;4&lt;/mn&gt;&lt;mi&gt;π&lt;/mi&gt;&lt;mo&gt;+&lt;/mo&gt;&lt;mn&gt;18&lt;/mn&gt;&lt;mo&gt;+&lt;/mo&gt;&lt;mn&gt;18&lt;/mn&gt;&lt;mtext&gt;&lt;/mtext&gt;&lt;mtext&gt;&lt;/mtext&gt;&lt;mtext&gt;&lt;/mtext&gt;&lt;mtext&gt;&lt;/mtext&gt;&lt;mfrac&gt;&lt;mn&gt;1&lt;/mn&gt;&lt;mn&gt;4&lt;/mn&gt;&lt;/mfrac&gt;&lt;/math&gt;" id="1034" name="Google Shape;1034;p78" title="equals 4 pi plus 36 4 pi plus 18 plus 18 one fourth"/>
          <p:cNvPicPr preferRelativeResize="0"/>
          <p:nvPr/>
        </p:nvPicPr>
        <p:blipFill rotWithShape="1">
          <a:blip r:embed="rId9">
            <a:alphaModFix/>
          </a:blip>
          <a:srcRect b="0" l="-949" r="65254" t="0"/>
          <a:stretch/>
        </p:blipFill>
        <p:spPr>
          <a:xfrm>
            <a:off x="5159198" y="3736306"/>
            <a:ext cx="1199249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78"/>
          <p:cNvPicPr preferRelativeResize="0"/>
          <p:nvPr/>
        </p:nvPicPr>
        <p:blipFill rotWithShape="1">
          <a:blip r:embed="rId6">
            <a:alphaModFix/>
          </a:blip>
          <a:srcRect b="59303" l="54492" r="374" t="0"/>
          <a:stretch/>
        </p:blipFill>
        <p:spPr>
          <a:xfrm>
            <a:off x="324000" y="884433"/>
            <a:ext cx="1577825" cy="15798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78"/>
          <p:cNvSpPr txBox="1"/>
          <p:nvPr>
            <p:ph idx="1" type="body"/>
          </p:nvPr>
        </p:nvSpPr>
        <p:spPr>
          <a:xfrm>
            <a:off x="1306433" y="1155891"/>
            <a:ext cx="44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80°</a:t>
            </a:r>
            <a:endParaRPr sz="1800"/>
          </a:p>
        </p:txBody>
      </p:sp>
      <p:grpSp>
        <p:nvGrpSpPr>
          <p:cNvPr id="1037" name="Google Shape;1037;p78"/>
          <p:cNvGrpSpPr/>
          <p:nvPr/>
        </p:nvGrpSpPr>
        <p:grpSpPr>
          <a:xfrm>
            <a:off x="1095049" y="1757495"/>
            <a:ext cx="773104" cy="298769"/>
            <a:chOff x="7309296" y="2227128"/>
            <a:chExt cx="1102230" cy="360223"/>
          </a:xfrm>
        </p:grpSpPr>
        <p:sp>
          <p:nvSpPr>
            <p:cNvPr id="1038" name="Google Shape;1038;p78"/>
            <p:cNvSpPr/>
            <p:nvPr/>
          </p:nvSpPr>
          <p:spPr>
            <a:xfrm>
              <a:off x="7309326" y="2266651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9" name="Google Shape;1039;p78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40" name="Google Shape;1040;p78"/>
          <p:cNvSpPr txBox="1"/>
          <p:nvPr>
            <p:ph idx="1" type="body"/>
          </p:nvPr>
        </p:nvSpPr>
        <p:spPr>
          <a:xfrm flipH="1">
            <a:off x="2102931" y="907108"/>
            <a:ext cx="87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of a full circle</a:t>
            </a:r>
            <a:endParaRPr sz="1800"/>
          </a:p>
        </p:txBody>
      </p:sp>
      <p:sp>
        <p:nvSpPr>
          <p:cNvPr id="1041" name="Google Shape;1041;p78"/>
          <p:cNvSpPr txBox="1"/>
          <p:nvPr>
            <p:ph idx="1" type="body"/>
          </p:nvPr>
        </p:nvSpPr>
        <p:spPr>
          <a:xfrm flipH="1">
            <a:off x="334200" y="2459087"/>
            <a:ext cx="148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1800"/>
              <a:t>arc</a:t>
            </a:r>
            <a:r>
              <a:rPr lang="en-GB" sz="1800"/>
              <a:t> length </a:t>
            </a:r>
            <a:endParaRPr sz="1800"/>
          </a:p>
        </p:txBody>
      </p:sp>
      <p:sp>
        <p:nvSpPr>
          <p:cNvPr id="1042" name="Google Shape;1042;p78"/>
          <p:cNvSpPr txBox="1"/>
          <p:nvPr>
            <p:ph idx="1" type="body"/>
          </p:nvPr>
        </p:nvSpPr>
        <p:spPr>
          <a:xfrm flipH="1">
            <a:off x="347625" y="3503175"/>
            <a:ext cx="148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perimeter</a:t>
            </a:r>
            <a:endParaRPr sz="1800"/>
          </a:p>
        </p:txBody>
      </p:sp>
      <p:sp>
        <p:nvSpPr>
          <p:cNvPr id="1043" name="Google Shape;1043;p78"/>
          <p:cNvSpPr txBox="1"/>
          <p:nvPr>
            <p:ph idx="1" type="body"/>
          </p:nvPr>
        </p:nvSpPr>
        <p:spPr>
          <a:xfrm flipH="1">
            <a:off x="1704416" y="4276250"/>
            <a:ext cx="148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61.1 cm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78"/>
          <p:cNvSpPr txBox="1"/>
          <p:nvPr>
            <p:ph idx="1" type="body"/>
          </p:nvPr>
        </p:nvSpPr>
        <p:spPr>
          <a:xfrm flipH="1">
            <a:off x="5009864" y="4243225"/>
            <a:ext cx="148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48.6 cm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45" name="Google Shape;1045;p78"/>
          <p:cNvCxnSpPr/>
          <p:nvPr/>
        </p:nvCxnSpPr>
        <p:spPr>
          <a:xfrm>
            <a:off x="3347892" y="623175"/>
            <a:ext cx="0" cy="4177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&lt;math xmlns=&quot;http://www.w3.org/1998/Math/MathML&quot; display=&quot;block&quot; data-is-equatio=&quot;1&quot; data-latex=&quot;=8\pi+36\ \ \ \ 8\pi+18+18\ \ \ \ \frac{1}{4}&quot;&gt;&lt;mo&gt;=&lt;/mo&gt;&lt;mn&gt;8&lt;/mn&gt;&lt;mi&gt;π&lt;/mi&gt;&lt;mo&gt;+&lt;/mo&gt;&lt;mn&gt;36&lt;/mn&gt;&lt;mtext&gt;&lt;/mtext&gt;&lt;mtext&gt;&lt;/mtext&gt;&lt;mtext&gt;&lt;/mtext&gt;&lt;mtext&gt;&lt;/mtext&gt;&lt;mn&gt;8&lt;/mn&gt;&lt;mi&gt;π&lt;/mi&gt;&lt;mo&gt;+&lt;/mo&gt;&lt;mn&gt;18&lt;/mn&gt;&lt;mo&gt;+&lt;/mo&gt;&lt;mn&gt;18&lt;/mn&gt;&lt;mtext&gt;&lt;/mtext&gt;&lt;mtext&gt;&lt;/mtext&gt;&lt;mtext&gt;&lt;/mtext&gt;&lt;mtext&gt;&lt;/mtext&gt;&lt;mfrac&gt;&lt;mn&gt;1&lt;/mn&gt;&lt;mn&gt;4&lt;/mn&gt;&lt;/mfrac&gt;&lt;/math&gt;" id="1046" name="Google Shape;1046;p78" title="equals 8 pi plus 36 8 pi plus 18 plus 18 one fourth"/>
          <p:cNvPicPr preferRelativeResize="0"/>
          <p:nvPr/>
        </p:nvPicPr>
        <p:blipFill rotWithShape="1">
          <a:blip r:embed="rId3">
            <a:alphaModFix/>
          </a:blip>
          <a:srcRect b="0" l="-1017" r="65322" t="0"/>
          <a:stretch/>
        </p:blipFill>
        <p:spPr>
          <a:xfrm>
            <a:off x="1858497" y="3774961"/>
            <a:ext cx="1199249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\times2\times\pi\times18\ =\ 4\pi&quot;&gt;&lt;mfrac&gt;&lt;mn&gt;1&lt;/mn&gt;&lt;mn&gt;9&lt;/mn&gt;&lt;/mfrac&gt;&lt;mo&gt;×&lt;/mo&gt;&lt;mn&gt;2&lt;/mn&gt;&lt;mo&gt;×&lt;/mo&gt;&lt;mi&gt;π&lt;/mi&gt;&lt;mo&gt;×&lt;/mo&gt;&lt;mn&gt;18&lt;/mn&gt;&lt;mtext&gt;&lt;/mtext&gt;&lt;mo&gt;=&lt;/mo&gt;&lt;mtext&gt;&lt;/mtext&gt;&lt;mn&gt;4&lt;/mn&gt;&lt;mi&gt;π&lt;/mi&gt;&lt;/math&gt;" id="1047" name="Google Shape;1047;p78" title="one ninth times 2 times pi times 18 equals 4 pi"/>
          <p:cNvPicPr preferRelativeResize="0"/>
          <p:nvPr/>
        </p:nvPicPr>
        <p:blipFill rotWithShape="1">
          <a:blip r:embed="rId8">
            <a:alphaModFix/>
          </a:blip>
          <a:srcRect b="0" l="72143" r="-2" t="0"/>
          <a:stretch/>
        </p:blipFill>
        <p:spPr>
          <a:xfrm>
            <a:off x="5517076" y="2761058"/>
            <a:ext cx="677174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\times2\times\pi\times18\ =\ 8\pi&quot;&gt;&lt;mfrac&gt;&lt;mn&gt;2&lt;/mn&gt;&lt;mn&gt;9&lt;/mn&gt;&lt;/mfrac&gt;&lt;mo&gt;×&lt;/mo&gt;&lt;mn&gt;2&lt;/mn&gt;&lt;mo&gt;×&lt;/mo&gt;&lt;mi&gt;π&lt;/mi&gt;&lt;mo&gt;×&lt;/mo&gt;&lt;mn&gt;18&lt;/mn&gt;&lt;mtext&gt;&lt;/mtext&gt;&lt;mo&gt;=&lt;/mo&gt;&lt;mtext&gt;&lt;/mtext&gt;&lt;mn&gt;8&lt;/mn&gt;&lt;mi&gt;π&lt;/mi&gt;&lt;/math&gt;" id="1048" name="Google Shape;1048;p78" title="two ninths times 2 times pi times 18 equals 8 pi"/>
          <p:cNvPicPr preferRelativeResize="0"/>
          <p:nvPr/>
        </p:nvPicPr>
        <p:blipFill rotWithShape="1">
          <a:blip r:embed="rId4">
            <a:alphaModFix/>
          </a:blip>
          <a:srcRect b="0" l="73053" r="0" t="0"/>
          <a:stretch/>
        </p:blipFill>
        <p:spPr>
          <a:xfrm>
            <a:off x="2041745" y="2774814"/>
            <a:ext cx="654949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9" name="Google Shape;1049;p78"/>
          <p:cNvGrpSpPr/>
          <p:nvPr/>
        </p:nvGrpSpPr>
        <p:grpSpPr>
          <a:xfrm>
            <a:off x="2078348" y="4282550"/>
            <a:ext cx="4288400" cy="326100"/>
            <a:chOff x="2377379" y="3670675"/>
            <a:chExt cx="3983281" cy="326100"/>
          </a:xfrm>
        </p:grpSpPr>
        <p:sp>
          <p:nvSpPr>
            <p:cNvPr id="1050" name="Google Shape;1050;p78"/>
            <p:cNvSpPr/>
            <p:nvPr/>
          </p:nvSpPr>
          <p:spPr>
            <a:xfrm>
              <a:off x="2377379" y="3687775"/>
              <a:ext cx="919800" cy="309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1" name="Google Shape;1051;p78"/>
            <p:cNvSpPr/>
            <p:nvPr/>
          </p:nvSpPr>
          <p:spPr>
            <a:xfrm>
              <a:off x="5440860" y="3670675"/>
              <a:ext cx="919800" cy="309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2" name="Google Shape;1052;p78"/>
          <p:cNvSpPr txBox="1"/>
          <p:nvPr>
            <p:ph idx="1" type="body"/>
          </p:nvPr>
        </p:nvSpPr>
        <p:spPr>
          <a:xfrm>
            <a:off x="6653050" y="2700007"/>
            <a:ext cx="21669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 is incorrect.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Whilst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arc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length doubles, the sector’s perimeter is less than double.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79"/>
          <p:cNvSpPr txBox="1"/>
          <p:nvPr>
            <p:ph idx="4294967295" type="body"/>
          </p:nvPr>
        </p:nvSpPr>
        <p:spPr>
          <a:xfrm>
            <a:off x="324000" y="660400"/>
            <a:ext cx="8496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700"/>
              <a:t>1) The </a:t>
            </a:r>
            <a:r>
              <a:rPr b="1" lang="en-GB" sz="1700"/>
              <a:t>arc</a:t>
            </a:r>
            <a:r>
              <a:rPr lang="en-GB" sz="1700"/>
              <a:t> and sector are congruent to the one on the circle.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700"/>
              <a:t>Complete each statement with both a calculation and an answer shown on the right.</a:t>
            </a:r>
            <a:endParaRPr sz="1700"/>
          </a:p>
        </p:txBody>
      </p:sp>
      <p:sp>
        <p:nvSpPr>
          <p:cNvPr id="1058" name="Google Shape;1058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pic>
        <p:nvPicPr>
          <p:cNvPr id="1059" name="Google Shape;1059;p79"/>
          <p:cNvPicPr preferRelativeResize="0"/>
          <p:nvPr/>
        </p:nvPicPr>
        <p:blipFill rotWithShape="1">
          <a:blip r:embed="rId3">
            <a:alphaModFix/>
          </a:blip>
          <a:srcRect b="0" l="0" r="70246" t="48979"/>
          <a:stretch/>
        </p:blipFill>
        <p:spPr>
          <a:xfrm>
            <a:off x="4963719" y="1632455"/>
            <a:ext cx="958714" cy="953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79"/>
          <p:cNvPicPr preferRelativeResize="0"/>
          <p:nvPr/>
        </p:nvPicPr>
        <p:blipFill rotWithShape="1">
          <a:blip r:embed="rId3">
            <a:alphaModFix/>
          </a:blip>
          <a:srcRect b="48070" l="0" r="70246" t="0"/>
          <a:stretch/>
        </p:blipFill>
        <p:spPr>
          <a:xfrm>
            <a:off x="2866802" y="1623961"/>
            <a:ext cx="958714" cy="970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79"/>
          <p:cNvPicPr preferRelativeResize="0"/>
          <p:nvPr/>
        </p:nvPicPr>
        <p:blipFill rotWithShape="1">
          <a:blip r:embed="rId3">
            <a:alphaModFix/>
          </a:blip>
          <a:srcRect b="0" l="42116" r="0" t="0"/>
          <a:stretch/>
        </p:blipFill>
        <p:spPr>
          <a:xfrm>
            <a:off x="324000" y="1442709"/>
            <a:ext cx="1865107" cy="1868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2" name="Google Shape;1062;p79"/>
          <p:cNvGrpSpPr/>
          <p:nvPr/>
        </p:nvGrpSpPr>
        <p:grpSpPr>
          <a:xfrm>
            <a:off x="1226252" y="2413731"/>
            <a:ext cx="906364" cy="247933"/>
            <a:chOff x="7309296" y="2202115"/>
            <a:chExt cx="1102230" cy="320700"/>
          </a:xfrm>
        </p:grpSpPr>
        <p:sp>
          <p:nvSpPr>
            <p:cNvPr id="1063" name="Google Shape;1063;p79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64" name="Google Shape;1064;p79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65" name="Google Shape;1065;p79"/>
          <p:cNvSpPr/>
          <p:nvPr/>
        </p:nvSpPr>
        <p:spPr>
          <a:xfrm>
            <a:off x="2828326" y="2479229"/>
            <a:ext cx="431700" cy="17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9"/>
          <p:cNvSpPr/>
          <p:nvPr/>
        </p:nvSpPr>
        <p:spPr>
          <a:xfrm>
            <a:off x="5675110" y="1555293"/>
            <a:ext cx="431700" cy="17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9"/>
          <p:cNvSpPr txBox="1"/>
          <p:nvPr>
            <p:ph idx="4294967295" type="body"/>
          </p:nvPr>
        </p:nvSpPr>
        <p:spPr>
          <a:xfrm>
            <a:off x="324000" y="3135499"/>
            <a:ext cx="18651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circumference of this circle is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______________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_______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79"/>
          <p:cNvSpPr txBox="1"/>
          <p:nvPr>
            <p:ph idx="4294967295" type="body"/>
          </p:nvPr>
        </p:nvSpPr>
        <p:spPr>
          <a:xfrm>
            <a:off x="2413613" y="2873461"/>
            <a:ext cx="18651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arc</a:t>
            </a:r>
            <a:r>
              <a:rPr lang="en-GB" sz="1800"/>
              <a:t> length is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______________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_______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79"/>
          <p:cNvSpPr txBox="1"/>
          <p:nvPr>
            <p:ph idx="4294967295" type="body"/>
          </p:nvPr>
        </p:nvSpPr>
        <p:spPr>
          <a:xfrm>
            <a:off x="4510511" y="2873461"/>
            <a:ext cx="18651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perimeter of this sector is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______________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070" name="Google Shape;1070;p79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-398" r="94251" t="20358"/>
          <a:stretch/>
        </p:blipFill>
        <p:spPr>
          <a:xfrm>
            <a:off x="7716100" y="3479800"/>
            <a:ext cx="466825" cy="337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071" name="Google Shape;1071;p79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8096" r="85755" t="20358"/>
          <a:stretch/>
        </p:blipFill>
        <p:spPr>
          <a:xfrm>
            <a:off x="7716100" y="3980875"/>
            <a:ext cx="466825" cy="337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072" name="Google Shape;1072;p79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15944" r="77907" t="20358"/>
          <a:stretch/>
        </p:blipFill>
        <p:spPr>
          <a:xfrm>
            <a:off x="8297025" y="3479800"/>
            <a:ext cx="466825" cy="337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073" name="Google Shape;1073;p79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23903" r="69949" t="20358"/>
          <a:stretch/>
        </p:blipFill>
        <p:spPr>
          <a:xfrm>
            <a:off x="8297025" y="3980875"/>
            <a:ext cx="466825" cy="337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074" name="Google Shape;1074;p79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32637" r="54531" t="0"/>
          <a:stretch/>
        </p:blipFill>
        <p:spPr>
          <a:xfrm>
            <a:off x="6544879" y="2747124"/>
            <a:ext cx="1035824" cy="568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075" name="Google Shape;1075;p79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48203" r="38965" t="0"/>
          <a:stretch/>
        </p:blipFill>
        <p:spPr>
          <a:xfrm>
            <a:off x="6544879" y="2014449"/>
            <a:ext cx="1035824" cy="568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076" name="Google Shape;1076;p79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62269" r="24897" t="0"/>
          <a:stretch/>
        </p:blipFill>
        <p:spPr>
          <a:xfrm>
            <a:off x="7726122" y="2014449"/>
            <a:ext cx="1035824" cy="568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077" name="Google Shape;1077;p79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75734" r="11433" t="0"/>
          <a:stretch/>
        </p:blipFill>
        <p:spPr>
          <a:xfrm>
            <a:off x="6544879" y="1311474"/>
            <a:ext cx="1035824" cy="568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078" name="Google Shape;1078;p79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89199" r="-2029" t="0"/>
          <a:stretch/>
        </p:blipFill>
        <p:spPr>
          <a:xfrm>
            <a:off x="7716096" y="1311474"/>
            <a:ext cx="1035824" cy="568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2\times\pi\times4\ \ \ \ \ \pi\times4^2\ \ \ \ \ \frac{1}{4}&quot;&gt;&lt;mn&gt;2&lt;/mn&gt;&lt;mo&gt;×&lt;/mo&gt;&lt;mi&gt;π&lt;/mi&gt;&lt;mo&gt;×&lt;/mo&gt;&lt;mn&gt;4&lt;/mn&gt;&lt;mtext&gt;&lt;/mtext&gt;&lt;mtext&gt;&lt;/mtext&gt;&lt;mtext&gt;&lt;/mtext&gt;&lt;mtext&gt;&lt;/mtext&gt;&lt;mtext&gt;&lt;/mtext&gt;&lt;mi&gt;π&lt;/mi&gt;&lt;mo&gt;×&lt;/mo&gt;&lt;msup&gt;&lt;mn&gt;4&lt;/mn&gt;&lt;mn&gt;2&lt;/mn&gt;&lt;/msup&gt;&lt;mtext&gt;&lt;/mtext&gt;&lt;mtext&gt;&lt;/mtext&gt;&lt;mtext&gt;&lt;/mtext&gt;&lt;mtext&gt;&lt;/mtext&gt;&lt;mtext&gt;&lt;/mtext&gt;&lt;mfrac&gt;&lt;mn&gt;1&lt;/mn&gt;&lt;mn&gt;4&lt;/mn&gt;&lt;/mfrac&gt;&lt;/math&gt;" id="1079" name="Google Shape;1079;p79" title="2 times pi times 4 pi times 4 squared one fourth"/>
          <p:cNvPicPr preferRelativeResize="0"/>
          <p:nvPr/>
        </p:nvPicPr>
        <p:blipFill rotWithShape="1">
          <a:blip r:embed="rId5">
            <a:alphaModFix/>
          </a:blip>
          <a:srcRect b="0" l="0" r="60753" t="0"/>
          <a:stretch/>
        </p:blipFill>
        <p:spPr>
          <a:xfrm>
            <a:off x="7726121" y="2747124"/>
            <a:ext cx="1035825" cy="568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2\times\pi\times4\ \ \ \ \ \pi\times4^2\ \ \ \ \ \frac{1}{4}&quot;&gt;&lt;mn&gt;2&lt;/mn&gt;&lt;mo&gt;×&lt;/mo&gt;&lt;mi&gt;π&lt;/mi&gt;&lt;mo&gt;×&lt;/mo&gt;&lt;mn&gt;4&lt;/mn&gt;&lt;mtext&gt;&lt;/mtext&gt;&lt;mtext&gt;&lt;/mtext&gt;&lt;mtext&gt;&lt;/mtext&gt;&lt;mtext&gt;&lt;/mtext&gt;&lt;mtext&gt;&lt;/mtext&gt;&lt;mi&gt;π&lt;/mi&gt;&lt;mo&gt;×&lt;/mo&gt;&lt;msup&gt;&lt;mn&gt;4&lt;/mn&gt;&lt;mn&gt;2&lt;/mn&gt;&lt;/msup&gt;&lt;mtext&gt;&lt;/mtext&gt;&lt;mtext&gt;&lt;/mtext&gt;&lt;mtext&gt;&lt;/mtext&gt;&lt;mtext&gt;&lt;/mtext&gt;&lt;mtext&gt;&lt;/mtext&gt;&lt;mfrac&gt;&lt;mn&gt;1&lt;/mn&gt;&lt;mn&gt;4&lt;/mn&gt;&lt;/mfrac&gt;&lt;/math&gt;" id="1080" name="Google Shape;1080;p79" title="2 times pi times 4 pi times 4 squared one fourth"/>
          <p:cNvPicPr preferRelativeResize="0"/>
          <p:nvPr/>
        </p:nvPicPr>
        <p:blipFill rotWithShape="1">
          <a:blip r:embed="rId5">
            <a:alphaModFix/>
          </a:blip>
          <a:srcRect b="0" l="45616" r="15137" t="0"/>
          <a:stretch/>
        </p:blipFill>
        <p:spPr>
          <a:xfrm>
            <a:off x="6551220" y="3479799"/>
            <a:ext cx="1035825" cy="568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sp>
        <p:nvSpPr>
          <p:cNvPr id="1086" name="Google Shape;1086;p80"/>
          <p:cNvSpPr txBox="1"/>
          <p:nvPr>
            <p:ph idx="4294967295" type="body"/>
          </p:nvPr>
        </p:nvSpPr>
        <p:spPr>
          <a:xfrm>
            <a:off x="324000" y="618067"/>
            <a:ext cx="84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700"/>
              <a:t>2) Complete the table. Leave your answers in terms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700"/>
              <a:t>.</a:t>
            </a:r>
            <a:endParaRPr sz="1700"/>
          </a:p>
        </p:txBody>
      </p:sp>
      <p:graphicFrame>
        <p:nvGraphicFramePr>
          <p:cNvPr id="1087" name="Google Shape;1087;p80"/>
          <p:cNvGraphicFramePr/>
          <p:nvPr/>
        </p:nvGraphicFramePr>
        <p:xfrm>
          <a:off x="324000" y="962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{0017A9B6-E5ED-4A57-AC65-1D6FB952D6EC}</a:tableStyleId>
              </a:tblPr>
              <a:tblGrid>
                <a:gridCol w="1458950"/>
                <a:gridCol w="1458950"/>
                <a:gridCol w="1112825"/>
                <a:gridCol w="2232625"/>
                <a:gridCol w="2232625"/>
              </a:tblGrid>
              <a:tr h="55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corresponding sector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 of a full circle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       </a:t>
                      </a:r>
                      <a:r>
                        <a:rPr b="1"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length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 perimeter of sector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088" name="Google Shape;1088;p80"/>
          <p:cNvPicPr preferRelativeResize="0"/>
          <p:nvPr/>
        </p:nvPicPr>
        <p:blipFill rotWithShape="1">
          <a:blip r:embed="rId3">
            <a:alphaModFix/>
          </a:blip>
          <a:srcRect b="76798" l="0" r="60279" t="0"/>
          <a:stretch/>
        </p:blipFill>
        <p:spPr>
          <a:xfrm>
            <a:off x="1876522" y="1540224"/>
            <a:ext cx="1281650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80"/>
          <p:cNvPicPr preferRelativeResize="0"/>
          <p:nvPr/>
        </p:nvPicPr>
        <p:blipFill rotWithShape="1">
          <a:blip r:embed="rId3">
            <a:alphaModFix/>
          </a:blip>
          <a:srcRect b="26969" l="0" r="60279" t="49828"/>
          <a:stretch/>
        </p:blipFill>
        <p:spPr>
          <a:xfrm>
            <a:off x="403147" y="1540224"/>
            <a:ext cx="1281650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80"/>
          <p:cNvPicPr preferRelativeResize="0"/>
          <p:nvPr/>
        </p:nvPicPr>
        <p:blipFill rotWithShape="1">
          <a:blip r:embed="rId3">
            <a:alphaModFix/>
          </a:blip>
          <a:srcRect b="77736" l="40789" r="27547" t="-937"/>
          <a:stretch/>
        </p:blipFill>
        <p:spPr>
          <a:xfrm>
            <a:off x="2006524" y="2508152"/>
            <a:ext cx="1021651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80"/>
          <p:cNvPicPr preferRelativeResize="0"/>
          <p:nvPr/>
        </p:nvPicPr>
        <p:blipFill rotWithShape="1">
          <a:blip r:embed="rId3">
            <a:alphaModFix/>
          </a:blip>
          <a:srcRect b="26969" l="40789" r="27547" t="49828"/>
          <a:stretch/>
        </p:blipFill>
        <p:spPr>
          <a:xfrm>
            <a:off x="533149" y="2508152"/>
            <a:ext cx="1021651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80"/>
          <p:cNvPicPr preferRelativeResize="0"/>
          <p:nvPr/>
        </p:nvPicPr>
        <p:blipFill rotWithShape="1">
          <a:blip r:embed="rId3">
            <a:alphaModFix/>
          </a:blip>
          <a:srcRect b="77736" l="72149" r="-3812" t="-937"/>
          <a:stretch/>
        </p:blipFill>
        <p:spPr>
          <a:xfrm>
            <a:off x="2006524" y="3458580"/>
            <a:ext cx="1021651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80"/>
          <p:cNvPicPr preferRelativeResize="0"/>
          <p:nvPr/>
        </p:nvPicPr>
        <p:blipFill rotWithShape="1">
          <a:blip r:embed="rId3">
            <a:alphaModFix/>
          </a:blip>
          <a:srcRect b="26082" l="72149" r="-3812" t="50714"/>
          <a:stretch/>
        </p:blipFill>
        <p:spPr>
          <a:xfrm>
            <a:off x="533149" y="3458580"/>
            <a:ext cx="1021651" cy="699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80"/>
          <p:cNvGrpSpPr/>
          <p:nvPr/>
        </p:nvGrpSpPr>
        <p:grpSpPr>
          <a:xfrm>
            <a:off x="2521513" y="2194035"/>
            <a:ext cx="567318" cy="255380"/>
            <a:chOff x="7309296" y="2227128"/>
            <a:chExt cx="1102230" cy="330332"/>
          </a:xfrm>
        </p:grpSpPr>
        <p:sp>
          <p:nvSpPr>
            <p:cNvPr id="1095" name="Google Shape;1095;p80"/>
            <p:cNvSpPr/>
            <p:nvPr/>
          </p:nvSpPr>
          <p:spPr>
            <a:xfrm>
              <a:off x="7309326" y="2236760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96" name="Google Shape;1096;p8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97" name="Google Shape;1097;p80"/>
          <p:cNvSpPr txBox="1"/>
          <p:nvPr>
            <p:ph idx="4294967295" type="body"/>
          </p:nvPr>
        </p:nvSpPr>
        <p:spPr>
          <a:xfrm>
            <a:off x="2254448" y="1656625"/>
            <a:ext cx="63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180°</a:t>
            </a:r>
            <a:endParaRPr sz="1800"/>
          </a:p>
        </p:txBody>
      </p:sp>
      <p:sp>
        <p:nvSpPr>
          <p:cNvPr id="1098" name="Google Shape;1098;p80"/>
          <p:cNvSpPr txBox="1"/>
          <p:nvPr>
            <p:ph idx="4294967295" type="body"/>
          </p:nvPr>
        </p:nvSpPr>
        <p:spPr>
          <a:xfrm>
            <a:off x="2343408" y="3759617"/>
            <a:ext cx="4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72°</a:t>
            </a:r>
            <a:endParaRPr sz="1800"/>
          </a:p>
        </p:txBody>
      </p:sp>
      <p:grpSp>
        <p:nvGrpSpPr>
          <p:cNvPr id="1099" name="Google Shape;1099;p80"/>
          <p:cNvGrpSpPr/>
          <p:nvPr/>
        </p:nvGrpSpPr>
        <p:grpSpPr>
          <a:xfrm>
            <a:off x="2270448" y="3194156"/>
            <a:ext cx="666125" cy="255378"/>
            <a:chOff x="7213342" y="2227128"/>
            <a:chExt cx="1294200" cy="330330"/>
          </a:xfrm>
        </p:grpSpPr>
        <p:sp>
          <p:nvSpPr>
            <p:cNvPr id="1100" name="Google Shape;1100;p80"/>
            <p:cNvSpPr/>
            <p:nvPr/>
          </p:nvSpPr>
          <p:spPr>
            <a:xfrm>
              <a:off x="7213342" y="2236758"/>
              <a:ext cx="1294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16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1" name="Google Shape;1101;p8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02" name="Google Shape;1102;p80"/>
          <p:cNvGrpSpPr/>
          <p:nvPr/>
        </p:nvGrpSpPr>
        <p:grpSpPr>
          <a:xfrm>
            <a:off x="2221023" y="4173114"/>
            <a:ext cx="666125" cy="255378"/>
            <a:chOff x="7213342" y="2227128"/>
            <a:chExt cx="1294200" cy="330330"/>
          </a:xfrm>
        </p:grpSpPr>
        <p:sp>
          <p:nvSpPr>
            <p:cNvPr id="1103" name="Google Shape;1103;p80"/>
            <p:cNvSpPr/>
            <p:nvPr/>
          </p:nvSpPr>
          <p:spPr>
            <a:xfrm>
              <a:off x="7213342" y="2236758"/>
              <a:ext cx="1294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4" name="Google Shape;1104;p8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72}{360}=\frac{1}{5}&quot;&gt;&lt;mfrac&gt;&lt;mn&gt;72&lt;/mn&gt;&lt;mn&gt;360&lt;/mn&gt;&lt;/mfrac&gt;&lt;mo&gt;=&lt;/mo&gt;&lt;mfrac&gt;&lt;mn&gt;1&lt;/mn&gt;&lt;mn&gt;5&lt;/mn&gt;&lt;/mfrac&gt;&lt;/math&gt;" id="1105" name="Google Shape;1105;p80" title="72 over 360 equals one fifth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6416" y="3645756"/>
            <a:ext cx="1016256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times2\times\pi\times10=4\pi&quot;&gt;&lt;mfrac&gt;&lt;mn&gt;1&lt;/mn&gt;&lt;mn&gt;5&lt;/mn&gt;&lt;/mfrac&gt;&lt;mo&gt;×&lt;/mo&gt;&lt;mn&gt;2&lt;/mn&gt;&lt;mo&gt;×&lt;/mo&gt;&lt;mi&gt;π&lt;/mi&gt;&lt;mo&gt;×&lt;/mo&gt;&lt;mn&gt;10&lt;/mn&gt;&lt;mo&gt;=&lt;/mo&gt;&lt;mn&gt;4&lt;/mn&gt;&lt;mi&gt;π&lt;/mi&gt;&lt;/math&gt;" id="1106" name="Google Shape;1106;p80" title="one fifth times 2 times pi times 10 equals 4 pi"/>
          <p:cNvPicPr preferRelativeResize="0"/>
          <p:nvPr/>
        </p:nvPicPr>
        <p:blipFill rotWithShape="1">
          <a:blip r:embed="rId5">
            <a:alphaModFix/>
          </a:blip>
          <a:srcRect b="0" l="0" r="26253" t="0"/>
          <a:stretch/>
        </p:blipFill>
        <p:spPr>
          <a:xfrm>
            <a:off x="4617447" y="3495600"/>
            <a:ext cx="1691850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times2\times\pi\times10=4\pi&quot;&gt;&lt;mfrac&gt;&lt;mn&gt;1&lt;/mn&gt;&lt;mn&gt;5&lt;/mn&gt;&lt;/mfrac&gt;&lt;mo&gt;×&lt;/mo&gt;&lt;mn&gt;2&lt;/mn&gt;&lt;mo&gt;×&lt;/mo&gt;&lt;mi&gt;π&lt;/mi&gt;&lt;mo&gt;×&lt;/mo&gt;&lt;mn&gt;10&lt;/mn&gt;&lt;mo&gt;=&lt;/mo&gt;&lt;mn&gt;4&lt;/mn&gt;&lt;mi&gt;π&lt;/mi&gt;&lt;/math&gt;" id="1107" name="Google Shape;1107;p80" title="one fifth times 2 times pi times 10 equals 4 pi"/>
          <p:cNvPicPr preferRelativeResize="0"/>
          <p:nvPr/>
        </p:nvPicPr>
        <p:blipFill rotWithShape="1">
          <a:blip r:embed="rId5">
            <a:alphaModFix/>
          </a:blip>
          <a:srcRect b="0" l="75560" r="0" t="0"/>
          <a:stretch/>
        </p:blipFill>
        <p:spPr>
          <a:xfrm>
            <a:off x="5183035" y="3934860"/>
            <a:ext cx="56067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 \ \ 4\pi+10+10&quot;&gt;&lt;mfrac&gt;&lt;mn&gt;1&lt;/mn&gt;&lt;mn&gt;5&lt;/mn&gt;&lt;/mfrac&gt;&lt;mtext&gt;&lt;/mtext&gt;&lt;mtext&gt;&lt;/mtext&gt;&lt;mtext&gt;&lt;/mtext&gt;&lt;mn&gt;4&lt;/mn&gt;&lt;mi&gt;π&lt;/mi&gt;&lt;mo&gt;+&lt;/mo&gt;&lt;mn&gt;10&lt;/mn&gt;&lt;mo&gt;+&lt;/mo&gt;&lt;mn&gt;10&lt;/mn&gt;&lt;/math&gt;" id="1108" name="Google Shape;1108;p80" title="one fifth 4 pi plus 10 plus 10"/>
          <p:cNvPicPr preferRelativeResize="0"/>
          <p:nvPr/>
        </p:nvPicPr>
        <p:blipFill rotWithShape="1">
          <a:blip r:embed="rId6">
            <a:alphaModFix/>
          </a:blip>
          <a:srcRect b="0" l="21911" r="0" t="0"/>
          <a:stretch/>
        </p:blipFill>
        <p:spPr>
          <a:xfrm>
            <a:off x="6971400" y="3495600"/>
            <a:ext cx="1453925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80"/>
          <p:cNvSpPr/>
          <p:nvPr/>
        </p:nvSpPr>
        <p:spPr>
          <a:xfrm>
            <a:off x="6587350" y="2167425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+ 12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0" name="Google Shape;1110;p80"/>
          <p:cNvSpPr txBox="1"/>
          <p:nvPr/>
        </p:nvSpPr>
        <p:spPr>
          <a:xfrm>
            <a:off x="324575" y="1519614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1" name="Google Shape;1111;p80"/>
          <p:cNvSpPr txBox="1"/>
          <p:nvPr/>
        </p:nvSpPr>
        <p:spPr>
          <a:xfrm>
            <a:off x="324575" y="2489089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2" name="Google Shape;1112;p80"/>
          <p:cNvSpPr txBox="1"/>
          <p:nvPr/>
        </p:nvSpPr>
        <p:spPr>
          <a:xfrm>
            <a:off x="324575" y="3449514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1"/>
          <p:cNvSpPr txBox="1"/>
          <p:nvPr>
            <p:ph idx="4294967295" type="body"/>
          </p:nvPr>
        </p:nvSpPr>
        <p:spPr>
          <a:xfrm>
            <a:off x="324000" y="660400"/>
            <a:ext cx="8496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700"/>
              <a:t>2) Complete the table. Round your answers to 1 decimal place.</a:t>
            </a:r>
            <a:endParaRPr sz="1700"/>
          </a:p>
        </p:txBody>
      </p:sp>
      <p:sp>
        <p:nvSpPr>
          <p:cNvPr id="1118" name="Google Shape;1118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graphicFrame>
        <p:nvGraphicFramePr>
          <p:cNvPr id="1119" name="Google Shape;1119;p81"/>
          <p:cNvGraphicFramePr/>
          <p:nvPr/>
        </p:nvGraphicFramePr>
        <p:xfrm>
          <a:off x="324000" y="962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{0017A9B6-E5ED-4A57-AC65-1D6FB952D6EC}</a:tableStyleId>
              </a:tblPr>
              <a:tblGrid>
                <a:gridCol w="1458950"/>
                <a:gridCol w="1458950"/>
                <a:gridCol w="1112825"/>
                <a:gridCol w="2232625"/>
                <a:gridCol w="2232625"/>
              </a:tblGrid>
              <a:tr h="55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corresponding sector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 of a full circle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       </a:t>
                      </a:r>
                      <a:r>
                        <a:rPr b="1"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length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 perimeter of sector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20" name="Google Shape;1120;p81"/>
          <p:cNvPicPr preferRelativeResize="0"/>
          <p:nvPr/>
        </p:nvPicPr>
        <p:blipFill rotWithShape="1">
          <a:blip r:embed="rId3">
            <a:alphaModFix/>
          </a:blip>
          <a:srcRect b="51648" l="-4928" r="74257" t="30435"/>
          <a:stretch/>
        </p:blipFill>
        <p:spPr>
          <a:xfrm>
            <a:off x="1800333" y="1519389"/>
            <a:ext cx="1281635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81"/>
          <p:cNvPicPr preferRelativeResize="0"/>
          <p:nvPr/>
        </p:nvPicPr>
        <p:blipFill rotWithShape="1">
          <a:blip r:embed="rId3">
            <a:alphaModFix/>
          </a:blip>
          <a:srcRect b="49944" l="31834" r="36501" t="26853"/>
          <a:stretch/>
        </p:blipFill>
        <p:spPr>
          <a:xfrm>
            <a:off x="2006524" y="2508152"/>
            <a:ext cx="1021651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81"/>
          <p:cNvPicPr preferRelativeResize="0"/>
          <p:nvPr/>
        </p:nvPicPr>
        <p:blipFill rotWithShape="1">
          <a:blip r:embed="rId3">
            <a:alphaModFix/>
          </a:blip>
          <a:srcRect b="49942" l="71208" r="9181" t="33960"/>
          <a:stretch/>
        </p:blipFill>
        <p:spPr>
          <a:xfrm>
            <a:off x="2105425" y="3475236"/>
            <a:ext cx="831150" cy="637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3" name="Google Shape;1123;p81"/>
          <p:cNvGrpSpPr/>
          <p:nvPr/>
        </p:nvGrpSpPr>
        <p:grpSpPr>
          <a:xfrm>
            <a:off x="2125596" y="2249472"/>
            <a:ext cx="752272" cy="255413"/>
            <a:chOff x="7309296" y="2227128"/>
            <a:chExt cx="1102230" cy="330332"/>
          </a:xfrm>
        </p:grpSpPr>
        <p:sp>
          <p:nvSpPr>
            <p:cNvPr id="1124" name="Google Shape;1124;p81"/>
            <p:cNvSpPr/>
            <p:nvPr/>
          </p:nvSpPr>
          <p:spPr>
            <a:xfrm>
              <a:off x="7309326" y="2236760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24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5" name="Google Shape;1125;p8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26" name="Google Shape;1126;p81"/>
          <p:cNvSpPr txBox="1"/>
          <p:nvPr>
            <p:ph idx="4294967295" type="body"/>
          </p:nvPr>
        </p:nvSpPr>
        <p:spPr>
          <a:xfrm>
            <a:off x="2213793" y="1864975"/>
            <a:ext cx="63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60°</a:t>
            </a:r>
            <a:endParaRPr sz="1800"/>
          </a:p>
        </p:txBody>
      </p:sp>
      <p:sp>
        <p:nvSpPr>
          <p:cNvPr id="1127" name="Google Shape;1127;p81"/>
          <p:cNvSpPr txBox="1"/>
          <p:nvPr>
            <p:ph idx="4294967295" type="body"/>
          </p:nvPr>
        </p:nvSpPr>
        <p:spPr>
          <a:xfrm>
            <a:off x="2343408" y="3743742"/>
            <a:ext cx="4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40°</a:t>
            </a:r>
            <a:endParaRPr sz="1800"/>
          </a:p>
        </p:txBody>
      </p:sp>
      <p:grpSp>
        <p:nvGrpSpPr>
          <p:cNvPr id="1128" name="Google Shape;1128;p81"/>
          <p:cNvGrpSpPr/>
          <p:nvPr/>
        </p:nvGrpSpPr>
        <p:grpSpPr>
          <a:xfrm>
            <a:off x="2270448" y="3194156"/>
            <a:ext cx="666125" cy="255378"/>
            <a:chOff x="7213342" y="2227128"/>
            <a:chExt cx="1294200" cy="330330"/>
          </a:xfrm>
        </p:grpSpPr>
        <p:sp>
          <p:nvSpPr>
            <p:cNvPr id="1129" name="Google Shape;1129;p81"/>
            <p:cNvSpPr/>
            <p:nvPr/>
          </p:nvSpPr>
          <p:spPr>
            <a:xfrm>
              <a:off x="7213342" y="2236758"/>
              <a:ext cx="1294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27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0" name="Google Shape;1130;p8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31" name="Google Shape;1131;p81"/>
          <p:cNvGrpSpPr/>
          <p:nvPr/>
        </p:nvGrpSpPr>
        <p:grpSpPr>
          <a:xfrm>
            <a:off x="2221023" y="4173114"/>
            <a:ext cx="666125" cy="255378"/>
            <a:chOff x="7213342" y="2227128"/>
            <a:chExt cx="1294200" cy="330330"/>
          </a:xfrm>
        </p:grpSpPr>
        <p:sp>
          <p:nvSpPr>
            <p:cNvPr id="1132" name="Google Shape;1132;p81"/>
            <p:cNvSpPr/>
            <p:nvPr/>
          </p:nvSpPr>
          <p:spPr>
            <a:xfrm>
              <a:off x="7213342" y="2236758"/>
              <a:ext cx="1294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45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3" name="Google Shape;1133;p8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134" name="Google Shape;1134;p81"/>
          <p:cNvPicPr preferRelativeResize="0"/>
          <p:nvPr/>
        </p:nvPicPr>
        <p:blipFill rotWithShape="1">
          <a:blip r:embed="rId3">
            <a:alphaModFix/>
          </a:blip>
          <a:srcRect b="922" l="-4928" r="74257" t="81160"/>
          <a:stretch/>
        </p:blipFill>
        <p:spPr>
          <a:xfrm>
            <a:off x="403158" y="1519389"/>
            <a:ext cx="1281635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81"/>
          <p:cNvPicPr preferRelativeResize="0"/>
          <p:nvPr/>
        </p:nvPicPr>
        <p:blipFill rotWithShape="1">
          <a:blip r:embed="rId3">
            <a:alphaModFix/>
          </a:blip>
          <a:srcRect b="-589" l="31834" r="36501" t="77387"/>
          <a:stretch/>
        </p:blipFill>
        <p:spPr>
          <a:xfrm>
            <a:off x="565874" y="2508152"/>
            <a:ext cx="1021651" cy="6994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81"/>
          <p:cNvSpPr txBox="1"/>
          <p:nvPr>
            <p:ph idx="4294967295" type="body"/>
          </p:nvPr>
        </p:nvSpPr>
        <p:spPr>
          <a:xfrm>
            <a:off x="2229636" y="2710900"/>
            <a:ext cx="56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120°</a:t>
            </a:r>
            <a:endParaRPr sz="1800"/>
          </a:p>
        </p:txBody>
      </p:sp>
      <p:pic>
        <p:nvPicPr>
          <p:cNvPr id="1137" name="Google Shape;1137;p81"/>
          <p:cNvPicPr preferRelativeResize="0"/>
          <p:nvPr/>
        </p:nvPicPr>
        <p:blipFill rotWithShape="1">
          <a:blip r:embed="rId3">
            <a:alphaModFix/>
          </a:blip>
          <a:srcRect b="-272" l="71208" r="9181" t="84174"/>
          <a:stretch/>
        </p:blipFill>
        <p:spPr>
          <a:xfrm>
            <a:off x="628400" y="3475236"/>
            <a:ext cx="831150" cy="637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81"/>
          <p:cNvSpPr/>
          <p:nvPr/>
        </p:nvSpPr>
        <p:spPr>
          <a:xfrm>
            <a:off x="6587350" y="2167425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73.1 cm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9" name="Google Shape;1139;p81"/>
          <p:cNvSpPr/>
          <p:nvPr/>
        </p:nvSpPr>
        <p:spPr>
          <a:xfrm>
            <a:off x="4354725" y="3115950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56.5 cm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0" name="Google Shape;1140;p81"/>
          <p:cNvSpPr txBox="1"/>
          <p:nvPr/>
        </p:nvSpPr>
        <p:spPr>
          <a:xfrm>
            <a:off x="324575" y="1519614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1" name="Google Shape;1141;p81"/>
          <p:cNvSpPr txBox="1"/>
          <p:nvPr/>
        </p:nvSpPr>
        <p:spPr>
          <a:xfrm>
            <a:off x="324575" y="2489089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2" name="Google Shape;1142;p81"/>
          <p:cNvSpPr txBox="1"/>
          <p:nvPr/>
        </p:nvSpPr>
        <p:spPr>
          <a:xfrm>
            <a:off x="324575" y="3449514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82"/>
          <p:cNvSpPr txBox="1"/>
          <p:nvPr>
            <p:ph idx="4294967295" type="body"/>
          </p:nvPr>
        </p:nvSpPr>
        <p:spPr>
          <a:xfrm>
            <a:off x="324000" y="660400"/>
            <a:ext cx="8496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700"/>
              <a:t>1) The </a:t>
            </a:r>
            <a:r>
              <a:rPr b="1" lang="en-GB" sz="1700"/>
              <a:t>arc</a:t>
            </a:r>
            <a:r>
              <a:rPr lang="en-GB" sz="1700"/>
              <a:t> and sector are congruent to the one on the circle.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700"/>
              <a:t>Complete each statement with both a calculation and an answer shown on the right.</a:t>
            </a:r>
            <a:endParaRPr sz="1700"/>
          </a:p>
        </p:txBody>
      </p:sp>
      <p:sp>
        <p:nvSpPr>
          <p:cNvPr id="1148" name="Google Shape;1148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pic>
        <p:nvPicPr>
          <p:cNvPr id="1149" name="Google Shape;1149;p82"/>
          <p:cNvPicPr preferRelativeResize="0"/>
          <p:nvPr/>
        </p:nvPicPr>
        <p:blipFill rotWithShape="1">
          <a:blip r:embed="rId3">
            <a:alphaModFix/>
          </a:blip>
          <a:srcRect b="0" l="0" r="70246" t="48979"/>
          <a:stretch/>
        </p:blipFill>
        <p:spPr>
          <a:xfrm>
            <a:off x="4963719" y="1662534"/>
            <a:ext cx="958714" cy="953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82"/>
          <p:cNvPicPr preferRelativeResize="0"/>
          <p:nvPr/>
        </p:nvPicPr>
        <p:blipFill rotWithShape="1">
          <a:blip r:embed="rId3">
            <a:alphaModFix/>
          </a:blip>
          <a:srcRect b="48070" l="0" r="70246" t="0"/>
          <a:stretch/>
        </p:blipFill>
        <p:spPr>
          <a:xfrm>
            <a:off x="2866802" y="1654040"/>
            <a:ext cx="958714" cy="970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82"/>
          <p:cNvPicPr preferRelativeResize="0"/>
          <p:nvPr/>
        </p:nvPicPr>
        <p:blipFill rotWithShape="1">
          <a:blip r:embed="rId3">
            <a:alphaModFix/>
          </a:blip>
          <a:srcRect b="0" l="42116" r="0" t="0"/>
          <a:stretch/>
        </p:blipFill>
        <p:spPr>
          <a:xfrm>
            <a:off x="324000" y="1472788"/>
            <a:ext cx="1865107" cy="1868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2" name="Google Shape;1152;p82"/>
          <p:cNvGrpSpPr/>
          <p:nvPr/>
        </p:nvGrpSpPr>
        <p:grpSpPr>
          <a:xfrm>
            <a:off x="1226252" y="2443810"/>
            <a:ext cx="906364" cy="247933"/>
            <a:chOff x="7309296" y="2202115"/>
            <a:chExt cx="1102230" cy="320700"/>
          </a:xfrm>
        </p:grpSpPr>
        <p:sp>
          <p:nvSpPr>
            <p:cNvPr id="1153" name="Google Shape;1153;p82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54" name="Google Shape;1154;p8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55" name="Google Shape;1155;p82"/>
          <p:cNvSpPr/>
          <p:nvPr/>
        </p:nvSpPr>
        <p:spPr>
          <a:xfrm>
            <a:off x="2828326" y="2509308"/>
            <a:ext cx="431700" cy="1749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2"/>
          <p:cNvSpPr/>
          <p:nvPr/>
        </p:nvSpPr>
        <p:spPr>
          <a:xfrm>
            <a:off x="5675110" y="1585372"/>
            <a:ext cx="431700" cy="1749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2"/>
          <p:cNvSpPr txBox="1"/>
          <p:nvPr>
            <p:ph idx="4294967295" type="body"/>
          </p:nvPr>
        </p:nvSpPr>
        <p:spPr>
          <a:xfrm>
            <a:off x="324000" y="3099404"/>
            <a:ext cx="18651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circumference of this circle is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82"/>
          <p:cNvSpPr txBox="1"/>
          <p:nvPr>
            <p:ph idx="4294967295" type="body"/>
          </p:nvPr>
        </p:nvSpPr>
        <p:spPr>
          <a:xfrm>
            <a:off x="2413613" y="2873461"/>
            <a:ext cx="1865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arc</a:t>
            </a:r>
            <a:r>
              <a:rPr lang="en-GB" sz="1800"/>
              <a:t> length is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159" name="Google Shape;1159;p82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-398" r="94251" t="20358"/>
          <a:stretch/>
        </p:blipFill>
        <p:spPr>
          <a:xfrm>
            <a:off x="7772250" y="4090849"/>
            <a:ext cx="496226" cy="33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160" name="Google Shape;1160;p82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15944" r="77907" t="20358"/>
          <a:stretch/>
        </p:blipFill>
        <p:spPr>
          <a:xfrm>
            <a:off x="8311838" y="4090849"/>
            <a:ext cx="496226" cy="33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161" name="Google Shape;1161;p82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32637" r="54531" t="0"/>
          <a:stretch/>
        </p:blipFill>
        <p:spPr>
          <a:xfrm>
            <a:off x="7772251" y="2701161"/>
            <a:ext cx="1035824" cy="568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162" name="Google Shape;1162;p82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62269" r="24897" t="0"/>
          <a:stretch/>
        </p:blipFill>
        <p:spPr>
          <a:xfrm>
            <a:off x="7772243" y="2006318"/>
            <a:ext cx="1035824" cy="568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163" name="Google Shape;1163;p82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75734" r="11433" t="0"/>
          <a:stretch/>
        </p:blipFill>
        <p:spPr>
          <a:xfrm>
            <a:off x="4925139" y="3495599"/>
            <a:ext cx="1035824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164" name="Google Shape;1164;p82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89199" r="-2029" t="0"/>
          <a:stretch/>
        </p:blipFill>
        <p:spPr>
          <a:xfrm>
            <a:off x="7772243" y="1311474"/>
            <a:ext cx="1035824" cy="568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2\times\pi\times4\ \ \ \ \ \pi\times4^2\ \ \ \ \ \frac{1}{4}&quot;&gt;&lt;mn&gt;2&lt;/mn&gt;&lt;mo&gt;×&lt;/mo&gt;&lt;mi&gt;π&lt;/mi&gt;&lt;mo&gt;×&lt;/mo&gt;&lt;mn&gt;4&lt;/mn&gt;&lt;mtext&gt;&lt;/mtext&gt;&lt;mtext&gt;&lt;/mtext&gt;&lt;mtext&gt;&lt;/mtext&gt;&lt;mtext&gt;&lt;/mtext&gt;&lt;mtext&gt;&lt;/mtext&gt;&lt;mi&gt;π&lt;/mi&gt;&lt;mo&gt;×&lt;/mo&gt;&lt;msup&gt;&lt;mn&gt;4&lt;/mn&gt;&lt;mn&gt;2&lt;/mn&gt;&lt;/msup&gt;&lt;mtext&gt;&lt;/mtext&gt;&lt;mtext&gt;&lt;/mtext&gt;&lt;mtext&gt;&lt;/mtext&gt;&lt;mtext&gt;&lt;/mtext&gt;&lt;mtext&gt;&lt;/mtext&gt;&lt;mfrac&gt;&lt;mn&gt;1&lt;/mn&gt;&lt;mn&gt;4&lt;/mn&gt;&lt;/mfrac&gt;&lt;/math&gt;" id="1165" name="Google Shape;1165;p82" title="2 times pi times 4 pi times 4 squared one fourth"/>
          <p:cNvPicPr preferRelativeResize="0"/>
          <p:nvPr/>
        </p:nvPicPr>
        <p:blipFill rotWithShape="1">
          <a:blip r:embed="rId5">
            <a:alphaModFix/>
          </a:blip>
          <a:srcRect b="0" l="45616" r="15137" t="0"/>
          <a:stretch/>
        </p:blipFill>
        <p:spPr>
          <a:xfrm>
            <a:off x="7772242" y="3396005"/>
            <a:ext cx="1035825" cy="568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2\times\pi\times4\ \ \ \ \ \pi\times4^2\ \ \ \ \ \frac{1}{4}&quot;&gt;&lt;mn&gt;2&lt;/mn&gt;&lt;mo&gt;×&lt;/mo&gt;&lt;mi&gt;π&lt;/mi&gt;&lt;mo&gt;×&lt;/mo&gt;&lt;mn&gt;4&lt;/mn&gt;&lt;mtext&gt;&lt;/mtext&gt;&lt;mtext&gt;&lt;/mtext&gt;&lt;mtext&gt;&lt;/mtext&gt;&lt;mtext&gt;&lt;/mtext&gt;&lt;mtext&gt;&lt;/mtext&gt;&lt;mi&gt;π&lt;/mi&gt;&lt;mo&gt;×&lt;/mo&gt;&lt;msup&gt;&lt;mn&gt;4&lt;/mn&gt;&lt;mn&gt;2&lt;/mn&gt;&lt;/msup&gt;&lt;mtext&gt;&lt;/mtext&gt;&lt;mtext&gt;&lt;/mtext&gt;&lt;mtext&gt;&lt;/mtext&gt;&lt;mtext&gt;&lt;/mtext&gt;&lt;mtext&gt;&lt;/mtext&gt;&lt;mfrac&gt;&lt;mn&gt;1&lt;/mn&gt;&lt;mn&gt;4&lt;/mn&gt;&lt;/mfrac&gt;&lt;/math&gt;" id="1166" name="Google Shape;1166;p82" title="2 times pi times 4 pi times 4 squared one fourth"/>
          <p:cNvPicPr preferRelativeResize="0"/>
          <p:nvPr/>
        </p:nvPicPr>
        <p:blipFill rotWithShape="1">
          <a:blip r:embed="rId5">
            <a:alphaModFix/>
          </a:blip>
          <a:srcRect b="0" l="0" r="60753" t="0"/>
          <a:stretch/>
        </p:blipFill>
        <p:spPr>
          <a:xfrm>
            <a:off x="648967" y="3849199"/>
            <a:ext cx="10358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167" name="Google Shape;1167;p82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8096" r="85755" t="20358"/>
          <a:stretch/>
        </p:blipFill>
        <p:spPr>
          <a:xfrm>
            <a:off x="648975" y="4465599"/>
            <a:ext cx="496226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168" name="Google Shape;1168;p82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48203" r="38965" t="0"/>
          <a:stretch/>
        </p:blipFill>
        <p:spPr>
          <a:xfrm>
            <a:off x="2789701" y="3321607"/>
            <a:ext cx="1035824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169" name="Google Shape;1169;p82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23903" r="69949" t="20358"/>
          <a:stretch/>
        </p:blipFill>
        <p:spPr>
          <a:xfrm>
            <a:off x="2796063" y="4090849"/>
            <a:ext cx="496226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82"/>
          <p:cNvSpPr txBox="1"/>
          <p:nvPr>
            <p:ph idx="4294967295" type="body"/>
          </p:nvPr>
        </p:nvSpPr>
        <p:spPr>
          <a:xfrm>
            <a:off x="4510511" y="2873461"/>
            <a:ext cx="186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perimeter of this sector is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sp>
        <p:nvSpPr>
          <p:cNvPr id="1176" name="Google Shape;1176;p83"/>
          <p:cNvSpPr txBox="1"/>
          <p:nvPr>
            <p:ph idx="4294967295" type="body"/>
          </p:nvPr>
        </p:nvSpPr>
        <p:spPr>
          <a:xfrm>
            <a:off x="324000" y="650539"/>
            <a:ext cx="8496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700"/>
              <a:t>2) Complete the table. Leave your answers in terms of </a:t>
            </a:r>
            <a:r>
              <a:rPr i="1" lang="en-GB" sz="17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700"/>
              <a:t>.</a:t>
            </a:r>
            <a:endParaRPr sz="1700"/>
          </a:p>
        </p:txBody>
      </p:sp>
      <p:graphicFrame>
        <p:nvGraphicFramePr>
          <p:cNvPr id="1177" name="Google Shape;1177;p83"/>
          <p:cNvGraphicFramePr/>
          <p:nvPr/>
        </p:nvGraphicFramePr>
        <p:xfrm>
          <a:off x="324000" y="962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{0017A9B6-E5ED-4A57-AC65-1D6FB952D6EC}</a:tableStyleId>
              </a:tblPr>
              <a:tblGrid>
                <a:gridCol w="1458950"/>
                <a:gridCol w="1458950"/>
                <a:gridCol w="1112825"/>
                <a:gridCol w="2232625"/>
                <a:gridCol w="2232625"/>
              </a:tblGrid>
              <a:tr h="55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corresponding sector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 of a full circle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       </a:t>
                      </a:r>
                      <a:r>
                        <a:rPr b="1"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length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 perimeter of sector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78" name="Google Shape;1178;p83"/>
          <p:cNvPicPr preferRelativeResize="0"/>
          <p:nvPr/>
        </p:nvPicPr>
        <p:blipFill rotWithShape="1">
          <a:blip r:embed="rId3">
            <a:alphaModFix/>
          </a:blip>
          <a:srcRect b="76798" l="0" r="60279" t="0"/>
          <a:stretch/>
        </p:blipFill>
        <p:spPr>
          <a:xfrm>
            <a:off x="1876522" y="1540224"/>
            <a:ext cx="1281650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83"/>
          <p:cNvPicPr preferRelativeResize="0"/>
          <p:nvPr/>
        </p:nvPicPr>
        <p:blipFill rotWithShape="1">
          <a:blip r:embed="rId3">
            <a:alphaModFix/>
          </a:blip>
          <a:srcRect b="26969" l="0" r="60279" t="49828"/>
          <a:stretch/>
        </p:blipFill>
        <p:spPr>
          <a:xfrm>
            <a:off x="403147" y="1540224"/>
            <a:ext cx="1281650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83"/>
          <p:cNvPicPr preferRelativeResize="0"/>
          <p:nvPr/>
        </p:nvPicPr>
        <p:blipFill rotWithShape="1">
          <a:blip r:embed="rId3">
            <a:alphaModFix/>
          </a:blip>
          <a:srcRect b="77736" l="40789" r="27547" t="-937"/>
          <a:stretch/>
        </p:blipFill>
        <p:spPr>
          <a:xfrm>
            <a:off x="2006524" y="2508152"/>
            <a:ext cx="1021651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83"/>
          <p:cNvPicPr preferRelativeResize="0"/>
          <p:nvPr/>
        </p:nvPicPr>
        <p:blipFill rotWithShape="1">
          <a:blip r:embed="rId3">
            <a:alphaModFix/>
          </a:blip>
          <a:srcRect b="26969" l="40789" r="27547" t="49828"/>
          <a:stretch/>
        </p:blipFill>
        <p:spPr>
          <a:xfrm>
            <a:off x="533149" y="2508152"/>
            <a:ext cx="1021651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83"/>
          <p:cNvPicPr preferRelativeResize="0"/>
          <p:nvPr/>
        </p:nvPicPr>
        <p:blipFill rotWithShape="1">
          <a:blip r:embed="rId3">
            <a:alphaModFix/>
          </a:blip>
          <a:srcRect b="77736" l="72149" r="-3812" t="-937"/>
          <a:stretch/>
        </p:blipFill>
        <p:spPr>
          <a:xfrm>
            <a:off x="2006524" y="3458580"/>
            <a:ext cx="1021651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83"/>
          <p:cNvPicPr preferRelativeResize="0"/>
          <p:nvPr/>
        </p:nvPicPr>
        <p:blipFill rotWithShape="1">
          <a:blip r:embed="rId3">
            <a:alphaModFix/>
          </a:blip>
          <a:srcRect b="26082" l="72149" r="-3812" t="50714"/>
          <a:stretch/>
        </p:blipFill>
        <p:spPr>
          <a:xfrm>
            <a:off x="533149" y="3458580"/>
            <a:ext cx="1021651" cy="699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4" name="Google Shape;1184;p83"/>
          <p:cNvGrpSpPr/>
          <p:nvPr/>
        </p:nvGrpSpPr>
        <p:grpSpPr>
          <a:xfrm>
            <a:off x="2521513" y="2194035"/>
            <a:ext cx="567318" cy="255380"/>
            <a:chOff x="7309296" y="2227128"/>
            <a:chExt cx="1102230" cy="330332"/>
          </a:xfrm>
        </p:grpSpPr>
        <p:sp>
          <p:nvSpPr>
            <p:cNvPr id="1185" name="Google Shape;1185;p83"/>
            <p:cNvSpPr/>
            <p:nvPr/>
          </p:nvSpPr>
          <p:spPr>
            <a:xfrm>
              <a:off x="7309326" y="2236760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86" name="Google Shape;1186;p8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87" name="Google Shape;1187;p83"/>
          <p:cNvSpPr txBox="1"/>
          <p:nvPr>
            <p:ph idx="4294967295" type="body"/>
          </p:nvPr>
        </p:nvSpPr>
        <p:spPr>
          <a:xfrm>
            <a:off x="2254448" y="1656625"/>
            <a:ext cx="63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180°</a:t>
            </a:r>
            <a:endParaRPr sz="1800"/>
          </a:p>
        </p:txBody>
      </p:sp>
      <p:sp>
        <p:nvSpPr>
          <p:cNvPr id="1188" name="Google Shape;1188;p83"/>
          <p:cNvSpPr txBox="1"/>
          <p:nvPr>
            <p:ph idx="4294967295" type="body"/>
          </p:nvPr>
        </p:nvSpPr>
        <p:spPr>
          <a:xfrm>
            <a:off x="2343408" y="3759617"/>
            <a:ext cx="4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72°</a:t>
            </a:r>
            <a:endParaRPr sz="1800"/>
          </a:p>
        </p:txBody>
      </p:sp>
      <p:grpSp>
        <p:nvGrpSpPr>
          <p:cNvPr id="1189" name="Google Shape;1189;p83"/>
          <p:cNvGrpSpPr/>
          <p:nvPr/>
        </p:nvGrpSpPr>
        <p:grpSpPr>
          <a:xfrm>
            <a:off x="2270448" y="3194156"/>
            <a:ext cx="666125" cy="255378"/>
            <a:chOff x="7213342" y="2227128"/>
            <a:chExt cx="1294200" cy="330330"/>
          </a:xfrm>
        </p:grpSpPr>
        <p:sp>
          <p:nvSpPr>
            <p:cNvPr id="1190" name="Google Shape;1190;p83"/>
            <p:cNvSpPr/>
            <p:nvPr/>
          </p:nvSpPr>
          <p:spPr>
            <a:xfrm>
              <a:off x="7213342" y="2236758"/>
              <a:ext cx="1294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16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1" name="Google Shape;1191;p8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92" name="Google Shape;1192;p83"/>
          <p:cNvGrpSpPr/>
          <p:nvPr/>
        </p:nvGrpSpPr>
        <p:grpSpPr>
          <a:xfrm>
            <a:off x="2221023" y="4173114"/>
            <a:ext cx="666125" cy="255378"/>
            <a:chOff x="7213342" y="2227128"/>
            <a:chExt cx="1294200" cy="330330"/>
          </a:xfrm>
        </p:grpSpPr>
        <p:sp>
          <p:nvSpPr>
            <p:cNvPr id="1193" name="Google Shape;1193;p83"/>
            <p:cNvSpPr/>
            <p:nvPr/>
          </p:nvSpPr>
          <p:spPr>
            <a:xfrm>
              <a:off x="7213342" y="2236758"/>
              <a:ext cx="1294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4" name="Google Shape;1194;p8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72}{360}=\frac{1}{5}&quot;&gt;&lt;mfrac&gt;&lt;mn&gt;72&lt;/mn&gt;&lt;mn&gt;360&lt;/mn&gt;&lt;/mfrac&gt;&lt;mo&gt;=&lt;/mo&gt;&lt;mfrac&gt;&lt;mn&gt;1&lt;/mn&gt;&lt;mn&gt;5&lt;/mn&gt;&lt;/mfrac&gt;&lt;/math&gt;" id="1195" name="Google Shape;1195;p83" title="72 over 360 equals one fifth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6416" y="3645756"/>
            <a:ext cx="1016256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times2\times\pi\times10=4\pi&quot;&gt;&lt;mfrac&gt;&lt;mn&gt;1&lt;/mn&gt;&lt;mn&gt;5&lt;/mn&gt;&lt;/mfrac&gt;&lt;mo&gt;×&lt;/mo&gt;&lt;mn&gt;2&lt;/mn&gt;&lt;mo&gt;×&lt;/mo&gt;&lt;mi&gt;π&lt;/mi&gt;&lt;mo&gt;×&lt;/mo&gt;&lt;mn&gt;10&lt;/mn&gt;&lt;mo&gt;=&lt;/mo&gt;&lt;mn&gt;4&lt;/mn&gt;&lt;mi&gt;π&lt;/mi&gt;&lt;/math&gt;" id="1196" name="Google Shape;1196;p83" title="one fifth times 2 times pi times 10 equals 4 pi"/>
          <p:cNvPicPr preferRelativeResize="0"/>
          <p:nvPr/>
        </p:nvPicPr>
        <p:blipFill rotWithShape="1">
          <a:blip r:embed="rId5">
            <a:alphaModFix/>
          </a:blip>
          <a:srcRect b="0" l="0" r="26253" t="0"/>
          <a:stretch/>
        </p:blipFill>
        <p:spPr>
          <a:xfrm>
            <a:off x="4617447" y="3495600"/>
            <a:ext cx="1691850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times2\times\pi\times10=4\pi&quot;&gt;&lt;mfrac&gt;&lt;mn&gt;1&lt;/mn&gt;&lt;mn&gt;5&lt;/mn&gt;&lt;/mfrac&gt;&lt;mo&gt;×&lt;/mo&gt;&lt;mn&gt;2&lt;/mn&gt;&lt;mo&gt;×&lt;/mo&gt;&lt;mi&gt;π&lt;/mi&gt;&lt;mo&gt;×&lt;/mo&gt;&lt;mn&gt;10&lt;/mn&gt;&lt;mo&gt;=&lt;/mo&gt;&lt;mn&gt;4&lt;/mn&gt;&lt;mi&gt;π&lt;/mi&gt;&lt;/math&gt;" id="1197" name="Google Shape;1197;p83" title="one fifth times 2 times pi times 10 equals 4 pi"/>
          <p:cNvPicPr preferRelativeResize="0"/>
          <p:nvPr/>
        </p:nvPicPr>
        <p:blipFill rotWithShape="1">
          <a:blip r:embed="rId5">
            <a:alphaModFix/>
          </a:blip>
          <a:srcRect b="0" l="75560" r="0" t="0"/>
          <a:stretch/>
        </p:blipFill>
        <p:spPr>
          <a:xfrm>
            <a:off x="5183035" y="3934860"/>
            <a:ext cx="56067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 \ \ 4\pi+10+10&quot;&gt;&lt;mfrac&gt;&lt;mn&gt;1&lt;/mn&gt;&lt;mn&gt;5&lt;/mn&gt;&lt;/mfrac&gt;&lt;mtext&gt;&lt;/mtext&gt;&lt;mtext&gt;&lt;/mtext&gt;&lt;mtext&gt;&lt;/mtext&gt;&lt;mn&gt;4&lt;/mn&gt;&lt;mi&gt;π&lt;/mi&gt;&lt;mo&gt;+&lt;/mo&gt;&lt;mn&gt;10&lt;/mn&gt;&lt;mo&gt;+&lt;/mo&gt;&lt;mn&gt;10&lt;/mn&gt;&lt;/math&gt;" id="1198" name="Google Shape;1198;p83" title="one fifth 4 pi plus 10 plus 10"/>
          <p:cNvPicPr preferRelativeResize="0"/>
          <p:nvPr/>
        </p:nvPicPr>
        <p:blipFill rotWithShape="1">
          <a:blip r:embed="rId6">
            <a:alphaModFix/>
          </a:blip>
          <a:srcRect b="0" l="21911" r="0" t="0"/>
          <a:stretch/>
        </p:blipFill>
        <p:spPr>
          <a:xfrm>
            <a:off x="6971400" y="3420005"/>
            <a:ext cx="1453925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83"/>
          <p:cNvSpPr/>
          <p:nvPr/>
        </p:nvSpPr>
        <p:spPr>
          <a:xfrm>
            <a:off x="6587350" y="2167425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1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+ 12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00" name="Google Shape;1200;p83" title="one half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7325" y="1656613"/>
            <a:ext cx="174432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201" name="Google Shape;1201;p83" title="one fourth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07313" y="2651175"/>
            <a:ext cx="174432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2\times\pi\times6=6\pi&quot;&gt;&lt;mfrac&gt;&lt;mn&gt;1&lt;/mn&gt;&lt;mn&gt;2&lt;/mn&gt;&lt;/mfrac&gt;&lt;mo&gt;×&lt;/mo&gt;&lt;mn&gt;2&lt;/mn&gt;&lt;mo&gt;×&lt;/mo&gt;&lt;mi&gt;π&lt;/mi&gt;&lt;mo&gt;×&lt;/mo&gt;&lt;mn&gt;6&lt;/mn&gt;&lt;mo&gt;=&lt;/mo&gt;&lt;mn&gt;6&lt;/mn&gt;&lt;mi&gt;π&lt;/mi&gt;&lt;/math&gt;" id="1202" name="Google Shape;1202;p83" title="one half times 2 times pi times 6 equals 6 pi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76050" y="1699475"/>
            <a:ext cx="2174639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2\times\pi\times16=8\pi&quot;&gt;&lt;mfrac&gt;&lt;mn&gt;1&lt;/mn&gt;&lt;mn&gt;4&lt;/mn&gt;&lt;/mfrac&gt;&lt;mo&gt;×&lt;/mo&gt;&lt;mn&gt;2&lt;/mn&gt;&lt;mo&gt;×&lt;/mo&gt;&lt;mi&gt;π&lt;/mi&gt;&lt;mo&gt;×&lt;/mo&gt;&lt;mn&gt;16&lt;/mn&gt;&lt;mo&gt;=&lt;/mo&gt;&lt;mn&gt;8&lt;/mn&gt;&lt;mi&gt;π&lt;/mi&gt;&lt;/math&gt;" id="1203" name="Google Shape;1203;p83" title="one fourth times 2 times pi times 16 equals 8 pi"/>
          <p:cNvPicPr preferRelativeResize="0"/>
          <p:nvPr/>
        </p:nvPicPr>
        <p:blipFill rotWithShape="1">
          <a:blip r:embed="rId10">
            <a:alphaModFix/>
          </a:blip>
          <a:srcRect b="0" l="0" r="26739" t="0"/>
          <a:stretch/>
        </p:blipFill>
        <p:spPr>
          <a:xfrm>
            <a:off x="4617450" y="2508150"/>
            <a:ext cx="1691850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2\times\pi\times16=8\pi&quot;&gt;&lt;mfrac&gt;&lt;mn&gt;1&lt;/mn&gt;&lt;mn&gt;4&lt;/mn&gt;&lt;/mfrac&gt;&lt;mo&gt;×&lt;/mo&gt;&lt;mn&gt;2&lt;/mn&gt;&lt;mo&gt;×&lt;/mo&gt;&lt;mi&gt;π&lt;/mi&gt;&lt;mo&gt;×&lt;/mo&gt;&lt;mn&gt;16&lt;/mn&gt;&lt;mo&gt;=&lt;/mo&gt;&lt;mn&gt;8&lt;/mn&gt;&lt;mi&gt;π&lt;/mi&gt;&lt;/math&gt;" id="1204" name="Google Shape;1204;p83" title="one fourth times 2 times pi times 16 equals 8 pi"/>
          <p:cNvPicPr preferRelativeResize="0"/>
          <p:nvPr/>
        </p:nvPicPr>
        <p:blipFill rotWithShape="1">
          <a:blip r:embed="rId10">
            <a:alphaModFix/>
          </a:blip>
          <a:srcRect b="0" l="75721" r="0" t="0"/>
          <a:stretch/>
        </p:blipFill>
        <p:spPr>
          <a:xfrm>
            <a:off x="5149252" y="2889775"/>
            <a:ext cx="560675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83"/>
          <p:cNvSpPr/>
          <p:nvPr/>
        </p:nvSpPr>
        <p:spPr>
          <a:xfrm>
            <a:off x="6587350" y="1671175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1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 + 6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6" name="Google Shape;1206;p83"/>
          <p:cNvSpPr/>
          <p:nvPr/>
        </p:nvSpPr>
        <p:spPr>
          <a:xfrm>
            <a:off x="6587350" y="3089888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0" i="1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+ 32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7" name="Google Shape;1207;p83"/>
          <p:cNvSpPr/>
          <p:nvPr/>
        </p:nvSpPr>
        <p:spPr>
          <a:xfrm>
            <a:off x="6587350" y="2593638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0" i="1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+ 16 + 16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8" name="Google Shape;1208;p83"/>
          <p:cNvSpPr/>
          <p:nvPr/>
        </p:nvSpPr>
        <p:spPr>
          <a:xfrm>
            <a:off x="6587350" y="4042601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1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9" name="Google Shape;1209;p83"/>
          <p:cNvSpPr txBox="1"/>
          <p:nvPr/>
        </p:nvSpPr>
        <p:spPr>
          <a:xfrm>
            <a:off x="324575" y="1519614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0" name="Google Shape;1210;p83"/>
          <p:cNvSpPr txBox="1"/>
          <p:nvPr/>
        </p:nvSpPr>
        <p:spPr>
          <a:xfrm>
            <a:off x="324575" y="2489089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1" name="Google Shape;1211;p83"/>
          <p:cNvSpPr txBox="1"/>
          <p:nvPr/>
        </p:nvSpPr>
        <p:spPr>
          <a:xfrm>
            <a:off x="324575" y="3449514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84"/>
          <p:cNvSpPr txBox="1"/>
          <p:nvPr>
            <p:ph idx="4294967295" type="body"/>
          </p:nvPr>
        </p:nvSpPr>
        <p:spPr>
          <a:xfrm>
            <a:off x="324000" y="660400"/>
            <a:ext cx="8496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700"/>
              <a:t>2</a:t>
            </a:r>
            <a:r>
              <a:rPr lang="en-GB" sz="1700"/>
              <a:t>) Complete the table. Round your answers to 1 decimal place.</a:t>
            </a:r>
            <a:endParaRPr sz="1700"/>
          </a:p>
        </p:txBody>
      </p:sp>
      <p:sp>
        <p:nvSpPr>
          <p:cNvPr id="1217" name="Google Shape;1217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Comparing arcs and perimeters of a sector</a:t>
            </a:r>
            <a:endParaRPr/>
          </a:p>
        </p:txBody>
      </p:sp>
      <p:graphicFrame>
        <p:nvGraphicFramePr>
          <p:cNvPr id="1218" name="Google Shape;1218;p84"/>
          <p:cNvGraphicFramePr/>
          <p:nvPr/>
        </p:nvGraphicFramePr>
        <p:xfrm>
          <a:off x="324000" y="962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{0017A9B6-E5ED-4A57-AC65-1D6FB952D6EC}</a:tableStyleId>
              </a:tblPr>
              <a:tblGrid>
                <a:gridCol w="1458950"/>
                <a:gridCol w="1458950"/>
                <a:gridCol w="1112825"/>
                <a:gridCol w="2232625"/>
                <a:gridCol w="2232625"/>
              </a:tblGrid>
              <a:tr h="55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corresponding sector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 of a full circle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       </a:t>
                      </a:r>
                      <a:r>
                        <a:rPr b="1"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length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 perimeter of sector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9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19" name="Google Shape;1219;p84"/>
          <p:cNvPicPr preferRelativeResize="0"/>
          <p:nvPr/>
        </p:nvPicPr>
        <p:blipFill rotWithShape="1">
          <a:blip r:embed="rId3">
            <a:alphaModFix/>
          </a:blip>
          <a:srcRect b="51648" l="-4928" r="74257" t="30435"/>
          <a:stretch/>
        </p:blipFill>
        <p:spPr>
          <a:xfrm>
            <a:off x="1800333" y="1519389"/>
            <a:ext cx="1281635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84"/>
          <p:cNvPicPr preferRelativeResize="0"/>
          <p:nvPr/>
        </p:nvPicPr>
        <p:blipFill rotWithShape="1">
          <a:blip r:embed="rId3">
            <a:alphaModFix/>
          </a:blip>
          <a:srcRect b="49944" l="31834" r="36501" t="26853"/>
          <a:stretch/>
        </p:blipFill>
        <p:spPr>
          <a:xfrm>
            <a:off x="2006524" y="2508152"/>
            <a:ext cx="1021651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84"/>
          <p:cNvPicPr preferRelativeResize="0"/>
          <p:nvPr/>
        </p:nvPicPr>
        <p:blipFill rotWithShape="1">
          <a:blip r:embed="rId3">
            <a:alphaModFix/>
          </a:blip>
          <a:srcRect b="49942" l="71208" r="9181" t="33960"/>
          <a:stretch/>
        </p:blipFill>
        <p:spPr>
          <a:xfrm>
            <a:off x="2105425" y="3475236"/>
            <a:ext cx="831150" cy="637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2" name="Google Shape;1222;p84"/>
          <p:cNvGrpSpPr/>
          <p:nvPr/>
        </p:nvGrpSpPr>
        <p:grpSpPr>
          <a:xfrm>
            <a:off x="2125596" y="2249472"/>
            <a:ext cx="752272" cy="255413"/>
            <a:chOff x="7309296" y="2227128"/>
            <a:chExt cx="1102230" cy="330332"/>
          </a:xfrm>
        </p:grpSpPr>
        <p:sp>
          <p:nvSpPr>
            <p:cNvPr id="1223" name="Google Shape;1223;p84"/>
            <p:cNvSpPr/>
            <p:nvPr/>
          </p:nvSpPr>
          <p:spPr>
            <a:xfrm>
              <a:off x="7309326" y="2236760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24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24" name="Google Shape;1224;p84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25" name="Google Shape;1225;p84"/>
          <p:cNvSpPr txBox="1"/>
          <p:nvPr>
            <p:ph idx="4294967295" type="body"/>
          </p:nvPr>
        </p:nvSpPr>
        <p:spPr>
          <a:xfrm>
            <a:off x="2213793" y="1864975"/>
            <a:ext cx="63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60°</a:t>
            </a:r>
            <a:endParaRPr sz="1800"/>
          </a:p>
        </p:txBody>
      </p:sp>
      <p:sp>
        <p:nvSpPr>
          <p:cNvPr id="1226" name="Google Shape;1226;p84"/>
          <p:cNvSpPr txBox="1"/>
          <p:nvPr>
            <p:ph idx="4294967295" type="body"/>
          </p:nvPr>
        </p:nvSpPr>
        <p:spPr>
          <a:xfrm>
            <a:off x="2343408" y="3743742"/>
            <a:ext cx="4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40°</a:t>
            </a:r>
            <a:endParaRPr sz="1800"/>
          </a:p>
        </p:txBody>
      </p:sp>
      <p:grpSp>
        <p:nvGrpSpPr>
          <p:cNvPr id="1227" name="Google Shape;1227;p84"/>
          <p:cNvGrpSpPr/>
          <p:nvPr/>
        </p:nvGrpSpPr>
        <p:grpSpPr>
          <a:xfrm>
            <a:off x="2270448" y="3194156"/>
            <a:ext cx="666125" cy="255378"/>
            <a:chOff x="7213342" y="2227128"/>
            <a:chExt cx="1294200" cy="330330"/>
          </a:xfrm>
        </p:grpSpPr>
        <p:sp>
          <p:nvSpPr>
            <p:cNvPr id="1228" name="Google Shape;1228;p84"/>
            <p:cNvSpPr/>
            <p:nvPr/>
          </p:nvSpPr>
          <p:spPr>
            <a:xfrm>
              <a:off x="7213342" y="2236758"/>
              <a:ext cx="1294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27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29" name="Google Shape;1229;p84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30" name="Google Shape;1230;p84"/>
          <p:cNvGrpSpPr/>
          <p:nvPr/>
        </p:nvGrpSpPr>
        <p:grpSpPr>
          <a:xfrm>
            <a:off x="2221023" y="4173114"/>
            <a:ext cx="666125" cy="255378"/>
            <a:chOff x="7213342" y="2227128"/>
            <a:chExt cx="1294200" cy="330330"/>
          </a:xfrm>
        </p:grpSpPr>
        <p:sp>
          <p:nvSpPr>
            <p:cNvPr id="1231" name="Google Shape;1231;p84"/>
            <p:cNvSpPr/>
            <p:nvPr/>
          </p:nvSpPr>
          <p:spPr>
            <a:xfrm>
              <a:off x="7213342" y="2236758"/>
              <a:ext cx="1294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45 cm</a:t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32" name="Google Shape;1232;p84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233" name="Google Shape;1233;p84"/>
          <p:cNvPicPr preferRelativeResize="0"/>
          <p:nvPr/>
        </p:nvPicPr>
        <p:blipFill rotWithShape="1">
          <a:blip r:embed="rId3">
            <a:alphaModFix/>
          </a:blip>
          <a:srcRect b="922" l="-4928" r="74257" t="81160"/>
          <a:stretch/>
        </p:blipFill>
        <p:spPr>
          <a:xfrm>
            <a:off x="403158" y="1519389"/>
            <a:ext cx="1281635" cy="6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84"/>
          <p:cNvPicPr preferRelativeResize="0"/>
          <p:nvPr/>
        </p:nvPicPr>
        <p:blipFill rotWithShape="1">
          <a:blip r:embed="rId3">
            <a:alphaModFix/>
          </a:blip>
          <a:srcRect b="-589" l="31834" r="36501" t="77387"/>
          <a:stretch/>
        </p:blipFill>
        <p:spPr>
          <a:xfrm>
            <a:off x="565874" y="2508152"/>
            <a:ext cx="1021651" cy="699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84"/>
          <p:cNvSpPr txBox="1"/>
          <p:nvPr>
            <p:ph idx="4294967295" type="body"/>
          </p:nvPr>
        </p:nvSpPr>
        <p:spPr>
          <a:xfrm>
            <a:off x="2229636" y="2710900"/>
            <a:ext cx="56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120°</a:t>
            </a:r>
            <a:endParaRPr sz="1800"/>
          </a:p>
        </p:txBody>
      </p:sp>
      <p:pic>
        <p:nvPicPr>
          <p:cNvPr id="1236" name="Google Shape;1236;p84"/>
          <p:cNvPicPr preferRelativeResize="0"/>
          <p:nvPr/>
        </p:nvPicPr>
        <p:blipFill rotWithShape="1">
          <a:blip r:embed="rId3">
            <a:alphaModFix/>
          </a:blip>
          <a:srcRect b="-272" l="71208" r="9181" t="84174"/>
          <a:stretch/>
        </p:blipFill>
        <p:spPr>
          <a:xfrm>
            <a:off x="628400" y="3475236"/>
            <a:ext cx="831150" cy="637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84"/>
          <p:cNvSpPr/>
          <p:nvPr/>
        </p:nvSpPr>
        <p:spPr>
          <a:xfrm>
            <a:off x="6587350" y="2167425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73.1 cm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8" name="Google Shape;1238;p84"/>
          <p:cNvSpPr/>
          <p:nvPr/>
        </p:nvSpPr>
        <p:spPr>
          <a:xfrm>
            <a:off x="4354725" y="3192150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56.5 cm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239" name="Google Shape;1239;p84" title="one sixth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3850" y="1673284"/>
            <a:ext cx="170640" cy="552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40" name="Google Shape;1240;p84" title="one third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3850" y="2638800"/>
            <a:ext cx="170640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241" name="Google Shape;1241;p84" title="one ninth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3850" y="3620684"/>
            <a:ext cx="170640" cy="552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\times2\times\pi\times24=&quot;&gt;&lt;mfrac&gt;&lt;mn&gt;1&lt;/mn&gt;&lt;mn&gt;6&lt;/mn&gt;&lt;/mfrac&gt;&lt;mo&gt;×&lt;/mo&gt;&lt;mn&gt;2&lt;/mn&gt;&lt;mo&gt;×&lt;/mo&gt;&lt;mi&gt;π&lt;/mi&gt;&lt;mo&gt;×&lt;/mo&gt;&lt;mn&gt;24&lt;/mn&gt;&lt;mo&gt;=&lt;/mo&gt;&lt;/math&gt;" id="1242" name="Google Shape;1242;p84" title="one sixth times 2 times pi times 24 equals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46065" y="1517847"/>
            <a:ext cx="1849913" cy="552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2\times\pi\times27=&quot;&gt;&lt;mfrac&gt;&lt;mn&gt;1&lt;/mn&gt;&lt;mn&gt;3&lt;/mn&gt;&lt;/mfrac&gt;&lt;mo&gt;×&lt;/mo&gt;&lt;mn&gt;2&lt;/mn&gt;&lt;mo&gt;×&lt;/mo&gt;&lt;mi&gt;π&lt;/mi&gt;&lt;mo&gt;×&lt;/mo&gt;&lt;mn&gt;27&lt;/mn&gt;&lt;mo&gt;=&lt;/mo&gt;&lt;/math&gt;" id="1243" name="Google Shape;1243;p84" title="one third times 2 times pi times 27 equals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15438" y="2504863"/>
            <a:ext cx="1911168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\times2\times\pi\times45=&quot;&gt;&lt;mfrac&gt;&lt;mn&gt;1&lt;/mn&gt;&lt;mn&gt;9&lt;/mn&gt;&lt;/mfrac&gt;&lt;mo&gt;×&lt;/mo&gt;&lt;mn&gt;2&lt;/mn&gt;&lt;mo&gt;×&lt;/mo&gt;&lt;mi&gt;π&lt;/mi&gt;&lt;mo&gt;×&lt;/mo&gt;&lt;mn&gt;45&lt;/mn&gt;&lt;mo&gt;=&lt;/mo&gt;&lt;/math&gt;" id="1244" name="Google Shape;1244;p84" title="one ninth times 2 times pi times 45 equals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46065" y="3449522"/>
            <a:ext cx="1849913" cy="552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84"/>
          <p:cNvSpPr/>
          <p:nvPr/>
        </p:nvSpPr>
        <p:spPr>
          <a:xfrm>
            <a:off x="4354725" y="4148497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31.4 cm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6" name="Google Shape;1246;p84"/>
          <p:cNvSpPr/>
          <p:nvPr/>
        </p:nvSpPr>
        <p:spPr>
          <a:xfrm>
            <a:off x="6587350" y="3529597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31.4 + 45 + 45 =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7" name="Google Shape;1247;p84"/>
          <p:cNvSpPr/>
          <p:nvPr/>
        </p:nvSpPr>
        <p:spPr>
          <a:xfrm>
            <a:off x="4354725" y="2214500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25.1 cm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8" name="Google Shape;1248;p84"/>
          <p:cNvSpPr/>
          <p:nvPr/>
        </p:nvSpPr>
        <p:spPr>
          <a:xfrm>
            <a:off x="6587350" y="2573250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56.5 + 27 + 27 =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" name="Google Shape;1249;p84"/>
          <p:cNvSpPr/>
          <p:nvPr/>
        </p:nvSpPr>
        <p:spPr>
          <a:xfrm>
            <a:off x="6587350" y="1595600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25.1 + 24 + 24 =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0" name="Google Shape;1250;p84"/>
          <p:cNvSpPr/>
          <p:nvPr/>
        </p:nvSpPr>
        <p:spPr>
          <a:xfrm>
            <a:off x="6587350" y="3115950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110.5 cm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1" name="Google Shape;1251;p84"/>
          <p:cNvSpPr/>
          <p:nvPr/>
        </p:nvSpPr>
        <p:spPr>
          <a:xfrm>
            <a:off x="6587350" y="4080519"/>
            <a:ext cx="2232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121.4 cm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2" name="Google Shape;1252;p84"/>
          <p:cNvSpPr txBox="1"/>
          <p:nvPr/>
        </p:nvSpPr>
        <p:spPr>
          <a:xfrm>
            <a:off x="324575" y="1519614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3" name="Google Shape;1253;p84"/>
          <p:cNvSpPr txBox="1"/>
          <p:nvPr/>
        </p:nvSpPr>
        <p:spPr>
          <a:xfrm>
            <a:off x="324575" y="2489089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4" name="Google Shape;1254;p84"/>
          <p:cNvSpPr txBox="1"/>
          <p:nvPr/>
        </p:nvSpPr>
        <p:spPr>
          <a:xfrm>
            <a:off x="324575" y="3449514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arcs and perimeters of a sector</a:t>
            </a:r>
            <a:endParaRPr/>
          </a:p>
        </p:txBody>
      </p:sp>
      <p:sp>
        <p:nvSpPr>
          <p:cNvPr id="1260" name="Google Shape;1260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sp>
        <p:nvSpPr>
          <p:cNvPr id="1261" name="Google Shape;1261;p8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of composite shapes</a:t>
            </a:r>
            <a:endParaRPr/>
          </a:p>
        </p:txBody>
      </p:sp>
      <p:pic>
        <p:nvPicPr>
          <p:cNvPr id="1262" name="Google Shape;126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00" y="29883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86"/>
          <p:cNvSpPr txBox="1"/>
          <p:nvPr/>
        </p:nvSpPr>
        <p:spPr>
          <a:xfrm>
            <a:off x="324000" y="1292700"/>
            <a:ext cx="42480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Composite shapes may be made from combinations of quadrilaterals and sectors of circles.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you travel along the perimeter of a closed composite shape you will get back to your starting point without travelling any part of the perimeter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pic>
        <p:nvPicPr>
          <p:cNvPr id="1269" name="Google Shape;1269;p86"/>
          <p:cNvPicPr preferRelativeResize="0"/>
          <p:nvPr/>
        </p:nvPicPr>
        <p:blipFill rotWithShape="1">
          <a:blip r:embed="rId3">
            <a:alphaModFix/>
          </a:blip>
          <a:srcRect b="0" l="0" r="67787" t="0"/>
          <a:stretch/>
        </p:blipFill>
        <p:spPr>
          <a:xfrm rot="5400000">
            <a:off x="6621950" y="496825"/>
            <a:ext cx="1040951" cy="190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86"/>
          <p:cNvPicPr preferRelativeResize="0"/>
          <p:nvPr/>
        </p:nvPicPr>
        <p:blipFill rotWithShape="1">
          <a:blip r:embed="rId3">
            <a:alphaModFix/>
          </a:blip>
          <a:srcRect b="0" l="63109" r="0" t="0"/>
          <a:stretch/>
        </p:blipFill>
        <p:spPr>
          <a:xfrm rot="5400000">
            <a:off x="6546375" y="2421225"/>
            <a:ext cx="1192099" cy="19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86"/>
          <p:cNvSpPr txBox="1"/>
          <p:nvPr/>
        </p:nvSpPr>
        <p:spPr>
          <a:xfrm>
            <a:off x="5661925" y="2053600"/>
            <a:ext cx="296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xample of a closed shape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6"/>
          <p:cNvSpPr txBox="1"/>
          <p:nvPr/>
        </p:nvSpPr>
        <p:spPr>
          <a:xfrm>
            <a:off x="5661925" y="3968300"/>
            <a:ext cx="2961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 of an open (non-closed) shape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p87"/>
          <p:cNvPicPr preferRelativeResize="0"/>
          <p:nvPr/>
        </p:nvPicPr>
        <p:blipFill rotWithShape="1">
          <a:blip r:embed="rId3">
            <a:alphaModFix/>
          </a:blip>
          <a:srcRect b="27099" l="67592" r="0" t="12652"/>
          <a:stretch/>
        </p:blipFill>
        <p:spPr>
          <a:xfrm>
            <a:off x="665750" y="1915025"/>
            <a:ext cx="1202675" cy="263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87"/>
          <p:cNvSpPr txBox="1"/>
          <p:nvPr/>
        </p:nvSpPr>
        <p:spPr>
          <a:xfrm>
            <a:off x="324000" y="826595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calculate the perimeter of a closed composite shape, you can break it up into the lengths of its component parts.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grpSp>
        <p:nvGrpSpPr>
          <p:cNvPr id="1280" name="Google Shape;1280;p87"/>
          <p:cNvGrpSpPr/>
          <p:nvPr/>
        </p:nvGrpSpPr>
        <p:grpSpPr>
          <a:xfrm rot="-5400000">
            <a:off x="-416244" y="3342247"/>
            <a:ext cx="2064531" cy="262263"/>
            <a:chOff x="7309296" y="2236753"/>
            <a:chExt cx="1102200" cy="346130"/>
          </a:xfrm>
        </p:grpSpPr>
        <p:sp>
          <p:nvSpPr>
            <p:cNvPr id="1281" name="Google Shape;1281;p87"/>
            <p:cNvSpPr/>
            <p:nvPr/>
          </p:nvSpPr>
          <p:spPr>
            <a:xfrm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2" name="Google Shape;1282;p87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83" name="Google Shape;1283;p87"/>
          <p:cNvGrpSpPr/>
          <p:nvPr/>
        </p:nvGrpSpPr>
        <p:grpSpPr>
          <a:xfrm>
            <a:off x="893876" y="1650875"/>
            <a:ext cx="856299" cy="262263"/>
            <a:chOff x="7309296" y="2236753"/>
            <a:chExt cx="1102200" cy="346130"/>
          </a:xfrm>
        </p:grpSpPr>
        <p:sp>
          <p:nvSpPr>
            <p:cNvPr id="1284" name="Google Shape;1284;p87"/>
            <p:cNvSpPr/>
            <p:nvPr/>
          </p:nvSpPr>
          <p:spPr>
            <a:xfrm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5" name="Google Shape;1285;p87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286" name="Google Shape;1286;p87"/>
          <p:cNvPicPr preferRelativeResize="0"/>
          <p:nvPr/>
        </p:nvPicPr>
        <p:blipFill rotWithShape="1">
          <a:blip r:embed="rId3">
            <a:alphaModFix/>
          </a:blip>
          <a:srcRect b="27099" l="67592" r="0" t="12652"/>
          <a:stretch/>
        </p:blipFill>
        <p:spPr>
          <a:xfrm>
            <a:off x="2984888" y="1915025"/>
            <a:ext cx="1202675" cy="263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88"/>
          <p:cNvSpPr txBox="1"/>
          <p:nvPr/>
        </p:nvSpPr>
        <p:spPr>
          <a:xfrm>
            <a:off x="324000" y="826595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calculate the perimeter of a closed composite shape, you can break it up into the lengths of its component parts.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grpSp>
        <p:nvGrpSpPr>
          <p:cNvPr id="1293" name="Google Shape;1293;p88"/>
          <p:cNvGrpSpPr/>
          <p:nvPr/>
        </p:nvGrpSpPr>
        <p:grpSpPr>
          <a:xfrm>
            <a:off x="2887308" y="1546125"/>
            <a:ext cx="972377" cy="262258"/>
            <a:chOff x="6609073" y="2236760"/>
            <a:chExt cx="2502900" cy="346123"/>
          </a:xfrm>
        </p:grpSpPr>
        <p:sp>
          <p:nvSpPr>
            <p:cNvPr id="1294" name="Google Shape;1294;p88"/>
            <p:cNvSpPr/>
            <p:nvPr/>
          </p:nvSpPr>
          <p:spPr>
            <a:xfrm>
              <a:off x="6609073" y="2236760"/>
              <a:ext cx="25029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1.5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95" name="Google Shape;1295;p88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96" name="Google Shape;1296;p88"/>
          <p:cNvGrpSpPr/>
          <p:nvPr/>
        </p:nvGrpSpPr>
        <p:grpSpPr>
          <a:xfrm rot="-5400000">
            <a:off x="1537965" y="3570847"/>
            <a:ext cx="2064531" cy="262263"/>
            <a:chOff x="7309296" y="2236753"/>
            <a:chExt cx="1102200" cy="346130"/>
          </a:xfrm>
        </p:grpSpPr>
        <p:sp>
          <p:nvSpPr>
            <p:cNvPr id="1297" name="Google Shape;1297;p88"/>
            <p:cNvSpPr/>
            <p:nvPr/>
          </p:nvSpPr>
          <p:spPr>
            <a:xfrm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98" name="Google Shape;1298;p88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99" name="Google Shape;1299;p88"/>
          <p:cNvSpPr txBox="1"/>
          <p:nvPr/>
        </p:nvSpPr>
        <p:spPr>
          <a:xfrm>
            <a:off x="3815125" y="1560200"/>
            <a:ext cx="115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semicircle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0" name="Google Shape;1300;p88"/>
          <p:cNvGrpSpPr/>
          <p:nvPr/>
        </p:nvGrpSpPr>
        <p:grpSpPr>
          <a:xfrm rot="-5400000">
            <a:off x="3744997" y="4208657"/>
            <a:ext cx="887932" cy="262263"/>
            <a:chOff x="7309296" y="2236753"/>
            <a:chExt cx="1102200" cy="346130"/>
          </a:xfrm>
        </p:grpSpPr>
        <p:sp>
          <p:nvSpPr>
            <p:cNvPr id="1301" name="Google Shape;1301;p88"/>
            <p:cNvSpPr/>
            <p:nvPr/>
          </p:nvSpPr>
          <p:spPr>
            <a:xfrm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02" name="Google Shape;1302;p88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03" name="Google Shape;1303;p88"/>
          <p:cNvSpPr txBox="1"/>
          <p:nvPr/>
        </p:nvSpPr>
        <p:spPr>
          <a:xfrm>
            <a:off x="4941550" y="4525600"/>
            <a:ext cx="168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quarter-circle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8"/>
          <p:cNvSpPr/>
          <p:nvPr/>
        </p:nvSpPr>
        <p:spPr>
          <a:xfrm>
            <a:off x="4544901" y="3129500"/>
            <a:ext cx="643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- 3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5" name="Google Shape;1305;p88"/>
          <p:cNvCxnSpPr/>
          <p:nvPr/>
        </p:nvCxnSpPr>
        <p:spPr>
          <a:xfrm rot="5400000">
            <a:off x="3930042" y="3250880"/>
            <a:ext cx="122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06" name="Google Shape;1306;p88"/>
          <p:cNvSpPr/>
          <p:nvPr/>
        </p:nvSpPr>
        <p:spPr>
          <a:xfrm>
            <a:off x="4582526" y="3129500"/>
            <a:ext cx="643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88"/>
          <p:cNvSpPr txBox="1"/>
          <p:nvPr/>
        </p:nvSpPr>
        <p:spPr>
          <a:xfrm>
            <a:off x="5774400" y="1347800"/>
            <a:ext cx="298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 of semicircular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arc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times2\times\pi\times1.5=1.5\pi&quot;&gt;&lt;mfrac&gt;&lt;mn&gt;1&lt;/mn&gt;&lt;mn&gt;2&lt;/mn&gt;&lt;/mfrac&gt;&lt;mo&gt;×&lt;/mo&gt;&lt;mn&gt;2&lt;/mn&gt;&lt;mo&gt;×&lt;/mo&gt;&lt;mi&gt;π&lt;/mi&gt;&lt;mo&gt;×&lt;/mo&gt;&lt;mn&gt;1.5&lt;/mn&gt;&lt;mo&gt;=&lt;/mo&gt;&lt;mn&gt;1.5&lt;/mn&gt;&lt;mi&gt;π&lt;/mi&gt;&lt;/math&gt;" id="1308" name="Google Shape;1308;p88" title="one half times 2 times pi times 1.5 equals 1.5 pi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5971" y="1713788"/>
            <a:ext cx="2586144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2\times\pi\times3=1.5\pi&quot;&gt;&lt;mfrac&gt;&lt;mn&gt;1&lt;/mn&gt;&lt;mn&gt;4&lt;/mn&gt;&lt;/mfrac&gt;&lt;mo&gt;×&lt;/mo&gt;&lt;mn&gt;2&lt;/mn&gt;&lt;mo&gt;×&lt;/mo&gt;&lt;mi&gt;π&lt;/mi&gt;&lt;mo&gt;×&lt;/mo&gt;&lt;mn&gt;3&lt;/mn&gt;&lt;mo&gt;=&lt;/mo&gt;&lt;mn&gt;1.5&lt;/mn&gt;&lt;mi&gt;π&lt;/mi&gt;&lt;/math&gt;" id="1309" name="Google Shape;1309;p88" title="one fourth times 2 times pi times 3 equals 1.5 pi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5971" y="2817200"/>
            <a:ext cx="2382412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88"/>
          <p:cNvSpPr txBox="1"/>
          <p:nvPr/>
        </p:nvSpPr>
        <p:spPr>
          <a:xfrm>
            <a:off x="5774400" y="2405625"/>
            <a:ext cx="31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 of quarter-circle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arc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8"/>
          <p:cNvSpPr txBox="1"/>
          <p:nvPr/>
        </p:nvSpPr>
        <p:spPr>
          <a:xfrm>
            <a:off x="5774400" y="3539625"/>
            <a:ext cx="298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perimeter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8"/>
          <p:cNvSpPr txBox="1"/>
          <p:nvPr/>
        </p:nvSpPr>
        <p:spPr>
          <a:xfrm>
            <a:off x="5775971" y="3844338"/>
            <a:ext cx="237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+ 10 + 7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3" name="Google Shape;1313;p88"/>
          <p:cNvSpPr txBox="1"/>
          <p:nvPr/>
        </p:nvSpPr>
        <p:spPr>
          <a:xfrm>
            <a:off x="6722925" y="4183075"/>
            <a:ext cx="237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4" name="Google Shape;1314;p88"/>
          <p:cNvSpPr txBox="1"/>
          <p:nvPr/>
        </p:nvSpPr>
        <p:spPr>
          <a:xfrm>
            <a:off x="6722925" y="4521813"/>
            <a:ext cx="237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26.4 cm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5" name="Google Shape;1315;p88"/>
          <p:cNvPicPr preferRelativeResize="0"/>
          <p:nvPr/>
        </p:nvPicPr>
        <p:blipFill rotWithShape="1">
          <a:blip r:embed="rId5">
            <a:alphaModFix/>
          </a:blip>
          <a:srcRect b="27099" l="67592" r="0" t="12652"/>
          <a:stretch/>
        </p:blipFill>
        <p:spPr>
          <a:xfrm>
            <a:off x="665750" y="1915025"/>
            <a:ext cx="1202675" cy="2630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6" name="Google Shape;1316;p88"/>
          <p:cNvGrpSpPr/>
          <p:nvPr/>
        </p:nvGrpSpPr>
        <p:grpSpPr>
          <a:xfrm rot="-5400000">
            <a:off x="-416244" y="3342247"/>
            <a:ext cx="2064531" cy="262263"/>
            <a:chOff x="7309296" y="2236753"/>
            <a:chExt cx="1102200" cy="346130"/>
          </a:xfrm>
        </p:grpSpPr>
        <p:sp>
          <p:nvSpPr>
            <p:cNvPr id="1317" name="Google Shape;1317;p88"/>
            <p:cNvSpPr/>
            <p:nvPr/>
          </p:nvSpPr>
          <p:spPr>
            <a:xfrm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18" name="Google Shape;1318;p88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19" name="Google Shape;1319;p88"/>
          <p:cNvGrpSpPr/>
          <p:nvPr/>
        </p:nvGrpSpPr>
        <p:grpSpPr>
          <a:xfrm>
            <a:off x="893876" y="1650875"/>
            <a:ext cx="856299" cy="262263"/>
            <a:chOff x="7309296" y="2236753"/>
            <a:chExt cx="1102200" cy="346130"/>
          </a:xfrm>
        </p:grpSpPr>
        <p:sp>
          <p:nvSpPr>
            <p:cNvPr id="1320" name="Google Shape;1320;p88"/>
            <p:cNvSpPr/>
            <p:nvPr/>
          </p:nvSpPr>
          <p:spPr>
            <a:xfrm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21" name="Google Shape;1321;p88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322" name="Google Shape;1322;p88"/>
          <p:cNvPicPr preferRelativeResize="0"/>
          <p:nvPr/>
        </p:nvPicPr>
        <p:blipFill rotWithShape="1">
          <a:blip r:embed="rId5">
            <a:alphaModFix/>
          </a:blip>
          <a:srcRect b="86354" l="7391" r="64104" t="0"/>
          <a:stretch/>
        </p:blipFill>
        <p:spPr>
          <a:xfrm>
            <a:off x="3057318" y="1841975"/>
            <a:ext cx="1057799" cy="5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88"/>
          <p:cNvPicPr preferRelativeResize="0"/>
          <p:nvPr/>
        </p:nvPicPr>
        <p:blipFill rotWithShape="1">
          <a:blip r:embed="rId5">
            <a:alphaModFix/>
          </a:blip>
          <a:srcRect b="-664" l="24354" r="47140" t="76039"/>
          <a:stretch/>
        </p:blipFill>
        <p:spPr>
          <a:xfrm>
            <a:off x="4247600" y="3868775"/>
            <a:ext cx="1057799" cy="107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88"/>
          <p:cNvPicPr preferRelativeResize="0"/>
          <p:nvPr/>
        </p:nvPicPr>
        <p:blipFill rotWithShape="1">
          <a:blip r:embed="rId5">
            <a:alphaModFix/>
          </a:blip>
          <a:srcRect b="25347" l="-2266" r="54445" t="22161"/>
          <a:stretch/>
        </p:blipFill>
        <p:spPr>
          <a:xfrm>
            <a:off x="2684053" y="2556050"/>
            <a:ext cx="1774675" cy="22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sp>
        <p:nvSpPr>
          <p:cNvPr id="1330" name="Google Shape;1330;p89"/>
          <p:cNvSpPr txBox="1"/>
          <p:nvPr/>
        </p:nvSpPr>
        <p:spPr>
          <a:xfrm>
            <a:off x="324000" y="709850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perimeter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this composite shape by breaking it into the 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ngths of its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component parts.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9"/>
          <p:cNvSpPr txBox="1"/>
          <p:nvPr/>
        </p:nvSpPr>
        <p:spPr>
          <a:xfrm>
            <a:off x="4824000" y="709850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 the perimeter of this composite shape by breaking it into the lengths of its component parts.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9"/>
          <p:cNvSpPr txBox="1"/>
          <p:nvPr/>
        </p:nvSpPr>
        <p:spPr>
          <a:xfrm>
            <a:off x="1684800" y="1779925"/>
            <a:ext cx="26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composite shape is made from: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9"/>
          <p:cNvSpPr txBox="1"/>
          <p:nvPr/>
        </p:nvSpPr>
        <p:spPr>
          <a:xfrm>
            <a:off x="1801075" y="2457250"/>
            <a:ext cx="2770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straight lines of equal length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semicircles with an equal radius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4" name="Google Shape;1334;p89"/>
          <p:cNvPicPr preferRelativeResize="0"/>
          <p:nvPr/>
        </p:nvPicPr>
        <p:blipFill rotWithShape="1">
          <a:blip r:embed="rId3">
            <a:alphaModFix/>
          </a:blip>
          <a:srcRect b="45367" l="0" r="58824" t="11994"/>
          <a:stretch/>
        </p:blipFill>
        <p:spPr>
          <a:xfrm>
            <a:off x="346678" y="1709065"/>
            <a:ext cx="1157765" cy="1218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5" name="Google Shape;1335;p89"/>
          <p:cNvCxnSpPr/>
          <p:nvPr/>
        </p:nvCxnSpPr>
        <p:spPr>
          <a:xfrm rot="10800000">
            <a:off x="324696" y="2427233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89"/>
          <p:cNvCxnSpPr/>
          <p:nvPr/>
        </p:nvCxnSpPr>
        <p:spPr>
          <a:xfrm rot="-5400000">
            <a:off x="716222" y="2851042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7" name="Google Shape;1337;p89"/>
          <p:cNvGrpSpPr/>
          <p:nvPr/>
        </p:nvGrpSpPr>
        <p:grpSpPr>
          <a:xfrm flipH="1" rot="10800000">
            <a:off x="378826" y="2572958"/>
            <a:ext cx="741230" cy="217884"/>
            <a:chOff x="7309296" y="2563355"/>
            <a:chExt cx="1001392" cy="396369"/>
          </a:xfrm>
        </p:grpSpPr>
        <p:sp>
          <p:nvSpPr>
            <p:cNvPr id="1338" name="Google Shape;1338;p89"/>
            <p:cNvSpPr/>
            <p:nvPr/>
          </p:nvSpPr>
          <p:spPr>
            <a:xfrm rot="10800000"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39" name="Google Shape;1339;p89"/>
            <p:cNvCxnSpPr/>
            <p:nvPr/>
          </p:nvCxnSpPr>
          <p:spPr>
            <a:xfrm>
              <a:off x="7309296" y="2563355"/>
              <a:ext cx="974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340" name="Google Shape;1340;p89"/>
          <p:cNvPicPr preferRelativeResize="0"/>
          <p:nvPr/>
        </p:nvPicPr>
        <p:blipFill rotWithShape="1">
          <a:blip r:embed="rId3">
            <a:alphaModFix/>
          </a:blip>
          <a:srcRect b="45367" l="0" r="58824" t="11994"/>
          <a:stretch/>
        </p:blipFill>
        <p:spPr>
          <a:xfrm>
            <a:off x="4846891" y="1709046"/>
            <a:ext cx="1157765" cy="1218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1" name="Google Shape;1341;p89"/>
          <p:cNvCxnSpPr/>
          <p:nvPr/>
        </p:nvCxnSpPr>
        <p:spPr>
          <a:xfrm rot="10800000">
            <a:off x="4824909" y="2427214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2" name="Google Shape;1342;p89"/>
          <p:cNvCxnSpPr/>
          <p:nvPr/>
        </p:nvCxnSpPr>
        <p:spPr>
          <a:xfrm rot="-5400000">
            <a:off x="5216435" y="2851023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43" name="Google Shape;1343;p89"/>
          <p:cNvGrpSpPr/>
          <p:nvPr/>
        </p:nvGrpSpPr>
        <p:grpSpPr>
          <a:xfrm flipH="1" rot="10800000">
            <a:off x="4878909" y="2572958"/>
            <a:ext cx="741230" cy="202627"/>
            <a:chOff x="7309296" y="2591111"/>
            <a:chExt cx="1001392" cy="368613"/>
          </a:xfrm>
        </p:grpSpPr>
        <p:sp>
          <p:nvSpPr>
            <p:cNvPr id="1344" name="Google Shape;1344;p89"/>
            <p:cNvSpPr/>
            <p:nvPr/>
          </p:nvSpPr>
          <p:spPr>
            <a:xfrm rot="10800000"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45" name="Google Shape;1345;p89"/>
            <p:cNvCxnSpPr/>
            <p:nvPr/>
          </p:nvCxnSpPr>
          <p:spPr>
            <a:xfrm>
              <a:off x="7309296" y="2591111"/>
              <a:ext cx="978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90"/>
          <p:cNvSpPr txBox="1"/>
          <p:nvPr/>
        </p:nvSpPr>
        <p:spPr>
          <a:xfrm>
            <a:off x="4824000" y="2046700"/>
            <a:ext cx="39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the radii of all circle sectors.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1" name="Google Shape;1351;p90"/>
          <p:cNvSpPr txBox="1"/>
          <p:nvPr/>
        </p:nvSpPr>
        <p:spPr>
          <a:xfrm>
            <a:off x="4824000" y="1431100"/>
            <a:ext cx="39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label the lengths of all straight lines.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times2\times\pi\times7&quot;&gt;&lt;mfrac&gt;&lt;mn&gt;1&lt;/mn&gt;&lt;mn&gt;2&lt;/mn&gt;&lt;/mfrac&gt;&lt;mo&gt;×&lt;/mo&gt;&lt;mn&gt;2&lt;/mn&gt;&lt;mo&gt;×&lt;/mo&gt;&lt;mi&gt;π&lt;/mi&gt;&lt;mo&gt;×&lt;/mo&gt;&lt;mn&gt;7&lt;/mn&gt;&lt;/math&gt;" id="1352" name="Google Shape;1352;p90" title="one half times 2 times pi times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219" y="994325"/>
            <a:ext cx="1281711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90"/>
          <p:cNvSpPr txBox="1"/>
          <p:nvPr/>
        </p:nvSpPr>
        <p:spPr>
          <a:xfrm>
            <a:off x="3419096" y="1069514"/>
            <a:ext cx="7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4" name="Google Shape;135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pic>
        <p:nvPicPr>
          <p:cNvPr id="1355" name="Google Shape;1355;p90"/>
          <p:cNvPicPr preferRelativeResize="0"/>
          <p:nvPr/>
        </p:nvPicPr>
        <p:blipFill rotWithShape="1">
          <a:blip r:embed="rId4">
            <a:alphaModFix/>
          </a:blip>
          <a:srcRect b="45367" l="0" r="58824" t="11994"/>
          <a:stretch/>
        </p:blipFill>
        <p:spPr>
          <a:xfrm>
            <a:off x="346678" y="3614065"/>
            <a:ext cx="1157765" cy="1218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6" name="Google Shape;1356;p90"/>
          <p:cNvCxnSpPr/>
          <p:nvPr/>
        </p:nvCxnSpPr>
        <p:spPr>
          <a:xfrm rot="10800000">
            <a:off x="324696" y="4332233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90"/>
          <p:cNvCxnSpPr/>
          <p:nvPr/>
        </p:nvCxnSpPr>
        <p:spPr>
          <a:xfrm rot="-5400000">
            <a:off x="716222" y="4756042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58" name="Google Shape;1358;p90"/>
          <p:cNvGrpSpPr/>
          <p:nvPr/>
        </p:nvGrpSpPr>
        <p:grpSpPr>
          <a:xfrm flipH="1" rot="10800000">
            <a:off x="378826" y="4477958"/>
            <a:ext cx="815848" cy="207149"/>
            <a:chOff x="7309296" y="2582883"/>
            <a:chExt cx="1102200" cy="376840"/>
          </a:xfrm>
        </p:grpSpPr>
        <p:sp>
          <p:nvSpPr>
            <p:cNvPr id="1359" name="Google Shape;1359;p90"/>
            <p:cNvSpPr/>
            <p:nvPr/>
          </p:nvSpPr>
          <p:spPr>
            <a:xfrm rot="10800000"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60" name="Google Shape;1360;p9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361" name="Google Shape;1361;p90"/>
          <p:cNvPicPr preferRelativeResize="0"/>
          <p:nvPr/>
        </p:nvPicPr>
        <p:blipFill rotWithShape="1">
          <a:blip r:embed="rId4">
            <a:alphaModFix/>
          </a:blip>
          <a:srcRect b="45367" l="0" r="58824" t="11994"/>
          <a:stretch/>
        </p:blipFill>
        <p:spPr>
          <a:xfrm>
            <a:off x="4846891" y="3614046"/>
            <a:ext cx="1157765" cy="1218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2" name="Google Shape;1362;p90"/>
          <p:cNvCxnSpPr/>
          <p:nvPr/>
        </p:nvCxnSpPr>
        <p:spPr>
          <a:xfrm rot="10800000">
            <a:off x="4824909" y="4332214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3" name="Google Shape;1363;p90"/>
          <p:cNvCxnSpPr/>
          <p:nvPr/>
        </p:nvCxnSpPr>
        <p:spPr>
          <a:xfrm rot="-5400000">
            <a:off x="5216435" y="4756023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64" name="Google Shape;1364;p90"/>
          <p:cNvPicPr preferRelativeResize="0"/>
          <p:nvPr/>
        </p:nvPicPr>
        <p:blipFill rotWithShape="1">
          <a:blip r:embed="rId4">
            <a:alphaModFix/>
          </a:blip>
          <a:srcRect b="2590" l="68393" r="0" t="-2590"/>
          <a:stretch/>
        </p:blipFill>
        <p:spPr>
          <a:xfrm>
            <a:off x="315942" y="747950"/>
            <a:ext cx="888714" cy="2858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5" name="Google Shape;1365;p90"/>
          <p:cNvGrpSpPr/>
          <p:nvPr/>
        </p:nvGrpSpPr>
        <p:grpSpPr>
          <a:xfrm>
            <a:off x="352981" y="2558025"/>
            <a:ext cx="815848" cy="207149"/>
            <a:chOff x="7309296" y="2582883"/>
            <a:chExt cx="1102200" cy="376840"/>
          </a:xfrm>
        </p:grpSpPr>
        <p:sp>
          <p:nvSpPr>
            <p:cNvPr id="1366" name="Google Shape;1366;p90"/>
            <p:cNvSpPr/>
            <p:nvPr/>
          </p:nvSpPr>
          <p:spPr>
            <a:xfrm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67" name="Google Shape;1367;p9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68" name="Google Shape;1368;p90"/>
          <p:cNvGrpSpPr/>
          <p:nvPr/>
        </p:nvGrpSpPr>
        <p:grpSpPr>
          <a:xfrm rot="5400000">
            <a:off x="146262" y="1669958"/>
            <a:ext cx="815848" cy="207149"/>
            <a:chOff x="7309296" y="2582883"/>
            <a:chExt cx="1102200" cy="376840"/>
          </a:xfrm>
        </p:grpSpPr>
        <p:sp>
          <p:nvSpPr>
            <p:cNvPr id="1369" name="Google Shape;1369;p90"/>
            <p:cNvSpPr/>
            <p:nvPr/>
          </p:nvSpPr>
          <p:spPr>
            <a:xfrm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70" name="Google Shape;1370;p9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71" name="Google Shape;1371;p90"/>
          <p:cNvGrpSpPr/>
          <p:nvPr/>
        </p:nvGrpSpPr>
        <p:grpSpPr>
          <a:xfrm rot="10800000">
            <a:off x="592501" y="605159"/>
            <a:ext cx="647230" cy="207152"/>
            <a:chOff x="6981351" y="2582883"/>
            <a:chExt cx="1758300" cy="376845"/>
          </a:xfrm>
        </p:grpSpPr>
        <p:sp>
          <p:nvSpPr>
            <p:cNvPr id="1372" name="Google Shape;1372;p90"/>
            <p:cNvSpPr/>
            <p:nvPr/>
          </p:nvSpPr>
          <p:spPr>
            <a:xfrm rot="10800000">
              <a:off x="6981351" y="2639029"/>
              <a:ext cx="1758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73" name="Google Shape;1373;p9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74" name="Google Shape;1374;p90"/>
          <p:cNvGrpSpPr/>
          <p:nvPr/>
        </p:nvGrpSpPr>
        <p:grpSpPr>
          <a:xfrm flipH="1" rot="-5400000">
            <a:off x="1102978" y="3060453"/>
            <a:ext cx="405720" cy="606938"/>
            <a:chOff x="7309296" y="2582883"/>
            <a:chExt cx="1102200" cy="1104126"/>
          </a:xfrm>
        </p:grpSpPr>
        <p:sp>
          <p:nvSpPr>
            <p:cNvPr id="1375" name="Google Shape;1375;p90"/>
            <p:cNvSpPr/>
            <p:nvPr/>
          </p:nvSpPr>
          <p:spPr>
            <a:xfrm rot="-5400000">
              <a:off x="7332369" y="2919309"/>
              <a:ext cx="10563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76" name="Google Shape;1376;p9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77" name="Google Shape;1377;p90"/>
          <p:cNvSpPr txBox="1"/>
          <p:nvPr/>
        </p:nvSpPr>
        <p:spPr>
          <a:xfrm>
            <a:off x="1768075" y="686525"/>
            <a:ext cx="259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rc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length of semicircle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8" name="Google Shape;1378;p90"/>
          <p:cNvSpPr txBox="1"/>
          <p:nvPr/>
        </p:nvSpPr>
        <p:spPr>
          <a:xfrm>
            <a:off x="1768075" y="2022850"/>
            <a:ext cx="259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arc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length of other semicircle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times2\times\pi\times7&quot;&gt;&lt;mfrac&gt;&lt;mn&gt;1&lt;/mn&gt;&lt;mn&gt;2&lt;/mn&gt;&lt;/mfrac&gt;&lt;mo&gt;×&lt;/mo&gt;&lt;mn&gt;2&lt;/mn&gt;&lt;mo&gt;×&lt;/mo&gt;&lt;mi&gt;π&lt;/mi&gt;&lt;mo&gt;×&lt;/mo&gt;&lt;mn&gt;7&lt;/mn&gt;&lt;/math&gt;" id="1379" name="Google Shape;1379;p90" title="one half times 2 times pi times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219" y="2619281"/>
            <a:ext cx="1281711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90"/>
          <p:cNvSpPr txBox="1"/>
          <p:nvPr/>
        </p:nvSpPr>
        <p:spPr>
          <a:xfrm>
            <a:off x="3419096" y="2704764"/>
            <a:ext cx="7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1" name="Google Shape;1381;p90"/>
          <p:cNvSpPr txBox="1"/>
          <p:nvPr/>
        </p:nvSpPr>
        <p:spPr>
          <a:xfrm>
            <a:off x="4824000" y="686525"/>
            <a:ext cx="39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Firstly, sketch the component lengths of the shape.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2" name="Google Shape;1382;p90"/>
          <p:cNvSpPr txBox="1"/>
          <p:nvPr/>
        </p:nvSpPr>
        <p:spPr>
          <a:xfrm>
            <a:off x="4824000" y="2473005"/>
            <a:ext cx="39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Next, calculate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arc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length of all circle sectors.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3" name="Google Shape;1383;p90"/>
          <p:cNvSpPr txBox="1"/>
          <p:nvPr/>
        </p:nvSpPr>
        <p:spPr>
          <a:xfrm>
            <a:off x="6330450" y="3271375"/>
            <a:ext cx="248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Finally, add on the lengths of all straight lines.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4" name="Google Shape;1384;p90"/>
          <p:cNvSpPr txBox="1"/>
          <p:nvPr/>
        </p:nvSpPr>
        <p:spPr>
          <a:xfrm>
            <a:off x="1972075" y="3626075"/>
            <a:ext cx="224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otal perimeter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5" name="Google Shape;1385;p90"/>
          <p:cNvSpPr txBox="1"/>
          <p:nvPr/>
        </p:nvSpPr>
        <p:spPr>
          <a:xfrm>
            <a:off x="1831521" y="3933868"/>
            <a:ext cx="252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+ 14 + 14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6" name="Google Shape;1386;p90"/>
          <p:cNvSpPr txBox="1"/>
          <p:nvPr/>
        </p:nvSpPr>
        <p:spPr>
          <a:xfrm>
            <a:off x="1831521" y="4236043"/>
            <a:ext cx="252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+ 28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87" name="Google Shape;1387;p90"/>
          <p:cNvGrpSpPr/>
          <p:nvPr/>
        </p:nvGrpSpPr>
        <p:grpSpPr>
          <a:xfrm flipH="1" rot="10800000">
            <a:off x="4878909" y="4477958"/>
            <a:ext cx="815848" cy="207149"/>
            <a:chOff x="7309296" y="2582883"/>
            <a:chExt cx="1102200" cy="376840"/>
          </a:xfrm>
        </p:grpSpPr>
        <p:sp>
          <p:nvSpPr>
            <p:cNvPr id="1388" name="Google Shape;1388;p90"/>
            <p:cNvSpPr/>
            <p:nvPr/>
          </p:nvSpPr>
          <p:spPr>
            <a:xfrm rot="10800000"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89" name="Google Shape;1389;p9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1}{2}\times2\times\pi\times7&quot;&gt;&lt;mfrac&gt;&lt;mn&gt;1&lt;/mn&gt;&lt;mn&gt;2&lt;/mn&gt;&lt;/mfrac&gt;&lt;mo&gt;×&lt;/mo&gt;&lt;mn&gt;2&lt;/mn&gt;&lt;mo&gt;×&lt;/mo&gt;&lt;mi&gt;π&lt;/mi&gt;&lt;mo&gt;×&lt;/mo&gt;&lt;mn&gt;7&lt;/mn&gt;&lt;/math&gt;" id="1394" name="Google Shape;1394;p91" title="one half times 2 times pi times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219" y="994325"/>
            <a:ext cx="1281711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91"/>
          <p:cNvSpPr txBox="1"/>
          <p:nvPr/>
        </p:nvSpPr>
        <p:spPr>
          <a:xfrm>
            <a:off x="3419096" y="1069514"/>
            <a:ext cx="7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6" name="Google Shape;139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pic>
        <p:nvPicPr>
          <p:cNvPr id="1397" name="Google Shape;1397;p91"/>
          <p:cNvPicPr preferRelativeResize="0"/>
          <p:nvPr/>
        </p:nvPicPr>
        <p:blipFill rotWithShape="1">
          <a:blip r:embed="rId4">
            <a:alphaModFix/>
          </a:blip>
          <a:srcRect b="45367" l="0" r="58824" t="11994"/>
          <a:stretch/>
        </p:blipFill>
        <p:spPr>
          <a:xfrm>
            <a:off x="346678" y="3614065"/>
            <a:ext cx="1157765" cy="1218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8" name="Google Shape;1398;p91"/>
          <p:cNvCxnSpPr/>
          <p:nvPr/>
        </p:nvCxnSpPr>
        <p:spPr>
          <a:xfrm rot="10800000">
            <a:off x="324696" y="4332233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9" name="Google Shape;1399;p91"/>
          <p:cNvCxnSpPr/>
          <p:nvPr/>
        </p:nvCxnSpPr>
        <p:spPr>
          <a:xfrm rot="-5400000">
            <a:off x="716222" y="4756042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00" name="Google Shape;1400;p91"/>
          <p:cNvGrpSpPr/>
          <p:nvPr/>
        </p:nvGrpSpPr>
        <p:grpSpPr>
          <a:xfrm flipH="1" rot="10800000">
            <a:off x="378826" y="4477958"/>
            <a:ext cx="815848" cy="207149"/>
            <a:chOff x="7309296" y="2582883"/>
            <a:chExt cx="1102200" cy="376840"/>
          </a:xfrm>
        </p:grpSpPr>
        <p:sp>
          <p:nvSpPr>
            <p:cNvPr id="1401" name="Google Shape;1401;p91"/>
            <p:cNvSpPr/>
            <p:nvPr/>
          </p:nvSpPr>
          <p:spPr>
            <a:xfrm rot="10800000"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02" name="Google Shape;1402;p9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403" name="Google Shape;1403;p91"/>
          <p:cNvPicPr preferRelativeResize="0"/>
          <p:nvPr/>
        </p:nvPicPr>
        <p:blipFill rotWithShape="1">
          <a:blip r:embed="rId4">
            <a:alphaModFix/>
          </a:blip>
          <a:srcRect b="45367" l="0" r="58824" t="11994"/>
          <a:stretch/>
        </p:blipFill>
        <p:spPr>
          <a:xfrm>
            <a:off x="4846891" y="3614046"/>
            <a:ext cx="1157765" cy="1218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4" name="Google Shape;1404;p91"/>
          <p:cNvCxnSpPr/>
          <p:nvPr/>
        </p:nvCxnSpPr>
        <p:spPr>
          <a:xfrm rot="10800000">
            <a:off x="4824909" y="4332214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5" name="Google Shape;1405;p91"/>
          <p:cNvCxnSpPr/>
          <p:nvPr/>
        </p:nvCxnSpPr>
        <p:spPr>
          <a:xfrm rot="-5400000">
            <a:off x="5216435" y="4756023"/>
            <a:ext cx="12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6" name="Google Shape;1406;p91"/>
          <p:cNvSpPr txBox="1"/>
          <p:nvPr/>
        </p:nvSpPr>
        <p:spPr>
          <a:xfrm>
            <a:off x="1768075" y="686525"/>
            <a:ext cx="259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arc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length of semicircle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7" name="Google Shape;1407;p91"/>
          <p:cNvSpPr txBox="1"/>
          <p:nvPr/>
        </p:nvSpPr>
        <p:spPr>
          <a:xfrm>
            <a:off x="1768075" y="2022850"/>
            <a:ext cx="259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arc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length of other semicircle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times2\times\pi\times7&quot;&gt;&lt;mfrac&gt;&lt;mn&gt;1&lt;/mn&gt;&lt;mn&gt;2&lt;/mn&gt;&lt;/mfrac&gt;&lt;mo&gt;×&lt;/mo&gt;&lt;mn&gt;2&lt;/mn&gt;&lt;mo&gt;×&lt;/mo&gt;&lt;mi&gt;π&lt;/mi&gt;&lt;mo&gt;×&lt;/mo&gt;&lt;mn&gt;7&lt;/mn&gt;&lt;/math&gt;" id="1408" name="Google Shape;1408;p91" title="one half times 2 times pi times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219" y="2619281"/>
            <a:ext cx="1281711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91"/>
          <p:cNvSpPr txBox="1"/>
          <p:nvPr/>
        </p:nvSpPr>
        <p:spPr>
          <a:xfrm>
            <a:off x="3419096" y="2704764"/>
            <a:ext cx="7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0" name="Google Shape;1410;p91"/>
          <p:cNvSpPr txBox="1"/>
          <p:nvPr/>
        </p:nvSpPr>
        <p:spPr>
          <a:xfrm>
            <a:off x="1972075" y="3626075"/>
            <a:ext cx="224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perimeter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1" name="Google Shape;1411;p91"/>
          <p:cNvSpPr txBox="1"/>
          <p:nvPr/>
        </p:nvSpPr>
        <p:spPr>
          <a:xfrm>
            <a:off x="1831521" y="3933868"/>
            <a:ext cx="252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+ 14 + 14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2" name="Google Shape;1412;p91"/>
          <p:cNvSpPr txBox="1"/>
          <p:nvPr/>
        </p:nvSpPr>
        <p:spPr>
          <a:xfrm>
            <a:off x="1831521" y="4236043"/>
            <a:ext cx="252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+ 28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13" name="Google Shape;1413;p91"/>
          <p:cNvGrpSpPr/>
          <p:nvPr/>
        </p:nvGrpSpPr>
        <p:grpSpPr>
          <a:xfrm flipH="1" rot="10800000">
            <a:off x="4878909" y="4477958"/>
            <a:ext cx="815848" cy="207149"/>
            <a:chOff x="7309296" y="2582883"/>
            <a:chExt cx="1102200" cy="376840"/>
          </a:xfrm>
        </p:grpSpPr>
        <p:sp>
          <p:nvSpPr>
            <p:cNvPr id="1414" name="Google Shape;1414;p91"/>
            <p:cNvSpPr/>
            <p:nvPr/>
          </p:nvSpPr>
          <p:spPr>
            <a:xfrm rot="10800000"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5" name="Google Shape;1415;p9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16" name="Google Shape;1416;p91"/>
          <p:cNvSpPr txBox="1"/>
          <p:nvPr/>
        </p:nvSpPr>
        <p:spPr>
          <a:xfrm>
            <a:off x="7082244" y="975207"/>
            <a:ext cx="7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11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7" name="Google Shape;1417;p91"/>
          <p:cNvPicPr preferRelativeResize="0"/>
          <p:nvPr/>
        </p:nvPicPr>
        <p:blipFill rotWithShape="1">
          <a:blip r:embed="rId4">
            <a:alphaModFix/>
          </a:blip>
          <a:srcRect b="2590" l="68393" r="0" t="-2590"/>
          <a:stretch/>
        </p:blipFill>
        <p:spPr>
          <a:xfrm>
            <a:off x="4878892" y="778029"/>
            <a:ext cx="888714" cy="2858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8" name="Google Shape;1418;p91"/>
          <p:cNvGrpSpPr/>
          <p:nvPr/>
        </p:nvGrpSpPr>
        <p:grpSpPr>
          <a:xfrm>
            <a:off x="4915931" y="2558025"/>
            <a:ext cx="815848" cy="207149"/>
            <a:chOff x="7309296" y="2582883"/>
            <a:chExt cx="1102200" cy="376840"/>
          </a:xfrm>
        </p:grpSpPr>
        <p:sp>
          <p:nvSpPr>
            <p:cNvPr id="1419" name="Google Shape;1419;p91"/>
            <p:cNvSpPr/>
            <p:nvPr/>
          </p:nvSpPr>
          <p:spPr>
            <a:xfrm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0" name="Google Shape;1420;p9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21" name="Google Shape;1421;p91"/>
          <p:cNvGrpSpPr/>
          <p:nvPr/>
        </p:nvGrpSpPr>
        <p:grpSpPr>
          <a:xfrm rot="5400000">
            <a:off x="4709212" y="1700036"/>
            <a:ext cx="815848" cy="207149"/>
            <a:chOff x="7309296" y="2582883"/>
            <a:chExt cx="1102200" cy="376840"/>
          </a:xfrm>
        </p:grpSpPr>
        <p:sp>
          <p:nvSpPr>
            <p:cNvPr id="1422" name="Google Shape;1422;p91"/>
            <p:cNvSpPr/>
            <p:nvPr/>
          </p:nvSpPr>
          <p:spPr>
            <a:xfrm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3" name="Google Shape;1423;p9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24" name="Google Shape;1424;p91"/>
          <p:cNvGrpSpPr/>
          <p:nvPr/>
        </p:nvGrpSpPr>
        <p:grpSpPr>
          <a:xfrm rot="10800000">
            <a:off x="5155451" y="635238"/>
            <a:ext cx="647230" cy="207152"/>
            <a:chOff x="6981351" y="2582883"/>
            <a:chExt cx="1758300" cy="376845"/>
          </a:xfrm>
        </p:grpSpPr>
        <p:sp>
          <p:nvSpPr>
            <p:cNvPr id="1425" name="Google Shape;1425;p91"/>
            <p:cNvSpPr/>
            <p:nvPr/>
          </p:nvSpPr>
          <p:spPr>
            <a:xfrm rot="10800000">
              <a:off x="6981351" y="2639029"/>
              <a:ext cx="1758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11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6" name="Google Shape;1426;p9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27" name="Google Shape;1427;p91"/>
          <p:cNvGrpSpPr/>
          <p:nvPr/>
        </p:nvGrpSpPr>
        <p:grpSpPr>
          <a:xfrm flipH="1" rot="-5400000">
            <a:off x="5665928" y="3060453"/>
            <a:ext cx="405720" cy="606938"/>
            <a:chOff x="7309296" y="2582883"/>
            <a:chExt cx="1102200" cy="1104126"/>
          </a:xfrm>
        </p:grpSpPr>
        <p:sp>
          <p:nvSpPr>
            <p:cNvPr id="1428" name="Google Shape;1428;p91"/>
            <p:cNvSpPr/>
            <p:nvPr/>
          </p:nvSpPr>
          <p:spPr>
            <a:xfrm rot="-5400000">
              <a:off x="7332369" y="2919309"/>
              <a:ext cx="10563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11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9" name="Google Shape;1429;p9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30" name="Google Shape;1430;p91"/>
          <p:cNvSpPr txBox="1"/>
          <p:nvPr/>
        </p:nvSpPr>
        <p:spPr>
          <a:xfrm>
            <a:off x="6246149" y="686525"/>
            <a:ext cx="259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arc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length of semicircle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1" name="Google Shape;1431;p91"/>
          <p:cNvSpPr txBox="1"/>
          <p:nvPr/>
        </p:nvSpPr>
        <p:spPr>
          <a:xfrm>
            <a:off x="6246149" y="2022850"/>
            <a:ext cx="259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arc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length of other semicircle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2" name="Google Shape;1432;p91"/>
          <p:cNvSpPr txBox="1"/>
          <p:nvPr/>
        </p:nvSpPr>
        <p:spPr>
          <a:xfrm>
            <a:off x="7082244" y="2610457"/>
            <a:ext cx="75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11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3" name="Google Shape;1433;p91"/>
          <p:cNvSpPr txBox="1"/>
          <p:nvPr/>
        </p:nvSpPr>
        <p:spPr>
          <a:xfrm>
            <a:off x="6450149" y="3626075"/>
            <a:ext cx="224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perimeter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4" name="Google Shape;1434;p91"/>
          <p:cNvSpPr txBox="1"/>
          <p:nvPr/>
        </p:nvSpPr>
        <p:spPr>
          <a:xfrm>
            <a:off x="6309595" y="3933868"/>
            <a:ext cx="252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22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5" name="Google Shape;1435;p91"/>
          <p:cNvPicPr preferRelativeResize="0"/>
          <p:nvPr/>
        </p:nvPicPr>
        <p:blipFill rotWithShape="1">
          <a:blip r:embed="rId4">
            <a:alphaModFix/>
          </a:blip>
          <a:srcRect b="2590" l="68393" r="0" t="-2590"/>
          <a:stretch/>
        </p:blipFill>
        <p:spPr>
          <a:xfrm>
            <a:off x="315942" y="747950"/>
            <a:ext cx="888714" cy="2858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6" name="Google Shape;1436;p91"/>
          <p:cNvGrpSpPr/>
          <p:nvPr/>
        </p:nvGrpSpPr>
        <p:grpSpPr>
          <a:xfrm>
            <a:off x="352981" y="2558025"/>
            <a:ext cx="815848" cy="207149"/>
            <a:chOff x="7309296" y="2582883"/>
            <a:chExt cx="1102200" cy="376840"/>
          </a:xfrm>
        </p:grpSpPr>
        <p:sp>
          <p:nvSpPr>
            <p:cNvPr id="1437" name="Google Shape;1437;p91"/>
            <p:cNvSpPr/>
            <p:nvPr/>
          </p:nvSpPr>
          <p:spPr>
            <a:xfrm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38" name="Google Shape;1438;p9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39" name="Google Shape;1439;p91"/>
          <p:cNvGrpSpPr/>
          <p:nvPr/>
        </p:nvGrpSpPr>
        <p:grpSpPr>
          <a:xfrm rot="5400000">
            <a:off x="146262" y="1669958"/>
            <a:ext cx="815848" cy="207149"/>
            <a:chOff x="7309296" y="2582883"/>
            <a:chExt cx="1102200" cy="376840"/>
          </a:xfrm>
        </p:grpSpPr>
        <p:sp>
          <p:nvSpPr>
            <p:cNvPr id="1440" name="Google Shape;1440;p91"/>
            <p:cNvSpPr/>
            <p:nvPr/>
          </p:nvSpPr>
          <p:spPr>
            <a:xfrm>
              <a:off x="7410388" y="2639024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1" name="Google Shape;1441;p9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42" name="Google Shape;1442;p91"/>
          <p:cNvGrpSpPr/>
          <p:nvPr/>
        </p:nvGrpSpPr>
        <p:grpSpPr>
          <a:xfrm rot="10800000">
            <a:off x="592501" y="605159"/>
            <a:ext cx="647230" cy="207152"/>
            <a:chOff x="6981351" y="2582883"/>
            <a:chExt cx="1758300" cy="376845"/>
          </a:xfrm>
        </p:grpSpPr>
        <p:sp>
          <p:nvSpPr>
            <p:cNvPr id="1443" name="Google Shape;1443;p91"/>
            <p:cNvSpPr/>
            <p:nvPr/>
          </p:nvSpPr>
          <p:spPr>
            <a:xfrm rot="10800000">
              <a:off x="6981351" y="2639029"/>
              <a:ext cx="1758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4" name="Google Shape;1444;p9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45" name="Google Shape;1445;p91"/>
          <p:cNvGrpSpPr/>
          <p:nvPr/>
        </p:nvGrpSpPr>
        <p:grpSpPr>
          <a:xfrm flipH="1" rot="-5400000">
            <a:off x="1102978" y="3060453"/>
            <a:ext cx="405720" cy="606938"/>
            <a:chOff x="7309296" y="2582883"/>
            <a:chExt cx="1102200" cy="1104126"/>
          </a:xfrm>
        </p:grpSpPr>
        <p:sp>
          <p:nvSpPr>
            <p:cNvPr id="1446" name="Google Shape;1446;p91"/>
            <p:cNvSpPr/>
            <p:nvPr/>
          </p:nvSpPr>
          <p:spPr>
            <a:xfrm rot="-5400000">
              <a:off x="7332369" y="2919309"/>
              <a:ext cx="10563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7" name="Google Shape;1447;p9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sp>
        <p:nvSpPr>
          <p:cNvPr id="1453" name="Google Shape;1453;p92"/>
          <p:cNvSpPr txBox="1"/>
          <p:nvPr/>
        </p:nvSpPr>
        <p:spPr>
          <a:xfrm>
            <a:off x="371150" y="744750"/>
            <a:ext cx="305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are component lengths of this composite shape?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4" name="Google Shape;1454;p92"/>
          <p:cNvPicPr preferRelativeResize="0"/>
          <p:nvPr/>
        </p:nvPicPr>
        <p:blipFill rotWithShape="1">
          <a:blip r:embed="rId3">
            <a:alphaModFix/>
          </a:blip>
          <a:srcRect b="84118" l="770" r="63566" t="0"/>
          <a:stretch/>
        </p:blipFill>
        <p:spPr>
          <a:xfrm>
            <a:off x="4419750" y="768250"/>
            <a:ext cx="1354650" cy="2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p92"/>
          <p:cNvPicPr preferRelativeResize="0"/>
          <p:nvPr/>
        </p:nvPicPr>
        <p:blipFill rotWithShape="1">
          <a:blip r:embed="rId3">
            <a:alphaModFix/>
          </a:blip>
          <a:srcRect b="84118" l="770" r="63566" t="0"/>
          <a:stretch/>
        </p:blipFill>
        <p:spPr>
          <a:xfrm>
            <a:off x="6698700" y="768250"/>
            <a:ext cx="1354650" cy="2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p92"/>
          <p:cNvPicPr preferRelativeResize="0"/>
          <p:nvPr/>
        </p:nvPicPr>
        <p:blipFill rotWithShape="1">
          <a:blip r:embed="rId3">
            <a:alphaModFix/>
          </a:blip>
          <a:srcRect b="44317" l="-1237" r="95742" t="27264"/>
          <a:stretch/>
        </p:blipFill>
        <p:spPr>
          <a:xfrm>
            <a:off x="4992725" y="1685425"/>
            <a:ext cx="208701" cy="4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7" name="Google Shape;1457;p92"/>
          <p:cNvPicPr preferRelativeResize="0"/>
          <p:nvPr/>
        </p:nvPicPr>
        <p:blipFill rotWithShape="1">
          <a:blip r:embed="rId3">
            <a:alphaModFix/>
          </a:blip>
          <a:srcRect b="-1835" l="-1235" r="62492" t="54412"/>
          <a:stretch/>
        </p:blipFill>
        <p:spPr>
          <a:xfrm>
            <a:off x="4462075" y="2547600"/>
            <a:ext cx="1471650" cy="7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92"/>
          <p:cNvPicPr preferRelativeResize="0"/>
          <p:nvPr/>
        </p:nvPicPr>
        <p:blipFill rotWithShape="1">
          <a:blip r:embed="rId3">
            <a:alphaModFix/>
          </a:blip>
          <a:srcRect b="45295" l="33884" r="53112" t="26286"/>
          <a:stretch/>
        </p:blipFill>
        <p:spPr>
          <a:xfrm>
            <a:off x="4508475" y="3856762"/>
            <a:ext cx="493900" cy="4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9" name="Google Shape;1459;p92"/>
          <p:cNvPicPr preferRelativeResize="0"/>
          <p:nvPr/>
        </p:nvPicPr>
        <p:blipFill rotWithShape="1">
          <a:blip r:embed="rId3">
            <a:alphaModFix/>
          </a:blip>
          <a:srcRect b="45295" l="33884" r="53112" t="26286"/>
          <a:stretch/>
        </p:blipFill>
        <p:spPr>
          <a:xfrm>
            <a:off x="6965300" y="3856762"/>
            <a:ext cx="493900" cy="469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0" name="Google Shape;1460;p92"/>
          <p:cNvGrpSpPr/>
          <p:nvPr/>
        </p:nvGrpSpPr>
        <p:grpSpPr>
          <a:xfrm>
            <a:off x="3982537" y="730651"/>
            <a:ext cx="337459" cy="337459"/>
            <a:chOff x="1020916" y="1442088"/>
            <a:chExt cx="457200" cy="457200"/>
          </a:xfrm>
        </p:grpSpPr>
        <p:pic>
          <p:nvPicPr>
            <p:cNvPr id="1461" name="Google Shape;146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2" name="Google Shape;146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3" name="Google Shape;1463;p92"/>
          <p:cNvGrpSpPr/>
          <p:nvPr/>
        </p:nvGrpSpPr>
        <p:grpSpPr>
          <a:xfrm>
            <a:off x="8157437" y="730651"/>
            <a:ext cx="337459" cy="337459"/>
            <a:chOff x="1020916" y="1442088"/>
            <a:chExt cx="457200" cy="457200"/>
          </a:xfrm>
        </p:grpSpPr>
        <p:pic>
          <p:nvPicPr>
            <p:cNvPr id="1464" name="Google Shape;146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5" name="Google Shape;146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6" name="Google Shape;1466;p92"/>
          <p:cNvGrpSpPr/>
          <p:nvPr/>
        </p:nvGrpSpPr>
        <p:grpSpPr>
          <a:xfrm>
            <a:off x="4655275" y="1751338"/>
            <a:ext cx="337459" cy="337459"/>
            <a:chOff x="1020916" y="1442088"/>
            <a:chExt cx="457200" cy="457200"/>
          </a:xfrm>
        </p:grpSpPr>
        <p:pic>
          <p:nvPicPr>
            <p:cNvPr id="1467" name="Google Shape;1467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8" name="Google Shape;1468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69" name="Google Shape;1469;p92"/>
          <p:cNvPicPr preferRelativeResize="0"/>
          <p:nvPr/>
        </p:nvPicPr>
        <p:blipFill rotWithShape="1">
          <a:blip r:embed="rId3">
            <a:alphaModFix/>
          </a:blip>
          <a:srcRect b="44317" l="-1237" r="95742" t="27264"/>
          <a:stretch/>
        </p:blipFill>
        <p:spPr>
          <a:xfrm flipH="1">
            <a:off x="7272275" y="1685425"/>
            <a:ext cx="208701" cy="469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0" name="Google Shape;1470;p92"/>
          <p:cNvGrpSpPr/>
          <p:nvPr/>
        </p:nvGrpSpPr>
        <p:grpSpPr>
          <a:xfrm flipH="1">
            <a:off x="7480966" y="1751338"/>
            <a:ext cx="337459" cy="337459"/>
            <a:chOff x="1020916" y="1442088"/>
            <a:chExt cx="457200" cy="457200"/>
          </a:xfrm>
        </p:grpSpPr>
        <p:pic>
          <p:nvPicPr>
            <p:cNvPr id="1471" name="Google Shape;147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2" name="Google Shape;147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3" name="Google Shape;1473;p92"/>
          <p:cNvGrpSpPr/>
          <p:nvPr/>
        </p:nvGrpSpPr>
        <p:grpSpPr>
          <a:xfrm>
            <a:off x="4151275" y="2605063"/>
            <a:ext cx="337459" cy="337459"/>
            <a:chOff x="1020916" y="1442088"/>
            <a:chExt cx="457200" cy="457200"/>
          </a:xfrm>
        </p:grpSpPr>
        <p:pic>
          <p:nvPicPr>
            <p:cNvPr id="1474" name="Google Shape;147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5" name="Google Shape;147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76" name="Google Shape;1476;p92"/>
          <p:cNvPicPr preferRelativeResize="0"/>
          <p:nvPr/>
        </p:nvPicPr>
        <p:blipFill rotWithShape="1">
          <a:blip r:embed="rId3">
            <a:alphaModFix/>
          </a:blip>
          <a:srcRect b="-1835" l="-1235" r="62492" t="54412"/>
          <a:stretch/>
        </p:blipFill>
        <p:spPr>
          <a:xfrm flipH="1">
            <a:off x="6931175" y="2547600"/>
            <a:ext cx="1471650" cy="783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7" name="Google Shape;1477;p92"/>
          <p:cNvGrpSpPr/>
          <p:nvPr/>
        </p:nvGrpSpPr>
        <p:grpSpPr>
          <a:xfrm flipH="1">
            <a:off x="8376165" y="2605063"/>
            <a:ext cx="337459" cy="337459"/>
            <a:chOff x="1020916" y="1442088"/>
            <a:chExt cx="457200" cy="457200"/>
          </a:xfrm>
        </p:grpSpPr>
        <p:pic>
          <p:nvPicPr>
            <p:cNvPr id="1478" name="Google Shape;147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9" name="Google Shape;147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0" name="Google Shape;1480;p92"/>
          <p:cNvGrpSpPr/>
          <p:nvPr/>
        </p:nvGrpSpPr>
        <p:grpSpPr>
          <a:xfrm>
            <a:off x="4151275" y="3779988"/>
            <a:ext cx="337459" cy="337459"/>
            <a:chOff x="1020916" y="1442088"/>
            <a:chExt cx="457200" cy="457200"/>
          </a:xfrm>
        </p:grpSpPr>
        <p:pic>
          <p:nvPicPr>
            <p:cNvPr id="1481" name="Google Shape;148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2" name="Google Shape;148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3" name="Google Shape;1483;p92"/>
          <p:cNvGrpSpPr/>
          <p:nvPr/>
        </p:nvGrpSpPr>
        <p:grpSpPr>
          <a:xfrm>
            <a:off x="6627850" y="3779988"/>
            <a:ext cx="337459" cy="337459"/>
            <a:chOff x="1020916" y="1442088"/>
            <a:chExt cx="457200" cy="457200"/>
          </a:xfrm>
        </p:grpSpPr>
        <p:pic>
          <p:nvPicPr>
            <p:cNvPr id="1484" name="Google Shape;148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5" name="Google Shape;148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6" name="Google Shape;1486;p92"/>
          <p:cNvGrpSpPr/>
          <p:nvPr/>
        </p:nvGrpSpPr>
        <p:grpSpPr>
          <a:xfrm flipH="1" rot="10800000">
            <a:off x="4443098" y="1033447"/>
            <a:ext cx="1331127" cy="262263"/>
            <a:chOff x="7309296" y="2236753"/>
            <a:chExt cx="1102200" cy="346130"/>
          </a:xfrm>
        </p:grpSpPr>
        <p:sp>
          <p:nvSpPr>
            <p:cNvPr id="1487" name="Google Shape;1487;p92"/>
            <p:cNvSpPr/>
            <p:nvPr/>
          </p:nvSpPr>
          <p:spPr>
            <a:xfrm rot="10800000"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88" name="Google Shape;1488;p92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89" name="Google Shape;1489;p92"/>
          <p:cNvGrpSpPr/>
          <p:nvPr/>
        </p:nvGrpSpPr>
        <p:grpSpPr>
          <a:xfrm flipH="1" rot="10800000">
            <a:off x="6710460" y="1033447"/>
            <a:ext cx="1331127" cy="262263"/>
            <a:chOff x="7309296" y="2236753"/>
            <a:chExt cx="1102200" cy="346130"/>
          </a:xfrm>
        </p:grpSpPr>
        <p:sp>
          <p:nvSpPr>
            <p:cNvPr id="1490" name="Google Shape;1490;p92"/>
            <p:cNvSpPr/>
            <p:nvPr/>
          </p:nvSpPr>
          <p:spPr>
            <a:xfrm rot="10800000"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3.5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91" name="Google Shape;1491;p92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92" name="Google Shape;1492;p92"/>
          <p:cNvGrpSpPr/>
          <p:nvPr/>
        </p:nvGrpSpPr>
        <p:grpSpPr>
          <a:xfrm rot="-5400000">
            <a:off x="6751751" y="1556461"/>
            <a:ext cx="436912" cy="733529"/>
            <a:chOff x="7309296" y="1700168"/>
            <a:chExt cx="1102200" cy="968100"/>
          </a:xfrm>
        </p:grpSpPr>
        <p:sp>
          <p:nvSpPr>
            <p:cNvPr id="1493" name="Google Shape;1493;p92"/>
            <p:cNvSpPr/>
            <p:nvPr/>
          </p:nvSpPr>
          <p:spPr>
            <a:xfrm rot="5400000">
              <a:off x="7376540" y="1877768"/>
              <a:ext cx="968100" cy="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94" name="Google Shape;1494;p92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95" name="Google Shape;1495;p92"/>
          <p:cNvGrpSpPr/>
          <p:nvPr/>
        </p:nvGrpSpPr>
        <p:grpSpPr>
          <a:xfrm rot="5400000">
            <a:off x="5356562" y="1550579"/>
            <a:ext cx="436912" cy="745065"/>
            <a:chOff x="7309296" y="1599559"/>
            <a:chExt cx="1102200" cy="983324"/>
          </a:xfrm>
        </p:grpSpPr>
        <p:sp>
          <p:nvSpPr>
            <p:cNvPr id="1496" name="Google Shape;1496;p92"/>
            <p:cNvSpPr/>
            <p:nvPr/>
          </p:nvSpPr>
          <p:spPr>
            <a:xfrm rot="-5400000">
              <a:off x="7376437" y="1777159"/>
              <a:ext cx="968100" cy="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3.5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97" name="Google Shape;1497;p92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98" name="Google Shape;1498;p92"/>
          <p:cNvGrpSpPr/>
          <p:nvPr/>
        </p:nvGrpSpPr>
        <p:grpSpPr>
          <a:xfrm flipH="1" rot="10800000">
            <a:off x="5235668" y="3296906"/>
            <a:ext cx="667823" cy="262263"/>
            <a:chOff x="7309296" y="2236753"/>
            <a:chExt cx="1102200" cy="346130"/>
          </a:xfrm>
        </p:grpSpPr>
        <p:sp>
          <p:nvSpPr>
            <p:cNvPr id="1499" name="Google Shape;1499;p92"/>
            <p:cNvSpPr/>
            <p:nvPr/>
          </p:nvSpPr>
          <p:spPr>
            <a:xfrm rot="10800000"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0" name="Google Shape;1500;p92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01" name="Google Shape;1501;p92"/>
          <p:cNvGrpSpPr/>
          <p:nvPr/>
        </p:nvGrpSpPr>
        <p:grpSpPr>
          <a:xfrm flipH="1" rot="10800000">
            <a:off x="7525672" y="3296906"/>
            <a:ext cx="850502" cy="262264"/>
            <a:chOff x="7158699" y="2236752"/>
            <a:chExt cx="1403700" cy="346131"/>
          </a:xfrm>
        </p:grpSpPr>
        <p:sp>
          <p:nvSpPr>
            <p:cNvPr id="1502" name="Google Shape;1502;p92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3.5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3" name="Google Shape;1503;p92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04" name="Google Shape;1504;p92"/>
          <p:cNvGrpSpPr/>
          <p:nvPr/>
        </p:nvGrpSpPr>
        <p:grpSpPr>
          <a:xfrm flipH="1" rot="10800000">
            <a:off x="4431298" y="4365692"/>
            <a:ext cx="667823" cy="262252"/>
            <a:chOff x="7034615" y="2236767"/>
            <a:chExt cx="1651800" cy="346116"/>
          </a:xfrm>
        </p:grpSpPr>
        <p:sp>
          <p:nvSpPr>
            <p:cNvPr id="1505" name="Google Shape;1505;p92"/>
            <p:cNvSpPr/>
            <p:nvPr/>
          </p:nvSpPr>
          <p:spPr>
            <a:xfrm rot="10800000">
              <a:off x="7034615" y="2236767"/>
              <a:ext cx="1651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6" name="Google Shape;1506;p92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07" name="Google Shape;1507;p92"/>
          <p:cNvGrpSpPr/>
          <p:nvPr/>
        </p:nvGrpSpPr>
        <p:grpSpPr>
          <a:xfrm flipH="1" rot="10800000">
            <a:off x="6868984" y="4365692"/>
            <a:ext cx="667823" cy="262252"/>
            <a:chOff x="7034615" y="2236767"/>
            <a:chExt cx="1651800" cy="346116"/>
          </a:xfrm>
        </p:grpSpPr>
        <p:sp>
          <p:nvSpPr>
            <p:cNvPr id="1508" name="Google Shape;1508;p92"/>
            <p:cNvSpPr/>
            <p:nvPr/>
          </p:nvSpPr>
          <p:spPr>
            <a:xfrm rot="10800000">
              <a:off x="7034615" y="2236767"/>
              <a:ext cx="1651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3.5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9" name="Google Shape;1509;p92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510" name="Google Shape;151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3271" y="108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1" name="Google Shape;151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8421" y="1712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2" name="Google Shape;1512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896" y="29563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3" name="Google Shape;151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5271" y="373917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4" name="Google Shape;1514;p92"/>
          <p:cNvGrpSpPr/>
          <p:nvPr/>
        </p:nvGrpSpPr>
        <p:grpSpPr>
          <a:xfrm flipH="1" rot="10800000">
            <a:off x="888801" y="3339531"/>
            <a:ext cx="1281528" cy="262263"/>
            <a:chOff x="7309296" y="2236753"/>
            <a:chExt cx="1102200" cy="346130"/>
          </a:xfrm>
        </p:grpSpPr>
        <p:sp>
          <p:nvSpPr>
            <p:cNvPr id="1515" name="Google Shape;1515;p92"/>
            <p:cNvSpPr/>
            <p:nvPr/>
          </p:nvSpPr>
          <p:spPr>
            <a:xfrm rot="10800000"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16" name="Google Shape;1516;p92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517" name="Google Shape;1517;p92"/>
          <p:cNvPicPr preferRelativeResize="0"/>
          <p:nvPr/>
        </p:nvPicPr>
        <p:blipFill rotWithShape="1">
          <a:blip r:embed="rId3">
            <a:alphaModFix/>
          </a:blip>
          <a:srcRect b="28269" l="53036" r="0" t="0"/>
          <a:stretch/>
        </p:blipFill>
        <p:spPr>
          <a:xfrm>
            <a:off x="792830" y="2179125"/>
            <a:ext cx="1783950" cy="1184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8" name="Google Shape;1518;p92"/>
          <p:cNvGrpSpPr/>
          <p:nvPr/>
        </p:nvGrpSpPr>
        <p:grpSpPr>
          <a:xfrm rot="-5400000">
            <a:off x="264386" y="2935115"/>
            <a:ext cx="733499" cy="271182"/>
            <a:chOff x="6935339" y="2224982"/>
            <a:chExt cx="1850400" cy="357901"/>
          </a:xfrm>
        </p:grpSpPr>
        <p:sp>
          <p:nvSpPr>
            <p:cNvPr id="1519" name="Google Shape;1519;p92"/>
            <p:cNvSpPr/>
            <p:nvPr/>
          </p:nvSpPr>
          <p:spPr>
            <a:xfrm>
              <a:off x="6935339" y="2224982"/>
              <a:ext cx="1850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20" name="Google Shape;1520;p92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sp>
        <p:nvSpPr>
          <p:cNvPr id="1526" name="Google Shape;1526;p93"/>
          <p:cNvSpPr txBox="1"/>
          <p:nvPr/>
        </p:nvSpPr>
        <p:spPr>
          <a:xfrm>
            <a:off x="371150" y="744750"/>
            <a:ext cx="30522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each component, write down how many copies there are on the composite shape.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7" name="Google Shape;1527;p93"/>
          <p:cNvGrpSpPr/>
          <p:nvPr/>
        </p:nvGrpSpPr>
        <p:grpSpPr>
          <a:xfrm flipH="1" rot="10800000">
            <a:off x="888801" y="3339531"/>
            <a:ext cx="1281528" cy="262263"/>
            <a:chOff x="7309296" y="2236753"/>
            <a:chExt cx="1102200" cy="346130"/>
          </a:xfrm>
        </p:grpSpPr>
        <p:sp>
          <p:nvSpPr>
            <p:cNvPr id="1528" name="Google Shape;1528;p93"/>
            <p:cNvSpPr/>
            <p:nvPr/>
          </p:nvSpPr>
          <p:spPr>
            <a:xfrm rot="10800000"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29" name="Google Shape;1529;p93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530" name="Google Shape;1530;p93"/>
          <p:cNvPicPr preferRelativeResize="0"/>
          <p:nvPr/>
        </p:nvPicPr>
        <p:blipFill rotWithShape="1">
          <a:blip r:embed="rId3">
            <a:alphaModFix/>
          </a:blip>
          <a:srcRect b="28269" l="53036" r="0" t="0"/>
          <a:stretch/>
        </p:blipFill>
        <p:spPr>
          <a:xfrm>
            <a:off x="792830" y="2179125"/>
            <a:ext cx="1783950" cy="1184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1" name="Google Shape;1531;p93"/>
          <p:cNvPicPr preferRelativeResize="0"/>
          <p:nvPr/>
        </p:nvPicPr>
        <p:blipFill rotWithShape="1">
          <a:blip r:embed="rId3">
            <a:alphaModFix/>
          </a:blip>
          <a:srcRect b="84118" l="770" r="63566" t="0"/>
          <a:stretch/>
        </p:blipFill>
        <p:spPr>
          <a:xfrm>
            <a:off x="4419750" y="692050"/>
            <a:ext cx="1354650" cy="2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93"/>
          <p:cNvPicPr preferRelativeResize="0"/>
          <p:nvPr/>
        </p:nvPicPr>
        <p:blipFill rotWithShape="1">
          <a:blip r:embed="rId3">
            <a:alphaModFix/>
          </a:blip>
          <a:srcRect b="45295" l="33884" r="53112" t="26286"/>
          <a:stretch/>
        </p:blipFill>
        <p:spPr>
          <a:xfrm>
            <a:off x="4776575" y="3934412"/>
            <a:ext cx="493900" cy="4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93"/>
          <p:cNvPicPr preferRelativeResize="0"/>
          <p:nvPr/>
        </p:nvPicPr>
        <p:blipFill rotWithShape="1">
          <a:blip r:embed="rId3">
            <a:alphaModFix/>
          </a:blip>
          <a:srcRect b="44317" l="-1237" r="95742" t="27264"/>
          <a:stretch/>
        </p:blipFill>
        <p:spPr>
          <a:xfrm flipH="1">
            <a:off x="5111925" y="1620000"/>
            <a:ext cx="208701" cy="4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93"/>
          <p:cNvPicPr preferRelativeResize="0"/>
          <p:nvPr/>
        </p:nvPicPr>
        <p:blipFill rotWithShape="1">
          <a:blip r:embed="rId3">
            <a:alphaModFix/>
          </a:blip>
          <a:srcRect b="-1835" l="-1235" r="62492" t="54412"/>
          <a:stretch/>
        </p:blipFill>
        <p:spPr>
          <a:xfrm flipH="1">
            <a:off x="4419750" y="2571750"/>
            <a:ext cx="1471650" cy="783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5" name="Google Shape;1535;p93"/>
          <p:cNvGrpSpPr/>
          <p:nvPr/>
        </p:nvGrpSpPr>
        <p:grpSpPr>
          <a:xfrm flipH="1" rot="10800000">
            <a:off x="4443098" y="957247"/>
            <a:ext cx="1331127" cy="262263"/>
            <a:chOff x="7309296" y="2236753"/>
            <a:chExt cx="1102200" cy="346130"/>
          </a:xfrm>
        </p:grpSpPr>
        <p:sp>
          <p:nvSpPr>
            <p:cNvPr id="1536" name="Google Shape;1536;p93"/>
            <p:cNvSpPr/>
            <p:nvPr/>
          </p:nvSpPr>
          <p:spPr>
            <a:xfrm rot="10800000"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37" name="Google Shape;1537;p93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38" name="Google Shape;1538;p93"/>
          <p:cNvGrpSpPr/>
          <p:nvPr/>
        </p:nvGrpSpPr>
        <p:grpSpPr>
          <a:xfrm rot="-5400000">
            <a:off x="264386" y="2935115"/>
            <a:ext cx="733499" cy="271182"/>
            <a:chOff x="6935339" y="2224982"/>
            <a:chExt cx="1850400" cy="357901"/>
          </a:xfrm>
        </p:grpSpPr>
        <p:sp>
          <p:nvSpPr>
            <p:cNvPr id="1539" name="Google Shape;1539;p93"/>
            <p:cNvSpPr/>
            <p:nvPr/>
          </p:nvSpPr>
          <p:spPr>
            <a:xfrm>
              <a:off x="6935339" y="2224982"/>
              <a:ext cx="1850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0" name="Google Shape;1540;p93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41" name="Google Shape;1541;p93"/>
          <p:cNvGrpSpPr/>
          <p:nvPr/>
        </p:nvGrpSpPr>
        <p:grpSpPr>
          <a:xfrm rot="-5400000">
            <a:off x="4591401" y="1491036"/>
            <a:ext cx="436912" cy="733529"/>
            <a:chOff x="7309296" y="1700168"/>
            <a:chExt cx="1102200" cy="968100"/>
          </a:xfrm>
        </p:grpSpPr>
        <p:sp>
          <p:nvSpPr>
            <p:cNvPr id="1542" name="Google Shape;1542;p93"/>
            <p:cNvSpPr/>
            <p:nvPr/>
          </p:nvSpPr>
          <p:spPr>
            <a:xfrm rot="5400000">
              <a:off x="7376540" y="1877768"/>
              <a:ext cx="968100" cy="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3" name="Google Shape;1543;p93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44" name="Google Shape;1544;p93"/>
          <p:cNvGrpSpPr/>
          <p:nvPr/>
        </p:nvGrpSpPr>
        <p:grpSpPr>
          <a:xfrm flipH="1" rot="10800000">
            <a:off x="5014247" y="3321056"/>
            <a:ext cx="850502" cy="262264"/>
            <a:chOff x="7158699" y="2236752"/>
            <a:chExt cx="1403700" cy="346131"/>
          </a:xfrm>
        </p:grpSpPr>
        <p:sp>
          <p:nvSpPr>
            <p:cNvPr id="1545" name="Google Shape;1545;p93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3.5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6" name="Google Shape;1546;p93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47" name="Google Shape;1547;p93"/>
          <p:cNvGrpSpPr/>
          <p:nvPr/>
        </p:nvGrpSpPr>
        <p:grpSpPr>
          <a:xfrm flipH="1" rot="10800000">
            <a:off x="4699398" y="4443342"/>
            <a:ext cx="667823" cy="262252"/>
            <a:chOff x="7034615" y="2236767"/>
            <a:chExt cx="1651800" cy="346116"/>
          </a:xfrm>
        </p:grpSpPr>
        <p:sp>
          <p:nvSpPr>
            <p:cNvPr id="1548" name="Google Shape;1548;p93"/>
            <p:cNvSpPr/>
            <p:nvPr/>
          </p:nvSpPr>
          <p:spPr>
            <a:xfrm rot="10800000">
              <a:off x="7034615" y="2236767"/>
              <a:ext cx="1651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9" name="Google Shape;1549;p93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50" name="Google Shape;1550;p93"/>
          <p:cNvGrpSpPr/>
          <p:nvPr/>
        </p:nvGrpSpPr>
        <p:grpSpPr>
          <a:xfrm>
            <a:off x="3982537" y="730651"/>
            <a:ext cx="337459" cy="337459"/>
            <a:chOff x="1020916" y="1442088"/>
            <a:chExt cx="457200" cy="457200"/>
          </a:xfrm>
        </p:grpSpPr>
        <p:pic>
          <p:nvPicPr>
            <p:cNvPr id="1551" name="Google Shape;155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2" name="Google Shape;1552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3" name="Google Shape;1553;p93"/>
          <p:cNvGrpSpPr/>
          <p:nvPr/>
        </p:nvGrpSpPr>
        <p:grpSpPr>
          <a:xfrm>
            <a:off x="3982537" y="1689076"/>
            <a:ext cx="337459" cy="337459"/>
            <a:chOff x="1020916" y="1442088"/>
            <a:chExt cx="457200" cy="457200"/>
          </a:xfrm>
        </p:grpSpPr>
        <p:pic>
          <p:nvPicPr>
            <p:cNvPr id="1554" name="Google Shape;1554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5" name="Google Shape;1555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6" name="Google Shape;1556;p93"/>
          <p:cNvGrpSpPr/>
          <p:nvPr/>
        </p:nvGrpSpPr>
        <p:grpSpPr>
          <a:xfrm>
            <a:off x="3982537" y="2902551"/>
            <a:ext cx="337459" cy="337459"/>
            <a:chOff x="1020916" y="1442088"/>
            <a:chExt cx="457200" cy="457200"/>
          </a:xfrm>
        </p:grpSpPr>
        <p:pic>
          <p:nvPicPr>
            <p:cNvPr id="1557" name="Google Shape;1557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8" name="Google Shape;155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9" name="Google Shape;1559;p93"/>
          <p:cNvGrpSpPr/>
          <p:nvPr/>
        </p:nvGrpSpPr>
        <p:grpSpPr>
          <a:xfrm>
            <a:off x="3982537" y="4000326"/>
            <a:ext cx="337459" cy="337459"/>
            <a:chOff x="1020916" y="1442088"/>
            <a:chExt cx="457200" cy="457200"/>
          </a:xfrm>
        </p:grpSpPr>
        <p:pic>
          <p:nvPicPr>
            <p:cNvPr id="1560" name="Google Shape;156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1" name="Google Shape;156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2" name="Google Shape;1562;p93"/>
          <p:cNvSpPr txBox="1"/>
          <p:nvPr/>
        </p:nvSpPr>
        <p:spPr>
          <a:xfrm>
            <a:off x="6015600" y="760775"/>
            <a:ext cx="305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copy (bottom)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3" name="Google Shape;1563;p93"/>
          <p:cNvSpPr txBox="1"/>
          <p:nvPr/>
        </p:nvSpPr>
        <p:spPr>
          <a:xfrm>
            <a:off x="6015600" y="1716038"/>
            <a:ext cx="3052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copies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(left and bottom right)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4" name="Google Shape;1564;p93"/>
          <p:cNvSpPr txBox="1"/>
          <p:nvPr/>
        </p:nvSpPr>
        <p:spPr>
          <a:xfrm>
            <a:off x="6015600" y="2932675"/>
            <a:ext cx="305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copy (top)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5" name="Google Shape;1565;p93"/>
          <p:cNvSpPr txBox="1"/>
          <p:nvPr/>
        </p:nvSpPr>
        <p:spPr>
          <a:xfrm>
            <a:off x="6015600" y="4126500"/>
            <a:ext cx="305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copy (right)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sp>
        <p:nvSpPr>
          <p:cNvPr id="1571" name="Google Shape;1571;p94"/>
          <p:cNvSpPr txBox="1"/>
          <p:nvPr/>
        </p:nvSpPr>
        <p:spPr>
          <a:xfrm>
            <a:off x="371150" y="744750"/>
            <a:ext cx="3052200" cy="1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Hence, calculate the perimeter of this shape, leaving your answer in terms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2" name="Google Shape;1572;p94"/>
          <p:cNvGrpSpPr/>
          <p:nvPr/>
        </p:nvGrpSpPr>
        <p:grpSpPr>
          <a:xfrm flipH="1" rot="10800000">
            <a:off x="888801" y="3339531"/>
            <a:ext cx="1281528" cy="262263"/>
            <a:chOff x="7309296" y="2236753"/>
            <a:chExt cx="1102200" cy="346130"/>
          </a:xfrm>
        </p:grpSpPr>
        <p:sp>
          <p:nvSpPr>
            <p:cNvPr id="1573" name="Google Shape;1573;p94"/>
            <p:cNvSpPr/>
            <p:nvPr/>
          </p:nvSpPr>
          <p:spPr>
            <a:xfrm rot="10800000"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4" name="Google Shape;1574;p94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575" name="Google Shape;1575;p94"/>
          <p:cNvPicPr preferRelativeResize="0"/>
          <p:nvPr/>
        </p:nvPicPr>
        <p:blipFill rotWithShape="1">
          <a:blip r:embed="rId3">
            <a:alphaModFix/>
          </a:blip>
          <a:srcRect b="28269" l="53036" r="0" t="0"/>
          <a:stretch/>
        </p:blipFill>
        <p:spPr>
          <a:xfrm>
            <a:off x="792830" y="2179125"/>
            <a:ext cx="1783950" cy="1184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6" name="Google Shape;1576;p94"/>
          <p:cNvGrpSpPr/>
          <p:nvPr/>
        </p:nvGrpSpPr>
        <p:grpSpPr>
          <a:xfrm rot="-5400000">
            <a:off x="264386" y="2935115"/>
            <a:ext cx="733499" cy="271182"/>
            <a:chOff x="6935339" y="2224982"/>
            <a:chExt cx="1850400" cy="357901"/>
          </a:xfrm>
        </p:grpSpPr>
        <p:sp>
          <p:nvSpPr>
            <p:cNvPr id="1577" name="Google Shape;1577;p94"/>
            <p:cNvSpPr/>
            <p:nvPr/>
          </p:nvSpPr>
          <p:spPr>
            <a:xfrm>
              <a:off x="6935339" y="2224982"/>
              <a:ext cx="1850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8" name="Google Shape;1578;p94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79" name="Google Shape;1579;p94"/>
          <p:cNvSpPr txBox="1"/>
          <p:nvPr/>
        </p:nvSpPr>
        <p:spPr>
          <a:xfrm>
            <a:off x="5472300" y="1716038"/>
            <a:ext cx="305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2 copies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94"/>
          <p:cNvSpPr txBox="1"/>
          <p:nvPr/>
        </p:nvSpPr>
        <p:spPr>
          <a:xfrm>
            <a:off x="6178050" y="810000"/>
            <a:ext cx="85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 cm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1" name="Google Shape;1581;p94"/>
          <p:cNvSpPr txBox="1"/>
          <p:nvPr/>
        </p:nvSpPr>
        <p:spPr>
          <a:xfrm>
            <a:off x="6897725" y="1700738"/>
            <a:ext cx="85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cm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2" name="Google Shape;1582;p94"/>
          <p:cNvSpPr txBox="1"/>
          <p:nvPr/>
        </p:nvSpPr>
        <p:spPr>
          <a:xfrm>
            <a:off x="6044550" y="2879025"/>
            <a:ext cx="111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3.5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3" name="Google Shape;1583;p94"/>
          <p:cNvSpPr txBox="1"/>
          <p:nvPr/>
        </p:nvSpPr>
        <p:spPr>
          <a:xfrm>
            <a:off x="5367225" y="3999700"/>
            <a:ext cx="111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4" name="Google Shape;1584;p94"/>
          <p:cNvSpPr txBox="1"/>
          <p:nvPr/>
        </p:nvSpPr>
        <p:spPr>
          <a:xfrm>
            <a:off x="888800" y="3822700"/>
            <a:ext cx="1837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otal perimeter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4.5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+ 11 cm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85" name="Google Shape;1585;p94"/>
          <p:cNvPicPr preferRelativeResize="0"/>
          <p:nvPr/>
        </p:nvPicPr>
        <p:blipFill rotWithShape="1">
          <a:blip r:embed="rId3">
            <a:alphaModFix/>
          </a:blip>
          <a:srcRect b="84118" l="770" r="63566" t="0"/>
          <a:stretch/>
        </p:blipFill>
        <p:spPr>
          <a:xfrm>
            <a:off x="4419750" y="692050"/>
            <a:ext cx="1354650" cy="2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6" name="Google Shape;1586;p94"/>
          <p:cNvPicPr preferRelativeResize="0"/>
          <p:nvPr/>
        </p:nvPicPr>
        <p:blipFill rotWithShape="1">
          <a:blip r:embed="rId3">
            <a:alphaModFix/>
          </a:blip>
          <a:srcRect b="45295" l="33884" r="53112" t="26286"/>
          <a:stretch/>
        </p:blipFill>
        <p:spPr>
          <a:xfrm>
            <a:off x="4776575" y="3934412"/>
            <a:ext cx="493900" cy="4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7" name="Google Shape;1587;p94"/>
          <p:cNvPicPr preferRelativeResize="0"/>
          <p:nvPr/>
        </p:nvPicPr>
        <p:blipFill rotWithShape="1">
          <a:blip r:embed="rId3">
            <a:alphaModFix/>
          </a:blip>
          <a:srcRect b="44317" l="-1237" r="95742" t="27264"/>
          <a:stretch/>
        </p:blipFill>
        <p:spPr>
          <a:xfrm flipH="1">
            <a:off x="5111925" y="1620000"/>
            <a:ext cx="208701" cy="4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8" name="Google Shape;1588;p94"/>
          <p:cNvPicPr preferRelativeResize="0"/>
          <p:nvPr/>
        </p:nvPicPr>
        <p:blipFill rotWithShape="1">
          <a:blip r:embed="rId3">
            <a:alphaModFix/>
          </a:blip>
          <a:srcRect b="-1835" l="-1235" r="62492" t="54412"/>
          <a:stretch/>
        </p:blipFill>
        <p:spPr>
          <a:xfrm flipH="1">
            <a:off x="4419750" y="2571750"/>
            <a:ext cx="1471650" cy="783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9" name="Google Shape;1589;p94"/>
          <p:cNvGrpSpPr/>
          <p:nvPr/>
        </p:nvGrpSpPr>
        <p:grpSpPr>
          <a:xfrm flipH="1" rot="10800000">
            <a:off x="4443098" y="957247"/>
            <a:ext cx="1331127" cy="262263"/>
            <a:chOff x="7309296" y="2236753"/>
            <a:chExt cx="1102200" cy="346130"/>
          </a:xfrm>
        </p:grpSpPr>
        <p:sp>
          <p:nvSpPr>
            <p:cNvPr id="1590" name="Google Shape;1590;p94"/>
            <p:cNvSpPr/>
            <p:nvPr/>
          </p:nvSpPr>
          <p:spPr>
            <a:xfrm rot="10800000">
              <a:off x="7410388" y="2236753"/>
              <a:ext cx="900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91" name="Google Shape;1591;p94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92" name="Google Shape;1592;p94"/>
          <p:cNvGrpSpPr/>
          <p:nvPr/>
        </p:nvGrpSpPr>
        <p:grpSpPr>
          <a:xfrm rot="-5400000">
            <a:off x="4591401" y="1491036"/>
            <a:ext cx="436912" cy="733529"/>
            <a:chOff x="7309296" y="1700168"/>
            <a:chExt cx="1102200" cy="968100"/>
          </a:xfrm>
        </p:grpSpPr>
        <p:sp>
          <p:nvSpPr>
            <p:cNvPr id="1593" name="Google Shape;1593;p94"/>
            <p:cNvSpPr/>
            <p:nvPr/>
          </p:nvSpPr>
          <p:spPr>
            <a:xfrm rot="5400000">
              <a:off x="7376540" y="1877768"/>
              <a:ext cx="968100" cy="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94" name="Google Shape;1594;p94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95" name="Google Shape;1595;p94"/>
          <p:cNvGrpSpPr/>
          <p:nvPr/>
        </p:nvGrpSpPr>
        <p:grpSpPr>
          <a:xfrm flipH="1" rot="10800000">
            <a:off x="5014247" y="3321056"/>
            <a:ext cx="850502" cy="262264"/>
            <a:chOff x="7158699" y="2236752"/>
            <a:chExt cx="1403700" cy="346131"/>
          </a:xfrm>
        </p:grpSpPr>
        <p:sp>
          <p:nvSpPr>
            <p:cNvPr id="1596" name="Google Shape;1596;p94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3.5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97" name="Google Shape;1597;p94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98" name="Google Shape;1598;p94"/>
          <p:cNvGrpSpPr/>
          <p:nvPr/>
        </p:nvGrpSpPr>
        <p:grpSpPr>
          <a:xfrm flipH="1" rot="10800000">
            <a:off x="4699398" y="4443342"/>
            <a:ext cx="667823" cy="262252"/>
            <a:chOff x="7034615" y="2236767"/>
            <a:chExt cx="1651800" cy="346116"/>
          </a:xfrm>
        </p:grpSpPr>
        <p:sp>
          <p:nvSpPr>
            <p:cNvPr id="1599" name="Google Shape;1599;p94"/>
            <p:cNvSpPr/>
            <p:nvPr/>
          </p:nvSpPr>
          <p:spPr>
            <a:xfrm rot="10800000">
              <a:off x="7034615" y="2236767"/>
              <a:ext cx="1651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00" name="Google Shape;1600;p94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95"/>
          <p:cNvSpPr txBox="1"/>
          <p:nvPr/>
        </p:nvSpPr>
        <p:spPr>
          <a:xfrm>
            <a:off x="324000" y="764848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The composite shape has been broken down into its component lengths.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pic>
        <p:nvPicPr>
          <p:cNvPr id="1607" name="Google Shape;1607;p95"/>
          <p:cNvPicPr preferRelativeResize="0"/>
          <p:nvPr/>
        </p:nvPicPr>
        <p:blipFill rotWithShape="1">
          <a:blip r:embed="rId3">
            <a:alphaModFix/>
          </a:blip>
          <a:srcRect b="0" l="0" r="64997" t="14632"/>
          <a:stretch/>
        </p:blipFill>
        <p:spPr>
          <a:xfrm>
            <a:off x="1057525" y="1182325"/>
            <a:ext cx="1505425" cy="16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8" name="Google Shape;1608;p95"/>
          <p:cNvPicPr preferRelativeResize="0"/>
          <p:nvPr/>
        </p:nvPicPr>
        <p:blipFill rotWithShape="1">
          <a:blip r:embed="rId3">
            <a:alphaModFix/>
          </a:blip>
          <a:srcRect b="0" l="51724" r="965" t="49675"/>
          <a:stretch/>
        </p:blipFill>
        <p:spPr>
          <a:xfrm>
            <a:off x="6785225" y="1232400"/>
            <a:ext cx="2034774" cy="96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95"/>
          <p:cNvPicPr preferRelativeResize="0"/>
          <p:nvPr/>
        </p:nvPicPr>
        <p:blipFill rotWithShape="1">
          <a:blip r:embed="rId3">
            <a:alphaModFix/>
          </a:blip>
          <a:srcRect b="58629" l="57473" r="6714" t="-2072"/>
          <a:stretch/>
        </p:blipFill>
        <p:spPr>
          <a:xfrm>
            <a:off x="6785225" y="2519275"/>
            <a:ext cx="1540224" cy="832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0" name="Google Shape;1610;p95"/>
          <p:cNvGrpSpPr/>
          <p:nvPr/>
        </p:nvGrpSpPr>
        <p:grpSpPr>
          <a:xfrm flipH="1" rot="10800000">
            <a:off x="888951" y="2852560"/>
            <a:ext cx="1822704" cy="262264"/>
            <a:chOff x="7158699" y="2236752"/>
            <a:chExt cx="1403700" cy="346131"/>
          </a:xfrm>
        </p:grpSpPr>
        <p:sp>
          <p:nvSpPr>
            <p:cNvPr id="1611" name="Google Shape;1611;p95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12" name="Google Shape;1612;p95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1}{2}\times2\times\pi\times\ \ \ \ \ \ \ \ \ =&quot;&gt;&lt;mfrac&gt;&lt;mn&gt;1&lt;/mn&gt;&lt;mn&gt;2&lt;/mn&gt;&lt;/mfrac&gt;&lt;mo&gt;×&lt;/mo&gt;&lt;mn&gt;2&lt;/mn&gt;&lt;mo&gt;×&lt;/mo&gt;&lt;mi&gt;π&lt;/mi&gt;&lt;mo&gt;×&lt;/mo&gt;&lt;mtext&gt;&lt;/mtext&gt;&lt;mtext&gt;&lt;/mtext&gt;&lt;mtext&gt;&lt;/mtext&gt;&lt;mtext&gt;&lt;/mtext&gt;&lt;mtext&gt;&lt;/mtext&gt;&lt;mtext&gt;&lt;/mtext&gt;&lt;mtext&gt;&lt;/mtext&gt;&lt;mtext&gt;&lt;/mtext&gt;&lt;mtext&gt;&lt;/mtext&gt;&lt;mo&gt;=&lt;/mo&gt;&lt;/math&gt;" id="1613" name="Google Shape;1613;p95" title="one half times 2 times pi times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9025" y="3714856"/>
            <a:ext cx="2275200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95"/>
          <p:cNvSpPr txBox="1"/>
          <p:nvPr/>
        </p:nvSpPr>
        <p:spPr>
          <a:xfrm>
            <a:off x="6680470" y="3877065"/>
            <a:ext cx="10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_____</a:t>
            </a:r>
            <a:endParaRPr sz="1800"/>
          </a:p>
        </p:txBody>
      </p:sp>
      <p:sp>
        <p:nvSpPr>
          <p:cNvPr id="1615" name="Google Shape;1615;p95"/>
          <p:cNvSpPr txBox="1"/>
          <p:nvPr/>
        </p:nvSpPr>
        <p:spPr>
          <a:xfrm>
            <a:off x="7648422" y="3877065"/>
            <a:ext cx="10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_____</a:t>
            </a:r>
            <a:endParaRPr sz="1800"/>
          </a:p>
        </p:txBody>
      </p:sp>
      <p:sp>
        <p:nvSpPr>
          <p:cNvPr id="1616" name="Google Shape;1616;p95"/>
          <p:cNvSpPr txBox="1"/>
          <p:nvPr/>
        </p:nvSpPr>
        <p:spPr>
          <a:xfrm>
            <a:off x="2744438" y="2485013"/>
            <a:ext cx="3877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What is the radius of this semicircle?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95"/>
          <p:cNvSpPr txBox="1"/>
          <p:nvPr/>
        </p:nvSpPr>
        <p:spPr>
          <a:xfrm>
            <a:off x="2744438" y="1296825"/>
            <a:ext cx="3877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Write down the length of all three of these straight lines.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8" name="Google Shape;1618;p95"/>
          <p:cNvGrpSpPr/>
          <p:nvPr/>
        </p:nvGrpSpPr>
        <p:grpSpPr>
          <a:xfrm rot="-5400000">
            <a:off x="207182" y="1945634"/>
            <a:ext cx="967181" cy="733529"/>
            <a:chOff x="7309296" y="1700168"/>
            <a:chExt cx="1102200" cy="968100"/>
          </a:xfrm>
        </p:grpSpPr>
        <p:sp>
          <p:nvSpPr>
            <p:cNvPr id="1619" name="Google Shape;1619;p95"/>
            <p:cNvSpPr/>
            <p:nvPr/>
          </p:nvSpPr>
          <p:spPr>
            <a:xfrm rot="5400000">
              <a:off x="7376540" y="1877768"/>
              <a:ext cx="968100" cy="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20" name="Google Shape;1620;p95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21" name="Google Shape;1621;p95"/>
          <p:cNvSpPr txBox="1"/>
          <p:nvPr/>
        </p:nvSpPr>
        <p:spPr>
          <a:xfrm>
            <a:off x="357350" y="4224600"/>
            <a:ext cx="39627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Hence, find the total perimeter of this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95"/>
          <p:cNvSpPr txBox="1"/>
          <p:nvPr/>
        </p:nvSpPr>
        <p:spPr>
          <a:xfrm>
            <a:off x="357350" y="3430275"/>
            <a:ext cx="39627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Complete this calculation to find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 of this semicircle.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7" name="Google Shape;1627;p96"/>
          <p:cNvPicPr preferRelativeResize="0"/>
          <p:nvPr/>
        </p:nvPicPr>
        <p:blipFill rotWithShape="1">
          <a:blip r:embed="rId3">
            <a:alphaModFix/>
          </a:blip>
          <a:srcRect b="0" l="58718" r="2377" t="0"/>
          <a:stretch/>
        </p:blipFill>
        <p:spPr>
          <a:xfrm>
            <a:off x="324000" y="1104600"/>
            <a:ext cx="1949052" cy="2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p96"/>
          <p:cNvSpPr txBox="1"/>
          <p:nvPr/>
        </p:nvSpPr>
        <p:spPr>
          <a:xfrm>
            <a:off x="2287250" y="2359368"/>
            <a:ext cx="3996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What fraction of a full circle do each of these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arcs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represent?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96"/>
          <p:cNvSpPr txBox="1"/>
          <p:nvPr/>
        </p:nvSpPr>
        <p:spPr>
          <a:xfrm>
            <a:off x="324000" y="764848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The composite shape has been broken down into its component lengths.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grpSp>
        <p:nvGrpSpPr>
          <p:cNvPr id="1631" name="Google Shape;1631;p96"/>
          <p:cNvGrpSpPr/>
          <p:nvPr/>
        </p:nvGrpSpPr>
        <p:grpSpPr>
          <a:xfrm flipH="1" rot="10800000">
            <a:off x="365924" y="3024713"/>
            <a:ext cx="1132224" cy="262264"/>
            <a:chOff x="7158699" y="2236752"/>
            <a:chExt cx="1403700" cy="346131"/>
          </a:xfrm>
        </p:grpSpPr>
        <p:sp>
          <p:nvSpPr>
            <p:cNvPr id="1632" name="Google Shape;1632;p96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33" name="Google Shape;1633;p96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34" name="Google Shape;1634;p96"/>
          <p:cNvSpPr txBox="1"/>
          <p:nvPr/>
        </p:nvSpPr>
        <p:spPr>
          <a:xfrm>
            <a:off x="2287238" y="1144425"/>
            <a:ext cx="3877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Write down the length of all four of these straight lines.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96"/>
          <p:cNvSpPr txBox="1"/>
          <p:nvPr/>
        </p:nvSpPr>
        <p:spPr>
          <a:xfrm>
            <a:off x="5461270" y="3877065"/>
            <a:ext cx="10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_____</a:t>
            </a:r>
            <a:endParaRPr sz="1800"/>
          </a:p>
        </p:txBody>
      </p:sp>
      <p:sp>
        <p:nvSpPr>
          <p:cNvPr id="1636" name="Google Shape;1636;p96"/>
          <p:cNvSpPr txBox="1"/>
          <p:nvPr/>
        </p:nvSpPr>
        <p:spPr>
          <a:xfrm>
            <a:off x="6429222" y="3877065"/>
            <a:ext cx="10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_____</a:t>
            </a:r>
            <a:endParaRPr sz="1800"/>
          </a:p>
        </p:txBody>
      </p:sp>
      <p:cxnSp>
        <p:nvCxnSpPr>
          <p:cNvPr id="1637" name="Google Shape;1637;p96"/>
          <p:cNvCxnSpPr/>
          <p:nvPr/>
        </p:nvCxnSpPr>
        <p:spPr>
          <a:xfrm>
            <a:off x="906928" y="2862997"/>
            <a:ext cx="0" cy="1200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8" name="Google Shape;1638;p96"/>
          <p:cNvCxnSpPr/>
          <p:nvPr/>
        </p:nvCxnSpPr>
        <p:spPr>
          <a:xfrm>
            <a:off x="1806092" y="2721249"/>
            <a:ext cx="0" cy="119823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9" name="Google Shape;1639;p96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>
            <a:off x="6360190" y="1029937"/>
            <a:ext cx="311925" cy="10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96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1080019">
            <a:off x="5816960" y="1016792"/>
            <a:ext cx="311927" cy="10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96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3719994">
            <a:off x="8258788" y="941650"/>
            <a:ext cx="311925" cy="10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2" name="Google Shape;1642;p96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5400000">
            <a:off x="7118606" y="1557712"/>
            <a:ext cx="311925" cy="10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96"/>
          <p:cNvPicPr preferRelativeResize="0"/>
          <p:nvPr/>
        </p:nvPicPr>
        <p:blipFill rotWithShape="1">
          <a:blip r:embed="rId3">
            <a:alphaModFix/>
          </a:blip>
          <a:srcRect b="52720" l="0" r="84305" t="0"/>
          <a:stretch/>
        </p:blipFill>
        <p:spPr>
          <a:xfrm>
            <a:off x="6424026" y="2511181"/>
            <a:ext cx="786249" cy="9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4" name="Google Shape;1644;p96"/>
          <p:cNvPicPr preferRelativeResize="0"/>
          <p:nvPr/>
        </p:nvPicPr>
        <p:blipFill rotWithShape="1">
          <a:blip r:embed="rId3">
            <a:alphaModFix/>
          </a:blip>
          <a:srcRect b="52720" l="0" r="84305" t="0"/>
          <a:stretch/>
        </p:blipFill>
        <p:spPr>
          <a:xfrm flipH="1" rot="5400000">
            <a:off x="7500176" y="2472543"/>
            <a:ext cx="786249" cy="9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96"/>
          <p:cNvSpPr txBox="1"/>
          <p:nvPr/>
        </p:nvSpPr>
        <p:spPr>
          <a:xfrm>
            <a:off x="639173" y="1657500"/>
            <a:ext cx="53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96"/>
          <p:cNvSpPr txBox="1"/>
          <p:nvPr/>
        </p:nvSpPr>
        <p:spPr>
          <a:xfrm>
            <a:off x="1355898" y="2392150"/>
            <a:ext cx="53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 }{\ }\times2\times\pi\times\ \ \ \ \ \ \ \ \ =\ \ \ \ \ \ \frac{2}{5}&quot;&gt;&lt;mfrac&gt;&lt;mtext&gt;&lt;/mtext&gt;&lt;mtext&gt;&lt;/mtext&gt;&lt;/mfrac&gt;&lt;mo&gt;×&lt;/mo&gt;&lt;mn&gt;2&lt;/mn&gt;&lt;mo&gt;×&lt;/mo&gt;&lt;mi&gt;π&lt;/mi&gt;&lt;mo&gt;×&lt;/mo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text&gt;&lt;/mtext&gt;&lt;mtext&gt;&lt;/mtext&gt;&lt;mtext&gt;&lt;/mtext&gt;&lt;mtext&gt;&lt;/mtext&gt;&lt;mtext&gt;&lt;/mtext&gt;&lt;mfrac&gt;&lt;mn&gt;2&lt;/mn&gt;&lt;mn&gt;5&lt;/mn&gt;&lt;/mfrac&gt;&lt;/math&gt;" id="1647" name="Google Shape;1647;p96"/>
          <p:cNvPicPr preferRelativeResize="0"/>
          <p:nvPr/>
        </p:nvPicPr>
        <p:blipFill rotWithShape="1">
          <a:blip r:embed="rId4">
            <a:alphaModFix/>
          </a:blip>
          <a:srcRect b="0" l="5240" r="21154" t="0"/>
          <a:stretch/>
        </p:blipFill>
        <p:spPr>
          <a:xfrm>
            <a:off x="4477250" y="3719375"/>
            <a:ext cx="2123976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96"/>
          <p:cNvSpPr txBox="1"/>
          <p:nvPr/>
        </p:nvSpPr>
        <p:spPr>
          <a:xfrm>
            <a:off x="4049957" y="3840482"/>
            <a:ext cx="46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___</a:t>
            </a:r>
            <a:endParaRPr sz="1800"/>
          </a:p>
        </p:txBody>
      </p:sp>
      <p:sp>
        <p:nvSpPr>
          <p:cNvPr id="1649" name="Google Shape;1649;p96"/>
          <p:cNvSpPr txBox="1"/>
          <p:nvPr/>
        </p:nvSpPr>
        <p:spPr>
          <a:xfrm>
            <a:off x="313200" y="4224600"/>
            <a:ext cx="3574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Hence, find the total perimeter of this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96"/>
          <p:cNvSpPr txBox="1"/>
          <p:nvPr/>
        </p:nvSpPr>
        <p:spPr>
          <a:xfrm>
            <a:off x="313200" y="3506475"/>
            <a:ext cx="37368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Complete this calculation to find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 of each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1" name="Google Shape;1651;p96"/>
          <p:cNvCxnSpPr/>
          <p:nvPr/>
        </p:nvCxnSpPr>
        <p:spPr>
          <a:xfrm>
            <a:off x="561825" y="1526425"/>
            <a:ext cx="102900" cy="5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2" name="Google Shape;1652;p96"/>
          <p:cNvCxnSpPr/>
          <p:nvPr/>
        </p:nvCxnSpPr>
        <p:spPr>
          <a:xfrm flipH="1" rot="10800000">
            <a:off x="401475" y="2479050"/>
            <a:ext cx="123000" cy="6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3" name="Google Shape;1653;p96"/>
          <p:cNvCxnSpPr/>
          <p:nvPr/>
        </p:nvCxnSpPr>
        <p:spPr>
          <a:xfrm>
            <a:off x="1788500" y="2730825"/>
            <a:ext cx="54900" cy="88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sp>
        <p:nvSpPr>
          <p:cNvPr id="1659" name="Google Shape;1659;p97"/>
          <p:cNvSpPr txBox="1"/>
          <p:nvPr/>
        </p:nvSpPr>
        <p:spPr>
          <a:xfrm>
            <a:off x="324000" y="786043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Starting with the smallest perimeter, sort these shapes in terms of the size of their perimeters.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0" name="Google Shape;1660;p97"/>
          <p:cNvPicPr preferRelativeResize="0"/>
          <p:nvPr/>
        </p:nvPicPr>
        <p:blipFill rotWithShape="1">
          <a:blip r:embed="rId3">
            <a:alphaModFix/>
          </a:blip>
          <a:srcRect b="44706" l="251" r="72151" t="2937"/>
          <a:stretch/>
        </p:blipFill>
        <p:spPr>
          <a:xfrm>
            <a:off x="324000" y="1563987"/>
            <a:ext cx="1667401" cy="168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1" name="Google Shape;1661;p97"/>
          <p:cNvPicPr preferRelativeResize="0"/>
          <p:nvPr/>
        </p:nvPicPr>
        <p:blipFill rotWithShape="1">
          <a:blip r:embed="rId3">
            <a:alphaModFix/>
          </a:blip>
          <a:srcRect b="67974" l="33172" r="39230" t="2937"/>
          <a:stretch/>
        </p:blipFill>
        <p:spPr>
          <a:xfrm>
            <a:off x="7152600" y="1263883"/>
            <a:ext cx="1667401" cy="9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2" name="Google Shape;1662;p97"/>
          <p:cNvPicPr preferRelativeResize="0"/>
          <p:nvPr/>
        </p:nvPicPr>
        <p:blipFill rotWithShape="1">
          <a:blip r:embed="rId3">
            <a:alphaModFix/>
          </a:blip>
          <a:srcRect b="1937" l="33172" r="39230" t="45706"/>
          <a:stretch/>
        </p:blipFill>
        <p:spPr>
          <a:xfrm>
            <a:off x="7152600" y="2699995"/>
            <a:ext cx="1667401" cy="168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3" name="Google Shape;1663;p97"/>
          <p:cNvPicPr preferRelativeResize="0"/>
          <p:nvPr/>
        </p:nvPicPr>
        <p:blipFill rotWithShape="1">
          <a:blip r:embed="rId3">
            <a:alphaModFix/>
          </a:blip>
          <a:srcRect b="51359" l="69750" r="2652" t="2232"/>
          <a:stretch/>
        </p:blipFill>
        <p:spPr>
          <a:xfrm>
            <a:off x="324000" y="3323676"/>
            <a:ext cx="1667401" cy="1496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4" name="Google Shape;1664;p97"/>
          <p:cNvGrpSpPr/>
          <p:nvPr/>
        </p:nvGrpSpPr>
        <p:grpSpPr>
          <a:xfrm>
            <a:off x="1991412" y="1587351"/>
            <a:ext cx="337459" cy="337459"/>
            <a:chOff x="1020916" y="1442088"/>
            <a:chExt cx="457200" cy="457200"/>
          </a:xfrm>
        </p:grpSpPr>
        <p:pic>
          <p:nvPicPr>
            <p:cNvPr id="1665" name="Google Shape;166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6" name="Google Shape;166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7" name="Google Shape;1667;p97"/>
          <p:cNvGrpSpPr/>
          <p:nvPr/>
        </p:nvGrpSpPr>
        <p:grpSpPr>
          <a:xfrm>
            <a:off x="1991412" y="3611263"/>
            <a:ext cx="337459" cy="337459"/>
            <a:chOff x="1020916" y="1442088"/>
            <a:chExt cx="457200" cy="457200"/>
          </a:xfrm>
        </p:grpSpPr>
        <p:pic>
          <p:nvPicPr>
            <p:cNvPr id="1668" name="Google Shape;166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9" name="Google Shape;166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0" name="Google Shape;1670;p97"/>
          <p:cNvGrpSpPr/>
          <p:nvPr/>
        </p:nvGrpSpPr>
        <p:grpSpPr>
          <a:xfrm>
            <a:off x="8482537" y="2571751"/>
            <a:ext cx="337459" cy="337459"/>
            <a:chOff x="1020916" y="1442088"/>
            <a:chExt cx="457200" cy="457200"/>
          </a:xfrm>
        </p:grpSpPr>
        <p:pic>
          <p:nvPicPr>
            <p:cNvPr id="1671" name="Google Shape;167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2" name="Google Shape;167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3" name="Google Shape;1673;p97"/>
          <p:cNvGrpSpPr/>
          <p:nvPr/>
        </p:nvGrpSpPr>
        <p:grpSpPr>
          <a:xfrm>
            <a:off x="8482537" y="1091953"/>
            <a:ext cx="337459" cy="337459"/>
            <a:chOff x="1020916" y="1442088"/>
            <a:chExt cx="457200" cy="457200"/>
          </a:xfrm>
        </p:grpSpPr>
        <p:pic>
          <p:nvPicPr>
            <p:cNvPr id="1674" name="Google Shape;1674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5" name="Google Shape;1675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6" name="Google Shape;1676;p97"/>
          <p:cNvGrpSpPr/>
          <p:nvPr/>
        </p:nvGrpSpPr>
        <p:grpSpPr>
          <a:xfrm rot="10800000">
            <a:off x="1151566" y="2401289"/>
            <a:ext cx="784105" cy="262248"/>
            <a:chOff x="7309296" y="2236773"/>
            <a:chExt cx="1102200" cy="346111"/>
          </a:xfrm>
        </p:grpSpPr>
        <p:sp>
          <p:nvSpPr>
            <p:cNvPr id="1677" name="Google Shape;1677;p97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78" name="Google Shape;1678;p97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679" name="Google Shape;1679;p97"/>
          <p:cNvGrpSpPr/>
          <p:nvPr/>
        </p:nvGrpSpPr>
        <p:grpSpPr>
          <a:xfrm rot="10800000">
            <a:off x="7192095" y="2172786"/>
            <a:ext cx="1627619" cy="262214"/>
            <a:chOff x="7309296" y="2236773"/>
            <a:chExt cx="1102200" cy="346111"/>
          </a:xfrm>
        </p:grpSpPr>
        <p:sp>
          <p:nvSpPr>
            <p:cNvPr id="1680" name="Google Shape;1680;p97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81" name="Google Shape;1681;p97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682" name="Google Shape;1682;p97"/>
          <p:cNvGrpSpPr/>
          <p:nvPr/>
        </p:nvGrpSpPr>
        <p:grpSpPr>
          <a:xfrm rot="10800000">
            <a:off x="343882" y="4494564"/>
            <a:ext cx="1627619" cy="262214"/>
            <a:chOff x="7309296" y="2236773"/>
            <a:chExt cx="1102200" cy="346111"/>
          </a:xfrm>
        </p:grpSpPr>
        <p:sp>
          <p:nvSpPr>
            <p:cNvPr id="1683" name="Google Shape;1683;p97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84" name="Google Shape;1684;p97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685" name="Google Shape;1685;p97"/>
          <p:cNvGrpSpPr/>
          <p:nvPr/>
        </p:nvGrpSpPr>
        <p:grpSpPr>
          <a:xfrm rot="5400000">
            <a:off x="1869239" y="4360000"/>
            <a:ext cx="659005" cy="262256"/>
            <a:chOff x="7309296" y="2236763"/>
            <a:chExt cx="1102200" cy="346121"/>
          </a:xfrm>
        </p:grpSpPr>
        <p:sp>
          <p:nvSpPr>
            <p:cNvPr id="1686" name="Google Shape;1686;p97"/>
            <p:cNvSpPr/>
            <p:nvPr/>
          </p:nvSpPr>
          <p:spPr>
            <a:xfrm rot="10800000">
              <a:off x="7332573" y="2236763"/>
              <a:ext cx="10560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87" name="Google Shape;1687;p97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688" name="Google Shape;1688;p97"/>
          <p:cNvGrpSpPr/>
          <p:nvPr/>
        </p:nvGrpSpPr>
        <p:grpSpPr>
          <a:xfrm rot="-5400000">
            <a:off x="6572895" y="3036164"/>
            <a:ext cx="784105" cy="262248"/>
            <a:chOff x="7309296" y="2236773"/>
            <a:chExt cx="1102200" cy="346111"/>
          </a:xfrm>
        </p:grpSpPr>
        <p:sp>
          <p:nvSpPr>
            <p:cNvPr id="1689" name="Google Shape;1689;p97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0" name="Google Shape;1690;p97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691" name="Google Shape;1691;p97"/>
          <p:cNvGrpSpPr/>
          <p:nvPr/>
        </p:nvGrpSpPr>
        <p:grpSpPr>
          <a:xfrm rot="10800000">
            <a:off x="7192095" y="3664871"/>
            <a:ext cx="784105" cy="262248"/>
            <a:chOff x="7309296" y="2236773"/>
            <a:chExt cx="1102200" cy="346111"/>
          </a:xfrm>
        </p:grpSpPr>
        <p:sp>
          <p:nvSpPr>
            <p:cNvPr id="1692" name="Google Shape;1692;p97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3" name="Google Shape;1693;p97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694" name="Google Shape;1694;p97"/>
          <p:cNvGrpSpPr/>
          <p:nvPr/>
        </p:nvGrpSpPr>
        <p:grpSpPr>
          <a:xfrm rot="-5400000">
            <a:off x="7959345" y="3834419"/>
            <a:ext cx="784105" cy="262248"/>
            <a:chOff x="7309296" y="2236773"/>
            <a:chExt cx="1102200" cy="346111"/>
          </a:xfrm>
        </p:grpSpPr>
        <p:sp>
          <p:nvSpPr>
            <p:cNvPr id="1695" name="Google Shape;1695;p97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6" name="Google Shape;1696;p97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98"/>
          <p:cNvSpPr txBox="1"/>
          <p:nvPr/>
        </p:nvSpPr>
        <p:spPr>
          <a:xfrm>
            <a:off x="357350" y="4224600"/>
            <a:ext cx="39627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Hence, find the total perimeter of this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98"/>
          <p:cNvSpPr txBox="1"/>
          <p:nvPr/>
        </p:nvSpPr>
        <p:spPr>
          <a:xfrm>
            <a:off x="357350" y="3430275"/>
            <a:ext cx="39627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Complete this calculation to find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 of this semicircle.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98"/>
          <p:cNvSpPr txBox="1"/>
          <p:nvPr/>
        </p:nvSpPr>
        <p:spPr>
          <a:xfrm>
            <a:off x="2744438" y="2485013"/>
            <a:ext cx="3877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What is the radius of this semicircle?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98"/>
          <p:cNvSpPr txBox="1"/>
          <p:nvPr/>
        </p:nvSpPr>
        <p:spPr>
          <a:xfrm>
            <a:off x="324000" y="764848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The composite shape has been broken down into its component lengths.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pic>
        <p:nvPicPr>
          <p:cNvPr id="1706" name="Google Shape;1706;p98"/>
          <p:cNvPicPr preferRelativeResize="0"/>
          <p:nvPr/>
        </p:nvPicPr>
        <p:blipFill rotWithShape="1">
          <a:blip r:embed="rId3">
            <a:alphaModFix/>
          </a:blip>
          <a:srcRect b="0" l="0" r="64997" t="14632"/>
          <a:stretch/>
        </p:blipFill>
        <p:spPr>
          <a:xfrm>
            <a:off x="1057525" y="1182325"/>
            <a:ext cx="1505425" cy="16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98"/>
          <p:cNvPicPr preferRelativeResize="0"/>
          <p:nvPr/>
        </p:nvPicPr>
        <p:blipFill rotWithShape="1">
          <a:blip r:embed="rId3">
            <a:alphaModFix/>
          </a:blip>
          <a:srcRect b="0" l="51724" r="965" t="49675"/>
          <a:stretch/>
        </p:blipFill>
        <p:spPr>
          <a:xfrm>
            <a:off x="6785225" y="1080000"/>
            <a:ext cx="2034774" cy="96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98"/>
          <p:cNvPicPr preferRelativeResize="0"/>
          <p:nvPr/>
        </p:nvPicPr>
        <p:blipFill rotWithShape="1">
          <a:blip r:embed="rId3">
            <a:alphaModFix/>
          </a:blip>
          <a:srcRect b="58629" l="57473" r="6714" t="-2072"/>
          <a:stretch/>
        </p:blipFill>
        <p:spPr>
          <a:xfrm>
            <a:off x="6785225" y="2366875"/>
            <a:ext cx="1540224" cy="832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9" name="Google Shape;1709;p98"/>
          <p:cNvGrpSpPr/>
          <p:nvPr/>
        </p:nvGrpSpPr>
        <p:grpSpPr>
          <a:xfrm flipH="1" rot="10800000">
            <a:off x="888951" y="2852560"/>
            <a:ext cx="1822704" cy="262264"/>
            <a:chOff x="7158699" y="2236752"/>
            <a:chExt cx="1403700" cy="346131"/>
          </a:xfrm>
        </p:grpSpPr>
        <p:sp>
          <p:nvSpPr>
            <p:cNvPr id="1710" name="Google Shape;1710;p98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1" name="Google Shape;1711;p98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712" name="Google Shape;1712;p98"/>
          <p:cNvGrpSpPr/>
          <p:nvPr/>
        </p:nvGrpSpPr>
        <p:grpSpPr>
          <a:xfrm rot="-5400000">
            <a:off x="207182" y="1945634"/>
            <a:ext cx="967181" cy="733529"/>
            <a:chOff x="7309296" y="1700168"/>
            <a:chExt cx="1102200" cy="968100"/>
          </a:xfrm>
        </p:grpSpPr>
        <p:sp>
          <p:nvSpPr>
            <p:cNvPr id="1713" name="Google Shape;1713;p98"/>
            <p:cNvSpPr/>
            <p:nvPr/>
          </p:nvSpPr>
          <p:spPr>
            <a:xfrm rot="5400000">
              <a:off x="7376540" y="1877768"/>
              <a:ext cx="968100" cy="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4" name="Google Shape;1714;p98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15" name="Google Shape;1715;p98"/>
          <p:cNvSpPr txBox="1"/>
          <p:nvPr/>
        </p:nvSpPr>
        <p:spPr>
          <a:xfrm>
            <a:off x="2744438" y="1296825"/>
            <a:ext cx="3877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Write down the length of all three of these straight lines.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times2\times\pi\times\ \ \ \ \ \ \ \ \ =&quot;&gt;&lt;mfrac&gt;&lt;mn&gt;1&lt;/mn&gt;&lt;mn&gt;2&lt;/mn&gt;&lt;/mfrac&gt;&lt;mo&gt;×&lt;/mo&gt;&lt;mn&gt;2&lt;/mn&gt;&lt;mo&gt;×&lt;/mo&gt;&lt;mi&gt;π&lt;/mi&gt;&lt;mo&gt;×&lt;/mo&gt;&lt;mtext&gt;&lt;/mtext&gt;&lt;mtext&gt;&lt;/mtext&gt;&lt;mtext&gt;&lt;/mtext&gt;&lt;mtext&gt;&lt;/mtext&gt;&lt;mtext&gt;&lt;/mtext&gt;&lt;mtext&gt;&lt;/mtext&gt;&lt;mtext&gt;&lt;/mtext&gt;&lt;mtext&gt;&lt;/mtext&gt;&lt;mtext&gt;&lt;/mtext&gt;&lt;mo&gt;=&lt;/mo&gt;&lt;/math&gt;" id="1716" name="Google Shape;1716;p98" title="one half times 2 times pi times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9025" y="3562456"/>
            <a:ext cx="2275200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7" name="Google Shape;1717;p98"/>
          <p:cNvSpPr txBox="1"/>
          <p:nvPr/>
        </p:nvSpPr>
        <p:spPr>
          <a:xfrm>
            <a:off x="6680470" y="3724665"/>
            <a:ext cx="10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_____</a:t>
            </a:r>
            <a:endParaRPr sz="1800"/>
          </a:p>
        </p:txBody>
      </p:sp>
      <p:sp>
        <p:nvSpPr>
          <p:cNvPr id="1718" name="Google Shape;1718;p98"/>
          <p:cNvSpPr txBox="1"/>
          <p:nvPr/>
        </p:nvSpPr>
        <p:spPr>
          <a:xfrm>
            <a:off x="7648422" y="3724665"/>
            <a:ext cx="10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_____</a:t>
            </a:r>
            <a:endParaRPr sz="1800"/>
          </a:p>
        </p:txBody>
      </p:sp>
      <p:sp>
        <p:nvSpPr>
          <p:cNvPr id="1719" name="Google Shape;1719;p98"/>
          <p:cNvSpPr txBox="1"/>
          <p:nvPr/>
        </p:nvSpPr>
        <p:spPr>
          <a:xfrm>
            <a:off x="7396564" y="169557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0" name="Google Shape;1720;p98"/>
          <p:cNvSpPr txBox="1"/>
          <p:nvPr/>
        </p:nvSpPr>
        <p:spPr>
          <a:xfrm>
            <a:off x="6836314" y="1138712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1" name="Google Shape;1721;p98"/>
          <p:cNvSpPr txBox="1"/>
          <p:nvPr/>
        </p:nvSpPr>
        <p:spPr>
          <a:xfrm>
            <a:off x="7938489" y="1138712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2" name="Google Shape;1722;p98"/>
          <p:cNvSpPr txBox="1"/>
          <p:nvPr/>
        </p:nvSpPr>
        <p:spPr>
          <a:xfrm>
            <a:off x="7149276" y="2730400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3" name="Google Shape;1723;p98"/>
          <p:cNvSpPr txBox="1"/>
          <p:nvPr/>
        </p:nvSpPr>
        <p:spPr>
          <a:xfrm>
            <a:off x="6916050" y="3663025"/>
            <a:ext cx="54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4" name="Google Shape;1724;p98"/>
          <p:cNvSpPr txBox="1"/>
          <p:nvPr/>
        </p:nvSpPr>
        <p:spPr>
          <a:xfrm>
            <a:off x="7884075" y="3663025"/>
            <a:ext cx="54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5" name="Google Shape;1725;p98"/>
          <p:cNvSpPr txBox="1"/>
          <p:nvPr/>
        </p:nvSpPr>
        <p:spPr>
          <a:xfrm>
            <a:off x="5128624" y="4411950"/>
            <a:ext cx="154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+ 28 cm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" name="Google Shape;1730;p99"/>
          <p:cNvPicPr preferRelativeResize="0"/>
          <p:nvPr/>
        </p:nvPicPr>
        <p:blipFill rotWithShape="1">
          <a:blip r:embed="rId3">
            <a:alphaModFix/>
          </a:blip>
          <a:srcRect b="0" l="58718" r="2377" t="0"/>
          <a:stretch/>
        </p:blipFill>
        <p:spPr>
          <a:xfrm>
            <a:off x="324000" y="1104600"/>
            <a:ext cx="1949052" cy="2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99"/>
          <p:cNvSpPr txBox="1"/>
          <p:nvPr/>
        </p:nvSpPr>
        <p:spPr>
          <a:xfrm>
            <a:off x="313200" y="4224600"/>
            <a:ext cx="3574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Hence, find the total perimeter of this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sp>
        <p:nvSpPr>
          <p:cNvPr id="1733" name="Google Shape;1733;p99"/>
          <p:cNvSpPr txBox="1"/>
          <p:nvPr/>
        </p:nvSpPr>
        <p:spPr>
          <a:xfrm>
            <a:off x="2287238" y="1144425"/>
            <a:ext cx="3877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Write down the length of all four of these straight lines.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99"/>
          <p:cNvSpPr txBox="1"/>
          <p:nvPr/>
        </p:nvSpPr>
        <p:spPr>
          <a:xfrm>
            <a:off x="5488932" y="3725365"/>
            <a:ext cx="10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_____</a:t>
            </a:r>
            <a:endParaRPr sz="1800"/>
          </a:p>
        </p:txBody>
      </p:sp>
      <p:sp>
        <p:nvSpPr>
          <p:cNvPr id="1735" name="Google Shape;1735;p99"/>
          <p:cNvSpPr txBox="1"/>
          <p:nvPr/>
        </p:nvSpPr>
        <p:spPr>
          <a:xfrm>
            <a:off x="6456885" y="3725365"/>
            <a:ext cx="10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_____</a:t>
            </a:r>
            <a:endParaRPr sz="1800"/>
          </a:p>
        </p:txBody>
      </p:sp>
      <p:pic>
        <p:nvPicPr>
          <p:cNvPr id="1736" name="Google Shape;1736;p99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>
            <a:off x="6360190" y="1029937"/>
            <a:ext cx="311925" cy="10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7" name="Google Shape;1737;p99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1080019">
            <a:off x="5816960" y="1016792"/>
            <a:ext cx="311927" cy="10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99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3719994">
            <a:off x="8258788" y="941650"/>
            <a:ext cx="311925" cy="10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99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5400000">
            <a:off x="7118606" y="1557712"/>
            <a:ext cx="311925" cy="105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 }{\ }\times2\times\pi\times\ \ \ \ \ \ \ \ \ =\ \ \ \ \ \ \frac{2}{5}&quot;&gt;&lt;mfrac&gt;&lt;mtext&gt;&lt;/mtext&gt;&lt;mtext&gt;&lt;/mtext&gt;&lt;/mfrac&gt;&lt;mo&gt;×&lt;/mo&gt;&lt;mn&gt;2&lt;/mn&gt;&lt;mo&gt;×&lt;/mo&gt;&lt;mi&gt;π&lt;/mi&gt;&lt;mo&gt;×&lt;/mo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text&gt;&lt;/mtext&gt;&lt;mtext&gt;&lt;/mtext&gt;&lt;mtext&gt;&lt;/mtext&gt;&lt;mtext&gt;&lt;/mtext&gt;&lt;mtext&gt;&lt;/mtext&gt;&lt;mfrac&gt;&lt;mn&gt;2&lt;/mn&gt;&lt;mn&gt;5&lt;/mn&gt;&lt;/mfrac&gt;&lt;/math&gt;" id="1740" name="Google Shape;1740;p99"/>
          <p:cNvPicPr preferRelativeResize="0"/>
          <p:nvPr/>
        </p:nvPicPr>
        <p:blipFill rotWithShape="1">
          <a:blip r:embed="rId4">
            <a:alphaModFix/>
          </a:blip>
          <a:srcRect b="0" l="5240" r="21154" t="0"/>
          <a:stretch/>
        </p:blipFill>
        <p:spPr>
          <a:xfrm>
            <a:off x="4504912" y="3567675"/>
            <a:ext cx="2123976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99"/>
          <p:cNvSpPr txBox="1"/>
          <p:nvPr/>
        </p:nvSpPr>
        <p:spPr>
          <a:xfrm>
            <a:off x="4077619" y="3612582"/>
            <a:ext cx="46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___</a:t>
            </a:r>
            <a:endParaRPr sz="1800"/>
          </a:p>
        </p:txBody>
      </p:sp>
      <p:sp>
        <p:nvSpPr>
          <p:cNvPr id="1742" name="Google Shape;1742;p99"/>
          <p:cNvSpPr txBox="1"/>
          <p:nvPr/>
        </p:nvSpPr>
        <p:spPr>
          <a:xfrm>
            <a:off x="2287250" y="1805075"/>
            <a:ext cx="32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 cm each or 60 cm total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3" name="Google Shape;1743;p99"/>
          <p:cNvSpPr txBox="1"/>
          <p:nvPr/>
        </p:nvSpPr>
        <p:spPr>
          <a:xfrm>
            <a:off x="2287250" y="3076350"/>
            <a:ext cx="32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⅕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each, or ⅖ for both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4" name="Google Shape;1744;p99"/>
          <p:cNvSpPr txBox="1"/>
          <p:nvPr/>
        </p:nvSpPr>
        <p:spPr>
          <a:xfrm>
            <a:off x="4156513" y="3567675"/>
            <a:ext cx="3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5" name="Google Shape;1745;p99"/>
          <p:cNvSpPr txBox="1"/>
          <p:nvPr/>
        </p:nvSpPr>
        <p:spPr>
          <a:xfrm>
            <a:off x="4132033" y="3906058"/>
            <a:ext cx="3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6" name="Google Shape;1746;p99"/>
          <p:cNvSpPr txBox="1"/>
          <p:nvPr/>
        </p:nvSpPr>
        <p:spPr>
          <a:xfrm>
            <a:off x="5840088" y="3651175"/>
            <a:ext cx="3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7" name="Google Shape;1747;p99"/>
          <p:cNvSpPr txBox="1"/>
          <p:nvPr/>
        </p:nvSpPr>
        <p:spPr>
          <a:xfrm>
            <a:off x="4077625" y="4411775"/>
            <a:ext cx="167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+ 60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8" name="Google Shape;1748;p99"/>
          <p:cNvSpPr txBox="1"/>
          <p:nvPr/>
        </p:nvSpPr>
        <p:spPr>
          <a:xfrm>
            <a:off x="6653137" y="3651175"/>
            <a:ext cx="62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9" name="Google Shape;1749;p99"/>
          <p:cNvSpPr txBox="1"/>
          <p:nvPr/>
        </p:nvSpPr>
        <p:spPr>
          <a:xfrm>
            <a:off x="313200" y="3506475"/>
            <a:ext cx="37368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Complete this calculation to find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 of each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9"/>
          <p:cNvSpPr txBox="1"/>
          <p:nvPr/>
        </p:nvSpPr>
        <p:spPr>
          <a:xfrm>
            <a:off x="324000" y="764848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The composite shape has been broken down into its component lengths.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1" name="Google Shape;1751;p99"/>
          <p:cNvGrpSpPr/>
          <p:nvPr/>
        </p:nvGrpSpPr>
        <p:grpSpPr>
          <a:xfrm flipH="1" rot="10800000">
            <a:off x="365924" y="3024713"/>
            <a:ext cx="1132224" cy="262264"/>
            <a:chOff x="7158699" y="2236752"/>
            <a:chExt cx="1403700" cy="346131"/>
          </a:xfrm>
        </p:grpSpPr>
        <p:sp>
          <p:nvSpPr>
            <p:cNvPr id="1752" name="Google Shape;1752;p99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53" name="Google Shape;1753;p99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754" name="Google Shape;1754;p99"/>
          <p:cNvCxnSpPr/>
          <p:nvPr/>
        </p:nvCxnSpPr>
        <p:spPr>
          <a:xfrm>
            <a:off x="906928" y="2862997"/>
            <a:ext cx="0" cy="1200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5" name="Google Shape;1755;p99"/>
          <p:cNvCxnSpPr/>
          <p:nvPr/>
        </p:nvCxnSpPr>
        <p:spPr>
          <a:xfrm>
            <a:off x="561825" y="1526425"/>
            <a:ext cx="102900" cy="5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6" name="Google Shape;1756;p99"/>
          <p:cNvSpPr txBox="1"/>
          <p:nvPr/>
        </p:nvSpPr>
        <p:spPr>
          <a:xfrm>
            <a:off x="639173" y="1657500"/>
            <a:ext cx="53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99"/>
          <p:cNvSpPr txBox="1"/>
          <p:nvPr/>
        </p:nvSpPr>
        <p:spPr>
          <a:xfrm>
            <a:off x="1355898" y="2315950"/>
            <a:ext cx="53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8" name="Google Shape;1758;p99"/>
          <p:cNvPicPr preferRelativeResize="0"/>
          <p:nvPr/>
        </p:nvPicPr>
        <p:blipFill rotWithShape="1">
          <a:blip r:embed="rId3">
            <a:alphaModFix/>
          </a:blip>
          <a:srcRect b="52720" l="0" r="84305" t="0"/>
          <a:stretch/>
        </p:blipFill>
        <p:spPr>
          <a:xfrm>
            <a:off x="6424026" y="2511181"/>
            <a:ext cx="786249" cy="9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9" name="Google Shape;1759;p99"/>
          <p:cNvPicPr preferRelativeResize="0"/>
          <p:nvPr/>
        </p:nvPicPr>
        <p:blipFill rotWithShape="1">
          <a:blip r:embed="rId3">
            <a:alphaModFix/>
          </a:blip>
          <a:srcRect b="52720" l="0" r="84305" t="0"/>
          <a:stretch/>
        </p:blipFill>
        <p:spPr>
          <a:xfrm flipH="1" rot="5400000">
            <a:off x="7500176" y="2472543"/>
            <a:ext cx="786249" cy="9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99"/>
          <p:cNvSpPr txBox="1"/>
          <p:nvPr/>
        </p:nvSpPr>
        <p:spPr>
          <a:xfrm>
            <a:off x="2287250" y="2359368"/>
            <a:ext cx="3996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What fraction of a full circle do each of these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arcs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represent?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1" name="Google Shape;1761;p99"/>
          <p:cNvCxnSpPr/>
          <p:nvPr/>
        </p:nvCxnSpPr>
        <p:spPr>
          <a:xfrm>
            <a:off x="1788500" y="2730825"/>
            <a:ext cx="54900" cy="88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2" name="Google Shape;1762;p99"/>
          <p:cNvCxnSpPr/>
          <p:nvPr/>
        </p:nvCxnSpPr>
        <p:spPr>
          <a:xfrm flipH="1" rot="10800000">
            <a:off x="401475" y="2479050"/>
            <a:ext cx="123000" cy="6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100"/>
          <p:cNvSpPr txBox="1"/>
          <p:nvPr/>
        </p:nvSpPr>
        <p:spPr>
          <a:xfrm>
            <a:off x="2040901" y="1847775"/>
            <a:ext cx="159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25.1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8" name="Google Shape;1768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perimeters of closed composite shapes</a:t>
            </a:r>
            <a:endParaRPr/>
          </a:p>
        </p:txBody>
      </p:sp>
      <p:sp>
        <p:nvSpPr>
          <p:cNvPr id="1769" name="Google Shape;1769;p100"/>
          <p:cNvSpPr txBox="1"/>
          <p:nvPr/>
        </p:nvSpPr>
        <p:spPr>
          <a:xfrm>
            <a:off x="324000" y="786043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Starting with the smallest perimeter, sort these shapes in terms of the size of their perimeters.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0" name="Google Shape;1770;p100"/>
          <p:cNvPicPr preferRelativeResize="0"/>
          <p:nvPr/>
        </p:nvPicPr>
        <p:blipFill rotWithShape="1">
          <a:blip r:embed="rId3">
            <a:alphaModFix/>
          </a:blip>
          <a:srcRect b="44706" l="251" r="72151" t="2937"/>
          <a:stretch/>
        </p:blipFill>
        <p:spPr>
          <a:xfrm>
            <a:off x="324000" y="1411587"/>
            <a:ext cx="1667401" cy="168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1" name="Google Shape;1771;p100"/>
          <p:cNvPicPr preferRelativeResize="0"/>
          <p:nvPr/>
        </p:nvPicPr>
        <p:blipFill rotWithShape="1">
          <a:blip r:embed="rId3">
            <a:alphaModFix/>
          </a:blip>
          <a:srcRect b="67974" l="33172" r="39230" t="2937"/>
          <a:stretch/>
        </p:blipFill>
        <p:spPr>
          <a:xfrm>
            <a:off x="7152600" y="1263883"/>
            <a:ext cx="1667401" cy="9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2" name="Google Shape;1772;p100"/>
          <p:cNvPicPr preferRelativeResize="0"/>
          <p:nvPr/>
        </p:nvPicPr>
        <p:blipFill rotWithShape="1">
          <a:blip r:embed="rId3">
            <a:alphaModFix/>
          </a:blip>
          <a:srcRect b="1937" l="33172" r="39230" t="45706"/>
          <a:stretch/>
        </p:blipFill>
        <p:spPr>
          <a:xfrm>
            <a:off x="7152600" y="2699995"/>
            <a:ext cx="1667401" cy="168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3" name="Google Shape;1773;p100"/>
          <p:cNvPicPr preferRelativeResize="0"/>
          <p:nvPr/>
        </p:nvPicPr>
        <p:blipFill rotWithShape="1">
          <a:blip r:embed="rId3">
            <a:alphaModFix/>
          </a:blip>
          <a:srcRect b="51359" l="69750" r="2652" t="2232"/>
          <a:stretch/>
        </p:blipFill>
        <p:spPr>
          <a:xfrm>
            <a:off x="324000" y="3323676"/>
            <a:ext cx="1667401" cy="1496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4" name="Google Shape;1774;p100"/>
          <p:cNvGrpSpPr/>
          <p:nvPr/>
        </p:nvGrpSpPr>
        <p:grpSpPr>
          <a:xfrm>
            <a:off x="1991412" y="1434951"/>
            <a:ext cx="337459" cy="337459"/>
            <a:chOff x="1020916" y="1442088"/>
            <a:chExt cx="457200" cy="457200"/>
          </a:xfrm>
        </p:grpSpPr>
        <p:pic>
          <p:nvPicPr>
            <p:cNvPr id="1775" name="Google Shape;177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6" name="Google Shape;177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7" name="Google Shape;1777;p100"/>
          <p:cNvGrpSpPr/>
          <p:nvPr/>
        </p:nvGrpSpPr>
        <p:grpSpPr>
          <a:xfrm>
            <a:off x="1991412" y="3611263"/>
            <a:ext cx="337459" cy="337459"/>
            <a:chOff x="1020916" y="1442088"/>
            <a:chExt cx="457200" cy="457200"/>
          </a:xfrm>
        </p:grpSpPr>
        <p:pic>
          <p:nvPicPr>
            <p:cNvPr id="1778" name="Google Shape;177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9" name="Google Shape;177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0" name="Google Shape;1780;p100"/>
          <p:cNvGrpSpPr/>
          <p:nvPr/>
        </p:nvGrpSpPr>
        <p:grpSpPr>
          <a:xfrm>
            <a:off x="8482537" y="2571751"/>
            <a:ext cx="337459" cy="337459"/>
            <a:chOff x="1020916" y="1442088"/>
            <a:chExt cx="457200" cy="457200"/>
          </a:xfrm>
        </p:grpSpPr>
        <p:pic>
          <p:nvPicPr>
            <p:cNvPr id="1781" name="Google Shape;178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2" name="Google Shape;178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3" name="Google Shape;1783;p100"/>
          <p:cNvGrpSpPr/>
          <p:nvPr/>
        </p:nvGrpSpPr>
        <p:grpSpPr>
          <a:xfrm>
            <a:off x="8482537" y="1091953"/>
            <a:ext cx="337459" cy="337459"/>
            <a:chOff x="1020916" y="1442088"/>
            <a:chExt cx="457200" cy="457200"/>
          </a:xfrm>
        </p:grpSpPr>
        <p:pic>
          <p:nvPicPr>
            <p:cNvPr id="1784" name="Google Shape;178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5" name="Google Shape;178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6" name="Google Shape;1786;p100"/>
          <p:cNvGrpSpPr/>
          <p:nvPr/>
        </p:nvGrpSpPr>
        <p:grpSpPr>
          <a:xfrm rot="10800000">
            <a:off x="1151566" y="2248889"/>
            <a:ext cx="784105" cy="262248"/>
            <a:chOff x="7309296" y="2236773"/>
            <a:chExt cx="1102200" cy="346111"/>
          </a:xfrm>
        </p:grpSpPr>
        <p:sp>
          <p:nvSpPr>
            <p:cNvPr id="1787" name="Google Shape;1787;p100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88" name="Google Shape;1788;p10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789" name="Google Shape;1789;p100"/>
          <p:cNvGrpSpPr/>
          <p:nvPr/>
        </p:nvGrpSpPr>
        <p:grpSpPr>
          <a:xfrm rot="10800000">
            <a:off x="7192095" y="2172786"/>
            <a:ext cx="1627619" cy="262214"/>
            <a:chOff x="7309296" y="2236773"/>
            <a:chExt cx="1102200" cy="346111"/>
          </a:xfrm>
        </p:grpSpPr>
        <p:sp>
          <p:nvSpPr>
            <p:cNvPr id="1790" name="Google Shape;1790;p100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91" name="Google Shape;1791;p10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792" name="Google Shape;1792;p100"/>
          <p:cNvGrpSpPr/>
          <p:nvPr/>
        </p:nvGrpSpPr>
        <p:grpSpPr>
          <a:xfrm rot="10800000">
            <a:off x="343882" y="4494564"/>
            <a:ext cx="1627619" cy="262214"/>
            <a:chOff x="7309296" y="2236773"/>
            <a:chExt cx="1102200" cy="346111"/>
          </a:xfrm>
        </p:grpSpPr>
        <p:sp>
          <p:nvSpPr>
            <p:cNvPr id="1793" name="Google Shape;1793;p100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94" name="Google Shape;1794;p10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795" name="Google Shape;1795;p100"/>
          <p:cNvGrpSpPr/>
          <p:nvPr/>
        </p:nvGrpSpPr>
        <p:grpSpPr>
          <a:xfrm rot="5400000">
            <a:off x="1869239" y="4360000"/>
            <a:ext cx="659005" cy="262256"/>
            <a:chOff x="7309296" y="2236763"/>
            <a:chExt cx="1102200" cy="346121"/>
          </a:xfrm>
        </p:grpSpPr>
        <p:sp>
          <p:nvSpPr>
            <p:cNvPr id="1796" name="Google Shape;1796;p100"/>
            <p:cNvSpPr/>
            <p:nvPr/>
          </p:nvSpPr>
          <p:spPr>
            <a:xfrm rot="10800000">
              <a:off x="7332573" y="2236763"/>
              <a:ext cx="10560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97" name="Google Shape;1797;p10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798" name="Google Shape;1798;p100"/>
          <p:cNvGrpSpPr/>
          <p:nvPr/>
        </p:nvGrpSpPr>
        <p:grpSpPr>
          <a:xfrm rot="-5400000">
            <a:off x="6572895" y="3036164"/>
            <a:ext cx="784105" cy="262248"/>
            <a:chOff x="7309296" y="2236773"/>
            <a:chExt cx="1102200" cy="346111"/>
          </a:xfrm>
        </p:grpSpPr>
        <p:sp>
          <p:nvSpPr>
            <p:cNvPr id="1799" name="Google Shape;1799;p100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0" name="Google Shape;1800;p10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01" name="Google Shape;1801;p100"/>
          <p:cNvGrpSpPr/>
          <p:nvPr/>
        </p:nvGrpSpPr>
        <p:grpSpPr>
          <a:xfrm rot="10800000">
            <a:off x="7192095" y="3664871"/>
            <a:ext cx="784105" cy="262248"/>
            <a:chOff x="7309296" y="2236773"/>
            <a:chExt cx="1102200" cy="346111"/>
          </a:xfrm>
        </p:grpSpPr>
        <p:sp>
          <p:nvSpPr>
            <p:cNvPr id="1802" name="Google Shape;1802;p100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3" name="Google Shape;1803;p10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04" name="Google Shape;1804;p100"/>
          <p:cNvGrpSpPr/>
          <p:nvPr/>
        </p:nvGrpSpPr>
        <p:grpSpPr>
          <a:xfrm rot="-5400000">
            <a:off x="7959345" y="3834419"/>
            <a:ext cx="784105" cy="262248"/>
            <a:chOff x="7309296" y="2236773"/>
            <a:chExt cx="1102200" cy="346111"/>
          </a:xfrm>
        </p:grpSpPr>
        <p:sp>
          <p:nvSpPr>
            <p:cNvPr id="1805" name="Google Shape;1805;p100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6" name="Google Shape;1806;p100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07" name="Google Shape;1807;p100"/>
          <p:cNvSpPr txBox="1"/>
          <p:nvPr/>
        </p:nvSpPr>
        <p:spPr>
          <a:xfrm>
            <a:off x="4938600" y="1454350"/>
            <a:ext cx="2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+ 8 = 20.6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8" name="Google Shape;1808;p100"/>
          <p:cNvSpPr txBox="1"/>
          <p:nvPr/>
        </p:nvSpPr>
        <p:spPr>
          <a:xfrm>
            <a:off x="2430425" y="3610650"/>
            <a:ext cx="2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+ 14 = 26.6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9" name="Google Shape;1809;p100"/>
          <p:cNvSpPr txBox="1"/>
          <p:nvPr/>
        </p:nvSpPr>
        <p:spPr>
          <a:xfrm>
            <a:off x="4543625" y="2997938"/>
            <a:ext cx="2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+ 24 = 30.3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10" name="Google Shape;1810;p100"/>
          <p:cNvGrpSpPr/>
          <p:nvPr/>
        </p:nvGrpSpPr>
        <p:grpSpPr>
          <a:xfrm>
            <a:off x="3854812" y="4389903"/>
            <a:ext cx="337459" cy="337459"/>
            <a:chOff x="1020916" y="1442088"/>
            <a:chExt cx="457200" cy="457200"/>
          </a:xfrm>
        </p:grpSpPr>
        <p:pic>
          <p:nvPicPr>
            <p:cNvPr id="1811" name="Google Shape;181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2" name="Google Shape;181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3" name="Google Shape;1813;p100"/>
          <p:cNvGrpSpPr/>
          <p:nvPr/>
        </p:nvGrpSpPr>
        <p:grpSpPr>
          <a:xfrm>
            <a:off x="4486537" y="4389901"/>
            <a:ext cx="337459" cy="337459"/>
            <a:chOff x="1020916" y="1442088"/>
            <a:chExt cx="457200" cy="457200"/>
          </a:xfrm>
        </p:grpSpPr>
        <p:pic>
          <p:nvPicPr>
            <p:cNvPr id="1814" name="Google Shape;181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5" name="Google Shape;181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6" name="Google Shape;1816;p100"/>
          <p:cNvGrpSpPr/>
          <p:nvPr/>
        </p:nvGrpSpPr>
        <p:grpSpPr>
          <a:xfrm>
            <a:off x="5118262" y="4389888"/>
            <a:ext cx="337459" cy="337459"/>
            <a:chOff x="1020916" y="1442088"/>
            <a:chExt cx="457200" cy="457200"/>
          </a:xfrm>
        </p:grpSpPr>
        <p:pic>
          <p:nvPicPr>
            <p:cNvPr id="1817" name="Google Shape;181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8" name="Google Shape;181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9" name="Google Shape;1819;p100"/>
          <p:cNvGrpSpPr/>
          <p:nvPr/>
        </p:nvGrpSpPr>
        <p:grpSpPr>
          <a:xfrm>
            <a:off x="5749987" y="4389901"/>
            <a:ext cx="337459" cy="337459"/>
            <a:chOff x="1020916" y="1442088"/>
            <a:chExt cx="457200" cy="457200"/>
          </a:xfrm>
        </p:grpSpPr>
        <p:pic>
          <p:nvPicPr>
            <p:cNvPr id="1820" name="Google Shape;1820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1" name="Google Shape;182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22" name="Google Shape;1822;p100"/>
          <p:cNvCxnSpPr>
            <a:stCxn id="1811" idx="3"/>
            <a:endCxn id="1815" idx="1"/>
          </p:cNvCxnSpPr>
          <p:nvPr/>
        </p:nvCxnSpPr>
        <p:spPr>
          <a:xfrm flipH="1" rot="10800000">
            <a:off x="4192272" y="4554433"/>
            <a:ext cx="312300" cy="4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3" name="Google Shape;1823;p100"/>
          <p:cNvCxnSpPr/>
          <p:nvPr/>
        </p:nvCxnSpPr>
        <p:spPr>
          <a:xfrm flipH="1" rot="10800000">
            <a:off x="4814972" y="4554433"/>
            <a:ext cx="312300" cy="4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4" name="Google Shape;1824;p100"/>
          <p:cNvCxnSpPr/>
          <p:nvPr/>
        </p:nvCxnSpPr>
        <p:spPr>
          <a:xfrm flipH="1" rot="10800000">
            <a:off x="5437672" y="4554433"/>
            <a:ext cx="312300" cy="4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101"/>
          <p:cNvSpPr txBox="1"/>
          <p:nvPr/>
        </p:nvSpPr>
        <p:spPr>
          <a:xfrm>
            <a:off x="324000" y="997050"/>
            <a:ext cx="72114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perimeter of a sector is 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length plus the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lengths of the two radii that bound the sector.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of composite shapes</a:t>
            </a:r>
            <a:endParaRPr/>
          </a:p>
        </p:txBody>
      </p:sp>
      <p:grpSp>
        <p:nvGrpSpPr>
          <p:cNvPr id="1831" name="Google Shape;1831;p101"/>
          <p:cNvGrpSpPr/>
          <p:nvPr/>
        </p:nvGrpSpPr>
        <p:grpSpPr>
          <a:xfrm>
            <a:off x="7736225" y="1038600"/>
            <a:ext cx="806250" cy="806250"/>
            <a:chOff x="5716925" y="3513750"/>
            <a:chExt cx="1612500" cy="1612500"/>
          </a:xfrm>
        </p:grpSpPr>
        <p:grpSp>
          <p:nvGrpSpPr>
            <p:cNvPr id="1832" name="Google Shape;1832;p101"/>
            <p:cNvGrpSpPr/>
            <p:nvPr/>
          </p:nvGrpSpPr>
          <p:grpSpPr>
            <a:xfrm>
              <a:off x="5716925" y="3513750"/>
              <a:ext cx="1612500" cy="1612500"/>
              <a:chOff x="3824625" y="2371725"/>
              <a:chExt cx="1612500" cy="1612500"/>
            </a:xfrm>
          </p:grpSpPr>
          <p:sp>
            <p:nvSpPr>
              <p:cNvPr id="1833" name="Google Shape;1833;p101"/>
              <p:cNvSpPr/>
              <p:nvPr/>
            </p:nvSpPr>
            <p:spPr>
              <a:xfrm>
                <a:off x="3824625" y="2371725"/>
                <a:ext cx="1612500" cy="1612500"/>
              </a:xfrm>
              <a:prstGeom prst="ellipse">
                <a:avLst/>
              </a:prstGeom>
              <a:noFill/>
              <a:ln cap="flat" cmpd="sng" w="28575">
                <a:solidFill>
                  <a:srgbClr val="CCCCCC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4" name="Google Shape;1834;p101"/>
              <p:cNvSpPr/>
              <p:nvPr/>
            </p:nvSpPr>
            <p:spPr>
              <a:xfrm>
                <a:off x="3824625" y="2371725"/>
                <a:ext cx="1612500" cy="1612500"/>
              </a:xfrm>
              <a:prstGeom prst="pie">
                <a:avLst>
                  <a:gd fmla="val 0" name="adj1"/>
                  <a:gd fmla="val 13287287" name="adj2"/>
                </a:avLst>
              </a:prstGeom>
              <a:noFill/>
              <a:ln cap="flat" cmpd="sng" w="762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5" name="Google Shape;1835;p101"/>
              <p:cNvSpPr/>
              <p:nvPr/>
            </p:nvSpPr>
            <p:spPr>
              <a:xfrm>
                <a:off x="3859595" y="2396160"/>
                <a:ext cx="1556400" cy="1556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836" name="Google Shape;1836;p101"/>
            <p:cNvCxnSpPr>
              <a:endCxn id="1835" idx="6"/>
            </p:cNvCxnSpPr>
            <p:nvPr/>
          </p:nvCxnSpPr>
          <p:spPr>
            <a:xfrm flipH="1" rot="10800000">
              <a:off x="6519595" y="4316385"/>
              <a:ext cx="788700" cy="11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7" name="Google Shape;1837;p101"/>
            <p:cNvCxnSpPr/>
            <p:nvPr/>
          </p:nvCxnSpPr>
          <p:spPr>
            <a:xfrm>
              <a:off x="5916325" y="3740715"/>
              <a:ext cx="616200" cy="599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38" name="Google Shape;1838;p101"/>
          <p:cNvSpPr txBox="1"/>
          <p:nvPr/>
        </p:nvSpPr>
        <p:spPr>
          <a:xfrm>
            <a:off x="324000" y="1931400"/>
            <a:ext cx="8496000" cy="21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use proportional reasoning to find the length of an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find the perimeter of a composite shape, you can break the shape up into its composite lengths, calculate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lengths, and then sum together all the lengths.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44" name="Google Shape;1844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