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A35697-5787-403B-A057-2D24CE9721B1}">
  <a:tblStyle styleId="{32A35697-5787-403B-A057-2D24CE9721B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ed85bee2c3_0_174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ed85bee2c3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of composite shapes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34465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Comparing arcs and perimeters of a sector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1649587"/>
            <a:ext cx="658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sector are congruent to the one on the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each statement with both a calculation and an answer shown on the right.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70246" t="48979"/>
          <a:stretch/>
        </p:blipFill>
        <p:spPr>
          <a:xfrm>
            <a:off x="4268614" y="2242724"/>
            <a:ext cx="615741" cy="61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0"/>
          <p:cNvPicPr preferRelativeResize="0"/>
          <p:nvPr/>
        </p:nvPicPr>
        <p:blipFill rotWithShape="1">
          <a:blip r:embed="rId3">
            <a:alphaModFix/>
          </a:blip>
          <a:srcRect b="48070" l="0" r="70246" t="0"/>
          <a:stretch/>
        </p:blipFill>
        <p:spPr>
          <a:xfrm>
            <a:off x="2537432" y="2243712"/>
            <a:ext cx="615741" cy="62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 rotWithShape="1">
          <a:blip r:embed="rId3">
            <a:alphaModFix/>
          </a:blip>
          <a:srcRect b="0" l="42116" r="0" t="0"/>
          <a:stretch/>
        </p:blipFill>
        <p:spPr>
          <a:xfrm>
            <a:off x="468000" y="2195381"/>
            <a:ext cx="1198799" cy="119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" name="Google Shape;166;p20"/>
          <p:cNvGrpSpPr/>
          <p:nvPr/>
        </p:nvGrpSpPr>
        <p:grpSpPr>
          <a:xfrm>
            <a:off x="1051574" y="2853950"/>
            <a:ext cx="582749" cy="176300"/>
            <a:chOff x="7309296" y="2265259"/>
            <a:chExt cx="1102230" cy="352883"/>
          </a:xfrm>
        </p:grpSpPr>
        <p:sp>
          <p:nvSpPr>
            <p:cNvPr id="167" name="Google Shape;167;p20"/>
            <p:cNvSpPr/>
            <p:nvPr/>
          </p:nvSpPr>
          <p:spPr>
            <a:xfrm>
              <a:off x="7309326" y="2297441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b="0" i="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8" name="Google Shape;168;p20"/>
            <p:cNvCxnSpPr/>
            <p:nvPr/>
          </p:nvCxnSpPr>
          <p:spPr>
            <a:xfrm>
              <a:off x="7309296" y="2265259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69" name="Google Shape;169;p20"/>
          <p:cNvSpPr/>
          <p:nvPr/>
        </p:nvSpPr>
        <p:spPr>
          <a:xfrm>
            <a:off x="2512720" y="2768398"/>
            <a:ext cx="279300" cy="11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754200" y="2217134"/>
            <a:ext cx="279300" cy="11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68000" y="3427977"/>
            <a:ext cx="15915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circumference of this circle is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</a:rPr>
              <a:t>_______________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chemeClr val="dk1"/>
                </a:solidFill>
              </a:rPr>
              <a:t>_______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2219926" y="3433927"/>
            <a:ext cx="1591500" cy="11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length is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</a:rPr>
              <a:t>_______________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en-GB" sz="1200">
                <a:solidFill>
                  <a:schemeClr val="dk1"/>
                </a:solidFill>
              </a:rPr>
              <a:t>_______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3956000" y="3367250"/>
            <a:ext cx="15180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perimeter of this sector is</a:t>
            </a:r>
            <a:endParaRPr sz="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800">
                <a:solidFill>
                  <a:schemeClr val="dk1"/>
                </a:solidFill>
              </a:rPr>
              <a:t>______________________</a:t>
            </a:r>
            <a:endParaRPr sz="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74" name="Google Shape;174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-398" r="94251" t="20358"/>
          <a:stretch/>
        </p:blipFill>
        <p:spPr>
          <a:xfrm>
            <a:off x="6290034" y="3710318"/>
            <a:ext cx="371056" cy="25214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75" name="Google Shape;175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8096" r="85755" t="20358"/>
          <a:stretch/>
        </p:blipFill>
        <p:spPr>
          <a:xfrm>
            <a:off x="6290034" y="4085004"/>
            <a:ext cx="371056" cy="25214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76" name="Google Shape;176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15944" r="77907" t="20358"/>
          <a:stretch/>
        </p:blipFill>
        <p:spPr>
          <a:xfrm>
            <a:off x="6702432" y="3710318"/>
            <a:ext cx="371056" cy="25214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77" name="Google Shape;177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20358" l="23903" r="69949" t="20358"/>
          <a:stretch/>
        </p:blipFill>
        <p:spPr>
          <a:xfrm>
            <a:off x="6702441" y="4085004"/>
            <a:ext cx="371056" cy="25214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78" name="Google Shape;178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32637" r="54531" t="0"/>
          <a:stretch/>
        </p:blipFill>
        <p:spPr>
          <a:xfrm>
            <a:off x="5414242" y="3162451"/>
            <a:ext cx="774546" cy="4253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79" name="Google Shape;179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48203" r="38965" t="0"/>
          <a:stretch/>
        </p:blipFill>
        <p:spPr>
          <a:xfrm>
            <a:off x="5414242" y="2614583"/>
            <a:ext cx="774546" cy="4253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80" name="Google Shape;180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62269" r="24897" t="0"/>
          <a:stretch/>
        </p:blipFill>
        <p:spPr>
          <a:xfrm>
            <a:off x="6290029" y="2614583"/>
            <a:ext cx="774546" cy="4253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81" name="Google Shape;181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75734" r="11433" t="0"/>
          <a:stretch/>
        </p:blipFill>
        <p:spPr>
          <a:xfrm>
            <a:off x="5414242" y="2088924"/>
            <a:ext cx="774546" cy="4253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16\pi\ \ \ \ \ 8\pi\ \ \ \ \ 4\pi\ \ \ \ \ 2\pi\ \ \ \ \ \frac{1}{4}\times16\pi\ \ \ \ \ \frac{1}{4}\times8\pi\ \ \ \ \ 2\pi+4\ \ \ \ \ 2\pi+8\ \ \ \ \ 4\pi+4&quot;&gt;&lt;mn&gt;16&lt;/mn&gt;&lt;mi&gt;π&lt;/mi&gt;&lt;mtext&gt;&lt;/mtext&gt;&lt;mtext&gt;&lt;/mtext&gt;&lt;mtext&gt;&lt;/mtext&gt;&lt;mtext&gt;&lt;/mtext&gt;&lt;mtext&gt;&lt;/mtext&gt;&lt;mn&gt;8&lt;/mn&gt;&lt;mi&gt;π&lt;/mi&gt;&lt;mtext&gt;&lt;/mtext&gt;&lt;mtext&gt;&lt;/mtext&gt;&lt;mtext&gt;&lt;/mtext&gt;&lt;mtext&gt;&lt;/mtext&gt;&lt;mtext&gt;&lt;/mtext&gt;&lt;mn&gt;4&lt;/mn&gt;&lt;mi&gt;π&lt;/mi&gt;&lt;mtext&gt;&lt;/mtext&gt;&lt;mtext&gt;&lt;/mtext&gt;&lt;mtext&gt;&lt;/mtext&gt;&lt;mtext&gt;&lt;/mtext&gt;&lt;mtext&gt;&lt;/mtext&gt;&lt;mn&gt;2&lt;/mn&gt;&lt;mi&gt;π&lt;/mi&gt;&lt;mtext&gt;&lt;/mtext&gt;&lt;mtext&gt;&lt;/mtext&gt;&lt;mtext&gt;&lt;/mtext&gt;&lt;mtext&gt;&lt;/mtext&gt;&lt;mtext&gt;&lt;/mtext&gt;&lt;mfrac&gt;&lt;mn&gt;1&lt;/mn&gt;&lt;mn&gt;4&lt;/mn&gt;&lt;/mfrac&gt;&lt;mo&gt;×&lt;/mo&gt;&lt;mn&gt;16&lt;/mn&gt;&lt;mi&gt;π&lt;/mi&gt;&lt;mtext&gt;&lt;/mtext&gt;&lt;mtext&gt;&lt;/mtext&gt;&lt;mtext&gt;&lt;/mtext&gt;&lt;mtext&gt;&lt;/mtext&gt;&lt;mtext&gt;&lt;/mtext&gt;&lt;mfrac&gt;&lt;mn&gt;1&lt;/mn&gt;&lt;mn&gt;4&lt;/mn&gt;&lt;/mfrac&gt;&lt;mo&gt;×&lt;/mo&gt;&lt;mn&gt;8&lt;/mn&gt;&lt;mi&gt;π&lt;/mi&gt;&lt;mtext&gt;&lt;/mtext&gt;&lt;mtext&gt;&lt;/mtext&gt;&lt;mtext&gt;&lt;/mtext&gt;&lt;mtext&gt;&lt;/mtext&gt;&lt;mtext&gt;&lt;/mtext&gt;&lt;mn&gt;2&lt;/mn&gt;&lt;mi&gt;π&lt;/mi&gt;&lt;mo&gt;+&lt;/mo&gt;&lt;mn&gt;4&lt;/mn&gt;&lt;mtext&gt;&lt;/mtext&gt;&lt;mtext&gt;&lt;/mtext&gt;&lt;mtext&gt;&lt;/mtext&gt;&lt;mtext&gt;&lt;/mtext&gt;&lt;mtext&gt;&lt;/mtext&gt;&lt;mn&gt;2&lt;/mn&gt;&lt;mi&gt;π&lt;/mi&gt;&lt;mo&gt;+&lt;/mo&gt;&lt;mn&gt;8&lt;/mn&gt;&lt;mtext&gt;&lt;/mtext&gt;&lt;mtext&gt;&lt;/mtext&gt;&lt;mtext&gt;&lt;/mtext&gt;&lt;mtext&gt;&lt;/mtext&gt;&lt;mtext&gt;&lt;/mtext&gt;&lt;mn&gt;4&lt;/mn&gt;&lt;mi&gt;π&lt;/mi&gt;&lt;mo&gt;+&lt;/mo&gt;&lt;mn&gt;4&lt;/mn&gt;&lt;/math&gt;" id="182" name="Google Shape;182;p20" title="16 pi 8 pi 4 pi 2 pi one fourth times 16 pi one fourth times 8 pi 2 pi plus 4 2 pi plus 8 4 pi plus 4"/>
          <p:cNvPicPr preferRelativeResize="0"/>
          <p:nvPr/>
        </p:nvPicPr>
        <p:blipFill rotWithShape="1">
          <a:blip r:embed="rId4">
            <a:alphaModFix/>
          </a:blip>
          <a:srcRect b="0" l="89199" r="-2029" t="0"/>
          <a:stretch/>
        </p:blipFill>
        <p:spPr>
          <a:xfrm>
            <a:off x="6290029" y="2088924"/>
            <a:ext cx="774546" cy="4253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2\times\pi\times4\ \ \ \ \ \pi\times4^2\ \ \ \ \ \frac{1}{4}&quot;&gt;&lt;mn&gt;2&lt;/mn&gt;&lt;mo&gt;×&lt;/mo&gt;&lt;mi&gt;π&lt;/mi&gt;&lt;mo&gt;×&lt;/mo&gt;&lt;mn&gt;4&lt;/mn&gt;&lt;mtext&gt;&lt;/mtext&gt;&lt;mtext&gt;&lt;/mtext&gt;&lt;mtext&gt;&lt;/mtext&gt;&lt;mtext&gt;&lt;/mtext&gt;&lt;mtext&gt;&lt;/mtext&gt;&lt;mi&gt;π&lt;/mi&gt;&lt;mo&gt;×&lt;/mo&gt;&lt;msup&gt;&lt;mn&gt;4&lt;/mn&gt;&lt;mn&gt;2&lt;/mn&gt;&lt;/msup&gt;&lt;mtext&gt;&lt;/mtext&gt;&lt;mtext&gt;&lt;/mtext&gt;&lt;mtext&gt;&lt;/mtext&gt;&lt;mtext&gt;&lt;/mtext&gt;&lt;mtext&gt;&lt;/mtext&gt;&lt;mfrac&gt;&lt;mn&gt;1&lt;/mn&gt;&lt;mn&gt;4&lt;/mn&gt;&lt;/mfrac&gt;&lt;/math&gt;" id="183" name="Google Shape;183;p20" title="2 times pi times 4 pi times 4 squared one fourth"/>
          <p:cNvPicPr preferRelativeResize="0"/>
          <p:nvPr/>
        </p:nvPicPr>
        <p:blipFill rotWithShape="1">
          <a:blip r:embed="rId5">
            <a:alphaModFix/>
          </a:blip>
          <a:srcRect b="0" l="0" r="60753" t="0"/>
          <a:stretch/>
        </p:blipFill>
        <p:spPr>
          <a:xfrm>
            <a:off x="6290028" y="3162451"/>
            <a:ext cx="774546" cy="4253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2\times\pi\times4\ \ \ \ \ \pi\times4^2\ \ \ \ \ \frac{1}{4}&quot;&gt;&lt;mn&gt;2&lt;/mn&gt;&lt;mo&gt;×&lt;/mo&gt;&lt;mi&gt;π&lt;/mi&gt;&lt;mo&gt;×&lt;/mo&gt;&lt;mn&gt;4&lt;/mn&gt;&lt;mtext&gt;&lt;/mtext&gt;&lt;mtext&gt;&lt;/mtext&gt;&lt;mtext&gt;&lt;/mtext&gt;&lt;mtext&gt;&lt;/mtext&gt;&lt;mtext&gt;&lt;/mtext&gt;&lt;mi&gt;π&lt;/mi&gt;&lt;mo&gt;×&lt;/mo&gt;&lt;msup&gt;&lt;mn&gt;4&lt;/mn&gt;&lt;mn&gt;2&lt;/mn&gt;&lt;/msup&gt;&lt;mtext&gt;&lt;/mtext&gt;&lt;mtext&gt;&lt;/mtext&gt;&lt;mtext&gt;&lt;/mtext&gt;&lt;mtext&gt;&lt;/mtext&gt;&lt;mtext&gt;&lt;/mtext&gt;&lt;mfrac&gt;&lt;mn&gt;1&lt;/mn&gt;&lt;mn&gt;4&lt;/mn&gt;&lt;/mfrac&gt;&lt;/math&gt;" id="184" name="Google Shape;184;p20" title="2 times pi times 4 pi times 4 squared one fourth"/>
          <p:cNvPicPr preferRelativeResize="0"/>
          <p:nvPr/>
        </p:nvPicPr>
        <p:blipFill rotWithShape="1">
          <a:blip r:embed="rId5">
            <a:alphaModFix/>
          </a:blip>
          <a:srcRect b="0" l="45616" r="15137" t="0"/>
          <a:stretch/>
        </p:blipFill>
        <p:spPr>
          <a:xfrm>
            <a:off x="5418984" y="3710318"/>
            <a:ext cx="774546" cy="42532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" name="Google Shape;185;p20"/>
          <p:cNvSpPr txBox="1"/>
          <p:nvPr/>
        </p:nvSpPr>
        <p:spPr>
          <a:xfrm>
            <a:off x="468000" y="44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Complete the table. Leave your answers in terms of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6" name="Google Shape;186;p20"/>
          <p:cNvGraphicFramePr/>
          <p:nvPr/>
        </p:nvGraphicFramePr>
        <p:xfrm>
          <a:off x="467988" y="46402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{32A35697-5787-403B-A057-2D24CE9721B1}</a:tableStyleId>
              </a:tblPr>
              <a:tblGrid>
                <a:gridCol w="1137500"/>
                <a:gridCol w="1137500"/>
                <a:gridCol w="867625"/>
                <a:gridCol w="1740700"/>
                <a:gridCol w="1740700"/>
              </a:tblGrid>
              <a:tr h="484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corresponding sector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fraction of a full circle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</a:t>
                      </a:r>
                      <a:r>
                        <a:rPr b="1"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arc</a:t>
                      </a: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length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200" u="none" cap="none" strike="noStrike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calculations for  perimeter of sector</a:t>
                      </a:r>
                      <a:endParaRPr sz="1200" u="none" cap="none" strike="noStrike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8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4075"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Complete the table. Round your answers to 1 decimal place.</a:t>
                      </a:r>
                      <a:endParaRPr sz="12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801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8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7" name="Google Shape;187;p20"/>
          <p:cNvPicPr preferRelativeResize="0"/>
          <p:nvPr/>
        </p:nvPicPr>
        <p:blipFill rotWithShape="1">
          <a:blip r:embed="rId6">
            <a:alphaModFix/>
          </a:blip>
          <a:srcRect b="76798" l="0" r="60279" t="0"/>
          <a:stretch/>
        </p:blipFill>
        <p:spPr>
          <a:xfrm>
            <a:off x="1662878" y="5129501"/>
            <a:ext cx="1005905" cy="54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0"/>
          <p:cNvPicPr preferRelativeResize="0"/>
          <p:nvPr/>
        </p:nvPicPr>
        <p:blipFill rotWithShape="1">
          <a:blip r:embed="rId6">
            <a:alphaModFix/>
          </a:blip>
          <a:srcRect b="26969" l="0" r="60279" t="49828"/>
          <a:stretch/>
        </p:blipFill>
        <p:spPr>
          <a:xfrm>
            <a:off x="540676" y="5129497"/>
            <a:ext cx="827022" cy="451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0"/>
          <p:cNvPicPr preferRelativeResize="0"/>
          <p:nvPr/>
        </p:nvPicPr>
        <p:blipFill rotWithShape="1">
          <a:blip r:embed="rId6">
            <a:alphaModFix/>
          </a:blip>
          <a:srcRect b="77736" l="40789" r="27547" t="-937"/>
          <a:stretch/>
        </p:blipFill>
        <p:spPr>
          <a:xfrm>
            <a:off x="1764910" y="5841555"/>
            <a:ext cx="801846" cy="54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/>
          <p:cNvPicPr preferRelativeResize="0"/>
          <p:nvPr/>
        </p:nvPicPr>
        <p:blipFill rotWithShape="1">
          <a:blip r:embed="rId6">
            <a:alphaModFix/>
          </a:blip>
          <a:srcRect b="26969" l="40789" r="27547" t="49828"/>
          <a:stretch/>
        </p:blipFill>
        <p:spPr>
          <a:xfrm>
            <a:off x="636689" y="5918529"/>
            <a:ext cx="798181" cy="546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 rotWithShape="1">
          <a:blip r:embed="rId6">
            <a:alphaModFix/>
          </a:blip>
          <a:srcRect b="77736" l="72149" r="-3812" t="-937"/>
          <a:stretch/>
        </p:blipFill>
        <p:spPr>
          <a:xfrm>
            <a:off x="1745860" y="6616075"/>
            <a:ext cx="801846" cy="5489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0"/>
          <p:cNvPicPr preferRelativeResize="0"/>
          <p:nvPr/>
        </p:nvPicPr>
        <p:blipFill rotWithShape="1">
          <a:blip r:embed="rId6">
            <a:alphaModFix/>
          </a:blip>
          <a:srcRect b="26082" l="72149" r="-3812" t="50714"/>
          <a:stretch/>
        </p:blipFill>
        <p:spPr>
          <a:xfrm>
            <a:off x="636689" y="6804061"/>
            <a:ext cx="798181" cy="5464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20"/>
          <p:cNvGrpSpPr/>
          <p:nvPr/>
        </p:nvGrpSpPr>
        <p:grpSpPr>
          <a:xfrm>
            <a:off x="2168640" y="5642493"/>
            <a:ext cx="445191" cy="200412"/>
            <a:chOff x="7309296" y="2227128"/>
            <a:chExt cx="1102230" cy="330332"/>
          </a:xfrm>
        </p:grpSpPr>
        <p:sp>
          <p:nvSpPr>
            <p:cNvPr id="194" name="Google Shape;194;p20"/>
            <p:cNvSpPr/>
            <p:nvPr/>
          </p:nvSpPr>
          <p:spPr>
            <a:xfrm>
              <a:off x="7309326" y="2236760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6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5" name="Google Shape;195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196" name="Google Shape;196;p20"/>
          <p:cNvSpPr txBox="1"/>
          <p:nvPr/>
        </p:nvSpPr>
        <p:spPr>
          <a:xfrm>
            <a:off x="1959493" y="5220858"/>
            <a:ext cx="496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180°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2010264" y="6852344"/>
            <a:ext cx="38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" name="Google Shape;198;p20"/>
          <p:cNvGrpSpPr/>
          <p:nvPr/>
        </p:nvGrpSpPr>
        <p:grpSpPr>
          <a:xfrm>
            <a:off x="1971597" y="6379814"/>
            <a:ext cx="522727" cy="200411"/>
            <a:chOff x="7213342" y="2227128"/>
            <a:chExt cx="1294200" cy="330330"/>
          </a:xfrm>
        </p:grpSpPr>
        <p:sp>
          <p:nvSpPr>
            <p:cNvPr id="199" name="Google Shape;199;p20"/>
            <p:cNvSpPr/>
            <p:nvPr/>
          </p:nvSpPr>
          <p:spPr>
            <a:xfrm>
              <a:off x="7213342" y="2236758"/>
              <a:ext cx="1294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16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0" name="Google Shape;200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01" name="Google Shape;201;p20"/>
          <p:cNvGrpSpPr/>
          <p:nvPr/>
        </p:nvGrpSpPr>
        <p:grpSpPr>
          <a:xfrm>
            <a:off x="1923269" y="7176725"/>
            <a:ext cx="633719" cy="200411"/>
            <a:chOff x="7213313" y="2227128"/>
            <a:chExt cx="1569000" cy="330329"/>
          </a:xfrm>
        </p:grpSpPr>
        <p:sp>
          <p:nvSpPr>
            <p:cNvPr id="202" name="Google Shape;202;p20"/>
            <p:cNvSpPr/>
            <p:nvPr/>
          </p:nvSpPr>
          <p:spPr>
            <a:xfrm>
              <a:off x="7213313" y="2236757"/>
              <a:ext cx="1569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10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03" name="Google Shape;203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pic>
        <p:nvPicPr>
          <p:cNvPr descr="&lt;math xmlns=&quot;http://www.w3.org/1998/Math/MathML&quot; display=&quot;block&quot; data-is-equatio=&quot;1&quot; data-latex=&quot;\frac{72}{360}=\frac{1}{5}&quot;&gt;&lt;mfrac&gt;&lt;mn&gt;72&lt;/mn&gt;&lt;mn&gt;360&lt;/mn&gt;&lt;/mfrac&gt;&lt;mo&gt;=&lt;/mo&gt;&lt;mfrac&gt;&lt;mn&gt;1&lt;/mn&gt;&lt;mn&gt;5&lt;/mn&gt;&lt;/mfrac&gt;&lt;/math&gt;" id="204" name="Google Shape;204;p20" title="72 over 360 equals one fifth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20552" y="6807626"/>
            <a:ext cx="720000" cy="4046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times2\times\pi\times10=4\pi&quot;&gt;&lt;mfrac&gt;&lt;mn&gt;1&lt;/mn&gt;&lt;mn&gt;5&lt;/mn&gt;&lt;/mfrac&gt;&lt;mo&gt;×&lt;/mo&gt;&lt;mn&gt;2&lt;/mn&gt;&lt;mo&gt;×&lt;/mo&gt;&lt;mi&gt;π&lt;/mi&gt;&lt;mo&gt;×&lt;/mo&gt;&lt;mn&gt;10&lt;/mn&gt;&lt;mo&gt;=&lt;/mo&gt;&lt;mn&gt;4&lt;/mn&gt;&lt;mi&gt;π&lt;/mi&gt;&lt;/math&gt;" id="205" name="Google Shape;205;p20" title="one fifth times 2 times pi times 10 equals 4 pi"/>
          <p:cNvPicPr preferRelativeResize="0"/>
          <p:nvPr/>
        </p:nvPicPr>
        <p:blipFill rotWithShape="1">
          <a:blip r:embed="rId8">
            <a:alphaModFix/>
          </a:blip>
          <a:srcRect b="0" l="0" r="26253" t="0"/>
          <a:stretch/>
        </p:blipFill>
        <p:spPr>
          <a:xfrm>
            <a:off x="3848780" y="6751095"/>
            <a:ext cx="1123105" cy="3761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\times2\times\pi\times10=4\pi&quot;&gt;&lt;mfrac&gt;&lt;mn&gt;1&lt;/mn&gt;&lt;mn&gt;5&lt;/mn&gt;&lt;/mfrac&gt;&lt;mo&gt;×&lt;/mo&gt;&lt;mn&gt;2&lt;/mn&gt;&lt;mo&gt;×&lt;/mo&gt;&lt;mi&gt;π&lt;/mi&gt;&lt;mo&gt;×&lt;/mo&gt;&lt;mn&gt;10&lt;/mn&gt;&lt;mo&gt;=&lt;/mo&gt;&lt;mn&gt;4&lt;/mn&gt;&lt;mi&gt;π&lt;/mi&gt;&lt;/math&gt;" id="206" name="Google Shape;206;p20" title="one fifth times 2 times pi times 10 equals 4 pi"/>
          <p:cNvPicPr preferRelativeResize="0"/>
          <p:nvPr/>
        </p:nvPicPr>
        <p:blipFill rotWithShape="1">
          <a:blip r:embed="rId8">
            <a:alphaModFix/>
          </a:blip>
          <a:srcRect b="0" l="75560" r="0" t="0"/>
          <a:stretch/>
        </p:blipFill>
        <p:spPr>
          <a:xfrm>
            <a:off x="4224237" y="7041603"/>
            <a:ext cx="372197" cy="376181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5557300" y="5600000"/>
            <a:ext cx="1320600" cy="1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0" i="1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+ 12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489975" y="5092550"/>
            <a:ext cx="204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73738" y="5903636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473738" y="6653821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5380401" y="6822409"/>
            <a:ext cx="17409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0" i="1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</a:t>
            </a:r>
            <a:r>
              <a:rPr lang="en-GB" sz="1600">
                <a:latin typeface="Times New Roman"/>
                <a:ea typeface="Times New Roman"/>
                <a:cs typeface="Times New Roman"/>
                <a:sym typeface="Times New Roman"/>
              </a:rPr>
              <a:t>10 + 10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473738" y="7623988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473738" y="8410100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73738" y="9188860"/>
            <a:ext cx="247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b="0" i="0" lang="en-GB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</a:t>
            </a:r>
            <a:endParaRPr b="0" i="1" sz="1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 rotWithShape="1">
          <a:blip r:embed="rId6">
            <a:alphaModFix/>
          </a:blip>
          <a:srcRect b="922" l="-4928" r="74257" t="81160"/>
          <a:stretch/>
        </p:blipFill>
        <p:spPr>
          <a:xfrm>
            <a:off x="725103" y="7775320"/>
            <a:ext cx="871735" cy="475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 rotWithShape="1">
          <a:blip r:embed="rId6">
            <a:alphaModFix/>
          </a:blip>
          <a:srcRect b="-589" l="31834" r="36501" t="77387"/>
          <a:stretch/>
        </p:blipFill>
        <p:spPr>
          <a:xfrm>
            <a:off x="835778" y="8502005"/>
            <a:ext cx="694901" cy="475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/>
          <p:cNvPicPr preferRelativeResize="0"/>
          <p:nvPr/>
        </p:nvPicPr>
        <p:blipFill rotWithShape="1">
          <a:blip r:embed="rId6">
            <a:alphaModFix/>
          </a:blip>
          <a:srcRect b="-272" l="71208" r="9181" t="84174"/>
          <a:stretch/>
        </p:blipFill>
        <p:spPr>
          <a:xfrm>
            <a:off x="878307" y="9449077"/>
            <a:ext cx="565328" cy="433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/>
          <p:cNvPicPr preferRelativeResize="0"/>
          <p:nvPr/>
        </p:nvPicPr>
        <p:blipFill rotWithShape="1">
          <a:blip r:embed="rId6">
            <a:alphaModFix/>
          </a:blip>
          <a:srcRect b="51648" l="-4928" r="74257" t="30435"/>
          <a:stretch/>
        </p:blipFill>
        <p:spPr>
          <a:xfrm>
            <a:off x="1669302" y="7619003"/>
            <a:ext cx="905174" cy="493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0"/>
          <p:cNvPicPr preferRelativeResize="0"/>
          <p:nvPr/>
        </p:nvPicPr>
        <p:blipFill rotWithShape="1">
          <a:blip r:embed="rId6">
            <a:alphaModFix/>
          </a:blip>
          <a:srcRect b="49944" l="31834" r="36501" t="26853"/>
          <a:stretch/>
        </p:blipFill>
        <p:spPr>
          <a:xfrm>
            <a:off x="1795878" y="8438956"/>
            <a:ext cx="721559" cy="493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/>
          <p:cNvPicPr preferRelativeResize="0"/>
          <p:nvPr/>
        </p:nvPicPr>
        <p:blipFill rotWithShape="1">
          <a:blip r:embed="rId6">
            <a:alphaModFix/>
          </a:blip>
          <a:srcRect b="49942" l="71208" r="9181" t="33960"/>
          <a:stretch/>
        </p:blipFill>
        <p:spPr>
          <a:xfrm>
            <a:off x="1808578" y="9259692"/>
            <a:ext cx="587014" cy="4502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0"/>
          <p:cNvGrpSpPr/>
          <p:nvPr/>
        </p:nvGrpSpPr>
        <p:grpSpPr>
          <a:xfrm>
            <a:off x="1898832" y="8134469"/>
            <a:ext cx="698162" cy="209332"/>
            <a:chOff x="7309296" y="2227128"/>
            <a:chExt cx="1448469" cy="383391"/>
          </a:xfrm>
        </p:grpSpPr>
        <p:sp>
          <p:nvSpPr>
            <p:cNvPr id="222" name="Google Shape;222;p20"/>
            <p:cNvSpPr/>
            <p:nvPr/>
          </p:nvSpPr>
          <p:spPr>
            <a:xfrm>
              <a:off x="7309365" y="2289819"/>
              <a:ext cx="14484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24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3" name="Google Shape;223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24" name="Google Shape;224;p20"/>
          <p:cNvSpPr txBox="1"/>
          <p:nvPr/>
        </p:nvSpPr>
        <p:spPr>
          <a:xfrm>
            <a:off x="1961314" y="7863071"/>
            <a:ext cx="44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2000192" y="9416422"/>
            <a:ext cx="34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6" name="Google Shape;226;p20"/>
          <p:cNvGrpSpPr/>
          <p:nvPr/>
        </p:nvGrpSpPr>
        <p:grpSpPr>
          <a:xfrm>
            <a:off x="1982895" y="8923449"/>
            <a:ext cx="587941" cy="215116"/>
            <a:chOff x="7213352" y="2227128"/>
            <a:chExt cx="1617000" cy="393985"/>
          </a:xfrm>
        </p:grpSpPr>
        <p:sp>
          <p:nvSpPr>
            <p:cNvPr id="227" name="Google Shape;227;p20"/>
            <p:cNvSpPr/>
            <p:nvPr/>
          </p:nvSpPr>
          <p:spPr>
            <a:xfrm>
              <a:off x="7213352" y="2300413"/>
              <a:ext cx="1617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27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8" name="Google Shape;228;p20"/>
            <p:cNvCxnSpPr/>
            <p:nvPr/>
          </p:nvCxnSpPr>
          <p:spPr>
            <a:xfrm>
              <a:off x="7309296" y="222712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229" name="Google Shape;229;p20"/>
          <p:cNvGrpSpPr/>
          <p:nvPr/>
        </p:nvGrpSpPr>
        <p:grpSpPr>
          <a:xfrm>
            <a:off x="1758295" y="9688745"/>
            <a:ext cx="749052" cy="252376"/>
            <a:chOff x="6974350" y="2137687"/>
            <a:chExt cx="2060100" cy="462227"/>
          </a:xfrm>
        </p:grpSpPr>
        <p:sp>
          <p:nvSpPr>
            <p:cNvPr id="230" name="Google Shape;230;p20"/>
            <p:cNvSpPr/>
            <p:nvPr/>
          </p:nvSpPr>
          <p:spPr>
            <a:xfrm>
              <a:off x="6974350" y="2279214"/>
              <a:ext cx="20601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GB" sz="12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45 cm</a:t>
              </a:r>
              <a:endParaRPr b="0" i="0" sz="12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1" name="Google Shape;231;p20"/>
            <p:cNvCxnSpPr/>
            <p:nvPr/>
          </p:nvCxnSpPr>
          <p:spPr>
            <a:xfrm>
              <a:off x="7217250" y="2137687"/>
              <a:ext cx="1329900" cy="12000"/>
            </a:xfrm>
            <a:prstGeom prst="straightConnector1">
              <a:avLst/>
            </a:prstGeom>
            <a:noFill/>
            <a:ln cap="flat" cmpd="sng" w="19050">
              <a:solidFill>
                <a:srgbClr val="845AD9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32" name="Google Shape;232;p20"/>
          <p:cNvSpPr txBox="1"/>
          <p:nvPr/>
        </p:nvSpPr>
        <p:spPr>
          <a:xfrm>
            <a:off x="1953439" y="8582149"/>
            <a:ext cx="633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120°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5302297" y="8120550"/>
            <a:ext cx="17859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73.1 cm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3516525" y="8888100"/>
            <a:ext cx="17859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GB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56.5 cm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Perimeter of composite shapes</a:t>
            </a:r>
            <a:endParaRPr/>
          </a:p>
        </p:txBody>
      </p:sp>
      <p:sp>
        <p:nvSpPr>
          <p:cNvPr id="240" name="Google Shape;24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58718" r="2377" t="0"/>
          <a:stretch/>
        </p:blipFill>
        <p:spPr>
          <a:xfrm>
            <a:off x="515625" y="4189333"/>
            <a:ext cx="1104199" cy="1186672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468001" y="6565700"/>
            <a:ext cx="448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Hence, find the total perimeter of this shape.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468000" y="3942671"/>
            <a:ext cx="652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The composite shape has been broken down into its component lengths.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4" name="Google Shape;244;p21"/>
          <p:cNvGrpSpPr/>
          <p:nvPr/>
        </p:nvGrpSpPr>
        <p:grpSpPr>
          <a:xfrm flipH="1" rot="10800000">
            <a:off x="530104" y="5277067"/>
            <a:ext cx="641491" cy="167644"/>
            <a:chOff x="7158699" y="2236752"/>
            <a:chExt cx="1403700" cy="390506"/>
          </a:xfrm>
        </p:grpSpPr>
        <p:sp>
          <p:nvSpPr>
            <p:cNvPr id="245" name="Google Shape;245;p21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6" name="Google Shape;246;p21"/>
            <p:cNvCxnSpPr/>
            <p:nvPr/>
          </p:nvCxnSpPr>
          <p:spPr>
            <a:xfrm>
              <a:off x="7309296" y="2627258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47" name="Google Shape;247;p21"/>
          <p:cNvSpPr txBox="1"/>
          <p:nvPr/>
        </p:nvSpPr>
        <p:spPr>
          <a:xfrm>
            <a:off x="1742249" y="4234075"/>
            <a:ext cx="32094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Write down the length of all four of these straight lines.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8" name="Google Shape;248;p21"/>
          <p:cNvCxnSpPr/>
          <p:nvPr/>
        </p:nvCxnSpPr>
        <p:spPr>
          <a:xfrm>
            <a:off x="845872" y="5185534"/>
            <a:ext cx="0" cy="67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1"/>
          <p:cNvCxnSpPr/>
          <p:nvPr/>
        </p:nvCxnSpPr>
        <p:spPr>
          <a:xfrm rot="10800000">
            <a:off x="593022" y="4937935"/>
            <a:ext cx="0" cy="678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1"/>
          <p:cNvCxnSpPr/>
          <p:nvPr/>
        </p:nvCxnSpPr>
        <p:spPr>
          <a:xfrm>
            <a:off x="1377124" y="5092178"/>
            <a:ext cx="0" cy="92027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1"/>
          <p:cNvCxnSpPr/>
          <p:nvPr/>
        </p:nvCxnSpPr>
        <p:spPr>
          <a:xfrm>
            <a:off x="674091" y="4418299"/>
            <a:ext cx="0" cy="67833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52" name="Google Shape;252;p21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>
            <a:off x="5384715" y="4193965"/>
            <a:ext cx="174307" cy="587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1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1080008">
            <a:off x="5081155" y="4186619"/>
            <a:ext cx="174307" cy="58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1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3719945">
            <a:off x="6445668" y="4144628"/>
            <a:ext cx="174306" cy="587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1"/>
          <p:cNvPicPr preferRelativeResize="0"/>
          <p:nvPr/>
        </p:nvPicPr>
        <p:blipFill rotWithShape="1">
          <a:blip r:embed="rId3">
            <a:alphaModFix/>
          </a:blip>
          <a:srcRect b="24880" l="16859" r="76914" t="24885"/>
          <a:stretch/>
        </p:blipFill>
        <p:spPr>
          <a:xfrm rot="5400000">
            <a:off x="5808522" y="4488890"/>
            <a:ext cx="174309" cy="587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1"/>
          <p:cNvPicPr preferRelativeResize="0"/>
          <p:nvPr/>
        </p:nvPicPr>
        <p:blipFill rotWithShape="1">
          <a:blip r:embed="rId3">
            <a:alphaModFix/>
          </a:blip>
          <a:srcRect b="52720" l="0" r="84305" t="0"/>
          <a:stretch/>
        </p:blipFill>
        <p:spPr>
          <a:xfrm>
            <a:off x="4994575" y="5098783"/>
            <a:ext cx="421975" cy="531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1"/>
          <p:cNvPicPr preferRelativeResize="0"/>
          <p:nvPr/>
        </p:nvPicPr>
        <p:blipFill rotWithShape="1">
          <a:blip r:embed="rId3">
            <a:alphaModFix/>
          </a:blip>
          <a:srcRect b="52720" l="0" r="84305" t="0"/>
          <a:stretch/>
        </p:blipFill>
        <p:spPr>
          <a:xfrm flipH="1" rot="5400000">
            <a:off x="5572151" y="5078036"/>
            <a:ext cx="421957" cy="53149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722755" y="4454948"/>
            <a:ext cx="30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1138328" y="4890206"/>
            <a:ext cx="30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72°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468001" y="5799600"/>
            <a:ext cx="4948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Complete this calculation to find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length of each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1742249" y="5113663"/>
            <a:ext cx="3068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fraction of a full circle do each of these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arcs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represent?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1"/>
          <p:cNvSpPr txBox="1"/>
          <p:nvPr/>
        </p:nvSpPr>
        <p:spPr>
          <a:xfrm>
            <a:off x="491952" y="592175"/>
            <a:ext cx="62856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Finding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perimeters of closed composite shapes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1"/>
          <p:cNvSpPr txBox="1"/>
          <p:nvPr/>
        </p:nvSpPr>
        <p:spPr>
          <a:xfrm>
            <a:off x="476498" y="3477101"/>
            <a:ext cx="418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 Hence, find the total perimeter of this shape.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1"/>
          <p:cNvSpPr txBox="1"/>
          <p:nvPr/>
        </p:nvSpPr>
        <p:spPr>
          <a:xfrm>
            <a:off x="476459" y="2906876"/>
            <a:ext cx="37941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Complete this calculation to find the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arc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length of this semicircle.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1877792" y="2247610"/>
            <a:ext cx="3016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is the radius of this semicircle?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76459" y="866851"/>
            <a:ext cx="661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The composite shape has been broken down into its component lengths.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7" name="Google Shape;267;p21"/>
          <p:cNvPicPr preferRelativeResize="0"/>
          <p:nvPr/>
        </p:nvPicPr>
        <p:blipFill rotWithShape="1">
          <a:blip r:embed="rId4">
            <a:alphaModFix/>
          </a:blip>
          <a:srcRect b="0" l="0" r="64997" t="14632"/>
          <a:stretch/>
        </p:blipFill>
        <p:spPr>
          <a:xfrm>
            <a:off x="891977" y="1174800"/>
            <a:ext cx="840469" cy="912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1"/>
          <p:cNvPicPr preferRelativeResize="0"/>
          <p:nvPr/>
        </p:nvPicPr>
        <p:blipFill rotWithShape="1">
          <a:blip r:embed="rId4">
            <a:alphaModFix/>
          </a:blip>
          <a:srcRect b="0" l="51724" r="965" t="49675"/>
          <a:stretch/>
        </p:blipFill>
        <p:spPr>
          <a:xfrm>
            <a:off x="5493700" y="1292200"/>
            <a:ext cx="1098001" cy="5193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1"/>
          <p:cNvPicPr preferRelativeResize="0"/>
          <p:nvPr/>
        </p:nvPicPr>
        <p:blipFill rotWithShape="1">
          <a:blip r:embed="rId4">
            <a:alphaModFix/>
          </a:blip>
          <a:srcRect b="58629" l="57473" r="6714" t="-2072"/>
          <a:stretch/>
        </p:blipFill>
        <p:spPr>
          <a:xfrm>
            <a:off x="5503654" y="2003292"/>
            <a:ext cx="1198381" cy="647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21"/>
          <p:cNvGrpSpPr/>
          <p:nvPr/>
        </p:nvGrpSpPr>
        <p:grpSpPr>
          <a:xfrm flipH="1" rot="10800000">
            <a:off x="797552" y="2107280"/>
            <a:ext cx="1017542" cy="146413"/>
            <a:chOff x="7158699" y="2236752"/>
            <a:chExt cx="1403700" cy="346131"/>
          </a:xfrm>
        </p:grpSpPr>
        <p:sp>
          <p:nvSpPr>
            <p:cNvPr id="271" name="Google Shape;271;p21"/>
            <p:cNvSpPr/>
            <p:nvPr/>
          </p:nvSpPr>
          <p:spPr>
            <a:xfrm rot="10800000">
              <a:off x="7158699" y="2236752"/>
              <a:ext cx="1403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72" name="Google Shape;272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273" name="Google Shape;273;p21"/>
          <p:cNvSpPr/>
          <p:nvPr/>
        </p:nvSpPr>
        <p:spPr>
          <a:xfrm>
            <a:off x="351473" y="1578375"/>
            <a:ext cx="483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1877792" y="1280759"/>
            <a:ext cx="30168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Write down the length of all three of these straight lines.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\times2\times\pi\times\ \ \ \ \ \ \ \ \ =&quot;&gt;&lt;mfrac&gt;&lt;mn&gt;1&lt;/mn&gt;&lt;mn&gt;2&lt;/mn&gt;&lt;/mfrac&gt;&lt;mo&gt;×&lt;/mo&gt;&lt;mn&gt;2&lt;/mn&gt;&lt;mo&gt;×&lt;/mo&gt;&lt;mi&gt;π&lt;/mi&gt;&lt;mo&gt;×&lt;/mo&gt;&lt;mtext&gt;&lt;/mtext&gt;&lt;mtext&gt;&lt;/mtext&gt;&lt;mtext&gt;&lt;/mtext&gt;&lt;mtext&gt;&lt;/mtext&gt;&lt;mtext&gt;&lt;/mtext&gt;&lt;mtext&gt;&lt;/mtext&gt;&lt;mtext&gt;&lt;/mtext&gt;&lt;mtext&gt;&lt;/mtext&gt;&lt;mtext&gt;&lt;/mtext&gt;&lt;mo&gt;=&lt;/mo&gt;&lt;/math&gt;" id="275" name="Google Shape;275;p21" title="one half times 2 times pi times equal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8600" y="3002050"/>
            <a:ext cx="1357818" cy="340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1"/>
          <p:cNvSpPr txBox="1"/>
          <p:nvPr/>
        </p:nvSpPr>
        <p:spPr>
          <a:xfrm>
            <a:off x="5300226" y="3071700"/>
            <a:ext cx="39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____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5843490" y="3074244"/>
            <a:ext cx="66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____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872250" y="6144550"/>
            <a:ext cx="6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/>
              <a:t>_____</a:t>
            </a:r>
            <a:endParaRPr sz="1200"/>
          </a:p>
        </p:txBody>
      </p:sp>
      <p:sp>
        <p:nvSpPr>
          <p:cNvPr id="279" name="Google Shape;279;p21"/>
          <p:cNvSpPr txBox="1"/>
          <p:nvPr/>
        </p:nvSpPr>
        <p:spPr>
          <a:xfrm>
            <a:off x="2688822" y="6144550"/>
            <a:ext cx="588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/>
              <a:t>_____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\ }{\ }\times2\times\pi\times\ \ \ \ \ \ \ \ \ =\ \ \ \ \ \ \frac{2}{5}&quot;&gt;&lt;mfrac&gt;&lt;mtext&gt;&lt;/mtext&gt;&lt;mtext&gt;&lt;/mtext&gt;&lt;/mfrac&gt;&lt;mo&gt;×&lt;/mo&gt;&lt;mn&gt;2&lt;/mn&gt;&lt;mo&gt;×&lt;/mo&gt;&lt;mi&gt;π&lt;/mi&gt;&lt;mo&gt;×&lt;/mo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text&gt;&lt;/mtext&gt;&lt;mtext&gt;&lt;/mtext&gt;&lt;mtext&gt;&lt;/mtext&gt;&lt;mtext&gt;&lt;/mtext&gt;&lt;mtext&gt;&lt;/mtext&gt;&lt;mfrac&gt;&lt;mn&gt;2&lt;/mn&gt;&lt;mn&gt;5&lt;/mn&gt;&lt;/mfrac&gt;&lt;/math&gt;" id="280" name="Google Shape;280;p21"/>
          <p:cNvPicPr preferRelativeResize="0"/>
          <p:nvPr/>
        </p:nvPicPr>
        <p:blipFill rotWithShape="1">
          <a:blip r:embed="rId6">
            <a:alphaModFix/>
          </a:blip>
          <a:srcRect b="0" l="5240" r="21154" t="0"/>
          <a:stretch/>
        </p:blipFill>
        <p:spPr>
          <a:xfrm>
            <a:off x="1141759" y="6025985"/>
            <a:ext cx="1575635" cy="42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641862" y="6028540"/>
            <a:ext cx="529500" cy="3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___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482025" y="7079301"/>
            <a:ext cx="66099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 Starting with the smallest perimeter, sort these shapes in terms of the size of their perimeters.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1"/>
          <p:cNvPicPr preferRelativeResize="0"/>
          <p:nvPr/>
        </p:nvPicPr>
        <p:blipFill rotWithShape="1">
          <a:blip r:embed="rId7">
            <a:alphaModFix/>
          </a:blip>
          <a:srcRect b="44706" l="251" r="72151" t="2937"/>
          <a:stretch/>
        </p:blipFill>
        <p:spPr>
          <a:xfrm>
            <a:off x="564287" y="7600054"/>
            <a:ext cx="982254" cy="99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/>
          <p:cNvPicPr preferRelativeResize="0"/>
          <p:nvPr/>
        </p:nvPicPr>
        <p:blipFill rotWithShape="1">
          <a:blip r:embed="rId7">
            <a:alphaModFix/>
          </a:blip>
          <a:srcRect b="67974" l="33172" r="39230" t="2937"/>
          <a:stretch/>
        </p:blipFill>
        <p:spPr>
          <a:xfrm>
            <a:off x="5729953" y="7634132"/>
            <a:ext cx="982254" cy="552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/>
          <p:cNvPicPr preferRelativeResize="0"/>
          <p:nvPr/>
        </p:nvPicPr>
        <p:blipFill rotWithShape="1">
          <a:blip r:embed="rId7">
            <a:alphaModFix/>
          </a:blip>
          <a:srcRect b="1937" l="33172" r="39230" t="45706"/>
          <a:stretch/>
        </p:blipFill>
        <p:spPr>
          <a:xfrm>
            <a:off x="5806153" y="8677418"/>
            <a:ext cx="982254" cy="99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/>
          <p:cNvPicPr preferRelativeResize="0"/>
          <p:nvPr/>
        </p:nvPicPr>
        <p:blipFill rotWithShape="1">
          <a:blip r:embed="rId7">
            <a:alphaModFix/>
          </a:blip>
          <a:srcRect b="51359" l="69750" r="2652" t="2232"/>
          <a:stretch/>
        </p:blipFill>
        <p:spPr>
          <a:xfrm>
            <a:off x="564287" y="8740022"/>
            <a:ext cx="982254" cy="8817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p21"/>
          <p:cNvGrpSpPr/>
          <p:nvPr/>
        </p:nvGrpSpPr>
        <p:grpSpPr>
          <a:xfrm>
            <a:off x="1546495" y="7573134"/>
            <a:ext cx="258638" cy="239710"/>
            <a:chOff x="1020916" y="1442088"/>
            <a:chExt cx="457200" cy="457200"/>
          </a:xfrm>
        </p:grpSpPr>
        <p:pic>
          <p:nvPicPr>
            <p:cNvPr id="288" name="Google Shape;288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9" name="Google Shape;28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0" name="Google Shape;290;p21"/>
          <p:cNvGrpSpPr/>
          <p:nvPr/>
        </p:nvGrpSpPr>
        <p:grpSpPr>
          <a:xfrm>
            <a:off x="1546550" y="8868626"/>
            <a:ext cx="263545" cy="239710"/>
            <a:chOff x="1020916" y="1442088"/>
            <a:chExt cx="465875" cy="457200"/>
          </a:xfrm>
        </p:grpSpPr>
        <p:pic>
          <p:nvPicPr>
            <p:cNvPr id="291" name="Google Shape;291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21"/>
            <p:cNvSpPr txBox="1"/>
            <p:nvPr/>
          </p:nvSpPr>
          <p:spPr>
            <a:xfrm>
              <a:off x="1028691" y="1508233"/>
              <a:ext cx="458100" cy="31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3" name="Google Shape;293;p21"/>
          <p:cNvGrpSpPr/>
          <p:nvPr/>
        </p:nvGrpSpPr>
        <p:grpSpPr>
          <a:xfrm>
            <a:off x="6589605" y="8496751"/>
            <a:ext cx="259187" cy="259187"/>
            <a:chOff x="1020916" y="1442088"/>
            <a:chExt cx="457200" cy="457200"/>
          </a:xfrm>
        </p:grpSpPr>
        <p:pic>
          <p:nvPicPr>
            <p:cNvPr id="294" name="Google Shape;294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6" name="Google Shape;296;p21"/>
          <p:cNvGrpSpPr/>
          <p:nvPr/>
        </p:nvGrpSpPr>
        <p:grpSpPr>
          <a:xfrm>
            <a:off x="6589574" y="7492054"/>
            <a:ext cx="258638" cy="239710"/>
            <a:chOff x="1020916" y="1442088"/>
            <a:chExt cx="457200" cy="457200"/>
          </a:xfrm>
        </p:grpSpPr>
        <p:pic>
          <p:nvPicPr>
            <p:cNvPr id="297" name="Google Shape;297;p2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8" name="Google Shape;298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99" name="Google Shape;299;p21"/>
          <p:cNvGrpSpPr/>
          <p:nvPr/>
        </p:nvGrpSpPr>
        <p:grpSpPr>
          <a:xfrm rot="10800000">
            <a:off x="1051624" y="8093177"/>
            <a:ext cx="486829" cy="168796"/>
            <a:chOff x="7249889" y="2204756"/>
            <a:chExt cx="1161607" cy="378128"/>
          </a:xfrm>
        </p:grpSpPr>
        <p:sp>
          <p:nvSpPr>
            <p:cNvPr id="300" name="Google Shape;300;p21"/>
            <p:cNvSpPr/>
            <p:nvPr/>
          </p:nvSpPr>
          <p:spPr>
            <a:xfrm rot="10800000">
              <a:off x="7249889" y="2204756"/>
              <a:ext cx="11022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1" name="Google Shape;301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02" name="Google Shape;302;p21"/>
          <p:cNvGrpSpPr/>
          <p:nvPr/>
        </p:nvGrpSpPr>
        <p:grpSpPr>
          <a:xfrm rot="10800000">
            <a:off x="5753306" y="8169282"/>
            <a:ext cx="958804" cy="154504"/>
            <a:chOff x="7309296" y="2236773"/>
            <a:chExt cx="1102200" cy="346111"/>
          </a:xfrm>
        </p:grpSpPr>
        <p:sp>
          <p:nvSpPr>
            <p:cNvPr id="303" name="Google Shape;303;p21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4" name="Google Shape;304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05" name="Google Shape;305;p21"/>
          <p:cNvGrpSpPr/>
          <p:nvPr/>
        </p:nvGrpSpPr>
        <p:grpSpPr>
          <a:xfrm rot="10800000">
            <a:off x="576087" y="9658104"/>
            <a:ext cx="958804" cy="154504"/>
            <a:chOff x="7309296" y="2236773"/>
            <a:chExt cx="1102200" cy="346111"/>
          </a:xfrm>
        </p:grpSpPr>
        <p:sp>
          <p:nvSpPr>
            <p:cNvPr id="306" name="Google Shape;306;p21"/>
            <p:cNvSpPr/>
            <p:nvPr/>
          </p:nvSpPr>
          <p:spPr>
            <a:xfrm rot="10800000">
              <a:off x="7482729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07" name="Google Shape;307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08" name="Google Shape;308;p21"/>
          <p:cNvGrpSpPr/>
          <p:nvPr/>
        </p:nvGrpSpPr>
        <p:grpSpPr>
          <a:xfrm rot="5400000">
            <a:off x="1493523" y="9331322"/>
            <a:ext cx="388195" cy="192608"/>
            <a:chOff x="7309296" y="2151413"/>
            <a:chExt cx="1102200" cy="431470"/>
          </a:xfrm>
        </p:grpSpPr>
        <p:sp>
          <p:nvSpPr>
            <p:cNvPr id="309" name="Google Shape;309;p21"/>
            <p:cNvSpPr/>
            <p:nvPr/>
          </p:nvSpPr>
          <p:spPr>
            <a:xfrm rot="10800000">
              <a:off x="7332573" y="2151413"/>
              <a:ext cx="10560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0" name="Google Shape;310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11" name="Google Shape;311;p21"/>
          <p:cNvGrpSpPr/>
          <p:nvPr/>
        </p:nvGrpSpPr>
        <p:grpSpPr>
          <a:xfrm rot="-5400000">
            <a:off x="5455950" y="8874544"/>
            <a:ext cx="470010" cy="164031"/>
            <a:chOff x="7290021" y="2215430"/>
            <a:chExt cx="1121474" cy="367454"/>
          </a:xfrm>
        </p:grpSpPr>
        <p:sp>
          <p:nvSpPr>
            <p:cNvPr id="312" name="Google Shape;312;p21"/>
            <p:cNvSpPr/>
            <p:nvPr/>
          </p:nvSpPr>
          <p:spPr>
            <a:xfrm rot="10800000">
              <a:off x="7290021" y="2215430"/>
              <a:ext cx="993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3" name="Google Shape;313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14" name="Google Shape;314;p21"/>
          <p:cNvGrpSpPr/>
          <p:nvPr/>
        </p:nvGrpSpPr>
        <p:grpSpPr>
          <a:xfrm rot="10800000">
            <a:off x="5779881" y="9245693"/>
            <a:ext cx="511295" cy="164017"/>
            <a:chOff x="7309296" y="2215461"/>
            <a:chExt cx="1219983" cy="367422"/>
          </a:xfrm>
        </p:grpSpPr>
        <p:sp>
          <p:nvSpPr>
            <p:cNvPr id="315" name="Google Shape;315;p21"/>
            <p:cNvSpPr/>
            <p:nvPr/>
          </p:nvSpPr>
          <p:spPr>
            <a:xfrm rot="10800000">
              <a:off x="7346379" y="2215461"/>
              <a:ext cx="11829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6" name="Google Shape;316;p21"/>
            <p:cNvCxnSpPr/>
            <p:nvPr/>
          </p:nvCxnSpPr>
          <p:spPr>
            <a:xfrm>
              <a:off x="7309296" y="2582883"/>
              <a:ext cx="1102200" cy="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grpSp>
        <p:nvGrpSpPr>
          <p:cNvPr id="317" name="Google Shape;317;p21"/>
          <p:cNvGrpSpPr/>
          <p:nvPr/>
        </p:nvGrpSpPr>
        <p:grpSpPr>
          <a:xfrm rot="-5400000">
            <a:off x="6285282" y="9341833"/>
            <a:ext cx="475072" cy="175063"/>
            <a:chOff x="7509840" y="2236773"/>
            <a:chExt cx="901465" cy="392078"/>
          </a:xfrm>
        </p:grpSpPr>
        <p:sp>
          <p:nvSpPr>
            <p:cNvPr id="318" name="Google Shape;318;p21"/>
            <p:cNvSpPr/>
            <p:nvPr/>
          </p:nvSpPr>
          <p:spPr>
            <a:xfrm rot="10800000">
              <a:off x="7509840" y="2236773"/>
              <a:ext cx="755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 cm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9" name="Google Shape;319;p21"/>
            <p:cNvCxnSpPr/>
            <p:nvPr/>
          </p:nvCxnSpPr>
          <p:spPr>
            <a:xfrm rot="-5400000">
              <a:off x="7960105" y="2177651"/>
              <a:ext cx="8100" cy="894300"/>
            </a:xfrm>
            <a:prstGeom prst="straightConnector1">
              <a:avLst/>
            </a:prstGeom>
            <a:noFill/>
            <a:ln cap="flat" cmpd="sng" w="19050">
              <a:solidFill>
                <a:srgbClr val="037B7D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</p:grpSp>
      <p:sp>
        <p:nvSpPr>
          <p:cNvPr id="320" name="Google Shape;320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cxnSp>
        <p:nvCxnSpPr>
          <p:cNvPr id="321" name="Google Shape;321;p21"/>
          <p:cNvCxnSpPr/>
          <p:nvPr/>
        </p:nvCxnSpPr>
        <p:spPr>
          <a:xfrm>
            <a:off x="844425" y="1425375"/>
            <a:ext cx="0" cy="6147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2" name="Google Shape;322;p21"/>
          <p:cNvCxnSpPr/>
          <p:nvPr/>
        </p:nvCxnSpPr>
        <p:spPr>
          <a:xfrm>
            <a:off x="405075" y="7016525"/>
            <a:ext cx="6755100" cy="11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21"/>
          <p:cNvCxnSpPr/>
          <p:nvPr/>
        </p:nvCxnSpPr>
        <p:spPr>
          <a:xfrm>
            <a:off x="405075" y="3892325"/>
            <a:ext cx="6755100" cy="111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