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a6f5387a43_0_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a6f5387a4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39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cylinders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86000" y="13974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Finding the surface area of a cylinder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7634" y="2111754"/>
            <a:ext cx="914016" cy="842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9997" y="2053638"/>
            <a:ext cx="1157514" cy="111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476400" y="1673700"/>
            <a:ext cx="5980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surface area of the following 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cylinders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 flipH="1">
            <a:off x="1814776" y="2762456"/>
            <a:ext cx="404400" cy="37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8" name="Google Shape;178;p20"/>
          <p:cNvSpPr txBox="1"/>
          <p:nvPr/>
        </p:nvSpPr>
        <p:spPr>
          <a:xfrm>
            <a:off x="2048321" y="2991325"/>
            <a:ext cx="8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759076" y="2053650"/>
            <a:ext cx="40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908999" y="2053650"/>
            <a:ext cx="40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 flipH="1">
            <a:off x="4764105" y="2925816"/>
            <a:ext cx="293700" cy="4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2" name="Google Shape;182;p20"/>
          <p:cNvSpPr txBox="1"/>
          <p:nvPr/>
        </p:nvSpPr>
        <p:spPr>
          <a:xfrm>
            <a:off x="4818229" y="2991325"/>
            <a:ext cx="8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4366285" y="2501153"/>
            <a:ext cx="572400" cy="1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" name="Google Shape;184;p20"/>
          <p:cNvSpPr/>
          <p:nvPr/>
        </p:nvSpPr>
        <p:spPr>
          <a:xfrm>
            <a:off x="4630274" y="2548636"/>
            <a:ext cx="44400" cy="44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505049" y="2753312"/>
            <a:ext cx="44400" cy="44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 flipH="1">
            <a:off x="1118966" y="2775584"/>
            <a:ext cx="408300" cy="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7" name="Google Shape;187;p20"/>
          <p:cNvSpPr txBox="1"/>
          <p:nvPr/>
        </p:nvSpPr>
        <p:spPr>
          <a:xfrm>
            <a:off x="1182972" y="2504785"/>
            <a:ext cx="8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452371" y="2313154"/>
            <a:ext cx="8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832324" y="3297526"/>
            <a:ext cx="3191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× 𝜋 × 4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+ 2 × 𝜋 × 4 × 11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32𝜋 + 88𝜋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120𝜋 = 377.0 cm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(1 d.p.)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909005" y="3297526"/>
            <a:ext cx="3191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× 𝜋 × 2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+ 𝜋 × 4 × 3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8𝜋 + 12𝜋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20𝜋 = 62.8 cm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(1 d.p.)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766425" y="4469350"/>
            <a:ext cx="39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3619123" y="4604028"/>
            <a:ext cx="348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× 𝜋 × 37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+ 2 × 𝜋 × 37 × 138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2738𝜋 + 10 212𝜋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12 950𝜋 = 40 683.6 mm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(1 d.p.)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3252" y="4525691"/>
            <a:ext cx="999423" cy="13742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20"/>
          <p:cNvCxnSpPr/>
          <p:nvPr/>
        </p:nvCxnSpPr>
        <p:spPr>
          <a:xfrm rot="10800000">
            <a:off x="2092680" y="4673556"/>
            <a:ext cx="0" cy="1075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5" name="Google Shape;195;p20"/>
          <p:cNvSpPr txBox="1"/>
          <p:nvPr/>
        </p:nvSpPr>
        <p:spPr>
          <a:xfrm>
            <a:off x="2137396" y="4982833"/>
            <a:ext cx="9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138 mm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" name="Google Shape;196;p20"/>
          <p:cNvCxnSpPr/>
          <p:nvPr/>
        </p:nvCxnSpPr>
        <p:spPr>
          <a:xfrm rot="10800000">
            <a:off x="1592823" y="5900382"/>
            <a:ext cx="408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" name="Google Shape;197;p20"/>
          <p:cNvSpPr txBox="1"/>
          <p:nvPr/>
        </p:nvSpPr>
        <p:spPr>
          <a:xfrm>
            <a:off x="1542140" y="5864497"/>
            <a:ext cx="9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 mm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769875" y="6370995"/>
            <a:ext cx="38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673322" y="6371008"/>
            <a:ext cx="3427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(working in metres)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× 𝜋 × 0.45</a:t>
            </a:r>
            <a:r>
              <a:rPr baseline="30000" lang="en-GB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𝜋 × 0.9 × 5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0.405𝜋 + 4.5𝜋 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4.905𝜋 = 15.4 m</a:t>
            </a:r>
            <a:r>
              <a:rPr baseline="30000" lang="en-GB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(1 d.p.)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0030" y="6267625"/>
            <a:ext cx="2378453" cy="13516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20"/>
          <p:cNvCxnSpPr/>
          <p:nvPr/>
        </p:nvCxnSpPr>
        <p:spPr>
          <a:xfrm flipH="1" rot="10800000">
            <a:off x="1390202" y="7005361"/>
            <a:ext cx="1694700" cy="479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" name="Google Shape;202;p20"/>
          <p:cNvSpPr txBox="1"/>
          <p:nvPr/>
        </p:nvSpPr>
        <p:spPr>
          <a:xfrm>
            <a:off x="2049269" y="7258067"/>
            <a:ext cx="95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155699" y="6583397"/>
            <a:ext cx="95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" name="Google Shape;204;p20"/>
          <p:cNvCxnSpPr/>
          <p:nvPr/>
        </p:nvCxnSpPr>
        <p:spPr>
          <a:xfrm>
            <a:off x="1107925" y="6871239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0"/>
          <p:cNvCxnSpPr/>
          <p:nvPr/>
        </p:nvCxnSpPr>
        <p:spPr>
          <a:xfrm>
            <a:off x="1442381" y="6973043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0"/>
          <p:cNvCxnSpPr/>
          <p:nvPr/>
        </p:nvCxnSpPr>
        <p:spPr>
          <a:xfrm>
            <a:off x="1106892" y="6872018"/>
            <a:ext cx="336000" cy="10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cylinders</a:t>
            </a:r>
            <a:endParaRPr/>
          </a:p>
        </p:txBody>
      </p:sp>
      <p:pic>
        <p:nvPicPr>
          <p:cNvPr id="212" name="Google Shape;2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6209" y="2656650"/>
            <a:ext cx="1302809" cy="1182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1551" y="1962641"/>
            <a:ext cx="1045922" cy="187033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476400" y="911700"/>
            <a:ext cx="66156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drinks company are looking to use less material when making their cans. These two cans both hold 330 ml of liquid. Which can should the drinks company choose?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" name="Google Shape;215;p21"/>
          <p:cNvCxnSpPr/>
          <p:nvPr/>
        </p:nvCxnSpPr>
        <p:spPr>
          <a:xfrm>
            <a:off x="2158970" y="3942314"/>
            <a:ext cx="937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6" name="Google Shape;216;p21"/>
          <p:cNvCxnSpPr/>
          <p:nvPr/>
        </p:nvCxnSpPr>
        <p:spPr>
          <a:xfrm>
            <a:off x="4119951" y="2526429"/>
            <a:ext cx="600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7" name="Google Shape;217;p21"/>
          <p:cNvCxnSpPr/>
          <p:nvPr/>
        </p:nvCxnSpPr>
        <p:spPr>
          <a:xfrm>
            <a:off x="2048425" y="2103242"/>
            <a:ext cx="0" cy="1599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8" name="Google Shape;218;p21"/>
          <p:cNvCxnSpPr/>
          <p:nvPr/>
        </p:nvCxnSpPr>
        <p:spPr>
          <a:xfrm>
            <a:off x="5339019" y="2764947"/>
            <a:ext cx="0" cy="938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9" name="Google Shape;219;p21"/>
          <p:cNvSpPr txBox="1"/>
          <p:nvPr/>
        </p:nvSpPr>
        <p:spPr>
          <a:xfrm>
            <a:off x="1319176" y="2668409"/>
            <a:ext cx="71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109 mm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391700" y="3106895"/>
            <a:ext cx="71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66 mm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108777" y="2226199"/>
            <a:ext cx="80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mm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2348305" y="4006768"/>
            <a:ext cx="97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62 mm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3" name="Google Shape;223;p21"/>
          <p:cNvGrpSpPr/>
          <p:nvPr/>
        </p:nvGrpSpPr>
        <p:grpSpPr>
          <a:xfrm>
            <a:off x="2430951" y="2470270"/>
            <a:ext cx="367177" cy="367177"/>
            <a:chOff x="1020916" y="1442088"/>
            <a:chExt cx="457200" cy="457200"/>
          </a:xfrm>
        </p:grpSpPr>
        <p:pic>
          <p:nvPicPr>
            <p:cNvPr id="224" name="Google Shape;224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6" name="Google Shape;226;p21"/>
          <p:cNvGrpSpPr/>
          <p:nvPr/>
        </p:nvGrpSpPr>
        <p:grpSpPr>
          <a:xfrm>
            <a:off x="4504033" y="3090034"/>
            <a:ext cx="367177" cy="367177"/>
            <a:chOff x="1020916" y="1442088"/>
            <a:chExt cx="457200" cy="457200"/>
          </a:xfrm>
        </p:grpSpPr>
        <p:pic>
          <p:nvPicPr>
            <p:cNvPr id="227" name="Google Shape;227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9" name="Google Shape;229;p21"/>
          <p:cNvSpPr txBox="1"/>
          <p:nvPr/>
        </p:nvSpPr>
        <p:spPr>
          <a:xfrm>
            <a:off x="5339019" y="2013858"/>
            <a:ext cx="130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8480𝜋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666953" y="1969628"/>
            <a:ext cx="124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8680𝜋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3137473" y="1405971"/>
            <a:ext cx="35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Drinks company should choose can b.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752400" y="4347225"/>
            <a:ext cx="2944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× 𝜋 × 31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+ 𝜋 × 62 × 109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1922𝜋 + 6758𝜋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8680𝜋 = 27 269.0 mm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(1 d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.p.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036200" y="4347225"/>
            <a:ext cx="287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 × 𝜋 × 40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+ 2 × 𝜋 × 40 × 66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3200𝜋 + 5280𝜋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8480𝜋 = 26 640.7 mm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(1 d.p.)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4" name="Google Shape;234;p21"/>
          <p:cNvCxnSpPr/>
          <p:nvPr/>
        </p:nvCxnSpPr>
        <p:spPr>
          <a:xfrm>
            <a:off x="482125" y="5539075"/>
            <a:ext cx="6620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21"/>
          <p:cNvSpPr txBox="1"/>
          <p:nvPr/>
        </p:nvSpPr>
        <p:spPr>
          <a:xfrm>
            <a:off x="486000" y="56646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Using the surface area of a cylinder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76400" y="6017100"/>
            <a:ext cx="6615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missing length in each question. Give your answer in cm.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7" name="Google Shape;237;p21"/>
          <p:cNvGrpSpPr/>
          <p:nvPr/>
        </p:nvGrpSpPr>
        <p:grpSpPr>
          <a:xfrm>
            <a:off x="751575" y="6430500"/>
            <a:ext cx="1920350" cy="3122300"/>
            <a:chOff x="599175" y="1172700"/>
            <a:chExt cx="1920350" cy="3122300"/>
          </a:xfrm>
        </p:grpSpPr>
        <p:pic>
          <p:nvPicPr>
            <p:cNvPr descr="&lt;math xmlns=&quot;http://www.w3.org/1998/Math/MathML&quot; data-is-equatio=&quot;1&quot; data-equatio-url=&quot;https://equatio-api.texthelp.com/desmos/get/10-11-2023/7d4dad14-dece-4d37-ab7f-5d6790336525&quot; data-equatio-type=&quot;image&quot;&gt;&lt;mglyph src=&quot;https://equatio-api.texthelp.com/desmos/get/10-11-2023/7d4dad14-dece-4d37-ab7f-5d6790336525&quot; alt=&quot;Equatio Image&quot;/&gt;&lt;/math&gt;" id="238" name="Google Shape;238;p21" title="Equatio Image"/>
            <p:cNvPicPr preferRelativeResize="0"/>
            <p:nvPr/>
          </p:nvPicPr>
          <p:blipFill rotWithShape="1">
            <a:blip r:embed="rId6">
              <a:alphaModFix/>
            </a:blip>
            <a:srcRect b="0" l="0" r="80973" t="0"/>
            <a:stretch/>
          </p:blipFill>
          <p:spPr>
            <a:xfrm>
              <a:off x="1367974" y="1383625"/>
              <a:ext cx="1151551" cy="223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21"/>
            <p:cNvSpPr txBox="1"/>
            <p:nvPr/>
          </p:nvSpPr>
          <p:spPr>
            <a:xfrm>
              <a:off x="599175" y="3679400"/>
              <a:ext cx="1653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Surface area 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= 78𝜋 cm</a:t>
              </a:r>
              <a:r>
                <a:rPr baseline="30000"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0" name="Google Shape;240;p21"/>
            <p:cNvCxnSpPr/>
            <p:nvPr/>
          </p:nvCxnSpPr>
          <p:spPr>
            <a:xfrm>
              <a:off x="1282200" y="1605425"/>
              <a:ext cx="0" cy="182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41" name="Google Shape;241;p21"/>
            <p:cNvSpPr txBox="1"/>
            <p:nvPr/>
          </p:nvSpPr>
          <p:spPr>
            <a:xfrm>
              <a:off x="858475" y="2211650"/>
              <a:ext cx="545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</a:t>
              </a: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2" name="Google Shape;242;p21"/>
            <p:cNvCxnSpPr/>
            <p:nvPr/>
          </p:nvCxnSpPr>
          <p:spPr>
            <a:xfrm rot="10800000">
              <a:off x="1367975" y="1591075"/>
              <a:ext cx="4218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43" name="Google Shape;243;p21"/>
            <p:cNvSpPr/>
            <p:nvPr/>
          </p:nvSpPr>
          <p:spPr>
            <a:xfrm>
              <a:off x="1756765" y="1560481"/>
              <a:ext cx="61200" cy="61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1"/>
            <p:cNvSpPr txBox="1"/>
            <p:nvPr/>
          </p:nvSpPr>
          <p:spPr>
            <a:xfrm>
              <a:off x="1394300" y="1172700"/>
              <a:ext cx="471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5" name="Google Shape;245;p21"/>
          <p:cNvSpPr txBox="1"/>
          <p:nvPr/>
        </p:nvSpPr>
        <p:spPr>
          <a:xfrm>
            <a:off x="3308600" y="6579000"/>
            <a:ext cx="43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 × 𝜋 × 3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+ 2 × 𝜋 × 3 ×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78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662911" y="6885713"/>
            <a:ext cx="263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18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+ 6𝜋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78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5165745" y="7198163"/>
            <a:ext cx="14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60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5334600" y="7560000"/>
            <a:ext cx="165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10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5" name="Google Shape;255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cylinders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2"/>
          <p:cNvSpPr txBox="1"/>
          <p:nvPr>
            <p:ph idx="2" type="subTitle"/>
          </p:nvPr>
        </p:nvSpPr>
        <p:spPr>
          <a:xfrm>
            <a:off x="3939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grpSp>
        <p:nvGrpSpPr>
          <p:cNvPr id="258" name="Google Shape;258;p22"/>
          <p:cNvGrpSpPr/>
          <p:nvPr/>
        </p:nvGrpSpPr>
        <p:grpSpPr>
          <a:xfrm>
            <a:off x="1058289" y="1020274"/>
            <a:ext cx="3280194" cy="2344712"/>
            <a:chOff x="2887200" y="1020300"/>
            <a:chExt cx="4210775" cy="3009900"/>
          </a:xfrm>
        </p:grpSpPr>
        <p:pic>
          <p:nvPicPr>
            <p:cNvPr descr="&lt;math xmlns=&quot;http://www.w3.org/1998/Math/MathML&quot; data-is-equatio=&quot;1&quot; data-equatio-url=&quot;https://equatio-api.texthelp.com/desmos/get/10-11-2023/7d4dad14-dece-4d37-ab7f-5d6790336525&quot; data-equatio-type=&quot;image&quot;&gt;&lt;mglyph src=&quot;https://equatio-api.texthelp.com/desmos/get/10-11-2023/7d4dad14-dece-4d37-ab7f-5d6790336525&quot; alt=&quot;Equatio Image&quot;/&gt;&lt;/math&gt;" id="259" name="Google Shape;259;p22" title="Equatio Image"/>
            <p:cNvPicPr preferRelativeResize="0"/>
            <p:nvPr/>
          </p:nvPicPr>
          <p:blipFill rotWithShape="1">
            <a:blip r:embed="rId3">
              <a:alphaModFix/>
            </a:blip>
            <a:srcRect b="0" l="25099" r="38360" t="0"/>
            <a:stretch/>
          </p:blipFill>
          <p:spPr>
            <a:xfrm>
              <a:off x="2887200" y="1383625"/>
              <a:ext cx="2211451" cy="223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22"/>
            <p:cNvSpPr txBox="1"/>
            <p:nvPr/>
          </p:nvSpPr>
          <p:spPr>
            <a:xfrm>
              <a:off x="2994575" y="3240000"/>
              <a:ext cx="4103400" cy="79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Surface area 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= 168𝜋 cm</a:t>
              </a:r>
              <a:r>
                <a:rPr baseline="30000"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22"/>
            <p:cNvSpPr txBox="1"/>
            <p:nvPr/>
          </p:nvSpPr>
          <p:spPr>
            <a:xfrm>
              <a:off x="4553265" y="2057400"/>
              <a:ext cx="854100" cy="51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2" name="Google Shape;262;p22"/>
            <p:cNvCxnSpPr/>
            <p:nvPr/>
          </p:nvCxnSpPr>
          <p:spPr>
            <a:xfrm>
              <a:off x="4572000" y="1661550"/>
              <a:ext cx="0" cy="1365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3" name="Google Shape;263;p22"/>
            <p:cNvCxnSpPr/>
            <p:nvPr/>
          </p:nvCxnSpPr>
          <p:spPr>
            <a:xfrm rot="10800000">
              <a:off x="3033550" y="1383625"/>
              <a:ext cx="1421700" cy="14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4" name="Google Shape;264;p22"/>
            <p:cNvSpPr txBox="1"/>
            <p:nvPr/>
          </p:nvSpPr>
          <p:spPr>
            <a:xfrm>
              <a:off x="3316500" y="1020300"/>
              <a:ext cx="1003500" cy="51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5" name="Google Shape;265;p22"/>
          <p:cNvSpPr txBox="1"/>
          <p:nvPr/>
        </p:nvSpPr>
        <p:spPr>
          <a:xfrm>
            <a:off x="2870712" y="1254709"/>
            <a:ext cx="342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 × 𝜋 × 6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+ 2 × 𝜋 × 6 ×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168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4136684" y="1576271"/>
            <a:ext cx="342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+ 12𝜋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168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4668286" y="1871639"/>
            <a:ext cx="149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96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4928835" y="2219396"/>
            <a:ext cx="149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8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69" name="Google Shape;269;p22"/>
          <p:cNvGrpSpPr/>
          <p:nvPr/>
        </p:nvGrpSpPr>
        <p:grpSpPr>
          <a:xfrm>
            <a:off x="1062532" y="3485858"/>
            <a:ext cx="3289499" cy="1922474"/>
            <a:chOff x="5177299" y="1199850"/>
            <a:chExt cx="4554201" cy="2661600"/>
          </a:xfrm>
        </p:grpSpPr>
        <p:pic>
          <p:nvPicPr>
            <p:cNvPr descr="&lt;math xmlns=&quot;http://www.w3.org/1998/Math/MathML&quot; data-is-equatio=&quot;1&quot; data-equatio-url=&quot;https://equatio-api.texthelp.com/desmos/get/10-11-2023/7d4dad14-dece-4d37-ab7f-5d6790336525&quot; data-equatio-type=&quot;image&quot;&gt;&lt;mglyph src=&quot;https://equatio-api.texthelp.com/desmos/get/10-11-2023/7d4dad14-dece-4d37-ab7f-5d6790336525&quot; alt=&quot;Equatio Image&quot;/&gt;&lt;/math&gt;" id="270" name="Google Shape;270;p22" title="Equatio Image"/>
            <p:cNvPicPr preferRelativeResize="0"/>
            <p:nvPr/>
          </p:nvPicPr>
          <p:blipFill rotWithShape="1">
            <a:blip r:embed="rId3">
              <a:alphaModFix/>
            </a:blip>
            <a:srcRect b="0" l="62939" r="0" t="0"/>
            <a:stretch/>
          </p:blipFill>
          <p:spPr>
            <a:xfrm>
              <a:off x="5177299" y="1383625"/>
              <a:ext cx="2242975" cy="223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2"/>
            <p:cNvSpPr txBox="1"/>
            <p:nvPr/>
          </p:nvSpPr>
          <p:spPr>
            <a:xfrm>
              <a:off x="5628100" y="3009150"/>
              <a:ext cx="4103400" cy="85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Surface area 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= 88𝜋 cm</a:t>
              </a:r>
              <a:r>
                <a:rPr baseline="30000"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2" name="Google Shape;272;p22"/>
            <p:cNvCxnSpPr/>
            <p:nvPr/>
          </p:nvCxnSpPr>
          <p:spPr>
            <a:xfrm rot="10800000">
              <a:off x="5513500" y="1661550"/>
              <a:ext cx="16533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73" name="Google Shape;273;p22"/>
            <p:cNvSpPr txBox="1"/>
            <p:nvPr/>
          </p:nvSpPr>
          <p:spPr>
            <a:xfrm>
              <a:off x="5896200" y="1199850"/>
              <a:ext cx="1563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" name="Google Shape;274;p22"/>
            <p:cNvSpPr txBox="1"/>
            <p:nvPr/>
          </p:nvSpPr>
          <p:spPr>
            <a:xfrm>
              <a:off x="7338960" y="2104484"/>
              <a:ext cx="131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80 mm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5" name="Google Shape;275;p22"/>
            <p:cNvCxnSpPr/>
            <p:nvPr/>
          </p:nvCxnSpPr>
          <p:spPr>
            <a:xfrm>
              <a:off x="7213175" y="1795800"/>
              <a:ext cx="0" cy="1100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76" name="Google Shape;276;p22"/>
          <p:cNvSpPr txBox="1"/>
          <p:nvPr/>
        </p:nvSpPr>
        <p:spPr>
          <a:xfrm>
            <a:off x="3070116" y="3573500"/>
            <a:ext cx="317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 × 𝜋 × 4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+ 2 × 𝜋 × 4 ×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88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4374286" y="3871645"/>
            <a:ext cx="317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32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+ 8𝜋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88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4926919" y="4145502"/>
            <a:ext cx="13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56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5143261" y="4467934"/>
            <a:ext cx="13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7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476400" y="5788500"/>
            <a:ext cx="6615600" cy="20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necklace is being made. Part of the design is a metal cylindrical rod.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rod is gold-plated. 208𝜋 mm</a:t>
            </a:r>
            <a:r>
              <a:rPr baseline="30000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gold leaf is used. The rod has a diameter of 4 mm.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69999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long is the rod?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2738180" y="7015632"/>
            <a:ext cx="299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 × 𝜋 × 2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+ 2 × 𝜋 × 2 ×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208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4125614" y="7297168"/>
            <a:ext cx="299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+ 4𝜋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208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4595488" y="7555770"/>
            <a:ext cx="1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200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4792221" y="7860241"/>
            <a:ext cx="1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50 mm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