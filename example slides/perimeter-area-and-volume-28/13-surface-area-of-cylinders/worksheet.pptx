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86000" y="13974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surface area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634" y="2111754"/>
            <a:ext cx="914016" cy="84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997" y="2053638"/>
            <a:ext cx="1157514" cy="111875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76400" y="1673700"/>
            <a:ext cx="59808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surface area of the following 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cylinders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 flipH="1">
            <a:off x="1814776" y="2762456"/>
            <a:ext cx="404400" cy="371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20"/>
          <p:cNvSpPr txBox="1"/>
          <p:nvPr/>
        </p:nvSpPr>
        <p:spPr>
          <a:xfrm>
            <a:off x="2048321" y="299132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759076" y="2053650"/>
            <a:ext cx="4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908999" y="2053650"/>
            <a:ext cx="4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flipH="1">
            <a:off x="4764105" y="2925816"/>
            <a:ext cx="293700" cy="44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" name="Google Shape;170;p20"/>
          <p:cNvSpPr txBox="1"/>
          <p:nvPr/>
        </p:nvSpPr>
        <p:spPr>
          <a:xfrm>
            <a:off x="4818229" y="299132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4366285" y="2501153"/>
            <a:ext cx="572400" cy="13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" name="Google Shape;172;p20"/>
          <p:cNvSpPr/>
          <p:nvPr/>
        </p:nvSpPr>
        <p:spPr>
          <a:xfrm>
            <a:off x="4630274" y="2548636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1505049" y="2753312"/>
            <a:ext cx="44400" cy="44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" name="Google Shape;174;p20"/>
          <p:cNvCxnSpPr/>
          <p:nvPr/>
        </p:nvCxnSpPr>
        <p:spPr>
          <a:xfrm flipH="1">
            <a:off x="1118966" y="2775584"/>
            <a:ext cx="408300" cy="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20"/>
          <p:cNvSpPr txBox="1"/>
          <p:nvPr/>
        </p:nvSpPr>
        <p:spPr>
          <a:xfrm>
            <a:off x="1182972" y="2504785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452371" y="2313154"/>
            <a:ext cx="8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90225" y="3707350"/>
            <a:ext cx="39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7052" y="3763691"/>
            <a:ext cx="999423" cy="13742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0"/>
          <p:cNvCxnSpPr/>
          <p:nvPr/>
        </p:nvCxnSpPr>
        <p:spPr>
          <a:xfrm rot="10800000">
            <a:off x="2016480" y="3911556"/>
            <a:ext cx="0" cy="1075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" name="Google Shape;180;p20"/>
          <p:cNvSpPr txBox="1"/>
          <p:nvPr/>
        </p:nvSpPr>
        <p:spPr>
          <a:xfrm>
            <a:off x="2061196" y="4220833"/>
            <a:ext cx="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138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1516623" y="5138382"/>
            <a:ext cx="408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" name="Google Shape;182;p20"/>
          <p:cNvSpPr txBox="1"/>
          <p:nvPr/>
        </p:nvSpPr>
        <p:spPr>
          <a:xfrm>
            <a:off x="1465940" y="5102497"/>
            <a:ext cx="9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894075" y="3780195"/>
            <a:ext cx="38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14230" y="3676825"/>
            <a:ext cx="2378453" cy="13516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5" name="Google Shape;185;p20"/>
          <p:cNvCxnSpPr/>
          <p:nvPr/>
        </p:nvCxnSpPr>
        <p:spPr>
          <a:xfrm flipH="1" rot="10800000">
            <a:off x="4514402" y="4414561"/>
            <a:ext cx="1694700" cy="479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" name="Google Shape;186;p20"/>
          <p:cNvSpPr txBox="1"/>
          <p:nvPr/>
        </p:nvSpPr>
        <p:spPr>
          <a:xfrm>
            <a:off x="5173469" y="4667267"/>
            <a:ext cx="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279899" y="3992597"/>
            <a:ext cx="95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 cm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4232125" y="4280439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4566581" y="438224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>
            <a:off x="4231092" y="4281218"/>
            <a:ext cx="336000" cy="10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91" name="Google Shape;19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6209" y="7381050"/>
            <a:ext cx="1302809" cy="11824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91551" y="6687041"/>
            <a:ext cx="1045922" cy="1870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76400" y="5636100"/>
            <a:ext cx="66156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drinks company are looking to use less material when making their cans. These two cans both hold 330 ml of liquid. Which can should the drinks company choose?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2158970" y="8666714"/>
            <a:ext cx="937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4119951" y="7250829"/>
            <a:ext cx="60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2048425" y="6827642"/>
            <a:ext cx="0" cy="1599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5339019" y="7489347"/>
            <a:ext cx="0" cy="938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" name="Google Shape;198;p20"/>
          <p:cNvSpPr txBox="1"/>
          <p:nvPr/>
        </p:nvSpPr>
        <p:spPr>
          <a:xfrm>
            <a:off x="1319176" y="7392809"/>
            <a:ext cx="71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109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391700" y="7831295"/>
            <a:ext cx="719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66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108777" y="6950599"/>
            <a:ext cx="80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348305" y="8731168"/>
            <a:ext cx="97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62 mm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0"/>
          <p:cNvGrpSpPr/>
          <p:nvPr/>
        </p:nvGrpSpPr>
        <p:grpSpPr>
          <a:xfrm>
            <a:off x="2430951" y="7194670"/>
            <a:ext cx="367177" cy="367177"/>
            <a:chOff x="1020916" y="1442088"/>
            <a:chExt cx="457200" cy="457200"/>
          </a:xfrm>
        </p:grpSpPr>
        <p:pic>
          <p:nvPicPr>
            <p:cNvPr id="203" name="Google Shape;203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5" name="Google Shape;205;p20"/>
          <p:cNvGrpSpPr/>
          <p:nvPr/>
        </p:nvGrpSpPr>
        <p:grpSpPr>
          <a:xfrm>
            <a:off x="4504033" y="7814434"/>
            <a:ext cx="367177" cy="367177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08" name="Google Shape;208;p20"/>
          <p:cNvCxnSpPr/>
          <p:nvPr/>
        </p:nvCxnSpPr>
        <p:spPr>
          <a:xfrm>
            <a:off x="482125" y="9806275"/>
            <a:ext cx="6620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4" name="Google Shape;21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Surface area of cylinders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86000" y="940275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the surface area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76400" y="1216500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 in each question. Give your answer in cm.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9" name="Google Shape;219;p21"/>
          <p:cNvGrpSpPr/>
          <p:nvPr/>
        </p:nvGrpSpPr>
        <p:grpSpPr>
          <a:xfrm>
            <a:off x="686050" y="1614525"/>
            <a:ext cx="1920350" cy="3122300"/>
            <a:chOff x="599175" y="1172700"/>
            <a:chExt cx="1920350" cy="31223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20" name="Google Shape;220;p2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0" r="80973" t="0"/>
            <a:stretch/>
          </p:blipFill>
          <p:spPr>
            <a:xfrm>
              <a:off x="1367974" y="1383625"/>
              <a:ext cx="11515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1"/>
            <p:cNvSpPr txBox="1"/>
            <p:nvPr/>
          </p:nvSpPr>
          <p:spPr>
            <a:xfrm>
              <a:off x="599175" y="3679400"/>
              <a:ext cx="16533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78𝜋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2" name="Google Shape;222;p21"/>
            <p:cNvCxnSpPr/>
            <p:nvPr/>
          </p:nvCxnSpPr>
          <p:spPr>
            <a:xfrm>
              <a:off x="1282200" y="1605425"/>
              <a:ext cx="0" cy="1820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3" name="Google Shape;223;p21"/>
            <p:cNvSpPr txBox="1"/>
            <p:nvPr/>
          </p:nvSpPr>
          <p:spPr>
            <a:xfrm>
              <a:off x="858475" y="2211650"/>
              <a:ext cx="5454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 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4" name="Google Shape;224;p21"/>
            <p:cNvCxnSpPr/>
            <p:nvPr/>
          </p:nvCxnSpPr>
          <p:spPr>
            <a:xfrm rot="10800000">
              <a:off x="1367975" y="1591075"/>
              <a:ext cx="4218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25" name="Google Shape;225;p21"/>
            <p:cNvSpPr/>
            <p:nvPr/>
          </p:nvSpPr>
          <p:spPr>
            <a:xfrm>
              <a:off x="1756765" y="1560481"/>
              <a:ext cx="61200" cy="612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1394300" y="1172700"/>
              <a:ext cx="471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" name="Google Shape;227;p21"/>
          <p:cNvGrpSpPr/>
          <p:nvPr/>
        </p:nvGrpSpPr>
        <p:grpSpPr>
          <a:xfrm>
            <a:off x="2810889" y="1553674"/>
            <a:ext cx="1963209" cy="2344716"/>
            <a:chOff x="2887200" y="1020300"/>
            <a:chExt cx="2520165" cy="3009905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28" name="Google Shape;228;p2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25099" r="38360" t="0"/>
            <a:stretch/>
          </p:blipFill>
          <p:spPr>
            <a:xfrm>
              <a:off x="2887200" y="1383625"/>
              <a:ext cx="2211451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" name="Google Shape;229;p21"/>
            <p:cNvSpPr txBox="1"/>
            <p:nvPr/>
          </p:nvSpPr>
          <p:spPr>
            <a:xfrm>
              <a:off x="2994569" y="3240005"/>
              <a:ext cx="2211300" cy="79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168𝜋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 txBox="1"/>
            <p:nvPr/>
          </p:nvSpPr>
          <p:spPr>
            <a:xfrm>
              <a:off x="4553265" y="2057400"/>
              <a:ext cx="8541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1" name="Google Shape;231;p21"/>
            <p:cNvCxnSpPr/>
            <p:nvPr/>
          </p:nvCxnSpPr>
          <p:spPr>
            <a:xfrm>
              <a:off x="4572000" y="1661550"/>
              <a:ext cx="0" cy="1365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2" name="Google Shape;232;p21"/>
            <p:cNvCxnSpPr/>
            <p:nvPr/>
          </p:nvCxnSpPr>
          <p:spPr>
            <a:xfrm rot="10800000">
              <a:off x="3033550" y="1383625"/>
              <a:ext cx="1421700" cy="144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3" name="Google Shape;233;p21"/>
            <p:cNvSpPr txBox="1"/>
            <p:nvPr/>
          </p:nvSpPr>
          <p:spPr>
            <a:xfrm>
              <a:off x="3316500" y="1020300"/>
              <a:ext cx="1003500" cy="51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12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4796332" y="1580858"/>
            <a:ext cx="3289499" cy="1922474"/>
            <a:chOff x="5177299" y="1199850"/>
            <a:chExt cx="4554201" cy="2661600"/>
          </a:xfrm>
        </p:grpSpPr>
        <p:pic>
          <p:nvPicPr>
            <p:cNvPr descr="&lt;math xmlns=&quot;http://www.w3.org/1998/Math/MathML&quot; data-is-equatio=&quot;1&quot; data-equatio-url=&quot;https://equatio-api.texthelp.com/desmos/get/10-11-2023/7d4dad14-dece-4d37-ab7f-5d6790336525&quot; data-equatio-type=&quot;image&quot;&gt;&lt;mglyph src=&quot;https://equatio-api.texthelp.com/desmos/get/10-11-2023/7d4dad14-dece-4d37-ab7f-5d6790336525&quot; alt=&quot;Equatio Image&quot;/&gt;&lt;/math&gt;" id="235" name="Google Shape;235;p21" title="Equatio Image"/>
            <p:cNvPicPr preferRelativeResize="0"/>
            <p:nvPr/>
          </p:nvPicPr>
          <p:blipFill rotWithShape="1">
            <a:blip r:embed="rId3">
              <a:alphaModFix/>
            </a:blip>
            <a:srcRect b="0" l="62939" r="0" t="0"/>
            <a:stretch/>
          </p:blipFill>
          <p:spPr>
            <a:xfrm>
              <a:off x="5177299" y="1383625"/>
              <a:ext cx="2242975" cy="223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21"/>
            <p:cNvSpPr txBox="1"/>
            <p:nvPr/>
          </p:nvSpPr>
          <p:spPr>
            <a:xfrm>
              <a:off x="5628100" y="3009150"/>
              <a:ext cx="4103400" cy="85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Surface area 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= 88𝜋 cm</a:t>
              </a:r>
              <a:r>
                <a:rPr baseline="30000"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7" name="Google Shape;237;p21"/>
            <p:cNvCxnSpPr/>
            <p:nvPr/>
          </p:nvCxnSpPr>
          <p:spPr>
            <a:xfrm rot="10800000">
              <a:off x="5513500" y="1661550"/>
              <a:ext cx="16533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38" name="Google Shape;238;p21"/>
            <p:cNvSpPr txBox="1"/>
            <p:nvPr/>
          </p:nvSpPr>
          <p:spPr>
            <a:xfrm>
              <a:off x="5896200" y="1199850"/>
              <a:ext cx="15630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cm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 txBox="1"/>
            <p:nvPr/>
          </p:nvSpPr>
          <p:spPr>
            <a:xfrm>
              <a:off x="7338960" y="2104484"/>
              <a:ext cx="1316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80 mm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1"/>
            <p:cNvCxnSpPr/>
            <p:nvPr/>
          </p:nvCxnSpPr>
          <p:spPr>
            <a:xfrm>
              <a:off x="7213175" y="1795800"/>
              <a:ext cx="0" cy="11001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1" name="Google Shape;241;p21"/>
          <p:cNvSpPr txBox="1"/>
          <p:nvPr/>
        </p:nvSpPr>
        <p:spPr>
          <a:xfrm>
            <a:off x="476400" y="5102700"/>
            <a:ext cx="6615600" cy="20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necklace is being made. Part of the design is a metal cylindrical rod.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rod is gold-plated. 208𝜋 mm</a:t>
            </a:r>
            <a:r>
              <a:rPr baseline="30000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gold leaf is used. The rod has a diameter of 4 mm.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long is the rod?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