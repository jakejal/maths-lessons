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25">
          <p15:clr>
            <a:srgbClr val="747775"/>
          </p15:clr>
        </p15:guide>
        <p15:guide id="2" pos="272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25" orient="horz"/>
        <p:guide pos="272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92c38fc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92c38fc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8e2e53282b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8e2e53282b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1ea92c38fc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1ea92c38fc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1ea92c38fc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1ea92c38fc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99177e9c8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99177e9c8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99177e9c8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99177e9c8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99177e9c8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99177e9c8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99177e9c8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99177e9c8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99177e9c8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99177e9c8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a2946d8f6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a2946d8f6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a2eda86aa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a2eda86aa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a2eda86aa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a2eda86aa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99177e9c8c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99177e9c8c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99177e9c8c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99177e9c8c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99177e9c8c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99177e9c8c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8e2e53282b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8e2e53282b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99177e9c8c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99177e9c8c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99291ca4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99291ca4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99291ca40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99291ca40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8e2e53282b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8e2e53282b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ea92c38fc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1ea92c38fc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8e2e53282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8e2e53282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8e2e53282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8e2e53282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8e2e53282b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8e2e53282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8e2e53282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8e2e53282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8e2e53282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8e2e53282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8e2e53282b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8e2e53282b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1ea92c38fc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1ea92c38fc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1ea92c38fc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1ea92c38fc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8e2e53282b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8e2e53282b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8e2e53282b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8e2e53282b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8e2e53282b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8e2e53282b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8e2e53282b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8e2e53282b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8e2e53282b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28e2e53282b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1ea92c38fc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1ea92c38fc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8e2e53282b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8e2e53282b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8e2e53282b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8e2e53282b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28e2e53282b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28e2e53282b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8e2e53282b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8e2e53282b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8e2e53282b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8e2e53282b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88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8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8.png"/><Relationship Id="rId4" Type="http://schemas.openxmlformats.org/officeDocument/2006/relationships/image" Target="../media/image31.png"/><Relationship Id="rId11" Type="http://schemas.openxmlformats.org/officeDocument/2006/relationships/image" Target="../media/image21.png"/><Relationship Id="rId10" Type="http://schemas.openxmlformats.org/officeDocument/2006/relationships/image" Target="../media/image34.png"/><Relationship Id="rId9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90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1.png"/><Relationship Id="rId4" Type="http://schemas.openxmlformats.org/officeDocument/2006/relationships/image" Target="../media/image6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Relationship Id="rId4" Type="http://schemas.openxmlformats.org/officeDocument/2006/relationships/image" Target="../media/image68.png"/><Relationship Id="rId5" Type="http://schemas.openxmlformats.org/officeDocument/2006/relationships/image" Target="../media/image53.png"/><Relationship Id="rId6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68.png"/><Relationship Id="rId5" Type="http://schemas.openxmlformats.org/officeDocument/2006/relationships/image" Target="../media/image53.png"/><Relationship Id="rId6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0.png"/><Relationship Id="rId4" Type="http://schemas.openxmlformats.org/officeDocument/2006/relationships/image" Target="../media/image50.png"/><Relationship Id="rId5" Type="http://schemas.openxmlformats.org/officeDocument/2006/relationships/image" Target="../media/image7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0.png"/><Relationship Id="rId4" Type="http://schemas.openxmlformats.org/officeDocument/2006/relationships/image" Target="../media/image50.png"/><Relationship Id="rId5" Type="http://schemas.openxmlformats.org/officeDocument/2006/relationships/image" Target="../media/image71.png"/><Relationship Id="rId6" Type="http://schemas.openxmlformats.org/officeDocument/2006/relationships/image" Target="../media/image7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1.png"/><Relationship Id="rId4" Type="http://schemas.openxmlformats.org/officeDocument/2006/relationships/image" Target="../media/image79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8.png"/><Relationship Id="rId4" Type="http://schemas.openxmlformats.org/officeDocument/2006/relationships/image" Target="../media/image80.png"/><Relationship Id="rId5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5.png"/><Relationship Id="rId4" Type="http://schemas.openxmlformats.org/officeDocument/2006/relationships/image" Target="../media/image8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5.png"/><Relationship Id="rId4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6.png"/><Relationship Id="rId4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6.png"/><Relationship Id="rId4" Type="http://schemas.openxmlformats.org/officeDocument/2006/relationships/image" Target="../media/image85.png"/><Relationship Id="rId5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9.png"/><Relationship Id="rId4" Type="http://schemas.openxmlformats.org/officeDocument/2006/relationships/image" Target="../media/image50.png"/><Relationship Id="rId5" Type="http://schemas.openxmlformats.org/officeDocument/2006/relationships/hyperlink" Target="https://www.geogebra.org/classic/rdjxeurh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9.png"/><Relationship Id="rId4" Type="http://schemas.openxmlformats.org/officeDocument/2006/relationships/image" Target="../media/image50.png"/><Relationship Id="rId5" Type="http://schemas.openxmlformats.org/officeDocument/2006/relationships/hyperlink" Target="https://www.geogebra.org/classic/rdjxeurh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9.png"/><Relationship Id="rId4" Type="http://schemas.openxmlformats.org/officeDocument/2006/relationships/image" Target="../media/image50.png"/><Relationship Id="rId5" Type="http://schemas.openxmlformats.org/officeDocument/2006/relationships/hyperlink" Target="https://www.geogebra.org/classic/rdjxeurh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cylinders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surface area of cylinders.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net of a 3D object is a 2D representation of its surfaces that can be folded up into the 3D object. 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14749" y="177601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Faces are the flat 2D surfaces of a 3D shape.  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2580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prism is a polyhedron with a base that is a polygon and a parallel opposite face that is identical. The corresponding edges of the two polygons are joined by parallelograms.   </a:t>
            </a:r>
            <a:endParaRPr sz="1800"/>
          </a:p>
        </p:txBody>
      </p:sp>
      <p:sp>
        <p:nvSpPr>
          <p:cNvPr id="769" name="Google Shape;769;p67"/>
          <p:cNvSpPr txBox="1"/>
          <p:nvPr>
            <p:ph idx="4" type="subTitle"/>
          </p:nvPr>
        </p:nvSpPr>
        <p:spPr>
          <a:xfrm>
            <a:off x="324000" y="38752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surface area is the total area of all the surfaces of a closed 3D shape. The surfaces include all faces and any curved surfaces. </a:t>
            </a:r>
            <a:endParaRPr sz="1800"/>
          </a:p>
        </p:txBody>
      </p:sp>
      <p:pic>
        <p:nvPicPr>
          <p:cNvPr id="770" name="Google Shape;77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350" y="3122925"/>
            <a:ext cx="1087662" cy="7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7675" y="1080000"/>
            <a:ext cx="982618" cy="57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5475" y="1304925"/>
            <a:ext cx="1447801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cylinder</a:t>
            </a:r>
            <a:r>
              <a:rPr lang="en-GB"/>
              <a:t> is a 3D shape with a base that is a circle and a parallel opposite face that is identical. A cross section of a </a:t>
            </a:r>
            <a:r>
              <a:rPr b="1" lang="en-GB"/>
              <a:t>cylinder</a:t>
            </a:r>
            <a:r>
              <a:rPr lang="en-GB"/>
              <a:t> made parallel to the base will be congruent to the base. 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1-2023/0d5801b1-7d1e-4358-947e-2588a90f8af8&quot; data-equatio-type=&quot;image&quot;&gt;&lt;mglyph src=&quot;https://equatio-api.texthelp.com/desmos/get/09-11-2023/0d5801b1-7d1e-4358-947e-2588a90f8af8&quot; alt=&quot;Equatio Image&quot;/&gt;&lt;/math&gt;" id="778" name="Google Shape;778;p68" title="Equatio Image"/>
          <p:cNvPicPr preferRelativeResize="0"/>
          <p:nvPr/>
        </p:nvPicPr>
        <p:blipFill rotWithShape="1">
          <a:blip r:embed="rId3">
            <a:alphaModFix/>
          </a:blip>
          <a:srcRect b="0" l="57504" r="0" t="0"/>
          <a:stretch/>
        </p:blipFill>
        <p:spPr>
          <a:xfrm>
            <a:off x="6591375" y="1475125"/>
            <a:ext cx="1481750" cy="16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784" name="Google Shape;784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surface area of a cylinder</a:t>
            </a:r>
            <a:endParaRPr/>
          </a:p>
        </p:txBody>
      </p:sp>
      <p:sp>
        <p:nvSpPr>
          <p:cNvPr id="785" name="Google Shape;785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cylinders</a:t>
            </a:r>
            <a:endParaRPr/>
          </a:p>
        </p:txBody>
      </p:sp>
      <p:pic>
        <p:nvPicPr>
          <p:cNvPr id="786" name="Google Shape;78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86" y="205965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792" name="Google Shape;792;p7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a </a:t>
            </a:r>
            <a:r>
              <a:rPr b="1" lang="en-GB" sz="1800"/>
              <a:t>cylinder</a:t>
            </a:r>
            <a:r>
              <a:rPr lang="en-GB" sz="1800"/>
              <a:t>?</a:t>
            </a:r>
            <a:endParaRPr sz="1800"/>
          </a:p>
        </p:txBody>
      </p:sp>
      <p:grpSp>
        <p:nvGrpSpPr>
          <p:cNvPr id="793" name="Google Shape;793;p70"/>
          <p:cNvGrpSpPr/>
          <p:nvPr/>
        </p:nvGrpSpPr>
        <p:grpSpPr>
          <a:xfrm>
            <a:off x="366916" y="1250176"/>
            <a:ext cx="3247784" cy="2081185"/>
            <a:chOff x="290716" y="1097776"/>
            <a:chExt cx="3247784" cy="2081185"/>
          </a:xfrm>
        </p:grpSpPr>
        <p:pic>
          <p:nvPicPr>
            <p:cNvPr id="794" name="Google Shape;794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55725" y="1796013"/>
              <a:ext cx="727175" cy="895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5" name="Google Shape;795;p70"/>
            <p:cNvSpPr txBox="1"/>
            <p:nvPr/>
          </p:nvSpPr>
          <p:spPr>
            <a:xfrm>
              <a:off x="290716" y="2593061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96" name="Google Shape;796;p7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583248" y="1097776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70"/>
            <p:cNvSpPr txBox="1"/>
            <p:nvPr/>
          </p:nvSpPr>
          <p:spPr>
            <a:xfrm>
              <a:off x="1761100" y="1202100"/>
              <a:ext cx="165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 </a:t>
              </a:r>
              <a:r>
                <a:rPr b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cylinder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has a circular face.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8" name="Google Shape;798;p70"/>
          <p:cNvGrpSpPr/>
          <p:nvPr/>
        </p:nvGrpSpPr>
        <p:grpSpPr>
          <a:xfrm>
            <a:off x="5200275" y="810000"/>
            <a:ext cx="3486869" cy="1935898"/>
            <a:chOff x="5200275" y="810000"/>
            <a:chExt cx="3486869" cy="1935898"/>
          </a:xfrm>
        </p:grpSpPr>
        <p:pic>
          <p:nvPicPr>
            <p:cNvPr id="799" name="Google Shape;79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225100" y="1147012"/>
              <a:ext cx="1114250" cy="107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70"/>
            <p:cNvSpPr txBox="1"/>
            <p:nvPr/>
          </p:nvSpPr>
          <p:spPr>
            <a:xfrm>
              <a:off x="7029944" y="2159998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01" name="Google Shape;801;p70"/>
            <p:cNvGrpSpPr/>
            <p:nvPr/>
          </p:nvGrpSpPr>
          <p:grpSpPr>
            <a:xfrm flipH="1">
              <a:off x="5200275" y="810000"/>
              <a:ext cx="1955251" cy="1175850"/>
              <a:chOff x="1583247" y="1238175"/>
              <a:chExt cx="1955251" cy="1175850"/>
            </a:xfrm>
          </p:grpSpPr>
          <p:pic>
            <p:nvPicPr>
              <p:cNvPr id="802" name="Google Shape;802;p7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583247" y="1238175"/>
                <a:ext cx="1955251" cy="11758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3" name="Google Shape;803;p70"/>
              <p:cNvSpPr txBox="1"/>
              <p:nvPr/>
            </p:nvSpPr>
            <p:spPr>
              <a:xfrm>
                <a:off x="1768750" y="1430925"/>
                <a:ext cx="16572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 </a:t>
                </a:r>
                <a:r>
                  <a:rPr b="1"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cylinder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is a 3D shape.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descr="&lt;math xmlns=&quot;http://www.w3.org/1998/Math/MathML&quot; data-is-equatio=&quot;1&quot; data-equatio-url=&quot;https://equatio-api.texthelp.com/desmos/get/09-11-2023/0d5801b1-7d1e-4358-947e-2588a90f8af8&quot; data-equatio-type=&quot;image&quot;&gt;&lt;mglyph src=&quot;https://equatio-api.texthelp.com/desmos/get/09-11-2023/0d5801b1-7d1e-4358-947e-2588a90f8af8&quot; alt=&quot;Equatio Image&quot;/&gt;&lt;/math&gt;" id="804" name="Google Shape;804;p70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9775" y="2813123"/>
            <a:ext cx="3486875" cy="1643151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0"/>
          <p:cNvSpPr txBox="1"/>
          <p:nvPr/>
        </p:nvSpPr>
        <p:spPr>
          <a:xfrm>
            <a:off x="324000" y="3440475"/>
            <a:ext cx="439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 of these solids meet Jacob and Izzy’s descriptions. One of them is a cone and the other is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/>
        </p:nvSpPr>
        <p:spPr>
          <a:xfrm>
            <a:off x="5200275" y="3618325"/>
            <a:ext cx="8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7120653" y="3618325"/>
            <a:ext cx="128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813" name="Google Shape;813;p7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a </a:t>
            </a:r>
            <a:r>
              <a:rPr b="1" lang="en-GB" sz="1800"/>
              <a:t>cylinder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814" name="Google Shape;814;p71"/>
          <p:cNvSpPr txBox="1"/>
          <p:nvPr/>
        </p:nvSpPr>
        <p:spPr>
          <a:xfrm>
            <a:off x="248275" y="1234500"/>
            <a:ext cx="84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uniform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cross-section all the way through, whereas the cone changes size.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9-11-2023/a6c11820-0b4f-44e8-a00e-31a268e1334c&quot; data-equatio-type=&quot;image&quot;&gt;&lt;mglyph src=&quot;https://equatio-api.texthelp.com/desmos/get/09-11-2023/a6c11820-0b4f-44e8-a00e-31a268e1334c&quot; alt=&quot;Equatio Image&quot;/&gt;&lt;/math&gt;" id="815" name="Google Shape;815;p7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450" y="2464250"/>
            <a:ext cx="1321500" cy="160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1-2023/1bb7751f-b904-4671-a09c-3a5b1c4cfc6b&quot; data-equatio-type=&quot;image&quot;&gt;&lt;mglyph src=&quot;https://equatio-api.texthelp.com/desmos/get/09-11-2023/1bb7751f-b904-4671-a09c-3a5b1c4cfc6b&quot; alt=&quot;Equatio Image&quot;/&gt;&lt;/math&gt;" id="816" name="Google Shape;816;p7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2418300"/>
            <a:ext cx="1462211" cy="16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pic>
        <p:nvPicPr>
          <p:cNvPr id="822" name="Google Shape;822;p7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598299" y="1816925"/>
            <a:ext cx="165720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2"/>
          <p:cNvSpPr txBox="1"/>
          <p:nvPr/>
        </p:nvSpPr>
        <p:spPr>
          <a:xfrm>
            <a:off x="475928" y="36983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4" name="Google Shape;82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57509" y="29221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2"/>
          <p:cNvSpPr txBox="1"/>
          <p:nvPr/>
        </p:nvSpPr>
        <p:spPr>
          <a:xfrm>
            <a:off x="1686750" y="1906375"/>
            <a:ext cx="1476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a cylinder is a prism!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2"/>
          <p:cNvSpPr txBox="1"/>
          <p:nvPr/>
        </p:nvSpPr>
        <p:spPr>
          <a:xfrm>
            <a:off x="324000" y="657600"/>
            <a:ext cx="831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right prism is a polyhedron with a base that is a polygon and a parallel opposite face that is identical. The corresponding edges of the two polygons are joined by rectangles.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2"/>
          <p:cNvSpPr txBox="1"/>
          <p:nvPr/>
        </p:nvSpPr>
        <p:spPr>
          <a:xfrm>
            <a:off x="6906788" y="352532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8" name="Google Shape;82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0290" y="2757363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654800" y="1913625"/>
            <a:ext cx="15458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5692598" y="2025693"/>
            <a:ext cx="1657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circle is not a polygon!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pic>
        <p:nvPicPr>
          <p:cNvPr id="836" name="Google Shape;836;p73"/>
          <p:cNvPicPr preferRelativeResize="0"/>
          <p:nvPr/>
        </p:nvPicPr>
        <p:blipFill rotWithShape="1">
          <a:blip r:embed="rId3">
            <a:alphaModFix/>
          </a:blip>
          <a:srcRect b="1758" l="0" r="1468" t="0"/>
          <a:stretch/>
        </p:blipFill>
        <p:spPr>
          <a:xfrm>
            <a:off x="324000" y="1195375"/>
            <a:ext cx="3697700" cy="270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0" y="1116725"/>
            <a:ext cx="4035100" cy="3166538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3"/>
          <p:cNvSpPr txBox="1"/>
          <p:nvPr/>
        </p:nvSpPr>
        <p:spPr>
          <a:xfrm>
            <a:off x="1228650" y="717350"/>
            <a:ext cx="9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Solid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3"/>
          <p:cNvSpPr txBox="1"/>
          <p:nvPr/>
        </p:nvSpPr>
        <p:spPr>
          <a:xfrm>
            <a:off x="4320000" y="672200"/>
            <a:ext cx="9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Net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3"/>
          <p:cNvSpPr txBox="1"/>
          <p:nvPr/>
        </p:nvSpPr>
        <p:spPr>
          <a:xfrm>
            <a:off x="572350" y="4204850"/>
            <a:ext cx="574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a regular octagonal prism.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3">
            <a:alphaModFix/>
          </a:blip>
          <a:srcRect b="1487" l="0" r="3100" t="0"/>
          <a:stretch/>
        </p:blipFill>
        <p:spPr>
          <a:xfrm>
            <a:off x="324000" y="1195400"/>
            <a:ext cx="3636650" cy="27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6028" y="915579"/>
            <a:ext cx="4878551" cy="344021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 txBox="1"/>
          <p:nvPr/>
        </p:nvSpPr>
        <p:spPr>
          <a:xfrm>
            <a:off x="1228650" y="717350"/>
            <a:ext cx="9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Solid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4"/>
          <p:cNvSpPr txBox="1"/>
          <p:nvPr/>
        </p:nvSpPr>
        <p:spPr>
          <a:xfrm>
            <a:off x="4320000" y="672200"/>
            <a:ext cx="9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Net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4"/>
          <p:cNvSpPr txBox="1"/>
          <p:nvPr/>
        </p:nvSpPr>
        <p:spPr>
          <a:xfrm>
            <a:off x="572350" y="4204850"/>
            <a:ext cx="574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a regular 20-sided prism.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pic>
        <p:nvPicPr>
          <p:cNvPr id="856" name="Google Shape;85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200" y="1064700"/>
            <a:ext cx="4480801" cy="310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068813"/>
            <a:ext cx="4015200" cy="3005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 txBox="1"/>
          <p:nvPr/>
        </p:nvSpPr>
        <p:spPr>
          <a:xfrm>
            <a:off x="1228650" y="717350"/>
            <a:ext cx="9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Solid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5"/>
          <p:cNvSpPr txBox="1"/>
          <p:nvPr/>
        </p:nvSpPr>
        <p:spPr>
          <a:xfrm>
            <a:off x="4320000" y="672200"/>
            <a:ext cx="93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Net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5"/>
          <p:cNvSpPr txBox="1"/>
          <p:nvPr/>
        </p:nvSpPr>
        <p:spPr>
          <a:xfrm>
            <a:off x="572350" y="4204850"/>
            <a:ext cx="467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a regular 35-sided prism.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5" name="Google Shape;865;p7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98825" y="1154650"/>
            <a:ext cx="3078252" cy="163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1459600" y="2668000"/>
            <a:ext cx="3565302" cy="15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76"/>
          <p:cNvSpPr txBox="1"/>
          <p:nvPr>
            <p:ph idx="1" type="body"/>
          </p:nvPr>
        </p:nvSpPr>
        <p:spPr>
          <a:xfrm>
            <a:off x="1249250" y="1192500"/>
            <a:ext cx="2779500" cy="9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As the number of edges increases, will it ever become a cylinder?</a:t>
            </a:r>
            <a:endParaRPr sz="1800"/>
          </a:p>
        </p:txBody>
      </p:sp>
      <p:sp>
        <p:nvSpPr>
          <p:cNvPr id="868" name="Google Shape;86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869" name="Google Shape;869;p76"/>
          <p:cNvSpPr txBox="1"/>
          <p:nvPr>
            <p:ph idx="1" type="body"/>
          </p:nvPr>
        </p:nvSpPr>
        <p:spPr>
          <a:xfrm>
            <a:off x="4572000" y="1219350"/>
            <a:ext cx="2779500" cy="9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has started to look more like a </a:t>
            </a:r>
            <a:r>
              <a:rPr lang="en-GB" sz="1800"/>
              <a:t>circular face, but does that mean it will become a circle?</a:t>
            </a:r>
            <a:endParaRPr sz="1800"/>
          </a:p>
        </p:txBody>
      </p:sp>
      <p:sp>
        <p:nvSpPr>
          <p:cNvPr id="870" name="Google Shape;870;p76"/>
          <p:cNvSpPr txBox="1"/>
          <p:nvPr>
            <p:ph idx="1" type="body"/>
          </p:nvPr>
        </p:nvSpPr>
        <p:spPr>
          <a:xfrm>
            <a:off x="1544325" y="2717535"/>
            <a:ext cx="3163800" cy="15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Surely there will be an angle between the edges of the many-sided polygon? If you zoom in far enough.</a:t>
            </a:r>
            <a:endParaRPr sz="1800"/>
          </a:p>
        </p:txBody>
      </p:sp>
      <p:pic>
        <p:nvPicPr>
          <p:cNvPr id="871" name="Google Shape;87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077" y="2042790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6"/>
          <p:cNvSpPr txBox="1"/>
          <p:nvPr/>
        </p:nvSpPr>
        <p:spPr>
          <a:xfrm>
            <a:off x="464075" y="2998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3" name="Google Shape;873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08475" y="1841825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76"/>
          <p:cNvSpPr txBox="1"/>
          <p:nvPr/>
        </p:nvSpPr>
        <p:spPr>
          <a:xfrm>
            <a:off x="7737425" y="292011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5" name="Google Shape;875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3063" y="365993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6"/>
          <p:cNvSpPr txBox="1"/>
          <p:nvPr/>
        </p:nvSpPr>
        <p:spPr>
          <a:xfrm>
            <a:off x="4824000" y="45556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7" name="Google Shape;877;p7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27449" y="1133175"/>
            <a:ext cx="2922076" cy="12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6"/>
          <p:cNvSpPr txBox="1"/>
          <p:nvPr/>
        </p:nvSpPr>
        <p:spPr>
          <a:xfrm>
            <a:off x="6204850" y="3599075"/>
            <a:ext cx="281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see…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pic>
        <p:nvPicPr>
          <p:cNvPr id="884" name="Google Shape;88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75" y="852926"/>
            <a:ext cx="3857800" cy="383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7"/>
          <p:cNvSpPr/>
          <p:nvPr/>
        </p:nvSpPr>
        <p:spPr>
          <a:xfrm rot="-4948952">
            <a:off x="5568158" y="652024"/>
            <a:ext cx="2987881" cy="2987881"/>
          </a:xfrm>
          <a:prstGeom prst="pie">
            <a:avLst>
              <a:gd fmla="val 20956094" name="adj1"/>
              <a:gd fmla="val 10686622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6" name="Google Shape;886;p77"/>
          <p:cNvGrpSpPr/>
          <p:nvPr/>
        </p:nvGrpSpPr>
        <p:grpSpPr>
          <a:xfrm>
            <a:off x="4859775" y="689975"/>
            <a:ext cx="3511050" cy="2911975"/>
            <a:chOff x="4859775" y="689975"/>
            <a:chExt cx="3511050" cy="2911975"/>
          </a:xfrm>
        </p:grpSpPr>
        <p:sp>
          <p:nvSpPr>
            <p:cNvPr id="887" name="Google Shape;887;p77"/>
            <p:cNvSpPr/>
            <p:nvPr/>
          </p:nvSpPr>
          <p:spPr>
            <a:xfrm>
              <a:off x="4859775" y="2332500"/>
              <a:ext cx="367500" cy="3675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88" name="Google Shape;888;p77"/>
            <p:cNvCxnSpPr>
              <a:stCxn id="887" idx="0"/>
              <a:endCxn id="889" idx="1"/>
            </p:cNvCxnSpPr>
            <p:nvPr/>
          </p:nvCxnSpPr>
          <p:spPr>
            <a:xfrm flipH="1" rot="10800000">
              <a:off x="5043525" y="1077900"/>
              <a:ext cx="950700" cy="1254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77"/>
            <p:cNvCxnSpPr>
              <a:stCxn id="887" idx="4"/>
              <a:endCxn id="889" idx="3"/>
            </p:cNvCxnSpPr>
            <p:nvPr/>
          </p:nvCxnSpPr>
          <p:spPr>
            <a:xfrm>
              <a:off x="5043525" y="2700000"/>
              <a:ext cx="950700" cy="513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891" name="Google Shape;891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63050" y="689975"/>
              <a:ext cx="2907775" cy="2911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2" name="Google Shape;892;p77"/>
          <p:cNvSpPr/>
          <p:nvPr/>
        </p:nvSpPr>
        <p:spPr>
          <a:xfrm>
            <a:off x="5500775" y="750300"/>
            <a:ext cx="2808000" cy="2819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7"/>
          <p:cNvSpPr txBox="1"/>
          <p:nvPr/>
        </p:nvSpPr>
        <p:spPr>
          <a:xfrm>
            <a:off x="270325" y="658575"/>
            <a:ext cx="41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50-sided polygon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7"/>
          <p:cNvSpPr txBox="1"/>
          <p:nvPr/>
        </p:nvSpPr>
        <p:spPr>
          <a:xfrm>
            <a:off x="4958450" y="3950550"/>
            <a:ext cx="412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 large obtuse angle between two of the 50 edges.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7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98825" y="1154650"/>
            <a:ext cx="3078252" cy="134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7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27448" y="765900"/>
            <a:ext cx="3163802" cy="23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364600" y="2896600"/>
            <a:ext cx="3248527" cy="1558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8"/>
          <p:cNvSpPr txBox="1"/>
          <p:nvPr>
            <p:ph idx="1" type="body"/>
          </p:nvPr>
        </p:nvSpPr>
        <p:spPr>
          <a:xfrm>
            <a:off x="1307307" y="811500"/>
            <a:ext cx="2779500" cy="9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 number of sides increased to more than 50, there would still be edges and an angle would still be created between the edges.</a:t>
            </a:r>
            <a:endParaRPr sz="1800"/>
          </a:p>
        </p:txBody>
      </p:sp>
      <p:sp>
        <p:nvSpPr>
          <p:cNvPr id="903" name="Google Shape;903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904" name="Google Shape;904;p78"/>
          <p:cNvSpPr txBox="1"/>
          <p:nvPr>
            <p:ph idx="1" type="body"/>
          </p:nvPr>
        </p:nvSpPr>
        <p:spPr>
          <a:xfrm>
            <a:off x="4572000" y="1219350"/>
            <a:ext cx="2779500" cy="9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But it helps us to know what the net of a cylinder might look like.</a:t>
            </a:r>
            <a:endParaRPr sz="1800"/>
          </a:p>
        </p:txBody>
      </p:sp>
      <p:sp>
        <p:nvSpPr>
          <p:cNvPr id="905" name="Google Shape;905;p78"/>
          <p:cNvSpPr txBox="1"/>
          <p:nvPr>
            <p:ph idx="1" type="body"/>
          </p:nvPr>
        </p:nvSpPr>
        <p:spPr>
          <a:xfrm>
            <a:off x="3417705" y="2967205"/>
            <a:ext cx="2977800" cy="15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</a:t>
            </a:r>
            <a:r>
              <a:rPr lang="en-GB" sz="1800"/>
              <a:t> is why a cylinder is not a prism, because the base face is not a polygon.</a:t>
            </a:r>
            <a:endParaRPr sz="1800"/>
          </a:p>
        </p:txBody>
      </p:sp>
      <p:pic>
        <p:nvPicPr>
          <p:cNvPr id="906" name="Google Shape;90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077" y="2576190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8"/>
          <p:cNvSpPr txBox="1"/>
          <p:nvPr/>
        </p:nvSpPr>
        <p:spPr>
          <a:xfrm>
            <a:off x="464075" y="35314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8" name="Google Shape;908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08475" y="1841825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8"/>
          <p:cNvSpPr txBox="1"/>
          <p:nvPr/>
        </p:nvSpPr>
        <p:spPr>
          <a:xfrm>
            <a:off x="7737425" y="292011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0" name="Google Shape;910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7063" y="365993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8"/>
          <p:cNvSpPr txBox="1"/>
          <p:nvPr/>
        </p:nvSpPr>
        <p:spPr>
          <a:xfrm>
            <a:off x="6348000" y="45556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917" name="Google Shape;917;p79"/>
          <p:cNvSpPr txBox="1"/>
          <p:nvPr/>
        </p:nvSpPr>
        <p:spPr>
          <a:xfrm>
            <a:off x="324000" y="810000"/>
            <a:ext cx="8287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unfolded </a:t>
            </a:r>
            <a:r>
              <a:rPr b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would look like this: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9"/>
          <p:cNvSpPr/>
          <p:nvPr/>
        </p:nvSpPr>
        <p:spPr>
          <a:xfrm>
            <a:off x="2529225" y="2090150"/>
            <a:ext cx="1488000" cy="1343100"/>
          </a:xfrm>
          <a:prstGeom prst="rect">
            <a:avLst/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/>
          <p:nvPr/>
        </p:nvSpPr>
        <p:spPr>
          <a:xfrm>
            <a:off x="3043175" y="1620000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9"/>
          <p:cNvSpPr/>
          <p:nvPr/>
        </p:nvSpPr>
        <p:spPr>
          <a:xfrm>
            <a:off x="3043175" y="3441700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1" name="Google Shape;921;p79"/>
          <p:cNvCxnSpPr/>
          <p:nvPr/>
        </p:nvCxnSpPr>
        <p:spPr>
          <a:xfrm>
            <a:off x="2521775" y="2092321"/>
            <a:ext cx="1504500" cy="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2" name="Google Shape;922;p79"/>
          <p:cNvSpPr/>
          <p:nvPr/>
        </p:nvSpPr>
        <p:spPr>
          <a:xfrm>
            <a:off x="3043175" y="1620000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3" name="Google Shape;923;p79"/>
          <p:cNvCxnSpPr/>
          <p:nvPr/>
        </p:nvCxnSpPr>
        <p:spPr>
          <a:xfrm rot="10800000">
            <a:off x="2521775" y="3432253"/>
            <a:ext cx="1504500" cy="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79"/>
          <p:cNvSpPr/>
          <p:nvPr/>
        </p:nvSpPr>
        <p:spPr>
          <a:xfrm rot="10800000">
            <a:off x="3043175" y="3441699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5" name="Google Shape;925;p79"/>
          <p:cNvCxnSpPr/>
          <p:nvPr/>
        </p:nvCxnSpPr>
        <p:spPr>
          <a:xfrm>
            <a:off x="3581700" y="1735200"/>
            <a:ext cx="1541700" cy="81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79"/>
          <p:cNvCxnSpPr/>
          <p:nvPr/>
        </p:nvCxnSpPr>
        <p:spPr>
          <a:xfrm flipH="1" rot="10800000">
            <a:off x="1711800" y="2700000"/>
            <a:ext cx="1175400" cy="23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79"/>
          <p:cNvCxnSpPr/>
          <p:nvPr/>
        </p:nvCxnSpPr>
        <p:spPr>
          <a:xfrm flipH="1" rot="10800000">
            <a:off x="3677250" y="2865150"/>
            <a:ext cx="1492500" cy="83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79"/>
          <p:cNvSpPr txBox="1"/>
          <p:nvPr/>
        </p:nvSpPr>
        <p:spPr>
          <a:xfrm>
            <a:off x="5169750" y="2403450"/>
            <a:ext cx="3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circular face ends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9"/>
          <p:cNvSpPr txBox="1"/>
          <p:nvPr/>
        </p:nvSpPr>
        <p:spPr>
          <a:xfrm>
            <a:off x="521250" y="2955200"/>
            <a:ext cx="3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urved face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935" name="Google Shape;935;p80"/>
          <p:cNvSpPr/>
          <p:nvPr/>
        </p:nvSpPr>
        <p:spPr>
          <a:xfrm>
            <a:off x="831625" y="2090150"/>
            <a:ext cx="1488000" cy="1343100"/>
          </a:xfrm>
          <a:prstGeom prst="rect">
            <a:avLst/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80"/>
          <p:cNvSpPr/>
          <p:nvPr/>
        </p:nvSpPr>
        <p:spPr>
          <a:xfrm>
            <a:off x="1345575" y="1620000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80"/>
          <p:cNvSpPr/>
          <p:nvPr/>
        </p:nvSpPr>
        <p:spPr>
          <a:xfrm>
            <a:off x="1345575" y="3441700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8" name="Google Shape;938;p80"/>
          <p:cNvCxnSpPr/>
          <p:nvPr/>
        </p:nvCxnSpPr>
        <p:spPr>
          <a:xfrm>
            <a:off x="824175" y="2092321"/>
            <a:ext cx="1504500" cy="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80"/>
          <p:cNvSpPr/>
          <p:nvPr/>
        </p:nvSpPr>
        <p:spPr>
          <a:xfrm>
            <a:off x="1345575" y="1620000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0" name="Google Shape;940;p80"/>
          <p:cNvCxnSpPr/>
          <p:nvPr/>
        </p:nvCxnSpPr>
        <p:spPr>
          <a:xfrm rot="10800000">
            <a:off x="824175" y="3432253"/>
            <a:ext cx="1504500" cy="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80"/>
          <p:cNvSpPr/>
          <p:nvPr/>
        </p:nvSpPr>
        <p:spPr>
          <a:xfrm rot="10800000">
            <a:off x="1345575" y="3441699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80"/>
          <p:cNvSpPr txBox="1"/>
          <p:nvPr/>
        </p:nvSpPr>
        <p:spPr>
          <a:xfrm>
            <a:off x="2765725" y="1602050"/>
            <a:ext cx="55230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curved face is rectangular when laid flat.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the rectangle is the perimeter of the circle; the circumference.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width of the rectangle would be the length/height/depth of the </a:t>
            </a:r>
            <a:r>
              <a:rPr b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948" name="Google Shape;948;p81"/>
          <p:cNvSpPr txBox="1"/>
          <p:nvPr/>
        </p:nvSpPr>
        <p:spPr>
          <a:xfrm>
            <a:off x="2826775" y="1229025"/>
            <a:ext cx="55230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of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 ✕ circle area + rectangle 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+ (circumference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height)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81"/>
          <p:cNvSpPr/>
          <p:nvPr/>
        </p:nvSpPr>
        <p:spPr>
          <a:xfrm>
            <a:off x="3810006" y="2742275"/>
            <a:ext cx="461700" cy="261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81"/>
          <p:cNvSpPr txBox="1"/>
          <p:nvPr/>
        </p:nvSpPr>
        <p:spPr>
          <a:xfrm>
            <a:off x="4136700" y="3318300"/>
            <a:ext cx="21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circumference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1" name="Google Shape;951;p81"/>
          <p:cNvCxnSpPr>
            <a:stCxn id="949" idx="2"/>
          </p:cNvCxnSpPr>
          <p:nvPr/>
        </p:nvCxnSpPr>
        <p:spPr>
          <a:xfrm>
            <a:off x="4040856" y="3003575"/>
            <a:ext cx="391200" cy="407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2" name="Google Shape;952;p81"/>
          <p:cNvSpPr/>
          <p:nvPr/>
        </p:nvSpPr>
        <p:spPr>
          <a:xfrm>
            <a:off x="3232676" y="2742275"/>
            <a:ext cx="391200" cy="261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3" name="Google Shape;953;p81"/>
          <p:cNvCxnSpPr/>
          <p:nvPr/>
        </p:nvCxnSpPr>
        <p:spPr>
          <a:xfrm flipH="1">
            <a:off x="3379931" y="3036450"/>
            <a:ext cx="75900" cy="52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81"/>
          <p:cNvSpPr txBox="1"/>
          <p:nvPr/>
        </p:nvSpPr>
        <p:spPr>
          <a:xfrm>
            <a:off x="2487750" y="3456975"/>
            <a:ext cx="21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 of a circle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1"/>
          <p:cNvSpPr/>
          <p:nvPr/>
        </p:nvSpPr>
        <p:spPr>
          <a:xfrm>
            <a:off x="831625" y="2090150"/>
            <a:ext cx="1488000" cy="1343100"/>
          </a:xfrm>
          <a:prstGeom prst="rect">
            <a:avLst/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81"/>
          <p:cNvSpPr/>
          <p:nvPr/>
        </p:nvSpPr>
        <p:spPr>
          <a:xfrm>
            <a:off x="1345575" y="1620000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1"/>
          <p:cNvSpPr/>
          <p:nvPr/>
        </p:nvSpPr>
        <p:spPr>
          <a:xfrm>
            <a:off x="1345575" y="3441700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8" name="Google Shape;958;p81"/>
          <p:cNvCxnSpPr/>
          <p:nvPr/>
        </p:nvCxnSpPr>
        <p:spPr>
          <a:xfrm>
            <a:off x="824175" y="2092321"/>
            <a:ext cx="1504500" cy="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81"/>
          <p:cNvSpPr/>
          <p:nvPr/>
        </p:nvSpPr>
        <p:spPr>
          <a:xfrm>
            <a:off x="1345575" y="1620000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0" name="Google Shape;960;p81"/>
          <p:cNvCxnSpPr/>
          <p:nvPr/>
        </p:nvCxnSpPr>
        <p:spPr>
          <a:xfrm rot="10800000">
            <a:off x="824175" y="3432253"/>
            <a:ext cx="1504500" cy="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1" name="Google Shape;961;p81"/>
          <p:cNvSpPr/>
          <p:nvPr/>
        </p:nvSpPr>
        <p:spPr>
          <a:xfrm rot="10800000">
            <a:off x="1345575" y="3441699"/>
            <a:ext cx="461700" cy="4617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8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967" name="Google Shape;967;p82"/>
          <p:cNvSpPr txBox="1"/>
          <p:nvPr/>
        </p:nvSpPr>
        <p:spPr>
          <a:xfrm>
            <a:off x="2826775" y="1229025"/>
            <a:ext cx="552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constants.</a:t>
            </a:r>
            <a:endParaRPr sz="2100"/>
          </a:p>
        </p:txBody>
      </p:sp>
      <p:sp>
        <p:nvSpPr>
          <p:cNvPr id="969" name="Google Shape;969;p8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The surface</a:t>
            </a:r>
            <a:r>
              <a:rPr lang="en-GB" sz="1900"/>
              <a:t> area of any </a:t>
            </a:r>
            <a:r>
              <a:rPr b="1" lang="en-GB" sz="1900"/>
              <a:t>cylinder</a:t>
            </a:r>
            <a:r>
              <a:rPr lang="en-GB" sz="1900"/>
              <a:t> =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900"/>
              <a:t>2</a:t>
            </a:r>
            <a:r>
              <a:rPr baseline="30000" lang="en-GB" sz="2100"/>
              <a:t> </a:t>
            </a:r>
            <a:r>
              <a:rPr lang="en-GB" sz="2100"/>
              <a:t>+ </a:t>
            </a:r>
            <a:r>
              <a:rPr lang="en-GB" sz="1900"/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r>
              <a:rPr lang="en-GB" sz="1900"/>
              <a:t>, where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r </a:t>
            </a:r>
            <a:r>
              <a:rPr lang="en-GB" sz="1900"/>
              <a:t>is the radius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1900"/>
              <a:t>is the height.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900"/>
              <a:t>and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h </a:t>
            </a:r>
            <a:r>
              <a:rPr lang="en-GB" sz="1900"/>
              <a:t>are …</a:t>
            </a:r>
            <a:endParaRPr sz="1900"/>
          </a:p>
        </p:txBody>
      </p:sp>
      <p:sp>
        <p:nvSpPr>
          <p:cNvPr id="970" name="Google Shape;970;p8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variables.</a:t>
            </a:r>
            <a:endParaRPr/>
          </a:p>
        </p:txBody>
      </p:sp>
      <p:sp>
        <p:nvSpPr>
          <p:cNvPr id="971" name="Google Shape;971;p8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terms.</a:t>
            </a:r>
            <a:endParaRPr/>
          </a:p>
        </p:txBody>
      </p:sp>
      <p:pic>
        <p:nvPicPr>
          <p:cNvPr id="972" name="Google Shape;97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358" y="27617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2"/>
          <p:cNvSpPr txBox="1"/>
          <p:nvPr/>
        </p:nvSpPr>
        <p:spPr>
          <a:xfrm>
            <a:off x="3164750" y="1770013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2𝜋 in both terms are constants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82"/>
          <p:cNvSpPr txBox="1"/>
          <p:nvPr/>
        </p:nvSpPr>
        <p:spPr>
          <a:xfrm>
            <a:off x="3164750" y="3714963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rh are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terms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1-2023/0d5801b1-7d1e-4358-947e-2588a90f8af8&quot; data-equatio-type=&quot;image&quot;&gt;&lt;mglyph src=&quot;https://equatio-api.texthelp.com/desmos/get/09-11-2023/0d5801b1-7d1e-4358-947e-2588a90f8af8&quot; alt=&quot;Equatio Image&quot;/&gt;&lt;/math&gt;" id="980" name="Google Shape;980;p83" title="Equatio Image"/>
          <p:cNvPicPr preferRelativeResize="0"/>
          <p:nvPr/>
        </p:nvPicPr>
        <p:blipFill rotWithShape="1">
          <a:blip r:embed="rId3">
            <a:alphaModFix/>
          </a:blip>
          <a:srcRect b="0" l="58827" r="0" t="0"/>
          <a:stretch/>
        </p:blipFill>
        <p:spPr>
          <a:xfrm>
            <a:off x="6124550" y="1056850"/>
            <a:ext cx="1435650" cy="164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1" name="Google Shape;981;p83"/>
          <p:cNvCxnSpPr/>
          <p:nvPr/>
        </p:nvCxnSpPr>
        <p:spPr>
          <a:xfrm>
            <a:off x="7630125" y="1217825"/>
            <a:ext cx="0" cy="132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2" name="Google Shape;982;p83"/>
          <p:cNvCxnSpPr/>
          <p:nvPr/>
        </p:nvCxnSpPr>
        <p:spPr>
          <a:xfrm rot="10800000">
            <a:off x="6923482" y="1221363"/>
            <a:ext cx="60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3" name="Google Shape;983;p83"/>
          <p:cNvSpPr txBox="1"/>
          <p:nvPr/>
        </p:nvSpPr>
        <p:spPr>
          <a:xfrm>
            <a:off x="7630125" y="1620000"/>
            <a:ext cx="7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3"/>
          <p:cNvSpPr txBox="1"/>
          <p:nvPr/>
        </p:nvSpPr>
        <p:spPr>
          <a:xfrm>
            <a:off x="6973575" y="692388"/>
            <a:ext cx="7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3"/>
          <p:cNvSpPr txBox="1"/>
          <p:nvPr/>
        </p:nvSpPr>
        <p:spPr>
          <a:xfrm>
            <a:off x="3278550" y="2975925"/>
            <a:ext cx="79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3"/>
          <p:cNvSpPr txBox="1"/>
          <p:nvPr/>
        </p:nvSpPr>
        <p:spPr>
          <a:xfrm>
            <a:off x="2265300" y="1573275"/>
            <a:ext cx="79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7" name="Google Shape;987;p83"/>
          <p:cNvGrpSpPr/>
          <p:nvPr/>
        </p:nvGrpSpPr>
        <p:grpSpPr>
          <a:xfrm>
            <a:off x="831452" y="1757500"/>
            <a:ext cx="2447098" cy="2893273"/>
            <a:chOff x="374252" y="1986100"/>
            <a:chExt cx="2447098" cy="2893273"/>
          </a:xfrm>
        </p:grpSpPr>
        <p:sp>
          <p:nvSpPr>
            <p:cNvPr id="988" name="Google Shape;988;p83"/>
            <p:cNvSpPr/>
            <p:nvPr/>
          </p:nvSpPr>
          <p:spPr>
            <a:xfrm>
              <a:off x="386025" y="2723026"/>
              <a:ext cx="2332200" cy="1424700"/>
            </a:xfrm>
            <a:prstGeom prst="rect">
              <a:avLst/>
            </a:prstGeom>
            <a:solidFill>
              <a:srgbClr val="F3EEFB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83"/>
            <p:cNvSpPr/>
            <p:nvPr/>
          </p:nvSpPr>
          <p:spPr>
            <a:xfrm>
              <a:off x="1191609" y="1986100"/>
              <a:ext cx="723600" cy="723600"/>
            </a:xfrm>
            <a:prstGeom prst="ellipse">
              <a:avLst/>
            </a:prstGeom>
            <a:solidFill>
              <a:srgbClr val="F3EEFB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83"/>
            <p:cNvSpPr/>
            <p:nvPr/>
          </p:nvSpPr>
          <p:spPr>
            <a:xfrm>
              <a:off x="1191609" y="4155691"/>
              <a:ext cx="723600" cy="723600"/>
            </a:xfrm>
            <a:prstGeom prst="ellipse">
              <a:avLst/>
            </a:prstGeom>
            <a:solidFill>
              <a:srgbClr val="F3EEFB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1" name="Google Shape;991;p83"/>
            <p:cNvCxnSpPr/>
            <p:nvPr/>
          </p:nvCxnSpPr>
          <p:spPr>
            <a:xfrm>
              <a:off x="374350" y="2726432"/>
              <a:ext cx="2358300" cy="0"/>
            </a:xfrm>
            <a:prstGeom prst="straightConnector1">
              <a:avLst/>
            </a:prstGeom>
            <a:noFill/>
            <a:ln cap="flat" cmpd="sng" w="38100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2" name="Google Shape;992;p83"/>
            <p:cNvSpPr/>
            <p:nvPr/>
          </p:nvSpPr>
          <p:spPr>
            <a:xfrm>
              <a:off x="1191609" y="1986100"/>
              <a:ext cx="723600" cy="723600"/>
            </a:xfrm>
            <a:prstGeom prst="ellipse">
              <a:avLst/>
            </a:prstGeom>
            <a:solidFill>
              <a:srgbClr val="F3EEFB"/>
            </a:solidFill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3" name="Google Shape;993;p83"/>
            <p:cNvCxnSpPr/>
            <p:nvPr/>
          </p:nvCxnSpPr>
          <p:spPr>
            <a:xfrm rot="10800000">
              <a:off x="374252" y="4140884"/>
              <a:ext cx="2358300" cy="0"/>
            </a:xfrm>
            <a:prstGeom prst="straightConnector1">
              <a:avLst/>
            </a:prstGeom>
            <a:noFill/>
            <a:ln cap="flat" cmpd="sng" w="38100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4" name="Google Shape;994;p83"/>
            <p:cNvSpPr/>
            <p:nvPr/>
          </p:nvSpPr>
          <p:spPr>
            <a:xfrm rot="10800000">
              <a:off x="1191693" y="4155773"/>
              <a:ext cx="723600" cy="723600"/>
            </a:xfrm>
            <a:prstGeom prst="ellipse">
              <a:avLst/>
            </a:prstGeom>
            <a:solidFill>
              <a:srgbClr val="F3EEFB"/>
            </a:solidFill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5" name="Google Shape;995;p83"/>
            <p:cNvCxnSpPr/>
            <p:nvPr/>
          </p:nvCxnSpPr>
          <p:spPr>
            <a:xfrm>
              <a:off x="405900" y="2834550"/>
              <a:ext cx="2304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6" name="Google Shape;996;p83"/>
            <p:cNvCxnSpPr/>
            <p:nvPr/>
          </p:nvCxnSpPr>
          <p:spPr>
            <a:xfrm rot="10800000">
              <a:off x="2821350" y="2721825"/>
              <a:ext cx="0" cy="1427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7" name="Google Shape;997;p83"/>
            <p:cNvCxnSpPr/>
            <p:nvPr/>
          </p:nvCxnSpPr>
          <p:spPr>
            <a:xfrm rot="10800000">
              <a:off x="1569707" y="2339763"/>
              <a:ext cx="345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98" name="Google Shape;998;p83"/>
          <p:cNvSpPr txBox="1"/>
          <p:nvPr/>
        </p:nvSpPr>
        <p:spPr>
          <a:xfrm>
            <a:off x="4559025" y="3163800"/>
            <a:ext cx="4395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π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r>
              <a:rPr baseline="30000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 × π × 6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18π + 24π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= 42π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3"/>
          <p:cNvSpPr txBox="1"/>
          <p:nvPr/>
        </p:nvSpPr>
        <p:spPr>
          <a:xfrm>
            <a:off x="334550" y="752550"/>
            <a:ext cx="534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surface area of this cylinder.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3"/>
          <p:cNvSpPr txBox="1"/>
          <p:nvPr/>
        </p:nvSpPr>
        <p:spPr>
          <a:xfrm>
            <a:off x="1341375" y="2497800"/>
            <a:ext cx="133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π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1006" name="Google Shape;1006;p84"/>
          <p:cNvSpPr txBox="1"/>
          <p:nvPr/>
        </p:nvSpPr>
        <p:spPr>
          <a:xfrm>
            <a:off x="324000" y="763525"/>
            <a:ext cx="5523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of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4"/>
          <p:cNvSpPr txBox="1"/>
          <p:nvPr/>
        </p:nvSpPr>
        <p:spPr>
          <a:xfrm>
            <a:off x="971900" y="330096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8" name="Google Shape;100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446" y="2484013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8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2130323" y="135252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84"/>
          <p:cNvSpPr txBox="1"/>
          <p:nvPr/>
        </p:nvSpPr>
        <p:spPr>
          <a:xfrm>
            <a:off x="2305512" y="1446957"/>
            <a:ext cx="2014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is equivalent to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r(r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h)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11" name="Google Shape;1011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106325" y="17968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4"/>
          <p:cNvSpPr txBox="1"/>
          <p:nvPr/>
        </p:nvSpPr>
        <p:spPr>
          <a:xfrm>
            <a:off x="6728300" y="29176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3" name="Google Shape;1013;p8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5022636" y="145912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84"/>
          <p:cNvSpPr txBox="1"/>
          <p:nvPr/>
        </p:nvSpPr>
        <p:spPr>
          <a:xfrm flipH="1">
            <a:off x="5169198" y="1553557"/>
            <a:ext cx="2014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equivalent to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1020" name="Google Shape;1020;p85"/>
          <p:cNvSpPr txBox="1"/>
          <p:nvPr/>
        </p:nvSpPr>
        <p:spPr>
          <a:xfrm>
            <a:off x="324000" y="858775"/>
            <a:ext cx="806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of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≡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 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≡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r(r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h) 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≡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5"/>
          <p:cNvSpPr txBox="1"/>
          <p:nvPr/>
        </p:nvSpPr>
        <p:spPr>
          <a:xfrm>
            <a:off x="362300" y="330096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2" name="Google Shape;102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846" y="2484013"/>
            <a:ext cx="798316" cy="8961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3" name="Google Shape;1023;p85"/>
          <p:cNvGrpSpPr/>
          <p:nvPr/>
        </p:nvGrpSpPr>
        <p:grpSpPr>
          <a:xfrm>
            <a:off x="1215923" y="1276325"/>
            <a:ext cx="2403671" cy="1316250"/>
            <a:chOff x="1215923" y="1276325"/>
            <a:chExt cx="2403671" cy="1316250"/>
          </a:xfrm>
        </p:grpSpPr>
        <p:pic>
          <p:nvPicPr>
            <p:cNvPr id="1024" name="Google Shape;1024;p8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215923" y="1276325"/>
              <a:ext cx="237215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85"/>
            <p:cNvSpPr txBox="1"/>
            <p:nvPr/>
          </p:nvSpPr>
          <p:spPr>
            <a:xfrm>
              <a:off x="1345294" y="1371875"/>
              <a:ext cx="2274300" cy="10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 × </a:t>
              </a:r>
              <a:r>
                <a:rPr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𝝅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3 ×</a:t>
              </a:r>
              <a:r>
                <a:rPr i="1" lang="en-GB" sz="2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(3 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) = 48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𝝅 mm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26" name="Google Shape;1026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92125" y="22540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85"/>
          <p:cNvSpPr txBox="1"/>
          <p:nvPr/>
        </p:nvSpPr>
        <p:spPr>
          <a:xfrm>
            <a:off x="7414100" y="33748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9-11-2023/7a70836f-d2fe-4b71-abbf-5942929b09fd&quot; data-equatio-type=&quot;image&quot;&gt;&lt;mglyph src=&quot;https://equatio-api.texthelp.com/desmos/get/09-11-2023/7a70836f-d2fe-4b71-abbf-5942929b09fd&quot; alt=&quot;Equatio Image&quot;/&gt;&lt;/math&gt;" id="1028" name="Google Shape;1028;p85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9000" y="2917700"/>
            <a:ext cx="1312800" cy="159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85"/>
          <p:cNvSpPr txBox="1"/>
          <p:nvPr/>
        </p:nvSpPr>
        <p:spPr>
          <a:xfrm>
            <a:off x="2510700" y="3467925"/>
            <a:ext cx="131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5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5"/>
          <p:cNvSpPr txBox="1"/>
          <p:nvPr/>
        </p:nvSpPr>
        <p:spPr>
          <a:xfrm>
            <a:off x="3927125" y="2484025"/>
            <a:ext cx="131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1" name="Google Shape;1031;p85"/>
          <p:cNvCxnSpPr/>
          <p:nvPr/>
        </p:nvCxnSpPr>
        <p:spPr>
          <a:xfrm>
            <a:off x="3624850" y="3105950"/>
            <a:ext cx="0" cy="128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2" name="Google Shape;1032;p85"/>
          <p:cNvCxnSpPr/>
          <p:nvPr/>
        </p:nvCxnSpPr>
        <p:spPr>
          <a:xfrm>
            <a:off x="4365100" y="3067725"/>
            <a:ext cx="61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033" name="Google Shape;1033;p85"/>
          <p:cNvGrpSpPr/>
          <p:nvPr/>
        </p:nvGrpSpPr>
        <p:grpSpPr>
          <a:xfrm>
            <a:off x="5044506" y="1398782"/>
            <a:ext cx="2837344" cy="1298343"/>
            <a:chOff x="5044506" y="1398782"/>
            <a:chExt cx="2837344" cy="1298343"/>
          </a:xfrm>
        </p:grpSpPr>
        <p:pic>
          <p:nvPicPr>
            <p:cNvPr id="1034" name="Google Shape;1034;p85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5050900" y="1414925"/>
              <a:ext cx="2830950" cy="12822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5" name="Google Shape;1035;p85"/>
            <p:cNvSpPr txBox="1"/>
            <p:nvPr/>
          </p:nvSpPr>
          <p:spPr>
            <a:xfrm>
              <a:off x="5044506" y="1398782"/>
              <a:ext cx="2753700" cy="10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 2 × </a:t>
              </a:r>
              <a:r>
                <a:rPr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𝝅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× 3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+ </a:t>
              </a:r>
              <a:r>
                <a:rPr lang="en-GB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𝝅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× 6 × 5</a:t>
              </a:r>
              <a:r>
                <a:rPr i="1" lang="en-GB" sz="2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 18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𝝅 + 30𝝅 =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48𝝅 mm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6" name="Google Shape;1036;p85"/>
          <p:cNvSpPr/>
          <p:nvPr/>
        </p:nvSpPr>
        <p:spPr>
          <a:xfrm>
            <a:off x="5179107" y="831625"/>
            <a:ext cx="1156500" cy="4206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5"/>
          <p:cNvSpPr/>
          <p:nvPr/>
        </p:nvSpPr>
        <p:spPr>
          <a:xfrm>
            <a:off x="6594532" y="831624"/>
            <a:ext cx="1212300" cy="4206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6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radius and diameter of a circle have a multiplicative relationship so you can use any of the variations of formula</a:t>
            </a:r>
            <a:endParaRPr sz="1800"/>
          </a:p>
        </p:txBody>
      </p:sp>
      <p:sp>
        <p:nvSpPr>
          <p:cNvPr id="1043" name="Google Shape;1043;p86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have to use a certain formula depending on whether you have the diameter or </a:t>
            </a:r>
            <a:r>
              <a:rPr lang="en-GB" sz="1800"/>
              <a:t>radius of the circle.</a:t>
            </a:r>
            <a:endParaRPr sz="1800"/>
          </a:p>
        </p:txBody>
      </p:sp>
      <p:sp>
        <p:nvSpPr>
          <p:cNvPr id="1044" name="Google Shape;1044;p8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you know the radius, use a formula with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/>
              <a:t>. If you know the diameter, use the formula with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pic>
        <p:nvPicPr>
          <p:cNvPr id="1046" name="Google Shape;104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4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9158" y="33519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7"/>
          <p:cNvSpPr txBox="1"/>
          <p:nvPr>
            <p:ph idx="1" type="body"/>
          </p:nvPr>
        </p:nvSpPr>
        <p:spPr>
          <a:xfrm>
            <a:off x="324000" y="733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Work out the surface area of the following </a:t>
            </a:r>
            <a:r>
              <a:rPr b="1" lang="en-GB" sz="1800"/>
              <a:t>cylinders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53" name="Google Shape;1053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surface area of a cylinder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54" name="Google Shape;105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225" y="1282600"/>
            <a:ext cx="1594275" cy="15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3388" y="1358575"/>
            <a:ext cx="1258924" cy="115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9749" y="1282599"/>
            <a:ext cx="1258900" cy="1731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3875" y="3050575"/>
            <a:ext cx="3050628" cy="173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8" name="Google Shape;1058;p87"/>
          <p:cNvCxnSpPr/>
          <p:nvPr/>
        </p:nvCxnSpPr>
        <p:spPr>
          <a:xfrm flipH="1">
            <a:off x="1786275" y="2258875"/>
            <a:ext cx="557100" cy="51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9" name="Google Shape;1059;p87"/>
          <p:cNvSpPr txBox="1"/>
          <p:nvPr/>
        </p:nvSpPr>
        <p:spPr>
          <a:xfrm>
            <a:off x="2003100" y="2469150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7"/>
          <p:cNvSpPr txBox="1"/>
          <p:nvPr/>
        </p:nvSpPr>
        <p:spPr>
          <a:xfrm>
            <a:off x="332325" y="1282600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7"/>
          <p:cNvSpPr txBox="1"/>
          <p:nvPr/>
        </p:nvSpPr>
        <p:spPr>
          <a:xfrm>
            <a:off x="3246700" y="1282600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7"/>
          <p:cNvSpPr txBox="1"/>
          <p:nvPr/>
        </p:nvSpPr>
        <p:spPr>
          <a:xfrm>
            <a:off x="5841125" y="1296207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7"/>
          <p:cNvSpPr txBox="1"/>
          <p:nvPr/>
        </p:nvSpPr>
        <p:spPr>
          <a:xfrm>
            <a:off x="2639250" y="3212300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4" name="Google Shape;1064;p87"/>
          <p:cNvCxnSpPr/>
          <p:nvPr/>
        </p:nvCxnSpPr>
        <p:spPr>
          <a:xfrm flipH="1">
            <a:off x="4424275" y="2483875"/>
            <a:ext cx="404700" cy="6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5" name="Google Shape;1065;p87"/>
          <p:cNvCxnSpPr/>
          <p:nvPr/>
        </p:nvCxnSpPr>
        <p:spPr>
          <a:xfrm rot="10800000">
            <a:off x="7708650" y="1468775"/>
            <a:ext cx="0" cy="135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6" name="Google Shape;1066;p87"/>
          <p:cNvCxnSpPr/>
          <p:nvPr/>
        </p:nvCxnSpPr>
        <p:spPr>
          <a:xfrm flipH="1" rot="10800000">
            <a:off x="3315400" y="3996900"/>
            <a:ext cx="2173800" cy="6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7" name="Google Shape;1067;p87"/>
          <p:cNvSpPr txBox="1"/>
          <p:nvPr/>
        </p:nvSpPr>
        <p:spPr>
          <a:xfrm>
            <a:off x="4499000" y="2469150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7"/>
          <p:cNvSpPr txBox="1"/>
          <p:nvPr/>
        </p:nvSpPr>
        <p:spPr>
          <a:xfrm>
            <a:off x="7764975" y="1858425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7"/>
          <p:cNvSpPr txBox="1"/>
          <p:nvPr/>
        </p:nvSpPr>
        <p:spPr>
          <a:xfrm>
            <a:off x="4160725" y="4320925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7"/>
          <p:cNvSpPr txBox="1"/>
          <p:nvPr/>
        </p:nvSpPr>
        <p:spPr>
          <a:xfrm>
            <a:off x="3014625" y="3455588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1" name="Google Shape;1071;p87"/>
          <p:cNvCxnSpPr/>
          <p:nvPr/>
        </p:nvCxnSpPr>
        <p:spPr>
          <a:xfrm>
            <a:off x="3876525" y="1898975"/>
            <a:ext cx="788400" cy="19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2" name="Google Shape;1072;p87"/>
          <p:cNvSpPr/>
          <p:nvPr/>
        </p:nvSpPr>
        <p:spPr>
          <a:xfrm>
            <a:off x="4240125" y="1964375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7"/>
          <p:cNvSpPr/>
          <p:nvPr/>
        </p:nvSpPr>
        <p:spPr>
          <a:xfrm>
            <a:off x="1359788" y="224628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4" name="Google Shape;1074;p87"/>
          <p:cNvCxnSpPr/>
          <p:nvPr/>
        </p:nvCxnSpPr>
        <p:spPr>
          <a:xfrm flipH="1">
            <a:off x="828188" y="2276956"/>
            <a:ext cx="562200" cy="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5" name="Google Shape;1075;p87"/>
          <p:cNvCxnSpPr>
            <a:endCxn id="1056" idx="2"/>
          </p:cNvCxnSpPr>
          <p:nvPr/>
        </p:nvCxnSpPr>
        <p:spPr>
          <a:xfrm rot="10800000">
            <a:off x="7079200" y="3014188"/>
            <a:ext cx="514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6" name="Google Shape;1076;p87"/>
          <p:cNvCxnSpPr/>
          <p:nvPr/>
        </p:nvCxnSpPr>
        <p:spPr>
          <a:xfrm>
            <a:off x="2953350" y="3824775"/>
            <a:ext cx="0" cy="36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77" name="Google Shape;1077;p87"/>
          <p:cNvSpPr txBox="1"/>
          <p:nvPr/>
        </p:nvSpPr>
        <p:spPr>
          <a:xfrm>
            <a:off x="829450" y="1885456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8" name="Google Shape;1078;p87"/>
          <p:cNvCxnSpPr/>
          <p:nvPr/>
        </p:nvCxnSpPr>
        <p:spPr>
          <a:xfrm>
            <a:off x="3382325" y="3955350"/>
            <a:ext cx="0" cy="36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87"/>
          <p:cNvCxnSpPr/>
          <p:nvPr/>
        </p:nvCxnSpPr>
        <p:spPr>
          <a:xfrm>
            <a:off x="2952025" y="3825775"/>
            <a:ext cx="430800" cy="13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0" name="Google Shape;1080;p87"/>
          <p:cNvSpPr txBox="1"/>
          <p:nvPr/>
        </p:nvSpPr>
        <p:spPr>
          <a:xfrm>
            <a:off x="3913100" y="1580638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7"/>
          <p:cNvSpPr txBox="1"/>
          <p:nvPr/>
        </p:nvSpPr>
        <p:spPr>
          <a:xfrm>
            <a:off x="7015175" y="2968988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8"/>
          <p:cNvSpPr txBox="1"/>
          <p:nvPr>
            <p:ph idx="1" type="body"/>
          </p:nvPr>
        </p:nvSpPr>
        <p:spPr>
          <a:xfrm>
            <a:off x="324000" y="759300"/>
            <a:ext cx="8237700" cy="10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 drinks company are looking to use less material when making their cans. These two cans both hold 330 ml of liquid. </a:t>
            </a:r>
            <a:r>
              <a:rPr lang="en-GB" sz="1800"/>
              <a:t>Which</a:t>
            </a:r>
            <a:r>
              <a:rPr lang="en-GB" sz="1800"/>
              <a:t> can should the drinks company choose? </a:t>
            </a:r>
            <a:endParaRPr sz="1800"/>
          </a:p>
        </p:txBody>
      </p:sp>
      <p:sp>
        <p:nvSpPr>
          <p:cNvPr id="1087" name="Google Shape;1087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surface area of a cylinder</a:t>
            </a:r>
            <a:endParaRPr/>
          </a:p>
        </p:txBody>
      </p:sp>
      <p:pic>
        <p:nvPicPr>
          <p:cNvPr id="1088" name="Google Shape;108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5212" y="2067913"/>
            <a:ext cx="1302375" cy="23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650" y="2932100"/>
            <a:ext cx="1622250" cy="1472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0" name="Google Shape;1090;p88"/>
          <p:cNvCxnSpPr/>
          <p:nvPr/>
        </p:nvCxnSpPr>
        <p:spPr>
          <a:xfrm>
            <a:off x="2419125" y="4533000"/>
            <a:ext cx="116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1" name="Google Shape;1091;p88"/>
          <p:cNvCxnSpPr/>
          <p:nvPr/>
        </p:nvCxnSpPr>
        <p:spPr>
          <a:xfrm>
            <a:off x="4860925" y="2769950"/>
            <a:ext cx="74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2" name="Google Shape;1092;p88"/>
          <p:cNvCxnSpPr/>
          <p:nvPr/>
        </p:nvCxnSpPr>
        <p:spPr>
          <a:xfrm>
            <a:off x="2281475" y="2243000"/>
            <a:ext cx="0" cy="199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3" name="Google Shape;1093;p88"/>
          <p:cNvCxnSpPr/>
          <p:nvPr/>
        </p:nvCxnSpPr>
        <p:spPr>
          <a:xfrm>
            <a:off x="6378900" y="3066950"/>
            <a:ext cx="0" cy="116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4" name="Google Shape;1094;p88"/>
          <p:cNvSpPr txBox="1"/>
          <p:nvPr/>
        </p:nvSpPr>
        <p:spPr>
          <a:xfrm>
            <a:off x="1602575" y="2953650"/>
            <a:ext cx="62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109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8"/>
          <p:cNvSpPr txBox="1"/>
          <p:nvPr/>
        </p:nvSpPr>
        <p:spPr>
          <a:xfrm>
            <a:off x="6359157" y="3266075"/>
            <a:ext cx="97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8"/>
          <p:cNvSpPr txBox="1"/>
          <p:nvPr/>
        </p:nvSpPr>
        <p:spPr>
          <a:xfrm>
            <a:off x="4922425" y="2352607"/>
            <a:ext cx="116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8"/>
          <p:cNvSpPr txBox="1"/>
          <p:nvPr/>
        </p:nvSpPr>
        <p:spPr>
          <a:xfrm>
            <a:off x="2523100" y="4481475"/>
            <a:ext cx="120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62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8" name="Google Shape;1098;p88"/>
          <p:cNvGrpSpPr/>
          <p:nvPr/>
        </p:nvGrpSpPr>
        <p:grpSpPr>
          <a:xfrm>
            <a:off x="2757778" y="2700000"/>
            <a:ext cx="457200" cy="457200"/>
            <a:chOff x="1020916" y="1442088"/>
            <a:chExt cx="457200" cy="457200"/>
          </a:xfrm>
        </p:grpSpPr>
        <p:pic>
          <p:nvPicPr>
            <p:cNvPr id="1099" name="Google Shape;1099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0" name="Google Shape;1100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1" name="Google Shape;1101;p88"/>
          <p:cNvGrpSpPr/>
          <p:nvPr/>
        </p:nvGrpSpPr>
        <p:grpSpPr>
          <a:xfrm>
            <a:off x="5339166" y="3471725"/>
            <a:ext cx="457200" cy="457200"/>
            <a:chOff x="1020916" y="1442088"/>
            <a:chExt cx="457200" cy="457200"/>
          </a:xfrm>
        </p:grpSpPr>
        <p:pic>
          <p:nvPicPr>
            <p:cNvPr id="1102" name="Google Shape;1102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8" name="Google Shape;110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4642" y="1362644"/>
            <a:ext cx="1258900" cy="116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0445" y="1282600"/>
            <a:ext cx="1594276" cy="1540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surface area of a cylinder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111" name="Google Shape;1111;p89"/>
          <p:cNvCxnSpPr/>
          <p:nvPr/>
        </p:nvCxnSpPr>
        <p:spPr>
          <a:xfrm flipH="1">
            <a:off x="2167275" y="2258875"/>
            <a:ext cx="557100" cy="51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2" name="Google Shape;1112;p89"/>
          <p:cNvSpPr txBox="1"/>
          <p:nvPr/>
        </p:nvSpPr>
        <p:spPr>
          <a:xfrm>
            <a:off x="2384100" y="2469150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9"/>
          <p:cNvSpPr txBox="1"/>
          <p:nvPr/>
        </p:nvSpPr>
        <p:spPr>
          <a:xfrm>
            <a:off x="332325" y="1282600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9"/>
          <p:cNvSpPr txBox="1"/>
          <p:nvPr/>
        </p:nvSpPr>
        <p:spPr>
          <a:xfrm>
            <a:off x="4823225" y="1282600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5" name="Google Shape;1115;p89"/>
          <p:cNvCxnSpPr/>
          <p:nvPr/>
        </p:nvCxnSpPr>
        <p:spPr>
          <a:xfrm flipH="1">
            <a:off x="6229400" y="2483875"/>
            <a:ext cx="404700" cy="6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6" name="Google Shape;1116;p89"/>
          <p:cNvSpPr txBox="1"/>
          <p:nvPr/>
        </p:nvSpPr>
        <p:spPr>
          <a:xfrm>
            <a:off x="6304125" y="2469150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7" name="Google Shape;1117;p89"/>
          <p:cNvCxnSpPr/>
          <p:nvPr/>
        </p:nvCxnSpPr>
        <p:spPr>
          <a:xfrm>
            <a:off x="5681650" y="1898975"/>
            <a:ext cx="788400" cy="19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8" name="Google Shape;1118;p89"/>
          <p:cNvSpPr/>
          <p:nvPr/>
        </p:nvSpPr>
        <p:spPr>
          <a:xfrm>
            <a:off x="6045250" y="1964375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9"/>
          <p:cNvSpPr/>
          <p:nvPr/>
        </p:nvSpPr>
        <p:spPr>
          <a:xfrm>
            <a:off x="1740788" y="224628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0" name="Google Shape;1120;p89"/>
          <p:cNvCxnSpPr/>
          <p:nvPr/>
        </p:nvCxnSpPr>
        <p:spPr>
          <a:xfrm flipH="1">
            <a:off x="1209188" y="2276956"/>
            <a:ext cx="562200" cy="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1" name="Google Shape;1121;p89"/>
          <p:cNvSpPr txBox="1"/>
          <p:nvPr/>
        </p:nvSpPr>
        <p:spPr>
          <a:xfrm>
            <a:off x="1210450" y="1858425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9"/>
          <p:cNvSpPr txBox="1"/>
          <p:nvPr/>
        </p:nvSpPr>
        <p:spPr>
          <a:xfrm>
            <a:off x="5718225" y="1580638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9"/>
          <p:cNvSpPr txBox="1"/>
          <p:nvPr/>
        </p:nvSpPr>
        <p:spPr>
          <a:xfrm>
            <a:off x="814225" y="3310700"/>
            <a:ext cx="4395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𝜋 × 4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𝜋 × 4 × 11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32𝜋 + 88𝜋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120𝜋 = 377.0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(1 d.p.)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4" name="Google Shape;1124;p89"/>
          <p:cNvSpPr txBox="1"/>
          <p:nvPr/>
        </p:nvSpPr>
        <p:spPr>
          <a:xfrm>
            <a:off x="5051825" y="3357650"/>
            <a:ext cx="4395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𝜋 × 2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𝜋 × 4 × 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8𝜋 + 12𝜋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20𝜋 = 62.8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(1 d.p.)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5" name="Google Shape;1125;p89"/>
          <p:cNvSpPr txBox="1"/>
          <p:nvPr>
            <p:ph idx="1" type="body"/>
          </p:nvPr>
        </p:nvSpPr>
        <p:spPr>
          <a:xfrm>
            <a:off x="324000" y="733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Work out the surface area of the following </a:t>
            </a:r>
            <a:r>
              <a:rPr b="1" lang="en-GB" sz="1800"/>
              <a:t>cylinders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surface area of a cylinder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90"/>
          <p:cNvSpPr txBox="1"/>
          <p:nvPr/>
        </p:nvSpPr>
        <p:spPr>
          <a:xfrm>
            <a:off x="332325" y="1282600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90"/>
          <p:cNvSpPr txBox="1"/>
          <p:nvPr/>
        </p:nvSpPr>
        <p:spPr>
          <a:xfrm>
            <a:off x="236150" y="3439125"/>
            <a:ext cx="4395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𝜋 × 37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+ 2 × 𝜋 × 37 × 138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2738𝜋 + 10212𝜋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12950𝜋 = 40 683.6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(1 d.p.)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33" name="Google Shape;113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443" y="1336375"/>
            <a:ext cx="1258900" cy="17309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4" name="Google Shape;1134;p90"/>
          <p:cNvCxnSpPr/>
          <p:nvPr/>
        </p:nvCxnSpPr>
        <p:spPr>
          <a:xfrm rot="10800000">
            <a:off x="2586350" y="1522550"/>
            <a:ext cx="0" cy="135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5" name="Google Shape;1135;p90"/>
          <p:cNvSpPr txBox="1"/>
          <p:nvPr/>
        </p:nvSpPr>
        <p:spPr>
          <a:xfrm>
            <a:off x="2642675" y="1912200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138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6" name="Google Shape;1136;p90"/>
          <p:cNvCxnSpPr/>
          <p:nvPr/>
        </p:nvCxnSpPr>
        <p:spPr>
          <a:xfrm rot="10800000">
            <a:off x="1956900" y="3067963"/>
            <a:ext cx="514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7" name="Google Shape;1137;p90"/>
          <p:cNvSpPr txBox="1"/>
          <p:nvPr/>
        </p:nvSpPr>
        <p:spPr>
          <a:xfrm>
            <a:off x="1892875" y="3022763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37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90"/>
          <p:cNvSpPr txBox="1"/>
          <p:nvPr>
            <p:ph idx="1" type="body"/>
          </p:nvPr>
        </p:nvSpPr>
        <p:spPr>
          <a:xfrm>
            <a:off x="324000" y="733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Work out the surface area of the following </a:t>
            </a:r>
            <a:r>
              <a:rPr b="1" lang="en-GB" sz="1800"/>
              <a:t>cylinders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39" name="Google Shape;1139;p90"/>
          <p:cNvSpPr txBox="1"/>
          <p:nvPr/>
        </p:nvSpPr>
        <p:spPr>
          <a:xfrm>
            <a:off x="4819800" y="1301125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0" name="Google Shape;114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925" y="1238425"/>
            <a:ext cx="3050626" cy="1733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1" name="Google Shape;1141;p90"/>
          <p:cNvCxnSpPr/>
          <p:nvPr/>
        </p:nvCxnSpPr>
        <p:spPr>
          <a:xfrm flipH="1" rot="10800000">
            <a:off x="5839450" y="2184750"/>
            <a:ext cx="2173800" cy="6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2" name="Google Shape;1142;p90"/>
          <p:cNvSpPr txBox="1"/>
          <p:nvPr/>
        </p:nvSpPr>
        <p:spPr>
          <a:xfrm>
            <a:off x="6684775" y="2508775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0"/>
          <p:cNvSpPr txBox="1"/>
          <p:nvPr/>
        </p:nvSpPr>
        <p:spPr>
          <a:xfrm>
            <a:off x="5538675" y="1643438"/>
            <a:ext cx="1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4" name="Google Shape;1144;p90"/>
          <p:cNvCxnSpPr/>
          <p:nvPr/>
        </p:nvCxnSpPr>
        <p:spPr>
          <a:xfrm>
            <a:off x="5477400" y="2012625"/>
            <a:ext cx="0" cy="36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90"/>
          <p:cNvCxnSpPr/>
          <p:nvPr/>
        </p:nvCxnSpPr>
        <p:spPr>
          <a:xfrm>
            <a:off x="5906375" y="2143200"/>
            <a:ext cx="0" cy="36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90"/>
          <p:cNvCxnSpPr/>
          <p:nvPr/>
        </p:nvCxnSpPr>
        <p:spPr>
          <a:xfrm>
            <a:off x="5476075" y="2013625"/>
            <a:ext cx="430800" cy="13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7" name="Google Shape;1147;p90"/>
          <p:cNvSpPr txBox="1"/>
          <p:nvPr/>
        </p:nvSpPr>
        <p:spPr>
          <a:xfrm>
            <a:off x="4805400" y="3428425"/>
            <a:ext cx="4395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𝜋 × 0.45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𝜋 × 0.9 × 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0.405𝜋 + 4.5𝜋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4.905𝜋 = 15.4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(1 d.p.)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2" name="Google Shape;115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5175" y="2067925"/>
            <a:ext cx="1302375" cy="2328933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91"/>
          <p:cNvSpPr txBox="1"/>
          <p:nvPr>
            <p:ph idx="1" type="body"/>
          </p:nvPr>
        </p:nvSpPr>
        <p:spPr>
          <a:xfrm>
            <a:off x="324000" y="759300"/>
            <a:ext cx="8237700" cy="9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 drinks company are looking to use less material when making their cans. These two cans both hold 330 ml of liquid. Which can should the drinks company choose? </a:t>
            </a:r>
            <a:endParaRPr sz="1800"/>
          </a:p>
        </p:txBody>
      </p:sp>
      <p:sp>
        <p:nvSpPr>
          <p:cNvPr id="1154" name="Google Shape;1154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surface area of a cylinder</a:t>
            </a:r>
            <a:endParaRPr/>
          </a:p>
        </p:txBody>
      </p:sp>
      <p:cxnSp>
        <p:nvCxnSpPr>
          <p:cNvPr id="1155" name="Google Shape;1155;p91"/>
          <p:cNvCxnSpPr/>
          <p:nvPr/>
        </p:nvCxnSpPr>
        <p:spPr>
          <a:xfrm>
            <a:off x="2419125" y="4533000"/>
            <a:ext cx="116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6" name="Google Shape;1156;p91"/>
          <p:cNvCxnSpPr/>
          <p:nvPr/>
        </p:nvCxnSpPr>
        <p:spPr>
          <a:xfrm>
            <a:off x="2281475" y="2243000"/>
            <a:ext cx="0" cy="199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7" name="Google Shape;1157;p91"/>
          <p:cNvSpPr txBox="1"/>
          <p:nvPr/>
        </p:nvSpPr>
        <p:spPr>
          <a:xfrm>
            <a:off x="1602575" y="2953650"/>
            <a:ext cx="62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109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1"/>
          <p:cNvSpPr txBox="1"/>
          <p:nvPr/>
        </p:nvSpPr>
        <p:spPr>
          <a:xfrm>
            <a:off x="2523100" y="4481475"/>
            <a:ext cx="120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62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9" name="Google Shape;1159;p91"/>
          <p:cNvGrpSpPr/>
          <p:nvPr/>
        </p:nvGrpSpPr>
        <p:grpSpPr>
          <a:xfrm>
            <a:off x="2757778" y="2700000"/>
            <a:ext cx="457200" cy="457200"/>
            <a:chOff x="1020916" y="1442088"/>
            <a:chExt cx="457200" cy="457200"/>
          </a:xfrm>
        </p:grpSpPr>
        <p:pic>
          <p:nvPicPr>
            <p:cNvPr id="1160" name="Google Shape;1160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2" name="Google Shape;1162;p91"/>
          <p:cNvSpPr txBox="1"/>
          <p:nvPr/>
        </p:nvSpPr>
        <p:spPr>
          <a:xfrm>
            <a:off x="4455250" y="2160000"/>
            <a:ext cx="439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𝜋 × 31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𝜋 × 62 × 109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1922𝜋 + 6758𝜋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8680𝜋 = 27 269.0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(1 d.p.)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Google Shape;116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650" y="2932100"/>
            <a:ext cx="1622250" cy="147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2"/>
          <p:cNvSpPr txBox="1"/>
          <p:nvPr>
            <p:ph idx="1" type="body"/>
          </p:nvPr>
        </p:nvSpPr>
        <p:spPr>
          <a:xfrm>
            <a:off x="324000" y="759300"/>
            <a:ext cx="8237700" cy="9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 drinks company are looking to use less material when making their cans. These two cans both hold 330 ml of liquid. Which can should the drinks company choose? </a:t>
            </a:r>
            <a:endParaRPr sz="1800"/>
          </a:p>
        </p:txBody>
      </p:sp>
      <p:sp>
        <p:nvSpPr>
          <p:cNvPr id="1169" name="Google Shape;1169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surface area of a cylinder</a:t>
            </a:r>
            <a:endParaRPr/>
          </a:p>
        </p:txBody>
      </p:sp>
      <p:cxnSp>
        <p:nvCxnSpPr>
          <p:cNvPr id="1170" name="Google Shape;1170;p92"/>
          <p:cNvCxnSpPr/>
          <p:nvPr/>
        </p:nvCxnSpPr>
        <p:spPr>
          <a:xfrm>
            <a:off x="4860925" y="2769950"/>
            <a:ext cx="74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1" name="Google Shape;1171;p92"/>
          <p:cNvCxnSpPr/>
          <p:nvPr/>
        </p:nvCxnSpPr>
        <p:spPr>
          <a:xfrm>
            <a:off x="6378900" y="3066950"/>
            <a:ext cx="0" cy="116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2" name="Google Shape;1172;p92"/>
          <p:cNvSpPr txBox="1"/>
          <p:nvPr/>
        </p:nvSpPr>
        <p:spPr>
          <a:xfrm>
            <a:off x="6479375" y="3266075"/>
            <a:ext cx="62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66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92"/>
          <p:cNvSpPr txBox="1"/>
          <p:nvPr/>
        </p:nvSpPr>
        <p:spPr>
          <a:xfrm>
            <a:off x="4922425" y="2075550"/>
            <a:ext cx="62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4" name="Google Shape;1174;p92"/>
          <p:cNvGrpSpPr/>
          <p:nvPr/>
        </p:nvGrpSpPr>
        <p:grpSpPr>
          <a:xfrm>
            <a:off x="5339166" y="3471725"/>
            <a:ext cx="457200" cy="457200"/>
            <a:chOff x="1020916" y="1442088"/>
            <a:chExt cx="457200" cy="457200"/>
          </a:xfrm>
        </p:grpSpPr>
        <p:pic>
          <p:nvPicPr>
            <p:cNvPr id="1175" name="Google Shape;117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6" name="Google Shape;117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7" name="Google Shape;1177;p92"/>
          <p:cNvSpPr txBox="1"/>
          <p:nvPr/>
        </p:nvSpPr>
        <p:spPr>
          <a:xfrm>
            <a:off x="757200" y="2532000"/>
            <a:ext cx="439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𝜋 × 40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+ 2 × 𝜋 × 40 × 66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3200𝜋 + 5280𝜋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8480𝜋 = 26 640.7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(1 d.p.)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650" y="2932100"/>
            <a:ext cx="1622250" cy="147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5175" y="2067925"/>
            <a:ext cx="1302375" cy="2328933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93"/>
          <p:cNvSpPr txBox="1"/>
          <p:nvPr>
            <p:ph idx="1" type="body"/>
          </p:nvPr>
        </p:nvSpPr>
        <p:spPr>
          <a:xfrm>
            <a:off x="324000" y="759300"/>
            <a:ext cx="8237700" cy="9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 drinks company are looking to use less material when making their cans. These two cans both hold 330 ml of liquid. Which can should the drinks company choose? </a:t>
            </a:r>
            <a:endParaRPr sz="1800"/>
          </a:p>
        </p:txBody>
      </p:sp>
      <p:sp>
        <p:nvSpPr>
          <p:cNvPr id="1185" name="Google Shape;1185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surface area of a cylinder</a:t>
            </a:r>
            <a:endParaRPr/>
          </a:p>
        </p:txBody>
      </p:sp>
      <p:cxnSp>
        <p:nvCxnSpPr>
          <p:cNvPr id="1186" name="Google Shape;1186;p93"/>
          <p:cNvCxnSpPr/>
          <p:nvPr/>
        </p:nvCxnSpPr>
        <p:spPr>
          <a:xfrm>
            <a:off x="2419125" y="4533000"/>
            <a:ext cx="116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7" name="Google Shape;1187;p93"/>
          <p:cNvCxnSpPr/>
          <p:nvPr/>
        </p:nvCxnSpPr>
        <p:spPr>
          <a:xfrm>
            <a:off x="4860925" y="2769950"/>
            <a:ext cx="74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8" name="Google Shape;1188;p93"/>
          <p:cNvCxnSpPr/>
          <p:nvPr/>
        </p:nvCxnSpPr>
        <p:spPr>
          <a:xfrm>
            <a:off x="2281475" y="2243000"/>
            <a:ext cx="0" cy="199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9" name="Google Shape;1189;p93"/>
          <p:cNvCxnSpPr/>
          <p:nvPr/>
        </p:nvCxnSpPr>
        <p:spPr>
          <a:xfrm>
            <a:off x="6378900" y="3066950"/>
            <a:ext cx="0" cy="116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0" name="Google Shape;1190;p93"/>
          <p:cNvSpPr txBox="1"/>
          <p:nvPr/>
        </p:nvSpPr>
        <p:spPr>
          <a:xfrm>
            <a:off x="1761000" y="2932100"/>
            <a:ext cx="62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109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93"/>
          <p:cNvSpPr txBox="1"/>
          <p:nvPr/>
        </p:nvSpPr>
        <p:spPr>
          <a:xfrm>
            <a:off x="6378900" y="3266075"/>
            <a:ext cx="8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66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3"/>
          <p:cNvSpPr txBox="1"/>
          <p:nvPr/>
        </p:nvSpPr>
        <p:spPr>
          <a:xfrm>
            <a:off x="4671300" y="2308250"/>
            <a:ext cx="9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93"/>
          <p:cNvSpPr txBox="1"/>
          <p:nvPr/>
        </p:nvSpPr>
        <p:spPr>
          <a:xfrm>
            <a:off x="2523100" y="4481475"/>
            <a:ext cx="120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62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4" name="Google Shape;1194;p93"/>
          <p:cNvGrpSpPr/>
          <p:nvPr/>
        </p:nvGrpSpPr>
        <p:grpSpPr>
          <a:xfrm>
            <a:off x="2757778" y="2700000"/>
            <a:ext cx="457200" cy="457200"/>
            <a:chOff x="1020916" y="1442088"/>
            <a:chExt cx="457200" cy="457200"/>
          </a:xfrm>
        </p:grpSpPr>
        <p:pic>
          <p:nvPicPr>
            <p:cNvPr id="1195" name="Google Shape;1195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7" name="Google Shape;1197;p93"/>
          <p:cNvGrpSpPr/>
          <p:nvPr/>
        </p:nvGrpSpPr>
        <p:grpSpPr>
          <a:xfrm>
            <a:off x="5339166" y="3471725"/>
            <a:ext cx="457200" cy="457200"/>
            <a:chOff x="1020916" y="1442088"/>
            <a:chExt cx="457200" cy="457200"/>
          </a:xfrm>
        </p:grpSpPr>
        <p:pic>
          <p:nvPicPr>
            <p:cNvPr id="1198" name="Google Shape;1198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9" name="Google Shape;119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0" name="Google Shape;1200;p93"/>
          <p:cNvSpPr txBox="1"/>
          <p:nvPr/>
        </p:nvSpPr>
        <p:spPr>
          <a:xfrm>
            <a:off x="6378900" y="2131700"/>
            <a:ext cx="1622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8480𝜋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93"/>
          <p:cNvSpPr txBox="1"/>
          <p:nvPr/>
        </p:nvSpPr>
        <p:spPr>
          <a:xfrm>
            <a:off x="561275" y="2076625"/>
            <a:ext cx="155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8680𝜋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2" name="Google Shape;1202;p93"/>
          <p:cNvSpPr txBox="1"/>
          <p:nvPr/>
        </p:nvSpPr>
        <p:spPr>
          <a:xfrm>
            <a:off x="3637550" y="1374775"/>
            <a:ext cx="492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drinks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company should choose can b.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9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surface area of a cylinder</a:t>
            </a:r>
            <a:endParaRPr/>
          </a:p>
        </p:txBody>
      </p:sp>
      <p:sp>
        <p:nvSpPr>
          <p:cNvPr id="1208" name="Google Shape;1208;p9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surface area of a cylinder</a:t>
            </a:r>
            <a:endParaRPr/>
          </a:p>
        </p:txBody>
      </p:sp>
      <p:sp>
        <p:nvSpPr>
          <p:cNvPr id="1209" name="Google Shape;1209;p9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cylinders</a:t>
            </a:r>
            <a:endParaRPr/>
          </a:p>
        </p:txBody>
      </p:sp>
      <p:pic>
        <p:nvPicPr>
          <p:cNvPr id="1210" name="Google Shape;121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97" y="299393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95"/>
          <p:cNvSpPr txBox="1"/>
          <p:nvPr>
            <p:ph idx="1" type="body"/>
          </p:nvPr>
        </p:nvSpPr>
        <p:spPr>
          <a:xfrm>
            <a:off x="324000" y="759300"/>
            <a:ext cx="82377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surface area of any </a:t>
            </a:r>
            <a:r>
              <a:rPr b="1" lang="en-GB" sz="2000"/>
              <a:t>cylinder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000"/>
              <a:t>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/>
              <a:t>2</a:t>
            </a:r>
            <a:r>
              <a:rPr lang="en-GB" sz="20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000"/>
              <a:t>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r>
              <a:rPr lang="en-GB" sz="2000"/>
              <a:t>, where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is the radius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/>
              <a:t> is the height. </a:t>
            </a:r>
            <a:endParaRPr sz="2000"/>
          </a:p>
        </p:txBody>
      </p:sp>
      <p:sp>
        <p:nvSpPr>
          <p:cNvPr id="1216" name="Google Shape;121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surface area of a cylinder</a:t>
            </a:r>
            <a:endParaRPr/>
          </a:p>
        </p:txBody>
      </p:sp>
      <p:sp>
        <p:nvSpPr>
          <p:cNvPr id="1217" name="Google Shape;1217;p95"/>
          <p:cNvSpPr txBox="1"/>
          <p:nvPr/>
        </p:nvSpPr>
        <p:spPr>
          <a:xfrm>
            <a:off x="222750" y="1876575"/>
            <a:ext cx="571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formula involves three variables: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5"/>
          <p:cNvSpPr txBox="1"/>
          <p:nvPr/>
        </p:nvSpPr>
        <p:spPr>
          <a:xfrm>
            <a:off x="222750" y="3515000"/>
            <a:ext cx="468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surface area is dependent on the radius and height of the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9" name="Google Shape;1219;p95"/>
          <p:cNvGrpSpPr/>
          <p:nvPr/>
        </p:nvGrpSpPr>
        <p:grpSpPr>
          <a:xfrm>
            <a:off x="5163325" y="1835700"/>
            <a:ext cx="3918159" cy="2627173"/>
            <a:chOff x="5163325" y="1835700"/>
            <a:chExt cx="3918159" cy="2627173"/>
          </a:xfrm>
        </p:grpSpPr>
        <p:pic>
          <p:nvPicPr>
            <p:cNvPr id="1220" name="Google Shape;1220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8712" y="3003149"/>
              <a:ext cx="788350" cy="1016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95"/>
            <p:cNvSpPr txBox="1"/>
            <p:nvPr/>
          </p:nvSpPr>
          <p:spPr>
            <a:xfrm>
              <a:off x="7424284" y="3876973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222" name="Google Shape;1222;p95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5163325" y="1835700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95"/>
            <p:cNvSpPr txBox="1"/>
            <p:nvPr/>
          </p:nvSpPr>
          <p:spPr>
            <a:xfrm>
              <a:off x="5231068" y="1874285"/>
              <a:ext cx="23814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This means if the radius was to change, the surface area would too.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4" name="Google Shape;1224;p95"/>
          <p:cNvSpPr txBox="1"/>
          <p:nvPr/>
        </p:nvSpPr>
        <p:spPr>
          <a:xfrm>
            <a:off x="5103450" y="4320000"/>
            <a:ext cx="341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🖇</a:t>
            </a:r>
            <a:r>
              <a:rPr lang="en-GB" sz="2000" u="sng">
                <a:solidFill>
                  <a:schemeClr val="hlink"/>
                </a:solidFill>
                <a:hlinkClick r:id="rId5"/>
              </a:rPr>
              <a:t>Surface area of a cylinder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surface area of a cylinder</a:t>
            </a:r>
            <a:endParaRPr/>
          </a:p>
        </p:txBody>
      </p:sp>
      <p:sp>
        <p:nvSpPr>
          <p:cNvPr id="1230" name="Google Shape;1230;p96"/>
          <p:cNvSpPr txBox="1"/>
          <p:nvPr/>
        </p:nvSpPr>
        <p:spPr>
          <a:xfrm>
            <a:off x="222750" y="1876575"/>
            <a:ext cx="571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formula involves three variables: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6"/>
          <p:cNvSpPr txBox="1"/>
          <p:nvPr/>
        </p:nvSpPr>
        <p:spPr>
          <a:xfrm>
            <a:off x="222750" y="3515000"/>
            <a:ext cx="468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surface area is dependent on the radius and height of the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2" name="Google Shape;1232;p96"/>
          <p:cNvGrpSpPr/>
          <p:nvPr/>
        </p:nvGrpSpPr>
        <p:grpSpPr>
          <a:xfrm>
            <a:off x="5163325" y="1835700"/>
            <a:ext cx="3918159" cy="2627173"/>
            <a:chOff x="5163325" y="1835700"/>
            <a:chExt cx="3918159" cy="2627173"/>
          </a:xfrm>
        </p:grpSpPr>
        <p:pic>
          <p:nvPicPr>
            <p:cNvPr id="1233" name="Google Shape;1233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8712" y="3003149"/>
              <a:ext cx="788350" cy="1016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96"/>
            <p:cNvSpPr txBox="1"/>
            <p:nvPr/>
          </p:nvSpPr>
          <p:spPr>
            <a:xfrm>
              <a:off x="7424284" y="3876973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235" name="Google Shape;1235;p96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5163325" y="1835700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96"/>
            <p:cNvSpPr txBox="1"/>
            <p:nvPr/>
          </p:nvSpPr>
          <p:spPr>
            <a:xfrm>
              <a:off x="5231068" y="1874285"/>
              <a:ext cx="23814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Similarly, if the height was to change, the surface area would change.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7" name="Google Shape;1237;p96"/>
          <p:cNvSpPr txBox="1"/>
          <p:nvPr/>
        </p:nvSpPr>
        <p:spPr>
          <a:xfrm>
            <a:off x="5103450" y="4320000"/>
            <a:ext cx="341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🖇</a:t>
            </a:r>
            <a:r>
              <a:rPr lang="en-GB" sz="2000" u="sng">
                <a:solidFill>
                  <a:schemeClr val="hlink"/>
                </a:solidFill>
                <a:hlinkClick r:id="rId5"/>
              </a:rPr>
              <a:t>Surface area of a cylinder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38" name="Google Shape;1238;p96"/>
          <p:cNvSpPr txBox="1"/>
          <p:nvPr>
            <p:ph idx="1" type="body"/>
          </p:nvPr>
        </p:nvSpPr>
        <p:spPr>
          <a:xfrm>
            <a:off x="324000" y="759300"/>
            <a:ext cx="82377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surface area of any </a:t>
            </a:r>
            <a:r>
              <a:rPr b="1" lang="en-GB" sz="2000"/>
              <a:t>cylinder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000"/>
              <a:t>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/>
              <a:t>2</a:t>
            </a:r>
            <a:r>
              <a:rPr lang="en-GB" sz="20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000"/>
              <a:t>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r>
              <a:rPr lang="en-GB" sz="2000"/>
              <a:t>, where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is the radius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/>
              <a:t> is the height. </a:t>
            </a:r>
            <a:endParaRPr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surface area of a cylinder</a:t>
            </a:r>
            <a:endParaRPr/>
          </a:p>
        </p:txBody>
      </p:sp>
      <p:sp>
        <p:nvSpPr>
          <p:cNvPr id="1244" name="Google Shape;1244;p97"/>
          <p:cNvSpPr txBox="1"/>
          <p:nvPr/>
        </p:nvSpPr>
        <p:spPr>
          <a:xfrm>
            <a:off x="222750" y="1876575"/>
            <a:ext cx="571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formula involves three variables: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7"/>
          <p:cNvSpPr txBox="1"/>
          <p:nvPr/>
        </p:nvSpPr>
        <p:spPr>
          <a:xfrm>
            <a:off x="222750" y="3515000"/>
            <a:ext cx="468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surface area is dependent on the radius and height of the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cylinder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6" name="Google Shape;1246;p97"/>
          <p:cNvGrpSpPr/>
          <p:nvPr/>
        </p:nvGrpSpPr>
        <p:grpSpPr>
          <a:xfrm>
            <a:off x="5163325" y="1760293"/>
            <a:ext cx="3918159" cy="2702580"/>
            <a:chOff x="5163325" y="1760293"/>
            <a:chExt cx="3918159" cy="2702580"/>
          </a:xfrm>
        </p:grpSpPr>
        <p:pic>
          <p:nvPicPr>
            <p:cNvPr id="1247" name="Google Shape;1247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8712" y="3003149"/>
              <a:ext cx="788350" cy="1016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8" name="Google Shape;1248;p97"/>
            <p:cNvSpPr txBox="1"/>
            <p:nvPr/>
          </p:nvSpPr>
          <p:spPr>
            <a:xfrm>
              <a:off x="7424284" y="3876973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249" name="Google Shape;1249;p97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5163325" y="1835700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97"/>
            <p:cNvSpPr txBox="1"/>
            <p:nvPr/>
          </p:nvSpPr>
          <p:spPr>
            <a:xfrm>
              <a:off x="5208023" y="1760293"/>
              <a:ext cx="23814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But the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radius and height are not necessarily dependent on each other.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1" name="Google Shape;1251;p97"/>
          <p:cNvSpPr txBox="1"/>
          <p:nvPr/>
        </p:nvSpPr>
        <p:spPr>
          <a:xfrm>
            <a:off x="5103450" y="4320000"/>
            <a:ext cx="341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🖇</a:t>
            </a:r>
            <a:r>
              <a:rPr lang="en-GB" sz="2000" u="sng">
                <a:solidFill>
                  <a:schemeClr val="hlink"/>
                </a:solidFill>
                <a:hlinkClick r:id="rId5"/>
              </a:rPr>
              <a:t>Surface area of a cylinder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52" name="Google Shape;1252;p97"/>
          <p:cNvSpPr txBox="1"/>
          <p:nvPr>
            <p:ph idx="1" type="body"/>
          </p:nvPr>
        </p:nvSpPr>
        <p:spPr>
          <a:xfrm>
            <a:off x="324000" y="759300"/>
            <a:ext cx="82377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surface area of any </a:t>
            </a:r>
            <a:r>
              <a:rPr b="1" lang="en-GB" sz="2000"/>
              <a:t>cylinder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000"/>
              <a:t>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/>
              <a:t>2</a:t>
            </a:r>
            <a:r>
              <a:rPr lang="en-GB" sz="20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000"/>
              <a:t>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r>
              <a:rPr lang="en-GB" sz="2000"/>
              <a:t>, where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is the radius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/>
              <a:t> is the height. </a:t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 the blanks.</a:t>
            </a:r>
            <a:endParaRPr/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surface area is dependent on the                     and the</a:t>
            </a:r>
            <a:endParaRPr/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of the </a:t>
            </a:r>
            <a:r>
              <a:rPr b="1" lang="en-GB"/>
              <a:t>cylinder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radius </a:t>
            </a:r>
            <a:r>
              <a:rPr lang="en-GB"/>
              <a:t>changes, the                     will change too.</a:t>
            </a:r>
            <a:endParaRPr/>
          </a:p>
        </p:txBody>
      </p:sp>
      <p:sp>
        <p:nvSpPr>
          <p:cNvPr id="1258" name="Google Shape;125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surface area of a cylinder</a:t>
            </a:r>
            <a:endParaRPr/>
          </a:p>
        </p:txBody>
      </p:sp>
      <p:cxnSp>
        <p:nvCxnSpPr>
          <p:cNvPr id="1259" name="Google Shape;1259;p98"/>
          <p:cNvCxnSpPr/>
          <p:nvPr/>
        </p:nvCxnSpPr>
        <p:spPr>
          <a:xfrm>
            <a:off x="5453850" y="1624083"/>
            <a:ext cx="149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98"/>
          <p:cNvCxnSpPr/>
          <p:nvPr/>
        </p:nvCxnSpPr>
        <p:spPr>
          <a:xfrm>
            <a:off x="324000" y="2125925"/>
            <a:ext cx="149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98"/>
          <p:cNvCxnSpPr/>
          <p:nvPr/>
        </p:nvCxnSpPr>
        <p:spPr>
          <a:xfrm>
            <a:off x="3871575" y="2645731"/>
            <a:ext cx="149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2" name="Google Shape;1262;p98"/>
          <p:cNvSpPr txBox="1"/>
          <p:nvPr/>
        </p:nvSpPr>
        <p:spPr>
          <a:xfrm>
            <a:off x="576100" y="1769123"/>
            <a:ext cx="83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radius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3" name="Google Shape;1263;p98"/>
          <p:cNvSpPr txBox="1"/>
          <p:nvPr/>
        </p:nvSpPr>
        <p:spPr>
          <a:xfrm>
            <a:off x="5745000" y="1256866"/>
            <a:ext cx="171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height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4" name="Google Shape;1264;p98"/>
          <p:cNvSpPr txBox="1"/>
          <p:nvPr/>
        </p:nvSpPr>
        <p:spPr>
          <a:xfrm>
            <a:off x="3871575" y="2285819"/>
            <a:ext cx="171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" name="Google Shape;126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3204" y="1369240"/>
            <a:ext cx="2415097" cy="8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99"/>
          <p:cNvSpPr txBox="1"/>
          <p:nvPr>
            <p:ph idx="1" type="body"/>
          </p:nvPr>
        </p:nvSpPr>
        <p:spPr>
          <a:xfrm>
            <a:off x="4232825" y="2640300"/>
            <a:ext cx="45687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1120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 × 𝜋 × 14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 × 𝜋 × 14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1" name="Google Shape;1271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surface area of a cylinder</a:t>
            </a:r>
            <a:endParaRPr/>
          </a:p>
        </p:txBody>
      </p:sp>
      <p:sp>
        <p:nvSpPr>
          <p:cNvPr id="1272" name="Google Shape;1272;p99"/>
          <p:cNvSpPr txBox="1"/>
          <p:nvPr/>
        </p:nvSpPr>
        <p:spPr>
          <a:xfrm>
            <a:off x="339075" y="707300"/>
            <a:ext cx="844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small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cheese making company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needs to wax a cheese truckle.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have enough wax to cover an area of 1120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cheese truckle has a radius of 14 cm.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high can the cheese truckle be?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9"/>
          <p:cNvSpPr txBox="1"/>
          <p:nvPr/>
        </p:nvSpPr>
        <p:spPr>
          <a:xfrm>
            <a:off x="343968" y="2096400"/>
            <a:ext cx="684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information do we have?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9"/>
          <p:cNvSpPr txBox="1"/>
          <p:nvPr/>
        </p:nvSpPr>
        <p:spPr>
          <a:xfrm>
            <a:off x="484225" y="2588025"/>
            <a:ext cx="345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1120𝜋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radius = 14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5" name="Google Shape;1275;p99"/>
          <p:cNvSpPr txBox="1"/>
          <p:nvPr>
            <p:ph idx="1" type="body"/>
          </p:nvPr>
        </p:nvSpPr>
        <p:spPr>
          <a:xfrm>
            <a:off x="4232825" y="3060450"/>
            <a:ext cx="43956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1120𝜋 = 392𝜋 + 28𝜋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6" name="Google Shape;1276;p99"/>
          <p:cNvSpPr txBox="1"/>
          <p:nvPr>
            <p:ph idx="1" type="body"/>
          </p:nvPr>
        </p:nvSpPr>
        <p:spPr>
          <a:xfrm>
            <a:off x="4320000" y="3480600"/>
            <a:ext cx="39774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728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𝜋 = 28𝜋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7" name="Google Shape;1277;p99"/>
          <p:cNvSpPr txBox="1"/>
          <p:nvPr>
            <p:ph idx="1" type="body"/>
          </p:nvPr>
        </p:nvSpPr>
        <p:spPr>
          <a:xfrm>
            <a:off x="4475474" y="3900750"/>
            <a:ext cx="9504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8" name="Google Shape;1278;p99"/>
          <p:cNvSpPr txBox="1"/>
          <p:nvPr/>
        </p:nvSpPr>
        <p:spPr>
          <a:xfrm>
            <a:off x="3937375" y="4320900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cheese truckle can be 26 cm high.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9" name="Google Shape;1279;p99"/>
          <p:cNvCxnSpPr/>
          <p:nvPr/>
        </p:nvCxnSpPr>
        <p:spPr>
          <a:xfrm>
            <a:off x="7575125" y="1539280"/>
            <a:ext cx="1175100" cy="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0" name="Google Shape;1280;p99"/>
          <p:cNvSpPr txBox="1"/>
          <p:nvPr/>
        </p:nvSpPr>
        <p:spPr>
          <a:xfrm>
            <a:off x="7745500" y="1158300"/>
            <a:ext cx="9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1" name="Google Shape;1281;p99"/>
          <p:cNvCxnSpPr/>
          <p:nvPr/>
        </p:nvCxnSpPr>
        <p:spPr>
          <a:xfrm>
            <a:off x="6355285" y="1574670"/>
            <a:ext cx="0" cy="4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2" name="Google Shape;1282;p99"/>
          <p:cNvSpPr txBox="1"/>
          <p:nvPr/>
        </p:nvSpPr>
        <p:spPr>
          <a:xfrm>
            <a:off x="5680575" y="1580135"/>
            <a:ext cx="75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00"/>
          <p:cNvSpPr txBox="1"/>
          <p:nvPr>
            <p:ph idx="1" type="subTitle"/>
          </p:nvPr>
        </p:nvSpPr>
        <p:spPr>
          <a:xfrm>
            <a:off x="337825" y="810000"/>
            <a:ext cx="3982200" cy="11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cylinder</a:t>
            </a:r>
            <a:r>
              <a:rPr lang="en-GB"/>
              <a:t> has a surface area of 350𝜋 cm</a:t>
            </a:r>
            <a:r>
              <a:rPr baseline="30000" lang="en-GB"/>
              <a:t>2 </a:t>
            </a:r>
            <a:r>
              <a:rPr lang="en-GB"/>
              <a:t>and a diameter of 10 cm. What is the height of the </a:t>
            </a:r>
            <a:r>
              <a:rPr b="1" lang="en-GB"/>
              <a:t>cylinder</a:t>
            </a:r>
            <a:r>
              <a:rPr lang="en-GB"/>
              <a:t>?</a:t>
            </a:r>
            <a:endParaRPr/>
          </a:p>
        </p:txBody>
      </p:sp>
      <p:sp>
        <p:nvSpPr>
          <p:cNvPr id="1288" name="Google Shape;1288;p100"/>
          <p:cNvSpPr txBox="1"/>
          <p:nvPr>
            <p:ph idx="2" type="subTitle"/>
          </p:nvPr>
        </p:nvSpPr>
        <p:spPr>
          <a:xfrm>
            <a:off x="4824000" y="810000"/>
            <a:ext cx="3982200" cy="11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</a:t>
            </a:r>
            <a:r>
              <a:rPr b="1" lang="en-GB"/>
              <a:t>cylinder</a:t>
            </a:r>
            <a:r>
              <a:rPr lang="en-GB"/>
              <a:t> has a surface area of 90𝜋 cm</a:t>
            </a:r>
            <a:r>
              <a:rPr baseline="30000" lang="en-GB"/>
              <a:t>2 </a:t>
            </a:r>
            <a:r>
              <a:rPr lang="en-GB"/>
              <a:t>and a diameter of 6 cm. What is the length of the </a:t>
            </a:r>
            <a:r>
              <a:rPr b="1" lang="en-GB"/>
              <a:t>cylinder</a:t>
            </a:r>
            <a:r>
              <a:rPr lang="en-GB"/>
              <a:t>?</a:t>
            </a:r>
            <a:endParaRPr/>
          </a:p>
        </p:txBody>
      </p:sp>
      <p:sp>
        <p:nvSpPr>
          <p:cNvPr id="1289" name="Google Shape;1289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surface area of a cylinder</a:t>
            </a:r>
            <a:endParaRPr/>
          </a:p>
        </p:txBody>
      </p:sp>
      <p:sp>
        <p:nvSpPr>
          <p:cNvPr id="1290" name="Google Shape;1290;p100"/>
          <p:cNvSpPr txBox="1"/>
          <p:nvPr/>
        </p:nvSpPr>
        <p:spPr>
          <a:xfrm>
            <a:off x="337975" y="2181525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× 𝜋 × 5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 × 𝜋 × 5 ×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350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1" name="Google Shape;1291;p100"/>
          <p:cNvSpPr txBox="1"/>
          <p:nvPr/>
        </p:nvSpPr>
        <p:spPr>
          <a:xfrm>
            <a:off x="2143573" y="2594300"/>
            <a:ext cx="24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+ 10𝜋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350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2" name="Google Shape;1292;p100"/>
          <p:cNvSpPr txBox="1"/>
          <p:nvPr/>
        </p:nvSpPr>
        <p:spPr>
          <a:xfrm>
            <a:off x="2908680" y="2973450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300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3" name="Google Shape;1293;p100"/>
          <p:cNvSpPr txBox="1"/>
          <p:nvPr/>
        </p:nvSpPr>
        <p:spPr>
          <a:xfrm>
            <a:off x="3273321" y="3419850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30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4" name="Google Shape;1294;p100"/>
          <p:cNvSpPr txBox="1"/>
          <p:nvPr/>
        </p:nvSpPr>
        <p:spPr>
          <a:xfrm>
            <a:off x="4655707" y="2173226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× 𝜋 × 3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 × 𝜋 × 3 ×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90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5" name="Google Shape;1295;p100"/>
          <p:cNvSpPr txBox="1"/>
          <p:nvPr/>
        </p:nvSpPr>
        <p:spPr>
          <a:xfrm>
            <a:off x="6568402" y="2654525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+ 6𝜋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90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6" name="Google Shape;1296;p100"/>
          <p:cNvSpPr txBox="1"/>
          <p:nvPr/>
        </p:nvSpPr>
        <p:spPr>
          <a:xfrm>
            <a:off x="7293258" y="3074981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72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7" name="Google Shape;1297;p100"/>
          <p:cNvSpPr txBox="1"/>
          <p:nvPr/>
        </p:nvSpPr>
        <p:spPr>
          <a:xfrm>
            <a:off x="7591842" y="3480075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12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01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Find the missing length in each question. Give your answers in cm.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3" name="Google Shape;1303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surface area of a cylinder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1304" name="Google Shape;1304;p10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974" y="1612224"/>
            <a:ext cx="6052299" cy="22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101"/>
          <p:cNvSpPr txBox="1"/>
          <p:nvPr/>
        </p:nvSpPr>
        <p:spPr>
          <a:xfrm>
            <a:off x="599175" y="3908000"/>
            <a:ext cx="410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101"/>
          <p:cNvSpPr txBox="1"/>
          <p:nvPr/>
        </p:nvSpPr>
        <p:spPr>
          <a:xfrm>
            <a:off x="2994575" y="3468600"/>
            <a:ext cx="410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168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1"/>
          <p:cNvSpPr txBox="1"/>
          <p:nvPr/>
        </p:nvSpPr>
        <p:spPr>
          <a:xfrm>
            <a:off x="5628100" y="3237750"/>
            <a:ext cx="410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8" name="Google Shape;1308;p101"/>
          <p:cNvCxnSpPr/>
          <p:nvPr/>
        </p:nvCxnSpPr>
        <p:spPr>
          <a:xfrm>
            <a:off x="1282200" y="1834025"/>
            <a:ext cx="0" cy="182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09" name="Google Shape;1309;p101"/>
          <p:cNvSpPr txBox="1"/>
          <p:nvPr/>
        </p:nvSpPr>
        <p:spPr>
          <a:xfrm>
            <a:off x="598512" y="2364050"/>
            <a:ext cx="83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1"/>
          <p:cNvSpPr txBox="1"/>
          <p:nvPr/>
        </p:nvSpPr>
        <p:spPr>
          <a:xfrm>
            <a:off x="4507012" y="2286000"/>
            <a:ext cx="71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1" name="Google Shape;1311;p101"/>
          <p:cNvCxnSpPr/>
          <p:nvPr/>
        </p:nvCxnSpPr>
        <p:spPr>
          <a:xfrm>
            <a:off x="4572000" y="1890150"/>
            <a:ext cx="0" cy="136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2" name="Google Shape;1312;p101"/>
          <p:cNvCxnSpPr/>
          <p:nvPr/>
        </p:nvCxnSpPr>
        <p:spPr>
          <a:xfrm rot="10800000">
            <a:off x="5513500" y="1890150"/>
            <a:ext cx="165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3" name="Google Shape;1313;p101"/>
          <p:cNvSpPr txBox="1"/>
          <p:nvPr/>
        </p:nvSpPr>
        <p:spPr>
          <a:xfrm>
            <a:off x="5896200" y="1428450"/>
            <a:ext cx="156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4" name="Google Shape;1314;p101"/>
          <p:cNvCxnSpPr>
            <a:stCxn id="1304" idx="0"/>
          </p:cNvCxnSpPr>
          <p:nvPr/>
        </p:nvCxnSpPr>
        <p:spPr>
          <a:xfrm rot="10800000">
            <a:off x="3073824" y="1612224"/>
            <a:ext cx="1320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5" name="Google Shape;1315;p101"/>
          <p:cNvSpPr txBox="1"/>
          <p:nvPr/>
        </p:nvSpPr>
        <p:spPr>
          <a:xfrm>
            <a:off x="3316500" y="1248900"/>
            <a:ext cx="10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101"/>
          <p:cNvSpPr txBox="1"/>
          <p:nvPr/>
        </p:nvSpPr>
        <p:spPr>
          <a:xfrm>
            <a:off x="7367175" y="2333100"/>
            <a:ext cx="10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7" name="Google Shape;1317;p101"/>
          <p:cNvCxnSpPr/>
          <p:nvPr/>
        </p:nvCxnSpPr>
        <p:spPr>
          <a:xfrm>
            <a:off x="7213175" y="2024400"/>
            <a:ext cx="0" cy="110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8" name="Google Shape;1318;p101"/>
          <p:cNvCxnSpPr/>
          <p:nvPr/>
        </p:nvCxnSpPr>
        <p:spPr>
          <a:xfrm rot="10800000">
            <a:off x="1367975" y="1819675"/>
            <a:ext cx="42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9" name="Google Shape;1319;p101"/>
          <p:cNvSpPr/>
          <p:nvPr/>
        </p:nvSpPr>
        <p:spPr>
          <a:xfrm>
            <a:off x="1756765" y="178908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01"/>
          <p:cNvSpPr txBox="1"/>
          <p:nvPr/>
        </p:nvSpPr>
        <p:spPr>
          <a:xfrm>
            <a:off x="1318100" y="1248900"/>
            <a:ext cx="10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02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 </a:t>
            </a:r>
            <a:r>
              <a:rPr lang="en-GB" sz="1800"/>
              <a:t>necklace</a:t>
            </a:r>
            <a:r>
              <a:rPr lang="en-GB" sz="1800"/>
              <a:t> is being made. Part of the </a:t>
            </a:r>
            <a:r>
              <a:rPr lang="en-GB" sz="1800"/>
              <a:t>design is a</a:t>
            </a:r>
            <a:r>
              <a:rPr lang="en-GB" sz="1800"/>
              <a:t> metal cylindrical rod. 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rod is gold-plated. 208</a:t>
            </a:r>
            <a:r>
              <a:rPr lang="en-GB" sz="1800"/>
              <a:t>𝜋 mm</a:t>
            </a:r>
            <a:r>
              <a:rPr baseline="30000" lang="en-GB" sz="1800"/>
              <a:t>2</a:t>
            </a:r>
            <a:r>
              <a:rPr lang="en-GB" sz="1800"/>
              <a:t> of gold leaf is used. The rod has a diameter of 4 mm. 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long is the rod?</a:t>
            </a:r>
            <a:endParaRPr sz="1800"/>
          </a:p>
        </p:txBody>
      </p:sp>
      <p:sp>
        <p:nvSpPr>
          <p:cNvPr id="1326" name="Google Shape;1326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surface area of a cylinder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03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Find the missing length in each question. Give your answer in cm.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2" name="Google Shape;1332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surface area of a cylinder</a:t>
            </a:r>
            <a:endParaRPr/>
          </a:p>
        </p:txBody>
      </p:sp>
      <p:grpSp>
        <p:nvGrpSpPr>
          <p:cNvPr id="1333" name="Google Shape;1333;p103"/>
          <p:cNvGrpSpPr/>
          <p:nvPr/>
        </p:nvGrpSpPr>
        <p:grpSpPr>
          <a:xfrm>
            <a:off x="599175" y="1020300"/>
            <a:ext cx="1920350" cy="3398000"/>
            <a:chOff x="599175" y="1020300"/>
            <a:chExt cx="1920350" cy="3398000"/>
          </a:xfrm>
        </p:grpSpPr>
        <p:pic>
          <p:nvPicPr>
  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1334" name="Google Shape;1334;p103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0" r="80973" t="0"/>
            <a:stretch/>
          </p:blipFill>
          <p:spPr>
            <a:xfrm>
              <a:off x="1367974" y="1383625"/>
              <a:ext cx="1151551" cy="223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599175" y="3679400"/>
              <a:ext cx="16533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 78𝜋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36" name="Google Shape;1336;p103"/>
            <p:cNvCxnSpPr/>
            <p:nvPr/>
          </p:nvCxnSpPr>
          <p:spPr>
            <a:xfrm>
              <a:off x="1282200" y="1605425"/>
              <a:ext cx="0" cy="1820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37" name="Google Shape;1337;p103"/>
            <p:cNvSpPr txBox="1"/>
            <p:nvPr/>
          </p:nvSpPr>
          <p:spPr>
            <a:xfrm>
              <a:off x="706075" y="2135450"/>
              <a:ext cx="5454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38" name="Google Shape;1338;p103"/>
            <p:cNvCxnSpPr/>
            <p:nvPr/>
          </p:nvCxnSpPr>
          <p:spPr>
            <a:xfrm rot="10800000">
              <a:off x="1367975" y="1591075"/>
              <a:ext cx="421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39" name="Google Shape;1339;p103"/>
            <p:cNvSpPr/>
            <p:nvPr/>
          </p:nvSpPr>
          <p:spPr>
            <a:xfrm>
              <a:off x="1756765" y="1560481"/>
              <a:ext cx="61200" cy="61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0" name="Google Shape;1340;p103"/>
            <p:cNvSpPr txBox="1"/>
            <p:nvPr/>
          </p:nvSpPr>
          <p:spPr>
            <a:xfrm>
              <a:off x="1318100" y="1020300"/>
              <a:ext cx="1003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1" name="Google Shape;1341;p103"/>
          <p:cNvSpPr txBox="1"/>
          <p:nvPr/>
        </p:nvSpPr>
        <p:spPr>
          <a:xfrm>
            <a:off x="3156200" y="1321200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× 𝜋 × 3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 × 𝜋 × 3 ×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78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2" name="Google Shape;1342;p103"/>
          <p:cNvSpPr txBox="1"/>
          <p:nvPr/>
        </p:nvSpPr>
        <p:spPr>
          <a:xfrm>
            <a:off x="5066786" y="1733975"/>
            <a:ext cx="263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+ 6𝜋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78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3" name="Google Shape;1343;p103"/>
          <p:cNvSpPr txBox="1"/>
          <p:nvPr/>
        </p:nvSpPr>
        <p:spPr>
          <a:xfrm>
            <a:off x="5803670" y="2113125"/>
            <a:ext cx="144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60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4" name="Google Shape;1344;p103"/>
          <p:cNvSpPr txBox="1"/>
          <p:nvPr/>
        </p:nvSpPr>
        <p:spPr>
          <a:xfrm>
            <a:off x="6091550" y="2559525"/>
            <a:ext cx="165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10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04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Find the missing length in each question.</a:t>
            </a:r>
            <a:r>
              <a:rPr lang="en-GB" sz="1800"/>
              <a:t> Give your answer in cm.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0" name="Google Shape;1350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surface area of a cylinder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351" name="Google Shape;1351;p104"/>
          <p:cNvGrpSpPr/>
          <p:nvPr/>
        </p:nvGrpSpPr>
        <p:grpSpPr>
          <a:xfrm>
            <a:off x="829800" y="1020300"/>
            <a:ext cx="4210775" cy="2958600"/>
            <a:chOff x="2887200" y="1020300"/>
            <a:chExt cx="4210775" cy="2958600"/>
          </a:xfrm>
        </p:grpSpPr>
        <p:pic>
          <p:nvPicPr>
  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1352" name="Google Shape;1352;p104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25099" r="38360" t="0"/>
            <a:stretch/>
          </p:blipFill>
          <p:spPr>
            <a:xfrm>
              <a:off x="2887200" y="1383625"/>
              <a:ext cx="2211451" cy="223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3" name="Google Shape;1353;p104"/>
            <p:cNvSpPr txBox="1"/>
            <p:nvPr/>
          </p:nvSpPr>
          <p:spPr>
            <a:xfrm>
              <a:off x="2994575" y="3240000"/>
              <a:ext cx="41034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 168𝜋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4" name="Google Shape;1354;p104"/>
            <p:cNvSpPr txBox="1"/>
            <p:nvPr/>
          </p:nvSpPr>
          <p:spPr>
            <a:xfrm>
              <a:off x="4553250" y="2057400"/>
              <a:ext cx="5454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5" name="Google Shape;1355;p104"/>
            <p:cNvCxnSpPr/>
            <p:nvPr/>
          </p:nvCxnSpPr>
          <p:spPr>
            <a:xfrm>
              <a:off x="4572000" y="1661550"/>
              <a:ext cx="0" cy="1365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56" name="Google Shape;1356;p104"/>
            <p:cNvCxnSpPr/>
            <p:nvPr/>
          </p:nvCxnSpPr>
          <p:spPr>
            <a:xfrm rot="10800000">
              <a:off x="3033550" y="1383625"/>
              <a:ext cx="1421700" cy="14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57" name="Google Shape;1357;p104"/>
            <p:cNvSpPr txBox="1"/>
            <p:nvPr/>
          </p:nvSpPr>
          <p:spPr>
            <a:xfrm>
              <a:off x="3316500" y="1020300"/>
              <a:ext cx="1003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8" name="Google Shape;1358;p104"/>
          <p:cNvSpPr txBox="1"/>
          <p:nvPr/>
        </p:nvSpPr>
        <p:spPr>
          <a:xfrm>
            <a:off x="3156200" y="1321200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× 𝜋 × 6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 × 𝜋 × 6 ×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168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9" name="Google Shape;1359;p104"/>
          <p:cNvSpPr txBox="1"/>
          <p:nvPr/>
        </p:nvSpPr>
        <p:spPr>
          <a:xfrm>
            <a:off x="4961795" y="1733975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+ 12𝜋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168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0" name="Google Shape;1360;p104"/>
          <p:cNvSpPr txBox="1"/>
          <p:nvPr/>
        </p:nvSpPr>
        <p:spPr>
          <a:xfrm>
            <a:off x="5726905" y="2113125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96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1" name="Google Shape;1361;p104"/>
          <p:cNvSpPr txBox="1"/>
          <p:nvPr/>
        </p:nvSpPr>
        <p:spPr>
          <a:xfrm>
            <a:off x="6091546" y="2559525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8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05"/>
          <p:cNvSpPr txBox="1"/>
          <p:nvPr>
            <p:ph idx="1" type="body"/>
          </p:nvPr>
        </p:nvSpPr>
        <p:spPr>
          <a:xfrm>
            <a:off x="324000" y="759300"/>
            <a:ext cx="82377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Find the missing length in each question.</a:t>
            </a:r>
            <a:r>
              <a:rPr lang="en-GB" sz="1800"/>
              <a:t> Give your answer in cm.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67" name="Google Shape;1367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surface area of a cylinder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368" name="Google Shape;1368;p105"/>
          <p:cNvGrpSpPr/>
          <p:nvPr/>
        </p:nvGrpSpPr>
        <p:grpSpPr>
          <a:xfrm>
            <a:off x="376699" y="1199850"/>
            <a:ext cx="4554201" cy="2548200"/>
            <a:chOff x="5177299" y="1199850"/>
            <a:chExt cx="4554201" cy="2548200"/>
          </a:xfrm>
        </p:grpSpPr>
        <p:pic>
          <p:nvPicPr>
  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1369" name="Google Shape;1369;p105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62939" r="0" t="0"/>
            <a:stretch/>
          </p:blipFill>
          <p:spPr>
            <a:xfrm>
              <a:off x="5177299" y="1383625"/>
              <a:ext cx="2242975" cy="223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105"/>
            <p:cNvSpPr txBox="1"/>
            <p:nvPr/>
          </p:nvSpPr>
          <p:spPr>
            <a:xfrm>
              <a:off x="5628100" y="3009150"/>
              <a:ext cx="41034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= 88𝜋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71" name="Google Shape;1371;p105"/>
            <p:cNvCxnSpPr/>
            <p:nvPr/>
          </p:nvCxnSpPr>
          <p:spPr>
            <a:xfrm rot="10800000">
              <a:off x="5513500" y="1661550"/>
              <a:ext cx="1653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72" name="Google Shape;1372;p105"/>
            <p:cNvSpPr txBox="1"/>
            <p:nvPr/>
          </p:nvSpPr>
          <p:spPr>
            <a:xfrm>
              <a:off x="5896200" y="1199850"/>
              <a:ext cx="15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3" name="Google Shape;1373;p105"/>
            <p:cNvSpPr txBox="1"/>
            <p:nvPr/>
          </p:nvSpPr>
          <p:spPr>
            <a:xfrm>
              <a:off x="7338959" y="2104500"/>
              <a:ext cx="1003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80 mm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74" name="Google Shape;1374;p105"/>
            <p:cNvCxnSpPr/>
            <p:nvPr/>
          </p:nvCxnSpPr>
          <p:spPr>
            <a:xfrm>
              <a:off x="7213175" y="1795800"/>
              <a:ext cx="0" cy="1100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75" name="Google Shape;1375;p105"/>
          <p:cNvSpPr txBox="1"/>
          <p:nvPr/>
        </p:nvSpPr>
        <p:spPr>
          <a:xfrm>
            <a:off x="3156200" y="1321200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× 𝜋 × 4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 × 𝜋 × 4 ×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88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6" name="Google Shape;1376;p105"/>
          <p:cNvSpPr txBox="1"/>
          <p:nvPr/>
        </p:nvSpPr>
        <p:spPr>
          <a:xfrm>
            <a:off x="4961795" y="1733975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+ 8𝜋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88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7" name="Google Shape;1377;p105"/>
          <p:cNvSpPr txBox="1"/>
          <p:nvPr/>
        </p:nvSpPr>
        <p:spPr>
          <a:xfrm>
            <a:off x="5726905" y="2113125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56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8" name="Google Shape;1378;p105"/>
          <p:cNvSpPr txBox="1"/>
          <p:nvPr/>
        </p:nvSpPr>
        <p:spPr>
          <a:xfrm>
            <a:off x="6091546" y="2559525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7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surface area of a cylinder</a:t>
            </a:r>
            <a:endParaRPr/>
          </a:p>
        </p:txBody>
      </p:sp>
      <p:sp>
        <p:nvSpPr>
          <p:cNvPr id="1384" name="Google Shape;1384;p106"/>
          <p:cNvSpPr txBox="1"/>
          <p:nvPr/>
        </p:nvSpPr>
        <p:spPr>
          <a:xfrm>
            <a:off x="2116125" y="2558463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× 𝜋 × 2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+ 2 × 𝜋 × 2 ×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208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5" name="Google Shape;1385;p106"/>
          <p:cNvSpPr txBox="1"/>
          <p:nvPr/>
        </p:nvSpPr>
        <p:spPr>
          <a:xfrm>
            <a:off x="4150320" y="2971238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+ 4𝜋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208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6" name="Google Shape;1386;p106"/>
          <p:cNvSpPr txBox="1"/>
          <p:nvPr/>
        </p:nvSpPr>
        <p:spPr>
          <a:xfrm>
            <a:off x="4839230" y="3350388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200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7" name="Google Shape;1387;p106"/>
          <p:cNvSpPr txBox="1"/>
          <p:nvPr/>
        </p:nvSpPr>
        <p:spPr>
          <a:xfrm>
            <a:off x="5127671" y="3796788"/>
            <a:ext cx="192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50 mm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8" name="Google Shape;1388;p106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 necklace is being made. Part of the design is a metal cylindrical rod. 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rod is gold-plated. 208𝜋 mm</a:t>
            </a:r>
            <a:r>
              <a:rPr baseline="30000" lang="en-GB" sz="1800"/>
              <a:t>2</a:t>
            </a:r>
            <a:r>
              <a:rPr lang="en-GB" sz="1800"/>
              <a:t> of gold leaf is used. The rod has a diameter of 4 mm. 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long is the rod?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0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</a:t>
            </a:r>
            <a:r>
              <a:rPr b="1" lang="en-GB"/>
              <a:t>cylinders</a:t>
            </a:r>
            <a:r>
              <a:rPr lang="en-GB"/>
              <a:t> have a circular cross-section so a formula can be derived for the surface area.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</a:t>
            </a:r>
            <a:r>
              <a:rPr lang="en-GB"/>
              <a:t> area of a </a:t>
            </a:r>
            <a:r>
              <a:rPr b="1" lang="en-GB"/>
              <a:t>cylinder</a:t>
            </a:r>
            <a:r>
              <a:rPr lang="en-GB"/>
              <a:t> =</a:t>
            </a:r>
            <a:r>
              <a:rPr lang="en-GB" sz="2000"/>
              <a:t> 2𝜋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/>
              <a:t>2</a:t>
            </a:r>
            <a:r>
              <a:rPr lang="en-GB" sz="2000"/>
              <a:t> + 2𝜋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r>
              <a:rPr lang="en-GB"/>
              <a:t>, where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</a:t>
            </a:r>
            <a:r>
              <a:rPr lang="en-GB"/>
              <a:t>is the radius and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000"/>
              <a:t> </a:t>
            </a:r>
            <a:r>
              <a:rPr lang="en-GB"/>
              <a:t>is the height.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surface area is known, other lengths can be found.</a:t>
            </a:r>
            <a:endParaRPr/>
          </a:p>
        </p:txBody>
      </p:sp>
      <p:sp>
        <p:nvSpPr>
          <p:cNvPr id="1394" name="Google Shape;1394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cylinders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</a:t>
            </a:r>
            <a:r>
              <a:rPr lang="en-GB"/>
              <a:t>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00" name="Google Shape;1400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