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911eb0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911eb0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ea911eb027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a911eb027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f43888bb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f43888bb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9f43888bb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9f43888bb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9f43888bb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9f43888bb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9eb5c185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9eb5c185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9eb5c1859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9eb5c185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9f43888bb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9f43888bb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9f43888bb1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9f43888bb1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9eb5c1859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9eb5c1859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9f43888bb1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9f43888bb1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9f43888bb1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9f43888bb1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9f43888bb1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9f43888bb1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9eb5c1859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9eb5c1859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9f43888bb1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9f43888bb1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9f43888bb1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9f43888bb1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29f43888bb1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9f43888bb1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1ea911eb027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1ea911eb027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9f43888bb1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9f43888bb1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9f43888bb1_0_1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9f43888bb1_0_1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9f43888bb1_0_1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9f43888bb1_0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9f68872d1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9f68872d1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29eb5c1859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29eb5c1859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29f68872d1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29f68872d1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9f68872d12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9f68872d12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9f68872d12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9f68872d12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29f68872d12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29f68872d12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29f68872d12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29f68872d12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29f68872d12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29f68872d12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3.png"/><Relationship Id="rId4" Type="http://schemas.openxmlformats.org/officeDocument/2006/relationships/image" Target="../media/image61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1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1.png"/><Relationship Id="rId4" Type="http://schemas.openxmlformats.org/officeDocument/2006/relationships/image" Target="../media/image32.png"/><Relationship Id="rId11" Type="http://schemas.openxmlformats.org/officeDocument/2006/relationships/image" Target="../media/image19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80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57.png"/><Relationship Id="rId6" Type="http://schemas.openxmlformats.org/officeDocument/2006/relationships/image" Target="../media/image4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5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5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circle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formula for the area of a circle to calculate either the area or a missing measurement.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7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area is the size of the surface and states the number of unit squares needed to completely cover that surface. </a:t>
            </a:r>
            <a:endParaRPr sz="20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238725"/>
            <a:ext cx="8496000" cy="78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radius </a:t>
            </a:r>
            <a:r>
              <a:rPr lang="en-GB" sz="2000"/>
              <a:t>is any line segment that joins the centre of a circle to its edge.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483825"/>
            <a:ext cx="8496000" cy="75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diameter of a circle </a:t>
            </a:r>
            <a:r>
              <a:rPr lang="en-GB" sz="2000"/>
              <a:t>is any line segment that starts and ends on the edge of the circle and passes through the centre.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circle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324000" y="759300"/>
            <a:ext cx="8496000" cy="6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formula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π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chemeClr val="accent4"/>
                </a:solidFill>
              </a:rPr>
              <a:t>2 </a:t>
            </a:r>
            <a:r>
              <a:rPr lang="en-GB" sz="2000"/>
              <a:t>can be used to calculate the area of a circle.</a:t>
            </a:r>
            <a:endParaRPr baseline="30000" sz="2000"/>
          </a:p>
        </p:txBody>
      </p:sp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783" name="Google Shape;783;p69"/>
          <p:cNvSpPr txBox="1"/>
          <p:nvPr/>
        </p:nvSpPr>
        <p:spPr>
          <a:xfrm>
            <a:off x="324000" y="1368900"/>
            <a:ext cx="4458900" cy="1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Calculations can be performed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accurately with</a:t>
            </a:r>
            <a:r>
              <a:rPr i="1"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a scientific calculator by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pressing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shift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then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 button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4" name="Google Shape;784;p69"/>
          <p:cNvPicPr preferRelativeResize="0"/>
          <p:nvPr/>
        </p:nvPicPr>
        <p:blipFill rotWithShape="1">
          <a:blip r:embed="rId3">
            <a:alphaModFix/>
          </a:blip>
          <a:srcRect b="0" l="0" r="5392" t="0"/>
          <a:stretch/>
        </p:blipFill>
        <p:spPr>
          <a:xfrm>
            <a:off x="6310767" y="1289100"/>
            <a:ext cx="1807533" cy="3132849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9"/>
          <p:cNvSpPr txBox="1"/>
          <p:nvPr/>
        </p:nvSpPr>
        <p:spPr>
          <a:xfrm>
            <a:off x="5907441" y="3438344"/>
            <a:ext cx="212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6" name="Google Shape;786;p69"/>
          <p:cNvCxnSpPr/>
          <p:nvPr/>
        </p:nvCxnSpPr>
        <p:spPr>
          <a:xfrm flipH="1" rot="10800000">
            <a:off x="6072962" y="3418342"/>
            <a:ext cx="294600" cy="177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" name="Google Shape;787;p69"/>
          <p:cNvSpPr txBox="1"/>
          <p:nvPr/>
        </p:nvSpPr>
        <p:spPr>
          <a:xfrm>
            <a:off x="5547300" y="2283250"/>
            <a:ext cx="5895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shift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8" name="Google Shape;788;p69"/>
          <p:cNvCxnSpPr/>
          <p:nvPr/>
        </p:nvCxnSpPr>
        <p:spPr>
          <a:xfrm>
            <a:off x="6057742" y="2495868"/>
            <a:ext cx="333900" cy="177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9" name="Google Shape;789;p69"/>
          <p:cNvSpPr txBox="1"/>
          <p:nvPr/>
        </p:nvSpPr>
        <p:spPr>
          <a:xfrm>
            <a:off x="324000" y="3045300"/>
            <a:ext cx="4602900" cy="1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Answers can be written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in terms of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can be converted to a decimal by pressing the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format button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then selecting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decimal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0" name="Google Shape;790;p69"/>
          <p:cNvCxnSpPr>
            <a:endCxn id="791" idx="3"/>
          </p:cNvCxnSpPr>
          <p:nvPr/>
        </p:nvCxnSpPr>
        <p:spPr>
          <a:xfrm flipH="1">
            <a:off x="6072875" y="4386225"/>
            <a:ext cx="1323000" cy="229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1" name="Google Shape;791;p69"/>
          <p:cNvSpPr txBox="1"/>
          <p:nvPr/>
        </p:nvSpPr>
        <p:spPr>
          <a:xfrm>
            <a:off x="5298875" y="4478025"/>
            <a:ext cx="7740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format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0"/>
          <p:cNvSpPr txBox="1"/>
          <p:nvPr>
            <p:ph idx="1" type="body"/>
          </p:nvPr>
        </p:nvSpPr>
        <p:spPr>
          <a:xfrm>
            <a:off x="324000" y="759300"/>
            <a:ext cx="8496000" cy="6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area of a circle can be calculated when the </a:t>
            </a:r>
            <a:r>
              <a:rPr lang="en-GB" sz="2000">
                <a:solidFill>
                  <a:schemeClr val="accent4"/>
                </a:solidFill>
              </a:rPr>
              <a:t>radius</a:t>
            </a:r>
            <a:r>
              <a:rPr lang="en-GB" sz="2000"/>
              <a:t> is known by using the </a:t>
            </a:r>
            <a:r>
              <a:rPr lang="en-GB" sz="2000">
                <a:solidFill>
                  <a:schemeClr val="accent4"/>
                </a:solidFill>
              </a:rPr>
              <a:t>formula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π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chemeClr val="accent4"/>
                </a:solidFill>
              </a:rPr>
              <a:t>2</a:t>
            </a:r>
            <a:r>
              <a:rPr lang="en-GB" sz="2000"/>
              <a:t>, where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 is the radius.</a:t>
            </a:r>
            <a:endParaRPr baseline="30000" sz="2000"/>
          </a:p>
        </p:txBody>
      </p:sp>
      <p:sp>
        <p:nvSpPr>
          <p:cNvPr id="797" name="Google Shape;79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798" name="Google Shape;798;p70"/>
          <p:cNvSpPr/>
          <p:nvPr/>
        </p:nvSpPr>
        <p:spPr>
          <a:xfrm>
            <a:off x="1970500" y="1807451"/>
            <a:ext cx="1756800" cy="1757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9" name="Google Shape;799;p70"/>
          <p:cNvCxnSpPr>
            <a:endCxn id="800" idx="1"/>
          </p:cNvCxnSpPr>
          <p:nvPr/>
        </p:nvCxnSpPr>
        <p:spPr>
          <a:xfrm>
            <a:off x="2010347" y="2453347"/>
            <a:ext cx="818400" cy="212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0" name="Google Shape;800;p70"/>
          <p:cNvSpPr/>
          <p:nvPr/>
        </p:nvSpPr>
        <p:spPr>
          <a:xfrm>
            <a:off x="2820487" y="2657487"/>
            <a:ext cx="56400" cy="564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2383250" y="2258600"/>
            <a:ext cx="786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4406600" y="1704775"/>
            <a:ext cx="21243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000"/>
              <a:t>10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5057831" y="2218151"/>
            <a:ext cx="23877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/>
              <a:t>100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2000"/>
              <a:t>mm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5057830" y="2731526"/>
            <a:ext cx="29781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/>
              <a:t>314.159265…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mm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322830" y="3792225"/>
            <a:ext cx="67908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Areas can be written accurately </a:t>
            </a:r>
            <a:r>
              <a:rPr lang="en-GB" sz="1900">
                <a:solidFill>
                  <a:schemeClr val="accent4"/>
                </a:solidFill>
              </a:rPr>
              <a:t>in terms of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900"/>
              <a:t>.</a:t>
            </a:r>
            <a:endParaRPr baseline="30000" sz="1800"/>
          </a:p>
        </p:txBody>
      </p: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5057831" y="3244900"/>
            <a:ext cx="23877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314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mm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322830" y="4187062"/>
            <a:ext cx="8360400" cy="31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Areas can also be written in </a:t>
            </a:r>
            <a:r>
              <a:rPr lang="en-GB" sz="1900">
                <a:solidFill>
                  <a:schemeClr val="accent4"/>
                </a:solidFill>
              </a:rPr>
              <a:t>decimal</a:t>
            </a:r>
            <a:r>
              <a:rPr lang="en-GB" sz="1900"/>
              <a:t> form.</a:t>
            </a:r>
            <a:endParaRPr sz="1800"/>
          </a:p>
        </p:txBody>
      </p:sp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322830" y="4538100"/>
            <a:ext cx="83604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Decimal solutions should be </a:t>
            </a:r>
            <a:r>
              <a:rPr lang="en-GB" sz="1900">
                <a:solidFill>
                  <a:schemeClr val="accent4"/>
                </a:solidFill>
              </a:rPr>
              <a:t>rounded </a:t>
            </a:r>
            <a:r>
              <a:rPr lang="en-GB" sz="1900"/>
              <a:t>to a suitable degree of accuracy.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1"/>
          <p:cNvSpPr txBox="1"/>
          <p:nvPr>
            <p:ph idx="1" type="body"/>
          </p:nvPr>
        </p:nvSpPr>
        <p:spPr>
          <a:xfrm>
            <a:off x="324000" y="759300"/>
            <a:ext cx="7135200" cy="6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the diameter of a circle is given, </a:t>
            </a:r>
            <a:r>
              <a:rPr lang="en-GB" sz="2000"/>
              <a:t>the radius can be </a:t>
            </a:r>
            <a:r>
              <a:rPr lang="en-GB" sz="2000"/>
              <a:t>obtained</a:t>
            </a:r>
            <a:r>
              <a:rPr lang="en-GB" sz="2000"/>
              <a:t> by </a:t>
            </a:r>
            <a:r>
              <a:rPr lang="en-GB" sz="2000">
                <a:solidFill>
                  <a:schemeClr val="accent4"/>
                </a:solidFill>
              </a:rPr>
              <a:t>halving the diameter</a:t>
            </a:r>
            <a:r>
              <a:rPr lang="en-GB" sz="2000"/>
              <a:t>. </a:t>
            </a:r>
            <a:endParaRPr baseline="30000" sz="2000"/>
          </a:p>
        </p:txBody>
      </p:sp>
      <p:sp>
        <p:nvSpPr>
          <p:cNvPr id="814" name="Google Shape;81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815" name="Google Shape;815;p71"/>
          <p:cNvSpPr/>
          <p:nvPr/>
        </p:nvSpPr>
        <p:spPr>
          <a:xfrm>
            <a:off x="675100" y="2417050"/>
            <a:ext cx="1975200" cy="19755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6" name="Google Shape;816;p71"/>
          <p:cNvCxnSpPr/>
          <p:nvPr/>
        </p:nvCxnSpPr>
        <p:spPr>
          <a:xfrm>
            <a:off x="719897" y="3143168"/>
            <a:ext cx="1886100" cy="505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7" name="Google Shape;817;p71"/>
          <p:cNvSpPr/>
          <p:nvPr/>
        </p:nvSpPr>
        <p:spPr>
          <a:xfrm>
            <a:off x="1630663" y="3372663"/>
            <a:ext cx="63600" cy="636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1"/>
          <p:cNvSpPr txBox="1"/>
          <p:nvPr/>
        </p:nvSpPr>
        <p:spPr>
          <a:xfrm>
            <a:off x="1370423" y="3027041"/>
            <a:ext cx="8586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 mm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1"/>
          <p:cNvSpPr txBox="1"/>
          <p:nvPr>
            <p:ph idx="1" type="body"/>
          </p:nvPr>
        </p:nvSpPr>
        <p:spPr>
          <a:xfrm>
            <a:off x="5473400" y="2314375"/>
            <a:ext cx="21243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π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000"/>
              <a:t>10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20" name="Google Shape;820;p71"/>
          <p:cNvSpPr txBox="1"/>
          <p:nvPr>
            <p:ph idx="1" type="body"/>
          </p:nvPr>
        </p:nvSpPr>
        <p:spPr>
          <a:xfrm>
            <a:off x="6124631" y="2827751"/>
            <a:ext cx="23877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/>
              <a:t>100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2000"/>
              <a:t>mm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6124630" y="3341126"/>
            <a:ext cx="29781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/>
              <a:t>314.159265…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mm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22" name="Google Shape;822;p71"/>
          <p:cNvSpPr txBox="1"/>
          <p:nvPr>
            <p:ph idx="1" type="body"/>
          </p:nvPr>
        </p:nvSpPr>
        <p:spPr>
          <a:xfrm>
            <a:off x="6124631" y="3854500"/>
            <a:ext cx="23877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314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mm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2905460" y="2329615"/>
            <a:ext cx="21243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radius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/>
              <a:t>2</a:t>
            </a:r>
            <a:r>
              <a:rPr lang="en-GB" sz="2000"/>
              <a:t>0 ÷ 2</a:t>
            </a:r>
            <a:endParaRPr baseline="30000" sz="2000"/>
          </a:p>
        </p:txBody>
      </p:sp>
      <p:sp>
        <p:nvSpPr>
          <p:cNvPr id="824" name="Google Shape;824;p71"/>
          <p:cNvSpPr txBox="1"/>
          <p:nvPr>
            <p:ph idx="1" type="body"/>
          </p:nvPr>
        </p:nvSpPr>
        <p:spPr>
          <a:xfrm>
            <a:off x="3766513" y="2824921"/>
            <a:ext cx="14685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/>
              <a:t>10</a:t>
            </a:r>
            <a:r>
              <a:rPr lang="en-GB" sz="2000"/>
              <a:t> mm</a:t>
            </a:r>
            <a:endParaRPr baseline="30000" sz="2000"/>
          </a:p>
        </p:txBody>
      </p:sp>
      <p:cxnSp>
        <p:nvCxnSpPr>
          <p:cNvPr id="825" name="Google Shape;825;p71"/>
          <p:cNvCxnSpPr>
            <a:stCxn id="817" idx="4"/>
            <a:endCxn id="815" idx="4"/>
          </p:cNvCxnSpPr>
          <p:nvPr/>
        </p:nvCxnSpPr>
        <p:spPr>
          <a:xfrm>
            <a:off x="1662463" y="3436263"/>
            <a:ext cx="300" cy="95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26" name="Google Shape;826;p71"/>
          <p:cNvSpPr txBox="1"/>
          <p:nvPr/>
        </p:nvSpPr>
        <p:spPr>
          <a:xfrm>
            <a:off x="1695949" y="3762252"/>
            <a:ext cx="9786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 mm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324000" y="1658460"/>
            <a:ext cx="84960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formula</a:t>
            </a:r>
            <a:r>
              <a:rPr lang="en-GB" sz="2000">
                <a:solidFill>
                  <a:schemeClr val="accent4"/>
                </a:solidFill>
              </a:rPr>
              <a:t>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π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chemeClr val="accent4"/>
                </a:solidFill>
              </a:rPr>
              <a:t>2</a:t>
            </a:r>
            <a:r>
              <a:rPr lang="en-GB" sz="2000"/>
              <a:t> can then be used to calculate the area.</a:t>
            </a:r>
            <a:endParaRPr baseline="30000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2"/>
          <p:cNvSpPr txBox="1"/>
          <p:nvPr>
            <p:ph idx="1" type="body"/>
          </p:nvPr>
        </p:nvSpPr>
        <p:spPr>
          <a:xfrm>
            <a:off x="324000" y="759300"/>
            <a:ext cx="82377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may need to determine whether a length given is equal to the </a:t>
            </a:r>
            <a:r>
              <a:rPr lang="en-GB" sz="2000">
                <a:solidFill>
                  <a:schemeClr val="accent4"/>
                </a:solidFill>
              </a:rPr>
              <a:t>radius</a:t>
            </a:r>
            <a:r>
              <a:rPr lang="en-GB" sz="2000"/>
              <a:t> or </a:t>
            </a:r>
            <a:r>
              <a:rPr lang="en-GB" sz="2000">
                <a:solidFill>
                  <a:schemeClr val="accent4"/>
                </a:solidFill>
              </a:rPr>
              <a:t>diameter</a:t>
            </a:r>
            <a:r>
              <a:rPr lang="en-GB" sz="2000"/>
              <a:t> before you calculate the area.</a:t>
            </a:r>
            <a:endParaRPr sz="2000"/>
          </a:p>
        </p:txBody>
      </p:sp>
      <p:sp>
        <p:nvSpPr>
          <p:cNvPr id="833" name="Google Shape;83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834" name="Google Shape;834;p72"/>
          <p:cNvSpPr/>
          <p:nvPr/>
        </p:nvSpPr>
        <p:spPr>
          <a:xfrm>
            <a:off x="489425" y="2660582"/>
            <a:ext cx="824400" cy="8244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2"/>
          <p:cNvSpPr/>
          <p:nvPr/>
        </p:nvSpPr>
        <p:spPr>
          <a:xfrm>
            <a:off x="509698" y="2667226"/>
            <a:ext cx="1618200" cy="1618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6" name="Google Shape;836;p72"/>
          <p:cNvCxnSpPr/>
          <p:nvPr/>
        </p:nvCxnSpPr>
        <p:spPr>
          <a:xfrm>
            <a:off x="475750" y="2535521"/>
            <a:ext cx="8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7" name="Google Shape;837;p72"/>
          <p:cNvSpPr txBox="1"/>
          <p:nvPr/>
        </p:nvSpPr>
        <p:spPr>
          <a:xfrm>
            <a:off x="610378" y="2168675"/>
            <a:ext cx="636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2"/>
          <p:cNvSpPr/>
          <p:nvPr/>
        </p:nvSpPr>
        <p:spPr>
          <a:xfrm>
            <a:off x="1292654" y="3450243"/>
            <a:ext cx="51900" cy="519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2"/>
          <p:cNvSpPr/>
          <p:nvPr/>
        </p:nvSpPr>
        <p:spPr>
          <a:xfrm>
            <a:off x="5157285" y="2577438"/>
            <a:ext cx="1033200" cy="10335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2"/>
          <p:cNvSpPr/>
          <p:nvPr/>
        </p:nvSpPr>
        <p:spPr>
          <a:xfrm>
            <a:off x="5170086" y="2581632"/>
            <a:ext cx="1020600" cy="1020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1" name="Google Shape;841;p72"/>
          <p:cNvCxnSpPr/>
          <p:nvPr/>
        </p:nvCxnSpPr>
        <p:spPr>
          <a:xfrm>
            <a:off x="5148675" y="2498565"/>
            <a:ext cx="1040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2" name="Google Shape;842;p72"/>
          <p:cNvSpPr txBox="1"/>
          <p:nvPr/>
        </p:nvSpPr>
        <p:spPr>
          <a:xfrm>
            <a:off x="5401053" y="2236873"/>
            <a:ext cx="659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2"/>
          <p:cNvSpPr/>
          <p:nvPr/>
        </p:nvSpPr>
        <p:spPr>
          <a:xfrm>
            <a:off x="5663890" y="3075484"/>
            <a:ext cx="32700" cy="327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2"/>
          <p:cNvSpPr txBox="1"/>
          <p:nvPr>
            <p:ph idx="1" type="body"/>
          </p:nvPr>
        </p:nvSpPr>
        <p:spPr>
          <a:xfrm>
            <a:off x="324000" y="1673700"/>
            <a:ext cx="1824900" cy="3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 1:</a:t>
            </a:r>
            <a:endParaRPr sz="2000"/>
          </a:p>
        </p:txBody>
      </p:sp>
      <p:sp>
        <p:nvSpPr>
          <p:cNvPr id="845" name="Google Shape;845;p72"/>
          <p:cNvSpPr txBox="1"/>
          <p:nvPr>
            <p:ph idx="1" type="body"/>
          </p:nvPr>
        </p:nvSpPr>
        <p:spPr>
          <a:xfrm>
            <a:off x="4972200" y="1673700"/>
            <a:ext cx="1824900" cy="3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 2:</a:t>
            </a:r>
            <a:endParaRPr sz="2000"/>
          </a:p>
        </p:txBody>
      </p:sp>
      <p:cxnSp>
        <p:nvCxnSpPr>
          <p:cNvPr id="846" name="Google Shape;846;p72"/>
          <p:cNvCxnSpPr/>
          <p:nvPr/>
        </p:nvCxnSpPr>
        <p:spPr>
          <a:xfrm>
            <a:off x="475750" y="3483885"/>
            <a:ext cx="8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7" name="Google Shape;847;p72"/>
          <p:cNvSpPr txBox="1"/>
          <p:nvPr/>
        </p:nvSpPr>
        <p:spPr>
          <a:xfrm>
            <a:off x="610378" y="3117040"/>
            <a:ext cx="636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8" name="Google Shape;848;p72"/>
          <p:cNvCxnSpPr/>
          <p:nvPr/>
        </p:nvCxnSpPr>
        <p:spPr>
          <a:xfrm>
            <a:off x="5148675" y="3087659"/>
            <a:ext cx="1040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9" name="Google Shape;849;p72"/>
          <p:cNvSpPr txBox="1"/>
          <p:nvPr/>
        </p:nvSpPr>
        <p:spPr>
          <a:xfrm>
            <a:off x="5401053" y="2825970"/>
            <a:ext cx="659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2"/>
          <p:cNvSpPr txBox="1"/>
          <p:nvPr/>
        </p:nvSpPr>
        <p:spPr>
          <a:xfrm>
            <a:off x="2272175" y="2445125"/>
            <a:ext cx="16521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adius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2"/>
          <p:cNvSpPr txBox="1"/>
          <p:nvPr/>
        </p:nvSpPr>
        <p:spPr>
          <a:xfrm>
            <a:off x="2447435" y="2978525"/>
            <a:ext cx="1476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8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2"/>
          <p:cNvSpPr txBox="1"/>
          <p:nvPr/>
        </p:nvSpPr>
        <p:spPr>
          <a:xfrm>
            <a:off x="3026545" y="3359525"/>
            <a:ext cx="1194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64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2"/>
          <p:cNvSpPr txBox="1"/>
          <p:nvPr/>
        </p:nvSpPr>
        <p:spPr>
          <a:xfrm>
            <a:off x="6539375" y="2445125"/>
            <a:ext cx="1987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>
            <a:off x="7057535" y="3435725"/>
            <a:ext cx="1476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4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 txBox="1"/>
          <p:nvPr/>
        </p:nvSpPr>
        <p:spPr>
          <a:xfrm>
            <a:off x="7636645" y="3816725"/>
            <a:ext cx="1194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16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2"/>
          <p:cNvSpPr txBox="1"/>
          <p:nvPr/>
        </p:nvSpPr>
        <p:spPr>
          <a:xfrm>
            <a:off x="6859415" y="2826125"/>
            <a:ext cx="16521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3"/>
          <p:cNvSpPr txBox="1"/>
          <p:nvPr>
            <p:ph idx="1" type="subTitle"/>
          </p:nvPr>
        </p:nvSpPr>
        <p:spPr>
          <a:xfrm>
            <a:off x="1034425" y="1837775"/>
            <a:ext cx="1465200" cy="4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6</a:t>
            </a:r>
            <a:r>
              <a:rPr baseline="30000" lang="en-GB"/>
              <a:t>2</a:t>
            </a:r>
            <a:endParaRPr sz="2600"/>
          </a:p>
        </p:txBody>
      </p:sp>
      <p:sp>
        <p:nvSpPr>
          <p:cNvPr id="862" name="Google Shape;862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863" name="Google Shape;863;p7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calculation would find the area of the circle?</a:t>
            </a:r>
            <a:endParaRPr/>
          </a:p>
        </p:txBody>
      </p:sp>
      <p:sp>
        <p:nvSpPr>
          <p:cNvPr id="864" name="Google Shape;864;p73"/>
          <p:cNvSpPr txBox="1"/>
          <p:nvPr>
            <p:ph idx="3" type="subTitle"/>
          </p:nvPr>
        </p:nvSpPr>
        <p:spPr>
          <a:xfrm>
            <a:off x="1034425" y="2794252"/>
            <a:ext cx="146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12</a:t>
            </a:r>
            <a:r>
              <a:rPr baseline="30000" lang="en-GB"/>
              <a:t>2</a:t>
            </a:r>
            <a:endParaRPr/>
          </a:p>
        </p:txBody>
      </p:sp>
      <p:sp>
        <p:nvSpPr>
          <p:cNvPr id="865" name="Google Shape;865;p73"/>
          <p:cNvSpPr txBox="1"/>
          <p:nvPr>
            <p:ph idx="4" type="subTitle"/>
          </p:nvPr>
        </p:nvSpPr>
        <p:spPr>
          <a:xfrm>
            <a:off x="1034425" y="3766975"/>
            <a:ext cx="145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24</a:t>
            </a:r>
            <a:r>
              <a:rPr baseline="30000" lang="en-GB"/>
              <a:t>2</a:t>
            </a:r>
            <a:endParaRPr/>
          </a:p>
        </p:txBody>
      </p:sp>
      <p:grpSp>
        <p:nvGrpSpPr>
          <p:cNvPr id="866" name="Google Shape;866;p73"/>
          <p:cNvGrpSpPr/>
          <p:nvPr/>
        </p:nvGrpSpPr>
        <p:grpSpPr>
          <a:xfrm>
            <a:off x="4594827" y="2006524"/>
            <a:ext cx="1162581" cy="948175"/>
            <a:chOff x="5274852" y="2420160"/>
            <a:chExt cx="662100" cy="577909"/>
          </a:xfrm>
        </p:grpSpPr>
        <p:cxnSp>
          <p:nvCxnSpPr>
            <p:cNvPr id="867" name="Google Shape;867;p73"/>
            <p:cNvCxnSpPr/>
            <p:nvPr/>
          </p:nvCxnSpPr>
          <p:spPr>
            <a:xfrm rot="10800000">
              <a:off x="5274852" y="2998069"/>
              <a:ext cx="662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68" name="Google Shape;868;p73"/>
            <p:cNvCxnSpPr/>
            <p:nvPr/>
          </p:nvCxnSpPr>
          <p:spPr>
            <a:xfrm rot="10800000">
              <a:off x="5274852" y="2420160"/>
              <a:ext cx="662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869" name="Google Shape;869;p73"/>
          <p:cNvSpPr/>
          <p:nvPr/>
        </p:nvSpPr>
        <p:spPr>
          <a:xfrm>
            <a:off x="4841989" y="2019037"/>
            <a:ext cx="1840800" cy="1841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0" name="Google Shape;870;p73"/>
          <p:cNvCxnSpPr/>
          <p:nvPr/>
        </p:nvCxnSpPr>
        <p:spPr>
          <a:xfrm>
            <a:off x="4594815" y="2000065"/>
            <a:ext cx="0" cy="951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1" name="Google Shape;871;p73"/>
          <p:cNvSpPr txBox="1"/>
          <p:nvPr/>
        </p:nvSpPr>
        <p:spPr>
          <a:xfrm>
            <a:off x="3937905" y="2302500"/>
            <a:ext cx="768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3"/>
          <p:cNvSpPr/>
          <p:nvPr/>
        </p:nvSpPr>
        <p:spPr>
          <a:xfrm>
            <a:off x="5719696" y="2896772"/>
            <a:ext cx="84900" cy="849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3" name="Google Shape;87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583" y="27675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4"/>
          <p:cNvSpPr txBox="1"/>
          <p:nvPr>
            <p:ph idx="1" type="subTitle"/>
          </p:nvPr>
        </p:nvSpPr>
        <p:spPr>
          <a:xfrm>
            <a:off x="1034425" y="1837775"/>
            <a:ext cx="1465200" cy="4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4</a:t>
            </a:r>
            <a:r>
              <a:rPr baseline="30000" lang="en-GB"/>
              <a:t>2</a:t>
            </a:r>
            <a:endParaRPr sz="2600"/>
          </a:p>
        </p:txBody>
      </p:sp>
      <p:sp>
        <p:nvSpPr>
          <p:cNvPr id="879" name="Google Shape;879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880" name="Google Shape;880;p74"/>
          <p:cNvSpPr txBox="1"/>
          <p:nvPr>
            <p:ph type="title"/>
          </p:nvPr>
        </p:nvSpPr>
        <p:spPr>
          <a:xfrm>
            <a:off x="324000" y="748784"/>
            <a:ext cx="8179200" cy="8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calculation would find the area of a circle that has a diameter of 8 cm?</a:t>
            </a:r>
            <a:endParaRPr/>
          </a:p>
        </p:txBody>
      </p:sp>
      <p:sp>
        <p:nvSpPr>
          <p:cNvPr id="881" name="Google Shape;881;p74"/>
          <p:cNvSpPr txBox="1"/>
          <p:nvPr>
            <p:ph idx="3" type="subTitle"/>
          </p:nvPr>
        </p:nvSpPr>
        <p:spPr>
          <a:xfrm>
            <a:off x="1034425" y="2794252"/>
            <a:ext cx="146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8</a:t>
            </a:r>
            <a:r>
              <a:rPr baseline="30000" lang="en-GB"/>
              <a:t>2</a:t>
            </a:r>
            <a:endParaRPr/>
          </a:p>
        </p:txBody>
      </p:sp>
      <p:sp>
        <p:nvSpPr>
          <p:cNvPr id="882" name="Google Shape;882;p74"/>
          <p:cNvSpPr txBox="1"/>
          <p:nvPr>
            <p:ph idx="4" type="subTitle"/>
          </p:nvPr>
        </p:nvSpPr>
        <p:spPr>
          <a:xfrm>
            <a:off x="1034425" y="3766975"/>
            <a:ext cx="145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16</a:t>
            </a:r>
            <a:r>
              <a:rPr baseline="30000" lang="en-GB"/>
              <a:t>2</a:t>
            </a:r>
            <a:endParaRPr/>
          </a:p>
        </p:txBody>
      </p:sp>
      <p:pic>
        <p:nvPicPr>
          <p:cNvPr id="883" name="Google Shape;88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208" y="18584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5"/>
          <p:cNvSpPr txBox="1"/>
          <p:nvPr>
            <p:ph idx="1" type="body"/>
          </p:nvPr>
        </p:nvSpPr>
        <p:spPr>
          <a:xfrm>
            <a:off x="324000" y="759300"/>
            <a:ext cx="8496000" cy="12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Jacob has calculated the area of the circle</a:t>
            </a:r>
            <a:r>
              <a:rPr lang="en-GB" sz="2000"/>
              <a:t> and</a:t>
            </a:r>
            <a:r>
              <a:rPr lang="en-GB" sz="2000"/>
              <a:t> given his answer in terms of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Write Jacob’s answer as a decimal, rounded to 3 significant figures.</a:t>
            </a:r>
            <a:endParaRPr sz="2000"/>
          </a:p>
        </p:txBody>
      </p:sp>
      <p:sp>
        <p:nvSpPr>
          <p:cNvPr id="889" name="Google Shape;88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890" name="Google Shape;890;p75"/>
          <p:cNvSpPr/>
          <p:nvPr/>
        </p:nvSpPr>
        <p:spPr>
          <a:xfrm>
            <a:off x="1513300" y="2340851"/>
            <a:ext cx="1756800" cy="17571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1" name="Google Shape;891;p75"/>
          <p:cNvCxnSpPr/>
          <p:nvPr/>
        </p:nvCxnSpPr>
        <p:spPr>
          <a:xfrm flipH="1" rot="10800000">
            <a:off x="2411428" y="2405947"/>
            <a:ext cx="255300" cy="793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2" name="Google Shape;892;p75"/>
          <p:cNvSpPr/>
          <p:nvPr/>
        </p:nvSpPr>
        <p:spPr>
          <a:xfrm>
            <a:off x="2378527" y="3190887"/>
            <a:ext cx="56400" cy="564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5"/>
          <p:cNvSpPr txBox="1"/>
          <p:nvPr/>
        </p:nvSpPr>
        <p:spPr>
          <a:xfrm>
            <a:off x="2594364" y="2721558"/>
            <a:ext cx="6318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5"/>
          <p:cNvSpPr txBox="1"/>
          <p:nvPr>
            <p:ph idx="1" type="body"/>
          </p:nvPr>
        </p:nvSpPr>
        <p:spPr>
          <a:xfrm>
            <a:off x="3797000" y="2238175"/>
            <a:ext cx="21243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π × </a:t>
            </a:r>
            <a:r>
              <a:rPr lang="en-GB" sz="2000"/>
              <a:t>4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95" name="Google Shape;895;p75"/>
          <p:cNvSpPr txBox="1"/>
          <p:nvPr>
            <p:ph idx="1" type="body"/>
          </p:nvPr>
        </p:nvSpPr>
        <p:spPr>
          <a:xfrm>
            <a:off x="4448231" y="2903951"/>
            <a:ext cx="23877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/>
              <a:t>16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2000"/>
              <a:t>cm</a:t>
            </a:r>
            <a:r>
              <a:rPr baseline="30000" lang="en-GB"/>
              <a:t>2</a:t>
            </a:r>
            <a:endParaRPr baseline="30000" sz="2000"/>
          </a:p>
        </p:txBody>
      </p:sp>
      <p:sp>
        <p:nvSpPr>
          <p:cNvPr id="896" name="Google Shape;896;p75"/>
          <p:cNvSpPr txBox="1"/>
          <p:nvPr>
            <p:ph idx="1" type="body"/>
          </p:nvPr>
        </p:nvSpPr>
        <p:spPr>
          <a:xfrm>
            <a:off x="4448231" y="3549700"/>
            <a:ext cx="2387700" cy="4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50.3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97" name="Google Shape;89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1" y="3937851"/>
            <a:ext cx="682349" cy="8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6"/>
          <p:cNvSpPr txBox="1"/>
          <p:nvPr>
            <p:ph idx="1" type="body"/>
          </p:nvPr>
        </p:nvSpPr>
        <p:spPr>
          <a:xfrm>
            <a:off x="324000" y="759300"/>
            <a:ext cx="8057700" cy="8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In some cases, you</a:t>
            </a:r>
            <a:r>
              <a:rPr lang="en-GB" sz="2000"/>
              <a:t> may need to first determine the length of the </a:t>
            </a:r>
            <a:r>
              <a:rPr lang="en-GB" sz="2000">
                <a:solidFill>
                  <a:schemeClr val="accent4"/>
                </a:solidFill>
              </a:rPr>
              <a:t>radius</a:t>
            </a:r>
            <a:r>
              <a:rPr lang="en-GB" sz="2000"/>
              <a:t> or </a:t>
            </a:r>
            <a:r>
              <a:rPr lang="en-GB" sz="2000">
                <a:solidFill>
                  <a:schemeClr val="accent4"/>
                </a:solidFill>
              </a:rPr>
              <a:t>diameter</a:t>
            </a:r>
            <a:r>
              <a:rPr lang="en-GB" sz="2000"/>
              <a:t> before calculating the area.</a:t>
            </a:r>
            <a:endParaRPr/>
          </a:p>
        </p:txBody>
      </p:sp>
      <p:sp>
        <p:nvSpPr>
          <p:cNvPr id="903" name="Google Shape;90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904" name="Google Shape;904;p76"/>
          <p:cNvSpPr/>
          <p:nvPr/>
        </p:nvSpPr>
        <p:spPr>
          <a:xfrm>
            <a:off x="1441525" y="189963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6"/>
          <p:cNvSpPr/>
          <p:nvPr/>
        </p:nvSpPr>
        <p:spPr>
          <a:xfrm>
            <a:off x="1801959" y="189963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6"/>
          <p:cNvSpPr/>
          <p:nvPr/>
        </p:nvSpPr>
        <p:spPr>
          <a:xfrm>
            <a:off x="2162393" y="189963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6"/>
          <p:cNvSpPr/>
          <p:nvPr/>
        </p:nvSpPr>
        <p:spPr>
          <a:xfrm>
            <a:off x="2522827" y="189963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6"/>
          <p:cNvSpPr/>
          <p:nvPr/>
        </p:nvSpPr>
        <p:spPr>
          <a:xfrm>
            <a:off x="1441525" y="225546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6"/>
          <p:cNvSpPr/>
          <p:nvPr/>
        </p:nvSpPr>
        <p:spPr>
          <a:xfrm>
            <a:off x="1801959" y="225546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6"/>
          <p:cNvSpPr/>
          <p:nvPr/>
        </p:nvSpPr>
        <p:spPr>
          <a:xfrm>
            <a:off x="2162393" y="225546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6"/>
          <p:cNvSpPr/>
          <p:nvPr/>
        </p:nvSpPr>
        <p:spPr>
          <a:xfrm>
            <a:off x="2522827" y="225546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6"/>
          <p:cNvSpPr/>
          <p:nvPr/>
        </p:nvSpPr>
        <p:spPr>
          <a:xfrm>
            <a:off x="1441525" y="261129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6"/>
          <p:cNvSpPr/>
          <p:nvPr/>
        </p:nvSpPr>
        <p:spPr>
          <a:xfrm>
            <a:off x="1801959" y="261129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6"/>
          <p:cNvSpPr/>
          <p:nvPr/>
        </p:nvSpPr>
        <p:spPr>
          <a:xfrm>
            <a:off x="2162393" y="261129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6"/>
          <p:cNvSpPr/>
          <p:nvPr/>
        </p:nvSpPr>
        <p:spPr>
          <a:xfrm>
            <a:off x="2522827" y="2611294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6"/>
          <p:cNvSpPr/>
          <p:nvPr/>
        </p:nvSpPr>
        <p:spPr>
          <a:xfrm>
            <a:off x="1441525" y="296712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6"/>
          <p:cNvSpPr/>
          <p:nvPr/>
        </p:nvSpPr>
        <p:spPr>
          <a:xfrm>
            <a:off x="1801959" y="296712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6"/>
          <p:cNvSpPr/>
          <p:nvPr/>
        </p:nvSpPr>
        <p:spPr>
          <a:xfrm>
            <a:off x="2162393" y="296712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6"/>
          <p:cNvSpPr/>
          <p:nvPr/>
        </p:nvSpPr>
        <p:spPr>
          <a:xfrm>
            <a:off x="2522827" y="296712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6"/>
          <p:cNvSpPr/>
          <p:nvPr/>
        </p:nvSpPr>
        <p:spPr>
          <a:xfrm>
            <a:off x="2883261" y="189963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6"/>
          <p:cNvSpPr/>
          <p:nvPr/>
        </p:nvSpPr>
        <p:spPr>
          <a:xfrm>
            <a:off x="2883261" y="225546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6"/>
          <p:cNvSpPr/>
          <p:nvPr/>
        </p:nvSpPr>
        <p:spPr>
          <a:xfrm>
            <a:off x="2883261" y="261129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6"/>
          <p:cNvSpPr/>
          <p:nvPr/>
        </p:nvSpPr>
        <p:spPr>
          <a:xfrm>
            <a:off x="2883261" y="296712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6"/>
          <p:cNvSpPr/>
          <p:nvPr/>
        </p:nvSpPr>
        <p:spPr>
          <a:xfrm>
            <a:off x="3243695" y="189963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6"/>
          <p:cNvSpPr/>
          <p:nvPr/>
        </p:nvSpPr>
        <p:spPr>
          <a:xfrm>
            <a:off x="3243695" y="225546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6"/>
          <p:cNvSpPr/>
          <p:nvPr/>
        </p:nvSpPr>
        <p:spPr>
          <a:xfrm>
            <a:off x="3243695" y="261129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6"/>
          <p:cNvSpPr/>
          <p:nvPr/>
        </p:nvSpPr>
        <p:spPr>
          <a:xfrm>
            <a:off x="3243695" y="296712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6"/>
          <p:cNvSpPr/>
          <p:nvPr/>
        </p:nvSpPr>
        <p:spPr>
          <a:xfrm>
            <a:off x="1441525" y="332295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6"/>
          <p:cNvSpPr/>
          <p:nvPr/>
        </p:nvSpPr>
        <p:spPr>
          <a:xfrm>
            <a:off x="1801959" y="332295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6"/>
          <p:cNvSpPr/>
          <p:nvPr/>
        </p:nvSpPr>
        <p:spPr>
          <a:xfrm>
            <a:off x="2162393" y="332295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6"/>
          <p:cNvSpPr/>
          <p:nvPr/>
        </p:nvSpPr>
        <p:spPr>
          <a:xfrm>
            <a:off x="2522827" y="332295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6"/>
          <p:cNvSpPr/>
          <p:nvPr/>
        </p:nvSpPr>
        <p:spPr>
          <a:xfrm>
            <a:off x="1441525" y="367878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6"/>
          <p:cNvSpPr/>
          <p:nvPr/>
        </p:nvSpPr>
        <p:spPr>
          <a:xfrm>
            <a:off x="1801959" y="367878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6"/>
          <p:cNvSpPr/>
          <p:nvPr/>
        </p:nvSpPr>
        <p:spPr>
          <a:xfrm>
            <a:off x="2162393" y="367878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6"/>
          <p:cNvSpPr/>
          <p:nvPr/>
        </p:nvSpPr>
        <p:spPr>
          <a:xfrm>
            <a:off x="2522827" y="3678783"/>
            <a:ext cx="360600" cy="3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6"/>
          <p:cNvSpPr/>
          <p:nvPr/>
        </p:nvSpPr>
        <p:spPr>
          <a:xfrm>
            <a:off x="2883261" y="332295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6"/>
          <p:cNvSpPr/>
          <p:nvPr/>
        </p:nvSpPr>
        <p:spPr>
          <a:xfrm>
            <a:off x="2883261" y="367878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6"/>
          <p:cNvSpPr/>
          <p:nvPr/>
        </p:nvSpPr>
        <p:spPr>
          <a:xfrm>
            <a:off x="3243695" y="332295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6"/>
          <p:cNvSpPr/>
          <p:nvPr/>
        </p:nvSpPr>
        <p:spPr>
          <a:xfrm>
            <a:off x="3243695" y="367878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6"/>
          <p:cNvSpPr txBox="1"/>
          <p:nvPr/>
        </p:nvSpPr>
        <p:spPr>
          <a:xfrm>
            <a:off x="2526109" y="2944097"/>
            <a:ext cx="9822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units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6"/>
          <p:cNvSpPr txBox="1"/>
          <p:nvPr/>
        </p:nvSpPr>
        <p:spPr>
          <a:xfrm>
            <a:off x="4840125" y="1896475"/>
            <a:ext cx="26841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diameter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8 units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6"/>
          <p:cNvSpPr txBox="1"/>
          <p:nvPr/>
        </p:nvSpPr>
        <p:spPr>
          <a:xfrm>
            <a:off x="5416239" y="3115685"/>
            <a:ext cx="16422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× 4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6"/>
          <p:cNvSpPr txBox="1"/>
          <p:nvPr/>
        </p:nvSpPr>
        <p:spPr>
          <a:xfrm>
            <a:off x="6060124" y="3572875"/>
            <a:ext cx="1434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16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6"/>
          <p:cNvSpPr txBox="1"/>
          <p:nvPr/>
        </p:nvSpPr>
        <p:spPr>
          <a:xfrm>
            <a:off x="5195947" y="2307955"/>
            <a:ext cx="25842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radius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4 units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6"/>
          <p:cNvSpPr txBox="1"/>
          <p:nvPr/>
        </p:nvSpPr>
        <p:spPr>
          <a:xfrm>
            <a:off x="1819913" y="2933334"/>
            <a:ext cx="11136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units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6"/>
          <p:cNvSpPr/>
          <p:nvPr/>
        </p:nvSpPr>
        <p:spPr>
          <a:xfrm>
            <a:off x="2843865" y="3284075"/>
            <a:ext cx="78900" cy="780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6"/>
          <p:cNvSpPr txBox="1"/>
          <p:nvPr/>
        </p:nvSpPr>
        <p:spPr>
          <a:xfrm>
            <a:off x="6060122" y="4030075"/>
            <a:ext cx="16422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50.3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6"/>
          <p:cNvSpPr/>
          <p:nvPr/>
        </p:nvSpPr>
        <p:spPr>
          <a:xfrm>
            <a:off x="3604129" y="367878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6"/>
          <p:cNvSpPr/>
          <p:nvPr/>
        </p:nvSpPr>
        <p:spPr>
          <a:xfrm>
            <a:off x="3604129" y="332295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6"/>
          <p:cNvSpPr/>
          <p:nvPr/>
        </p:nvSpPr>
        <p:spPr>
          <a:xfrm>
            <a:off x="3604129" y="296712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6"/>
          <p:cNvSpPr/>
          <p:nvPr/>
        </p:nvSpPr>
        <p:spPr>
          <a:xfrm>
            <a:off x="3604129" y="261129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6"/>
          <p:cNvSpPr/>
          <p:nvPr/>
        </p:nvSpPr>
        <p:spPr>
          <a:xfrm>
            <a:off x="3602755" y="225546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6"/>
          <p:cNvSpPr/>
          <p:nvPr/>
        </p:nvSpPr>
        <p:spPr>
          <a:xfrm>
            <a:off x="3602755" y="189963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6"/>
          <p:cNvSpPr/>
          <p:nvPr/>
        </p:nvSpPr>
        <p:spPr>
          <a:xfrm>
            <a:off x="3963850" y="3679172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6"/>
          <p:cNvSpPr/>
          <p:nvPr/>
        </p:nvSpPr>
        <p:spPr>
          <a:xfrm>
            <a:off x="3963850" y="3323342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6"/>
          <p:cNvSpPr/>
          <p:nvPr/>
        </p:nvSpPr>
        <p:spPr>
          <a:xfrm>
            <a:off x="3963850" y="296751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6"/>
          <p:cNvSpPr/>
          <p:nvPr/>
        </p:nvSpPr>
        <p:spPr>
          <a:xfrm>
            <a:off x="3963850" y="261168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6"/>
          <p:cNvSpPr/>
          <p:nvPr/>
        </p:nvSpPr>
        <p:spPr>
          <a:xfrm>
            <a:off x="3962475" y="225585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6"/>
          <p:cNvSpPr/>
          <p:nvPr/>
        </p:nvSpPr>
        <p:spPr>
          <a:xfrm>
            <a:off x="3962475" y="190002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6"/>
          <p:cNvSpPr/>
          <p:nvPr/>
        </p:nvSpPr>
        <p:spPr>
          <a:xfrm>
            <a:off x="2883261" y="403538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6"/>
          <p:cNvSpPr/>
          <p:nvPr/>
        </p:nvSpPr>
        <p:spPr>
          <a:xfrm>
            <a:off x="3243695" y="403538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6"/>
          <p:cNvSpPr/>
          <p:nvPr/>
        </p:nvSpPr>
        <p:spPr>
          <a:xfrm>
            <a:off x="3604129" y="403538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6"/>
          <p:cNvSpPr/>
          <p:nvPr/>
        </p:nvSpPr>
        <p:spPr>
          <a:xfrm>
            <a:off x="3963850" y="403577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6"/>
          <p:cNvSpPr/>
          <p:nvPr/>
        </p:nvSpPr>
        <p:spPr>
          <a:xfrm>
            <a:off x="1442917" y="403459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6"/>
          <p:cNvSpPr/>
          <p:nvPr/>
        </p:nvSpPr>
        <p:spPr>
          <a:xfrm>
            <a:off x="1803351" y="403459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6"/>
          <p:cNvSpPr/>
          <p:nvPr/>
        </p:nvSpPr>
        <p:spPr>
          <a:xfrm>
            <a:off x="2163785" y="4034594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6"/>
          <p:cNvSpPr/>
          <p:nvPr/>
        </p:nvSpPr>
        <p:spPr>
          <a:xfrm>
            <a:off x="2523505" y="4034983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6"/>
          <p:cNvSpPr/>
          <p:nvPr/>
        </p:nvSpPr>
        <p:spPr>
          <a:xfrm>
            <a:off x="2883261" y="4388231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6"/>
          <p:cNvSpPr/>
          <p:nvPr/>
        </p:nvSpPr>
        <p:spPr>
          <a:xfrm>
            <a:off x="3243695" y="4388231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6"/>
          <p:cNvSpPr/>
          <p:nvPr/>
        </p:nvSpPr>
        <p:spPr>
          <a:xfrm>
            <a:off x="3604129" y="4388231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6"/>
          <p:cNvSpPr/>
          <p:nvPr/>
        </p:nvSpPr>
        <p:spPr>
          <a:xfrm>
            <a:off x="3963850" y="4388620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6"/>
          <p:cNvSpPr/>
          <p:nvPr/>
        </p:nvSpPr>
        <p:spPr>
          <a:xfrm>
            <a:off x="1442917" y="4387441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6"/>
          <p:cNvSpPr/>
          <p:nvPr/>
        </p:nvSpPr>
        <p:spPr>
          <a:xfrm>
            <a:off x="1803351" y="4387441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6"/>
          <p:cNvSpPr/>
          <p:nvPr/>
        </p:nvSpPr>
        <p:spPr>
          <a:xfrm>
            <a:off x="2163785" y="4387441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6"/>
          <p:cNvSpPr/>
          <p:nvPr/>
        </p:nvSpPr>
        <p:spPr>
          <a:xfrm>
            <a:off x="2523505" y="4387831"/>
            <a:ext cx="360600" cy="35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6" name="Google Shape;976;p76"/>
          <p:cNvCxnSpPr>
            <a:stCxn id="977" idx="2"/>
          </p:cNvCxnSpPr>
          <p:nvPr/>
        </p:nvCxnSpPr>
        <p:spPr>
          <a:xfrm>
            <a:off x="1447868" y="3318775"/>
            <a:ext cx="2867400" cy="10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8" name="Google Shape;978;p76"/>
          <p:cNvCxnSpPr>
            <a:endCxn id="946" idx="2"/>
          </p:cNvCxnSpPr>
          <p:nvPr/>
        </p:nvCxnSpPr>
        <p:spPr>
          <a:xfrm>
            <a:off x="1447665" y="3319475"/>
            <a:ext cx="1396200" cy="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7" name="Google Shape;977;p76"/>
          <p:cNvSpPr/>
          <p:nvPr/>
        </p:nvSpPr>
        <p:spPr>
          <a:xfrm>
            <a:off x="1447868" y="1899625"/>
            <a:ext cx="2874900" cy="2838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7"/>
          <p:cNvSpPr txBox="1"/>
          <p:nvPr>
            <p:ph idx="1" type="body"/>
          </p:nvPr>
        </p:nvSpPr>
        <p:spPr>
          <a:xfrm>
            <a:off x="324000" y="759300"/>
            <a:ext cx="8237700" cy="8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some cases, you may need to first determine the length of the </a:t>
            </a:r>
            <a:r>
              <a:rPr lang="en-GB" sz="2000">
                <a:solidFill>
                  <a:schemeClr val="accent4"/>
                </a:solidFill>
              </a:rPr>
              <a:t>radius</a:t>
            </a:r>
            <a:r>
              <a:rPr lang="en-GB" sz="2000"/>
              <a:t> or </a:t>
            </a:r>
            <a:r>
              <a:rPr lang="en-GB" sz="2000">
                <a:solidFill>
                  <a:schemeClr val="accent4"/>
                </a:solidFill>
              </a:rPr>
              <a:t>diameter</a:t>
            </a:r>
            <a:r>
              <a:rPr lang="en-GB" sz="2000"/>
              <a:t> before calculating the area.</a:t>
            </a:r>
            <a:endParaRPr/>
          </a:p>
        </p:txBody>
      </p:sp>
      <p:sp>
        <p:nvSpPr>
          <p:cNvPr id="984" name="Google Shape;98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985" name="Google Shape;985;p77"/>
          <p:cNvSpPr/>
          <p:nvPr/>
        </p:nvSpPr>
        <p:spPr>
          <a:xfrm>
            <a:off x="1774710" y="1975825"/>
            <a:ext cx="2324100" cy="2324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6" name="Google Shape;986;p77"/>
          <p:cNvCxnSpPr/>
          <p:nvPr/>
        </p:nvCxnSpPr>
        <p:spPr>
          <a:xfrm rot="10800000">
            <a:off x="1386950" y="1646150"/>
            <a:ext cx="0" cy="304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77"/>
          <p:cNvCxnSpPr/>
          <p:nvPr/>
        </p:nvCxnSpPr>
        <p:spPr>
          <a:xfrm>
            <a:off x="1379335" y="4679025"/>
            <a:ext cx="2903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8" name="Google Shape;988;p77"/>
          <p:cNvSpPr/>
          <p:nvPr/>
        </p:nvSpPr>
        <p:spPr>
          <a:xfrm>
            <a:off x="2900296" y="3102512"/>
            <a:ext cx="84900" cy="849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7"/>
          <p:cNvSpPr/>
          <p:nvPr/>
        </p:nvSpPr>
        <p:spPr>
          <a:xfrm>
            <a:off x="4058536" y="3102512"/>
            <a:ext cx="84900" cy="849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7"/>
          <p:cNvSpPr txBox="1"/>
          <p:nvPr>
            <p:ph idx="1" type="body"/>
          </p:nvPr>
        </p:nvSpPr>
        <p:spPr>
          <a:xfrm>
            <a:off x="2914805" y="3197700"/>
            <a:ext cx="7659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(5, 5)</a:t>
            </a:r>
            <a:endParaRPr/>
          </a:p>
        </p:txBody>
      </p:sp>
      <p:sp>
        <p:nvSpPr>
          <p:cNvPr id="991" name="Google Shape;991;p77"/>
          <p:cNvSpPr txBox="1"/>
          <p:nvPr>
            <p:ph idx="1" type="body"/>
          </p:nvPr>
        </p:nvSpPr>
        <p:spPr>
          <a:xfrm>
            <a:off x="4141625" y="3190080"/>
            <a:ext cx="7659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(9, 5)</a:t>
            </a:r>
            <a:endParaRPr/>
          </a:p>
        </p:txBody>
      </p:sp>
      <p:sp>
        <p:nvSpPr>
          <p:cNvPr id="992" name="Google Shape;992;p77"/>
          <p:cNvSpPr txBox="1"/>
          <p:nvPr/>
        </p:nvSpPr>
        <p:spPr>
          <a:xfrm>
            <a:off x="5644839" y="2894705"/>
            <a:ext cx="16422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× 4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7"/>
          <p:cNvSpPr txBox="1"/>
          <p:nvPr/>
        </p:nvSpPr>
        <p:spPr>
          <a:xfrm>
            <a:off x="6288723" y="3351900"/>
            <a:ext cx="15447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16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7"/>
          <p:cNvSpPr txBox="1"/>
          <p:nvPr/>
        </p:nvSpPr>
        <p:spPr>
          <a:xfrm>
            <a:off x="5424547" y="2086975"/>
            <a:ext cx="25842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radius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4 units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7"/>
          <p:cNvSpPr txBox="1"/>
          <p:nvPr/>
        </p:nvSpPr>
        <p:spPr>
          <a:xfrm>
            <a:off x="6288722" y="3809095"/>
            <a:ext cx="16422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50.3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6" name="Google Shape;996;p77"/>
          <p:cNvCxnSpPr/>
          <p:nvPr/>
        </p:nvCxnSpPr>
        <p:spPr>
          <a:xfrm>
            <a:off x="2934385" y="3138000"/>
            <a:ext cx="1194900" cy="7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7" name="Google Shape;997;p77"/>
          <p:cNvSpPr txBox="1"/>
          <p:nvPr/>
        </p:nvSpPr>
        <p:spPr>
          <a:xfrm>
            <a:off x="3124214" y="2813900"/>
            <a:ext cx="807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units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7"/>
          <p:cNvSpPr txBox="1"/>
          <p:nvPr/>
        </p:nvSpPr>
        <p:spPr>
          <a:xfrm>
            <a:off x="1173499" y="1518500"/>
            <a:ext cx="366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77"/>
          <p:cNvSpPr txBox="1"/>
          <p:nvPr/>
        </p:nvSpPr>
        <p:spPr>
          <a:xfrm>
            <a:off x="4343419" y="4536020"/>
            <a:ext cx="366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0" name="Google Shape;1000;p77"/>
          <p:cNvCxnSpPr/>
          <p:nvPr/>
        </p:nvCxnSpPr>
        <p:spPr>
          <a:xfrm>
            <a:off x="2992820" y="3507000"/>
            <a:ext cx="175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77"/>
          <p:cNvCxnSpPr/>
          <p:nvPr/>
        </p:nvCxnSpPr>
        <p:spPr>
          <a:xfrm>
            <a:off x="4227260" y="3507000"/>
            <a:ext cx="175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8"/>
          <p:cNvSpPr txBox="1"/>
          <p:nvPr>
            <p:ph idx="1" type="subTitle"/>
          </p:nvPr>
        </p:nvSpPr>
        <p:spPr>
          <a:xfrm>
            <a:off x="1034425" y="1837775"/>
            <a:ext cx="1465200" cy="4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2</a:t>
            </a:r>
            <a:r>
              <a:rPr baseline="30000" lang="en-GB"/>
              <a:t>2</a:t>
            </a:r>
            <a:endParaRPr sz="2600"/>
          </a:p>
        </p:txBody>
      </p:sp>
      <p:sp>
        <p:nvSpPr>
          <p:cNvPr id="1007" name="Google Shape;1007;p7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1008" name="Google Shape;1008;p78"/>
          <p:cNvSpPr txBox="1"/>
          <p:nvPr>
            <p:ph idx="3" type="subTitle"/>
          </p:nvPr>
        </p:nvSpPr>
        <p:spPr>
          <a:xfrm>
            <a:off x="1034425" y="2794252"/>
            <a:ext cx="146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4</a:t>
            </a:r>
            <a:r>
              <a:rPr baseline="30000" lang="en-GB"/>
              <a:t>2</a:t>
            </a:r>
            <a:endParaRPr/>
          </a:p>
        </p:txBody>
      </p:sp>
      <p:sp>
        <p:nvSpPr>
          <p:cNvPr id="1009" name="Google Shape;1009;p78"/>
          <p:cNvSpPr txBox="1"/>
          <p:nvPr>
            <p:ph idx="4" type="subTitle"/>
          </p:nvPr>
        </p:nvSpPr>
        <p:spPr>
          <a:xfrm>
            <a:off x="1034425" y="3766975"/>
            <a:ext cx="145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8</a:t>
            </a:r>
            <a:r>
              <a:rPr baseline="30000" lang="en-GB"/>
              <a:t>2</a:t>
            </a:r>
            <a:endParaRPr/>
          </a:p>
        </p:txBody>
      </p:sp>
      <p:pic>
        <p:nvPicPr>
          <p:cNvPr id="1010" name="Google Shape;101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358" y="18584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78"/>
          <p:cNvSpPr/>
          <p:nvPr/>
        </p:nvSpPr>
        <p:spPr>
          <a:xfrm>
            <a:off x="4328175" y="1617704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8"/>
          <p:cNvSpPr/>
          <p:nvPr/>
        </p:nvSpPr>
        <p:spPr>
          <a:xfrm>
            <a:off x="4946603" y="1617704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8"/>
          <p:cNvSpPr/>
          <p:nvPr/>
        </p:nvSpPr>
        <p:spPr>
          <a:xfrm>
            <a:off x="5565030" y="1617704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8"/>
          <p:cNvSpPr/>
          <p:nvPr/>
        </p:nvSpPr>
        <p:spPr>
          <a:xfrm>
            <a:off x="6183457" y="1617704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8"/>
          <p:cNvSpPr/>
          <p:nvPr/>
        </p:nvSpPr>
        <p:spPr>
          <a:xfrm>
            <a:off x="4328175" y="2236131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8"/>
          <p:cNvSpPr/>
          <p:nvPr/>
        </p:nvSpPr>
        <p:spPr>
          <a:xfrm>
            <a:off x="4946603" y="2236131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8"/>
          <p:cNvSpPr/>
          <p:nvPr/>
        </p:nvSpPr>
        <p:spPr>
          <a:xfrm>
            <a:off x="5565030" y="2236131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8"/>
          <p:cNvSpPr/>
          <p:nvPr/>
        </p:nvSpPr>
        <p:spPr>
          <a:xfrm>
            <a:off x="6183457" y="2236131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8"/>
          <p:cNvSpPr/>
          <p:nvPr/>
        </p:nvSpPr>
        <p:spPr>
          <a:xfrm>
            <a:off x="4328175" y="2854559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8"/>
          <p:cNvSpPr/>
          <p:nvPr/>
        </p:nvSpPr>
        <p:spPr>
          <a:xfrm>
            <a:off x="4946603" y="2854559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8"/>
          <p:cNvSpPr/>
          <p:nvPr/>
        </p:nvSpPr>
        <p:spPr>
          <a:xfrm>
            <a:off x="5565030" y="2854559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8"/>
          <p:cNvSpPr/>
          <p:nvPr/>
        </p:nvSpPr>
        <p:spPr>
          <a:xfrm>
            <a:off x="6183457" y="2854559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8"/>
          <p:cNvSpPr/>
          <p:nvPr/>
        </p:nvSpPr>
        <p:spPr>
          <a:xfrm>
            <a:off x="4328175" y="3472987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8"/>
          <p:cNvSpPr/>
          <p:nvPr/>
        </p:nvSpPr>
        <p:spPr>
          <a:xfrm>
            <a:off x="4946603" y="3472987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8"/>
          <p:cNvSpPr/>
          <p:nvPr/>
        </p:nvSpPr>
        <p:spPr>
          <a:xfrm>
            <a:off x="5565030" y="3472987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8"/>
          <p:cNvSpPr/>
          <p:nvPr/>
        </p:nvSpPr>
        <p:spPr>
          <a:xfrm>
            <a:off x="6183457" y="3472987"/>
            <a:ext cx="618600" cy="61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8"/>
          <p:cNvSpPr/>
          <p:nvPr/>
        </p:nvSpPr>
        <p:spPr>
          <a:xfrm>
            <a:off x="4339076" y="1617675"/>
            <a:ext cx="2462700" cy="2462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calculation would find the area of the circle?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9"/>
          <p:cNvSpPr txBox="1"/>
          <p:nvPr>
            <p:ph idx="1" type="subTitle"/>
          </p:nvPr>
        </p:nvSpPr>
        <p:spPr>
          <a:xfrm>
            <a:off x="1034425" y="1685375"/>
            <a:ext cx="1559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1</a:t>
            </a:r>
            <a:r>
              <a:rPr baseline="30000" lang="en-GB"/>
              <a:t>2</a:t>
            </a:r>
            <a:endParaRPr sz="2600"/>
          </a:p>
        </p:txBody>
      </p:sp>
      <p:sp>
        <p:nvSpPr>
          <p:cNvPr id="1034" name="Google Shape;1034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1035" name="Google Shape;1035;p7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calculation would find the area of the circle?</a:t>
            </a:r>
            <a:endParaRPr/>
          </a:p>
        </p:txBody>
      </p:sp>
      <p:sp>
        <p:nvSpPr>
          <p:cNvPr id="1036" name="Google Shape;1036;p79"/>
          <p:cNvSpPr txBox="1"/>
          <p:nvPr>
            <p:ph idx="3" type="subTitle"/>
          </p:nvPr>
        </p:nvSpPr>
        <p:spPr>
          <a:xfrm>
            <a:off x="1034425" y="2489443"/>
            <a:ext cx="1559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5</a:t>
            </a:r>
            <a:r>
              <a:rPr baseline="30000" lang="en-GB"/>
              <a:t>2</a:t>
            </a:r>
            <a:endParaRPr/>
          </a:p>
        </p:txBody>
      </p:sp>
      <p:sp>
        <p:nvSpPr>
          <p:cNvPr id="1037" name="Google Shape;1037;p79"/>
          <p:cNvSpPr txBox="1"/>
          <p:nvPr>
            <p:ph idx="4" type="subTitle"/>
          </p:nvPr>
        </p:nvSpPr>
        <p:spPr>
          <a:xfrm>
            <a:off x="1034425" y="3309758"/>
            <a:ext cx="1550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6</a:t>
            </a:r>
            <a:r>
              <a:rPr baseline="30000" lang="en-GB"/>
              <a:t>2</a:t>
            </a:r>
            <a:endParaRPr/>
          </a:p>
        </p:txBody>
      </p:sp>
      <p:pic>
        <p:nvPicPr>
          <p:cNvPr id="1038" name="Google Shape;103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633" y="249716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79"/>
          <p:cNvSpPr/>
          <p:nvPr/>
        </p:nvSpPr>
        <p:spPr>
          <a:xfrm>
            <a:off x="4716030" y="1975825"/>
            <a:ext cx="2324100" cy="2324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0" name="Google Shape;1040;p79"/>
          <p:cNvCxnSpPr/>
          <p:nvPr/>
        </p:nvCxnSpPr>
        <p:spPr>
          <a:xfrm rot="10800000">
            <a:off x="4328270" y="1646150"/>
            <a:ext cx="0" cy="304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1" name="Google Shape;1041;p79"/>
          <p:cNvCxnSpPr/>
          <p:nvPr/>
        </p:nvCxnSpPr>
        <p:spPr>
          <a:xfrm>
            <a:off x="4320655" y="4679025"/>
            <a:ext cx="2903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2" name="Google Shape;1042;p79"/>
          <p:cNvSpPr/>
          <p:nvPr/>
        </p:nvSpPr>
        <p:spPr>
          <a:xfrm>
            <a:off x="5830914" y="3102512"/>
            <a:ext cx="84900" cy="849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9"/>
          <p:cNvSpPr/>
          <p:nvPr/>
        </p:nvSpPr>
        <p:spPr>
          <a:xfrm>
            <a:off x="5830931" y="4277562"/>
            <a:ext cx="84900" cy="849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9"/>
          <p:cNvSpPr txBox="1"/>
          <p:nvPr>
            <p:ph idx="4294967295" type="body"/>
          </p:nvPr>
        </p:nvSpPr>
        <p:spPr>
          <a:xfrm>
            <a:off x="5964613" y="3073929"/>
            <a:ext cx="7659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(6, 6)</a:t>
            </a:r>
            <a:endParaRPr/>
          </a:p>
        </p:txBody>
      </p:sp>
      <p:sp>
        <p:nvSpPr>
          <p:cNvPr id="1045" name="Google Shape;1045;p79"/>
          <p:cNvSpPr txBox="1"/>
          <p:nvPr>
            <p:ph idx="4294967295" type="body"/>
          </p:nvPr>
        </p:nvSpPr>
        <p:spPr>
          <a:xfrm>
            <a:off x="5934564" y="4295411"/>
            <a:ext cx="7659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(6, 1)</a:t>
            </a:r>
            <a:endParaRPr/>
          </a:p>
        </p:txBody>
      </p:sp>
      <p:cxnSp>
        <p:nvCxnSpPr>
          <p:cNvPr id="1046" name="Google Shape;1046;p79"/>
          <p:cNvCxnSpPr>
            <a:endCxn id="1039" idx="4"/>
          </p:cNvCxnSpPr>
          <p:nvPr/>
        </p:nvCxnSpPr>
        <p:spPr>
          <a:xfrm>
            <a:off x="5874780" y="3207325"/>
            <a:ext cx="3300" cy="1092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7" name="Google Shape;1047;p79"/>
          <p:cNvSpPr txBox="1"/>
          <p:nvPr/>
        </p:nvSpPr>
        <p:spPr>
          <a:xfrm>
            <a:off x="4114819" y="1518500"/>
            <a:ext cx="366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" name="Google Shape;1048;p79"/>
          <p:cNvSpPr txBox="1"/>
          <p:nvPr>
            <p:ph idx="5" type="subTitle"/>
          </p:nvPr>
        </p:nvSpPr>
        <p:spPr>
          <a:xfrm>
            <a:off x="1034425" y="4113827"/>
            <a:ext cx="1559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/>
              <a:t>× 10</a:t>
            </a:r>
            <a:r>
              <a:rPr baseline="30000" lang="en-GB"/>
              <a:t>2</a:t>
            </a:r>
            <a:endParaRPr/>
          </a:p>
        </p:txBody>
      </p:sp>
      <p:sp>
        <p:nvSpPr>
          <p:cNvPr id="1049" name="Google Shape;1049;p79"/>
          <p:cNvSpPr txBox="1"/>
          <p:nvPr/>
        </p:nvSpPr>
        <p:spPr>
          <a:xfrm>
            <a:off x="7239019" y="4612220"/>
            <a:ext cx="366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0"/>
          <p:cNvSpPr/>
          <p:nvPr/>
        </p:nvSpPr>
        <p:spPr>
          <a:xfrm>
            <a:off x="7157835" y="3456128"/>
            <a:ext cx="853500" cy="42300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0"/>
          <p:cNvSpPr/>
          <p:nvPr/>
        </p:nvSpPr>
        <p:spPr>
          <a:xfrm>
            <a:off x="7166998" y="3459528"/>
            <a:ext cx="830400" cy="830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0"/>
          <p:cNvSpPr txBox="1"/>
          <p:nvPr>
            <p:ph idx="1" type="body"/>
          </p:nvPr>
        </p:nvSpPr>
        <p:spPr>
          <a:xfrm>
            <a:off x="324000" y="711675"/>
            <a:ext cx="8496000" cy="5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Find the area of each circle, giving your answers as decimals rounded to </a:t>
            </a:r>
            <a:br>
              <a:rPr lang="en-GB" sz="1800"/>
            </a:br>
            <a:r>
              <a:rPr lang="en-GB" sz="1800"/>
              <a:t>    3 significant figures. Diagrams are not drawn to scale.</a:t>
            </a:r>
            <a:endParaRPr sz="1800"/>
          </a:p>
        </p:txBody>
      </p:sp>
      <p:sp>
        <p:nvSpPr>
          <p:cNvPr id="1057" name="Google Shape;1057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1058" name="Google Shape;1058;p80"/>
          <p:cNvSpPr/>
          <p:nvPr/>
        </p:nvSpPr>
        <p:spPr>
          <a:xfrm>
            <a:off x="1100886" y="3232238"/>
            <a:ext cx="571800" cy="57180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0"/>
          <p:cNvSpPr/>
          <p:nvPr/>
        </p:nvSpPr>
        <p:spPr>
          <a:xfrm>
            <a:off x="540075" y="3233908"/>
            <a:ext cx="1122000" cy="11226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0" name="Google Shape;1060;p80"/>
          <p:cNvCxnSpPr/>
          <p:nvPr/>
        </p:nvCxnSpPr>
        <p:spPr>
          <a:xfrm>
            <a:off x="1768775" y="3233905"/>
            <a:ext cx="0" cy="58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1" name="Google Shape;1061;p80"/>
          <p:cNvSpPr txBox="1"/>
          <p:nvPr/>
        </p:nvSpPr>
        <p:spPr>
          <a:xfrm>
            <a:off x="1796346" y="3404569"/>
            <a:ext cx="9180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6.2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0"/>
          <p:cNvSpPr/>
          <p:nvPr/>
        </p:nvSpPr>
        <p:spPr>
          <a:xfrm>
            <a:off x="1083075" y="3776946"/>
            <a:ext cx="36000" cy="360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0"/>
          <p:cNvSpPr/>
          <p:nvPr/>
        </p:nvSpPr>
        <p:spPr>
          <a:xfrm>
            <a:off x="5046274" y="1575885"/>
            <a:ext cx="1073100" cy="1073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4" name="Google Shape;1064;p80"/>
          <p:cNvCxnSpPr>
            <a:endCxn id="1063" idx="3"/>
          </p:cNvCxnSpPr>
          <p:nvPr/>
        </p:nvCxnSpPr>
        <p:spPr>
          <a:xfrm flipH="1">
            <a:off x="5203426" y="2116489"/>
            <a:ext cx="369900" cy="37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5" name="Google Shape;1065;p80"/>
          <p:cNvSpPr txBox="1"/>
          <p:nvPr/>
        </p:nvSpPr>
        <p:spPr>
          <a:xfrm>
            <a:off x="5407177" y="2239697"/>
            <a:ext cx="6069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0"/>
          <p:cNvSpPr/>
          <p:nvPr/>
        </p:nvSpPr>
        <p:spPr>
          <a:xfrm>
            <a:off x="5565503" y="2095150"/>
            <a:ext cx="34500" cy="345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0"/>
          <p:cNvSpPr/>
          <p:nvPr/>
        </p:nvSpPr>
        <p:spPr>
          <a:xfrm rot="2768248">
            <a:off x="5006256" y="3394172"/>
            <a:ext cx="908316" cy="908316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0"/>
          <p:cNvSpPr/>
          <p:nvPr/>
        </p:nvSpPr>
        <p:spPr>
          <a:xfrm>
            <a:off x="5024723" y="3413598"/>
            <a:ext cx="889200" cy="889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0"/>
          <p:cNvSpPr txBox="1"/>
          <p:nvPr/>
        </p:nvSpPr>
        <p:spPr>
          <a:xfrm>
            <a:off x="5795727" y="4245752"/>
            <a:ext cx="502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0"/>
          <p:cNvSpPr/>
          <p:nvPr/>
        </p:nvSpPr>
        <p:spPr>
          <a:xfrm>
            <a:off x="5454920" y="3843821"/>
            <a:ext cx="28500" cy="285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0"/>
          <p:cNvSpPr/>
          <p:nvPr/>
        </p:nvSpPr>
        <p:spPr>
          <a:xfrm>
            <a:off x="3370212" y="3674519"/>
            <a:ext cx="26700" cy="267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2" name="Google Shape;1072;p80"/>
          <p:cNvGrpSpPr/>
          <p:nvPr/>
        </p:nvGrpSpPr>
        <p:grpSpPr>
          <a:xfrm rot="5400000">
            <a:off x="3087820" y="3547893"/>
            <a:ext cx="590461" cy="855016"/>
            <a:chOff x="5274852" y="2420160"/>
            <a:chExt cx="662100" cy="577909"/>
          </a:xfrm>
        </p:grpSpPr>
        <p:cxnSp>
          <p:nvCxnSpPr>
            <p:cNvPr id="1073" name="Google Shape;1073;p80"/>
            <p:cNvCxnSpPr/>
            <p:nvPr/>
          </p:nvCxnSpPr>
          <p:spPr>
            <a:xfrm rot="10800000">
              <a:off x="5274852" y="2998069"/>
              <a:ext cx="662100" cy="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74" name="Google Shape;1074;p80"/>
            <p:cNvCxnSpPr/>
            <p:nvPr/>
          </p:nvCxnSpPr>
          <p:spPr>
            <a:xfrm rot="10800000">
              <a:off x="5274852" y="2420160"/>
              <a:ext cx="662100" cy="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075" name="Google Shape;1075;p80"/>
          <p:cNvSpPr/>
          <p:nvPr/>
        </p:nvSpPr>
        <p:spPr>
          <a:xfrm>
            <a:off x="2967717" y="3272008"/>
            <a:ext cx="831900" cy="832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6" name="Google Shape;1076;p80"/>
          <p:cNvCxnSpPr/>
          <p:nvPr/>
        </p:nvCxnSpPr>
        <p:spPr>
          <a:xfrm>
            <a:off x="2960172" y="4280319"/>
            <a:ext cx="842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7" name="Google Shape;1077;p80"/>
          <p:cNvSpPr txBox="1"/>
          <p:nvPr/>
        </p:nvSpPr>
        <p:spPr>
          <a:xfrm>
            <a:off x="3074025" y="4288513"/>
            <a:ext cx="727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8.4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0"/>
          <p:cNvSpPr txBox="1"/>
          <p:nvPr/>
        </p:nvSpPr>
        <p:spPr>
          <a:xfrm>
            <a:off x="580019" y="1504870"/>
            <a:ext cx="14805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circle with radius 6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0"/>
          <p:cNvSpPr txBox="1"/>
          <p:nvPr/>
        </p:nvSpPr>
        <p:spPr>
          <a:xfrm>
            <a:off x="2924907" y="1504870"/>
            <a:ext cx="15270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circle with diameter 6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0" name="Google Shape;1080;p80"/>
          <p:cNvCxnSpPr/>
          <p:nvPr/>
        </p:nvCxnSpPr>
        <p:spPr>
          <a:xfrm>
            <a:off x="7153543" y="3404560"/>
            <a:ext cx="86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1" name="Google Shape;1081;p80"/>
          <p:cNvSpPr txBox="1"/>
          <p:nvPr/>
        </p:nvSpPr>
        <p:spPr>
          <a:xfrm>
            <a:off x="8135672" y="3544806"/>
            <a:ext cx="7731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0"/>
          <p:cNvSpPr/>
          <p:nvPr/>
        </p:nvSpPr>
        <p:spPr>
          <a:xfrm>
            <a:off x="7568686" y="3861244"/>
            <a:ext cx="26700" cy="267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3" name="Google Shape;1083;p80"/>
          <p:cNvCxnSpPr/>
          <p:nvPr/>
        </p:nvCxnSpPr>
        <p:spPr>
          <a:xfrm rot="10800000">
            <a:off x="8078161" y="3459390"/>
            <a:ext cx="0" cy="41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4" name="Google Shape;1084;p80"/>
          <p:cNvSpPr txBox="1"/>
          <p:nvPr/>
        </p:nvSpPr>
        <p:spPr>
          <a:xfrm>
            <a:off x="7239634" y="3150105"/>
            <a:ext cx="7731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0"/>
          <p:cNvSpPr txBox="1"/>
          <p:nvPr/>
        </p:nvSpPr>
        <p:spPr>
          <a:xfrm>
            <a:off x="308124" y="149448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0"/>
          <p:cNvSpPr txBox="1"/>
          <p:nvPr/>
        </p:nvSpPr>
        <p:spPr>
          <a:xfrm>
            <a:off x="6785124" y="149448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0"/>
          <p:cNvSpPr txBox="1"/>
          <p:nvPr/>
        </p:nvSpPr>
        <p:spPr>
          <a:xfrm>
            <a:off x="4702324" y="149448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0"/>
          <p:cNvSpPr txBox="1"/>
          <p:nvPr/>
        </p:nvSpPr>
        <p:spPr>
          <a:xfrm>
            <a:off x="2619524" y="149448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0"/>
          <p:cNvSpPr txBox="1"/>
          <p:nvPr/>
        </p:nvSpPr>
        <p:spPr>
          <a:xfrm>
            <a:off x="308124" y="316326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0"/>
          <p:cNvSpPr txBox="1"/>
          <p:nvPr/>
        </p:nvSpPr>
        <p:spPr>
          <a:xfrm>
            <a:off x="6785124" y="316326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0"/>
          <p:cNvSpPr txBox="1"/>
          <p:nvPr/>
        </p:nvSpPr>
        <p:spPr>
          <a:xfrm>
            <a:off x="4702324" y="316326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0"/>
          <p:cNvSpPr txBox="1"/>
          <p:nvPr/>
        </p:nvSpPr>
        <p:spPr>
          <a:xfrm>
            <a:off x="2619524" y="316326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0"/>
          <p:cNvSpPr/>
          <p:nvPr/>
        </p:nvSpPr>
        <p:spPr>
          <a:xfrm>
            <a:off x="7042899" y="1571975"/>
            <a:ext cx="874200" cy="8748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4" name="Google Shape;1094;p80"/>
          <p:cNvCxnSpPr>
            <a:stCxn id="1093" idx="5"/>
            <a:endCxn id="1093" idx="1"/>
          </p:cNvCxnSpPr>
          <p:nvPr/>
        </p:nvCxnSpPr>
        <p:spPr>
          <a:xfrm rot="10800000">
            <a:off x="7170775" y="1700064"/>
            <a:ext cx="618300" cy="61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5" name="Google Shape;1095;p80"/>
          <p:cNvSpPr txBox="1"/>
          <p:nvPr/>
        </p:nvSpPr>
        <p:spPr>
          <a:xfrm rot="2700000">
            <a:off x="7247340" y="1839650"/>
            <a:ext cx="756039" cy="176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0"/>
          <p:cNvSpPr/>
          <p:nvPr/>
        </p:nvSpPr>
        <p:spPr>
          <a:xfrm>
            <a:off x="7466027" y="1995131"/>
            <a:ext cx="27900" cy="279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7" name="Google Shape;1097;p80"/>
          <p:cNvCxnSpPr/>
          <p:nvPr/>
        </p:nvCxnSpPr>
        <p:spPr>
          <a:xfrm flipH="1">
            <a:off x="5506500" y="3915000"/>
            <a:ext cx="636000" cy="63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1"/>
          <p:cNvSpPr txBox="1"/>
          <p:nvPr>
            <p:ph idx="1" type="body"/>
          </p:nvPr>
        </p:nvSpPr>
        <p:spPr>
          <a:xfrm>
            <a:off x="324000" y="639585"/>
            <a:ext cx="8496000" cy="55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Find the area of each circle, giving</a:t>
            </a:r>
            <a:r>
              <a:rPr lang="en-GB" sz="1800"/>
              <a:t> your answers in terms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.</a:t>
            </a:r>
            <a:endParaRPr sz="2400"/>
          </a:p>
        </p:txBody>
      </p:sp>
      <p:sp>
        <p:nvSpPr>
          <p:cNvPr id="1103" name="Google Shape;1103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1104" name="Google Shape;1104;p81"/>
          <p:cNvSpPr txBox="1"/>
          <p:nvPr/>
        </p:nvSpPr>
        <p:spPr>
          <a:xfrm>
            <a:off x="580025" y="1156550"/>
            <a:ext cx="41379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distance from the centre of a circle to the circumference is 12 cm.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1"/>
          <p:cNvSpPr txBox="1"/>
          <p:nvPr/>
        </p:nvSpPr>
        <p:spPr>
          <a:xfrm>
            <a:off x="308124" y="1154867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1"/>
          <p:cNvSpPr txBox="1"/>
          <p:nvPr/>
        </p:nvSpPr>
        <p:spPr>
          <a:xfrm>
            <a:off x="5554675" y="1156550"/>
            <a:ext cx="32652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great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est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distance across a circle is 12 cm.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1"/>
          <p:cNvSpPr txBox="1"/>
          <p:nvPr/>
        </p:nvSpPr>
        <p:spPr>
          <a:xfrm>
            <a:off x="5282771" y="1154867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1"/>
          <p:cNvSpPr txBox="1"/>
          <p:nvPr/>
        </p:nvSpPr>
        <p:spPr>
          <a:xfrm>
            <a:off x="308124" y="2496336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1"/>
          <p:cNvSpPr txBox="1"/>
          <p:nvPr/>
        </p:nvSpPr>
        <p:spPr>
          <a:xfrm>
            <a:off x="3056735" y="2496336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1"/>
          <p:cNvSpPr txBox="1"/>
          <p:nvPr/>
        </p:nvSpPr>
        <p:spPr>
          <a:xfrm>
            <a:off x="6110147" y="2496336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1" name="Google Shape;1111;p81"/>
          <p:cNvGrpSpPr/>
          <p:nvPr/>
        </p:nvGrpSpPr>
        <p:grpSpPr>
          <a:xfrm>
            <a:off x="3493966" y="2495554"/>
            <a:ext cx="2263669" cy="1971600"/>
            <a:chOff x="3417766" y="2495554"/>
            <a:chExt cx="2263669" cy="1971600"/>
          </a:xfrm>
        </p:grpSpPr>
        <p:sp>
          <p:nvSpPr>
            <p:cNvPr id="1112" name="Google Shape;1112;p81"/>
            <p:cNvSpPr/>
            <p:nvPr/>
          </p:nvSpPr>
          <p:spPr>
            <a:xfrm>
              <a:off x="4148789" y="3046500"/>
              <a:ext cx="1089300" cy="10893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3" name="Google Shape;1113;p81"/>
            <p:cNvCxnSpPr/>
            <p:nvPr/>
          </p:nvCxnSpPr>
          <p:spPr>
            <a:xfrm rot="10800000">
              <a:off x="3560518" y="2580675"/>
              <a:ext cx="0" cy="1708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14" name="Google Shape;1114;p81"/>
            <p:cNvCxnSpPr/>
            <p:nvPr/>
          </p:nvCxnSpPr>
          <p:spPr>
            <a:xfrm>
              <a:off x="3555425" y="4284891"/>
              <a:ext cx="1941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5" name="Google Shape;1115;p81"/>
            <p:cNvSpPr txBox="1"/>
            <p:nvPr/>
          </p:nvSpPr>
          <p:spPr>
            <a:xfrm>
              <a:off x="3417766" y="2495554"/>
              <a:ext cx="244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6" name="Google Shape;1116;p81"/>
            <p:cNvSpPr/>
            <p:nvPr/>
          </p:nvSpPr>
          <p:spPr>
            <a:xfrm>
              <a:off x="5218688" y="3574613"/>
              <a:ext cx="39600" cy="396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81"/>
            <p:cNvSpPr/>
            <p:nvPr/>
          </p:nvSpPr>
          <p:spPr>
            <a:xfrm>
              <a:off x="4130363" y="3574613"/>
              <a:ext cx="39600" cy="396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8" name="Google Shape;1118;p81"/>
            <p:cNvCxnSpPr>
              <a:stCxn id="1117" idx="6"/>
              <a:endCxn id="1116" idx="2"/>
            </p:cNvCxnSpPr>
            <p:nvPr/>
          </p:nvCxnSpPr>
          <p:spPr>
            <a:xfrm>
              <a:off x="4169963" y="3594413"/>
              <a:ext cx="104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119" name="Google Shape;1119;p81"/>
            <p:cNvSpPr/>
            <p:nvPr/>
          </p:nvSpPr>
          <p:spPr>
            <a:xfrm>
              <a:off x="4671371" y="3574613"/>
              <a:ext cx="39600" cy="39600"/>
            </a:xfrm>
            <a:prstGeom prst="ellipse">
              <a:avLst/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0" name="Google Shape;1120;p81"/>
            <p:cNvSpPr txBox="1"/>
            <p:nvPr/>
          </p:nvSpPr>
          <p:spPr>
            <a:xfrm>
              <a:off x="5436636" y="4248154"/>
              <a:ext cx="244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21" name="Google Shape;1121;p81"/>
          <p:cNvGrpSpPr/>
          <p:nvPr/>
        </p:nvGrpSpPr>
        <p:grpSpPr>
          <a:xfrm>
            <a:off x="798348" y="2585425"/>
            <a:ext cx="1734676" cy="1734680"/>
            <a:chOff x="569748" y="2585425"/>
            <a:chExt cx="1734676" cy="1734680"/>
          </a:xfrm>
        </p:grpSpPr>
        <p:sp>
          <p:nvSpPr>
            <p:cNvPr id="1122" name="Google Shape;1122;p81"/>
            <p:cNvSpPr/>
            <p:nvPr/>
          </p:nvSpPr>
          <p:spPr>
            <a:xfrm>
              <a:off x="569748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3" name="Google Shape;1123;p81"/>
            <p:cNvSpPr/>
            <p:nvPr/>
          </p:nvSpPr>
          <p:spPr>
            <a:xfrm>
              <a:off x="858843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4" name="Google Shape;1124;p81"/>
            <p:cNvSpPr/>
            <p:nvPr/>
          </p:nvSpPr>
          <p:spPr>
            <a:xfrm>
              <a:off x="1147938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81"/>
            <p:cNvSpPr/>
            <p:nvPr/>
          </p:nvSpPr>
          <p:spPr>
            <a:xfrm>
              <a:off x="1437034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81"/>
            <p:cNvSpPr/>
            <p:nvPr/>
          </p:nvSpPr>
          <p:spPr>
            <a:xfrm>
              <a:off x="569748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81"/>
            <p:cNvSpPr/>
            <p:nvPr/>
          </p:nvSpPr>
          <p:spPr>
            <a:xfrm>
              <a:off x="858843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81"/>
            <p:cNvSpPr/>
            <p:nvPr/>
          </p:nvSpPr>
          <p:spPr>
            <a:xfrm>
              <a:off x="1147938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81"/>
            <p:cNvSpPr/>
            <p:nvPr/>
          </p:nvSpPr>
          <p:spPr>
            <a:xfrm>
              <a:off x="1437034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81"/>
            <p:cNvSpPr/>
            <p:nvPr/>
          </p:nvSpPr>
          <p:spPr>
            <a:xfrm>
              <a:off x="569748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81"/>
            <p:cNvSpPr/>
            <p:nvPr/>
          </p:nvSpPr>
          <p:spPr>
            <a:xfrm>
              <a:off x="858843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81"/>
            <p:cNvSpPr/>
            <p:nvPr/>
          </p:nvSpPr>
          <p:spPr>
            <a:xfrm>
              <a:off x="1147938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81"/>
            <p:cNvSpPr/>
            <p:nvPr/>
          </p:nvSpPr>
          <p:spPr>
            <a:xfrm>
              <a:off x="1437034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81"/>
            <p:cNvSpPr/>
            <p:nvPr/>
          </p:nvSpPr>
          <p:spPr>
            <a:xfrm>
              <a:off x="569748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81"/>
            <p:cNvSpPr/>
            <p:nvPr/>
          </p:nvSpPr>
          <p:spPr>
            <a:xfrm>
              <a:off x="858843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81"/>
            <p:cNvSpPr/>
            <p:nvPr/>
          </p:nvSpPr>
          <p:spPr>
            <a:xfrm>
              <a:off x="1147938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81"/>
            <p:cNvSpPr/>
            <p:nvPr/>
          </p:nvSpPr>
          <p:spPr>
            <a:xfrm>
              <a:off x="1437034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81"/>
            <p:cNvSpPr/>
            <p:nvPr/>
          </p:nvSpPr>
          <p:spPr>
            <a:xfrm>
              <a:off x="1726129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81"/>
            <p:cNvSpPr/>
            <p:nvPr/>
          </p:nvSpPr>
          <p:spPr>
            <a:xfrm>
              <a:off x="1726129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0" name="Google Shape;1140;p81"/>
            <p:cNvSpPr/>
            <p:nvPr/>
          </p:nvSpPr>
          <p:spPr>
            <a:xfrm>
              <a:off x="1726129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1" name="Google Shape;1141;p81"/>
            <p:cNvSpPr/>
            <p:nvPr/>
          </p:nvSpPr>
          <p:spPr>
            <a:xfrm>
              <a:off x="1726129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2" name="Google Shape;1142;p81"/>
            <p:cNvSpPr/>
            <p:nvPr/>
          </p:nvSpPr>
          <p:spPr>
            <a:xfrm>
              <a:off x="2015224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3" name="Google Shape;1143;p81"/>
            <p:cNvSpPr/>
            <p:nvPr/>
          </p:nvSpPr>
          <p:spPr>
            <a:xfrm>
              <a:off x="2015224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4" name="Google Shape;1144;p81"/>
            <p:cNvSpPr/>
            <p:nvPr/>
          </p:nvSpPr>
          <p:spPr>
            <a:xfrm>
              <a:off x="2015224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5" name="Google Shape;1145;p81"/>
            <p:cNvSpPr/>
            <p:nvPr/>
          </p:nvSpPr>
          <p:spPr>
            <a:xfrm>
              <a:off x="2015224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81"/>
            <p:cNvSpPr/>
            <p:nvPr/>
          </p:nvSpPr>
          <p:spPr>
            <a:xfrm>
              <a:off x="569748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81"/>
            <p:cNvSpPr/>
            <p:nvPr/>
          </p:nvSpPr>
          <p:spPr>
            <a:xfrm>
              <a:off x="858843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8" name="Google Shape;1148;p81"/>
            <p:cNvSpPr/>
            <p:nvPr/>
          </p:nvSpPr>
          <p:spPr>
            <a:xfrm>
              <a:off x="1147938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9" name="Google Shape;1149;p81"/>
            <p:cNvSpPr/>
            <p:nvPr/>
          </p:nvSpPr>
          <p:spPr>
            <a:xfrm>
              <a:off x="1437034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81"/>
            <p:cNvSpPr/>
            <p:nvPr/>
          </p:nvSpPr>
          <p:spPr>
            <a:xfrm>
              <a:off x="569748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1" name="Google Shape;1151;p81"/>
            <p:cNvSpPr/>
            <p:nvPr/>
          </p:nvSpPr>
          <p:spPr>
            <a:xfrm>
              <a:off x="858843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2" name="Google Shape;1152;p81"/>
            <p:cNvSpPr/>
            <p:nvPr/>
          </p:nvSpPr>
          <p:spPr>
            <a:xfrm>
              <a:off x="1147938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3" name="Google Shape;1153;p81"/>
            <p:cNvSpPr/>
            <p:nvPr/>
          </p:nvSpPr>
          <p:spPr>
            <a:xfrm>
              <a:off x="1437034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4" name="Google Shape;1154;p81"/>
            <p:cNvSpPr/>
            <p:nvPr/>
          </p:nvSpPr>
          <p:spPr>
            <a:xfrm>
              <a:off x="1726129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5" name="Google Shape;1155;p81"/>
            <p:cNvSpPr/>
            <p:nvPr/>
          </p:nvSpPr>
          <p:spPr>
            <a:xfrm>
              <a:off x="1726129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81"/>
            <p:cNvSpPr/>
            <p:nvPr/>
          </p:nvSpPr>
          <p:spPr>
            <a:xfrm>
              <a:off x="2015224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7" name="Google Shape;1157;p81"/>
            <p:cNvSpPr/>
            <p:nvPr/>
          </p:nvSpPr>
          <p:spPr>
            <a:xfrm>
              <a:off x="2015224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81"/>
            <p:cNvSpPr/>
            <p:nvPr/>
          </p:nvSpPr>
          <p:spPr>
            <a:xfrm>
              <a:off x="574845" y="2585425"/>
              <a:ext cx="1729500" cy="17295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9" name="Google Shape;1159;p81"/>
            <p:cNvSpPr/>
            <p:nvPr/>
          </p:nvSpPr>
          <p:spPr>
            <a:xfrm>
              <a:off x="1404840" y="3420032"/>
              <a:ext cx="63300" cy="633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81"/>
          <p:cNvGrpSpPr/>
          <p:nvPr/>
        </p:nvGrpSpPr>
        <p:grpSpPr>
          <a:xfrm>
            <a:off x="6561600" y="2571750"/>
            <a:ext cx="1795475" cy="1748350"/>
            <a:chOff x="6409200" y="2571750"/>
            <a:chExt cx="1795475" cy="1748350"/>
          </a:xfrm>
        </p:grpSpPr>
        <p:pic>
          <p:nvPicPr>
            <p:cNvPr id="1161" name="Google Shape;1161;p81"/>
            <p:cNvPicPr preferRelativeResize="0"/>
            <p:nvPr/>
          </p:nvPicPr>
          <p:blipFill rotWithShape="1">
            <a:blip r:embed="rId3">
              <a:alphaModFix/>
            </a:blip>
            <a:srcRect b="0" l="456" r="386" t="0"/>
            <a:stretch/>
          </p:blipFill>
          <p:spPr>
            <a:xfrm>
              <a:off x="6409200" y="2571750"/>
              <a:ext cx="1795475" cy="1748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81"/>
            <p:cNvSpPr/>
            <p:nvPr/>
          </p:nvSpPr>
          <p:spPr>
            <a:xfrm>
              <a:off x="7287133" y="3426113"/>
              <a:ext cx="39600" cy="39600"/>
            </a:xfrm>
            <a:prstGeom prst="ellipse">
              <a:avLst/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81"/>
            <p:cNvSpPr/>
            <p:nvPr/>
          </p:nvSpPr>
          <p:spPr>
            <a:xfrm>
              <a:off x="6618235" y="2757905"/>
              <a:ext cx="1372200" cy="13722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4" name="Google Shape;1164;p81"/>
          <p:cNvSpPr txBox="1"/>
          <p:nvPr>
            <p:ph idx="4294967295" type="body"/>
          </p:nvPr>
        </p:nvSpPr>
        <p:spPr>
          <a:xfrm>
            <a:off x="567800" y="4574200"/>
            <a:ext cx="24096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</a:t>
            </a:r>
            <a:r>
              <a:rPr lang="en-GB" sz="1800" u="sng"/>
              <a:t>          </a:t>
            </a:r>
            <a:r>
              <a:rPr lang="en-GB" sz="1800"/>
              <a:t> units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165" name="Google Shape;1165;p81"/>
          <p:cNvSpPr txBox="1"/>
          <p:nvPr>
            <p:ph idx="4294967295" type="body"/>
          </p:nvPr>
        </p:nvSpPr>
        <p:spPr>
          <a:xfrm>
            <a:off x="3539600" y="4574200"/>
            <a:ext cx="24945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</a:t>
            </a:r>
            <a:r>
              <a:rPr lang="en-GB" sz="1800" u="sng"/>
              <a:t>          </a:t>
            </a:r>
            <a:r>
              <a:rPr lang="en-GB" sz="1800"/>
              <a:t> units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166" name="Google Shape;1166;p81"/>
          <p:cNvSpPr txBox="1"/>
          <p:nvPr>
            <p:ph idx="4294967295" type="body"/>
          </p:nvPr>
        </p:nvSpPr>
        <p:spPr>
          <a:xfrm>
            <a:off x="6359000" y="4574200"/>
            <a:ext cx="22713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</a:t>
            </a:r>
            <a:r>
              <a:rPr lang="en-GB" sz="1800" u="sng"/>
              <a:t>          </a:t>
            </a:r>
            <a:r>
              <a:rPr lang="en-GB" sz="1800"/>
              <a:t> units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167" name="Google Shape;1167;p81"/>
          <p:cNvSpPr txBox="1"/>
          <p:nvPr>
            <p:ph idx="4294967295" type="body"/>
          </p:nvPr>
        </p:nvSpPr>
        <p:spPr>
          <a:xfrm>
            <a:off x="567800" y="1857148"/>
            <a:ext cx="19812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</a:t>
            </a:r>
            <a:r>
              <a:rPr lang="en-GB" sz="1800" u="sng"/>
              <a:t>          </a:t>
            </a:r>
            <a:r>
              <a:rPr lang="en-GB" sz="1800"/>
              <a:t> cm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168" name="Google Shape;1168;p81"/>
          <p:cNvSpPr txBox="1"/>
          <p:nvPr>
            <p:ph idx="4294967295" type="body"/>
          </p:nvPr>
        </p:nvSpPr>
        <p:spPr>
          <a:xfrm>
            <a:off x="5551280" y="1864768"/>
            <a:ext cx="19812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</a:t>
            </a:r>
            <a:r>
              <a:rPr lang="en-GB" sz="1800" u="sng"/>
              <a:t>          </a:t>
            </a:r>
            <a:r>
              <a:rPr lang="en-GB" sz="1800"/>
              <a:t> cm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169" name="Google Shape;1169;p81"/>
          <p:cNvSpPr txBox="1"/>
          <p:nvPr>
            <p:ph idx="4294967295" type="body"/>
          </p:nvPr>
        </p:nvSpPr>
        <p:spPr>
          <a:xfrm>
            <a:off x="3677900" y="3355003"/>
            <a:ext cx="6255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(4, 4)</a:t>
            </a:r>
            <a:endParaRPr sz="1600"/>
          </a:p>
        </p:txBody>
      </p:sp>
      <p:sp>
        <p:nvSpPr>
          <p:cNvPr id="1170" name="Google Shape;1170;p81"/>
          <p:cNvSpPr txBox="1"/>
          <p:nvPr>
            <p:ph idx="4294967295" type="body"/>
          </p:nvPr>
        </p:nvSpPr>
        <p:spPr>
          <a:xfrm>
            <a:off x="5346206" y="3343379"/>
            <a:ext cx="6255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(14, 4)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2"/>
          <p:cNvSpPr/>
          <p:nvPr/>
        </p:nvSpPr>
        <p:spPr>
          <a:xfrm>
            <a:off x="7157835" y="3456128"/>
            <a:ext cx="853500" cy="42300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2"/>
          <p:cNvSpPr/>
          <p:nvPr/>
        </p:nvSpPr>
        <p:spPr>
          <a:xfrm>
            <a:off x="7166998" y="3459528"/>
            <a:ext cx="830400" cy="830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2"/>
          <p:cNvSpPr txBox="1"/>
          <p:nvPr>
            <p:ph idx="1" type="body"/>
          </p:nvPr>
        </p:nvSpPr>
        <p:spPr>
          <a:xfrm>
            <a:off x="324000" y="698379"/>
            <a:ext cx="8584800" cy="6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Find the area of each circle, giving your answers as decimals rounded to </a:t>
            </a:r>
            <a:br>
              <a:rPr lang="en-GB" sz="1800"/>
            </a:br>
            <a:r>
              <a:rPr lang="en-GB" sz="1800"/>
              <a:t>    3 significant figures. Diagrams are not drawn to scale.</a:t>
            </a:r>
            <a:endParaRPr sz="2400"/>
          </a:p>
        </p:txBody>
      </p:sp>
      <p:sp>
        <p:nvSpPr>
          <p:cNvPr id="1178" name="Google Shape;1178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1179" name="Google Shape;1179;p82"/>
          <p:cNvSpPr/>
          <p:nvPr/>
        </p:nvSpPr>
        <p:spPr>
          <a:xfrm>
            <a:off x="1100886" y="3232238"/>
            <a:ext cx="571800" cy="571800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2"/>
          <p:cNvSpPr/>
          <p:nvPr/>
        </p:nvSpPr>
        <p:spPr>
          <a:xfrm>
            <a:off x="540075" y="3233908"/>
            <a:ext cx="1122000" cy="11226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1" name="Google Shape;1181;p82"/>
          <p:cNvCxnSpPr/>
          <p:nvPr/>
        </p:nvCxnSpPr>
        <p:spPr>
          <a:xfrm>
            <a:off x="1768775" y="3233905"/>
            <a:ext cx="0" cy="58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2" name="Google Shape;1182;p82"/>
          <p:cNvSpPr txBox="1"/>
          <p:nvPr/>
        </p:nvSpPr>
        <p:spPr>
          <a:xfrm>
            <a:off x="1796346" y="3404569"/>
            <a:ext cx="9180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2"/>
          <p:cNvSpPr/>
          <p:nvPr/>
        </p:nvSpPr>
        <p:spPr>
          <a:xfrm>
            <a:off x="1083075" y="3776946"/>
            <a:ext cx="36000" cy="360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2"/>
          <p:cNvSpPr/>
          <p:nvPr/>
        </p:nvSpPr>
        <p:spPr>
          <a:xfrm>
            <a:off x="5122474" y="1423485"/>
            <a:ext cx="1073100" cy="1073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5" name="Google Shape;1185;p82"/>
          <p:cNvCxnSpPr>
            <a:endCxn id="1184" idx="3"/>
          </p:cNvCxnSpPr>
          <p:nvPr/>
        </p:nvCxnSpPr>
        <p:spPr>
          <a:xfrm flipH="1">
            <a:off x="5279626" y="1964089"/>
            <a:ext cx="369900" cy="37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6" name="Google Shape;1186;p82"/>
          <p:cNvSpPr txBox="1"/>
          <p:nvPr/>
        </p:nvSpPr>
        <p:spPr>
          <a:xfrm>
            <a:off x="5483377" y="2087297"/>
            <a:ext cx="6069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2"/>
          <p:cNvSpPr/>
          <p:nvPr/>
        </p:nvSpPr>
        <p:spPr>
          <a:xfrm>
            <a:off x="5641703" y="1942750"/>
            <a:ext cx="34500" cy="345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2"/>
          <p:cNvSpPr/>
          <p:nvPr/>
        </p:nvSpPr>
        <p:spPr>
          <a:xfrm>
            <a:off x="7271499" y="1495775"/>
            <a:ext cx="874200" cy="8748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9" name="Google Shape;1189;p82"/>
          <p:cNvCxnSpPr>
            <a:stCxn id="1188" idx="5"/>
            <a:endCxn id="1188" idx="1"/>
          </p:cNvCxnSpPr>
          <p:nvPr/>
        </p:nvCxnSpPr>
        <p:spPr>
          <a:xfrm rot="10800000">
            <a:off x="7399375" y="1623864"/>
            <a:ext cx="618300" cy="61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0" name="Google Shape;1190;p82"/>
          <p:cNvSpPr txBox="1"/>
          <p:nvPr/>
        </p:nvSpPr>
        <p:spPr>
          <a:xfrm rot="2700000">
            <a:off x="7475940" y="1763450"/>
            <a:ext cx="756039" cy="176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2"/>
          <p:cNvSpPr/>
          <p:nvPr/>
        </p:nvSpPr>
        <p:spPr>
          <a:xfrm>
            <a:off x="7694627" y="1918931"/>
            <a:ext cx="27900" cy="279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2"/>
          <p:cNvSpPr/>
          <p:nvPr/>
        </p:nvSpPr>
        <p:spPr>
          <a:xfrm rot="2768248">
            <a:off x="5006256" y="3394172"/>
            <a:ext cx="908316" cy="908316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2"/>
          <p:cNvSpPr/>
          <p:nvPr/>
        </p:nvSpPr>
        <p:spPr>
          <a:xfrm>
            <a:off x="5024723" y="3413598"/>
            <a:ext cx="889200" cy="889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2"/>
          <p:cNvSpPr txBox="1"/>
          <p:nvPr/>
        </p:nvSpPr>
        <p:spPr>
          <a:xfrm>
            <a:off x="5795727" y="4245752"/>
            <a:ext cx="502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2"/>
          <p:cNvSpPr/>
          <p:nvPr/>
        </p:nvSpPr>
        <p:spPr>
          <a:xfrm>
            <a:off x="5454920" y="3843821"/>
            <a:ext cx="28500" cy="285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2"/>
          <p:cNvSpPr/>
          <p:nvPr/>
        </p:nvSpPr>
        <p:spPr>
          <a:xfrm>
            <a:off x="3370212" y="3674519"/>
            <a:ext cx="26700" cy="267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7" name="Google Shape;1197;p82"/>
          <p:cNvGrpSpPr/>
          <p:nvPr/>
        </p:nvGrpSpPr>
        <p:grpSpPr>
          <a:xfrm rot="5400000">
            <a:off x="3087820" y="3547893"/>
            <a:ext cx="590461" cy="855016"/>
            <a:chOff x="5274852" y="2420160"/>
            <a:chExt cx="662100" cy="577909"/>
          </a:xfrm>
        </p:grpSpPr>
        <p:cxnSp>
          <p:nvCxnSpPr>
            <p:cNvPr id="1198" name="Google Shape;1198;p82"/>
            <p:cNvCxnSpPr/>
            <p:nvPr/>
          </p:nvCxnSpPr>
          <p:spPr>
            <a:xfrm rot="10800000">
              <a:off x="5274852" y="2998069"/>
              <a:ext cx="662100" cy="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99" name="Google Shape;1199;p82"/>
            <p:cNvCxnSpPr/>
            <p:nvPr/>
          </p:nvCxnSpPr>
          <p:spPr>
            <a:xfrm rot="10800000">
              <a:off x="5274852" y="2420160"/>
              <a:ext cx="662100" cy="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200" name="Google Shape;1200;p82"/>
          <p:cNvSpPr/>
          <p:nvPr/>
        </p:nvSpPr>
        <p:spPr>
          <a:xfrm>
            <a:off x="2967717" y="3272008"/>
            <a:ext cx="831900" cy="832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1" name="Google Shape;1201;p82"/>
          <p:cNvCxnSpPr/>
          <p:nvPr/>
        </p:nvCxnSpPr>
        <p:spPr>
          <a:xfrm>
            <a:off x="2960172" y="4280319"/>
            <a:ext cx="842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2" name="Google Shape;1202;p82"/>
          <p:cNvSpPr txBox="1"/>
          <p:nvPr/>
        </p:nvSpPr>
        <p:spPr>
          <a:xfrm>
            <a:off x="3074025" y="4288513"/>
            <a:ext cx="727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2"/>
          <p:cNvSpPr txBox="1"/>
          <p:nvPr/>
        </p:nvSpPr>
        <p:spPr>
          <a:xfrm>
            <a:off x="580019" y="1504870"/>
            <a:ext cx="14805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circle with radius 6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2"/>
          <p:cNvSpPr txBox="1"/>
          <p:nvPr/>
        </p:nvSpPr>
        <p:spPr>
          <a:xfrm>
            <a:off x="2924907" y="1504870"/>
            <a:ext cx="15270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circle with diameter 6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5" name="Google Shape;1205;p82"/>
          <p:cNvCxnSpPr/>
          <p:nvPr/>
        </p:nvCxnSpPr>
        <p:spPr>
          <a:xfrm>
            <a:off x="7153543" y="3404560"/>
            <a:ext cx="86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6" name="Google Shape;1206;p82"/>
          <p:cNvSpPr txBox="1"/>
          <p:nvPr/>
        </p:nvSpPr>
        <p:spPr>
          <a:xfrm>
            <a:off x="8135672" y="3544806"/>
            <a:ext cx="7731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2"/>
          <p:cNvSpPr/>
          <p:nvPr/>
        </p:nvSpPr>
        <p:spPr>
          <a:xfrm>
            <a:off x="7568686" y="3861244"/>
            <a:ext cx="26700" cy="267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8" name="Google Shape;1208;p82"/>
          <p:cNvCxnSpPr/>
          <p:nvPr/>
        </p:nvCxnSpPr>
        <p:spPr>
          <a:xfrm rot="10800000">
            <a:off x="8078161" y="3459390"/>
            <a:ext cx="0" cy="41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9" name="Google Shape;1209;p82"/>
          <p:cNvSpPr txBox="1"/>
          <p:nvPr/>
        </p:nvSpPr>
        <p:spPr>
          <a:xfrm>
            <a:off x="7239634" y="3150105"/>
            <a:ext cx="7731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2"/>
          <p:cNvSpPr txBox="1"/>
          <p:nvPr/>
        </p:nvSpPr>
        <p:spPr>
          <a:xfrm>
            <a:off x="308124" y="149448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2"/>
          <p:cNvSpPr txBox="1"/>
          <p:nvPr/>
        </p:nvSpPr>
        <p:spPr>
          <a:xfrm>
            <a:off x="6785124" y="149448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2"/>
          <p:cNvSpPr txBox="1"/>
          <p:nvPr/>
        </p:nvSpPr>
        <p:spPr>
          <a:xfrm>
            <a:off x="4702324" y="149448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2"/>
          <p:cNvSpPr txBox="1"/>
          <p:nvPr/>
        </p:nvSpPr>
        <p:spPr>
          <a:xfrm>
            <a:off x="2619524" y="149448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2"/>
          <p:cNvSpPr txBox="1"/>
          <p:nvPr/>
        </p:nvSpPr>
        <p:spPr>
          <a:xfrm>
            <a:off x="308124" y="316326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2"/>
          <p:cNvSpPr txBox="1"/>
          <p:nvPr/>
        </p:nvSpPr>
        <p:spPr>
          <a:xfrm>
            <a:off x="6785124" y="316326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2"/>
          <p:cNvSpPr txBox="1"/>
          <p:nvPr/>
        </p:nvSpPr>
        <p:spPr>
          <a:xfrm>
            <a:off x="4702324" y="316326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2"/>
          <p:cNvSpPr txBox="1"/>
          <p:nvPr/>
        </p:nvSpPr>
        <p:spPr>
          <a:xfrm>
            <a:off x="2619524" y="3163260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2"/>
          <p:cNvSpPr txBox="1"/>
          <p:nvPr/>
        </p:nvSpPr>
        <p:spPr>
          <a:xfrm>
            <a:off x="580025" y="2239700"/>
            <a:ext cx="1683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rea = 113 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9" name="Google Shape;1219;p82"/>
          <p:cNvSpPr txBox="1"/>
          <p:nvPr/>
        </p:nvSpPr>
        <p:spPr>
          <a:xfrm>
            <a:off x="2942225" y="2239700"/>
            <a:ext cx="1881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28.3 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0" name="Google Shape;1220;p82"/>
          <p:cNvSpPr txBox="1"/>
          <p:nvPr/>
        </p:nvSpPr>
        <p:spPr>
          <a:xfrm>
            <a:off x="4923425" y="2544500"/>
            <a:ext cx="1944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50.3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82"/>
          <p:cNvSpPr txBox="1"/>
          <p:nvPr/>
        </p:nvSpPr>
        <p:spPr>
          <a:xfrm>
            <a:off x="7022213" y="2508247"/>
            <a:ext cx="1881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380 mm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2" name="Google Shape;1222;p82"/>
          <p:cNvSpPr txBox="1"/>
          <p:nvPr/>
        </p:nvSpPr>
        <p:spPr>
          <a:xfrm>
            <a:off x="4734075" y="4594275"/>
            <a:ext cx="1944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63.6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3" name="Google Shape;1223;p82"/>
          <p:cNvSpPr txBox="1"/>
          <p:nvPr/>
        </p:nvSpPr>
        <p:spPr>
          <a:xfrm>
            <a:off x="6741175" y="4375550"/>
            <a:ext cx="1881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616 mm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4" name="Google Shape;1224;p82"/>
          <p:cNvSpPr txBox="1"/>
          <p:nvPr/>
        </p:nvSpPr>
        <p:spPr>
          <a:xfrm>
            <a:off x="2714349" y="4513925"/>
            <a:ext cx="1881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55.4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5" name="Google Shape;1225;p82"/>
          <p:cNvSpPr txBox="1"/>
          <p:nvPr/>
        </p:nvSpPr>
        <p:spPr>
          <a:xfrm>
            <a:off x="308125" y="4420225"/>
            <a:ext cx="18423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121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26" name="Google Shape;1226;p82"/>
          <p:cNvCxnSpPr/>
          <p:nvPr/>
        </p:nvCxnSpPr>
        <p:spPr>
          <a:xfrm flipH="1">
            <a:off x="5506500" y="3915000"/>
            <a:ext cx="636000" cy="63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p83"/>
          <p:cNvGrpSpPr/>
          <p:nvPr/>
        </p:nvGrpSpPr>
        <p:grpSpPr>
          <a:xfrm>
            <a:off x="3493966" y="2495554"/>
            <a:ext cx="2263669" cy="1971600"/>
            <a:chOff x="3417766" y="2495554"/>
            <a:chExt cx="2263669" cy="1971600"/>
          </a:xfrm>
        </p:grpSpPr>
        <p:sp>
          <p:nvSpPr>
            <p:cNvPr id="1232" name="Google Shape;1232;p83"/>
            <p:cNvSpPr/>
            <p:nvPr/>
          </p:nvSpPr>
          <p:spPr>
            <a:xfrm>
              <a:off x="4148789" y="3046500"/>
              <a:ext cx="1089300" cy="10893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33" name="Google Shape;1233;p83"/>
            <p:cNvCxnSpPr/>
            <p:nvPr/>
          </p:nvCxnSpPr>
          <p:spPr>
            <a:xfrm rot="10800000">
              <a:off x="3560518" y="2580675"/>
              <a:ext cx="0" cy="1708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34" name="Google Shape;1234;p83"/>
            <p:cNvCxnSpPr/>
            <p:nvPr/>
          </p:nvCxnSpPr>
          <p:spPr>
            <a:xfrm>
              <a:off x="3555425" y="4284891"/>
              <a:ext cx="1941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35" name="Google Shape;1235;p83"/>
            <p:cNvSpPr txBox="1"/>
            <p:nvPr/>
          </p:nvSpPr>
          <p:spPr>
            <a:xfrm>
              <a:off x="3417766" y="2495554"/>
              <a:ext cx="244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6" name="Google Shape;1236;p83"/>
            <p:cNvSpPr/>
            <p:nvPr/>
          </p:nvSpPr>
          <p:spPr>
            <a:xfrm>
              <a:off x="5218688" y="3574613"/>
              <a:ext cx="39600" cy="396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83"/>
            <p:cNvSpPr/>
            <p:nvPr/>
          </p:nvSpPr>
          <p:spPr>
            <a:xfrm>
              <a:off x="4130363" y="3574613"/>
              <a:ext cx="39600" cy="396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38" name="Google Shape;1238;p83"/>
            <p:cNvCxnSpPr>
              <a:stCxn id="1237" idx="6"/>
              <a:endCxn id="1236" idx="2"/>
            </p:cNvCxnSpPr>
            <p:nvPr/>
          </p:nvCxnSpPr>
          <p:spPr>
            <a:xfrm>
              <a:off x="4169963" y="3594413"/>
              <a:ext cx="104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39" name="Google Shape;1239;p83"/>
            <p:cNvSpPr/>
            <p:nvPr/>
          </p:nvSpPr>
          <p:spPr>
            <a:xfrm>
              <a:off x="4671371" y="3574613"/>
              <a:ext cx="39600" cy="39600"/>
            </a:xfrm>
            <a:prstGeom prst="ellipse">
              <a:avLst/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83"/>
            <p:cNvSpPr txBox="1"/>
            <p:nvPr/>
          </p:nvSpPr>
          <p:spPr>
            <a:xfrm>
              <a:off x="5436636" y="4248154"/>
              <a:ext cx="244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41" name="Google Shape;1241;p83"/>
          <p:cNvSpPr txBox="1"/>
          <p:nvPr>
            <p:ph idx="4294967295" type="body"/>
          </p:nvPr>
        </p:nvSpPr>
        <p:spPr>
          <a:xfrm>
            <a:off x="567800" y="4574200"/>
            <a:ext cx="24096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       units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242" name="Google Shape;1242;p83"/>
          <p:cNvSpPr txBox="1"/>
          <p:nvPr>
            <p:ph idx="4294967295" type="body"/>
          </p:nvPr>
        </p:nvSpPr>
        <p:spPr>
          <a:xfrm>
            <a:off x="3539600" y="4574200"/>
            <a:ext cx="24945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          units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243" name="Google Shape;1243;p83"/>
          <p:cNvSpPr txBox="1"/>
          <p:nvPr>
            <p:ph idx="4294967295" type="body"/>
          </p:nvPr>
        </p:nvSpPr>
        <p:spPr>
          <a:xfrm>
            <a:off x="567800" y="1857150"/>
            <a:ext cx="23193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            cm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244" name="Google Shape;1244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1245" name="Google Shape;1245;p83"/>
          <p:cNvSpPr txBox="1"/>
          <p:nvPr/>
        </p:nvSpPr>
        <p:spPr>
          <a:xfrm>
            <a:off x="1452501" y="1821135"/>
            <a:ext cx="567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144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6" name="Google Shape;1246;p83"/>
          <p:cNvSpPr txBox="1"/>
          <p:nvPr/>
        </p:nvSpPr>
        <p:spPr>
          <a:xfrm>
            <a:off x="6353258" y="1851080"/>
            <a:ext cx="567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7" name="Google Shape;1247;p83"/>
          <p:cNvSpPr txBox="1"/>
          <p:nvPr/>
        </p:nvSpPr>
        <p:spPr>
          <a:xfrm>
            <a:off x="1410605" y="4525700"/>
            <a:ext cx="567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8" name="Google Shape;1248;p83"/>
          <p:cNvSpPr txBox="1"/>
          <p:nvPr/>
        </p:nvSpPr>
        <p:spPr>
          <a:xfrm>
            <a:off x="4359545" y="4525700"/>
            <a:ext cx="567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9" name="Google Shape;1249;p83"/>
          <p:cNvSpPr txBox="1"/>
          <p:nvPr/>
        </p:nvSpPr>
        <p:spPr>
          <a:xfrm>
            <a:off x="7194185" y="4525700"/>
            <a:ext cx="567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0" name="Google Shape;1250;p83"/>
          <p:cNvSpPr txBox="1"/>
          <p:nvPr>
            <p:ph idx="1" type="body"/>
          </p:nvPr>
        </p:nvSpPr>
        <p:spPr>
          <a:xfrm>
            <a:off x="324000" y="639585"/>
            <a:ext cx="8496000" cy="55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Find the area of each circle, giving your answers in terms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800"/>
              <a:t>.</a:t>
            </a:r>
            <a:endParaRPr sz="2400"/>
          </a:p>
        </p:txBody>
      </p:sp>
      <p:sp>
        <p:nvSpPr>
          <p:cNvPr id="1251" name="Google Shape;1251;p83"/>
          <p:cNvSpPr txBox="1"/>
          <p:nvPr/>
        </p:nvSpPr>
        <p:spPr>
          <a:xfrm>
            <a:off x="580025" y="1156550"/>
            <a:ext cx="41472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distance from the centre of a circle to the circumference is 12 cm.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3"/>
          <p:cNvSpPr txBox="1"/>
          <p:nvPr/>
        </p:nvSpPr>
        <p:spPr>
          <a:xfrm>
            <a:off x="308124" y="1154867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3"/>
          <p:cNvSpPr txBox="1"/>
          <p:nvPr/>
        </p:nvSpPr>
        <p:spPr>
          <a:xfrm>
            <a:off x="5554675" y="1156550"/>
            <a:ext cx="32652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greatest distance across a circle is 12 cm.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3"/>
          <p:cNvSpPr txBox="1"/>
          <p:nvPr/>
        </p:nvSpPr>
        <p:spPr>
          <a:xfrm>
            <a:off x="5282771" y="1154867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3"/>
          <p:cNvSpPr txBox="1"/>
          <p:nvPr>
            <p:ph idx="4294967295" type="body"/>
          </p:nvPr>
        </p:nvSpPr>
        <p:spPr>
          <a:xfrm>
            <a:off x="5551273" y="1864775"/>
            <a:ext cx="27189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        cm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256" name="Google Shape;1256;p83"/>
          <p:cNvSpPr txBox="1"/>
          <p:nvPr/>
        </p:nvSpPr>
        <p:spPr>
          <a:xfrm>
            <a:off x="308124" y="2496336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3"/>
          <p:cNvSpPr txBox="1"/>
          <p:nvPr/>
        </p:nvSpPr>
        <p:spPr>
          <a:xfrm>
            <a:off x="3056735" y="2496336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83"/>
          <p:cNvSpPr txBox="1"/>
          <p:nvPr/>
        </p:nvSpPr>
        <p:spPr>
          <a:xfrm>
            <a:off x="6110147" y="2496336"/>
            <a:ext cx="24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9" name="Google Shape;1259;p83"/>
          <p:cNvGrpSpPr/>
          <p:nvPr/>
        </p:nvGrpSpPr>
        <p:grpSpPr>
          <a:xfrm>
            <a:off x="798348" y="2585425"/>
            <a:ext cx="1734676" cy="1734680"/>
            <a:chOff x="569748" y="2585425"/>
            <a:chExt cx="1734676" cy="1734680"/>
          </a:xfrm>
        </p:grpSpPr>
        <p:sp>
          <p:nvSpPr>
            <p:cNvPr id="1260" name="Google Shape;1260;p83"/>
            <p:cNvSpPr/>
            <p:nvPr/>
          </p:nvSpPr>
          <p:spPr>
            <a:xfrm>
              <a:off x="569748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1" name="Google Shape;1261;p83"/>
            <p:cNvSpPr/>
            <p:nvPr/>
          </p:nvSpPr>
          <p:spPr>
            <a:xfrm>
              <a:off x="858843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2" name="Google Shape;1262;p83"/>
            <p:cNvSpPr/>
            <p:nvPr/>
          </p:nvSpPr>
          <p:spPr>
            <a:xfrm>
              <a:off x="1147938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3" name="Google Shape;1263;p83"/>
            <p:cNvSpPr/>
            <p:nvPr/>
          </p:nvSpPr>
          <p:spPr>
            <a:xfrm>
              <a:off x="1437034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4" name="Google Shape;1264;p83"/>
            <p:cNvSpPr/>
            <p:nvPr/>
          </p:nvSpPr>
          <p:spPr>
            <a:xfrm>
              <a:off x="569748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5" name="Google Shape;1265;p83"/>
            <p:cNvSpPr/>
            <p:nvPr/>
          </p:nvSpPr>
          <p:spPr>
            <a:xfrm>
              <a:off x="858843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6" name="Google Shape;1266;p83"/>
            <p:cNvSpPr/>
            <p:nvPr/>
          </p:nvSpPr>
          <p:spPr>
            <a:xfrm>
              <a:off x="1147938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83"/>
            <p:cNvSpPr/>
            <p:nvPr/>
          </p:nvSpPr>
          <p:spPr>
            <a:xfrm>
              <a:off x="1437034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83"/>
            <p:cNvSpPr/>
            <p:nvPr/>
          </p:nvSpPr>
          <p:spPr>
            <a:xfrm>
              <a:off x="569748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83"/>
            <p:cNvSpPr/>
            <p:nvPr/>
          </p:nvSpPr>
          <p:spPr>
            <a:xfrm>
              <a:off x="858843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0" name="Google Shape;1270;p83"/>
            <p:cNvSpPr/>
            <p:nvPr/>
          </p:nvSpPr>
          <p:spPr>
            <a:xfrm>
              <a:off x="1147938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83"/>
            <p:cNvSpPr/>
            <p:nvPr/>
          </p:nvSpPr>
          <p:spPr>
            <a:xfrm>
              <a:off x="1437034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2" name="Google Shape;1272;p83"/>
            <p:cNvSpPr/>
            <p:nvPr/>
          </p:nvSpPr>
          <p:spPr>
            <a:xfrm>
              <a:off x="569748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3" name="Google Shape;1273;p83"/>
            <p:cNvSpPr/>
            <p:nvPr/>
          </p:nvSpPr>
          <p:spPr>
            <a:xfrm>
              <a:off x="858843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4" name="Google Shape;1274;p83"/>
            <p:cNvSpPr/>
            <p:nvPr/>
          </p:nvSpPr>
          <p:spPr>
            <a:xfrm>
              <a:off x="1147938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5" name="Google Shape;1275;p83"/>
            <p:cNvSpPr/>
            <p:nvPr/>
          </p:nvSpPr>
          <p:spPr>
            <a:xfrm>
              <a:off x="1437034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6" name="Google Shape;1276;p83"/>
            <p:cNvSpPr/>
            <p:nvPr/>
          </p:nvSpPr>
          <p:spPr>
            <a:xfrm>
              <a:off x="1726129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83"/>
            <p:cNvSpPr/>
            <p:nvPr/>
          </p:nvSpPr>
          <p:spPr>
            <a:xfrm>
              <a:off x="1726129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83"/>
            <p:cNvSpPr/>
            <p:nvPr/>
          </p:nvSpPr>
          <p:spPr>
            <a:xfrm>
              <a:off x="1726129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9" name="Google Shape;1279;p83"/>
            <p:cNvSpPr/>
            <p:nvPr/>
          </p:nvSpPr>
          <p:spPr>
            <a:xfrm>
              <a:off x="1726129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0" name="Google Shape;1280;p83"/>
            <p:cNvSpPr/>
            <p:nvPr/>
          </p:nvSpPr>
          <p:spPr>
            <a:xfrm>
              <a:off x="2015224" y="258543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1" name="Google Shape;1281;p83"/>
            <p:cNvSpPr/>
            <p:nvPr/>
          </p:nvSpPr>
          <p:spPr>
            <a:xfrm>
              <a:off x="2015224" y="2874527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2" name="Google Shape;1282;p83"/>
            <p:cNvSpPr/>
            <p:nvPr/>
          </p:nvSpPr>
          <p:spPr>
            <a:xfrm>
              <a:off x="2015224" y="3163622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3"/>
            <p:cNvSpPr/>
            <p:nvPr/>
          </p:nvSpPr>
          <p:spPr>
            <a:xfrm>
              <a:off x="2015224" y="3452716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4" name="Google Shape;1284;p83"/>
            <p:cNvSpPr/>
            <p:nvPr/>
          </p:nvSpPr>
          <p:spPr>
            <a:xfrm>
              <a:off x="569748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83"/>
            <p:cNvSpPr/>
            <p:nvPr/>
          </p:nvSpPr>
          <p:spPr>
            <a:xfrm>
              <a:off x="858843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83"/>
            <p:cNvSpPr/>
            <p:nvPr/>
          </p:nvSpPr>
          <p:spPr>
            <a:xfrm>
              <a:off x="1147938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7" name="Google Shape;1287;p83"/>
            <p:cNvSpPr/>
            <p:nvPr/>
          </p:nvSpPr>
          <p:spPr>
            <a:xfrm>
              <a:off x="1437034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83"/>
            <p:cNvSpPr/>
            <p:nvPr/>
          </p:nvSpPr>
          <p:spPr>
            <a:xfrm>
              <a:off x="569748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83"/>
            <p:cNvSpPr/>
            <p:nvPr/>
          </p:nvSpPr>
          <p:spPr>
            <a:xfrm>
              <a:off x="858843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83"/>
            <p:cNvSpPr/>
            <p:nvPr/>
          </p:nvSpPr>
          <p:spPr>
            <a:xfrm>
              <a:off x="1147938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83"/>
            <p:cNvSpPr/>
            <p:nvPr/>
          </p:nvSpPr>
          <p:spPr>
            <a:xfrm>
              <a:off x="1437034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2" name="Google Shape;1292;p83"/>
            <p:cNvSpPr/>
            <p:nvPr/>
          </p:nvSpPr>
          <p:spPr>
            <a:xfrm>
              <a:off x="1726129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83"/>
            <p:cNvSpPr/>
            <p:nvPr/>
          </p:nvSpPr>
          <p:spPr>
            <a:xfrm>
              <a:off x="1726129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3"/>
            <p:cNvSpPr/>
            <p:nvPr/>
          </p:nvSpPr>
          <p:spPr>
            <a:xfrm>
              <a:off x="2015224" y="3741811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5" name="Google Shape;1295;p83"/>
            <p:cNvSpPr/>
            <p:nvPr/>
          </p:nvSpPr>
          <p:spPr>
            <a:xfrm>
              <a:off x="2015224" y="4030905"/>
              <a:ext cx="289200" cy="289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83"/>
            <p:cNvSpPr/>
            <p:nvPr/>
          </p:nvSpPr>
          <p:spPr>
            <a:xfrm>
              <a:off x="574845" y="2585425"/>
              <a:ext cx="1729500" cy="17295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7" name="Google Shape;1297;p83"/>
            <p:cNvSpPr/>
            <p:nvPr/>
          </p:nvSpPr>
          <p:spPr>
            <a:xfrm>
              <a:off x="1404840" y="3420032"/>
              <a:ext cx="63300" cy="633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83"/>
          <p:cNvGrpSpPr/>
          <p:nvPr/>
        </p:nvGrpSpPr>
        <p:grpSpPr>
          <a:xfrm>
            <a:off x="6561600" y="2571750"/>
            <a:ext cx="1795475" cy="1748350"/>
            <a:chOff x="6409200" y="2571750"/>
            <a:chExt cx="1795475" cy="1748350"/>
          </a:xfrm>
        </p:grpSpPr>
        <p:pic>
          <p:nvPicPr>
            <p:cNvPr id="1299" name="Google Shape;1299;p83"/>
            <p:cNvPicPr preferRelativeResize="0"/>
            <p:nvPr/>
          </p:nvPicPr>
          <p:blipFill rotWithShape="1">
            <a:blip r:embed="rId3">
              <a:alphaModFix/>
            </a:blip>
            <a:srcRect b="0" l="456" r="386" t="0"/>
            <a:stretch/>
          </p:blipFill>
          <p:spPr>
            <a:xfrm>
              <a:off x="6409200" y="2571750"/>
              <a:ext cx="1795475" cy="1748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83"/>
            <p:cNvSpPr/>
            <p:nvPr/>
          </p:nvSpPr>
          <p:spPr>
            <a:xfrm>
              <a:off x="7287133" y="3426113"/>
              <a:ext cx="39600" cy="39600"/>
            </a:xfrm>
            <a:prstGeom prst="ellipse">
              <a:avLst/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83"/>
            <p:cNvSpPr/>
            <p:nvPr/>
          </p:nvSpPr>
          <p:spPr>
            <a:xfrm>
              <a:off x="6618235" y="2757905"/>
              <a:ext cx="1372200" cy="13722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2" name="Google Shape;1302;p83"/>
          <p:cNvSpPr txBox="1"/>
          <p:nvPr>
            <p:ph idx="4294967295" type="body"/>
          </p:nvPr>
        </p:nvSpPr>
        <p:spPr>
          <a:xfrm>
            <a:off x="6359000" y="4574200"/>
            <a:ext cx="22713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area =        units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1303" name="Google Shape;1303;p83"/>
          <p:cNvSpPr txBox="1"/>
          <p:nvPr>
            <p:ph idx="4294967295" type="body"/>
          </p:nvPr>
        </p:nvSpPr>
        <p:spPr>
          <a:xfrm>
            <a:off x="3677900" y="3355003"/>
            <a:ext cx="6255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(4, 4)</a:t>
            </a:r>
            <a:endParaRPr sz="1600"/>
          </a:p>
        </p:txBody>
      </p:sp>
      <p:sp>
        <p:nvSpPr>
          <p:cNvPr id="1304" name="Google Shape;1304;p83"/>
          <p:cNvSpPr txBox="1"/>
          <p:nvPr>
            <p:ph idx="4294967295" type="body"/>
          </p:nvPr>
        </p:nvSpPr>
        <p:spPr>
          <a:xfrm>
            <a:off x="5346206" y="3343379"/>
            <a:ext cx="6255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(14, 4)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areas of circles by using the formula</a:t>
            </a:r>
            <a:endParaRPr/>
          </a:p>
        </p:txBody>
      </p:sp>
      <p:sp>
        <p:nvSpPr>
          <p:cNvPr id="1310" name="Google Shape;1310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311" name="Google Shape;1311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circle</a:t>
            </a:r>
            <a:endParaRPr/>
          </a:p>
        </p:txBody>
      </p:sp>
      <p:pic>
        <p:nvPicPr>
          <p:cNvPr id="1312" name="Google Shape;131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85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cases where the area is known, the formula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π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>
                <a:solidFill>
                  <a:schemeClr val="accent5"/>
                </a:solidFill>
              </a:rPr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can be used to calculate the radius.</a:t>
            </a:r>
            <a:endParaRPr sz="2000"/>
          </a:p>
        </p:txBody>
      </p:sp>
      <p:sp>
        <p:nvSpPr>
          <p:cNvPr id="1318" name="Google Shape;131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radius or diameter when the area is known</a:t>
            </a:r>
            <a:endParaRPr sz="2200"/>
          </a:p>
        </p:txBody>
      </p:sp>
      <p:sp>
        <p:nvSpPr>
          <p:cNvPr id="1319" name="Google Shape;1319;p85"/>
          <p:cNvSpPr txBox="1"/>
          <p:nvPr>
            <p:ph idx="1" type="body"/>
          </p:nvPr>
        </p:nvSpPr>
        <p:spPr>
          <a:xfrm>
            <a:off x="324000" y="1774800"/>
            <a:ext cx="8237700" cy="7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can be done by </a:t>
            </a:r>
            <a:r>
              <a:rPr lang="en-GB" sz="2000">
                <a:solidFill>
                  <a:schemeClr val="accent5"/>
                </a:solidFill>
              </a:rPr>
              <a:t>substituting</a:t>
            </a:r>
            <a:r>
              <a:rPr lang="en-GB" sz="2000"/>
              <a:t> the known values into the formula to form an equation and then </a:t>
            </a:r>
            <a:r>
              <a:rPr lang="en-GB" sz="2000">
                <a:solidFill>
                  <a:schemeClr val="accent5"/>
                </a:solidFill>
              </a:rPr>
              <a:t>rearranging</a:t>
            </a:r>
            <a:r>
              <a:rPr lang="en-GB" sz="2000"/>
              <a:t> the equation.</a:t>
            </a:r>
            <a:endParaRPr sz="2000"/>
          </a:p>
        </p:txBody>
      </p:sp>
      <p:sp>
        <p:nvSpPr>
          <p:cNvPr id="1320" name="Google Shape;1320;p85"/>
          <p:cNvSpPr txBox="1"/>
          <p:nvPr>
            <p:ph idx="1" type="body"/>
          </p:nvPr>
        </p:nvSpPr>
        <p:spPr>
          <a:xfrm>
            <a:off x="324000" y="3756000"/>
            <a:ext cx="8237700" cy="7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</a:t>
            </a:r>
            <a:r>
              <a:rPr lang="en-GB" sz="2000"/>
              <a:t>maintain</a:t>
            </a:r>
            <a:r>
              <a:rPr lang="en-GB" sz="2000"/>
              <a:t> accuracy, </a:t>
            </a:r>
            <a:r>
              <a:rPr lang="en-GB" sz="2000">
                <a:solidFill>
                  <a:schemeClr val="accent5"/>
                </a:solidFill>
              </a:rPr>
              <a:t>do</a:t>
            </a:r>
            <a:r>
              <a:rPr lang="en-GB" sz="2000"/>
              <a:t> </a:t>
            </a:r>
            <a:r>
              <a:rPr lang="en-GB" sz="2000">
                <a:solidFill>
                  <a:schemeClr val="accent5"/>
                </a:solidFill>
              </a:rPr>
              <a:t>not</a:t>
            </a:r>
            <a:r>
              <a:rPr lang="en-GB" sz="2000"/>
              <a:t> </a:t>
            </a:r>
            <a:r>
              <a:rPr lang="en-GB" sz="2000">
                <a:solidFill>
                  <a:schemeClr val="accent5"/>
                </a:solidFill>
              </a:rPr>
              <a:t>round</a:t>
            </a:r>
            <a:r>
              <a:rPr lang="en-GB" sz="2000"/>
              <a:t> any decimals until the final answer has been obtained.</a:t>
            </a:r>
            <a:endParaRPr sz="2000"/>
          </a:p>
        </p:txBody>
      </p:sp>
      <p:sp>
        <p:nvSpPr>
          <p:cNvPr id="1321" name="Google Shape;1321;p85"/>
          <p:cNvSpPr txBox="1"/>
          <p:nvPr>
            <p:ph idx="1" type="body"/>
          </p:nvPr>
        </p:nvSpPr>
        <p:spPr>
          <a:xfrm>
            <a:off x="324000" y="2765400"/>
            <a:ext cx="8237700" cy="42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will usually involve </a:t>
            </a:r>
            <a:r>
              <a:rPr lang="en-GB" sz="2000">
                <a:solidFill>
                  <a:schemeClr val="accent5"/>
                </a:solidFill>
              </a:rPr>
              <a:t>dividing</a:t>
            </a:r>
            <a:r>
              <a:rPr lang="en-GB" sz="2000"/>
              <a:t> the area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 and then finding the square root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86"/>
          <p:cNvSpPr txBox="1"/>
          <p:nvPr>
            <p:ph idx="1" type="subTitle"/>
          </p:nvPr>
        </p:nvSpPr>
        <p:spPr>
          <a:xfrm>
            <a:off x="337825" y="810000"/>
            <a:ext cx="3982200" cy="10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 of the circle is 200 cm</a:t>
            </a:r>
            <a:r>
              <a:rPr baseline="30000" lang="en-GB"/>
              <a:t>2</a:t>
            </a:r>
            <a:r>
              <a:rPr lang="en-GB"/>
              <a:t>.</a:t>
            </a:r>
            <a:br>
              <a:rPr lang="en-GB"/>
            </a:br>
            <a:r>
              <a:rPr lang="en-GB"/>
              <a:t>Calculate the radius, giving your answer to 2 decimal place.</a:t>
            </a:r>
            <a:endParaRPr/>
          </a:p>
        </p:txBody>
      </p:sp>
      <p:sp>
        <p:nvSpPr>
          <p:cNvPr id="1327" name="Google Shape;1327;p86"/>
          <p:cNvSpPr txBox="1"/>
          <p:nvPr>
            <p:ph idx="2" type="subTitle"/>
          </p:nvPr>
        </p:nvSpPr>
        <p:spPr>
          <a:xfrm>
            <a:off x="4824000" y="810000"/>
            <a:ext cx="3982200" cy="10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area of the circle is 150 cm</a:t>
            </a:r>
            <a:r>
              <a:rPr baseline="30000" lang="en-GB"/>
              <a:t>2</a:t>
            </a:r>
            <a:r>
              <a:rPr lang="en-GB"/>
              <a:t>.</a:t>
            </a:r>
            <a:br>
              <a:rPr lang="en-GB"/>
            </a:br>
            <a:r>
              <a:rPr lang="en-GB">
                <a:solidFill>
                  <a:schemeClr val="accent5"/>
                </a:solidFill>
              </a:rPr>
              <a:t>Finish</a:t>
            </a:r>
            <a:r>
              <a:rPr lang="en-GB"/>
              <a:t> calculating the radius, giving your answer to 2 decimal place.</a:t>
            </a:r>
            <a:endParaRPr/>
          </a:p>
        </p:txBody>
      </p:sp>
      <p:sp>
        <p:nvSpPr>
          <p:cNvPr id="1328" name="Google Shape;132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329" name="Google Shape;1329;p86"/>
          <p:cNvSpPr/>
          <p:nvPr/>
        </p:nvSpPr>
        <p:spPr>
          <a:xfrm>
            <a:off x="446500" y="2112250"/>
            <a:ext cx="1412700" cy="141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0" name="Google Shape;1330;p86"/>
          <p:cNvCxnSpPr/>
          <p:nvPr/>
        </p:nvCxnSpPr>
        <p:spPr>
          <a:xfrm>
            <a:off x="1162028" y="2822396"/>
            <a:ext cx="572700" cy="330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1" name="Google Shape;1331;p86"/>
          <p:cNvSpPr/>
          <p:nvPr/>
        </p:nvSpPr>
        <p:spPr>
          <a:xfrm>
            <a:off x="1142233" y="2795772"/>
            <a:ext cx="45300" cy="453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6"/>
          <p:cNvSpPr txBox="1"/>
          <p:nvPr/>
        </p:nvSpPr>
        <p:spPr>
          <a:xfrm>
            <a:off x="1428237" y="2689871"/>
            <a:ext cx="250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33" name="Google Shape;1333;p86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87873" l="0" r="49379" t="0"/>
          <a:stretch/>
        </p:blipFill>
        <p:spPr>
          <a:xfrm>
            <a:off x="2845024" y="1929750"/>
            <a:ext cx="876329" cy="268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34" name="Google Shape;1334;p86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73799" l="0" r="38427" t="13703"/>
          <a:stretch/>
        </p:blipFill>
        <p:spPr>
          <a:xfrm>
            <a:off x="2679030" y="2302048"/>
            <a:ext cx="1065936" cy="277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35" name="Google Shape;1335;p86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53816" l="18971" r="68363" t="25744"/>
          <a:stretch/>
        </p:blipFill>
        <p:spPr>
          <a:xfrm>
            <a:off x="3072751" y="2637450"/>
            <a:ext cx="219275" cy="453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36" name="Google Shape;1336;p86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41731" l="0" r="16922" t="44672"/>
          <a:stretch/>
        </p:blipFill>
        <p:spPr>
          <a:xfrm>
            <a:off x="2156626" y="3125645"/>
            <a:ext cx="1438261" cy="301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37" name="Google Shape;1337;p86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23099" l="0" r="0" t="59276"/>
          <a:stretch/>
        </p:blipFill>
        <p:spPr>
          <a:xfrm>
            <a:off x="1960725" y="3517886"/>
            <a:ext cx="1731213" cy="390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38" name="Google Shape;1338;p86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10258" l="0" r="0" t="74887"/>
          <a:stretch/>
        </p:blipFill>
        <p:spPr>
          <a:xfrm>
            <a:off x="2258687" y="3932473"/>
            <a:ext cx="1731213" cy="329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39" name="Google Shape;1339;p86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53815" l="0" r="82816" t="25745"/>
          <a:stretch/>
        </p:blipFill>
        <p:spPr>
          <a:xfrm>
            <a:off x="2675274" y="2573575"/>
            <a:ext cx="372999" cy="568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40" name="Google Shape;1340;p86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53815" l="31923" r="50893" t="25745"/>
          <a:stretch/>
        </p:blipFill>
        <p:spPr>
          <a:xfrm>
            <a:off x="3292026" y="2573575"/>
            <a:ext cx="372999" cy="56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86"/>
          <p:cNvSpPr txBox="1"/>
          <p:nvPr/>
        </p:nvSpPr>
        <p:spPr>
          <a:xfrm>
            <a:off x="2267601" y="4576114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2" name="Google Shape;1342;p86"/>
          <p:cNvSpPr txBox="1"/>
          <p:nvPr/>
        </p:nvSpPr>
        <p:spPr>
          <a:xfrm>
            <a:off x="329325" y="3701000"/>
            <a:ext cx="106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3" name="Google Shape;1343;p86"/>
          <p:cNvCxnSpPr/>
          <p:nvPr/>
        </p:nvCxnSpPr>
        <p:spPr>
          <a:xfrm flipH="1" rot="10800000">
            <a:off x="758100" y="3226775"/>
            <a:ext cx="202200" cy="49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4" name="Google Shape;1344;p86"/>
          <p:cNvSpPr/>
          <p:nvPr/>
        </p:nvSpPr>
        <p:spPr>
          <a:xfrm>
            <a:off x="4991913" y="2183834"/>
            <a:ext cx="1304400" cy="1304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5" name="Google Shape;1345;p86"/>
          <p:cNvCxnSpPr>
            <a:endCxn id="1344" idx="0"/>
          </p:cNvCxnSpPr>
          <p:nvPr/>
        </p:nvCxnSpPr>
        <p:spPr>
          <a:xfrm rot="10800000">
            <a:off x="5644113" y="2183834"/>
            <a:ext cx="8400" cy="65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6" name="Google Shape;1346;p86"/>
          <p:cNvSpPr/>
          <p:nvPr/>
        </p:nvSpPr>
        <p:spPr>
          <a:xfrm>
            <a:off x="5634359" y="2815004"/>
            <a:ext cx="41700" cy="417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86"/>
          <p:cNvSpPr txBox="1"/>
          <p:nvPr/>
        </p:nvSpPr>
        <p:spPr>
          <a:xfrm>
            <a:off x="5699016" y="2382724"/>
            <a:ext cx="231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8" name="Google Shape;1348;p86"/>
          <p:cNvSpPr txBox="1"/>
          <p:nvPr/>
        </p:nvSpPr>
        <p:spPr>
          <a:xfrm>
            <a:off x="4883712" y="3650900"/>
            <a:ext cx="9843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9" name="Google Shape;1349;p86"/>
          <p:cNvCxnSpPr/>
          <p:nvPr/>
        </p:nvCxnSpPr>
        <p:spPr>
          <a:xfrm flipH="1" rot="10800000">
            <a:off x="5279647" y="3212977"/>
            <a:ext cx="186600" cy="45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begin{array}{l}A\ =\ \pi r^2\\&amp;#13;&amp;#10;150\ =\ \pi r^2\\&amp;#13;&amp;#10;\frac{150}{\pi}=\frac{\pi r^2}{\pi}\\&amp;#13;&amp;#10;47.746...\ =r^2\\&amp;#13;&amp;#10;\sqrt{47.746...}\ =\sqrt{r^2}\\&amp;#13;&amp;#10;6.9098...\ =\ r\\&amp;#13;&amp;#10;6.91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50&lt;/mn&gt;&lt;mtext&gt;&lt;/mtext&gt;&lt;mo&gt;=&lt;/mo&gt;&lt;mtext&gt;&lt;/mtext&gt;&lt;mi&gt;π&lt;/mi&gt;&lt;msup&gt;&lt;mi&gt;r&lt;/mi&gt;&lt;mn&gt;2&lt;/mn&gt;&lt;/msup&gt;&lt;/mtd&gt;&lt;/mtr&gt;&lt;mtr&gt;&lt;mtd&gt;&lt;mfrac&gt;&lt;mn&gt;15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47.746&lt;/mn&gt;&lt;mo&gt;.&lt;/mo&gt;&lt;mo&gt;.&lt;/mo&gt;&lt;mo&gt;.&lt;/mo&gt;&lt;mtext&gt;&lt;/mtext&gt;&lt;mo&gt;=&lt;/mo&gt;&lt;msup&gt;&lt;mi&gt;r&lt;/mi&gt;&lt;mn&gt;2&lt;/mn&gt;&lt;/msup&gt;&lt;/mtd&gt;&lt;/mtr&gt;&lt;mtr&gt;&lt;mtd&gt;&lt;msqrt&gt;&lt;mn&gt;47.746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6.9098&lt;/mn&gt;&lt;mo&gt;.&lt;/mo&gt;&lt;mo&gt;.&lt;/mo&gt;&lt;mo&gt;.&lt;/mo&gt;&lt;mtext&gt;&lt;/mtext&gt;&lt;mo&gt;=&lt;/mo&gt;&lt;mtext&gt;&lt;/mtext&gt;&lt;mi&gt;r&lt;/mi&gt;&lt;/mtd&gt;&lt;/mtr&gt;&lt;mtr&gt;&lt;mtd&gt;&lt;mn&gt;6.91&lt;/mn&gt;&lt;mtext&gt;&lt;/mtext&gt;&lt;mi&gt;c&lt;/mi&gt;&lt;mi&gt;m&lt;/mi&gt;&lt;mtext&gt;&lt;/mtext&gt;&lt;mo&gt;=&lt;/mo&gt;&lt;mi&gt;r&lt;/mi&gt;&lt;/mtd&gt;&lt;/mtr&gt;&lt;/mtable&gt;&lt;/math&gt;" id="1350" name="Google Shape;1350;p86" title="7 lines Line 1: A equals pi r squared Line 2: 150 equals pi r squared Line 3: 150 over pi equals pi r squared over pi Line 4: 47.746 period period period equals r squared Line 5: the square root of 47.746 period period period equals the square root of r squared Line 6: 6.9098 period period period equals r Line 7: 6.91 c m equals r"/>
          <p:cNvPicPr preferRelativeResize="0"/>
          <p:nvPr/>
        </p:nvPicPr>
        <p:blipFill rotWithShape="1">
          <a:blip r:embed="rId4">
            <a:alphaModFix/>
          </a:blip>
          <a:srcRect b="88211" l="0" r="47528" t="0"/>
          <a:stretch/>
        </p:blipFill>
        <p:spPr>
          <a:xfrm>
            <a:off x="7353262" y="1975424"/>
            <a:ext cx="876325" cy="25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50\ =\ \pi r^2\\&amp;#13;&amp;#10;\frac{150}{\pi}=\frac{\pi r^2}{\pi}\\&amp;#13;&amp;#10;47.746...\ =r^2\\&amp;#13;&amp;#10;\sqrt{47.746...}\ =\sqrt{r^2}\\&amp;#13;&amp;#10;6.9098...\ =\ r\\&amp;#13;&amp;#10;6.91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50&lt;/mn&gt;&lt;mtext&gt;&lt;/mtext&gt;&lt;mo&gt;=&lt;/mo&gt;&lt;mtext&gt;&lt;/mtext&gt;&lt;mi&gt;π&lt;/mi&gt;&lt;msup&gt;&lt;mi&gt;r&lt;/mi&gt;&lt;mn&gt;2&lt;/mn&gt;&lt;/msup&gt;&lt;/mtd&gt;&lt;/mtr&gt;&lt;mtr&gt;&lt;mtd&gt;&lt;mfrac&gt;&lt;mn&gt;15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47.746&lt;/mn&gt;&lt;mo&gt;.&lt;/mo&gt;&lt;mo&gt;.&lt;/mo&gt;&lt;mo&gt;.&lt;/mo&gt;&lt;mtext&gt;&lt;/mtext&gt;&lt;mo&gt;=&lt;/mo&gt;&lt;msup&gt;&lt;mi&gt;r&lt;/mi&gt;&lt;mn&gt;2&lt;/mn&gt;&lt;/msup&gt;&lt;/mtd&gt;&lt;/mtr&gt;&lt;mtr&gt;&lt;mtd&gt;&lt;msqrt&gt;&lt;mn&gt;47.746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6.9098&lt;/mn&gt;&lt;mo&gt;.&lt;/mo&gt;&lt;mo&gt;.&lt;/mo&gt;&lt;mo&gt;.&lt;/mo&gt;&lt;mtext&gt;&lt;/mtext&gt;&lt;mo&gt;=&lt;/mo&gt;&lt;mtext&gt;&lt;/mtext&gt;&lt;mi&gt;r&lt;/mi&gt;&lt;/mtd&gt;&lt;/mtr&gt;&lt;mtr&gt;&lt;mtd&gt;&lt;mn&gt;6.91&lt;/mn&gt;&lt;mtext&gt;&lt;/mtext&gt;&lt;mi&gt;c&lt;/mi&gt;&lt;mi&gt;m&lt;/mi&gt;&lt;mtext&gt;&lt;/mtext&gt;&lt;mo&gt;=&lt;/mo&gt;&lt;mi&gt;r&lt;/mi&gt;&lt;/mtd&gt;&lt;/mtr&gt;&lt;/mtable&gt;&lt;/math&gt;" id="1351" name="Google Shape;1351;p86" title="7 lines Line 1: A equals pi r squared Line 2: 150 equals pi r squared Line 3: 150 over pi equals pi r squared over pi Line 4: 47.746 period period period equals r squared Line 5: the square root of 47.746 period period period equals the square root of r squared Line 6: 6.9098 period period period equals r Line 7: 6.91 c m equals r"/>
          <p:cNvPicPr preferRelativeResize="0"/>
          <p:nvPr/>
        </p:nvPicPr>
        <p:blipFill rotWithShape="1">
          <a:blip r:embed="rId4">
            <a:alphaModFix/>
          </a:blip>
          <a:srcRect b="72784" l="0" r="30618" t="12212"/>
          <a:stretch/>
        </p:blipFill>
        <p:spPr>
          <a:xfrm>
            <a:off x="7189656" y="2297362"/>
            <a:ext cx="1158725" cy="329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50\ =\ \pi r^2\\&amp;#13;&amp;#10;\frac{150}{\pi}=\frac{\pi r^2}{\pi}\\&amp;#13;&amp;#10;47.746...\ =r^2\\&amp;#13;&amp;#10;\sqrt{47.746...}\ =\sqrt{r^2}\\&amp;#13;&amp;#10;6.9098...\ =\ r\\&amp;#13;&amp;#10;6.91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50&lt;/mn&gt;&lt;mtext&gt;&lt;/mtext&gt;&lt;mo&gt;=&lt;/mo&gt;&lt;mtext&gt;&lt;/mtext&gt;&lt;mi&gt;π&lt;/mi&gt;&lt;msup&gt;&lt;mi&gt;r&lt;/mi&gt;&lt;mn&gt;2&lt;/mn&gt;&lt;/msup&gt;&lt;/mtd&gt;&lt;/mtr&gt;&lt;mtr&gt;&lt;mtd&gt;&lt;mfrac&gt;&lt;mn&gt;15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47.746&lt;/mn&gt;&lt;mo&gt;.&lt;/mo&gt;&lt;mo&gt;.&lt;/mo&gt;&lt;mo&gt;.&lt;/mo&gt;&lt;mtext&gt;&lt;/mtext&gt;&lt;mo&gt;=&lt;/mo&gt;&lt;msup&gt;&lt;mi&gt;r&lt;/mi&gt;&lt;mn&gt;2&lt;/mn&gt;&lt;/msup&gt;&lt;/mtd&gt;&lt;/mtr&gt;&lt;mtr&gt;&lt;mtd&gt;&lt;msqrt&gt;&lt;mn&gt;47.746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6.9098&lt;/mn&gt;&lt;mo&gt;.&lt;/mo&gt;&lt;mo&gt;.&lt;/mo&gt;&lt;mo&gt;.&lt;/mo&gt;&lt;mtext&gt;&lt;/mtext&gt;&lt;mo&gt;=&lt;/mo&gt;&lt;mtext&gt;&lt;/mtext&gt;&lt;mi&gt;r&lt;/mi&gt;&lt;/mtd&gt;&lt;/mtr&gt;&lt;mtr&gt;&lt;mtd&gt;&lt;mn&gt;6.91&lt;/mn&gt;&lt;mtext&gt;&lt;/mtext&gt;&lt;mi&gt;c&lt;/mi&gt;&lt;mi&gt;m&lt;/mi&gt;&lt;mtext&gt;&lt;/mtext&gt;&lt;mo&gt;=&lt;/mo&gt;&lt;mi&gt;r&lt;/mi&gt;&lt;/mtd&gt;&lt;/mtr&gt;&lt;/mtable&gt;&lt;/math&gt;" id="1352" name="Google Shape;1352;p86" title="7 lines Line 1: A equals pi r squared Line 2: 150 equals pi r squared Line 3: 150 over pi equals pi r squared over pi Line 4: 47.746 period period period equals r squared Line 5: the square root of 47.746 period period period equals the square root of r squared Line 6: 6.9098 period period period equals r Line 7: 6.91 c m equals r"/>
          <p:cNvPicPr preferRelativeResize="0"/>
          <p:nvPr/>
        </p:nvPicPr>
        <p:blipFill rotWithShape="1">
          <a:blip r:embed="rId4">
            <a:alphaModFix/>
          </a:blip>
          <a:srcRect b="54984" l="18345" r="66672" t="27214"/>
          <a:stretch/>
        </p:blipFill>
        <p:spPr>
          <a:xfrm>
            <a:off x="7566626" y="2703051"/>
            <a:ext cx="250200" cy="390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50\ =\ \pi r^2\\&amp;#13;&amp;#10;\frac{150}{\pi}=\frac{\pi r^2}{\pi}\\&amp;#13;&amp;#10;47.746...\ =r^2\\&amp;#13;&amp;#10;\sqrt{47.746...}\ =\sqrt{r^2}\\&amp;#13;&amp;#10;6.9098...\ =\ r\\&amp;#13;&amp;#10;6.91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50&lt;/mn&gt;&lt;mtext&gt;&lt;/mtext&gt;&lt;mo&gt;=&lt;/mo&gt;&lt;mtext&gt;&lt;/mtext&gt;&lt;mi&gt;π&lt;/mi&gt;&lt;msup&gt;&lt;mi&gt;r&lt;/mi&gt;&lt;mn&gt;2&lt;/mn&gt;&lt;/msup&gt;&lt;/mtd&gt;&lt;/mtr&gt;&lt;mtr&gt;&lt;mtd&gt;&lt;mfrac&gt;&lt;mn&gt;15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47.746&lt;/mn&gt;&lt;mo&gt;.&lt;/mo&gt;&lt;mo&gt;.&lt;/mo&gt;&lt;mo&gt;.&lt;/mo&gt;&lt;mtext&gt;&lt;/mtext&gt;&lt;mo&gt;=&lt;/mo&gt;&lt;msup&gt;&lt;mi&gt;r&lt;/mi&gt;&lt;mn&gt;2&lt;/mn&gt;&lt;/msup&gt;&lt;/mtd&gt;&lt;/mtr&gt;&lt;mtr&gt;&lt;mtd&gt;&lt;msqrt&gt;&lt;mn&gt;47.746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6.9098&lt;/mn&gt;&lt;mo&gt;.&lt;/mo&gt;&lt;mo&gt;.&lt;/mo&gt;&lt;mo&gt;.&lt;/mo&gt;&lt;mtext&gt;&lt;/mtext&gt;&lt;mo&gt;=&lt;/mo&gt;&lt;mtext&gt;&lt;/mtext&gt;&lt;mi&gt;r&lt;/mi&gt;&lt;/mtd&gt;&lt;/mtr&gt;&lt;mtr&gt;&lt;mtd&gt;&lt;mn&gt;6.91&lt;/mn&gt;&lt;mtext&gt;&lt;/mtext&gt;&lt;mi&gt;c&lt;/mi&gt;&lt;mi&gt;m&lt;/mi&gt;&lt;mtext&gt;&lt;/mtext&gt;&lt;mo&gt;=&lt;/mo&gt;&lt;mi&gt;r&lt;/mi&gt;&lt;/mtd&gt;&lt;/mtr&gt;&lt;/mtable&gt;&lt;/math&gt;" id="1353" name="Google Shape;1353;p86" title="7 lines Line 1: A equals pi r squared Line 2: 150 equals pi r squared Line 3: 150 over pi equals pi r squared over pi Line 4: 47.746 period period period equals r squared Line 5: the square root of 47.746 period period period equals the square root of r squared Line 6: 6.9098 period period period equals r Line 7: 6.91 c m equals r"/>
          <p:cNvPicPr preferRelativeResize="0"/>
          <p:nvPr/>
        </p:nvPicPr>
        <p:blipFill rotWithShape="1">
          <a:blip r:embed="rId4">
            <a:alphaModFix/>
          </a:blip>
          <a:srcRect b="41466" l="0" r="21893" t="45760"/>
          <a:stretch/>
        </p:blipFill>
        <p:spPr>
          <a:xfrm>
            <a:off x="6754868" y="3186587"/>
            <a:ext cx="1304399" cy="280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50\ =\ \pi r^2\\&amp;#13;&amp;#10;\frac{150}{\pi}=\frac{\pi r^2}{\pi}\\&amp;#13;&amp;#10;47.746...\ =r^2\\&amp;#13;&amp;#10;\sqrt{47.746...}\ =\sqrt{r^2}\\&amp;#13;&amp;#10;6.9098...\ =\ r\\&amp;#13;&amp;#10;6.91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50&lt;/mn&gt;&lt;mtext&gt;&lt;/mtext&gt;&lt;mo&gt;=&lt;/mo&gt;&lt;mtext&gt;&lt;/mtext&gt;&lt;mi&gt;π&lt;/mi&gt;&lt;msup&gt;&lt;mi&gt;r&lt;/mi&gt;&lt;mn&gt;2&lt;/mn&gt;&lt;/msup&gt;&lt;/mtd&gt;&lt;/mtr&gt;&lt;mtr&gt;&lt;mtd&gt;&lt;mfrac&gt;&lt;mn&gt;15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47.746&lt;/mn&gt;&lt;mo&gt;.&lt;/mo&gt;&lt;mo&gt;.&lt;/mo&gt;&lt;mo&gt;.&lt;/mo&gt;&lt;mtext&gt;&lt;/mtext&gt;&lt;mo&gt;=&lt;/mo&gt;&lt;msup&gt;&lt;mi&gt;r&lt;/mi&gt;&lt;mn&gt;2&lt;/mn&gt;&lt;/msup&gt;&lt;/mtd&gt;&lt;/mtr&gt;&lt;mtr&gt;&lt;mtd&gt;&lt;msqrt&gt;&lt;mn&gt;47.746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6.9098&lt;/mn&gt;&lt;mo&gt;.&lt;/mo&gt;&lt;mo&gt;.&lt;/mo&gt;&lt;mo&gt;.&lt;/mo&gt;&lt;mtext&gt;&lt;/mtext&gt;&lt;mo&gt;=&lt;/mo&gt;&lt;mtext&gt;&lt;/mtext&gt;&lt;mi&gt;r&lt;/mi&gt;&lt;/mtd&gt;&lt;/mtr&gt;&lt;mtr&gt;&lt;mtd&gt;&lt;mn&gt;6.91&lt;/mn&gt;&lt;mtext&gt;&lt;/mtext&gt;&lt;mi&gt;c&lt;/mi&gt;&lt;mi&gt;m&lt;/mi&gt;&lt;mtext&gt;&lt;/mtext&gt;&lt;mo&gt;=&lt;/mo&gt;&lt;mi&gt;r&lt;/mi&gt;&lt;/mtd&gt;&lt;/mtr&gt;&lt;/mtable&gt;&lt;/math&gt;" id="1354" name="Google Shape;1354;p86" title="7 lines Line 1: A equals pi r squared Line 2: 150 equals pi r squared Line 3: 150 over pi equals pi r squared over pi Line 4: 47.746 period period period equals r squared Line 5: the square root of 47.746 period period period equals the square root of r squared Line 6: 6.9098 period period period equals r Line 7: 6.91 c m equals r"/>
          <p:cNvPicPr preferRelativeResize="0"/>
          <p:nvPr/>
        </p:nvPicPr>
        <p:blipFill rotWithShape="1">
          <a:blip r:embed="rId4">
            <a:alphaModFix/>
          </a:blip>
          <a:srcRect b="24805" l="0" r="0" t="59020"/>
          <a:stretch/>
        </p:blipFill>
        <p:spPr>
          <a:xfrm>
            <a:off x="6557644" y="3531575"/>
            <a:ext cx="1670075" cy="35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50\ =\ \pi r^2\\&amp;#13;&amp;#10;\frac{150}{\pi}=\frac{\pi r^2}{\pi}\\&amp;#13;&amp;#10;47.746...\ =r^2\\&amp;#13;&amp;#10;\sqrt{47.746...}\ =\sqrt{r^2}\\&amp;#13;&amp;#10;6.9098...\ =\ r\\&amp;#13;&amp;#10;6.91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50&lt;/mn&gt;&lt;mtext&gt;&lt;/mtext&gt;&lt;mo&gt;=&lt;/mo&gt;&lt;mtext&gt;&lt;/mtext&gt;&lt;mi&gt;π&lt;/mi&gt;&lt;msup&gt;&lt;mi&gt;r&lt;/mi&gt;&lt;mn&gt;2&lt;/mn&gt;&lt;/msup&gt;&lt;/mtd&gt;&lt;/mtr&gt;&lt;mtr&gt;&lt;mtd&gt;&lt;mfrac&gt;&lt;mn&gt;15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47.746&lt;/mn&gt;&lt;mo&gt;.&lt;/mo&gt;&lt;mo&gt;.&lt;/mo&gt;&lt;mo&gt;.&lt;/mo&gt;&lt;mtext&gt;&lt;/mtext&gt;&lt;mo&gt;=&lt;/mo&gt;&lt;msup&gt;&lt;mi&gt;r&lt;/mi&gt;&lt;mn&gt;2&lt;/mn&gt;&lt;/msup&gt;&lt;/mtd&gt;&lt;/mtr&gt;&lt;mtr&gt;&lt;mtd&gt;&lt;msqrt&gt;&lt;mn&gt;47.746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6.9098&lt;/mn&gt;&lt;mo&gt;.&lt;/mo&gt;&lt;mo&gt;.&lt;/mo&gt;&lt;mo&gt;.&lt;/mo&gt;&lt;mtext&gt;&lt;/mtext&gt;&lt;mo&gt;=&lt;/mo&gt;&lt;mtext&gt;&lt;/mtext&gt;&lt;mi&gt;r&lt;/mi&gt;&lt;/mtd&gt;&lt;/mtr&gt;&lt;mtr&gt;&lt;mtd&gt;&lt;mn&gt;6.91&lt;/mn&gt;&lt;mtext&gt;&lt;/mtext&gt;&lt;mi&gt;c&lt;/mi&gt;&lt;mi&gt;m&lt;/mi&gt;&lt;mtext&gt;&lt;/mtext&gt;&lt;mo&gt;=&lt;/mo&gt;&lt;mi&gt;r&lt;/mi&gt;&lt;/mtd&gt;&lt;/mtr&gt;&lt;/mtable&gt;&lt;/math&gt;" id="1355" name="Google Shape;1355;p86" title="7 lines Line 1: A equals pi r squared Line 2: 150 equals pi r squared Line 3: 150 over pi equals pi r squared over pi Line 4: 47.746 period period period equals r squared Line 5: the square root of 47.746 period period period equals the square root of r squared Line 6: 6.9098 period period period equals r Line 7: 6.91 c m equals r"/>
          <p:cNvPicPr preferRelativeResize="0"/>
          <p:nvPr/>
        </p:nvPicPr>
        <p:blipFill rotWithShape="1">
          <a:blip r:embed="rId4">
            <a:alphaModFix/>
          </a:blip>
          <a:srcRect b="9803" l="0" r="18877" t="75193"/>
          <a:stretch/>
        </p:blipFill>
        <p:spPr>
          <a:xfrm>
            <a:off x="6758229" y="3951769"/>
            <a:ext cx="1354825" cy="329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86"/>
          <p:cNvSpPr txBox="1"/>
          <p:nvPr/>
        </p:nvSpPr>
        <p:spPr>
          <a:xfrm>
            <a:off x="6770087" y="4576135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A\ =\ \pi r^2\\&amp;#13;&amp;#10;150\ =\ \pi r^2\\&amp;#13;&amp;#10;\frac{150}{\pi}=\frac{\pi r^2}{\pi}\\&amp;#13;&amp;#10;47.746...\ =r^2\\&amp;#13;&amp;#10;\sqrt{47.746...}\ =\sqrt{r^2}\\&amp;#13;&amp;#10;6.9098...\ =\ r\\&amp;#13;&amp;#10;6.91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50&lt;/mn&gt;&lt;mtext&gt;&lt;/mtext&gt;&lt;mo&gt;=&lt;/mo&gt;&lt;mtext&gt;&lt;/mtext&gt;&lt;mi&gt;π&lt;/mi&gt;&lt;msup&gt;&lt;mi&gt;r&lt;/mi&gt;&lt;mn&gt;2&lt;/mn&gt;&lt;/msup&gt;&lt;/mtd&gt;&lt;/mtr&gt;&lt;mtr&gt;&lt;mtd&gt;&lt;mfrac&gt;&lt;mn&gt;15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47.746&lt;/mn&gt;&lt;mo&gt;.&lt;/mo&gt;&lt;mo&gt;.&lt;/mo&gt;&lt;mo&gt;.&lt;/mo&gt;&lt;mtext&gt;&lt;/mtext&gt;&lt;mo&gt;=&lt;/mo&gt;&lt;msup&gt;&lt;mi&gt;r&lt;/mi&gt;&lt;mn&gt;2&lt;/mn&gt;&lt;/msup&gt;&lt;/mtd&gt;&lt;/mtr&gt;&lt;mtr&gt;&lt;mtd&gt;&lt;msqrt&gt;&lt;mn&gt;47.746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6.9098&lt;/mn&gt;&lt;mo&gt;.&lt;/mo&gt;&lt;mo&gt;.&lt;/mo&gt;&lt;mo&gt;.&lt;/mo&gt;&lt;mtext&gt;&lt;/mtext&gt;&lt;mo&gt;=&lt;/mo&gt;&lt;mtext&gt;&lt;/mtext&gt;&lt;mi&gt;r&lt;/mi&gt;&lt;/mtd&gt;&lt;/mtr&gt;&lt;mtr&gt;&lt;mtd&gt;&lt;mn&gt;6.91&lt;/mn&gt;&lt;mtext&gt;&lt;/mtext&gt;&lt;mi&gt;c&lt;/mi&gt;&lt;mi&gt;m&lt;/mi&gt;&lt;mtext&gt;&lt;/mtext&gt;&lt;mo&gt;=&lt;/mo&gt;&lt;mi&gt;r&lt;/mi&gt;&lt;/mtd&gt;&lt;/mtr&gt;&lt;/mtable&gt;&lt;/math&gt;" id="1357" name="Google Shape;1357;p86" title="7 lines Line 1: A equals pi r squared Line 2: 150 equals pi r squared Line 3: 150 over pi equals pi r squared over pi Line 4: 47.746 period period period equals r squared Line 5: the square root of 47.746 period period period equals the square root of r squared Line 6: 6.9098 period period period equals r Line 7: 6.91 c m equals r"/>
          <p:cNvPicPr preferRelativeResize="0"/>
          <p:nvPr/>
        </p:nvPicPr>
        <p:blipFill rotWithShape="1">
          <a:blip r:embed="rId4">
            <a:alphaModFix/>
          </a:blip>
          <a:srcRect b="54984" l="0" r="81857" t="27214"/>
          <a:stretch/>
        </p:blipFill>
        <p:spPr>
          <a:xfrm>
            <a:off x="7186034" y="2644676"/>
            <a:ext cx="385700" cy="49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50\ =\ \pi r^2\\&amp;#13;&amp;#10;\frac{150}{\pi}=\frac{\pi r^2}{\pi}\\&amp;#13;&amp;#10;47.746...\ =r^2\\&amp;#13;&amp;#10;\sqrt{47.746...}\ =\sqrt{r^2}\\&amp;#13;&amp;#10;6.9098...\ =\ r\\&amp;#13;&amp;#10;6.91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50&lt;/mn&gt;&lt;mtext&gt;&lt;/mtext&gt;&lt;mo&gt;=&lt;/mo&gt;&lt;mtext&gt;&lt;/mtext&gt;&lt;mi&gt;π&lt;/mi&gt;&lt;msup&gt;&lt;mi&gt;r&lt;/mi&gt;&lt;mn&gt;2&lt;/mn&gt;&lt;/msup&gt;&lt;/mtd&gt;&lt;/mtr&gt;&lt;mtr&gt;&lt;mtd&gt;&lt;mfrac&gt;&lt;mn&gt;15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47.746&lt;/mn&gt;&lt;mo&gt;.&lt;/mo&gt;&lt;mo&gt;.&lt;/mo&gt;&lt;mo&gt;.&lt;/mo&gt;&lt;mtext&gt;&lt;/mtext&gt;&lt;mo&gt;=&lt;/mo&gt;&lt;msup&gt;&lt;mi&gt;r&lt;/mi&gt;&lt;mn&gt;2&lt;/mn&gt;&lt;/msup&gt;&lt;/mtd&gt;&lt;/mtr&gt;&lt;mtr&gt;&lt;mtd&gt;&lt;msqrt&gt;&lt;mn&gt;47.746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6.9098&lt;/mn&gt;&lt;mo&gt;.&lt;/mo&gt;&lt;mo&gt;.&lt;/mo&gt;&lt;mo&gt;.&lt;/mo&gt;&lt;mtext&gt;&lt;/mtext&gt;&lt;mo&gt;=&lt;/mo&gt;&lt;mtext&gt;&lt;/mtext&gt;&lt;mi&gt;r&lt;/mi&gt;&lt;/mtd&gt;&lt;/mtr&gt;&lt;mtr&gt;&lt;mtd&gt;&lt;mn&gt;6.91&lt;/mn&gt;&lt;mtext&gt;&lt;/mtext&gt;&lt;mi&gt;c&lt;/mi&gt;&lt;mi&gt;m&lt;/mi&gt;&lt;mtext&gt;&lt;/mtext&gt;&lt;mo&gt;=&lt;/mo&gt;&lt;mi&gt;r&lt;/mi&gt;&lt;/mtd&gt;&lt;/mtr&gt;&lt;/mtable&gt;&lt;/math&gt;" id="1358" name="Google Shape;1358;p86" title="7 lines Line 1: A equals pi r squared Line 2: 150 equals pi r squared Line 3: 150 over pi equals pi r squared over pi Line 4: 47.746 period period period equals r squared Line 5: the square root of 47.746 period period period equals the square root of r squared Line 6: 6.9098 period period period equals r Line 7: 6.91 c m equals r"/>
          <p:cNvPicPr preferRelativeResize="0"/>
          <p:nvPr/>
        </p:nvPicPr>
        <p:blipFill rotWithShape="1">
          <a:blip r:embed="rId4">
            <a:alphaModFix/>
          </a:blip>
          <a:srcRect b="55028" l="34150" r="47706" t="27169"/>
          <a:stretch/>
        </p:blipFill>
        <p:spPr>
          <a:xfrm>
            <a:off x="7829129" y="2644676"/>
            <a:ext cx="385700" cy="49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9" name="Google Shape;1359;p86"/>
          <p:cNvGrpSpPr/>
          <p:nvPr/>
        </p:nvGrpSpPr>
        <p:grpSpPr>
          <a:xfrm>
            <a:off x="6545168" y="3860125"/>
            <a:ext cx="1761900" cy="700123"/>
            <a:chOff x="6338053" y="3860125"/>
            <a:chExt cx="1761900" cy="700123"/>
          </a:xfrm>
        </p:grpSpPr>
        <p:cxnSp>
          <p:nvCxnSpPr>
            <p:cNvPr id="1360" name="Google Shape;1360;p86"/>
            <p:cNvCxnSpPr/>
            <p:nvPr/>
          </p:nvCxnSpPr>
          <p:spPr>
            <a:xfrm>
              <a:off x="6338053" y="3860125"/>
              <a:ext cx="1761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1" name="Google Shape;1361;p86"/>
            <p:cNvCxnSpPr/>
            <p:nvPr/>
          </p:nvCxnSpPr>
          <p:spPr>
            <a:xfrm>
              <a:off x="6338053" y="4241125"/>
              <a:ext cx="1761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2" name="Google Shape;1362;p86"/>
            <p:cNvCxnSpPr/>
            <p:nvPr/>
          </p:nvCxnSpPr>
          <p:spPr>
            <a:xfrm>
              <a:off x="6338053" y="4560248"/>
              <a:ext cx="1761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3" name="Google Shape;1363;p86"/>
          <p:cNvSpPr txBox="1"/>
          <p:nvPr/>
        </p:nvSpPr>
        <p:spPr>
          <a:xfrm>
            <a:off x="2311952" y="4299509"/>
            <a:ext cx="21393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7.98 cm = 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4" name="Google Shape;1364;p86"/>
          <p:cNvSpPr txBox="1"/>
          <p:nvPr/>
        </p:nvSpPr>
        <p:spPr>
          <a:xfrm>
            <a:off x="6856019" y="4318765"/>
            <a:ext cx="21393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.91 cm = 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A\ =\ \pi r^2\\&amp;#13;&amp;#10;120\ =\ \pi r^2\\&amp;#13;&amp;#10;\frac{120}{\pi}=\frac{\pi r^2}{\pi}\\&amp;#13;&amp;#10;38.1971...\ =r^2\\&amp;#13;&amp;#10;\sqrt{38.1971..}\ =\sqrt{r^2}\\&amp;#13;&amp;#10;6.1803...\ =\ r\\&amp;#13;&amp;#10;6.18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20&lt;/mn&gt;&lt;mtext&gt;&lt;/mtext&gt;&lt;mo&gt;=&lt;/mo&gt;&lt;mtext&gt;&lt;/mtext&gt;&lt;mi&gt;π&lt;/mi&gt;&lt;msup&gt;&lt;mi&gt;r&lt;/mi&gt;&lt;mn&gt;2&lt;/mn&gt;&lt;/msup&gt;&lt;/mtd&gt;&lt;/mtr&gt;&lt;mtr&gt;&lt;mtd&gt;&lt;mfrac&gt;&lt;mn&gt;12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38.1971&lt;/mn&gt;&lt;mo&gt;.&lt;/mo&gt;&lt;mo&gt;.&lt;/mo&gt;&lt;mo&gt;.&lt;/mo&gt;&lt;mtext&gt;&lt;/mtext&gt;&lt;mo&gt;=&lt;/mo&gt;&lt;msup&gt;&lt;mi&gt;r&lt;/mi&gt;&lt;mn&gt;2&lt;/mn&gt;&lt;/msup&gt;&lt;/mtd&gt;&lt;/mtr&gt;&lt;mtr&gt;&lt;mtd&gt;&lt;msqrt&gt;&lt;mn&gt;38.1971&lt;/mn&gt;&lt;mo&gt;.&lt;/mo&gt;&lt;mo&gt;.&lt;/mo&gt;&lt;/msqrt&gt;&lt;mtext&gt;&lt;/mtext&gt;&lt;mo&gt;=&lt;/mo&gt;&lt;msqrt&gt;&lt;msup&gt;&lt;mi&gt;r&lt;/mi&gt;&lt;mn&gt;2&lt;/mn&gt;&lt;/msup&gt;&lt;/msqrt&gt;&lt;/mtd&gt;&lt;/mtr&gt;&lt;mtr&gt;&lt;mtd&gt;&lt;mn&gt;6.1803&lt;/mn&gt;&lt;mo&gt;.&lt;/mo&gt;&lt;mo&gt;.&lt;/mo&gt;&lt;mo&gt;.&lt;/mo&gt;&lt;mtext&gt;&lt;/mtext&gt;&lt;mo&gt;=&lt;/mo&gt;&lt;mtext&gt;&lt;/mtext&gt;&lt;mi&gt;r&lt;/mi&gt;&lt;/mtd&gt;&lt;/mtr&gt;&lt;mtr&gt;&lt;mtd&gt;&lt;mn&gt;6.18&lt;/mn&gt;&lt;mtext&gt;&lt;/mtext&gt;&lt;mi&gt;c&lt;/mi&gt;&lt;mi&gt;m&lt;/mi&gt;&lt;mtext&gt;&lt;/mtext&gt;&lt;mo&gt;=&lt;/mo&gt;&lt;mi&gt;r&lt;/mi&gt;&lt;/mtd&gt;&lt;/mtr&gt;&lt;/mtable&gt;&lt;/math&gt;" id="1369" name="Google Shape;1369;p87" title="7 lines Line 1: A equals pi r squared Line 2: 120 equals pi r squared Line 3: 120 over pi equals pi r squared over pi Line 4: 38.1971 period period period equals r squared Line 5: the square root of 38.1971 period period equals the square root of r squared Line 6: 6.1803 period period period equals r Line 7: 6.18 c m equals r"/>
          <p:cNvPicPr preferRelativeResize="0"/>
          <p:nvPr/>
        </p:nvPicPr>
        <p:blipFill rotWithShape="1">
          <a:blip r:embed="rId3">
            <a:alphaModFix/>
          </a:blip>
          <a:srcRect b="88595" l="0" r="41629" t="0"/>
          <a:stretch/>
        </p:blipFill>
        <p:spPr>
          <a:xfrm>
            <a:off x="7334775" y="1948325"/>
            <a:ext cx="984299" cy="2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87"/>
          <p:cNvSpPr txBox="1"/>
          <p:nvPr>
            <p:ph idx="1" type="subTitle"/>
          </p:nvPr>
        </p:nvSpPr>
        <p:spPr>
          <a:xfrm>
            <a:off x="337825" y="810000"/>
            <a:ext cx="3982200" cy="10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 of the circle is 200 cm</a:t>
            </a:r>
            <a:r>
              <a:rPr baseline="30000" lang="en-GB"/>
              <a:t>2</a:t>
            </a:r>
            <a:r>
              <a:rPr lang="en-GB"/>
              <a:t>.</a:t>
            </a:r>
            <a:br>
              <a:rPr lang="en-GB"/>
            </a:br>
            <a:r>
              <a:rPr lang="en-GB"/>
              <a:t>Calculate the radius, giving your answer to 2 decimal place.</a:t>
            </a:r>
            <a:endParaRPr/>
          </a:p>
        </p:txBody>
      </p:sp>
      <p:sp>
        <p:nvSpPr>
          <p:cNvPr id="1371" name="Google Shape;1371;p87"/>
          <p:cNvSpPr txBox="1"/>
          <p:nvPr>
            <p:ph idx="2" type="subTitle"/>
          </p:nvPr>
        </p:nvSpPr>
        <p:spPr>
          <a:xfrm>
            <a:off x="4824000" y="810000"/>
            <a:ext cx="3982200" cy="10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 of the circle is 120 cm</a:t>
            </a:r>
            <a:r>
              <a:rPr baseline="30000" lang="en-GB"/>
              <a:t>2</a:t>
            </a:r>
            <a:r>
              <a:rPr lang="en-GB"/>
              <a:t>.</a:t>
            </a:r>
            <a:br>
              <a:rPr lang="en-GB"/>
            </a:br>
            <a:r>
              <a:rPr lang="en-GB">
                <a:solidFill>
                  <a:schemeClr val="accent5"/>
                </a:solidFill>
              </a:rPr>
              <a:t>Finish </a:t>
            </a:r>
            <a:r>
              <a:rPr lang="en-GB"/>
              <a:t>c</a:t>
            </a:r>
            <a:r>
              <a:rPr lang="en-GB"/>
              <a:t>alculating the radius, giving your answer to 2 decimal place.</a:t>
            </a:r>
            <a:endParaRPr/>
          </a:p>
        </p:txBody>
      </p:sp>
      <p:sp>
        <p:nvSpPr>
          <p:cNvPr id="1372" name="Google Shape;137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373" name="Google Shape;1373;p87"/>
          <p:cNvSpPr/>
          <p:nvPr/>
        </p:nvSpPr>
        <p:spPr>
          <a:xfrm>
            <a:off x="446500" y="2112250"/>
            <a:ext cx="1412700" cy="141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4" name="Google Shape;1374;p87"/>
          <p:cNvCxnSpPr/>
          <p:nvPr/>
        </p:nvCxnSpPr>
        <p:spPr>
          <a:xfrm>
            <a:off x="1162028" y="2822396"/>
            <a:ext cx="572700" cy="330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5" name="Google Shape;1375;p87"/>
          <p:cNvSpPr/>
          <p:nvPr/>
        </p:nvSpPr>
        <p:spPr>
          <a:xfrm>
            <a:off x="1142233" y="2795772"/>
            <a:ext cx="45300" cy="453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7"/>
          <p:cNvSpPr txBox="1"/>
          <p:nvPr/>
        </p:nvSpPr>
        <p:spPr>
          <a:xfrm>
            <a:off x="1428237" y="2689871"/>
            <a:ext cx="250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77" name="Google Shape;1377;p87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87873" l="0" r="49379" t="0"/>
          <a:stretch/>
        </p:blipFill>
        <p:spPr>
          <a:xfrm>
            <a:off x="2845024" y="1929750"/>
            <a:ext cx="876329" cy="268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78" name="Google Shape;1378;p87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73799" l="0" r="38427" t="13703"/>
          <a:stretch/>
        </p:blipFill>
        <p:spPr>
          <a:xfrm>
            <a:off x="2679030" y="2302048"/>
            <a:ext cx="1065936" cy="277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79" name="Google Shape;1379;p87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53816" l="18971" r="68363" t="25744"/>
          <a:stretch/>
        </p:blipFill>
        <p:spPr>
          <a:xfrm>
            <a:off x="3072751" y="2637450"/>
            <a:ext cx="219275" cy="453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80" name="Google Shape;1380;p87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41731" l="0" r="16922" t="44672"/>
          <a:stretch/>
        </p:blipFill>
        <p:spPr>
          <a:xfrm>
            <a:off x="2156626" y="3125645"/>
            <a:ext cx="1438261" cy="301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81" name="Google Shape;1381;p87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23099" l="0" r="0" t="59276"/>
          <a:stretch/>
        </p:blipFill>
        <p:spPr>
          <a:xfrm>
            <a:off x="1960725" y="3517886"/>
            <a:ext cx="1731213" cy="390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82" name="Google Shape;1382;p87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10258" l="0" r="0" t="74887"/>
          <a:stretch/>
        </p:blipFill>
        <p:spPr>
          <a:xfrm>
            <a:off x="2258687" y="3932473"/>
            <a:ext cx="1731213" cy="329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83" name="Google Shape;1383;p87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53815" l="0" r="82816" t="25745"/>
          <a:stretch/>
        </p:blipFill>
        <p:spPr>
          <a:xfrm>
            <a:off x="2675274" y="2573575"/>
            <a:ext cx="372999" cy="568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384" name="Google Shape;1384;p87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53815" l="31923" r="50893" t="25745"/>
          <a:stretch/>
        </p:blipFill>
        <p:spPr>
          <a:xfrm>
            <a:off x="3292026" y="2573575"/>
            <a:ext cx="372999" cy="56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87"/>
          <p:cNvSpPr txBox="1"/>
          <p:nvPr/>
        </p:nvSpPr>
        <p:spPr>
          <a:xfrm>
            <a:off x="329325" y="3701000"/>
            <a:ext cx="106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6" name="Google Shape;1386;p87"/>
          <p:cNvCxnSpPr/>
          <p:nvPr/>
        </p:nvCxnSpPr>
        <p:spPr>
          <a:xfrm flipH="1" rot="10800000">
            <a:off x="758100" y="3226775"/>
            <a:ext cx="202200" cy="49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7" name="Google Shape;1387;p87"/>
          <p:cNvSpPr/>
          <p:nvPr/>
        </p:nvSpPr>
        <p:spPr>
          <a:xfrm>
            <a:off x="4991924" y="2183825"/>
            <a:ext cx="1238100" cy="12384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8" name="Google Shape;1388;p87"/>
          <p:cNvCxnSpPr>
            <a:endCxn id="1387" idx="0"/>
          </p:cNvCxnSpPr>
          <p:nvPr/>
        </p:nvCxnSpPr>
        <p:spPr>
          <a:xfrm rot="10800000">
            <a:off x="5610974" y="2183825"/>
            <a:ext cx="8100" cy="622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89" name="Google Shape;1389;p87"/>
          <p:cNvSpPr/>
          <p:nvPr/>
        </p:nvSpPr>
        <p:spPr>
          <a:xfrm>
            <a:off x="5601682" y="2782884"/>
            <a:ext cx="39600" cy="396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7"/>
          <p:cNvSpPr txBox="1"/>
          <p:nvPr/>
        </p:nvSpPr>
        <p:spPr>
          <a:xfrm>
            <a:off x="5672971" y="2332909"/>
            <a:ext cx="21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1" name="Google Shape;1391;p87"/>
          <p:cNvSpPr txBox="1"/>
          <p:nvPr/>
        </p:nvSpPr>
        <p:spPr>
          <a:xfrm>
            <a:off x="4883712" y="3574700"/>
            <a:ext cx="9843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2" name="Google Shape;1392;p87"/>
          <p:cNvCxnSpPr/>
          <p:nvPr/>
        </p:nvCxnSpPr>
        <p:spPr>
          <a:xfrm flipH="1" rot="10800000">
            <a:off x="5265018" y="3160625"/>
            <a:ext cx="177000" cy="43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begin{array}{l}A\ =\ \pi r^2\\&amp;#13;&amp;#10;120\ =\ \pi r^2\\&amp;#13;&amp;#10;\frac{120}{\pi}=\frac{\pi r^2}{\pi}\\&amp;#13;&amp;#10;38.1971...\ =r^2\\&amp;#13;&amp;#10;\sqrt{38.1971..}\ =\sqrt{r^2}\\&amp;#13;&amp;#10;6.1803...\ =\ r\\&amp;#13;&amp;#10;6.18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20&lt;/mn&gt;&lt;mtext&gt;&lt;/mtext&gt;&lt;mo&gt;=&lt;/mo&gt;&lt;mtext&gt;&lt;/mtext&gt;&lt;mi&gt;π&lt;/mi&gt;&lt;msup&gt;&lt;mi&gt;r&lt;/mi&gt;&lt;mn&gt;2&lt;/mn&gt;&lt;/msup&gt;&lt;/mtd&gt;&lt;/mtr&gt;&lt;mtr&gt;&lt;mtd&gt;&lt;mfrac&gt;&lt;mn&gt;12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38.1971&lt;/mn&gt;&lt;mo&gt;.&lt;/mo&gt;&lt;mo&gt;.&lt;/mo&gt;&lt;mo&gt;.&lt;/mo&gt;&lt;mtext&gt;&lt;/mtext&gt;&lt;mo&gt;=&lt;/mo&gt;&lt;msup&gt;&lt;mi&gt;r&lt;/mi&gt;&lt;mn&gt;2&lt;/mn&gt;&lt;/msup&gt;&lt;/mtd&gt;&lt;/mtr&gt;&lt;mtr&gt;&lt;mtd&gt;&lt;msqrt&gt;&lt;mn&gt;38.1971&lt;/mn&gt;&lt;mo&gt;.&lt;/mo&gt;&lt;mo&gt;.&lt;/mo&gt;&lt;/msqrt&gt;&lt;mtext&gt;&lt;/mtext&gt;&lt;mo&gt;=&lt;/mo&gt;&lt;msqrt&gt;&lt;msup&gt;&lt;mi&gt;r&lt;/mi&gt;&lt;mn&gt;2&lt;/mn&gt;&lt;/msup&gt;&lt;/msqrt&gt;&lt;/mtd&gt;&lt;/mtr&gt;&lt;mtr&gt;&lt;mtd&gt;&lt;mn&gt;6.1803&lt;/mn&gt;&lt;mo&gt;.&lt;/mo&gt;&lt;mo&gt;.&lt;/mo&gt;&lt;mo&gt;.&lt;/mo&gt;&lt;mtext&gt;&lt;/mtext&gt;&lt;mo&gt;=&lt;/mo&gt;&lt;mtext&gt;&lt;/mtext&gt;&lt;mi&gt;r&lt;/mi&gt;&lt;/mtd&gt;&lt;/mtr&gt;&lt;mtr&gt;&lt;mtd&gt;&lt;mn&gt;6.18&lt;/mn&gt;&lt;mtext&gt;&lt;/mtext&gt;&lt;mi&gt;c&lt;/mi&gt;&lt;mi&gt;m&lt;/mi&gt;&lt;mtext&gt;&lt;/mtext&gt;&lt;mo&gt;=&lt;/mo&gt;&lt;mi&gt;r&lt;/mi&gt;&lt;/mtd&gt;&lt;/mtr&gt;&lt;/mtable&gt;&lt;/math&gt;" id="1393" name="Google Shape;1393;p87" title="7 lines Line 1: A equals pi r squared Line 2: 120 equals pi r squared Line 3: 120 over pi equals pi r squared over pi Line 4: 38.1971 period period period equals r squared Line 5: the square root of 38.1971 period period equals the square root of r squared Line 6: 6.1803 period period period equals r Line 7: 6.18 c m equals r"/>
          <p:cNvPicPr preferRelativeResize="0"/>
          <p:nvPr/>
        </p:nvPicPr>
        <p:blipFill rotWithShape="1">
          <a:blip r:embed="rId3">
            <a:alphaModFix/>
          </a:blip>
          <a:srcRect b="73032" l="0" r="33844" t="11621"/>
          <a:stretch/>
        </p:blipFill>
        <p:spPr>
          <a:xfrm>
            <a:off x="7182375" y="2274950"/>
            <a:ext cx="1115625" cy="33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20\ =\ \pi r^2\\&amp;#13;&amp;#10;\frac{120}{\pi}=\frac{\pi r^2}{\pi}\\&amp;#13;&amp;#10;38.1971...\ =r^2\\&amp;#13;&amp;#10;\sqrt{38.1971..}\ =\sqrt{r^2}\\&amp;#13;&amp;#10;6.1803...\ =\ r\\&amp;#13;&amp;#10;6.18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20&lt;/mn&gt;&lt;mtext&gt;&lt;/mtext&gt;&lt;mo&gt;=&lt;/mo&gt;&lt;mtext&gt;&lt;/mtext&gt;&lt;mi&gt;π&lt;/mi&gt;&lt;msup&gt;&lt;mi&gt;r&lt;/mi&gt;&lt;mn&gt;2&lt;/mn&gt;&lt;/msup&gt;&lt;/mtd&gt;&lt;/mtr&gt;&lt;mtr&gt;&lt;mtd&gt;&lt;mfrac&gt;&lt;mn&gt;12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38.1971&lt;/mn&gt;&lt;mo&gt;.&lt;/mo&gt;&lt;mo&gt;.&lt;/mo&gt;&lt;mo&gt;.&lt;/mo&gt;&lt;mtext&gt;&lt;/mtext&gt;&lt;mo&gt;=&lt;/mo&gt;&lt;msup&gt;&lt;mi&gt;r&lt;/mi&gt;&lt;mn&gt;2&lt;/mn&gt;&lt;/msup&gt;&lt;/mtd&gt;&lt;/mtr&gt;&lt;mtr&gt;&lt;mtd&gt;&lt;msqrt&gt;&lt;mn&gt;38.1971&lt;/mn&gt;&lt;mo&gt;.&lt;/mo&gt;&lt;mo&gt;.&lt;/mo&gt;&lt;/msqrt&gt;&lt;mtext&gt;&lt;/mtext&gt;&lt;mo&gt;=&lt;/mo&gt;&lt;msqrt&gt;&lt;msup&gt;&lt;mi&gt;r&lt;/mi&gt;&lt;mn&gt;2&lt;/mn&gt;&lt;/msup&gt;&lt;/msqrt&gt;&lt;/mtd&gt;&lt;/mtr&gt;&lt;mtr&gt;&lt;mtd&gt;&lt;mn&gt;6.1803&lt;/mn&gt;&lt;mo&gt;.&lt;/mo&gt;&lt;mo&gt;.&lt;/mo&gt;&lt;mo&gt;.&lt;/mo&gt;&lt;mtext&gt;&lt;/mtext&gt;&lt;mo&gt;=&lt;/mo&gt;&lt;mtext&gt;&lt;/mtext&gt;&lt;mi&gt;r&lt;/mi&gt;&lt;/mtd&gt;&lt;/mtr&gt;&lt;mtr&gt;&lt;mtd&gt;&lt;mn&gt;6.18&lt;/mn&gt;&lt;mtext&gt;&lt;/mtext&gt;&lt;mi&gt;c&lt;/mi&gt;&lt;mi&gt;m&lt;/mi&gt;&lt;mtext&gt;&lt;/mtext&gt;&lt;mo&gt;=&lt;/mo&gt;&lt;mi&gt;r&lt;/mi&gt;&lt;/mtd&gt;&lt;/mtr&gt;&lt;/mtable&gt;&lt;/math&gt;" id="1394" name="Google Shape;1394;p87" title="7 lines Line 1: A equals pi r squared Line 2: 120 equals pi r squared Line 3: 120 over pi equals pi r squared over pi Line 4: 38.1971 period period period equals r squared Line 5: the square root of 38.1971 period period equals the square root of r squared Line 6: 6.1803 period period period equals r Line 7: 6.18 c m equals r"/>
          <p:cNvPicPr preferRelativeResize="0"/>
          <p:nvPr/>
        </p:nvPicPr>
        <p:blipFill rotWithShape="1">
          <a:blip r:embed="rId3">
            <a:alphaModFix/>
          </a:blip>
          <a:srcRect b="54174" l="18093" r="67634" t="26969"/>
          <a:stretch/>
        </p:blipFill>
        <p:spPr>
          <a:xfrm>
            <a:off x="7548823" y="2681750"/>
            <a:ext cx="240675" cy="40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20\ =\ \pi r^2\\&amp;#13;&amp;#10;\frac{120}{\pi}=\frac{\pi r^2}{\pi}\\&amp;#13;&amp;#10;38.1971...\ =r^2\\&amp;#13;&amp;#10;\sqrt{38.1971..}\ =\sqrt{r^2}\\&amp;#13;&amp;#10;6.1803...\ =\ r\\&amp;#13;&amp;#10;6.18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20&lt;/mn&gt;&lt;mtext&gt;&lt;/mtext&gt;&lt;mo&gt;=&lt;/mo&gt;&lt;mtext&gt;&lt;/mtext&gt;&lt;mi&gt;π&lt;/mi&gt;&lt;msup&gt;&lt;mi&gt;r&lt;/mi&gt;&lt;mn&gt;2&lt;/mn&gt;&lt;/msup&gt;&lt;/mtd&gt;&lt;/mtr&gt;&lt;mtr&gt;&lt;mtd&gt;&lt;mfrac&gt;&lt;mn&gt;12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38.1971&lt;/mn&gt;&lt;mo&gt;.&lt;/mo&gt;&lt;mo&gt;.&lt;/mo&gt;&lt;mo&gt;.&lt;/mo&gt;&lt;mtext&gt;&lt;/mtext&gt;&lt;mo&gt;=&lt;/mo&gt;&lt;msup&gt;&lt;mi&gt;r&lt;/mi&gt;&lt;mn&gt;2&lt;/mn&gt;&lt;/msup&gt;&lt;/mtd&gt;&lt;/mtr&gt;&lt;mtr&gt;&lt;mtd&gt;&lt;msqrt&gt;&lt;mn&gt;38.1971&lt;/mn&gt;&lt;mo&gt;.&lt;/mo&gt;&lt;mo&gt;.&lt;/mo&gt;&lt;/msqrt&gt;&lt;mtext&gt;&lt;/mtext&gt;&lt;mo&gt;=&lt;/mo&gt;&lt;msqrt&gt;&lt;msup&gt;&lt;mi&gt;r&lt;/mi&gt;&lt;mn&gt;2&lt;/mn&gt;&lt;/msup&gt;&lt;/msqrt&gt;&lt;/mtd&gt;&lt;/mtr&gt;&lt;mtr&gt;&lt;mtd&gt;&lt;mn&gt;6.1803&lt;/mn&gt;&lt;mo&gt;.&lt;/mo&gt;&lt;mo&gt;.&lt;/mo&gt;&lt;mo&gt;.&lt;/mo&gt;&lt;mtext&gt;&lt;/mtext&gt;&lt;mo&gt;=&lt;/mo&gt;&lt;mtext&gt;&lt;/mtext&gt;&lt;mi&gt;r&lt;/mi&gt;&lt;/mtd&gt;&lt;/mtr&gt;&lt;mtr&gt;&lt;mtd&gt;&lt;mn&gt;6.18&lt;/mn&gt;&lt;mtext&gt;&lt;/mtext&gt;&lt;mi&gt;c&lt;/mi&gt;&lt;mi&gt;m&lt;/mi&gt;&lt;mtext&gt;&lt;/mtext&gt;&lt;mo&gt;=&lt;/mo&gt;&lt;mi&gt;r&lt;/mi&gt;&lt;/mtd&gt;&lt;/mtr&gt;&lt;/mtable&gt;&lt;/math&gt;" id="1395" name="Google Shape;1395;p87" title="7 lines Line 1: A equals pi r squared Line 2: 120 equals pi r squared Line 3: 120 over pi equals pi r squared over pi Line 4: 38.1971 period period period equals r squared Line 5: the square root of 38.1971 period period equals the square root of r squared Line 6: 6.1803 period period period equals r Line 7: 6.18 c m equals r"/>
          <p:cNvPicPr preferRelativeResize="0"/>
          <p:nvPr/>
        </p:nvPicPr>
        <p:blipFill rotWithShape="1">
          <a:blip r:embed="rId3">
            <a:alphaModFix/>
          </a:blip>
          <a:srcRect b="41269" l="0" r="16226" t="44732"/>
          <a:stretch/>
        </p:blipFill>
        <p:spPr>
          <a:xfrm>
            <a:off x="6648975" y="3140675"/>
            <a:ext cx="1412699" cy="301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20\ =\ \pi r^2\\&amp;#13;&amp;#10;\frac{120}{\pi}=\frac{\pi r^2}{\pi}\\&amp;#13;&amp;#10;38.1971...\ =r^2\\&amp;#13;&amp;#10;\sqrt{38.1971..}\ =\sqrt{r^2}\\&amp;#13;&amp;#10;6.1803...\ =\ r\\&amp;#13;&amp;#10;6.18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20&lt;/mn&gt;&lt;mtext&gt;&lt;/mtext&gt;&lt;mo&gt;=&lt;/mo&gt;&lt;mtext&gt;&lt;/mtext&gt;&lt;mi&gt;π&lt;/mi&gt;&lt;msup&gt;&lt;mi&gt;r&lt;/mi&gt;&lt;mn&gt;2&lt;/mn&gt;&lt;/msup&gt;&lt;/mtd&gt;&lt;/mtr&gt;&lt;mtr&gt;&lt;mtd&gt;&lt;mfrac&gt;&lt;mn&gt;12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38.1971&lt;/mn&gt;&lt;mo&gt;.&lt;/mo&gt;&lt;mo&gt;.&lt;/mo&gt;&lt;mo&gt;.&lt;/mo&gt;&lt;mtext&gt;&lt;/mtext&gt;&lt;mo&gt;=&lt;/mo&gt;&lt;msup&gt;&lt;mi&gt;r&lt;/mi&gt;&lt;mn&gt;2&lt;/mn&gt;&lt;/msup&gt;&lt;/mtd&gt;&lt;/mtr&gt;&lt;mtr&gt;&lt;mtd&gt;&lt;msqrt&gt;&lt;mn&gt;38.1971&lt;/mn&gt;&lt;mo&gt;.&lt;/mo&gt;&lt;mo&gt;.&lt;/mo&gt;&lt;/msqrt&gt;&lt;mtext&gt;&lt;/mtext&gt;&lt;mo&gt;=&lt;/mo&gt;&lt;msqrt&gt;&lt;msup&gt;&lt;mi&gt;r&lt;/mi&gt;&lt;mn&gt;2&lt;/mn&gt;&lt;/msup&gt;&lt;/msqrt&gt;&lt;/mtd&gt;&lt;/mtr&gt;&lt;mtr&gt;&lt;mtd&gt;&lt;mn&gt;6.1803&lt;/mn&gt;&lt;mo&gt;.&lt;/mo&gt;&lt;mo&gt;.&lt;/mo&gt;&lt;mo&gt;.&lt;/mo&gt;&lt;mtext&gt;&lt;/mtext&gt;&lt;mo&gt;=&lt;/mo&gt;&lt;mtext&gt;&lt;/mtext&gt;&lt;mi&gt;r&lt;/mi&gt;&lt;/mtd&gt;&lt;/mtr&gt;&lt;mtr&gt;&lt;mtd&gt;&lt;mn&gt;6.18&lt;/mn&gt;&lt;mtext&gt;&lt;/mtext&gt;&lt;mi&gt;c&lt;/mi&gt;&lt;mi&gt;m&lt;/mi&gt;&lt;mtext&gt;&lt;/mtext&gt;&lt;mo&gt;=&lt;/mo&gt;&lt;mi&gt;r&lt;/mi&gt;&lt;/mtd&gt;&lt;/mtr&gt;&lt;/mtable&gt;&lt;/math&gt;" id="1396" name="Google Shape;1396;p87" title="7 lines Line 1: A equals pi r squared Line 2: 120 equals pi r squared Line 3: 120 over pi equals pi r squared over pi Line 4: 38.1971 period period period equals r squared Line 5: the square root of 38.1971 period period equals the square root of r squared Line 6: 6.1803 period period period equals r Line 7: 6.18 c m equals r"/>
          <p:cNvPicPr preferRelativeResize="0"/>
          <p:nvPr/>
        </p:nvPicPr>
        <p:blipFill rotWithShape="1">
          <a:blip r:embed="rId3">
            <a:alphaModFix/>
          </a:blip>
          <a:srcRect b="24780" l="0" r="0" t="58731"/>
          <a:stretch/>
        </p:blipFill>
        <p:spPr>
          <a:xfrm>
            <a:off x="6503322" y="3518450"/>
            <a:ext cx="1686325" cy="35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20\ =\ \pi r^2\\&amp;#13;&amp;#10;\frac{120}{\pi}=\frac{\pi r^2}{\pi}\\&amp;#13;&amp;#10;38.1971...\ =r^2\\&amp;#13;&amp;#10;\sqrt{38.1971..}\ =\sqrt{r^2}\\&amp;#13;&amp;#10;6.1803...\ =\ r\\&amp;#13;&amp;#10;6.18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20&lt;/mn&gt;&lt;mtext&gt;&lt;/mtext&gt;&lt;mo&gt;=&lt;/mo&gt;&lt;mtext&gt;&lt;/mtext&gt;&lt;mi&gt;π&lt;/mi&gt;&lt;msup&gt;&lt;mi&gt;r&lt;/mi&gt;&lt;mn&gt;2&lt;/mn&gt;&lt;/msup&gt;&lt;/mtd&gt;&lt;/mtr&gt;&lt;mtr&gt;&lt;mtd&gt;&lt;mfrac&gt;&lt;mn&gt;12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38.1971&lt;/mn&gt;&lt;mo&gt;.&lt;/mo&gt;&lt;mo&gt;.&lt;/mo&gt;&lt;mo&gt;.&lt;/mo&gt;&lt;mtext&gt;&lt;/mtext&gt;&lt;mo&gt;=&lt;/mo&gt;&lt;msup&gt;&lt;mi&gt;r&lt;/mi&gt;&lt;mn&gt;2&lt;/mn&gt;&lt;/msup&gt;&lt;/mtd&gt;&lt;/mtr&gt;&lt;mtr&gt;&lt;mtd&gt;&lt;msqrt&gt;&lt;mn&gt;38.1971&lt;/mn&gt;&lt;mo&gt;.&lt;/mo&gt;&lt;mo&gt;.&lt;/mo&gt;&lt;/msqrt&gt;&lt;mtext&gt;&lt;/mtext&gt;&lt;mo&gt;=&lt;/mo&gt;&lt;msqrt&gt;&lt;msup&gt;&lt;mi&gt;r&lt;/mi&gt;&lt;mn&gt;2&lt;/mn&gt;&lt;/msup&gt;&lt;/msqrt&gt;&lt;/mtd&gt;&lt;/mtr&gt;&lt;mtr&gt;&lt;mtd&gt;&lt;mn&gt;6.1803&lt;/mn&gt;&lt;mo&gt;.&lt;/mo&gt;&lt;mo&gt;.&lt;/mo&gt;&lt;mo&gt;.&lt;/mo&gt;&lt;mtext&gt;&lt;/mtext&gt;&lt;mo&gt;=&lt;/mo&gt;&lt;mtext&gt;&lt;/mtext&gt;&lt;mi&gt;r&lt;/mi&gt;&lt;/mtd&gt;&lt;/mtr&gt;&lt;mtr&gt;&lt;mtd&gt;&lt;mn&gt;6.18&lt;/mn&gt;&lt;mtext&gt;&lt;/mtext&gt;&lt;mi&gt;c&lt;/mi&gt;&lt;mi&gt;m&lt;/mi&gt;&lt;mtext&gt;&lt;/mtext&gt;&lt;mo&gt;=&lt;/mo&gt;&lt;mi&gt;r&lt;/mi&gt;&lt;/mtd&gt;&lt;/mtr&gt;&lt;/mtable&gt;&lt;/math&gt;" id="1397" name="Google Shape;1397;p87" title="7 lines Line 1: A equals pi r squared Line 2: 120 equals pi r squared Line 3: 120 over pi equals pi r squared over pi Line 4: 38.1971 period period period equals r squared Line 5: the square root of 38.1971 period period equals the square root of r squared Line 6: 6.1803 period period period equals r Line 7: 6.18 c m equals r"/>
          <p:cNvPicPr preferRelativeResize="0"/>
          <p:nvPr/>
        </p:nvPicPr>
        <p:blipFill rotWithShape="1">
          <a:blip r:embed="rId3">
            <a:alphaModFix/>
          </a:blip>
          <a:srcRect b="10509" l="0" r="22075" t="75492"/>
          <a:stretch/>
        </p:blipFill>
        <p:spPr>
          <a:xfrm>
            <a:off x="6756727" y="3955700"/>
            <a:ext cx="1314050" cy="301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20\ =\ \pi r^2\\&amp;#13;&amp;#10;\frac{120}{\pi}=\frac{\pi r^2}{\pi}\\&amp;#13;&amp;#10;38.1971...\ =r^2\\&amp;#13;&amp;#10;\sqrt{38.1971..}\ =\sqrt{r^2}\\&amp;#13;&amp;#10;6.1803...\ =\ r\\&amp;#13;&amp;#10;6.18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20&lt;/mn&gt;&lt;mtext&gt;&lt;/mtext&gt;&lt;mo&gt;=&lt;/mo&gt;&lt;mtext&gt;&lt;/mtext&gt;&lt;mi&gt;π&lt;/mi&gt;&lt;msup&gt;&lt;mi&gt;r&lt;/mi&gt;&lt;mn&gt;2&lt;/mn&gt;&lt;/msup&gt;&lt;/mtd&gt;&lt;/mtr&gt;&lt;mtr&gt;&lt;mtd&gt;&lt;mfrac&gt;&lt;mn&gt;12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38.1971&lt;/mn&gt;&lt;mo&gt;.&lt;/mo&gt;&lt;mo&gt;.&lt;/mo&gt;&lt;mo&gt;.&lt;/mo&gt;&lt;mtext&gt;&lt;/mtext&gt;&lt;mo&gt;=&lt;/mo&gt;&lt;msup&gt;&lt;mi&gt;r&lt;/mi&gt;&lt;mn&gt;2&lt;/mn&gt;&lt;/msup&gt;&lt;/mtd&gt;&lt;/mtr&gt;&lt;mtr&gt;&lt;mtd&gt;&lt;msqrt&gt;&lt;mn&gt;38.1971&lt;/mn&gt;&lt;mo&gt;.&lt;/mo&gt;&lt;mo&gt;.&lt;/mo&gt;&lt;/msqrt&gt;&lt;mtext&gt;&lt;/mtext&gt;&lt;mo&gt;=&lt;/mo&gt;&lt;msqrt&gt;&lt;msup&gt;&lt;mi&gt;r&lt;/mi&gt;&lt;mn&gt;2&lt;/mn&gt;&lt;/msup&gt;&lt;/msqrt&gt;&lt;/mtd&gt;&lt;/mtr&gt;&lt;mtr&gt;&lt;mtd&gt;&lt;mn&gt;6.1803&lt;/mn&gt;&lt;mo&gt;.&lt;/mo&gt;&lt;mo&gt;.&lt;/mo&gt;&lt;mo&gt;.&lt;/mo&gt;&lt;mtext&gt;&lt;/mtext&gt;&lt;mo&gt;=&lt;/mo&gt;&lt;mtext&gt;&lt;/mtext&gt;&lt;mi&gt;r&lt;/mi&gt;&lt;/mtd&gt;&lt;/mtr&gt;&lt;mtr&gt;&lt;mtd&gt;&lt;mn&gt;6.18&lt;/mn&gt;&lt;mtext&gt;&lt;/mtext&gt;&lt;mi&gt;c&lt;/mi&gt;&lt;mi&gt;m&lt;/mi&gt;&lt;mtext&gt;&lt;/mtext&gt;&lt;mo&gt;=&lt;/mo&gt;&lt;mi&gt;r&lt;/mi&gt;&lt;/mtd&gt;&lt;/mtr&gt;&lt;/mtable&gt;&lt;/math&gt;" id="1398" name="Google Shape;1398;p87" title="7 lines Line 1: A equals pi r squared Line 2: 120 equals pi r squared Line 3: 120 over pi equals pi r squared over pi Line 4: 38.1971 period period period equals r squared Line 5: the square root of 38.1971 period period equals the square root of r squared Line 6: 6.1803 period period period equals r Line 7: 6.18 c m equals r"/>
          <p:cNvPicPr preferRelativeResize="0"/>
          <p:nvPr/>
        </p:nvPicPr>
        <p:blipFill rotWithShape="1">
          <a:blip r:embed="rId3">
            <a:alphaModFix/>
          </a:blip>
          <a:srcRect b="54174" l="0" r="82499" t="26969"/>
          <a:stretch/>
        </p:blipFill>
        <p:spPr>
          <a:xfrm>
            <a:off x="7154952" y="2609975"/>
            <a:ext cx="393875" cy="542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120\ =\ \pi r^2\\&amp;#13;&amp;#10;\frac{120}{\pi}=\frac{\pi r^2}{\pi}\\&amp;#13;&amp;#10;38.1971...\ =r^2\\&amp;#13;&amp;#10;\sqrt{38.1971..}\ =\sqrt{r^2}\\&amp;#13;&amp;#10;6.1803...\ =\ r\\&amp;#13;&amp;#10;6.18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20&lt;/mn&gt;&lt;mtext&gt;&lt;/mtext&gt;&lt;mo&gt;=&lt;/mo&gt;&lt;mtext&gt;&lt;/mtext&gt;&lt;mi&gt;π&lt;/mi&gt;&lt;msup&gt;&lt;mi&gt;r&lt;/mi&gt;&lt;mn&gt;2&lt;/mn&gt;&lt;/msup&gt;&lt;/mtd&gt;&lt;/mtr&gt;&lt;mtr&gt;&lt;mtd&gt;&lt;mfrac&gt;&lt;mn&gt;12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38.1971&lt;/mn&gt;&lt;mo&gt;.&lt;/mo&gt;&lt;mo&gt;.&lt;/mo&gt;&lt;mo&gt;.&lt;/mo&gt;&lt;mtext&gt;&lt;/mtext&gt;&lt;mo&gt;=&lt;/mo&gt;&lt;msup&gt;&lt;mi&gt;r&lt;/mi&gt;&lt;mn&gt;2&lt;/mn&gt;&lt;/msup&gt;&lt;/mtd&gt;&lt;/mtr&gt;&lt;mtr&gt;&lt;mtd&gt;&lt;msqrt&gt;&lt;mn&gt;38.1971&lt;/mn&gt;&lt;mo&gt;.&lt;/mo&gt;&lt;mo&gt;.&lt;/mo&gt;&lt;/msqrt&gt;&lt;mtext&gt;&lt;/mtext&gt;&lt;mo&gt;=&lt;/mo&gt;&lt;msqrt&gt;&lt;msup&gt;&lt;mi&gt;r&lt;/mi&gt;&lt;mn&gt;2&lt;/mn&gt;&lt;/msup&gt;&lt;/msqrt&gt;&lt;/mtd&gt;&lt;/mtr&gt;&lt;mtr&gt;&lt;mtd&gt;&lt;mn&gt;6.1803&lt;/mn&gt;&lt;mo&gt;.&lt;/mo&gt;&lt;mo&gt;.&lt;/mo&gt;&lt;mo&gt;.&lt;/mo&gt;&lt;mtext&gt;&lt;/mtext&gt;&lt;mo&gt;=&lt;/mo&gt;&lt;mtext&gt;&lt;/mtext&gt;&lt;mi&gt;r&lt;/mi&gt;&lt;/mtd&gt;&lt;/mtr&gt;&lt;mtr&gt;&lt;mtd&gt;&lt;mn&gt;6.18&lt;/mn&gt;&lt;mtext&gt;&lt;/mtext&gt;&lt;mi&gt;c&lt;/mi&gt;&lt;mi&gt;m&lt;/mi&gt;&lt;mtext&gt;&lt;/mtext&gt;&lt;mo&gt;=&lt;/mo&gt;&lt;mi&gt;r&lt;/mi&gt;&lt;/mtd&gt;&lt;/mtr&gt;&lt;/mtable&gt;&lt;/math&gt;" id="1399" name="Google Shape;1399;p87" title="7 lines Line 1: A equals pi r squared Line 2: 120 equals pi r squared Line 3: 120 over pi equals pi r squared over pi Line 4: 38.1971 period period period equals r squared Line 5: the square root of 38.1971 period period equals the square root of r squared Line 6: 6.1803 period period period equals r Line 7: 6.18 c m equals r"/>
          <p:cNvPicPr preferRelativeResize="0"/>
          <p:nvPr/>
        </p:nvPicPr>
        <p:blipFill rotWithShape="1">
          <a:blip r:embed="rId3">
            <a:alphaModFix/>
          </a:blip>
          <a:srcRect b="54174" l="33501" r="48998" t="26969"/>
          <a:stretch/>
        </p:blipFill>
        <p:spPr>
          <a:xfrm>
            <a:off x="7801949" y="2609975"/>
            <a:ext cx="393875" cy="54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0" name="Google Shape;1400;p87"/>
          <p:cNvGrpSpPr/>
          <p:nvPr/>
        </p:nvGrpSpPr>
        <p:grpSpPr>
          <a:xfrm>
            <a:off x="6490453" y="3098125"/>
            <a:ext cx="1761900" cy="1462123"/>
            <a:chOff x="6338053" y="3098125"/>
            <a:chExt cx="1761900" cy="1462123"/>
          </a:xfrm>
        </p:grpSpPr>
        <p:cxnSp>
          <p:nvCxnSpPr>
            <p:cNvPr id="1401" name="Google Shape;1401;p87"/>
            <p:cNvCxnSpPr/>
            <p:nvPr/>
          </p:nvCxnSpPr>
          <p:spPr>
            <a:xfrm>
              <a:off x="6338053" y="3860125"/>
              <a:ext cx="1761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2" name="Google Shape;1402;p87"/>
            <p:cNvCxnSpPr/>
            <p:nvPr/>
          </p:nvCxnSpPr>
          <p:spPr>
            <a:xfrm>
              <a:off x="6338053" y="4241125"/>
              <a:ext cx="1761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3" name="Google Shape;1403;p87"/>
            <p:cNvCxnSpPr/>
            <p:nvPr/>
          </p:nvCxnSpPr>
          <p:spPr>
            <a:xfrm>
              <a:off x="6338053" y="4560248"/>
              <a:ext cx="1761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87"/>
            <p:cNvCxnSpPr/>
            <p:nvPr/>
          </p:nvCxnSpPr>
          <p:spPr>
            <a:xfrm>
              <a:off x="6338053" y="3460218"/>
              <a:ext cx="1761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87"/>
            <p:cNvCxnSpPr/>
            <p:nvPr/>
          </p:nvCxnSpPr>
          <p:spPr>
            <a:xfrm>
              <a:off x="6338053" y="3098125"/>
              <a:ext cx="1761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06" name="Google Shape;1406;p87"/>
          <p:cNvSpPr txBox="1"/>
          <p:nvPr/>
        </p:nvSpPr>
        <p:spPr>
          <a:xfrm>
            <a:off x="2267600" y="4576114"/>
            <a:ext cx="1027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7" name="Google Shape;1407;p87"/>
          <p:cNvSpPr txBox="1"/>
          <p:nvPr/>
        </p:nvSpPr>
        <p:spPr>
          <a:xfrm>
            <a:off x="2306074" y="4299500"/>
            <a:ext cx="1855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7.98 cm = 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8" name="Google Shape;1408;p87"/>
          <p:cNvSpPr txBox="1"/>
          <p:nvPr/>
        </p:nvSpPr>
        <p:spPr>
          <a:xfrm>
            <a:off x="6728700" y="4576135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9" name="Google Shape;1409;p87"/>
          <p:cNvSpPr txBox="1"/>
          <p:nvPr/>
        </p:nvSpPr>
        <p:spPr>
          <a:xfrm>
            <a:off x="6814631" y="4318765"/>
            <a:ext cx="21393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6.18 cm = 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88"/>
          <p:cNvSpPr txBox="1"/>
          <p:nvPr>
            <p:ph idx="1" type="subTitle"/>
          </p:nvPr>
        </p:nvSpPr>
        <p:spPr>
          <a:xfrm>
            <a:off x="337825" y="810000"/>
            <a:ext cx="3982200" cy="10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 of the circle is 200 cm</a:t>
            </a:r>
            <a:r>
              <a:rPr baseline="30000" lang="en-GB"/>
              <a:t>2</a:t>
            </a:r>
            <a:r>
              <a:rPr lang="en-GB"/>
              <a:t>.</a:t>
            </a:r>
            <a:br>
              <a:rPr lang="en-GB"/>
            </a:br>
            <a:r>
              <a:rPr lang="en-GB"/>
              <a:t>Calculate the radius, giving your answer to 2 decimal place.</a:t>
            </a:r>
            <a:endParaRPr/>
          </a:p>
        </p:txBody>
      </p:sp>
      <p:sp>
        <p:nvSpPr>
          <p:cNvPr id="1415" name="Google Shape;1415;p88"/>
          <p:cNvSpPr txBox="1"/>
          <p:nvPr>
            <p:ph idx="2" type="subTitle"/>
          </p:nvPr>
        </p:nvSpPr>
        <p:spPr>
          <a:xfrm>
            <a:off x="4824000" y="810000"/>
            <a:ext cx="3982200" cy="10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 of the circle is 80 cm</a:t>
            </a:r>
            <a:r>
              <a:rPr baseline="30000" lang="en-GB"/>
              <a:t>2</a:t>
            </a:r>
            <a:r>
              <a:rPr lang="en-GB"/>
              <a:t>.</a:t>
            </a:r>
            <a:br>
              <a:rPr lang="en-GB"/>
            </a:br>
            <a:r>
              <a:rPr lang="en-GB"/>
              <a:t>Calculate the radius, giving your answer to 2 decimal place.</a:t>
            </a:r>
            <a:endParaRPr/>
          </a:p>
        </p:txBody>
      </p:sp>
      <p:sp>
        <p:nvSpPr>
          <p:cNvPr id="1416" name="Google Shape;141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417" name="Google Shape;1417;p88"/>
          <p:cNvSpPr/>
          <p:nvPr/>
        </p:nvSpPr>
        <p:spPr>
          <a:xfrm>
            <a:off x="446500" y="2112250"/>
            <a:ext cx="1412700" cy="141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8" name="Google Shape;1418;p88"/>
          <p:cNvCxnSpPr/>
          <p:nvPr/>
        </p:nvCxnSpPr>
        <p:spPr>
          <a:xfrm>
            <a:off x="1162028" y="2822396"/>
            <a:ext cx="572700" cy="330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9" name="Google Shape;1419;p88"/>
          <p:cNvSpPr/>
          <p:nvPr/>
        </p:nvSpPr>
        <p:spPr>
          <a:xfrm>
            <a:off x="1142233" y="2795772"/>
            <a:ext cx="45300" cy="453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88"/>
          <p:cNvSpPr txBox="1"/>
          <p:nvPr/>
        </p:nvSpPr>
        <p:spPr>
          <a:xfrm>
            <a:off x="1428237" y="2689871"/>
            <a:ext cx="250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21" name="Google Shape;1421;p88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87873" l="0" r="49379" t="0"/>
          <a:stretch/>
        </p:blipFill>
        <p:spPr>
          <a:xfrm>
            <a:off x="2845024" y="1929750"/>
            <a:ext cx="876329" cy="268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22" name="Google Shape;1422;p88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73799" l="0" r="38427" t="13703"/>
          <a:stretch/>
        </p:blipFill>
        <p:spPr>
          <a:xfrm>
            <a:off x="2679030" y="2302048"/>
            <a:ext cx="1065936" cy="277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23" name="Google Shape;1423;p88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53816" l="18971" r="68363" t="25744"/>
          <a:stretch/>
        </p:blipFill>
        <p:spPr>
          <a:xfrm>
            <a:off x="3072751" y="2637450"/>
            <a:ext cx="219275" cy="453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24" name="Google Shape;1424;p88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41731" l="0" r="16922" t="44672"/>
          <a:stretch/>
        </p:blipFill>
        <p:spPr>
          <a:xfrm>
            <a:off x="2156626" y="3125645"/>
            <a:ext cx="1438261" cy="301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25" name="Google Shape;1425;p88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23099" l="0" r="0" t="59276"/>
          <a:stretch/>
        </p:blipFill>
        <p:spPr>
          <a:xfrm>
            <a:off x="1960725" y="3517886"/>
            <a:ext cx="1731213" cy="390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26" name="Google Shape;1426;p88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10258" l="0" r="0" t="74887"/>
          <a:stretch/>
        </p:blipFill>
        <p:spPr>
          <a:xfrm>
            <a:off x="2258687" y="3932473"/>
            <a:ext cx="1731213" cy="329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27" name="Google Shape;1427;p88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53815" l="0" r="82816" t="25745"/>
          <a:stretch/>
        </p:blipFill>
        <p:spPr>
          <a:xfrm>
            <a:off x="2675274" y="2573575"/>
            <a:ext cx="372999" cy="568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28" name="Google Shape;1428;p88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53815" l="31923" r="50893" t="25745"/>
          <a:stretch/>
        </p:blipFill>
        <p:spPr>
          <a:xfrm>
            <a:off x="3292026" y="2573575"/>
            <a:ext cx="372999" cy="56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88"/>
          <p:cNvSpPr txBox="1"/>
          <p:nvPr/>
        </p:nvSpPr>
        <p:spPr>
          <a:xfrm>
            <a:off x="329325" y="3701000"/>
            <a:ext cx="106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0" name="Google Shape;1430;p88"/>
          <p:cNvCxnSpPr/>
          <p:nvPr/>
        </p:nvCxnSpPr>
        <p:spPr>
          <a:xfrm flipH="1" rot="10800000">
            <a:off x="758100" y="3226775"/>
            <a:ext cx="202200" cy="49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1" name="Google Shape;1431;p88"/>
          <p:cNvSpPr/>
          <p:nvPr/>
        </p:nvSpPr>
        <p:spPr>
          <a:xfrm>
            <a:off x="4982871" y="2183826"/>
            <a:ext cx="1195500" cy="1195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2" name="Google Shape;1432;p88"/>
          <p:cNvCxnSpPr>
            <a:endCxn id="1431" idx="0"/>
          </p:cNvCxnSpPr>
          <p:nvPr/>
        </p:nvCxnSpPr>
        <p:spPr>
          <a:xfrm rot="10800000">
            <a:off x="5580621" y="2183826"/>
            <a:ext cx="7800" cy="60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3" name="Google Shape;1433;p88"/>
          <p:cNvSpPr/>
          <p:nvPr/>
        </p:nvSpPr>
        <p:spPr>
          <a:xfrm>
            <a:off x="5571696" y="2762310"/>
            <a:ext cx="38100" cy="381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8"/>
          <p:cNvSpPr txBox="1"/>
          <p:nvPr/>
        </p:nvSpPr>
        <p:spPr>
          <a:xfrm>
            <a:off x="5645839" y="2326426"/>
            <a:ext cx="211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5" name="Google Shape;1435;p88"/>
          <p:cNvSpPr txBox="1"/>
          <p:nvPr/>
        </p:nvSpPr>
        <p:spPr>
          <a:xfrm>
            <a:off x="4883701" y="3528429"/>
            <a:ext cx="9021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6" name="Google Shape;1436;p88"/>
          <p:cNvCxnSpPr/>
          <p:nvPr/>
        </p:nvCxnSpPr>
        <p:spPr>
          <a:xfrm flipH="1" rot="10800000">
            <a:off x="5246590" y="3127097"/>
            <a:ext cx="171000" cy="421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begin{array}{l}A\ =\ \pi r^2\\&amp;#13;&amp;#10;150\ =\ \pi r^2\\&amp;#13;&amp;#10;\frac{150}{\pi}=\frac{\pi r^2}{\pi}\\&amp;#13;&amp;#10;47.746...\ =r^2\\&amp;#13;&amp;#10;\sqrt{47.746...}\ =\sqrt{r^2}\\&amp;#13;&amp;#10;6.9098...\ =\ r\\&amp;#13;&amp;#10;6.91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150&lt;/mn&gt;&lt;mtext&gt;&lt;/mtext&gt;&lt;mo&gt;=&lt;/mo&gt;&lt;mtext&gt;&lt;/mtext&gt;&lt;mi&gt;π&lt;/mi&gt;&lt;msup&gt;&lt;mi&gt;r&lt;/mi&gt;&lt;mn&gt;2&lt;/mn&gt;&lt;/msup&gt;&lt;/mtd&gt;&lt;/mtr&gt;&lt;mtr&gt;&lt;mtd&gt;&lt;mfrac&gt;&lt;mn&gt;15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47.746&lt;/mn&gt;&lt;mo&gt;.&lt;/mo&gt;&lt;mo&gt;.&lt;/mo&gt;&lt;mo&gt;.&lt;/mo&gt;&lt;mtext&gt;&lt;/mtext&gt;&lt;mo&gt;=&lt;/mo&gt;&lt;msup&gt;&lt;mi&gt;r&lt;/mi&gt;&lt;mn&gt;2&lt;/mn&gt;&lt;/msup&gt;&lt;/mtd&gt;&lt;/mtr&gt;&lt;mtr&gt;&lt;mtd&gt;&lt;msqrt&gt;&lt;mn&gt;47.746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6.9098&lt;/mn&gt;&lt;mo&gt;.&lt;/mo&gt;&lt;mo&gt;.&lt;/mo&gt;&lt;mo&gt;.&lt;/mo&gt;&lt;mtext&gt;&lt;/mtext&gt;&lt;mo&gt;=&lt;/mo&gt;&lt;mtext&gt;&lt;/mtext&gt;&lt;mi&gt;r&lt;/mi&gt;&lt;/mtd&gt;&lt;/mtr&gt;&lt;mtr&gt;&lt;mtd&gt;&lt;mn&gt;6.91&lt;/mn&gt;&lt;mtext&gt;&lt;/mtext&gt;&lt;mi&gt;c&lt;/mi&gt;&lt;mi&gt;m&lt;/mi&gt;&lt;mtext&gt;&lt;/mtext&gt;&lt;mo&gt;=&lt;/mo&gt;&lt;mi&gt;r&lt;/mi&gt;&lt;/mtd&gt;&lt;/mtr&gt;&lt;/mtable&gt;&lt;/math&gt;" id="1437" name="Google Shape;1437;p88" title="7 lines Line 1: A equals pi r squared Line 2: 150 equals pi r squared Line 3: 150 over pi equals pi r squared over pi Line 4: 47.746 period period period equals r squared Line 5: the square root of 47.746 period period period equals the square root of r squared Line 6: 6.9098 period period period equals r Line 7: 6.91 c m equals r"/>
          <p:cNvPicPr preferRelativeResize="0"/>
          <p:nvPr/>
        </p:nvPicPr>
        <p:blipFill rotWithShape="1">
          <a:blip r:embed="rId4">
            <a:alphaModFix/>
          </a:blip>
          <a:srcRect b="88211" l="0" r="47528" t="0"/>
          <a:stretch/>
        </p:blipFill>
        <p:spPr>
          <a:xfrm>
            <a:off x="7343323" y="1952185"/>
            <a:ext cx="831645" cy="24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80\ =\ \pi r^2\\&amp;#13;&amp;#10;\frac{80}{\pi}=\frac{\pi r^2}{\pi}\\&amp;#13;&amp;#10;25.464...\ =r^2\\&amp;#13;&amp;#10;\sqrt{25.464...}\ =\sqrt{r^2}\\&amp;#13;&amp;#10;5.0462...\ =\ r\\&amp;#13;&amp;#10;5.05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80&lt;/mn&gt;&lt;mtext&gt;&lt;/mtext&gt;&lt;mo&gt;=&lt;/mo&gt;&lt;mtext&gt;&lt;/mtext&gt;&lt;mi&gt;π&lt;/mi&gt;&lt;msup&gt;&lt;mi&gt;r&lt;/mi&gt;&lt;mn&gt;2&lt;/mn&gt;&lt;/msup&gt;&lt;/mtd&gt;&lt;/mtr&gt;&lt;mtr&gt;&lt;mtd&gt;&lt;mfrac&gt;&lt;mn&gt;8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25.464&lt;/mn&gt;&lt;mo&gt;.&lt;/mo&gt;&lt;mo&gt;.&lt;/mo&gt;&lt;mo&gt;.&lt;/mo&gt;&lt;mtext&gt;&lt;/mtext&gt;&lt;mo&gt;=&lt;/mo&gt;&lt;msup&gt;&lt;mi&gt;r&lt;/mi&gt;&lt;mn&gt;2&lt;/mn&gt;&lt;/msup&gt;&lt;/mtd&gt;&lt;/mtr&gt;&lt;mtr&gt;&lt;mtd&gt;&lt;msqrt&gt;&lt;mn&gt;25.464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5.0462&lt;/mn&gt;&lt;mo&gt;.&lt;/mo&gt;&lt;mo&gt;.&lt;/mo&gt;&lt;mo&gt;.&lt;/mo&gt;&lt;mtext&gt;&lt;/mtext&gt;&lt;mo&gt;=&lt;/mo&gt;&lt;mtext&gt;&lt;/mtext&gt;&lt;mi&gt;r&lt;/mi&gt;&lt;/mtd&gt;&lt;/mtr&gt;&lt;mtr&gt;&lt;mtd&gt;&lt;mn&gt;5.05&lt;/mn&gt;&lt;mtext&gt;&lt;/mtext&gt;&lt;mi&gt;c&lt;/mi&gt;&lt;mi&gt;m&lt;/mi&gt;&lt;mtext&gt;&lt;/mtext&gt;&lt;mo&gt;=&lt;/mo&gt;&lt;mi&gt;r&lt;/mi&gt;&lt;/mtd&gt;&lt;/mtr&gt;&lt;/mtable&gt;&lt;/math&gt;" id="1438" name="Google Shape;1438;p88" title="7 lines Line 1: A equals pi r squared Line 2: 80 equals pi r squared Line 3: 80 over pi equals pi r squared over pi Line 4: 25.464 period period period equals r squared Line 5: the square root of 25.464 period period period equals the square root of r squared Line 6: 5.0462 period period period equals r Line 7: 5.05 c m equals r"/>
          <p:cNvPicPr preferRelativeResize="0"/>
          <p:nvPr/>
        </p:nvPicPr>
        <p:blipFill rotWithShape="1">
          <a:blip r:embed="rId5">
            <a:alphaModFix/>
          </a:blip>
          <a:srcRect b="73681" l="0" r="0" t="13126"/>
          <a:stretch/>
        </p:blipFill>
        <p:spPr>
          <a:xfrm>
            <a:off x="7284901" y="2260025"/>
            <a:ext cx="1594250" cy="277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80\ =\ \pi r^2\\&amp;#13;&amp;#10;\frac{80}{\pi}=\frac{\pi r^2}{\pi}\\&amp;#13;&amp;#10;25.464...\ =r^2\\&amp;#13;&amp;#10;\sqrt{25.464...}\ =\sqrt{r^2}\\&amp;#13;&amp;#10;5.0462...\ =\ r\\&amp;#13;&amp;#10;5.05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80&lt;/mn&gt;&lt;mtext&gt;&lt;/mtext&gt;&lt;mo&gt;=&lt;/mo&gt;&lt;mtext&gt;&lt;/mtext&gt;&lt;mi&gt;π&lt;/mi&gt;&lt;msup&gt;&lt;mi&gt;r&lt;/mi&gt;&lt;mn&gt;2&lt;/mn&gt;&lt;/msup&gt;&lt;/mtd&gt;&lt;/mtr&gt;&lt;mtr&gt;&lt;mtd&gt;&lt;mfrac&gt;&lt;mn&gt;8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25.464&lt;/mn&gt;&lt;mo&gt;.&lt;/mo&gt;&lt;mo&gt;.&lt;/mo&gt;&lt;mo&gt;.&lt;/mo&gt;&lt;mtext&gt;&lt;/mtext&gt;&lt;mo&gt;=&lt;/mo&gt;&lt;msup&gt;&lt;mi&gt;r&lt;/mi&gt;&lt;mn&gt;2&lt;/mn&gt;&lt;/msup&gt;&lt;/mtd&gt;&lt;/mtr&gt;&lt;mtr&gt;&lt;mtd&gt;&lt;msqrt&gt;&lt;mn&gt;25.464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5.0462&lt;/mn&gt;&lt;mo&gt;.&lt;/mo&gt;&lt;mo&gt;.&lt;/mo&gt;&lt;mo&gt;.&lt;/mo&gt;&lt;mtext&gt;&lt;/mtext&gt;&lt;mo&gt;=&lt;/mo&gt;&lt;mtext&gt;&lt;/mtext&gt;&lt;mi&gt;r&lt;/mi&gt;&lt;/mtd&gt;&lt;/mtr&gt;&lt;mtr&gt;&lt;mtd&gt;&lt;mn&gt;5.05&lt;/mn&gt;&lt;mtext&gt;&lt;/mtext&gt;&lt;mi&gt;c&lt;/mi&gt;&lt;mi&gt;m&lt;/mi&gt;&lt;mtext&gt;&lt;/mtext&gt;&lt;mo&gt;=&lt;/mo&gt;&lt;mi&gt;r&lt;/mi&gt;&lt;/mtd&gt;&lt;/mtr&gt;&lt;/mtable&gt;&lt;/math&gt;" id="1439" name="Google Shape;1439;p88" title="7 lines Line 1: A equals pi r squared Line 2: 80 equals pi r squared Line 3: 80 over pi equals pi r squared over pi Line 4: 25.464 period period period equals r squared Line 5: the square root of 25.464 period period period equals the square root of r squared Line 6: 5.0462 period period period equals r Line 7: 5.05 c m equals r"/>
          <p:cNvPicPr preferRelativeResize="0"/>
          <p:nvPr/>
        </p:nvPicPr>
        <p:blipFill rotWithShape="1">
          <a:blip r:embed="rId5">
            <a:alphaModFix/>
          </a:blip>
          <a:srcRect b="55126" l="14853" r="71880" t="26269"/>
          <a:stretch/>
        </p:blipFill>
        <p:spPr>
          <a:xfrm>
            <a:off x="7568050" y="2612400"/>
            <a:ext cx="211500" cy="3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80\ =\ \pi r^2\\&amp;#13;&amp;#10;\frac{80}{\pi}=\frac{\pi r^2}{\pi}\\&amp;#13;&amp;#10;25.464...\ =r^2\\&amp;#13;&amp;#10;\sqrt{25.464...}\ =\sqrt{r^2}\\&amp;#13;&amp;#10;5.0462...\ =\ r\\&amp;#13;&amp;#10;5.05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80&lt;/mn&gt;&lt;mtext&gt;&lt;/mtext&gt;&lt;mo&gt;=&lt;/mo&gt;&lt;mtext&gt;&lt;/mtext&gt;&lt;mi&gt;π&lt;/mi&gt;&lt;msup&gt;&lt;mi&gt;r&lt;/mi&gt;&lt;mn&gt;2&lt;/mn&gt;&lt;/msup&gt;&lt;/mtd&gt;&lt;/mtr&gt;&lt;mtr&gt;&lt;mtd&gt;&lt;mfrac&gt;&lt;mn&gt;8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25.464&lt;/mn&gt;&lt;mo&gt;.&lt;/mo&gt;&lt;mo&gt;.&lt;/mo&gt;&lt;mo&gt;.&lt;/mo&gt;&lt;mtext&gt;&lt;/mtext&gt;&lt;mo&gt;=&lt;/mo&gt;&lt;msup&gt;&lt;mi&gt;r&lt;/mi&gt;&lt;mn&gt;2&lt;/mn&gt;&lt;/msup&gt;&lt;/mtd&gt;&lt;/mtr&gt;&lt;mtr&gt;&lt;mtd&gt;&lt;msqrt&gt;&lt;mn&gt;25.464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5.0462&lt;/mn&gt;&lt;mo&gt;.&lt;/mo&gt;&lt;mo&gt;.&lt;/mo&gt;&lt;mo&gt;.&lt;/mo&gt;&lt;mtext&gt;&lt;/mtext&gt;&lt;mo&gt;=&lt;/mo&gt;&lt;mtext&gt;&lt;/mtext&gt;&lt;mi&gt;r&lt;/mi&gt;&lt;/mtd&gt;&lt;/mtr&gt;&lt;mtr&gt;&lt;mtd&gt;&lt;mn&gt;5.05&lt;/mn&gt;&lt;mtext&gt;&lt;/mtext&gt;&lt;mi&gt;c&lt;/mi&gt;&lt;mi&gt;m&lt;/mi&gt;&lt;mtext&gt;&lt;/mtext&gt;&lt;mo&gt;=&lt;/mo&gt;&lt;mi&gt;r&lt;/mi&gt;&lt;/mtd&gt;&lt;/mtr&gt;&lt;/mtable&gt;&lt;/math&gt;" id="1440" name="Google Shape;1440;p88" title="7 lines Line 1: A equals pi r squared Line 2: 80 equals pi r squared Line 3: 80 over pi equals pi r squared over pi Line 4: 25.464 period period period equals r squared Line 5: the square root of 25.464 period period period equals the square root of r squared Line 6: 5.0462 period period period equals r Line 7: 5.05 c m equals r"/>
          <p:cNvPicPr preferRelativeResize="0"/>
          <p:nvPr/>
        </p:nvPicPr>
        <p:blipFill rotWithShape="1">
          <a:blip r:embed="rId5">
            <a:alphaModFix/>
          </a:blip>
          <a:srcRect b="42051" l="0" r="0" t="45147"/>
          <a:stretch/>
        </p:blipFill>
        <p:spPr>
          <a:xfrm>
            <a:off x="6771398" y="3085300"/>
            <a:ext cx="1594250" cy="26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80\ =\ \pi r^2\\&amp;#13;&amp;#10;\frac{80}{\pi}=\frac{\pi r^2}{\pi}\\&amp;#13;&amp;#10;25.464...\ =r^2\\&amp;#13;&amp;#10;\sqrt{25.464...}\ =\sqrt{r^2}\\&amp;#13;&amp;#10;5.0462...\ =\ r\\&amp;#13;&amp;#10;5.05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80&lt;/mn&gt;&lt;mtext&gt;&lt;/mtext&gt;&lt;mo&gt;=&lt;/mo&gt;&lt;mtext&gt;&lt;/mtext&gt;&lt;mi&gt;π&lt;/mi&gt;&lt;msup&gt;&lt;mi&gt;r&lt;/mi&gt;&lt;mn&gt;2&lt;/mn&gt;&lt;/msup&gt;&lt;/mtd&gt;&lt;/mtr&gt;&lt;mtr&gt;&lt;mtd&gt;&lt;mfrac&gt;&lt;mn&gt;8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25.464&lt;/mn&gt;&lt;mo&gt;.&lt;/mo&gt;&lt;mo&gt;.&lt;/mo&gt;&lt;mo&gt;.&lt;/mo&gt;&lt;mtext&gt;&lt;/mtext&gt;&lt;mo&gt;=&lt;/mo&gt;&lt;msup&gt;&lt;mi&gt;r&lt;/mi&gt;&lt;mn&gt;2&lt;/mn&gt;&lt;/msup&gt;&lt;/mtd&gt;&lt;/mtr&gt;&lt;mtr&gt;&lt;mtd&gt;&lt;msqrt&gt;&lt;mn&gt;25.464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5.0462&lt;/mn&gt;&lt;mo&gt;.&lt;/mo&gt;&lt;mo&gt;.&lt;/mo&gt;&lt;mo&gt;.&lt;/mo&gt;&lt;mtext&gt;&lt;/mtext&gt;&lt;mo&gt;=&lt;/mo&gt;&lt;mtext&gt;&lt;/mtext&gt;&lt;mi&gt;r&lt;/mi&gt;&lt;/mtd&gt;&lt;/mtr&gt;&lt;mtr&gt;&lt;mtd&gt;&lt;mn&gt;5.05&lt;/mn&gt;&lt;mtext&gt;&lt;/mtext&gt;&lt;mi&gt;c&lt;/mi&gt;&lt;mi&gt;m&lt;/mi&gt;&lt;mtext&gt;&lt;/mtext&gt;&lt;mo&gt;=&lt;/mo&gt;&lt;mi&gt;r&lt;/mi&gt;&lt;/mtd&gt;&lt;/mtr&gt;&lt;/mtable&gt;&lt;/math&gt;" id="1441" name="Google Shape;1441;p88" title="7 lines Line 1: A equals pi r squared Line 2: 80 equals pi r squared Line 3: 80 over pi equals pi r squared over pi Line 4: 25.464 period period period equals r squared Line 5: the square root of 25.464 period period period equals the square root of r squared Line 6: 5.0462 period period period equals r Line 7: 5.05 c m equals r"/>
          <p:cNvPicPr preferRelativeResize="0"/>
          <p:nvPr/>
        </p:nvPicPr>
        <p:blipFill rotWithShape="1">
          <a:blip r:embed="rId5">
            <a:alphaModFix/>
          </a:blip>
          <a:srcRect b="23848" l="0" r="0" t="59248"/>
          <a:stretch/>
        </p:blipFill>
        <p:spPr>
          <a:xfrm>
            <a:off x="6584178" y="3457800"/>
            <a:ext cx="1594250" cy="35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80\ =\ \pi r^2\\&amp;#13;&amp;#10;\frac{80}{\pi}=\frac{\pi r^2}{\pi}\\&amp;#13;&amp;#10;25.464...\ =r^2\\&amp;#13;&amp;#10;\sqrt{25.464...}\ =\sqrt{r^2}\\&amp;#13;&amp;#10;5.0462...\ =\ r\\&amp;#13;&amp;#10;5.05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80&lt;/mn&gt;&lt;mtext&gt;&lt;/mtext&gt;&lt;mo&gt;=&lt;/mo&gt;&lt;mtext&gt;&lt;/mtext&gt;&lt;mi&gt;π&lt;/mi&gt;&lt;msup&gt;&lt;mi&gt;r&lt;/mi&gt;&lt;mn&gt;2&lt;/mn&gt;&lt;/msup&gt;&lt;/mtd&gt;&lt;/mtr&gt;&lt;mtr&gt;&lt;mtd&gt;&lt;mfrac&gt;&lt;mn&gt;8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25.464&lt;/mn&gt;&lt;mo&gt;.&lt;/mo&gt;&lt;mo&gt;.&lt;/mo&gt;&lt;mo&gt;.&lt;/mo&gt;&lt;mtext&gt;&lt;/mtext&gt;&lt;mo&gt;=&lt;/mo&gt;&lt;msup&gt;&lt;mi&gt;r&lt;/mi&gt;&lt;mn&gt;2&lt;/mn&gt;&lt;/msup&gt;&lt;/mtd&gt;&lt;/mtr&gt;&lt;mtr&gt;&lt;mtd&gt;&lt;msqrt&gt;&lt;mn&gt;25.464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5.0462&lt;/mn&gt;&lt;mo&gt;.&lt;/mo&gt;&lt;mo&gt;.&lt;/mo&gt;&lt;mo&gt;.&lt;/mo&gt;&lt;mtext&gt;&lt;/mtext&gt;&lt;mo&gt;=&lt;/mo&gt;&lt;mtext&gt;&lt;/mtext&gt;&lt;mi&gt;r&lt;/mi&gt;&lt;/mtd&gt;&lt;/mtr&gt;&lt;mtr&gt;&lt;mtd&gt;&lt;mn&gt;5.05&lt;/mn&gt;&lt;mtext&gt;&lt;/mtext&gt;&lt;mi&gt;c&lt;/mi&gt;&lt;mi&gt;m&lt;/mi&gt;&lt;mtext&gt;&lt;/mtext&gt;&lt;mo&gt;=&lt;/mo&gt;&lt;mi&gt;r&lt;/mi&gt;&lt;/mtd&gt;&lt;/mtr&gt;&lt;/mtable&gt;&lt;/math&gt;" id="1442" name="Google Shape;1442;p88" title="7 lines Line 1: A equals pi r squared Line 2: 80 equals pi r squared Line 3: 80 over pi equals pi r squared over pi Line 4: 25.464 period period period equals r squared Line 5: the square root of 25.464 period period period equals the square root of r squared Line 6: 5.0462 period period period equals r Line 7: 5.05 c m equals r"/>
          <p:cNvPicPr preferRelativeResize="0"/>
          <p:nvPr/>
        </p:nvPicPr>
        <p:blipFill rotWithShape="1">
          <a:blip r:embed="rId5">
            <a:alphaModFix/>
          </a:blip>
          <a:srcRect b="9334" l="0" r="0" t="76314"/>
          <a:stretch/>
        </p:blipFill>
        <p:spPr>
          <a:xfrm>
            <a:off x="6772983" y="3892650"/>
            <a:ext cx="1594250" cy="301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80\ =\ \pi r^2\\&amp;#13;&amp;#10;\frac{80}{\pi}=\frac{\pi r^2}{\pi}\\&amp;#13;&amp;#10;25.464...\ =r^2\\&amp;#13;&amp;#10;\sqrt{25.464...}\ =\sqrt{r^2}\\&amp;#13;&amp;#10;5.0462...\ =\ r\\&amp;#13;&amp;#10;5.05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80&lt;/mn&gt;&lt;mtext&gt;&lt;/mtext&gt;&lt;mo&gt;=&lt;/mo&gt;&lt;mtext&gt;&lt;/mtext&gt;&lt;mi&gt;π&lt;/mi&gt;&lt;msup&gt;&lt;mi&gt;r&lt;/mi&gt;&lt;mn&gt;2&lt;/mn&gt;&lt;/msup&gt;&lt;/mtd&gt;&lt;/mtr&gt;&lt;mtr&gt;&lt;mtd&gt;&lt;mfrac&gt;&lt;mn&gt;8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25.464&lt;/mn&gt;&lt;mo&gt;.&lt;/mo&gt;&lt;mo&gt;.&lt;/mo&gt;&lt;mo&gt;.&lt;/mo&gt;&lt;mtext&gt;&lt;/mtext&gt;&lt;mo&gt;=&lt;/mo&gt;&lt;msup&gt;&lt;mi&gt;r&lt;/mi&gt;&lt;mn&gt;2&lt;/mn&gt;&lt;/msup&gt;&lt;/mtd&gt;&lt;/mtr&gt;&lt;mtr&gt;&lt;mtd&gt;&lt;msqrt&gt;&lt;mn&gt;25.464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5.0462&lt;/mn&gt;&lt;mo&gt;.&lt;/mo&gt;&lt;mo&gt;.&lt;/mo&gt;&lt;mo&gt;.&lt;/mo&gt;&lt;mtext&gt;&lt;/mtext&gt;&lt;mo&gt;=&lt;/mo&gt;&lt;mtext&gt;&lt;/mtext&gt;&lt;mi&gt;r&lt;/mi&gt;&lt;/mtd&gt;&lt;/mtr&gt;&lt;mtr&gt;&lt;mtd&gt;&lt;mn&gt;5.05&lt;/mn&gt;&lt;mtext&gt;&lt;/mtext&gt;&lt;mi&gt;c&lt;/mi&gt;&lt;mi&gt;m&lt;/mi&gt;&lt;mtext&gt;&lt;/mtext&gt;&lt;mo&gt;=&lt;/mo&gt;&lt;mi&gt;r&lt;/mi&gt;&lt;/mtd&gt;&lt;/mtr&gt;&lt;/mtable&gt;&lt;/math&gt;" id="1443" name="Google Shape;1443;p88" title="7 lines Line 1: A equals pi r squared Line 2: 80 equals pi r squared Line 3: 80 over pi equals pi r squared over pi Line 4: 25.464 period period period equals r squared Line 5: the square root of 25.464 period period period equals the square root of r squared Line 6: 5.0462 period period period equals r Line 7: 5.05 c m equals r"/>
          <p:cNvPicPr preferRelativeResize="0"/>
          <p:nvPr/>
        </p:nvPicPr>
        <p:blipFill rotWithShape="1">
          <a:blip r:embed="rId5">
            <a:alphaModFix/>
          </a:blip>
          <a:srcRect b="55126" l="0" r="85680" t="26269"/>
          <a:stretch/>
        </p:blipFill>
        <p:spPr>
          <a:xfrm>
            <a:off x="7277426" y="2551925"/>
            <a:ext cx="290625" cy="49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80\ =\ \pi r^2\\&amp;#13;&amp;#10;\frac{80}{\pi}=\frac{\pi r^2}{\pi}\\&amp;#13;&amp;#10;25.464...\ =r^2\\&amp;#13;&amp;#10;\sqrt{25.464...}\ =\sqrt{r^2}\\&amp;#13;&amp;#10;5.0462...\ =\ r\\&amp;#13;&amp;#10;5.05\ cm\ =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80&lt;/mn&gt;&lt;mtext&gt;&lt;/mtext&gt;&lt;mo&gt;=&lt;/mo&gt;&lt;mtext&gt;&lt;/mtext&gt;&lt;mi&gt;π&lt;/mi&gt;&lt;msup&gt;&lt;mi&gt;r&lt;/mi&gt;&lt;mn&gt;2&lt;/mn&gt;&lt;/msup&gt;&lt;/mtd&gt;&lt;/mtr&gt;&lt;mtr&gt;&lt;mtd&gt;&lt;mfrac&gt;&lt;mn&gt;8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25.464&lt;/mn&gt;&lt;mo&gt;.&lt;/mo&gt;&lt;mo&gt;.&lt;/mo&gt;&lt;mo&gt;.&lt;/mo&gt;&lt;mtext&gt;&lt;/mtext&gt;&lt;mo&gt;=&lt;/mo&gt;&lt;msup&gt;&lt;mi&gt;r&lt;/mi&gt;&lt;mn&gt;2&lt;/mn&gt;&lt;/msup&gt;&lt;/mtd&gt;&lt;/mtr&gt;&lt;mtr&gt;&lt;mtd&gt;&lt;msqrt&gt;&lt;mn&gt;25.464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5.0462&lt;/mn&gt;&lt;mo&gt;.&lt;/mo&gt;&lt;mo&gt;.&lt;/mo&gt;&lt;mo&gt;.&lt;/mo&gt;&lt;mtext&gt;&lt;/mtext&gt;&lt;mo&gt;=&lt;/mo&gt;&lt;mtext&gt;&lt;/mtext&gt;&lt;mi&gt;r&lt;/mi&gt;&lt;/mtd&gt;&lt;/mtr&gt;&lt;mtr&gt;&lt;mtd&gt;&lt;mn&gt;5.05&lt;/mn&gt;&lt;mtext&gt;&lt;/mtext&gt;&lt;mi&gt;c&lt;/mi&gt;&lt;mi&gt;m&lt;/mi&gt;&lt;mtext&gt;&lt;/mtext&gt;&lt;mo&gt;=&lt;/mo&gt;&lt;mi&gt;r&lt;/mi&gt;&lt;/mtd&gt;&lt;/mtr&gt;&lt;/mtable&gt;&lt;/math&gt;" id="1444" name="Google Shape;1444;p88" title="7 lines Line 1: A equals pi r squared Line 2: 80 equals pi r squared Line 3: 80 over pi equals pi r squared over pi Line 4: 25.464 period period period equals r squared Line 5: the square root of 25.464 period period period equals the square root of r squared Line 6: 5.0462 period period period equals r Line 7: 5.05 c m equals r"/>
          <p:cNvPicPr preferRelativeResize="0"/>
          <p:nvPr/>
        </p:nvPicPr>
        <p:blipFill rotWithShape="1">
          <a:blip r:embed="rId5">
            <a:alphaModFix/>
          </a:blip>
          <a:srcRect b="55126" l="29990" r="52822" t="26269"/>
          <a:stretch/>
        </p:blipFill>
        <p:spPr>
          <a:xfrm>
            <a:off x="7804924" y="2551925"/>
            <a:ext cx="348825" cy="4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88"/>
          <p:cNvSpPr txBox="1"/>
          <p:nvPr/>
        </p:nvSpPr>
        <p:spPr>
          <a:xfrm>
            <a:off x="2267600" y="4576114"/>
            <a:ext cx="1027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6" name="Google Shape;1446;p88"/>
          <p:cNvSpPr txBox="1"/>
          <p:nvPr/>
        </p:nvSpPr>
        <p:spPr>
          <a:xfrm>
            <a:off x="2306074" y="4299500"/>
            <a:ext cx="1855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7.98 cm = 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7" name="Google Shape;1447;p88"/>
          <p:cNvSpPr txBox="1"/>
          <p:nvPr/>
        </p:nvSpPr>
        <p:spPr>
          <a:xfrm>
            <a:off x="6728700" y="4576135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(to 2 d.p.)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8" name="Google Shape;1448;p88"/>
          <p:cNvSpPr txBox="1"/>
          <p:nvPr/>
        </p:nvSpPr>
        <p:spPr>
          <a:xfrm>
            <a:off x="6814631" y="4318765"/>
            <a:ext cx="21393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5.05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cm = 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89"/>
          <p:cNvSpPr txBox="1"/>
          <p:nvPr>
            <p:ph idx="1" type="body"/>
          </p:nvPr>
        </p:nvSpPr>
        <p:spPr>
          <a:xfrm>
            <a:off x="324000" y="759300"/>
            <a:ext cx="8237700" cy="80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Once </a:t>
            </a:r>
            <a:r>
              <a:rPr lang="en-GB" sz="2000"/>
              <a:t>the </a:t>
            </a:r>
            <a:r>
              <a:rPr lang="en-GB" sz="2000"/>
              <a:t>radius has been obtained, </a:t>
            </a:r>
            <a:r>
              <a:rPr lang="en-GB" sz="2000"/>
              <a:t>it</a:t>
            </a:r>
            <a:r>
              <a:rPr lang="en-GB" sz="2000"/>
              <a:t> can be used to calculate the </a:t>
            </a:r>
            <a:r>
              <a:rPr lang="en-GB" sz="2000">
                <a:solidFill>
                  <a:schemeClr val="accent5"/>
                </a:solidFill>
              </a:rPr>
              <a:t>diameter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454" name="Google Shape;145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455" name="Google Shape;1455;p89"/>
          <p:cNvSpPr/>
          <p:nvPr/>
        </p:nvSpPr>
        <p:spPr>
          <a:xfrm>
            <a:off x="903700" y="1807450"/>
            <a:ext cx="1412700" cy="141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6" name="Google Shape;1456;p89"/>
          <p:cNvCxnSpPr/>
          <p:nvPr/>
        </p:nvCxnSpPr>
        <p:spPr>
          <a:xfrm>
            <a:off x="987225" y="2152650"/>
            <a:ext cx="1204800" cy="695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7" name="Google Shape;1457;p89"/>
          <p:cNvSpPr/>
          <p:nvPr/>
        </p:nvSpPr>
        <p:spPr>
          <a:xfrm>
            <a:off x="1599433" y="2490972"/>
            <a:ext cx="45300" cy="453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89"/>
          <p:cNvSpPr txBox="1"/>
          <p:nvPr/>
        </p:nvSpPr>
        <p:spPr>
          <a:xfrm>
            <a:off x="1616445" y="2196863"/>
            <a:ext cx="250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9" name="Google Shape;1459;p89"/>
          <p:cNvSpPr txBox="1"/>
          <p:nvPr/>
        </p:nvSpPr>
        <p:spPr>
          <a:xfrm>
            <a:off x="786525" y="3396200"/>
            <a:ext cx="106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0" name="Google Shape;1460;p89"/>
          <p:cNvCxnSpPr/>
          <p:nvPr/>
        </p:nvCxnSpPr>
        <p:spPr>
          <a:xfrm flipH="1" rot="10800000">
            <a:off x="1215300" y="2921975"/>
            <a:ext cx="202200" cy="49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61" name="Google Shape;1461;p89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73799" l="0" r="38427" t="13703"/>
          <a:stretch/>
        </p:blipFill>
        <p:spPr>
          <a:xfrm>
            <a:off x="3599607" y="2036100"/>
            <a:ext cx="1188181" cy="3089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62" name="Google Shape;1462;p89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53816" l="18971" r="68363" t="25744"/>
          <a:stretch/>
        </p:blipFill>
        <p:spPr>
          <a:xfrm>
            <a:off x="4038481" y="2409966"/>
            <a:ext cx="244422" cy="505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63" name="Google Shape;1463;p89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41731" l="0" r="16922" t="44672"/>
          <a:stretch/>
        </p:blipFill>
        <p:spPr>
          <a:xfrm>
            <a:off x="3017293" y="2954146"/>
            <a:ext cx="1603203" cy="336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64" name="Google Shape;1464;p89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23099" l="0" r="0" t="59276"/>
          <a:stretch/>
        </p:blipFill>
        <p:spPr>
          <a:xfrm>
            <a:off x="2798925" y="3391369"/>
            <a:ext cx="1929753" cy="435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65" name="Google Shape;1465;p89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10258" l="0" r="0" t="74887"/>
          <a:stretch/>
        </p:blipFill>
        <p:spPr>
          <a:xfrm>
            <a:off x="3131058" y="3853499"/>
            <a:ext cx="1929753" cy="36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66" name="Google Shape;1466;p89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53815" l="0" r="82816" t="25745"/>
          <a:stretch/>
        </p:blipFill>
        <p:spPr>
          <a:xfrm>
            <a:off x="3595420" y="2338766"/>
            <a:ext cx="415777" cy="633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67" name="Google Shape;1467;p89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3">
            <a:alphaModFix/>
          </a:blip>
          <a:srcRect b="53815" l="31923" r="50893" t="25745"/>
          <a:stretch/>
        </p:blipFill>
        <p:spPr>
          <a:xfrm>
            <a:off x="4282903" y="2338766"/>
            <a:ext cx="415777" cy="633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d\ =\ 2\ \times7.9788...\\&amp;#13;&amp;#10;d\ =\ 15.9576...\\&amp;#13;&amp;#10;d\ =\ 15.96\end{array}&quot;&gt;&lt;mtable columnalign=&quot;left&quot; columnspacing=&quot;1em&quot; rowspacing=&quot;4pt&quot;&gt;&lt;mtr&gt;&lt;mtd&gt;&lt;mi&gt;d&lt;/mi&gt;&lt;mtext&gt;&lt;/mtext&gt;&lt;mo&gt;=&lt;/mo&gt;&lt;mtext&gt;&lt;/mtext&gt;&lt;mn&gt;2&lt;/mn&gt;&lt;mtext&gt;&lt;/mtext&gt;&lt;mo&gt;×&lt;/mo&gt;&lt;mn&gt;7.9788&lt;/mn&gt;&lt;mo&gt;.&lt;/mo&gt;&lt;mo&gt;.&lt;/mo&gt;&lt;mo&gt;.&lt;/mo&gt;&lt;/mtd&gt;&lt;/mtr&gt;&lt;mtr&gt;&lt;mtd&gt;&lt;mi&gt;d&lt;/mi&gt;&lt;mtext&gt;&lt;/mtext&gt;&lt;mo&gt;=&lt;/mo&gt;&lt;mtext&gt;&lt;/mtext&gt;&lt;mn&gt;15.9576&lt;/mn&gt;&lt;mo&gt;.&lt;/mo&gt;&lt;mo&gt;.&lt;/mo&gt;&lt;mo&gt;.&lt;/mo&gt;&lt;/mtd&gt;&lt;/mtr&gt;&lt;mtr&gt;&lt;mtd&gt;&lt;mi&gt;d&lt;/mi&gt;&lt;mtext&gt;&lt;/mtext&gt;&lt;mo&gt;=&lt;/mo&gt;&lt;mtext&gt;&lt;/mtext&gt;&lt;mn&gt;15.96&lt;/mn&gt;&lt;/mtd&gt;&lt;/mtr&gt;&lt;/mtable&gt;&lt;/math&gt;" id="1468" name="Google Shape;1468;p89" title="3 lines Line 1: d equals 2 times 7.9788 period period period Line 2: d equals 15.9576 period period period Line 3: d equals 15.96"/>
          <p:cNvPicPr preferRelativeResize="0"/>
          <p:nvPr/>
        </p:nvPicPr>
        <p:blipFill rotWithShape="1">
          <a:blip r:embed="rId4">
            <a:alphaModFix/>
          </a:blip>
          <a:srcRect b="70756" l="0" r="0" t="0"/>
          <a:stretch/>
        </p:blipFill>
        <p:spPr>
          <a:xfrm>
            <a:off x="6242033" y="2340585"/>
            <a:ext cx="1843292" cy="251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d\ =\ 2\ \times7.9788...\\&amp;#13;&amp;#10;d\ =\ 15.9576...\\&amp;#13;&amp;#10;d\ =\ 15.96\end{array}&quot;&gt;&lt;mtable columnalign=&quot;left&quot; columnspacing=&quot;1em&quot; rowspacing=&quot;4pt&quot;&gt;&lt;mtr&gt;&lt;mtd&gt;&lt;mi&gt;d&lt;/mi&gt;&lt;mtext&gt;&lt;/mtext&gt;&lt;mo&gt;=&lt;/mo&gt;&lt;mtext&gt;&lt;/mtext&gt;&lt;mn&gt;2&lt;/mn&gt;&lt;mtext&gt;&lt;/mtext&gt;&lt;mo&gt;×&lt;/mo&gt;&lt;mn&gt;7.9788&lt;/mn&gt;&lt;mo&gt;.&lt;/mo&gt;&lt;mo&gt;.&lt;/mo&gt;&lt;mo&gt;.&lt;/mo&gt;&lt;/mtd&gt;&lt;/mtr&gt;&lt;mtr&gt;&lt;mtd&gt;&lt;mi&gt;d&lt;/mi&gt;&lt;mtext&gt;&lt;/mtext&gt;&lt;mo&gt;=&lt;/mo&gt;&lt;mtext&gt;&lt;/mtext&gt;&lt;mn&gt;15.9576&lt;/mn&gt;&lt;mo&gt;.&lt;/mo&gt;&lt;mo&gt;.&lt;/mo&gt;&lt;mo&gt;.&lt;/mo&gt;&lt;/mtd&gt;&lt;/mtr&gt;&lt;mtr&gt;&lt;mtd&gt;&lt;mi&gt;d&lt;/mi&gt;&lt;mtext&gt;&lt;/mtext&gt;&lt;mo&gt;=&lt;/mo&gt;&lt;mtext&gt;&lt;/mtext&gt;&lt;mn&gt;15.96&lt;/mn&gt;&lt;/mtd&gt;&lt;/mtr&gt;&lt;/mtable&gt;&lt;/math&gt;" id="1469" name="Google Shape;1469;p89" title="3 lines Line 1: d equals 2 times 7.9788 period period period Line 2: d equals 15.9576 period period period Line 3: d equals 15.96"/>
          <p:cNvPicPr preferRelativeResize="0"/>
          <p:nvPr/>
        </p:nvPicPr>
        <p:blipFill rotWithShape="1">
          <a:blip r:embed="rId4">
            <a:alphaModFix/>
          </a:blip>
          <a:srcRect b="35688" l="0" r="0" t="35068"/>
          <a:stretch/>
        </p:blipFill>
        <p:spPr>
          <a:xfrm>
            <a:off x="6242033" y="2732348"/>
            <a:ext cx="1843292" cy="251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d\ =\ 2\ \times7.9788...\\&amp;#13;&amp;#10;d\ =\ 15.9576...\\&amp;#13;&amp;#10;d\ =\ 15.96\end{array}&quot;&gt;&lt;mtable columnalign=&quot;left&quot; columnspacing=&quot;1em&quot; rowspacing=&quot;4pt&quot;&gt;&lt;mtr&gt;&lt;mtd&gt;&lt;mi&gt;d&lt;/mi&gt;&lt;mtext&gt;&lt;/mtext&gt;&lt;mo&gt;=&lt;/mo&gt;&lt;mtext&gt;&lt;/mtext&gt;&lt;mn&gt;2&lt;/mn&gt;&lt;mtext&gt;&lt;/mtext&gt;&lt;mo&gt;×&lt;/mo&gt;&lt;mn&gt;7.9788&lt;/mn&gt;&lt;mo&gt;.&lt;/mo&gt;&lt;mo&gt;.&lt;/mo&gt;&lt;mo&gt;.&lt;/mo&gt;&lt;/mtd&gt;&lt;/mtr&gt;&lt;mtr&gt;&lt;mtd&gt;&lt;mi&gt;d&lt;/mi&gt;&lt;mtext&gt;&lt;/mtext&gt;&lt;mo&gt;=&lt;/mo&gt;&lt;mtext&gt;&lt;/mtext&gt;&lt;mn&gt;15.9576&lt;/mn&gt;&lt;mo&gt;.&lt;/mo&gt;&lt;mo&gt;.&lt;/mo&gt;&lt;mo&gt;.&lt;/mo&gt;&lt;/mtd&gt;&lt;/mtr&gt;&lt;mtr&gt;&lt;mtd&gt;&lt;mi&gt;d&lt;/mi&gt;&lt;mtext&gt;&lt;/mtext&gt;&lt;mo&gt;=&lt;/mo&gt;&lt;mtext&gt;&lt;/mtext&gt;&lt;mn&gt;15.96&lt;/mn&gt;&lt;/mtd&gt;&lt;/mtr&gt;&lt;/mtable&gt;&lt;/math&gt;" id="1470" name="Google Shape;1470;p89" title="3 lines Line 1: d equals 2 times 7.9788 period period period Line 2: d equals 15.9576 period period period Line 3: d equals 15.96"/>
          <p:cNvPicPr preferRelativeResize="0"/>
          <p:nvPr/>
        </p:nvPicPr>
        <p:blipFill rotWithShape="1">
          <a:blip r:embed="rId4">
            <a:alphaModFix/>
          </a:blip>
          <a:srcRect b="2" l="0" r="0" t="76652"/>
          <a:stretch/>
        </p:blipFill>
        <p:spPr>
          <a:xfrm>
            <a:off x="6236953" y="3241157"/>
            <a:ext cx="1843292" cy="200873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89"/>
          <p:cNvSpPr txBox="1"/>
          <p:nvPr>
            <p:ph idx="1" type="body"/>
          </p:nvPr>
        </p:nvSpPr>
        <p:spPr>
          <a:xfrm>
            <a:off x="2961225" y="1629578"/>
            <a:ext cx="2114400" cy="2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Calculate the radius.</a:t>
            </a:r>
            <a:endParaRPr sz="1600"/>
          </a:p>
        </p:txBody>
      </p:sp>
      <p:sp>
        <p:nvSpPr>
          <p:cNvPr id="1472" name="Google Shape;1472;p89"/>
          <p:cNvSpPr txBox="1"/>
          <p:nvPr>
            <p:ph idx="1" type="body"/>
          </p:nvPr>
        </p:nvSpPr>
        <p:spPr>
          <a:xfrm>
            <a:off x="6191400" y="1629575"/>
            <a:ext cx="2437200" cy="5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Use the radius to calculate the diameter.</a:t>
            </a:r>
            <a:endParaRPr sz="1600"/>
          </a:p>
        </p:txBody>
      </p:sp>
      <p:sp>
        <p:nvSpPr>
          <p:cNvPr id="1473" name="Google Shape;1473;p89"/>
          <p:cNvSpPr txBox="1"/>
          <p:nvPr>
            <p:ph idx="1" type="body"/>
          </p:nvPr>
        </p:nvSpPr>
        <p:spPr>
          <a:xfrm>
            <a:off x="2959750" y="4309553"/>
            <a:ext cx="2751600" cy="4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Do not round any numbers before the final solution.</a:t>
            </a:r>
            <a:endParaRPr sz="1600"/>
          </a:p>
        </p:txBody>
      </p:sp>
      <p:sp>
        <p:nvSpPr>
          <p:cNvPr id="1474" name="Google Shape;1474;p89"/>
          <p:cNvSpPr txBox="1"/>
          <p:nvPr/>
        </p:nvSpPr>
        <p:spPr>
          <a:xfrm>
            <a:off x="6820178" y="3494443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(to 2 d.p.)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89"/>
          <p:cNvSpPr txBox="1"/>
          <p:nvPr/>
        </p:nvSpPr>
        <p:spPr>
          <a:xfrm>
            <a:off x="7337513" y="3123500"/>
            <a:ext cx="5361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C\ =\ 2\times\pi\times7.9788...\\&amp;#13;&amp;#10;C\ =50.1325...\\&amp;#13;&amp;#10;C\ =\ 50.13\end{array}&quot;&gt;&lt;mtable columnalign=&quot;left&quot; columnspacing=&quot;1em&quot; rowspacing=&quot;4pt&quot;&gt;&lt;mtr&gt;&lt;mtd&gt;&lt;mi&gt;C&lt;/mi&gt;&lt;mtext&gt;&lt;/mtext&gt;&lt;mo&gt;=&lt;/mo&gt;&lt;mtext&gt;&lt;/mtext&gt;&lt;mn&gt;2&lt;/mn&gt;&lt;mo&gt;×&lt;/mo&gt;&lt;mi&gt;π&lt;/mi&gt;&lt;mo&gt;×&lt;/mo&gt;&lt;mn&gt;7.9788&lt;/mn&gt;&lt;mo&gt;.&lt;/mo&gt;&lt;mo&gt;.&lt;/mo&gt;&lt;mo&gt;.&lt;/mo&gt;&lt;/mtd&gt;&lt;/mtr&gt;&lt;mtr&gt;&lt;mtd&gt;&lt;mi&gt;C&lt;/mi&gt;&lt;mtext&gt;&lt;/mtext&gt;&lt;mo&gt;=&lt;/mo&gt;&lt;mn&gt;50.1325&lt;/mn&gt;&lt;mo&gt;.&lt;/mo&gt;&lt;mo&gt;.&lt;/mo&gt;&lt;mo&gt;.&lt;/mo&gt;&lt;/mtd&gt;&lt;/mtr&gt;&lt;mtr&gt;&lt;mtd&gt;&lt;mi&gt;C&lt;/mi&gt;&lt;mtext&gt;&lt;/mtext&gt;&lt;mo&gt;=&lt;/mo&gt;&lt;mtext&gt;&lt;/mtext&gt;&lt;mn&gt;50.13&lt;/mn&gt;&lt;/mtd&gt;&lt;/mtr&gt;&lt;/mtable&gt;&lt;/math&gt;" id="1480" name="Google Shape;1480;p90" title="3 lines Line 1: C equals 2 times pi times 7.9788 period period period Line 2: C equals 50.1325 period period period Line 3: C equals 50.13"/>
          <p:cNvPicPr preferRelativeResize="0"/>
          <p:nvPr/>
        </p:nvPicPr>
        <p:blipFill rotWithShape="1">
          <a:blip r:embed="rId3">
            <a:alphaModFix/>
          </a:blip>
          <a:srcRect b="0" l="0" r="41245" t="77694"/>
          <a:stretch/>
        </p:blipFill>
        <p:spPr>
          <a:xfrm>
            <a:off x="6179025" y="3246400"/>
            <a:ext cx="1375649" cy="20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C\ =\ 2\times\pi\times7.9788...\\&amp;#13;&amp;#10;C\ =50.1325...\\&amp;#13;&amp;#10;C\ =\ 50.13\end{array}&quot;&gt;&lt;mtable columnalign=&quot;left&quot; columnspacing=&quot;1em&quot; rowspacing=&quot;4pt&quot;&gt;&lt;mtr&gt;&lt;mtd&gt;&lt;mi&gt;C&lt;/mi&gt;&lt;mtext&gt;&lt;/mtext&gt;&lt;mo&gt;=&lt;/mo&gt;&lt;mtext&gt;&lt;/mtext&gt;&lt;mn&gt;2&lt;/mn&gt;&lt;mo&gt;×&lt;/mo&gt;&lt;mi&gt;π&lt;/mi&gt;&lt;mo&gt;×&lt;/mo&gt;&lt;mn&gt;7.9788&lt;/mn&gt;&lt;mo&gt;.&lt;/mo&gt;&lt;mo&gt;.&lt;/mo&gt;&lt;mo&gt;.&lt;/mo&gt;&lt;/mtd&gt;&lt;/mtr&gt;&lt;mtr&gt;&lt;mtd&gt;&lt;mi&gt;C&lt;/mi&gt;&lt;mtext&gt;&lt;/mtext&gt;&lt;mo&gt;=&lt;/mo&gt;&lt;mn&gt;50.1325&lt;/mn&gt;&lt;mo&gt;.&lt;/mo&gt;&lt;mo&gt;.&lt;/mo&gt;&lt;mo&gt;.&lt;/mo&gt;&lt;/mtd&gt;&lt;/mtr&gt;&lt;mtr&gt;&lt;mtd&gt;&lt;mi&gt;C&lt;/mi&gt;&lt;mtext&gt;&lt;/mtext&gt;&lt;mo&gt;=&lt;/mo&gt;&lt;mtext&gt;&lt;/mtext&gt;&lt;mn&gt;50.13&lt;/mn&gt;&lt;/mtd&gt;&lt;/mtr&gt;&lt;/mtable&gt;&lt;/math&gt;" id="1481" name="Google Shape;1481;p90" title="3 lines Line 1: C equals 2 times pi times 7.9788 period period period Line 2: C equals 50.1325 period period period Line 3: C equals 50.13"/>
          <p:cNvPicPr preferRelativeResize="0"/>
          <p:nvPr/>
        </p:nvPicPr>
        <p:blipFill rotWithShape="1">
          <a:blip r:embed="rId3">
            <a:alphaModFix/>
          </a:blip>
          <a:srcRect b="34687" l="0" r="29203" t="37361"/>
          <a:stretch/>
        </p:blipFill>
        <p:spPr>
          <a:xfrm>
            <a:off x="6182475" y="2747975"/>
            <a:ext cx="1657600" cy="25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C\ =\ 2\times\pi\times7.9788...\\&amp;#13;&amp;#10;C\ =50.1325...\\&amp;#13;&amp;#10;C\ =\ 50.13\end{array}&quot;&gt;&lt;mtable columnalign=&quot;left&quot; columnspacing=&quot;1em&quot; rowspacing=&quot;4pt&quot;&gt;&lt;mtr&gt;&lt;mtd&gt;&lt;mi&gt;C&lt;/mi&gt;&lt;mtext&gt;&lt;/mtext&gt;&lt;mo&gt;=&lt;/mo&gt;&lt;mtext&gt;&lt;/mtext&gt;&lt;mn&gt;2&lt;/mn&gt;&lt;mo&gt;×&lt;/mo&gt;&lt;mi&gt;π&lt;/mi&gt;&lt;mo&gt;×&lt;/mo&gt;&lt;mn&gt;7.9788&lt;/mn&gt;&lt;mo&gt;.&lt;/mo&gt;&lt;mo&gt;.&lt;/mo&gt;&lt;mo&gt;.&lt;/mo&gt;&lt;/mtd&gt;&lt;/mtr&gt;&lt;mtr&gt;&lt;mtd&gt;&lt;mi&gt;C&lt;/mi&gt;&lt;mtext&gt;&lt;/mtext&gt;&lt;mo&gt;=&lt;/mo&gt;&lt;mn&gt;50.1325&lt;/mn&gt;&lt;mo&gt;.&lt;/mo&gt;&lt;mo&gt;.&lt;/mo&gt;&lt;mo&gt;.&lt;/mo&gt;&lt;/mtd&gt;&lt;/mtr&gt;&lt;mtr&gt;&lt;mtd&gt;&lt;mi&gt;C&lt;/mi&gt;&lt;mtext&gt;&lt;/mtext&gt;&lt;mo&gt;=&lt;/mo&gt;&lt;mtext&gt;&lt;/mtext&gt;&lt;mn&gt;50.13&lt;/mn&gt;&lt;/mtd&gt;&lt;/mtr&gt;&lt;/mtable&gt;&lt;/math&gt;" id="1482" name="Google Shape;1482;p90" title="3 lines Line 1: C equals 2 times pi times 7.9788 period period period Line 2: C equals 50.1325 period period period Line 3: C equals 50.13"/>
          <p:cNvPicPr preferRelativeResize="0"/>
          <p:nvPr/>
        </p:nvPicPr>
        <p:blipFill rotWithShape="1">
          <a:blip r:embed="rId3">
            <a:alphaModFix/>
          </a:blip>
          <a:srcRect b="76119" l="0" r="-755" t="0"/>
          <a:stretch/>
        </p:blipFill>
        <p:spPr>
          <a:xfrm>
            <a:off x="6182475" y="2335325"/>
            <a:ext cx="2359075" cy="21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90"/>
          <p:cNvSpPr txBox="1"/>
          <p:nvPr>
            <p:ph idx="1" type="body"/>
          </p:nvPr>
        </p:nvSpPr>
        <p:spPr>
          <a:xfrm>
            <a:off x="324000" y="759300"/>
            <a:ext cx="8237700" cy="80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Once the radius has been obtained, it can be used to calculate the </a:t>
            </a:r>
            <a:r>
              <a:rPr lang="en-GB" sz="2000">
                <a:solidFill>
                  <a:schemeClr val="accent5"/>
                </a:solidFill>
              </a:rPr>
              <a:t>circumference</a:t>
            </a:r>
            <a:r>
              <a:rPr lang="en-GB" sz="2000"/>
              <a:t> </a:t>
            </a:r>
            <a:r>
              <a:rPr lang="en-GB" sz="2000"/>
              <a:t>by </a:t>
            </a:r>
            <a:r>
              <a:rPr lang="en-GB" sz="2000"/>
              <a:t>substituting</a:t>
            </a:r>
            <a:r>
              <a:rPr lang="en-GB" sz="2000"/>
              <a:t> into the formula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 = 2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484" name="Google Shape;148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485" name="Google Shape;1485;p90"/>
          <p:cNvSpPr/>
          <p:nvPr/>
        </p:nvSpPr>
        <p:spPr>
          <a:xfrm>
            <a:off x="903700" y="1807450"/>
            <a:ext cx="1412700" cy="141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90"/>
          <p:cNvSpPr/>
          <p:nvPr/>
        </p:nvSpPr>
        <p:spPr>
          <a:xfrm>
            <a:off x="1599433" y="2490972"/>
            <a:ext cx="45300" cy="453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90"/>
          <p:cNvSpPr txBox="1"/>
          <p:nvPr/>
        </p:nvSpPr>
        <p:spPr>
          <a:xfrm>
            <a:off x="536320" y="1881988"/>
            <a:ext cx="250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8" name="Google Shape;1488;p90"/>
          <p:cNvSpPr txBox="1"/>
          <p:nvPr/>
        </p:nvSpPr>
        <p:spPr>
          <a:xfrm>
            <a:off x="786525" y="3396200"/>
            <a:ext cx="106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9" name="Google Shape;1489;p90"/>
          <p:cNvCxnSpPr/>
          <p:nvPr/>
        </p:nvCxnSpPr>
        <p:spPr>
          <a:xfrm flipH="1" rot="10800000">
            <a:off x="1215300" y="2921975"/>
            <a:ext cx="202200" cy="49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0" name="Google Shape;1490;p90"/>
          <p:cNvCxnSpPr/>
          <p:nvPr/>
        </p:nvCxnSpPr>
        <p:spPr>
          <a:xfrm>
            <a:off x="754850" y="2071700"/>
            <a:ext cx="267300" cy="27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91" name="Google Shape;1491;p90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73799" l="0" r="38427" t="13703"/>
          <a:stretch/>
        </p:blipFill>
        <p:spPr>
          <a:xfrm>
            <a:off x="3599607" y="2036100"/>
            <a:ext cx="1188181" cy="3089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92" name="Google Shape;1492;p90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53816" l="18971" r="68363" t="25744"/>
          <a:stretch/>
        </p:blipFill>
        <p:spPr>
          <a:xfrm>
            <a:off x="4038481" y="2409966"/>
            <a:ext cx="244422" cy="505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93" name="Google Shape;1493;p90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41731" l="0" r="16922" t="44672"/>
          <a:stretch/>
        </p:blipFill>
        <p:spPr>
          <a:xfrm>
            <a:off x="3017293" y="2954146"/>
            <a:ext cx="1603203" cy="336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94" name="Google Shape;1494;p90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23099" l="0" r="0" t="59276"/>
          <a:stretch/>
        </p:blipFill>
        <p:spPr>
          <a:xfrm>
            <a:off x="2798925" y="3391369"/>
            <a:ext cx="1929753" cy="435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95" name="Google Shape;1495;p90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10258" l="0" r="0" t="74887"/>
          <a:stretch/>
        </p:blipFill>
        <p:spPr>
          <a:xfrm>
            <a:off x="3131058" y="3853499"/>
            <a:ext cx="1929753" cy="36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96" name="Google Shape;1496;p90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53815" l="0" r="82816" t="25745"/>
          <a:stretch/>
        </p:blipFill>
        <p:spPr>
          <a:xfrm>
            <a:off x="3595420" y="2338766"/>
            <a:ext cx="415777" cy="633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A\ =\ \pi r^2\\&amp;#13;&amp;#10;200\ =\ \pi r^2\\&amp;#13;&amp;#10;\frac{200}{\pi}=\frac{\pi r^2}{\pi}\\&amp;#13;&amp;#10;63.6619...\ =r^2\\&amp;#13;&amp;#10;\sqrt{63.6619...}\ =\sqrt{r^2}\\&amp;#13;&amp;#10;7.9788...\ =\ r\\&amp;#13;&amp;#10;7.98\ \approx r\end{array}&quot;&gt;&lt;mtable columnalign=&quot;left&quot; columnspacing=&quot;1em&quot; rowspacing=&quot;4pt&quot;&gt;&lt;mtr&gt;&lt;mtd&gt;&lt;mi&gt;A&lt;/mi&gt;&lt;mtext&gt;&lt;/mtext&gt;&lt;mo&gt;=&lt;/mo&gt;&lt;mtext&gt;&lt;/mtext&gt;&lt;mi&gt;π&lt;/mi&gt;&lt;msup&gt;&lt;mi&gt;r&lt;/mi&gt;&lt;mn&gt;2&lt;/mn&gt;&lt;/msup&gt;&lt;/mtd&gt;&lt;/mtr&gt;&lt;mtr&gt;&lt;mtd&gt;&lt;mn&gt;200&lt;/mn&gt;&lt;mtext&gt;&lt;/mtext&gt;&lt;mo&gt;=&lt;/mo&gt;&lt;mtext&gt;&lt;/mtext&gt;&lt;mi&gt;π&lt;/mi&gt;&lt;msup&gt;&lt;mi&gt;r&lt;/mi&gt;&lt;mn&gt;2&lt;/mn&gt;&lt;/msup&gt;&lt;/mtd&gt;&lt;/mtr&gt;&lt;mtr&gt;&lt;mtd&gt;&lt;mfrac&gt;&lt;mn&gt;2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63.6619&lt;/mn&gt;&lt;mo&gt;.&lt;/mo&gt;&lt;mo&gt;.&lt;/mo&gt;&lt;mo&gt;.&lt;/mo&gt;&lt;mtext&gt;&lt;/mtext&gt;&lt;mo&gt;=&lt;/mo&gt;&lt;msup&gt;&lt;mi&gt;r&lt;/mi&gt;&lt;mn&gt;2&lt;/mn&gt;&lt;/msup&gt;&lt;/mtd&gt;&lt;/mtr&gt;&lt;mtr&gt;&lt;mtd&gt;&lt;msqrt&gt;&lt;mn&gt;63.6619&lt;/mn&gt;&lt;mo&gt;.&lt;/mo&gt;&lt;mo&gt;.&lt;/mo&gt;&lt;mo&gt;.&lt;/mo&gt;&lt;/msqrt&gt;&lt;mtext&gt;&lt;/mtext&gt;&lt;mo&gt;=&lt;/mo&gt;&lt;msqrt&gt;&lt;msup&gt;&lt;mi&gt;r&lt;/mi&gt;&lt;mn&gt;2&lt;/mn&gt;&lt;/msup&gt;&lt;/msqrt&gt;&lt;/mtd&gt;&lt;/mtr&gt;&lt;mtr&gt;&lt;mtd&gt;&lt;mn&gt;7.9788&lt;/mn&gt;&lt;mo&gt;.&lt;/mo&gt;&lt;mo&gt;.&lt;/mo&gt;&lt;mo&gt;.&lt;/mo&gt;&lt;mtext&gt;&lt;/mtext&gt;&lt;mo&gt;=&lt;/mo&gt;&lt;mtext&gt;&lt;/mtext&gt;&lt;mi&gt;r&lt;/mi&gt;&lt;/mtd&gt;&lt;/mtr&gt;&lt;mtr&gt;&lt;mtd&gt;&lt;mn&gt;7.98&lt;/mn&gt;&lt;mtext&gt;&lt;/mtext&gt;&lt;mo&gt;≈&lt;/mo&gt;&lt;mi&gt;r&lt;/mi&gt;&lt;/mtd&gt;&lt;/mtr&gt;&lt;/mtable&gt;&lt;/math&gt;" id="1497" name="Google Shape;1497;p90" title="7 lines Line 1: A equals pi r squared Line 2: 200 equals pi r squared Line 3: 200 over pi equals pi r squared over pi Line 4: 63.6619 period period period equals r squared Line 5: the square root of 63.6619 period period period equals the square root of r squared Line 6: 7.9788 period period period equals r Line 7: 7.98 almost equals r"/>
          <p:cNvPicPr preferRelativeResize="0"/>
          <p:nvPr/>
        </p:nvPicPr>
        <p:blipFill rotWithShape="1">
          <a:blip r:embed="rId4">
            <a:alphaModFix/>
          </a:blip>
          <a:srcRect b="53815" l="31923" r="50893" t="25745"/>
          <a:stretch/>
        </p:blipFill>
        <p:spPr>
          <a:xfrm>
            <a:off x="4282903" y="2338766"/>
            <a:ext cx="415777" cy="633581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90"/>
          <p:cNvSpPr txBox="1"/>
          <p:nvPr>
            <p:ph idx="1" type="body"/>
          </p:nvPr>
        </p:nvSpPr>
        <p:spPr>
          <a:xfrm>
            <a:off x="2961225" y="1629578"/>
            <a:ext cx="2114400" cy="2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Calculate the radius.</a:t>
            </a:r>
            <a:endParaRPr sz="1600"/>
          </a:p>
        </p:txBody>
      </p:sp>
      <p:sp>
        <p:nvSpPr>
          <p:cNvPr id="1499" name="Google Shape;1499;p90"/>
          <p:cNvSpPr txBox="1"/>
          <p:nvPr>
            <p:ph idx="1" type="body"/>
          </p:nvPr>
        </p:nvSpPr>
        <p:spPr>
          <a:xfrm>
            <a:off x="6191400" y="1629575"/>
            <a:ext cx="2782500" cy="5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Use the radius to calculate the circumference.</a:t>
            </a:r>
            <a:endParaRPr sz="1600"/>
          </a:p>
        </p:txBody>
      </p:sp>
      <p:sp>
        <p:nvSpPr>
          <p:cNvPr id="1500" name="Google Shape;1500;p90"/>
          <p:cNvSpPr txBox="1"/>
          <p:nvPr>
            <p:ph idx="1" type="body"/>
          </p:nvPr>
        </p:nvSpPr>
        <p:spPr>
          <a:xfrm>
            <a:off x="2959750" y="4309553"/>
            <a:ext cx="2751600" cy="4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Do not round any numbers before the final solution.</a:t>
            </a:r>
            <a:endParaRPr sz="1600"/>
          </a:p>
        </p:txBody>
      </p:sp>
      <p:sp>
        <p:nvSpPr>
          <p:cNvPr id="1501" name="Google Shape;1501;p90"/>
          <p:cNvSpPr txBox="1"/>
          <p:nvPr/>
        </p:nvSpPr>
        <p:spPr>
          <a:xfrm>
            <a:off x="6820178" y="3494443"/>
            <a:ext cx="11841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(to 2 d.p.)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90"/>
          <p:cNvSpPr txBox="1"/>
          <p:nvPr/>
        </p:nvSpPr>
        <p:spPr>
          <a:xfrm>
            <a:off x="7337513" y="3123500"/>
            <a:ext cx="5361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sqrt{95.49296...}&quot;&gt;&lt;msqrt&gt;&lt;mn&gt;95.49296&lt;/mn&gt;&lt;mo&gt;.&lt;/mo&gt;&lt;mo&gt;.&lt;/mo&gt;&lt;mo&gt;.&lt;/mo&gt;&lt;/msqrt&gt;&lt;/math&gt;" id="1507" name="Google Shape;1507;p91" title="the square root of 95.49296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478" y="4143000"/>
            <a:ext cx="1504500" cy="3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91"/>
          <p:cNvSpPr txBox="1"/>
          <p:nvPr>
            <p:ph idx="1" type="subTitle"/>
          </p:nvPr>
        </p:nvSpPr>
        <p:spPr>
          <a:xfrm>
            <a:off x="1034425" y="1685375"/>
            <a:ext cx="1794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95.49296…</a:t>
            </a:r>
            <a:r>
              <a:rPr lang="en-GB"/>
              <a:t> × 2</a:t>
            </a:r>
            <a:endParaRPr/>
          </a:p>
        </p:txBody>
      </p:sp>
      <p:sp>
        <p:nvSpPr>
          <p:cNvPr id="1509" name="Google Shape;1509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510" name="Google Shape;1510;p91"/>
          <p:cNvSpPr txBox="1"/>
          <p:nvPr>
            <p:ph type="title"/>
          </p:nvPr>
        </p:nvSpPr>
        <p:spPr>
          <a:xfrm>
            <a:off x="324000" y="810008"/>
            <a:ext cx="8179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Sofia is using the area of a circle to calculate its </a:t>
            </a:r>
            <a:r>
              <a:rPr lang="en-GB" sz="2000">
                <a:solidFill>
                  <a:schemeClr val="accent5"/>
                </a:solidFill>
              </a:rPr>
              <a:t>radius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What calculation should she perform next?</a:t>
            </a:r>
            <a:endParaRPr sz="2000"/>
          </a:p>
        </p:txBody>
      </p:sp>
      <p:sp>
        <p:nvSpPr>
          <p:cNvPr id="1511" name="Google Shape;1511;p91"/>
          <p:cNvSpPr txBox="1"/>
          <p:nvPr>
            <p:ph idx="3" type="subTitle"/>
          </p:nvPr>
        </p:nvSpPr>
        <p:spPr>
          <a:xfrm>
            <a:off x="1034425" y="2489450"/>
            <a:ext cx="1919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95.49296…</a:t>
            </a:r>
            <a:r>
              <a:rPr lang="en-GB"/>
              <a:t>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/>
          </a:p>
        </p:txBody>
      </p:sp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12" name="Google Shape;1512;p91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4">
            <a:alphaModFix/>
          </a:blip>
          <a:srcRect b="85941" l="0" r="28176" t="0"/>
          <a:stretch/>
        </p:blipFill>
        <p:spPr>
          <a:xfrm>
            <a:off x="6774170" y="1794175"/>
            <a:ext cx="1378559" cy="269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13" name="Google Shape;1513;p91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4">
            <a:alphaModFix/>
          </a:blip>
          <a:srcRect b="57470" l="0" r="26318" t="17715"/>
          <a:stretch/>
        </p:blipFill>
        <p:spPr>
          <a:xfrm>
            <a:off x="6855212" y="2264208"/>
            <a:ext cx="1414213" cy="475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14" name="Google Shape;1514;p91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4">
            <a:alphaModFix/>
          </a:blip>
          <a:srcRect b="37618" l="0" r="0" t="43769"/>
          <a:stretch/>
        </p:blipFill>
        <p:spPr>
          <a:xfrm>
            <a:off x="5985858" y="2893963"/>
            <a:ext cx="1919306" cy="3564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91"/>
          <p:cNvSpPr/>
          <p:nvPr/>
        </p:nvSpPr>
        <p:spPr>
          <a:xfrm>
            <a:off x="4027900" y="1959850"/>
            <a:ext cx="1412700" cy="141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91"/>
          <p:cNvSpPr/>
          <p:nvPr/>
        </p:nvSpPr>
        <p:spPr>
          <a:xfrm>
            <a:off x="4723633" y="2643372"/>
            <a:ext cx="45300" cy="453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91"/>
          <p:cNvSpPr txBox="1"/>
          <p:nvPr/>
        </p:nvSpPr>
        <p:spPr>
          <a:xfrm>
            <a:off x="3910725" y="3548600"/>
            <a:ext cx="106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8" name="Google Shape;1518;p91"/>
          <p:cNvCxnSpPr/>
          <p:nvPr/>
        </p:nvCxnSpPr>
        <p:spPr>
          <a:xfrm flipH="1" rot="10800000">
            <a:off x="4339500" y="3074375"/>
            <a:ext cx="202200" cy="49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9" name="Google Shape;1519;p91"/>
          <p:cNvCxnSpPr/>
          <p:nvPr/>
        </p:nvCxnSpPr>
        <p:spPr>
          <a:xfrm>
            <a:off x="4750589" y="2674580"/>
            <a:ext cx="572700" cy="330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0" name="Google Shape;1520;p91"/>
          <p:cNvSpPr txBox="1"/>
          <p:nvPr/>
        </p:nvSpPr>
        <p:spPr>
          <a:xfrm>
            <a:off x="5031122" y="2551794"/>
            <a:ext cx="250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1" name="Google Shape;1521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9195" y="3632006"/>
            <a:ext cx="572700" cy="635341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91"/>
          <p:cNvSpPr txBox="1"/>
          <p:nvPr>
            <p:ph idx="4" type="subTitle"/>
          </p:nvPr>
        </p:nvSpPr>
        <p:spPr>
          <a:xfrm>
            <a:off x="1034425" y="3309775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95.49296</a:t>
            </a:r>
            <a:r>
              <a:rPr lang="en-GB"/>
              <a:t>… × 2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/>
          </a:p>
        </p:txBody>
      </p:sp>
      <p:pic>
        <p:nvPicPr>
          <p:cNvPr id="1523" name="Google Shape;1523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7408" y="406560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4" name="Google Shape;1524;p91"/>
          <p:cNvCxnSpPr/>
          <p:nvPr/>
        </p:nvCxnSpPr>
        <p:spPr>
          <a:xfrm>
            <a:off x="6152150" y="3800550"/>
            <a:ext cx="1740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92"/>
          <p:cNvSpPr txBox="1"/>
          <p:nvPr>
            <p:ph idx="1" type="subTitle"/>
          </p:nvPr>
        </p:nvSpPr>
        <p:spPr>
          <a:xfrm>
            <a:off x="1034425" y="1837775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9.7720… × 2</a:t>
            </a:r>
            <a:endParaRPr/>
          </a:p>
        </p:txBody>
      </p:sp>
      <p:sp>
        <p:nvSpPr>
          <p:cNvPr id="1530" name="Google Shape;1530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531" name="Google Shape;1531;p9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Sofia is using the area of a circle to calculate its </a:t>
            </a:r>
            <a:r>
              <a:rPr lang="en-GB" sz="2000">
                <a:solidFill>
                  <a:schemeClr val="accent5"/>
                </a:solidFill>
              </a:rPr>
              <a:t>diameter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What calculation should she perform next?</a:t>
            </a:r>
            <a:endParaRPr sz="2000"/>
          </a:p>
        </p:txBody>
      </p:sp>
      <p:sp>
        <p:nvSpPr>
          <p:cNvPr id="1532" name="Google Shape;1532;p92"/>
          <p:cNvSpPr txBox="1"/>
          <p:nvPr>
            <p:ph idx="3" type="subTitle"/>
          </p:nvPr>
        </p:nvSpPr>
        <p:spPr>
          <a:xfrm>
            <a:off x="1034425" y="2794251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9.7720…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/>
          </a:p>
        </p:txBody>
      </p:sp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33" name="Google Shape;1533;p92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85941" l="0" r="28176" t="0"/>
          <a:stretch/>
        </p:blipFill>
        <p:spPr>
          <a:xfrm>
            <a:off x="6774170" y="1794175"/>
            <a:ext cx="1378559" cy="269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34" name="Google Shape;1534;p92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57470" l="0" r="26318" t="17715"/>
          <a:stretch/>
        </p:blipFill>
        <p:spPr>
          <a:xfrm>
            <a:off x="6855212" y="2264208"/>
            <a:ext cx="1414213" cy="475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35" name="Google Shape;1535;p92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37618" l="0" r="0" t="43769"/>
          <a:stretch/>
        </p:blipFill>
        <p:spPr>
          <a:xfrm>
            <a:off x="5985858" y="2893963"/>
            <a:ext cx="1919306" cy="35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36" name="Google Shape;1536;p92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16412" l="0" r="0" t="62381"/>
          <a:stretch/>
        </p:blipFill>
        <p:spPr>
          <a:xfrm>
            <a:off x="5804287" y="3381127"/>
            <a:ext cx="1919306" cy="406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37" name="Google Shape;1537;p92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0" l="0" r="0" t="85941"/>
          <a:stretch/>
        </p:blipFill>
        <p:spPr>
          <a:xfrm>
            <a:off x="6246807" y="3963075"/>
            <a:ext cx="1919306" cy="269295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92"/>
          <p:cNvSpPr/>
          <p:nvPr/>
        </p:nvSpPr>
        <p:spPr>
          <a:xfrm>
            <a:off x="4027900" y="1959850"/>
            <a:ext cx="1412700" cy="141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92"/>
          <p:cNvSpPr/>
          <p:nvPr/>
        </p:nvSpPr>
        <p:spPr>
          <a:xfrm>
            <a:off x="4723633" y="2643372"/>
            <a:ext cx="45300" cy="453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92"/>
          <p:cNvSpPr txBox="1"/>
          <p:nvPr/>
        </p:nvSpPr>
        <p:spPr>
          <a:xfrm>
            <a:off x="3910725" y="3548600"/>
            <a:ext cx="106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1" name="Google Shape;1541;p92"/>
          <p:cNvCxnSpPr/>
          <p:nvPr/>
        </p:nvCxnSpPr>
        <p:spPr>
          <a:xfrm flipH="1" rot="10800000">
            <a:off x="4339500" y="3074375"/>
            <a:ext cx="202200" cy="49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2" name="Google Shape;1542;p92"/>
          <p:cNvCxnSpPr/>
          <p:nvPr/>
        </p:nvCxnSpPr>
        <p:spPr>
          <a:xfrm>
            <a:off x="4190225" y="2351000"/>
            <a:ext cx="1133100" cy="65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3" name="Google Shape;1543;p92"/>
          <p:cNvSpPr txBox="1"/>
          <p:nvPr/>
        </p:nvSpPr>
        <p:spPr>
          <a:xfrm>
            <a:off x="4802522" y="2323194"/>
            <a:ext cx="250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4" name="Google Shape;1544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195" y="3632006"/>
            <a:ext cx="572700" cy="6353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92"/>
          <p:cNvSpPr txBox="1"/>
          <p:nvPr>
            <p:ph idx="4" type="subTitle"/>
          </p:nvPr>
        </p:nvSpPr>
        <p:spPr>
          <a:xfrm>
            <a:off x="1034425" y="3766974"/>
            <a:ext cx="232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9.7720… × 2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/>
          </a:p>
        </p:txBody>
      </p:sp>
      <p:pic>
        <p:nvPicPr>
          <p:cNvPr id="1546" name="Google Shape;1546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1833" y="1761575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7" name="Google Shape;1547;p92"/>
          <p:cNvCxnSpPr/>
          <p:nvPr/>
        </p:nvCxnSpPr>
        <p:spPr>
          <a:xfrm>
            <a:off x="6152150" y="4791150"/>
            <a:ext cx="1740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93"/>
          <p:cNvSpPr txBox="1"/>
          <p:nvPr>
            <p:ph idx="1" type="subTitle"/>
          </p:nvPr>
        </p:nvSpPr>
        <p:spPr>
          <a:xfrm>
            <a:off x="1034425" y="1685375"/>
            <a:ext cx="2610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9.</a:t>
            </a:r>
            <a:r>
              <a:rPr lang="en-GB"/>
              <a:t>77</a:t>
            </a:r>
            <a:r>
              <a:rPr lang="en-GB"/>
              <a:t> × 2</a:t>
            </a:r>
            <a:endParaRPr/>
          </a:p>
        </p:txBody>
      </p:sp>
      <p:sp>
        <p:nvSpPr>
          <p:cNvPr id="1553" name="Google Shape;1553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554" name="Google Shape;1554;p9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Sofia is using the area of a circle to calculate its </a:t>
            </a:r>
            <a:r>
              <a:rPr lang="en-GB" sz="2000">
                <a:solidFill>
                  <a:schemeClr val="accent5"/>
                </a:solidFill>
              </a:rPr>
              <a:t>circumference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What calculation should she perform next?</a:t>
            </a:r>
            <a:endParaRPr sz="2000"/>
          </a:p>
        </p:txBody>
      </p:sp>
      <p:sp>
        <p:nvSpPr>
          <p:cNvPr id="1555" name="Google Shape;1555;p93"/>
          <p:cNvSpPr txBox="1"/>
          <p:nvPr>
            <p:ph idx="3" type="subTitle"/>
          </p:nvPr>
        </p:nvSpPr>
        <p:spPr>
          <a:xfrm>
            <a:off x="1034425" y="2489443"/>
            <a:ext cx="2610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9.7720…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/>
          </a:p>
        </p:txBody>
      </p:sp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56" name="Google Shape;1556;p93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85941" l="0" r="28176" t="0"/>
          <a:stretch/>
        </p:blipFill>
        <p:spPr>
          <a:xfrm>
            <a:off x="6774170" y="1794175"/>
            <a:ext cx="1378559" cy="269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57" name="Google Shape;1557;p93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57470" l="0" r="26318" t="17715"/>
          <a:stretch/>
        </p:blipFill>
        <p:spPr>
          <a:xfrm>
            <a:off x="6855212" y="2264208"/>
            <a:ext cx="1414213" cy="475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58" name="Google Shape;1558;p93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37618" l="0" r="0" t="43769"/>
          <a:stretch/>
        </p:blipFill>
        <p:spPr>
          <a:xfrm>
            <a:off x="5985858" y="2893963"/>
            <a:ext cx="1919306" cy="356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59" name="Google Shape;1559;p93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16412" l="0" r="0" t="62381"/>
          <a:stretch/>
        </p:blipFill>
        <p:spPr>
          <a:xfrm>
            <a:off x="5804287" y="3381127"/>
            <a:ext cx="1919306" cy="406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00\ =\ \pi r^2\\&amp;#13;&amp;#10;\frac{300}{\pi}=\frac{\pi r^2}{\pi}\\&amp;#13;&amp;#10;95.49296...\ =\ r^2\\&amp;#13;&amp;#10;\sqrt{95.49296...}=\ r\\&amp;#13;&amp;#10;9.7720...\ =\ r\end{array}&quot;&gt;&lt;mtable columnalign=&quot;left&quot; columnspacing=&quot;1em&quot; rowspacing=&quot;4pt&quot;&gt;&lt;mtr&gt;&lt;mtd&gt;&lt;mn&gt;300&lt;/mn&gt;&lt;mtext&gt;&lt;/mtext&gt;&lt;mo&gt;=&lt;/mo&gt;&lt;mtext&gt;&lt;/mtext&gt;&lt;mi&gt;π&lt;/mi&gt;&lt;msup&gt;&lt;mi&gt;r&lt;/mi&gt;&lt;mn&gt;2&lt;/mn&gt;&lt;/msup&gt;&lt;/mtd&gt;&lt;/mtr&gt;&lt;mtr&gt;&lt;mtd&gt;&lt;mfrac&gt;&lt;mn&gt;300&lt;/mn&gt;&lt;mi&gt;π&lt;/mi&gt;&lt;/mfrac&gt;&lt;mo&gt;=&lt;/mo&gt;&lt;mfrac&gt;&lt;mrow&gt;&lt;mi&gt;π&lt;/mi&gt;&lt;msup&gt;&lt;mi&gt;r&lt;/mi&gt;&lt;mn&gt;2&lt;/mn&gt;&lt;/msup&gt;&lt;/mrow&gt;&lt;mi&gt;π&lt;/mi&gt;&lt;/mfrac&gt;&lt;/mtd&gt;&lt;/mtr&gt;&lt;mtr&gt;&lt;mtd&gt;&lt;mn&gt;95.49296&lt;/mn&gt;&lt;mo&gt;.&lt;/mo&gt;&lt;mo&gt;.&lt;/mo&gt;&lt;mo&gt;.&lt;/mo&gt;&lt;mtext&gt;&lt;/mtext&gt;&lt;mo&gt;=&lt;/mo&gt;&lt;mtext&gt;&lt;/mtext&gt;&lt;msup&gt;&lt;mi&gt;r&lt;/mi&gt;&lt;mn&gt;2&lt;/mn&gt;&lt;/msup&gt;&lt;/mtd&gt;&lt;/mtr&gt;&lt;mtr&gt;&lt;mtd&gt;&lt;msqrt&gt;&lt;mn&gt;95.49296&lt;/mn&gt;&lt;mo&gt;.&lt;/mo&gt;&lt;mo&gt;.&lt;/mo&gt;&lt;mo&gt;.&lt;/mo&gt;&lt;/msqrt&gt;&lt;mo&gt;=&lt;/mo&gt;&lt;mtext&gt;&lt;/mtext&gt;&lt;mi&gt;r&lt;/mi&gt;&lt;/mtd&gt;&lt;/mtr&gt;&lt;mtr&gt;&lt;mtd&gt;&lt;mn&gt;9.7720&lt;/mn&gt;&lt;mo&gt;.&lt;/mo&gt;&lt;mo&gt;.&lt;/mo&gt;&lt;mo&gt;.&lt;/mo&gt;&lt;mtext&gt;&lt;/mtext&gt;&lt;mo&gt;=&lt;/mo&gt;&lt;mtext&gt;&lt;/mtext&gt;&lt;mi&gt;r&lt;/mi&gt;&lt;/mtd&gt;&lt;/mtr&gt;&lt;/mtable&gt;&lt;/math&gt;" id="1560" name="Google Shape;1560;p93" title="5 lines Line 1: 300 equals pi r squared Line 2: 300 over pi equals pi r squared over pi Line 3: 95.49296 period period period equals r squared Line 4: the square root of 95.49296 period period period equals r Line 5: 9.7720 period period period equals r"/>
          <p:cNvPicPr preferRelativeResize="0"/>
          <p:nvPr/>
        </p:nvPicPr>
        <p:blipFill rotWithShape="1">
          <a:blip r:embed="rId3">
            <a:alphaModFix/>
          </a:blip>
          <a:srcRect b="0" l="0" r="0" t="85941"/>
          <a:stretch/>
        </p:blipFill>
        <p:spPr>
          <a:xfrm>
            <a:off x="6246807" y="3963075"/>
            <a:ext cx="1919306" cy="269295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93"/>
          <p:cNvSpPr/>
          <p:nvPr/>
        </p:nvSpPr>
        <p:spPr>
          <a:xfrm>
            <a:off x="4027900" y="1959850"/>
            <a:ext cx="1412700" cy="1413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93"/>
          <p:cNvSpPr/>
          <p:nvPr/>
        </p:nvSpPr>
        <p:spPr>
          <a:xfrm>
            <a:off x="4723633" y="2643372"/>
            <a:ext cx="45300" cy="45300"/>
          </a:xfrm>
          <a:prstGeom prst="ellipse">
            <a:avLst/>
          </a:prstGeom>
          <a:solidFill>
            <a:srgbClr val="00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93"/>
          <p:cNvSpPr txBox="1"/>
          <p:nvPr/>
        </p:nvSpPr>
        <p:spPr>
          <a:xfrm>
            <a:off x="3910725" y="3548600"/>
            <a:ext cx="106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4" name="Google Shape;1564;p93"/>
          <p:cNvCxnSpPr/>
          <p:nvPr/>
        </p:nvCxnSpPr>
        <p:spPr>
          <a:xfrm flipH="1" rot="10800000">
            <a:off x="4339500" y="3074375"/>
            <a:ext cx="202200" cy="49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5" name="Google Shape;1565;p93"/>
          <p:cNvSpPr txBox="1"/>
          <p:nvPr/>
        </p:nvSpPr>
        <p:spPr>
          <a:xfrm>
            <a:off x="5525022" y="1914294"/>
            <a:ext cx="250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6" name="Google Shape;156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195" y="3632006"/>
            <a:ext cx="572700" cy="635341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93"/>
          <p:cNvSpPr txBox="1"/>
          <p:nvPr>
            <p:ph idx="4" type="subTitle"/>
          </p:nvPr>
        </p:nvSpPr>
        <p:spPr>
          <a:xfrm>
            <a:off x="1034425" y="3309758"/>
            <a:ext cx="2596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9.77 × 2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/>
          </a:p>
        </p:txBody>
      </p:sp>
      <p:pic>
        <p:nvPicPr>
          <p:cNvPr id="1568" name="Google Shape;1568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0033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9" name="Google Shape;1569;p93"/>
          <p:cNvCxnSpPr/>
          <p:nvPr/>
        </p:nvCxnSpPr>
        <p:spPr>
          <a:xfrm>
            <a:off x="6152150" y="4791150"/>
            <a:ext cx="1740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0" name="Google Shape;1570;p93"/>
          <p:cNvSpPr txBox="1"/>
          <p:nvPr>
            <p:ph idx="5" type="subTitle"/>
          </p:nvPr>
        </p:nvSpPr>
        <p:spPr>
          <a:xfrm>
            <a:off x="1034425" y="4113827"/>
            <a:ext cx="26109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9.7720… × 2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/>
          </a:p>
        </p:txBody>
      </p:sp>
      <p:cxnSp>
        <p:nvCxnSpPr>
          <p:cNvPr id="1571" name="Google Shape;1571;p93"/>
          <p:cNvCxnSpPr>
            <a:stCxn id="1561" idx="7"/>
            <a:endCxn id="1565" idx="1"/>
          </p:cNvCxnSpPr>
          <p:nvPr/>
        </p:nvCxnSpPr>
        <p:spPr>
          <a:xfrm flipH="1" rot="10800000">
            <a:off x="5233715" y="2037179"/>
            <a:ext cx="291300" cy="12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94"/>
          <p:cNvSpPr txBox="1"/>
          <p:nvPr>
            <p:ph idx="4294967295" type="body"/>
          </p:nvPr>
        </p:nvSpPr>
        <p:spPr>
          <a:xfrm>
            <a:off x="324000" y="759300"/>
            <a:ext cx="6734400" cy="34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The area of the circle is 500 cm</a:t>
            </a:r>
            <a:r>
              <a:rPr baseline="30000" lang="en-GB" sz="1800"/>
              <a:t>2</a:t>
            </a:r>
            <a:r>
              <a:rPr lang="en-GB" sz="1800"/>
              <a:t>.</a:t>
            </a:r>
            <a:br>
              <a:rPr lang="en-GB" sz="1800"/>
            </a:br>
            <a:r>
              <a:rPr lang="en-GB" sz="1800"/>
              <a:t>    For each question, give your answer to 1 decimal place.</a:t>
            </a:r>
            <a:br>
              <a:rPr lang="en-GB" sz="1800"/>
            </a:br>
            <a:br>
              <a:rPr lang="en-GB" sz="1800"/>
            </a:br>
            <a:r>
              <a:rPr lang="en-GB" sz="1800"/>
              <a:t>a) Calculate the radius.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Calculate the diameter.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Calculate circumference.</a:t>
            </a:r>
            <a:endParaRPr sz="1800"/>
          </a:p>
        </p:txBody>
      </p:sp>
      <p:sp>
        <p:nvSpPr>
          <p:cNvPr id="1577" name="Google Shape;1577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578" name="Google Shape;1578;p94"/>
          <p:cNvSpPr/>
          <p:nvPr/>
        </p:nvSpPr>
        <p:spPr>
          <a:xfrm>
            <a:off x="6254558" y="1731250"/>
            <a:ext cx="1776900" cy="1777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94"/>
          <p:cNvSpPr txBox="1"/>
          <p:nvPr/>
        </p:nvSpPr>
        <p:spPr>
          <a:xfrm>
            <a:off x="5157600" y="1983600"/>
            <a:ext cx="9543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0" name="Google Shape;1580;p94"/>
          <p:cNvCxnSpPr/>
          <p:nvPr/>
        </p:nvCxnSpPr>
        <p:spPr>
          <a:xfrm>
            <a:off x="5766200" y="2263475"/>
            <a:ext cx="966300" cy="373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95"/>
          <p:cNvSpPr txBox="1"/>
          <p:nvPr>
            <p:ph idx="4294967295" type="body"/>
          </p:nvPr>
        </p:nvSpPr>
        <p:spPr>
          <a:xfrm>
            <a:off x="324000" y="759300"/>
            <a:ext cx="6734400" cy="34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The area of the circle is 500 cm</a:t>
            </a:r>
            <a:r>
              <a:rPr baseline="30000" lang="en-GB" sz="1800"/>
              <a:t>2</a:t>
            </a:r>
            <a:r>
              <a:rPr lang="en-GB" sz="1800"/>
              <a:t>.</a:t>
            </a:r>
            <a:br>
              <a:rPr lang="en-GB" sz="1800"/>
            </a:br>
            <a:r>
              <a:rPr lang="en-GB" sz="1800"/>
              <a:t>    For each question, give your answer to 1 decimal place.</a:t>
            </a:r>
            <a:br>
              <a:rPr lang="en-GB" sz="1800"/>
            </a:br>
            <a:br>
              <a:rPr lang="en-GB" sz="1800"/>
            </a:br>
            <a:r>
              <a:rPr lang="en-GB" sz="1800"/>
              <a:t>a) Calculate the radius.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Calculate the diameter.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Calculate circumference.</a:t>
            </a:r>
            <a:endParaRPr sz="1800"/>
          </a:p>
        </p:txBody>
      </p:sp>
      <p:sp>
        <p:nvSpPr>
          <p:cNvPr id="1586" name="Google Shape;1586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radius or diameter when the area is known</a:t>
            </a:r>
            <a:endParaRPr/>
          </a:p>
        </p:txBody>
      </p:sp>
      <p:sp>
        <p:nvSpPr>
          <p:cNvPr id="1587" name="Google Shape;1587;p95"/>
          <p:cNvSpPr/>
          <p:nvPr/>
        </p:nvSpPr>
        <p:spPr>
          <a:xfrm>
            <a:off x="6254558" y="1731250"/>
            <a:ext cx="1776900" cy="1777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5"/>
          <p:cNvSpPr txBox="1"/>
          <p:nvPr/>
        </p:nvSpPr>
        <p:spPr>
          <a:xfrm>
            <a:off x="5157600" y="1983600"/>
            <a:ext cx="9543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cm</a:t>
            </a:r>
            <a:r>
              <a:rPr baseline="30000"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9" name="Google Shape;1589;p95"/>
          <p:cNvCxnSpPr/>
          <p:nvPr/>
        </p:nvCxnSpPr>
        <p:spPr>
          <a:xfrm>
            <a:off x="5766200" y="2263475"/>
            <a:ext cx="966300" cy="373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0" name="Google Shape;1590;p95"/>
          <p:cNvSpPr txBox="1"/>
          <p:nvPr/>
        </p:nvSpPr>
        <p:spPr>
          <a:xfrm>
            <a:off x="3663725" y="1788084"/>
            <a:ext cx="9543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12.6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1" name="Google Shape;1591;p95"/>
          <p:cNvSpPr txBox="1"/>
          <p:nvPr/>
        </p:nvSpPr>
        <p:spPr>
          <a:xfrm>
            <a:off x="3765005" y="2726318"/>
            <a:ext cx="9543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25.2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2" name="Google Shape;1592;p95"/>
          <p:cNvSpPr txBox="1"/>
          <p:nvPr/>
        </p:nvSpPr>
        <p:spPr>
          <a:xfrm>
            <a:off x="3739925" y="3743267"/>
            <a:ext cx="9543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79.3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96"/>
          <p:cNvSpPr txBox="1"/>
          <p:nvPr>
            <p:ph idx="1" type="body"/>
          </p:nvPr>
        </p:nvSpPr>
        <p:spPr>
          <a:xfrm>
            <a:off x="324000" y="1003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area of any circle can be found if the radius is known.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radius can be calculated by halving the diameter.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area of a circle can be used to calculate the radius or diameter.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Answers written as a decimal will need to be rounded to an appropriate degree of accuracy.</a:t>
            </a:r>
            <a:br>
              <a:rPr lang="en-GB" sz="2000"/>
            </a:br>
            <a:endParaRPr sz="500"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GB" sz="2000"/>
              <a:t>An answer can be exact by writing it in terms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2000"/>
              <a:t>.</a:t>
            </a:r>
            <a:endParaRPr/>
          </a:p>
        </p:txBody>
      </p:sp>
      <p:sp>
        <p:nvSpPr>
          <p:cNvPr id="1598" name="Google Shape;1598;p9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circle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9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04" name="Google Shape;1604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