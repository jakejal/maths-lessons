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5C2360-C8D6-4FED-BAA2-BBA57AADE485}">
  <a:tblStyle styleId="{B45C2360-C8D6-4FED-BAA2-BBA57AADE4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ae88994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ae88994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9ae889949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9ae889949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9ae889949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9ae889949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9ae8899496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9ae8899496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9ae8899496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9ae8899496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29ae8899496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29ae8899496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29ae8899496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29ae8899496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9ae889949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9ae889949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9ae889949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9ae889949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a362dab088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a362dab088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9ae889949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9ae889949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9ae889949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9ae889949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29ae8899496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29ae889949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2a362dab088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2a362dab088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9ae889949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9ae889949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29e235ff93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29e235ff93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29e235ff93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29e235ff93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29e56429cb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29e56429cb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2b72363f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2b72363f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2b72363ff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32b72363ff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2b72363ff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32b72363ff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2b72363ff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32b72363ff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2b72363ff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32b72363ff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2b72363ff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32b72363ff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29ae8899496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29ae8899496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29ae889949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29ae889949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29ae8899496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29ae8899496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29ae8899496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29ae8899496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9ae889949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9ae889949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g29ae889949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29ae889949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29e9ab3518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29e9ab3518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29e9ab3518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29e9ab3518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29e9ab3518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29e9ab3518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29e9ab3518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29e9ab3518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2a362dab08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2a362dab08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29ae889949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29ae889949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29ae8899496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29ae8899496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29ae8899496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29ae8899496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9ae8899496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9ae8899496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95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5.png"/><Relationship Id="rId4" Type="http://schemas.openxmlformats.org/officeDocument/2006/relationships/image" Target="../media/image23.png"/><Relationship Id="rId9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5.png"/><Relationship Id="rId4" Type="http://schemas.openxmlformats.org/officeDocument/2006/relationships/image" Target="../media/image31.png"/><Relationship Id="rId11" Type="http://schemas.openxmlformats.org/officeDocument/2006/relationships/image" Target="../media/image21.png"/><Relationship Id="rId10" Type="http://schemas.openxmlformats.org/officeDocument/2006/relationships/image" Target="../media/image39.png"/><Relationship Id="rId9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Relationship Id="rId5" Type="http://schemas.openxmlformats.org/officeDocument/2006/relationships/image" Target="../media/image50.png"/><Relationship Id="rId6" Type="http://schemas.openxmlformats.org/officeDocument/2006/relationships/image" Target="../media/image52.png"/><Relationship Id="rId7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53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53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9.png"/><Relationship Id="rId4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6.png"/><Relationship Id="rId4" Type="http://schemas.openxmlformats.org/officeDocument/2006/relationships/image" Target="../media/image6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1.png"/><Relationship Id="rId4" Type="http://schemas.openxmlformats.org/officeDocument/2006/relationships/image" Target="../media/image6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1.png"/><Relationship Id="rId4" Type="http://schemas.openxmlformats.org/officeDocument/2006/relationships/image" Target="../media/image63.png"/><Relationship Id="rId5" Type="http://schemas.openxmlformats.org/officeDocument/2006/relationships/image" Target="../media/image62.png"/><Relationship Id="rId6" Type="http://schemas.openxmlformats.org/officeDocument/2006/relationships/image" Target="../media/image6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54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70.png"/><Relationship Id="rId8" Type="http://schemas.openxmlformats.org/officeDocument/2006/relationships/image" Target="../media/image69.png"/><Relationship Id="rId10" Type="http://schemas.openxmlformats.org/officeDocument/2006/relationships/image" Target="../media/image7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0.png"/><Relationship Id="rId4" Type="http://schemas.openxmlformats.org/officeDocument/2006/relationships/image" Target="../media/image73.png"/><Relationship Id="rId5" Type="http://schemas.openxmlformats.org/officeDocument/2006/relationships/image" Target="../media/image8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6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2.png"/><Relationship Id="rId4" Type="http://schemas.openxmlformats.org/officeDocument/2006/relationships/image" Target="../media/image50.png"/><Relationship Id="rId5" Type="http://schemas.openxmlformats.org/officeDocument/2006/relationships/image" Target="../media/image7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5.png"/><Relationship Id="rId4" Type="http://schemas.openxmlformats.org/officeDocument/2006/relationships/image" Target="../media/image77.png"/><Relationship Id="rId5" Type="http://schemas.openxmlformats.org/officeDocument/2006/relationships/image" Target="../media/image7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Relationship Id="rId4" Type="http://schemas.openxmlformats.org/officeDocument/2006/relationships/image" Target="../media/image8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0.png"/><Relationship Id="rId4" Type="http://schemas.openxmlformats.org/officeDocument/2006/relationships/image" Target="../media/image78.png"/><Relationship Id="rId9" Type="http://schemas.openxmlformats.org/officeDocument/2006/relationships/image" Target="../media/image84.png"/><Relationship Id="rId5" Type="http://schemas.openxmlformats.org/officeDocument/2006/relationships/image" Target="../media/image81.png"/><Relationship Id="rId6" Type="http://schemas.openxmlformats.org/officeDocument/2006/relationships/image" Target="../media/image86.png"/><Relationship Id="rId7" Type="http://schemas.openxmlformats.org/officeDocument/2006/relationships/image" Target="../media/image85.png"/><Relationship Id="rId8" Type="http://schemas.openxmlformats.org/officeDocument/2006/relationships/image" Target="../media/image83.png"/><Relationship Id="rId10" Type="http://schemas.openxmlformats.org/officeDocument/2006/relationships/image" Target="../media/image8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0.png"/><Relationship Id="rId4" Type="http://schemas.openxmlformats.org/officeDocument/2006/relationships/image" Target="../media/image78.png"/><Relationship Id="rId9" Type="http://schemas.openxmlformats.org/officeDocument/2006/relationships/image" Target="../media/image84.png"/><Relationship Id="rId5" Type="http://schemas.openxmlformats.org/officeDocument/2006/relationships/image" Target="../media/image81.png"/><Relationship Id="rId6" Type="http://schemas.openxmlformats.org/officeDocument/2006/relationships/image" Target="../media/image86.png"/><Relationship Id="rId7" Type="http://schemas.openxmlformats.org/officeDocument/2006/relationships/image" Target="../media/image85.png"/><Relationship Id="rId8" Type="http://schemas.openxmlformats.org/officeDocument/2006/relationships/image" Target="../media/image83.png"/><Relationship Id="rId10" Type="http://schemas.openxmlformats.org/officeDocument/2006/relationships/image" Target="../media/image8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9.png"/><Relationship Id="rId4" Type="http://schemas.openxmlformats.org/officeDocument/2006/relationships/image" Target="../media/image60.png"/><Relationship Id="rId5" Type="http://schemas.openxmlformats.org/officeDocument/2006/relationships/image" Target="../media/image8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5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2.png"/><Relationship Id="rId4" Type="http://schemas.openxmlformats.org/officeDocument/2006/relationships/image" Target="../media/image5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1.png"/><Relationship Id="rId4" Type="http://schemas.openxmlformats.org/officeDocument/2006/relationships/image" Target="../media/image5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3.png"/><Relationship Id="rId4" Type="http://schemas.openxmlformats.org/officeDocument/2006/relationships/image" Target="../media/image5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1.png"/><Relationship Id="rId4" Type="http://schemas.openxmlformats.org/officeDocument/2006/relationships/image" Target="../media/image97.png"/><Relationship Id="rId5" Type="http://schemas.openxmlformats.org/officeDocument/2006/relationships/image" Target="../media/image96.png"/><Relationship Id="rId6" Type="http://schemas.openxmlformats.org/officeDocument/2006/relationships/image" Target="../media/image9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1.png"/><Relationship Id="rId4" Type="http://schemas.openxmlformats.org/officeDocument/2006/relationships/image" Target="../media/image97.png"/><Relationship Id="rId5" Type="http://schemas.openxmlformats.org/officeDocument/2006/relationships/image" Target="../media/image96.png"/><Relationship Id="rId6" Type="http://schemas.openxmlformats.org/officeDocument/2006/relationships/image" Target="../media/image9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perimeter, area and volume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Perimeter, area and volume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my knowledge of perimeter, area and volume to solve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08475"/>
            <a:ext cx="84366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prism is a polyhedron with a base that is a polygon and a parallel opposite face that is identical. The corresponding edges of the two polygons are joined by parallelograms.   </a:t>
            </a:r>
            <a:endParaRPr sz="18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21342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cylinder is a 3D shape with a base that is a circle and a parallel opposite face that is identical. A cross section of a cylinder made parallel to the base will be congruent to the base. </a:t>
            </a:r>
            <a:endParaRPr sz="18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278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surface area is the total area of all the surfaces of a closed 3D shape. The surfaces include all faces and any curved surfaces. </a:t>
            </a:r>
            <a:endParaRPr sz="1800"/>
          </a:p>
        </p:txBody>
      </p:sp>
      <p:sp>
        <p:nvSpPr>
          <p:cNvPr id="769" name="Google Shape;769;p67"/>
          <p:cNvSpPr txBox="1"/>
          <p:nvPr>
            <p:ph idx="4" type="subTitle"/>
          </p:nvPr>
        </p:nvSpPr>
        <p:spPr>
          <a:xfrm>
            <a:off x="324000" y="4192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volume is the amount of space occupied by a closed 3D shape. </a:t>
            </a:r>
            <a:endParaRPr sz="1800"/>
          </a:p>
        </p:txBody>
      </p:sp>
      <p:pic>
        <p:nvPicPr>
          <p:cNvPr id="770" name="Google Shape;77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8325" y="2720950"/>
            <a:ext cx="514050" cy="51905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</p:pic>
      <p:pic>
        <p:nvPicPr>
          <p:cNvPr id="771" name="Google Shape;771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400" y="1414363"/>
            <a:ext cx="872783" cy="60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and volume </a:t>
            </a:r>
            <a:endParaRPr/>
          </a:p>
        </p:txBody>
      </p:sp>
      <p:sp>
        <p:nvSpPr>
          <p:cNvPr id="777" name="Google Shape;777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sp>
        <p:nvSpPr>
          <p:cNvPr id="778" name="Google Shape;778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sp>
        <p:nvSpPr>
          <p:cNvPr id="779" name="Google Shape;779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perimeter, area and volume</a:t>
            </a:r>
            <a:endParaRPr/>
          </a:p>
        </p:txBody>
      </p:sp>
      <p:pic>
        <p:nvPicPr>
          <p:cNvPr id="780" name="Google Shape;78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75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9"/>
          <p:cNvSpPr txBox="1"/>
          <p:nvPr>
            <p:ph idx="1" type="body"/>
          </p:nvPr>
        </p:nvSpPr>
        <p:spPr>
          <a:xfrm>
            <a:off x="324000" y="638940"/>
            <a:ext cx="8237700" cy="7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volume of both the cube (represented here in net form) and cylinder are equal.  Find the radius of the cylinder.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6" name="Google Shape;786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and volume </a:t>
            </a:r>
            <a:endParaRPr/>
          </a:p>
        </p:txBody>
      </p:sp>
      <p:pic>
        <p:nvPicPr>
          <p:cNvPr id="787" name="Google Shape;78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16631"/>
            <a:ext cx="1362525" cy="178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8" name="Google Shape;788;p69"/>
          <p:cNvCxnSpPr/>
          <p:nvPr/>
        </p:nvCxnSpPr>
        <p:spPr>
          <a:xfrm rot="10800000">
            <a:off x="1831250" y="1631225"/>
            <a:ext cx="0" cy="1543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89" name="Google Shape;789;p69"/>
          <p:cNvSpPr txBox="1"/>
          <p:nvPr/>
        </p:nvSpPr>
        <p:spPr>
          <a:xfrm>
            <a:off x="1907347" y="2222675"/>
            <a:ext cx="8814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449" y="3486524"/>
            <a:ext cx="596250" cy="121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1" name="Google Shape;791;p69"/>
          <p:cNvCxnSpPr/>
          <p:nvPr/>
        </p:nvCxnSpPr>
        <p:spPr>
          <a:xfrm rot="10800000">
            <a:off x="1402141" y="3574227"/>
            <a:ext cx="0" cy="1025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92" name="Google Shape;792;p69"/>
          <p:cNvSpPr txBox="1"/>
          <p:nvPr/>
        </p:nvSpPr>
        <p:spPr>
          <a:xfrm>
            <a:off x="1395618" y="4020166"/>
            <a:ext cx="802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9"/>
          <p:cNvSpPr txBox="1"/>
          <p:nvPr/>
        </p:nvSpPr>
        <p:spPr>
          <a:xfrm>
            <a:off x="2552775" y="1220400"/>
            <a:ext cx="626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faced with a problem, consider the given information and what other information that can give.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4" name="Google Shape;794;p69"/>
          <p:cNvGrpSpPr/>
          <p:nvPr/>
        </p:nvGrpSpPr>
        <p:grpSpPr>
          <a:xfrm>
            <a:off x="2602738" y="2020075"/>
            <a:ext cx="3494088" cy="2449848"/>
            <a:chOff x="2602738" y="2248675"/>
            <a:chExt cx="3494088" cy="2449848"/>
          </a:xfrm>
        </p:grpSpPr>
        <p:pic>
          <p:nvPicPr>
            <p:cNvPr id="795" name="Google Shape;795;p69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 flipH="1">
              <a:off x="3476549" y="2248675"/>
              <a:ext cx="2521651" cy="16058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6" name="Google Shape;796;p6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887212" y="3325337"/>
              <a:ext cx="727174" cy="909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7" name="Google Shape;797;p69"/>
            <p:cNvSpPr txBox="1"/>
            <p:nvPr/>
          </p:nvSpPr>
          <p:spPr>
            <a:xfrm>
              <a:off x="2602738" y="4112623"/>
              <a:ext cx="14079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Jun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8" name="Google Shape;798;p69"/>
            <p:cNvSpPr txBox="1"/>
            <p:nvPr/>
          </p:nvSpPr>
          <p:spPr>
            <a:xfrm>
              <a:off x="3655725" y="2259100"/>
              <a:ext cx="24411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 know that all the faces of a cube are square, so all the edges are equal.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9" name="Google Shape;799;p69"/>
          <p:cNvGrpSpPr/>
          <p:nvPr/>
        </p:nvGrpSpPr>
        <p:grpSpPr>
          <a:xfrm>
            <a:off x="6249213" y="2458775"/>
            <a:ext cx="2269038" cy="2311160"/>
            <a:chOff x="6249213" y="2458775"/>
            <a:chExt cx="2269038" cy="2311160"/>
          </a:xfrm>
        </p:grpSpPr>
        <p:grpSp>
          <p:nvGrpSpPr>
            <p:cNvPr id="800" name="Google Shape;800;p69"/>
            <p:cNvGrpSpPr/>
            <p:nvPr/>
          </p:nvGrpSpPr>
          <p:grpSpPr>
            <a:xfrm>
              <a:off x="6249213" y="2458775"/>
              <a:ext cx="1888174" cy="1316250"/>
              <a:chOff x="6096813" y="2306375"/>
              <a:chExt cx="1888174" cy="1316250"/>
            </a:xfrm>
          </p:grpSpPr>
          <p:pic>
            <p:nvPicPr>
              <p:cNvPr id="801" name="Google Shape;801;p6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70143" t="56280"/>
              <a:stretch/>
            </p:blipFill>
            <p:spPr>
              <a:xfrm>
                <a:off x="6096813" y="2306375"/>
                <a:ext cx="1888174" cy="1316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2" name="Google Shape;802;p69"/>
              <p:cNvSpPr txBox="1"/>
              <p:nvPr/>
            </p:nvSpPr>
            <p:spPr>
              <a:xfrm>
                <a:off x="6173850" y="2407644"/>
                <a:ext cx="1780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The net shows that 4 edges is 20 cm.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03" name="Google Shape;803;p69"/>
            <p:cNvSpPr txBox="1"/>
            <p:nvPr/>
          </p:nvSpPr>
          <p:spPr>
            <a:xfrm>
              <a:off x="6680178" y="4184035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Jacob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04" name="Google Shape;804;p6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791075" y="3715137"/>
              <a:ext cx="727175" cy="895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3476549" y="2020075"/>
            <a:ext cx="2521651" cy="160587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and volume </a:t>
            </a:r>
            <a:endParaRPr/>
          </a:p>
        </p:txBody>
      </p:sp>
      <p:pic>
        <p:nvPicPr>
          <p:cNvPr id="811" name="Google Shape;81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516631"/>
            <a:ext cx="1362525" cy="178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2" name="Google Shape;812;p70"/>
          <p:cNvCxnSpPr/>
          <p:nvPr/>
        </p:nvCxnSpPr>
        <p:spPr>
          <a:xfrm rot="10800000">
            <a:off x="1831250" y="1631225"/>
            <a:ext cx="0" cy="1543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3" name="Google Shape;813;p70"/>
          <p:cNvSpPr txBox="1"/>
          <p:nvPr/>
        </p:nvSpPr>
        <p:spPr>
          <a:xfrm>
            <a:off x="1907347" y="2222675"/>
            <a:ext cx="8814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4" name="Google Shape;814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449" y="3486524"/>
            <a:ext cx="596250" cy="121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5" name="Google Shape;815;p70"/>
          <p:cNvCxnSpPr/>
          <p:nvPr/>
        </p:nvCxnSpPr>
        <p:spPr>
          <a:xfrm rot="10800000">
            <a:off x="1402141" y="3574227"/>
            <a:ext cx="0" cy="1025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6" name="Google Shape;816;p70"/>
          <p:cNvSpPr txBox="1"/>
          <p:nvPr/>
        </p:nvSpPr>
        <p:spPr>
          <a:xfrm>
            <a:off x="1395618" y="4020166"/>
            <a:ext cx="802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70"/>
          <p:cNvSpPr txBox="1"/>
          <p:nvPr/>
        </p:nvSpPr>
        <p:spPr>
          <a:xfrm>
            <a:off x="3607953" y="2030500"/>
            <a:ext cx="2441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means 1 edge is 5 cm. So the volume of the cube is 5 × 5 × 5 = 125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8" name="Google Shape;818;p70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>
            <a:off x="6096813" y="2077775"/>
            <a:ext cx="1888174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70"/>
          <p:cNvSpPr txBox="1"/>
          <p:nvPr/>
        </p:nvSpPr>
        <p:spPr>
          <a:xfrm>
            <a:off x="6173850" y="2179044"/>
            <a:ext cx="178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the cylinder is also 125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0"/>
          <p:cNvSpPr txBox="1"/>
          <p:nvPr>
            <p:ph idx="1" type="body"/>
          </p:nvPr>
        </p:nvSpPr>
        <p:spPr>
          <a:xfrm>
            <a:off x="324000" y="638940"/>
            <a:ext cx="8237700" cy="7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volume of both the cube (represented here in net form) and cylinder are equal.  Find the radius of the cylinder.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1" name="Google Shape;821;p70"/>
          <p:cNvSpPr txBox="1"/>
          <p:nvPr/>
        </p:nvSpPr>
        <p:spPr>
          <a:xfrm>
            <a:off x="2552775" y="1220400"/>
            <a:ext cx="626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faced with a problem, consider the given information and what other information that can give.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 txBox="1"/>
          <p:nvPr/>
        </p:nvSpPr>
        <p:spPr>
          <a:xfrm>
            <a:off x="6680178" y="4184035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3" name="Google Shape;823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075" y="3715137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7212" y="30967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0"/>
          <p:cNvSpPr txBox="1"/>
          <p:nvPr/>
        </p:nvSpPr>
        <p:spPr>
          <a:xfrm>
            <a:off x="2602738" y="3884023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7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3389809" y="1922795"/>
            <a:ext cx="2521651" cy="1605876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and volume </a:t>
            </a:r>
            <a:endParaRPr/>
          </a:p>
        </p:txBody>
      </p:sp>
      <p:pic>
        <p:nvPicPr>
          <p:cNvPr id="832" name="Google Shape;832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516631"/>
            <a:ext cx="1362525" cy="178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3" name="Google Shape;833;p71"/>
          <p:cNvCxnSpPr/>
          <p:nvPr/>
        </p:nvCxnSpPr>
        <p:spPr>
          <a:xfrm rot="10800000">
            <a:off x="1831250" y="1631225"/>
            <a:ext cx="0" cy="1543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4" name="Google Shape;834;p71"/>
          <p:cNvSpPr txBox="1"/>
          <p:nvPr/>
        </p:nvSpPr>
        <p:spPr>
          <a:xfrm>
            <a:off x="1907347" y="2222675"/>
            <a:ext cx="8814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5" name="Google Shape;835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449" y="3486524"/>
            <a:ext cx="596250" cy="121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6" name="Google Shape;836;p71"/>
          <p:cNvCxnSpPr/>
          <p:nvPr/>
        </p:nvCxnSpPr>
        <p:spPr>
          <a:xfrm rot="10800000">
            <a:off x="1402141" y="3574227"/>
            <a:ext cx="0" cy="1025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7" name="Google Shape;837;p71"/>
          <p:cNvSpPr txBox="1"/>
          <p:nvPr/>
        </p:nvSpPr>
        <p:spPr>
          <a:xfrm>
            <a:off x="1395618" y="4020166"/>
            <a:ext cx="8028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91425" spcFirstLastPara="1" rIns="91425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1"/>
          <p:cNvSpPr txBox="1"/>
          <p:nvPr/>
        </p:nvSpPr>
        <p:spPr>
          <a:xfrm>
            <a:off x="3568985" y="1933220"/>
            <a:ext cx="2441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height of the cylinder is 4 so the area of the circle is 125 ÷ 4 = 31.25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9" name="Google Shape;839;p71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>
            <a:off x="5967725" y="1687850"/>
            <a:ext cx="2852352" cy="2061326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1"/>
          <p:cNvSpPr txBox="1"/>
          <p:nvPr/>
        </p:nvSpPr>
        <p:spPr>
          <a:xfrm>
            <a:off x="6039075" y="1864350"/>
            <a:ext cx="2732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means the radius-squared is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31.25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÷ 𝜋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9.94718394…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the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3.2 cm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1 d.p.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1"/>
          <p:cNvSpPr txBox="1"/>
          <p:nvPr>
            <p:ph idx="1" type="body"/>
          </p:nvPr>
        </p:nvSpPr>
        <p:spPr>
          <a:xfrm>
            <a:off x="324000" y="638940"/>
            <a:ext cx="8237700" cy="7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volume of both the cube (represented here in net form) and cylinder are equal.  Find the radius of the cylinder.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2" name="Google Shape;842;p71"/>
          <p:cNvSpPr txBox="1"/>
          <p:nvPr/>
        </p:nvSpPr>
        <p:spPr>
          <a:xfrm>
            <a:off x="2552775" y="1220400"/>
            <a:ext cx="626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faced with a problem, consider the given information and what other information that can give.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1"/>
          <p:cNvSpPr txBox="1"/>
          <p:nvPr/>
        </p:nvSpPr>
        <p:spPr>
          <a:xfrm>
            <a:off x="6680178" y="4184035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4" name="Google Shape;844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1075" y="3715137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7212" y="30967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71"/>
          <p:cNvSpPr txBox="1"/>
          <p:nvPr/>
        </p:nvSpPr>
        <p:spPr>
          <a:xfrm>
            <a:off x="2602738" y="3884023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surface area</a:t>
            </a:r>
            <a:endParaRPr sz="2000"/>
          </a:p>
        </p:txBody>
      </p:sp>
      <p:sp>
        <p:nvSpPr>
          <p:cNvPr id="852" name="Google Shape;852;p7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and volume </a:t>
            </a:r>
            <a:endParaRPr/>
          </a:p>
        </p:txBody>
      </p:sp>
      <p:sp>
        <p:nvSpPr>
          <p:cNvPr id="853" name="Google Shape;853;p7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cube has a volume of 27 m</a:t>
            </a:r>
            <a:r>
              <a:rPr baseline="30000" lang="en-GB" sz="2000"/>
              <a:t>3</a:t>
            </a:r>
            <a:r>
              <a:rPr lang="en-GB" sz="2000"/>
              <a:t>. What information can you deduce from this?</a:t>
            </a:r>
            <a:endParaRPr sz="2000"/>
          </a:p>
        </p:txBody>
      </p:sp>
      <p:sp>
        <p:nvSpPr>
          <p:cNvPr id="854" name="Google Shape;854;p7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area of one face</a:t>
            </a:r>
            <a:endParaRPr sz="2000"/>
          </a:p>
        </p:txBody>
      </p:sp>
      <p:sp>
        <p:nvSpPr>
          <p:cNvPr id="855" name="Google Shape;855;p7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edge length</a:t>
            </a:r>
            <a:endParaRPr sz="2000"/>
          </a:p>
        </p:txBody>
      </p:sp>
      <p:sp>
        <p:nvSpPr>
          <p:cNvPr id="856" name="Google Shape;856;p7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he perimeter of the net</a:t>
            </a:r>
            <a:endParaRPr sz="2000"/>
          </a:p>
        </p:txBody>
      </p:sp>
      <p:pic>
        <p:nvPicPr>
          <p:cNvPr id="857" name="Google Shape;85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8" y="16391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5608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160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608" y="406558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2"/>
          <p:cNvSpPr txBox="1"/>
          <p:nvPr/>
        </p:nvSpPr>
        <p:spPr>
          <a:xfrm>
            <a:off x="6005850" y="3286650"/>
            <a:ext cx="67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2" name="Google Shape;862;p72"/>
          <p:cNvSpPr txBox="1"/>
          <p:nvPr/>
        </p:nvSpPr>
        <p:spPr>
          <a:xfrm>
            <a:off x="6005850" y="2460425"/>
            <a:ext cx="11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3" name="Google Shape;863;p72"/>
          <p:cNvSpPr txBox="1"/>
          <p:nvPr/>
        </p:nvSpPr>
        <p:spPr>
          <a:xfrm>
            <a:off x="6005850" y="1633713"/>
            <a:ext cx="11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4" name="Google Shape;864;p72"/>
          <p:cNvSpPr txBox="1"/>
          <p:nvPr/>
        </p:nvSpPr>
        <p:spPr>
          <a:xfrm>
            <a:off x="6005850" y="4065588"/>
            <a:ext cx="114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3"/>
          <p:cNvSpPr txBox="1"/>
          <p:nvPr>
            <p:ph idx="1" type="body"/>
          </p:nvPr>
        </p:nvSpPr>
        <p:spPr>
          <a:xfrm>
            <a:off x="324000" y="733800"/>
            <a:ext cx="8237700" cy="7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cuboid has a volume of 585 cm</a:t>
            </a:r>
            <a:r>
              <a:rPr baseline="30000" lang="en-GB" sz="1800"/>
              <a:t>3</a:t>
            </a:r>
            <a:r>
              <a:rPr lang="en-GB" sz="1800"/>
              <a:t>, a height of 5 cm and a </a:t>
            </a:r>
            <a:r>
              <a:rPr lang="en-GB" sz="1800"/>
              <a:t>length</a:t>
            </a:r>
            <a:r>
              <a:rPr lang="en-GB" sz="1800"/>
              <a:t> of 13 cm. What is the surface area of the cuboid?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0" name="Google Shape;87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and volume </a:t>
            </a:r>
            <a:endParaRPr/>
          </a:p>
        </p:txBody>
      </p:sp>
      <p:pic>
        <p:nvPicPr>
          <p:cNvPr id="871" name="Google Shape;87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0" y="1026200"/>
            <a:ext cx="1710886" cy="154555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3"/>
          <p:cNvSpPr txBox="1"/>
          <p:nvPr/>
        </p:nvSpPr>
        <p:spPr>
          <a:xfrm>
            <a:off x="1171800" y="1491975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Volume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3" name="Google Shape;873;p73"/>
          <p:cNvSpPr txBox="1"/>
          <p:nvPr/>
        </p:nvSpPr>
        <p:spPr>
          <a:xfrm>
            <a:off x="1171800" y="2015175"/>
            <a:ext cx="497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2(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+ 2(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+ 2(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4" name="Google Shape;874;p73"/>
          <p:cNvSpPr txBox="1"/>
          <p:nvPr/>
        </p:nvSpPr>
        <p:spPr>
          <a:xfrm>
            <a:off x="235050" y="2701750"/>
            <a:ext cx="923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calculate the surface area we need the width of the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5" name="Google Shape;875;p73"/>
          <p:cNvCxnSpPr/>
          <p:nvPr/>
        </p:nvCxnSpPr>
        <p:spPr>
          <a:xfrm flipH="1" rot="10800000">
            <a:off x="7050900" y="2052750"/>
            <a:ext cx="885600" cy="51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76" name="Google Shape;876;p73"/>
          <p:cNvCxnSpPr/>
          <p:nvPr/>
        </p:nvCxnSpPr>
        <p:spPr>
          <a:xfrm>
            <a:off x="7990569" y="1430906"/>
            <a:ext cx="0" cy="509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77" name="Google Shape;877;p73"/>
          <p:cNvCxnSpPr/>
          <p:nvPr/>
        </p:nvCxnSpPr>
        <p:spPr>
          <a:xfrm>
            <a:off x="6273306" y="2167637"/>
            <a:ext cx="648300" cy="381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8" name="Google Shape;878;p73"/>
          <p:cNvSpPr txBox="1"/>
          <p:nvPr/>
        </p:nvSpPr>
        <p:spPr>
          <a:xfrm>
            <a:off x="7531875" y="2240100"/>
            <a:ext cx="32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/>
          </a:p>
        </p:txBody>
      </p:sp>
      <p:sp>
        <p:nvSpPr>
          <p:cNvPr id="879" name="Google Shape;879;p73"/>
          <p:cNvSpPr txBox="1"/>
          <p:nvPr/>
        </p:nvSpPr>
        <p:spPr>
          <a:xfrm>
            <a:off x="8119275" y="1439300"/>
            <a:ext cx="32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/>
          </a:p>
        </p:txBody>
      </p:sp>
      <p:sp>
        <p:nvSpPr>
          <p:cNvPr id="880" name="Google Shape;880;p73"/>
          <p:cNvSpPr txBox="1"/>
          <p:nvPr/>
        </p:nvSpPr>
        <p:spPr>
          <a:xfrm>
            <a:off x="6310425" y="2240100"/>
            <a:ext cx="32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881" name="Google Shape;881;p73"/>
          <p:cNvSpPr txBox="1"/>
          <p:nvPr/>
        </p:nvSpPr>
        <p:spPr>
          <a:xfrm>
            <a:off x="800425" y="3201600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585 = 13 ×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5 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2" name="Google Shape;882;p73"/>
          <p:cNvSpPr txBox="1"/>
          <p:nvPr/>
        </p:nvSpPr>
        <p:spPr>
          <a:xfrm>
            <a:off x="800425" y="3589900"/>
            <a:ext cx="439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585 = 65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3" name="Google Shape;883;p73"/>
          <p:cNvSpPr txBox="1"/>
          <p:nvPr/>
        </p:nvSpPr>
        <p:spPr>
          <a:xfrm>
            <a:off x="1061425" y="3978200"/>
            <a:ext cx="88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4" name="Google Shape;884;p73"/>
          <p:cNvSpPr txBox="1"/>
          <p:nvPr/>
        </p:nvSpPr>
        <p:spPr>
          <a:xfrm>
            <a:off x="3840900" y="3262750"/>
            <a:ext cx="49791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2(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5) + 2(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13) + 2(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5)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90 + 234 + 130 = 454 cm</a:t>
            </a:r>
            <a:r>
              <a:rPr baseline="30000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aseline="3000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6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The surface area of this triangular prism is 240 cm</a:t>
            </a:r>
            <a:r>
              <a:rPr baseline="30000" lang="en-GB" sz="1800"/>
              <a:t>2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61950" lvl="0" marL="36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What is the length of the prism?</a:t>
            </a:r>
            <a:endParaRPr sz="1800"/>
          </a:p>
          <a:p>
            <a:pPr indent="-361950" lvl="0" marL="36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61950" lvl="0" marL="36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61950" lvl="0" marL="36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Hence calculate the volume of the prism.</a:t>
            </a:r>
            <a:endParaRPr sz="1800"/>
          </a:p>
        </p:txBody>
      </p:sp>
      <p:sp>
        <p:nvSpPr>
          <p:cNvPr id="890" name="Google Shape;890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Surface area and volume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91" name="Google Shape;89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1225" y="1130187"/>
            <a:ext cx="2299676" cy="212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4"/>
          <p:cNvSpPr txBox="1"/>
          <p:nvPr/>
        </p:nvSpPr>
        <p:spPr>
          <a:xfrm>
            <a:off x="7317525" y="1502263"/>
            <a:ext cx="9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3" name="Google Shape;893;p74"/>
          <p:cNvCxnSpPr/>
          <p:nvPr/>
        </p:nvCxnSpPr>
        <p:spPr>
          <a:xfrm>
            <a:off x="6639519" y="1097794"/>
            <a:ext cx="1632000" cy="17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4" name="Google Shape;894;p74"/>
          <p:cNvSpPr txBox="1"/>
          <p:nvPr/>
        </p:nvSpPr>
        <p:spPr>
          <a:xfrm>
            <a:off x="5188175" y="1622788"/>
            <a:ext cx="9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4"/>
          <p:cNvSpPr txBox="1"/>
          <p:nvPr/>
        </p:nvSpPr>
        <p:spPr>
          <a:xfrm>
            <a:off x="5922100" y="2599363"/>
            <a:ext cx="9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4"/>
          <p:cNvSpPr txBox="1"/>
          <p:nvPr/>
        </p:nvSpPr>
        <p:spPr>
          <a:xfrm>
            <a:off x="7865988" y="2948900"/>
            <a:ext cx="95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7" name="Google Shape;897;p74"/>
          <p:cNvCxnSpPr/>
          <p:nvPr/>
        </p:nvCxnSpPr>
        <p:spPr>
          <a:xfrm>
            <a:off x="5931225" y="1460638"/>
            <a:ext cx="0" cy="78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98" name="Google Shape;898;p74"/>
          <p:cNvCxnSpPr/>
          <p:nvPr/>
        </p:nvCxnSpPr>
        <p:spPr>
          <a:xfrm>
            <a:off x="5992025" y="2336363"/>
            <a:ext cx="1601700" cy="92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99" name="Google Shape;899;p74"/>
          <p:cNvCxnSpPr/>
          <p:nvPr/>
        </p:nvCxnSpPr>
        <p:spPr>
          <a:xfrm flipH="1">
            <a:off x="7689100" y="2933638"/>
            <a:ext cx="541800" cy="30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5"/>
          <p:cNvSpPr txBox="1"/>
          <p:nvPr>
            <p:ph idx="1" type="body"/>
          </p:nvPr>
        </p:nvSpPr>
        <p:spPr>
          <a:xfrm>
            <a:off x="324000" y="759300"/>
            <a:ext cx="8237700" cy="9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The volume of a cylinder is 324𝜋 cm</a:t>
            </a:r>
            <a:r>
              <a:rPr baseline="30000" lang="en-GB" sz="1800"/>
              <a:t>3</a:t>
            </a:r>
            <a:r>
              <a:rPr lang="en-GB" sz="1800"/>
              <a:t> and its height is 9 cm. </a:t>
            </a:r>
            <a:endParaRPr sz="1800"/>
          </a:p>
          <a:p>
            <a:pPr indent="0" lvl="0" marL="269999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Work out the cylinder’s surface area.</a:t>
            </a:r>
            <a:endParaRPr sz="1800"/>
          </a:p>
          <a:p>
            <a:pPr indent="0" lvl="0" marL="269999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3) The surface area of this prism is 516 cm</a:t>
            </a:r>
            <a:r>
              <a:rPr baseline="30000" lang="en-GB" sz="1800"/>
              <a:t>2</a:t>
            </a:r>
            <a:r>
              <a:rPr lang="en-GB" sz="1800"/>
              <a:t>. </a:t>
            </a:r>
            <a:endParaRPr sz="1800"/>
          </a:p>
          <a:p>
            <a:pPr indent="0" lvl="0" marL="269999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Work out the volume of the prism.</a:t>
            </a:r>
            <a:endParaRPr sz="1800"/>
          </a:p>
        </p:txBody>
      </p:sp>
      <p:sp>
        <p:nvSpPr>
          <p:cNvPr id="905" name="Google Shape;905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and volume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06" name="Google Shape;90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0350" y="2571750"/>
            <a:ext cx="1670875" cy="2236076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5"/>
          <p:cNvSpPr txBox="1"/>
          <p:nvPr/>
        </p:nvSpPr>
        <p:spPr>
          <a:xfrm>
            <a:off x="4991000" y="3549150"/>
            <a:ext cx="9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5"/>
          <p:cNvSpPr txBox="1"/>
          <p:nvPr/>
        </p:nvSpPr>
        <p:spPr>
          <a:xfrm>
            <a:off x="6982200" y="2571750"/>
            <a:ext cx="9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5"/>
          <p:cNvSpPr txBox="1"/>
          <p:nvPr/>
        </p:nvSpPr>
        <p:spPr>
          <a:xfrm>
            <a:off x="7310119" y="3518625"/>
            <a:ext cx="9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5"/>
          <p:cNvSpPr txBox="1"/>
          <p:nvPr/>
        </p:nvSpPr>
        <p:spPr>
          <a:xfrm>
            <a:off x="6889950" y="4404475"/>
            <a:ext cx="95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5"/>
          <p:cNvSpPr txBox="1"/>
          <p:nvPr/>
        </p:nvSpPr>
        <p:spPr>
          <a:xfrm>
            <a:off x="5456175" y="4473350"/>
            <a:ext cx="9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2" name="Google Shape;912;p75"/>
          <p:cNvCxnSpPr/>
          <p:nvPr/>
        </p:nvCxnSpPr>
        <p:spPr>
          <a:xfrm>
            <a:off x="6784344" y="2594656"/>
            <a:ext cx="526500" cy="62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3" name="Google Shape;913;p75"/>
          <p:cNvCxnSpPr/>
          <p:nvPr/>
        </p:nvCxnSpPr>
        <p:spPr>
          <a:xfrm>
            <a:off x="5774394" y="3154206"/>
            <a:ext cx="2400" cy="123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4" name="Google Shape;914;p75"/>
          <p:cNvCxnSpPr/>
          <p:nvPr/>
        </p:nvCxnSpPr>
        <p:spPr>
          <a:xfrm>
            <a:off x="7355956" y="3283719"/>
            <a:ext cx="0" cy="95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5" name="Google Shape;915;p75"/>
          <p:cNvCxnSpPr/>
          <p:nvPr/>
        </p:nvCxnSpPr>
        <p:spPr>
          <a:xfrm>
            <a:off x="5776800" y="4473350"/>
            <a:ext cx="571500" cy="31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16" name="Google Shape;916;p75"/>
          <p:cNvCxnSpPr/>
          <p:nvPr/>
        </p:nvCxnSpPr>
        <p:spPr>
          <a:xfrm flipH="1" rot="10800000">
            <a:off x="6524425" y="4304150"/>
            <a:ext cx="809400" cy="48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76"/>
          <p:cNvSpPr txBox="1"/>
          <p:nvPr>
            <p:ph idx="1" type="body"/>
          </p:nvPr>
        </p:nvSpPr>
        <p:spPr>
          <a:xfrm>
            <a:off x="324000" y="759300"/>
            <a:ext cx="8196000" cy="9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The areas of three faces have been given. The edges are integer amounts of centimetres.</a:t>
            </a:r>
            <a:br>
              <a:rPr lang="en-GB" sz="1800"/>
            </a:br>
            <a:r>
              <a:rPr lang="en-GB" sz="1800"/>
              <a:t>What is the volume of this cuboid?</a:t>
            </a:r>
            <a:endParaRPr sz="1800"/>
          </a:p>
          <a:p>
            <a:pPr indent="0" lvl="0" marL="269999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2" name="Google Shape;922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and volume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23" name="Google Shape;92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070" y="1811525"/>
            <a:ext cx="2041675" cy="20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76"/>
          <p:cNvSpPr txBox="1"/>
          <p:nvPr/>
        </p:nvSpPr>
        <p:spPr>
          <a:xfrm rot="1812543">
            <a:off x="1110893" y="2175387"/>
            <a:ext cx="992137" cy="461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 cm</a:t>
            </a:r>
            <a:r>
              <a:rPr baseline="30000"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i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6"/>
          <p:cNvSpPr txBox="1"/>
          <p:nvPr/>
        </p:nvSpPr>
        <p:spPr>
          <a:xfrm rot="1849265">
            <a:off x="798473" y="2825396"/>
            <a:ext cx="1157002" cy="4617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108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6"/>
          <p:cNvSpPr txBox="1"/>
          <p:nvPr/>
        </p:nvSpPr>
        <p:spPr>
          <a:xfrm rot="-1410574">
            <a:off x="1825718" y="2715206"/>
            <a:ext cx="747552" cy="8003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</a:t>
            </a:r>
            <a:r>
              <a:rPr i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i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i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6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The surface area of this triangular prism is 240 cm</a:t>
            </a:r>
            <a:r>
              <a:rPr baseline="30000" lang="en-GB" sz="1800"/>
              <a:t>2</a:t>
            </a:r>
            <a:r>
              <a:rPr lang="en-GB" sz="1800"/>
              <a:t>.</a:t>
            </a:r>
            <a:br>
              <a:rPr lang="en-GB" sz="1800"/>
            </a:br>
            <a:endParaRPr sz="1800"/>
          </a:p>
          <a:p>
            <a:pPr indent="-361950" lvl="0" marL="36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What is the length of the prism?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Hence calculate the volume of the prism.</a:t>
            </a:r>
            <a:endParaRPr sz="1800"/>
          </a:p>
        </p:txBody>
      </p:sp>
      <p:sp>
        <p:nvSpPr>
          <p:cNvPr id="932" name="Google Shape;932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and volume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77"/>
          <p:cNvSpPr txBox="1"/>
          <p:nvPr/>
        </p:nvSpPr>
        <p:spPr>
          <a:xfrm>
            <a:off x="493694" y="1994775"/>
            <a:ext cx="508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2(   × 5 × 12) + 12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+ 13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240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4" name="Google Shape;934;p77"/>
          <p:cNvSpPr txBox="1"/>
          <p:nvPr/>
        </p:nvSpPr>
        <p:spPr>
          <a:xfrm>
            <a:off x="3164644" y="2377375"/>
            <a:ext cx="198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 + 30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240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5" name="Google Shape;935;p77"/>
          <p:cNvSpPr txBox="1"/>
          <p:nvPr/>
        </p:nvSpPr>
        <p:spPr>
          <a:xfrm>
            <a:off x="3782769" y="2747475"/>
            <a:ext cx="198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30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180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6" name="Google Shape;936;p77"/>
          <p:cNvSpPr txBox="1"/>
          <p:nvPr/>
        </p:nvSpPr>
        <p:spPr>
          <a:xfrm>
            <a:off x="4048019" y="3137325"/>
            <a:ext cx="198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6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7" name="Google Shape;937;p77"/>
          <p:cNvSpPr txBox="1"/>
          <p:nvPr/>
        </p:nvSpPr>
        <p:spPr>
          <a:xfrm>
            <a:off x="692094" y="4219525"/>
            <a:ext cx="508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   × 5 × 12) × 6 = 180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2}\end{array}&quot;&gt;&lt;mtable columnalign=&quot;left&quot; columnspacing=&quot;1em&quot; rowspacing=&quot;4pt&quot;&gt;&lt;mtr&gt;&lt;mtd&gt;&lt;mfrac&gt;&lt;mn&gt;1&lt;/mn&gt;&lt;mn&gt;2&lt;/mn&gt;&lt;/mfrac&gt;&lt;/mtd&gt;&lt;/mtr&gt;&lt;/mtable&gt;&lt;/math&gt;" id="938" name="Google Shape;938;p77" title="1 lines Line 1: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156" y="2046625"/>
            <a:ext cx="148185" cy="419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}\end{array}&quot;&gt;&lt;mtable columnalign=&quot;left&quot; columnspacing=&quot;1em&quot; rowspacing=&quot;4pt&quot;&gt;&lt;mtr&gt;&lt;mtd&gt;&lt;mfrac&gt;&lt;mn&gt;1&lt;/mn&gt;&lt;mn&gt;2&lt;/mn&gt;&lt;/mfrac&gt;&lt;/mtd&gt;&lt;/mtr&gt;&lt;/mtable&gt;&lt;/math&gt;" id="939" name="Google Shape;939;p77" title="1 lines Line 1: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126" y="4228322"/>
            <a:ext cx="148185" cy="419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1225" y="1130187"/>
            <a:ext cx="2299676" cy="212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77"/>
          <p:cNvSpPr txBox="1"/>
          <p:nvPr/>
        </p:nvSpPr>
        <p:spPr>
          <a:xfrm>
            <a:off x="7317525" y="1502263"/>
            <a:ext cx="9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2" name="Google Shape;942;p77"/>
          <p:cNvCxnSpPr/>
          <p:nvPr/>
        </p:nvCxnSpPr>
        <p:spPr>
          <a:xfrm>
            <a:off x="6639519" y="1097794"/>
            <a:ext cx="1632000" cy="17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3" name="Google Shape;943;p77"/>
          <p:cNvSpPr txBox="1"/>
          <p:nvPr/>
        </p:nvSpPr>
        <p:spPr>
          <a:xfrm>
            <a:off x="5188175" y="1622788"/>
            <a:ext cx="9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7"/>
          <p:cNvSpPr txBox="1"/>
          <p:nvPr/>
        </p:nvSpPr>
        <p:spPr>
          <a:xfrm>
            <a:off x="5922100" y="2599363"/>
            <a:ext cx="9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7"/>
          <p:cNvSpPr txBox="1"/>
          <p:nvPr/>
        </p:nvSpPr>
        <p:spPr>
          <a:xfrm>
            <a:off x="7865988" y="2948900"/>
            <a:ext cx="95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6" name="Google Shape;946;p77"/>
          <p:cNvCxnSpPr/>
          <p:nvPr/>
        </p:nvCxnSpPr>
        <p:spPr>
          <a:xfrm>
            <a:off x="5931225" y="1460638"/>
            <a:ext cx="0" cy="78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7" name="Google Shape;947;p77"/>
          <p:cNvCxnSpPr/>
          <p:nvPr/>
        </p:nvCxnSpPr>
        <p:spPr>
          <a:xfrm>
            <a:off x="5992025" y="2336363"/>
            <a:ext cx="1601700" cy="92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8" name="Google Shape;948;p77"/>
          <p:cNvCxnSpPr/>
          <p:nvPr/>
        </p:nvCxnSpPr>
        <p:spPr>
          <a:xfrm flipH="1">
            <a:off x="7689100" y="2933638"/>
            <a:ext cx="541800" cy="30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8"/>
          <p:cNvSpPr txBox="1"/>
          <p:nvPr>
            <p:ph idx="1" type="body"/>
          </p:nvPr>
        </p:nvSpPr>
        <p:spPr>
          <a:xfrm>
            <a:off x="324000" y="759300"/>
            <a:ext cx="8237700" cy="89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The volume of a cylinder is 324𝜋 cm</a:t>
            </a:r>
            <a:r>
              <a:rPr baseline="30000" lang="en-GB" sz="1800"/>
              <a:t>3</a:t>
            </a:r>
            <a:r>
              <a:rPr lang="en-GB" sz="1800"/>
              <a:t> and its height is 9 cm. </a:t>
            </a:r>
            <a:endParaRPr sz="1800"/>
          </a:p>
          <a:p>
            <a:pPr indent="0" lvl="0" marL="269999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Work out the cylinder’s surface area.</a:t>
            </a:r>
            <a:endParaRPr sz="1800"/>
          </a:p>
          <a:p>
            <a:pPr indent="0" lvl="0" marL="269999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4" name="Google Shape;954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and volume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78"/>
          <p:cNvSpPr txBox="1"/>
          <p:nvPr/>
        </p:nvSpPr>
        <p:spPr>
          <a:xfrm>
            <a:off x="1259175" y="2093381"/>
            <a:ext cx="222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9 = 324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6" name="Google Shape;956;p78"/>
          <p:cNvSpPr txBox="1"/>
          <p:nvPr/>
        </p:nvSpPr>
        <p:spPr>
          <a:xfrm>
            <a:off x="1684800" y="2500313"/>
            <a:ext cx="222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36𝜋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7" name="Google Shape;957;p78"/>
          <p:cNvSpPr txBox="1"/>
          <p:nvPr/>
        </p:nvSpPr>
        <p:spPr>
          <a:xfrm>
            <a:off x="1837450" y="2907244"/>
            <a:ext cx="222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36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8" name="Google Shape;958;p78"/>
          <p:cNvSpPr txBox="1"/>
          <p:nvPr/>
        </p:nvSpPr>
        <p:spPr>
          <a:xfrm>
            <a:off x="1921400" y="3314175"/>
            <a:ext cx="222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9" name="Google Shape;959;p78"/>
          <p:cNvSpPr txBox="1"/>
          <p:nvPr/>
        </p:nvSpPr>
        <p:spPr>
          <a:xfrm>
            <a:off x="4241625" y="1656000"/>
            <a:ext cx="387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= 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+ 2𝜋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0" name="Google Shape;960;p78"/>
          <p:cNvSpPr txBox="1"/>
          <p:nvPr/>
        </p:nvSpPr>
        <p:spPr>
          <a:xfrm>
            <a:off x="4241625" y="2048550"/>
            <a:ext cx="430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= 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36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+ 2𝜋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6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1" name="Google Shape;961;p78"/>
          <p:cNvSpPr txBox="1"/>
          <p:nvPr/>
        </p:nvSpPr>
        <p:spPr>
          <a:xfrm>
            <a:off x="4241625" y="2461294"/>
            <a:ext cx="430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= 72𝜋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+ 108𝜋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2" name="Google Shape;962;p78"/>
          <p:cNvSpPr txBox="1"/>
          <p:nvPr/>
        </p:nvSpPr>
        <p:spPr>
          <a:xfrm>
            <a:off x="4241625" y="2880775"/>
            <a:ext cx="430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= 180𝜋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3" name="Google Shape;963;p78"/>
          <p:cNvSpPr txBox="1"/>
          <p:nvPr/>
        </p:nvSpPr>
        <p:spPr>
          <a:xfrm>
            <a:off x="1312481" y="1717050"/>
            <a:ext cx="222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324𝜋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79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The surface area of this prism is 516 cm</a:t>
            </a:r>
            <a:r>
              <a:rPr baseline="30000" lang="en-GB" sz="1800"/>
              <a:t>2</a:t>
            </a:r>
            <a:r>
              <a:rPr lang="en-GB" sz="1800"/>
              <a:t>. </a:t>
            </a:r>
            <a:endParaRPr sz="1800"/>
          </a:p>
          <a:p>
            <a:pPr indent="0" lvl="0" marL="269999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Work out the volume of the prism.</a:t>
            </a:r>
            <a:endParaRPr sz="1800"/>
          </a:p>
        </p:txBody>
      </p:sp>
      <p:sp>
        <p:nvSpPr>
          <p:cNvPr id="969" name="Google Shape;969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and volume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70" name="Google Shape;97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9850" y="686825"/>
            <a:ext cx="1670875" cy="2236076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79"/>
          <p:cNvSpPr txBox="1"/>
          <p:nvPr/>
        </p:nvSpPr>
        <p:spPr>
          <a:xfrm>
            <a:off x="6050500" y="1664225"/>
            <a:ext cx="9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9"/>
          <p:cNvSpPr txBox="1"/>
          <p:nvPr/>
        </p:nvSpPr>
        <p:spPr>
          <a:xfrm>
            <a:off x="8041700" y="686825"/>
            <a:ext cx="9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9"/>
          <p:cNvSpPr txBox="1"/>
          <p:nvPr/>
        </p:nvSpPr>
        <p:spPr>
          <a:xfrm>
            <a:off x="8369619" y="1633700"/>
            <a:ext cx="95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9"/>
          <p:cNvSpPr txBox="1"/>
          <p:nvPr/>
        </p:nvSpPr>
        <p:spPr>
          <a:xfrm>
            <a:off x="7949450" y="2519550"/>
            <a:ext cx="95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9"/>
          <p:cNvSpPr txBox="1"/>
          <p:nvPr/>
        </p:nvSpPr>
        <p:spPr>
          <a:xfrm>
            <a:off x="6515675" y="2588425"/>
            <a:ext cx="9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6" name="Google Shape;976;p79"/>
          <p:cNvCxnSpPr/>
          <p:nvPr/>
        </p:nvCxnSpPr>
        <p:spPr>
          <a:xfrm>
            <a:off x="7843844" y="709731"/>
            <a:ext cx="526500" cy="62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7" name="Google Shape;977;p79"/>
          <p:cNvCxnSpPr/>
          <p:nvPr/>
        </p:nvCxnSpPr>
        <p:spPr>
          <a:xfrm>
            <a:off x="6833894" y="1269281"/>
            <a:ext cx="2400" cy="123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8" name="Google Shape;978;p79"/>
          <p:cNvCxnSpPr/>
          <p:nvPr/>
        </p:nvCxnSpPr>
        <p:spPr>
          <a:xfrm>
            <a:off x="8415456" y="1398794"/>
            <a:ext cx="0" cy="95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79" name="Google Shape;979;p79"/>
          <p:cNvCxnSpPr/>
          <p:nvPr/>
        </p:nvCxnSpPr>
        <p:spPr>
          <a:xfrm>
            <a:off x="6836300" y="2588425"/>
            <a:ext cx="571500" cy="31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0" name="Google Shape;980;p79"/>
          <p:cNvCxnSpPr/>
          <p:nvPr/>
        </p:nvCxnSpPr>
        <p:spPr>
          <a:xfrm flipH="1" rot="10800000">
            <a:off x="7583925" y="2419225"/>
            <a:ext cx="809400" cy="48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1" name="Google Shape;981;p79"/>
          <p:cNvSpPr txBox="1"/>
          <p:nvPr/>
        </p:nvSpPr>
        <p:spPr>
          <a:xfrm>
            <a:off x="623975" y="1557000"/>
            <a:ext cx="493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= 516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2" name="Google Shape;982;p79"/>
          <p:cNvSpPr txBox="1"/>
          <p:nvPr/>
        </p:nvSpPr>
        <p:spPr>
          <a:xfrm>
            <a:off x="403400" y="2049600"/>
            <a:ext cx="6318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2(   × (20 + 17) × 4) + 20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+ 17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516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3" name="Google Shape;983;p79"/>
          <p:cNvSpPr txBox="1"/>
          <p:nvPr/>
        </p:nvSpPr>
        <p:spPr>
          <a:xfrm>
            <a:off x="4254012" y="2450700"/>
            <a:ext cx="236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148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+ 46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516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4" name="Google Shape;984;p79"/>
          <p:cNvSpPr txBox="1"/>
          <p:nvPr/>
        </p:nvSpPr>
        <p:spPr>
          <a:xfrm>
            <a:off x="4973387" y="2842500"/>
            <a:ext cx="236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46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368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5" name="Google Shape;985;p79"/>
          <p:cNvSpPr txBox="1"/>
          <p:nvPr/>
        </p:nvSpPr>
        <p:spPr>
          <a:xfrm>
            <a:off x="5283762" y="3262225"/>
            <a:ext cx="236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8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6" name="Google Shape;986;p79"/>
          <p:cNvSpPr txBox="1"/>
          <p:nvPr/>
        </p:nvSpPr>
        <p:spPr>
          <a:xfrm>
            <a:off x="1684800" y="3873275"/>
            <a:ext cx="499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   × (20 + 17) × 4) × 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79"/>
          <p:cNvSpPr txBox="1"/>
          <p:nvPr/>
        </p:nvSpPr>
        <p:spPr>
          <a:xfrm>
            <a:off x="1684800" y="4365875"/>
            <a:ext cx="499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= 592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988" name="Google Shape;988;p79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024" y="2034150"/>
            <a:ext cx="168991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989" name="Google Shape;989;p79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4374" y="3842525"/>
            <a:ext cx="168991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The areas of three faces have been given. The edges are integer amounts of centimetres.</a:t>
            </a:r>
            <a:br>
              <a:rPr lang="en-GB" sz="1800"/>
            </a:br>
            <a:r>
              <a:rPr lang="en-GB" sz="1800"/>
              <a:t>What is the volume of this cuboid?</a:t>
            </a:r>
            <a:endParaRPr sz="1800"/>
          </a:p>
          <a:p>
            <a:pPr indent="0" lvl="0" marL="269999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5" name="Google Shape;995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and volume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96" name="Google Shape;99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070" y="1811525"/>
            <a:ext cx="2041675" cy="20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80"/>
          <p:cNvSpPr txBox="1"/>
          <p:nvPr/>
        </p:nvSpPr>
        <p:spPr>
          <a:xfrm rot="1812543">
            <a:off x="1110893" y="2175387"/>
            <a:ext cx="992137" cy="46164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 cm</a:t>
            </a:r>
            <a:r>
              <a:rPr baseline="30000"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i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80"/>
          <p:cNvSpPr txBox="1"/>
          <p:nvPr/>
        </p:nvSpPr>
        <p:spPr>
          <a:xfrm rot="1849265">
            <a:off x="798473" y="2825396"/>
            <a:ext cx="1157002" cy="4617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108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0"/>
          <p:cNvSpPr txBox="1"/>
          <p:nvPr/>
        </p:nvSpPr>
        <p:spPr>
          <a:xfrm rot="-1410574">
            <a:off x="1825718" y="2715206"/>
            <a:ext cx="747552" cy="8003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</a:t>
            </a:r>
            <a:r>
              <a:rPr i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i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i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0"/>
          <p:cNvSpPr txBox="1"/>
          <p:nvPr/>
        </p:nvSpPr>
        <p:spPr>
          <a:xfrm>
            <a:off x="2055300" y="3701550"/>
            <a:ext cx="83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1" name="Google Shape;1001;p80"/>
          <p:cNvSpPr txBox="1"/>
          <p:nvPr/>
        </p:nvSpPr>
        <p:spPr>
          <a:xfrm>
            <a:off x="2566150" y="2749200"/>
            <a:ext cx="83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2" name="Google Shape;1002;p80"/>
          <p:cNvSpPr txBox="1"/>
          <p:nvPr/>
        </p:nvSpPr>
        <p:spPr>
          <a:xfrm>
            <a:off x="761975" y="3571725"/>
            <a:ext cx="100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03" name="Google Shape;1003;p80"/>
          <p:cNvCxnSpPr/>
          <p:nvPr/>
        </p:nvCxnSpPr>
        <p:spPr>
          <a:xfrm flipH="1" rot="10800000">
            <a:off x="1980456" y="3554892"/>
            <a:ext cx="548700" cy="33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4" name="Google Shape;1004;p80"/>
          <p:cNvCxnSpPr/>
          <p:nvPr/>
        </p:nvCxnSpPr>
        <p:spPr>
          <a:xfrm flipH="1" rot="10800000">
            <a:off x="2571752" y="2542975"/>
            <a:ext cx="5700" cy="840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5" name="Google Shape;1005;p80"/>
          <p:cNvCxnSpPr/>
          <p:nvPr/>
        </p:nvCxnSpPr>
        <p:spPr>
          <a:xfrm rot="10800000">
            <a:off x="706602" y="3254223"/>
            <a:ext cx="1081500" cy="614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06" name="Google Shape;1006;p80"/>
          <p:cNvSpPr txBox="1"/>
          <p:nvPr/>
        </p:nvSpPr>
        <p:spPr>
          <a:xfrm>
            <a:off x="3659550" y="2023350"/>
            <a:ext cx="401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= 12 × 5 × 9 = 540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and volume </a:t>
            </a:r>
            <a:endParaRPr/>
          </a:p>
        </p:txBody>
      </p:sp>
      <p:sp>
        <p:nvSpPr>
          <p:cNvPr id="1012" name="Google Shape;1012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sp>
        <p:nvSpPr>
          <p:cNvPr id="1013" name="Google Shape;1013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sp>
        <p:nvSpPr>
          <p:cNvPr id="1014" name="Google Shape;1014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perimeter, area and volume</a:t>
            </a:r>
            <a:endParaRPr/>
          </a:p>
        </p:txBody>
      </p:sp>
      <p:pic>
        <p:nvPicPr>
          <p:cNvPr id="1015" name="Google Shape;101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25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2"/>
          <p:cNvSpPr txBox="1"/>
          <p:nvPr>
            <p:ph idx="1" type="body"/>
          </p:nvPr>
        </p:nvSpPr>
        <p:spPr>
          <a:xfrm>
            <a:off x="324000" y="759300"/>
            <a:ext cx="8237700" cy="4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All of these shapes can be classified as </a:t>
            </a:r>
            <a:r>
              <a:rPr lang="en-GB" sz="1800">
                <a:solidFill>
                  <a:schemeClr val="accent5"/>
                </a:solidFill>
              </a:rPr>
              <a:t>composite</a:t>
            </a:r>
            <a:r>
              <a:rPr lang="en-GB" sz="1800"/>
              <a:t> shapes.</a:t>
            </a:r>
            <a:endParaRPr sz="1800"/>
          </a:p>
        </p:txBody>
      </p:sp>
      <p:sp>
        <p:nvSpPr>
          <p:cNvPr id="1021" name="Google Shape;102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sp>
        <p:nvSpPr>
          <p:cNvPr id="1022" name="Google Shape;1022;p82"/>
          <p:cNvSpPr/>
          <p:nvPr/>
        </p:nvSpPr>
        <p:spPr>
          <a:xfrm>
            <a:off x="1032900" y="1488112"/>
            <a:ext cx="1470300" cy="1541700"/>
          </a:xfrm>
          <a:prstGeom prst="corner">
            <a:avLst>
              <a:gd fmla="val 60858" name="adj1"/>
              <a:gd fmla="val 35577" name="adj2"/>
            </a:avLst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3" name="Google Shape;102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5199" y="1290187"/>
            <a:ext cx="1775125" cy="173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7425" y="1488112"/>
            <a:ext cx="1731765" cy="154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82"/>
          <p:cNvSpPr txBox="1"/>
          <p:nvPr/>
        </p:nvSpPr>
        <p:spPr>
          <a:xfrm>
            <a:off x="324000" y="3464625"/>
            <a:ext cx="8058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compound or composite shape is a shape created using two or more basic shapes.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82"/>
          <p:cNvSpPr/>
          <p:nvPr/>
        </p:nvSpPr>
        <p:spPr>
          <a:xfrm>
            <a:off x="1032900" y="1492571"/>
            <a:ext cx="523500" cy="6384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2"/>
          <p:cNvSpPr/>
          <p:nvPr/>
        </p:nvSpPr>
        <p:spPr>
          <a:xfrm>
            <a:off x="1032900" y="2130975"/>
            <a:ext cx="1470300" cy="8988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2"/>
          <p:cNvSpPr/>
          <p:nvPr/>
        </p:nvSpPr>
        <p:spPr>
          <a:xfrm>
            <a:off x="3787725" y="1970175"/>
            <a:ext cx="1731900" cy="1042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2"/>
          <p:cNvSpPr/>
          <p:nvPr/>
        </p:nvSpPr>
        <p:spPr>
          <a:xfrm>
            <a:off x="3787725" y="1320596"/>
            <a:ext cx="1731900" cy="6465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2"/>
          <p:cNvSpPr/>
          <p:nvPr/>
        </p:nvSpPr>
        <p:spPr>
          <a:xfrm>
            <a:off x="7329400" y="1501400"/>
            <a:ext cx="855600" cy="7644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82"/>
          <p:cNvSpPr/>
          <p:nvPr/>
        </p:nvSpPr>
        <p:spPr>
          <a:xfrm>
            <a:off x="6496375" y="1501400"/>
            <a:ext cx="1688700" cy="1528500"/>
          </a:xfrm>
          <a:prstGeom prst="pie">
            <a:avLst>
              <a:gd fmla="val 1521" name="adj1"/>
              <a:gd fmla="val 16200000" name="adj2"/>
            </a:avLst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83"/>
          <p:cNvSpPr txBox="1"/>
          <p:nvPr>
            <p:ph idx="1" type="body"/>
          </p:nvPr>
        </p:nvSpPr>
        <p:spPr>
          <a:xfrm>
            <a:off x="324000" y="759300"/>
            <a:ext cx="8496000" cy="4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a similar way, there are </a:t>
            </a:r>
            <a:r>
              <a:rPr lang="en-GB" sz="1800">
                <a:solidFill>
                  <a:schemeClr val="accent5"/>
                </a:solidFill>
              </a:rPr>
              <a:t>composite</a:t>
            </a:r>
            <a:r>
              <a:rPr lang="en-GB" sz="1800"/>
              <a:t> solids: some are prisms, some are not.</a:t>
            </a:r>
            <a:endParaRPr sz="1800"/>
          </a:p>
        </p:txBody>
      </p:sp>
      <p:sp>
        <p:nvSpPr>
          <p:cNvPr id="1037" name="Google Shape;1037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sp>
        <p:nvSpPr>
          <p:cNvPr id="1038" name="Google Shape;1038;p83"/>
          <p:cNvSpPr/>
          <p:nvPr/>
        </p:nvSpPr>
        <p:spPr>
          <a:xfrm>
            <a:off x="1032900" y="1182912"/>
            <a:ext cx="1470300" cy="1541700"/>
          </a:xfrm>
          <a:prstGeom prst="corner">
            <a:avLst>
              <a:gd fmla="val 60858" name="adj1"/>
              <a:gd fmla="val 35577" name="adj2"/>
            </a:avLst>
          </a:prstGeom>
          <a:solidFill>
            <a:srgbClr val="E6F2F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9" name="Google Shape;103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875" y="1233302"/>
            <a:ext cx="1470300" cy="144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7425" y="1488112"/>
            <a:ext cx="1731765" cy="154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50" y="2875562"/>
            <a:ext cx="1737740" cy="1808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1350" y="2528700"/>
            <a:ext cx="1542825" cy="22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83"/>
          <p:cNvSpPr txBox="1"/>
          <p:nvPr/>
        </p:nvSpPr>
        <p:spPr>
          <a:xfrm>
            <a:off x="6150150" y="3127450"/>
            <a:ext cx="2618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prism as this is not polygonal.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Same structure though.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84"/>
          <p:cNvSpPr txBox="1"/>
          <p:nvPr>
            <p:ph idx="4294967295"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Which of these are composite prisms?</a:t>
            </a:r>
            <a:endParaRPr b="0" sz="2000"/>
          </a:p>
        </p:txBody>
      </p:sp>
      <p:sp>
        <p:nvSpPr>
          <p:cNvPr id="1049" name="Google Shape;104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pic>
        <p:nvPicPr>
          <p:cNvPr id="1050" name="Google Shape;105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300" y="1080002"/>
            <a:ext cx="2034274" cy="1906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6224325" y="997344"/>
            <a:ext cx="1835449" cy="1734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7650" y="3111675"/>
            <a:ext cx="1050625" cy="16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974" y="1079994"/>
            <a:ext cx="2270229" cy="2070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25637" y="2856028"/>
            <a:ext cx="2175925" cy="202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56801" y="2913700"/>
            <a:ext cx="1662295" cy="1906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51658" y="120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17108" y="3657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18763" y="145226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75363" y="19501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51638" y="3743429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44138" y="4138817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85"/>
          <p:cNvSpPr txBox="1"/>
          <p:nvPr>
            <p:ph idx="1" type="body"/>
          </p:nvPr>
        </p:nvSpPr>
        <p:spPr>
          <a:xfrm>
            <a:off x="1770358" y="857550"/>
            <a:ext cx="2635200" cy="104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Composite prisms are prisms, so we must calculate the volume and surface area the same way.</a:t>
            </a:r>
            <a:endParaRPr sz="1800"/>
          </a:p>
        </p:txBody>
      </p:sp>
      <p:sp>
        <p:nvSpPr>
          <p:cNvPr id="1067" name="Google Shape;1067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pic>
        <p:nvPicPr>
          <p:cNvPr id="1068" name="Google Shape;1068;p85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484225" y="688375"/>
            <a:ext cx="2983050" cy="209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024" y="1952700"/>
            <a:ext cx="789199" cy="2590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6801" y="2484775"/>
            <a:ext cx="2035695" cy="22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8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824000" y="804875"/>
            <a:ext cx="3102351" cy="1542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85"/>
          <p:cNvSpPr txBox="1"/>
          <p:nvPr/>
        </p:nvSpPr>
        <p:spPr>
          <a:xfrm>
            <a:off x="4861500" y="776270"/>
            <a:ext cx="2864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we calculate the volume and surface area as separate prisms and then total them?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5"/>
          <p:cNvSpPr txBox="1"/>
          <p:nvPr/>
        </p:nvSpPr>
        <p:spPr>
          <a:xfrm>
            <a:off x="4997850" y="4177560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5"/>
          <p:cNvSpPr txBox="1"/>
          <p:nvPr/>
        </p:nvSpPr>
        <p:spPr>
          <a:xfrm>
            <a:off x="1363303" y="417756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375" y="1718011"/>
            <a:ext cx="1971999" cy="1987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86"/>
          <p:cNvSpPr txBox="1"/>
          <p:nvPr>
            <p:ph idx="1" type="body"/>
          </p:nvPr>
        </p:nvSpPr>
        <p:spPr>
          <a:xfrm>
            <a:off x="324000" y="781350"/>
            <a:ext cx="82542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 composite rectilinear prism. What happens to the volume when it is split into separate prisms? </a:t>
            </a:r>
            <a:endParaRPr sz="1800"/>
          </a:p>
        </p:txBody>
      </p:sp>
      <p:sp>
        <p:nvSpPr>
          <p:cNvPr id="1081" name="Google Shape;108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pic>
        <p:nvPicPr>
          <p:cNvPr id="1082" name="Google Shape;1082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0154" y="1750533"/>
            <a:ext cx="1925825" cy="2008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9089" y="1669028"/>
            <a:ext cx="895800" cy="1444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1520" y="2130644"/>
            <a:ext cx="1476145" cy="164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86"/>
          <p:cNvSpPr txBox="1"/>
          <p:nvPr>
            <p:ph idx="1" type="body"/>
          </p:nvPr>
        </p:nvSpPr>
        <p:spPr>
          <a:xfrm>
            <a:off x="324000" y="4188300"/>
            <a:ext cx="8237700" cy="4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volume remains the same.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87"/>
          <p:cNvSpPr txBox="1"/>
          <p:nvPr>
            <p:ph idx="1" type="body"/>
          </p:nvPr>
        </p:nvSpPr>
        <p:spPr>
          <a:xfrm>
            <a:off x="324000" y="759300"/>
            <a:ext cx="8237700" cy="4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volume of a composite solid remains the same when split into separate prisms.</a:t>
            </a:r>
            <a:endParaRPr sz="1800"/>
          </a:p>
        </p:txBody>
      </p:sp>
      <p:sp>
        <p:nvSpPr>
          <p:cNvPr id="1091" name="Google Shape;109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pic>
        <p:nvPicPr>
          <p:cNvPr id="1092" name="Google Shape;109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1" y="2484775"/>
            <a:ext cx="2035695" cy="22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87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366800" y="1566875"/>
            <a:ext cx="3102351" cy="1542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87"/>
          <p:cNvSpPr txBox="1"/>
          <p:nvPr/>
        </p:nvSpPr>
        <p:spPr>
          <a:xfrm>
            <a:off x="4404300" y="1538270"/>
            <a:ext cx="2864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makes sense. A cake cut into slices doesn’t change the total amount of cake.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5" name="Google Shape;1095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999" y="2207250"/>
            <a:ext cx="789199" cy="2590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87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042300" y="1740107"/>
            <a:ext cx="3102351" cy="1542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87"/>
          <p:cNvSpPr txBox="1"/>
          <p:nvPr/>
        </p:nvSpPr>
        <p:spPr>
          <a:xfrm flipH="1">
            <a:off x="1189950" y="1712851"/>
            <a:ext cx="2993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is the surface area of the composite solid the same as the total of the surface area of its parts?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sp>
        <p:nvSpPr>
          <p:cNvPr id="1103" name="Google Shape;1103;p88"/>
          <p:cNvSpPr txBox="1"/>
          <p:nvPr>
            <p:ph idx="1" type="body"/>
          </p:nvPr>
        </p:nvSpPr>
        <p:spPr>
          <a:xfrm>
            <a:off x="324000" y="781350"/>
            <a:ext cx="82542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 composite rectilinear prism. What happens to the surface area when it is split into separate prisms? </a:t>
            </a:r>
            <a:endParaRPr sz="1800"/>
          </a:p>
        </p:txBody>
      </p:sp>
      <p:pic>
        <p:nvPicPr>
          <p:cNvPr id="1104" name="Google Shape;110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9089" y="1669028"/>
            <a:ext cx="895800" cy="1444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88"/>
          <p:cNvSpPr/>
          <p:nvPr/>
        </p:nvSpPr>
        <p:spPr>
          <a:xfrm>
            <a:off x="7575000" y="2149200"/>
            <a:ext cx="288550" cy="927300"/>
          </a:xfrm>
          <a:custGeom>
            <a:rect b="b" l="l" r="r" t="t"/>
            <a:pathLst>
              <a:path extrusionOk="0" h="37092" w="11542">
                <a:moveTo>
                  <a:pt x="112" y="0"/>
                </a:moveTo>
                <a:lnTo>
                  <a:pt x="11542" y="2577"/>
                </a:lnTo>
                <a:lnTo>
                  <a:pt x="11542" y="37092"/>
                </a:lnTo>
                <a:lnTo>
                  <a:pt x="0" y="34514"/>
                </a:ln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106" name="Google Shape;110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1520" y="2130644"/>
            <a:ext cx="1476145" cy="164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88"/>
          <p:cNvSpPr/>
          <p:nvPr/>
        </p:nvSpPr>
        <p:spPr>
          <a:xfrm>
            <a:off x="7346400" y="2377800"/>
            <a:ext cx="288550" cy="927300"/>
          </a:xfrm>
          <a:custGeom>
            <a:rect b="b" l="l" r="r" t="t"/>
            <a:pathLst>
              <a:path extrusionOk="0" h="37092" w="11542">
                <a:moveTo>
                  <a:pt x="112" y="0"/>
                </a:moveTo>
                <a:lnTo>
                  <a:pt x="11542" y="2577"/>
                </a:lnTo>
                <a:lnTo>
                  <a:pt x="11542" y="37092"/>
                </a:lnTo>
                <a:lnTo>
                  <a:pt x="0" y="34514"/>
                </a:ln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08" name="Google Shape;1108;p88"/>
          <p:cNvCxnSpPr/>
          <p:nvPr/>
        </p:nvCxnSpPr>
        <p:spPr>
          <a:xfrm flipH="1" rot="10800000">
            <a:off x="7352250" y="2439750"/>
            <a:ext cx="305100" cy="263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9" name="Google Shape;1109;p88"/>
          <p:cNvSpPr txBox="1"/>
          <p:nvPr>
            <p:ph idx="1" type="body"/>
          </p:nvPr>
        </p:nvSpPr>
        <p:spPr>
          <a:xfrm>
            <a:off x="324000" y="4188300"/>
            <a:ext cx="8237700" cy="4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surface area increases.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10" name="Google Shape;111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289" y="1669028"/>
            <a:ext cx="895800" cy="1444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9720" y="2130644"/>
            <a:ext cx="1476145" cy="164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554" y="1750533"/>
            <a:ext cx="1925825" cy="2008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7" name="Google Shape;1117;p89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049200" y="1356300"/>
            <a:ext cx="2499323" cy="151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89"/>
          <p:cNvSpPr txBox="1"/>
          <p:nvPr>
            <p:ph idx="1" type="body"/>
          </p:nvPr>
        </p:nvSpPr>
        <p:spPr>
          <a:xfrm>
            <a:off x="324000" y="759300"/>
            <a:ext cx="8237700" cy="4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surface area of the composite solid increases when split into separate prisms.</a:t>
            </a:r>
            <a:endParaRPr sz="1800"/>
          </a:p>
        </p:txBody>
      </p:sp>
      <p:sp>
        <p:nvSpPr>
          <p:cNvPr id="1119" name="Google Shape;111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pic>
        <p:nvPicPr>
          <p:cNvPr id="1120" name="Google Shape;1120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1601" y="2484775"/>
            <a:ext cx="2035695" cy="223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999" y="2207250"/>
            <a:ext cx="789199" cy="2590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20592" y="2616508"/>
            <a:ext cx="1925825" cy="2008986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89"/>
          <p:cNvSpPr/>
          <p:nvPr/>
        </p:nvSpPr>
        <p:spPr>
          <a:xfrm>
            <a:off x="4206925" y="3233700"/>
            <a:ext cx="288550" cy="927300"/>
          </a:xfrm>
          <a:custGeom>
            <a:rect b="b" l="l" r="r" t="t"/>
            <a:pathLst>
              <a:path extrusionOk="0" h="37092" w="11542">
                <a:moveTo>
                  <a:pt x="112" y="0"/>
                </a:moveTo>
                <a:lnTo>
                  <a:pt x="11542" y="2577"/>
                </a:lnTo>
                <a:lnTo>
                  <a:pt x="11542" y="37092"/>
                </a:lnTo>
                <a:lnTo>
                  <a:pt x="0" y="34514"/>
                </a:lnTo>
                <a:close/>
              </a:path>
            </a:pathLst>
          </a:custGeom>
          <a:solidFill>
            <a:schemeClr val="dk2"/>
          </a:solidFill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24" name="Google Shape;1124;p89"/>
          <p:cNvSpPr txBox="1"/>
          <p:nvPr/>
        </p:nvSpPr>
        <p:spPr>
          <a:xfrm flipH="1">
            <a:off x="1232600" y="1342100"/>
            <a:ext cx="2259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additional surface area occurs where the two prisms join.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5" name="Google Shape;1125;p8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583575" y="1210500"/>
            <a:ext cx="3324426" cy="151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89"/>
          <p:cNvSpPr txBox="1"/>
          <p:nvPr/>
        </p:nvSpPr>
        <p:spPr>
          <a:xfrm>
            <a:off x="4687800" y="1242275"/>
            <a:ext cx="2960400" cy="11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you iced a whole cake versus icing the individual slices, you would use different amounts of icing.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90"/>
          <p:cNvSpPr txBox="1"/>
          <p:nvPr>
            <p:ph idx="1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surface area of a composite solid is equal to the combined surface area of the solids that created it.</a:t>
            </a:r>
            <a:r>
              <a:rPr lang="en-GB"/>
              <a:t> </a:t>
            </a:r>
            <a:endParaRPr/>
          </a:p>
        </p:txBody>
      </p:sp>
      <p:sp>
        <p:nvSpPr>
          <p:cNvPr id="1132" name="Google Shape;1132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sp>
        <p:nvSpPr>
          <p:cNvPr id="1133" name="Google Shape;1133;p9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solids created will join and ‘hide’ some of their surface area.</a:t>
            </a:r>
            <a:endParaRPr sz="1800"/>
          </a:p>
        </p:txBody>
      </p:sp>
      <p:sp>
        <p:nvSpPr>
          <p:cNvPr id="1134" name="Google Shape;1134;p9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volume of the composite solid is equal to the combined volume of the solids so it is the same for surface area.</a:t>
            </a:r>
            <a:endParaRPr sz="1800"/>
          </a:p>
        </p:txBody>
      </p:sp>
      <p:pic>
        <p:nvPicPr>
          <p:cNvPr id="1135" name="Google Shape;113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8817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0833" y="35078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91"/>
          <p:cNvSpPr txBox="1"/>
          <p:nvPr>
            <p:ph idx="1" type="body"/>
          </p:nvPr>
        </p:nvSpPr>
        <p:spPr>
          <a:xfrm>
            <a:off x="324000" y="759300"/>
            <a:ext cx="8237700" cy="6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Match the composite solid with its parts.</a:t>
            </a:r>
            <a:endParaRPr sz="1800"/>
          </a:p>
        </p:txBody>
      </p:sp>
      <p:sp>
        <p:nvSpPr>
          <p:cNvPr id="1142" name="Google Shape;1142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pic>
        <p:nvPicPr>
          <p:cNvPr id="1143" name="Google Shape;114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1400" y="1503275"/>
            <a:ext cx="881175" cy="87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5250" y="1190400"/>
            <a:ext cx="1104847" cy="158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5600" y="1190400"/>
            <a:ext cx="1298025" cy="1587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5600" y="2908523"/>
            <a:ext cx="1413825" cy="1644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9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1400" y="3032150"/>
            <a:ext cx="1041650" cy="1397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9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44004" y="1259475"/>
            <a:ext cx="1413825" cy="1221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9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02798" y="3032153"/>
            <a:ext cx="1413825" cy="9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9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78412" y="3024564"/>
            <a:ext cx="1345008" cy="151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92"/>
          <p:cNvSpPr txBox="1"/>
          <p:nvPr>
            <p:ph idx="1" type="body"/>
          </p:nvPr>
        </p:nvSpPr>
        <p:spPr>
          <a:xfrm>
            <a:off x="324000" y="759300"/>
            <a:ext cx="8237700" cy="3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Calculate the volume of this prism. </a:t>
            </a:r>
            <a:endParaRPr sz="1800"/>
          </a:p>
        </p:txBody>
      </p:sp>
      <p:sp>
        <p:nvSpPr>
          <p:cNvPr id="1156" name="Google Shape;1156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pic>
        <p:nvPicPr>
          <p:cNvPr id="1157" name="Google Shape;115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500" y="1620000"/>
            <a:ext cx="2945901" cy="26272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8" name="Google Shape;1158;p92"/>
          <p:cNvCxnSpPr/>
          <p:nvPr/>
        </p:nvCxnSpPr>
        <p:spPr>
          <a:xfrm flipH="1" rot="10800000">
            <a:off x="1886250" y="3231750"/>
            <a:ext cx="1747500" cy="1091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9" name="Google Shape;1159;p92"/>
          <p:cNvCxnSpPr/>
          <p:nvPr/>
        </p:nvCxnSpPr>
        <p:spPr>
          <a:xfrm rot="10800000">
            <a:off x="3710400" y="1922750"/>
            <a:ext cx="0" cy="1183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60" name="Google Shape;1160;p92"/>
          <p:cNvCxnSpPr/>
          <p:nvPr/>
        </p:nvCxnSpPr>
        <p:spPr>
          <a:xfrm rot="10800000">
            <a:off x="856075" y="3266100"/>
            <a:ext cx="846600" cy="102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61" name="Google Shape;1161;p92"/>
          <p:cNvCxnSpPr/>
          <p:nvPr/>
        </p:nvCxnSpPr>
        <p:spPr>
          <a:xfrm flipH="1">
            <a:off x="2727900" y="1626575"/>
            <a:ext cx="545100" cy="31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62" name="Google Shape;1162;p92"/>
          <p:cNvCxnSpPr/>
          <p:nvPr/>
        </p:nvCxnSpPr>
        <p:spPr>
          <a:xfrm rot="10800000">
            <a:off x="3437775" y="1658725"/>
            <a:ext cx="210900" cy="22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63" name="Google Shape;1163;p92"/>
          <p:cNvCxnSpPr/>
          <p:nvPr/>
        </p:nvCxnSpPr>
        <p:spPr>
          <a:xfrm rot="10800000">
            <a:off x="2471200" y="1884925"/>
            <a:ext cx="210900" cy="22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64" name="Google Shape;1164;p92"/>
          <p:cNvCxnSpPr/>
          <p:nvPr/>
        </p:nvCxnSpPr>
        <p:spPr>
          <a:xfrm flipH="1">
            <a:off x="897875" y="1724675"/>
            <a:ext cx="1629000" cy="21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65" name="Google Shape;1165;p92"/>
          <p:cNvSpPr txBox="1"/>
          <p:nvPr/>
        </p:nvSpPr>
        <p:spPr>
          <a:xfrm>
            <a:off x="3710400" y="2283500"/>
            <a:ext cx="107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92"/>
          <p:cNvSpPr txBox="1"/>
          <p:nvPr/>
        </p:nvSpPr>
        <p:spPr>
          <a:xfrm>
            <a:off x="2682100" y="3671925"/>
            <a:ext cx="102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92"/>
          <p:cNvSpPr txBox="1"/>
          <p:nvPr/>
        </p:nvSpPr>
        <p:spPr>
          <a:xfrm>
            <a:off x="440100" y="3671925"/>
            <a:ext cx="95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92"/>
          <p:cNvSpPr txBox="1"/>
          <p:nvPr/>
        </p:nvSpPr>
        <p:spPr>
          <a:xfrm>
            <a:off x="1149575" y="1432500"/>
            <a:ext cx="107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92"/>
          <p:cNvSpPr txBox="1"/>
          <p:nvPr/>
        </p:nvSpPr>
        <p:spPr>
          <a:xfrm>
            <a:off x="2526875" y="1302925"/>
            <a:ext cx="102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92"/>
          <p:cNvSpPr txBox="1"/>
          <p:nvPr/>
        </p:nvSpPr>
        <p:spPr>
          <a:xfrm>
            <a:off x="3536750" y="1483300"/>
            <a:ext cx="95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92"/>
          <p:cNvSpPr txBox="1"/>
          <p:nvPr/>
        </p:nvSpPr>
        <p:spPr>
          <a:xfrm>
            <a:off x="1819650" y="1841200"/>
            <a:ext cx="91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92"/>
          <p:cNvSpPr/>
          <p:nvPr/>
        </p:nvSpPr>
        <p:spPr>
          <a:xfrm>
            <a:off x="1695775" y="2818750"/>
            <a:ext cx="251850" cy="209875"/>
          </a:xfrm>
          <a:custGeom>
            <a:rect b="b" l="l" r="r" t="t"/>
            <a:pathLst>
              <a:path extrusionOk="0" h="8395" w="10074">
                <a:moveTo>
                  <a:pt x="0" y="3616"/>
                </a:moveTo>
                <a:lnTo>
                  <a:pt x="4133" y="8395"/>
                </a:lnTo>
                <a:lnTo>
                  <a:pt x="10074" y="4521"/>
                </a:lnTo>
                <a:lnTo>
                  <a:pt x="6587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73" name="Google Shape;1173;p92"/>
          <p:cNvSpPr/>
          <p:nvPr/>
        </p:nvSpPr>
        <p:spPr>
          <a:xfrm>
            <a:off x="3304375" y="1828150"/>
            <a:ext cx="251850" cy="209875"/>
          </a:xfrm>
          <a:custGeom>
            <a:rect b="b" l="l" r="r" t="t"/>
            <a:pathLst>
              <a:path extrusionOk="0" h="8395" w="10074">
                <a:moveTo>
                  <a:pt x="0" y="3616"/>
                </a:moveTo>
                <a:lnTo>
                  <a:pt x="4133" y="8395"/>
                </a:lnTo>
                <a:lnTo>
                  <a:pt x="10074" y="4521"/>
                </a:lnTo>
                <a:lnTo>
                  <a:pt x="6587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93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Match the composite solid with its parts.</a:t>
            </a:r>
            <a:endParaRPr sz="1800"/>
          </a:p>
        </p:txBody>
      </p:sp>
      <p:sp>
        <p:nvSpPr>
          <p:cNvPr id="1179" name="Google Shape;1179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pic>
        <p:nvPicPr>
          <p:cNvPr id="1180" name="Google Shape;118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1400" y="1503275"/>
            <a:ext cx="881175" cy="87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5250" y="1190400"/>
            <a:ext cx="1104847" cy="158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5600" y="1190400"/>
            <a:ext cx="1298025" cy="1587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5600" y="2908523"/>
            <a:ext cx="1413825" cy="1644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1400" y="3032150"/>
            <a:ext cx="1041650" cy="1397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44004" y="1259475"/>
            <a:ext cx="1413825" cy="1221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p9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02798" y="3032153"/>
            <a:ext cx="1413825" cy="9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9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78412" y="3024564"/>
            <a:ext cx="1345008" cy="1510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8" name="Google Shape;1188;p93"/>
          <p:cNvCxnSpPr>
            <a:stCxn id="1182" idx="3"/>
            <a:endCxn id="1180" idx="1"/>
          </p:cNvCxnSpPr>
          <p:nvPr/>
        </p:nvCxnSpPr>
        <p:spPr>
          <a:xfrm flipH="1" rot="10800000">
            <a:off x="2243625" y="1942010"/>
            <a:ext cx="857700" cy="42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93"/>
          <p:cNvCxnSpPr>
            <a:stCxn id="1182" idx="3"/>
          </p:cNvCxnSpPr>
          <p:nvPr/>
        </p:nvCxnSpPr>
        <p:spPr>
          <a:xfrm flipH="1" rot="10800000">
            <a:off x="2243625" y="1236410"/>
            <a:ext cx="992100" cy="747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0" name="Google Shape;1190;p93"/>
          <p:cNvCxnSpPr>
            <a:endCxn id="1181" idx="1"/>
          </p:cNvCxnSpPr>
          <p:nvPr/>
        </p:nvCxnSpPr>
        <p:spPr>
          <a:xfrm>
            <a:off x="3220350" y="1251413"/>
            <a:ext cx="1224900" cy="73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1" name="Google Shape;1191;p93"/>
          <p:cNvCxnSpPr>
            <a:endCxn id="1180" idx="2"/>
          </p:cNvCxnSpPr>
          <p:nvPr/>
        </p:nvCxnSpPr>
        <p:spPr>
          <a:xfrm flipH="1" rot="10800000">
            <a:off x="2310787" y="2380975"/>
            <a:ext cx="1231200" cy="107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2" name="Google Shape;1192;p93"/>
          <p:cNvCxnSpPr>
            <a:endCxn id="1184" idx="1"/>
          </p:cNvCxnSpPr>
          <p:nvPr/>
        </p:nvCxnSpPr>
        <p:spPr>
          <a:xfrm flipH="1" rot="10800000">
            <a:off x="2359500" y="3730968"/>
            <a:ext cx="741900" cy="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3" name="Google Shape;1193;p93"/>
          <p:cNvCxnSpPr/>
          <p:nvPr/>
        </p:nvCxnSpPr>
        <p:spPr>
          <a:xfrm flipH="1" rot="10800000">
            <a:off x="2403850" y="2335025"/>
            <a:ext cx="2113800" cy="122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4" name="Google Shape;1194;p93"/>
          <p:cNvCxnSpPr/>
          <p:nvPr/>
        </p:nvCxnSpPr>
        <p:spPr>
          <a:xfrm flipH="1" rot="10800000">
            <a:off x="5616650" y="1679750"/>
            <a:ext cx="1337400" cy="123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5" name="Google Shape;1195;p93"/>
          <p:cNvCxnSpPr/>
          <p:nvPr/>
        </p:nvCxnSpPr>
        <p:spPr>
          <a:xfrm>
            <a:off x="5738750" y="1182700"/>
            <a:ext cx="1249800" cy="27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6" name="Google Shape;1196;p93"/>
          <p:cNvCxnSpPr/>
          <p:nvPr/>
        </p:nvCxnSpPr>
        <p:spPr>
          <a:xfrm flipH="1" rot="10800000">
            <a:off x="4044600" y="1167613"/>
            <a:ext cx="579900" cy="78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7" name="Google Shape;1197;p93"/>
          <p:cNvCxnSpPr/>
          <p:nvPr/>
        </p:nvCxnSpPr>
        <p:spPr>
          <a:xfrm rot="10800000">
            <a:off x="4624550" y="1167550"/>
            <a:ext cx="1114200" cy="15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8" name="Google Shape;1198;p93"/>
          <p:cNvCxnSpPr/>
          <p:nvPr/>
        </p:nvCxnSpPr>
        <p:spPr>
          <a:xfrm flipH="1" rot="10800000">
            <a:off x="4143050" y="4174900"/>
            <a:ext cx="2766600" cy="6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9" name="Google Shape;1199;p93"/>
          <p:cNvCxnSpPr/>
          <p:nvPr/>
        </p:nvCxnSpPr>
        <p:spPr>
          <a:xfrm>
            <a:off x="4807725" y="2892388"/>
            <a:ext cx="2404200" cy="371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93"/>
          <p:cNvCxnSpPr/>
          <p:nvPr/>
        </p:nvCxnSpPr>
        <p:spPr>
          <a:xfrm rot="10800000">
            <a:off x="3899550" y="2312150"/>
            <a:ext cx="938700" cy="60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94"/>
          <p:cNvSpPr txBox="1"/>
          <p:nvPr>
            <p:ph idx="1" type="body"/>
          </p:nvPr>
        </p:nvSpPr>
        <p:spPr>
          <a:xfrm>
            <a:off x="324000" y="759300"/>
            <a:ext cx="4248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Calculate the volume of this prism. </a:t>
            </a:r>
            <a:endParaRPr sz="1800"/>
          </a:p>
        </p:txBody>
      </p:sp>
      <p:sp>
        <p:nvSpPr>
          <p:cNvPr id="1206" name="Google Shape;1206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pic>
        <p:nvPicPr>
          <p:cNvPr id="1207" name="Google Shape;120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577" y="839262"/>
            <a:ext cx="1310307" cy="18893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8" name="Google Shape;1208;p94"/>
          <p:cNvCxnSpPr/>
          <p:nvPr/>
        </p:nvCxnSpPr>
        <p:spPr>
          <a:xfrm>
            <a:off x="5678831" y="1488100"/>
            <a:ext cx="2517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9" name="Google Shape;1209;p94"/>
          <p:cNvSpPr txBox="1"/>
          <p:nvPr/>
        </p:nvSpPr>
        <p:spPr>
          <a:xfrm>
            <a:off x="5635831" y="970800"/>
            <a:ext cx="43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94"/>
          <p:cNvSpPr txBox="1"/>
          <p:nvPr/>
        </p:nvSpPr>
        <p:spPr>
          <a:xfrm>
            <a:off x="5391969" y="1869937"/>
            <a:ext cx="43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94"/>
          <p:cNvSpPr txBox="1"/>
          <p:nvPr/>
        </p:nvSpPr>
        <p:spPr>
          <a:xfrm>
            <a:off x="6087200" y="656413"/>
            <a:ext cx="225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of A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8 × 16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128 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2" name="Google Shape;1212;p94"/>
          <p:cNvSpPr txBox="1"/>
          <p:nvPr/>
        </p:nvSpPr>
        <p:spPr>
          <a:xfrm>
            <a:off x="6022875" y="1794175"/>
            <a:ext cx="3005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of B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   × (23 + 16) × 24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468 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3" name="Google Shape;1213;p94"/>
          <p:cNvSpPr txBox="1"/>
          <p:nvPr/>
        </p:nvSpPr>
        <p:spPr>
          <a:xfrm>
            <a:off x="4235825" y="3264075"/>
            <a:ext cx="31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Area of cross-section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128 + 468 = 596 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4" name="Google Shape;1214;p94"/>
          <p:cNvSpPr txBox="1"/>
          <p:nvPr/>
        </p:nvSpPr>
        <p:spPr>
          <a:xfrm>
            <a:off x="4235825" y="4020000"/>
            <a:ext cx="31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596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22 = 13 112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15" name="Google Shape;1215;p94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9624" y="2225125"/>
            <a:ext cx="168991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500" y="1620000"/>
            <a:ext cx="2945901" cy="26272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7" name="Google Shape;1217;p94"/>
          <p:cNvCxnSpPr/>
          <p:nvPr/>
        </p:nvCxnSpPr>
        <p:spPr>
          <a:xfrm flipH="1" rot="10800000">
            <a:off x="1886250" y="3231750"/>
            <a:ext cx="1747500" cy="1091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18" name="Google Shape;1218;p94"/>
          <p:cNvCxnSpPr/>
          <p:nvPr/>
        </p:nvCxnSpPr>
        <p:spPr>
          <a:xfrm rot="10800000">
            <a:off x="3710400" y="1922750"/>
            <a:ext cx="0" cy="1183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19" name="Google Shape;1219;p94"/>
          <p:cNvCxnSpPr/>
          <p:nvPr/>
        </p:nvCxnSpPr>
        <p:spPr>
          <a:xfrm rot="10800000">
            <a:off x="856075" y="3266100"/>
            <a:ext cx="846600" cy="102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20" name="Google Shape;1220;p94"/>
          <p:cNvCxnSpPr/>
          <p:nvPr/>
        </p:nvCxnSpPr>
        <p:spPr>
          <a:xfrm flipH="1">
            <a:off x="2727900" y="1626575"/>
            <a:ext cx="545100" cy="31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21" name="Google Shape;1221;p94"/>
          <p:cNvCxnSpPr/>
          <p:nvPr/>
        </p:nvCxnSpPr>
        <p:spPr>
          <a:xfrm rot="10800000">
            <a:off x="3437775" y="1658725"/>
            <a:ext cx="210900" cy="22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22" name="Google Shape;1222;p94"/>
          <p:cNvCxnSpPr/>
          <p:nvPr/>
        </p:nvCxnSpPr>
        <p:spPr>
          <a:xfrm rot="10800000">
            <a:off x="2471200" y="1884925"/>
            <a:ext cx="210900" cy="22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23" name="Google Shape;1223;p94"/>
          <p:cNvCxnSpPr/>
          <p:nvPr/>
        </p:nvCxnSpPr>
        <p:spPr>
          <a:xfrm flipH="1">
            <a:off x="897875" y="1724675"/>
            <a:ext cx="1629000" cy="21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24" name="Google Shape;1224;p94"/>
          <p:cNvSpPr txBox="1"/>
          <p:nvPr/>
        </p:nvSpPr>
        <p:spPr>
          <a:xfrm>
            <a:off x="3710400" y="2283500"/>
            <a:ext cx="107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94"/>
          <p:cNvSpPr txBox="1"/>
          <p:nvPr/>
        </p:nvSpPr>
        <p:spPr>
          <a:xfrm>
            <a:off x="2682100" y="3671925"/>
            <a:ext cx="102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94"/>
          <p:cNvSpPr txBox="1"/>
          <p:nvPr/>
        </p:nvSpPr>
        <p:spPr>
          <a:xfrm>
            <a:off x="440100" y="3671925"/>
            <a:ext cx="95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23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94"/>
          <p:cNvSpPr txBox="1"/>
          <p:nvPr/>
        </p:nvSpPr>
        <p:spPr>
          <a:xfrm>
            <a:off x="1149575" y="1432500"/>
            <a:ext cx="107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94"/>
          <p:cNvSpPr txBox="1"/>
          <p:nvPr/>
        </p:nvSpPr>
        <p:spPr>
          <a:xfrm>
            <a:off x="2526875" y="1302925"/>
            <a:ext cx="102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94"/>
          <p:cNvSpPr txBox="1"/>
          <p:nvPr/>
        </p:nvSpPr>
        <p:spPr>
          <a:xfrm>
            <a:off x="3536750" y="1483300"/>
            <a:ext cx="95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94"/>
          <p:cNvSpPr txBox="1"/>
          <p:nvPr/>
        </p:nvSpPr>
        <p:spPr>
          <a:xfrm>
            <a:off x="1819650" y="1841200"/>
            <a:ext cx="91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mm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94"/>
          <p:cNvSpPr/>
          <p:nvPr/>
        </p:nvSpPr>
        <p:spPr>
          <a:xfrm>
            <a:off x="1695775" y="2818750"/>
            <a:ext cx="251850" cy="209875"/>
          </a:xfrm>
          <a:custGeom>
            <a:rect b="b" l="l" r="r" t="t"/>
            <a:pathLst>
              <a:path extrusionOk="0" h="8395" w="10074">
                <a:moveTo>
                  <a:pt x="0" y="3616"/>
                </a:moveTo>
                <a:lnTo>
                  <a:pt x="4133" y="8395"/>
                </a:lnTo>
                <a:lnTo>
                  <a:pt x="10074" y="4521"/>
                </a:lnTo>
                <a:lnTo>
                  <a:pt x="6587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32" name="Google Shape;1232;p94"/>
          <p:cNvSpPr/>
          <p:nvPr/>
        </p:nvSpPr>
        <p:spPr>
          <a:xfrm>
            <a:off x="3304375" y="1828150"/>
            <a:ext cx="251850" cy="209875"/>
          </a:xfrm>
          <a:custGeom>
            <a:rect b="b" l="l" r="r" t="t"/>
            <a:pathLst>
              <a:path extrusionOk="0" h="8395" w="10074">
                <a:moveTo>
                  <a:pt x="0" y="3616"/>
                </a:moveTo>
                <a:lnTo>
                  <a:pt x="4133" y="8395"/>
                </a:lnTo>
                <a:lnTo>
                  <a:pt x="10074" y="4521"/>
                </a:lnTo>
                <a:lnTo>
                  <a:pt x="6587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9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and volume </a:t>
            </a:r>
            <a:endParaRPr/>
          </a:p>
        </p:txBody>
      </p:sp>
      <p:sp>
        <p:nvSpPr>
          <p:cNvPr id="1238" name="Google Shape;1238;p9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Composite solids</a:t>
            </a:r>
            <a:endParaRPr/>
          </a:p>
        </p:txBody>
      </p:sp>
      <p:sp>
        <p:nvSpPr>
          <p:cNvPr id="1239" name="Google Shape;1239;p9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sp>
        <p:nvSpPr>
          <p:cNvPr id="1240" name="Google Shape;1240;p9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perimeter, area and volume</a:t>
            </a:r>
            <a:endParaRPr/>
          </a:p>
        </p:txBody>
      </p:sp>
      <p:pic>
        <p:nvPicPr>
          <p:cNvPr id="1241" name="Google Shape;124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25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96"/>
          <p:cNvSpPr txBox="1"/>
          <p:nvPr>
            <p:ph idx="1" type="body"/>
          </p:nvPr>
        </p:nvSpPr>
        <p:spPr>
          <a:xfrm>
            <a:off x="324000" y="759300"/>
            <a:ext cx="8237700" cy="15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outside of a garage is going to be painted.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Masonry paint comes in 10 litre pots and covers 14 m</a:t>
            </a:r>
            <a:r>
              <a:rPr baseline="30000" lang="en-GB" sz="1800"/>
              <a:t>2</a:t>
            </a:r>
            <a:r>
              <a:rPr lang="en-GB" sz="1800"/>
              <a:t>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many pots of paint are needed to paint a garage that is 4 m by 7 m by 2.5 m?</a:t>
            </a:r>
            <a:endParaRPr sz="1800"/>
          </a:p>
        </p:txBody>
      </p:sp>
      <p:sp>
        <p:nvSpPr>
          <p:cNvPr id="1247" name="Google Shape;1247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sp>
        <p:nvSpPr>
          <p:cNvPr id="1248" name="Google Shape;1248;p96"/>
          <p:cNvSpPr txBox="1"/>
          <p:nvPr/>
        </p:nvSpPr>
        <p:spPr>
          <a:xfrm>
            <a:off x="1033531" y="2324040"/>
            <a:ext cx="187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volume is 70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so 5 tins are needed.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96"/>
          <p:cNvSpPr txBox="1"/>
          <p:nvPr/>
        </p:nvSpPr>
        <p:spPr>
          <a:xfrm>
            <a:off x="5837125" y="2081100"/>
            <a:ext cx="2224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surface area would be 111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8 tins would be needed.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96"/>
          <p:cNvSpPr txBox="1"/>
          <p:nvPr/>
        </p:nvSpPr>
        <p:spPr>
          <a:xfrm>
            <a:off x="3264875" y="2150700"/>
            <a:ext cx="243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of the surfaces which will be painted is 55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4 tins would be needed.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1" name="Google Shape;125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1625" y="3047101"/>
            <a:ext cx="694649" cy="672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999" y="3205373"/>
            <a:ext cx="399476" cy="7543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96"/>
          <p:cNvSpPr txBox="1"/>
          <p:nvPr/>
        </p:nvSpPr>
        <p:spPr>
          <a:xfrm>
            <a:off x="8012870" y="3673285"/>
            <a:ext cx="819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96"/>
          <p:cNvSpPr txBox="1"/>
          <p:nvPr/>
        </p:nvSpPr>
        <p:spPr>
          <a:xfrm>
            <a:off x="376925" y="3913125"/>
            <a:ext cx="819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96"/>
          <p:cNvSpPr txBox="1"/>
          <p:nvPr/>
        </p:nvSpPr>
        <p:spPr>
          <a:xfrm>
            <a:off x="5266962" y="4596181"/>
            <a:ext cx="1014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6" name="Google Shape;1256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8446" y="3762437"/>
            <a:ext cx="671916" cy="88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p96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 flipH="1">
            <a:off x="940473" y="2221500"/>
            <a:ext cx="1955251" cy="131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96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>
            <a:off x="5757625" y="1992283"/>
            <a:ext cx="2364774" cy="155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96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3170025" y="223995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96"/>
          <p:cNvSpPr txBox="1"/>
          <p:nvPr/>
        </p:nvSpPr>
        <p:spPr>
          <a:xfrm>
            <a:off x="1684800" y="4047800"/>
            <a:ext cx="190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 is correct?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97"/>
          <p:cNvSpPr txBox="1"/>
          <p:nvPr>
            <p:ph idx="1" type="body"/>
          </p:nvPr>
        </p:nvSpPr>
        <p:spPr>
          <a:xfrm>
            <a:off x="324000" y="759300"/>
            <a:ext cx="8237700" cy="15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outside of a garage is going to be painted.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Masonry paint comes in 10 litre pots and covers 14 m</a:t>
            </a:r>
            <a:r>
              <a:rPr baseline="30000" lang="en-GB" sz="1800"/>
              <a:t>2</a:t>
            </a:r>
            <a:r>
              <a:rPr lang="en-GB" sz="1800"/>
              <a:t>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many pots of paint are needed to paint a garage that is 4 m by 7 m by 2.5 m?</a:t>
            </a:r>
            <a:endParaRPr sz="1800"/>
          </a:p>
        </p:txBody>
      </p:sp>
      <p:sp>
        <p:nvSpPr>
          <p:cNvPr id="1266" name="Google Shape;126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sp>
        <p:nvSpPr>
          <p:cNvPr id="1267" name="Google Shape;1267;p97"/>
          <p:cNvSpPr txBox="1"/>
          <p:nvPr/>
        </p:nvSpPr>
        <p:spPr>
          <a:xfrm>
            <a:off x="1033531" y="2324040"/>
            <a:ext cx="187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volume is 70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so 5 tins are needed.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8" name="Google Shape;126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999" y="3205373"/>
            <a:ext cx="399476" cy="754340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97"/>
          <p:cNvSpPr txBox="1"/>
          <p:nvPr/>
        </p:nvSpPr>
        <p:spPr>
          <a:xfrm>
            <a:off x="376925" y="3913125"/>
            <a:ext cx="819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0" name="Google Shape;1270;p97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940473" y="2221500"/>
            <a:ext cx="19552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97"/>
          <p:cNvSpPr txBox="1"/>
          <p:nvPr/>
        </p:nvSpPr>
        <p:spPr>
          <a:xfrm>
            <a:off x="3459500" y="2309700"/>
            <a:ext cx="4400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Aisha cannot be correct.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volume is the space inside the garage and that is not being painted. The units of volume are not consistent with the units for area.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98"/>
          <p:cNvSpPr txBox="1"/>
          <p:nvPr>
            <p:ph idx="1" type="body"/>
          </p:nvPr>
        </p:nvSpPr>
        <p:spPr>
          <a:xfrm>
            <a:off x="324000" y="759300"/>
            <a:ext cx="8237700" cy="15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outside of a garage is going to be painted.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Masonry paint comes in 10 litre pots and covers 14 m</a:t>
            </a:r>
            <a:r>
              <a:rPr baseline="30000" lang="en-GB" sz="1800"/>
              <a:t>2</a:t>
            </a:r>
            <a:r>
              <a:rPr lang="en-GB" sz="1800"/>
              <a:t>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many pots of paint are needed to paint a garage that is 4 m by 7 m by 2.5 m?</a:t>
            </a:r>
            <a:endParaRPr sz="1800"/>
          </a:p>
        </p:txBody>
      </p:sp>
      <p:sp>
        <p:nvSpPr>
          <p:cNvPr id="1277" name="Google Shape;1277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sp>
        <p:nvSpPr>
          <p:cNvPr id="1278" name="Google Shape;1278;p98"/>
          <p:cNvSpPr txBox="1"/>
          <p:nvPr/>
        </p:nvSpPr>
        <p:spPr>
          <a:xfrm>
            <a:off x="5837125" y="2081100"/>
            <a:ext cx="2224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surface area would be 111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8 tins would be needed.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9" name="Google Shape;127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1625" y="3047101"/>
            <a:ext cx="694649" cy="672243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98"/>
          <p:cNvSpPr txBox="1"/>
          <p:nvPr/>
        </p:nvSpPr>
        <p:spPr>
          <a:xfrm>
            <a:off x="8012870" y="3673285"/>
            <a:ext cx="819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1" name="Google Shape;1281;p98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5757625" y="1992283"/>
            <a:ext cx="2364774" cy="155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98"/>
          <p:cNvSpPr txBox="1"/>
          <p:nvPr/>
        </p:nvSpPr>
        <p:spPr>
          <a:xfrm>
            <a:off x="934250" y="2367275"/>
            <a:ext cx="4400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Izzy has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correctly calculated the surface area of a cuboid with the dimensions of the garage.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 context though, you would not be painting all the faces. Only the external walls.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99"/>
          <p:cNvSpPr txBox="1"/>
          <p:nvPr>
            <p:ph idx="1" type="body"/>
          </p:nvPr>
        </p:nvSpPr>
        <p:spPr>
          <a:xfrm>
            <a:off x="324000" y="759300"/>
            <a:ext cx="8237700" cy="15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outside of a garage is going to be painted.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Masonry paint comes in 10 litre pots and covers 14 m</a:t>
            </a:r>
            <a:r>
              <a:rPr baseline="30000" lang="en-GB" sz="1800"/>
              <a:t>2</a:t>
            </a:r>
            <a:r>
              <a:rPr lang="en-GB" sz="1800"/>
              <a:t>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many pots of paint are needed to paint a garage that is 4 m by 7 m by 2.5 m?</a:t>
            </a:r>
            <a:endParaRPr sz="1800"/>
          </a:p>
        </p:txBody>
      </p:sp>
      <p:sp>
        <p:nvSpPr>
          <p:cNvPr id="1288" name="Google Shape;1288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sp>
        <p:nvSpPr>
          <p:cNvPr id="1289" name="Google Shape;1289;p99"/>
          <p:cNvSpPr txBox="1"/>
          <p:nvPr/>
        </p:nvSpPr>
        <p:spPr>
          <a:xfrm>
            <a:off x="5322275" y="2150700"/>
            <a:ext cx="2439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of the surfaces which will be painted is 55 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4 tins would be needed.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99"/>
          <p:cNvSpPr txBox="1"/>
          <p:nvPr/>
        </p:nvSpPr>
        <p:spPr>
          <a:xfrm>
            <a:off x="7400562" y="4596181"/>
            <a:ext cx="1014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1" name="Google Shape;129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2046" y="3762437"/>
            <a:ext cx="671916" cy="88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2" name="Google Shape;1292;p99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303625" y="2239950"/>
            <a:ext cx="2662052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99"/>
          <p:cNvSpPr txBox="1"/>
          <p:nvPr/>
        </p:nvSpPr>
        <p:spPr>
          <a:xfrm>
            <a:off x="423600" y="2455500"/>
            <a:ext cx="4400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Laura is correct.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four external walls. Two have an area of 10 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two have an area of 17.5 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cannot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buy parts of tins, so she has rounded up to a full tin.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00"/>
          <p:cNvSpPr txBox="1"/>
          <p:nvPr>
            <p:ph idx="1" type="body"/>
          </p:nvPr>
        </p:nvSpPr>
        <p:spPr>
          <a:xfrm>
            <a:off x="324000" y="759300"/>
            <a:ext cx="8237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Sort the following situations out into length, area or volume.</a:t>
            </a:r>
            <a:endParaRPr sz="1800"/>
          </a:p>
        </p:txBody>
      </p:sp>
      <p:sp>
        <p:nvSpPr>
          <p:cNvPr id="1299" name="Google Shape;1299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graphicFrame>
        <p:nvGraphicFramePr>
          <p:cNvPr id="1300" name="Google Shape;1300;p100"/>
          <p:cNvGraphicFramePr/>
          <p:nvPr/>
        </p:nvGraphicFramePr>
        <p:xfrm>
          <a:off x="369675" y="1206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{B45C2360-C8D6-4FED-BAA2-BBA57AADE485}</a:tableStyleId>
              </a:tblPr>
              <a:tblGrid>
                <a:gridCol w="1065775"/>
                <a:gridCol w="1065775"/>
                <a:gridCol w="1065775"/>
              </a:tblGrid>
              <a:tr h="50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volume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40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1" name="Google Shape;1301;p100"/>
          <p:cNvSpPr txBox="1"/>
          <p:nvPr/>
        </p:nvSpPr>
        <p:spPr>
          <a:xfrm>
            <a:off x="4340875" y="1187574"/>
            <a:ext cx="45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Replacing the fence around a garden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100"/>
          <p:cNvSpPr txBox="1"/>
          <p:nvPr/>
        </p:nvSpPr>
        <p:spPr>
          <a:xfrm>
            <a:off x="4340875" y="1719645"/>
            <a:ext cx="45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Covering a wall in tiles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100"/>
          <p:cNvSpPr txBox="1"/>
          <p:nvPr/>
        </p:nvSpPr>
        <p:spPr>
          <a:xfrm>
            <a:off x="4340875" y="2251691"/>
            <a:ext cx="45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Christmas lights around a roofline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100"/>
          <p:cNvSpPr txBox="1"/>
          <p:nvPr/>
        </p:nvSpPr>
        <p:spPr>
          <a:xfrm>
            <a:off x="4340875" y="2640049"/>
            <a:ext cx="4516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 of water collected in a water butt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100"/>
          <p:cNvSpPr txBox="1"/>
          <p:nvPr/>
        </p:nvSpPr>
        <p:spPr>
          <a:xfrm>
            <a:off x="4340875" y="3315833"/>
            <a:ext cx="451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Carpeting a floor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100"/>
          <p:cNvSpPr txBox="1"/>
          <p:nvPr/>
        </p:nvSpPr>
        <p:spPr>
          <a:xfrm>
            <a:off x="4340875" y="4369725"/>
            <a:ext cx="451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 of air in a balloon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100"/>
          <p:cNvSpPr txBox="1"/>
          <p:nvPr/>
        </p:nvSpPr>
        <p:spPr>
          <a:xfrm>
            <a:off x="4348225" y="3842766"/>
            <a:ext cx="450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Framing a picture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8" name="Google Shape;1308;p100"/>
          <p:cNvGrpSpPr/>
          <p:nvPr/>
        </p:nvGrpSpPr>
        <p:grpSpPr>
          <a:xfrm>
            <a:off x="3771766" y="1208375"/>
            <a:ext cx="457200" cy="457200"/>
            <a:chOff x="1020916" y="1442088"/>
            <a:chExt cx="457200" cy="457200"/>
          </a:xfrm>
        </p:grpSpPr>
        <p:pic>
          <p:nvPicPr>
            <p:cNvPr id="1309" name="Google Shape;1309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0" name="Google Shape;131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1" name="Google Shape;1311;p100"/>
          <p:cNvGrpSpPr/>
          <p:nvPr/>
        </p:nvGrpSpPr>
        <p:grpSpPr>
          <a:xfrm>
            <a:off x="3771766" y="1739725"/>
            <a:ext cx="457200" cy="457200"/>
            <a:chOff x="1020916" y="1442088"/>
            <a:chExt cx="457200" cy="457200"/>
          </a:xfrm>
        </p:grpSpPr>
        <p:pic>
          <p:nvPicPr>
            <p:cNvPr id="1312" name="Google Shape;1312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4" name="Google Shape;1314;p100"/>
          <p:cNvGrpSpPr/>
          <p:nvPr/>
        </p:nvGrpSpPr>
        <p:grpSpPr>
          <a:xfrm>
            <a:off x="3771766" y="2264150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0"/>
          <p:cNvGrpSpPr/>
          <p:nvPr/>
        </p:nvGrpSpPr>
        <p:grpSpPr>
          <a:xfrm>
            <a:off x="3771766" y="2791313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0" name="Google Shape;1320;p100"/>
          <p:cNvGrpSpPr/>
          <p:nvPr/>
        </p:nvGrpSpPr>
        <p:grpSpPr>
          <a:xfrm>
            <a:off x="3771766" y="3318063"/>
            <a:ext cx="457200" cy="457200"/>
            <a:chOff x="1020916" y="1442088"/>
            <a:chExt cx="457200" cy="457200"/>
          </a:xfrm>
        </p:grpSpPr>
        <p:pic>
          <p:nvPicPr>
            <p:cNvPr id="1321" name="Google Shape;1321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3" name="Google Shape;1323;p100"/>
          <p:cNvGrpSpPr/>
          <p:nvPr/>
        </p:nvGrpSpPr>
        <p:grpSpPr>
          <a:xfrm>
            <a:off x="3771766" y="3845025"/>
            <a:ext cx="457200" cy="457200"/>
            <a:chOff x="1020916" y="1442088"/>
            <a:chExt cx="457200" cy="457200"/>
          </a:xfrm>
        </p:grpSpPr>
        <p:pic>
          <p:nvPicPr>
            <p:cNvPr id="1324" name="Google Shape;1324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5" name="Google Shape;132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6" name="Google Shape;1326;p100"/>
          <p:cNvGrpSpPr/>
          <p:nvPr/>
        </p:nvGrpSpPr>
        <p:grpSpPr>
          <a:xfrm>
            <a:off x="3771766" y="4371963"/>
            <a:ext cx="457200" cy="457200"/>
            <a:chOff x="1020916" y="1442088"/>
            <a:chExt cx="457200" cy="457200"/>
          </a:xfrm>
        </p:grpSpPr>
        <p:pic>
          <p:nvPicPr>
            <p:cNvPr id="1327" name="Google Shape;1327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8" name="Google Shape;132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01"/>
          <p:cNvSpPr txBox="1"/>
          <p:nvPr>
            <p:ph idx="1" type="body"/>
          </p:nvPr>
        </p:nvSpPr>
        <p:spPr>
          <a:xfrm>
            <a:off x="324000" y="759300"/>
            <a:ext cx="8237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Sort the following situations out into length, area or volume.</a:t>
            </a:r>
            <a:endParaRPr sz="1800"/>
          </a:p>
        </p:txBody>
      </p:sp>
      <p:sp>
        <p:nvSpPr>
          <p:cNvPr id="1334" name="Google Shape;1334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graphicFrame>
        <p:nvGraphicFramePr>
          <p:cNvPr id="1335" name="Google Shape;1335;p101"/>
          <p:cNvGraphicFramePr/>
          <p:nvPr/>
        </p:nvGraphicFramePr>
        <p:xfrm>
          <a:off x="369675" y="1206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{B45C2360-C8D6-4FED-BAA2-BBA57AADE485}</a:tableStyleId>
              </a:tblPr>
              <a:tblGrid>
                <a:gridCol w="1065775"/>
                <a:gridCol w="1065775"/>
                <a:gridCol w="1065775"/>
              </a:tblGrid>
              <a:tr h="50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area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volume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40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6" name="Google Shape;1336;p101"/>
          <p:cNvSpPr txBox="1"/>
          <p:nvPr/>
        </p:nvSpPr>
        <p:spPr>
          <a:xfrm>
            <a:off x="4340875" y="1187574"/>
            <a:ext cx="45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Replacing the fence around a garden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01"/>
          <p:cNvSpPr txBox="1"/>
          <p:nvPr/>
        </p:nvSpPr>
        <p:spPr>
          <a:xfrm>
            <a:off x="4340875" y="1719645"/>
            <a:ext cx="45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Covering a wall in tiles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101"/>
          <p:cNvSpPr txBox="1"/>
          <p:nvPr/>
        </p:nvSpPr>
        <p:spPr>
          <a:xfrm>
            <a:off x="4340875" y="2251691"/>
            <a:ext cx="45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Christmas lights around a roofline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101"/>
          <p:cNvSpPr txBox="1"/>
          <p:nvPr/>
        </p:nvSpPr>
        <p:spPr>
          <a:xfrm>
            <a:off x="4340875" y="2640049"/>
            <a:ext cx="4516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 of water collected in a water butt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101"/>
          <p:cNvSpPr txBox="1"/>
          <p:nvPr/>
        </p:nvSpPr>
        <p:spPr>
          <a:xfrm>
            <a:off x="4340875" y="3315833"/>
            <a:ext cx="451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Carpeting a floor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101"/>
          <p:cNvSpPr txBox="1"/>
          <p:nvPr/>
        </p:nvSpPr>
        <p:spPr>
          <a:xfrm>
            <a:off x="4340875" y="4369725"/>
            <a:ext cx="451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Amount of air in a balloon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101"/>
          <p:cNvSpPr txBox="1"/>
          <p:nvPr/>
        </p:nvSpPr>
        <p:spPr>
          <a:xfrm>
            <a:off x="4348225" y="3842766"/>
            <a:ext cx="450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Framing a picture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3" name="Google Shape;1343;p101"/>
          <p:cNvGrpSpPr/>
          <p:nvPr/>
        </p:nvGrpSpPr>
        <p:grpSpPr>
          <a:xfrm>
            <a:off x="3771766" y="1208375"/>
            <a:ext cx="457200" cy="457200"/>
            <a:chOff x="1020916" y="1442088"/>
            <a:chExt cx="457200" cy="457200"/>
          </a:xfrm>
        </p:grpSpPr>
        <p:pic>
          <p:nvPicPr>
            <p:cNvPr id="1344" name="Google Shape;1344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5" name="Google Shape;134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6" name="Google Shape;1346;p101"/>
          <p:cNvGrpSpPr/>
          <p:nvPr/>
        </p:nvGrpSpPr>
        <p:grpSpPr>
          <a:xfrm>
            <a:off x="3771766" y="1739725"/>
            <a:ext cx="457200" cy="457200"/>
            <a:chOff x="1020916" y="1442088"/>
            <a:chExt cx="457200" cy="457200"/>
          </a:xfrm>
        </p:grpSpPr>
        <p:pic>
          <p:nvPicPr>
            <p:cNvPr id="1347" name="Google Shape;1347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8" name="Google Shape;134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9" name="Google Shape;1349;p101"/>
          <p:cNvGrpSpPr/>
          <p:nvPr/>
        </p:nvGrpSpPr>
        <p:grpSpPr>
          <a:xfrm>
            <a:off x="3771766" y="2264150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2" name="Google Shape;1352;p101"/>
          <p:cNvGrpSpPr/>
          <p:nvPr/>
        </p:nvGrpSpPr>
        <p:grpSpPr>
          <a:xfrm>
            <a:off x="3771766" y="2791313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1"/>
          <p:cNvGrpSpPr/>
          <p:nvPr/>
        </p:nvGrpSpPr>
        <p:grpSpPr>
          <a:xfrm>
            <a:off x="3771766" y="3318063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8" name="Google Shape;1358;p101"/>
          <p:cNvGrpSpPr/>
          <p:nvPr/>
        </p:nvGrpSpPr>
        <p:grpSpPr>
          <a:xfrm>
            <a:off x="3771766" y="3845025"/>
            <a:ext cx="457200" cy="457200"/>
            <a:chOff x="1020916" y="1442088"/>
            <a:chExt cx="457200" cy="457200"/>
          </a:xfrm>
        </p:grpSpPr>
        <p:pic>
          <p:nvPicPr>
            <p:cNvPr id="1359" name="Google Shape;1359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0" name="Google Shape;136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1" name="Google Shape;1361;p101"/>
          <p:cNvGrpSpPr/>
          <p:nvPr/>
        </p:nvGrpSpPr>
        <p:grpSpPr>
          <a:xfrm>
            <a:off x="3771766" y="4371963"/>
            <a:ext cx="457200" cy="457200"/>
            <a:chOff x="1020916" y="1442088"/>
            <a:chExt cx="457200" cy="457200"/>
          </a:xfrm>
        </p:grpSpPr>
        <p:pic>
          <p:nvPicPr>
            <p:cNvPr id="1362" name="Google Shape;1362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3" name="Google Shape;136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4" name="Google Shape;1364;p101"/>
          <p:cNvGrpSpPr/>
          <p:nvPr/>
        </p:nvGrpSpPr>
        <p:grpSpPr>
          <a:xfrm>
            <a:off x="637566" y="1736975"/>
            <a:ext cx="457200" cy="457200"/>
            <a:chOff x="1020916" y="1442088"/>
            <a:chExt cx="457200" cy="457200"/>
          </a:xfrm>
        </p:grpSpPr>
        <p:pic>
          <p:nvPicPr>
            <p:cNvPr id="1365" name="Google Shape;1365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6" name="Google Shape;136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7" name="Google Shape;1367;p101"/>
          <p:cNvGrpSpPr/>
          <p:nvPr/>
        </p:nvGrpSpPr>
        <p:grpSpPr>
          <a:xfrm>
            <a:off x="1739741" y="1736275"/>
            <a:ext cx="457200" cy="457200"/>
            <a:chOff x="1020916" y="1442088"/>
            <a:chExt cx="457200" cy="457200"/>
          </a:xfrm>
        </p:grpSpPr>
        <p:pic>
          <p:nvPicPr>
            <p:cNvPr id="1368" name="Google Shape;1368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9" name="Google Shape;136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0" name="Google Shape;1370;p101"/>
          <p:cNvGrpSpPr/>
          <p:nvPr/>
        </p:nvGrpSpPr>
        <p:grpSpPr>
          <a:xfrm>
            <a:off x="637566" y="2264150"/>
            <a:ext cx="457200" cy="457200"/>
            <a:chOff x="1020916" y="1442088"/>
            <a:chExt cx="457200" cy="457200"/>
          </a:xfrm>
        </p:grpSpPr>
        <p:pic>
          <p:nvPicPr>
            <p:cNvPr id="1371" name="Google Shape;1371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2" name="Google Shape;137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3" name="Google Shape;1373;p101"/>
          <p:cNvGrpSpPr/>
          <p:nvPr/>
        </p:nvGrpSpPr>
        <p:grpSpPr>
          <a:xfrm>
            <a:off x="2797241" y="1739713"/>
            <a:ext cx="457200" cy="457200"/>
            <a:chOff x="1020916" y="1442088"/>
            <a:chExt cx="457200" cy="457200"/>
          </a:xfrm>
        </p:grpSpPr>
        <p:pic>
          <p:nvPicPr>
            <p:cNvPr id="1374" name="Google Shape;1374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5" name="Google Shape;137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6" name="Google Shape;1376;p101"/>
          <p:cNvGrpSpPr/>
          <p:nvPr/>
        </p:nvGrpSpPr>
        <p:grpSpPr>
          <a:xfrm>
            <a:off x="1739728" y="2263438"/>
            <a:ext cx="457200" cy="457200"/>
            <a:chOff x="1020916" y="1442088"/>
            <a:chExt cx="457200" cy="457200"/>
          </a:xfrm>
        </p:grpSpPr>
        <p:pic>
          <p:nvPicPr>
            <p:cNvPr id="1377" name="Google Shape;1377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8" name="Google Shape;137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9" name="Google Shape;1379;p101"/>
          <p:cNvGrpSpPr/>
          <p:nvPr/>
        </p:nvGrpSpPr>
        <p:grpSpPr>
          <a:xfrm>
            <a:off x="637566" y="2791325"/>
            <a:ext cx="457200" cy="457200"/>
            <a:chOff x="1020916" y="1442088"/>
            <a:chExt cx="457200" cy="457200"/>
          </a:xfrm>
        </p:grpSpPr>
        <p:pic>
          <p:nvPicPr>
            <p:cNvPr id="1380" name="Google Shape;1380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1" name="Google Shape;138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2" name="Google Shape;1382;p101"/>
          <p:cNvGrpSpPr/>
          <p:nvPr/>
        </p:nvGrpSpPr>
        <p:grpSpPr>
          <a:xfrm>
            <a:off x="2797241" y="2266888"/>
            <a:ext cx="457200" cy="457200"/>
            <a:chOff x="1020916" y="1442088"/>
            <a:chExt cx="457200" cy="457200"/>
          </a:xfrm>
        </p:grpSpPr>
        <p:pic>
          <p:nvPicPr>
            <p:cNvPr id="1383" name="Google Shape;1383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4" name="Google Shape;1384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102"/>
          <p:cNvSpPr txBox="1"/>
          <p:nvPr>
            <p:ph idx="1" type="body"/>
          </p:nvPr>
        </p:nvSpPr>
        <p:spPr>
          <a:xfrm>
            <a:off x="324000" y="759300"/>
            <a:ext cx="8237700" cy="7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A baker makes 24 mini swiss rolls and wants to cover them in chocolate. How many square centimetres of chocolate will the baker have used?</a:t>
            </a:r>
            <a:endParaRPr sz="1800"/>
          </a:p>
        </p:txBody>
      </p:sp>
      <p:sp>
        <p:nvSpPr>
          <p:cNvPr id="1390" name="Google Shape;1390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sp>
        <p:nvSpPr>
          <p:cNvPr id="1391" name="Google Shape;1391;p102"/>
          <p:cNvSpPr txBox="1"/>
          <p:nvPr>
            <p:ph idx="1" type="body"/>
          </p:nvPr>
        </p:nvSpPr>
        <p:spPr>
          <a:xfrm>
            <a:off x="324000" y="2819425"/>
            <a:ext cx="8748900" cy="7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A metal pole is melted down and remoulded into cubes with edges of 5 cm. How many cubes can be made from this pole?</a:t>
            </a:r>
            <a:endParaRPr sz="1800"/>
          </a:p>
        </p:txBody>
      </p:sp>
      <p:pic>
        <p:nvPicPr>
          <p:cNvPr id="1392" name="Google Shape;1392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900" y="1560050"/>
            <a:ext cx="1061233" cy="72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3" name="Google Shape;1393;p102"/>
          <p:cNvCxnSpPr/>
          <p:nvPr/>
        </p:nvCxnSpPr>
        <p:spPr>
          <a:xfrm flipH="1" rot="10800000">
            <a:off x="1877625" y="1947750"/>
            <a:ext cx="526500" cy="33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94" name="Google Shape;1394;p102"/>
          <p:cNvCxnSpPr/>
          <p:nvPr/>
        </p:nvCxnSpPr>
        <p:spPr>
          <a:xfrm>
            <a:off x="1436825" y="2334950"/>
            <a:ext cx="371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5" name="Google Shape;1395;p102"/>
          <p:cNvSpPr txBox="1"/>
          <p:nvPr/>
        </p:nvSpPr>
        <p:spPr>
          <a:xfrm>
            <a:off x="928225" y="3783113"/>
            <a:ext cx="81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102"/>
          <p:cNvSpPr txBox="1"/>
          <p:nvPr/>
        </p:nvSpPr>
        <p:spPr>
          <a:xfrm>
            <a:off x="1342900" y="2288750"/>
            <a:ext cx="73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102"/>
          <p:cNvSpPr/>
          <p:nvPr/>
        </p:nvSpPr>
        <p:spPr>
          <a:xfrm>
            <a:off x="1579713" y="3510300"/>
            <a:ext cx="587600" cy="1274425"/>
          </a:xfrm>
          <a:prstGeom prst="flowChartMagneticDisk">
            <a:avLst/>
          </a:prstGeom>
          <a:solidFill>
            <a:srgbClr val="9999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8" name="Google Shape;1398;p102"/>
          <p:cNvCxnSpPr/>
          <p:nvPr/>
        </p:nvCxnSpPr>
        <p:spPr>
          <a:xfrm rot="10800000">
            <a:off x="1480525" y="3688325"/>
            <a:ext cx="0" cy="92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99" name="Google Shape;1399;p102"/>
          <p:cNvCxnSpPr/>
          <p:nvPr/>
        </p:nvCxnSpPr>
        <p:spPr>
          <a:xfrm flipH="1">
            <a:off x="1873425" y="3701075"/>
            <a:ext cx="301500" cy="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0" name="Google Shape;1400;p102"/>
          <p:cNvSpPr txBox="1"/>
          <p:nvPr/>
        </p:nvSpPr>
        <p:spPr>
          <a:xfrm>
            <a:off x="2077300" y="2005475"/>
            <a:ext cx="73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102"/>
          <p:cNvSpPr txBox="1"/>
          <p:nvPr/>
        </p:nvSpPr>
        <p:spPr>
          <a:xfrm>
            <a:off x="2266500" y="3548125"/>
            <a:ext cx="73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graphicFrame>
        <p:nvGraphicFramePr>
          <p:cNvPr id="1407" name="Google Shape;1407;p103"/>
          <p:cNvGraphicFramePr/>
          <p:nvPr/>
        </p:nvGraphicFramePr>
        <p:xfrm>
          <a:off x="6621250" y="192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{B45C2360-C8D6-4FED-BAA2-BBA57AADE485}</a:tableStyleId>
              </a:tblPr>
              <a:tblGrid>
                <a:gridCol w="483675"/>
                <a:gridCol w="483675"/>
                <a:gridCol w="483675"/>
                <a:gridCol w="483675"/>
              </a:tblGrid>
              <a:tr h="32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i="1" sz="2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i="1" sz="2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i="1" sz="2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8" name="Google Shape;1408;p103"/>
          <p:cNvSpPr txBox="1"/>
          <p:nvPr/>
        </p:nvSpPr>
        <p:spPr>
          <a:xfrm>
            <a:off x="6517125" y="3792750"/>
            <a:ext cx="2083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length (mm)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width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(mm)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height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(mm)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103"/>
          <p:cNvSpPr txBox="1"/>
          <p:nvPr>
            <p:ph idx="1" type="body"/>
          </p:nvPr>
        </p:nvSpPr>
        <p:spPr>
          <a:xfrm>
            <a:off x="324000" y="683000"/>
            <a:ext cx="8237700" cy="23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One factor that affects the rate of dissolving is the contact between the solute and the solvent.</a:t>
            </a:r>
            <a:endParaRPr sz="1800"/>
          </a:p>
          <a:p>
            <a:pPr indent="-269999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Here are some sugar lumps (solute) of the same mass. When put in water (solvent), which would have:</a:t>
            </a:r>
            <a:endParaRPr sz="1800"/>
          </a:p>
          <a:p>
            <a:pPr indent="0" lvl="0" marL="93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the most contact?</a:t>
            </a:r>
            <a:endParaRPr sz="1800"/>
          </a:p>
          <a:p>
            <a:pPr indent="0" lvl="0" marL="93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66700" lvl="0" marL="36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the least contact?  </a:t>
            </a:r>
            <a:endParaRPr sz="1800"/>
          </a:p>
        </p:txBody>
      </p:sp>
      <p:pic>
        <p:nvPicPr>
          <p:cNvPr id="1410" name="Google Shape;1410;p103"/>
          <p:cNvPicPr preferRelativeResize="0"/>
          <p:nvPr/>
        </p:nvPicPr>
        <p:blipFill rotWithShape="1">
          <a:blip r:embed="rId3">
            <a:alphaModFix/>
          </a:blip>
          <a:srcRect b="7970" l="10104" r="72261" t="52234"/>
          <a:stretch/>
        </p:blipFill>
        <p:spPr>
          <a:xfrm>
            <a:off x="4611375" y="3614425"/>
            <a:ext cx="1067825" cy="1131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1" name="Google Shape;1411;p103"/>
          <p:cNvPicPr preferRelativeResize="0"/>
          <p:nvPr/>
        </p:nvPicPr>
        <p:blipFill rotWithShape="1">
          <a:blip r:embed="rId3">
            <a:alphaModFix/>
          </a:blip>
          <a:srcRect b="44593" l="22804" r="59561" t="15611"/>
          <a:stretch/>
        </p:blipFill>
        <p:spPr>
          <a:xfrm>
            <a:off x="2595325" y="3205600"/>
            <a:ext cx="1029325" cy="109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2" name="Google Shape;1412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3848" y="3105700"/>
            <a:ext cx="3039150" cy="189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3" name="Google Shape;1413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300" y="3071313"/>
            <a:ext cx="1876092" cy="135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4" name="Google Shape;1414;p10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3651" y="3965275"/>
            <a:ext cx="1138800" cy="89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03"/>
          <p:cNvSpPr txBox="1"/>
          <p:nvPr/>
        </p:nvSpPr>
        <p:spPr>
          <a:xfrm>
            <a:off x="984325" y="3560324"/>
            <a:ext cx="4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103"/>
          <p:cNvSpPr txBox="1"/>
          <p:nvPr/>
        </p:nvSpPr>
        <p:spPr>
          <a:xfrm>
            <a:off x="1646225" y="4104587"/>
            <a:ext cx="4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103"/>
          <p:cNvSpPr txBox="1"/>
          <p:nvPr/>
        </p:nvSpPr>
        <p:spPr>
          <a:xfrm>
            <a:off x="2934413" y="3319762"/>
            <a:ext cx="4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03"/>
          <p:cNvSpPr txBox="1"/>
          <p:nvPr/>
        </p:nvSpPr>
        <p:spPr>
          <a:xfrm>
            <a:off x="2957400" y="4220000"/>
            <a:ext cx="4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03"/>
          <p:cNvSpPr txBox="1"/>
          <p:nvPr/>
        </p:nvSpPr>
        <p:spPr>
          <a:xfrm>
            <a:off x="5023525" y="3726588"/>
            <a:ext cx="4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104"/>
          <p:cNvSpPr txBox="1"/>
          <p:nvPr>
            <p:ph idx="1" type="body"/>
          </p:nvPr>
        </p:nvSpPr>
        <p:spPr>
          <a:xfrm>
            <a:off x="324000" y="759300"/>
            <a:ext cx="8237700" cy="66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A baker makes 24 mini swiss rolls and wants to cover them in chocolate. How many square centimetres of chocolate will the baker have used?</a:t>
            </a:r>
            <a:endParaRPr sz="1800"/>
          </a:p>
        </p:txBody>
      </p:sp>
      <p:sp>
        <p:nvSpPr>
          <p:cNvPr id="1425" name="Google Shape;1425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sp>
        <p:nvSpPr>
          <p:cNvPr id="1426" name="Google Shape;1426;p104"/>
          <p:cNvSpPr txBox="1"/>
          <p:nvPr>
            <p:ph idx="1" type="body"/>
          </p:nvPr>
        </p:nvSpPr>
        <p:spPr>
          <a:xfrm>
            <a:off x="324000" y="2819425"/>
            <a:ext cx="8628000" cy="7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 metal pole is melted down and remoulded into cubes with edges of 5 cm. How many cubes can be made from this pole?</a:t>
            </a:r>
            <a:endParaRPr sz="1800"/>
          </a:p>
        </p:txBody>
      </p:sp>
      <p:pic>
        <p:nvPicPr>
          <p:cNvPr id="1427" name="Google Shape;1427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900" y="1560050"/>
            <a:ext cx="1061233" cy="72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8" name="Google Shape;1428;p104"/>
          <p:cNvCxnSpPr/>
          <p:nvPr/>
        </p:nvCxnSpPr>
        <p:spPr>
          <a:xfrm flipH="1" rot="10800000">
            <a:off x="1877625" y="1947750"/>
            <a:ext cx="526500" cy="33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9" name="Google Shape;1429;p104"/>
          <p:cNvCxnSpPr/>
          <p:nvPr/>
        </p:nvCxnSpPr>
        <p:spPr>
          <a:xfrm>
            <a:off x="1436825" y="2334950"/>
            <a:ext cx="371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0" name="Google Shape;1430;p104"/>
          <p:cNvSpPr txBox="1"/>
          <p:nvPr/>
        </p:nvSpPr>
        <p:spPr>
          <a:xfrm>
            <a:off x="928225" y="3783113"/>
            <a:ext cx="81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04"/>
          <p:cNvSpPr txBox="1"/>
          <p:nvPr/>
        </p:nvSpPr>
        <p:spPr>
          <a:xfrm>
            <a:off x="1342900" y="2288750"/>
            <a:ext cx="73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104"/>
          <p:cNvSpPr/>
          <p:nvPr/>
        </p:nvSpPr>
        <p:spPr>
          <a:xfrm>
            <a:off x="1579713" y="3510300"/>
            <a:ext cx="587600" cy="1274425"/>
          </a:xfrm>
          <a:prstGeom prst="flowChartMagneticDisk">
            <a:avLst/>
          </a:prstGeom>
          <a:solidFill>
            <a:srgbClr val="9999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3" name="Google Shape;1433;p104"/>
          <p:cNvCxnSpPr/>
          <p:nvPr/>
        </p:nvCxnSpPr>
        <p:spPr>
          <a:xfrm rot="10800000">
            <a:off x="1480525" y="3688325"/>
            <a:ext cx="0" cy="92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4" name="Google Shape;1434;p104"/>
          <p:cNvCxnSpPr/>
          <p:nvPr/>
        </p:nvCxnSpPr>
        <p:spPr>
          <a:xfrm flipH="1">
            <a:off x="1873425" y="3701075"/>
            <a:ext cx="301500" cy="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5" name="Google Shape;1435;p104"/>
          <p:cNvSpPr txBox="1"/>
          <p:nvPr/>
        </p:nvSpPr>
        <p:spPr>
          <a:xfrm>
            <a:off x="2077300" y="2005475"/>
            <a:ext cx="73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104"/>
          <p:cNvSpPr txBox="1"/>
          <p:nvPr/>
        </p:nvSpPr>
        <p:spPr>
          <a:xfrm>
            <a:off x="2266500" y="3548125"/>
            <a:ext cx="73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104"/>
          <p:cNvSpPr txBox="1"/>
          <p:nvPr/>
        </p:nvSpPr>
        <p:spPr>
          <a:xfrm>
            <a:off x="2709125" y="1541525"/>
            <a:ext cx="652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Surface area = 2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𝜋 × 1.5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𝜋 × 3 × 8 = 28.5𝜋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8" name="Google Shape;1438;p104"/>
          <p:cNvSpPr txBox="1"/>
          <p:nvPr/>
        </p:nvSpPr>
        <p:spPr>
          <a:xfrm>
            <a:off x="3157051" y="3380275"/>
            <a:ext cx="584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of pole 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7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45 = 2205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9" name="Google Shape;1439;p104"/>
          <p:cNvSpPr txBox="1"/>
          <p:nvPr/>
        </p:nvSpPr>
        <p:spPr>
          <a:xfrm>
            <a:off x="2887200" y="1947750"/>
            <a:ext cx="508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Chocolate used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24 × 28.5𝜋 = 684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0" name="Google Shape;1440;p104"/>
          <p:cNvSpPr txBox="1"/>
          <p:nvPr/>
        </p:nvSpPr>
        <p:spPr>
          <a:xfrm>
            <a:off x="3149301" y="3807275"/>
            <a:ext cx="584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Volume of cube = 5 × 5 × 5 = 125 cm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1" name="Google Shape;1441;p104"/>
          <p:cNvSpPr txBox="1"/>
          <p:nvPr/>
        </p:nvSpPr>
        <p:spPr>
          <a:xfrm>
            <a:off x="3149301" y="4181000"/>
            <a:ext cx="584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Amount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of cubes = 2205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𝜋 ÷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125 = 55.417…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2" name="Google Shape;1442;p104"/>
          <p:cNvSpPr txBox="1"/>
          <p:nvPr/>
        </p:nvSpPr>
        <p:spPr>
          <a:xfrm>
            <a:off x="4320001" y="4482825"/>
            <a:ext cx="272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55 cubes can be made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05"/>
          <p:cNvSpPr txBox="1"/>
          <p:nvPr>
            <p:ph idx="1" type="body"/>
          </p:nvPr>
        </p:nvSpPr>
        <p:spPr>
          <a:xfrm>
            <a:off x="324000" y="683000"/>
            <a:ext cx="8237700" cy="23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One factor that affects the rate of dissolving is the contact between the solute and the solvent.</a:t>
            </a:r>
            <a:endParaRPr sz="1800"/>
          </a:p>
          <a:p>
            <a:pPr indent="-269999" lvl="0" marL="26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Here are some sugar lumps (solute) of the same mass. When put in water (solvent), which would have:</a:t>
            </a:r>
            <a:endParaRPr sz="1800"/>
          </a:p>
          <a:p>
            <a:pPr indent="0" lvl="0" marL="93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the most contact?</a:t>
            </a:r>
            <a:endParaRPr sz="1800"/>
          </a:p>
          <a:p>
            <a:pPr indent="0" lvl="0" marL="93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66700" lvl="0" marL="36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the least contact?  </a:t>
            </a:r>
            <a:endParaRPr sz="1800"/>
          </a:p>
        </p:txBody>
      </p:sp>
      <p:sp>
        <p:nvSpPr>
          <p:cNvPr id="1448" name="Google Shape;1448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pic>
        <p:nvPicPr>
          <p:cNvPr id="1449" name="Google Shape;1449;p105"/>
          <p:cNvPicPr preferRelativeResize="0"/>
          <p:nvPr/>
        </p:nvPicPr>
        <p:blipFill rotWithShape="1">
          <a:blip r:embed="rId3">
            <a:alphaModFix/>
          </a:blip>
          <a:srcRect b="7970" l="10104" r="72261" t="52234"/>
          <a:stretch/>
        </p:blipFill>
        <p:spPr>
          <a:xfrm>
            <a:off x="4611375" y="3614425"/>
            <a:ext cx="1067825" cy="1131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0" name="Google Shape;1450;p105"/>
          <p:cNvPicPr preferRelativeResize="0"/>
          <p:nvPr/>
        </p:nvPicPr>
        <p:blipFill rotWithShape="1">
          <a:blip r:embed="rId3">
            <a:alphaModFix/>
          </a:blip>
          <a:srcRect b="44593" l="22804" r="59561" t="15611"/>
          <a:stretch/>
        </p:blipFill>
        <p:spPr>
          <a:xfrm>
            <a:off x="2595325" y="3205600"/>
            <a:ext cx="1029325" cy="109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1" name="Google Shape;1451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3848" y="3105700"/>
            <a:ext cx="3039150" cy="189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2" name="Google Shape;1452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300" y="3071313"/>
            <a:ext cx="1876092" cy="135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3" name="Google Shape;1453;p1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3651" y="3965275"/>
            <a:ext cx="1138800" cy="89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105"/>
          <p:cNvSpPr txBox="1"/>
          <p:nvPr/>
        </p:nvSpPr>
        <p:spPr>
          <a:xfrm>
            <a:off x="984325" y="3560324"/>
            <a:ext cx="4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05"/>
          <p:cNvSpPr txBox="1"/>
          <p:nvPr/>
        </p:nvSpPr>
        <p:spPr>
          <a:xfrm>
            <a:off x="1646225" y="4104587"/>
            <a:ext cx="4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105"/>
          <p:cNvSpPr txBox="1"/>
          <p:nvPr/>
        </p:nvSpPr>
        <p:spPr>
          <a:xfrm>
            <a:off x="2934413" y="3319762"/>
            <a:ext cx="4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105"/>
          <p:cNvSpPr txBox="1"/>
          <p:nvPr/>
        </p:nvSpPr>
        <p:spPr>
          <a:xfrm>
            <a:off x="2957400" y="4220000"/>
            <a:ext cx="4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05"/>
          <p:cNvSpPr txBox="1"/>
          <p:nvPr/>
        </p:nvSpPr>
        <p:spPr>
          <a:xfrm>
            <a:off x="5023525" y="3726588"/>
            <a:ext cx="4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05"/>
          <p:cNvSpPr txBox="1"/>
          <p:nvPr/>
        </p:nvSpPr>
        <p:spPr>
          <a:xfrm>
            <a:off x="6517125" y="3792750"/>
            <a:ext cx="2083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length (mm)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width (mm)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height (mm)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105"/>
          <p:cNvSpPr txBox="1"/>
          <p:nvPr/>
        </p:nvSpPr>
        <p:spPr>
          <a:xfrm>
            <a:off x="3296700" y="2861305"/>
            <a:ext cx="187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 - 600 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1" name="Google Shape;1461;p105"/>
          <p:cNvSpPr txBox="1"/>
          <p:nvPr/>
        </p:nvSpPr>
        <p:spPr>
          <a:xfrm>
            <a:off x="3296700" y="2279751"/>
            <a:ext cx="187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 - 2008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mm</a:t>
            </a:r>
            <a:r>
              <a:rPr baseline="30000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462" name="Google Shape;1462;p105"/>
          <p:cNvGraphicFramePr/>
          <p:nvPr/>
        </p:nvGraphicFramePr>
        <p:xfrm>
          <a:off x="6621250" y="192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{B45C2360-C8D6-4FED-BAA2-BBA57AADE485}</a:tableStyleId>
              </a:tblPr>
              <a:tblGrid>
                <a:gridCol w="483675"/>
                <a:gridCol w="483675"/>
                <a:gridCol w="483675"/>
                <a:gridCol w="483675"/>
              </a:tblGrid>
              <a:tr h="32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i="1" sz="2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i="1" sz="2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i="1" sz="2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106"/>
          <p:cNvSpPr txBox="1"/>
          <p:nvPr>
            <p:ph idx="1" type="body"/>
          </p:nvPr>
        </p:nvSpPr>
        <p:spPr>
          <a:xfrm>
            <a:off x="324000" y="8514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is often a link between volume and surface area as both are calculated using lengths.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/>
              <a:t>The volume of a composite 3D object can be calculated by totalling the volume of the solids that created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/>
              <a:t>The surface area of a composite 3D object is not the total of the surface areas for the solids that created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GB"/>
              <a:t>Identifying whether the question needs </a:t>
            </a:r>
            <a:r>
              <a:rPr lang="en-GB"/>
              <a:t>length</a:t>
            </a:r>
            <a:r>
              <a:rPr lang="en-GB"/>
              <a:t>, area or volume is the first stage to a problem in context question.</a:t>
            </a:r>
            <a:endParaRPr/>
          </a:p>
        </p:txBody>
      </p:sp>
      <p:sp>
        <p:nvSpPr>
          <p:cNvPr id="1468" name="Google Shape;1468;p10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perimeter, area and volume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</a:t>
            </a:r>
            <a:r>
              <a:rPr lang="en-GB"/>
              <a:t>athematics in Education and Industry.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74" name="Google Shape;1474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