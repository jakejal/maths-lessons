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C395F1-10A1-4BAF-A3B9-2BBBEFDCDCDA}">
  <a:tblStyle styleId="{F6C395F1-10A1-4BAF-A3B9-2BBBEFDCDC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869c2553c_0_6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a869c2553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6.png"/><Relationship Id="rId13" Type="http://schemas.openxmlformats.org/officeDocument/2006/relationships/image" Target="../media/image23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21.png"/><Relationship Id="rId1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476400" y="1840937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surface area of this triangular prism is 240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a) What is the length of the prism?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Hence calculate the volume of the prism.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76399" y="1354175"/>
            <a:ext cx="6316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Surface area and volume 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08704" y="2804189"/>
            <a:ext cx="39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2(   × 5 × 12) + 12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+ 5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+ 13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240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081542" y="3102487"/>
            <a:ext cx="15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 + 30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240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487271" y="3391039"/>
            <a:ext cx="15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180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617876" y="3694990"/>
            <a:ext cx="154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763389" y="4419919"/>
            <a:ext cx="39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= (   × 5 × 12) × 6 = 180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141" y="2130103"/>
            <a:ext cx="1792970" cy="165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928987" y="2420196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5400371" y="2104847"/>
            <a:ext cx="1272300" cy="13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3" name="Google Shape;183;p20"/>
          <p:cNvSpPr txBox="1"/>
          <p:nvPr/>
        </p:nvSpPr>
        <p:spPr>
          <a:xfrm>
            <a:off x="4268813" y="2514164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841027" y="3275562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356602" y="3548083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>
            <a:off x="4848141" y="2387742"/>
            <a:ext cx="0" cy="61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4895545" y="3070511"/>
            <a:ext cx="1248900" cy="72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8" name="Google Shape;188;p20"/>
          <p:cNvCxnSpPr/>
          <p:nvPr/>
        </p:nvCxnSpPr>
        <p:spPr>
          <a:xfrm flipH="1">
            <a:off x="6218711" y="3536183"/>
            <a:ext cx="422400" cy="23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9" name="Google Shape;189;p20"/>
          <p:cNvSpPr txBox="1"/>
          <p:nvPr/>
        </p:nvSpPr>
        <p:spPr>
          <a:xfrm>
            <a:off x="476400" y="5026500"/>
            <a:ext cx="6634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volume of a cylinder is 324𝜋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its height is 9 cm.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cylinder’s surface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229548" y="6100909"/>
            <a:ext cx="17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9 = 324𝜋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572328" y="6428634"/>
            <a:ext cx="17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36𝜋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695265" y="6756358"/>
            <a:ext cx="17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762875" y="7084082"/>
            <a:ext cx="17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631480" y="5748662"/>
            <a:ext cx="312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2𝜋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+ 2𝜋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rh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631480" y="6064804"/>
            <a:ext cx="346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2 × 36𝜋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+ 2𝜋 × 6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×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631480" y="6397210"/>
            <a:ext cx="346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72𝜋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+ 108𝜋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3631480" y="6735041"/>
            <a:ext cx="346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180𝜋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272479" y="5797829"/>
            <a:ext cx="179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= 324𝜋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76400" y="7445769"/>
            <a:ext cx="60633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surface area of this prism is 516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volume of the prism.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3386" y="7392425"/>
            <a:ext cx="1229815" cy="164582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4691282" y="8111821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156868" y="7392425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398226" y="8089354"/>
            <a:ext cx="70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088969" y="8741367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033666" y="8792061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6011239" y="7409285"/>
            <a:ext cx="387600" cy="46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" name="Google Shape;207;p20"/>
          <p:cNvCxnSpPr/>
          <p:nvPr/>
        </p:nvCxnSpPr>
        <p:spPr>
          <a:xfrm>
            <a:off x="5267885" y="7821131"/>
            <a:ext cx="1800" cy="90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6431964" y="7916456"/>
            <a:ext cx="0" cy="70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" name="Google Shape;209;p20"/>
          <p:cNvCxnSpPr/>
          <p:nvPr/>
        </p:nvCxnSpPr>
        <p:spPr>
          <a:xfrm>
            <a:off x="5269656" y="8792061"/>
            <a:ext cx="420600" cy="23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20"/>
          <p:cNvCxnSpPr/>
          <p:nvPr/>
        </p:nvCxnSpPr>
        <p:spPr>
          <a:xfrm flipH="1" rot="10800000">
            <a:off x="5819931" y="8667652"/>
            <a:ext cx="595800" cy="35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1" name="Google Shape;211;p20"/>
          <p:cNvSpPr txBox="1"/>
          <p:nvPr/>
        </p:nvSpPr>
        <p:spPr>
          <a:xfrm>
            <a:off x="697191" y="7956700"/>
            <a:ext cx="36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516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34841" y="8243069"/>
            <a:ext cx="46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2(   × (20 + 17) × 4) + 20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+ 4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+ 17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+ 5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516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835612" y="8538291"/>
            <a:ext cx="17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148 + 46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516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288894" y="8826668"/>
            <a:ext cx="17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46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368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3441140" y="9135598"/>
            <a:ext cx="17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8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87391" y="9280550"/>
            <a:ext cx="367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= (   × (20 + 17) × 4) × 8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87391" y="9643119"/>
            <a:ext cx="367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= 592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18" name="Google Shape;218;p2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7756" y="9410321"/>
            <a:ext cx="70829" cy="23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19" name="Google Shape;219;p2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356" y="8343521"/>
            <a:ext cx="70829" cy="23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20" name="Google Shape;220;p2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2556" y="4457321"/>
            <a:ext cx="70829" cy="23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21" name="Google Shape;221;p2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0556" y="2857121"/>
            <a:ext cx="70829" cy="2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/>
        </p:nvSpPr>
        <p:spPr>
          <a:xfrm>
            <a:off x="4812136" y="7907622"/>
            <a:ext cx="224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B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   × (23 + 16) × 24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468 mm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116608" y="9006272"/>
            <a:ext cx="234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cross-section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128 + 468 = 596 mm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76400" y="759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areas of three faces have been given. The edges are integer amounts of centimetres.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volume of this cuboid?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865" y="1451930"/>
            <a:ext cx="1639645" cy="16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 rot="1812311">
            <a:off x="1108604" y="1744128"/>
            <a:ext cx="796664" cy="369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cm</a:t>
            </a:r>
            <a:r>
              <a:rPr baseline="30000"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 rot="1849260">
            <a:off x="857715" y="2266214"/>
            <a:ext cx="929234" cy="369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108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rot="-1410188">
            <a:off x="1664684" y="2181405"/>
            <a:ext cx="600302" cy="5539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</a:t>
            </a:r>
            <a:endParaRPr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1866787" y="2969786"/>
            <a:ext cx="6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2277044" y="2204965"/>
            <a:ext cx="66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828133" y="2865525"/>
            <a:ext cx="80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 flipH="1" rot="10800000">
            <a:off x="1806681" y="2852081"/>
            <a:ext cx="440700" cy="268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8" name="Google Shape;238;p21"/>
          <p:cNvCxnSpPr/>
          <p:nvPr/>
        </p:nvCxnSpPr>
        <p:spPr>
          <a:xfrm flipH="1" rot="10800000">
            <a:off x="2281543" y="2039365"/>
            <a:ext cx="4500" cy="675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9" name="Google Shape;239;p21"/>
          <p:cNvCxnSpPr/>
          <p:nvPr/>
        </p:nvCxnSpPr>
        <p:spPr>
          <a:xfrm rot="10800000">
            <a:off x="783703" y="2610520"/>
            <a:ext cx="868500" cy="49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0" name="Google Shape;240;p21"/>
          <p:cNvSpPr txBox="1"/>
          <p:nvPr/>
        </p:nvSpPr>
        <p:spPr>
          <a:xfrm>
            <a:off x="3155141" y="1622044"/>
            <a:ext cx="322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= 12 × 5 × 9 = 540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1" name="Google Shape;241;p21"/>
          <p:cNvCxnSpPr/>
          <p:nvPr/>
        </p:nvCxnSpPr>
        <p:spPr>
          <a:xfrm>
            <a:off x="474757" y="34324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1"/>
          <p:cNvSpPr txBox="1"/>
          <p:nvPr/>
        </p:nvSpPr>
        <p:spPr>
          <a:xfrm>
            <a:off x="476401" y="3640175"/>
            <a:ext cx="650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Composite solids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76400" y="4035900"/>
            <a:ext cx="6615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composite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solid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its parts.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118" y="4604291"/>
            <a:ext cx="631316" cy="62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2916" y="4380132"/>
            <a:ext cx="791565" cy="1137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600" y="4380132"/>
            <a:ext cx="929967" cy="1137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5600" y="5611081"/>
            <a:ext cx="1012931" cy="1178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20118" y="5699654"/>
            <a:ext cx="746288" cy="1001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44788" y="4429621"/>
            <a:ext cx="1012932" cy="87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67436" y="5699656"/>
            <a:ext cx="1012932" cy="69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69440" y="5694219"/>
            <a:ext cx="963628" cy="10824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2" name="Google Shape;252;p21"/>
          <p:cNvCxnSpPr>
            <a:stCxn id="246" idx="3"/>
            <a:endCxn id="244" idx="1"/>
          </p:cNvCxnSpPr>
          <p:nvPr/>
        </p:nvCxnSpPr>
        <p:spPr>
          <a:xfrm flipH="1" rot="10800000">
            <a:off x="1905567" y="4918629"/>
            <a:ext cx="614700" cy="30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1"/>
          <p:cNvCxnSpPr>
            <a:stCxn id="246" idx="3"/>
          </p:cNvCxnSpPr>
          <p:nvPr/>
        </p:nvCxnSpPr>
        <p:spPr>
          <a:xfrm flipH="1" rot="10800000">
            <a:off x="1905567" y="4413129"/>
            <a:ext cx="710700" cy="53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1"/>
          <p:cNvCxnSpPr>
            <a:endCxn id="245" idx="1"/>
          </p:cNvCxnSpPr>
          <p:nvPr/>
        </p:nvCxnSpPr>
        <p:spPr>
          <a:xfrm>
            <a:off x="2605416" y="4423931"/>
            <a:ext cx="877500" cy="525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1"/>
          <p:cNvCxnSpPr>
            <a:endCxn id="244" idx="2"/>
          </p:cNvCxnSpPr>
          <p:nvPr/>
        </p:nvCxnSpPr>
        <p:spPr>
          <a:xfrm flipH="1" rot="10800000">
            <a:off x="1953776" y="5233120"/>
            <a:ext cx="882000" cy="768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1"/>
          <p:cNvCxnSpPr>
            <a:endCxn id="248" idx="1"/>
          </p:cNvCxnSpPr>
          <p:nvPr/>
        </p:nvCxnSpPr>
        <p:spPr>
          <a:xfrm flipH="1" rot="10800000">
            <a:off x="1988518" y="6200322"/>
            <a:ext cx="531600" cy="153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/>
          <p:nvPr/>
        </p:nvCxnSpPr>
        <p:spPr>
          <a:xfrm flipH="1" rot="10800000">
            <a:off x="2020360" y="5200373"/>
            <a:ext cx="1514400" cy="880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1"/>
          <p:cNvCxnSpPr/>
          <p:nvPr/>
        </p:nvCxnSpPr>
        <p:spPr>
          <a:xfrm flipH="1" rot="10800000">
            <a:off x="4322163" y="4730829"/>
            <a:ext cx="958200" cy="885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1"/>
          <p:cNvCxnSpPr/>
          <p:nvPr/>
        </p:nvCxnSpPr>
        <p:spPr>
          <a:xfrm>
            <a:off x="4409642" y="4374615"/>
            <a:ext cx="895500" cy="199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1"/>
          <p:cNvCxnSpPr/>
          <p:nvPr/>
        </p:nvCxnSpPr>
        <p:spPr>
          <a:xfrm flipH="1" rot="10800000">
            <a:off x="3195872" y="4363786"/>
            <a:ext cx="415500" cy="561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1"/>
          <p:cNvCxnSpPr/>
          <p:nvPr/>
        </p:nvCxnSpPr>
        <p:spPr>
          <a:xfrm rot="10800000">
            <a:off x="3611342" y="4363623"/>
            <a:ext cx="798300" cy="11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1"/>
          <p:cNvCxnSpPr/>
          <p:nvPr/>
        </p:nvCxnSpPr>
        <p:spPr>
          <a:xfrm flipH="1" rot="10800000">
            <a:off x="3266406" y="6518568"/>
            <a:ext cx="1982100" cy="48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3742611" y="5599521"/>
            <a:ext cx="1722600" cy="265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/>
          <p:nvPr/>
        </p:nvCxnSpPr>
        <p:spPr>
          <a:xfrm rot="10800000">
            <a:off x="3091880" y="5183829"/>
            <a:ext cx="672600" cy="4320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1"/>
          <p:cNvSpPr txBox="1"/>
          <p:nvPr/>
        </p:nvSpPr>
        <p:spPr>
          <a:xfrm>
            <a:off x="552600" y="7134123"/>
            <a:ext cx="317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volume of this prism.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6" name="Google Shape;266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7936" y="7777438"/>
            <a:ext cx="2201869" cy="19636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21"/>
          <p:cNvCxnSpPr/>
          <p:nvPr/>
        </p:nvCxnSpPr>
        <p:spPr>
          <a:xfrm flipH="1" rot="10800000">
            <a:off x="1606371" y="8982159"/>
            <a:ext cx="1306200" cy="815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8" name="Google Shape;268;p21"/>
          <p:cNvCxnSpPr/>
          <p:nvPr/>
        </p:nvCxnSpPr>
        <p:spPr>
          <a:xfrm rot="10800000">
            <a:off x="2969803" y="8003685"/>
            <a:ext cx="0" cy="88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9" name="Google Shape;269;p21"/>
          <p:cNvCxnSpPr/>
          <p:nvPr/>
        </p:nvCxnSpPr>
        <p:spPr>
          <a:xfrm rot="10800000">
            <a:off x="836460" y="9007784"/>
            <a:ext cx="632700" cy="76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0" name="Google Shape;270;p21"/>
          <p:cNvCxnSpPr/>
          <p:nvPr/>
        </p:nvCxnSpPr>
        <p:spPr>
          <a:xfrm flipH="1">
            <a:off x="2235475" y="7782352"/>
            <a:ext cx="407400" cy="235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" name="Google Shape;271;p21"/>
          <p:cNvCxnSpPr/>
          <p:nvPr/>
        </p:nvCxnSpPr>
        <p:spPr>
          <a:xfrm rot="10800000">
            <a:off x="2766168" y="7806251"/>
            <a:ext cx="157500" cy="16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21"/>
          <p:cNvCxnSpPr/>
          <p:nvPr/>
        </p:nvCxnSpPr>
        <p:spPr>
          <a:xfrm rot="10800000">
            <a:off x="2043716" y="7975320"/>
            <a:ext cx="157500" cy="16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3" name="Google Shape;273;p21"/>
          <p:cNvCxnSpPr/>
          <p:nvPr/>
        </p:nvCxnSpPr>
        <p:spPr>
          <a:xfrm flipH="1">
            <a:off x="867496" y="7855675"/>
            <a:ext cx="1217700" cy="1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74" name="Google Shape;274;p21"/>
          <p:cNvSpPr txBox="1"/>
          <p:nvPr/>
        </p:nvSpPr>
        <p:spPr>
          <a:xfrm>
            <a:off x="2969803" y="8273359"/>
            <a:ext cx="32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072500" y="9386925"/>
            <a:ext cx="102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16300" y="9386925"/>
            <a:ext cx="95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1055754" y="7637294"/>
            <a:ext cx="8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2085196" y="7540437"/>
            <a:ext cx="32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2840011" y="7675264"/>
            <a:ext cx="71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1556591" y="7942770"/>
            <a:ext cx="68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1464003" y="8673422"/>
            <a:ext cx="188233" cy="156861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2" name="Google Shape;282;p21"/>
          <p:cNvSpPr/>
          <p:nvPr/>
        </p:nvSpPr>
        <p:spPr>
          <a:xfrm>
            <a:off x="2666326" y="7933016"/>
            <a:ext cx="188233" cy="156861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283" name="Google Shape;283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32774" y="7193890"/>
            <a:ext cx="979368" cy="14121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21"/>
          <p:cNvCxnSpPr/>
          <p:nvPr/>
        </p:nvCxnSpPr>
        <p:spPr>
          <a:xfrm>
            <a:off x="4554986" y="7678852"/>
            <a:ext cx="188100" cy="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1"/>
          <p:cNvSpPr txBox="1"/>
          <p:nvPr/>
        </p:nvSpPr>
        <p:spPr>
          <a:xfrm>
            <a:off x="4522846" y="7292205"/>
            <a:ext cx="3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340575" y="7964249"/>
            <a:ext cx="32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860215" y="7057222"/>
            <a:ext cx="1682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Area of A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 × 16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128 mm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083425" y="9430200"/>
            <a:ext cx="313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596 × 22 = 13 112 mm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89" name="Google Shape;289;p21" title="one half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078777" y="8229726"/>
            <a:ext cx="84552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91" name="Google Shape;291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7" name="Google Shape;297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476400" y="1360540"/>
            <a:ext cx="61164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baker makes 24 mini swiss rolls and wants to cover them in chocolate. How many square centimetres of chocolate will the baker have used?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476399" y="896975"/>
            <a:ext cx="6015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Problems in context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476400" y="3138417"/>
            <a:ext cx="6406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metal pole is melted down and remoulded into cubes with edges of 5 cm. How many cubes can be made from this pole?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940" y="1955102"/>
            <a:ext cx="787973" cy="541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2"/>
          <p:cNvCxnSpPr/>
          <p:nvPr/>
        </p:nvCxnSpPr>
        <p:spPr>
          <a:xfrm flipH="1" rot="10800000">
            <a:off x="1629976" y="2242931"/>
            <a:ext cx="390900" cy="24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" name="Google Shape;305;p22"/>
          <p:cNvCxnSpPr/>
          <p:nvPr/>
        </p:nvCxnSpPr>
        <p:spPr>
          <a:xfrm>
            <a:off x="1302679" y="2530470"/>
            <a:ext cx="276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6" name="Google Shape;306;p22"/>
          <p:cNvSpPr txBox="1"/>
          <p:nvPr/>
        </p:nvSpPr>
        <p:spPr>
          <a:xfrm>
            <a:off x="925041" y="3853961"/>
            <a:ext cx="6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1232940" y="2648566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1408774" y="3651396"/>
            <a:ext cx="436297" cy="946268"/>
          </a:xfrm>
          <a:prstGeom prst="flowChartMagneticDisk">
            <a:avLst/>
          </a:prstGeom>
          <a:solidFill>
            <a:srgbClr val="99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" name="Google Shape;309;p22"/>
          <p:cNvCxnSpPr/>
          <p:nvPr/>
        </p:nvCxnSpPr>
        <p:spPr>
          <a:xfrm rot="10800000">
            <a:off x="1335127" y="3783597"/>
            <a:ext cx="0" cy="68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0" name="Google Shape;310;p22"/>
          <p:cNvCxnSpPr/>
          <p:nvPr/>
        </p:nvCxnSpPr>
        <p:spPr>
          <a:xfrm flipH="1">
            <a:off x="1626923" y="3793047"/>
            <a:ext cx="223800" cy="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1" name="Google Shape;311;p22"/>
          <p:cNvSpPr txBox="1"/>
          <p:nvPr/>
        </p:nvSpPr>
        <p:spPr>
          <a:xfrm>
            <a:off x="1778236" y="2285833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1918718" y="3679481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2247370" y="1941347"/>
            <a:ext cx="48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Surface area = 2 × 𝜋 × 1.5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+ 𝜋 × 3 × 8 = 28.5𝜋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2636537" y="3554851"/>
            <a:ext cx="43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of pole = 𝜋 × 7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45 = 2205𝜋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2379592" y="2242972"/>
            <a:ext cx="377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Chocolate used = 24 × 28.5𝜋 =684𝜋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2574203" y="3871901"/>
            <a:ext cx="43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of cube = 5 × 5 × 5 = 125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2574203" y="4149395"/>
            <a:ext cx="434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Amount of cubes = 2205𝜋 ÷ 125 = 55.417…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3443455" y="4430080"/>
            <a:ext cx="20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 cubes can be made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76400" y="5483700"/>
            <a:ext cx="6584400" cy="18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One factor that affects the rate of dissolving is the contact between the solute and the solvent.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Here are some sugar lumps (solute) of the same mass. When put in water (solvent),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would have: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a) the most contact?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b) the least contact?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0" name="Google Shape;320;p22"/>
          <p:cNvPicPr preferRelativeResize="0"/>
          <p:nvPr/>
        </p:nvPicPr>
        <p:blipFill rotWithShape="1">
          <a:blip r:embed="rId4">
            <a:alphaModFix/>
          </a:blip>
          <a:srcRect b="7970" l="10104" r="72261" t="52234"/>
          <a:stretch/>
        </p:blipFill>
        <p:spPr>
          <a:xfrm>
            <a:off x="3903347" y="7994434"/>
            <a:ext cx="853525" cy="904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2"/>
          <p:cNvPicPr preferRelativeResize="0"/>
          <p:nvPr/>
        </p:nvPicPr>
        <p:blipFill rotWithShape="1">
          <a:blip r:embed="rId4">
            <a:alphaModFix/>
          </a:blip>
          <a:srcRect b="44593" l="22804" r="59561" t="15611"/>
          <a:stretch/>
        </p:blipFill>
        <p:spPr>
          <a:xfrm>
            <a:off x="2291896" y="7545840"/>
            <a:ext cx="822750" cy="87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6736" y="7405082"/>
            <a:ext cx="2429226" cy="151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387" y="7405073"/>
            <a:ext cx="1499581" cy="1085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3494" y="8119627"/>
            <a:ext cx="910256" cy="7135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5" name="Google Shape;325;p22"/>
          <p:cNvGraphicFramePr/>
          <p:nvPr/>
        </p:nvGraphicFramePr>
        <p:xfrm>
          <a:off x="5371225" y="63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{F6C395F1-10A1-4BAF-A3B9-2BBBEFDCDCDA}</a:tableStyleId>
              </a:tblPr>
              <a:tblGrid>
                <a:gridCol w="401875"/>
                <a:gridCol w="401875"/>
                <a:gridCol w="401875"/>
                <a:gridCol w="401875"/>
              </a:tblGrid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326" name="Google Shape;326;p22"/>
          <p:cNvSpPr txBox="1"/>
          <p:nvPr/>
        </p:nvSpPr>
        <p:spPr>
          <a:xfrm>
            <a:off x="1004205" y="7795945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1533269" y="8230980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2562932" y="7637092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2581306" y="8417569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/>
        </p:nvSpPr>
        <p:spPr>
          <a:xfrm>
            <a:off x="4232784" y="8084086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2"/>
          <p:cNvSpPr txBox="1"/>
          <p:nvPr/>
        </p:nvSpPr>
        <p:spPr>
          <a:xfrm>
            <a:off x="5426635" y="8060771"/>
            <a:ext cx="166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(mm)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 (mm)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 (mm)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2714355" y="6960727"/>
            <a:ext cx="14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- 600 mm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2714356" y="6610629"/>
            <a:ext cx="14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 - 2008 mm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