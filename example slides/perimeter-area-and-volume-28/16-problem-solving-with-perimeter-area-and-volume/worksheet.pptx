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  <p:sldId id="258" r:id="rId9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6ECAA68-C82F-4688-B287-67B69E90A2ED}">
  <a:tblStyle styleId="{56ECAA68-C82F-4688-B287-67B69E90A2E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a86314fd24_0_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2a86314fd2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27996905f60_0_13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27996905f6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2" name="Google Shape;32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idx="2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idx="1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22.png"/><Relationship Id="rId11" Type="http://schemas.openxmlformats.org/officeDocument/2006/relationships/image" Target="../media/image9.png"/><Relationship Id="rId10" Type="http://schemas.openxmlformats.org/officeDocument/2006/relationships/image" Target="../media/image15.png"/><Relationship Id="rId12" Type="http://schemas.openxmlformats.org/officeDocument/2006/relationships/image" Target="../media/image18.png"/><Relationship Id="rId9" Type="http://schemas.openxmlformats.org/officeDocument/2006/relationships/image" Target="../media/image14.png"/><Relationship Id="rId5" Type="http://schemas.openxmlformats.org/officeDocument/2006/relationships/image" Target="../media/image8.png"/><Relationship Id="rId6" Type="http://schemas.openxmlformats.org/officeDocument/2006/relationships/image" Target="../media/image19.png"/><Relationship Id="rId7" Type="http://schemas.openxmlformats.org/officeDocument/2006/relationships/image" Target="../media/image13.png"/><Relationship Id="rId8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png"/><Relationship Id="rId4" Type="http://schemas.openxmlformats.org/officeDocument/2006/relationships/image" Target="../media/image20.png"/><Relationship Id="rId5" Type="http://schemas.openxmlformats.org/officeDocument/2006/relationships/image" Target="../media/image10.png"/><Relationship Id="rId6" Type="http://schemas.openxmlformats.org/officeDocument/2006/relationships/image" Target="../media/image16.png"/><Relationship Id="rId7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Problem solving with perimeter, area and volume</a:t>
            </a:r>
            <a:endParaRPr/>
          </a:p>
        </p:txBody>
      </p:sp>
      <p:sp>
        <p:nvSpPr>
          <p:cNvPr id="160" name="Google Shape;160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1" name="Google Shape;161;p20"/>
          <p:cNvSpPr txBox="1"/>
          <p:nvPr/>
        </p:nvSpPr>
        <p:spPr>
          <a:xfrm>
            <a:off x="476400" y="1840937"/>
            <a:ext cx="6422700" cy="23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1950" lvl="0" marL="360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The surface area of this triangular prism is 240 cm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61950" lvl="0" marL="3600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a) What is the length of the prism?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600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Hence calculate the volume of the prism.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" name="Google Shape;162;p20"/>
          <p:cNvSpPr txBox="1"/>
          <p:nvPr/>
        </p:nvSpPr>
        <p:spPr>
          <a:xfrm>
            <a:off x="476399" y="1354175"/>
            <a:ext cx="6316200" cy="2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Surface area and volume 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3" name="Google Shape;16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8141" y="2130103"/>
            <a:ext cx="1792970" cy="1653348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0"/>
          <p:cNvSpPr txBox="1"/>
          <p:nvPr/>
        </p:nvSpPr>
        <p:spPr>
          <a:xfrm>
            <a:off x="5928987" y="2420196"/>
            <a:ext cx="743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13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5" name="Google Shape;165;p20"/>
          <p:cNvCxnSpPr/>
          <p:nvPr/>
        </p:nvCxnSpPr>
        <p:spPr>
          <a:xfrm>
            <a:off x="5400371" y="2104847"/>
            <a:ext cx="1272300" cy="1344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66" name="Google Shape;166;p20"/>
          <p:cNvSpPr txBox="1"/>
          <p:nvPr/>
        </p:nvSpPr>
        <p:spPr>
          <a:xfrm>
            <a:off x="4268813" y="2514164"/>
            <a:ext cx="743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20"/>
          <p:cNvSpPr txBox="1"/>
          <p:nvPr/>
        </p:nvSpPr>
        <p:spPr>
          <a:xfrm>
            <a:off x="4841027" y="3275562"/>
            <a:ext cx="743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12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" name="Google Shape;168;p20"/>
          <p:cNvSpPr txBox="1"/>
          <p:nvPr/>
        </p:nvSpPr>
        <p:spPr>
          <a:xfrm>
            <a:off x="6356602" y="3548083"/>
            <a:ext cx="743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9" name="Google Shape;169;p20"/>
          <p:cNvCxnSpPr/>
          <p:nvPr/>
        </p:nvCxnSpPr>
        <p:spPr>
          <a:xfrm>
            <a:off x="4848141" y="2387742"/>
            <a:ext cx="0" cy="612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70" name="Google Shape;170;p20"/>
          <p:cNvCxnSpPr/>
          <p:nvPr/>
        </p:nvCxnSpPr>
        <p:spPr>
          <a:xfrm>
            <a:off x="4895545" y="3070511"/>
            <a:ext cx="1248900" cy="720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71" name="Google Shape;171;p20"/>
          <p:cNvCxnSpPr/>
          <p:nvPr/>
        </p:nvCxnSpPr>
        <p:spPr>
          <a:xfrm flipH="1">
            <a:off x="6218711" y="3536183"/>
            <a:ext cx="422400" cy="236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72" name="Google Shape;172;p20"/>
          <p:cNvSpPr txBox="1"/>
          <p:nvPr/>
        </p:nvSpPr>
        <p:spPr>
          <a:xfrm>
            <a:off x="476400" y="5026500"/>
            <a:ext cx="6634200" cy="7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The volume of a cylinder is 324𝜋 cm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and its height is 9 cm.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269999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Work out the cylinder’s surface area.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269999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" name="Google Shape;173;p20"/>
          <p:cNvSpPr txBox="1"/>
          <p:nvPr/>
        </p:nvSpPr>
        <p:spPr>
          <a:xfrm>
            <a:off x="476400" y="7445769"/>
            <a:ext cx="6063300" cy="6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The surface area of this prism is 516 cm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269999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Work out the volume of the prism.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4" name="Google Shape;174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13386" y="7392425"/>
            <a:ext cx="1229815" cy="1645821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0"/>
          <p:cNvSpPr txBox="1"/>
          <p:nvPr/>
        </p:nvSpPr>
        <p:spPr>
          <a:xfrm>
            <a:off x="4691282" y="8111821"/>
            <a:ext cx="702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20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6156868" y="7392425"/>
            <a:ext cx="702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6398226" y="8089354"/>
            <a:ext cx="702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17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6088969" y="8741367"/>
            <a:ext cx="702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5033666" y="8792061"/>
            <a:ext cx="702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0" name="Google Shape;180;p20"/>
          <p:cNvCxnSpPr/>
          <p:nvPr/>
        </p:nvCxnSpPr>
        <p:spPr>
          <a:xfrm>
            <a:off x="6011239" y="7409285"/>
            <a:ext cx="387600" cy="460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81" name="Google Shape;181;p20"/>
          <p:cNvCxnSpPr/>
          <p:nvPr/>
        </p:nvCxnSpPr>
        <p:spPr>
          <a:xfrm>
            <a:off x="5267885" y="7821131"/>
            <a:ext cx="1800" cy="908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82" name="Google Shape;182;p20"/>
          <p:cNvCxnSpPr/>
          <p:nvPr/>
        </p:nvCxnSpPr>
        <p:spPr>
          <a:xfrm>
            <a:off x="6431964" y="7916456"/>
            <a:ext cx="0" cy="700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83" name="Google Shape;183;p20"/>
          <p:cNvCxnSpPr/>
          <p:nvPr/>
        </p:nvCxnSpPr>
        <p:spPr>
          <a:xfrm>
            <a:off x="5269656" y="8792061"/>
            <a:ext cx="420600" cy="232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84" name="Google Shape;184;p20"/>
          <p:cNvCxnSpPr/>
          <p:nvPr/>
        </p:nvCxnSpPr>
        <p:spPr>
          <a:xfrm flipH="1" rot="10800000">
            <a:off x="5819931" y="8667652"/>
            <a:ext cx="595800" cy="356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1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Problem solving with perimeter, area and volume</a:t>
            </a:r>
            <a:endParaRPr/>
          </a:p>
        </p:txBody>
      </p:sp>
      <p:sp>
        <p:nvSpPr>
          <p:cNvPr id="190" name="Google Shape;190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91" name="Google Shape;191;p21"/>
          <p:cNvSpPr txBox="1"/>
          <p:nvPr/>
        </p:nvSpPr>
        <p:spPr>
          <a:xfrm>
            <a:off x="476400" y="759300"/>
            <a:ext cx="6615600" cy="24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69999" lvl="0" marL="269999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4) The areas of three faces have been given. The edges are integer amounts of centimetres.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What is the volume of this cuboid?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269999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2" name="Google Shape;19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6865" y="1451930"/>
            <a:ext cx="1639645" cy="1661991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1"/>
          <p:cNvSpPr txBox="1"/>
          <p:nvPr/>
        </p:nvSpPr>
        <p:spPr>
          <a:xfrm rot="1812311">
            <a:off x="1108604" y="1744128"/>
            <a:ext cx="796664" cy="36943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60 cm</a:t>
            </a:r>
            <a:r>
              <a:rPr baseline="30000" i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i="1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21"/>
          <p:cNvSpPr txBox="1"/>
          <p:nvPr/>
        </p:nvSpPr>
        <p:spPr>
          <a:xfrm rot="1849260">
            <a:off x="857715" y="2266214"/>
            <a:ext cx="929234" cy="36930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108 cm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21"/>
          <p:cNvSpPr txBox="1"/>
          <p:nvPr/>
        </p:nvSpPr>
        <p:spPr>
          <a:xfrm rot="-1410188">
            <a:off x="1664684" y="2181405"/>
            <a:ext cx="600302" cy="55393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45 </a:t>
            </a:r>
            <a:endParaRPr i="1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cm</a:t>
            </a:r>
            <a:r>
              <a:rPr baseline="30000" i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i="1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6" name="Google Shape;196;p21"/>
          <p:cNvCxnSpPr/>
          <p:nvPr/>
        </p:nvCxnSpPr>
        <p:spPr>
          <a:xfrm>
            <a:off x="474757" y="3432413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7" name="Google Shape;197;p21"/>
          <p:cNvSpPr txBox="1"/>
          <p:nvPr/>
        </p:nvSpPr>
        <p:spPr>
          <a:xfrm>
            <a:off x="476401" y="3640175"/>
            <a:ext cx="65061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Composite solids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1"/>
          <p:cNvSpPr txBox="1"/>
          <p:nvPr/>
        </p:nvSpPr>
        <p:spPr>
          <a:xfrm>
            <a:off x="476400" y="4035900"/>
            <a:ext cx="66156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Match the composite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solid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with its parts.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9" name="Google Shape;199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20118" y="4604291"/>
            <a:ext cx="631316" cy="62882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82916" y="4380132"/>
            <a:ext cx="791565" cy="113759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75600" y="4380132"/>
            <a:ext cx="929967" cy="11375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75600" y="5611081"/>
            <a:ext cx="1012931" cy="11784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520118" y="5699654"/>
            <a:ext cx="746288" cy="100133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344788" y="4429621"/>
            <a:ext cx="1012932" cy="874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67436" y="5699656"/>
            <a:ext cx="1012932" cy="6929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1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369440" y="5694219"/>
            <a:ext cx="963628" cy="1082466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1"/>
          <p:cNvSpPr txBox="1"/>
          <p:nvPr/>
        </p:nvSpPr>
        <p:spPr>
          <a:xfrm>
            <a:off x="552600" y="7134123"/>
            <a:ext cx="31752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Calculate the volume of this prism.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8" name="Google Shape;208;p21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767936" y="7777438"/>
            <a:ext cx="2201869" cy="196367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9" name="Google Shape;209;p21"/>
          <p:cNvCxnSpPr/>
          <p:nvPr/>
        </p:nvCxnSpPr>
        <p:spPr>
          <a:xfrm flipH="1" rot="10800000">
            <a:off x="1606371" y="8982159"/>
            <a:ext cx="1306200" cy="815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10" name="Google Shape;210;p21"/>
          <p:cNvCxnSpPr/>
          <p:nvPr/>
        </p:nvCxnSpPr>
        <p:spPr>
          <a:xfrm rot="10800000">
            <a:off x="2969803" y="8003685"/>
            <a:ext cx="0" cy="8844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11" name="Google Shape;211;p21"/>
          <p:cNvCxnSpPr/>
          <p:nvPr/>
        </p:nvCxnSpPr>
        <p:spPr>
          <a:xfrm rot="10800000">
            <a:off x="836460" y="9007784"/>
            <a:ext cx="632700" cy="7644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12" name="Google Shape;212;p21"/>
          <p:cNvCxnSpPr/>
          <p:nvPr/>
        </p:nvCxnSpPr>
        <p:spPr>
          <a:xfrm flipH="1">
            <a:off x="2235475" y="7782352"/>
            <a:ext cx="407400" cy="235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13" name="Google Shape;213;p21"/>
          <p:cNvCxnSpPr/>
          <p:nvPr/>
        </p:nvCxnSpPr>
        <p:spPr>
          <a:xfrm rot="10800000">
            <a:off x="2766168" y="7806251"/>
            <a:ext cx="157500" cy="169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14" name="Google Shape;214;p21"/>
          <p:cNvCxnSpPr/>
          <p:nvPr/>
        </p:nvCxnSpPr>
        <p:spPr>
          <a:xfrm rot="10800000">
            <a:off x="2043716" y="7975320"/>
            <a:ext cx="157500" cy="169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15" name="Google Shape;215;p21"/>
          <p:cNvCxnSpPr/>
          <p:nvPr/>
        </p:nvCxnSpPr>
        <p:spPr>
          <a:xfrm flipH="1">
            <a:off x="867496" y="7855675"/>
            <a:ext cx="1217700" cy="1620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16" name="Google Shape;216;p21"/>
          <p:cNvSpPr txBox="1"/>
          <p:nvPr/>
        </p:nvSpPr>
        <p:spPr>
          <a:xfrm>
            <a:off x="2969803" y="8273359"/>
            <a:ext cx="3285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22 mm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1"/>
          <p:cNvSpPr txBox="1"/>
          <p:nvPr/>
        </p:nvSpPr>
        <p:spPr>
          <a:xfrm>
            <a:off x="2072500" y="9386925"/>
            <a:ext cx="1028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40 mm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" name="Google Shape;218;p21"/>
          <p:cNvSpPr txBox="1"/>
          <p:nvPr/>
        </p:nvSpPr>
        <p:spPr>
          <a:xfrm>
            <a:off x="516300" y="9386925"/>
            <a:ext cx="95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23 mm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21"/>
          <p:cNvSpPr txBox="1"/>
          <p:nvPr/>
        </p:nvSpPr>
        <p:spPr>
          <a:xfrm>
            <a:off x="1055754" y="7637294"/>
            <a:ext cx="801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25 mm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1"/>
          <p:cNvSpPr txBox="1"/>
          <p:nvPr/>
        </p:nvSpPr>
        <p:spPr>
          <a:xfrm>
            <a:off x="2085196" y="7540437"/>
            <a:ext cx="3285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16 mm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" name="Google Shape;221;p21"/>
          <p:cNvSpPr txBox="1"/>
          <p:nvPr/>
        </p:nvSpPr>
        <p:spPr>
          <a:xfrm>
            <a:off x="2840011" y="7675264"/>
            <a:ext cx="717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 mm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" name="Google Shape;222;p21"/>
          <p:cNvSpPr txBox="1"/>
          <p:nvPr/>
        </p:nvSpPr>
        <p:spPr>
          <a:xfrm>
            <a:off x="1556591" y="7942770"/>
            <a:ext cx="684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 mm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1"/>
          <p:cNvSpPr/>
          <p:nvPr/>
        </p:nvSpPr>
        <p:spPr>
          <a:xfrm>
            <a:off x="1464003" y="8673422"/>
            <a:ext cx="188233" cy="156861"/>
          </a:xfrm>
          <a:custGeom>
            <a:rect b="b" l="l" r="r" t="t"/>
            <a:pathLst>
              <a:path extrusionOk="0" h="8395" w="10074">
                <a:moveTo>
                  <a:pt x="0" y="3616"/>
                </a:moveTo>
                <a:lnTo>
                  <a:pt x="4133" y="8395"/>
                </a:lnTo>
                <a:lnTo>
                  <a:pt x="10074" y="4521"/>
                </a:lnTo>
                <a:lnTo>
                  <a:pt x="6587" y="0"/>
                </a:lnTo>
                <a:close/>
              </a:path>
            </a:pathLst>
          </a:cu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24" name="Google Shape;224;p21"/>
          <p:cNvSpPr/>
          <p:nvPr/>
        </p:nvSpPr>
        <p:spPr>
          <a:xfrm>
            <a:off x="2666326" y="7933016"/>
            <a:ext cx="188233" cy="156861"/>
          </a:xfrm>
          <a:custGeom>
            <a:rect b="b" l="l" r="r" t="t"/>
            <a:pathLst>
              <a:path extrusionOk="0" h="8395" w="10074">
                <a:moveTo>
                  <a:pt x="0" y="3616"/>
                </a:moveTo>
                <a:lnTo>
                  <a:pt x="4133" y="8395"/>
                </a:lnTo>
                <a:lnTo>
                  <a:pt x="10074" y="4521"/>
                </a:lnTo>
                <a:lnTo>
                  <a:pt x="6587" y="0"/>
                </a:lnTo>
                <a:close/>
              </a:path>
            </a:pathLst>
          </a:cu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225" name="Google Shape;225;p21"/>
          <p:cNvCxnSpPr/>
          <p:nvPr/>
        </p:nvCxnSpPr>
        <p:spPr>
          <a:xfrm>
            <a:off x="474757" y="99719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31" name="Google Shape;231;p22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Problem solving with perimeter, area and volume</a:t>
            </a:r>
            <a:endParaRPr/>
          </a:p>
        </p:txBody>
      </p:sp>
      <p:sp>
        <p:nvSpPr>
          <p:cNvPr id="232" name="Google Shape;232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v2.2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" name="Google Shape;233;p22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Industry.</a:t>
            </a:r>
            <a:endParaRPr/>
          </a:p>
        </p:txBody>
      </p:sp>
      <p:sp>
        <p:nvSpPr>
          <p:cNvPr id="234" name="Google Shape;234;p22"/>
          <p:cNvSpPr txBox="1"/>
          <p:nvPr/>
        </p:nvSpPr>
        <p:spPr>
          <a:xfrm>
            <a:off x="476400" y="1360540"/>
            <a:ext cx="6116400" cy="22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69999" lvl="0" marL="269999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A baker makes 24 mini swiss rolls and wants to cover them in chocolate. How many square centimetres of chocolate will the baker have used?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" name="Google Shape;235;p22"/>
          <p:cNvSpPr txBox="1"/>
          <p:nvPr/>
        </p:nvSpPr>
        <p:spPr>
          <a:xfrm>
            <a:off x="476399" y="896975"/>
            <a:ext cx="60153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C: Problems in context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" name="Google Shape;236;p22"/>
          <p:cNvSpPr txBox="1"/>
          <p:nvPr/>
        </p:nvSpPr>
        <p:spPr>
          <a:xfrm>
            <a:off x="476400" y="3138417"/>
            <a:ext cx="64062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69999" lvl="0" marL="269999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A metal pole is melted down and remoulded into cubes with edges of 5 cm. How many cubes can be made from this pole?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7" name="Google Shape;23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2940" y="1955102"/>
            <a:ext cx="787973" cy="54106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8" name="Google Shape;238;p22"/>
          <p:cNvCxnSpPr/>
          <p:nvPr/>
        </p:nvCxnSpPr>
        <p:spPr>
          <a:xfrm flipH="1" rot="10800000">
            <a:off x="1629976" y="2242931"/>
            <a:ext cx="390900" cy="249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39" name="Google Shape;239;p22"/>
          <p:cNvCxnSpPr/>
          <p:nvPr/>
        </p:nvCxnSpPr>
        <p:spPr>
          <a:xfrm>
            <a:off x="1302679" y="2530470"/>
            <a:ext cx="276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40" name="Google Shape;240;p22"/>
          <p:cNvSpPr txBox="1"/>
          <p:nvPr/>
        </p:nvSpPr>
        <p:spPr>
          <a:xfrm>
            <a:off x="925041" y="3853961"/>
            <a:ext cx="601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45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" name="Google Shape;241;p22"/>
          <p:cNvSpPr txBox="1"/>
          <p:nvPr/>
        </p:nvSpPr>
        <p:spPr>
          <a:xfrm>
            <a:off x="1232940" y="2648566"/>
            <a:ext cx="545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" name="Google Shape;242;p22"/>
          <p:cNvSpPr/>
          <p:nvPr/>
        </p:nvSpPr>
        <p:spPr>
          <a:xfrm>
            <a:off x="1408774" y="3651396"/>
            <a:ext cx="436297" cy="946268"/>
          </a:xfrm>
          <a:prstGeom prst="flowChartMagneticDisk">
            <a:avLst/>
          </a:prstGeom>
          <a:solidFill>
            <a:srgbClr val="99999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43" name="Google Shape;243;p22"/>
          <p:cNvCxnSpPr/>
          <p:nvPr/>
        </p:nvCxnSpPr>
        <p:spPr>
          <a:xfrm rot="10800000">
            <a:off x="1335127" y="3783597"/>
            <a:ext cx="0" cy="689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44" name="Google Shape;244;p22"/>
          <p:cNvCxnSpPr/>
          <p:nvPr/>
        </p:nvCxnSpPr>
        <p:spPr>
          <a:xfrm flipH="1">
            <a:off x="1626923" y="3793047"/>
            <a:ext cx="223800" cy="1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45" name="Google Shape;245;p22"/>
          <p:cNvSpPr txBox="1"/>
          <p:nvPr/>
        </p:nvSpPr>
        <p:spPr>
          <a:xfrm>
            <a:off x="1778236" y="2285833"/>
            <a:ext cx="545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6" name="Google Shape;246;p22"/>
          <p:cNvSpPr txBox="1"/>
          <p:nvPr/>
        </p:nvSpPr>
        <p:spPr>
          <a:xfrm>
            <a:off x="1918718" y="3679481"/>
            <a:ext cx="545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47" name="Google Shape;247;p22"/>
          <p:cNvPicPr preferRelativeResize="0"/>
          <p:nvPr/>
        </p:nvPicPr>
        <p:blipFill rotWithShape="1">
          <a:blip r:embed="rId4">
            <a:alphaModFix/>
          </a:blip>
          <a:srcRect b="7970" l="10104" r="72261" t="52234"/>
          <a:stretch/>
        </p:blipFill>
        <p:spPr>
          <a:xfrm>
            <a:off x="3903347" y="7918234"/>
            <a:ext cx="853525" cy="90433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2"/>
          <p:cNvPicPr preferRelativeResize="0"/>
          <p:nvPr/>
        </p:nvPicPr>
        <p:blipFill rotWithShape="1">
          <a:blip r:embed="rId4">
            <a:alphaModFix/>
          </a:blip>
          <a:srcRect b="44593" l="22804" r="59561" t="15611"/>
          <a:stretch/>
        </p:blipFill>
        <p:spPr>
          <a:xfrm>
            <a:off x="2291896" y="7469640"/>
            <a:ext cx="822750" cy="871728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66736" y="7328882"/>
            <a:ext cx="2429226" cy="1515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7387" y="7328873"/>
            <a:ext cx="1499581" cy="10857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2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203494" y="8043427"/>
            <a:ext cx="910256" cy="71356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52" name="Google Shape;252;p22"/>
          <p:cNvGraphicFramePr/>
          <p:nvPr/>
        </p:nvGraphicFramePr>
        <p:xfrm>
          <a:off x="5371225" y="6384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{56ECAA68-C82F-4688-B287-67B69E90A2ED}</a:tableStyleId>
              </a:tblPr>
              <a:tblGrid>
                <a:gridCol w="401875"/>
                <a:gridCol w="401875"/>
                <a:gridCol w="401875"/>
                <a:gridCol w="401875"/>
              </a:tblGrid>
              <a:tr h="269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</a:t>
                      </a:r>
                      <a:endParaRPr i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</a:t>
                      </a:r>
                      <a:endParaRPr i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</a:t>
                      </a:r>
                      <a:endParaRPr i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/>
                </a:tc>
              </a:tr>
              <a:tr h="269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269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269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269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250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269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12.5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</a:tbl>
          </a:graphicData>
        </a:graphic>
      </p:graphicFrame>
      <p:sp>
        <p:nvSpPr>
          <p:cNvPr id="253" name="Google Shape;253;p22"/>
          <p:cNvSpPr txBox="1"/>
          <p:nvPr/>
        </p:nvSpPr>
        <p:spPr>
          <a:xfrm>
            <a:off x="1004205" y="7719745"/>
            <a:ext cx="329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4" name="Google Shape;254;p22"/>
          <p:cNvSpPr txBox="1"/>
          <p:nvPr/>
        </p:nvSpPr>
        <p:spPr>
          <a:xfrm>
            <a:off x="1533269" y="8154780"/>
            <a:ext cx="329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5" name="Google Shape;255;p22"/>
          <p:cNvSpPr txBox="1"/>
          <p:nvPr/>
        </p:nvSpPr>
        <p:spPr>
          <a:xfrm>
            <a:off x="2562932" y="7560892"/>
            <a:ext cx="329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6" name="Google Shape;256;p22"/>
          <p:cNvSpPr txBox="1"/>
          <p:nvPr/>
        </p:nvSpPr>
        <p:spPr>
          <a:xfrm>
            <a:off x="2581306" y="8341369"/>
            <a:ext cx="329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7" name="Google Shape;257;p22"/>
          <p:cNvSpPr txBox="1"/>
          <p:nvPr/>
        </p:nvSpPr>
        <p:spPr>
          <a:xfrm>
            <a:off x="4232784" y="8007886"/>
            <a:ext cx="329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8" name="Google Shape;258;p22"/>
          <p:cNvSpPr txBox="1"/>
          <p:nvPr/>
        </p:nvSpPr>
        <p:spPr>
          <a:xfrm>
            <a:off x="5426635" y="8060771"/>
            <a:ext cx="1665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 </a:t>
            </a:r>
            <a:r>
              <a:rPr i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length (mm)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i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=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width (mm)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 </a:t>
            </a:r>
            <a:r>
              <a:rPr i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height (mm)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9" name="Google Shape;259;p22"/>
          <p:cNvSpPr txBox="1"/>
          <p:nvPr/>
        </p:nvSpPr>
        <p:spPr>
          <a:xfrm>
            <a:off x="476400" y="5483700"/>
            <a:ext cx="6584400" cy="24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69999" lvl="0" marL="269999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One factor that affects the rate of dissolving is the contact between the solute and the solvent.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66700" lvl="0" marL="3600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Here are some sugar lumps (solute) of the same mass. When put in water (solvent),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-266700" lvl="0" marL="360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which would have: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-266700" lvl="0" marL="360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-266700" lvl="0" marL="360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-266700" lvl="0" marL="360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a) the most contact?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-266700" lvl="0" marL="3600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b) the least contact?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-266700" lvl="0" marL="3600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-266700" lvl="0" marL="3600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LD THEME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orksheet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