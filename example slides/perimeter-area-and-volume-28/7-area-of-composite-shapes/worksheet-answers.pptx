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 id="258" r:id="rId9"/>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F778D5-40E4-44AF-9910-FE7702755821}">
  <a:tblStyle styleId="{2AF778D5-40E4-44AF-9910-FE770275582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a865923922_0_102: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a865923922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a865923922_0_200: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a86592392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4" name="Google Shape;14;p2"/>
          <p:cNvPicPr preferRelativeResize="0"/>
          <p:nvPr/>
        </p:nvPicPr>
        <p:blipFill>
          <a:blip r:embed="rId4">
            <a:alphaModFix/>
          </a:blip>
          <a:stretch>
            <a:fillRect/>
          </a:stretch>
        </p:blipFill>
        <p:spPr>
          <a:xfrm>
            <a:off x="6261625" y="161271"/>
            <a:ext cx="805956" cy="498600"/>
          </a:xfrm>
          <a:prstGeom prst="rect">
            <a:avLst/>
          </a:prstGeom>
          <a:noFill/>
          <a:ln>
            <a:noFill/>
          </a:ln>
        </p:spPr>
      </p:pic>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1">
  <p:cSld name="SECTION_HEADER_1_1_1_1_1_1_1_1_1_2_1">
    <p:spTree>
      <p:nvGrpSpPr>
        <p:cNvPr id="15" name="Shape 15"/>
        <p:cNvGrpSpPr/>
        <p:nvPr/>
      </p:nvGrpSpPr>
      <p:grpSpPr>
        <a:xfrm>
          <a:off x="0" y="0"/>
          <a:ext cx="0" cy="0"/>
          <a:chOff x="0" y="0"/>
          <a:chExt cx="0" cy="0"/>
        </a:xfrm>
      </p:grpSpPr>
      <p:sp>
        <p:nvSpPr>
          <p:cNvPr id="16" name="Google Shape;16;p3"/>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 name="Google Shape;18;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 name="Google Shape;19;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5" name="Google Shape;25;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29" name="Google Shape;29;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pic>
        <p:nvPicPr>
          <p:cNvPr id="30" name="Google Shape;30;p3"/>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31" name="Google Shape;31;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2" name="Shape 32"/>
        <p:cNvGrpSpPr/>
        <p:nvPr/>
      </p:nvGrpSpPr>
      <p:grpSpPr>
        <a:xfrm>
          <a:off x="0" y="0"/>
          <a:ext cx="0" cy="0"/>
          <a:chOff x="0" y="0"/>
          <a:chExt cx="0" cy="0"/>
        </a:xfrm>
      </p:grpSpPr>
      <p:sp>
        <p:nvSpPr>
          <p:cNvPr id="33" name="Google Shape;33;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 name="Google Shape;34;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6" name="Google Shape;36;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7" name="Google Shape;37;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8" name="Shape 38"/>
        <p:cNvGrpSpPr/>
        <p:nvPr/>
      </p:nvGrpSpPr>
      <p:grpSpPr>
        <a:xfrm>
          <a:off x="0" y="0"/>
          <a:ext cx="0" cy="0"/>
          <a:chOff x="0" y="0"/>
          <a:chExt cx="0" cy="0"/>
        </a:xfrm>
      </p:grpSpPr>
      <p:sp>
        <p:nvSpPr>
          <p:cNvPr id="39" name="Google Shape;39;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3" name="Google Shape;43;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4" name="Google Shape;44;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5" name="Shape 45"/>
        <p:cNvGrpSpPr/>
        <p:nvPr/>
      </p:nvGrpSpPr>
      <p:grpSpPr>
        <a:xfrm>
          <a:off x="0" y="0"/>
          <a:ext cx="0" cy="0"/>
          <a:chOff x="0" y="0"/>
          <a:chExt cx="0" cy="0"/>
        </a:xfrm>
      </p:grpSpPr>
      <p:sp>
        <p:nvSpPr>
          <p:cNvPr id="46" name="Google Shape;46;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 name="Google Shape;47;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2" name="Google Shape;52;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3" name="Google Shape;53;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4" name="Shape 54"/>
        <p:cNvGrpSpPr/>
        <p:nvPr/>
      </p:nvGrpSpPr>
      <p:grpSpPr>
        <a:xfrm>
          <a:off x="0" y="0"/>
          <a:ext cx="0" cy="0"/>
          <a:chOff x="0" y="0"/>
          <a:chExt cx="0" cy="0"/>
        </a:xfrm>
      </p:grpSpPr>
      <p:sp>
        <p:nvSpPr>
          <p:cNvPr id="55" name="Google Shape;55;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6" name="Google Shape;56;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7" name="Google Shape;57;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8" name="Shape 58"/>
        <p:cNvGrpSpPr/>
        <p:nvPr/>
      </p:nvGrpSpPr>
      <p:grpSpPr>
        <a:xfrm>
          <a:off x="0" y="0"/>
          <a:ext cx="0" cy="0"/>
          <a:chOff x="0" y="0"/>
          <a:chExt cx="0" cy="0"/>
        </a:xfrm>
      </p:grpSpPr>
      <p:sp>
        <p:nvSpPr>
          <p:cNvPr id="59" name="Google Shape;59;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65" name="Shape 65"/>
        <p:cNvGrpSpPr/>
        <p:nvPr/>
      </p:nvGrpSpPr>
      <p:grpSpPr>
        <a:xfrm>
          <a:off x="0" y="0"/>
          <a:ext cx="0" cy="0"/>
          <a:chOff x="0" y="0"/>
          <a:chExt cx="0" cy="0"/>
        </a:xfrm>
      </p:grpSpPr>
      <p:pic>
        <p:nvPicPr>
          <p:cNvPr id="66" name="Google Shape;66;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7" name="Google Shape;67;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9" name="Google Shape;69;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4" name="Shape 74"/>
        <p:cNvGrpSpPr/>
        <p:nvPr/>
      </p:nvGrpSpPr>
      <p:grpSpPr>
        <a:xfrm>
          <a:off x="0" y="0"/>
          <a:ext cx="0" cy="0"/>
          <a:chOff x="0" y="0"/>
          <a:chExt cx="0" cy="0"/>
        </a:xfrm>
      </p:grpSpPr>
      <p:pic>
        <p:nvPicPr>
          <p:cNvPr id="75" name="Google Shape;75;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6" name="Google Shape;76;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8" name="Google Shape;78;p11"/>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3" name="Shape 83"/>
        <p:cNvGrpSpPr/>
        <p:nvPr/>
      </p:nvGrpSpPr>
      <p:grpSpPr>
        <a:xfrm>
          <a:off x="0" y="0"/>
          <a:ext cx="0" cy="0"/>
          <a:chOff x="0" y="0"/>
          <a:chExt cx="0" cy="0"/>
        </a:xfrm>
      </p:grpSpPr>
      <p:pic>
        <p:nvPicPr>
          <p:cNvPr id="84" name="Google Shape;84;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5" name="Google Shape;8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7" name="Google Shape;87;p12"/>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88" name="Google Shape;88;p1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90" name="Shape 90"/>
        <p:cNvGrpSpPr/>
        <p:nvPr/>
      </p:nvGrpSpPr>
      <p:grpSpPr>
        <a:xfrm>
          <a:off x="0" y="0"/>
          <a:ext cx="0" cy="0"/>
          <a:chOff x="0" y="0"/>
          <a:chExt cx="0" cy="0"/>
        </a:xfrm>
      </p:grpSpPr>
      <p:pic>
        <p:nvPicPr>
          <p:cNvPr id="91" name="Google Shape;91;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2" name="Google Shape;9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4" name="Google Shape;94;p13"/>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95" name="Google Shape;95;p1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00" name="Google Shape;100;p13"/>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03" name="Google Shape;10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5" name="Google Shape;105;p14"/>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3" name="Google Shape;113;p14"/>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6" name="Google Shape;116;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8" name="Google Shape;118;p15"/>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26" name="Google Shape;126;p15"/>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chOff x="0" y="0"/>
          <a:chExt cx="0" cy="0"/>
        </a:xfrm>
      </p:grpSpPr>
      <p:pic>
        <p:nvPicPr>
          <p:cNvPr id="128" name="Google Shape;128;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9" name="Google Shape;129;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1" name="Google Shape;131;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8" name="Google Shape;138;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0" name="Google Shape;140;p17"/>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2" name="Google Shape;142;p17"/>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7" name="Google Shape;147;p1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2" name="Google Shape;152;p18"/>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3" name="Google Shape;153;p18"/>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chOff x="0" y="0"/>
          <a:chExt cx="0" cy="0"/>
        </a:xfrm>
      </p:grpSpPr>
      <p:pic>
        <p:nvPicPr>
          <p:cNvPr id="155" name="Google Shape;15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56" name="Google Shape;15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66" name="Google Shape;166;p19"/>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1.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3" name="Google Shape;63;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4" name="Google Shape;64;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13.png"/><Relationship Id="rId13" Type="http://schemas.openxmlformats.org/officeDocument/2006/relationships/image" Target="../media/image16.png"/><Relationship Id="rId12"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4.png"/><Relationship Id="rId15" Type="http://schemas.openxmlformats.org/officeDocument/2006/relationships/image" Target="../media/image19.png"/><Relationship Id="rId14" Type="http://schemas.openxmlformats.org/officeDocument/2006/relationships/image" Target="../media/image22.png"/><Relationship Id="rId17" Type="http://schemas.openxmlformats.org/officeDocument/2006/relationships/image" Target="../media/image24.png"/><Relationship Id="rId16" Type="http://schemas.openxmlformats.org/officeDocument/2006/relationships/image" Target="../media/image20.png"/><Relationship Id="rId5" Type="http://schemas.openxmlformats.org/officeDocument/2006/relationships/image" Target="../media/image9.png"/><Relationship Id="rId6" Type="http://schemas.openxmlformats.org/officeDocument/2006/relationships/image" Target="../media/image18.png"/><Relationship Id="rId7" Type="http://schemas.openxmlformats.org/officeDocument/2006/relationships/image" Target="../media/image11.png"/><Relationship Id="rId8" Type="http://schemas.openxmlformats.org/officeDocument/2006/relationships/image" Target="../media/image12.png"/></Relationships>
</file>

<file path=ppt/slides/_rels/slide2.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31.png"/><Relationship Id="rId13" Type="http://schemas.openxmlformats.org/officeDocument/2006/relationships/image" Target="../media/image18.png"/><Relationship Id="rId12" Type="http://schemas.openxmlformats.org/officeDocument/2006/relationships/image" Target="../media/image35.png"/><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8.png"/><Relationship Id="rId15" Type="http://schemas.openxmlformats.org/officeDocument/2006/relationships/image" Target="../media/image37.png"/><Relationship Id="rId14" Type="http://schemas.openxmlformats.org/officeDocument/2006/relationships/image" Target="../media/image41.png"/><Relationship Id="rId17" Type="http://schemas.openxmlformats.org/officeDocument/2006/relationships/image" Target="../media/image39.png"/><Relationship Id="rId16" Type="http://schemas.openxmlformats.org/officeDocument/2006/relationships/image" Target="../media/image38.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34.png"/><Relationship Id="rId8" Type="http://schemas.openxmlformats.org/officeDocument/2006/relationships/image" Target="../media/image27.png"/></Relationships>
</file>

<file path=ppt/slides/_rels/slide3.xml.rels><?xml version="1.0" encoding="UTF-8" standalone="yes"?><Relationships xmlns="http://schemas.openxmlformats.org/package/2006/relationships"><Relationship Id="rId10" Type="http://schemas.openxmlformats.org/officeDocument/2006/relationships/image" Target="../media/image49.png"/><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0.png"/><Relationship Id="rId4" Type="http://schemas.openxmlformats.org/officeDocument/2006/relationships/image" Target="../media/image44.png"/><Relationship Id="rId9" Type="http://schemas.openxmlformats.org/officeDocument/2006/relationships/image" Target="../media/image48.png"/><Relationship Id="rId5" Type="http://schemas.openxmlformats.org/officeDocument/2006/relationships/image" Target="../media/image43.png"/><Relationship Id="rId6" Type="http://schemas.openxmlformats.org/officeDocument/2006/relationships/image" Target="../media/image42.png"/><Relationship Id="rId7" Type="http://schemas.openxmlformats.org/officeDocument/2006/relationships/image" Target="../media/image45.png"/><Relationship Id="rId8"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Area of composite shapes</a:t>
            </a:r>
            <a:endParaRPr/>
          </a:p>
        </p:txBody>
      </p:sp>
      <p:sp>
        <p:nvSpPr>
          <p:cNvPr id="173" name="Google Shape;173;p20"/>
          <p:cNvSpPr txBox="1"/>
          <p:nvPr/>
        </p:nvSpPr>
        <p:spPr>
          <a:xfrm>
            <a:off x="468000" y="1430375"/>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Finding the area of sectors of a circle</a:t>
            </a:r>
            <a:endParaRPr b="1">
              <a:solidFill>
                <a:schemeClr val="dk1"/>
              </a:solidFill>
              <a:latin typeface="Lexend"/>
              <a:ea typeface="Lexend"/>
              <a:cs typeface="Lexend"/>
              <a:sym typeface="Lexend"/>
            </a:endParaRPr>
          </a:p>
        </p:txBody>
      </p:sp>
      <p:sp>
        <p:nvSpPr>
          <p:cNvPr id="174" name="Google Shape;174;p20"/>
          <p:cNvSpPr txBox="1"/>
          <p:nvPr/>
        </p:nvSpPr>
        <p:spPr>
          <a:xfrm>
            <a:off x="476400" y="1933125"/>
            <a:ext cx="6624000" cy="42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1) Match the circle sectors with the possible correct calculations and answers. Some calculations do not match with a sector.</a:t>
            </a:r>
            <a:endParaRPr sz="1200">
              <a:solidFill>
                <a:srgbClr val="000000"/>
              </a:solidFill>
              <a:latin typeface="Lexend"/>
              <a:ea typeface="Lexend"/>
              <a:cs typeface="Lexend"/>
              <a:sym typeface="Lexend"/>
            </a:endParaRPr>
          </a:p>
        </p:txBody>
      </p:sp>
      <p:pic>
        <p:nvPicPr>
          <p:cNvPr id="175" name="Google Shape;175;p20"/>
          <p:cNvPicPr preferRelativeResize="0"/>
          <p:nvPr/>
        </p:nvPicPr>
        <p:blipFill rotWithShape="1">
          <a:blip r:embed="rId3">
            <a:alphaModFix/>
          </a:blip>
          <a:srcRect b="73476" l="43494" r="4229" t="0"/>
          <a:stretch/>
        </p:blipFill>
        <p:spPr>
          <a:xfrm>
            <a:off x="791470" y="2564659"/>
            <a:ext cx="883835" cy="885490"/>
          </a:xfrm>
          <a:prstGeom prst="rect">
            <a:avLst/>
          </a:prstGeom>
          <a:noFill/>
          <a:ln>
            <a:noFill/>
          </a:ln>
        </p:spPr>
      </p:pic>
      <p:pic>
        <p:nvPicPr>
          <p:cNvPr id="176" name="Google Shape;176;p20"/>
          <p:cNvPicPr preferRelativeResize="0"/>
          <p:nvPr/>
        </p:nvPicPr>
        <p:blipFill rotWithShape="1">
          <a:blip r:embed="rId3">
            <a:alphaModFix/>
          </a:blip>
          <a:srcRect b="0" l="22511" r="4234" t="73476"/>
          <a:stretch/>
        </p:blipFill>
        <p:spPr>
          <a:xfrm>
            <a:off x="5546734" y="2564636"/>
            <a:ext cx="1238595" cy="885511"/>
          </a:xfrm>
          <a:prstGeom prst="rect">
            <a:avLst/>
          </a:prstGeom>
          <a:noFill/>
          <a:ln>
            <a:noFill/>
          </a:ln>
        </p:spPr>
      </p:pic>
      <p:pic>
        <p:nvPicPr>
          <p:cNvPr id="177" name="Google Shape;177;p20"/>
          <p:cNvPicPr preferRelativeResize="0"/>
          <p:nvPr/>
        </p:nvPicPr>
        <p:blipFill rotWithShape="1">
          <a:blip r:embed="rId3">
            <a:alphaModFix/>
          </a:blip>
          <a:srcRect b="36028" l="0" r="4232" t="36381"/>
          <a:stretch/>
        </p:blipFill>
        <p:spPr>
          <a:xfrm>
            <a:off x="2801437" y="2528980"/>
            <a:ext cx="1619166" cy="921169"/>
          </a:xfrm>
          <a:prstGeom prst="rect">
            <a:avLst/>
          </a:prstGeom>
          <a:noFill/>
          <a:ln>
            <a:noFill/>
          </a:ln>
        </p:spPr>
      </p:pic>
      <p:cxnSp>
        <p:nvCxnSpPr>
          <p:cNvPr id="178" name="Google Shape;178;p20"/>
          <p:cNvCxnSpPr/>
          <p:nvPr/>
        </p:nvCxnSpPr>
        <p:spPr>
          <a:xfrm>
            <a:off x="868201" y="3494600"/>
            <a:ext cx="772800" cy="0"/>
          </a:xfrm>
          <a:prstGeom prst="straightConnector1">
            <a:avLst/>
          </a:prstGeom>
          <a:noFill/>
          <a:ln cap="flat" cmpd="sng" w="38100">
            <a:solidFill>
              <a:srgbClr val="845AD9"/>
            </a:solidFill>
            <a:prstDash val="solid"/>
            <a:round/>
            <a:headEnd len="med" w="med" type="triangle"/>
            <a:tailEnd len="med" w="med" type="triangle"/>
          </a:ln>
        </p:spPr>
      </p:cxnSp>
      <p:sp>
        <p:nvSpPr>
          <p:cNvPr id="179" name="Google Shape;179;p20"/>
          <p:cNvSpPr txBox="1"/>
          <p:nvPr/>
        </p:nvSpPr>
        <p:spPr>
          <a:xfrm>
            <a:off x="741407" y="3505845"/>
            <a:ext cx="1026300" cy="249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r = 6 cm</a:t>
            </a:r>
            <a:endParaRPr sz="1200">
              <a:solidFill>
                <a:srgbClr val="000000"/>
              </a:solidFill>
              <a:latin typeface="Lexend"/>
              <a:ea typeface="Lexend"/>
              <a:cs typeface="Lexend"/>
              <a:sym typeface="Lexend"/>
            </a:endParaRPr>
          </a:p>
        </p:txBody>
      </p:sp>
      <p:cxnSp>
        <p:nvCxnSpPr>
          <p:cNvPr id="180" name="Google Shape;180;p20"/>
          <p:cNvCxnSpPr/>
          <p:nvPr/>
        </p:nvCxnSpPr>
        <p:spPr>
          <a:xfrm>
            <a:off x="3597364" y="3494608"/>
            <a:ext cx="823200" cy="0"/>
          </a:xfrm>
          <a:prstGeom prst="straightConnector1">
            <a:avLst/>
          </a:prstGeom>
          <a:noFill/>
          <a:ln cap="flat" cmpd="sng" w="38100">
            <a:solidFill>
              <a:srgbClr val="845AD9"/>
            </a:solidFill>
            <a:prstDash val="solid"/>
            <a:round/>
            <a:headEnd len="med" w="med" type="triangle"/>
            <a:tailEnd len="med" w="med" type="triangle"/>
          </a:ln>
        </p:spPr>
      </p:cxnSp>
      <p:sp>
        <p:nvSpPr>
          <p:cNvPr id="181" name="Google Shape;181;p20"/>
          <p:cNvSpPr txBox="1"/>
          <p:nvPr/>
        </p:nvSpPr>
        <p:spPr>
          <a:xfrm>
            <a:off x="3633601" y="3505863"/>
            <a:ext cx="750900" cy="249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r = 4 cm</a:t>
            </a:r>
            <a:endParaRPr sz="1200">
              <a:solidFill>
                <a:srgbClr val="000000"/>
              </a:solidFill>
              <a:latin typeface="Lexend"/>
              <a:ea typeface="Lexend"/>
              <a:cs typeface="Lexend"/>
              <a:sym typeface="Lexend"/>
            </a:endParaRPr>
          </a:p>
        </p:txBody>
      </p:sp>
      <p:sp>
        <p:nvSpPr>
          <p:cNvPr id="182" name="Google Shape;182;p20"/>
          <p:cNvSpPr txBox="1"/>
          <p:nvPr/>
        </p:nvSpPr>
        <p:spPr>
          <a:xfrm>
            <a:off x="5984638" y="2909776"/>
            <a:ext cx="453600" cy="249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120°</a:t>
            </a:r>
            <a:endParaRPr sz="1200">
              <a:solidFill>
                <a:srgbClr val="000000"/>
              </a:solidFill>
              <a:latin typeface="Lexend"/>
              <a:ea typeface="Lexend"/>
              <a:cs typeface="Lexend"/>
              <a:sym typeface="Lexend"/>
            </a:endParaRPr>
          </a:p>
        </p:txBody>
      </p:sp>
      <p:sp>
        <p:nvSpPr>
          <p:cNvPr id="183" name="Google Shape;183;p20"/>
          <p:cNvSpPr/>
          <p:nvPr/>
        </p:nvSpPr>
        <p:spPr>
          <a:xfrm>
            <a:off x="5695289" y="3111412"/>
            <a:ext cx="533400" cy="533400"/>
          </a:xfrm>
          <a:prstGeom prst="arc">
            <a:avLst>
              <a:gd fmla="val 14436066" name="adj1"/>
              <a:gd fmla="val 0" name="adj2"/>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cxnSp>
        <p:nvCxnSpPr>
          <p:cNvPr id="184" name="Google Shape;184;p20"/>
          <p:cNvCxnSpPr/>
          <p:nvPr/>
        </p:nvCxnSpPr>
        <p:spPr>
          <a:xfrm>
            <a:off x="5962643" y="3494608"/>
            <a:ext cx="823200" cy="0"/>
          </a:xfrm>
          <a:prstGeom prst="straightConnector1">
            <a:avLst/>
          </a:prstGeom>
          <a:noFill/>
          <a:ln cap="flat" cmpd="sng" w="38100">
            <a:solidFill>
              <a:srgbClr val="845AD9"/>
            </a:solidFill>
            <a:prstDash val="solid"/>
            <a:round/>
            <a:headEnd len="med" w="med" type="triangle"/>
            <a:tailEnd len="med" w="med" type="triangle"/>
          </a:ln>
        </p:spPr>
      </p:cxnSp>
      <p:sp>
        <p:nvSpPr>
          <p:cNvPr id="185" name="Google Shape;185;p20"/>
          <p:cNvSpPr txBox="1"/>
          <p:nvPr/>
        </p:nvSpPr>
        <p:spPr>
          <a:xfrm>
            <a:off x="5998881" y="3505863"/>
            <a:ext cx="750900" cy="249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r = 6 cm</a:t>
            </a:r>
            <a:endParaRPr sz="12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4}\times\pi\times6^2&quot;&gt;&lt;mfrac&gt;&lt;mn&gt;1&lt;/mn&gt;&lt;mn&gt;4&lt;/mn&gt;&lt;/mfrac&gt;&lt;mo&gt;×&lt;/mo&gt;&lt;mi&gt;π&lt;/mi&gt;&lt;mo&gt;×&lt;/mo&gt;&lt;msup&gt;&lt;mn&gt;6&lt;/mn&gt;&lt;mn&gt;2&lt;/mn&gt;&lt;/msup&gt;&lt;/math&gt;" id="186" name="Google Shape;186;p20" title="one fourth times pi times 6 squared"/>
          <p:cNvPicPr preferRelativeResize="0"/>
          <p:nvPr/>
        </p:nvPicPr>
        <p:blipFill rotWithShape="1">
          <a:blip r:embed="rId4">
            <a:alphaModFix/>
          </a:blip>
          <a:srcRect b="0" l="0" r="0" t="0"/>
          <a:stretch/>
        </p:blipFill>
        <p:spPr>
          <a:xfrm>
            <a:off x="901052" y="3820740"/>
            <a:ext cx="930289" cy="443470"/>
          </a:xfrm>
          <a:prstGeom prst="rect">
            <a:avLst/>
          </a:prstGeom>
          <a:noFill/>
          <a:ln>
            <a:noFill/>
          </a:ln>
        </p:spPr>
      </p:pic>
      <p:pic>
        <p:nvPicPr>
          <p:cNvPr descr="&lt;math xmlns=&quot;http://www.w3.org/1998/Math/MathML&quot; display=&quot;block&quot; data-is-equatio=&quot;1&quot; data-latex=&quot;\frac{1}{2}\times\pi\times4^2&quot;&gt;&lt;mfrac&gt;&lt;mn&gt;1&lt;/mn&gt;&lt;mn&gt;2&lt;/mn&gt;&lt;/mfrac&gt;&lt;mo&gt;×&lt;/mo&gt;&lt;mi&gt;π&lt;/mi&gt;&lt;mo&gt;×&lt;/mo&gt;&lt;msup&gt;&lt;mn&gt;4&lt;/mn&gt;&lt;mn&gt;2&lt;/mn&gt;&lt;/msup&gt;&lt;/math&gt;" id="187" name="Google Shape;187;p20" title="one half times pi times 4 squared"/>
          <p:cNvPicPr preferRelativeResize="0"/>
          <p:nvPr/>
        </p:nvPicPr>
        <p:blipFill rotWithShape="1">
          <a:blip r:embed="rId5">
            <a:alphaModFix/>
          </a:blip>
          <a:srcRect b="0" l="0" r="0" t="0"/>
          <a:stretch/>
        </p:blipFill>
        <p:spPr>
          <a:xfrm>
            <a:off x="3067068" y="3820740"/>
            <a:ext cx="930289" cy="443470"/>
          </a:xfrm>
          <a:prstGeom prst="rect">
            <a:avLst/>
          </a:prstGeom>
          <a:noFill/>
          <a:ln>
            <a:noFill/>
          </a:ln>
        </p:spPr>
      </p:pic>
      <p:grpSp>
        <p:nvGrpSpPr>
          <p:cNvPr id="188" name="Google Shape;188;p20"/>
          <p:cNvGrpSpPr/>
          <p:nvPr/>
        </p:nvGrpSpPr>
        <p:grpSpPr>
          <a:xfrm>
            <a:off x="2801442" y="3934407"/>
            <a:ext cx="216118" cy="216118"/>
            <a:chOff x="1020916" y="1442088"/>
            <a:chExt cx="457200" cy="457200"/>
          </a:xfrm>
        </p:grpSpPr>
        <p:pic>
          <p:nvPicPr>
            <p:cNvPr id="189" name="Google Shape;189;p20"/>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90" name="Google Shape;190;p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191" name="Google Shape;191;p20"/>
          <p:cNvGrpSpPr/>
          <p:nvPr/>
        </p:nvGrpSpPr>
        <p:grpSpPr>
          <a:xfrm>
            <a:off x="5330604" y="3934407"/>
            <a:ext cx="216118" cy="216118"/>
            <a:chOff x="1020916" y="1442088"/>
            <a:chExt cx="457200" cy="457200"/>
          </a:xfrm>
        </p:grpSpPr>
        <p:pic>
          <p:nvPicPr>
            <p:cNvPr id="192" name="Google Shape;192;p20"/>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93" name="Google Shape;193;p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194" name="Google Shape;194;p20"/>
          <p:cNvGrpSpPr/>
          <p:nvPr/>
        </p:nvGrpSpPr>
        <p:grpSpPr>
          <a:xfrm>
            <a:off x="635426" y="3934407"/>
            <a:ext cx="216118" cy="216118"/>
            <a:chOff x="1020916" y="1442088"/>
            <a:chExt cx="457200" cy="457200"/>
          </a:xfrm>
        </p:grpSpPr>
        <p:pic>
          <p:nvPicPr>
            <p:cNvPr id="195" name="Google Shape;195;p20"/>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96" name="Google Shape;196;p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grpSp>
        <p:nvGrpSpPr>
          <p:cNvPr id="197" name="Google Shape;197;p20"/>
          <p:cNvGrpSpPr/>
          <p:nvPr/>
        </p:nvGrpSpPr>
        <p:grpSpPr>
          <a:xfrm>
            <a:off x="635426" y="4412105"/>
            <a:ext cx="216118" cy="216118"/>
            <a:chOff x="1020916" y="1442088"/>
            <a:chExt cx="457200" cy="457200"/>
          </a:xfrm>
        </p:grpSpPr>
        <p:pic>
          <p:nvPicPr>
            <p:cNvPr id="198" name="Google Shape;198;p20"/>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199" name="Google Shape;199;p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g</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9\pi&quot;&gt;&lt;mn&gt;9&lt;/mn&gt;&lt;mi&gt;π&lt;/mi&gt;&lt;/math&gt;" id="200" name="Google Shape;200;p20" title="9 pi"/>
          <p:cNvPicPr preferRelativeResize="0"/>
          <p:nvPr/>
        </p:nvPicPr>
        <p:blipFill rotWithShape="1">
          <a:blip r:embed="rId7">
            <a:alphaModFix/>
          </a:blip>
          <a:srcRect b="0" l="0" r="0" t="0"/>
          <a:stretch/>
        </p:blipFill>
        <p:spPr>
          <a:xfrm>
            <a:off x="900663" y="4451407"/>
            <a:ext cx="201714" cy="137532"/>
          </a:xfrm>
          <a:prstGeom prst="rect">
            <a:avLst/>
          </a:prstGeom>
          <a:noFill/>
          <a:ln>
            <a:noFill/>
          </a:ln>
        </p:spPr>
      </p:pic>
      <p:grpSp>
        <p:nvGrpSpPr>
          <p:cNvPr id="201" name="Google Shape;201;p20"/>
          <p:cNvGrpSpPr/>
          <p:nvPr/>
        </p:nvGrpSpPr>
        <p:grpSpPr>
          <a:xfrm>
            <a:off x="2801442" y="4412095"/>
            <a:ext cx="216118" cy="216118"/>
            <a:chOff x="1020916" y="1442088"/>
            <a:chExt cx="457200" cy="457200"/>
          </a:xfrm>
        </p:grpSpPr>
        <p:pic>
          <p:nvPicPr>
            <p:cNvPr id="202" name="Google Shape;202;p20"/>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203" name="Google Shape;203;p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f</a:t>
              </a:r>
              <a:endParaRPr b="1" i="0" sz="1800" u="none" cap="none" strike="noStrike">
                <a:solidFill>
                  <a:srgbClr val="FFFFFF"/>
                </a:solidFill>
                <a:latin typeface="Lexend"/>
                <a:ea typeface="Lexend"/>
                <a:cs typeface="Lexend"/>
                <a:sym typeface="Lexend"/>
              </a:endParaRPr>
            </a:p>
          </p:txBody>
        </p:sp>
      </p:grpSp>
      <p:grpSp>
        <p:nvGrpSpPr>
          <p:cNvPr id="204" name="Google Shape;204;p20"/>
          <p:cNvGrpSpPr/>
          <p:nvPr/>
        </p:nvGrpSpPr>
        <p:grpSpPr>
          <a:xfrm>
            <a:off x="5330604" y="4412095"/>
            <a:ext cx="216118" cy="216118"/>
            <a:chOff x="1020916" y="1442088"/>
            <a:chExt cx="457200" cy="457200"/>
          </a:xfrm>
        </p:grpSpPr>
        <p:pic>
          <p:nvPicPr>
            <p:cNvPr id="205" name="Google Shape;205;p20"/>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206" name="Google Shape;206;p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h</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8\pi&quot;&gt;&lt;mn&gt;8&lt;/mn&gt;&lt;mi&gt;π&lt;/mi&gt;&lt;/math&gt;" id="207" name="Google Shape;207;p20" title="8 pi"/>
          <p:cNvPicPr preferRelativeResize="0"/>
          <p:nvPr/>
        </p:nvPicPr>
        <p:blipFill rotWithShape="1">
          <a:blip r:embed="rId8">
            <a:alphaModFix/>
          </a:blip>
          <a:srcRect b="0" l="0" r="0" t="0"/>
          <a:stretch/>
        </p:blipFill>
        <p:spPr>
          <a:xfrm>
            <a:off x="3064378" y="4451397"/>
            <a:ext cx="206298" cy="137532"/>
          </a:xfrm>
          <a:prstGeom prst="rect">
            <a:avLst/>
          </a:prstGeom>
          <a:noFill/>
          <a:ln>
            <a:noFill/>
          </a:ln>
        </p:spPr>
      </p:pic>
      <p:pic>
        <p:nvPicPr>
          <p:cNvPr descr="&lt;math xmlns=&quot;http://www.w3.org/1998/Math/MathML&quot; display=&quot;block&quot; data-is-equatio=&quot;1&quot; data-latex=&quot;\frac{1}{3}\times\pi\times6^2&quot;&gt;&lt;mfrac&gt;&lt;mn&gt;1&lt;/mn&gt;&lt;mn&gt;3&lt;/mn&gt;&lt;/mfrac&gt;&lt;mo&gt;×&lt;/mo&gt;&lt;mi&gt;π&lt;/mi&gt;&lt;mo&gt;×&lt;/mo&gt;&lt;msup&gt;&lt;mn&gt;6&lt;/mn&gt;&lt;mn&gt;2&lt;/mn&gt;&lt;/msup&gt;&lt;/math&gt;" id="208" name="Google Shape;208;p20" title="one third times pi times 6 squared"/>
          <p:cNvPicPr preferRelativeResize="0"/>
          <p:nvPr/>
        </p:nvPicPr>
        <p:blipFill rotWithShape="1">
          <a:blip r:embed="rId9">
            <a:alphaModFix/>
          </a:blip>
          <a:srcRect b="0" l="0" r="0" t="0"/>
          <a:stretch/>
        </p:blipFill>
        <p:spPr>
          <a:xfrm>
            <a:off x="5593549" y="3820730"/>
            <a:ext cx="922420" cy="443470"/>
          </a:xfrm>
          <a:prstGeom prst="rect">
            <a:avLst/>
          </a:prstGeom>
          <a:noFill/>
          <a:ln>
            <a:noFill/>
          </a:ln>
        </p:spPr>
      </p:pic>
      <p:pic>
        <p:nvPicPr>
          <p:cNvPr descr="&lt;math xmlns=&quot;http://www.w3.org/1998/Math/MathML&quot; display=&quot;block&quot; data-is-equatio=&quot;1&quot; data-latex=&quot;12\pi&quot;&gt;&lt;mn&gt;12&lt;/mn&gt;&lt;mi&gt;π&lt;/mi&gt;&lt;/math&gt;" id="209" name="Google Shape;209;p20" title="12 pi"/>
          <p:cNvPicPr preferRelativeResize="0"/>
          <p:nvPr/>
        </p:nvPicPr>
        <p:blipFill rotWithShape="1">
          <a:blip r:embed="rId10">
            <a:alphaModFix/>
          </a:blip>
          <a:srcRect b="0" l="0" r="0" t="0"/>
          <a:stretch/>
        </p:blipFill>
        <p:spPr>
          <a:xfrm>
            <a:off x="5593540" y="4451407"/>
            <a:ext cx="285379" cy="137532"/>
          </a:xfrm>
          <a:prstGeom prst="rect">
            <a:avLst/>
          </a:prstGeom>
          <a:noFill/>
          <a:ln>
            <a:noFill/>
          </a:ln>
        </p:spPr>
      </p:pic>
      <p:pic>
        <p:nvPicPr>
          <p:cNvPr id="210" name="Google Shape;210;p20"/>
          <p:cNvPicPr preferRelativeResize="0"/>
          <p:nvPr/>
        </p:nvPicPr>
        <p:blipFill rotWithShape="1">
          <a:blip r:embed="rId11">
            <a:alphaModFix/>
          </a:blip>
          <a:srcRect b="3" l="10477" r="16763" t="65970"/>
          <a:stretch/>
        </p:blipFill>
        <p:spPr>
          <a:xfrm>
            <a:off x="686533" y="8543061"/>
            <a:ext cx="1139248" cy="1024856"/>
          </a:xfrm>
          <a:prstGeom prst="rect">
            <a:avLst/>
          </a:prstGeom>
          <a:noFill/>
          <a:ln>
            <a:noFill/>
          </a:ln>
        </p:spPr>
      </p:pic>
      <p:cxnSp>
        <p:nvCxnSpPr>
          <p:cNvPr id="211" name="Google Shape;211;p20"/>
          <p:cNvCxnSpPr/>
          <p:nvPr/>
        </p:nvCxnSpPr>
        <p:spPr>
          <a:xfrm>
            <a:off x="1240292" y="9178402"/>
            <a:ext cx="526800" cy="0"/>
          </a:xfrm>
          <a:prstGeom prst="straightConnector1">
            <a:avLst/>
          </a:prstGeom>
          <a:noFill/>
          <a:ln cap="flat" cmpd="sng" w="19050">
            <a:solidFill>
              <a:srgbClr val="845AD9"/>
            </a:solidFill>
            <a:prstDash val="solid"/>
            <a:round/>
            <a:headEnd len="med" w="med" type="triangle"/>
            <a:tailEnd len="med" w="med" type="triangle"/>
          </a:ln>
        </p:spPr>
      </p:cxnSp>
      <p:sp>
        <p:nvSpPr>
          <p:cNvPr id="212" name="Google Shape;212;p20"/>
          <p:cNvSpPr txBox="1"/>
          <p:nvPr/>
        </p:nvSpPr>
        <p:spPr>
          <a:xfrm>
            <a:off x="1209410" y="9186400"/>
            <a:ext cx="588600" cy="17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57 cm</a:t>
            </a:r>
            <a:endParaRPr sz="1200">
              <a:solidFill>
                <a:srgbClr val="000000"/>
              </a:solidFill>
              <a:latin typeface="Lexend"/>
              <a:ea typeface="Lexend"/>
              <a:cs typeface="Lexend"/>
              <a:sym typeface="Lexend"/>
            </a:endParaRPr>
          </a:p>
        </p:txBody>
      </p:sp>
      <p:sp>
        <p:nvSpPr>
          <p:cNvPr id="213" name="Google Shape;213;p20"/>
          <p:cNvSpPr txBox="1"/>
          <p:nvPr/>
        </p:nvSpPr>
        <p:spPr>
          <a:xfrm>
            <a:off x="911291" y="8771016"/>
            <a:ext cx="465900" cy="17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240°</a:t>
            </a:r>
            <a:endParaRPr sz="1200">
              <a:solidFill>
                <a:srgbClr val="000000"/>
              </a:solidFill>
              <a:latin typeface="Lexend"/>
              <a:ea typeface="Lexend"/>
              <a:cs typeface="Lexend"/>
              <a:sym typeface="Lexend"/>
            </a:endParaRPr>
          </a:p>
        </p:txBody>
      </p:sp>
      <p:pic>
        <p:nvPicPr>
          <p:cNvPr id="214" name="Google Shape;214;p20"/>
          <p:cNvPicPr preferRelativeResize="0"/>
          <p:nvPr/>
        </p:nvPicPr>
        <p:blipFill rotWithShape="1">
          <a:blip r:embed="rId11">
            <a:alphaModFix/>
          </a:blip>
          <a:srcRect b="63865" l="10477" r="16763" t="0"/>
          <a:stretch/>
        </p:blipFill>
        <p:spPr>
          <a:xfrm>
            <a:off x="704104" y="7268868"/>
            <a:ext cx="1120732" cy="1070695"/>
          </a:xfrm>
          <a:prstGeom prst="rect">
            <a:avLst/>
          </a:prstGeom>
          <a:noFill/>
          <a:ln>
            <a:noFill/>
          </a:ln>
        </p:spPr>
      </p:pic>
      <p:pic>
        <p:nvPicPr>
          <p:cNvPr id="215" name="Google Shape;215;p20"/>
          <p:cNvPicPr preferRelativeResize="0"/>
          <p:nvPr/>
        </p:nvPicPr>
        <p:blipFill rotWithShape="1">
          <a:blip r:embed="rId11">
            <a:alphaModFix/>
          </a:blip>
          <a:srcRect b="43666" l="10477" r="16763" t="36768"/>
          <a:stretch/>
        </p:blipFill>
        <p:spPr>
          <a:xfrm>
            <a:off x="652228" y="6200193"/>
            <a:ext cx="1225294" cy="633783"/>
          </a:xfrm>
          <a:prstGeom prst="rect">
            <a:avLst/>
          </a:prstGeom>
          <a:noFill/>
          <a:ln>
            <a:noFill/>
          </a:ln>
        </p:spPr>
      </p:pic>
      <p:cxnSp>
        <p:nvCxnSpPr>
          <p:cNvPr id="216" name="Google Shape;216;p20"/>
          <p:cNvCxnSpPr/>
          <p:nvPr/>
        </p:nvCxnSpPr>
        <p:spPr>
          <a:xfrm>
            <a:off x="1247813" y="6858695"/>
            <a:ext cx="566700" cy="0"/>
          </a:xfrm>
          <a:prstGeom prst="straightConnector1">
            <a:avLst/>
          </a:prstGeom>
          <a:noFill/>
          <a:ln cap="flat" cmpd="sng" w="19050">
            <a:solidFill>
              <a:srgbClr val="845AD9"/>
            </a:solidFill>
            <a:prstDash val="solid"/>
            <a:round/>
            <a:headEnd len="med" w="med" type="triangle"/>
            <a:tailEnd len="med" w="med" type="triangle"/>
          </a:ln>
        </p:spPr>
      </p:cxnSp>
      <p:sp>
        <p:nvSpPr>
          <p:cNvPr id="217" name="Google Shape;217;p20"/>
          <p:cNvSpPr txBox="1"/>
          <p:nvPr/>
        </p:nvSpPr>
        <p:spPr>
          <a:xfrm>
            <a:off x="1214599" y="6867297"/>
            <a:ext cx="633000" cy="19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30 cm</a:t>
            </a:r>
            <a:endParaRPr sz="1200">
              <a:solidFill>
                <a:srgbClr val="000000"/>
              </a:solidFill>
              <a:latin typeface="Lexend"/>
              <a:ea typeface="Lexend"/>
              <a:cs typeface="Lexend"/>
              <a:sym typeface="Lexend"/>
            </a:endParaRPr>
          </a:p>
        </p:txBody>
      </p:sp>
      <p:cxnSp>
        <p:nvCxnSpPr>
          <p:cNvPr id="218" name="Google Shape;218;p20"/>
          <p:cNvCxnSpPr/>
          <p:nvPr/>
        </p:nvCxnSpPr>
        <p:spPr>
          <a:xfrm>
            <a:off x="1255201" y="7717048"/>
            <a:ext cx="465900" cy="0"/>
          </a:xfrm>
          <a:prstGeom prst="straightConnector1">
            <a:avLst/>
          </a:prstGeom>
          <a:noFill/>
          <a:ln cap="flat" cmpd="sng" w="19050">
            <a:solidFill>
              <a:srgbClr val="845AD9"/>
            </a:solidFill>
            <a:prstDash val="solid"/>
            <a:round/>
            <a:headEnd len="med" w="med" type="triangle"/>
            <a:tailEnd len="med" w="med" type="triangle"/>
          </a:ln>
        </p:spPr>
      </p:cxnSp>
      <p:graphicFrame>
        <p:nvGraphicFramePr>
          <p:cNvPr id="219" name="Google Shape;219;p20"/>
          <p:cNvGraphicFramePr/>
          <p:nvPr/>
        </p:nvGraphicFramePr>
        <p:xfrm>
          <a:off x="476388" y="5767405"/>
          <a:ext cx="3000000" cy="3000000"/>
        </p:xfrm>
        <a:graphic>
          <a:graphicData uri="http://schemas.openxmlformats.org/drawingml/2006/table">
            <a:tbl>
              <a:tblPr>
                <a:noFill/>
                <a:tableStyleId>{2AF778D5-40E4-44AF-9910-FE7702755821}</a:tableStyleId>
              </a:tblPr>
              <a:tblGrid>
                <a:gridCol w="1758800"/>
                <a:gridCol w="1794200"/>
                <a:gridCol w="1545525"/>
                <a:gridCol w="1525475"/>
              </a:tblGrid>
              <a:tr h="280850">
                <a:tc>
                  <a:txBody>
                    <a:bodyPr/>
                    <a:lstStyle/>
                    <a:p>
                      <a:pPr indent="0" lvl="0" marL="0" marR="0" rtl="0" algn="ctr">
                        <a:lnSpc>
                          <a:spcPct val="100000"/>
                        </a:lnSpc>
                        <a:spcBef>
                          <a:spcPts val="0"/>
                        </a:spcBef>
                        <a:spcAft>
                          <a:spcPts val="0"/>
                        </a:spcAft>
                        <a:buClr>
                          <a:srgbClr val="000000"/>
                        </a:buClr>
                        <a:buSzPts val="1600"/>
                        <a:buFont typeface="Arial"/>
                        <a:buNone/>
                      </a:pPr>
                      <a:r>
                        <a:rPr b="1" lang="en-GB" sz="1200" u="none" cap="none" strike="noStrike">
                          <a:solidFill>
                            <a:schemeClr val="dk1"/>
                          </a:solidFill>
                          <a:latin typeface="Lexend"/>
                          <a:ea typeface="Lexend"/>
                          <a:cs typeface="Lexend"/>
                          <a:sym typeface="Lexend"/>
                        </a:rPr>
                        <a:t>sector</a:t>
                      </a:r>
                      <a:endParaRPr b="1" sz="1200" u="none" cap="none" strike="noStrike">
                        <a:solidFill>
                          <a:schemeClr val="dk1"/>
                        </a:solidFill>
                        <a:latin typeface="Lexend"/>
                        <a:ea typeface="Lexend"/>
                        <a:cs typeface="Lexend"/>
                        <a:sym typeface="Lexend"/>
                      </a:endParaRPr>
                    </a:p>
                  </a:txBody>
                  <a:tcPr marT="18000" marB="180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200" u="none" cap="none" strike="noStrike">
                          <a:solidFill>
                            <a:schemeClr val="dk1"/>
                          </a:solidFill>
                          <a:latin typeface="Lexend"/>
                          <a:ea typeface="Lexend"/>
                          <a:cs typeface="Lexend"/>
                          <a:sym typeface="Lexend"/>
                        </a:rPr>
                        <a:t>step 1</a:t>
                      </a:r>
                      <a:endParaRPr b="1" sz="1200" u="none" cap="none" strike="noStrike">
                        <a:solidFill>
                          <a:schemeClr val="dk1"/>
                        </a:solidFill>
                        <a:latin typeface="Lexend"/>
                        <a:ea typeface="Lexend"/>
                        <a:cs typeface="Lexend"/>
                        <a:sym typeface="Lexend"/>
                      </a:endParaRPr>
                    </a:p>
                  </a:txBody>
                  <a:tcPr marT="18000" marB="180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200" u="none" cap="none" strike="noStrike">
                          <a:solidFill>
                            <a:schemeClr val="dk1"/>
                          </a:solidFill>
                          <a:latin typeface="Lexend"/>
                          <a:ea typeface="Lexend"/>
                          <a:cs typeface="Lexend"/>
                          <a:sym typeface="Lexend"/>
                        </a:rPr>
                        <a:t>step 2</a:t>
                      </a:r>
                      <a:endParaRPr b="1" sz="1200" u="none" cap="none" strike="noStrike">
                        <a:solidFill>
                          <a:schemeClr val="dk1"/>
                        </a:solidFill>
                        <a:latin typeface="Lexend"/>
                        <a:ea typeface="Lexend"/>
                        <a:cs typeface="Lexend"/>
                        <a:sym typeface="Lexend"/>
                      </a:endParaRPr>
                    </a:p>
                  </a:txBody>
                  <a:tcPr marT="18000" marB="180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200" u="none" cap="none" strike="noStrike">
                          <a:solidFill>
                            <a:schemeClr val="dk1"/>
                          </a:solidFill>
                          <a:latin typeface="Lexend"/>
                          <a:ea typeface="Lexend"/>
                          <a:cs typeface="Lexend"/>
                          <a:sym typeface="Lexend"/>
                        </a:rPr>
                        <a:t>answer (cm²)</a:t>
                      </a:r>
                      <a:endParaRPr b="1" sz="1200" u="none" cap="none" strike="noStrike">
                        <a:solidFill>
                          <a:schemeClr val="dk1"/>
                        </a:solidFill>
                        <a:latin typeface="Lexend"/>
                        <a:ea typeface="Lexend"/>
                        <a:cs typeface="Lexend"/>
                        <a:sym typeface="Lexend"/>
                      </a:endParaRPr>
                    </a:p>
                  </a:txBody>
                  <a:tcPr marT="18000" marB="180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481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GB" u="none" cap="none" strike="noStrike">
                          <a:latin typeface="Times New Roman"/>
                          <a:ea typeface="Times New Roman"/>
                          <a:cs typeface="Times New Roman"/>
                          <a:sym typeface="Times New Roman"/>
                        </a:rPr>
                        <a:t>450</a:t>
                      </a:r>
                      <a:r>
                        <a:rPr i="1" lang="en-GB" u="none" cap="none" strike="noStrike">
                          <a:latin typeface="Times New Roman"/>
                          <a:ea typeface="Times New Roman"/>
                          <a:cs typeface="Times New Roman"/>
                          <a:sym typeface="Times New Roman"/>
                        </a:rPr>
                        <a:t>π</a:t>
                      </a:r>
                      <a:endParaRPr i="1"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lang="en-GB" u="none" cap="none" strike="noStrike">
                          <a:latin typeface="Times New Roman"/>
                          <a:ea typeface="Times New Roman"/>
                          <a:cs typeface="Times New Roman"/>
                          <a:sym typeface="Times New Roman"/>
                        </a:rPr>
                        <a:t>1413.7</a:t>
                      </a:r>
                      <a:endParaRPr u="none" cap="none" strike="noStrike">
                        <a:latin typeface="Times New Roman"/>
                        <a:ea typeface="Times New Roman"/>
                        <a:cs typeface="Times New Roman"/>
                        <a:sym typeface="Times New Roman"/>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480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lang="en-GB" u="none" cap="none" strike="noStrike">
                          <a:solidFill>
                            <a:srgbClr val="000000"/>
                          </a:solidFill>
                          <a:latin typeface="Times New Roman"/>
                          <a:ea typeface="Times New Roman"/>
                          <a:cs typeface="Times New Roman"/>
                          <a:sym typeface="Times New Roman"/>
                        </a:rPr>
                        <a:t> 243π</a:t>
                      </a:r>
                      <a:endParaRPr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lang="en-GB" u="none" cap="none" strike="noStrike">
                          <a:solidFill>
                            <a:srgbClr val="000000"/>
                          </a:solidFill>
                          <a:latin typeface="Times New Roman"/>
                          <a:ea typeface="Times New Roman"/>
                          <a:cs typeface="Times New Roman"/>
                          <a:sym typeface="Times New Roman"/>
                        </a:rPr>
                        <a:t>763.4</a:t>
                      </a:r>
                      <a:endParaRPr u="none" cap="none" strike="noStrike">
                        <a:solidFill>
                          <a:srgbClr val="000000"/>
                        </a:solidFill>
                        <a:latin typeface="Times New Roman"/>
                        <a:ea typeface="Times New Roman"/>
                        <a:cs typeface="Times New Roman"/>
                        <a:sym typeface="Times New Roman"/>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364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lang="en-GB" u="none" cap="none" strike="noStrike">
                          <a:solidFill>
                            <a:srgbClr val="000000"/>
                          </a:solidFill>
                          <a:latin typeface="Times New Roman"/>
                          <a:ea typeface="Times New Roman"/>
                          <a:cs typeface="Times New Roman"/>
                          <a:sym typeface="Times New Roman"/>
                        </a:rPr>
                        <a:t>2166</a:t>
                      </a:r>
                      <a:r>
                        <a:rPr i="1" lang="en-GB" u="none" cap="none" strike="noStrike">
                          <a:solidFill>
                            <a:srgbClr val="000000"/>
                          </a:solidFill>
                          <a:latin typeface="Times New Roman"/>
                          <a:ea typeface="Times New Roman"/>
                          <a:cs typeface="Times New Roman"/>
                          <a:sym typeface="Times New Roman"/>
                        </a:rPr>
                        <a:t>π</a:t>
                      </a:r>
                      <a:endParaRPr i="1"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rgbClr val="000000"/>
                          </a:solidFill>
                          <a:latin typeface="Times New Roman"/>
                          <a:ea typeface="Times New Roman"/>
                          <a:cs typeface="Times New Roman"/>
                          <a:sym typeface="Times New Roman"/>
                        </a:rPr>
                        <a:t>6804.7</a:t>
                      </a:r>
                      <a:endParaRPr i="1" u="none" cap="none" strike="noStrike">
                        <a:solidFill>
                          <a:srgbClr val="000000"/>
                        </a:solidFill>
                        <a:latin typeface="Times New Roman"/>
                        <a:ea typeface="Times New Roman"/>
                        <a:cs typeface="Times New Roman"/>
                        <a:sym typeface="Times New Roman"/>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20" name="Google Shape;220;p20"/>
          <p:cNvSpPr txBox="1"/>
          <p:nvPr/>
        </p:nvSpPr>
        <p:spPr>
          <a:xfrm flipH="1">
            <a:off x="1072151" y="7483699"/>
            <a:ext cx="718500" cy="19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18 cm</a:t>
            </a:r>
            <a:endParaRPr sz="1200">
              <a:solidFill>
                <a:srgbClr val="000000"/>
              </a:solidFill>
              <a:latin typeface="Lexend"/>
              <a:ea typeface="Lexend"/>
              <a:cs typeface="Lexend"/>
              <a:sym typeface="Lexend"/>
            </a:endParaRPr>
          </a:p>
        </p:txBody>
      </p:sp>
      <p:sp>
        <p:nvSpPr>
          <p:cNvPr id="221" name="Google Shape;221;p20"/>
          <p:cNvSpPr txBox="1"/>
          <p:nvPr/>
        </p:nvSpPr>
        <p:spPr>
          <a:xfrm>
            <a:off x="468000" y="5290050"/>
            <a:ext cx="6624000" cy="42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2) Complete the table. Give your answer both as a decimal (rounded to 1 d.p.) and in terms of </a:t>
            </a:r>
            <a:r>
              <a:rPr lang="en-GB" sz="1200">
                <a:solidFill>
                  <a:srgbClr val="000000"/>
                </a:solidFill>
                <a:latin typeface="Times New Roman"/>
                <a:ea typeface="Times New Roman"/>
                <a:cs typeface="Times New Roman"/>
                <a:sym typeface="Times New Roman"/>
              </a:rPr>
              <a:t>π</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2}\times\pi\times900&quot;&gt;&lt;mfrac&gt;&lt;mn&gt;1&lt;/mn&gt;&lt;mn&gt;2&lt;/mn&gt;&lt;/mfrac&gt;&lt;mo&gt;×&lt;/mo&gt;&lt;mi&gt;π&lt;/mi&gt;&lt;mo&gt;×&lt;/mo&gt;&lt;mn&gt;900&lt;/mn&gt;&lt;/math&gt;" id="222" name="Google Shape;222;p20" title="one half times pi times 900"/>
          <p:cNvPicPr preferRelativeResize="0"/>
          <p:nvPr/>
        </p:nvPicPr>
        <p:blipFill rotWithShape="1">
          <a:blip r:embed="rId12">
            <a:alphaModFix/>
          </a:blip>
          <a:srcRect b="0" l="0" r="0" t="0"/>
          <a:stretch/>
        </p:blipFill>
        <p:spPr>
          <a:xfrm>
            <a:off x="4293175" y="6415285"/>
            <a:ext cx="1003711" cy="415905"/>
          </a:xfrm>
          <a:prstGeom prst="rect">
            <a:avLst/>
          </a:prstGeom>
          <a:noFill/>
          <a:ln>
            <a:noFill/>
          </a:ln>
        </p:spPr>
      </p:pic>
      <p:pic>
        <p:nvPicPr>
          <p:cNvPr descr="&lt;math xmlns=&quot;http://www.w3.org/1998/Math/MathML&quot; display=&quot;block&quot; data-is-equatio=&quot;1&quot; data-latex=&quot;\frac{3}{4}\times\pi\times18^2&quot;&gt;&lt;mfrac&gt;&lt;mn&gt;3&lt;/mn&gt;&lt;mn&gt;4&lt;/mn&gt;&lt;/mfrac&gt;&lt;mo&gt;×&lt;/mo&gt;&lt;mi&gt;π&lt;/mi&gt;&lt;mo&gt;×&lt;/mo&gt;&lt;msup&gt;&lt;mn&gt;18&lt;/mn&gt;&lt;mn&gt;2&lt;/mn&gt;&lt;/msup&gt;&lt;/math&gt;" id="223" name="Google Shape;223;p20" title="three fourths times pi times 18 squared"/>
          <p:cNvPicPr preferRelativeResize="0"/>
          <p:nvPr/>
        </p:nvPicPr>
        <p:blipFill rotWithShape="1">
          <a:blip r:embed="rId13">
            <a:alphaModFix/>
          </a:blip>
          <a:srcRect b="0" l="0" r="0" t="0"/>
          <a:stretch/>
        </p:blipFill>
        <p:spPr>
          <a:xfrm>
            <a:off x="2513303" y="7569175"/>
            <a:ext cx="1099925" cy="470054"/>
          </a:xfrm>
          <a:prstGeom prst="rect">
            <a:avLst/>
          </a:prstGeom>
          <a:noFill/>
          <a:ln>
            <a:noFill/>
          </a:ln>
        </p:spPr>
      </p:pic>
      <p:pic>
        <p:nvPicPr>
          <p:cNvPr descr="&lt;math xmlns=&quot;http://www.w3.org/1998/Math/MathML&quot; display=&quot;block&quot; data-is-equatio=&quot;1&quot; data-latex=&quot;\frac{1}{2}\times\pi\times30^2&quot;&gt;&lt;mfrac&gt;&lt;mn&gt;1&lt;/mn&gt;&lt;mn&gt;2&lt;/mn&gt;&lt;/mfrac&gt;&lt;mo&gt;×&lt;/mo&gt;&lt;mi&gt;π&lt;/mi&gt;&lt;mo&gt;×&lt;/mo&gt;&lt;msup&gt;&lt;mn&gt;30&lt;/mn&gt;&lt;mn&gt;2&lt;/mn&gt;&lt;/msup&gt;&lt;/math&gt;" id="224" name="Google Shape;224;p20" title="one half times pi times 30 squared"/>
          <p:cNvPicPr preferRelativeResize="0"/>
          <p:nvPr/>
        </p:nvPicPr>
        <p:blipFill rotWithShape="1">
          <a:blip r:embed="rId14">
            <a:alphaModFix/>
          </a:blip>
          <a:srcRect b="0" l="0" r="0" t="0"/>
          <a:stretch/>
        </p:blipFill>
        <p:spPr>
          <a:xfrm>
            <a:off x="2575964" y="6414986"/>
            <a:ext cx="974617" cy="416504"/>
          </a:xfrm>
          <a:prstGeom prst="rect">
            <a:avLst/>
          </a:prstGeom>
          <a:noFill/>
          <a:ln>
            <a:noFill/>
          </a:ln>
        </p:spPr>
      </p:pic>
      <p:pic>
        <p:nvPicPr>
          <p:cNvPr descr="&lt;math xmlns=&quot;http://www.w3.org/1998/Math/MathML&quot; display=&quot;block&quot; data-is-equatio=&quot;1&quot; data-latex=&quot;\frac{\ \ \ \ \ \ \ }{ }\times\pi\times57^2&quot;&gt;&lt;mfrac&gt;&lt;mrow&gt;&lt;mtext&gt;&lt;/mtext&gt;&lt;mtext&gt;&lt;/mtext&gt;&lt;mtext&gt;&lt;/mtext&gt;&lt;mtext&gt;&lt;/mtext&gt;&lt;mtext&gt;&lt;/mtext&gt;&lt;mtext&gt;&lt;/mtext&gt;&lt;mtext&gt;&lt;/mtext&gt;&lt;/mrow&gt;&lt;mrow/&gt;&lt;/mfrac&gt;&lt;mo&gt;×&lt;/mo&gt;&lt;mi&gt;π&lt;/mi&gt;&lt;mo&gt;×&lt;/mo&gt;&lt;msup&gt;&lt;mn&gt;57&lt;/mn&gt;&lt;mn&gt;2&lt;/mn&gt;&lt;/msup&gt;&lt;/math&gt;" id="225" name="Google Shape;225;p20" title="the fraction with numerator and denominator times pi times 57 squared"/>
          <p:cNvPicPr preferRelativeResize="0"/>
          <p:nvPr/>
        </p:nvPicPr>
        <p:blipFill rotWithShape="1">
          <a:blip r:embed="rId15">
            <a:alphaModFix/>
          </a:blip>
          <a:srcRect b="0" l="6933" r="0" t="0"/>
          <a:stretch/>
        </p:blipFill>
        <p:spPr>
          <a:xfrm>
            <a:off x="2371762" y="8627674"/>
            <a:ext cx="1357786" cy="223127"/>
          </a:xfrm>
          <a:prstGeom prst="rect">
            <a:avLst/>
          </a:prstGeom>
          <a:noFill/>
          <a:ln>
            <a:noFill/>
          </a:ln>
        </p:spPr>
      </p:pic>
      <p:pic>
        <p:nvPicPr>
          <p:cNvPr descr="&lt;math xmlns=&quot;http://www.w3.org/1998/Math/MathML&quot; display=&quot;block&quot; data-is-equatio=&quot;1&quot; data-latex=&quot;\frac{2}{3}\times\pi\times3249&quot;&gt;&lt;mfrac&gt;&lt;mn&gt;2&lt;/mn&gt;&lt;mn&gt;3&lt;/mn&gt;&lt;/mfrac&gt;&lt;mo&gt;×&lt;/mo&gt;&lt;mi&gt;π&lt;/mi&gt;&lt;mo&gt;×&lt;/mo&gt;&lt;mn&gt;3249&lt;/mn&gt;&lt;/math&gt;" id="226" name="Google Shape;226;p20" title="two thirds times pi times 3249"/>
          <p:cNvPicPr preferRelativeResize="0"/>
          <p:nvPr/>
        </p:nvPicPr>
        <p:blipFill rotWithShape="1">
          <a:blip r:embed="rId16">
            <a:alphaModFix/>
          </a:blip>
          <a:srcRect b="0" l="0" r="0" t="0"/>
          <a:stretch/>
        </p:blipFill>
        <p:spPr>
          <a:xfrm>
            <a:off x="4179261" y="8820452"/>
            <a:ext cx="1231539" cy="470055"/>
          </a:xfrm>
          <a:prstGeom prst="rect">
            <a:avLst/>
          </a:prstGeom>
          <a:noFill/>
          <a:ln>
            <a:noFill/>
          </a:ln>
        </p:spPr>
      </p:pic>
      <p:pic>
        <p:nvPicPr>
          <p:cNvPr descr="&lt;math xmlns=&quot;http://www.w3.org/1998/Math/MathML&quot; display=&quot;block&quot; data-is-equatio=&quot;1&quot; data-latex=&quot;\frac{\ \ \ \ \ \ \ }{ }\times\pi\times57^2&quot;&gt;&lt;mfrac&gt;&lt;mrow&gt;&lt;mtext&gt;&lt;/mtext&gt;&lt;mtext&gt;&lt;/mtext&gt;&lt;mtext&gt;&lt;/mtext&gt;&lt;mtext&gt;&lt;/mtext&gt;&lt;mtext&gt;&lt;/mtext&gt;&lt;mtext&gt;&lt;/mtext&gt;&lt;mtext&gt;&lt;/mtext&gt;&lt;/mrow&gt;&lt;mrow/&gt;&lt;/mfrac&gt;&lt;mo&gt;×&lt;/mo&gt;&lt;mi&gt;π&lt;/mi&gt;&lt;mo&gt;×&lt;/mo&gt;&lt;msup&gt;&lt;mn&gt;57&lt;/mn&gt;&lt;mn&gt;2&lt;/mn&gt;&lt;/msup&gt;&lt;/math&gt;" id="227" name="Google Shape;227;p20" title="the fraction with numerator and denominator times pi times 57 squared"/>
          <p:cNvPicPr preferRelativeResize="0"/>
          <p:nvPr/>
        </p:nvPicPr>
        <p:blipFill rotWithShape="1">
          <a:blip r:embed="rId15">
            <a:alphaModFix/>
          </a:blip>
          <a:srcRect b="0" l="6933" r="0" t="0"/>
          <a:stretch/>
        </p:blipFill>
        <p:spPr>
          <a:xfrm>
            <a:off x="2371762" y="9186416"/>
            <a:ext cx="1357786" cy="223127"/>
          </a:xfrm>
          <a:prstGeom prst="rect">
            <a:avLst/>
          </a:prstGeom>
          <a:noFill/>
          <a:ln>
            <a:noFill/>
          </a:ln>
        </p:spPr>
      </p:pic>
      <p:sp>
        <p:nvSpPr>
          <p:cNvPr id="228" name="Google Shape;228;p20"/>
          <p:cNvSpPr txBox="1"/>
          <p:nvPr/>
        </p:nvSpPr>
        <p:spPr>
          <a:xfrm>
            <a:off x="2371762" y="8467353"/>
            <a:ext cx="349800" cy="3102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2</a:t>
            </a:r>
            <a:endParaRPr>
              <a:solidFill>
                <a:srgbClr val="000000"/>
              </a:solidFill>
              <a:latin typeface="Times New Roman"/>
              <a:ea typeface="Times New Roman"/>
              <a:cs typeface="Times New Roman"/>
              <a:sym typeface="Times New Roman"/>
            </a:endParaRPr>
          </a:p>
        </p:txBody>
      </p:sp>
      <p:sp>
        <p:nvSpPr>
          <p:cNvPr id="229" name="Google Shape;229;p20"/>
          <p:cNvSpPr txBox="1"/>
          <p:nvPr/>
        </p:nvSpPr>
        <p:spPr>
          <a:xfrm>
            <a:off x="2371762" y="8788697"/>
            <a:ext cx="349800" cy="310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3</a:t>
            </a:r>
            <a:endParaRPr>
              <a:solidFill>
                <a:srgbClr val="000000"/>
              </a:solidFill>
              <a:latin typeface="Times New Roman"/>
              <a:ea typeface="Times New Roman"/>
              <a:cs typeface="Times New Roman"/>
              <a:sym typeface="Times New Roman"/>
            </a:endParaRPr>
          </a:p>
        </p:txBody>
      </p:sp>
      <p:sp>
        <p:nvSpPr>
          <p:cNvPr id="230" name="Google Shape;230;p20"/>
          <p:cNvSpPr txBox="1"/>
          <p:nvPr/>
        </p:nvSpPr>
        <p:spPr>
          <a:xfrm>
            <a:off x="2371762" y="9026465"/>
            <a:ext cx="349800" cy="3102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240</a:t>
            </a:r>
            <a:endParaRPr>
              <a:solidFill>
                <a:srgbClr val="000000"/>
              </a:solidFill>
              <a:latin typeface="Times New Roman"/>
              <a:ea typeface="Times New Roman"/>
              <a:cs typeface="Times New Roman"/>
              <a:sym typeface="Times New Roman"/>
            </a:endParaRPr>
          </a:p>
        </p:txBody>
      </p:sp>
      <p:sp>
        <p:nvSpPr>
          <p:cNvPr id="231" name="Google Shape;231;p20"/>
          <p:cNvSpPr txBox="1"/>
          <p:nvPr/>
        </p:nvSpPr>
        <p:spPr>
          <a:xfrm>
            <a:off x="2371762" y="9347810"/>
            <a:ext cx="349800" cy="310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360</a:t>
            </a:r>
            <a:endParaRPr>
              <a:solidFill>
                <a:srgbClr val="000000"/>
              </a:solidFill>
              <a:latin typeface="Times New Roman"/>
              <a:ea typeface="Times New Roman"/>
              <a:cs typeface="Times New Roman"/>
              <a:sym typeface="Times New Roman"/>
            </a:endParaRPr>
          </a:p>
        </p:txBody>
      </p:sp>
      <p:sp>
        <p:nvSpPr>
          <p:cNvPr id="232" name="Google Shape;232;p20"/>
          <p:cNvSpPr txBox="1"/>
          <p:nvPr/>
        </p:nvSpPr>
        <p:spPr>
          <a:xfrm>
            <a:off x="2201628" y="8914745"/>
            <a:ext cx="1698000" cy="1848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0"/>
              </a:spcBef>
              <a:spcAft>
                <a:spcPts val="1000"/>
              </a:spcAft>
              <a:buNone/>
            </a:pPr>
            <a:r>
              <a:rPr lang="en-GB" sz="1200">
                <a:solidFill>
                  <a:srgbClr val="000000"/>
                </a:solidFill>
                <a:latin typeface="Kalam"/>
                <a:ea typeface="Kalam"/>
                <a:cs typeface="Kalam"/>
                <a:sym typeface="Kalam"/>
              </a:rPr>
              <a:t>or</a:t>
            </a:r>
            <a:endParaRPr sz="1200">
              <a:solidFill>
                <a:srgbClr val="000000"/>
              </a:solidFill>
              <a:latin typeface="Kalam"/>
              <a:ea typeface="Kalam"/>
              <a:cs typeface="Kalam"/>
              <a:sym typeface="Kalam"/>
            </a:endParaRPr>
          </a:p>
        </p:txBody>
      </p:sp>
      <p:sp>
        <p:nvSpPr>
          <p:cNvPr id="233" name="Google Shape;233;p20"/>
          <p:cNvSpPr txBox="1"/>
          <p:nvPr/>
        </p:nvSpPr>
        <p:spPr>
          <a:xfrm>
            <a:off x="476975" y="6148075"/>
            <a:ext cx="2619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a) </a:t>
            </a:r>
            <a:endParaRPr i="1" sz="1200">
              <a:solidFill>
                <a:srgbClr val="000000"/>
              </a:solidFill>
              <a:latin typeface="Times New Roman"/>
              <a:ea typeface="Times New Roman"/>
              <a:cs typeface="Times New Roman"/>
              <a:sym typeface="Times New Roman"/>
            </a:endParaRPr>
          </a:p>
        </p:txBody>
      </p:sp>
      <p:sp>
        <p:nvSpPr>
          <p:cNvPr id="234" name="Google Shape;234;p20"/>
          <p:cNvSpPr txBox="1"/>
          <p:nvPr/>
        </p:nvSpPr>
        <p:spPr>
          <a:xfrm>
            <a:off x="476975" y="7230702"/>
            <a:ext cx="2619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a:t>
            </a:r>
            <a:endParaRPr i="1" sz="1200">
              <a:solidFill>
                <a:srgbClr val="000000"/>
              </a:solidFill>
              <a:latin typeface="Times New Roman"/>
              <a:ea typeface="Times New Roman"/>
              <a:cs typeface="Times New Roman"/>
              <a:sym typeface="Times New Roman"/>
            </a:endParaRPr>
          </a:p>
        </p:txBody>
      </p:sp>
      <p:sp>
        <p:nvSpPr>
          <p:cNvPr id="235" name="Google Shape;235;p20"/>
          <p:cNvSpPr txBox="1"/>
          <p:nvPr/>
        </p:nvSpPr>
        <p:spPr>
          <a:xfrm>
            <a:off x="476975" y="8563017"/>
            <a:ext cx="2619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c) </a:t>
            </a:r>
            <a:endParaRPr i="1" sz="1200">
              <a:solidFill>
                <a:srgbClr val="000000"/>
              </a:solidFill>
              <a:latin typeface="Times New Roman"/>
              <a:ea typeface="Times New Roman"/>
              <a:cs typeface="Times New Roman"/>
              <a:sym typeface="Times New Roman"/>
            </a:endParaRPr>
          </a:p>
        </p:txBody>
      </p:sp>
      <p:grpSp>
        <p:nvGrpSpPr>
          <p:cNvPr id="236" name="Google Shape;236;p20"/>
          <p:cNvGrpSpPr/>
          <p:nvPr/>
        </p:nvGrpSpPr>
        <p:grpSpPr>
          <a:xfrm>
            <a:off x="2585038" y="2600903"/>
            <a:ext cx="252283" cy="218267"/>
            <a:chOff x="1020916" y="1442088"/>
            <a:chExt cx="457200" cy="457200"/>
          </a:xfrm>
        </p:grpSpPr>
        <p:pic>
          <p:nvPicPr>
            <p:cNvPr id="237" name="Google Shape;237;p20"/>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238" name="Google Shape;238;p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700">
                  <a:solidFill>
                    <a:srgbClr val="FFFFFF"/>
                  </a:solidFill>
                  <a:latin typeface="Lexend"/>
                  <a:ea typeface="Lexend"/>
                  <a:cs typeface="Lexend"/>
                  <a:sym typeface="Lexend"/>
                </a:rPr>
                <a:t>2</a:t>
              </a:r>
              <a:endParaRPr b="1" i="0" sz="1700" u="none" cap="none" strike="noStrike">
                <a:solidFill>
                  <a:srgbClr val="FFFFFF"/>
                </a:solidFill>
                <a:latin typeface="Lexend"/>
                <a:ea typeface="Lexend"/>
                <a:cs typeface="Lexend"/>
                <a:sym typeface="Lexend"/>
              </a:endParaRPr>
            </a:p>
          </p:txBody>
        </p:sp>
      </p:grpSp>
      <p:grpSp>
        <p:nvGrpSpPr>
          <p:cNvPr id="239" name="Google Shape;239;p20"/>
          <p:cNvGrpSpPr/>
          <p:nvPr/>
        </p:nvGrpSpPr>
        <p:grpSpPr>
          <a:xfrm>
            <a:off x="5277766" y="2600907"/>
            <a:ext cx="252283" cy="218267"/>
            <a:chOff x="1020916" y="1442088"/>
            <a:chExt cx="457200" cy="457200"/>
          </a:xfrm>
        </p:grpSpPr>
        <p:pic>
          <p:nvPicPr>
            <p:cNvPr id="240" name="Google Shape;240;p20"/>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241" name="Google Shape;241;p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700">
                  <a:solidFill>
                    <a:srgbClr val="FFFFFF"/>
                  </a:solidFill>
                  <a:latin typeface="Lexend"/>
                  <a:ea typeface="Lexend"/>
                  <a:cs typeface="Lexend"/>
                  <a:sym typeface="Lexend"/>
                </a:rPr>
                <a:t>3</a:t>
              </a:r>
              <a:endParaRPr b="1" i="0" sz="1700" u="none" cap="none" strike="noStrike">
                <a:solidFill>
                  <a:srgbClr val="FFFFFF"/>
                </a:solidFill>
                <a:latin typeface="Lexend"/>
                <a:ea typeface="Lexend"/>
                <a:cs typeface="Lexend"/>
                <a:sym typeface="Lexend"/>
              </a:endParaRPr>
            </a:p>
          </p:txBody>
        </p:sp>
      </p:grpSp>
      <p:grpSp>
        <p:nvGrpSpPr>
          <p:cNvPr id="242" name="Google Shape;242;p20"/>
          <p:cNvGrpSpPr/>
          <p:nvPr/>
        </p:nvGrpSpPr>
        <p:grpSpPr>
          <a:xfrm>
            <a:off x="476439" y="2625119"/>
            <a:ext cx="252283" cy="218267"/>
            <a:chOff x="1020916" y="1442088"/>
            <a:chExt cx="457200" cy="457200"/>
          </a:xfrm>
        </p:grpSpPr>
        <p:pic>
          <p:nvPicPr>
            <p:cNvPr id="243" name="Google Shape;243;p20"/>
            <p:cNvPicPr preferRelativeResize="0"/>
            <p:nvPr/>
          </p:nvPicPr>
          <p:blipFill rotWithShape="1">
            <a:blip r:embed="rId6">
              <a:alphaModFix/>
            </a:blip>
            <a:srcRect b="0" l="0" r="0" t="0"/>
            <a:stretch/>
          </p:blipFill>
          <p:spPr>
            <a:xfrm>
              <a:off x="1020916" y="1442088"/>
              <a:ext cx="457200" cy="457200"/>
            </a:xfrm>
            <a:prstGeom prst="rect">
              <a:avLst/>
            </a:prstGeom>
            <a:noFill/>
            <a:ln>
              <a:noFill/>
            </a:ln>
          </p:spPr>
        </p:pic>
        <p:sp>
          <p:nvSpPr>
            <p:cNvPr id="244" name="Google Shape;244;p2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700">
                  <a:solidFill>
                    <a:srgbClr val="FFFFFF"/>
                  </a:solidFill>
                  <a:latin typeface="Lexend"/>
                  <a:ea typeface="Lexend"/>
                  <a:cs typeface="Lexend"/>
                  <a:sym typeface="Lexend"/>
                </a:rPr>
                <a:t>1</a:t>
              </a:r>
              <a:endParaRPr b="1" i="0" sz="1700" u="none" cap="none" strike="noStrike">
                <a:solidFill>
                  <a:srgbClr val="FFFFFF"/>
                </a:solidFill>
                <a:latin typeface="Lexend"/>
                <a:ea typeface="Lexend"/>
                <a:cs typeface="Lexend"/>
                <a:sym typeface="Lexend"/>
              </a:endParaRPr>
            </a:p>
          </p:txBody>
        </p:sp>
      </p:grpSp>
      <p:pic>
        <p:nvPicPr>
          <p:cNvPr descr="three fourths times pi times 324&#10;&#10;&lt;math xmlns=&quot;http://www.w3.org/1998/Math/MathML&quot; display=&quot;block&quot; data-is-equatio=&quot;1&quot; data-latex=&quot;\frac{3}{4}\times\pi\times324&quot;&gt;&lt;mfrac&gt;&lt;mn&gt;3&lt;/mn&gt;&lt;mn&gt;4&lt;/mn&gt;&lt;/mfrac&gt;&lt;mo&gt;×&lt;/mo&gt;&lt;mi&gt;π&lt;/mi&gt;&lt;mo&gt;×&lt;/mo&gt;&lt;mn&gt;324&lt;/mn&gt;&lt;/math&gt;" id="245" name="Google Shape;245;p20"/>
          <p:cNvPicPr preferRelativeResize="0"/>
          <p:nvPr/>
        </p:nvPicPr>
        <p:blipFill>
          <a:blip r:embed="rId17">
            <a:alphaModFix/>
          </a:blip>
          <a:stretch>
            <a:fillRect/>
          </a:stretch>
        </p:blipFill>
        <p:spPr>
          <a:xfrm>
            <a:off x="4229874" y="7578047"/>
            <a:ext cx="1120725" cy="46569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1"/>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Area of composite shapes</a:t>
            </a:r>
            <a:endParaRPr/>
          </a:p>
        </p:txBody>
      </p:sp>
      <p:sp>
        <p:nvSpPr>
          <p:cNvPr id="251" name="Google Shape;251;p21"/>
          <p:cNvSpPr txBox="1"/>
          <p:nvPr/>
        </p:nvSpPr>
        <p:spPr>
          <a:xfrm>
            <a:off x="468000" y="870450"/>
            <a:ext cx="6624000" cy="42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2) Complete the table. Give your answer both as a decimal (rounded to 1 d.p.) and in terms of </a:t>
            </a:r>
            <a:r>
              <a:rPr lang="en-GB" sz="1200">
                <a:solidFill>
                  <a:srgbClr val="000000"/>
                </a:solidFill>
                <a:latin typeface="Times New Roman"/>
                <a:ea typeface="Times New Roman"/>
                <a:cs typeface="Times New Roman"/>
                <a:sym typeface="Times New Roman"/>
              </a:rPr>
              <a:t>π</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pic>
        <p:nvPicPr>
          <p:cNvPr id="252" name="Google Shape;252;p21"/>
          <p:cNvPicPr preferRelativeResize="0"/>
          <p:nvPr/>
        </p:nvPicPr>
        <p:blipFill rotWithShape="1">
          <a:blip r:embed="rId3">
            <a:alphaModFix/>
          </a:blip>
          <a:srcRect b="0" l="0" r="0" t="0"/>
          <a:stretch/>
        </p:blipFill>
        <p:spPr>
          <a:xfrm>
            <a:off x="761398" y="3168107"/>
            <a:ext cx="1341738" cy="816116"/>
          </a:xfrm>
          <a:prstGeom prst="rect">
            <a:avLst/>
          </a:prstGeom>
          <a:noFill/>
          <a:ln>
            <a:noFill/>
          </a:ln>
        </p:spPr>
      </p:pic>
      <p:pic>
        <p:nvPicPr>
          <p:cNvPr id="253" name="Google Shape;253;p21"/>
          <p:cNvPicPr preferRelativeResize="0"/>
          <p:nvPr/>
        </p:nvPicPr>
        <p:blipFill rotWithShape="1">
          <a:blip r:embed="rId4">
            <a:alphaModFix/>
          </a:blip>
          <a:srcRect b="43666" l="10477" r="16763" t="36768"/>
          <a:stretch/>
        </p:blipFill>
        <p:spPr>
          <a:xfrm>
            <a:off x="761406" y="1858572"/>
            <a:ext cx="1341738" cy="694017"/>
          </a:xfrm>
          <a:prstGeom prst="rect">
            <a:avLst/>
          </a:prstGeom>
          <a:noFill/>
          <a:ln>
            <a:noFill/>
          </a:ln>
        </p:spPr>
      </p:pic>
      <p:cxnSp>
        <p:nvCxnSpPr>
          <p:cNvPr id="254" name="Google Shape;254;p21"/>
          <p:cNvCxnSpPr/>
          <p:nvPr/>
        </p:nvCxnSpPr>
        <p:spPr>
          <a:xfrm>
            <a:off x="818711" y="2579655"/>
            <a:ext cx="1205400" cy="0"/>
          </a:xfrm>
          <a:prstGeom prst="straightConnector1">
            <a:avLst/>
          </a:prstGeom>
          <a:noFill/>
          <a:ln cap="flat" cmpd="sng" w="19050">
            <a:solidFill>
              <a:srgbClr val="845AD9"/>
            </a:solidFill>
            <a:prstDash val="solid"/>
            <a:round/>
            <a:headEnd len="med" w="med" type="triangle"/>
            <a:tailEnd len="med" w="med" type="triangle"/>
          </a:ln>
        </p:spPr>
      </p:cxnSp>
      <p:sp>
        <p:nvSpPr>
          <p:cNvPr id="255" name="Google Shape;255;p21"/>
          <p:cNvSpPr txBox="1"/>
          <p:nvPr/>
        </p:nvSpPr>
        <p:spPr>
          <a:xfrm>
            <a:off x="818657" y="2589074"/>
            <a:ext cx="1205400" cy="209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d = 160 cm</a:t>
            </a:r>
            <a:endParaRPr sz="1200">
              <a:solidFill>
                <a:srgbClr val="000000"/>
              </a:solidFill>
              <a:latin typeface="Lexend"/>
              <a:ea typeface="Lexend"/>
              <a:cs typeface="Lexend"/>
              <a:sym typeface="Lexend"/>
            </a:endParaRPr>
          </a:p>
        </p:txBody>
      </p:sp>
      <p:cxnSp>
        <p:nvCxnSpPr>
          <p:cNvPr id="256" name="Google Shape;256;p21"/>
          <p:cNvCxnSpPr/>
          <p:nvPr/>
        </p:nvCxnSpPr>
        <p:spPr>
          <a:xfrm>
            <a:off x="1367705" y="3973348"/>
            <a:ext cx="703200" cy="0"/>
          </a:xfrm>
          <a:prstGeom prst="straightConnector1">
            <a:avLst/>
          </a:prstGeom>
          <a:noFill/>
          <a:ln cap="flat" cmpd="sng" w="19050">
            <a:solidFill>
              <a:srgbClr val="845AD9"/>
            </a:solidFill>
            <a:prstDash val="solid"/>
            <a:round/>
            <a:headEnd len="med" w="med" type="triangle"/>
            <a:tailEnd len="med" w="med" type="triangle"/>
          </a:ln>
        </p:spPr>
      </p:cxnSp>
      <p:sp>
        <p:nvSpPr>
          <p:cNvPr id="257" name="Google Shape;257;p21"/>
          <p:cNvSpPr txBox="1"/>
          <p:nvPr/>
        </p:nvSpPr>
        <p:spPr>
          <a:xfrm flipH="1">
            <a:off x="1401025" y="3979506"/>
            <a:ext cx="636600" cy="209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84 cm</a:t>
            </a:r>
            <a:endParaRPr sz="1200">
              <a:solidFill>
                <a:srgbClr val="000000"/>
              </a:solidFill>
              <a:latin typeface="Lexend"/>
              <a:ea typeface="Lexend"/>
              <a:cs typeface="Lexend"/>
              <a:sym typeface="Lexend"/>
            </a:endParaRPr>
          </a:p>
        </p:txBody>
      </p:sp>
      <p:sp>
        <p:nvSpPr>
          <p:cNvPr id="258" name="Google Shape;258;p21"/>
          <p:cNvSpPr txBox="1"/>
          <p:nvPr/>
        </p:nvSpPr>
        <p:spPr>
          <a:xfrm flipH="1">
            <a:off x="1154834" y="3483603"/>
            <a:ext cx="636600" cy="209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150°</a:t>
            </a:r>
            <a:endParaRPr sz="1200">
              <a:solidFill>
                <a:srgbClr val="000000"/>
              </a:solidFill>
              <a:latin typeface="Lexend"/>
              <a:ea typeface="Lexend"/>
              <a:cs typeface="Lexend"/>
              <a:sym typeface="Lexend"/>
            </a:endParaRPr>
          </a:p>
        </p:txBody>
      </p:sp>
      <p:pic>
        <p:nvPicPr>
          <p:cNvPr id="259" name="Google Shape;259;p21"/>
          <p:cNvPicPr preferRelativeResize="0"/>
          <p:nvPr/>
        </p:nvPicPr>
        <p:blipFill rotWithShape="1">
          <a:blip r:embed="rId5">
            <a:alphaModFix/>
          </a:blip>
          <a:srcRect b="0" l="0" r="0" t="0"/>
          <a:stretch/>
        </p:blipFill>
        <p:spPr>
          <a:xfrm>
            <a:off x="783033" y="4443145"/>
            <a:ext cx="1104738" cy="1055555"/>
          </a:xfrm>
          <a:prstGeom prst="rect">
            <a:avLst/>
          </a:prstGeom>
          <a:noFill/>
          <a:ln>
            <a:noFill/>
          </a:ln>
        </p:spPr>
      </p:pic>
      <p:cxnSp>
        <p:nvCxnSpPr>
          <p:cNvPr id="260" name="Google Shape;260;p21"/>
          <p:cNvCxnSpPr/>
          <p:nvPr/>
        </p:nvCxnSpPr>
        <p:spPr>
          <a:xfrm>
            <a:off x="1344457" y="5019328"/>
            <a:ext cx="469500" cy="0"/>
          </a:xfrm>
          <a:prstGeom prst="straightConnector1">
            <a:avLst/>
          </a:prstGeom>
          <a:noFill/>
          <a:ln cap="flat" cmpd="sng" w="19050">
            <a:solidFill>
              <a:srgbClr val="845AD9"/>
            </a:solidFill>
            <a:prstDash val="solid"/>
            <a:round/>
            <a:headEnd len="med" w="med" type="triangle"/>
            <a:tailEnd len="med" w="med" type="triangle"/>
          </a:ln>
        </p:spPr>
      </p:cxnSp>
      <p:sp>
        <p:nvSpPr>
          <p:cNvPr id="261" name="Google Shape;261;p21"/>
          <p:cNvSpPr txBox="1"/>
          <p:nvPr/>
        </p:nvSpPr>
        <p:spPr>
          <a:xfrm>
            <a:off x="1422748" y="5052091"/>
            <a:ext cx="703200" cy="18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7.2 cm</a:t>
            </a:r>
            <a:endParaRPr sz="1200">
              <a:solidFill>
                <a:srgbClr val="000000"/>
              </a:solidFill>
              <a:latin typeface="Lexend"/>
              <a:ea typeface="Lexend"/>
              <a:cs typeface="Lexend"/>
              <a:sym typeface="Lexend"/>
            </a:endParaRPr>
          </a:p>
        </p:txBody>
      </p:sp>
      <p:graphicFrame>
        <p:nvGraphicFramePr>
          <p:cNvPr id="262" name="Google Shape;262;p21"/>
          <p:cNvGraphicFramePr/>
          <p:nvPr/>
        </p:nvGraphicFramePr>
        <p:xfrm>
          <a:off x="474988" y="1514693"/>
          <a:ext cx="3000000" cy="3000000"/>
        </p:xfrm>
        <a:graphic>
          <a:graphicData uri="http://schemas.openxmlformats.org/drawingml/2006/table">
            <a:tbl>
              <a:tblPr>
                <a:noFill/>
                <a:tableStyleId>{2AF778D5-40E4-44AF-9910-FE7702755821}</a:tableStyleId>
              </a:tblPr>
              <a:tblGrid>
                <a:gridCol w="1758800"/>
                <a:gridCol w="1794200"/>
                <a:gridCol w="1545525"/>
                <a:gridCol w="1525475"/>
              </a:tblGrid>
              <a:tr h="275575">
                <a:tc>
                  <a:txBody>
                    <a:bodyPr/>
                    <a:lstStyle/>
                    <a:p>
                      <a:pPr indent="0" lvl="0" marL="0" marR="0" rtl="0" algn="ctr">
                        <a:lnSpc>
                          <a:spcPct val="100000"/>
                        </a:lnSpc>
                        <a:spcBef>
                          <a:spcPts val="0"/>
                        </a:spcBef>
                        <a:spcAft>
                          <a:spcPts val="0"/>
                        </a:spcAft>
                        <a:buClr>
                          <a:srgbClr val="000000"/>
                        </a:buClr>
                        <a:buSzPts val="1600"/>
                        <a:buFont typeface="Arial"/>
                        <a:buNone/>
                      </a:pPr>
                      <a:r>
                        <a:rPr b="1" lang="en-GB" sz="1200" u="none" cap="none" strike="noStrike">
                          <a:solidFill>
                            <a:schemeClr val="dk1"/>
                          </a:solidFill>
                          <a:latin typeface="Lexend"/>
                          <a:ea typeface="Lexend"/>
                          <a:cs typeface="Lexend"/>
                          <a:sym typeface="Lexend"/>
                        </a:rPr>
                        <a:t>sector</a:t>
                      </a:r>
                      <a:endParaRPr b="1" sz="1200" u="none" cap="none" strike="noStrike">
                        <a:solidFill>
                          <a:schemeClr val="dk1"/>
                        </a:solidFill>
                        <a:latin typeface="Lexend"/>
                        <a:ea typeface="Lexend"/>
                        <a:cs typeface="Lexend"/>
                        <a:sym typeface="Lexend"/>
                      </a:endParaRPr>
                    </a:p>
                  </a:txBody>
                  <a:tcPr marT="18000" marB="180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200" u="none" cap="none" strike="noStrike">
                          <a:solidFill>
                            <a:schemeClr val="dk1"/>
                          </a:solidFill>
                          <a:latin typeface="Lexend"/>
                          <a:ea typeface="Lexend"/>
                          <a:cs typeface="Lexend"/>
                          <a:sym typeface="Lexend"/>
                        </a:rPr>
                        <a:t>step 1</a:t>
                      </a:r>
                      <a:endParaRPr b="1" sz="1200" u="none" cap="none" strike="noStrike">
                        <a:solidFill>
                          <a:schemeClr val="dk1"/>
                        </a:solidFill>
                        <a:latin typeface="Lexend"/>
                        <a:ea typeface="Lexend"/>
                        <a:cs typeface="Lexend"/>
                        <a:sym typeface="Lexend"/>
                      </a:endParaRPr>
                    </a:p>
                  </a:txBody>
                  <a:tcPr marT="18000" marB="180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200" u="none" cap="none" strike="noStrike">
                          <a:solidFill>
                            <a:schemeClr val="dk1"/>
                          </a:solidFill>
                          <a:latin typeface="Lexend"/>
                          <a:ea typeface="Lexend"/>
                          <a:cs typeface="Lexend"/>
                          <a:sym typeface="Lexend"/>
                        </a:rPr>
                        <a:t>step 2</a:t>
                      </a:r>
                      <a:endParaRPr b="1" sz="1200" u="none" cap="none" strike="noStrike">
                        <a:solidFill>
                          <a:schemeClr val="dk1"/>
                        </a:solidFill>
                        <a:latin typeface="Lexend"/>
                        <a:ea typeface="Lexend"/>
                        <a:cs typeface="Lexend"/>
                        <a:sym typeface="Lexend"/>
                      </a:endParaRPr>
                    </a:p>
                  </a:txBody>
                  <a:tcPr marT="18000" marB="180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1" lang="en-GB" sz="1200" u="none" cap="none" strike="noStrike">
                          <a:solidFill>
                            <a:schemeClr val="dk1"/>
                          </a:solidFill>
                          <a:latin typeface="Lexend"/>
                          <a:ea typeface="Lexend"/>
                          <a:cs typeface="Lexend"/>
                          <a:sym typeface="Lexend"/>
                        </a:rPr>
                        <a:t>answer (cm²)</a:t>
                      </a:r>
                      <a:endParaRPr b="1" sz="1200" u="none" cap="none" strike="noStrike">
                        <a:solidFill>
                          <a:schemeClr val="dk1"/>
                        </a:solidFill>
                        <a:latin typeface="Lexend"/>
                        <a:ea typeface="Lexend"/>
                        <a:cs typeface="Lexend"/>
                        <a:sym typeface="Lexend"/>
                      </a:endParaRPr>
                    </a:p>
                  </a:txBody>
                  <a:tcPr marT="18000" marB="180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100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lang="en-GB">
                          <a:latin typeface="Times New Roman"/>
                          <a:ea typeface="Times New Roman"/>
                          <a:cs typeface="Times New Roman"/>
                          <a:sym typeface="Times New Roman"/>
                        </a:rPr>
                        <a:t>3200</a:t>
                      </a:r>
                      <a:r>
                        <a:rPr lang="en-GB" u="none" cap="none" strike="noStrike">
                          <a:latin typeface="Times New Roman"/>
                          <a:ea typeface="Times New Roman"/>
                          <a:cs typeface="Times New Roman"/>
                          <a:sym typeface="Times New Roman"/>
                        </a:rPr>
                        <a:t>π</a:t>
                      </a:r>
                      <a:endParaRPr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a:latin typeface="Times New Roman"/>
                          <a:ea typeface="Times New Roman"/>
                          <a:cs typeface="Times New Roman"/>
                          <a:sym typeface="Times New Roman"/>
                        </a:rPr>
                        <a:t>1</a:t>
                      </a:r>
                      <a:r>
                        <a:rPr lang="en-GB" u="none" cap="none" strike="noStrike">
                          <a:latin typeface="Times New Roman"/>
                          <a:ea typeface="Times New Roman"/>
                          <a:cs typeface="Times New Roman"/>
                          <a:sym typeface="Times New Roman"/>
                        </a:rPr>
                        <a:t>0 </a:t>
                      </a:r>
                      <a:r>
                        <a:rPr lang="en-GB">
                          <a:latin typeface="Times New Roman"/>
                          <a:ea typeface="Times New Roman"/>
                          <a:cs typeface="Times New Roman"/>
                          <a:sym typeface="Times New Roman"/>
                        </a:rPr>
                        <a:t>053.1</a:t>
                      </a:r>
                      <a:endParaRPr u="none" cap="none" strike="noStrike">
                        <a:latin typeface="Times New Roman"/>
                        <a:ea typeface="Times New Roman"/>
                        <a:cs typeface="Times New Roman"/>
                        <a:sym typeface="Times New Roman"/>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1532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lang="en-GB" u="none" cap="none" strike="noStrike">
                          <a:solidFill>
                            <a:srgbClr val="000000"/>
                          </a:solidFill>
                          <a:latin typeface="Times New Roman"/>
                          <a:ea typeface="Times New Roman"/>
                          <a:cs typeface="Times New Roman"/>
                          <a:sym typeface="Times New Roman"/>
                        </a:rPr>
                        <a:t>2940π</a:t>
                      </a:r>
                      <a:endParaRPr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u="none" cap="none" strike="noStrike">
                          <a:solidFill>
                            <a:srgbClr val="000000"/>
                          </a:solidFill>
                          <a:latin typeface="Times New Roman"/>
                          <a:ea typeface="Times New Roman"/>
                          <a:cs typeface="Times New Roman"/>
                          <a:sym typeface="Times New Roman"/>
                        </a:rPr>
                        <a:t>9236.3</a:t>
                      </a:r>
                      <a:endParaRPr u="none" cap="none" strike="noStrike">
                        <a:solidFill>
                          <a:srgbClr val="000000"/>
                        </a:solidFill>
                        <a:latin typeface="Times New Roman"/>
                        <a:ea typeface="Times New Roman"/>
                        <a:cs typeface="Times New Roman"/>
                        <a:sym typeface="Times New Roman"/>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977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rgbClr val="000000"/>
                          </a:solidFill>
                          <a:latin typeface="Times New Roman"/>
                          <a:ea typeface="Times New Roman"/>
                          <a:cs typeface="Times New Roman"/>
                          <a:sym typeface="Times New Roman"/>
                        </a:rPr>
                        <a:t>43.2π</a:t>
                      </a:r>
                      <a:endParaRPr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u="none" cap="none" strike="noStrike">
                          <a:solidFill>
                            <a:srgbClr val="000000"/>
                          </a:solidFill>
                          <a:latin typeface="Times New Roman"/>
                          <a:ea typeface="Times New Roman"/>
                          <a:cs typeface="Times New Roman"/>
                          <a:sym typeface="Times New Roman"/>
                        </a:rPr>
                        <a:t>135.7</a:t>
                      </a:r>
                      <a:endParaRPr u="none" cap="none" strike="noStrike"/>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5}{6}\times\pi\times7.2^2&quot;&gt;&lt;mfrac&gt;&lt;mn&gt;5&lt;/mn&gt;&lt;mn&gt;6&lt;/mn&gt;&lt;/mfrac&gt;&lt;mo&gt;×&lt;/mo&gt;&lt;mi&gt;π&lt;/mi&gt;&lt;mo&gt;×&lt;/mo&gt;&lt;msup&gt;&lt;mn&gt;7.2&lt;/mn&gt;&lt;mn&gt;2&lt;/mn&gt;&lt;/msup&gt;&lt;/math&gt;" id="263" name="Google Shape;263;p21" title="five sixths times pi times 7.2 squared"/>
          <p:cNvPicPr preferRelativeResize="0"/>
          <p:nvPr/>
        </p:nvPicPr>
        <p:blipFill rotWithShape="1">
          <a:blip r:embed="rId6">
            <a:alphaModFix/>
          </a:blip>
          <a:srcRect b="0" l="0" r="0" t="0"/>
          <a:stretch/>
        </p:blipFill>
        <p:spPr>
          <a:xfrm>
            <a:off x="2626000" y="4600593"/>
            <a:ext cx="1042148" cy="401082"/>
          </a:xfrm>
          <a:prstGeom prst="rect">
            <a:avLst/>
          </a:prstGeom>
          <a:noFill/>
          <a:ln>
            <a:noFill/>
          </a:ln>
        </p:spPr>
      </p:pic>
      <p:pic>
        <p:nvPicPr>
          <p:cNvPr descr="&lt;math xmlns=&quot;http://www.w3.org/1998/Math/MathML&quot; display=&quot;block&quot; data-is-equatio=&quot;1&quot; data-latex=&quot;\frac{5}{6}\times\pi\times51.84&quot;&gt;&lt;mfrac&gt;&lt;mn&gt;5&lt;/mn&gt;&lt;mn&gt;6&lt;/mn&gt;&lt;/mfrac&gt;&lt;mo&gt;×&lt;/mo&gt;&lt;mi&gt;π&lt;/mi&gt;&lt;mo&gt;×&lt;/mo&gt;&lt;mn&gt;51.84&lt;/mn&gt;&lt;/math&gt;" id="264" name="Google Shape;264;p21" title="five sixths times pi times 51.84"/>
          <p:cNvPicPr preferRelativeResize="0"/>
          <p:nvPr/>
        </p:nvPicPr>
        <p:blipFill rotWithShape="1">
          <a:blip r:embed="rId7">
            <a:alphaModFix/>
          </a:blip>
          <a:srcRect b="0" l="0" r="0" t="0"/>
          <a:stretch/>
        </p:blipFill>
        <p:spPr>
          <a:xfrm>
            <a:off x="4298340" y="4600275"/>
            <a:ext cx="1103084" cy="401400"/>
          </a:xfrm>
          <a:prstGeom prst="rect">
            <a:avLst/>
          </a:prstGeom>
          <a:noFill/>
          <a:ln>
            <a:noFill/>
          </a:ln>
        </p:spPr>
      </p:pic>
      <p:pic>
        <p:nvPicPr>
          <p:cNvPr descr="&lt;math xmlns=&quot;http://www.w3.org/1998/Math/MathML&quot; display=&quot;block&quot; data-is-equatio=&quot;1&quot; data-latex=&quot;\frac{150}{360}\times\pi\times84^2&quot;&gt;&lt;mfrac&gt;&lt;mn&gt;150&lt;/mn&gt;&lt;mn&gt;360&lt;/mn&gt;&lt;/mfrac&gt;&lt;mo&gt;×&lt;/mo&gt;&lt;mi&gt;π&lt;/mi&gt;&lt;mo&gt;×&lt;/mo&gt;&lt;msup&gt;&lt;mn&gt;84&lt;/mn&gt;&lt;mn&gt;2&lt;/mn&gt;&lt;/msup&gt;&lt;/math&gt;" id="265" name="Google Shape;265;p21" title="150 over 360 times pi times 84 squared"/>
          <p:cNvPicPr preferRelativeResize="0"/>
          <p:nvPr/>
        </p:nvPicPr>
        <p:blipFill rotWithShape="1">
          <a:blip r:embed="rId8">
            <a:alphaModFix/>
          </a:blip>
          <a:srcRect b="0" l="0" r="0" t="0"/>
          <a:stretch/>
        </p:blipFill>
        <p:spPr>
          <a:xfrm>
            <a:off x="2550550" y="3419325"/>
            <a:ext cx="1127716" cy="424800"/>
          </a:xfrm>
          <a:prstGeom prst="rect">
            <a:avLst/>
          </a:prstGeom>
          <a:noFill/>
          <a:ln>
            <a:noFill/>
          </a:ln>
        </p:spPr>
      </p:pic>
      <p:pic>
        <p:nvPicPr>
          <p:cNvPr descr="&lt;math xmlns=&quot;http://www.w3.org/1998/Math/MathML&quot; display=&quot;block&quot; data-is-equatio=&quot;1&quot; data-latex=&quot;\frac{150}{360}\times\pi\times7056&quot;&gt;&lt;mfrac&gt;&lt;mn&gt;150&lt;/mn&gt;&lt;mn&gt;360&lt;/mn&gt;&lt;/mfrac&gt;&lt;mo&gt;×&lt;/mo&gt;&lt;mi&gt;π&lt;/mi&gt;&lt;mo&gt;×&lt;/mo&gt;&lt;mn&gt;7056&lt;/mn&gt;&lt;/math&gt;" id="266" name="Google Shape;266;p21" title="150 over 360 times pi times 7056"/>
          <p:cNvPicPr preferRelativeResize="0"/>
          <p:nvPr/>
        </p:nvPicPr>
        <p:blipFill rotWithShape="1">
          <a:blip r:embed="rId9">
            <a:alphaModFix/>
          </a:blip>
          <a:srcRect b="0" l="0" r="0" t="0"/>
          <a:stretch/>
        </p:blipFill>
        <p:spPr>
          <a:xfrm>
            <a:off x="4170229" y="3430123"/>
            <a:ext cx="1191214" cy="401392"/>
          </a:xfrm>
          <a:prstGeom prst="rect">
            <a:avLst/>
          </a:prstGeom>
          <a:noFill/>
          <a:ln>
            <a:noFill/>
          </a:ln>
        </p:spPr>
      </p:pic>
      <p:sp>
        <p:nvSpPr>
          <p:cNvPr id="267" name="Google Shape;267;p21"/>
          <p:cNvSpPr txBox="1"/>
          <p:nvPr/>
        </p:nvSpPr>
        <p:spPr>
          <a:xfrm>
            <a:off x="476975" y="1804675"/>
            <a:ext cx="2961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d) </a:t>
            </a:r>
            <a:endParaRPr i="1" sz="1200">
              <a:solidFill>
                <a:srgbClr val="000000"/>
              </a:solidFill>
              <a:latin typeface="Times New Roman"/>
              <a:ea typeface="Times New Roman"/>
              <a:cs typeface="Times New Roman"/>
              <a:sym typeface="Times New Roman"/>
            </a:endParaRPr>
          </a:p>
        </p:txBody>
      </p:sp>
      <p:sp>
        <p:nvSpPr>
          <p:cNvPr id="268" name="Google Shape;268;p21"/>
          <p:cNvSpPr txBox="1"/>
          <p:nvPr/>
        </p:nvSpPr>
        <p:spPr>
          <a:xfrm>
            <a:off x="476975" y="3019047"/>
            <a:ext cx="2961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e) </a:t>
            </a:r>
            <a:endParaRPr i="1" sz="1200">
              <a:solidFill>
                <a:srgbClr val="000000"/>
              </a:solidFill>
              <a:latin typeface="Times New Roman"/>
              <a:ea typeface="Times New Roman"/>
              <a:cs typeface="Times New Roman"/>
              <a:sym typeface="Times New Roman"/>
            </a:endParaRPr>
          </a:p>
        </p:txBody>
      </p:sp>
      <p:sp>
        <p:nvSpPr>
          <p:cNvPr id="269" name="Google Shape;269;p21"/>
          <p:cNvSpPr txBox="1"/>
          <p:nvPr/>
        </p:nvSpPr>
        <p:spPr>
          <a:xfrm>
            <a:off x="476975" y="4343443"/>
            <a:ext cx="2961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f) </a:t>
            </a:r>
            <a:endParaRPr i="1" sz="12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times\pi\times80^2&quot;&gt;&lt;mfrac&gt;&lt;mn&gt;1&lt;/mn&gt;&lt;mn&gt;2&lt;/mn&gt;&lt;/mfrac&gt;&lt;mo&gt;×&lt;/mo&gt;&lt;mi&gt;π&lt;/mi&gt;&lt;mo&gt;×&lt;/mo&gt;&lt;msup&gt;&lt;mn&gt;80&lt;/mn&gt;&lt;mn&gt;2&lt;/mn&gt;&lt;/msup&gt;&lt;/math&gt;" id="270" name="Google Shape;270;p21" title="one half times pi times 80 squared"/>
          <p:cNvPicPr preferRelativeResize="0"/>
          <p:nvPr/>
        </p:nvPicPr>
        <p:blipFill>
          <a:blip r:embed="rId10">
            <a:alphaModFix/>
          </a:blip>
          <a:stretch>
            <a:fillRect/>
          </a:stretch>
        </p:blipFill>
        <p:spPr>
          <a:xfrm>
            <a:off x="2831875" y="2177801"/>
            <a:ext cx="962952" cy="434850"/>
          </a:xfrm>
          <a:prstGeom prst="rect">
            <a:avLst/>
          </a:prstGeom>
          <a:noFill/>
          <a:ln>
            <a:noFill/>
          </a:ln>
        </p:spPr>
      </p:pic>
      <p:pic>
        <p:nvPicPr>
          <p:cNvPr descr="&lt;math xmlns=&quot;http://www.w3.org/1998/Math/MathML&quot; display=&quot;block&quot; data-is-equatio=&quot;1&quot; data-latex=&quot;\frac{1}{2}\times\pi\times6400&quot;&gt;&lt;mfrac&gt;&lt;mn&gt;1&lt;/mn&gt;&lt;mn&gt;2&lt;/mn&gt;&lt;/mfrac&gt;&lt;mo&gt;×&lt;/mo&gt;&lt;mi&gt;π&lt;/mi&gt;&lt;mo&gt;×&lt;/mo&gt;&lt;mn&gt;6400&lt;/mn&gt;&lt;/math&gt;" id="271" name="Google Shape;271;p21" title="one half times pi times 6400"/>
          <p:cNvPicPr preferRelativeResize="0"/>
          <p:nvPr/>
        </p:nvPicPr>
        <p:blipFill>
          <a:blip r:embed="rId11">
            <a:alphaModFix/>
          </a:blip>
          <a:stretch>
            <a:fillRect/>
          </a:stretch>
        </p:blipFill>
        <p:spPr>
          <a:xfrm>
            <a:off x="4223300" y="2216125"/>
            <a:ext cx="1042150" cy="410833"/>
          </a:xfrm>
          <a:prstGeom prst="rect">
            <a:avLst/>
          </a:prstGeom>
          <a:noFill/>
          <a:ln>
            <a:noFill/>
          </a:ln>
        </p:spPr>
      </p:pic>
      <p:cxnSp>
        <p:nvCxnSpPr>
          <p:cNvPr id="272" name="Google Shape;272;p21"/>
          <p:cNvCxnSpPr/>
          <p:nvPr/>
        </p:nvCxnSpPr>
        <p:spPr>
          <a:xfrm>
            <a:off x="474757" y="5651338"/>
            <a:ext cx="6610500" cy="0"/>
          </a:xfrm>
          <a:prstGeom prst="straightConnector1">
            <a:avLst/>
          </a:prstGeom>
          <a:noFill/>
          <a:ln cap="flat" cmpd="sng" w="38100">
            <a:solidFill>
              <a:srgbClr val="000000"/>
            </a:solidFill>
            <a:prstDash val="solid"/>
            <a:round/>
            <a:headEnd len="med" w="med" type="none"/>
            <a:tailEnd len="med" w="med" type="none"/>
          </a:ln>
        </p:spPr>
      </p:cxnSp>
      <p:sp>
        <p:nvSpPr>
          <p:cNvPr id="273" name="Google Shape;273;p21"/>
          <p:cNvSpPr txBox="1"/>
          <p:nvPr/>
        </p:nvSpPr>
        <p:spPr>
          <a:xfrm>
            <a:off x="491952" y="5696338"/>
            <a:ext cx="6285600" cy="2628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rgbClr val="000000"/>
                </a:solidFill>
                <a:latin typeface="Lexend"/>
                <a:ea typeface="Lexend"/>
                <a:cs typeface="Lexend"/>
                <a:sym typeface="Lexend"/>
              </a:rPr>
              <a:t>Task B:  Finding the area of composite shapes with sectors</a:t>
            </a:r>
            <a:endParaRPr b="1">
              <a:solidFill>
                <a:srgbClr val="000000"/>
              </a:solidFill>
              <a:latin typeface="Lexend"/>
              <a:ea typeface="Lexend"/>
              <a:cs typeface="Lexend"/>
              <a:sym typeface="Lexend"/>
            </a:endParaRPr>
          </a:p>
        </p:txBody>
      </p:sp>
      <p:sp>
        <p:nvSpPr>
          <p:cNvPr id="274" name="Google Shape;274;p21"/>
          <p:cNvSpPr txBox="1"/>
          <p:nvPr/>
        </p:nvSpPr>
        <p:spPr>
          <a:xfrm>
            <a:off x="461250" y="6156786"/>
            <a:ext cx="66240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1) Match the composite shape to its component parts and calculations.</a:t>
            </a:r>
            <a:endParaRPr sz="1200">
              <a:solidFill>
                <a:srgbClr val="000000"/>
              </a:solidFill>
              <a:latin typeface="Lexend"/>
              <a:ea typeface="Lexend"/>
              <a:cs typeface="Lexend"/>
              <a:sym typeface="Lexend"/>
            </a:endParaRPr>
          </a:p>
        </p:txBody>
      </p:sp>
      <p:pic>
        <p:nvPicPr>
          <p:cNvPr id="275" name="Google Shape;275;p21"/>
          <p:cNvPicPr preferRelativeResize="0"/>
          <p:nvPr/>
        </p:nvPicPr>
        <p:blipFill rotWithShape="1">
          <a:blip r:embed="rId12">
            <a:alphaModFix/>
          </a:blip>
          <a:srcRect b="54398" l="0" r="76094" t="0"/>
          <a:stretch/>
        </p:blipFill>
        <p:spPr>
          <a:xfrm>
            <a:off x="491960" y="6430773"/>
            <a:ext cx="940745" cy="1399125"/>
          </a:xfrm>
          <a:prstGeom prst="rect">
            <a:avLst/>
          </a:prstGeom>
          <a:noFill/>
          <a:ln>
            <a:noFill/>
          </a:ln>
        </p:spPr>
      </p:pic>
      <p:pic>
        <p:nvPicPr>
          <p:cNvPr id="276" name="Google Shape;276;p21"/>
          <p:cNvPicPr preferRelativeResize="0"/>
          <p:nvPr/>
        </p:nvPicPr>
        <p:blipFill rotWithShape="1">
          <a:blip r:embed="rId12">
            <a:alphaModFix/>
          </a:blip>
          <a:srcRect b="0" l="0" r="76693" t="81970"/>
          <a:stretch/>
        </p:blipFill>
        <p:spPr>
          <a:xfrm>
            <a:off x="1957358" y="9021576"/>
            <a:ext cx="917219" cy="553123"/>
          </a:xfrm>
          <a:prstGeom prst="rect">
            <a:avLst/>
          </a:prstGeom>
          <a:noFill/>
          <a:ln>
            <a:noFill/>
          </a:ln>
        </p:spPr>
      </p:pic>
      <p:pic>
        <p:nvPicPr>
          <p:cNvPr id="277" name="Google Shape;277;p21"/>
          <p:cNvPicPr preferRelativeResize="0"/>
          <p:nvPr/>
        </p:nvPicPr>
        <p:blipFill rotWithShape="1">
          <a:blip r:embed="rId12">
            <a:alphaModFix/>
          </a:blip>
          <a:srcRect b="54395" l="36331" r="39762" t="13425"/>
          <a:stretch/>
        </p:blipFill>
        <p:spPr>
          <a:xfrm>
            <a:off x="480329" y="8187678"/>
            <a:ext cx="940745" cy="987274"/>
          </a:xfrm>
          <a:prstGeom prst="rect">
            <a:avLst/>
          </a:prstGeom>
          <a:noFill/>
          <a:ln>
            <a:noFill/>
          </a:ln>
        </p:spPr>
      </p:pic>
      <p:sp>
        <p:nvSpPr>
          <p:cNvPr id="278" name="Google Shape;278;p21"/>
          <p:cNvSpPr txBox="1"/>
          <p:nvPr/>
        </p:nvSpPr>
        <p:spPr>
          <a:xfrm flipH="1">
            <a:off x="542180" y="7481862"/>
            <a:ext cx="8127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6 cm</a:t>
            </a:r>
            <a:endParaRPr sz="1200">
              <a:solidFill>
                <a:srgbClr val="000000"/>
              </a:solidFill>
              <a:latin typeface="Lexend"/>
              <a:ea typeface="Lexend"/>
              <a:cs typeface="Lexend"/>
              <a:sym typeface="Lexend"/>
            </a:endParaRPr>
          </a:p>
        </p:txBody>
      </p:sp>
      <p:cxnSp>
        <p:nvCxnSpPr>
          <p:cNvPr id="279" name="Google Shape;279;p21"/>
          <p:cNvCxnSpPr/>
          <p:nvPr/>
        </p:nvCxnSpPr>
        <p:spPr>
          <a:xfrm>
            <a:off x="542436" y="7704784"/>
            <a:ext cx="812700" cy="0"/>
          </a:xfrm>
          <a:prstGeom prst="straightConnector1">
            <a:avLst/>
          </a:prstGeom>
          <a:noFill/>
          <a:ln cap="flat" cmpd="sng" w="28575">
            <a:solidFill>
              <a:srgbClr val="037B7D"/>
            </a:solidFill>
            <a:prstDash val="solid"/>
            <a:round/>
            <a:headEnd len="med" w="med" type="triangle"/>
            <a:tailEnd len="med" w="med" type="triangle"/>
          </a:ln>
        </p:spPr>
      </p:cxnSp>
      <p:sp>
        <p:nvSpPr>
          <p:cNvPr id="280" name="Google Shape;280;p21"/>
          <p:cNvSpPr txBox="1"/>
          <p:nvPr/>
        </p:nvSpPr>
        <p:spPr>
          <a:xfrm flipH="1" rot="5400000">
            <a:off x="1273152" y="7452422"/>
            <a:ext cx="5892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 cm</a:t>
            </a:r>
            <a:endParaRPr sz="1200">
              <a:solidFill>
                <a:srgbClr val="000000"/>
              </a:solidFill>
              <a:latin typeface="Lexend"/>
              <a:ea typeface="Lexend"/>
              <a:cs typeface="Lexend"/>
              <a:sym typeface="Lexend"/>
            </a:endParaRPr>
          </a:p>
        </p:txBody>
      </p:sp>
      <p:cxnSp>
        <p:nvCxnSpPr>
          <p:cNvPr id="281" name="Google Shape;281;p21"/>
          <p:cNvCxnSpPr/>
          <p:nvPr/>
        </p:nvCxnSpPr>
        <p:spPr>
          <a:xfrm rot="5400000">
            <a:off x="1201281" y="7551247"/>
            <a:ext cx="484500" cy="0"/>
          </a:xfrm>
          <a:prstGeom prst="straightConnector1">
            <a:avLst/>
          </a:prstGeom>
          <a:noFill/>
          <a:ln cap="flat" cmpd="sng" w="28575">
            <a:solidFill>
              <a:srgbClr val="037B7D"/>
            </a:solidFill>
            <a:prstDash val="solid"/>
            <a:round/>
            <a:headEnd len="med" w="med" type="triangle"/>
            <a:tailEnd len="med" w="med" type="triangle"/>
          </a:ln>
        </p:spPr>
      </p:cxnSp>
      <p:sp>
        <p:nvSpPr>
          <p:cNvPr id="282" name="Google Shape;282;p21"/>
          <p:cNvSpPr txBox="1"/>
          <p:nvPr/>
        </p:nvSpPr>
        <p:spPr>
          <a:xfrm flipH="1">
            <a:off x="544508" y="8805498"/>
            <a:ext cx="8127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8 cm</a:t>
            </a:r>
            <a:endParaRPr sz="1200">
              <a:solidFill>
                <a:srgbClr val="000000"/>
              </a:solidFill>
              <a:latin typeface="Lexend"/>
              <a:ea typeface="Lexend"/>
              <a:cs typeface="Lexend"/>
              <a:sym typeface="Lexend"/>
            </a:endParaRPr>
          </a:p>
        </p:txBody>
      </p:sp>
      <p:cxnSp>
        <p:nvCxnSpPr>
          <p:cNvPr id="283" name="Google Shape;283;p21"/>
          <p:cNvCxnSpPr/>
          <p:nvPr/>
        </p:nvCxnSpPr>
        <p:spPr>
          <a:xfrm>
            <a:off x="544764" y="9028420"/>
            <a:ext cx="812700" cy="0"/>
          </a:xfrm>
          <a:prstGeom prst="straightConnector1">
            <a:avLst/>
          </a:prstGeom>
          <a:noFill/>
          <a:ln cap="flat" cmpd="sng" w="28575">
            <a:solidFill>
              <a:srgbClr val="037B7D"/>
            </a:solidFill>
            <a:prstDash val="solid"/>
            <a:round/>
            <a:headEnd len="med" w="med" type="triangle"/>
            <a:tailEnd len="med" w="med" type="triangle"/>
          </a:ln>
        </p:spPr>
      </p:cxnSp>
      <p:sp>
        <p:nvSpPr>
          <p:cNvPr id="284" name="Google Shape;284;p21"/>
          <p:cNvSpPr txBox="1"/>
          <p:nvPr/>
        </p:nvSpPr>
        <p:spPr>
          <a:xfrm flipH="1" rot="5400000">
            <a:off x="1273152" y="8739687"/>
            <a:ext cx="5892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3 cm</a:t>
            </a:r>
            <a:endParaRPr sz="1200">
              <a:solidFill>
                <a:srgbClr val="000000"/>
              </a:solidFill>
              <a:latin typeface="Lexend"/>
              <a:ea typeface="Lexend"/>
              <a:cs typeface="Lexend"/>
              <a:sym typeface="Lexend"/>
            </a:endParaRPr>
          </a:p>
        </p:txBody>
      </p:sp>
      <p:cxnSp>
        <p:nvCxnSpPr>
          <p:cNvPr id="285" name="Google Shape;285;p21"/>
          <p:cNvCxnSpPr/>
          <p:nvPr/>
        </p:nvCxnSpPr>
        <p:spPr>
          <a:xfrm rot="5400000">
            <a:off x="1201281" y="8838512"/>
            <a:ext cx="484500" cy="0"/>
          </a:xfrm>
          <a:prstGeom prst="straightConnector1">
            <a:avLst/>
          </a:prstGeom>
          <a:noFill/>
          <a:ln cap="flat" cmpd="sng" w="28575">
            <a:solidFill>
              <a:srgbClr val="037B7D"/>
            </a:solidFill>
            <a:prstDash val="solid"/>
            <a:round/>
            <a:headEnd len="med" w="med" type="triangle"/>
            <a:tailEnd len="med" w="med" type="triangle"/>
          </a:ln>
        </p:spPr>
      </p:cxnSp>
      <p:sp>
        <p:nvSpPr>
          <p:cNvPr id="286" name="Google Shape;286;p21"/>
          <p:cNvSpPr txBox="1"/>
          <p:nvPr/>
        </p:nvSpPr>
        <p:spPr>
          <a:xfrm>
            <a:off x="607289" y="7838178"/>
            <a:ext cx="710100" cy="1848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0"/>
              </a:spcBef>
              <a:spcAft>
                <a:spcPts val="1000"/>
              </a:spcAft>
              <a:buNone/>
            </a:pPr>
            <a:r>
              <a:rPr lang="en-GB" sz="1200">
                <a:solidFill>
                  <a:srgbClr val="000000"/>
                </a:solidFill>
                <a:latin typeface="Lexend"/>
                <a:ea typeface="Lexend"/>
                <a:cs typeface="Lexend"/>
                <a:sym typeface="Lexend"/>
              </a:rPr>
              <a:t>shape 1</a:t>
            </a:r>
            <a:endParaRPr sz="1200">
              <a:solidFill>
                <a:srgbClr val="000000"/>
              </a:solidFill>
              <a:latin typeface="Lexend"/>
              <a:ea typeface="Lexend"/>
              <a:cs typeface="Lexend"/>
              <a:sym typeface="Lexend"/>
            </a:endParaRPr>
          </a:p>
        </p:txBody>
      </p:sp>
      <p:sp>
        <p:nvSpPr>
          <p:cNvPr id="287" name="Google Shape;287;p21"/>
          <p:cNvSpPr txBox="1"/>
          <p:nvPr/>
        </p:nvSpPr>
        <p:spPr>
          <a:xfrm>
            <a:off x="607289" y="9174951"/>
            <a:ext cx="710100" cy="184800"/>
          </a:xfrm>
          <a:prstGeom prst="rect">
            <a:avLst/>
          </a:prstGeom>
          <a:noFill/>
          <a:ln>
            <a:noFill/>
          </a:ln>
        </p:spPr>
        <p:txBody>
          <a:bodyPr anchorCtr="0" anchor="t" bIns="0" lIns="0" spcFirstLastPara="1" rIns="0" wrap="square" tIns="0">
            <a:spAutoFit/>
          </a:bodyPr>
          <a:lstStyle/>
          <a:p>
            <a:pPr indent="0" lvl="0" marL="0" rtl="0" algn="ctr">
              <a:lnSpc>
                <a:spcPct val="130000"/>
              </a:lnSpc>
              <a:spcBef>
                <a:spcPts val="0"/>
              </a:spcBef>
              <a:spcAft>
                <a:spcPts val="1000"/>
              </a:spcAft>
              <a:buNone/>
            </a:pPr>
            <a:r>
              <a:rPr lang="en-GB" sz="1200">
                <a:solidFill>
                  <a:srgbClr val="000000"/>
                </a:solidFill>
                <a:latin typeface="Lexend"/>
                <a:ea typeface="Lexend"/>
                <a:cs typeface="Lexend"/>
                <a:sym typeface="Lexend"/>
              </a:rPr>
              <a:t>shape 2</a:t>
            </a:r>
            <a:endParaRPr sz="1200">
              <a:solidFill>
                <a:srgbClr val="000000"/>
              </a:solidFill>
              <a:latin typeface="Lexend"/>
              <a:ea typeface="Lexend"/>
              <a:cs typeface="Lexend"/>
              <a:sym typeface="Lexend"/>
            </a:endParaRPr>
          </a:p>
        </p:txBody>
      </p:sp>
      <p:pic>
        <p:nvPicPr>
          <p:cNvPr id="288" name="Google Shape;288;p21"/>
          <p:cNvPicPr preferRelativeResize="0"/>
          <p:nvPr/>
        </p:nvPicPr>
        <p:blipFill rotWithShape="1">
          <a:blip r:embed="rId12">
            <a:alphaModFix/>
          </a:blip>
          <a:srcRect b="14520" l="36531" r="40162" t="67450"/>
          <a:stretch/>
        </p:blipFill>
        <p:spPr>
          <a:xfrm>
            <a:off x="5614958" y="6964075"/>
            <a:ext cx="917219" cy="553123"/>
          </a:xfrm>
          <a:prstGeom prst="rect">
            <a:avLst/>
          </a:prstGeom>
          <a:noFill/>
          <a:ln>
            <a:noFill/>
          </a:ln>
        </p:spPr>
      </p:pic>
      <p:pic>
        <p:nvPicPr>
          <p:cNvPr id="289" name="Google Shape;289;p21"/>
          <p:cNvPicPr preferRelativeResize="0"/>
          <p:nvPr/>
        </p:nvPicPr>
        <p:blipFill rotWithShape="1">
          <a:blip r:embed="rId12">
            <a:alphaModFix/>
          </a:blip>
          <a:srcRect b="15408" l="76368" r="323" t="54210"/>
          <a:stretch/>
        </p:blipFill>
        <p:spPr>
          <a:xfrm>
            <a:off x="1957352" y="6506775"/>
            <a:ext cx="917219" cy="932076"/>
          </a:xfrm>
          <a:prstGeom prst="rect">
            <a:avLst/>
          </a:prstGeom>
          <a:noFill/>
          <a:ln>
            <a:noFill/>
          </a:ln>
        </p:spPr>
      </p:pic>
      <p:sp>
        <p:nvSpPr>
          <p:cNvPr id="290" name="Google Shape;290;p21"/>
          <p:cNvSpPr txBox="1"/>
          <p:nvPr/>
        </p:nvSpPr>
        <p:spPr>
          <a:xfrm>
            <a:off x="2013729" y="7490348"/>
            <a:ext cx="8127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6 cm</a:t>
            </a:r>
            <a:endParaRPr sz="1200">
              <a:solidFill>
                <a:srgbClr val="000000"/>
              </a:solidFill>
              <a:latin typeface="Lexend"/>
              <a:ea typeface="Lexend"/>
              <a:cs typeface="Lexend"/>
              <a:sym typeface="Lexend"/>
            </a:endParaRPr>
          </a:p>
        </p:txBody>
      </p:sp>
      <p:cxnSp>
        <p:nvCxnSpPr>
          <p:cNvPr id="291" name="Google Shape;291;p21"/>
          <p:cNvCxnSpPr/>
          <p:nvPr/>
        </p:nvCxnSpPr>
        <p:spPr>
          <a:xfrm>
            <a:off x="2013836" y="7465068"/>
            <a:ext cx="812700" cy="0"/>
          </a:xfrm>
          <a:prstGeom prst="straightConnector1">
            <a:avLst/>
          </a:prstGeom>
          <a:noFill/>
          <a:ln cap="flat" cmpd="sng" w="28575">
            <a:solidFill>
              <a:srgbClr val="037B7D"/>
            </a:solidFill>
            <a:prstDash val="solid"/>
            <a:round/>
            <a:headEnd len="med" w="med" type="triangle"/>
            <a:tailEnd len="med" w="med" type="triangle"/>
          </a:ln>
        </p:spPr>
      </p:cxnSp>
      <p:sp>
        <p:nvSpPr>
          <p:cNvPr id="292" name="Google Shape;292;p21"/>
          <p:cNvSpPr txBox="1"/>
          <p:nvPr/>
        </p:nvSpPr>
        <p:spPr>
          <a:xfrm>
            <a:off x="5671325" y="7542472"/>
            <a:ext cx="4185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8 cm</a:t>
            </a:r>
            <a:endParaRPr sz="1200">
              <a:solidFill>
                <a:srgbClr val="000000"/>
              </a:solidFill>
              <a:latin typeface="Lexend"/>
              <a:ea typeface="Lexend"/>
              <a:cs typeface="Lexend"/>
              <a:sym typeface="Lexend"/>
            </a:endParaRPr>
          </a:p>
        </p:txBody>
      </p:sp>
      <p:cxnSp>
        <p:nvCxnSpPr>
          <p:cNvPr id="293" name="Google Shape;293;p21"/>
          <p:cNvCxnSpPr/>
          <p:nvPr/>
        </p:nvCxnSpPr>
        <p:spPr>
          <a:xfrm>
            <a:off x="5671379" y="7517192"/>
            <a:ext cx="418500" cy="0"/>
          </a:xfrm>
          <a:prstGeom prst="straightConnector1">
            <a:avLst/>
          </a:prstGeom>
          <a:noFill/>
          <a:ln cap="flat" cmpd="sng" w="28575">
            <a:solidFill>
              <a:srgbClr val="037B7D"/>
            </a:solidFill>
            <a:prstDash val="solid"/>
            <a:round/>
            <a:headEnd len="med" w="med" type="triangle"/>
            <a:tailEnd len="med" w="med" type="triangle"/>
          </a:ln>
        </p:spPr>
      </p:cxnSp>
      <p:sp>
        <p:nvSpPr>
          <p:cNvPr id="294" name="Google Shape;294;p21"/>
          <p:cNvSpPr txBox="1"/>
          <p:nvPr/>
        </p:nvSpPr>
        <p:spPr>
          <a:xfrm>
            <a:off x="2013729" y="9638471"/>
            <a:ext cx="8127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8 cm</a:t>
            </a:r>
            <a:endParaRPr sz="1200">
              <a:solidFill>
                <a:srgbClr val="000000"/>
              </a:solidFill>
              <a:latin typeface="Lexend"/>
              <a:ea typeface="Lexend"/>
              <a:cs typeface="Lexend"/>
              <a:sym typeface="Lexend"/>
            </a:endParaRPr>
          </a:p>
        </p:txBody>
      </p:sp>
      <p:cxnSp>
        <p:nvCxnSpPr>
          <p:cNvPr id="295" name="Google Shape;295;p21"/>
          <p:cNvCxnSpPr/>
          <p:nvPr/>
        </p:nvCxnSpPr>
        <p:spPr>
          <a:xfrm>
            <a:off x="2013836" y="9613191"/>
            <a:ext cx="812700" cy="0"/>
          </a:xfrm>
          <a:prstGeom prst="straightConnector1">
            <a:avLst/>
          </a:prstGeom>
          <a:noFill/>
          <a:ln cap="flat" cmpd="sng" w="28575">
            <a:solidFill>
              <a:srgbClr val="037B7D"/>
            </a:solidFill>
            <a:prstDash val="solid"/>
            <a:round/>
            <a:headEnd len="med" w="med" type="triangle"/>
            <a:tailEnd len="med" w="med" type="triangle"/>
          </a:ln>
        </p:spPr>
      </p:cxnSp>
      <p:sp>
        <p:nvSpPr>
          <p:cNvPr id="296" name="Google Shape;296;p21"/>
          <p:cNvSpPr txBox="1"/>
          <p:nvPr/>
        </p:nvSpPr>
        <p:spPr>
          <a:xfrm flipH="1" rot="5400000">
            <a:off x="2763608" y="9203913"/>
            <a:ext cx="5892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3 cm</a:t>
            </a:r>
            <a:endParaRPr sz="1200">
              <a:solidFill>
                <a:srgbClr val="000000"/>
              </a:solidFill>
              <a:latin typeface="Lexend"/>
              <a:ea typeface="Lexend"/>
              <a:cs typeface="Lexend"/>
              <a:sym typeface="Lexend"/>
            </a:endParaRPr>
          </a:p>
        </p:txBody>
      </p:sp>
      <p:cxnSp>
        <p:nvCxnSpPr>
          <p:cNvPr id="297" name="Google Shape;297;p21"/>
          <p:cNvCxnSpPr/>
          <p:nvPr/>
        </p:nvCxnSpPr>
        <p:spPr>
          <a:xfrm rot="5400000">
            <a:off x="2691737" y="9302738"/>
            <a:ext cx="484500" cy="0"/>
          </a:xfrm>
          <a:prstGeom prst="straightConnector1">
            <a:avLst/>
          </a:prstGeom>
          <a:noFill/>
          <a:ln cap="flat" cmpd="sng" w="28575">
            <a:solidFill>
              <a:srgbClr val="037B7D"/>
            </a:solidFill>
            <a:prstDash val="solid"/>
            <a:round/>
            <a:headEnd len="med" w="med" type="triangle"/>
            <a:tailEnd len="med" w="med" type="triangle"/>
          </a:ln>
        </p:spPr>
      </p:cxnSp>
      <p:pic>
        <p:nvPicPr>
          <p:cNvPr id="298" name="Google Shape;298;p21"/>
          <p:cNvPicPr preferRelativeResize="0"/>
          <p:nvPr/>
        </p:nvPicPr>
        <p:blipFill rotWithShape="1">
          <a:blip r:embed="rId12">
            <a:alphaModFix/>
          </a:blip>
          <a:srcRect b="0" l="0" r="76693" t="81970"/>
          <a:stretch/>
        </p:blipFill>
        <p:spPr>
          <a:xfrm>
            <a:off x="2931489" y="6430776"/>
            <a:ext cx="917219" cy="553123"/>
          </a:xfrm>
          <a:prstGeom prst="rect">
            <a:avLst/>
          </a:prstGeom>
          <a:noFill/>
          <a:ln>
            <a:noFill/>
          </a:ln>
        </p:spPr>
      </p:pic>
      <p:pic>
        <p:nvPicPr>
          <p:cNvPr id="299" name="Google Shape;299;p21"/>
          <p:cNvPicPr preferRelativeResize="0"/>
          <p:nvPr/>
        </p:nvPicPr>
        <p:blipFill rotWithShape="1">
          <a:blip r:embed="rId12">
            <a:alphaModFix/>
          </a:blip>
          <a:srcRect b="14520" l="36531" r="40162" t="67450"/>
          <a:stretch/>
        </p:blipFill>
        <p:spPr>
          <a:xfrm>
            <a:off x="1940889" y="8183275"/>
            <a:ext cx="917219" cy="553123"/>
          </a:xfrm>
          <a:prstGeom prst="rect">
            <a:avLst/>
          </a:prstGeom>
          <a:noFill/>
          <a:ln>
            <a:noFill/>
          </a:ln>
        </p:spPr>
      </p:pic>
      <p:pic>
        <p:nvPicPr>
          <p:cNvPr id="300" name="Google Shape;300;p21"/>
          <p:cNvPicPr preferRelativeResize="0"/>
          <p:nvPr/>
        </p:nvPicPr>
        <p:blipFill rotWithShape="1">
          <a:blip r:embed="rId12">
            <a:alphaModFix/>
          </a:blip>
          <a:srcRect b="15408" l="76368" r="323" t="54210"/>
          <a:stretch/>
        </p:blipFill>
        <p:spPr>
          <a:xfrm>
            <a:off x="5674682" y="7802175"/>
            <a:ext cx="917219" cy="932076"/>
          </a:xfrm>
          <a:prstGeom prst="rect">
            <a:avLst/>
          </a:prstGeom>
          <a:noFill/>
          <a:ln>
            <a:noFill/>
          </a:ln>
        </p:spPr>
      </p:pic>
      <p:sp>
        <p:nvSpPr>
          <p:cNvPr id="301" name="Google Shape;301;p21"/>
          <p:cNvSpPr txBox="1"/>
          <p:nvPr/>
        </p:nvSpPr>
        <p:spPr>
          <a:xfrm>
            <a:off x="5731060" y="8785748"/>
            <a:ext cx="8127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3 cm</a:t>
            </a:r>
            <a:endParaRPr sz="1200">
              <a:solidFill>
                <a:srgbClr val="000000"/>
              </a:solidFill>
              <a:latin typeface="Lexend"/>
              <a:ea typeface="Lexend"/>
              <a:cs typeface="Lexend"/>
              <a:sym typeface="Lexend"/>
            </a:endParaRPr>
          </a:p>
        </p:txBody>
      </p:sp>
      <p:cxnSp>
        <p:nvCxnSpPr>
          <p:cNvPr id="302" name="Google Shape;302;p21"/>
          <p:cNvCxnSpPr/>
          <p:nvPr/>
        </p:nvCxnSpPr>
        <p:spPr>
          <a:xfrm>
            <a:off x="5731166" y="8760468"/>
            <a:ext cx="812700" cy="0"/>
          </a:xfrm>
          <a:prstGeom prst="straightConnector1">
            <a:avLst/>
          </a:prstGeom>
          <a:noFill/>
          <a:ln cap="flat" cmpd="sng" w="28575">
            <a:solidFill>
              <a:srgbClr val="037B7D"/>
            </a:solidFill>
            <a:prstDash val="solid"/>
            <a:round/>
            <a:headEnd len="med" w="med" type="triangle"/>
            <a:tailEnd len="med" w="med" type="triangle"/>
          </a:ln>
        </p:spPr>
      </p:cxnSp>
      <p:sp>
        <p:nvSpPr>
          <p:cNvPr id="303" name="Google Shape;303;p21"/>
          <p:cNvSpPr txBox="1"/>
          <p:nvPr/>
        </p:nvSpPr>
        <p:spPr>
          <a:xfrm>
            <a:off x="1929226" y="8761672"/>
            <a:ext cx="5547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4 cm</a:t>
            </a:r>
            <a:endParaRPr sz="1200">
              <a:solidFill>
                <a:srgbClr val="000000"/>
              </a:solidFill>
              <a:latin typeface="Lexend"/>
              <a:ea typeface="Lexend"/>
              <a:cs typeface="Lexend"/>
              <a:sym typeface="Lexend"/>
            </a:endParaRPr>
          </a:p>
        </p:txBody>
      </p:sp>
      <p:cxnSp>
        <p:nvCxnSpPr>
          <p:cNvPr id="304" name="Google Shape;304;p21"/>
          <p:cNvCxnSpPr/>
          <p:nvPr/>
        </p:nvCxnSpPr>
        <p:spPr>
          <a:xfrm>
            <a:off x="1997310" y="8736392"/>
            <a:ext cx="418500" cy="0"/>
          </a:xfrm>
          <a:prstGeom prst="straightConnector1">
            <a:avLst/>
          </a:prstGeom>
          <a:noFill/>
          <a:ln cap="flat" cmpd="sng" w="28575">
            <a:solidFill>
              <a:srgbClr val="037B7D"/>
            </a:solidFill>
            <a:prstDash val="solid"/>
            <a:round/>
            <a:headEnd len="med" w="med" type="triangle"/>
            <a:tailEnd len="med" w="med" type="triangle"/>
          </a:ln>
        </p:spPr>
      </p:cxnSp>
      <p:sp>
        <p:nvSpPr>
          <p:cNvPr id="305" name="Google Shape;305;p21"/>
          <p:cNvSpPr txBox="1"/>
          <p:nvPr/>
        </p:nvSpPr>
        <p:spPr>
          <a:xfrm>
            <a:off x="2987860" y="7047671"/>
            <a:ext cx="8127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6 cm</a:t>
            </a:r>
            <a:endParaRPr sz="1200">
              <a:solidFill>
                <a:srgbClr val="000000"/>
              </a:solidFill>
              <a:latin typeface="Lexend"/>
              <a:ea typeface="Lexend"/>
              <a:cs typeface="Lexend"/>
              <a:sym typeface="Lexend"/>
            </a:endParaRPr>
          </a:p>
        </p:txBody>
      </p:sp>
      <p:cxnSp>
        <p:nvCxnSpPr>
          <p:cNvPr id="306" name="Google Shape;306;p21"/>
          <p:cNvCxnSpPr/>
          <p:nvPr/>
        </p:nvCxnSpPr>
        <p:spPr>
          <a:xfrm>
            <a:off x="2987966" y="7022391"/>
            <a:ext cx="812700" cy="0"/>
          </a:xfrm>
          <a:prstGeom prst="straightConnector1">
            <a:avLst/>
          </a:prstGeom>
          <a:noFill/>
          <a:ln cap="flat" cmpd="sng" w="28575">
            <a:solidFill>
              <a:srgbClr val="037B7D"/>
            </a:solidFill>
            <a:prstDash val="solid"/>
            <a:round/>
            <a:headEnd len="med" w="med" type="triangle"/>
            <a:tailEnd len="med" w="med" type="triangle"/>
          </a:ln>
        </p:spPr>
      </p:cxnSp>
      <p:sp>
        <p:nvSpPr>
          <p:cNvPr id="307" name="Google Shape;307;p21"/>
          <p:cNvSpPr txBox="1"/>
          <p:nvPr/>
        </p:nvSpPr>
        <p:spPr>
          <a:xfrm flipH="1" rot="5400000">
            <a:off x="3737739" y="6613113"/>
            <a:ext cx="589200" cy="19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 cm</a:t>
            </a:r>
            <a:endParaRPr sz="1200">
              <a:solidFill>
                <a:srgbClr val="000000"/>
              </a:solidFill>
              <a:latin typeface="Lexend"/>
              <a:ea typeface="Lexend"/>
              <a:cs typeface="Lexend"/>
              <a:sym typeface="Lexend"/>
            </a:endParaRPr>
          </a:p>
        </p:txBody>
      </p:sp>
      <p:cxnSp>
        <p:nvCxnSpPr>
          <p:cNvPr id="308" name="Google Shape;308;p21"/>
          <p:cNvCxnSpPr/>
          <p:nvPr/>
        </p:nvCxnSpPr>
        <p:spPr>
          <a:xfrm rot="5400000">
            <a:off x="3665868" y="6711938"/>
            <a:ext cx="484500" cy="0"/>
          </a:xfrm>
          <a:prstGeom prst="straightConnector1">
            <a:avLst/>
          </a:prstGeom>
          <a:noFill/>
          <a:ln cap="flat" cmpd="sng" w="28575">
            <a:solidFill>
              <a:srgbClr val="037B7D"/>
            </a:solidFill>
            <a:prstDash val="solid"/>
            <a:round/>
            <a:headEnd len="med" w="med" type="triangle"/>
            <a:tailEnd len="med" w="med" type="triangle"/>
          </a:ln>
        </p:spPr>
      </p:cxnSp>
      <p:grpSp>
        <p:nvGrpSpPr>
          <p:cNvPr id="309" name="Google Shape;309;p21"/>
          <p:cNvGrpSpPr/>
          <p:nvPr/>
        </p:nvGrpSpPr>
        <p:grpSpPr>
          <a:xfrm>
            <a:off x="1741233" y="9060492"/>
            <a:ext cx="216118" cy="216118"/>
            <a:chOff x="1020916" y="1442088"/>
            <a:chExt cx="457200" cy="457200"/>
          </a:xfrm>
        </p:grpSpPr>
        <p:pic>
          <p:nvPicPr>
            <p:cNvPr id="310" name="Google Shape;310;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11" name="Google Shape;311;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312" name="Google Shape;312;p21"/>
          <p:cNvGrpSpPr/>
          <p:nvPr/>
        </p:nvGrpSpPr>
        <p:grpSpPr>
          <a:xfrm>
            <a:off x="5398833" y="7232774"/>
            <a:ext cx="216118" cy="216118"/>
            <a:chOff x="1020916" y="1442088"/>
            <a:chExt cx="457200" cy="457200"/>
          </a:xfrm>
        </p:grpSpPr>
        <p:pic>
          <p:nvPicPr>
            <p:cNvPr id="313" name="Google Shape;313;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14" name="Google Shape;314;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grpSp>
        <p:nvGrpSpPr>
          <p:cNvPr id="315" name="Google Shape;315;p21"/>
          <p:cNvGrpSpPr/>
          <p:nvPr/>
        </p:nvGrpSpPr>
        <p:grpSpPr>
          <a:xfrm>
            <a:off x="1741233" y="7188610"/>
            <a:ext cx="216118" cy="216118"/>
            <a:chOff x="1020916" y="1442088"/>
            <a:chExt cx="457200" cy="457200"/>
          </a:xfrm>
        </p:grpSpPr>
        <p:pic>
          <p:nvPicPr>
            <p:cNvPr id="316" name="Google Shape;316;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17" name="Google Shape;317;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grpSp>
        <p:nvGrpSpPr>
          <p:cNvPr id="318" name="Google Shape;318;p21"/>
          <p:cNvGrpSpPr/>
          <p:nvPr/>
        </p:nvGrpSpPr>
        <p:grpSpPr>
          <a:xfrm>
            <a:off x="2713692" y="6469692"/>
            <a:ext cx="216118" cy="216118"/>
            <a:chOff x="1020916" y="1442088"/>
            <a:chExt cx="457200" cy="457200"/>
          </a:xfrm>
        </p:grpSpPr>
        <p:pic>
          <p:nvPicPr>
            <p:cNvPr id="319" name="Google Shape;319;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20" name="Google Shape;320;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d</a:t>
              </a:r>
              <a:endParaRPr b="1" i="0" sz="1800" u="none" cap="none" strike="noStrike">
                <a:solidFill>
                  <a:srgbClr val="FFFFFF"/>
                </a:solidFill>
                <a:latin typeface="Lexend"/>
                <a:ea typeface="Lexend"/>
                <a:cs typeface="Lexend"/>
                <a:sym typeface="Lexend"/>
              </a:endParaRPr>
            </a:p>
          </p:txBody>
        </p:sp>
      </p:grpSp>
      <p:grpSp>
        <p:nvGrpSpPr>
          <p:cNvPr id="321" name="Google Shape;321;p21"/>
          <p:cNvGrpSpPr/>
          <p:nvPr/>
        </p:nvGrpSpPr>
        <p:grpSpPr>
          <a:xfrm>
            <a:off x="1723092" y="8451974"/>
            <a:ext cx="216118" cy="216118"/>
            <a:chOff x="1020916" y="1442088"/>
            <a:chExt cx="457200" cy="457200"/>
          </a:xfrm>
        </p:grpSpPr>
        <p:pic>
          <p:nvPicPr>
            <p:cNvPr id="322" name="Google Shape;322;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23" name="Google Shape;323;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e</a:t>
              </a:r>
              <a:endParaRPr b="1" i="0" sz="1800" u="none" cap="none" strike="noStrike">
                <a:solidFill>
                  <a:srgbClr val="FFFFFF"/>
                </a:solidFill>
                <a:latin typeface="Lexend"/>
                <a:ea typeface="Lexend"/>
                <a:cs typeface="Lexend"/>
                <a:sym typeface="Lexend"/>
              </a:endParaRPr>
            </a:p>
          </p:txBody>
        </p:sp>
      </p:grpSp>
      <p:grpSp>
        <p:nvGrpSpPr>
          <p:cNvPr id="324" name="Google Shape;324;p21"/>
          <p:cNvGrpSpPr/>
          <p:nvPr/>
        </p:nvGrpSpPr>
        <p:grpSpPr>
          <a:xfrm>
            <a:off x="5456892" y="8484010"/>
            <a:ext cx="216118" cy="216118"/>
            <a:chOff x="1020916" y="1442088"/>
            <a:chExt cx="457200" cy="457200"/>
          </a:xfrm>
        </p:grpSpPr>
        <p:pic>
          <p:nvPicPr>
            <p:cNvPr id="325" name="Google Shape;325;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26" name="Google Shape;326;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f</a:t>
              </a:r>
              <a:endParaRPr b="1" i="0" sz="1800" u="none" cap="none" strike="noStrike">
                <a:solidFill>
                  <a:srgbClr val="FFFFFF"/>
                </a:solidFill>
                <a:latin typeface="Lexend"/>
                <a:ea typeface="Lexend"/>
                <a:cs typeface="Lexend"/>
                <a:sym typeface="Lexend"/>
              </a:endParaRPr>
            </a:p>
          </p:txBody>
        </p:sp>
      </p:grpSp>
      <p:grpSp>
        <p:nvGrpSpPr>
          <p:cNvPr id="327" name="Google Shape;327;p21"/>
          <p:cNvGrpSpPr/>
          <p:nvPr/>
        </p:nvGrpSpPr>
        <p:grpSpPr>
          <a:xfrm>
            <a:off x="2944413" y="8709784"/>
            <a:ext cx="216118" cy="216118"/>
            <a:chOff x="1020916" y="1442088"/>
            <a:chExt cx="457200" cy="457200"/>
          </a:xfrm>
        </p:grpSpPr>
        <p:pic>
          <p:nvPicPr>
            <p:cNvPr id="328" name="Google Shape;328;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29" name="Google Shape;329;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g</a:t>
              </a:r>
              <a:endParaRPr b="1" i="0" sz="1800" u="none" cap="none" strike="noStrike">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frac{1}{4}\times\pi\times6^2+12&quot;&gt;&lt;mfrac&gt;&lt;mn&gt;1&lt;/mn&gt;&lt;mn&gt;4&lt;/mn&gt;&lt;/mfrac&gt;&lt;mo&gt;×&lt;/mo&gt;&lt;mi&gt;π&lt;/mi&gt;&lt;mo&gt;×&lt;/mo&gt;&lt;msup&gt;&lt;mn&gt;6&lt;/mn&gt;&lt;mn&gt;2&lt;/mn&gt;&lt;/msup&gt;&lt;mo&gt;+&lt;/mo&gt;&lt;mn&gt;12&lt;/mn&gt;&lt;/math&gt;" id="330" name="Google Shape;330;p21" title="one fourth times pi times 6 squared plus 12"/>
          <p:cNvPicPr preferRelativeResize="0"/>
          <p:nvPr/>
        </p:nvPicPr>
        <p:blipFill rotWithShape="1">
          <a:blip r:embed="rId14">
            <a:alphaModFix/>
          </a:blip>
          <a:srcRect b="0" l="0" r="0" t="0"/>
          <a:stretch/>
        </p:blipFill>
        <p:spPr>
          <a:xfrm>
            <a:off x="3218102" y="7310350"/>
            <a:ext cx="1276248" cy="401400"/>
          </a:xfrm>
          <a:prstGeom prst="rect">
            <a:avLst/>
          </a:prstGeom>
          <a:noFill/>
          <a:ln>
            <a:noFill/>
          </a:ln>
        </p:spPr>
      </p:pic>
      <p:pic>
        <p:nvPicPr>
          <p:cNvPr descr="&lt;math xmlns=&quot;http://www.w3.org/1998/Math/MathML&quot; display=&quot;block&quot; data-is-equatio=&quot;1&quot; data-latex=&quot;\frac{1}{2}\times\pi\times8^2+24&quot;&gt;&lt;mfrac&gt;&lt;mn&gt;1&lt;/mn&gt;&lt;mn&gt;2&lt;/mn&gt;&lt;/mfrac&gt;&lt;mo&gt;×&lt;/mo&gt;&lt;mi&gt;π&lt;/mi&gt;&lt;mo&gt;×&lt;/mo&gt;&lt;msup&gt;&lt;mn&gt;8&lt;/mn&gt;&lt;mn&gt;2&lt;/mn&gt;&lt;/msup&gt;&lt;mo&gt;+&lt;/mo&gt;&lt;mn&gt;24&lt;/mn&gt;&lt;/math&gt;" id="331" name="Google Shape;331;p21" title="one half times pi times 8 squared plus 24"/>
          <p:cNvPicPr preferRelativeResize="0"/>
          <p:nvPr/>
        </p:nvPicPr>
        <p:blipFill rotWithShape="1">
          <a:blip r:embed="rId15">
            <a:alphaModFix/>
          </a:blip>
          <a:srcRect b="0" l="0" r="0" t="0"/>
          <a:stretch/>
        </p:blipFill>
        <p:spPr>
          <a:xfrm>
            <a:off x="5751318" y="9028302"/>
            <a:ext cx="1341564" cy="421935"/>
          </a:xfrm>
          <a:prstGeom prst="rect">
            <a:avLst/>
          </a:prstGeom>
          <a:noFill/>
          <a:ln>
            <a:noFill/>
          </a:ln>
        </p:spPr>
      </p:pic>
      <p:pic>
        <p:nvPicPr>
          <p:cNvPr descr="&lt;math xmlns=&quot;http://www.w3.org/1998/Math/MathML&quot; display=&quot;block&quot; data-is-equatio=&quot;1&quot; data-latex=&quot;\frac{1}{2}\times\pi\times4^2+24&quot;&gt;&lt;mfrac&gt;&lt;mn&gt;1&lt;/mn&gt;&lt;mn&gt;2&lt;/mn&gt;&lt;/mfrac&gt;&lt;mo&gt;×&lt;/mo&gt;&lt;mi&gt;π&lt;/mi&gt;&lt;mo&gt;×&lt;/mo&gt;&lt;msup&gt;&lt;mn&gt;4&lt;/mn&gt;&lt;mn&gt;2&lt;/mn&gt;&lt;/msup&gt;&lt;mo&gt;+&lt;/mo&gt;&lt;mn&gt;24&lt;/mn&gt;&lt;/math&gt;" id="332" name="Google Shape;332;p21" title="one half times pi times 4 squared plus 24"/>
          <p:cNvPicPr preferRelativeResize="0"/>
          <p:nvPr/>
        </p:nvPicPr>
        <p:blipFill rotWithShape="1">
          <a:blip r:embed="rId16">
            <a:alphaModFix/>
          </a:blip>
          <a:srcRect b="0" l="0" r="0" t="0"/>
          <a:stretch/>
        </p:blipFill>
        <p:spPr>
          <a:xfrm>
            <a:off x="3160527" y="8596100"/>
            <a:ext cx="1341564" cy="421935"/>
          </a:xfrm>
          <a:prstGeom prst="rect">
            <a:avLst/>
          </a:prstGeom>
          <a:noFill/>
          <a:ln>
            <a:noFill/>
          </a:ln>
        </p:spPr>
      </p:pic>
      <p:pic>
        <p:nvPicPr>
          <p:cNvPr descr="&lt;math xmlns=&quot;http://www.w3.org/1998/Math/MathML&quot; display=&quot;block&quot; data-is-equatio=&quot;1&quot; data-latex=&quot;\frac{1}{2}\times\pi\times3^2+12&quot;&gt;&lt;mfrac&gt;&lt;mn&gt;1&lt;/mn&gt;&lt;mn&gt;2&lt;/mn&gt;&lt;/mfrac&gt;&lt;mo&gt;×&lt;/mo&gt;&lt;mi&gt;π&lt;/mi&gt;&lt;mo&gt;×&lt;/mo&gt;&lt;msup&gt;&lt;mn&gt;3&lt;/mn&gt;&lt;mn&gt;2&lt;/mn&gt;&lt;/msup&gt;&lt;mo&gt;+&lt;/mo&gt;&lt;mn&gt;12&lt;/mn&gt;&lt;/math&gt;" id="333" name="Google Shape;333;p21" title="one half times pi times 3 squared plus 12"/>
          <p:cNvPicPr preferRelativeResize="0"/>
          <p:nvPr/>
        </p:nvPicPr>
        <p:blipFill rotWithShape="1">
          <a:blip r:embed="rId17">
            <a:alphaModFix/>
          </a:blip>
          <a:srcRect b="0" l="0" r="0" t="0"/>
          <a:stretch/>
        </p:blipFill>
        <p:spPr>
          <a:xfrm>
            <a:off x="5751225" y="9511679"/>
            <a:ext cx="1341750" cy="421935"/>
          </a:xfrm>
          <a:prstGeom prst="rect">
            <a:avLst/>
          </a:prstGeom>
          <a:noFill/>
          <a:ln>
            <a:noFill/>
          </a:ln>
        </p:spPr>
      </p:pic>
      <p:grpSp>
        <p:nvGrpSpPr>
          <p:cNvPr id="334" name="Google Shape;334;p21"/>
          <p:cNvGrpSpPr/>
          <p:nvPr/>
        </p:nvGrpSpPr>
        <p:grpSpPr>
          <a:xfrm>
            <a:off x="5459013" y="9095609"/>
            <a:ext cx="216118" cy="216118"/>
            <a:chOff x="1020916" y="1442088"/>
            <a:chExt cx="457200" cy="457200"/>
          </a:xfrm>
        </p:grpSpPr>
        <p:pic>
          <p:nvPicPr>
            <p:cNvPr id="335" name="Google Shape;335;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36" name="Google Shape;336;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h</a:t>
              </a:r>
              <a:endParaRPr b="1" i="0" sz="1800" u="none" cap="none" strike="noStrike">
                <a:solidFill>
                  <a:srgbClr val="FFFFFF"/>
                </a:solidFill>
                <a:latin typeface="Lexend"/>
                <a:ea typeface="Lexend"/>
                <a:cs typeface="Lexend"/>
                <a:sym typeface="Lexend"/>
              </a:endParaRPr>
            </a:p>
          </p:txBody>
        </p:sp>
      </p:grpSp>
      <p:grpSp>
        <p:nvGrpSpPr>
          <p:cNvPr id="337" name="Google Shape;337;p21"/>
          <p:cNvGrpSpPr/>
          <p:nvPr/>
        </p:nvGrpSpPr>
        <p:grpSpPr>
          <a:xfrm>
            <a:off x="2944413" y="7424034"/>
            <a:ext cx="216118" cy="216118"/>
            <a:chOff x="1020916" y="1442088"/>
            <a:chExt cx="457200" cy="457200"/>
          </a:xfrm>
        </p:grpSpPr>
        <p:pic>
          <p:nvPicPr>
            <p:cNvPr id="338" name="Google Shape;338;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39" name="Google Shape;339;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i</a:t>
              </a:r>
              <a:endParaRPr b="1" i="0" sz="1800" u="none" cap="none" strike="noStrike">
                <a:solidFill>
                  <a:srgbClr val="FFFFFF"/>
                </a:solidFill>
                <a:latin typeface="Lexend"/>
                <a:ea typeface="Lexend"/>
                <a:cs typeface="Lexend"/>
                <a:sym typeface="Lexend"/>
              </a:endParaRPr>
            </a:p>
          </p:txBody>
        </p:sp>
      </p:grpSp>
      <p:grpSp>
        <p:nvGrpSpPr>
          <p:cNvPr id="340" name="Google Shape;340;p21"/>
          <p:cNvGrpSpPr/>
          <p:nvPr/>
        </p:nvGrpSpPr>
        <p:grpSpPr>
          <a:xfrm>
            <a:off x="5459013" y="9638658"/>
            <a:ext cx="216118" cy="216118"/>
            <a:chOff x="1020916" y="1442088"/>
            <a:chExt cx="457200" cy="457200"/>
          </a:xfrm>
        </p:grpSpPr>
        <p:pic>
          <p:nvPicPr>
            <p:cNvPr id="341" name="Google Shape;341;p21"/>
            <p:cNvPicPr preferRelativeResize="0"/>
            <p:nvPr/>
          </p:nvPicPr>
          <p:blipFill rotWithShape="1">
            <a:blip r:embed="rId13">
              <a:alphaModFix/>
            </a:blip>
            <a:srcRect b="0" l="0" r="0" t="0"/>
            <a:stretch/>
          </p:blipFill>
          <p:spPr>
            <a:xfrm>
              <a:off x="1020916" y="1442088"/>
              <a:ext cx="457200" cy="457200"/>
            </a:xfrm>
            <a:prstGeom prst="rect">
              <a:avLst/>
            </a:prstGeom>
            <a:noFill/>
            <a:ln>
              <a:noFill/>
            </a:ln>
          </p:spPr>
        </p:pic>
        <p:sp>
          <p:nvSpPr>
            <p:cNvPr id="342" name="Google Shape;342;p2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j</a:t>
              </a:r>
              <a:endParaRPr b="1" i="0" sz="1800" u="none" cap="none" strike="noStrike">
                <a:solidFill>
                  <a:srgbClr val="FFFFFF"/>
                </a:solidFill>
                <a:latin typeface="Lexend"/>
                <a:ea typeface="Lexend"/>
                <a:cs typeface="Lexend"/>
                <a:sym typeface="Lexend"/>
              </a:endParaRPr>
            </a:p>
          </p:txBody>
        </p:sp>
      </p:grpSp>
      <p:sp>
        <p:nvSpPr>
          <p:cNvPr id="343" name="Google Shape;343;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44" name="Google Shape;344;p21"/>
          <p:cNvSpPr txBox="1"/>
          <p:nvPr/>
        </p:nvSpPr>
        <p:spPr>
          <a:xfrm>
            <a:off x="5401425" y="6526388"/>
            <a:ext cx="1683900" cy="42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These did not match with either shape.</a:t>
            </a:r>
            <a:endParaRPr sz="1200">
              <a:solidFill>
                <a:srgbClr val="000000"/>
              </a:solidFill>
              <a:latin typeface="Kalam"/>
              <a:ea typeface="Kalam"/>
              <a:cs typeface="Kalam"/>
              <a:sym typeface="Kala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2"/>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Area of composite shapes</a:t>
            </a:r>
            <a:endParaRPr/>
          </a:p>
        </p:txBody>
      </p:sp>
      <p:graphicFrame>
        <p:nvGraphicFramePr>
          <p:cNvPr id="350" name="Google Shape;350;p22"/>
          <p:cNvGraphicFramePr/>
          <p:nvPr/>
        </p:nvGraphicFramePr>
        <p:xfrm>
          <a:off x="472188" y="1099113"/>
          <a:ext cx="3000000" cy="3000000"/>
        </p:xfrm>
        <a:graphic>
          <a:graphicData uri="http://schemas.openxmlformats.org/drawingml/2006/table">
            <a:tbl>
              <a:tblPr>
                <a:noFill/>
                <a:tableStyleId>{2AF778D5-40E4-44AF-9910-FE7702755821}</a:tableStyleId>
              </a:tblPr>
              <a:tblGrid>
                <a:gridCol w="1642850"/>
                <a:gridCol w="2167425"/>
                <a:gridCol w="1968375"/>
                <a:gridCol w="836950"/>
              </a:tblGrid>
              <a:tr h="286100">
                <a:tc>
                  <a:txBody>
                    <a:bodyPr/>
                    <a:lstStyle/>
                    <a:p>
                      <a:pPr indent="0" lvl="0" marL="0" marR="0" rtl="0" algn="ctr">
                        <a:lnSpc>
                          <a:spcPct val="100000"/>
                        </a:lnSpc>
                        <a:spcBef>
                          <a:spcPts val="0"/>
                        </a:spcBef>
                        <a:spcAft>
                          <a:spcPts val="0"/>
                        </a:spcAft>
                        <a:buClr>
                          <a:srgbClr val="000000"/>
                        </a:buClr>
                        <a:buSzPts val="1800"/>
                        <a:buFont typeface="Arial"/>
                        <a:buNone/>
                      </a:pPr>
                      <a:r>
                        <a:rPr b="1" lang="en-GB" sz="1200" u="none" cap="none" strike="noStrike">
                          <a:solidFill>
                            <a:schemeClr val="dk1"/>
                          </a:solidFill>
                          <a:latin typeface="Lexend"/>
                          <a:ea typeface="Lexend"/>
                          <a:cs typeface="Lexend"/>
                          <a:sym typeface="Lexend"/>
                        </a:rPr>
                        <a:t>shape</a:t>
                      </a:r>
                      <a:endParaRPr b="1" sz="1200" u="none" cap="none" strike="noStrike">
                        <a:solidFill>
                          <a:schemeClr val="dk1"/>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GB" sz="1200" u="none" cap="none" strike="noStrike">
                          <a:solidFill>
                            <a:schemeClr val="dk1"/>
                          </a:solidFill>
                          <a:latin typeface="Lexend"/>
                          <a:ea typeface="Lexend"/>
                          <a:cs typeface="Lexend"/>
                          <a:sym typeface="Lexend"/>
                        </a:rPr>
                        <a:t>shape broken into  parts</a:t>
                      </a:r>
                      <a:endParaRPr b="1" sz="1200" u="none" cap="none" strike="noStrike">
                        <a:solidFill>
                          <a:schemeClr val="dk1"/>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GB" sz="1200" u="none" cap="none" strike="noStrike">
                          <a:solidFill>
                            <a:schemeClr val="dk1"/>
                          </a:solidFill>
                          <a:latin typeface="Lexend"/>
                          <a:ea typeface="Lexend"/>
                          <a:cs typeface="Lexend"/>
                          <a:sym typeface="Lexend"/>
                        </a:rPr>
                        <a:t>calculations (addition)</a:t>
                      </a:r>
                      <a:endParaRPr b="1" sz="1200" u="none" cap="none" strike="noStrike">
                        <a:solidFill>
                          <a:schemeClr val="dk1"/>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GB" sz="1200" u="none" cap="none" strike="noStrike">
                          <a:solidFill>
                            <a:schemeClr val="dk1"/>
                          </a:solidFill>
                          <a:latin typeface="Lexend"/>
                          <a:ea typeface="Lexend"/>
                          <a:cs typeface="Lexend"/>
                          <a:sym typeface="Lexend"/>
                        </a:rPr>
                        <a:t>answer</a:t>
                      </a:r>
                      <a:endParaRPr b="1" sz="1200" u="none" cap="none" strike="noStrike">
                        <a:solidFill>
                          <a:schemeClr val="dk1"/>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24975">
                <a:tc>
                  <a:txBody>
                    <a:bodyPr/>
                    <a:lstStyle/>
                    <a:p>
                      <a:pPr indent="0" lvl="0" marL="0" marR="0" rtl="0" algn="ctr">
                        <a:lnSpc>
                          <a:spcPct val="100000"/>
                        </a:lnSpc>
                        <a:spcBef>
                          <a:spcPts val="0"/>
                        </a:spcBef>
                        <a:spcAft>
                          <a:spcPts val="0"/>
                        </a:spcAft>
                        <a:buClr>
                          <a:srgbClr val="000000"/>
                        </a:buClr>
                        <a:buSzPts val="1800"/>
                        <a:buFont typeface="Arial"/>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i="1" lang="en-GB" u="none" cap="none" strike="noStrike">
                          <a:latin typeface="Times New Roman"/>
                          <a:ea typeface="Times New Roman"/>
                          <a:cs typeface="Times New Roman"/>
                          <a:sym typeface="Times New Roman"/>
                        </a:rPr>
                        <a:t>π</a:t>
                      </a:r>
                      <a:r>
                        <a:rPr lang="en-GB" u="none" cap="none" strike="noStrike">
                          <a:latin typeface="Times New Roman"/>
                          <a:ea typeface="Times New Roman"/>
                          <a:cs typeface="Times New Roman"/>
                          <a:sym typeface="Times New Roman"/>
                        </a:rPr>
                        <a:t> + 14</a:t>
                      </a:r>
                      <a:endParaRPr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t/>
                      </a:r>
                      <a:endParaRPr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u="none" cap="none" strike="noStrike">
                          <a:latin typeface="Times New Roman"/>
                          <a:ea typeface="Times New Roman"/>
                          <a:cs typeface="Times New Roman"/>
                          <a:sym typeface="Times New Roman"/>
                        </a:rPr>
                        <a:t>17.1 cm²</a:t>
                      </a:r>
                      <a:endParaRPr u="none" cap="none" strike="noStrike">
                        <a:latin typeface="Times New Roman"/>
                        <a:ea typeface="Times New Roman"/>
                        <a:cs typeface="Times New Roman"/>
                        <a:sym typeface="Times New Roman"/>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64275">
                <a:tc>
                  <a:txBody>
                    <a:bodyPr/>
                    <a:lstStyle/>
                    <a:p>
                      <a:pPr indent="0" lvl="0" marL="0" marR="0" rtl="0" algn="ctr">
                        <a:lnSpc>
                          <a:spcPct val="100000"/>
                        </a:lnSpc>
                        <a:spcBef>
                          <a:spcPts val="0"/>
                        </a:spcBef>
                        <a:spcAft>
                          <a:spcPts val="0"/>
                        </a:spcAft>
                        <a:buClr>
                          <a:srgbClr val="000000"/>
                        </a:buClr>
                        <a:buSzPts val="1800"/>
                        <a:buFont typeface="Arial"/>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lang="en-GB" u="none" cap="none" strike="noStrike">
                          <a:latin typeface="Times New Roman"/>
                          <a:ea typeface="Times New Roman"/>
                          <a:cs typeface="Times New Roman"/>
                          <a:sym typeface="Times New Roman"/>
                        </a:rPr>
                        <a:t>164π + 384</a:t>
                      </a:r>
                      <a:endParaRPr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100"/>
                        <a:buFont typeface="Arial"/>
                        <a:buNone/>
                      </a:pPr>
                      <a:r>
                        <a:t/>
                      </a:r>
                      <a:endParaRPr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rPr lang="en-GB" u="none" cap="none" strike="noStrike">
                          <a:latin typeface="Times New Roman"/>
                          <a:ea typeface="Times New Roman"/>
                          <a:cs typeface="Times New Roman"/>
                          <a:sym typeface="Times New Roman"/>
                        </a:rPr>
                        <a:t>889.2 cm²</a:t>
                      </a:r>
                      <a:endParaRPr u="none" cap="none" strike="noStrike">
                        <a:latin typeface="Times New Roman"/>
                        <a:ea typeface="Times New Roman"/>
                        <a:cs typeface="Times New Roman"/>
                        <a:sym typeface="Times New Roman"/>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61725">
                <a:tc>
                  <a:txBody>
                    <a:bodyPr/>
                    <a:lstStyle/>
                    <a:p>
                      <a:pPr indent="0" lvl="0" marL="0" marR="0" rtl="0" algn="ctr">
                        <a:lnSpc>
                          <a:spcPct val="100000"/>
                        </a:lnSpc>
                        <a:spcBef>
                          <a:spcPts val="0"/>
                        </a:spcBef>
                        <a:spcAft>
                          <a:spcPts val="0"/>
                        </a:spcAft>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2200"/>
                        <a:buFont typeface="Arial"/>
                        <a:buNone/>
                      </a:pPr>
                      <a:r>
                        <a:rPr lang="en-GB">
                          <a:solidFill>
                            <a:schemeClr val="dk1"/>
                          </a:solidFill>
                          <a:latin typeface="Times New Roman"/>
                          <a:ea typeface="Times New Roman"/>
                          <a:cs typeface="Times New Roman"/>
                          <a:sym typeface="Times New Roman"/>
                        </a:rPr>
                        <a:t>432</a:t>
                      </a:r>
                      <a:r>
                        <a:rPr i="1" lang="en-GB">
                          <a:solidFill>
                            <a:schemeClr val="dk1"/>
                          </a:solidFill>
                          <a:latin typeface="Times New Roman"/>
                          <a:ea typeface="Times New Roman"/>
                          <a:cs typeface="Times New Roman"/>
                          <a:sym typeface="Times New Roman"/>
                        </a:rPr>
                        <a:t>π</a:t>
                      </a:r>
                      <a:r>
                        <a:rPr lang="en-GB">
                          <a:solidFill>
                            <a:schemeClr val="dk1"/>
                          </a:solidFill>
                          <a:latin typeface="Times New Roman"/>
                          <a:ea typeface="Times New Roman"/>
                          <a:cs typeface="Times New Roman"/>
                          <a:sym typeface="Times New Roman"/>
                        </a:rPr>
                        <a:t> + 576</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2200"/>
                        <a:buFont typeface="Arial"/>
                        <a:buNone/>
                      </a:pPr>
                      <a:r>
                        <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2200"/>
                        <a:buFont typeface="Arial"/>
                        <a:buNone/>
                      </a:pPr>
                      <a:r>
                        <a:rPr lang="en-GB">
                          <a:solidFill>
                            <a:schemeClr val="dk1"/>
                          </a:solidFill>
                          <a:latin typeface="Times New Roman"/>
                          <a:ea typeface="Times New Roman"/>
                          <a:cs typeface="Times New Roman"/>
                          <a:sym typeface="Times New Roman"/>
                        </a:rPr>
                        <a:t>1933.2 cm²</a:t>
                      </a:r>
                      <a:endParaRPr>
                        <a:latin typeface="Times New Roman"/>
                        <a:ea typeface="Times New Roman"/>
                        <a:cs typeface="Times New Roman"/>
                        <a:sym typeface="Times New Roman"/>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93525">
                <a:tc>
                  <a:txBody>
                    <a:bodyPr/>
                    <a:lstStyle/>
                    <a:p>
                      <a:pPr indent="0" lvl="0" marL="0" marR="0" rtl="0" algn="ctr">
                        <a:lnSpc>
                          <a:spcPct val="100000"/>
                        </a:lnSpc>
                        <a:spcBef>
                          <a:spcPts val="0"/>
                        </a:spcBef>
                        <a:spcAft>
                          <a:spcPts val="0"/>
                        </a:spcAft>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sz="1200" u="none" cap="none" strike="noStrike">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2200"/>
                        <a:buFont typeface="Arial"/>
                        <a:buNone/>
                      </a:pPr>
                      <a:r>
                        <a:rPr lang="en-GB">
                          <a:solidFill>
                            <a:schemeClr val="dk1"/>
                          </a:solidFill>
                          <a:latin typeface="Times New Roman"/>
                          <a:ea typeface="Times New Roman"/>
                          <a:cs typeface="Times New Roman"/>
                          <a:sym typeface="Times New Roman"/>
                        </a:rPr>
                        <a:t>98</a:t>
                      </a:r>
                      <a:r>
                        <a:rPr i="1" lang="en-GB">
                          <a:solidFill>
                            <a:schemeClr val="dk1"/>
                          </a:solidFill>
                          <a:latin typeface="Times New Roman"/>
                          <a:ea typeface="Times New Roman"/>
                          <a:cs typeface="Times New Roman"/>
                          <a:sym typeface="Times New Roman"/>
                        </a:rPr>
                        <a:t>π</a:t>
                      </a:r>
                      <a:r>
                        <a:rPr lang="en-GB">
                          <a:solidFill>
                            <a:schemeClr val="dk1"/>
                          </a:solidFill>
                          <a:latin typeface="Times New Roman"/>
                          <a:ea typeface="Times New Roman"/>
                          <a:cs typeface="Times New Roman"/>
                          <a:sym typeface="Times New Roman"/>
                        </a:rPr>
                        <a:t> + 616</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2200"/>
                        <a:buFont typeface="Arial"/>
                        <a:buNone/>
                      </a:pPr>
                      <a:r>
                        <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2200"/>
                        <a:buFont typeface="Arial"/>
                        <a:buNone/>
                      </a:pPr>
                      <a:r>
                        <a:rPr lang="en-GB">
                          <a:solidFill>
                            <a:schemeClr val="dk1"/>
                          </a:solidFill>
                          <a:latin typeface="Times New Roman"/>
                          <a:ea typeface="Times New Roman"/>
                          <a:cs typeface="Times New Roman"/>
                          <a:sym typeface="Times New Roman"/>
                        </a:rPr>
                        <a:t>923.9 cm²</a:t>
                      </a:r>
                      <a:endParaRPr>
                        <a:latin typeface="Times New Roman"/>
                        <a:ea typeface="Times New Roman"/>
                        <a:cs typeface="Times New Roman"/>
                        <a:sym typeface="Times New Roman"/>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351" name="Google Shape;351;p22"/>
          <p:cNvSpPr txBox="1"/>
          <p:nvPr/>
        </p:nvSpPr>
        <p:spPr>
          <a:xfrm>
            <a:off x="476400" y="811875"/>
            <a:ext cx="66156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2) Complete the table. Give your answer as both a decimal and in terms of </a:t>
            </a:r>
            <a:r>
              <a:rPr i="1" lang="en-GB" sz="1200">
                <a:solidFill>
                  <a:srgbClr val="000000"/>
                </a:solidFill>
                <a:latin typeface="Times New Roman"/>
                <a:ea typeface="Times New Roman"/>
                <a:cs typeface="Times New Roman"/>
                <a:sym typeface="Times New Roman"/>
              </a:rPr>
              <a:t>π</a:t>
            </a:r>
            <a:endParaRPr i="1" sz="1200">
              <a:solidFill>
                <a:srgbClr val="000000"/>
              </a:solidFill>
              <a:latin typeface="Times New Roman"/>
              <a:ea typeface="Times New Roman"/>
              <a:cs typeface="Times New Roman"/>
              <a:sym typeface="Times New Roman"/>
            </a:endParaRPr>
          </a:p>
        </p:txBody>
      </p:sp>
      <p:pic>
        <p:nvPicPr>
          <p:cNvPr id="352" name="Google Shape;352;p22"/>
          <p:cNvPicPr preferRelativeResize="0"/>
          <p:nvPr/>
        </p:nvPicPr>
        <p:blipFill rotWithShape="1">
          <a:blip r:embed="rId3">
            <a:alphaModFix/>
          </a:blip>
          <a:srcRect b="50592" l="0" r="11684" t="0"/>
          <a:stretch/>
        </p:blipFill>
        <p:spPr>
          <a:xfrm>
            <a:off x="764529" y="1973420"/>
            <a:ext cx="1307273" cy="778505"/>
          </a:xfrm>
          <a:prstGeom prst="rect">
            <a:avLst/>
          </a:prstGeom>
          <a:noFill/>
          <a:ln>
            <a:noFill/>
          </a:ln>
        </p:spPr>
      </p:pic>
      <p:sp>
        <p:nvSpPr>
          <p:cNvPr id="353" name="Google Shape;353;p22"/>
          <p:cNvSpPr txBox="1"/>
          <p:nvPr/>
        </p:nvSpPr>
        <p:spPr>
          <a:xfrm flipH="1">
            <a:off x="808770" y="1705266"/>
            <a:ext cx="6117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7 cm</a:t>
            </a:r>
            <a:endParaRPr sz="1200">
              <a:solidFill>
                <a:srgbClr val="000000"/>
              </a:solidFill>
              <a:latin typeface="Lexend"/>
              <a:ea typeface="Lexend"/>
              <a:cs typeface="Lexend"/>
              <a:sym typeface="Lexend"/>
            </a:endParaRPr>
          </a:p>
        </p:txBody>
      </p:sp>
      <p:cxnSp>
        <p:nvCxnSpPr>
          <p:cNvPr id="354" name="Google Shape;354;p22"/>
          <p:cNvCxnSpPr/>
          <p:nvPr/>
        </p:nvCxnSpPr>
        <p:spPr>
          <a:xfrm>
            <a:off x="809083" y="1930838"/>
            <a:ext cx="611700" cy="0"/>
          </a:xfrm>
          <a:prstGeom prst="straightConnector1">
            <a:avLst/>
          </a:prstGeom>
          <a:noFill/>
          <a:ln cap="flat" cmpd="sng" w="28575">
            <a:solidFill>
              <a:srgbClr val="037B7D"/>
            </a:solidFill>
            <a:prstDash val="solid"/>
            <a:round/>
            <a:headEnd len="med" w="med" type="triangle"/>
            <a:tailEnd len="med" w="med" type="triangle"/>
          </a:ln>
        </p:spPr>
      </p:cxnSp>
      <p:sp>
        <p:nvSpPr>
          <p:cNvPr id="355" name="Google Shape;355;p22"/>
          <p:cNvSpPr txBox="1"/>
          <p:nvPr/>
        </p:nvSpPr>
        <p:spPr>
          <a:xfrm rot="-5400000">
            <a:off x="265540" y="2244693"/>
            <a:ext cx="6897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 cm</a:t>
            </a:r>
            <a:endParaRPr sz="1200">
              <a:solidFill>
                <a:srgbClr val="000000"/>
              </a:solidFill>
              <a:latin typeface="Lexend"/>
              <a:ea typeface="Lexend"/>
              <a:cs typeface="Lexend"/>
              <a:sym typeface="Lexend"/>
            </a:endParaRPr>
          </a:p>
        </p:txBody>
      </p:sp>
      <p:cxnSp>
        <p:nvCxnSpPr>
          <p:cNvPr id="356" name="Google Shape;356;p22"/>
          <p:cNvCxnSpPr/>
          <p:nvPr/>
        </p:nvCxnSpPr>
        <p:spPr>
          <a:xfrm rot="5400000">
            <a:off x="389861" y="2345188"/>
            <a:ext cx="692100" cy="0"/>
          </a:xfrm>
          <a:prstGeom prst="straightConnector1">
            <a:avLst/>
          </a:prstGeom>
          <a:noFill/>
          <a:ln cap="flat" cmpd="sng" w="28575">
            <a:solidFill>
              <a:srgbClr val="037B7D"/>
            </a:solidFill>
            <a:prstDash val="solid"/>
            <a:round/>
            <a:headEnd len="med" w="med" type="triangle"/>
            <a:tailEnd len="med" w="med" type="triangle"/>
          </a:ln>
        </p:spPr>
      </p:cxnSp>
      <p:pic>
        <p:nvPicPr>
          <p:cNvPr id="357" name="Google Shape;357;p22"/>
          <p:cNvPicPr preferRelativeResize="0"/>
          <p:nvPr/>
        </p:nvPicPr>
        <p:blipFill rotWithShape="1">
          <a:blip r:embed="rId3">
            <a:alphaModFix/>
          </a:blip>
          <a:srcRect b="-2445" l="0" r="49660" t="53038"/>
          <a:stretch/>
        </p:blipFill>
        <p:spPr>
          <a:xfrm>
            <a:off x="3321070" y="1973420"/>
            <a:ext cx="745151" cy="778505"/>
          </a:xfrm>
          <a:prstGeom prst="rect">
            <a:avLst/>
          </a:prstGeom>
          <a:noFill/>
          <a:ln>
            <a:noFill/>
          </a:ln>
        </p:spPr>
      </p:pic>
      <p:pic>
        <p:nvPicPr>
          <p:cNvPr id="358" name="Google Shape;358;p22"/>
          <p:cNvPicPr preferRelativeResize="0"/>
          <p:nvPr/>
        </p:nvPicPr>
        <p:blipFill rotWithShape="1">
          <a:blip r:embed="rId3">
            <a:alphaModFix/>
          </a:blip>
          <a:srcRect b="-2445" l="59089" r="-404" t="53038"/>
          <a:stretch/>
        </p:blipFill>
        <p:spPr>
          <a:xfrm>
            <a:off x="2187822" y="1973420"/>
            <a:ext cx="611568" cy="778505"/>
          </a:xfrm>
          <a:prstGeom prst="rect">
            <a:avLst/>
          </a:prstGeom>
          <a:noFill/>
          <a:ln>
            <a:noFill/>
          </a:ln>
        </p:spPr>
      </p:pic>
      <p:sp>
        <p:nvSpPr>
          <p:cNvPr id="359" name="Google Shape;359;p22"/>
          <p:cNvSpPr txBox="1"/>
          <p:nvPr/>
        </p:nvSpPr>
        <p:spPr>
          <a:xfrm rot="-5400000">
            <a:off x="2805500" y="2244693"/>
            <a:ext cx="6897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 cm</a:t>
            </a:r>
            <a:endParaRPr sz="1200">
              <a:solidFill>
                <a:srgbClr val="000000"/>
              </a:solidFill>
              <a:latin typeface="Lexend"/>
              <a:ea typeface="Lexend"/>
              <a:cs typeface="Lexend"/>
              <a:sym typeface="Lexend"/>
            </a:endParaRPr>
          </a:p>
        </p:txBody>
      </p:sp>
      <p:cxnSp>
        <p:nvCxnSpPr>
          <p:cNvPr id="360" name="Google Shape;360;p22"/>
          <p:cNvCxnSpPr/>
          <p:nvPr/>
        </p:nvCxnSpPr>
        <p:spPr>
          <a:xfrm rot="5400000">
            <a:off x="2929821" y="2345188"/>
            <a:ext cx="692100" cy="0"/>
          </a:xfrm>
          <a:prstGeom prst="straightConnector1">
            <a:avLst/>
          </a:prstGeom>
          <a:noFill/>
          <a:ln cap="flat" cmpd="sng" w="28575">
            <a:solidFill>
              <a:srgbClr val="037B7D"/>
            </a:solidFill>
            <a:prstDash val="solid"/>
            <a:round/>
            <a:headEnd len="med" w="med" type="triangle"/>
            <a:tailEnd len="med" w="med" type="triangle"/>
          </a:ln>
        </p:spPr>
      </p:cxnSp>
      <p:cxnSp>
        <p:nvCxnSpPr>
          <p:cNvPr id="361" name="Google Shape;361;p22"/>
          <p:cNvCxnSpPr/>
          <p:nvPr/>
        </p:nvCxnSpPr>
        <p:spPr>
          <a:xfrm>
            <a:off x="2187921" y="1930838"/>
            <a:ext cx="611700" cy="0"/>
          </a:xfrm>
          <a:prstGeom prst="straightConnector1">
            <a:avLst/>
          </a:prstGeom>
          <a:noFill/>
          <a:ln cap="flat" cmpd="sng" w="28575">
            <a:solidFill>
              <a:srgbClr val="037B7D"/>
            </a:solidFill>
            <a:prstDash val="solid"/>
            <a:round/>
            <a:headEnd len="med" w="med" type="triangle"/>
            <a:tailEnd len="med" w="med" type="triangle"/>
          </a:ln>
        </p:spPr>
      </p:cxnSp>
      <p:sp>
        <p:nvSpPr>
          <p:cNvPr id="362" name="Google Shape;362;p22"/>
          <p:cNvSpPr txBox="1"/>
          <p:nvPr/>
        </p:nvSpPr>
        <p:spPr>
          <a:xfrm flipH="1">
            <a:off x="2120903" y="1660063"/>
            <a:ext cx="7452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E6F2F2"/>
                </a:solidFill>
              </a:rPr>
              <a:t>___</a:t>
            </a:r>
            <a:r>
              <a:rPr lang="en-GB" sz="1200">
                <a:solidFill>
                  <a:srgbClr val="E6F2F2"/>
                </a:solidFill>
                <a:latin typeface="Lexend"/>
                <a:ea typeface="Lexend"/>
                <a:cs typeface="Lexend"/>
                <a:sym typeface="Lexend"/>
              </a:rPr>
              <a:t> </a:t>
            </a:r>
            <a:r>
              <a:rPr lang="en-GB" sz="1200">
                <a:solidFill>
                  <a:srgbClr val="000000"/>
                </a:solidFill>
                <a:latin typeface="Lexend"/>
                <a:ea typeface="Lexend"/>
                <a:cs typeface="Lexend"/>
                <a:sym typeface="Lexend"/>
              </a:rPr>
              <a:t>cm</a:t>
            </a:r>
            <a:endParaRPr sz="12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2\times\ \ \ \ \ +\frac{1}{4}\times\pi\times2^2&quot;&gt;&lt;mn&gt;2&lt;/mn&gt;&lt;mo&gt;×&lt;/mo&gt;&lt;mtext&gt;&lt;/mtext&gt;&lt;mtext&gt;&lt;/mtext&gt;&lt;mtext&gt;&lt;/mtext&gt;&lt;mtext&gt;&lt;/mtext&gt;&lt;mtext&gt;&lt;/mtext&gt;&lt;mo&gt;+&lt;/mo&gt;&lt;mfrac&gt;&lt;mn&gt;1&lt;/mn&gt;&lt;mn&gt;4&lt;/mn&gt;&lt;/mfrac&gt;&lt;mo&gt;×&lt;/mo&gt;&lt;mi&gt;π&lt;/mi&gt;&lt;mo&gt;×&lt;/mo&gt;&lt;msup&gt;&lt;mn&gt;2&lt;/mn&gt;&lt;mn&gt;2&lt;/mn&gt;&lt;/msup&gt;&lt;/math&gt;" id="363" name="Google Shape;363;p22" title="2 times positive one fourth times pi times 2 squared"/>
          <p:cNvPicPr preferRelativeResize="0"/>
          <p:nvPr/>
        </p:nvPicPr>
        <p:blipFill rotWithShape="1">
          <a:blip r:embed="rId4">
            <a:alphaModFix/>
          </a:blip>
          <a:srcRect b="0" l="0" r="0" t="0"/>
          <a:stretch/>
        </p:blipFill>
        <p:spPr>
          <a:xfrm>
            <a:off x="4381175" y="2033024"/>
            <a:ext cx="1604230" cy="394475"/>
          </a:xfrm>
          <a:prstGeom prst="rect">
            <a:avLst/>
          </a:prstGeom>
          <a:noFill/>
          <a:ln>
            <a:noFill/>
          </a:ln>
        </p:spPr>
      </p:pic>
      <p:pic>
        <p:nvPicPr>
          <p:cNvPr id="364" name="Google Shape;364;p22"/>
          <p:cNvPicPr preferRelativeResize="0"/>
          <p:nvPr/>
        </p:nvPicPr>
        <p:blipFill rotWithShape="1">
          <a:blip r:embed="rId5">
            <a:alphaModFix/>
          </a:blip>
          <a:srcRect b="24197" l="7610" r="45669" t="43360"/>
          <a:stretch/>
        </p:blipFill>
        <p:spPr>
          <a:xfrm>
            <a:off x="499715" y="2885686"/>
            <a:ext cx="1569234" cy="949681"/>
          </a:xfrm>
          <a:prstGeom prst="rect">
            <a:avLst/>
          </a:prstGeom>
          <a:noFill/>
          <a:ln>
            <a:noFill/>
          </a:ln>
        </p:spPr>
      </p:pic>
      <p:sp>
        <p:nvSpPr>
          <p:cNvPr id="365" name="Google Shape;365;p22"/>
          <p:cNvSpPr txBox="1"/>
          <p:nvPr/>
        </p:nvSpPr>
        <p:spPr>
          <a:xfrm rot="-5400000">
            <a:off x="241675" y="3481646"/>
            <a:ext cx="6228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12 cm</a:t>
            </a:r>
            <a:endParaRPr sz="1200">
              <a:solidFill>
                <a:srgbClr val="000000"/>
              </a:solidFill>
              <a:latin typeface="Lexend"/>
              <a:ea typeface="Lexend"/>
              <a:cs typeface="Lexend"/>
              <a:sym typeface="Lexend"/>
            </a:endParaRPr>
          </a:p>
        </p:txBody>
      </p:sp>
      <p:cxnSp>
        <p:nvCxnSpPr>
          <p:cNvPr id="366" name="Google Shape;366;p22"/>
          <p:cNvCxnSpPr/>
          <p:nvPr/>
        </p:nvCxnSpPr>
        <p:spPr>
          <a:xfrm rot="5400000">
            <a:off x="491246" y="3582029"/>
            <a:ext cx="374700" cy="0"/>
          </a:xfrm>
          <a:prstGeom prst="straightConnector1">
            <a:avLst/>
          </a:prstGeom>
          <a:noFill/>
          <a:ln cap="flat" cmpd="sng" w="28575">
            <a:solidFill>
              <a:srgbClr val="037B7D"/>
            </a:solidFill>
            <a:prstDash val="solid"/>
            <a:round/>
            <a:headEnd len="med" w="med" type="triangle"/>
            <a:tailEnd len="med" w="med" type="triangle"/>
          </a:ln>
        </p:spPr>
      </p:cxnSp>
      <p:sp>
        <p:nvSpPr>
          <p:cNvPr id="367" name="Google Shape;367;p22"/>
          <p:cNvSpPr txBox="1"/>
          <p:nvPr/>
        </p:nvSpPr>
        <p:spPr>
          <a:xfrm flipH="1">
            <a:off x="759594" y="3865860"/>
            <a:ext cx="9186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32 cm</a:t>
            </a:r>
            <a:endParaRPr sz="1200">
              <a:solidFill>
                <a:srgbClr val="000000"/>
              </a:solidFill>
              <a:latin typeface="Lexend"/>
              <a:ea typeface="Lexend"/>
              <a:cs typeface="Lexend"/>
              <a:sym typeface="Lexend"/>
            </a:endParaRPr>
          </a:p>
        </p:txBody>
      </p:sp>
      <p:cxnSp>
        <p:nvCxnSpPr>
          <p:cNvPr id="368" name="Google Shape;368;p22"/>
          <p:cNvCxnSpPr/>
          <p:nvPr/>
        </p:nvCxnSpPr>
        <p:spPr>
          <a:xfrm rot="10800000">
            <a:off x="758385" y="3840279"/>
            <a:ext cx="919800" cy="0"/>
          </a:xfrm>
          <a:prstGeom prst="straightConnector1">
            <a:avLst/>
          </a:prstGeom>
          <a:noFill/>
          <a:ln cap="flat" cmpd="sng" w="28575">
            <a:solidFill>
              <a:srgbClr val="037B7D"/>
            </a:solidFill>
            <a:prstDash val="solid"/>
            <a:round/>
            <a:headEnd len="med" w="med" type="triangle"/>
            <a:tailEnd len="med" w="med" type="triangle"/>
          </a:ln>
        </p:spPr>
      </p:cxnSp>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369" name="Google Shape;369;p22" title="one fourth times pi times to the second power plus one half times pi times to the second power plus times"/>
          <p:cNvPicPr preferRelativeResize="0"/>
          <p:nvPr/>
        </p:nvPicPr>
        <p:blipFill rotWithShape="1">
          <a:blip r:embed="rId6">
            <a:alphaModFix/>
          </a:blip>
          <a:srcRect b="0" l="30376" r="57038" t="0"/>
          <a:stretch/>
        </p:blipFill>
        <p:spPr>
          <a:xfrm>
            <a:off x="5458692" y="2860025"/>
            <a:ext cx="409008" cy="398938"/>
          </a:xfrm>
          <a:prstGeom prst="rect">
            <a:avLst/>
          </a:prstGeom>
          <a:noFill/>
          <a:ln>
            <a:noFill/>
          </a:ln>
        </p:spPr>
      </p:pic>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370" name="Google Shape;370;p22" title="one fourth times pi times to the second power plus one half times pi times to the second power plus times"/>
          <p:cNvPicPr preferRelativeResize="0"/>
          <p:nvPr/>
        </p:nvPicPr>
        <p:blipFill rotWithShape="1">
          <a:blip r:embed="rId6">
            <a:alphaModFix/>
          </a:blip>
          <a:srcRect b="0" l="72536" r="14878" t="0"/>
          <a:stretch/>
        </p:blipFill>
        <p:spPr>
          <a:xfrm>
            <a:off x="5384401" y="3344408"/>
            <a:ext cx="409008" cy="398938"/>
          </a:xfrm>
          <a:prstGeom prst="rect">
            <a:avLst/>
          </a:prstGeom>
          <a:noFill/>
          <a:ln>
            <a:noFill/>
          </a:ln>
        </p:spPr>
      </p:pic>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371" name="Google Shape;371;p22" title="one fourth times pi times to the second power plus one half times pi times to the second power plus times"/>
          <p:cNvPicPr preferRelativeResize="0"/>
          <p:nvPr/>
        </p:nvPicPr>
        <p:blipFill rotWithShape="1">
          <a:blip r:embed="rId6">
            <a:alphaModFix/>
          </a:blip>
          <a:srcRect b="0" l="93771" r="-3614" t="0"/>
          <a:stretch/>
        </p:blipFill>
        <p:spPr>
          <a:xfrm>
            <a:off x="4819725" y="3794100"/>
            <a:ext cx="303000" cy="377877"/>
          </a:xfrm>
          <a:prstGeom prst="rect">
            <a:avLst/>
          </a:prstGeom>
          <a:noFill/>
          <a:ln>
            <a:noFill/>
          </a:ln>
        </p:spPr>
      </p:pic>
      <p:sp>
        <p:nvSpPr>
          <p:cNvPr id="372" name="Google Shape;372;p22"/>
          <p:cNvSpPr txBox="1"/>
          <p:nvPr/>
        </p:nvSpPr>
        <p:spPr>
          <a:xfrm flipH="1">
            <a:off x="5154973" y="2972671"/>
            <a:ext cx="384000" cy="25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12</a:t>
            </a:r>
            <a:endParaRPr sz="1200">
              <a:solidFill>
                <a:srgbClr val="000000"/>
              </a:solidFill>
              <a:latin typeface="Kalam"/>
              <a:ea typeface="Kalam"/>
              <a:cs typeface="Kalam"/>
              <a:sym typeface="Kalam"/>
            </a:endParaRPr>
          </a:p>
        </p:txBody>
      </p:sp>
      <p:sp>
        <p:nvSpPr>
          <p:cNvPr id="373" name="Google Shape;373;p22"/>
          <p:cNvSpPr txBox="1"/>
          <p:nvPr/>
        </p:nvSpPr>
        <p:spPr>
          <a:xfrm flipH="1">
            <a:off x="5154983" y="3401621"/>
            <a:ext cx="384000" cy="25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16</a:t>
            </a:r>
            <a:endParaRPr sz="1200">
              <a:solidFill>
                <a:srgbClr val="000000"/>
              </a:solidFill>
              <a:latin typeface="Kalam"/>
              <a:ea typeface="Kalam"/>
              <a:cs typeface="Kalam"/>
              <a:sym typeface="Kalam"/>
            </a:endParaRPr>
          </a:p>
        </p:txBody>
      </p:sp>
      <p:sp>
        <p:nvSpPr>
          <p:cNvPr id="374" name="Google Shape;374;p22"/>
          <p:cNvSpPr txBox="1"/>
          <p:nvPr/>
        </p:nvSpPr>
        <p:spPr>
          <a:xfrm flipH="1">
            <a:off x="4608279" y="3891821"/>
            <a:ext cx="3030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12</a:t>
            </a:r>
            <a:endParaRPr sz="1200">
              <a:solidFill>
                <a:srgbClr val="000000"/>
              </a:solidFill>
              <a:latin typeface="Kalam"/>
              <a:ea typeface="Kalam"/>
              <a:cs typeface="Kalam"/>
              <a:sym typeface="Kalam"/>
            </a:endParaRPr>
          </a:p>
        </p:txBody>
      </p:sp>
      <p:sp>
        <p:nvSpPr>
          <p:cNvPr id="375" name="Google Shape;375;p22"/>
          <p:cNvSpPr txBox="1"/>
          <p:nvPr/>
        </p:nvSpPr>
        <p:spPr>
          <a:xfrm flipH="1">
            <a:off x="4990198" y="3861583"/>
            <a:ext cx="384000" cy="25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32</a:t>
            </a:r>
            <a:endParaRPr sz="1200">
              <a:solidFill>
                <a:srgbClr val="000000"/>
              </a:solidFill>
              <a:latin typeface="Kalam"/>
              <a:ea typeface="Kalam"/>
              <a:cs typeface="Kalam"/>
              <a:sym typeface="Kalam"/>
            </a:endParaRPr>
          </a:p>
        </p:txBody>
      </p:sp>
      <p:sp>
        <p:nvSpPr>
          <p:cNvPr id="376" name="Google Shape;376;p22"/>
          <p:cNvSpPr txBox="1"/>
          <p:nvPr/>
        </p:nvSpPr>
        <p:spPr>
          <a:xfrm flipH="1">
            <a:off x="4602823" y="2119041"/>
            <a:ext cx="384000" cy="25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7</a:t>
            </a:r>
            <a:endParaRPr sz="1200">
              <a:solidFill>
                <a:srgbClr val="000000"/>
              </a:solidFill>
              <a:latin typeface="Kalam"/>
              <a:ea typeface="Kalam"/>
              <a:cs typeface="Kalam"/>
              <a:sym typeface="Kalam"/>
            </a:endParaRPr>
          </a:p>
        </p:txBody>
      </p:sp>
      <p:sp>
        <p:nvSpPr>
          <p:cNvPr id="377" name="Google Shape;377;p22"/>
          <p:cNvSpPr txBox="1"/>
          <p:nvPr/>
        </p:nvSpPr>
        <p:spPr>
          <a:xfrm flipH="1">
            <a:off x="2247929" y="1654693"/>
            <a:ext cx="3030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7</a:t>
            </a:r>
            <a:endParaRPr sz="1200">
              <a:solidFill>
                <a:srgbClr val="000000"/>
              </a:solidFill>
              <a:latin typeface="Kalam"/>
              <a:ea typeface="Kalam"/>
              <a:cs typeface="Kalam"/>
              <a:sym typeface="Kalam"/>
            </a:endParaRPr>
          </a:p>
        </p:txBody>
      </p:sp>
      <p:pic>
        <p:nvPicPr>
          <p:cNvPr id="378" name="Google Shape;378;p22"/>
          <p:cNvPicPr preferRelativeResize="0"/>
          <p:nvPr/>
        </p:nvPicPr>
        <p:blipFill rotWithShape="1">
          <a:blip r:embed="rId5">
            <a:alphaModFix/>
          </a:blip>
          <a:srcRect b="1608" l="12979" r="55480" t="79664"/>
          <a:stretch/>
        </p:blipFill>
        <p:spPr>
          <a:xfrm>
            <a:off x="2119295" y="2854312"/>
            <a:ext cx="1059376" cy="548199"/>
          </a:xfrm>
          <a:prstGeom prst="rect">
            <a:avLst/>
          </a:prstGeom>
          <a:noFill/>
          <a:ln>
            <a:noFill/>
          </a:ln>
        </p:spPr>
      </p:pic>
      <p:pic>
        <p:nvPicPr>
          <p:cNvPr id="379" name="Google Shape;379;p22"/>
          <p:cNvPicPr preferRelativeResize="0"/>
          <p:nvPr/>
        </p:nvPicPr>
        <p:blipFill rotWithShape="1">
          <a:blip r:embed="rId5">
            <a:alphaModFix/>
          </a:blip>
          <a:srcRect b="25581" l="58153" r="10304" t="58301"/>
          <a:stretch/>
        </p:blipFill>
        <p:spPr>
          <a:xfrm>
            <a:off x="2119295" y="3636593"/>
            <a:ext cx="1059376" cy="471774"/>
          </a:xfrm>
          <a:prstGeom prst="rect">
            <a:avLst/>
          </a:prstGeom>
          <a:noFill/>
          <a:ln>
            <a:noFill/>
          </a:ln>
        </p:spPr>
      </p:pic>
      <p:pic>
        <p:nvPicPr>
          <p:cNvPr id="380" name="Google Shape;380;p22"/>
          <p:cNvPicPr preferRelativeResize="0"/>
          <p:nvPr/>
        </p:nvPicPr>
        <p:blipFill rotWithShape="1">
          <a:blip r:embed="rId5">
            <a:alphaModFix/>
          </a:blip>
          <a:srcRect b="25918" l="42423" r="46045" t="60605"/>
          <a:stretch/>
        </p:blipFill>
        <p:spPr>
          <a:xfrm>
            <a:off x="3705391" y="3706363"/>
            <a:ext cx="387259" cy="394479"/>
          </a:xfrm>
          <a:prstGeom prst="rect">
            <a:avLst/>
          </a:prstGeom>
          <a:noFill/>
          <a:ln>
            <a:noFill/>
          </a:ln>
        </p:spPr>
      </p:pic>
      <p:sp>
        <p:nvSpPr>
          <p:cNvPr id="381" name="Google Shape;381;p22"/>
          <p:cNvSpPr txBox="1"/>
          <p:nvPr/>
        </p:nvSpPr>
        <p:spPr>
          <a:xfrm rot="-5400000">
            <a:off x="3208355" y="3799278"/>
            <a:ext cx="6228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12 cm</a:t>
            </a:r>
            <a:endParaRPr sz="1200">
              <a:solidFill>
                <a:srgbClr val="000000"/>
              </a:solidFill>
              <a:latin typeface="Lexend"/>
              <a:ea typeface="Lexend"/>
              <a:cs typeface="Lexend"/>
              <a:sym typeface="Lexend"/>
            </a:endParaRPr>
          </a:p>
        </p:txBody>
      </p:sp>
      <p:cxnSp>
        <p:nvCxnSpPr>
          <p:cNvPr id="382" name="Google Shape;382;p22"/>
          <p:cNvCxnSpPr/>
          <p:nvPr/>
        </p:nvCxnSpPr>
        <p:spPr>
          <a:xfrm rot="5400000">
            <a:off x="3457925" y="3899660"/>
            <a:ext cx="374700" cy="0"/>
          </a:xfrm>
          <a:prstGeom prst="straightConnector1">
            <a:avLst/>
          </a:prstGeom>
          <a:noFill/>
          <a:ln cap="flat" cmpd="sng" w="28575">
            <a:solidFill>
              <a:srgbClr val="037B7D"/>
            </a:solidFill>
            <a:prstDash val="solid"/>
            <a:round/>
            <a:headEnd len="med" w="med" type="triangle"/>
            <a:tailEnd len="med" w="med" type="triangle"/>
          </a:ln>
        </p:spPr>
      </p:cxnSp>
      <p:sp>
        <p:nvSpPr>
          <p:cNvPr id="383" name="Google Shape;383;p22"/>
          <p:cNvSpPr txBox="1"/>
          <p:nvPr/>
        </p:nvSpPr>
        <p:spPr>
          <a:xfrm flipH="1">
            <a:off x="2185056" y="3459915"/>
            <a:ext cx="918600" cy="200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32 cm</a:t>
            </a:r>
            <a:endParaRPr sz="1200">
              <a:solidFill>
                <a:srgbClr val="000000"/>
              </a:solidFill>
              <a:latin typeface="Lexend"/>
              <a:ea typeface="Lexend"/>
              <a:cs typeface="Lexend"/>
              <a:sym typeface="Lexend"/>
            </a:endParaRPr>
          </a:p>
        </p:txBody>
      </p:sp>
      <p:cxnSp>
        <p:nvCxnSpPr>
          <p:cNvPr id="384" name="Google Shape;384;p22"/>
          <p:cNvCxnSpPr/>
          <p:nvPr/>
        </p:nvCxnSpPr>
        <p:spPr>
          <a:xfrm rot="10800000">
            <a:off x="2183847" y="3434335"/>
            <a:ext cx="919800" cy="0"/>
          </a:xfrm>
          <a:prstGeom prst="straightConnector1">
            <a:avLst/>
          </a:prstGeom>
          <a:noFill/>
          <a:ln cap="flat" cmpd="sng" w="28575">
            <a:solidFill>
              <a:srgbClr val="037B7D"/>
            </a:solidFill>
            <a:prstDash val="solid"/>
            <a:round/>
            <a:headEnd len="med" w="med" type="triangle"/>
            <a:tailEnd len="med" w="med" type="triangle"/>
          </a:ln>
        </p:spPr>
      </p:cxnSp>
      <p:sp>
        <p:nvSpPr>
          <p:cNvPr id="385" name="Google Shape;385;p22"/>
          <p:cNvSpPr txBox="1"/>
          <p:nvPr/>
        </p:nvSpPr>
        <p:spPr>
          <a:xfrm>
            <a:off x="471920" y="1557600"/>
            <a:ext cx="2502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a) </a:t>
            </a:r>
            <a:endParaRPr i="1" sz="1200">
              <a:solidFill>
                <a:srgbClr val="000000"/>
              </a:solidFill>
              <a:latin typeface="Times New Roman"/>
              <a:ea typeface="Times New Roman"/>
              <a:cs typeface="Times New Roman"/>
              <a:sym typeface="Times New Roman"/>
            </a:endParaRPr>
          </a:p>
        </p:txBody>
      </p:sp>
      <p:sp>
        <p:nvSpPr>
          <p:cNvPr id="386" name="Google Shape;386;p22"/>
          <p:cNvSpPr txBox="1"/>
          <p:nvPr/>
        </p:nvSpPr>
        <p:spPr>
          <a:xfrm>
            <a:off x="471920" y="2858488"/>
            <a:ext cx="2502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a:t>
            </a:r>
            <a:endParaRPr i="1" sz="12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387" name="Google Shape;387;p22" title="one fourth times pi times to the second power plus one half times pi times to the second power plus times"/>
          <p:cNvPicPr preferRelativeResize="0"/>
          <p:nvPr/>
        </p:nvPicPr>
        <p:blipFill rotWithShape="1">
          <a:blip r:embed="rId6">
            <a:alphaModFix/>
          </a:blip>
          <a:srcRect b="0" l="44114" r="34619" t="0"/>
          <a:stretch/>
        </p:blipFill>
        <p:spPr>
          <a:xfrm>
            <a:off x="4598021" y="3344305"/>
            <a:ext cx="654406" cy="377734"/>
          </a:xfrm>
          <a:prstGeom prst="rect">
            <a:avLst/>
          </a:prstGeom>
          <a:noFill/>
          <a:ln>
            <a:noFill/>
          </a:ln>
        </p:spPr>
      </p:pic>
      <p:pic>
        <p:nvPicPr>
          <p:cNvPr descr="&lt;math xmlns=&quot;http://www.w3.org/1998/Math/MathML&quot; display=&quot;block&quot; data-is-equatio=&quot;1&quot; data-latex=&quot;\frac{1}{4}\times\pi\times\ \ \ \ \ \ \ ^2\ +\ \frac{1}{2}\times\pi\times\ \ \ \ \ \ \ ^2\ +\ \ \ \ \ \ \times\ \ \ \ \ &quot;&gt;&lt;mfrac&gt;&lt;mn&gt;1&lt;/mn&gt;&lt;mn&gt;4&lt;/mn&gt;&lt;/mfrac&gt;&lt;mo&gt;×&lt;/mo&gt;&lt;mi&gt;π&lt;/mi&gt;&lt;mo&gt;×&lt;/mo&gt;&lt;mtext&gt;&lt;/mtext&gt;&lt;mtext&gt;&lt;/mtext&gt;&lt;mtext&gt;&lt;/mtext&gt;&lt;mtext&gt;&lt;/mtext&gt;&lt;mtext&gt;&lt;/mtext&gt;&lt;mtext&gt;&lt;/mtext&gt;&lt;msup&gt;&lt;mtext&gt;&lt;/mtext&gt;&lt;mn&gt;2&lt;/mn&gt;&lt;/msup&gt;&lt;mtext&gt;&lt;/mtext&gt;&lt;mo&gt;+&lt;/mo&gt;&lt;mtext&gt;&lt;/mtext&gt;&lt;mfrac&gt;&lt;mn&gt;1&lt;/mn&gt;&lt;mn&gt;2&lt;/mn&gt;&lt;/mfrac&gt;&lt;mo&gt;×&lt;/mo&gt;&lt;mi&gt;π&lt;/mi&gt;&lt;mo&gt;×&lt;/mo&gt;&lt;mtext&gt;&lt;/mtext&gt;&lt;mtext&gt;&lt;/mtext&gt;&lt;mtext&gt;&lt;/mtext&gt;&lt;mtext&gt;&lt;/mtext&gt;&lt;mtext&gt;&lt;/mtext&gt;&lt;mtext&gt;&lt;/mtext&gt;&lt;msup&gt;&lt;mtext&gt;&lt;/mtext&gt;&lt;mn&gt;2&lt;/mn&gt;&lt;/msup&gt;&lt;mtext&gt;&lt;/mtext&gt;&lt;mo&gt;+&lt;/mo&gt;&lt;mtext&gt;&lt;/mtext&gt;&lt;mtext&gt;&lt;/mtext&gt;&lt;mtext&gt;&lt;/mtext&gt;&lt;mtext&gt;&lt;/mtext&gt;&lt;mtext&gt;&lt;/mtext&gt;&lt;mtext&gt;&lt;/mtext&gt;&lt;mo&gt;×&lt;/mo&gt;&lt;mtext&gt;&lt;/mtext&gt;&lt;mtext&gt;&lt;/mtext&gt;&lt;mtext&gt;&lt;/mtext&gt;&lt;mtext&gt;&lt;/mtext&gt;&lt;mtext&gt;&lt;/mtext&gt;&lt;/math&gt;" id="388" name="Google Shape;388;p22" title="one fourth times pi times to the second power plus one half times pi times to the second power plus times"/>
          <p:cNvPicPr preferRelativeResize="0"/>
          <p:nvPr/>
        </p:nvPicPr>
        <p:blipFill rotWithShape="1">
          <a:blip r:embed="rId6">
            <a:alphaModFix/>
          </a:blip>
          <a:srcRect b="0" l="0" r="78734" t="0"/>
          <a:stretch/>
        </p:blipFill>
        <p:spPr>
          <a:xfrm>
            <a:off x="4598021" y="2877351"/>
            <a:ext cx="654406" cy="377734"/>
          </a:xfrm>
          <a:prstGeom prst="rect">
            <a:avLst/>
          </a:prstGeom>
          <a:noFill/>
          <a:ln>
            <a:noFill/>
          </a:ln>
        </p:spPr>
      </p:pic>
      <p:pic>
        <p:nvPicPr>
          <p:cNvPr id="389" name="Google Shape;389;p22"/>
          <p:cNvPicPr preferRelativeResize="0"/>
          <p:nvPr/>
        </p:nvPicPr>
        <p:blipFill rotWithShape="1">
          <a:blip r:embed="rId5">
            <a:alphaModFix/>
          </a:blip>
          <a:srcRect b="63243" l="0" r="65851" t="0"/>
          <a:stretch/>
        </p:blipFill>
        <p:spPr>
          <a:xfrm>
            <a:off x="672641" y="4397087"/>
            <a:ext cx="1064326" cy="998565"/>
          </a:xfrm>
          <a:prstGeom prst="rect">
            <a:avLst/>
          </a:prstGeom>
          <a:noFill/>
          <a:ln>
            <a:noFill/>
          </a:ln>
        </p:spPr>
      </p:pic>
      <p:cxnSp>
        <p:nvCxnSpPr>
          <p:cNvPr id="390" name="Google Shape;390;p22"/>
          <p:cNvCxnSpPr/>
          <p:nvPr/>
        </p:nvCxnSpPr>
        <p:spPr>
          <a:xfrm>
            <a:off x="814154" y="5362584"/>
            <a:ext cx="439800" cy="0"/>
          </a:xfrm>
          <a:prstGeom prst="straightConnector1">
            <a:avLst/>
          </a:prstGeom>
          <a:noFill/>
          <a:ln cap="flat" cmpd="sng" w="28575">
            <a:solidFill>
              <a:srgbClr val="037B7D"/>
            </a:solidFill>
            <a:prstDash val="solid"/>
            <a:round/>
            <a:headEnd len="med" w="med" type="triangle"/>
            <a:tailEnd len="med" w="med" type="triangle"/>
          </a:ln>
        </p:spPr>
      </p:cxnSp>
      <p:sp>
        <p:nvSpPr>
          <p:cNvPr id="391" name="Google Shape;391;p22"/>
          <p:cNvSpPr txBox="1"/>
          <p:nvPr/>
        </p:nvSpPr>
        <p:spPr>
          <a:xfrm flipH="1">
            <a:off x="732471" y="5452434"/>
            <a:ext cx="603000" cy="18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24 cm</a:t>
            </a:r>
            <a:endParaRPr sz="1200">
              <a:solidFill>
                <a:srgbClr val="000000"/>
              </a:solidFill>
              <a:latin typeface="Lexend"/>
              <a:ea typeface="Lexend"/>
              <a:cs typeface="Lexend"/>
              <a:sym typeface="Lexend"/>
            </a:endParaRPr>
          </a:p>
        </p:txBody>
      </p:sp>
      <p:pic>
        <p:nvPicPr>
          <p:cNvPr id="392" name="Google Shape;392;p22"/>
          <p:cNvPicPr preferRelativeResize="0"/>
          <p:nvPr/>
        </p:nvPicPr>
        <p:blipFill rotWithShape="1">
          <a:blip r:embed="rId7">
            <a:alphaModFix/>
          </a:blip>
          <a:srcRect b="0" l="55636" r="0" t="49821"/>
          <a:stretch/>
        </p:blipFill>
        <p:spPr>
          <a:xfrm rot="5400000">
            <a:off x="708092" y="5591096"/>
            <a:ext cx="817205" cy="1231671"/>
          </a:xfrm>
          <a:prstGeom prst="rect">
            <a:avLst/>
          </a:prstGeom>
          <a:noFill/>
          <a:ln>
            <a:noFill/>
          </a:ln>
        </p:spPr>
      </p:pic>
      <p:cxnSp>
        <p:nvCxnSpPr>
          <p:cNvPr id="393" name="Google Shape;393;p22"/>
          <p:cNvCxnSpPr/>
          <p:nvPr/>
        </p:nvCxnSpPr>
        <p:spPr>
          <a:xfrm>
            <a:off x="880933" y="6641697"/>
            <a:ext cx="825000" cy="0"/>
          </a:xfrm>
          <a:prstGeom prst="straightConnector1">
            <a:avLst/>
          </a:prstGeom>
          <a:noFill/>
          <a:ln cap="flat" cmpd="sng" w="28575">
            <a:solidFill>
              <a:srgbClr val="037B7D"/>
            </a:solidFill>
            <a:prstDash val="solid"/>
            <a:round/>
            <a:headEnd len="med" w="med" type="triangle"/>
            <a:tailEnd len="med" w="med" type="triangle"/>
          </a:ln>
        </p:spPr>
      </p:cxnSp>
      <p:sp>
        <p:nvSpPr>
          <p:cNvPr id="394" name="Google Shape;394;p22"/>
          <p:cNvSpPr txBox="1"/>
          <p:nvPr/>
        </p:nvSpPr>
        <p:spPr>
          <a:xfrm flipH="1">
            <a:off x="881002" y="6653634"/>
            <a:ext cx="824400" cy="1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44 cm</a:t>
            </a:r>
            <a:endParaRPr sz="1200">
              <a:solidFill>
                <a:srgbClr val="000000"/>
              </a:solidFill>
              <a:latin typeface="Lexend"/>
              <a:ea typeface="Lexend"/>
              <a:cs typeface="Lexend"/>
              <a:sym typeface="Lexend"/>
            </a:endParaRPr>
          </a:p>
        </p:txBody>
      </p:sp>
      <p:cxnSp>
        <p:nvCxnSpPr>
          <p:cNvPr id="395" name="Google Shape;395;p22"/>
          <p:cNvCxnSpPr/>
          <p:nvPr/>
        </p:nvCxnSpPr>
        <p:spPr>
          <a:xfrm rot="-5400000">
            <a:off x="1397376" y="6233233"/>
            <a:ext cx="708600" cy="0"/>
          </a:xfrm>
          <a:prstGeom prst="straightConnector1">
            <a:avLst/>
          </a:prstGeom>
          <a:noFill/>
          <a:ln cap="flat" cmpd="sng" w="28575">
            <a:solidFill>
              <a:srgbClr val="037B7D"/>
            </a:solidFill>
            <a:prstDash val="solid"/>
            <a:round/>
            <a:headEnd len="med" w="med" type="triangle"/>
            <a:tailEnd len="med" w="med" type="triangle"/>
          </a:ln>
        </p:spPr>
      </p:cxnSp>
      <p:sp>
        <p:nvSpPr>
          <p:cNvPr id="396" name="Google Shape;396;p22"/>
          <p:cNvSpPr txBox="1"/>
          <p:nvPr/>
        </p:nvSpPr>
        <p:spPr>
          <a:xfrm flipH="1" rot="-5400000">
            <a:off x="1489713" y="6152914"/>
            <a:ext cx="708000" cy="1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28 cm</a:t>
            </a:r>
            <a:endParaRPr sz="1200">
              <a:solidFill>
                <a:srgbClr val="000000"/>
              </a:solidFill>
              <a:latin typeface="Lexend"/>
              <a:ea typeface="Lexend"/>
              <a:cs typeface="Lexend"/>
              <a:sym typeface="Lexend"/>
            </a:endParaRPr>
          </a:p>
        </p:txBody>
      </p:sp>
      <p:pic>
        <p:nvPicPr>
          <p:cNvPr id="397" name="Google Shape;397;p22"/>
          <p:cNvPicPr preferRelativeResize="0"/>
          <p:nvPr/>
        </p:nvPicPr>
        <p:blipFill rotWithShape="1">
          <a:blip r:embed="rId5">
            <a:alphaModFix/>
          </a:blip>
          <a:srcRect b="60939" l="44109" r="0" t="-1001"/>
          <a:stretch/>
        </p:blipFill>
        <p:spPr>
          <a:xfrm>
            <a:off x="2141392" y="4342525"/>
            <a:ext cx="1742091" cy="1088368"/>
          </a:xfrm>
          <a:prstGeom prst="rect">
            <a:avLst/>
          </a:prstGeom>
          <a:noFill/>
          <a:ln>
            <a:noFill/>
          </a:ln>
        </p:spPr>
      </p:pic>
      <p:cxnSp>
        <p:nvCxnSpPr>
          <p:cNvPr id="398" name="Google Shape;398;p22"/>
          <p:cNvCxnSpPr/>
          <p:nvPr/>
        </p:nvCxnSpPr>
        <p:spPr>
          <a:xfrm>
            <a:off x="2191298" y="5362584"/>
            <a:ext cx="439800" cy="0"/>
          </a:xfrm>
          <a:prstGeom prst="straightConnector1">
            <a:avLst/>
          </a:prstGeom>
          <a:noFill/>
          <a:ln cap="flat" cmpd="sng" w="28575">
            <a:solidFill>
              <a:srgbClr val="037B7D"/>
            </a:solidFill>
            <a:prstDash val="solid"/>
            <a:round/>
            <a:headEnd len="med" w="med" type="triangle"/>
            <a:tailEnd len="med" w="med" type="triangle"/>
          </a:ln>
        </p:spPr>
      </p:cxnSp>
      <p:sp>
        <p:nvSpPr>
          <p:cNvPr id="399" name="Google Shape;399;p22"/>
          <p:cNvSpPr txBox="1"/>
          <p:nvPr/>
        </p:nvSpPr>
        <p:spPr>
          <a:xfrm flipH="1">
            <a:off x="2109615" y="5452434"/>
            <a:ext cx="603000" cy="18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24 cm</a:t>
            </a:r>
            <a:endParaRPr sz="1200">
              <a:solidFill>
                <a:srgbClr val="000000"/>
              </a:solidFill>
              <a:latin typeface="Lexend"/>
              <a:ea typeface="Lexend"/>
              <a:cs typeface="Lexend"/>
              <a:sym typeface="Lexend"/>
            </a:endParaRPr>
          </a:p>
        </p:txBody>
      </p:sp>
      <p:cxnSp>
        <p:nvCxnSpPr>
          <p:cNvPr id="400" name="Google Shape;400;p22"/>
          <p:cNvCxnSpPr/>
          <p:nvPr/>
        </p:nvCxnSpPr>
        <p:spPr>
          <a:xfrm>
            <a:off x="2943969" y="5122033"/>
            <a:ext cx="439800" cy="0"/>
          </a:xfrm>
          <a:prstGeom prst="straightConnector1">
            <a:avLst/>
          </a:prstGeom>
          <a:noFill/>
          <a:ln cap="flat" cmpd="sng" w="28575">
            <a:solidFill>
              <a:srgbClr val="037B7D"/>
            </a:solidFill>
            <a:prstDash val="solid"/>
            <a:round/>
            <a:headEnd len="med" w="med" type="triangle"/>
            <a:tailEnd len="med" w="med" type="triangle"/>
          </a:ln>
        </p:spPr>
      </p:cxnSp>
      <p:sp>
        <p:nvSpPr>
          <p:cNvPr id="401" name="Google Shape;401;p22"/>
          <p:cNvSpPr txBox="1"/>
          <p:nvPr/>
        </p:nvSpPr>
        <p:spPr>
          <a:xfrm flipH="1">
            <a:off x="2862387" y="5135692"/>
            <a:ext cx="540300" cy="18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24 cm</a:t>
            </a:r>
            <a:endParaRPr sz="12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3}{4}\times\pi\times24^2+24\times24&quot;&gt;&lt;mfrac&gt;&lt;mn&gt;3&lt;/mn&gt;&lt;mn&gt;4&lt;/mn&gt;&lt;/mfrac&gt;&lt;mo&gt;×&lt;/mo&gt;&lt;mi&gt;π&lt;/mi&gt;&lt;mo&gt;×&lt;/mo&gt;&lt;msup&gt;&lt;mn&gt;24&lt;/mn&gt;&lt;mn&gt;2&lt;/mn&gt;&lt;/msup&gt;&lt;mo&gt;+&lt;/mo&gt;&lt;mn&gt;24&lt;/mn&gt;&lt;mo&gt;×&lt;/mo&gt;&lt;mn&gt;24&lt;/mn&gt;&lt;/math&gt;" id="402" name="Google Shape;402;p22" title="three fourths times pi times 24 squared plus 24 times 24"/>
          <p:cNvPicPr preferRelativeResize="0"/>
          <p:nvPr/>
        </p:nvPicPr>
        <p:blipFill rotWithShape="1">
          <a:blip r:embed="rId8">
            <a:alphaModFix/>
          </a:blip>
          <a:srcRect b="0" l="0" r="0" t="0"/>
          <a:stretch/>
        </p:blipFill>
        <p:spPr>
          <a:xfrm>
            <a:off x="4300698" y="4784932"/>
            <a:ext cx="1676602" cy="378188"/>
          </a:xfrm>
          <a:prstGeom prst="rect">
            <a:avLst/>
          </a:prstGeom>
          <a:noFill/>
          <a:ln>
            <a:noFill/>
          </a:ln>
        </p:spPr>
      </p:pic>
      <p:pic>
        <p:nvPicPr>
          <p:cNvPr id="403" name="Google Shape;403;p22"/>
          <p:cNvPicPr preferRelativeResize="0"/>
          <p:nvPr/>
        </p:nvPicPr>
        <p:blipFill rotWithShape="1">
          <a:blip r:embed="rId7">
            <a:alphaModFix/>
          </a:blip>
          <a:srcRect b="48314" l="-1805" r="57441" t="33096"/>
          <a:stretch/>
        </p:blipFill>
        <p:spPr>
          <a:xfrm rot="5400000">
            <a:off x="1960922" y="5978799"/>
            <a:ext cx="817199" cy="456261"/>
          </a:xfrm>
          <a:prstGeom prst="rect">
            <a:avLst/>
          </a:prstGeom>
          <a:noFill/>
          <a:ln>
            <a:noFill/>
          </a:ln>
        </p:spPr>
      </p:pic>
      <p:pic>
        <p:nvPicPr>
          <p:cNvPr id="404" name="Google Shape;404;p22"/>
          <p:cNvPicPr preferRelativeResize="0"/>
          <p:nvPr/>
        </p:nvPicPr>
        <p:blipFill rotWithShape="1">
          <a:blip r:embed="rId7">
            <a:alphaModFix/>
          </a:blip>
          <a:srcRect b="61654" l="57805" r="-2169" t="-227"/>
          <a:stretch/>
        </p:blipFill>
        <p:spPr>
          <a:xfrm rot="5400000">
            <a:off x="3130820" y="5745009"/>
            <a:ext cx="817199" cy="946803"/>
          </a:xfrm>
          <a:prstGeom prst="rect">
            <a:avLst/>
          </a:prstGeom>
          <a:noFill/>
          <a:ln>
            <a:noFill/>
          </a:ln>
        </p:spPr>
      </p:pic>
      <p:cxnSp>
        <p:nvCxnSpPr>
          <p:cNvPr id="405" name="Google Shape;405;p22"/>
          <p:cNvCxnSpPr/>
          <p:nvPr/>
        </p:nvCxnSpPr>
        <p:spPr>
          <a:xfrm rot="-5400000">
            <a:off x="2289286" y="6233233"/>
            <a:ext cx="708600" cy="0"/>
          </a:xfrm>
          <a:prstGeom prst="straightConnector1">
            <a:avLst/>
          </a:prstGeom>
          <a:noFill/>
          <a:ln cap="flat" cmpd="sng" w="28575">
            <a:solidFill>
              <a:srgbClr val="037B7D"/>
            </a:solidFill>
            <a:prstDash val="solid"/>
            <a:round/>
            <a:headEnd len="med" w="med" type="triangle"/>
            <a:tailEnd len="med" w="med" type="triangle"/>
          </a:ln>
        </p:spPr>
      </p:cxnSp>
      <p:sp>
        <p:nvSpPr>
          <p:cNvPr id="406" name="Google Shape;406;p22"/>
          <p:cNvSpPr txBox="1"/>
          <p:nvPr/>
        </p:nvSpPr>
        <p:spPr>
          <a:xfrm flipH="1" rot="-5400000">
            <a:off x="2381622" y="6152914"/>
            <a:ext cx="708000" cy="1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28 cm</a:t>
            </a:r>
            <a:endParaRPr sz="1200">
              <a:solidFill>
                <a:srgbClr val="000000"/>
              </a:solidFill>
              <a:latin typeface="Lexend"/>
              <a:ea typeface="Lexend"/>
              <a:cs typeface="Lexend"/>
              <a:sym typeface="Lexend"/>
            </a:endParaRPr>
          </a:p>
        </p:txBody>
      </p:sp>
      <p:cxnSp>
        <p:nvCxnSpPr>
          <p:cNvPr id="407" name="Google Shape;407;p22"/>
          <p:cNvCxnSpPr/>
          <p:nvPr/>
        </p:nvCxnSpPr>
        <p:spPr>
          <a:xfrm>
            <a:off x="3153504" y="6641697"/>
            <a:ext cx="825000" cy="0"/>
          </a:xfrm>
          <a:prstGeom prst="straightConnector1">
            <a:avLst/>
          </a:prstGeom>
          <a:noFill/>
          <a:ln cap="flat" cmpd="sng" w="28575">
            <a:solidFill>
              <a:srgbClr val="037B7D"/>
            </a:solidFill>
            <a:prstDash val="solid"/>
            <a:round/>
            <a:headEnd len="med" w="med" type="triangle"/>
            <a:tailEnd len="med" w="med" type="triangle"/>
          </a:ln>
        </p:spPr>
      </p:cxnSp>
      <p:sp>
        <p:nvSpPr>
          <p:cNvPr id="408" name="Google Shape;408;p22"/>
          <p:cNvSpPr txBox="1"/>
          <p:nvPr/>
        </p:nvSpPr>
        <p:spPr>
          <a:xfrm flipH="1">
            <a:off x="3153574" y="6653634"/>
            <a:ext cx="824400" cy="1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44 cm</a:t>
            </a:r>
            <a:endParaRPr sz="12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2}\times\pi\times14^2+\frac{1}{2}\times44\times28&quot;&gt;&lt;mfrac&gt;&lt;mn&gt;1&lt;/mn&gt;&lt;mn&gt;2&lt;/mn&gt;&lt;/mfrac&gt;&lt;mo&gt;×&lt;/mo&gt;&lt;mi&gt;π&lt;/mi&gt;&lt;mo&gt;×&lt;/mo&gt;&lt;msup&gt;&lt;mn&gt;14&lt;/mn&gt;&lt;mn&gt;2&lt;/mn&gt;&lt;/msup&gt;&lt;mo&gt;+&lt;/mo&gt;&lt;mfrac&gt;&lt;mn&gt;1&lt;/mn&gt;&lt;mn&gt;2&lt;/mn&gt;&lt;/mfrac&gt;&lt;mo&gt;×&lt;/mo&gt;&lt;mn&gt;44&lt;/mn&gt;&lt;mo&gt;×&lt;/mo&gt;&lt;mn&gt;28&lt;/mn&gt;&lt;/math&gt;" id="409" name="Google Shape;409;p22" title="one half times pi times 14 squared plus one half times 44 times 28"/>
          <p:cNvPicPr preferRelativeResize="0"/>
          <p:nvPr/>
        </p:nvPicPr>
        <p:blipFill rotWithShape="1">
          <a:blip r:embed="rId9">
            <a:alphaModFix/>
          </a:blip>
          <a:srcRect b="0" l="0" r="45136" t="0"/>
          <a:stretch/>
        </p:blipFill>
        <p:spPr>
          <a:xfrm>
            <a:off x="4331159" y="5751882"/>
            <a:ext cx="1110141" cy="377519"/>
          </a:xfrm>
          <a:prstGeom prst="rect">
            <a:avLst/>
          </a:prstGeom>
          <a:noFill/>
          <a:ln>
            <a:noFill/>
          </a:ln>
        </p:spPr>
      </p:pic>
      <p:pic>
        <p:nvPicPr>
          <p:cNvPr descr="&lt;math xmlns=&quot;http://www.w3.org/1998/Math/MathML&quot; display=&quot;block&quot; data-is-equatio=&quot;1&quot; data-latex=&quot;\frac{1}{2}\times\pi\times14^2+\frac{1}{2}\times44\times28&quot;&gt;&lt;mfrac&gt;&lt;mn&gt;1&lt;/mn&gt;&lt;mn&gt;2&lt;/mn&gt;&lt;/mfrac&gt;&lt;mo&gt;×&lt;/mo&gt;&lt;mi&gt;π&lt;/mi&gt;&lt;mo&gt;×&lt;/mo&gt;&lt;msup&gt;&lt;mn&gt;14&lt;/mn&gt;&lt;mn&gt;2&lt;/mn&gt;&lt;/msup&gt;&lt;mo&gt;+&lt;/mo&gt;&lt;mfrac&gt;&lt;mn&gt;1&lt;/mn&gt;&lt;mn&gt;2&lt;/mn&gt;&lt;/mfrac&gt;&lt;mo&gt;×&lt;/mo&gt;&lt;mn&gt;44&lt;/mn&gt;&lt;mo&gt;×&lt;/mo&gt;&lt;mn&gt;28&lt;/mn&gt;&lt;/math&gt;" id="410" name="Google Shape;410;p22" title="one half times pi times 14 squared plus one half times 44 times 28"/>
          <p:cNvPicPr preferRelativeResize="0"/>
          <p:nvPr/>
        </p:nvPicPr>
        <p:blipFill rotWithShape="1">
          <a:blip r:embed="rId9">
            <a:alphaModFix/>
          </a:blip>
          <a:srcRect b="0" l="55537" r="0" t="0"/>
          <a:stretch/>
        </p:blipFill>
        <p:spPr>
          <a:xfrm>
            <a:off x="4326861" y="6307420"/>
            <a:ext cx="899703" cy="377519"/>
          </a:xfrm>
          <a:prstGeom prst="rect">
            <a:avLst/>
          </a:prstGeom>
          <a:noFill/>
          <a:ln>
            <a:noFill/>
          </a:ln>
        </p:spPr>
      </p:pic>
      <p:sp>
        <p:nvSpPr>
          <p:cNvPr id="411" name="Google Shape;411;p22"/>
          <p:cNvSpPr txBox="1"/>
          <p:nvPr/>
        </p:nvSpPr>
        <p:spPr>
          <a:xfrm>
            <a:off x="476975" y="4367463"/>
            <a:ext cx="2292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c) </a:t>
            </a:r>
            <a:endParaRPr i="1" sz="1200">
              <a:solidFill>
                <a:srgbClr val="000000"/>
              </a:solidFill>
              <a:latin typeface="Times New Roman"/>
              <a:ea typeface="Times New Roman"/>
              <a:cs typeface="Times New Roman"/>
              <a:sym typeface="Times New Roman"/>
            </a:endParaRPr>
          </a:p>
        </p:txBody>
      </p:sp>
      <p:sp>
        <p:nvSpPr>
          <p:cNvPr id="412" name="Google Shape;412;p22"/>
          <p:cNvSpPr txBox="1"/>
          <p:nvPr/>
        </p:nvSpPr>
        <p:spPr>
          <a:xfrm>
            <a:off x="476975" y="5636211"/>
            <a:ext cx="2292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d) </a:t>
            </a:r>
            <a:endParaRPr i="1" sz="1200">
              <a:solidFill>
                <a:srgbClr val="000000"/>
              </a:solidFill>
              <a:latin typeface="Times New Roman"/>
              <a:ea typeface="Times New Roman"/>
              <a:cs typeface="Times New Roman"/>
              <a:sym typeface="Times New Roman"/>
            </a:endParaRPr>
          </a:p>
        </p:txBody>
      </p:sp>
      <p:pic>
        <p:nvPicPr>
          <p:cNvPr id="413" name="Google Shape;413;p22"/>
          <p:cNvPicPr preferRelativeResize="0"/>
          <p:nvPr/>
        </p:nvPicPr>
        <p:blipFill rotWithShape="1">
          <a:blip r:embed="rId10">
            <a:alphaModFix/>
          </a:blip>
          <a:srcRect b="0" l="0" r="0" t="0"/>
          <a:stretch/>
        </p:blipFill>
        <p:spPr>
          <a:xfrm>
            <a:off x="947414" y="8059343"/>
            <a:ext cx="4825964" cy="1418037"/>
          </a:xfrm>
          <a:prstGeom prst="rect">
            <a:avLst/>
          </a:prstGeom>
          <a:noFill/>
          <a:ln>
            <a:noFill/>
          </a:ln>
        </p:spPr>
      </p:pic>
      <p:sp>
        <p:nvSpPr>
          <p:cNvPr id="414" name="Google Shape;414;p22"/>
          <p:cNvSpPr txBox="1"/>
          <p:nvPr/>
        </p:nvSpPr>
        <p:spPr>
          <a:xfrm>
            <a:off x="476400" y="7434575"/>
            <a:ext cx="5769600" cy="5532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lang="en-GB" sz="1200">
                <a:solidFill>
                  <a:srgbClr val="000000"/>
                </a:solidFill>
                <a:latin typeface="Lexend"/>
                <a:ea typeface="Lexend"/>
                <a:cs typeface="Lexend"/>
                <a:sym typeface="Lexend"/>
              </a:rPr>
              <a:t>3) What do you </a:t>
            </a:r>
            <a:r>
              <a:rPr lang="en-GB" sz="1200">
                <a:latin typeface="Lexend"/>
                <a:ea typeface="Lexend"/>
                <a:cs typeface="Lexend"/>
                <a:sym typeface="Lexend"/>
              </a:rPr>
              <a:t>notice</a:t>
            </a:r>
            <a:r>
              <a:rPr lang="en-GB" sz="1200">
                <a:solidFill>
                  <a:srgbClr val="000000"/>
                </a:solidFill>
                <a:latin typeface="Lexend"/>
                <a:ea typeface="Lexend"/>
                <a:cs typeface="Lexend"/>
                <a:sym typeface="Lexend"/>
              </a:rPr>
              <a:t> about the areas of each shaded region?</a:t>
            </a:r>
            <a:endParaRPr sz="1200">
              <a:solidFill>
                <a:srgbClr val="000000"/>
              </a:solidFill>
              <a:latin typeface="Lexend"/>
              <a:ea typeface="Lexend"/>
              <a:cs typeface="Lexend"/>
              <a:sym typeface="Lexend"/>
            </a:endParaRPr>
          </a:p>
          <a:p>
            <a:pPr indent="0" lvl="0" marL="0" rtl="0" algn="l">
              <a:lnSpc>
                <a:spcPct val="130000"/>
              </a:lnSpc>
              <a:spcBef>
                <a:spcPts val="1000"/>
              </a:spcBef>
              <a:spcAft>
                <a:spcPts val="1000"/>
              </a:spcAft>
              <a:buNone/>
            </a:pPr>
            <a:r>
              <a:rPr lang="en-GB" sz="1200">
                <a:solidFill>
                  <a:srgbClr val="000000"/>
                </a:solidFill>
                <a:latin typeface="Lexend"/>
                <a:ea typeface="Lexend"/>
                <a:cs typeface="Lexend"/>
                <a:sym typeface="Lexend"/>
              </a:rPr>
              <a:t>Show your working to support your observations.</a:t>
            </a:r>
            <a:endParaRPr sz="1200">
              <a:solidFill>
                <a:srgbClr val="000000"/>
              </a:solidFill>
              <a:latin typeface="Lexend"/>
              <a:ea typeface="Lexend"/>
              <a:cs typeface="Lexend"/>
              <a:sym typeface="Lexend"/>
            </a:endParaRPr>
          </a:p>
        </p:txBody>
      </p:sp>
      <p:sp>
        <p:nvSpPr>
          <p:cNvPr id="415" name="Google Shape;415;p22"/>
          <p:cNvSpPr txBox="1"/>
          <p:nvPr/>
        </p:nvSpPr>
        <p:spPr>
          <a:xfrm>
            <a:off x="476400" y="9553685"/>
            <a:ext cx="5769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The area of each shaded region is equal, as the empty space in each shape can be rearranged to create one full circle. The area of the shaded region is 64 – 16π.</a:t>
            </a:r>
            <a:endParaRPr sz="1200">
              <a:solidFill>
                <a:srgbClr val="000000"/>
              </a:solidFill>
              <a:latin typeface="Kalam"/>
              <a:ea typeface="Kalam"/>
              <a:cs typeface="Kalam"/>
              <a:sym typeface="Kalam"/>
            </a:endParaRPr>
          </a:p>
        </p:txBody>
      </p:sp>
      <p:sp>
        <p:nvSpPr>
          <p:cNvPr id="416" name="Google Shape;416;p22"/>
          <p:cNvSpPr txBox="1"/>
          <p:nvPr/>
        </p:nvSpPr>
        <p:spPr>
          <a:xfrm flipH="1" rot="-5400000">
            <a:off x="132244" y="8688072"/>
            <a:ext cx="1342800" cy="17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8 cm</a:t>
            </a:r>
            <a:endParaRPr sz="1200">
              <a:solidFill>
                <a:srgbClr val="000000"/>
              </a:solidFill>
              <a:latin typeface="Lexend"/>
              <a:ea typeface="Lexend"/>
              <a:cs typeface="Lexend"/>
              <a:sym typeface="Lexend"/>
            </a:endParaRPr>
          </a:p>
        </p:txBody>
      </p:sp>
      <p:cxnSp>
        <p:nvCxnSpPr>
          <p:cNvPr id="417" name="Google Shape;417;p22"/>
          <p:cNvCxnSpPr/>
          <p:nvPr/>
        </p:nvCxnSpPr>
        <p:spPr>
          <a:xfrm rot="-5400000">
            <a:off x="220811" y="8773995"/>
            <a:ext cx="1381800" cy="0"/>
          </a:xfrm>
          <a:prstGeom prst="straightConnector1">
            <a:avLst/>
          </a:prstGeom>
          <a:noFill/>
          <a:ln cap="flat" cmpd="sng" w="28575">
            <a:solidFill>
              <a:srgbClr val="037B7D"/>
            </a:solidFill>
            <a:prstDash val="solid"/>
            <a:round/>
            <a:headEnd len="med" w="med" type="triangle"/>
            <a:tailEnd len="med" w="med" type="triangle"/>
          </a:ln>
        </p:spPr>
      </p:cxnSp>
      <p:sp>
        <p:nvSpPr>
          <p:cNvPr id="418" name="Google Shape;418;p22"/>
          <p:cNvSpPr txBox="1"/>
          <p:nvPr/>
        </p:nvSpPr>
        <p:spPr>
          <a:xfrm>
            <a:off x="993864" y="8102771"/>
            <a:ext cx="604200" cy="36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¼</a:t>
            </a:r>
            <a:endParaRPr sz="1200">
              <a:solidFill>
                <a:srgbClr val="000000"/>
              </a:solidFill>
              <a:latin typeface="Kalam"/>
              <a:ea typeface="Kalam"/>
              <a:cs typeface="Kalam"/>
              <a:sym typeface="Kalam"/>
            </a:endParaRPr>
          </a:p>
          <a:p>
            <a:pPr indent="0" lvl="0" marL="0" rtl="0" algn="ctr">
              <a:spcBef>
                <a:spcPts val="0"/>
              </a:spcBef>
              <a:spcAft>
                <a:spcPts val="0"/>
              </a:spcAft>
              <a:buNone/>
            </a:pPr>
            <a:r>
              <a:rPr lang="en-GB" sz="1200">
                <a:solidFill>
                  <a:srgbClr val="000000"/>
                </a:solidFill>
                <a:latin typeface="Kalam"/>
                <a:ea typeface="Kalam"/>
                <a:cs typeface="Kalam"/>
                <a:sym typeface="Kalam"/>
              </a:rPr>
              <a:t>circle</a:t>
            </a:r>
            <a:endParaRPr sz="1200">
              <a:solidFill>
                <a:srgbClr val="000000"/>
              </a:solidFill>
              <a:latin typeface="Kalam"/>
              <a:ea typeface="Kalam"/>
              <a:cs typeface="Kalam"/>
              <a:sym typeface="Kalam"/>
            </a:endParaRPr>
          </a:p>
        </p:txBody>
      </p:sp>
      <p:sp>
        <p:nvSpPr>
          <p:cNvPr id="419" name="Google Shape;419;p22"/>
          <p:cNvSpPr txBox="1"/>
          <p:nvPr/>
        </p:nvSpPr>
        <p:spPr>
          <a:xfrm>
            <a:off x="993864" y="9027485"/>
            <a:ext cx="604200" cy="36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¼</a:t>
            </a:r>
            <a:endParaRPr sz="1200">
              <a:solidFill>
                <a:srgbClr val="000000"/>
              </a:solidFill>
              <a:latin typeface="Kalam"/>
              <a:ea typeface="Kalam"/>
              <a:cs typeface="Kalam"/>
              <a:sym typeface="Kalam"/>
            </a:endParaRPr>
          </a:p>
          <a:p>
            <a:pPr indent="0" lvl="0" marL="0" rtl="0" algn="ctr">
              <a:spcBef>
                <a:spcPts val="0"/>
              </a:spcBef>
              <a:spcAft>
                <a:spcPts val="0"/>
              </a:spcAft>
              <a:buNone/>
            </a:pPr>
            <a:r>
              <a:rPr lang="en-GB" sz="1200">
                <a:solidFill>
                  <a:srgbClr val="000000"/>
                </a:solidFill>
                <a:latin typeface="Kalam"/>
                <a:ea typeface="Kalam"/>
                <a:cs typeface="Kalam"/>
                <a:sym typeface="Kalam"/>
              </a:rPr>
              <a:t>circle</a:t>
            </a:r>
            <a:endParaRPr sz="1200">
              <a:solidFill>
                <a:srgbClr val="000000"/>
              </a:solidFill>
              <a:latin typeface="Kalam"/>
              <a:ea typeface="Kalam"/>
              <a:cs typeface="Kalam"/>
              <a:sym typeface="Kalam"/>
            </a:endParaRPr>
          </a:p>
        </p:txBody>
      </p:sp>
      <p:sp>
        <p:nvSpPr>
          <p:cNvPr id="420" name="Google Shape;420;p22"/>
          <p:cNvSpPr txBox="1"/>
          <p:nvPr/>
        </p:nvSpPr>
        <p:spPr>
          <a:xfrm>
            <a:off x="1726938" y="8102771"/>
            <a:ext cx="604200" cy="36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¼</a:t>
            </a:r>
            <a:endParaRPr sz="1200">
              <a:solidFill>
                <a:srgbClr val="000000"/>
              </a:solidFill>
              <a:latin typeface="Kalam"/>
              <a:ea typeface="Kalam"/>
              <a:cs typeface="Kalam"/>
              <a:sym typeface="Kalam"/>
            </a:endParaRPr>
          </a:p>
          <a:p>
            <a:pPr indent="0" lvl="0" marL="0" rtl="0" algn="ctr">
              <a:spcBef>
                <a:spcPts val="0"/>
              </a:spcBef>
              <a:spcAft>
                <a:spcPts val="0"/>
              </a:spcAft>
              <a:buNone/>
            </a:pPr>
            <a:r>
              <a:rPr lang="en-GB" sz="1200">
                <a:solidFill>
                  <a:srgbClr val="000000"/>
                </a:solidFill>
                <a:latin typeface="Kalam"/>
                <a:ea typeface="Kalam"/>
                <a:cs typeface="Kalam"/>
                <a:sym typeface="Kalam"/>
              </a:rPr>
              <a:t>circle</a:t>
            </a:r>
            <a:endParaRPr sz="1200">
              <a:solidFill>
                <a:srgbClr val="000000"/>
              </a:solidFill>
              <a:latin typeface="Kalam"/>
              <a:ea typeface="Kalam"/>
              <a:cs typeface="Kalam"/>
              <a:sym typeface="Kalam"/>
            </a:endParaRPr>
          </a:p>
        </p:txBody>
      </p:sp>
      <p:sp>
        <p:nvSpPr>
          <p:cNvPr id="421" name="Google Shape;421;p22"/>
          <p:cNvSpPr txBox="1"/>
          <p:nvPr/>
        </p:nvSpPr>
        <p:spPr>
          <a:xfrm>
            <a:off x="1726938" y="9027485"/>
            <a:ext cx="604200" cy="36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¼</a:t>
            </a:r>
            <a:endParaRPr sz="1200">
              <a:solidFill>
                <a:srgbClr val="000000"/>
              </a:solidFill>
              <a:latin typeface="Kalam"/>
              <a:ea typeface="Kalam"/>
              <a:cs typeface="Kalam"/>
              <a:sym typeface="Kalam"/>
            </a:endParaRPr>
          </a:p>
          <a:p>
            <a:pPr indent="0" lvl="0" marL="0" rtl="0" algn="ctr">
              <a:spcBef>
                <a:spcPts val="0"/>
              </a:spcBef>
              <a:spcAft>
                <a:spcPts val="0"/>
              </a:spcAft>
              <a:buNone/>
            </a:pPr>
            <a:r>
              <a:rPr lang="en-GB" sz="1200">
                <a:solidFill>
                  <a:srgbClr val="000000"/>
                </a:solidFill>
                <a:latin typeface="Kalam"/>
                <a:ea typeface="Kalam"/>
                <a:cs typeface="Kalam"/>
                <a:sym typeface="Kalam"/>
              </a:rPr>
              <a:t>circle</a:t>
            </a:r>
            <a:endParaRPr sz="1200">
              <a:solidFill>
                <a:srgbClr val="000000"/>
              </a:solidFill>
              <a:latin typeface="Kalam"/>
              <a:ea typeface="Kalam"/>
              <a:cs typeface="Kalam"/>
              <a:sym typeface="Kalam"/>
            </a:endParaRPr>
          </a:p>
        </p:txBody>
      </p:sp>
      <p:sp>
        <p:nvSpPr>
          <p:cNvPr id="422" name="Google Shape;422;p22"/>
          <p:cNvSpPr txBox="1"/>
          <p:nvPr/>
        </p:nvSpPr>
        <p:spPr>
          <a:xfrm>
            <a:off x="3059136" y="8102771"/>
            <a:ext cx="604200" cy="36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½</a:t>
            </a:r>
            <a:endParaRPr sz="1200">
              <a:solidFill>
                <a:srgbClr val="000000"/>
              </a:solidFill>
              <a:latin typeface="Kalam"/>
              <a:ea typeface="Kalam"/>
              <a:cs typeface="Kalam"/>
              <a:sym typeface="Kalam"/>
            </a:endParaRPr>
          </a:p>
          <a:p>
            <a:pPr indent="0" lvl="0" marL="0" rtl="0" algn="ctr">
              <a:spcBef>
                <a:spcPts val="0"/>
              </a:spcBef>
              <a:spcAft>
                <a:spcPts val="0"/>
              </a:spcAft>
              <a:buNone/>
            </a:pPr>
            <a:r>
              <a:rPr lang="en-GB" sz="1200">
                <a:solidFill>
                  <a:srgbClr val="000000"/>
                </a:solidFill>
                <a:latin typeface="Kalam"/>
                <a:ea typeface="Kalam"/>
                <a:cs typeface="Kalam"/>
                <a:sym typeface="Kalam"/>
              </a:rPr>
              <a:t>circle</a:t>
            </a:r>
            <a:endParaRPr sz="1200">
              <a:solidFill>
                <a:srgbClr val="000000"/>
              </a:solidFill>
              <a:latin typeface="Kalam"/>
              <a:ea typeface="Kalam"/>
              <a:cs typeface="Kalam"/>
              <a:sym typeface="Kalam"/>
            </a:endParaRPr>
          </a:p>
        </p:txBody>
      </p:sp>
      <p:sp>
        <p:nvSpPr>
          <p:cNvPr id="423" name="Google Shape;423;p22"/>
          <p:cNvSpPr txBox="1"/>
          <p:nvPr/>
        </p:nvSpPr>
        <p:spPr>
          <a:xfrm>
            <a:off x="3059136" y="9027485"/>
            <a:ext cx="604200" cy="36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200">
                <a:solidFill>
                  <a:srgbClr val="000000"/>
                </a:solidFill>
                <a:latin typeface="Kalam"/>
                <a:ea typeface="Kalam"/>
                <a:cs typeface="Kalam"/>
                <a:sym typeface="Kalam"/>
              </a:rPr>
              <a:t>½</a:t>
            </a:r>
            <a:endParaRPr sz="1200">
              <a:solidFill>
                <a:srgbClr val="000000"/>
              </a:solidFill>
              <a:latin typeface="Kalam"/>
              <a:ea typeface="Kalam"/>
              <a:cs typeface="Kalam"/>
              <a:sym typeface="Kalam"/>
            </a:endParaRPr>
          </a:p>
          <a:p>
            <a:pPr indent="0" lvl="0" marL="0" rtl="0" algn="ctr">
              <a:spcBef>
                <a:spcPts val="0"/>
              </a:spcBef>
              <a:spcAft>
                <a:spcPts val="0"/>
              </a:spcAft>
              <a:buNone/>
            </a:pPr>
            <a:r>
              <a:rPr lang="en-GB" sz="1200">
                <a:solidFill>
                  <a:srgbClr val="000000"/>
                </a:solidFill>
                <a:latin typeface="Kalam"/>
                <a:ea typeface="Kalam"/>
                <a:cs typeface="Kalam"/>
                <a:sym typeface="Kalam"/>
              </a:rPr>
              <a:t>circle</a:t>
            </a:r>
            <a:endParaRPr sz="1200">
              <a:solidFill>
                <a:srgbClr val="000000"/>
              </a:solidFill>
              <a:latin typeface="Kalam"/>
              <a:ea typeface="Kalam"/>
              <a:cs typeface="Kalam"/>
              <a:sym typeface="Kalam"/>
            </a:endParaRPr>
          </a:p>
        </p:txBody>
      </p:sp>
      <p:sp>
        <p:nvSpPr>
          <p:cNvPr id="424" name="Google Shape;424;p2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25" name="Google Shape;425;p22"/>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LD">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