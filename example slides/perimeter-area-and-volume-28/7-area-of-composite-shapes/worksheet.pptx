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05EA861-4E62-47CB-B108-7CF0C5B56D45}">
  <a:tblStyle styleId="{705EA861-4E62-47CB-B108-7CF0C5B56D4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a8571779ba_0_197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a8571779ba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2a8571779ba_0_288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2a8571779ba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6.png"/><Relationship Id="rId10" Type="http://schemas.openxmlformats.org/officeDocument/2006/relationships/image" Target="../media/image14.png"/><Relationship Id="rId13" Type="http://schemas.openxmlformats.org/officeDocument/2006/relationships/image" Target="../media/image12.png"/><Relationship Id="rId12" Type="http://schemas.openxmlformats.org/officeDocument/2006/relationships/image" Target="../media/image15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9" Type="http://schemas.openxmlformats.org/officeDocument/2006/relationships/image" Target="../media/image8.png"/><Relationship Id="rId15" Type="http://schemas.openxmlformats.org/officeDocument/2006/relationships/image" Target="../media/image26.png"/><Relationship Id="rId14" Type="http://schemas.openxmlformats.org/officeDocument/2006/relationships/image" Target="../media/image18.png"/><Relationship Id="rId17" Type="http://schemas.openxmlformats.org/officeDocument/2006/relationships/image" Target="../media/image24.png"/><Relationship Id="rId16" Type="http://schemas.openxmlformats.org/officeDocument/2006/relationships/image" Target="../media/image21.png"/><Relationship Id="rId5" Type="http://schemas.openxmlformats.org/officeDocument/2006/relationships/image" Target="../media/image7.png"/><Relationship Id="rId6" Type="http://schemas.openxmlformats.org/officeDocument/2006/relationships/image" Target="../media/image9.png"/><Relationship Id="rId7" Type="http://schemas.openxmlformats.org/officeDocument/2006/relationships/image" Target="../media/image11.png"/><Relationship Id="rId8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31.png"/><Relationship Id="rId10" Type="http://schemas.openxmlformats.org/officeDocument/2006/relationships/image" Target="../media/image30.png"/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Relationship Id="rId4" Type="http://schemas.openxmlformats.org/officeDocument/2006/relationships/image" Target="../media/image6.png"/><Relationship Id="rId9" Type="http://schemas.openxmlformats.org/officeDocument/2006/relationships/image" Target="../media/image28.png"/><Relationship Id="rId5" Type="http://schemas.openxmlformats.org/officeDocument/2006/relationships/image" Target="../media/image23.png"/><Relationship Id="rId6" Type="http://schemas.openxmlformats.org/officeDocument/2006/relationships/image" Target="../media/image25.png"/><Relationship Id="rId7" Type="http://schemas.openxmlformats.org/officeDocument/2006/relationships/image" Target="../media/image8.png"/><Relationship Id="rId8" Type="http://schemas.openxmlformats.org/officeDocument/2006/relationships/image" Target="../media/image2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9.png"/><Relationship Id="rId6" Type="http://schemas.openxmlformats.org/officeDocument/2006/relationships/image" Target="../media/image35.png"/><Relationship Id="rId7" Type="http://schemas.openxmlformats.org/officeDocument/2006/relationships/image" Target="../media/image32.png"/><Relationship Id="rId8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Area of composite shapes</a:t>
            </a:r>
            <a:endParaRPr/>
          </a:p>
        </p:txBody>
      </p:sp>
      <p:sp>
        <p:nvSpPr>
          <p:cNvPr id="160" name="Google Shape;160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68000" y="14303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Finding the area of sectors of a circle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76400" y="1933125"/>
            <a:ext cx="66240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Match the circle sectors with the possible correct calculations and answers. Some calculations do not match with a sector.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3" name="Google Shape;163;p20"/>
          <p:cNvPicPr preferRelativeResize="0"/>
          <p:nvPr/>
        </p:nvPicPr>
        <p:blipFill rotWithShape="1">
          <a:blip r:embed="rId3">
            <a:alphaModFix/>
          </a:blip>
          <a:srcRect b="73476" l="43494" r="4229" t="0"/>
          <a:stretch/>
        </p:blipFill>
        <p:spPr>
          <a:xfrm>
            <a:off x="791470" y="2564659"/>
            <a:ext cx="883835" cy="8854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0"/>
          <p:cNvPicPr preferRelativeResize="0"/>
          <p:nvPr/>
        </p:nvPicPr>
        <p:blipFill rotWithShape="1">
          <a:blip r:embed="rId3">
            <a:alphaModFix/>
          </a:blip>
          <a:srcRect b="0" l="22511" r="4234" t="73476"/>
          <a:stretch/>
        </p:blipFill>
        <p:spPr>
          <a:xfrm>
            <a:off x="5546734" y="2564636"/>
            <a:ext cx="1238595" cy="88551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5" name="Google Shape;165;p20"/>
          <p:cNvCxnSpPr/>
          <p:nvPr/>
        </p:nvCxnSpPr>
        <p:spPr>
          <a:xfrm>
            <a:off x="868201" y="3494600"/>
            <a:ext cx="772800" cy="0"/>
          </a:xfrm>
          <a:prstGeom prst="straightConnector1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6" name="Google Shape;166;p20"/>
          <p:cNvSpPr txBox="1"/>
          <p:nvPr/>
        </p:nvSpPr>
        <p:spPr>
          <a:xfrm>
            <a:off x="741407" y="3505845"/>
            <a:ext cx="10263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 = 6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7" name="Google Shape;167;p20"/>
          <p:cNvPicPr preferRelativeResize="0"/>
          <p:nvPr/>
        </p:nvPicPr>
        <p:blipFill rotWithShape="1">
          <a:blip r:embed="rId3">
            <a:alphaModFix/>
          </a:blip>
          <a:srcRect b="36028" l="0" r="4232" t="36381"/>
          <a:stretch/>
        </p:blipFill>
        <p:spPr>
          <a:xfrm>
            <a:off x="2801437" y="2528980"/>
            <a:ext cx="1619166" cy="9211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8" name="Google Shape;168;p20"/>
          <p:cNvCxnSpPr/>
          <p:nvPr/>
        </p:nvCxnSpPr>
        <p:spPr>
          <a:xfrm>
            <a:off x="3597364" y="3494608"/>
            <a:ext cx="823200" cy="0"/>
          </a:xfrm>
          <a:prstGeom prst="straightConnector1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9" name="Google Shape;169;p20"/>
          <p:cNvSpPr txBox="1"/>
          <p:nvPr/>
        </p:nvSpPr>
        <p:spPr>
          <a:xfrm>
            <a:off x="3633601" y="3505863"/>
            <a:ext cx="7509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 = 4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5984638" y="2909776"/>
            <a:ext cx="4536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120°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5695289" y="3111412"/>
            <a:ext cx="533400" cy="533400"/>
          </a:xfrm>
          <a:prstGeom prst="arc">
            <a:avLst>
              <a:gd fmla="val 14436066" name="adj1"/>
              <a:gd fmla="val 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2" name="Google Shape;172;p20"/>
          <p:cNvCxnSpPr/>
          <p:nvPr/>
        </p:nvCxnSpPr>
        <p:spPr>
          <a:xfrm>
            <a:off x="5962643" y="3494608"/>
            <a:ext cx="823200" cy="0"/>
          </a:xfrm>
          <a:prstGeom prst="straightConnector1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3" name="Google Shape;173;p20"/>
          <p:cNvSpPr txBox="1"/>
          <p:nvPr/>
        </p:nvSpPr>
        <p:spPr>
          <a:xfrm>
            <a:off x="5998881" y="3505863"/>
            <a:ext cx="7509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 = 6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4" name="Google Shape;174;p20"/>
          <p:cNvPicPr preferRelativeResize="0"/>
          <p:nvPr/>
        </p:nvPicPr>
        <p:blipFill rotWithShape="1">
          <a:blip r:embed="rId4">
            <a:alphaModFix/>
          </a:blip>
          <a:srcRect b="3" l="10477" r="16763" t="65970"/>
          <a:stretch/>
        </p:blipFill>
        <p:spPr>
          <a:xfrm>
            <a:off x="686533" y="8619261"/>
            <a:ext cx="1139248" cy="1024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/>
          <p:nvPr/>
        </p:nvCxnSpPr>
        <p:spPr>
          <a:xfrm>
            <a:off x="1240292" y="9254602"/>
            <a:ext cx="526800" cy="0"/>
          </a:xfrm>
          <a:prstGeom prst="straightConnector1">
            <a:avLst/>
          </a:prstGeom>
          <a:noFill/>
          <a:ln cap="flat" cmpd="sng" w="19050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6" name="Google Shape;176;p20"/>
          <p:cNvSpPr txBox="1"/>
          <p:nvPr/>
        </p:nvSpPr>
        <p:spPr>
          <a:xfrm>
            <a:off x="1209410" y="9262600"/>
            <a:ext cx="5886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57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911291" y="8847216"/>
            <a:ext cx="4659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240°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8" name="Google Shape;178;p20"/>
          <p:cNvPicPr preferRelativeResize="0"/>
          <p:nvPr/>
        </p:nvPicPr>
        <p:blipFill rotWithShape="1">
          <a:blip r:embed="rId4">
            <a:alphaModFix/>
          </a:blip>
          <a:srcRect b="63865" l="10477" r="16763" t="0"/>
          <a:stretch/>
        </p:blipFill>
        <p:spPr>
          <a:xfrm>
            <a:off x="704104" y="7345068"/>
            <a:ext cx="1120732" cy="10706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0"/>
          <p:cNvPicPr preferRelativeResize="0"/>
          <p:nvPr/>
        </p:nvPicPr>
        <p:blipFill rotWithShape="1">
          <a:blip r:embed="rId4">
            <a:alphaModFix/>
          </a:blip>
          <a:srcRect b="43666" l="10477" r="16763" t="36768"/>
          <a:stretch/>
        </p:blipFill>
        <p:spPr>
          <a:xfrm>
            <a:off x="652228" y="6276393"/>
            <a:ext cx="1225294" cy="63378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0" name="Google Shape;180;p20"/>
          <p:cNvCxnSpPr/>
          <p:nvPr/>
        </p:nvCxnSpPr>
        <p:spPr>
          <a:xfrm>
            <a:off x="1247813" y="6934895"/>
            <a:ext cx="566700" cy="0"/>
          </a:xfrm>
          <a:prstGeom prst="straightConnector1">
            <a:avLst/>
          </a:prstGeom>
          <a:noFill/>
          <a:ln cap="flat" cmpd="sng" w="19050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1" name="Google Shape;181;p20"/>
          <p:cNvSpPr txBox="1"/>
          <p:nvPr/>
        </p:nvSpPr>
        <p:spPr>
          <a:xfrm>
            <a:off x="1214599" y="6943497"/>
            <a:ext cx="6330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30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2" name="Google Shape;182;p20"/>
          <p:cNvCxnSpPr/>
          <p:nvPr/>
        </p:nvCxnSpPr>
        <p:spPr>
          <a:xfrm>
            <a:off x="1255201" y="7793248"/>
            <a:ext cx="465900" cy="0"/>
          </a:xfrm>
          <a:prstGeom prst="straightConnector1">
            <a:avLst/>
          </a:prstGeom>
          <a:noFill/>
          <a:ln cap="flat" cmpd="sng" w="19050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graphicFrame>
        <p:nvGraphicFramePr>
          <p:cNvPr id="183" name="Google Shape;183;p20"/>
          <p:cNvGraphicFramePr/>
          <p:nvPr/>
        </p:nvGraphicFramePr>
        <p:xfrm>
          <a:off x="476388" y="58436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{705EA861-4E62-47CB-B108-7CF0C5B56D45}</a:tableStyleId>
              </a:tblPr>
              <a:tblGrid>
                <a:gridCol w="1758800"/>
                <a:gridCol w="1794200"/>
                <a:gridCol w="1545525"/>
                <a:gridCol w="1525475"/>
              </a:tblGrid>
              <a:tr h="28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sector</a:t>
                      </a:r>
                      <a:endParaRPr b="1" sz="1200" u="none" cap="none" strike="noStrik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step 1</a:t>
                      </a:r>
                      <a:endParaRPr b="1" sz="1200" u="none" cap="none" strike="noStrik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step 2</a:t>
                      </a:r>
                      <a:endParaRPr b="1" sz="1200" u="none" cap="none" strike="noStrik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answer (cm²)</a:t>
                      </a:r>
                      <a:endParaRPr b="1" sz="1200" u="none" cap="none" strike="noStrik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8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48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GB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GB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763.4</a:t>
                      </a:r>
                      <a:endParaRPr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36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GB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2166</a:t>
                      </a:r>
                      <a:r>
                        <a:rPr i="1" lang="en-GB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π</a:t>
                      </a:r>
                      <a:endParaRPr i="1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i="1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4" name="Google Shape;184;p20"/>
          <p:cNvSpPr txBox="1"/>
          <p:nvPr/>
        </p:nvSpPr>
        <p:spPr>
          <a:xfrm flipH="1">
            <a:off x="1072151" y="7559899"/>
            <a:ext cx="7185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18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468000" y="5366250"/>
            <a:ext cx="66240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Complete the table. Give your answer both as a decimal (rounded to 1 d.p.) and in terms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\times\pi\times900&quot;&gt;&lt;mfrac&gt;&lt;mn&gt;1&lt;/mn&gt;&lt;mn&gt;2&lt;/mn&gt;&lt;/mfrac&gt;&lt;mo&gt;×&lt;/mo&gt;&lt;mi&gt;π&lt;/mi&gt;&lt;mo&gt;×&lt;/mo&gt;&lt;mn&gt;900&lt;/mn&gt;&lt;/math&gt;" id="186" name="Google Shape;186;p20" title="one half times pi times 90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93175" y="6491485"/>
            <a:ext cx="1003711" cy="4159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\times\pi\times18^2&quot;&gt;&lt;mfrac&gt;&lt;mn&gt;3&lt;/mn&gt;&lt;mn&gt;4&lt;/mn&gt;&lt;/mfrac&gt;&lt;mo&gt;×&lt;/mo&gt;&lt;mi&gt;π&lt;/mi&gt;&lt;mo&gt;×&lt;/mo&gt;&lt;msup&gt;&lt;mn&gt;18&lt;/mn&gt;&lt;mn&gt;2&lt;/mn&gt;&lt;/msup&gt;&lt;/math&gt;" id="187" name="Google Shape;187;p20" title="three fourths times pi times 18 squared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13303" y="7645375"/>
            <a:ext cx="1099925" cy="4700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times\pi\times30^2&quot;&gt;&lt;mfrac&gt;&lt;mn&gt;1&lt;/mn&gt;&lt;mn&gt;2&lt;/mn&gt;&lt;/mfrac&gt;&lt;mo&gt;×&lt;/mo&gt;&lt;mi&gt;π&lt;/mi&gt;&lt;mo&gt;×&lt;/mo&gt;&lt;msup&gt;&lt;mn&gt;30&lt;/mn&gt;&lt;mn&gt;2&lt;/mn&gt;&lt;/msup&gt;&lt;/math&gt;" id="188" name="Google Shape;188;p20" title="one half times pi times 30 squared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575964" y="6491186"/>
            <a:ext cx="974617" cy="4165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\ \ \ \ \ \ \ }{ }\times\pi\times57^2&quot;&gt;&lt;mfrac&gt;&lt;mrow&gt;&lt;mtext&gt;&lt;/mtext&gt;&lt;mtext&gt;&lt;/mtext&gt;&lt;mtext&gt;&lt;/mtext&gt;&lt;mtext&gt;&lt;/mtext&gt;&lt;mtext&gt;&lt;/mtext&gt;&lt;mtext&gt;&lt;/mtext&gt;&lt;mtext&gt;&lt;/mtext&gt;&lt;/mrow&gt;&lt;mrow/&gt;&lt;/mfrac&gt;&lt;mo&gt;×&lt;/mo&gt;&lt;mi&gt;π&lt;/mi&gt;&lt;mo&gt;×&lt;/mo&gt;&lt;msup&gt;&lt;mn&gt;57&lt;/mn&gt;&lt;mn&gt;2&lt;/mn&gt;&lt;/msup&gt;&lt;/math&gt;" id="189" name="Google Shape;189;p20" title="the fraction with numerator and denominator times pi times 57 squared"/>
          <p:cNvPicPr preferRelativeResize="0"/>
          <p:nvPr/>
        </p:nvPicPr>
        <p:blipFill rotWithShape="1">
          <a:blip r:embed="rId8">
            <a:alphaModFix/>
          </a:blip>
          <a:srcRect b="0" l="6933" r="0" t="0"/>
          <a:stretch/>
        </p:blipFill>
        <p:spPr>
          <a:xfrm>
            <a:off x="2371762" y="8932474"/>
            <a:ext cx="1357786" cy="223127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 txBox="1"/>
          <p:nvPr/>
        </p:nvSpPr>
        <p:spPr>
          <a:xfrm>
            <a:off x="476975" y="6224275"/>
            <a:ext cx="261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endParaRPr i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476975" y="7306902"/>
            <a:ext cx="261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endParaRPr i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476975" y="8639217"/>
            <a:ext cx="261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endParaRPr i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93" name="Google Shape;193;p20"/>
          <p:cNvGrpSpPr/>
          <p:nvPr/>
        </p:nvGrpSpPr>
        <p:grpSpPr>
          <a:xfrm>
            <a:off x="628943" y="4032435"/>
            <a:ext cx="218267" cy="218267"/>
            <a:chOff x="1020916" y="1442088"/>
            <a:chExt cx="457200" cy="457200"/>
          </a:xfrm>
        </p:grpSpPr>
        <p:pic>
          <p:nvPicPr>
            <p:cNvPr id="194" name="Google Shape;194;p2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5" name="Google Shape;195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GB" sz="17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7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frac{1}{4}\times\pi\times6^2&quot;&gt;&lt;mfrac&gt;&lt;mn&gt;1&lt;/mn&gt;&lt;mn&gt;4&lt;/mn&gt;&lt;/mfrac&gt;&lt;mo&gt;×&lt;/mo&gt;&lt;mi&gt;π&lt;/mi&gt;&lt;mo&gt;×&lt;/mo&gt;&lt;msup&gt;&lt;mn&gt;6&lt;/mn&gt;&lt;mn&gt;2&lt;/mn&gt;&lt;/msup&gt;&lt;/math&gt;" id="196" name="Google Shape;196;p20" title="one fourth times pi times 6 squared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518839" y="4540397"/>
            <a:ext cx="939279" cy="4477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times\pi\times4^2&quot;&gt;&lt;mfrac&gt;&lt;mn&gt;1&lt;/mn&gt;&lt;mn&gt;2&lt;/mn&gt;&lt;/mfrac&gt;&lt;mo&gt;×&lt;/mo&gt;&lt;mi&gt;π&lt;/mi&gt;&lt;mo&gt;×&lt;/mo&gt;&lt;msup&gt;&lt;mn&gt;4&lt;/mn&gt;&lt;mn&gt;2&lt;/mn&gt;&lt;/msup&gt;&lt;/math&gt;" id="197" name="Google Shape;197;p20" title="one half times pi times 4 squared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97001" y="4540397"/>
            <a:ext cx="939279" cy="4477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times\pi\times2^2&quot;&gt;&lt;mfrac&gt;&lt;mn&gt;1&lt;/mn&gt;&lt;mn&gt;2&lt;/mn&gt;&lt;/mfrac&gt;&lt;mo&gt;×&lt;/mo&gt;&lt;mi&gt;π&lt;/mi&gt;&lt;mo&gt;×&lt;/mo&gt;&lt;msup&gt;&lt;mn&gt;2&lt;/mn&gt;&lt;mn&gt;2&lt;/mn&gt;&lt;/msup&gt;&lt;/math&gt;" id="198" name="Google Shape;198;p20" title="one half times pi times 2 squared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96371" y="3917475"/>
            <a:ext cx="940288" cy="44775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9" name="Google Shape;199;p20"/>
          <p:cNvGrpSpPr/>
          <p:nvPr/>
        </p:nvGrpSpPr>
        <p:grpSpPr>
          <a:xfrm>
            <a:off x="628943" y="4655357"/>
            <a:ext cx="218267" cy="218267"/>
            <a:chOff x="1020916" y="1442088"/>
            <a:chExt cx="457200" cy="457200"/>
          </a:xfrm>
        </p:grpSpPr>
        <p:pic>
          <p:nvPicPr>
            <p:cNvPr id="200" name="Google Shape;200;p2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1" name="Google Shape;201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GB" sz="17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i="0" sz="17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2" name="Google Shape;202;p20"/>
          <p:cNvGrpSpPr/>
          <p:nvPr/>
        </p:nvGrpSpPr>
        <p:grpSpPr>
          <a:xfrm>
            <a:off x="2250782" y="4032435"/>
            <a:ext cx="218267" cy="218267"/>
            <a:chOff x="1020916" y="1442088"/>
            <a:chExt cx="457200" cy="457200"/>
          </a:xfrm>
        </p:grpSpPr>
        <p:pic>
          <p:nvPicPr>
            <p:cNvPr id="203" name="Google Shape;203;p2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4" name="Google Shape;204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5" name="Google Shape;205;p20"/>
          <p:cNvGrpSpPr/>
          <p:nvPr/>
        </p:nvGrpSpPr>
        <p:grpSpPr>
          <a:xfrm>
            <a:off x="2250782" y="4655357"/>
            <a:ext cx="218267" cy="218267"/>
            <a:chOff x="1020916" y="1442088"/>
            <a:chExt cx="457200" cy="457200"/>
          </a:xfrm>
        </p:grpSpPr>
        <p:pic>
          <p:nvPicPr>
            <p:cNvPr id="206" name="Google Shape;206;p2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7" name="Google Shape;207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GB" sz="17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i="0" sz="17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8" name="Google Shape;208;p20"/>
          <p:cNvGrpSpPr/>
          <p:nvPr/>
        </p:nvGrpSpPr>
        <p:grpSpPr>
          <a:xfrm>
            <a:off x="4611344" y="4032435"/>
            <a:ext cx="218267" cy="218267"/>
            <a:chOff x="1020916" y="1442088"/>
            <a:chExt cx="457200" cy="457200"/>
          </a:xfrm>
        </p:grpSpPr>
        <p:pic>
          <p:nvPicPr>
            <p:cNvPr id="209" name="Google Shape;209;p2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0" name="Google Shape;210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GB" sz="17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b="1" i="0" sz="17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1" name="Google Shape;211;p20"/>
          <p:cNvGrpSpPr/>
          <p:nvPr/>
        </p:nvGrpSpPr>
        <p:grpSpPr>
          <a:xfrm>
            <a:off x="4611344" y="4655357"/>
            <a:ext cx="218267" cy="218267"/>
            <a:chOff x="1020916" y="1442088"/>
            <a:chExt cx="457200" cy="457200"/>
          </a:xfrm>
        </p:grpSpPr>
        <p:pic>
          <p:nvPicPr>
            <p:cNvPr id="212" name="Google Shape;212;p2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3" name="Google Shape;213;p20"/>
            <p:cNvSpPr txBox="1"/>
            <p:nvPr/>
          </p:nvSpPr>
          <p:spPr>
            <a:xfrm>
              <a:off x="1045528" y="1466498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GB" sz="17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g</a:t>
              </a:r>
              <a:endParaRPr b="1" i="0" sz="17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2\pi&quot;&gt;&lt;mn&gt;2&lt;/mn&gt;&lt;mi&gt;π&lt;/mi&gt;&lt;/math&gt;" id="214" name="Google Shape;214;p20" title="2 pi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878187" y="4072273"/>
            <a:ext cx="205300" cy="1381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9\pi&quot;&gt;&lt;mn&gt;9&lt;/mn&gt;&lt;mi&gt;π&lt;/mi&gt;&lt;/math&gt;" id="215" name="Google Shape;215;p20" title="9 pi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879009" y="4694844"/>
            <a:ext cx="203663" cy="1388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6" name="Google Shape;216;p20"/>
          <p:cNvGrpSpPr/>
          <p:nvPr/>
        </p:nvGrpSpPr>
        <p:grpSpPr>
          <a:xfrm>
            <a:off x="5530060" y="4032435"/>
            <a:ext cx="218267" cy="218267"/>
            <a:chOff x="1020916" y="1442088"/>
            <a:chExt cx="457200" cy="457200"/>
          </a:xfrm>
        </p:grpSpPr>
        <p:pic>
          <p:nvPicPr>
            <p:cNvPr id="217" name="Google Shape;217;p2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8" name="Google Shape;218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GB" sz="17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b="1" i="0" sz="17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9" name="Google Shape;219;p20"/>
          <p:cNvGrpSpPr/>
          <p:nvPr/>
        </p:nvGrpSpPr>
        <p:grpSpPr>
          <a:xfrm>
            <a:off x="5530060" y="4655357"/>
            <a:ext cx="218267" cy="218267"/>
            <a:chOff x="1020916" y="1442088"/>
            <a:chExt cx="457200" cy="457200"/>
          </a:xfrm>
        </p:grpSpPr>
        <p:pic>
          <p:nvPicPr>
            <p:cNvPr id="220" name="Google Shape;220;p2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1" name="Google Shape;221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GB" sz="17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h</a:t>
              </a:r>
              <a:endParaRPr b="1" i="0" sz="17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8\pi&quot;&gt;&lt;mn&gt;8&lt;/mn&gt;&lt;mi&gt;π&lt;/mi&gt;&lt;/math&gt;" id="222" name="Google Shape;222;p20" title="8 pi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795403" y="4071921"/>
            <a:ext cx="208292" cy="1388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\times\pi\times6^2&quot;&gt;&lt;mfrac&gt;&lt;mn&gt;1&lt;/mn&gt;&lt;mn&gt;3&lt;/mn&gt;&lt;/mfrac&gt;&lt;mo&gt;×&lt;/mo&gt;&lt;mi&gt;π&lt;/mi&gt;&lt;mo&gt;×&lt;/mo&gt;&lt;msup&gt;&lt;mn&gt;6&lt;/mn&gt;&lt;mn&gt;2&lt;/mn&gt;&lt;/msup&gt;&lt;/math&gt;" id="223" name="Google Shape;223;p20" title="one third times pi times 6 squared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2522805" y="3917485"/>
            <a:ext cx="931334" cy="4477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2\pi&quot;&gt;&lt;mn&gt;12&lt;/mn&gt;&lt;mi&gt;π&lt;/mi&gt;&lt;/math&gt;" id="224" name="Google Shape;224;p20" title="12 pi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5795403" y="4694844"/>
            <a:ext cx="288137" cy="13886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0"/>
          <p:cNvSpPr txBox="1"/>
          <p:nvPr/>
        </p:nvSpPr>
        <p:spPr>
          <a:xfrm>
            <a:off x="6156007" y="2625023"/>
            <a:ext cx="225000" cy="13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6" name="Google Shape;226;p20"/>
          <p:cNvGrpSpPr/>
          <p:nvPr/>
        </p:nvGrpSpPr>
        <p:grpSpPr>
          <a:xfrm>
            <a:off x="476439" y="2625119"/>
            <a:ext cx="252283" cy="218267"/>
            <a:chOff x="1020916" y="1442088"/>
            <a:chExt cx="457200" cy="457200"/>
          </a:xfrm>
        </p:grpSpPr>
        <p:pic>
          <p:nvPicPr>
            <p:cNvPr id="227" name="Google Shape;227;p2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8" name="Google Shape;228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GB" sz="17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b="1" i="0" sz="17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9" name="Google Shape;229;p20"/>
          <p:cNvGrpSpPr/>
          <p:nvPr/>
        </p:nvGrpSpPr>
        <p:grpSpPr>
          <a:xfrm>
            <a:off x="2585038" y="2600903"/>
            <a:ext cx="252283" cy="218267"/>
            <a:chOff x="1020916" y="1442088"/>
            <a:chExt cx="457200" cy="457200"/>
          </a:xfrm>
        </p:grpSpPr>
        <p:pic>
          <p:nvPicPr>
            <p:cNvPr id="230" name="Google Shape;230;p2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1" name="Google Shape;231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GB" sz="17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b="1" i="0" sz="17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32" name="Google Shape;232;p20"/>
          <p:cNvGrpSpPr/>
          <p:nvPr/>
        </p:nvGrpSpPr>
        <p:grpSpPr>
          <a:xfrm>
            <a:off x="5277766" y="2600907"/>
            <a:ext cx="252283" cy="218267"/>
            <a:chOff x="1020916" y="1442088"/>
            <a:chExt cx="457200" cy="457200"/>
          </a:xfrm>
        </p:grpSpPr>
        <p:pic>
          <p:nvPicPr>
            <p:cNvPr id="233" name="Google Shape;233;p2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4" name="Google Shape;234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GB" sz="17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b="1" i="0" sz="17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Area of composite shapes</a:t>
            </a: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468000" y="870450"/>
            <a:ext cx="66240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Complete the table. Give your answer both as a decimal (rounded to 1 d.p.) and in terms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1" name="Google Shape;24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1398" y="3168107"/>
            <a:ext cx="1341738" cy="8161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1"/>
          <p:cNvPicPr preferRelativeResize="0"/>
          <p:nvPr/>
        </p:nvPicPr>
        <p:blipFill rotWithShape="1">
          <a:blip r:embed="rId4">
            <a:alphaModFix/>
          </a:blip>
          <a:srcRect b="43666" l="10477" r="16763" t="36768"/>
          <a:stretch/>
        </p:blipFill>
        <p:spPr>
          <a:xfrm>
            <a:off x="761406" y="1858572"/>
            <a:ext cx="1341738" cy="6940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3" name="Google Shape;243;p21"/>
          <p:cNvCxnSpPr/>
          <p:nvPr/>
        </p:nvCxnSpPr>
        <p:spPr>
          <a:xfrm>
            <a:off x="818711" y="2579655"/>
            <a:ext cx="1205400" cy="0"/>
          </a:xfrm>
          <a:prstGeom prst="straightConnector1">
            <a:avLst/>
          </a:prstGeom>
          <a:noFill/>
          <a:ln cap="flat" cmpd="sng" w="19050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44" name="Google Shape;244;p21"/>
          <p:cNvSpPr txBox="1"/>
          <p:nvPr/>
        </p:nvSpPr>
        <p:spPr>
          <a:xfrm>
            <a:off x="818657" y="2589074"/>
            <a:ext cx="12054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 = 160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5" name="Google Shape;245;p21"/>
          <p:cNvCxnSpPr/>
          <p:nvPr/>
        </p:nvCxnSpPr>
        <p:spPr>
          <a:xfrm>
            <a:off x="1367705" y="3973348"/>
            <a:ext cx="703200" cy="0"/>
          </a:xfrm>
          <a:prstGeom prst="straightConnector1">
            <a:avLst/>
          </a:prstGeom>
          <a:noFill/>
          <a:ln cap="flat" cmpd="sng" w="19050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46" name="Google Shape;246;p21"/>
          <p:cNvSpPr txBox="1"/>
          <p:nvPr/>
        </p:nvSpPr>
        <p:spPr>
          <a:xfrm flipH="1">
            <a:off x="1401025" y="3979506"/>
            <a:ext cx="6366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84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 flipH="1">
            <a:off x="1154834" y="3483603"/>
            <a:ext cx="6366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150°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8" name="Google Shape;24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3033" y="4443145"/>
            <a:ext cx="1104738" cy="105555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9" name="Google Shape;249;p21"/>
          <p:cNvCxnSpPr/>
          <p:nvPr/>
        </p:nvCxnSpPr>
        <p:spPr>
          <a:xfrm>
            <a:off x="1344457" y="5019328"/>
            <a:ext cx="469500" cy="0"/>
          </a:xfrm>
          <a:prstGeom prst="straightConnector1">
            <a:avLst/>
          </a:prstGeom>
          <a:noFill/>
          <a:ln cap="flat" cmpd="sng" w="19050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50" name="Google Shape;250;p21"/>
          <p:cNvSpPr txBox="1"/>
          <p:nvPr/>
        </p:nvSpPr>
        <p:spPr>
          <a:xfrm>
            <a:off x="1422748" y="5052091"/>
            <a:ext cx="703200" cy="1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7.2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51" name="Google Shape;251;p21"/>
          <p:cNvGraphicFramePr/>
          <p:nvPr/>
        </p:nvGraphicFramePr>
        <p:xfrm>
          <a:off x="474988" y="15146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{705EA861-4E62-47CB-B108-7CF0C5B56D45}</a:tableStyleId>
              </a:tblPr>
              <a:tblGrid>
                <a:gridCol w="1758800"/>
                <a:gridCol w="1794200"/>
                <a:gridCol w="1545525"/>
                <a:gridCol w="1525475"/>
              </a:tblGrid>
              <a:tr h="275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sector</a:t>
                      </a:r>
                      <a:endParaRPr b="1" sz="1200" u="none" cap="none" strike="noStrik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step 1</a:t>
                      </a:r>
                      <a:endParaRPr b="1" sz="1200" u="none" cap="none" strike="noStrik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step 2</a:t>
                      </a:r>
                      <a:endParaRPr b="1" sz="1200" u="none" cap="none" strike="noStrik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answer (cm²)</a:t>
                      </a:r>
                      <a:endParaRPr b="1" sz="1200" u="none" cap="none" strike="noStrik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10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t/>
                      </a:r>
                      <a:endParaRPr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15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t/>
                      </a:r>
                      <a:endParaRPr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9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t/>
                      </a:r>
                      <a:endParaRPr u="none" cap="none" strike="noStrike"/>
                    </a:p>
                  </a:txBody>
                  <a:tcPr marT="91425" marB="91425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2" name="Google Shape;252;p21"/>
          <p:cNvSpPr txBox="1"/>
          <p:nvPr/>
        </p:nvSpPr>
        <p:spPr>
          <a:xfrm>
            <a:off x="476975" y="1804675"/>
            <a:ext cx="296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</a:t>
            </a:r>
            <a:endParaRPr i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476975" y="3019047"/>
            <a:ext cx="296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</a:t>
            </a:r>
            <a:endParaRPr i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" name="Google Shape;254;p21"/>
          <p:cNvSpPr txBox="1"/>
          <p:nvPr/>
        </p:nvSpPr>
        <p:spPr>
          <a:xfrm>
            <a:off x="476975" y="4343443"/>
            <a:ext cx="296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 </a:t>
            </a:r>
            <a:endParaRPr i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55" name="Google Shape;255;p21"/>
          <p:cNvCxnSpPr/>
          <p:nvPr/>
        </p:nvCxnSpPr>
        <p:spPr>
          <a:xfrm>
            <a:off x="474757" y="583021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6" name="Google Shape;256;p21"/>
          <p:cNvSpPr txBox="1"/>
          <p:nvPr/>
        </p:nvSpPr>
        <p:spPr>
          <a:xfrm>
            <a:off x="491952" y="5926175"/>
            <a:ext cx="62856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 Finding the area of composite shapes with sectors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1"/>
          <p:cNvSpPr txBox="1"/>
          <p:nvPr/>
        </p:nvSpPr>
        <p:spPr>
          <a:xfrm>
            <a:off x="461250" y="6385386"/>
            <a:ext cx="6624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Match the composite shape to its component parts and calculations.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8" name="Google Shape;258;p21"/>
          <p:cNvPicPr preferRelativeResize="0"/>
          <p:nvPr/>
        </p:nvPicPr>
        <p:blipFill rotWithShape="1">
          <a:blip r:embed="rId6">
            <a:alphaModFix/>
          </a:blip>
          <a:srcRect b="54398" l="0" r="76094" t="0"/>
          <a:stretch/>
        </p:blipFill>
        <p:spPr>
          <a:xfrm>
            <a:off x="491960" y="6659373"/>
            <a:ext cx="940745" cy="139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1"/>
          <p:cNvPicPr preferRelativeResize="0"/>
          <p:nvPr/>
        </p:nvPicPr>
        <p:blipFill rotWithShape="1">
          <a:blip r:embed="rId6">
            <a:alphaModFix/>
          </a:blip>
          <a:srcRect b="0" l="0" r="76693" t="81970"/>
          <a:stretch/>
        </p:blipFill>
        <p:spPr>
          <a:xfrm>
            <a:off x="2643158" y="6659376"/>
            <a:ext cx="917219" cy="553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1"/>
          <p:cNvPicPr preferRelativeResize="0"/>
          <p:nvPr/>
        </p:nvPicPr>
        <p:blipFill rotWithShape="1">
          <a:blip r:embed="rId6">
            <a:alphaModFix/>
          </a:blip>
          <a:srcRect b="54395" l="36331" r="39762" t="13425"/>
          <a:stretch/>
        </p:blipFill>
        <p:spPr>
          <a:xfrm>
            <a:off x="480329" y="8416278"/>
            <a:ext cx="940745" cy="987274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1"/>
          <p:cNvSpPr txBox="1"/>
          <p:nvPr/>
        </p:nvSpPr>
        <p:spPr>
          <a:xfrm flipH="1">
            <a:off x="542180" y="7710462"/>
            <a:ext cx="8127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2" name="Google Shape;262;p21"/>
          <p:cNvCxnSpPr/>
          <p:nvPr/>
        </p:nvCxnSpPr>
        <p:spPr>
          <a:xfrm>
            <a:off x="542436" y="7933384"/>
            <a:ext cx="812700" cy="0"/>
          </a:xfrm>
          <a:prstGeom prst="straightConnector1">
            <a:avLst/>
          </a:prstGeom>
          <a:noFill/>
          <a:ln cap="flat" cmpd="sng" w="28575">
            <a:solidFill>
              <a:srgbClr val="037B7D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63" name="Google Shape;263;p21"/>
          <p:cNvSpPr txBox="1"/>
          <p:nvPr/>
        </p:nvSpPr>
        <p:spPr>
          <a:xfrm flipH="1" rot="5400000">
            <a:off x="1273152" y="7681022"/>
            <a:ext cx="5892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4" name="Google Shape;264;p21"/>
          <p:cNvCxnSpPr/>
          <p:nvPr/>
        </p:nvCxnSpPr>
        <p:spPr>
          <a:xfrm rot="5400000">
            <a:off x="1201281" y="7779847"/>
            <a:ext cx="484500" cy="0"/>
          </a:xfrm>
          <a:prstGeom prst="straightConnector1">
            <a:avLst/>
          </a:prstGeom>
          <a:noFill/>
          <a:ln cap="flat" cmpd="sng" w="28575">
            <a:solidFill>
              <a:srgbClr val="037B7D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65" name="Google Shape;265;p21"/>
          <p:cNvSpPr txBox="1"/>
          <p:nvPr/>
        </p:nvSpPr>
        <p:spPr>
          <a:xfrm flipH="1">
            <a:off x="544508" y="9034098"/>
            <a:ext cx="8127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6" name="Google Shape;266;p21"/>
          <p:cNvCxnSpPr/>
          <p:nvPr/>
        </p:nvCxnSpPr>
        <p:spPr>
          <a:xfrm>
            <a:off x="544764" y="9257020"/>
            <a:ext cx="812700" cy="0"/>
          </a:xfrm>
          <a:prstGeom prst="straightConnector1">
            <a:avLst/>
          </a:prstGeom>
          <a:noFill/>
          <a:ln cap="flat" cmpd="sng" w="28575">
            <a:solidFill>
              <a:srgbClr val="037B7D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67" name="Google Shape;267;p21"/>
          <p:cNvSpPr txBox="1"/>
          <p:nvPr/>
        </p:nvSpPr>
        <p:spPr>
          <a:xfrm flipH="1" rot="5400000">
            <a:off x="1273152" y="8968287"/>
            <a:ext cx="5892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8" name="Google Shape;268;p21"/>
          <p:cNvCxnSpPr/>
          <p:nvPr/>
        </p:nvCxnSpPr>
        <p:spPr>
          <a:xfrm rot="5400000">
            <a:off x="1201281" y="9067112"/>
            <a:ext cx="484500" cy="0"/>
          </a:xfrm>
          <a:prstGeom prst="straightConnector1">
            <a:avLst/>
          </a:prstGeom>
          <a:noFill/>
          <a:ln cap="flat" cmpd="sng" w="28575">
            <a:solidFill>
              <a:srgbClr val="037B7D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69" name="Google Shape;269;p21"/>
          <p:cNvSpPr txBox="1"/>
          <p:nvPr/>
        </p:nvSpPr>
        <p:spPr>
          <a:xfrm>
            <a:off x="607289" y="8066778"/>
            <a:ext cx="710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shape 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1"/>
          <p:cNvSpPr txBox="1"/>
          <p:nvPr/>
        </p:nvSpPr>
        <p:spPr>
          <a:xfrm>
            <a:off x="607289" y="9403551"/>
            <a:ext cx="710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shape 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71" name="Google Shape;271;p21"/>
          <p:cNvPicPr preferRelativeResize="0"/>
          <p:nvPr/>
        </p:nvPicPr>
        <p:blipFill rotWithShape="1">
          <a:blip r:embed="rId6">
            <a:alphaModFix/>
          </a:blip>
          <a:srcRect b="14520" l="36531" r="40162" t="67450"/>
          <a:stretch/>
        </p:blipFill>
        <p:spPr>
          <a:xfrm>
            <a:off x="2643158" y="7573675"/>
            <a:ext cx="917219" cy="553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1"/>
          <p:cNvPicPr preferRelativeResize="0"/>
          <p:nvPr/>
        </p:nvPicPr>
        <p:blipFill rotWithShape="1">
          <a:blip r:embed="rId6">
            <a:alphaModFix/>
          </a:blip>
          <a:srcRect b="15408" l="76368" r="323" t="54210"/>
          <a:stretch/>
        </p:blipFill>
        <p:spPr>
          <a:xfrm>
            <a:off x="2643152" y="8487975"/>
            <a:ext cx="917219" cy="932076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1"/>
          <p:cNvSpPr txBox="1"/>
          <p:nvPr/>
        </p:nvSpPr>
        <p:spPr>
          <a:xfrm>
            <a:off x="2699529" y="9471548"/>
            <a:ext cx="8127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4" name="Google Shape;274;p21"/>
          <p:cNvCxnSpPr/>
          <p:nvPr/>
        </p:nvCxnSpPr>
        <p:spPr>
          <a:xfrm>
            <a:off x="2699636" y="9446268"/>
            <a:ext cx="812700" cy="0"/>
          </a:xfrm>
          <a:prstGeom prst="straightConnector1">
            <a:avLst/>
          </a:prstGeom>
          <a:noFill/>
          <a:ln cap="flat" cmpd="sng" w="28575">
            <a:solidFill>
              <a:srgbClr val="037B7D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75" name="Google Shape;275;p21"/>
          <p:cNvSpPr txBox="1"/>
          <p:nvPr/>
        </p:nvSpPr>
        <p:spPr>
          <a:xfrm>
            <a:off x="2699525" y="8152072"/>
            <a:ext cx="4185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6" name="Google Shape;276;p21"/>
          <p:cNvCxnSpPr/>
          <p:nvPr/>
        </p:nvCxnSpPr>
        <p:spPr>
          <a:xfrm>
            <a:off x="2699579" y="8126792"/>
            <a:ext cx="418500" cy="0"/>
          </a:xfrm>
          <a:prstGeom prst="straightConnector1">
            <a:avLst/>
          </a:prstGeom>
          <a:noFill/>
          <a:ln cap="flat" cmpd="sng" w="28575">
            <a:solidFill>
              <a:srgbClr val="037B7D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77" name="Google Shape;277;p21"/>
          <p:cNvSpPr txBox="1"/>
          <p:nvPr/>
        </p:nvSpPr>
        <p:spPr>
          <a:xfrm>
            <a:off x="2699529" y="7276271"/>
            <a:ext cx="8127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8" name="Google Shape;278;p21"/>
          <p:cNvCxnSpPr/>
          <p:nvPr/>
        </p:nvCxnSpPr>
        <p:spPr>
          <a:xfrm>
            <a:off x="2699636" y="7250991"/>
            <a:ext cx="812700" cy="0"/>
          </a:xfrm>
          <a:prstGeom prst="straightConnector1">
            <a:avLst/>
          </a:prstGeom>
          <a:noFill/>
          <a:ln cap="flat" cmpd="sng" w="28575">
            <a:solidFill>
              <a:srgbClr val="037B7D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79" name="Google Shape;279;p21"/>
          <p:cNvSpPr txBox="1"/>
          <p:nvPr/>
        </p:nvSpPr>
        <p:spPr>
          <a:xfrm flipH="1" rot="5400000">
            <a:off x="3449408" y="6841713"/>
            <a:ext cx="5892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0" name="Google Shape;280;p21"/>
          <p:cNvCxnSpPr/>
          <p:nvPr/>
        </p:nvCxnSpPr>
        <p:spPr>
          <a:xfrm rot="5400000">
            <a:off x="3377537" y="6940538"/>
            <a:ext cx="484500" cy="0"/>
          </a:xfrm>
          <a:prstGeom prst="straightConnector1">
            <a:avLst/>
          </a:prstGeom>
          <a:noFill/>
          <a:ln cap="flat" cmpd="sng" w="28575">
            <a:solidFill>
              <a:srgbClr val="037B7D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id="281" name="Google Shape;281;p21"/>
          <p:cNvPicPr preferRelativeResize="0"/>
          <p:nvPr/>
        </p:nvPicPr>
        <p:blipFill rotWithShape="1">
          <a:blip r:embed="rId6">
            <a:alphaModFix/>
          </a:blip>
          <a:srcRect b="0" l="0" r="76693" t="81970"/>
          <a:stretch/>
        </p:blipFill>
        <p:spPr>
          <a:xfrm>
            <a:off x="4150689" y="6659376"/>
            <a:ext cx="917219" cy="553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1"/>
          <p:cNvPicPr preferRelativeResize="0"/>
          <p:nvPr/>
        </p:nvPicPr>
        <p:blipFill rotWithShape="1">
          <a:blip r:embed="rId6">
            <a:alphaModFix/>
          </a:blip>
          <a:srcRect b="14520" l="36531" r="40162" t="67450"/>
          <a:stretch/>
        </p:blipFill>
        <p:spPr>
          <a:xfrm>
            <a:off x="4150689" y="7573675"/>
            <a:ext cx="917219" cy="553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1"/>
          <p:cNvPicPr preferRelativeResize="0"/>
          <p:nvPr/>
        </p:nvPicPr>
        <p:blipFill rotWithShape="1">
          <a:blip r:embed="rId6">
            <a:alphaModFix/>
          </a:blip>
          <a:srcRect b="15408" l="76368" r="323" t="54210"/>
          <a:stretch/>
        </p:blipFill>
        <p:spPr>
          <a:xfrm>
            <a:off x="4150682" y="8487975"/>
            <a:ext cx="917219" cy="932076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1"/>
          <p:cNvSpPr txBox="1"/>
          <p:nvPr/>
        </p:nvSpPr>
        <p:spPr>
          <a:xfrm>
            <a:off x="4207060" y="9471548"/>
            <a:ext cx="8127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5" name="Google Shape;285;p21"/>
          <p:cNvCxnSpPr/>
          <p:nvPr/>
        </p:nvCxnSpPr>
        <p:spPr>
          <a:xfrm>
            <a:off x="4207166" y="9446268"/>
            <a:ext cx="812700" cy="0"/>
          </a:xfrm>
          <a:prstGeom prst="straightConnector1">
            <a:avLst/>
          </a:prstGeom>
          <a:noFill/>
          <a:ln cap="flat" cmpd="sng" w="28575">
            <a:solidFill>
              <a:srgbClr val="037B7D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86" name="Google Shape;286;p21"/>
          <p:cNvSpPr txBox="1"/>
          <p:nvPr/>
        </p:nvSpPr>
        <p:spPr>
          <a:xfrm>
            <a:off x="4139026" y="8152072"/>
            <a:ext cx="5547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7" name="Google Shape;287;p21"/>
          <p:cNvCxnSpPr/>
          <p:nvPr/>
        </p:nvCxnSpPr>
        <p:spPr>
          <a:xfrm>
            <a:off x="4207110" y="8126792"/>
            <a:ext cx="418500" cy="0"/>
          </a:xfrm>
          <a:prstGeom prst="straightConnector1">
            <a:avLst/>
          </a:prstGeom>
          <a:noFill/>
          <a:ln cap="flat" cmpd="sng" w="28575">
            <a:solidFill>
              <a:srgbClr val="037B7D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88" name="Google Shape;288;p21"/>
          <p:cNvSpPr txBox="1"/>
          <p:nvPr/>
        </p:nvSpPr>
        <p:spPr>
          <a:xfrm>
            <a:off x="4207060" y="7276271"/>
            <a:ext cx="8127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9" name="Google Shape;289;p21"/>
          <p:cNvCxnSpPr/>
          <p:nvPr/>
        </p:nvCxnSpPr>
        <p:spPr>
          <a:xfrm>
            <a:off x="4207166" y="7250991"/>
            <a:ext cx="812700" cy="0"/>
          </a:xfrm>
          <a:prstGeom prst="straightConnector1">
            <a:avLst/>
          </a:prstGeom>
          <a:noFill/>
          <a:ln cap="flat" cmpd="sng" w="28575">
            <a:solidFill>
              <a:srgbClr val="037B7D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90" name="Google Shape;290;p21"/>
          <p:cNvSpPr txBox="1"/>
          <p:nvPr/>
        </p:nvSpPr>
        <p:spPr>
          <a:xfrm flipH="1" rot="5400000">
            <a:off x="4956939" y="6841713"/>
            <a:ext cx="5892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1" name="Google Shape;291;p21"/>
          <p:cNvCxnSpPr/>
          <p:nvPr/>
        </p:nvCxnSpPr>
        <p:spPr>
          <a:xfrm rot="5400000">
            <a:off x="4885068" y="6940538"/>
            <a:ext cx="484500" cy="0"/>
          </a:xfrm>
          <a:prstGeom prst="straightConnector1">
            <a:avLst/>
          </a:prstGeom>
          <a:noFill/>
          <a:ln cap="flat" cmpd="sng" w="28575">
            <a:solidFill>
              <a:srgbClr val="037B7D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292" name="Google Shape;292;p21"/>
          <p:cNvGrpSpPr/>
          <p:nvPr/>
        </p:nvGrpSpPr>
        <p:grpSpPr>
          <a:xfrm>
            <a:off x="2427033" y="6698292"/>
            <a:ext cx="216118" cy="216118"/>
            <a:chOff x="1020916" y="1442088"/>
            <a:chExt cx="457200" cy="457200"/>
          </a:xfrm>
        </p:grpSpPr>
        <p:pic>
          <p:nvPicPr>
            <p:cNvPr id="293" name="Google Shape;293;p2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4" name="Google Shape;294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95" name="Google Shape;295;p21"/>
          <p:cNvGrpSpPr/>
          <p:nvPr/>
        </p:nvGrpSpPr>
        <p:grpSpPr>
          <a:xfrm>
            <a:off x="2427033" y="7842374"/>
            <a:ext cx="216118" cy="216118"/>
            <a:chOff x="1020916" y="1442088"/>
            <a:chExt cx="457200" cy="457200"/>
          </a:xfrm>
        </p:grpSpPr>
        <p:pic>
          <p:nvPicPr>
            <p:cNvPr id="296" name="Google Shape;296;p2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7" name="Google Shape;297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98" name="Google Shape;298;p21"/>
          <p:cNvGrpSpPr/>
          <p:nvPr/>
        </p:nvGrpSpPr>
        <p:grpSpPr>
          <a:xfrm>
            <a:off x="2427033" y="9169810"/>
            <a:ext cx="216118" cy="216118"/>
            <a:chOff x="1020916" y="1442088"/>
            <a:chExt cx="457200" cy="457200"/>
          </a:xfrm>
        </p:grpSpPr>
        <p:pic>
          <p:nvPicPr>
            <p:cNvPr id="299" name="Google Shape;299;p2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0" name="Google Shape;300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1" name="Google Shape;301;p21"/>
          <p:cNvGrpSpPr/>
          <p:nvPr/>
        </p:nvGrpSpPr>
        <p:grpSpPr>
          <a:xfrm>
            <a:off x="3932892" y="6698292"/>
            <a:ext cx="216118" cy="216118"/>
            <a:chOff x="1020916" y="1442088"/>
            <a:chExt cx="457200" cy="457200"/>
          </a:xfrm>
        </p:grpSpPr>
        <p:pic>
          <p:nvPicPr>
            <p:cNvPr id="302" name="Google Shape;302;p2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" name="Google Shape;303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4" name="Google Shape;304;p21"/>
          <p:cNvGrpSpPr/>
          <p:nvPr/>
        </p:nvGrpSpPr>
        <p:grpSpPr>
          <a:xfrm>
            <a:off x="3932892" y="7842374"/>
            <a:ext cx="216118" cy="216118"/>
            <a:chOff x="1020916" y="1442088"/>
            <a:chExt cx="457200" cy="457200"/>
          </a:xfrm>
        </p:grpSpPr>
        <p:pic>
          <p:nvPicPr>
            <p:cNvPr id="305" name="Google Shape;305;p2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6" name="Google Shape;306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7" name="Google Shape;307;p21"/>
          <p:cNvGrpSpPr/>
          <p:nvPr/>
        </p:nvGrpSpPr>
        <p:grpSpPr>
          <a:xfrm>
            <a:off x="3932892" y="9169810"/>
            <a:ext cx="216118" cy="216118"/>
            <a:chOff x="1020916" y="1442088"/>
            <a:chExt cx="457200" cy="457200"/>
          </a:xfrm>
        </p:grpSpPr>
        <p:pic>
          <p:nvPicPr>
            <p:cNvPr id="308" name="Google Shape;308;p2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9" name="Google Shape;309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10" name="Google Shape;310;p21"/>
          <p:cNvGrpSpPr/>
          <p:nvPr/>
        </p:nvGrpSpPr>
        <p:grpSpPr>
          <a:xfrm>
            <a:off x="5459013" y="6880984"/>
            <a:ext cx="216118" cy="216118"/>
            <a:chOff x="1020916" y="1442088"/>
            <a:chExt cx="457200" cy="457200"/>
          </a:xfrm>
        </p:grpSpPr>
        <p:pic>
          <p:nvPicPr>
            <p:cNvPr id="311" name="Google Shape;311;p2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2" name="Google Shape;312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g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frac{1}{4}\times\pi\times6^2+12&quot;&gt;&lt;mfrac&gt;&lt;mn&gt;1&lt;/mn&gt;&lt;mn&gt;4&lt;/mn&gt;&lt;/mfrac&gt;&lt;mo&gt;×&lt;/mo&gt;&lt;mi&gt;π&lt;/mi&gt;&lt;mo&gt;×&lt;/mo&gt;&lt;msup&gt;&lt;mn&gt;6&lt;/mn&gt;&lt;mn&gt;2&lt;/mn&gt;&lt;/msup&gt;&lt;mo&gt;+&lt;/mo&gt;&lt;mn&gt;12&lt;/mn&gt;&lt;/math&gt;" id="313" name="Google Shape;313;p21" title="one fourth times pi times 6 squared plus 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675129" y="7996152"/>
            <a:ext cx="1410022" cy="4434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times\pi\times8^2+24&quot;&gt;&lt;mfrac&gt;&lt;mn&gt;1&lt;/mn&gt;&lt;mn&gt;2&lt;/mn&gt;&lt;/mfrac&gt;&lt;mo&gt;×&lt;/mo&gt;&lt;mi&gt;π&lt;/mi&gt;&lt;mo&gt;×&lt;/mo&gt;&lt;msup&gt;&lt;mn&gt;8&lt;/mn&gt;&lt;mn&gt;2&lt;/mn&gt;&lt;/msup&gt;&lt;mo&gt;+&lt;/mo&gt;&lt;mn&gt;24&lt;/mn&gt;&lt;/math&gt;" id="314" name="Google Shape;314;p21" title="one half times pi times 8 squared plus 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675129" y="7381736"/>
            <a:ext cx="1410022" cy="4434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times\pi\times4^2+24&quot;&gt;&lt;mfrac&gt;&lt;mn&gt;1&lt;/mn&gt;&lt;mn&gt;2&lt;/mn&gt;&lt;/mfrac&gt;&lt;mo&gt;×&lt;/mo&gt;&lt;mi&gt;π&lt;/mi&gt;&lt;mo&gt;×&lt;/mo&gt;&lt;msup&gt;&lt;mn&gt;4&lt;/mn&gt;&lt;mn&gt;2&lt;/mn&gt;&lt;/msup&gt;&lt;mo&gt;+&lt;/mo&gt;&lt;mn&gt;24&lt;/mn&gt;&lt;/math&gt;" id="315" name="Google Shape;315;p21" title="one half times pi times 4 squared plus 2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675139" y="6767302"/>
            <a:ext cx="1410022" cy="4434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times\pi\times3^2+12&quot;&gt;&lt;mfrac&gt;&lt;mn&gt;1&lt;/mn&gt;&lt;mn&gt;2&lt;/mn&gt;&lt;/mfrac&gt;&lt;mo&gt;×&lt;/mo&gt;&lt;mi&gt;π&lt;/mi&gt;&lt;mo&gt;×&lt;/mo&gt;&lt;msup&gt;&lt;mn&gt;3&lt;/mn&gt;&lt;mn&gt;2&lt;/mn&gt;&lt;/msup&gt;&lt;mo&gt;+&lt;/mo&gt;&lt;mn&gt;12&lt;/mn&gt;&lt;/math&gt;" id="316" name="Google Shape;316;p21" title="one half times pi times 3 squared plus 1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675032" y="8610577"/>
            <a:ext cx="1410218" cy="4434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7" name="Google Shape;317;p21"/>
          <p:cNvGrpSpPr/>
          <p:nvPr/>
        </p:nvGrpSpPr>
        <p:grpSpPr>
          <a:xfrm>
            <a:off x="5459013" y="7495409"/>
            <a:ext cx="216118" cy="216118"/>
            <a:chOff x="1020916" y="1442088"/>
            <a:chExt cx="457200" cy="457200"/>
          </a:xfrm>
        </p:grpSpPr>
        <p:pic>
          <p:nvPicPr>
            <p:cNvPr id="318" name="Google Shape;318;p2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9" name="Google Shape;319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h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0" name="Google Shape;320;p21"/>
          <p:cNvGrpSpPr/>
          <p:nvPr/>
        </p:nvGrpSpPr>
        <p:grpSpPr>
          <a:xfrm>
            <a:off x="5459013" y="8109834"/>
            <a:ext cx="216118" cy="216118"/>
            <a:chOff x="1020916" y="1442088"/>
            <a:chExt cx="457200" cy="457200"/>
          </a:xfrm>
        </p:grpSpPr>
        <p:pic>
          <p:nvPicPr>
            <p:cNvPr id="321" name="Google Shape;321;p2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i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3" name="Google Shape;323;p21"/>
          <p:cNvGrpSpPr/>
          <p:nvPr/>
        </p:nvGrpSpPr>
        <p:grpSpPr>
          <a:xfrm>
            <a:off x="5459013" y="8724258"/>
            <a:ext cx="216118" cy="216118"/>
            <a:chOff x="1020916" y="1442088"/>
            <a:chExt cx="457200" cy="457200"/>
          </a:xfrm>
        </p:grpSpPr>
        <p:pic>
          <p:nvPicPr>
            <p:cNvPr id="324" name="Google Shape;324;p2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5" name="Google Shape;325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j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26" name="Google Shape;326;p21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2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Area of composite shapes</a:t>
            </a:r>
            <a:endParaRPr/>
          </a:p>
        </p:txBody>
      </p:sp>
      <p:sp>
        <p:nvSpPr>
          <p:cNvPr id="332" name="Google Shape;332;p22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graphicFrame>
        <p:nvGraphicFramePr>
          <p:cNvPr id="333" name="Google Shape;333;p22"/>
          <p:cNvGraphicFramePr/>
          <p:nvPr/>
        </p:nvGraphicFramePr>
        <p:xfrm>
          <a:off x="472188" y="10991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{705EA861-4E62-47CB-B108-7CF0C5B56D45}</a:tableStyleId>
              </a:tblPr>
              <a:tblGrid>
                <a:gridCol w="1642850"/>
                <a:gridCol w="2167425"/>
                <a:gridCol w="1968375"/>
                <a:gridCol w="836950"/>
              </a:tblGrid>
              <a:tr h="286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shape</a:t>
                      </a:r>
                      <a:endParaRPr b="1" sz="1200" u="none" cap="none" strike="noStrik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shape broken into  parts</a:t>
                      </a:r>
                      <a:endParaRPr b="1" sz="1200" u="none" cap="none" strike="noStrik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calculations (addition)</a:t>
                      </a:r>
                      <a:endParaRPr b="1" sz="1200" u="none" cap="none" strike="noStrik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answer</a:t>
                      </a:r>
                      <a:endParaRPr b="1" sz="1200" u="none" cap="none" strike="noStrik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24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t/>
                      </a:r>
                      <a:endParaRPr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64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t/>
                      </a:r>
                      <a:endParaRPr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GB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889.2 cm²</a:t>
                      </a:r>
                      <a:endParaRPr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61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93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4" name="Google Shape;334;p22"/>
          <p:cNvSpPr txBox="1"/>
          <p:nvPr/>
        </p:nvSpPr>
        <p:spPr>
          <a:xfrm>
            <a:off x="476400" y="811875"/>
            <a:ext cx="6615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Complete the table. Give your answer as both a decimal and in terms of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endParaRPr i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35" name="Google Shape;335;p22"/>
          <p:cNvPicPr preferRelativeResize="0"/>
          <p:nvPr/>
        </p:nvPicPr>
        <p:blipFill rotWithShape="1">
          <a:blip r:embed="rId3">
            <a:alphaModFix/>
          </a:blip>
          <a:srcRect b="50592" l="0" r="11684" t="0"/>
          <a:stretch/>
        </p:blipFill>
        <p:spPr>
          <a:xfrm>
            <a:off x="764529" y="1973420"/>
            <a:ext cx="1307273" cy="778505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2"/>
          <p:cNvSpPr txBox="1"/>
          <p:nvPr/>
        </p:nvSpPr>
        <p:spPr>
          <a:xfrm flipH="1">
            <a:off x="808770" y="1705266"/>
            <a:ext cx="611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37" name="Google Shape;337;p22"/>
          <p:cNvCxnSpPr/>
          <p:nvPr/>
        </p:nvCxnSpPr>
        <p:spPr>
          <a:xfrm>
            <a:off x="809083" y="1930838"/>
            <a:ext cx="611700" cy="0"/>
          </a:xfrm>
          <a:prstGeom prst="straightConnector1">
            <a:avLst/>
          </a:prstGeom>
          <a:noFill/>
          <a:ln cap="flat" cmpd="sng" w="28575">
            <a:solidFill>
              <a:srgbClr val="037B7D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38" name="Google Shape;338;p22"/>
          <p:cNvSpPr txBox="1"/>
          <p:nvPr/>
        </p:nvSpPr>
        <p:spPr>
          <a:xfrm rot="-5400000">
            <a:off x="265540" y="2244693"/>
            <a:ext cx="689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39" name="Google Shape;339;p22"/>
          <p:cNvCxnSpPr/>
          <p:nvPr/>
        </p:nvCxnSpPr>
        <p:spPr>
          <a:xfrm rot="5400000">
            <a:off x="389861" y="2345188"/>
            <a:ext cx="692100" cy="0"/>
          </a:xfrm>
          <a:prstGeom prst="straightConnector1">
            <a:avLst/>
          </a:prstGeom>
          <a:noFill/>
          <a:ln cap="flat" cmpd="sng" w="28575">
            <a:solidFill>
              <a:srgbClr val="037B7D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id="340" name="Google Shape;340;p22"/>
          <p:cNvPicPr preferRelativeResize="0"/>
          <p:nvPr/>
        </p:nvPicPr>
        <p:blipFill rotWithShape="1">
          <a:blip r:embed="rId3">
            <a:alphaModFix/>
          </a:blip>
          <a:srcRect b="-2445" l="0" r="49660" t="53038"/>
          <a:stretch/>
        </p:blipFill>
        <p:spPr>
          <a:xfrm>
            <a:off x="3321070" y="1973420"/>
            <a:ext cx="745151" cy="778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22"/>
          <p:cNvPicPr preferRelativeResize="0"/>
          <p:nvPr/>
        </p:nvPicPr>
        <p:blipFill rotWithShape="1">
          <a:blip r:embed="rId3">
            <a:alphaModFix/>
          </a:blip>
          <a:srcRect b="-2445" l="59089" r="-404" t="53038"/>
          <a:stretch/>
        </p:blipFill>
        <p:spPr>
          <a:xfrm>
            <a:off x="2187822" y="1973420"/>
            <a:ext cx="611568" cy="778505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22"/>
          <p:cNvSpPr txBox="1"/>
          <p:nvPr/>
        </p:nvSpPr>
        <p:spPr>
          <a:xfrm rot="-5400000">
            <a:off x="2805500" y="2244693"/>
            <a:ext cx="689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43" name="Google Shape;343;p22"/>
          <p:cNvCxnSpPr/>
          <p:nvPr/>
        </p:nvCxnSpPr>
        <p:spPr>
          <a:xfrm rot="5400000">
            <a:off x="2929821" y="2345188"/>
            <a:ext cx="692100" cy="0"/>
          </a:xfrm>
          <a:prstGeom prst="straightConnector1">
            <a:avLst/>
          </a:prstGeom>
          <a:noFill/>
          <a:ln cap="flat" cmpd="sng" w="28575">
            <a:solidFill>
              <a:srgbClr val="037B7D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44" name="Google Shape;344;p22"/>
          <p:cNvCxnSpPr/>
          <p:nvPr/>
        </p:nvCxnSpPr>
        <p:spPr>
          <a:xfrm>
            <a:off x="2187921" y="1930838"/>
            <a:ext cx="611700" cy="0"/>
          </a:xfrm>
          <a:prstGeom prst="straightConnector1">
            <a:avLst/>
          </a:prstGeom>
          <a:noFill/>
          <a:ln cap="flat" cmpd="sng" w="28575">
            <a:solidFill>
              <a:srgbClr val="037B7D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45" name="Google Shape;345;p22"/>
          <p:cNvSpPr txBox="1"/>
          <p:nvPr/>
        </p:nvSpPr>
        <p:spPr>
          <a:xfrm flipH="1">
            <a:off x="2120903" y="1660063"/>
            <a:ext cx="745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E6F2F2"/>
                </a:solidFill>
              </a:rPr>
              <a:t>___</a:t>
            </a:r>
            <a:r>
              <a:rPr lang="en-GB" sz="12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46" name="Google Shape;346;p22"/>
          <p:cNvPicPr preferRelativeResize="0"/>
          <p:nvPr/>
        </p:nvPicPr>
        <p:blipFill rotWithShape="1">
          <a:blip r:embed="rId4">
            <a:alphaModFix/>
          </a:blip>
          <a:srcRect b="24197" l="7610" r="45669" t="43360"/>
          <a:stretch/>
        </p:blipFill>
        <p:spPr>
          <a:xfrm>
            <a:off x="499715" y="2885686"/>
            <a:ext cx="1569234" cy="949681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22"/>
          <p:cNvSpPr txBox="1"/>
          <p:nvPr/>
        </p:nvSpPr>
        <p:spPr>
          <a:xfrm rot="-5400000">
            <a:off x="241675" y="3481646"/>
            <a:ext cx="6228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48" name="Google Shape;348;p22"/>
          <p:cNvCxnSpPr/>
          <p:nvPr/>
        </p:nvCxnSpPr>
        <p:spPr>
          <a:xfrm rot="5400000">
            <a:off x="491246" y="3582029"/>
            <a:ext cx="374700" cy="0"/>
          </a:xfrm>
          <a:prstGeom prst="straightConnector1">
            <a:avLst/>
          </a:prstGeom>
          <a:noFill/>
          <a:ln cap="flat" cmpd="sng" w="28575">
            <a:solidFill>
              <a:srgbClr val="037B7D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49" name="Google Shape;349;p22"/>
          <p:cNvSpPr txBox="1"/>
          <p:nvPr/>
        </p:nvSpPr>
        <p:spPr>
          <a:xfrm flipH="1">
            <a:off x="759594" y="3865860"/>
            <a:ext cx="918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32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50" name="Google Shape;350;p22"/>
          <p:cNvCxnSpPr/>
          <p:nvPr/>
        </p:nvCxnSpPr>
        <p:spPr>
          <a:xfrm rot="10800000">
            <a:off x="758385" y="3840279"/>
            <a:ext cx="919800" cy="0"/>
          </a:xfrm>
          <a:prstGeom prst="straightConnector1">
            <a:avLst/>
          </a:prstGeom>
          <a:noFill/>
          <a:ln cap="flat" cmpd="sng" w="28575">
            <a:solidFill>
              <a:srgbClr val="037B7D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51" name="Google Shape;351;p22"/>
          <p:cNvSpPr txBox="1"/>
          <p:nvPr/>
        </p:nvSpPr>
        <p:spPr>
          <a:xfrm flipH="1">
            <a:off x="2247929" y="1654693"/>
            <a:ext cx="303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352" name="Google Shape;352;p22"/>
          <p:cNvPicPr preferRelativeResize="0"/>
          <p:nvPr/>
        </p:nvPicPr>
        <p:blipFill rotWithShape="1">
          <a:blip r:embed="rId4">
            <a:alphaModFix/>
          </a:blip>
          <a:srcRect b="1608" l="12979" r="55480" t="79664"/>
          <a:stretch/>
        </p:blipFill>
        <p:spPr>
          <a:xfrm>
            <a:off x="2119295" y="2854312"/>
            <a:ext cx="1059376" cy="548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22"/>
          <p:cNvPicPr preferRelativeResize="0"/>
          <p:nvPr/>
        </p:nvPicPr>
        <p:blipFill rotWithShape="1">
          <a:blip r:embed="rId4">
            <a:alphaModFix/>
          </a:blip>
          <a:srcRect b="25581" l="58153" r="10304" t="58301"/>
          <a:stretch/>
        </p:blipFill>
        <p:spPr>
          <a:xfrm>
            <a:off x="2119295" y="3636593"/>
            <a:ext cx="1059376" cy="471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22"/>
          <p:cNvPicPr preferRelativeResize="0"/>
          <p:nvPr/>
        </p:nvPicPr>
        <p:blipFill rotWithShape="1">
          <a:blip r:embed="rId4">
            <a:alphaModFix/>
          </a:blip>
          <a:srcRect b="25918" l="42423" r="46045" t="60605"/>
          <a:stretch/>
        </p:blipFill>
        <p:spPr>
          <a:xfrm>
            <a:off x="3705391" y="3706363"/>
            <a:ext cx="387259" cy="394479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22"/>
          <p:cNvSpPr txBox="1"/>
          <p:nvPr/>
        </p:nvSpPr>
        <p:spPr>
          <a:xfrm rot="-5400000">
            <a:off x="3208355" y="3799278"/>
            <a:ext cx="6228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56" name="Google Shape;356;p22"/>
          <p:cNvCxnSpPr/>
          <p:nvPr/>
        </p:nvCxnSpPr>
        <p:spPr>
          <a:xfrm rot="5400000">
            <a:off x="3457925" y="3899660"/>
            <a:ext cx="374700" cy="0"/>
          </a:xfrm>
          <a:prstGeom prst="straightConnector1">
            <a:avLst/>
          </a:prstGeom>
          <a:noFill/>
          <a:ln cap="flat" cmpd="sng" w="28575">
            <a:solidFill>
              <a:srgbClr val="037B7D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57" name="Google Shape;357;p22"/>
          <p:cNvSpPr txBox="1"/>
          <p:nvPr/>
        </p:nvSpPr>
        <p:spPr>
          <a:xfrm flipH="1">
            <a:off x="2185056" y="3459915"/>
            <a:ext cx="918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32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58" name="Google Shape;358;p22"/>
          <p:cNvCxnSpPr/>
          <p:nvPr/>
        </p:nvCxnSpPr>
        <p:spPr>
          <a:xfrm rot="10800000">
            <a:off x="2183847" y="3434335"/>
            <a:ext cx="919800" cy="0"/>
          </a:xfrm>
          <a:prstGeom prst="straightConnector1">
            <a:avLst/>
          </a:prstGeom>
          <a:noFill/>
          <a:ln cap="flat" cmpd="sng" w="28575">
            <a:solidFill>
              <a:srgbClr val="037B7D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59" name="Google Shape;359;p22"/>
          <p:cNvSpPr txBox="1"/>
          <p:nvPr/>
        </p:nvSpPr>
        <p:spPr>
          <a:xfrm>
            <a:off x="471920" y="1557600"/>
            <a:ext cx="250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endParaRPr i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0" name="Google Shape;360;p22"/>
          <p:cNvSpPr txBox="1"/>
          <p:nvPr/>
        </p:nvSpPr>
        <p:spPr>
          <a:xfrm>
            <a:off x="471920" y="2858488"/>
            <a:ext cx="250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endParaRPr i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61" name="Google Shape;361;p22"/>
          <p:cNvPicPr preferRelativeResize="0"/>
          <p:nvPr/>
        </p:nvPicPr>
        <p:blipFill rotWithShape="1">
          <a:blip r:embed="rId4">
            <a:alphaModFix/>
          </a:blip>
          <a:srcRect b="63243" l="0" r="65851" t="0"/>
          <a:stretch/>
        </p:blipFill>
        <p:spPr>
          <a:xfrm>
            <a:off x="672641" y="4397087"/>
            <a:ext cx="1064326" cy="99856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2" name="Google Shape;362;p22"/>
          <p:cNvCxnSpPr/>
          <p:nvPr/>
        </p:nvCxnSpPr>
        <p:spPr>
          <a:xfrm>
            <a:off x="814154" y="5362584"/>
            <a:ext cx="439800" cy="0"/>
          </a:xfrm>
          <a:prstGeom prst="straightConnector1">
            <a:avLst/>
          </a:prstGeom>
          <a:noFill/>
          <a:ln cap="flat" cmpd="sng" w="28575">
            <a:solidFill>
              <a:srgbClr val="037B7D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63" name="Google Shape;363;p22"/>
          <p:cNvSpPr txBox="1"/>
          <p:nvPr/>
        </p:nvSpPr>
        <p:spPr>
          <a:xfrm flipH="1">
            <a:off x="732471" y="5452434"/>
            <a:ext cx="6030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24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64" name="Google Shape;364;p22"/>
          <p:cNvPicPr preferRelativeResize="0"/>
          <p:nvPr/>
        </p:nvPicPr>
        <p:blipFill rotWithShape="1">
          <a:blip r:embed="rId5">
            <a:alphaModFix/>
          </a:blip>
          <a:srcRect b="0" l="55636" r="0" t="49821"/>
          <a:stretch/>
        </p:blipFill>
        <p:spPr>
          <a:xfrm rot="5400000">
            <a:off x="708092" y="5591096"/>
            <a:ext cx="817205" cy="123167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5" name="Google Shape;365;p22"/>
          <p:cNvCxnSpPr/>
          <p:nvPr/>
        </p:nvCxnSpPr>
        <p:spPr>
          <a:xfrm>
            <a:off x="880933" y="6641697"/>
            <a:ext cx="825000" cy="0"/>
          </a:xfrm>
          <a:prstGeom prst="straightConnector1">
            <a:avLst/>
          </a:prstGeom>
          <a:noFill/>
          <a:ln cap="flat" cmpd="sng" w="28575">
            <a:solidFill>
              <a:srgbClr val="037B7D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66" name="Google Shape;366;p22"/>
          <p:cNvSpPr txBox="1"/>
          <p:nvPr/>
        </p:nvSpPr>
        <p:spPr>
          <a:xfrm flipH="1">
            <a:off x="881002" y="6653634"/>
            <a:ext cx="8244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44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67" name="Google Shape;367;p22"/>
          <p:cNvCxnSpPr/>
          <p:nvPr/>
        </p:nvCxnSpPr>
        <p:spPr>
          <a:xfrm rot="-5400000">
            <a:off x="1397376" y="6233233"/>
            <a:ext cx="708600" cy="0"/>
          </a:xfrm>
          <a:prstGeom prst="straightConnector1">
            <a:avLst/>
          </a:prstGeom>
          <a:noFill/>
          <a:ln cap="flat" cmpd="sng" w="28575">
            <a:solidFill>
              <a:srgbClr val="037B7D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68" name="Google Shape;368;p22"/>
          <p:cNvSpPr txBox="1"/>
          <p:nvPr/>
        </p:nvSpPr>
        <p:spPr>
          <a:xfrm flipH="1" rot="-5400000">
            <a:off x="1489713" y="6152914"/>
            <a:ext cx="7080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28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9" name="Google Shape;369;p22"/>
          <p:cNvSpPr txBox="1"/>
          <p:nvPr/>
        </p:nvSpPr>
        <p:spPr>
          <a:xfrm>
            <a:off x="476975" y="4367463"/>
            <a:ext cx="229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endParaRPr i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0" name="Google Shape;370;p22"/>
          <p:cNvSpPr txBox="1"/>
          <p:nvPr/>
        </p:nvSpPr>
        <p:spPr>
          <a:xfrm>
            <a:off x="476975" y="5636211"/>
            <a:ext cx="229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</a:t>
            </a:r>
            <a:endParaRPr i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71" name="Google Shape;371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47414" y="8059343"/>
            <a:ext cx="4825964" cy="1418037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22"/>
          <p:cNvSpPr txBox="1"/>
          <p:nvPr/>
        </p:nvSpPr>
        <p:spPr>
          <a:xfrm>
            <a:off x="476400" y="7434575"/>
            <a:ext cx="57696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What do you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notice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about the areas of each shaded region?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Show your working to support your observations.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3" name="Google Shape;373;p22"/>
          <p:cNvSpPr txBox="1"/>
          <p:nvPr/>
        </p:nvSpPr>
        <p:spPr>
          <a:xfrm flipH="1" rot="-5400000">
            <a:off x="132244" y="8688072"/>
            <a:ext cx="13428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74" name="Google Shape;374;p22"/>
          <p:cNvCxnSpPr/>
          <p:nvPr/>
        </p:nvCxnSpPr>
        <p:spPr>
          <a:xfrm rot="-5400000">
            <a:off x="220811" y="8773995"/>
            <a:ext cx="13818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75" name="Google Shape;375;p22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descr="&lt;math xmlns=&quot;http://www.w3.org/1998/Math/MathML&quot; display=&quot;block&quot; data-is-equatio=&quot;1&quot; data-latex=&quot;2\times\ \ \ \ \ +\frac{1}{4}\times\pi\times2^2&quot;&gt;&lt;mn&gt;2&lt;/mn&gt;&lt;mo&gt;×&lt;/mo&gt;&lt;mtext&gt;&lt;/mtext&gt;&lt;mtext&gt;&lt;/mtext&gt;&lt;mtext&gt;&lt;/mtext&gt;&lt;mtext&gt;&lt;/mtext&gt;&lt;mtext&gt;&lt;/mtext&gt;&lt;mo&gt;+&lt;/mo&gt;&lt;mfrac&gt;&lt;mn&gt;1&lt;/mn&gt;&lt;mn&gt;4&lt;/mn&gt;&lt;/mfrac&gt;&lt;mo&gt;×&lt;/mo&gt;&lt;mi&gt;π&lt;/mi&gt;&lt;mo&gt;×&lt;/mo&gt;&lt;msup&gt;&lt;mn&gt;2&lt;/mn&gt;&lt;mn&gt;2&lt;/mn&gt;&lt;/msup&gt;&lt;/math&gt;" id="376" name="Google Shape;376;p22" title="2 times positive one fourth times pi times 2 squared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96781" y="2084022"/>
            <a:ext cx="1686521" cy="414719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22"/>
          <p:cNvSpPr txBox="1"/>
          <p:nvPr/>
        </p:nvSpPr>
        <p:spPr>
          <a:xfrm flipH="1">
            <a:off x="4628831" y="2227119"/>
            <a:ext cx="44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</a:rPr>
              <a:t>___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4}\times\pi\times\ \ \ \ \ \ \ ^2\ +\ \frac{1}{2}\times\pi\times\ \ \ \ \ \ \ ^2\ +\ \ \ \ \ \ \times\ \ \ \ \ &quot;&gt;&lt;mfrac&gt;&lt;mn&gt;1&lt;/mn&gt;&lt;mn&gt;4&lt;/mn&gt;&lt;/mfrac&gt;&lt;mo&gt;×&lt;/mo&gt;&lt;mi&gt;π&lt;/mi&gt;&lt;mo&gt;×&lt;/mo&gt;&lt;mtext&gt;&lt;/mtext&gt;&lt;mtext&gt;&lt;/mtext&gt;&lt;mtext&gt;&lt;/mtext&gt;&lt;mtext&gt;&lt;/mtext&gt;&lt;mtext&gt;&lt;/mtext&gt;&lt;mtext&gt;&lt;/mtext&gt;&lt;msup&gt;&lt;mtext&gt;&lt;/mtext&gt;&lt;mn&gt;2&lt;/mn&gt;&lt;/msup&gt;&lt;mtext&gt;&lt;/mtext&gt;&lt;mo&gt;+&lt;/mo&gt;&lt;mtext&gt;&lt;/mtext&gt;&lt;mfrac&gt;&lt;mn&gt;1&lt;/mn&gt;&lt;mn&gt;2&lt;/mn&gt;&lt;/mfrac&gt;&lt;mo&gt;×&lt;/mo&gt;&lt;mi&gt;π&lt;/mi&gt;&lt;mo&gt;×&lt;/mo&gt;&lt;mtext&gt;&lt;/mtext&gt;&lt;mtext&gt;&lt;/mtext&gt;&lt;mtext&gt;&lt;/mtext&gt;&lt;mtext&gt;&lt;/mtext&gt;&lt;mtext&gt;&lt;/mtext&gt;&lt;mtext&gt;&lt;/mtext&gt;&lt;msup&gt;&lt;mtext&gt;&lt;/mtext&gt;&lt;mn&gt;2&lt;/mn&gt;&lt;/msup&gt;&lt;mtext&gt;&lt;/mtext&gt;&lt;mo&gt;+&lt;/mo&gt;&lt;mtext&gt;&lt;/mtext&gt;&lt;mtext&gt;&lt;/mtext&gt;&lt;mtext&gt;&lt;/mtext&gt;&lt;mtext&gt;&lt;/mtext&gt;&lt;mtext&gt;&lt;/mtext&gt;&lt;mtext&gt;&lt;/mtext&gt;&lt;mo&gt;×&lt;/mo&gt;&lt;mtext&gt;&lt;/mtext&gt;&lt;mtext&gt;&lt;/mtext&gt;&lt;mtext&gt;&lt;/mtext&gt;&lt;mtext&gt;&lt;/mtext&gt;&lt;mtext&gt;&lt;/mtext&gt;&lt;/math&gt;" id="378" name="Google Shape;378;p22" title="one fourth times pi times to the second power plus one half times pi times to the second power plus times"/>
          <p:cNvPicPr preferRelativeResize="0"/>
          <p:nvPr/>
        </p:nvPicPr>
        <p:blipFill rotWithShape="1">
          <a:blip r:embed="rId8">
            <a:alphaModFix/>
          </a:blip>
          <a:srcRect b="0" l="0" r="57039" t="0"/>
          <a:stretch/>
        </p:blipFill>
        <p:spPr>
          <a:xfrm>
            <a:off x="4385924" y="2872054"/>
            <a:ext cx="1221844" cy="3490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\times\pi\times\ \ \ \ \ \ \ ^2\ +\ \frac{1}{2}\times\pi\times\ \ \ \ \ \ \ ^2\ +\ \ \ \ \ \ \times\ \ \ \ \ &quot;&gt;&lt;mfrac&gt;&lt;mn&gt;1&lt;/mn&gt;&lt;mn&gt;4&lt;/mn&gt;&lt;/mfrac&gt;&lt;mo&gt;×&lt;/mo&gt;&lt;mi&gt;π&lt;/mi&gt;&lt;mo&gt;×&lt;/mo&gt;&lt;mtext&gt;&lt;/mtext&gt;&lt;mtext&gt;&lt;/mtext&gt;&lt;mtext&gt;&lt;/mtext&gt;&lt;mtext&gt;&lt;/mtext&gt;&lt;mtext&gt;&lt;/mtext&gt;&lt;mtext&gt;&lt;/mtext&gt;&lt;msup&gt;&lt;mtext&gt;&lt;/mtext&gt;&lt;mn&gt;2&lt;/mn&gt;&lt;/msup&gt;&lt;mtext&gt;&lt;/mtext&gt;&lt;mo&gt;+&lt;/mo&gt;&lt;mtext&gt;&lt;/mtext&gt;&lt;mfrac&gt;&lt;mn&gt;1&lt;/mn&gt;&lt;mn&gt;2&lt;/mn&gt;&lt;/mfrac&gt;&lt;mo&gt;×&lt;/mo&gt;&lt;mi&gt;π&lt;/mi&gt;&lt;mo&gt;×&lt;/mo&gt;&lt;mtext&gt;&lt;/mtext&gt;&lt;mtext&gt;&lt;/mtext&gt;&lt;mtext&gt;&lt;/mtext&gt;&lt;mtext&gt;&lt;/mtext&gt;&lt;mtext&gt;&lt;/mtext&gt;&lt;mtext&gt;&lt;/mtext&gt;&lt;msup&gt;&lt;mtext&gt;&lt;/mtext&gt;&lt;mn&gt;2&lt;/mn&gt;&lt;/msup&gt;&lt;mtext&gt;&lt;/mtext&gt;&lt;mo&gt;+&lt;/mo&gt;&lt;mtext&gt;&lt;/mtext&gt;&lt;mtext&gt;&lt;/mtext&gt;&lt;mtext&gt;&lt;/mtext&gt;&lt;mtext&gt;&lt;/mtext&gt;&lt;mtext&gt;&lt;/mtext&gt;&lt;mtext&gt;&lt;/mtext&gt;&lt;mo&gt;×&lt;/mo&gt;&lt;mtext&gt;&lt;/mtext&gt;&lt;mtext&gt;&lt;/mtext&gt;&lt;mtext&gt;&lt;/mtext&gt;&lt;mtext&gt;&lt;/mtext&gt;&lt;mtext&gt;&lt;/mtext&gt;&lt;/math&gt;" id="379" name="Google Shape;379;p22" title="one fourth times pi times to the second power plus one half times pi times to the second power plus times"/>
          <p:cNvPicPr preferRelativeResize="0"/>
          <p:nvPr/>
        </p:nvPicPr>
        <p:blipFill rotWithShape="1">
          <a:blip r:embed="rId8">
            <a:alphaModFix/>
          </a:blip>
          <a:srcRect b="0" l="44114" r="12923" t="0"/>
          <a:stretch/>
        </p:blipFill>
        <p:spPr>
          <a:xfrm>
            <a:off x="4385924" y="3295914"/>
            <a:ext cx="1221844" cy="3490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\times\pi\times\ \ \ \ \ \ \ ^2\ +\ \frac{1}{2}\times\pi\times\ \ \ \ \ \ \ ^2\ +\ \ \ \ \ \ \times\ \ \ \ \ &quot;&gt;&lt;mfrac&gt;&lt;mn&gt;1&lt;/mn&gt;&lt;mn&gt;4&lt;/mn&gt;&lt;/mfrac&gt;&lt;mo&gt;×&lt;/mo&gt;&lt;mi&gt;π&lt;/mi&gt;&lt;mo&gt;×&lt;/mo&gt;&lt;mtext&gt;&lt;/mtext&gt;&lt;mtext&gt;&lt;/mtext&gt;&lt;mtext&gt;&lt;/mtext&gt;&lt;mtext&gt;&lt;/mtext&gt;&lt;mtext&gt;&lt;/mtext&gt;&lt;mtext&gt;&lt;/mtext&gt;&lt;msup&gt;&lt;mtext&gt;&lt;/mtext&gt;&lt;mn&gt;2&lt;/mn&gt;&lt;/msup&gt;&lt;mtext&gt;&lt;/mtext&gt;&lt;mo&gt;+&lt;/mo&gt;&lt;mtext&gt;&lt;/mtext&gt;&lt;mfrac&gt;&lt;mn&gt;1&lt;/mn&gt;&lt;mn&gt;2&lt;/mn&gt;&lt;/mfrac&gt;&lt;mo&gt;×&lt;/mo&gt;&lt;mi&gt;π&lt;/mi&gt;&lt;mo&gt;×&lt;/mo&gt;&lt;mtext&gt;&lt;/mtext&gt;&lt;mtext&gt;&lt;/mtext&gt;&lt;mtext&gt;&lt;/mtext&gt;&lt;mtext&gt;&lt;/mtext&gt;&lt;mtext&gt;&lt;/mtext&gt;&lt;mtext&gt;&lt;/mtext&gt;&lt;msup&gt;&lt;mtext&gt;&lt;/mtext&gt;&lt;mn&gt;2&lt;/mn&gt;&lt;/msup&gt;&lt;mtext&gt;&lt;/mtext&gt;&lt;mo&gt;+&lt;/mo&gt;&lt;mtext&gt;&lt;/mtext&gt;&lt;mtext&gt;&lt;/mtext&gt;&lt;mtext&gt;&lt;/mtext&gt;&lt;mtext&gt;&lt;/mtext&gt;&lt;mtext&gt;&lt;/mtext&gt;&lt;mtext&gt;&lt;/mtext&gt;&lt;mo&gt;×&lt;/mo&gt;&lt;mtext&gt;&lt;/mtext&gt;&lt;mtext&gt;&lt;/mtext&gt;&lt;mtext&gt;&lt;/mtext&gt;&lt;mtext&gt;&lt;/mtext&gt;&lt;mtext&gt;&lt;/mtext&gt;&lt;/math&gt;" id="380" name="Google Shape;380;p22" title="one fourth times pi times to the second power plus one half times pi times to the second power plus times"/>
          <p:cNvPicPr preferRelativeResize="0"/>
          <p:nvPr/>
        </p:nvPicPr>
        <p:blipFill rotWithShape="1">
          <a:blip r:embed="rId8">
            <a:alphaModFix/>
          </a:blip>
          <a:srcRect b="0" l="93771" r="-3614" t="0"/>
          <a:stretch/>
        </p:blipFill>
        <p:spPr>
          <a:xfrm>
            <a:off x="4757772" y="3719773"/>
            <a:ext cx="279926" cy="349098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22"/>
          <p:cNvSpPr txBox="1"/>
          <p:nvPr/>
        </p:nvSpPr>
        <p:spPr>
          <a:xfrm flipH="1">
            <a:off x="4898147" y="2954188"/>
            <a:ext cx="44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</a:rPr>
              <a:t>___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22"/>
          <p:cNvSpPr txBox="1"/>
          <p:nvPr/>
        </p:nvSpPr>
        <p:spPr>
          <a:xfrm flipH="1">
            <a:off x="4898147" y="3378048"/>
            <a:ext cx="44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</a:rPr>
              <a:t>___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22"/>
          <p:cNvSpPr txBox="1"/>
          <p:nvPr/>
        </p:nvSpPr>
        <p:spPr>
          <a:xfrm flipH="1">
            <a:off x="4396682" y="3777911"/>
            <a:ext cx="44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</a:rPr>
              <a:t>___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4" name="Google Shape;384;p22"/>
          <p:cNvSpPr txBox="1"/>
          <p:nvPr/>
        </p:nvSpPr>
        <p:spPr>
          <a:xfrm flipH="1">
            <a:off x="4926491" y="3777911"/>
            <a:ext cx="44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</a:rPr>
              <a:t>___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5" name="Google Shape;385;p22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