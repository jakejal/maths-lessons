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1FF9EA-781E-435A-8130-865065205EE4}">
  <a:tblStyle styleId="{C81FF9EA-781E-435A-8130-865065205EE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2a36aac880f_6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g2a36aac880f_6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a36aac880f_6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5" name="Google Shape;805;g2a36aac880f_6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a36aac880f_6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g2a36aac880f_6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a36aac880f_6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5" name="Google Shape;815;g2a36aac880f_6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a36aac880f_6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g2a36aac880f_6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a36aac880f_6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5" name="Google Shape;835;g2a36aac880f_6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a36aac880f_6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g2a36aac880f_6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2a36aac880f_6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2" name="Google Shape;882;g2a36aac880f_6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a36aac880f_6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5" name="Google Shape;905;g2a36aac880f_6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a36aac880f_6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1" name="Google Shape;921;g2a36aac880f_6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a36aac880f_6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3" name="Google Shape;953;g2a36aac880f_6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a36aac880f_6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9" name="Google Shape;979;g2a36aac880f_6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a36aac880f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6" name="Google Shape;1006;g2a36aac880f_6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a36aac880f_6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5" name="Google Shape;1065;g2a36aac880f_6_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a36aac880f_6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g2a36aac880f_6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2a36aac880f_6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9" name="Google Shape;1109;g2a36aac880f_6_4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a36aac880f_6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0" name="Google Shape;1160;g2a36aac880f_6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2a36aac880f_6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2" name="Google Shape;1192;g2a36aac880f_6_5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2a36aac880f_6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7" name="Google Shape;1217;g2a36aac880f_6_5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a36aac880f_6_5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5" name="Google Shape;1225;g2a36aac880f_6_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2a36f3f1afa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g2a36f3f1afa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2a36aac880f_6_5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3" name="Google Shape;1243;g2a36aac880f_6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a36aac880f_6_6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0" name="Google Shape;1260;g2a36aac880f_6_6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2a36aac880f_6_6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3" name="Google Shape;1283;g2a36aac880f_6_6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2a36aac880f_6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7" name="Google Shape;1307;g2a36aac880f_6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2a36aac880f_6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4" name="Google Shape;1324;g2a36aac880f_6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a36aac880f_6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9" name="Google Shape;1369;g2a36aac880f_6_7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2a36aac880f_6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1" name="Google Shape;1381;g2a36aac880f_6_7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a36aac880f_6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8" name="Google Shape;1398;g2a36aac880f_6_7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2a36aac880f_6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3" name="Google Shape;1423;g2a36aac880f_6_8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2a36aac880f_6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0" name="Google Shape;1460;g2a36aac880f_6_8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a36aac880f_6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3" name="Google Shape;1513;g2a36aac880f_6_9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2a36aac880f_6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6" name="Google Shape;1546;g2a36aac880f_6_9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2a36aac880f_6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5" name="Google Shape;1565;g2a36aac880f_6_9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2a36aac880f_6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0" name="Google Shape;1630;g2a36aac880f_6_10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2a36aac880f_6_10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4" name="Google Shape;1704;g2a36aac880f_6_10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2a36aac880f_6_1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8" name="Google Shape;1738;g2a36aac880f_6_1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g2a36aac880f_6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5" name="Google Shape;1755;g2a36aac880f_6_1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2a36aac880f_6_1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4" name="Google Shape;1764;g2a36aac880f_6_1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2a36aac880f_6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8" name="Google Shape;1818;g2a36aac880f_6_12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2a36aac880f_6_12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5" name="Google Shape;1845;g2a36aac880f_6_1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2a36aac880f_6_1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9" name="Google Shape;1889;g2a36aac880f_6_1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2a36aac880f_6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0" name="Google Shape;1920;g2a36aac880f_6_1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2a36aac880f_6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6" name="Google Shape;1936;g2a36aac880f_6_1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2a36aac880f_6_1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3" name="Google Shape;1943;g2a36aac880f_6_1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9.png"/><Relationship Id="rId4" Type="http://schemas.openxmlformats.org/officeDocument/2006/relationships/image" Target="../media/image24.png"/><Relationship Id="rId9"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9.png"/><Relationship Id="rId4" Type="http://schemas.openxmlformats.org/officeDocument/2006/relationships/image" Target="../media/image31.png"/><Relationship Id="rId11" Type="http://schemas.openxmlformats.org/officeDocument/2006/relationships/image" Target="../media/image18.png"/><Relationship Id="rId10" Type="http://schemas.openxmlformats.org/officeDocument/2006/relationships/image" Target="../media/image35.png"/><Relationship Id="rId9"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1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_3">
    <p:spTree>
      <p:nvGrpSpPr>
        <p:cNvPr id="746" name="Shape 746"/>
        <p:cNvGrpSpPr/>
        <p:nvPr/>
      </p:nvGrpSpPr>
      <p:grpSpPr>
        <a:xfrm>
          <a:off x="0" y="0"/>
          <a:ext cx="0" cy="0"/>
          <a:chOff x="0" y="0"/>
          <a:chExt cx="0" cy="0"/>
        </a:xfrm>
      </p:grpSpPr>
      <p:sp>
        <p:nvSpPr>
          <p:cNvPr id="747" name="Google Shape;747;p6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8" name="Google Shape;748;p64"/>
          <p:cNvPicPr preferRelativeResize="0"/>
          <p:nvPr/>
        </p:nvPicPr>
        <p:blipFill rotWithShape="1">
          <a:blip r:embed="rId2">
            <a:alphaModFix/>
          </a:blip>
          <a:srcRect b="3669" l="0" r="0" t="3677"/>
          <a:stretch/>
        </p:blipFill>
        <p:spPr>
          <a:xfrm>
            <a:off x="863550" y="2926472"/>
            <a:ext cx="7439126" cy="572078"/>
          </a:xfrm>
          <a:prstGeom prst="rect">
            <a:avLst/>
          </a:prstGeom>
          <a:noFill/>
          <a:ln>
            <a:noFill/>
          </a:ln>
        </p:spPr>
      </p:pic>
      <p:pic>
        <p:nvPicPr>
          <p:cNvPr id="749" name="Google Shape;749;p64"/>
          <p:cNvPicPr preferRelativeResize="0"/>
          <p:nvPr/>
        </p:nvPicPr>
        <p:blipFill rotWithShape="1">
          <a:blip r:embed="rId3">
            <a:alphaModFix/>
          </a:blip>
          <a:srcRect b="3669" l="0" r="0" t="3677"/>
          <a:stretch/>
        </p:blipFill>
        <p:spPr>
          <a:xfrm>
            <a:off x="863550" y="1989425"/>
            <a:ext cx="7439126" cy="572078"/>
          </a:xfrm>
          <a:prstGeom prst="rect">
            <a:avLst/>
          </a:prstGeom>
          <a:noFill/>
          <a:ln>
            <a:noFill/>
          </a:ln>
        </p:spPr>
      </p:pic>
      <p:pic>
        <p:nvPicPr>
          <p:cNvPr id="750" name="Google Shape;750;p6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751" name="Google Shape;751;p64"/>
          <p:cNvCxnSpPr>
            <a:endCxn id="752"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753" name="Google Shape;753;p64"/>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754" name="Google Shape;754;p64"/>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755" name="Google Shape;755;p64"/>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752" name="Google Shape;752;p64"/>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756" name="Google Shape;756;p64"/>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757" name="Google Shape;757;p6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758" name="Google Shape;758;p64"/>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_2">
    <p:spTree>
      <p:nvGrpSpPr>
        <p:cNvPr id="759" name="Shape 759"/>
        <p:cNvGrpSpPr/>
        <p:nvPr/>
      </p:nvGrpSpPr>
      <p:grpSpPr>
        <a:xfrm>
          <a:off x="0" y="0"/>
          <a:ext cx="0" cy="0"/>
          <a:chOff x="0" y="0"/>
          <a:chExt cx="0" cy="0"/>
        </a:xfrm>
      </p:grpSpPr>
      <p:pic>
        <p:nvPicPr>
          <p:cNvPr id="760" name="Google Shape;760;p6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61" name="Google Shape;761;p6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6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63" name="Google Shape;763;p65"/>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764" name="Google Shape;764;p65"/>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765" name="Google Shape;765;p6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6" name="Google Shape;766;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_2">
    <p:bg>
      <p:bgPr>
        <a:solidFill>
          <a:srgbClr val="F3EEFB"/>
        </a:solidFill>
      </p:bgPr>
    </p:bg>
    <p:spTree>
      <p:nvGrpSpPr>
        <p:cNvPr id="767" name="Shape 767"/>
        <p:cNvGrpSpPr/>
        <p:nvPr/>
      </p:nvGrpSpPr>
      <p:grpSpPr>
        <a:xfrm>
          <a:off x="0" y="0"/>
          <a:ext cx="0" cy="0"/>
          <a:chOff x="0" y="0"/>
          <a:chExt cx="0" cy="0"/>
        </a:xfrm>
      </p:grpSpPr>
      <p:pic>
        <p:nvPicPr>
          <p:cNvPr id="768" name="Google Shape;768;p66"/>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69" name="Google Shape;769;p6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6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71" name="Google Shape;771;p66"/>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772" name="Google Shape;772;p6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773" name="Google Shape;773;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_3">
    <p:spTree>
      <p:nvGrpSpPr>
        <p:cNvPr id="775" name="Shape 775"/>
        <p:cNvGrpSpPr/>
        <p:nvPr/>
      </p:nvGrpSpPr>
      <p:grpSpPr>
        <a:xfrm>
          <a:off x="0" y="0"/>
          <a:ext cx="0" cy="0"/>
          <a:chOff x="0" y="0"/>
          <a:chExt cx="0" cy="0"/>
        </a:xfrm>
      </p:grpSpPr>
      <p:pic>
        <p:nvPicPr>
          <p:cNvPr id="776" name="Google Shape;776;p6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7" name="Google Shape;777;p6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6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79" name="Google Shape;779;p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sp>
        <p:nvSpPr>
          <p:cNvPr id="780" name="Google Shape;780;p67"/>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781" name="Google Shape;781;p6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782" name="Google Shape;782;p6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_1">
    <p:bg>
      <p:bgPr>
        <a:solidFill>
          <a:srgbClr val="E6F2F2"/>
        </a:solidFill>
      </p:bgPr>
    </p:bg>
    <p:spTree>
      <p:nvGrpSpPr>
        <p:cNvPr id="783" name="Shape 783"/>
        <p:cNvGrpSpPr/>
        <p:nvPr/>
      </p:nvGrpSpPr>
      <p:grpSpPr>
        <a:xfrm>
          <a:off x="0" y="0"/>
          <a:ext cx="0" cy="0"/>
          <a:chOff x="0" y="0"/>
          <a:chExt cx="0" cy="0"/>
        </a:xfrm>
      </p:grpSpPr>
      <p:pic>
        <p:nvPicPr>
          <p:cNvPr id="784" name="Google Shape;784;p6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5" name="Google Shape;785;p6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6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87" name="Google Shape;787;p68"/>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788" name="Google Shape;788;p6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sp>
        <p:nvSpPr>
          <p:cNvPr id="789" name="Google Shape;789;p6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790" name="Google Shape;790;p6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91" name="Shape 791"/>
        <p:cNvGrpSpPr/>
        <p:nvPr/>
      </p:nvGrpSpPr>
      <p:grpSpPr>
        <a:xfrm>
          <a:off x="0" y="0"/>
          <a:ext cx="0" cy="0"/>
          <a:chOff x="0" y="0"/>
          <a:chExt cx="0" cy="0"/>
        </a:xfrm>
      </p:grpSpPr>
      <p:sp>
        <p:nvSpPr>
          <p:cNvPr id="792" name="Google Shape;792;p69"/>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93" name="Google Shape;793;p69"/>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94" name="Google Shape;794;p69"/>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95" name="Google Shape;795;p6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796" name="Google Shape;796;p69"/>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0" Type="http://schemas.openxmlformats.org/officeDocument/2006/relationships/theme" Target="../theme/theme1.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 Id="rId3" Type="http://schemas.openxmlformats.org/officeDocument/2006/relationships/image" Target="../media/image6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6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60.png"/><Relationship Id="rId4" Type="http://schemas.openxmlformats.org/officeDocument/2006/relationships/image" Target="../media/image6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60.png"/><Relationship Id="rId4" Type="http://schemas.openxmlformats.org/officeDocument/2006/relationships/image" Target="../media/image63.png"/><Relationship Id="rId5" Type="http://schemas.openxmlformats.org/officeDocument/2006/relationships/image" Target="../media/image68.png"/><Relationship Id="rId6"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67.png"/><Relationship Id="rId4" Type="http://schemas.openxmlformats.org/officeDocument/2006/relationships/image" Target="../media/image69.png"/><Relationship Id="rId5" Type="http://schemas.openxmlformats.org/officeDocument/2006/relationships/image" Target="../media/image7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67.png"/><Relationship Id="rId4" Type="http://schemas.openxmlformats.org/officeDocument/2006/relationships/image" Target="../media/image6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78.png"/><Relationship Id="rId4" Type="http://schemas.openxmlformats.org/officeDocument/2006/relationships/image" Target="../media/image80.png"/><Relationship Id="rId5" Type="http://schemas.openxmlformats.org/officeDocument/2006/relationships/image" Target="../media/image76.png"/><Relationship Id="rId6" Type="http://schemas.openxmlformats.org/officeDocument/2006/relationships/image" Target="../media/image83.png"/><Relationship Id="rId7" Type="http://schemas.openxmlformats.org/officeDocument/2006/relationships/image" Target="../media/image7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 Id="rId3" Type="http://schemas.openxmlformats.org/officeDocument/2006/relationships/image" Target="../media/image84.png"/><Relationship Id="rId4" Type="http://schemas.openxmlformats.org/officeDocument/2006/relationships/image" Target="../media/image85.png"/><Relationship Id="rId9" Type="http://schemas.openxmlformats.org/officeDocument/2006/relationships/image" Target="../media/image101.png"/><Relationship Id="rId5" Type="http://schemas.openxmlformats.org/officeDocument/2006/relationships/image" Target="../media/image43.png"/><Relationship Id="rId6" Type="http://schemas.openxmlformats.org/officeDocument/2006/relationships/image" Target="../media/image77.png"/><Relationship Id="rId7" Type="http://schemas.openxmlformats.org/officeDocument/2006/relationships/image" Target="../media/image88.png"/><Relationship Id="rId8" Type="http://schemas.openxmlformats.org/officeDocument/2006/relationships/image" Target="../media/image9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3.xml"/><Relationship Id="rId3" Type="http://schemas.openxmlformats.org/officeDocument/2006/relationships/image" Target="../media/image94.png"/><Relationship Id="rId4" Type="http://schemas.openxmlformats.org/officeDocument/2006/relationships/image" Target="../media/image43.png"/><Relationship Id="rId9"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87.png"/><Relationship Id="rId7" Type="http://schemas.openxmlformats.org/officeDocument/2006/relationships/image" Target="../media/image86.png"/><Relationship Id="rId8" Type="http://schemas.openxmlformats.org/officeDocument/2006/relationships/image" Target="../media/image97.png"/><Relationship Id="rId11" Type="http://schemas.openxmlformats.org/officeDocument/2006/relationships/image" Target="../media/image93.png"/><Relationship Id="rId10" Type="http://schemas.openxmlformats.org/officeDocument/2006/relationships/image" Target="../media/image99.png"/><Relationship Id="rId12" Type="http://schemas.openxmlformats.org/officeDocument/2006/relationships/image" Target="../media/image9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4.xml"/><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8.png"/><Relationship Id="rId7" Type="http://schemas.openxmlformats.org/officeDocument/2006/relationships/image" Target="../media/image10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5.xml"/><Relationship Id="rId3" Type="http://schemas.openxmlformats.org/officeDocument/2006/relationships/image" Target="../media/image105.png"/><Relationship Id="rId4" Type="http://schemas.openxmlformats.org/officeDocument/2006/relationships/image" Target="../media/image102.png"/><Relationship Id="rId5" Type="http://schemas.openxmlformats.org/officeDocument/2006/relationships/image" Target="../media/image1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6.xml"/><Relationship Id="rId3" Type="http://schemas.openxmlformats.org/officeDocument/2006/relationships/image" Target="../media/image112.png"/><Relationship Id="rId4" Type="http://schemas.openxmlformats.org/officeDocument/2006/relationships/image" Target="../media/image91.png"/><Relationship Id="rId9" Type="http://schemas.openxmlformats.org/officeDocument/2006/relationships/image" Target="../media/image93.png"/><Relationship Id="rId5" Type="http://schemas.openxmlformats.org/officeDocument/2006/relationships/image" Target="../media/image87.png"/><Relationship Id="rId6" Type="http://schemas.openxmlformats.org/officeDocument/2006/relationships/image" Target="../media/image43.png"/><Relationship Id="rId7" Type="http://schemas.openxmlformats.org/officeDocument/2006/relationships/image" Target="../media/image90.png"/><Relationship Id="rId8" Type="http://schemas.openxmlformats.org/officeDocument/2006/relationships/image" Target="../media/image99.png"/><Relationship Id="rId10" Type="http://schemas.openxmlformats.org/officeDocument/2006/relationships/image" Target="../media/image9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7.xml"/><Relationship Id="rId3" Type="http://schemas.openxmlformats.org/officeDocument/2006/relationships/image" Target="../media/image125.png"/><Relationship Id="rId4" Type="http://schemas.openxmlformats.org/officeDocument/2006/relationships/image" Target="../media/image102.png"/><Relationship Id="rId9" Type="http://schemas.openxmlformats.org/officeDocument/2006/relationships/image" Target="../media/image12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9.png"/><Relationship Id="rId8" Type="http://schemas.openxmlformats.org/officeDocument/2006/relationships/image" Target="../media/image10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8.xml"/><Relationship Id="rId3" Type="http://schemas.openxmlformats.org/officeDocument/2006/relationships/image" Target="../media/image105.png"/><Relationship Id="rId4" Type="http://schemas.openxmlformats.org/officeDocument/2006/relationships/image" Target="../media/image102.png"/><Relationship Id="rId9" Type="http://schemas.openxmlformats.org/officeDocument/2006/relationships/image" Target="../media/image138.png"/><Relationship Id="rId5" Type="http://schemas.openxmlformats.org/officeDocument/2006/relationships/image" Target="../media/image110.png"/><Relationship Id="rId6" Type="http://schemas.openxmlformats.org/officeDocument/2006/relationships/image" Target="../media/image130.png"/><Relationship Id="rId7" Type="http://schemas.openxmlformats.org/officeDocument/2006/relationships/image" Target="../media/image134.png"/><Relationship Id="rId8" Type="http://schemas.openxmlformats.org/officeDocument/2006/relationships/image" Target="../media/image127.png"/><Relationship Id="rId11" Type="http://schemas.openxmlformats.org/officeDocument/2006/relationships/image" Target="../media/image129.png"/><Relationship Id="rId10" Type="http://schemas.openxmlformats.org/officeDocument/2006/relationships/image" Target="../media/image1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9.xml"/><Relationship Id="rId3" Type="http://schemas.openxmlformats.org/officeDocument/2006/relationships/image" Target="../media/image6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1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1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31.png"/><Relationship Id="rId4" Type="http://schemas.openxmlformats.org/officeDocument/2006/relationships/image" Target="../media/image1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image" Target="../media/image1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image" Target="../media/image140.png"/><Relationship Id="rId4" Type="http://schemas.openxmlformats.org/officeDocument/2006/relationships/image" Target="../media/image146.png"/><Relationship Id="rId5" Type="http://schemas.openxmlformats.org/officeDocument/2006/relationships/image" Target="../media/image1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 Id="rId3" Type="http://schemas.openxmlformats.org/officeDocument/2006/relationships/image" Target="../media/image1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1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1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image" Target="../media/image148.png"/><Relationship Id="rId4" Type="http://schemas.openxmlformats.org/officeDocument/2006/relationships/image" Target="../media/image145.png"/><Relationship Id="rId5" Type="http://schemas.openxmlformats.org/officeDocument/2006/relationships/image" Target="../media/image143.png"/><Relationship Id="rId6" Type="http://schemas.openxmlformats.org/officeDocument/2006/relationships/image" Target="../media/image149.png"/><Relationship Id="rId7" Type="http://schemas.openxmlformats.org/officeDocument/2006/relationships/image" Target="../media/image1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 Id="rId3" Type="http://schemas.openxmlformats.org/officeDocument/2006/relationships/image" Target="../media/image1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1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xml"/><Relationship Id="rId3" Type="http://schemas.openxmlformats.org/officeDocument/2006/relationships/image" Target="../media/image154.png"/><Relationship Id="rId4" Type="http://schemas.openxmlformats.org/officeDocument/2006/relationships/image" Target="../media/image43.png"/><Relationship Id="rId5"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5.xml"/><Relationship Id="rId3" Type="http://schemas.openxmlformats.org/officeDocument/2006/relationships/image" Target="../media/image158.png"/><Relationship Id="rId4" Type="http://schemas.openxmlformats.org/officeDocument/2006/relationships/image" Target="../media/image43.png"/><Relationship Id="rId5" Type="http://schemas.openxmlformats.org/officeDocument/2006/relationships/image" Target="../media/image164.png"/><Relationship Id="rId6" Type="http://schemas.openxmlformats.org/officeDocument/2006/relationships/image" Target="../media/image163.png"/><Relationship Id="rId7" Type="http://schemas.openxmlformats.org/officeDocument/2006/relationships/image" Target="../media/image166.png"/><Relationship Id="rId8" Type="http://schemas.openxmlformats.org/officeDocument/2006/relationships/image" Target="../media/image1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6.xml"/><Relationship Id="rId3" Type="http://schemas.openxmlformats.org/officeDocument/2006/relationships/image" Target="../media/image167.png"/><Relationship Id="rId4" Type="http://schemas.openxmlformats.org/officeDocument/2006/relationships/image" Target="../media/image172.png"/><Relationship Id="rId5" Type="http://schemas.openxmlformats.org/officeDocument/2006/relationships/image" Target="../media/image175.png"/><Relationship Id="rId6" Type="http://schemas.openxmlformats.org/officeDocument/2006/relationships/image" Target="../media/image16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7.xml"/><Relationship Id="rId3" Type="http://schemas.openxmlformats.org/officeDocument/2006/relationships/image" Target="../media/image175.png"/><Relationship Id="rId4" Type="http://schemas.openxmlformats.org/officeDocument/2006/relationships/image" Target="../media/image17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8.xml"/><Relationship Id="rId3" Type="http://schemas.openxmlformats.org/officeDocument/2006/relationships/image" Target="../media/image17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39.xml"/><Relationship Id="rId3" Type="http://schemas.openxmlformats.org/officeDocument/2006/relationships/image" Target="../media/image158.png"/><Relationship Id="rId4" Type="http://schemas.openxmlformats.org/officeDocument/2006/relationships/image" Target="../media/image43.png"/><Relationship Id="rId5" Type="http://schemas.openxmlformats.org/officeDocument/2006/relationships/image" Target="../media/image164.png"/><Relationship Id="rId6" Type="http://schemas.openxmlformats.org/officeDocument/2006/relationships/image" Target="../media/image1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0.xml"/><Relationship Id="rId3" Type="http://schemas.openxmlformats.org/officeDocument/2006/relationships/image" Target="../media/image158.png"/><Relationship Id="rId4" Type="http://schemas.openxmlformats.org/officeDocument/2006/relationships/image" Target="../media/image43.png"/><Relationship Id="rId5" Type="http://schemas.openxmlformats.org/officeDocument/2006/relationships/image" Target="../media/image163.png"/><Relationship Id="rId6" Type="http://schemas.openxmlformats.org/officeDocument/2006/relationships/image" Target="../media/image16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1.xml"/><Relationship Id="rId3" Type="http://schemas.openxmlformats.org/officeDocument/2006/relationships/image" Target="../media/image167.png"/><Relationship Id="rId4" Type="http://schemas.openxmlformats.org/officeDocument/2006/relationships/image" Target="../media/image172.png"/><Relationship Id="rId5" Type="http://schemas.openxmlformats.org/officeDocument/2006/relationships/image" Target="../media/image175.png"/><Relationship Id="rId6" Type="http://schemas.openxmlformats.org/officeDocument/2006/relationships/image" Target="../media/image1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2.xml"/><Relationship Id="rId3" Type="http://schemas.openxmlformats.org/officeDocument/2006/relationships/image" Target="../media/image175.png"/><Relationship Id="rId4" Type="http://schemas.openxmlformats.org/officeDocument/2006/relationships/image" Target="../media/image173.png"/><Relationship Id="rId5" Type="http://schemas.openxmlformats.org/officeDocument/2006/relationships/image" Target="../media/image182.png"/><Relationship Id="rId6" Type="http://schemas.openxmlformats.org/officeDocument/2006/relationships/image" Target="../media/image18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3.xml"/><Relationship Id="rId3" Type="http://schemas.openxmlformats.org/officeDocument/2006/relationships/image" Target="../media/image17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8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800"/>
              <a:buNone/>
            </a:pPr>
            <a:r>
              <a:rPr lang="en-GB"/>
              <a:t>Area of composite shapes</a:t>
            </a:r>
            <a:endParaRPr/>
          </a:p>
        </p:txBody>
      </p:sp>
      <p:sp>
        <p:nvSpPr>
          <p:cNvPr id="802" name="Google Shape;802;p70"/>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GB"/>
              <a:t>Perimeter, area and volume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6" name="Shape 806"/>
        <p:cNvGrpSpPr/>
        <p:nvPr/>
      </p:nvGrpSpPr>
      <p:grpSpPr>
        <a:xfrm>
          <a:off x="0" y="0"/>
          <a:ext cx="0" cy="0"/>
          <a:chOff x="0" y="0"/>
          <a:chExt cx="0" cy="0"/>
        </a:xfrm>
      </p:grpSpPr>
      <p:sp>
        <p:nvSpPr>
          <p:cNvPr id="807" name="Google Shape;807;p71"/>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Clr>
                <a:srgbClr val="000000"/>
              </a:buClr>
              <a:buSzPts val="1200"/>
              <a:buFont typeface="Arial"/>
              <a:buNone/>
            </a:pPr>
            <a:r>
              <a:rPr b="0" i="0" lang="en-GB" sz="1200" u="sng" cap="none" strike="noStrike">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b="0" i="0" sz="1200" u="none" cap="none" strike="noStrike">
              <a:solidFill>
                <a:srgbClr val="000000"/>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72"/>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SzPts val="2000"/>
              <a:buNone/>
            </a:pPr>
            <a:r>
              <a:rPr lang="en-GB"/>
              <a:t>I can solve area problems of composite shapes involving whole and/or part circles.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3"/>
          <p:cNvSpPr txBox="1"/>
          <p:nvPr/>
        </p:nvSpPr>
        <p:spPr>
          <a:xfrm>
            <a:off x="324000" y="993650"/>
            <a:ext cx="4717500" cy="35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200"/>
              <a:buFont typeface="Arial"/>
              <a:buNone/>
            </a:pPr>
            <a:r>
              <a:rPr b="0" i="0" lang="en-GB" sz="2200" u="none" cap="none" strike="noStrike">
                <a:solidFill>
                  <a:srgbClr val="282828"/>
                </a:solidFill>
                <a:latin typeface="Lexend"/>
                <a:ea typeface="Lexend"/>
                <a:cs typeface="Lexend"/>
                <a:sym typeface="Lexend"/>
              </a:rPr>
              <a:t>A </a:t>
            </a:r>
            <a:r>
              <a:rPr b="1" i="0" lang="en-GB" sz="2200" u="none" cap="none" strike="noStrike">
                <a:solidFill>
                  <a:srgbClr val="282828"/>
                </a:solidFill>
                <a:latin typeface="Lexend"/>
                <a:ea typeface="Lexend"/>
                <a:cs typeface="Lexend"/>
                <a:sym typeface="Lexend"/>
              </a:rPr>
              <a:t>sector</a:t>
            </a:r>
            <a:r>
              <a:rPr b="0" i="0" lang="en-GB" sz="2200" u="none" cap="none" strike="noStrike">
                <a:solidFill>
                  <a:srgbClr val="282828"/>
                </a:solidFill>
                <a:latin typeface="Lexend"/>
                <a:ea typeface="Lexend"/>
                <a:cs typeface="Lexend"/>
                <a:sym typeface="Lexend"/>
              </a:rPr>
              <a:t> is the region formed between two radii and their connecting arc. </a:t>
            </a:r>
            <a:endParaRPr b="0" i="0" sz="2200" u="none" cap="none" strike="noStrike">
              <a:solidFill>
                <a:srgbClr val="282828"/>
              </a:solidFill>
              <a:latin typeface="Lexend"/>
              <a:ea typeface="Lexend"/>
              <a:cs typeface="Lexend"/>
              <a:sym typeface="Lexend"/>
            </a:endParaRPr>
          </a:p>
        </p:txBody>
      </p:sp>
      <p:pic>
        <p:nvPicPr>
          <p:cNvPr id="818" name="Google Shape;818;p73"/>
          <p:cNvPicPr preferRelativeResize="0"/>
          <p:nvPr/>
        </p:nvPicPr>
        <p:blipFill rotWithShape="1">
          <a:blip r:embed="rId3">
            <a:alphaModFix/>
          </a:blip>
          <a:srcRect b="0" l="0" r="0" t="0"/>
          <a:stretch/>
        </p:blipFill>
        <p:spPr>
          <a:xfrm rot="-7199986">
            <a:off x="5571801" y="1455297"/>
            <a:ext cx="2917349" cy="2752734"/>
          </a:xfrm>
          <a:prstGeom prst="rect">
            <a:avLst/>
          </a:prstGeom>
          <a:noFill/>
          <a:ln>
            <a:noFill/>
          </a:ln>
        </p:spPr>
      </p:pic>
      <p:sp>
        <p:nvSpPr>
          <p:cNvPr id="819" name="Google Shape;819;p73"/>
          <p:cNvSpPr txBox="1"/>
          <p:nvPr/>
        </p:nvSpPr>
        <p:spPr>
          <a:xfrm>
            <a:off x="4252421" y="2985400"/>
            <a:ext cx="827400" cy="3570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rgbClr val="282828"/>
                </a:solidFill>
                <a:latin typeface="Lexend"/>
                <a:ea typeface="Lexend"/>
                <a:cs typeface="Lexend"/>
                <a:sym typeface="Lexend"/>
              </a:rPr>
              <a:t>sector</a:t>
            </a:r>
            <a:endParaRPr b="0" i="0" sz="1800" u="none" cap="none" strike="noStrike">
              <a:solidFill>
                <a:srgbClr val="282828"/>
              </a:solidFill>
              <a:latin typeface="Lexend"/>
              <a:ea typeface="Lexend"/>
              <a:cs typeface="Lexend"/>
              <a:sym typeface="Lexend"/>
            </a:endParaRPr>
          </a:p>
        </p:txBody>
      </p:sp>
      <p:cxnSp>
        <p:nvCxnSpPr>
          <p:cNvPr id="820" name="Google Shape;820;p73"/>
          <p:cNvCxnSpPr/>
          <p:nvPr/>
        </p:nvCxnSpPr>
        <p:spPr>
          <a:xfrm flipH="1" rot="10800000">
            <a:off x="5041519" y="2739768"/>
            <a:ext cx="1277100" cy="332700"/>
          </a:xfrm>
          <a:prstGeom prst="straightConnector1">
            <a:avLst/>
          </a:prstGeom>
          <a:noFill/>
          <a:ln cap="flat" cmpd="sng" w="38100">
            <a:solidFill>
              <a:srgbClr val="808080"/>
            </a:solidFill>
            <a:prstDash val="solid"/>
            <a:round/>
            <a:headEnd len="sm" w="sm" type="none"/>
            <a:tailEnd len="sm" w="sm" type="none"/>
          </a:ln>
        </p:spPr>
      </p:cxnSp>
      <p:sp>
        <p:nvSpPr>
          <p:cNvPr id="821" name="Google Shape;821;p73"/>
          <p:cNvSpPr txBox="1"/>
          <p:nvPr/>
        </p:nvSpPr>
        <p:spPr>
          <a:xfrm>
            <a:off x="5966441" y="4336500"/>
            <a:ext cx="827400" cy="3570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rgbClr val="282828"/>
                </a:solidFill>
                <a:latin typeface="Lexend"/>
                <a:ea typeface="Lexend"/>
                <a:cs typeface="Lexend"/>
                <a:sym typeface="Lexend"/>
              </a:rPr>
              <a:t>radius</a:t>
            </a:r>
            <a:endParaRPr b="0" i="0" sz="1800" u="none" cap="none" strike="noStrike">
              <a:solidFill>
                <a:srgbClr val="282828"/>
              </a:solidFill>
              <a:latin typeface="Lexend"/>
              <a:ea typeface="Lexend"/>
              <a:cs typeface="Lexend"/>
              <a:sym typeface="Lexend"/>
            </a:endParaRPr>
          </a:p>
        </p:txBody>
      </p:sp>
      <p:cxnSp>
        <p:nvCxnSpPr>
          <p:cNvPr id="822" name="Google Shape;822;p73"/>
          <p:cNvCxnSpPr/>
          <p:nvPr/>
        </p:nvCxnSpPr>
        <p:spPr>
          <a:xfrm flipH="1" rot="10800000">
            <a:off x="6410744" y="3327218"/>
            <a:ext cx="114000" cy="1034700"/>
          </a:xfrm>
          <a:prstGeom prst="straightConnector1">
            <a:avLst/>
          </a:prstGeom>
          <a:noFill/>
          <a:ln cap="flat" cmpd="sng" w="38100">
            <a:solidFill>
              <a:srgbClr val="808080"/>
            </a:solidFill>
            <a:prstDash val="solid"/>
            <a:round/>
            <a:headEnd len="sm" w="sm" type="none"/>
            <a:tailEnd len="sm" w="sm" type="none"/>
          </a:ln>
        </p:spPr>
      </p:cxnSp>
      <p:sp>
        <p:nvSpPr>
          <p:cNvPr id="823" name="Google Shape;823;p73"/>
          <p:cNvSpPr txBox="1"/>
          <p:nvPr/>
        </p:nvSpPr>
        <p:spPr>
          <a:xfrm>
            <a:off x="7708071" y="901500"/>
            <a:ext cx="827400" cy="3570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rgbClr val="282828"/>
                </a:solidFill>
                <a:latin typeface="Lexend"/>
                <a:ea typeface="Lexend"/>
                <a:cs typeface="Lexend"/>
                <a:sym typeface="Lexend"/>
              </a:rPr>
              <a:t>sector</a:t>
            </a:r>
            <a:endParaRPr b="0" i="0" sz="1800" u="none" cap="none" strike="noStrike">
              <a:solidFill>
                <a:srgbClr val="282828"/>
              </a:solidFill>
              <a:latin typeface="Lexend"/>
              <a:ea typeface="Lexend"/>
              <a:cs typeface="Lexend"/>
              <a:sym typeface="Lexend"/>
            </a:endParaRPr>
          </a:p>
        </p:txBody>
      </p:sp>
      <p:cxnSp>
        <p:nvCxnSpPr>
          <p:cNvPr id="824" name="Google Shape;824;p73"/>
          <p:cNvCxnSpPr/>
          <p:nvPr/>
        </p:nvCxnSpPr>
        <p:spPr>
          <a:xfrm flipH="1">
            <a:off x="7440575" y="1221000"/>
            <a:ext cx="648600" cy="1007100"/>
          </a:xfrm>
          <a:prstGeom prst="straightConnector1">
            <a:avLst/>
          </a:prstGeom>
          <a:noFill/>
          <a:ln cap="flat" cmpd="sng" w="38100">
            <a:solidFill>
              <a:srgbClr val="808080"/>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74"/>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Finding the area of composite shapes with sectors</a:t>
            </a:r>
            <a:endParaRPr/>
          </a:p>
        </p:txBody>
      </p:sp>
      <p:sp>
        <p:nvSpPr>
          <p:cNvPr id="830" name="Google Shape;830;p74"/>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Finding the area of sectors of a circle</a:t>
            </a:r>
            <a:endParaRPr/>
          </a:p>
        </p:txBody>
      </p:sp>
      <p:sp>
        <p:nvSpPr>
          <p:cNvPr id="831" name="Google Shape;831;p74"/>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Area of composite shapes</a:t>
            </a:r>
            <a:endParaRPr/>
          </a:p>
        </p:txBody>
      </p:sp>
      <p:pic>
        <p:nvPicPr>
          <p:cNvPr id="832" name="Google Shape;832;p74"/>
          <p:cNvPicPr preferRelativeResize="0"/>
          <p:nvPr/>
        </p:nvPicPr>
        <p:blipFill rotWithShape="1">
          <a:blip r:embed="rId3">
            <a:alphaModFix/>
          </a:blip>
          <a:srcRect b="0" l="0" r="0" t="0"/>
          <a:stretch/>
        </p:blipFill>
        <p:spPr>
          <a:xfrm>
            <a:off x="415250" y="2059664"/>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75"/>
          <p:cNvPicPr preferRelativeResize="0"/>
          <p:nvPr/>
        </p:nvPicPr>
        <p:blipFill rotWithShape="1">
          <a:blip r:embed="rId3">
            <a:alphaModFix/>
          </a:blip>
          <a:srcRect b="40227" l="55329" r="1481" t="11561"/>
          <a:stretch/>
        </p:blipFill>
        <p:spPr>
          <a:xfrm>
            <a:off x="909755" y="951725"/>
            <a:ext cx="2403950" cy="1309900"/>
          </a:xfrm>
          <a:prstGeom prst="rect">
            <a:avLst/>
          </a:prstGeom>
          <a:noFill/>
          <a:ln>
            <a:noFill/>
          </a:ln>
        </p:spPr>
      </p:pic>
      <p:pic>
        <p:nvPicPr>
          <p:cNvPr id="838" name="Google Shape;838;p75"/>
          <p:cNvPicPr preferRelativeResize="0"/>
          <p:nvPr/>
        </p:nvPicPr>
        <p:blipFill rotWithShape="1">
          <a:blip r:embed="rId3">
            <a:alphaModFix/>
          </a:blip>
          <a:srcRect b="0" l="3493" r="53314" t="11559"/>
          <a:stretch/>
        </p:blipFill>
        <p:spPr>
          <a:xfrm>
            <a:off x="965625" y="951725"/>
            <a:ext cx="2403975" cy="2402900"/>
          </a:xfrm>
          <a:prstGeom prst="rect">
            <a:avLst/>
          </a:prstGeom>
          <a:noFill/>
          <a:ln>
            <a:noFill/>
          </a:ln>
        </p:spPr>
      </p:pic>
      <p:cxnSp>
        <p:nvCxnSpPr>
          <p:cNvPr id="839" name="Google Shape;839;p75"/>
          <p:cNvCxnSpPr/>
          <p:nvPr/>
        </p:nvCxnSpPr>
        <p:spPr>
          <a:xfrm>
            <a:off x="2153721" y="2227128"/>
            <a:ext cx="1102200" cy="0"/>
          </a:xfrm>
          <a:prstGeom prst="straightConnector1">
            <a:avLst/>
          </a:prstGeom>
          <a:noFill/>
          <a:ln cap="flat" cmpd="sng" w="38100">
            <a:solidFill>
              <a:schemeClr val="accent4"/>
            </a:solidFill>
            <a:prstDash val="solid"/>
            <a:round/>
            <a:headEnd len="med" w="med" type="triangle"/>
            <a:tailEnd len="med" w="med" type="triangle"/>
          </a:ln>
        </p:spPr>
      </p:cxnSp>
      <p:sp>
        <p:nvSpPr>
          <p:cNvPr id="840" name="Google Shape;840;p75"/>
          <p:cNvSpPr txBox="1"/>
          <p:nvPr>
            <p:ph idx="1" type="body"/>
          </p:nvPr>
        </p:nvSpPr>
        <p:spPr>
          <a:xfrm>
            <a:off x="2054322" y="2227132"/>
            <a:ext cx="13011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18 cm</a:t>
            </a:r>
            <a:endParaRPr sz="1800"/>
          </a:p>
        </p:txBody>
      </p:sp>
      <p:sp>
        <p:nvSpPr>
          <p:cNvPr id="841" name="Google Shape;841;p75"/>
          <p:cNvSpPr txBox="1"/>
          <p:nvPr>
            <p:ph idx="1" type="body"/>
          </p:nvPr>
        </p:nvSpPr>
        <p:spPr>
          <a:xfrm>
            <a:off x="324000" y="637725"/>
            <a:ext cx="3996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How would you find the area of this circle?</a:t>
            </a:r>
            <a:endParaRPr sz="1800"/>
          </a:p>
        </p:txBody>
      </p:sp>
      <p:sp>
        <p:nvSpPr>
          <p:cNvPr id="842" name="Google Shape;842;p75"/>
          <p:cNvSpPr txBox="1"/>
          <p:nvPr>
            <p:ph idx="1" type="body"/>
          </p:nvPr>
        </p:nvSpPr>
        <p:spPr>
          <a:xfrm>
            <a:off x="4572000" y="2492100"/>
            <a:ext cx="4248000" cy="225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1800"/>
              <a:t>This semicircle is exactly half of the circle on the left.</a:t>
            </a:r>
            <a:endParaRPr sz="1800"/>
          </a:p>
          <a:p>
            <a:pPr indent="0" lvl="0" marL="0" rtl="0" algn="l">
              <a:lnSpc>
                <a:spcPct val="115000"/>
              </a:lnSpc>
              <a:spcBef>
                <a:spcPts val="1000"/>
              </a:spcBef>
              <a:spcAft>
                <a:spcPts val="0"/>
              </a:spcAft>
              <a:buSzPts val="2200"/>
              <a:buNone/>
            </a:pPr>
            <a:r>
              <a:rPr lang="en-GB" sz="1800"/>
              <a:t>It was made by cutting along a diameter of that circle.</a:t>
            </a:r>
            <a:endParaRPr sz="1800"/>
          </a:p>
          <a:p>
            <a:pPr indent="0" lvl="0" marL="0" rtl="0" algn="l">
              <a:lnSpc>
                <a:spcPct val="115000"/>
              </a:lnSpc>
              <a:spcBef>
                <a:spcPts val="1000"/>
              </a:spcBef>
              <a:spcAft>
                <a:spcPts val="0"/>
              </a:spcAft>
              <a:buSzPts val="2200"/>
              <a:buNone/>
            </a:pPr>
            <a:r>
              <a:rPr lang="en-GB" sz="1800"/>
              <a:t>It has the same radius as this circle.</a:t>
            </a:r>
            <a:endParaRPr sz="1800"/>
          </a:p>
          <a:p>
            <a:pPr indent="0" lvl="0" marL="0" rtl="0" algn="l">
              <a:lnSpc>
                <a:spcPct val="115000"/>
              </a:lnSpc>
              <a:spcBef>
                <a:spcPts val="1000"/>
              </a:spcBef>
              <a:spcAft>
                <a:spcPts val="1000"/>
              </a:spcAft>
              <a:buSzPts val="2200"/>
              <a:buNone/>
            </a:pPr>
            <a:r>
              <a:rPr lang="en-GB" sz="1800"/>
              <a:t>What is the area of this semicircle?</a:t>
            </a:r>
            <a:endParaRPr sz="1800"/>
          </a:p>
        </p:txBody>
      </p:sp>
      <p:sp>
        <p:nvSpPr>
          <p:cNvPr id="843" name="Google Shape;843;p7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pic>
        <p:nvPicPr>
          <p:cNvPr id="844" name="Google Shape;844;p75"/>
          <p:cNvPicPr preferRelativeResize="0"/>
          <p:nvPr/>
        </p:nvPicPr>
        <p:blipFill rotWithShape="1">
          <a:blip r:embed="rId3">
            <a:alphaModFix/>
          </a:blip>
          <a:srcRect b="40227" l="55329" r="1481" t="11561"/>
          <a:stretch/>
        </p:blipFill>
        <p:spPr>
          <a:xfrm>
            <a:off x="6065330" y="951725"/>
            <a:ext cx="2403950" cy="1309900"/>
          </a:xfrm>
          <a:prstGeom prst="rect">
            <a:avLst/>
          </a:prstGeom>
          <a:noFill/>
          <a:ln>
            <a:noFill/>
          </a:ln>
        </p:spPr>
      </p:pic>
      <p:cxnSp>
        <p:nvCxnSpPr>
          <p:cNvPr id="845" name="Google Shape;845;p75"/>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sp>
        <p:nvSpPr>
          <p:cNvPr id="846" name="Google Shape;846;p75"/>
          <p:cNvSpPr txBox="1"/>
          <p:nvPr>
            <p:ph idx="1" type="body"/>
          </p:nvPr>
        </p:nvSpPr>
        <p:spPr>
          <a:xfrm>
            <a:off x="965624" y="3354625"/>
            <a:ext cx="20586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r²</a:t>
            </a:r>
            <a:endParaRPr>
              <a:latin typeface="Times New Roman"/>
              <a:ea typeface="Times New Roman"/>
              <a:cs typeface="Times New Roman"/>
              <a:sym typeface="Times New Roman"/>
            </a:endParaRPr>
          </a:p>
        </p:txBody>
      </p:sp>
      <p:sp>
        <p:nvSpPr>
          <p:cNvPr id="847" name="Google Shape;847;p75"/>
          <p:cNvSpPr txBox="1"/>
          <p:nvPr>
            <p:ph idx="1" type="body"/>
          </p:nvPr>
        </p:nvSpPr>
        <p:spPr>
          <a:xfrm>
            <a:off x="965626" y="3845850"/>
            <a:ext cx="2823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18²</a:t>
            </a:r>
            <a:endParaRPr>
              <a:latin typeface="Times New Roman"/>
              <a:ea typeface="Times New Roman"/>
              <a:cs typeface="Times New Roman"/>
              <a:sym typeface="Times New Roman"/>
            </a:endParaRPr>
          </a:p>
        </p:txBody>
      </p:sp>
      <p:sp>
        <p:nvSpPr>
          <p:cNvPr id="848" name="Google Shape;848;p75"/>
          <p:cNvSpPr txBox="1"/>
          <p:nvPr>
            <p:ph idx="1" type="body"/>
          </p:nvPr>
        </p:nvSpPr>
        <p:spPr>
          <a:xfrm>
            <a:off x="978600" y="4337075"/>
            <a:ext cx="3354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324π = 1017.9 cm²</a:t>
            </a:r>
            <a:endParaRPr>
              <a:latin typeface="Times New Roman"/>
              <a:ea typeface="Times New Roman"/>
              <a:cs typeface="Times New Roman"/>
              <a:sym typeface="Times New Roman"/>
            </a:endParaRPr>
          </a:p>
        </p:txBody>
      </p:sp>
      <p:sp>
        <p:nvSpPr>
          <p:cNvPr id="849" name="Google Shape;849;p75"/>
          <p:cNvSpPr txBox="1"/>
          <p:nvPr>
            <p:ph idx="1" type="body"/>
          </p:nvPr>
        </p:nvSpPr>
        <p:spPr>
          <a:xfrm>
            <a:off x="7209847" y="2227132"/>
            <a:ext cx="13011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18 cm</a:t>
            </a:r>
            <a:endParaRPr sz="1800"/>
          </a:p>
        </p:txBody>
      </p:sp>
      <p:pic>
        <p:nvPicPr>
          <p:cNvPr id="850" name="Google Shape;850;p75"/>
          <p:cNvPicPr preferRelativeResize="0"/>
          <p:nvPr/>
        </p:nvPicPr>
        <p:blipFill rotWithShape="1">
          <a:blip r:embed="rId3">
            <a:alphaModFix/>
          </a:blip>
          <a:srcRect b="40227" l="55329" r="1481" t="11561"/>
          <a:stretch/>
        </p:blipFill>
        <p:spPr>
          <a:xfrm>
            <a:off x="1985586" y="951725"/>
            <a:ext cx="2403950" cy="1309900"/>
          </a:xfrm>
          <a:prstGeom prst="rect">
            <a:avLst/>
          </a:prstGeom>
          <a:noFill/>
          <a:ln>
            <a:noFill/>
          </a:ln>
        </p:spPr>
      </p:pic>
      <p:pic>
        <p:nvPicPr>
          <p:cNvPr id="851" name="Google Shape;851;p75"/>
          <p:cNvPicPr preferRelativeResize="0"/>
          <p:nvPr/>
        </p:nvPicPr>
        <p:blipFill rotWithShape="1">
          <a:blip r:embed="rId3">
            <a:alphaModFix/>
          </a:blip>
          <a:srcRect b="40227" l="55329" r="1481" t="11561"/>
          <a:stretch/>
        </p:blipFill>
        <p:spPr>
          <a:xfrm>
            <a:off x="3005522" y="951725"/>
            <a:ext cx="2403950" cy="1309900"/>
          </a:xfrm>
          <a:prstGeom prst="rect">
            <a:avLst/>
          </a:prstGeom>
          <a:noFill/>
          <a:ln>
            <a:noFill/>
          </a:ln>
        </p:spPr>
      </p:pic>
      <p:pic>
        <p:nvPicPr>
          <p:cNvPr id="852" name="Google Shape;852;p75"/>
          <p:cNvPicPr preferRelativeResize="0"/>
          <p:nvPr/>
        </p:nvPicPr>
        <p:blipFill rotWithShape="1">
          <a:blip r:embed="rId3">
            <a:alphaModFix/>
          </a:blip>
          <a:srcRect b="40227" l="55329" r="1481" t="11561"/>
          <a:stretch/>
        </p:blipFill>
        <p:spPr>
          <a:xfrm>
            <a:off x="4025458" y="951725"/>
            <a:ext cx="2403950" cy="1309900"/>
          </a:xfrm>
          <a:prstGeom prst="rect">
            <a:avLst/>
          </a:prstGeom>
          <a:noFill/>
          <a:ln>
            <a:noFill/>
          </a:ln>
        </p:spPr>
      </p:pic>
      <p:pic>
        <p:nvPicPr>
          <p:cNvPr id="853" name="Google Shape;853;p75"/>
          <p:cNvPicPr preferRelativeResize="0"/>
          <p:nvPr/>
        </p:nvPicPr>
        <p:blipFill rotWithShape="1">
          <a:blip r:embed="rId3">
            <a:alphaModFix/>
          </a:blip>
          <a:srcRect b="40227" l="55329" r="1481" t="11561"/>
          <a:stretch/>
        </p:blipFill>
        <p:spPr>
          <a:xfrm>
            <a:off x="5045394" y="951725"/>
            <a:ext cx="2403950" cy="1309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76"/>
          <p:cNvPicPr preferRelativeResize="0"/>
          <p:nvPr/>
        </p:nvPicPr>
        <p:blipFill rotWithShape="1">
          <a:blip r:embed="rId3">
            <a:alphaModFix amt="50000"/>
          </a:blip>
          <a:srcRect b="40227" l="55329" r="1481" t="11561"/>
          <a:stretch/>
        </p:blipFill>
        <p:spPr>
          <a:xfrm>
            <a:off x="909755" y="951725"/>
            <a:ext cx="2403950" cy="1309900"/>
          </a:xfrm>
          <a:prstGeom prst="rect">
            <a:avLst/>
          </a:prstGeom>
          <a:noFill/>
          <a:ln>
            <a:noFill/>
          </a:ln>
        </p:spPr>
      </p:pic>
      <p:pic>
        <p:nvPicPr>
          <p:cNvPr id="859" name="Google Shape;859;p76"/>
          <p:cNvPicPr preferRelativeResize="0"/>
          <p:nvPr/>
        </p:nvPicPr>
        <p:blipFill rotWithShape="1">
          <a:blip r:embed="rId3">
            <a:alphaModFix/>
          </a:blip>
          <a:srcRect b="0" l="3493" r="53314" t="11559"/>
          <a:stretch/>
        </p:blipFill>
        <p:spPr>
          <a:xfrm>
            <a:off x="965625" y="951725"/>
            <a:ext cx="2403975" cy="2402900"/>
          </a:xfrm>
          <a:prstGeom prst="rect">
            <a:avLst/>
          </a:prstGeom>
          <a:noFill/>
          <a:ln>
            <a:noFill/>
          </a:ln>
        </p:spPr>
      </p:pic>
      <p:sp>
        <p:nvSpPr>
          <p:cNvPr id="860" name="Google Shape;860;p76"/>
          <p:cNvSpPr txBox="1"/>
          <p:nvPr>
            <p:ph idx="1" type="body"/>
          </p:nvPr>
        </p:nvSpPr>
        <p:spPr>
          <a:xfrm>
            <a:off x="5940000" y="3354625"/>
            <a:ext cx="8514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endParaRPr>
              <a:latin typeface="Times New Roman"/>
              <a:ea typeface="Times New Roman"/>
              <a:cs typeface="Times New Roman"/>
              <a:sym typeface="Times New Roman"/>
            </a:endParaRPr>
          </a:p>
        </p:txBody>
      </p:sp>
      <p:sp>
        <p:nvSpPr>
          <p:cNvPr id="861" name="Google Shape;861;p76"/>
          <p:cNvSpPr txBox="1"/>
          <p:nvPr>
            <p:ph idx="1" type="body"/>
          </p:nvPr>
        </p:nvSpPr>
        <p:spPr>
          <a:xfrm>
            <a:off x="5940000" y="3845850"/>
            <a:ext cx="27129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18²</a:t>
            </a:r>
            <a:endParaRPr>
              <a:latin typeface="Times New Roman"/>
              <a:ea typeface="Times New Roman"/>
              <a:cs typeface="Times New Roman"/>
              <a:sym typeface="Times New Roman"/>
            </a:endParaRPr>
          </a:p>
        </p:txBody>
      </p:sp>
      <p:cxnSp>
        <p:nvCxnSpPr>
          <p:cNvPr id="862" name="Google Shape;862;p76"/>
          <p:cNvCxnSpPr/>
          <p:nvPr/>
        </p:nvCxnSpPr>
        <p:spPr>
          <a:xfrm>
            <a:off x="2153721" y="2227128"/>
            <a:ext cx="1102200" cy="0"/>
          </a:xfrm>
          <a:prstGeom prst="straightConnector1">
            <a:avLst/>
          </a:prstGeom>
          <a:noFill/>
          <a:ln cap="flat" cmpd="sng" w="38100">
            <a:solidFill>
              <a:schemeClr val="accent4"/>
            </a:solidFill>
            <a:prstDash val="solid"/>
            <a:round/>
            <a:headEnd len="med" w="med" type="triangle"/>
            <a:tailEnd len="med" w="med" type="triangle"/>
          </a:ln>
        </p:spPr>
      </p:cxnSp>
      <p:sp>
        <p:nvSpPr>
          <p:cNvPr id="863" name="Google Shape;863;p76"/>
          <p:cNvSpPr txBox="1"/>
          <p:nvPr>
            <p:ph idx="1" type="body"/>
          </p:nvPr>
        </p:nvSpPr>
        <p:spPr>
          <a:xfrm>
            <a:off x="965624" y="3354625"/>
            <a:ext cx="20586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r²</a:t>
            </a:r>
            <a:endParaRPr>
              <a:latin typeface="Times New Roman"/>
              <a:ea typeface="Times New Roman"/>
              <a:cs typeface="Times New Roman"/>
              <a:sym typeface="Times New Roman"/>
            </a:endParaRPr>
          </a:p>
        </p:txBody>
      </p:sp>
      <p:sp>
        <p:nvSpPr>
          <p:cNvPr id="864" name="Google Shape;864;p76"/>
          <p:cNvSpPr txBox="1"/>
          <p:nvPr>
            <p:ph idx="1" type="body"/>
          </p:nvPr>
        </p:nvSpPr>
        <p:spPr>
          <a:xfrm>
            <a:off x="965626" y="3845850"/>
            <a:ext cx="2823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18²</a:t>
            </a:r>
            <a:endParaRPr>
              <a:latin typeface="Times New Roman"/>
              <a:ea typeface="Times New Roman"/>
              <a:cs typeface="Times New Roman"/>
              <a:sym typeface="Times New Roman"/>
            </a:endParaRPr>
          </a:p>
        </p:txBody>
      </p:sp>
      <p:sp>
        <p:nvSpPr>
          <p:cNvPr id="865" name="Google Shape;865;p76"/>
          <p:cNvSpPr txBox="1"/>
          <p:nvPr>
            <p:ph idx="1" type="body"/>
          </p:nvPr>
        </p:nvSpPr>
        <p:spPr>
          <a:xfrm>
            <a:off x="324000" y="637725"/>
            <a:ext cx="3996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How would you find the area of this circle?</a:t>
            </a:r>
            <a:endParaRPr sz="1800"/>
          </a:p>
        </p:txBody>
      </p:sp>
      <p:sp>
        <p:nvSpPr>
          <p:cNvPr id="866" name="Google Shape;866;p7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sp>
        <p:nvSpPr>
          <p:cNvPr id="867" name="Google Shape;867;p76"/>
          <p:cNvSpPr txBox="1"/>
          <p:nvPr>
            <p:ph idx="1" type="body"/>
          </p:nvPr>
        </p:nvSpPr>
        <p:spPr>
          <a:xfrm>
            <a:off x="369000" y="4337075"/>
            <a:ext cx="3354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324π = 1017.9 cm²</a:t>
            </a:r>
            <a:endParaRPr>
              <a:latin typeface="Times New Roman"/>
              <a:ea typeface="Times New Roman"/>
              <a:cs typeface="Times New Roman"/>
              <a:sym typeface="Times New Roman"/>
            </a:endParaRPr>
          </a:p>
        </p:txBody>
      </p:sp>
      <p:pic>
        <p:nvPicPr>
          <p:cNvPr id="868" name="Google Shape;868;p76"/>
          <p:cNvPicPr preferRelativeResize="0"/>
          <p:nvPr/>
        </p:nvPicPr>
        <p:blipFill rotWithShape="1">
          <a:blip r:embed="rId3">
            <a:alphaModFix/>
          </a:blip>
          <a:srcRect b="40227" l="55329" r="1481" t="11561"/>
          <a:stretch/>
        </p:blipFill>
        <p:spPr>
          <a:xfrm>
            <a:off x="6065330" y="951725"/>
            <a:ext cx="2403950" cy="1309900"/>
          </a:xfrm>
          <a:prstGeom prst="rect">
            <a:avLst/>
          </a:prstGeom>
          <a:noFill/>
          <a:ln>
            <a:noFill/>
          </a:ln>
        </p:spPr>
      </p:pic>
      <p:cxnSp>
        <p:nvCxnSpPr>
          <p:cNvPr id="869" name="Google Shape;869;p76"/>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cxnSp>
        <p:nvCxnSpPr>
          <p:cNvPr id="870" name="Google Shape;870;p76"/>
          <p:cNvCxnSpPr/>
          <p:nvPr/>
        </p:nvCxnSpPr>
        <p:spPr>
          <a:xfrm>
            <a:off x="3435000" y="1627500"/>
            <a:ext cx="2339400" cy="0"/>
          </a:xfrm>
          <a:prstGeom prst="straightConnector1">
            <a:avLst/>
          </a:prstGeom>
          <a:noFill/>
          <a:ln cap="flat" cmpd="sng" w="38100">
            <a:solidFill>
              <a:schemeClr val="dk1"/>
            </a:solidFill>
            <a:prstDash val="solid"/>
            <a:round/>
            <a:headEnd len="sm" w="sm" type="none"/>
            <a:tailEnd len="med" w="med" type="triangle"/>
          </a:ln>
        </p:spPr>
      </p:cxnSp>
      <p:sp>
        <p:nvSpPr>
          <p:cNvPr id="871" name="Google Shape;871;p76"/>
          <p:cNvSpPr txBox="1"/>
          <p:nvPr>
            <p:ph idx="1" type="body"/>
          </p:nvPr>
        </p:nvSpPr>
        <p:spPr>
          <a:xfrm>
            <a:off x="3435002" y="1689325"/>
            <a:ext cx="23394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half a circle</a:t>
            </a:r>
            <a:endParaRPr sz="1800"/>
          </a:p>
        </p:txBody>
      </p:sp>
      <p:cxnSp>
        <p:nvCxnSpPr>
          <p:cNvPr id="872" name="Google Shape;872;p76"/>
          <p:cNvCxnSpPr/>
          <p:nvPr/>
        </p:nvCxnSpPr>
        <p:spPr>
          <a:xfrm>
            <a:off x="4050000" y="3523325"/>
            <a:ext cx="1724400" cy="0"/>
          </a:xfrm>
          <a:prstGeom prst="straightConnector1">
            <a:avLst/>
          </a:prstGeom>
          <a:noFill/>
          <a:ln cap="flat" cmpd="sng" w="38100">
            <a:solidFill>
              <a:schemeClr val="dk1"/>
            </a:solidFill>
            <a:prstDash val="solid"/>
            <a:round/>
            <a:headEnd len="sm" w="sm" type="none"/>
            <a:tailEnd len="med" w="med" type="triangle"/>
          </a:ln>
        </p:spPr>
      </p:cxnSp>
      <p:sp>
        <p:nvSpPr>
          <p:cNvPr id="873" name="Google Shape;873;p76"/>
          <p:cNvSpPr txBox="1"/>
          <p:nvPr>
            <p:ph idx="1" type="body"/>
          </p:nvPr>
        </p:nvSpPr>
        <p:spPr>
          <a:xfrm>
            <a:off x="4050002" y="3585150"/>
            <a:ext cx="17244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half the area</a:t>
            </a:r>
            <a:endParaRPr sz="1800"/>
          </a:p>
        </p:txBody>
      </p:sp>
      <p:sp>
        <p:nvSpPr>
          <p:cNvPr id="874" name="Google Shape;874;p76"/>
          <p:cNvSpPr txBox="1"/>
          <p:nvPr>
            <p:ph idx="1" type="body"/>
          </p:nvPr>
        </p:nvSpPr>
        <p:spPr>
          <a:xfrm>
            <a:off x="5356925" y="4337075"/>
            <a:ext cx="2796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162π = 508.9 cm²</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 \times&quot;&gt;&lt;mfrac&gt;&lt;mn&gt;1&lt;/mn&gt;&lt;mn&gt;2&lt;/mn&gt;&lt;/mfrac&gt;&lt;mtext&gt;&lt;/mtext&gt;&lt;mo&gt;×&lt;/mo&gt;&lt;/math&gt;" id="875" name="Google Shape;875;p76" title="one half times"/>
          <p:cNvPicPr preferRelativeResize="0"/>
          <p:nvPr/>
        </p:nvPicPr>
        <p:blipFill rotWithShape="1">
          <a:blip r:embed="rId4">
            <a:alphaModFix/>
          </a:blip>
          <a:srcRect b="0" l="0" r="0" t="0"/>
          <a:stretch/>
        </p:blipFill>
        <p:spPr>
          <a:xfrm>
            <a:off x="6914963" y="3295750"/>
            <a:ext cx="333960" cy="435600"/>
          </a:xfrm>
          <a:prstGeom prst="rect">
            <a:avLst/>
          </a:prstGeom>
          <a:noFill/>
          <a:ln>
            <a:noFill/>
          </a:ln>
        </p:spPr>
      </p:pic>
      <p:pic>
        <p:nvPicPr>
          <p:cNvPr descr="&lt;math xmlns=&quot;http://www.w3.org/1998/Math/MathML&quot; display=&quot;block&quot; data-is-equatio=&quot;1&quot; data-latex=&quot;\frac{1}{2}\ \times&quot;&gt;&lt;mfrac&gt;&lt;mn&gt;1&lt;/mn&gt;&lt;mn&gt;2&lt;/mn&gt;&lt;/mfrac&gt;&lt;mtext&gt;&lt;/mtext&gt;&lt;mo&gt;×&lt;/mo&gt;&lt;/math&gt;" id="876" name="Google Shape;876;p76" title="one half times"/>
          <p:cNvPicPr preferRelativeResize="0"/>
          <p:nvPr/>
        </p:nvPicPr>
        <p:blipFill rotWithShape="1">
          <a:blip r:embed="rId4">
            <a:alphaModFix/>
          </a:blip>
          <a:srcRect b="0" l="0" r="0" t="0"/>
          <a:stretch/>
        </p:blipFill>
        <p:spPr>
          <a:xfrm>
            <a:off x="6914234" y="3785350"/>
            <a:ext cx="335412" cy="435600"/>
          </a:xfrm>
          <a:prstGeom prst="rect">
            <a:avLst/>
          </a:prstGeom>
          <a:noFill/>
          <a:ln>
            <a:noFill/>
          </a:ln>
        </p:spPr>
      </p:pic>
      <p:sp>
        <p:nvSpPr>
          <p:cNvPr id="877" name="Google Shape;877;p76"/>
          <p:cNvSpPr txBox="1"/>
          <p:nvPr>
            <p:ph idx="1" type="body"/>
          </p:nvPr>
        </p:nvSpPr>
        <p:spPr>
          <a:xfrm>
            <a:off x="7298610" y="3354625"/>
            <a:ext cx="7491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a:latin typeface="Times New Roman"/>
                <a:ea typeface="Times New Roman"/>
                <a:cs typeface="Times New Roman"/>
                <a:sym typeface="Times New Roman"/>
              </a:rPr>
              <a:t> π × r²</a:t>
            </a:r>
            <a:endParaRPr>
              <a:latin typeface="Times New Roman"/>
              <a:ea typeface="Times New Roman"/>
              <a:cs typeface="Times New Roman"/>
              <a:sym typeface="Times New Roman"/>
            </a:endParaRPr>
          </a:p>
        </p:txBody>
      </p:sp>
      <p:sp>
        <p:nvSpPr>
          <p:cNvPr id="878" name="Google Shape;878;p76"/>
          <p:cNvSpPr txBox="1"/>
          <p:nvPr>
            <p:ph idx="1" type="body"/>
          </p:nvPr>
        </p:nvSpPr>
        <p:spPr>
          <a:xfrm>
            <a:off x="7209847" y="2227132"/>
            <a:ext cx="13011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18 cm</a:t>
            </a:r>
            <a:endParaRPr sz="1800"/>
          </a:p>
        </p:txBody>
      </p:sp>
      <p:sp>
        <p:nvSpPr>
          <p:cNvPr id="879" name="Google Shape;879;p76"/>
          <p:cNvSpPr txBox="1"/>
          <p:nvPr>
            <p:ph idx="1" type="body"/>
          </p:nvPr>
        </p:nvSpPr>
        <p:spPr>
          <a:xfrm>
            <a:off x="2054322" y="2227132"/>
            <a:ext cx="13011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18 cm</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77"/>
          <p:cNvSpPr txBox="1"/>
          <p:nvPr>
            <p:ph idx="1" type="body"/>
          </p:nvPr>
        </p:nvSpPr>
        <p:spPr>
          <a:xfrm>
            <a:off x="4797000" y="2584525"/>
            <a:ext cx="24714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r²</a:t>
            </a:r>
            <a:endParaRPr>
              <a:latin typeface="Times New Roman"/>
              <a:ea typeface="Times New Roman"/>
              <a:cs typeface="Times New Roman"/>
              <a:sym typeface="Times New Roman"/>
            </a:endParaRPr>
          </a:p>
        </p:txBody>
      </p:sp>
      <p:sp>
        <p:nvSpPr>
          <p:cNvPr id="885" name="Google Shape;885;p77"/>
          <p:cNvSpPr txBox="1"/>
          <p:nvPr>
            <p:ph idx="1" type="body"/>
          </p:nvPr>
        </p:nvSpPr>
        <p:spPr>
          <a:xfrm>
            <a:off x="4797000" y="3159600"/>
            <a:ext cx="27129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18²</a:t>
            </a:r>
            <a:endParaRPr>
              <a:latin typeface="Times New Roman"/>
              <a:ea typeface="Times New Roman"/>
              <a:cs typeface="Times New Roman"/>
              <a:sym typeface="Times New Roman"/>
            </a:endParaRPr>
          </a:p>
        </p:txBody>
      </p:sp>
      <p:sp>
        <p:nvSpPr>
          <p:cNvPr id="886" name="Google Shape;886;p7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pic>
        <p:nvPicPr>
          <p:cNvPr id="887" name="Google Shape;887;p77"/>
          <p:cNvPicPr preferRelativeResize="0"/>
          <p:nvPr/>
        </p:nvPicPr>
        <p:blipFill rotWithShape="1">
          <a:blip r:embed="rId3">
            <a:alphaModFix/>
          </a:blip>
          <a:srcRect b="40227" l="55329" r="1481" t="11561"/>
          <a:stretch/>
        </p:blipFill>
        <p:spPr>
          <a:xfrm>
            <a:off x="6065330" y="951725"/>
            <a:ext cx="2403950" cy="1309900"/>
          </a:xfrm>
          <a:prstGeom prst="rect">
            <a:avLst/>
          </a:prstGeom>
          <a:noFill/>
          <a:ln>
            <a:noFill/>
          </a:ln>
        </p:spPr>
      </p:pic>
      <p:cxnSp>
        <p:nvCxnSpPr>
          <p:cNvPr id="888" name="Google Shape;888;p77"/>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sp>
        <p:nvSpPr>
          <p:cNvPr id="889" name="Google Shape;889;p77"/>
          <p:cNvSpPr txBox="1"/>
          <p:nvPr>
            <p:ph idx="1" type="body"/>
          </p:nvPr>
        </p:nvSpPr>
        <p:spPr>
          <a:xfrm>
            <a:off x="4824000" y="4337075"/>
            <a:ext cx="3687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162 π = 508.9 cm² </a:t>
            </a:r>
            <a:r>
              <a:rPr lang="en-GB" sz="1800">
                <a:latin typeface="Times New Roman"/>
                <a:ea typeface="Times New Roman"/>
                <a:cs typeface="Times New Roman"/>
                <a:sym typeface="Times New Roman"/>
              </a:rPr>
              <a:t>(1d.p.)</a:t>
            </a:r>
            <a:endParaRPr sz="1800">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 \times&quot;&gt;&lt;mfrac&gt;&lt;mn&gt;1&lt;/mn&gt;&lt;mn&gt;2&lt;/mn&gt;&lt;/mfrac&gt;&lt;mtext&gt;&lt;/mtext&gt;&lt;mo&gt;×&lt;/mo&gt;&lt;/math&gt;" id="890" name="Google Shape;890;p77" title="one half times"/>
          <p:cNvPicPr preferRelativeResize="0"/>
          <p:nvPr/>
        </p:nvPicPr>
        <p:blipFill rotWithShape="1">
          <a:blip r:embed="rId4">
            <a:alphaModFix/>
          </a:blip>
          <a:srcRect b="0" l="0" r="0" t="0"/>
          <a:stretch/>
        </p:blipFill>
        <p:spPr>
          <a:xfrm>
            <a:off x="5771963" y="2525650"/>
            <a:ext cx="333960" cy="435600"/>
          </a:xfrm>
          <a:prstGeom prst="rect">
            <a:avLst/>
          </a:prstGeom>
          <a:noFill/>
          <a:ln>
            <a:noFill/>
          </a:ln>
        </p:spPr>
      </p:pic>
      <p:pic>
        <p:nvPicPr>
          <p:cNvPr descr="&lt;math xmlns=&quot;http://www.w3.org/1998/Math/MathML&quot; display=&quot;block&quot; data-is-equatio=&quot;1&quot; data-latex=&quot;\frac{1}{2}\ \times&quot;&gt;&lt;mfrac&gt;&lt;mn&gt;1&lt;/mn&gt;&lt;mn&gt;2&lt;/mn&gt;&lt;/mfrac&gt;&lt;mtext&gt;&lt;/mtext&gt;&lt;mo&gt;×&lt;/mo&gt;&lt;/math&gt;" id="891" name="Google Shape;891;p77" title="one half times"/>
          <p:cNvPicPr preferRelativeResize="0"/>
          <p:nvPr/>
        </p:nvPicPr>
        <p:blipFill rotWithShape="1">
          <a:blip r:embed="rId4">
            <a:alphaModFix/>
          </a:blip>
          <a:srcRect b="0" l="0" r="0" t="0"/>
          <a:stretch/>
        </p:blipFill>
        <p:spPr>
          <a:xfrm>
            <a:off x="5771234" y="3099100"/>
            <a:ext cx="335412" cy="435600"/>
          </a:xfrm>
          <a:prstGeom prst="rect">
            <a:avLst/>
          </a:prstGeom>
          <a:noFill/>
          <a:ln>
            <a:noFill/>
          </a:ln>
        </p:spPr>
      </p:pic>
      <p:pic>
        <p:nvPicPr>
          <p:cNvPr id="892" name="Google Shape;892;p77"/>
          <p:cNvPicPr preferRelativeResize="0"/>
          <p:nvPr/>
        </p:nvPicPr>
        <p:blipFill rotWithShape="1">
          <a:blip r:embed="rId5">
            <a:alphaModFix/>
          </a:blip>
          <a:srcRect b="0" l="0" r="0" t="0"/>
          <a:stretch/>
        </p:blipFill>
        <p:spPr>
          <a:xfrm>
            <a:off x="324012" y="3123012"/>
            <a:ext cx="727174" cy="909325"/>
          </a:xfrm>
          <a:prstGeom prst="rect">
            <a:avLst/>
          </a:prstGeom>
          <a:noFill/>
          <a:ln>
            <a:noFill/>
          </a:ln>
        </p:spPr>
      </p:pic>
      <p:pic>
        <p:nvPicPr>
          <p:cNvPr id="893" name="Google Shape;893;p77"/>
          <p:cNvPicPr preferRelativeResize="0"/>
          <p:nvPr/>
        </p:nvPicPr>
        <p:blipFill rotWithShape="1">
          <a:blip r:embed="rId6">
            <a:alphaModFix/>
          </a:blip>
          <a:srcRect b="6171" l="40550" r="0" t="13239"/>
          <a:stretch/>
        </p:blipFill>
        <p:spPr>
          <a:xfrm>
            <a:off x="703925" y="1111150"/>
            <a:ext cx="3759498" cy="2426200"/>
          </a:xfrm>
          <a:prstGeom prst="rect">
            <a:avLst/>
          </a:prstGeom>
          <a:noFill/>
          <a:ln>
            <a:noFill/>
          </a:ln>
        </p:spPr>
      </p:pic>
      <p:sp>
        <p:nvSpPr>
          <p:cNvPr id="894" name="Google Shape;894;p77"/>
          <p:cNvSpPr txBox="1"/>
          <p:nvPr/>
        </p:nvSpPr>
        <p:spPr>
          <a:xfrm>
            <a:off x="1017400" y="1189950"/>
            <a:ext cx="3333600" cy="1933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I need to be careful with my order of operations!</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I need to square the radius (18) first before multiplying the result by a half!</a:t>
            </a:r>
            <a:endParaRPr b="0" i="0" sz="1800" u="none" cap="none" strike="noStrike">
              <a:solidFill>
                <a:srgbClr val="000000"/>
              </a:solidFill>
              <a:latin typeface="Lexend"/>
              <a:ea typeface="Lexend"/>
              <a:cs typeface="Lexend"/>
              <a:sym typeface="Lexend"/>
            </a:endParaRPr>
          </a:p>
        </p:txBody>
      </p:sp>
      <p:sp>
        <p:nvSpPr>
          <p:cNvPr id="895" name="Google Shape;895;p77"/>
          <p:cNvSpPr txBox="1"/>
          <p:nvPr>
            <p:ph idx="1" type="body"/>
          </p:nvPr>
        </p:nvSpPr>
        <p:spPr>
          <a:xfrm>
            <a:off x="4797000" y="3733050"/>
            <a:ext cx="27129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324</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 \times&quot;&gt;&lt;mfrac&gt;&lt;mn&gt;1&lt;/mn&gt;&lt;mn&gt;2&lt;/mn&gt;&lt;/mfrac&gt;&lt;mtext&gt;&lt;/mtext&gt;&lt;mo&gt;×&lt;/mo&gt;&lt;/math&gt;" id="896" name="Google Shape;896;p77" title="one half times"/>
          <p:cNvPicPr preferRelativeResize="0"/>
          <p:nvPr/>
        </p:nvPicPr>
        <p:blipFill rotWithShape="1">
          <a:blip r:embed="rId4">
            <a:alphaModFix/>
          </a:blip>
          <a:srcRect b="0" l="0" r="0" t="0"/>
          <a:stretch/>
        </p:blipFill>
        <p:spPr>
          <a:xfrm>
            <a:off x="5771234" y="3672550"/>
            <a:ext cx="335412" cy="435600"/>
          </a:xfrm>
          <a:prstGeom prst="rect">
            <a:avLst/>
          </a:prstGeom>
          <a:noFill/>
          <a:ln>
            <a:noFill/>
          </a:ln>
        </p:spPr>
      </p:pic>
      <p:sp>
        <p:nvSpPr>
          <p:cNvPr id="897" name="Google Shape;897;p77"/>
          <p:cNvSpPr/>
          <p:nvPr/>
        </p:nvSpPr>
        <p:spPr>
          <a:xfrm>
            <a:off x="5743011" y="3638600"/>
            <a:ext cx="385800" cy="508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898" name="Google Shape;898;p77"/>
          <p:cNvSpPr/>
          <p:nvPr/>
        </p:nvSpPr>
        <p:spPr>
          <a:xfrm>
            <a:off x="6558125" y="3747180"/>
            <a:ext cx="501000" cy="319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899" name="Google Shape;899;p77"/>
          <p:cNvSpPr/>
          <p:nvPr/>
        </p:nvSpPr>
        <p:spPr>
          <a:xfrm>
            <a:off x="5624564" y="4346075"/>
            <a:ext cx="456300" cy="3387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00" name="Google Shape;900;p77"/>
          <p:cNvSpPr/>
          <p:nvPr/>
        </p:nvSpPr>
        <p:spPr>
          <a:xfrm>
            <a:off x="6558125" y="3168243"/>
            <a:ext cx="501000" cy="319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01" name="Google Shape;901;p77"/>
          <p:cNvSpPr/>
          <p:nvPr/>
        </p:nvSpPr>
        <p:spPr>
          <a:xfrm>
            <a:off x="6558125" y="3746381"/>
            <a:ext cx="501000" cy="319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02" name="Google Shape;902;p77"/>
          <p:cNvSpPr txBox="1"/>
          <p:nvPr>
            <p:ph idx="1" type="body"/>
          </p:nvPr>
        </p:nvSpPr>
        <p:spPr>
          <a:xfrm>
            <a:off x="7209847" y="2227132"/>
            <a:ext cx="13011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18 cm</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p78"/>
          <p:cNvPicPr preferRelativeResize="0"/>
          <p:nvPr/>
        </p:nvPicPr>
        <p:blipFill rotWithShape="1">
          <a:blip r:embed="rId3">
            <a:alphaModFix/>
          </a:blip>
          <a:srcRect b="42580" l="0" r="62916" t="0"/>
          <a:stretch/>
        </p:blipFill>
        <p:spPr>
          <a:xfrm rot="7200001">
            <a:off x="1600150" y="2904462"/>
            <a:ext cx="1594950" cy="1165124"/>
          </a:xfrm>
          <a:prstGeom prst="rect">
            <a:avLst/>
          </a:prstGeom>
          <a:noFill/>
          <a:ln>
            <a:noFill/>
          </a:ln>
        </p:spPr>
      </p:pic>
      <p:pic>
        <p:nvPicPr>
          <p:cNvPr id="908" name="Google Shape;908;p78"/>
          <p:cNvPicPr preferRelativeResize="0"/>
          <p:nvPr/>
        </p:nvPicPr>
        <p:blipFill rotWithShape="1">
          <a:blip r:embed="rId3">
            <a:alphaModFix/>
          </a:blip>
          <a:srcRect b="42580" l="0" r="62916" t="0"/>
          <a:stretch/>
        </p:blipFill>
        <p:spPr>
          <a:xfrm rot="-7200003">
            <a:off x="814581" y="2399704"/>
            <a:ext cx="1594949" cy="1165125"/>
          </a:xfrm>
          <a:prstGeom prst="rect">
            <a:avLst/>
          </a:prstGeom>
          <a:noFill/>
          <a:ln>
            <a:noFill/>
          </a:ln>
        </p:spPr>
      </p:pic>
      <p:pic>
        <p:nvPicPr>
          <p:cNvPr id="909" name="Google Shape;909;p78"/>
          <p:cNvPicPr preferRelativeResize="0"/>
          <p:nvPr/>
        </p:nvPicPr>
        <p:blipFill rotWithShape="1">
          <a:blip r:embed="rId3">
            <a:alphaModFix/>
          </a:blip>
          <a:srcRect b="42580" l="0" r="62916" t="0"/>
          <a:stretch/>
        </p:blipFill>
        <p:spPr>
          <a:xfrm>
            <a:off x="1645695" y="1971153"/>
            <a:ext cx="1594951" cy="1165125"/>
          </a:xfrm>
          <a:prstGeom prst="rect">
            <a:avLst/>
          </a:prstGeom>
          <a:noFill/>
          <a:ln>
            <a:noFill/>
          </a:ln>
        </p:spPr>
      </p:pic>
      <p:pic>
        <p:nvPicPr>
          <p:cNvPr id="910" name="Google Shape;910;p78"/>
          <p:cNvPicPr preferRelativeResize="0"/>
          <p:nvPr/>
        </p:nvPicPr>
        <p:blipFill rotWithShape="1">
          <a:blip r:embed="rId3">
            <a:alphaModFix/>
          </a:blip>
          <a:srcRect b="0" l="52359" r="0" t="0"/>
          <a:stretch/>
        </p:blipFill>
        <p:spPr>
          <a:xfrm>
            <a:off x="1102147" y="1973561"/>
            <a:ext cx="2048900" cy="2029175"/>
          </a:xfrm>
          <a:prstGeom prst="rect">
            <a:avLst/>
          </a:prstGeom>
          <a:noFill/>
          <a:ln>
            <a:noFill/>
          </a:ln>
        </p:spPr>
      </p:pic>
      <p:sp>
        <p:nvSpPr>
          <p:cNvPr id="911" name="Google Shape;911;p78"/>
          <p:cNvSpPr txBox="1"/>
          <p:nvPr>
            <p:ph idx="1" type="body"/>
          </p:nvPr>
        </p:nvSpPr>
        <p:spPr>
          <a:xfrm>
            <a:off x="324000" y="713925"/>
            <a:ext cx="39960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Each of these three </a:t>
            </a:r>
            <a:r>
              <a:rPr b="1" lang="en-GB" sz="1800"/>
              <a:t>sectors</a:t>
            </a:r>
            <a:r>
              <a:rPr lang="en-GB" sz="1800"/>
              <a:t> are congruent to each other, and fit perfectly inside this circle with a radius of 6 cm.</a:t>
            </a:r>
            <a:endParaRPr sz="1800"/>
          </a:p>
        </p:txBody>
      </p:sp>
      <p:sp>
        <p:nvSpPr>
          <p:cNvPr id="912" name="Google Shape;912;p7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sp>
        <p:nvSpPr>
          <p:cNvPr id="913" name="Google Shape;913;p78"/>
          <p:cNvSpPr txBox="1"/>
          <p:nvPr>
            <p:ph idx="1" type="body"/>
          </p:nvPr>
        </p:nvSpPr>
        <p:spPr>
          <a:xfrm>
            <a:off x="4734000" y="1171125"/>
            <a:ext cx="3996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What angles and fractions describe each sector in relation to the whole circle?</a:t>
            </a:r>
            <a:endParaRPr sz="1800"/>
          </a:p>
        </p:txBody>
      </p:sp>
      <p:sp>
        <p:nvSpPr>
          <p:cNvPr id="914" name="Google Shape;914;p78"/>
          <p:cNvSpPr txBox="1"/>
          <p:nvPr>
            <p:ph idx="1" type="body"/>
          </p:nvPr>
        </p:nvSpPr>
        <p:spPr>
          <a:xfrm>
            <a:off x="4733900" y="2262150"/>
            <a:ext cx="39960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each </a:t>
            </a:r>
            <a:r>
              <a:rPr b="1" lang="en-GB" sz="2000">
                <a:latin typeface="Kalam"/>
                <a:ea typeface="Kalam"/>
                <a:cs typeface="Kalam"/>
                <a:sym typeface="Kalam"/>
              </a:rPr>
              <a:t>sector</a:t>
            </a:r>
            <a:r>
              <a:rPr lang="en-GB" sz="2000">
                <a:latin typeface="Kalam"/>
                <a:ea typeface="Kalam"/>
                <a:cs typeface="Kalam"/>
                <a:sym typeface="Kalam"/>
              </a:rPr>
              <a:t> is   of a full circle</a:t>
            </a:r>
            <a:endParaRPr sz="2000">
              <a:latin typeface="Kalam"/>
              <a:ea typeface="Kalam"/>
              <a:cs typeface="Kalam"/>
              <a:sym typeface="Kalam"/>
            </a:endParaRPr>
          </a:p>
        </p:txBody>
      </p:sp>
      <p:sp>
        <p:nvSpPr>
          <p:cNvPr id="915" name="Google Shape;915;p78"/>
          <p:cNvSpPr txBox="1"/>
          <p:nvPr>
            <p:ph idx="1" type="body"/>
          </p:nvPr>
        </p:nvSpPr>
        <p:spPr>
          <a:xfrm>
            <a:off x="4733900" y="3931296"/>
            <a:ext cx="39960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each </a:t>
            </a:r>
            <a:r>
              <a:rPr b="1" lang="en-GB" sz="2000">
                <a:latin typeface="Kalam"/>
                <a:ea typeface="Kalam"/>
                <a:cs typeface="Kalam"/>
                <a:sym typeface="Kalam"/>
              </a:rPr>
              <a:t>sector</a:t>
            </a:r>
            <a:r>
              <a:rPr lang="en-GB" sz="2000">
                <a:latin typeface="Kalam"/>
                <a:ea typeface="Kalam"/>
                <a:cs typeface="Kalam"/>
                <a:sym typeface="Kalam"/>
              </a:rPr>
              <a:t> represents     of a full circle</a:t>
            </a:r>
            <a:endParaRPr sz="2000">
              <a:latin typeface="Kalam"/>
              <a:ea typeface="Kalam"/>
              <a:cs typeface="Kalam"/>
              <a:sym typeface="Kalam"/>
            </a:endParaRPr>
          </a:p>
        </p:txBody>
      </p:sp>
      <p:pic>
        <p:nvPicPr>
          <p:cNvPr descr="&lt;math xmlns=&quot;http://www.w3.org/1998/Math/MathML&quot; display=&quot;block&quot; data-is-equatio=&quot;1&quot; data-latex=&quot;\frac{1}{3}&quot;&gt;&lt;mfrac&gt;&lt;mn&gt;1&lt;/mn&gt;&lt;mn&gt;3&lt;/mn&gt;&lt;/mfrac&gt;&lt;/math&gt;" id="916" name="Google Shape;916;p78" title="one third"/>
          <p:cNvPicPr preferRelativeResize="0"/>
          <p:nvPr/>
        </p:nvPicPr>
        <p:blipFill rotWithShape="1">
          <a:blip r:embed="rId4">
            <a:alphaModFix/>
          </a:blip>
          <a:srcRect b="0" l="0" r="0" t="0"/>
          <a:stretch/>
        </p:blipFill>
        <p:spPr>
          <a:xfrm>
            <a:off x="6366135" y="2185962"/>
            <a:ext cx="130680" cy="435600"/>
          </a:xfrm>
          <a:prstGeom prst="rect">
            <a:avLst/>
          </a:prstGeom>
          <a:noFill/>
          <a:ln>
            <a:noFill/>
          </a:ln>
        </p:spPr>
      </p:pic>
      <p:sp>
        <p:nvSpPr>
          <p:cNvPr id="917" name="Google Shape;917;p78"/>
          <p:cNvSpPr txBox="1"/>
          <p:nvPr>
            <p:ph idx="1" type="body"/>
          </p:nvPr>
        </p:nvSpPr>
        <p:spPr>
          <a:xfrm>
            <a:off x="4733900" y="2919725"/>
            <a:ext cx="40860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each </a:t>
            </a:r>
            <a:r>
              <a:rPr b="1" lang="en-GB" sz="2000">
                <a:latin typeface="Kalam"/>
                <a:ea typeface="Kalam"/>
                <a:cs typeface="Kalam"/>
                <a:sym typeface="Kalam"/>
              </a:rPr>
              <a:t>sector</a:t>
            </a:r>
            <a:r>
              <a:rPr lang="en-GB" sz="2000">
                <a:latin typeface="Kalam"/>
                <a:ea typeface="Kalam"/>
                <a:cs typeface="Kalam"/>
                <a:sym typeface="Kalam"/>
              </a:rPr>
              <a:t> has an angle of 360 ÷ 3 = 120°</a:t>
            </a:r>
            <a:endParaRPr sz="2000">
              <a:latin typeface="Kalam"/>
              <a:ea typeface="Kalam"/>
              <a:cs typeface="Kalam"/>
              <a:sym typeface="Kalam"/>
            </a:endParaRPr>
          </a:p>
        </p:txBody>
      </p:sp>
      <p:pic>
        <p:nvPicPr>
          <p:cNvPr descr="&lt;math xmlns=&quot;http://www.w3.org/1998/Math/MathML&quot; display=&quot;block&quot; data-is-equatio=&quot;1&quot; data-latex=&quot;\frac{120}{360}&quot;&gt;&lt;mfrac&gt;&lt;mn&gt;120&lt;/mn&gt;&lt;mn&gt;360&lt;/mn&gt;&lt;/mfrac&gt;&lt;/math&gt;" id="918" name="Google Shape;918;p78" title="120 over 360"/>
          <p:cNvPicPr preferRelativeResize="0"/>
          <p:nvPr/>
        </p:nvPicPr>
        <p:blipFill rotWithShape="1">
          <a:blip r:embed="rId5">
            <a:alphaModFix/>
          </a:blip>
          <a:srcRect b="0" l="0" r="0" t="0"/>
          <a:stretch/>
        </p:blipFill>
        <p:spPr>
          <a:xfrm>
            <a:off x="7300871" y="3867388"/>
            <a:ext cx="339768" cy="435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pic>
        <p:nvPicPr>
          <p:cNvPr id="923" name="Google Shape;923;p79"/>
          <p:cNvPicPr preferRelativeResize="0"/>
          <p:nvPr/>
        </p:nvPicPr>
        <p:blipFill rotWithShape="1">
          <a:blip r:embed="rId3">
            <a:alphaModFix/>
          </a:blip>
          <a:srcRect b="42580" l="0" r="62916" t="0"/>
          <a:stretch/>
        </p:blipFill>
        <p:spPr>
          <a:xfrm rot="7200001">
            <a:off x="1600150" y="2039228"/>
            <a:ext cx="1594950" cy="1165124"/>
          </a:xfrm>
          <a:prstGeom prst="rect">
            <a:avLst/>
          </a:prstGeom>
          <a:noFill/>
          <a:ln>
            <a:noFill/>
          </a:ln>
        </p:spPr>
      </p:pic>
      <p:pic>
        <p:nvPicPr>
          <p:cNvPr id="924" name="Google Shape;924;p79"/>
          <p:cNvPicPr preferRelativeResize="0"/>
          <p:nvPr/>
        </p:nvPicPr>
        <p:blipFill rotWithShape="1">
          <a:blip r:embed="rId3">
            <a:alphaModFix/>
          </a:blip>
          <a:srcRect b="42580" l="0" r="62916" t="0"/>
          <a:stretch/>
        </p:blipFill>
        <p:spPr>
          <a:xfrm rot="-7200003">
            <a:off x="814581" y="1534470"/>
            <a:ext cx="1594949" cy="1165125"/>
          </a:xfrm>
          <a:prstGeom prst="rect">
            <a:avLst/>
          </a:prstGeom>
          <a:noFill/>
          <a:ln>
            <a:noFill/>
          </a:ln>
        </p:spPr>
      </p:pic>
      <p:pic>
        <p:nvPicPr>
          <p:cNvPr id="925" name="Google Shape;925;p79"/>
          <p:cNvPicPr preferRelativeResize="0"/>
          <p:nvPr/>
        </p:nvPicPr>
        <p:blipFill rotWithShape="1">
          <a:blip r:embed="rId3">
            <a:alphaModFix/>
          </a:blip>
          <a:srcRect b="42580" l="0" r="62916" t="0"/>
          <a:stretch/>
        </p:blipFill>
        <p:spPr>
          <a:xfrm>
            <a:off x="1645695" y="1105919"/>
            <a:ext cx="1594951" cy="1165125"/>
          </a:xfrm>
          <a:prstGeom prst="rect">
            <a:avLst/>
          </a:prstGeom>
          <a:noFill/>
          <a:ln>
            <a:noFill/>
          </a:ln>
        </p:spPr>
      </p:pic>
      <p:pic>
        <p:nvPicPr>
          <p:cNvPr id="926" name="Google Shape;926;p79"/>
          <p:cNvPicPr preferRelativeResize="0"/>
          <p:nvPr/>
        </p:nvPicPr>
        <p:blipFill rotWithShape="1">
          <a:blip r:embed="rId3">
            <a:alphaModFix/>
          </a:blip>
          <a:srcRect b="0" l="52359" r="0" t="0"/>
          <a:stretch/>
        </p:blipFill>
        <p:spPr>
          <a:xfrm>
            <a:off x="1102147" y="1108327"/>
            <a:ext cx="2048900" cy="2029175"/>
          </a:xfrm>
          <a:prstGeom prst="rect">
            <a:avLst/>
          </a:prstGeom>
          <a:noFill/>
          <a:ln>
            <a:noFill/>
          </a:ln>
        </p:spPr>
      </p:pic>
      <p:grpSp>
        <p:nvGrpSpPr>
          <p:cNvPr id="927" name="Google Shape;927;p79"/>
          <p:cNvGrpSpPr/>
          <p:nvPr/>
        </p:nvGrpSpPr>
        <p:grpSpPr>
          <a:xfrm>
            <a:off x="2131225" y="2230828"/>
            <a:ext cx="935352" cy="320700"/>
            <a:chOff x="7309296" y="2202115"/>
            <a:chExt cx="1102230" cy="320700"/>
          </a:xfrm>
        </p:grpSpPr>
        <p:sp>
          <p:nvSpPr>
            <p:cNvPr id="928" name="Google Shape;928;p79"/>
            <p:cNvSpPr/>
            <p:nvPr/>
          </p:nvSpPr>
          <p:spPr>
            <a:xfrm>
              <a:off x="7309326" y="2202115"/>
              <a:ext cx="1102200" cy="320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Lexend"/>
                  <a:ea typeface="Lexend"/>
                  <a:cs typeface="Lexend"/>
                  <a:sym typeface="Lexend"/>
                </a:rPr>
                <a:t>r = 6 cm</a:t>
              </a:r>
              <a:endParaRPr b="0" i="0" sz="1600" u="none" cap="none" strike="noStrike">
                <a:solidFill>
                  <a:srgbClr val="000000"/>
                </a:solidFill>
                <a:latin typeface="Lexend"/>
                <a:ea typeface="Lexend"/>
                <a:cs typeface="Lexend"/>
                <a:sym typeface="Lexend"/>
              </a:endParaRPr>
            </a:p>
          </p:txBody>
        </p:sp>
        <p:cxnSp>
          <p:nvCxnSpPr>
            <p:cNvPr id="929" name="Google Shape;929;p79"/>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grpSp>
      <p:sp>
        <p:nvSpPr>
          <p:cNvPr id="930" name="Google Shape;930;p79"/>
          <p:cNvSpPr txBox="1"/>
          <p:nvPr>
            <p:ph idx="1" type="body"/>
          </p:nvPr>
        </p:nvSpPr>
        <p:spPr>
          <a:xfrm>
            <a:off x="324000" y="713925"/>
            <a:ext cx="3996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The area of the full circle is:</a:t>
            </a:r>
            <a:endParaRPr sz="1800"/>
          </a:p>
        </p:txBody>
      </p:sp>
      <p:sp>
        <p:nvSpPr>
          <p:cNvPr id="931" name="Google Shape;931;p7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sp>
        <p:nvSpPr>
          <p:cNvPr id="932" name="Google Shape;932;p79"/>
          <p:cNvSpPr txBox="1"/>
          <p:nvPr>
            <p:ph idx="1" type="body"/>
          </p:nvPr>
        </p:nvSpPr>
        <p:spPr>
          <a:xfrm>
            <a:off x="965624" y="3354625"/>
            <a:ext cx="2058600" cy="517578"/>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r²</a:t>
            </a:r>
            <a:endParaRPr>
              <a:latin typeface="Times New Roman"/>
              <a:ea typeface="Times New Roman"/>
              <a:cs typeface="Times New Roman"/>
              <a:sym typeface="Times New Roman"/>
            </a:endParaRPr>
          </a:p>
        </p:txBody>
      </p:sp>
      <p:sp>
        <p:nvSpPr>
          <p:cNvPr id="933" name="Google Shape;933;p79"/>
          <p:cNvSpPr txBox="1"/>
          <p:nvPr>
            <p:ph idx="1" type="body"/>
          </p:nvPr>
        </p:nvSpPr>
        <p:spPr>
          <a:xfrm>
            <a:off x="965626" y="3845850"/>
            <a:ext cx="2823300" cy="517578"/>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6²</a:t>
            </a:r>
            <a:endParaRPr>
              <a:latin typeface="Times New Roman"/>
              <a:ea typeface="Times New Roman"/>
              <a:cs typeface="Times New Roman"/>
              <a:sym typeface="Times New Roman"/>
            </a:endParaRPr>
          </a:p>
        </p:txBody>
      </p:sp>
      <p:sp>
        <p:nvSpPr>
          <p:cNvPr id="934" name="Google Shape;934;p79"/>
          <p:cNvSpPr txBox="1"/>
          <p:nvPr>
            <p:ph idx="1" type="body"/>
          </p:nvPr>
        </p:nvSpPr>
        <p:spPr>
          <a:xfrm>
            <a:off x="964746" y="4337075"/>
            <a:ext cx="3354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36π = 113.1 cm²</a:t>
            </a:r>
            <a:endParaRPr>
              <a:latin typeface="Times New Roman"/>
              <a:ea typeface="Times New Roman"/>
              <a:cs typeface="Times New Roman"/>
              <a:sym typeface="Times New Roman"/>
            </a:endParaRPr>
          </a:p>
        </p:txBody>
      </p:sp>
      <p:pic>
        <p:nvPicPr>
          <p:cNvPr id="935" name="Google Shape;935;p79"/>
          <p:cNvPicPr preferRelativeResize="0"/>
          <p:nvPr/>
        </p:nvPicPr>
        <p:blipFill rotWithShape="1">
          <a:blip r:embed="rId3">
            <a:alphaModFix/>
          </a:blip>
          <a:srcRect b="42580" l="0" r="62916" t="0"/>
          <a:stretch/>
        </p:blipFill>
        <p:spPr>
          <a:xfrm>
            <a:off x="6209845" y="1105919"/>
            <a:ext cx="1594951" cy="1165125"/>
          </a:xfrm>
          <a:prstGeom prst="rect">
            <a:avLst/>
          </a:prstGeom>
          <a:noFill/>
          <a:ln>
            <a:noFill/>
          </a:ln>
        </p:spPr>
      </p:pic>
      <p:grpSp>
        <p:nvGrpSpPr>
          <p:cNvPr id="936" name="Google Shape;936;p79"/>
          <p:cNvGrpSpPr/>
          <p:nvPr/>
        </p:nvGrpSpPr>
        <p:grpSpPr>
          <a:xfrm>
            <a:off x="6702420" y="2230828"/>
            <a:ext cx="935352" cy="320700"/>
            <a:chOff x="7309296" y="2202115"/>
            <a:chExt cx="1102230" cy="320700"/>
          </a:xfrm>
        </p:grpSpPr>
        <p:sp>
          <p:nvSpPr>
            <p:cNvPr id="937" name="Google Shape;937;p79"/>
            <p:cNvSpPr/>
            <p:nvPr/>
          </p:nvSpPr>
          <p:spPr>
            <a:xfrm>
              <a:off x="7309326" y="2202115"/>
              <a:ext cx="1102200" cy="320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Lexend"/>
                  <a:ea typeface="Lexend"/>
                  <a:cs typeface="Lexend"/>
                  <a:sym typeface="Lexend"/>
                </a:rPr>
                <a:t>r = 6 cm</a:t>
              </a:r>
              <a:endParaRPr b="0" i="0" sz="1600" u="none" cap="none" strike="noStrike">
                <a:solidFill>
                  <a:srgbClr val="000000"/>
                </a:solidFill>
                <a:latin typeface="Lexend"/>
                <a:ea typeface="Lexend"/>
                <a:cs typeface="Lexend"/>
                <a:sym typeface="Lexend"/>
              </a:endParaRPr>
            </a:p>
          </p:txBody>
        </p:sp>
        <p:cxnSp>
          <p:nvCxnSpPr>
            <p:cNvPr id="938" name="Google Shape;938;p79"/>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grpSp>
      <p:cxnSp>
        <p:nvCxnSpPr>
          <p:cNvPr id="939" name="Google Shape;939;p79"/>
          <p:cNvCxnSpPr/>
          <p:nvPr/>
        </p:nvCxnSpPr>
        <p:spPr>
          <a:xfrm>
            <a:off x="3788925" y="3523325"/>
            <a:ext cx="1724400" cy="0"/>
          </a:xfrm>
          <a:prstGeom prst="straightConnector1">
            <a:avLst/>
          </a:prstGeom>
          <a:noFill/>
          <a:ln cap="flat" cmpd="sng" w="38100">
            <a:solidFill>
              <a:schemeClr val="dk1"/>
            </a:solidFill>
            <a:prstDash val="solid"/>
            <a:round/>
            <a:headEnd len="sm" w="sm" type="none"/>
            <a:tailEnd len="med" w="med" type="triangle"/>
          </a:ln>
        </p:spPr>
      </p:cxnSp>
      <p:sp>
        <p:nvSpPr>
          <p:cNvPr id="940" name="Google Shape;940;p79"/>
          <p:cNvSpPr txBox="1"/>
          <p:nvPr>
            <p:ph idx="1" type="body"/>
          </p:nvPr>
        </p:nvSpPr>
        <p:spPr>
          <a:xfrm>
            <a:off x="3788927" y="3689611"/>
            <a:ext cx="17244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    the area</a:t>
            </a:r>
            <a:endParaRPr sz="1800"/>
          </a:p>
        </p:txBody>
      </p:sp>
      <p:pic>
        <p:nvPicPr>
          <p:cNvPr descr="&lt;math xmlns=&quot;http://www.w3.org/1998/Math/MathML&quot; display=&quot;block&quot; data-is-equatio=&quot;1&quot; data-latex=&quot;\frac{1}{3}&quot;&gt;&lt;mfrac&gt;&lt;mn&gt;1&lt;/mn&gt;&lt;mn&gt;3&lt;/mn&gt;&lt;/mfrac&gt;&lt;/math&gt;" id="941" name="Google Shape;941;p79" title="one third"/>
          <p:cNvPicPr preferRelativeResize="0"/>
          <p:nvPr/>
        </p:nvPicPr>
        <p:blipFill rotWithShape="1">
          <a:blip r:embed="rId4">
            <a:alphaModFix/>
          </a:blip>
          <a:srcRect b="0" l="0" r="0" t="0"/>
          <a:stretch/>
        </p:blipFill>
        <p:spPr>
          <a:xfrm>
            <a:off x="4092603" y="3638412"/>
            <a:ext cx="130680" cy="435600"/>
          </a:xfrm>
          <a:prstGeom prst="rect">
            <a:avLst/>
          </a:prstGeom>
          <a:noFill/>
          <a:ln>
            <a:noFill/>
          </a:ln>
        </p:spPr>
      </p:pic>
      <p:sp>
        <p:nvSpPr>
          <p:cNvPr id="942" name="Google Shape;942;p79"/>
          <p:cNvSpPr txBox="1"/>
          <p:nvPr>
            <p:ph idx="1" type="body"/>
          </p:nvPr>
        </p:nvSpPr>
        <p:spPr>
          <a:xfrm>
            <a:off x="5764700" y="713925"/>
            <a:ext cx="2409900" cy="277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One third of a circle.</a:t>
            </a:r>
            <a:endParaRPr sz="1800"/>
          </a:p>
        </p:txBody>
      </p:sp>
      <p:sp>
        <p:nvSpPr>
          <p:cNvPr id="943" name="Google Shape;943;p79"/>
          <p:cNvSpPr txBox="1"/>
          <p:nvPr>
            <p:ph idx="1" type="body"/>
          </p:nvPr>
        </p:nvSpPr>
        <p:spPr>
          <a:xfrm>
            <a:off x="5837473" y="3354625"/>
            <a:ext cx="20586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r²</a:t>
            </a:r>
            <a:endParaRPr>
              <a:latin typeface="Times New Roman"/>
              <a:ea typeface="Times New Roman"/>
              <a:cs typeface="Times New Roman"/>
              <a:sym typeface="Times New Roman"/>
            </a:endParaRPr>
          </a:p>
        </p:txBody>
      </p:sp>
      <p:sp>
        <p:nvSpPr>
          <p:cNvPr id="944" name="Google Shape;944;p79"/>
          <p:cNvSpPr txBox="1"/>
          <p:nvPr>
            <p:ph idx="1" type="body"/>
          </p:nvPr>
        </p:nvSpPr>
        <p:spPr>
          <a:xfrm>
            <a:off x="5837475" y="3845850"/>
            <a:ext cx="2823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6²</a:t>
            </a:r>
            <a:endParaRPr>
              <a:latin typeface="Times New Roman"/>
              <a:ea typeface="Times New Roman"/>
              <a:cs typeface="Times New Roman"/>
              <a:sym typeface="Times New Roman"/>
            </a:endParaRPr>
          </a:p>
        </p:txBody>
      </p:sp>
      <p:sp>
        <p:nvSpPr>
          <p:cNvPr id="945" name="Google Shape;945;p79"/>
          <p:cNvSpPr txBox="1"/>
          <p:nvPr>
            <p:ph idx="1" type="body"/>
          </p:nvPr>
        </p:nvSpPr>
        <p:spPr>
          <a:xfrm>
            <a:off x="5838361" y="4337075"/>
            <a:ext cx="3354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sz="1800"/>
              <a:t> </a:t>
            </a:r>
            <a:r>
              <a:rPr lang="en-GB">
                <a:latin typeface="Times New Roman"/>
                <a:ea typeface="Times New Roman"/>
                <a:cs typeface="Times New Roman"/>
                <a:sym typeface="Times New Roman"/>
              </a:rPr>
              <a:t>12π = 37.7 cm²</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3}&quot;&gt;&lt;mfrac&gt;&lt;mn&gt;1&lt;/mn&gt;&lt;mn&gt;3&lt;/mn&gt;&lt;/mfrac&gt;&lt;/math&gt;" id="946" name="Google Shape;946;p79" title="one third"/>
          <p:cNvPicPr preferRelativeResize="0"/>
          <p:nvPr/>
        </p:nvPicPr>
        <p:blipFill rotWithShape="1">
          <a:blip r:embed="rId4">
            <a:alphaModFix/>
          </a:blip>
          <a:srcRect b="0" l="0" r="0" t="0"/>
          <a:stretch/>
        </p:blipFill>
        <p:spPr>
          <a:xfrm>
            <a:off x="6746803" y="3306187"/>
            <a:ext cx="130680" cy="435600"/>
          </a:xfrm>
          <a:prstGeom prst="rect">
            <a:avLst/>
          </a:prstGeom>
          <a:noFill/>
          <a:ln>
            <a:noFill/>
          </a:ln>
        </p:spPr>
      </p:pic>
      <p:pic>
        <p:nvPicPr>
          <p:cNvPr descr="&lt;math xmlns=&quot;http://www.w3.org/1998/Math/MathML&quot; display=&quot;block&quot; data-is-equatio=&quot;1&quot; data-latex=&quot;\frac{1}{3}&quot;&gt;&lt;mfrac&gt;&lt;mn&gt;1&lt;/mn&gt;&lt;mn&gt;3&lt;/mn&gt;&lt;/mfrac&gt;&lt;/math&gt;" id="947" name="Google Shape;947;p79" title="one third"/>
          <p:cNvPicPr preferRelativeResize="0"/>
          <p:nvPr/>
        </p:nvPicPr>
        <p:blipFill rotWithShape="1">
          <a:blip r:embed="rId4">
            <a:alphaModFix/>
          </a:blip>
          <a:srcRect b="0" l="0" r="0" t="0"/>
          <a:stretch/>
        </p:blipFill>
        <p:spPr>
          <a:xfrm>
            <a:off x="6746803" y="3797412"/>
            <a:ext cx="130680" cy="435600"/>
          </a:xfrm>
          <a:prstGeom prst="rect">
            <a:avLst/>
          </a:prstGeom>
          <a:noFill/>
          <a:ln>
            <a:noFill/>
          </a:ln>
        </p:spPr>
      </p:pic>
      <p:pic>
        <p:nvPicPr>
          <p:cNvPr id="948" name="Google Shape;948;p79"/>
          <p:cNvPicPr preferRelativeResize="0"/>
          <p:nvPr/>
        </p:nvPicPr>
        <p:blipFill rotWithShape="1">
          <a:blip r:embed="rId3">
            <a:alphaModFix/>
          </a:blip>
          <a:srcRect b="42580" l="0" r="62916" t="0"/>
          <a:stretch/>
        </p:blipFill>
        <p:spPr>
          <a:xfrm>
            <a:off x="2747426" y="1105919"/>
            <a:ext cx="1594951" cy="1165125"/>
          </a:xfrm>
          <a:prstGeom prst="rect">
            <a:avLst/>
          </a:prstGeom>
          <a:noFill/>
          <a:ln>
            <a:noFill/>
          </a:ln>
        </p:spPr>
      </p:pic>
      <p:pic>
        <p:nvPicPr>
          <p:cNvPr id="949" name="Google Shape;949;p79"/>
          <p:cNvPicPr preferRelativeResize="0"/>
          <p:nvPr/>
        </p:nvPicPr>
        <p:blipFill rotWithShape="1">
          <a:blip r:embed="rId3">
            <a:alphaModFix/>
          </a:blip>
          <a:srcRect b="42580" l="0" r="62916" t="0"/>
          <a:stretch/>
        </p:blipFill>
        <p:spPr>
          <a:xfrm>
            <a:off x="3771699" y="1105919"/>
            <a:ext cx="1594951" cy="1165125"/>
          </a:xfrm>
          <a:prstGeom prst="rect">
            <a:avLst/>
          </a:prstGeom>
          <a:noFill/>
          <a:ln>
            <a:noFill/>
          </a:ln>
        </p:spPr>
      </p:pic>
      <p:pic>
        <p:nvPicPr>
          <p:cNvPr id="950" name="Google Shape;950;p79"/>
          <p:cNvPicPr preferRelativeResize="0"/>
          <p:nvPr/>
        </p:nvPicPr>
        <p:blipFill rotWithShape="1">
          <a:blip r:embed="rId3">
            <a:alphaModFix/>
          </a:blip>
          <a:srcRect b="42580" l="0" r="62916" t="0"/>
          <a:stretch/>
        </p:blipFill>
        <p:spPr>
          <a:xfrm>
            <a:off x="5002596" y="1105919"/>
            <a:ext cx="1594951" cy="1165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4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4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80"/>
          <p:cNvSpPr txBox="1"/>
          <p:nvPr>
            <p:ph idx="1" type="body"/>
          </p:nvPr>
        </p:nvSpPr>
        <p:spPr>
          <a:xfrm>
            <a:off x="3994454" y="3642689"/>
            <a:ext cx="16848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9π cm²</a:t>
            </a:r>
            <a:endParaRPr>
              <a:latin typeface="Times New Roman"/>
              <a:ea typeface="Times New Roman"/>
              <a:cs typeface="Times New Roman"/>
              <a:sym typeface="Times New Roman"/>
            </a:endParaRPr>
          </a:p>
        </p:txBody>
      </p:sp>
      <p:sp>
        <p:nvSpPr>
          <p:cNvPr id="956" name="Google Shape;956;p80"/>
          <p:cNvSpPr txBox="1"/>
          <p:nvPr/>
        </p:nvSpPr>
        <p:spPr>
          <a:xfrm>
            <a:off x="3781775" y="1816992"/>
            <a:ext cx="1518600" cy="320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radius</a:t>
            </a:r>
            <a:r>
              <a:rPr b="0" i="0" lang="en-GB" sz="2200" u="none" cap="none" strike="noStrike">
                <a:solidFill>
                  <a:srgbClr val="000000"/>
                </a:solidFill>
                <a:latin typeface="Times New Roman"/>
                <a:ea typeface="Times New Roman"/>
                <a:cs typeface="Times New Roman"/>
                <a:sym typeface="Times New Roman"/>
              </a:rPr>
              <a:t> = 12</a:t>
            </a:r>
            <a:endParaRPr b="1" i="0" sz="2200" u="none" cap="none" strike="noStrike">
              <a:solidFill>
                <a:srgbClr val="000000"/>
              </a:solidFill>
              <a:latin typeface="Times New Roman"/>
              <a:ea typeface="Times New Roman"/>
              <a:cs typeface="Times New Roman"/>
              <a:sym typeface="Times New Roman"/>
            </a:endParaRPr>
          </a:p>
        </p:txBody>
      </p:sp>
      <p:pic>
        <p:nvPicPr>
          <p:cNvPr id="957" name="Google Shape;957;p80"/>
          <p:cNvPicPr preferRelativeResize="0"/>
          <p:nvPr/>
        </p:nvPicPr>
        <p:blipFill rotWithShape="1">
          <a:blip r:embed="rId3">
            <a:alphaModFix/>
          </a:blip>
          <a:srcRect b="0" l="0" r="0" t="0"/>
          <a:stretch/>
        </p:blipFill>
        <p:spPr>
          <a:xfrm>
            <a:off x="1021438" y="1900250"/>
            <a:ext cx="1319218" cy="1313350"/>
          </a:xfrm>
          <a:prstGeom prst="rect">
            <a:avLst/>
          </a:prstGeom>
          <a:noFill/>
          <a:ln>
            <a:noFill/>
          </a:ln>
        </p:spPr>
      </p:pic>
      <p:sp>
        <p:nvSpPr>
          <p:cNvPr id="958" name="Google Shape;958;p80"/>
          <p:cNvSpPr txBox="1"/>
          <p:nvPr>
            <p:ph idx="1" type="body"/>
          </p:nvPr>
        </p:nvSpPr>
        <p:spPr>
          <a:xfrm>
            <a:off x="324000" y="759300"/>
            <a:ext cx="27141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Whose method to find the area of this quarter circle is correct?</a:t>
            </a:r>
            <a:endParaRPr sz="1800"/>
          </a:p>
        </p:txBody>
      </p:sp>
      <p:sp>
        <p:nvSpPr>
          <p:cNvPr id="959" name="Google Shape;959;p8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grpSp>
        <p:nvGrpSpPr>
          <p:cNvPr id="960" name="Google Shape;960;p80"/>
          <p:cNvGrpSpPr/>
          <p:nvPr/>
        </p:nvGrpSpPr>
        <p:grpSpPr>
          <a:xfrm>
            <a:off x="1029358" y="3265382"/>
            <a:ext cx="1281342" cy="320700"/>
            <a:chOff x="7309296" y="2202115"/>
            <a:chExt cx="1102230" cy="320700"/>
          </a:xfrm>
        </p:grpSpPr>
        <p:sp>
          <p:nvSpPr>
            <p:cNvPr id="961" name="Google Shape;961;p80"/>
            <p:cNvSpPr/>
            <p:nvPr/>
          </p:nvSpPr>
          <p:spPr>
            <a:xfrm>
              <a:off x="7309326" y="2202115"/>
              <a:ext cx="1102200" cy="320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Lexend"/>
                  <a:ea typeface="Lexend"/>
                  <a:cs typeface="Lexend"/>
                  <a:sym typeface="Lexend"/>
                </a:rPr>
                <a:t>r = 12 cm</a:t>
              </a:r>
              <a:endParaRPr b="0" i="0" sz="1600" u="none" cap="none" strike="noStrike">
                <a:solidFill>
                  <a:srgbClr val="000000"/>
                </a:solidFill>
                <a:latin typeface="Lexend"/>
                <a:ea typeface="Lexend"/>
                <a:cs typeface="Lexend"/>
                <a:sym typeface="Lexend"/>
              </a:endParaRPr>
            </a:p>
          </p:txBody>
        </p:sp>
        <p:cxnSp>
          <p:nvCxnSpPr>
            <p:cNvPr id="962" name="Google Shape;962;p80"/>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grpSp>
      <p:pic>
        <p:nvPicPr>
          <p:cNvPr id="963" name="Google Shape;963;p80"/>
          <p:cNvPicPr preferRelativeResize="0"/>
          <p:nvPr/>
        </p:nvPicPr>
        <p:blipFill rotWithShape="1">
          <a:blip r:embed="rId4">
            <a:alphaModFix/>
          </a:blip>
          <a:srcRect b="0" l="0" r="0" t="0"/>
          <a:stretch/>
        </p:blipFill>
        <p:spPr>
          <a:xfrm>
            <a:off x="4303095" y="744087"/>
            <a:ext cx="475781" cy="613500"/>
          </a:xfrm>
          <a:prstGeom prst="rect">
            <a:avLst/>
          </a:prstGeom>
          <a:noFill/>
          <a:ln>
            <a:noFill/>
          </a:ln>
        </p:spPr>
      </p:pic>
      <p:sp>
        <p:nvSpPr>
          <p:cNvPr id="964" name="Google Shape;964;p80"/>
          <p:cNvSpPr txBox="1"/>
          <p:nvPr/>
        </p:nvSpPr>
        <p:spPr>
          <a:xfrm>
            <a:off x="3959874" y="1289367"/>
            <a:ext cx="1162200" cy="320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Andeep</a:t>
            </a:r>
            <a:endParaRPr b="1" i="0" sz="1800" u="none" cap="none" strike="noStrike">
              <a:solidFill>
                <a:srgbClr val="000000"/>
              </a:solidFill>
              <a:latin typeface="Lexend"/>
              <a:ea typeface="Lexend"/>
              <a:cs typeface="Lexend"/>
              <a:sym typeface="Lexend"/>
            </a:endParaRPr>
          </a:p>
        </p:txBody>
      </p:sp>
      <p:sp>
        <p:nvSpPr>
          <p:cNvPr id="965" name="Google Shape;965;p80"/>
          <p:cNvSpPr txBox="1"/>
          <p:nvPr/>
        </p:nvSpPr>
        <p:spPr>
          <a:xfrm>
            <a:off x="7028375" y="1340067"/>
            <a:ext cx="925200" cy="320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Sofia </a:t>
            </a:r>
            <a:endParaRPr b="0" i="0" sz="1800" u="none" cap="none" strike="noStrike">
              <a:solidFill>
                <a:srgbClr val="000000"/>
              </a:solidFill>
              <a:latin typeface="Lexend"/>
              <a:ea typeface="Lexend"/>
              <a:cs typeface="Lexend"/>
              <a:sym typeface="Lexend"/>
            </a:endParaRPr>
          </a:p>
        </p:txBody>
      </p:sp>
      <p:pic>
        <p:nvPicPr>
          <p:cNvPr id="966" name="Google Shape;966;p80"/>
          <p:cNvPicPr preferRelativeResize="0"/>
          <p:nvPr/>
        </p:nvPicPr>
        <p:blipFill rotWithShape="1">
          <a:blip r:embed="rId5">
            <a:alphaModFix/>
          </a:blip>
          <a:srcRect b="0" l="0" r="0" t="0"/>
          <a:stretch/>
        </p:blipFill>
        <p:spPr>
          <a:xfrm>
            <a:off x="7214462" y="746175"/>
            <a:ext cx="553024" cy="613500"/>
          </a:xfrm>
          <a:prstGeom prst="rect">
            <a:avLst/>
          </a:prstGeom>
          <a:noFill/>
          <a:ln>
            <a:noFill/>
          </a:ln>
        </p:spPr>
      </p:pic>
      <p:pic>
        <p:nvPicPr>
          <p:cNvPr descr="&lt;math xmlns=&quot;http://www.w3.org/1998/Math/MathML&quot; display=&quot;block&quot; data-is-equatio=&quot;1&quot; data-latex=&quot;\frac{1}{4}\times12=3&quot;&gt;&lt;mfrac&gt;&lt;mn&gt;1&lt;/mn&gt;&lt;mn&gt;4&lt;/mn&gt;&lt;/mfrac&gt;&lt;mo&gt;×&lt;/mo&gt;&lt;mn&gt;12&lt;/mn&gt;&lt;mo&gt;=&lt;/mo&gt;&lt;mn&gt;3&lt;/mn&gt;&lt;/math&gt;" id="967" name="Google Shape;967;p80" title="one fourth times 12 equals 3"/>
          <p:cNvPicPr preferRelativeResize="0"/>
          <p:nvPr/>
        </p:nvPicPr>
        <p:blipFill rotWithShape="1">
          <a:blip r:embed="rId6">
            <a:alphaModFix/>
          </a:blip>
          <a:srcRect b="0" l="0" r="0" t="0"/>
          <a:stretch/>
        </p:blipFill>
        <p:spPr>
          <a:xfrm>
            <a:off x="3939936" y="2310256"/>
            <a:ext cx="1049677" cy="478800"/>
          </a:xfrm>
          <a:prstGeom prst="rect">
            <a:avLst/>
          </a:prstGeom>
          <a:noFill/>
          <a:ln>
            <a:noFill/>
          </a:ln>
        </p:spPr>
      </p:pic>
      <p:sp>
        <p:nvSpPr>
          <p:cNvPr id="968" name="Google Shape;968;p80"/>
          <p:cNvSpPr txBox="1"/>
          <p:nvPr>
            <p:ph idx="1" type="body"/>
          </p:nvPr>
        </p:nvSpPr>
        <p:spPr>
          <a:xfrm>
            <a:off x="3961962" y="3046522"/>
            <a:ext cx="16848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3²</a:t>
            </a:r>
            <a:endParaRPr>
              <a:latin typeface="Times New Roman"/>
              <a:ea typeface="Times New Roman"/>
              <a:cs typeface="Times New Roman"/>
              <a:sym typeface="Times New Roman"/>
            </a:endParaRPr>
          </a:p>
        </p:txBody>
      </p:sp>
      <p:sp>
        <p:nvSpPr>
          <p:cNvPr id="969" name="Google Shape;969;p80"/>
          <p:cNvSpPr txBox="1"/>
          <p:nvPr/>
        </p:nvSpPr>
        <p:spPr>
          <a:xfrm>
            <a:off x="6113745" y="1816992"/>
            <a:ext cx="1518600" cy="320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radius</a:t>
            </a:r>
            <a:r>
              <a:rPr b="0" i="0" lang="en-GB" sz="2200" u="none" cap="none" strike="noStrike">
                <a:solidFill>
                  <a:srgbClr val="000000"/>
                </a:solidFill>
                <a:latin typeface="Times New Roman"/>
                <a:ea typeface="Times New Roman"/>
                <a:cs typeface="Times New Roman"/>
                <a:sym typeface="Times New Roman"/>
              </a:rPr>
              <a:t> = 12</a:t>
            </a:r>
            <a:endParaRPr b="1" i="0" sz="2200" u="none" cap="none" strike="noStrike">
              <a:solidFill>
                <a:srgbClr val="000000"/>
              </a:solidFill>
              <a:latin typeface="Times New Roman"/>
              <a:ea typeface="Times New Roman"/>
              <a:cs typeface="Times New Roman"/>
              <a:sym typeface="Times New Roman"/>
            </a:endParaRPr>
          </a:p>
        </p:txBody>
      </p:sp>
      <p:sp>
        <p:nvSpPr>
          <p:cNvPr id="970" name="Google Shape;970;p80"/>
          <p:cNvSpPr txBox="1"/>
          <p:nvPr>
            <p:ph idx="1" type="body"/>
          </p:nvPr>
        </p:nvSpPr>
        <p:spPr>
          <a:xfrm>
            <a:off x="6405425" y="2356956"/>
            <a:ext cx="21711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12²</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12=3&quot;&gt;&lt;mfrac&gt;&lt;mn&gt;1&lt;/mn&gt;&lt;mn&gt;4&lt;/mn&gt;&lt;/mfrac&gt;&lt;mo&gt;×&lt;/mo&gt;&lt;mn&gt;12&lt;/mn&gt;&lt;mo&gt;=&lt;/mo&gt;&lt;mn&gt;3&lt;/mn&gt;&lt;/math&gt;" id="971" name="Google Shape;971;p80" title="one fourth times 12 equals 3"/>
          <p:cNvPicPr preferRelativeResize="0"/>
          <p:nvPr/>
        </p:nvPicPr>
        <p:blipFill rotWithShape="1">
          <a:blip r:embed="rId6">
            <a:alphaModFix/>
          </a:blip>
          <a:srcRect b="0" l="0" r="83490" t="0"/>
          <a:stretch/>
        </p:blipFill>
        <p:spPr>
          <a:xfrm>
            <a:off x="7280334" y="2274984"/>
            <a:ext cx="173300" cy="478800"/>
          </a:xfrm>
          <a:prstGeom prst="rect">
            <a:avLst/>
          </a:prstGeom>
          <a:noFill/>
          <a:ln>
            <a:noFill/>
          </a:ln>
        </p:spPr>
      </p:pic>
      <p:sp>
        <p:nvSpPr>
          <p:cNvPr id="972" name="Google Shape;972;p80"/>
          <p:cNvSpPr txBox="1"/>
          <p:nvPr>
            <p:ph idx="1" type="body"/>
          </p:nvPr>
        </p:nvSpPr>
        <p:spPr>
          <a:xfrm>
            <a:off x="6405425" y="2999822"/>
            <a:ext cx="22707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π × 144</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12=3&quot;&gt;&lt;mfrac&gt;&lt;mn&gt;1&lt;/mn&gt;&lt;mn&gt;4&lt;/mn&gt;&lt;/mfrac&gt;&lt;mo&gt;×&lt;/mo&gt;&lt;mn&gt;12&lt;/mn&gt;&lt;mo&gt;=&lt;/mo&gt;&lt;mn&gt;3&lt;/mn&gt;&lt;/math&gt;" id="973" name="Google Shape;973;p80" title="one fourth times 12 equals 3"/>
          <p:cNvPicPr preferRelativeResize="0"/>
          <p:nvPr/>
        </p:nvPicPr>
        <p:blipFill rotWithShape="1">
          <a:blip r:embed="rId6">
            <a:alphaModFix/>
          </a:blip>
          <a:srcRect b="0" l="0" r="83490" t="0"/>
          <a:stretch/>
        </p:blipFill>
        <p:spPr>
          <a:xfrm>
            <a:off x="7280334" y="2917859"/>
            <a:ext cx="173300" cy="478800"/>
          </a:xfrm>
          <a:prstGeom prst="rect">
            <a:avLst/>
          </a:prstGeom>
          <a:noFill/>
          <a:ln>
            <a:noFill/>
          </a:ln>
        </p:spPr>
      </p:pic>
      <p:sp>
        <p:nvSpPr>
          <p:cNvPr id="974" name="Google Shape;974;p80"/>
          <p:cNvSpPr txBox="1"/>
          <p:nvPr>
            <p:ph idx="1" type="body"/>
          </p:nvPr>
        </p:nvSpPr>
        <p:spPr>
          <a:xfrm>
            <a:off x="6300025" y="3636253"/>
            <a:ext cx="19815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area </a:t>
            </a:r>
            <a:r>
              <a:rPr lang="en-GB">
                <a:latin typeface="Times New Roman"/>
                <a:ea typeface="Times New Roman"/>
                <a:cs typeface="Times New Roman"/>
                <a:sym typeface="Times New Roman"/>
              </a:rPr>
              <a:t>=</a:t>
            </a:r>
            <a:r>
              <a:rPr lang="en-GB"/>
              <a:t> </a:t>
            </a:r>
            <a:r>
              <a:rPr lang="en-GB">
                <a:latin typeface="Times New Roman"/>
                <a:ea typeface="Times New Roman"/>
                <a:cs typeface="Times New Roman"/>
                <a:sym typeface="Times New Roman"/>
              </a:rPr>
              <a:t>36π cm²</a:t>
            </a:r>
            <a:endParaRPr>
              <a:latin typeface="Times New Roman"/>
              <a:ea typeface="Times New Roman"/>
              <a:cs typeface="Times New Roman"/>
              <a:sym typeface="Times New Roman"/>
            </a:endParaRPr>
          </a:p>
        </p:txBody>
      </p:sp>
      <p:sp>
        <p:nvSpPr>
          <p:cNvPr id="975" name="Google Shape;975;p80"/>
          <p:cNvSpPr txBox="1"/>
          <p:nvPr>
            <p:ph idx="1" type="body"/>
          </p:nvPr>
        </p:nvSpPr>
        <p:spPr>
          <a:xfrm>
            <a:off x="324000" y="4147300"/>
            <a:ext cx="8075400" cy="64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To find the area of a </a:t>
            </a:r>
            <a:r>
              <a:rPr b="1" lang="en-GB" sz="2000">
                <a:latin typeface="Kalam"/>
                <a:ea typeface="Kalam"/>
                <a:cs typeface="Kalam"/>
                <a:sym typeface="Kalam"/>
              </a:rPr>
              <a:t>sector</a:t>
            </a:r>
            <a:r>
              <a:rPr lang="en-GB" sz="2000">
                <a:latin typeface="Kalam"/>
                <a:ea typeface="Kalam"/>
                <a:cs typeface="Kalam"/>
                <a:sym typeface="Kalam"/>
              </a:rPr>
              <a:t> you must multiply the </a:t>
            </a:r>
            <a:r>
              <a:rPr lang="en-GB" sz="2000">
                <a:solidFill>
                  <a:schemeClr val="accent4"/>
                </a:solidFill>
                <a:latin typeface="Kalam"/>
                <a:ea typeface="Kalam"/>
                <a:cs typeface="Kalam"/>
                <a:sym typeface="Kalam"/>
              </a:rPr>
              <a:t>area by the fraction of a full circle</a:t>
            </a:r>
            <a:r>
              <a:rPr lang="en-GB" sz="2000">
                <a:latin typeface="Kalam"/>
                <a:ea typeface="Kalam"/>
                <a:cs typeface="Kalam"/>
                <a:sym typeface="Kalam"/>
              </a:rPr>
              <a:t>, not the radius.</a:t>
            </a:r>
            <a:endParaRPr sz="2000">
              <a:latin typeface="Kalam"/>
              <a:ea typeface="Kalam"/>
              <a:cs typeface="Kalam"/>
              <a:sym typeface="Kalam"/>
            </a:endParaRPr>
          </a:p>
        </p:txBody>
      </p:sp>
      <p:pic>
        <p:nvPicPr>
          <p:cNvPr id="976" name="Google Shape;976;p80"/>
          <p:cNvPicPr preferRelativeResize="0"/>
          <p:nvPr/>
        </p:nvPicPr>
        <p:blipFill rotWithShape="1">
          <a:blip r:embed="rId7">
            <a:alphaModFix/>
          </a:blip>
          <a:srcRect b="0" l="0" r="0" t="0"/>
          <a:stretch/>
        </p:blipFill>
        <p:spPr>
          <a:xfrm>
            <a:off x="7854283" y="841284"/>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lt;math xmlns=&quot;http://www.w3.org/1998/Math/MathML&quot; display=&quot;block&quot; data-is-equatio=&quot;1&quot; data-latex=&quot;\pi\times300&quot;&gt;&lt;mi&gt;π&lt;/mi&gt;&lt;mo&gt;×&lt;/mo&gt;&lt;mn&gt;300&lt;/mn&gt;&lt;/math&gt;" id="981" name="Google Shape;981;p81" title="pi times 300"/>
          <p:cNvPicPr preferRelativeResize="0"/>
          <p:nvPr/>
        </p:nvPicPr>
        <p:blipFill rotWithShape="1">
          <a:blip r:embed="rId3">
            <a:alphaModFix/>
          </a:blip>
          <a:srcRect b="0" l="0" r="0" t="0"/>
          <a:stretch/>
        </p:blipFill>
        <p:spPr>
          <a:xfrm>
            <a:off x="4140275" y="3571175"/>
            <a:ext cx="869875" cy="200300"/>
          </a:xfrm>
          <a:prstGeom prst="rect">
            <a:avLst/>
          </a:prstGeom>
          <a:noFill/>
          <a:ln>
            <a:noFill/>
          </a:ln>
        </p:spPr>
      </p:pic>
      <p:sp>
        <p:nvSpPr>
          <p:cNvPr id="982" name="Google Shape;982;p81"/>
          <p:cNvSpPr txBox="1"/>
          <p:nvPr>
            <p:ph idx="1" type="body"/>
          </p:nvPr>
        </p:nvSpPr>
        <p:spPr>
          <a:xfrm>
            <a:off x="324000" y="759300"/>
            <a:ext cx="27141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Which of these calculations correctly shows the area of this </a:t>
            </a:r>
            <a:r>
              <a:rPr b="1" lang="en-GB" sz="1800"/>
              <a:t>sector</a:t>
            </a:r>
            <a:r>
              <a:rPr lang="en-GB" sz="1800"/>
              <a:t>?</a:t>
            </a:r>
            <a:endParaRPr sz="1800"/>
          </a:p>
        </p:txBody>
      </p:sp>
      <p:pic>
        <p:nvPicPr>
          <p:cNvPr id="983" name="Google Shape;983;p81"/>
          <p:cNvPicPr preferRelativeResize="0"/>
          <p:nvPr/>
        </p:nvPicPr>
        <p:blipFill rotWithShape="1">
          <a:blip r:embed="rId4">
            <a:alphaModFix/>
          </a:blip>
          <a:srcRect b="0" l="0" r="0" t="0"/>
          <a:stretch/>
        </p:blipFill>
        <p:spPr>
          <a:xfrm>
            <a:off x="508798" y="2133299"/>
            <a:ext cx="2322450" cy="2175775"/>
          </a:xfrm>
          <a:prstGeom prst="rect">
            <a:avLst/>
          </a:prstGeom>
          <a:noFill/>
          <a:ln>
            <a:noFill/>
          </a:ln>
        </p:spPr>
      </p:pic>
      <p:sp>
        <p:nvSpPr>
          <p:cNvPr id="984" name="Google Shape;984;p8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sectors of a circle</a:t>
            </a:r>
            <a:endParaRPr/>
          </a:p>
        </p:txBody>
      </p:sp>
      <p:grpSp>
        <p:nvGrpSpPr>
          <p:cNvPr id="985" name="Google Shape;985;p81"/>
          <p:cNvGrpSpPr/>
          <p:nvPr/>
        </p:nvGrpSpPr>
        <p:grpSpPr>
          <a:xfrm>
            <a:off x="1549804" y="2920650"/>
            <a:ext cx="953759" cy="320700"/>
            <a:chOff x="7309296" y="2202115"/>
            <a:chExt cx="1102230" cy="320700"/>
          </a:xfrm>
        </p:grpSpPr>
        <p:sp>
          <p:nvSpPr>
            <p:cNvPr id="986" name="Google Shape;986;p81"/>
            <p:cNvSpPr/>
            <p:nvPr/>
          </p:nvSpPr>
          <p:spPr>
            <a:xfrm>
              <a:off x="7309326" y="2202115"/>
              <a:ext cx="1102200" cy="320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Lexend"/>
                  <a:ea typeface="Lexend"/>
                  <a:cs typeface="Lexend"/>
                  <a:sym typeface="Lexend"/>
                </a:rPr>
                <a:t>r = 20 cm</a:t>
              </a:r>
              <a:endParaRPr b="0" i="0" sz="1600" u="none" cap="none" strike="noStrike">
                <a:solidFill>
                  <a:srgbClr val="000000"/>
                </a:solidFill>
                <a:latin typeface="Lexend"/>
                <a:ea typeface="Lexend"/>
                <a:cs typeface="Lexend"/>
                <a:sym typeface="Lexend"/>
              </a:endParaRPr>
            </a:p>
          </p:txBody>
        </p:sp>
        <p:cxnSp>
          <p:nvCxnSpPr>
            <p:cNvPr id="987" name="Google Shape;987;p81"/>
            <p:cNvCxnSpPr/>
            <p:nvPr/>
          </p:nvCxnSpPr>
          <p:spPr>
            <a:xfrm>
              <a:off x="7309296" y="2227128"/>
              <a:ext cx="1102200" cy="0"/>
            </a:xfrm>
            <a:prstGeom prst="straightConnector1">
              <a:avLst/>
            </a:prstGeom>
            <a:noFill/>
            <a:ln cap="flat" cmpd="sng" w="38100">
              <a:solidFill>
                <a:schemeClr val="accent4"/>
              </a:solidFill>
              <a:prstDash val="solid"/>
              <a:round/>
              <a:headEnd len="med" w="med" type="triangle"/>
              <a:tailEnd len="med" w="med" type="triangle"/>
            </a:ln>
          </p:spPr>
        </p:cxnSp>
      </p:grpSp>
      <p:grpSp>
        <p:nvGrpSpPr>
          <p:cNvPr id="988" name="Google Shape;988;p81"/>
          <p:cNvGrpSpPr/>
          <p:nvPr/>
        </p:nvGrpSpPr>
        <p:grpSpPr>
          <a:xfrm>
            <a:off x="3691236" y="1150385"/>
            <a:ext cx="381533" cy="381533"/>
            <a:chOff x="1020916" y="1442088"/>
            <a:chExt cx="457200" cy="457200"/>
          </a:xfrm>
        </p:grpSpPr>
        <p:pic>
          <p:nvPicPr>
            <p:cNvPr id="989" name="Google Shape;989;p81"/>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990" name="Google Shape;990;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991" name="Google Shape;991;p81"/>
          <p:cNvGrpSpPr/>
          <p:nvPr/>
        </p:nvGrpSpPr>
        <p:grpSpPr>
          <a:xfrm>
            <a:off x="3691236" y="2301654"/>
            <a:ext cx="381533" cy="381533"/>
            <a:chOff x="1020916" y="1442088"/>
            <a:chExt cx="457200" cy="457200"/>
          </a:xfrm>
        </p:grpSpPr>
        <p:pic>
          <p:nvPicPr>
            <p:cNvPr id="992" name="Google Shape;992;p81"/>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993" name="Google Shape;993;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994" name="Google Shape;994;p81"/>
          <p:cNvGrpSpPr/>
          <p:nvPr/>
        </p:nvGrpSpPr>
        <p:grpSpPr>
          <a:xfrm>
            <a:off x="3691236" y="3452923"/>
            <a:ext cx="381533" cy="381533"/>
            <a:chOff x="1020916" y="1442088"/>
            <a:chExt cx="457200" cy="457200"/>
          </a:xfrm>
        </p:grpSpPr>
        <p:pic>
          <p:nvPicPr>
            <p:cNvPr id="995" name="Google Shape;995;p81"/>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996" name="Google Shape;996;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pic>
        <p:nvPicPr>
          <p:cNvPr id="997" name="Google Shape;997;p81"/>
          <p:cNvPicPr preferRelativeResize="0"/>
          <p:nvPr/>
        </p:nvPicPr>
        <p:blipFill rotWithShape="1">
          <a:blip r:embed="rId6">
            <a:alphaModFix/>
          </a:blip>
          <a:srcRect b="0" l="0" r="0" t="0"/>
          <a:stretch/>
        </p:blipFill>
        <p:spPr>
          <a:xfrm>
            <a:off x="5575233" y="1131596"/>
            <a:ext cx="396000" cy="419100"/>
          </a:xfrm>
          <a:prstGeom prst="rect">
            <a:avLst/>
          </a:prstGeom>
          <a:noFill/>
          <a:ln>
            <a:noFill/>
          </a:ln>
        </p:spPr>
      </p:pic>
      <p:pic>
        <p:nvPicPr>
          <p:cNvPr descr="&lt;math xmlns=&quot;http://www.w3.org/1998/Math/MathML&quot; display=&quot;block&quot; data-is-equatio=&quot;1&quot; data-latex=&quot;\frac{3}{4}\times\pi\times20^2&quot;&gt;&lt;mfrac&gt;&lt;mn&gt;3&lt;/mn&gt;&lt;mn&gt;4&lt;/mn&gt;&lt;/mfrac&gt;&lt;mo&gt;×&lt;/mo&gt;&lt;mi&gt;π&lt;/mi&gt;&lt;mo&gt;×&lt;/mo&gt;&lt;msup&gt;&lt;mn&gt;20&lt;/mn&gt;&lt;mn&gt;2&lt;/mn&gt;&lt;/msup&gt;&lt;/math&gt;" id="998" name="Google Shape;998;p81" title="three fourths times pi times 20 squared"/>
          <p:cNvPicPr preferRelativeResize="0"/>
          <p:nvPr/>
        </p:nvPicPr>
        <p:blipFill rotWithShape="1">
          <a:blip r:embed="rId7">
            <a:alphaModFix/>
          </a:blip>
          <a:srcRect b="0" l="0" r="0" t="0"/>
          <a:stretch/>
        </p:blipFill>
        <p:spPr>
          <a:xfrm>
            <a:off x="4158571" y="1056740"/>
            <a:ext cx="1330866" cy="568800"/>
          </a:xfrm>
          <a:prstGeom prst="rect">
            <a:avLst/>
          </a:prstGeom>
          <a:noFill/>
          <a:ln>
            <a:noFill/>
          </a:ln>
        </p:spPr>
      </p:pic>
      <p:pic>
        <p:nvPicPr>
          <p:cNvPr descr="&lt;math xmlns=&quot;http://www.w3.org/1998/Math/MathML&quot; display=&quot;block&quot; data-is-equatio=&quot;1&quot; data-latex=&quot;\pi\times15^2&quot;&gt;&lt;mi&gt;π&lt;/mi&gt;&lt;mo&gt;×&lt;/mo&gt;&lt;msup&gt;&lt;mn&gt;15&lt;/mn&gt;&lt;mn&gt;2&lt;/mn&gt;&lt;/msup&gt;&lt;/math&gt;" id="999" name="Google Shape;999;p81" title="pi times 15 squared"/>
          <p:cNvPicPr preferRelativeResize="0"/>
          <p:nvPr/>
        </p:nvPicPr>
        <p:blipFill rotWithShape="1">
          <a:blip r:embed="rId8">
            <a:alphaModFix/>
          </a:blip>
          <a:srcRect b="0" l="0" r="0" t="0"/>
          <a:stretch/>
        </p:blipFill>
        <p:spPr>
          <a:xfrm>
            <a:off x="4158575" y="2363725"/>
            <a:ext cx="813525" cy="257375"/>
          </a:xfrm>
          <a:prstGeom prst="rect">
            <a:avLst/>
          </a:prstGeom>
          <a:noFill/>
          <a:ln>
            <a:noFill/>
          </a:ln>
        </p:spPr>
      </p:pic>
      <p:pic>
        <p:nvPicPr>
          <p:cNvPr id="1000" name="Google Shape;1000;p81"/>
          <p:cNvPicPr preferRelativeResize="0"/>
          <p:nvPr/>
        </p:nvPicPr>
        <p:blipFill rotWithShape="1">
          <a:blip r:embed="rId6">
            <a:alphaModFix/>
          </a:blip>
          <a:srcRect b="0" l="0" r="0" t="0"/>
          <a:stretch/>
        </p:blipFill>
        <p:spPr>
          <a:xfrm>
            <a:off x="5575233" y="3434134"/>
            <a:ext cx="396000" cy="419100"/>
          </a:xfrm>
          <a:prstGeom prst="rect">
            <a:avLst/>
          </a:prstGeom>
          <a:noFill/>
          <a:ln>
            <a:noFill/>
          </a:ln>
        </p:spPr>
      </p:pic>
      <p:sp>
        <p:nvSpPr>
          <p:cNvPr id="1001" name="Google Shape;1001;p81"/>
          <p:cNvSpPr txBox="1"/>
          <p:nvPr>
            <p:ph idx="1" type="body"/>
          </p:nvPr>
        </p:nvSpPr>
        <p:spPr>
          <a:xfrm>
            <a:off x="6256800" y="759300"/>
            <a:ext cx="25593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Square the radius first, then find   of the result.</a:t>
            </a:r>
            <a:endParaRPr sz="2000">
              <a:latin typeface="Kalam"/>
              <a:ea typeface="Kalam"/>
              <a:cs typeface="Kalam"/>
              <a:sym typeface="Kalam"/>
            </a:endParaRPr>
          </a:p>
        </p:txBody>
      </p:sp>
      <p:pic>
        <p:nvPicPr>
          <p:cNvPr descr="&lt;math xmlns=&quot;http://www.w3.org/1998/Math/MathML&quot; display=&quot;block&quot; data-is-equatio=&quot;1&quot; data-latex=&quot;\frac{3}{4}\times\pi\times20^2&quot;&gt;&lt;mfrac&gt;&lt;mn&gt;3&lt;/mn&gt;&lt;mn&gt;4&lt;/mn&gt;&lt;/mfrac&gt;&lt;mo&gt;×&lt;/mo&gt;&lt;mi&gt;π&lt;/mi&gt;&lt;mo&gt;×&lt;/mo&gt;&lt;msup&gt;&lt;mn&gt;20&lt;/mn&gt;&lt;mn&gt;2&lt;/mn&gt;&lt;/msup&gt;&lt;/math&gt;" id="1002" name="Google Shape;1002;p81" title="three fourths times pi times 20 squared"/>
          <p:cNvPicPr preferRelativeResize="0"/>
          <p:nvPr/>
        </p:nvPicPr>
        <p:blipFill rotWithShape="1">
          <a:blip r:embed="rId7">
            <a:alphaModFix/>
          </a:blip>
          <a:srcRect b="0" l="0" r="84821" t="0"/>
          <a:stretch/>
        </p:blipFill>
        <p:spPr>
          <a:xfrm>
            <a:off x="7336076" y="1056504"/>
            <a:ext cx="148759" cy="419100"/>
          </a:xfrm>
          <a:prstGeom prst="rect">
            <a:avLst/>
          </a:prstGeom>
          <a:noFill/>
          <a:ln>
            <a:noFill/>
          </a:ln>
        </p:spPr>
      </p:pic>
      <p:pic>
        <p:nvPicPr>
          <p:cNvPr descr="&lt;math xmlns=&quot;http://www.w3.org/1998/Math/MathML&quot; display=&quot;block&quot; data-is-equatio=&quot;1&quot; data-latex=&quot;\begin{array}{l}20^2=400\\&amp;#13;&amp;#10;\frac{3}{4}\times400=300\end{array}&quot;&gt;&lt;mtable columnalign=&quot;left&quot; columnspacing=&quot;1em&quot; rowspacing=&quot;4pt&quot;&gt;&lt;mtr&gt;&lt;mtd&gt;&lt;msup&gt;&lt;mn&gt;20&lt;/mn&gt;&lt;mn&gt;2&lt;/mn&gt;&lt;/msup&gt;&lt;mo&gt;=&lt;/mo&gt;&lt;mn&gt;400&lt;/mn&gt;&lt;/mtd&gt;&lt;/mtr&gt;&lt;mtr&gt;&lt;mtd&gt;&lt;mfrac&gt;&lt;mn&gt;3&lt;/mn&gt;&lt;mn&gt;4&lt;/mn&gt;&lt;/mfrac&gt;&lt;mo&gt;×&lt;/mo&gt;&lt;mn&gt;400&lt;/mn&gt;&lt;mo&gt;=&lt;/mo&gt;&lt;mn&gt;300&lt;/mn&gt;&lt;/mtd&gt;&lt;/mtr&gt;&lt;/mtable&gt;&lt;/math&gt;" id="1003" name="Google Shape;1003;p81" title="2 lines Line 1: 20 squared equals 400 Line 2: three fourths times 400 equals 300"/>
          <p:cNvPicPr preferRelativeResize="0"/>
          <p:nvPr/>
        </p:nvPicPr>
        <p:blipFill rotWithShape="1">
          <a:blip r:embed="rId9">
            <a:alphaModFix/>
          </a:blip>
          <a:srcRect b="0" l="0" r="0" t="0"/>
          <a:stretch/>
        </p:blipFill>
        <p:spPr>
          <a:xfrm>
            <a:off x="6256799" y="3121696"/>
            <a:ext cx="1579825" cy="7509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2"/>
          <p:cNvSpPr txBox="1"/>
          <p:nvPr>
            <p:ph idx="4294967295" type="body"/>
          </p:nvPr>
        </p:nvSpPr>
        <p:spPr>
          <a:xfrm>
            <a:off x="324000" y="713925"/>
            <a:ext cx="8496000" cy="601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700"/>
              <a:t>1) Match the circle </a:t>
            </a:r>
            <a:r>
              <a:rPr b="1" lang="en-GB" sz="1700"/>
              <a:t>sectors</a:t>
            </a:r>
            <a:r>
              <a:rPr lang="en-GB" sz="1700"/>
              <a:t> with the possible correct calculations and answers. Some calculations do not match with a </a:t>
            </a:r>
            <a:r>
              <a:rPr b="1" lang="en-GB" sz="1700"/>
              <a:t>sector</a:t>
            </a:r>
            <a:r>
              <a:rPr lang="en-GB" sz="1700"/>
              <a:t>.</a:t>
            </a:r>
            <a:endParaRPr sz="1700"/>
          </a:p>
        </p:txBody>
      </p:sp>
      <p:sp>
        <p:nvSpPr>
          <p:cNvPr id="1009" name="Google Shape;1009;p82"/>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pic>
        <p:nvPicPr>
          <p:cNvPr id="1010" name="Google Shape;1010;p82"/>
          <p:cNvPicPr preferRelativeResize="0"/>
          <p:nvPr/>
        </p:nvPicPr>
        <p:blipFill rotWithShape="1">
          <a:blip r:embed="rId3">
            <a:alphaModFix/>
          </a:blip>
          <a:srcRect b="73477" l="43494" r="4228" t="0"/>
          <a:stretch/>
        </p:blipFill>
        <p:spPr>
          <a:xfrm>
            <a:off x="728112" y="1676337"/>
            <a:ext cx="1133615" cy="1135738"/>
          </a:xfrm>
          <a:prstGeom prst="rect">
            <a:avLst/>
          </a:prstGeom>
          <a:noFill/>
          <a:ln>
            <a:noFill/>
          </a:ln>
        </p:spPr>
      </p:pic>
      <p:pic>
        <p:nvPicPr>
          <p:cNvPr id="1011" name="Google Shape;1011;p82"/>
          <p:cNvPicPr preferRelativeResize="0"/>
          <p:nvPr/>
        </p:nvPicPr>
        <p:blipFill rotWithShape="1">
          <a:blip r:embed="rId3">
            <a:alphaModFix/>
          </a:blip>
          <a:srcRect b="0" l="22511" r="4234" t="73477"/>
          <a:stretch/>
        </p:blipFill>
        <p:spPr>
          <a:xfrm>
            <a:off x="6827254" y="1676308"/>
            <a:ext cx="1588633" cy="1135767"/>
          </a:xfrm>
          <a:prstGeom prst="rect">
            <a:avLst/>
          </a:prstGeom>
          <a:noFill/>
          <a:ln>
            <a:noFill/>
          </a:ln>
        </p:spPr>
      </p:pic>
      <p:pic>
        <p:nvPicPr>
          <p:cNvPr id="1012" name="Google Shape;1012;p82"/>
          <p:cNvPicPr preferRelativeResize="0"/>
          <p:nvPr/>
        </p:nvPicPr>
        <p:blipFill rotWithShape="1">
          <a:blip r:embed="rId3">
            <a:alphaModFix/>
          </a:blip>
          <a:srcRect b="36028" l="0" r="4232" t="36380"/>
          <a:stretch/>
        </p:blipFill>
        <p:spPr>
          <a:xfrm>
            <a:off x="3306113" y="1630575"/>
            <a:ext cx="2076756" cy="1181500"/>
          </a:xfrm>
          <a:prstGeom prst="rect">
            <a:avLst/>
          </a:prstGeom>
          <a:noFill/>
          <a:ln>
            <a:noFill/>
          </a:ln>
        </p:spPr>
      </p:pic>
      <p:cxnSp>
        <p:nvCxnSpPr>
          <p:cNvPr id="1013" name="Google Shape;1013;p82"/>
          <p:cNvCxnSpPr/>
          <p:nvPr/>
        </p:nvCxnSpPr>
        <p:spPr>
          <a:xfrm>
            <a:off x="826528" y="2869090"/>
            <a:ext cx="991200" cy="0"/>
          </a:xfrm>
          <a:prstGeom prst="straightConnector1">
            <a:avLst/>
          </a:prstGeom>
          <a:noFill/>
          <a:ln cap="flat" cmpd="sng" w="38100">
            <a:solidFill>
              <a:schemeClr val="accent4"/>
            </a:solidFill>
            <a:prstDash val="solid"/>
            <a:round/>
            <a:headEnd len="med" w="med" type="triangle"/>
            <a:tailEnd len="med" w="med" type="triangle"/>
          </a:ln>
        </p:spPr>
      </p:cxnSp>
      <p:sp>
        <p:nvSpPr>
          <p:cNvPr id="1014" name="Google Shape;1014;p82"/>
          <p:cNvSpPr txBox="1"/>
          <p:nvPr>
            <p:ph idx="4294967295" type="body"/>
          </p:nvPr>
        </p:nvSpPr>
        <p:spPr>
          <a:xfrm>
            <a:off x="663900" y="2883513"/>
            <a:ext cx="13164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6 cm</a:t>
            </a:r>
            <a:endParaRPr sz="1800"/>
          </a:p>
        </p:txBody>
      </p:sp>
      <p:cxnSp>
        <p:nvCxnSpPr>
          <p:cNvPr id="1015" name="Google Shape;1015;p82"/>
          <p:cNvCxnSpPr/>
          <p:nvPr/>
        </p:nvCxnSpPr>
        <p:spPr>
          <a:xfrm>
            <a:off x="4326976" y="2869100"/>
            <a:ext cx="1056000" cy="0"/>
          </a:xfrm>
          <a:prstGeom prst="straightConnector1">
            <a:avLst/>
          </a:prstGeom>
          <a:noFill/>
          <a:ln cap="flat" cmpd="sng" w="38100">
            <a:solidFill>
              <a:schemeClr val="accent4"/>
            </a:solidFill>
            <a:prstDash val="solid"/>
            <a:round/>
            <a:headEnd len="med" w="med" type="triangle"/>
            <a:tailEnd len="med" w="med" type="triangle"/>
          </a:ln>
        </p:spPr>
      </p:cxnSp>
      <p:sp>
        <p:nvSpPr>
          <p:cNvPr id="1016" name="Google Shape;1016;p82"/>
          <p:cNvSpPr txBox="1"/>
          <p:nvPr>
            <p:ph idx="4294967295" type="body"/>
          </p:nvPr>
        </p:nvSpPr>
        <p:spPr>
          <a:xfrm>
            <a:off x="4373454" y="2883535"/>
            <a:ext cx="963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4 cm</a:t>
            </a:r>
            <a:endParaRPr sz="1800"/>
          </a:p>
        </p:txBody>
      </p:sp>
      <p:sp>
        <p:nvSpPr>
          <p:cNvPr id="1017" name="Google Shape;1017;p82"/>
          <p:cNvSpPr txBox="1"/>
          <p:nvPr>
            <p:ph idx="4294967295" type="body"/>
          </p:nvPr>
        </p:nvSpPr>
        <p:spPr>
          <a:xfrm>
            <a:off x="7388914" y="2118988"/>
            <a:ext cx="5817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120°</a:t>
            </a:r>
            <a:endParaRPr sz="1800"/>
          </a:p>
        </p:txBody>
      </p:sp>
      <p:sp>
        <p:nvSpPr>
          <p:cNvPr id="1018" name="Google Shape;1018;p82"/>
          <p:cNvSpPr/>
          <p:nvPr/>
        </p:nvSpPr>
        <p:spPr>
          <a:xfrm>
            <a:off x="7017792" y="2377609"/>
            <a:ext cx="684300" cy="684300"/>
          </a:xfrm>
          <a:prstGeom prst="arc">
            <a:avLst>
              <a:gd fmla="val 1443606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cxnSp>
        <p:nvCxnSpPr>
          <p:cNvPr id="1019" name="Google Shape;1019;p82"/>
          <p:cNvCxnSpPr/>
          <p:nvPr/>
        </p:nvCxnSpPr>
        <p:spPr>
          <a:xfrm>
            <a:off x="7360703" y="2869100"/>
            <a:ext cx="1056000" cy="0"/>
          </a:xfrm>
          <a:prstGeom prst="straightConnector1">
            <a:avLst/>
          </a:prstGeom>
          <a:noFill/>
          <a:ln cap="flat" cmpd="sng" w="38100">
            <a:solidFill>
              <a:schemeClr val="accent4"/>
            </a:solidFill>
            <a:prstDash val="solid"/>
            <a:round/>
            <a:headEnd len="med" w="med" type="triangle"/>
            <a:tailEnd len="med" w="med" type="triangle"/>
          </a:ln>
        </p:spPr>
      </p:cxnSp>
      <p:sp>
        <p:nvSpPr>
          <p:cNvPr id="1020" name="Google Shape;1020;p82"/>
          <p:cNvSpPr txBox="1"/>
          <p:nvPr>
            <p:ph idx="4294967295" type="body"/>
          </p:nvPr>
        </p:nvSpPr>
        <p:spPr>
          <a:xfrm>
            <a:off x="7407182" y="2883535"/>
            <a:ext cx="963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6 cm</a:t>
            </a:r>
            <a:endParaRPr sz="1800"/>
          </a:p>
        </p:txBody>
      </p:sp>
      <p:grpSp>
        <p:nvGrpSpPr>
          <p:cNvPr id="1021" name="Google Shape;1021;p82"/>
          <p:cNvGrpSpPr/>
          <p:nvPr/>
        </p:nvGrpSpPr>
        <p:grpSpPr>
          <a:xfrm>
            <a:off x="400205" y="3569077"/>
            <a:ext cx="277200" cy="277200"/>
            <a:chOff x="1020916" y="1442088"/>
            <a:chExt cx="457200" cy="457200"/>
          </a:xfrm>
        </p:grpSpPr>
        <p:pic>
          <p:nvPicPr>
            <p:cNvPr id="1022" name="Google Shape;1022;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23" name="Google Shape;1023;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sp>
        <p:nvSpPr>
          <p:cNvPr id="1024" name="Google Shape;1024;p82"/>
          <p:cNvSpPr txBox="1"/>
          <p:nvPr/>
        </p:nvSpPr>
        <p:spPr>
          <a:xfrm>
            <a:off x="6564976" y="1575447"/>
            <a:ext cx="247370" cy="16806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Lexend"/>
              <a:ea typeface="Lexend"/>
              <a:cs typeface="Lexend"/>
              <a:sym typeface="Lexend"/>
            </a:endParaRPr>
          </a:p>
        </p:txBody>
      </p:sp>
      <p:pic>
        <p:nvPicPr>
          <p:cNvPr descr="&lt;math xmlns=&quot;http://www.w3.org/1998/Math/MathML&quot; display=&quot;block&quot; data-is-equatio=&quot;1&quot; data-latex=&quot;\frac{1}{4}\times\pi\times6^2&quot;&gt;&lt;mfrac&gt;&lt;mn&gt;1&lt;/mn&gt;&lt;mn&gt;4&lt;/mn&gt;&lt;/mfrac&gt;&lt;mo&gt;×&lt;/mo&gt;&lt;mi&gt;π&lt;/mi&gt;&lt;mo&gt;×&lt;/mo&gt;&lt;msup&gt;&lt;mn&gt;6&lt;/mn&gt;&lt;mn&gt;2&lt;/mn&gt;&lt;/msup&gt;&lt;/math&gt;" id="1025" name="Google Shape;1025;p82" title="one fourth times pi times 6 squared"/>
          <p:cNvPicPr preferRelativeResize="0"/>
          <p:nvPr/>
        </p:nvPicPr>
        <p:blipFill rotWithShape="1">
          <a:blip r:embed="rId5">
            <a:alphaModFix/>
          </a:blip>
          <a:srcRect b="0" l="0" r="0" t="0"/>
          <a:stretch/>
        </p:blipFill>
        <p:spPr>
          <a:xfrm>
            <a:off x="2801162" y="4214596"/>
            <a:ext cx="1193197" cy="568800"/>
          </a:xfrm>
          <a:prstGeom prst="rect">
            <a:avLst/>
          </a:prstGeom>
          <a:noFill/>
          <a:ln>
            <a:noFill/>
          </a:ln>
        </p:spPr>
      </p:pic>
      <p:pic>
        <p:nvPicPr>
          <p:cNvPr descr="&lt;math xmlns=&quot;http://www.w3.org/1998/Math/MathML&quot; display=&quot;block&quot; data-is-equatio=&quot;1&quot; data-latex=&quot;\frac{1}{2}\times\pi\times4^2&quot;&gt;&lt;mfrac&gt;&lt;mn&gt;1&lt;/mn&gt;&lt;mn&gt;2&lt;/mn&gt;&lt;/mfrac&gt;&lt;mo&gt;×&lt;/mo&gt;&lt;mi&gt;π&lt;/mi&gt;&lt;mo&gt;×&lt;/mo&gt;&lt;msup&gt;&lt;mn&gt;4&lt;/mn&gt;&lt;mn&gt;2&lt;/mn&gt;&lt;/msup&gt;&lt;/math&gt;" id="1026" name="Google Shape;1026;p82" title="one half times pi times 4 squared"/>
          <p:cNvPicPr preferRelativeResize="0"/>
          <p:nvPr/>
        </p:nvPicPr>
        <p:blipFill rotWithShape="1">
          <a:blip r:embed="rId6">
            <a:alphaModFix/>
          </a:blip>
          <a:srcRect b="0" l="0" r="0" t="0"/>
          <a:stretch/>
        </p:blipFill>
        <p:spPr>
          <a:xfrm>
            <a:off x="740888" y="4214596"/>
            <a:ext cx="1193197" cy="568800"/>
          </a:xfrm>
          <a:prstGeom prst="rect">
            <a:avLst/>
          </a:prstGeom>
          <a:noFill/>
          <a:ln>
            <a:noFill/>
          </a:ln>
        </p:spPr>
      </p:pic>
      <p:pic>
        <p:nvPicPr>
          <p:cNvPr descr="&lt;math xmlns=&quot;http://www.w3.org/1998/Math/MathML&quot; display=&quot;block&quot; data-is-equatio=&quot;1&quot; data-latex=&quot;\frac{1}{2}\times\pi\times2^2&quot;&gt;&lt;mfrac&gt;&lt;mn&gt;1&lt;/mn&gt;&lt;mn&gt;2&lt;/mn&gt;&lt;/mfrac&gt;&lt;mo&gt;×&lt;/mo&gt;&lt;mi&gt;π&lt;/mi&gt;&lt;mo&gt;×&lt;/mo&gt;&lt;msup&gt;&lt;mn&gt;2&lt;/mn&gt;&lt;mn&gt;2&lt;/mn&gt;&lt;/msup&gt;&lt;/math&gt;" id="1027" name="Google Shape;1027;p82" title="one half times pi times 2 squared"/>
          <p:cNvPicPr preferRelativeResize="0"/>
          <p:nvPr/>
        </p:nvPicPr>
        <p:blipFill rotWithShape="1">
          <a:blip r:embed="rId7">
            <a:alphaModFix/>
          </a:blip>
          <a:srcRect b="0" l="0" r="0" t="0"/>
          <a:stretch/>
        </p:blipFill>
        <p:spPr>
          <a:xfrm>
            <a:off x="740087" y="3423271"/>
            <a:ext cx="1194480" cy="568800"/>
          </a:xfrm>
          <a:prstGeom prst="rect">
            <a:avLst/>
          </a:prstGeom>
          <a:noFill/>
          <a:ln>
            <a:noFill/>
          </a:ln>
        </p:spPr>
      </p:pic>
      <p:grpSp>
        <p:nvGrpSpPr>
          <p:cNvPr id="1028" name="Google Shape;1028;p82"/>
          <p:cNvGrpSpPr/>
          <p:nvPr/>
        </p:nvGrpSpPr>
        <p:grpSpPr>
          <a:xfrm>
            <a:off x="400205" y="4360402"/>
            <a:ext cx="277200" cy="277200"/>
            <a:chOff x="1020916" y="1442088"/>
            <a:chExt cx="457200" cy="457200"/>
          </a:xfrm>
        </p:grpSpPr>
        <p:pic>
          <p:nvPicPr>
            <p:cNvPr id="1029" name="Google Shape;1029;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30" name="Google Shape;1030;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031" name="Google Shape;1031;p82"/>
          <p:cNvGrpSpPr/>
          <p:nvPr/>
        </p:nvGrpSpPr>
        <p:grpSpPr>
          <a:xfrm>
            <a:off x="2460480" y="3569077"/>
            <a:ext cx="277200" cy="277200"/>
            <a:chOff x="1020916" y="1442088"/>
            <a:chExt cx="457200" cy="457200"/>
          </a:xfrm>
        </p:grpSpPr>
        <p:pic>
          <p:nvPicPr>
            <p:cNvPr id="1032" name="Google Shape;1032;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33" name="Google Shape;1033;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034" name="Google Shape;1034;p82"/>
          <p:cNvGrpSpPr/>
          <p:nvPr/>
        </p:nvGrpSpPr>
        <p:grpSpPr>
          <a:xfrm>
            <a:off x="2460480" y="4360402"/>
            <a:ext cx="277200" cy="277200"/>
            <a:chOff x="1020916" y="1442088"/>
            <a:chExt cx="457200" cy="457200"/>
          </a:xfrm>
        </p:grpSpPr>
        <p:pic>
          <p:nvPicPr>
            <p:cNvPr id="1035" name="Google Shape;1035;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36" name="Google Shape;1036;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037" name="Google Shape;1037;p82"/>
          <p:cNvGrpSpPr/>
          <p:nvPr/>
        </p:nvGrpSpPr>
        <p:grpSpPr>
          <a:xfrm>
            <a:off x="6144980" y="3569077"/>
            <a:ext cx="277200" cy="277200"/>
            <a:chOff x="1020916" y="1442088"/>
            <a:chExt cx="457200" cy="457200"/>
          </a:xfrm>
        </p:grpSpPr>
        <p:pic>
          <p:nvPicPr>
            <p:cNvPr id="1038" name="Google Shape;1038;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39" name="Google Shape;1039;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e</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2\pi&quot;&gt;&lt;mn&gt;2&lt;/mn&gt;&lt;mi&gt;π&lt;/mi&gt;&lt;/math&gt;" id="1040" name="Google Shape;1040;p82" title="2 pi"/>
          <p:cNvPicPr preferRelativeResize="0"/>
          <p:nvPr/>
        </p:nvPicPr>
        <p:blipFill rotWithShape="1">
          <a:blip r:embed="rId8">
            <a:alphaModFix/>
          </a:blip>
          <a:srcRect b="0" l="0" r="0" t="0"/>
          <a:stretch/>
        </p:blipFill>
        <p:spPr>
          <a:xfrm>
            <a:off x="6484119" y="3619917"/>
            <a:ext cx="260800" cy="175525"/>
          </a:xfrm>
          <a:prstGeom prst="rect">
            <a:avLst/>
          </a:prstGeom>
          <a:noFill/>
          <a:ln>
            <a:noFill/>
          </a:ln>
        </p:spPr>
      </p:pic>
      <p:pic>
        <p:nvPicPr>
          <p:cNvPr descr="&lt;math xmlns=&quot;http://www.w3.org/1998/Math/MathML&quot; display=&quot;block&quot; data-is-equatio=&quot;1&quot; data-latex=&quot;9\pi&quot;&gt;&lt;mn&gt;9&lt;/mn&gt;&lt;mi&gt;π&lt;/mi&gt;&lt;/math&gt;" id="1041" name="Google Shape;1041;p82" title="9 pi"/>
          <p:cNvPicPr preferRelativeResize="0"/>
          <p:nvPr/>
        </p:nvPicPr>
        <p:blipFill rotWithShape="1">
          <a:blip r:embed="rId9">
            <a:alphaModFix/>
          </a:blip>
          <a:srcRect b="0" l="0" r="0" t="0"/>
          <a:stretch/>
        </p:blipFill>
        <p:spPr>
          <a:xfrm>
            <a:off x="6485163" y="4410796"/>
            <a:ext cx="258720" cy="176400"/>
          </a:xfrm>
          <a:prstGeom prst="rect">
            <a:avLst/>
          </a:prstGeom>
          <a:noFill/>
          <a:ln>
            <a:noFill/>
          </a:ln>
        </p:spPr>
      </p:pic>
      <p:grpSp>
        <p:nvGrpSpPr>
          <p:cNvPr id="1042" name="Google Shape;1042;p82"/>
          <p:cNvGrpSpPr/>
          <p:nvPr/>
        </p:nvGrpSpPr>
        <p:grpSpPr>
          <a:xfrm>
            <a:off x="6144980" y="4360402"/>
            <a:ext cx="277200" cy="277200"/>
            <a:chOff x="1020916" y="1442088"/>
            <a:chExt cx="457200" cy="457200"/>
          </a:xfrm>
        </p:grpSpPr>
        <p:pic>
          <p:nvPicPr>
            <p:cNvPr id="1043" name="Google Shape;1043;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44" name="Google Shape;1044;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grpSp>
        <p:nvGrpSpPr>
          <p:cNvPr id="1045" name="Google Shape;1045;p82"/>
          <p:cNvGrpSpPr/>
          <p:nvPr/>
        </p:nvGrpSpPr>
        <p:grpSpPr>
          <a:xfrm>
            <a:off x="7312055" y="3569077"/>
            <a:ext cx="277200" cy="277200"/>
            <a:chOff x="1020916" y="1442088"/>
            <a:chExt cx="457200" cy="457200"/>
          </a:xfrm>
        </p:grpSpPr>
        <p:pic>
          <p:nvPicPr>
            <p:cNvPr id="1046" name="Google Shape;1046;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47" name="Google Shape;1047;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1048" name="Google Shape;1048;p82"/>
          <p:cNvGrpSpPr/>
          <p:nvPr/>
        </p:nvGrpSpPr>
        <p:grpSpPr>
          <a:xfrm>
            <a:off x="7312055" y="4360402"/>
            <a:ext cx="277200" cy="277200"/>
            <a:chOff x="1020916" y="1442088"/>
            <a:chExt cx="457200" cy="457200"/>
          </a:xfrm>
        </p:grpSpPr>
        <p:pic>
          <p:nvPicPr>
            <p:cNvPr id="1049" name="Google Shape;1049;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50" name="Google Shape;1050;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8\pi&quot;&gt;&lt;mn&gt;8&lt;/mn&gt;&lt;mi&gt;π&lt;/mi&gt;&lt;/math&gt;" id="1051" name="Google Shape;1051;p82" title="8 pi"/>
          <p:cNvPicPr preferRelativeResize="0"/>
          <p:nvPr/>
        </p:nvPicPr>
        <p:blipFill rotWithShape="1">
          <a:blip r:embed="rId10">
            <a:alphaModFix/>
          </a:blip>
          <a:srcRect b="0" l="0" r="0" t="0"/>
          <a:stretch/>
        </p:blipFill>
        <p:spPr>
          <a:xfrm>
            <a:off x="7649288" y="3619471"/>
            <a:ext cx="264600" cy="176400"/>
          </a:xfrm>
          <a:prstGeom prst="rect">
            <a:avLst/>
          </a:prstGeom>
          <a:noFill/>
          <a:ln>
            <a:noFill/>
          </a:ln>
        </p:spPr>
      </p:pic>
      <p:pic>
        <p:nvPicPr>
          <p:cNvPr descr="&lt;math xmlns=&quot;http://www.w3.org/1998/Math/MathML&quot; display=&quot;block&quot; data-is-equatio=&quot;1&quot; data-latex=&quot;\frac{1}{3}\times\pi\times6^2&quot;&gt;&lt;mfrac&gt;&lt;mn&gt;1&lt;/mn&gt;&lt;mn&gt;3&lt;/mn&gt;&lt;/mfrac&gt;&lt;mo&gt;×&lt;/mo&gt;&lt;mi&gt;π&lt;/mi&gt;&lt;mo&gt;×&lt;/mo&gt;&lt;msup&gt;&lt;mn&gt;6&lt;/mn&gt;&lt;mn&gt;2&lt;/mn&gt;&lt;/msup&gt;&lt;/math&gt;" id="1052" name="Google Shape;1052;p82" title="one third times pi times 6 squared"/>
          <p:cNvPicPr preferRelativeResize="0"/>
          <p:nvPr/>
        </p:nvPicPr>
        <p:blipFill rotWithShape="1">
          <a:blip r:embed="rId11">
            <a:alphaModFix/>
          </a:blip>
          <a:srcRect b="0" l="0" r="0" t="0"/>
          <a:stretch/>
        </p:blipFill>
        <p:spPr>
          <a:xfrm>
            <a:off x="2806200" y="3423284"/>
            <a:ext cx="1183104" cy="568800"/>
          </a:xfrm>
          <a:prstGeom prst="rect">
            <a:avLst/>
          </a:prstGeom>
          <a:noFill/>
          <a:ln>
            <a:noFill/>
          </a:ln>
        </p:spPr>
      </p:pic>
      <p:pic>
        <p:nvPicPr>
          <p:cNvPr descr="&lt;math xmlns=&quot;http://www.w3.org/1998/Math/MathML&quot; display=&quot;block&quot; data-is-equatio=&quot;1&quot; data-latex=&quot;12\pi&quot;&gt;&lt;mn&gt;12&lt;/mn&gt;&lt;mi&gt;π&lt;/mi&gt;&lt;/math&gt;" id="1053" name="Google Shape;1053;p82" title="12 pi"/>
          <p:cNvPicPr preferRelativeResize="0"/>
          <p:nvPr/>
        </p:nvPicPr>
        <p:blipFill rotWithShape="1">
          <a:blip r:embed="rId12">
            <a:alphaModFix/>
          </a:blip>
          <a:srcRect b="0" l="0" r="0" t="0"/>
          <a:stretch/>
        </p:blipFill>
        <p:spPr>
          <a:xfrm>
            <a:off x="7649288" y="4410796"/>
            <a:ext cx="366030" cy="176400"/>
          </a:xfrm>
          <a:prstGeom prst="rect">
            <a:avLst/>
          </a:prstGeom>
          <a:noFill/>
          <a:ln>
            <a:noFill/>
          </a:ln>
        </p:spPr>
      </p:pic>
      <p:grpSp>
        <p:nvGrpSpPr>
          <p:cNvPr id="1054" name="Google Shape;1054;p82"/>
          <p:cNvGrpSpPr/>
          <p:nvPr/>
        </p:nvGrpSpPr>
        <p:grpSpPr>
          <a:xfrm>
            <a:off x="324005" y="1575452"/>
            <a:ext cx="277200" cy="277200"/>
            <a:chOff x="1020916" y="1442088"/>
            <a:chExt cx="457200" cy="457200"/>
          </a:xfrm>
        </p:grpSpPr>
        <p:pic>
          <p:nvPicPr>
            <p:cNvPr id="1055" name="Google Shape;1055;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56" name="Google Shape;1056;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1</a:t>
              </a:r>
              <a:endParaRPr b="1" i="0" sz="1800" u="none" cap="none" strike="noStrike">
                <a:solidFill>
                  <a:srgbClr val="FFFFFF"/>
                </a:solidFill>
                <a:latin typeface="Lexend"/>
                <a:ea typeface="Lexend"/>
                <a:cs typeface="Lexend"/>
                <a:sym typeface="Lexend"/>
              </a:endParaRPr>
            </a:p>
          </p:txBody>
        </p:sp>
      </p:grpSp>
      <p:grpSp>
        <p:nvGrpSpPr>
          <p:cNvPr id="1057" name="Google Shape;1057;p82"/>
          <p:cNvGrpSpPr/>
          <p:nvPr/>
        </p:nvGrpSpPr>
        <p:grpSpPr>
          <a:xfrm>
            <a:off x="3143405" y="1575452"/>
            <a:ext cx="277200" cy="277200"/>
            <a:chOff x="1020916" y="1442088"/>
            <a:chExt cx="457200" cy="457200"/>
          </a:xfrm>
        </p:grpSpPr>
        <p:pic>
          <p:nvPicPr>
            <p:cNvPr id="1058" name="Google Shape;1058;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59" name="Google Shape;1059;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2</a:t>
              </a:r>
              <a:endParaRPr b="1" i="0" sz="1800" u="none" cap="none" strike="noStrike">
                <a:solidFill>
                  <a:srgbClr val="FFFFFF"/>
                </a:solidFill>
                <a:latin typeface="Lexend"/>
                <a:ea typeface="Lexend"/>
                <a:cs typeface="Lexend"/>
                <a:sym typeface="Lexend"/>
              </a:endParaRPr>
            </a:p>
          </p:txBody>
        </p:sp>
      </p:grpSp>
      <p:grpSp>
        <p:nvGrpSpPr>
          <p:cNvPr id="1060" name="Google Shape;1060;p82"/>
          <p:cNvGrpSpPr/>
          <p:nvPr/>
        </p:nvGrpSpPr>
        <p:grpSpPr>
          <a:xfrm>
            <a:off x="6343805" y="1575452"/>
            <a:ext cx="277200" cy="277200"/>
            <a:chOff x="1020916" y="1442088"/>
            <a:chExt cx="457200" cy="457200"/>
          </a:xfrm>
        </p:grpSpPr>
        <p:pic>
          <p:nvPicPr>
            <p:cNvPr id="1061" name="Google Shape;1061;p82"/>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062" name="Google Shape;1062;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3</a:t>
              </a:r>
              <a:endParaRPr b="1" i="0" sz="1800" u="none" cap="none" strike="noStrike">
                <a:solidFill>
                  <a:srgbClr val="FFFFFF"/>
                </a:solidFill>
                <a:latin typeface="Lexend"/>
                <a:ea typeface="Lexend"/>
                <a:cs typeface="Lexend"/>
                <a:sym typeface="Lexend"/>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graphicFrame>
        <p:nvGraphicFramePr>
          <p:cNvPr id="1067" name="Google Shape;1067;p83"/>
          <p:cNvGraphicFramePr/>
          <p:nvPr/>
        </p:nvGraphicFramePr>
        <p:xfrm>
          <a:off x="1695588" y="751968"/>
          <a:ext cx="3000000" cy="3000000"/>
        </p:xfrm>
        <a:graphic>
          <a:graphicData uri="http://schemas.openxmlformats.org/drawingml/2006/table">
            <a:tbl>
              <a:tblPr>
                <a:noFill/>
                <a:tableStyleId>{C81FF9EA-781E-435A-8130-865065205EE4}</a:tableStyleId>
              </a:tblPr>
              <a:tblGrid>
                <a:gridCol w="1894525"/>
                <a:gridCol w="1932675"/>
                <a:gridCol w="1664800"/>
                <a:gridCol w="1643200"/>
              </a:tblGrid>
              <a:tr h="241875">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Lexend"/>
                          <a:ea typeface="Lexend"/>
                          <a:cs typeface="Lexend"/>
                          <a:sym typeface="Lexend"/>
                        </a:rPr>
                        <a:t>sector</a:t>
                      </a:r>
                      <a:endParaRPr b="1"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1</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GB" sz="1600" u="none" cap="none" strike="noStrike">
                          <a:solidFill>
                            <a:schemeClr val="lt1"/>
                          </a:solidFill>
                          <a:latin typeface="Lexend"/>
                          <a:ea typeface="Lexend"/>
                          <a:cs typeface="Lexend"/>
                          <a:sym typeface="Lexend"/>
                        </a:rPr>
                        <a:t>step 2</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answer (cm²)</a:t>
                      </a:r>
                      <a:endParaRPr sz="1600" u="none" cap="none" strike="noStrike">
                        <a:solidFill>
                          <a:schemeClr val="lt1"/>
                        </a:solidFill>
                        <a:latin typeface="Lexend"/>
                        <a:ea typeface="Lexend"/>
                        <a:cs typeface="Lexend"/>
                        <a:sym typeface="Lexend"/>
                      </a:endParaRPr>
                    </a:p>
                  </a:txBody>
                  <a:tcPr marT="18000" marB="18000" marR="91425" marL="91425" anchor="ctr">
                    <a:lnB cap="flat" cmpd="sng" w="9525">
                      <a:solidFill>
                        <a:srgbClr val="9E9E9E"/>
                      </a:solidFill>
                      <a:prstDash val="solid"/>
                      <a:round/>
                      <a:headEnd len="sm" w="sm" type="none"/>
                      <a:tailEnd len="sm" w="sm" type="none"/>
                    </a:lnB>
                    <a:solidFill>
                      <a:schemeClr val="accent4"/>
                    </a:solidFill>
                  </a:tcPr>
                </a:tc>
              </a:tr>
              <a:tr h="12287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3355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 </a:t>
                      </a:r>
                      <a:r>
                        <a:rPr lang="en-GB" sz="2000" u="none" cap="none" strike="noStrike">
                          <a:solidFill>
                            <a:schemeClr val="dk1"/>
                          </a:solidFill>
                          <a:latin typeface="Times New Roman"/>
                          <a:ea typeface="Times New Roman"/>
                          <a:cs typeface="Times New Roman"/>
                          <a:sym typeface="Times New Roman"/>
                        </a:rPr>
                        <a:t>763.4</a:t>
                      </a:r>
                      <a:endParaRPr sz="2000" u="none" cap="none" strike="noStrike">
                        <a:solidFill>
                          <a:schemeClr val="dk1"/>
                        </a:solidFill>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162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2166</a:t>
                      </a:r>
                      <a:r>
                        <a:rPr i="1" lang="en-GB" sz="2200" u="none" cap="none" strike="noStrike">
                          <a:solidFill>
                            <a:schemeClr val="dk1"/>
                          </a:solidFill>
                          <a:latin typeface="Times New Roman"/>
                          <a:ea typeface="Times New Roman"/>
                          <a:cs typeface="Times New Roman"/>
                          <a:sym typeface="Times New Roman"/>
                        </a:rPr>
                        <a:t>π</a:t>
                      </a:r>
                      <a:endParaRPr i="1" sz="2200" u="none" cap="none" strike="noStrike">
                        <a:solidFill>
                          <a:schemeClr val="dk1"/>
                        </a:solidFill>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068" name="Google Shape;1068;p83"/>
          <p:cNvPicPr preferRelativeResize="0"/>
          <p:nvPr/>
        </p:nvPicPr>
        <p:blipFill rotWithShape="1">
          <a:blip r:embed="rId3">
            <a:alphaModFix/>
          </a:blip>
          <a:srcRect b="2" l="10477" r="16762" t="65971"/>
          <a:stretch/>
        </p:blipFill>
        <p:spPr>
          <a:xfrm>
            <a:off x="1949756" y="3571950"/>
            <a:ext cx="1378575" cy="1240151"/>
          </a:xfrm>
          <a:prstGeom prst="rect">
            <a:avLst/>
          </a:prstGeom>
          <a:noFill/>
          <a:ln>
            <a:noFill/>
          </a:ln>
        </p:spPr>
      </p:pic>
      <p:cxnSp>
        <p:nvCxnSpPr>
          <p:cNvPr id="1069" name="Google Shape;1069;p83"/>
          <p:cNvCxnSpPr/>
          <p:nvPr/>
        </p:nvCxnSpPr>
        <p:spPr>
          <a:xfrm>
            <a:off x="2619847" y="4340758"/>
            <a:ext cx="637500" cy="0"/>
          </a:xfrm>
          <a:prstGeom prst="straightConnector1">
            <a:avLst/>
          </a:prstGeom>
          <a:noFill/>
          <a:ln cap="flat" cmpd="sng" w="19050">
            <a:solidFill>
              <a:schemeClr val="accent4"/>
            </a:solidFill>
            <a:prstDash val="solid"/>
            <a:round/>
            <a:headEnd len="med" w="med" type="triangle"/>
            <a:tailEnd len="med" w="med" type="triangle"/>
          </a:ln>
        </p:spPr>
      </p:cxnSp>
      <p:sp>
        <p:nvSpPr>
          <p:cNvPr id="1070" name="Google Shape;1070;p83"/>
          <p:cNvSpPr txBox="1"/>
          <p:nvPr>
            <p:ph idx="4294967295" type="body"/>
          </p:nvPr>
        </p:nvSpPr>
        <p:spPr>
          <a:xfrm>
            <a:off x="2582477" y="4350436"/>
            <a:ext cx="712200" cy="215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57 cm</a:t>
            </a:r>
            <a:endParaRPr sz="1800"/>
          </a:p>
        </p:txBody>
      </p:sp>
      <p:sp>
        <p:nvSpPr>
          <p:cNvPr id="1071" name="Google Shape;1071;p83"/>
          <p:cNvSpPr txBox="1"/>
          <p:nvPr>
            <p:ph idx="4294967295" type="body"/>
          </p:nvPr>
        </p:nvSpPr>
        <p:spPr>
          <a:xfrm>
            <a:off x="2221730" y="3847792"/>
            <a:ext cx="563700" cy="215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240°</a:t>
            </a:r>
            <a:endParaRPr sz="1800"/>
          </a:p>
        </p:txBody>
      </p:sp>
      <p:pic>
        <p:nvPicPr>
          <p:cNvPr id="1072" name="Google Shape;1072;p83"/>
          <p:cNvPicPr preferRelativeResize="0"/>
          <p:nvPr/>
        </p:nvPicPr>
        <p:blipFill rotWithShape="1">
          <a:blip r:embed="rId3">
            <a:alphaModFix/>
          </a:blip>
          <a:srcRect b="63865" l="10477" r="16762" t="0"/>
          <a:stretch/>
        </p:blipFill>
        <p:spPr>
          <a:xfrm>
            <a:off x="1971018" y="2306706"/>
            <a:ext cx="1356170" cy="1295618"/>
          </a:xfrm>
          <a:prstGeom prst="rect">
            <a:avLst/>
          </a:prstGeom>
          <a:noFill/>
          <a:ln>
            <a:noFill/>
          </a:ln>
        </p:spPr>
      </p:pic>
      <p:pic>
        <p:nvPicPr>
          <p:cNvPr id="1073" name="Google Shape;1073;p83"/>
          <p:cNvPicPr preferRelativeResize="0"/>
          <p:nvPr/>
        </p:nvPicPr>
        <p:blipFill rotWithShape="1">
          <a:blip r:embed="rId3">
            <a:alphaModFix/>
          </a:blip>
          <a:srcRect b="43667" l="10477" r="16762" t="36768"/>
          <a:stretch/>
        </p:blipFill>
        <p:spPr>
          <a:xfrm>
            <a:off x="1908244" y="1105739"/>
            <a:ext cx="1482699" cy="766924"/>
          </a:xfrm>
          <a:prstGeom prst="rect">
            <a:avLst/>
          </a:prstGeom>
          <a:noFill/>
          <a:ln>
            <a:noFill/>
          </a:ln>
        </p:spPr>
      </p:pic>
      <p:cxnSp>
        <p:nvCxnSpPr>
          <p:cNvPr id="1074" name="Google Shape;1074;p83"/>
          <p:cNvCxnSpPr/>
          <p:nvPr/>
        </p:nvCxnSpPr>
        <p:spPr>
          <a:xfrm>
            <a:off x="2628948" y="1902575"/>
            <a:ext cx="685800" cy="0"/>
          </a:xfrm>
          <a:prstGeom prst="straightConnector1">
            <a:avLst/>
          </a:prstGeom>
          <a:noFill/>
          <a:ln cap="flat" cmpd="sng" w="19050">
            <a:solidFill>
              <a:schemeClr val="accent4"/>
            </a:solidFill>
            <a:prstDash val="solid"/>
            <a:round/>
            <a:headEnd len="med" w="med" type="triangle"/>
            <a:tailEnd len="med" w="med" type="triangle"/>
          </a:ln>
        </p:spPr>
      </p:cxnSp>
      <p:sp>
        <p:nvSpPr>
          <p:cNvPr id="1075" name="Google Shape;1075;p83"/>
          <p:cNvSpPr txBox="1"/>
          <p:nvPr>
            <p:ph idx="4294967295" type="body"/>
          </p:nvPr>
        </p:nvSpPr>
        <p:spPr>
          <a:xfrm>
            <a:off x="2588756" y="1912984"/>
            <a:ext cx="766200" cy="23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30</a:t>
            </a:r>
            <a:r>
              <a:rPr lang="en-GB" sz="700"/>
              <a:t> </a:t>
            </a:r>
            <a:r>
              <a:rPr lang="en-GB" sz="1800"/>
              <a:t>cm</a:t>
            </a:r>
            <a:endParaRPr sz="1800"/>
          </a:p>
        </p:txBody>
      </p:sp>
      <p:cxnSp>
        <p:nvCxnSpPr>
          <p:cNvPr id="1076" name="Google Shape;1076;p83"/>
          <p:cNvCxnSpPr/>
          <p:nvPr/>
        </p:nvCxnSpPr>
        <p:spPr>
          <a:xfrm>
            <a:off x="2637887" y="2849036"/>
            <a:ext cx="563700" cy="0"/>
          </a:xfrm>
          <a:prstGeom prst="straightConnector1">
            <a:avLst/>
          </a:prstGeom>
          <a:noFill/>
          <a:ln cap="flat" cmpd="sng" w="19050">
            <a:solidFill>
              <a:schemeClr val="accent4"/>
            </a:solidFill>
            <a:prstDash val="solid"/>
            <a:round/>
            <a:headEnd len="med" w="med" type="triangle"/>
            <a:tailEnd len="med" w="med" type="triangle"/>
          </a:ln>
        </p:spPr>
      </p:cxnSp>
      <p:sp>
        <p:nvSpPr>
          <p:cNvPr id="1077" name="Google Shape;1077;p83"/>
          <p:cNvSpPr txBox="1"/>
          <p:nvPr>
            <p:ph idx="4294967295" type="body"/>
          </p:nvPr>
        </p:nvSpPr>
        <p:spPr>
          <a:xfrm flipH="1">
            <a:off x="2416422" y="2566667"/>
            <a:ext cx="869400" cy="23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18</a:t>
            </a:r>
            <a:r>
              <a:rPr lang="en-GB" sz="700"/>
              <a:t> </a:t>
            </a:r>
            <a:r>
              <a:rPr lang="en-GB" sz="1800"/>
              <a:t>cm</a:t>
            </a:r>
            <a:endParaRPr sz="1800"/>
          </a:p>
        </p:txBody>
      </p:sp>
      <p:sp>
        <p:nvSpPr>
          <p:cNvPr id="1078" name="Google Shape;1078;p83"/>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pic>
        <p:nvPicPr>
          <p:cNvPr descr="&lt;math xmlns=&quot;http://www.w3.org/1998/Math/MathML&quot; display=&quot;block&quot; data-is-equatio=&quot;1&quot; data-latex=&quot;\frac{1}{2}\times\pi\times900&quot;&gt;&lt;mfrac&gt;&lt;mn&gt;1&lt;/mn&gt;&lt;mn&gt;2&lt;/mn&gt;&lt;/mfrac&gt;&lt;mo&gt;×&lt;/mo&gt;&lt;mi&gt;π&lt;/mi&gt;&lt;mo&gt;×&lt;/mo&gt;&lt;mn&gt;900&lt;/mn&gt;&lt;/math&gt;" id="1079" name="Google Shape;1079;p83" title="one half times pi times 900"/>
          <p:cNvPicPr preferRelativeResize="0"/>
          <p:nvPr/>
        </p:nvPicPr>
        <p:blipFill rotWithShape="1">
          <a:blip r:embed="rId4">
            <a:alphaModFix/>
          </a:blip>
          <a:srcRect b="0" l="0" r="0" t="0"/>
          <a:stretch/>
        </p:blipFill>
        <p:spPr>
          <a:xfrm>
            <a:off x="5760819" y="1366017"/>
            <a:ext cx="1214567" cy="503275"/>
          </a:xfrm>
          <a:prstGeom prst="rect">
            <a:avLst/>
          </a:prstGeom>
          <a:noFill/>
          <a:ln>
            <a:noFill/>
          </a:ln>
        </p:spPr>
      </p:pic>
      <p:pic>
        <p:nvPicPr>
          <p:cNvPr descr="&lt;math xmlns=&quot;http://www.w3.org/1998/Math/MathML&quot; display=&quot;block&quot; data-is-equatio=&quot;1&quot; data-latex=&quot;\frac{3}{4}\times\pi\times18^2&quot;&gt;&lt;mfrac&gt;&lt;mn&gt;3&lt;/mn&gt;&lt;mn&gt;4&lt;/mn&gt;&lt;/mfrac&gt;&lt;mo&gt;×&lt;/mo&gt;&lt;mi&gt;π&lt;/mi&gt;&lt;mo&gt;×&lt;/mo&gt;&lt;msup&gt;&lt;mn&gt;18&lt;/mn&gt;&lt;mn&gt;2&lt;/mn&gt;&lt;/msup&gt;&lt;/math&gt;" id="1080" name="Google Shape;1080;p83" title="three fourths times pi times 18 squared"/>
          <p:cNvPicPr preferRelativeResize="0"/>
          <p:nvPr/>
        </p:nvPicPr>
        <p:blipFill rotWithShape="1">
          <a:blip r:embed="rId5">
            <a:alphaModFix/>
          </a:blip>
          <a:srcRect b="0" l="0" r="0" t="0"/>
          <a:stretch/>
        </p:blipFill>
        <p:spPr>
          <a:xfrm>
            <a:off x="3883663" y="2670100"/>
            <a:ext cx="1330992" cy="568800"/>
          </a:xfrm>
          <a:prstGeom prst="rect">
            <a:avLst/>
          </a:prstGeom>
          <a:noFill/>
          <a:ln>
            <a:noFill/>
          </a:ln>
        </p:spPr>
      </p:pic>
      <p:pic>
        <p:nvPicPr>
          <p:cNvPr descr="&lt;math xmlns=&quot;http://www.w3.org/1998/Math/MathML&quot; display=&quot;block&quot; data-is-equatio=&quot;1&quot; data-latex=&quot;\frac{\ \ \ \ \ \ \ }{ }\times\pi\times57^2&quot;&gt;&lt;mfrac&gt;&lt;mrow&gt;&lt;mtext&gt;&lt;/mtext&gt;&lt;mtext&gt;&lt;/mtext&gt;&lt;mtext&gt;&lt;/mtext&gt;&lt;mtext&gt;&lt;/mtext&gt;&lt;mtext&gt;&lt;/mtext&gt;&lt;mtext&gt;&lt;/mtext&gt;&lt;mtext&gt;&lt;/mtext&gt;&lt;/mrow&gt;&lt;mrow/&gt;&lt;/mfrac&gt;&lt;mo&gt;×&lt;/mo&gt;&lt;mi&gt;π&lt;/mi&gt;&lt;mo&gt;×&lt;/mo&gt;&lt;msup&gt;&lt;mn&gt;57&lt;/mn&gt;&lt;mn&gt;2&lt;/mn&gt;&lt;/msup&gt;&lt;/math&gt;" id="1081" name="Google Shape;1081;p83" title="the fraction with numerator and denominator times pi times 57 squared"/>
          <p:cNvPicPr preferRelativeResize="0"/>
          <p:nvPr/>
        </p:nvPicPr>
        <p:blipFill rotWithShape="1">
          <a:blip r:embed="rId6">
            <a:alphaModFix/>
          </a:blip>
          <a:srcRect b="0" l="6933" r="0" t="0"/>
          <a:stretch/>
        </p:blipFill>
        <p:spPr>
          <a:xfrm>
            <a:off x="3727651" y="4057025"/>
            <a:ext cx="1643025" cy="270000"/>
          </a:xfrm>
          <a:prstGeom prst="rect">
            <a:avLst/>
          </a:prstGeom>
          <a:noFill/>
          <a:ln>
            <a:noFill/>
          </a:ln>
        </p:spPr>
      </p:pic>
      <p:pic>
        <p:nvPicPr>
          <p:cNvPr descr="&lt;math xmlns=&quot;http://www.w3.org/1998/Math/MathML&quot; display=&quot;block&quot; data-is-equatio=&quot;1&quot; data-latex=&quot;\frac{1}{2}\times\pi\times30^2&quot;&gt;&lt;mfrac&gt;&lt;mn&gt;1&lt;/mn&gt;&lt;mn&gt;2&lt;/mn&gt;&lt;/mfrac&gt;&lt;mo&gt;×&lt;/mo&gt;&lt;mi&gt;π&lt;/mi&gt;&lt;mo&gt;×&lt;/mo&gt;&lt;msup&gt;&lt;mn&gt;30&lt;/mn&gt;&lt;mn&gt;2&lt;/mn&gt;&lt;/msup&gt;&lt;/math&gt;" id="1082" name="Google Shape;1082;p83" title="one half times pi times 30 squared"/>
          <p:cNvPicPr preferRelativeResize="0"/>
          <p:nvPr/>
        </p:nvPicPr>
        <p:blipFill rotWithShape="1">
          <a:blip r:embed="rId7">
            <a:alphaModFix/>
          </a:blip>
          <a:srcRect b="0" l="0" r="0" t="0"/>
          <a:stretch/>
        </p:blipFill>
        <p:spPr>
          <a:xfrm>
            <a:off x="3959488" y="1365655"/>
            <a:ext cx="1179360" cy="504000"/>
          </a:xfrm>
          <a:prstGeom prst="rect">
            <a:avLst/>
          </a:prstGeom>
          <a:noFill/>
          <a:ln>
            <a:noFill/>
          </a:ln>
        </p:spPr>
      </p:pic>
      <p:sp>
        <p:nvSpPr>
          <p:cNvPr id="1083" name="Google Shape;1083;p83"/>
          <p:cNvSpPr txBox="1"/>
          <p:nvPr>
            <p:ph idx="4294967295" type="body"/>
          </p:nvPr>
        </p:nvSpPr>
        <p:spPr>
          <a:xfrm>
            <a:off x="1696175" y="104267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a) </a:t>
            </a:r>
            <a:endParaRPr i="1" sz="1800">
              <a:latin typeface="Times New Roman"/>
              <a:ea typeface="Times New Roman"/>
              <a:cs typeface="Times New Roman"/>
              <a:sym typeface="Times New Roman"/>
            </a:endParaRPr>
          </a:p>
        </p:txBody>
      </p:sp>
      <p:sp>
        <p:nvSpPr>
          <p:cNvPr id="1084" name="Google Shape;1084;p83"/>
          <p:cNvSpPr txBox="1"/>
          <p:nvPr>
            <p:ph idx="4294967295" type="body"/>
          </p:nvPr>
        </p:nvSpPr>
        <p:spPr>
          <a:xfrm>
            <a:off x="1696175" y="226052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b) </a:t>
            </a:r>
            <a:endParaRPr i="1" sz="1800">
              <a:latin typeface="Times New Roman"/>
              <a:ea typeface="Times New Roman"/>
              <a:cs typeface="Times New Roman"/>
              <a:sym typeface="Times New Roman"/>
            </a:endParaRPr>
          </a:p>
        </p:txBody>
      </p:sp>
      <p:sp>
        <p:nvSpPr>
          <p:cNvPr id="1085" name="Google Shape;1085;p83"/>
          <p:cNvSpPr txBox="1"/>
          <p:nvPr>
            <p:ph idx="4294967295" type="body"/>
          </p:nvPr>
        </p:nvSpPr>
        <p:spPr>
          <a:xfrm>
            <a:off x="1696175" y="3596098"/>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c) </a:t>
            </a:r>
            <a:endParaRPr i="1" sz="1800">
              <a:latin typeface="Times New Roman"/>
              <a:ea typeface="Times New Roman"/>
              <a:cs typeface="Times New Roman"/>
              <a:sym typeface="Times New Roman"/>
            </a:endParaRPr>
          </a:p>
        </p:txBody>
      </p:sp>
      <p:sp>
        <p:nvSpPr>
          <p:cNvPr id="1086" name="Google Shape;1086;p83"/>
          <p:cNvSpPr txBox="1"/>
          <p:nvPr>
            <p:ph idx="4294967295" type="body"/>
          </p:nvPr>
        </p:nvSpPr>
        <p:spPr>
          <a:xfrm>
            <a:off x="322592" y="790125"/>
            <a:ext cx="1331100" cy="27045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700"/>
              <a:t>2) Complete the table. Give your answer both as a decimal (rounded to 1 d.p.) and in terms of </a:t>
            </a:r>
            <a:r>
              <a:rPr lang="en-GB" sz="2100">
                <a:latin typeface="Times New Roman"/>
                <a:ea typeface="Times New Roman"/>
                <a:cs typeface="Times New Roman"/>
                <a:sym typeface="Times New Roman"/>
              </a:rPr>
              <a:t>π</a:t>
            </a:r>
            <a:r>
              <a:rPr lang="en-GB" sz="1700"/>
              <a:t>.</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pic>
        <p:nvPicPr>
          <p:cNvPr id="1091" name="Google Shape;1091;p84"/>
          <p:cNvPicPr preferRelativeResize="0"/>
          <p:nvPr/>
        </p:nvPicPr>
        <p:blipFill rotWithShape="1">
          <a:blip r:embed="rId3">
            <a:alphaModFix/>
          </a:blip>
          <a:srcRect b="0" l="0" r="0" t="0"/>
          <a:stretch/>
        </p:blipFill>
        <p:spPr>
          <a:xfrm>
            <a:off x="2000509" y="2420017"/>
            <a:ext cx="1435667" cy="873249"/>
          </a:xfrm>
          <a:prstGeom prst="rect">
            <a:avLst/>
          </a:prstGeom>
          <a:noFill/>
          <a:ln>
            <a:noFill/>
          </a:ln>
        </p:spPr>
      </p:pic>
      <p:pic>
        <p:nvPicPr>
          <p:cNvPr id="1092" name="Google Shape;1092;p84"/>
          <p:cNvPicPr preferRelativeResize="0"/>
          <p:nvPr/>
        </p:nvPicPr>
        <p:blipFill rotWithShape="1">
          <a:blip r:embed="rId4">
            <a:alphaModFix/>
          </a:blip>
          <a:srcRect b="43667" l="10477" r="16762" t="36768"/>
          <a:stretch/>
        </p:blipFill>
        <p:spPr>
          <a:xfrm>
            <a:off x="2000518" y="1100343"/>
            <a:ext cx="1435666" cy="742599"/>
          </a:xfrm>
          <a:prstGeom prst="rect">
            <a:avLst/>
          </a:prstGeom>
          <a:noFill/>
          <a:ln>
            <a:noFill/>
          </a:ln>
        </p:spPr>
      </p:pic>
      <p:sp>
        <p:nvSpPr>
          <p:cNvPr id="1093" name="Google Shape;1093;p84"/>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cxnSp>
        <p:nvCxnSpPr>
          <p:cNvPr id="1094" name="Google Shape;1094;p84"/>
          <p:cNvCxnSpPr/>
          <p:nvPr/>
        </p:nvCxnSpPr>
        <p:spPr>
          <a:xfrm>
            <a:off x="2061834" y="1871905"/>
            <a:ext cx="1289700" cy="0"/>
          </a:xfrm>
          <a:prstGeom prst="straightConnector1">
            <a:avLst/>
          </a:prstGeom>
          <a:noFill/>
          <a:ln cap="flat" cmpd="sng" w="19050">
            <a:solidFill>
              <a:schemeClr val="accent4"/>
            </a:solidFill>
            <a:prstDash val="solid"/>
            <a:round/>
            <a:headEnd len="med" w="med" type="triangle"/>
            <a:tailEnd len="med" w="med" type="triangle"/>
          </a:ln>
        </p:spPr>
      </p:cxnSp>
      <p:sp>
        <p:nvSpPr>
          <p:cNvPr id="1095" name="Google Shape;1095;p84"/>
          <p:cNvSpPr txBox="1"/>
          <p:nvPr>
            <p:ph idx="4294967295" type="body"/>
          </p:nvPr>
        </p:nvSpPr>
        <p:spPr>
          <a:xfrm>
            <a:off x="2061776" y="1881984"/>
            <a:ext cx="12897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d = 160 cm</a:t>
            </a:r>
            <a:endParaRPr sz="1800"/>
          </a:p>
        </p:txBody>
      </p:sp>
      <p:cxnSp>
        <p:nvCxnSpPr>
          <p:cNvPr id="1096" name="Google Shape;1096;p84"/>
          <p:cNvCxnSpPr/>
          <p:nvPr/>
        </p:nvCxnSpPr>
        <p:spPr>
          <a:xfrm>
            <a:off x="2649260" y="3281629"/>
            <a:ext cx="752400" cy="0"/>
          </a:xfrm>
          <a:prstGeom prst="straightConnector1">
            <a:avLst/>
          </a:prstGeom>
          <a:noFill/>
          <a:ln cap="flat" cmpd="sng" w="19050">
            <a:solidFill>
              <a:schemeClr val="accent4"/>
            </a:solidFill>
            <a:prstDash val="solid"/>
            <a:round/>
            <a:headEnd len="med" w="med" type="triangle"/>
            <a:tailEnd len="med" w="med" type="triangle"/>
          </a:ln>
        </p:spPr>
      </p:cxnSp>
      <p:sp>
        <p:nvSpPr>
          <p:cNvPr id="1097" name="Google Shape;1097;p84"/>
          <p:cNvSpPr txBox="1"/>
          <p:nvPr>
            <p:ph idx="4294967295" type="body"/>
          </p:nvPr>
        </p:nvSpPr>
        <p:spPr>
          <a:xfrm flipH="1">
            <a:off x="2685078" y="3288218"/>
            <a:ext cx="6810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84 cm</a:t>
            </a:r>
            <a:endParaRPr sz="1800"/>
          </a:p>
        </p:txBody>
      </p:sp>
      <p:sp>
        <p:nvSpPr>
          <p:cNvPr id="1098" name="Google Shape;1098;p84"/>
          <p:cNvSpPr txBox="1"/>
          <p:nvPr>
            <p:ph idx="4294967295" type="body"/>
          </p:nvPr>
        </p:nvSpPr>
        <p:spPr>
          <a:xfrm flipH="1">
            <a:off x="2421652" y="2757600"/>
            <a:ext cx="6810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150°</a:t>
            </a:r>
            <a:endParaRPr sz="1800"/>
          </a:p>
        </p:txBody>
      </p:sp>
      <p:pic>
        <p:nvPicPr>
          <p:cNvPr id="1099" name="Google Shape;1099;p84"/>
          <p:cNvPicPr preferRelativeResize="0"/>
          <p:nvPr/>
        </p:nvPicPr>
        <p:blipFill rotWithShape="1">
          <a:blip r:embed="rId5">
            <a:alphaModFix/>
          </a:blip>
          <a:srcRect b="0" l="0" r="0" t="0"/>
          <a:stretch/>
        </p:blipFill>
        <p:spPr>
          <a:xfrm>
            <a:off x="2023658" y="3621245"/>
            <a:ext cx="1182075" cy="1129450"/>
          </a:xfrm>
          <a:prstGeom prst="rect">
            <a:avLst/>
          </a:prstGeom>
          <a:noFill/>
          <a:ln>
            <a:noFill/>
          </a:ln>
        </p:spPr>
      </p:pic>
      <p:cxnSp>
        <p:nvCxnSpPr>
          <p:cNvPr id="1100" name="Google Shape;1100;p84"/>
          <p:cNvCxnSpPr/>
          <p:nvPr/>
        </p:nvCxnSpPr>
        <p:spPr>
          <a:xfrm>
            <a:off x="2624385" y="4237764"/>
            <a:ext cx="502200" cy="0"/>
          </a:xfrm>
          <a:prstGeom prst="straightConnector1">
            <a:avLst/>
          </a:prstGeom>
          <a:noFill/>
          <a:ln cap="flat" cmpd="sng" w="19050">
            <a:solidFill>
              <a:schemeClr val="accent4"/>
            </a:solidFill>
            <a:prstDash val="solid"/>
            <a:round/>
            <a:headEnd len="med" w="med" type="triangle"/>
            <a:tailEnd len="med" w="med" type="triangle"/>
          </a:ln>
        </p:spPr>
      </p:cxnSp>
      <p:sp>
        <p:nvSpPr>
          <p:cNvPr id="1101" name="Google Shape;1101;p84"/>
          <p:cNvSpPr txBox="1"/>
          <p:nvPr>
            <p:ph idx="4294967295" type="body"/>
          </p:nvPr>
        </p:nvSpPr>
        <p:spPr>
          <a:xfrm>
            <a:off x="2708156" y="4272821"/>
            <a:ext cx="752400" cy="201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7.2 cm</a:t>
            </a:r>
            <a:endParaRPr sz="1800"/>
          </a:p>
        </p:txBody>
      </p:sp>
      <p:graphicFrame>
        <p:nvGraphicFramePr>
          <p:cNvPr id="1102" name="Google Shape;1102;p84"/>
          <p:cNvGraphicFramePr/>
          <p:nvPr/>
        </p:nvGraphicFramePr>
        <p:xfrm>
          <a:off x="1695588" y="751968"/>
          <a:ext cx="3000000" cy="3000000"/>
        </p:xfrm>
        <a:graphic>
          <a:graphicData uri="http://schemas.openxmlformats.org/drawingml/2006/table">
            <a:tbl>
              <a:tblPr>
                <a:noFill/>
                <a:tableStyleId>{C81FF9EA-781E-435A-8130-865065205EE4}</a:tableStyleId>
              </a:tblPr>
              <a:tblGrid>
                <a:gridCol w="1894525"/>
                <a:gridCol w="1932675"/>
                <a:gridCol w="1664800"/>
                <a:gridCol w="1643200"/>
              </a:tblGrid>
              <a:tr h="241875">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Lexend"/>
                          <a:ea typeface="Lexend"/>
                          <a:cs typeface="Lexend"/>
                          <a:sym typeface="Lexend"/>
                        </a:rPr>
                        <a:t>sector</a:t>
                      </a:r>
                      <a:endParaRPr b="1"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1</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2</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answer (cm²)</a:t>
                      </a:r>
                      <a:endParaRPr sz="1600" u="none" cap="none" strike="noStrike">
                        <a:solidFill>
                          <a:schemeClr val="lt1"/>
                        </a:solidFill>
                        <a:latin typeface="Lexend"/>
                        <a:ea typeface="Lexend"/>
                        <a:cs typeface="Lexend"/>
                        <a:sym typeface="Lexend"/>
                      </a:endParaRPr>
                    </a:p>
                  </a:txBody>
                  <a:tcPr marT="18000" marB="18000" marR="91425" marL="91425" anchor="ctr">
                    <a:lnB cap="flat" cmpd="sng" w="9525">
                      <a:solidFill>
                        <a:srgbClr val="9E9E9E"/>
                      </a:solidFill>
                      <a:prstDash val="solid"/>
                      <a:round/>
                      <a:headEnd len="sm" w="sm" type="none"/>
                      <a:tailEnd len="sm" w="sm" type="none"/>
                    </a:lnB>
                    <a:solidFill>
                      <a:schemeClr val="accent4"/>
                    </a:solidFill>
                  </a:tcPr>
                </a:tc>
              </a:tr>
              <a:tr h="12287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3355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162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103" name="Google Shape;1103;p84"/>
          <p:cNvSpPr txBox="1"/>
          <p:nvPr>
            <p:ph idx="4294967295" type="body"/>
          </p:nvPr>
        </p:nvSpPr>
        <p:spPr>
          <a:xfrm>
            <a:off x="1696175" y="104267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d) </a:t>
            </a:r>
            <a:endParaRPr i="1" sz="1800">
              <a:latin typeface="Times New Roman"/>
              <a:ea typeface="Times New Roman"/>
              <a:cs typeface="Times New Roman"/>
              <a:sym typeface="Times New Roman"/>
            </a:endParaRPr>
          </a:p>
        </p:txBody>
      </p:sp>
      <p:sp>
        <p:nvSpPr>
          <p:cNvPr id="1104" name="Google Shape;1104;p84"/>
          <p:cNvSpPr txBox="1"/>
          <p:nvPr>
            <p:ph idx="4294967295" type="body"/>
          </p:nvPr>
        </p:nvSpPr>
        <p:spPr>
          <a:xfrm>
            <a:off x="1696175" y="226052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e) </a:t>
            </a:r>
            <a:endParaRPr i="1" sz="1800">
              <a:latin typeface="Times New Roman"/>
              <a:ea typeface="Times New Roman"/>
              <a:cs typeface="Times New Roman"/>
              <a:sym typeface="Times New Roman"/>
            </a:endParaRPr>
          </a:p>
        </p:txBody>
      </p:sp>
      <p:sp>
        <p:nvSpPr>
          <p:cNvPr id="1105" name="Google Shape;1105;p84"/>
          <p:cNvSpPr txBox="1"/>
          <p:nvPr>
            <p:ph idx="4294967295" type="body"/>
          </p:nvPr>
        </p:nvSpPr>
        <p:spPr>
          <a:xfrm>
            <a:off x="1696175" y="3596098"/>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f) </a:t>
            </a:r>
            <a:endParaRPr i="1" sz="1800">
              <a:latin typeface="Times New Roman"/>
              <a:ea typeface="Times New Roman"/>
              <a:cs typeface="Times New Roman"/>
              <a:sym typeface="Times New Roman"/>
            </a:endParaRPr>
          </a:p>
        </p:txBody>
      </p:sp>
      <p:sp>
        <p:nvSpPr>
          <p:cNvPr id="1106" name="Google Shape;1106;p84"/>
          <p:cNvSpPr txBox="1"/>
          <p:nvPr>
            <p:ph idx="4294967295" type="body"/>
          </p:nvPr>
        </p:nvSpPr>
        <p:spPr>
          <a:xfrm>
            <a:off x="322592" y="790125"/>
            <a:ext cx="1331100" cy="27045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700"/>
              <a:t>2) Complete the table. Give your answer both as a decimal (rounded to 1 d.p.) and in terms of </a:t>
            </a:r>
            <a:r>
              <a:rPr lang="en-GB" sz="2100">
                <a:latin typeface="Times New Roman"/>
                <a:ea typeface="Times New Roman"/>
                <a:cs typeface="Times New Roman"/>
                <a:sym typeface="Times New Roman"/>
              </a:rPr>
              <a:t>π</a:t>
            </a:r>
            <a:r>
              <a:rPr lang="en-GB" sz="1700"/>
              <a:t>.</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id="1111" name="Google Shape;1111;p85"/>
          <p:cNvPicPr preferRelativeResize="0"/>
          <p:nvPr/>
        </p:nvPicPr>
        <p:blipFill rotWithShape="1">
          <a:blip r:embed="rId3">
            <a:alphaModFix/>
          </a:blip>
          <a:srcRect b="0" l="23826" r="0" t="74180"/>
          <a:stretch/>
        </p:blipFill>
        <p:spPr>
          <a:xfrm>
            <a:off x="6871556" y="1699185"/>
            <a:ext cx="1485575" cy="1053436"/>
          </a:xfrm>
          <a:prstGeom prst="rect">
            <a:avLst/>
          </a:prstGeom>
          <a:noFill/>
          <a:ln>
            <a:noFill/>
          </a:ln>
        </p:spPr>
      </p:pic>
      <p:sp>
        <p:nvSpPr>
          <p:cNvPr id="1112" name="Google Shape;1112;p85"/>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sp>
        <p:nvSpPr>
          <p:cNvPr id="1113" name="Google Shape;1113;p85"/>
          <p:cNvSpPr txBox="1"/>
          <p:nvPr>
            <p:ph idx="4294967295" type="body"/>
          </p:nvPr>
        </p:nvSpPr>
        <p:spPr>
          <a:xfrm>
            <a:off x="324000" y="713925"/>
            <a:ext cx="8496000" cy="601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700"/>
              <a:t>1) Match the circle </a:t>
            </a:r>
            <a:r>
              <a:rPr b="1" lang="en-GB" sz="1700"/>
              <a:t>sectors</a:t>
            </a:r>
            <a:r>
              <a:rPr lang="en-GB" sz="1700"/>
              <a:t> with the possible correct calculations and answers. Some calculations do not match with a </a:t>
            </a:r>
            <a:r>
              <a:rPr b="1" lang="en-GB" sz="1700"/>
              <a:t>sector</a:t>
            </a:r>
            <a:r>
              <a:rPr lang="en-GB" sz="1700"/>
              <a:t>.</a:t>
            </a:r>
            <a:endParaRPr sz="1700"/>
          </a:p>
        </p:txBody>
      </p:sp>
      <p:cxnSp>
        <p:nvCxnSpPr>
          <p:cNvPr id="1114" name="Google Shape;1114;p85"/>
          <p:cNvCxnSpPr/>
          <p:nvPr/>
        </p:nvCxnSpPr>
        <p:spPr>
          <a:xfrm>
            <a:off x="826528" y="2869090"/>
            <a:ext cx="991200" cy="0"/>
          </a:xfrm>
          <a:prstGeom prst="straightConnector1">
            <a:avLst/>
          </a:prstGeom>
          <a:noFill/>
          <a:ln cap="flat" cmpd="sng" w="38100">
            <a:solidFill>
              <a:schemeClr val="accent4"/>
            </a:solidFill>
            <a:prstDash val="solid"/>
            <a:round/>
            <a:headEnd len="med" w="med" type="triangle"/>
            <a:tailEnd len="med" w="med" type="triangle"/>
          </a:ln>
        </p:spPr>
      </p:cxnSp>
      <p:sp>
        <p:nvSpPr>
          <p:cNvPr id="1115" name="Google Shape;1115;p85"/>
          <p:cNvSpPr txBox="1"/>
          <p:nvPr>
            <p:ph idx="4294967295" type="body"/>
          </p:nvPr>
        </p:nvSpPr>
        <p:spPr>
          <a:xfrm>
            <a:off x="663900" y="2883513"/>
            <a:ext cx="13164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6 cm</a:t>
            </a:r>
            <a:endParaRPr sz="1800"/>
          </a:p>
        </p:txBody>
      </p:sp>
      <p:cxnSp>
        <p:nvCxnSpPr>
          <p:cNvPr id="1116" name="Google Shape;1116;p85"/>
          <p:cNvCxnSpPr/>
          <p:nvPr/>
        </p:nvCxnSpPr>
        <p:spPr>
          <a:xfrm>
            <a:off x="4326976" y="2869100"/>
            <a:ext cx="1056000" cy="0"/>
          </a:xfrm>
          <a:prstGeom prst="straightConnector1">
            <a:avLst/>
          </a:prstGeom>
          <a:noFill/>
          <a:ln cap="flat" cmpd="sng" w="38100">
            <a:solidFill>
              <a:schemeClr val="accent4"/>
            </a:solidFill>
            <a:prstDash val="solid"/>
            <a:round/>
            <a:headEnd len="med" w="med" type="triangle"/>
            <a:tailEnd len="med" w="med" type="triangle"/>
          </a:ln>
        </p:spPr>
      </p:cxnSp>
      <p:sp>
        <p:nvSpPr>
          <p:cNvPr id="1117" name="Google Shape;1117;p85"/>
          <p:cNvSpPr txBox="1"/>
          <p:nvPr>
            <p:ph idx="4294967295" type="body"/>
          </p:nvPr>
        </p:nvSpPr>
        <p:spPr>
          <a:xfrm>
            <a:off x="4373454" y="2883535"/>
            <a:ext cx="963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4 cm</a:t>
            </a:r>
            <a:endParaRPr sz="1800"/>
          </a:p>
        </p:txBody>
      </p:sp>
      <p:sp>
        <p:nvSpPr>
          <p:cNvPr id="1118" name="Google Shape;1118;p85"/>
          <p:cNvSpPr txBox="1"/>
          <p:nvPr>
            <p:ph idx="4294967295" type="body"/>
          </p:nvPr>
        </p:nvSpPr>
        <p:spPr>
          <a:xfrm>
            <a:off x="7388914" y="2118988"/>
            <a:ext cx="5817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120°</a:t>
            </a:r>
            <a:endParaRPr sz="1800"/>
          </a:p>
        </p:txBody>
      </p:sp>
      <p:sp>
        <p:nvSpPr>
          <p:cNvPr id="1119" name="Google Shape;1119;p85"/>
          <p:cNvSpPr/>
          <p:nvPr/>
        </p:nvSpPr>
        <p:spPr>
          <a:xfrm>
            <a:off x="7017792" y="2377609"/>
            <a:ext cx="684300" cy="684300"/>
          </a:xfrm>
          <a:prstGeom prst="arc">
            <a:avLst>
              <a:gd fmla="val 1443606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cxnSp>
        <p:nvCxnSpPr>
          <p:cNvPr id="1120" name="Google Shape;1120;p85"/>
          <p:cNvCxnSpPr/>
          <p:nvPr/>
        </p:nvCxnSpPr>
        <p:spPr>
          <a:xfrm>
            <a:off x="7360703" y="2869100"/>
            <a:ext cx="1056000" cy="0"/>
          </a:xfrm>
          <a:prstGeom prst="straightConnector1">
            <a:avLst/>
          </a:prstGeom>
          <a:noFill/>
          <a:ln cap="flat" cmpd="sng" w="38100">
            <a:solidFill>
              <a:schemeClr val="accent4"/>
            </a:solidFill>
            <a:prstDash val="solid"/>
            <a:round/>
            <a:headEnd len="med" w="med" type="triangle"/>
            <a:tailEnd len="med" w="med" type="triangle"/>
          </a:ln>
        </p:spPr>
      </p:cxnSp>
      <p:sp>
        <p:nvSpPr>
          <p:cNvPr id="1121" name="Google Shape;1121;p85"/>
          <p:cNvSpPr txBox="1"/>
          <p:nvPr>
            <p:ph idx="4294967295" type="body"/>
          </p:nvPr>
        </p:nvSpPr>
        <p:spPr>
          <a:xfrm>
            <a:off x="7407182" y="2883535"/>
            <a:ext cx="963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r = 6 cm</a:t>
            </a:r>
            <a:endParaRPr sz="1800"/>
          </a:p>
        </p:txBody>
      </p:sp>
      <p:pic>
        <p:nvPicPr>
          <p:cNvPr descr="&lt;math xmlns=&quot;http://www.w3.org/1998/Math/MathML&quot; display=&quot;block&quot; data-is-equatio=&quot;1&quot; data-latex=&quot;\frac{1}{4}\times\pi\times6^2&quot;&gt;&lt;mfrac&gt;&lt;mn&gt;1&lt;/mn&gt;&lt;mn&gt;4&lt;/mn&gt;&lt;/mfrac&gt;&lt;mo&gt;×&lt;/mo&gt;&lt;mi&gt;π&lt;/mi&gt;&lt;mo&gt;×&lt;/mo&gt;&lt;msup&gt;&lt;mn&gt;6&lt;/mn&gt;&lt;mn&gt;2&lt;/mn&gt;&lt;/msup&gt;&lt;/math&gt;" id="1122" name="Google Shape;1122;p85" title="one fourth times pi times 6 squared"/>
          <p:cNvPicPr preferRelativeResize="0"/>
          <p:nvPr/>
        </p:nvPicPr>
        <p:blipFill rotWithShape="1">
          <a:blip r:embed="rId4">
            <a:alphaModFix/>
          </a:blip>
          <a:srcRect b="0" l="0" r="0" t="0"/>
          <a:stretch/>
        </p:blipFill>
        <p:spPr>
          <a:xfrm>
            <a:off x="868662" y="3287400"/>
            <a:ext cx="1193197" cy="568800"/>
          </a:xfrm>
          <a:prstGeom prst="rect">
            <a:avLst/>
          </a:prstGeom>
          <a:noFill/>
          <a:ln>
            <a:noFill/>
          </a:ln>
        </p:spPr>
      </p:pic>
      <p:pic>
        <p:nvPicPr>
          <p:cNvPr descr="&lt;math xmlns=&quot;http://www.w3.org/1998/Math/MathML&quot; display=&quot;block&quot; data-is-equatio=&quot;1&quot; data-latex=&quot;\frac{1}{2}\times\pi\times4^2&quot;&gt;&lt;mfrac&gt;&lt;mn&gt;1&lt;/mn&gt;&lt;mn&gt;2&lt;/mn&gt;&lt;/mfrac&gt;&lt;mo&gt;×&lt;/mo&gt;&lt;mi&gt;π&lt;/mi&gt;&lt;mo&gt;×&lt;/mo&gt;&lt;msup&gt;&lt;mn&gt;4&lt;/mn&gt;&lt;mn&gt;2&lt;/mn&gt;&lt;/msup&gt;&lt;/math&gt;" id="1123" name="Google Shape;1123;p85" title="one half times pi times 4 squared"/>
          <p:cNvPicPr preferRelativeResize="0"/>
          <p:nvPr/>
        </p:nvPicPr>
        <p:blipFill rotWithShape="1">
          <a:blip r:embed="rId5">
            <a:alphaModFix/>
          </a:blip>
          <a:srcRect b="0" l="0" r="0" t="0"/>
          <a:stretch/>
        </p:blipFill>
        <p:spPr>
          <a:xfrm>
            <a:off x="3646813" y="3287400"/>
            <a:ext cx="1193197" cy="568800"/>
          </a:xfrm>
          <a:prstGeom prst="rect">
            <a:avLst/>
          </a:prstGeom>
          <a:noFill/>
          <a:ln>
            <a:noFill/>
          </a:ln>
        </p:spPr>
      </p:pic>
      <p:grpSp>
        <p:nvGrpSpPr>
          <p:cNvPr id="1124" name="Google Shape;1124;p85"/>
          <p:cNvGrpSpPr/>
          <p:nvPr/>
        </p:nvGrpSpPr>
        <p:grpSpPr>
          <a:xfrm>
            <a:off x="3306130" y="3433205"/>
            <a:ext cx="277200" cy="277200"/>
            <a:chOff x="1020916" y="1442088"/>
            <a:chExt cx="457200" cy="457200"/>
          </a:xfrm>
        </p:grpSpPr>
        <p:pic>
          <p:nvPicPr>
            <p:cNvPr id="1125" name="Google Shape;1125;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26" name="Google Shape;1126;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127" name="Google Shape;1127;p85"/>
          <p:cNvGrpSpPr/>
          <p:nvPr/>
        </p:nvGrpSpPr>
        <p:grpSpPr>
          <a:xfrm>
            <a:off x="6550055" y="3433205"/>
            <a:ext cx="277200" cy="277200"/>
            <a:chOff x="1020916" y="1442088"/>
            <a:chExt cx="457200" cy="457200"/>
          </a:xfrm>
        </p:grpSpPr>
        <p:pic>
          <p:nvPicPr>
            <p:cNvPr id="1128" name="Google Shape;1128;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29" name="Google Shape;112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130" name="Google Shape;1130;p85"/>
          <p:cNvGrpSpPr/>
          <p:nvPr/>
        </p:nvGrpSpPr>
        <p:grpSpPr>
          <a:xfrm>
            <a:off x="527980" y="3433205"/>
            <a:ext cx="277200" cy="277200"/>
            <a:chOff x="1020916" y="1442088"/>
            <a:chExt cx="457200" cy="457200"/>
          </a:xfrm>
        </p:grpSpPr>
        <p:pic>
          <p:nvPicPr>
            <p:cNvPr id="1131" name="Google Shape;1131;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32" name="Google Shape;1132;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133" name="Google Shape;1133;p85"/>
          <p:cNvGrpSpPr/>
          <p:nvPr/>
        </p:nvGrpSpPr>
        <p:grpSpPr>
          <a:xfrm>
            <a:off x="527980" y="4045905"/>
            <a:ext cx="277200" cy="277200"/>
            <a:chOff x="1020916" y="1442088"/>
            <a:chExt cx="457200" cy="457200"/>
          </a:xfrm>
        </p:grpSpPr>
        <p:pic>
          <p:nvPicPr>
            <p:cNvPr id="1134" name="Google Shape;1134;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35" name="Google Shape;1135;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pi&quot;&gt;&lt;mn&gt;9&lt;/mn&gt;&lt;mi&gt;π&lt;/mi&gt;&lt;/math&gt;" id="1136" name="Google Shape;1136;p85" title="9 pi"/>
          <p:cNvPicPr preferRelativeResize="0"/>
          <p:nvPr/>
        </p:nvPicPr>
        <p:blipFill rotWithShape="1">
          <a:blip r:embed="rId7">
            <a:alphaModFix/>
          </a:blip>
          <a:srcRect b="0" l="0" r="0" t="0"/>
          <a:stretch/>
        </p:blipFill>
        <p:spPr>
          <a:xfrm>
            <a:off x="868163" y="4096300"/>
            <a:ext cx="258720" cy="176400"/>
          </a:xfrm>
          <a:prstGeom prst="rect">
            <a:avLst/>
          </a:prstGeom>
          <a:noFill/>
          <a:ln>
            <a:noFill/>
          </a:ln>
        </p:spPr>
      </p:pic>
      <p:grpSp>
        <p:nvGrpSpPr>
          <p:cNvPr id="1137" name="Google Shape;1137;p85"/>
          <p:cNvGrpSpPr/>
          <p:nvPr/>
        </p:nvGrpSpPr>
        <p:grpSpPr>
          <a:xfrm>
            <a:off x="3306130" y="4045893"/>
            <a:ext cx="277200" cy="277200"/>
            <a:chOff x="1020916" y="1442088"/>
            <a:chExt cx="457200" cy="457200"/>
          </a:xfrm>
        </p:grpSpPr>
        <p:pic>
          <p:nvPicPr>
            <p:cNvPr id="1138" name="Google Shape;1138;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39" name="Google Shape;113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1140" name="Google Shape;1140;p85"/>
          <p:cNvGrpSpPr/>
          <p:nvPr/>
        </p:nvGrpSpPr>
        <p:grpSpPr>
          <a:xfrm>
            <a:off x="6550055" y="4045893"/>
            <a:ext cx="277200" cy="277200"/>
            <a:chOff x="1020916" y="1442088"/>
            <a:chExt cx="457200" cy="457200"/>
          </a:xfrm>
        </p:grpSpPr>
        <p:pic>
          <p:nvPicPr>
            <p:cNvPr id="1141" name="Google Shape;1141;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42" name="Google Shape;1142;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8\pi&quot;&gt;&lt;mn&gt;8&lt;/mn&gt;&lt;mi&gt;π&lt;/mi&gt;&lt;/math&gt;" id="1143" name="Google Shape;1143;p85" title="8 pi"/>
          <p:cNvPicPr preferRelativeResize="0"/>
          <p:nvPr/>
        </p:nvPicPr>
        <p:blipFill rotWithShape="1">
          <a:blip r:embed="rId8">
            <a:alphaModFix/>
          </a:blip>
          <a:srcRect b="0" l="0" r="0" t="0"/>
          <a:stretch/>
        </p:blipFill>
        <p:spPr>
          <a:xfrm>
            <a:off x="3643363" y="4096288"/>
            <a:ext cx="264600" cy="176400"/>
          </a:xfrm>
          <a:prstGeom prst="rect">
            <a:avLst/>
          </a:prstGeom>
          <a:noFill/>
          <a:ln>
            <a:noFill/>
          </a:ln>
        </p:spPr>
      </p:pic>
      <p:pic>
        <p:nvPicPr>
          <p:cNvPr descr="&lt;math xmlns=&quot;http://www.w3.org/1998/Math/MathML&quot; display=&quot;block&quot; data-is-equatio=&quot;1&quot; data-latex=&quot;\frac{1}{3}\times\pi\times6^2&quot;&gt;&lt;mfrac&gt;&lt;mn&gt;1&lt;/mn&gt;&lt;mn&gt;3&lt;/mn&gt;&lt;/mfrac&gt;&lt;mo&gt;×&lt;/mo&gt;&lt;mi&gt;π&lt;/mi&gt;&lt;mo&gt;×&lt;/mo&gt;&lt;msup&gt;&lt;mn&gt;6&lt;/mn&gt;&lt;mn&gt;2&lt;/mn&gt;&lt;/msup&gt;&lt;/math&gt;" id="1144" name="Google Shape;1144;p85" title="one third times pi times 6 squared"/>
          <p:cNvPicPr preferRelativeResize="0"/>
          <p:nvPr/>
        </p:nvPicPr>
        <p:blipFill rotWithShape="1">
          <a:blip r:embed="rId9">
            <a:alphaModFix/>
          </a:blip>
          <a:srcRect b="0" l="0" r="0" t="0"/>
          <a:stretch/>
        </p:blipFill>
        <p:spPr>
          <a:xfrm>
            <a:off x="6887300" y="3287388"/>
            <a:ext cx="1183104" cy="568800"/>
          </a:xfrm>
          <a:prstGeom prst="rect">
            <a:avLst/>
          </a:prstGeom>
          <a:noFill/>
          <a:ln>
            <a:noFill/>
          </a:ln>
        </p:spPr>
      </p:pic>
      <p:pic>
        <p:nvPicPr>
          <p:cNvPr descr="&lt;math xmlns=&quot;http://www.w3.org/1998/Math/MathML&quot; display=&quot;block&quot; data-is-equatio=&quot;1&quot; data-latex=&quot;12\pi&quot;&gt;&lt;mn&gt;12&lt;/mn&gt;&lt;mi&gt;π&lt;/mi&gt;&lt;/math&gt;" id="1145" name="Google Shape;1145;p85" title="12 pi"/>
          <p:cNvPicPr preferRelativeResize="0"/>
          <p:nvPr/>
        </p:nvPicPr>
        <p:blipFill rotWithShape="1">
          <a:blip r:embed="rId10">
            <a:alphaModFix/>
          </a:blip>
          <a:srcRect b="0" l="0" r="0" t="0"/>
          <a:stretch/>
        </p:blipFill>
        <p:spPr>
          <a:xfrm>
            <a:off x="6887288" y="4096300"/>
            <a:ext cx="366030" cy="176400"/>
          </a:xfrm>
          <a:prstGeom prst="rect">
            <a:avLst/>
          </a:prstGeom>
          <a:noFill/>
          <a:ln>
            <a:noFill/>
          </a:ln>
        </p:spPr>
      </p:pic>
      <p:pic>
        <p:nvPicPr>
          <p:cNvPr id="1146" name="Google Shape;1146;p85"/>
          <p:cNvPicPr preferRelativeResize="0"/>
          <p:nvPr/>
        </p:nvPicPr>
        <p:blipFill rotWithShape="1">
          <a:blip r:embed="rId3">
            <a:alphaModFix/>
          </a:blip>
          <a:srcRect b="73728" l="46458" r="0" t="0"/>
          <a:stretch/>
        </p:blipFill>
        <p:spPr>
          <a:xfrm>
            <a:off x="765349" y="1745950"/>
            <a:ext cx="1056000" cy="1083976"/>
          </a:xfrm>
          <a:prstGeom prst="rect">
            <a:avLst/>
          </a:prstGeom>
          <a:noFill/>
          <a:ln>
            <a:noFill/>
          </a:ln>
        </p:spPr>
      </p:pic>
      <p:pic>
        <p:nvPicPr>
          <p:cNvPr id="1147" name="Google Shape;1147;p85"/>
          <p:cNvPicPr preferRelativeResize="0"/>
          <p:nvPr/>
        </p:nvPicPr>
        <p:blipFill rotWithShape="1">
          <a:blip r:embed="rId3">
            <a:alphaModFix/>
          </a:blip>
          <a:srcRect b="34659" l="0" r="0" t="36070"/>
          <a:stretch/>
        </p:blipFill>
        <p:spPr>
          <a:xfrm>
            <a:off x="3357975" y="1646459"/>
            <a:ext cx="1978475" cy="1211504"/>
          </a:xfrm>
          <a:prstGeom prst="rect">
            <a:avLst/>
          </a:prstGeom>
          <a:noFill/>
          <a:ln>
            <a:noFill/>
          </a:ln>
        </p:spPr>
      </p:pic>
      <p:sp>
        <p:nvSpPr>
          <p:cNvPr id="1148" name="Google Shape;1148;p85"/>
          <p:cNvSpPr txBox="1"/>
          <p:nvPr/>
        </p:nvSpPr>
        <p:spPr>
          <a:xfrm>
            <a:off x="6564976" y="1575447"/>
            <a:ext cx="247500" cy="16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Lexend"/>
              <a:ea typeface="Lexend"/>
              <a:cs typeface="Lexend"/>
              <a:sym typeface="Lexend"/>
            </a:endParaRPr>
          </a:p>
        </p:txBody>
      </p:sp>
      <p:grpSp>
        <p:nvGrpSpPr>
          <p:cNvPr id="1149" name="Google Shape;1149;p85"/>
          <p:cNvGrpSpPr/>
          <p:nvPr/>
        </p:nvGrpSpPr>
        <p:grpSpPr>
          <a:xfrm>
            <a:off x="324005" y="1575452"/>
            <a:ext cx="277200" cy="277200"/>
            <a:chOff x="1020916" y="1442088"/>
            <a:chExt cx="457200" cy="457200"/>
          </a:xfrm>
        </p:grpSpPr>
        <p:pic>
          <p:nvPicPr>
            <p:cNvPr id="1150" name="Google Shape;1150;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51" name="Google Shape;1151;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1</a:t>
              </a:r>
              <a:endParaRPr b="1" i="0" sz="1800" u="none" cap="none" strike="noStrike">
                <a:solidFill>
                  <a:srgbClr val="FFFFFF"/>
                </a:solidFill>
                <a:latin typeface="Lexend"/>
                <a:ea typeface="Lexend"/>
                <a:cs typeface="Lexend"/>
                <a:sym typeface="Lexend"/>
              </a:endParaRPr>
            </a:p>
          </p:txBody>
        </p:sp>
      </p:grpSp>
      <p:grpSp>
        <p:nvGrpSpPr>
          <p:cNvPr id="1152" name="Google Shape;1152;p85"/>
          <p:cNvGrpSpPr/>
          <p:nvPr/>
        </p:nvGrpSpPr>
        <p:grpSpPr>
          <a:xfrm>
            <a:off x="3143405" y="1575452"/>
            <a:ext cx="277200" cy="277200"/>
            <a:chOff x="1020916" y="1442088"/>
            <a:chExt cx="457200" cy="457200"/>
          </a:xfrm>
        </p:grpSpPr>
        <p:pic>
          <p:nvPicPr>
            <p:cNvPr id="1153" name="Google Shape;1153;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54" name="Google Shape;1154;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2</a:t>
              </a:r>
              <a:endParaRPr b="1" i="0" sz="1800" u="none" cap="none" strike="noStrike">
                <a:solidFill>
                  <a:srgbClr val="FFFFFF"/>
                </a:solidFill>
                <a:latin typeface="Lexend"/>
                <a:ea typeface="Lexend"/>
                <a:cs typeface="Lexend"/>
                <a:sym typeface="Lexend"/>
              </a:endParaRPr>
            </a:p>
          </p:txBody>
        </p:sp>
      </p:grpSp>
      <p:grpSp>
        <p:nvGrpSpPr>
          <p:cNvPr id="1155" name="Google Shape;1155;p85"/>
          <p:cNvGrpSpPr/>
          <p:nvPr/>
        </p:nvGrpSpPr>
        <p:grpSpPr>
          <a:xfrm>
            <a:off x="6343805" y="1575452"/>
            <a:ext cx="277200" cy="277200"/>
            <a:chOff x="1020916" y="1442088"/>
            <a:chExt cx="457200" cy="457200"/>
          </a:xfrm>
        </p:grpSpPr>
        <p:pic>
          <p:nvPicPr>
            <p:cNvPr id="1156" name="Google Shape;1156;p85"/>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157" name="Google Shape;1157;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3</a:t>
              </a:r>
              <a:endParaRPr b="1" i="0" sz="1800" u="none" cap="none" strike="noStrike">
                <a:solidFill>
                  <a:srgbClr val="FFFFFF"/>
                </a:solidFill>
                <a:latin typeface="Lexend"/>
                <a:ea typeface="Lexend"/>
                <a:cs typeface="Lexend"/>
                <a:sym typeface="Lexend"/>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graphicFrame>
        <p:nvGraphicFramePr>
          <p:cNvPr id="1162" name="Google Shape;1162;p86"/>
          <p:cNvGraphicFramePr/>
          <p:nvPr/>
        </p:nvGraphicFramePr>
        <p:xfrm>
          <a:off x="1695588" y="751968"/>
          <a:ext cx="3000000" cy="3000000"/>
        </p:xfrm>
        <a:graphic>
          <a:graphicData uri="http://schemas.openxmlformats.org/drawingml/2006/table">
            <a:tbl>
              <a:tblPr>
                <a:noFill/>
                <a:tableStyleId>{C81FF9EA-781E-435A-8130-865065205EE4}</a:tableStyleId>
              </a:tblPr>
              <a:tblGrid>
                <a:gridCol w="1894525"/>
                <a:gridCol w="1932675"/>
                <a:gridCol w="1664800"/>
                <a:gridCol w="1643200"/>
              </a:tblGrid>
              <a:tr h="241875">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Lexend"/>
                          <a:ea typeface="Lexend"/>
                          <a:cs typeface="Lexend"/>
                          <a:sym typeface="Lexend"/>
                        </a:rPr>
                        <a:t>sector</a:t>
                      </a:r>
                      <a:endParaRPr b="1"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1</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2</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answer (cm²)</a:t>
                      </a:r>
                      <a:endParaRPr sz="1600" u="none" cap="none" strike="noStrike">
                        <a:solidFill>
                          <a:schemeClr val="lt1"/>
                        </a:solidFill>
                        <a:latin typeface="Lexend"/>
                        <a:ea typeface="Lexend"/>
                        <a:cs typeface="Lexend"/>
                        <a:sym typeface="Lexend"/>
                      </a:endParaRPr>
                    </a:p>
                  </a:txBody>
                  <a:tcPr marT="18000" marB="18000" marR="91425" marL="91425" anchor="ctr">
                    <a:lnB cap="flat" cmpd="sng" w="9525">
                      <a:solidFill>
                        <a:srgbClr val="9E9E9E"/>
                      </a:solidFill>
                      <a:prstDash val="solid"/>
                      <a:round/>
                      <a:headEnd len="sm" w="sm" type="none"/>
                      <a:tailEnd len="sm" w="sm" type="none"/>
                    </a:lnB>
                    <a:solidFill>
                      <a:schemeClr val="accent4"/>
                    </a:solidFill>
                  </a:tcPr>
                </a:tc>
              </a:tr>
              <a:tr h="12287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000"/>
                        <a:buFont typeface="Arial"/>
                        <a:buNone/>
                      </a:pPr>
                      <a:r>
                        <a:rPr lang="en-GB" sz="2000" u="none" cap="none" strike="noStrike">
                          <a:latin typeface="Times New Roman"/>
                          <a:ea typeface="Times New Roman"/>
                          <a:cs typeface="Times New Roman"/>
                          <a:sym typeface="Times New Roman"/>
                        </a:rPr>
                        <a:t>450</a:t>
                      </a:r>
                      <a:r>
                        <a:rPr i="1" lang="en-GB" sz="2000" u="none" cap="none" strike="noStrike">
                          <a:latin typeface="Times New Roman"/>
                          <a:ea typeface="Times New Roman"/>
                          <a:cs typeface="Times New Roman"/>
                          <a:sym typeface="Times New Roman"/>
                        </a:rPr>
                        <a:t>π</a:t>
                      </a:r>
                      <a:endParaRPr i="1" sz="20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lang="en-GB" sz="2000" u="none" cap="none" strike="noStrike">
                          <a:latin typeface="Times New Roman"/>
                          <a:ea typeface="Times New Roman"/>
                          <a:cs typeface="Times New Roman"/>
                          <a:sym typeface="Times New Roman"/>
                        </a:rPr>
                        <a:t>1413.7</a:t>
                      </a:r>
                      <a:endParaRPr sz="2000" u="none" cap="none" strike="noStrike">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3355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 243π</a:t>
                      </a:r>
                      <a:endParaRPr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lang="en-GB" sz="2000" u="none" cap="none" strike="noStrike">
                          <a:solidFill>
                            <a:schemeClr val="dk1"/>
                          </a:solidFill>
                          <a:latin typeface="Times New Roman"/>
                          <a:ea typeface="Times New Roman"/>
                          <a:cs typeface="Times New Roman"/>
                          <a:sym typeface="Times New Roman"/>
                        </a:rPr>
                        <a:t>763.4</a:t>
                      </a:r>
                      <a:endParaRPr sz="2000" u="none" cap="none" strike="noStrike">
                        <a:solidFill>
                          <a:schemeClr val="dk1"/>
                        </a:solidFill>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162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2166</a:t>
                      </a:r>
                      <a:r>
                        <a:rPr i="1" lang="en-GB" sz="2200" u="none" cap="none" strike="noStrike">
                          <a:solidFill>
                            <a:schemeClr val="dk1"/>
                          </a:solidFill>
                          <a:latin typeface="Times New Roman"/>
                          <a:ea typeface="Times New Roman"/>
                          <a:cs typeface="Times New Roman"/>
                          <a:sym typeface="Times New Roman"/>
                        </a:rPr>
                        <a:t>π</a:t>
                      </a:r>
                      <a:endParaRPr i="1"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lang="en-GB" sz="2200" u="none" cap="none" strike="noStrike">
                          <a:solidFill>
                            <a:schemeClr val="dk1"/>
                          </a:solidFill>
                          <a:latin typeface="Times New Roman"/>
                          <a:ea typeface="Times New Roman"/>
                          <a:cs typeface="Times New Roman"/>
                          <a:sym typeface="Times New Roman"/>
                        </a:rPr>
                        <a:t>6804.7</a:t>
                      </a:r>
                      <a:endParaRPr i="1" sz="2200" u="none" cap="none" strike="noStrike">
                        <a:solidFill>
                          <a:schemeClr val="dk1"/>
                        </a:solidFill>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descr="three fourths times pi times 324&#10;&#10;&lt;math xmlns=&quot;http://www.w3.org/1998/Math/MathML&quot; display=&quot;block&quot; data-is-equatio=&quot;1&quot; data-latex=&quot;\frac{3}{4}\times\pi\times324&quot;&gt;&lt;mfrac&gt;&lt;mn&gt;3&lt;/mn&gt;&lt;mn&gt;4&lt;/mn&gt;&lt;/mfrac&gt;&lt;mo&gt;×&lt;/mo&gt;&lt;mi&gt;π&lt;/mi&gt;&lt;mo&gt;×&lt;/mo&gt;&lt;mn&gt;324&lt;/mn&gt;&lt;/math&gt;" id="1163" name="Google Shape;1163;p86"/>
          <p:cNvPicPr preferRelativeResize="0"/>
          <p:nvPr/>
        </p:nvPicPr>
        <p:blipFill>
          <a:blip r:embed="rId3">
            <a:alphaModFix/>
          </a:blip>
          <a:stretch>
            <a:fillRect/>
          </a:stretch>
        </p:blipFill>
        <p:spPr>
          <a:xfrm>
            <a:off x="5684804" y="2669497"/>
            <a:ext cx="1368870" cy="568800"/>
          </a:xfrm>
          <a:prstGeom prst="rect">
            <a:avLst/>
          </a:prstGeom>
          <a:noFill/>
          <a:ln>
            <a:noFill/>
          </a:ln>
        </p:spPr>
      </p:pic>
      <p:pic>
        <p:nvPicPr>
          <p:cNvPr id="1164" name="Google Shape;1164;p86"/>
          <p:cNvPicPr preferRelativeResize="0"/>
          <p:nvPr/>
        </p:nvPicPr>
        <p:blipFill rotWithShape="1">
          <a:blip r:embed="rId4">
            <a:alphaModFix/>
          </a:blip>
          <a:srcRect b="2" l="10477" r="16762" t="65971"/>
          <a:stretch/>
        </p:blipFill>
        <p:spPr>
          <a:xfrm>
            <a:off x="1949756" y="3571950"/>
            <a:ext cx="1378575" cy="1240151"/>
          </a:xfrm>
          <a:prstGeom prst="rect">
            <a:avLst/>
          </a:prstGeom>
          <a:noFill/>
          <a:ln>
            <a:noFill/>
          </a:ln>
        </p:spPr>
      </p:pic>
      <p:cxnSp>
        <p:nvCxnSpPr>
          <p:cNvPr id="1165" name="Google Shape;1165;p86"/>
          <p:cNvCxnSpPr/>
          <p:nvPr/>
        </p:nvCxnSpPr>
        <p:spPr>
          <a:xfrm>
            <a:off x="2619847" y="4340758"/>
            <a:ext cx="637500" cy="0"/>
          </a:xfrm>
          <a:prstGeom prst="straightConnector1">
            <a:avLst/>
          </a:prstGeom>
          <a:noFill/>
          <a:ln cap="flat" cmpd="sng" w="19050">
            <a:solidFill>
              <a:schemeClr val="accent4"/>
            </a:solidFill>
            <a:prstDash val="solid"/>
            <a:round/>
            <a:headEnd len="med" w="med" type="triangle"/>
            <a:tailEnd len="med" w="med" type="triangle"/>
          </a:ln>
        </p:spPr>
      </p:cxnSp>
      <p:sp>
        <p:nvSpPr>
          <p:cNvPr id="1166" name="Google Shape;1166;p86"/>
          <p:cNvSpPr txBox="1"/>
          <p:nvPr>
            <p:ph idx="4294967295" type="body"/>
          </p:nvPr>
        </p:nvSpPr>
        <p:spPr>
          <a:xfrm>
            <a:off x="2582477" y="4350436"/>
            <a:ext cx="712200" cy="215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57 cm</a:t>
            </a:r>
            <a:endParaRPr sz="1800"/>
          </a:p>
        </p:txBody>
      </p:sp>
      <p:sp>
        <p:nvSpPr>
          <p:cNvPr id="1167" name="Google Shape;1167;p86"/>
          <p:cNvSpPr txBox="1"/>
          <p:nvPr>
            <p:ph idx="4294967295" type="body"/>
          </p:nvPr>
        </p:nvSpPr>
        <p:spPr>
          <a:xfrm>
            <a:off x="2221730" y="3847792"/>
            <a:ext cx="563700" cy="215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240°</a:t>
            </a:r>
            <a:endParaRPr sz="1800"/>
          </a:p>
        </p:txBody>
      </p:sp>
      <p:pic>
        <p:nvPicPr>
          <p:cNvPr id="1168" name="Google Shape;1168;p86"/>
          <p:cNvPicPr preferRelativeResize="0"/>
          <p:nvPr/>
        </p:nvPicPr>
        <p:blipFill rotWithShape="1">
          <a:blip r:embed="rId4">
            <a:alphaModFix/>
          </a:blip>
          <a:srcRect b="63865" l="10477" r="16762" t="0"/>
          <a:stretch/>
        </p:blipFill>
        <p:spPr>
          <a:xfrm>
            <a:off x="1971018" y="2306706"/>
            <a:ext cx="1356170" cy="1295618"/>
          </a:xfrm>
          <a:prstGeom prst="rect">
            <a:avLst/>
          </a:prstGeom>
          <a:noFill/>
          <a:ln>
            <a:noFill/>
          </a:ln>
        </p:spPr>
      </p:pic>
      <p:pic>
        <p:nvPicPr>
          <p:cNvPr id="1169" name="Google Shape;1169;p86"/>
          <p:cNvPicPr preferRelativeResize="0"/>
          <p:nvPr/>
        </p:nvPicPr>
        <p:blipFill rotWithShape="1">
          <a:blip r:embed="rId4">
            <a:alphaModFix/>
          </a:blip>
          <a:srcRect b="43667" l="10477" r="16762" t="36768"/>
          <a:stretch/>
        </p:blipFill>
        <p:spPr>
          <a:xfrm>
            <a:off x="1908244" y="1105739"/>
            <a:ext cx="1482699" cy="766924"/>
          </a:xfrm>
          <a:prstGeom prst="rect">
            <a:avLst/>
          </a:prstGeom>
          <a:noFill/>
          <a:ln>
            <a:noFill/>
          </a:ln>
        </p:spPr>
      </p:pic>
      <p:cxnSp>
        <p:nvCxnSpPr>
          <p:cNvPr id="1170" name="Google Shape;1170;p86"/>
          <p:cNvCxnSpPr/>
          <p:nvPr/>
        </p:nvCxnSpPr>
        <p:spPr>
          <a:xfrm>
            <a:off x="2628948" y="1902575"/>
            <a:ext cx="685800" cy="0"/>
          </a:xfrm>
          <a:prstGeom prst="straightConnector1">
            <a:avLst/>
          </a:prstGeom>
          <a:noFill/>
          <a:ln cap="flat" cmpd="sng" w="19050">
            <a:solidFill>
              <a:schemeClr val="accent4"/>
            </a:solidFill>
            <a:prstDash val="solid"/>
            <a:round/>
            <a:headEnd len="med" w="med" type="triangle"/>
            <a:tailEnd len="med" w="med" type="triangle"/>
          </a:ln>
        </p:spPr>
      </p:cxnSp>
      <p:sp>
        <p:nvSpPr>
          <p:cNvPr id="1171" name="Google Shape;1171;p86"/>
          <p:cNvSpPr txBox="1"/>
          <p:nvPr>
            <p:ph idx="4294967295" type="body"/>
          </p:nvPr>
        </p:nvSpPr>
        <p:spPr>
          <a:xfrm>
            <a:off x="2588756" y="1912984"/>
            <a:ext cx="766200" cy="23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30</a:t>
            </a:r>
            <a:r>
              <a:rPr lang="en-GB" sz="700"/>
              <a:t> </a:t>
            </a:r>
            <a:r>
              <a:rPr lang="en-GB" sz="1800"/>
              <a:t>cm</a:t>
            </a:r>
            <a:endParaRPr sz="1800"/>
          </a:p>
        </p:txBody>
      </p:sp>
      <p:cxnSp>
        <p:nvCxnSpPr>
          <p:cNvPr id="1172" name="Google Shape;1172;p86"/>
          <p:cNvCxnSpPr/>
          <p:nvPr/>
        </p:nvCxnSpPr>
        <p:spPr>
          <a:xfrm>
            <a:off x="2637887" y="2849036"/>
            <a:ext cx="563700" cy="0"/>
          </a:xfrm>
          <a:prstGeom prst="straightConnector1">
            <a:avLst/>
          </a:prstGeom>
          <a:noFill/>
          <a:ln cap="flat" cmpd="sng" w="19050">
            <a:solidFill>
              <a:schemeClr val="accent4"/>
            </a:solidFill>
            <a:prstDash val="solid"/>
            <a:round/>
            <a:headEnd len="med" w="med" type="triangle"/>
            <a:tailEnd len="med" w="med" type="triangle"/>
          </a:ln>
        </p:spPr>
      </p:cxnSp>
      <p:sp>
        <p:nvSpPr>
          <p:cNvPr id="1173" name="Google Shape;1173;p86"/>
          <p:cNvSpPr txBox="1"/>
          <p:nvPr>
            <p:ph idx="4294967295" type="body"/>
          </p:nvPr>
        </p:nvSpPr>
        <p:spPr>
          <a:xfrm flipH="1">
            <a:off x="2416422" y="2566667"/>
            <a:ext cx="869400" cy="23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18</a:t>
            </a:r>
            <a:r>
              <a:rPr lang="en-GB" sz="700"/>
              <a:t> </a:t>
            </a:r>
            <a:r>
              <a:rPr lang="en-GB" sz="1800"/>
              <a:t>cm</a:t>
            </a:r>
            <a:endParaRPr sz="1800"/>
          </a:p>
        </p:txBody>
      </p:sp>
      <p:sp>
        <p:nvSpPr>
          <p:cNvPr id="1174" name="Google Shape;1174;p8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pic>
        <p:nvPicPr>
          <p:cNvPr descr="&lt;math xmlns=&quot;http://www.w3.org/1998/Math/MathML&quot; display=&quot;block&quot; data-is-equatio=&quot;1&quot; data-latex=&quot;\frac{1}{2}\times\pi\times900&quot;&gt;&lt;mfrac&gt;&lt;mn&gt;1&lt;/mn&gt;&lt;mn&gt;2&lt;/mn&gt;&lt;/mfrac&gt;&lt;mo&gt;×&lt;/mo&gt;&lt;mi&gt;π&lt;/mi&gt;&lt;mo&gt;×&lt;/mo&gt;&lt;mn&gt;900&lt;/mn&gt;&lt;/math&gt;" id="1175" name="Google Shape;1175;p86" title="one half times pi times 900"/>
          <p:cNvPicPr preferRelativeResize="0"/>
          <p:nvPr/>
        </p:nvPicPr>
        <p:blipFill rotWithShape="1">
          <a:blip r:embed="rId5">
            <a:alphaModFix/>
          </a:blip>
          <a:srcRect b="0" l="0" r="0" t="0"/>
          <a:stretch/>
        </p:blipFill>
        <p:spPr>
          <a:xfrm>
            <a:off x="5760819" y="1366017"/>
            <a:ext cx="1214567" cy="503275"/>
          </a:xfrm>
          <a:prstGeom prst="rect">
            <a:avLst/>
          </a:prstGeom>
          <a:noFill/>
          <a:ln>
            <a:noFill/>
          </a:ln>
        </p:spPr>
      </p:pic>
      <p:pic>
        <p:nvPicPr>
          <p:cNvPr descr="&lt;math xmlns=&quot;http://www.w3.org/1998/Math/MathML&quot; display=&quot;block&quot; data-is-equatio=&quot;1&quot; data-latex=&quot;\frac{3}{4}\times\pi\times18^2&quot;&gt;&lt;mfrac&gt;&lt;mn&gt;3&lt;/mn&gt;&lt;mn&gt;4&lt;/mn&gt;&lt;/mfrac&gt;&lt;mo&gt;×&lt;/mo&gt;&lt;mi&gt;π&lt;/mi&gt;&lt;mo&gt;×&lt;/mo&gt;&lt;msup&gt;&lt;mn&gt;18&lt;/mn&gt;&lt;mn&gt;2&lt;/mn&gt;&lt;/msup&gt;&lt;/math&gt;" id="1176" name="Google Shape;1176;p86" title="three fourths times pi times 18 squared"/>
          <p:cNvPicPr preferRelativeResize="0"/>
          <p:nvPr/>
        </p:nvPicPr>
        <p:blipFill rotWithShape="1">
          <a:blip r:embed="rId6">
            <a:alphaModFix/>
          </a:blip>
          <a:srcRect b="0" l="0" r="0" t="0"/>
          <a:stretch/>
        </p:blipFill>
        <p:spPr>
          <a:xfrm>
            <a:off x="3883663" y="2670100"/>
            <a:ext cx="1330992" cy="568800"/>
          </a:xfrm>
          <a:prstGeom prst="rect">
            <a:avLst/>
          </a:prstGeom>
          <a:noFill/>
          <a:ln>
            <a:noFill/>
          </a:ln>
        </p:spPr>
      </p:pic>
      <p:pic>
        <p:nvPicPr>
          <p:cNvPr descr="&lt;math xmlns=&quot;http://www.w3.org/1998/Math/MathML&quot; display=&quot;block&quot; data-is-equatio=&quot;1&quot; data-latex=&quot;\frac{1}{2}\times\pi\times30^2&quot;&gt;&lt;mfrac&gt;&lt;mn&gt;1&lt;/mn&gt;&lt;mn&gt;2&lt;/mn&gt;&lt;/mfrac&gt;&lt;mo&gt;×&lt;/mo&gt;&lt;mi&gt;π&lt;/mi&gt;&lt;mo&gt;×&lt;/mo&gt;&lt;msup&gt;&lt;mn&gt;30&lt;/mn&gt;&lt;mn&gt;2&lt;/mn&gt;&lt;/msup&gt;&lt;/math&gt;" id="1177" name="Google Shape;1177;p86" title="one half times pi times 30 squared"/>
          <p:cNvPicPr preferRelativeResize="0"/>
          <p:nvPr/>
        </p:nvPicPr>
        <p:blipFill rotWithShape="1">
          <a:blip r:embed="rId7">
            <a:alphaModFix/>
          </a:blip>
          <a:srcRect b="0" l="0" r="0" t="0"/>
          <a:stretch/>
        </p:blipFill>
        <p:spPr>
          <a:xfrm>
            <a:off x="3959488" y="1365655"/>
            <a:ext cx="1179360" cy="504000"/>
          </a:xfrm>
          <a:prstGeom prst="rect">
            <a:avLst/>
          </a:prstGeom>
          <a:noFill/>
          <a:ln>
            <a:noFill/>
          </a:ln>
        </p:spPr>
      </p:pic>
      <p:pic>
        <p:nvPicPr>
          <p:cNvPr descr="&lt;math xmlns=&quot;http://www.w3.org/1998/Math/MathML&quot; display=&quot;block&quot; data-is-equatio=&quot;1&quot; data-latex=&quot;\frac{\ \ \ \ \ \ \ }{ }\times\pi\times57^2&quot;&gt;&lt;mfrac&gt;&lt;mrow&gt;&lt;mtext&gt;&lt;/mtext&gt;&lt;mtext&gt;&lt;/mtext&gt;&lt;mtext&gt;&lt;/mtext&gt;&lt;mtext&gt;&lt;/mtext&gt;&lt;mtext&gt;&lt;/mtext&gt;&lt;mtext&gt;&lt;/mtext&gt;&lt;mtext&gt;&lt;/mtext&gt;&lt;/mrow&gt;&lt;mrow/&gt;&lt;/mfrac&gt;&lt;mo&gt;×&lt;/mo&gt;&lt;mi&gt;π&lt;/mi&gt;&lt;mo&gt;×&lt;/mo&gt;&lt;msup&gt;&lt;mn&gt;57&lt;/mn&gt;&lt;mn&gt;2&lt;/mn&gt;&lt;/msup&gt;&lt;/math&gt;" id="1178" name="Google Shape;1178;p86" title="the fraction with numerator and denominator times pi times 57 squared"/>
          <p:cNvPicPr preferRelativeResize="0"/>
          <p:nvPr/>
        </p:nvPicPr>
        <p:blipFill rotWithShape="1">
          <a:blip r:embed="rId8">
            <a:alphaModFix/>
          </a:blip>
          <a:srcRect b="0" l="6933" r="0" t="0"/>
          <a:stretch/>
        </p:blipFill>
        <p:spPr>
          <a:xfrm>
            <a:off x="3712388" y="3674337"/>
            <a:ext cx="1643025" cy="270000"/>
          </a:xfrm>
          <a:prstGeom prst="rect">
            <a:avLst/>
          </a:prstGeom>
          <a:noFill/>
          <a:ln>
            <a:noFill/>
          </a:ln>
        </p:spPr>
      </p:pic>
      <p:pic>
        <p:nvPicPr>
          <p:cNvPr descr="&lt;math xmlns=&quot;http://www.w3.org/1998/Math/MathML&quot; display=&quot;block&quot; data-is-equatio=&quot;1&quot; data-latex=&quot;\frac{2}{3}\times\pi\times3249&quot;&gt;&lt;mfrac&gt;&lt;mn&gt;2&lt;/mn&gt;&lt;mn&gt;3&lt;/mn&gt;&lt;/mfrac&gt;&lt;mo&gt;×&lt;/mo&gt;&lt;mi&gt;π&lt;/mi&gt;&lt;mo&gt;×&lt;/mo&gt;&lt;mn&gt;3249&lt;/mn&gt;&lt;/math&gt;" id="1179" name="Google Shape;1179;p86" title="two thirds times pi times 3249"/>
          <p:cNvPicPr preferRelativeResize="0"/>
          <p:nvPr/>
        </p:nvPicPr>
        <p:blipFill rotWithShape="1">
          <a:blip r:embed="rId9">
            <a:alphaModFix/>
          </a:blip>
          <a:srcRect b="0" l="0" r="0" t="0"/>
          <a:stretch/>
        </p:blipFill>
        <p:spPr>
          <a:xfrm>
            <a:off x="5622975" y="3907613"/>
            <a:ext cx="1490256" cy="568800"/>
          </a:xfrm>
          <a:prstGeom prst="rect">
            <a:avLst/>
          </a:prstGeom>
          <a:noFill/>
          <a:ln>
            <a:noFill/>
          </a:ln>
        </p:spPr>
      </p:pic>
      <p:pic>
        <p:nvPicPr>
          <p:cNvPr descr="&lt;math xmlns=&quot;http://www.w3.org/1998/Math/MathML&quot; display=&quot;block&quot; data-is-equatio=&quot;1&quot; data-latex=&quot;\frac{\ \ \ \ \ \ \ }{ }\times\pi\times57^2&quot;&gt;&lt;mfrac&gt;&lt;mrow&gt;&lt;mtext&gt;&lt;/mtext&gt;&lt;mtext&gt;&lt;/mtext&gt;&lt;mtext&gt;&lt;/mtext&gt;&lt;mtext&gt;&lt;/mtext&gt;&lt;mtext&gt;&lt;/mtext&gt;&lt;mtext&gt;&lt;/mtext&gt;&lt;mtext&gt;&lt;/mtext&gt;&lt;/mrow&gt;&lt;mrow/&gt;&lt;/mfrac&gt;&lt;mo&gt;×&lt;/mo&gt;&lt;mi&gt;π&lt;/mi&gt;&lt;mo&gt;×&lt;/mo&gt;&lt;msup&gt;&lt;mn&gt;57&lt;/mn&gt;&lt;mn&gt;2&lt;/mn&gt;&lt;/msup&gt;&lt;/math&gt;" id="1180" name="Google Shape;1180;p86" title="the fraction with numerator and denominator times pi times 57 squared"/>
          <p:cNvPicPr preferRelativeResize="0"/>
          <p:nvPr/>
        </p:nvPicPr>
        <p:blipFill rotWithShape="1">
          <a:blip r:embed="rId8">
            <a:alphaModFix/>
          </a:blip>
          <a:srcRect b="0" l="6933" r="0" t="0"/>
          <a:stretch/>
        </p:blipFill>
        <p:spPr>
          <a:xfrm>
            <a:off x="3712388" y="4350456"/>
            <a:ext cx="1643025" cy="270000"/>
          </a:xfrm>
          <a:prstGeom prst="rect">
            <a:avLst/>
          </a:prstGeom>
          <a:noFill/>
          <a:ln>
            <a:noFill/>
          </a:ln>
        </p:spPr>
      </p:pic>
      <p:sp>
        <p:nvSpPr>
          <p:cNvPr id="1181" name="Google Shape;1181;p86"/>
          <p:cNvSpPr txBox="1"/>
          <p:nvPr>
            <p:ph idx="4294967295" type="body"/>
          </p:nvPr>
        </p:nvSpPr>
        <p:spPr>
          <a:xfrm>
            <a:off x="3712387" y="3480337"/>
            <a:ext cx="423300" cy="3753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p:txBody>
      </p:sp>
      <p:sp>
        <p:nvSpPr>
          <p:cNvPr id="1182" name="Google Shape;1182;p86"/>
          <p:cNvSpPr txBox="1"/>
          <p:nvPr>
            <p:ph idx="4294967295" type="body"/>
          </p:nvPr>
        </p:nvSpPr>
        <p:spPr>
          <a:xfrm>
            <a:off x="3712387" y="3869187"/>
            <a:ext cx="423300" cy="375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p:txBody>
      </p:sp>
      <p:sp>
        <p:nvSpPr>
          <p:cNvPr id="1183" name="Google Shape;1183;p86"/>
          <p:cNvSpPr txBox="1"/>
          <p:nvPr>
            <p:ph idx="4294967295" type="body"/>
          </p:nvPr>
        </p:nvSpPr>
        <p:spPr>
          <a:xfrm>
            <a:off x="3712387" y="4156904"/>
            <a:ext cx="423300" cy="3753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Times New Roman"/>
                <a:ea typeface="Times New Roman"/>
                <a:cs typeface="Times New Roman"/>
                <a:sym typeface="Times New Roman"/>
              </a:rPr>
              <a:t>240</a:t>
            </a:r>
            <a:endParaRPr sz="2000">
              <a:latin typeface="Times New Roman"/>
              <a:ea typeface="Times New Roman"/>
              <a:cs typeface="Times New Roman"/>
              <a:sym typeface="Times New Roman"/>
            </a:endParaRPr>
          </a:p>
        </p:txBody>
      </p:sp>
      <p:sp>
        <p:nvSpPr>
          <p:cNvPr id="1184" name="Google Shape;1184;p86"/>
          <p:cNvSpPr txBox="1"/>
          <p:nvPr>
            <p:ph idx="4294967295" type="body"/>
          </p:nvPr>
        </p:nvSpPr>
        <p:spPr>
          <a:xfrm>
            <a:off x="3712387" y="4545754"/>
            <a:ext cx="423300" cy="375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Times New Roman"/>
                <a:ea typeface="Times New Roman"/>
                <a:cs typeface="Times New Roman"/>
                <a:sym typeface="Times New Roman"/>
              </a:rPr>
              <a:t>360</a:t>
            </a:r>
            <a:endParaRPr sz="2000">
              <a:latin typeface="Times New Roman"/>
              <a:ea typeface="Times New Roman"/>
              <a:cs typeface="Times New Roman"/>
              <a:sym typeface="Times New Roman"/>
            </a:endParaRPr>
          </a:p>
        </p:txBody>
      </p:sp>
      <p:sp>
        <p:nvSpPr>
          <p:cNvPr id="1185" name="Google Shape;1185;p86"/>
          <p:cNvSpPr txBox="1"/>
          <p:nvPr>
            <p:ph idx="4294967295" type="body"/>
          </p:nvPr>
        </p:nvSpPr>
        <p:spPr>
          <a:xfrm>
            <a:off x="3506512" y="4021714"/>
            <a:ext cx="2054700" cy="3078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SzPts val="2200"/>
              <a:buNone/>
            </a:pPr>
            <a:r>
              <a:rPr lang="en-GB" sz="2000">
                <a:latin typeface="Kalam"/>
                <a:ea typeface="Kalam"/>
                <a:cs typeface="Kalam"/>
                <a:sym typeface="Kalam"/>
              </a:rPr>
              <a:t>or</a:t>
            </a:r>
            <a:endParaRPr sz="2000">
              <a:latin typeface="Kalam"/>
              <a:ea typeface="Kalam"/>
              <a:cs typeface="Kalam"/>
              <a:sym typeface="Kalam"/>
            </a:endParaRPr>
          </a:p>
        </p:txBody>
      </p:sp>
      <p:sp>
        <p:nvSpPr>
          <p:cNvPr id="1186" name="Google Shape;1186;p86"/>
          <p:cNvSpPr txBox="1"/>
          <p:nvPr>
            <p:ph idx="4294967295" type="body"/>
          </p:nvPr>
        </p:nvSpPr>
        <p:spPr>
          <a:xfrm>
            <a:off x="1696175" y="104267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a) </a:t>
            </a:r>
            <a:endParaRPr i="1" sz="1800">
              <a:latin typeface="Times New Roman"/>
              <a:ea typeface="Times New Roman"/>
              <a:cs typeface="Times New Roman"/>
              <a:sym typeface="Times New Roman"/>
            </a:endParaRPr>
          </a:p>
        </p:txBody>
      </p:sp>
      <p:sp>
        <p:nvSpPr>
          <p:cNvPr id="1187" name="Google Shape;1187;p86"/>
          <p:cNvSpPr txBox="1"/>
          <p:nvPr>
            <p:ph idx="4294967295" type="body"/>
          </p:nvPr>
        </p:nvSpPr>
        <p:spPr>
          <a:xfrm>
            <a:off x="1696175" y="226052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b) </a:t>
            </a:r>
            <a:endParaRPr i="1" sz="1800">
              <a:latin typeface="Times New Roman"/>
              <a:ea typeface="Times New Roman"/>
              <a:cs typeface="Times New Roman"/>
              <a:sym typeface="Times New Roman"/>
            </a:endParaRPr>
          </a:p>
        </p:txBody>
      </p:sp>
      <p:sp>
        <p:nvSpPr>
          <p:cNvPr id="1188" name="Google Shape;1188;p86"/>
          <p:cNvSpPr txBox="1"/>
          <p:nvPr>
            <p:ph idx="4294967295" type="body"/>
          </p:nvPr>
        </p:nvSpPr>
        <p:spPr>
          <a:xfrm>
            <a:off x="1696175" y="3596098"/>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c) </a:t>
            </a:r>
            <a:endParaRPr i="1" sz="1800">
              <a:latin typeface="Times New Roman"/>
              <a:ea typeface="Times New Roman"/>
              <a:cs typeface="Times New Roman"/>
              <a:sym typeface="Times New Roman"/>
            </a:endParaRPr>
          </a:p>
        </p:txBody>
      </p:sp>
      <p:sp>
        <p:nvSpPr>
          <p:cNvPr id="1189" name="Google Shape;1189;p86"/>
          <p:cNvSpPr txBox="1"/>
          <p:nvPr>
            <p:ph idx="4294967295" type="body"/>
          </p:nvPr>
        </p:nvSpPr>
        <p:spPr>
          <a:xfrm>
            <a:off x="322592" y="790125"/>
            <a:ext cx="1331100" cy="27045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700"/>
              <a:t>2) Complete the table. Give your answer both as a decimal (rounded to 1 d.p.) and in terms of </a:t>
            </a:r>
            <a:r>
              <a:rPr lang="en-GB" sz="2100">
                <a:latin typeface="Times New Roman"/>
                <a:ea typeface="Times New Roman"/>
                <a:cs typeface="Times New Roman"/>
                <a:sym typeface="Times New Roman"/>
              </a:rPr>
              <a:t>π</a:t>
            </a:r>
            <a:r>
              <a:rPr lang="en-GB" sz="1700"/>
              <a:t>.</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pic>
        <p:nvPicPr>
          <p:cNvPr id="1194" name="Google Shape;1194;p87"/>
          <p:cNvPicPr preferRelativeResize="0"/>
          <p:nvPr/>
        </p:nvPicPr>
        <p:blipFill rotWithShape="1">
          <a:blip r:embed="rId3">
            <a:alphaModFix/>
          </a:blip>
          <a:srcRect b="0" l="0" r="0" t="0"/>
          <a:stretch/>
        </p:blipFill>
        <p:spPr>
          <a:xfrm>
            <a:off x="628909" y="2420017"/>
            <a:ext cx="1435667" cy="873249"/>
          </a:xfrm>
          <a:prstGeom prst="rect">
            <a:avLst/>
          </a:prstGeom>
          <a:noFill/>
          <a:ln>
            <a:noFill/>
          </a:ln>
        </p:spPr>
      </p:pic>
      <p:pic>
        <p:nvPicPr>
          <p:cNvPr id="1195" name="Google Shape;1195;p87"/>
          <p:cNvPicPr preferRelativeResize="0"/>
          <p:nvPr/>
        </p:nvPicPr>
        <p:blipFill rotWithShape="1">
          <a:blip r:embed="rId4">
            <a:alphaModFix/>
          </a:blip>
          <a:srcRect b="43667" l="10477" r="16762" t="36768"/>
          <a:stretch/>
        </p:blipFill>
        <p:spPr>
          <a:xfrm>
            <a:off x="628918" y="1100343"/>
            <a:ext cx="1435666" cy="742599"/>
          </a:xfrm>
          <a:prstGeom prst="rect">
            <a:avLst/>
          </a:prstGeom>
          <a:noFill/>
          <a:ln>
            <a:noFill/>
          </a:ln>
        </p:spPr>
      </p:pic>
      <p:sp>
        <p:nvSpPr>
          <p:cNvPr id="1196" name="Google Shape;1196;p8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sectors of a circle</a:t>
            </a:r>
            <a:endParaRPr/>
          </a:p>
        </p:txBody>
      </p:sp>
      <p:cxnSp>
        <p:nvCxnSpPr>
          <p:cNvPr id="1197" name="Google Shape;1197;p87"/>
          <p:cNvCxnSpPr/>
          <p:nvPr/>
        </p:nvCxnSpPr>
        <p:spPr>
          <a:xfrm>
            <a:off x="690234" y="1871905"/>
            <a:ext cx="1289700" cy="0"/>
          </a:xfrm>
          <a:prstGeom prst="straightConnector1">
            <a:avLst/>
          </a:prstGeom>
          <a:noFill/>
          <a:ln cap="flat" cmpd="sng" w="19050">
            <a:solidFill>
              <a:schemeClr val="accent4"/>
            </a:solidFill>
            <a:prstDash val="solid"/>
            <a:round/>
            <a:headEnd len="med" w="med" type="triangle"/>
            <a:tailEnd len="med" w="med" type="triangle"/>
          </a:ln>
        </p:spPr>
      </p:cxnSp>
      <p:sp>
        <p:nvSpPr>
          <p:cNvPr id="1198" name="Google Shape;1198;p87"/>
          <p:cNvSpPr txBox="1"/>
          <p:nvPr>
            <p:ph idx="4294967295" type="body"/>
          </p:nvPr>
        </p:nvSpPr>
        <p:spPr>
          <a:xfrm>
            <a:off x="690176" y="1881984"/>
            <a:ext cx="12897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d = 160 cm</a:t>
            </a:r>
            <a:endParaRPr sz="1800"/>
          </a:p>
        </p:txBody>
      </p:sp>
      <p:cxnSp>
        <p:nvCxnSpPr>
          <p:cNvPr id="1199" name="Google Shape;1199;p87"/>
          <p:cNvCxnSpPr/>
          <p:nvPr/>
        </p:nvCxnSpPr>
        <p:spPr>
          <a:xfrm>
            <a:off x="1277660" y="3281629"/>
            <a:ext cx="752400" cy="0"/>
          </a:xfrm>
          <a:prstGeom prst="straightConnector1">
            <a:avLst/>
          </a:prstGeom>
          <a:noFill/>
          <a:ln cap="flat" cmpd="sng" w="19050">
            <a:solidFill>
              <a:schemeClr val="accent4"/>
            </a:solidFill>
            <a:prstDash val="solid"/>
            <a:round/>
            <a:headEnd len="med" w="med" type="triangle"/>
            <a:tailEnd len="med" w="med" type="triangle"/>
          </a:ln>
        </p:spPr>
      </p:cxnSp>
      <p:sp>
        <p:nvSpPr>
          <p:cNvPr id="1200" name="Google Shape;1200;p87"/>
          <p:cNvSpPr txBox="1"/>
          <p:nvPr>
            <p:ph idx="4294967295" type="body"/>
          </p:nvPr>
        </p:nvSpPr>
        <p:spPr>
          <a:xfrm flipH="1">
            <a:off x="1313478" y="3288218"/>
            <a:ext cx="6810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84 cm</a:t>
            </a:r>
            <a:endParaRPr sz="1800"/>
          </a:p>
        </p:txBody>
      </p:sp>
      <p:sp>
        <p:nvSpPr>
          <p:cNvPr id="1201" name="Google Shape;1201;p87"/>
          <p:cNvSpPr txBox="1"/>
          <p:nvPr>
            <p:ph idx="4294967295" type="body"/>
          </p:nvPr>
        </p:nvSpPr>
        <p:spPr>
          <a:xfrm flipH="1">
            <a:off x="1050052" y="2757600"/>
            <a:ext cx="681000" cy="22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150°</a:t>
            </a:r>
            <a:endParaRPr sz="1800"/>
          </a:p>
        </p:txBody>
      </p:sp>
      <p:pic>
        <p:nvPicPr>
          <p:cNvPr id="1202" name="Google Shape;1202;p87"/>
          <p:cNvPicPr preferRelativeResize="0"/>
          <p:nvPr/>
        </p:nvPicPr>
        <p:blipFill rotWithShape="1">
          <a:blip r:embed="rId5">
            <a:alphaModFix/>
          </a:blip>
          <a:srcRect b="0" l="0" r="0" t="0"/>
          <a:stretch/>
        </p:blipFill>
        <p:spPr>
          <a:xfrm>
            <a:off x="652058" y="3621245"/>
            <a:ext cx="1182075" cy="1129450"/>
          </a:xfrm>
          <a:prstGeom prst="rect">
            <a:avLst/>
          </a:prstGeom>
          <a:noFill/>
          <a:ln>
            <a:noFill/>
          </a:ln>
        </p:spPr>
      </p:pic>
      <p:cxnSp>
        <p:nvCxnSpPr>
          <p:cNvPr id="1203" name="Google Shape;1203;p87"/>
          <p:cNvCxnSpPr/>
          <p:nvPr/>
        </p:nvCxnSpPr>
        <p:spPr>
          <a:xfrm>
            <a:off x="1252785" y="4237764"/>
            <a:ext cx="502200" cy="0"/>
          </a:xfrm>
          <a:prstGeom prst="straightConnector1">
            <a:avLst/>
          </a:prstGeom>
          <a:noFill/>
          <a:ln cap="flat" cmpd="sng" w="19050">
            <a:solidFill>
              <a:schemeClr val="accent4"/>
            </a:solidFill>
            <a:prstDash val="solid"/>
            <a:round/>
            <a:headEnd len="med" w="med" type="triangle"/>
            <a:tailEnd len="med" w="med" type="triangle"/>
          </a:ln>
        </p:spPr>
      </p:cxnSp>
      <p:sp>
        <p:nvSpPr>
          <p:cNvPr id="1204" name="Google Shape;1204;p87"/>
          <p:cNvSpPr txBox="1"/>
          <p:nvPr>
            <p:ph idx="4294967295" type="body"/>
          </p:nvPr>
        </p:nvSpPr>
        <p:spPr>
          <a:xfrm>
            <a:off x="1336556" y="4272821"/>
            <a:ext cx="752400" cy="201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7.2 cm</a:t>
            </a:r>
            <a:endParaRPr sz="1800"/>
          </a:p>
        </p:txBody>
      </p:sp>
      <p:graphicFrame>
        <p:nvGraphicFramePr>
          <p:cNvPr id="1205" name="Google Shape;1205;p87"/>
          <p:cNvGraphicFramePr/>
          <p:nvPr/>
        </p:nvGraphicFramePr>
        <p:xfrm>
          <a:off x="323988" y="751968"/>
          <a:ext cx="3000000" cy="3000000"/>
        </p:xfrm>
        <a:graphic>
          <a:graphicData uri="http://schemas.openxmlformats.org/drawingml/2006/table">
            <a:tbl>
              <a:tblPr>
                <a:noFill/>
                <a:tableStyleId>{C81FF9EA-781E-435A-8130-865065205EE4}</a:tableStyleId>
              </a:tblPr>
              <a:tblGrid>
                <a:gridCol w="1894525"/>
                <a:gridCol w="1932675"/>
                <a:gridCol w="1664800"/>
                <a:gridCol w="1643200"/>
              </a:tblGrid>
              <a:tr h="241875">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Lexend"/>
                          <a:ea typeface="Lexend"/>
                          <a:cs typeface="Lexend"/>
                          <a:sym typeface="Lexend"/>
                        </a:rPr>
                        <a:t>sector</a:t>
                      </a:r>
                      <a:endParaRPr b="1"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1</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step 2</a:t>
                      </a:r>
                      <a:endParaRPr sz="1600" u="none" cap="none" strike="noStrike">
                        <a:solidFill>
                          <a:schemeClr val="lt1"/>
                        </a:solidFill>
                        <a:latin typeface="Lexend"/>
                        <a:ea typeface="Lexend"/>
                        <a:cs typeface="Lexend"/>
                        <a:sym typeface="Lexend"/>
                      </a:endParaRPr>
                    </a:p>
                  </a:txBody>
                  <a:tcPr marT="18000" marB="18000" marR="91425" marL="91425" anchor="ctr">
                    <a:solidFill>
                      <a:schemeClr val="accent4"/>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latin typeface="Lexend"/>
                          <a:ea typeface="Lexend"/>
                          <a:cs typeface="Lexend"/>
                          <a:sym typeface="Lexend"/>
                        </a:rPr>
                        <a:t>answer (cm²)</a:t>
                      </a:r>
                      <a:endParaRPr sz="1600" u="none" cap="none" strike="noStrike">
                        <a:solidFill>
                          <a:schemeClr val="lt1"/>
                        </a:solidFill>
                        <a:latin typeface="Lexend"/>
                        <a:ea typeface="Lexend"/>
                        <a:cs typeface="Lexend"/>
                        <a:sym typeface="Lexend"/>
                      </a:endParaRPr>
                    </a:p>
                  </a:txBody>
                  <a:tcPr marT="18000" marB="18000" marR="91425" marL="91425" anchor="ctr">
                    <a:lnB cap="flat" cmpd="sng" w="9525">
                      <a:solidFill>
                        <a:srgbClr val="9E9E9E"/>
                      </a:solidFill>
                      <a:prstDash val="solid"/>
                      <a:round/>
                      <a:headEnd len="sm" w="sm" type="none"/>
                      <a:tailEnd len="sm" w="sm" type="none"/>
                    </a:lnB>
                    <a:solidFill>
                      <a:schemeClr val="accent4"/>
                    </a:solidFill>
                  </a:tcPr>
                </a:tc>
              </a:tr>
              <a:tr h="12287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a:latin typeface="Times New Roman"/>
                          <a:ea typeface="Times New Roman"/>
                          <a:cs typeface="Times New Roman"/>
                          <a:sym typeface="Times New Roman"/>
                        </a:rPr>
                        <a:t>3200</a:t>
                      </a:r>
                      <a:r>
                        <a:rPr lang="en-GB" sz="2200" u="none" cap="none" strike="noStrike">
                          <a:latin typeface="Times New Roman"/>
                          <a:ea typeface="Times New Roman"/>
                          <a:cs typeface="Times New Roman"/>
                          <a:sym typeface="Times New Roman"/>
                        </a:rPr>
                        <a:t>π</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a:latin typeface="Times New Roman"/>
                          <a:ea typeface="Times New Roman"/>
                          <a:cs typeface="Times New Roman"/>
                          <a:sym typeface="Times New Roman"/>
                        </a:rPr>
                        <a:t>1</a:t>
                      </a:r>
                      <a:r>
                        <a:rPr lang="en-GB" sz="2200" u="none" cap="none" strike="noStrike">
                          <a:latin typeface="Times New Roman"/>
                          <a:ea typeface="Times New Roman"/>
                          <a:cs typeface="Times New Roman"/>
                          <a:sym typeface="Times New Roman"/>
                        </a:rPr>
                        <a:t>0 </a:t>
                      </a:r>
                      <a:r>
                        <a:rPr lang="en-GB" sz="2200">
                          <a:latin typeface="Times New Roman"/>
                          <a:ea typeface="Times New Roman"/>
                          <a:cs typeface="Times New Roman"/>
                          <a:sym typeface="Times New Roman"/>
                        </a:rPr>
                        <a:t>053.1</a:t>
                      </a:r>
                      <a:endParaRPr sz="2200" u="none" cap="none" strike="noStrike">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3355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2940π</a:t>
                      </a:r>
                      <a:endParaRPr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9236.3</a:t>
                      </a:r>
                      <a:endParaRPr sz="2200" u="none" cap="none" strike="noStrike">
                        <a:solidFill>
                          <a:schemeClr val="dk1"/>
                        </a:solidFill>
                        <a:latin typeface="Times New Roman"/>
                        <a:ea typeface="Times New Roman"/>
                        <a:cs typeface="Times New Roman"/>
                        <a:sym typeface="Times New Roman"/>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162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chemeClr val="dk1"/>
                        </a:buClr>
                        <a:buSzPts val="1100"/>
                        <a:buFont typeface="Arial"/>
                        <a:buNone/>
                      </a:pPr>
                      <a:r>
                        <a:rPr lang="en-GB" sz="2200" u="none" cap="none" strike="noStrike">
                          <a:solidFill>
                            <a:schemeClr val="dk1"/>
                          </a:solidFill>
                          <a:latin typeface="Times New Roman"/>
                          <a:ea typeface="Times New Roman"/>
                          <a:cs typeface="Times New Roman"/>
                          <a:sym typeface="Times New Roman"/>
                        </a:rPr>
                        <a:t>43.2π</a:t>
                      </a:r>
                      <a:endParaRPr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135.7</a:t>
                      </a:r>
                      <a:endParaRPr sz="1400" u="none" cap="none" strike="noStrike"/>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5}{6}\times\pi\times7.2^2&quot;&gt;&lt;mfrac&gt;&lt;mn&gt;5&lt;/mn&gt;&lt;mn&gt;6&lt;/mn&gt;&lt;/mfrac&gt;&lt;mo&gt;×&lt;/mo&gt;&lt;mi&gt;π&lt;/mi&gt;&lt;mo&gt;×&lt;/mo&gt;&lt;msup&gt;&lt;mn&gt;7.2&lt;/mn&gt;&lt;mn&gt;2&lt;/mn&gt;&lt;/msup&gt;&lt;/math&gt;" id="1206" name="Google Shape;1206;p87" title="five sixths times pi times 7.2 squared"/>
          <p:cNvPicPr preferRelativeResize="0"/>
          <p:nvPr/>
        </p:nvPicPr>
        <p:blipFill rotWithShape="1">
          <a:blip r:embed="rId6">
            <a:alphaModFix/>
          </a:blip>
          <a:srcRect b="0" l="0" r="0" t="0"/>
          <a:stretch/>
        </p:blipFill>
        <p:spPr>
          <a:xfrm>
            <a:off x="2469800" y="3915206"/>
            <a:ext cx="1384080" cy="568800"/>
          </a:xfrm>
          <a:prstGeom prst="rect">
            <a:avLst/>
          </a:prstGeom>
          <a:noFill/>
          <a:ln>
            <a:noFill/>
          </a:ln>
        </p:spPr>
      </p:pic>
      <p:pic>
        <p:nvPicPr>
          <p:cNvPr descr="&lt;math xmlns=&quot;http://www.w3.org/1998/Math/MathML&quot; display=&quot;block&quot; data-is-equatio=&quot;1&quot; data-latex=&quot;\frac{5}{6}\times\pi\times51.84&quot;&gt;&lt;mfrac&gt;&lt;mn&gt;5&lt;/mn&gt;&lt;mn&gt;6&lt;/mn&gt;&lt;/mfrac&gt;&lt;mo&gt;×&lt;/mo&gt;&lt;mi&gt;π&lt;/mi&gt;&lt;mo&gt;×&lt;/mo&gt;&lt;mn&gt;51.84&lt;/mn&gt;&lt;/math&gt;" id="1207" name="Google Shape;1207;p87" title="five sixths times pi times 51.84"/>
          <p:cNvPicPr preferRelativeResize="0"/>
          <p:nvPr/>
        </p:nvPicPr>
        <p:blipFill rotWithShape="1">
          <a:blip r:embed="rId7">
            <a:alphaModFix/>
          </a:blip>
          <a:srcRect b="0" l="0" r="0" t="0"/>
          <a:stretch/>
        </p:blipFill>
        <p:spPr>
          <a:xfrm>
            <a:off x="4193162" y="3915206"/>
            <a:ext cx="1566096" cy="568800"/>
          </a:xfrm>
          <a:prstGeom prst="rect">
            <a:avLst/>
          </a:prstGeom>
          <a:noFill/>
          <a:ln>
            <a:noFill/>
          </a:ln>
        </p:spPr>
      </p:pic>
      <p:pic>
        <p:nvPicPr>
          <p:cNvPr descr="&lt;math xmlns=&quot;http://www.w3.org/1998/Math/MathML&quot; display=&quot;block&quot; data-is-equatio=&quot;1&quot; data-latex=&quot;\frac{150}{360}\times\pi\times84^2&quot;&gt;&lt;mfrac&gt;&lt;mn&gt;150&lt;/mn&gt;&lt;mn&gt;360&lt;/mn&gt;&lt;/mfrac&gt;&lt;mo&gt;×&lt;/mo&gt;&lt;mi&gt;π&lt;/mi&gt;&lt;mo&gt;×&lt;/mo&gt;&lt;msup&gt;&lt;mn&gt;84&lt;/mn&gt;&lt;mn&gt;2&lt;/mn&gt;&lt;/msup&gt;&lt;/math&gt;" id="1208" name="Google Shape;1208;p87" title="150 over 360 times pi times 84 squared"/>
          <p:cNvPicPr preferRelativeResize="0"/>
          <p:nvPr/>
        </p:nvPicPr>
        <p:blipFill rotWithShape="1">
          <a:blip r:embed="rId8">
            <a:alphaModFix/>
          </a:blip>
          <a:srcRect b="0" l="0" r="0" t="0"/>
          <a:stretch/>
        </p:blipFill>
        <p:spPr>
          <a:xfrm>
            <a:off x="2380250" y="2671450"/>
            <a:ext cx="1592640" cy="568800"/>
          </a:xfrm>
          <a:prstGeom prst="rect">
            <a:avLst/>
          </a:prstGeom>
          <a:noFill/>
          <a:ln>
            <a:noFill/>
          </a:ln>
        </p:spPr>
      </p:pic>
      <p:pic>
        <p:nvPicPr>
          <p:cNvPr descr="&lt;math xmlns=&quot;http://www.w3.org/1998/Math/MathML&quot; display=&quot;block&quot; data-is-equatio=&quot;1&quot; data-latex=&quot;\frac{150}{360}\times\pi\times7056&quot;&gt;&lt;mfrac&gt;&lt;mn&gt;150&lt;/mn&gt;&lt;mn&gt;360&lt;/mn&gt;&lt;/mfrac&gt;&lt;mo&gt;×&lt;/mo&gt;&lt;mi&gt;π&lt;/mi&gt;&lt;mo&gt;×&lt;/mo&gt;&lt;mn&gt;7056&lt;/mn&gt;&lt;/math&gt;" id="1209" name="Google Shape;1209;p87" title="150 over 360 times pi times 7056"/>
          <p:cNvPicPr preferRelativeResize="0"/>
          <p:nvPr/>
        </p:nvPicPr>
        <p:blipFill rotWithShape="1">
          <a:blip r:embed="rId9">
            <a:alphaModFix/>
          </a:blip>
          <a:srcRect b="0" l="0" r="0" t="0"/>
          <a:stretch/>
        </p:blipFill>
        <p:spPr>
          <a:xfrm>
            <a:off x="4151199" y="2687334"/>
            <a:ext cx="1664800" cy="537030"/>
          </a:xfrm>
          <a:prstGeom prst="rect">
            <a:avLst/>
          </a:prstGeom>
          <a:noFill/>
          <a:ln>
            <a:noFill/>
          </a:ln>
        </p:spPr>
      </p:pic>
      <p:sp>
        <p:nvSpPr>
          <p:cNvPr id="1210" name="Google Shape;1210;p87"/>
          <p:cNvSpPr txBox="1"/>
          <p:nvPr>
            <p:ph idx="4294967295" type="body"/>
          </p:nvPr>
        </p:nvSpPr>
        <p:spPr>
          <a:xfrm>
            <a:off x="324575" y="104267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d) </a:t>
            </a:r>
            <a:endParaRPr i="1" sz="1800">
              <a:latin typeface="Times New Roman"/>
              <a:ea typeface="Times New Roman"/>
              <a:cs typeface="Times New Roman"/>
              <a:sym typeface="Times New Roman"/>
            </a:endParaRPr>
          </a:p>
        </p:txBody>
      </p:sp>
      <p:sp>
        <p:nvSpPr>
          <p:cNvPr id="1211" name="Google Shape;1211;p87"/>
          <p:cNvSpPr txBox="1"/>
          <p:nvPr>
            <p:ph idx="4294967295" type="body"/>
          </p:nvPr>
        </p:nvSpPr>
        <p:spPr>
          <a:xfrm>
            <a:off x="324575" y="2260523"/>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e) </a:t>
            </a:r>
            <a:endParaRPr i="1" sz="1800">
              <a:latin typeface="Times New Roman"/>
              <a:ea typeface="Times New Roman"/>
              <a:cs typeface="Times New Roman"/>
              <a:sym typeface="Times New Roman"/>
            </a:endParaRPr>
          </a:p>
        </p:txBody>
      </p:sp>
      <p:sp>
        <p:nvSpPr>
          <p:cNvPr id="1212" name="Google Shape;1212;p87"/>
          <p:cNvSpPr txBox="1"/>
          <p:nvPr>
            <p:ph idx="4294967295" type="body"/>
          </p:nvPr>
        </p:nvSpPr>
        <p:spPr>
          <a:xfrm>
            <a:off x="324575" y="3596098"/>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f) </a:t>
            </a:r>
            <a:endParaRPr i="1" sz="1800">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times\pi\times80^2&quot;&gt;&lt;mfrac&gt;&lt;mn&gt;1&lt;/mn&gt;&lt;mn&gt;2&lt;/mn&gt;&lt;/mfrac&gt;&lt;mo&gt;×&lt;/mo&gt;&lt;mi&gt;π&lt;/mi&gt;&lt;mo&gt;×&lt;/mo&gt;&lt;msup&gt;&lt;mn&gt;80&lt;/mn&gt;&lt;mn&gt;2&lt;/mn&gt;&lt;/msup&gt;&lt;/math&gt;" id="1213" name="Google Shape;1213;p87" title="one half times pi times 80 squared"/>
          <p:cNvPicPr preferRelativeResize="0"/>
          <p:nvPr/>
        </p:nvPicPr>
        <p:blipFill>
          <a:blip r:embed="rId10">
            <a:alphaModFix/>
          </a:blip>
          <a:stretch>
            <a:fillRect/>
          </a:stretch>
        </p:blipFill>
        <p:spPr>
          <a:xfrm>
            <a:off x="2442825" y="1368225"/>
            <a:ext cx="1467500" cy="628286"/>
          </a:xfrm>
          <a:prstGeom prst="rect">
            <a:avLst/>
          </a:prstGeom>
          <a:noFill/>
          <a:ln>
            <a:noFill/>
          </a:ln>
        </p:spPr>
      </p:pic>
      <p:pic>
        <p:nvPicPr>
          <p:cNvPr descr="&lt;math xmlns=&quot;http://www.w3.org/1998/Math/MathML&quot; display=&quot;block&quot; data-is-equatio=&quot;1&quot; data-latex=&quot;\frac{1}{2}\times\pi\times6400&quot;&gt;&lt;mfrac&gt;&lt;mn&gt;1&lt;/mn&gt;&lt;mn&gt;2&lt;/mn&gt;&lt;/mfrac&gt;&lt;mo&gt;×&lt;/mo&gt;&lt;mi&gt;π&lt;/mi&gt;&lt;mo&gt;×&lt;/mo&gt;&lt;mn&gt;6400&lt;/mn&gt;&lt;/math&gt;" id="1214" name="Google Shape;1214;p87" title="one half times pi times 6400"/>
          <p:cNvPicPr preferRelativeResize="0"/>
          <p:nvPr/>
        </p:nvPicPr>
        <p:blipFill>
          <a:blip r:embed="rId11">
            <a:alphaModFix/>
          </a:blip>
          <a:stretch>
            <a:fillRect/>
          </a:stretch>
        </p:blipFill>
        <p:spPr>
          <a:xfrm>
            <a:off x="4218968" y="1319868"/>
            <a:ext cx="1557400" cy="58777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88"/>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Finding the area of composite shapes with sectors</a:t>
            </a:r>
            <a:endParaRPr/>
          </a:p>
        </p:txBody>
      </p:sp>
      <p:sp>
        <p:nvSpPr>
          <p:cNvPr id="1220" name="Google Shape;1220;p88"/>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Finding the area of sectors of a circle</a:t>
            </a:r>
            <a:endParaRPr/>
          </a:p>
        </p:txBody>
      </p:sp>
      <p:sp>
        <p:nvSpPr>
          <p:cNvPr id="1221" name="Google Shape;1221;p88"/>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Area of composite shapes</a:t>
            </a:r>
            <a:endParaRPr/>
          </a:p>
        </p:txBody>
      </p:sp>
      <p:pic>
        <p:nvPicPr>
          <p:cNvPr id="1222" name="Google Shape;1222;p88"/>
          <p:cNvPicPr preferRelativeResize="0"/>
          <p:nvPr/>
        </p:nvPicPr>
        <p:blipFill rotWithShape="1">
          <a:blip r:embed="rId3">
            <a:alphaModFix/>
          </a:blip>
          <a:srcRect b="0" l="0" r="0" t="0"/>
          <a:stretch/>
        </p:blipFill>
        <p:spPr>
          <a:xfrm>
            <a:off x="415250" y="2988364"/>
            <a:ext cx="450575" cy="44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8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228" name="Google Shape;1228;p89"/>
          <p:cNvSpPr txBox="1"/>
          <p:nvPr>
            <p:ph idx="1" type="body"/>
          </p:nvPr>
        </p:nvSpPr>
        <p:spPr>
          <a:xfrm>
            <a:off x="324000" y="759300"/>
            <a:ext cx="32298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1800"/>
              <a:t>Composite shapes can be made from different combinations of all sorts of shapes.</a:t>
            </a:r>
            <a:endParaRPr sz="1800"/>
          </a:p>
        </p:txBody>
      </p:sp>
      <p:pic>
        <p:nvPicPr>
          <p:cNvPr id="1229" name="Google Shape;1229;p89"/>
          <p:cNvPicPr preferRelativeResize="0"/>
          <p:nvPr/>
        </p:nvPicPr>
        <p:blipFill rotWithShape="1">
          <a:blip r:embed="rId3">
            <a:alphaModFix/>
          </a:blip>
          <a:srcRect b="0" l="0" r="5028" t="0"/>
          <a:stretch/>
        </p:blipFill>
        <p:spPr>
          <a:xfrm>
            <a:off x="3830400" y="759300"/>
            <a:ext cx="4989599" cy="2891373"/>
          </a:xfrm>
          <a:prstGeom prst="rect">
            <a:avLst/>
          </a:prstGeom>
          <a:noFill/>
          <a:ln>
            <a:noFill/>
          </a:ln>
        </p:spPr>
      </p:pic>
      <p:pic>
        <p:nvPicPr>
          <p:cNvPr id="1230" name="Google Shape;1230;p89"/>
          <p:cNvPicPr preferRelativeResize="0"/>
          <p:nvPr/>
        </p:nvPicPr>
        <p:blipFill rotWithShape="1">
          <a:blip r:embed="rId3">
            <a:alphaModFix/>
          </a:blip>
          <a:srcRect b="46001" l="0" r="77181" t="0"/>
          <a:stretch/>
        </p:blipFill>
        <p:spPr>
          <a:xfrm>
            <a:off x="3830401" y="759301"/>
            <a:ext cx="1198798" cy="1561337"/>
          </a:xfrm>
          <a:prstGeom prst="rect">
            <a:avLst/>
          </a:prstGeom>
          <a:noFill/>
          <a:ln>
            <a:noFill/>
          </a:ln>
        </p:spPr>
      </p:pic>
      <p:sp>
        <p:nvSpPr>
          <p:cNvPr id="1231" name="Google Shape;1231;p89"/>
          <p:cNvSpPr txBox="1"/>
          <p:nvPr>
            <p:ph idx="1" type="body"/>
          </p:nvPr>
        </p:nvSpPr>
        <p:spPr>
          <a:xfrm>
            <a:off x="324000" y="2365200"/>
            <a:ext cx="32298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1800"/>
              <a:t>Each component shape we will look at during this lesson will either be a rectangle (with all angles at 90°), or a </a:t>
            </a:r>
            <a:r>
              <a:rPr b="1" lang="en-GB" sz="1800"/>
              <a:t>sector</a:t>
            </a:r>
            <a:r>
              <a:rPr lang="en-GB" sz="1800"/>
              <a:t> of circle.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pic>
        <p:nvPicPr>
          <p:cNvPr id="1236" name="Google Shape;1236;p90"/>
          <p:cNvPicPr preferRelativeResize="0"/>
          <p:nvPr/>
        </p:nvPicPr>
        <p:blipFill rotWithShape="1">
          <a:blip r:embed="rId3">
            <a:alphaModFix/>
          </a:blip>
          <a:srcRect b="0" l="0" r="76661" t="891"/>
          <a:stretch/>
        </p:blipFill>
        <p:spPr>
          <a:xfrm>
            <a:off x="6125413" y="735000"/>
            <a:ext cx="1292974" cy="3734800"/>
          </a:xfrm>
          <a:prstGeom prst="rect">
            <a:avLst/>
          </a:prstGeom>
          <a:noFill/>
          <a:ln>
            <a:noFill/>
          </a:ln>
        </p:spPr>
      </p:pic>
      <p:sp>
        <p:nvSpPr>
          <p:cNvPr id="1237" name="Google Shape;1237;p9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pic>
        <p:nvPicPr>
          <p:cNvPr id="1238" name="Google Shape;1238;p90"/>
          <p:cNvPicPr preferRelativeResize="0"/>
          <p:nvPr/>
        </p:nvPicPr>
        <p:blipFill rotWithShape="1">
          <a:blip r:embed="rId3">
            <a:alphaModFix/>
          </a:blip>
          <a:srcRect b="0" l="29298" r="47361" t="13035"/>
          <a:stretch/>
        </p:blipFill>
        <p:spPr>
          <a:xfrm>
            <a:off x="6128675" y="1192500"/>
            <a:ext cx="1292974" cy="3277299"/>
          </a:xfrm>
          <a:prstGeom prst="rect">
            <a:avLst/>
          </a:prstGeom>
          <a:noFill/>
          <a:ln>
            <a:noFill/>
          </a:ln>
        </p:spPr>
      </p:pic>
      <p:sp>
        <p:nvSpPr>
          <p:cNvPr id="1239" name="Google Shape;1239;p90"/>
          <p:cNvSpPr txBox="1"/>
          <p:nvPr>
            <p:ph idx="1" type="body"/>
          </p:nvPr>
        </p:nvSpPr>
        <p:spPr>
          <a:xfrm>
            <a:off x="324000" y="759300"/>
            <a:ext cx="42480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000"/>
              </a:spcBef>
              <a:spcAft>
                <a:spcPts val="1000"/>
              </a:spcAft>
              <a:buSzPts val="2200"/>
              <a:buNone/>
            </a:pPr>
            <a:r>
              <a:rPr lang="en-GB" sz="1800"/>
              <a:t>To find the area of a composite shape, you can break it up into its component parts.</a:t>
            </a:r>
            <a:endParaRPr sz="1800"/>
          </a:p>
        </p:txBody>
      </p:sp>
      <p:cxnSp>
        <p:nvCxnSpPr>
          <p:cNvPr id="1240" name="Google Shape;1240;p90"/>
          <p:cNvCxnSpPr/>
          <p:nvPr/>
        </p:nvCxnSpPr>
        <p:spPr>
          <a:xfrm>
            <a:off x="6217791" y="1842456"/>
            <a:ext cx="1108200" cy="0"/>
          </a:xfrm>
          <a:prstGeom prst="straightConnector1">
            <a:avLst/>
          </a:prstGeom>
          <a:noFill/>
          <a:ln cap="flat" cmpd="sng" w="38100">
            <a:solidFill>
              <a:schemeClr val="accent5"/>
            </a:solidFill>
            <a:prstDash val="lgDash"/>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2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2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91"/>
          <p:cNvSpPr txBox="1"/>
          <p:nvPr>
            <p:ph idx="1" type="body"/>
          </p:nvPr>
        </p:nvSpPr>
        <p:spPr>
          <a:xfrm>
            <a:off x="417725" y="4504600"/>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pic>
        <p:nvPicPr>
          <p:cNvPr id="1246" name="Google Shape;1246;p91"/>
          <p:cNvPicPr preferRelativeResize="0"/>
          <p:nvPr/>
        </p:nvPicPr>
        <p:blipFill rotWithShape="1">
          <a:blip r:embed="rId3">
            <a:alphaModFix/>
          </a:blip>
          <a:srcRect b="0" l="-1594" r="55917" t="34554"/>
          <a:stretch/>
        </p:blipFill>
        <p:spPr>
          <a:xfrm>
            <a:off x="302800" y="2485403"/>
            <a:ext cx="1823825" cy="1965075"/>
          </a:xfrm>
          <a:prstGeom prst="rect">
            <a:avLst/>
          </a:prstGeom>
          <a:noFill/>
          <a:ln>
            <a:noFill/>
          </a:ln>
        </p:spPr>
      </p:pic>
      <p:sp>
        <p:nvSpPr>
          <p:cNvPr id="1247" name="Google Shape;1247;p9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248" name="Google Shape;1248;p91"/>
          <p:cNvSpPr txBox="1"/>
          <p:nvPr>
            <p:ph idx="1" type="body"/>
          </p:nvPr>
        </p:nvSpPr>
        <p:spPr>
          <a:xfrm>
            <a:off x="2885650" y="2157643"/>
            <a:ext cx="57819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Calculate the area of this composite shape by breaking it into component parts. </a:t>
            </a:r>
            <a:endParaRPr sz="1800"/>
          </a:p>
        </p:txBody>
      </p:sp>
      <p:pic>
        <p:nvPicPr>
          <p:cNvPr id="1249" name="Google Shape;1249;p91"/>
          <p:cNvPicPr preferRelativeResize="0"/>
          <p:nvPr/>
        </p:nvPicPr>
        <p:blipFill rotWithShape="1">
          <a:blip r:embed="rId3">
            <a:alphaModFix/>
          </a:blip>
          <a:srcRect b="0" l="54323" r="0" t="12357"/>
          <a:stretch/>
        </p:blipFill>
        <p:spPr>
          <a:xfrm>
            <a:off x="321619" y="1818753"/>
            <a:ext cx="1823825" cy="2631725"/>
          </a:xfrm>
          <a:prstGeom prst="rect">
            <a:avLst/>
          </a:prstGeom>
          <a:noFill/>
          <a:ln>
            <a:noFill/>
          </a:ln>
        </p:spPr>
      </p:pic>
      <p:cxnSp>
        <p:nvCxnSpPr>
          <p:cNvPr id="1250" name="Google Shape;1250;p91"/>
          <p:cNvCxnSpPr/>
          <p:nvPr/>
        </p:nvCxnSpPr>
        <p:spPr>
          <a:xfrm>
            <a:off x="417770" y="4490165"/>
            <a:ext cx="1618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251" name="Google Shape;1251;p91"/>
          <p:cNvCxnSpPr/>
          <p:nvPr/>
        </p:nvCxnSpPr>
        <p:spPr>
          <a:xfrm rot="-5400000">
            <a:off x="1343187" y="3575835"/>
            <a:ext cx="1618200" cy="0"/>
          </a:xfrm>
          <a:prstGeom prst="straightConnector1">
            <a:avLst/>
          </a:prstGeom>
          <a:noFill/>
          <a:ln cap="flat" cmpd="sng" w="28575">
            <a:solidFill>
              <a:schemeClr val="accent5"/>
            </a:solidFill>
            <a:prstDash val="solid"/>
            <a:round/>
            <a:headEnd len="med" w="med" type="triangle"/>
            <a:tailEnd len="med" w="med" type="triangle"/>
          </a:ln>
        </p:spPr>
      </p:cxnSp>
      <p:sp>
        <p:nvSpPr>
          <p:cNvPr id="1252" name="Google Shape;1252;p91"/>
          <p:cNvSpPr txBox="1"/>
          <p:nvPr>
            <p:ph idx="1" type="body"/>
          </p:nvPr>
        </p:nvSpPr>
        <p:spPr>
          <a:xfrm>
            <a:off x="2152281" y="3415528"/>
            <a:ext cx="6099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253" name="Google Shape;1253;p91"/>
          <p:cNvCxnSpPr/>
          <p:nvPr/>
        </p:nvCxnSpPr>
        <p:spPr>
          <a:xfrm>
            <a:off x="452175" y="2766303"/>
            <a:ext cx="1583700" cy="0"/>
          </a:xfrm>
          <a:prstGeom prst="straightConnector1">
            <a:avLst/>
          </a:prstGeom>
          <a:noFill/>
          <a:ln cap="flat" cmpd="sng" w="38100">
            <a:solidFill>
              <a:schemeClr val="accent5"/>
            </a:solidFill>
            <a:prstDash val="lgDash"/>
            <a:round/>
            <a:headEnd len="sm" w="sm" type="none"/>
            <a:tailEnd len="sm" w="sm" type="none"/>
          </a:ln>
        </p:spPr>
      </p:cxnSp>
      <p:pic>
        <p:nvPicPr>
          <p:cNvPr id="1254" name="Google Shape;1254;p91"/>
          <p:cNvPicPr preferRelativeResize="0"/>
          <p:nvPr/>
        </p:nvPicPr>
        <p:blipFill rotWithShape="1">
          <a:blip r:embed="rId3">
            <a:alphaModFix/>
          </a:blip>
          <a:srcRect b="67558" l="-1594" r="55917" t="1382"/>
          <a:stretch/>
        </p:blipFill>
        <p:spPr>
          <a:xfrm>
            <a:off x="300419" y="613688"/>
            <a:ext cx="1823825" cy="932625"/>
          </a:xfrm>
          <a:prstGeom prst="rect">
            <a:avLst/>
          </a:prstGeom>
          <a:noFill/>
          <a:ln>
            <a:noFill/>
          </a:ln>
        </p:spPr>
      </p:pic>
      <p:sp>
        <p:nvSpPr>
          <p:cNvPr id="1255" name="Google Shape;1255;p91"/>
          <p:cNvSpPr txBox="1"/>
          <p:nvPr>
            <p:ph idx="1" type="body"/>
          </p:nvPr>
        </p:nvSpPr>
        <p:spPr>
          <a:xfrm>
            <a:off x="2885650" y="2906568"/>
            <a:ext cx="57819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1800"/>
              <a:t>The diameter of this semicircle is equal to the base length of the rectangle.</a:t>
            </a:r>
            <a:endParaRPr sz="1800"/>
          </a:p>
        </p:txBody>
      </p:sp>
      <p:sp>
        <p:nvSpPr>
          <p:cNvPr id="1256" name="Google Shape;1256;p91"/>
          <p:cNvSpPr txBox="1"/>
          <p:nvPr>
            <p:ph idx="1" type="body"/>
          </p:nvPr>
        </p:nvSpPr>
        <p:spPr>
          <a:xfrm>
            <a:off x="417725" y="1593911"/>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cxnSp>
        <p:nvCxnSpPr>
          <p:cNvPr id="1257" name="Google Shape;1257;p91"/>
          <p:cNvCxnSpPr/>
          <p:nvPr/>
        </p:nvCxnSpPr>
        <p:spPr>
          <a:xfrm>
            <a:off x="417770" y="1579476"/>
            <a:ext cx="1618200" cy="0"/>
          </a:xfrm>
          <a:prstGeom prst="straightConnector1">
            <a:avLst/>
          </a:prstGeom>
          <a:noFill/>
          <a:ln cap="flat" cmpd="sng" w="28575">
            <a:solidFill>
              <a:schemeClr val="accent5"/>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2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2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92"/>
          <p:cNvSpPr txBox="1"/>
          <p:nvPr>
            <p:ph idx="1" type="body"/>
          </p:nvPr>
        </p:nvSpPr>
        <p:spPr>
          <a:xfrm>
            <a:off x="417725" y="4504600"/>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pic>
        <p:nvPicPr>
          <p:cNvPr id="1263" name="Google Shape;1263;p92"/>
          <p:cNvPicPr preferRelativeResize="0"/>
          <p:nvPr/>
        </p:nvPicPr>
        <p:blipFill rotWithShape="1">
          <a:blip r:embed="rId3">
            <a:alphaModFix/>
          </a:blip>
          <a:srcRect b="0" l="-1594" r="55917" t="34554"/>
          <a:stretch/>
        </p:blipFill>
        <p:spPr>
          <a:xfrm>
            <a:off x="302800" y="2485403"/>
            <a:ext cx="1823825" cy="1965075"/>
          </a:xfrm>
          <a:prstGeom prst="rect">
            <a:avLst/>
          </a:prstGeom>
          <a:noFill/>
          <a:ln>
            <a:noFill/>
          </a:ln>
        </p:spPr>
      </p:pic>
      <p:sp>
        <p:nvSpPr>
          <p:cNvPr id="1264" name="Google Shape;1264;p9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265" name="Google Shape;1265;p92"/>
          <p:cNvSpPr txBox="1"/>
          <p:nvPr>
            <p:ph idx="1" type="body"/>
          </p:nvPr>
        </p:nvSpPr>
        <p:spPr>
          <a:xfrm>
            <a:off x="2885650" y="709843"/>
            <a:ext cx="57819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Calculate the area of this composite shape by breaking it into component parts. </a:t>
            </a:r>
            <a:endParaRPr sz="1800"/>
          </a:p>
        </p:txBody>
      </p:sp>
      <p:cxnSp>
        <p:nvCxnSpPr>
          <p:cNvPr id="1266" name="Google Shape;1266;p92"/>
          <p:cNvCxnSpPr/>
          <p:nvPr/>
        </p:nvCxnSpPr>
        <p:spPr>
          <a:xfrm>
            <a:off x="417770" y="4490165"/>
            <a:ext cx="1618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267" name="Google Shape;1267;p92"/>
          <p:cNvCxnSpPr/>
          <p:nvPr/>
        </p:nvCxnSpPr>
        <p:spPr>
          <a:xfrm rot="-5400000">
            <a:off x="1343187" y="3575835"/>
            <a:ext cx="1618200" cy="0"/>
          </a:xfrm>
          <a:prstGeom prst="straightConnector1">
            <a:avLst/>
          </a:prstGeom>
          <a:noFill/>
          <a:ln cap="flat" cmpd="sng" w="28575">
            <a:solidFill>
              <a:schemeClr val="accent5"/>
            </a:solidFill>
            <a:prstDash val="solid"/>
            <a:round/>
            <a:headEnd len="med" w="med" type="triangle"/>
            <a:tailEnd len="med" w="med" type="triangle"/>
          </a:ln>
        </p:spPr>
      </p:cxnSp>
      <p:sp>
        <p:nvSpPr>
          <p:cNvPr id="1268" name="Google Shape;1268;p92"/>
          <p:cNvSpPr txBox="1"/>
          <p:nvPr>
            <p:ph idx="1" type="body"/>
          </p:nvPr>
        </p:nvSpPr>
        <p:spPr>
          <a:xfrm>
            <a:off x="2152281" y="3415528"/>
            <a:ext cx="6099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pic>
        <p:nvPicPr>
          <p:cNvPr id="1269" name="Google Shape;1269;p92"/>
          <p:cNvPicPr preferRelativeResize="0"/>
          <p:nvPr/>
        </p:nvPicPr>
        <p:blipFill rotWithShape="1">
          <a:blip r:embed="rId3">
            <a:alphaModFix/>
          </a:blip>
          <a:srcRect b="67558" l="-1594" r="55917" t="1382"/>
          <a:stretch/>
        </p:blipFill>
        <p:spPr>
          <a:xfrm>
            <a:off x="302800" y="613688"/>
            <a:ext cx="1823825" cy="932625"/>
          </a:xfrm>
          <a:prstGeom prst="rect">
            <a:avLst/>
          </a:prstGeom>
          <a:noFill/>
          <a:ln>
            <a:noFill/>
          </a:ln>
        </p:spPr>
      </p:pic>
      <p:sp>
        <p:nvSpPr>
          <p:cNvPr id="1270" name="Google Shape;1270;p92"/>
          <p:cNvSpPr txBox="1"/>
          <p:nvPr>
            <p:ph idx="1" type="body"/>
          </p:nvPr>
        </p:nvSpPr>
        <p:spPr>
          <a:xfrm>
            <a:off x="417725" y="1593911"/>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cxnSp>
        <p:nvCxnSpPr>
          <p:cNvPr id="1271" name="Google Shape;1271;p92"/>
          <p:cNvCxnSpPr/>
          <p:nvPr/>
        </p:nvCxnSpPr>
        <p:spPr>
          <a:xfrm>
            <a:off x="417770" y="1579476"/>
            <a:ext cx="1618200" cy="0"/>
          </a:xfrm>
          <a:prstGeom prst="straightConnector1">
            <a:avLst/>
          </a:prstGeom>
          <a:noFill/>
          <a:ln cap="flat" cmpd="sng" w="28575">
            <a:solidFill>
              <a:schemeClr val="accent5"/>
            </a:solidFill>
            <a:prstDash val="solid"/>
            <a:round/>
            <a:headEnd len="med" w="med" type="triangle"/>
            <a:tailEnd len="med" w="med" type="triangle"/>
          </a:ln>
        </p:spPr>
      </p:cxnSp>
      <p:sp>
        <p:nvSpPr>
          <p:cNvPr id="1272" name="Google Shape;1272;p92"/>
          <p:cNvSpPr txBox="1"/>
          <p:nvPr>
            <p:ph idx="1" type="body"/>
          </p:nvPr>
        </p:nvSpPr>
        <p:spPr>
          <a:xfrm>
            <a:off x="2760970" y="1622500"/>
            <a:ext cx="41952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273" name="Google Shape;1273;p92"/>
          <p:cNvSpPr txBox="1"/>
          <p:nvPr>
            <p:ph idx="1" type="body"/>
          </p:nvPr>
        </p:nvSpPr>
        <p:spPr>
          <a:xfrm>
            <a:off x="3335372" y="1990800"/>
            <a:ext cx="26442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diameter = 10 cm</a:t>
            </a:r>
            <a:endParaRPr sz="2000">
              <a:latin typeface="Kalam"/>
              <a:ea typeface="Kalam"/>
              <a:cs typeface="Kalam"/>
              <a:sym typeface="Kalam"/>
            </a:endParaRPr>
          </a:p>
          <a:p>
            <a:pPr indent="0" lvl="0" marL="0" rtl="0" algn="l">
              <a:lnSpc>
                <a:spcPct val="115000"/>
              </a:lnSpc>
              <a:spcBef>
                <a:spcPts val="0"/>
              </a:spcBef>
              <a:spcAft>
                <a:spcPts val="0"/>
              </a:spcAft>
              <a:buSzPts val="2200"/>
              <a:buNone/>
            </a:pPr>
            <a:r>
              <a:rPr lang="en-GB" sz="2000">
                <a:latin typeface="Kalam"/>
                <a:ea typeface="Kalam"/>
                <a:cs typeface="Kalam"/>
                <a:sym typeface="Kalam"/>
              </a:rPr>
              <a:t>radius = 5 cm</a:t>
            </a:r>
            <a:endParaRPr sz="2000">
              <a:latin typeface="Kalam"/>
              <a:ea typeface="Kalam"/>
              <a:cs typeface="Kalam"/>
              <a:sym typeface="Kalam"/>
            </a:endParaRPr>
          </a:p>
        </p:txBody>
      </p:sp>
      <p:sp>
        <p:nvSpPr>
          <p:cNvPr id="1274" name="Google Shape;1274;p92"/>
          <p:cNvSpPr txBox="1"/>
          <p:nvPr>
            <p:ph idx="1" type="body"/>
          </p:nvPr>
        </p:nvSpPr>
        <p:spPr>
          <a:xfrm>
            <a:off x="3335370" y="2863100"/>
            <a:ext cx="819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area </a:t>
            </a:r>
            <a:r>
              <a:rPr lang="en-GB">
                <a:latin typeface="Times New Roman"/>
                <a:ea typeface="Times New Roman"/>
                <a:cs typeface="Times New Roman"/>
                <a:sym typeface="Times New Roman"/>
              </a:rPr>
              <a:t>=</a:t>
            </a:r>
            <a:r>
              <a:rPr lang="en-GB" sz="2000">
                <a:latin typeface="Kalam"/>
                <a:ea typeface="Kalam"/>
                <a:cs typeface="Kalam"/>
                <a:sym typeface="Kalam"/>
              </a:rPr>
              <a:t> </a:t>
            </a:r>
            <a:endParaRPr sz="2000">
              <a:latin typeface="Kalam"/>
              <a:ea typeface="Kalam"/>
              <a:cs typeface="Kalam"/>
              <a:sym typeface="Kalam"/>
            </a:endParaRPr>
          </a:p>
        </p:txBody>
      </p:sp>
      <p:pic>
        <p:nvPicPr>
          <p:cNvPr descr="&lt;math xmlns=&quot;http://www.w3.org/1998/Math/MathML&quot; display=&quot;block&quot; data-is-equatio=&quot;1&quot; data-latex=&quot;\frac{1}{2}\times\pi\times5^2&quot;&gt;&lt;mfrac&gt;&lt;mn&gt;1&lt;/mn&gt;&lt;mn&gt;2&lt;/mn&gt;&lt;/mfrac&gt;&lt;mo&gt;×&lt;/mo&gt;&lt;mi&gt;π&lt;/mi&gt;&lt;mo&gt;×&lt;/mo&gt;&lt;msup&gt;&lt;mn&gt;5&lt;/mn&gt;&lt;mn&gt;2&lt;/mn&gt;&lt;/msup&gt;&lt;/math&gt;" id="1275" name="Google Shape;1275;p92" title="one half times pi times 5 squared"/>
          <p:cNvPicPr preferRelativeResize="0"/>
          <p:nvPr/>
        </p:nvPicPr>
        <p:blipFill rotWithShape="1">
          <a:blip r:embed="rId4">
            <a:alphaModFix/>
          </a:blip>
          <a:srcRect b="0" l="0" r="0" t="0"/>
          <a:stretch/>
        </p:blipFill>
        <p:spPr>
          <a:xfrm>
            <a:off x="4154451" y="2732600"/>
            <a:ext cx="1194480" cy="568800"/>
          </a:xfrm>
          <a:prstGeom prst="rect">
            <a:avLst/>
          </a:prstGeom>
          <a:noFill/>
          <a:ln>
            <a:noFill/>
          </a:ln>
        </p:spPr>
      </p:pic>
      <p:sp>
        <p:nvSpPr>
          <p:cNvPr id="1276" name="Google Shape;1276;p92"/>
          <p:cNvSpPr txBox="1"/>
          <p:nvPr>
            <p:ph idx="1" type="body"/>
          </p:nvPr>
        </p:nvSpPr>
        <p:spPr>
          <a:xfrm>
            <a:off x="1216973" y="2011606"/>
            <a:ext cx="819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cxnSp>
        <p:nvCxnSpPr>
          <p:cNvPr id="1277" name="Google Shape;1277;p92"/>
          <p:cNvCxnSpPr/>
          <p:nvPr/>
        </p:nvCxnSpPr>
        <p:spPr>
          <a:xfrm>
            <a:off x="1216996" y="1997172"/>
            <a:ext cx="819000" cy="0"/>
          </a:xfrm>
          <a:prstGeom prst="straightConnector1">
            <a:avLst/>
          </a:prstGeom>
          <a:noFill/>
          <a:ln cap="flat" cmpd="sng" w="28575">
            <a:solidFill>
              <a:schemeClr val="accent5"/>
            </a:solidFill>
            <a:prstDash val="solid"/>
            <a:round/>
            <a:headEnd len="med" w="med" type="triangle"/>
            <a:tailEnd len="med" w="med" type="triangle"/>
          </a:ln>
        </p:spPr>
      </p:cxnSp>
      <p:sp>
        <p:nvSpPr>
          <p:cNvPr id="1278" name="Google Shape;1278;p92"/>
          <p:cNvSpPr txBox="1"/>
          <p:nvPr>
            <p:ph idx="1" type="body"/>
          </p:nvPr>
        </p:nvSpPr>
        <p:spPr>
          <a:xfrm>
            <a:off x="2760970" y="4134600"/>
            <a:ext cx="41952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279" name="Google Shape;1279;p92"/>
          <p:cNvSpPr txBox="1"/>
          <p:nvPr>
            <p:ph idx="1" type="body"/>
          </p:nvPr>
        </p:nvSpPr>
        <p:spPr>
          <a:xfrm>
            <a:off x="3335370" y="4502900"/>
            <a:ext cx="25893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area = 10 × 8 = 80</a:t>
            </a:r>
            <a:endParaRPr sz="2000">
              <a:latin typeface="Kalam"/>
              <a:ea typeface="Kalam"/>
              <a:cs typeface="Kalam"/>
              <a:sym typeface="Kalam"/>
            </a:endParaRPr>
          </a:p>
        </p:txBody>
      </p:sp>
      <p:sp>
        <p:nvSpPr>
          <p:cNvPr id="1280" name="Google Shape;1280;p92"/>
          <p:cNvSpPr txBox="1"/>
          <p:nvPr>
            <p:ph idx="1" type="body"/>
          </p:nvPr>
        </p:nvSpPr>
        <p:spPr>
          <a:xfrm>
            <a:off x="3873970" y="3399470"/>
            <a:ext cx="10836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a:latin typeface="Times New Roman"/>
                <a:ea typeface="Times New Roman"/>
                <a:cs typeface="Times New Roman"/>
                <a:sym typeface="Times New Roman"/>
              </a:rPr>
              <a:t>= 12.5</a:t>
            </a:r>
            <a:r>
              <a:rPr i="1" lang="en-GB">
                <a:latin typeface="Times New Roman"/>
                <a:ea typeface="Times New Roman"/>
                <a:cs typeface="Times New Roman"/>
                <a:sym typeface="Times New Roman"/>
              </a:rPr>
              <a:t>π</a:t>
            </a:r>
            <a:endParaRPr i="1">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93"/>
          <p:cNvSpPr txBox="1"/>
          <p:nvPr>
            <p:ph idx="1" type="body"/>
          </p:nvPr>
        </p:nvSpPr>
        <p:spPr>
          <a:xfrm>
            <a:off x="417725" y="4504600"/>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pic>
        <p:nvPicPr>
          <p:cNvPr id="1286" name="Google Shape;1286;p93"/>
          <p:cNvPicPr preferRelativeResize="0"/>
          <p:nvPr/>
        </p:nvPicPr>
        <p:blipFill rotWithShape="1">
          <a:blip r:embed="rId3">
            <a:alphaModFix/>
          </a:blip>
          <a:srcRect b="0" l="-1594" r="55917" t="34554"/>
          <a:stretch/>
        </p:blipFill>
        <p:spPr>
          <a:xfrm>
            <a:off x="302800" y="2485403"/>
            <a:ext cx="1823825" cy="1965075"/>
          </a:xfrm>
          <a:prstGeom prst="rect">
            <a:avLst/>
          </a:prstGeom>
          <a:noFill/>
          <a:ln>
            <a:noFill/>
          </a:ln>
        </p:spPr>
      </p:pic>
      <p:sp>
        <p:nvSpPr>
          <p:cNvPr id="1287" name="Google Shape;1287;p9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288" name="Google Shape;1288;p93"/>
          <p:cNvSpPr txBox="1"/>
          <p:nvPr>
            <p:ph idx="1" type="body"/>
          </p:nvPr>
        </p:nvSpPr>
        <p:spPr>
          <a:xfrm>
            <a:off x="2885650" y="709843"/>
            <a:ext cx="57819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Calculate the area of this composite shape by breaking it into component parts. </a:t>
            </a:r>
            <a:endParaRPr sz="1800"/>
          </a:p>
        </p:txBody>
      </p:sp>
      <p:cxnSp>
        <p:nvCxnSpPr>
          <p:cNvPr id="1289" name="Google Shape;1289;p93"/>
          <p:cNvCxnSpPr/>
          <p:nvPr/>
        </p:nvCxnSpPr>
        <p:spPr>
          <a:xfrm>
            <a:off x="417770" y="4490165"/>
            <a:ext cx="1618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290" name="Google Shape;1290;p93"/>
          <p:cNvCxnSpPr/>
          <p:nvPr/>
        </p:nvCxnSpPr>
        <p:spPr>
          <a:xfrm rot="-5400000">
            <a:off x="1343187" y="3575835"/>
            <a:ext cx="1618200" cy="0"/>
          </a:xfrm>
          <a:prstGeom prst="straightConnector1">
            <a:avLst/>
          </a:prstGeom>
          <a:noFill/>
          <a:ln cap="flat" cmpd="sng" w="28575">
            <a:solidFill>
              <a:schemeClr val="accent5"/>
            </a:solidFill>
            <a:prstDash val="solid"/>
            <a:round/>
            <a:headEnd len="med" w="med" type="triangle"/>
            <a:tailEnd len="med" w="med" type="triangle"/>
          </a:ln>
        </p:spPr>
      </p:cxnSp>
      <p:sp>
        <p:nvSpPr>
          <p:cNvPr id="1291" name="Google Shape;1291;p93"/>
          <p:cNvSpPr txBox="1"/>
          <p:nvPr>
            <p:ph idx="1" type="body"/>
          </p:nvPr>
        </p:nvSpPr>
        <p:spPr>
          <a:xfrm>
            <a:off x="2152281" y="3415528"/>
            <a:ext cx="6099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pic>
        <p:nvPicPr>
          <p:cNvPr id="1292" name="Google Shape;1292;p93"/>
          <p:cNvPicPr preferRelativeResize="0"/>
          <p:nvPr/>
        </p:nvPicPr>
        <p:blipFill rotWithShape="1">
          <a:blip r:embed="rId3">
            <a:alphaModFix/>
          </a:blip>
          <a:srcRect b="67558" l="-1594" r="55917" t="1382"/>
          <a:stretch/>
        </p:blipFill>
        <p:spPr>
          <a:xfrm>
            <a:off x="302800" y="613688"/>
            <a:ext cx="1823825" cy="932625"/>
          </a:xfrm>
          <a:prstGeom prst="rect">
            <a:avLst/>
          </a:prstGeom>
          <a:noFill/>
          <a:ln>
            <a:noFill/>
          </a:ln>
        </p:spPr>
      </p:pic>
      <p:sp>
        <p:nvSpPr>
          <p:cNvPr id="1293" name="Google Shape;1293;p93"/>
          <p:cNvSpPr txBox="1"/>
          <p:nvPr>
            <p:ph idx="1" type="body"/>
          </p:nvPr>
        </p:nvSpPr>
        <p:spPr>
          <a:xfrm>
            <a:off x="417725" y="1593911"/>
            <a:ext cx="1618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10 cm</a:t>
            </a:r>
            <a:endParaRPr sz="1800"/>
          </a:p>
        </p:txBody>
      </p:sp>
      <p:cxnSp>
        <p:nvCxnSpPr>
          <p:cNvPr id="1294" name="Google Shape;1294;p93"/>
          <p:cNvCxnSpPr/>
          <p:nvPr/>
        </p:nvCxnSpPr>
        <p:spPr>
          <a:xfrm>
            <a:off x="417770" y="1579476"/>
            <a:ext cx="1618200" cy="0"/>
          </a:xfrm>
          <a:prstGeom prst="straightConnector1">
            <a:avLst/>
          </a:prstGeom>
          <a:noFill/>
          <a:ln cap="flat" cmpd="sng" w="28575">
            <a:solidFill>
              <a:schemeClr val="accent5"/>
            </a:solidFill>
            <a:prstDash val="solid"/>
            <a:round/>
            <a:headEnd len="med" w="med" type="triangle"/>
            <a:tailEnd len="med" w="med" type="triangle"/>
          </a:ln>
        </p:spPr>
      </p:cxnSp>
      <p:sp>
        <p:nvSpPr>
          <p:cNvPr id="1295" name="Google Shape;1295;p93"/>
          <p:cNvSpPr txBox="1"/>
          <p:nvPr>
            <p:ph idx="1" type="body"/>
          </p:nvPr>
        </p:nvSpPr>
        <p:spPr>
          <a:xfrm>
            <a:off x="2760970" y="1622500"/>
            <a:ext cx="20922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296" name="Google Shape;1296;p93"/>
          <p:cNvSpPr txBox="1"/>
          <p:nvPr>
            <p:ph idx="1" type="body"/>
          </p:nvPr>
        </p:nvSpPr>
        <p:spPr>
          <a:xfrm>
            <a:off x="3335370" y="1953500"/>
            <a:ext cx="17442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area = 12.5</a:t>
            </a:r>
            <a:r>
              <a:rPr i="1" lang="en-GB" sz="2000">
                <a:latin typeface="Kalam"/>
                <a:ea typeface="Kalam"/>
                <a:cs typeface="Kalam"/>
                <a:sym typeface="Kalam"/>
              </a:rPr>
              <a:t>π</a:t>
            </a:r>
            <a:endParaRPr sz="2000">
              <a:latin typeface="Kalam"/>
              <a:ea typeface="Kalam"/>
              <a:cs typeface="Kalam"/>
              <a:sym typeface="Kalam"/>
            </a:endParaRPr>
          </a:p>
        </p:txBody>
      </p:sp>
      <p:sp>
        <p:nvSpPr>
          <p:cNvPr id="1297" name="Google Shape;1297;p93"/>
          <p:cNvSpPr txBox="1"/>
          <p:nvPr>
            <p:ph idx="1" type="body"/>
          </p:nvPr>
        </p:nvSpPr>
        <p:spPr>
          <a:xfrm>
            <a:off x="1216973" y="2011606"/>
            <a:ext cx="8190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cxnSp>
        <p:nvCxnSpPr>
          <p:cNvPr id="1298" name="Google Shape;1298;p93"/>
          <p:cNvCxnSpPr/>
          <p:nvPr/>
        </p:nvCxnSpPr>
        <p:spPr>
          <a:xfrm>
            <a:off x="1216996" y="1997172"/>
            <a:ext cx="819000" cy="0"/>
          </a:xfrm>
          <a:prstGeom prst="straightConnector1">
            <a:avLst/>
          </a:prstGeom>
          <a:noFill/>
          <a:ln cap="flat" cmpd="sng" w="28575">
            <a:solidFill>
              <a:schemeClr val="accent5"/>
            </a:solidFill>
            <a:prstDash val="solid"/>
            <a:round/>
            <a:headEnd len="med" w="med" type="triangle"/>
            <a:tailEnd len="med" w="med" type="triangle"/>
          </a:ln>
        </p:spPr>
      </p:cxnSp>
      <p:sp>
        <p:nvSpPr>
          <p:cNvPr id="1299" name="Google Shape;1299;p93"/>
          <p:cNvSpPr txBox="1"/>
          <p:nvPr>
            <p:ph idx="1" type="body"/>
          </p:nvPr>
        </p:nvSpPr>
        <p:spPr>
          <a:xfrm>
            <a:off x="2760970" y="2571750"/>
            <a:ext cx="20922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300" name="Google Shape;1300;p93"/>
          <p:cNvSpPr txBox="1"/>
          <p:nvPr>
            <p:ph idx="1" type="body"/>
          </p:nvPr>
        </p:nvSpPr>
        <p:spPr>
          <a:xfrm>
            <a:off x="3335370" y="2940050"/>
            <a:ext cx="15177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area = 80</a:t>
            </a:r>
            <a:endParaRPr sz="2000">
              <a:latin typeface="Kalam"/>
              <a:ea typeface="Kalam"/>
              <a:cs typeface="Kalam"/>
              <a:sym typeface="Kalam"/>
            </a:endParaRPr>
          </a:p>
        </p:txBody>
      </p:sp>
      <p:sp>
        <p:nvSpPr>
          <p:cNvPr id="1301" name="Google Shape;1301;p93"/>
          <p:cNvSpPr txBox="1"/>
          <p:nvPr>
            <p:ph idx="1" type="body"/>
          </p:nvPr>
        </p:nvSpPr>
        <p:spPr>
          <a:xfrm>
            <a:off x="5130151" y="1546300"/>
            <a:ext cx="3689800" cy="2380139"/>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2000">
                <a:latin typeface="Kalam"/>
                <a:ea typeface="Kalam"/>
                <a:cs typeface="Kalam"/>
                <a:sym typeface="Kalam"/>
              </a:rPr>
              <a:t>We can leave our answer in terms of π.</a:t>
            </a:r>
            <a:endParaRPr sz="2000">
              <a:latin typeface="Kalam"/>
              <a:ea typeface="Kalam"/>
              <a:cs typeface="Kalam"/>
              <a:sym typeface="Kalam"/>
            </a:endParaRPr>
          </a:p>
          <a:p>
            <a:pPr indent="0" lvl="0" marL="0" rtl="0" algn="l">
              <a:lnSpc>
                <a:spcPct val="115000"/>
              </a:lnSpc>
              <a:spcBef>
                <a:spcPts val="1000"/>
              </a:spcBef>
              <a:spcAft>
                <a:spcPts val="1000"/>
              </a:spcAft>
              <a:buSzPts val="2200"/>
              <a:buNone/>
            </a:pPr>
            <a:r>
              <a:rPr lang="en-GB" sz="2000">
                <a:latin typeface="Kalam"/>
                <a:ea typeface="Kalam"/>
                <a:cs typeface="Kalam"/>
                <a:sym typeface="Kalam"/>
              </a:rPr>
              <a:t>This can be expressed by writing down the addition of two terms: the π term and the non-π term, and leaving each term separate.</a:t>
            </a:r>
            <a:endParaRPr sz="2000">
              <a:latin typeface="Kalam"/>
              <a:ea typeface="Kalam"/>
              <a:cs typeface="Kalam"/>
              <a:sym typeface="Kalam"/>
            </a:endParaRPr>
          </a:p>
        </p:txBody>
      </p:sp>
      <p:sp>
        <p:nvSpPr>
          <p:cNvPr id="1302" name="Google Shape;1302;p93"/>
          <p:cNvSpPr txBox="1"/>
          <p:nvPr>
            <p:ph idx="1" type="body"/>
          </p:nvPr>
        </p:nvSpPr>
        <p:spPr>
          <a:xfrm>
            <a:off x="3038050" y="3978678"/>
            <a:ext cx="49593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area of composite shape = 12.5π + 80</a:t>
            </a:r>
            <a:endParaRPr sz="2000">
              <a:latin typeface="Kalam"/>
              <a:ea typeface="Kalam"/>
              <a:cs typeface="Kalam"/>
              <a:sym typeface="Kalam"/>
            </a:endParaRPr>
          </a:p>
        </p:txBody>
      </p:sp>
      <p:sp>
        <p:nvSpPr>
          <p:cNvPr id="1303" name="Google Shape;1303;p93"/>
          <p:cNvSpPr txBox="1"/>
          <p:nvPr>
            <p:ph idx="1" type="body"/>
          </p:nvPr>
        </p:nvSpPr>
        <p:spPr>
          <a:xfrm>
            <a:off x="3038050" y="4332353"/>
            <a:ext cx="49593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area of composite shape = 119.3 cm²</a:t>
            </a:r>
            <a:endParaRPr sz="2000">
              <a:latin typeface="Kalam"/>
              <a:ea typeface="Kalam"/>
              <a:cs typeface="Kalam"/>
              <a:sym typeface="Kalam"/>
            </a:endParaRPr>
          </a:p>
        </p:txBody>
      </p:sp>
      <p:sp>
        <p:nvSpPr>
          <p:cNvPr id="1304" name="Google Shape;1304;p93"/>
          <p:cNvSpPr txBox="1"/>
          <p:nvPr>
            <p:ph idx="1" type="body"/>
          </p:nvPr>
        </p:nvSpPr>
        <p:spPr>
          <a:xfrm>
            <a:off x="5130102" y="1546300"/>
            <a:ext cx="3689800" cy="482183"/>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Or as a decimal.</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0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pic>
        <p:nvPicPr>
          <p:cNvPr id="1309" name="Google Shape;1309;p94"/>
          <p:cNvPicPr preferRelativeResize="0"/>
          <p:nvPr/>
        </p:nvPicPr>
        <p:blipFill rotWithShape="1">
          <a:blip r:embed="rId3">
            <a:alphaModFix/>
          </a:blip>
          <a:srcRect b="0" l="58217" r="0" t="44127"/>
          <a:stretch/>
        </p:blipFill>
        <p:spPr>
          <a:xfrm>
            <a:off x="424428" y="2024334"/>
            <a:ext cx="1988350" cy="1755325"/>
          </a:xfrm>
          <a:prstGeom prst="rect">
            <a:avLst/>
          </a:prstGeom>
          <a:noFill/>
          <a:ln>
            <a:noFill/>
          </a:ln>
        </p:spPr>
      </p:pic>
      <p:sp>
        <p:nvSpPr>
          <p:cNvPr id="1310" name="Google Shape;1310;p9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311" name="Google Shape;1311;p94"/>
          <p:cNvSpPr txBox="1"/>
          <p:nvPr>
            <p:ph idx="1" type="subTitle"/>
          </p:nvPr>
        </p:nvSpPr>
        <p:spPr>
          <a:xfrm>
            <a:off x="474828" y="3839119"/>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12 cm</a:t>
            </a:r>
            <a:endParaRPr sz="1800"/>
          </a:p>
        </p:txBody>
      </p:sp>
      <p:sp>
        <p:nvSpPr>
          <p:cNvPr id="1312" name="Google Shape;1312;p94"/>
          <p:cNvSpPr txBox="1"/>
          <p:nvPr>
            <p:ph idx="2" type="subTitle"/>
          </p:nvPr>
        </p:nvSpPr>
        <p:spPr>
          <a:xfrm>
            <a:off x="324000" y="709850"/>
            <a:ext cx="3996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1800"/>
              <a:buNone/>
            </a:pPr>
            <a:r>
              <a:rPr lang="en-GB" sz="1800"/>
              <a:t>Calculate the area of this composite shape by breaking it into component parts. </a:t>
            </a:r>
            <a:endParaRPr sz="1800"/>
          </a:p>
        </p:txBody>
      </p:sp>
      <p:cxnSp>
        <p:nvCxnSpPr>
          <p:cNvPr id="1313" name="Google Shape;1313;p94"/>
          <p:cNvCxnSpPr/>
          <p:nvPr/>
        </p:nvCxnSpPr>
        <p:spPr>
          <a:xfrm>
            <a:off x="474880" y="3824684"/>
            <a:ext cx="1852200" cy="0"/>
          </a:xfrm>
          <a:prstGeom prst="straightConnector1">
            <a:avLst/>
          </a:prstGeom>
          <a:noFill/>
          <a:ln cap="flat" cmpd="sng" w="28575">
            <a:solidFill>
              <a:schemeClr val="accent5"/>
            </a:solidFill>
            <a:prstDash val="solid"/>
            <a:round/>
            <a:headEnd len="med" w="med" type="triangle"/>
            <a:tailEnd len="med" w="med" type="triangle"/>
          </a:ln>
        </p:spPr>
      </p:cxnSp>
      <p:sp>
        <p:nvSpPr>
          <p:cNvPr id="1314" name="Google Shape;1314;p94"/>
          <p:cNvSpPr txBox="1"/>
          <p:nvPr>
            <p:ph idx="4294967295" type="body"/>
          </p:nvPr>
        </p:nvSpPr>
        <p:spPr>
          <a:xfrm>
            <a:off x="4824000" y="709850"/>
            <a:ext cx="3996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1800"/>
              <a:t>Calculate the area of this composite shape by breaking it into component parts. </a:t>
            </a:r>
            <a:endParaRPr sz="1800"/>
          </a:p>
        </p:txBody>
      </p:sp>
      <p:sp>
        <p:nvSpPr>
          <p:cNvPr id="1315" name="Google Shape;1315;p94"/>
          <p:cNvSpPr txBox="1"/>
          <p:nvPr>
            <p:ph idx="4294967295" type="body"/>
          </p:nvPr>
        </p:nvSpPr>
        <p:spPr>
          <a:xfrm>
            <a:off x="4970089" y="3843857"/>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16 cm</a:t>
            </a:r>
            <a:endParaRPr sz="1800"/>
          </a:p>
        </p:txBody>
      </p:sp>
      <p:cxnSp>
        <p:nvCxnSpPr>
          <p:cNvPr id="1316" name="Google Shape;1316;p94"/>
          <p:cNvCxnSpPr/>
          <p:nvPr/>
        </p:nvCxnSpPr>
        <p:spPr>
          <a:xfrm>
            <a:off x="4970141" y="3829422"/>
            <a:ext cx="1852200" cy="0"/>
          </a:xfrm>
          <a:prstGeom prst="straightConnector1">
            <a:avLst/>
          </a:prstGeom>
          <a:noFill/>
          <a:ln cap="flat" cmpd="sng" w="28575">
            <a:solidFill>
              <a:schemeClr val="accent5"/>
            </a:solidFill>
            <a:prstDash val="solid"/>
            <a:round/>
            <a:headEnd len="med" w="med" type="triangle"/>
            <a:tailEnd len="med" w="med" type="triangle"/>
          </a:ln>
        </p:spPr>
      </p:cxnSp>
      <p:pic>
        <p:nvPicPr>
          <p:cNvPr id="1317" name="Google Shape;1317;p94"/>
          <p:cNvPicPr preferRelativeResize="0"/>
          <p:nvPr/>
        </p:nvPicPr>
        <p:blipFill rotWithShape="1">
          <a:blip r:embed="rId3">
            <a:alphaModFix/>
          </a:blip>
          <a:srcRect b="0" l="58217" r="0" t="44127"/>
          <a:stretch/>
        </p:blipFill>
        <p:spPr>
          <a:xfrm>
            <a:off x="4902014" y="2029072"/>
            <a:ext cx="1988350" cy="1755325"/>
          </a:xfrm>
          <a:prstGeom prst="rect">
            <a:avLst/>
          </a:prstGeom>
          <a:noFill/>
          <a:ln>
            <a:noFill/>
          </a:ln>
        </p:spPr>
      </p:pic>
      <p:cxnSp>
        <p:nvCxnSpPr>
          <p:cNvPr id="1318" name="Google Shape;1318;p94"/>
          <p:cNvCxnSpPr/>
          <p:nvPr/>
        </p:nvCxnSpPr>
        <p:spPr>
          <a:xfrm rot="-5400000">
            <a:off x="1857853" y="3366071"/>
            <a:ext cx="613500" cy="0"/>
          </a:xfrm>
          <a:prstGeom prst="straightConnector1">
            <a:avLst/>
          </a:prstGeom>
          <a:noFill/>
          <a:ln cap="flat" cmpd="sng" w="28575">
            <a:solidFill>
              <a:schemeClr val="accent5"/>
            </a:solidFill>
            <a:prstDash val="solid"/>
            <a:round/>
            <a:headEnd len="med" w="med" type="triangle"/>
            <a:tailEnd len="med" w="med" type="triangle"/>
          </a:ln>
        </p:spPr>
      </p:cxnSp>
      <p:sp>
        <p:nvSpPr>
          <p:cNvPr id="1319" name="Google Shape;1319;p94"/>
          <p:cNvSpPr txBox="1"/>
          <p:nvPr>
            <p:ph idx="4294967295" type="body"/>
          </p:nvPr>
        </p:nvSpPr>
        <p:spPr>
          <a:xfrm>
            <a:off x="1554703" y="3305215"/>
            <a:ext cx="609900" cy="121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320" name="Google Shape;1320;p94"/>
          <p:cNvCxnSpPr/>
          <p:nvPr/>
        </p:nvCxnSpPr>
        <p:spPr>
          <a:xfrm rot="-5400000">
            <a:off x="6361617" y="3370809"/>
            <a:ext cx="613500" cy="0"/>
          </a:xfrm>
          <a:prstGeom prst="straightConnector1">
            <a:avLst/>
          </a:prstGeom>
          <a:noFill/>
          <a:ln cap="flat" cmpd="sng" w="28575">
            <a:solidFill>
              <a:schemeClr val="accent5"/>
            </a:solidFill>
            <a:prstDash val="solid"/>
            <a:round/>
            <a:headEnd len="med" w="med" type="triangle"/>
            <a:tailEnd len="med" w="med" type="triangle"/>
          </a:ln>
        </p:spPr>
      </p:cxnSp>
      <p:sp>
        <p:nvSpPr>
          <p:cNvPr id="1321" name="Google Shape;1321;p94"/>
          <p:cNvSpPr txBox="1"/>
          <p:nvPr>
            <p:ph idx="4294967295" type="body"/>
          </p:nvPr>
        </p:nvSpPr>
        <p:spPr>
          <a:xfrm>
            <a:off x="6058467" y="3309953"/>
            <a:ext cx="609900" cy="121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pic>
        <p:nvPicPr>
          <p:cNvPr id="1326" name="Google Shape;1326;p95"/>
          <p:cNvPicPr preferRelativeResize="0"/>
          <p:nvPr/>
        </p:nvPicPr>
        <p:blipFill rotWithShape="1">
          <a:blip r:embed="rId3">
            <a:alphaModFix/>
          </a:blip>
          <a:srcRect b="0" l="58217" r="0" t="44127"/>
          <a:stretch/>
        </p:blipFill>
        <p:spPr>
          <a:xfrm>
            <a:off x="422016" y="2027113"/>
            <a:ext cx="1988350" cy="1755325"/>
          </a:xfrm>
          <a:prstGeom prst="rect">
            <a:avLst/>
          </a:prstGeom>
          <a:noFill/>
          <a:ln>
            <a:noFill/>
          </a:ln>
        </p:spPr>
      </p:pic>
      <p:cxnSp>
        <p:nvCxnSpPr>
          <p:cNvPr id="1327" name="Google Shape;1327;p95"/>
          <p:cNvCxnSpPr/>
          <p:nvPr/>
        </p:nvCxnSpPr>
        <p:spPr>
          <a:xfrm>
            <a:off x="516150" y="3007986"/>
            <a:ext cx="1758600" cy="0"/>
          </a:xfrm>
          <a:prstGeom prst="straightConnector1">
            <a:avLst/>
          </a:prstGeom>
          <a:noFill/>
          <a:ln cap="flat" cmpd="sng" w="38100">
            <a:solidFill>
              <a:schemeClr val="accent5"/>
            </a:solidFill>
            <a:prstDash val="lgDash"/>
            <a:round/>
            <a:headEnd len="sm" w="sm" type="none"/>
            <a:tailEnd len="sm" w="sm" type="none"/>
          </a:ln>
        </p:spPr>
      </p:cxnSp>
      <p:pic>
        <p:nvPicPr>
          <p:cNvPr descr="&lt;math xmlns=&quot;http://www.w3.org/1998/Math/MathML&quot; display=&quot;block&quot; data-is-equatio=&quot;1&quot; data-latex=&quot;=\frac{1}{2}\times\pi\times8^2&quot;&gt;&lt;mo&gt;=&lt;/mo&gt;&lt;mfrac&gt;&lt;mn&gt;1&lt;/mn&gt;&lt;mn&gt;2&lt;/mn&gt;&lt;/mfrac&gt;&lt;mo&gt;×&lt;/mo&gt;&lt;mi&gt;π&lt;/mi&gt;&lt;mo&gt;×&lt;/mo&gt;&lt;msup&gt;&lt;mn&gt;8&lt;/mn&gt;&lt;mn&gt;2&lt;/mn&gt;&lt;/msup&gt;&lt;/math&gt;" id="1328" name="Google Shape;1328;p95" title="equals one half times pi times 8 squared"/>
          <p:cNvPicPr preferRelativeResize="0"/>
          <p:nvPr/>
        </p:nvPicPr>
        <p:blipFill rotWithShape="1">
          <a:blip r:embed="rId4">
            <a:alphaModFix/>
          </a:blip>
          <a:srcRect b="0" l="0" r="0" t="0"/>
          <a:stretch/>
        </p:blipFill>
        <p:spPr>
          <a:xfrm>
            <a:off x="7335238" y="1752781"/>
            <a:ext cx="1478880" cy="568800"/>
          </a:xfrm>
          <a:prstGeom prst="rect">
            <a:avLst/>
          </a:prstGeom>
          <a:noFill/>
          <a:ln>
            <a:noFill/>
          </a:ln>
        </p:spPr>
      </p:pic>
      <p:pic>
        <p:nvPicPr>
          <p:cNvPr id="1329" name="Google Shape;1329;p95"/>
          <p:cNvPicPr preferRelativeResize="0"/>
          <p:nvPr/>
        </p:nvPicPr>
        <p:blipFill rotWithShape="1">
          <a:blip r:embed="rId3">
            <a:alphaModFix/>
          </a:blip>
          <a:srcRect b="0" l="171" r="58046" t="0"/>
          <a:stretch/>
        </p:blipFill>
        <p:spPr>
          <a:xfrm>
            <a:off x="4883873" y="640763"/>
            <a:ext cx="1988350" cy="3141675"/>
          </a:xfrm>
          <a:prstGeom prst="rect">
            <a:avLst/>
          </a:prstGeom>
          <a:noFill/>
          <a:ln>
            <a:noFill/>
          </a:ln>
        </p:spPr>
      </p:pic>
      <p:pic>
        <p:nvPicPr>
          <p:cNvPr id="1330" name="Google Shape;1330;p95"/>
          <p:cNvPicPr preferRelativeResize="0"/>
          <p:nvPr/>
        </p:nvPicPr>
        <p:blipFill rotWithShape="1">
          <a:blip r:embed="rId3">
            <a:alphaModFix/>
          </a:blip>
          <a:srcRect b="0" l="171" r="58046" t="0"/>
          <a:stretch/>
        </p:blipFill>
        <p:spPr>
          <a:xfrm>
            <a:off x="404895" y="640763"/>
            <a:ext cx="1988350" cy="3141675"/>
          </a:xfrm>
          <a:prstGeom prst="rect">
            <a:avLst/>
          </a:prstGeom>
          <a:noFill/>
          <a:ln>
            <a:noFill/>
          </a:ln>
        </p:spPr>
      </p:pic>
      <p:pic>
        <p:nvPicPr>
          <p:cNvPr descr="&lt;math xmlns=&quot;http://www.w3.org/1998/Math/MathML&quot; display=&quot;block&quot; data-is-equatio=&quot;1&quot; data-latex=&quot;=\frac{1}{2}\times\pi\times6^2&quot;&gt;&lt;mo&gt;=&lt;/mo&gt;&lt;mfrac&gt;&lt;mn&gt;1&lt;/mn&gt;&lt;mn&gt;2&lt;/mn&gt;&lt;/mfrac&gt;&lt;mo&gt;×&lt;/mo&gt;&lt;mi&gt;π&lt;/mi&gt;&lt;mo&gt;×&lt;/mo&gt;&lt;msup&gt;&lt;mn&gt;6&lt;/mn&gt;&lt;mn&gt;2&lt;/mn&gt;&lt;/msup&gt;&lt;/math&gt;" id="1331" name="Google Shape;1331;p95" title="equals one half times pi times 6 squared"/>
          <p:cNvPicPr preferRelativeResize="0"/>
          <p:nvPr/>
        </p:nvPicPr>
        <p:blipFill rotWithShape="1">
          <a:blip r:embed="rId5">
            <a:alphaModFix/>
          </a:blip>
          <a:srcRect b="0" l="0" r="0" t="0"/>
          <a:stretch/>
        </p:blipFill>
        <p:spPr>
          <a:xfrm>
            <a:off x="3066800" y="1750863"/>
            <a:ext cx="1478880" cy="568800"/>
          </a:xfrm>
          <a:prstGeom prst="rect">
            <a:avLst/>
          </a:prstGeom>
          <a:noFill/>
          <a:ln>
            <a:noFill/>
          </a:ln>
        </p:spPr>
      </p:pic>
      <p:sp>
        <p:nvSpPr>
          <p:cNvPr id="1332" name="Google Shape;1332;p9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333" name="Google Shape;1333;p95"/>
          <p:cNvSpPr txBox="1"/>
          <p:nvPr>
            <p:ph idx="1" type="subTitle"/>
          </p:nvPr>
        </p:nvSpPr>
        <p:spPr>
          <a:xfrm>
            <a:off x="465350" y="3841898"/>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12 cm</a:t>
            </a:r>
            <a:endParaRPr sz="1800"/>
          </a:p>
        </p:txBody>
      </p:sp>
      <p:cxnSp>
        <p:nvCxnSpPr>
          <p:cNvPr id="1334" name="Google Shape;1334;p95"/>
          <p:cNvCxnSpPr/>
          <p:nvPr/>
        </p:nvCxnSpPr>
        <p:spPr>
          <a:xfrm>
            <a:off x="465402" y="3827463"/>
            <a:ext cx="1852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335" name="Google Shape;1335;p95"/>
          <p:cNvCxnSpPr/>
          <p:nvPr/>
        </p:nvCxnSpPr>
        <p:spPr>
          <a:xfrm rot="-5400000">
            <a:off x="1848375" y="3346950"/>
            <a:ext cx="613500" cy="0"/>
          </a:xfrm>
          <a:prstGeom prst="straightConnector1">
            <a:avLst/>
          </a:prstGeom>
          <a:noFill/>
          <a:ln cap="flat" cmpd="sng" w="28575">
            <a:solidFill>
              <a:schemeClr val="accent5"/>
            </a:solidFill>
            <a:prstDash val="solid"/>
            <a:round/>
            <a:headEnd len="med" w="med" type="triangle"/>
            <a:tailEnd len="med" w="med" type="triangle"/>
          </a:ln>
        </p:spPr>
      </p:cxnSp>
      <p:sp>
        <p:nvSpPr>
          <p:cNvPr id="1336" name="Google Shape;1336;p95"/>
          <p:cNvSpPr txBox="1"/>
          <p:nvPr>
            <p:ph idx="2" type="subTitle"/>
          </p:nvPr>
        </p:nvSpPr>
        <p:spPr>
          <a:xfrm>
            <a:off x="1545225" y="3286093"/>
            <a:ext cx="609900" cy="121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3 cm</a:t>
            </a:r>
            <a:endParaRPr sz="1800"/>
          </a:p>
        </p:txBody>
      </p:sp>
      <p:sp>
        <p:nvSpPr>
          <p:cNvPr id="1337" name="Google Shape;1337;p95"/>
          <p:cNvSpPr txBox="1"/>
          <p:nvPr>
            <p:ph idx="4294967295" type="body"/>
          </p:nvPr>
        </p:nvSpPr>
        <p:spPr>
          <a:xfrm>
            <a:off x="2403300" y="640775"/>
            <a:ext cx="21687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338" name="Google Shape;1338;p95"/>
          <p:cNvSpPr txBox="1"/>
          <p:nvPr>
            <p:ph idx="4294967295" type="body"/>
          </p:nvPr>
        </p:nvSpPr>
        <p:spPr>
          <a:xfrm>
            <a:off x="2603250" y="1009075"/>
            <a:ext cx="1988400" cy="7080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diameter = 12 cm</a:t>
            </a:r>
            <a:endParaRPr sz="2000">
              <a:latin typeface="Kalam"/>
              <a:ea typeface="Kalam"/>
              <a:cs typeface="Kalam"/>
              <a:sym typeface="Kalam"/>
            </a:endParaRPr>
          </a:p>
          <a:p>
            <a:pPr indent="0" lvl="0" marL="0" rtl="0" algn="l">
              <a:lnSpc>
                <a:spcPct val="130000"/>
              </a:lnSpc>
              <a:spcBef>
                <a:spcPts val="0"/>
              </a:spcBef>
              <a:spcAft>
                <a:spcPts val="0"/>
              </a:spcAft>
              <a:buSzPts val="2200"/>
              <a:buNone/>
            </a:pPr>
            <a:r>
              <a:rPr lang="en-GB" sz="2000">
                <a:latin typeface="Kalam"/>
                <a:ea typeface="Kalam"/>
                <a:cs typeface="Kalam"/>
                <a:sym typeface="Kalam"/>
              </a:rPr>
              <a:t>radius = 6 cm</a:t>
            </a:r>
            <a:endParaRPr sz="2000">
              <a:latin typeface="Kalam"/>
              <a:ea typeface="Kalam"/>
              <a:cs typeface="Kalam"/>
              <a:sym typeface="Kalam"/>
            </a:endParaRPr>
          </a:p>
        </p:txBody>
      </p:sp>
      <p:sp>
        <p:nvSpPr>
          <p:cNvPr id="1339" name="Google Shape;1339;p95"/>
          <p:cNvSpPr txBox="1"/>
          <p:nvPr>
            <p:ph idx="4294967295" type="body"/>
          </p:nvPr>
        </p:nvSpPr>
        <p:spPr>
          <a:xfrm>
            <a:off x="2450850" y="1881375"/>
            <a:ext cx="4896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area</a:t>
            </a:r>
            <a:endParaRPr sz="2000">
              <a:latin typeface="Kalam"/>
              <a:ea typeface="Kalam"/>
              <a:cs typeface="Kalam"/>
              <a:sym typeface="Kalam"/>
            </a:endParaRPr>
          </a:p>
        </p:txBody>
      </p:sp>
      <p:sp>
        <p:nvSpPr>
          <p:cNvPr id="1340" name="Google Shape;1340;p95"/>
          <p:cNvSpPr txBox="1"/>
          <p:nvPr>
            <p:ph idx="4294967295" type="body"/>
          </p:nvPr>
        </p:nvSpPr>
        <p:spPr>
          <a:xfrm>
            <a:off x="3074729" y="2439244"/>
            <a:ext cx="10836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a:latin typeface="Times New Roman"/>
                <a:ea typeface="Times New Roman"/>
                <a:cs typeface="Times New Roman"/>
                <a:sym typeface="Times New Roman"/>
              </a:rPr>
              <a:t>= 18</a:t>
            </a:r>
            <a:r>
              <a:rPr i="1" lang="en-GB">
                <a:latin typeface="Times New Roman"/>
                <a:ea typeface="Times New Roman"/>
                <a:cs typeface="Times New Roman"/>
                <a:sym typeface="Times New Roman"/>
              </a:rPr>
              <a:t>π</a:t>
            </a:r>
            <a:endParaRPr i="1">
              <a:latin typeface="Times New Roman"/>
              <a:ea typeface="Times New Roman"/>
              <a:cs typeface="Times New Roman"/>
              <a:sym typeface="Times New Roman"/>
            </a:endParaRPr>
          </a:p>
        </p:txBody>
      </p:sp>
      <p:sp>
        <p:nvSpPr>
          <p:cNvPr id="1341" name="Google Shape;1341;p95"/>
          <p:cNvSpPr txBox="1"/>
          <p:nvPr>
            <p:ph idx="4294967295" type="body"/>
          </p:nvPr>
        </p:nvSpPr>
        <p:spPr>
          <a:xfrm>
            <a:off x="4965350" y="3841910"/>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16 cm</a:t>
            </a:r>
            <a:endParaRPr sz="1800"/>
          </a:p>
        </p:txBody>
      </p:sp>
      <p:cxnSp>
        <p:nvCxnSpPr>
          <p:cNvPr id="1342" name="Google Shape;1342;p95"/>
          <p:cNvCxnSpPr/>
          <p:nvPr/>
        </p:nvCxnSpPr>
        <p:spPr>
          <a:xfrm>
            <a:off x="4965402" y="3827475"/>
            <a:ext cx="1852200" cy="0"/>
          </a:xfrm>
          <a:prstGeom prst="straightConnector1">
            <a:avLst/>
          </a:prstGeom>
          <a:noFill/>
          <a:ln cap="flat" cmpd="sng" w="28575">
            <a:solidFill>
              <a:schemeClr val="accent5"/>
            </a:solidFill>
            <a:prstDash val="solid"/>
            <a:round/>
            <a:headEnd len="med" w="med" type="triangle"/>
            <a:tailEnd len="med" w="med" type="triangle"/>
          </a:ln>
        </p:spPr>
      </p:cxnSp>
      <p:pic>
        <p:nvPicPr>
          <p:cNvPr id="1343" name="Google Shape;1343;p95"/>
          <p:cNvPicPr preferRelativeResize="0"/>
          <p:nvPr/>
        </p:nvPicPr>
        <p:blipFill rotWithShape="1">
          <a:blip r:embed="rId3">
            <a:alphaModFix/>
          </a:blip>
          <a:srcRect b="0" l="58217" r="0" t="44127"/>
          <a:stretch/>
        </p:blipFill>
        <p:spPr>
          <a:xfrm>
            <a:off x="4897275" y="2027125"/>
            <a:ext cx="1988350" cy="1755325"/>
          </a:xfrm>
          <a:prstGeom prst="rect">
            <a:avLst/>
          </a:prstGeom>
          <a:noFill/>
          <a:ln>
            <a:noFill/>
          </a:ln>
        </p:spPr>
      </p:pic>
      <p:cxnSp>
        <p:nvCxnSpPr>
          <p:cNvPr id="1344" name="Google Shape;1344;p95"/>
          <p:cNvCxnSpPr/>
          <p:nvPr/>
        </p:nvCxnSpPr>
        <p:spPr>
          <a:xfrm rot="-5400000">
            <a:off x="6356878" y="3368862"/>
            <a:ext cx="613500" cy="0"/>
          </a:xfrm>
          <a:prstGeom prst="straightConnector1">
            <a:avLst/>
          </a:prstGeom>
          <a:noFill/>
          <a:ln cap="flat" cmpd="sng" w="28575">
            <a:solidFill>
              <a:schemeClr val="accent5"/>
            </a:solidFill>
            <a:prstDash val="solid"/>
            <a:round/>
            <a:headEnd len="med" w="med" type="triangle"/>
            <a:tailEnd len="med" w="med" type="triangle"/>
          </a:ln>
        </p:spPr>
      </p:cxnSp>
      <p:sp>
        <p:nvSpPr>
          <p:cNvPr id="1345" name="Google Shape;1345;p95"/>
          <p:cNvSpPr txBox="1"/>
          <p:nvPr>
            <p:ph idx="4294967295" type="body"/>
          </p:nvPr>
        </p:nvSpPr>
        <p:spPr>
          <a:xfrm>
            <a:off x="6053728" y="3308006"/>
            <a:ext cx="609900" cy="121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sp>
        <p:nvSpPr>
          <p:cNvPr id="1346" name="Google Shape;1346;p95"/>
          <p:cNvSpPr txBox="1"/>
          <p:nvPr>
            <p:ph idx="4294967295" type="body"/>
          </p:nvPr>
        </p:nvSpPr>
        <p:spPr>
          <a:xfrm>
            <a:off x="465350" y="1749156"/>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sp>
        <p:nvSpPr>
          <p:cNvPr id="1347" name="Google Shape;1347;p95"/>
          <p:cNvSpPr txBox="1"/>
          <p:nvPr>
            <p:ph idx="4294967295" type="body"/>
          </p:nvPr>
        </p:nvSpPr>
        <p:spPr>
          <a:xfrm>
            <a:off x="2603250" y="3536500"/>
            <a:ext cx="19884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area = 3 × 12</a:t>
            </a:r>
            <a:endParaRPr sz="2000">
              <a:latin typeface="Kalam"/>
              <a:ea typeface="Kalam"/>
              <a:cs typeface="Kalam"/>
              <a:sym typeface="Kalam"/>
            </a:endParaRPr>
          </a:p>
        </p:txBody>
      </p:sp>
      <p:cxnSp>
        <p:nvCxnSpPr>
          <p:cNvPr id="1348" name="Google Shape;1348;p95"/>
          <p:cNvCxnSpPr/>
          <p:nvPr/>
        </p:nvCxnSpPr>
        <p:spPr>
          <a:xfrm>
            <a:off x="465402" y="1734721"/>
            <a:ext cx="1852200" cy="0"/>
          </a:xfrm>
          <a:prstGeom prst="straightConnector1">
            <a:avLst/>
          </a:prstGeom>
          <a:noFill/>
          <a:ln cap="flat" cmpd="sng" w="28575">
            <a:solidFill>
              <a:schemeClr val="accent5"/>
            </a:solidFill>
            <a:prstDash val="solid"/>
            <a:round/>
            <a:headEnd len="med" w="med" type="triangle"/>
            <a:tailEnd len="med" w="med" type="triangle"/>
          </a:ln>
        </p:spPr>
      </p:cxnSp>
      <p:sp>
        <p:nvSpPr>
          <p:cNvPr id="1349" name="Google Shape;1349;p95"/>
          <p:cNvSpPr txBox="1"/>
          <p:nvPr>
            <p:ph idx="4294967295" type="body"/>
          </p:nvPr>
        </p:nvSpPr>
        <p:spPr>
          <a:xfrm>
            <a:off x="2403300" y="3168200"/>
            <a:ext cx="21687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350" name="Google Shape;1350;p95"/>
          <p:cNvSpPr txBox="1"/>
          <p:nvPr>
            <p:ph idx="4294967295" type="body"/>
          </p:nvPr>
        </p:nvSpPr>
        <p:spPr>
          <a:xfrm>
            <a:off x="3131350" y="3904800"/>
            <a:ext cx="14604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 36</a:t>
            </a:r>
            <a:endParaRPr sz="2000">
              <a:latin typeface="Kalam"/>
              <a:ea typeface="Kalam"/>
              <a:cs typeface="Kalam"/>
              <a:sym typeface="Kalam"/>
            </a:endParaRPr>
          </a:p>
        </p:txBody>
      </p:sp>
      <p:sp>
        <p:nvSpPr>
          <p:cNvPr id="1351" name="Google Shape;1351;p95"/>
          <p:cNvSpPr txBox="1"/>
          <p:nvPr>
            <p:ph idx="4294967295" type="body"/>
          </p:nvPr>
        </p:nvSpPr>
        <p:spPr>
          <a:xfrm>
            <a:off x="397275" y="4455025"/>
            <a:ext cx="24147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total area </a:t>
            </a:r>
            <a:r>
              <a:rPr lang="en-GB">
                <a:latin typeface="Times New Roman"/>
                <a:ea typeface="Times New Roman"/>
                <a:cs typeface="Times New Roman"/>
                <a:sym typeface="Times New Roman"/>
              </a:rPr>
              <a:t>= 18π + 36 </a:t>
            </a:r>
            <a:endParaRPr>
              <a:latin typeface="Times New Roman"/>
              <a:ea typeface="Times New Roman"/>
              <a:cs typeface="Times New Roman"/>
              <a:sym typeface="Times New Roman"/>
            </a:endParaRPr>
          </a:p>
        </p:txBody>
      </p:sp>
      <p:sp>
        <p:nvSpPr>
          <p:cNvPr id="1352" name="Google Shape;1352;p95"/>
          <p:cNvSpPr txBox="1"/>
          <p:nvPr>
            <p:ph idx="4294967295" type="body"/>
          </p:nvPr>
        </p:nvSpPr>
        <p:spPr>
          <a:xfrm>
            <a:off x="1384801" y="2175349"/>
            <a:ext cx="9327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353" name="Google Shape;1353;p95"/>
          <p:cNvCxnSpPr/>
          <p:nvPr/>
        </p:nvCxnSpPr>
        <p:spPr>
          <a:xfrm>
            <a:off x="1384827" y="2160914"/>
            <a:ext cx="932700" cy="0"/>
          </a:xfrm>
          <a:prstGeom prst="straightConnector1">
            <a:avLst/>
          </a:prstGeom>
          <a:noFill/>
          <a:ln cap="flat" cmpd="sng" w="28575">
            <a:solidFill>
              <a:schemeClr val="accent5"/>
            </a:solidFill>
            <a:prstDash val="solid"/>
            <a:round/>
            <a:headEnd len="med" w="med" type="triangle"/>
            <a:tailEnd len="med" w="med" type="triangle"/>
          </a:ln>
        </p:spPr>
      </p:cxnSp>
      <p:sp>
        <p:nvSpPr>
          <p:cNvPr id="1354" name="Google Shape;1354;p95"/>
          <p:cNvSpPr txBox="1"/>
          <p:nvPr>
            <p:ph idx="4294967295" type="body"/>
          </p:nvPr>
        </p:nvSpPr>
        <p:spPr>
          <a:xfrm>
            <a:off x="2840236" y="4455025"/>
            <a:ext cx="14130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a:latin typeface="Times New Roman"/>
                <a:ea typeface="Times New Roman"/>
                <a:cs typeface="Times New Roman"/>
                <a:sym typeface="Times New Roman"/>
              </a:rPr>
              <a:t>= 92.5 cm²</a:t>
            </a:r>
            <a:endParaRPr sz="2000">
              <a:latin typeface="Kalam"/>
              <a:ea typeface="Kalam"/>
              <a:cs typeface="Kalam"/>
              <a:sym typeface="Kalam"/>
            </a:endParaRPr>
          </a:p>
        </p:txBody>
      </p:sp>
      <p:sp>
        <p:nvSpPr>
          <p:cNvPr id="1355" name="Google Shape;1355;p95"/>
          <p:cNvSpPr txBox="1"/>
          <p:nvPr>
            <p:ph idx="4294967295" type="body"/>
          </p:nvPr>
        </p:nvSpPr>
        <p:spPr>
          <a:xfrm>
            <a:off x="4944300" y="1749156"/>
            <a:ext cx="18522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16 cm</a:t>
            </a:r>
            <a:endParaRPr sz="1800"/>
          </a:p>
        </p:txBody>
      </p:sp>
      <p:cxnSp>
        <p:nvCxnSpPr>
          <p:cNvPr id="1356" name="Google Shape;1356;p95"/>
          <p:cNvCxnSpPr/>
          <p:nvPr/>
        </p:nvCxnSpPr>
        <p:spPr>
          <a:xfrm>
            <a:off x="4944352" y="1734721"/>
            <a:ext cx="1852200" cy="0"/>
          </a:xfrm>
          <a:prstGeom prst="straightConnector1">
            <a:avLst/>
          </a:prstGeom>
          <a:noFill/>
          <a:ln cap="flat" cmpd="sng" w="28575">
            <a:solidFill>
              <a:schemeClr val="accent5"/>
            </a:solidFill>
            <a:prstDash val="solid"/>
            <a:round/>
            <a:headEnd len="med" w="med" type="triangle"/>
            <a:tailEnd len="med" w="med" type="triangle"/>
          </a:ln>
        </p:spPr>
      </p:cxnSp>
      <p:sp>
        <p:nvSpPr>
          <p:cNvPr id="1357" name="Google Shape;1357;p95"/>
          <p:cNvSpPr txBox="1"/>
          <p:nvPr>
            <p:ph idx="4294967295" type="body"/>
          </p:nvPr>
        </p:nvSpPr>
        <p:spPr>
          <a:xfrm>
            <a:off x="5863751" y="2175349"/>
            <a:ext cx="9327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358" name="Google Shape;1358;p95"/>
          <p:cNvCxnSpPr/>
          <p:nvPr/>
        </p:nvCxnSpPr>
        <p:spPr>
          <a:xfrm>
            <a:off x="5863777" y="2160914"/>
            <a:ext cx="932700" cy="0"/>
          </a:xfrm>
          <a:prstGeom prst="straightConnector1">
            <a:avLst/>
          </a:prstGeom>
          <a:noFill/>
          <a:ln cap="flat" cmpd="sng" w="28575">
            <a:solidFill>
              <a:schemeClr val="accent5"/>
            </a:solidFill>
            <a:prstDash val="solid"/>
            <a:round/>
            <a:headEnd len="med" w="med" type="triangle"/>
            <a:tailEnd len="med" w="med" type="triangle"/>
          </a:ln>
        </p:spPr>
      </p:cxnSp>
      <p:sp>
        <p:nvSpPr>
          <p:cNvPr id="1359" name="Google Shape;1359;p95"/>
          <p:cNvSpPr txBox="1"/>
          <p:nvPr>
            <p:ph idx="4294967295" type="body"/>
          </p:nvPr>
        </p:nvSpPr>
        <p:spPr>
          <a:xfrm>
            <a:off x="6671748" y="640775"/>
            <a:ext cx="21687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360" name="Google Shape;1360;p95"/>
          <p:cNvSpPr txBox="1"/>
          <p:nvPr>
            <p:ph idx="4294967295" type="body"/>
          </p:nvPr>
        </p:nvSpPr>
        <p:spPr>
          <a:xfrm>
            <a:off x="6871699" y="1009075"/>
            <a:ext cx="1988400" cy="7080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diameter = 16 cm</a:t>
            </a:r>
            <a:endParaRPr sz="2000">
              <a:latin typeface="Kalam"/>
              <a:ea typeface="Kalam"/>
              <a:cs typeface="Kalam"/>
              <a:sym typeface="Kalam"/>
            </a:endParaRPr>
          </a:p>
          <a:p>
            <a:pPr indent="0" lvl="0" marL="0" rtl="0" algn="l">
              <a:lnSpc>
                <a:spcPct val="130000"/>
              </a:lnSpc>
              <a:spcBef>
                <a:spcPts val="0"/>
              </a:spcBef>
              <a:spcAft>
                <a:spcPts val="0"/>
              </a:spcAft>
              <a:buSzPts val="2200"/>
              <a:buNone/>
            </a:pPr>
            <a:r>
              <a:rPr lang="en-GB" sz="2000">
                <a:latin typeface="Kalam"/>
                <a:ea typeface="Kalam"/>
                <a:cs typeface="Kalam"/>
                <a:sym typeface="Kalam"/>
              </a:rPr>
              <a:t>radius = 8 cm</a:t>
            </a:r>
            <a:endParaRPr sz="2000">
              <a:latin typeface="Kalam"/>
              <a:ea typeface="Kalam"/>
              <a:cs typeface="Kalam"/>
              <a:sym typeface="Kalam"/>
            </a:endParaRPr>
          </a:p>
        </p:txBody>
      </p:sp>
      <p:sp>
        <p:nvSpPr>
          <p:cNvPr id="1361" name="Google Shape;1361;p95"/>
          <p:cNvSpPr txBox="1"/>
          <p:nvPr>
            <p:ph idx="4294967295" type="body"/>
          </p:nvPr>
        </p:nvSpPr>
        <p:spPr>
          <a:xfrm>
            <a:off x="7343177" y="2439244"/>
            <a:ext cx="10836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a:latin typeface="Times New Roman"/>
                <a:ea typeface="Times New Roman"/>
                <a:cs typeface="Times New Roman"/>
                <a:sym typeface="Times New Roman"/>
              </a:rPr>
              <a:t>= 32</a:t>
            </a:r>
            <a:r>
              <a:rPr i="1" lang="en-GB">
                <a:latin typeface="Times New Roman"/>
                <a:ea typeface="Times New Roman"/>
                <a:cs typeface="Times New Roman"/>
                <a:sym typeface="Times New Roman"/>
              </a:rPr>
              <a:t>π</a:t>
            </a:r>
            <a:endParaRPr i="1">
              <a:latin typeface="Times New Roman"/>
              <a:ea typeface="Times New Roman"/>
              <a:cs typeface="Times New Roman"/>
              <a:sym typeface="Times New Roman"/>
            </a:endParaRPr>
          </a:p>
        </p:txBody>
      </p:sp>
      <p:sp>
        <p:nvSpPr>
          <p:cNvPr id="1362" name="Google Shape;1362;p95"/>
          <p:cNvSpPr txBox="1"/>
          <p:nvPr>
            <p:ph idx="4294967295" type="body"/>
          </p:nvPr>
        </p:nvSpPr>
        <p:spPr>
          <a:xfrm>
            <a:off x="7071650" y="3536500"/>
            <a:ext cx="17886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area = 16 × 5</a:t>
            </a:r>
            <a:endParaRPr sz="2000">
              <a:latin typeface="Kalam"/>
              <a:ea typeface="Kalam"/>
              <a:cs typeface="Kalam"/>
              <a:sym typeface="Kalam"/>
            </a:endParaRPr>
          </a:p>
        </p:txBody>
      </p:sp>
      <p:sp>
        <p:nvSpPr>
          <p:cNvPr id="1363" name="Google Shape;1363;p95"/>
          <p:cNvSpPr txBox="1"/>
          <p:nvPr>
            <p:ph idx="4294967295" type="body"/>
          </p:nvPr>
        </p:nvSpPr>
        <p:spPr>
          <a:xfrm>
            <a:off x="6871700" y="3168200"/>
            <a:ext cx="19425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364" name="Google Shape;1364;p95"/>
          <p:cNvSpPr txBox="1"/>
          <p:nvPr>
            <p:ph idx="4294967295" type="body"/>
          </p:nvPr>
        </p:nvSpPr>
        <p:spPr>
          <a:xfrm>
            <a:off x="7599750" y="3904800"/>
            <a:ext cx="12144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2000">
                <a:latin typeface="Kalam"/>
                <a:ea typeface="Kalam"/>
                <a:cs typeface="Kalam"/>
                <a:sym typeface="Kalam"/>
              </a:rPr>
              <a:t>= 80</a:t>
            </a:r>
            <a:endParaRPr sz="2000">
              <a:latin typeface="Kalam"/>
              <a:ea typeface="Kalam"/>
              <a:cs typeface="Kalam"/>
              <a:sym typeface="Kalam"/>
            </a:endParaRPr>
          </a:p>
        </p:txBody>
      </p:sp>
      <p:sp>
        <p:nvSpPr>
          <p:cNvPr id="1365" name="Google Shape;1365;p95"/>
          <p:cNvSpPr txBox="1"/>
          <p:nvPr>
            <p:ph idx="4294967295" type="body"/>
          </p:nvPr>
        </p:nvSpPr>
        <p:spPr>
          <a:xfrm>
            <a:off x="4665723" y="4455025"/>
            <a:ext cx="24147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total area </a:t>
            </a:r>
            <a:r>
              <a:rPr lang="en-GB">
                <a:latin typeface="Times New Roman"/>
                <a:ea typeface="Times New Roman"/>
                <a:cs typeface="Times New Roman"/>
                <a:sym typeface="Times New Roman"/>
              </a:rPr>
              <a:t>= 32π + 80 </a:t>
            </a:r>
            <a:endParaRPr>
              <a:latin typeface="Times New Roman"/>
              <a:ea typeface="Times New Roman"/>
              <a:cs typeface="Times New Roman"/>
              <a:sym typeface="Times New Roman"/>
            </a:endParaRPr>
          </a:p>
        </p:txBody>
      </p:sp>
      <p:sp>
        <p:nvSpPr>
          <p:cNvPr id="1366" name="Google Shape;1366;p95"/>
          <p:cNvSpPr txBox="1"/>
          <p:nvPr>
            <p:ph idx="4294967295" type="body"/>
          </p:nvPr>
        </p:nvSpPr>
        <p:spPr>
          <a:xfrm>
            <a:off x="7108684" y="4455025"/>
            <a:ext cx="1413000" cy="3387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a:latin typeface="Times New Roman"/>
                <a:ea typeface="Times New Roman"/>
                <a:cs typeface="Times New Roman"/>
                <a:sym typeface="Times New Roman"/>
              </a:rPr>
              <a:t>= 180.5 cm²</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2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13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pic>
        <p:nvPicPr>
          <p:cNvPr id="1371" name="Google Shape;1371;p96"/>
          <p:cNvPicPr preferRelativeResize="0"/>
          <p:nvPr/>
        </p:nvPicPr>
        <p:blipFill rotWithShape="1">
          <a:blip r:embed="rId3">
            <a:alphaModFix/>
          </a:blip>
          <a:srcRect b="0" l="73821" r="0" t="27609"/>
          <a:stretch/>
        </p:blipFill>
        <p:spPr>
          <a:xfrm>
            <a:off x="5052055" y="843050"/>
            <a:ext cx="1187826" cy="2234250"/>
          </a:xfrm>
          <a:prstGeom prst="rect">
            <a:avLst/>
          </a:prstGeom>
          <a:noFill/>
          <a:ln>
            <a:noFill/>
          </a:ln>
        </p:spPr>
      </p:pic>
      <p:sp>
        <p:nvSpPr>
          <p:cNvPr id="1372" name="Google Shape;1372;p9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373" name="Google Shape;1373;p96"/>
          <p:cNvSpPr txBox="1"/>
          <p:nvPr>
            <p:ph idx="1" type="body"/>
          </p:nvPr>
        </p:nvSpPr>
        <p:spPr>
          <a:xfrm>
            <a:off x="324000" y="759300"/>
            <a:ext cx="42480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1800"/>
              <a:t>Composite shapes may be made by removing combinations of quadrilaterals and </a:t>
            </a:r>
            <a:r>
              <a:rPr b="1" lang="en-GB" sz="1800"/>
              <a:t>sectors</a:t>
            </a:r>
            <a:r>
              <a:rPr lang="en-GB" sz="1800"/>
              <a:t> of circles from each other.</a:t>
            </a:r>
            <a:endParaRPr sz="1800"/>
          </a:p>
          <a:p>
            <a:pPr indent="0" lvl="0" marL="0" rtl="0" algn="l">
              <a:lnSpc>
                <a:spcPct val="115000"/>
              </a:lnSpc>
              <a:spcBef>
                <a:spcPts val="1000"/>
              </a:spcBef>
              <a:spcAft>
                <a:spcPts val="0"/>
              </a:spcAft>
              <a:buSzPts val="2200"/>
              <a:buNone/>
            </a:pPr>
            <a:r>
              <a:t/>
            </a:r>
            <a:endParaRPr sz="1800"/>
          </a:p>
          <a:p>
            <a:pPr indent="0" lvl="0" marL="0" rtl="0" algn="l">
              <a:lnSpc>
                <a:spcPct val="115000"/>
              </a:lnSpc>
              <a:spcBef>
                <a:spcPts val="1000"/>
              </a:spcBef>
              <a:spcAft>
                <a:spcPts val="1000"/>
              </a:spcAft>
              <a:buSzPts val="2200"/>
              <a:buNone/>
            </a:pPr>
            <a:r>
              <a:rPr lang="en-GB" sz="1800"/>
              <a:t>To find the area of a composite shape, you can complete the shape by setting up a subtraction between its component parts.</a:t>
            </a:r>
            <a:endParaRPr sz="1800"/>
          </a:p>
        </p:txBody>
      </p:sp>
      <p:cxnSp>
        <p:nvCxnSpPr>
          <p:cNvPr id="1374" name="Google Shape;1374;p96"/>
          <p:cNvCxnSpPr/>
          <p:nvPr/>
        </p:nvCxnSpPr>
        <p:spPr>
          <a:xfrm>
            <a:off x="5168175" y="924600"/>
            <a:ext cx="951900" cy="0"/>
          </a:xfrm>
          <a:prstGeom prst="straightConnector1">
            <a:avLst/>
          </a:prstGeom>
          <a:noFill/>
          <a:ln cap="flat" cmpd="sng" w="38100">
            <a:solidFill>
              <a:schemeClr val="accent5"/>
            </a:solidFill>
            <a:prstDash val="lgDash"/>
            <a:round/>
            <a:headEnd len="sm" w="sm" type="none"/>
            <a:tailEnd len="sm" w="sm" type="none"/>
          </a:ln>
        </p:spPr>
      </p:cxnSp>
      <p:pic>
        <p:nvPicPr>
          <p:cNvPr id="1375" name="Google Shape;1375;p96"/>
          <p:cNvPicPr preferRelativeResize="0"/>
          <p:nvPr/>
        </p:nvPicPr>
        <p:blipFill rotWithShape="1">
          <a:blip r:embed="rId3">
            <a:alphaModFix/>
          </a:blip>
          <a:srcRect b="80122" l="-1568" r="75388" t="0"/>
          <a:stretch/>
        </p:blipFill>
        <p:spPr>
          <a:xfrm rot="10800000">
            <a:off x="7118775" y="870828"/>
            <a:ext cx="1187826" cy="613500"/>
          </a:xfrm>
          <a:prstGeom prst="rect">
            <a:avLst/>
          </a:prstGeom>
          <a:noFill/>
          <a:ln>
            <a:noFill/>
          </a:ln>
        </p:spPr>
      </p:pic>
      <p:pic>
        <p:nvPicPr>
          <p:cNvPr id="1376" name="Google Shape;1376;p96"/>
          <p:cNvPicPr preferRelativeResize="0"/>
          <p:nvPr/>
        </p:nvPicPr>
        <p:blipFill rotWithShape="1">
          <a:blip r:embed="rId3">
            <a:alphaModFix/>
          </a:blip>
          <a:srcRect b="0" l="-1251" r="75072" t="27609"/>
          <a:stretch/>
        </p:blipFill>
        <p:spPr>
          <a:xfrm>
            <a:off x="5056040" y="841883"/>
            <a:ext cx="1187826" cy="2234250"/>
          </a:xfrm>
          <a:prstGeom prst="rect">
            <a:avLst/>
          </a:prstGeom>
          <a:noFill/>
          <a:ln>
            <a:noFill/>
          </a:ln>
        </p:spPr>
      </p:pic>
      <p:sp>
        <p:nvSpPr>
          <p:cNvPr id="1377" name="Google Shape;1377;p96"/>
          <p:cNvSpPr txBox="1"/>
          <p:nvPr>
            <p:ph idx="1" type="body"/>
          </p:nvPr>
        </p:nvSpPr>
        <p:spPr>
          <a:xfrm>
            <a:off x="6937750" y="3005100"/>
            <a:ext cx="1549800" cy="914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Subtract the area of a </a:t>
            </a:r>
            <a:r>
              <a:rPr b="1" lang="en-GB" sz="1800"/>
              <a:t>sector</a:t>
            </a:r>
            <a:endParaRPr b="1" sz="1800"/>
          </a:p>
        </p:txBody>
      </p:sp>
      <p:sp>
        <p:nvSpPr>
          <p:cNvPr id="1378" name="Google Shape;1378;p96"/>
          <p:cNvSpPr txBox="1"/>
          <p:nvPr>
            <p:ph idx="1" type="body"/>
          </p:nvPr>
        </p:nvSpPr>
        <p:spPr>
          <a:xfrm>
            <a:off x="5001850" y="3077300"/>
            <a:ext cx="1284600" cy="5958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SzPts val="2200"/>
              <a:buNone/>
            </a:pPr>
            <a:r>
              <a:rPr lang="en-GB" sz="1800"/>
              <a:t>Area of rectangle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97"/>
          <p:cNvSpPr txBox="1"/>
          <p:nvPr>
            <p:ph idx="1" type="subTitle"/>
          </p:nvPr>
        </p:nvSpPr>
        <p:spPr>
          <a:xfrm>
            <a:off x="4824000" y="709850"/>
            <a:ext cx="3996000" cy="959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lang="en-GB" sz="1800"/>
              <a:t>You do</a:t>
            </a:r>
            <a:endParaRPr sz="1800"/>
          </a:p>
          <a:p>
            <a:pPr indent="0" lvl="0" marL="0" rtl="0" algn="l">
              <a:lnSpc>
                <a:spcPct val="100000"/>
              </a:lnSpc>
              <a:spcBef>
                <a:spcPts val="1000"/>
              </a:spcBef>
              <a:spcAft>
                <a:spcPts val="1000"/>
              </a:spcAft>
              <a:buSzPts val="1800"/>
              <a:buNone/>
            </a:pPr>
            <a:r>
              <a:rPr lang="en-GB" sz="1800"/>
              <a:t>Calculate the area of the shaded region by completing the shape.</a:t>
            </a:r>
            <a:endParaRPr sz="1800"/>
          </a:p>
        </p:txBody>
      </p:sp>
      <p:sp>
        <p:nvSpPr>
          <p:cNvPr id="1384" name="Google Shape;1384;p9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385" name="Google Shape;1385;p97"/>
          <p:cNvSpPr txBox="1"/>
          <p:nvPr>
            <p:ph idx="2" type="subTitle"/>
          </p:nvPr>
        </p:nvSpPr>
        <p:spPr>
          <a:xfrm>
            <a:off x="324000" y="709850"/>
            <a:ext cx="3996000" cy="959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lang="en-GB" sz="1800"/>
              <a:t>Demonstration</a:t>
            </a:r>
            <a:endParaRPr sz="1800"/>
          </a:p>
          <a:p>
            <a:pPr indent="0" lvl="0" marL="0" rtl="0" algn="l">
              <a:lnSpc>
                <a:spcPct val="100000"/>
              </a:lnSpc>
              <a:spcBef>
                <a:spcPts val="1000"/>
              </a:spcBef>
              <a:spcAft>
                <a:spcPts val="1000"/>
              </a:spcAft>
              <a:buSzPts val="1800"/>
              <a:buNone/>
            </a:pPr>
            <a:r>
              <a:rPr lang="en-GB" sz="1800"/>
              <a:t>Calculate the area of the shaded region by completing the shape.</a:t>
            </a:r>
            <a:endParaRPr sz="1800"/>
          </a:p>
        </p:txBody>
      </p:sp>
      <p:pic>
        <p:nvPicPr>
          <p:cNvPr id="1386" name="Google Shape;1386;p97"/>
          <p:cNvPicPr preferRelativeResize="0"/>
          <p:nvPr/>
        </p:nvPicPr>
        <p:blipFill rotWithShape="1">
          <a:blip r:embed="rId3">
            <a:alphaModFix/>
          </a:blip>
          <a:srcRect b="66870" l="0" r="0" t="0"/>
          <a:stretch/>
        </p:blipFill>
        <p:spPr>
          <a:xfrm>
            <a:off x="1425732" y="2672979"/>
            <a:ext cx="2097005" cy="1107010"/>
          </a:xfrm>
          <a:prstGeom prst="rect">
            <a:avLst/>
          </a:prstGeom>
          <a:noFill/>
          <a:ln>
            <a:noFill/>
          </a:ln>
        </p:spPr>
      </p:pic>
      <p:sp>
        <p:nvSpPr>
          <p:cNvPr id="1387" name="Google Shape;1387;p97"/>
          <p:cNvSpPr txBox="1"/>
          <p:nvPr>
            <p:ph idx="4294967295" type="body"/>
          </p:nvPr>
        </p:nvSpPr>
        <p:spPr>
          <a:xfrm flipH="1">
            <a:off x="1484011" y="2352517"/>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25 cm</a:t>
            </a:r>
            <a:endParaRPr sz="1800"/>
          </a:p>
        </p:txBody>
      </p:sp>
      <p:cxnSp>
        <p:nvCxnSpPr>
          <p:cNvPr id="1388" name="Google Shape;1388;p97"/>
          <p:cNvCxnSpPr/>
          <p:nvPr/>
        </p:nvCxnSpPr>
        <p:spPr>
          <a:xfrm>
            <a:off x="1484088" y="2617550"/>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389" name="Google Shape;1389;p97"/>
          <p:cNvCxnSpPr/>
          <p:nvPr/>
        </p:nvCxnSpPr>
        <p:spPr>
          <a:xfrm rot="-5400000">
            <a:off x="886195" y="3214299"/>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390" name="Google Shape;1390;p97"/>
          <p:cNvSpPr txBox="1"/>
          <p:nvPr>
            <p:ph idx="4294967295" type="body"/>
          </p:nvPr>
        </p:nvSpPr>
        <p:spPr>
          <a:xfrm flipH="1" rot="-5400000">
            <a:off x="747912" y="3087147"/>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pic>
        <p:nvPicPr>
          <p:cNvPr id="1391" name="Google Shape;1391;p97"/>
          <p:cNvPicPr preferRelativeResize="0"/>
          <p:nvPr/>
        </p:nvPicPr>
        <p:blipFill rotWithShape="1">
          <a:blip r:embed="rId3">
            <a:alphaModFix/>
          </a:blip>
          <a:srcRect b="66870" l="0" r="0" t="0"/>
          <a:stretch/>
        </p:blipFill>
        <p:spPr>
          <a:xfrm>
            <a:off x="5925732" y="2672979"/>
            <a:ext cx="2097005" cy="1107010"/>
          </a:xfrm>
          <a:prstGeom prst="rect">
            <a:avLst/>
          </a:prstGeom>
          <a:noFill/>
          <a:ln>
            <a:noFill/>
          </a:ln>
        </p:spPr>
      </p:pic>
      <p:sp>
        <p:nvSpPr>
          <p:cNvPr id="1392" name="Google Shape;1392;p97"/>
          <p:cNvSpPr txBox="1"/>
          <p:nvPr>
            <p:ph idx="4294967295" type="body"/>
          </p:nvPr>
        </p:nvSpPr>
        <p:spPr>
          <a:xfrm flipH="1">
            <a:off x="5984011" y="2352517"/>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393" name="Google Shape;1393;p97"/>
          <p:cNvCxnSpPr/>
          <p:nvPr/>
        </p:nvCxnSpPr>
        <p:spPr>
          <a:xfrm>
            <a:off x="5984088" y="2617550"/>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394" name="Google Shape;1394;p97"/>
          <p:cNvCxnSpPr/>
          <p:nvPr/>
        </p:nvCxnSpPr>
        <p:spPr>
          <a:xfrm rot="-5400000">
            <a:off x="5386195" y="3214299"/>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395" name="Google Shape;1395;p97"/>
          <p:cNvSpPr txBox="1"/>
          <p:nvPr>
            <p:ph idx="4294967295" type="body"/>
          </p:nvPr>
        </p:nvSpPr>
        <p:spPr>
          <a:xfrm flipH="1" rot="-5400000">
            <a:off x="5247913" y="3087147"/>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9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pic>
        <p:nvPicPr>
          <p:cNvPr id="1401" name="Google Shape;1401;p98"/>
          <p:cNvPicPr preferRelativeResize="0"/>
          <p:nvPr/>
        </p:nvPicPr>
        <p:blipFill rotWithShape="1">
          <a:blip r:embed="rId3">
            <a:alphaModFix/>
          </a:blip>
          <a:srcRect b="66870" l="0" r="0" t="0"/>
          <a:stretch/>
        </p:blipFill>
        <p:spPr>
          <a:xfrm>
            <a:off x="628470" y="925254"/>
            <a:ext cx="2097005" cy="1107010"/>
          </a:xfrm>
          <a:prstGeom prst="rect">
            <a:avLst/>
          </a:prstGeom>
          <a:noFill/>
          <a:ln>
            <a:noFill/>
          </a:ln>
        </p:spPr>
      </p:pic>
      <p:sp>
        <p:nvSpPr>
          <p:cNvPr id="1402" name="Google Shape;1402;p98"/>
          <p:cNvSpPr txBox="1"/>
          <p:nvPr>
            <p:ph idx="1" type="subTitle"/>
          </p:nvPr>
        </p:nvSpPr>
        <p:spPr>
          <a:xfrm flipH="1">
            <a:off x="6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25 cm</a:t>
            </a:r>
            <a:endParaRPr sz="1800"/>
          </a:p>
        </p:txBody>
      </p:sp>
      <p:cxnSp>
        <p:nvCxnSpPr>
          <p:cNvPr id="1403" name="Google Shape;1403;p98"/>
          <p:cNvCxnSpPr/>
          <p:nvPr/>
        </p:nvCxnSpPr>
        <p:spPr>
          <a:xfrm>
            <a:off x="686826" y="869825"/>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404" name="Google Shape;1404;p98"/>
          <p:cNvCxnSpPr/>
          <p:nvPr/>
        </p:nvCxnSpPr>
        <p:spPr>
          <a:xfrm rot="-5400000">
            <a:off x="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05" name="Google Shape;1405;p98"/>
          <p:cNvSpPr txBox="1"/>
          <p:nvPr>
            <p:ph idx="2" type="subTitle"/>
          </p:nvPr>
        </p:nvSpPr>
        <p:spPr>
          <a:xfrm flipH="1" rot="-5400000">
            <a:off x="-493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12 cm</a:t>
            </a:r>
            <a:endParaRPr sz="1800"/>
          </a:p>
        </p:txBody>
      </p:sp>
      <p:pic>
        <p:nvPicPr>
          <p:cNvPr id="1406" name="Google Shape;1406;p98"/>
          <p:cNvPicPr preferRelativeResize="0"/>
          <p:nvPr/>
        </p:nvPicPr>
        <p:blipFill rotWithShape="1">
          <a:blip r:embed="rId3">
            <a:alphaModFix/>
          </a:blip>
          <a:srcRect b="33433" l="0" r="0" t="33437"/>
          <a:stretch/>
        </p:blipFill>
        <p:spPr>
          <a:xfrm>
            <a:off x="628470" y="921887"/>
            <a:ext cx="2097005" cy="1107010"/>
          </a:xfrm>
          <a:prstGeom prst="rect">
            <a:avLst/>
          </a:prstGeom>
          <a:noFill/>
          <a:ln>
            <a:noFill/>
          </a:ln>
        </p:spPr>
      </p:pic>
      <p:pic>
        <p:nvPicPr>
          <p:cNvPr id="1407" name="Google Shape;1407;p98"/>
          <p:cNvPicPr preferRelativeResize="0"/>
          <p:nvPr/>
        </p:nvPicPr>
        <p:blipFill rotWithShape="1">
          <a:blip r:embed="rId3">
            <a:alphaModFix/>
          </a:blip>
          <a:srcRect b="0" l="0" r="0" t="66870"/>
          <a:stretch/>
        </p:blipFill>
        <p:spPr>
          <a:xfrm>
            <a:off x="628470" y="2075464"/>
            <a:ext cx="2097005" cy="1107010"/>
          </a:xfrm>
          <a:prstGeom prst="rect">
            <a:avLst/>
          </a:prstGeom>
          <a:noFill/>
          <a:ln>
            <a:noFill/>
          </a:ln>
        </p:spPr>
      </p:pic>
      <p:cxnSp>
        <p:nvCxnSpPr>
          <p:cNvPr id="1408" name="Google Shape;1408;p98"/>
          <p:cNvCxnSpPr/>
          <p:nvPr/>
        </p:nvCxnSpPr>
        <p:spPr>
          <a:xfrm rot="-5400000">
            <a:off x="88932"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09" name="Google Shape;1409;p98"/>
          <p:cNvSpPr txBox="1"/>
          <p:nvPr>
            <p:ph idx="4294967295" type="body"/>
          </p:nvPr>
        </p:nvSpPr>
        <p:spPr>
          <a:xfrm flipH="1" rot="-5400000">
            <a:off x="-49350"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sp>
        <p:nvSpPr>
          <p:cNvPr id="1410" name="Google Shape;1410;p98"/>
          <p:cNvSpPr txBox="1"/>
          <p:nvPr>
            <p:ph idx="4294967295" type="body"/>
          </p:nvPr>
        </p:nvSpPr>
        <p:spPr>
          <a:xfrm>
            <a:off x="324000" y="3759453"/>
            <a:ext cx="39960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1800"/>
              <a:t>First, separate the composite shape into its component parts.</a:t>
            </a:r>
            <a:endParaRPr sz="1800"/>
          </a:p>
        </p:txBody>
      </p:sp>
      <p:pic>
        <p:nvPicPr>
          <p:cNvPr id="1411" name="Google Shape;1411;p98"/>
          <p:cNvPicPr preferRelativeResize="0"/>
          <p:nvPr/>
        </p:nvPicPr>
        <p:blipFill rotWithShape="1">
          <a:blip r:embed="rId3">
            <a:alphaModFix/>
          </a:blip>
          <a:srcRect b="66870" l="0" r="0" t="0"/>
          <a:stretch/>
        </p:blipFill>
        <p:spPr>
          <a:xfrm>
            <a:off x="5128470" y="925254"/>
            <a:ext cx="2097005" cy="1107010"/>
          </a:xfrm>
          <a:prstGeom prst="rect">
            <a:avLst/>
          </a:prstGeom>
          <a:noFill/>
          <a:ln>
            <a:noFill/>
          </a:ln>
        </p:spPr>
      </p:pic>
      <p:sp>
        <p:nvSpPr>
          <p:cNvPr id="1412" name="Google Shape;1412;p98"/>
          <p:cNvSpPr txBox="1"/>
          <p:nvPr>
            <p:ph idx="4294967295" type="body"/>
          </p:nvPr>
        </p:nvSpPr>
        <p:spPr>
          <a:xfrm flipH="1">
            <a:off x="51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413" name="Google Shape;1413;p98"/>
          <p:cNvCxnSpPr/>
          <p:nvPr/>
        </p:nvCxnSpPr>
        <p:spPr>
          <a:xfrm rot="-5400000">
            <a:off x="45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14" name="Google Shape;1414;p98"/>
          <p:cNvSpPr txBox="1"/>
          <p:nvPr>
            <p:ph idx="4294967295" type="body"/>
          </p:nvPr>
        </p:nvSpPr>
        <p:spPr>
          <a:xfrm flipH="1" rot="-5400000">
            <a:off x="44506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15" name="Google Shape;1415;p98"/>
          <p:cNvCxnSpPr/>
          <p:nvPr/>
        </p:nvCxnSpPr>
        <p:spPr>
          <a:xfrm>
            <a:off x="5186826" y="866458"/>
            <a:ext cx="2004600" cy="0"/>
          </a:xfrm>
          <a:prstGeom prst="straightConnector1">
            <a:avLst/>
          </a:prstGeom>
          <a:noFill/>
          <a:ln cap="flat" cmpd="sng" w="28575">
            <a:solidFill>
              <a:schemeClr val="accent5"/>
            </a:solidFill>
            <a:prstDash val="solid"/>
            <a:round/>
            <a:headEnd len="med" w="med" type="triangle"/>
            <a:tailEnd len="med" w="med" type="triangle"/>
          </a:ln>
        </p:spPr>
      </p:cxnSp>
      <p:pic>
        <p:nvPicPr>
          <p:cNvPr id="1416" name="Google Shape;1416;p98"/>
          <p:cNvPicPr preferRelativeResize="0"/>
          <p:nvPr/>
        </p:nvPicPr>
        <p:blipFill rotWithShape="1">
          <a:blip r:embed="rId3">
            <a:alphaModFix/>
          </a:blip>
          <a:srcRect b="33433" l="0" r="0" t="33437"/>
          <a:stretch/>
        </p:blipFill>
        <p:spPr>
          <a:xfrm>
            <a:off x="5130516" y="921887"/>
            <a:ext cx="2097005" cy="1107010"/>
          </a:xfrm>
          <a:prstGeom prst="rect">
            <a:avLst/>
          </a:prstGeom>
          <a:noFill/>
          <a:ln>
            <a:noFill/>
          </a:ln>
        </p:spPr>
      </p:pic>
      <p:pic>
        <p:nvPicPr>
          <p:cNvPr id="1417" name="Google Shape;1417;p98"/>
          <p:cNvPicPr preferRelativeResize="0"/>
          <p:nvPr/>
        </p:nvPicPr>
        <p:blipFill rotWithShape="1">
          <a:blip r:embed="rId3">
            <a:alphaModFix/>
          </a:blip>
          <a:srcRect b="0" l="0" r="0" t="66870"/>
          <a:stretch/>
        </p:blipFill>
        <p:spPr>
          <a:xfrm>
            <a:off x="5130516" y="2075464"/>
            <a:ext cx="2097005" cy="1107010"/>
          </a:xfrm>
          <a:prstGeom prst="rect">
            <a:avLst/>
          </a:prstGeom>
          <a:noFill/>
          <a:ln>
            <a:noFill/>
          </a:ln>
        </p:spPr>
      </p:pic>
      <p:cxnSp>
        <p:nvCxnSpPr>
          <p:cNvPr id="1418" name="Google Shape;1418;p98"/>
          <p:cNvCxnSpPr/>
          <p:nvPr/>
        </p:nvCxnSpPr>
        <p:spPr>
          <a:xfrm rot="-5400000">
            <a:off x="4590978"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19" name="Google Shape;1419;p98"/>
          <p:cNvSpPr txBox="1"/>
          <p:nvPr>
            <p:ph idx="4294967295" type="body"/>
          </p:nvPr>
        </p:nvSpPr>
        <p:spPr>
          <a:xfrm flipH="1" rot="-5400000">
            <a:off x="4452696"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sp>
        <p:nvSpPr>
          <p:cNvPr id="1420" name="Google Shape;1420;p98"/>
          <p:cNvSpPr txBox="1"/>
          <p:nvPr>
            <p:ph idx="1" type="subTitle"/>
          </p:nvPr>
        </p:nvSpPr>
        <p:spPr>
          <a:xfrm>
            <a:off x="4826050" y="4543203"/>
            <a:ext cx="3996000" cy="277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1800"/>
              <a:buNone/>
            </a:pPr>
            <a:r>
              <a:rPr lang="en-GB"/>
              <a:t>Try it yourself.</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9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426" name="Google Shape;1426;p99"/>
          <p:cNvSpPr txBox="1"/>
          <p:nvPr>
            <p:ph idx="1" type="subTitle"/>
          </p:nvPr>
        </p:nvSpPr>
        <p:spPr>
          <a:xfrm>
            <a:off x="324000" y="3759453"/>
            <a:ext cx="3996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1800"/>
              <a:buNone/>
            </a:pPr>
            <a:r>
              <a:rPr lang="en-GB" sz="1800"/>
              <a:t>Using the known values, label all missing sides and convert any diameters into radii.</a:t>
            </a:r>
            <a:endParaRPr sz="1800"/>
          </a:p>
        </p:txBody>
      </p:sp>
      <p:pic>
        <p:nvPicPr>
          <p:cNvPr id="1427" name="Google Shape;1427;p99"/>
          <p:cNvPicPr preferRelativeResize="0"/>
          <p:nvPr/>
        </p:nvPicPr>
        <p:blipFill rotWithShape="1">
          <a:blip r:embed="rId3">
            <a:alphaModFix/>
          </a:blip>
          <a:srcRect b="66870" l="0" r="0" t="0"/>
          <a:stretch/>
        </p:blipFill>
        <p:spPr>
          <a:xfrm>
            <a:off x="628470" y="925254"/>
            <a:ext cx="2097005" cy="1107010"/>
          </a:xfrm>
          <a:prstGeom prst="rect">
            <a:avLst/>
          </a:prstGeom>
          <a:noFill/>
          <a:ln>
            <a:noFill/>
          </a:ln>
        </p:spPr>
      </p:pic>
      <p:sp>
        <p:nvSpPr>
          <p:cNvPr id="1428" name="Google Shape;1428;p99"/>
          <p:cNvSpPr txBox="1"/>
          <p:nvPr>
            <p:ph idx="2" type="subTitle"/>
          </p:nvPr>
        </p:nvSpPr>
        <p:spPr>
          <a:xfrm flipH="1">
            <a:off x="6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25 cm</a:t>
            </a:r>
            <a:endParaRPr sz="1800"/>
          </a:p>
        </p:txBody>
      </p:sp>
      <p:cxnSp>
        <p:nvCxnSpPr>
          <p:cNvPr id="1429" name="Google Shape;1429;p99"/>
          <p:cNvCxnSpPr/>
          <p:nvPr/>
        </p:nvCxnSpPr>
        <p:spPr>
          <a:xfrm>
            <a:off x="686826" y="869825"/>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430" name="Google Shape;1430;p99"/>
          <p:cNvCxnSpPr/>
          <p:nvPr/>
        </p:nvCxnSpPr>
        <p:spPr>
          <a:xfrm rot="-5400000">
            <a:off x="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31" name="Google Shape;1431;p99"/>
          <p:cNvSpPr txBox="1"/>
          <p:nvPr>
            <p:ph idx="4294967295" type="body"/>
          </p:nvPr>
        </p:nvSpPr>
        <p:spPr>
          <a:xfrm flipH="1" rot="-5400000">
            <a:off x="-493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pic>
        <p:nvPicPr>
          <p:cNvPr id="1432" name="Google Shape;1432;p99"/>
          <p:cNvPicPr preferRelativeResize="0"/>
          <p:nvPr/>
        </p:nvPicPr>
        <p:blipFill rotWithShape="1">
          <a:blip r:embed="rId3">
            <a:alphaModFix/>
          </a:blip>
          <a:srcRect b="33433" l="0" r="0" t="33437"/>
          <a:stretch/>
        </p:blipFill>
        <p:spPr>
          <a:xfrm>
            <a:off x="628470" y="921887"/>
            <a:ext cx="2097005" cy="1107010"/>
          </a:xfrm>
          <a:prstGeom prst="rect">
            <a:avLst/>
          </a:prstGeom>
          <a:noFill/>
          <a:ln>
            <a:noFill/>
          </a:ln>
        </p:spPr>
      </p:pic>
      <p:pic>
        <p:nvPicPr>
          <p:cNvPr id="1433" name="Google Shape;1433;p99"/>
          <p:cNvPicPr preferRelativeResize="0"/>
          <p:nvPr/>
        </p:nvPicPr>
        <p:blipFill rotWithShape="1">
          <a:blip r:embed="rId3">
            <a:alphaModFix/>
          </a:blip>
          <a:srcRect b="0" l="0" r="0" t="66870"/>
          <a:stretch/>
        </p:blipFill>
        <p:spPr>
          <a:xfrm>
            <a:off x="628470" y="2075464"/>
            <a:ext cx="2097005" cy="1107010"/>
          </a:xfrm>
          <a:prstGeom prst="rect">
            <a:avLst/>
          </a:prstGeom>
          <a:noFill/>
          <a:ln>
            <a:noFill/>
          </a:ln>
        </p:spPr>
      </p:pic>
      <p:cxnSp>
        <p:nvCxnSpPr>
          <p:cNvPr id="1434" name="Google Shape;1434;p99"/>
          <p:cNvCxnSpPr/>
          <p:nvPr/>
        </p:nvCxnSpPr>
        <p:spPr>
          <a:xfrm rot="-5400000">
            <a:off x="88932"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35" name="Google Shape;1435;p99"/>
          <p:cNvSpPr txBox="1"/>
          <p:nvPr>
            <p:ph idx="4294967295" type="body"/>
          </p:nvPr>
        </p:nvSpPr>
        <p:spPr>
          <a:xfrm flipH="1" rot="-5400000">
            <a:off x="-49350"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pic>
        <p:nvPicPr>
          <p:cNvPr id="1436" name="Google Shape;1436;p99"/>
          <p:cNvPicPr preferRelativeResize="0"/>
          <p:nvPr/>
        </p:nvPicPr>
        <p:blipFill rotWithShape="1">
          <a:blip r:embed="rId3">
            <a:alphaModFix/>
          </a:blip>
          <a:srcRect b="66870" l="0" r="0" t="0"/>
          <a:stretch/>
        </p:blipFill>
        <p:spPr>
          <a:xfrm>
            <a:off x="5128470" y="925254"/>
            <a:ext cx="2097005" cy="1107010"/>
          </a:xfrm>
          <a:prstGeom prst="rect">
            <a:avLst/>
          </a:prstGeom>
          <a:noFill/>
          <a:ln>
            <a:noFill/>
          </a:ln>
        </p:spPr>
      </p:pic>
      <p:sp>
        <p:nvSpPr>
          <p:cNvPr id="1437" name="Google Shape;1437;p99"/>
          <p:cNvSpPr txBox="1"/>
          <p:nvPr>
            <p:ph idx="4294967295" type="body"/>
          </p:nvPr>
        </p:nvSpPr>
        <p:spPr>
          <a:xfrm flipH="1">
            <a:off x="51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438" name="Google Shape;1438;p99"/>
          <p:cNvCxnSpPr/>
          <p:nvPr/>
        </p:nvCxnSpPr>
        <p:spPr>
          <a:xfrm rot="-5400000">
            <a:off x="45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39" name="Google Shape;1439;p99"/>
          <p:cNvSpPr txBox="1"/>
          <p:nvPr>
            <p:ph idx="4294967295" type="body"/>
          </p:nvPr>
        </p:nvSpPr>
        <p:spPr>
          <a:xfrm flipH="1" rot="-5400000">
            <a:off x="44506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40" name="Google Shape;1440;p99"/>
          <p:cNvCxnSpPr/>
          <p:nvPr/>
        </p:nvCxnSpPr>
        <p:spPr>
          <a:xfrm>
            <a:off x="5186826" y="866458"/>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441" name="Google Shape;1441;p99"/>
          <p:cNvCxnSpPr/>
          <p:nvPr/>
        </p:nvCxnSpPr>
        <p:spPr>
          <a:xfrm rot="-5400000">
            <a:off x="2257265"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42" name="Google Shape;1442;p99"/>
          <p:cNvSpPr txBox="1"/>
          <p:nvPr>
            <p:ph idx="4294967295" type="body"/>
          </p:nvPr>
        </p:nvSpPr>
        <p:spPr>
          <a:xfrm rot="5400000">
            <a:off x="2395547"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443" name="Google Shape;1443;p99"/>
          <p:cNvCxnSpPr/>
          <p:nvPr/>
        </p:nvCxnSpPr>
        <p:spPr>
          <a:xfrm>
            <a:off x="1684805" y="3239993"/>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44" name="Google Shape;1444;p99"/>
          <p:cNvSpPr txBox="1"/>
          <p:nvPr>
            <p:ph idx="4294967295" type="body"/>
          </p:nvPr>
        </p:nvSpPr>
        <p:spPr>
          <a:xfrm>
            <a:off x="1685207" y="3251525"/>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445" name="Google Shape;1445;p99"/>
          <p:cNvCxnSpPr/>
          <p:nvPr/>
        </p:nvCxnSpPr>
        <p:spPr>
          <a:xfrm rot="-5400000">
            <a:off x="332380" y="2373779"/>
            <a:ext cx="514800" cy="0"/>
          </a:xfrm>
          <a:prstGeom prst="straightConnector1">
            <a:avLst/>
          </a:prstGeom>
          <a:noFill/>
          <a:ln cap="flat" cmpd="sng" w="28575">
            <a:solidFill>
              <a:schemeClr val="accent5"/>
            </a:solidFill>
            <a:prstDash val="solid"/>
            <a:round/>
            <a:headEnd len="med" w="med" type="triangle"/>
            <a:tailEnd len="med" w="med" type="triangle"/>
          </a:ln>
        </p:spPr>
      </p:cxnSp>
      <p:sp>
        <p:nvSpPr>
          <p:cNvPr id="1446" name="Google Shape;1446;p99"/>
          <p:cNvSpPr txBox="1"/>
          <p:nvPr>
            <p:ph idx="4294967295" type="body"/>
          </p:nvPr>
        </p:nvSpPr>
        <p:spPr>
          <a:xfrm flipH="1" rot="-5400000">
            <a:off x="-4045" y="2246947"/>
            <a:ext cx="9111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pic>
        <p:nvPicPr>
          <p:cNvPr id="1447" name="Google Shape;1447;p99"/>
          <p:cNvPicPr preferRelativeResize="0"/>
          <p:nvPr/>
        </p:nvPicPr>
        <p:blipFill rotWithShape="1">
          <a:blip r:embed="rId3">
            <a:alphaModFix/>
          </a:blip>
          <a:srcRect b="33433" l="0" r="0" t="33437"/>
          <a:stretch/>
        </p:blipFill>
        <p:spPr>
          <a:xfrm>
            <a:off x="5130516" y="921887"/>
            <a:ext cx="2097005" cy="1107010"/>
          </a:xfrm>
          <a:prstGeom prst="rect">
            <a:avLst/>
          </a:prstGeom>
          <a:noFill/>
          <a:ln>
            <a:noFill/>
          </a:ln>
        </p:spPr>
      </p:pic>
      <p:pic>
        <p:nvPicPr>
          <p:cNvPr id="1448" name="Google Shape;1448;p99"/>
          <p:cNvPicPr preferRelativeResize="0"/>
          <p:nvPr/>
        </p:nvPicPr>
        <p:blipFill rotWithShape="1">
          <a:blip r:embed="rId3">
            <a:alphaModFix/>
          </a:blip>
          <a:srcRect b="0" l="0" r="0" t="66870"/>
          <a:stretch/>
        </p:blipFill>
        <p:spPr>
          <a:xfrm>
            <a:off x="5130516" y="2075464"/>
            <a:ext cx="2097005" cy="1107010"/>
          </a:xfrm>
          <a:prstGeom prst="rect">
            <a:avLst/>
          </a:prstGeom>
          <a:noFill/>
          <a:ln>
            <a:noFill/>
          </a:ln>
        </p:spPr>
      </p:pic>
      <p:cxnSp>
        <p:nvCxnSpPr>
          <p:cNvPr id="1449" name="Google Shape;1449;p99"/>
          <p:cNvCxnSpPr/>
          <p:nvPr/>
        </p:nvCxnSpPr>
        <p:spPr>
          <a:xfrm rot="-5400000">
            <a:off x="4590978"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50" name="Google Shape;1450;p99"/>
          <p:cNvSpPr txBox="1"/>
          <p:nvPr>
            <p:ph idx="4294967295" type="body"/>
          </p:nvPr>
        </p:nvSpPr>
        <p:spPr>
          <a:xfrm flipH="1" rot="-5400000">
            <a:off x="4452696"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51" name="Google Shape;1451;p99"/>
          <p:cNvCxnSpPr/>
          <p:nvPr/>
        </p:nvCxnSpPr>
        <p:spPr>
          <a:xfrm rot="-5400000">
            <a:off x="6757125"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52" name="Google Shape;1452;p99"/>
          <p:cNvSpPr txBox="1"/>
          <p:nvPr>
            <p:ph idx="4294967295" type="body"/>
          </p:nvPr>
        </p:nvSpPr>
        <p:spPr>
          <a:xfrm rot="5400000">
            <a:off x="6895407"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53" name="Google Shape;1453;p99"/>
          <p:cNvCxnSpPr/>
          <p:nvPr/>
        </p:nvCxnSpPr>
        <p:spPr>
          <a:xfrm>
            <a:off x="6184665" y="3239993"/>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54" name="Google Shape;1454;p99"/>
          <p:cNvSpPr txBox="1"/>
          <p:nvPr>
            <p:ph idx="4294967295" type="body"/>
          </p:nvPr>
        </p:nvSpPr>
        <p:spPr>
          <a:xfrm>
            <a:off x="6185067" y="3251525"/>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55" name="Google Shape;1455;p99"/>
          <p:cNvCxnSpPr/>
          <p:nvPr/>
        </p:nvCxnSpPr>
        <p:spPr>
          <a:xfrm rot="-5400000">
            <a:off x="4832240" y="2373779"/>
            <a:ext cx="514800" cy="0"/>
          </a:xfrm>
          <a:prstGeom prst="straightConnector1">
            <a:avLst/>
          </a:prstGeom>
          <a:noFill/>
          <a:ln cap="flat" cmpd="sng" w="28575">
            <a:solidFill>
              <a:schemeClr val="accent5"/>
            </a:solidFill>
            <a:prstDash val="solid"/>
            <a:round/>
            <a:headEnd len="med" w="med" type="triangle"/>
            <a:tailEnd len="med" w="med" type="triangle"/>
          </a:ln>
        </p:spPr>
      </p:cxnSp>
      <p:sp>
        <p:nvSpPr>
          <p:cNvPr id="1456" name="Google Shape;1456;p99"/>
          <p:cNvSpPr txBox="1"/>
          <p:nvPr>
            <p:ph idx="4294967295" type="body"/>
          </p:nvPr>
        </p:nvSpPr>
        <p:spPr>
          <a:xfrm flipH="1" rot="-5400000">
            <a:off x="4495815" y="2246947"/>
            <a:ext cx="9111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sp>
        <p:nvSpPr>
          <p:cNvPr id="1457" name="Google Shape;1457;p99"/>
          <p:cNvSpPr txBox="1"/>
          <p:nvPr>
            <p:ph idx="1" type="subTitle"/>
          </p:nvPr>
        </p:nvSpPr>
        <p:spPr>
          <a:xfrm>
            <a:off x="4826050" y="4543203"/>
            <a:ext cx="3996000" cy="277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1800"/>
              <a:buNone/>
            </a:pPr>
            <a:r>
              <a:rPr lang="en-GB"/>
              <a:t>Try it yourself.</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3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5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pic>
        <p:nvPicPr>
          <p:cNvPr descr="&lt;math xmlns=&quot;http://www.w3.org/1998/Math/MathML&quot; display=&quot;block&quot; data-is-equatio=&quot;1&quot; data-latex=&quot;=\frac{1}{2}\times\pi\times2^2&quot;&gt;&lt;mo&gt;=&lt;/mo&gt;&lt;mfrac&gt;&lt;mn&gt;1&lt;/mn&gt;&lt;mn&gt;2&lt;/mn&gt;&lt;/mfrac&gt;&lt;mo&gt;×&lt;/mo&gt;&lt;mi&gt;π&lt;/mi&gt;&lt;mo&gt;×&lt;/mo&gt;&lt;msup&gt;&lt;mn&gt;2&lt;/mn&gt;&lt;mn&gt;2&lt;/mn&gt;&lt;/msup&gt;&lt;/math&gt;" id="1462" name="Google Shape;1462;p100" title="equals one half times pi times 2 squared"/>
          <p:cNvPicPr preferRelativeResize="0"/>
          <p:nvPr/>
        </p:nvPicPr>
        <p:blipFill rotWithShape="1">
          <a:blip r:embed="rId3">
            <a:alphaModFix/>
          </a:blip>
          <a:srcRect b="0" l="0" r="0" t="0"/>
          <a:stretch/>
        </p:blipFill>
        <p:spPr>
          <a:xfrm>
            <a:off x="5256938" y="3946807"/>
            <a:ext cx="1244880" cy="478800"/>
          </a:xfrm>
          <a:prstGeom prst="rect">
            <a:avLst/>
          </a:prstGeom>
          <a:noFill/>
          <a:ln>
            <a:noFill/>
          </a:ln>
        </p:spPr>
      </p:pic>
      <p:sp>
        <p:nvSpPr>
          <p:cNvPr id="1463" name="Google Shape;1463;p10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pic>
        <p:nvPicPr>
          <p:cNvPr id="1464" name="Google Shape;1464;p100"/>
          <p:cNvPicPr preferRelativeResize="0"/>
          <p:nvPr/>
        </p:nvPicPr>
        <p:blipFill rotWithShape="1">
          <a:blip r:embed="rId4">
            <a:alphaModFix/>
          </a:blip>
          <a:srcRect b="66870" l="0" r="0" t="0"/>
          <a:stretch/>
        </p:blipFill>
        <p:spPr>
          <a:xfrm>
            <a:off x="628470" y="925254"/>
            <a:ext cx="2097005" cy="1107010"/>
          </a:xfrm>
          <a:prstGeom prst="rect">
            <a:avLst/>
          </a:prstGeom>
          <a:noFill/>
          <a:ln>
            <a:noFill/>
          </a:ln>
        </p:spPr>
      </p:pic>
      <p:sp>
        <p:nvSpPr>
          <p:cNvPr id="1465" name="Google Shape;1465;p100"/>
          <p:cNvSpPr txBox="1"/>
          <p:nvPr>
            <p:ph idx="1" type="subTitle"/>
          </p:nvPr>
        </p:nvSpPr>
        <p:spPr>
          <a:xfrm flipH="1">
            <a:off x="6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25 cm</a:t>
            </a:r>
            <a:endParaRPr sz="1800"/>
          </a:p>
        </p:txBody>
      </p:sp>
      <p:cxnSp>
        <p:nvCxnSpPr>
          <p:cNvPr id="1466" name="Google Shape;1466;p100"/>
          <p:cNvCxnSpPr/>
          <p:nvPr/>
        </p:nvCxnSpPr>
        <p:spPr>
          <a:xfrm>
            <a:off x="686826" y="869825"/>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467" name="Google Shape;1467;p100"/>
          <p:cNvCxnSpPr/>
          <p:nvPr/>
        </p:nvCxnSpPr>
        <p:spPr>
          <a:xfrm rot="-5400000">
            <a:off x="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68" name="Google Shape;1468;p100"/>
          <p:cNvSpPr txBox="1"/>
          <p:nvPr>
            <p:ph idx="2" type="subTitle"/>
          </p:nvPr>
        </p:nvSpPr>
        <p:spPr>
          <a:xfrm flipH="1" rot="-5400000">
            <a:off x="-493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12 cm</a:t>
            </a:r>
            <a:endParaRPr sz="1800"/>
          </a:p>
        </p:txBody>
      </p:sp>
      <p:pic>
        <p:nvPicPr>
          <p:cNvPr id="1469" name="Google Shape;1469;p100"/>
          <p:cNvPicPr preferRelativeResize="0"/>
          <p:nvPr/>
        </p:nvPicPr>
        <p:blipFill rotWithShape="1">
          <a:blip r:embed="rId4">
            <a:alphaModFix/>
          </a:blip>
          <a:srcRect b="33433" l="0" r="0" t="33437"/>
          <a:stretch/>
        </p:blipFill>
        <p:spPr>
          <a:xfrm>
            <a:off x="628470" y="921887"/>
            <a:ext cx="2097005" cy="1107010"/>
          </a:xfrm>
          <a:prstGeom prst="rect">
            <a:avLst/>
          </a:prstGeom>
          <a:noFill/>
          <a:ln>
            <a:noFill/>
          </a:ln>
        </p:spPr>
      </p:pic>
      <p:pic>
        <p:nvPicPr>
          <p:cNvPr id="1470" name="Google Shape;1470;p100"/>
          <p:cNvPicPr preferRelativeResize="0"/>
          <p:nvPr/>
        </p:nvPicPr>
        <p:blipFill rotWithShape="1">
          <a:blip r:embed="rId4">
            <a:alphaModFix/>
          </a:blip>
          <a:srcRect b="0" l="0" r="0" t="66870"/>
          <a:stretch/>
        </p:blipFill>
        <p:spPr>
          <a:xfrm>
            <a:off x="628470" y="2075464"/>
            <a:ext cx="2097005" cy="1107010"/>
          </a:xfrm>
          <a:prstGeom prst="rect">
            <a:avLst/>
          </a:prstGeom>
          <a:noFill/>
          <a:ln>
            <a:noFill/>
          </a:ln>
        </p:spPr>
      </p:pic>
      <p:pic>
        <p:nvPicPr>
          <p:cNvPr id="1471" name="Google Shape;1471;p100"/>
          <p:cNvPicPr preferRelativeResize="0"/>
          <p:nvPr/>
        </p:nvPicPr>
        <p:blipFill rotWithShape="1">
          <a:blip r:embed="rId4">
            <a:alphaModFix/>
          </a:blip>
          <a:srcRect b="66870" l="0" r="0" t="0"/>
          <a:stretch/>
        </p:blipFill>
        <p:spPr>
          <a:xfrm>
            <a:off x="5128470" y="925254"/>
            <a:ext cx="2097005" cy="1107010"/>
          </a:xfrm>
          <a:prstGeom prst="rect">
            <a:avLst/>
          </a:prstGeom>
          <a:noFill/>
          <a:ln>
            <a:noFill/>
          </a:ln>
        </p:spPr>
      </p:pic>
      <p:sp>
        <p:nvSpPr>
          <p:cNvPr id="1472" name="Google Shape;1472;p100"/>
          <p:cNvSpPr txBox="1"/>
          <p:nvPr>
            <p:ph idx="4294967295" type="body"/>
          </p:nvPr>
        </p:nvSpPr>
        <p:spPr>
          <a:xfrm flipH="1">
            <a:off x="51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473" name="Google Shape;1473;p100"/>
          <p:cNvCxnSpPr/>
          <p:nvPr/>
        </p:nvCxnSpPr>
        <p:spPr>
          <a:xfrm rot="-5400000">
            <a:off x="45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74" name="Google Shape;1474;p100"/>
          <p:cNvSpPr txBox="1"/>
          <p:nvPr>
            <p:ph idx="4294967295" type="body"/>
          </p:nvPr>
        </p:nvSpPr>
        <p:spPr>
          <a:xfrm flipH="1" rot="-5400000">
            <a:off x="44506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475" name="Google Shape;1475;p100"/>
          <p:cNvCxnSpPr/>
          <p:nvPr/>
        </p:nvCxnSpPr>
        <p:spPr>
          <a:xfrm>
            <a:off x="5186826" y="866458"/>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476" name="Google Shape;1476;p100"/>
          <p:cNvCxnSpPr/>
          <p:nvPr/>
        </p:nvCxnSpPr>
        <p:spPr>
          <a:xfrm rot="-5400000">
            <a:off x="2257265"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77" name="Google Shape;1477;p100"/>
          <p:cNvSpPr txBox="1"/>
          <p:nvPr>
            <p:ph idx="4294967295" type="body"/>
          </p:nvPr>
        </p:nvSpPr>
        <p:spPr>
          <a:xfrm rot="5400000">
            <a:off x="2395547"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478" name="Google Shape;1478;p100"/>
          <p:cNvCxnSpPr/>
          <p:nvPr/>
        </p:nvCxnSpPr>
        <p:spPr>
          <a:xfrm>
            <a:off x="1684805" y="3239993"/>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479" name="Google Shape;1479;p100"/>
          <p:cNvSpPr txBox="1"/>
          <p:nvPr>
            <p:ph idx="4294967295" type="body"/>
          </p:nvPr>
        </p:nvSpPr>
        <p:spPr>
          <a:xfrm>
            <a:off x="1685207" y="3251525"/>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480" name="Google Shape;1480;p100"/>
          <p:cNvCxnSpPr/>
          <p:nvPr/>
        </p:nvCxnSpPr>
        <p:spPr>
          <a:xfrm rot="-5400000">
            <a:off x="332380" y="2373779"/>
            <a:ext cx="514800" cy="0"/>
          </a:xfrm>
          <a:prstGeom prst="straightConnector1">
            <a:avLst/>
          </a:prstGeom>
          <a:noFill/>
          <a:ln cap="flat" cmpd="sng" w="28575">
            <a:solidFill>
              <a:schemeClr val="accent5"/>
            </a:solidFill>
            <a:prstDash val="solid"/>
            <a:round/>
            <a:headEnd len="med" w="med" type="triangle"/>
            <a:tailEnd len="med" w="med" type="triangle"/>
          </a:ln>
        </p:spPr>
      </p:cxnSp>
      <p:sp>
        <p:nvSpPr>
          <p:cNvPr id="1481" name="Google Shape;1481;p100"/>
          <p:cNvSpPr txBox="1"/>
          <p:nvPr>
            <p:ph idx="4294967295" type="body"/>
          </p:nvPr>
        </p:nvSpPr>
        <p:spPr>
          <a:xfrm flipH="1" rot="-5400000">
            <a:off x="-4045" y="2246947"/>
            <a:ext cx="9111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sp>
        <p:nvSpPr>
          <p:cNvPr id="1482" name="Google Shape;1482;p100"/>
          <p:cNvSpPr txBox="1"/>
          <p:nvPr>
            <p:ph idx="4294967295" type="body"/>
          </p:nvPr>
        </p:nvSpPr>
        <p:spPr>
          <a:xfrm>
            <a:off x="2776450" y="966475"/>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483" name="Google Shape;1483;p100"/>
          <p:cNvSpPr txBox="1"/>
          <p:nvPr>
            <p:ph idx="4294967295" type="body"/>
          </p:nvPr>
        </p:nvSpPr>
        <p:spPr>
          <a:xfrm>
            <a:off x="2776400" y="1312675"/>
            <a:ext cx="1795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 25 × 12</a:t>
            </a:r>
            <a:endParaRPr sz="2000">
              <a:latin typeface="Kalam"/>
              <a:ea typeface="Kalam"/>
              <a:cs typeface="Kalam"/>
              <a:sym typeface="Kalam"/>
            </a:endParaRPr>
          </a:p>
        </p:txBody>
      </p:sp>
      <p:sp>
        <p:nvSpPr>
          <p:cNvPr id="1484" name="Google Shape;1484;p100"/>
          <p:cNvSpPr txBox="1"/>
          <p:nvPr>
            <p:ph idx="4294967295" type="body"/>
          </p:nvPr>
        </p:nvSpPr>
        <p:spPr>
          <a:xfrm>
            <a:off x="3304463" y="1627250"/>
            <a:ext cx="126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 300</a:t>
            </a:r>
            <a:endParaRPr sz="2000">
              <a:latin typeface="Kalam"/>
              <a:ea typeface="Kalam"/>
              <a:cs typeface="Kalam"/>
              <a:sym typeface="Kalam"/>
            </a:endParaRPr>
          </a:p>
        </p:txBody>
      </p:sp>
      <p:sp>
        <p:nvSpPr>
          <p:cNvPr id="1485" name="Google Shape;1485;p100"/>
          <p:cNvSpPr txBox="1"/>
          <p:nvPr>
            <p:ph idx="4294967295" type="body"/>
          </p:nvPr>
        </p:nvSpPr>
        <p:spPr>
          <a:xfrm>
            <a:off x="324800" y="3555157"/>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486" name="Google Shape;1486;p100"/>
          <p:cNvSpPr txBox="1"/>
          <p:nvPr>
            <p:ph idx="4294967295" type="body"/>
          </p:nvPr>
        </p:nvSpPr>
        <p:spPr>
          <a:xfrm>
            <a:off x="324750" y="4032190"/>
            <a:ext cx="55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endParaRPr sz="2000">
              <a:latin typeface="Kalam"/>
              <a:ea typeface="Kalam"/>
              <a:cs typeface="Kalam"/>
              <a:sym typeface="Kalam"/>
            </a:endParaRPr>
          </a:p>
        </p:txBody>
      </p:sp>
      <p:sp>
        <p:nvSpPr>
          <p:cNvPr id="1487" name="Google Shape;1487;p100"/>
          <p:cNvSpPr txBox="1"/>
          <p:nvPr>
            <p:ph idx="4294967295" type="body"/>
          </p:nvPr>
        </p:nvSpPr>
        <p:spPr>
          <a:xfrm>
            <a:off x="852813" y="4533477"/>
            <a:ext cx="12675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a:latin typeface="Times New Roman"/>
                <a:ea typeface="Times New Roman"/>
                <a:cs typeface="Times New Roman"/>
                <a:sym typeface="Times New Roman"/>
              </a:rPr>
              <a:t>= 18π</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times\pi\times6^2&quot;&gt;&lt;mo&gt;=&lt;/mo&gt;&lt;mfrac&gt;&lt;mn&gt;1&lt;/mn&gt;&lt;mn&gt;2&lt;/mn&gt;&lt;/mfrac&gt;&lt;mo&gt;×&lt;/mo&gt;&lt;mi&gt;π&lt;/mi&gt;&lt;mo&gt;×&lt;/mo&gt;&lt;msup&gt;&lt;mn&gt;6&lt;/mn&gt;&lt;mn&gt;2&lt;/mn&gt;&lt;/msup&gt;&lt;/math&gt;" id="1488" name="Google Shape;1488;p100" title="equals one half times pi times 6 squared"/>
          <p:cNvPicPr preferRelativeResize="0"/>
          <p:nvPr/>
        </p:nvPicPr>
        <p:blipFill rotWithShape="1">
          <a:blip r:embed="rId5">
            <a:alphaModFix/>
          </a:blip>
          <a:srcRect b="0" l="0" r="0" t="0"/>
          <a:stretch/>
        </p:blipFill>
        <p:spPr>
          <a:xfrm>
            <a:off x="852822" y="3946565"/>
            <a:ext cx="1244880" cy="478800"/>
          </a:xfrm>
          <a:prstGeom prst="rect">
            <a:avLst/>
          </a:prstGeom>
          <a:noFill/>
          <a:ln>
            <a:noFill/>
          </a:ln>
        </p:spPr>
      </p:pic>
      <p:sp>
        <p:nvSpPr>
          <p:cNvPr id="1489" name="Google Shape;1489;p100"/>
          <p:cNvSpPr txBox="1"/>
          <p:nvPr>
            <p:ph idx="4294967295" type="body"/>
          </p:nvPr>
        </p:nvSpPr>
        <p:spPr>
          <a:xfrm>
            <a:off x="2543352" y="3555157"/>
            <a:ext cx="202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quarter-circle part</a:t>
            </a:r>
            <a:endParaRPr sz="2000">
              <a:latin typeface="Kalam"/>
              <a:ea typeface="Kalam"/>
              <a:cs typeface="Kalam"/>
              <a:sym typeface="Kalam"/>
            </a:endParaRPr>
          </a:p>
        </p:txBody>
      </p:sp>
      <p:sp>
        <p:nvSpPr>
          <p:cNvPr id="1490" name="Google Shape;1490;p100"/>
          <p:cNvSpPr txBox="1"/>
          <p:nvPr>
            <p:ph idx="4294967295" type="body"/>
          </p:nvPr>
        </p:nvSpPr>
        <p:spPr>
          <a:xfrm>
            <a:off x="2543292" y="4032190"/>
            <a:ext cx="55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endParaRPr sz="2000">
              <a:latin typeface="Kalam"/>
              <a:ea typeface="Kalam"/>
              <a:cs typeface="Kalam"/>
              <a:sym typeface="Kalam"/>
            </a:endParaRPr>
          </a:p>
        </p:txBody>
      </p:sp>
      <p:sp>
        <p:nvSpPr>
          <p:cNvPr id="1491" name="Google Shape;1491;p100"/>
          <p:cNvSpPr txBox="1"/>
          <p:nvPr>
            <p:ph idx="4294967295" type="body"/>
          </p:nvPr>
        </p:nvSpPr>
        <p:spPr>
          <a:xfrm>
            <a:off x="3071355" y="4533477"/>
            <a:ext cx="12675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a:latin typeface="Times New Roman"/>
                <a:ea typeface="Times New Roman"/>
                <a:cs typeface="Times New Roman"/>
                <a:sym typeface="Times New Roman"/>
              </a:rPr>
              <a:t>= 36π</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pi\times12^2&quot;&gt;&lt;mo&gt;=&lt;/mo&gt;&lt;mfrac&gt;&lt;mn&gt;1&lt;/mn&gt;&lt;mn&gt;4&lt;/mn&gt;&lt;/mfrac&gt;&lt;mo&gt;×&lt;/mo&gt;&lt;mi&gt;π&lt;/mi&gt;&lt;mo&gt;×&lt;/mo&gt;&lt;msup&gt;&lt;mn&gt;12&lt;/mn&gt;&lt;mn&gt;2&lt;/mn&gt;&lt;/msup&gt;&lt;/math&gt;" id="1492" name="Google Shape;1492;p100" title="equals one fourth times pi times 12 squared"/>
          <p:cNvPicPr preferRelativeResize="0"/>
          <p:nvPr/>
        </p:nvPicPr>
        <p:blipFill rotWithShape="1">
          <a:blip r:embed="rId6">
            <a:alphaModFix/>
          </a:blip>
          <a:srcRect b="0" l="0" r="0" t="0"/>
          <a:stretch/>
        </p:blipFill>
        <p:spPr>
          <a:xfrm>
            <a:off x="3071350" y="3946806"/>
            <a:ext cx="1359055" cy="478800"/>
          </a:xfrm>
          <a:prstGeom prst="rect">
            <a:avLst/>
          </a:prstGeom>
          <a:noFill/>
          <a:ln>
            <a:noFill/>
          </a:ln>
        </p:spPr>
      </p:pic>
      <p:sp>
        <p:nvSpPr>
          <p:cNvPr id="1493" name="Google Shape;1493;p100"/>
          <p:cNvSpPr txBox="1"/>
          <p:nvPr>
            <p:ph idx="4294967295" type="body"/>
          </p:nvPr>
        </p:nvSpPr>
        <p:spPr>
          <a:xfrm>
            <a:off x="7332984" y="966475"/>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494" name="Google Shape;1494;p100"/>
          <p:cNvSpPr txBox="1"/>
          <p:nvPr>
            <p:ph idx="4294967295" type="body"/>
          </p:nvPr>
        </p:nvSpPr>
        <p:spPr>
          <a:xfrm>
            <a:off x="7332934" y="1312675"/>
            <a:ext cx="1795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 11 × 4</a:t>
            </a:r>
            <a:endParaRPr sz="2000">
              <a:latin typeface="Kalam"/>
              <a:ea typeface="Kalam"/>
              <a:cs typeface="Kalam"/>
              <a:sym typeface="Kalam"/>
            </a:endParaRPr>
          </a:p>
        </p:txBody>
      </p:sp>
      <p:sp>
        <p:nvSpPr>
          <p:cNvPr id="1495" name="Google Shape;1495;p100"/>
          <p:cNvSpPr txBox="1"/>
          <p:nvPr>
            <p:ph idx="4294967295" type="body"/>
          </p:nvPr>
        </p:nvSpPr>
        <p:spPr>
          <a:xfrm>
            <a:off x="7860997" y="1627250"/>
            <a:ext cx="126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 44</a:t>
            </a:r>
            <a:endParaRPr sz="2000">
              <a:latin typeface="Kalam"/>
              <a:ea typeface="Kalam"/>
              <a:cs typeface="Kalam"/>
              <a:sym typeface="Kalam"/>
            </a:endParaRPr>
          </a:p>
        </p:txBody>
      </p:sp>
      <p:sp>
        <p:nvSpPr>
          <p:cNvPr id="1496" name="Google Shape;1496;p100"/>
          <p:cNvSpPr txBox="1"/>
          <p:nvPr>
            <p:ph idx="4294967295" type="body"/>
          </p:nvPr>
        </p:nvSpPr>
        <p:spPr>
          <a:xfrm>
            <a:off x="4728934" y="3555157"/>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497" name="Google Shape;1497;p100"/>
          <p:cNvSpPr txBox="1"/>
          <p:nvPr>
            <p:ph idx="4294967295" type="body"/>
          </p:nvPr>
        </p:nvSpPr>
        <p:spPr>
          <a:xfrm>
            <a:off x="4728884" y="4032190"/>
            <a:ext cx="55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endParaRPr sz="2000">
              <a:latin typeface="Kalam"/>
              <a:ea typeface="Kalam"/>
              <a:cs typeface="Kalam"/>
              <a:sym typeface="Kalam"/>
            </a:endParaRPr>
          </a:p>
        </p:txBody>
      </p:sp>
      <p:sp>
        <p:nvSpPr>
          <p:cNvPr id="1498" name="Google Shape;1498;p100"/>
          <p:cNvSpPr txBox="1"/>
          <p:nvPr>
            <p:ph idx="4294967295" type="body"/>
          </p:nvPr>
        </p:nvSpPr>
        <p:spPr>
          <a:xfrm>
            <a:off x="5256947" y="4533477"/>
            <a:ext cx="12675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a:latin typeface="Times New Roman"/>
                <a:ea typeface="Times New Roman"/>
                <a:cs typeface="Times New Roman"/>
                <a:sym typeface="Times New Roman"/>
              </a:rPr>
              <a:t>= 2π</a:t>
            </a:r>
            <a:endParaRPr>
              <a:latin typeface="Times New Roman"/>
              <a:ea typeface="Times New Roman"/>
              <a:cs typeface="Times New Roman"/>
              <a:sym typeface="Times New Roman"/>
            </a:endParaRPr>
          </a:p>
        </p:txBody>
      </p:sp>
      <p:sp>
        <p:nvSpPr>
          <p:cNvPr id="1499" name="Google Shape;1499;p100"/>
          <p:cNvSpPr txBox="1"/>
          <p:nvPr>
            <p:ph idx="4294967295" type="body"/>
          </p:nvPr>
        </p:nvSpPr>
        <p:spPr>
          <a:xfrm>
            <a:off x="6872041" y="3555157"/>
            <a:ext cx="202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quarter-circle part</a:t>
            </a:r>
            <a:endParaRPr sz="2000">
              <a:latin typeface="Kalam"/>
              <a:ea typeface="Kalam"/>
              <a:cs typeface="Kalam"/>
              <a:sym typeface="Kalam"/>
            </a:endParaRPr>
          </a:p>
        </p:txBody>
      </p:sp>
      <p:sp>
        <p:nvSpPr>
          <p:cNvPr id="1500" name="Google Shape;1500;p100"/>
          <p:cNvSpPr txBox="1"/>
          <p:nvPr>
            <p:ph idx="4294967295" type="body"/>
          </p:nvPr>
        </p:nvSpPr>
        <p:spPr>
          <a:xfrm>
            <a:off x="6947426" y="4032190"/>
            <a:ext cx="5586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endParaRPr sz="2000">
              <a:latin typeface="Kalam"/>
              <a:ea typeface="Kalam"/>
              <a:cs typeface="Kalam"/>
              <a:sym typeface="Kalam"/>
            </a:endParaRPr>
          </a:p>
        </p:txBody>
      </p:sp>
      <p:sp>
        <p:nvSpPr>
          <p:cNvPr id="1501" name="Google Shape;1501;p100"/>
          <p:cNvSpPr txBox="1"/>
          <p:nvPr>
            <p:ph idx="4294967295" type="body"/>
          </p:nvPr>
        </p:nvSpPr>
        <p:spPr>
          <a:xfrm>
            <a:off x="7400043" y="4533477"/>
            <a:ext cx="12675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a:latin typeface="Times New Roman"/>
                <a:ea typeface="Times New Roman"/>
                <a:cs typeface="Times New Roman"/>
                <a:sym typeface="Times New Roman"/>
              </a:rPr>
              <a:t>= 4π</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pi\times4^2&quot;&gt;&lt;mo&gt;=&lt;/mo&gt;&lt;mfrac&gt;&lt;mn&gt;1&lt;/mn&gt;&lt;mn&gt;4&lt;/mn&gt;&lt;/mfrac&gt;&lt;mo&gt;×&lt;/mo&gt;&lt;mi&gt;π&lt;/mi&gt;&lt;mo&gt;×&lt;/mo&gt;&lt;msup&gt;&lt;mn&gt;4&lt;/mn&gt;&lt;mn&gt;2&lt;/mn&gt;&lt;/msup&gt;&lt;/math&gt;" id="1502" name="Google Shape;1502;p100" title="equals one fourth times pi times 4 squared"/>
          <p:cNvPicPr preferRelativeResize="0"/>
          <p:nvPr/>
        </p:nvPicPr>
        <p:blipFill rotWithShape="1">
          <a:blip r:embed="rId7">
            <a:alphaModFix/>
          </a:blip>
          <a:srcRect b="0" l="0" r="0" t="0"/>
          <a:stretch/>
        </p:blipFill>
        <p:spPr>
          <a:xfrm>
            <a:off x="7400050" y="3946557"/>
            <a:ext cx="1244880" cy="478800"/>
          </a:xfrm>
          <a:prstGeom prst="rect">
            <a:avLst/>
          </a:prstGeom>
          <a:noFill/>
          <a:ln>
            <a:noFill/>
          </a:ln>
        </p:spPr>
      </p:pic>
      <p:pic>
        <p:nvPicPr>
          <p:cNvPr id="1503" name="Google Shape;1503;p100"/>
          <p:cNvPicPr preferRelativeResize="0"/>
          <p:nvPr/>
        </p:nvPicPr>
        <p:blipFill rotWithShape="1">
          <a:blip r:embed="rId4">
            <a:alphaModFix/>
          </a:blip>
          <a:srcRect b="0" l="0" r="0" t="66870"/>
          <a:stretch/>
        </p:blipFill>
        <p:spPr>
          <a:xfrm>
            <a:off x="5130516" y="2075464"/>
            <a:ext cx="2097005" cy="1107010"/>
          </a:xfrm>
          <a:prstGeom prst="rect">
            <a:avLst/>
          </a:prstGeom>
          <a:noFill/>
          <a:ln>
            <a:noFill/>
          </a:ln>
        </p:spPr>
      </p:pic>
      <p:cxnSp>
        <p:nvCxnSpPr>
          <p:cNvPr id="1504" name="Google Shape;1504;p100"/>
          <p:cNvCxnSpPr/>
          <p:nvPr/>
        </p:nvCxnSpPr>
        <p:spPr>
          <a:xfrm rot="-5400000">
            <a:off x="6757125" y="2616785"/>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505" name="Google Shape;1505;p100"/>
          <p:cNvSpPr txBox="1"/>
          <p:nvPr>
            <p:ph idx="4294967295" type="body"/>
          </p:nvPr>
        </p:nvSpPr>
        <p:spPr>
          <a:xfrm rot="5400000">
            <a:off x="6895407" y="2489633"/>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506" name="Google Shape;1506;p100"/>
          <p:cNvCxnSpPr/>
          <p:nvPr/>
        </p:nvCxnSpPr>
        <p:spPr>
          <a:xfrm>
            <a:off x="6184665" y="3239993"/>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507" name="Google Shape;1507;p100"/>
          <p:cNvSpPr txBox="1"/>
          <p:nvPr>
            <p:ph idx="4294967295" type="body"/>
          </p:nvPr>
        </p:nvSpPr>
        <p:spPr>
          <a:xfrm>
            <a:off x="6185067" y="3251525"/>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508" name="Google Shape;1508;p100"/>
          <p:cNvCxnSpPr/>
          <p:nvPr/>
        </p:nvCxnSpPr>
        <p:spPr>
          <a:xfrm rot="-5400000">
            <a:off x="4832240" y="2373779"/>
            <a:ext cx="514800" cy="0"/>
          </a:xfrm>
          <a:prstGeom prst="straightConnector1">
            <a:avLst/>
          </a:prstGeom>
          <a:noFill/>
          <a:ln cap="flat" cmpd="sng" w="28575">
            <a:solidFill>
              <a:schemeClr val="accent5"/>
            </a:solidFill>
            <a:prstDash val="solid"/>
            <a:round/>
            <a:headEnd len="med" w="med" type="triangle"/>
            <a:tailEnd len="med" w="med" type="triangle"/>
          </a:ln>
        </p:spPr>
      </p:cxnSp>
      <p:sp>
        <p:nvSpPr>
          <p:cNvPr id="1509" name="Google Shape;1509;p100"/>
          <p:cNvSpPr txBox="1"/>
          <p:nvPr>
            <p:ph idx="4294967295" type="body"/>
          </p:nvPr>
        </p:nvSpPr>
        <p:spPr>
          <a:xfrm flipH="1" rot="-5400000">
            <a:off x="4495815" y="2246947"/>
            <a:ext cx="9111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sp>
        <p:nvSpPr>
          <p:cNvPr id="1510" name="Google Shape;1510;p100"/>
          <p:cNvSpPr txBox="1"/>
          <p:nvPr>
            <p:ph idx="1" type="subTitle"/>
          </p:nvPr>
        </p:nvSpPr>
        <p:spPr>
          <a:xfrm>
            <a:off x="4826050" y="4334096"/>
            <a:ext cx="3996000" cy="277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1800"/>
              <a:buNone/>
            </a:pPr>
            <a:r>
              <a:rPr lang="en-GB"/>
              <a:t>Try it yourself.</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1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0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pic>
        <p:nvPicPr>
          <p:cNvPr id="1516" name="Google Shape;1516;p101"/>
          <p:cNvPicPr preferRelativeResize="0"/>
          <p:nvPr/>
        </p:nvPicPr>
        <p:blipFill rotWithShape="1">
          <a:blip r:embed="rId3">
            <a:alphaModFix/>
          </a:blip>
          <a:srcRect b="66870" l="0" r="0" t="0"/>
          <a:stretch/>
        </p:blipFill>
        <p:spPr>
          <a:xfrm>
            <a:off x="628470" y="925254"/>
            <a:ext cx="2097005" cy="1107010"/>
          </a:xfrm>
          <a:prstGeom prst="rect">
            <a:avLst/>
          </a:prstGeom>
          <a:noFill/>
          <a:ln>
            <a:noFill/>
          </a:ln>
        </p:spPr>
      </p:pic>
      <p:sp>
        <p:nvSpPr>
          <p:cNvPr id="1517" name="Google Shape;1517;p101"/>
          <p:cNvSpPr txBox="1"/>
          <p:nvPr>
            <p:ph idx="1" type="subTitle"/>
          </p:nvPr>
        </p:nvSpPr>
        <p:spPr>
          <a:xfrm flipH="1">
            <a:off x="6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25 cm</a:t>
            </a:r>
            <a:endParaRPr sz="1800"/>
          </a:p>
        </p:txBody>
      </p:sp>
      <p:cxnSp>
        <p:nvCxnSpPr>
          <p:cNvPr id="1518" name="Google Shape;1518;p101"/>
          <p:cNvCxnSpPr/>
          <p:nvPr/>
        </p:nvCxnSpPr>
        <p:spPr>
          <a:xfrm>
            <a:off x="686826" y="869825"/>
            <a:ext cx="20046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519" name="Google Shape;1519;p101"/>
          <p:cNvCxnSpPr/>
          <p:nvPr/>
        </p:nvCxnSpPr>
        <p:spPr>
          <a:xfrm rot="-5400000">
            <a:off x="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520" name="Google Shape;1520;p101"/>
          <p:cNvSpPr txBox="1"/>
          <p:nvPr>
            <p:ph idx="2" type="subTitle"/>
          </p:nvPr>
        </p:nvSpPr>
        <p:spPr>
          <a:xfrm flipH="1" rot="-5400000">
            <a:off x="-493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800"/>
              <a:buNone/>
            </a:pPr>
            <a:r>
              <a:rPr lang="en-GB" sz="1800"/>
              <a:t>12 cm</a:t>
            </a:r>
            <a:endParaRPr sz="1800"/>
          </a:p>
        </p:txBody>
      </p:sp>
      <p:pic>
        <p:nvPicPr>
          <p:cNvPr id="1521" name="Google Shape;1521;p101"/>
          <p:cNvPicPr preferRelativeResize="0"/>
          <p:nvPr/>
        </p:nvPicPr>
        <p:blipFill rotWithShape="1">
          <a:blip r:embed="rId3">
            <a:alphaModFix/>
          </a:blip>
          <a:srcRect b="66870" l="0" r="0" t="0"/>
          <a:stretch/>
        </p:blipFill>
        <p:spPr>
          <a:xfrm>
            <a:off x="5128470" y="925254"/>
            <a:ext cx="2097005" cy="1107010"/>
          </a:xfrm>
          <a:prstGeom prst="rect">
            <a:avLst/>
          </a:prstGeom>
          <a:noFill/>
          <a:ln>
            <a:noFill/>
          </a:ln>
        </p:spPr>
      </p:pic>
      <p:sp>
        <p:nvSpPr>
          <p:cNvPr id="1522" name="Google Shape;1522;p101"/>
          <p:cNvSpPr txBox="1"/>
          <p:nvPr>
            <p:ph idx="4294967295" type="body"/>
          </p:nvPr>
        </p:nvSpPr>
        <p:spPr>
          <a:xfrm flipH="1">
            <a:off x="5186748" y="604792"/>
            <a:ext cx="2004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523" name="Google Shape;1523;p101"/>
          <p:cNvCxnSpPr/>
          <p:nvPr/>
        </p:nvCxnSpPr>
        <p:spPr>
          <a:xfrm rot="-5400000">
            <a:off x="4588932" y="1466574"/>
            <a:ext cx="1000200" cy="0"/>
          </a:xfrm>
          <a:prstGeom prst="straightConnector1">
            <a:avLst/>
          </a:prstGeom>
          <a:noFill/>
          <a:ln cap="flat" cmpd="sng" w="28575">
            <a:solidFill>
              <a:schemeClr val="accent5"/>
            </a:solidFill>
            <a:prstDash val="solid"/>
            <a:round/>
            <a:headEnd len="med" w="med" type="triangle"/>
            <a:tailEnd len="med" w="med" type="triangle"/>
          </a:ln>
        </p:spPr>
      </p:cxnSp>
      <p:sp>
        <p:nvSpPr>
          <p:cNvPr id="1524" name="Google Shape;1524;p101"/>
          <p:cNvSpPr txBox="1"/>
          <p:nvPr>
            <p:ph idx="4294967295" type="body"/>
          </p:nvPr>
        </p:nvSpPr>
        <p:spPr>
          <a:xfrm flipH="1" rot="-5400000">
            <a:off x="4450650" y="1339422"/>
            <a:ext cx="1000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525" name="Google Shape;1525;p101"/>
          <p:cNvCxnSpPr/>
          <p:nvPr/>
        </p:nvCxnSpPr>
        <p:spPr>
          <a:xfrm>
            <a:off x="5186826" y="866458"/>
            <a:ext cx="2004600" cy="0"/>
          </a:xfrm>
          <a:prstGeom prst="straightConnector1">
            <a:avLst/>
          </a:prstGeom>
          <a:noFill/>
          <a:ln cap="flat" cmpd="sng" w="28575">
            <a:solidFill>
              <a:schemeClr val="accent5"/>
            </a:solidFill>
            <a:prstDash val="solid"/>
            <a:round/>
            <a:headEnd len="med" w="med" type="triangle"/>
            <a:tailEnd len="med" w="med" type="triangle"/>
          </a:ln>
        </p:spPr>
      </p:cxnSp>
      <p:sp>
        <p:nvSpPr>
          <p:cNvPr id="1526" name="Google Shape;1526;p101"/>
          <p:cNvSpPr txBox="1"/>
          <p:nvPr>
            <p:ph idx="4294967295" type="body"/>
          </p:nvPr>
        </p:nvSpPr>
        <p:spPr>
          <a:xfrm>
            <a:off x="324050" y="2192300"/>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527" name="Google Shape;1527;p101"/>
          <p:cNvSpPr txBox="1"/>
          <p:nvPr>
            <p:ph idx="4294967295" type="body"/>
          </p:nvPr>
        </p:nvSpPr>
        <p:spPr>
          <a:xfrm>
            <a:off x="324000" y="2538500"/>
            <a:ext cx="1795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 300</a:t>
            </a:r>
            <a:endParaRPr sz="2000">
              <a:latin typeface="Kalam"/>
              <a:ea typeface="Kalam"/>
              <a:cs typeface="Kalam"/>
              <a:sym typeface="Kalam"/>
            </a:endParaRPr>
          </a:p>
        </p:txBody>
      </p:sp>
      <p:sp>
        <p:nvSpPr>
          <p:cNvPr id="1528" name="Google Shape;1528;p101"/>
          <p:cNvSpPr txBox="1"/>
          <p:nvPr>
            <p:ph idx="4294967295" type="body"/>
          </p:nvPr>
        </p:nvSpPr>
        <p:spPr>
          <a:xfrm>
            <a:off x="324800" y="3034847"/>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529" name="Google Shape;1529;p101"/>
          <p:cNvSpPr txBox="1"/>
          <p:nvPr>
            <p:ph idx="4294967295" type="body"/>
          </p:nvPr>
        </p:nvSpPr>
        <p:spPr>
          <a:xfrm>
            <a:off x="324750" y="3366814"/>
            <a:ext cx="14919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r>
              <a:rPr lang="en-GB">
                <a:latin typeface="Times New Roman"/>
                <a:ea typeface="Times New Roman"/>
                <a:cs typeface="Times New Roman"/>
                <a:sym typeface="Times New Roman"/>
              </a:rPr>
              <a:t>= 18π</a:t>
            </a:r>
            <a:endParaRPr sz="2000">
              <a:latin typeface="Kalam"/>
              <a:ea typeface="Kalam"/>
              <a:cs typeface="Kalam"/>
              <a:sym typeface="Kalam"/>
            </a:endParaRPr>
          </a:p>
        </p:txBody>
      </p:sp>
      <p:sp>
        <p:nvSpPr>
          <p:cNvPr id="1530" name="Google Shape;1530;p101"/>
          <p:cNvSpPr txBox="1"/>
          <p:nvPr>
            <p:ph idx="4294967295" type="body"/>
          </p:nvPr>
        </p:nvSpPr>
        <p:spPr>
          <a:xfrm>
            <a:off x="324800" y="3894075"/>
            <a:ext cx="20970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quarter-circle part</a:t>
            </a:r>
            <a:endParaRPr sz="2000">
              <a:latin typeface="Kalam"/>
              <a:ea typeface="Kalam"/>
              <a:cs typeface="Kalam"/>
              <a:sym typeface="Kalam"/>
            </a:endParaRPr>
          </a:p>
        </p:txBody>
      </p:sp>
      <p:sp>
        <p:nvSpPr>
          <p:cNvPr id="1531" name="Google Shape;1531;p101"/>
          <p:cNvSpPr txBox="1"/>
          <p:nvPr>
            <p:ph idx="4294967295" type="body"/>
          </p:nvPr>
        </p:nvSpPr>
        <p:spPr>
          <a:xfrm>
            <a:off x="324750" y="4226039"/>
            <a:ext cx="14919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r>
              <a:rPr lang="en-GB">
                <a:latin typeface="Times New Roman"/>
                <a:ea typeface="Times New Roman"/>
                <a:cs typeface="Times New Roman"/>
                <a:sym typeface="Times New Roman"/>
              </a:rPr>
              <a:t>= 36π</a:t>
            </a:r>
            <a:endParaRPr sz="2000">
              <a:latin typeface="Kalam"/>
              <a:ea typeface="Kalam"/>
              <a:cs typeface="Kalam"/>
              <a:sym typeface="Kalam"/>
            </a:endParaRPr>
          </a:p>
        </p:txBody>
      </p:sp>
      <p:sp>
        <p:nvSpPr>
          <p:cNvPr id="1532" name="Google Shape;1532;p101"/>
          <p:cNvSpPr txBox="1"/>
          <p:nvPr>
            <p:ph idx="4294967295" type="body"/>
          </p:nvPr>
        </p:nvSpPr>
        <p:spPr>
          <a:xfrm>
            <a:off x="2725475" y="2192300"/>
            <a:ext cx="1597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2200"/>
              <a:buNone/>
            </a:pPr>
            <a:r>
              <a:rPr lang="en-GB" sz="2000">
                <a:latin typeface="Kalam"/>
                <a:ea typeface="Kalam"/>
                <a:cs typeface="Kalam"/>
                <a:sym typeface="Kalam"/>
              </a:rPr>
              <a:t>area of shaded region</a:t>
            </a:r>
            <a:endParaRPr sz="2000">
              <a:latin typeface="Kalam"/>
              <a:ea typeface="Kalam"/>
              <a:cs typeface="Kalam"/>
              <a:sym typeface="Kalam"/>
            </a:endParaRPr>
          </a:p>
        </p:txBody>
      </p:sp>
      <p:sp>
        <p:nvSpPr>
          <p:cNvPr id="1533" name="Google Shape;1533;p101"/>
          <p:cNvSpPr txBox="1"/>
          <p:nvPr>
            <p:ph idx="4294967295" type="body"/>
          </p:nvPr>
        </p:nvSpPr>
        <p:spPr>
          <a:xfrm>
            <a:off x="2521925" y="2901300"/>
            <a:ext cx="2004600" cy="338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2200"/>
              <a:buNone/>
            </a:pPr>
            <a:r>
              <a:rPr lang="en-GB">
                <a:latin typeface="Times New Roman"/>
                <a:ea typeface="Times New Roman"/>
                <a:cs typeface="Times New Roman"/>
                <a:sym typeface="Times New Roman"/>
              </a:rPr>
              <a:t>300 – 18π – 36π</a:t>
            </a:r>
            <a:endParaRPr>
              <a:latin typeface="Times New Roman"/>
              <a:ea typeface="Times New Roman"/>
              <a:cs typeface="Times New Roman"/>
              <a:sym typeface="Times New Roman"/>
            </a:endParaRPr>
          </a:p>
        </p:txBody>
      </p:sp>
      <p:sp>
        <p:nvSpPr>
          <p:cNvPr id="1534" name="Google Shape;1534;p101"/>
          <p:cNvSpPr txBox="1"/>
          <p:nvPr>
            <p:ph idx="4294967295" type="body"/>
          </p:nvPr>
        </p:nvSpPr>
        <p:spPr>
          <a:xfrm>
            <a:off x="2521925" y="3333400"/>
            <a:ext cx="2004600" cy="338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2200"/>
              <a:buNone/>
            </a:pPr>
            <a:r>
              <a:rPr lang="en-GB">
                <a:latin typeface="Times New Roman"/>
                <a:ea typeface="Times New Roman"/>
                <a:cs typeface="Times New Roman"/>
                <a:sym typeface="Times New Roman"/>
              </a:rPr>
              <a:t>= 300 – 54π</a:t>
            </a:r>
            <a:endParaRPr>
              <a:latin typeface="Times New Roman"/>
              <a:ea typeface="Times New Roman"/>
              <a:cs typeface="Times New Roman"/>
              <a:sym typeface="Times New Roman"/>
            </a:endParaRPr>
          </a:p>
        </p:txBody>
      </p:sp>
      <p:sp>
        <p:nvSpPr>
          <p:cNvPr id="1535" name="Google Shape;1535;p101"/>
          <p:cNvSpPr txBox="1"/>
          <p:nvPr>
            <p:ph idx="4294967295" type="body"/>
          </p:nvPr>
        </p:nvSpPr>
        <p:spPr>
          <a:xfrm>
            <a:off x="4824050" y="2192300"/>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rectangle part</a:t>
            </a:r>
            <a:endParaRPr sz="2000">
              <a:latin typeface="Kalam"/>
              <a:ea typeface="Kalam"/>
              <a:cs typeface="Kalam"/>
              <a:sym typeface="Kalam"/>
            </a:endParaRPr>
          </a:p>
        </p:txBody>
      </p:sp>
      <p:sp>
        <p:nvSpPr>
          <p:cNvPr id="1536" name="Google Shape;1536;p101"/>
          <p:cNvSpPr txBox="1"/>
          <p:nvPr>
            <p:ph idx="4294967295" type="body"/>
          </p:nvPr>
        </p:nvSpPr>
        <p:spPr>
          <a:xfrm>
            <a:off x="4824000" y="2538500"/>
            <a:ext cx="1795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 44</a:t>
            </a:r>
            <a:endParaRPr sz="2000">
              <a:latin typeface="Kalam"/>
              <a:ea typeface="Kalam"/>
              <a:cs typeface="Kalam"/>
              <a:sym typeface="Kalam"/>
            </a:endParaRPr>
          </a:p>
        </p:txBody>
      </p:sp>
      <p:sp>
        <p:nvSpPr>
          <p:cNvPr id="1537" name="Google Shape;1537;p101"/>
          <p:cNvSpPr txBox="1"/>
          <p:nvPr>
            <p:ph idx="4294967295" type="body"/>
          </p:nvPr>
        </p:nvSpPr>
        <p:spPr>
          <a:xfrm>
            <a:off x="4824800" y="3034847"/>
            <a:ext cx="15975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semicircle part</a:t>
            </a:r>
            <a:endParaRPr sz="2000">
              <a:latin typeface="Kalam"/>
              <a:ea typeface="Kalam"/>
              <a:cs typeface="Kalam"/>
              <a:sym typeface="Kalam"/>
            </a:endParaRPr>
          </a:p>
        </p:txBody>
      </p:sp>
      <p:sp>
        <p:nvSpPr>
          <p:cNvPr id="1538" name="Google Shape;1538;p101"/>
          <p:cNvSpPr txBox="1"/>
          <p:nvPr>
            <p:ph idx="4294967295" type="body"/>
          </p:nvPr>
        </p:nvSpPr>
        <p:spPr>
          <a:xfrm>
            <a:off x="4824750" y="3366814"/>
            <a:ext cx="14919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r>
              <a:rPr lang="en-GB">
                <a:latin typeface="Times New Roman"/>
                <a:ea typeface="Times New Roman"/>
                <a:cs typeface="Times New Roman"/>
                <a:sym typeface="Times New Roman"/>
              </a:rPr>
              <a:t>= 2π</a:t>
            </a:r>
            <a:endParaRPr sz="2000">
              <a:latin typeface="Kalam"/>
              <a:ea typeface="Kalam"/>
              <a:cs typeface="Kalam"/>
              <a:sym typeface="Kalam"/>
            </a:endParaRPr>
          </a:p>
        </p:txBody>
      </p:sp>
      <p:sp>
        <p:nvSpPr>
          <p:cNvPr id="1539" name="Google Shape;1539;p101"/>
          <p:cNvSpPr txBox="1"/>
          <p:nvPr>
            <p:ph idx="4294967295" type="body"/>
          </p:nvPr>
        </p:nvSpPr>
        <p:spPr>
          <a:xfrm>
            <a:off x="4824800" y="3894075"/>
            <a:ext cx="2097000" cy="30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quarter-circle part</a:t>
            </a:r>
            <a:endParaRPr sz="2000">
              <a:latin typeface="Kalam"/>
              <a:ea typeface="Kalam"/>
              <a:cs typeface="Kalam"/>
              <a:sym typeface="Kalam"/>
            </a:endParaRPr>
          </a:p>
        </p:txBody>
      </p:sp>
      <p:sp>
        <p:nvSpPr>
          <p:cNvPr id="1540" name="Google Shape;1540;p101"/>
          <p:cNvSpPr txBox="1"/>
          <p:nvPr>
            <p:ph idx="4294967295" type="body"/>
          </p:nvPr>
        </p:nvSpPr>
        <p:spPr>
          <a:xfrm>
            <a:off x="4824750" y="4226039"/>
            <a:ext cx="1491900" cy="338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area </a:t>
            </a:r>
            <a:r>
              <a:rPr lang="en-GB">
                <a:latin typeface="Times New Roman"/>
                <a:ea typeface="Times New Roman"/>
                <a:cs typeface="Times New Roman"/>
                <a:sym typeface="Times New Roman"/>
              </a:rPr>
              <a:t>= 4π</a:t>
            </a:r>
            <a:endParaRPr sz="2000">
              <a:latin typeface="Kalam"/>
              <a:ea typeface="Kalam"/>
              <a:cs typeface="Kalam"/>
              <a:sym typeface="Kalam"/>
            </a:endParaRPr>
          </a:p>
        </p:txBody>
      </p:sp>
      <p:sp>
        <p:nvSpPr>
          <p:cNvPr id="1541" name="Google Shape;1541;p101"/>
          <p:cNvSpPr txBox="1"/>
          <p:nvPr>
            <p:ph idx="4294967295" type="body"/>
          </p:nvPr>
        </p:nvSpPr>
        <p:spPr>
          <a:xfrm>
            <a:off x="7018950" y="2192300"/>
            <a:ext cx="1597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2200"/>
              <a:buNone/>
            </a:pPr>
            <a:r>
              <a:rPr lang="en-GB" sz="2000">
                <a:latin typeface="Kalam"/>
                <a:ea typeface="Kalam"/>
                <a:cs typeface="Kalam"/>
                <a:sym typeface="Kalam"/>
              </a:rPr>
              <a:t>area of shaded region</a:t>
            </a:r>
            <a:endParaRPr sz="2000">
              <a:latin typeface="Kalam"/>
              <a:ea typeface="Kalam"/>
              <a:cs typeface="Kalam"/>
              <a:sym typeface="Kalam"/>
            </a:endParaRPr>
          </a:p>
        </p:txBody>
      </p:sp>
      <p:sp>
        <p:nvSpPr>
          <p:cNvPr id="1542" name="Google Shape;1542;p101"/>
          <p:cNvSpPr txBox="1"/>
          <p:nvPr>
            <p:ph idx="4294967295" type="body"/>
          </p:nvPr>
        </p:nvSpPr>
        <p:spPr>
          <a:xfrm>
            <a:off x="6815400" y="2967925"/>
            <a:ext cx="2004600" cy="338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2200"/>
              <a:buNone/>
            </a:pPr>
            <a:r>
              <a:rPr lang="en-GB">
                <a:latin typeface="Times New Roman"/>
                <a:ea typeface="Times New Roman"/>
                <a:cs typeface="Times New Roman"/>
                <a:sym typeface="Times New Roman"/>
              </a:rPr>
              <a:t>= 44 – 6π</a:t>
            </a:r>
            <a:endParaRPr>
              <a:latin typeface="Times New Roman"/>
              <a:ea typeface="Times New Roman"/>
              <a:cs typeface="Times New Roman"/>
              <a:sym typeface="Times New Roman"/>
            </a:endParaRPr>
          </a:p>
        </p:txBody>
      </p:sp>
      <p:sp>
        <p:nvSpPr>
          <p:cNvPr id="1543" name="Google Shape;1543;p101"/>
          <p:cNvSpPr txBox="1"/>
          <p:nvPr>
            <p:ph idx="1" type="subTitle"/>
          </p:nvPr>
        </p:nvSpPr>
        <p:spPr>
          <a:xfrm>
            <a:off x="4826050" y="4512565"/>
            <a:ext cx="3996000" cy="277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1000"/>
              </a:spcAft>
              <a:buSzPts val="1800"/>
              <a:buNone/>
            </a:pPr>
            <a:r>
              <a:rPr lang="en-GB"/>
              <a:t>Try it yourself.</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pic>
        <p:nvPicPr>
          <p:cNvPr id="1548" name="Google Shape;1548;p102"/>
          <p:cNvPicPr preferRelativeResize="0"/>
          <p:nvPr/>
        </p:nvPicPr>
        <p:blipFill rotWithShape="1">
          <a:blip r:embed="rId3">
            <a:alphaModFix/>
          </a:blip>
          <a:srcRect b="0" l="1516" r="75995" t="64811"/>
          <a:stretch/>
        </p:blipFill>
        <p:spPr>
          <a:xfrm>
            <a:off x="6802033" y="1759126"/>
            <a:ext cx="1075100" cy="1086051"/>
          </a:xfrm>
          <a:prstGeom prst="rect">
            <a:avLst/>
          </a:prstGeom>
          <a:noFill/>
          <a:ln>
            <a:noFill/>
          </a:ln>
        </p:spPr>
      </p:pic>
      <p:sp>
        <p:nvSpPr>
          <p:cNvPr id="1549" name="Google Shape;1549;p102"/>
          <p:cNvSpPr txBox="1"/>
          <p:nvPr>
            <p:ph idx="1" type="body"/>
          </p:nvPr>
        </p:nvSpPr>
        <p:spPr>
          <a:xfrm>
            <a:off x="324000" y="759300"/>
            <a:ext cx="30456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1800"/>
              <a:t>Component parts of a composite shape may be rearranged to make a more simple shape, or multiple simple shapes.</a:t>
            </a:r>
            <a:endParaRPr sz="1800"/>
          </a:p>
          <a:p>
            <a:pPr indent="0" lvl="0" marL="0" rtl="0" algn="l">
              <a:lnSpc>
                <a:spcPct val="115000"/>
              </a:lnSpc>
              <a:spcBef>
                <a:spcPts val="1000"/>
              </a:spcBef>
              <a:spcAft>
                <a:spcPts val="0"/>
              </a:spcAft>
              <a:buSzPts val="2200"/>
              <a:buNone/>
            </a:pPr>
            <a:r>
              <a:t/>
            </a:r>
            <a:endParaRPr sz="1800"/>
          </a:p>
          <a:p>
            <a:pPr indent="0" lvl="0" marL="0" rtl="0" algn="l">
              <a:lnSpc>
                <a:spcPct val="115000"/>
              </a:lnSpc>
              <a:spcBef>
                <a:spcPts val="1000"/>
              </a:spcBef>
              <a:spcAft>
                <a:spcPts val="1000"/>
              </a:spcAft>
              <a:buSzPts val="2200"/>
              <a:buNone/>
            </a:pPr>
            <a:r>
              <a:rPr lang="en-GB" sz="1800"/>
              <a:t>To find the area of a composite shape, you can rearrange component parts and then add together the rearranged shapes.</a:t>
            </a:r>
            <a:endParaRPr sz="1800"/>
          </a:p>
        </p:txBody>
      </p:sp>
      <p:sp>
        <p:nvSpPr>
          <p:cNvPr id="1550" name="Google Shape;1550;p10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grpSp>
        <p:nvGrpSpPr>
          <p:cNvPr id="1551" name="Google Shape;1551;p102"/>
          <p:cNvGrpSpPr/>
          <p:nvPr/>
        </p:nvGrpSpPr>
        <p:grpSpPr>
          <a:xfrm>
            <a:off x="4645727" y="935686"/>
            <a:ext cx="2232065" cy="2235436"/>
            <a:chOff x="3542342" y="1371750"/>
            <a:chExt cx="2232065" cy="2235436"/>
          </a:xfrm>
        </p:grpSpPr>
        <p:pic>
          <p:nvPicPr>
            <p:cNvPr id="1552" name="Google Shape;1552;p102"/>
            <p:cNvPicPr preferRelativeResize="0"/>
            <p:nvPr/>
          </p:nvPicPr>
          <p:blipFill rotWithShape="1">
            <a:blip r:embed="rId3">
              <a:alphaModFix/>
            </a:blip>
            <a:srcRect b="61465" l="1516" r="75995" t="0"/>
            <a:stretch/>
          </p:blipFill>
          <p:spPr>
            <a:xfrm rot="-5400000">
              <a:off x="3599441" y="1398809"/>
              <a:ext cx="1075100" cy="1189299"/>
            </a:xfrm>
            <a:prstGeom prst="rect">
              <a:avLst/>
            </a:prstGeom>
            <a:noFill/>
            <a:ln>
              <a:noFill/>
            </a:ln>
          </p:spPr>
        </p:pic>
        <p:pic>
          <p:nvPicPr>
            <p:cNvPr id="1553" name="Google Shape;1553;p102"/>
            <p:cNvPicPr preferRelativeResize="0"/>
            <p:nvPr/>
          </p:nvPicPr>
          <p:blipFill rotWithShape="1">
            <a:blip r:embed="rId3">
              <a:alphaModFix/>
            </a:blip>
            <a:srcRect b="61465" l="1516" r="75995" t="0"/>
            <a:stretch/>
          </p:blipFill>
          <p:spPr>
            <a:xfrm rot="10800000">
              <a:off x="3628785" y="2417887"/>
              <a:ext cx="1075100" cy="1189299"/>
            </a:xfrm>
            <a:prstGeom prst="rect">
              <a:avLst/>
            </a:prstGeom>
            <a:noFill/>
            <a:ln>
              <a:noFill/>
            </a:ln>
          </p:spPr>
        </p:pic>
        <p:pic>
          <p:nvPicPr>
            <p:cNvPr id="1554" name="Google Shape;1554;p102"/>
            <p:cNvPicPr preferRelativeResize="0"/>
            <p:nvPr/>
          </p:nvPicPr>
          <p:blipFill rotWithShape="1">
            <a:blip r:embed="rId3">
              <a:alphaModFix/>
            </a:blip>
            <a:srcRect b="61465" l="1516" r="75995" t="0"/>
            <a:stretch/>
          </p:blipFill>
          <p:spPr>
            <a:xfrm rot="5400000">
              <a:off x="4642207" y="2389365"/>
              <a:ext cx="1075100" cy="1189299"/>
            </a:xfrm>
            <a:prstGeom prst="rect">
              <a:avLst/>
            </a:prstGeom>
            <a:noFill/>
            <a:ln>
              <a:noFill/>
            </a:ln>
          </p:spPr>
        </p:pic>
        <p:pic>
          <p:nvPicPr>
            <p:cNvPr id="1555" name="Google Shape;1555;p102"/>
            <p:cNvPicPr preferRelativeResize="0"/>
            <p:nvPr/>
          </p:nvPicPr>
          <p:blipFill rotWithShape="1">
            <a:blip r:embed="rId3">
              <a:alphaModFix/>
            </a:blip>
            <a:srcRect b="61465" l="1516" r="75995" t="0"/>
            <a:stretch/>
          </p:blipFill>
          <p:spPr>
            <a:xfrm>
              <a:off x="4612875" y="1371750"/>
              <a:ext cx="1075100" cy="1189299"/>
            </a:xfrm>
            <a:prstGeom prst="rect">
              <a:avLst/>
            </a:prstGeom>
            <a:noFill/>
            <a:ln>
              <a:noFill/>
            </a:ln>
          </p:spPr>
        </p:pic>
      </p:grpSp>
      <p:sp>
        <p:nvSpPr>
          <p:cNvPr id="1556" name="Google Shape;1556;p102"/>
          <p:cNvSpPr txBox="1"/>
          <p:nvPr>
            <p:ph idx="1" type="body"/>
          </p:nvPr>
        </p:nvSpPr>
        <p:spPr>
          <a:xfrm>
            <a:off x="4081850" y="3116975"/>
            <a:ext cx="25503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Four quarter-circles are rearranged into one full circle.</a:t>
            </a:r>
            <a:endParaRPr sz="1800"/>
          </a:p>
        </p:txBody>
      </p:sp>
      <p:sp>
        <p:nvSpPr>
          <p:cNvPr id="1557" name="Google Shape;1557;p102"/>
          <p:cNvSpPr txBox="1"/>
          <p:nvPr>
            <p:ph idx="1" type="body"/>
          </p:nvPr>
        </p:nvSpPr>
        <p:spPr>
          <a:xfrm>
            <a:off x="6714650" y="3131020"/>
            <a:ext cx="21054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Plus the extra square in the centre of the shape.</a:t>
            </a:r>
            <a:endParaRPr sz="1800"/>
          </a:p>
        </p:txBody>
      </p:sp>
      <p:grpSp>
        <p:nvGrpSpPr>
          <p:cNvPr id="1558" name="Google Shape;1558;p102"/>
          <p:cNvGrpSpPr/>
          <p:nvPr/>
        </p:nvGrpSpPr>
        <p:grpSpPr>
          <a:xfrm>
            <a:off x="5728104" y="705508"/>
            <a:ext cx="3182528" cy="3185067"/>
            <a:chOff x="5728104" y="810000"/>
            <a:chExt cx="3182528" cy="3185067"/>
          </a:xfrm>
        </p:grpSpPr>
        <p:pic>
          <p:nvPicPr>
            <p:cNvPr id="1559" name="Google Shape;1559;p102"/>
            <p:cNvPicPr preferRelativeResize="0"/>
            <p:nvPr/>
          </p:nvPicPr>
          <p:blipFill rotWithShape="1">
            <a:blip r:embed="rId3">
              <a:alphaModFix/>
            </a:blip>
            <a:srcRect b="61465" l="1516" r="75995" t="0"/>
            <a:stretch/>
          </p:blipFill>
          <p:spPr>
            <a:xfrm rot="-5400000">
              <a:off x="5785203" y="1785603"/>
              <a:ext cx="1075100" cy="1189299"/>
            </a:xfrm>
            <a:prstGeom prst="rect">
              <a:avLst/>
            </a:prstGeom>
            <a:noFill/>
            <a:ln>
              <a:noFill/>
            </a:ln>
          </p:spPr>
        </p:pic>
        <p:pic>
          <p:nvPicPr>
            <p:cNvPr id="1560" name="Google Shape;1560;p102"/>
            <p:cNvPicPr preferRelativeResize="0"/>
            <p:nvPr/>
          </p:nvPicPr>
          <p:blipFill rotWithShape="1">
            <a:blip r:embed="rId3">
              <a:alphaModFix/>
            </a:blip>
            <a:srcRect b="61465" l="1516" r="75995" t="0"/>
            <a:stretch/>
          </p:blipFill>
          <p:spPr>
            <a:xfrm rot="10800000">
              <a:off x="6765010" y="2805768"/>
              <a:ext cx="1075100" cy="1189299"/>
            </a:xfrm>
            <a:prstGeom prst="rect">
              <a:avLst/>
            </a:prstGeom>
            <a:noFill/>
            <a:ln>
              <a:noFill/>
            </a:ln>
          </p:spPr>
        </p:pic>
        <p:pic>
          <p:nvPicPr>
            <p:cNvPr id="1561" name="Google Shape;1561;p102"/>
            <p:cNvPicPr preferRelativeResize="0"/>
            <p:nvPr/>
          </p:nvPicPr>
          <p:blipFill rotWithShape="1">
            <a:blip r:embed="rId3">
              <a:alphaModFix/>
            </a:blip>
            <a:srcRect b="61465" l="1516" r="75995" t="0"/>
            <a:stretch/>
          </p:blipFill>
          <p:spPr>
            <a:xfrm rot="5400000">
              <a:off x="7778432" y="1827615"/>
              <a:ext cx="1075100" cy="1189299"/>
            </a:xfrm>
            <a:prstGeom prst="rect">
              <a:avLst/>
            </a:prstGeom>
            <a:noFill/>
            <a:ln>
              <a:noFill/>
            </a:ln>
          </p:spPr>
        </p:pic>
        <p:pic>
          <p:nvPicPr>
            <p:cNvPr id="1562" name="Google Shape;1562;p102"/>
            <p:cNvPicPr preferRelativeResize="0"/>
            <p:nvPr/>
          </p:nvPicPr>
          <p:blipFill rotWithShape="1">
            <a:blip r:embed="rId3">
              <a:alphaModFix/>
            </a:blip>
            <a:srcRect b="61465" l="1516" r="75995" t="0"/>
            <a:stretch/>
          </p:blipFill>
          <p:spPr>
            <a:xfrm>
              <a:off x="6802025" y="810000"/>
              <a:ext cx="1075100" cy="118929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pic>
        <p:nvPicPr>
          <p:cNvPr id="1567" name="Google Shape;1567;p103"/>
          <p:cNvPicPr preferRelativeResize="0"/>
          <p:nvPr/>
        </p:nvPicPr>
        <p:blipFill rotWithShape="1">
          <a:blip r:embed="rId3">
            <a:alphaModFix/>
          </a:blip>
          <a:srcRect b="784" l="1120" r="71080" t="52735"/>
          <a:stretch/>
        </p:blipFill>
        <p:spPr>
          <a:xfrm>
            <a:off x="4746075" y="3405172"/>
            <a:ext cx="1392899" cy="1415225"/>
          </a:xfrm>
          <a:prstGeom prst="rect">
            <a:avLst/>
          </a:prstGeom>
          <a:noFill/>
          <a:ln>
            <a:noFill/>
          </a:ln>
        </p:spPr>
      </p:pic>
      <p:sp>
        <p:nvSpPr>
          <p:cNvPr id="1568" name="Google Shape;1568;p10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Finding the area of composite shapes with sectors</a:t>
            </a:r>
            <a:endParaRPr/>
          </a:p>
        </p:txBody>
      </p:sp>
      <p:sp>
        <p:nvSpPr>
          <p:cNvPr id="1569" name="Google Shape;1569;p103"/>
          <p:cNvSpPr txBox="1"/>
          <p:nvPr>
            <p:ph idx="1" type="body"/>
          </p:nvPr>
        </p:nvSpPr>
        <p:spPr>
          <a:xfrm>
            <a:off x="324000" y="654604"/>
            <a:ext cx="34518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Which of these are component parts and rearrangements of this composite shape?</a:t>
            </a:r>
            <a:endParaRPr sz="1800"/>
          </a:p>
        </p:txBody>
      </p:sp>
      <p:sp>
        <p:nvSpPr>
          <p:cNvPr id="1570" name="Google Shape;1570;p103"/>
          <p:cNvSpPr txBox="1"/>
          <p:nvPr>
            <p:ph idx="1" type="body"/>
          </p:nvPr>
        </p:nvSpPr>
        <p:spPr>
          <a:xfrm flipH="1">
            <a:off x="1162937" y="1597850"/>
            <a:ext cx="1329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571" name="Google Shape;1571;p103"/>
          <p:cNvCxnSpPr/>
          <p:nvPr/>
        </p:nvCxnSpPr>
        <p:spPr>
          <a:xfrm>
            <a:off x="1163016" y="1862875"/>
            <a:ext cx="13293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572" name="Google Shape;1572;p103"/>
          <p:cNvCxnSpPr/>
          <p:nvPr/>
        </p:nvCxnSpPr>
        <p:spPr>
          <a:xfrm rot="-5400000">
            <a:off x="1960017" y="2362750"/>
            <a:ext cx="568800" cy="0"/>
          </a:xfrm>
          <a:prstGeom prst="straightConnector1">
            <a:avLst/>
          </a:prstGeom>
          <a:noFill/>
          <a:ln cap="flat" cmpd="sng" w="28575">
            <a:solidFill>
              <a:schemeClr val="accent5"/>
            </a:solidFill>
            <a:prstDash val="solid"/>
            <a:round/>
            <a:headEnd len="med" w="med" type="triangle"/>
            <a:tailEnd len="med" w="med" type="triangle"/>
          </a:ln>
        </p:spPr>
      </p:cxnSp>
      <p:sp>
        <p:nvSpPr>
          <p:cNvPr id="1573" name="Google Shape;1573;p103"/>
          <p:cNvSpPr txBox="1"/>
          <p:nvPr>
            <p:ph idx="1" type="body"/>
          </p:nvPr>
        </p:nvSpPr>
        <p:spPr>
          <a:xfrm flipH="1" rot="-5400000">
            <a:off x="1789992" y="2235800"/>
            <a:ext cx="5688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sp>
        <p:nvSpPr>
          <p:cNvPr id="1574" name="Google Shape;1574;p103"/>
          <p:cNvSpPr txBox="1"/>
          <p:nvPr>
            <p:ph idx="1" type="body"/>
          </p:nvPr>
        </p:nvSpPr>
        <p:spPr>
          <a:xfrm flipH="1">
            <a:off x="4638202" y="746247"/>
            <a:ext cx="9096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5.5 cm</a:t>
            </a:r>
            <a:endParaRPr sz="1800"/>
          </a:p>
        </p:txBody>
      </p:sp>
      <p:cxnSp>
        <p:nvCxnSpPr>
          <p:cNvPr id="1575" name="Google Shape;1575;p103"/>
          <p:cNvCxnSpPr/>
          <p:nvPr/>
        </p:nvCxnSpPr>
        <p:spPr>
          <a:xfrm>
            <a:off x="4746223" y="1032174"/>
            <a:ext cx="694200" cy="0"/>
          </a:xfrm>
          <a:prstGeom prst="straightConnector1">
            <a:avLst/>
          </a:prstGeom>
          <a:noFill/>
          <a:ln cap="flat" cmpd="sng" w="28575">
            <a:solidFill>
              <a:schemeClr val="accent5"/>
            </a:solidFill>
            <a:prstDash val="solid"/>
            <a:round/>
            <a:headEnd len="med" w="med" type="triangle"/>
            <a:tailEnd len="med" w="med" type="triangle"/>
          </a:ln>
        </p:spPr>
      </p:cxnSp>
      <p:sp>
        <p:nvSpPr>
          <p:cNvPr id="1576" name="Google Shape;1576;p103"/>
          <p:cNvSpPr txBox="1"/>
          <p:nvPr>
            <p:ph idx="1" type="body"/>
          </p:nvPr>
        </p:nvSpPr>
        <p:spPr>
          <a:xfrm flipH="1">
            <a:off x="4804130" y="3715850"/>
            <a:ext cx="12585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577" name="Google Shape;1577;p103"/>
          <p:cNvCxnSpPr/>
          <p:nvPr/>
        </p:nvCxnSpPr>
        <p:spPr>
          <a:xfrm>
            <a:off x="4804180" y="4023625"/>
            <a:ext cx="1258500" cy="0"/>
          </a:xfrm>
          <a:prstGeom prst="straightConnector1">
            <a:avLst/>
          </a:prstGeom>
          <a:noFill/>
          <a:ln cap="flat" cmpd="sng" w="28575">
            <a:solidFill>
              <a:schemeClr val="accent5"/>
            </a:solidFill>
            <a:prstDash val="solid"/>
            <a:round/>
            <a:headEnd len="med" w="med" type="triangle"/>
            <a:tailEnd len="med" w="med" type="triangle"/>
          </a:ln>
        </p:spPr>
      </p:cxnSp>
      <p:pic>
        <p:nvPicPr>
          <p:cNvPr id="1578" name="Google Shape;1578;p103"/>
          <p:cNvPicPr preferRelativeResize="0"/>
          <p:nvPr/>
        </p:nvPicPr>
        <p:blipFill rotWithShape="1">
          <a:blip r:embed="rId3">
            <a:alphaModFix/>
          </a:blip>
          <a:srcRect b="27613" l="43239" r="4136" t="25907"/>
          <a:stretch/>
        </p:blipFill>
        <p:spPr>
          <a:xfrm>
            <a:off x="503623" y="1956662"/>
            <a:ext cx="2636724" cy="1415225"/>
          </a:xfrm>
          <a:prstGeom prst="rect">
            <a:avLst/>
          </a:prstGeom>
          <a:noFill/>
          <a:ln>
            <a:noFill/>
          </a:ln>
        </p:spPr>
      </p:pic>
      <p:pic>
        <p:nvPicPr>
          <p:cNvPr id="1579" name="Google Shape;1579;p103"/>
          <p:cNvPicPr preferRelativeResize="0"/>
          <p:nvPr/>
        </p:nvPicPr>
        <p:blipFill rotWithShape="1">
          <a:blip r:embed="rId3">
            <a:alphaModFix/>
          </a:blip>
          <a:srcRect b="0" l="36720" r="35480" t="73817"/>
          <a:stretch/>
        </p:blipFill>
        <p:spPr>
          <a:xfrm>
            <a:off x="4746424" y="1124039"/>
            <a:ext cx="1392899" cy="797200"/>
          </a:xfrm>
          <a:prstGeom prst="rect">
            <a:avLst/>
          </a:prstGeom>
          <a:noFill/>
          <a:ln>
            <a:noFill/>
          </a:ln>
        </p:spPr>
      </p:pic>
      <p:sp>
        <p:nvSpPr>
          <p:cNvPr id="1580" name="Google Shape;1580;p103"/>
          <p:cNvSpPr txBox="1"/>
          <p:nvPr>
            <p:ph idx="1" type="body"/>
          </p:nvPr>
        </p:nvSpPr>
        <p:spPr>
          <a:xfrm flipH="1">
            <a:off x="6975655" y="767157"/>
            <a:ext cx="13929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cxnSp>
        <p:nvCxnSpPr>
          <p:cNvPr id="1581" name="Google Shape;1581;p103"/>
          <p:cNvCxnSpPr/>
          <p:nvPr/>
        </p:nvCxnSpPr>
        <p:spPr>
          <a:xfrm>
            <a:off x="6975947" y="1032182"/>
            <a:ext cx="1392900" cy="0"/>
          </a:xfrm>
          <a:prstGeom prst="straightConnector1">
            <a:avLst/>
          </a:prstGeom>
          <a:noFill/>
          <a:ln cap="flat" cmpd="sng" w="28575">
            <a:solidFill>
              <a:schemeClr val="accent5"/>
            </a:solidFill>
            <a:prstDash val="solid"/>
            <a:round/>
            <a:headEnd len="med" w="med" type="triangle"/>
            <a:tailEnd len="med" w="med" type="triangle"/>
          </a:ln>
        </p:spPr>
      </p:cxnSp>
      <p:pic>
        <p:nvPicPr>
          <p:cNvPr id="1582" name="Google Shape;1582;p103"/>
          <p:cNvPicPr preferRelativeResize="0"/>
          <p:nvPr/>
        </p:nvPicPr>
        <p:blipFill rotWithShape="1">
          <a:blip r:embed="rId3">
            <a:alphaModFix/>
          </a:blip>
          <a:srcRect b="0" l="36720" r="35480" t="73817"/>
          <a:stretch/>
        </p:blipFill>
        <p:spPr>
          <a:xfrm>
            <a:off x="6975999" y="1124039"/>
            <a:ext cx="1392899" cy="797200"/>
          </a:xfrm>
          <a:prstGeom prst="rect">
            <a:avLst/>
          </a:prstGeom>
          <a:noFill/>
          <a:ln>
            <a:noFill/>
          </a:ln>
        </p:spPr>
      </p:pic>
      <p:pic>
        <p:nvPicPr>
          <p:cNvPr id="1583" name="Google Shape;1583;p103"/>
          <p:cNvPicPr preferRelativeResize="0"/>
          <p:nvPr/>
        </p:nvPicPr>
        <p:blipFill rotWithShape="1">
          <a:blip r:embed="rId3">
            <a:alphaModFix/>
          </a:blip>
          <a:srcRect b="2787" l="69836" r="4668" t="73818"/>
          <a:stretch/>
        </p:blipFill>
        <p:spPr>
          <a:xfrm>
            <a:off x="4804175" y="2527725"/>
            <a:ext cx="1277401" cy="712274"/>
          </a:xfrm>
          <a:prstGeom prst="rect">
            <a:avLst/>
          </a:prstGeom>
          <a:noFill/>
          <a:ln>
            <a:noFill/>
          </a:ln>
        </p:spPr>
      </p:pic>
      <p:pic>
        <p:nvPicPr>
          <p:cNvPr id="1584" name="Google Shape;1584;p103"/>
          <p:cNvPicPr preferRelativeResize="0"/>
          <p:nvPr/>
        </p:nvPicPr>
        <p:blipFill rotWithShape="1">
          <a:blip r:embed="rId3">
            <a:alphaModFix/>
          </a:blip>
          <a:srcRect b="2787" l="69836" r="4668" t="73818"/>
          <a:stretch/>
        </p:blipFill>
        <p:spPr>
          <a:xfrm>
            <a:off x="7033750" y="2527725"/>
            <a:ext cx="1277401" cy="712274"/>
          </a:xfrm>
          <a:prstGeom prst="rect">
            <a:avLst/>
          </a:prstGeom>
          <a:noFill/>
          <a:ln>
            <a:noFill/>
          </a:ln>
        </p:spPr>
      </p:pic>
      <p:sp>
        <p:nvSpPr>
          <p:cNvPr id="1585" name="Google Shape;1585;p103"/>
          <p:cNvSpPr txBox="1"/>
          <p:nvPr>
            <p:ph idx="1" type="body"/>
          </p:nvPr>
        </p:nvSpPr>
        <p:spPr>
          <a:xfrm flipH="1">
            <a:off x="4804223" y="2211525"/>
            <a:ext cx="714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cxnSp>
        <p:nvCxnSpPr>
          <p:cNvPr id="1586" name="Google Shape;1586;p103"/>
          <p:cNvCxnSpPr/>
          <p:nvPr/>
        </p:nvCxnSpPr>
        <p:spPr>
          <a:xfrm>
            <a:off x="4861961" y="2476550"/>
            <a:ext cx="599100" cy="0"/>
          </a:xfrm>
          <a:prstGeom prst="straightConnector1">
            <a:avLst/>
          </a:prstGeom>
          <a:noFill/>
          <a:ln cap="flat" cmpd="sng" w="28575">
            <a:solidFill>
              <a:schemeClr val="accent5"/>
            </a:solidFill>
            <a:prstDash val="solid"/>
            <a:round/>
            <a:headEnd len="med" w="med" type="triangle"/>
            <a:tailEnd len="med" w="med" type="triangle"/>
          </a:ln>
        </p:spPr>
      </p:cxnSp>
      <p:sp>
        <p:nvSpPr>
          <p:cNvPr id="1587" name="Google Shape;1587;p103"/>
          <p:cNvSpPr txBox="1"/>
          <p:nvPr>
            <p:ph idx="1" type="body"/>
          </p:nvPr>
        </p:nvSpPr>
        <p:spPr>
          <a:xfrm flipH="1">
            <a:off x="7069841" y="2211525"/>
            <a:ext cx="1204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588" name="Google Shape;1588;p103"/>
          <p:cNvCxnSpPr/>
          <p:nvPr/>
        </p:nvCxnSpPr>
        <p:spPr>
          <a:xfrm>
            <a:off x="7070160" y="2476550"/>
            <a:ext cx="1204200" cy="0"/>
          </a:xfrm>
          <a:prstGeom prst="straightConnector1">
            <a:avLst/>
          </a:prstGeom>
          <a:noFill/>
          <a:ln cap="flat" cmpd="sng" w="28575">
            <a:solidFill>
              <a:schemeClr val="accent5"/>
            </a:solidFill>
            <a:prstDash val="solid"/>
            <a:round/>
            <a:headEnd len="med" w="med" type="triangle"/>
            <a:tailEnd len="med" w="med" type="triangle"/>
          </a:ln>
        </p:spPr>
      </p:cxnSp>
      <p:pic>
        <p:nvPicPr>
          <p:cNvPr id="1589" name="Google Shape;1589;p103"/>
          <p:cNvPicPr preferRelativeResize="0"/>
          <p:nvPr/>
        </p:nvPicPr>
        <p:blipFill rotWithShape="1">
          <a:blip r:embed="rId3">
            <a:alphaModFix/>
          </a:blip>
          <a:srcRect b="76956" l="55764" r="16434" t="362"/>
          <a:stretch/>
        </p:blipFill>
        <p:spPr>
          <a:xfrm>
            <a:off x="6976000" y="3907594"/>
            <a:ext cx="1392899" cy="690575"/>
          </a:xfrm>
          <a:prstGeom prst="rect">
            <a:avLst/>
          </a:prstGeom>
          <a:noFill/>
          <a:ln>
            <a:noFill/>
          </a:ln>
        </p:spPr>
      </p:pic>
      <p:sp>
        <p:nvSpPr>
          <p:cNvPr id="1590" name="Google Shape;1590;p103"/>
          <p:cNvSpPr txBox="1"/>
          <p:nvPr>
            <p:ph idx="1" type="body"/>
          </p:nvPr>
        </p:nvSpPr>
        <p:spPr>
          <a:xfrm flipH="1">
            <a:off x="7042680" y="3502517"/>
            <a:ext cx="12585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11 cm</a:t>
            </a:r>
            <a:endParaRPr sz="1800"/>
          </a:p>
        </p:txBody>
      </p:sp>
      <p:cxnSp>
        <p:nvCxnSpPr>
          <p:cNvPr id="1591" name="Google Shape;1591;p103"/>
          <p:cNvCxnSpPr/>
          <p:nvPr/>
        </p:nvCxnSpPr>
        <p:spPr>
          <a:xfrm>
            <a:off x="7042730" y="3810292"/>
            <a:ext cx="12585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592" name="Google Shape;1592;p103"/>
          <p:cNvCxnSpPr/>
          <p:nvPr/>
        </p:nvCxnSpPr>
        <p:spPr>
          <a:xfrm rot="-5400000">
            <a:off x="6593100" y="4252987"/>
            <a:ext cx="568800" cy="0"/>
          </a:xfrm>
          <a:prstGeom prst="straightConnector1">
            <a:avLst/>
          </a:prstGeom>
          <a:noFill/>
          <a:ln cap="flat" cmpd="sng" w="28575">
            <a:solidFill>
              <a:schemeClr val="accent5"/>
            </a:solidFill>
            <a:prstDash val="solid"/>
            <a:round/>
            <a:headEnd len="med" w="med" type="triangle"/>
            <a:tailEnd len="med" w="med" type="triangle"/>
          </a:ln>
        </p:spPr>
      </p:cxnSp>
      <p:sp>
        <p:nvSpPr>
          <p:cNvPr id="1593" name="Google Shape;1593;p103"/>
          <p:cNvSpPr txBox="1"/>
          <p:nvPr>
            <p:ph idx="1" type="body"/>
          </p:nvPr>
        </p:nvSpPr>
        <p:spPr>
          <a:xfrm flipH="1" rot="-5400000">
            <a:off x="6423075" y="4126037"/>
            <a:ext cx="5688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5 cm</a:t>
            </a:r>
            <a:endParaRPr sz="1800"/>
          </a:p>
        </p:txBody>
      </p:sp>
      <p:grpSp>
        <p:nvGrpSpPr>
          <p:cNvPr id="1594" name="Google Shape;1594;p103"/>
          <p:cNvGrpSpPr/>
          <p:nvPr/>
        </p:nvGrpSpPr>
        <p:grpSpPr>
          <a:xfrm>
            <a:off x="4357204" y="1182379"/>
            <a:ext cx="277200" cy="277200"/>
            <a:chOff x="1020916" y="1442088"/>
            <a:chExt cx="457200" cy="457200"/>
          </a:xfrm>
        </p:grpSpPr>
        <p:pic>
          <p:nvPicPr>
            <p:cNvPr id="1595" name="Google Shape;1595;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96" name="Google Shape;1596;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597" name="Google Shape;1597;p103"/>
          <p:cNvGrpSpPr/>
          <p:nvPr/>
        </p:nvGrpSpPr>
        <p:grpSpPr>
          <a:xfrm>
            <a:off x="8444754" y="1182379"/>
            <a:ext cx="277200" cy="277200"/>
            <a:chOff x="1020916" y="1442088"/>
            <a:chExt cx="457200" cy="457200"/>
          </a:xfrm>
        </p:grpSpPr>
        <p:pic>
          <p:nvPicPr>
            <p:cNvPr id="1598" name="Google Shape;1598;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599" name="Google Shape;1599;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00" name="Google Shape;1600;p103"/>
          <p:cNvGrpSpPr/>
          <p:nvPr/>
        </p:nvGrpSpPr>
        <p:grpSpPr>
          <a:xfrm>
            <a:off x="4357204" y="2603004"/>
            <a:ext cx="277200" cy="277200"/>
            <a:chOff x="1020916" y="1442088"/>
            <a:chExt cx="457200" cy="457200"/>
          </a:xfrm>
        </p:grpSpPr>
        <p:pic>
          <p:nvPicPr>
            <p:cNvPr id="1601" name="Google Shape;1601;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02" name="Google Shape;1602;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603" name="Google Shape;1603;p103"/>
          <p:cNvGrpSpPr/>
          <p:nvPr/>
        </p:nvGrpSpPr>
        <p:grpSpPr>
          <a:xfrm>
            <a:off x="8444754" y="2603004"/>
            <a:ext cx="277200" cy="277200"/>
            <a:chOff x="1020916" y="1442088"/>
            <a:chExt cx="457200" cy="457200"/>
          </a:xfrm>
        </p:grpSpPr>
        <p:pic>
          <p:nvPicPr>
            <p:cNvPr id="1604" name="Google Shape;1604;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05" name="Google Shape;1605;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606" name="Google Shape;1606;p103"/>
          <p:cNvGrpSpPr/>
          <p:nvPr/>
        </p:nvGrpSpPr>
        <p:grpSpPr>
          <a:xfrm>
            <a:off x="4357204" y="3780004"/>
            <a:ext cx="277200" cy="277200"/>
            <a:chOff x="1020916" y="1442088"/>
            <a:chExt cx="457200" cy="457200"/>
          </a:xfrm>
        </p:grpSpPr>
        <p:pic>
          <p:nvPicPr>
            <p:cNvPr id="1607" name="Google Shape;1607;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08" name="Google Shape;1608;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e</a:t>
              </a:r>
              <a:endParaRPr b="1" i="0" sz="1800" u="none" cap="none" strike="noStrike">
                <a:solidFill>
                  <a:srgbClr val="FFFFFF"/>
                </a:solidFill>
                <a:latin typeface="Lexend"/>
                <a:ea typeface="Lexend"/>
                <a:cs typeface="Lexend"/>
                <a:sym typeface="Lexend"/>
              </a:endParaRPr>
            </a:p>
          </p:txBody>
        </p:sp>
      </p:grpSp>
      <p:grpSp>
        <p:nvGrpSpPr>
          <p:cNvPr id="1609" name="Google Shape;1609;p103"/>
          <p:cNvGrpSpPr/>
          <p:nvPr/>
        </p:nvGrpSpPr>
        <p:grpSpPr>
          <a:xfrm>
            <a:off x="8444754" y="3780004"/>
            <a:ext cx="277200" cy="277200"/>
            <a:chOff x="1020916" y="1442088"/>
            <a:chExt cx="457200" cy="457200"/>
          </a:xfrm>
        </p:grpSpPr>
        <p:pic>
          <p:nvPicPr>
            <p:cNvPr id="1610" name="Google Shape;1610;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11" name="Google Shape;1611;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pic>
        <p:nvPicPr>
          <p:cNvPr id="1612" name="Google Shape;1612;p103"/>
          <p:cNvPicPr preferRelativeResize="0"/>
          <p:nvPr/>
        </p:nvPicPr>
        <p:blipFill rotWithShape="1">
          <a:blip r:embed="rId5">
            <a:alphaModFix/>
          </a:blip>
          <a:srcRect b="0" l="0" r="0" t="0"/>
          <a:stretch/>
        </p:blipFill>
        <p:spPr>
          <a:xfrm>
            <a:off x="4297808" y="1459575"/>
            <a:ext cx="396000" cy="419100"/>
          </a:xfrm>
          <a:prstGeom prst="rect">
            <a:avLst/>
          </a:prstGeom>
          <a:noFill/>
          <a:ln>
            <a:noFill/>
          </a:ln>
        </p:spPr>
      </p:pic>
      <p:pic>
        <p:nvPicPr>
          <p:cNvPr id="1613" name="Google Shape;1613;p103"/>
          <p:cNvPicPr preferRelativeResize="0"/>
          <p:nvPr/>
        </p:nvPicPr>
        <p:blipFill rotWithShape="1">
          <a:blip r:embed="rId5">
            <a:alphaModFix/>
          </a:blip>
          <a:srcRect b="0" l="0" r="0" t="0"/>
          <a:stretch/>
        </p:blipFill>
        <p:spPr>
          <a:xfrm>
            <a:off x="4297808" y="2880200"/>
            <a:ext cx="396000" cy="419100"/>
          </a:xfrm>
          <a:prstGeom prst="rect">
            <a:avLst/>
          </a:prstGeom>
          <a:noFill/>
          <a:ln>
            <a:noFill/>
          </a:ln>
        </p:spPr>
      </p:pic>
      <p:pic>
        <p:nvPicPr>
          <p:cNvPr id="1614" name="Google Shape;1614;p103"/>
          <p:cNvPicPr preferRelativeResize="0"/>
          <p:nvPr/>
        </p:nvPicPr>
        <p:blipFill rotWithShape="1">
          <a:blip r:embed="rId5">
            <a:alphaModFix/>
          </a:blip>
          <a:srcRect b="0" l="0" r="0" t="0"/>
          <a:stretch/>
        </p:blipFill>
        <p:spPr>
          <a:xfrm>
            <a:off x="8385358" y="4043425"/>
            <a:ext cx="396000" cy="419100"/>
          </a:xfrm>
          <a:prstGeom prst="rect">
            <a:avLst/>
          </a:prstGeom>
          <a:noFill/>
          <a:ln>
            <a:noFill/>
          </a:ln>
        </p:spPr>
      </p:pic>
      <p:grpSp>
        <p:nvGrpSpPr>
          <p:cNvPr id="1615" name="Google Shape;1615;p103"/>
          <p:cNvGrpSpPr/>
          <p:nvPr/>
        </p:nvGrpSpPr>
        <p:grpSpPr>
          <a:xfrm>
            <a:off x="1407604" y="2223954"/>
            <a:ext cx="277200" cy="277200"/>
            <a:chOff x="1020916" y="1442088"/>
            <a:chExt cx="457200" cy="457200"/>
          </a:xfrm>
        </p:grpSpPr>
        <p:pic>
          <p:nvPicPr>
            <p:cNvPr id="1616" name="Google Shape;1616;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17" name="Google Shape;1617;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1618" name="Google Shape;1618;p103"/>
          <p:cNvGrpSpPr/>
          <p:nvPr/>
        </p:nvGrpSpPr>
        <p:grpSpPr>
          <a:xfrm>
            <a:off x="2610004" y="2126754"/>
            <a:ext cx="277200" cy="277200"/>
            <a:chOff x="1020916" y="1442088"/>
            <a:chExt cx="457200" cy="457200"/>
          </a:xfrm>
        </p:grpSpPr>
        <p:pic>
          <p:nvPicPr>
            <p:cNvPr id="1619" name="Google Shape;1619;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20" name="Google Shape;1620;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621" name="Google Shape;1621;p103"/>
          <p:cNvGrpSpPr/>
          <p:nvPr/>
        </p:nvGrpSpPr>
        <p:grpSpPr>
          <a:xfrm>
            <a:off x="761879" y="2294554"/>
            <a:ext cx="277200" cy="277200"/>
            <a:chOff x="1020916" y="1442088"/>
            <a:chExt cx="457200" cy="457200"/>
          </a:xfrm>
        </p:grpSpPr>
        <p:pic>
          <p:nvPicPr>
            <p:cNvPr id="1622" name="Google Shape;1622;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23" name="Google Shape;1623;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624" name="Google Shape;1624;p103"/>
          <p:cNvGrpSpPr/>
          <p:nvPr/>
        </p:nvGrpSpPr>
        <p:grpSpPr>
          <a:xfrm>
            <a:off x="1689079" y="2852404"/>
            <a:ext cx="277200" cy="277200"/>
            <a:chOff x="1020916" y="1442088"/>
            <a:chExt cx="457200" cy="457200"/>
          </a:xfrm>
        </p:grpSpPr>
        <p:pic>
          <p:nvPicPr>
            <p:cNvPr id="1625" name="Google Shape;1625;p103"/>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26" name="Google Shape;1626;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sp>
        <p:nvSpPr>
          <p:cNvPr id="1627" name="Google Shape;1627;p103"/>
          <p:cNvSpPr txBox="1"/>
          <p:nvPr>
            <p:ph idx="1" type="body"/>
          </p:nvPr>
        </p:nvSpPr>
        <p:spPr>
          <a:xfrm>
            <a:off x="324000" y="3527129"/>
            <a:ext cx="3451800" cy="99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latin typeface="Kalam"/>
                <a:ea typeface="Kalam"/>
                <a:cs typeface="Kalam"/>
                <a:sym typeface="Kalam"/>
              </a:rPr>
              <a:t>c is made from the two quarter-circles being rearranged into a semicircle with radius of 5 cm.</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04"/>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sp>
        <p:nvSpPr>
          <p:cNvPr id="1633" name="Google Shape;1633;p104"/>
          <p:cNvSpPr txBox="1"/>
          <p:nvPr>
            <p:ph idx="4294967295" type="body"/>
          </p:nvPr>
        </p:nvSpPr>
        <p:spPr>
          <a:xfrm>
            <a:off x="324000" y="626234"/>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1) Match the composite shape to its component parts and calculations.</a:t>
            </a:r>
            <a:endParaRPr sz="1600"/>
          </a:p>
        </p:txBody>
      </p:sp>
      <p:pic>
        <p:nvPicPr>
          <p:cNvPr id="1634" name="Google Shape;1634;p104"/>
          <p:cNvPicPr preferRelativeResize="0"/>
          <p:nvPr/>
        </p:nvPicPr>
        <p:blipFill rotWithShape="1">
          <a:blip r:embed="rId3">
            <a:alphaModFix/>
          </a:blip>
          <a:srcRect b="54398" l="0" r="76095" t="0"/>
          <a:stretch/>
        </p:blipFill>
        <p:spPr>
          <a:xfrm>
            <a:off x="363390" y="977655"/>
            <a:ext cx="1206625" cy="1794549"/>
          </a:xfrm>
          <a:prstGeom prst="rect">
            <a:avLst/>
          </a:prstGeom>
          <a:noFill/>
          <a:ln>
            <a:noFill/>
          </a:ln>
        </p:spPr>
      </p:pic>
      <p:pic>
        <p:nvPicPr>
          <p:cNvPr id="1635" name="Google Shape;1635;p104"/>
          <p:cNvPicPr preferRelativeResize="0"/>
          <p:nvPr/>
        </p:nvPicPr>
        <p:blipFill rotWithShape="1">
          <a:blip r:embed="rId3">
            <a:alphaModFix/>
          </a:blip>
          <a:srcRect b="0" l="0" r="76693" t="81971"/>
          <a:stretch/>
        </p:blipFill>
        <p:spPr>
          <a:xfrm>
            <a:off x="3122574" y="977659"/>
            <a:ext cx="1176449" cy="709449"/>
          </a:xfrm>
          <a:prstGeom prst="rect">
            <a:avLst/>
          </a:prstGeom>
          <a:noFill/>
          <a:ln>
            <a:noFill/>
          </a:ln>
        </p:spPr>
      </p:pic>
      <p:pic>
        <p:nvPicPr>
          <p:cNvPr id="1636" name="Google Shape;1636;p104"/>
          <p:cNvPicPr preferRelativeResize="0"/>
          <p:nvPr/>
        </p:nvPicPr>
        <p:blipFill rotWithShape="1">
          <a:blip r:embed="rId3">
            <a:alphaModFix/>
          </a:blip>
          <a:srcRect b="54397" l="36332" r="39762" t="13424"/>
          <a:stretch/>
        </p:blipFill>
        <p:spPr>
          <a:xfrm>
            <a:off x="348471" y="3231101"/>
            <a:ext cx="1206625" cy="1266300"/>
          </a:xfrm>
          <a:prstGeom prst="rect">
            <a:avLst/>
          </a:prstGeom>
          <a:noFill/>
          <a:ln>
            <a:noFill/>
          </a:ln>
        </p:spPr>
      </p:pic>
      <p:sp>
        <p:nvSpPr>
          <p:cNvPr id="1637" name="Google Shape;1637;p104"/>
          <p:cNvSpPr txBox="1"/>
          <p:nvPr>
            <p:ph idx="4294967295" type="body"/>
          </p:nvPr>
        </p:nvSpPr>
        <p:spPr>
          <a:xfrm flipH="1">
            <a:off x="427994" y="2325806"/>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638" name="Google Shape;1638;p104"/>
          <p:cNvCxnSpPr/>
          <p:nvPr/>
        </p:nvCxnSpPr>
        <p:spPr>
          <a:xfrm>
            <a:off x="428131" y="2611731"/>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39" name="Google Shape;1639;p104"/>
          <p:cNvSpPr txBox="1"/>
          <p:nvPr>
            <p:ph idx="4294967295" type="body"/>
          </p:nvPr>
        </p:nvSpPr>
        <p:spPr>
          <a:xfrm flipH="1" rot="5400000">
            <a:off x="1365075" y="2287751"/>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640" name="Google Shape;1640;p104"/>
          <p:cNvCxnSpPr/>
          <p:nvPr/>
        </p:nvCxnSpPr>
        <p:spPr>
          <a:xfrm rot="5400000">
            <a:off x="1273250" y="2414735"/>
            <a:ext cx="621300" cy="0"/>
          </a:xfrm>
          <a:prstGeom prst="straightConnector1">
            <a:avLst/>
          </a:prstGeom>
          <a:noFill/>
          <a:ln cap="flat" cmpd="sng" w="28575">
            <a:solidFill>
              <a:schemeClr val="accent5"/>
            </a:solidFill>
            <a:prstDash val="solid"/>
            <a:round/>
            <a:headEnd len="med" w="med" type="triangle"/>
            <a:tailEnd len="med" w="med" type="triangle"/>
          </a:ln>
        </p:spPr>
      </p:cxnSp>
      <p:sp>
        <p:nvSpPr>
          <p:cNvPr id="1641" name="Google Shape;1641;p104"/>
          <p:cNvSpPr txBox="1"/>
          <p:nvPr>
            <p:ph idx="4294967295" type="body"/>
          </p:nvPr>
        </p:nvSpPr>
        <p:spPr>
          <a:xfrm flipH="1">
            <a:off x="430980" y="4023531"/>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642" name="Google Shape;1642;p104"/>
          <p:cNvCxnSpPr/>
          <p:nvPr/>
        </p:nvCxnSpPr>
        <p:spPr>
          <a:xfrm>
            <a:off x="431117" y="4309456"/>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43" name="Google Shape;1643;p104"/>
          <p:cNvSpPr txBox="1"/>
          <p:nvPr>
            <p:ph idx="4294967295" type="body"/>
          </p:nvPr>
        </p:nvSpPr>
        <p:spPr>
          <a:xfrm flipH="1" rot="5400000">
            <a:off x="1365075" y="3938826"/>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644" name="Google Shape;1644;p104"/>
          <p:cNvCxnSpPr/>
          <p:nvPr/>
        </p:nvCxnSpPr>
        <p:spPr>
          <a:xfrm rot="5400000">
            <a:off x="1273250" y="4065810"/>
            <a:ext cx="621300" cy="0"/>
          </a:xfrm>
          <a:prstGeom prst="straightConnector1">
            <a:avLst/>
          </a:prstGeom>
          <a:noFill/>
          <a:ln cap="flat" cmpd="sng" w="28575">
            <a:solidFill>
              <a:schemeClr val="accent5"/>
            </a:solidFill>
            <a:prstDash val="solid"/>
            <a:round/>
            <a:headEnd len="med" w="med" type="triangle"/>
            <a:tailEnd len="med" w="med" type="triangle"/>
          </a:ln>
        </p:spPr>
      </p:cxnSp>
      <p:sp>
        <p:nvSpPr>
          <p:cNvPr id="1645" name="Google Shape;1645;p104"/>
          <p:cNvSpPr txBox="1"/>
          <p:nvPr>
            <p:ph idx="4294967295" type="body"/>
          </p:nvPr>
        </p:nvSpPr>
        <p:spPr>
          <a:xfrm>
            <a:off x="511313" y="2782825"/>
            <a:ext cx="910800" cy="2772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SzPts val="2200"/>
              <a:buNone/>
            </a:pPr>
            <a:r>
              <a:rPr lang="en-GB" sz="1800"/>
              <a:t>shape 1</a:t>
            </a:r>
            <a:endParaRPr sz="1800"/>
          </a:p>
        </p:txBody>
      </p:sp>
      <p:sp>
        <p:nvSpPr>
          <p:cNvPr id="1646" name="Google Shape;1646;p104"/>
          <p:cNvSpPr txBox="1"/>
          <p:nvPr>
            <p:ph idx="4294967295" type="body"/>
          </p:nvPr>
        </p:nvSpPr>
        <p:spPr>
          <a:xfrm>
            <a:off x="511313" y="4497400"/>
            <a:ext cx="910800" cy="2772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SzPts val="2200"/>
              <a:buNone/>
            </a:pPr>
            <a:r>
              <a:rPr lang="en-GB" sz="1800"/>
              <a:t>shape 2</a:t>
            </a:r>
            <a:endParaRPr sz="1800"/>
          </a:p>
        </p:txBody>
      </p:sp>
      <p:pic>
        <p:nvPicPr>
          <p:cNvPr id="1647" name="Google Shape;1647;p104"/>
          <p:cNvPicPr preferRelativeResize="0"/>
          <p:nvPr/>
        </p:nvPicPr>
        <p:blipFill rotWithShape="1">
          <a:blip r:embed="rId3">
            <a:alphaModFix/>
          </a:blip>
          <a:srcRect b="14521" l="36530" r="40162" t="67450"/>
          <a:stretch/>
        </p:blipFill>
        <p:spPr>
          <a:xfrm>
            <a:off x="3122574" y="2150360"/>
            <a:ext cx="1176449" cy="709449"/>
          </a:xfrm>
          <a:prstGeom prst="rect">
            <a:avLst/>
          </a:prstGeom>
          <a:noFill/>
          <a:ln>
            <a:noFill/>
          </a:ln>
        </p:spPr>
      </p:pic>
      <p:pic>
        <p:nvPicPr>
          <p:cNvPr id="1648" name="Google Shape;1648;p104"/>
          <p:cNvPicPr preferRelativeResize="0"/>
          <p:nvPr/>
        </p:nvPicPr>
        <p:blipFill rotWithShape="1">
          <a:blip r:embed="rId3">
            <a:alphaModFix/>
          </a:blip>
          <a:srcRect b="15410" l="76369" r="322" t="54209"/>
          <a:stretch/>
        </p:blipFill>
        <p:spPr>
          <a:xfrm>
            <a:off x="3122566" y="3323061"/>
            <a:ext cx="1176449" cy="1195500"/>
          </a:xfrm>
          <a:prstGeom prst="rect">
            <a:avLst/>
          </a:prstGeom>
          <a:noFill/>
          <a:ln>
            <a:noFill/>
          </a:ln>
        </p:spPr>
      </p:pic>
      <p:sp>
        <p:nvSpPr>
          <p:cNvPr id="1649" name="Google Shape;1649;p104"/>
          <p:cNvSpPr txBox="1"/>
          <p:nvPr>
            <p:ph idx="4294967295" type="body"/>
          </p:nvPr>
        </p:nvSpPr>
        <p:spPr>
          <a:xfrm>
            <a:off x="3194877" y="4584614"/>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650" name="Google Shape;1650;p104"/>
          <p:cNvCxnSpPr/>
          <p:nvPr/>
        </p:nvCxnSpPr>
        <p:spPr>
          <a:xfrm>
            <a:off x="3195014" y="4552189"/>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51" name="Google Shape;1651;p104"/>
          <p:cNvSpPr txBox="1"/>
          <p:nvPr>
            <p:ph idx="4294967295" type="body"/>
          </p:nvPr>
        </p:nvSpPr>
        <p:spPr>
          <a:xfrm>
            <a:off x="3194872" y="2892225"/>
            <a:ext cx="5367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652" name="Google Shape;1652;p104"/>
          <p:cNvCxnSpPr/>
          <p:nvPr/>
        </p:nvCxnSpPr>
        <p:spPr>
          <a:xfrm>
            <a:off x="3194942" y="2859800"/>
            <a:ext cx="536700" cy="0"/>
          </a:xfrm>
          <a:prstGeom prst="straightConnector1">
            <a:avLst/>
          </a:prstGeom>
          <a:noFill/>
          <a:ln cap="flat" cmpd="sng" w="28575">
            <a:solidFill>
              <a:schemeClr val="accent5"/>
            </a:solidFill>
            <a:prstDash val="solid"/>
            <a:round/>
            <a:headEnd len="med" w="med" type="triangle"/>
            <a:tailEnd len="med" w="med" type="triangle"/>
          </a:ln>
        </p:spPr>
      </p:cxnSp>
      <p:sp>
        <p:nvSpPr>
          <p:cNvPr id="1653" name="Google Shape;1653;p104"/>
          <p:cNvSpPr txBox="1"/>
          <p:nvPr>
            <p:ph idx="4294967295" type="body"/>
          </p:nvPr>
        </p:nvSpPr>
        <p:spPr>
          <a:xfrm>
            <a:off x="3194877" y="1768903"/>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654" name="Google Shape;1654;p104"/>
          <p:cNvCxnSpPr/>
          <p:nvPr/>
        </p:nvCxnSpPr>
        <p:spPr>
          <a:xfrm>
            <a:off x="3195014" y="1736478"/>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55" name="Google Shape;1655;p104"/>
          <p:cNvSpPr txBox="1"/>
          <p:nvPr>
            <p:ph idx="4294967295" type="body"/>
          </p:nvPr>
        </p:nvSpPr>
        <p:spPr>
          <a:xfrm flipH="1" rot="5400000">
            <a:off x="4156400" y="1211234"/>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656" name="Google Shape;1656;p104"/>
          <p:cNvCxnSpPr/>
          <p:nvPr/>
        </p:nvCxnSpPr>
        <p:spPr>
          <a:xfrm rot="5400000">
            <a:off x="4064575" y="1338219"/>
            <a:ext cx="621300" cy="0"/>
          </a:xfrm>
          <a:prstGeom prst="straightConnector1">
            <a:avLst/>
          </a:prstGeom>
          <a:noFill/>
          <a:ln cap="flat" cmpd="sng" w="28575">
            <a:solidFill>
              <a:schemeClr val="accent5"/>
            </a:solidFill>
            <a:prstDash val="solid"/>
            <a:round/>
            <a:headEnd len="med" w="med" type="triangle"/>
            <a:tailEnd len="med" w="med" type="triangle"/>
          </a:ln>
        </p:spPr>
      </p:cxnSp>
      <p:pic>
        <p:nvPicPr>
          <p:cNvPr id="1657" name="Google Shape;1657;p104"/>
          <p:cNvPicPr preferRelativeResize="0"/>
          <p:nvPr/>
        </p:nvPicPr>
        <p:blipFill rotWithShape="1">
          <a:blip r:embed="rId3">
            <a:alphaModFix/>
          </a:blip>
          <a:srcRect b="0" l="0" r="76693" t="81971"/>
          <a:stretch/>
        </p:blipFill>
        <p:spPr>
          <a:xfrm>
            <a:off x="5056174" y="977659"/>
            <a:ext cx="1176449" cy="709449"/>
          </a:xfrm>
          <a:prstGeom prst="rect">
            <a:avLst/>
          </a:prstGeom>
          <a:noFill/>
          <a:ln>
            <a:noFill/>
          </a:ln>
        </p:spPr>
      </p:pic>
      <p:pic>
        <p:nvPicPr>
          <p:cNvPr id="1658" name="Google Shape;1658;p104"/>
          <p:cNvPicPr preferRelativeResize="0"/>
          <p:nvPr/>
        </p:nvPicPr>
        <p:blipFill rotWithShape="1">
          <a:blip r:embed="rId3">
            <a:alphaModFix/>
          </a:blip>
          <a:srcRect b="14521" l="36530" r="40162" t="67450"/>
          <a:stretch/>
        </p:blipFill>
        <p:spPr>
          <a:xfrm>
            <a:off x="5056174" y="2150360"/>
            <a:ext cx="1176449" cy="709449"/>
          </a:xfrm>
          <a:prstGeom prst="rect">
            <a:avLst/>
          </a:prstGeom>
          <a:noFill/>
          <a:ln>
            <a:noFill/>
          </a:ln>
        </p:spPr>
      </p:pic>
      <p:pic>
        <p:nvPicPr>
          <p:cNvPr id="1659" name="Google Shape;1659;p104"/>
          <p:cNvPicPr preferRelativeResize="0"/>
          <p:nvPr/>
        </p:nvPicPr>
        <p:blipFill rotWithShape="1">
          <a:blip r:embed="rId3">
            <a:alphaModFix/>
          </a:blip>
          <a:srcRect b="15410" l="76369" r="322" t="54209"/>
          <a:stretch/>
        </p:blipFill>
        <p:spPr>
          <a:xfrm>
            <a:off x="5056166" y="3323061"/>
            <a:ext cx="1176449" cy="1195500"/>
          </a:xfrm>
          <a:prstGeom prst="rect">
            <a:avLst/>
          </a:prstGeom>
          <a:noFill/>
          <a:ln>
            <a:noFill/>
          </a:ln>
        </p:spPr>
      </p:pic>
      <p:sp>
        <p:nvSpPr>
          <p:cNvPr id="1660" name="Google Shape;1660;p104"/>
          <p:cNvSpPr txBox="1"/>
          <p:nvPr>
            <p:ph idx="4294967295" type="body"/>
          </p:nvPr>
        </p:nvSpPr>
        <p:spPr>
          <a:xfrm>
            <a:off x="5128477" y="4584614"/>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661" name="Google Shape;1661;p104"/>
          <p:cNvCxnSpPr/>
          <p:nvPr/>
        </p:nvCxnSpPr>
        <p:spPr>
          <a:xfrm>
            <a:off x="5128614" y="4552189"/>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62" name="Google Shape;1662;p104"/>
          <p:cNvSpPr txBox="1"/>
          <p:nvPr>
            <p:ph idx="4294967295" type="body"/>
          </p:nvPr>
        </p:nvSpPr>
        <p:spPr>
          <a:xfrm>
            <a:off x="5041215" y="2892225"/>
            <a:ext cx="711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663" name="Google Shape;1663;p104"/>
          <p:cNvCxnSpPr/>
          <p:nvPr/>
        </p:nvCxnSpPr>
        <p:spPr>
          <a:xfrm>
            <a:off x="5128542" y="2859800"/>
            <a:ext cx="536700" cy="0"/>
          </a:xfrm>
          <a:prstGeom prst="straightConnector1">
            <a:avLst/>
          </a:prstGeom>
          <a:noFill/>
          <a:ln cap="flat" cmpd="sng" w="28575">
            <a:solidFill>
              <a:schemeClr val="accent5"/>
            </a:solidFill>
            <a:prstDash val="solid"/>
            <a:round/>
            <a:headEnd len="med" w="med" type="triangle"/>
            <a:tailEnd len="med" w="med" type="triangle"/>
          </a:ln>
        </p:spPr>
      </p:cxnSp>
      <p:sp>
        <p:nvSpPr>
          <p:cNvPr id="1664" name="Google Shape;1664;p104"/>
          <p:cNvSpPr txBox="1"/>
          <p:nvPr>
            <p:ph idx="4294967295" type="body"/>
          </p:nvPr>
        </p:nvSpPr>
        <p:spPr>
          <a:xfrm>
            <a:off x="5128477" y="1768903"/>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665" name="Google Shape;1665;p104"/>
          <p:cNvCxnSpPr/>
          <p:nvPr/>
        </p:nvCxnSpPr>
        <p:spPr>
          <a:xfrm>
            <a:off x="5128614" y="1736478"/>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666" name="Google Shape;1666;p104"/>
          <p:cNvSpPr txBox="1"/>
          <p:nvPr>
            <p:ph idx="4294967295" type="body"/>
          </p:nvPr>
        </p:nvSpPr>
        <p:spPr>
          <a:xfrm flipH="1" rot="5400000">
            <a:off x="6090000" y="1211234"/>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667" name="Google Shape;1667;p104"/>
          <p:cNvCxnSpPr/>
          <p:nvPr/>
        </p:nvCxnSpPr>
        <p:spPr>
          <a:xfrm rot="5400000">
            <a:off x="5998175" y="1338219"/>
            <a:ext cx="621300" cy="0"/>
          </a:xfrm>
          <a:prstGeom prst="straightConnector1">
            <a:avLst/>
          </a:prstGeom>
          <a:noFill/>
          <a:ln cap="flat" cmpd="sng" w="28575">
            <a:solidFill>
              <a:schemeClr val="accent5"/>
            </a:solidFill>
            <a:prstDash val="solid"/>
            <a:round/>
            <a:headEnd len="med" w="med" type="triangle"/>
            <a:tailEnd len="med" w="med" type="triangle"/>
          </a:ln>
        </p:spPr>
      </p:cxnSp>
      <p:grpSp>
        <p:nvGrpSpPr>
          <p:cNvPr id="1668" name="Google Shape;1668;p104"/>
          <p:cNvGrpSpPr/>
          <p:nvPr/>
        </p:nvGrpSpPr>
        <p:grpSpPr>
          <a:xfrm>
            <a:off x="2845368" y="1027579"/>
            <a:ext cx="277200" cy="277200"/>
            <a:chOff x="1020916" y="1442088"/>
            <a:chExt cx="457200" cy="457200"/>
          </a:xfrm>
        </p:grpSpPr>
        <p:pic>
          <p:nvPicPr>
            <p:cNvPr id="1669" name="Google Shape;1669;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0" name="Google Shape;1670;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671" name="Google Shape;1671;p104"/>
          <p:cNvGrpSpPr/>
          <p:nvPr/>
        </p:nvGrpSpPr>
        <p:grpSpPr>
          <a:xfrm>
            <a:off x="2845368" y="2495004"/>
            <a:ext cx="277200" cy="277200"/>
            <a:chOff x="1020916" y="1442088"/>
            <a:chExt cx="457200" cy="457200"/>
          </a:xfrm>
        </p:grpSpPr>
        <p:pic>
          <p:nvPicPr>
            <p:cNvPr id="1672" name="Google Shape;1672;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3" name="Google Shape;167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674" name="Google Shape;1674;p104"/>
          <p:cNvGrpSpPr/>
          <p:nvPr/>
        </p:nvGrpSpPr>
        <p:grpSpPr>
          <a:xfrm>
            <a:off x="2845368" y="4197604"/>
            <a:ext cx="277200" cy="277200"/>
            <a:chOff x="1020916" y="1442088"/>
            <a:chExt cx="457200" cy="457200"/>
          </a:xfrm>
        </p:grpSpPr>
        <p:pic>
          <p:nvPicPr>
            <p:cNvPr id="1675" name="Google Shape;1675;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6" name="Google Shape;1676;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677" name="Google Shape;1677;p104"/>
          <p:cNvGrpSpPr/>
          <p:nvPr/>
        </p:nvGrpSpPr>
        <p:grpSpPr>
          <a:xfrm>
            <a:off x="4776823" y="1027579"/>
            <a:ext cx="277200" cy="277200"/>
            <a:chOff x="1020916" y="1442088"/>
            <a:chExt cx="457200" cy="457200"/>
          </a:xfrm>
        </p:grpSpPr>
        <p:pic>
          <p:nvPicPr>
            <p:cNvPr id="1678" name="Google Shape;1678;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79" name="Google Shape;1679;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680" name="Google Shape;1680;p104"/>
          <p:cNvGrpSpPr/>
          <p:nvPr/>
        </p:nvGrpSpPr>
        <p:grpSpPr>
          <a:xfrm>
            <a:off x="4776823" y="2495004"/>
            <a:ext cx="277200" cy="277200"/>
            <a:chOff x="1020916" y="1442088"/>
            <a:chExt cx="457200" cy="457200"/>
          </a:xfrm>
        </p:grpSpPr>
        <p:pic>
          <p:nvPicPr>
            <p:cNvPr id="1681" name="Google Shape;1681;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82" name="Google Shape;1682;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e</a:t>
              </a:r>
              <a:endParaRPr b="1" i="0" sz="1800" u="none" cap="none" strike="noStrike">
                <a:solidFill>
                  <a:srgbClr val="FFFFFF"/>
                </a:solidFill>
                <a:latin typeface="Lexend"/>
                <a:ea typeface="Lexend"/>
                <a:cs typeface="Lexend"/>
                <a:sym typeface="Lexend"/>
              </a:endParaRPr>
            </a:p>
          </p:txBody>
        </p:sp>
      </p:grpSp>
      <p:grpSp>
        <p:nvGrpSpPr>
          <p:cNvPr id="1683" name="Google Shape;1683;p104"/>
          <p:cNvGrpSpPr/>
          <p:nvPr/>
        </p:nvGrpSpPr>
        <p:grpSpPr>
          <a:xfrm>
            <a:off x="4776823" y="4197604"/>
            <a:ext cx="277200" cy="277200"/>
            <a:chOff x="1020916" y="1442088"/>
            <a:chExt cx="457200" cy="457200"/>
          </a:xfrm>
        </p:grpSpPr>
        <p:pic>
          <p:nvPicPr>
            <p:cNvPr id="1684" name="Google Shape;1684;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85" name="Google Shape;1685;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1686" name="Google Shape;1686;p104"/>
          <p:cNvGrpSpPr/>
          <p:nvPr/>
        </p:nvGrpSpPr>
        <p:grpSpPr>
          <a:xfrm>
            <a:off x="6734268" y="1261904"/>
            <a:ext cx="277200" cy="277200"/>
            <a:chOff x="1020916" y="1442088"/>
            <a:chExt cx="457200" cy="457200"/>
          </a:xfrm>
        </p:grpSpPr>
        <p:pic>
          <p:nvPicPr>
            <p:cNvPr id="1687" name="Google Shape;1687;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88" name="Google Shape;1688;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frac{1}{4}\times\pi\times6^2+12&quot;&gt;&lt;mfrac&gt;&lt;mn&gt;1&lt;/mn&gt;&lt;mn&gt;4&lt;/mn&gt;&lt;/mfrac&gt;&lt;mo&gt;×&lt;/mo&gt;&lt;mi&gt;π&lt;/mi&gt;&lt;mo&gt;×&lt;/mo&gt;&lt;msup&gt;&lt;mn&gt;6&lt;/mn&gt;&lt;mn&gt;2&lt;/mn&gt;&lt;/msup&gt;&lt;mo&gt;+&lt;/mo&gt;&lt;mn&gt;12&lt;/mn&gt;&lt;/math&gt;" id="1689" name="Google Shape;1689;p104" title="one fourth times pi times 6 squared plus 12"/>
          <p:cNvPicPr preferRelativeResize="0"/>
          <p:nvPr/>
        </p:nvPicPr>
        <p:blipFill rotWithShape="1">
          <a:blip r:embed="rId5">
            <a:alphaModFix/>
          </a:blip>
          <a:srcRect b="0" l="0" r="0" t="0"/>
          <a:stretch/>
        </p:blipFill>
        <p:spPr>
          <a:xfrm>
            <a:off x="7011463" y="2692238"/>
            <a:ext cx="1808532" cy="568800"/>
          </a:xfrm>
          <a:prstGeom prst="rect">
            <a:avLst/>
          </a:prstGeom>
          <a:noFill/>
          <a:ln>
            <a:noFill/>
          </a:ln>
        </p:spPr>
      </p:pic>
      <p:pic>
        <p:nvPicPr>
          <p:cNvPr descr="&lt;math xmlns=&quot;http://www.w3.org/1998/Math/MathML&quot; display=&quot;block&quot; data-is-equatio=&quot;1&quot; data-latex=&quot;\frac{1}{2}\times\pi\times8^2+24&quot;&gt;&lt;mfrac&gt;&lt;mn&gt;1&lt;/mn&gt;&lt;mn&gt;2&lt;/mn&gt;&lt;/mfrac&gt;&lt;mo&gt;×&lt;/mo&gt;&lt;mi&gt;π&lt;/mi&gt;&lt;mo&gt;×&lt;/mo&gt;&lt;msup&gt;&lt;mn&gt;8&lt;/mn&gt;&lt;mn&gt;2&lt;/mn&gt;&lt;/msup&gt;&lt;mo&gt;+&lt;/mo&gt;&lt;mn&gt;24&lt;/mn&gt;&lt;/math&gt;" id="1690" name="Google Shape;1690;p104" title="one half times pi times 8 squared plus 24"/>
          <p:cNvPicPr preferRelativeResize="0"/>
          <p:nvPr/>
        </p:nvPicPr>
        <p:blipFill rotWithShape="1">
          <a:blip r:embed="rId6">
            <a:alphaModFix/>
          </a:blip>
          <a:srcRect b="0" l="0" r="0" t="0"/>
          <a:stretch/>
        </p:blipFill>
        <p:spPr>
          <a:xfrm>
            <a:off x="7011463" y="1904175"/>
            <a:ext cx="1808532" cy="568800"/>
          </a:xfrm>
          <a:prstGeom prst="rect">
            <a:avLst/>
          </a:prstGeom>
          <a:noFill/>
          <a:ln>
            <a:noFill/>
          </a:ln>
        </p:spPr>
      </p:pic>
      <p:pic>
        <p:nvPicPr>
          <p:cNvPr descr="&lt;math xmlns=&quot;http://www.w3.org/1998/Math/MathML&quot; display=&quot;block&quot; data-is-equatio=&quot;1&quot; data-latex=&quot;\frac{1}{2}\times\pi\times4^2+24&quot;&gt;&lt;mfrac&gt;&lt;mn&gt;1&lt;/mn&gt;&lt;mn&gt;2&lt;/mn&gt;&lt;/mfrac&gt;&lt;mo&gt;×&lt;/mo&gt;&lt;mi&gt;π&lt;/mi&gt;&lt;mo&gt;×&lt;/mo&gt;&lt;msup&gt;&lt;mn&gt;4&lt;/mn&gt;&lt;mn&gt;2&lt;/mn&gt;&lt;/msup&gt;&lt;mo&gt;+&lt;/mo&gt;&lt;mn&gt;24&lt;/mn&gt;&lt;/math&gt;" id="1691" name="Google Shape;1691;p104" title="one half times pi times 4 squared plus 24"/>
          <p:cNvPicPr preferRelativeResize="0"/>
          <p:nvPr/>
        </p:nvPicPr>
        <p:blipFill rotWithShape="1">
          <a:blip r:embed="rId7">
            <a:alphaModFix/>
          </a:blip>
          <a:srcRect b="0" l="0" r="0" t="0"/>
          <a:stretch/>
        </p:blipFill>
        <p:spPr>
          <a:xfrm>
            <a:off x="7011475" y="1116088"/>
            <a:ext cx="1808532" cy="568800"/>
          </a:xfrm>
          <a:prstGeom prst="rect">
            <a:avLst/>
          </a:prstGeom>
          <a:noFill/>
          <a:ln>
            <a:noFill/>
          </a:ln>
        </p:spPr>
      </p:pic>
      <p:pic>
        <p:nvPicPr>
          <p:cNvPr descr="&lt;math xmlns=&quot;http://www.w3.org/1998/Math/MathML&quot; display=&quot;block&quot; data-is-equatio=&quot;1&quot; data-latex=&quot;\frac{1}{2}\times\pi\times3^2+12&quot;&gt;&lt;mfrac&gt;&lt;mn&gt;1&lt;/mn&gt;&lt;mn&gt;2&lt;/mn&gt;&lt;/mfrac&gt;&lt;mo&gt;×&lt;/mo&gt;&lt;mi&gt;π&lt;/mi&gt;&lt;mo&gt;×&lt;/mo&gt;&lt;msup&gt;&lt;mn&gt;3&lt;/mn&gt;&lt;mn&gt;2&lt;/mn&gt;&lt;/msup&gt;&lt;mo&gt;+&lt;/mo&gt;&lt;mn&gt;12&lt;/mn&gt;&lt;/math&gt;" id="1692" name="Google Shape;1692;p104" title="one half times pi times 3 squared plus 12"/>
          <p:cNvPicPr preferRelativeResize="0"/>
          <p:nvPr/>
        </p:nvPicPr>
        <p:blipFill rotWithShape="1">
          <a:blip r:embed="rId8">
            <a:alphaModFix/>
          </a:blip>
          <a:srcRect b="0" l="0" r="0" t="0"/>
          <a:stretch/>
        </p:blipFill>
        <p:spPr>
          <a:xfrm>
            <a:off x="7011338" y="3480313"/>
            <a:ext cx="1808784" cy="568800"/>
          </a:xfrm>
          <a:prstGeom prst="rect">
            <a:avLst/>
          </a:prstGeom>
          <a:noFill/>
          <a:ln>
            <a:noFill/>
          </a:ln>
        </p:spPr>
      </p:pic>
      <p:grpSp>
        <p:nvGrpSpPr>
          <p:cNvPr id="1693" name="Google Shape;1693;p104"/>
          <p:cNvGrpSpPr/>
          <p:nvPr/>
        </p:nvGrpSpPr>
        <p:grpSpPr>
          <a:xfrm>
            <a:off x="6734268" y="2049979"/>
            <a:ext cx="277200" cy="277200"/>
            <a:chOff x="1020916" y="1442088"/>
            <a:chExt cx="457200" cy="457200"/>
          </a:xfrm>
        </p:grpSpPr>
        <p:pic>
          <p:nvPicPr>
            <p:cNvPr id="1694" name="Google Shape;1694;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95" name="Google Shape;1695;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grpSp>
        <p:nvGrpSpPr>
          <p:cNvPr id="1696" name="Google Shape;1696;p104"/>
          <p:cNvGrpSpPr/>
          <p:nvPr/>
        </p:nvGrpSpPr>
        <p:grpSpPr>
          <a:xfrm>
            <a:off x="6734268" y="2838054"/>
            <a:ext cx="277200" cy="277200"/>
            <a:chOff x="1020916" y="1442088"/>
            <a:chExt cx="457200" cy="457200"/>
          </a:xfrm>
        </p:grpSpPr>
        <p:pic>
          <p:nvPicPr>
            <p:cNvPr id="1697" name="Google Shape;1697;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698" name="Google Shape;1698;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i</a:t>
              </a:r>
              <a:endParaRPr b="1" i="0" sz="1800" u="none" cap="none" strike="noStrike">
                <a:solidFill>
                  <a:srgbClr val="FFFFFF"/>
                </a:solidFill>
                <a:latin typeface="Lexend"/>
                <a:ea typeface="Lexend"/>
                <a:cs typeface="Lexend"/>
                <a:sym typeface="Lexend"/>
              </a:endParaRPr>
            </a:p>
          </p:txBody>
        </p:sp>
      </p:grpSp>
      <p:grpSp>
        <p:nvGrpSpPr>
          <p:cNvPr id="1699" name="Google Shape;1699;p104"/>
          <p:cNvGrpSpPr/>
          <p:nvPr/>
        </p:nvGrpSpPr>
        <p:grpSpPr>
          <a:xfrm>
            <a:off x="6734268" y="3626129"/>
            <a:ext cx="277200" cy="277200"/>
            <a:chOff x="1020916" y="1442088"/>
            <a:chExt cx="457200" cy="457200"/>
          </a:xfrm>
        </p:grpSpPr>
        <p:pic>
          <p:nvPicPr>
            <p:cNvPr id="1700" name="Google Shape;1700;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01" name="Google Shape;1701;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j</a:t>
              </a:r>
              <a:endParaRPr b="1" i="0" sz="1800" u="none" cap="none" strike="noStrike">
                <a:solidFill>
                  <a:srgbClr val="FFFFFF"/>
                </a:solidFill>
                <a:latin typeface="Lexend"/>
                <a:ea typeface="Lexend"/>
                <a:cs typeface="Lexend"/>
                <a:sym typeface="Lexend"/>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105"/>
          <p:cNvSpPr txBox="1"/>
          <p:nvPr>
            <p:ph idx="4294967295" type="body"/>
          </p:nvPr>
        </p:nvSpPr>
        <p:spPr>
          <a:xfrm>
            <a:off x="324000" y="639411"/>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2) Complete the table. Give your answer as both a decimal and in terms of </a:t>
            </a:r>
            <a:r>
              <a:rPr i="1" lang="en-GB" sz="1600">
                <a:latin typeface="Times New Roman"/>
                <a:ea typeface="Times New Roman"/>
                <a:cs typeface="Times New Roman"/>
                <a:sym typeface="Times New Roman"/>
              </a:rPr>
              <a:t>π</a:t>
            </a:r>
            <a:r>
              <a:rPr lang="en-GB" sz="1600"/>
              <a:t>.</a:t>
            </a:r>
            <a:endParaRPr i="1" sz="1600">
              <a:latin typeface="Times New Roman"/>
              <a:ea typeface="Times New Roman"/>
              <a:cs typeface="Times New Roman"/>
              <a:sym typeface="Times New Roman"/>
            </a:endParaRPr>
          </a:p>
        </p:txBody>
      </p:sp>
      <p:sp>
        <p:nvSpPr>
          <p:cNvPr id="1707" name="Google Shape;1707;p105"/>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pic>
        <p:nvPicPr>
          <p:cNvPr id="1708" name="Google Shape;1708;p105"/>
          <p:cNvPicPr preferRelativeResize="0"/>
          <p:nvPr/>
        </p:nvPicPr>
        <p:blipFill rotWithShape="1">
          <a:blip r:embed="rId3">
            <a:alphaModFix/>
          </a:blip>
          <a:srcRect b="50592" l="0" r="11683" t="0"/>
          <a:stretch/>
        </p:blipFill>
        <p:spPr>
          <a:xfrm>
            <a:off x="695475" y="2008475"/>
            <a:ext cx="1657050" cy="986800"/>
          </a:xfrm>
          <a:prstGeom prst="rect">
            <a:avLst/>
          </a:prstGeom>
          <a:noFill/>
          <a:ln>
            <a:noFill/>
          </a:ln>
        </p:spPr>
      </p:pic>
      <p:graphicFrame>
        <p:nvGraphicFramePr>
          <p:cNvPr id="1709" name="Google Shape;1709;p105"/>
          <p:cNvGraphicFramePr/>
          <p:nvPr/>
        </p:nvGraphicFramePr>
        <p:xfrm>
          <a:off x="323988" y="938275"/>
          <a:ext cx="3000000" cy="3000000"/>
        </p:xfrm>
        <a:graphic>
          <a:graphicData uri="http://schemas.openxmlformats.org/drawingml/2006/table">
            <a:tbl>
              <a:tblPr>
                <a:noFill/>
                <a:tableStyleId>{C81FF9EA-781E-435A-8130-865065205EE4}</a:tableStyleId>
              </a:tblPr>
              <a:tblGrid>
                <a:gridCol w="2028525"/>
                <a:gridCol w="2676225"/>
                <a:gridCol w="2430450"/>
                <a:gridCol w="1033425"/>
              </a:tblGrid>
              <a:tr h="10000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 broken into parts</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calculations (addition)</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answer</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91425" marB="91425" marR="0" marL="0" anchor="ct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2200"/>
                        <a:buFont typeface="Arial"/>
                        <a:buNone/>
                      </a:pPr>
                      <a:r>
                        <a:t/>
                      </a:r>
                      <a:endParaRPr sz="22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889.2 cm²</a:t>
                      </a:r>
                      <a:endParaRPr sz="2200" u="none" cap="none" strike="noStrike">
                        <a:latin typeface="Times New Roman"/>
                        <a:ea typeface="Times New Roman"/>
                        <a:cs typeface="Times New Roman"/>
                        <a:sym typeface="Times New Roman"/>
                      </a:endParaRPr>
                    </a:p>
                  </a:txBody>
                  <a:tcPr marT="91425" marB="91425" marR="0" marL="0" anchor="ctr"/>
                </a:tc>
              </a:tr>
            </a:tbl>
          </a:graphicData>
        </a:graphic>
      </p:graphicFrame>
      <p:sp>
        <p:nvSpPr>
          <p:cNvPr id="1710" name="Google Shape;1710;p105"/>
          <p:cNvSpPr txBox="1"/>
          <p:nvPr>
            <p:ph idx="4294967295" type="body"/>
          </p:nvPr>
        </p:nvSpPr>
        <p:spPr>
          <a:xfrm flipH="1">
            <a:off x="751722" y="1668575"/>
            <a:ext cx="775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7 cm</a:t>
            </a:r>
            <a:endParaRPr sz="1800"/>
          </a:p>
        </p:txBody>
      </p:sp>
      <p:cxnSp>
        <p:nvCxnSpPr>
          <p:cNvPr id="1711" name="Google Shape;1711;p105"/>
          <p:cNvCxnSpPr/>
          <p:nvPr/>
        </p:nvCxnSpPr>
        <p:spPr>
          <a:xfrm>
            <a:off x="751950" y="1954500"/>
            <a:ext cx="775200" cy="0"/>
          </a:xfrm>
          <a:prstGeom prst="straightConnector1">
            <a:avLst/>
          </a:prstGeom>
          <a:noFill/>
          <a:ln cap="flat" cmpd="sng" w="28575">
            <a:solidFill>
              <a:schemeClr val="accent5"/>
            </a:solidFill>
            <a:prstDash val="solid"/>
            <a:round/>
            <a:headEnd len="med" w="med" type="triangle"/>
            <a:tailEnd len="med" w="med" type="triangle"/>
          </a:ln>
        </p:spPr>
      </p:cxnSp>
      <p:sp>
        <p:nvSpPr>
          <p:cNvPr id="1712" name="Google Shape;1712;p105"/>
          <p:cNvSpPr txBox="1"/>
          <p:nvPr>
            <p:ph idx="4294967295" type="body"/>
          </p:nvPr>
        </p:nvSpPr>
        <p:spPr>
          <a:xfrm rot="-5400000">
            <a:off x="62925" y="2352415"/>
            <a:ext cx="874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713" name="Google Shape;1713;p105"/>
          <p:cNvCxnSpPr/>
          <p:nvPr/>
        </p:nvCxnSpPr>
        <p:spPr>
          <a:xfrm rot="5400000">
            <a:off x="220600" y="2479675"/>
            <a:ext cx="877200" cy="0"/>
          </a:xfrm>
          <a:prstGeom prst="straightConnector1">
            <a:avLst/>
          </a:prstGeom>
          <a:noFill/>
          <a:ln cap="flat" cmpd="sng" w="28575">
            <a:solidFill>
              <a:schemeClr val="accent5"/>
            </a:solidFill>
            <a:prstDash val="solid"/>
            <a:round/>
            <a:headEnd len="med" w="med" type="triangle"/>
            <a:tailEnd len="med" w="med" type="triangle"/>
          </a:ln>
        </p:spPr>
      </p:cxnSp>
      <p:pic>
        <p:nvPicPr>
          <p:cNvPr id="1714" name="Google Shape;1714;p105"/>
          <p:cNvPicPr preferRelativeResize="0"/>
          <p:nvPr/>
        </p:nvPicPr>
        <p:blipFill rotWithShape="1">
          <a:blip r:embed="rId3">
            <a:alphaModFix/>
          </a:blip>
          <a:srcRect b="-2444" l="0" r="49660" t="53038"/>
          <a:stretch/>
        </p:blipFill>
        <p:spPr>
          <a:xfrm>
            <a:off x="3936050" y="2008475"/>
            <a:ext cx="944525" cy="986800"/>
          </a:xfrm>
          <a:prstGeom prst="rect">
            <a:avLst/>
          </a:prstGeom>
          <a:noFill/>
          <a:ln>
            <a:noFill/>
          </a:ln>
        </p:spPr>
      </p:pic>
      <p:pic>
        <p:nvPicPr>
          <p:cNvPr id="1715" name="Google Shape;1715;p105"/>
          <p:cNvPicPr preferRelativeResize="0"/>
          <p:nvPr/>
        </p:nvPicPr>
        <p:blipFill rotWithShape="1">
          <a:blip r:embed="rId3">
            <a:alphaModFix/>
          </a:blip>
          <a:srcRect b="-2444" l="59089" r="-404" t="53038"/>
          <a:stretch/>
        </p:blipFill>
        <p:spPr>
          <a:xfrm>
            <a:off x="2499588" y="2008475"/>
            <a:ext cx="775200" cy="986800"/>
          </a:xfrm>
          <a:prstGeom prst="rect">
            <a:avLst/>
          </a:prstGeom>
          <a:noFill/>
          <a:ln>
            <a:noFill/>
          </a:ln>
        </p:spPr>
      </p:pic>
      <p:sp>
        <p:nvSpPr>
          <p:cNvPr id="1716" name="Google Shape;1716;p105"/>
          <p:cNvSpPr txBox="1"/>
          <p:nvPr>
            <p:ph idx="4294967295" type="body"/>
          </p:nvPr>
        </p:nvSpPr>
        <p:spPr>
          <a:xfrm rot="-5400000">
            <a:off x="3282482" y="2352415"/>
            <a:ext cx="874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717" name="Google Shape;1717;p105"/>
          <p:cNvCxnSpPr/>
          <p:nvPr/>
        </p:nvCxnSpPr>
        <p:spPr>
          <a:xfrm rot="5400000">
            <a:off x="3440157" y="2479675"/>
            <a:ext cx="877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718" name="Google Shape;1718;p105"/>
          <p:cNvCxnSpPr/>
          <p:nvPr/>
        </p:nvCxnSpPr>
        <p:spPr>
          <a:xfrm>
            <a:off x="2499713" y="1954500"/>
            <a:ext cx="775200" cy="0"/>
          </a:xfrm>
          <a:prstGeom prst="straightConnector1">
            <a:avLst/>
          </a:prstGeom>
          <a:noFill/>
          <a:ln cap="flat" cmpd="sng" w="28575">
            <a:solidFill>
              <a:schemeClr val="accent5"/>
            </a:solidFill>
            <a:prstDash val="solid"/>
            <a:round/>
            <a:headEnd len="med" w="med" type="triangle"/>
            <a:tailEnd len="med" w="med" type="triangle"/>
          </a:ln>
        </p:spPr>
      </p:cxnSp>
      <p:sp>
        <p:nvSpPr>
          <p:cNvPr id="1719" name="Google Shape;1719;p105"/>
          <p:cNvSpPr txBox="1"/>
          <p:nvPr>
            <p:ph idx="4294967295" type="body"/>
          </p:nvPr>
        </p:nvSpPr>
        <p:spPr>
          <a:xfrm flipH="1">
            <a:off x="2414951" y="1611278"/>
            <a:ext cx="944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r>
              <a:rPr lang="en-GB" sz="1800"/>
              <a:t> cm</a:t>
            </a:r>
            <a:endParaRPr sz="1800"/>
          </a:p>
        </p:txBody>
      </p:sp>
      <p:pic>
        <p:nvPicPr>
          <p:cNvPr descr="&lt;math xmlns=&quot;http://www.w3.org/1998/Math/MathML&quot; display=&quot;block&quot; data-is-equatio=&quot;1&quot; data-latex=&quot;2\times\ \ \ \ \ +\frac{1}{4}\times\pi\times2^2&quot;&gt;&lt;mn&gt;2&lt;/mn&gt;&lt;mo&gt;×&lt;/mo&gt;&lt;mtext&gt;&lt;/mtext&gt;&lt;mtext&gt;&lt;/mtext&gt;&lt;mtext&gt;&lt;/mtext&gt;&lt;mtext&gt;&lt;/mtext&gt;&lt;mtext&gt;&lt;/mtext&gt;&lt;mo&gt;+&lt;/mo&gt;&lt;mfrac&gt;&lt;mn&gt;1&lt;/mn&gt;&lt;mn&gt;4&lt;/mn&gt;&lt;/mfrac&gt;&lt;mo&gt;×&lt;/mo&gt;&lt;mi&gt;π&lt;/mi&gt;&lt;mo&gt;×&lt;/mo&gt;&lt;msup&gt;&lt;mn&gt;2&lt;/mn&gt;&lt;mn&gt;2&lt;/mn&gt;&lt;/msup&gt;&lt;/math&gt;" id="1720" name="Google Shape;1720;p105" title="2 times positive one fourth times pi times 2 squared"/>
          <p:cNvPicPr preferRelativeResize="0"/>
          <p:nvPr/>
        </p:nvPicPr>
        <p:blipFill rotWithShape="1">
          <a:blip r:embed="rId4">
            <a:alphaModFix/>
          </a:blip>
          <a:srcRect b="0" l="0" r="0" t="0"/>
          <a:stretch/>
        </p:blipFill>
        <p:spPr>
          <a:xfrm>
            <a:off x="5086613" y="2084013"/>
            <a:ext cx="2313119" cy="568800"/>
          </a:xfrm>
          <a:prstGeom prst="rect">
            <a:avLst/>
          </a:prstGeom>
          <a:noFill/>
          <a:ln>
            <a:noFill/>
          </a:ln>
        </p:spPr>
      </p:pic>
      <p:sp>
        <p:nvSpPr>
          <p:cNvPr id="1721" name="Google Shape;1721;p105"/>
          <p:cNvSpPr txBox="1"/>
          <p:nvPr>
            <p:ph idx="4294967295" type="body"/>
          </p:nvPr>
        </p:nvSpPr>
        <p:spPr>
          <a:xfrm flipH="1">
            <a:off x="5405026" y="2280275"/>
            <a:ext cx="608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endParaRPr sz="1800"/>
          </a:p>
        </p:txBody>
      </p:sp>
      <p:pic>
        <p:nvPicPr>
          <p:cNvPr id="1722" name="Google Shape;1722;p105"/>
          <p:cNvPicPr preferRelativeResize="0"/>
          <p:nvPr/>
        </p:nvPicPr>
        <p:blipFill rotWithShape="1">
          <a:blip r:embed="rId5">
            <a:alphaModFix/>
          </a:blip>
          <a:srcRect b="24197" l="7610" r="45668" t="43362"/>
          <a:stretch/>
        </p:blipFill>
        <p:spPr>
          <a:xfrm>
            <a:off x="359808" y="3164825"/>
            <a:ext cx="1989101" cy="1203775"/>
          </a:xfrm>
          <a:prstGeom prst="rect">
            <a:avLst/>
          </a:prstGeom>
          <a:noFill/>
          <a:ln>
            <a:noFill/>
          </a:ln>
        </p:spPr>
      </p:pic>
      <p:sp>
        <p:nvSpPr>
          <p:cNvPr id="1723" name="Google Shape;1723;p105"/>
          <p:cNvSpPr txBox="1"/>
          <p:nvPr>
            <p:ph idx="4294967295" type="body"/>
          </p:nvPr>
        </p:nvSpPr>
        <p:spPr>
          <a:xfrm rot="-5400000">
            <a:off x="32725" y="3920374"/>
            <a:ext cx="789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724" name="Google Shape;1724;p105"/>
          <p:cNvCxnSpPr/>
          <p:nvPr/>
        </p:nvCxnSpPr>
        <p:spPr>
          <a:xfrm rot="5400000">
            <a:off x="349100" y="4047452"/>
            <a:ext cx="474900" cy="0"/>
          </a:xfrm>
          <a:prstGeom prst="straightConnector1">
            <a:avLst/>
          </a:prstGeom>
          <a:noFill/>
          <a:ln cap="flat" cmpd="sng" w="28575">
            <a:solidFill>
              <a:schemeClr val="accent5"/>
            </a:solidFill>
            <a:prstDash val="solid"/>
            <a:round/>
            <a:headEnd len="med" w="med" type="triangle"/>
            <a:tailEnd len="med" w="med" type="triangle"/>
          </a:ln>
        </p:spPr>
      </p:cxnSp>
      <p:sp>
        <p:nvSpPr>
          <p:cNvPr id="1725" name="Google Shape;1725;p105"/>
          <p:cNvSpPr txBox="1"/>
          <p:nvPr>
            <p:ph idx="4294967295" type="body"/>
          </p:nvPr>
        </p:nvSpPr>
        <p:spPr>
          <a:xfrm flipH="1">
            <a:off x="689302" y="4407251"/>
            <a:ext cx="1164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32 cm</a:t>
            </a:r>
            <a:endParaRPr sz="1800"/>
          </a:p>
        </p:txBody>
      </p:sp>
      <p:cxnSp>
        <p:nvCxnSpPr>
          <p:cNvPr id="1726" name="Google Shape;1726;p105"/>
          <p:cNvCxnSpPr/>
          <p:nvPr/>
        </p:nvCxnSpPr>
        <p:spPr>
          <a:xfrm rot="10800000">
            <a:off x="687791" y="4374826"/>
            <a:ext cx="1165800" cy="0"/>
          </a:xfrm>
          <a:prstGeom prst="straightConnector1">
            <a:avLst/>
          </a:prstGeom>
          <a:noFill/>
          <a:ln cap="flat" cmpd="sng" w="28575">
            <a:solidFill>
              <a:schemeClr val="accent5"/>
            </a:solidFill>
            <a:prstDash val="solid"/>
            <a:round/>
            <a:headEnd len="med" w="med" type="triangle"/>
            <a:tailEnd len="med" w="med" type="triangle"/>
          </a:ln>
        </p:spPr>
      </p:cxnSp>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727" name="Google Shape;1727;p105" title="one fourth times pi times to the second power plus one half times pi times to the second power plus times"/>
          <p:cNvPicPr preferRelativeResize="0"/>
          <p:nvPr/>
        </p:nvPicPr>
        <p:blipFill rotWithShape="1">
          <a:blip r:embed="rId6">
            <a:alphaModFix/>
          </a:blip>
          <a:srcRect b="0" l="0" r="57038" t="0"/>
          <a:stretch/>
        </p:blipFill>
        <p:spPr>
          <a:xfrm>
            <a:off x="5071722" y="3164825"/>
            <a:ext cx="1675800" cy="478800"/>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728" name="Google Shape;1728;p105" title="one fourth times pi times to the second power plus one half times pi times to the second power plus times"/>
          <p:cNvPicPr preferRelativeResize="0"/>
          <p:nvPr/>
        </p:nvPicPr>
        <p:blipFill rotWithShape="1">
          <a:blip r:embed="rId6">
            <a:alphaModFix/>
          </a:blip>
          <a:srcRect b="0" l="44112" r="12926" t="0"/>
          <a:stretch/>
        </p:blipFill>
        <p:spPr>
          <a:xfrm>
            <a:off x="5071722" y="3746163"/>
            <a:ext cx="1675800" cy="478800"/>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729" name="Google Shape;1729;p105" title="one fourth times pi times to the second power plus one half times pi times to the second power plus times"/>
          <p:cNvPicPr preferRelativeResize="0"/>
          <p:nvPr/>
        </p:nvPicPr>
        <p:blipFill rotWithShape="1">
          <a:blip r:embed="rId6">
            <a:alphaModFix/>
          </a:blip>
          <a:srcRect b="0" l="93771" r="-3613" t="0"/>
          <a:stretch/>
        </p:blipFill>
        <p:spPr>
          <a:xfrm>
            <a:off x="5581724" y="4327500"/>
            <a:ext cx="383926" cy="478800"/>
          </a:xfrm>
          <a:prstGeom prst="rect">
            <a:avLst/>
          </a:prstGeom>
          <a:noFill/>
          <a:ln>
            <a:noFill/>
          </a:ln>
        </p:spPr>
      </p:pic>
      <p:sp>
        <p:nvSpPr>
          <p:cNvPr id="1730" name="Google Shape;1730;p105"/>
          <p:cNvSpPr txBox="1"/>
          <p:nvPr>
            <p:ph idx="4294967295" type="body"/>
          </p:nvPr>
        </p:nvSpPr>
        <p:spPr>
          <a:xfrm flipH="1">
            <a:off x="5774401" y="3277475"/>
            <a:ext cx="608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endParaRPr sz="1800"/>
          </a:p>
        </p:txBody>
      </p:sp>
      <p:sp>
        <p:nvSpPr>
          <p:cNvPr id="1731" name="Google Shape;1731;p105"/>
          <p:cNvSpPr txBox="1"/>
          <p:nvPr>
            <p:ph idx="4294967295" type="body"/>
          </p:nvPr>
        </p:nvSpPr>
        <p:spPr>
          <a:xfrm flipH="1">
            <a:off x="5774401" y="3858813"/>
            <a:ext cx="608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endParaRPr sz="1800"/>
          </a:p>
        </p:txBody>
      </p:sp>
      <p:sp>
        <p:nvSpPr>
          <p:cNvPr id="1732" name="Google Shape;1732;p105"/>
          <p:cNvSpPr txBox="1"/>
          <p:nvPr>
            <p:ph idx="4294967295" type="body"/>
          </p:nvPr>
        </p:nvSpPr>
        <p:spPr>
          <a:xfrm flipH="1">
            <a:off x="5086626" y="4407238"/>
            <a:ext cx="608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endParaRPr sz="1800"/>
          </a:p>
        </p:txBody>
      </p:sp>
      <p:sp>
        <p:nvSpPr>
          <p:cNvPr id="1733" name="Google Shape;1733;p105"/>
          <p:cNvSpPr txBox="1"/>
          <p:nvPr>
            <p:ph idx="4294967295" type="body"/>
          </p:nvPr>
        </p:nvSpPr>
        <p:spPr>
          <a:xfrm flipH="1">
            <a:off x="5813276" y="4407238"/>
            <a:ext cx="608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latin typeface="Arial"/>
                <a:ea typeface="Arial"/>
                <a:cs typeface="Arial"/>
                <a:sym typeface="Arial"/>
              </a:rPr>
              <a:t>___</a:t>
            </a:r>
            <a:endParaRPr sz="1800"/>
          </a:p>
        </p:txBody>
      </p:sp>
      <p:sp>
        <p:nvSpPr>
          <p:cNvPr id="1734" name="Google Shape;1734;p105"/>
          <p:cNvSpPr txBox="1"/>
          <p:nvPr>
            <p:ph idx="4294967295" type="body"/>
          </p:nvPr>
        </p:nvSpPr>
        <p:spPr>
          <a:xfrm>
            <a:off x="324575" y="148140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a) </a:t>
            </a:r>
            <a:endParaRPr i="1" sz="1800">
              <a:latin typeface="Times New Roman"/>
              <a:ea typeface="Times New Roman"/>
              <a:cs typeface="Times New Roman"/>
              <a:sym typeface="Times New Roman"/>
            </a:endParaRPr>
          </a:p>
        </p:txBody>
      </p:sp>
      <p:sp>
        <p:nvSpPr>
          <p:cNvPr id="1735" name="Google Shape;1735;p105"/>
          <p:cNvSpPr txBox="1"/>
          <p:nvPr>
            <p:ph idx="4294967295" type="body"/>
          </p:nvPr>
        </p:nvSpPr>
        <p:spPr>
          <a:xfrm>
            <a:off x="324575" y="313035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b) </a:t>
            </a:r>
            <a:endParaRPr i="1" sz="18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0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graphicFrame>
        <p:nvGraphicFramePr>
          <p:cNvPr id="1741" name="Google Shape;1741;p106"/>
          <p:cNvGraphicFramePr/>
          <p:nvPr/>
        </p:nvGraphicFramePr>
        <p:xfrm>
          <a:off x="323988" y="938275"/>
          <a:ext cx="3000000" cy="3000000"/>
        </p:xfrm>
        <a:graphic>
          <a:graphicData uri="http://schemas.openxmlformats.org/drawingml/2006/table">
            <a:tbl>
              <a:tblPr>
                <a:noFill/>
                <a:tableStyleId>{C81FF9EA-781E-435A-8130-865065205EE4}</a:tableStyleId>
              </a:tblPr>
              <a:tblGrid>
                <a:gridCol w="2028525"/>
                <a:gridCol w="2676225"/>
                <a:gridCol w="2430450"/>
                <a:gridCol w="1033425"/>
              </a:tblGrid>
              <a:tr h="10000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 broken into parts</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calculations (addition)</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answer</a:t>
                      </a:r>
                      <a:endParaRPr sz="1800" u="none" cap="none" strike="noStrike">
                        <a:solidFill>
                          <a:schemeClr val="lt1"/>
                        </a:solidFill>
                        <a:latin typeface="Lexend"/>
                        <a:ea typeface="Lexend"/>
                        <a:cs typeface="Lexend"/>
                        <a:sym typeface="Lexend"/>
                      </a:endParaRPr>
                    </a:p>
                  </a:txBody>
                  <a:tcPr marT="18000" marB="18000" marR="91425" marL="91425" anchor="ctr">
                    <a:solidFill>
                      <a:schemeClr val="accent5"/>
                    </a:solidFill>
                  </a:tcP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91425" marB="91425" marR="0" marL="0" anchor="ct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91425" marB="91425" marR="0" marL="0" anchor="ctr"/>
                </a:tc>
              </a:tr>
            </a:tbl>
          </a:graphicData>
        </a:graphic>
      </p:graphicFrame>
      <p:pic>
        <p:nvPicPr>
          <p:cNvPr id="1742" name="Google Shape;1742;p106"/>
          <p:cNvPicPr preferRelativeResize="0"/>
          <p:nvPr/>
        </p:nvPicPr>
        <p:blipFill rotWithShape="1">
          <a:blip r:embed="rId3">
            <a:alphaModFix/>
          </a:blip>
          <a:srcRect b="63243" l="0" r="65852" t="0"/>
          <a:stretch/>
        </p:blipFill>
        <p:spPr>
          <a:xfrm>
            <a:off x="595123" y="1541223"/>
            <a:ext cx="1471650" cy="1380725"/>
          </a:xfrm>
          <a:prstGeom prst="rect">
            <a:avLst/>
          </a:prstGeom>
          <a:noFill/>
          <a:ln>
            <a:noFill/>
          </a:ln>
        </p:spPr>
      </p:pic>
      <p:cxnSp>
        <p:nvCxnSpPr>
          <p:cNvPr id="1743" name="Google Shape;1743;p106"/>
          <p:cNvCxnSpPr/>
          <p:nvPr/>
        </p:nvCxnSpPr>
        <p:spPr>
          <a:xfrm>
            <a:off x="790795" y="2876226"/>
            <a:ext cx="608100" cy="0"/>
          </a:xfrm>
          <a:prstGeom prst="straightConnector1">
            <a:avLst/>
          </a:prstGeom>
          <a:noFill/>
          <a:ln cap="flat" cmpd="sng" w="28575">
            <a:solidFill>
              <a:schemeClr val="accent5"/>
            </a:solidFill>
            <a:prstDash val="solid"/>
            <a:round/>
            <a:headEnd len="med" w="med" type="triangle"/>
            <a:tailEnd len="med" w="med" type="triangle"/>
          </a:ln>
        </p:spPr>
      </p:cxnSp>
      <p:sp>
        <p:nvSpPr>
          <p:cNvPr id="1744" name="Google Shape;1744;p106"/>
          <p:cNvSpPr txBox="1"/>
          <p:nvPr>
            <p:ph idx="4294967295" type="body"/>
          </p:nvPr>
        </p:nvSpPr>
        <p:spPr>
          <a:xfrm flipH="1">
            <a:off x="677923" y="2895100"/>
            <a:ext cx="8337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 cm</a:t>
            </a:r>
            <a:endParaRPr sz="1800"/>
          </a:p>
        </p:txBody>
      </p:sp>
      <p:pic>
        <p:nvPicPr>
          <p:cNvPr id="1745" name="Google Shape;1745;p106"/>
          <p:cNvPicPr preferRelativeResize="0"/>
          <p:nvPr/>
        </p:nvPicPr>
        <p:blipFill rotWithShape="1">
          <a:blip r:embed="rId4">
            <a:alphaModFix/>
          </a:blip>
          <a:srcRect b="0" l="55636" r="0" t="49821"/>
          <a:stretch/>
        </p:blipFill>
        <p:spPr>
          <a:xfrm rot="5400000">
            <a:off x="644140" y="3086833"/>
            <a:ext cx="1129959" cy="1703040"/>
          </a:xfrm>
          <a:prstGeom prst="rect">
            <a:avLst/>
          </a:prstGeom>
          <a:noFill/>
          <a:ln>
            <a:noFill/>
          </a:ln>
        </p:spPr>
      </p:pic>
      <p:cxnSp>
        <p:nvCxnSpPr>
          <p:cNvPr id="1746" name="Google Shape;1746;p106"/>
          <p:cNvCxnSpPr/>
          <p:nvPr/>
        </p:nvCxnSpPr>
        <p:spPr>
          <a:xfrm>
            <a:off x="883130" y="4539509"/>
            <a:ext cx="1140300" cy="0"/>
          </a:xfrm>
          <a:prstGeom prst="straightConnector1">
            <a:avLst/>
          </a:prstGeom>
          <a:noFill/>
          <a:ln cap="flat" cmpd="sng" w="28575">
            <a:solidFill>
              <a:schemeClr val="accent5"/>
            </a:solidFill>
            <a:prstDash val="solid"/>
            <a:round/>
            <a:headEnd len="med" w="med" type="triangle"/>
            <a:tailEnd len="med" w="med" type="triangle"/>
          </a:ln>
        </p:spPr>
      </p:cxnSp>
      <p:sp>
        <p:nvSpPr>
          <p:cNvPr id="1747" name="Google Shape;1747;p106"/>
          <p:cNvSpPr txBox="1"/>
          <p:nvPr>
            <p:ph idx="4294967295" type="body"/>
          </p:nvPr>
        </p:nvSpPr>
        <p:spPr>
          <a:xfrm flipH="1">
            <a:off x="883429" y="4556014"/>
            <a:ext cx="11397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44 cm</a:t>
            </a:r>
            <a:endParaRPr sz="1800"/>
          </a:p>
        </p:txBody>
      </p:sp>
      <p:cxnSp>
        <p:nvCxnSpPr>
          <p:cNvPr id="1748" name="Google Shape;1748;p106"/>
          <p:cNvCxnSpPr/>
          <p:nvPr/>
        </p:nvCxnSpPr>
        <p:spPr>
          <a:xfrm rot="-5400000">
            <a:off x="1597062" y="3974565"/>
            <a:ext cx="980100" cy="0"/>
          </a:xfrm>
          <a:prstGeom prst="straightConnector1">
            <a:avLst/>
          </a:prstGeom>
          <a:noFill/>
          <a:ln cap="flat" cmpd="sng" w="28575">
            <a:solidFill>
              <a:schemeClr val="accent5"/>
            </a:solidFill>
            <a:prstDash val="solid"/>
            <a:round/>
            <a:headEnd len="med" w="med" type="triangle"/>
            <a:tailEnd len="med" w="med" type="triangle"/>
          </a:ln>
        </p:spPr>
      </p:cxnSp>
      <p:sp>
        <p:nvSpPr>
          <p:cNvPr id="1749" name="Google Shape;1749;p106"/>
          <p:cNvSpPr txBox="1"/>
          <p:nvPr>
            <p:ph idx="4294967295" type="body"/>
          </p:nvPr>
        </p:nvSpPr>
        <p:spPr>
          <a:xfrm flipH="1" rot="-5400000">
            <a:off x="1724867" y="3863689"/>
            <a:ext cx="9792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28 cm</a:t>
            </a:r>
            <a:endParaRPr sz="1800"/>
          </a:p>
        </p:txBody>
      </p:sp>
      <p:sp>
        <p:nvSpPr>
          <p:cNvPr id="1750" name="Google Shape;1750;p106"/>
          <p:cNvSpPr txBox="1"/>
          <p:nvPr>
            <p:ph idx="4294967295" type="body"/>
          </p:nvPr>
        </p:nvSpPr>
        <p:spPr>
          <a:xfrm>
            <a:off x="324575" y="148140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c) </a:t>
            </a:r>
            <a:endParaRPr i="1" sz="1800">
              <a:latin typeface="Times New Roman"/>
              <a:ea typeface="Times New Roman"/>
              <a:cs typeface="Times New Roman"/>
              <a:sym typeface="Times New Roman"/>
            </a:endParaRPr>
          </a:p>
        </p:txBody>
      </p:sp>
      <p:sp>
        <p:nvSpPr>
          <p:cNvPr id="1751" name="Google Shape;1751;p106"/>
          <p:cNvSpPr txBox="1"/>
          <p:nvPr>
            <p:ph idx="4294967295" type="body"/>
          </p:nvPr>
        </p:nvSpPr>
        <p:spPr>
          <a:xfrm>
            <a:off x="324575" y="313035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d) </a:t>
            </a:r>
            <a:endParaRPr i="1" sz="1800">
              <a:latin typeface="Times New Roman"/>
              <a:ea typeface="Times New Roman"/>
              <a:cs typeface="Times New Roman"/>
              <a:sym typeface="Times New Roman"/>
            </a:endParaRPr>
          </a:p>
        </p:txBody>
      </p:sp>
      <p:sp>
        <p:nvSpPr>
          <p:cNvPr id="1752" name="Google Shape;1752;p106"/>
          <p:cNvSpPr txBox="1"/>
          <p:nvPr>
            <p:ph idx="4294967295" type="body"/>
          </p:nvPr>
        </p:nvSpPr>
        <p:spPr>
          <a:xfrm>
            <a:off x="324000" y="659464"/>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2) Complete the table. Give your answer as both a decimal and in terms of </a:t>
            </a:r>
            <a:r>
              <a:rPr i="1" lang="en-GB" sz="1600">
                <a:latin typeface="Times New Roman"/>
                <a:ea typeface="Times New Roman"/>
                <a:cs typeface="Times New Roman"/>
                <a:sym typeface="Times New Roman"/>
              </a:rPr>
              <a:t>π</a:t>
            </a:r>
            <a:r>
              <a:rPr lang="en-GB" sz="1600"/>
              <a:t>.</a:t>
            </a:r>
            <a:endParaRPr i="1" sz="16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sp>
        <p:nvSpPr>
          <p:cNvPr id="1757" name="Google Shape;1757;p107"/>
          <p:cNvSpPr txBox="1"/>
          <p:nvPr>
            <p:ph idx="4294967295" type="body"/>
          </p:nvPr>
        </p:nvSpPr>
        <p:spPr>
          <a:xfrm>
            <a:off x="324000" y="735664"/>
            <a:ext cx="8496000" cy="69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1600"/>
              <a:t>3) What do you notice about the areas of each shaded region?</a:t>
            </a:r>
            <a:endParaRPr sz="1600"/>
          </a:p>
          <a:p>
            <a:pPr indent="0" lvl="0" marL="0" rtl="0" algn="l">
              <a:lnSpc>
                <a:spcPct val="130000"/>
              </a:lnSpc>
              <a:spcBef>
                <a:spcPts val="1000"/>
              </a:spcBef>
              <a:spcAft>
                <a:spcPts val="1000"/>
              </a:spcAft>
              <a:buSzPts val="2200"/>
              <a:buNone/>
            </a:pPr>
            <a:r>
              <a:rPr lang="en-GB" sz="1600"/>
              <a:t>Show your working to support your observations.</a:t>
            </a:r>
            <a:endParaRPr sz="1600"/>
          </a:p>
        </p:txBody>
      </p:sp>
      <p:sp>
        <p:nvSpPr>
          <p:cNvPr id="1758" name="Google Shape;1758;p10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sp>
        <p:nvSpPr>
          <p:cNvPr id="1759" name="Google Shape;1759;p107"/>
          <p:cNvSpPr txBox="1"/>
          <p:nvPr>
            <p:ph idx="4294967295" type="body"/>
          </p:nvPr>
        </p:nvSpPr>
        <p:spPr>
          <a:xfrm flipH="1" rot="-5400000">
            <a:off x="-182800" y="2810127"/>
            <a:ext cx="1977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760" name="Google Shape;1760;p107"/>
          <p:cNvCxnSpPr/>
          <p:nvPr/>
        </p:nvCxnSpPr>
        <p:spPr>
          <a:xfrm rot="-5400000">
            <a:off x="-52575" y="2936439"/>
            <a:ext cx="2035200" cy="0"/>
          </a:xfrm>
          <a:prstGeom prst="straightConnector1">
            <a:avLst/>
          </a:prstGeom>
          <a:noFill/>
          <a:ln cap="flat" cmpd="sng" w="28575">
            <a:solidFill>
              <a:schemeClr val="accent5"/>
            </a:solidFill>
            <a:prstDash val="solid"/>
            <a:round/>
            <a:headEnd len="med" w="med" type="triangle"/>
            <a:tailEnd len="med" w="med" type="triangle"/>
          </a:ln>
        </p:spPr>
      </p:cxnSp>
      <p:pic>
        <p:nvPicPr>
          <p:cNvPr id="1761" name="Google Shape;1761;p107"/>
          <p:cNvPicPr preferRelativeResize="0"/>
          <p:nvPr/>
        </p:nvPicPr>
        <p:blipFill rotWithShape="1">
          <a:blip r:embed="rId3">
            <a:alphaModFix/>
          </a:blip>
          <a:srcRect b="0" l="0" r="0" t="0"/>
          <a:stretch/>
        </p:blipFill>
        <p:spPr>
          <a:xfrm>
            <a:off x="1017600" y="1884275"/>
            <a:ext cx="7106550" cy="2088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0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sp>
        <p:nvSpPr>
          <p:cNvPr id="1767" name="Google Shape;1767;p108"/>
          <p:cNvSpPr txBox="1"/>
          <p:nvPr>
            <p:ph idx="4294967295" type="body"/>
          </p:nvPr>
        </p:nvSpPr>
        <p:spPr>
          <a:xfrm>
            <a:off x="324000" y="626234"/>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1) Match the composite shape to its component parts and calculations.</a:t>
            </a:r>
            <a:endParaRPr sz="1600"/>
          </a:p>
        </p:txBody>
      </p:sp>
      <p:pic>
        <p:nvPicPr>
          <p:cNvPr id="1768" name="Google Shape;1768;p108"/>
          <p:cNvPicPr preferRelativeResize="0"/>
          <p:nvPr/>
        </p:nvPicPr>
        <p:blipFill rotWithShape="1">
          <a:blip r:embed="rId3">
            <a:alphaModFix/>
          </a:blip>
          <a:srcRect b="54398" l="0" r="76095" t="0"/>
          <a:stretch/>
        </p:blipFill>
        <p:spPr>
          <a:xfrm>
            <a:off x="363390" y="977655"/>
            <a:ext cx="1206625" cy="1794549"/>
          </a:xfrm>
          <a:prstGeom prst="rect">
            <a:avLst/>
          </a:prstGeom>
          <a:noFill/>
          <a:ln>
            <a:noFill/>
          </a:ln>
        </p:spPr>
      </p:pic>
      <p:pic>
        <p:nvPicPr>
          <p:cNvPr id="1769" name="Google Shape;1769;p108"/>
          <p:cNvPicPr preferRelativeResize="0"/>
          <p:nvPr/>
        </p:nvPicPr>
        <p:blipFill rotWithShape="1">
          <a:blip r:embed="rId3">
            <a:alphaModFix/>
          </a:blip>
          <a:srcRect b="0" l="0" r="76693" t="81971"/>
          <a:stretch/>
        </p:blipFill>
        <p:spPr>
          <a:xfrm>
            <a:off x="3971286" y="3774946"/>
            <a:ext cx="1176449" cy="709449"/>
          </a:xfrm>
          <a:prstGeom prst="rect">
            <a:avLst/>
          </a:prstGeom>
          <a:noFill/>
          <a:ln>
            <a:noFill/>
          </a:ln>
        </p:spPr>
      </p:pic>
      <p:pic>
        <p:nvPicPr>
          <p:cNvPr id="1770" name="Google Shape;1770;p108"/>
          <p:cNvPicPr preferRelativeResize="0"/>
          <p:nvPr/>
        </p:nvPicPr>
        <p:blipFill rotWithShape="1">
          <a:blip r:embed="rId3">
            <a:alphaModFix/>
          </a:blip>
          <a:srcRect b="54397" l="36332" r="39762" t="13424"/>
          <a:stretch/>
        </p:blipFill>
        <p:spPr>
          <a:xfrm>
            <a:off x="348471" y="3231101"/>
            <a:ext cx="1206625" cy="1266300"/>
          </a:xfrm>
          <a:prstGeom prst="rect">
            <a:avLst/>
          </a:prstGeom>
          <a:noFill/>
          <a:ln>
            <a:noFill/>
          </a:ln>
        </p:spPr>
      </p:pic>
      <p:sp>
        <p:nvSpPr>
          <p:cNvPr id="1771" name="Google Shape;1771;p108"/>
          <p:cNvSpPr txBox="1"/>
          <p:nvPr>
            <p:ph idx="4294967295" type="body"/>
          </p:nvPr>
        </p:nvSpPr>
        <p:spPr>
          <a:xfrm flipH="1">
            <a:off x="427994" y="2325806"/>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772" name="Google Shape;1772;p108"/>
          <p:cNvCxnSpPr/>
          <p:nvPr/>
        </p:nvCxnSpPr>
        <p:spPr>
          <a:xfrm>
            <a:off x="428131" y="2611731"/>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773" name="Google Shape;1773;p108"/>
          <p:cNvSpPr txBox="1"/>
          <p:nvPr>
            <p:ph idx="4294967295" type="body"/>
          </p:nvPr>
        </p:nvSpPr>
        <p:spPr>
          <a:xfrm flipH="1" rot="5400000">
            <a:off x="1365075" y="2287751"/>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774" name="Google Shape;1774;p108"/>
          <p:cNvCxnSpPr/>
          <p:nvPr/>
        </p:nvCxnSpPr>
        <p:spPr>
          <a:xfrm rot="5400000">
            <a:off x="1273250" y="2414735"/>
            <a:ext cx="621300" cy="0"/>
          </a:xfrm>
          <a:prstGeom prst="straightConnector1">
            <a:avLst/>
          </a:prstGeom>
          <a:noFill/>
          <a:ln cap="flat" cmpd="sng" w="28575">
            <a:solidFill>
              <a:schemeClr val="accent5"/>
            </a:solidFill>
            <a:prstDash val="solid"/>
            <a:round/>
            <a:headEnd len="med" w="med" type="triangle"/>
            <a:tailEnd len="med" w="med" type="triangle"/>
          </a:ln>
        </p:spPr>
      </p:cxnSp>
      <p:sp>
        <p:nvSpPr>
          <p:cNvPr id="1775" name="Google Shape;1775;p108"/>
          <p:cNvSpPr txBox="1"/>
          <p:nvPr>
            <p:ph idx="4294967295" type="body"/>
          </p:nvPr>
        </p:nvSpPr>
        <p:spPr>
          <a:xfrm flipH="1">
            <a:off x="430980" y="4023531"/>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776" name="Google Shape;1776;p108"/>
          <p:cNvCxnSpPr/>
          <p:nvPr/>
        </p:nvCxnSpPr>
        <p:spPr>
          <a:xfrm>
            <a:off x="431117" y="4309456"/>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777" name="Google Shape;1777;p108"/>
          <p:cNvSpPr txBox="1"/>
          <p:nvPr>
            <p:ph idx="4294967295" type="body"/>
          </p:nvPr>
        </p:nvSpPr>
        <p:spPr>
          <a:xfrm flipH="1" rot="5400000">
            <a:off x="1365075" y="3938826"/>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778" name="Google Shape;1778;p108"/>
          <p:cNvCxnSpPr/>
          <p:nvPr/>
        </p:nvCxnSpPr>
        <p:spPr>
          <a:xfrm rot="5400000">
            <a:off x="1273250" y="4065810"/>
            <a:ext cx="621300" cy="0"/>
          </a:xfrm>
          <a:prstGeom prst="straightConnector1">
            <a:avLst/>
          </a:prstGeom>
          <a:noFill/>
          <a:ln cap="flat" cmpd="sng" w="28575">
            <a:solidFill>
              <a:schemeClr val="accent5"/>
            </a:solidFill>
            <a:prstDash val="solid"/>
            <a:round/>
            <a:headEnd len="med" w="med" type="triangle"/>
            <a:tailEnd len="med" w="med" type="triangle"/>
          </a:ln>
        </p:spPr>
      </p:cxnSp>
      <p:sp>
        <p:nvSpPr>
          <p:cNvPr id="1779" name="Google Shape;1779;p108"/>
          <p:cNvSpPr txBox="1"/>
          <p:nvPr>
            <p:ph idx="4294967295" type="body"/>
          </p:nvPr>
        </p:nvSpPr>
        <p:spPr>
          <a:xfrm>
            <a:off x="511313" y="2782825"/>
            <a:ext cx="910800" cy="2772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SzPts val="2200"/>
              <a:buNone/>
            </a:pPr>
            <a:r>
              <a:rPr lang="en-GB" sz="1800"/>
              <a:t>shape 1</a:t>
            </a:r>
            <a:endParaRPr sz="1800"/>
          </a:p>
        </p:txBody>
      </p:sp>
      <p:sp>
        <p:nvSpPr>
          <p:cNvPr id="1780" name="Google Shape;1780;p108"/>
          <p:cNvSpPr txBox="1"/>
          <p:nvPr>
            <p:ph idx="4294967295" type="body"/>
          </p:nvPr>
        </p:nvSpPr>
        <p:spPr>
          <a:xfrm>
            <a:off x="511313" y="4497400"/>
            <a:ext cx="910800" cy="2772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SzPts val="2200"/>
              <a:buNone/>
            </a:pPr>
            <a:r>
              <a:rPr lang="en-GB" sz="1800"/>
              <a:t>shape 2</a:t>
            </a:r>
            <a:endParaRPr sz="1800"/>
          </a:p>
        </p:txBody>
      </p:sp>
      <p:pic>
        <p:nvPicPr>
          <p:cNvPr id="1781" name="Google Shape;1781;p108"/>
          <p:cNvPicPr preferRelativeResize="0"/>
          <p:nvPr/>
        </p:nvPicPr>
        <p:blipFill rotWithShape="1">
          <a:blip r:embed="rId3">
            <a:alphaModFix/>
          </a:blip>
          <a:srcRect b="15410" l="76369" r="322" t="54209"/>
          <a:stretch/>
        </p:blipFill>
        <p:spPr>
          <a:xfrm>
            <a:off x="2328166" y="1171374"/>
            <a:ext cx="1176449" cy="1195500"/>
          </a:xfrm>
          <a:prstGeom prst="rect">
            <a:avLst/>
          </a:prstGeom>
          <a:noFill/>
          <a:ln>
            <a:noFill/>
          </a:ln>
        </p:spPr>
      </p:pic>
      <p:sp>
        <p:nvSpPr>
          <p:cNvPr id="1782" name="Google Shape;1782;p108"/>
          <p:cNvSpPr txBox="1"/>
          <p:nvPr>
            <p:ph idx="4294967295" type="body"/>
          </p:nvPr>
        </p:nvSpPr>
        <p:spPr>
          <a:xfrm>
            <a:off x="2400477" y="2432927"/>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783" name="Google Shape;1783;p108"/>
          <p:cNvCxnSpPr/>
          <p:nvPr/>
        </p:nvCxnSpPr>
        <p:spPr>
          <a:xfrm>
            <a:off x="2400614" y="2400502"/>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784" name="Google Shape;1784;p108"/>
          <p:cNvSpPr txBox="1"/>
          <p:nvPr>
            <p:ph idx="4294967295" type="body"/>
          </p:nvPr>
        </p:nvSpPr>
        <p:spPr>
          <a:xfrm>
            <a:off x="4043590" y="4566191"/>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785" name="Google Shape;1785;p108"/>
          <p:cNvCxnSpPr/>
          <p:nvPr/>
        </p:nvCxnSpPr>
        <p:spPr>
          <a:xfrm>
            <a:off x="4043726" y="4533766"/>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786" name="Google Shape;1786;p108"/>
          <p:cNvSpPr txBox="1"/>
          <p:nvPr>
            <p:ph idx="4294967295" type="body"/>
          </p:nvPr>
        </p:nvSpPr>
        <p:spPr>
          <a:xfrm flipH="1" rot="5400000">
            <a:off x="5005112" y="4008521"/>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787" name="Google Shape;1787;p108"/>
          <p:cNvCxnSpPr/>
          <p:nvPr/>
        </p:nvCxnSpPr>
        <p:spPr>
          <a:xfrm rot="5400000">
            <a:off x="4913287" y="4135506"/>
            <a:ext cx="621300" cy="0"/>
          </a:xfrm>
          <a:prstGeom prst="straightConnector1">
            <a:avLst/>
          </a:prstGeom>
          <a:noFill/>
          <a:ln cap="flat" cmpd="sng" w="28575">
            <a:solidFill>
              <a:schemeClr val="accent5"/>
            </a:solidFill>
            <a:prstDash val="solid"/>
            <a:round/>
            <a:headEnd len="med" w="med" type="triangle"/>
            <a:tailEnd len="med" w="med" type="triangle"/>
          </a:ln>
        </p:spPr>
      </p:cxnSp>
      <p:pic>
        <p:nvPicPr>
          <p:cNvPr id="1788" name="Google Shape;1788;p108"/>
          <p:cNvPicPr preferRelativeResize="0"/>
          <p:nvPr/>
        </p:nvPicPr>
        <p:blipFill rotWithShape="1">
          <a:blip r:embed="rId3">
            <a:alphaModFix/>
          </a:blip>
          <a:srcRect b="0" l="0" r="76693" t="81971"/>
          <a:stretch/>
        </p:blipFill>
        <p:spPr>
          <a:xfrm>
            <a:off x="4008424" y="1196734"/>
            <a:ext cx="1176449" cy="709449"/>
          </a:xfrm>
          <a:prstGeom prst="rect">
            <a:avLst/>
          </a:prstGeom>
          <a:noFill/>
          <a:ln>
            <a:noFill/>
          </a:ln>
        </p:spPr>
      </p:pic>
      <p:pic>
        <p:nvPicPr>
          <p:cNvPr id="1789" name="Google Shape;1789;p108"/>
          <p:cNvPicPr preferRelativeResize="0"/>
          <p:nvPr/>
        </p:nvPicPr>
        <p:blipFill rotWithShape="1">
          <a:blip r:embed="rId3">
            <a:alphaModFix/>
          </a:blip>
          <a:srcRect b="14521" l="36530" r="40162" t="67450"/>
          <a:stretch/>
        </p:blipFill>
        <p:spPr>
          <a:xfrm>
            <a:off x="2330324" y="3756022"/>
            <a:ext cx="1176449" cy="709449"/>
          </a:xfrm>
          <a:prstGeom prst="rect">
            <a:avLst/>
          </a:prstGeom>
          <a:noFill/>
          <a:ln>
            <a:noFill/>
          </a:ln>
        </p:spPr>
      </p:pic>
      <p:sp>
        <p:nvSpPr>
          <p:cNvPr id="1790" name="Google Shape;1790;p108"/>
          <p:cNvSpPr txBox="1"/>
          <p:nvPr>
            <p:ph idx="4294967295" type="body"/>
          </p:nvPr>
        </p:nvSpPr>
        <p:spPr>
          <a:xfrm>
            <a:off x="2315365" y="4497888"/>
            <a:ext cx="711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 cm</a:t>
            </a:r>
            <a:endParaRPr sz="1800"/>
          </a:p>
        </p:txBody>
      </p:sp>
      <p:cxnSp>
        <p:nvCxnSpPr>
          <p:cNvPr id="1791" name="Google Shape;1791;p108"/>
          <p:cNvCxnSpPr/>
          <p:nvPr/>
        </p:nvCxnSpPr>
        <p:spPr>
          <a:xfrm>
            <a:off x="2402692" y="4465463"/>
            <a:ext cx="536700" cy="0"/>
          </a:xfrm>
          <a:prstGeom prst="straightConnector1">
            <a:avLst/>
          </a:prstGeom>
          <a:noFill/>
          <a:ln cap="flat" cmpd="sng" w="28575">
            <a:solidFill>
              <a:schemeClr val="accent5"/>
            </a:solidFill>
            <a:prstDash val="solid"/>
            <a:round/>
            <a:headEnd len="med" w="med" type="triangle"/>
            <a:tailEnd len="med" w="med" type="triangle"/>
          </a:ln>
        </p:spPr>
      </p:cxnSp>
      <p:sp>
        <p:nvSpPr>
          <p:cNvPr id="1792" name="Google Shape;1792;p108"/>
          <p:cNvSpPr txBox="1"/>
          <p:nvPr>
            <p:ph idx="4294967295" type="body"/>
          </p:nvPr>
        </p:nvSpPr>
        <p:spPr>
          <a:xfrm>
            <a:off x="4080727" y="1987978"/>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6 cm</a:t>
            </a:r>
            <a:endParaRPr sz="1800"/>
          </a:p>
        </p:txBody>
      </p:sp>
      <p:cxnSp>
        <p:nvCxnSpPr>
          <p:cNvPr id="1793" name="Google Shape;1793;p108"/>
          <p:cNvCxnSpPr/>
          <p:nvPr/>
        </p:nvCxnSpPr>
        <p:spPr>
          <a:xfrm>
            <a:off x="4080864" y="1955553"/>
            <a:ext cx="1042200" cy="0"/>
          </a:xfrm>
          <a:prstGeom prst="straightConnector1">
            <a:avLst/>
          </a:prstGeom>
          <a:noFill/>
          <a:ln cap="flat" cmpd="sng" w="28575">
            <a:solidFill>
              <a:schemeClr val="accent5"/>
            </a:solidFill>
            <a:prstDash val="solid"/>
            <a:round/>
            <a:headEnd len="med" w="med" type="triangle"/>
            <a:tailEnd len="med" w="med" type="triangle"/>
          </a:ln>
        </p:spPr>
      </p:cxnSp>
      <p:sp>
        <p:nvSpPr>
          <p:cNvPr id="1794" name="Google Shape;1794;p108"/>
          <p:cNvSpPr txBox="1"/>
          <p:nvPr>
            <p:ph idx="4294967295" type="body"/>
          </p:nvPr>
        </p:nvSpPr>
        <p:spPr>
          <a:xfrm flipH="1" rot="5400000">
            <a:off x="5042250" y="1430309"/>
            <a:ext cx="756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795" name="Google Shape;1795;p108"/>
          <p:cNvCxnSpPr/>
          <p:nvPr/>
        </p:nvCxnSpPr>
        <p:spPr>
          <a:xfrm rot="5400000">
            <a:off x="4950425" y="1557294"/>
            <a:ext cx="621300" cy="0"/>
          </a:xfrm>
          <a:prstGeom prst="straightConnector1">
            <a:avLst/>
          </a:prstGeom>
          <a:noFill/>
          <a:ln cap="flat" cmpd="sng" w="28575">
            <a:solidFill>
              <a:schemeClr val="accent5"/>
            </a:solidFill>
            <a:prstDash val="solid"/>
            <a:round/>
            <a:headEnd len="med" w="med" type="triangle"/>
            <a:tailEnd len="med" w="med" type="triangle"/>
          </a:ln>
        </p:spPr>
      </p:cxnSp>
      <p:grpSp>
        <p:nvGrpSpPr>
          <p:cNvPr id="1796" name="Google Shape;1796;p108"/>
          <p:cNvGrpSpPr/>
          <p:nvPr/>
        </p:nvGrpSpPr>
        <p:grpSpPr>
          <a:xfrm>
            <a:off x="3694080" y="3824867"/>
            <a:ext cx="277200" cy="277200"/>
            <a:chOff x="1020916" y="1442088"/>
            <a:chExt cx="457200" cy="457200"/>
          </a:xfrm>
        </p:grpSpPr>
        <p:pic>
          <p:nvPicPr>
            <p:cNvPr id="1797" name="Google Shape;1797;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798" name="Google Shape;1798;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799" name="Google Shape;1799;p108"/>
          <p:cNvGrpSpPr/>
          <p:nvPr/>
        </p:nvGrpSpPr>
        <p:grpSpPr>
          <a:xfrm>
            <a:off x="2050968" y="2045917"/>
            <a:ext cx="277200" cy="277200"/>
            <a:chOff x="1020916" y="1442088"/>
            <a:chExt cx="457200" cy="457200"/>
          </a:xfrm>
        </p:grpSpPr>
        <p:pic>
          <p:nvPicPr>
            <p:cNvPr id="1800" name="Google Shape;1800;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01" name="Google Shape;1801;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802" name="Google Shape;1802;p108"/>
          <p:cNvGrpSpPr/>
          <p:nvPr/>
        </p:nvGrpSpPr>
        <p:grpSpPr>
          <a:xfrm>
            <a:off x="3729073" y="1246654"/>
            <a:ext cx="277200" cy="277200"/>
            <a:chOff x="1020916" y="1442088"/>
            <a:chExt cx="457200" cy="457200"/>
          </a:xfrm>
        </p:grpSpPr>
        <p:pic>
          <p:nvPicPr>
            <p:cNvPr id="1803" name="Google Shape;1803;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04" name="Google Shape;1804;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805" name="Google Shape;1805;p108"/>
          <p:cNvGrpSpPr/>
          <p:nvPr/>
        </p:nvGrpSpPr>
        <p:grpSpPr>
          <a:xfrm>
            <a:off x="2050973" y="4100667"/>
            <a:ext cx="277200" cy="277200"/>
            <a:chOff x="1020916" y="1442088"/>
            <a:chExt cx="457200" cy="457200"/>
          </a:xfrm>
        </p:grpSpPr>
        <p:pic>
          <p:nvPicPr>
            <p:cNvPr id="1806" name="Google Shape;1806;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07" name="Google Shape;1807;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e</a:t>
              </a:r>
              <a:endParaRPr b="1" i="0" sz="1800" u="none" cap="none" strike="noStrike">
                <a:solidFill>
                  <a:srgbClr val="FFFFFF"/>
                </a:solidFill>
                <a:latin typeface="Lexend"/>
                <a:ea typeface="Lexend"/>
                <a:cs typeface="Lexend"/>
                <a:sym typeface="Lexend"/>
              </a:endParaRPr>
            </a:p>
          </p:txBody>
        </p:sp>
      </p:grpSp>
      <p:grpSp>
        <p:nvGrpSpPr>
          <p:cNvPr id="1808" name="Google Shape;1808;p108"/>
          <p:cNvGrpSpPr/>
          <p:nvPr/>
        </p:nvGrpSpPr>
        <p:grpSpPr>
          <a:xfrm>
            <a:off x="5872743" y="3808629"/>
            <a:ext cx="277200" cy="277200"/>
            <a:chOff x="1020916" y="1442088"/>
            <a:chExt cx="457200" cy="457200"/>
          </a:xfrm>
        </p:grpSpPr>
        <p:pic>
          <p:nvPicPr>
            <p:cNvPr id="1809" name="Google Shape;1809;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10" name="Google Shape;1810;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frac{1}{4}\times\pi\times6^2+12&quot;&gt;&lt;mfrac&gt;&lt;mn&gt;1&lt;/mn&gt;&lt;mn&gt;4&lt;/mn&gt;&lt;/mfrac&gt;&lt;mo&gt;×&lt;/mo&gt;&lt;mi&gt;π&lt;/mi&gt;&lt;mo&gt;×&lt;/mo&gt;&lt;msup&gt;&lt;mn&gt;6&lt;/mn&gt;&lt;mn&gt;2&lt;/mn&gt;&lt;/msup&gt;&lt;mo&gt;+&lt;/mo&gt;&lt;mn&gt;12&lt;/mn&gt;&lt;/math&gt;" id="1811" name="Google Shape;1811;p108" title="one fourth times pi times 6 squared plus 12"/>
          <p:cNvPicPr preferRelativeResize="0"/>
          <p:nvPr/>
        </p:nvPicPr>
        <p:blipFill rotWithShape="1">
          <a:blip r:embed="rId5">
            <a:alphaModFix/>
          </a:blip>
          <a:srcRect b="0" l="0" r="0" t="0"/>
          <a:stretch/>
        </p:blipFill>
        <p:spPr>
          <a:xfrm>
            <a:off x="6226138" y="1272888"/>
            <a:ext cx="1808532" cy="568800"/>
          </a:xfrm>
          <a:prstGeom prst="rect">
            <a:avLst/>
          </a:prstGeom>
          <a:noFill/>
          <a:ln>
            <a:noFill/>
          </a:ln>
        </p:spPr>
      </p:pic>
      <p:pic>
        <p:nvPicPr>
          <p:cNvPr descr="&lt;math xmlns=&quot;http://www.w3.org/1998/Math/MathML&quot; display=&quot;block&quot; data-is-equatio=&quot;1&quot; data-latex=&quot;\frac{1}{2}\times\pi\times4^2+24&quot;&gt;&lt;mfrac&gt;&lt;mn&gt;1&lt;/mn&gt;&lt;mn&gt;2&lt;/mn&gt;&lt;/mfrac&gt;&lt;mo&gt;×&lt;/mo&gt;&lt;mi&gt;π&lt;/mi&gt;&lt;mo&gt;×&lt;/mo&gt;&lt;msup&gt;&lt;mn&gt;4&lt;/mn&gt;&lt;mn&gt;2&lt;/mn&gt;&lt;/msup&gt;&lt;mo&gt;+&lt;/mo&gt;&lt;mn&gt;24&lt;/mn&gt;&lt;/math&gt;" id="1812" name="Google Shape;1812;p108" title="one half times pi times 4 squared plus 24"/>
          <p:cNvPicPr preferRelativeResize="0"/>
          <p:nvPr/>
        </p:nvPicPr>
        <p:blipFill rotWithShape="1">
          <a:blip r:embed="rId6">
            <a:alphaModFix/>
          </a:blip>
          <a:srcRect b="0" l="0" r="0" t="0"/>
          <a:stretch/>
        </p:blipFill>
        <p:spPr>
          <a:xfrm>
            <a:off x="6226150" y="3662813"/>
            <a:ext cx="1808532" cy="568800"/>
          </a:xfrm>
          <a:prstGeom prst="rect">
            <a:avLst/>
          </a:prstGeom>
          <a:noFill/>
          <a:ln>
            <a:noFill/>
          </a:ln>
        </p:spPr>
      </p:pic>
      <p:grpSp>
        <p:nvGrpSpPr>
          <p:cNvPr id="1813" name="Google Shape;1813;p108"/>
          <p:cNvGrpSpPr/>
          <p:nvPr/>
        </p:nvGrpSpPr>
        <p:grpSpPr>
          <a:xfrm>
            <a:off x="5872743" y="1418704"/>
            <a:ext cx="277200" cy="277200"/>
            <a:chOff x="1020916" y="1442088"/>
            <a:chExt cx="457200" cy="457200"/>
          </a:xfrm>
        </p:grpSpPr>
        <p:pic>
          <p:nvPicPr>
            <p:cNvPr id="1814" name="Google Shape;1814;p10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15" name="Google Shape;1815;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i</a:t>
              </a:r>
              <a:endParaRPr b="1" i="0" sz="1800" u="none" cap="none" strike="noStrike">
                <a:solidFill>
                  <a:srgbClr val="FFFFFF"/>
                </a:solidFill>
                <a:latin typeface="Lexend"/>
                <a:ea typeface="Lexend"/>
                <a:cs typeface="Lexend"/>
                <a:sym typeface="Lexend"/>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109"/>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sp>
        <p:nvSpPr>
          <p:cNvPr id="1821" name="Google Shape;1821;p109"/>
          <p:cNvSpPr txBox="1"/>
          <p:nvPr>
            <p:ph idx="4294967295" type="body"/>
          </p:nvPr>
        </p:nvSpPr>
        <p:spPr>
          <a:xfrm>
            <a:off x="324000" y="626234"/>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1) Match the composite shape to its component parts and calculations.</a:t>
            </a:r>
            <a:endParaRPr sz="1600"/>
          </a:p>
        </p:txBody>
      </p:sp>
      <p:pic>
        <p:nvPicPr>
          <p:cNvPr id="1822" name="Google Shape;1822;p109"/>
          <p:cNvPicPr preferRelativeResize="0"/>
          <p:nvPr/>
        </p:nvPicPr>
        <p:blipFill rotWithShape="1">
          <a:blip r:embed="rId3">
            <a:alphaModFix/>
          </a:blip>
          <a:srcRect b="14521" l="36530" r="40162" t="67450"/>
          <a:stretch/>
        </p:blipFill>
        <p:spPr>
          <a:xfrm>
            <a:off x="601199" y="1057485"/>
            <a:ext cx="1176449" cy="709449"/>
          </a:xfrm>
          <a:prstGeom prst="rect">
            <a:avLst/>
          </a:prstGeom>
          <a:noFill/>
          <a:ln>
            <a:noFill/>
          </a:ln>
        </p:spPr>
      </p:pic>
      <p:sp>
        <p:nvSpPr>
          <p:cNvPr id="1823" name="Google Shape;1823;p109"/>
          <p:cNvSpPr txBox="1"/>
          <p:nvPr>
            <p:ph idx="4294967295" type="body"/>
          </p:nvPr>
        </p:nvSpPr>
        <p:spPr>
          <a:xfrm>
            <a:off x="673497" y="1799350"/>
            <a:ext cx="5367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824" name="Google Shape;1824;p109"/>
          <p:cNvCxnSpPr/>
          <p:nvPr/>
        </p:nvCxnSpPr>
        <p:spPr>
          <a:xfrm>
            <a:off x="673567" y="1766925"/>
            <a:ext cx="536700" cy="0"/>
          </a:xfrm>
          <a:prstGeom prst="straightConnector1">
            <a:avLst/>
          </a:prstGeom>
          <a:noFill/>
          <a:ln cap="flat" cmpd="sng" w="28575">
            <a:solidFill>
              <a:schemeClr val="accent5"/>
            </a:solidFill>
            <a:prstDash val="solid"/>
            <a:round/>
            <a:headEnd len="med" w="med" type="triangle"/>
            <a:tailEnd len="med" w="med" type="triangle"/>
          </a:ln>
        </p:spPr>
      </p:cxnSp>
      <p:pic>
        <p:nvPicPr>
          <p:cNvPr id="1825" name="Google Shape;1825;p109"/>
          <p:cNvPicPr preferRelativeResize="0"/>
          <p:nvPr/>
        </p:nvPicPr>
        <p:blipFill rotWithShape="1">
          <a:blip r:embed="rId3">
            <a:alphaModFix/>
          </a:blip>
          <a:srcRect b="15410" l="76369" r="322" t="54209"/>
          <a:stretch/>
        </p:blipFill>
        <p:spPr>
          <a:xfrm>
            <a:off x="603341" y="2319386"/>
            <a:ext cx="1176449" cy="1195500"/>
          </a:xfrm>
          <a:prstGeom prst="rect">
            <a:avLst/>
          </a:prstGeom>
          <a:noFill/>
          <a:ln>
            <a:noFill/>
          </a:ln>
        </p:spPr>
      </p:pic>
      <p:sp>
        <p:nvSpPr>
          <p:cNvPr id="1826" name="Google Shape;1826;p109"/>
          <p:cNvSpPr txBox="1"/>
          <p:nvPr>
            <p:ph idx="4294967295" type="body"/>
          </p:nvPr>
        </p:nvSpPr>
        <p:spPr>
          <a:xfrm>
            <a:off x="675652" y="3580939"/>
            <a:ext cx="1042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 cm</a:t>
            </a:r>
            <a:endParaRPr sz="1800"/>
          </a:p>
        </p:txBody>
      </p:sp>
      <p:cxnSp>
        <p:nvCxnSpPr>
          <p:cNvPr id="1827" name="Google Shape;1827;p109"/>
          <p:cNvCxnSpPr/>
          <p:nvPr/>
        </p:nvCxnSpPr>
        <p:spPr>
          <a:xfrm>
            <a:off x="675789" y="3548514"/>
            <a:ext cx="1042200" cy="0"/>
          </a:xfrm>
          <a:prstGeom prst="straightConnector1">
            <a:avLst/>
          </a:prstGeom>
          <a:noFill/>
          <a:ln cap="flat" cmpd="sng" w="28575">
            <a:solidFill>
              <a:schemeClr val="accent5"/>
            </a:solidFill>
            <a:prstDash val="solid"/>
            <a:round/>
            <a:headEnd len="med" w="med" type="triangle"/>
            <a:tailEnd len="med" w="med" type="triangle"/>
          </a:ln>
        </p:spPr>
      </p:cxnSp>
      <p:grpSp>
        <p:nvGrpSpPr>
          <p:cNvPr id="1828" name="Google Shape;1828;p109"/>
          <p:cNvGrpSpPr/>
          <p:nvPr/>
        </p:nvGrpSpPr>
        <p:grpSpPr>
          <a:xfrm>
            <a:off x="323993" y="1402129"/>
            <a:ext cx="277200" cy="277200"/>
            <a:chOff x="1020916" y="1442088"/>
            <a:chExt cx="457200" cy="457200"/>
          </a:xfrm>
        </p:grpSpPr>
        <p:pic>
          <p:nvPicPr>
            <p:cNvPr id="1829" name="Google Shape;1829;p10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30" name="Google Shape;1830;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831" name="Google Shape;1831;p109"/>
          <p:cNvGrpSpPr/>
          <p:nvPr/>
        </p:nvGrpSpPr>
        <p:grpSpPr>
          <a:xfrm>
            <a:off x="323998" y="3193929"/>
            <a:ext cx="277200" cy="277200"/>
            <a:chOff x="1020916" y="1442088"/>
            <a:chExt cx="457200" cy="457200"/>
          </a:xfrm>
        </p:grpSpPr>
        <p:pic>
          <p:nvPicPr>
            <p:cNvPr id="1832" name="Google Shape;1832;p10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33" name="Google Shape;1833;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frac{1}{2}\times\pi\times8^2+24&quot;&gt;&lt;mfrac&gt;&lt;mn&gt;1&lt;/mn&gt;&lt;mn&gt;2&lt;/mn&gt;&lt;/mfrac&gt;&lt;mo&gt;×&lt;/mo&gt;&lt;mi&gt;π&lt;/mi&gt;&lt;mo&gt;×&lt;/mo&gt;&lt;msup&gt;&lt;mn&gt;8&lt;/mn&gt;&lt;mn&gt;2&lt;/mn&gt;&lt;/msup&gt;&lt;mo&gt;+&lt;/mo&gt;&lt;mn&gt;24&lt;/mn&gt;&lt;/math&gt;" id="1834" name="Google Shape;1834;p109" title="one half times pi times 8 squared plus 24"/>
          <p:cNvPicPr preferRelativeResize="0"/>
          <p:nvPr/>
        </p:nvPicPr>
        <p:blipFill rotWithShape="1">
          <a:blip r:embed="rId5">
            <a:alphaModFix/>
          </a:blip>
          <a:srcRect b="0" l="0" r="0" t="0"/>
          <a:stretch/>
        </p:blipFill>
        <p:spPr>
          <a:xfrm>
            <a:off x="2839538" y="2186975"/>
            <a:ext cx="1808532" cy="568800"/>
          </a:xfrm>
          <a:prstGeom prst="rect">
            <a:avLst/>
          </a:prstGeom>
          <a:noFill/>
          <a:ln>
            <a:noFill/>
          </a:ln>
        </p:spPr>
      </p:pic>
      <p:pic>
        <p:nvPicPr>
          <p:cNvPr descr="&lt;math xmlns=&quot;http://www.w3.org/1998/Math/MathML&quot; display=&quot;block&quot; data-is-equatio=&quot;1&quot; data-latex=&quot;\frac{1}{2}\times\pi\times3^2+12&quot;&gt;&lt;mfrac&gt;&lt;mn&gt;1&lt;/mn&gt;&lt;mn&gt;2&lt;/mn&gt;&lt;/mfrac&gt;&lt;mo&gt;×&lt;/mo&gt;&lt;mi&gt;π&lt;/mi&gt;&lt;mo&gt;×&lt;/mo&gt;&lt;msup&gt;&lt;mn&gt;3&lt;/mn&gt;&lt;mn&gt;2&lt;/mn&gt;&lt;/msup&gt;&lt;mo&gt;+&lt;/mo&gt;&lt;mn&gt;12&lt;/mn&gt;&lt;/math&gt;" id="1835" name="Google Shape;1835;p109" title="one half times pi times 3 squared plus 12"/>
          <p:cNvPicPr preferRelativeResize="0"/>
          <p:nvPr/>
        </p:nvPicPr>
        <p:blipFill rotWithShape="1">
          <a:blip r:embed="rId6">
            <a:alphaModFix/>
          </a:blip>
          <a:srcRect b="0" l="0" r="0" t="0"/>
          <a:stretch/>
        </p:blipFill>
        <p:spPr>
          <a:xfrm>
            <a:off x="2839413" y="1096413"/>
            <a:ext cx="1808784" cy="568800"/>
          </a:xfrm>
          <a:prstGeom prst="rect">
            <a:avLst/>
          </a:prstGeom>
          <a:noFill/>
          <a:ln>
            <a:noFill/>
          </a:ln>
        </p:spPr>
      </p:pic>
      <p:grpSp>
        <p:nvGrpSpPr>
          <p:cNvPr id="1836" name="Google Shape;1836;p109"/>
          <p:cNvGrpSpPr/>
          <p:nvPr/>
        </p:nvGrpSpPr>
        <p:grpSpPr>
          <a:xfrm>
            <a:off x="2486143" y="2332779"/>
            <a:ext cx="277200" cy="277200"/>
            <a:chOff x="1020916" y="1442088"/>
            <a:chExt cx="457200" cy="457200"/>
          </a:xfrm>
        </p:grpSpPr>
        <p:pic>
          <p:nvPicPr>
            <p:cNvPr id="1837" name="Google Shape;1837;p10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38" name="Google Shape;1838;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grpSp>
        <p:nvGrpSpPr>
          <p:cNvPr id="1839" name="Google Shape;1839;p109"/>
          <p:cNvGrpSpPr/>
          <p:nvPr/>
        </p:nvGrpSpPr>
        <p:grpSpPr>
          <a:xfrm>
            <a:off x="2486143" y="1242229"/>
            <a:ext cx="277200" cy="277200"/>
            <a:chOff x="1020916" y="1442088"/>
            <a:chExt cx="457200" cy="457200"/>
          </a:xfrm>
        </p:grpSpPr>
        <p:pic>
          <p:nvPicPr>
            <p:cNvPr id="1840" name="Google Shape;1840;p10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841" name="Google Shape;1841;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j</a:t>
              </a:r>
              <a:endParaRPr b="1" i="0" sz="1800" u="none" cap="none" strike="noStrike">
                <a:solidFill>
                  <a:srgbClr val="FFFFFF"/>
                </a:solidFill>
                <a:latin typeface="Lexend"/>
                <a:ea typeface="Lexend"/>
                <a:cs typeface="Lexend"/>
                <a:sym typeface="Lexend"/>
              </a:endParaRPr>
            </a:p>
          </p:txBody>
        </p:sp>
      </p:grpSp>
      <p:sp>
        <p:nvSpPr>
          <p:cNvPr id="1842" name="Google Shape;1842;p109"/>
          <p:cNvSpPr txBox="1"/>
          <p:nvPr>
            <p:ph idx="4294967295" type="body"/>
          </p:nvPr>
        </p:nvSpPr>
        <p:spPr>
          <a:xfrm>
            <a:off x="2486150" y="3277525"/>
            <a:ext cx="6333900" cy="30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2000">
                <a:latin typeface="Kalam"/>
                <a:ea typeface="Kalam"/>
                <a:cs typeface="Kalam"/>
                <a:sym typeface="Kalam"/>
              </a:rPr>
              <a:t>These did not match with either shape.</a:t>
            </a:r>
            <a:endParaRPr sz="2000">
              <a:latin typeface="Kalam"/>
              <a:ea typeface="Kalam"/>
              <a:cs typeface="Kalam"/>
              <a:sym typeface="Kala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graphicFrame>
        <p:nvGraphicFramePr>
          <p:cNvPr id="1847" name="Google Shape;1847;p110"/>
          <p:cNvGraphicFramePr/>
          <p:nvPr/>
        </p:nvGraphicFramePr>
        <p:xfrm>
          <a:off x="323988" y="938275"/>
          <a:ext cx="3000000" cy="3000000"/>
        </p:xfrm>
        <a:graphic>
          <a:graphicData uri="http://schemas.openxmlformats.org/drawingml/2006/table">
            <a:tbl>
              <a:tblPr>
                <a:noFill/>
                <a:tableStyleId>{C81FF9EA-781E-435A-8130-865065205EE4}</a:tableStyleId>
              </a:tblPr>
              <a:tblGrid>
                <a:gridCol w="2028525"/>
                <a:gridCol w="2676225"/>
                <a:gridCol w="2430450"/>
                <a:gridCol w="1033425"/>
              </a:tblGrid>
              <a:tr h="10000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 broken into  parts</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calculations (addition)</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answer</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2200"/>
                        <a:buFont typeface="Arial"/>
                        <a:buNone/>
                      </a:pPr>
                      <a:r>
                        <a:rPr i="1" lang="en-GB" sz="2200" u="none" cap="none" strike="noStrike">
                          <a:latin typeface="Times New Roman"/>
                          <a:ea typeface="Times New Roman"/>
                          <a:cs typeface="Times New Roman"/>
                          <a:sym typeface="Times New Roman"/>
                        </a:rPr>
                        <a:t>π</a:t>
                      </a:r>
                      <a:r>
                        <a:rPr lang="en-GB" sz="2200" u="none" cap="none" strike="noStrike">
                          <a:latin typeface="Times New Roman"/>
                          <a:ea typeface="Times New Roman"/>
                          <a:cs typeface="Times New Roman"/>
                          <a:sym typeface="Times New Roman"/>
                        </a:rPr>
                        <a:t> + 14</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17.1 cm²</a:t>
                      </a:r>
                      <a:endParaRPr sz="2200" u="none" cap="none" strike="noStrike">
                        <a:latin typeface="Times New Roman"/>
                        <a:ea typeface="Times New Roman"/>
                        <a:cs typeface="Times New Roman"/>
                        <a:sym typeface="Times New Roman"/>
                      </a:endParaRPr>
                    </a:p>
                  </a:txBody>
                  <a:tcPr marT="0" marB="0" marR="0" marL="0" anchor="ct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164π + 384</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100"/>
                        <a:buFont typeface="Arial"/>
                        <a:buNone/>
                      </a:pPr>
                      <a:r>
                        <a:t/>
                      </a:r>
                      <a:endParaRPr sz="2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889.2 cm²</a:t>
                      </a:r>
                      <a:endParaRPr sz="2200" u="none" cap="none" strike="noStrike">
                        <a:latin typeface="Times New Roman"/>
                        <a:ea typeface="Times New Roman"/>
                        <a:cs typeface="Times New Roman"/>
                        <a:sym typeface="Times New Roman"/>
                      </a:endParaRPr>
                    </a:p>
                  </a:txBody>
                  <a:tcPr marT="0" marB="0" marR="0" marL="0" anchor="ctr"/>
                </a:tc>
              </a:tr>
            </a:tbl>
          </a:graphicData>
        </a:graphic>
      </p:graphicFrame>
      <p:sp>
        <p:nvSpPr>
          <p:cNvPr id="1848" name="Google Shape;1848;p110"/>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pic>
        <p:nvPicPr>
          <p:cNvPr id="1849" name="Google Shape;1849;p110"/>
          <p:cNvPicPr preferRelativeResize="0"/>
          <p:nvPr/>
        </p:nvPicPr>
        <p:blipFill rotWithShape="1">
          <a:blip r:embed="rId3">
            <a:alphaModFix/>
          </a:blip>
          <a:srcRect b="50592" l="0" r="11683" t="0"/>
          <a:stretch/>
        </p:blipFill>
        <p:spPr>
          <a:xfrm>
            <a:off x="695475" y="2008475"/>
            <a:ext cx="1657050" cy="986800"/>
          </a:xfrm>
          <a:prstGeom prst="rect">
            <a:avLst/>
          </a:prstGeom>
          <a:noFill/>
          <a:ln>
            <a:noFill/>
          </a:ln>
        </p:spPr>
      </p:pic>
      <p:sp>
        <p:nvSpPr>
          <p:cNvPr id="1850" name="Google Shape;1850;p110"/>
          <p:cNvSpPr txBox="1"/>
          <p:nvPr>
            <p:ph idx="4294967295" type="body"/>
          </p:nvPr>
        </p:nvSpPr>
        <p:spPr>
          <a:xfrm flipH="1">
            <a:off x="751722" y="1668575"/>
            <a:ext cx="775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7 cm</a:t>
            </a:r>
            <a:endParaRPr sz="1800"/>
          </a:p>
        </p:txBody>
      </p:sp>
      <p:cxnSp>
        <p:nvCxnSpPr>
          <p:cNvPr id="1851" name="Google Shape;1851;p110"/>
          <p:cNvCxnSpPr/>
          <p:nvPr/>
        </p:nvCxnSpPr>
        <p:spPr>
          <a:xfrm>
            <a:off x="751950" y="1954500"/>
            <a:ext cx="775200" cy="0"/>
          </a:xfrm>
          <a:prstGeom prst="straightConnector1">
            <a:avLst/>
          </a:prstGeom>
          <a:noFill/>
          <a:ln cap="flat" cmpd="sng" w="28575">
            <a:solidFill>
              <a:schemeClr val="accent5"/>
            </a:solidFill>
            <a:prstDash val="solid"/>
            <a:round/>
            <a:headEnd len="med" w="med" type="triangle"/>
            <a:tailEnd len="med" w="med" type="triangle"/>
          </a:ln>
        </p:spPr>
      </p:cxnSp>
      <p:sp>
        <p:nvSpPr>
          <p:cNvPr id="1852" name="Google Shape;1852;p110"/>
          <p:cNvSpPr txBox="1"/>
          <p:nvPr>
            <p:ph idx="4294967295" type="body"/>
          </p:nvPr>
        </p:nvSpPr>
        <p:spPr>
          <a:xfrm rot="-5400000">
            <a:off x="62925" y="2352415"/>
            <a:ext cx="874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853" name="Google Shape;1853;p110"/>
          <p:cNvCxnSpPr/>
          <p:nvPr/>
        </p:nvCxnSpPr>
        <p:spPr>
          <a:xfrm rot="5400000">
            <a:off x="220600" y="2479675"/>
            <a:ext cx="877200" cy="0"/>
          </a:xfrm>
          <a:prstGeom prst="straightConnector1">
            <a:avLst/>
          </a:prstGeom>
          <a:noFill/>
          <a:ln cap="flat" cmpd="sng" w="28575">
            <a:solidFill>
              <a:schemeClr val="accent5"/>
            </a:solidFill>
            <a:prstDash val="solid"/>
            <a:round/>
            <a:headEnd len="med" w="med" type="triangle"/>
            <a:tailEnd len="med" w="med" type="triangle"/>
          </a:ln>
        </p:spPr>
      </p:cxnSp>
      <p:pic>
        <p:nvPicPr>
          <p:cNvPr id="1854" name="Google Shape;1854;p110"/>
          <p:cNvPicPr preferRelativeResize="0"/>
          <p:nvPr/>
        </p:nvPicPr>
        <p:blipFill rotWithShape="1">
          <a:blip r:embed="rId3">
            <a:alphaModFix/>
          </a:blip>
          <a:srcRect b="-2444" l="0" r="49660" t="53038"/>
          <a:stretch/>
        </p:blipFill>
        <p:spPr>
          <a:xfrm>
            <a:off x="3936050" y="2008475"/>
            <a:ext cx="944525" cy="986800"/>
          </a:xfrm>
          <a:prstGeom prst="rect">
            <a:avLst/>
          </a:prstGeom>
          <a:noFill/>
          <a:ln>
            <a:noFill/>
          </a:ln>
        </p:spPr>
      </p:pic>
      <p:pic>
        <p:nvPicPr>
          <p:cNvPr id="1855" name="Google Shape;1855;p110"/>
          <p:cNvPicPr preferRelativeResize="0"/>
          <p:nvPr/>
        </p:nvPicPr>
        <p:blipFill rotWithShape="1">
          <a:blip r:embed="rId3">
            <a:alphaModFix/>
          </a:blip>
          <a:srcRect b="-2444" l="59089" r="-404" t="53038"/>
          <a:stretch/>
        </p:blipFill>
        <p:spPr>
          <a:xfrm>
            <a:off x="2499588" y="2008475"/>
            <a:ext cx="775200" cy="986800"/>
          </a:xfrm>
          <a:prstGeom prst="rect">
            <a:avLst/>
          </a:prstGeom>
          <a:noFill/>
          <a:ln>
            <a:noFill/>
          </a:ln>
        </p:spPr>
      </p:pic>
      <p:sp>
        <p:nvSpPr>
          <p:cNvPr id="1856" name="Google Shape;1856;p110"/>
          <p:cNvSpPr txBox="1"/>
          <p:nvPr>
            <p:ph idx="4294967295" type="body"/>
          </p:nvPr>
        </p:nvSpPr>
        <p:spPr>
          <a:xfrm rot="-5400000">
            <a:off x="3282482" y="2352415"/>
            <a:ext cx="8742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 cm</a:t>
            </a:r>
            <a:endParaRPr sz="1800"/>
          </a:p>
        </p:txBody>
      </p:sp>
      <p:cxnSp>
        <p:nvCxnSpPr>
          <p:cNvPr id="1857" name="Google Shape;1857;p110"/>
          <p:cNvCxnSpPr/>
          <p:nvPr/>
        </p:nvCxnSpPr>
        <p:spPr>
          <a:xfrm rot="5400000">
            <a:off x="3440157" y="2479675"/>
            <a:ext cx="8772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858" name="Google Shape;1858;p110"/>
          <p:cNvCxnSpPr/>
          <p:nvPr/>
        </p:nvCxnSpPr>
        <p:spPr>
          <a:xfrm>
            <a:off x="2499713" y="1954500"/>
            <a:ext cx="775200" cy="0"/>
          </a:xfrm>
          <a:prstGeom prst="straightConnector1">
            <a:avLst/>
          </a:prstGeom>
          <a:noFill/>
          <a:ln cap="flat" cmpd="sng" w="28575">
            <a:solidFill>
              <a:schemeClr val="accent5"/>
            </a:solidFill>
            <a:prstDash val="solid"/>
            <a:round/>
            <a:headEnd len="med" w="med" type="triangle"/>
            <a:tailEnd len="med" w="med" type="triangle"/>
          </a:ln>
        </p:spPr>
      </p:cxnSp>
      <p:sp>
        <p:nvSpPr>
          <p:cNvPr id="1859" name="Google Shape;1859;p110"/>
          <p:cNvSpPr txBox="1"/>
          <p:nvPr>
            <p:ph idx="4294967295" type="body"/>
          </p:nvPr>
        </p:nvSpPr>
        <p:spPr>
          <a:xfrm flipH="1">
            <a:off x="2414951" y="1611278"/>
            <a:ext cx="9444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solidFill>
                  <a:srgbClr val="E6F2F2"/>
                </a:solidFill>
                <a:latin typeface="Arial"/>
                <a:ea typeface="Arial"/>
                <a:cs typeface="Arial"/>
                <a:sym typeface="Arial"/>
              </a:rPr>
              <a:t>___</a:t>
            </a:r>
            <a:r>
              <a:rPr lang="en-GB" sz="1800">
                <a:solidFill>
                  <a:srgbClr val="E6F2F2"/>
                </a:solidFill>
              </a:rPr>
              <a:t> </a:t>
            </a:r>
            <a:r>
              <a:rPr lang="en-GB" sz="1800"/>
              <a:t>cm</a:t>
            </a:r>
            <a:endParaRPr sz="1800"/>
          </a:p>
        </p:txBody>
      </p:sp>
      <p:pic>
        <p:nvPicPr>
          <p:cNvPr descr="&lt;math xmlns=&quot;http://www.w3.org/1998/Math/MathML&quot; display=&quot;block&quot; data-is-equatio=&quot;1&quot; data-latex=&quot;2\times\ \ \ \ \ +\frac{1}{4}\times\pi\times2^2&quot;&gt;&lt;mn&gt;2&lt;/mn&gt;&lt;mo&gt;×&lt;/mo&gt;&lt;mtext&gt;&lt;/mtext&gt;&lt;mtext&gt;&lt;/mtext&gt;&lt;mtext&gt;&lt;/mtext&gt;&lt;mtext&gt;&lt;/mtext&gt;&lt;mtext&gt;&lt;/mtext&gt;&lt;mo&gt;+&lt;/mo&gt;&lt;mfrac&gt;&lt;mn&gt;1&lt;/mn&gt;&lt;mn&gt;4&lt;/mn&gt;&lt;/mfrac&gt;&lt;mo&gt;×&lt;/mo&gt;&lt;mi&gt;π&lt;/mi&gt;&lt;mo&gt;×&lt;/mo&gt;&lt;msup&gt;&lt;mn&gt;2&lt;/mn&gt;&lt;mn&gt;2&lt;/mn&gt;&lt;/msup&gt;&lt;/math&gt;" id="1860" name="Google Shape;1860;p110" title="2 times positive one fourth times pi times 2 squared"/>
          <p:cNvPicPr preferRelativeResize="0"/>
          <p:nvPr/>
        </p:nvPicPr>
        <p:blipFill rotWithShape="1">
          <a:blip r:embed="rId4">
            <a:alphaModFix/>
          </a:blip>
          <a:srcRect b="0" l="0" r="0" t="0"/>
          <a:stretch/>
        </p:blipFill>
        <p:spPr>
          <a:xfrm>
            <a:off x="5086613" y="2084013"/>
            <a:ext cx="2313119" cy="568800"/>
          </a:xfrm>
          <a:prstGeom prst="rect">
            <a:avLst/>
          </a:prstGeom>
          <a:noFill/>
          <a:ln>
            <a:noFill/>
          </a:ln>
        </p:spPr>
      </p:pic>
      <p:pic>
        <p:nvPicPr>
          <p:cNvPr id="1861" name="Google Shape;1861;p110"/>
          <p:cNvPicPr preferRelativeResize="0"/>
          <p:nvPr/>
        </p:nvPicPr>
        <p:blipFill rotWithShape="1">
          <a:blip r:embed="rId5">
            <a:alphaModFix/>
          </a:blip>
          <a:srcRect b="24197" l="7610" r="45668" t="43362"/>
          <a:stretch/>
        </p:blipFill>
        <p:spPr>
          <a:xfrm>
            <a:off x="359808" y="3164825"/>
            <a:ext cx="1989101" cy="1203775"/>
          </a:xfrm>
          <a:prstGeom prst="rect">
            <a:avLst/>
          </a:prstGeom>
          <a:noFill/>
          <a:ln>
            <a:noFill/>
          </a:ln>
        </p:spPr>
      </p:pic>
      <p:sp>
        <p:nvSpPr>
          <p:cNvPr id="1862" name="Google Shape;1862;p110"/>
          <p:cNvSpPr txBox="1"/>
          <p:nvPr>
            <p:ph idx="4294967295" type="body"/>
          </p:nvPr>
        </p:nvSpPr>
        <p:spPr>
          <a:xfrm rot="-5400000">
            <a:off x="32725" y="3920374"/>
            <a:ext cx="789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863" name="Google Shape;1863;p110"/>
          <p:cNvCxnSpPr/>
          <p:nvPr/>
        </p:nvCxnSpPr>
        <p:spPr>
          <a:xfrm rot="5400000">
            <a:off x="349100" y="4047452"/>
            <a:ext cx="474900" cy="0"/>
          </a:xfrm>
          <a:prstGeom prst="straightConnector1">
            <a:avLst/>
          </a:prstGeom>
          <a:noFill/>
          <a:ln cap="flat" cmpd="sng" w="28575">
            <a:solidFill>
              <a:schemeClr val="accent5"/>
            </a:solidFill>
            <a:prstDash val="solid"/>
            <a:round/>
            <a:headEnd len="med" w="med" type="triangle"/>
            <a:tailEnd len="med" w="med" type="triangle"/>
          </a:ln>
        </p:spPr>
      </p:cxnSp>
      <p:sp>
        <p:nvSpPr>
          <p:cNvPr id="1864" name="Google Shape;1864;p110"/>
          <p:cNvSpPr txBox="1"/>
          <p:nvPr>
            <p:ph idx="4294967295" type="body"/>
          </p:nvPr>
        </p:nvSpPr>
        <p:spPr>
          <a:xfrm flipH="1">
            <a:off x="689302" y="4407251"/>
            <a:ext cx="1164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32 cm</a:t>
            </a:r>
            <a:endParaRPr sz="1800"/>
          </a:p>
        </p:txBody>
      </p:sp>
      <p:cxnSp>
        <p:nvCxnSpPr>
          <p:cNvPr id="1865" name="Google Shape;1865;p110"/>
          <p:cNvCxnSpPr/>
          <p:nvPr/>
        </p:nvCxnSpPr>
        <p:spPr>
          <a:xfrm rot="10800000">
            <a:off x="687791" y="4374826"/>
            <a:ext cx="1165800" cy="0"/>
          </a:xfrm>
          <a:prstGeom prst="straightConnector1">
            <a:avLst/>
          </a:prstGeom>
          <a:noFill/>
          <a:ln cap="flat" cmpd="sng" w="28575">
            <a:solidFill>
              <a:schemeClr val="accent5"/>
            </a:solidFill>
            <a:prstDash val="solid"/>
            <a:round/>
            <a:headEnd len="med" w="med" type="triangle"/>
            <a:tailEnd len="med" w="med" type="triangle"/>
          </a:ln>
        </p:spPr>
      </p:cxnSp>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866" name="Google Shape;1866;p110" title="one fourth times pi times to the second power plus one half times pi times to the second power plus times"/>
          <p:cNvPicPr preferRelativeResize="0"/>
          <p:nvPr/>
        </p:nvPicPr>
        <p:blipFill rotWithShape="1">
          <a:blip r:embed="rId6">
            <a:alphaModFix/>
          </a:blip>
          <a:srcRect b="0" l="30376" r="57038" t="0"/>
          <a:stretch/>
        </p:blipFill>
        <p:spPr>
          <a:xfrm>
            <a:off x="6159368" y="3164825"/>
            <a:ext cx="490875" cy="478800"/>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867" name="Google Shape;1867;p110" title="one fourth times pi times to the second power plus one half times pi times to the second power plus times"/>
          <p:cNvPicPr preferRelativeResize="0"/>
          <p:nvPr/>
        </p:nvPicPr>
        <p:blipFill rotWithShape="1">
          <a:blip r:embed="rId6">
            <a:alphaModFix/>
          </a:blip>
          <a:srcRect b="0" l="72536" r="14878" t="0"/>
          <a:stretch/>
        </p:blipFill>
        <p:spPr>
          <a:xfrm>
            <a:off x="6070207" y="3746175"/>
            <a:ext cx="490875" cy="478800"/>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868" name="Google Shape;1868;p110" title="one fourth times pi times to the second power plus one half times pi times to the second power plus times"/>
          <p:cNvPicPr preferRelativeResize="0"/>
          <p:nvPr/>
        </p:nvPicPr>
        <p:blipFill rotWithShape="1">
          <a:blip r:embed="rId6">
            <a:alphaModFix/>
          </a:blip>
          <a:srcRect b="0" l="93771" r="-3613" t="0"/>
          <a:stretch/>
        </p:blipFill>
        <p:spPr>
          <a:xfrm>
            <a:off x="5581724" y="4327500"/>
            <a:ext cx="383926" cy="478800"/>
          </a:xfrm>
          <a:prstGeom prst="rect">
            <a:avLst/>
          </a:prstGeom>
          <a:noFill/>
          <a:ln>
            <a:noFill/>
          </a:ln>
        </p:spPr>
      </p:pic>
      <p:sp>
        <p:nvSpPr>
          <p:cNvPr id="1869" name="Google Shape;1869;p110"/>
          <p:cNvSpPr txBox="1"/>
          <p:nvPr>
            <p:ph idx="4294967295" type="body"/>
          </p:nvPr>
        </p:nvSpPr>
        <p:spPr>
          <a:xfrm flipH="1">
            <a:off x="5840773" y="3277471"/>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12</a:t>
            </a:r>
            <a:endParaRPr sz="2000">
              <a:latin typeface="Kalam"/>
              <a:ea typeface="Kalam"/>
              <a:cs typeface="Kalam"/>
              <a:sym typeface="Kalam"/>
            </a:endParaRPr>
          </a:p>
        </p:txBody>
      </p:sp>
      <p:sp>
        <p:nvSpPr>
          <p:cNvPr id="1870" name="Google Shape;1870;p110"/>
          <p:cNvSpPr txBox="1"/>
          <p:nvPr>
            <p:ph idx="4294967295" type="body"/>
          </p:nvPr>
        </p:nvSpPr>
        <p:spPr>
          <a:xfrm flipH="1">
            <a:off x="5840783" y="3858821"/>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16</a:t>
            </a:r>
            <a:endParaRPr sz="2000">
              <a:latin typeface="Kalam"/>
              <a:ea typeface="Kalam"/>
              <a:cs typeface="Kalam"/>
              <a:sym typeface="Kalam"/>
            </a:endParaRPr>
          </a:p>
        </p:txBody>
      </p:sp>
      <p:sp>
        <p:nvSpPr>
          <p:cNvPr id="1871" name="Google Shape;1871;p110"/>
          <p:cNvSpPr txBox="1"/>
          <p:nvPr>
            <p:ph idx="4294967295" type="body"/>
          </p:nvPr>
        </p:nvSpPr>
        <p:spPr>
          <a:xfrm flipH="1">
            <a:off x="5277973" y="4440158"/>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12</a:t>
            </a:r>
            <a:endParaRPr sz="2000">
              <a:latin typeface="Kalam"/>
              <a:ea typeface="Kalam"/>
              <a:cs typeface="Kalam"/>
              <a:sym typeface="Kalam"/>
            </a:endParaRPr>
          </a:p>
        </p:txBody>
      </p:sp>
      <p:sp>
        <p:nvSpPr>
          <p:cNvPr id="1872" name="Google Shape;1872;p110"/>
          <p:cNvSpPr txBox="1"/>
          <p:nvPr>
            <p:ph idx="4294967295" type="body"/>
          </p:nvPr>
        </p:nvSpPr>
        <p:spPr>
          <a:xfrm flipH="1">
            <a:off x="5840773" y="4440158"/>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32</a:t>
            </a:r>
            <a:endParaRPr sz="2000">
              <a:latin typeface="Kalam"/>
              <a:ea typeface="Kalam"/>
              <a:cs typeface="Kalam"/>
              <a:sym typeface="Kalam"/>
            </a:endParaRPr>
          </a:p>
        </p:txBody>
      </p:sp>
      <p:sp>
        <p:nvSpPr>
          <p:cNvPr id="1873" name="Google Shape;1873;p110"/>
          <p:cNvSpPr txBox="1"/>
          <p:nvPr>
            <p:ph idx="4294967295" type="body"/>
          </p:nvPr>
        </p:nvSpPr>
        <p:spPr>
          <a:xfrm flipH="1">
            <a:off x="5517223" y="2271441"/>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7</a:t>
            </a:r>
            <a:endParaRPr sz="2000">
              <a:latin typeface="Kalam"/>
              <a:ea typeface="Kalam"/>
              <a:cs typeface="Kalam"/>
              <a:sym typeface="Kalam"/>
            </a:endParaRPr>
          </a:p>
        </p:txBody>
      </p:sp>
      <p:sp>
        <p:nvSpPr>
          <p:cNvPr id="1874" name="Google Shape;1874;p110"/>
          <p:cNvSpPr txBox="1"/>
          <p:nvPr>
            <p:ph idx="4294967295" type="body"/>
          </p:nvPr>
        </p:nvSpPr>
        <p:spPr>
          <a:xfrm flipH="1">
            <a:off x="2575848" y="1604471"/>
            <a:ext cx="3840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7</a:t>
            </a:r>
            <a:endParaRPr sz="2000">
              <a:latin typeface="Kalam"/>
              <a:ea typeface="Kalam"/>
              <a:cs typeface="Kalam"/>
              <a:sym typeface="Kalam"/>
            </a:endParaRPr>
          </a:p>
        </p:txBody>
      </p:sp>
      <p:pic>
        <p:nvPicPr>
          <p:cNvPr id="1875" name="Google Shape;1875;p110"/>
          <p:cNvPicPr preferRelativeResize="0"/>
          <p:nvPr/>
        </p:nvPicPr>
        <p:blipFill rotWithShape="1">
          <a:blip r:embed="rId5">
            <a:alphaModFix/>
          </a:blip>
          <a:srcRect b="1607" l="12979" r="55479" t="79665"/>
          <a:stretch/>
        </p:blipFill>
        <p:spPr>
          <a:xfrm>
            <a:off x="2412725" y="3125056"/>
            <a:ext cx="1342825" cy="694875"/>
          </a:xfrm>
          <a:prstGeom prst="rect">
            <a:avLst/>
          </a:prstGeom>
          <a:noFill/>
          <a:ln>
            <a:noFill/>
          </a:ln>
        </p:spPr>
      </p:pic>
      <p:pic>
        <p:nvPicPr>
          <p:cNvPr id="1876" name="Google Shape;1876;p110"/>
          <p:cNvPicPr preferRelativeResize="0"/>
          <p:nvPr/>
        </p:nvPicPr>
        <p:blipFill rotWithShape="1">
          <a:blip r:embed="rId5">
            <a:alphaModFix/>
          </a:blip>
          <a:srcRect b="25581" l="58154" r="10303" t="58302"/>
          <a:stretch/>
        </p:blipFill>
        <p:spPr>
          <a:xfrm>
            <a:off x="2412725" y="4116642"/>
            <a:ext cx="1342825" cy="598000"/>
          </a:xfrm>
          <a:prstGeom prst="rect">
            <a:avLst/>
          </a:prstGeom>
          <a:noFill/>
          <a:ln>
            <a:noFill/>
          </a:ln>
        </p:spPr>
      </p:pic>
      <p:pic>
        <p:nvPicPr>
          <p:cNvPr id="1877" name="Google Shape;1877;p110"/>
          <p:cNvPicPr preferRelativeResize="0"/>
          <p:nvPr/>
        </p:nvPicPr>
        <p:blipFill rotWithShape="1">
          <a:blip r:embed="rId5">
            <a:alphaModFix/>
          </a:blip>
          <a:srcRect b="25918" l="42424" r="46045" t="60605"/>
          <a:stretch/>
        </p:blipFill>
        <p:spPr>
          <a:xfrm>
            <a:off x="4423200" y="4205079"/>
            <a:ext cx="490875" cy="500025"/>
          </a:xfrm>
          <a:prstGeom prst="rect">
            <a:avLst/>
          </a:prstGeom>
          <a:noFill/>
          <a:ln>
            <a:noFill/>
          </a:ln>
        </p:spPr>
      </p:pic>
      <p:sp>
        <p:nvSpPr>
          <p:cNvPr id="1878" name="Google Shape;1878;p110"/>
          <p:cNvSpPr txBox="1"/>
          <p:nvPr>
            <p:ph idx="4294967295" type="body"/>
          </p:nvPr>
        </p:nvSpPr>
        <p:spPr>
          <a:xfrm rot="-5400000">
            <a:off x="3793175" y="4322990"/>
            <a:ext cx="789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12 cm</a:t>
            </a:r>
            <a:endParaRPr sz="1800"/>
          </a:p>
        </p:txBody>
      </p:sp>
      <p:cxnSp>
        <p:nvCxnSpPr>
          <p:cNvPr id="1879" name="Google Shape;1879;p110"/>
          <p:cNvCxnSpPr/>
          <p:nvPr/>
        </p:nvCxnSpPr>
        <p:spPr>
          <a:xfrm rot="5400000">
            <a:off x="4109550" y="4450068"/>
            <a:ext cx="474900" cy="0"/>
          </a:xfrm>
          <a:prstGeom prst="straightConnector1">
            <a:avLst/>
          </a:prstGeom>
          <a:noFill/>
          <a:ln cap="flat" cmpd="sng" w="28575">
            <a:solidFill>
              <a:schemeClr val="accent5"/>
            </a:solidFill>
            <a:prstDash val="solid"/>
            <a:round/>
            <a:headEnd len="med" w="med" type="triangle"/>
            <a:tailEnd len="med" w="med" type="triangle"/>
          </a:ln>
        </p:spPr>
      </p:cxnSp>
      <p:sp>
        <p:nvSpPr>
          <p:cNvPr id="1880" name="Google Shape;1880;p110"/>
          <p:cNvSpPr txBox="1"/>
          <p:nvPr>
            <p:ph idx="4294967295" type="body"/>
          </p:nvPr>
        </p:nvSpPr>
        <p:spPr>
          <a:xfrm flipH="1">
            <a:off x="2496164" y="3892693"/>
            <a:ext cx="1164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32 cm</a:t>
            </a:r>
            <a:endParaRPr sz="1800"/>
          </a:p>
        </p:txBody>
      </p:sp>
      <p:cxnSp>
        <p:nvCxnSpPr>
          <p:cNvPr id="1881" name="Google Shape;1881;p110"/>
          <p:cNvCxnSpPr/>
          <p:nvPr/>
        </p:nvCxnSpPr>
        <p:spPr>
          <a:xfrm rot="10800000">
            <a:off x="2494653" y="3860268"/>
            <a:ext cx="1165800" cy="0"/>
          </a:xfrm>
          <a:prstGeom prst="straightConnector1">
            <a:avLst/>
          </a:prstGeom>
          <a:noFill/>
          <a:ln cap="flat" cmpd="sng" w="28575">
            <a:solidFill>
              <a:schemeClr val="accent5"/>
            </a:solidFill>
            <a:prstDash val="solid"/>
            <a:round/>
            <a:headEnd len="med" w="med" type="triangle"/>
            <a:tailEnd len="med" w="med" type="triangle"/>
          </a:ln>
        </p:spPr>
      </p:cxnSp>
      <p:sp>
        <p:nvSpPr>
          <p:cNvPr id="1882" name="Google Shape;1882;p110"/>
          <p:cNvSpPr txBox="1"/>
          <p:nvPr>
            <p:ph idx="4294967295" type="body"/>
          </p:nvPr>
        </p:nvSpPr>
        <p:spPr>
          <a:xfrm>
            <a:off x="324575" y="148140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a) </a:t>
            </a:r>
            <a:endParaRPr i="1" sz="1800">
              <a:latin typeface="Times New Roman"/>
              <a:ea typeface="Times New Roman"/>
              <a:cs typeface="Times New Roman"/>
              <a:sym typeface="Times New Roman"/>
            </a:endParaRPr>
          </a:p>
        </p:txBody>
      </p:sp>
      <p:sp>
        <p:nvSpPr>
          <p:cNvPr id="1883" name="Google Shape;1883;p110"/>
          <p:cNvSpPr txBox="1"/>
          <p:nvPr>
            <p:ph idx="4294967295" type="body"/>
          </p:nvPr>
        </p:nvSpPr>
        <p:spPr>
          <a:xfrm>
            <a:off x="324575" y="313035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b) </a:t>
            </a:r>
            <a:endParaRPr i="1" sz="1800">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884" name="Google Shape;1884;p110" title="one fourth times pi times to the second power plus one half times pi times to the second power plus times"/>
          <p:cNvPicPr preferRelativeResize="0"/>
          <p:nvPr/>
        </p:nvPicPr>
        <p:blipFill rotWithShape="1">
          <a:blip r:embed="rId6">
            <a:alphaModFix/>
          </a:blip>
          <a:srcRect b="0" l="44114" r="34619" t="0"/>
          <a:stretch/>
        </p:blipFill>
        <p:spPr>
          <a:xfrm>
            <a:off x="5071723" y="3746150"/>
            <a:ext cx="829500" cy="478800"/>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1885" name="Google Shape;1885;p110" title="one fourth times pi times to the second power plus one half times pi times to the second power plus times"/>
          <p:cNvPicPr preferRelativeResize="0"/>
          <p:nvPr/>
        </p:nvPicPr>
        <p:blipFill rotWithShape="1">
          <a:blip r:embed="rId6">
            <a:alphaModFix/>
          </a:blip>
          <a:srcRect b="0" l="0" r="78734" t="0"/>
          <a:stretch/>
        </p:blipFill>
        <p:spPr>
          <a:xfrm>
            <a:off x="5071723" y="3154260"/>
            <a:ext cx="829500" cy="478800"/>
          </a:xfrm>
          <a:prstGeom prst="rect">
            <a:avLst/>
          </a:prstGeom>
          <a:noFill/>
          <a:ln>
            <a:noFill/>
          </a:ln>
        </p:spPr>
      </p:pic>
      <p:sp>
        <p:nvSpPr>
          <p:cNvPr id="1886" name="Google Shape;1886;p110"/>
          <p:cNvSpPr txBox="1"/>
          <p:nvPr>
            <p:ph idx="4294967295" type="body"/>
          </p:nvPr>
        </p:nvSpPr>
        <p:spPr>
          <a:xfrm>
            <a:off x="324000" y="639411"/>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2) Complete the table. Give your answer as both a decimal and in terms of </a:t>
            </a:r>
            <a:r>
              <a:rPr i="1" lang="en-GB" sz="1600">
                <a:latin typeface="Times New Roman"/>
                <a:ea typeface="Times New Roman"/>
                <a:cs typeface="Times New Roman"/>
                <a:sym typeface="Times New Roman"/>
              </a:rPr>
              <a:t>π</a:t>
            </a:r>
            <a:r>
              <a:rPr lang="en-GB" sz="1600"/>
              <a:t>.</a:t>
            </a:r>
            <a:endParaRPr i="1" sz="16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11"/>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graphicFrame>
        <p:nvGraphicFramePr>
          <p:cNvPr id="1892" name="Google Shape;1892;p111"/>
          <p:cNvGraphicFramePr/>
          <p:nvPr/>
        </p:nvGraphicFramePr>
        <p:xfrm>
          <a:off x="323988" y="919414"/>
          <a:ext cx="3000000" cy="3000000"/>
        </p:xfrm>
        <a:graphic>
          <a:graphicData uri="http://schemas.openxmlformats.org/drawingml/2006/table">
            <a:tbl>
              <a:tblPr>
                <a:noFill/>
                <a:tableStyleId>{C81FF9EA-781E-435A-8130-865065205EE4}</a:tableStyleId>
              </a:tblPr>
              <a:tblGrid>
                <a:gridCol w="2028525"/>
                <a:gridCol w="2676225"/>
                <a:gridCol w="2430450"/>
                <a:gridCol w="1033425"/>
              </a:tblGrid>
              <a:tr h="10000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shape broken into parts</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calculations (addition)</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lt1"/>
                          </a:solidFill>
                          <a:latin typeface="Lexend"/>
                          <a:ea typeface="Lexend"/>
                          <a:cs typeface="Lexend"/>
                          <a:sym typeface="Lexend"/>
                        </a:rPr>
                        <a:t>answer</a:t>
                      </a:r>
                      <a:endParaRPr sz="1800" u="none" cap="none" strike="noStrike">
                        <a:solidFill>
                          <a:schemeClr val="lt1"/>
                        </a:solidFill>
                        <a:latin typeface="Lexend"/>
                        <a:ea typeface="Lexend"/>
                        <a:cs typeface="Lexend"/>
                        <a:sym typeface="Lexend"/>
                      </a:endParaRPr>
                    </a:p>
                  </a:txBody>
                  <a:tcPr marT="0" marB="0" marR="0" marL="0" anchor="ctr">
                    <a:solidFill>
                      <a:schemeClr val="accent5"/>
                    </a:solidFill>
                  </a:tcP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432</a:t>
                      </a:r>
                      <a:r>
                        <a:rPr i="1" lang="en-GB" sz="2200" u="none" cap="none" strike="noStrike">
                          <a:latin typeface="Times New Roman"/>
                          <a:ea typeface="Times New Roman"/>
                          <a:cs typeface="Times New Roman"/>
                          <a:sym typeface="Times New Roman"/>
                        </a:rPr>
                        <a:t>π</a:t>
                      </a:r>
                      <a:r>
                        <a:rPr lang="en-GB" sz="2200" u="none" cap="none" strike="noStrike">
                          <a:latin typeface="Times New Roman"/>
                          <a:ea typeface="Times New Roman"/>
                          <a:cs typeface="Times New Roman"/>
                          <a:sym typeface="Times New Roman"/>
                        </a:rPr>
                        <a:t> + 576</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latin typeface="Times New Roman"/>
                          <a:ea typeface="Times New Roman"/>
                          <a:cs typeface="Times New Roman"/>
                          <a:sym typeface="Times New Roman"/>
                        </a:rPr>
                        <a:t>1933.2 cm²</a:t>
                      </a:r>
                      <a:endParaRPr sz="2200" u="none" cap="none" strike="noStrike">
                        <a:latin typeface="Times New Roman"/>
                        <a:ea typeface="Times New Roman"/>
                        <a:cs typeface="Times New Roman"/>
                        <a:sym typeface="Times New Roman"/>
                      </a:endParaRPr>
                    </a:p>
                  </a:txBody>
                  <a:tcPr marT="0" marB="0" marR="0" marL="0" anchor="ctr"/>
                </a:tc>
              </a:tr>
              <a:tr h="16419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0" marL="0" anchor="ctr"/>
                </a:tc>
                <a:tc>
                  <a:txBody>
                    <a:bodyPr/>
                    <a:lstStyle/>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98</a:t>
                      </a:r>
                      <a:r>
                        <a:rPr i="1" lang="en-GB" sz="2200" u="none" cap="none" strike="noStrike">
                          <a:solidFill>
                            <a:schemeClr val="dk1"/>
                          </a:solidFill>
                          <a:latin typeface="Times New Roman"/>
                          <a:ea typeface="Times New Roman"/>
                          <a:cs typeface="Times New Roman"/>
                          <a:sym typeface="Times New Roman"/>
                        </a:rPr>
                        <a:t>π</a:t>
                      </a:r>
                      <a:r>
                        <a:rPr lang="en-GB" sz="2200" u="none" cap="none" strike="noStrike">
                          <a:solidFill>
                            <a:schemeClr val="dk1"/>
                          </a:solidFill>
                          <a:latin typeface="Times New Roman"/>
                          <a:ea typeface="Times New Roman"/>
                          <a:cs typeface="Times New Roman"/>
                          <a:sym typeface="Times New Roman"/>
                        </a:rPr>
                        <a:t> + 616</a:t>
                      </a:r>
                      <a:endParaRPr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sz="2200" u="none" cap="none" strike="noStrike">
                          <a:solidFill>
                            <a:schemeClr val="dk1"/>
                          </a:solidFill>
                          <a:latin typeface="Times New Roman"/>
                          <a:ea typeface="Times New Roman"/>
                          <a:cs typeface="Times New Roman"/>
                          <a:sym typeface="Times New Roman"/>
                        </a:rPr>
                        <a:t>923.9 cm²</a:t>
                      </a:r>
                      <a:endParaRPr sz="2200" u="none" cap="none" strike="noStrike">
                        <a:latin typeface="Times New Roman"/>
                        <a:ea typeface="Times New Roman"/>
                        <a:cs typeface="Times New Roman"/>
                        <a:sym typeface="Times New Roman"/>
                      </a:endParaRPr>
                    </a:p>
                  </a:txBody>
                  <a:tcPr marT="0" marB="0" marR="0" marL="0" anchor="ctr"/>
                </a:tc>
              </a:tr>
            </a:tbl>
          </a:graphicData>
        </a:graphic>
      </p:graphicFrame>
      <p:pic>
        <p:nvPicPr>
          <p:cNvPr id="1893" name="Google Shape;1893;p111"/>
          <p:cNvPicPr preferRelativeResize="0"/>
          <p:nvPr/>
        </p:nvPicPr>
        <p:blipFill rotWithShape="1">
          <a:blip r:embed="rId3">
            <a:alphaModFix/>
          </a:blip>
          <a:srcRect b="63243" l="0" r="65852" t="0"/>
          <a:stretch/>
        </p:blipFill>
        <p:spPr>
          <a:xfrm>
            <a:off x="595123" y="1522362"/>
            <a:ext cx="1471650" cy="1380725"/>
          </a:xfrm>
          <a:prstGeom prst="rect">
            <a:avLst/>
          </a:prstGeom>
          <a:noFill/>
          <a:ln>
            <a:noFill/>
          </a:ln>
        </p:spPr>
      </p:pic>
      <p:cxnSp>
        <p:nvCxnSpPr>
          <p:cNvPr id="1894" name="Google Shape;1894;p111"/>
          <p:cNvCxnSpPr/>
          <p:nvPr/>
        </p:nvCxnSpPr>
        <p:spPr>
          <a:xfrm>
            <a:off x="790795" y="2857365"/>
            <a:ext cx="608100" cy="0"/>
          </a:xfrm>
          <a:prstGeom prst="straightConnector1">
            <a:avLst/>
          </a:prstGeom>
          <a:noFill/>
          <a:ln cap="flat" cmpd="sng" w="28575">
            <a:solidFill>
              <a:schemeClr val="accent5"/>
            </a:solidFill>
            <a:prstDash val="solid"/>
            <a:round/>
            <a:headEnd len="med" w="med" type="triangle"/>
            <a:tailEnd len="med" w="med" type="triangle"/>
          </a:ln>
        </p:spPr>
      </p:cxnSp>
      <p:sp>
        <p:nvSpPr>
          <p:cNvPr id="1895" name="Google Shape;1895;p111"/>
          <p:cNvSpPr txBox="1"/>
          <p:nvPr>
            <p:ph idx="4294967295" type="body"/>
          </p:nvPr>
        </p:nvSpPr>
        <p:spPr>
          <a:xfrm flipH="1">
            <a:off x="677923" y="2876239"/>
            <a:ext cx="8337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 cm</a:t>
            </a:r>
            <a:endParaRPr sz="1800"/>
          </a:p>
        </p:txBody>
      </p:sp>
      <p:pic>
        <p:nvPicPr>
          <p:cNvPr id="1896" name="Google Shape;1896;p111"/>
          <p:cNvPicPr preferRelativeResize="0"/>
          <p:nvPr/>
        </p:nvPicPr>
        <p:blipFill rotWithShape="1">
          <a:blip r:embed="rId4">
            <a:alphaModFix/>
          </a:blip>
          <a:srcRect b="0" l="55636" r="0" t="49821"/>
          <a:stretch/>
        </p:blipFill>
        <p:spPr>
          <a:xfrm rot="5400000">
            <a:off x="644140" y="3067972"/>
            <a:ext cx="1129959" cy="1703040"/>
          </a:xfrm>
          <a:prstGeom prst="rect">
            <a:avLst/>
          </a:prstGeom>
          <a:noFill/>
          <a:ln>
            <a:noFill/>
          </a:ln>
        </p:spPr>
      </p:pic>
      <p:cxnSp>
        <p:nvCxnSpPr>
          <p:cNvPr id="1897" name="Google Shape;1897;p111"/>
          <p:cNvCxnSpPr/>
          <p:nvPr/>
        </p:nvCxnSpPr>
        <p:spPr>
          <a:xfrm>
            <a:off x="883130" y="4520647"/>
            <a:ext cx="1140300" cy="0"/>
          </a:xfrm>
          <a:prstGeom prst="straightConnector1">
            <a:avLst/>
          </a:prstGeom>
          <a:noFill/>
          <a:ln cap="flat" cmpd="sng" w="28575">
            <a:solidFill>
              <a:schemeClr val="accent5"/>
            </a:solidFill>
            <a:prstDash val="solid"/>
            <a:round/>
            <a:headEnd len="med" w="med" type="triangle"/>
            <a:tailEnd len="med" w="med" type="triangle"/>
          </a:ln>
        </p:spPr>
      </p:cxnSp>
      <p:sp>
        <p:nvSpPr>
          <p:cNvPr id="1898" name="Google Shape;1898;p111"/>
          <p:cNvSpPr txBox="1"/>
          <p:nvPr>
            <p:ph idx="4294967295" type="body"/>
          </p:nvPr>
        </p:nvSpPr>
        <p:spPr>
          <a:xfrm flipH="1">
            <a:off x="883429" y="4537153"/>
            <a:ext cx="11397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44 cm</a:t>
            </a:r>
            <a:endParaRPr sz="1800"/>
          </a:p>
        </p:txBody>
      </p:sp>
      <p:cxnSp>
        <p:nvCxnSpPr>
          <p:cNvPr id="1899" name="Google Shape;1899;p111"/>
          <p:cNvCxnSpPr/>
          <p:nvPr/>
        </p:nvCxnSpPr>
        <p:spPr>
          <a:xfrm rot="-5400000">
            <a:off x="1597062" y="3955704"/>
            <a:ext cx="980100" cy="0"/>
          </a:xfrm>
          <a:prstGeom prst="straightConnector1">
            <a:avLst/>
          </a:prstGeom>
          <a:noFill/>
          <a:ln cap="flat" cmpd="sng" w="28575">
            <a:solidFill>
              <a:schemeClr val="accent5"/>
            </a:solidFill>
            <a:prstDash val="solid"/>
            <a:round/>
            <a:headEnd len="med" w="med" type="triangle"/>
            <a:tailEnd len="med" w="med" type="triangle"/>
          </a:ln>
        </p:spPr>
      </p:cxnSp>
      <p:sp>
        <p:nvSpPr>
          <p:cNvPr id="1900" name="Google Shape;1900;p111"/>
          <p:cNvSpPr txBox="1"/>
          <p:nvPr>
            <p:ph idx="4294967295" type="body"/>
          </p:nvPr>
        </p:nvSpPr>
        <p:spPr>
          <a:xfrm flipH="1" rot="-5400000">
            <a:off x="1724867" y="3844827"/>
            <a:ext cx="9792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28 cm</a:t>
            </a:r>
            <a:endParaRPr sz="1800"/>
          </a:p>
        </p:txBody>
      </p:sp>
      <p:pic>
        <p:nvPicPr>
          <p:cNvPr id="1901" name="Google Shape;1901;p111"/>
          <p:cNvPicPr preferRelativeResize="0"/>
          <p:nvPr/>
        </p:nvPicPr>
        <p:blipFill rotWithShape="1">
          <a:blip r:embed="rId3">
            <a:alphaModFix/>
          </a:blip>
          <a:srcRect b="60939" l="44109" r="0" t="-1000"/>
          <a:stretch/>
        </p:blipFill>
        <p:spPr>
          <a:xfrm>
            <a:off x="2415250" y="1446918"/>
            <a:ext cx="2408800" cy="1504899"/>
          </a:xfrm>
          <a:prstGeom prst="rect">
            <a:avLst/>
          </a:prstGeom>
          <a:noFill/>
          <a:ln>
            <a:noFill/>
          </a:ln>
        </p:spPr>
      </p:pic>
      <p:cxnSp>
        <p:nvCxnSpPr>
          <p:cNvPr id="1902" name="Google Shape;1902;p111"/>
          <p:cNvCxnSpPr/>
          <p:nvPr/>
        </p:nvCxnSpPr>
        <p:spPr>
          <a:xfrm>
            <a:off x="2484256" y="2857365"/>
            <a:ext cx="608100" cy="0"/>
          </a:xfrm>
          <a:prstGeom prst="straightConnector1">
            <a:avLst/>
          </a:prstGeom>
          <a:noFill/>
          <a:ln cap="flat" cmpd="sng" w="28575">
            <a:solidFill>
              <a:schemeClr val="accent5"/>
            </a:solidFill>
            <a:prstDash val="solid"/>
            <a:round/>
            <a:headEnd len="med" w="med" type="triangle"/>
            <a:tailEnd len="med" w="med" type="triangle"/>
          </a:ln>
        </p:spPr>
      </p:cxnSp>
      <p:sp>
        <p:nvSpPr>
          <p:cNvPr id="1903" name="Google Shape;1903;p111"/>
          <p:cNvSpPr txBox="1"/>
          <p:nvPr>
            <p:ph idx="4294967295" type="body"/>
          </p:nvPr>
        </p:nvSpPr>
        <p:spPr>
          <a:xfrm flipH="1">
            <a:off x="2371384" y="2876239"/>
            <a:ext cx="8337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 cm</a:t>
            </a:r>
            <a:endParaRPr sz="1800"/>
          </a:p>
        </p:txBody>
      </p:sp>
      <p:cxnSp>
        <p:nvCxnSpPr>
          <p:cNvPr id="1904" name="Google Shape;1904;p111"/>
          <p:cNvCxnSpPr/>
          <p:nvPr/>
        </p:nvCxnSpPr>
        <p:spPr>
          <a:xfrm>
            <a:off x="3524979" y="2524753"/>
            <a:ext cx="608100" cy="0"/>
          </a:xfrm>
          <a:prstGeom prst="straightConnector1">
            <a:avLst/>
          </a:prstGeom>
          <a:noFill/>
          <a:ln cap="flat" cmpd="sng" w="28575">
            <a:solidFill>
              <a:schemeClr val="accent5"/>
            </a:solidFill>
            <a:prstDash val="solid"/>
            <a:round/>
            <a:headEnd len="med" w="med" type="triangle"/>
            <a:tailEnd len="med" w="med" type="triangle"/>
          </a:ln>
        </p:spPr>
      </p:cxnSp>
      <p:sp>
        <p:nvSpPr>
          <p:cNvPr id="1905" name="Google Shape;1905;p111"/>
          <p:cNvSpPr txBox="1"/>
          <p:nvPr>
            <p:ph idx="4294967295" type="body"/>
          </p:nvPr>
        </p:nvSpPr>
        <p:spPr>
          <a:xfrm flipH="1">
            <a:off x="3411951" y="2543639"/>
            <a:ext cx="747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24 cm</a:t>
            </a:r>
            <a:endParaRPr sz="1800"/>
          </a:p>
        </p:txBody>
      </p:sp>
      <p:pic>
        <p:nvPicPr>
          <p:cNvPr descr="&lt;math xmlns=&quot;http://www.w3.org/1998/Math/MathML&quot; display=&quot;block&quot; data-is-equatio=&quot;1&quot; data-latex=&quot;\frac{3}{4}\times\pi\times24^2+24\times24&quot;&gt;&lt;mfrac&gt;&lt;mn&gt;3&lt;/mn&gt;&lt;mn&gt;4&lt;/mn&gt;&lt;/mfrac&gt;&lt;mo&gt;×&lt;/mo&gt;&lt;mi&gt;π&lt;/mi&gt;&lt;mo&gt;×&lt;/mo&gt;&lt;msup&gt;&lt;mn&gt;24&lt;/mn&gt;&lt;mn&gt;2&lt;/mn&gt;&lt;/msup&gt;&lt;mo&gt;+&lt;/mo&gt;&lt;mn&gt;24&lt;/mn&gt;&lt;mo&gt;×&lt;/mo&gt;&lt;mn&gt;24&lt;/mn&gt;&lt;/math&gt;" id="1906" name="Google Shape;1906;p111" title="three fourths times pi times 24 squared plus 24 times 24"/>
          <p:cNvPicPr preferRelativeResize="0"/>
          <p:nvPr/>
        </p:nvPicPr>
        <p:blipFill rotWithShape="1">
          <a:blip r:embed="rId5">
            <a:alphaModFix/>
          </a:blip>
          <a:srcRect b="0" l="0" r="0" t="0"/>
          <a:stretch/>
        </p:blipFill>
        <p:spPr>
          <a:xfrm>
            <a:off x="5084850" y="2058639"/>
            <a:ext cx="2318250" cy="522925"/>
          </a:xfrm>
          <a:prstGeom prst="rect">
            <a:avLst/>
          </a:prstGeom>
          <a:noFill/>
          <a:ln>
            <a:noFill/>
          </a:ln>
        </p:spPr>
      </p:pic>
      <p:pic>
        <p:nvPicPr>
          <p:cNvPr id="1907" name="Google Shape;1907;p111"/>
          <p:cNvPicPr preferRelativeResize="0"/>
          <p:nvPr/>
        </p:nvPicPr>
        <p:blipFill rotWithShape="1">
          <a:blip r:embed="rId4">
            <a:alphaModFix/>
          </a:blip>
          <a:srcRect b="48315" l="-1805" r="57440" t="33096"/>
          <a:stretch/>
        </p:blipFill>
        <p:spPr>
          <a:xfrm rot="5400000">
            <a:off x="2165712" y="3604051"/>
            <a:ext cx="1129950" cy="630875"/>
          </a:xfrm>
          <a:prstGeom prst="rect">
            <a:avLst/>
          </a:prstGeom>
          <a:noFill/>
          <a:ln>
            <a:noFill/>
          </a:ln>
        </p:spPr>
      </p:pic>
      <p:pic>
        <p:nvPicPr>
          <p:cNvPr id="1908" name="Google Shape;1908;p111"/>
          <p:cNvPicPr preferRelativeResize="0"/>
          <p:nvPr/>
        </p:nvPicPr>
        <p:blipFill rotWithShape="1">
          <a:blip r:embed="rId4">
            <a:alphaModFix/>
          </a:blip>
          <a:srcRect b="61654" l="57805" r="-2169" t="-226"/>
          <a:stretch/>
        </p:blipFill>
        <p:spPr>
          <a:xfrm rot="5400000">
            <a:off x="3783337" y="3280788"/>
            <a:ext cx="1129950" cy="1309151"/>
          </a:xfrm>
          <a:prstGeom prst="rect">
            <a:avLst/>
          </a:prstGeom>
          <a:noFill/>
          <a:ln>
            <a:noFill/>
          </a:ln>
        </p:spPr>
      </p:pic>
      <p:cxnSp>
        <p:nvCxnSpPr>
          <p:cNvPr id="1909" name="Google Shape;1909;p111"/>
          <p:cNvCxnSpPr/>
          <p:nvPr/>
        </p:nvCxnSpPr>
        <p:spPr>
          <a:xfrm rot="-5400000">
            <a:off x="2619587" y="3955704"/>
            <a:ext cx="980100" cy="0"/>
          </a:xfrm>
          <a:prstGeom prst="straightConnector1">
            <a:avLst/>
          </a:prstGeom>
          <a:noFill/>
          <a:ln cap="flat" cmpd="sng" w="28575">
            <a:solidFill>
              <a:schemeClr val="accent5"/>
            </a:solidFill>
            <a:prstDash val="solid"/>
            <a:round/>
            <a:headEnd len="med" w="med" type="triangle"/>
            <a:tailEnd len="med" w="med" type="triangle"/>
          </a:ln>
        </p:spPr>
      </p:cxnSp>
      <p:sp>
        <p:nvSpPr>
          <p:cNvPr id="1910" name="Google Shape;1910;p111"/>
          <p:cNvSpPr txBox="1"/>
          <p:nvPr>
            <p:ph idx="4294967295" type="body"/>
          </p:nvPr>
        </p:nvSpPr>
        <p:spPr>
          <a:xfrm flipH="1" rot="-5400000">
            <a:off x="2747392" y="3844827"/>
            <a:ext cx="9792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28 cm</a:t>
            </a:r>
            <a:endParaRPr sz="1800"/>
          </a:p>
        </p:txBody>
      </p:sp>
      <p:cxnSp>
        <p:nvCxnSpPr>
          <p:cNvPr id="1911" name="Google Shape;1911;p111"/>
          <p:cNvCxnSpPr/>
          <p:nvPr/>
        </p:nvCxnSpPr>
        <p:spPr>
          <a:xfrm>
            <a:off x="3814705" y="4520647"/>
            <a:ext cx="1140300" cy="0"/>
          </a:xfrm>
          <a:prstGeom prst="straightConnector1">
            <a:avLst/>
          </a:prstGeom>
          <a:noFill/>
          <a:ln cap="flat" cmpd="sng" w="28575">
            <a:solidFill>
              <a:schemeClr val="accent5"/>
            </a:solidFill>
            <a:prstDash val="solid"/>
            <a:round/>
            <a:headEnd len="med" w="med" type="triangle"/>
            <a:tailEnd len="med" w="med" type="triangle"/>
          </a:ln>
        </p:spPr>
      </p:cxnSp>
      <p:sp>
        <p:nvSpPr>
          <p:cNvPr id="1912" name="Google Shape;1912;p111"/>
          <p:cNvSpPr txBox="1"/>
          <p:nvPr>
            <p:ph idx="4294967295" type="body"/>
          </p:nvPr>
        </p:nvSpPr>
        <p:spPr>
          <a:xfrm flipH="1">
            <a:off x="3815004" y="4537153"/>
            <a:ext cx="1139700" cy="221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44 cm</a:t>
            </a:r>
            <a:endParaRPr sz="1800"/>
          </a:p>
        </p:txBody>
      </p:sp>
      <p:pic>
        <p:nvPicPr>
          <p:cNvPr descr="&lt;math xmlns=&quot;http://www.w3.org/1998/Math/MathML&quot; display=&quot;block&quot; data-is-equatio=&quot;1&quot; data-latex=&quot;\frac{1}{2}\times\pi\times14^2+\frac{1}{2}\times44\times28&quot;&gt;&lt;mfrac&gt;&lt;mn&gt;1&lt;/mn&gt;&lt;mn&gt;2&lt;/mn&gt;&lt;/mfrac&gt;&lt;mo&gt;×&lt;/mo&gt;&lt;mi&gt;π&lt;/mi&gt;&lt;mo&gt;×&lt;/mo&gt;&lt;msup&gt;&lt;mn&gt;14&lt;/mn&gt;&lt;mn&gt;2&lt;/mn&gt;&lt;/msup&gt;&lt;mo&gt;+&lt;/mo&gt;&lt;mfrac&gt;&lt;mn&gt;1&lt;/mn&gt;&lt;mn&gt;2&lt;/mn&gt;&lt;/mfrac&gt;&lt;mo&gt;×&lt;/mo&gt;&lt;mn&gt;44&lt;/mn&gt;&lt;mo&gt;×&lt;/mo&gt;&lt;mn&gt;28&lt;/mn&gt;&lt;/math&gt;" id="1913" name="Google Shape;1913;p111" title="one half times pi times 14 squared plus one half times 44 times 28"/>
          <p:cNvPicPr preferRelativeResize="0"/>
          <p:nvPr/>
        </p:nvPicPr>
        <p:blipFill rotWithShape="1">
          <a:blip r:embed="rId6">
            <a:alphaModFix/>
          </a:blip>
          <a:srcRect b="0" l="0" r="45135" t="0"/>
          <a:stretch/>
        </p:blipFill>
        <p:spPr>
          <a:xfrm>
            <a:off x="5126969" y="3290289"/>
            <a:ext cx="1534999" cy="522000"/>
          </a:xfrm>
          <a:prstGeom prst="rect">
            <a:avLst/>
          </a:prstGeom>
          <a:noFill/>
          <a:ln>
            <a:noFill/>
          </a:ln>
        </p:spPr>
      </p:pic>
      <p:pic>
        <p:nvPicPr>
          <p:cNvPr descr="&lt;math xmlns=&quot;http://www.w3.org/1998/Math/MathML&quot; display=&quot;block&quot; data-is-equatio=&quot;1&quot; data-latex=&quot;\frac{1}{2}\times\pi\times14^2+\frac{1}{2}\times44\times28&quot;&gt;&lt;mfrac&gt;&lt;mn&gt;1&lt;/mn&gt;&lt;mn&gt;2&lt;/mn&gt;&lt;/mfrac&gt;&lt;mo&gt;×&lt;/mo&gt;&lt;mi&gt;π&lt;/mi&gt;&lt;mo&gt;×&lt;/mo&gt;&lt;msup&gt;&lt;mn&gt;14&lt;/mn&gt;&lt;mn&gt;2&lt;/mn&gt;&lt;/msup&gt;&lt;mo&gt;+&lt;/mo&gt;&lt;mfrac&gt;&lt;mn&gt;1&lt;/mn&gt;&lt;mn&gt;2&lt;/mn&gt;&lt;/mfrac&gt;&lt;mo&gt;×&lt;/mo&gt;&lt;mn&gt;44&lt;/mn&gt;&lt;mo&gt;×&lt;/mo&gt;&lt;mn&gt;28&lt;/mn&gt;&lt;/math&gt;" id="1914" name="Google Shape;1914;p111" title="one half times pi times 14 squared plus one half times 44 times 28"/>
          <p:cNvPicPr preferRelativeResize="0"/>
          <p:nvPr/>
        </p:nvPicPr>
        <p:blipFill rotWithShape="1">
          <a:blip r:embed="rId6">
            <a:alphaModFix/>
          </a:blip>
          <a:srcRect b="0" l="55537" r="0" t="0"/>
          <a:stretch/>
        </p:blipFill>
        <p:spPr>
          <a:xfrm>
            <a:off x="5121026" y="4058439"/>
            <a:ext cx="1244026" cy="522000"/>
          </a:xfrm>
          <a:prstGeom prst="rect">
            <a:avLst/>
          </a:prstGeom>
          <a:noFill/>
          <a:ln>
            <a:noFill/>
          </a:ln>
        </p:spPr>
      </p:pic>
      <p:sp>
        <p:nvSpPr>
          <p:cNvPr id="1915" name="Google Shape;1915;p111"/>
          <p:cNvSpPr txBox="1"/>
          <p:nvPr>
            <p:ph idx="4294967295" type="body"/>
          </p:nvPr>
        </p:nvSpPr>
        <p:spPr>
          <a:xfrm>
            <a:off x="324575" y="148140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c) </a:t>
            </a:r>
            <a:endParaRPr i="1" sz="1800">
              <a:latin typeface="Times New Roman"/>
              <a:ea typeface="Times New Roman"/>
              <a:cs typeface="Times New Roman"/>
              <a:sym typeface="Times New Roman"/>
            </a:endParaRPr>
          </a:p>
        </p:txBody>
      </p:sp>
      <p:sp>
        <p:nvSpPr>
          <p:cNvPr id="1916" name="Google Shape;1916;p111"/>
          <p:cNvSpPr txBox="1"/>
          <p:nvPr>
            <p:ph idx="4294967295" type="body"/>
          </p:nvPr>
        </p:nvSpPr>
        <p:spPr>
          <a:xfrm>
            <a:off x="324575" y="3130350"/>
            <a:ext cx="317100" cy="277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800"/>
              <a:t>d) </a:t>
            </a:r>
            <a:endParaRPr i="1" sz="1800">
              <a:latin typeface="Times New Roman"/>
              <a:ea typeface="Times New Roman"/>
              <a:cs typeface="Times New Roman"/>
              <a:sym typeface="Times New Roman"/>
            </a:endParaRPr>
          </a:p>
        </p:txBody>
      </p:sp>
      <p:sp>
        <p:nvSpPr>
          <p:cNvPr id="1917" name="Google Shape;1917;p111"/>
          <p:cNvSpPr txBox="1"/>
          <p:nvPr>
            <p:ph idx="4294967295" type="body"/>
          </p:nvPr>
        </p:nvSpPr>
        <p:spPr>
          <a:xfrm>
            <a:off x="324000" y="639411"/>
            <a:ext cx="8496000" cy="2463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SzPts val="2200"/>
              <a:buNone/>
            </a:pPr>
            <a:r>
              <a:rPr lang="en-GB" sz="1600"/>
              <a:t>2) Complete the table. Give your answer as both a decimal and in terms of </a:t>
            </a:r>
            <a:r>
              <a:rPr i="1" lang="en-GB" sz="1600">
                <a:latin typeface="Times New Roman"/>
                <a:ea typeface="Times New Roman"/>
                <a:cs typeface="Times New Roman"/>
                <a:sym typeface="Times New Roman"/>
              </a:rPr>
              <a:t>π</a:t>
            </a:r>
            <a:r>
              <a:rPr lang="en-GB" sz="1600"/>
              <a:t>.</a:t>
            </a:r>
            <a:endParaRPr i="1" sz="16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pic>
        <p:nvPicPr>
          <p:cNvPr id="1922" name="Google Shape;1922;p112"/>
          <p:cNvPicPr preferRelativeResize="0"/>
          <p:nvPr/>
        </p:nvPicPr>
        <p:blipFill rotWithShape="1">
          <a:blip r:embed="rId3">
            <a:alphaModFix/>
          </a:blip>
          <a:srcRect b="0" l="0" r="0" t="0"/>
          <a:stretch/>
        </p:blipFill>
        <p:spPr>
          <a:xfrm>
            <a:off x="1017600" y="1579475"/>
            <a:ext cx="7106550" cy="2088150"/>
          </a:xfrm>
          <a:prstGeom prst="rect">
            <a:avLst/>
          </a:prstGeom>
          <a:noFill/>
          <a:ln>
            <a:noFill/>
          </a:ln>
        </p:spPr>
      </p:pic>
      <p:sp>
        <p:nvSpPr>
          <p:cNvPr id="1923" name="Google Shape;1923;p112"/>
          <p:cNvSpPr txBox="1"/>
          <p:nvPr>
            <p:ph idx="4294967295" type="body"/>
          </p:nvPr>
        </p:nvSpPr>
        <p:spPr>
          <a:xfrm>
            <a:off x="324000" y="659464"/>
            <a:ext cx="8496000" cy="69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SzPts val="2200"/>
              <a:buNone/>
            </a:pPr>
            <a:r>
              <a:rPr lang="en-GB" sz="1600"/>
              <a:t>3) What do you notice about the areas of each shaded region?</a:t>
            </a:r>
            <a:endParaRPr sz="1600"/>
          </a:p>
          <a:p>
            <a:pPr indent="0" lvl="0" marL="0" rtl="0" algn="l">
              <a:lnSpc>
                <a:spcPct val="130000"/>
              </a:lnSpc>
              <a:spcBef>
                <a:spcPts val="1000"/>
              </a:spcBef>
              <a:spcAft>
                <a:spcPts val="1000"/>
              </a:spcAft>
              <a:buSzPts val="2200"/>
              <a:buNone/>
            </a:pPr>
            <a:r>
              <a:rPr lang="en-GB" sz="1600"/>
              <a:t>Show your working to support your observations.</a:t>
            </a:r>
            <a:endParaRPr sz="1600"/>
          </a:p>
        </p:txBody>
      </p:sp>
      <p:sp>
        <p:nvSpPr>
          <p:cNvPr id="1924" name="Google Shape;1924;p112"/>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Finding the area of composite shapes with sectors</a:t>
            </a:r>
            <a:endParaRPr/>
          </a:p>
        </p:txBody>
      </p:sp>
      <p:sp>
        <p:nvSpPr>
          <p:cNvPr id="1925" name="Google Shape;1925;p112"/>
          <p:cNvSpPr txBox="1"/>
          <p:nvPr>
            <p:ph idx="4294967295" type="body"/>
          </p:nvPr>
        </p:nvSpPr>
        <p:spPr>
          <a:xfrm>
            <a:off x="324000" y="3779989"/>
            <a:ext cx="8496000" cy="923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SzPts val="2200"/>
              <a:buNone/>
            </a:pPr>
            <a:r>
              <a:rPr lang="en-GB" sz="2000">
                <a:latin typeface="Kalam"/>
                <a:ea typeface="Kalam"/>
                <a:cs typeface="Kalam"/>
                <a:sym typeface="Kalam"/>
              </a:rPr>
              <a:t>The area of each shaded region is equal, as the empty space in each shape can be rearranged to create one full circle. The area of the shaded region is 64 – 16π.</a:t>
            </a:r>
            <a:endParaRPr sz="2000">
              <a:latin typeface="Kalam"/>
              <a:ea typeface="Kalam"/>
              <a:cs typeface="Kalam"/>
              <a:sym typeface="Kalam"/>
            </a:endParaRPr>
          </a:p>
        </p:txBody>
      </p:sp>
      <p:sp>
        <p:nvSpPr>
          <p:cNvPr id="1926" name="Google Shape;1926;p112"/>
          <p:cNvSpPr txBox="1"/>
          <p:nvPr>
            <p:ph idx="4294967295" type="body"/>
          </p:nvPr>
        </p:nvSpPr>
        <p:spPr>
          <a:xfrm flipH="1" rot="-5400000">
            <a:off x="-182800" y="2505327"/>
            <a:ext cx="1977300" cy="2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8 cm</a:t>
            </a:r>
            <a:endParaRPr sz="1800"/>
          </a:p>
        </p:txBody>
      </p:sp>
      <p:cxnSp>
        <p:nvCxnSpPr>
          <p:cNvPr id="1927" name="Google Shape;1927;p112"/>
          <p:cNvCxnSpPr/>
          <p:nvPr/>
        </p:nvCxnSpPr>
        <p:spPr>
          <a:xfrm rot="-5400000">
            <a:off x="-52575" y="2631639"/>
            <a:ext cx="2035200" cy="0"/>
          </a:xfrm>
          <a:prstGeom prst="straightConnector1">
            <a:avLst/>
          </a:prstGeom>
          <a:noFill/>
          <a:ln cap="flat" cmpd="sng" w="28575">
            <a:solidFill>
              <a:schemeClr val="accent5"/>
            </a:solidFill>
            <a:prstDash val="solid"/>
            <a:round/>
            <a:headEnd len="med" w="med" type="triangle"/>
            <a:tailEnd len="med" w="med" type="triangle"/>
          </a:ln>
        </p:spPr>
      </p:cxnSp>
      <p:sp>
        <p:nvSpPr>
          <p:cNvPr id="1928" name="Google Shape;1928;p112"/>
          <p:cNvSpPr txBox="1"/>
          <p:nvPr>
            <p:ph idx="4294967295" type="body"/>
          </p:nvPr>
        </p:nvSpPr>
        <p:spPr>
          <a:xfrm>
            <a:off x="1086000" y="16434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¼</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
        <p:nvSpPr>
          <p:cNvPr id="1929" name="Google Shape;1929;p112"/>
          <p:cNvSpPr txBox="1"/>
          <p:nvPr>
            <p:ph idx="4294967295" type="body"/>
          </p:nvPr>
        </p:nvSpPr>
        <p:spPr>
          <a:xfrm>
            <a:off x="1086000" y="30051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¼</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
        <p:nvSpPr>
          <p:cNvPr id="1930" name="Google Shape;1930;p112"/>
          <p:cNvSpPr txBox="1"/>
          <p:nvPr>
            <p:ph idx="4294967295" type="body"/>
          </p:nvPr>
        </p:nvSpPr>
        <p:spPr>
          <a:xfrm>
            <a:off x="2165500" y="16434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¼</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
        <p:nvSpPr>
          <p:cNvPr id="1931" name="Google Shape;1931;p112"/>
          <p:cNvSpPr txBox="1"/>
          <p:nvPr>
            <p:ph idx="4294967295" type="body"/>
          </p:nvPr>
        </p:nvSpPr>
        <p:spPr>
          <a:xfrm>
            <a:off x="2165500" y="30051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¼</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
        <p:nvSpPr>
          <p:cNvPr id="1932" name="Google Shape;1932;p112"/>
          <p:cNvSpPr txBox="1"/>
          <p:nvPr>
            <p:ph idx="4294967295" type="body"/>
          </p:nvPr>
        </p:nvSpPr>
        <p:spPr>
          <a:xfrm>
            <a:off x="4127250" y="16434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½</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
        <p:nvSpPr>
          <p:cNvPr id="1933" name="Google Shape;1933;p112"/>
          <p:cNvSpPr txBox="1"/>
          <p:nvPr>
            <p:ph idx="4294967295" type="body"/>
          </p:nvPr>
        </p:nvSpPr>
        <p:spPr>
          <a:xfrm>
            <a:off x="4127250" y="3005125"/>
            <a:ext cx="889500" cy="615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2200"/>
              <a:buNone/>
            </a:pPr>
            <a:r>
              <a:rPr lang="en-GB" sz="2000">
                <a:latin typeface="Kalam"/>
                <a:ea typeface="Kalam"/>
                <a:cs typeface="Kalam"/>
                <a:sym typeface="Kalam"/>
              </a:rPr>
              <a:t>½</a:t>
            </a:r>
            <a:endParaRPr sz="2000">
              <a:latin typeface="Kalam"/>
              <a:ea typeface="Kalam"/>
              <a:cs typeface="Kalam"/>
              <a:sym typeface="Kalam"/>
            </a:endParaRPr>
          </a:p>
          <a:p>
            <a:pPr indent="0" lvl="0" marL="0" rtl="0" algn="ctr">
              <a:lnSpc>
                <a:spcPct val="100000"/>
              </a:lnSpc>
              <a:spcBef>
                <a:spcPts val="0"/>
              </a:spcBef>
              <a:spcAft>
                <a:spcPts val="0"/>
              </a:spcAft>
              <a:buSzPts val="2200"/>
              <a:buNone/>
            </a:pPr>
            <a:r>
              <a:rPr lang="en-GB" sz="2000">
                <a:latin typeface="Kalam"/>
                <a:ea typeface="Kalam"/>
                <a:cs typeface="Kalam"/>
                <a:sym typeface="Kalam"/>
              </a:rPr>
              <a:t>circle</a:t>
            </a:r>
            <a:endParaRPr sz="2000">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113"/>
          <p:cNvSpPr txBox="1"/>
          <p:nvPr>
            <p:ph idx="1" type="body"/>
          </p:nvPr>
        </p:nvSpPr>
        <p:spPr>
          <a:xfrm>
            <a:off x="324000" y="811875"/>
            <a:ext cx="84960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GB" sz="1800"/>
              <a:t>Finding the area of a </a:t>
            </a:r>
            <a:r>
              <a:rPr b="1" lang="en-GB" sz="1800"/>
              <a:t>sector</a:t>
            </a:r>
            <a:r>
              <a:rPr lang="en-GB" sz="1800"/>
              <a:t> of a circle can be achieved using multiplicative reasoning; by multiplying the area of a full circle by the fraction of a full circle the </a:t>
            </a:r>
            <a:r>
              <a:rPr b="1" lang="en-GB" sz="1800"/>
              <a:t>sector</a:t>
            </a:r>
            <a:r>
              <a:rPr lang="en-GB" sz="1800"/>
              <a:t> represents, such as a quarter-circle representing ¼ of a full circle.</a:t>
            </a:r>
            <a:endParaRPr sz="1800"/>
          </a:p>
          <a:p>
            <a:pPr indent="0" lvl="0" marL="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rPr lang="en-GB" sz="1800"/>
              <a:t>Finding the area of composite shapes can be achieved by either:</a:t>
            </a:r>
            <a:endParaRPr sz="1800"/>
          </a:p>
        </p:txBody>
      </p:sp>
      <p:sp>
        <p:nvSpPr>
          <p:cNvPr id="1939" name="Google Shape;1939;p113"/>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Area of composite shapes</a:t>
            </a:r>
            <a:endParaRPr/>
          </a:p>
        </p:txBody>
      </p:sp>
      <p:sp>
        <p:nvSpPr>
          <p:cNvPr id="1940" name="Google Shape;1940;p113"/>
          <p:cNvSpPr txBox="1"/>
          <p:nvPr>
            <p:ph idx="1" type="body"/>
          </p:nvPr>
        </p:nvSpPr>
        <p:spPr>
          <a:xfrm>
            <a:off x="1608550" y="2527650"/>
            <a:ext cx="7211400" cy="1918800"/>
          </a:xfrm>
          <a:prstGeom prst="rect">
            <a:avLst/>
          </a:prstGeom>
          <a:noFill/>
          <a:ln>
            <a:noFill/>
          </a:ln>
        </p:spPr>
        <p:txBody>
          <a:bodyPr anchorCtr="0" anchor="t" bIns="0" lIns="0" spcFirstLastPara="1" rIns="0" wrap="square" tIns="0">
            <a:spAutoFit/>
          </a:bodyPr>
          <a:lstStyle/>
          <a:p>
            <a:pPr indent="-342900" lvl="0" marL="457200" rtl="0" algn="l">
              <a:lnSpc>
                <a:spcPct val="100000"/>
              </a:lnSpc>
              <a:spcBef>
                <a:spcPts val="0"/>
              </a:spcBef>
              <a:spcAft>
                <a:spcPts val="0"/>
              </a:spcAft>
              <a:buSzPts val="1800"/>
              <a:buChar char="●"/>
            </a:pPr>
            <a:r>
              <a:rPr lang="en-GB" sz="1800"/>
              <a:t>breaking a shape up into its component parts, such as rectangles, triangles, and circle sectors</a:t>
            </a:r>
            <a:endParaRPr sz="1800"/>
          </a:p>
          <a:p>
            <a:pPr indent="-342900" lvl="0" marL="457200" rtl="0" algn="l">
              <a:lnSpc>
                <a:spcPct val="100000"/>
              </a:lnSpc>
              <a:spcBef>
                <a:spcPts val="1000"/>
              </a:spcBef>
              <a:spcAft>
                <a:spcPts val="0"/>
              </a:spcAft>
              <a:buSzPts val="1800"/>
              <a:buChar char="●"/>
            </a:pPr>
            <a:r>
              <a:rPr lang="en-GB" sz="1800"/>
              <a:t>completing a shape by considering what component part has been subtracted from the rest of a shape</a:t>
            </a:r>
            <a:endParaRPr sz="1800"/>
          </a:p>
          <a:p>
            <a:pPr indent="-342900" lvl="0" marL="457200" rtl="0" algn="l">
              <a:lnSpc>
                <a:spcPct val="100000"/>
              </a:lnSpc>
              <a:spcBef>
                <a:spcPts val="1000"/>
              </a:spcBef>
              <a:spcAft>
                <a:spcPts val="1000"/>
              </a:spcAft>
              <a:buSzPts val="1800"/>
              <a:buChar char="●"/>
            </a:pPr>
            <a:r>
              <a:rPr lang="en-GB" sz="1800"/>
              <a:t>rearranging a shape in order to make the resultant rearrangement a more simple shape to calculate the area of.</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114"/>
          <p:cNvSpPr txBox="1"/>
          <p:nvPr>
            <p:ph idx="1" type="subTitle"/>
          </p:nvPr>
        </p:nvSpPr>
        <p:spPr>
          <a:xfrm>
            <a:off x="661775" y="1129425"/>
            <a:ext cx="7351200" cy="235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 Oak National Academy 2023.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Produced in partnership with Mathematics in Education and Industry.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946" name="Google Shape;1946;p114"/>
          <p:cNvPicPr preferRelativeResize="0"/>
          <p:nvPr/>
        </p:nvPicPr>
        <p:blipFill rotWithShape="1">
          <a:blip r:embed="rId5">
            <a:alphaModFix/>
          </a:blip>
          <a:srcRect b="0" l="0" r="0" t="0"/>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