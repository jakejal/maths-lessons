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3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a87d447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a87d447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9a87d4478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9a87d4478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9a87d4478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9a87d4478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9a87d4478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9a87d4478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29a87d4478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29a87d4478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29a87d4478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29a87d4478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29a87d4478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29a87d4478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9a87d44784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29a87d44784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29a87d44784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29a87d44784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9a87d44784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9a87d44784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29a87d44784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29a87d44784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9a87d44784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29a87d44784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29a87d44784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29a87d44784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29a87d44784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29a87d44784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29a87d44784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29a87d44784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29a87d44784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29a87d44784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29a87d4478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29a87d4478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29af64ae3a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29af64ae3a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29af64ae3a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29af64ae3a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29af64ae3a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29af64ae3a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29af64ae3a3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29af64ae3a3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29af64ae3a3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29af64ae3a3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29a87d4478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29a87d4478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29a87d44784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29a87d44784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29af64ae3a3_0_1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29af64ae3a3_0_1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29af64ae3a3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29af64ae3a3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29af64ae3a3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29af64ae3a3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29af64ae3a3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29af64ae3a3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29af64ae3a3_0_1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29af64ae3a3_0_1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29a87d44784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29a87d44784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29af64ae3a3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29af64ae3a3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29af64ae3a3_0_1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29af64ae3a3_0_1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29a87d44784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29a87d44784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29af64ae3a3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29af64ae3a3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0" name="Google Shape;146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29af64ae3a3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29af64ae3a3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Relationship Id="rId4" Type="http://schemas.openxmlformats.org/officeDocument/2006/relationships/image" Target="../media/image15.png"/><Relationship Id="rId5" Type="http://schemas.openxmlformats.org/officeDocument/2006/relationships/image" Target="../media/image25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4.png"/><Relationship Id="rId4" Type="http://schemas.openxmlformats.org/officeDocument/2006/relationships/image" Target="../media/image79.png"/><Relationship Id="rId5" Type="http://schemas.openxmlformats.org/officeDocument/2006/relationships/image" Target="../media/image31.png"/><Relationship Id="rId6" Type="http://schemas.openxmlformats.org/officeDocument/2006/relationships/image" Target="../media/image37.png"/><Relationship Id="rId7" Type="http://schemas.openxmlformats.org/officeDocument/2006/relationships/image" Target="../media/image2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9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9.png"/><Relationship Id="rId4" Type="http://schemas.openxmlformats.org/officeDocument/2006/relationships/image" Target="../media/image30.png"/><Relationship Id="rId11" Type="http://schemas.openxmlformats.org/officeDocument/2006/relationships/image" Target="../media/image23.png"/><Relationship Id="rId10" Type="http://schemas.openxmlformats.org/officeDocument/2006/relationships/image" Target="../media/image39.png"/><Relationship Id="rId9" Type="http://schemas.openxmlformats.org/officeDocument/2006/relationships/image" Target="../media/image37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Relationship Id="rId7" Type="http://schemas.openxmlformats.org/officeDocument/2006/relationships/image" Target="../media/image32.png"/><Relationship Id="rId8" Type="http://schemas.openxmlformats.org/officeDocument/2006/relationships/image" Target="../media/image3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3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3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3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3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9.png"/><Relationship Id="rId4" Type="http://schemas.openxmlformats.org/officeDocument/2006/relationships/image" Target="../media/image5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Relationship Id="rId4" Type="http://schemas.openxmlformats.org/officeDocument/2006/relationships/image" Target="../media/image5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png"/><Relationship Id="rId4" Type="http://schemas.openxmlformats.org/officeDocument/2006/relationships/image" Target="../media/image53.png"/><Relationship Id="rId5" Type="http://schemas.openxmlformats.org/officeDocument/2006/relationships/image" Target="../media/image52.png"/><Relationship Id="rId6" Type="http://schemas.openxmlformats.org/officeDocument/2006/relationships/image" Target="../media/image5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7.png"/><Relationship Id="rId4" Type="http://schemas.openxmlformats.org/officeDocument/2006/relationships/image" Target="../media/image54.png"/><Relationship Id="rId5" Type="http://schemas.openxmlformats.org/officeDocument/2006/relationships/image" Target="../media/image5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5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1.png"/><Relationship Id="rId4" Type="http://schemas.openxmlformats.org/officeDocument/2006/relationships/image" Target="../media/image58.png"/><Relationship Id="rId5" Type="http://schemas.openxmlformats.org/officeDocument/2006/relationships/image" Target="../media/image6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1.png"/><Relationship Id="rId4" Type="http://schemas.openxmlformats.org/officeDocument/2006/relationships/image" Target="../media/image5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png"/><Relationship Id="rId4" Type="http://schemas.openxmlformats.org/officeDocument/2006/relationships/image" Target="../media/image5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6.png"/><Relationship Id="rId4" Type="http://schemas.openxmlformats.org/officeDocument/2006/relationships/image" Target="../media/image68.png"/><Relationship Id="rId5" Type="http://schemas.openxmlformats.org/officeDocument/2006/relationships/image" Target="../media/image5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1.png"/><Relationship Id="rId4" Type="http://schemas.openxmlformats.org/officeDocument/2006/relationships/image" Target="../media/image66.png"/><Relationship Id="rId5" Type="http://schemas.openxmlformats.org/officeDocument/2006/relationships/image" Target="../media/image6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1.png"/><Relationship Id="rId4" Type="http://schemas.openxmlformats.org/officeDocument/2006/relationships/image" Target="../media/image66.png"/><Relationship Id="rId5" Type="http://schemas.openxmlformats.org/officeDocument/2006/relationships/image" Target="../media/image6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1.png"/><Relationship Id="rId4" Type="http://schemas.openxmlformats.org/officeDocument/2006/relationships/image" Target="../media/image66.png"/><Relationship Id="rId5" Type="http://schemas.openxmlformats.org/officeDocument/2006/relationships/image" Target="../media/image6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1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5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1.png"/><Relationship Id="rId4" Type="http://schemas.openxmlformats.org/officeDocument/2006/relationships/image" Target="../media/image70.png"/><Relationship Id="rId5" Type="http://schemas.openxmlformats.org/officeDocument/2006/relationships/image" Target="../media/image59.png"/><Relationship Id="rId6" Type="http://schemas.openxmlformats.org/officeDocument/2006/relationships/image" Target="../media/image7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5.png"/><Relationship Id="rId6" Type="http://schemas.openxmlformats.org/officeDocument/2006/relationships/image" Target="../media/image74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5.png"/><Relationship Id="rId6" Type="http://schemas.openxmlformats.org/officeDocument/2006/relationships/image" Target="../media/image74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Volume of cylinders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Perimeter, area and volume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constant cross-sectional area property of cylinders to determine their volume.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prism is a polyhedron with a base that is a polygon and a parallel opposite face that is identical. The corresponding edges of the two polygons are joined by parallelograms.   </a:t>
            </a:r>
            <a:endParaRPr sz="180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1" y="23149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radius is any line segment that joins the centre of a circle to its circumference. </a:t>
            </a:r>
            <a:endParaRPr sz="180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1" y="32552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cylinder is a 3D shape with a base that is a circle and a parallel opposite face that is identical. A cross section of a cylinder made parallel to the base will be congruent to the base. </a:t>
            </a:r>
            <a:endParaRPr sz="1800"/>
          </a:p>
        </p:txBody>
      </p:sp>
      <p:pic>
        <p:nvPicPr>
          <p:cNvPr id="769" name="Google Shape;76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9050" y="3833425"/>
            <a:ext cx="859332" cy="8676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</p:pic>
      <p:pic>
        <p:nvPicPr>
          <p:cNvPr id="770" name="Google Shape;770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6075" y="1543863"/>
            <a:ext cx="995928" cy="68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v</a:t>
            </a:r>
            <a:r>
              <a:rPr lang="en-GB"/>
              <a:t>olume of a cylinder</a:t>
            </a:r>
            <a:endParaRPr/>
          </a:p>
        </p:txBody>
      </p:sp>
      <p:sp>
        <p:nvSpPr>
          <p:cNvPr id="776" name="Google Shape;776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volume of a cylinder</a:t>
            </a:r>
            <a:endParaRPr/>
          </a:p>
        </p:txBody>
      </p:sp>
      <p:sp>
        <p:nvSpPr>
          <p:cNvPr id="777" name="Google Shape;777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Volume of cylinders</a:t>
            </a:r>
            <a:endParaRPr/>
          </a:p>
        </p:txBody>
      </p:sp>
      <p:pic>
        <p:nvPicPr>
          <p:cNvPr id="778" name="Google Shape;77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56" y="205973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9"/>
          <p:cNvSpPr txBox="1"/>
          <p:nvPr>
            <p:ph idx="1" type="body"/>
          </p:nvPr>
        </p:nvSpPr>
        <p:spPr>
          <a:xfrm>
            <a:off x="324000" y="711988"/>
            <a:ext cx="8237700" cy="3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same and what is different about a cylinder and a prism?</a:t>
            </a:r>
            <a:endParaRPr/>
          </a:p>
        </p:txBody>
      </p:sp>
      <p:sp>
        <p:nvSpPr>
          <p:cNvPr id="784" name="Google Shape;784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volume of a cylinder</a:t>
            </a:r>
            <a:endParaRPr/>
          </a:p>
        </p:txBody>
      </p:sp>
      <p:pic>
        <p:nvPicPr>
          <p:cNvPr id="785" name="Google Shape;78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5250" y="1188200"/>
            <a:ext cx="2007249" cy="189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5375" y="1188175"/>
            <a:ext cx="1632953" cy="194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9"/>
          <p:cNvSpPr txBox="1"/>
          <p:nvPr/>
        </p:nvSpPr>
        <p:spPr>
          <a:xfrm>
            <a:off x="335775" y="3395925"/>
            <a:ext cx="6814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Properties which are the same: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3D shape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uniform cross-section through length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0"/>
          <p:cNvSpPr txBox="1"/>
          <p:nvPr>
            <p:ph idx="1" type="body"/>
          </p:nvPr>
        </p:nvSpPr>
        <p:spPr>
          <a:xfrm>
            <a:off x="324000" y="711988"/>
            <a:ext cx="8237700" cy="3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same and what is different about a cylinder and a prism?</a:t>
            </a:r>
            <a:endParaRPr/>
          </a:p>
        </p:txBody>
      </p:sp>
      <p:sp>
        <p:nvSpPr>
          <p:cNvPr id="793" name="Google Shape;79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volume of a cylinder</a:t>
            </a:r>
            <a:endParaRPr/>
          </a:p>
        </p:txBody>
      </p:sp>
      <p:pic>
        <p:nvPicPr>
          <p:cNvPr id="794" name="Google Shape;79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5250" y="1188200"/>
            <a:ext cx="2007249" cy="189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5375" y="1188175"/>
            <a:ext cx="1632953" cy="194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70"/>
          <p:cNvSpPr txBox="1"/>
          <p:nvPr/>
        </p:nvSpPr>
        <p:spPr>
          <a:xfrm>
            <a:off x="335775" y="3395925"/>
            <a:ext cx="8051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Properties which are different: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Cross-sectional face is a circle on a cylinder which is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not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 polygon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71"/>
          <p:cNvSpPr txBox="1"/>
          <p:nvPr>
            <p:ph idx="1" type="body"/>
          </p:nvPr>
        </p:nvSpPr>
        <p:spPr>
          <a:xfrm>
            <a:off x="324000" y="711988"/>
            <a:ext cx="8237700" cy="3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same and what is different about a cylinder and a prism?</a:t>
            </a:r>
            <a:endParaRPr/>
          </a:p>
        </p:txBody>
      </p:sp>
      <p:sp>
        <p:nvSpPr>
          <p:cNvPr id="802" name="Google Shape;80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volume of a cylinder</a:t>
            </a:r>
            <a:endParaRPr/>
          </a:p>
        </p:txBody>
      </p:sp>
      <p:pic>
        <p:nvPicPr>
          <p:cNvPr id="803" name="Google Shape;80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5250" y="1188200"/>
            <a:ext cx="2007249" cy="189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5375" y="1188175"/>
            <a:ext cx="1632953" cy="194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34425" y="3300637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71"/>
          <p:cNvSpPr txBox="1"/>
          <p:nvPr/>
        </p:nvSpPr>
        <p:spPr>
          <a:xfrm>
            <a:off x="462944" y="41990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71"/>
          <p:cNvSpPr txBox="1"/>
          <p:nvPr/>
        </p:nvSpPr>
        <p:spPr>
          <a:xfrm>
            <a:off x="2075725" y="3105944"/>
            <a:ext cx="4395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cylinder is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not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 prism but has a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very similar structure.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8" name="Google Shape;808;p71"/>
          <p:cNvPicPr preferRelativeResize="0"/>
          <p:nvPr/>
        </p:nvPicPr>
        <p:blipFill rotWithShape="1">
          <a:blip r:embed="rId6">
            <a:alphaModFix/>
          </a:blip>
          <a:srcRect b="6172" l="40550" r="0" t="13240"/>
          <a:stretch/>
        </p:blipFill>
        <p:spPr>
          <a:xfrm>
            <a:off x="1755450" y="3105944"/>
            <a:ext cx="4296202" cy="103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72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prism has a uniform polygonal cross-section.</a:t>
            </a:r>
            <a:endParaRPr/>
          </a:p>
        </p:txBody>
      </p:sp>
      <p:sp>
        <p:nvSpPr>
          <p:cNvPr id="814" name="Google Shape;814;p7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cylinder is a prism.</a:t>
            </a:r>
            <a:endParaRPr/>
          </a:p>
        </p:txBody>
      </p:sp>
      <p:sp>
        <p:nvSpPr>
          <p:cNvPr id="815" name="Google Shape;815;p7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prism has a uniform cross-section.</a:t>
            </a:r>
            <a:endParaRPr/>
          </a:p>
        </p:txBody>
      </p:sp>
      <p:sp>
        <p:nvSpPr>
          <p:cNvPr id="816" name="Google Shape;816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volume of a cylinder</a:t>
            </a:r>
            <a:endParaRPr/>
          </a:p>
        </p:txBody>
      </p:sp>
      <p:pic>
        <p:nvPicPr>
          <p:cNvPr id="817" name="Google Shape;81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5408" y="1740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5708" y="31961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73"/>
          <p:cNvSpPr txBox="1"/>
          <p:nvPr/>
        </p:nvSpPr>
        <p:spPr>
          <a:xfrm flipH="1">
            <a:off x="5169719" y="1543800"/>
            <a:ext cx="2343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As it is like a stack of circle slices.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4" name="Google Shape;824;p7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169450" y="1604625"/>
            <a:ext cx="2194749" cy="1249475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volume of a cylinder</a:t>
            </a:r>
            <a:endParaRPr/>
          </a:p>
        </p:txBody>
      </p:sp>
      <p:pic>
        <p:nvPicPr>
          <p:cNvPr id="826" name="Google Shape;826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67100" y="2055237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3"/>
          <p:cNvSpPr txBox="1"/>
          <p:nvPr/>
        </p:nvSpPr>
        <p:spPr>
          <a:xfrm>
            <a:off x="395619" y="29536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3"/>
          <p:cNvSpPr txBox="1"/>
          <p:nvPr/>
        </p:nvSpPr>
        <p:spPr>
          <a:xfrm>
            <a:off x="1875750" y="810000"/>
            <a:ext cx="26619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work out the volume in a similar way to a prism.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3"/>
          <p:cNvSpPr/>
          <p:nvPr/>
        </p:nvSpPr>
        <p:spPr>
          <a:xfrm>
            <a:off x="3510375" y="3720900"/>
            <a:ext cx="1405200" cy="4809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3"/>
          <p:cNvSpPr/>
          <p:nvPr/>
        </p:nvSpPr>
        <p:spPr>
          <a:xfrm>
            <a:off x="3510375" y="3683555"/>
            <a:ext cx="1405200" cy="4809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3"/>
          <p:cNvSpPr/>
          <p:nvPr/>
        </p:nvSpPr>
        <p:spPr>
          <a:xfrm>
            <a:off x="3510375" y="3647547"/>
            <a:ext cx="1405200" cy="4809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3"/>
          <p:cNvSpPr/>
          <p:nvPr/>
        </p:nvSpPr>
        <p:spPr>
          <a:xfrm>
            <a:off x="3510375" y="3612605"/>
            <a:ext cx="1405200" cy="4809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3"/>
          <p:cNvSpPr/>
          <p:nvPr/>
        </p:nvSpPr>
        <p:spPr>
          <a:xfrm>
            <a:off x="3510375" y="3575718"/>
            <a:ext cx="1405200" cy="4809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/>
          <p:nvPr/>
        </p:nvSpPr>
        <p:spPr>
          <a:xfrm>
            <a:off x="3510375" y="3561275"/>
            <a:ext cx="1405200" cy="4809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/>
          <p:nvPr/>
        </p:nvSpPr>
        <p:spPr>
          <a:xfrm>
            <a:off x="3510375" y="3539550"/>
            <a:ext cx="1405200" cy="4809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/>
          <p:nvPr/>
        </p:nvSpPr>
        <p:spPr>
          <a:xfrm>
            <a:off x="3510375" y="3513050"/>
            <a:ext cx="1405200" cy="4809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/>
          <p:nvPr/>
        </p:nvSpPr>
        <p:spPr>
          <a:xfrm>
            <a:off x="3511002" y="3474853"/>
            <a:ext cx="1405200" cy="4809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3"/>
          <p:cNvSpPr/>
          <p:nvPr/>
        </p:nvSpPr>
        <p:spPr>
          <a:xfrm>
            <a:off x="3511002" y="3437508"/>
            <a:ext cx="1405200" cy="4809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3"/>
          <p:cNvSpPr/>
          <p:nvPr/>
        </p:nvSpPr>
        <p:spPr>
          <a:xfrm>
            <a:off x="3511002" y="3401501"/>
            <a:ext cx="1405200" cy="4809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3"/>
          <p:cNvSpPr/>
          <p:nvPr/>
        </p:nvSpPr>
        <p:spPr>
          <a:xfrm>
            <a:off x="3511002" y="3366558"/>
            <a:ext cx="1405200" cy="4809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3"/>
          <p:cNvSpPr/>
          <p:nvPr/>
        </p:nvSpPr>
        <p:spPr>
          <a:xfrm>
            <a:off x="3511002" y="3329671"/>
            <a:ext cx="1405200" cy="4809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3"/>
          <p:cNvSpPr/>
          <p:nvPr/>
        </p:nvSpPr>
        <p:spPr>
          <a:xfrm>
            <a:off x="3511002" y="3315228"/>
            <a:ext cx="1405200" cy="4809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3"/>
          <p:cNvSpPr/>
          <p:nvPr/>
        </p:nvSpPr>
        <p:spPr>
          <a:xfrm>
            <a:off x="3511002" y="3293503"/>
            <a:ext cx="1405200" cy="4809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3"/>
          <p:cNvSpPr/>
          <p:nvPr/>
        </p:nvSpPr>
        <p:spPr>
          <a:xfrm>
            <a:off x="3511002" y="3267003"/>
            <a:ext cx="1405200" cy="4809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5" name="Google Shape;845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582850" y="2421693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73"/>
          <p:cNvSpPr txBox="1"/>
          <p:nvPr/>
        </p:nvSpPr>
        <p:spPr>
          <a:xfrm>
            <a:off x="7204825" y="354254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47" name="Google Shape;847;p73"/>
          <p:cNvCxnSpPr/>
          <p:nvPr/>
        </p:nvCxnSpPr>
        <p:spPr>
          <a:xfrm rot="10800000">
            <a:off x="5077450" y="3402925"/>
            <a:ext cx="0" cy="560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48" name="Google Shape;848;p73"/>
          <p:cNvSpPr txBox="1"/>
          <p:nvPr/>
        </p:nvSpPr>
        <p:spPr>
          <a:xfrm>
            <a:off x="5077450" y="3395650"/>
            <a:ext cx="393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height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9" name="Google Shape;849;p7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730659" y="876450"/>
            <a:ext cx="2662052" cy="169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volume of a cylinder</a:t>
            </a:r>
            <a:endParaRPr/>
          </a:p>
        </p:txBody>
      </p:sp>
      <p:sp>
        <p:nvSpPr>
          <p:cNvPr id="855" name="Google Shape;855;p74"/>
          <p:cNvSpPr txBox="1"/>
          <p:nvPr/>
        </p:nvSpPr>
        <p:spPr>
          <a:xfrm>
            <a:off x="368700" y="810000"/>
            <a:ext cx="828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Volume is the space inside of a 3D solid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 calculated by multiplying three perpendicular lengths.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4"/>
          <p:cNvSpPr txBox="1"/>
          <p:nvPr/>
        </p:nvSpPr>
        <p:spPr>
          <a:xfrm>
            <a:off x="377400" y="1785200"/>
            <a:ext cx="788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Volume of any prism = area of cross-section × length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4"/>
          <p:cNvSpPr txBox="1"/>
          <p:nvPr/>
        </p:nvSpPr>
        <p:spPr>
          <a:xfrm>
            <a:off x="2723613" y="2160000"/>
            <a:ext cx="488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(length × length) × length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4"/>
          <p:cNvSpPr txBox="1"/>
          <p:nvPr/>
        </p:nvSpPr>
        <p:spPr>
          <a:xfrm>
            <a:off x="368700" y="2793350"/>
            <a:ext cx="7551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Units of volume can be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 m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think of any others?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9" name="Google Shape;85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9694" y="1588557"/>
            <a:ext cx="1353350" cy="205392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74"/>
          <p:cNvSpPr/>
          <p:nvPr/>
        </p:nvSpPr>
        <p:spPr>
          <a:xfrm>
            <a:off x="0" y="114100"/>
            <a:ext cx="82825" cy="148600"/>
          </a:xfrm>
          <a:custGeom>
            <a:rect b="b" l="l" r="r" t="t"/>
            <a:pathLst>
              <a:path extrusionOk="0" h="5944" w="3313">
                <a:moveTo>
                  <a:pt x="302072" y="90395"/>
                </a:moveTo>
                <a:lnTo>
                  <a:pt x="305385" y="92344"/>
                </a:lnTo>
                <a:lnTo>
                  <a:pt x="305385" y="88057"/>
                </a:lnTo>
                <a:lnTo>
                  <a:pt x="302169" y="86400"/>
                </a:lnTo>
                <a:close/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61" name="Google Shape;861;p74"/>
          <p:cNvSpPr/>
          <p:nvPr/>
        </p:nvSpPr>
        <p:spPr>
          <a:xfrm>
            <a:off x="7551800" y="2207075"/>
            <a:ext cx="168075" cy="101525"/>
          </a:xfrm>
          <a:custGeom>
            <a:rect b="b" l="l" r="r" t="t"/>
            <a:pathLst>
              <a:path extrusionOk="0" h="4061" w="6723">
                <a:moveTo>
                  <a:pt x="0" y="2112"/>
                </a:moveTo>
                <a:lnTo>
                  <a:pt x="3313" y="4061"/>
                </a:lnTo>
                <a:lnTo>
                  <a:pt x="6723" y="2338"/>
                </a:lnTo>
                <a:lnTo>
                  <a:pt x="3215" y="0"/>
                </a:lnTo>
                <a:close/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62" name="Google Shape;862;p74"/>
          <p:cNvSpPr/>
          <p:nvPr/>
        </p:nvSpPr>
        <p:spPr>
          <a:xfrm flipH="1">
            <a:off x="15188850" y="114100"/>
            <a:ext cx="82825" cy="148600"/>
          </a:xfrm>
          <a:custGeom>
            <a:rect b="b" l="l" r="r" t="t"/>
            <a:pathLst>
              <a:path extrusionOk="0" h="5944" w="3313">
                <a:moveTo>
                  <a:pt x="302072" y="90395"/>
                </a:moveTo>
                <a:lnTo>
                  <a:pt x="305385" y="92344"/>
                </a:lnTo>
                <a:lnTo>
                  <a:pt x="305385" y="88057"/>
                </a:lnTo>
                <a:lnTo>
                  <a:pt x="302169" y="86400"/>
                </a:lnTo>
                <a:close/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63" name="Google Shape;863;p74"/>
          <p:cNvSpPr txBox="1"/>
          <p:nvPr/>
        </p:nvSpPr>
        <p:spPr>
          <a:xfrm>
            <a:off x="1177075" y="3600925"/>
            <a:ext cx="596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volume of a cylinder</a:t>
            </a:r>
            <a:endParaRPr/>
          </a:p>
        </p:txBody>
      </p:sp>
      <p:pic>
        <p:nvPicPr>
          <p:cNvPr id="869" name="Google Shape;869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075" y="1309970"/>
            <a:ext cx="1951450" cy="26912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0" name="Google Shape;870;p75"/>
          <p:cNvCxnSpPr/>
          <p:nvPr/>
        </p:nvCxnSpPr>
        <p:spPr>
          <a:xfrm>
            <a:off x="3128525" y="1695344"/>
            <a:ext cx="0" cy="192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71" name="Google Shape;871;p75"/>
          <p:cNvSpPr txBox="1"/>
          <p:nvPr/>
        </p:nvSpPr>
        <p:spPr>
          <a:xfrm>
            <a:off x="3229200" y="2369620"/>
            <a:ext cx="952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height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5"/>
          <p:cNvSpPr/>
          <p:nvPr/>
        </p:nvSpPr>
        <p:spPr>
          <a:xfrm>
            <a:off x="5048900" y="1237500"/>
            <a:ext cx="1845000" cy="1845000"/>
          </a:xfrm>
          <a:prstGeom prst="ellipse">
            <a:avLst/>
          </a:prstGeom>
          <a:solidFill>
            <a:srgbClr val="C1B0E2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3" name="Google Shape;873;p75"/>
          <p:cNvCxnSpPr/>
          <p:nvPr/>
        </p:nvCxnSpPr>
        <p:spPr>
          <a:xfrm flipH="1" rot="10800000">
            <a:off x="2207000" y="1424800"/>
            <a:ext cx="2841900" cy="30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4" name="Google Shape;874;p75"/>
          <p:cNvSpPr txBox="1"/>
          <p:nvPr/>
        </p:nvSpPr>
        <p:spPr>
          <a:xfrm>
            <a:off x="4874400" y="725001"/>
            <a:ext cx="276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Circular cross-section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5"/>
          <p:cNvSpPr txBox="1"/>
          <p:nvPr/>
        </p:nvSpPr>
        <p:spPr>
          <a:xfrm>
            <a:off x="6134900" y="2079150"/>
            <a:ext cx="75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5"/>
          <p:cNvSpPr txBox="1"/>
          <p:nvPr/>
        </p:nvSpPr>
        <p:spPr>
          <a:xfrm>
            <a:off x="5288325" y="1453475"/>
            <a:ext cx="75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7" name="Google Shape;877;p75"/>
          <p:cNvCxnSpPr/>
          <p:nvPr/>
        </p:nvCxnSpPr>
        <p:spPr>
          <a:xfrm flipH="1">
            <a:off x="5967500" y="1219625"/>
            <a:ext cx="7800" cy="96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878" name="Google Shape;878;p75"/>
          <p:cNvCxnSpPr/>
          <p:nvPr/>
        </p:nvCxnSpPr>
        <p:spPr>
          <a:xfrm flipH="1">
            <a:off x="6915300" y="1223525"/>
            <a:ext cx="7800" cy="96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879" name="Google Shape;879;p75"/>
          <p:cNvCxnSpPr/>
          <p:nvPr/>
        </p:nvCxnSpPr>
        <p:spPr>
          <a:xfrm flipH="1" rot="5400000">
            <a:off x="6443750" y="1688549"/>
            <a:ext cx="7800" cy="96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880" name="Google Shape;880;p75"/>
          <p:cNvCxnSpPr/>
          <p:nvPr/>
        </p:nvCxnSpPr>
        <p:spPr>
          <a:xfrm flipH="1" rot="5400000">
            <a:off x="6443750" y="750701"/>
            <a:ext cx="7800" cy="96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881" name="Google Shape;881;p75"/>
          <p:cNvSpPr txBox="1"/>
          <p:nvPr/>
        </p:nvSpPr>
        <p:spPr>
          <a:xfrm>
            <a:off x="5288325" y="3133300"/>
            <a:ext cx="141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𝜋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2" name="Google Shape;882;p75"/>
          <p:cNvSpPr txBox="1"/>
          <p:nvPr/>
        </p:nvSpPr>
        <p:spPr>
          <a:xfrm>
            <a:off x="4320000" y="3827400"/>
            <a:ext cx="4121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Volume of a cylinder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𝜋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height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volume of a cylinder</a:t>
            </a:r>
            <a:endParaRPr/>
          </a:p>
        </p:txBody>
      </p:sp>
      <p:pic>
        <p:nvPicPr>
          <p:cNvPr id="888" name="Google Shape;88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075" y="1309970"/>
            <a:ext cx="1951450" cy="26912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9" name="Google Shape;889;p76"/>
          <p:cNvCxnSpPr/>
          <p:nvPr/>
        </p:nvCxnSpPr>
        <p:spPr>
          <a:xfrm>
            <a:off x="3128525" y="1695344"/>
            <a:ext cx="0" cy="192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90" name="Google Shape;890;p76"/>
          <p:cNvSpPr txBox="1"/>
          <p:nvPr/>
        </p:nvSpPr>
        <p:spPr>
          <a:xfrm>
            <a:off x="3229200" y="2369620"/>
            <a:ext cx="9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6"/>
          <p:cNvSpPr txBox="1"/>
          <p:nvPr/>
        </p:nvSpPr>
        <p:spPr>
          <a:xfrm>
            <a:off x="2242698" y="1533575"/>
            <a:ext cx="75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2" name="Google Shape;892;p76"/>
          <p:cNvCxnSpPr/>
          <p:nvPr/>
        </p:nvCxnSpPr>
        <p:spPr>
          <a:xfrm flipH="1">
            <a:off x="2183898" y="1703224"/>
            <a:ext cx="851700" cy="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893" name="Google Shape;893;p76"/>
          <p:cNvSpPr txBox="1"/>
          <p:nvPr/>
        </p:nvSpPr>
        <p:spPr>
          <a:xfrm>
            <a:off x="4048950" y="910925"/>
            <a:ext cx="4995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Volume of a cylinder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𝜋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radius and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height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6"/>
          <p:cNvSpPr txBox="1"/>
          <p:nvPr/>
        </p:nvSpPr>
        <p:spPr>
          <a:xfrm>
            <a:off x="4134300" y="3836385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5" name="Google Shape;895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4846" y="3047838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76"/>
          <p:cNvPicPr preferRelativeResize="0"/>
          <p:nvPr/>
        </p:nvPicPr>
        <p:blipFill rotWithShape="1">
          <a:blip r:embed="rId5">
            <a:alphaModFix/>
          </a:blip>
          <a:srcRect b="45233" l="-1713" r="59618" t="-1542"/>
          <a:stretch/>
        </p:blipFill>
        <p:spPr>
          <a:xfrm flipH="1">
            <a:off x="5222384" y="2047470"/>
            <a:ext cx="2662052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76"/>
          <p:cNvSpPr txBox="1"/>
          <p:nvPr/>
        </p:nvSpPr>
        <p:spPr>
          <a:xfrm>
            <a:off x="5376300" y="2196200"/>
            <a:ext cx="2341200" cy="11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Because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order of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operations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you must square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radius before anything else.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volume of a cylinder</a:t>
            </a:r>
            <a:endParaRPr/>
          </a:p>
        </p:txBody>
      </p:sp>
      <p:pic>
        <p:nvPicPr>
          <p:cNvPr id="903" name="Google Shape;90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075" y="1614770"/>
            <a:ext cx="1951450" cy="26912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4" name="Google Shape;904;p77"/>
          <p:cNvCxnSpPr/>
          <p:nvPr/>
        </p:nvCxnSpPr>
        <p:spPr>
          <a:xfrm>
            <a:off x="3128525" y="2000144"/>
            <a:ext cx="0" cy="192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05" name="Google Shape;905;p77"/>
          <p:cNvSpPr txBox="1"/>
          <p:nvPr/>
        </p:nvSpPr>
        <p:spPr>
          <a:xfrm>
            <a:off x="3229200" y="2674420"/>
            <a:ext cx="952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7"/>
          <p:cNvSpPr txBox="1"/>
          <p:nvPr/>
        </p:nvSpPr>
        <p:spPr>
          <a:xfrm>
            <a:off x="2242698" y="1853863"/>
            <a:ext cx="75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7" name="Google Shape;907;p77"/>
          <p:cNvCxnSpPr/>
          <p:nvPr/>
        </p:nvCxnSpPr>
        <p:spPr>
          <a:xfrm flipH="1">
            <a:off x="2183898" y="2008024"/>
            <a:ext cx="851700" cy="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908" name="Google Shape;908;p77"/>
          <p:cNvSpPr txBox="1"/>
          <p:nvPr/>
        </p:nvSpPr>
        <p:spPr>
          <a:xfrm>
            <a:off x="277675" y="647625"/>
            <a:ext cx="4995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Volume of a cylinder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𝜋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where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radius and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height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7"/>
          <p:cNvSpPr txBox="1"/>
          <p:nvPr/>
        </p:nvSpPr>
        <p:spPr>
          <a:xfrm>
            <a:off x="4499200" y="1603000"/>
            <a:ext cx="41034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6699" lvl="0" marL="266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 = 𝜋 × 4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9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𝜋 × 16 × 9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144𝜋 cm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452 cm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(3 s.f.)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075" y="1309975"/>
            <a:ext cx="1951449" cy="2685116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78"/>
          <p:cNvSpPr txBox="1"/>
          <p:nvPr>
            <p:ph idx="1" type="body"/>
          </p:nvPr>
        </p:nvSpPr>
        <p:spPr>
          <a:xfrm>
            <a:off x="324000" y="759300"/>
            <a:ext cx="82377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 the errors in this solution.</a:t>
            </a:r>
            <a:endParaRPr/>
          </a:p>
        </p:txBody>
      </p:sp>
      <p:sp>
        <p:nvSpPr>
          <p:cNvPr id="916" name="Google Shape;916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volume of a cylinder</a:t>
            </a:r>
            <a:endParaRPr/>
          </a:p>
        </p:txBody>
      </p:sp>
      <p:cxnSp>
        <p:nvCxnSpPr>
          <p:cNvPr id="917" name="Google Shape;917;p78"/>
          <p:cNvCxnSpPr/>
          <p:nvPr/>
        </p:nvCxnSpPr>
        <p:spPr>
          <a:xfrm>
            <a:off x="3128525" y="1695344"/>
            <a:ext cx="0" cy="192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18" name="Google Shape;918;p78"/>
          <p:cNvSpPr txBox="1"/>
          <p:nvPr/>
        </p:nvSpPr>
        <p:spPr>
          <a:xfrm>
            <a:off x="3229200" y="2369620"/>
            <a:ext cx="952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8"/>
          <p:cNvSpPr txBox="1"/>
          <p:nvPr/>
        </p:nvSpPr>
        <p:spPr>
          <a:xfrm>
            <a:off x="2242698" y="1595526"/>
            <a:ext cx="75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0" name="Google Shape;920;p78"/>
          <p:cNvCxnSpPr/>
          <p:nvPr/>
        </p:nvCxnSpPr>
        <p:spPr>
          <a:xfrm flipH="1">
            <a:off x="2183898" y="1703224"/>
            <a:ext cx="851700" cy="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921" name="Google Shape;921;p78"/>
          <p:cNvSpPr txBox="1"/>
          <p:nvPr/>
        </p:nvSpPr>
        <p:spPr>
          <a:xfrm>
            <a:off x="3771300" y="1445675"/>
            <a:ext cx="511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Volume = 𝜋 × (5 × 12)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3600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𝜋 cm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8"/>
          <p:cNvSpPr/>
          <p:nvPr/>
        </p:nvSpPr>
        <p:spPr>
          <a:xfrm>
            <a:off x="5645300" y="1533300"/>
            <a:ext cx="1084200" cy="371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8"/>
          <p:cNvSpPr/>
          <p:nvPr/>
        </p:nvSpPr>
        <p:spPr>
          <a:xfrm>
            <a:off x="7873075" y="1533300"/>
            <a:ext cx="629700" cy="371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4" name="Google Shape;924;p78"/>
          <p:cNvCxnSpPr>
            <a:stCxn id="922" idx="2"/>
          </p:cNvCxnSpPr>
          <p:nvPr/>
        </p:nvCxnSpPr>
        <p:spPr>
          <a:xfrm flipH="1">
            <a:off x="5289200" y="1905000"/>
            <a:ext cx="898200" cy="480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5" name="Google Shape;925;p78"/>
          <p:cNvSpPr txBox="1"/>
          <p:nvPr/>
        </p:nvSpPr>
        <p:spPr>
          <a:xfrm>
            <a:off x="4572000" y="2385000"/>
            <a:ext cx="2175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Only the radius (5) should be squared.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26" name="Google Shape;926;p78"/>
          <p:cNvCxnSpPr>
            <a:stCxn id="923" idx="2"/>
          </p:cNvCxnSpPr>
          <p:nvPr/>
        </p:nvCxnSpPr>
        <p:spPr>
          <a:xfrm flipH="1">
            <a:off x="8014825" y="1905000"/>
            <a:ext cx="173100" cy="78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7" name="Google Shape;927;p78"/>
          <p:cNvSpPr txBox="1"/>
          <p:nvPr/>
        </p:nvSpPr>
        <p:spPr>
          <a:xfrm>
            <a:off x="6877200" y="2625950"/>
            <a:ext cx="2175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units should be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8" name="Google Shape;928;p78"/>
          <p:cNvSpPr txBox="1"/>
          <p:nvPr/>
        </p:nvSpPr>
        <p:spPr>
          <a:xfrm>
            <a:off x="4657175" y="3616550"/>
            <a:ext cx="3600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Therefore the answer is wrong too.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volume of a cylinder</a:t>
            </a:r>
            <a:endParaRPr/>
          </a:p>
        </p:txBody>
      </p:sp>
      <p:sp>
        <p:nvSpPr>
          <p:cNvPr id="934" name="Google Shape;934;p79"/>
          <p:cNvSpPr txBox="1"/>
          <p:nvPr/>
        </p:nvSpPr>
        <p:spPr>
          <a:xfrm>
            <a:off x="1849700" y="706400"/>
            <a:ext cx="847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Sofia sees some packaging at the shop that is this shape.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9"/>
          <p:cNvSpPr txBox="1"/>
          <p:nvPr/>
        </p:nvSpPr>
        <p:spPr>
          <a:xfrm>
            <a:off x="383863" y="180554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6" name="Google Shape;93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83940" y="97451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79"/>
          <p:cNvSpPr/>
          <p:nvPr/>
        </p:nvSpPr>
        <p:spPr>
          <a:xfrm>
            <a:off x="2392875" y="1432600"/>
            <a:ext cx="1084200" cy="759000"/>
          </a:xfrm>
          <a:prstGeom prst="can">
            <a:avLst>
              <a:gd fmla="val 34286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9"/>
          <p:cNvSpPr/>
          <p:nvPr/>
        </p:nvSpPr>
        <p:spPr>
          <a:xfrm>
            <a:off x="2617425" y="1510050"/>
            <a:ext cx="658200" cy="1101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79"/>
          <p:cNvSpPr/>
          <p:nvPr/>
        </p:nvSpPr>
        <p:spPr>
          <a:xfrm>
            <a:off x="5211250" y="1168100"/>
            <a:ext cx="982800" cy="982800"/>
          </a:xfrm>
          <a:prstGeom prst="donut">
            <a:avLst>
              <a:gd fmla="val 17478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79"/>
          <p:cNvSpPr txBox="1"/>
          <p:nvPr/>
        </p:nvSpPr>
        <p:spPr>
          <a:xfrm>
            <a:off x="6319075" y="1080000"/>
            <a:ext cx="130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side view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79"/>
          <p:cNvSpPr txBox="1"/>
          <p:nvPr/>
        </p:nvSpPr>
        <p:spPr>
          <a:xfrm>
            <a:off x="468600" y="2423825"/>
            <a:ext cx="410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She describes it as a cylinder with a narrower cylinder removed.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9"/>
          <p:cNvSpPr/>
          <p:nvPr/>
        </p:nvSpPr>
        <p:spPr>
          <a:xfrm>
            <a:off x="6977850" y="1432600"/>
            <a:ext cx="1084200" cy="759000"/>
          </a:xfrm>
          <a:prstGeom prst="can">
            <a:avLst>
              <a:gd fmla="val 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9"/>
          <p:cNvSpPr txBox="1"/>
          <p:nvPr/>
        </p:nvSpPr>
        <p:spPr>
          <a:xfrm>
            <a:off x="4016675" y="1080000"/>
            <a:ext cx="130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view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9"/>
          <p:cNvSpPr txBox="1"/>
          <p:nvPr/>
        </p:nvSpPr>
        <p:spPr>
          <a:xfrm>
            <a:off x="518850" y="3283425"/>
            <a:ext cx="410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there a way to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volume of this?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5" name="Google Shape;945;p79"/>
          <p:cNvGrpSpPr/>
          <p:nvPr/>
        </p:nvGrpSpPr>
        <p:grpSpPr>
          <a:xfrm>
            <a:off x="4824000" y="2400700"/>
            <a:ext cx="4136178" cy="2383573"/>
            <a:chOff x="4824000" y="2324500"/>
            <a:chExt cx="4136178" cy="2383573"/>
          </a:xfrm>
        </p:grpSpPr>
        <p:sp>
          <p:nvSpPr>
            <p:cNvPr id="946" name="Google Shape;946;p79"/>
            <p:cNvSpPr txBox="1"/>
            <p:nvPr/>
          </p:nvSpPr>
          <p:spPr>
            <a:xfrm>
              <a:off x="4824000" y="2324500"/>
              <a:ext cx="2447400" cy="14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Calculate the area of the cross-section, then multiply it by the height.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947" name="Google Shape;947;p79"/>
            <p:cNvSpPr txBox="1"/>
            <p:nvPr/>
          </p:nvSpPr>
          <p:spPr>
            <a:xfrm>
              <a:off x="7302978" y="4122173"/>
              <a:ext cx="16572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Alex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48" name="Google Shape;948;p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70697" y="3740488"/>
              <a:ext cx="777007" cy="896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9" name="Google Shape;949;p79"/>
            <p:cNvPicPr preferRelativeResize="0"/>
            <p:nvPr/>
          </p:nvPicPr>
          <p:blipFill rotWithShape="1">
            <a:blip r:embed="rId5">
              <a:alphaModFix/>
            </a:blip>
            <a:srcRect b="43690" l="0" r="57905" t="0"/>
            <a:stretch/>
          </p:blipFill>
          <p:spPr>
            <a:xfrm>
              <a:off x="4824000" y="2324500"/>
              <a:ext cx="2662052" cy="16953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8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690050" y="2315395"/>
            <a:ext cx="2796001" cy="1780606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volume of a cylinder</a:t>
            </a:r>
            <a:endParaRPr/>
          </a:p>
        </p:txBody>
      </p:sp>
      <p:sp>
        <p:nvSpPr>
          <p:cNvPr id="956" name="Google Shape;956;p80"/>
          <p:cNvSpPr txBox="1"/>
          <p:nvPr/>
        </p:nvSpPr>
        <p:spPr>
          <a:xfrm>
            <a:off x="1849700" y="706400"/>
            <a:ext cx="847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Sofia sees some packaging at the shop that is this shape.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80"/>
          <p:cNvSpPr txBox="1"/>
          <p:nvPr/>
        </p:nvSpPr>
        <p:spPr>
          <a:xfrm>
            <a:off x="383863" y="180554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8" name="Google Shape;958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83940" y="97451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80"/>
          <p:cNvSpPr/>
          <p:nvPr/>
        </p:nvSpPr>
        <p:spPr>
          <a:xfrm>
            <a:off x="2392875" y="1432600"/>
            <a:ext cx="1084200" cy="759000"/>
          </a:xfrm>
          <a:prstGeom prst="can">
            <a:avLst>
              <a:gd fmla="val 34286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80"/>
          <p:cNvSpPr/>
          <p:nvPr/>
        </p:nvSpPr>
        <p:spPr>
          <a:xfrm>
            <a:off x="2617425" y="1510050"/>
            <a:ext cx="658200" cy="1101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80"/>
          <p:cNvSpPr/>
          <p:nvPr/>
        </p:nvSpPr>
        <p:spPr>
          <a:xfrm>
            <a:off x="5211250" y="1168100"/>
            <a:ext cx="982800" cy="982800"/>
          </a:xfrm>
          <a:prstGeom prst="donut">
            <a:avLst>
              <a:gd fmla="val 17478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80"/>
          <p:cNvSpPr txBox="1"/>
          <p:nvPr/>
        </p:nvSpPr>
        <p:spPr>
          <a:xfrm>
            <a:off x="6319075" y="1080000"/>
            <a:ext cx="130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side view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80"/>
          <p:cNvSpPr txBox="1"/>
          <p:nvPr/>
        </p:nvSpPr>
        <p:spPr>
          <a:xfrm>
            <a:off x="468600" y="2423825"/>
            <a:ext cx="410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She describes it as a cylinder with a narrower cylinder removed.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80"/>
          <p:cNvSpPr/>
          <p:nvPr/>
        </p:nvSpPr>
        <p:spPr>
          <a:xfrm>
            <a:off x="6977850" y="1432600"/>
            <a:ext cx="1084200" cy="759000"/>
          </a:xfrm>
          <a:prstGeom prst="can">
            <a:avLst>
              <a:gd fmla="val 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0"/>
          <p:cNvSpPr txBox="1"/>
          <p:nvPr/>
        </p:nvSpPr>
        <p:spPr>
          <a:xfrm>
            <a:off x="4016675" y="1080000"/>
            <a:ext cx="130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plan view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80"/>
          <p:cNvSpPr txBox="1"/>
          <p:nvPr/>
        </p:nvSpPr>
        <p:spPr>
          <a:xfrm>
            <a:off x="518850" y="3283425"/>
            <a:ext cx="410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there a way to calculate the volume of this?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80"/>
          <p:cNvSpPr txBox="1"/>
          <p:nvPr/>
        </p:nvSpPr>
        <p:spPr>
          <a:xfrm>
            <a:off x="4663856" y="2369724"/>
            <a:ext cx="2796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Subtract the volume of the centre cylinder from the volume of the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larger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cylinder.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8" name="Google Shape;968;p80"/>
          <p:cNvSpPr txBox="1"/>
          <p:nvPr/>
        </p:nvSpPr>
        <p:spPr>
          <a:xfrm>
            <a:off x="7459194" y="388842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9" name="Google Shape;969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110982" y="3740500"/>
            <a:ext cx="705943" cy="101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volume of a cylinder</a:t>
            </a:r>
            <a:endParaRPr/>
          </a:p>
        </p:txBody>
      </p:sp>
      <p:sp>
        <p:nvSpPr>
          <p:cNvPr id="975" name="Google Shape;975;p81"/>
          <p:cNvSpPr/>
          <p:nvPr/>
        </p:nvSpPr>
        <p:spPr>
          <a:xfrm>
            <a:off x="704700" y="1076375"/>
            <a:ext cx="1084200" cy="759000"/>
          </a:xfrm>
          <a:prstGeom prst="can">
            <a:avLst>
              <a:gd fmla="val 34286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81"/>
          <p:cNvSpPr/>
          <p:nvPr/>
        </p:nvSpPr>
        <p:spPr>
          <a:xfrm>
            <a:off x="929250" y="1153825"/>
            <a:ext cx="658200" cy="1101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81"/>
          <p:cNvSpPr/>
          <p:nvPr/>
        </p:nvSpPr>
        <p:spPr>
          <a:xfrm>
            <a:off x="3523075" y="811875"/>
            <a:ext cx="982800" cy="982800"/>
          </a:xfrm>
          <a:prstGeom prst="donut">
            <a:avLst>
              <a:gd fmla="val 17478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81"/>
          <p:cNvSpPr txBox="1"/>
          <p:nvPr/>
        </p:nvSpPr>
        <p:spPr>
          <a:xfrm>
            <a:off x="4630900" y="723775"/>
            <a:ext cx="130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side view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81"/>
          <p:cNvSpPr/>
          <p:nvPr/>
        </p:nvSpPr>
        <p:spPr>
          <a:xfrm>
            <a:off x="5289675" y="1076375"/>
            <a:ext cx="1084200" cy="759000"/>
          </a:xfrm>
          <a:prstGeom prst="can">
            <a:avLst>
              <a:gd fmla="val 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81"/>
          <p:cNvSpPr txBox="1"/>
          <p:nvPr/>
        </p:nvSpPr>
        <p:spPr>
          <a:xfrm>
            <a:off x="2328500" y="723775"/>
            <a:ext cx="130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plan view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81"/>
          <p:cNvSpPr txBox="1"/>
          <p:nvPr/>
        </p:nvSpPr>
        <p:spPr>
          <a:xfrm>
            <a:off x="7536644" y="187527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2" name="Google Shape;98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459207" y="2191725"/>
            <a:ext cx="705943" cy="1016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3" name="Google Shape;983;p81"/>
          <p:cNvCxnSpPr/>
          <p:nvPr/>
        </p:nvCxnSpPr>
        <p:spPr>
          <a:xfrm>
            <a:off x="6504875" y="1080000"/>
            <a:ext cx="0" cy="763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84" name="Google Shape;984;p81"/>
          <p:cNvCxnSpPr/>
          <p:nvPr/>
        </p:nvCxnSpPr>
        <p:spPr>
          <a:xfrm>
            <a:off x="1879300" y="1177475"/>
            <a:ext cx="0" cy="556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85" name="Google Shape;985;p81"/>
          <p:cNvCxnSpPr/>
          <p:nvPr/>
        </p:nvCxnSpPr>
        <p:spPr>
          <a:xfrm rot="10800000">
            <a:off x="3523075" y="1836675"/>
            <a:ext cx="982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86" name="Google Shape;986;p81"/>
          <p:cNvCxnSpPr/>
          <p:nvPr/>
        </p:nvCxnSpPr>
        <p:spPr>
          <a:xfrm>
            <a:off x="4026825" y="1312575"/>
            <a:ext cx="29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87" name="Google Shape;987;p81"/>
          <p:cNvCxnSpPr/>
          <p:nvPr/>
        </p:nvCxnSpPr>
        <p:spPr>
          <a:xfrm rot="10800000">
            <a:off x="712450" y="859625"/>
            <a:ext cx="0" cy="36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88" name="Google Shape;988;p81"/>
          <p:cNvCxnSpPr/>
          <p:nvPr/>
        </p:nvCxnSpPr>
        <p:spPr>
          <a:xfrm rot="10800000">
            <a:off x="1788900" y="859625"/>
            <a:ext cx="0" cy="36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81"/>
          <p:cNvCxnSpPr/>
          <p:nvPr/>
        </p:nvCxnSpPr>
        <p:spPr>
          <a:xfrm rot="10800000">
            <a:off x="716375" y="898350"/>
            <a:ext cx="106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90" name="Google Shape;990;p81"/>
          <p:cNvCxnSpPr/>
          <p:nvPr/>
        </p:nvCxnSpPr>
        <p:spPr>
          <a:xfrm rot="10800000">
            <a:off x="1250675" y="1223675"/>
            <a:ext cx="0" cy="766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81"/>
          <p:cNvCxnSpPr/>
          <p:nvPr/>
        </p:nvCxnSpPr>
        <p:spPr>
          <a:xfrm rot="10800000">
            <a:off x="1575950" y="1183075"/>
            <a:ext cx="0" cy="822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2" name="Google Shape;992;p81"/>
          <p:cNvCxnSpPr/>
          <p:nvPr/>
        </p:nvCxnSpPr>
        <p:spPr>
          <a:xfrm rot="10800000">
            <a:off x="1238900" y="2005625"/>
            <a:ext cx="348600" cy="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93" name="Google Shape;993;p81"/>
          <p:cNvSpPr txBox="1"/>
          <p:nvPr/>
        </p:nvSpPr>
        <p:spPr>
          <a:xfrm>
            <a:off x="1238900" y="1952675"/>
            <a:ext cx="65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81"/>
          <p:cNvSpPr txBox="1"/>
          <p:nvPr/>
        </p:nvSpPr>
        <p:spPr>
          <a:xfrm>
            <a:off x="882855" y="539576"/>
            <a:ext cx="86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26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81"/>
          <p:cNvSpPr txBox="1"/>
          <p:nvPr/>
        </p:nvSpPr>
        <p:spPr>
          <a:xfrm>
            <a:off x="3614480" y="1793976"/>
            <a:ext cx="86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26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81"/>
          <p:cNvSpPr txBox="1"/>
          <p:nvPr/>
        </p:nvSpPr>
        <p:spPr>
          <a:xfrm>
            <a:off x="3717063" y="970675"/>
            <a:ext cx="65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81"/>
          <p:cNvSpPr txBox="1"/>
          <p:nvPr/>
        </p:nvSpPr>
        <p:spPr>
          <a:xfrm>
            <a:off x="1879300" y="1246050"/>
            <a:ext cx="65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81"/>
          <p:cNvSpPr txBox="1"/>
          <p:nvPr/>
        </p:nvSpPr>
        <p:spPr>
          <a:xfrm>
            <a:off x="6504875" y="1210800"/>
            <a:ext cx="65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81"/>
          <p:cNvSpPr txBox="1"/>
          <p:nvPr/>
        </p:nvSpPr>
        <p:spPr>
          <a:xfrm>
            <a:off x="341053" y="2243185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0" name="Google Shape;1000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4697" y="2501063"/>
            <a:ext cx="777007" cy="8960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1" name="Google Shape;1001;p81"/>
          <p:cNvCxnSpPr/>
          <p:nvPr/>
        </p:nvCxnSpPr>
        <p:spPr>
          <a:xfrm>
            <a:off x="4572000" y="2338650"/>
            <a:ext cx="0" cy="2485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2" name="Google Shape;1002;p81"/>
          <p:cNvSpPr txBox="1"/>
          <p:nvPr/>
        </p:nvSpPr>
        <p:spPr>
          <a:xfrm>
            <a:off x="468600" y="3438100"/>
            <a:ext cx="4103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Cross-sectional area: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 × 13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-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 × 8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105𝜋 cm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Volume = 105𝜋 × 6 = 630𝜋 cm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3" name="Google Shape;1003;p81"/>
          <p:cNvSpPr txBox="1"/>
          <p:nvPr/>
        </p:nvSpPr>
        <p:spPr>
          <a:xfrm>
            <a:off x="4716600" y="2380950"/>
            <a:ext cx="4103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Volume of large cylinder =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 × 13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6 =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1014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 cm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Volume of inner cylinder =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 × 8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6 = 384𝜋 cm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Volume = 1014𝜋 - 384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630𝜋 cm</a:t>
            </a:r>
            <a:r>
              <a:rPr baseline="30000"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82"/>
          <p:cNvSpPr txBox="1"/>
          <p:nvPr>
            <p:ph idx="1" type="subTitle"/>
          </p:nvPr>
        </p:nvSpPr>
        <p:spPr>
          <a:xfrm>
            <a:off x="1034425" y="1685375"/>
            <a:ext cx="4696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(𝜋 × 32</a:t>
            </a:r>
            <a:r>
              <a:rPr baseline="30000" lang="en-GB" sz="1800"/>
              <a:t>2</a:t>
            </a:r>
            <a:r>
              <a:rPr lang="en-GB" sz="1800"/>
              <a:t> - 𝜋 × 4</a:t>
            </a:r>
            <a:r>
              <a:rPr baseline="30000" lang="en-GB" sz="1800"/>
              <a:t>2</a:t>
            </a:r>
            <a:r>
              <a:rPr lang="en-GB" sz="1800"/>
              <a:t>) × 3</a:t>
            </a:r>
            <a:endParaRPr sz="1800"/>
          </a:p>
        </p:txBody>
      </p:sp>
      <p:sp>
        <p:nvSpPr>
          <p:cNvPr id="1009" name="Google Shape;1009;p8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volume of a cylinder</a:t>
            </a:r>
            <a:endParaRPr/>
          </a:p>
        </p:txBody>
      </p:sp>
      <p:sp>
        <p:nvSpPr>
          <p:cNvPr id="1010" name="Google Shape;1010;p82"/>
          <p:cNvSpPr txBox="1"/>
          <p:nvPr>
            <p:ph type="title"/>
          </p:nvPr>
        </p:nvSpPr>
        <p:spPr>
          <a:xfrm>
            <a:off x="324000" y="810000"/>
            <a:ext cx="83934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 necklace pendant is cylindrical. Its cross-section is shown here. It is 3 mm deep. Which calculation would work out the volume of the pendant?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11" name="Google Shape;1011;p82"/>
          <p:cNvSpPr txBox="1"/>
          <p:nvPr>
            <p:ph idx="3" type="subTitle"/>
          </p:nvPr>
        </p:nvSpPr>
        <p:spPr>
          <a:xfrm>
            <a:off x="1034425" y="2489443"/>
            <a:ext cx="4696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𝜋 × 32</a:t>
            </a:r>
            <a:r>
              <a:rPr baseline="30000" lang="en-GB" sz="1800"/>
              <a:t>2 </a:t>
            </a:r>
            <a:r>
              <a:rPr lang="en-GB" sz="1800"/>
              <a:t>× 3 - 𝜋 × 4</a:t>
            </a:r>
            <a:r>
              <a:rPr baseline="30000" lang="en-GB" sz="1800"/>
              <a:t>2 </a:t>
            </a:r>
            <a:r>
              <a:rPr lang="en-GB" sz="1800"/>
              <a:t>× 3</a:t>
            </a:r>
            <a:endParaRPr sz="1800"/>
          </a:p>
        </p:txBody>
      </p:sp>
      <p:sp>
        <p:nvSpPr>
          <p:cNvPr id="1012" name="Google Shape;1012;p82"/>
          <p:cNvSpPr txBox="1"/>
          <p:nvPr>
            <p:ph idx="4" type="subTitle"/>
          </p:nvPr>
        </p:nvSpPr>
        <p:spPr>
          <a:xfrm>
            <a:off x="1034425" y="3309758"/>
            <a:ext cx="4670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(𝜋 × 16</a:t>
            </a:r>
            <a:r>
              <a:rPr baseline="30000" lang="en-GB" sz="1800"/>
              <a:t>2</a:t>
            </a:r>
            <a:r>
              <a:rPr lang="en-GB" sz="1800"/>
              <a:t> - 𝜋 × 2</a:t>
            </a:r>
            <a:r>
              <a:rPr baseline="30000" lang="en-GB" sz="1800"/>
              <a:t>2</a:t>
            </a:r>
            <a:r>
              <a:rPr lang="en-GB" sz="1800"/>
              <a:t>) × 3</a:t>
            </a:r>
            <a:endParaRPr sz="1800"/>
          </a:p>
        </p:txBody>
      </p:sp>
      <p:sp>
        <p:nvSpPr>
          <p:cNvPr id="1013" name="Google Shape;1013;p82"/>
          <p:cNvSpPr txBox="1"/>
          <p:nvPr>
            <p:ph idx="5" type="subTitle"/>
          </p:nvPr>
        </p:nvSpPr>
        <p:spPr>
          <a:xfrm>
            <a:off x="1034425" y="4113827"/>
            <a:ext cx="46968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𝜋 × 16</a:t>
            </a:r>
            <a:r>
              <a:rPr baseline="30000" lang="en-GB" sz="1800"/>
              <a:t>2 </a:t>
            </a:r>
            <a:r>
              <a:rPr lang="en-GB" sz="1800"/>
              <a:t>× 3 - 𝜋 × 4</a:t>
            </a:r>
            <a:r>
              <a:rPr baseline="30000" lang="en-GB" sz="1800"/>
              <a:t>2 </a:t>
            </a:r>
            <a:r>
              <a:rPr lang="en-GB" sz="1800"/>
              <a:t>× 3</a:t>
            </a:r>
            <a:endParaRPr sz="1800"/>
          </a:p>
        </p:txBody>
      </p:sp>
      <p:sp>
        <p:nvSpPr>
          <p:cNvPr id="1014" name="Google Shape;1014;p82"/>
          <p:cNvSpPr/>
          <p:nvPr/>
        </p:nvSpPr>
        <p:spPr>
          <a:xfrm>
            <a:off x="7089475" y="1808250"/>
            <a:ext cx="1501500" cy="1501500"/>
          </a:xfrm>
          <a:prstGeom prst="ellipse">
            <a:avLst/>
          </a:prstGeom>
          <a:solidFill>
            <a:srgbClr val="D9D9D9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82"/>
          <p:cNvSpPr/>
          <p:nvPr/>
        </p:nvSpPr>
        <p:spPr>
          <a:xfrm>
            <a:off x="7706575" y="1892700"/>
            <a:ext cx="267300" cy="267300"/>
          </a:xfrm>
          <a:prstGeom prst="ellipse">
            <a:avLst/>
          </a:prstGeom>
          <a:solidFill>
            <a:srgbClr val="F3EEFB"/>
          </a:solidFill>
          <a:ln cap="flat" cmpd="sng" w="381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6" name="Google Shape;1016;p82"/>
          <p:cNvCxnSpPr>
            <a:stCxn id="1015" idx="2"/>
            <a:endCxn id="1015" idx="6"/>
          </p:cNvCxnSpPr>
          <p:nvPr/>
        </p:nvCxnSpPr>
        <p:spPr>
          <a:xfrm>
            <a:off x="7706575" y="2026350"/>
            <a:ext cx="267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17" name="Google Shape;1017;p82"/>
          <p:cNvCxnSpPr>
            <a:stCxn id="1014" idx="2"/>
            <a:endCxn id="1014" idx="6"/>
          </p:cNvCxnSpPr>
          <p:nvPr/>
        </p:nvCxnSpPr>
        <p:spPr>
          <a:xfrm>
            <a:off x="7089475" y="2559000"/>
            <a:ext cx="1501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18" name="Google Shape;1018;p82"/>
          <p:cNvSpPr txBox="1"/>
          <p:nvPr/>
        </p:nvSpPr>
        <p:spPr>
          <a:xfrm>
            <a:off x="7459200" y="2489450"/>
            <a:ext cx="11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32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82"/>
          <p:cNvSpPr txBox="1"/>
          <p:nvPr/>
        </p:nvSpPr>
        <p:spPr>
          <a:xfrm>
            <a:off x="7459200" y="1389150"/>
            <a:ext cx="11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0" name="Google Shape;102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0533" y="3240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83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This is the formula for the volume of a cylinder = 𝜋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/>
              <a:t>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/>
              <a:t>, where</a:t>
            </a:r>
            <a:r>
              <a:rPr i="1" lang="en-GB" sz="1800"/>
              <a:t>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GB" sz="1800"/>
              <a:t>is the radius and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h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is the height. Which of the following are equivalent?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volume of a cylinder</a:t>
            </a:r>
            <a:endParaRPr/>
          </a:p>
        </p:txBody>
      </p:sp>
      <p:grpSp>
        <p:nvGrpSpPr>
          <p:cNvPr id="1027" name="Google Shape;1027;p83"/>
          <p:cNvGrpSpPr/>
          <p:nvPr/>
        </p:nvGrpSpPr>
        <p:grpSpPr>
          <a:xfrm>
            <a:off x="544816" y="1739725"/>
            <a:ext cx="457200" cy="457200"/>
            <a:chOff x="1020916" y="1442088"/>
            <a:chExt cx="457200" cy="457200"/>
          </a:xfrm>
        </p:grpSpPr>
        <p:pic>
          <p:nvPicPr>
            <p:cNvPr id="1028" name="Google Shape;1028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9" name="Google Shape;1029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0" name="Google Shape;1030;p83"/>
          <p:cNvGrpSpPr/>
          <p:nvPr/>
        </p:nvGrpSpPr>
        <p:grpSpPr>
          <a:xfrm>
            <a:off x="544816" y="2599817"/>
            <a:ext cx="457200" cy="457200"/>
            <a:chOff x="1020916" y="1442088"/>
            <a:chExt cx="457200" cy="457200"/>
          </a:xfrm>
        </p:grpSpPr>
        <p:pic>
          <p:nvPicPr>
            <p:cNvPr id="1031" name="Google Shape;1031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2" name="Google Shape;1032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3" name="Google Shape;1033;p83"/>
          <p:cNvGrpSpPr/>
          <p:nvPr/>
        </p:nvGrpSpPr>
        <p:grpSpPr>
          <a:xfrm>
            <a:off x="544816" y="3459908"/>
            <a:ext cx="457200" cy="457200"/>
            <a:chOff x="1020916" y="1442088"/>
            <a:chExt cx="457200" cy="457200"/>
          </a:xfrm>
        </p:grpSpPr>
        <p:pic>
          <p:nvPicPr>
            <p:cNvPr id="1034" name="Google Shape;1034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5" name="Google Shape;1035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6" name="Google Shape;1036;p83"/>
          <p:cNvGrpSpPr/>
          <p:nvPr/>
        </p:nvGrpSpPr>
        <p:grpSpPr>
          <a:xfrm>
            <a:off x="544816" y="4320000"/>
            <a:ext cx="457200" cy="457200"/>
            <a:chOff x="1020916" y="1442088"/>
            <a:chExt cx="457200" cy="457200"/>
          </a:xfrm>
        </p:grpSpPr>
        <p:pic>
          <p:nvPicPr>
            <p:cNvPr id="1037" name="Google Shape;1037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8" name="Google Shape;1038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9" name="Google Shape;1039;p83"/>
          <p:cNvGrpSpPr/>
          <p:nvPr/>
        </p:nvGrpSpPr>
        <p:grpSpPr>
          <a:xfrm>
            <a:off x="4823991" y="1739713"/>
            <a:ext cx="457200" cy="457200"/>
            <a:chOff x="1020916" y="1442088"/>
            <a:chExt cx="457200" cy="457200"/>
          </a:xfrm>
        </p:grpSpPr>
        <p:pic>
          <p:nvPicPr>
            <p:cNvPr id="1040" name="Google Shape;1040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1" name="Google Shape;1041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2" name="Google Shape;1042;p83"/>
          <p:cNvGrpSpPr/>
          <p:nvPr/>
        </p:nvGrpSpPr>
        <p:grpSpPr>
          <a:xfrm>
            <a:off x="4823991" y="2599804"/>
            <a:ext cx="457200" cy="457200"/>
            <a:chOff x="1020916" y="1442088"/>
            <a:chExt cx="457200" cy="457200"/>
          </a:xfrm>
        </p:grpSpPr>
        <p:pic>
          <p:nvPicPr>
            <p:cNvPr id="1043" name="Google Shape;1043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5" name="Google Shape;1045;p83"/>
          <p:cNvGrpSpPr/>
          <p:nvPr/>
        </p:nvGrpSpPr>
        <p:grpSpPr>
          <a:xfrm>
            <a:off x="4823991" y="3459896"/>
            <a:ext cx="457200" cy="457200"/>
            <a:chOff x="1020916" y="1442088"/>
            <a:chExt cx="457200" cy="457200"/>
          </a:xfrm>
        </p:grpSpPr>
        <p:pic>
          <p:nvPicPr>
            <p:cNvPr id="1046" name="Google Shape;1046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7" name="Google Shape;1047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8" name="Google Shape;1048;p83"/>
          <p:cNvGrpSpPr/>
          <p:nvPr/>
        </p:nvGrpSpPr>
        <p:grpSpPr>
          <a:xfrm>
            <a:off x="4823991" y="4319988"/>
            <a:ext cx="457200" cy="457200"/>
            <a:chOff x="1020916" y="1442088"/>
            <a:chExt cx="457200" cy="457200"/>
          </a:xfrm>
        </p:grpSpPr>
        <p:pic>
          <p:nvPicPr>
            <p:cNvPr id="1049" name="Google Shape;1049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0" name="Google Shape;1050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51" name="Google Shape;1051;p83"/>
          <p:cNvSpPr txBox="1"/>
          <p:nvPr/>
        </p:nvSpPr>
        <p:spPr>
          <a:xfrm>
            <a:off x="1213400" y="1722025"/>
            <a:ext cx="127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 = (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𝜋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83"/>
          <p:cNvSpPr txBox="1"/>
          <p:nvPr/>
        </p:nvSpPr>
        <p:spPr>
          <a:xfrm>
            <a:off x="1213400" y="2582125"/>
            <a:ext cx="127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 = 𝜋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83"/>
          <p:cNvSpPr txBox="1"/>
          <p:nvPr/>
        </p:nvSpPr>
        <p:spPr>
          <a:xfrm>
            <a:off x="1213400" y="3442225"/>
            <a:ext cx="127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 = 𝜋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3"/>
          <p:cNvSpPr txBox="1"/>
          <p:nvPr/>
        </p:nvSpPr>
        <p:spPr>
          <a:xfrm>
            <a:off x="1213400" y="4320000"/>
            <a:ext cx="127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 = 𝜋(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83"/>
          <p:cNvSpPr txBox="1"/>
          <p:nvPr/>
        </p:nvSpPr>
        <p:spPr>
          <a:xfrm>
            <a:off x="5619600" y="1739725"/>
            <a:ext cx="250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 = 𝜋 ×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83"/>
          <p:cNvSpPr txBox="1"/>
          <p:nvPr/>
        </p:nvSpPr>
        <p:spPr>
          <a:xfrm>
            <a:off x="5619600" y="3459925"/>
            <a:ext cx="127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 = 𝜋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83"/>
          <p:cNvSpPr txBox="1"/>
          <p:nvPr/>
        </p:nvSpPr>
        <p:spPr>
          <a:xfrm>
            <a:off x="5619600" y="4337700"/>
            <a:ext cx="127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 =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𝜋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83"/>
          <p:cNvSpPr txBox="1"/>
          <p:nvPr/>
        </p:nvSpPr>
        <p:spPr>
          <a:xfrm>
            <a:off x="5619600" y="2564400"/>
            <a:ext cx="250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 = 𝜋 ×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84"/>
          <p:cNvSpPr txBox="1"/>
          <p:nvPr/>
        </p:nvSpPr>
        <p:spPr>
          <a:xfrm>
            <a:off x="4685300" y="992581"/>
            <a:ext cx="65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84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Calculate the volume of the following cylinders. </a:t>
            </a:r>
            <a:r>
              <a:rPr lang="en-GB" sz="1800"/>
              <a:t>Leave in terms of 𝜋.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volume of a cylinder</a:t>
            </a:r>
            <a:endParaRPr/>
          </a:p>
        </p:txBody>
      </p:sp>
      <p:sp>
        <p:nvSpPr>
          <p:cNvPr id="1066" name="Google Shape;1066;p84"/>
          <p:cNvSpPr txBox="1"/>
          <p:nvPr/>
        </p:nvSpPr>
        <p:spPr>
          <a:xfrm>
            <a:off x="381575" y="1304850"/>
            <a:ext cx="4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84"/>
          <p:cNvSpPr txBox="1"/>
          <p:nvPr/>
        </p:nvSpPr>
        <p:spPr>
          <a:xfrm>
            <a:off x="3572375" y="1304850"/>
            <a:ext cx="4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84"/>
          <p:cNvSpPr txBox="1"/>
          <p:nvPr/>
        </p:nvSpPr>
        <p:spPr>
          <a:xfrm>
            <a:off x="6806225" y="1304850"/>
            <a:ext cx="4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84"/>
          <p:cNvSpPr/>
          <p:nvPr/>
        </p:nvSpPr>
        <p:spPr>
          <a:xfrm>
            <a:off x="977375" y="1688425"/>
            <a:ext cx="854700" cy="1476675"/>
          </a:xfrm>
          <a:prstGeom prst="flowChartMagneticDisk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0" name="Google Shape;107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2350" y="1400800"/>
            <a:ext cx="763053" cy="183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1" name="Google Shape;1071;p84"/>
          <p:cNvCxnSpPr/>
          <p:nvPr/>
        </p:nvCxnSpPr>
        <p:spPr>
          <a:xfrm>
            <a:off x="1954175" y="1899750"/>
            <a:ext cx="0" cy="1022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72" name="Google Shape;1072;p84"/>
          <p:cNvCxnSpPr/>
          <p:nvPr/>
        </p:nvCxnSpPr>
        <p:spPr>
          <a:xfrm rot="10800000">
            <a:off x="1404725" y="1595000"/>
            <a:ext cx="0" cy="342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73" name="Google Shape;1073;p84"/>
          <p:cNvCxnSpPr/>
          <p:nvPr/>
        </p:nvCxnSpPr>
        <p:spPr>
          <a:xfrm rot="10800000">
            <a:off x="1832075" y="1629375"/>
            <a:ext cx="0" cy="300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74" name="Google Shape;1074;p84"/>
          <p:cNvCxnSpPr/>
          <p:nvPr/>
        </p:nvCxnSpPr>
        <p:spPr>
          <a:xfrm rot="10800000">
            <a:off x="1404775" y="1629375"/>
            <a:ext cx="40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75" name="Google Shape;1075;p84"/>
          <p:cNvSpPr txBox="1"/>
          <p:nvPr/>
        </p:nvSpPr>
        <p:spPr>
          <a:xfrm>
            <a:off x="1303800" y="1257325"/>
            <a:ext cx="65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84"/>
          <p:cNvSpPr txBox="1"/>
          <p:nvPr/>
        </p:nvSpPr>
        <p:spPr>
          <a:xfrm>
            <a:off x="1954175" y="2195550"/>
            <a:ext cx="65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7" name="Google Shape;1077;p84"/>
          <p:cNvCxnSpPr/>
          <p:nvPr/>
        </p:nvCxnSpPr>
        <p:spPr>
          <a:xfrm>
            <a:off x="4510100" y="1517975"/>
            <a:ext cx="0" cy="1603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78" name="Google Shape;1078;p84"/>
          <p:cNvSpPr txBox="1"/>
          <p:nvPr/>
        </p:nvSpPr>
        <p:spPr>
          <a:xfrm>
            <a:off x="3961350" y="2104538"/>
            <a:ext cx="65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9" name="Google Shape;1079;p84"/>
          <p:cNvCxnSpPr/>
          <p:nvPr/>
        </p:nvCxnSpPr>
        <p:spPr>
          <a:xfrm>
            <a:off x="4610225" y="1323100"/>
            <a:ext cx="747300" cy="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80" name="Google Shape;1080;p84"/>
          <p:cNvSpPr txBox="1"/>
          <p:nvPr/>
        </p:nvSpPr>
        <p:spPr>
          <a:xfrm>
            <a:off x="340775" y="3333425"/>
            <a:ext cx="722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A cylinder with a radius of 8 mm and a depth of 12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4"/>
          <p:cNvSpPr txBox="1"/>
          <p:nvPr/>
        </p:nvSpPr>
        <p:spPr>
          <a:xfrm>
            <a:off x="324000" y="4007375"/>
            <a:ext cx="727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A cylinder with a diameter of 4.8 cm and a height of 12 cm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2" name="Google Shape;1082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6225" y="1536025"/>
            <a:ext cx="1053900" cy="1035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3" name="Google Shape;1083;p84"/>
          <p:cNvCxnSpPr/>
          <p:nvPr/>
        </p:nvCxnSpPr>
        <p:spPr>
          <a:xfrm>
            <a:off x="7928600" y="1477000"/>
            <a:ext cx="579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84" name="Google Shape;1084;p84"/>
          <p:cNvSpPr txBox="1"/>
          <p:nvPr/>
        </p:nvSpPr>
        <p:spPr>
          <a:xfrm>
            <a:off x="7889450" y="1104925"/>
            <a:ext cx="105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3.5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5" name="Google Shape;1085;p84"/>
          <p:cNvCxnSpPr/>
          <p:nvPr/>
        </p:nvCxnSpPr>
        <p:spPr>
          <a:xfrm>
            <a:off x="7928600" y="1571825"/>
            <a:ext cx="0" cy="48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86" name="Google Shape;1086;p84"/>
          <p:cNvSpPr txBox="1"/>
          <p:nvPr/>
        </p:nvSpPr>
        <p:spPr>
          <a:xfrm>
            <a:off x="7144175" y="1536025"/>
            <a:ext cx="658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 mm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volume of a cylinder</a:t>
            </a:r>
            <a:endParaRPr/>
          </a:p>
        </p:txBody>
      </p:sp>
      <p:pic>
        <p:nvPicPr>
          <p:cNvPr id="1092" name="Google Shape;109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375" y="1760125"/>
            <a:ext cx="2536342" cy="1757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3" name="Google Shape;1093;p85"/>
          <p:cNvCxnSpPr/>
          <p:nvPr/>
        </p:nvCxnSpPr>
        <p:spPr>
          <a:xfrm flipH="1" rot="10800000">
            <a:off x="1610200" y="2874275"/>
            <a:ext cx="1915500" cy="709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4" name="Google Shape;1094;p85"/>
          <p:cNvSpPr txBox="1"/>
          <p:nvPr/>
        </p:nvSpPr>
        <p:spPr>
          <a:xfrm>
            <a:off x="557100" y="3950550"/>
            <a:ext cx="322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internal diameter = 12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external diameter = 35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85"/>
          <p:cNvSpPr txBox="1"/>
          <p:nvPr/>
        </p:nvSpPr>
        <p:spPr>
          <a:xfrm>
            <a:off x="2144175" y="3278775"/>
            <a:ext cx="322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length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360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5"/>
          <p:cNvSpPr txBox="1"/>
          <p:nvPr>
            <p:ph idx="1" type="body"/>
          </p:nvPr>
        </p:nvSpPr>
        <p:spPr>
          <a:xfrm>
            <a:off x="324000" y="759300"/>
            <a:ext cx="8237700" cy="10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A metal washer factory forms a long metal pipe before slicing them into individual washers. What volume of metal is used to create this section of pipe? 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This is the formula for the</a:t>
            </a:r>
            <a:r>
              <a:rPr lang="en-GB"/>
              <a:t> </a:t>
            </a:r>
            <a:r>
              <a:rPr lang="en-GB" sz="1800"/>
              <a:t>volume of a cylinder = 𝜋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/>
              <a:t>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/>
              <a:t>, where</a:t>
            </a:r>
            <a:r>
              <a:rPr i="1" lang="en-GB" sz="1800"/>
              <a:t>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GB" sz="1800"/>
              <a:t>is the radius and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h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is the height. Which of the following are equivalent?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volume of a cylinder</a:t>
            </a:r>
            <a:endParaRPr/>
          </a:p>
        </p:txBody>
      </p:sp>
      <p:grpSp>
        <p:nvGrpSpPr>
          <p:cNvPr id="1103" name="Google Shape;1103;p86"/>
          <p:cNvGrpSpPr/>
          <p:nvPr/>
        </p:nvGrpSpPr>
        <p:grpSpPr>
          <a:xfrm>
            <a:off x="544816" y="1739725"/>
            <a:ext cx="457200" cy="457200"/>
            <a:chOff x="1020916" y="1442088"/>
            <a:chExt cx="457200" cy="457200"/>
          </a:xfrm>
        </p:grpSpPr>
        <p:pic>
          <p:nvPicPr>
            <p:cNvPr id="1104" name="Google Shape;1104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5" name="Google Shape;1105;p8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6" name="Google Shape;1106;p86"/>
          <p:cNvGrpSpPr/>
          <p:nvPr/>
        </p:nvGrpSpPr>
        <p:grpSpPr>
          <a:xfrm>
            <a:off x="544816" y="2599817"/>
            <a:ext cx="457200" cy="457200"/>
            <a:chOff x="1020916" y="1442088"/>
            <a:chExt cx="457200" cy="457200"/>
          </a:xfrm>
        </p:grpSpPr>
        <p:pic>
          <p:nvPicPr>
            <p:cNvPr id="1107" name="Google Shape;1107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8" name="Google Shape;1108;p8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9" name="Google Shape;1109;p86"/>
          <p:cNvGrpSpPr/>
          <p:nvPr/>
        </p:nvGrpSpPr>
        <p:grpSpPr>
          <a:xfrm>
            <a:off x="544816" y="3459908"/>
            <a:ext cx="457200" cy="457200"/>
            <a:chOff x="1020916" y="1442088"/>
            <a:chExt cx="457200" cy="457200"/>
          </a:xfrm>
        </p:grpSpPr>
        <p:pic>
          <p:nvPicPr>
            <p:cNvPr id="1110" name="Google Shape;1110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1" name="Google Shape;1111;p8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2" name="Google Shape;1112;p86"/>
          <p:cNvGrpSpPr/>
          <p:nvPr/>
        </p:nvGrpSpPr>
        <p:grpSpPr>
          <a:xfrm>
            <a:off x="544816" y="4320000"/>
            <a:ext cx="457200" cy="457200"/>
            <a:chOff x="1020916" y="1442088"/>
            <a:chExt cx="457200" cy="457200"/>
          </a:xfrm>
        </p:grpSpPr>
        <p:pic>
          <p:nvPicPr>
            <p:cNvPr id="1113" name="Google Shape;1113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4" name="Google Shape;1114;p8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5" name="Google Shape;1115;p86"/>
          <p:cNvGrpSpPr/>
          <p:nvPr/>
        </p:nvGrpSpPr>
        <p:grpSpPr>
          <a:xfrm>
            <a:off x="4823991" y="1739713"/>
            <a:ext cx="457200" cy="457200"/>
            <a:chOff x="1020916" y="1442088"/>
            <a:chExt cx="457200" cy="457200"/>
          </a:xfrm>
        </p:grpSpPr>
        <p:pic>
          <p:nvPicPr>
            <p:cNvPr id="1116" name="Google Shape;1116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7" name="Google Shape;1117;p8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8" name="Google Shape;1118;p86"/>
          <p:cNvGrpSpPr/>
          <p:nvPr/>
        </p:nvGrpSpPr>
        <p:grpSpPr>
          <a:xfrm>
            <a:off x="4823991" y="2599804"/>
            <a:ext cx="457200" cy="457200"/>
            <a:chOff x="1020916" y="1442088"/>
            <a:chExt cx="457200" cy="457200"/>
          </a:xfrm>
        </p:grpSpPr>
        <p:pic>
          <p:nvPicPr>
            <p:cNvPr id="1119" name="Google Shape;1119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0" name="Google Shape;1120;p8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1" name="Google Shape;1121;p86"/>
          <p:cNvGrpSpPr/>
          <p:nvPr/>
        </p:nvGrpSpPr>
        <p:grpSpPr>
          <a:xfrm>
            <a:off x="4823991" y="3459896"/>
            <a:ext cx="457200" cy="457200"/>
            <a:chOff x="1020916" y="1442088"/>
            <a:chExt cx="457200" cy="457200"/>
          </a:xfrm>
        </p:grpSpPr>
        <p:pic>
          <p:nvPicPr>
            <p:cNvPr id="1122" name="Google Shape;1122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3" name="Google Shape;1123;p8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4" name="Google Shape;1124;p86"/>
          <p:cNvGrpSpPr/>
          <p:nvPr/>
        </p:nvGrpSpPr>
        <p:grpSpPr>
          <a:xfrm>
            <a:off x="4823991" y="4319988"/>
            <a:ext cx="457200" cy="457200"/>
            <a:chOff x="1020916" y="1442088"/>
            <a:chExt cx="457200" cy="457200"/>
          </a:xfrm>
        </p:grpSpPr>
        <p:pic>
          <p:nvPicPr>
            <p:cNvPr id="1125" name="Google Shape;1125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6" name="Google Shape;1126;p8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27" name="Google Shape;1127;p86"/>
          <p:cNvSpPr txBox="1"/>
          <p:nvPr/>
        </p:nvSpPr>
        <p:spPr>
          <a:xfrm>
            <a:off x="1213400" y="1722025"/>
            <a:ext cx="127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 = (𝜋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86"/>
          <p:cNvSpPr txBox="1"/>
          <p:nvPr/>
        </p:nvSpPr>
        <p:spPr>
          <a:xfrm>
            <a:off x="1213400" y="2582125"/>
            <a:ext cx="127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 = 𝜋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86"/>
          <p:cNvSpPr txBox="1"/>
          <p:nvPr/>
        </p:nvSpPr>
        <p:spPr>
          <a:xfrm>
            <a:off x="1213400" y="3442225"/>
            <a:ext cx="127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 = 𝜋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86"/>
          <p:cNvSpPr txBox="1"/>
          <p:nvPr/>
        </p:nvSpPr>
        <p:spPr>
          <a:xfrm>
            <a:off x="1213400" y="4320000"/>
            <a:ext cx="127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 = 𝜋(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86"/>
          <p:cNvSpPr txBox="1"/>
          <p:nvPr/>
        </p:nvSpPr>
        <p:spPr>
          <a:xfrm>
            <a:off x="5619600" y="1739725"/>
            <a:ext cx="250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 = 𝜋 ×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86"/>
          <p:cNvSpPr txBox="1"/>
          <p:nvPr/>
        </p:nvSpPr>
        <p:spPr>
          <a:xfrm>
            <a:off x="5619600" y="3459925"/>
            <a:ext cx="127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 = 𝜋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86"/>
          <p:cNvSpPr txBox="1"/>
          <p:nvPr/>
        </p:nvSpPr>
        <p:spPr>
          <a:xfrm>
            <a:off x="5619600" y="4337700"/>
            <a:ext cx="127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 =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𝜋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86"/>
          <p:cNvSpPr txBox="1"/>
          <p:nvPr/>
        </p:nvSpPr>
        <p:spPr>
          <a:xfrm>
            <a:off x="5619600" y="2564400"/>
            <a:ext cx="250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 = 𝜋 ×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35" name="Google Shape;1135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1358" y="26188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6" name="Google Shape;1136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7408" y="17764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7408" y="26011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6158" y="43567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87"/>
          <p:cNvSpPr txBox="1"/>
          <p:nvPr>
            <p:ph idx="1" type="body"/>
          </p:nvPr>
        </p:nvSpPr>
        <p:spPr>
          <a:xfrm>
            <a:off x="324000" y="759300"/>
            <a:ext cx="82377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Calculate the volume of the following cylinders. </a:t>
            </a:r>
            <a:r>
              <a:rPr lang="en-GB" sz="1800"/>
              <a:t>Leave in terms of 𝜋.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volume of a cylinder</a:t>
            </a:r>
            <a:endParaRPr/>
          </a:p>
        </p:txBody>
      </p:sp>
      <p:sp>
        <p:nvSpPr>
          <p:cNvPr id="1145" name="Google Shape;1145;p87"/>
          <p:cNvSpPr txBox="1"/>
          <p:nvPr/>
        </p:nvSpPr>
        <p:spPr>
          <a:xfrm>
            <a:off x="340775" y="3462777"/>
            <a:ext cx="722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A cylinder with a radius of 8 mm and a depth of 12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87"/>
          <p:cNvSpPr txBox="1"/>
          <p:nvPr/>
        </p:nvSpPr>
        <p:spPr>
          <a:xfrm>
            <a:off x="324000" y="4124968"/>
            <a:ext cx="727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A cylinder with a diameter of 4.8 cm and a height of 12 cm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87"/>
          <p:cNvSpPr txBox="1"/>
          <p:nvPr/>
        </p:nvSpPr>
        <p:spPr>
          <a:xfrm>
            <a:off x="1747400" y="2922450"/>
            <a:ext cx="167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 = 63𝜋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8" name="Google Shape;1148;p87"/>
          <p:cNvSpPr txBox="1"/>
          <p:nvPr/>
        </p:nvSpPr>
        <p:spPr>
          <a:xfrm>
            <a:off x="5289200" y="2978250"/>
            <a:ext cx="167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 = 4𝜋</a:t>
            </a: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9" name="Google Shape;1149;p87"/>
          <p:cNvSpPr txBox="1"/>
          <p:nvPr/>
        </p:nvSpPr>
        <p:spPr>
          <a:xfrm>
            <a:off x="6742825" y="2785550"/>
            <a:ext cx="2189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 = 61 740𝜋 mm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 = 61.74𝜋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0" name="Google Shape;1150;p87"/>
          <p:cNvSpPr txBox="1"/>
          <p:nvPr/>
        </p:nvSpPr>
        <p:spPr>
          <a:xfrm>
            <a:off x="4327400" y="3777952"/>
            <a:ext cx="2345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 = 768𝜋 mm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1" name="Google Shape;1151;p87"/>
          <p:cNvSpPr txBox="1"/>
          <p:nvPr/>
        </p:nvSpPr>
        <p:spPr>
          <a:xfrm>
            <a:off x="4335025" y="4468824"/>
            <a:ext cx="201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 = 69.12𝜋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2" name="Google Shape;1152;p87"/>
          <p:cNvSpPr txBox="1"/>
          <p:nvPr/>
        </p:nvSpPr>
        <p:spPr>
          <a:xfrm>
            <a:off x="4685300" y="992581"/>
            <a:ext cx="65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87"/>
          <p:cNvSpPr txBox="1"/>
          <p:nvPr/>
        </p:nvSpPr>
        <p:spPr>
          <a:xfrm>
            <a:off x="381575" y="1304850"/>
            <a:ext cx="4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87"/>
          <p:cNvSpPr txBox="1"/>
          <p:nvPr/>
        </p:nvSpPr>
        <p:spPr>
          <a:xfrm>
            <a:off x="3572375" y="1304850"/>
            <a:ext cx="4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87"/>
          <p:cNvSpPr txBox="1"/>
          <p:nvPr/>
        </p:nvSpPr>
        <p:spPr>
          <a:xfrm>
            <a:off x="6806225" y="1304850"/>
            <a:ext cx="4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87"/>
          <p:cNvSpPr/>
          <p:nvPr/>
        </p:nvSpPr>
        <p:spPr>
          <a:xfrm>
            <a:off x="977375" y="1688425"/>
            <a:ext cx="854700" cy="1476675"/>
          </a:xfrm>
          <a:prstGeom prst="flowChartMagneticDisk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57" name="Google Shape;1157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2350" y="1400800"/>
            <a:ext cx="763053" cy="18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8" name="Google Shape;1158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6225" y="1536025"/>
            <a:ext cx="1053900" cy="1035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9" name="Google Shape;1159;p87"/>
          <p:cNvCxnSpPr/>
          <p:nvPr/>
        </p:nvCxnSpPr>
        <p:spPr>
          <a:xfrm>
            <a:off x="1954175" y="1899750"/>
            <a:ext cx="0" cy="1022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60" name="Google Shape;1160;p87"/>
          <p:cNvCxnSpPr/>
          <p:nvPr/>
        </p:nvCxnSpPr>
        <p:spPr>
          <a:xfrm rot="10800000">
            <a:off x="1404725" y="1595000"/>
            <a:ext cx="0" cy="342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61" name="Google Shape;1161;p87"/>
          <p:cNvCxnSpPr/>
          <p:nvPr/>
        </p:nvCxnSpPr>
        <p:spPr>
          <a:xfrm rot="10800000">
            <a:off x="1832075" y="1629375"/>
            <a:ext cx="0" cy="300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62" name="Google Shape;1162;p87"/>
          <p:cNvCxnSpPr/>
          <p:nvPr/>
        </p:nvCxnSpPr>
        <p:spPr>
          <a:xfrm rot="10800000">
            <a:off x="1404775" y="1629375"/>
            <a:ext cx="40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63" name="Google Shape;1163;p87"/>
          <p:cNvSpPr txBox="1"/>
          <p:nvPr/>
        </p:nvSpPr>
        <p:spPr>
          <a:xfrm>
            <a:off x="1303800" y="1257325"/>
            <a:ext cx="65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87"/>
          <p:cNvSpPr txBox="1"/>
          <p:nvPr/>
        </p:nvSpPr>
        <p:spPr>
          <a:xfrm>
            <a:off x="1954175" y="2195550"/>
            <a:ext cx="65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5" name="Google Shape;1165;p87"/>
          <p:cNvCxnSpPr/>
          <p:nvPr/>
        </p:nvCxnSpPr>
        <p:spPr>
          <a:xfrm>
            <a:off x="4510100" y="1517975"/>
            <a:ext cx="0" cy="1603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66" name="Google Shape;1166;p87"/>
          <p:cNvSpPr txBox="1"/>
          <p:nvPr/>
        </p:nvSpPr>
        <p:spPr>
          <a:xfrm>
            <a:off x="3961350" y="2104538"/>
            <a:ext cx="65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7" name="Google Shape;1167;p87"/>
          <p:cNvCxnSpPr/>
          <p:nvPr/>
        </p:nvCxnSpPr>
        <p:spPr>
          <a:xfrm>
            <a:off x="4610225" y="1323100"/>
            <a:ext cx="747300" cy="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68" name="Google Shape;1168;p87"/>
          <p:cNvCxnSpPr/>
          <p:nvPr/>
        </p:nvCxnSpPr>
        <p:spPr>
          <a:xfrm>
            <a:off x="7928600" y="1477000"/>
            <a:ext cx="579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69" name="Google Shape;1169;p87"/>
          <p:cNvSpPr txBox="1"/>
          <p:nvPr/>
        </p:nvSpPr>
        <p:spPr>
          <a:xfrm>
            <a:off x="7889450" y="1104925"/>
            <a:ext cx="105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3.5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0" name="Google Shape;1170;p87"/>
          <p:cNvCxnSpPr/>
          <p:nvPr/>
        </p:nvCxnSpPr>
        <p:spPr>
          <a:xfrm>
            <a:off x="7928600" y="1571825"/>
            <a:ext cx="0" cy="48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71" name="Google Shape;1171;p87"/>
          <p:cNvSpPr txBox="1"/>
          <p:nvPr/>
        </p:nvSpPr>
        <p:spPr>
          <a:xfrm>
            <a:off x="7144175" y="1536025"/>
            <a:ext cx="658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 mm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88"/>
          <p:cNvSpPr txBox="1"/>
          <p:nvPr>
            <p:ph idx="1" type="body"/>
          </p:nvPr>
        </p:nvSpPr>
        <p:spPr>
          <a:xfrm>
            <a:off x="324000" y="759300"/>
            <a:ext cx="8237700" cy="10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A metal washer factory forms a long metal pipe before slicing them into individual washers. What volume of metal is used to create this section of pipe? 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volume of a cylinder</a:t>
            </a:r>
            <a:endParaRPr/>
          </a:p>
        </p:txBody>
      </p:sp>
      <p:pic>
        <p:nvPicPr>
          <p:cNvPr id="1178" name="Google Shape;117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375" y="1760125"/>
            <a:ext cx="2536342" cy="1757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9" name="Google Shape;1179;p88"/>
          <p:cNvCxnSpPr/>
          <p:nvPr/>
        </p:nvCxnSpPr>
        <p:spPr>
          <a:xfrm flipH="1" rot="10800000">
            <a:off x="1610200" y="2874275"/>
            <a:ext cx="1915500" cy="709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80" name="Google Shape;1180;p88"/>
          <p:cNvSpPr txBox="1"/>
          <p:nvPr/>
        </p:nvSpPr>
        <p:spPr>
          <a:xfrm>
            <a:off x="557100" y="3950550"/>
            <a:ext cx="322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internal diameter = 12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external diameter = 35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88"/>
          <p:cNvSpPr txBox="1"/>
          <p:nvPr/>
        </p:nvSpPr>
        <p:spPr>
          <a:xfrm>
            <a:off x="2144175" y="3278775"/>
            <a:ext cx="242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length = 360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88"/>
          <p:cNvSpPr txBox="1"/>
          <p:nvPr/>
        </p:nvSpPr>
        <p:spPr>
          <a:xfrm>
            <a:off x="4578053" y="1900600"/>
            <a:ext cx="424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 =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(𝜋 × 17.5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- 𝜋 × 6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) × 360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3" name="Google Shape;1183;p88"/>
          <p:cNvSpPr txBox="1"/>
          <p:nvPr/>
        </p:nvSpPr>
        <p:spPr>
          <a:xfrm>
            <a:off x="4578053" y="2294702"/>
            <a:ext cx="424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 = 97 290𝜋 mm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305 645.5 mm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4" name="Google Shape;1184;p88"/>
          <p:cNvSpPr txBox="1"/>
          <p:nvPr/>
        </p:nvSpPr>
        <p:spPr>
          <a:xfrm>
            <a:off x="4578053" y="3239994"/>
            <a:ext cx="4242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 = (𝜋 × 1.75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- 𝜋 × 0.6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) × 36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 = 97.29𝜋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305.6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5" name="Google Shape;1185;p88"/>
          <p:cNvSpPr txBox="1"/>
          <p:nvPr/>
        </p:nvSpPr>
        <p:spPr>
          <a:xfrm>
            <a:off x="4578050" y="1529025"/>
            <a:ext cx="28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Calculating in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88"/>
          <p:cNvSpPr txBox="1"/>
          <p:nvPr/>
        </p:nvSpPr>
        <p:spPr>
          <a:xfrm>
            <a:off x="4572075" y="2973721"/>
            <a:ext cx="281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Calculating in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8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volume of a cylinder</a:t>
            </a:r>
            <a:endParaRPr/>
          </a:p>
        </p:txBody>
      </p:sp>
      <p:sp>
        <p:nvSpPr>
          <p:cNvPr id="1192" name="Google Shape;1192;p8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volume of a cylinder</a:t>
            </a:r>
            <a:endParaRPr/>
          </a:p>
        </p:txBody>
      </p:sp>
      <p:sp>
        <p:nvSpPr>
          <p:cNvPr id="1193" name="Google Shape;1193;p8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Volume of cylinders</a:t>
            </a:r>
            <a:endParaRPr/>
          </a:p>
        </p:txBody>
      </p:sp>
      <p:pic>
        <p:nvPicPr>
          <p:cNvPr id="1194" name="Google Shape;119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56" y="298838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volume of a cylinder</a:t>
            </a:r>
            <a:endParaRPr/>
          </a:p>
        </p:txBody>
      </p:sp>
      <p:pic>
        <p:nvPicPr>
          <p:cNvPr id="1200" name="Google Shape;1200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7975" y="957175"/>
            <a:ext cx="2191900" cy="1323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1" name="Google Shape;1201;p90"/>
          <p:cNvCxnSpPr/>
          <p:nvPr/>
        </p:nvCxnSpPr>
        <p:spPr>
          <a:xfrm>
            <a:off x="1518650" y="2396225"/>
            <a:ext cx="1732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02" name="Google Shape;1202;p90"/>
          <p:cNvSpPr txBox="1"/>
          <p:nvPr/>
        </p:nvSpPr>
        <p:spPr>
          <a:xfrm>
            <a:off x="1907850" y="1200275"/>
            <a:ext cx="15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Volume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1215𝜋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90"/>
          <p:cNvSpPr txBox="1"/>
          <p:nvPr/>
        </p:nvSpPr>
        <p:spPr>
          <a:xfrm>
            <a:off x="2067900" y="2396225"/>
            <a:ext cx="137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90"/>
          <p:cNvSpPr txBox="1"/>
          <p:nvPr/>
        </p:nvSpPr>
        <p:spPr>
          <a:xfrm>
            <a:off x="3922500" y="778400"/>
            <a:ext cx="4731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formula for the volume of a cylinder has 3 variables; volume, radius and height.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5" name="Google Shape;1205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9587" y="306397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90"/>
          <p:cNvSpPr txBox="1"/>
          <p:nvPr/>
        </p:nvSpPr>
        <p:spPr>
          <a:xfrm>
            <a:off x="7131134" y="39391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7" name="Google Shape;1207;p90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5055400" y="1880575"/>
            <a:ext cx="2662052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p90"/>
          <p:cNvSpPr txBox="1"/>
          <p:nvPr/>
        </p:nvSpPr>
        <p:spPr>
          <a:xfrm>
            <a:off x="5074937" y="1900425"/>
            <a:ext cx="252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you have two of the three variables, you can work out the third.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90"/>
          <p:cNvSpPr txBox="1"/>
          <p:nvPr/>
        </p:nvSpPr>
        <p:spPr>
          <a:xfrm>
            <a:off x="428400" y="3063975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Volume =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𝜋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90"/>
          <p:cNvSpPr txBox="1"/>
          <p:nvPr/>
        </p:nvSpPr>
        <p:spPr>
          <a:xfrm>
            <a:off x="640987" y="3446550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1215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𝜋 = 𝜋 ×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baseline="30000"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1" name="Google Shape;1211;p90"/>
          <p:cNvSpPr txBox="1"/>
          <p:nvPr/>
        </p:nvSpPr>
        <p:spPr>
          <a:xfrm>
            <a:off x="656250" y="1127400"/>
            <a:ext cx="137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12" name="Google Shape;1212;p90"/>
          <p:cNvCxnSpPr/>
          <p:nvPr/>
        </p:nvCxnSpPr>
        <p:spPr>
          <a:xfrm rot="10800000">
            <a:off x="1549350" y="999825"/>
            <a:ext cx="0" cy="64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13" name="Google Shape;1213;p90"/>
          <p:cNvSpPr txBox="1"/>
          <p:nvPr/>
        </p:nvSpPr>
        <p:spPr>
          <a:xfrm>
            <a:off x="640987" y="3827550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1215𝜋 = 81𝜋 ×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baseline="30000"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4" name="Google Shape;1214;p90"/>
          <p:cNvSpPr txBox="1"/>
          <p:nvPr/>
        </p:nvSpPr>
        <p:spPr>
          <a:xfrm>
            <a:off x="1133662" y="4224325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15 </a:t>
            </a:r>
            <a:endParaRPr baseline="30000"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91"/>
          <p:cNvSpPr txBox="1"/>
          <p:nvPr>
            <p:ph idx="1" type="subTitle"/>
          </p:nvPr>
        </p:nvSpPr>
        <p:spPr>
          <a:xfrm>
            <a:off x="337825" y="810000"/>
            <a:ext cx="3982200" cy="100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Work out the height of a cylinder, </a:t>
            </a:r>
            <a:r>
              <a:rPr lang="en-GB"/>
              <a:t>with</a:t>
            </a:r>
            <a:r>
              <a:rPr lang="en-GB"/>
              <a:t> a volume of 225𝜋 cm</a:t>
            </a:r>
            <a:r>
              <a:rPr baseline="30000" lang="en-GB"/>
              <a:t>3</a:t>
            </a:r>
            <a:r>
              <a:rPr lang="en-GB"/>
              <a:t> and a diameter of 10 cm.</a:t>
            </a:r>
            <a:endParaRPr/>
          </a:p>
        </p:txBody>
      </p:sp>
      <p:sp>
        <p:nvSpPr>
          <p:cNvPr id="1220" name="Google Shape;1220;p91"/>
          <p:cNvSpPr txBox="1"/>
          <p:nvPr>
            <p:ph idx="2" type="subTitle"/>
          </p:nvPr>
        </p:nvSpPr>
        <p:spPr>
          <a:xfrm>
            <a:off x="4824000" y="810000"/>
            <a:ext cx="3982200" cy="10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Work out the height of a cylinder, with a volume of 448𝜋 cm</a:t>
            </a:r>
            <a:r>
              <a:rPr baseline="30000" lang="en-GB"/>
              <a:t>3</a:t>
            </a:r>
            <a:r>
              <a:rPr lang="en-GB"/>
              <a:t> and a diameter of 16 cm.</a:t>
            </a:r>
            <a:endParaRPr/>
          </a:p>
        </p:txBody>
      </p:sp>
      <p:sp>
        <p:nvSpPr>
          <p:cNvPr id="1221" name="Google Shape;122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volume of a cylinder</a:t>
            </a:r>
            <a:endParaRPr/>
          </a:p>
        </p:txBody>
      </p:sp>
      <p:sp>
        <p:nvSpPr>
          <p:cNvPr id="1222" name="Google Shape;1222;p91"/>
          <p:cNvSpPr txBox="1"/>
          <p:nvPr/>
        </p:nvSpPr>
        <p:spPr>
          <a:xfrm>
            <a:off x="1143300" y="2368575"/>
            <a:ext cx="218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Volume = 𝜋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3" name="Google Shape;1223;p91"/>
          <p:cNvSpPr txBox="1"/>
          <p:nvPr/>
        </p:nvSpPr>
        <p:spPr>
          <a:xfrm>
            <a:off x="702900" y="1898400"/>
            <a:ext cx="306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10 cm →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5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4" name="Google Shape;1224;p91"/>
          <p:cNvSpPr txBox="1"/>
          <p:nvPr/>
        </p:nvSpPr>
        <p:spPr>
          <a:xfrm>
            <a:off x="1295700" y="2774300"/>
            <a:ext cx="28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225𝜋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𝜋 ×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5" name="Google Shape;1225;p91"/>
          <p:cNvSpPr txBox="1"/>
          <p:nvPr/>
        </p:nvSpPr>
        <p:spPr>
          <a:xfrm>
            <a:off x="1295700" y="3165775"/>
            <a:ext cx="28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225𝜋 = 25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6" name="Google Shape;1226;p91"/>
          <p:cNvSpPr txBox="1"/>
          <p:nvPr/>
        </p:nvSpPr>
        <p:spPr>
          <a:xfrm>
            <a:off x="1725332" y="3609650"/>
            <a:ext cx="28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7" name="Google Shape;1227;p91"/>
          <p:cNvSpPr txBox="1"/>
          <p:nvPr/>
        </p:nvSpPr>
        <p:spPr>
          <a:xfrm>
            <a:off x="1401482" y="4198400"/>
            <a:ext cx="2828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eight is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 cm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8" name="Google Shape;1228;p91"/>
          <p:cNvSpPr txBox="1"/>
          <p:nvPr/>
        </p:nvSpPr>
        <p:spPr>
          <a:xfrm>
            <a:off x="5329938" y="2368575"/>
            <a:ext cx="218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Volume = 𝜋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9" name="Google Shape;1229;p91"/>
          <p:cNvSpPr txBox="1"/>
          <p:nvPr/>
        </p:nvSpPr>
        <p:spPr>
          <a:xfrm>
            <a:off x="4889538" y="1898400"/>
            <a:ext cx="306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16 cm →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8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0" name="Google Shape;1230;p91"/>
          <p:cNvSpPr txBox="1"/>
          <p:nvPr/>
        </p:nvSpPr>
        <p:spPr>
          <a:xfrm>
            <a:off x="5482338" y="2774300"/>
            <a:ext cx="28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448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 = 𝜋 × 8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1" name="Google Shape;1231;p91"/>
          <p:cNvSpPr txBox="1"/>
          <p:nvPr/>
        </p:nvSpPr>
        <p:spPr>
          <a:xfrm>
            <a:off x="5482338" y="3165775"/>
            <a:ext cx="28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448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 = 64𝜋 ×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2" name="Google Shape;1232;p91"/>
          <p:cNvSpPr txBox="1"/>
          <p:nvPr/>
        </p:nvSpPr>
        <p:spPr>
          <a:xfrm>
            <a:off x="5911969" y="3609650"/>
            <a:ext cx="28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3" name="Google Shape;1233;p91"/>
          <p:cNvSpPr txBox="1"/>
          <p:nvPr/>
        </p:nvSpPr>
        <p:spPr>
          <a:xfrm>
            <a:off x="5588119" y="4198400"/>
            <a:ext cx="2828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height is 7 cm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8" name="Google Shape;1238;p92"/>
          <p:cNvGrpSpPr/>
          <p:nvPr/>
        </p:nvGrpSpPr>
        <p:grpSpPr>
          <a:xfrm flipH="1" rot="10800000">
            <a:off x="2960825" y="3654973"/>
            <a:ext cx="4564251" cy="1016560"/>
            <a:chOff x="2262000" y="222350"/>
            <a:chExt cx="5627236" cy="921799"/>
          </a:xfrm>
        </p:grpSpPr>
        <p:pic>
          <p:nvPicPr>
            <p:cNvPr id="1239" name="Google Shape;1239;p92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6997260" y="816924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0" name="Google Shape;1240;p92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2262000" y="814910"/>
              <a:ext cx="957501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1" name="Google Shape;1241;p92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3192026" y="814675"/>
              <a:ext cx="3815649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2" name="Google Shape;1242;p92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2265475" y="222585"/>
              <a:ext cx="957501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3" name="Google Shape;1243;p92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3192025" y="222350"/>
              <a:ext cx="3815649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4" name="Google Shape;1244;p92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6995525" y="224600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5" name="Google Shape;1245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volume of a cylinder</a:t>
            </a:r>
            <a:endParaRPr/>
          </a:p>
        </p:txBody>
      </p:sp>
      <p:pic>
        <p:nvPicPr>
          <p:cNvPr id="1246" name="Google Shape;1246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7975" y="957175"/>
            <a:ext cx="2191900" cy="1323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7" name="Google Shape;1247;p92"/>
          <p:cNvCxnSpPr/>
          <p:nvPr/>
        </p:nvCxnSpPr>
        <p:spPr>
          <a:xfrm>
            <a:off x="1518650" y="2396225"/>
            <a:ext cx="1732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48" name="Google Shape;1248;p92"/>
          <p:cNvSpPr/>
          <p:nvPr/>
        </p:nvSpPr>
        <p:spPr>
          <a:xfrm>
            <a:off x="1320225" y="1004325"/>
            <a:ext cx="450300" cy="1228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92"/>
          <p:cNvSpPr txBox="1"/>
          <p:nvPr/>
        </p:nvSpPr>
        <p:spPr>
          <a:xfrm>
            <a:off x="1907850" y="1200275"/>
            <a:ext cx="1373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Volume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768𝜋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92"/>
          <p:cNvSpPr txBox="1"/>
          <p:nvPr/>
        </p:nvSpPr>
        <p:spPr>
          <a:xfrm>
            <a:off x="2067900" y="2396225"/>
            <a:ext cx="137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92"/>
          <p:cNvSpPr txBox="1"/>
          <p:nvPr/>
        </p:nvSpPr>
        <p:spPr>
          <a:xfrm>
            <a:off x="602475" y="1387875"/>
            <a:ext cx="137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baseline="30000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92"/>
          <p:cNvSpPr txBox="1"/>
          <p:nvPr/>
        </p:nvSpPr>
        <p:spPr>
          <a:xfrm>
            <a:off x="3922500" y="778400"/>
            <a:ext cx="489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formula for the volume of a cylinder has 3 variables; volume, radius and height.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3" name="Google Shape;1253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9587" y="306397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p92"/>
          <p:cNvSpPr txBox="1"/>
          <p:nvPr/>
        </p:nvSpPr>
        <p:spPr>
          <a:xfrm>
            <a:off x="7131134" y="39391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5" name="Google Shape;1255;p9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055400" y="1880575"/>
            <a:ext cx="2662052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p92"/>
          <p:cNvSpPr txBox="1"/>
          <p:nvPr/>
        </p:nvSpPr>
        <p:spPr>
          <a:xfrm>
            <a:off x="5074937" y="1900425"/>
            <a:ext cx="252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you have two of the three variables, you can work out the third.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92"/>
          <p:cNvSpPr txBox="1"/>
          <p:nvPr/>
        </p:nvSpPr>
        <p:spPr>
          <a:xfrm>
            <a:off x="428400" y="3063975"/>
            <a:ext cx="4395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Volume = 𝜋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= area of circle ×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height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92"/>
          <p:cNvSpPr txBox="1"/>
          <p:nvPr/>
        </p:nvSpPr>
        <p:spPr>
          <a:xfrm>
            <a:off x="735175" y="3703675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768𝜋 = 𝜋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12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92"/>
          <p:cNvSpPr txBox="1"/>
          <p:nvPr/>
        </p:nvSpPr>
        <p:spPr>
          <a:xfrm>
            <a:off x="963775" y="4073700"/>
            <a:ext cx="173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𝜋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64𝜋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92"/>
          <p:cNvSpPr txBox="1"/>
          <p:nvPr/>
        </p:nvSpPr>
        <p:spPr>
          <a:xfrm>
            <a:off x="2960944" y="3827363"/>
            <a:ext cx="467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you know the area of the circle, what other information can you work out?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5" name="Google Shape;1265;p93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5690200" y="2160000"/>
            <a:ext cx="2009774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6" name="Google Shape;1266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volume of a cylinder</a:t>
            </a:r>
            <a:endParaRPr/>
          </a:p>
        </p:txBody>
      </p:sp>
      <p:pic>
        <p:nvPicPr>
          <p:cNvPr id="1267" name="Google Shape;1267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7975" y="957175"/>
            <a:ext cx="2191900" cy="1323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8" name="Google Shape;1268;p93"/>
          <p:cNvCxnSpPr/>
          <p:nvPr/>
        </p:nvCxnSpPr>
        <p:spPr>
          <a:xfrm>
            <a:off x="1518650" y="2396225"/>
            <a:ext cx="1732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69" name="Google Shape;1269;p93"/>
          <p:cNvSpPr txBox="1"/>
          <p:nvPr/>
        </p:nvSpPr>
        <p:spPr>
          <a:xfrm>
            <a:off x="1907850" y="1200275"/>
            <a:ext cx="1373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Volume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768𝜋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93"/>
          <p:cNvSpPr txBox="1"/>
          <p:nvPr/>
        </p:nvSpPr>
        <p:spPr>
          <a:xfrm>
            <a:off x="2067900" y="2396225"/>
            <a:ext cx="137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93"/>
          <p:cNvSpPr txBox="1"/>
          <p:nvPr/>
        </p:nvSpPr>
        <p:spPr>
          <a:xfrm>
            <a:off x="656250" y="1127400"/>
            <a:ext cx="137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93"/>
          <p:cNvSpPr txBox="1"/>
          <p:nvPr/>
        </p:nvSpPr>
        <p:spPr>
          <a:xfrm>
            <a:off x="3922500" y="778400"/>
            <a:ext cx="489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formula for the volume of a cylinder has 3 variables; volume, radius and height.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3" name="Google Shape;1273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9587" y="306397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93"/>
          <p:cNvSpPr txBox="1"/>
          <p:nvPr/>
        </p:nvSpPr>
        <p:spPr>
          <a:xfrm>
            <a:off x="7131134" y="39391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93"/>
          <p:cNvSpPr txBox="1"/>
          <p:nvPr/>
        </p:nvSpPr>
        <p:spPr>
          <a:xfrm>
            <a:off x="5698200" y="2243825"/>
            <a:ext cx="1955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→ the radius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93"/>
          <p:cNvSpPr txBox="1"/>
          <p:nvPr/>
        </p:nvSpPr>
        <p:spPr>
          <a:xfrm>
            <a:off x="428400" y="2835375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Volume = 𝜋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93"/>
          <p:cNvSpPr txBox="1"/>
          <p:nvPr/>
        </p:nvSpPr>
        <p:spPr>
          <a:xfrm>
            <a:off x="735175" y="3182742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768𝜋 = 𝜋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12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93"/>
          <p:cNvSpPr txBox="1"/>
          <p:nvPr/>
        </p:nvSpPr>
        <p:spPr>
          <a:xfrm>
            <a:off x="963775" y="3530109"/>
            <a:ext cx="173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𝜋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64𝜋 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9" name="Google Shape;1279;p93"/>
          <p:cNvCxnSpPr/>
          <p:nvPr/>
        </p:nvCxnSpPr>
        <p:spPr>
          <a:xfrm rot="10800000">
            <a:off x="1549350" y="999825"/>
            <a:ext cx="0" cy="64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80" name="Google Shape;1280;p93"/>
          <p:cNvSpPr txBox="1"/>
          <p:nvPr/>
        </p:nvSpPr>
        <p:spPr>
          <a:xfrm>
            <a:off x="1093500" y="3877477"/>
            <a:ext cx="173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64 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93"/>
          <p:cNvSpPr txBox="1"/>
          <p:nvPr/>
        </p:nvSpPr>
        <p:spPr>
          <a:xfrm>
            <a:off x="1170263" y="4224844"/>
            <a:ext cx="173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8 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6" name="Google Shape;1286;p94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5690200" y="2160000"/>
            <a:ext cx="2009774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volume of a cylinder</a:t>
            </a:r>
            <a:endParaRPr/>
          </a:p>
        </p:txBody>
      </p:sp>
      <p:pic>
        <p:nvPicPr>
          <p:cNvPr id="1288" name="Google Shape;1288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7975" y="957175"/>
            <a:ext cx="2191900" cy="1323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9" name="Google Shape;1289;p94"/>
          <p:cNvCxnSpPr/>
          <p:nvPr/>
        </p:nvCxnSpPr>
        <p:spPr>
          <a:xfrm>
            <a:off x="1518650" y="2396225"/>
            <a:ext cx="1732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90" name="Google Shape;1290;p94"/>
          <p:cNvSpPr txBox="1"/>
          <p:nvPr/>
        </p:nvSpPr>
        <p:spPr>
          <a:xfrm>
            <a:off x="1907850" y="1200275"/>
            <a:ext cx="1373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Volume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768𝜋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94"/>
          <p:cNvSpPr txBox="1"/>
          <p:nvPr/>
        </p:nvSpPr>
        <p:spPr>
          <a:xfrm>
            <a:off x="2067900" y="2396225"/>
            <a:ext cx="137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94"/>
          <p:cNvSpPr txBox="1"/>
          <p:nvPr/>
        </p:nvSpPr>
        <p:spPr>
          <a:xfrm>
            <a:off x="656250" y="1127400"/>
            <a:ext cx="137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94"/>
          <p:cNvSpPr txBox="1"/>
          <p:nvPr/>
        </p:nvSpPr>
        <p:spPr>
          <a:xfrm>
            <a:off x="3922500" y="778400"/>
            <a:ext cx="473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formula for volume of a cylinder has 3 variables; volume, radius and height.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94" name="Google Shape;1294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9587" y="306397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94"/>
          <p:cNvSpPr txBox="1"/>
          <p:nvPr/>
        </p:nvSpPr>
        <p:spPr>
          <a:xfrm>
            <a:off x="7131134" y="39391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94"/>
          <p:cNvSpPr txBox="1"/>
          <p:nvPr/>
        </p:nvSpPr>
        <p:spPr>
          <a:xfrm>
            <a:off x="5698200" y="2243825"/>
            <a:ext cx="1955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→ the radius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→ the diameter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94"/>
          <p:cNvSpPr txBox="1"/>
          <p:nvPr/>
        </p:nvSpPr>
        <p:spPr>
          <a:xfrm>
            <a:off x="428400" y="2835375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Volume = 𝜋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94"/>
          <p:cNvSpPr txBox="1"/>
          <p:nvPr/>
        </p:nvSpPr>
        <p:spPr>
          <a:xfrm>
            <a:off x="735175" y="3182742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768𝜋 = 𝜋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12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94"/>
          <p:cNvSpPr txBox="1"/>
          <p:nvPr/>
        </p:nvSpPr>
        <p:spPr>
          <a:xfrm>
            <a:off x="963775" y="3530109"/>
            <a:ext cx="173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𝜋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64𝜋 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0" name="Google Shape;1300;p94"/>
          <p:cNvCxnSpPr/>
          <p:nvPr/>
        </p:nvCxnSpPr>
        <p:spPr>
          <a:xfrm rot="10800000">
            <a:off x="1549350" y="999700"/>
            <a:ext cx="0" cy="122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01" name="Google Shape;1301;p94"/>
          <p:cNvSpPr txBox="1"/>
          <p:nvPr/>
        </p:nvSpPr>
        <p:spPr>
          <a:xfrm>
            <a:off x="1093500" y="3877477"/>
            <a:ext cx="173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64 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94"/>
          <p:cNvSpPr txBox="1"/>
          <p:nvPr/>
        </p:nvSpPr>
        <p:spPr>
          <a:xfrm>
            <a:off x="1170263" y="4224844"/>
            <a:ext cx="173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8      →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94"/>
          <p:cNvSpPr txBox="1"/>
          <p:nvPr/>
        </p:nvSpPr>
        <p:spPr>
          <a:xfrm>
            <a:off x="2534363" y="4224819"/>
            <a:ext cx="173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16 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9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Given that the radius of the cylinder is 6 cm, which of </a:t>
            </a:r>
            <a:r>
              <a:rPr lang="en-GB" sz="2000"/>
              <a:t>the following are true?</a:t>
            </a:r>
            <a:endParaRPr sz="2000"/>
          </a:p>
        </p:txBody>
      </p:sp>
      <p:sp>
        <p:nvSpPr>
          <p:cNvPr id="1309" name="Google Shape;1309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volume of a cylinder</a:t>
            </a:r>
            <a:endParaRPr/>
          </a:p>
        </p:txBody>
      </p:sp>
      <p:sp>
        <p:nvSpPr>
          <p:cNvPr id="1310" name="Google Shape;1310;p9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height of the cylinder is 12 cm.</a:t>
            </a:r>
            <a:endParaRPr sz="2000"/>
          </a:p>
        </p:txBody>
      </p:sp>
      <p:sp>
        <p:nvSpPr>
          <p:cNvPr id="1311" name="Google Shape;1311;p9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diameter of the cylinder is 12 cm.</a:t>
            </a:r>
            <a:endParaRPr sz="2000"/>
          </a:p>
        </p:txBody>
      </p:sp>
      <p:sp>
        <p:nvSpPr>
          <p:cNvPr id="1312" name="Google Shape;1312;p9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volume of the cylinder is 36</a:t>
            </a:r>
            <a:r>
              <a:rPr lang="en-GB" sz="2000"/>
              <a:t>𝜋 cm</a:t>
            </a:r>
            <a:r>
              <a:rPr baseline="30000" lang="en-GB" sz="2000"/>
              <a:t>3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313" name="Google Shape;1313;p9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area of the cross-section is 36</a:t>
            </a:r>
            <a:r>
              <a:rPr lang="en-GB" sz="2000"/>
              <a:t>𝜋 cm</a:t>
            </a:r>
            <a:r>
              <a:rPr baseline="30000" lang="en-GB" sz="2000"/>
              <a:t>2</a:t>
            </a:r>
            <a:r>
              <a:rPr lang="en-GB" sz="2000"/>
              <a:t>.</a:t>
            </a:r>
            <a:endParaRPr sz="2000"/>
          </a:p>
        </p:txBody>
      </p:sp>
      <p:pic>
        <p:nvPicPr>
          <p:cNvPr id="1314" name="Google Shape;1314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408" y="24503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0833" y="40656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0" name="Google Shape;1320;p96"/>
          <p:cNvGrpSpPr/>
          <p:nvPr/>
        </p:nvGrpSpPr>
        <p:grpSpPr>
          <a:xfrm>
            <a:off x="7066223" y="925075"/>
            <a:ext cx="1848110" cy="831162"/>
            <a:chOff x="7157663" y="925075"/>
            <a:chExt cx="1848110" cy="831162"/>
          </a:xfrm>
        </p:grpSpPr>
        <p:pic>
          <p:nvPicPr>
            <p:cNvPr id="1321" name="Google Shape;1321;p96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7157675" y="1425635"/>
              <a:ext cx="957501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2" name="Google Shape;1322;p96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7157663" y="925085"/>
              <a:ext cx="957501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3" name="Google Shape;1323;p96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8101938" y="92507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4" name="Google Shape;1324;p96"/>
            <p:cNvPicPr preferRelativeResize="0"/>
            <p:nvPr/>
          </p:nvPicPr>
          <p:blipFill rotWithShape="1">
            <a:blip r:embed="rId3">
              <a:alphaModFix/>
            </a:blip>
            <a:srcRect b="0" l="26876" r="69081" t="89131"/>
            <a:stretch/>
          </p:blipFill>
          <p:spPr>
            <a:xfrm>
              <a:off x="8750146" y="1417049"/>
              <a:ext cx="25562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5" name="Google Shape;1325;p96"/>
            <p:cNvPicPr preferRelativeResize="0"/>
            <p:nvPr/>
          </p:nvPicPr>
          <p:blipFill rotWithShape="1">
            <a:blip r:embed="rId3">
              <a:alphaModFix/>
            </a:blip>
            <a:srcRect b="0" l="20690" r="73532" t="89131"/>
            <a:stretch/>
          </p:blipFill>
          <p:spPr>
            <a:xfrm flipH="1">
              <a:off x="8488181" y="1420470"/>
              <a:ext cx="365373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6" name="Google Shape;1326;p96"/>
            <p:cNvPicPr preferRelativeResize="0"/>
            <p:nvPr/>
          </p:nvPicPr>
          <p:blipFill rotWithShape="1">
            <a:blip r:embed="rId3">
              <a:alphaModFix/>
            </a:blip>
            <a:srcRect b="0" l="3402" r="84914" t="89131"/>
            <a:stretch/>
          </p:blipFill>
          <p:spPr>
            <a:xfrm>
              <a:off x="7917025" y="1429013"/>
              <a:ext cx="741550" cy="327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27" name="Google Shape;1327;p96"/>
          <p:cNvSpPr txBox="1"/>
          <p:nvPr>
            <p:ph idx="1" type="body"/>
          </p:nvPr>
        </p:nvSpPr>
        <p:spPr>
          <a:xfrm>
            <a:off x="1304950" y="759300"/>
            <a:ext cx="6502800" cy="15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Laura is buying a candle and gift box for her Grandma.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candle is cylindrical. </a:t>
            </a:r>
            <a:br>
              <a:rPr lang="en-GB" sz="1800"/>
            </a:br>
            <a:r>
              <a:rPr lang="en-GB" sz="1800"/>
              <a:t>It has a volume of 256</a:t>
            </a:r>
            <a:r>
              <a:rPr lang="en-GB" sz="1800"/>
              <a:t>𝜋 cm</a:t>
            </a:r>
            <a:r>
              <a:rPr baseline="30000" lang="en-GB" sz="1800"/>
              <a:t>3</a:t>
            </a:r>
            <a:r>
              <a:rPr lang="en-GB" sz="1800"/>
              <a:t> and is 16 cm tall.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box is 75 mm × 75 mm × 165 mm. Will the candle fit?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328" name="Google Shape;1328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volume of a cylinder</a:t>
            </a:r>
            <a:endParaRPr/>
          </a:p>
        </p:txBody>
      </p:sp>
      <p:pic>
        <p:nvPicPr>
          <p:cNvPr id="1329" name="Google Shape;1329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2" y="810002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0" name="Google Shape;1330;p96"/>
          <p:cNvPicPr preferRelativeResize="0"/>
          <p:nvPr/>
        </p:nvPicPr>
        <p:blipFill rotWithShape="1">
          <a:blip r:embed="rId5">
            <a:alphaModFix/>
          </a:blip>
          <a:srcRect b="15427" l="21831" r="19981" t="13479"/>
          <a:stretch/>
        </p:blipFill>
        <p:spPr>
          <a:xfrm>
            <a:off x="847075" y="2928600"/>
            <a:ext cx="1282050" cy="153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1" name="Google Shape;1331;p96"/>
          <p:cNvCxnSpPr/>
          <p:nvPr/>
        </p:nvCxnSpPr>
        <p:spPr>
          <a:xfrm>
            <a:off x="1518625" y="2928600"/>
            <a:ext cx="610500" cy="329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32" name="Google Shape;1332;p96"/>
          <p:cNvCxnSpPr/>
          <p:nvPr/>
        </p:nvCxnSpPr>
        <p:spPr>
          <a:xfrm flipH="1" rot="10800000">
            <a:off x="847075" y="2908800"/>
            <a:ext cx="572400" cy="36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33" name="Google Shape;1333;p96"/>
          <p:cNvCxnSpPr/>
          <p:nvPr/>
        </p:nvCxnSpPr>
        <p:spPr>
          <a:xfrm rot="10800000">
            <a:off x="2129125" y="3301350"/>
            <a:ext cx="0" cy="78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34" name="Google Shape;1334;p96"/>
          <p:cNvSpPr txBox="1"/>
          <p:nvPr/>
        </p:nvSpPr>
        <p:spPr>
          <a:xfrm>
            <a:off x="1778100" y="2746925"/>
            <a:ext cx="105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7.5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96"/>
          <p:cNvSpPr txBox="1"/>
          <p:nvPr/>
        </p:nvSpPr>
        <p:spPr>
          <a:xfrm>
            <a:off x="324000" y="2697750"/>
            <a:ext cx="98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7.5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96"/>
          <p:cNvSpPr txBox="1"/>
          <p:nvPr/>
        </p:nvSpPr>
        <p:spPr>
          <a:xfrm>
            <a:off x="2129125" y="3346950"/>
            <a:ext cx="885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16.5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96"/>
          <p:cNvSpPr txBox="1"/>
          <p:nvPr/>
        </p:nvSpPr>
        <p:spPr>
          <a:xfrm>
            <a:off x="2938150" y="2571750"/>
            <a:ext cx="5319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candle is shorter than the box, so it will fit by height.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8" name="Google Shape;1338;p96"/>
          <p:cNvSpPr txBox="1"/>
          <p:nvPr/>
        </p:nvSpPr>
        <p:spPr>
          <a:xfrm>
            <a:off x="2938150" y="3351700"/>
            <a:ext cx="6105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volume of the cylinder is 804.2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(1 d.p.) and the box is 7.5 × 7.5 × 16.5 = 928.1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(1 d.p.), so it has less volume.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9" name="Google Shape;1339;p96"/>
          <p:cNvSpPr txBox="1"/>
          <p:nvPr/>
        </p:nvSpPr>
        <p:spPr>
          <a:xfrm>
            <a:off x="8209194" y="2261013"/>
            <a:ext cx="777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0" name="Google Shape;1340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07857" y="1662588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96"/>
          <p:cNvSpPr txBox="1"/>
          <p:nvPr/>
        </p:nvSpPr>
        <p:spPr>
          <a:xfrm>
            <a:off x="7104975" y="1080000"/>
            <a:ext cx="17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doesn’t fit.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96"/>
          <p:cNvSpPr txBox="1"/>
          <p:nvPr/>
        </p:nvSpPr>
        <p:spPr>
          <a:xfrm>
            <a:off x="2938750" y="4419350"/>
            <a:ext cx="283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why doesn’t it fit?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7" name="Google Shape;1347;p97"/>
          <p:cNvGrpSpPr/>
          <p:nvPr/>
        </p:nvGrpSpPr>
        <p:grpSpPr>
          <a:xfrm>
            <a:off x="7066223" y="925075"/>
            <a:ext cx="1848110" cy="831162"/>
            <a:chOff x="7157663" y="925075"/>
            <a:chExt cx="1848110" cy="831162"/>
          </a:xfrm>
        </p:grpSpPr>
        <p:pic>
          <p:nvPicPr>
            <p:cNvPr id="1348" name="Google Shape;1348;p97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7157675" y="1425635"/>
              <a:ext cx="957501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9" name="Google Shape;1349;p97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7157663" y="925085"/>
              <a:ext cx="957501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0" name="Google Shape;1350;p97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8101938" y="92507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1" name="Google Shape;1351;p97"/>
            <p:cNvPicPr preferRelativeResize="0"/>
            <p:nvPr/>
          </p:nvPicPr>
          <p:blipFill rotWithShape="1">
            <a:blip r:embed="rId3">
              <a:alphaModFix/>
            </a:blip>
            <a:srcRect b="0" l="26876" r="69081" t="89131"/>
            <a:stretch/>
          </p:blipFill>
          <p:spPr>
            <a:xfrm>
              <a:off x="8750146" y="1417049"/>
              <a:ext cx="25562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2" name="Google Shape;1352;p97"/>
            <p:cNvPicPr preferRelativeResize="0"/>
            <p:nvPr/>
          </p:nvPicPr>
          <p:blipFill rotWithShape="1">
            <a:blip r:embed="rId3">
              <a:alphaModFix/>
            </a:blip>
            <a:srcRect b="0" l="20690" r="73532" t="89131"/>
            <a:stretch/>
          </p:blipFill>
          <p:spPr>
            <a:xfrm flipH="1">
              <a:off x="8488181" y="1420470"/>
              <a:ext cx="365373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3" name="Google Shape;1353;p97"/>
            <p:cNvPicPr preferRelativeResize="0"/>
            <p:nvPr/>
          </p:nvPicPr>
          <p:blipFill rotWithShape="1">
            <a:blip r:embed="rId3">
              <a:alphaModFix/>
            </a:blip>
            <a:srcRect b="0" l="3402" r="84914" t="89131"/>
            <a:stretch/>
          </p:blipFill>
          <p:spPr>
            <a:xfrm>
              <a:off x="7917025" y="1429013"/>
              <a:ext cx="741550" cy="327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54" name="Google Shape;1354;p97"/>
          <p:cNvSpPr txBox="1"/>
          <p:nvPr>
            <p:ph idx="1" type="body"/>
          </p:nvPr>
        </p:nvSpPr>
        <p:spPr>
          <a:xfrm>
            <a:off x="1304950" y="759300"/>
            <a:ext cx="6369300" cy="15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Laura is buying a candle and gift box for her Grandma.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candle is cylindrical. </a:t>
            </a:r>
            <a:br>
              <a:rPr lang="en-GB" sz="1800"/>
            </a:br>
            <a:r>
              <a:rPr lang="en-GB" sz="1800"/>
              <a:t>It has a volume of 256𝜋 cm</a:t>
            </a:r>
            <a:r>
              <a:rPr baseline="30000" lang="en-GB" sz="1800"/>
              <a:t>3</a:t>
            </a:r>
            <a:r>
              <a:rPr lang="en-GB" sz="1800"/>
              <a:t> and is 16 cm tall.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box is 75 mm × 75 mm × 165 mm. Will the candle fit? </a:t>
            </a:r>
            <a:endParaRPr sz="1800"/>
          </a:p>
        </p:txBody>
      </p:sp>
      <p:sp>
        <p:nvSpPr>
          <p:cNvPr id="1355" name="Google Shape;1355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volume of a cylinder</a:t>
            </a:r>
            <a:endParaRPr/>
          </a:p>
        </p:txBody>
      </p:sp>
      <p:pic>
        <p:nvPicPr>
          <p:cNvPr id="1356" name="Google Shape;1356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2" y="810002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357" name="Google Shape;1357;p97"/>
          <p:cNvSpPr txBox="1"/>
          <p:nvPr/>
        </p:nvSpPr>
        <p:spPr>
          <a:xfrm>
            <a:off x="2938150" y="2571750"/>
            <a:ext cx="5319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circular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face of the cylinder needs to fit within the square face of the box.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8" name="Google Shape;1358;p97"/>
          <p:cNvSpPr txBox="1"/>
          <p:nvPr/>
        </p:nvSpPr>
        <p:spPr>
          <a:xfrm>
            <a:off x="2938150" y="3351700"/>
            <a:ext cx="610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59" name="Google Shape;1359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07857" y="1662588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97"/>
          <p:cNvSpPr txBox="1"/>
          <p:nvPr/>
        </p:nvSpPr>
        <p:spPr>
          <a:xfrm>
            <a:off x="7104975" y="1080000"/>
            <a:ext cx="174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doesn’t fit.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97"/>
          <p:cNvSpPr txBox="1"/>
          <p:nvPr/>
        </p:nvSpPr>
        <p:spPr>
          <a:xfrm>
            <a:off x="3014413" y="3240000"/>
            <a:ext cx="439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Volume =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2" name="Google Shape;1362;p97"/>
          <p:cNvSpPr txBox="1"/>
          <p:nvPr/>
        </p:nvSpPr>
        <p:spPr>
          <a:xfrm>
            <a:off x="3169188" y="3572777"/>
            <a:ext cx="439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256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 = 𝜋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16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3" name="Google Shape;1363;p97"/>
          <p:cNvSpPr txBox="1"/>
          <p:nvPr/>
        </p:nvSpPr>
        <p:spPr>
          <a:xfrm>
            <a:off x="3523713" y="3905555"/>
            <a:ext cx="439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4" name="Google Shape;1364;p97"/>
          <p:cNvSpPr txBox="1"/>
          <p:nvPr/>
        </p:nvSpPr>
        <p:spPr>
          <a:xfrm>
            <a:off x="3554111" y="4238332"/>
            <a:ext cx="439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4 →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8 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5" name="Google Shape;1365;p97"/>
          <p:cNvSpPr txBox="1"/>
          <p:nvPr/>
        </p:nvSpPr>
        <p:spPr>
          <a:xfrm>
            <a:off x="6220400" y="3638575"/>
            <a:ext cx="2695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As 8 cm &gt; 7.5 cm, the candle will not fit in the box.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66" name="Google Shape;1366;p97"/>
          <p:cNvPicPr preferRelativeResize="0"/>
          <p:nvPr/>
        </p:nvPicPr>
        <p:blipFill rotWithShape="1">
          <a:blip r:embed="rId6">
            <a:alphaModFix/>
          </a:blip>
          <a:srcRect b="15427" l="21831" r="19981" t="13479"/>
          <a:stretch/>
        </p:blipFill>
        <p:spPr>
          <a:xfrm>
            <a:off x="847075" y="2928600"/>
            <a:ext cx="1282050" cy="153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7" name="Google Shape;1367;p97"/>
          <p:cNvCxnSpPr/>
          <p:nvPr/>
        </p:nvCxnSpPr>
        <p:spPr>
          <a:xfrm>
            <a:off x="1518625" y="2928600"/>
            <a:ext cx="610500" cy="329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8" name="Google Shape;1368;p97"/>
          <p:cNvCxnSpPr/>
          <p:nvPr/>
        </p:nvCxnSpPr>
        <p:spPr>
          <a:xfrm flipH="1" rot="10800000">
            <a:off x="847075" y="2908800"/>
            <a:ext cx="572400" cy="36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9" name="Google Shape;1369;p97"/>
          <p:cNvCxnSpPr/>
          <p:nvPr/>
        </p:nvCxnSpPr>
        <p:spPr>
          <a:xfrm rot="10800000">
            <a:off x="2129125" y="3301350"/>
            <a:ext cx="0" cy="78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70" name="Google Shape;1370;p97"/>
          <p:cNvSpPr txBox="1"/>
          <p:nvPr/>
        </p:nvSpPr>
        <p:spPr>
          <a:xfrm>
            <a:off x="1778100" y="2746925"/>
            <a:ext cx="105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7.5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97"/>
          <p:cNvSpPr txBox="1"/>
          <p:nvPr/>
        </p:nvSpPr>
        <p:spPr>
          <a:xfrm>
            <a:off x="324000" y="2697750"/>
            <a:ext cx="98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7.5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97"/>
          <p:cNvSpPr txBox="1"/>
          <p:nvPr/>
        </p:nvSpPr>
        <p:spPr>
          <a:xfrm>
            <a:off x="2129125" y="3346950"/>
            <a:ext cx="885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16.5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97"/>
          <p:cNvSpPr txBox="1"/>
          <p:nvPr/>
        </p:nvSpPr>
        <p:spPr>
          <a:xfrm>
            <a:off x="8209194" y="2261013"/>
            <a:ext cx="777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volume of a cylinder</a:t>
            </a:r>
            <a:endParaRPr/>
          </a:p>
        </p:txBody>
      </p:sp>
      <p:sp>
        <p:nvSpPr>
          <p:cNvPr id="1379" name="Google Shape;1379;p98"/>
          <p:cNvSpPr txBox="1"/>
          <p:nvPr>
            <p:ph idx="1" type="body"/>
          </p:nvPr>
        </p:nvSpPr>
        <p:spPr>
          <a:xfrm>
            <a:off x="324000" y="759300"/>
            <a:ext cx="8237700" cy="10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box is being made for a cylindrical sculpture. </a:t>
            </a:r>
            <a:br>
              <a:rPr lang="en-GB" sz="1800"/>
            </a:br>
            <a:r>
              <a:rPr lang="en-GB" sz="1800"/>
              <a:t>The cylinder has a volume of 11 250𝜋 cm</a:t>
            </a:r>
            <a:r>
              <a:rPr baseline="30000" lang="en-GB" sz="1800"/>
              <a:t>3</a:t>
            </a:r>
            <a:r>
              <a:rPr lang="en-GB" sz="1800"/>
              <a:t> and a height of 50 cm. </a:t>
            </a:r>
            <a:br>
              <a:rPr lang="en-GB" sz="1800"/>
            </a:br>
            <a:r>
              <a:rPr lang="en-GB" sz="1800"/>
              <a:t>What is the smallest the box can be, so the sculpture fits?</a:t>
            </a:r>
            <a:endParaRPr sz="1800"/>
          </a:p>
        </p:txBody>
      </p:sp>
      <p:sp>
        <p:nvSpPr>
          <p:cNvPr id="1380" name="Google Shape;1380;p98"/>
          <p:cNvSpPr txBox="1"/>
          <p:nvPr/>
        </p:nvSpPr>
        <p:spPr>
          <a:xfrm>
            <a:off x="750300" y="1898400"/>
            <a:ext cx="245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11 250𝜋 = 𝜋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50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1" name="Google Shape;1381;p98"/>
          <p:cNvSpPr txBox="1"/>
          <p:nvPr/>
        </p:nvSpPr>
        <p:spPr>
          <a:xfrm>
            <a:off x="1150425" y="2310150"/>
            <a:ext cx="2320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225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2" name="Google Shape;1382;p98"/>
          <p:cNvSpPr txBox="1"/>
          <p:nvPr/>
        </p:nvSpPr>
        <p:spPr>
          <a:xfrm>
            <a:off x="1383475" y="2735278"/>
            <a:ext cx="2320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3" name="Google Shape;1383;p98"/>
          <p:cNvSpPr txBox="1"/>
          <p:nvPr/>
        </p:nvSpPr>
        <p:spPr>
          <a:xfrm>
            <a:off x="1464550" y="3162391"/>
            <a:ext cx="2320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30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4" name="Google Shape;1384;p98"/>
          <p:cNvSpPr txBox="1"/>
          <p:nvPr/>
        </p:nvSpPr>
        <p:spPr>
          <a:xfrm>
            <a:off x="4198925" y="2227000"/>
            <a:ext cx="3421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box needs to be at least 30 cm x 30 cm x 50 cm,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to fit the sculpture.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99"/>
          <p:cNvSpPr txBox="1"/>
          <p:nvPr/>
        </p:nvSpPr>
        <p:spPr>
          <a:xfrm>
            <a:off x="6661088" y="4243800"/>
            <a:ext cx="103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0" name="Google Shape;1390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the volume of a cylinder</a:t>
            </a:r>
            <a:endParaRPr/>
          </a:p>
        </p:txBody>
      </p:sp>
      <p:pic>
        <p:nvPicPr>
          <p:cNvPr id="1391" name="Google Shape;139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625" y="1919521"/>
            <a:ext cx="1160050" cy="140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2" name="Google Shape;1392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8625" y="1380600"/>
            <a:ext cx="1585175" cy="53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3" name="Google Shape;1393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925" y="4067350"/>
            <a:ext cx="3849170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" name="Google Shape;1394;p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98212" y="1456800"/>
            <a:ext cx="2307975" cy="1024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5" name="Google Shape;1395;p9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3673" y="2306888"/>
            <a:ext cx="1512125" cy="12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6" name="Google Shape;1396;p9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18487" y="2652800"/>
            <a:ext cx="564500" cy="1542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7" name="Google Shape;1397;p99"/>
          <p:cNvCxnSpPr/>
          <p:nvPr/>
        </p:nvCxnSpPr>
        <p:spPr>
          <a:xfrm>
            <a:off x="689050" y="4488900"/>
            <a:ext cx="376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98" name="Google Shape;1398;p99"/>
          <p:cNvCxnSpPr/>
          <p:nvPr/>
        </p:nvCxnSpPr>
        <p:spPr>
          <a:xfrm flipH="1">
            <a:off x="1879559" y="2074475"/>
            <a:ext cx="300" cy="109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99" name="Google Shape;1399;p99"/>
          <p:cNvCxnSpPr/>
          <p:nvPr/>
        </p:nvCxnSpPr>
        <p:spPr>
          <a:xfrm>
            <a:off x="4475534" y="1434275"/>
            <a:ext cx="0" cy="41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0" name="Google Shape;1400;p99"/>
          <p:cNvCxnSpPr/>
          <p:nvPr/>
        </p:nvCxnSpPr>
        <p:spPr>
          <a:xfrm>
            <a:off x="6694684" y="1357200"/>
            <a:ext cx="1916700" cy="32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1" name="Google Shape;1401;p99"/>
          <p:cNvCxnSpPr/>
          <p:nvPr/>
        </p:nvCxnSpPr>
        <p:spPr>
          <a:xfrm flipH="1">
            <a:off x="6536831" y="2717338"/>
            <a:ext cx="9000" cy="141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2" name="Google Shape;1402;p99"/>
          <p:cNvCxnSpPr/>
          <p:nvPr/>
        </p:nvCxnSpPr>
        <p:spPr>
          <a:xfrm flipH="1">
            <a:off x="4051025" y="3202025"/>
            <a:ext cx="880500" cy="45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3" name="Google Shape;1403;p99"/>
          <p:cNvCxnSpPr/>
          <p:nvPr/>
        </p:nvCxnSpPr>
        <p:spPr>
          <a:xfrm>
            <a:off x="1223809" y="2072806"/>
            <a:ext cx="55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4" name="Google Shape;1404;p99"/>
          <p:cNvCxnSpPr/>
          <p:nvPr/>
        </p:nvCxnSpPr>
        <p:spPr>
          <a:xfrm>
            <a:off x="2818634" y="1321538"/>
            <a:ext cx="1534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5" name="Google Shape;1405;p99"/>
          <p:cNvCxnSpPr/>
          <p:nvPr/>
        </p:nvCxnSpPr>
        <p:spPr>
          <a:xfrm>
            <a:off x="6632650" y="4243800"/>
            <a:ext cx="303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6" name="Google Shape;1406;p99"/>
          <p:cNvCxnSpPr/>
          <p:nvPr/>
        </p:nvCxnSpPr>
        <p:spPr>
          <a:xfrm>
            <a:off x="4590284" y="4063317"/>
            <a:ext cx="0" cy="34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7" name="Google Shape;1407;p99"/>
          <p:cNvCxnSpPr/>
          <p:nvPr/>
        </p:nvCxnSpPr>
        <p:spPr>
          <a:xfrm>
            <a:off x="3573009" y="2871742"/>
            <a:ext cx="202500" cy="35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8" name="Google Shape;1408;p99"/>
          <p:cNvCxnSpPr/>
          <p:nvPr/>
        </p:nvCxnSpPr>
        <p:spPr>
          <a:xfrm flipH="1">
            <a:off x="6514125" y="1479825"/>
            <a:ext cx="1011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09" name="Google Shape;1409;p99"/>
          <p:cNvSpPr txBox="1"/>
          <p:nvPr/>
        </p:nvSpPr>
        <p:spPr>
          <a:xfrm>
            <a:off x="2829688" y="2816400"/>
            <a:ext cx="103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99"/>
          <p:cNvSpPr txBox="1"/>
          <p:nvPr/>
        </p:nvSpPr>
        <p:spPr>
          <a:xfrm>
            <a:off x="4405438" y="3347838"/>
            <a:ext cx="103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99"/>
          <p:cNvSpPr txBox="1"/>
          <p:nvPr/>
        </p:nvSpPr>
        <p:spPr>
          <a:xfrm>
            <a:off x="5776026" y="1434275"/>
            <a:ext cx="78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99"/>
          <p:cNvSpPr txBox="1"/>
          <p:nvPr/>
        </p:nvSpPr>
        <p:spPr>
          <a:xfrm>
            <a:off x="2100074" y="4457375"/>
            <a:ext cx="78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3.6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3" name="Google Shape;1413;p99"/>
          <p:cNvSpPr txBox="1"/>
          <p:nvPr/>
        </p:nvSpPr>
        <p:spPr>
          <a:xfrm>
            <a:off x="3199310" y="976015"/>
            <a:ext cx="116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 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99"/>
          <p:cNvSpPr txBox="1"/>
          <p:nvPr/>
        </p:nvSpPr>
        <p:spPr>
          <a:xfrm>
            <a:off x="1898763" y="2352450"/>
            <a:ext cx="103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99"/>
          <p:cNvSpPr txBox="1"/>
          <p:nvPr/>
        </p:nvSpPr>
        <p:spPr>
          <a:xfrm>
            <a:off x="1256188" y="1485713"/>
            <a:ext cx="103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99"/>
          <p:cNvSpPr txBox="1"/>
          <p:nvPr/>
        </p:nvSpPr>
        <p:spPr>
          <a:xfrm>
            <a:off x="4520863" y="1280363"/>
            <a:ext cx="103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99"/>
          <p:cNvSpPr txBox="1"/>
          <p:nvPr/>
        </p:nvSpPr>
        <p:spPr>
          <a:xfrm>
            <a:off x="7462280" y="1073825"/>
            <a:ext cx="144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99"/>
          <p:cNvSpPr txBox="1"/>
          <p:nvPr/>
        </p:nvSpPr>
        <p:spPr>
          <a:xfrm>
            <a:off x="4589380" y="3989375"/>
            <a:ext cx="144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99"/>
          <p:cNvSpPr txBox="1"/>
          <p:nvPr/>
        </p:nvSpPr>
        <p:spPr>
          <a:xfrm>
            <a:off x="5774405" y="3161400"/>
            <a:ext cx="144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99"/>
          <p:cNvSpPr txBox="1"/>
          <p:nvPr>
            <p:ph idx="1" type="body"/>
          </p:nvPr>
        </p:nvSpPr>
        <p:spPr>
          <a:xfrm>
            <a:off x="324000" y="759300"/>
            <a:ext cx="8734800" cy="32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All of these cylinders have the same volume. Calculate the missing lengths.</a:t>
            </a:r>
            <a:endParaRPr sz="1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100"/>
          <p:cNvSpPr txBox="1"/>
          <p:nvPr/>
        </p:nvSpPr>
        <p:spPr>
          <a:xfrm>
            <a:off x="6661088" y="4243800"/>
            <a:ext cx="103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100"/>
          <p:cNvSpPr txBox="1"/>
          <p:nvPr>
            <p:ph idx="1" type="body"/>
          </p:nvPr>
        </p:nvSpPr>
        <p:spPr>
          <a:xfrm>
            <a:off x="324000" y="759300"/>
            <a:ext cx="8734800" cy="32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All of these cylinders have the same volume. Calculate the missing lengths.</a:t>
            </a:r>
            <a:endParaRPr sz="1800"/>
          </a:p>
        </p:txBody>
      </p:sp>
      <p:sp>
        <p:nvSpPr>
          <p:cNvPr id="1427" name="Google Shape;1427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the volume of a cylinder</a:t>
            </a:r>
            <a:endParaRPr/>
          </a:p>
        </p:txBody>
      </p:sp>
      <p:pic>
        <p:nvPicPr>
          <p:cNvPr id="1428" name="Google Shape;1428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625" y="1919521"/>
            <a:ext cx="1160050" cy="140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9" name="Google Shape;1429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8625" y="1380600"/>
            <a:ext cx="1585175" cy="53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0" name="Google Shape;1430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925" y="4067350"/>
            <a:ext cx="3849170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1" name="Google Shape;1431;p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98212" y="1456800"/>
            <a:ext cx="2307975" cy="1024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2" name="Google Shape;1432;p1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3673" y="2306888"/>
            <a:ext cx="1512125" cy="12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1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18487" y="2652800"/>
            <a:ext cx="564500" cy="1542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4" name="Google Shape;1434;p100"/>
          <p:cNvCxnSpPr/>
          <p:nvPr/>
        </p:nvCxnSpPr>
        <p:spPr>
          <a:xfrm>
            <a:off x="689050" y="4488900"/>
            <a:ext cx="376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5" name="Google Shape;1435;p100"/>
          <p:cNvCxnSpPr/>
          <p:nvPr/>
        </p:nvCxnSpPr>
        <p:spPr>
          <a:xfrm flipH="1">
            <a:off x="1879559" y="2074475"/>
            <a:ext cx="300" cy="109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6" name="Google Shape;1436;p100"/>
          <p:cNvCxnSpPr/>
          <p:nvPr/>
        </p:nvCxnSpPr>
        <p:spPr>
          <a:xfrm>
            <a:off x="4475534" y="1434275"/>
            <a:ext cx="0" cy="41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7" name="Google Shape;1437;p100"/>
          <p:cNvCxnSpPr/>
          <p:nvPr/>
        </p:nvCxnSpPr>
        <p:spPr>
          <a:xfrm>
            <a:off x="6694684" y="1357200"/>
            <a:ext cx="1916700" cy="32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8" name="Google Shape;1438;p100"/>
          <p:cNvCxnSpPr/>
          <p:nvPr/>
        </p:nvCxnSpPr>
        <p:spPr>
          <a:xfrm flipH="1">
            <a:off x="6536831" y="2717338"/>
            <a:ext cx="9000" cy="141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9" name="Google Shape;1439;p100"/>
          <p:cNvCxnSpPr/>
          <p:nvPr/>
        </p:nvCxnSpPr>
        <p:spPr>
          <a:xfrm flipH="1">
            <a:off x="4051025" y="3202025"/>
            <a:ext cx="880500" cy="45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40" name="Google Shape;1440;p100"/>
          <p:cNvCxnSpPr/>
          <p:nvPr/>
        </p:nvCxnSpPr>
        <p:spPr>
          <a:xfrm>
            <a:off x="1223809" y="2072806"/>
            <a:ext cx="55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41" name="Google Shape;1441;p100"/>
          <p:cNvCxnSpPr/>
          <p:nvPr/>
        </p:nvCxnSpPr>
        <p:spPr>
          <a:xfrm>
            <a:off x="2818634" y="1321538"/>
            <a:ext cx="1534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42" name="Google Shape;1442;p100"/>
          <p:cNvCxnSpPr/>
          <p:nvPr/>
        </p:nvCxnSpPr>
        <p:spPr>
          <a:xfrm>
            <a:off x="4590284" y="4063317"/>
            <a:ext cx="0" cy="34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43" name="Google Shape;1443;p100"/>
          <p:cNvCxnSpPr/>
          <p:nvPr/>
        </p:nvCxnSpPr>
        <p:spPr>
          <a:xfrm>
            <a:off x="3573009" y="2871742"/>
            <a:ext cx="202500" cy="35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44" name="Google Shape;1444;p100"/>
          <p:cNvCxnSpPr/>
          <p:nvPr/>
        </p:nvCxnSpPr>
        <p:spPr>
          <a:xfrm flipH="1">
            <a:off x="6514125" y="1479825"/>
            <a:ext cx="101100" cy="6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45" name="Google Shape;1445;p100"/>
          <p:cNvSpPr txBox="1"/>
          <p:nvPr/>
        </p:nvSpPr>
        <p:spPr>
          <a:xfrm>
            <a:off x="2829688" y="2816400"/>
            <a:ext cx="103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100"/>
          <p:cNvSpPr txBox="1"/>
          <p:nvPr/>
        </p:nvSpPr>
        <p:spPr>
          <a:xfrm>
            <a:off x="4405438" y="3347838"/>
            <a:ext cx="103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00"/>
          <p:cNvSpPr txBox="1"/>
          <p:nvPr/>
        </p:nvSpPr>
        <p:spPr>
          <a:xfrm>
            <a:off x="5776026" y="1586675"/>
            <a:ext cx="78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8" name="Google Shape;1448;p100"/>
          <p:cNvSpPr txBox="1"/>
          <p:nvPr/>
        </p:nvSpPr>
        <p:spPr>
          <a:xfrm>
            <a:off x="2100074" y="4457375"/>
            <a:ext cx="78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3.6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9" name="Google Shape;1449;p100"/>
          <p:cNvSpPr txBox="1"/>
          <p:nvPr/>
        </p:nvSpPr>
        <p:spPr>
          <a:xfrm>
            <a:off x="3199310" y="976015"/>
            <a:ext cx="116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100"/>
          <p:cNvSpPr txBox="1"/>
          <p:nvPr/>
        </p:nvSpPr>
        <p:spPr>
          <a:xfrm>
            <a:off x="1898763" y="2352450"/>
            <a:ext cx="103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100"/>
          <p:cNvSpPr txBox="1"/>
          <p:nvPr/>
        </p:nvSpPr>
        <p:spPr>
          <a:xfrm>
            <a:off x="1256188" y="1485713"/>
            <a:ext cx="103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2" name="Google Shape;1452;p100"/>
          <p:cNvSpPr txBox="1"/>
          <p:nvPr/>
        </p:nvSpPr>
        <p:spPr>
          <a:xfrm>
            <a:off x="4520877" y="1280375"/>
            <a:ext cx="116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0.9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100"/>
          <p:cNvSpPr txBox="1"/>
          <p:nvPr/>
        </p:nvSpPr>
        <p:spPr>
          <a:xfrm>
            <a:off x="7391355" y="1075250"/>
            <a:ext cx="144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22.5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100"/>
          <p:cNvSpPr txBox="1"/>
          <p:nvPr/>
        </p:nvSpPr>
        <p:spPr>
          <a:xfrm>
            <a:off x="4589380" y="3989375"/>
            <a:ext cx="144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100"/>
          <p:cNvSpPr txBox="1"/>
          <p:nvPr/>
        </p:nvSpPr>
        <p:spPr>
          <a:xfrm>
            <a:off x="5698205" y="3161400"/>
            <a:ext cx="144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100"/>
          <p:cNvSpPr txBox="1"/>
          <p:nvPr/>
        </p:nvSpPr>
        <p:spPr>
          <a:xfrm>
            <a:off x="330625" y="1082589"/>
            <a:ext cx="256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Volume = 360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57" name="Google Shape;1457;p100"/>
          <p:cNvCxnSpPr/>
          <p:nvPr/>
        </p:nvCxnSpPr>
        <p:spPr>
          <a:xfrm>
            <a:off x="6632650" y="4243800"/>
            <a:ext cx="303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101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Cylinders have a similar structure to prisms.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formula for finding the volume of a cylinder is </a:t>
            </a:r>
            <a:r>
              <a:rPr lang="en-GB"/>
              <a:t>𝜋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/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/>
              <a:t>, where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/>
              <a:t> is the radius and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/>
              <a:t> is the height.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formula can be used to find the radius, diameter or height if you know the volume.</a:t>
            </a:r>
            <a:endParaRPr/>
          </a:p>
        </p:txBody>
      </p:sp>
      <p:sp>
        <p:nvSpPr>
          <p:cNvPr id="1463" name="Google Shape;1463;p10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Volume of cylinders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02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69" name="Google Shape;1469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