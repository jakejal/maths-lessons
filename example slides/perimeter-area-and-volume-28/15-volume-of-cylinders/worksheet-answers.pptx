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50" name="Shape 250"/>
        <p:cNvGrpSpPr/>
        <p:nvPr/>
      </p:nvGrpSpPr>
      <p:grpSpPr>
        <a:xfrm>
          <a:off x="0" y="0"/>
          <a:ext cx="0" cy="0"/>
        </a:xfrm>
      </p:grpSpPr>
      <p:sp>
        <p:nvSpPr>
          <p:cNvPr id="251" name="Google Shape;251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39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Relationship Id="rId5" Type="http://schemas.openxmlformats.org/officeDocument/2006/relationships/image" Target="../media/image9.png" /><Relationship Id="rId6" Type="http://schemas.openxmlformats.org/officeDocument/2006/relationships/image" Target="../media/image10.png" /><Relationship Id="rId7" Type="http://schemas.openxmlformats.org/officeDocument/2006/relationships/image" Target="../media/image11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12.png" /><Relationship Id="rId4" Type="http://schemas.openxmlformats.org/officeDocument/2006/relationships/image" Target="../media/image13.png" /><Relationship Id="rId5" Type="http://schemas.openxmlformats.org/officeDocument/2006/relationships/image" Target="../media/image14.png" /><Relationship Id="rId6" Type="http://schemas.openxmlformats.org/officeDocument/2006/relationships/image" Target="../media/image15.png" /><Relationship Id="rId7" Type="http://schemas.openxmlformats.org/officeDocument/2006/relationships/image" Target="../media/image16.png" /><Relationship Id="rId8" Type="http://schemas.openxmlformats.org/officeDocument/2006/relationships/image" Target="../media/image17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/>
        </p:nvSpPr>
        <p:spPr>
          <a:xfrm>
            <a:off x="5730856" y="4571214"/>
            <a:ext cx="693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3.5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1354723" y="4694213"/>
            <a:ext cx="693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481791" y="4268925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Calculate the volume of the following cylinders. Leave in terms of 𝜋.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5" name="Google Shape;175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Volume of cylinders</a:t>
            </a:r>
            <a:endParaRPr/>
          </a:p>
        </p:txBody>
      </p:sp>
      <p:sp>
        <p:nvSpPr>
          <p:cNvPr id="176" name="Google Shape;176;p20"/>
          <p:cNvSpPr txBox="1"/>
          <p:nvPr/>
        </p:nvSpPr>
        <p:spPr>
          <a:xfrm>
            <a:off x="482891" y="1806925"/>
            <a:ext cx="6624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69999" lvl="0" indent="-269999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This is the formula for volume of a cylinder =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𝜋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baseline="30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where</a:t>
            </a:r>
            <a:r>
              <a:rPr lang="en-GB" sz="1200" i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is the radius and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is the height. Which of the following are equivalent?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77" name="Google Shape;177;p20"/>
          <p:cNvGrpSpPr/>
          <p:nvPr/>
        </p:nvGrpSpPr>
        <p:grpSpPr>
          <a:xfrm flipH="1">
            <a:off x="986683" y="2496002"/>
            <a:ext cx="198013" cy="197145"/>
            <a:chOff x="1020916" y="1442088"/>
            <a:chExt cx="457200" cy="457200"/>
          </a:xfrm>
        </p:grpSpPr>
        <p:pic>
          <p:nvPicPr>
            <p:cNvPr id="178" name="Google Shape;178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9" name="Google Shape;179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0" name="Google Shape;180;p20"/>
          <p:cNvGrpSpPr/>
          <p:nvPr/>
        </p:nvGrpSpPr>
        <p:grpSpPr>
          <a:xfrm flipH="1">
            <a:off x="986683" y="2898647"/>
            <a:ext cx="198013" cy="197145"/>
            <a:chOff x="1020916" y="1442088"/>
            <a:chExt cx="457200" cy="457200"/>
          </a:xfrm>
        </p:grpSpPr>
        <p:pic>
          <p:nvPicPr>
            <p:cNvPr id="181" name="Google Shape;181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2" name="Google Shape;182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3" name="Google Shape;183;p20"/>
          <p:cNvGrpSpPr/>
          <p:nvPr/>
        </p:nvGrpSpPr>
        <p:grpSpPr>
          <a:xfrm flipH="1">
            <a:off x="986683" y="3301293"/>
            <a:ext cx="198013" cy="197145"/>
            <a:chOff x="1020916" y="1442088"/>
            <a:chExt cx="457200" cy="457200"/>
          </a:xfrm>
        </p:grpSpPr>
        <p:pic>
          <p:nvPicPr>
            <p:cNvPr id="184" name="Google Shape;184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5" name="Google Shape;185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6" name="Google Shape;186;p20"/>
          <p:cNvGrpSpPr/>
          <p:nvPr/>
        </p:nvGrpSpPr>
        <p:grpSpPr>
          <a:xfrm flipH="1">
            <a:off x="986683" y="3703938"/>
            <a:ext cx="198013" cy="197145"/>
            <a:chOff x="1020916" y="1442088"/>
            <a:chExt cx="457200" cy="457200"/>
          </a:xfrm>
        </p:grpSpPr>
        <p:pic>
          <p:nvPicPr>
            <p:cNvPr id="187" name="Google Shape;187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8" name="Google Shape;188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89" name="Google Shape;189;p20"/>
          <p:cNvSpPr txBox="1"/>
          <p:nvPr/>
        </p:nvSpPr>
        <p:spPr>
          <a:xfrm>
            <a:off x="1219891" y="2388500"/>
            <a:ext cx="127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V = (𝜋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r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r>
              <a:rPr lang="en-GB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h</a:t>
            </a:r>
            <a:endParaRPr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1219891" y="2791400"/>
            <a:ext cx="127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V = 𝜋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hr</a:t>
            </a:r>
            <a:r>
              <a:rPr lang="en-GB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1219891" y="3194300"/>
            <a:ext cx="127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V = 𝜋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rh</a:t>
            </a:r>
            <a:r>
              <a:rPr lang="en-GB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1219891" y="3614875"/>
            <a:ext cx="127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V = 𝜋(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rh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)</a:t>
            </a:r>
            <a:r>
              <a:rPr lang="en-GB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endParaRPr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3568691" y="2406200"/>
            <a:ext cx="2507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V = 𝜋 × 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r 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× 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r 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×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h</a:t>
            </a:r>
            <a:endParaRPr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3568691" y="3212000"/>
            <a:ext cx="127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V = 𝜋</a:t>
            </a:r>
            <a:r>
              <a:rPr lang="en-GB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rh</a:t>
            </a:r>
            <a:endParaRPr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3568691" y="3632575"/>
            <a:ext cx="1274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V = 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r</a:t>
            </a:r>
            <a:r>
              <a:rPr lang="en-GB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h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𝜋</a:t>
            </a:r>
            <a:endParaRPr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3568691" y="2773675"/>
            <a:ext cx="2507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V = 𝜋 × 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h 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× 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r </a:t>
            </a:r>
            <a:r>
              <a:rPr lang="en-GB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×</a:t>
            </a:r>
            <a:r>
              <a:rPr lang="en-GB" i="1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 r</a:t>
            </a:r>
            <a:endParaRPr>
              <a:solidFill>
                <a:srgbClr val="000000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pic>
        <p:nvPicPr>
          <p:cNvPr id="197" name="Google Shape;19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25362" y="2828623"/>
            <a:ext cx="302676" cy="3257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11561" y="2500525"/>
            <a:ext cx="302676" cy="3257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11561" y="2913083"/>
            <a:ext cx="302676" cy="3257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17301" y="3703961"/>
            <a:ext cx="302676" cy="32576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1" name="Google Shape;201;p20"/>
          <p:cNvGrpSpPr/>
          <p:nvPr/>
        </p:nvGrpSpPr>
        <p:grpSpPr>
          <a:xfrm flipH="1">
            <a:off x="3196483" y="2500514"/>
            <a:ext cx="198013" cy="197145"/>
            <a:chOff x="1020916" y="1442088"/>
            <a:chExt cx="457200" cy="457200"/>
          </a:xfrm>
        </p:grpSpPr>
        <p:pic>
          <p:nvPicPr>
            <p:cNvPr id="202" name="Google Shape;202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3" name="Google Shape;203;p20"/>
            <p:cNvSpPr txBox="1"/>
            <p:nvPr/>
          </p:nvSpPr>
          <p:spPr>
            <a:xfrm>
              <a:off x="1045518" y="1526387"/>
              <a:ext cx="4080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4" name="Google Shape;204;p20"/>
          <p:cNvGrpSpPr/>
          <p:nvPr/>
        </p:nvGrpSpPr>
        <p:grpSpPr>
          <a:xfrm flipH="1">
            <a:off x="3196483" y="2898647"/>
            <a:ext cx="198013" cy="197145"/>
            <a:chOff x="1020916" y="1442088"/>
            <a:chExt cx="457200" cy="457200"/>
          </a:xfrm>
        </p:grpSpPr>
        <p:pic>
          <p:nvPicPr>
            <p:cNvPr id="205" name="Google Shape;205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6" name="Google Shape;206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f</a:t>
              </a:r>
              <a:endParaRPr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07" name="Google Shape;207;p20"/>
          <p:cNvGrpSpPr/>
          <p:nvPr/>
        </p:nvGrpSpPr>
        <p:grpSpPr>
          <a:xfrm flipH="1">
            <a:off x="3196483" y="3301293"/>
            <a:ext cx="198013" cy="197145"/>
            <a:chOff x="1020916" y="1442088"/>
            <a:chExt cx="457200" cy="457200"/>
          </a:xfrm>
        </p:grpSpPr>
        <p:pic>
          <p:nvPicPr>
            <p:cNvPr id="208" name="Google Shape;208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9" name="Google Shape;209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g</a:t>
              </a:r>
              <a:endParaRPr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0" name="Google Shape;210;p20"/>
          <p:cNvGrpSpPr/>
          <p:nvPr/>
        </p:nvGrpSpPr>
        <p:grpSpPr>
          <a:xfrm flipH="1">
            <a:off x="3196483" y="3703938"/>
            <a:ext cx="198013" cy="197145"/>
            <a:chOff x="1020916" y="1442088"/>
            <a:chExt cx="457200" cy="457200"/>
          </a:xfrm>
        </p:grpSpPr>
        <p:pic>
          <p:nvPicPr>
            <p:cNvPr id="211" name="Google Shape;211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2" name="Google Shape;212;p2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h</a:t>
              </a:r>
              <a:endParaRPr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13" name="Google Shape;213;p20"/>
          <p:cNvSpPr txBox="1"/>
          <p:nvPr/>
        </p:nvSpPr>
        <p:spPr>
          <a:xfrm>
            <a:off x="3357272" y="4571213"/>
            <a:ext cx="693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0"/>
          <p:cNvSpPr txBox="1"/>
          <p:nvPr/>
        </p:nvSpPr>
        <p:spPr>
          <a:xfrm>
            <a:off x="490783" y="4820250"/>
            <a:ext cx="432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0"/>
          <p:cNvSpPr txBox="1"/>
          <p:nvPr/>
        </p:nvSpPr>
        <p:spPr>
          <a:xfrm>
            <a:off x="2642817" y="4820250"/>
            <a:ext cx="483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0"/>
          <p:cNvSpPr txBox="1"/>
          <p:nvPr/>
        </p:nvSpPr>
        <p:spPr>
          <a:xfrm>
            <a:off x="4636873" y="4820250"/>
            <a:ext cx="501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0"/>
          <p:cNvSpPr txBox="1"/>
          <p:nvPr/>
        </p:nvSpPr>
        <p:spPr>
          <a:xfrm>
            <a:off x="490783" y="6404875"/>
            <a:ext cx="65253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A cylinder with a radius of 8 mm and a depth of 12 mm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0"/>
          <p:cNvSpPr txBox="1"/>
          <p:nvPr/>
        </p:nvSpPr>
        <p:spPr>
          <a:xfrm>
            <a:off x="490783" y="6861106"/>
            <a:ext cx="6562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 A cylinder with a diameter of 4.8 cm and a height of 12 cm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0"/>
          <p:cNvSpPr/>
          <p:nvPr/>
        </p:nvSpPr>
        <p:spPr>
          <a:xfrm>
            <a:off x="1133373" y="5072574"/>
            <a:ext cx="562248" cy="971405"/>
          </a:xfrm>
          <a:prstGeom prst="flowChartMagneticDisk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0" name="Google Shape;220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91411" y="4883365"/>
            <a:ext cx="501960" cy="1209492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22340" y="4922193"/>
            <a:ext cx="693288" cy="68103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2" name="Google Shape;222;p20"/>
          <p:cNvCxnSpPr/>
          <p:nvPr/>
        </p:nvCxnSpPr>
        <p:spPr>
          <a:xfrm flipH="1">
            <a:off x="1775941" y="5211590"/>
            <a:ext cx="0" cy="6726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23" name="Google Shape;223;p20"/>
          <p:cNvCxnSpPr/>
          <p:nvPr/>
        </p:nvCxnSpPr>
        <p:spPr>
          <a:xfrm rot="10800000" flipH="1">
            <a:off x="1414496" y="5011087"/>
            <a:ext cx="0" cy="225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24" name="Google Shape;224;p20"/>
          <p:cNvCxnSpPr/>
          <p:nvPr/>
        </p:nvCxnSpPr>
        <p:spPr>
          <a:xfrm rot="10800000" flipH="1">
            <a:off x="1695620" y="5033671"/>
            <a:ext cx="0" cy="198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25" name="Google Shape;225;p20"/>
          <p:cNvCxnSpPr/>
          <p:nvPr/>
        </p:nvCxnSpPr>
        <p:spPr>
          <a:xfrm rot="10800000">
            <a:off x="1414456" y="5033729"/>
            <a:ext cx="2661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26" name="Google Shape;226;p20"/>
          <p:cNvSpPr txBox="1"/>
          <p:nvPr/>
        </p:nvSpPr>
        <p:spPr>
          <a:xfrm>
            <a:off x="1775941" y="5406175"/>
            <a:ext cx="752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7" name="Google Shape;227;p20"/>
          <p:cNvCxnSpPr/>
          <p:nvPr/>
        </p:nvCxnSpPr>
        <p:spPr>
          <a:xfrm flipH="1">
            <a:off x="3230727" y="4960446"/>
            <a:ext cx="0" cy="10545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28" name="Google Shape;228;p20"/>
          <p:cNvSpPr txBox="1"/>
          <p:nvPr/>
        </p:nvSpPr>
        <p:spPr>
          <a:xfrm>
            <a:off x="2740391" y="5346300"/>
            <a:ext cx="562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9" name="Google Shape;229;p20"/>
          <p:cNvCxnSpPr/>
          <p:nvPr/>
        </p:nvCxnSpPr>
        <p:spPr>
          <a:xfrm>
            <a:off x="3296592" y="4832251"/>
            <a:ext cx="491700" cy="6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30" name="Google Shape;230;p20"/>
          <p:cNvCxnSpPr/>
          <p:nvPr/>
        </p:nvCxnSpPr>
        <p:spPr>
          <a:xfrm>
            <a:off x="5788360" y="4883365"/>
            <a:ext cx="3816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31" name="Google Shape;231;p20"/>
          <p:cNvCxnSpPr/>
          <p:nvPr/>
        </p:nvCxnSpPr>
        <p:spPr>
          <a:xfrm flipH="1">
            <a:off x="5788360" y="4945744"/>
            <a:ext cx="0" cy="3216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32" name="Google Shape;232;p20"/>
          <p:cNvSpPr txBox="1"/>
          <p:nvPr/>
        </p:nvSpPr>
        <p:spPr>
          <a:xfrm>
            <a:off x="5011966" y="4922200"/>
            <a:ext cx="693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42 mm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20"/>
          <p:cNvSpPr txBox="1"/>
          <p:nvPr/>
        </p:nvSpPr>
        <p:spPr>
          <a:xfrm>
            <a:off x="1737706" y="5808818"/>
            <a:ext cx="1104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V = 63𝜋 cm</a:t>
            </a:r>
            <a:r>
              <a:rPr lang="en-GB" sz="1200" baseline="30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endParaRPr sz="1200" baseline="30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4" name="Google Shape;234;p20"/>
          <p:cNvSpPr txBox="1"/>
          <p:nvPr/>
        </p:nvSpPr>
        <p:spPr>
          <a:xfrm>
            <a:off x="3743242" y="5820809"/>
            <a:ext cx="1104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V = 4𝜋 m</a:t>
            </a:r>
            <a:r>
              <a:rPr lang="en-GB" sz="1200" baseline="30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endParaRPr sz="1200" baseline="30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5" name="Google Shape;235;p20"/>
          <p:cNvSpPr txBox="1"/>
          <p:nvPr/>
        </p:nvSpPr>
        <p:spPr>
          <a:xfrm>
            <a:off x="5275176" y="5543668"/>
            <a:ext cx="13584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V = 61740𝜋 mm</a:t>
            </a:r>
            <a:r>
              <a:rPr lang="en-GB" sz="1200" baseline="30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endParaRPr sz="1200" baseline="30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V = 61.74𝜋 cm</a:t>
            </a:r>
            <a:r>
              <a:rPr lang="en-GB" sz="1200" baseline="30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endParaRPr sz="1200" baseline="30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6" name="Google Shape;236;p20"/>
          <p:cNvSpPr txBox="1"/>
          <p:nvPr/>
        </p:nvSpPr>
        <p:spPr>
          <a:xfrm>
            <a:off x="5227951" y="6404875"/>
            <a:ext cx="18789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V = 768𝜋 mm</a:t>
            </a:r>
            <a:r>
              <a:rPr lang="en-GB" sz="1200" baseline="30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endParaRPr sz="1200" baseline="30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7" name="Google Shape;237;p20"/>
          <p:cNvSpPr txBox="1"/>
          <p:nvPr/>
        </p:nvSpPr>
        <p:spPr>
          <a:xfrm>
            <a:off x="5227960" y="6861106"/>
            <a:ext cx="1830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V = 69.12𝜋 cm</a:t>
            </a:r>
            <a:r>
              <a:rPr lang="en-GB" sz="1200" baseline="30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endParaRPr sz="1200" baseline="30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8" name="Google Shape;238;p20"/>
          <p:cNvSpPr txBox="1"/>
          <p:nvPr/>
        </p:nvSpPr>
        <p:spPr>
          <a:xfrm>
            <a:off x="481791" y="7391333"/>
            <a:ext cx="64224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69999" lvl="0" indent="-269999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A metal washer factory forms a long metal pipe before slicing them into individual washers. What volume of metal is used to create this section of pipe?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9" name="Google Shape;239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63515" y="7960825"/>
            <a:ext cx="982675" cy="681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0" name="Google Shape;240;p20"/>
          <p:cNvCxnSpPr/>
          <p:nvPr/>
        </p:nvCxnSpPr>
        <p:spPr>
          <a:xfrm rot="10559789" flipH="1">
            <a:off x="931117" y="8412457"/>
            <a:ext cx="790629" cy="23699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41" name="Google Shape;241;p20"/>
          <p:cNvSpPr txBox="1"/>
          <p:nvPr/>
        </p:nvSpPr>
        <p:spPr>
          <a:xfrm>
            <a:off x="553028" y="8901942"/>
            <a:ext cx="2516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internal diameter = 12 mm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external diameter = 35 mm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20"/>
          <p:cNvSpPr txBox="1"/>
          <p:nvPr/>
        </p:nvSpPr>
        <p:spPr>
          <a:xfrm>
            <a:off x="1031527" y="8507168"/>
            <a:ext cx="2516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length = 360 mm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" name="Google Shape;243;p20"/>
          <p:cNvSpPr txBox="1"/>
          <p:nvPr/>
        </p:nvSpPr>
        <p:spPr>
          <a:xfrm>
            <a:off x="3439312" y="8173624"/>
            <a:ext cx="3139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V = (</a:t>
            </a:r>
            <a:r>
              <a:rPr lang="en-GB" sz="13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𝜋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× 17.5</a:t>
            </a:r>
            <a:r>
              <a:rPr lang="en-GB" sz="1200" baseline="30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- </a:t>
            </a:r>
            <a:r>
              <a:rPr lang="en-GB" sz="13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𝜋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× 6</a:t>
            </a:r>
            <a:r>
              <a:rPr lang="en-GB" sz="1200" baseline="30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) × 360</a:t>
            </a:r>
            <a:endParaRPr sz="1200" baseline="30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4" name="Google Shape;244;p20"/>
          <p:cNvSpPr txBox="1"/>
          <p:nvPr/>
        </p:nvSpPr>
        <p:spPr>
          <a:xfrm>
            <a:off x="3439312" y="8480884"/>
            <a:ext cx="31398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V = 97290</a:t>
            </a:r>
            <a:r>
              <a:rPr lang="en-GB" sz="13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𝜋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mm</a:t>
            </a:r>
            <a:r>
              <a:rPr lang="en-GB" sz="1200" baseline="30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305645.5 mm</a:t>
            </a:r>
            <a:r>
              <a:rPr lang="en-GB" sz="1200" baseline="30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endParaRPr sz="1200" baseline="30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5" name="Google Shape;245;p20"/>
          <p:cNvSpPr txBox="1"/>
          <p:nvPr/>
        </p:nvSpPr>
        <p:spPr>
          <a:xfrm>
            <a:off x="3439312" y="9217877"/>
            <a:ext cx="31398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V = (</a:t>
            </a:r>
            <a:r>
              <a:rPr lang="en-GB" sz="13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𝜋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× 1.75</a:t>
            </a:r>
            <a:r>
              <a:rPr lang="en-GB" sz="1200" baseline="30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- </a:t>
            </a:r>
            <a:r>
              <a:rPr lang="en-GB" sz="13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𝜋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× 0.6</a:t>
            </a:r>
            <a:r>
              <a:rPr lang="en-GB" sz="1200" baseline="30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) × 36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V = 97.29</a:t>
            </a:r>
            <a:r>
              <a:rPr lang="en-GB" sz="13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𝜋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cm</a:t>
            </a:r>
            <a:r>
              <a:rPr lang="en-GB" sz="1200" baseline="30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305.6 cm</a:t>
            </a:r>
            <a:r>
              <a:rPr lang="en-GB" sz="1200" baseline="30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endParaRPr sz="1200" baseline="30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 baseline="30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6" name="Google Shape;246;p20"/>
          <p:cNvSpPr txBox="1"/>
          <p:nvPr/>
        </p:nvSpPr>
        <p:spPr>
          <a:xfrm>
            <a:off x="3434887" y="7883926"/>
            <a:ext cx="2083200" cy="2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Calculating in mm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7" name="Google Shape;247;p20"/>
          <p:cNvSpPr txBox="1"/>
          <p:nvPr/>
        </p:nvSpPr>
        <p:spPr>
          <a:xfrm>
            <a:off x="3434887" y="9010278"/>
            <a:ext cx="2083200" cy="21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Calculating in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8" name="Google Shape;248;p20"/>
          <p:cNvCxnSpPr/>
          <p:nvPr/>
        </p:nvCxnSpPr>
        <p:spPr>
          <a:xfrm>
            <a:off x="489649" y="988043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9" name="Google Shape;249;p20"/>
          <p:cNvSpPr txBox="1"/>
          <p:nvPr/>
        </p:nvSpPr>
        <p:spPr>
          <a:xfrm>
            <a:off x="482891" y="14213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Calculating the volume of a cylinder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53" name="Shape 253"/>
        <p:cNvGrpSpPr/>
        <p:nvPr/>
      </p:nvGrpSpPr>
      <p:grpSpPr>
        <a:xfrm>
          <a:off x="0" y="0"/>
          <a:ext cx="0" cy="0"/>
        </a:xfrm>
      </p:grpSpPr>
      <p:sp>
        <p:nvSpPr>
          <p:cNvPr id="254" name="Google Shape;254;p21"/>
          <p:cNvSpPr txBox="1"/>
          <p:nvPr/>
        </p:nvSpPr>
        <p:spPr>
          <a:xfrm>
            <a:off x="2383069" y="3278895"/>
            <a:ext cx="783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5" name="Google Shape;255;p21"/>
          <p:cNvSpPr txBox="1"/>
          <p:nvPr/>
        </p:nvSpPr>
        <p:spPr>
          <a:xfrm>
            <a:off x="3717525" y="4168416"/>
            <a:ext cx="1096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6" name="Google Shape;256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57" name="Google Shape;257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Volume of cylinders</a:t>
            </a:r>
            <a:endParaRPr/>
          </a:p>
        </p:txBody>
      </p:sp>
      <p:sp>
        <p:nvSpPr>
          <p:cNvPr id="258" name="Google Shape;258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9" name="Google Shape;259;p21"/>
          <p:cNvSpPr txBox="1"/>
          <p:nvPr>
            <p:ph type="subTitle" idx="2"/>
          </p:nvPr>
        </p:nvSpPr>
        <p:spPr>
          <a:xfrm>
            <a:off x="3939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Industry.</a:t>
            </a:r>
            <a:endParaRPr/>
          </a:p>
        </p:txBody>
      </p:sp>
      <p:sp>
        <p:nvSpPr>
          <p:cNvPr id="260" name="Google Shape;260;p21"/>
          <p:cNvSpPr txBox="1"/>
          <p:nvPr/>
        </p:nvSpPr>
        <p:spPr>
          <a:xfrm>
            <a:off x="5078383" y="4324958"/>
            <a:ext cx="783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" name="Google Shape;261;p21"/>
          <p:cNvSpPr txBox="1"/>
          <p:nvPr/>
        </p:nvSpPr>
        <p:spPr>
          <a:xfrm>
            <a:off x="482900" y="1414100"/>
            <a:ext cx="6610500" cy="2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69999" lvl="0" indent="-269999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All of these cylinders have the same volume. Calculate the missing lengths.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2" name="Google Shape;26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5278" y="2598750"/>
            <a:ext cx="879719" cy="10622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74680" y="2190062"/>
            <a:ext cx="1202111" cy="40440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7922" y="4227548"/>
            <a:ext cx="2919002" cy="25571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42530" y="2247848"/>
            <a:ext cx="1750243" cy="77713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886600" y="2892509"/>
            <a:ext cx="1146714" cy="97921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256290" y="3154830"/>
            <a:ext cx="428086" cy="117010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8" name="Google Shape;268;p21"/>
          <p:cNvCxnSpPr/>
          <p:nvPr/>
        </p:nvCxnSpPr>
        <p:spPr>
          <a:xfrm>
            <a:off x="759726" y="4547229"/>
            <a:ext cx="28587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69" name="Google Shape;269;p21"/>
          <p:cNvCxnSpPr/>
          <p:nvPr/>
        </p:nvCxnSpPr>
        <p:spPr>
          <a:xfrm flipH="1">
            <a:off x="1662471" y="2716259"/>
            <a:ext cx="300" cy="8271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70" name="Google Shape;270;p21"/>
          <p:cNvCxnSpPr/>
          <p:nvPr/>
        </p:nvCxnSpPr>
        <p:spPr>
          <a:xfrm flipH="1">
            <a:off x="3631190" y="2230766"/>
            <a:ext cx="0" cy="3150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71" name="Google Shape;271;p21"/>
          <p:cNvCxnSpPr/>
          <p:nvPr/>
        </p:nvCxnSpPr>
        <p:spPr>
          <a:xfrm>
            <a:off x="4967358" y="2172317"/>
            <a:ext cx="1453500" cy="2466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72" name="Google Shape;272;p21"/>
          <p:cNvCxnSpPr/>
          <p:nvPr/>
        </p:nvCxnSpPr>
        <p:spPr>
          <a:xfrm flipH="1">
            <a:off x="5194291" y="3203771"/>
            <a:ext cx="6900" cy="10722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73" name="Google Shape;273;p21"/>
          <p:cNvCxnSpPr/>
          <p:nvPr/>
        </p:nvCxnSpPr>
        <p:spPr>
          <a:xfrm flipH="1">
            <a:off x="3309189" y="3571332"/>
            <a:ext cx="667800" cy="3468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74" name="Google Shape;274;p21"/>
          <p:cNvCxnSpPr/>
          <p:nvPr/>
        </p:nvCxnSpPr>
        <p:spPr>
          <a:xfrm>
            <a:off x="1165258" y="2714993"/>
            <a:ext cx="4203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75" name="Google Shape;275;p21"/>
          <p:cNvCxnSpPr/>
          <p:nvPr/>
        </p:nvCxnSpPr>
        <p:spPr>
          <a:xfrm>
            <a:off x="2374687" y="2145272"/>
            <a:ext cx="11637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76" name="Google Shape;276;p21"/>
          <p:cNvCxnSpPr/>
          <p:nvPr/>
        </p:nvCxnSpPr>
        <p:spPr>
          <a:xfrm flipH="1">
            <a:off x="3718210" y="4224489"/>
            <a:ext cx="0" cy="2613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77" name="Google Shape;277;p21"/>
          <p:cNvCxnSpPr/>
          <p:nvPr/>
        </p:nvCxnSpPr>
        <p:spPr>
          <a:xfrm>
            <a:off x="2946764" y="3320863"/>
            <a:ext cx="153600" cy="2661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78" name="Google Shape;278;p21"/>
          <p:cNvCxnSpPr/>
          <p:nvPr/>
        </p:nvCxnSpPr>
        <p:spPr>
          <a:xfrm flipH="1">
            <a:off x="4830300" y="2265309"/>
            <a:ext cx="76800" cy="5070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79" name="Google Shape;279;p21"/>
          <p:cNvSpPr txBox="1"/>
          <p:nvPr/>
        </p:nvSpPr>
        <p:spPr>
          <a:xfrm>
            <a:off x="3578033" y="3681908"/>
            <a:ext cx="783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0" name="Google Shape;280;p21"/>
          <p:cNvSpPr txBox="1"/>
          <p:nvPr/>
        </p:nvSpPr>
        <p:spPr>
          <a:xfrm>
            <a:off x="4266429" y="2301263"/>
            <a:ext cx="594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1" name="Google Shape;281;p21"/>
          <p:cNvSpPr txBox="1"/>
          <p:nvPr/>
        </p:nvSpPr>
        <p:spPr>
          <a:xfrm>
            <a:off x="1829770" y="4523322"/>
            <a:ext cx="594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3.6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2" name="Google Shape;282;p21"/>
          <p:cNvSpPr txBox="1"/>
          <p:nvPr/>
        </p:nvSpPr>
        <p:spPr>
          <a:xfrm>
            <a:off x="2663371" y="1883246"/>
            <a:ext cx="879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40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3" name="Google Shape;283;p21"/>
          <p:cNvSpPr txBox="1"/>
          <p:nvPr/>
        </p:nvSpPr>
        <p:spPr>
          <a:xfrm>
            <a:off x="1677106" y="2927060"/>
            <a:ext cx="783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40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4" name="Google Shape;284;p21"/>
          <p:cNvSpPr txBox="1"/>
          <p:nvPr/>
        </p:nvSpPr>
        <p:spPr>
          <a:xfrm>
            <a:off x="1189812" y="2269774"/>
            <a:ext cx="783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5" name="Google Shape;285;p21"/>
          <p:cNvSpPr txBox="1"/>
          <p:nvPr/>
        </p:nvSpPr>
        <p:spPr>
          <a:xfrm>
            <a:off x="3676866" y="2170425"/>
            <a:ext cx="1020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0.9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6" name="Google Shape;286;p21"/>
          <p:cNvSpPr txBox="1"/>
          <p:nvPr/>
        </p:nvSpPr>
        <p:spPr>
          <a:xfrm>
            <a:off x="5442325" y="1960613"/>
            <a:ext cx="1096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22.5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7" name="Google Shape;287;p21"/>
          <p:cNvSpPr txBox="1"/>
          <p:nvPr/>
        </p:nvSpPr>
        <p:spPr>
          <a:xfrm>
            <a:off x="4558398" y="3540524"/>
            <a:ext cx="1096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90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8" name="Google Shape;288;p21"/>
          <p:cNvSpPr txBox="1"/>
          <p:nvPr/>
        </p:nvSpPr>
        <p:spPr>
          <a:xfrm>
            <a:off x="487915" y="1735466"/>
            <a:ext cx="1944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Volume = 360𝜋 cm</a:t>
            </a:r>
            <a:r>
              <a:rPr lang="en-GB" sz="1200" baseline="300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289" name="Google Shape;289;p21"/>
          <p:cNvCxnSpPr/>
          <p:nvPr/>
        </p:nvCxnSpPr>
        <p:spPr>
          <a:xfrm>
            <a:off x="5204116" y="4361350"/>
            <a:ext cx="2934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90" name="Google Shape;290;p21"/>
          <p:cNvSpPr txBox="1"/>
          <p:nvPr/>
        </p:nvSpPr>
        <p:spPr>
          <a:xfrm>
            <a:off x="488393" y="909425"/>
            <a:ext cx="6285600" cy="2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Using the volume of a cylinder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91" name="Google Shape;291;p21"/>
          <p:cNvCxnSpPr/>
          <p:nvPr/>
        </p:nvCxnSpPr>
        <p:spPr>
          <a:xfrm>
            <a:off x="489649" y="5279013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2.14"/>
  <p:tag name="AS_TITLE" val="Aspose.Slides for .NET Standard 2.0"/>
  <p:tag name="AS_VERSION" val="23.1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67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11">
      <vt:lpstr>Arial</vt:lpstr>
      <vt:lpstr>Lexend</vt:lpstr>
      <vt:lpstr>Kalam</vt:lpstr>
      <vt:lpstr>Lexend Medium</vt:lpstr>
      <vt:lpstr>Lexend Light</vt:lpstr>
      <vt:lpstr>Calibri</vt:lpstr>
      <vt:lpstr>Times New Roman</vt:lpstr>
      <vt:lpstr>Times</vt:lpstr>
      <vt:lpstr>simple-light-2</vt:lpstr>
      <vt:lpstr>Volume of cylinders</vt:lpstr>
      <vt:lpstr>PowerPoint Presentation</vt:lpstr>
    </vt:vector>
  </TitlesOfParts>
  <LinksUpToDate>0</LinksUpToDate>
  <SharedDoc>0</SharedDoc>
  <HyperlinksChanged>0</HyperlinksChanged>
  <Application>Aspose.Slides for .NET</Application>
  <AppVersion>23.1200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2024-01-09T11:40:44.248</cp:lastPrinted>
  <dcterms:created xsi:type="dcterms:W3CDTF">2024-01-09T11:40:44Z</dcterms:created>
  <dcterms:modified xsi:type="dcterms:W3CDTF">2024-01-09T11:40:55Z</dcterms:modified>
</cp:coreProperties>
</file>