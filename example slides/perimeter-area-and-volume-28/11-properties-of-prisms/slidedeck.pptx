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D831A0-A349-48F5-81DF-75146D7A38F2}">
  <a:tblStyle styleId="{2BD831A0-A349-48F5-81DF-75146D7A38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a80f6cef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a80f6cef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9a80f6ce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9a80f6ce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9a80f6cef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9a80f6cef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9b03bd84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b03bd84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a3d8d1e1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a3d8d1e1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9b03bd844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9b03bd844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9b03bd8442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9b03bd8442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9b03bd844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9b03bd844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9b03bd8442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9b03bd8442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9b03bd844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b03bd844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9b03bd844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b03bd844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b03bd844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b03bd844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9b03bd8442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9b03bd8442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9b03bd8442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9b03bd8442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9b03bd8442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9b03bd8442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9b03bd8442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9b03bd8442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9b03bd8442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9b03bd8442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9b03bd8442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9b03bd8442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9b03bd8442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9b03bd8442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9b03bd8442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9b03bd8442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a3d4d45d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a3d4d45d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a3d4d45d4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a3d4d45d4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a3d4d45d4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a3d4d45d4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9b03bd8442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9b03bd8442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9b03bd8442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9b03bd8442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9b03bd8442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9b03bd8442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9b03bd8442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9b03bd8442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9b03bd8442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9b03bd8442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245939e98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3245939e98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9b03bd8442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9b03bd8442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9b03bd8442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9b03bd8442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29b03bd8442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29b03bd8442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9b03bd8442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9b03bd8442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9b03bd8442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29b03bd8442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9b03bd8442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9b03bd8442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9b03bd8442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9b03bd8442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29b03bd8442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9b03bd8442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9b03bd8442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9b03bd8442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29b03bd8442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29b03bd8442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29b03bd8442_0_1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29b03bd8442_0_1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1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1.png"/><Relationship Id="rId4" Type="http://schemas.openxmlformats.org/officeDocument/2006/relationships/image" Target="../media/image24.png"/><Relationship Id="rId9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1.png"/><Relationship Id="rId4" Type="http://schemas.openxmlformats.org/officeDocument/2006/relationships/image" Target="../media/image33.png"/><Relationship Id="rId11" Type="http://schemas.openxmlformats.org/officeDocument/2006/relationships/image" Target="../media/image15.png"/><Relationship Id="rId10" Type="http://schemas.openxmlformats.org/officeDocument/2006/relationships/image" Target="../media/image38.png"/><Relationship Id="rId9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43.png"/><Relationship Id="rId7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43.png"/><Relationship Id="rId6" Type="http://schemas.openxmlformats.org/officeDocument/2006/relationships/image" Target="../media/image6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43.png"/><Relationship Id="rId6" Type="http://schemas.openxmlformats.org/officeDocument/2006/relationships/image" Target="../media/image67.png"/><Relationship Id="rId7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3.png"/><Relationship Id="rId4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3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76.png"/><Relationship Id="rId5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Relationship Id="rId4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1.png"/><Relationship Id="rId4" Type="http://schemas.openxmlformats.org/officeDocument/2006/relationships/image" Target="../media/image43.png"/><Relationship Id="rId5" Type="http://schemas.openxmlformats.org/officeDocument/2006/relationships/image" Target="../media/image7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2.png"/><Relationship Id="rId4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1.png"/><Relationship Id="rId4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7.png"/><Relationship Id="rId4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all prisms have two congruent polygonal parallel faces (bases) with parallelogram faces joining the corresponding vertices of the bases.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5759497" y="3323025"/>
            <a:ext cx="2148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c</a:t>
            </a:r>
            <a:r>
              <a:rPr b="1" lang="en-GB" sz="2000"/>
              <a:t>ross sections</a:t>
            </a:r>
            <a:endParaRPr b="1"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389000"/>
            <a:ext cx="4165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b="1" lang="en-GB" sz="2000"/>
              <a:t>cross section</a:t>
            </a:r>
            <a:r>
              <a:rPr lang="en-GB" sz="2000"/>
              <a:t> is a 2D face made from cutting straight through any plane of a 3D object.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324000" y="834300"/>
            <a:ext cx="53838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 </a:t>
            </a:r>
            <a:r>
              <a:rPr b="1" lang="en-GB" sz="1900"/>
              <a:t>prism</a:t>
            </a:r>
            <a:r>
              <a:rPr lang="en-GB" sz="1900"/>
              <a:t> </a:t>
            </a:r>
            <a:r>
              <a:rPr lang="en-GB" sz="1900">
                <a:solidFill>
                  <a:schemeClr val="dk1"/>
                </a:solidFill>
                <a:highlight>
                  <a:srgbClr val="FFFFFF"/>
                </a:highlight>
              </a:rPr>
              <a:t>is a polyhedron with a base that is a polygon and a parallel opposite face that is identical. The corresponding edges of the two polygons are joined by parallelograms.   </a:t>
            </a:r>
            <a:endParaRPr sz="1900"/>
          </a:p>
        </p:txBody>
      </p:sp>
      <p:grpSp>
        <p:nvGrpSpPr>
          <p:cNvPr id="769" name="Google Shape;769;p67"/>
          <p:cNvGrpSpPr/>
          <p:nvPr/>
        </p:nvGrpSpPr>
        <p:grpSpPr>
          <a:xfrm>
            <a:off x="5666412" y="408725"/>
            <a:ext cx="3075188" cy="1342550"/>
            <a:chOff x="5777112" y="2791275"/>
            <a:chExt cx="3075188" cy="1342550"/>
          </a:xfrm>
        </p:grpSpPr>
        <p:pic>
          <p:nvPicPr>
            <p:cNvPr id="770" name="Google Shape;770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11275" y="2791275"/>
              <a:ext cx="1941025" cy="1342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1" name="Google Shape;771;p67"/>
            <p:cNvPicPr preferRelativeResize="0"/>
            <p:nvPr/>
          </p:nvPicPr>
          <p:blipFill rotWithShape="1">
            <a:blip r:embed="rId4">
              <a:alphaModFix/>
            </a:blip>
            <a:srcRect b="16943" l="41554" r="0" t="0"/>
            <a:stretch/>
          </p:blipFill>
          <p:spPr>
            <a:xfrm>
              <a:off x="5777112" y="3109474"/>
              <a:ext cx="1289401" cy="7913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2" name="Google Shape;772;p67"/>
          <p:cNvGrpSpPr/>
          <p:nvPr/>
        </p:nvGrpSpPr>
        <p:grpSpPr>
          <a:xfrm>
            <a:off x="5636768" y="3527951"/>
            <a:ext cx="3292918" cy="1053273"/>
            <a:chOff x="4381510" y="581400"/>
            <a:chExt cx="4388216" cy="1542127"/>
          </a:xfrm>
        </p:grpSpPr>
        <p:pic>
          <p:nvPicPr>
            <p:cNvPr id="773" name="Google Shape;773;p67"/>
            <p:cNvPicPr preferRelativeResize="0"/>
            <p:nvPr/>
          </p:nvPicPr>
          <p:blipFill rotWithShape="1">
            <a:blip r:embed="rId4">
              <a:alphaModFix/>
            </a:blip>
            <a:srcRect b="16943" l="41554" r="0" t="0"/>
            <a:stretch/>
          </p:blipFill>
          <p:spPr>
            <a:xfrm>
              <a:off x="6256800" y="581400"/>
              <a:ext cx="2512926" cy="15421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4" name="Google Shape;774;p67"/>
            <p:cNvPicPr preferRelativeResize="0"/>
            <p:nvPr/>
          </p:nvPicPr>
          <p:blipFill rotWithShape="1">
            <a:blip r:embed="rId4">
              <a:alphaModFix/>
            </a:blip>
            <a:srcRect b="8347" l="4705" r="66282" t="24767"/>
            <a:stretch/>
          </p:blipFill>
          <p:spPr>
            <a:xfrm>
              <a:off x="6569598" y="746634"/>
              <a:ext cx="1247386" cy="1241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5" name="Google Shape;775;p67"/>
            <p:cNvPicPr preferRelativeResize="0"/>
            <p:nvPr/>
          </p:nvPicPr>
          <p:blipFill rotWithShape="1">
            <a:blip r:embed="rId4">
              <a:alphaModFix/>
            </a:blip>
            <a:srcRect b="8347" l="4705" r="66282" t="24767"/>
            <a:stretch/>
          </p:blipFill>
          <p:spPr>
            <a:xfrm>
              <a:off x="4381510" y="746634"/>
              <a:ext cx="1247386" cy="124180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76" name="Google Shape;776;p67"/>
            <p:cNvCxnSpPr/>
            <p:nvPr/>
          </p:nvCxnSpPr>
          <p:spPr>
            <a:xfrm rot="10800000">
              <a:off x="5707850" y="1457675"/>
              <a:ext cx="1411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77" name="Google Shape;777;p67"/>
          <p:cNvSpPr txBox="1"/>
          <p:nvPr>
            <p:ph idx="2" type="subTitle"/>
          </p:nvPr>
        </p:nvSpPr>
        <p:spPr>
          <a:xfrm>
            <a:off x="6561612" y="1538575"/>
            <a:ext cx="172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prisms</a:t>
            </a:r>
            <a:endParaRPr b="1" sz="2000"/>
          </a:p>
        </p:txBody>
      </p:sp>
      <p:sp>
        <p:nvSpPr>
          <p:cNvPr id="778" name="Google Shape;778;p67"/>
          <p:cNvSpPr txBox="1"/>
          <p:nvPr/>
        </p:nvSpPr>
        <p:spPr>
          <a:xfrm>
            <a:off x="324000" y="3505425"/>
            <a:ext cx="407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cross section of a prism made parallel to the base will be congruent to the base.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0500" y="2310011"/>
            <a:ext cx="1486422" cy="8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7975" y="2323300"/>
            <a:ext cx="988428" cy="9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idx="1" type="subTitle"/>
          </p:nvPr>
        </p:nvSpPr>
        <p:spPr>
          <a:xfrm>
            <a:off x="324000" y="820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Faces are the flat 2D surfaces of a 3D shape.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  <p:sp>
        <p:nvSpPr>
          <p:cNvPr id="786" name="Google Shape;786;p68"/>
          <p:cNvSpPr txBox="1"/>
          <p:nvPr>
            <p:ph idx="2" type="subTitle"/>
          </p:nvPr>
        </p:nvSpPr>
        <p:spPr>
          <a:xfrm>
            <a:off x="324000" y="1517933"/>
            <a:ext cx="8496000" cy="6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lines are parallel if they </a:t>
            </a:r>
            <a:r>
              <a:rPr lang="en-GB"/>
              <a:t>are straight lines that </a:t>
            </a:r>
            <a:r>
              <a:rPr lang="en-GB"/>
              <a:t>are always the same (non-zero) distance apart. </a:t>
            </a:r>
            <a:endParaRPr/>
          </a:p>
        </p:txBody>
      </p:sp>
      <p:sp>
        <p:nvSpPr>
          <p:cNvPr id="787" name="Google Shape;787;p68"/>
          <p:cNvSpPr txBox="1"/>
          <p:nvPr>
            <p:ph idx="3" type="subTitle"/>
          </p:nvPr>
        </p:nvSpPr>
        <p:spPr>
          <a:xfrm>
            <a:off x="324000" y="2495517"/>
            <a:ext cx="8496000" cy="6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If one shape can fit exactly on top of another using rotation, reflection or translation, then the shapes are congruent. </a:t>
            </a:r>
            <a:endParaRPr/>
          </a:p>
        </p:txBody>
      </p:sp>
      <p:sp>
        <p:nvSpPr>
          <p:cNvPr id="788" name="Google Shape;788;p68"/>
          <p:cNvSpPr txBox="1"/>
          <p:nvPr>
            <p:ph idx="4" type="subTitle"/>
          </p:nvPr>
        </p:nvSpPr>
        <p:spPr>
          <a:xfrm>
            <a:off x="324000" y="34731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</a:rPr>
              <a:t>Uniform means unchanging. Prisms have uniform cross sections which means that the cross sections (cut parallel to the base) along the prism remain constant in size and shape.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794" name="Google Shape;794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795" name="Google Shape;795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</a:t>
            </a:r>
            <a:r>
              <a:rPr b="1" lang="en-GB"/>
              <a:t>prisms</a:t>
            </a:r>
            <a:endParaRPr b="1"/>
          </a:p>
        </p:txBody>
      </p:sp>
      <p:pic>
        <p:nvPicPr>
          <p:cNvPr id="796" name="Google Shape;7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205335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802" name="Google Shape;802;p70"/>
          <p:cNvSpPr txBox="1"/>
          <p:nvPr/>
        </p:nvSpPr>
        <p:spPr>
          <a:xfrm>
            <a:off x="324000" y="6982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3D shapes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 you think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3" name="Google Shape;8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00" y="1080000"/>
            <a:ext cx="8054800" cy="237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70"/>
          <p:cNvGrpSpPr/>
          <p:nvPr/>
        </p:nvGrpSpPr>
        <p:grpSpPr>
          <a:xfrm>
            <a:off x="837410" y="3126573"/>
            <a:ext cx="376641" cy="376641"/>
            <a:chOff x="1020916" y="1442088"/>
            <a:chExt cx="457200" cy="457200"/>
          </a:xfrm>
        </p:grpSpPr>
        <p:pic>
          <p:nvPicPr>
            <p:cNvPr id="805" name="Google Shape;805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70"/>
          <p:cNvGrpSpPr/>
          <p:nvPr/>
        </p:nvGrpSpPr>
        <p:grpSpPr>
          <a:xfrm>
            <a:off x="2288141" y="3051673"/>
            <a:ext cx="376641" cy="376641"/>
            <a:chOff x="1020916" y="1442088"/>
            <a:chExt cx="457200" cy="457200"/>
          </a:xfrm>
        </p:grpSpPr>
        <p:pic>
          <p:nvPicPr>
            <p:cNvPr id="808" name="Google Shape;808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0" name="Google Shape;810;p70"/>
          <p:cNvGrpSpPr/>
          <p:nvPr/>
        </p:nvGrpSpPr>
        <p:grpSpPr>
          <a:xfrm>
            <a:off x="3670798" y="3239998"/>
            <a:ext cx="376641" cy="376641"/>
            <a:chOff x="1020916" y="1442088"/>
            <a:chExt cx="457200" cy="457200"/>
          </a:xfrm>
        </p:grpSpPr>
        <p:pic>
          <p:nvPicPr>
            <p:cNvPr id="811" name="Google Shape;811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2" name="Google Shape;812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3" name="Google Shape;813;p70"/>
          <p:cNvGrpSpPr/>
          <p:nvPr/>
        </p:nvGrpSpPr>
        <p:grpSpPr>
          <a:xfrm>
            <a:off x="5666998" y="3126573"/>
            <a:ext cx="376641" cy="376641"/>
            <a:chOff x="1020916" y="1442088"/>
            <a:chExt cx="457200" cy="457200"/>
          </a:xfrm>
        </p:grpSpPr>
        <p:pic>
          <p:nvPicPr>
            <p:cNvPr id="814" name="Google Shape;814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6" name="Google Shape;816;p70"/>
          <p:cNvGrpSpPr/>
          <p:nvPr/>
        </p:nvGrpSpPr>
        <p:grpSpPr>
          <a:xfrm>
            <a:off x="7535398" y="3050373"/>
            <a:ext cx="376641" cy="376641"/>
            <a:chOff x="1020916" y="1442088"/>
            <a:chExt cx="457200" cy="457200"/>
          </a:xfrm>
        </p:grpSpPr>
        <p:pic>
          <p:nvPicPr>
            <p:cNvPr id="817" name="Google Shape;817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9" name="Google Shape;81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8471" y="34270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713" y="3503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5721" y="34270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1113" y="36166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/>
        </p:nvSpPr>
        <p:spPr>
          <a:xfrm>
            <a:off x="324000" y="41814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properties make b and 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whilst the others not?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4" name="Google Shape;824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7313" y="35032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1"/>
          <p:cNvSpPr txBox="1"/>
          <p:nvPr/>
        </p:nvSpPr>
        <p:spPr>
          <a:xfrm>
            <a:off x="324000" y="652281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a 3D shape to be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any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taken parallel to the base must be: exactly the same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uniform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2D shape to any other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taken parallel to the first.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831" name="Google Shape;831;p71"/>
          <p:cNvPicPr preferRelativeResize="0"/>
          <p:nvPr/>
        </p:nvPicPr>
        <p:blipFill rotWithShape="1">
          <a:blip r:embed="rId3">
            <a:alphaModFix/>
          </a:blip>
          <a:srcRect b="23023" l="0" r="70087" t="0"/>
          <a:stretch/>
        </p:blipFill>
        <p:spPr>
          <a:xfrm>
            <a:off x="705000" y="1480765"/>
            <a:ext cx="2134301" cy="26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1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712578" y="3320577"/>
            <a:ext cx="2134301" cy="8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1"/>
          <p:cNvSpPr txBox="1"/>
          <p:nvPr/>
        </p:nvSpPr>
        <p:spPr>
          <a:xfrm>
            <a:off x="1176000" y="4250950"/>
            <a:ext cx="123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4" name="Google Shape;834;p71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712578" y="1450509"/>
            <a:ext cx="2134301" cy="80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1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712578" y="2343063"/>
            <a:ext cx="2134301" cy="809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6" name="Google Shape;836;p71"/>
          <p:cNvCxnSpPr/>
          <p:nvPr/>
        </p:nvCxnSpPr>
        <p:spPr>
          <a:xfrm>
            <a:off x="4335550" y="1414475"/>
            <a:ext cx="0" cy="329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7" name="Google Shape;837;p71"/>
          <p:cNvPicPr preferRelativeResize="0"/>
          <p:nvPr/>
        </p:nvPicPr>
        <p:blipFill rotWithShape="1">
          <a:blip r:embed="rId3">
            <a:alphaModFix/>
          </a:blip>
          <a:srcRect b="17958" l="70479" r="-391" t="38208"/>
          <a:stretch/>
        </p:blipFill>
        <p:spPr>
          <a:xfrm>
            <a:off x="4562900" y="2548496"/>
            <a:ext cx="2134301" cy="15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1"/>
          <p:cNvSpPr txBox="1"/>
          <p:nvPr/>
        </p:nvSpPr>
        <p:spPr>
          <a:xfrm>
            <a:off x="4814500" y="4174750"/>
            <a:ext cx="16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non-example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71"/>
          <p:cNvPicPr preferRelativeResize="0"/>
          <p:nvPr/>
        </p:nvPicPr>
        <p:blipFill rotWithShape="1">
          <a:blip r:embed="rId3">
            <a:alphaModFix/>
          </a:blip>
          <a:srcRect b="0" l="35762" r="48350" t="86810"/>
          <a:stretch/>
        </p:blipFill>
        <p:spPr>
          <a:xfrm>
            <a:off x="5014787" y="2650892"/>
            <a:ext cx="1133599" cy="4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1"/>
          <p:cNvSpPr txBox="1"/>
          <p:nvPr/>
        </p:nvSpPr>
        <p:spPr>
          <a:xfrm>
            <a:off x="6924550" y="2347825"/>
            <a:ext cx="1895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these parallel,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shapes are not congruent, it is not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4428900" y="1950401"/>
            <a:ext cx="43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olygon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 the bottom.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2" name="Google Shape;842;p71"/>
          <p:cNvPicPr preferRelativeResize="0"/>
          <p:nvPr/>
        </p:nvPicPr>
        <p:blipFill rotWithShape="1">
          <a:blip r:embed="rId3">
            <a:alphaModFix/>
          </a:blip>
          <a:srcRect b="21208" l="35761" r="35147" t="57952"/>
          <a:stretch/>
        </p:blipFill>
        <p:spPr>
          <a:xfrm>
            <a:off x="4588956" y="3307006"/>
            <a:ext cx="2075724" cy="719226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1"/>
          <p:cNvSpPr txBox="1"/>
          <p:nvPr/>
        </p:nvSpPr>
        <p:spPr>
          <a:xfrm>
            <a:off x="4428900" y="1414475"/>
            <a:ext cx="439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polygon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 the top of this 3D shape is much smaller than the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849" name="Google Shape;849;p72"/>
          <p:cNvPicPr preferRelativeResize="0"/>
          <p:nvPr/>
        </p:nvPicPr>
        <p:blipFill rotWithShape="1">
          <a:blip r:embed="rId3">
            <a:alphaModFix/>
          </a:blip>
          <a:srcRect b="23023" l="0" r="70087" t="0"/>
          <a:stretch/>
        </p:blipFill>
        <p:spPr>
          <a:xfrm>
            <a:off x="324000" y="1785565"/>
            <a:ext cx="2134301" cy="26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2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331578" y="3625377"/>
            <a:ext cx="2134301" cy="80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2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331578" y="2361059"/>
            <a:ext cx="2134301" cy="8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2"/>
          <p:cNvSpPr/>
          <p:nvPr/>
        </p:nvSpPr>
        <p:spPr>
          <a:xfrm rot="5533582">
            <a:off x="1213515" y="3000038"/>
            <a:ext cx="139005" cy="197554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2"/>
          <p:cNvSpPr/>
          <p:nvPr/>
        </p:nvSpPr>
        <p:spPr>
          <a:xfrm rot="5533582">
            <a:off x="1213515" y="4262588"/>
            <a:ext cx="139005" cy="197554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4" name="Google Shape;854;p72"/>
          <p:cNvCxnSpPr/>
          <p:nvPr/>
        </p:nvCxnSpPr>
        <p:spPr>
          <a:xfrm>
            <a:off x="4077450" y="1433250"/>
            <a:ext cx="0" cy="3094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5" name="Google Shape;855;p72"/>
          <p:cNvPicPr preferRelativeResize="0"/>
          <p:nvPr/>
        </p:nvPicPr>
        <p:blipFill rotWithShape="1">
          <a:blip r:embed="rId3">
            <a:alphaModFix/>
          </a:blip>
          <a:srcRect b="23023" l="0" r="70087" t="0"/>
          <a:stretch/>
        </p:blipFill>
        <p:spPr>
          <a:xfrm>
            <a:off x="4272050" y="1785565"/>
            <a:ext cx="2134301" cy="26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2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4279628" y="3625377"/>
            <a:ext cx="2134301" cy="8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2"/>
          <p:cNvSpPr txBox="1"/>
          <p:nvPr/>
        </p:nvSpPr>
        <p:spPr>
          <a:xfrm>
            <a:off x="6632913" y="2410200"/>
            <a:ext cx="2062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two hexagons are not congruent because they are not parallel.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8" name="Google Shape;858;p72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4279625" y="1771129"/>
            <a:ext cx="2134301" cy="14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2"/>
          <p:cNvSpPr txBox="1"/>
          <p:nvPr/>
        </p:nvSpPr>
        <p:spPr>
          <a:xfrm>
            <a:off x="324000" y="652281"/>
            <a:ext cx="84960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nly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parallel to the base have to be congruent.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are not parallel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 not need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be congruent.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 txBox="1"/>
          <p:nvPr/>
        </p:nvSpPr>
        <p:spPr>
          <a:xfrm>
            <a:off x="2479600" y="2440725"/>
            <a:ext cx="159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 sections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parallel to the base are congruent.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3"/>
          <p:cNvSpPr txBox="1"/>
          <p:nvPr/>
        </p:nvSpPr>
        <p:spPr>
          <a:xfrm>
            <a:off x="324000" y="652281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ote that only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parallel to the base taken in one direction have to be congruent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each other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cxnSp>
        <p:nvCxnSpPr>
          <p:cNvPr id="867" name="Google Shape;867;p73"/>
          <p:cNvCxnSpPr/>
          <p:nvPr/>
        </p:nvCxnSpPr>
        <p:spPr>
          <a:xfrm>
            <a:off x="4161394" y="1357050"/>
            <a:ext cx="0" cy="3094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68" name="Google Shape;868;p73"/>
          <p:cNvPicPr preferRelativeResize="0"/>
          <p:nvPr/>
        </p:nvPicPr>
        <p:blipFill rotWithShape="1">
          <a:blip r:embed="rId3">
            <a:alphaModFix/>
          </a:blip>
          <a:srcRect b="23023" l="0" r="70087" t="0"/>
          <a:stretch/>
        </p:blipFill>
        <p:spPr>
          <a:xfrm>
            <a:off x="4269718" y="1733203"/>
            <a:ext cx="2134301" cy="26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3"/>
          <p:cNvSpPr/>
          <p:nvPr/>
        </p:nvSpPr>
        <p:spPr>
          <a:xfrm rot="-5400000">
            <a:off x="3451243" y="2986562"/>
            <a:ext cx="2213700" cy="426300"/>
          </a:xfrm>
          <a:prstGeom prst="parallelogram">
            <a:avLst>
              <a:gd fmla="val 75570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/>
          <p:nvPr/>
        </p:nvSpPr>
        <p:spPr>
          <a:xfrm rot="-5400000">
            <a:off x="4079343" y="2641662"/>
            <a:ext cx="2532600" cy="850800"/>
          </a:xfrm>
          <a:prstGeom prst="parallelogram">
            <a:avLst>
              <a:gd fmla="val 75570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/>
          <p:nvPr/>
        </p:nvSpPr>
        <p:spPr>
          <a:xfrm>
            <a:off x="5704230" y="3275619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5704230" y="3422844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4699383" y="3164494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4699383" y="3311719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3"/>
          <p:cNvSpPr txBox="1"/>
          <p:nvPr/>
        </p:nvSpPr>
        <p:spPr>
          <a:xfrm>
            <a:off x="6709075" y="2378350"/>
            <a:ext cx="2019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ny other direction don’t need to be congruent for it to be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6" name="Google Shape;876;p73"/>
          <p:cNvPicPr preferRelativeResize="0"/>
          <p:nvPr/>
        </p:nvPicPr>
        <p:blipFill rotWithShape="1">
          <a:blip r:embed="rId3">
            <a:alphaModFix/>
          </a:blip>
          <a:srcRect b="23023" l="0" r="70087" t="0"/>
          <a:stretch/>
        </p:blipFill>
        <p:spPr>
          <a:xfrm>
            <a:off x="324000" y="1709365"/>
            <a:ext cx="2134301" cy="26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3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331578" y="3549177"/>
            <a:ext cx="2134301" cy="80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3"/>
          <p:cNvPicPr preferRelativeResize="0"/>
          <p:nvPr/>
        </p:nvPicPr>
        <p:blipFill rotWithShape="1">
          <a:blip r:embed="rId3">
            <a:alphaModFix/>
          </a:blip>
          <a:srcRect b="20814" l="35344" r="34743" t="55735"/>
          <a:stretch/>
        </p:blipFill>
        <p:spPr>
          <a:xfrm>
            <a:off x="331578" y="2284859"/>
            <a:ext cx="2134301" cy="8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3"/>
          <p:cNvSpPr/>
          <p:nvPr/>
        </p:nvSpPr>
        <p:spPr>
          <a:xfrm rot="5533582">
            <a:off x="1213515" y="2923838"/>
            <a:ext cx="139005" cy="197554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/>
          <p:nvPr/>
        </p:nvSpPr>
        <p:spPr>
          <a:xfrm rot="5533582">
            <a:off x="1213515" y="4186388"/>
            <a:ext cx="139005" cy="197554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3"/>
          <p:cNvSpPr txBox="1"/>
          <p:nvPr/>
        </p:nvSpPr>
        <p:spPr>
          <a:xfrm>
            <a:off x="2479600" y="2364525"/>
            <a:ext cx="159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parallel to the base are congruent.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4"/>
          <p:cNvSpPr txBox="1"/>
          <p:nvPr/>
        </p:nvSpPr>
        <p:spPr>
          <a:xfrm>
            <a:off x="324000" y="652281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2D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shapes must be a polygon.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888" name="Google Shape;888;p74"/>
          <p:cNvSpPr txBox="1"/>
          <p:nvPr/>
        </p:nvSpPr>
        <p:spPr>
          <a:xfrm>
            <a:off x="1684800" y="1192275"/>
            <a:ext cx="229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has equilateral triangles as its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polygon.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9" name="Google Shape;889;p74"/>
          <p:cNvPicPr preferRelativeResize="0"/>
          <p:nvPr/>
        </p:nvPicPr>
        <p:blipFill rotWithShape="1">
          <a:blip r:embed="rId3">
            <a:alphaModFix/>
          </a:blip>
          <a:srcRect b="11527" l="37974" r="47011" t="14579"/>
          <a:stretch/>
        </p:blipFill>
        <p:spPr>
          <a:xfrm>
            <a:off x="324000" y="1109250"/>
            <a:ext cx="1407233" cy="240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4"/>
          <p:cNvPicPr preferRelativeResize="0"/>
          <p:nvPr/>
        </p:nvPicPr>
        <p:blipFill rotWithShape="1">
          <a:blip r:embed="rId3">
            <a:alphaModFix/>
          </a:blip>
          <a:srcRect b="9186" l="59973" r="25877" t="71926"/>
          <a:stretch/>
        </p:blipFill>
        <p:spPr>
          <a:xfrm>
            <a:off x="389900" y="2900833"/>
            <a:ext cx="1326226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4"/>
          <p:cNvPicPr preferRelativeResize="0"/>
          <p:nvPr/>
        </p:nvPicPr>
        <p:blipFill rotWithShape="1">
          <a:blip r:embed="rId3">
            <a:alphaModFix/>
          </a:blip>
          <a:srcRect b="9186" l="59973" r="25877" t="71926"/>
          <a:stretch/>
        </p:blipFill>
        <p:spPr>
          <a:xfrm>
            <a:off x="389900" y="2265008"/>
            <a:ext cx="1326226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4"/>
          <p:cNvPicPr preferRelativeResize="0"/>
          <p:nvPr/>
        </p:nvPicPr>
        <p:blipFill rotWithShape="1">
          <a:blip r:embed="rId3">
            <a:alphaModFix/>
          </a:blip>
          <a:srcRect b="9186" l="59973" r="25877" t="71926"/>
          <a:stretch/>
        </p:blipFill>
        <p:spPr>
          <a:xfrm>
            <a:off x="389900" y="1007708"/>
            <a:ext cx="1326226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4"/>
          <p:cNvPicPr preferRelativeResize="0"/>
          <p:nvPr/>
        </p:nvPicPr>
        <p:blipFill rotWithShape="1">
          <a:blip r:embed="rId4">
            <a:alphaModFix/>
          </a:blip>
          <a:srcRect b="14405" l="48547" r="33759" t="40663"/>
          <a:stretch/>
        </p:blipFill>
        <p:spPr>
          <a:xfrm>
            <a:off x="2025563" y="2481250"/>
            <a:ext cx="1203150" cy="10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4"/>
          <p:cNvPicPr preferRelativeResize="0"/>
          <p:nvPr/>
        </p:nvPicPr>
        <p:blipFill rotWithShape="1">
          <a:blip r:embed="rId3">
            <a:alphaModFix/>
          </a:blip>
          <a:srcRect b="4015" l="75709" r="13056" t="25531"/>
          <a:stretch/>
        </p:blipFill>
        <p:spPr>
          <a:xfrm>
            <a:off x="7164325" y="1109250"/>
            <a:ext cx="1274677" cy="27703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4"/>
          <p:cNvSpPr txBox="1"/>
          <p:nvPr/>
        </p:nvSpPr>
        <p:spPr>
          <a:xfrm>
            <a:off x="438013" y="3536650"/>
            <a:ext cx="123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4629300" y="1192275"/>
            <a:ext cx="229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cylinder has congruent circles as its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 txBox="1"/>
          <p:nvPr/>
        </p:nvSpPr>
        <p:spPr>
          <a:xfrm>
            <a:off x="6986113" y="3879625"/>
            <a:ext cx="16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non-example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8" name="Google Shape;898;p74"/>
          <p:cNvCxnSpPr/>
          <p:nvPr/>
        </p:nvCxnSpPr>
        <p:spPr>
          <a:xfrm>
            <a:off x="4572000" y="1192275"/>
            <a:ext cx="0" cy="329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74"/>
          <p:cNvPicPr preferRelativeResize="0"/>
          <p:nvPr/>
        </p:nvPicPr>
        <p:blipFill rotWithShape="1">
          <a:blip r:embed="rId3">
            <a:alphaModFix/>
          </a:blip>
          <a:srcRect b="3092" l="89684" r="616" t="83918"/>
          <a:stretch/>
        </p:blipFill>
        <p:spPr>
          <a:xfrm>
            <a:off x="7303550" y="3350050"/>
            <a:ext cx="1100527" cy="51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4"/>
          <p:cNvPicPr preferRelativeResize="0"/>
          <p:nvPr/>
        </p:nvPicPr>
        <p:blipFill rotWithShape="1">
          <a:blip r:embed="rId3">
            <a:alphaModFix/>
          </a:blip>
          <a:srcRect b="3092" l="89684" r="616" t="83918"/>
          <a:stretch/>
        </p:blipFill>
        <p:spPr>
          <a:xfrm>
            <a:off x="7303550" y="2820475"/>
            <a:ext cx="1100527" cy="51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4"/>
          <p:cNvPicPr preferRelativeResize="0"/>
          <p:nvPr/>
        </p:nvPicPr>
        <p:blipFill rotWithShape="1">
          <a:blip r:embed="rId3">
            <a:alphaModFix/>
          </a:blip>
          <a:srcRect b="3092" l="89684" r="616" t="83918"/>
          <a:stretch/>
        </p:blipFill>
        <p:spPr>
          <a:xfrm>
            <a:off x="7303550" y="2107975"/>
            <a:ext cx="1100527" cy="51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4"/>
          <p:cNvPicPr preferRelativeResize="0"/>
          <p:nvPr/>
        </p:nvPicPr>
        <p:blipFill rotWithShape="1">
          <a:blip r:embed="rId3">
            <a:alphaModFix/>
          </a:blip>
          <a:srcRect b="3092" l="89684" r="616" t="83918"/>
          <a:stretch/>
        </p:blipFill>
        <p:spPr>
          <a:xfrm>
            <a:off x="7303550" y="1060200"/>
            <a:ext cx="1100527" cy="51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4"/>
          <p:cNvPicPr preferRelativeResize="0"/>
          <p:nvPr/>
        </p:nvPicPr>
        <p:blipFill rotWithShape="1">
          <a:blip r:embed="rId4">
            <a:alphaModFix/>
          </a:blip>
          <a:srcRect b="2848" l="85744" r="2827" t="63673"/>
          <a:stretch/>
        </p:blipFill>
        <p:spPr>
          <a:xfrm>
            <a:off x="5076450" y="2363194"/>
            <a:ext cx="962274" cy="948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4" name="Google Shape;904;p74"/>
          <p:cNvCxnSpPr/>
          <p:nvPr/>
        </p:nvCxnSpPr>
        <p:spPr>
          <a:xfrm>
            <a:off x="5618637" y="3350057"/>
            <a:ext cx="0" cy="59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74"/>
          <p:cNvSpPr txBox="1"/>
          <p:nvPr/>
        </p:nvSpPr>
        <p:spPr>
          <a:xfrm>
            <a:off x="4767763" y="3983850"/>
            <a:ext cx="170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ircles are not polygons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911" name="Google Shape;911;p75"/>
          <p:cNvSpPr txBox="1"/>
          <p:nvPr/>
        </p:nvSpPr>
        <p:spPr>
          <a:xfrm>
            <a:off x="324000" y="652281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other non-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faces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must be parallelograms.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right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prisms,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faces are all rectangles.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2" name="Google Shape;912;p75"/>
          <p:cNvPicPr preferRelativeResize="0"/>
          <p:nvPr/>
        </p:nvPicPr>
        <p:blipFill rotWithShape="1">
          <a:blip r:embed="rId3">
            <a:alphaModFix/>
          </a:blip>
          <a:srcRect b="11527" l="37974" r="47011" t="14579"/>
          <a:stretch/>
        </p:blipFill>
        <p:spPr>
          <a:xfrm>
            <a:off x="324000" y="1414050"/>
            <a:ext cx="1407233" cy="240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5"/>
          <p:cNvPicPr preferRelativeResize="0"/>
          <p:nvPr/>
        </p:nvPicPr>
        <p:blipFill rotWithShape="1">
          <a:blip r:embed="rId4">
            <a:alphaModFix/>
          </a:blip>
          <a:srcRect b="23023" l="0" r="70087" t="0"/>
          <a:stretch/>
        </p:blipFill>
        <p:spPr>
          <a:xfrm>
            <a:off x="1878350" y="1414050"/>
            <a:ext cx="2035802" cy="25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5"/>
          <p:cNvSpPr/>
          <p:nvPr/>
        </p:nvSpPr>
        <p:spPr>
          <a:xfrm rot="-5400000">
            <a:off x="1097550" y="2606675"/>
            <a:ext cx="2105700" cy="408000"/>
          </a:xfrm>
          <a:prstGeom prst="parallelogram">
            <a:avLst>
              <a:gd fmla="val 76900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5"/>
          <p:cNvSpPr/>
          <p:nvPr/>
        </p:nvSpPr>
        <p:spPr>
          <a:xfrm rot="-5400000">
            <a:off x="240725" y="2356175"/>
            <a:ext cx="2269200" cy="491400"/>
          </a:xfrm>
          <a:prstGeom prst="parallelogram">
            <a:avLst>
              <a:gd fmla="val 76900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5"/>
          <p:cNvSpPr/>
          <p:nvPr/>
        </p:nvSpPr>
        <p:spPr>
          <a:xfrm rot="-5400000">
            <a:off x="2068475" y="1911425"/>
            <a:ext cx="1819800" cy="954300"/>
          </a:xfrm>
          <a:prstGeom prst="parallelogram">
            <a:avLst>
              <a:gd fmla="val 2491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7" name="Google Shape;917;p75"/>
          <p:cNvPicPr preferRelativeResize="0"/>
          <p:nvPr/>
        </p:nvPicPr>
        <p:blipFill rotWithShape="1">
          <a:blip r:embed="rId4">
            <a:alphaModFix/>
          </a:blip>
          <a:srcRect b="17958" l="70479" r="-391" t="38208"/>
          <a:stretch/>
        </p:blipFill>
        <p:spPr>
          <a:xfrm>
            <a:off x="6144475" y="1478671"/>
            <a:ext cx="2134301" cy="151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8" name="Google Shape;918;p75"/>
          <p:cNvCxnSpPr/>
          <p:nvPr/>
        </p:nvCxnSpPr>
        <p:spPr>
          <a:xfrm>
            <a:off x="4572000" y="1467275"/>
            <a:ext cx="0" cy="3358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9" name="Google Shape;91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1725" y="1939775"/>
            <a:ext cx="1044500" cy="9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5"/>
          <p:cNvSpPr txBox="1"/>
          <p:nvPr/>
        </p:nvSpPr>
        <p:spPr>
          <a:xfrm>
            <a:off x="324000" y="3886419"/>
            <a:ext cx="359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of these faces are rectangles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5"/>
          <p:cNvSpPr txBox="1"/>
          <p:nvPr/>
        </p:nvSpPr>
        <p:spPr>
          <a:xfrm>
            <a:off x="4853675" y="3116850"/>
            <a:ext cx="35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faces are trapezia, not parallelograms.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5"/>
          <p:cNvSpPr txBox="1"/>
          <p:nvPr/>
        </p:nvSpPr>
        <p:spPr>
          <a:xfrm>
            <a:off x="4853675" y="3948150"/>
            <a:ext cx="35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this object is not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928" name="Google Shape;928;p76"/>
          <p:cNvSpPr txBox="1"/>
          <p:nvPr/>
        </p:nvSpPr>
        <p:spPr>
          <a:xfrm>
            <a:off x="1684800" y="1420875"/>
            <a:ext cx="229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Sometimes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have regular polygons, like this equilateral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9" name="Google Shape;929;p76"/>
          <p:cNvPicPr preferRelativeResize="0"/>
          <p:nvPr/>
        </p:nvPicPr>
        <p:blipFill rotWithShape="1">
          <a:blip r:embed="rId3">
            <a:alphaModFix/>
          </a:blip>
          <a:srcRect b="11527" l="37974" r="47011" t="14579"/>
          <a:stretch/>
        </p:blipFill>
        <p:spPr>
          <a:xfrm>
            <a:off x="324000" y="1337850"/>
            <a:ext cx="1407233" cy="240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6"/>
          <p:cNvPicPr preferRelativeResize="0"/>
          <p:nvPr/>
        </p:nvPicPr>
        <p:blipFill rotWithShape="1">
          <a:blip r:embed="rId4">
            <a:alphaModFix/>
          </a:blip>
          <a:srcRect b="0" l="0" r="79306" t="0"/>
          <a:stretch/>
        </p:blipFill>
        <p:spPr>
          <a:xfrm>
            <a:off x="5284202" y="2806275"/>
            <a:ext cx="980400" cy="15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6"/>
          <p:cNvPicPr preferRelativeResize="0"/>
          <p:nvPr/>
        </p:nvPicPr>
        <p:blipFill rotWithShape="1">
          <a:blip r:embed="rId3">
            <a:alphaModFix/>
          </a:blip>
          <a:srcRect b="9186" l="59973" r="25877" t="71926"/>
          <a:stretch/>
        </p:blipFill>
        <p:spPr>
          <a:xfrm>
            <a:off x="389900" y="3129433"/>
            <a:ext cx="1326226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6"/>
          <p:cNvPicPr preferRelativeResize="0"/>
          <p:nvPr/>
        </p:nvPicPr>
        <p:blipFill rotWithShape="1">
          <a:blip r:embed="rId3">
            <a:alphaModFix/>
          </a:blip>
          <a:srcRect b="9186" l="59973" r="25877" t="71926"/>
          <a:stretch/>
        </p:blipFill>
        <p:spPr>
          <a:xfrm>
            <a:off x="389900" y="2493608"/>
            <a:ext cx="1326226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76"/>
          <p:cNvSpPr txBox="1"/>
          <p:nvPr/>
        </p:nvSpPr>
        <p:spPr>
          <a:xfrm>
            <a:off x="4781700" y="1420875"/>
            <a:ext cx="2290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other times,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have irregular polygons, like this scalene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4" name="Google Shape;934;p76"/>
          <p:cNvPicPr preferRelativeResize="0"/>
          <p:nvPr/>
        </p:nvPicPr>
        <p:blipFill rotWithShape="1">
          <a:blip r:embed="rId3">
            <a:alphaModFix/>
          </a:blip>
          <a:srcRect b="9186" l="59973" r="25877" t="71926"/>
          <a:stretch/>
        </p:blipFill>
        <p:spPr>
          <a:xfrm>
            <a:off x="389900" y="1236308"/>
            <a:ext cx="1326226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76"/>
          <p:cNvPicPr preferRelativeResize="0"/>
          <p:nvPr/>
        </p:nvPicPr>
        <p:blipFill rotWithShape="1">
          <a:blip r:embed="rId4">
            <a:alphaModFix/>
          </a:blip>
          <a:srcRect b="14405" l="48547" r="33759" t="40663"/>
          <a:stretch/>
        </p:blipFill>
        <p:spPr>
          <a:xfrm>
            <a:off x="2088238" y="2700000"/>
            <a:ext cx="1203150" cy="102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76"/>
          <p:cNvCxnSpPr/>
          <p:nvPr/>
        </p:nvCxnSpPr>
        <p:spPr>
          <a:xfrm>
            <a:off x="4572000" y="1344675"/>
            <a:ext cx="0" cy="329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76"/>
          <p:cNvPicPr preferRelativeResize="0"/>
          <p:nvPr/>
        </p:nvPicPr>
        <p:blipFill rotWithShape="1">
          <a:blip r:embed="rId3">
            <a:alphaModFix/>
          </a:blip>
          <a:srcRect b="15945" l="-331" r="85318" t="0"/>
          <a:stretch/>
        </p:blipFill>
        <p:spPr>
          <a:xfrm>
            <a:off x="7397000" y="1245145"/>
            <a:ext cx="1407224" cy="273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6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>
            <a:off x="7377056" y="3102636"/>
            <a:ext cx="1407224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6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>
            <a:off x="7377056" y="1971522"/>
            <a:ext cx="1407224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76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>
            <a:off x="7377056" y="1217462"/>
            <a:ext cx="1407224" cy="9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7"/>
          <p:cNvSpPr txBox="1"/>
          <p:nvPr/>
        </p:nvSpPr>
        <p:spPr>
          <a:xfrm>
            <a:off x="2142000" y="1725675"/>
            <a:ext cx="18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uniform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rectangles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are congruent throughout.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947" name="Google Shape;947;p77"/>
          <p:cNvSpPr txBox="1"/>
          <p:nvPr/>
        </p:nvSpPr>
        <p:spPr>
          <a:xfrm>
            <a:off x="324000" y="652281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be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must be uniform throughout the entire length of the shape. It is not enough to compare just the two faces at the opposite ends of the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8" name="Google Shape;948;p77"/>
          <p:cNvCxnSpPr/>
          <p:nvPr/>
        </p:nvCxnSpPr>
        <p:spPr>
          <a:xfrm>
            <a:off x="4241925" y="1649475"/>
            <a:ext cx="0" cy="3133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9" name="Google Shape;949;p77"/>
          <p:cNvPicPr preferRelativeResize="0"/>
          <p:nvPr/>
        </p:nvPicPr>
        <p:blipFill rotWithShape="1">
          <a:blip r:embed="rId3">
            <a:alphaModFix/>
          </a:blip>
          <a:srcRect b="11995" l="0" r="71052" t="0"/>
          <a:stretch/>
        </p:blipFill>
        <p:spPr>
          <a:xfrm>
            <a:off x="324000" y="1620000"/>
            <a:ext cx="1620901" cy="3016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77"/>
          <p:cNvPicPr preferRelativeResize="0"/>
          <p:nvPr/>
        </p:nvPicPr>
        <p:blipFill rotWithShape="1">
          <a:blip r:embed="rId3">
            <a:alphaModFix/>
          </a:blip>
          <a:srcRect b="5044" l="35542" r="35510" t="70528"/>
          <a:stretch/>
        </p:blipFill>
        <p:spPr>
          <a:xfrm>
            <a:off x="321753" y="3809257"/>
            <a:ext cx="1620901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77"/>
          <p:cNvPicPr preferRelativeResize="0"/>
          <p:nvPr/>
        </p:nvPicPr>
        <p:blipFill rotWithShape="1">
          <a:blip r:embed="rId3">
            <a:alphaModFix/>
          </a:blip>
          <a:srcRect b="5044" l="35542" r="35510" t="70528"/>
          <a:stretch/>
        </p:blipFill>
        <p:spPr>
          <a:xfrm>
            <a:off x="321753" y="3098080"/>
            <a:ext cx="1620901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77"/>
          <p:cNvPicPr preferRelativeResize="0"/>
          <p:nvPr/>
        </p:nvPicPr>
        <p:blipFill rotWithShape="1">
          <a:blip r:embed="rId3">
            <a:alphaModFix/>
          </a:blip>
          <a:srcRect b="5044" l="35542" r="35510" t="70528"/>
          <a:stretch/>
        </p:blipFill>
        <p:spPr>
          <a:xfrm>
            <a:off x="321753" y="2343157"/>
            <a:ext cx="1620901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7"/>
          <p:cNvPicPr preferRelativeResize="0"/>
          <p:nvPr/>
        </p:nvPicPr>
        <p:blipFill rotWithShape="1">
          <a:blip r:embed="rId3">
            <a:alphaModFix/>
          </a:blip>
          <a:srcRect b="5044" l="35542" r="35510" t="70528"/>
          <a:stretch/>
        </p:blipFill>
        <p:spPr>
          <a:xfrm>
            <a:off x="321753" y="1607149"/>
            <a:ext cx="1620901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7"/>
          <p:cNvPicPr preferRelativeResize="0"/>
          <p:nvPr/>
        </p:nvPicPr>
        <p:blipFill rotWithShape="1">
          <a:blip r:embed="rId3">
            <a:alphaModFix/>
          </a:blip>
          <a:srcRect b="-1161" l="71257" r="-205" t="13156"/>
          <a:stretch/>
        </p:blipFill>
        <p:spPr>
          <a:xfrm>
            <a:off x="7201350" y="1620000"/>
            <a:ext cx="1620901" cy="3016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7"/>
          <p:cNvPicPr preferRelativeResize="0"/>
          <p:nvPr/>
        </p:nvPicPr>
        <p:blipFill rotWithShape="1">
          <a:blip r:embed="rId3">
            <a:alphaModFix/>
          </a:blip>
          <a:srcRect b="4709" l="35374" r="35678" t="70929"/>
          <a:stretch/>
        </p:blipFill>
        <p:spPr>
          <a:xfrm>
            <a:off x="7187947" y="3824621"/>
            <a:ext cx="1620901" cy="8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77"/>
          <p:cNvPicPr preferRelativeResize="0"/>
          <p:nvPr/>
        </p:nvPicPr>
        <p:blipFill rotWithShape="1">
          <a:blip r:embed="rId3">
            <a:alphaModFix/>
          </a:blip>
          <a:srcRect b="4709" l="35374" r="35678" t="70929"/>
          <a:stretch/>
        </p:blipFill>
        <p:spPr>
          <a:xfrm>
            <a:off x="7187947" y="1624159"/>
            <a:ext cx="1620901" cy="8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7"/>
          <p:cNvPicPr preferRelativeResize="0"/>
          <p:nvPr/>
        </p:nvPicPr>
        <p:blipFill rotWithShape="1">
          <a:blip r:embed="rId3">
            <a:alphaModFix/>
          </a:blip>
          <a:srcRect b="31324" l="51139" r="38686" t="59458"/>
          <a:stretch/>
        </p:blipFill>
        <p:spPr>
          <a:xfrm>
            <a:off x="7721644" y="2970068"/>
            <a:ext cx="569725" cy="3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7"/>
          <p:cNvSpPr txBox="1"/>
          <p:nvPr/>
        </p:nvSpPr>
        <p:spPr>
          <a:xfrm>
            <a:off x="4366500" y="4007925"/>
            <a:ext cx="25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this is not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7"/>
          <p:cNvSpPr txBox="1"/>
          <p:nvPr/>
        </p:nvSpPr>
        <p:spPr>
          <a:xfrm>
            <a:off x="4366500" y="2866800"/>
            <a:ext cx="255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rectangle at the centre is much smaller.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7"/>
          <p:cNvSpPr txBox="1"/>
          <p:nvPr/>
        </p:nvSpPr>
        <p:spPr>
          <a:xfrm>
            <a:off x="4366400" y="1725675"/>
            <a:ext cx="255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object has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congruent rectangles at the very top and bottom of the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966" name="Google Shape;966;p78"/>
          <p:cNvSpPr txBox="1"/>
          <p:nvPr/>
        </p:nvSpPr>
        <p:spPr>
          <a:xfrm>
            <a:off x="324000" y="652275"/>
            <a:ext cx="54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3D shape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7" name="Google Shape;967;p78"/>
          <p:cNvPicPr preferRelativeResize="0"/>
          <p:nvPr/>
        </p:nvPicPr>
        <p:blipFill rotWithShape="1">
          <a:blip r:embed="rId3">
            <a:alphaModFix/>
          </a:blip>
          <a:srcRect b="2103" l="1984" r="55163" t="-839"/>
          <a:stretch/>
        </p:blipFill>
        <p:spPr>
          <a:xfrm>
            <a:off x="6764425" y="665000"/>
            <a:ext cx="1794574" cy="41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8"/>
          <p:cNvPicPr preferRelativeResize="0"/>
          <p:nvPr/>
        </p:nvPicPr>
        <p:blipFill rotWithShape="1">
          <a:blip r:embed="rId3">
            <a:alphaModFix/>
          </a:blip>
          <a:srcRect b="10707" l="57606" r="-458" t="70153"/>
          <a:stretch/>
        </p:blipFill>
        <p:spPr>
          <a:xfrm>
            <a:off x="6764423" y="4005997"/>
            <a:ext cx="1794574" cy="80544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8"/>
          <p:cNvSpPr txBox="1"/>
          <p:nvPr/>
        </p:nvSpPr>
        <p:spPr>
          <a:xfrm>
            <a:off x="324000" y="1005550"/>
            <a:ext cx="580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four 2D shapes were used to help identify the shape as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0" name="Google Shape;970;p78"/>
          <p:cNvPicPr preferRelativeResize="0"/>
          <p:nvPr/>
        </p:nvPicPr>
        <p:blipFill rotWithShape="1">
          <a:blip r:embed="rId3">
            <a:alphaModFix/>
          </a:blip>
          <a:srcRect b="10707" l="57606" r="-458" t="70153"/>
          <a:stretch/>
        </p:blipFill>
        <p:spPr>
          <a:xfrm>
            <a:off x="6764423" y="2974547"/>
            <a:ext cx="1794574" cy="80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8"/>
          <p:cNvPicPr preferRelativeResize="0"/>
          <p:nvPr/>
        </p:nvPicPr>
        <p:blipFill rotWithShape="1">
          <a:blip r:embed="rId3">
            <a:alphaModFix/>
          </a:blip>
          <a:srcRect b="10707" l="57606" r="-458" t="70153"/>
          <a:stretch/>
        </p:blipFill>
        <p:spPr>
          <a:xfrm>
            <a:off x="6764423" y="1801722"/>
            <a:ext cx="1794574" cy="80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78"/>
          <p:cNvPicPr preferRelativeResize="0"/>
          <p:nvPr/>
        </p:nvPicPr>
        <p:blipFill rotWithShape="1">
          <a:blip r:embed="rId3">
            <a:alphaModFix/>
          </a:blip>
          <a:srcRect b="10707" l="57606" r="-458" t="70153"/>
          <a:stretch/>
        </p:blipFill>
        <p:spPr>
          <a:xfrm>
            <a:off x="6764423" y="685419"/>
            <a:ext cx="1794574" cy="805449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8"/>
          <p:cNvSpPr txBox="1"/>
          <p:nvPr/>
        </p:nvSpPr>
        <p:spPr>
          <a:xfrm>
            <a:off x="324000" y="1635725"/>
            <a:ext cx="580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words and phrases must be true to describe these four 2D shapes?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4" name="Google Shape;974;p78"/>
          <p:cNvGrpSpPr/>
          <p:nvPr/>
        </p:nvGrpSpPr>
        <p:grpSpPr>
          <a:xfrm>
            <a:off x="352810" y="2609598"/>
            <a:ext cx="376641" cy="376641"/>
            <a:chOff x="1020916" y="1442088"/>
            <a:chExt cx="457200" cy="457200"/>
          </a:xfrm>
        </p:grpSpPr>
        <p:pic>
          <p:nvPicPr>
            <p:cNvPr id="975" name="Google Shape;975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7" name="Google Shape;977;p78"/>
          <p:cNvSpPr txBox="1"/>
          <p:nvPr/>
        </p:nvSpPr>
        <p:spPr>
          <a:xfrm>
            <a:off x="770650" y="2659325"/>
            <a:ext cx="10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circles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8" name="Google Shape;978;p78"/>
          <p:cNvGrpSpPr/>
          <p:nvPr/>
        </p:nvGrpSpPr>
        <p:grpSpPr>
          <a:xfrm>
            <a:off x="352810" y="3188948"/>
            <a:ext cx="376641" cy="376641"/>
            <a:chOff x="1020916" y="1442088"/>
            <a:chExt cx="457200" cy="457200"/>
          </a:xfrm>
        </p:grpSpPr>
        <p:pic>
          <p:nvPicPr>
            <p:cNvPr id="979" name="Google Shape;979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0" name="Google Shape;98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1" name="Google Shape;981;p78"/>
          <p:cNvSpPr txBox="1"/>
          <p:nvPr/>
        </p:nvSpPr>
        <p:spPr>
          <a:xfrm>
            <a:off x="770650" y="3238675"/>
            <a:ext cx="134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congruent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2" name="Google Shape;982;p78"/>
          <p:cNvGrpSpPr/>
          <p:nvPr/>
        </p:nvGrpSpPr>
        <p:grpSpPr>
          <a:xfrm>
            <a:off x="352810" y="3768298"/>
            <a:ext cx="376641" cy="376641"/>
            <a:chOff x="1020916" y="1442088"/>
            <a:chExt cx="457200" cy="457200"/>
          </a:xfrm>
        </p:grpSpPr>
        <p:pic>
          <p:nvPicPr>
            <p:cNvPr id="983" name="Google Shape;983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5" name="Google Shape;985;p78"/>
          <p:cNvSpPr txBox="1"/>
          <p:nvPr/>
        </p:nvSpPr>
        <p:spPr>
          <a:xfrm>
            <a:off x="770650" y="3818025"/>
            <a:ext cx="163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ifferent sizes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6" name="Google Shape;986;p78"/>
          <p:cNvGrpSpPr/>
          <p:nvPr/>
        </p:nvGrpSpPr>
        <p:grpSpPr>
          <a:xfrm>
            <a:off x="3369610" y="2609598"/>
            <a:ext cx="376641" cy="376641"/>
            <a:chOff x="1020916" y="1442088"/>
            <a:chExt cx="457200" cy="457200"/>
          </a:xfrm>
        </p:grpSpPr>
        <p:pic>
          <p:nvPicPr>
            <p:cNvPr id="987" name="Google Shape;987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8" name="Google Shape;988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9" name="Google Shape;989;p78"/>
          <p:cNvSpPr txBox="1"/>
          <p:nvPr/>
        </p:nvSpPr>
        <p:spPr>
          <a:xfrm>
            <a:off x="3787450" y="2659325"/>
            <a:ext cx="10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parallel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0" name="Google Shape;990;p78"/>
          <p:cNvGrpSpPr/>
          <p:nvPr/>
        </p:nvGrpSpPr>
        <p:grpSpPr>
          <a:xfrm>
            <a:off x="3369610" y="3188948"/>
            <a:ext cx="376641" cy="376641"/>
            <a:chOff x="1020916" y="1442088"/>
            <a:chExt cx="457200" cy="457200"/>
          </a:xfrm>
        </p:grpSpPr>
        <p:pic>
          <p:nvPicPr>
            <p:cNvPr id="991" name="Google Shape;991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3" name="Google Shape;993;p78"/>
          <p:cNvSpPr txBox="1"/>
          <p:nvPr/>
        </p:nvSpPr>
        <p:spPr>
          <a:xfrm>
            <a:off x="3787450" y="3238675"/>
            <a:ext cx="24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equal distance apart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4" name="Google Shape;994;p78"/>
          <p:cNvGrpSpPr/>
          <p:nvPr/>
        </p:nvGrpSpPr>
        <p:grpSpPr>
          <a:xfrm>
            <a:off x="3369610" y="3768298"/>
            <a:ext cx="376641" cy="376641"/>
            <a:chOff x="1020916" y="1442088"/>
            <a:chExt cx="457200" cy="457200"/>
          </a:xfrm>
        </p:grpSpPr>
        <p:pic>
          <p:nvPicPr>
            <p:cNvPr id="995" name="Google Shape;995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7" name="Google Shape;997;p78"/>
          <p:cNvSpPr txBox="1"/>
          <p:nvPr/>
        </p:nvSpPr>
        <p:spPr>
          <a:xfrm>
            <a:off x="3787450" y="3818025"/>
            <a:ext cx="163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polygons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8" name="Google Shape;99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7863" y="3167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3996" y="25883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3996" y="37470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79"/>
          <p:cNvPicPr preferRelativeResize="0"/>
          <p:nvPr/>
        </p:nvPicPr>
        <p:blipFill rotWithShape="1">
          <a:blip r:embed="rId3">
            <a:alphaModFix/>
          </a:blip>
          <a:srcRect b="0" l="52121" r="0" t="0"/>
          <a:stretch/>
        </p:blipFill>
        <p:spPr>
          <a:xfrm>
            <a:off x="5849178" y="564829"/>
            <a:ext cx="3076799" cy="2648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6" name="Google Shape;1006;p79"/>
          <p:cNvGrpSpPr/>
          <p:nvPr/>
        </p:nvGrpSpPr>
        <p:grpSpPr>
          <a:xfrm flipH="1">
            <a:off x="1151313" y="464329"/>
            <a:ext cx="4790466" cy="1284066"/>
            <a:chOff x="2262000" y="222350"/>
            <a:chExt cx="5627236" cy="921799"/>
          </a:xfrm>
        </p:grpSpPr>
        <p:pic>
          <p:nvPicPr>
            <p:cNvPr id="1007" name="Google Shape;1007;p79"/>
            <p:cNvPicPr preferRelativeResize="0"/>
            <p:nvPr/>
          </p:nvPicPr>
          <p:blipFill rotWithShape="1">
            <a:blip r:embed="rId4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79"/>
            <p:cNvPicPr preferRelativeResize="0"/>
            <p:nvPr/>
          </p:nvPicPr>
          <p:blipFill rotWithShape="1">
            <a:blip r:embed="rId4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79"/>
            <p:cNvPicPr preferRelativeResize="0"/>
            <p:nvPr/>
          </p:nvPicPr>
          <p:blipFill rotWithShape="1">
            <a:blip r:embed="rId4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79"/>
            <p:cNvPicPr preferRelativeResize="0"/>
            <p:nvPr/>
          </p:nvPicPr>
          <p:blipFill rotWithShape="1">
            <a:blip r:embed="rId4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79"/>
            <p:cNvPicPr preferRelativeResize="0"/>
            <p:nvPr/>
          </p:nvPicPr>
          <p:blipFill rotWithShape="1">
            <a:blip r:embed="rId4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79"/>
            <p:cNvPicPr preferRelativeResize="0"/>
            <p:nvPr/>
          </p:nvPicPr>
          <p:blipFill rotWithShape="1">
            <a:blip r:embed="rId4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3" name="Google Shape;101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1014" name="Google Shape;1014;p79"/>
          <p:cNvSpPr txBox="1"/>
          <p:nvPr/>
        </p:nvSpPr>
        <p:spPr>
          <a:xfrm flipH="1">
            <a:off x="1314002" y="653740"/>
            <a:ext cx="451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3D shape is not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because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aren’t all congruent to each other!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9"/>
          <p:cNvSpPr txBox="1"/>
          <p:nvPr/>
        </p:nvSpPr>
        <p:spPr>
          <a:xfrm>
            <a:off x="324000" y="2105925"/>
            <a:ext cx="54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best describes why Izzy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incorrect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6" name="Google Shape;101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99" y="982289"/>
            <a:ext cx="845692" cy="818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9"/>
          <p:cNvSpPr txBox="1"/>
          <p:nvPr/>
        </p:nvSpPr>
        <p:spPr>
          <a:xfrm>
            <a:off x="323997" y="684066"/>
            <a:ext cx="84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/>
          <p:nvPr/>
        </p:nvSpPr>
        <p:spPr>
          <a:xfrm rot="10800000">
            <a:off x="6462231" y="711954"/>
            <a:ext cx="2298600" cy="691800"/>
          </a:xfrm>
          <a:prstGeom prst="parallelogram">
            <a:avLst>
              <a:gd fmla="val 173128" name="adj"/>
            </a:avLst>
          </a:prstGeom>
          <a:solidFill>
            <a:srgbClr val="000000">
              <a:alpha val="550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9"/>
          <p:cNvSpPr/>
          <p:nvPr/>
        </p:nvSpPr>
        <p:spPr>
          <a:xfrm rot="10800000">
            <a:off x="6022129" y="2084729"/>
            <a:ext cx="2738700" cy="691800"/>
          </a:xfrm>
          <a:prstGeom prst="parallelogram">
            <a:avLst>
              <a:gd fmla="val 173128" name="adj"/>
            </a:avLst>
          </a:prstGeom>
          <a:solidFill>
            <a:srgbClr val="000000">
              <a:alpha val="550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0" name="Google Shape;1020;p79"/>
          <p:cNvGrpSpPr/>
          <p:nvPr/>
        </p:nvGrpSpPr>
        <p:grpSpPr>
          <a:xfrm>
            <a:off x="324010" y="2950123"/>
            <a:ext cx="376641" cy="376641"/>
            <a:chOff x="1020916" y="1442088"/>
            <a:chExt cx="457200" cy="457200"/>
          </a:xfrm>
        </p:grpSpPr>
        <p:pic>
          <p:nvPicPr>
            <p:cNvPr id="1021" name="Google Shape;1021;p7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3" name="Google Shape;1023;p79"/>
          <p:cNvSpPr txBox="1"/>
          <p:nvPr/>
        </p:nvSpPr>
        <p:spPr>
          <a:xfrm>
            <a:off x="741850" y="2962950"/>
            <a:ext cx="47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aren’t parallel to each other.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9"/>
          <p:cNvSpPr/>
          <p:nvPr/>
        </p:nvSpPr>
        <p:spPr>
          <a:xfrm rot="5400000">
            <a:off x="6742011" y="2670640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9"/>
          <p:cNvSpPr/>
          <p:nvPr/>
        </p:nvSpPr>
        <p:spPr>
          <a:xfrm rot="5400000">
            <a:off x="6742011" y="1301457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79"/>
          <p:cNvGrpSpPr/>
          <p:nvPr/>
        </p:nvGrpSpPr>
        <p:grpSpPr>
          <a:xfrm>
            <a:off x="324010" y="3684914"/>
            <a:ext cx="376641" cy="376641"/>
            <a:chOff x="1020916" y="1442088"/>
            <a:chExt cx="457200" cy="457200"/>
          </a:xfrm>
        </p:grpSpPr>
        <p:pic>
          <p:nvPicPr>
            <p:cNvPr id="1027" name="Google Shape;1027;p7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9" name="Google Shape;1029;p79"/>
          <p:cNvSpPr txBox="1"/>
          <p:nvPr/>
        </p:nvSpPr>
        <p:spPr>
          <a:xfrm>
            <a:off x="741850" y="3697750"/>
            <a:ext cx="72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haven’t been taken in the correct direction.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9"/>
          <p:cNvSpPr txBox="1"/>
          <p:nvPr/>
        </p:nvSpPr>
        <p:spPr>
          <a:xfrm>
            <a:off x="741850" y="4432525"/>
            <a:ext cx="72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have to be at the faces of the 3D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1" name="Google Shape;1031;p79"/>
          <p:cNvGrpSpPr/>
          <p:nvPr/>
        </p:nvGrpSpPr>
        <p:grpSpPr>
          <a:xfrm>
            <a:off x="324010" y="4419689"/>
            <a:ext cx="376641" cy="376641"/>
            <a:chOff x="1020916" y="1442088"/>
            <a:chExt cx="457200" cy="457200"/>
          </a:xfrm>
        </p:grpSpPr>
        <p:pic>
          <p:nvPicPr>
            <p:cNvPr id="1032" name="Google Shape;1032;p7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34" name="Google Shape;1034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70946" y="366368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80"/>
          <p:cNvPicPr preferRelativeResize="0"/>
          <p:nvPr/>
        </p:nvPicPr>
        <p:blipFill rotWithShape="1">
          <a:blip r:embed="rId3">
            <a:alphaModFix/>
          </a:blip>
          <a:srcRect b="0" l="52121" r="0" t="0"/>
          <a:stretch/>
        </p:blipFill>
        <p:spPr>
          <a:xfrm>
            <a:off x="5849178" y="564829"/>
            <a:ext cx="3076799" cy="264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0"/>
          <p:cNvPicPr preferRelativeResize="0"/>
          <p:nvPr/>
        </p:nvPicPr>
        <p:blipFill rotWithShape="1">
          <a:blip r:embed="rId3">
            <a:alphaModFix amt="69000"/>
          </a:blip>
          <a:srcRect b="1890" l="571" r="71573" t="29864"/>
          <a:stretch/>
        </p:blipFill>
        <p:spPr>
          <a:xfrm>
            <a:off x="6870114" y="752126"/>
            <a:ext cx="1790051" cy="18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0"/>
          <p:cNvPicPr preferRelativeResize="0"/>
          <p:nvPr/>
        </p:nvPicPr>
        <p:blipFill rotWithShape="1">
          <a:blip r:embed="rId3">
            <a:alphaModFix amt="69000"/>
          </a:blip>
          <a:srcRect b="1890" l="571" r="71573" t="29864"/>
          <a:stretch/>
        </p:blipFill>
        <p:spPr>
          <a:xfrm>
            <a:off x="6144970" y="1162007"/>
            <a:ext cx="1790051" cy="180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1043" name="Google Shape;1043;p80"/>
          <p:cNvSpPr/>
          <p:nvPr/>
        </p:nvSpPr>
        <p:spPr>
          <a:xfrm rot="5400000">
            <a:off x="8077722" y="2391557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0"/>
          <p:cNvSpPr txBox="1"/>
          <p:nvPr/>
        </p:nvSpPr>
        <p:spPr>
          <a:xfrm>
            <a:off x="324000" y="2954286"/>
            <a:ext cx="8064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Parallel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a prism have to be                                                        congruent, but only in one direction of the shape.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two parallel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aren’t congruent, the shape will still be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if all the polygonal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congruent in a different direction.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can be anywhere along a 3D shape, not just at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faces.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80"/>
          <p:cNvSpPr/>
          <p:nvPr/>
        </p:nvSpPr>
        <p:spPr>
          <a:xfrm rot="5400000">
            <a:off x="6970561" y="2801415"/>
            <a:ext cx="138900" cy="197700"/>
          </a:xfrm>
          <a:prstGeom prst="triangle">
            <a:avLst>
              <a:gd fmla="val 50000" name="adj"/>
            </a:avLst>
          </a:prstGeom>
          <a:solidFill>
            <a:srgbClr val="141315"/>
          </a:solidFill>
          <a:ln cap="flat" cmpd="sng" w="9525">
            <a:solidFill>
              <a:srgbClr val="1413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6" name="Google Shape;1046;p80"/>
          <p:cNvGrpSpPr/>
          <p:nvPr/>
        </p:nvGrpSpPr>
        <p:grpSpPr>
          <a:xfrm flipH="1">
            <a:off x="1151313" y="464329"/>
            <a:ext cx="4790466" cy="1284066"/>
            <a:chOff x="2262000" y="222350"/>
            <a:chExt cx="5627236" cy="921799"/>
          </a:xfrm>
        </p:grpSpPr>
        <p:pic>
          <p:nvPicPr>
            <p:cNvPr id="1047" name="Google Shape;1047;p80"/>
            <p:cNvPicPr preferRelativeResize="0"/>
            <p:nvPr/>
          </p:nvPicPr>
          <p:blipFill rotWithShape="1">
            <a:blip r:embed="rId4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p80"/>
            <p:cNvPicPr preferRelativeResize="0"/>
            <p:nvPr/>
          </p:nvPicPr>
          <p:blipFill rotWithShape="1">
            <a:blip r:embed="rId4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80"/>
            <p:cNvPicPr preferRelativeResize="0"/>
            <p:nvPr/>
          </p:nvPicPr>
          <p:blipFill rotWithShape="1">
            <a:blip r:embed="rId4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80"/>
            <p:cNvPicPr preferRelativeResize="0"/>
            <p:nvPr/>
          </p:nvPicPr>
          <p:blipFill rotWithShape="1">
            <a:blip r:embed="rId4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80"/>
            <p:cNvPicPr preferRelativeResize="0"/>
            <p:nvPr/>
          </p:nvPicPr>
          <p:blipFill rotWithShape="1">
            <a:blip r:embed="rId4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2" name="Google Shape;1052;p80"/>
            <p:cNvPicPr preferRelativeResize="0"/>
            <p:nvPr/>
          </p:nvPicPr>
          <p:blipFill rotWithShape="1">
            <a:blip r:embed="rId4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3" name="Google Shape;1053;p80"/>
          <p:cNvSpPr txBox="1"/>
          <p:nvPr/>
        </p:nvSpPr>
        <p:spPr>
          <a:xfrm flipH="1">
            <a:off x="1314002" y="653740"/>
            <a:ext cx="451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3D shape is not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because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aren’t all congruent to each other!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4" name="Google Shape;1054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99" y="982289"/>
            <a:ext cx="845692" cy="818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0"/>
          <p:cNvSpPr txBox="1"/>
          <p:nvPr/>
        </p:nvSpPr>
        <p:spPr>
          <a:xfrm>
            <a:off x="323997" y="684066"/>
            <a:ext cx="84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6" name="Google Shape;1056;p80"/>
          <p:cNvGrpSpPr/>
          <p:nvPr/>
        </p:nvGrpSpPr>
        <p:grpSpPr>
          <a:xfrm>
            <a:off x="324010" y="2084714"/>
            <a:ext cx="376641" cy="376641"/>
            <a:chOff x="1020916" y="1442088"/>
            <a:chExt cx="457200" cy="457200"/>
          </a:xfrm>
        </p:grpSpPr>
        <p:pic>
          <p:nvPicPr>
            <p:cNvPr id="1057" name="Google Shape;1057;p8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9" name="Google Shape;1059;p80"/>
          <p:cNvSpPr txBox="1"/>
          <p:nvPr/>
        </p:nvSpPr>
        <p:spPr>
          <a:xfrm>
            <a:off x="741850" y="2055390"/>
            <a:ext cx="490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haven’t been taken in the correct direction.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1"/>
          <p:cNvSpPr txBox="1"/>
          <p:nvPr/>
        </p:nvSpPr>
        <p:spPr>
          <a:xfrm>
            <a:off x="324000" y="728475"/>
            <a:ext cx="251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Which of these match the properties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066" name="Google Shape;1066;p81"/>
          <p:cNvPicPr preferRelativeResize="0"/>
          <p:nvPr/>
        </p:nvPicPr>
        <p:blipFill rotWithShape="1">
          <a:blip r:embed="rId3">
            <a:alphaModFix/>
          </a:blip>
          <a:srcRect b="1521" l="30054" r="437" t="11035"/>
          <a:stretch/>
        </p:blipFill>
        <p:spPr>
          <a:xfrm>
            <a:off x="4542950" y="652275"/>
            <a:ext cx="4277050" cy="21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309818"/>
            <a:ext cx="5450399" cy="25105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8" name="Google Shape;1068;p81"/>
          <p:cNvGrpSpPr/>
          <p:nvPr/>
        </p:nvGrpSpPr>
        <p:grpSpPr>
          <a:xfrm>
            <a:off x="2390158" y="1644401"/>
            <a:ext cx="303581" cy="303581"/>
            <a:chOff x="1020916" y="1442088"/>
            <a:chExt cx="457200" cy="457200"/>
          </a:xfrm>
        </p:grpSpPr>
        <p:pic>
          <p:nvPicPr>
            <p:cNvPr id="1069" name="Google Shape;1069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1" name="Google Shape;1071;p81"/>
          <p:cNvGrpSpPr/>
          <p:nvPr/>
        </p:nvGrpSpPr>
        <p:grpSpPr>
          <a:xfrm>
            <a:off x="5703758" y="776426"/>
            <a:ext cx="303581" cy="303581"/>
            <a:chOff x="1020916" y="1442088"/>
            <a:chExt cx="457200" cy="457200"/>
          </a:xfrm>
        </p:grpSpPr>
        <p:pic>
          <p:nvPicPr>
            <p:cNvPr id="1072" name="Google Shape;1072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4" name="Google Shape;1074;p81"/>
          <p:cNvGrpSpPr/>
          <p:nvPr/>
        </p:nvGrpSpPr>
        <p:grpSpPr>
          <a:xfrm>
            <a:off x="6579858" y="1340826"/>
            <a:ext cx="303581" cy="303581"/>
            <a:chOff x="1020916" y="1442088"/>
            <a:chExt cx="457200" cy="457200"/>
          </a:xfrm>
        </p:grpSpPr>
        <p:pic>
          <p:nvPicPr>
            <p:cNvPr id="1075" name="Google Shape;1075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7" name="Google Shape;1077;p81"/>
          <p:cNvGrpSpPr/>
          <p:nvPr/>
        </p:nvGrpSpPr>
        <p:grpSpPr>
          <a:xfrm>
            <a:off x="7922258" y="1517451"/>
            <a:ext cx="303581" cy="303581"/>
            <a:chOff x="1020916" y="1442088"/>
            <a:chExt cx="457200" cy="457200"/>
          </a:xfrm>
        </p:grpSpPr>
        <p:pic>
          <p:nvPicPr>
            <p:cNvPr id="1078" name="Google Shape;1078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0" name="Google Shape;1080;p81"/>
          <p:cNvGrpSpPr/>
          <p:nvPr/>
        </p:nvGrpSpPr>
        <p:grpSpPr>
          <a:xfrm>
            <a:off x="955908" y="3707701"/>
            <a:ext cx="303581" cy="303581"/>
            <a:chOff x="1020916" y="1442088"/>
            <a:chExt cx="457200" cy="457200"/>
          </a:xfrm>
        </p:grpSpPr>
        <p:pic>
          <p:nvPicPr>
            <p:cNvPr id="1081" name="Google Shape;1081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2" name="Google Shape;1082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3" name="Google Shape;1083;p81"/>
          <p:cNvGrpSpPr/>
          <p:nvPr/>
        </p:nvGrpSpPr>
        <p:grpSpPr>
          <a:xfrm>
            <a:off x="2785808" y="4011276"/>
            <a:ext cx="303581" cy="303581"/>
            <a:chOff x="1020916" y="1442088"/>
            <a:chExt cx="457200" cy="457200"/>
          </a:xfrm>
        </p:grpSpPr>
        <p:pic>
          <p:nvPicPr>
            <p:cNvPr id="1084" name="Google Shape;1084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81"/>
          <p:cNvGrpSpPr/>
          <p:nvPr/>
        </p:nvGrpSpPr>
        <p:grpSpPr>
          <a:xfrm>
            <a:off x="5739083" y="3628213"/>
            <a:ext cx="303581" cy="303581"/>
            <a:chOff x="1020916" y="1442088"/>
            <a:chExt cx="457200" cy="457200"/>
          </a:xfrm>
        </p:grpSpPr>
        <p:pic>
          <p:nvPicPr>
            <p:cNvPr id="1087" name="Google Shape;1087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9" name="Google Shape;1089;p81"/>
          <p:cNvPicPr preferRelativeResize="0"/>
          <p:nvPr/>
        </p:nvPicPr>
        <p:blipFill rotWithShape="1">
          <a:blip r:embed="rId6">
            <a:alphaModFix/>
          </a:blip>
          <a:srcRect b="0" l="6050" r="0" t="9346"/>
          <a:stretch/>
        </p:blipFill>
        <p:spPr>
          <a:xfrm>
            <a:off x="2693750" y="953800"/>
            <a:ext cx="1952675" cy="148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81"/>
          <p:cNvSpPr/>
          <p:nvPr/>
        </p:nvSpPr>
        <p:spPr>
          <a:xfrm>
            <a:off x="7840200" y="1845050"/>
            <a:ext cx="937200" cy="9372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2"/>
          <p:cNvSpPr txBox="1"/>
          <p:nvPr/>
        </p:nvSpPr>
        <p:spPr>
          <a:xfrm>
            <a:off x="324000" y="1457725"/>
            <a:ext cx="6855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object.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of its 2D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must be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at least one direction, all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must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2"/>
          <p:cNvSpPr txBox="1"/>
          <p:nvPr/>
        </p:nvSpPr>
        <p:spPr>
          <a:xfrm>
            <a:off x="324000" y="652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Complete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sentences with the missing words provided to give an explanation of what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098" name="Google Shape;1098;p82"/>
          <p:cNvPicPr preferRelativeResize="0"/>
          <p:nvPr/>
        </p:nvPicPr>
        <p:blipFill rotWithShape="1">
          <a:blip r:embed="rId3">
            <a:alphaModFix/>
          </a:blip>
          <a:srcRect b="15945" l="-331" r="85318" t="0"/>
          <a:stretch/>
        </p:blipFill>
        <p:spPr>
          <a:xfrm flipH="1">
            <a:off x="7300856" y="1245145"/>
            <a:ext cx="1407224" cy="273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82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 flipH="1">
            <a:off x="7320800" y="3102636"/>
            <a:ext cx="1407224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82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 flipH="1">
            <a:off x="7320800" y="1971522"/>
            <a:ext cx="1407224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82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 flipH="1">
            <a:off x="7320800" y="1217462"/>
            <a:ext cx="1407224" cy="90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82"/>
          <p:cNvSpPr/>
          <p:nvPr/>
        </p:nvSpPr>
        <p:spPr>
          <a:xfrm>
            <a:off x="324000" y="3603900"/>
            <a:ext cx="7842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2"/>
          <p:cNvSpPr/>
          <p:nvPr/>
        </p:nvSpPr>
        <p:spPr>
          <a:xfrm>
            <a:off x="853875" y="4150200"/>
            <a:ext cx="7842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2"/>
          <p:cNvSpPr/>
          <p:nvPr/>
        </p:nvSpPr>
        <p:spPr>
          <a:xfrm>
            <a:off x="1433933" y="3603900"/>
            <a:ext cx="13008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circular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2"/>
          <p:cNvSpPr/>
          <p:nvPr/>
        </p:nvSpPr>
        <p:spPr>
          <a:xfrm>
            <a:off x="1969450" y="4150200"/>
            <a:ext cx="13008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polygons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2"/>
          <p:cNvSpPr/>
          <p:nvPr/>
        </p:nvSpPr>
        <p:spPr>
          <a:xfrm>
            <a:off x="3060467" y="3603900"/>
            <a:ext cx="13008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parallel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2"/>
          <p:cNvSpPr/>
          <p:nvPr/>
        </p:nvSpPr>
        <p:spPr>
          <a:xfrm>
            <a:off x="3601624" y="4150200"/>
            <a:ext cx="18414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perpendicular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2"/>
          <p:cNvSpPr/>
          <p:nvPr/>
        </p:nvSpPr>
        <p:spPr>
          <a:xfrm>
            <a:off x="4687000" y="3603900"/>
            <a:ext cx="15555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congruent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2"/>
          <p:cNvSpPr/>
          <p:nvPr/>
        </p:nvSpPr>
        <p:spPr>
          <a:xfrm>
            <a:off x="5774399" y="4150200"/>
            <a:ext cx="15555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equidistant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114;p83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323989" y="1771237"/>
            <a:ext cx="2038621" cy="2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83"/>
          <p:cNvSpPr txBox="1"/>
          <p:nvPr/>
        </p:nvSpPr>
        <p:spPr>
          <a:xfrm>
            <a:off x="324000" y="616949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These diagrams all show the same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117" name="Google Shape;1117;p83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2938139" y="1771237"/>
            <a:ext cx="2038621" cy="29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3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5552289" y="1771237"/>
            <a:ext cx="2038621" cy="29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83"/>
          <p:cNvPicPr preferRelativeResize="0"/>
          <p:nvPr/>
        </p:nvPicPr>
        <p:blipFill rotWithShape="1">
          <a:blip r:embed="rId3">
            <a:alphaModFix/>
          </a:blip>
          <a:srcRect b="2" l="-86" r="56826" t="71698"/>
          <a:stretch/>
        </p:blipFill>
        <p:spPr>
          <a:xfrm>
            <a:off x="2945234" y="3877456"/>
            <a:ext cx="2038600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83"/>
          <p:cNvPicPr preferRelativeResize="0"/>
          <p:nvPr/>
        </p:nvPicPr>
        <p:blipFill rotWithShape="1">
          <a:blip r:embed="rId3">
            <a:alphaModFix/>
          </a:blip>
          <a:srcRect b="2" l="-86" r="56826" t="71698"/>
          <a:stretch/>
        </p:blipFill>
        <p:spPr>
          <a:xfrm>
            <a:off x="2945234" y="2520931"/>
            <a:ext cx="2038600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83"/>
          <p:cNvSpPr/>
          <p:nvPr/>
        </p:nvSpPr>
        <p:spPr>
          <a:xfrm rot="-5400000">
            <a:off x="-678200" y="2873125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3"/>
          <p:cNvSpPr/>
          <p:nvPr/>
        </p:nvSpPr>
        <p:spPr>
          <a:xfrm rot="-5400000">
            <a:off x="781325" y="2767350"/>
            <a:ext cx="2314200" cy="432000"/>
          </a:xfrm>
          <a:prstGeom prst="parallelogram">
            <a:avLst>
              <a:gd fmla="val 31325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3"/>
          <p:cNvSpPr/>
          <p:nvPr/>
        </p:nvSpPr>
        <p:spPr>
          <a:xfrm rot="-5400000">
            <a:off x="4564475" y="2884650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4" name="Google Shape;1124;p83"/>
          <p:cNvGrpSpPr/>
          <p:nvPr/>
        </p:nvGrpSpPr>
        <p:grpSpPr>
          <a:xfrm>
            <a:off x="1191508" y="1468213"/>
            <a:ext cx="303581" cy="303581"/>
            <a:chOff x="1020916" y="1442088"/>
            <a:chExt cx="457200" cy="457200"/>
          </a:xfrm>
        </p:grpSpPr>
        <p:pic>
          <p:nvPicPr>
            <p:cNvPr id="1125" name="Google Shape;1125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83"/>
          <p:cNvGrpSpPr/>
          <p:nvPr/>
        </p:nvGrpSpPr>
        <p:grpSpPr>
          <a:xfrm>
            <a:off x="3805658" y="1468226"/>
            <a:ext cx="303581" cy="303581"/>
            <a:chOff x="1020916" y="1442088"/>
            <a:chExt cx="457200" cy="457200"/>
          </a:xfrm>
        </p:grpSpPr>
        <p:pic>
          <p:nvPicPr>
            <p:cNvPr id="1128" name="Google Shape;1128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83"/>
          <p:cNvGrpSpPr/>
          <p:nvPr/>
        </p:nvGrpSpPr>
        <p:grpSpPr>
          <a:xfrm>
            <a:off x="6419808" y="1468226"/>
            <a:ext cx="303581" cy="303581"/>
            <a:chOff x="1020916" y="1442088"/>
            <a:chExt cx="457200" cy="457200"/>
          </a:xfrm>
        </p:grpSpPr>
        <p:pic>
          <p:nvPicPr>
            <p:cNvPr id="1131" name="Google Shape;1131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3" name="Google Shape;1133;p83"/>
          <p:cNvSpPr/>
          <p:nvPr/>
        </p:nvSpPr>
        <p:spPr>
          <a:xfrm flipH="1" rot="5400000">
            <a:off x="5765546" y="2884650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4"/>
          <p:cNvSpPr txBox="1"/>
          <p:nvPr/>
        </p:nvSpPr>
        <p:spPr>
          <a:xfrm>
            <a:off x="324000" y="728475"/>
            <a:ext cx="251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Which of these match the properties of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140" name="Google Shape;1140;p84"/>
          <p:cNvPicPr preferRelativeResize="0"/>
          <p:nvPr/>
        </p:nvPicPr>
        <p:blipFill rotWithShape="1">
          <a:blip r:embed="rId3">
            <a:alphaModFix/>
          </a:blip>
          <a:srcRect b="1521" l="30054" r="437" t="11035"/>
          <a:stretch/>
        </p:blipFill>
        <p:spPr>
          <a:xfrm>
            <a:off x="4542950" y="652275"/>
            <a:ext cx="4277050" cy="21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309818"/>
            <a:ext cx="5450399" cy="25105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2" name="Google Shape;1142;p84"/>
          <p:cNvGrpSpPr/>
          <p:nvPr/>
        </p:nvGrpSpPr>
        <p:grpSpPr>
          <a:xfrm>
            <a:off x="2390158" y="1644401"/>
            <a:ext cx="303581" cy="303581"/>
            <a:chOff x="1020916" y="1442088"/>
            <a:chExt cx="457200" cy="457200"/>
          </a:xfrm>
        </p:grpSpPr>
        <p:pic>
          <p:nvPicPr>
            <p:cNvPr id="1143" name="Google Shape;1143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4" name="Google Shape;1144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5" name="Google Shape;1145;p84"/>
          <p:cNvGrpSpPr/>
          <p:nvPr/>
        </p:nvGrpSpPr>
        <p:grpSpPr>
          <a:xfrm>
            <a:off x="5703758" y="776426"/>
            <a:ext cx="303581" cy="303581"/>
            <a:chOff x="1020916" y="1442088"/>
            <a:chExt cx="457200" cy="457200"/>
          </a:xfrm>
        </p:grpSpPr>
        <p:pic>
          <p:nvPicPr>
            <p:cNvPr id="1146" name="Google Shape;1146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7" name="Google Shape;1147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8" name="Google Shape;1148;p84"/>
          <p:cNvGrpSpPr/>
          <p:nvPr/>
        </p:nvGrpSpPr>
        <p:grpSpPr>
          <a:xfrm>
            <a:off x="6579858" y="1340826"/>
            <a:ext cx="303581" cy="303581"/>
            <a:chOff x="1020916" y="1442088"/>
            <a:chExt cx="457200" cy="457200"/>
          </a:xfrm>
        </p:grpSpPr>
        <p:pic>
          <p:nvPicPr>
            <p:cNvPr id="1149" name="Google Shape;1149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1" name="Google Shape;1151;p84"/>
          <p:cNvGrpSpPr/>
          <p:nvPr/>
        </p:nvGrpSpPr>
        <p:grpSpPr>
          <a:xfrm>
            <a:off x="7922258" y="1517451"/>
            <a:ext cx="303581" cy="303581"/>
            <a:chOff x="1020916" y="1442088"/>
            <a:chExt cx="457200" cy="457200"/>
          </a:xfrm>
        </p:grpSpPr>
        <p:pic>
          <p:nvPicPr>
            <p:cNvPr id="1152" name="Google Shape;1152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84"/>
          <p:cNvGrpSpPr/>
          <p:nvPr/>
        </p:nvGrpSpPr>
        <p:grpSpPr>
          <a:xfrm>
            <a:off x="955908" y="3707701"/>
            <a:ext cx="303581" cy="303581"/>
            <a:chOff x="1020916" y="1442088"/>
            <a:chExt cx="457200" cy="457200"/>
          </a:xfrm>
        </p:grpSpPr>
        <p:pic>
          <p:nvPicPr>
            <p:cNvPr id="1155" name="Google Shape;1155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84"/>
          <p:cNvGrpSpPr/>
          <p:nvPr/>
        </p:nvGrpSpPr>
        <p:grpSpPr>
          <a:xfrm>
            <a:off x="2785808" y="4011276"/>
            <a:ext cx="303581" cy="303581"/>
            <a:chOff x="1020916" y="1442088"/>
            <a:chExt cx="457200" cy="457200"/>
          </a:xfrm>
        </p:grpSpPr>
        <p:pic>
          <p:nvPicPr>
            <p:cNvPr id="1158" name="Google Shape;1158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84"/>
          <p:cNvGrpSpPr/>
          <p:nvPr/>
        </p:nvGrpSpPr>
        <p:grpSpPr>
          <a:xfrm>
            <a:off x="5739083" y="3628213"/>
            <a:ext cx="303581" cy="303581"/>
            <a:chOff x="1020916" y="1442088"/>
            <a:chExt cx="457200" cy="457200"/>
          </a:xfrm>
        </p:grpSpPr>
        <p:pic>
          <p:nvPicPr>
            <p:cNvPr id="1161" name="Google Shape;1161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63" name="Google Shape;1163;p84"/>
          <p:cNvPicPr preferRelativeResize="0"/>
          <p:nvPr/>
        </p:nvPicPr>
        <p:blipFill rotWithShape="1">
          <a:blip r:embed="rId6">
            <a:alphaModFix/>
          </a:blip>
          <a:srcRect b="0" l="6050" r="0" t="9346"/>
          <a:stretch/>
        </p:blipFill>
        <p:spPr>
          <a:xfrm>
            <a:off x="2693750" y="953800"/>
            <a:ext cx="1952675" cy="1484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3646" y="934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9696" y="4011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9596" y="43148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84"/>
          <p:cNvSpPr/>
          <p:nvPr/>
        </p:nvSpPr>
        <p:spPr>
          <a:xfrm>
            <a:off x="7840200" y="1845050"/>
            <a:ext cx="937200" cy="9372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85"/>
          <p:cNvSpPr txBox="1"/>
          <p:nvPr/>
        </p:nvSpPr>
        <p:spPr>
          <a:xfrm>
            <a:off x="324000" y="1457725"/>
            <a:ext cx="6783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a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object.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of its 2D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must be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at least one direction, all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must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5"/>
          <p:cNvSpPr txBox="1"/>
          <p:nvPr/>
        </p:nvSpPr>
        <p:spPr>
          <a:xfrm>
            <a:off x="324000" y="652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Complete the sentences with the missing words provided to give an explanation of what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175" name="Google Shape;1175;p85"/>
          <p:cNvPicPr preferRelativeResize="0"/>
          <p:nvPr/>
        </p:nvPicPr>
        <p:blipFill rotWithShape="1">
          <a:blip r:embed="rId3">
            <a:alphaModFix/>
          </a:blip>
          <a:srcRect b="15945" l="-331" r="85318" t="0"/>
          <a:stretch/>
        </p:blipFill>
        <p:spPr>
          <a:xfrm flipH="1">
            <a:off x="7300856" y="1245145"/>
            <a:ext cx="1407224" cy="273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85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 flipH="1">
            <a:off x="7320800" y="3102636"/>
            <a:ext cx="1407224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85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 flipH="1">
            <a:off x="7320800" y="1971522"/>
            <a:ext cx="1407224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85"/>
          <p:cNvPicPr preferRelativeResize="0"/>
          <p:nvPr/>
        </p:nvPicPr>
        <p:blipFill rotWithShape="1">
          <a:blip r:embed="rId3">
            <a:alphaModFix/>
          </a:blip>
          <a:srcRect b="12802" l="20786" r="64200" t="59370"/>
          <a:stretch/>
        </p:blipFill>
        <p:spPr>
          <a:xfrm flipH="1">
            <a:off x="7320800" y="1217462"/>
            <a:ext cx="1407224" cy="90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85"/>
          <p:cNvSpPr/>
          <p:nvPr/>
        </p:nvSpPr>
        <p:spPr>
          <a:xfrm>
            <a:off x="1934851" y="1372040"/>
            <a:ext cx="784200" cy="40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0" name="Google Shape;1180;p85"/>
          <p:cNvSpPr/>
          <p:nvPr/>
        </p:nvSpPr>
        <p:spPr>
          <a:xfrm>
            <a:off x="3521675" y="2463995"/>
            <a:ext cx="1098900" cy="40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parallel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85"/>
          <p:cNvSpPr/>
          <p:nvPr/>
        </p:nvSpPr>
        <p:spPr>
          <a:xfrm>
            <a:off x="600549" y="3015975"/>
            <a:ext cx="1391100" cy="40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85"/>
          <p:cNvSpPr/>
          <p:nvPr/>
        </p:nvSpPr>
        <p:spPr>
          <a:xfrm>
            <a:off x="4193625" y="1912950"/>
            <a:ext cx="1260900" cy="40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polygons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5"/>
          <p:cNvSpPr/>
          <p:nvPr/>
        </p:nvSpPr>
        <p:spPr>
          <a:xfrm>
            <a:off x="324000" y="3603900"/>
            <a:ext cx="7842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5"/>
          <p:cNvSpPr/>
          <p:nvPr/>
        </p:nvSpPr>
        <p:spPr>
          <a:xfrm>
            <a:off x="1433933" y="3603900"/>
            <a:ext cx="13008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circular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5"/>
          <p:cNvSpPr/>
          <p:nvPr/>
        </p:nvSpPr>
        <p:spPr>
          <a:xfrm>
            <a:off x="3601624" y="4150200"/>
            <a:ext cx="18414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perpendicular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5"/>
          <p:cNvSpPr/>
          <p:nvPr/>
        </p:nvSpPr>
        <p:spPr>
          <a:xfrm>
            <a:off x="5774399" y="4150200"/>
            <a:ext cx="1555500" cy="4026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equidistant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6"/>
          <p:cNvSpPr txBox="1"/>
          <p:nvPr/>
        </p:nvSpPr>
        <p:spPr>
          <a:xfrm>
            <a:off x="324000" y="616949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These diagrams all show the same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193" name="Google Shape;1193;p86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2938139" y="1847437"/>
            <a:ext cx="2038621" cy="29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86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5552289" y="1847437"/>
            <a:ext cx="2038621" cy="29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86"/>
          <p:cNvPicPr preferRelativeResize="0"/>
          <p:nvPr/>
        </p:nvPicPr>
        <p:blipFill rotWithShape="1">
          <a:blip r:embed="rId3">
            <a:alphaModFix/>
          </a:blip>
          <a:srcRect b="2" l="-86" r="56826" t="71698"/>
          <a:stretch/>
        </p:blipFill>
        <p:spPr>
          <a:xfrm>
            <a:off x="2945234" y="3953656"/>
            <a:ext cx="2038600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86"/>
          <p:cNvPicPr preferRelativeResize="0"/>
          <p:nvPr/>
        </p:nvPicPr>
        <p:blipFill rotWithShape="1">
          <a:blip r:embed="rId3">
            <a:alphaModFix/>
          </a:blip>
          <a:srcRect b="2" l="-86" r="56826" t="71698"/>
          <a:stretch/>
        </p:blipFill>
        <p:spPr>
          <a:xfrm>
            <a:off x="2945234" y="2597131"/>
            <a:ext cx="2038600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86"/>
          <p:cNvSpPr/>
          <p:nvPr/>
        </p:nvSpPr>
        <p:spPr>
          <a:xfrm rot="-5400000">
            <a:off x="4564475" y="2960850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8" name="Google Shape;1198;p86"/>
          <p:cNvGrpSpPr/>
          <p:nvPr/>
        </p:nvGrpSpPr>
        <p:grpSpPr>
          <a:xfrm>
            <a:off x="3805658" y="1544426"/>
            <a:ext cx="303581" cy="303581"/>
            <a:chOff x="1020916" y="1442088"/>
            <a:chExt cx="457200" cy="457200"/>
          </a:xfrm>
        </p:grpSpPr>
        <p:pic>
          <p:nvPicPr>
            <p:cNvPr id="1199" name="Google Shape;1199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1" name="Google Shape;1201;p86"/>
          <p:cNvGrpSpPr/>
          <p:nvPr/>
        </p:nvGrpSpPr>
        <p:grpSpPr>
          <a:xfrm>
            <a:off x="6419808" y="1544426"/>
            <a:ext cx="303581" cy="303581"/>
            <a:chOff x="1020916" y="1442088"/>
            <a:chExt cx="457200" cy="457200"/>
          </a:xfrm>
        </p:grpSpPr>
        <p:pic>
          <p:nvPicPr>
            <p:cNvPr id="1202" name="Google Shape;1202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04" name="Google Shape;1204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996" y="14866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86"/>
          <p:cNvSpPr/>
          <p:nvPr/>
        </p:nvSpPr>
        <p:spPr>
          <a:xfrm flipH="1" rot="5400000">
            <a:off x="5765546" y="2960850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6" name="Google Shape;1206;p86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323989" y="1847437"/>
            <a:ext cx="2038621" cy="2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6"/>
          <p:cNvSpPr/>
          <p:nvPr/>
        </p:nvSpPr>
        <p:spPr>
          <a:xfrm rot="-5400000">
            <a:off x="-678200" y="2949325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6"/>
          <p:cNvSpPr/>
          <p:nvPr/>
        </p:nvSpPr>
        <p:spPr>
          <a:xfrm rot="-5400000">
            <a:off x="781325" y="2843550"/>
            <a:ext cx="2314200" cy="432000"/>
          </a:xfrm>
          <a:prstGeom prst="parallelogram">
            <a:avLst>
              <a:gd fmla="val 31325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9" name="Google Shape;1209;p86"/>
          <p:cNvGrpSpPr/>
          <p:nvPr/>
        </p:nvGrpSpPr>
        <p:grpSpPr>
          <a:xfrm>
            <a:off x="1191508" y="1544413"/>
            <a:ext cx="303581" cy="303581"/>
            <a:chOff x="1020916" y="1442088"/>
            <a:chExt cx="457200" cy="457200"/>
          </a:xfrm>
        </p:grpSpPr>
        <p:pic>
          <p:nvPicPr>
            <p:cNvPr id="1210" name="Google Shape;1210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7"/>
          <p:cNvSpPr txBox="1"/>
          <p:nvPr/>
        </p:nvSpPr>
        <p:spPr>
          <a:xfrm>
            <a:off x="324000" y="616949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These diagrams all show the same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218" name="Google Shape;1218;p87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323989" y="1847437"/>
            <a:ext cx="2038621" cy="2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87"/>
          <p:cNvSpPr txBox="1"/>
          <p:nvPr/>
        </p:nvSpPr>
        <p:spPr>
          <a:xfrm>
            <a:off x="2811975" y="1829550"/>
            <a:ext cx="6008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 polygons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 parallel to each other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 not congruent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Therefore, these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do not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help demonstrate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87"/>
          <p:cNvSpPr/>
          <p:nvPr/>
        </p:nvSpPr>
        <p:spPr>
          <a:xfrm rot="-5400000">
            <a:off x="-678200" y="2949325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7"/>
          <p:cNvSpPr/>
          <p:nvPr/>
        </p:nvSpPr>
        <p:spPr>
          <a:xfrm rot="-5400000">
            <a:off x="781325" y="2843550"/>
            <a:ext cx="2314200" cy="432000"/>
          </a:xfrm>
          <a:prstGeom prst="parallelogram">
            <a:avLst>
              <a:gd fmla="val 31325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2" name="Google Shape;1222;p87"/>
          <p:cNvGrpSpPr/>
          <p:nvPr/>
        </p:nvGrpSpPr>
        <p:grpSpPr>
          <a:xfrm>
            <a:off x="1191508" y="1544413"/>
            <a:ext cx="303581" cy="303581"/>
            <a:chOff x="1020916" y="1442088"/>
            <a:chExt cx="457200" cy="457200"/>
          </a:xfrm>
        </p:grpSpPr>
        <p:pic>
          <p:nvPicPr>
            <p:cNvPr id="1223" name="Google Shape;1223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8"/>
          <p:cNvSpPr txBox="1"/>
          <p:nvPr/>
        </p:nvSpPr>
        <p:spPr>
          <a:xfrm>
            <a:off x="324000" y="616949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These diagrams all show the same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231" name="Google Shape;1231;p88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323989" y="1847437"/>
            <a:ext cx="2038621" cy="29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88"/>
          <p:cNvPicPr preferRelativeResize="0"/>
          <p:nvPr/>
        </p:nvPicPr>
        <p:blipFill rotWithShape="1">
          <a:blip r:embed="rId3">
            <a:alphaModFix/>
          </a:blip>
          <a:srcRect b="2" l="-86" r="56826" t="71698"/>
          <a:stretch/>
        </p:blipFill>
        <p:spPr>
          <a:xfrm>
            <a:off x="331084" y="3953656"/>
            <a:ext cx="2038600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88"/>
          <p:cNvPicPr preferRelativeResize="0"/>
          <p:nvPr/>
        </p:nvPicPr>
        <p:blipFill rotWithShape="1">
          <a:blip r:embed="rId3">
            <a:alphaModFix/>
          </a:blip>
          <a:srcRect b="2" l="-86" r="56826" t="71698"/>
          <a:stretch/>
        </p:blipFill>
        <p:spPr>
          <a:xfrm>
            <a:off x="331084" y="2597131"/>
            <a:ext cx="2038600" cy="83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4" name="Google Shape;1234;p88"/>
          <p:cNvGrpSpPr/>
          <p:nvPr/>
        </p:nvGrpSpPr>
        <p:grpSpPr>
          <a:xfrm>
            <a:off x="1191508" y="1544426"/>
            <a:ext cx="303581" cy="303581"/>
            <a:chOff x="1020916" y="1442088"/>
            <a:chExt cx="457200" cy="457200"/>
          </a:xfrm>
        </p:grpSpPr>
        <p:pic>
          <p:nvPicPr>
            <p:cNvPr id="1235" name="Google Shape;1235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37" name="Google Shape;1237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5598" y="145891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88"/>
          <p:cNvSpPr txBox="1"/>
          <p:nvPr/>
        </p:nvSpPr>
        <p:spPr>
          <a:xfrm>
            <a:off x="2811975" y="1829550"/>
            <a:ext cx="6008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cross sections: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polygons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parallel to each other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congruent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Therefore, these cross sections help demonstrate this is a prism.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89"/>
          <p:cNvSpPr txBox="1"/>
          <p:nvPr/>
        </p:nvSpPr>
        <p:spPr>
          <a:xfrm>
            <a:off x="324000" y="616949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These diagrams all show the same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pic>
        <p:nvPicPr>
          <p:cNvPr id="1245" name="Google Shape;1245;p89"/>
          <p:cNvPicPr preferRelativeResize="0"/>
          <p:nvPr/>
        </p:nvPicPr>
        <p:blipFill rotWithShape="1">
          <a:blip r:embed="rId3">
            <a:alphaModFix/>
          </a:blip>
          <a:srcRect b="0" l="56739" r="0" t="0"/>
          <a:stretch/>
        </p:blipFill>
        <p:spPr>
          <a:xfrm>
            <a:off x="323989" y="1847437"/>
            <a:ext cx="2038621" cy="2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89"/>
          <p:cNvSpPr/>
          <p:nvPr/>
        </p:nvSpPr>
        <p:spPr>
          <a:xfrm rot="-5400000">
            <a:off x="-663825" y="2960850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7" name="Google Shape;1247;p89"/>
          <p:cNvGrpSpPr/>
          <p:nvPr/>
        </p:nvGrpSpPr>
        <p:grpSpPr>
          <a:xfrm>
            <a:off x="1191508" y="1544426"/>
            <a:ext cx="303581" cy="303581"/>
            <a:chOff x="1020916" y="1442088"/>
            <a:chExt cx="457200" cy="457200"/>
          </a:xfrm>
        </p:grpSpPr>
        <p:pic>
          <p:nvPicPr>
            <p:cNvPr id="1248" name="Google Shape;124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0" name="Google Shape;1250;p89"/>
          <p:cNvSpPr/>
          <p:nvPr/>
        </p:nvSpPr>
        <p:spPr>
          <a:xfrm flipH="1" rot="5400000">
            <a:off x="537246" y="2960850"/>
            <a:ext cx="2807700" cy="7107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9"/>
          <p:cNvSpPr txBox="1"/>
          <p:nvPr/>
        </p:nvSpPr>
        <p:spPr>
          <a:xfrm>
            <a:off x="2811975" y="1829550"/>
            <a:ext cx="6008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cross sections: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polygons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not parallel to each other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congruent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Therefore, these cross sections do not help demonstrate this is a prism.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prism</a:t>
            </a:r>
            <a:endParaRPr/>
          </a:p>
        </p:txBody>
      </p:sp>
      <p:sp>
        <p:nvSpPr>
          <p:cNvPr id="1257" name="Google Shape;1257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258" name="Google Shape;1258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</a:t>
            </a:r>
            <a:r>
              <a:rPr b="1" lang="en-GB"/>
              <a:t>prisms</a:t>
            </a:r>
            <a:endParaRPr b="1"/>
          </a:p>
        </p:txBody>
      </p:sp>
      <p:pic>
        <p:nvPicPr>
          <p:cNvPr id="1259" name="Google Shape;125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299467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91"/>
          <p:cNvPicPr preferRelativeResize="0"/>
          <p:nvPr/>
        </p:nvPicPr>
        <p:blipFill rotWithShape="1">
          <a:blip r:embed="rId3">
            <a:alphaModFix/>
          </a:blip>
          <a:srcRect b="0" l="45142" r="0" t="0"/>
          <a:stretch/>
        </p:blipFill>
        <p:spPr>
          <a:xfrm>
            <a:off x="5172651" y="1420050"/>
            <a:ext cx="2847300" cy="21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91"/>
          <p:cNvSpPr txBox="1"/>
          <p:nvPr/>
        </p:nvSpPr>
        <p:spPr>
          <a:xfrm>
            <a:off x="770100" y="1018175"/>
            <a:ext cx="804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take the face or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is uniform throughout the shape,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1"/>
          <p:cNvSpPr txBox="1"/>
          <p:nvPr/>
        </p:nvSpPr>
        <p:spPr>
          <a:xfrm>
            <a:off x="324000" y="700214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do we name the different types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cxnSp>
        <p:nvCxnSpPr>
          <p:cNvPr id="1268" name="Google Shape;1268;p91"/>
          <p:cNvCxnSpPr/>
          <p:nvPr/>
        </p:nvCxnSpPr>
        <p:spPr>
          <a:xfrm flipH="1" rot="10800000">
            <a:off x="3581975" y="2782525"/>
            <a:ext cx="2392200" cy="1381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69" name="Google Shape;1269;p91"/>
          <p:cNvPicPr preferRelativeResize="0"/>
          <p:nvPr/>
        </p:nvPicPr>
        <p:blipFill rotWithShape="1">
          <a:blip r:embed="rId3">
            <a:alphaModFix/>
          </a:blip>
          <a:srcRect b="0" l="-433" r="67355" t="56014"/>
          <a:stretch/>
        </p:blipFill>
        <p:spPr>
          <a:xfrm>
            <a:off x="2049120" y="3708094"/>
            <a:ext cx="1716850" cy="9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1"/>
          <p:cNvSpPr txBox="1"/>
          <p:nvPr/>
        </p:nvSpPr>
        <p:spPr>
          <a:xfrm>
            <a:off x="770100" y="1336125"/>
            <a:ext cx="804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nd look at its shape and properties.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1"/>
          <p:cNvSpPr txBox="1"/>
          <p:nvPr/>
        </p:nvSpPr>
        <p:spPr>
          <a:xfrm>
            <a:off x="4866950" y="3450700"/>
            <a:ext cx="33423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we can call this a: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uadrilateral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or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rapezium-based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 </a:t>
            </a:r>
            <a:endParaRPr b="1" sz="18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1"/>
          <p:cNvSpPr txBox="1"/>
          <p:nvPr/>
        </p:nvSpPr>
        <p:spPr>
          <a:xfrm>
            <a:off x="2049100" y="2471500"/>
            <a:ext cx="17169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quadrilateral.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Specifically, it is a trapezium.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2"/>
          <p:cNvSpPr txBox="1"/>
          <p:nvPr/>
        </p:nvSpPr>
        <p:spPr>
          <a:xfrm>
            <a:off x="324000" y="652275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name of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also usually specifies whether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polygon is regular or not.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the case of quadrilaterals, we have: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pic>
        <p:nvPicPr>
          <p:cNvPr id="1279" name="Google Shape;1279;p92"/>
          <p:cNvPicPr preferRelativeResize="0"/>
          <p:nvPr/>
        </p:nvPicPr>
        <p:blipFill rotWithShape="1">
          <a:blip r:embed="rId3">
            <a:alphaModFix/>
          </a:blip>
          <a:srcRect b="61382" l="14704" r="56331" t="0"/>
          <a:stretch/>
        </p:blipFill>
        <p:spPr>
          <a:xfrm>
            <a:off x="324000" y="1889271"/>
            <a:ext cx="1808521" cy="163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92"/>
          <p:cNvPicPr preferRelativeResize="0"/>
          <p:nvPr/>
        </p:nvPicPr>
        <p:blipFill rotWithShape="1">
          <a:blip r:embed="rId3">
            <a:alphaModFix/>
          </a:blip>
          <a:srcRect b="29859" l="33463" r="32850" t="31523"/>
          <a:stretch/>
        </p:blipFill>
        <p:spPr>
          <a:xfrm>
            <a:off x="3045379" y="1889271"/>
            <a:ext cx="2103387" cy="163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92"/>
          <p:cNvPicPr preferRelativeResize="0"/>
          <p:nvPr/>
        </p:nvPicPr>
        <p:blipFill rotWithShape="1">
          <a:blip r:embed="rId3">
            <a:alphaModFix/>
          </a:blip>
          <a:srcRect b="2566" l="63732" r="205" t="56690"/>
          <a:stretch/>
        </p:blipFill>
        <p:spPr>
          <a:xfrm>
            <a:off x="6061624" y="1799250"/>
            <a:ext cx="2251792" cy="172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92"/>
          <p:cNvPicPr preferRelativeResize="0"/>
          <p:nvPr/>
        </p:nvPicPr>
        <p:blipFill rotWithShape="1">
          <a:blip r:embed="rId3">
            <a:alphaModFix/>
          </a:blip>
          <a:srcRect b="64363" l="631" r="88637" t="19835"/>
          <a:stretch/>
        </p:blipFill>
        <p:spPr>
          <a:xfrm>
            <a:off x="324000" y="3525222"/>
            <a:ext cx="670099" cy="66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92"/>
          <p:cNvPicPr preferRelativeResize="0"/>
          <p:nvPr/>
        </p:nvPicPr>
        <p:blipFill rotWithShape="1">
          <a:blip r:embed="rId3">
            <a:alphaModFix/>
          </a:blip>
          <a:srcRect b="31926" l="15755" r="66831" t="56233"/>
          <a:stretch/>
        </p:blipFill>
        <p:spPr>
          <a:xfrm>
            <a:off x="3045379" y="3693007"/>
            <a:ext cx="1087297" cy="501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92"/>
          <p:cNvPicPr preferRelativeResize="0"/>
          <p:nvPr/>
        </p:nvPicPr>
        <p:blipFill rotWithShape="1">
          <a:blip r:embed="rId3">
            <a:alphaModFix/>
          </a:blip>
          <a:srcRect b="-36" l="41147" r="38997" t="88196"/>
          <a:stretch/>
        </p:blipFill>
        <p:spPr>
          <a:xfrm>
            <a:off x="6061624" y="3693007"/>
            <a:ext cx="1239774" cy="501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2"/>
          <p:cNvSpPr txBox="1"/>
          <p:nvPr/>
        </p:nvSpPr>
        <p:spPr>
          <a:xfrm>
            <a:off x="324061" y="4194600"/>
            <a:ext cx="180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quare-based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2"/>
          <p:cNvSpPr txBox="1"/>
          <p:nvPr/>
        </p:nvSpPr>
        <p:spPr>
          <a:xfrm>
            <a:off x="3101650" y="4132190"/>
            <a:ext cx="14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rectangular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2"/>
          <p:cNvSpPr txBox="1"/>
          <p:nvPr/>
        </p:nvSpPr>
        <p:spPr>
          <a:xfrm>
            <a:off x="6079200" y="4194600"/>
            <a:ext cx="259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parallelogram-based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93"/>
          <p:cNvSpPr txBox="1"/>
          <p:nvPr/>
        </p:nvSpPr>
        <p:spPr>
          <a:xfrm>
            <a:off x="324000" y="652275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name of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also usually specifies whether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polygon is regular or not.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other polygons, we have examples, such as: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pic>
        <p:nvPicPr>
          <p:cNvPr id="1294" name="Google Shape;1294;p93"/>
          <p:cNvPicPr preferRelativeResize="0"/>
          <p:nvPr/>
        </p:nvPicPr>
        <p:blipFill rotWithShape="1">
          <a:blip r:embed="rId3">
            <a:alphaModFix/>
          </a:blip>
          <a:srcRect b="45301" l="0" r="61519" t="0"/>
          <a:stretch/>
        </p:blipFill>
        <p:spPr>
          <a:xfrm>
            <a:off x="324000" y="1807850"/>
            <a:ext cx="2049924" cy="1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93"/>
          <p:cNvSpPr txBox="1"/>
          <p:nvPr/>
        </p:nvSpPr>
        <p:spPr>
          <a:xfrm>
            <a:off x="324048" y="3601125"/>
            <a:ext cx="204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regular hexagonal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3"/>
          <p:cNvSpPr txBox="1"/>
          <p:nvPr/>
        </p:nvSpPr>
        <p:spPr>
          <a:xfrm>
            <a:off x="5291387" y="3601125"/>
            <a:ext cx="193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hexagonal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7" name="Google Shape;1297;p93"/>
          <p:cNvPicPr preferRelativeResize="0"/>
          <p:nvPr/>
        </p:nvPicPr>
        <p:blipFill rotWithShape="1">
          <a:blip r:embed="rId3">
            <a:alphaModFix/>
          </a:blip>
          <a:srcRect b="13308" l="0" r="83147" t="59342"/>
          <a:stretch/>
        </p:blipFill>
        <p:spPr>
          <a:xfrm>
            <a:off x="2438325" y="3601125"/>
            <a:ext cx="897748" cy="79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93"/>
          <p:cNvPicPr preferRelativeResize="0"/>
          <p:nvPr/>
        </p:nvPicPr>
        <p:blipFill rotWithShape="1">
          <a:blip r:embed="rId3">
            <a:alphaModFix/>
          </a:blip>
          <a:srcRect b="37477" l="49585" r="6051" t="1393"/>
          <a:stretch/>
        </p:blipFill>
        <p:spPr>
          <a:xfrm>
            <a:off x="5231823" y="1807250"/>
            <a:ext cx="2363324" cy="178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93"/>
          <p:cNvPicPr preferRelativeResize="0"/>
          <p:nvPr/>
        </p:nvPicPr>
        <p:blipFill rotWithShape="1">
          <a:blip r:embed="rId3">
            <a:alphaModFix/>
          </a:blip>
          <a:srcRect b="-1674" l="70962" r="10336" t="66045"/>
          <a:stretch/>
        </p:blipFill>
        <p:spPr>
          <a:xfrm>
            <a:off x="6521230" y="3601125"/>
            <a:ext cx="996249" cy="10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305" name="Google Shape;1305;p94"/>
          <p:cNvSpPr txBox="1"/>
          <p:nvPr/>
        </p:nvSpPr>
        <p:spPr>
          <a:xfrm>
            <a:off x="324000" y="652275"/>
            <a:ext cx="339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Match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its name.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6" name="Google Shape;1306;p94"/>
          <p:cNvPicPr preferRelativeResize="0"/>
          <p:nvPr/>
        </p:nvPicPr>
        <p:blipFill rotWithShape="1">
          <a:blip r:embed="rId3">
            <a:alphaModFix/>
          </a:blip>
          <a:srcRect b="24653" l="1506" r="81433" t="0"/>
          <a:stretch/>
        </p:blipFill>
        <p:spPr>
          <a:xfrm>
            <a:off x="324000" y="2859575"/>
            <a:ext cx="2091300" cy="15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94"/>
          <p:cNvPicPr preferRelativeResize="0"/>
          <p:nvPr/>
        </p:nvPicPr>
        <p:blipFill rotWithShape="1">
          <a:blip r:embed="rId3">
            <a:alphaModFix/>
          </a:blip>
          <a:srcRect b="19715" l="19166" r="65840" t="15726"/>
          <a:stretch/>
        </p:blipFill>
        <p:spPr>
          <a:xfrm>
            <a:off x="2600000" y="1243475"/>
            <a:ext cx="1837972" cy="136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94"/>
          <p:cNvPicPr preferRelativeResize="0"/>
          <p:nvPr/>
        </p:nvPicPr>
        <p:blipFill rotWithShape="1">
          <a:blip r:embed="rId3">
            <a:alphaModFix/>
          </a:blip>
          <a:srcRect b="2343" l="34153" r="45386" t="22065"/>
          <a:stretch/>
        </p:blipFill>
        <p:spPr>
          <a:xfrm>
            <a:off x="324000" y="1080000"/>
            <a:ext cx="2508175" cy="15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94"/>
          <p:cNvPicPr preferRelativeResize="0"/>
          <p:nvPr/>
        </p:nvPicPr>
        <p:blipFill rotWithShape="1">
          <a:blip r:embed="rId3">
            <a:alphaModFix/>
          </a:blip>
          <a:srcRect b="22279" l="55185" r="24137" t="14855"/>
          <a:stretch/>
        </p:blipFill>
        <p:spPr>
          <a:xfrm>
            <a:off x="2415300" y="3237475"/>
            <a:ext cx="2534651" cy="13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94"/>
          <p:cNvPicPr preferRelativeResize="0"/>
          <p:nvPr/>
        </p:nvPicPr>
        <p:blipFill rotWithShape="1">
          <a:blip r:embed="rId3">
            <a:alphaModFix/>
          </a:blip>
          <a:srcRect b="8237" l="76470" r="10691" t="39263"/>
          <a:stretch/>
        </p:blipFill>
        <p:spPr>
          <a:xfrm>
            <a:off x="4056975" y="1581675"/>
            <a:ext cx="1573775" cy="110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94"/>
          <p:cNvGrpSpPr/>
          <p:nvPr/>
        </p:nvGrpSpPr>
        <p:grpSpPr>
          <a:xfrm>
            <a:off x="6066533" y="858213"/>
            <a:ext cx="303581" cy="303581"/>
            <a:chOff x="1020916" y="1442088"/>
            <a:chExt cx="457200" cy="457200"/>
          </a:xfrm>
        </p:grpSpPr>
        <p:pic>
          <p:nvPicPr>
            <p:cNvPr id="1312" name="Google Shape;13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94"/>
          <p:cNvGrpSpPr/>
          <p:nvPr/>
        </p:nvGrpSpPr>
        <p:grpSpPr>
          <a:xfrm>
            <a:off x="324008" y="2548201"/>
            <a:ext cx="303581" cy="303581"/>
            <a:chOff x="1020916" y="1442088"/>
            <a:chExt cx="457200" cy="457200"/>
          </a:xfrm>
        </p:grpSpPr>
        <p:pic>
          <p:nvPicPr>
            <p:cNvPr id="1315" name="Google Shape;1315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94"/>
          <p:cNvGrpSpPr/>
          <p:nvPr/>
        </p:nvGrpSpPr>
        <p:grpSpPr>
          <a:xfrm>
            <a:off x="2514453" y="2491671"/>
            <a:ext cx="303581" cy="303581"/>
            <a:chOff x="1020916" y="1442088"/>
            <a:chExt cx="457200" cy="457200"/>
          </a:xfrm>
        </p:grpSpPr>
        <p:pic>
          <p:nvPicPr>
            <p:cNvPr id="1318" name="Google Shape;131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94"/>
          <p:cNvGrpSpPr/>
          <p:nvPr/>
        </p:nvGrpSpPr>
        <p:grpSpPr>
          <a:xfrm>
            <a:off x="3969878" y="2607496"/>
            <a:ext cx="303581" cy="303581"/>
            <a:chOff x="1020916" y="1442088"/>
            <a:chExt cx="457200" cy="457200"/>
          </a:xfrm>
        </p:grpSpPr>
        <p:pic>
          <p:nvPicPr>
            <p:cNvPr id="1321" name="Google Shape;132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94"/>
          <p:cNvGrpSpPr/>
          <p:nvPr/>
        </p:nvGrpSpPr>
        <p:grpSpPr>
          <a:xfrm>
            <a:off x="2514453" y="4319996"/>
            <a:ext cx="303581" cy="303581"/>
            <a:chOff x="1020916" y="1442088"/>
            <a:chExt cx="457200" cy="457200"/>
          </a:xfrm>
        </p:grpSpPr>
        <p:pic>
          <p:nvPicPr>
            <p:cNvPr id="1324" name="Google Shape;132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94"/>
          <p:cNvGrpSpPr/>
          <p:nvPr/>
        </p:nvGrpSpPr>
        <p:grpSpPr>
          <a:xfrm>
            <a:off x="627603" y="4451546"/>
            <a:ext cx="303581" cy="303581"/>
            <a:chOff x="1020916" y="1442088"/>
            <a:chExt cx="457200" cy="457200"/>
          </a:xfrm>
        </p:grpSpPr>
        <p:pic>
          <p:nvPicPr>
            <p:cNvPr id="1327" name="Google Shape;132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9" name="Google Shape;1329;p94"/>
          <p:cNvSpPr txBox="1"/>
          <p:nvPr/>
        </p:nvSpPr>
        <p:spPr>
          <a:xfrm>
            <a:off x="6391321" y="871425"/>
            <a:ext cx="21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egular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heptagonal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0" name="Google Shape;1330;p94"/>
          <p:cNvGrpSpPr/>
          <p:nvPr/>
        </p:nvGrpSpPr>
        <p:grpSpPr>
          <a:xfrm>
            <a:off x="6066533" y="1657863"/>
            <a:ext cx="303581" cy="303581"/>
            <a:chOff x="1020916" y="1442088"/>
            <a:chExt cx="457200" cy="457200"/>
          </a:xfrm>
        </p:grpSpPr>
        <p:pic>
          <p:nvPicPr>
            <p:cNvPr id="1331" name="Google Shape;133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3" name="Google Shape;1333;p94"/>
          <p:cNvSpPr txBox="1"/>
          <p:nvPr/>
        </p:nvSpPr>
        <p:spPr>
          <a:xfrm>
            <a:off x="6391321" y="1671075"/>
            <a:ext cx="213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entagonal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4" name="Google Shape;1334;p94"/>
          <p:cNvGrpSpPr/>
          <p:nvPr/>
        </p:nvGrpSpPr>
        <p:grpSpPr>
          <a:xfrm>
            <a:off x="6066533" y="2498588"/>
            <a:ext cx="303581" cy="303581"/>
            <a:chOff x="1020916" y="1442088"/>
            <a:chExt cx="457200" cy="457200"/>
          </a:xfrm>
        </p:grpSpPr>
        <p:pic>
          <p:nvPicPr>
            <p:cNvPr id="1335" name="Google Shape;1335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7" name="Google Shape;1337;p94"/>
          <p:cNvSpPr txBox="1"/>
          <p:nvPr/>
        </p:nvSpPr>
        <p:spPr>
          <a:xfrm>
            <a:off x="6391321" y="2511800"/>
            <a:ext cx="213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rapezium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8" name="Google Shape;1338;p94"/>
          <p:cNvGrpSpPr/>
          <p:nvPr/>
        </p:nvGrpSpPr>
        <p:grpSpPr>
          <a:xfrm>
            <a:off x="6066533" y="3352488"/>
            <a:ext cx="303581" cy="303581"/>
            <a:chOff x="1020916" y="1442088"/>
            <a:chExt cx="457200" cy="457200"/>
          </a:xfrm>
        </p:grpSpPr>
        <p:pic>
          <p:nvPicPr>
            <p:cNvPr id="1339" name="Google Shape;133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0" name="Google Shape;134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1" name="Google Shape;1341;p94"/>
          <p:cNvSpPr txBox="1"/>
          <p:nvPr/>
        </p:nvSpPr>
        <p:spPr>
          <a:xfrm>
            <a:off x="6391321" y="3365700"/>
            <a:ext cx="21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regular pentagonal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2" name="Google Shape;1342;p94"/>
          <p:cNvGrpSpPr/>
          <p:nvPr/>
        </p:nvGrpSpPr>
        <p:grpSpPr>
          <a:xfrm>
            <a:off x="6066533" y="4241513"/>
            <a:ext cx="303581" cy="303581"/>
            <a:chOff x="1020916" y="1442088"/>
            <a:chExt cx="457200" cy="457200"/>
          </a:xfrm>
        </p:grpSpPr>
        <p:pic>
          <p:nvPicPr>
            <p:cNvPr id="1343" name="Google Shape;134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5" name="Google Shape;1345;p94"/>
          <p:cNvSpPr txBox="1"/>
          <p:nvPr/>
        </p:nvSpPr>
        <p:spPr>
          <a:xfrm>
            <a:off x="6391321" y="4254725"/>
            <a:ext cx="21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quilateral triangle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351" name="Google Shape;1351;p95"/>
          <p:cNvSpPr txBox="1"/>
          <p:nvPr/>
        </p:nvSpPr>
        <p:spPr>
          <a:xfrm>
            <a:off x="324000" y="652275"/>
            <a:ext cx="339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Match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its name.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2" name="Google Shape;1352;p95"/>
          <p:cNvPicPr preferRelativeResize="0"/>
          <p:nvPr/>
        </p:nvPicPr>
        <p:blipFill rotWithShape="1">
          <a:blip r:embed="rId3">
            <a:alphaModFix/>
          </a:blip>
          <a:srcRect b="24653" l="1506" r="81433" t="0"/>
          <a:stretch/>
        </p:blipFill>
        <p:spPr>
          <a:xfrm>
            <a:off x="324000" y="2859575"/>
            <a:ext cx="2091300" cy="15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5"/>
          <p:cNvPicPr preferRelativeResize="0"/>
          <p:nvPr/>
        </p:nvPicPr>
        <p:blipFill rotWithShape="1">
          <a:blip r:embed="rId3">
            <a:alphaModFix/>
          </a:blip>
          <a:srcRect b="19715" l="19166" r="65840" t="15726"/>
          <a:stretch/>
        </p:blipFill>
        <p:spPr>
          <a:xfrm>
            <a:off x="2600000" y="1243475"/>
            <a:ext cx="1837972" cy="136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95"/>
          <p:cNvPicPr preferRelativeResize="0"/>
          <p:nvPr/>
        </p:nvPicPr>
        <p:blipFill rotWithShape="1">
          <a:blip r:embed="rId3">
            <a:alphaModFix/>
          </a:blip>
          <a:srcRect b="2343" l="34153" r="45386" t="22065"/>
          <a:stretch/>
        </p:blipFill>
        <p:spPr>
          <a:xfrm>
            <a:off x="324000" y="1080000"/>
            <a:ext cx="2508175" cy="15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95"/>
          <p:cNvPicPr preferRelativeResize="0"/>
          <p:nvPr/>
        </p:nvPicPr>
        <p:blipFill rotWithShape="1">
          <a:blip r:embed="rId3">
            <a:alphaModFix/>
          </a:blip>
          <a:srcRect b="22279" l="55185" r="24137" t="14855"/>
          <a:stretch/>
        </p:blipFill>
        <p:spPr>
          <a:xfrm>
            <a:off x="2415300" y="3237475"/>
            <a:ext cx="2534651" cy="13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95"/>
          <p:cNvPicPr preferRelativeResize="0"/>
          <p:nvPr/>
        </p:nvPicPr>
        <p:blipFill rotWithShape="1">
          <a:blip r:embed="rId3">
            <a:alphaModFix/>
          </a:blip>
          <a:srcRect b="8237" l="76470" r="10691" t="39263"/>
          <a:stretch/>
        </p:blipFill>
        <p:spPr>
          <a:xfrm>
            <a:off x="4056975" y="1581675"/>
            <a:ext cx="1573775" cy="110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7" name="Google Shape;1357;p95"/>
          <p:cNvGrpSpPr/>
          <p:nvPr/>
        </p:nvGrpSpPr>
        <p:grpSpPr>
          <a:xfrm>
            <a:off x="6066533" y="858213"/>
            <a:ext cx="303581" cy="303581"/>
            <a:chOff x="1020916" y="1442088"/>
            <a:chExt cx="457200" cy="457200"/>
          </a:xfrm>
        </p:grpSpPr>
        <p:pic>
          <p:nvPicPr>
            <p:cNvPr id="1358" name="Google Shape;135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9" name="Google Shape;135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0" name="Google Shape;1360;p95"/>
          <p:cNvGrpSpPr/>
          <p:nvPr/>
        </p:nvGrpSpPr>
        <p:grpSpPr>
          <a:xfrm>
            <a:off x="6066533" y="3656076"/>
            <a:ext cx="303581" cy="303581"/>
            <a:chOff x="1020916" y="1442088"/>
            <a:chExt cx="457200" cy="457200"/>
          </a:xfrm>
        </p:grpSpPr>
        <p:pic>
          <p:nvPicPr>
            <p:cNvPr id="1361" name="Google Shape;136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95"/>
          <p:cNvGrpSpPr/>
          <p:nvPr/>
        </p:nvGrpSpPr>
        <p:grpSpPr>
          <a:xfrm>
            <a:off x="6066540" y="1948271"/>
            <a:ext cx="303581" cy="303581"/>
            <a:chOff x="1020916" y="1442088"/>
            <a:chExt cx="457200" cy="457200"/>
          </a:xfrm>
        </p:grpSpPr>
        <p:pic>
          <p:nvPicPr>
            <p:cNvPr id="1364" name="Google Shape;136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95"/>
          <p:cNvGrpSpPr/>
          <p:nvPr/>
        </p:nvGrpSpPr>
        <p:grpSpPr>
          <a:xfrm>
            <a:off x="6066540" y="4545096"/>
            <a:ext cx="303581" cy="303581"/>
            <a:chOff x="1020916" y="1442088"/>
            <a:chExt cx="457200" cy="457200"/>
          </a:xfrm>
        </p:grpSpPr>
        <p:pic>
          <p:nvPicPr>
            <p:cNvPr id="1367" name="Google Shape;136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9" name="Google Shape;1369;p95"/>
          <p:cNvGrpSpPr/>
          <p:nvPr/>
        </p:nvGrpSpPr>
        <p:grpSpPr>
          <a:xfrm>
            <a:off x="6066540" y="2802171"/>
            <a:ext cx="303581" cy="303581"/>
            <a:chOff x="1020916" y="1442088"/>
            <a:chExt cx="457200" cy="457200"/>
          </a:xfrm>
        </p:grpSpPr>
        <p:pic>
          <p:nvPicPr>
            <p:cNvPr id="1370" name="Google Shape;1370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1" name="Google Shape;1371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2" name="Google Shape;1372;p95"/>
          <p:cNvGrpSpPr/>
          <p:nvPr/>
        </p:nvGrpSpPr>
        <p:grpSpPr>
          <a:xfrm>
            <a:off x="6066540" y="1161796"/>
            <a:ext cx="303581" cy="303581"/>
            <a:chOff x="1020916" y="1442088"/>
            <a:chExt cx="457200" cy="457200"/>
          </a:xfrm>
        </p:grpSpPr>
        <p:pic>
          <p:nvPicPr>
            <p:cNvPr id="1373" name="Google Shape;137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4" name="Google Shape;137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5" name="Google Shape;1375;p95"/>
          <p:cNvSpPr txBox="1"/>
          <p:nvPr/>
        </p:nvSpPr>
        <p:spPr>
          <a:xfrm>
            <a:off x="6391321" y="871425"/>
            <a:ext cx="21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regular heptagonal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6" name="Google Shape;1376;p95"/>
          <p:cNvGrpSpPr/>
          <p:nvPr/>
        </p:nvGrpSpPr>
        <p:grpSpPr>
          <a:xfrm>
            <a:off x="6066533" y="1657863"/>
            <a:ext cx="303581" cy="303581"/>
            <a:chOff x="1020916" y="1442088"/>
            <a:chExt cx="457200" cy="457200"/>
          </a:xfrm>
        </p:grpSpPr>
        <p:pic>
          <p:nvPicPr>
            <p:cNvPr id="1377" name="Google Shape;137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8" name="Google Shape;137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9" name="Google Shape;1379;p95"/>
          <p:cNvSpPr txBox="1"/>
          <p:nvPr/>
        </p:nvSpPr>
        <p:spPr>
          <a:xfrm>
            <a:off x="6391321" y="1671075"/>
            <a:ext cx="213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pentagonal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0" name="Google Shape;1380;p95"/>
          <p:cNvGrpSpPr/>
          <p:nvPr/>
        </p:nvGrpSpPr>
        <p:grpSpPr>
          <a:xfrm>
            <a:off x="6066533" y="2498588"/>
            <a:ext cx="303581" cy="303581"/>
            <a:chOff x="1020916" y="1442088"/>
            <a:chExt cx="457200" cy="457200"/>
          </a:xfrm>
        </p:grpSpPr>
        <p:pic>
          <p:nvPicPr>
            <p:cNvPr id="1381" name="Google Shape;138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3" name="Google Shape;1383;p95"/>
          <p:cNvSpPr txBox="1"/>
          <p:nvPr/>
        </p:nvSpPr>
        <p:spPr>
          <a:xfrm>
            <a:off x="6391321" y="2511800"/>
            <a:ext cx="213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trapezium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4" name="Google Shape;1384;p95"/>
          <p:cNvGrpSpPr/>
          <p:nvPr/>
        </p:nvGrpSpPr>
        <p:grpSpPr>
          <a:xfrm>
            <a:off x="6066533" y="3352488"/>
            <a:ext cx="303581" cy="303581"/>
            <a:chOff x="1020916" y="1442088"/>
            <a:chExt cx="457200" cy="457200"/>
          </a:xfrm>
        </p:grpSpPr>
        <p:pic>
          <p:nvPicPr>
            <p:cNvPr id="1385" name="Google Shape;138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6" name="Google Shape;138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7" name="Google Shape;1387;p95"/>
          <p:cNvSpPr txBox="1"/>
          <p:nvPr/>
        </p:nvSpPr>
        <p:spPr>
          <a:xfrm>
            <a:off x="6391321" y="3365700"/>
            <a:ext cx="21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regular pentagonal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8" name="Google Shape;1388;p95"/>
          <p:cNvGrpSpPr/>
          <p:nvPr/>
        </p:nvGrpSpPr>
        <p:grpSpPr>
          <a:xfrm>
            <a:off x="6066533" y="4241513"/>
            <a:ext cx="303581" cy="303581"/>
            <a:chOff x="1020916" y="1442088"/>
            <a:chExt cx="457200" cy="457200"/>
          </a:xfrm>
        </p:grpSpPr>
        <p:pic>
          <p:nvPicPr>
            <p:cNvPr id="1389" name="Google Shape;13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1" name="Google Shape;1391;p95"/>
          <p:cNvSpPr txBox="1"/>
          <p:nvPr/>
        </p:nvSpPr>
        <p:spPr>
          <a:xfrm>
            <a:off x="6391321" y="4254725"/>
            <a:ext cx="21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equilateral triangle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2" name="Google Shape;1392;p95"/>
          <p:cNvGrpSpPr/>
          <p:nvPr/>
        </p:nvGrpSpPr>
        <p:grpSpPr>
          <a:xfrm>
            <a:off x="627603" y="4451546"/>
            <a:ext cx="303581" cy="303581"/>
            <a:chOff x="1020916" y="1442088"/>
            <a:chExt cx="457200" cy="457200"/>
          </a:xfrm>
        </p:grpSpPr>
        <p:pic>
          <p:nvPicPr>
            <p:cNvPr id="1393" name="Google Shape;139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5" name="Google Shape;1395;p95"/>
          <p:cNvGrpSpPr/>
          <p:nvPr/>
        </p:nvGrpSpPr>
        <p:grpSpPr>
          <a:xfrm>
            <a:off x="324008" y="2548201"/>
            <a:ext cx="303581" cy="303581"/>
            <a:chOff x="1020916" y="1442088"/>
            <a:chExt cx="457200" cy="457200"/>
          </a:xfrm>
        </p:grpSpPr>
        <p:pic>
          <p:nvPicPr>
            <p:cNvPr id="1396" name="Google Shape;139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7" name="Google Shape;139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8" name="Google Shape;1398;p95"/>
          <p:cNvGrpSpPr/>
          <p:nvPr/>
        </p:nvGrpSpPr>
        <p:grpSpPr>
          <a:xfrm>
            <a:off x="2514453" y="2491671"/>
            <a:ext cx="303581" cy="303581"/>
            <a:chOff x="1020916" y="1442088"/>
            <a:chExt cx="457200" cy="457200"/>
          </a:xfrm>
        </p:grpSpPr>
        <p:pic>
          <p:nvPicPr>
            <p:cNvPr id="1399" name="Google Shape;139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1" name="Google Shape;1401;p95"/>
          <p:cNvGrpSpPr/>
          <p:nvPr/>
        </p:nvGrpSpPr>
        <p:grpSpPr>
          <a:xfrm>
            <a:off x="2514453" y="4319996"/>
            <a:ext cx="303581" cy="303581"/>
            <a:chOff x="1020916" y="1442088"/>
            <a:chExt cx="457200" cy="457200"/>
          </a:xfrm>
        </p:grpSpPr>
        <p:pic>
          <p:nvPicPr>
            <p:cNvPr id="1402" name="Google Shape;140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4" name="Google Shape;1404;p95"/>
          <p:cNvGrpSpPr/>
          <p:nvPr/>
        </p:nvGrpSpPr>
        <p:grpSpPr>
          <a:xfrm>
            <a:off x="3969878" y="2607496"/>
            <a:ext cx="303581" cy="303581"/>
            <a:chOff x="1020916" y="1442088"/>
            <a:chExt cx="457200" cy="457200"/>
          </a:xfrm>
        </p:grpSpPr>
        <p:pic>
          <p:nvPicPr>
            <p:cNvPr id="1405" name="Google Shape;140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96"/>
          <p:cNvSpPr txBox="1"/>
          <p:nvPr/>
        </p:nvSpPr>
        <p:spPr>
          <a:xfrm>
            <a:off x="324050" y="3677325"/>
            <a:ext cx="22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I-beam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6"/>
          <p:cNvSpPr txBox="1"/>
          <p:nvPr/>
        </p:nvSpPr>
        <p:spPr>
          <a:xfrm>
            <a:off x="324000" y="652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 used in many different contexts, including construction.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are some common examples.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414" name="Google Shape;1414;p96"/>
          <p:cNvSpPr txBox="1"/>
          <p:nvPr/>
        </p:nvSpPr>
        <p:spPr>
          <a:xfrm>
            <a:off x="4952252" y="3502800"/>
            <a:ext cx="157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L-frame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96"/>
          <p:cNvPicPr preferRelativeResize="0"/>
          <p:nvPr/>
        </p:nvPicPr>
        <p:blipFill rotWithShape="1">
          <a:blip r:embed="rId3">
            <a:alphaModFix/>
          </a:blip>
          <a:srcRect b="38878" l="1199" r="45031" t="5997"/>
          <a:stretch/>
        </p:blipFill>
        <p:spPr>
          <a:xfrm>
            <a:off x="324000" y="1441300"/>
            <a:ext cx="2260874" cy="215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96"/>
          <p:cNvPicPr preferRelativeResize="0"/>
          <p:nvPr/>
        </p:nvPicPr>
        <p:blipFill rotWithShape="1">
          <a:blip r:embed="rId3">
            <a:alphaModFix/>
          </a:blip>
          <a:srcRect b="1069" l="60871" r="1620" t="48259"/>
          <a:stretch/>
        </p:blipFill>
        <p:spPr>
          <a:xfrm>
            <a:off x="4985838" y="1441300"/>
            <a:ext cx="1577124" cy="1985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96"/>
          <p:cNvSpPr txBox="1"/>
          <p:nvPr/>
        </p:nvSpPr>
        <p:spPr>
          <a:xfrm>
            <a:off x="324000" y="41990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a construction setting, I-beam and L-frame would be their preferred name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97"/>
          <p:cNvSpPr txBox="1"/>
          <p:nvPr/>
        </p:nvSpPr>
        <p:spPr>
          <a:xfrm>
            <a:off x="324000" y="652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they can also still be described using their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424" name="Google Shape;1424;p97"/>
          <p:cNvSpPr txBox="1"/>
          <p:nvPr/>
        </p:nvSpPr>
        <p:spPr>
          <a:xfrm>
            <a:off x="324050" y="4439325"/>
            <a:ext cx="22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I-beam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7"/>
          <p:cNvSpPr txBox="1"/>
          <p:nvPr/>
        </p:nvSpPr>
        <p:spPr>
          <a:xfrm>
            <a:off x="4952252" y="4417200"/>
            <a:ext cx="157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L-frame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6" name="Google Shape;1426;p97"/>
          <p:cNvPicPr preferRelativeResize="0"/>
          <p:nvPr/>
        </p:nvPicPr>
        <p:blipFill rotWithShape="1">
          <a:blip r:embed="rId3">
            <a:alphaModFix/>
          </a:blip>
          <a:srcRect b="38878" l="1199" r="45031" t="5997"/>
          <a:stretch/>
        </p:blipFill>
        <p:spPr>
          <a:xfrm>
            <a:off x="324000" y="2203300"/>
            <a:ext cx="2260874" cy="215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97"/>
          <p:cNvPicPr preferRelativeResize="0"/>
          <p:nvPr/>
        </p:nvPicPr>
        <p:blipFill rotWithShape="1">
          <a:blip r:embed="rId3">
            <a:alphaModFix/>
          </a:blip>
          <a:srcRect b="1069" l="60871" r="1620" t="48259"/>
          <a:stretch/>
        </p:blipFill>
        <p:spPr>
          <a:xfrm>
            <a:off x="4985838" y="2355700"/>
            <a:ext cx="1577124" cy="1985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97"/>
          <p:cNvSpPr txBox="1"/>
          <p:nvPr/>
        </p:nvSpPr>
        <p:spPr>
          <a:xfrm>
            <a:off x="324000" y="119685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number of sides of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tricky to see in a 3D view, you can always sketch the 2D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first and count the number of sides.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9" name="Google Shape;1429;p97"/>
          <p:cNvPicPr preferRelativeResize="0"/>
          <p:nvPr/>
        </p:nvPicPr>
        <p:blipFill rotWithShape="1">
          <a:blip r:embed="rId4">
            <a:alphaModFix/>
          </a:blip>
          <a:srcRect b="61716" l="0" r="0" t="0"/>
          <a:stretch/>
        </p:blipFill>
        <p:spPr>
          <a:xfrm>
            <a:off x="2627266" y="2119575"/>
            <a:ext cx="1678000" cy="13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97"/>
          <p:cNvPicPr preferRelativeResize="0"/>
          <p:nvPr/>
        </p:nvPicPr>
        <p:blipFill rotWithShape="1">
          <a:blip r:embed="rId4">
            <a:alphaModFix/>
          </a:blip>
          <a:srcRect b="-310" l="0" r="0" t="54640"/>
          <a:stretch/>
        </p:blipFill>
        <p:spPr>
          <a:xfrm>
            <a:off x="6668600" y="2119575"/>
            <a:ext cx="1678000" cy="166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97"/>
          <p:cNvSpPr txBox="1"/>
          <p:nvPr/>
        </p:nvSpPr>
        <p:spPr>
          <a:xfrm>
            <a:off x="2691450" y="3587625"/>
            <a:ext cx="16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dodecagon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97"/>
          <p:cNvSpPr txBox="1"/>
          <p:nvPr/>
        </p:nvSpPr>
        <p:spPr>
          <a:xfrm>
            <a:off x="324050" y="4439325"/>
            <a:ext cx="22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odecagonal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97"/>
          <p:cNvSpPr txBox="1"/>
          <p:nvPr/>
        </p:nvSpPr>
        <p:spPr>
          <a:xfrm>
            <a:off x="6652350" y="3718829"/>
            <a:ext cx="16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agon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7"/>
          <p:cNvSpPr txBox="1"/>
          <p:nvPr/>
        </p:nvSpPr>
        <p:spPr>
          <a:xfrm>
            <a:off x="4725150" y="4417200"/>
            <a:ext cx="203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exagonal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98"/>
          <p:cNvSpPr txBox="1"/>
          <p:nvPr/>
        </p:nvSpPr>
        <p:spPr>
          <a:xfrm>
            <a:off x="324000" y="652275"/>
            <a:ext cx="593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sketching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this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count how many sides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 sectional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polygon has.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pic>
        <p:nvPicPr>
          <p:cNvPr id="1441" name="Google Shape;144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8" y="2120400"/>
            <a:ext cx="2833779" cy="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98"/>
          <p:cNvSpPr txBox="1"/>
          <p:nvPr/>
        </p:nvSpPr>
        <p:spPr>
          <a:xfrm>
            <a:off x="5791519" y="2006100"/>
            <a:ext cx="105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sides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3" name="Google Shape;1443;p98"/>
          <p:cNvSpPr/>
          <p:nvPr/>
        </p:nvSpPr>
        <p:spPr>
          <a:xfrm>
            <a:off x="5131650" y="2160000"/>
            <a:ext cx="2327550" cy="1465200"/>
          </a:xfrm>
          <a:custGeom>
            <a:rect b="b" l="l" r="r" t="t"/>
            <a:pathLst>
              <a:path extrusionOk="0" h="58608" w="93102">
                <a:moveTo>
                  <a:pt x="0" y="0"/>
                </a:moveTo>
                <a:lnTo>
                  <a:pt x="0" y="58608"/>
                </a:lnTo>
                <a:lnTo>
                  <a:pt x="93102" y="58608"/>
                </a:lnTo>
                <a:lnTo>
                  <a:pt x="93102" y="0"/>
                </a:lnTo>
                <a:lnTo>
                  <a:pt x="70513" y="0"/>
                </a:lnTo>
                <a:lnTo>
                  <a:pt x="70513" y="34798"/>
                </a:lnTo>
                <a:lnTo>
                  <a:pt x="24420" y="34798"/>
                </a:lnTo>
                <a:lnTo>
                  <a:pt x="24420" y="305"/>
                </a:lnTo>
                <a:close/>
              </a:path>
            </a:pathLst>
          </a:custGeom>
          <a:solidFill>
            <a:srgbClr val="037B7D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99"/>
          <p:cNvSpPr txBox="1"/>
          <p:nvPr/>
        </p:nvSpPr>
        <p:spPr>
          <a:xfrm>
            <a:off x="324000" y="652275"/>
            <a:ext cx="524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hat would the name of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grpSp>
        <p:nvGrpSpPr>
          <p:cNvPr id="1450" name="Google Shape;1450;p99"/>
          <p:cNvGrpSpPr/>
          <p:nvPr/>
        </p:nvGrpSpPr>
        <p:grpSpPr>
          <a:xfrm>
            <a:off x="3523058" y="1402238"/>
            <a:ext cx="303581" cy="303581"/>
            <a:chOff x="1020916" y="1442088"/>
            <a:chExt cx="457200" cy="457200"/>
          </a:xfrm>
        </p:grpSpPr>
        <p:pic>
          <p:nvPicPr>
            <p:cNvPr id="1451" name="Google Shape;145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2" name="Google Shape;14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3" name="Google Shape;1453;p99"/>
          <p:cNvSpPr txBox="1"/>
          <p:nvPr/>
        </p:nvSpPr>
        <p:spPr>
          <a:xfrm>
            <a:off x="3876116" y="1415450"/>
            <a:ext cx="448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U-beam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4" name="Google Shape;145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8" y="2120400"/>
            <a:ext cx="2833779" cy="27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5" name="Google Shape;1455;p99"/>
          <p:cNvGrpSpPr/>
          <p:nvPr/>
        </p:nvGrpSpPr>
        <p:grpSpPr>
          <a:xfrm>
            <a:off x="3523058" y="1889738"/>
            <a:ext cx="303581" cy="303581"/>
            <a:chOff x="1020916" y="1442088"/>
            <a:chExt cx="457200" cy="457200"/>
          </a:xfrm>
        </p:grpSpPr>
        <p:pic>
          <p:nvPicPr>
            <p:cNvPr id="1456" name="Google Shape;145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7" name="Google Shape;145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8" name="Google Shape;1458;p99"/>
          <p:cNvSpPr txBox="1"/>
          <p:nvPr/>
        </p:nvSpPr>
        <p:spPr>
          <a:xfrm>
            <a:off x="3876116" y="1902950"/>
            <a:ext cx="448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hexagonal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9" name="Google Shape;1459;p99"/>
          <p:cNvGrpSpPr/>
          <p:nvPr/>
        </p:nvGrpSpPr>
        <p:grpSpPr>
          <a:xfrm>
            <a:off x="3523058" y="2377238"/>
            <a:ext cx="303581" cy="303581"/>
            <a:chOff x="1020916" y="1442088"/>
            <a:chExt cx="457200" cy="457200"/>
          </a:xfrm>
        </p:grpSpPr>
        <p:pic>
          <p:nvPicPr>
            <p:cNvPr id="1460" name="Google Shape;1460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1" name="Google Shape;146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2" name="Google Shape;1462;p99"/>
          <p:cNvSpPr txBox="1"/>
          <p:nvPr/>
        </p:nvSpPr>
        <p:spPr>
          <a:xfrm>
            <a:off x="3876116" y="2390450"/>
            <a:ext cx="448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regular hexagonal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3" name="Google Shape;1463;p99"/>
          <p:cNvGrpSpPr/>
          <p:nvPr/>
        </p:nvGrpSpPr>
        <p:grpSpPr>
          <a:xfrm>
            <a:off x="3523058" y="2864738"/>
            <a:ext cx="303581" cy="303581"/>
            <a:chOff x="1020916" y="1442088"/>
            <a:chExt cx="457200" cy="457200"/>
          </a:xfrm>
        </p:grpSpPr>
        <p:pic>
          <p:nvPicPr>
            <p:cNvPr id="1464" name="Google Shape;146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5" name="Google Shape;146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6" name="Google Shape;1466;p99"/>
          <p:cNvSpPr txBox="1"/>
          <p:nvPr/>
        </p:nvSpPr>
        <p:spPr>
          <a:xfrm>
            <a:off x="3876116" y="2877950"/>
            <a:ext cx="448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octagonal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7" name="Google Shape;1467;p99"/>
          <p:cNvGrpSpPr/>
          <p:nvPr/>
        </p:nvGrpSpPr>
        <p:grpSpPr>
          <a:xfrm>
            <a:off x="3523058" y="3352238"/>
            <a:ext cx="303581" cy="303581"/>
            <a:chOff x="1020916" y="1442088"/>
            <a:chExt cx="457200" cy="457200"/>
          </a:xfrm>
        </p:grpSpPr>
        <p:pic>
          <p:nvPicPr>
            <p:cNvPr id="1468" name="Google Shape;146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9" name="Google Shape;146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0" name="Google Shape;1470;p99"/>
          <p:cNvSpPr txBox="1"/>
          <p:nvPr/>
        </p:nvSpPr>
        <p:spPr>
          <a:xfrm>
            <a:off x="3876116" y="3365450"/>
            <a:ext cx="448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octagonal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1" name="Google Shape;147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6662" y="280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477" name="Google Shape;1477;p100"/>
          <p:cNvSpPr txBox="1"/>
          <p:nvPr/>
        </p:nvSpPr>
        <p:spPr>
          <a:xfrm>
            <a:off x="324000" y="652275"/>
            <a:ext cx="629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Place these 3D shapes into the correct row in the table.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8" name="Google Shape;1478;p100"/>
          <p:cNvGraphicFramePr/>
          <p:nvPr/>
        </p:nvGraphicFramePr>
        <p:xfrm>
          <a:off x="6696000" y="734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{2BD831A0-A349-48F5-81DF-75146D7A38F2}</a:tableStyleId>
              </a:tblPr>
              <a:tblGrid>
                <a:gridCol w="2124000"/>
              </a:tblGrid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riangular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quadrilateral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pentagonal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a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79" name="Google Shape;1479;p100"/>
          <p:cNvPicPr preferRelativeResize="0"/>
          <p:nvPr/>
        </p:nvPicPr>
        <p:blipFill rotWithShape="1">
          <a:blip r:embed="rId3">
            <a:alphaModFix/>
          </a:blip>
          <a:srcRect b="6418" l="0" r="0" t="59528"/>
          <a:stretch/>
        </p:blipFill>
        <p:spPr>
          <a:xfrm>
            <a:off x="324000" y="3491600"/>
            <a:ext cx="6236351" cy="1180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0" name="Google Shape;1480;p100"/>
          <p:cNvGrpSpPr/>
          <p:nvPr/>
        </p:nvGrpSpPr>
        <p:grpSpPr>
          <a:xfrm>
            <a:off x="1266433" y="1121463"/>
            <a:ext cx="303581" cy="303581"/>
            <a:chOff x="1020916" y="1442088"/>
            <a:chExt cx="457200" cy="457200"/>
          </a:xfrm>
        </p:grpSpPr>
        <p:pic>
          <p:nvPicPr>
            <p:cNvPr id="1481" name="Google Shape;148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2" name="Google Shape;148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3" name="Google Shape;1483;p100"/>
          <p:cNvGrpSpPr/>
          <p:nvPr/>
        </p:nvGrpSpPr>
        <p:grpSpPr>
          <a:xfrm>
            <a:off x="3541433" y="1121463"/>
            <a:ext cx="303581" cy="303581"/>
            <a:chOff x="1020916" y="1442088"/>
            <a:chExt cx="457200" cy="457200"/>
          </a:xfrm>
        </p:grpSpPr>
        <p:pic>
          <p:nvPicPr>
            <p:cNvPr id="1484" name="Google Shape;148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" name="Google Shape;148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6" name="Google Shape;1486;p100"/>
          <p:cNvGrpSpPr/>
          <p:nvPr/>
        </p:nvGrpSpPr>
        <p:grpSpPr>
          <a:xfrm>
            <a:off x="5622608" y="1391388"/>
            <a:ext cx="303581" cy="303581"/>
            <a:chOff x="1020916" y="1442088"/>
            <a:chExt cx="457200" cy="457200"/>
          </a:xfrm>
        </p:grpSpPr>
        <p:pic>
          <p:nvPicPr>
            <p:cNvPr id="1487" name="Google Shape;148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8" name="Google Shape;148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9" name="Google Shape;1489;p100"/>
          <p:cNvGrpSpPr/>
          <p:nvPr/>
        </p:nvGrpSpPr>
        <p:grpSpPr>
          <a:xfrm>
            <a:off x="439783" y="3434313"/>
            <a:ext cx="303581" cy="303581"/>
            <a:chOff x="1020916" y="1442088"/>
            <a:chExt cx="457200" cy="457200"/>
          </a:xfrm>
        </p:grpSpPr>
        <p:pic>
          <p:nvPicPr>
            <p:cNvPr id="1490" name="Google Shape;149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1" name="Google Shape;149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2" name="Google Shape;1492;p100"/>
          <p:cNvGrpSpPr/>
          <p:nvPr/>
        </p:nvGrpSpPr>
        <p:grpSpPr>
          <a:xfrm>
            <a:off x="3369608" y="3398988"/>
            <a:ext cx="303581" cy="303581"/>
            <a:chOff x="1020916" y="1442088"/>
            <a:chExt cx="457200" cy="457200"/>
          </a:xfrm>
        </p:grpSpPr>
        <p:pic>
          <p:nvPicPr>
            <p:cNvPr id="1493" name="Google Shape;149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4" name="Google Shape;149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100"/>
          <p:cNvGrpSpPr/>
          <p:nvPr/>
        </p:nvGrpSpPr>
        <p:grpSpPr>
          <a:xfrm>
            <a:off x="5743533" y="3526163"/>
            <a:ext cx="303581" cy="303581"/>
            <a:chOff x="1020916" y="1442088"/>
            <a:chExt cx="457200" cy="457200"/>
          </a:xfrm>
        </p:grpSpPr>
        <p:pic>
          <p:nvPicPr>
            <p:cNvPr id="1496" name="Google Shape;149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7" name="Google Shape;149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98" name="Google Shape;1498;p100"/>
          <p:cNvPicPr preferRelativeResize="0"/>
          <p:nvPr/>
        </p:nvPicPr>
        <p:blipFill rotWithShape="1">
          <a:blip r:embed="rId3">
            <a:alphaModFix/>
          </a:blip>
          <a:srcRect b="39777" l="0" r="0" t="0"/>
          <a:stretch/>
        </p:blipFill>
        <p:spPr>
          <a:xfrm>
            <a:off x="324000" y="1176651"/>
            <a:ext cx="6236351" cy="20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01"/>
          <p:cNvSpPr txBox="1"/>
          <p:nvPr/>
        </p:nvSpPr>
        <p:spPr>
          <a:xfrm>
            <a:off x="324000" y="652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On squared paper, sketch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each of these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pic>
        <p:nvPicPr>
          <p:cNvPr id="1505" name="Google Shape;1505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425" y="1206375"/>
            <a:ext cx="7321151" cy="21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Google Shape;151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77" y="929476"/>
            <a:ext cx="4820887" cy="38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102"/>
          <p:cNvSpPr txBox="1"/>
          <p:nvPr/>
        </p:nvSpPr>
        <p:spPr>
          <a:xfrm>
            <a:off x="324000" y="652275"/>
            <a:ext cx="62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Write down a suitable name for each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grpSp>
        <p:nvGrpSpPr>
          <p:cNvPr id="1513" name="Google Shape;1513;p102"/>
          <p:cNvGrpSpPr/>
          <p:nvPr/>
        </p:nvGrpSpPr>
        <p:grpSpPr>
          <a:xfrm>
            <a:off x="821308" y="1015488"/>
            <a:ext cx="303581" cy="303581"/>
            <a:chOff x="1020916" y="1442088"/>
            <a:chExt cx="457200" cy="457200"/>
          </a:xfrm>
        </p:grpSpPr>
        <p:pic>
          <p:nvPicPr>
            <p:cNvPr id="1514" name="Google Shape;151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5" name="Google Shape;151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6" name="Google Shape;1516;p102"/>
          <p:cNvGrpSpPr/>
          <p:nvPr/>
        </p:nvGrpSpPr>
        <p:grpSpPr>
          <a:xfrm>
            <a:off x="3499058" y="1255688"/>
            <a:ext cx="303581" cy="303581"/>
            <a:chOff x="1020916" y="1442088"/>
            <a:chExt cx="457200" cy="457200"/>
          </a:xfrm>
        </p:grpSpPr>
        <p:pic>
          <p:nvPicPr>
            <p:cNvPr id="1517" name="Google Shape;151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9" name="Google Shape;1519;p102"/>
          <p:cNvGrpSpPr/>
          <p:nvPr/>
        </p:nvGrpSpPr>
        <p:grpSpPr>
          <a:xfrm>
            <a:off x="634533" y="2896288"/>
            <a:ext cx="303581" cy="303581"/>
            <a:chOff x="1020916" y="1442088"/>
            <a:chExt cx="457200" cy="457200"/>
          </a:xfrm>
        </p:grpSpPr>
        <p:pic>
          <p:nvPicPr>
            <p:cNvPr id="1520" name="Google Shape;152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1" name="Google Shape;152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2" name="Google Shape;1522;p102"/>
          <p:cNvGrpSpPr/>
          <p:nvPr/>
        </p:nvGrpSpPr>
        <p:grpSpPr>
          <a:xfrm>
            <a:off x="3217808" y="2723138"/>
            <a:ext cx="303581" cy="303581"/>
            <a:chOff x="1020916" y="1442088"/>
            <a:chExt cx="457200" cy="457200"/>
          </a:xfrm>
        </p:grpSpPr>
        <p:pic>
          <p:nvPicPr>
            <p:cNvPr id="1523" name="Google Shape;152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4" name="Google Shape;152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5" name="Google Shape;1525;p102"/>
          <p:cNvSpPr/>
          <p:nvPr/>
        </p:nvSpPr>
        <p:spPr>
          <a:xfrm rot="5400000">
            <a:off x="1894475" y="1805225"/>
            <a:ext cx="222000" cy="159000"/>
          </a:xfrm>
          <a:prstGeom prst="parallelogram">
            <a:avLst>
              <a:gd fmla="val 52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6" name="Google Shape;1526;p102"/>
          <p:cNvPicPr preferRelativeResize="0"/>
          <p:nvPr/>
        </p:nvPicPr>
        <p:blipFill rotWithShape="1">
          <a:blip r:embed="rId5">
            <a:alphaModFix/>
          </a:blip>
          <a:srcRect b="0" l="0" r="0" t="3456"/>
          <a:stretch/>
        </p:blipFill>
        <p:spPr>
          <a:xfrm>
            <a:off x="6076100" y="1109575"/>
            <a:ext cx="2427850" cy="2558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7" name="Google Shape;1527;p102"/>
          <p:cNvGrpSpPr/>
          <p:nvPr/>
        </p:nvGrpSpPr>
        <p:grpSpPr>
          <a:xfrm>
            <a:off x="5851783" y="1255688"/>
            <a:ext cx="303581" cy="303581"/>
            <a:chOff x="1020916" y="1442088"/>
            <a:chExt cx="457200" cy="457200"/>
          </a:xfrm>
        </p:grpSpPr>
        <p:pic>
          <p:nvPicPr>
            <p:cNvPr id="1528" name="Google Shape;152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9" name="Google Shape;152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4" name="Google Shape;1534;p103"/>
          <p:cNvGraphicFramePr/>
          <p:nvPr/>
        </p:nvGraphicFramePr>
        <p:xfrm>
          <a:off x="6696000" y="734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{2BD831A0-A349-48F5-81DF-75146D7A38F2}</a:tableStyleId>
              </a:tblPr>
              <a:tblGrid>
                <a:gridCol w="2124000"/>
              </a:tblGrid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quadrilateral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pentagonal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a 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35" name="Google Shape;1535;p103"/>
          <p:cNvPicPr preferRelativeResize="0"/>
          <p:nvPr/>
        </p:nvPicPr>
        <p:blipFill rotWithShape="1">
          <a:blip r:embed="rId3">
            <a:alphaModFix/>
          </a:blip>
          <a:srcRect b="39777" l="0" r="0" t="0"/>
          <a:stretch/>
        </p:blipFill>
        <p:spPr>
          <a:xfrm>
            <a:off x="324000" y="1176651"/>
            <a:ext cx="6236351" cy="20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sp>
        <p:nvSpPr>
          <p:cNvPr id="1537" name="Google Shape;1537;p103"/>
          <p:cNvSpPr txBox="1"/>
          <p:nvPr/>
        </p:nvSpPr>
        <p:spPr>
          <a:xfrm>
            <a:off x="324000" y="652275"/>
            <a:ext cx="629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Place these 3D shapes into the correct row in the table.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8" name="Google Shape;1538;p103"/>
          <p:cNvPicPr preferRelativeResize="0"/>
          <p:nvPr/>
        </p:nvPicPr>
        <p:blipFill rotWithShape="1">
          <a:blip r:embed="rId3">
            <a:alphaModFix/>
          </a:blip>
          <a:srcRect b="6418" l="0" r="0" t="59528"/>
          <a:stretch/>
        </p:blipFill>
        <p:spPr>
          <a:xfrm>
            <a:off x="324000" y="3491600"/>
            <a:ext cx="6236351" cy="1180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9" name="Google Shape;1539;p103"/>
          <p:cNvGrpSpPr/>
          <p:nvPr/>
        </p:nvGrpSpPr>
        <p:grpSpPr>
          <a:xfrm>
            <a:off x="1266433" y="1121463"/>
            <a:ext cx="303581" cy="303581"/>
            <a:chOff x="1020916" y="1442088"/>
            <a:chExt cx="457200" cy="457200"/>
          </a:xfrm>
        </p:grpSpPr>
        <p:pic>
          <p:nvPicPr>
            <p:cNvPr id="1540" name="Google Shape;154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1" name="Google Shape;154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2" name="Google Shape;1542;p103"/>
          <p:cNvGrpSpPr/>
          <p:nvPr/>
        </p:nvGrpSpPr>
        <p:grpSpPr>
          <a:xfrm>
            <a:off x="3541433" y="1121463"/>
            <a:ext cx="303581" cy="303581"/>
            <a:chOff x="1020916" y="1442088"/>
            <a:chExt cx="457200" cy="457200"/>
          </a:xfrm>
        </p:grpSpPr>
        <p:pic>
          <p:nvPicPr>
            <p:cNvPr id="1543" name="Google Shape;154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4" name="Google Shape;154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5" name="Google Shape;1545;p103"/>
          <p:cNvGrpSpPr/>
          <p:nvPr/>
        </p:nvGrpSpPr>
        <p:grpSpPr>
          <a:xfrm>
            <a:off x="5622608" y="1391388"/>
            <a:ext cx="303581" cy="303581"/>
            <a:chOff x="1020916" y="1442088"/>
            <a:chExt cx="457200" cy="457200"/>
          </a:xfrm>
        </p:grpSpPr>
        <p:pic>
          <p:nvPicPr>
            <p:cNvPr id="1546" name="Google Shape;154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7" name="Google Shape;154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8" name="Google Shape;1548;p103"/>
          <p:cNvGrpSpPr/>
          <p:nvPr/>
        </p:nvGrpSpPr>
        <p:grpSpPr>
          <a:xfrm>
            <a:off x="439783" y="3434313"/>
            <a:ext cx="303581" cy="303581"/>
            <a:chOff x="1020916" y="1442088"/>
            <a:chExt cx="457200" cy="457200"/>
          </a:xfrm>
        </p:grpSpPr>
        <p:pic>
          <p:nvPicPr>
            <p:cNvPr id="1549" name="Google Shape;154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0" name="Google Shape;155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1" name="Google Shape;1551;p103"/>
          <p:cNvGrpSpPr/>
          <p:nvPr/>
        </p:nvGrpSpPr>
        <p:grpSpPr>
          <a:xfrm>
            <a:off x="3369608" y="3398988"/>
            <a:ext cx="303581" cy="303581"/>
            <a:chOff x="1020916" y="1442088"/>
            <a:chExt cx="457200" cy="457200"/>
          </a:xfrm>
        </p:grpSpPr>
        <p:pic>
          <p:nvPicPr>
            <p:cNvPr id="1552" name="Google Shape;155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3" name="Google Shape;155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4" name="Google Shape;1554;p103"/>
          <p:cNvGrpSpPr/>
          <p:nvPr/>
        </p:nvGrpSpPr>
        <p:grpSpPr>
          <a:xfrm>
            <a:off x="5743533" y="3526163"/>
            <a:ext cx="303581" cy="303581"/>
            <a:chOff x="1020916" y="1442088"/>
            <a:chExt cx="457200" cy="457200"/>
          </a:xfrm>
        </p:grpSpPr>
        <p:pic>
          <p:nvPicPr>
            <p:cNvPr id="1555" name="Google Shape;15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6" name="Google Shape;15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7" name="Google Shape;1557;p103"/>
          <p:cNvGrpSpPr/>
          <p:nvPr/>
        </p:nvGrpSpPr>
        <p:grpSpPr>
          <a:xfrm>
            <a:off x="7454408" y="1258331"/>
            <a:ext cx="303581" cy="303581"/>
            <a:chOff x="1020916" y="1442088"/>
            <a:chExt cx="457200" cy="457200"/>
          </a:xfrm>
        </p:grpSpPr>
        <p:pic>
          <p:nvPicPr>
            <p:cNvPr id="1558" name="Google Shape;15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9" name="Google Shape;15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0" name="Google Shape;1560;p103"/>
          <p:cNvGrpSpPr/>
          <p:nvPr/>
        </p:nvGrpSpPr>
        <p:grpSpPr>
          <a:xfrm>
            <a:off x="7606208" y="3096281"/>
            <a:ext cx="303581" cy="303581"/>
            <a:chOff x="1020916" y="1442088"/>
            <a:chExt cx="457200" cy="457200"/>
          </a:xfrm>
        </p:grpSpPr>
        <p:pic>
          <p:nvPicPr>
            <p:cNvPr id="1561" name="Google Shape;15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3" name="Google Shape;1563;p103"/>
          <p:cNvGrpSpPr/>
          <p:nvPr/>
        </p:nvGrpSpPr>
        <p:grpSpPr>
          <a:xfrm>
            <a:off x="7758008" y="2177306"/>
            <a:ext cx="303581" cy="303581"/>
            <a:chOff x="1020916" y="1442088"/>
            <a:chExt cx="457200" cy="457200"/>
          </a:xfrm>
        </p:grpSpPr>
        <p:pic>
          <p:nvPicPr>
            <p:cNvPr id="1564" name="Google Shape;15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5" name="Google Shape;15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6" name="Google Shape;1566;p103"/>
          <p:cNvGrpSpPr/>
          <p:nvPr/>
        </p:nvGrpSpPr>
        <p:grpSpPr>
          <a:xfrm>
            <a:off x="7454408" y="2177306"/>
            <a:ext cx="303581" cy="303581"/>
            <a:chOff x="1020916" y="1442088"/>
            <a:chExt cx="457200" cy="457200"/>
          </a:xfrm>
        </p:grpSpPr>
        <p:pic>
          <p:nvPicPr>
            <p:cNvPr id="1567" name="Google Shape;156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8" name="Google Shape;156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9" name="Google Shape;1569;p103"/>
          <p:cNvGrpSpPr/>
          <p:nvPr/>
        </p:nvGrpSpPr>
        <p:grpSpPr>
          <a:xfrm>
            <a:off x="7606208" y="4015256"/>
            <a:ext cx="303581" cy="303581"/>
            <a:chOff x="1020916" y="1442088"/>
            <a:chExt cx="457200" cy="457200"/>
          </a:xfrm>
        </p:grpSpPr>
        <p:pic>
          <p:nvPicPr>
            <p:cNvPr id="1570" name="Google Shape;157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1" name="Google Shape;157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2" name="Google Shape;1572;p103"/>
          <p:cNvGrpSpPr/>
          <p:nvPr/>
        </p:nvGrpSpPr>
        <p:grpSpPr>
          <a:xfrm>
            <a:off x="7758008" y="1258331"/>
            <a:ext cx="303581" cy="303581"/>
            <a:chOff x="1020916" y="1442088"/>
            <a:chExt cx="457200" cy="457200"/>
          </a:xfrm>
        </p:grpSpPr>
        <p:pic>
          <p:nvPicPr>
            <p:cNvPr id="1573" name="Google Shape;157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4" name="Google Shape;157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04"/>
          <p:cNvSpPr txBox="1"/>
          <p:nvPr/>
        </p:nvSpPr>
        <p:spPr>
          <a:xfrm>
            <a:off x="324000" y="652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On squared paper, sketch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each of these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pic>
        <p:nvPicPr>
          <p:cNvPr id="1581" name="Google Shape;1581;p104"/>
          <p:cNvPicPr preferRelativeResize="0"/>
          <p:nvPr/>
        </p:nvPicPr>
        <p:blipFill rotWithShape="1">
          <a:blip r:embed="rId3">
            <a:alphaModFix/>
          </a:blip>
          <a:srcRect b="0" l="0" r="0" t="17763"/>
          <a:stretch/>
        </p:blipFill>
        <p:spPr>
          <a:xfrm>
            <a:off x="607600" y="2957825"/>
            <a:ext cx="7928799" cy="12325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2" name="Google Shape;158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425" y="756722"/>
            <a:ext cx="7321151" cy="21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04"/>
          <p:cNvSpPr txBox="1"/>
          <p:nvPr/>
        </p:nvSpPr>
        <p:spPr>
          <a:xfrm>
            <a:off x="770100" y="4211082"/>
            <a:ext cx="760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are only approximate shapes - if your sketch differs slightly, that is okay.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5"/>
          <p:cNvSpPr txBox="1"/>
          <p:nvPr/>
        </p:nvSpPr>
        <p:spPr>
          <a:xfrm>
            <a:off x="5774566" y="2811375"/>
            <a:ext cx="309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hexagonal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irregular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hexagonal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89" name="Google Shape;158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77" y="929476"/>
            <a:ext cx="4820887" cy="38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05"/>
          <p:cNvSpPr txBox="1"/>
          <p:nvPr/>
        </p:nvSpPr>
        <p:spPr>
          <a:xfrm>
            <a:off x="324000" y="652275"/>
            <a:ext cx="62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Write down 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suitable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name for each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grpSp>
        <p:nvGrpSpPr>
          <p:cNvPr id="1592" name="Google Shape;1592;p105"/>
          <p:cNvGrpSpPr/>
          <p:nvPr/>
        </p:nvGrpSpPr>
        <p:grpSpPr>
          <a:xfrm>
            <a:off x="821308" y="1015488"/>
            <a:ext cx="303581" cy="303581"/>
            <a:chOff x="1020916" y="1442088"/>
            <a:chExt cx="457200" cy="457200"/>
          </a:xfrm>
        </p:grpSpPr>
        <p:pic>
          <p:nvPicPr>
            <p:cNvPr id="1593" name="Google Shape;159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4" name="Google Shape;159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5" name="Google Shape;1595;p105"/>
          <p:cNvGrpSpPr/>
          <p:nvPr/>
        </p:nvGrpSpPr>
        <p:grpSpPr>
          <a:xfrm>
            <a:off x="3499058" y="1255688"/>
            <a:ext cx="303581" cy="303581"/>
            <a:chOff x="1020916" y="1442088"/>
            <a:chExt cx="457200" cy="457200"/>
          </a:xfrm>
        </p:grpSpPr>
        <p:pic>
          <p:nvPicPr>
            <p:cNvPr id="1596" name="Google Shape;159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7" name="Google Shape;159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8" name="Google Shape;1598;p105"/>
          <p:cNvGrpSpPr/>
          <p:nvPr/>
        </p:nvGrpSpPr>
        <p:grpSpPr>
          <a:xfrm>
            <a:off x="634533" y="2896288"/>
            <a:ext cx="303581" cy="303581"/>
            <a:chOff x="1020916" y="1442088"/>
            <a:chExt cx="457200" cy="457200"/>
          </a:xfrm>
        </p:grpSpPr>
        <p:pic>
          <p:nvPicPr>
            <p:cNvPr id="1599" name="Google Shape;159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0" name="Google Shape;160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1" name="Google Shape;1601;p105"/>
          <p:cNvGrpSpPr/>
          <p:nvPr/>
        </p:nvGrpSpPr>
        <p:grpSpPr>
          <a:xfrm>
            <a:off x="3217808" y="2723138"/>
            <a:ext cx="303581" cy="303581"/>
            <a:chOff x="1020916" y="1442088"/>
            <a:chExt cx="457200" cy="457200"/>
          </a:xfrm>
        </p:grpSpPr>
        <p:pic>
          <p:nvPicPr>
            <p:cNvPr id="1602" name="Google Shape;160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3" name="Google Shape;160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4" name="Google Shape;1604;p105"/>
          <p:cNvGrpSpPr/>
          <p:nvPr/>
        </p:nvGrpSpPr>
        <p:grpSpPr>
          <a:xfrm>
            <a:off x="5419208" y="1033363"/>
            <a:ext cx="303581" cy="303581"/>
            <a:chOff x="1020916" y="1442088"/>
            <a:chExt cx="457200" cy="457200"/>
          </a:xfrm>
        </p:grpSpPr>
        <p:pic>
          <p:nvPicPr>
            <p:cNvPr id="1605" name="Google Shape;160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6" name="Google Shape;160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7" name="Google Shape;1607;p105"/>
          <p:cNvGrpSpPr/>
          <p:nvPr/>
        </p:nvGrpSpPr>
        <p:grpSpPr>
          <a:xfrm>
            <a:off x="5419208" y="1922363"/>
            <a:ext cx="303581" cy="303581"/>
            <a:chOff x="1020916" y="1442088"/>
            <a:chExt cx="457200" cy="457200"/>
          </a:xfrm>
        </p:grpSpPr>
        <p:pic>
          <p:nvPicPr>
            <p:cNvPr id="1608" name="Google Shape;160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9" name="Google Shape;160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0" name="Google Shape;1610;p105"/>
          <p:cNvSpPr txBox="1"/>
          <p:nvPr/>
        </p:nvSpPr>
        <p:spPr>
          <a:xfrm>
            <a:off x="5774566" y="1033375"/>
            <a:ext cx="32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riangular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right-angled triangular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1" name="Google Shape;1611;p105"/>
          <p:cNvSpPr txBox="1"/>
          <p:nvPr/>
        </p:nvSpPr>
        <p:spPr>
          <a:xfrm>
            <a:off x="5774566" y="1922375"/>
            <a:ext cx="309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quadrilateral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rectangular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12" name="Google Shape;1612;p105"/>
          <p:cNvGrpSpPr/>
          <p:nvPr/>
        </p:nvGrpSpPr>
        <p:grpSpPr>
          <a:xfrm>
            <a:off x="5419208" y="2811363"/>
            <a:ext cx="303581" cy="303581"/>
            <a:chOff x="1020916" y="1442088"/>
            <a:chExt cx="457200" cy="457200"/>
          </a:xfrm>
        </p:grpSpPr>
        <p:pic>
          <p:nvPicPr>
            <p:cNvPr id="1613" name="Google Shape;161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4" name="Google Shape;161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5" name="Google Shape;1615;p105"/>
          <p:cNvGrpSpPr/>
          <p:nvPr/>
        </p:nvGrpSpPr>
        <p:grpSpPr>
          <a:xfrm>
            <a:off x="5419208" y="3700363"/>
            <a:ext cx="303581" cy="303581"/>
            <a:chOff x="1020916" y="1442088"/>
            <a:chExt cx="457200" cy="457200"/>
          </a:xfrm>
        </p:grpSpPr>
        <p:pic>
          <p:nvPicPr>
            <p:cNvPr id="1616" name="Google Shape;161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7" name="Google Shape;161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8" name="Google Shape;1618;p105"/>
          <p:cNvSpPr txBox="1"/>
          <p:nvPr/>
        </p:nvSpPr>
        <p:spPr>
          <a:xfrm>
            <a:off x="5774566" y="3700375"/>
            <a:ext cx="309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octagonal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regular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octagonal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9" name="Google Shape;1619;p105"/>
          <p:cNvSpPr/>
          <p:nvPr/>
        </p:nvSpPr>
        <p:spPr>
          <a:xfrm rot="5400000">
            <a:off x="1894475" y="1805225"/>
            <a:ext cx="222000" cy="159000"/>
          </a:xfrm>
          <a:prstGeom prst="parallelogram">
            <a:avLst>
              <a:gd fmla="val 52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05"/>
          <p:cNvSpPr txBox="1"/>
          <p:nvPr/>
        </p:nvSpPr>
        <p:spPr>
          <a:xfrm>
            <a:off x="4680409" y="4322480"/>
            <a:ext cx="400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came up with a different answer, can you justify it?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06"/>
          <p:cNvSpPr txBox="1"/>
          <p:nvPr/>
        </p:nvSpPr>
        <p:spPr>
          <a:xfrm>
            <a:off x="3355975" y="1142063"/>
            <a:ext cx="309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octagonal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irregular octagonal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prism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6" name="Google Shape;1626;p106"/>
          <p:cNvSpPr txBox="1"/>
          <p:nvPr/>
        </p:nvSpPr>
        <p:spPr>
          <a:xfrm>
            <a:off x="324000" y="652275"/>
            <a:ext cx="62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Write down a suitable name for each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Categorising prisms</a:t>
            </a:r>
            <a:endParaRPr/>
          </a:p>
        </p:txBody>
      </p:sp>
      <p:pic>
        <p:nvPicPr>
          <p:cNvPr id="1628" name="Google Shape;1628;p106"/>
          <p:cNvPicPr preferRelativeResize="0"/>
          <p:nvPr/>
        </p:nvPicPr>
        <p:blipFill rotWithShape="1">
          <a:blip r:embed="rId3">
            <a:alphaModFix/>
          </a:blip>
          <a:srcRect b="0" l="0" r="0" t="3456"/>
          <a:stretch/>
        </p:blipFill>
        <p:spPr>
          <a:xfrm>
            <a:off x="548325" y="1151950"/>
            <a:ext cx="2427850" cy="2558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9" name="Google Shape;1629;p106"/>
          <p:cNvGrpSpPr/>
          <p:nvPr/>
        </p:nvGrpSpPr>
        <p:grpSpPr>
          <a:xfrm>
            <a:off x="324008" y="1298063"/>
            <a:ext cx="303581" cy="303581"/>
            <a:chOff x="1020916" y="1442088"/>
            <a:chExt cx="457200" cy="457200"/>
          </a:xfrm>
        </p:grpSpPr>
        <p:pic>
          <p:nvPicPr>
            <p:cNvPr id="1630" name="Google Shape;163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2" name="Google Shape;1632;p106"/>
          <p:cNvGrpSpPr/>
          <p:nvPr/>
        </p:nvGrpSpPr>
        <p:grpSpPr>
          <a:xfrm>
            <a:off x="2976183" y="1142051"/>
            <a:ext cx="303581" cy="303581"/>
            <a:chOff x="1020916" y="1442088"/>
            <a:chExt cx="457200" cy="457200"/>
          </a:xfrm>
        </p:grpSpPr>
        <p:pic>
          <p:nvPicPr>
            <p:cNvPr id="1633" name="Google Shape;163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4" name="Google Shape;163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5" name="Google Shape;1635;p106"/>
          <p:cNvSpPr txBox="1"/>
          <p:nvPr/>
        </p:nvSpPr>
        <p:spPr>
          <a:xfrm>
            <a:off x="4417850" y="2571755"/>
            <a:ext cx="400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came up with a different name for any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can you justify it?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07"/>
          <p:cNvSpPr txBox="1"/>
          <p:nvPr/>
        </p:nvSpPr>
        <p:spPr>
          <a:xfrm>
            <a:off x="324000" y="957075"/>
            <a:ext cx="8496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Understanding the properties of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make it easier to identify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from non-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Knowing that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are usually identified by the shape and properties of its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cross-sectional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polygon allow for naming and categorising of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Appreciating that there are two types of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: right and oblique, broadens understanding of what can be identified as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47" name="Google Shape;1647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