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D28997-381E-4786-8854-68C7412ABBD7}">
  <a:tblStyle styleId="{7CD28997-381E-4786-8854-68C7412ABB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a911da8a37_0_15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a911da8a3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0" Type="http://schemas.openxmlformats.org/officeDocument/2006/relationships/image" Target="../media/image20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10" Type="http://schemas.openxmlformats.org/officeDocument/2006/relationships/image" Target="../media/image23.png"/><Relationship Id="rId9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999759" y="8478090"/>
            <a:ext cx="2075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cross sections: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polygons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not parallel to each other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congruent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these cross sections do not help demonstrate this is a prism.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prisms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82891" y="1354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Defining a prism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82891" y="1674575"/>
            <a:ext cx="575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Which of these match the properties of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 b="1521" l="30054" r="437" t="11035"/>
          <a:stretch/>
        </p:blipFill>
        <p:spPr>
          <a:xfrm>
            <a:off x="1763851" y="2054873"/>
            <a:ext cx="2246720" cy="112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2513" y="2022603"/>
            <a:ext cx="2863075" cy="1318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20"/>
          <p:cNvGrpSpPr/>
          <p:nvPr/>
        </p:nvGrpSpPr>
        <p:grpSpPr>
          <a:xfrm>
            <a:off x="1019980" y="2024380"/>
            <a:ext cx="241127" cy="220508"/>
            <a:chOff x="1020916" y="1442088"/>
            <a:chExt cx="457200" cy="457200"/>
          </a:xfrm>
        </p:grpSpPr>
        <p:pic>
          <p:nvPicPr>
            <p:cNvPr id="179" name="Google Shape;179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1" name="Google Shape;181;p20"/>
          <p:cNvPicPr preferRelativeResize="0"/>
          <p:nvPr/>
        </p:nvPicPr>
        <p:blipFill rotWithShape="1">
          <a:blip r:embed="rId6">
            <a:alphaModFix/>
          </a:blip>
          <a:srcRect b="0" l="6050" r="0" t="9346"/>
          <a:stretch/>
        </p:blipFill>
        <p:spPr>
          <a:xfrm>
            <a:off x="482891" y="2281505"/>
            <a:ext cx="1025732" cy="779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9556" y="2203166"/>
            <a:ext cx="208017" cy="220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2015" y="2024331"/>
            <a:ext cx="208017" cy="22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3102" y="1913837"/>
            <a:ext cx="208017" cy="220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6666" y="1994032"/>
            <a:ext cx="208017" cy="220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49340" y="2279561"/>
            <a:ext cx="208017" cy="22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28240" y="2416574"/>
            <a:ext cx="208017" cy="22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20725" y="2312014"/>
            <a:ext cx="208017" cy="22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3495884" y="2681443"/>
            <a:ext cx="492300" cy="4923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82891" y="3957525"/>
            <a:ext cx="5399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a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object.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All of its 2D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must be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at least one direction, all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must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each other.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82891" y="346795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Complete the sentences with the missing words provided to give an explanation of what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9">
            <a:alphaModFix/>
          </a:blip>
          <a:srcRect b="15945" l="-331" r="85318" t="0"/>
          <a:stretch/>
        </p:blipFill>
        <p:spPr>
          <a:xfrm flipH="1">
            <a:off x="5990517" y="3824246"/>
            <a:ext cx="766228" cy="148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9">
            <a:alphaModFix/>
          </a:blip>
          <a:srcRect b="12802" l="20786" r="64200" t="59370"/>
          <a:stretch/>
        </p:blipFill>
        <p:spPr>
          <a:xfrm flipH="1">
            <a:off x="6001376" y="4835625"/>
            <a:ext cx="766228" cy="49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 rotWithShape="1">
          <a:blip r:embed="rId9">
            <a:alphaModFix/>
          </a:blip>
          <a:srcRect b="12802" l="20786" r="64200" t="59370"/>
          <a:stretch/>
        </p:blipFill>
        <p:spPr>
          <a:xfrm flipH="1">
            <a:off x="6001376" y="4219749"/>
            <a:ext cx="766228" cy="49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9">
            <a:alphaModFix/>
          </a:blip>
          <a:srcRect b="12802" l="20786" r="64200" t="59370"/>
          <a:stretch/>
        </p:blipFill>
        <p:spPr>
          <a:xfrm flipH="1">
            <a:off x="6001376" y="3809174"/>
            <a:ext cx="766228" cy="49214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1549709" y="3832370"/>
            <a:ext cx="611400" cy="31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557369" y="4572886"/>
            <a:ext cx="856800" cy="31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parallel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98293" y="4936720"/>
            <a:ext cx="1084500" cy="31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congruent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086275" y="4197096"/>
            <a:ext cx="983100" cy="31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polygons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41279" y="5340017"/>
            <a:ext cx="547500" cy="208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315789" y="5340017"/>
            <a:ext cx="907500" cy="208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circular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792451" y="5340017"/>
            <a:ext cx="1284900" cy="208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perpendicular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335035" y="5340017"/>
            <a:ext cx="1085700" cy="2088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equidistant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20"/>
          <p:cNvGrpSpPr/>
          <p:nvPr/>
        </p:nvGrpSpPr>
        <p:grpSpPr>
          <a:xfrm>
            <a:off x="2363226" y="1993850"/>
            <a:ext cx="241127" cy="220508"/>
            <a:chOff x="1020916" y="1442088"/>
            <a:chExt cx="457200" cy="457200"/>
          </a:xfrm>
        </p:grpSpPr>
        <p:pic>
          <p:nvPicPr>
            <p:cNvPr id="205" name="Google Shape;205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2962467" y="2343624"/>
            <a:ext cx="241127" cy="220508"/>
            <a:chOff x="1020916" y="1442088"/>
            <a:chExt cx="457200" cy="457200"/>
          </a:xfrm>
        </p:grpSpPr>
        <p:pic>
          <p:nvPicPr>
            <p:cNvPr id="208" name="Google Shape;20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3457270" y="2416634"/>
            <a:ext cx="241127" cy="220508"/>
            <a:chOff x="1020916" y="1442088"/>
            <a:chExt cx="457200" cy="457200"/>
          </a:xfrm>
        </p:grpSpPr>
        <p:pic>
          <p:nvPicPr>
            <p:cNvPr id="211" name="Google Shape;21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4818152" y="1913655"/>
            <a:ext cx="241127" cy="220508"/>
            <a:chOff x="1020916" y="1442088"/>
            <a:chExt cx="457200" cy="457200"/>
          </a:xfrm>
        </p:grpSpPr>
        <p:pic>
          <p:nvPicPr>
            <p:cNvPr id="214" name="Google Shape;21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" name="Google Shape;216;p20"/>
          <p:cNvGrpSpPr/>
          <p:nvPr/>
        </p:nvGrpSpPr>
        <p:grpSpPr>
          <a:xfrm>
            <a:off x="5611082" y="2024369"/>
            <a:ext cx="241127" cy="220508"/>
            <a:chOff x="1020916" y="1442088"/>
            <a:chExt cx="457200" cy="457200"/>
          </a:xfrm>
        </p:grpSpPr>
        <p:pic>
          <p:nvPicPr>
            <p:cNvPr id="217" name="Google Shape;21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6519177" y="2294257"/>
            <a:ext cx="241127" cy="256032"/>
            <a:chOff x="1020916" y="1442088"/>
            <a:chExt cx="457200" cy="457200"/>
          </a:xfrm>
        </p:grpSpPr>
        <p:pic>
          <p:nvPicPr>
            <p:cNvPr id="220" name="Google Shape;220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0"/>
            <p:cNvSpPr txBox="1"/>
            <p:nvPr/>
          </p:nvSpPr>
          <p:spPr>
            <a:xfrm>
              <a:off x="1045503" y="149044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2" name="Google Shape;222;p20"/>
          <p:cNvPicPr preferRelativeResize="0"/>
          <p:nvPr/>
        </p:nvPicPr>
        <p:blipFill rotWithShape="1">
          <a:blip r:embed="rId10">
            <a:alphaModFix/>
          </a:blip>
          <a:srcRect b="0" l="56739" r="0" t="0"/>
          <a:stretch/>
        </p:blipFill>
        <p:spPr>
          <a:xfrm>
            <a:off x="483991" y="6789706"/>
            <a:ext cx="1102568" cy="158875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482897" y="5794251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These diagrams all show the same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of the diagrams show the correct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that help demonstrate it is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10">
            <a:alphaModFix/>
          </a:blip>
          <a:srcRect b="0" l="56739" r="0" t="0"/>
          <a:stretch/>
        </p:blipFill>
        <p:spPr>
          <a:xfrm>
            <a:off x="2835233" y="6789706"/>
            <a:ext cx="1102568" cy="158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10">
            <a:alphaModFix/>
          </a:blip>
          <a:srcRect b="0" l="56739" r="0" t="0"/>
          <a:stretch/>
        </p:blipFill>
        <p:spPr>
          <a:xfrm>
            <a:off x="5000805" y="6789706"/>
            <a:ext cx="1102568" cy="158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10">
            <a:alphaModFix/>
          </a:blip>
          <a:srcRect b="2" l="-86" r="56826" t="71698"/>
          <a:stretch/>
        </p:blipFill>
        <p:spPr>
          <a:xfrm>
            <a:off x="2839251" y="7928853"/>
            <a:ext cx="1102559" cy="44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10">
            <a:alphaModFix/>
          </a:blip>
          <a:srcRect b="2" l="-86" r="56826" t="71698"/>
          <a:stretch/>
        </p:blipFill>
        <p:spPr>
          <a:xfrm>
            <a:off x="2839251" y="7195177"/>
            <a:ext cx="1102559" cy="449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 rot="-5400000">
            <a:off x="-58112" y="7385674"/>
            <a:ext cx="1518600" cy="3843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 rot="-5400000">
            <a:off x="731373" y="7328443"/>
            <a:ext cx="1251600" cy="233700"/>
          </a:xfrm>
          <a:prstGeom prst="parallelogram">
            <a:avLst>
              <a:gd fmla="val 31325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 rot="-5400000">
            <a:off x="4466476" y="7391907"/>
            <a:ext cx="1518600" cy="3843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51044" y="6386820"/>
            <a:ext cx="308745" cy="32675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/>
          <p:nvPr/>
        </p:nvSpPr>
        <p:spPr>
          <a:xfrm flipH="1" rot="5400000">
            <a:off x="5116141" y="7522642"/>
            <a:ext cx="1518600" cy="384300"/>
          </a:xfrm>
          <a:prstGeom prst="parallelogram">
            <a:avLst>
              <a:gd fmla="val 89389" name="adj"/>
            </a:avLst>
          </a:prstGeom>
          <a:solidFill>
            <a:srgbClr val="000000">
              <a:alpha val="55000"/>
            </a:srgbClr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914230" y="6411020"/>
            <a:ext cx="241127" cy="220508"/>
            <a:chOff x="1020916" y="1442088"/>
            <a:chExt cx="457200" cy="457200"/>
          </a:xfrm>
        </p:grpSpPr>
        <p:pic>
          <p:nvPicPr>
            <p:cNvPr id="234" name="Google Shape;23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6" name="Google Shape;236;p20"/>
          <p:cNvGrpSpPr/>
          <p:nvPr/>
        </p:nvGrpSpPr>
        <p:grpSpPr>
          <a:xfrm>
            <a:off x="3250638" y="6411014"/>
            <a:ext cx="241127" cy="220508"/>
            <a:chOff x="1020916" y="1442088"/>
            <a:chExt cx="457200" cy="457200"/>
          </a:xfrm>
        </p:grpSpPr>
        <p:pic>
          <p:nvPicPr>
            <p:cNvPr id="237" name="Google Shape;23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9" name="Google Shape;239;p20"/>
          <p:cNvGrpSpPr/>
          <p:nvPr/>
        </p:nvGrpSpPr>
        <p:grpSpPr>
          <a:xfrm>
            <a:off x="5481625" y="6541749"/>
            <a:ext cx="241127" cy="220508"/>
            <a:chOff x="1020916" y="1442088"/>
            <a:chExt cx="457200" cy="457200"/>
          </a:xfrm>
        </p:grpSpPr>
        <p:pic>
          <p:nvPicPr>
            <p:cNvPr id="240" name="Google Shape;240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2" name="Google Shape;242;p20"/>
          <p:cNvSpPr txBox="1"/>
          <p:nvPr/>
        </p:nvSpPr>
        <p:spPr>
          <a:xfrm>
            <a:off x="509041" y="9401790"/>
            <a:ext cx="211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Therefore, these cross sections do not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help demonstrate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is a prism.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82879" y="8478090"/>
            <a:ext cx="253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cross sections: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polygons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parallel to each other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not congruent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2815691" y="8478090"/>
            <a:ext cx="2112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cross sections: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polygons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parallel to each other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 congruent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these cross sections help demonstrate this is a prism.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prisms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468000" y="864000"/>
            <a:ext cx="58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Andeep says this 3D shape is not a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because the two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he found are not congruent to each other. Explain why Andeep is incorrect.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1" name="Google Shape;2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430" y="864008"/>
            <a:ext cx="614644" cy="79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56531" r="0" t="5231"/>
          <a:stretch/>
        </p:blipFill>
        <p:spPr>
          <a:xfrm>
            <a:off x="490208" y="1314675"/>
            <a:ext cx="1038690" cy="1353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 rotWithShape="1">
          <a:blip r:embed="rId4">
            <a:alphaModFix/>
          </a:blip>
          <a:srcRect b="5204" l="-499" r="57031" t="49774"/>
          <a:stretch/>
        </p:blipFill>
        <p:spPr>
          <a:xfrm>
            <a:off x="480031" y="1387807"/>
            <a:ext cx="1038690" cy="643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 rotWithShape="1">
          <a:blip r:embed="rId4">
            <a:alphaModFix/>
          </a:blip>
          <a:srcRect b="5204" l="-499" r="57031" t="49774"/>
          <a:stretch/>
        </p:blipFill>
        <p:spPr>
          <a:xfrm>
            <a:off x="480025" y="1756038"/>
            <a:ext cx="1038690" cy="92671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1677125" y="1598700"/>
            <a:ext cx="515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might still be a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Andeep has not taken two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cross sections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that are parallel to each other.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One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cross section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looks parallel to the top face of the object, whilst the other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cross section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is at an angle compared to the bottom face.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68000" y="280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Categorising prisms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1"/>
          <p:cNvCxnSpPr/>
          <p:nvPr/>
        </p:nvCxnSpPr>
        <p:spPr>
          <a:xfrm>
            <a:off x="468007" y="27562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8" name="Google Shape;258;p21"/>
          <p:cNvGraphicFramePr/>
          <p:nvPr/>
        </p:nvGraphicFramePr>
        <p:xfrm>
          <a:off x="4800600" y="30802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{7CD28997-381E-4786-8854-68C7412ABBD7}</a:tableStyleId>
              </a:tblPr>
              <a:tblGrid>
                <a:gridCol w="2124000"/>
              </a:tblGrid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triangular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solidFill>
                      <a:schemeClr val="lt1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quadrilateral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pentagonal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a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9" name="Google Shape;259;p21"/>
          <p:cNvPicPr preferRelativeResize="0"/>
          <p:nvPr/>
        </p:nvPicPr>
        <p:blipFill rotWithShape="1">
          <a:blip r:embed="rId5">
            <a:alphaModFix/>
          </a:blip>
          <a:srcRect b="39777" l="0" r="0" t="0"/>
          <a:stretch/>
        </p:blipFill>
        <p:spPr>
          <a:xfrm>
            <a:off x="480025" y="3453373"/>
            <a:ext cx="3694767" cy="12368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468000" y="3080250"/>
            <a:ext cx="433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Place these 3D shapes into the correct row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1" name="Google Shape;261;p21"/>
          <p:cNvPicPr preferRelativeResize="0"/>
          <p:nvPr/>
        </p:nvPicPr>
        <p:blipFill rotWithShape="1">
          <a:blip r:embed="rId5">
            <a:alphaModFix/>
          </a:blip>
          <a:srcRect b="6418" l="0" r="0" t="59528"/>
          <a:stretch/>
        </p:blipFill>
        <p:spPr>
          <a:xfrm>
            <a:off x="480025" y="4653442"/>
            <a:ext cx="3694767" cy="6993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1"/>
          <p:cNvGrpSpPr/>
          <p:nvPr/>
        </p:nvGrpSpPr>
        <p:grpSpPr>
          <a:xfrm>
            <a:off x="1144673" y="3505840"/>
            <a:ext cx="248717" cy="245608"/>
            <a:chOff x="1020916" y="1442088"/>
            <a:chExt cx="457200" cy="457200"/>
          </a:xfrm>
        </p:grpSpPr>
        <p:pic>
          <p:nvPicPr>
            <p:cNvPr id="263" name="Google Shape;263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5" name="Google Shape;265;p21"/>
          <p:cNvGrpSpPr/>
          <p:nvPr/>
        </p:nvGrpSpPr>
        <p:grpSpPr>
          <a:xfrm>
            <a:off x="2509937" y="3326222"/>
            <a:ext cx="248717" cy="245608"/>
            <a:chOff x="1020916" y="1442088"/>
            <a:chExt cx="457200" cy="457200"/>
          </a:xfrm>
        </p:grpSpPr>
        <p:pic>
          <p:nvPicPr>
            <p:cNvPr id="266" name="Google Shape;266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1"/>
          <p:cNvGrpSpPr/>
          <p:nvPr/>
        </p:nvGrpSpPr>
        <p:grpSpPr>
          <a:xfrm>
            <a:off x="3730338" y="3567261"/>
            <a:ext cx="248717" cy="245608"/>
            <a:chOff x="1020916" y="1442088"/>
            <a:chExt cx="457200" cy="457200"/>
          </a:xfrm>
        </p:grpSpPr>
        <p:pic>
          <p:nvPicPr>
            <p:cNvPr id="269" name="Google Shape;269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" name="Google Shape;271;p21"/>
          <p:cNvGrpSpPr/>
          <p:nvPr/>
        </p:nvGrpSpPr>
        <p:grpSpPr>
          <a:xfrm>
            <a:off x="602825" y="4442151"/>
            <a:ext cx="248717" cy="245608"/>
            <a:chOff x="1020916" y="1442088"/>
            <a:chExt cx="457200" cy="457200"/>
          </a:xfrm>
        </p:grpSpPr>
        <p:pic>
          <p:nvPicPr>
            <p:cNvPr id="272" name="Google Shape;27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4" name="Google Shape;274;p21"/>
          <p:cNvGrpSpPr/>
          <p:nvPr/>
        </p:nvGrpSpPr>
        <p:grpSpPr>
          <a:xfrm>
            <a:off x="2287633" y="4521267"/>
            <a:ext cx="248717" cy="245608"/>
            <a:chOff x="1020916" y="1442088"/>
            <a:chExt cx="457200" cy="457200"/>
          </a:xfrm>
        </p:grpSpPr>
        <p:pic>
          <p:nvPicPr>
            <p:cNvPr id="275" name="Google Shape;275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" name="Google Shape;277;p21"/>
          <p:cNvGrpSpPr/>
          <p:nvPr/>
        </p:nvGrpSpPr>
        <p:grpSpPr>
          <a:xfrm>
            <a:off x="3846138" y="4627595"/>
            <a:ext cx="248717" cy="245608"/>
            <a:chOff x="1020916" y="1442088"/>
            <a:chExt cx="457200" cy="457200"/>
          </a:xfrm>
        </p:grpSpPr>
        <p:pic>
          <p:nvPicPr>
            <p:cNvPr id="278" name="Google Shape;278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" name="Google Shape;280;p21"/>
          <p:cNvGrpSpPr/>
          <p:nvPr/>
        </p:nvGrpSpPr>
        <p:grpSpPr>
          <a:xfrm>
            <a:off x="5620961" y="3381640"/>
            <a:ext cx="241630" cy="241630"/>
            <a:chOff x="1020916" y="1442088"/>
            <a:chExt cx="457200" cy="457200"/>
          </a:xfrm>
        </p:grpSpPr>
        <p:pic>
          <p:nvPicPr>
            <p:cNvPr id="281" name="Google Shape;281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" name="Google Shape;283;p21"/>
          <p:cNvGrpSpPr/>
          <p:nvPr/>
        </p:nvGrpSpPr>
        <p:grpSpPr>
          <a:xfrm>
            <a:off x="5741776" y="4523283"/>
            <a:ext cx="241630" cy="241584"/>
            <a:chOff x="1020916" y="1442088"/>
            <a:chExt cx="457200" cy="457200"/>
          </a:xfrm>
        </p:grpSpPr>
        <p:pic>
          <p:nvPicPr>
            <p:cNvPr id="284" name="Google Shape;28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" name="Google Shape;286;p21"/>
          <p:cNvGrpSpPr/>
          <p:nvPr/>
        </p:nvGrpSpPr>
        <p:grpSpPr>
          <a:xfrm>
            <a:off x="5862620" y="3947698"/>
            <a:ext cx="241630" cy="241630"/>
            <a:chOff x="1020916" y="1442088"/>
            <a:chExt cx="457200" cy="457200"/>
          </a:xfrm>
        </p:grpSpPr>
        <p:pic>
          <p:nvPicPr>
            <p:cNvPr id="287" name="Google Shape;287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9" name="Google Shape;289;p21"/>
          <p:cNvGrpSpPr/>
          <p:nvPr/>
        </p:nvGrpSpPr>
        <p:grpSpPr>
          <a:xfrm>
            <a:off x="5620962" y="3947698"/>
            <a:ext cx="241630" cy="241630"/>
            <a:chOff x="1020916" y="1442088"/>
            <a:chExt cx="457200" cy="457200"/>
          </a:xfrm>
        </p:grpSpPr>
        <p:pic>
          <p:nvPicPr>
            <p:cNvPr id="290" name="Google Shape;290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2" name="Google Shape;292;p21"/>
          <p:cNvGrpSpPr/>
          <p:nvPr/>
        </p:nvGrpSpPr>
        <p:grpSpPr>
          <a:xfrm>
            <a:off x="5741776" y="5079783"/>
            <a:ext cx="241630" cy="241584"/>
            <a:chOff x="1020916" y="1442088"/>
            <a:chExt cx="457200" cy="457200"/>
          </a:xfrm>
        </p:grpSpPr>
        <p:pic>
          <p:nvPicPr>
            <p:cNvPr id="293" name="Google Shape;293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5" name="Google Shape;295;p21"/>
          <p:cNvGrpSpPr/>
          <p:nvPr/>
        </p:nvGrpSpPr>
        <p:grpSpPr>
          <a:xfrm>
            <a:off x="5862625" y="3381640"/>
            <a:ext cx="241630" cy="241630"/>
            <a:chOff x="1020916" y="1442088"/>
            <a:chExt cx="457200" cy="457200"/>
          </a:xfrm>
        </p:grpSpPr>
        <p:pic>
          <p:nvPicPr>
            <p:cNvPr id="296" name="Google Shape;296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98" name="Google Shape;298;p21"/>
          <p:cNvSpPr txBox="1"/>
          <p:nvPr/>
        </p:nvSpPr>
        <p:spPr>
          <a:xfrm>
            <a:off x="468000" y="5432882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On squared paper, sketch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cross sectional polygon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for each of these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1"/>
          <p:cNvPicPr preferRelativeResize="0"/>
          <p:nvPr/>
        </p:nvPicPr>
        <p:blipFill rotWithShape="1">
          <a:blip r:embed="rId7">
            <a:alphaModFix/>
          </a:blip>
          <a:srcRect b="0" l="0" r="0" t="17763"/>
          <a:stretch/>
        </p:blipFill>
        <p:spPr>
          <a:xfrm>
            <a:off x="489561" y="6767423"/>
            <a:ext cx="4128626" cy="64180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0" name="Google Shape;30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7252" y="5605164"/>
            <a:ext cx="3674152" cy="109232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4766775" y="6751200"/>
            <a:ext cx="231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These are only approximate shapes - if your sketch differs slightly, that is okay.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02" name="Google Shape;30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0188" y="7822148"/>
            <a:ext cx="2316937" cy="18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1"/>
          <p:cNvSpPr txBox="1"/>
          <p:nvPr/>
        </p:nvSpPr>
        <p:spPr>
          <a:xfrm>
            <a:off x="468000" y="7652635"/>
            <a:ext cx="509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Write down a suitable name for each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4" name="Google Shape;304;p21"/>
          <p:cNvGrpSpPr/>
          <p:nvPr/>
        </p:nvGrpSpPr>
        <p:grpSpPr>
          <a:xfrm>
            <a:off x="742566" y="8109931"/>
            <a:ext cx="175793" cy="175793"/>
            <a:chOff x="1020916" y="1442088"/>
            <a:chExt cx="457200" cy="457200"/>
          </a:xfrm>
        </p:grpSpPr>
        <p:pic>
          <p:nvPicPr>
            <p:cNvPr id="305" name="Google Shape;305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7" name="Google Shape;307;p21"/>
          <p:cNvGrpSpPr/>
          <p:nvPr/>
        </p:nvGrpSpPr>
        <p:grpSpPr>
          <a:xfrm>
            <a:off x="1902825" y="8075914"/>
            <a:ext cx="175793" cy="175793"/>
            <a:chOff x="1020916" y="1442088"/>
            <a:chExt cx="457200" cy="457200"/>
          </a:xfrm>
        </p:grpSpPr>
        <p:pic>
          <p:nvPicPr>
            <p:cNvPr id="308" name="Google Shape;308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9" name="Google Shape;30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0" name="Google Shape;310;p21"/>
          <p:cNvGrpSpPr/>
          <p:nvPr/>
        </p:nvGrpSpPr>
        <p:grpSpPr>
          <a:xfrm>
            <a:off x="596298" y="8721245"/>
            <a:ext cx="175793" cy="175793"/>
            <a:chOff x="1020916" y="1442088"/>
            <a:chExt cx="457200" cy="457200"/>
          </a:xfrm>
        </p:grpSpPr>
        <p:pic>
          <p:nvPicPr>
            <p:cNvPr id="311" name="Google Shape;311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3" name="Google Shape;313;p21"/>
          <p:cNvGrpSpPr/>
          <p:nvPr/>
        </p:nvGrpSpPr>
        <p:grpSpPr>
          <a:xfrm>
            <a:off x="1711367" y="8697168"/>
            <a:ext cx="175793" cy="175793"/>
            <a:chOff x="1020916" y="1442088"/>
            <a:chExt cx="457200" cy="457200"/>
          </a:xfrm>
        </p:grpSpPr>
        <p:pic>
          <p:nvPicPr>
            <p:cNvPr id="314" name="Google Shape;31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6" name="Google Shape;316;p21"/>
          <p:cNvSpPr/>
          <p:nvPr/>
        </p:nvSpPr>
        <p:spPr>
          <a:xfrm rot="5400000">
            <a:off x="1214938" y="8238223"/>
            <a:ext cx="115800" cy="83100"/>
          </a:xfrm>
          <a:prstGeom prst="parallelogram">
            <a:avLst>
              <a:gd fmla="val 52893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7" name="Google Shape;317;p21"/>
          <p:cNvPicPr preferRelativeResize="0"/>
          <p:nvPr/>
        </p:nvPicPr>
        <p:blipFill rotWithShape="1">
          <a:blip r:embed="rId10">
            <a:alphaModFix/>
          </a:blip>
          <a:srcRect b="0" l="0" r="0" t="3456"/>
          <a:stretch/>
        </p:blipFill>
        <p:spPr>
          <a:xfrm>
            <a:off x="2863000" y="8516338"/>
            <a:ext cx="1038701" cy="10946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21"/>
          <p:cNvGrpSpPr/>
          <p:nvPr/>
        </p:nvGrpSpPr>
        <p:grpSpPr>
          <a:xfrm>
            <a:off x="3336151" y="8389824"/>
            <a:ext cx="165232" cy="165232"/>
            <a:chOff x="1020916" y="1442088"/>
            <a:chExt cx="457200" cy="457200"/>
          </a:xfrm>
        </p:grpSpPr>
        <p:pic>
          <p:nvPicPr>
            <p:cNvPr id="319" name="Google Shape;319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1" name="Google Shape;321;p21"/>
          <p:cNvSpPr txBox="1"/>
          <p:nvPr/>
        </p:nvSpPr>
        <p:spPr>
          <a:xfrm>
            <a:off x="4949668" y="8634603"/>
            <a:ext cx="18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hexagonal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irregular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hexagonal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4657197" y="7691302"/>
            <a:ext cx="194401" cy="195224"/>
            <a:chOff x="1020916" y="1442088"/>
            <a:chExt cx="457200" cy="457200"/>
          </a:xfrm>
        </p:grpSpPr>
        <p:pic>
          <p:nvPicPr>
            <p:cNvPr id="323" name="Google Shape;323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5" name="Google Shape;325;p21"/>
          <p:cNvGrpSpPr/>
          <p:nvPr/>
        </p:nvGrpSpPr>
        <p:grpSpPr>
          <a:xfrm>
            <a:off x="4657197" y="8186887"/>
            <a:ext cx="194401" cy="195224"/>
            <a:chOff x="1020916" y="1442088"/>
            <a:chExt cx="457200" cy="457200"/>
          </a:xfrm>
        </p:grpSpPr>
        <p:pic>
          <p:nvPicPr>
            <p:cNvPr id="326" name="Google Shape;326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8" name="Google Shape;328;p21"/>
          <p:cNvSpPr txBox="1"/>
          <p:nvPr/>
        </p:nvSpPr>
        <p:spPr>
          <a:xfrm>
            <a:off x="4949668" y="7672410"/>
            <a:ext cx="191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triangular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right-angled triangular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4949668" y="8153500"/>
            <a:ext cx="18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quadrilateral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rectangular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30" name="Google Shape;330;p21"/>
          <p:cNvGrpSpPr/>
          <p:nvPr/>
        </p:nvGrpSpPr>
        <p:grpSpPr>
          <a:xfrm>
            <a:off x="4657197" y="8682472"/>
            <a:ext cx="194401" cy="195224"/>
            <a:chOff x="1020916" y="1442088"/>
            <a:chExt cx="457200" cy="457200"/>
          </a:xfrm>
        </p:grpSpPr>
        <p:pic>
          <p:nvPicPr>
            <p:cNvPr id="331" name="Google Shape;331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3" name="Google Shape;333;p21"/>
          <p:cNvGrpSpPr/>
          <p:nvPr/>
        </p:nvGrpSpPr>
        <p:grpSpPr>
          <a:xfrm>
            <a:off x="4657197" y="9178056"/>
            <a:ext cx="194401" cy="195224"/>
            <a:chOff x="1020916" y="1442088"/>
            <a:chExt cx="457200" cy="457200"/>
          </a:xfrm>
        </p:grpSpPr>
        <p:pic>
          <p:nvPicPr>
            <p:cNvPr id="334" name="Google Shape;33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" name="Google Shape;33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6" name="Google Shape;336;p21"/>
          <p:cNvSpPr txBox="1"/>
          <p:nvPr/>
        </p:nvSpPr>
        <p:spPr>
          <a:xfrm>
            <a:off x="4949668" y="9107393"/>
            <a:ext cx="18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octagonal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regular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octagonal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80025" y="9709903"/>
            <a:ext cx="4007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If you came up with a different answer, can you justify it?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949675" y="9580159"/>
            <a:ext cx="18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octagonal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irregular octagonal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39" name="Google Shape;339;p21"/>
          <p:cNvGrpSpPr/>
          <p:nvPr/>
        </p:nvGrpSpPr>
        <p:grpSpPr>
          <a:xfrm>
            <a:off x="4657197" y="9580164"/>
            <a:ext cx="194401" cy="194401"/>
            <a:chOff x="1020916" y="1442088"/>
            <a:chExt cx="457200" cy="457200"/>
          </a:xfrm>
        </p:grpSpPr>
        <p:pic>
          <p:nvPicPr>
            <p:cNvPr id="340" name="Google Shape;340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1" name="Google Shape;34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42" name="Google Shape;342;p21"/>
          <p:cNvCxnSpPr/>
          <p:nvPr/>
        </p:nvCxnSpPr>
        <p:spPr>
          <a:xfrm>
            <a:off x="468007" y="1001484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4" name="Google Shape;344;p21"/>
          <p:cNvSpPr/>
          <p:nvPr/>
        </p:nvSpPr>
        <p:spPr>
          <a:xfrm rot="7736748">
            <a:off x="661976" y="1558833"/>
            <a:ext cx="168951" cy="184929"/>
          </a:xfrm>
          <a:prstGeom prst="triangle">
            <a:avLst>
              <a:gd fmla="val 50000" name="adj"/>
            </a:avLst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/>
          <p:nvPr/>
        </p:nvSpPr>
        <p:spPr>
          <a:xfrm rot="7736748">
            <a:off x="657589" y="2197133"/>
            <a:ext cx="168951" cy="184929"/>
          </a:xfrm>
          <a:prstGeom prst="triangle">
            <a:avLst>
              <a:gd fmla="val 50000" name="adj"/>
            </a:avLst>
          </a:prstGeom>
          <a:solidFill>
            <a:srgbClr val="7A4FCD"/>
          </a:solidFill>
          <a:ln cap="flat" cmpd="sng" w="9525">
            <a:solidFill>
              <a:srgbClr val="7A4F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08" y="5499974"/>
            <a:ext cx="1643270" cy="1262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prisms</a:t>
            </a:r>
            <a:endParaRPr/>
          </a:p>
        </p:txBody>
      </p:sp>
      <p:cxnSp>
        <p:nvCxnSpPr>
          <p:cNvPr id="353" name="Google Shape;353;p22"/>
          <p:cNvCxnSpPr/>
          <p:nvPr/>
        </p:nvCxnSpPr>
        <p:spPr>
          <a:xfrm>
            <a:off x="500540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22"/>
          <p:cNvSpPr txBox="1"/>
          <p:nvPr/>
        </p:nvSpPr>
        <p:spPr>
          <a:xfrm>
            <a:off x="497775" y="9790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Understanding oblique prisms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497783" y="1253988"/>
            <a:ext cx="6296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Place these 3D shapes into the correct row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6" name="Google Shape;356;p22"/>
          <p:cNvGraphicFramePr/>
          <p:nvPr/>
        </p:nvGraphicFramePr>
        <p:xfrm>
          <a:off x="5325733" y="1729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{7CD28997-381E-4786-8854-68C7412ABBD7}</a:tableStyleId>
              </a:tblPr>
              <a:tblGrid>
                <a:gridCol w="1228100"/>
              </a:tblGrid>
              <a:tr h="14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right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41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oblique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prism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57" name="Google Shape;35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95" y="1605424"/>
            <a:ext cx="4337574" cy="1652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22"/>
          <p:cNvGrpSpPr/>
          <p:nvPr/>
        </p:nvGrpSpPr>
        <p:grpSpPr>
          <a:xfrm>
            <a:off x="726183" y="2829993"/>
            <a:ext cx="212415" cy="212415"/>
            <a:chOff x="1020916" y="1442088"/>
            <a:chExt cx="457200" cy="457200"/>
          </a:xfrm>
        </p:grpSpPr>
        <p:pic>
          <p:nvPicPr>
            <p:cNvPr id="359" name="Google Shape;359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1" name="Google Shape;361;p22"/>
          <p:cNvGrpSpPr/>
          <p:nvPr/>
        </p:nvGrpSpPr>
        <p:grpSpPr>
          <a:xfrm>
            <a:off x="5700279" y="2622831"/>
            <a:ext cx="212415" cy="212415"/>
            <a:chOff x="1020916" y="1442088"/>
            <a:chExt cx="457200" cy="457200"/>
          </a:xfrm>
        </p:grpSpPr>
        <p:pic>
          <p:nvPicPr>
            <p:cNvPr id="362" name="Google Shape;362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" name="Google Shape;363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4" name="Google Shape;364;p22"/>
          <p:cNvGrpSpPr/>
          <p:nvPr/>
        </p:nvGrpSpPr>
        <p:grpSpPr>
          <a:xfrm>
            <a:off x="1799291" y="2914439"/>
            <a:ext cx="212415" cy="212415"/>
            <a:chOff x="1020916" y="1442088"/>
            <a:chExt cx="457200" cy="457200"/>
          </a:xfrm>
        </p:grpSpPr>
        <p:pic>
          <p:nvPicPr>
            <p:cNvPr id="365" name="Google Shape;365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7" name="Google Shape;367;p22"/>
          <p:cNvGrpSpPr/>
          <p:nvPr/>
        </p:nvGrpSpPr>
        <p:grpSpPr>
          <a:xfrm>
            <a:off x="5700279" y="2018495"/>
            <a:ext cx="212415" cy="212415"/>
            <a:chOff x="1020916" y="1442088"/>
            <a:chExt cx="457200" cy="457200"/>
          </a:xfrm>
        </p:grpSpPr>
        <p:pic>
          <p:nvPicPr>
            <p:cNvPr id="368" name="Google Shape;368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22"/>
          <p:cNvGrpSpPr/>
          <p:nvPr/>
        </p:nvGrpSpPr>
        <p:grpSpPr>
          <a:xfrm>
            <a:off x="3198002" y="1605433"/>
            <a:ext cx="212415" cy="212415"/>
            <a:chOff x="1020916" y="1442088"/>
            <a:chExt cx="457200" cy="457200"/>
          </a:xfrm>
        </p:grpSpPr>
        <p:pic>
          <p:nvPicPr>
            <p:cNvPr id="371" name="Google Shape;371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22"/>
          <p:cNvGrpSpPr/>
          <p:nvPr/>
        </p:nvGrpSpPr>
        <p:grpSpPr>
          <a:xfrm>
            <a:off x="5944539" y="2018495"/>
            <a:ext cx="212415" cy="212415"/>
            <a:chOff x="1020916" y="1442088"/>
            <a:chExt cx="457200" cy="457200"/>
          </a:xfrm>
        </p:grpSpPr>
        <p:pic>
          <p:nvPicPr>
            <p:cNvPr id="374" name="Google Shape;374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22"/>
          <p:cNvGrpSpPr/>
          <p:nvPr/>
        </p:nvGrpSpPr>
        <p:grpSpPr>
          <a:xfrm>
            <a:off x="3957359" y="1920305"/>
            <a:ext cx="212415" cy="212415"/>
            <a:chOff x="1020916" y="1442088"/>
            <a:chExt cx="457200" cy="457200"/>
          </a:xfrm>
        </p:grpSpPr>
        <p:pic>
          <p:nvPicPr>
            <p:cNvPr id="377" name="Google Shape;377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9" name="Google Shape;379;p22"/>
          <p:cNvGrpSpPr/>
          <p:nvPr/>
        </p:nvGrpSpPr>
        <p:grpSpPr>
          <a:xfrm>
            <a:off x="5944539" y="2622843"/>
            <a:ext cx="212415" cy="212415"/>
            <a:chOff x="1020916" y="1442088"/>
            <a:chExt cx="457200" cy="457200"/>
          </a:xfrm>
        </p:grpSpPr>
        <p:pic>
          <p:nvPicPr>
            <p:cNvPr id="380" name="Google Shape;380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82" name="Google Shape;382;p22"/>
          <p:cNvSpPr txBox="1"/>
          <p:nvPr/>
        </p:nvSpPr>
        <p:spPr>
          <a:xfrm>
            <a:off x="504533" y="3297425"/>
            <a:ext cx="509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For each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write down a suitable name.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>
            <a:off x="854859" y="4219425"/>
            <a:ext cx="382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right irregular octagonal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854859" y="3665425"/>
            <a:ext cx="382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oblique trapezium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oblique quadrilateral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prism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854859" y="3942425"/>
            <a:ext cx="382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right rectangular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right quadrilateral </a:t>
            </a: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prism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854859" y="4496425"/>
            <a:ext cx="382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oblique irregular pentagonal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endParaRPr b="1"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87" name="Google Shape;387;p22"/>
          <p:cNvGrpSpPr/>
          <p:nvPr/>
        </p:nvGrpSpPr>
        <p:grpSpPr>
          <a:xfrm>
            <a:off x="550408" y="3652225"/>
            <a:ext cx="212415" cy="212415"/>
            <a:chOff x="1020916" y="1442088"/>
            <a:chExt cx="457200" cy="457200"/>
          </a:xfrm>
        </p:grpSpPr>
        <p:pic>
          <p:nvPicPr>
            <p:cNvPr id="388" name="Google Shape;388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22"/>
          <p:cNvGrpSpPr/>
          <p:nvPr/>
        </p:nvGrpSpPr>
        <p:grpSpPr>
          <a:xfrm>
            <a:off x="550420" y="3928614"/>
            <a:ext cx="212415" cy="212415"/>
            <a:chOff x="1020916" y="1442088"/>
            <a:chExt cx="457200" cy="457200"/>
          </a:xfrm>
        </p:grpSpPr>
        <p:pic>
          <p:nvPicPr>
            <p:cNvPr id="391" name="Google Shape;391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22"/>
          <p:cNvGrpSpPr/>
          <p:nvPr/>
        </p:nvGrpSpPr>
        <p:grpSpPr>
          <a:xfrm>
            <a:off x="550408" y="4204995"/>
            <a:ext cx="212415" cy="212415"/>
            <a:chOff x="1020916" y="1442088"/>
            <a:chExt cx="457200" cy="457200"/>
          </a:xfrm>
        </p:grpSpPr>
        <p:pic>
          <p:nvPicPr>
            <p:cNvPr id="394" name="Google Shape;394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22"/>
          <p:cNvGrpSpPr/>
          <p:nvPr/>
        </p:nvGrpSpPr>
        <p:grpSpPr>
          <a:xfrm>
            <a:off x="550408" y="4481372"/>
            <a:ext cx="212415" cy="212415"/>
            <a:chOff x="1020916" y="1442088"/>
            <a:chExt cx="457200" cy="457200"/>
          </a:xfrm>
        </p:grpSpPr>
        <p:pic>
          <p:nvPicPr>
            <p:cNvPr id="397" name="Google Shape;397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9" name="Google Shape;399;p22"/>
          <p:cNvGrpSpPr/>
          <p:nvPr/>
        </p:nvGrpSpPr>
        <p:grpSpPr>
          <a:xfrm flipH="1" rot="10800000">
            <a:off x="2722842" y="5530093"/>
            <a:ext cx="3485786" cy="1333258"/>
            <a:chOff x="3177725" y="2823300"/>
            <a:chExt cx="4470676" cy="1845850"/>
          </a:xfrm>
        </p:grpSpPr>
        <p:pic>
          <p:nvPicPr>
            <p:cNvPr id="400" name="Google Shape;400;p22"/>
            <p:cNvPicPr preferRelativeResize="0"/>
            <p:nvPr/>
          </p:nvPicPr>
          <p:blipFill rotWithShape="1">
            <a:blip r:embed="rId6">
              <a:alphaModFix/>
            </a:blip>
            <a:srcRect b="4760" l="59661" r="0" t="13015"/>
            <a:stretch/>
          </p:blipFill>
          <p:spPr>
            <a:xfrm flipH="1">
              <a:off x="3177725" y="2826975"/>
              <a:ext cx="1902275" cy="1826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22"/>
            <p:cNvPicPr preferRelativeResize="0"/>
            <p:nvPr/>
          </p:nvPicPr>
          <p:blipFill rotWithShape="1">
            <a:blip r:embed="rId6">
              <a:alphaModFix/>
            </a:blip>
            <a:srcRect b="4760" l="40548" r="3639" t="13015"/>
            <a:stretch/>
          </p:blipFill>
          <p:spPr>
            <a:xfrm flipH="1">
              <a:off x="5016500" y="2823300"/>
              <a:ext cx="2631900" cy="1845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2" name="Google Shape;402;p22"/>
          <p:cNvSpPr txBox="1"/>
          <p:nvPr/>
        </p:nvSpPr>
        <p:spPr>
          <a:xfrm>
            <a:off x="493775" y="5034025"/>
            <a:ext cx="6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and b are the same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seen from different perspectives.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Who is correct: Aisha, Lucas, both, or neither?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3" name="Google Shape;40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408" y="6892225"/>
            <a:ext cx="1324760" cy="107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208639" y="5122700"/>
            <a:ext cx="345959" cy="65325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2"/>
          <p:cNvSpPr txBox="1"/>
          <p:nvPr/>
        </p:nvSpPr>
        <p:spPr>
          <a:xfrm flipH="1">
            <a:off x="5904076" y="5835816"/>
            <a:ext cx="11301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 flipH="1">
            <a:off x="5768026" y="8514559"/>
            <a:ext cx="11301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7" name="Google Shape;407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6111533" y="8017204"/>
            <a:ext cx="443066" cy="4973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22"/>
          <p:cNvGrpSpPr/>
          <p:nvPr/>
        </p:nvGrpSpPr>
        <p:grpSpPr>
          <a:xfrm>
            <a:off x="2722842" y="6975942"/>
            <a:ext cx="3485786" cy="1333258"/>
            <a:chOff x="3177725" y="2823300"/>
            <a:chExt cx="4470676" cy="1845850"/>
          </a:xfrm>
        </p:grpSpPr>
        <p:pic>
          <p:nvPicPr>
            <p:cNvPr id="409" name="Google Shape;409;p22"/>
            <p:cNvPicPr preferRelativeResize="0"/>
            <p:nvPr/>
          </p:nvPicPr>
          <p:blipFill rotWithShape="1">
            <a:blip r:embed="rId6">
              <a:alphaModFix/>
            </a:blip>
            <a:srcRect b="4760" l="59661" r="0" t="13015"/>
            <a:stretch/>
          </p:blipFill>
          <p:spPr>
            <a:xfrm flipH="1">
              <a:off x="3177725" y="2826975"/>
              <a:ext cx="1902275" cy="1826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22"/>
            <p:cNvPicPr preferRelativeResize="0"/>
            <p:nvPr/>
          </p:nvPicPr>
          <p:blipFill rotWithShape="1">
            <a:blip r:embed="rId6">
              <a:alphaModFix/>
            </a:blip>
            <a:srcRect b="4760" l="40548" r="3639" t="13015"/>
            <a:stretch/>
          </p:blipFill>
          <p:spPr>
            <a:xfrm flipH="1">
              <a:off x="5016500" y="2823300"/>
              <a:ext cx="2631900" cy="1845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1" name="Google Shape;411;p22"/>
          <p:cNvSpPr txBox="1"/>
          <p:nvPr/>
        </p:nvSpPr>
        <p:spPr>
          <a:xfrm flipH="1">
            <a:off x="2820040" y="5775941"/>
            <a:ext cx="319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an oblique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is because the rectangles on the top and bottom of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are parallel to each other, but the other faces are not perpendicular to them.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2820066" y="7044926"/>
            <a:ext cx="319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a right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This is because the parallelograms on the top and bottom of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prism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 are parallel to each other, and the other faces are perpendicular to them.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1110435" y="6664856"/>
            <a:ext cx="213000" cy="65700"/>
          </a:xfrm>
          <a:prstGeom prst="parallelogram">
            <a:avLst>
              <a:gd fmla="val 13760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4" name="Google Shape;414;p22"/>
          <p:cNvGrpSpPr/>
          <p:nvPr/>
        </p:nvGrpSpPr>
        <p:grpSpPr>
          <a:xfrm>
            <a:off x="762833" y="5650931"/>
            <a:ext cx="212415" cy="212415"/>
            <a:chOff x="1020916" y="1442088"/>
            <a:chExt cx="457200" cy="457200"/>
          </a:xfrm>
        </p:grpSpPr>
        <p:pic>
          <p:nvPicPr>
            <p:cNvPr id="415" name="Google Shape;415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6" name="Google Shape;416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7" name="Google Shape;417;p22"/>
          <p:cNvGrpSpPr/>
          <p:nvPr/>
        </p:nvGrpSpPr>
        <p:grpSpPr>
          <a:xfrm>
            <a:off x="1723091" y="6650939"/>
            <a:ext cx="212415" cy="212415"/>
            <a:chOff x="1020916" y="1442088"/>
            <a:chExt cx="457200" cy="457200"/>
          </a:xfrm>
        </p:grpSpPr>
        <p:pic>
          <p:nvPicPr>
            <p:cNvPr id="418" name="Google Shape;418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0" name="Google Shape;420;p22"/>
          <p:cNvSpPr txBox="1"/>
          <p:nvPr/>
        </p:nvSpPr>
        <p:spPr>
          <a:xfrm>
            <a:off x="504525" y="8535875"/>
            <a:ext cx="654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Both are correct.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can be true for some quadrilateral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When looked at in one direction, they are a right parallelogram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(such as in b).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When looked at in a different direction, they are an oblique rectangular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prism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(such as in a).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1" name="Google Shape;42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