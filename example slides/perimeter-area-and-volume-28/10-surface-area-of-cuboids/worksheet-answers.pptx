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5" r:id="rId3"/>
    <p:sldMasterId id="2147483666" r:id="rId4"/>
  </p:sldMasterIdLst>
  <p:notesMasterIdLst>
    <p:notesMasterId r:id="rId5"/>
  </p:notesMasterIdLst>
  <p:sldIdLst>
    <p:sldId id="256" r:id="rId6"/>
    <p:sldId id="257" r:id="rId7"/>
    <p:sldId id="258" r:id="rId8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279934fec8d_0_131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79934fec8d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279934fec8d_0_136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279934fec8d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2a8d5e9df8e_0_148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2a8d5e9df8e_0_1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6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6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6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6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6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6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Answers 1">
  <p:cSld name="SECTION_HEADER_1_1_1_1_1_1_1_1_1_2_2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Answers 1 1">
  <p:cSld name="SECTION_HEADER_1_1_1_1_1_1_1_1_1_2_1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idx="2" type="subTitle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3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4" type="subTitle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5" type="subTitle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6" type="subTitle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7" type="subTitle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8" type="subTitle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" name="Google Shape;25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28" name="Google Shape;28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9" name="Google Shape;29;p3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pic>
        <p:nvPicPr>
          <p:cNvPr id="30" name="Google Shape;30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"/>
          <p:cNvSpPr txBox="1"/>
          <p:nvPr>
            <p:ph idx="9" type="subTitle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1">
  <p:cSld name="SECTION_HEADER_1_1_1_1_1_1_1_1_1_1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"/>
          <p:cNvSpPr txBox="1"/>
          <p:nvPr>
            <p:ph idx="1" type="subTitle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idx="2" type="subTitle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3" type="subTitle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 txBox="1"/>
          <p:nvPr>
            <p:ph idx="4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2">
  <p:cSld name="SECTION_HEADER_1_1_1_1_1_1_1_1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idx="1" type="subTitle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2" type="subTitle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3" type="subTitle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4" type="subTitle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3" name="Google Shape;43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 txBox="1"/>
          <p:nvPr>
            <p:ph idx="5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3">
  <p:cSld name="SECTION_HEADER_1_1_1_1_1_1_1_1_1_1_1_2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6"/>
          <p:cNvSpPr txBox="1"/>
          <p:nvPr>
            <p:ph idx="1" type="subTitle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2" type="subTitle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3" type="subTitle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4" type="subTitle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5" type="subTitle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6" type="subTitle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2" name="Google Shape;52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/>
          <p:nvPr>
            <p:ph idx="7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4">
  <p:cSld name="SECTION_HEADER_1_1_1_1_1_1_1_1_1_1_1_2_1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>
            <p:ph idx="2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lements to copy and paste">
  <p:cSld name="SECTION_HEADER_1_1_1_1_1_1_1_1_1_1_1_2_1_1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8" name="Google Shape;68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9" name="Google Shape;69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1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0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7" name="Google Shape;77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8" name="Google Shape;78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1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" name="Google Shape;86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2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3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5" name="Google Shape;9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0" name="Google Shape;100;p13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5" name="Google Shape;10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8" name="Google Shape;108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3" name="Google Shape;113;p14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7" name="Google Shape;117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8" name="Google Shape;11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" name="Google Shape;121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6" name="Google Shape;126;p15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0" name="Google Shape;130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1" name="Google Shape;13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4" name="Google Shape;134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9" name="Google Shape;139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0" name="Google Shape;14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7"/>
          <p:cNvSpPr txBox="1"/>
          <p:nvPr>
            <p:ph idx="1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7" name="Google Shape;14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2" name="Google Shape;152;p18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8"/>
          <p:cNvSpPr txBox="1"/>
          <p:nvPr>
            <p:ph idx="2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1" name="Google Shape;161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6" name="Google Shape;166;p19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11" Type="http://schemas.openxmlformats.org/officeDocument/2006/relationships/theme" Target="../theme/theme3.xml"/><Relationship Id="rId10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image" Target="../media/image11.png"/><Relationship Id="rId5" Type="http://schemas.openxmlformats.org/officeDocument/2006/relationships/image" Target="../media/image13.png"/><Relationship Id="rId6" Type="http://schemas.openxmlformats.org/officeDocument/2006/relationships/image" Target="../media/image19.png"/><Relationship Id="rId7" Type="http://schemas.openxmlformats.org/officeDocument/2006/relationships/image" Target="../media/image14.png"/><Relationship Id="rId8" Type="http://schemas.openxmlformats.org/officeDocument/2006/relationships/image" Target="../media/image2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8.png"/><Relationship Id="rId4" Type="http://schemas.openxmlformats.org/officeDocument/2006/relationships/image" Target="../media/image8.png"/><Relationship Id="rId5" Type="http://schemas.openxmlformats.org/officeDocument/2006/relationships/image" Target="../media/image12.png"/><Relationship Id="rId6" Type="http://schemas.openxmlformats.org/officeDocument/2006/relationships/image" Target="../media/image1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7.png"/><Relationship Id="rId4" Type="http://schemas.openxmlformats.org/officeDocument/2006/relationships/image" Target="../media/image16.png"/><Relationship Id="rId5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72" name="Google Shape;172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Surface area of cuboids</a:t>
            </a:r>
            <a:endParaRPr/>
          </a:p>
        </p:txBody>
      </p:sp>
      <p:sp>
        <p:nvSpPr>
          <p:cNvPr id="173" name="Google Shape;173;p20"/>
          <p:cNvSpPr txBox="1"/>
          <p:nvPr/>
        </p:nvSpPr>
        <p:spPr>
          <a:xfrm>
            <a:off x="468000" y="1430375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A: 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Nets of cuboids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74" name="Google Shape;174;p20"/>
          <p:cNvGrpSpPr/>
          <p:nvPr/>
        </p:nvGrpSpPr>
        <p:grpSpPr>
          <a:xfrm>
            <a:off x="468087" y="2567850"/>
            <a:ext cx="2807764" cy="692594"/>
            <a:chOff x="324000" y="2012321"/>
            <a:chExt cx="4083426" cy="1007263"/>
          </a:xfrm>
        </p:grpSpPr>
        <p:pic>
          <p:nvPicPr>
            <p:cNvPr id="175" name="Google Shape;175;p20"/>
            <p:cNvPicPr preferRelativeResize="0"/>
            <p:nvPr/>
          </p:nvPicPr>
          <p:blipFill rotWithShape="1">
            <a:blip r:embed="rId3">
              <a:alphaModFix/>
            </a:blip>
            <a:srcRect b="28242" l="0" r="53639" t="41624"/>
            <a:stretch/>
          </p:blipFill>
          <p:spPr>
            <a:xfrm>
              <a:off x="324000" y="2012321"/>
              <a:ext cx="4083426" cy="1007263"/>
            </a:xfrm>
            <a:prstGeom prst="rect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176" name="Google Shape;176;p20"/>
            <p:cNvSpPr txBox="1"/>
            <p:nvPr/>
          </p:nvSpPr>
          <p:spPr>
            <a:xfrm>
              <a:off x="385264" y="2388656"/>
              <a:ext cx="246600" cy="25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7" name="Google Shape;177;p20"/>
            <p:cNvSpPr txBox="1"/>
            <p:nvPr/>
          </p:nvSpPr>
          <p:spPr>
            <a:xfrm>
              <a:off x="665622" y="2388656"/>
              <a:ext cx="246600" cy="25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latin typeface="Lexend"/>
                  <a:ea typeface="Lexend"/>
                  <a:cs typeface="Lexend"/>
                  <a:sym typeface="Lexend"/>
                </a:rPr>
                <a:t>1</a:t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8" name="Google Shape;178;p20"/>
            <p:cNvSpPr txBox="1"/>
            <p:nvPr/>
          </p:nvSpPr>
          <p:spPr>
            <a:xfrm>
              <a:off x="1802299" y="2388656"/>
              <a:ext cx="246600" cy="25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9" name="Google Shape;179;p20"/>
            <p:cNvSpPr txBox="1"/>
            <p:nvPr/>
          </p:nvSpPr>
          <p:spPr>
            <a:xfrm>
              <a:off x="2082657" y="2388656"/>
              <a:ext cx="246600" cy="25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0" name="Google Shape;180;p20"/>
            <p:cNvSpPr txBox="1"/>
            <p:nvPr/>
          </p:nvSpPr>
          <p:spPr>
            <a:xfrm>
              <a:off x="3219334" y="2388656"/>
              <a:ext cx="246600" cy="25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1" name="Google Shape;181;p20"/>
            <p:cNvSpPr txBox="1"/>
            <p:nvPr/>
          </p:nvSpPr>
          <p:spPr>
            <a:xfrm>
              <a:off x="3499692" y="2388656"/>
              <a:ext cx="246600" cy="25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latin typeface="Lexend"/>
                  <a:ea typeface="Lexend"/>
                  <a:cs typeface="Lexend"/>
                  <a:sym typeface="Lexend"/>
                </a:rPr>
                <a:t>3</a:t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82" name="Google Shape;182;p20"/>
          <p:cNvGrpSpPr/>
          <p:nvPr/>
        </p:nvGrpSpPr>
        <p:grpSpPr>
          <a:xfrm>
            <a:off x="468088" y="3260441"/>
            <a:ext cx="2807764" cy="692594"/>
            <a:chOff x="324000" y="3339435"/>
            <a:chExt cx="4083426" cy="1007263"/>
          </a:xfrm>
        </p:grpSpPr>
        <p:pic>
          <p:nvPicPr>
            <p:cNvPr id="183" name="Google Shape;183;p20"/>
            <p:cNvPicPr preferRelativeResize="0"/>
            <p:nvPr/>
          </p:nvPicPr>
          <p:blipFill rotWithShape="1">
            <a:blip r:embed="rId3">
              <a:alphaModFix/>
            </a:blip>
            <a:srcRect b="-4706" l="0" r="53639" t="74574"/>
            <a:stretch/>
          </p:blipFill>
          <p:spPr>
            <a:xfrm>
              <a:off x="324000" y="3339435"/>
              <a:ext cx="4083426" cy="1007263"/>
            </a:xfrm>
            <a:prstGeom prst="rect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184" name="Google Shape;184;p20"/>
            <p:cNvSpPr txBox="1"/>
            <p:nvPr/>
          </p:nvSpPr>
          <p:spPr>
            <a:xfrm>
              <a:off x="385264" y="3605207"/>
              <a:ext cx="246600" cy="25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5" name="Google Shape;185;p20"/>
            <p:cNvSpPr txBox="1"/>
            <p:nvPr/>
          </p:nvSpPr>
          <p:spPr>
            <a:xfrm>
              <a:off x="665622" y="3605207"/>
              <a:ext cx="246600" cy="25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latin typeface="Lexend"/>
                  <a:ea typeface="Lexend"/>
                  <a:cs typeface="Lexend"/>
                  <a:sym typeface="Lexend"/>
                </a:rPr>
                <a:t>1</a:t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6" name="Google Shape;186;p20"/>
            <p:cNvSpPr txBox="1"/>
            <p:nvPr/>
          </p:nvSpPr>
          <p:spPr>
            <a:xfrm>
              <a:off x="3219334" y="3605207"/>
              <a:ext cx="246600" cy="25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7" name="Google Shape;187;p20"/>
            <p:cNvSpPr txBox="1"/>
            <p:nvPr/>
          </p:nvSpPr>
          <p:spPr>
            <a:xfrm>
              <a:off x="3499692" y="3605207"/>
              <a:ext cx="246600" cy="25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88" name="Google Shape;188;p20"/>
          <p:cNvGrpSpPr/>
          <p:nvPr/>
        </p:nvGrpSpPr>
        <p:grpSpPr>
          <a:xfrm>
            <a:off x="467910" y="3953214"/>
            <a:ext cx="2807764" cy="692594"/>
            <a:chOff x="4524077" y="685206"/>
            <a:chExt cx="4083426" cy="1007263"/>
          </a:xfrm>
        </p:grpSpPr>
        <p:pic>
          <p:nvPicPr>
            <p:cNvPr id="189" name="Google Shape;189;p20"/>
            <p:cNvPicPr preferRelativeResize="0"/>
            <p:nvPr/>
          </p:nvPicPr>
          <p:blipFill rotWithShape="1">
            <a:blip r:embed="rId3">
              <a:alphaModFix/>
            </a:blip>
            <a:srcRect b="70798" l="51298" r="2341" t="-931"/>
            <a:stretch/>
          </p:blipFill>
          <p:spPr>
            <a:xfrm>
              <a:off x="4524077" y="685206"/>
              <a:ext cx="4083426" cy="1007263"/>
            </a:xfrm>
            <a:prstGeom prst="rect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190" name="Google Shape;190;p20"/>
            <p:cNvSpPr txBox="1"/>
            <p:nvPr/>
          </p:nvSpPr>
          <p:spPr>
            <a:xfrm>
              <a:off x="4597740" y="1062397"/>
              <a:ext cx="246600" cy="25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1" name="Google Shape;191;p20"/>
            <p:cNvSpPr txBox="1"/>
            <p:nvPr/>
          </p:nvSpPr>
          <p:spPr>
            <a:xfrm>
              <a:off x="4878098" y="1062397"/>
              <a:ext cx="246600" cy="25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latin typeface="Lexend"/>
                  <a:ea typeface="Lexend"/>
                  <a:cs typeface="Lexend"/>
                  <a:sym typeface="Lexend"/>
                </a:rPr>
                <a:t>1</a:t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2" name="Google Shape;192;p20"/>
            <p:cNvSpPr txBox="1"/>
            <p:nvPr/>
          </p:nvSpPr>
          <p:spPr>
            <a:xfrm>
              <a:off x="6014775" y="1062397"/>
              <a:ext cx="246600" cy="25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3" name="Google Shape;193;p20"/>
            <p:cNvSpPr txBox="1"/>
            <p:nvPr/>
          </p:nvSpPr>
          <p:spPr>
            <a:xfrm>
              <a:off x="6295133" y="1062397"/>
              <a:ext cx="246600" cy="25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4" name="Google Shape;194;p20"/>
            <p:cNvSpPr txBox="1"/>
            <p:nvPr/>
          </p:nvSpPr>
          <p:spPr>
            <a:xfrm>
              <a:off x="7431810" y="1062397"/>
              <a:ext cx="246600" cy="25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5" name="Google Shape;195;p20"/>
            <p:cNvSpPr txBox="1"/>
            <p:nvPr/>
          </p:nvSpPr>
          <p:spPr>
            <a:xfrm>
              <a:off x="7712168" y="1062397"/>
              <a:ext cx="246600" cy="25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latin typeface="Lexend"/>
                  <a:ea typeface="Lexend"/>
                  <a:cs typeface="Lexend"/>
                  <a:sym typeface="Lexend"/>
                </a:rPr>
                <a:t>3</a:t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96" name="Google Shape;196;p20"/>
          <p:cNvGrpSpPr/>
          <p:nvPr/>
        </p:nvGrpSpPr>
        <p:grpSpPr>
          <a:xfrm>
            <a:off x="468047" y="4645858"/>
            <a:ext cx="2807815" cy="658347"/>
            <a:chOff x="4524077" y="2012333"/>
            <a:chExt cx="4295922" cy="1007263"/>
          </a:xfrm>
        </p:grpSpPr>
        <p:pic>
          <p:nvPicPr>
            <p:cNvPr id="197" name="Google Shape;197;p20"/>
            <p:cNvPicPr preferRelativeResize="0"/>
            <p:nvPr/>
          </p:nvPicPr>
          <p:blipFill rotWithShape="1">
            <a:blip r:embed="rId3">
              <a:alphaModFix/>
            </a:blip>
            <a:srcRect b="37029" l="50714" r="512" t="32838"/>
            <a:stretch/>
          </p:blipFill>
          <p:spPr>
            <a:xfrm>
              <a:off x="4524077" y="2012333"/>
              <a:ext cx="4295922" cy="1007263"/>
            </a:xfrm>
            <a:prstGeom prst="rect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198" name="Google Shape;198;p20"/>
            <p:cNvSpPr txBox="1"/>
            <p:nvPr/>
          </p:nvSpPr>
          <p:spPr>
            <a:xfrm>
              <a:off x="4651201" y="2261373"/>
              <a:ext cx="246600" cy="25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latin typeface="Lexend"/>
                  <a:ea typeface="Lexend"/>
                  <a:cs typeface="Lexend"/>
                  <a:sym typeface="Lexend"/>
                </a:rPr>
                <a:t>E</a:t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9" name="Google Shape;199;p20"/>
            <p:cNvSpPr txBox="1"/>
            <p:nvPr/>
          </p:nvSpPr>
          <p:spPr>
            <a:xfrm>
              <a:off x="4931559" y="2261373"/>
              <a:ext cx="246600" cy="25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latin typeface="Lexend"/>
                  <a:ea typeface="Lexend"/>
                  <a:cs typeface="Lexend"/>
                  <a:sym typeface="Lexend"/>
                </a:rPr>
                <a:t>1</a:t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0" name="Google Shape;200;p20"/>
            <p:cNvSpPr txBox="1"/>
            <p:nvPr/>
          </p:nvSpPr>
          <p:spPr>
            <a:xfrm>
              <a:off x="6216528" y="2682753"/>
              <a:ext cx="246600" cy="25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latin typeface="Lexend"/>
                  <a:ea typeface="Lexend"/>
                  <a:cs typeface="Lexend"/>
                  <a:sym typeface="Lexend"/>
                </a:rPr>
                <a:t>E</a:t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1" name="Google Shape;201;p20"/>
            <p:cNvSpPr txBox="1"/>
            <p:nvPr/>
          </p:nvSpPr>
          <p:spPr>
            <a:xfrm>
              <a:off x="6496886" y="2682753"/>
              <a:ext cx="246600" cy="25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2" name="Google Shape;202;p20"/>
            <p:cNvSpPr txBox="1"/>
            <p:nvPr/>
          </p:nvSpPr>
          <p:spPr>
            <a:xfrm>
              <a:off x="7627195" y="2682753"/>
              <a:ext cx="246600" cy="25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latin typeface="Lexend"/>
                  <a:ea typeface="Lexend"/>
                  <a:cs typeface="Lexend"/>
                  <a:sym typeface="Lexend"/>
                </a:rPr>
                <a:t>E</a:t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3" name="Google Shape;203;p20"/>
            <p:cNvSpPr txBox="1"/>
            <p:nvPr/>
          </p:nvSpPr>
          <p:spPr>
            <a:xfrm>
              <a:off x="7907554" y="2682753"/>
              <a:ext cx="246600" cy="25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latin typeface="Lexend"/>
                  <a:ea typeface="Lexend"/>
                  <a:cs typeface="Lexend"/>
                  <a:sym typeface="Lexend"/>
                </a:rPr>
                <a:t>3</a:t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04" name="Google Shape;204;p20"/>
          <p:cNvGrpSpPr/>
          <p:nvPr/>
        </p:nvGrpSpPr>
        <p:grpSpPr>
          <a:xfrm>
            <a:off x="468077" y="1875285"/>
            <a:ext cx="2807764" cy="692594"/>
            <a:chOff x="324000" y="685206"/>
            <a:chExt cx="4083426" cy="1007263"/>
          </a:xfrm>
        </p:grpSpPr>
        <p:pic>
          <p:nvPicPr>
            <p:cNvPr id="205" name="Google Shape;205;p20"/>
            <p:cNvPicPr preferRelativeResize="0"/>
            <p:nvPr/>
          </p:nvPicPr>
          <p:blipFill rotWithShape="1">
            <a:blip r:embed="rId3">
              <a:alphaModFix/>
            </a:blip>
            <a:srcRect b="66405" l="0" r="53639" t="3462"/>
            <a:stretch/>
          </p:blipFill>
          <p:spPr>
            <a:xfrm>
              <a:off x="324000" y="685206"/>
              <a:ext cx="4083426" cy="1007263"/>
            </a:xfrm>
            <a:prstGeom prst="rect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206" name="Google Shape;206;p20"/>
            <p:cNvSpPr txBox="1"/>
            <p:nvPr/>
          </p:nvSpPr>
          <p:spPr>
            <a:xfrm>
              <a:off x="385264" y="1062397"/>
              <a:ext cx="246600" cy="25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7" name="Google Shape;207;p20"/>
            <p:cNvSpPr txBox="1"/>
            <p:nvPr/>
          </p:nvSpPr>
          <p:spPr>
            <a:xfrm>
              <a:off x="665622" y="1062397"/>
              <a:ext cx="246600" cy="25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latin typeface="Lexend"/>
                  <a:ea typeface="Lexend"/>
                  <a:cs typeface="Lexend"/>
                  <a:sym typeface="Lexend"/>
                </a:rPr>
                <a:t>1</a:t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8" name="Google Shape;208;p20"/>
            <p:cNvSpPr txBox="1"/>
            <p:nvPr/>
          </p:nvSpPr>
          <p:spPr>
            <a:xfrm>
              <a:off x="1802299" y="1062397"/>
              <a:ext cx="246600" cy="25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9" name="Google Shape;209;p20"/>
            <p:cNvSpPr txBox="1"/>
            <p:nvPr/>
          </p:nvSpPr>
          <p:spPr>
            <a:xfrm>
              <a:off x="2082657" y="1062397"/>
              <a:ext cx="246600" cy="25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0" name="Google Shape;210;p20"/>
            <p:cNvSpPr txBox="1"/>
            <p:nvPr/>
          </p:nvSpPr>
          <p:spPr>
            <a:xfrm>
              <a:off x="3219334" y="1062397"/>
              <a:ext cx="246600" cy="25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1" name="Google Shape;211;p20"/>
            <p:cNvSpPr txBox="1"/>
            <p:nvPr/>
          </p:nvSpPr>
          <p:spPr>
            <a:xfrm>
              <a:off x="3499692" y="1062397"/>
              <a:ext cx="246600" cy="25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latin typeface="Lexend"/>
                  <a:ea typeface="Lexend"/>
                  <a:cs typeface="Lexend"/>
                  <a:sym typeface="Lexend"/>
                </a:rPr>
                <a:t>3</a:t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212" name="Google Shape;212;p20"/>
            <p:cNvPicPr preferRelativeResize="0"/>
            <p:nvPr/>
          </p:nvPicPr>
          <p:blipFill rotWithShape="1">
            <a:blip r:embed="rId3">
              <a:alphaModFix/>
            </a:blip>
            <a:srcRect b="72907" l="16442" r="80422" t="9964"/>
            <a:stretch/>
          </p:blipFill>
          <p:spPr>
            <a:xfrm rot="10800000">
              <a:off x="2653131" y="895559"/>
              <a:ext cx="276095" cy="57254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13" name="Google Shape;213;p20"/>
          <p:cNvSpPr txBox="1"/>
          <p:nvPr/>
        </p:nvSpPr>
        <p:spPr>
          <a:xfrm>
            <a:off x="3276100" y="1767575"/>
            <a:ext cx="3816000" cy="48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Groups are either: all nets that can fold up into cubes, or all composite shapes that won’t fold up into cubes.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Can you spot any patterns or similarities with each of the shapes in a group?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There are many possible observations, for example:</a:t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All the shapes in group A have a horizontal line of four squares, with one square above and below it that move around.</a:t>
            </a:r>
            <a:endParaRPr sz="1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Group C have 5 or 6 squares in a row, which is more than any other group.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Which groups can fold up into cubes, and which can’t?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Groups A, B, and D all fold into cubes.</a:t>
            </a:r>
            <a:endParaRPr sz="1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C and E do not.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4" name="Google Shape;214;p20"/>
          <p:cNvSpPr txBox="1"/>
          <p:nvPr/>
        </p:nvSpPr>
        <p:spPr>
          <a:xfrm>
            <a:off x="468100" y="5803275"/>
            <a:ext cx="6624000" cy="24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Can you come up with any potential rules for arrangements of 6 squares that definitely are or definitely are not nets of cubes?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No arrangement with 5 or more squares in a row or column can make a cube.</a:t>
            </a:r>
            <a:endParaRPr sz="1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Squares distributed into only two rows or columns cannot make a cube, but it is possible for three rows.</a:t>
            </a:r>
            <a:endParaRPr sz="1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 There is one unique net (not a rotation or reflection of one in a group) that isn’t given. Can you draw this missing net and fold it  up into a cube to check?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15" name="Google Shape;215;p20"/>
          <p:cNvGrpSpPr/>
          <p:nvPr/>
        </p:nvGrpSpPr>
        <p:grpSpPr>
          <a:xfrm>
            <a:off x="534714" y="8078645"/>
            <a:ext cx="928228" cy="692582"/>
            <a:chOff x="5245775" y="3014920"/>
            <a:chExt cx="1401734" cy="1045880"/>
          </a:xfrm>
        </p:grpSpPr>
        <p:sp>
          <p:nvSpPr>
            <p:cNvPr id="216" name="Google Shape;216;p20"/>
            <p:cNvSpPr/>
            <p:nvPr/>
          </p:nvSpPr>
          <p:spPr>
            <a:xfrm>
              <a:off x="5245775" y="3711600"/>
              <a:ext cx="349200" cy="349200"/>
            </a:xfrm>
            <a:prstGeom prst="rect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7" name="Google Shape;217;p20"/>
            <p:cNvSpPr/>
            <p:nvPr/>
          </p:nvSpPr>
          <p:spPr>
            <a:xfrm>
              <a:off x="5597290" y="3711600"/>
              <a:ext cx="349200" cy="349200"/>
            </a:xfrm>
            <a:prstGeom prst="rect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8" name="Google Shape;218;p20"/>
            <p:cNvSpPr/>
            <p:nvPr/>
          </p:nvSpPr>
          <p:spPr>
            <a:xfrm>
              <a:off x="5595753" y="3363990"/>
              <a:ext cx="349200" cy="349200"/>
            </a:xfrm>
            <a:prstGeom prst="rect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9" name="Google Shape;219;p20"/>
            <p:cNvSpPr/>
            <p:nvPr/>
          </p:nvSpPr>
          <p:spPr>
            <a:xfrm>
              <a:off x="5947268" y="3363990"/>
              <a:ext cx="349200" cy="349200"/>
            </a:xfrm>
            <a:prstGeom prst="rect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0" name="Google Shape;220;p20"/>
            <p:cNvSpPr/>
            <p:nvPr/>
          </p:nvSpPr>
          <p:spPr>
            <a:xfrm>
              <a:off x="5946794" y="3014920"/>
              <a:ext cx="349200" cy="349200"/>
            </a:xfrm>
            <a:prstGeom prst="rect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1" name="Google Shape;221;p20"/>
            <p:cNvSpPr/>
            <p:nvPr/>
          </p:nvSpPr>
          <p:spPr>
            <a:xfrm>
              <a:off x="6298309" y="3014920"/>
              <a:ext cx="349200" cy="349200"/>
            </a:xfrm>
            <a:prstGeom prst="rect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22" name="Google Shape;222;p20"/>
          <p:cNvSpPr/>
          <p:nvPr/>
        </p:nvSpPr>
        <p:spPr>
          <a:xfrm>
            <a:off x="456006" y="8809992"/>
            <a:ext cx="1467000" cy="107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23" name="Google Shape;223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36745" y="8949538"/>
            <a:ext cx="981292" cy="794593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011394" y="8983141"/>
            <a:ext cx="1043521" cy="9764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677904" y="8834362"/>
            <a:ext cx="1512626" cy="1201464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599010" y="8808850"/>
            <a:ext cx="1297221" cy="1077009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2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96952" y="8867019"/>
            <a:ext cx="1340302" cy="1000422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20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262267" y="8916186"/>
            <a:ext cx="765887" cy="8376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29" name="Google Shape;229;p20"/>
          <p:cNvCxnSpPr/>
          <p:nvPr/>
        </p:nvCxnSpPr>
        <p:spPr>
          <a:xfrm>
            <a:off x="474757" y="9918538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35" name="Google Shape;235;p21"/>
          <p:cNvSpPr txBox="1"/>
          <p:nvPr>
            <p:ph idx="1" type="subTitle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Surface area of cuboids</a:t>
            </a:r>
            <a:endParaRPr/>
          </a:p>
        </p:txBody>
      </p:sp>
      <p:sp>
        <p:nvSpPr>
          <p:cNvPr id="236" name="Google Shape;236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v2</a:t>
            </a: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.3</a:t>
            </a:r>
            <a:endParaRPr sz="1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7" name="Google Shape;237;p21"/>
          <p:cNvSpPr txBox="1"/>
          <p:nvPr/>
        </p:nvSpPr>
        <p:spPr>
          <a:xfrm>
            <a:off x="468000" y="719400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B</a:t>
            </a: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: 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Surface area of cuboids from nets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8" name="Google Shape;238;p21"/>
          <p:cNvSpPr txBox="1"/>
          <p:nvPr/>
        </p:nvSpPr>
        <p:spPr>
          <a:xfrm>
            <a:off x="494725" y="2177196"/>
            <a:ext cx="29037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The three remaining rectangles have the same areas as in part a. Write the correct area on the corresponding rectangle.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9" name="Google Shape;239;p21"/>
          <p:cNvSpPr txBox="1"/>
          <p:nvPr/>
        </p:nvSpPr>
        <p:spPr>
          <a:xfrm>
            <a:off x="487350" y="1168350"/>
            <a:ext cx="3047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 These six rectangles can be connected to create the net of a cuboid.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40" name="Google Shape;240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32034" y="1147737"/>
            <a:ext cx="3450316" cy="169003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1" name="Google Shape;241;p21"/>
          <p:cNvGrpSpPr/>
          <p:nvPr/>
        </p:nvGrpSpPr>
        <p:grpSpPr>
          <a:xfrm rot="5400000">
            <a:off x="3044990" y="1687503"/>
            <a:ext cx="546361" cy="627842"/>
            <a:chOff x="7309296" y="2227128"/>
            <a:chExt cx="1102200" cy="1256689"/>
          </a:xfrm>
        </p:grpSpPr>
        <p:sp>
          <p:nvSpPr>
            <p:cNvPr id="242" name="Google Shape;242;p21"/>
            <p:cNvSpPr/>
            <p:nvPr/>
          </p:nvSpPr>
          <p:spPr>
            <a:xfrm rot="-5400000">
              <a:off x="7236461" y="2698417"/>
              <a:ext cx="12477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300">
                  <a:latin typeface="Lexend"/>
                  <a:ea typeface="Lexend"/>
                  <a:cs typeface="Lexend"/>
                  <a:sym typeface="Lexend"/>
                </a:rPr>
                <a:t>10 units</a:t>
              </a:r>
              <a:endParaRPr sz="1300"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43" name="Google Shape;243;p21"/>
            <p:cNvCxnSpPr/>
            <p:nvPr/>
          </p:nvCxnSpPr>
          <p:spPr>
            <a:xfrm>
              <a:off x="7309296" y="2227128"/>
              <a:ext cx="1102200" cy="0"/>
            </a:xfrm>
            <a:prstGeom prst="straightConnector1">
              <a:avLst/>
            </a:prstGeom>
            <a:noFill/>
            <a:ln cap="flat" cmpd="sng" w="19050">
              <a:solidFill>
                <a:srgbClr val="037B7D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sp>
        <p:nvSpPr>
          <p:cNvPr id="244" name="Google Shape;244;p21"/>
          <p:cNvSpPr txBox="1"/>
          <p:nvPr/>
        </p:nvSpPr>
        <p:spPr>
          <a:xfrm>
            <a:off x="487350" y="1650200"/>
            <a:ext cx="2466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Calculate the area of the three rectangles labelled a, b, c.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45" name="Google Shape;245;p21"/>
          <p:cNvGrpSpPr/>
          <p:nvPr/>
        </p:nvGrpSpPr>
        <p:grpSpPr>
          <a:xfrm>
            <a:off x="4214864" y="2328340"/>
            <a:ext cx="1069906" cy="165020"/>
            <a:chOff x="7309296" y="2227128"/>
            <a:chExt cx="1102200" cy="330304"/>
          </a:xfrm>
        </p:grpSpPr>
        <p:sp>
          <p:nvSpPr>
            <p:cNvPr id="246" name="Google Shape;246;p21"/>
            <p:cNvSpPr/>
            <p:nvPr/>
          </p:nvSpPr>
          <p:spPr>
            <a:xfrm>
              <a:off x="7316032" y="2236732"/>
              <a:ext cx="1088700" cy="32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300">
                  <a:latin typeface="Lexend"/>
                  <a:ea typeface="Lexend"/>
                  <a:cs typeface="Lexend"/>
                  <a:sym typeface="Lexend"/>
                </a:rPr>
                <a:t>14 units</a:t>
              </a:r>
              <a:endParaRPr sz="1300"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47" name="Google Shape;247;p21"/>
            <p:cNvCxnSpPr/>
            <p:nvPr/>
          </p:nvCxnSpPr>
          <p:spPr>
            <a:xfrm>
              <a:off x="7309296" y="2227128"/>
              <a:ext cx="1102200" cy="0"/>
            </a:xfrm>
            <a:prstGeom prst="straightConnector1">
              <a:avLst/>
            </a:prstGeom>
            <a:noFill/>
            <a:ln cap="flat" cmpd="sng" w="19050">
              <a:solidFill>
                <a:srgbClr val="037B7D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grpSp>
        <p:nvGrpSpPr>
          <p:cNvPr id="248" name="Google Shape;248;p21"/>
          <p:cNvGrpSpPr/>
          <p:nvPr/>
        </p:nvGrpSpPr>
        <p:grpSpPr>
          <a:xfrm>
            <a:off x="3534800" y="2328323"/>
            <a:ext cx="591140" cy="165024"/>
            <a:chOff x="6876836" y="2227128"/>
            <a:chExt cx="1758300" cy="330312"/>
          </a:xfrm>
        </p:grpSpPr>
        <p:sp>
          <p:nvSpPr>
            <p:cNvPr id="249" name="Google Shape;249;p21"/>
            <p:cNvSpPr/>
            <p:nvPr/>
          </p:nvSpPr>
          <p:spPr>
            <a:xfrm>
              <a:off x="6876836" y="2236740"/>
              <a:ext cx="1758300" cy="32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300">
                  <a:latin typeface="Lexend"/>
                  <a:ea typeface="Lexend"/>
                  <a:cs typeface="Lexend"/>
                  <a:sym typeface="Lexend"/>
                </a:rPr>
                <a:t>6 units</a:t>
              </a:r>
              <a:endParaRPr sz="1300"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50" name="Google Shape;250;p21"/>
            <p:cNvCxnSpPr/>
            <p:nvPr/>
          </p:nvCxnSpPr>
          <p:spPr>
            <a:xfrm>
              <a:off x="7309296" y="2227128"/>
              <a:ext cx="1102200" cy="0"/>
            </a:xfrm>
            <a:prstGeom prst="straightConnector1">
              <a:avLst/>
            </a:prstGeom>
            <a:noFill/>
            <a:ln cap="flat" cmpd="sng" w="19050">
              <a:solidFill>
                <a:srgbClr val="037B7D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grpSp>
        <p:nvGrpSpPr>
          <p:cNvPr id="251" name="Google Shape;251;p21"/>
          <p:cNvGrpSpPr/>
          <p:nvPr/>
        </p:nvGrpSpPr>
        <p:grpSpPr>
          <a:xfrm rot="5400000">
            <a:off x="3677146" y="1090397"/>
            <a:ext cx="370560" cy="594878"/>
            <a:chOff x="7309296" y="2227128"/>
            <a:chExt cx="1102200" cy="1190708"/>
          </a:xfrm>
        </p:grpSpPr>
        <p:sp>
          <p:nvSpPr>
            <p:cNvPr id="252" name="Google Shape;252;p21"/>
            <p:cNvSpPr/>
            <p:nvPr/>
          </p:nvSpPr>
          <p:spPr>
            <a:xfrm rot="-5400000">
              <a:off x="7285605" y="2604986"/>
              <a:ext cx="11493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300">
                  <a:latin typeface="Lexend"/>
                  <a:ea typeface="Lexend"/>
                  <a:cs typeface="Lexend"/>
                  <a:sym typeface="Lexend"/>
                </a:rPr>
                <a:t>6 units</a:t>
              </a:r>
              <a:endParaRPr sz="1300"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53" name="Google Shape;253;p21"/>
            <p:cNvCxnSpPr/>
            <p:nvPr/>
          </p:nvCxnSpPr>
          <p:spPr>
            <a:xfrm>
              <a:off x="7309296" y="2227128"/>
              <a:ext cx="1102200" cy="0"/>
            </a:xfrm>
            <a:prstGeom prst="straightConnector1">
              <a:avLst/>
            </a:prstGeom>
            <a:noFill/>
            <a:ln cap="flat" cmpd="sng" w="19050">
              <a:solidFill>
                <a:srgbClr val="037B7D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grpSp>
        <p:nvGrpSpPr>
          <p:cNvPr id="254" name="Google Shape;254;p21"/>
          <p:cNvGrpSpPr/>
          <p:nvPr/>
        </p:nvGrpSpPr>
        <p:grpSpPr>
          <a:xfrm>
            <a:off x="4654276" y="1750433"/>
            <a:ext cx="190332" cy="190332"/>
            <a:chOff x="1020916" y="1442088"/>
            <a:chExt cx="457200" cy="457200"/>
          </a:xfrm>
        </p:grpSpPr>
        <p:pic>
          <p:nvPicPr>
            <p:cNvPr id="255" name="Google Shape;255;p2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6" name="Google Shape;256;p2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7" name="Google Shape;257;p21"/>
          <p:cNvGrpSpPr/>
          <p:nvPr/>
        </p:nvGrpSpPr>
        <p:grpSpPr>
          <a:xfrm>
            <a:off x="3770485" y="1750433"/>
            <a:ext cx="190332" cy="190332"/>
            <a:chOff x="1020916" y="1442088"/>
            <a:chExt cx="457200" cy="457200"/>
          </a:xfrm>
        </p:grpSpPr>
        <p:pic>
          <p:nvPicPr>
            <p:cNvPr id="258" name="Google Shape;258;p2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9" name="Google Shape;259;p2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60" name="Google Shape;260;p21"/>
          <p:cNvGrpSpPr/>
          <p:nvPr/>
        </p:nvGrpSpPr>
        <p:grpSpPr>
          <a:xfrm>
            <a:off x="4654276" y="1216971"/>
            <a:ext cx="190332" cy="190332"/>
            <a:chOff x="1020916" y="1442088"/>
            <a:chExt cx="457200" cy="457200"/>
          </a:xfrm>
        </p:grpSpPr>
        <p:pic>
          <p:nvPicPr>
            <p:cNvPr id="261" name="Google Shape;261;p2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2" name="Google Shape;262;p2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63" name="Google Shape;263;p21"/>
          <p:cNvSpPr txBox="1"/>
          <p:nvPr/>
        </p:nvSpPr>
        <p:spPr>
          <a:xfrm>
            <a:off x="3682646" y="1999080"/>
            <a:ext cx="357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60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64" name="Google Shape;264;p21"/>
          <p:cNvSpPr txBox="1"/>
          <p:nvPr/>
        </p:nvSpPr>
        <p:spPr>
          <a:xfrm>
            <a:off x="4515807" y="2028949"/>
            <a:ext cx="467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140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65" name="Google Shape;265;p21"/>
          <p:cNvSpPr txBox="1"/>
          <p:nvPr/>
        </p:nvSpPr>
        <p:spPr>
          <a:xfrm>
            <a:off x="4515807" y="1380385"/>
            <a:ext cx="467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84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66" name="Google Shape;266;p21"/>
          <p:cNvSpPr txBox="1"/>
          <p:nvPr/>
        </p:nvSpPr>
        <p:spPr>
          <a:xfrm>
            <a:off x="6294687" y="2609057"/>
            <a:ext cx="467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84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67" name="Google Shape;267;p21"/>
          <p:cNvSpPr txBox="1"/>
          <p:nvPr/>
        </p:nvSpPr>
        <p:spPr>
          <a:xfrm>
            <a:off x="6294681" y="2028949"/>
            <a:ext cx="467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140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68" name="Google Shape;268;p21"/>
          <p:cNvSpPr txBox="1"/>
          <p:nvPr/>
        </p:nvSpPr>
        <p:spPr>
          <a:xfrm>
            <a:off x="5405247" y="2028949"/>
            <a:ext cx="467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60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69" name="Google Shape;269;p21"/>
          <p:cNvSpPr txBox="1"/>
          <p:nvPr/>
        </p:nvSpPr>
        <p:spPr>
          <a:xfrm>
            <a:off x="1522099" y="3573845"/>
            <a:ext cx="13689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568 units²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70" name="Google Shape;270;p21"/>
          <p:cNvSpPr txBox="1"/>
          <p:nvPr/>
        </p:nvSpPr>
        <p:spPr>
          <a:xfrm>
            <a:off x="492216" y="3241270"/>
            <a:ext cx="4838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Hence, find the surface area of the cuboid.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1" name="Google Shape;271;p21"/>
          <p:cNvSpPr txBox="1"/>
          <p:nvPr/>
        </p:nvSpPr>
        <p:spPr>
          <a:xfrm>
            <a:off x="468000" y="3943912"/>
            <a:ext cx="6624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 By finding the area of at least three rectangles, complete the calculation to find the surface area of the cuboid which would be made from this net.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72" name="Google Shape;272;p21"/>
          <p:cNvGrpSpPr/>
          <p:nvPr/>
        </p:nvGrpSpPr>
        <p:grpSpPr>
          <a:xfrm rot="5400000">
            <a:off x="423404" y="4729799"/>
            <a:ext cx="520840" cy="458898"/>
            <a:chOff x="7309296" y="1992378"/>
            <a:chExt cx="1055400" cy="1413733"/>
          </a:xfrm>
        </p:grpSpPr>
        <p:sp>
          <p:nvSpPr>
            <p:cNvPr id="273" name="Google Shape;273;p21"/>
            <p:cNvSpPr/>
            <p:nvPr/>
          </p:nvSpPr>
          <p:spPr>
            <a:xfrm rot="-5400000">
              <a:off x="7171802" y="2556061"/>
              <a:ext cx="13770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15 cm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74" name="Google Shape;274;p21"/>
            <p:cNvCxnSpPr/>
            <p:nvPr/>
          </p:nvCxnSpPr>
          <p:spPr>
            <a:xfrm rot="10800000">
              <a:off x="7836996" y="1464678"/>
              <a:ext cx="0" cy="1055400"/>
            </a:xfrm>
            <a:prstGeom prst="straightConnector1">
              <a:avLst/>
            </a:prstGeom>
            <a:noFill/>
            <a:ln cap="flat" cmpd="sng" w="9525">
              <a:solidFill>
                <a:srgbClr val="037B7D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grpSp>
        <p:nvGrpSpPr>
          <p:cNvPr id="275" name="Google Shape;275;p21"/>
          <p:cNvGrpSpPr/>
          <p:nvPr/>
        </p:nvGrpSpPr>
        <p:grpSpPr>
          <a:xfrm>
            <a:off x="986826" y="5487939"/>
            <a:ext cx="1648450" cy="128874"/>
            <a:chOff x="7309296" y="2227128"/>
            <a:chExt cx="1102200" cy="330278"/>
          </a:xfrm>
        </p:grpSpPr>
        <p:sp>
          <p:nvSpPr>
            <p:cNvPr id="276" name="Google Shape;276;p21"/>
            <p:cNvSpPr/>
            <p:nvPr/>
          </p:nvSpPr>
          <p:spPr>
            <a:xfrm>
              <a:off x="7522018" y="2236706"/>
              <a:ext cx="676800" cy="32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25 cm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77" name="Google Shape;277;p21"/>
            <p:cNvCxnSpPr/>
            <p:nvPr/>
          </p:nvCxnSpPr>
          <p:spPr>
            <a:xfrm>
              <a:off x="7309296" y="2227128"/>
              <a:ext cx="1102200" cy="0"/>
            </a:xfrm>
            <a:prstGeom prst="straightConnector1">
              <a:avLst/>
            </a:prstGeom>
            <a:noFill/>
            <a:ln cap="flat" cmpd="sng" w="9525">
              <a:solidFill>
                <a:srgbClr val="037B7D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pic>
        <p:nvPicPr>
          <p:cNvPr id="278" name="Google Shape;278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55979" y="4484145"/>
            <a:ext cx="3729132" cy="97631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9" name="Google Shape;279;p21"/>
          <p:cNvGrpSpPr/>
          <p:nvPr/>
        </p:nvGrpSpPr>
        <p:grpSpPr>
          <a:xfrm>
            <a:off x="4273181" y="5311525"/>
            <a:ext cx="591132" cy="128881"/>
            <a:chOff x="6149975" y="2227101"/>
            <a:chExt cx="3420900" cy="330294"/>
          </a:xfrm>
        </p:grpSpPr>
        <p:sp>
          <p:nvSpPr>
            <p:cNvPr id="280" name="Google Shape;280;p21"/>
            <p:cNvSpPr/>
            <p:nvPr/>
          </p:nvSpPr>
          <p:spPr>
            <a:xfrm>
              <a:off x="6149975" y="2236695"/>
              <a:ext cx="3420900" cy="32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8 cm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81" name="Google Shape;281;p21"/>
            <p:cNvCxnSpPr/>
            <p:nvPr/>
          </p:nvCxnSpPr>
          <p:spPr>
            <a:xfrm>
              <a:off x="7162743" y="2227101"/>
              <a:ext cx="1543500" cy="0"/>
            </a:xfrm>
            <a:prstGeom prst="straightConnector1">
              <a:avLst/>
            </a:prstGeom>
            <a:noFill/>
            <a:ln cap="flat" cmpd="sng" w="9525">
              <a:solidFill>
                <a:srgbClr val="037B7D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sp>
        <p:nvSpPr>
          <p:cNvPr id="282" name="Google Shape;282;p21"/>
          <p:cNvSpPr txBox="1"/>
          <p:nvPr/>
        </p:nvSpPr>
        <p:spPr>
          <a:xfrm>
            <a:off x="721725" y="5808800"/>
            <a:ext cx="3058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surface area of this cuboid is: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3" name="Google Shape;283;p21"/>
          <p:cNvSpPr txBox="1"/>
          <p:nvPr/>
        </p:nvSpPr>
        <p:spPr>
          <a:xfrm>
            <a:off x="3464922" y="5850575"/>
            <a:ext cx="23739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2(</a:t>
            </a:r>
            <a:r>
              <a:rPr lang="en-GB" sz="1200" u="sng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+ </a:t>
            </a:r>
            <a:r>
              <a:rPr lang="en-GB" sz="1200" u="sng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+ </a:t>
            </a:r>
            <a:r>
              <a:rPr lang="en-GB" sz="1200" u="sng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) = </a:t>
            </a:r>
            <a:r>
              <a:rPr lang="en-GB" sz="1200" u="sng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 </a:t>
            </a:r>
            <a:r>
              <a:rPr i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cm²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4" name="Google Shape;284;p21"/>
          <p:cNvSpPr txBox="1"/>
          <p:nvPr/>
        </p:nvSpPr>
        <p:spPr>
          <a:xfrm>
            <a:off x="3528917" y="5842914"/>
            <a:ext cx="447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375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85" name="Google Shape;285;p21"/>
          <p:cNvSpPr txBox="1"/>
          <p:nvPr/>
        </p:nvSpPr>
        <p:spPr>
          <a:xfrm>
            <a:off x="4002488" y="5833727"/>
            <a:ext cx="447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120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86" name="Google Shape;286;p21"/>
          <p:cNvSpPr txBox="1"/>
          <p:nvPr/>
        </p:nvSpPr>
        <p:spPr>
          <a:xfrm>
            <a:off x="4476086" y="5833727"/>
            <a:ext cx="447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200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87" name="Google Shape;287;p21"/>
          <p:cNvSpPr txBox="1"/>
          <p:nvPr/>
        </p:nvSpPr>
        <p:spPr>
          <a:xfrm>
            <a:off x="5018825" y="5833713"/>
            <a:ext cx="4833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1390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288" name="Google Shape;288;p21"/>
          <p:cNvGrpSpPr/>
          <p:nvPr/>
        </p:nvGrpSpPr>
        <p:grpSpPr>
          <a:xfrm rot="5400000">
            <a:off x="573280" y="5137022"/>
            <a:ext cx="233124" cy="446433"/>
            <a:chOff x="7309296" y="2031844"/>
            <a:chExt cx="1349100" cy="1142356"/>
          </a:xfrm>
        </p:grpSpPr>
        <p:sp>
          <p:nvSpPr>
            <p:cNvPr id="289" name="Google Shape;289;p21"/>
            <p:cNvSpPr/>
            <p:nvPr/>
          </p:nvSpPr>
          <p:spPr>
            <a:xfrm rot="-5400000">
              <a:off x="7386788" y="2338550"/>
              <a:ext cx="947100" cy="72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8 cm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90" name="Google Shape;290;p21"/>
            <p:cNvCxnSpPr/>
            <p:nvPr/>
          </p:nvCxnSpPr>
          <p:spPr>
            <a:xfrm rot="10800000">
              <a:off x="7983846" y="1357294"/>
              <a:ext cx="0" cy="1349100"/>
            </a:xfrm>
            <a:prstGeom prst="straightConnector1">
              <a:avLst/>
            </a:prstGeom>
            <a:noFill/>
            <a:ln cap="flat" cmpd="sng" w="9525">
              <a:solidFill>
                <a:srgbClr val="037B7D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cxnSp>
        <p:nvCxnSpPr>
          <p:cNvPr id="291" name="Google Shape;291;p21"/>
          <p:cNvCxnSpPr/>
          <p:nvPr/>
        </p:nvCxnSpPr>
        <p:spPr>
          <a:xfrm>
            <a:off x="474757" y="9918538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2" name="Google Shape;292;p21"/>
          <p:cNvSpPr txBox="1"/>
          <p:nvPr/>
        </p:nvSpPr>
        <p:spPr>
          <a:xfrm>
            <a:off x="4212655" y="9289359"/>
            <a:ext cx="2316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surface area =             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3" name="Google Shape;293;p21"/>
          <p:cNvSpPr txBox="1"/>
          <p:nvPr/>
        </p:nvSpPr>
        <p:spPr>
          <a:xfrm>
            <a:off x="467887" y="7029025"/>
            <a:ext cx="64251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 Complete the calculations to find the surface area of this cuboid.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94" name="Google Shape;294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89961" y="7547325"/>
            <a:ext cx="1707524" cy="16461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5" name="Google Shape;295;p21"/>
          <p:cNvGrpSpPr/>
          <p:nvPr/>
        </p:nvGrpSpPr>
        <p:grpSpPr>
          <a:xfrm rot="1813360">
            <a:off x="750379" y="9079087"/>
            <a:ext cx="459521" cy="132199"/>
            <a:chOff x="7309296" y="2227128"/>
            <a:chExt cx="1139996" cy="390737"/>
          </a:xfrm>
        </p:grpSpPr>
        <p:sp>
          <p:nvSpPr>
            <p:cNvPr id="296" name="Google Shape;296;p21"/>
            <p:cNvSpPr/>
            <p:nvPr/>
          </p:nvSpPr>
          <p:spPr>
            <a:xfrm>
              <a:off x="7360592" y="2361665"/>
              <a:ext cx="1088700" cy="256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2 cm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97" name="Google Shape;297;p21"/>
            <p:cNvCxnSpPr/>
            <p:nvPr/>
          </p:nvCxnSpPr>
          <p:spPr>
            <a:xfrm>
              <a:off x="7309296" y="2227128"/>
              <a:ext cx="1102200" cy="0"/>
            </a:xfrm>
            <a:prstGeom prst="straightConnector1">
              <a:avLst/>
            </a:prstGeom>
            <a:noFill/>
            <a:ln cap="flat" cmpd="sng" w="9525">
              <a:solidFill>
                <a:srgbClr val="374CF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grpSp>
        <p:nvGrpSpPr>
          <p:cNvPr id="298" name="Google Shape;298;p21"/>
          <p:cNvGrpSpPr/>
          <p:nvPr/>
        </p:nvGrpSpPr>
        <p:grpSpPr>
          <a:xfrm rot="-1800158">
            <a:off x="1189866" y="8863205"/>
            <a:ext cx="1295178" cy="126315"/>
            <a:chOff x="7309296" y="2227128"/>
            <a:chExt cx="1148503" cy="372934"/>
          </a:xfrm>
        </p:grpSpPr>
        <p:sp>
          <p:nvSpPr>
            <p:cNvPr id="299" name="Google Shape;299;p21"/>
            <p:cNvSpPr/>
            <p:nvPr/>
          </p:nvSpPr>
          <p:spPr>
            <a:xfrm>
              <a:off x="7343598" y="2343862"/>
              <a:ext cx="1114200" cy="256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11 cm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00" name="Google Shape;300;p21"/>
            <p:cNvCxnSpPr/>
            <p:nvPr/>
          </p:nvCxnSpPr>
          <p:spPr>
            <a:xfrm>
              <a:off x="7309296" y="2227128"/>
              <a:ext cx="1102200" cy="0"/>
            </a:xfrm>
            <a:prstGeom prst="straightConnector1">
              <a:avLst/>
            </a:prstGeom>
            <a:noFill/>
            <a:ln cap="flat" cmpd="sng" w="9525">
              <a:solidFill>
                <a:srgbClr val="374CF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grpSp>
        <p:nvGrpSpPr>
          <p:cNvPr id="301" name="Google Shape;301;p21"/>
          <p:cNvGrpSpPr/>
          <p:nvPr/>
        </p:nvGrpSpPr>
        <p:grpSpPr>
          <a:xfrm rot="-5399421">
            <a:off x="2260687" y="8003331"/>
            <a:ext cx="653935" cy="355425"/>
            <a:chOff x="7309296" y="2219492"/>
            <a:chExt cx="1102200" cy="2258100"/>
          </a:xfrm>
        </p:grpSpPr>
        <p:sp>
          <p:nvSpPr>
            <p:cNvPr id="302" name="Google Shape;302;p21"/>
            <p:cNvSpPr/>
            <p:nvPr/>
          </p:nvSpPr>
          <p:spPr>
            <a:xfrm rot="5400000">
              <a:off x="6731346" y="3269042"/>
              <a:ext cx="2258100" cy="15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5 cm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03" name="Google Shape;303;p21"/>
            <p:cNvCxnSpPr/>
            <p:nvPr/>
          </p:nvCxnSpPr>
          <p:spPr>
            <a:xfrm>
              <a:off x="7309296" y="2227128"/>
              <a:ext cx="1102200" cy="0"/>
            </a:xfrm>
            <a:prstGeom prst="straightConnector1">
              <a:avLst/>
            </a:prstGeom>
            <a:noFill/>
            <a:ln cap="flat" cmpd="sng" w="9525">
              <a:solidFill>
                <a:srgbClr val="374CF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sp>
        <p:nvSpPr>
          <p:cNvPr id="304" name="Google Shape;304;p21"/>
          <p:cNvSpPr txBox="1"/>
          <p:nvPr/>
        </p:nvSpPr>
        <p:spPr>
          <a:xfrm>
            <a:off x="4212655" y="7504509"/>
            <a:ext cx="2316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front = 2  ×       =         </a:t>
            </a:r>
            <a:endParaRPr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5" name="Google Shape;305;p21"/>
          <p:cNvSpPr txBox="1"/>
          <p:nvPr/>
        </p:nvSpPr>
        <p:spPr>
          <a:xfrm>
            <a:off x="4212655" y="7801984"/>
            <a:ext cx="2316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back =       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6" name="Google Shape;306;p21"/>
          <p:cNvSpPr txBox="1"/>
          <p:nvPr/>
        </p:nvSpPr>
        <p:spPr>
          <a:xfrm>
            <a:off x="4212655" y="8099465"/>
            <a:ext cx="25563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right =       ×        =       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7" name="Google Shape;307;p21"/>
          <p:cNvSpPr txBox="1"/>
          <p:nvPr/>
        </p:nvSpPr>
        <p:spPr>
          <a:xfrm>
            <a:off x="4212655" y="8396934"/>
            <a:ext cx="2316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left =       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8" name="Google Shape;308;p21"/>
          <p:cNvSpPr txBox="1"/>
          <p:nvPr/>
        </p:nvSpPr>
        <p:spPr>
          <a:xfrm>
            <a:off x="4212655" y="8694409"/>
            <a:ext cx="2316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bottom = 2 × 11 =       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9" name="Google Shape;309;p21"/>
          <p:cNvSpPr txBox="1"/>
          <p:nvPr/>
        </p:nvSpPr>
        <p:spPr>
          <a:xfrm>
            <a:off x="4212655" y="8991884"/>
            <a:ext cx="2316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top =       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0" name="Google Shape;310;p21"/>
          <p:cNvSpPr txBox="1"/>
          <p:nvPr/>
        </p:nvSpPr>
        <p:spPr>
          <a:xfrm>
            <a:off x="4899949" y="7485907"/>
            <a:ext cx="396900" cy="24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5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11" name="Google Shape;311;p21"/>
          <p:cNvSpPr txBox="1"/>
          <p:nvPr/>
        </p:nvSpPr>
        <p:spPr>
          <a:xfrm>
            <a:off x="5342691" y="7485907"/>
            <a:ext cx="396900" cy="24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10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12" name="Google Shape;312;p21"/>
          <p:cNvSpPr txBox="1"/>
          <p:nvPr/>
        </p:nvSpPr>
        <p:spPr>
          <a:xfrm>
            <a:off x="4691349" y="7789299"/>
            <a:ext cx="396900" cy="24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10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13" name="Google Shape;313;p21"/>
          <p:cNvSpPr txBox="1"/>
          <p:nvPr/>
        </p:nvSpPr>
        <p:spPr>
          <a:xfrm>
            <a:off x="4634199" y="8092948"/>
            <a:ext cx="396900" cy="24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11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14" name="Google Shape;314;p21"/>
          <p:cNvSpPr txBox="1"/>
          <p:nvPr/>
        </p:nvSpPr>
        <p:spPr>
          <a:xfrm>
            <a:off x="5032827" y="8092948"/>
            <a:ext cx="396900" cy="24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5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15" name="Google Shape;315;p21"/>
          <p:cNvSpPr txBox="1"/>
          <p:nvPr/>
        </p:nvSpPr>
        <p:spPr>
          <a:xfrm>
            <a:off x="5467563" y="8102473"/>
            <a:ext cx="396900" cy="24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55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16" name="Google Shape;316;p21"/>
          <p:cNvSpPr txBox="1"/>
          <p:nvPr/>
        </p:nvSpPr>
        <p:spPr>
          <a:xfrm>
            <a:off x="4674310" y="8393670"/>
            <a:ext cx="396900" cy="24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55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17" name="Google Shape;317;p21"/>
          <p:cNvSpPr txBox="1"/>
          <p:nvPr/>
        </p:nvSpPr>
        <p:spPr>
          <a:xfrm>
            <a:off x="5428778" y="8686749"/>
            <a:ext cx="396900" cy="24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22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18" name="Google Shape;318;p21"/>
          <p:cNvSpPr txBox="1"/>
          <p:nvPr/>
        </p:nvSpPr>
        <p:spPr>
          <a:xfrm>
            <a:off x="4587660" y="8989252"/>
            <a:ext cx="396900" cy="24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22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19" name="Google Shape;319;p21"/>
          <p:cNvSpPr txBox="1"/>
          <p:nvPr/>
        </p:nvSpPr>
        <p:spPr>
          <a:xfrm>
            <a:off x="5358243" y="9277210"/>
            <a:ext cx="695100" cy="24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174 cm²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320" name="Google Shape;320;p21"/>
          <p:cNvCxnSpPr/>
          <p:nvPr/>
        </p:nvCxnSpPr>
        <p:spPr>
          <a:xfrm>
            <a:off x="474757" y="6413338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1" name="Google Shape;321;p21"/>
          <p:cNvSpPr txBox="1"/>
          <p:nvPr/>
        </p:nvSpPr>
        <p:spPr>
          <a:xfrm>
            <a:off x="468000" y="6663000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C</a:t>
            </a: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: 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Surface area of cuboids from 3D representations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22"/>
          <p:cNvSpPr txBox="1"/>
          <p:nvPr>
            <p:ph idx="1" type="subTitle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Surface area of cuboids</a:t>
            </a:r>
            <a:endParaRPr/>
          </a:p>
        </p:txBody>
      </p:sp>
      <p:sp>
        <p:nvSpPr>
          <p:cNvPr id="327" name="Google Shape;327;p2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28" name="Google Shape;328;p22"/>
          <p:cNvSpPr txBox="1"/>
          <p:nvPr/>
        </p:nvSpPr>
        <p:spPr>
          <a:xfrm>
            <a:off x="468000" y="871800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C</a:t>
            </a: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: 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Surface area of cuboids from 3D representations</a:t>
            </a:r>
            <a:endParaRPr b="1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9" name="Google Shape;329;p22"/>
          <p:cNvSpPr txBox="1"/>
          <p:nvPr/>
        </p:nvSpPr>
        <p:spPr>
          <a:xfrm>
            <a:off x="3801000" y="2688280"/>
            <a:ext cx="33120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top and bottom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     30 ×      ×      =         </a:t>
            </a: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30" name="Google Shape;330;p22"/>
          <p:cNvPicPr preferRelativeResize="0"/>
          <p:nvPr/>
        </p:nvPicPr>
        <p:blipFill rotWithShape="1">
          <a:blip r:embed="rId3">
            <a:alphaModFix/>
          </a:blip>
          <a:srcRect b="3025" l="0" r="3855" t="0"/>
          <a:stretch/>
        </p:blipFill>
        <p:spPr>
          <a:xfrm>
            <a:off x="624097" y="1619515"/>
            <a:ext cx="2211013" cy="1485528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22"/>
          <p:cNvSpPr txBox="1"/>
          <p:nvPr/>
        </p:nvSpPr>
        <p:spPr>
          <a:xfrm>
            <a:off x="503400" y="1231675"/>
            <a:ext cx="63321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 Complete the calculations to find the surface area of this cuboid.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332" name="Google Shape;332;p22"/>
          <p:cNvGrpSpPr/>
          <p:nvPr/>
        </p:nvGrpSpPr>
        <p:grpSpPr>
          <a:xfrm rot="1813881">
            <a:off x="502160" y="2711762"/>
            <a:ext cx="1631104" cy="153623"/>
            <a:chOff x="7309296" y="2227128"/>
            <a:chExt cx="1102200" cy="372931"/>
          </a:xfrm>
        </p:grpSpPr>
        <p:sp>
          <p:nvSpPr>
            <p:cNvPr id="333" name="Google Shape;333;p22"/>
            <p:cNvSpPr/>
            <p:nvPr/>
          </p:nvSpPr>
          <p:spPr>
            <a:xfrm>
              <a:off x="7524297" y="2343859"/>
              <a:ext cx="752700" cy="256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30 m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34" name="Google Shape;334;p22"/>
            <p:cNvCxnSpPr/>
            <p:nvPr/>
          </p:nvCxnSpPr>
          <p:spPr>
            <a:xfrm>
              <a:off x="7309296" y="2227128"/>
              <a:ext cx="1102200" cy="0"/>
            </a:xfrm>
            <a:prstGeom prst="straightConnector1">
              <a:avLst/>
            </a:prstGeom>
            <a:noFill/>
            <a:ln cap="flat" cmpd="sng" w="9525">
              <a:solidFill>
                <a:srgbClr val="374CF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sp>
        <p:nvSpPr>
          <p:cNvPr id="335" name="Google Shape;335;p22"/>
          <p:cNvSpPr txBox="1"/>
          <p:nvPr/>
        </p:nvSpPr>
        <p:spPr>
          <a:xfrm>
            <a:off x="3801000" y="3371200"/>
            <a:ext cx="3312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surface area =          +         +         =               </a:t>
            </a: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336" name="Google Shape;336;p22"/>
          <p:cNvGrpSpPr/>
          <p:nvPr/>
        </p:nvGrpSpPr>
        <p:grpSpPr>
          <a:xfrm rot="-1800028">
            <a:off x="2075075" y="2908980"/>
            <a:ext cx="884564" cy="153782"/>
            <a:chOff x="7309296" y="2227128"/>
            <a:chExt cx="1148503" cy="372934"/>
          </a:xfrm>
        </p:grpSpPr>
        <p:sp>
          <p:nvSpPr>
            <p:cNvPr id="337" name="Google Shape;337;p22"/>
            <p:cNvSpPr/>
            <p:nvPr/>
          </p:nvSpPr>
          <p:spPr>
            <a:xfrm>
              <a:off x="7343598" y="2343862"/>
              <a:ext cx="1114200" cy="256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12 m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38" name="Google Shape;338;p22"/>
            <p:cNvCxnSpPr/>
            <p:nvPr/>
          </p:nvCxnSpPr>
          <p:spPr>
            <a:xfrm>
              <a:off x="7309296" y="2227128"/>
              <a:ext cx="1102200" cy="0"/>
            </a:xfrm>
            <a:prstGeom prst="straightConnector1">
              <a:avLst/>
            </a:prstGeom>
            <a:noFill/>
            <a:ln cap="flat" cmpd="sng" w="9525">
              <a:solidFill>
                <a:srgbClr val="374CF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sp>
        <p:nvSpPr>
          <p:cNvPr id="339" name="Google Shape;339;p22"/>
          <p:cNvSpPr txBox="1"/>
          <p:nvPr/>
        </p:nvSpPr>
        <p:spPr>
          <a:xfrm>
            <a:off x="3801000" y="1573525"/>
            <a:ext cx="3312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front and back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     30 × 4 × 2 =         </a:t>
            </a: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0" name="Google Shape;340;p22"/>
          <p:cNvSpPr txBox="1"/>
          <p:nvPr/>
        </p:nvSpPr>
        <p:spPr>
          <a:xfrm>
            <a:off x="3801000" y="2130902"/>
            <a:ext cx="33120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left and right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              ×       ×  2 =         </a:t>
            </a: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341" name="Google Shape;341;p22"/>
          <p:cNvGrpSpPr/>
          <p:nvPr/>
        </p:nvGrpSpPr>
        <p:grpSpPr>
          <a:xfrm rot="-5400000">
            <a:off x="2855964" y="2422915"/>
            <a:ext cx="254278" cy="296243"/>
            <a:chOff x="7309296" y="2219412"/>
            <a:chExt cx="1102200" cy="1871400"/>
          </a:xfrm>
        </p:grpSpPr>
        <p:sp>
          <p:nvSpPr>
            <p:cNvPr id="342" name="Google Shape;342;p22"/>
            <p:cNvSpPr/>
            <p:nvPr/>
          </p:nvSpPr>
          <p:spPr>
            <a:xfrm rot="5400000">
              <a:off x="6924704" y="3075612"/>
              <a:ext cx="1871400" cy="15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4 m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43" name="Google Shape;343;p22"/>
            <p:cNvCxnSpPr/>
            <p:nvPr/>
          </p:nvCxnSpPr>
          <p:spPr>
            <a:xfrm>
              <a:off x="7309296" y="2227128"/>
              <a:ext cx="1102200" cy="0"/>
            </a:xfrm>
            <a:prstGeom prst="straightConnector1">
              <a:avLst/>
            </a:prstGeom>
            <a:noFill/>
            <a:ln cap="flat" cmpd="sng" w="9525">
              <a:solidFill>
                <a:srgbClr val="374CF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sp>
        <p:nvSpPr>
          <p:cNvPr id="344" name="Google Shape;344;p22"/>
          <p:cNvSpPr txBox="1"/>
          <p:nvPr/>
        </p:nvSpPr>
        <p:spPr>
          <a:xfrm>
            <a:off x="5012363" y="1721125"/>
            <a:ext cx="535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240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45" name="Google Shape;345;p22"/>
          <p:cNvSpPr txBox="1"/>
          <p:nvPr/>
        </p:nvSpPr>
        <p:spPr>
          <a:xfrm>
            <a:off x="4254475" y="2321529"/>
            <a:ext cx="535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12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46" name="Google Shape;346;p22"/>
          <p:cNvSpPr txBox="1"/>
          <p:nvPr/>
        </p:nvSpPr>
        <p:spPr>
          <a:xfrm>
            <a:off x="4607250" y="2321529"/>
            <a:ext cx="535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4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47" name="Google Shape;347;p22"/>
          <p:cNvSpPr txBox="1"/>
          <p:nvPr/>
        </p:nvSpPr>
        <p:spPr>
          <a:xfrm>
            <a:off x="5447000" y="2321529"/>
            <a:ext cx="535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96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48" name="Google Shape;348;p22"/>
          <p:cNvSpPr txBox="1"/>
          <p:nvPr/>
        </p:nvSpPr>
        <p:spPr>
          <a:xfrm>
            <a:off x="4414400" y="2898233"/>
            <a:ext cx="535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12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49" name="Google Shape;349;p22"/>
          <p:cNvSpPr txBox="1"/>
          <p:nvPr/>
        </p:nvSpPr>
        <p:spPr>
          <a:xfrm>
            <a:off x="4750250" y="2907758"/>
            <a:ext cx="535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50" name="Google Shape;350;p22"/>
          <p:cNvSpPr txBox="1"/>
          <p:nvPr/>
        </p:nvSpPr>
        <p:spPr>
          <a:xfrm>
            <a:off x="5200400" y="2907758"/>
            <a:ext cx="535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720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51" name="Google Shape;351;p22"/>
          <p:cNvSpPr txBox="1"/>
          <p:nvPr/>
        </p:nvSpPr>
        <p:spPr>
          <a:xfrm>
            <a:off x="4761200" y="3305342"/>
            <a:ext cx="535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240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52" name="Google Shape;352;p22"/>
          <p:cNvSpPr txBox="1"/>
          <p:nvPr/>
        </p:nvSpPr>
        <p:spPr>
          <a:xfrm>
            <a:off x="5304125" y="3305342"/>
            <a:ext cx="535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96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53" name="Google Shape;353;p22"/>
          <p:cNvSpPr txBox="1"/>
          <p:nvPr/>
        </p:nvSpPr>
        <p:spPr>
          <a:xfrm>
            <a:off x="5759225" y="3305342"/>
            <a:ext cx="535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720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54" name="Google Shape;354;p22"/>
          <p:cNvSpPr txBox="1"/>
          <p:nvPr/>
        </p:nvSpPr>
        <p:spPr>
          <a:xfrm>
            <a:off x="6237416" y="3307474"/>
            <a:ext cx="906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1056 m²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355" name="Google Shape;355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1116" y="4281450"/>
            <a:ext cx="1869136" cy="1483598"/>
          </a:xfrm>
          <a:prstGeom prst="rect">
            <a:avLst/>
          </a:prstGeom>
          <a:noFill/>
          <a:ln>
            <a:noFill/>
          </a:ln>
        </p:spPr>
      </p:pic>
      <p:sp>
        <p:nvSpPr>
          <p:cNvPr id="356" name="Google Shape;356;p22"/>
          <p:cNvSpPr txBox="1"/>
          <p:nvPr/>
        </p:nvSpPr>
        <p:spPr>
          <a:xfrm>
            <a:off x="487625" y="4527655"/>
            <a:ext cx="28116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front =          </a:t>
            </a: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right =          </a:t>
            </a: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top =          </a:t>
            </a: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7" name="Google Shape;357;p22"/>
          <p:cNvSpPr txBox="1"/>
          <p:nvPr/>
        </p:nvSpPr>
        <p:spPr>
          <a:xfrm>
            <a:off x="468000" y="4057825"/>
            <a:ext cx="6624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 Complete the calculations to find the surface area of this cuboid.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358" name="Google Shape;358;p22"/>
          <p:cNvGrpSpPr/>
          <p:nvPr/>
        </p:nvGrpSpPr>
        <p:grpSpPr>
          <a:xfrm rot="1813824">
            <a:off x="4467626" y="5479601"/>
            <a:ext cx="1256803" cy="139820"/>
            <a:chOff x="7309296" y="2227128"/>
            <a:chExt cx="1102200" cy="372931"/>
          </a:xfrm>
        </p:grpSpPr>
        <p:sp>
          <p:nvSpPr>
            <p:cNvPr id="359" name="Google Shape;359;p22"/>
            <p:cNvSpPr/>
            <p:nvPr/>
          </p:nvSpPr>
          <p:spPr>
            <a:xfrm>
              <a:off x="7524297" y="2343859"/>
              <a:ext cx="752700" cy="256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16 inches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60" name="Google Shape;360;p22"/>
            <p:cNvCxnSpPr/>
            <p:nvPr/>
          </p:nvCxnSpPr>
          <p:spPr>
            <a:xfrm>
              <a:off x="7309296" y="2227128"/>
              <a:ext cx="1102200" cy="0"/>
            </a:xfrm>
            <a:prstGeom prst="straightConnector1">
              <a:avLst/>
            </a:prstGeom>
            <a:noFill/>
            <a:ln cap="flat" cmpd="sng" w="19050">
              <a:solidFill>
                <a:srgbClr val="374CF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grpSp>
        <p:nvGrpSpPr>
          <p:cNvPr id="361" name="Google Shape;361;p22"/>
          <p:cNvGrpSpPr/>
          <p:nvPr/>
        </p:nvGrpSpPr>
        <p:grpSpPr>
          <a:xfrm rot="-1800186">
            <a:off x="5739439" y="5639640"/>
            <a:ext cx="628325" cy="139967"/>
            <a:chOff x="7309296" y="2227128"/>
            <a:chExt cx="1261309" cy="372939"/>
          </a:xfrm>
        </p:grpSpPr>
        <p:sp>
          <p:nvSpPr>
            <p:cNvPr id="362" name="Google Shape;362;p22"/>
            <p:cNvSpPr/>
            <p:nvPr/>
          </p:nvSpPr>
          <p:spPr>
            <a:xfrm>
              <a:off x="7343605" y="2343868"/>
              <a:ext cx="1227000" cy="256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8 inches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63" name="Google Shape;363;p22"/>
            <p:cNvCxnSpPr/>
            <p:nvPr/>
          </p:nvCxnSpPr>
          <p:spPr>
            <a:xfrm>
              <a:off x="7309296" y="2227128"/>
              <a:ext cx="1102200" cy="0"/>
            </a:xfrm>
            <a:prstGeom prst="straightConnector1">
              <a:avLst/>
            </a:prstGeom>
            <a:noFill/>
            <a:ln cap="flat" cmpd="sng" w="19050">
              <a:solidFill>
                <a:srgbClr val="374CF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grpSp>
        <p:nvGrpSpPr>
          <p:cNvPr id="364" name="Google Shape;364;p22"/>
          <p:cNvGrpSpPr/>
          <p:nvPr/>
        </p:nvGrpSpPr>
        <p:grpSpPr>
          <a:xfrm flipH="1" rot="5400000">
            <a:off x="3992605" y="4533519"/>
            <a:ext cx="542944" cy="614144"/>
            <a:chOff x="7309296" y="2219459"/>
            <a:chExt cx="1102200" cy="2877900"/>
          </a:xfrm>
        </p:grpSpPr>
        <p:sp>
          <p:nvSpPr>
            <p:cNvPr id="365" name="Google Shape;365;p22"/>
            <p:cNvSpPr/>
            <p:nvPr/>
          </p:nvSpPr>
          <p:spPr>
            <a:xfrm rot="5400000">
              <a:off x="6421454" y="3578909"/>
              <a:ext cx="2877900" cy="15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7 inches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66" name="Google Shape;366;p22"/>
            <p:cNvCxnSpPr/>
            <p:nvPr/>
          </p:nvCxnSpPr>
          <p:spPr>
            <a:xfrm>
              <a:off x="7309296" y="2227128"/>
              <a:ext cx="1102200" cy="0"/>
            </a:xfrm>
            <a:prstGeom prst="straightConnector1">
              <a:avLst/>
            </a:prstGeom>
            <a:noFill/>
            <a:ln cap="flat" cmpd="sng" w="19050">
              <a:solidFill>
                <a:srgbClr val="374CF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sp>
        <p:nvSpPr>
          <p:cNvPr id="367" name="Google Shape;367;p22"/>
          <p:cNvSpPr txBox="1"/>
          <p:nvPr/>
        </p:nvSpPr>
        <p:spPr>
          <a:xfrm>
            <a:off x="469125" y="5736365"/>
            <a:ext cx="4625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surface area = 2 (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+        +         ) =               </a:t>
            </a: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8" name="Google Shape;368;p22"/>
          <p:cNvSpPr txBox="1"/>
          <p:nvPr/>
        </p:nvSpPr>
        <p:spPr>
          <a:xfrm>
            <a:off x="1038898" y="4524998"/>
            <a:ext cx="4176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112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69" name="Google Shape;369;p22"/>
          <p:cNvSpPr txBox="1"/>
          <p:nvPr/>
        </p:nvSpPr>
        <p:spPr>
          <a:xfrm>
            <a:off x="1038898" y="4894352"/>
            <a:ext cx="4176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56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70" name="Google Shape;370;p22"/>
          <p:cNvSpPr txBox="1"/>
          <p:nvPr/>
        </p:nvSpPr>
        <p:spPr>
          <a:xfrm>
            <a:off x="1038898" y="5272522"/>
            <a:ext cx="4176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128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71" name="Google Shape;371;p22"/>
          <p:cNvSpPr txBox="1"/>
          <p:nvPr/>
        </p:nvSpPr>
        <p:spPr>
          <a:xfrm>
            <a:off x="2582052" y="5707790"/>
            <a:ext cx="4176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128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72" name="Google Shape;372;p22"/>
          <p:cNvSpPr txBox="1"/>
          <p:nvPr/>
        </p:nvSpPr>
        <p:spPr>
          <a:xfrm>
            <a:off x="2117557" y="5707790"/>
            <a:ext cx="4176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56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73" name="Google Shape;373;p22"/>
          <p:cNvSpPr txBox="1"/>
          <p:nvPr/>
        </p:nvSpPr>
        <p:spPr>
          <a:xfrm>
            <a:off x="1697446" y="5707790"/>
            <a:ext cx="4176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112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74" name="Google Shape;374;p22"/>
          <p:cNvSpPr txBox="1"/>
          <p:nvPr/>
        </p:nvSpPr>
        <p:spPr>
          <a:xfrm>
            <a:off x="3144776" y="5707796"/>
            <a:ext cx="10071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592 inches²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75" name="Google Shape;375;p22"/>
          <p:cNvSpPr txBox="1"/>
          <p:nvPr/>
        </p:nvSpPr>
        <p:spPr>
          <a:xfrm>
            <a:off x="468000" y="6556598"/>
            <a:ext cx="6602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4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 This is a cube.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Calculate the area of the front, right, and top faces of the cube, and hence calculate the surface area.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6" name="Google Shape;376;p22"/>
          <p:cNvSpPr txBox="1"/>
          <p:nvPr/>
        </p:nvSpPr>
        <p:spPr>
          <a:xfrm>
            <a:off x="468005" y="7207071"/>
            <a:ext cx="41175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front =          </a:t>
            </a:r>
            <a:endParaRPr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right =          </a:t>
            </a:r>
            <a:endParaRPr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top =          </a:t>
            </a:r>
            <a:endParaRPr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surface area = 2(          +          +         ) =             </a:t>
            </a:r>
            <a:endParaRPr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77" name="Google Shape;377;p22"/>
          <p:cNvPicPr preferRelativeResize="0"/>
          <p:nvPr/>
        </p:nvPicPr>
        <p:blipFill rotWithShape="1">
          <a:blip r:embed="rId5">
            <a:alphaModFix/>
          </a:blip>
          <a:srcRect b="2146" l="2856" r="0" t="7273"/>
          <a:stretch/>
        </p:blipFill>
        <p:spPr>
          <a:xfrm>
            <a:off x="5502775" y="6976450"/>
            <a:ext cx="1225526" cy="136837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78" name="Google Shape;378;p22"/>
          <p:cNvGrpSpPr/>
          <p:nvPr/>
        </p:nvGrpSpPr>
        <p:grpSpPr>
          <a:xfrm flipH="1" rot="5400000">
            <a:off x="4910402" y="7422630"/>
            <a:ext cx="656801" cy="486657"/>
            <a:chOff x="7309296" y="2322283"/>
            <a:chExt cx="1102200" cy="2430853"/>
          </a:xfrm>
        </p:grpSpPr>
        <p:sp>
          <p:nvSpPr>
            <p:cNvPr id="379" name="Google Shape;379;p22"/>
            <p:cNvSpPr/>
            <p:nvPr/>
          </p:nvSpPr>
          <p:spPr>
            <a:xfrm rot="5400000">
              <a:off x="6653361" y="3466586"/>
              <a:ext cx="2414100" cy="15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5 m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80" name="Google Shape;380;p22"/>
            <p:cNvCxnSpPr/>
            <p:nvPr/>
          </p:nvCxnSpPr>
          <p:spPr>
            <a:xfrm>
              <a:off x="7309296" y="2322283"/>
              <a:ext cx="1102200" cy="0"/>
            </a:xfrm>
            <a:prstGeom prst="straightConnector1">
              <a:avLst/>
            </a:prstGeom>
            <a:noFill/>
            <a:ln cap="flat" cmpd="sng" w="19050">
              <a:solidFill>
                <a:srgbClr val="374CF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sp>
        <p:nvSpPr>
          <p:cNvPr id="381" name="Google Shape;381;p22"/>
          <p:cNvSpPr txBox="1"/>
          <p:nvPr/>
        </p:nvSpPr>
        <p:spPr>
          <a:xfrm>
            <a:off x="1047301" y="7207082"/>
            <a:ext cx="416100" cy="23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25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82" name="Google Shape;382;p22"/>
          <p:cNvSpPr txBox="1"/>
          <p:nvPr/>
        </p:nvSpPr>
        <p:spPr>
          <a:xfrm>
            <a:off x="1047301" y="7542551"/>
            <a:ext cx="416100" cy="23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25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83" name="Google Shape;383;p22"/>
          <p:cNvSpPr txBox="1"/>
          <p:nvPr/>
        </p:nvSpPr>
        <p:spPr>
          <a:xfrm>
            <a:off x="1047295" y="7919594"/>
            <a:ext cx="416100" cy="23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25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84" name="Google Shape;384;p22"/>
          <p:cNvSpPr txBox="1"/>
          <p:nvPr/>
        </p:nvSpPr>
        <p:spPr>
          <a:xfrm>
            <a:off x="1680728" y="8289562"/>
            <a:ext cx="416100" cy="23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25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85" name="Google Shape;385;p22"/>
          <p:cNvSpPr txBox="1"/>
          <p:nvPr/>
        </p:nvSpPr>
        <p:spPr>
          <a:xfrm>
            <a:off x="2213164" y="8289562"/>
            <a:ext cx="416100" cy="23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25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86" name="Google Shape;386;p22"/>
          <p:cNvSpPr txBox="1"/>
          <p:nvPr/>
        </p:nvSpPr>
        <p:spPr>
          <a:xfrm>
            <a:off x="3419992" y="8289292"/>
            <a:ext cx="595800" cy="23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150 m²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87" name="Google Shape;387;p22"/>
          <p:cNvSpPr txBox="1"/>
          <p:nvPr/>
        </p:nvSpPr>
        <p:spPr>
          <a:xfrm>
            <a:off x="2745617" y="8289562"/>
            <a:ext cx="416100" cy="23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25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88" name="Google Shape;388;p22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Mathematics in Education and Industry.</a:t>
            </a:r>
            <a:endParaRPr/>
          </a:p>
        </p:txBody>
      </p:sp>
      <p:sp>
        <p:nvSpPr>
          <p:cNvPr id="389" name="Google Shape;389;p22"/>
          <p:cNvSpPr txBox="1"/>
          <p:nvPr/>
        </p:nvSpPr>
        <p:spPr>
          <a:xfrm>
            <a:off x="478650" y="8862441"/>
            <a:ext cx="6602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Jun says there is a quicker way of calculating the surface area of a cube. Is Jun correct? If so, show a more efficient calculation to find the surface area of a cube.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90" name="Google Shape;390;p22"/>
          <p:cNvSpPr txBox="1"/>
          <p:nvPr/>
        </p:nvSpPr>
        <p:spPr>
          <a:xfrm>
            <a:off x="478647" y="9307386"/>
            <a:ext cx="1640100" cy="23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6 × 5² = 150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LD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Worksheet Answers September 2023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