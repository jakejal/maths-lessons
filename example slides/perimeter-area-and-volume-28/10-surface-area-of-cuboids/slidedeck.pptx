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b2ee3ed1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b2ee3ed1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eb2ee3ed1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eb2ee3ed1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1eb2f01232f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1eb2f01232f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a0acb1f1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a0acb1f1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a0acb1f1f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2a0acb1f1f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1eb2ee3ed1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1eb2ee3ed1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1eb2ee3ed1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1eb2ee3ed1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eb2ee3ed1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eb2ee3ed1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1eb2f01232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1eb2f01232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1eb2f01232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1eb2f01232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a389020c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a389020c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a36c90806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a36c90806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2a36c90806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2a36c90806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2a36c90806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2a36c90806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a36c90806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a36c90806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1eb2ee3ed1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1eb2ee3ed1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1eb2f01232f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1eb2f01232f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1eb2f01232f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1eb2f01232f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eb2f01232f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1eb2f01232f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1eb2f01232f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1eb2f01232f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1eb2f01232f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1eb2f01232f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1eb2f01232f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1eb2f01232f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1eb2f01232f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1eb2f01232f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1eb2f01232f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1eb2f01232f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1eb2f01232f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1eb2f01232f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1eb2f01232f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1eb2f01232f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1eb2f01232f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1eb2f01232f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1eb2f01232f_0_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1eb2f01232f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1eb2f01232f_0_1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1eb2f01232f_0_1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1eb2f01232f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1eb2f01232f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1eb2f01232f_0_1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1eb2f01232f_0_1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1eb2f01232f_0_1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1eb2f01232f_0_1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1eb2f01232f_0_1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1eb2f01232f_0_1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1eb2f01232f_0_1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1eb2f01232f_0_1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1eb2f01232f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1eb2f01232f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1eb2f01232f_0_1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1eb2f01232f_0_1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1eb2f01232f_0_1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1eb2f01232f_0_1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1eb2f01232f_0_2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1eb2f01232f_0_2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g1eb2f01232f_0_2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1eb2f01232f_0_2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1eb2f01232f_0_2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1eb2f01232f_0_2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g1eb2f01232f_0_2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g1eb2f01232f_0_2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1eb2f01232f_0_2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2" name="Google Shape;1822;g1eb2f01232f_0_2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1eb2f01232f_0_2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1eb2f01232f_0_2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1eb2f01232f_0_2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1eb2f01232f_0_2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eb2f01232f_0_2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eb2f01232f_0_2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7" name="Google Shape;193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3.png"/><Relationship Id="rId4" Type="http://schemas.openxmlformats.org/officeDocument/2006/relationships/image" Target="../media/image79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9.png"/><Relationship Id="rId4" Type="http://schemas.openxmlformats.org/officeDocument/2006/relationships/image" Target="../media/image24.png"/><Relationship Id="rId9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33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9.png"/><Relationship Id="rId4" Type="http://schemas.openxmlformats.org/officeDocument/2006/relationships/image" Target="../media/image26.png"/><Relationship Id="rId11" Type="http://schemas.openxmlformats.org/officeDocument/2006/relationships/image" Target="../media/image13.png"/><Relationship Id="rId10" Type="http://schemas.openxmlformats.org/officeDocument/2006/relationships/image" Target="../media/image35.png"/><Relationship Id="rId9" Type="http://schemas.openxmlformats.org/officeDocument/2006/relationships/image" Target="../media/image30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33.png"/><Relationship Id="rId8" Type="http://schemas.openxmlformats.org/officeDocument/2006/relationships/image" Target="../media/image3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38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49.png"/><Relationship Id="rId6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Relationship Id="rId5" Type="http://schemas.openxmlformats.org/officeDocument/2006/relationships/image" Target="../media/image49.png"/><Relationship Id="rId6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6.png"/><Relationship Id="rId4" Type="http://schemas.openxmlformats.org/officeDocument/2006/relationships/image" Target="../media/image4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56.png"/><Relationship Id="rId5" Type="http://schemas.openxmlformats.org/officeDocument/2006/relationships/image" Target="../media/image60.png"/><Relationship Id="rId6" Type="http://schemas.openxmlformats.org/officeDocument/2006/relationships/image" Target="../media/image57.png"/><Relationship Id="rId7" Type="http://schemas.openxmlformats.org/officeDocument/2006/relationships/image" Target="../media/image62.png"/><Relationship Id="rId8" Type="http://schemas.openxmlformats.org/officeDocument/2006/relationships/image" Target="../media/image6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7.png"/><Relationship Id="rId4" Type="http://schemas.openxmlformats.org/officeDocument/2006/relationships/image" Target="../media/image4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7.png"/><Relationship Id="rId4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6.png"/><Relationship Id="rId4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6.png"/><Relationship Id="rId4" Type="http://schemas.openxmlformats.org/officeDocument/2006/relationships/image" Target="../media/image4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2.png"/><Relationship Id="rId4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2.png"/><Relationship Id="rId4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3.png"/><Relationship Id="rId4" Type="http://schemas.openxmlformats.org/officeDocument/2006/relationships/image" Target="../media/image7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the concept of surface area and find the surface area of cuboids.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63711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The net of a 3D object is a 2D representation of its surfaces that can be folded up into the 3D object.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2862600"/>
            <a:ext cx="8496000" cy="7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surface area is the total area of all the surfaces of a closed 3D shape. The surfaces include all faces and any curved surfaces.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68" name="Google Shape;76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6863" y="1080000"/>
            <a:ext cx="2225006" cy="1299249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Faces are the flat 2D surfaces of a 3D shape.  </a:t>
            </a:r>
            <a:endParaRPr/>
          </a:p>
        </p:txBody>
      </p:sp>
      <p:sp>
        <p:nvSpPr>
          <p:cNvPr id="774" name="Google Shape;774;p68"/>
          <p:cNvSpPr txBox="1"/>
          <p:nvPr>
            <p:ph idx="3" type="subTitle"/>
          </p:nvPr>
        </p:nvSpPr>
        <p:spPr>
          <a:xfrm>
            <a:off x="324000" y="3483825"/>
            <a:ext cx="8496000" cy="6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vertex is the point where two or more line segments meet. The plural is vertices. </a:t>
            </a:r>
            <a:endParaRPr/>
          </a:p>
        </p:txBody>
      </p:sp>
      <p:sp>
        <p:nvSpPr>
          <p:cNvPr id="775" name="Google Shape;775;p68"/>
          <p:cNvSpPr txBox="1"/>
          <p:nvPr>
            <p:ph idx="2" type="subTitle"/>
          </p:nvPr>
        </p:nvSpPr>
        <p:spPr>
          <a:xfrm>
            <a:off x="324000" y="1934938"/>
            <a:ext cx="8496000" cy="104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An edge is a line segment forming the boundary of the shape connecting two vertices. In 3D shapes an edge is formed where two faces meet.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sp>
        <p:nvSpPr>
          <p:cNvPr id="781" name="Google Shape;781;p6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sp>
        <p:nvSpPr>
          <p:cNvPr id="782" name="Google Shape;782;p6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783" name="Google Shape;783;p6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</a:t>
            </a:r>
            <a:endParaRPr/>
          </a:p>
        </p:txBody>
      </p:sp>
      <p:pic>
        <p:nvPicPr>
          <p:cNvPr id="784" name="Google Shape;78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61" y="17485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0"/>
          <p:cNvSpPr txBox="1"/>
          <p:nvPr/>
        </p:nvSpPr>
        <p:spPr>
          <a:xfrm>
            <a:off x="4132800" y="698225"/>
            <a:ext cx="4248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net of a 3D object is a 2D representation of the faces of the object.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2" y="1602350"/>
            <a:ext cx="2029875" cy="2717651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pic>
        <p:nvPicPr>
          <p:cNvPr id="792" name="Google Shape;792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010663" y="897438"/>
            <a:ext cx="2415450" cy="41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0"/>
          <p:cNvSpPr txBox="1"/>
          <p:nvPr/>
        </p:nvSpPr>
        <p:spPr>
          <a:xfrm>
            <a:off x="324000" y="987762"/>
            <a:ext cx="218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a 3D object.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4" name="Google Shape;794;p70"/>
          <p:cNvCxnSpPr/>
          <p:nvPr/>
        </p:nvCxnSpPr>
        <p:spPr>
          <a:xfrm>
            <a:off x="2709125" y="2968575"/>
            <a:ext cx="1228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1"/>
          <p:cNvSpPr txBox="1"/>
          <p:nvPr/>
        </p:nvSpPr>
        <p:spPr>
          <a:xfrm>
            <a:off x="3670650" y="698225"/>
            <a:ext cx="514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the faces of an object, when represented as a net, must have edges that are touching the adjacent edge of another face.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0" name="Google Shape;80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2" y="1602350"/>
            <a:ext cx="2029875" cy="2717651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pic>
        <p:nvPicPr>
          <p:cNvPr id="802" name="Google Shape;802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010663" y="897438"/>
            <a:ext cx="2415450" cy="41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1"/>
          <p:cNvSpPr txBox="1"/>
          <p:nvPr/>
        </p:nvSpPr>
        <p:spPr>
          <a:xfrm>
            <a:off x="324000" y="987762"/>
            <a:ext cx="218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a 3D object.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71"/>
          <p:cNvSpPr txBox="1"/>
          <p:nvPr/>
        </p:nvSpPr>
        <p:spPr>
          <a:xfrm>
            <a:off x="3670650" y="4168900"/>
            <a:ext cx="461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common edge of these two faces must be touching…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5" name="Google Shape;805;p71"/>
          <p:cNvCxnSpPr/>
          <p:nvPr/>
        </p:nvCxnSpPr>
        <p:spPr>
          <a:xfrm>
            <a:off x="7058969" y="2693850"/>
            <a:ext cx="0" cy="5571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6" name="Google Shape;806;p71"/>
          <p:cNvGrpSpPr/>
          <p:nvPr/>
        </p:nvGrpSpPr>
        <p:grpSpPr>
          <a:xfrm>
            <a:off x="4154650" y="1753450"/>
            <a:ext cx="2911950" cy="2415450"/>
            <a:chOff x="4154650" y="4820400"/>
            <a:chExt cx="2911950" cy="2415450"/>
          </a:xfrm>
        </p:grpSpPr>
        <p:pic>
          <p:nvPicPr>
            <p:cNvPr id="807" name="Google Shape;807;p71"/>
            <p:cNvPicPr preferRelativeResize="0"/>
            <p:nvPr/>
          </p:nvPicPr>
          <p:blipFill rotWithShape="1">
            <a:blip r:embed="rId4">
              <a:alphaModFix/>
            </a:blip>
            <a:srcRect b="29448" l="0" r="0" t="0"/>
            <a:stretch/>
          </p:blipFill>
          <p:spPr>
            <a:xfrm rot="-5400000">
              <a:off x="4402900" y="4572150"/>
              <a:ext cx="2415450" cy="29119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08" name="Google Shape;808;p71"/>
            <p:cNvCxnSpPr/>
            <p:nvPr/>
          </p:nvCxnSpPr>
          <p:spPr>
            <a:xfrm>
              <a:off x="7058969" y="5749575"/>
              <a:ext cx="0" cy="55710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9" name="Google Shape;809;p71"/>
          <p:cNvGrpSpPr/>
          <p:nvPr/>
        </p:nvGrpSpPr>
        <p:grpSpPr>
          <a:xfrm>
            <a:off x="7600919" y="1753450"/>
            <a:ext cx="1219232" cy="2415450"/>
            <a:chOff x="8386794" y="4820400"/>
            <a:chExt cx="1219232" cy="2415450"/>
          </a:xfrm>
        </p:grpSpPr>
        <p:pic>
          <p:nvPicPr>
            <p:cNvPr id="810" name="Google Shape;810;p71"/>
            <p:cNvPicPr preferRelativeResize="0"/>
            <p:nvPr/>
          </p:nvPicPr>
          <p:blipFill rotWithShape="1">
            <a:blip r:embed="rId4">
              <a:alphaModFix/>
            </a:blip>
            <a:srcRect b="0" l="0" r="0" t="70461"/>
            <a:stretch/>
          </p:blipFill>
          <p:spPr>
            <a:xfrm rot="-5400000">
              <a:off x="7788689" y="5418513"/>
              <a:ext cx="2415450" cy="121922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11" name="Google Shape;811;p71"/>
            <p:cNvCxnSpPr/>
            <p:nvPr/>
          </p:nvCxnSpPr>
          <p:spPr>
            <a:xfrm>
              <a:off x="8386794" y="5749575"/>
              <a:ext cx="0" cy="557100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2" name="Google Shape;812;p71"/>
          <p:cNvSpPr txBox="1"/>
          <p:nvPr/>
        </p:nvSpPr>
        <p:spPr>
          <a:xfrm>
            <a:off x="5782031" y="4435543"/>
            <a:ext cx="243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nd not separated.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3" name="Google Shape;813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9188" y="3681617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pic>
        <p:nvPicPr>
          <p:cNvPr id="819" name="Google Shape;81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727" y="1337050"/>
            <a:ext cx="2029875" cy="2717651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2"/>
          <p:cNvSpPr/>
          <p:nvPr/>
        </p:nvSpPr>
        <p:spPr>
          <a:xfrm flipH="1" rot="323966">
            <a:off x="1333296" y="2291120"/>
            <a:ext cx="1275258" cy="1649209"/>
          </a:xfrm>
          <a:prstGeom prst="parallelogram">
            <a:avLst>
              <a:gd fmla="val 12667" name="adj"/>
            </a:avLst>
          </a:prstGeom>
          <a:solidFill>
            <a:srgbClr val="282828">
              <a:alpha val="4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2"/>
          <p:cNvSpPr/>
          <p:nvPr/>
        </p:nvSpPr>
        <p:spPr>
          <a:xfrm rot="-2786546">
            <a:off x="1792053" y="2235326"/>
            <a:ext cx="2174194" cy="1145039"/>
          </a:xfrm>
          <a:prstGeom prst="parallelogram">
            <a:avLst>
              <a:gd fmla="val 103630" name="adj"/>
            </a:avLst>
          </a:prstGeom>
          <a:solidFill>
            <a:srgbClr val="282828">
              <a:alpha val="4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2"/>
          <p:cNvSpPr/>
          <p:nvPr/>
        </p:nvSpPr>
        <p:spPr>
          <a:xfrm rot="318086">
            <a:off x="1448016" y="3191842"/>
            <a:ext cx="1730603" cy="776988"/>
          </a:xfrm>
          <a:prstGeom prst="parallelogram">
            <a:avLst>
              <a:gd fmla="val 79297" name="adj"/>
            </a:avLst>
          </a:prstGeom>
          <a:solidFill>
            <a:srgbClr val="282828">
              <a:alpha val="4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2"/>
          <p:cNvSpPr txBox="1"/>
          <p:nvPr/>
        </p:nvSpPr>
        <p:spPr>
          <a:xfrm>
            <a:off x="324000" y="698220"/>
            <a:ext cx="424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cuboid is a 3D shape that has 6 rectangular faces.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2"/>
          <p:cNvSpPr txBox="1"/>
          <p:nvPr/>
        </p:nvSpPr>
        <p:spPr>
          <a:xfrm>
            <a:off x="4572000" y="698225"/>
            <a:ext cx="4248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face has a matching congruent face on the opposite side of the cuboid.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2"/>
          <p:cNvSpPr/>
          <p:nvPr/>
        </p:nvSpPr>
        <p:spPr>
          <a:xfrm flipH="1" rot="323966">
            <a:off x="2012061" y="1565611"/>
            <a:ext cx="1275258" cy="1649209"/>
          </a:xfrm>
          <a:prstGeom prst="parallelogram">
            <a:avLst>
              <a:gd fmla="val 12667" name="adj"/>
            </a:avLst>
          </a:prstGeom>
          <a:solidFill>
            <a:srgbClr val="282828">
              <a:alpha val="4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2"/>
          <p:cNvSpPr txBox="1"/>
          <p:nvPr/>
        </p:nvSpPr>
        <p:spPr>
          <a:xfrm>
            <a:off x="4953000" y="1740450"/>
            <a:ext cx="21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ront and back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72"/>
          <p:cNvSpPr/>
          <p:nvPr/>
        </p:nvSpPr>
        <p:spPr>
          <a:xfrm rot="-2786546">
            <a:off x="669971" y="2133273"/>
            <a:ext cx="2174194" cy="1145039"/>
          </a:xfrm>
          <a:prstGeom prst="parallelogram">
            <a:avLst>
              <a:gd fmla="val 103630" name="adj"/>
            </a:avLst>
          </a:prstGeom>
          <a:solidFill>
            <a:srgbClr val="282828">
              <a:alpha val="4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2"/>
          <p:cNvSpPr txBox="1"/>
          <p:nvPr/>
        </p:nvSpPr>
        <p:spPr>
          <a:xfrm>
            <a:off x="4953000" y="2122950"/>
            <a:ext cx="21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eft and right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2"/>
          <p:cNvSpPr/>
          <p:nvPr/>
        </p:nvSpPr>
        <p:spPr>
          <a:xfrm rot="318086">
            <a:off x="1448016" y="1529756"/>
            <a:ext cx="1730603" cy="776988"/>
          </a:xfrm>
          <a:prstGeom prst="parallelogram">
            <a:avLst>
              <a:gd fmla="val 79297" name="adj"/>
            </a:avLst>
          </a:prstGeom>
          <a:solidFill>
            <a:srgbClr val="282828">
              <a:alpha val="4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2"/>
          <p:cNvSpPr txBox="1"/>
          <p:nvPr/>
        </p:nvSpPr>
        <p:spPr>
          <a:xfrm>
            <a:off x="4953000" y="2505450"/>
            <a:ext cx="21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op and bottom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727" y="1337050"/>
            <a:ext cx="2029875" cy="2717651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sp>
        <p:nvSpPr>
          <p:cNvPr id="837" name="Google Shape;837;p73"/>
          <p:cNvSpPr txBox="1"/>
          <p:nvPr/>
        </p:nvSpPr>
        <p:spPr>
          <a:xfrm>
            <a:off x="324000" y="698220"/>
            <a:ext cx="424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cuboid is a 3D shape that has 6 rectangular faces.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3"/>
          <p:cNvSpPr txBox="1"/>
          <p:nvPr/>
        </p:nvSpPr>
        <p:spPr>
          <a:xfrm>
            <a:off x="4572000" y="698225"/>
            <a:ext cx="424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Therefore, the net of a cuboid must have the same properties: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3"/>
          <p:cNvSpPr txBox="1"/>
          <p:nvPr/>
        </p:nvSpPr>
        <p:spPr>
          <a:xfrm>
            <a:off x="4953000" y="1719550"/>
            <a:ext cx="38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hree pairs of congruent faces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3"/>
          <p:cNvSpPr txBox="1"/>
          <p:nvPr/>
        </p:nvSpPr>
        <p:spPr>
          <a:xfrm>
            <a:off x="4953000" y="1337050"/>
            <a:ext cx="386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faces total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1" name="Google Shape;84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239613" y="1210713"/>
            <a:ext cx="2415450" cy="41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3"/>
          <p:cNvSpPr txBox="1"/>
          <p:nvPr/>
        </p:nvSpPr>
        <p:spPr>
          <a:xfrm>
            <a:off x="5320400" y="3004450"/>
            <a:ext cx="112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bottom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3"/>
          <p:cNvSpPr txBox="1"/>
          <p:nvPr/>
        </p:nvSpPr>
        <p:spPr>
          <a:xfrm>
            <a:off x="7291600" y="3004450"/>
            <a:ext cx="112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top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3"/>
          <p:cNvSpPr txBox="1"/>
          <p:nvPr/>
        </p:nvSpPr>
        <p:spPr>
          <a:xfrm>
            <a:off x="6443600" y="3004450"/>
            <a:ext cx="84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front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3"/>
          <p:cNvSpPr txBox="1"/>
          <p:nvPr/>
        </p:nvSpPr>
        <p:spPr>
          <a:xfrm>
            <a:off x="4482550" y="3004450"/>
            <a:ext cx="84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back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3"/>
          <p:cNvSpPr txBox="1"/>
          <p:nvPr/>
        </p:nvSpPr>
        <p:spPr>
          <a:xfrm>
            <a:off x="5320400" y="2160000"/>
            <a:ext cx="11232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right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3"/>
          <p:cNvSpPr txBox="1"/>
          <p:nvPr/>
        </p:nvSpPr>
        <p:spPr>
          <a:xfrm>
            <a:off x="5320400" y="3550250"/>
            <a:ext cx="11232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left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3"/>
          <p:cNvSpPr/>
          <p:nvPr/>
        </p:nvSpPr>
        <p:spPr>
          <a:xfrm flipH="1" rot="323966">
            <a:off x="1333296" y="2291120"/>
            <a:ext cx="1275258" cy="1649209"/>
          </a:xfrm>
          <a:prstGeom prst="parallelogram">
            <a:avLst>
              <a:gd fmla="val 12667" name="adj"/>
            </a:avLst>
          </a:prstGeom>
          <a:solidFill>
            <a:srgbClr val="282828">
              <a:alpha val="4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3"/>
          <p:cNvSpPr/>
          <p:nvPr/>
        </p:nvSpPr>
        <p:spPr>
          <a:xfrm flipH="1" rot="323966">
            <a:off x="2012061" y="1565611"/>
            <a:ext cx="1275258" cy="1649209"/>
          </a:xfrm>
          <a:prstGeom prst="parallelogram">
            <a:avLst>
              <a:gd fmla="val 12667" name="adj"/>
            </a:avLst>
          </a:prstGeom>
          <a:solidFill>
            <a:srgbClr val="282828">
              <a:alpha val="4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3"/>
          <p:cNvSpPr/>
          <p:nvPr/>
        </p:nvSpPr>
        <p:spPr>
          <a:xfrm rot="-2786546">
            <a:off x="1792053" y="2235326"/>
            <a:ext cx="2174194" cy="1145039"/>
          </a:xfrm>
          <a:prstGeom prst="parallelogram">
            <a:avLst>
              <a:gd fmla="val 103630" name="adj"/>
            </a:avLst>
          </a:prstGeom>
          <a:solidFill>
            <a:srgbClr val="282828">
              <a:alpha val="4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3"/>
          <p:cNvSpPr/>
          <p:nvPr/>
        </p:nvSpPr>
        <p:spPr>
          <a:xfrm rot="-2786546">
            <a:off x="669971" y="2133273"/>
            <a:ext cx="2174194" cy="1145039"/>
          </a:xfrm>
          <a:prstGeom prst="parallelogram">
            <a:avLst>
              <a:gd fmla="val 103630" name="adj"/>
            </a:avLst>
          </a:prstGeom>
          <a:solidFill>
            <a:srgbClr val="282828">
              <a:alpha val="4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3"/>
          <p:cNvSpPr/>
          <p:nvPr/>
        </p:nvSpPr>
        <p:spPr>
          <a:xfrm rot="318086">
            <a:off x="1448016" y="3191842"/>
            <a:ext cx="1730603" cy="776988"/>
          </a:xfrm>
          <a:prstGeom prst="parallelogram">
            <a:avLst>
              <a:gd fmla="val 79297" name="adj"/>
            </a:avLst>
          </a:prstGeom>
          <a:solidFill>
            <a:srgbClr val="282828">
              <a:alpha val="4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3"/>
          <p:cNvSpPr/>
          <p:nvPr/>
        </p:nvSpPr>
        <p:spPr>
          <a:xfrm rot="318086">
            <a:off x="1448016" y="1529756"/>
            <a:ext cx="1730603" cy="776988"/>
          </a:xfrm>
          <a:prstGeom prst="parallelogram">
            <a:avLst>
              <a:gd fmla="val 79297" name="adj"/>
            </a:avLst>
          </a:prstGeom>
          <a:solidFill>
            <a:srgbClr val="282828">
              <a:alpha val="40000"/>
            </a:srgbClr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sp>
        <p:nvSpPr>
          <p:cNvPr id="859" name="Google Shape;859;p74"/>
          <p:cNvSpPr txBox="1"/>
          <p:nvPr/>
        </p:nvSpPr>
        <p:spPr>
          <a:xfrm>
            <a:off x="324000" y="698225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are possible nets of a cuboid?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0" name="Google Shape;860;p74"/>
          <p:cNvPicPr preferRelativeResize="0"/>
          <p:nvPr/>
        </p:nvPicPr>
        <p:blipFill rotWithShape="1">
          <a:blip r:embed="rId3">
            <a:alphaModFix/>
          </a:blip>
          <a:srcRect b="44781" l="0" r="73167" t="0"/>
          <a:stretch/>
        </p:blipFill>
        <p:spPr>
          <a:xfrm>
            <a:off x="324000" y="1019600"/>
            <a:ext cx="1884676" cy="21043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1" name="Google Shape;861;p74"/>
          <p:cNvPicPr preferRelativeResize="0"/>
          <p:nvPr/>
        </p:nvPicPr>
        <p:blipFill rotWithShape="1">
          <a:blip r:embed="rId3">
            <a:alphaModFix/>
          </a:blip>
          <a:srcRect b="49940" l="30287" r="36436" t="441"/>
          <a:stretch/>
        </p:blipFill>
        <p:spPr>
          <a:xfrm>
            <a:off x="2851625" y="1036275"/>
            <a:ext cx="2337251" cy="18909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2" name="Google Shape;862;p74"/>
          <p:cNvPicPr preferRelativeResize="0"/>
          <p:nvPr/>
        </p:nvPicPr>
        <p:blipFill rotWithShape="1">
          <a:blip r:embed="rId3">
            <a:alphaModFix/>
          </a:blip>
          <a:srcRect b="50535" l="67423" r="162" t="5402"/>
          <a:stretch/>
        </p:blipFill>
        <p:spPr>
          <a:xfrm>
            <a:off x="5771300" y="1225375"/>
            <a:ext cx="2276776" cy="1679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3" name="Google Shape;863;p74"/>
          <p:cNvPicPr preferRelativeResize="0"/>
          <p:nvPr/>
        </p:nvPicPr>
        <p:blipFill rotWithShape="1">
          <a:blip r:embed="rId3">
            <a:alphaModFix/>
          </a:blip>
          <a:srcRect b="-564" l="18454" r="49151" t="56499"/>
          <a:stretch/>
        </p:blipFill>
        <p:spPr>
          <a:xfrm>
            <a:off x="2874300" y="3176875"/>
            <a:ext cx="2275298" cy="1679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4" name="Google Shape;864;p74"/>
          <p:cNvPicPr preferRelativeResize="0"/>
          <p:nvPr/>
        </p:nvPicPr>
        <p:blipFill rotWithShape="1">
          <a:blip r:embed="rId3">
            <a:alphaModFix/>
          </a:blip>
          <a:srcRect b="-498" l="54405" r="11748" t="67944"/>
          <a:stretch/>
        </p:blipFill>
        <p:spPr>
          <a:xfrm>
            <a:off x="5716125" y="3206650"/>
            <a:ext cx="2377324" cy="12405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65" name="Google Shape;86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4308" y="249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6133" y="40281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388" y="266804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1813" y="24411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4813" y="4400642"/>
            <a:ext cx="396000" cy="419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0" name="Google Shape;870;p74"/>
          <p:cNvGrpSpPr/>
          <p:nvPr/>
        </p:nvGrpSpPr>
        <p:grpSpPr>
          <a:xfrm>
            <a:off x="1931473" y="1019601"/>
            <a:ext cx="277200" cy="277200"/>
            <a:chOff x="1020916" y="1442088"/>
            <a:chExt cx="457200" cy="457200"/>
          </a:xfrm>
        </p:grpSpPr>
        <p:pic>
          <p:nvPicPr>
            <p:cNvPr id="871" name="Google Shape;871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2" name="Google Shape;872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3" name="Google Shape;873;p74"/>
          <p:cNvGrpSpPr/>
          <p:nvPr/>
        </p:nvGrpSpPr>
        <p:grpSpPr>
          <a:xfrm>
            <a:off x="4911673" y="1019601"/>
            <a:ext cx="277200" cy="277200"/>
            <a:chOff x="1020916" y="1442088"/>
            <a:chExt cx="457200" cy="457200"/>
          </a:xfrm>
        </p:grpSpPr>
        <p:pic>
          <p:nvPicPr>
            <p:cNvPr id="874" name="Google Shape;874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5" name="Google Shape;875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6" name="Google Shape;876;p74"/>
          <p:cNvGrpSpPr/>
          <p:nvPr/>
        </p:nvGrpSpPr>
        <p:grpSpPr>
          <a:xfrm>
            <a:off x="8048073" y="1207526"/>
            <a:ext cx="277200" cy="277200"/>
            <a:chOff x="1020916" y="1442088"/>
            <a:chExt cx="457200" cy="457200"/>
          </a:xfrm>
        </p:grpSpPr>
        <p:pic>
          <p:nvPicPr>
            <p:cNvPr id="877" name="Google Shape;877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8" name="Google Shape;878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9" name="Google Shape;879;p74"/>
          <p:cNvGrpSpPr/>
          <p:nvPr/>
        </p:nvGrpSpPr>
        <p:grpSpPr>
          <a:xfrm>
            <a:off x="4872398" y="3176876"/>
            <a:ext cx="277200" cy="277200"/>
            <a:chOff x="1020916" y="1442088"/>
            <a:chExt cx="457200" cy="457200"/>
          </a:xfrm>
        </p:grpSpPr>
        <p:pic>
          <p:nvPicPr>
            <p:cNvPr id="880" name="Google Shape;880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1" name="Google Shape;881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2" name="Google Shape;882;p74"/>
          <p:cNvGrpSpPr/>
          <p:nvPr/>
        </p:nvGrpSpPr>
        <p:grpSpPr>
          <a:xfrm>
            <a:off x="8093448" y="3176876"/>
            <a:ext cx="277200" cy="277200"/>
            <a:chOff x="1020916" y="1442088"/>
            <a:chExt cx="457200" cy="457200"/>
          </a:xfrm>
        </p:grpSpPr>
        <p:pic>
          <p:nvPicPr>
            <p:cNvPr id="883" name="Google Shape;883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4" name="Google Shape;884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5"/>
          <p:cNvSpPr txBox="1"/>
          <p:nvPr/>
        </p:nvSpPr>
        <p:spPr>
          <a:xfrm>
            <a:off x="324000" y="671400"/>
            <a:ext cx="4872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edges of two rectangular faces that touch have to be the same length in order for it to fold into a cuboid.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pic>
        <p:nvPicPr>
          <p:cNvPr id="891" name="Google Shape;89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2" y="1807775"/>
            <a:ext cx="2029875" cy="27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827861" y="20473"/>
            <a:ext cx="1914295" cy="327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5"/>
          <p:cNvSpPr txBox="1"/>
          <p:nvPr/>
        </p:nvSpPr>
        <p:spPr>
          <a:xfrm>
            <a:off x="5891890" y="1442041"/>
            <a:ext cx="89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bottom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5"/>
          <p:cNvSpPr txBox="1"/>
          <p:nvPr/>
        </p:nvSpPr>
        <p:spPr>
          <a:xfrm>
            <a:off x="7454102" y="1442041"/>
            <a:ext cx="89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5"/>
          <p:cNvSpPr txBox="1"/>
          <p:nvPr/>
        </p:nvSpPr>
        <p:spPr>
          <a:xfrm>
            <a:off x="6782046" y="1442041"/>
            <a:ext cx="6720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front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5"/>
          <p:cNvSpPr txBox="1"/>
          <p:nvPr/>
        </p:nvSpPr>
        <p:spPr>
          <a:xfrm>
            <a:off x="5227878" y="1442041"/>
            <a:ext cx="6720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back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5"/>
          <p:cNvSpPr txBox="1"/>
          <p:nvPr/>
        </p:nvSpPr>
        <p:spPr>
          <a:xfrm>
            <a:off x="5891890" y="772797"/>
            <a:ext cx="8904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right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5"/>
          <p:cNvSpPr txBox="1"/>
          <p:nvPr/>
        </p:nvSpPr>
        <p:spPr>
          <a:xfrm>
            <a:off x="5891890" y="1874599"/>
            <a:ext cx="8904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left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9" name="Google Shape;899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10800000">
            <a:off x="5227312" y="2728711"/>
            <a:ext cx="3147861" cy="21025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0" name="Google Shape;900;p75"/>
          <p:cNvCxnSpPr/>
          <p:nvPr/>
        </p:nvCxnSpPr>
        <p:spPr>
          <a:xfrm>
            <a:off x="5889985" y="1437994"/>
            <a:ext cx="892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75"/>
          <p:cNvCxnSpPr/>
          <p:nvPr/>
        </p:nvCxnSpPr>
        <p:spPr>
          <a:xfrm flipH="1" rot="10800000">
            <a:off x="1521288" y="3735092"/>
            <a:ext cx="693300" cy="723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75"/>
          <p:cNvSpPr txBox="1"/>
          <p:nvPr/>
        </p:nvSpPr>
        <p:spPr>
          <a:xfrm>
            <a:off x="2353875" y="1758650"/>
            <a:ext cx="2146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this edge was a different length for the bottom and right faces…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3" name="Google Shape;903;p75"/>
          <p:cNvCxnSpPr/>
          <p:nvPr/>
        </p:nvCxnSpPr>
        <p:spPr>
          <a:xfrm>
            <a:off x="5911190" y="3670619"/>
            <a:ext cx="892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4" name="Google Shape;904;p75"/>
          <p:cNvSpPr txBox="1"/>
          <p:nvPr/>
        </p:nvSpPr>
        <p:spPr>
          <a:xfrm>
            <a:off x="2582475" y="3242525"/>
            <a:ext cx="235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would it look like when folded up?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5"/>
          <p:cNvSpPr txBox="1"/>
          <p:nvPr/>
        </p:nvSpPr>
        <p:spPr>
          <a:xfrm>
            <a:off x="2582475" y="3992300"/>
            <a:ext cx="261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would be a hole or gap in the 3D shape.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76"/>
          <p:cNvPicPr preferRelativeResize="0"/>
          <p:nvPr/>
        </p:nvPicPr>
        <p:blipFill rotWithShape="1">
          <a:blip r:embed="rId3">
            <a:alphaModFix/>
          </a:blip>
          <a:srcRect b="57057" l="42983" r="5931" t="505"/>
          <a:stretch/>
        </p:blipFill>
        <p:spPr>
          <a:xfrm>
            <a:off x="3137325" y="733800"/>
            <a:ext cx="2716951" cy="23988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1" name="Google Shape;911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sp>
        <p:nvSpPr>
          <p:cNvPr id="912" name="Google Shape;912;p76"/>
          <p:cNvSpPr txBox="1"/>
          <p:nvPr/>
        </p:nvSpPr>
        <p:spPr>
          <a:xfrm>
            <a:off x="324000" y="698225"/>
            <a:ext cx="2328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are possible nets of a cuboid?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3" name="Google Shape;913;p76"/>
          <p:cNvPicPr preferRelativeResize="0"/>
          <p:nvPr/>
        </p:nvPicPr>
        <p:blipFill rotWithShape="1">
          <a:blip r:embed="rId3">
            <a:alphaModFix/>
          </a:blip>
          <a:srcRect b="787" l="48837" r="76" t="45665"/>
          <a:stretch/>
        </p:blipFill>
        <p:spPr>
          <a:xfrm>
            <a:off x="6100725" y="724638"/>
            <a:ext cx="2716951" cy="302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4" name="Google Shape;91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933" y="2362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1663" y="3030117"/>
            <a:ext cx="396000" cy="4197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6" name="Google Shape;916;p76"/>
          <p:cNvGrpSpPr/>
          <p:nvPr/>
        </p:nvGrpSpPr>
        <p:grpSpPr>
          <a:xfrm>
            <a:off x="3137323" y="2855476"/>
            <a:ext cx="277200" cy="277200"/>
            <a:chOff x="1020916" y="1442088"/>
            <a:chExt cx="457200" cy="457200"/>
          </a:xfrm>
        </p:grpSpPr>
        <p:pic>
          <p:nvPicPr>
            <p:cNvPr id="917" name="Google Shape;917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19" name="Google Shape;919;p76"/>
          <p:cNvPicPr preferRelativeResize="0"/>
          <p:nvPr/>
        </p:nvPicPr>
        <p:blipFill rotWithShape="1">
          <a:blip r:embed="rId3">
            <a:alphaModFix/>
          </a:blip>
          <a:srcRect b="67315" l="0" r="78232" t="5926"/>
          <a:stretch/>
        </p:blipFill>
        <p:spPr>
          <a:xfrm>
            <a:off x="1561825" y="3345100"/>
            <a:ext cx="1157675" cy="15125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0" name="Google Shape;920;p76"/>
          <p:cNvPicPr preferRelativeResize="0"/>
          <p:nvPr/>
        </p:nvPicPr>
        <p:blipFill rotWithShape="1">
          <a:blip r:embed="rId3">
            <a:alphaModFix/>
          </a:blip>
          <a:srcRect b="6184" l="0" r="72260" t="40267"/>
          <a:stretch/>
        </p:blipFill>
        <p:spPr>
          <a:xfrm rot="5400000">
            <a:off x="3634350" y="2569375"/>
            <a:ext cx="1475300" cy="30267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21" name="Google Shape;921;p76"/>
          <p:cNvGrpSpPr/>
          <p:nvPr/>
        </p:nvGrpSpPr>
        <p:grpSpPr>
          <a:xfrm>
            <a:off x="8542798" y="3474226"/>
            <a:ext cx="277200" cy="277200"/>
            <a:chOff x="1020916" y="1442088"/>
            <a:chExt cx="457200" cy="457200"/>
          </a:xfrm>
        </p:grpSpPr>
        <p:pic>
          <p:nvPicPr>
            <p:cNvPr id="922" name="Google Shape;922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3" name="Google Shape;923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4" name="Google Shape;924;p76"/>
          <p:cNvGrpSpPr/>
          <p:nvPr/>
        </p:nvGrpSpPr>
        <p:grpSpPr>
          <a:xfrm>
            <a:off x="1284623" y="3345101"/>
            <a:ext cx="277200" cy="277200"/>
            <a:chOff x="1020916" y="1442088"/>
            <a:chExt cx="457200" cy="457200"/>
          </a:xfrm>
        </p:grpSpPr>
        <p:pic>
          <p:nvPicPr>
            <p:cNvPr id="925" name="Google Shape;925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6" name="Google Shape;926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7" name="Google Shape;927;p76"/>
          <p:cNvGrpSpPr/>
          <p:nvPr/>
        </p:nvGrpSpPr>
        <p:grpSpPr>
          <a:xfrm>
            <a:off x="5891223" y="4543201"/>
            <a:ext cx="277200" cy="277200"/>
            <a:chOff x="1020916" y="1442088"/>
            <a:chExt cx="457200" cy="457200"/>
          </a:xfrm>
        </p:grpSpPr>
        <p:pic>
          <p:nvPicPr>
            <p:cNvPr id="928" name="Google Shape;928;p7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" name="Google Shape;929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30" name="Google Shape;93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5813" y="3622292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8433" y="44013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sp>
        <p:nvSpPr>
          <p:cNvPr id="937" name="Google Shape;937;p77"/>
          <p:cNvSpPr txBox="1"/>
          <p:nvPr/>
        </p:nvSpPr>
        <p:spPr>
          <a:xfrm>
            <a:off x="3617100" y="643950"/>
            <a:ext cx="52029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G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roups are either: all nets that can fold up into cubes, or all composite shapes that won’t fold up into cubes.</a:t>
            </a:r>
            <a:endParaRPr sz="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Can you spot any patterns or similarities with each of the shapes in a group?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groups can fold up into cubes, and which can’t?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Can you come up with any potential rules for arrangements of 6 squares that definitely are or definitely are not nets of cubes?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There is one unique net (not a rotation or reflection of one in a group) that isn’t given.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draw this missing net and fold it  up into a cube to check?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8" name="Google Shape;938;p77"/>
          <p:cNvGrpSpPr/>
          <p:nvPr/>
        </p:nvGrpSpPr>
        <p:grpSpPr>
          <a:xfrm>
            <a:off x="340115" y="1577431"/>
            <a:ext cx="3091970" cy="767434"/>
            <a:chOff x="324000" y="2012321"/>
            <a:chExt cx="4083426" cy="1007263"/>
          </a:xfrm>
        </p:grpSpPr>
        <p:pic>
          <p:nvPicPr>
            <p:cNvPr id="939" name="Google Shape;939;p77"/>
            <p:cNvPicPr preferRelativeResize="0"/>
            <p:nvPr/>
          </p:nvPicPr>
          <p:blipFill rotWithShape="1">
            <a:blip r:embed="rId3">
              <a:alphaModFix/>
            </a:blip>
            <a:srcRect b="28242" l="0" r="53639" t="41624"/>
            <a:stretch/>
          </p:blipFill>
          <p:spPr>
            <a:xfrm>
              <a:off x="324000" y="2012321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40" name="Google Shape;940;p77"/>
            <p:cNvSpPr txBox="1"/>
            <p:nvPr/>
          </p:nvSpPr>
          <p:spPr>
            <a:xfrm>
              <a:off x="38526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1" name="Google Shape;941;p77"/>
            <p:cNvSpPr txBox="1"/>
            <p:nvPr/>
          </p:nvSpPr>
          <p:spPr>
            <a:xfrm>
              <a:off x="66562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2" name="Google Shape;942;p77"/>
            <p:cNvSpPr txBox="1"/>
            <p:nvPr/>
          </p:nvSpPr>
          <p:spPr>
            <a:xfrm>
              <a:off x="1802299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3" name="Google Shape;943;p77"/>
            <p:cNvSpPr txBox="1"/>
            <p:nvPr/>
          </p:nvSpPr>
          <p:spPr>
            <a:xfrm>
              <a:off x="2082657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4" name="Google Shape;944;p77"/>
            <p:cNvSpPr txBox="1"/>
            <p:nvPr/>
          </p:nvSpPr>
          <p:spPr>
            <a:xfrm>
              <a:off x="321933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5" name="Google Shape;945;p77"/>
            <p:cNvSpPr txBox="1"/>
            <p:nvPr/>
          </p:nvSpPr>
          <p:spPr>
            <a:xfrm>
              <a:off x="349969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6" name="Google Shape;946;p77"/>
          <p:cNvGrpSpPr/>
          <p:nvPr/>
        </p:nvGrpSpPr>
        <p:grpSpPr>
          <a:xfrm>
            <a:off x="340116" y="2344881"/>
            <a:ext cx="3091970" cy="767434"/>
            <a:chOff x="324000" y="3339435"/>
            <a:chExt cx="4083426" cy="1007263"/>
          </a:xfrm>
        </p:grpSpPr>
        <p:pic>
          <p:nvPicPr>
            <p:cNvPr id="947" name="Google Shape;947;p77"/>
            <p:cNvPicPr preferRelativeResize="0"/>
            <p:nvPr/>
          </p:nvPicPr>
          <p:blipFill rotWithShape="1">
            <a:blip r:embed="rId3">
              <a:alphaModFix/>
            </a:blip>
            <a:srcRect b="-4706" l="0" r="53639" t="74574"/>
            <a:stretch/>
          </p:blipFill>
          <p:spPr>
            <a:xfrm>
              <a:off x="324000" y="3339435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48" name="Google Shape;948;p77"/>
            <p:cNvSpPr txBox="1"/>
            <p:nvPr/>
          </p:nvSpPr>
          <p:spPr>
            <a:xfrm>
              <a:off x="38526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9" name="Google Shape;949;p77"/>
            <p:cNvSpPr txBox="1"/>
            <p:nvPr/>
          </p:nvSpPr>
          <p:spPr>
            <a:xfrm>
              <a:off x="66562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0" name="Google Shape;950;p77"/>
            <p:cNvSpPr txBox="1"/>
            <p:nvPr/>
          </p:nvSpPr>
          <p:spPr>
            <a:xfrm>
              <a:off x="321933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1" name="Google Shape;951;p77"/>
            <p:cNvSpPr txBox="1"/>
            <p:nvPr/>
          </p:nvSpPr>
          <p:spPr>
            <a:xfrm>
              <a:off x="349969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2" name="Google Shape;952;p77"/>
          <p:cNvGrpSpPr/>
          <p:nvPr/>
        </p:nvGrpSpPr>
        <p:grpSpPr>
          <a:xfrm>
            <a:off x="340094" y="3112279"/>
            <a:ext cx="3091970" cy="767434"/>
            <a:chOff x="4524077" y="685206"/>
            <a:chExt cx="4083426" cy="1007263"/>
          </a:xfrm>
        </p:grpSpPr>
        <p:pic>
          <p:nvPicPr>
            <p:cNvPr id="953" name="Google Shape;953;p77"/>
            <p:cNvPicPr preferRelativeResize="0"/>
            <p:nvPr/>
          </p:nvPicPr>
          <p:blipFill rotWithShape="1">
            <a:blip r:embed="rId3">
              <a:alphaModFix/>
            </a:blip>
            <a:srcRect b="70798" l="51298" r="2341" t="-931"/>
            <a:stretch/>
          </p:blipFill>
          <p:spPr>
            <a:xfrm>
              <a:off x="4524077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54" name="Google Shape;954;p77"/>
            <p:cNvSpPr txBox="1"/>
            <p:nvPr/>
          </p:nvSpPr>
          <p:spPr>
            <a:xfrm>
              <a:off x="459774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5" name="Google Shape;955;p77"/>
            <p:cNvSpPr txBox="1"/>
            <p:nvPr/>
          </p:nvSpPr>
          <p:spPr>
            <a:xfrm>
              <a:off x="487809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6" name="Google Shape;956;p77"/>
            <p:cNvSpPr txBox="1"/>
            <p:nvPr/>
          </p:nvSpPr>
          <p:spPr>
            <a:xfrm>
              <a:off x="6014775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7" name="Google Shape;957;p77"/>
            <p:cNvSpPr txBox="1"/>
            <p:nvPr/>
          </p:nvSpPr>
          <p:spPr>
            <a:xfrm>
              <a:off x="6295133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8" name="Google Shape;958;p77"/>
            <p:cNvSpPr txBox="1"/>
            <p:nvPr/>
          </p:nvSpPr>
          <p:spPr>
            <a:xfrm>
              <a:off x="743181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9" name="Google Shape;959;p77"/>
            <p:cNvSpPr txBox="1"/>
            <p:nvPr/>
          </p:nvSpPr>
          <p:spPr>
            <a:xfrm>
              <a:off x="771216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0" name="Google Shape;960;p77"/>
          <p:cNvGrpSpPr/>
          <p:nvPr/>
        </p:nvGrpSpPr>
        <p:grpSpPr>
          <a:xfrm>
            <a:off x="340423" y="3879730"/>
            <a:ext cx="3092205" cy="729460"/>
            <a:chOff x="4524077" y="2012333"/>
            <a:chExt cx="4295922" cy="1007263"/>
          </a:xfrm>
        </p:grpSpPr>
        <p:pic>
          <p:nvPicPr>
            <p:cNvPr id="961" name="Google Shape;961;p77"/>
            <p:cNvPicPr preferRelativeResize="0"/>
            <p:nvPr/>
          </p:nvPicPr>
          <p:blipFill rotWithShape="1">
            <a:blip r:embed="rId3">
              <a:alphaModFix/>
            </a:blip>
            <a:srcRect b="37029" l="50714" r="512" t="32838"/>
            <a:stretch/>
          </p:blipFill>
          <p:spPr>
            <a:xfrm>
              <a:off x="4524077" y="2012333"/>
              <a:ext cx="4295922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62" name="Google Shape;962;p77"/>
            <p:cNvSpPr txBox="1"/>
            <p:nvPr/>
          </p:nvSpPr>
          <p:spPr>
            <a:xfrm>
              <a:off x="4651201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3" name="Google Shape;963;p77"/>
            <p:cNvSpPr txBox="1"/>
            <p:nvPr/>
          </p:nvSpPr>
          <p:spPr>
            <a:xfrm>
              <a:off x="4931559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4" name="Google Shape;964;p77"/>
            <p:cNvSpPr txBox="1"/>
            <p:nvPr/>
          </p:nvSpPr>
          <p:spPr>
            <a:xfrm>
              <a:off x="6216528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5" name="Google Shape;965;p77"/>
            <p:cNvSpPr txBox="1"/>
            <p:nvPr/>
          </p:nvSpPr>
          <p:spPr>
            <a:xfrm>
              <a:off x="6496886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6" name="Google Shape;966;p77"/>
            <p:cNvSpPr txBox="1"/>
            <p:nvPr/>
          </p:nvSpPr>
          <p:spPr>
            <a:xfrm>
              <a:off x="7627195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7" name="Google Shape;967;p77"/>
            <p:cNvSpPr txBox="1"/>
            <p:nvPr/>
          </p:nvSpPr>
          <p:spPr>
            <a:xfrm>
              <a:off x="7907554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8" name="Google Shape;968;p77"/>
          <p:cNvGrpSpPr/>
          <p:nvPr/>
        </p:nvGrpSpPr>
        <p:grpSpPr>
          <a:xfrm>
            <a:off x="340104" y="810009"/>
            <a:ext cx="3091970" cy="767434"/>
            <a:chOff x="324000" y="685206"/>
            <a:chExt cx="4083426" cy="1007263"/>
          </a:xfrm>
        </p:grpSpPr>
        <p:pic>
          <p:nvPicPr>
            <p:cNvPr id="969" name="Google Shape;969;p77"/>
            <p:cNvPicPr preferRelativeResize="0"/>
            <p:nvPr/>
          </p:nvPicPr>
          <p:blipFill rotWithShape="1">
            <a:blip r:embed="rId3">
              <a:alphaModFix/>
            </a:blip>
            <a:srcRect b="66405" l="0" r="53639" t="3462"/>
            <a:stretch/>
          </p:blipFill>
          <p:spPr>
            <a:xfrm>
              <a:off x="324000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70" name="Google Shape;970;p77"/>
            <p:cNvSpPr txBox="1"/>
            <p:nvPr/>
          </p:nvSpPr>
          <p:spPr>
            <a:xfrm>
              <a:off x="38526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1" name="Google Shape;971;p77"/>
            <p:cNvSpPr txBox="1"/>
            <p:nvPr/>
          </p:nvSpPr>
          <p:spPr>
            <a:xfrm>
              <a:off x="66562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2" name="Google Shape;972;p77"/>
            <p:cNvSpPr txBox="1"/>
            <p:nvPr/>
          </p:nvSpPr>
          <p:spPr>
            <a:xfrm>
              <a:off x="1802299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3" name="Google Shape;973;p77"/>
            <p:cNvSpPr txBox="1"/>
            <p:nvPr/>
          </p:nvSpPr>
          <p:spPr>
            <a:xfrm>
              <a:off x="2082657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4" name="Google Shape;974;p77"/>
            <p:cNvSpPr txBox="1"/>
            <p:nvPr/>
          </p:nvSpPr>
          <p:spPr>
            <a:xfrm>
              <a:off x="321933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5" name="Google Shape;975;p77"/>
            <p:cNvSpPr txBox="1"/>
            <p:nvPr/>
          </p:nvSpPr>
          <p:spPr>
            <a:xfrm>
              <a:off x="349969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76" name="Google Shape;976;p77"/>
            <p:cNvPicPr preferRelativeResize="0"/>
            <p:nvPr/>
          </p:nvPicPr>
          <p:blipFill rotWithShape="1">
            <a:blip r:embed="rId3">
              <a:alphaModFix/>
            </a:blip>
            <a:srcRect b="72907" l="16442" r="80422" t="9964"/>
            <a:stretch/>
          </p:blipFill>
          <p:spPr>
            <a:xfrm rot="10800000">
              <a:off x="2653131" y="895559"/>
              <a:ext cx="276095" cy="57254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sp>
        <p:nvSpPr>
          <p:cNvPr id="982" name="Google Shape;982;p78"/>
          <p:cNvSpPr txBox="1"/>
          <p:nvPr/>
        </p:nvSpPr>
        <p:spPr>
          <a:xfrm>
            <a:off x="3688675" y="2862395"/>
            <a:ext cx="5055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All the shapes in group A have a horizontal line of four squares, with one square above and below it that move around.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Group C have 5 or 6 squares in a row, which is more than any other group.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3" name="Google Shape;983;p78"/>
          <p:cNvSpPr txBox="1"/>
          <p:nvPr/>
        </p:nvSpPr>
        <p:spPr>
          <a:xfrm>
            <a:off x="3688675" y="2144975"/>
            <a:ext cx="5055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many possible observations, for example: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84" name="Google Shape;984;p78"/>
          <p:cNvGrpSpPr/>
          <p:nvPr/>
        </p:nvGrpSpPr>
        <p:grpSpPr>
          <a:xfrm>
            <a:off x="340115" y="1577431"/>
            <a:ext cx="3091970" cy="767434"/>
            <a:chOff x="324000" y="2012321"/>
            <a:chExt cx="4083426" cy="1007263"/>
          </a:xfrm>
        </p:grpSpPr>
        <p:pic>
          <p:nvPicPr>
            <p:cNvPr id="985" name="Google Shape;985;p78"/>
            <p:cNvPicPr preferRelativeResize="0"/>
            <p:nvPr/>
          </p:nvPicPr>
          <p:blipFill rotWithShape="1">
            <a:blip r:embed="rId3">
              <a:alphaModFix/>
            </a:blip>
            <a:srcRect b="28242" l="0" r="53639" t="41624"/>
            <a:stretch/>
          </p:blipFill>
          <p:spPr>
            <a:xfrm>
              <a:off x="324000" y="2012321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86" name="Google Shape;986;p78"/>
            <p:cNvSpPr txBox="1"/>
            <p:nvPr/>
          </p:nvSpPr>
          <p:spPr>
            <a:xfrm>
              <a:off x="38526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7" name="Google Shape;987;p78"/>
            <p:cNvSpPr txBox="1"/>
            <p:nvPr/>
          </p:nvSpPr>
          <p:spPr>
            <a:xfrm>
              <a:off x="66562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8" name="Google Shape;988;p78"/>
            <p:cNvSpPr txBox="1"/>
            <p:nvPr/>
          </p:nvSpPr>
          <p:spPr>
            <a:xfrm>
              <a:off x="1802299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78"/>
            <p:cNvSpPr txBox="1"/>
            <p:nvPr/>
          </p:nvSpPr>
          <p:spPr>
            <a:xfrm>
              <a:off x="2082657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78"/>
            <p:cNvSpPr txBox="1"/>
            <p:nvPr/>
          </p:nvSpPr>
          <p:spPr>
            <a:xfrm>
              <a:off x="321933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1" name="Google Shape;991;p78"/>
            <p:cNvSpPr txBox="1"/>
            <p:nvPr/>
          </p:nvSpPr>
          <p:spPr>
            <a:xfrm>
              <a:off x="349969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2" name="Google Shape;992;p78"/>
          <p:cNvGrpSpPr/>
          <p:nvPr/>
        </p:nvGrpSpPr>
        <p:grpSpPr>
          <a:xfrm>
            <a:off x="340116" y="2344881"/>
            <a:ext cx="3091970" cy="767434"/>
            <a:chOff x="324000" y="3339435"/>
            <a:chExt cx="4083426" cy="1007263"/>
          </a:xfrm>
        </p:grpSpPr>
        <p:pic>
          <p:nvPicPr>
            <p:cNvPr id="993" name="Google Shape;993;p78"/>
            <p:cNvPicPr preferRelativeResize="0"/>
            <p:nvPr/>
          </p:nvPicPr>
          <p:blipFill rotWithShape="1">
            <a:blip r:embed="rId3">
              <a:alphaModFix/>
            </a:blip>
            <a:srcRect b="-4706" l="0" r="53639" t="74574"/>
            <a:stretch/>
          </p:blipFill>
          <p:spPr>
            <a:xfrm>
              <a:off x="324000" y="3339435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994" name="Google Shape;994;p78"/>
            <p:cNvSpPr txBox="1"/>
            <p:nvPr/>
          </p:nvSpPr>
          <p:spPr>
            <a:xfrm>
              <a:off x="38526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5" name="Google Shape;995;p78"/>
            <p:cNvSpPr txBox="1"/>
            <p:nvPr/>
          </p:nvSpPr>
          <p:spPr>
            <a:xfrm>
              <a:off x="66562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6" name="Google Shape;996;p78"/>
            <p:cNvSpPr txBox="1"/>
            <p:nvPr/>
          </p:nvSpPr>
          <p:spPr>
            <a:xfrm>
              <a:off x="321933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7" name="Google Shape;997;p78"/>
            <p:cNvSpPr txBox="1"/>
            <p:nvPr/>
          </p:nvSpPr>
          <p:spPr>
            <a:xfrm>
              <a:off x="349969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8" name="Google Shape;998;p78"/>
          <p:cNvGrpSpPr/>
          <p:nvPr/>
        </p:nvGrpSpPr>
        <p:grpSpPr>
          <a:xfrm>
            <a:off x="340094" y="3112279"/>
            <a:ext cx="3091970" cy="767434"/>
            <a:chOff x="4524077" y="685206"/>
            <a:chExt cx="4083426" cy="1007263"/>
          </a:xfrm>
        </p:grpSpPr>
        <p:pic>
          <p:nvPicPr>
            <p:cNvPr id="999" name="Google Shape;999;p78"/>
            <p:cNvPicPr preferRelativeResize="0"/>
            <p:nvPr/>
          </p:nvPicPr>
          <p:blipFill rotWithShape="1">
            <a:blip r:embed="rId3">
              <a:alphaModFix/>
            </a:blip>
            <a:srcRect b="70798" l="51298" r="2341" t="-931"/>
            <a:stretch/>
          </p:blipFill>
          <p:spPr>
            <a:xfrm>
              <a:off x="4524077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00" name="Google Shape;1000;p78"/>
            <p:cNvSpPr txBox="1"/>
            <p:nvPr/>
          </p:nvSpPr>
          <p:spPr>
            <a:xfrm>
              <a:off x="459774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1" name="Google Shape;1001;p78"/>
            <p:cNvSpPr txBox="1"/>
            <p:nvPr/>
          </p:nvSpPr>
          <p:spPr>
            <a:xfrm>
              <a:off x="487809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2" name="Google Shape;1002;p78"/>
            <p:cNvSpPr txBox="1"/>
            <p:nvPr/>
          </p:nvSpPr>
          <p:spPr>
            <a:xfrm>
              <a:off x="6014775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3" name="Google Shape;1003;p78"/>
            <p:cNvSpPr txBox="1"/>
            <p:nvPr/>
          </p:nvSpPr>
          <p:spPr>
            <a:xfrm>
              <a:off x="6295133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4" name="Google Shape;1004;p78"/>
            <p:cNvSpPr txBox="1"/>
            <p:nvPr/>
          </p:nvSpPr>
          <p:spPr>
            <a:xfrm>
              <a:off x="743181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5" name="Google Shape;1005;p78"/>
            <p:cNvSpPr txBox="1"/>
            <p:nvPr/>
          </p:nvSpPr>
          <p:spPr>
            <a:xfrm>
              <a:off x="771216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78"/>
          <p:cNvGrpSpPr/>
          <p:nvPr/>
        </p:nvGrpSpPr>
        <p:grpSpPr>
          <a:xfrm>
            <a:off x="340423" y="3879730"/>
            <a:ext cx="3092205" cy="729460"/>
            <a:chOff x="4524077" y="2012333"/>
            <a:chExt cx="4295922" cy="1007263"/>
          </a:xfrm>
        </p:grpSpPr>
        <p:pic>
          <p:nvPicPr>
            <p:cNvPr id="1007" name="Google Shape;1007;p78"/>
            <p:cNvPicPr preferRelativeResize="0"/>
            <p:nvPr/>
          </p:nvPicPr>
          <p:blipFill rotWithShape="1">
            <a:blip r:embed="rId3">
              <a:alphaModFix/>
            </a:blip>
            <a:srcRect b="37029" l="50714" r="512" t="32838"/>
            <a:stretch/>
          </p:blipFill>
          <p:spPr>
            <a:xfrm>
              <a:off x="4524077" y="2012333"/>
              <a:ext cx="4295922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08" name="Google Shape;1008;p78"/>
            <p:cNvSpPr txBox="1"/>
            <p:nvPr/>
          </p:nvSpPr>
          <p:spPr>
            <a:xfrm>
              <a:off x="4651201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9" name="Google Shape;1009;p78"/>
            <p:cNvSpPr txBox="1"/>
            <p:nvPr/>
          </p:nvSpPr>
          <p:spPr>
            <a:xfrm>
              <a:off x="4931559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0" name="Google Shape;1010;p78"/>
            <p:cNvSpPr txBox="1"/>
            <p:nvPr/>
          </p:nvSpPr>
          <p:spPr>
            <a:xfrm>
              <a:off x="6216528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1" name="Google Shape;1011;p78"/>
            <p:cNvSpPr txBox="1"/>
            <p:nvPr/>
          </p:nvSpPr>
          <p:spPr>
            <a:xfrm>
              <a:off x="6496886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2" name="Google Shape;1012;p78"/>
            <p:cNvSpPr txBox="1"/>
            <p:nvPr/>
          </p:nvSpPr>
          <p:spPr>
            <a:xfrm>
              <a:off x="7627195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3" name="Google Shape;1013;p78"/>
            <p:cNvSpPr txBox="1"/>
            <p:nvPr/>
          </p:nvSpPr>
          <p:spPr>
            <a:xfrm>
              <a:off x="7907554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4" name="Google Shape;1014;p78"/>
          <p:cNvGrpSpPr/>
          <p:nvPr/>
        </p:nvGrpSpPr>
        <p:grpSpPr>
          <a:xfrm>
            <a:off x="340104" y="810009"/>
            <a:ext cx="3091970" cy="767434"/>
            <a:chOff x="324000" y="685206"/>
            <a:chExt cx="4083426" cy="1007263"/>
          </a:xfrm>
        </p:grpSpPr>
        <p:pic>
          <p:nvPicPr>
            <p:cNvPr id="1015" name="Google Shape;1015;p78"/>
            <p:cNvPicPr preferRelativeResize="0"/>
            <p:nvPr/>
          </p:nvPicPr>
          <p:blipFill rotWithShape="1">
            <a:blip r:embed="rId3">
              <a:alphaModFix/>
            </a:blip>
            <a:srcRect b="66405" l="0" r="53639" t="3462"/>
            <a:stretch/>
          </p:blipFill>
          <p:spPr>
            <a:xfrm>
              <a:off x="324000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16" name="Google Shape;1016;p78"/>
            <p:cNvSpPr txBox="1"/>
            <p:nvPr/>
          </p:nvSpPr>
          <p:spPr>
            <a:xfrm>
              <a:off x="38526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7" name="Google Shape;1017;p78"/>
            <p:cNvSpPr txBox="1"/>
            <p:nvPr/>
          </p:nvSpPr>
          <p:spPr>
            <a:xfrm>
              <a:off x="66562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8" name="Google Shape;1018;p78"/>
            <p:cNvSpPr txBox="1"/>
            <p:nvPr/>
          </p:nvSpPr>
          <p:spPr>
            <a:xfrm>
              <a:off x="1802299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9" name="Google Shape;1019;p78"/>
            <p:cNvSpPr txBox="1"/>
            <p:nvPr/>
          </p:nvSpPr>
          <p:spPr>
            <a:xfrm>
              <a:off x="2082657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0" name="Google Shape;1020;p78"/>
            <p:cNvSpPr txBox="1"/>
            <p:nvPr/>
          </p:nvSpPr>
          <p:spPr>
            <a:xfrm>
              <a:off x="321933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1" name="Google Shape;1021;p78"/>
            <p:cNvSpPr txBox="1"/>
            <p:nvPr/>
          </p:nvSpPr>
          <p:spPr>
            <a:xfrm>
              <a:off x="349969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22" name="Google Shape;1022;p78"/>
            <p:cNvPicPr preferRelativeResize="0"/>
            <p:nvPr/>
          </p:nvPicPr>
          <p:blipFill rotWithShape="1">
            <a:blip r:embed="rId3">
              <a:alphaModFix/>
            </a:blip>
            <a:srcRect b="72907" l="16442" r="80422" t="9964"/>
            <a:stretch/>
          </p:blipFill>
          <p:spPr>
            <a:xfrm rot="10800000">
              <a:off x="2653131" y="895559"/>
              <a:ext cx="276095" cy="5725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3" name="Google Shape;1023;p78"/>
          <p:cNvSpPr txBox="1"/>
          <p:nvPr/>
        </p:nvSpPr>
        <p:spPr>
          <a:xfrm>
            <a:off x="3617100" y="643950"/>
            <a:ext cx="5202900" cy="14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Groups are either: all nets that can fold up into cubes, or all composite shapes that won’t fold up into cubes.</a:t>
            </a:r>
            <a:endParaRPr sz="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Can you spot any patterns or similarities with each of the shapes in a group?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oogle Shape;1028;p79"/>
          <p:cNvGrpSpPr/>
          <p:nvPr/>
        </p:nvGrpSpPr>
        <p:grpSpPr>
          <a:xfrm>
            <a:off x="340115" y="1577431"/>
            <a:ext cx="3091970" cy="767434"/>
            <a:chOff x="324000" y="2012321"/>
            <a:chExt cx="4083426" cy="1007263"/>
          </a:xfrm>
        </p:grpSpPr>
        <p:pic>
          <p:nvPicPr>
            <p:cNvPr id="1029" name="Google Shape;1029;p79"/>
            <p:cNvPicPr preferRelativeResize="0"/>
            <p:nvPr/>
          </p:nvPicPr>
          <p:blipFill rotWithShape="1">
            <a:blip r:embed="rId3">
              <a:alphaModFix/>
            </a:blip>
            <a:srcRect b="28242" l="0" r="53639" t="41624"/>
            <a:stretch/>
          </p:blipFill>
          <p:spPr>
            <a:xfrm>
              <a:off x="324000" y="2012321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30" name="Google Shape;1030;p79"/>
            <p:cNvSpPr txBox="1"/>
            <p:nvPr/>
          </p:nvSpPr>
          <p:spPr>
            <a:xfrm>
              <a:off x="38526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1" name="Google Shape;1031;p79"/>
            <p:cNvSpPr txBox="1"/>
            <p:nvPr/>
          </p:nvSpPr>
          <p:spPr>
            <a:xfrm>
              <a:off x="66562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2" name="Google Shape;1032;p79"/>
            <p:cNvSpPr txBox="1"/>
            <p:nvPr/>
          </p:nvSpPr>
          <p:spPr>
            <a:xfrm>
              <a:off x="1802299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3" name="Google Shape;1033;p79"/>
            <p:cNvSpPr txBox="1"/>
            <p:nvPr/>
          </p:nvSpPr>
          <p:spPr>
            <a:xfrm>
              <a:off x="2082657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4" name="Google Shape;1034;p79"/>
            <p:cNvSpPr txBox="1"/>
            <p:nvPr/>
          </p:nvSpPr>
          <p:spPr>
            <a:xfrm>
              <a:off x="321933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5" name="Google Shape;1035;p79"/>
            <p:cNvSpPr txBox="1"/>
            <p:nvPr/>
          </p:nvSpPr>
          <p:spPr>
            <a:xfrm>
              <a:off x="349969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6" name="Google Shape;1036;p79"/>
          <p:cNvGrpSpPr/>
          <p:nvPr/>
        </p:nvGrpSpPr>
        <p:grpSpPr>
          <a:xfrm>
            <a:off x="340116" y="2344881"/>
            <a:ext cx="3091970" cy="767434"/>
            <a:chOff x="324000" y="3339435"/>
            <a:chExt cx="4083426" cy="1007263"/>
          </a:xfrm>
        </p:grpSpPr>
        <p:pic>
          <p:nvPicPr>
            <p:cNvPr id="1037" name="Google Shape;1037;p79"/>
            <p:cNvPicPr preferRelativeResize="0"/>
            <p:nvPr/>
          </p:nvPicPr>
          <p:blipFill rotWithShape="1">
            <a:blip r:embed="rId3">
              <a:alphaModFix/>
            </a:blip>
            <a:srcRect b="-4706" l="0" r="53639" t="74574"/>
            <a:stretch/>
          </p:blipFill>
          <p:spPr>
            <a:xfrm>
              <a:off x="324000" y="3339435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38" name="Google Shape;1038;p79"/>
            <p:cNvSpPr txBox="1"/>
            <p:nvPr/>
          </p:nvSpPr>
          <p:spPr>
            <a:xfrm>
              <a:off x="38526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9" name="Google Shape;1039;p79"/>
            <p:cNvSpPr txBox="1"/>
            <p:nvPr/>
          </p:nvSpPr>
          <p:spPr>
            <a:xfrm>
              <a:off x="66562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0" name="Google Shape;1040;p79"/>
            <p:cNvSpPr txBox="1"/>
            <p:nvPr/>
          </p:nvSpPr>
          <p:spPr>
            <a:xfrm>
              <a:off x="321933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1" name="Google Shape;1041;p79"/>
            <p:cNvSpPr txBox="1"/>
            <p:nvPr/>
          </p:nvSpPr>
          <p:spPr>
            <a:xfrm>
              <a:off x="349969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2" name="Google Shape;1042;p79"/>
          <p:cNvGrpSpPr/>
          <p:nvPr/>
        </p:nvGrpSpPr>
        <p:grpSpPr>
          <a:xfrm>
            <a:off x="340094" y="3112279"/>
            <a:ext cx="3091970" cy="767434"/>
            <a:chOff x="4524077" y="685206"/>
            <a:chExt cx="4083426" cy="1007263"/>
          </a:xfrm>
        </p:grpSpPr>
        <p:pic>
          <p:nvPicPr>
            <p:cNvPr id="1043" name="Google Shape;1043;p79"/>
            <p:cNvPicPr preferRelativeResize="0"/>
            <p:nvPr/>
          </p:nvPicPr>
          <p:blipFill rotWithShape="1">
            <a:blip r:embed="rId3">
              <a:alphaModFix/>
            </a:blip>
            <a:srcRect b="70798" l="51298" r="2341" t="-931"/>
            <a:stretch/>
          </p:blipFill>
          <p:spPr>
            <a:xfrm>
              <a:off x="4524077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44" name="Google Shape;1044;p79"/>
            <p:cNvSpPr txBox="1"/>
            <p:nvPr/>
          </p:nvSpPr>
          <p:spPr>
            <a:xfrm>
              <a:off x="459774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79"/>
            <p:cNvSpPr txBox="1"/>
            <p:nvPr/>
          </p:nvSpPr>
          <p:spPr>
            <a:xfrm>
              <a:off x="487809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6" name="Google Shape;1046;p79"/>
            <p:cNvSpPr txBox="1"/>
            <p:nvPr/>
          </p:nvSpPr>
          <p:spPr>
            <a:xfrm>
              <a:off x="6014775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7" name="Google Shape;1047;p79"/>
            <p:cNvSpPr txBox="1"/>
            <p:nvPr/>
          </p:nvSpPr>
          <p:spPr>
            <a:xfrm>
              <a:off x="6295133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8" name="Google Shape;1048;p79"/>
            <p:cNvSpPr txBox="1"/>
            <p:nvPr/>
          </p:nvSpPr>
          <p:spPr>
            <a:xfrm>
              <a:off x="743181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9" name="Google Shape;1049;p79"/>
            <p:cNvSpPr txBox="1"/>
            <p:nvPr/>
          </p:nvSpPr>
          <p:spPr>
            <a:xfrm>
              <a:off x="771216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0" name="Google Shape;1050;p79"/>
          <p:cNvGrpSpPr/>
          <p:nvPr/>
        </p:nvGrpSpPr>
        <p:grpSpPr>
          <a:xfrm>
            <a:off x="340423" y="3879730"/>
            <a:ext cx="3092205" cy="729460"/>
            <a:chOff x="4524077" y="2012333"/>
            <a:chExt cx="4295922" cy="1007263"/>
          </a:xfrm>
        </p:grpSpPr>
        <p:pic>
          <p:nvPicPr>
            <p:cNvPr id="1051" name="Google Shape;1051;p79"/>
            <p:cNvPicPr preferRelativeResize="0"/>
            <p:nvPr/>
          </p:nvPicPr>
          <p:blipFill rotWithShape="1">
            <a:blip r:embed="rId3">
              <a:alphaModFix/>
            </a:blip>
            <a:srcRect b="37029" l="50714" r="512" t="32838"/>
            <a:stretch/>
          </p:blipFill>
          <p:spPr>
            <a:xfrm>
              <a:off x="4524077" y="2012333"/>
              <a:ext cx="4295922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52" name="Google Shape;1052;p79"/>
            <p:cNvSpPr txBox="1"/>
            <p:nvPr/>
          </p:nvSpPr>
          <p:spPr>
            <a:xfrm>
              <a:off x="4651201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3" name="Google Shape;1053;p79"/>
            <p:cNvSpPr txBox="1"/>
            <p:nvPr/>
          </p:nvSpPr>
          <p:spPr>
            <a:xfrm>
              <a:off x="4931559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4" name="Google Shape;1054;p79"/>
            <p:cNvSpPr txBox="1"/>
            <p:nvPr/>
          </p:nvSpPr>
          <p:spPr>
            <a:xfrm>
              <a:off x="6216528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5" name="Google Shape;1055;p79"/>
            <p:cNvSpPr txBox="1"/>
            <p:nvPr/>
          </p:nvSpPr>
          <p:spPr>
            <a:xfrm>
              <a:off x="6496886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6" name="Google Shape;1056;p79"/>
            <p:cNvSpPr txBox="1"/>
            <p:nvPr/>
          </p:nvSpPr>
          <p:spPr>
            <a:xfrm>
              <a:off x="7627195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7" name="Google Shape;1057;p79"/>
            <p:cNvSpPr txBox="1"/>
            <p:nvPr/>
          </p:nvSpPr>
          <p:spPr>
            <a:xfrm>
              <a:off x="7907554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8" name="Google Shape;1058;p79"/>
          <p:cNvGrpSpPr/>
          <p:nvPr/>
        </p:nvGrpSpPr>
        <p:grpSpPr>
          <a:xfrm>
            <a:off x="340104" y="810009"/>
            <a:ext cx="3091970" cy="767434"/>
            <a:chOff x="324000" y="685206"/>
            <a:chExt cx="4083426" cy="1007263"/>
          </a:xfrm>
        </p:grpSpPr>
        <p:pic>
          <p:nvPicPr>
            <p:cNvPr id="1059" name="Google Shape;1059;p79"/>
            <p:cNvPicPr preferRelativeResize="0"/>
            <p:nvPr/>
          </p:nvPicPr>
          <p:blipFill rotWithShape="1">
            <a:blip r:embed="rId3">
              <a:alphaModFix/>
            </a:blip>
            <a:srcRect b="66405" l="0" r="53639" t="3462"/>
            <a:stretch/>
          </p:blipFill>
          <p:spPr>
            <a:xfrm>
              <a:off x="324000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60" name="Google Shape;1060;p79"/>
            <p:cNvSpPr txBox="1"/>
            <p:nvPr/>
          </p:nvSpPr>
          <p:spPr>
            <a:xfrm>
              <a:off x="38526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1" name="Google Shape;1061;p79"/>
            <p:cNvSpPr txBox="1"/>
            <p:nvPr/>
          </p:nvSpPr>
          <p:spPr>
            <a:xfrm>
              <a:off x="66562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2" name="Google Shape;1062;p79"/>
            <p:cNvSpPr txBox="1"/>
            <p:nvPr/>
          </p:nvSpPr>
          <p:spPr>
            <a:xfrm>
              <a:off x="1802299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3" name="Google Shape;1063;p79"/>
            <p:cNvSpPr txBox="1"/>
            <p:nvPr/>
          </p:nvSpPr>
          <p:spPr>
            <a:xfrm>
              <a:off x="2082657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4" name="Google Shape;1064;p79"/>
            <p:cNvSpPr txBox="1"/>
            <p:nvPr/>
          </p:nvSpPr>
          <p:spPr>
            <a:xfrm>
              <a:off x="321933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5" name="Google Shape;1065;p79"/>
            <p:cNvSpPr txBox="1"/>
            <p:nvPr/>
          </p:nvSpPr>
          <p:spPr>
            <a:xfrm>
              <a:off x="349969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66" name="Google Shape;1066;p79"/>
            <p:cNvPicPr preferRelativeResize="0"/>
            <p:nvPr/>
          </p:nvPicPr>
          <p:blipFill rotWithShape="1">
            <a:blip r:embed="rId3">
              <a:alphaModFix/>
            </a:blip>
            <a:srcRect b="72907" l="16442" r="80422" t="9964"/>
            <a:stretch/>
          </p:blipFill>
          <p:spPr>
            <a:xfrm rot="10800000">
              <a:off x="2653131" y="895559"/>
              <a:ext cx="276095" cy="5725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7" name="Google Shape;1067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sp>
        <p:nvSpPr>
          <p:cNvPr id="1068" name="Google Shape;1068;p79"/>
          <p:cNvSpPr txBox="1"/>
          <p:nvPr/>
        </p:nvSpPr>
        <p:spPr>
          <a:xfrm>
            <a:off x="3764875" y="2144975"/>
            <a:ext cx="5055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Groups A, B, and D all fold into cubes.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 and E do not.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69" name="Google Shape;106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6688" y="24901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788" y="3900242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79"/>
          <p:cNvSpPr txBox="1"/>
          <p:nvPr/>
        </p:nvSpPr>
        <p:spPr>
          <a:xfrm>
            <a:off x="3617100" y="643950"/>
            <a:ext cx="5202900" cy="14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Groups are either: all nets that can fold up into cubes, or all composite shapes that won’t fold up into cubes.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Which groups can fold up into cubes, and which can’t?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sp>
        <p:nvSpPr>
          <p:cNvPr id="1077" name="Google Shape;1077;p80"/>
          <p:cNvSpPr txBox="1"/>
          <p:nvPr/>
        </p:nvSpPr>
        <p:spPr>
          <a:xfrm>
            <a:off x="3764875" y="2678375"/>
            <a:ext cx="5055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No arrangement with 5 or more squares in a row or column can make a cube.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Squares distributed into only two rows or columns cannot make a cube, but it is possible for three rows.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78" name="Google Shape;1078;p80"/>
          <p:cNvGrpSpPr/>
          <p:nvPr/>
        </p:nvGrpSpPr>
        <p:grpSpPr>
          <a:xfrm>
            <a:off x="340115" y="1577431"/>
            <a:ext cx="3091970" cy="767434"/>
            <a:chOff x="324000" y="2012321"/>
            <a:chExt cx="4083426" cy="1007263"/>
          </a:xfrm>
        </p:grpSpPr>
        <p:pic>
          <p:nvPicPr>
            <p:cNvPr id="1079" name="Google Shape;1079;p80"/>
            <p:cNvPicPr preferRelativeResize="0"/>
            <p:nvPr/>
          </p:nvPicPr>
          <p:blipFill rotWithShape="1">
            <a:blip r:embed="rId3">
              <a:alphaModFix/>
            </a:blip>
            <a:srcRect b="28242" l="0" r="53639" t="41624"/>
            <a:stretch/>
          </p:blipFill>
          <p:spPr>
            <a:xfrm>
              <a:off x="324000" y="2012321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80" name="Google Shape;1080;p80"/>
            <p:cNvSpPr txBox="1"/>
            <p:nvPr/>
          </p:nvSpPr>
          <p:spPr>
            <a:xfrm>
              <a:off x="38526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1" name="Google Shape;1081;p80"/>
            <p:cNvSpPr txBox="1"/>
            <p:nvPr/>
          </p:nvSpPr>
          <p:spPr>
            <a:xfrm>
              <a:off x="66562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2" name="Google Shape;1082;p80"/>
            <p:cNvSpPr txBox="1"/>
            <p:nvPr/>
          </p:nvSpPr>
          <p:spPr>
            <a:xfrm>
              <a:off x="1802299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3" name="Google Shape;1083;p80"/>
            <p:cNvSpPr txBox="1"/>
            <p:nvPr/>
          </p:nvSpPr>
          <p:spPr>
            <a:xfrm>
              <a:off x="2082657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4" name="Google Shape;1084;p80"/>
            <p:cNvSpPr txBox="1"/>
            <p:nvPr/>
          </p:nvSpPr>
          <p:spPr>
            <a:xfrm>
              <a:off x="321933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80"/>
            <p:cNvSpPr txBox="1"/>
            <p:nvPr/>
          </p:nvSpPr>
          <p:spPr>
            <a:xfrm>
              <a:off x="349969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6" name="Google Shape;1086;p80"/>
          <p:cNvGrpSpPr/>
          <p:nvPr/>
        </p:nvGrpSpPr>
        <p:grpSpPr>
          <a:xfrm>
            <a:off x="340116" y="2344881"/>
            <a:ext cx="3091970" cy="767434"/>
            <a:chOff x="324000" y="3339435"/>
            <a:chExt cx="4083426" cy="1007263"/>
          </a:xfrm>
        </p:grpSpPr>
        <p:pic>
          <p:nvPicPr>
            <p:cNvPr id="1087" name="Google Shape;1087;p80"/>
            <p:cNvPicPr preferRelativeResize="0"/>
            <p:nvPr/>
          </p:nvPicPr>
          <p:blipFill rotWithShape="1">
            <a:blip r:embed="rId3">
              <a:alphaModFix/>
            </a:blip>
            <a:srcRect b="-4706" l="0" r="53639" t="74574"/>
            <a:stretch/>
          </p:blipFill>
          <p:spPr>
            <a:xfrm>
              <a:off x="324000" y="3339435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88" name="Google Shape;1088;p80"/>
            <p:cNvSpPr txBox="1"/>
            <p:nvPr/>
          </p:nvSpPr>
          <p:spPr>
            <a:xfrm>
              <a:off x="38526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9" name="Google Shape;1089;p80"/>
            <p:cNvSpPr txBox="1"/>
            <p:nvPr/>
          </p:nvSpPr>
          <p:spPr>
            <a:xfrm>
              <a:off x="66562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0" name="Google Shape;1090;p80"/>
            <p:cNvSpPr txBox="1"/>
            <p:nvPr/>
          </p:nvSpPr>
          <p:spPr>
            <a:xfrm>
              <a:off x="321933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1" name="Google Shape;1091;p80"/>
            <p:cNvSpPr txBox="1"/>
            <p:nvPr/>
          </p:nvSpPr>
          <p:spPr>
            <a:xfrm>
              <a:off x="349969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2" name="Google Shape;1092;p80"/>
          <p:cNvGrpSpPr/>
          <p:nvPr/>
        </p:nvGrpSpPr>
        <p:grpSpPr>
          <a:xfrm>
            <a:off x="340094" y="3112279"/>
            <a:ext cx="3091970" cy="767434"/>
            <a:chOff x="4524077" y="685206"/>
            <a:chExt cx="4083426" cy="1007263"/>
          </a:xfrm>
        </p:grpSpPr>
        <p:pic>
          <p:nvPicPr>
            <p:cNvPr id="1093" name="Google Shape;1093;p80"/>
            <p:cNvPicPr preferRelativeResize="0"/>
            <p:nvPr/>
          </p:nvPicPr>
          <p:blipFill rotWithShape="1">
            <a:blip r:embed="rId3">
              <a:alphaModFix/>
            </a:blip>
            <a:srcRect b="70798" l="51298" r="2341" t="-931"/>
            <a:stretch/>
          </p:blipFill>
          <p:spPr>
            <a:xfrm>
              <a:off x="4524077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094" name="Google Shape;1094;p80"/>
            <p:cNvSpPr txBox="1"/>
            <p:nvPr/>
          </p:nvSpPr>
          <p:spPr>
            <a:xfrm>
              <a:off x="459774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80"/>
            <p:cNvSpPr txBox="1"/>
            <p:nvPr/>
          </p:nvSpPr>
          <p:spPr>
            <a:xfrm>
              <a:off x="487809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6" name="Google Shape;1096;p80"/>
            <p:cNvSpPr txBox="1"/>
            <p:nvPr/>
          </p:nvSpPr>
          <p:spPr>
            <a:xfrm>
              <a:off x="6014775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7" name="Google Shape;1097;p80"/>
            <p:cNvSpPr txBox="1"/>
            <p:nvPr/>
          </p:nvSpPr>
          <p:spPr>
            <a:xfrm>
              <a:off x="6295133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8" name="Google Shape;1098;p80"/>
            <p:cNvSpPr txBox="1"/>
            <p:nvPr/>
          </p:nvSpPr>
          <p:spPr>
            <a:xfrm>
              <a:off x="743181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9" name="Google Shape;1099;p80"/>
            <p:cNvSpPr txBox="1"/>
            <p:nvPr/>
          </p:nvSpPr>
          <p:spPr>
            <a:xfrm>
              <a:off x="771216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0" name="Google Shape;1100;p80"/>
          <p:cNvGrpSpPr/>
          <p:nvPr/>
        </p:nvGrpSpPr>
        <p:grpSpPr>
          <a:xfrm>
            <a:off x="340423" y="3879730"/>
            <a:ext cx="3092205" cy="729460"/>
            <a:chOff x="4524077" y="2012333"/>
            <a:chExt cx="4295922" cy="1007263"/>
          </a:xfrm>
        </p:grpSpPr>
        <p:pic>
          <p:nvPicPr>
            <p:cNvPr id="1101" name="Google Shape;1101;p80"/>
            <p:cNvPicPr preferRelativeResize="0"/>
            <p:nvPr/>
          </p:nvPicPr>
          <p:blipFill rotWithShape="1">
            <a:blip r:embed="rId3">
              <a:alphaModFix/>
            </a:blip>
            <a:srcRect b="37029" l="50714" r="512" t="32838"/>
            <a:stretch/>
          </p:blipFill>
          <p:spPr>
            <a:xfrm>
              <a:off x="4524077" y="2012333"/>
              <a:ext cx="4295922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02" name="Google Shape;1102;p80"/>
            <p:cNvSpPr txBox="1"/>
            <p:nvPr/>
          </p:nvSpPr>
          <p:spPr>
            <a:xfrm>
              <a:off x="4651201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80"/>
            <p:cNvSpPr txBox="1"/>
            <p:nvPr/>
          </p:nvSpPr>
          <p:spPr>
            <a:xfrm>
              <a:off x="4931559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4" name="Google Shape;1104;p80"/>
            <p:cNvSpPr txBox="1"/>
            <p:nvPr/>
          </p:nvSpPr>
          <p:spPr>
            <a:xfrm>
              <a:off x="6216528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5" name="Google Shape;1105;p80"/>
            <p:cNvSpPr txBox="1"/>
            <p:nvPr/>
          </p:nvSpPr>
          <p:spPr>
            <a:xfrm>
              <a:off x="6496886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6" name="Google Shape;1106;p80"/>
            <p:cNvSpPr txBox="1"/>
            <p:nvPr/>
          </p:nvSpPr>
          <p:spPr>
            <a:xfrm>
              <a:off x="7627195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7" name="Google Shape;1107;p80"/>
            <p:cNvSpPr txBox="1"/>
            <p:nvPr/>
          </p:nvSpPr>
          <p:spPr>
            <a:xfrm>
              <a:off x="7907554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8" name="Google Shape;1108;p80"/>
          <p:cNvGrpSpPr/>
          <p:nvPr/>
        </p:nvGrpSpPr>
        <p:grpSpPr>
          <a:xfrm>
            <a:off x="340104" y="810009"/>
            <a:ext cx="3091970" cy="767434"/>
            <a:chOff x="324000" y="685206"/>
            <a:chExt cx="4083426" cy="1007263"/>
          </a:xfrm>
        </p:grpSpPr>
        <p:pic>
          <p:nvPicPr>
            <p:cNvPr id="1109" name="Google Shape;1109;p80"/>
            <p:cNvPicPr preferRelativeResize="0"/>
            <p:nvPr/>
          </p:nvPicPr>
          <p:blipFill rotWithShape="1">
            <a:blip r:embed="rId3">
              <a:alphaModFix/>
            </a:blip>
            <a:srcRect b="66405" l="0" r="53639" t="3462"/>
            <a:stretch/>
          </p:blipFill>
          <p:spPr>
            <a:xfrm>
              <a:off x="324000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10" name="Google Shape;1110;p80"/>
            <p:cNvSpPr txBox="1"/>
            <p:nvPr/>
          </p:nvSpPr>
          <p:spPr>
            <a:xfrm>
              <a:off x="38526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1" name="Google Shape;1111;p80"/>
            <p:cNvSpPr txBox="1"/>
            <p:nvPr/>
          </p:nvSpPr>
          <p:spPr>
            <a:xfrm>
              <a:off x="66562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2" name="Google Shape;1112;p80"/>
            <p:cNvSpPr txBox="1"/>
            <p:nvPr/>
          </p:nvSpPr>
          <p:spPr>
            <a:xfrm>
              <a:off x="1802299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3" name="Google Shape;1113;p80"/>
            <p:cNvSpPr txBox="1"/>
            <p:nvPr/>
          </p:nvSpPr>
          <p:spPr>
            <a:xfrm>
              <a:off x="2082657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4" name="Google Shape;1114;p80"/>
            <p:cNvSpPr txBox="1"/>
            <p:nvPr/>
          </p:nvSpPr>
          <p:spPr>
            <a:xfrm>
              <a:off x="321933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5" name="Google Shape;1115;p80"/>
            <p:cNvSpPr txBox="1"/>
            <p:nvPr/>
          </p:nvSpPr>
          <p:spPr>
            <a:xfrm>
              <a:off x="349969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16" name="Google Shape;1116;p80"/>
            <p:cNvPicPr preferRelativeResize="0"/>
            <p:nvPr/>
          </p:nvPicPr>
          <p:blipFill rotWithShape="1">
            <a:blip r:embed="rId3">
              <a:alphaModFix/>
            </a:blip>
            <a:srcRect b="72907" l="16442" r="80422" t="9964"/>
            <a:stretch/>
          </p:blipFill>
          <p:spPr>
            <a:xfrm rot="10800000">
              <a:off x="2653131" y="895559"/>
              <a:ext cx="276095" cy="5725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7" name="Google Shape;1117;p80"/>
          <p:cNvSpPr txBox="1"/>
          <p:nvPr/>
        </p:nvSpPr>
        <p:spPr>
          <a:xfrm>
            <a:off x="3617100" y="643950"/>
            <a:ext cx="52029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Groups are either: all nets that can fold up into cubes, or all composite shapes that won’t fold up into cubes.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Can you come up with any potential rules for arrangements of 6 squares that definitely are or definitely are not nets of cubes?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81"/>
          <p:cNvSpPr/>
          <p:nvPr/>
        </p:nvSpPr>
        <p:spPr>
          <a:xfrm>
            <a:off x="6154950" y="2681375"/>
            <a:ext cx="2215800" cy="162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3" name="Google Shape;112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9199" y="2892159"/>
            <a:ext cx="1482229" cy="120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7520" y="2884159"/>
            <a:ext cx="1576224" cy="1474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8125" y="2718185"/>
            <a:ext cx="2284802" cy="181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4955" y="2679650"/>
            <a:ext cx="1959435" cy="162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5948" y="2767515"/>
            <a:ext cx="2024509" cy="1511141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grpSp>
        <p:nvGrpSpPr>
          <p:cNvPr id="1129" name="Google Shape;1129;p81"/>
          <p:cNvGrpSpPr/>
          <p:nvPr/>
        </p:nvGrpSpPr>
        <p:grpSpPr>
          <a:xfrm>
            <a:off x="4212850" y="3018770"/>
            <a:ext cx="1401734" cy="1045880"/>
            <a:chOff x="5245775" y="3014920"/>
            <a:chExt cx="1401734" cy="1045880"/>
          </a:xfrm>
        </p:grpSpPr>
        <p:sp>
          <p:nvSpPr>
            <p:cNvPr id="1130" name="Google Shape;1130;p81"/>
            <p:cNvSpPr/>
            <p:nvPr/>
          </p:nvSpPr>
          <p:spPr>
            <a:xfrm>
              <a:off x="5245775" y="3711600"/>
              <a:ext cx="349200" cy="3492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1" name="Google Shape;1131;p81"/>
            <p:cNvSpPr/>
            <p:nvPr/>
          </p:nvSpPr>
          <p:spPr>
            <a:xfrm>
              <a:off x="5597290" y="3711600"/>
              <a:ext cx="349200" cy="3492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81"/>
            <p:cNvSpPr/>
            <p:nvPr/>
          </p:nvSpPr>
          <p:spPr>
            <a:xfrm>
              <a:off x="5595753" y="3363990"/>
              <a:ext cx="349200" cy="3492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3" name="Google Shape;1133;p81"/>
            <p:cNvSpPr/>
            <p:nvPr/>
          </p:nvSpPr>
          <p:spPr>
            <a:xfrm>
              <a:off x="5947268" y="3363990"/>
              <a:ext cx="349200" cy="3492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81"/>
            <p:cNvSpPr/>
            <p:nvPr/>
          </p:nvSpPr>
          <p:spPr>
            <a:xfrm>
              <a:off x="5946794" y="3014920"/>
              <a:ext cx="349200" cy="3492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5" name="Google Shape;1135;p81"/>
            <p:cNvSpPr/>
            <p:nvPr/>
          </p:nvSpPr>
          <p:spPr>
            <a:xfrm>
              <a:off x="6298309" y="3014920"/>
              <a:ext cx="349200" cy="3492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36" name="Google Shape;1136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38095" y="2841782"/>
            <a:ext cx="1156862" cy="1265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7" name="Google Shape;1137;p81"/>
          <p:cNvGrpSpPr/>
          <p:nvPr/>
        </p:nvGrpSpPr>
        <p:grpSpPr>
          <a:xfrm>
            <a:off x="340115" y="1577431"/>
            <a:ext cx="3091970" cy="767434"/>
            <a:chOff x="324000" y="2012321"/>
            <a:chExt cx="4083426" cy="1007263"/>
          </a:xfrm>
        </p:grpSpPr>
        <p:pic>
          <p:nvPicPr>
            <p:cNvPr id="1138" name="Google Shape;1138;p81"/>
            <p:cNvPicPr preferRelativeResize="0"/>
            <p:nvPr/>
          </p:nvPicPr>
          <p:blipFill rotWithShape="1">
            <a:blip r:embed="rId9">
              <a:alphaModFix/>
            </a:blip>
            <a:srcRect b="28242" l="0" r="53639" t="41624"/>
            <a:stretch/>
          </p:blipFill>
          <p:spPr>
            <a:xfrm>
              <a:off x="324000" y="2012321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39" name="Google Shape;1139;p81"/>
            <p:cNvSpPr txBox="1"/>
            <p:nvPr/>
          </p:nvSpPr>
          <p:spPr>
            <a:xfrm>
              <a:off x="38526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0" name="Google Shape;1140;p81"/>
            <p:cNvSpPr txBox="1"/>
            <p:nvPr/>
          </p:nvSpPr>
          <p:spPr>
            <a:xfrm>
              <a:off x="66562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1" name="Google Shape;1141;p81"/>
            <p:cNvSpPr txBox="1"/>
            <p:nvPr/>
          </p:nvSpPr>
          <p:spPr>
            <a:xfrm>
              <a:off x="1802299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2" name="Google Shape;1142;p81"/>
            <p:cNvSpPr txBox="1"/>
            <p:nvPr/>
          </p:nvSpPr>
          <p:spPr>
            <a:xfrm>
              <a:off x="2082657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3" name="Google Shape;1143;p81"/>
            <p:cNvSpPr txBox="1"/>
            <p:nvPr/>
          </p:nvSpPr>
          <p:spPr>
            <a:xfrm>
              <a:off x="3219334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4" name="Google Shape;1144;p81"/>
            <p:cNvSpPr txBox="1"/>
            <p:nvPr/>
          </p:nvSpPr>
          <p:spPr>
            <a:xfrm>
              <a:off x="3499692" y="2388656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5" name="Google Shape;1145;p81"/>
          <p:cNvGrpSpPr/>
          <p:nvPr/>
        </p:nvGrpSpPr>
        <p:grpSpPr>
          <a:xfrm>
            <a:off x="340116" y="2344881"/>
            <a:ext cx="3091970" cy="767434"/>
            <a:chOff x="324000" y="3339435"/>
            <a:chExt cx="4083426" cy="1007263"/>
          </a:xfrm>
        </p:grpSpPr>
        <p:pic>
          <p:nvPicPr>
            <p:cNvPr id="1146" name="Google Shape;1146;p81"/>
            <p:cNvPicPr preferRelativeResize="0"/>
            <p:nvPr/>
          </p:nvPicPr>
          <p:blipFill rotWithShape="1">
            <a:blip r:embed="rId9">
              <a:alphaModFix/>
            </a:blip>
            <a:srcRect b="-4706" l="0" r="53639" t="74574"/>
            <a:stretch/>
          </p:blipFill>
          <p:spPr>
            <a:xfrm>
              <a:off x="324000" y="3339435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47" name="Google Shape;1147;p81"/>
            <p:cNvSpPr txBox="1"/>
            <p:nvPr/>
          </p:nvSpPr>
          <p:spPr>
            <a:xfrm>
              <a:off x="38526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8" name="Google Shape;1148;p81"/>
            <p:cNvSpPr txBox="1"/>
            <p:nvPr/>
          </p:nvSpPr>
          <p:spPr>
            <a:xfrm>
              <a:off x="66562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9" name="Google Shape;1149;p81"/>
            <p:cNvSpPr txBox="1"/>
            <p:nvPr/>
          </p:nvSpPr>
          <p:spPr>
            <a:xfrm>
              <a:off x="3219334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0" name="Google Shape;1150;p81"/>
            <p:cNvSpPr txBox="1"/>
            <p:nvPr/>
          </p:nvSpPr>
          <p:spPr>
            <a:xfrm>
              <a:off x="3499692" y="360520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1" name="Google Shape;1151;p81"/>
          <p:cNvGrpSpPr/>
          <p:nvPr/>
        </p:nvGrpSpPr>
        <p:grpSpPr>
          <a:xfrm>
            <a:off x="340094" y="3112279"/>
            <a:ext cx="3091970" cy="767434"/>
            <a:chOff x="4524077" y="685206"/>
            <a:chExt cx="4083426" cy="1007263"/>
          </a:xfrm>
        </p:grpSpPr>
        <p:pic>
          <p:nvPicPr>
            <p:cNvPr id="1152" name="Google Shape;1152;p81"/>
            <p:cNvPicPr preferRelativeResize="0"/>
            <p:nvPr/>
          </p:nvPicPr>
          <p:blipFill rotWithShape="1">
            <a:blip r:embed="rId9">
              <a:alphaModFix/>
            </a:blip>
            <a:srcRect b="70798" l="51298" r="2341" t="-931"/>
            <a:stretch/>
          </p:blipFill>
          <p:spPr>
            <a:xfrm>
              <a:off x="4524077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53" name="Google Shape;1153;p81"/>
            <p:cNvSpPr txBox="1"/>
            <p:nvPr/>
          </p:nvSpPr>
          <p:spPr>
            <a:xfrm>
              <a:off x="459774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4" name="Google Shape;1154;p81"/>
            <p:cNvSpPr txBox="1"/>
            <p:nvPr/>
          </p:nvSpPr>
          <p:spPr>
            <a:xfrm>
              <a:off x="487809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5" name="Google Shape;1155;p81"/>
            <p:cNvSpPr txBox="1"/>
            <p:nvPr/>
          </p:nvSpPr>
          <p:spPr>
            <a:xfrm>
              <a:off x="6014775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81"/>
            <p:cNvSpPr txBox="1"/>
            <p:nvPr/>
          </p:nvSpPr>
          <p:spPr>
            <a:xfrm>
              <a:off x="6295133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7" name="Google Shape;1157;p81"/>
            <p:cNvSpPr txBox="1"/>
            <p:nvPr/>
          </p:nvSpPr>
          <p:spPr>
            <a:xfrm>
              <a:off x="7431810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8" name="Google Shape;1158;p81"/>
            <p:cNvSpPr txBox="1"/>
            <p:nvPr/>
          </p:nvSpPr>
          <p:spPr>
            <a:xfrm>
              <a:off x="7712168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9" name="Google Shape;1159;p81"/>
          <p:cNvGrpSpPr/>
          <p:nvPr/>
        </p:nvGrpSpPr>
        <p:grpSpPr>
          <a:xfrm>
            <a:off x="340423" y="3879730"/>
            <a:ext cx="3092205" cy="729460"/>
            <a:chOff x="4524077" y="2012333"/>
            <a:chExt cx="4295922" cy="1007263"/>
          </a:xfrm>
        </p:grpSpPr>
        <p:pic>
          <p:nvPicPr>
            <p:cNvPr id="1160" name="Google Shape;1160;p81"/>
            <p:cNvPicPr preferRelativeResize="0"/>
            <p:nvPr/>
          </p:nvPicPr>
          <p:blipFill rotWithShape="1">
            <a:blip r:embed="rId9">
              <a:alphaModFix/>
            </a:blip>
            <a:srcRect b="37029" l="50714" r="512" t="32838"/>
            <a:stretch/>
          </p:blipFill>
          <p:spPr>
            <a:xfrm>
              <a:off x="4524077" y="2012333"/>
              <a:ext cx="4295922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61" name="Google Shape;1161;p81"/>
            <p:cNvSpPr txBox="1"/>
            <p:nvPr/>
          </p:nvSpPr>
          <p:spPr>
            <a:xfrm>
              <a:off x="4651201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81"/>
            <p:cNvSpPr txBox="1"/>
            <p:nvPr/>
          </p:nvSpPr>
          <p:spPr>
            <a:xfrm>
              <a:off x="4931559" y="226137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81"/>
            <p:cNvSpPr txBox="1"/>
            <p:nvPr/>
          </p:nvSpPr>
          <p:spPr>
            <a:xfrm>
              <a:off x="6216528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81"/>
            <p:cNvSpPr txBox="1"/>
            <p:nvPr/>
          </p:nvSpPr>
          <p:spPr>
            <a:xfrm>
              <a:off x="6496886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81"/>
            <p:cNvSpPr txBox="1"/>
            <p:nvPr/>
          </p:nvSpPr>
          <p:spPr>
            <a:xfrm>
              <a:off x="7627195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6" name="Google Shape;1166;p81"/>
            <p:cNvSpPr txBox="1"/>
            <p:nvPr/>
          </p:nvSpPr>
          <p:spPr>
            <a:xfrm>
              <a:off x="7907554" y="2682753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7" name="Google Shape;1167;p81"/>
          <p:cNvGrpSpPr/>
          <p:nvPr/>
        </p:nvGrpSpPr>
        <p:grpSpPr>
          <a:xfrm>
            <a:off x="340104" y="810009"/>
            <a:ext cx="3091970" cy="767434"/>
            <a:chOff x="324000" y="685206"/>
            <a:chExt cx="4083426" cy="1007263"/>
          </a:xfrm>
        </p:grpSpPr>
        <p:pic>
          <p:nvPicPr>
            <p:cNvPr id="1168" name="Google Shape;1168;p81"/>
            <p:cNvPicPr preferRelativeResize="0"/>
            <p:nvPr/>
          </p:nvPicPr>
          <p:blipFill rotWithShape="1">
            <a:blip r:embed="rId9">
              <a:alphaModFix/>
            </a:blip>
            <a:srcRect b="66405" l="0" r="53639" t="3462"/>
            <a:stretch/>
          </p:blipFill>
          <p:spPr>
            <a:xfrm>
              <a:off x="324000" y="685206"/>
              <a:ext cx="4083426" cy="100726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69" name="Google Shape;1169;p81"/>
            <p:cNvSpPr txBox="1"/>
            <p:nvPr/>
          </p:nvSpPr>
          <p:spPr>
            <a:xfrm>
              <a:off x="38526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0" name="Google Shape;1170;p81"/>
            <p:cNvSpPr txBox="1"/>
            <p:nvPr/>
          </p:nvSpPr>
          <p:spPr>
            <a:xfrm>
              <a:off x="66562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1" name="Google Shape;1171;p81"/>
            <p:cNvSpPr txBox="1"/>
            <p:nvPr/>
          </p:nvSpPr>
          <p:spPr>
            <a:xfrm>
              <a:off x="1802299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2" name="Google Shape;1172;p81"/>
            <p:cNvSpPr txBox="1"/>
            <p:nvPr/>
          </p:nvSpPr>
          <p:spPr>
            <a:xfrm>
              <a:off x="2082657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3" name="Google Shape;1173;p81"/>
            <p:cNvSpPr txBox="1"/>
            <p:nvPr/>
          </p:nvSpPr>
          <p:spPr>
            <a:xfrm>
              <a:off x="3219334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81"/>
            <p:cNvSpPr txBox="1"/>
            <p:nvPr/>
          </p:nvSpPr>
          <p:spPr>
            <a:xfrm>
              <a:off x="3499692" y="1062397"/>
              <a:ext cx="246600" cy="2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175" name="Google Shape;1175;p81"/>
            <p:cNvPicPr preferRelativeResize="0"/>
            <p:nvPr/>
          </p:nvPicPr>
          <p:blipFill rotWithShape="1">
            <a:blip r:embed="rId9">
              <a:alphaModFix/>
            </a:blip>
            <a:srcRect b="72907" l="16442" r="80422" t="9964"/>
            <a:stretch/>
          </p:blipFill>
          <p:spPr>
            <a:xfrm rot="10800000">
              <a:off x="2653131" y="895559"/>
              <a:ext cx="276095" cy="5725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6" name="Google Shape;1176;p81"/>
          <p:cNvSpPr txBox="1"/>
          <p:nvPr/>
        </p:nvSpPr>
        <p:spPr>
          <a:xfrm>
            <a:off x="3617100" y="643950"/>
            <a:ext cx="5202900" cy="19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Groups are either: all nets that can fold up into cubes, or all composite shapes that won’t fold up into cubes.</a:t>
            </a:r>
            <a:endParaRPr sz="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There is one unique net (not a rotation or reflection of one in a group) that isn’t given.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draw this missing net and fold it  up into a cube to check?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sp>
        <p:nvSpPr>
          <p:cNvPr id="1182" name="Google Shape;1182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sp>
        <p:nvSpPr>
          <p:cNvPr id="1183" name="Google Shape;1183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184" name="Google Shape;1184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</a:t>
            </a:r>
            <a:endParaRPr/>
          </a:p>
        </p:txBody>
      </p:sp>
      <p:pic>
        <p:nvPicPr>
          <p:cNvPr id="1185" name="Google Shape;118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61" y="27660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0" name="Google Shape;1190;p83"/>
          <p:cNvPicPr preferRelativeResize="0"/>
          <p:nvPr/>
        </p:nvPicPr>
        <p:blipFill rotWithShape="1">
          <a:blip r:embed="rId3">
            <a:alphaModFix/>
          </a:blip>
          <a:srcRect b="27910" l="52080" r="33933" t="27906"/>
          <a:stretch/>
        </p:blipFill>
        <p:spPr>
          <a:xfrm>
            <a:off x="2108182" y="1507310"/>
            <a:ext cx="1021198" cy="146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sp>
        <p:nvSpPr>
          <p:cNvPr id="1192" name="Google Shape;1192;p83"/>
          <p:cNvSpPr txBox="1"/>
          <p:nvPr/>
        </p:nvSpPr>
        <p:spPr>
          <a:xfrm>
            <a:off x="324000" y="698225"/>
            <a:ext cx="171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of one rectangle is its length multiplied by its width.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3" name="Google Shape;1193;p83"/>
          <p:cNvGrpSpPr/>
          <p:nvPr/>
        </p:nvGrpSpPr>
        <p:grpSpPr>
          <a:xfrm>
            <a:off x="2215526" y="2870068"/>
            <a:ext cx="825237" cy="231715"/>
            <a:chOff x="7309296" y="2227128"/>
            <a:chExt cx="1102226" cy="330314"/>
          </a:xfrm>
        </p:grpSpPr>
        <p:sp>
          <p:nvSpPr>
            <p:cNvPr id="1194" name="Google Shape;1194;p83"/>
            <p:cNvSpPr/>
            <p:nvPr/>
          </p:nvSpPr>
          <p:spPr>
            <a:xfrm>
              <a:off x="7309322" y="2236742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16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95" name="Google Shape;1195;p8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96" name="Google Shape;1196;p83"/>
          <p:cNvGrpSpPr/>
          <p:nvPr/>
        </p:nvGrpSpPr>
        <p:grpSpPr>
          <a:xfrm rot="5400000">
            <a:off x="1249019" y="1927756"/>
            <a:ext cx="1086659" cy="631653"/>
            <a:chOff x="7309296" y="2227128"/>
            <a:chExt cx="1102200" cy="783009"/>
          </a:xfrm>
        </p:grpSpPr>
        <p:sp>
          <p:nvSpPr>
            <p:cNvPr id="1197" name="Google Shape;1197;p83"/>
            <p:cNvSpPr/>
            <p:nvPr/>
          </p:nvSpPr>
          <p:spPr>
            <a:xfrm rot="-5400000">
              <a:off x="7468975" y="2504487"/>
              <a:ext cx="7830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98" name="Google Shape;1198;p8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99" name="Google Shape;1199;p83"/>
          <p:cNvSpPr txBox="1"/>
          <p:nvPr/>
        </p:nvSpPr>
        <p:spPr>
          <a:xfrm>
            <a:off x="6256800" y="698225"/>
            <a:ext cx="25632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we have five other rectangles.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area of each one.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3"/>
          <p:cNvSpPr txBox="1"/>
          <p:nvPr/>
        </p:nvSpPr>
        <p:spPr>
          <a:xfrm>
            <a:off x="324000" y="3573925"/>
            <a:ext cx="19656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of this rectangle is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× 16 = 320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3"/>
          <p:cNvSpPr txBox="1"/>
          <p:nvPr/>
        </p:nvSpPr>
        <p:spPr>
          <a:xfrm>
            <a:off x="2215406" y="1959076"/>
            <a:ext cx="82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320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2" name="Google Shape;1202;p83"/>
          <p:cNvGrpSpPr/>
          <p:nvPr/>
        </p:nvGrpSpPr>
        <p:grpSpPr>
          <a:xfrm>
            <a:off x="3077710" y="3936211"/>
            <a:ext cx="811029" cy="231720"/>
            <a:chOff x="6856912" y="2227128"/>
            <a:chExt cx="2007000" cy="330320"/>
          </a:xfrm>
        </p:grpSpPr>
        <p:sp>
          <p:nvSpPr>
            <p:cNvPr id="1203" name="Google Shape;1203;p83"/>
            <p:cNvSpPr/>
            <p:nvPr/>
          </p:nvSpPr>
          <p:spPr>
            <a:xfrm>
              <a:off x="6856912" y="2236748"/>
              <a:ext cx="20070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04" name="Google Shape;1204;p8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05" name="Google Shape;1205;p83"/>
          <p:cNvGrpSpPr/>
          <p:nvPr/>
        </p:nvGrpSpPr>
        <p:grpSpPr>
          <a:xfrm>
            <a:off x="3937068" y="2870068"/>
            <a:ext cx="825237" cy="231715"/>
            <a:chOff x="7309296" y="2227128"/>
            <a:chExt cx="1102226" cy="330314"/>
          </a:xfrm>
        </p:grpSpPr>
        <p:sp>
          <p:nvSpPr>
            <p:cNvPr id="1206" name="Google Shape;1206;p83"/>
            <p:cNvSpPr/>
            <p:nvPr/>
          </p:nvSpPr>
          <p:spPr>
            <a:xfrm>
              <a:off x="7309322" y="2236742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16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07" name="Google Shape;1207;p8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08" name="Google Shape;1208;p83"/>
          <p:cNvGrpSpPr/>
          <p:nvPr/>
        </p:nvGrpSpPr>
        <p:grpSpPr>
          <a:xfrm>
            <a:off x="4799260" y="2882955"/>
            <a:ext cx="811029" cy="231720"/>
            <a:chOff x="6856912" y="2227128"/>
            <a:chExt cx="2007000" cy="330320"/>
          </a:xfrm>
        </p:grpSpPr>
        <p:sp>
          <p:nvSpPr>
            <p:cNvPr id="1209" name="Google Shape;1209;p83"/>
            <p:cNvSpPr/>
            <p:nvPr/>
          </p:nvSpPr>
          <p:spPr>
            <a:xfrm>
              <a:off x="6856912" y="2236748"/>
              <a:ext cx="20070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10" name="Google Shape;1210;p8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211" name="Google Shape;1211;p83"/>
          <p:cNvGrpSpPr/>
          <p:nvPr/>
        </p:nvGrpSpPr>
        <p:grpSpPr>
          <a:xfrm rot="5400000">
            <a:off x="2428750" y="767893"/>
            <a:ext cx="847041" cy="631653"/>
            <a:chOff x="7309296" y="2227128"/>
            <a:chExt cx="1102200" cy="783009"/>
          </a:xfrm>
        </p:grpSpPr>
        <p:sp>
          <p:nvSpPr>
            <p:cNvPr id="1212" name="Google Shape;1212;p83"/>
            <p:cNvSpPr/>
            <p:nvPr/>
          </p:nvSpPr>
          <p:spPr>
            <a:xfrm rot="-5400000">
              <a:off x="7468975" y="2504487"/>
              <a:ext cx="7830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16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13" name="Google Shape;1213;p8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214" name="Google Shape;1214;p83"/>
          <p:cNvPicPr preferRelativeResize="0"/>
          <p:nvPr/>
        </p:nvPicPr>
        <p:blipFill rotWithShape="1">
          <a:blip r:embed="rId3">
            <a:alphaModFix/>
          </a:blip>
          <a:srcRect b="0" l="66200" r="0" t="0"/>
          <a:stretch/>
        </p:blipFill>
        <p:spPr>
          <a:xfrm>
            <a:off x="3129380" y="579260"/>
            <a:ext cx="2467899" cy="332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83"/>
          <p:cNvSpPr txBox="1"/>
          <p:nvPr/>
        </p:nvSpPr>
        <p:spPr>
          <a:xfrm>
            <a:off x="6256800" y="2280600"/>
            <a:ext cx="196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16 = 128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6" name="Google Shape;1216;p83"/>
          <p:cNvGrpSpPr/>
          <p:nvPr/>
        </p:nvGrpSpPr>
        <p:grpSpPr>
          <a:xfrm rot="5400000">
            <a:off x="2428750" y="3116143"/>
            <a:ext cx="847041" cy="631653"/>
            <a:chOff x="7309296" y="2227128"/>
            <a:chExt cx="1102200" cy="783009"/>
          </a:xfrm>
        </p:grpSpPr>
        <p:sp>
          <p:nvSpPr>
            <p:cNvPr id="1217" name="Google Shape;1217;p83"/>
            <p:cNvSpPr/>
            <p:nvPr/>
          </p:nvSpPr>
          <p:spPr>
            <a:xfrm rot="-5400000">
              <a:off x="7468975" y="2504487"/>
              <a:ext cx="7830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16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18" name="Google Shape;1218;p8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19" name="Google Shape;1219;p83"/>
          <p:cNvSpPr/>
          <p:nvPr/>
        </p:nvSpPr>
        <p:spPr>
          <a:xfrm>
            <a:off x="3258557" y="660210"/>
            <a:ext cx="434400" cy="8469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3"/>
          <p:cNvSpPr txBox="1"/>
          <p:nvPr/>
        </p:nvSpPr>
        <p:spPr>
          <a:xfrm>
            <a:off x="3230207" y="806660"/>
            <a:ext cx="4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128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3"/>
          <p:cNvSpPr/>
          <p:nvPr/>
        </p:nvSpPr>
        <p:spPr>
          <a:xfrm>
            <a:off x="3258557" y="1699160"/>
            <a:ext cx="434400" cy="10866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3"/>
          <p:cNvSpPr txBox="1"/>
          <p:nvPr/>
        </p:nvSpPr>
        <p:spPr>
          <a:xfrm>
            <a:off x="6256800" y="2748850"/>
            <a:ext cx="196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× 20 = 160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3"/>
          <p:cNvSpPr txBox="1"/>
          <p:nvPr/>
        </p:nvSpPr>
        <p:spPr>
          <a:xfrm>
            <a:off x="3937075" y="3316025"/>
            <a:ext cx="4883100" cy="15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other three rectangles are congruent to one of the first three we calculated, so their areas will be the same as the first three.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known area matches with which                  other rectangle?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3"/>
          <p:cNvSpPr txBox="1"/>
          <p:nvPr/>
        </p:nvSpPr>
        <p:spPr>
          <a:xfrm>
            <a:off x="3230207" y="1959085"/>
            <a:ext cx="4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3"/>
          <p:cNvSpPr txBox="1"/>
          <p:nvPr/>
        </p:nvSpPr>
        <p:spPr>
          <a:xfrm>
            <a:off x="3906306" y="1959076"/>
            <a:ext cx="82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320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83"/>
          <p:cNvSpPr txBox="1"/>
          <p:nvPr/>
        </p:nvSpPr>
        <p:spPr>
          <a:xfrm>
            <a:off x="3230207" y="3154935"/>
            <a:ext cx="4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128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83"/>
          <p:cNvSpPr txBox="1"/>
          <p:nvPr/>
        </p:nvSpPr>
        <p:spPr>
          <a:xfrm>
            <a:off x="4932932" y="1959085"/>
            <a:ext cx="4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160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grpSp>
        <p:nvGrpSpPr>
          <p:cNvPr id="1233" name="Google Shape;1233;p84"/>
          <p:cNvGrpSpPr/>
          <p:nvPr/>
        </p:nvGrpSpPr>
        <p:grpSpPr>
          <a:xfrm>
            <a:off x="2108182" y="579260"/>
            <a:ext cx="3489098" cy="3325375"/>
            <a:chOff x="2108182" y="579260"/>
            <a:chExt cx="3489098" cy="3325375"/>
          </a:xfrm>
        </p:grpSpPr>
        <p:pic>
          <p:nvPicPr>
            <p:cNvPr id="1234" name="Google Shape;1234;p84"/>
            <p:cNvPicPr preferRelativeResize="0"/>
            <p:nvPr/>
          </p:nvPicPr>
          <p:blipFill rotWithShape="1">
            <a:blip r:embed="rId3">
              <a:alphaModFix/>
            </a:blip>
            <a:srcRect b="0" l="66200" r="0" t="0"/>
            <a:stretch/>
          </p:blipFill>
          <p:spPr>
            <a:xfrm>
              <a:off x="3129380" y="579260"/>
              <a:ext cx="2467899" cy="3325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5" name="Google Shape;1235;p84"/>
            <p:cNvPicPr preferRelativeResize="0"/>
            <p:nvPr/>
          </p:nvPicPr>
          <p:blipFill rotWithShape="1">
            <a:blip r:embed="rId3">
              <a:alphaModFix/>
            </a:blip>
            <a:srcRect b="27910" l="52080" r="33933" t="27906"/>
            <a:stretch/>
          </p:blipFill>
          <p:spPr>
            <a:xfrm>
              <a:off x="2108182" y="1507310"/>
              <a:ext cx="1021198" cy="1469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84"/>
            <p:cNvSpPr txBox="1"/>
            <p:nvPr/>
          </p:nvSpPr>
          <p:spPr>
            <a:xfrm>
              <a:off x="2215406" y="1959076"/>
              <a:ext cx="82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320 cm²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7" name="Google Shape;1237;p84"/>
            <p:cNvSpPr txBox="1"/>
            <p:nvPr/>
          </p:nvSpPr>
          <p:spPr>
            <a:xfrm>
              <a:off x="3230207" y="806660"/>
              <a:ext cx="486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128 cm²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8" name="Google Shape;1238;p84"/>
            <p:cNvSpPr txBox="1"/>
            <p:nvPr/>
          </p:nvSpPr>
          <p:spPr>
            <a:xfrm>
              <a:off x="3230207" y="1959085"/>
              <a:ext cx="486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160 cm²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9" name="Google Shape;1239;p84"/>
            <p:cNvSpPr txBox="1"/>
            <p:nvPr/>
          </p:nvSpPr>
          <p:spPr>
            <a:xfrm>
              <a:off x="3906306" y="1959076"/>
              <a:ext cx="82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320 cm²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0" name="Google Shape;1240;p84"/>
            <p:cNvSpPr txBox="1"/>
            <p:nvPr/>
          </p:nvSpPr>
          <p:spPr>
            <a:xfrm>
              <a:off x="3230207" y="3154935"/>
              <a:ext cx="486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128 cm²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1" name="Google Shape;1241;p84"/>
            <p:cNvSpPr txBox="1"/>
            <p:nvPr/>
          </p:nvSpPr>
          <p:spPr>
            <a:xfrm>
              <a:off x="4932932" y="1959085"/>
              <a:ext cx="486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160 cm²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42" name="Google Shape;1242;p84"/>
          <p:cNvSpPr txBox="1"/>
          <p:nvPr/>
        </p:nvSpPr>
        <p:spPr>
          <a:xfrm>
            <a:off x="324000" y="698225"/>
            <a:ext cx="1719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we connect these rectangles together, they will become a net of a cuboid!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3" name="Google Shape;1243;p84"/>
          <p:cNvGrpSpPr/>
          <p:nvPr/>
        </p:nvGrpSpPr>
        <p:grpSpPr>
          <a:xfrm>
            <a:off x="2342353" y="810000"/>
            <a:ext cx="2683099" cy="2863875"/>
            <a:chOff x="5930478" y="810000"/>
            <a:chExt cx="2683099" cy="2863875"/>
          </a:xfrm>
        </p:grpSpPr>
        <p:pic>
          <p:nvPicPr>
            <p:cNvPr id="1244" name="Google Shape;1244;p84"/>
            <p:cNvPicPr preferRelativeResize="0"/>
            <p:nvPr/>
          </p:nvPicPr>
          <p:blipFill rotWithShape="1">
            <a:blip r:embed="rId3">
              <a:alphaModFix/>
            </a:blip>
            <a:srcRect b="6933" l="0" r="63252" t="6941"/>
            <a:stretch/>
          </p:blipFill>
          <p:spPr>
            <a:xfrm>
              <a:off x="5930478" y="810000"/>
              <a:ext cx="2683099" cy="2863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5" name="Google Shape;1245;p84"/>
            <p:cNvSpPr txBox="1"/>
            <p:nvPr/>
          </p:nvSpPr>
          <p:spPr>
            <a:xfrm>
              <a:off x="6004106" y="1964888"/>
              <a:ext cx="82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320 cm²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6" name="Google Shape;1246;p84"/>
            <p:cNvSpPr txBox="1"/>
            <p:nvPr/>
          </p:nvSpPr>
          <p:spPr>
            <a:xfrm>
              <a:off x="7286606" y="1964888"/>
              <a:ext cx="825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320 cm²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7" name="Google Shape;1247;p84"/>
            <p:cNvSpPr txBox="1"/>
            <p:nvPr/>
          </p:nvSpPr>
          <p:spPr>
            <a:xfrm>
              <a:off x="6816407" y="1959085"/>
              <a:ext cx="486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160 cm²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8" name="Google Shape;1248;p84"/>
            <p:cNvSpPr txBox="1"/>
            <p:nvPr/>
          </p:nvSpPr>
          <p:spPr>
            <a:xfrm>
              <a:off x="8089574" y="1959085"/>
              <a:ext cx="486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160 cm²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9" name="Google Shape;1249;p84"/>
            <p:cNvSpPr txBox="1"/>
            <p:nvPr/>
          </p:nvSpPr>
          <p:spPr>
            <a:xfrm>
              <a:off x="6806882" y="2934801"/>
              <a:ext cx="486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128 cm²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0" name="Google Shape;1250;p84"/>
            <p:cNvSpPr txBox="1"/>
            <p:nvPr/>
          </p:nvSpPr>
          <p:spPr>
            <a:xfrm>
              <a:off x="6806882" y="983351"/>
              <a:ext cx="486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128 cm²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51" name="Google Shape;125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3450" y="1078620"/>
            <a:ext cx="2292000" cy="2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84"/>
          <p:cNvSpPr txBox="1"/>
          <p:nvPr/>
        </p:nvSpPr>
        <p:spPr>
          <a:xfrm>
            <a:off x="8203724" y="2907284"/>
            <a:ext cx="61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320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84"/>
          <p:cNvSpPr txBox="1"/>
          <p:nvPr/>
        </p:nvSpPr>
        <p:spPr>
          <a:xfrm>
            <a:off x="7013882" y="599379"/>
            <a:ext cx="4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160cm²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4"/>
          <p:cNvSpPr txBox="1"/>
          <p:nvPr/>
        </p:nvSpPr>
        <p:spPr>
          <a:xfrm>
            <a:off x="4982707" y="3336429"/>
            <a:ext cx="4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128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5" name="Google Shape;1255;p84"/>
          <p:cNvCxnSpPr/>
          <p:nvPr/>
        </p:nvCxnSpPr>
        <p:spPr>
          <a:xfrm rot="10800000">
            <a:off x="7366575" y="2615945"/>
            <a:ext cx="907800" cy="5241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6" name="Google Shape;1256;p84"/>
          <p:cNvCxnSpPr/>
          <p:nvPr/>
        </p:nvCxnSpPr>
        <p:spPr>
          <a:xfrm flipH="1" rot="10800000">
            <a:off x="5469000" y="2935545"/>
            <a:ext cx="1168800" cy="654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7" name="Google Shape;1257;p84"/>
          <p:cNvCxnSpPr/>
          <p:nvPr/>
        </p:nvCxnSpPr>
        <p:spPr>
          <a:xfrm>
            <a:off x="7257025" y="1124120"/>
            <a:ext cx="0" cy="591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8" name="Google Shape;1258;p84"/>
          <p:cNvSpPr txBox="1"/>
          <p:nvPr/>
        </p:nvSpPr>
        <p:spPr>
          <a:xfrm>
            <a:off x="857400" y="4423325"/>
            <a:ext cx="444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128 + 128 + 320 + 320 + 160 + 160 =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9" name="Google Shape;1259;p84"/>
          <p:cNvSpPr txBox="1"/>
          <p:nvPr/>
        </p:nvSpPr>
        <p:spPr>
          <a:xfrm>
            <a:off x="324000" y="4084039"/>
            <a:ext cx="804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surface area of this cuboid is the sum of all six faces of its net.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84"/>
          <p:cNvSpPr txBox="1"/>
          <p:nvPr/>
        </p:nvSpPr>
        <p:spPr>
          <a:xfrm>
            <a:off x="5302500" y="4423325"/>
            <a:ext cx="113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1216 cm²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85"/>
          <p:cNvSpPr txBox="1"/>
          <p:nvPr/>
        </p:nvSpPr>
        <p:spPr>
          <a:xfrm>
            <a:off x="324000" y="698225"/>
            <a:ext cx="2827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a net of a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the grid squares inside each rectangle to find the total surface area of the cuboid after the net is folded.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pic>
        <p:nvPicPr>
          <p:cNvPr id="1267" name="Google Shape;1267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8825" y="698225"/>
            <a:ext cx="5082208" cy="4122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8" name="Google Shape;1268;p85"/>
          <p:cNvSpPr/>
          <p:nvPr/>
        </p:nvSpPr>
        <p:spPr>
          <a:xfrm>
            <a:off x="4428332" y="2440645"/>
            <a:ext cx="1637700" cy="1303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85"/>
          <p:cNvSpPr txBox="1"/>
          <p:nvPr/>
        </p:nvSpPr>
        <p:spPr>
          <a:xfrm>
            <a:off x="4798075" y="2815500"/>
            <a:ext cx="8982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4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85"/>
          <p:cNvSpPr/>
          <p:nvPr/>
        </p:nvSpPr>
        <p:spPr>
          <a:xfrm>
            <a:off x="6066028" y="2440650"/>
            <a:ext cx="975000" cy="1303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85"/>
          <p:cNvSpPr txBox="1"/>
          <p:nvPr/>
        </p:nvSpPr>
        <p:spPr>
          <a:xfrm>
            <a:off x="6164750" y="2815500"/>
            <a:ext cx="7773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4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5"/>
          <p:cNvSpPr/>
          <p:nvPr/>
        </p:nvSpPr>
        <p:spPr>
          <a:xfrm>
            <a:off x="6066025" y="810000"/>
            <a:ext cx="975000" cy="1630800"/>
          </a:xfrm>
          <a:prstGeom prst="rect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85"/>
          <p:cNvSpPr txBox="1"/>
          <p:nvPr/>
        </p:nvSpPr>
        <p:spPr>
          <a:xfrm>
            <a:off x="6164747" y="1278821"/>
            <a:ext cx="7773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5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86"/>
          <p:cNvSpPr txBox="1"/>
          <p:nvPr/>
        </p:nvSpPr>
        <p:spPr>
          <a:xfrm>
            <a:off x="324000" y="698225"/>
            <a:ext cx="282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total surface area of the cuboid will be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pic>
        <p:nvPicPr>
          <p:cNvPr id="1280" name="Google Shape;128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8825" y="698225"/>
            <a:ext cx="5082208" cy="4122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1" name="Google Shape;1281;p86"/>
          <p:cNvSpPr txBox="1"/>
          <p:nvPr/>
        </p:nvSpPr>
        <p:spPr>
          <a:xfrm>
            <a:off x="4798075" y="2815500"/>
            <a:ext cx="8982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4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86"/>
          <p:cNvSpPr txBox="1"/>
          <p:nvPr/>
        </p:nvSpPr>
        <p:spPr>
          <a:xfrm>
            <a:off x="6164750" y="2815500"/>
            <a:ext cx="7773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4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86"/>
          <p:cNvSpPr txBox="1"/>
          <p:nvPr/>
        </p:nvSpPr>
        <p:spPr>
          <a:xfrm>
            <a:off x="6164747" y="1278821"/>
            <a:ext cx="7773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5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86"/>
          <p:cNvSpPr txBox="1"/>
          <p:nvPr/>
        </p:nvSpPr>
        <p:spPr>
          <a:xfrm>
            <a:off x="7288122" y="1278821"/>
            <a:ext cx="7773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4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86"/>
          <p:cNvSpPr txBox="1"/>
          <p:nvPr/>
        </p:nvSpPr>
        <p:spPr>
          <a:xfrm>
            <a:off x="3552300" y="2815500"/>
            <a:ext cx="7773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4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86"/>
          <p:cNvSpPr txBox="1"/>
          <p:nvPr/>
        </p:nvSpPr>
        <p:spPr>
          <a:xfrm>
            <a:off x="4798075" y="3953005"/>
            <a:ext cx="8982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5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86"/>
          <p:cNvSpPr txBox="1"/>
          <p:nvPr/>
        </p:nvSpPr>
        <p:spPr>
          <a:xfrm>
            <a:off x="324000" y="2370900"/>
            <a:ext cx="282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you notice about these 6 numbers?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86"/>
          <p:cNvSpPr txBox="1"/>
          <p:nvPr/>
        </p:nvSpPr>
        <p:spPr>
          <a:xfrm>
            <a:off x="324000" y="1355025"/>
            <a:ext cx="282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+ 12 + 20 + 20 + 15 + 15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6"/>
          <p:cNvSpPr/>
          <p:nvPr/>
        </p:nvSpPr>
        <p:spPr>
          <a:xfrm>
            <a:off x="320235" y="1343325"/>
            <a:ext cx="267000" cy="286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6"/>
          <p:cNvSpPr/>
          <p:nvPr/>
        </p:nvSpPr>
        <p:spPr>
          <a:xfrm>
            <a:off x="817195" y="1343325"/>
            <a:ext cx="267000" cy="286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6"/>
          <p:cNvSpPr txBox="1"/>
          <p:nvPr/>
        </p:nvSpPr>
        <p:spPr>
          <a:xfrm>
            <a:off x="324000" y="3112750"/>
            <a:ext cx="2827200" cy="15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three pairs of numbers.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because there are three pairs of congruent rectangles!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2" name="Google Shape;1292;p86"/>
          <p:cNvGrpSpPr/>
          <p:nvPr/>
        </p:nvGrpSpPr>
        <p:grpSpPr>
          <a:xfrm>
            <a:off x="3453328" y="2440650"/>
            <a:ext cx="3587700" cy="1303800"/>
            <a:chOff x="3453328" y="2440650"/>
            <a:chExt cx="3587700" cy="1303800"/>
          </a:xfrm>
        </p:grpSpPr>
        <p:sp>
          <p:nvSpPr>
            <p:cNvPr id="1293" name="Google Shape;1293;p86"/>
            <p:cNvSpPr/>
            <p:nvPr/>
          </p:nvSpPr>
          <p:spPr>
            <a:xfrm>
              <a:off x="6066028" y="2440650"/>
              <a:ext cx="975000" cy="13038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86"/>
            <p:cNvSpPr/>
            <p:nvPr/>
          </p:nvSpPr>
          <p:spPr>
            <a:xfrm>
              <a:off x="3453328" y="2440650"/>
              <a:ext cx="975000" cy="1303800"/>
            </a:xfrm>
            <a:prstGeom prst="rect">
              <a:avLst/>
            </a:prstGeom>
            <a:noFill/>
            <a:ln cap="flat" cmpd="sng" w="762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87"/>
          <p:cNvSpPr txBox="1"/>
          <p:nvPr/>
        </p:nvSpPr>
        <p:spPr>
          <a:xfrm>
            <a:off x="324000" y="2077263"/>
            <a:ext cx="282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94 units²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7"/>
          <p:cNvSpPr txBox="1"/>
          <p:nvPr/>
        </p:nvSpPr>
        <p:spPr>
          <a:xfrm>
            <a:off x="324000" y="698225"/>
            <a:ext cx="282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total surface area of the cuboid will be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pic>
        <p:nvPicPr>
          <p:cNvPr id="1302" name="Google Shape;130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8825" y="698225"/>
            <a:ext cx="5082208" cy="4122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3" name="Google Shape;1303;p87"/>
          <p:cNvSpPr txBox="1"/>
          <p:nvPr/>
        </p:nvSpPr>
        <p:spPr>
          <a:xfrm>
            <a:off x="4798075" y="2815500"/>
            <a:ext cx="8982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4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7"/>
          <p:cNvSpPr txBox="1"/>
          <p:nvPr/>
        </p:nvSpPr>
        <p:spPr>
          <a:xfrm>
            <a:off x="6164750" y="2815500"/>
            <a:ext cx="7773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4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87"/>
          <p:cNvSpPr txBox="1"/>
          <p:nvPr/>
        </p:nvSpPr>
        <p:spPr>
          <a:xfrm>
            <a:off x="6164747" y="1278821"/>
            <a:ext cx="7773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5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6" name="Google Shape;1306;p87"/>
          <p:cNvSpPr txBox="1"/>
          <p:nvPr/>
        </p:nvSpPr>
        <p:spPr>
          <a:xfrm>
            <a:off x="7288122" y="1278821"/>
            <a:ext cx="7773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× 4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87"/>
          <p:cNvSpPr txBox="1"/>
          <p:nvPr/>
        </p:nvSpPr>
        <p:spPr>
          <a:xfrm>
            <a:off x="3552300" y="2815500"/>
            <a:ext cx="7773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4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87"/>
          <p:cNvSpPr txBox="1"/>
          <p:nvPr/>
        </p:nvSpPr>
        <p:spPr>
          <a:xfrm>
            <a:off x="4798075" y="3953005"/>
            <a:ext cx="8982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× 5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87"/>
          <p:cNvSpPr txBox="1"/>
          <p:nvPr/>
        </p:nvSpPr>
        <p:spPr>
          <a:xfrm>
            <a:off x="324000" y="2799525"/>
            <a:ext cx="282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Another way of calculating the total surface area uses brackets.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87"/>
          <p:cNvSpPr txBox="1"/>
          <p:nvPr/>
        </p:nvSpPr>
        <p:spPr>
          <a:xfrm>
            <a:off x="324000" y="1355025"/>
            <a:ext cx="282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+ 12 + 20 + 20 + 15 + 15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87"/>
          <p:cNvSpPr/>
          <p:nvPr/>
        </p:nvSpPr>
        <p:spPr>
          <a:xfrm>
            <a:off x="320235" y="1343325"/>
            <a:ext cx="267000" cy="286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87"/>
          <p:cNvSpPr/>
          <p:nvPr/>
        </p:nvSpPr>
        <p:spPr>
          <a:xfrm>
            <a:off x="817195" y="1343325"/>
            <a:ext cx="267000" cy="286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87"/>
          <p:cNvSpPr txBox="1"/>
          <p:nvPr/>
        </p:nvSpPr>
        <p:spPr>
          <a:xfrm>
            <a:off x="324000" y="1734925"/>
            <a:ext cx="2827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2(12 + 20 + 15)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87"/>
          <p:cNvSpPr txBox="1"/>
          <p:nvPr/>
        </p:nvSpPr>
        <p:spPr>
          <a:xfrm>
            <a:off x="324000" y="4017000"/>
            <a:ext cx="282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Either method is fine, and will get you to the same answer.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87"/>
          <p:cNvSpPr txBox="1"/>
          <p:nvPr/>
        </p:nvSpPr>
        <p:spPr>
          <a:xfrm>
            <a:off x="324000" y="2077275"/>
            <a:ext cx="282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lots of 12, 20, 15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0" name="Google Shape;1320;p88"/>
          <p:cNvPicPr preferRelativeResize="0"/>
          <p:nvPr/>
        </p:nvPicPr>
        <p:blipFill rotWithShape="1">
          <a:blip r:embed="rId3">
            <a:alphaModFix/>
          </a:blip>
          <a:srcRect b="0" l="43933" r="0" t="3016"/>
          <a:stretch/>
        </p:blipFill>
        <p:spPr>
          <a:xfrm>
            <a:off x="4027200" y="760025"/>
            <a:ext cx="4573776" cy="340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88"/>
          <p:cNvSpPr txBox="1"/>
          <p:nvPr/>
        </p:nvSpPr>
        <p:spPr>
          <a:xfrm>
            <a:off x="324000" y="698225"/>
            <a:ext cx="2563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six rectangles can be connected to create the net of a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area of the rectangle marked a?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grpSp>
        <p:nvGrpSpPr>
          <p:cNvPr id="1323" name="Google Shape;1323;p88"/>
          <p:cNvGrpSpPr/>
          <p:nvPr/>
        </p:nvGrpSpPr>
        <p:grpSpPr>
          <a:xfrm rot="5400000">
            <a:off x="4839208" y="2329046"/>
            <a:ext cx="1092280" cy="240296"/>
            <a:chOff x="7309296" y="2227128"/>
            <a:chExt cx="1102200" cy="330304"/>
          </a:xfrm>
        </p:grpSpPr>
        <p:sp>
          <p:nvSpPr>
            <p:cNvPr id="1324" name="Google Shape;1324;p88"/>
            <p:cNvSpPr/>
            <p:nvPr/>
          </p:nvSpPr>
          <p:spPr>
            <a:xfrm rot="10800000">
              <a:off x="7316032" y="2236732"/>
              <a:ext cx="1088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25" name="Google Shape;1325;p88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26" name="Google Shape;1326;p88"/>
          <p:cNvGrpSpPr/>
          <p:nvPr/>
        </p:nvGrpSpPr>
        <p:grpSpPr>
          <a:xfrm>
            <a:off x="4139658" y="1269248"/>
            <a:ext cx="749386" cy="240296"/>
            <a:chOff x="7309296" y="2227128"/>
            <a:chExt cx="1102200" cy="330304"/>
          </a:xfrm>
        </p:grpSpPr>
        <p:sp>
          <p:nvSpPr>
            <p:cNvPr id="1327" name="Google Shape;1327;p88"/>
            <p:cNvSpPr/>
            <p:nvPr/>
          </p:nvSpPr>
          <p:spPr>
            <a:xfrm>
              <a:off x="7316032" y="2236732"/>
              <a:ext cx="1088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28" name="Google Shape;1328;p88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29" name="Google Shape;1329;p88"/>
          <p:cNvGrpSpPr/>
          <p:nvPr/>
        </p:nvGrpSpPr>
        <p:grpSpPr>
          <a:xfrm>
            <a:off x="7815620" y="3078001"/>
            <a:ext cx="965637" cy="240286"/>
            <a:chOff x="6652788" y="2227128"/>
            <a:chExt cx="2415300" cy="330290"/>
          </a:xfrm>
        </p:grpSpPr>
        <p:sp>
          <p:nvSpPr>
            <p:cNvPr id="1330" name="Google Shape;1330;p88"/>
            <p:cNvSpPr/>
            <p:nvPr/>
          </p:nvSpPr>
          <p:spPr>
            <a:xfrm>
              <a:off x="6652788" y="2236718"/>
              <a:ext cx="2415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31" name="Google Shape;1331;p88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32" name="Google Shape;1332;p88"/>
          <p:cNvGrpSpPr/>
          <p:nvPr/>
        </p:nvGrpSpPr>
        <p:grpSpPr>
          <a:xfrm>
            <a:off x="4375748" y="2322501"/>
            <a:ext cx="277200" cy="277200"/>
            <a:chOff x="1020916" y="1442088"/>
            <a:chExt cx="457200" cy="457200"/>
          </a:xfrm>
        </p:grpSpPr>
        <p:pic>
          <p:nvPicPr>
            <p:cNvPr id="1333" name="Google Shape;1333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4" name="Google Shape;1334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5" name="Google Shape;1335;p88"/>
          <p:cNvGrpSpPr/>
          <p:nvPr/>
        </p:nvGrpSpPr>
        <p:grpSpPr>
          <a:xfrm rot="5400000">
            <a:off x="3360908" y="2329046"/>
            <a:ext cx="1092280" cy="240296"/>
            <a:chOff x="7309296" y="2227128"/>
            <a:chExt cx="1102200" cy="330304"/>
          </a:xfrm>
        </p:grpSpPr>
        <p:sp>
          <p:nvSpPr>
            <p:cNvPr id="1336" name="Google Shape;1336;p88"/>
            <p:cNvSpPr/>
            <p:nvPr/>
          </p:nvSpPr>
          <p:spPr>
            <a:xfrm rot="10800000">
              <a:off x="7316032" y="2236732"/>
              <a:ext cx="1088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37" name="Google Shape;1337;p88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38" name="Google Shape;1338;p88"/>
          <p:cNvGrpSpPr/>
          <p:nvPr/>
        </p:nvGrpSpPr>
        <p:grpSpPr>
          <a:xfrm>
            <a:off x="4139658" y="3119848"/>
            <a:ext cx="749386" cy="240296"/>
            <a:chOff x="7309296" y="2227128"/>
            <a:chExt cx="1102200" cy="330304"/>
          </a:xfrm>
        </p:grpSpPr>
        <p:sp>
          <p:nvSpPr>
            <p:cNvPr id="1339" name="Google Shape;1339;p88"/>
            <p:cNvSpPr/>
            <p:nvPr/>
          </p:nvSpPr>
          <p:spPr>
            <a:xfrm>
              <a:off x="7316032" y="2236732"/>
              <a:ext cx="1088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40" name="Google Shape;1340;p88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41" name="Google Shape;1341;p88"/>
          <p:cNvSpPr txBox="1"/>
          <p:nvPr/>
        </p:nvSpPr>
        <p:spPr>
          <a:xfrm>
            <a:off x="889225" y="2722450"/>
            <a:ext cx="256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54 units²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89"/>
          <p:cNvSpPr txBox="1"/>
          <p:nvPr/>
        </p:nvSpPr>
        <p:spPr>
          <a:xfrm>
            <a:off x="324000" y="698225"/>
            <a:ext cx="228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area of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faces of the cuboid that are marked b and c.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7" name="Google Shape;1347;p89"/>
          <p:cNvPicPr preferRelativeResize="0"/>
          <p:nvPr/>
        </p:nvPicPr>
        <p:blipFill rotWithShape="1">
          <a:blip r:embed="rId3">
            <a:alphaModFix/>
          </a:blip>
          <a:srcRect b="20849" l="-242" r="70708" t="23862"/>
          <a:stretch/>
        </p:blipFill>
        <p:spPr>
          <a:xfrm>
            <a:off x="4027200" y="1491350"/>
            <a:ext cx="2409250" cy="19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grpSp>
        <p:nvGrpSpPr>
          <p:cNvPr id="1349" name="Google Shape;1349;p89"/>
          <p:cNvGrpSpPr/>
          <p:nvPr/>
        </p:nvGrpSpPr>
        <p:grpSpPr>
          <a:xfrm rot="5400000">
            <a:off x="3148553" y="2116690"/>
            <a:ext cx="1092280" cy="665008"/>
            <a:chOff x="7309296" y="2227128"/>
            <a:chExt cx="1102200" cy="914100"/>
          </a:xfrm>
        </p:grpSpPr>
        <p:sp>
          <p:nvSpPr>
            <p:cNvPr id="1350" name="Google Shape;1350;p89"/>
            <p:cNvSpPr/>
            <p:nvPr/>
          </p:nvSpPr>
          <p:spPr>
            <a:xfrm rot="-5400000">
              <a:off x="7403367" y="2566428"/>
              <a:ext cx="914100" cy="23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9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51" name="Google Shape;1351;p89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52" name="Google Shape;1352;p89"/>
          <p:cNvGrpSpPr/>
          <p:nvPr/>
        </p:nvGrpSpPr>
        <p:grpSpPr>
          <a:xfrm>
            <a:off x="4139658" y="3119848"/>
            <a:ext cx="749386" cy="240296"/>
            <a:chOff x="7309296" y="2227128"/>
            <a:chExt cx="1102200" cy="330304"/>
          </a:xfrm>
        </p:grpSpPr>
        <p:sp>
          <p:nvSpPr>
            <p:cNvPr id="1353" name="Google Shape;1353;p89"/>
            <p:cNvSpPr/>
            <p:nvPr/>
          </p:nvSpPr>
          <p:spPr>
            <a:xfrm>
              <a:off x="7316032" y="2236732"/>
              <a:ext cx="1088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54" name="Google Shape;1354;p89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55" name="Google Shape;1355;p89"/>
          <p:cNvGrpSpPr/>
          <p:nvPr/>
        </p:nvGrpSpPr>
        <p:grpSpPr>
          <a:xfrm rot="10800000">
            <a:off x="5650308" y="1547838"/>
            <a:ext cx="965637" cy="240286"/>
            <a:chOff x="6652788" y="2227128"/>
            <a:chExt cx="2415300" cy="330290"/>
          </a:xfrm>
        </p:grpSpPr>
        <p:sp>
          <p:nvSpPr>
            <p:cNvPr id="1356" name="Google Shape;1356;p89"/>
            <p:cNvSpPr/>
            <p:nvPr/>
          </p:nvSpPr>
          <p:spPr>
            <a:xfrm rot="10800000">
              <a:off x="6652788" y="2236718"/>
              <a:ext cx="24153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57" name="Google Shape;1357;p89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358" name="Google Shape;1358;p89"/>
          <p:cNvSpPr txBox="1"/>
          <p:nvPr/>
        </p:nvSpPr>
        <p:spPr>
          <a:xfrm>
            <a:off x="4174700" y="2184050"/>
            <a:ext cx="66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54 units²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9" name="Google Shape;1359;p89"/>
          <p:cNvGrpSpPr/>
          <p:nvPr/>
        </p:nvGrpSpPr>
        <p:grpSpPr>
          <a:xfrm rot="5400000">
            <a:off x="3475841" y="1351609"/>
            <a:ext cx="370780" cy="732561"/>
            <a:chOff x="7309296" y="2227128"/>
            <a:chExt cx="1102200" cy="1247975"/>
          </a:xfrm>
        </p:grpSpPr>
        <p:sp>
          <p:nvSpPr>
            <p:cNvPr id="1360" name="Google Shape;1360;p89"/>
            <p:cNvSpPr/>
            <p:nvPr/>
          </p:nvSpPr>
          <p:spPr>
            <a:xfrm rot="-5400000">
              <a:off x="7249492" y="2520053"/>
              <a:ext cx="1221900" cy="6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61" name="Google Shape;1361;p89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62" name="Google Shape;1362;p89"/>
          <p:cNvGrpSpPr/>
          <p:nvPr/>
        </p:nvGrpSpPr>
        <p:grpSpPr>
          <a:xfrm>
            <a:off x="5994523" y="2310589"/>
            <a:ext cx="277200" cy="277200"/>
            <a:chOff x="1020916" y="1442088"/>
            <a:chExt cx="457200" cy="457200"/>
          </a:xfrm>
        </p:grpSpPr>
        <p:pic>
          <p:nvPicPr>
            <p:cNvPr id="1363" name="Google Shape;136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4" name="Google Shape;1364;p89"/>
            <p:cNvSpPr txBox="1"/>
            <p:nvPr/>
          </p:nvSpPr>
          <p:spPr>
            <a:xfrm>
              <a:off x="1045528" y="147985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5" name="Google Shape;1365;p89"/>
          <p:cNvGrpSpPr/>
          <p:nvPr/>
        </p:nvGrpSpPr>
        <p:grpSpPr>
          <a:xfrm>
            <a:off x="5451248" y="3037294"/>
            <a:ext cx="277200" cy="277200"/>
            <a:chOff x="1020916" y="1442088"/>
            <a:chExt cx="457200" cy="457200"/>
          </a:xfrm>
        </p:grpSpPr>
        <p:pic>
          <p:nvPicPr>
            <p:cNvPr id="1366" name="Google Shape;136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7" name="Google Shape;1367;p89"/>
            <p:cNvSpPr txBox="1"/>
            <p:nvPr/>
          </p:nvSpPr>
          <p:spPr>
            <a:xfrm>
              <a:off x="1045528" y="147985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68" name="Google Shape;1368;p89"/>
          <p:cNvSpPr txBox="1"/>
          <p:nvPr/>
        </p:nvSpPr>
        <p:spPr>
          <a:xfrm>
            <a:off x="705000" y="2365625"/>
            <a:ext cx="66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9"/>
          <p:cNvSpPr txBox="1"/>
          <p:nvPr/>
        </p:nvSpPr>
        <p:spPr>
          <a:xfrm>
            <a:off x="705000" y="2895500"/>
            <a:ext cx="66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89"/>
          <p:cNvSpPr txBox="1"/>
          <p:nvPr/>
        </p:nvSpPr>
        <p:spPr>
          <a:xfrm>
            <a:off x="1150650" y="2365625"/>
            <a:ext cx="120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units²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1" name="Google Shape;1371;p89"/>
          <p:cNvSpPr txBox="1"/>
          <p:nvPr/>
        </p:nvSpPr>
        <p:spPr>
          <a:xfrm>
            <a:off x="1150650" y="2898059"/>
            <a:ext cx="120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units²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2" name="Google Shape;1372;p89"/>
          <p:cNvSpPr txBox="1"/>
          <p:nvPr/>
        </p:nvSpPr>
        <p:spPr>
          <a:xfrm>
            <a:off x="3234725" y="3736425"/>
            <a:ext cx="480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If a face of the net of a cuboid isn’t clearly labelled, see if you can calculate the area of the opposite face.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73" name="Google Shape;1373;p89"/>
          <p:cNvGrpSpPr/>
          <p:nvPr/>
        </p:nvGrpSpPr>
        <p:grpSpPr>
          <a:xfrm>
            <a:off x="4368648" y="1593393"/>
            <a:ext cx="277200" cy="277200"/>
            <a:chOff x="1020916" y="1442088"/>
            <a:chExt cx="457200" cy="457200"/>
          </a:xfrm>
        </p:grpSpPr>
        <p:pic>
          <p:nvPicPr>
            <p:cNvPr id="1374" name="Google Shape;1374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5" name="Google Shape;1375;p89"/>
            <p:cNvSpPr txBox="1"/>
            <p:nvPr/>
          </p:nvSpPr>
          <p:spPr>
            <a:xfrm>
              <a:off x="1045528" y="147985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6" name="Google Shape;1376;p89"/>
          <p:cNvGrpSpPr/>
          <p:nvPr/>
        </p:nvGrpSpPr>
        <p:grpSpPr>
          <a:xfrm rot="10800000">
            <a:off x="4139658" y="1221901"/>
            <a:ext cx="749386" cy="240296"/>
            <a:chOff x="7309296" y="2227128"/>
            <a:chExt cx="1102200" cy="330304"/>
          </a:xfrm>
        </p:grpSpPr>
        <p:sp>
          <p:nvSpPr>
            <p:cNvPr id="1377" name="Google Shape;1377;p89"/>
            <p:cNvSpPr/>
            <p:nvPr/>
          </p:nvSpPr>
          <p:spPr>
            <a:xfrm rot="10800000">
              <a:off x="7316032" y="2236732"/>
              <a:ext cx="1088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78" name="Google Shape;1378;p89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90"/>
          <p:cNvSpPr txBox="1"/>
          <p:nvPr/>
        </p:nvSpPr>
        <p:spPr>
          <a:xfrm>
            <a:off x="324000" y="3212590"/>
            <a:ext cx="5631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The three remaining rectangles have the same areas as in part a. Write the correct area on the corresponding rectangle.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Hence, find the surface area of the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sp>
        <p:nvSpPr>
          <p:cNvPr id="1385" name="Google Shape;1385;p90"/>
          <p:cNvSpPr txBox="1"/>
          <p:nvPr/>
        </p:nvSpPr>
        <p:spPr>
          <a:xfrm>
            <a:off x="324000" y="698225"/>
            <a:ext cx="342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six rectangles can be connected to create the net of a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6" name="Google Shape;138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950" y="908812"/>
            <a:ext cx="5024051" cy="2460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7" name="Google Shape;1387;p90"/>
          <p:cNvGrpSpPr/>
          <p:nvPr/>
        </p:nvGrpSpPr>
        <p:grpSpPr>
          <a:xfrm rot="5400000">
            <a:off x="2984092" y="1737831"/>
            <a:ext cx="795568" cy="828202"/>
            <a:chOff x="7309296" y="2227128"/>
            <a:chExt cx="1102200" cy="1138422"/>
          </a:xfrm>
        </p:grpSpPr>
        <p:sp>
          <p:nvSpPr>
            <p:cNvPr id="1388" name="Google Shape;1388;p90"/>
            <p:cNvSpPr/>
            <p:nvPr/>
          </p:nvSpPr>
          <p:spPr>
            <a:xfrm rot="-5400000">
              <a:off x="7295558" y="2639250"/>
              <a:ext cx="1129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10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89" name="Google Shape;1389;p9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90" name="Google Shape;1390;p90"/>
          <p:cNvGrpSpPr/>
          <p:nvPr/>
        </p:nvGrpSpPr>
        <p:grpSpPr>
          <a:xfrm>
            <a:off x="4644256" y="2627960"/>
            <a:ext cx="1557849" cy="240296"/>
            <a:chOff x="7309296" y="2227128"/>
            <a:chExt cx="1102200" cy="330304"/>
          </a:xfrm>
        </p:grpSpPr>
        <p:sp>
          <p:nvSpPr>
            <p:cNvPr id="1391" name="Google Shape;1391;p90"/>
            <p:cNvSpPr/>
            <p:nvPr/>
          </p:nvSpPr>
          <p:spPr>
            <a:xfrm>
              <a:off x="7316032" y="2236732"/>
              <a:ext cx="1088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92" name="Google Shape;1392;p9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93" name="Google Shape;1393;p90"/>
          <p:cNvGrpSpPr/>
          <p:nvPr/>
        </p:nvGrpSpPr>
        <p:grpSpPr>
          <a:xfrm>
            <a:off x="3795950" y="2627935"/>
            <a:ext cx="680642" cy="240286"/>
            <a:chOff x="7165250" y="2227128"/>
            <a:chExt cx="1390200" cy="330290"/>
          </a:xfrm>
        </p:grpSpPr>
        <p:sp>
          <p:nvSpPr>
            <p:cNvPr id="1394" name="Google Shape;1394;p90"/>
            <p:cNvSpPr/>
            <p:nvPr/>
          </p:nvSpPr>
          <p:spPr>
            <a:xfrm>
              <a:off x="7165250" y="2236718"/>
              <a:ext cx="1390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95" name="Google Shape;1395;p9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96" name="Google Shape;1396;p90"/>
          <p:cNvGrpSpPr/>
          <p:nvPr/>
        </p:nvGrpSpPr>
        <p:grpSpPr>
          <a:xfrm rot="5400000">
            <a:off x="3939232" y="903444"/>
            <a:ext cx="539637" cy="710850"/>
            <a:chOff x="7309296" y="2227128"/>
            <a:chExt cx="1102200" cy="977113"/>
          </a:xfrm>
        </p:grpSpPr>
        <p:sp>
          <p:nvSpPr>
            <p:cNvPr id="1397" name="Google Shape;1397;p90"/>
            <p:cNvSpPr/>
            <p:nvPr/>
          </p:nvSpPr>
          <p:spPr>
            <a:xfrm rot="-5400000">
              <a:off x="7392435" y="2498191"/>
              <a:ext cx="935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98" name="Google Shape;1398;p9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99" name="Google Shape;1399;p90"/>
          <p:cNvGrpSpPr/>
          <p:nvPr/>
        </p:nvGrpSpPr>
        <p:grpSpPr>
          <a:xfrm>
            <a:off x="5284573" y="2000651"/>
            <a:ext cx="277200" cy="277200"/>
            <a:chOff x="1020916" y="1442088"/>
            <a:chExt cx="457200" cy="457200"/>
          </a:xfrm>
        </p:grpSpPr>
        <p:pic>
          <p:nvPicPr>
            <p:cNvPr id="1400" name="Google Shape;1400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1" name="Google Shape;1401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2" name="Google Shape;1402;p90"/>
          <p:cNvGrpSpPr/>
          <p:nvPr/>
        </p:nvGrpSpPr>
        <p:grpSpPr>
          <a:xfrm>
            <a:off x="3997673" y="2000651"/>
            <a:ext cx="277200" cy="277200"/>
            <a:chOff x="1020916" y="1442088"/>
            <a:chExt cx="457200" cy="457200"/>
          </a:xfrm>
        </p:grpSpPr>
        <p:pic>
          <p:nvPicPr>
            <p:cNvPr id="1403" name="Google Shape;1403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4" name="Google Shape;1404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5" name="Google Shape;1405;p90"/>
          <p:cNvGrpSpPr/>
          <p:nvPr/>
        </p:nvGrpSpPr>
        <p:grpSpPr>
          <a:xfrm>
            <a:off x="5284573" y="1120264"/>
            <a:ext cx="277200" cy="277200"/>
            <a:chOff x="1020916" y="1442088"/>
            <a:chExt cx="457200" cy="457200"/>
          </a:xfrm>
        </p:grpSpPr>
        <p:pic>
          <p:nvPicPr>
            <p:cNvPr id="1406" name="Google Shape;1406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7" name="Google Shape;1407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08" name="Google Shape;1408;p90"/>
          <p:cNvSpPr txBox="1"/>
          <p:nvPr/>
        </p:nvSpPr>
        <p:spPr>
          <a:xfrm>
            <a:off x="324000" y="1825625"/>
            <a:ext cx="2145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Calculate the area of the three rectangles labelled a, b, c.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sp>
        <p:nvSpPr>
          <p:cNvPr id="1414" name="Google Shape;1414;p91"/>
          <p:cNvSpPr txBox="1"/>
          <p:nvPr/>
        </p:nvSpPr>
        <p:spPr>
          <a:xfrm>
            <a:off x="324000" y="6982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By finding the area of at least three rectangles, complete the calculation to find the surface area of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cuboid which would be made from this net.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15" name="Google Shape;1415;p91"/>
          <p:cNvGrpSpPr/>
          <p:nvPr/>
        </p:nvGrpSpPr>
        <p:grpSpPr>
          <a:xfrm rot="5400000">
            <a:off x="635011" y="2018442"/>
            <a:ext cx="1014244" cy="689087"/>
            <a:chOff x="7309296" y="2227128"/>
            <a:chExt cx="1102200" cy="1138422"/>
          </a:xfrm>
        </p:grpSpPr>
        <p:sp>
          <p:nvSpPr>
            <p:cNvPr id="1416" name="Google Shape;1416;p91"/>
            <p:cNvSpPr/>
            <p:nvPr/>
          </p:nvSpPr>
          <p:spPr>
            <a:xfrm rot="-5400000">
              <a:off x="7295558" y="2639250"/>
              <a:ext cx="1129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17" name="Google Shape;1417;p9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18" name="Google Shape;1418;p91"/>
          <p:cNvGrpSpPr/>
          <p:nvPr/>
        </p:nvGrpSpPr>
        <p:grpSpPr>
          <a:xfrm>
            <a:off x="1543638" y="3325990"/>
            <a:ext cx="3073154" cy="240277"/>
            <a:chOff x="7309296" y="2227128"/>
            <a:chExt cx="1102200" cy="330278"/>
          </a:xfrm>
        </p:grpSpPr>
        <p:sp>
          <p:nvSpPr>
            <p:cNvPr id="1419" name="Google Shape;1419;p91"/>
            <p:cNvSpPr/>
            <p:nvPr/>
          </p:nvSpPr>
          <p:spPr>
            <a:xfrm>
              <a:off x="7522018" y="2236706"/>
              <a:ext cx="676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25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0" name="Google Shape;1420;p9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421" name="Google Shape;142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700" y="1454500"/>
            <a:ext cx="6952300" cy="182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2" name="Google Shape;1422;p91"/>
          <p:cNvGrpSpPr/>
          <p:nvPr/>
        </p:nvGrpSpPr>
        <p:grpSpPr>
          <a:xfrm>
            <a:off x="7670693" y="2997115"/>
            <a:ext cx="1101872" cy="240269"/>
            <a:chOff x="6149975" y="2227128"/>
            <a:chExt cx="3420900" cy="330267"/>
          </a:xfrm>
        </p:grpSpPr>
        <p:sp>
          <p:nvSpPr>
            <p:cNvPr id="1423" name="Google Shape;1423;p91"/>
            <p:cNvSpPr/>
            <p:nvPr/>
          </p:nvSpPr>
          <p:spPr>
            <a:xfrm>
              <a:off x="6149975" y="2236695"/>
              <a:ext cx="34209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4" name="Google Shape;1424;p9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25" name="Google Shape;1425;p91"/>
          <p:cNvSpPr txBox="1"/>
          <p:nvPr/>
        </p:nvSpPr>
        <p:spPr>
          <a:xfrm>
            <a:off x="324000" y="4161000"/>
            <a:ext cx="377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surface area of this cuboid is: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91"/>
          <p:cNvSpPr txBox="1"/>
          <p:nvPr/>
        </p:nvSpPr>
        <p:spPr>
          <a:xfrm>
            <a:off x="4092549" y="4161000"/>
            <a:ext cx="433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2(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27" name="Google Shape;1427;p91"/>
          <p:cNvGrpSpPr/>
          <p:nvPr/>
        </p:nvGrpSpPr>
        <p:grpSpPr>
          <a:xfrm rot="5400000">
            <a:off x="1014498" y="2752959"/>
            <a:ext cx="355019" cy="589312"/>
            <a:chOff x="7309296" y="2227128"/>
            <a:chExt cx="1102200" cy="810051"/>
          </a:xfrm>
        </p:grpSpPr>
        <p:sp>
          <p:nvSpPr>
            <p:cNvPr id="1428" name="Google Shape;1428;p91"/>
            <p:cNvSpPr/>
            <p:nvPr/>
          </p:nvSpPr>
          <p:spPr>
            <a:xfrm rot="-5400000">
              <a:off x="7455371" y="2270079"/>
              <a:ext cx="810000" cy="7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9" name="Google Shape;1429;p9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92"/>
          <p:cNvSpPr txBox="1"/>
          <p:nvPr/>
        </p:nvSpPr>
        <p:spPr>
          <a:xfrm>
            <a:off x="324000" y="3212590"/>
            <a:ext cx="5631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The three remaining rectangles have the same areas as in part a. Write the correct area on the corresponding rectangle.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Hence, find the surface area of the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sp>
        <p:nvSpPr>
          <p:cNvPr id="1436" name="Google Shape;1436;p92"/>
          <p:cNvSpPr txBox="1"/>
          <p:nvPr/>
        </p:nvSpPr>
        <p:spPr>
          <a:xfrm>
            <a:off x="324000" y="698225"/>
            <a:ext cx="342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These six rectangles can be connected to create the net of a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7" name="Google Shape;143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950" y="908812"/>
            <a:ext cx="5024051" cy="2460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8" name="Google Shape;1438;p92"/>
          <p:cNvGrpSpPr/>
          <p:nvPr/>
        </p:nvGrpSpPr>
        <p:grpSpPr>
          <a:xfrm rot="5400000">
            <a:off x="2984092" y="1737831"/>
            <a:ext cx="795568" cy="828202"/>
            <a:chOff x="7309296" y="2227128"/>
            <a:chExt cx="1102200" cy="1138422"/>
          </a:xfrm>
        </p:grpSpPr>
        <p:sp>
          <p:nvSpPr>
            <p:cNvPr id="1439" name="Google Shape;1439;p92"/>
            <p:cNvSpPr/>
            <p:nvPr/>
          </p:nvSpPr>
          <p:spPr>
            <a:xfrm rot="-5400000">
              <a:off x="7295558" y="2639250"/>
              <a:ext cx="1129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10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0" name="Google Shape;1440;p9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41" name="Google Shape;1441;p92"/>
          <p:cNvSpPr txBox="1"/>
          <p:nvPr/>
        </p:nvSpPr>
        <p:spPr>
          <a:xfrm>
            <a:off x="324000" y="1749425"/>
            <a:ext cx="2145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Calculate the area of the three rectangles labelled a, b, c.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2" name="Google Shape;1442;p92"/>
          <p:cNvGrpSpPr/>
          <p:nvPr/>
        </p:nvGrpSpPr>
        <p:grpSpPr>
          <a:xfrm>
            <a:off x="4644256" y="2627960"/>
            <a:ext cx="1557849" cy="240296"/>
            <a:chOff x="7309296" y="2227128"/>
            <a:chExt cx="1102200" cy="330304"/>
          </a:xfrm>
        </p:grpSpPr>
        <p:sp>
          <p:nvSpPr>
            <p:cNvPr id="1443" name="Google Shape;1443;p92"/>
            <p:cNvSpPr/>
            <p:nvPr/>
          </p:nvSpPr>
          <p:spPr>
            <a:xfrm>
              <a:off x="7316032" y="2236732"/>
              <a:ext cx="1088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4" name="Google Shape;1444;p9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45" name="Google Shape;1445;p92"/>
          <p:cNvGrpSpPr/>
          <p:nvPr/>
        </p:nvGrpSpPr>
        <p:grpSpPr>
          <a:xfrm>
            <a:off x="3795950" y="2627935"/>
            <a:ext cx="680642" cy="240286"/>
            <a:chOff x="7165250" y="2227128"/>
            <a:chExt cx="1390200" cy="330290"/>
          </a:xfrm>
        </p:grpSpPr>
        <p:sp>
          <p:nvSpPr>
            <p:cNvPr id="1446" name="Google Shape;1446;p92"/>
            <p:cNvSpPr/>
            <p:nvPr/>
          </p:nvSpPr>
          <p:spPr>
            <a:xfrm>
              <a:off x="7165250" y="2236718"/>
              <a:ext cx="1390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7" name="Google Shape;1447;p9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48" name="Google Shape;1448;p92"/>
          <p:cNvGrpSpPr/>
          <p:nvPr/>
        </p:nvGrpSpPr>
        <p:grpSpPr>
          <a:xfrm rot="5400000">
            <a:off x="3939232" y="903444"/>
            <a:ext cx="539637" cy="710850"/>
            <a:chOff x="7309296" y="2227128"/>
            <a:chExt cx="1102200" cy="977113"/>
          </a:xfrm>
        </p:grpSpPr>
        <p:sp>
          <p:nvSpPr>
            <p:cNvPr id="1449" name="Google Shape;1449;p92"/>
            <p:cNvSpPr/>
            <p:nvPr/>
          </p:nvSpPr>
          <p:spPr>
            <a:xfrm rot="-5400000">
              <a:off x="7392435" y="2498191"/>
              <a:ext cx="935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50" name="Google Shape;1450;p92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51" name="Google Shape;1451;p92"/>
          <p:cNvGrpSpPr/>
          <p:nvPr/>
        </p:nvGrpSpPr>
        <p:grpSpPr>
          <a:xfrm>
            <a:off x="5284573" y="1786578"/>
            <a:ext cx="277200" cy="277200"/>
            <a:chOff x="1020916" y="1442088"/>
            <a:chExt cx="457200" cy="457200"/>
          </a:xfrm>
        </p:grpSpPr>
        <p:pic>
          <p:nvPicPr>
            <p:cNvPr id="1452" name="Google Shape;1452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3" name="Google Shape;1453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4" name="Google Shape;1454;p92"/>
          <p:cNvGrpSpPr/>
          <p:nvPr/>
        </p:nvGrpSpPr>
        <p:grpSpPr>
          <a:xfrm>
            <a:off x="3997673" y="1786578"/>
            <a:ext cx="277200" cy="277200"/>
            <a:chOff x="1020916" y="1442088"/>
            <a:chExt cx="457200" cy="457200"/>
          </a:xfrm>
        </p:grpSpPr>
        <p:pic>
          <p:nvPicPr>
            <p:cNvPr id="1455" name="Google Shape;1455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6" name="Google Shape;1456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7" name="Google Shape;1457;p92"/>
          <p:cNvGrpSpPr/>
          <p:nvPr/>
        </p:nvGrpSpPr>
        <p:grpSpPr>
          <a:xfrm>
            <a:off x="5284573" y="1009801"/>
            <a:ext cx="277200" cy="277200"/>
            <a:chOff x="1020916" y="1442088"/>
            <a:chExt cx="457200" cy="457200"/>
          </a:xfrm>
        </p:grpSpPr>
        <p:pic>
          <p:nvPicPr>
            <p:cNvPr id="1458" name="Google Shape;145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9" name="Google Shape;145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60" name="Google Shape;1460;p92"/>
          <p:cNvSpPr txBox="1"/>
          <p:nvPr/>
        </p:nvSpPr>
        <p:spPr>
          <a:xfrm>
            <a:off x="3795925" y="2191950"/>
            <a:ext cx="68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1" name="Google Shape;1461;p92"/>
          <p:cNvSpPr txBox="1"/>
          <p:nvPr/>
        </p:nvSpPr>
        <p:spPr>
          <a:xfrm>
            <a:off x="5082825" y="2191950"/>
            <a:ext cx="68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140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2" name="Google Shape;1462;p92"/>
          <p:cNvSpPr txBox="1"/>
          <p:nvPr/>
        </p:nvSpPr>
        <p:spPr>
          <a:xfrm>
            <a:off x="5082825" y="1234580"/>
            <a:ext cx="68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3" name="Google Shape;1463;p92"/>
          <p:cNvSpPr txBox="1"/>
          <p:nvPr/>
        </p:nvSpPr>
        <p:spPr>
          <a:xfrm>
            <a:off x="7673075" y="3036650"/>
            <a:ext cx="68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4" name="Google Shape;1464;p92"/>
          <p:cNvSpPr txBox="1"/>
          <p:nvPr/>
        </p:nvSpPr>
        <p:spPr>
          <a:xfrm>
            <a:off x="7673068" y="2191950"/>
            <a:ext cx="68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140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5" name="Google Shape;1465;p92"/>
          <p:cNvSpPr txBox="1"/>
          <p:nvPr/>
        </p:nvSpPr>
        <p:spPr>
          <a:xfrm>
            <a:off x="6377950" y="2191950"/>
            <a:ext cx="68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6" name="Google Shape;1466;p92"/>
          <p:cNvSpPr txBox="1"/>
          <p:nvPr/>
        </p:nvSpPr>
        <p:spPr>
          <a:xfrm>
            <a:off x="5466587" y="4290200"/>
            <a:ext cx="175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568 units²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sp>
        <p:nvSpPr>
          <p:cNvPr id="1472" name="Google Shape;1472;p93"/>
          <p:cNvSpPr txBox="1"/>
          <p:nvPr/>
        </p:nvSpPr>
        <p:spPr>
          <a:xfrm>
            <a:off x="324000" y="698225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finding the area of at least three rectangles, complete the calculation to find the surface area of the cuboid which would be made from this net.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3" name="Google Shape;1473;p93"/>
          <p:cNvGrpSpPr/>
          <p:nvPr/>
        </p:nvGrpSpPr>
        <p:grpSpPr>
          <a:xfrm rot="5400000">
            <a:off x="635011" y="2018442"/>
            <a:ext cx="1014244" cy="689087"/>
            <a:chOff x="7309296" y="2227128"/>
            <a:chExt cx="1102200" cy="1138422"/>
          </a:xfrm>
        </p:grpSpPr>
        <p:sp>
          <p:nvSpPr>
            <p:cNvPr id="1474" name="Google Shape;1474;p93"/>
            <p:cNvSpPr/>
            <p:nvPr/>
          </p:nvSpPr>
          <p:spPr>
            <a:xfrm rot="-5400000">
              <a:off x="7295558" y="2639250"/>
              <a:ext cx="1129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75" name="Google Shape;1475;p9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76" name="Google Shape;1476;p93"/>
          <p:cNvGrpSpPr/>
          <p:nvPr/>
        </p:nvGrpSpPr>
        <p:grpSpPr>
          <a:xfrm>
            <a:off x="1543638" y="3325990"/>
            <a:ext cx="3073154" cy="240277"/>
            <a:chOff x="7309296" y="2227128"/>
            <a:chExt cx="1102200" cy="330278"/>
          </a:xfrm>
        </p:grpSpPr>
        <p:sp>
          <p:nvSpPr>
            <p:cNvPr id="1477" name="Google Shape;1477;p93"/>
            <p:cNvSpPr/>
            <p:nvPr/>
          </p:nvSpPr>
          <p:spPr>
            <a:xfrm>
              <a:off x="7522018" y="2236706"/>
              <a:ext cx="6768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25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78" name="Google Shape;1478;p9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id="1479" name="Google Shape;147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700" y="1454500"/>
            <a:ext cx="6952300" cy="182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0" name="Google Shape;1480;p93"/>
          <p:cNvGrpSpPr/>
          <p:nvPr/>
        </p:nvGrpSpPr>
        <p:grpSpPr>
          <a:xfrm>
            <a:off x="7670693" y="2997115"/>
            <a:ext cx="1101872" cy="240269"/>
            <a:chOff x="6149975" y="2227128"/>
            <a:chExt cx="3420900" cy="330267"/>
          </a:xfrm>
        </p:grpSpPr>
        <p:sp>
          <p:nvSpPr>
            <p:cNvPr id="1481" name="Google Shape;1481;p93"/>
            <p:cNvSpPr/>
            <p:nvPr/>
          </p:nvSpPr>
          <p:spPr>
            <a:xfrm>
              <a:off x="6149975" y="2236695"/>
              <a:ext cx="34209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82" name="Google Shape;1482;p9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83" name="Google Shape;1483;p93"/>
          <p:cNvSpPr txBox="1"/>
          <p:nvPr/>
        </p:nvSpPr>
        <p:spPr>
          <a:xfrm>
            <a:off x="324000" y="4161000"/>
            <a:ext cx="377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surface area of this cuboid is: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93"/>
          <p:cNvSpPr txBox="1"/>
          <p:nvPr/>
        </p:nvSpPr>
        <p:spPr>
          <a:xfrm>
            <a:off x="4092549" y="4161000"/>
            <a:ext cx="433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2(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93"/>
          <p:cNvSpPr txBox="1"/>
          <p:nvPr/>
        </p:nvSpPr>
        <p:spPr>
          <a:xfrm>
            <a:off x="4365875" y="4092475"/>
            <a:ext cx="57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375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6" name="Google Shape;1486;p93"/>
          <p:cNvSpPr txBox="1"/>
          <p:nvPr/>
        </p:nvSpPr>
        <p:spPr>
          <a:xfrm>
            <a:off x="5205722" y="4092475"/>
            <a:ext cx="57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7" name="Google Shape;1487;p93"/>
          <p:cNvSpPr txBox="1"/>
          <p:nvPr/>
        </p:nvSpPr>
        <p:spPr>
          <a:xfrm>
            <a:off x="6045572" y="4092475"/>
            <a:ext cx="57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8" name="Google Shape;1488;p93"/>
          <p:cNvSpPr txBox="1"/>
          <p:nvPr/>
        </p:nvSpPr>
        <p:spPr>
          <a:xfrm>
            <a:off x="7025551" y="4092475"/>
            <a:ext cx="83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1390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89" name="Google Shape;1489;p93"/>
          <p:cNvGrpSpPr/>
          <p:nvPr/>
        </p:nvGrpSpPr>
        <p:grpSpPr>
          <a:xfrm rot="5400000">
            <a:off x="1014498" y="2752959"/>
            <a:ext cx="355019" cy="589312"/>
            <a:chOff x="7309296" y="2227128"/>
            <a:chExt cx="1102200" cy="810051"/>
          </a:xfrm>
        </p:grpSpPr>
        <p:sp>
          <p:nvSpPr>
            <p:cNvPr id="1490" name="Google Shape;1490;p93"/>
            <p:cNvSpPr/>
            <p:nvPr/>
          </p:nvSpPr>
          <p:spPr>
            <a:xfrm rot="-5400000">
              <a:off x="7455371" y="2270079"/>
              <a:ext cx="810000" cy="7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91" name="Google Shape;1491;p93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94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Nets of cuboids</a:t>
            </a:r>
            <a:endParaRPr/>
          </a:p>
        </p:txBody>
      </p:sp>
      <p:sp>
        <p:nvSpPr>
          <p:cNvPr id="1497" name="Google Shape;1497;p94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nets</a:t>
            </a:r>
            <a:endParaRPr/>
          </a:p>
        </p:txBody>
      </p:sp>
      <p:sp>
        <p:nvSpPr>
          <p:cNvPr id="1498" name="Google Shape;1498;p94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499" name="Google Shape;1499;p94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</a:t>
            </a:r>
            <a:endParaRPr/>
          </a:p>
        </p:txBody>
      </p:sp>
      <p:pic>
        <p:nvPicPr>
          <p:cNvPr id="1500" name="Google Shape;150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61" y="37004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" name="Google Shape;150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4600" y="1174350"/>
            <a:ext cx="3354901" cy="24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grpSp>
        <p:nvGrpSpPr>
          <p:cNvPr id="1507" name="Google Shape;1507;p95"/>
          <p:cNvGrpSpPr/>
          <p:nvPr/>
        </p:nvGrpSpPr>
        <p:grpSpPr>
          <a:xfrm rot="1800276">
            <a:off x="4768731" y="3356317"/>
            <a:ext cx="1586610" cy="232070"/>
            <a:chOff x="7188355" y="2227128"/>
            <a:chExt cx="1424700" cy="372922"/>
          </a:xfrm>
        </p:grpSpPr>
        <p:sp>
          <p:nvSpPr>
            <p:cNvPr id="1508" name="Google Shape;1508;p95"/>
            <p:cNvSpPr/>
            <p:nvPr/>
          </p:nvSpPr>
          <p:spPr>
            <a:xfrm>
              <a:off x="7188355" y="2343850"/>
              <a:ext cx="1424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15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09" name="Google Shape;1509;p95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10" name="Google Shape;1510;p95"/>
          <p:cNvGrpSpPr/>
          <p:nvPr/>
        </p:nvGrpSpPr>
        <p:grpSpPr>
          <a:xfrm rot="-1799955">
            <a:off x="6096172" y="3086769"/>
            <a:ext cx="2161683" cy="232075"/>
            <a:chOff x="7309296" y="2227128"/>
            <a:chExt cx="1102200" cy="372930"/>
          </a:xfrm>
        </p:grpSpPr>
        <p:sp>
          <p:nvSpPr>
            <p:cNvPr id="1511" name="Google Shape;1511;p95"/>
            <p:cNvSpPr/>
            <p:nvPr/>
          </p:nvSpPr>
          <p:spPr>
            <a:xfrm>
              <a:off x="7529581" y="2343858"/>
              <a:ext cx="742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20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12" name="Google Shape;1512;p95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13" name="Google Shape;1513;p95"/>
          <p:cNvGrpSpPr/>
          <p:nvPr/>
        </p:nvGrpSpPr>
        <p:grpSpPr>
          <a:xfrm rot="5400599">
            <a:off x="4449025" y="2557229"/>
            <a:ext cx="810921" cy="219511"/>
            <a:chOff x="7194296" y="2227128"/>
            <a:chExt cx="1413000" cy="372938"/>
          </a:xfrm>
        </p:grpSpPr>
        <p:sp>
          <p:nvSpPr>
            <p:cNvPr id="1514" name="Google Shape;1514;p95"/>
            <p:cNvSpPr/>
            <p:nvPr/>
          </p:nvSpPr>
          <p:spPr>
            <a:xfrm>
              <a:off x="7194296" y="2343866"/>
              <a:ext cx="14130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15" name="Google Shape;1515;p95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16" name="Google Shape;1516;p95"/>
          <p:cNvSpPr txBox="1"/>
          <p:nvPr/>
        </p:nvSpPr>
        <p:spPr>
          <a:xfrm>
            <a:off x="324000" y="802950"/>
            <a:ext cx="356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do I calculate the area of the back face of this cuboid?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95"/>
          <p:cNvSpPr txBox="1"/>
          <p:nvPr/>
        </p:nvSpPr>
        <p:spPr>
          <a:xfrm>
            <a:off x="324000" y="1679050"/>
            <a:ext cx="356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two edge lengths at the front of the cuboid…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95"/>
          <p:cNvSpPr/>
          <p:nvPr/>
        </p:nvSpPr>
        <p:spPr>
          <a:xfrm flipH="1" rot="1800623">
            <a:off x="4820441" y="2672348"/>
            <a:ext cx="1533718" cy="535203"/>
          </a:xfrm>
          <a:prstGeom prst="parallelogram">
            <a:avLst>
              <a:gd fmla="val 58352" name="adj"/>
            </a:avLst>
          </a:prstGeom>
          <a:solidFill>
            <a:srgbClr val="374CF1">
              <a:alpha val="25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× 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95"/>
          <p:cNvSpPr txBox="1"/>
          <p:nvPr/>
        </p:nvSpPr>
        <p:spPr>
          <a:xfrm>
            <a:off x="324000" y="2555150"/>
            <a:ext cx="356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Will also apply to the back of the cuboid, as front and back will always have the same dimensions.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95"/>
          <p:cNvSpPr/>
          <p:nvPr/>
        </p:nvSpPr>
        <p:spPr>
          <a:xfrm flipH="1" rot="1800623">
            <a:off x="6683419" y="1600256"/>
            <a:ext cx="1533718" cy="535203"/>
          </a:xfrm>
          <a:prstGeom prst="parallelogram">
            <a:avLst>
              <a:gd fmla="val 58352" name="adj"/>
            </a:avLst>
          </a:prstGeom>
          <a:solidFill>
            <a:srgbClr val="374CF1">
              <a:alpha val="25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BABFE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1" name="Google Shape;1521;p95"/>
          <p:cNvGrpSpPr/>
          <p:nvPr/>
        </p:nvGrpSpPr>
        <p:grpSpPr>
          <a:xfrm rot="-5399401">
            <a:off x="7798639" y="2040677"/>
            <a:ext cx="810921" cy="219511"/>
            <a:chOff x="7194296" y="2227128"/>
            <a:chExt cx="1413000" cy="372938"/>
          </a:xfrm>
        </p:grpSpPr>
        <p:sp>
          <p:nvSpPr>
            <p:cNvPr id="1522" name="Google Shape;1522;p95"/>
            <p:cNvSpPr/>
            <p:nvPr/>
          </p:nvSpPr>
          <p:spPr>
            <a:xfrm>
              <a:off x="7194296" y="2343866"/>
              <a:ext cx="14130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23" name="Google Shape;1523;p95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24" name="Google Shape;1524;p95"/>
          <p:cNvGrpSpPr/>
          <p:nvPr/>
        </p:nvGrpSpPr>
        <p:grpSpPr>
          <a:xfrm rot="1800276">
            <a:off x="6772301" y="1321574"/>
            <a:ext cx="1586610" cy="181431"/>
            <a:chOff x="7188355" y="2343850"/>
            <a:chExt cx="1424700" cy="291549"/>
          </a:xfrm>
        </p:grpSpPr>
        <p:sp>
          <p:nvSpPr>
            <p:cNvPr id="1525" name="Google Shape;1525;p95"/>
            <p:cNvSpPr/>
            <p:nvPr/>
          </p:nvSpPr>
          <p:spPr>
            <a:xfrm>
              <a:off x="7188355" y="2343850"/>
              <a:ext cx="1424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15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26" name="Google Shape;1526;p95"/>
            <p:cNvCxnSpPr/>
            <p:nvPr/>
          </p:nvCxnSpPr>
          <p:spPr>
            <a:xfrm>
              <a:off x="7320797" y="2635399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27" name="Google Shape;1527;p95"/>
          <p:cNvSpPr txBox="1"/>
          <p:nvPr/>
        </p:nvSpPr>
        <p:spPr>
          <a:xfrm>
            <a:off x="324000" y="3925800"/>
            <a:ext cx="35619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of the back face is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× 15 = 90 units²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533" name="Google Shape;1533;p96"/>
          <p:cNvSpPr txBox="1"/>
          <p:nvPr/>
        </p:nvSpPr>
        <p:spPr>
          <a:xfrm>
            <a:off x="324000" y="802950"/>
            <a:ext cx="4043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two edge lengths define the hidden face (marked a)?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Hence,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area of this face?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4" name="Google Shape;1534;p96"/>
          <p:cNvPicPr preferRelativeResize="0"/>
          <p:nvPr/>
        </p:nvPicPr>
        <p:blipFill rotWithShape="1">
          <a:blip r:embed="rId3">
            <a:alphaModFix/>
          </a:blip>
          <a:srcRect b="0" l="0" r="12533" t="8433"/>
          <a:stretch/>
        </p:blipFill>
        <p:spPr>
          <a:xfrm>
            <a:off x="4627313" y="1080000"/>
            <a:ext cx="3310475" cy="26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5" name="Google Shape;1535;p96"/>
          <p:cNvSpPr/>
          <p:nvPr/>
        </p:nvSpPr>
        <p:spPr>
          <a:xfrm rot="-1799851">
            <a:off x="4482646" y="1461926"/>
            <a:ext cx="1443109" cy="619746"/>
          </a:xfrm>
          <a:prstGeom prst="parallelogram">
            <a:avLst>
              <a:gd fmla="val 58352" name="adj"/>
            </a:avLst>
          </a:prstGeom>
          <a:solidFill>
            <a:srgbClr val="374CF1">
              <a:alpha val="25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6" name="Google Shape;1536;p96"/>
          <p:cNvGrpSpPr/>
          <p:nvPr/>
        </p:nvGrpSpPr>
        <p:grpSpPr>
          <a:xfrm rot="1800284">
            <a:off x="4448792" y="3106587"/>
            <a:ext cx="2532052" cy="232075"/>
            <a:chOff x="7309296" y="2227128"/>
            <a:chExt cx="1102200" cy="372931"/>
          </a:xfrm>
        </p:grpSpPr>
        <p:sp>
          <p:nvSpPr>
            <p:cNvPr id="1537" name="Google Shape;1537;p96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30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38" name="Google Shape;1538;p96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39" name="Google Shape;1539;p96"/>
          <p:cNvGrpSpPr/>
          <p:nvPr/>
        </p:nvGrpSpPr>
        <p:grpSpPr>
          <a:xfrm rot="-1799973">
            <a:off x="6924992" y="3453863"/>
            <a:ext cx="1150585" cy="232077"/>
            <a:chOff x="7309296" y="2227128"/>
            <a:chExt cx="1148503" cy="372934"/>
          </a:xfrm>
        </p:grpSpPr>
        <p:sp>
          <p:nvSpPr>
            <p:cNvPr id="1540" name="Google Shape;1540;p96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12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1" name="Google Shape;1541;p96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42" name="Google Shape;1542;p96"/>
          <p:cNvGrpSpPr/>
          <p:nvPr/>
        </p:nvGrpSpPr>
        <p:grpSpPr>
          <a:xfrm rot="-5399501">
            <a:off x="7968866" y="2370328"/>
            <a:ext cx="759967" cy="821623"/>
            <a:chOff x="7309296" y="2219359"/>
            <a:chExt cx="1102200" cy="1320300"/>
          </a:xfrm>
        </p:grpSpPr>
        <p:sp>
          <p:nvSpPr>
            <p:cNvPr id="1543" name="Google Shape;1543;p96"/>
            <p:cNvSpPr/>
            <p:nvPr/>
          </p:nvSpPr>
          <p:spPr>
            <a:xfrm rot="5400000">
              <a:off x="7200254" y="2800009"/>
              <a:ext cx="13203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4" name="Google Shape;1544;p96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45" name="Google Shape;1545;p96"/>
          <p:cNvSpPr txBox="1"/>
          <p:nvPr/>
        </p:nvSpPr>
        <p:spPr>
          <a:xfrm>
            <a:off x="324000" y="2489025"/>
            <a:ext cx="383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 and 7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rea = 7 × 12 = 84 units²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97"/>
          <p:cNvSpPr txBox="1"/>
          <p:nvPr/>
        </p:nvSpPr>
        <p:spPr>
          <a:xfrm>
            <a:off x="324000" y="4146300"/>
            <a:ext cx="226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otal surface area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97"/>
          <p:cNvSpPr txBox="1"/>
          <p:nvPr/>
        </p:nvSpPr>
        <p:spPr>
          <a:xfrm>
            <a:off x="2562830" y="4146300"/>
            <a:ext cx="316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 + 28 + 10 + 10 + 70 + 70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553" name="Google Shape;1553;p97"/>
          <p:cNvSpPr txBox="1"/>
          <p:nvPr/>
        </p:nvSpPr>
        <p:spPr>
          <a:xfrm>
            <a:off x="324000" y="802950"/>
            <a:ext cx="356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find the surface area of this cuboid, we can add together all the faces one at a time.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4" name="Google Shape;1554;p97"/>
          <p:cNvPicPr preferRelativeResize="0"/>
          <p:nvPr/>
        </p:nvPicPr>
        <p:blipFill rotWithShape="1">
          <a:blip r:embed="rId3">
            <a:alphaModFix/>
          </a:blip>
          <a:srcRect b="3025" l="0" r="3855" t="0"/>
          <a:stretch/>
        </p:blipFill>
        <p:spPr>
          <a:xfrm>
            <a:off x="4490085" y="802950"/>
            <a:ext cx="3767672" cy="25313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5" name="Google Shape;1555;p97"/>
          <p:cNvGrpSpPr/>
          <p:nvPr/>
        </p:nvGrpSpPr>
        <p:grpSpPr>
          <a:xfrm rot="1800320">
            <a:off x="4280134" y="2657555"/>
            <a:ext cx="2760786" cy="212476"/>
            <a:chOff x="7309296" y="2227128"/>
            <a:chExt cx="1102200" cy="372931"/>
          </a:xfrm>
        </p:grpSpPr>
        <p:sp>
          <p:nvSpPr>
            <p:cNvPr id="1556" name="Google Shape;1556;p97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14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57" name="Google Shape;1557;p97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58" name="Google Shape;1558;p97"/>
          <p:cNvGrpSpPr/>
          <p:nvPr/>
        </p:nvGrpSpPr>
        <p:grpSpPr>
          <a:xfrm rot="-1799839">
            <a:off x="6992489" y="2996148"/>
            <a:ext cx="1413003" cy="212478"/>
            <a:chOff x="7309296" y="2227128"/>
            <a:chExt cx="1148503" cy="372934"/>
          </a:xfrm>
        </p:grpSpPr>
        <p:sp>
          <p:nvSpPr>
            <p:cNvPr id="1559" name="Google Shape;1559;p97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60" name="Google Shape;1560;p97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61" name="Google Shape;1561;p97"/>
          <p:cNvGrpSpPr/>
          <p:nvPr/>
        </p:nvGrpSpPr>
        <p:grpSpPr>
          <a:xfrm rot="-5399046">
            <a:off x="8409970" y="2070397"/>
            <a:ext cx="397233" cy="752175"/>
            <a:chOff x="7309296" y="2219359"/>
            <a:chExt cx="1102200" cy="1320300"/>
          </a:xfrm>
        </p:grpSpPr>
        <p:sp>
          <p:nvSpPr>
            <p:cNvPr id="1562" name="Google Shape;1562;p97"/>
            <p:cNvSpPr/>
            <p:nvPr/>
          </p:nvSpPr>
          <p:spPr>
            <a:xfrm rot="5400000">
              <a:off x="7200254" y="2800009"/>
              <a:ext cx="13203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63" name="Google Shape;1563;p97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64" name="Google Shape;1564;p97"/>
          <p:cNvSpPr/>
          <p:nvPr/>
        </p:nvSpPr>
        <p:spPr>
          <a:xfrm flipH="1" rot="1799987">
            <a:off x="4308764" y="2266836"/>
            <a:ext cx="2935820" cy="298244"/>
          </a:xfrm>
          <a:prstGeom prst="parallelogram">
            <a:avLst>
              <a:gd fmla="val 58352" name="adj"/>
            </a:avLst>
          </a:prstGeom>
          <a:solidFill>
            <a:srgbClr val="374CF1">
              <a:alpha val="25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97"/>
          <p:cNvSpPr txBox="1"/>
          <p:nvPr/>
        </p:nvSpPr>
        <p:spPr>
          <a:xfrm>
            <a:off x="476400" y="2128500"/>
            <a:ext cx="356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ront = 14 × 2 = 28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97"/>
          <p:cNvSpPr/>
          <p:nvPr/>
        </p:nvSpPr>
        <p:spPr>
          <a:xfrm flipH="1" rot="1799987">
            <a:off x="5503116" y="1579624"/>
            <a:ext cx="2935820" cy="298244"/>
          </a:xfrm>
          <a:prstGeom prst="parallelogram">
            <a:avLst>
              <a:gd fmla="val 58352" name="adj"/>
            </a:avLst>
          </a:prstGeom>
          <a:solidFill>
            <a:srgbClr val="374CF1">
              <a:alpha val="25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97"/>
          <p:cNvSpPr txBox="1"/>
          <p:nvPr/>
        </p:nvSpPr>
        <p:spPr>
          <a:xfrm>
            <a:off x="476400" y="2464800"/>
            <a:ext cx="356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back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14 × 2 = 28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97"/>
          <p:cNvSpPr txBox="1"/>
          <p:nvPr/>
        </p:nvSpPr>
        <p:spPr>
          <a:xfrm>
            <a:off x="476400" y="2801100"/>
            <a:ext cx="356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5 × 2 =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97"/>
          <p:cNvSpPr/>
          <p:nvPr/>
        </p:nvSpPr>
        <p:spPr>
          <a:xfrm rot="-1800069">
            <a:off x="6793285" y="2615648"/>
            <a:ext cx="1555746" cy="302672"/>
          </a:xfrm>
          <a:prstGeom prst="parallelogram">
            <a:avLst>
              <a:gd fmla="val 58352" name="adj"/>
            </a:avLst>
          </a:prstGeom>
          <a:solidFill>
            <a:srgbClr val="374CF1">
              <a:alpha val="25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97"/>
          <p:cNvSpPr txBox="1"/>
          <p:nvPr/>
        </p:nvSpPr>
        <p:spPr>
          <a:xfrm>
            <a:off x="476400" y="3137400"/>
            <a:ext cx="356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left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5 × 2 =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97"/>
          <p:cNvSpPr txBox="1"/>
          <p:nvPr/>
        </p:nvSpPr>
        <p:spPr>
          <a:xfrm>
            <a:off x="476400" y="3473700"/>
            <a:ext cx="356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bottom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14 × 5 = 70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97"/>
          <p:cNvSpPr txBox="1"/>
          <p:nvPr/>
        </p:nvSpPr>
        <p:spPr>
          <a:xfrm>
            <a:off x="476400" y="3810000"/>
            <a:ext cx="356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14 × 5 = 70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97"/>
          <p:cNvSpPr/>
          <p:nvPr/>
        </p:nvSpPr>
        <p:spPr>
          <a:xfrm rot="-1800069">
            <a:off x="4405230" y="1237329"/>
            <a:ext cx="1555746" cy="302672"/>
          </a:xfrm>
          <a:prstGeom prst="parallelogram">
            <a:avLst>
              <a:gd fmla="val 58352" name="adj"/>
            </a:avLst>
          </a:prstGeom>
          <a:solidFill>
            <a:srgbClr val="374CF1">
              <a:alpha val="25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97"/>
          <p:cNvSpPr/>
          <p:nvPr/>
        </p:nvSpPr>
        <p:spPr>
          <a:xfrm flipH="1" rot="-1800018">
            <a:off x="4999033" y="1059122"/>
            <a:ext cx="2762976" cy="2382907"/>
          </a:xfrm>
          <a:prstGeom prst="parallelogram">
            <a:avLst>
              <a:gd fmla="val 58352" name="adj"/>
            </a:avLst>
          </a:prstGeom>
          <a:solidFill>
            <a:srgbClr val="374CF1">
              <a:alpha val="25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97"/>
          <p:cNvSpPr/>
          <p:nvPr/>
        </p:nvSpPr>
        <p:spPr>
          <a:xfrm flipH="1" rot="-1800018">
            <a:off x="4998299" y="716886"/>
            <a:ext cx="2762976" cy="2382907"/>
          </a:xfrm>
          <a:prstGeom prst="parallelogram">
            <a:avLst>
              <a:gd fmla="val 58352" name="adj"/>
            </a:avLst>
          </a:prstGeom>
          <a:solidFill>
            <a:srgbClr val="374CF1">
              <a:alpha val="25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97"/>
          <p:cNvSpPr txBox="1"/>
          <p:nvPr/>
        </p:nvSpPr>
        <p:spPr>
          <a:xfrm>
            <a:off x="5684450" y="4146300"/>
            <a:ext cx="98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216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98"/>
          <p:cNvSpPr txBox="1"/>
          <p:nvPr/>
        </p:nvSpPr>
        <p:spPr>
          <a:xfrm>
            <a:off x="324000" y="650550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speed up this process, you can use the fact that opposite faces have the same area.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Rather than adding the same-sized face twice…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</a:t>
            </a:r>
            <a:r>
              <a:rPr lang="en-GB" sz="18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double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 area of one face to account for its opposite face.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98"/>
          <p:cNvSpPr/>
          <p:nvPr/>
        </p:nvSpPr>
        <p:spPr>
          <a:xfrm>
            <a:off x="324000" y="2128500"/>
            <a:ext cx="2661600" cy="635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584" name="Google Shape;1584;p98"/>
          <p:cNvSpPr txBox="1"/>
          <p:nvPr/>
        </p:nvSpPr>
        <p:spPr>
          <a:xfrm>
            <a:off x="476400" y="2128500"/>
            <a:ext cx="23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= 14 × 2 = 28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98"/>
          <p:cNvSpPr txBox="1"/>
          <p:nvPr/>
        </p:nvSpPr>
        <p:spPr>
          <a:xfrm>
            <a:off x="476400" y="2464800"/>
            <a:ext cx="23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back = 14 × 2 = 28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98"/>
          <p:cNvSpPr txBox="1"/>
          <p:nvPr/>
        </p:nvSpPr>
        <p:spPr>
          <a:xfrm>
            <a:off x="476400" y="2801100"/>
            <a:ext cx="23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 = 5 × 2 =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98"/>
          <p:cNvSpPr txBox="1"/>
          <p:nvPr/>
        </p:nvSpPr>
        <p:spPr>
          <a:xfrm>
            <a:off x="476400" y="3137400"/>
            <a:ext cx="23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left = 5 × 2 =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98"/>
          <p:cNvSpPr txBox="1"/>
          <p:nvPr/>
        </p:nvSpPr>
        <p:spPr>
          <a:xfrm>
            <a:off x="476400" y="3473700"/>
            <a:ext cx="23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bottom = 14 × 5 = 70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98"/>
          <p:cNvSpPr txBox="1"/>
          <p:nvPr/>
        </p:nvSpPr>
        <p:spPr>
          <a:xfrm>
            <a:off x="476400" y="3810000"/>
            <a:ext cx="23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= 14 × 5 = 70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0" name="Google Shape;1590;p98"/>
          <p:cNvGrpSpPr/>
          <p:nvPr/>
        </p:nvGrpSpPr>
        <p:grpSpPr>
          <a:xfrm>
            <a:off x="3138000" y="2307600"/>
            <a:ext cx="5001300" cy="277200"/>
            <a:chOff x="2985600" y="2002800"/>
            <a:chExt cx="5001300" cy="277200"/>
          </a:xfrm>
        </p:grpSpPr>
        <p:sp>
          <p:nvSpPr>
            <p:cNvPr id="1591" name="Google Shape;1591;p98"/>
            <p:cNvSpPr txBox="1"/>
            <p:nvPr/>
          </p:nvSpPr>
          <p:spPr>
            <a:xfrm>
              <a:off x="2985600" y="2002800"/>
              <a:ext cx="500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front and back = 14 × 2 </a:t>
              </a:r>
              <a:r>
                <a:rPr lang="en-GB" sz="1800">
                  <a:solidFill>
                    <a:srgbClr val="374CF1"/>
                  </a:solidFill>
                  <a:latin typeface="Lexend"/>
                  <a:ea typeface="Lexend"/>
                  <a:cs typeface="Lexend"/>
                  <a:sym typeface="Lexend"/>
                </a:rPr>
                <a:t>× 2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= 56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2" name="Google Shape;1592;p98"/>
            <p:cNvSpPr/>
            <p:nvPr/>
          </p:nvSpPr>
          <p:spPr>
            <a:xfrm>
              <a:off x="5536850" y="2002800"/>
              <a:ext cx="382200" cy="277200"/>
            </a:xfrm>
            <a:prstGeom prst="rect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3" name="Google Shape;1593;p98"/>
          <p:cNvSpPr/>
          <p:nvPr/>
        </p:nvSpPr>
        <p:spPr>
          <a:xfrm>
            <a:off x="324000" y="2790150"/>
            <a:ext cx="2661600" cy="635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4" name="Google Shape;1594;p98"/>
          <p:cNvGrpSpPr/>
          <p:nvPr/>
        </p:nvGrpSpPr>
        <p:grpSpPr>
          <a:xfrm>
            <a:off x="3138000" y="2969250"/>
            <a:ext cx="5001300" cy="277200"/>
            <a:chOff x="2985600" y="2002800"/>
            <a:chExt cx="5001300" cy="277200"/>
          </a:xfrm>
        </p:grpSpPr>
        <p:sp>
          <p:nvSpPr>
            <p:cNvPr id="1595" name="Google Shape;1595;p98"/>
            <p:cNvSpPr txBox="1"/>
            <p:nvPr/>
          </p:nvSpPr>
          <p:spPr>
            <a:xfrm>
              <a:off x="2985600" y="2002800"/>
              <a:ext cx="500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right and left = 5 × 2 </a:t>
              </a:r>
              <a:r>
                <a:rPr lang="en-GB" sz="1800">
                  <a:solidFill>
                    <a:srgbClr val="374CF1"/>
                  </a:solidFill>
                  <a:latin typeface="Lexend"/>
                  <a:ea typeface="Lexend"/>
                  <a:cs typeface="Lexend"/>
                  <a:sym typeface="Lexend"/>
                </a:rPr>
                <a:t>× 2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= 20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6" name="Google Shape;1596;p98"/>
            <p:cNvSpPr/>
            <p:nvPr/>
          </p:nvSpPr>
          <p:spPr>
            <a:xfrm>
              <a:off x="5216969" y="2002800"/>
              <a:ext cx="382200" cy="277200"/>
            </a:xfrm>
            <a:prstGeom prst="rect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7" name="Google Shape;1597;p98"/>
          <p:cNvSpPr/>
          <p:nvPr/>
        </p:nvSpPr>
        <p:spPr>
          <a:xfrm>
            <a:off x="324000" y="3451800"/>
            <a:ext cx="2661600" cy="635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98" name="Google Shape;1598;p98"/>
          <p:cNvGrpSpPr/>
          <p:nvPr/>
        </p:nvGrpSpPr>
        <p:grpSpPr>
          <a:xfrm>
            <a:off x="3138000" y="3630900"/>
            <a:ext cx="5001300" cy="277200"/>
            <a:chOff x="2985600" y="2002800"/>
            <a:chExt cx="5001300" cy="277200"/>
          </a:xfrm>
        </p:grpSpPr>
        <p:sp>
          <p:nvSpPr>
            <p:cNvPr id="1599" name="Google Shape;1599;p98"/>
            <p:cNvSpPr txBox="1"/>
            <p:nvPr/>
          </p:nvSpPr>
          <p:spPr>
            <a:xfrm>
              <a:off x="2985600" y="2002800"/>
              <a:ext cx="500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bottom and top = 14 × 5 </a:t>
              </a:r>
              <a:r>
                <a:rPr lang="en-GB" sz="1800">
                  <a:solidFill>
                    <a:srgbClr val="374CF1"/>
                  </a:solidFill>
                  <a:latin typeface="Lexend"/>
                  <a:ea typeface="Lexend"/>
                  <a:cs typeface="Lexend"/>
                  <a:sym typeface="Lexend"/>
                </a:rPr>
                <a:t>× 2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 = 140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0" name="Google Shape;1600;p98"/>
            <p:cNvSpPr/>
            <p:nvPr/>
          </p:nvSpPr>
          <p:spPr>
            <a:xfrm>
              <a:off x="5633247" y="2002800"/>
              <a:ext cx="382200" cy="277200"/>
            </a:xfrm>
            <a:prstGeom prst="rect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01" name="Google Shape;1601;p98"/>
          <p:cNvSpPr txBox="1"/>
          <p:nvPr/>
        </p:nvSpPr>
        <p:spPr>
          <a:xfrm>
            <a:off x="6801550" y="2058300"/>
            <a:ext cx="2018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multiply by 2 makes sure you are accounting for both the front and back!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98"/>
          <p:cNvSpPr txBox="1"/>
          <p:nvPr/>
        </p:nvSpPr>
        <p:spPr>
          <a:xfrm>
            <a:off x="1009800" y="4374900"/>
            <a:ext cx="226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total surface area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98"/>
          <p:cNvSpPr txBox="1"/>
          <p:nvPr/>
        </p:nvSpPr>
        <p:spPr>
          <a:xfrm>
            <a:off x="3248627" y="4374900"/>
            <a:ext cx="173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56 + 20 + 140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98"/>
          <p:cNvSpPr txBox="1"/>
          <p:nvPr/>
        </p:nvSpPr>
        <p:spPr>
          <a:xfrm>
            <a:off x="4988325" y="4374900"/>
            <a:ext cx="98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216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99"/>
          <p:cNvSpPr txBox="1"/>
          <p:nvPr/>
        </p:nvSpPr>
        <p:spPr>
          <a:xfrm>
            <a:off x="324000" y="650550"/>
            <a:ext cx="84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Alternatively, we can save the doubling for the very end, after we have added the individual areas together.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99"/>
          <p:cNvSpPr/>
          <p:nvPr/>
        </p:nvSpPr>
        <p:spPr>
          <a:xfrm>
            <a:off x="324000" y="1518900"/>
            <a:ext cx="2661600" cy="635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612" name="Google Shape;1612;p99"/>
          <p:cNvSpPr txBox="1"/>
          <p:nvPr/>
        </p:nvSpPr>
        <p:spPr>
          <a:xfrm>
            <a:off x="476400" y="1518900"/>
            <a:ext cx="23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= 14 × 2 = 28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3" name="Google Shape;1613;p99"/>
          <p:cNvSpPr txBox="1"/>
          <p:nvPr/>
        </p:nvSpPr>
        <p:spPr>
          <a:xfrm>
            <a:off x="476400" y="1855200"/>
            <a:ext cx="23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back = 14 × 2 = 28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99"/>
          <p:cNvSpPr txBox="1"/>
          <p:nvPr/>
        </p:nvSpPr>
        <p:spPr>
          <a:xfrm>
            <a:off x="476400" y="2191500"/>
            <a:ext cx="23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 = 5 × 2 =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99"/>
          <p:cNvSpPr txBox="1"/>
          <p:nvPr/>
        </p:nvSpPr>
        <p:spPr>
          <a:xfrm>
            <a:off x="476400" y="2527800"/>
            <a:ext cx="23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left = 5 × 2 =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99"/>
          <p:cNvSpPr txBox="1"/>
          <p:nvPr/>
        </p:nvSpPr>
        <p:spPr>
          <a:xfrm>
            <a:off x="476400" y="2864100"/>
            <a:ext cx="23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bottom = 14 × 5 = 70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99"/>
          <p:cNvSpPr txBox="1"/>
          <p:nvPr/>
        </p:nvSpPr>
        <p:spPr>
          <a:xfrm>
            <a:off x="476400" y="3200400"/>
            <a:ext cx="231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= 14 × 5 = 70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99"/>
          <p:cNvSpPr txBox="1"/>
          <p:nvPr/>
        </p:nvSpPr>
        <p:spPr>
          <a:xfrm>
            <a:off x="3138000" y="1698000"/>
            <a:ext cx="500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ront = 14 × 2 = 28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99"/>
          <p:cNvSpPr/>
          <p:nvPr/>
        </p:nvSpPr>
        <p:spPr>
          <a:xfrm>
            <a:off x="324000" y="2180550"/>
            <a:ext cx="2661600" cy="635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99"/>
          <p:cNvSpPr txBox="1"/>
          <p:nvPr/>
        </p:nvSpPr>
        <p:spPr>
          <a:xfrm>
            <a:off x="3138000" y="2359650"/>
            <a:ext cx="500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5 × 2 =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99"/>
          <p:cNvSpPr/>
          <p:nvPr/>
        </p:nvSpPr>
        <p:spPr>
          <a:xfrm>
            <a:off x="324000" y="2842200"/>
            <a:ext cx="2661600" cy="6354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99"/>
          <p:cNvSpPr txBox="1"/>
          <p:nvPr/>
        </p:nvSpPr>
        <p:spPr>
          <a:xfrm>
            <a:off x="3138000" y="3021300"/>
            <a:ext cx="500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bottom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14 × 5 = 70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99"/>
          <p:cNvSpPr txBox="1"/>
          <p:nvPr/>
        </p:nvSpPr>
        <p:spPr>
          <a:xfrm>
            <a:off x="3248625" y="3816100"/>
            <a:ext cx="157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 + 10 + 70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99"/>
          <p:cNvSpPr txBox="1"/>
          <p:nvPr/>
        </p:nvSpPr>
        <p:spPr>
          <a:xfrm>
            <a:off x="4824000" y="3816100"/>
            <a:ext cx="98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99"/>
          <p:cNvSpPr txBox="1"/>
          <p:nvPr/>
        </p:nvSpPr>
        <p:spPr>
          <a:xfrm>
            <a:off x="3248625" y="4230600"/>
            <a:ext cx="98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108 </a:t>
            </a:r>
            <a:r>
              <a:rPr lang="en-GB" sz="18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99"/>
          <p:cNvSpPr txBox="1"/>
          <p:nvPr/>
        </p:nvSpPr>
        <p:spPr>
          <a:xfrm>
            <a:off x="4272103" y="4230600"/>
            <a:ext cx="98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216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99"/>
          <p:cNvSpPr txBox="1"/>
          <p:nvPr/>
        </p:nvSpPr>
        <p:spPr>
          <a:xfrm>
            <a:off x="6067775" y="3816100"/>
            <a:ext cx="275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2(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 + 10 + 70</a:t>
            </a:r>
            <a:r>
              <a:rPr lang="en-GB" sz="18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216 cm²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99"/>
          <p:cNvSpPr txBox="1"/>
          <p:nvPr/>
        </p:nvSpPr>
        <p:spPr>
          <a:xfrm>
            <a:off x="6367175" y="2864100"/>
            <a:ext cx="245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can also be represented using brackets: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00"/>
          <p:cNvSpPr txBox="1"/>
          <p:nvPr/>
        </p:nvSpPr>
        <p:spPr>
          <a:xfrm>
            <a:off x="324000" y="2601850"/>
            <a:ext cx="500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 and left = 20 × 10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00"/>
          <p:cNvSpPr txBox="1"/>
          <p:nvPr/>
        </p:nvSpPr>
        <p:spPr>
          <a:xfrm>
            <a:off x="324000" y="3263500"/>
            <a:ext cx="500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bottom and top =      ×      ×      = 320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5" name="Google Shape;1635;p100"/>
          <p:cNvPicPr preferRelativeResize="0"/>
          <p:nvPr/>
        </p:nvPicPr>
        <p:blipFill rotWithShape="1">
          <a:blip r:embed="rId3">
            <a:alphaModFix/>
          </a:blip>
          <a:srcRect b="0" l="0" r="0" t="3119"/>
          <a:stretch/>
        </p:blipFill>
        <p:spPr>
          <a:xfrm>
            <a:off x="6134650" y="804325"/>
            <a:ext cx="2412926" cy="24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grpSp>
        <p:nvGrpSpPr>
          <p:cNvPr id="1637" name="Google Shape;1637;p100"/>
          <p:cNvGrpSpPr/>
          <p:nvPr/>
        </p:nvGrpSpPr>
        <p:grpSpPr>
          <a:xfrm rot="1813883">
            <a:off x="6013269" y="2999607"/>
            <a:ext cx="816318" cy="231829"/>
            <a:chOff x="7309296" y="2227128"/>
            <a:chExt cx="1102200" cy="372931"/>
          </a:xfrm>
        </p:grpSpPr>
        <p:sp>
          <p:nvSpPr>
            <p:cNvPr id="1638" name="Google Shape;1638;p100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39" name="Google Shape;1639;p10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40" name="Google Shape;1640;p100"/>
          <p:cNvSpPr txBox="1"/>
          <p:nvPr/>
        </p:nvSpPr>
        <p:spPr>
          <a:xfrm>
            <a:off x="324000" y="726750"/>
            <a:ext cx="404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the missing values in this calculation that start to find the surface area of this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1" name="Google Shape;1641;p100"/>
          <p:cNvGrpSpPr/>
          <p:nvPr/>
        </p:nvGrpSpPr>
        <p:grpSpPr>
          <a:xfrm rot="-1800014">
            <a:off x="6899882" y="2766939"/>
            <a:ext cx="1780396" cy="232077"/>
            <a:chOff x="7309296" y="2227128"/>
            <a:chExt cx="1148503" cy="372934"/>
          </a:xfrm>
        </p:grpSpPr>
        <p:sp>
          <p:nvSpPr>
            <p:cNvPr id="1642" name="Google Shape;1642;p100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20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43" name="Google Shape;1643;p10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644" name="Google Shape;1644;p100"/>
          <p:cNvGrpSpPr/>
          <p:nvPr/>
        </p:nvGrpSpPr>
        <p:grpSpPr>
          <a:xfrm flipH="1" rot="5399626">
            <a:off x="5260312" y="1926048"/>
            <a:ext cx="1012922" cy="652990"/>
            <a:chOff x="7309296" y="2219395"/>
            <a:chExt cx="1102200" cy="2258700"/>
          </a:xfrm>
        </p:grpSpPr>
        <p:sp>
          <p:nvSpPr>
            <p:cNvPr id="1645" name="Google Shape;1645;p100"/>
            <p:cNvSpPr/>
            <p:nvPr/>
          </p:nvSpPr>
          <p:spPr>
            <a:xfrm rot="5400000">
              <a:off x="6731054" y="3269245"/>
              <a:ext cx="22587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10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46" name="Google Shape;1646;p10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47" name="Google Shape;1647;p100"/>
          <p:cNvSpPr txBox="1"/>
          <p:nvPr/>
        </p:nvSpPr>
        <p:spPr>
          <a:xfrm>
            <a:off x="324000" y="1940200"/>
            <a:ext cx="500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and back = 10 × 8 </a:t>
            </a:r>
            <a:r>
              <a:rPr lang="en-GB" sz="18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= 160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8" name="Google Shape;1648;p100"/>
          <p:cNvGrpSpPr/>
          <p:nvPr/>
        </p:nvGrpSpPr>
        <p:grpSpPr>
          <a:xfrm>
            <a:off x="3005148" y="2601839"/>
            <a:ext cx="277200" cy="277200"/>
            <a:chOff x="1020916" y="1442088"/>
            <a:chExt cx="457200" cy="457200"/>
          </a:xfrm>
        </p:grpSpPr>
        <p:pic>
          <p:nvPicPr>
            <p:cNvPr id="1649" name="Google Shape;164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0" name="Google Shape;165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51" name="Google Shape;1651;p100"/>
          <p:cNvGrpSpPr/>
          <p:nvPr/>
        </p:nvGrpSpPr>
        <p:grpSpPr>
          <a:xfrm>
            <a:off x="3535023" y="2601839"/>
            <a:ext cx="277200" cy="277200"/>
            <a:chOff x="1020916" y="1442088"/>
            <a:chExt cx="457200" cy="457200"/>
          </a:xfrm>
        </p:grpSpPr>
        <p:pic>
          <p:nvPicPr>
            <p:cNvPr id="1652" name="Google Shape;165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3" name="Google Shape;165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54" name="Google Shape;1654;p100"/>
          <p:cNvGrpSpPr/>
          <p:nvPr/>
        </p:nvGrpSpPr>
        <p:grpSpPr>
          <a:xfrm>
            <a:off x="2298623" y="3263489"/>
            <a:ext cx="277200" cy="277200"/>
            <a:chOff x="1020916" y="1442088"/>
            <a:chExt cx="457200" cy="457200"/>
          </a:xfrm>
        </p:grpSpPr>
        <p:pic>
          <p:nvPicPr>
            <p:cNvPr id="1655" name="Google Shape;165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6" name="Google Shape;165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57" name="Google Shape;1657;p100"/>
          <p:cNvGrpSpPr/>
          <p:nvPr/>
        </p:nvGrpSpPr>
        <p:grpSpPr>
          <a:xfrm>
            <a:off x="2786123" y="3263489"/>
            <a:ext cx="277200" cy="277200"/>
            <a:chOff x="1020916" y="1442088"/>
            <a:chExt cx="457200" cy="457200"/>
          </a:xfrm>
        </p:grpSpPr>
        <p:pic>
          <p:nvPicPr>
            <p:cNvPr id="1658" name="Google Shape;165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9" name="Google Shape;165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0" name="Google Shape;1660;p100"/>
          <p:cNvGrpSpPr/>
          <p:nvPr/>
        </p:nvGrpSpPr>
        <p:grpSpPr>
          <a:xfrm>
            <a:off x="3273623" y="3263489"/>
            <a:ext cx="277200" cy="277200"/>
            <a:chOff x="1020916" y="1442088"/>
            <a:chExt cx="457200" cy="457200"/>
          </a:xfrm>
        </p:grpSpPr>
        <p:pic>
          <p:nvPicPr>
            <p:cNvPr id="1661" name="Google Shape;166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2" name="Google Shape;166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3" name="Google Shape;1663;p100"/>
          <p:cNvGrpSpPr/>
          <p:nvPr/>
        </p:nvGrpSpPr>
        <p:grpSpPr>
          <a:xfrm>
            <a:off x="1362973" y="4042789"/>
            <a:ext cx="277200" cy="277200"/>
            <a:chOff x="1020916" y="1442088"/>
            <a:chExt cx="457200" cy="457200"/>
          </a:xfrm>
        </p:grpSpPr>
        <p:pic>
          <p:nvPicPr>
            <p:cNvPr id="1664" name="Google Shape;1664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5" name="Google Shape;1665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6" name="Google Shape;1666;p100"/>
          <p:cNvGrpSpPr/>
          <p:nvPr/>
        </p:nvGrpSpPr>
        <p:grpSpPr>
          <a:xfrm>
            <a:off x="2076904" y="4042789"/>
            <a:ext cx="277200" cy="277200"/>
            <a:chOff x="1020916" y="1442088"/>
            <a:chExt cx="457200" cy="457200"/>
          </a:xfrm>
        </p:grpSpPr>
        <p:pic>
          <p:nvPicPr>
            <p:cNvPr id="1667" name="Google Shape;1667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8" name="Google Shape;166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9" name="Google Shape;1669;p100"/>
          <p:cNvGrpSpPr/>
          <p:nvPr/>
        </p:nvGrpSpPr>
        <p:grpSpPr>
          <a:xfrm>
            <a:off x="2790835" y="4042789"/>
            <a:ext cx="277200" cy="277200"/>
            <a:chOff x="1020916" y="1442088"/>
            <a:chExt cx="457200" cy="457200"/>
          </a:xfrm>
        </p:grpSpPr>
        <p:pic>
          <p:nvPicPr>
            <p:cNvPr id="1670" name="Google Shape;1670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1" name="Google Shape;1671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2" name="Google Shape;1672;p100"/>
          <p:cNvGrpSpPr/>
          <p:nvPr/>
        </p:nvGrpSpPr>
        <p:grpSpPr>
          <a:xfrm>
            <a:off x="3504767" y="4042789"/>
            <a:ext cx="277200" cy="277200"/>
            <a:chOff x="1020916" y="1442088"/>
            <a:chExt cx="457200" cy="457200"/>
          </a:xfrm>
        </p:grpSpPr>
        <p:pic>
          <p:nvPicPr>
            <p:cNvPr id="1673" name="Google Shape;1673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4" name="Google Shape;1674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5" name="Google Shape;1675;p100"/>
          <p:cNvGrpSpPr/>
          <p:nvPr/>
        </p:nvGrpSpPr>
        <p:grpSpPr>
          <a:xfrm>
            <a:off x="4218698" y="4042789"/>
            <a:ext cx="277200" cy="277200"/>
            <a:chOff x="1020916" y="1442088"/>
            <a:chExt cx="457200" cy="457200"/>
          </a:xfrm>
        </p:grpSpPr>
        <p:pic>
          <p:nvPicPr>
            <p:cNvPr id="1676" name="Google Shape;167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7" name="Google Shape;167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8" name="Google Shape;1678;p100"/>
          <p:cNvSpPr txBox="1"/>
          <p:nvPr/>
        </p:nvSpPr>
        <p:spPr>
          <a:xfrm>
            <a:off x="1160325" y="4361475"/>
            <a:ext cx="68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74CF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rgbClr val="374CF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9" name="Google Shape;1679;p100"/>
          <p:cNvSpPr txBox="1"/>
          <p:nvPr/>
        </p:nvSpPr>
        <p:spPr>
          <a:xfrm>
            <a:off x="1874250" y="4361475"/>
            <a:ext cx="68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0" name="Google Shape;1680;p100"/>
          <p:cNvSpPr txBox="1"/>
          <p:nvPr/>
        </p:nvSpPr>
        <p:spPr>
          <a:xfrm>
            <a:off x="4016050" y="4361475"/>
            <a:ext cx="68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374CF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rgbClr val="374CF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1" name="Google Shape;1681;p100"/>
          <p:cNvSpPr txBox="1"/>
          <p:nvPr/>
        </p:nvSpPr>
        <p:spPr>
          <a:xfrm>
            <a:off x="2588188" y="4361475"/>
            <a:ext cx="68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2" name="Google Shape;1682;p100"/>
          <p:cNvSpPr txBox="1"/>
          <p:nvPr/>
        </p:nvSpPr>
        <p:spPr>
          <a:xfrm>
            <a:off x="3302113" y="4361475"/>
            <a:ext cx="68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3" name="Google Shape;1683;p100"/>
          <p:cNvSpPr txBox="1"/>
          <p:nvPr/>
        </p:nvSpPr>
        <p:spPr>
          <a:xfrm>
            <a:off x="4785535" y="4042800"/>
            <a:ext cx="261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d can be in either order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01"/>
          <p:cNvSpPr txBox="1"/>
          <p:nvPr/>
        </p:nvSpPr>
        <p:spPr>
          <a:xfrm>
            <a:off x="324000" y="1940200"/>
            <a:ext cx="82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101"/>
          <p:cNvSpPr txBox="1"/>
          <p:nvPr/>
        </p:nvSpPr>
        <p:spPr>
          <a:xfrm>
            <a:off x="324000" y="2601850"/>
            <a:ext cx="82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01"/>
          <p:cNvSpPr txBox="1"/>
          <p:nvPr/>
        </p:nvSpPr>
        <p:spPr>
          <a:xfrm>
            <a:off x="324000" y="3263500"/>
            <a:ext cx="219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= 5 × 12 = 60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1" name="Google Shape;1691;p101"/>
          <p:cNvPicPr preferRelativeResize="0"/>
          <p:nvPr/>
        </p:nvPicPr>
        <p:blipFill rotWithShape="1">
          <a:blip r:embed="rId3">
            <a:alphaModFix/>
          </a:blip>
          <a:srcRect b="0" l="0" r="0" t="3119"/>
          <a:stretch/>
        </p:blipFill>
        <p:spPr>
          <a:xfrm>
            <a:off x="5781911" y="804325"/>
            <a:ext cx="2412926" cy="24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grpSp>
        <p:nvGrpSpPr>
          <p:cNvPr id="1693" name="Google Shape;1693;p101"/>
          <p:cNvGrpSpPr/>
          <p:nvPr/>
        </p:nvGrpSpPr>
        <p:grpSpPr>
          <a:xfrm rot="1813883">
            <a:off x="5660530" y="2999607"/>
            <a:ext cx="816318" cy="231829"/>
            <a:chOff x="7309296" y="2227128"/>
            <a:chExt cx="1102200" cy="372931"/>
          </a:xfrm>
        </p:grpSpPr>
        <p:sp>
          <p:nvSpPr>
            <p:cNvPr id="1694" name="Google Shape;1694;p101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5" name="Google Shape;1695;p10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96" name="Google Shape;1696;p101"/>
          <p:cNvSpPr txBox="1"/>
          <p:nvPr/>
        </p:nvSpPr>
        <p:spPr>
          <a:xfrm>
            <a:off x="324000" y="726750"/>
            <a:ext cx="404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Complete the missing values in this calculation that start to find the surface area of this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7" name="Google Shape;1697;p101"/>
          <p:cNvGrpSpPr/>
          <p:nvPr/>
        </p:nvGrpSpPr>
        <p:grpSpPr>
          <a:xfrm rot="-1800014">
            <a:off x="6547143" y="2766939"/>
            <a:ext cx="1780396" cy="232077"/>
            <a:chOff x="7309296" y="2227128"/>
            <a:chExt cx="1148503" cy="372934"/>
          </a:xfrm>
        </p:grpSpPr>
        <p:sp>
          <p:nvSpPr>
            <p:cNvPr id="1698" name="Google Shape;1698;p101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12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9" name="Google Shape;1699;p10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700" name="Google Shape;1700;p101"/>
          <p:cNvGrpSpPr/>
          <p:nvPr/>
        </p:nvGrpSpPr>
        <p:grpSpPr>
          <a:xfrm rot="-5399626">
            <a:off x="8029287" y="1445598"/>
            <a:ext cx="1012922" cy="652990"/>
            <a:chOff x="7309296" y="2219395"/>
            <a:chExt cx="1102200" cy="2258700"/>
          </a:xfrm>
        </p:grpSpPr>
        <p:sp>
          <p:nvSpPr>
            <p:cNvPr id="1701" name="Google Shape;1701;p101"/>
            <p:cNvSpPr/>
            <p:nvPr/>
          </p:nvSpPr>
          <p:spPr>
            <a:xfrm rot="5400000">
              <a:off x="6731054" y="3269245"/>
              <a:ext cx="22587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02" name="Google Shape;1702;p10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03" name="Google Shape;1703;p101"/>
          <p:cNvSpPr txBox="1"/>
          <p:nvPr/>
        </p:nvSpPr>
        <p:spPr>
          <a:xfrm>
            <a:off x="324000" y="3955900"/>
            <a:ext cx="500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2(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+      + 60</a:t>
            </a:r>
            <a:r>
              <a:rPr lang="en-GB" sz="18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4" name="Google Shape;1704;p101"/>
          <p:cNvGrpSpPr/>
          <p:nvPr/>
        </p:nvGrpSpPr>
        <p:grpSpPr>
          <a:xfrm>
            <a:off x="1190434" y="1941339"/>
            <a:ext cx="277200" cy="277200"/>
            <a:chOff x="1020916" y="1442088"/>
            <a:chExt cx="457200" cy="457200"/>
          </a:xfrm>
        </p:grpSpPr>
        <p:pic>
          <p:nvPicPr>
            <p:cNvPr id="1705" name="Google Shape;170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6" name="Google Shape;170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7" name="Google Shape;1707;p101"/>
          <p:cNvGrpSpPr/>
          <p:nvPr/>
        </p:nvGrpSpPr>
        <p:grpSpPr>
          <a:xfrm>
            <a:off x="1190423" y="2602414"/>
            <a:ext cx="277200" cy="277200"/>
            <a:chOff x="1020916" y="1442088"/>
            <a:chExt cx="457200" cy="457200"/>
          </a:xfrm>
        </p:grpSpPr>
        <p:pic>
          <p:nvPicPr>
            <p:cNvPr id="1708" name="Google Shape;170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9" name="Google Shape;170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0" name="Google Shape;1710;p101"/>
          <p:cNvGrpSpPr/>
          <p:nvPr/>
        </p:nvGrpSpPr>
        <p:grpSpPr>
          <a:xfrm>
            <a:off x="582820" y="3955889"/>
            <a:ext cx="277200" cy="277200"/>
            <a:chOff x="1020916" y="1442088"/>
            <a:chExt cx="457200" cy="457200"/>
          </a:xfrm>
        </p:grpSpPr>
        <p:pic>
          <p:nvPicPr>
            <p:cNvPr id="1711" name="Google Shape;171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2" name="Google Shape;171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3" name="Google Shape;1713;p101"/>
          <p:cNvGrpSpPr/>
          <p:nvPr/>
        </p:nvGrpSpPr>
        <p:grpSpPr>
          <a:xfrm>
            <a:off x="1098575" y="3955889"/>
            <a:ext cx="277200" cy="277200"/>
            <a:chOff x="1020916" y="1442088"/>
            <a:chExt cx="457200" cy="457200"/>
          </a:xfrm>
        </p:grpSpPr>
        <p:pic>
          <p:nvPicPr>
            <p:cNvPr id="1714" name="Google Shape;171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5" name="Google Shape;171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6" name="Google Shape;1716;p101"/>
          <p:cNvGrpSpPr/>
          <p:nvPr/>
        </p:nvGrpSpPr>
        <p:grpSpPr>
          <a:xfrm>
            <a:off x="2228285" y="3955889"/>
            <a:ext cx="277200" cy="277200"/>
            <a:chOff x="1020916" y="1442088"/>
            <a:chExt cx="457200" cy="457200"/>
          </a:xfrm>
        </p:grpSpPr>
        <p:pic>
          <p:nvPicPr>
            <p:cNvPr id="1717" name="Google Shape;171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8" name="Google Shape;171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19" name="Google Shape;1719;p101"/>
          <p:cNvSpPr txBox="1"/>
          <p:nvPr/>
        </p:nvSpPr>
        <p:spPr>
          <a:xfrm>
            <a:off x="324000" y="4443400"/>
            <a:ext cx="500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2(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+ 60</a:t>
            </a:r>
            <a:r>
              <a:rPr lang="en-GB" sz="18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358 cm²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02"/>
          <p:cNvSpPr txBox="1"/>
          <p:nvPr/>
        </p:nvSpPr>
        <p:spPr>
          <a:xfrm>
            <a:off x="324000" y="650550"/>
            <a:ext cx="3732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Cuboids can be drawn on an isometric grid, made of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tessellating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triangles, rather than grid squares.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726" name="Google Shape;1726;p102"/>
          <p:cNvSpPr txBox="1"/>
          <p:nvPr/>
        </p:nvSpPr>
        <p:spPr>
          <a:xfrm>
            <a:off x="324000" y="1911150"/>
            <a:ext cx="373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helps draw shapes in 3D.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7" name="Google Shape;172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650" y="758850"/>
            <a:ext cx="4201349" cy="3380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103"/>
          <p:cNvSpPr txBox="1"/>
          <p:nvPr/>
        </p:nvSpPr>
        <p:spPr>
          <a:xfrm>
            <a:off x="324000" y="4027975"/>
            <a:ext cx="369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=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2(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+ 15 + 20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pic>
        <p:nvPicPr>
          <p:cNvPr id="1734" name="Google Shape;173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650" y="758850"/>
            <a:ext cx="4201349" cy="3380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8650" y="758850"/>
            <a:ext cx="4201349" cy="33803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6" name="Google Shape;1736;p103"/>
          <p:cNvCxnSpPr/>
          <p:nvPr/>
        </p:nvCxnSpPr>
        <p:spPr>
          <a:xfrm>
            <a:off x="5066550" y="1902225"/>
            <a:ext cx="0" cy="1277400"/>
          </a:xfrm>
          <a:prstGeom prst="straightConnector1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7" name="Google Shape;1737;p103"/>
          <p:cNvSpPr txBox="1"/>
          <p:nvPr/>
        </p:nvSpPr>
        <p:spPr>
          <a:xfrm>
            <a:off x="3746100" y="2263875"/>
            <a:ext cx="12438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height of 3 units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03"/>
          <p:cNvSpPr txBox="1"/>
          <p:nvPr/>
        </p:nvSpPr>
        <p:spPr>
          <a:xfrm>
            <a:off x="4423950" y="3628975"/>
            <a:ext cx="12438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width of 4 units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9" name="Google Shape;1739;p103"/>
          <p:cNvCxnSpPr/>
          <p:nvPr/>
        </p:nvCxnSpPr>
        <p:spPr>
          <a:xfrm flipH="1">
            <a:off x="6528475" y="2946500"/>
            <a:ext cx="1853700" cy="1070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0" name="Google Shape;1740;p103"/>
          <p:cNvSpPr txBox="1"/>
          <p:nvPr/>
        </p:nvSpPr>
        <p:spPr>
          <a:xfrm>
            <a:off x="324000" y="758850"/>
            <a:ext cx="2879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After finding the edge lengths of the cuboid, the surface area can be calculated in the same way as before.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103"/>
          <p:cNvSpPr txBox="1"/>
          <p:nvPr/>
        </p:nvSpPr>
        <p:spPr>
          <a:xfrm>
            <a:off x="7368850" y="3628975"/>
            <a:ext cx="12438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depth of 5 units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103"/>
          <p:cNvSpPr txBox="1"/>
          <p:nvPr/>
        </p:nvSpPr>
        <p:spPr>
          <a:xfrm>
            <a:off x="324000" y="2753800"/>
            <a:ext cx="197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= 3 × 4 = 12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103"/>
          <p:cNvSpPr txBox="1"/>
          <p:nvPr/>
        </p:nvSpPr>
        <p:spPr>
          <a:xfrm>
            <a:off x="324000" y="3603250"/>
            <a:ext cx="197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= 4 × 5 = 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103"/>
          <p:cNvSpPr txBox="1"/>
          <p:nvPr/>
        </p:nvSpPr>
        <p:spPr>
          <a:xfrm>
            <a:off x="324000" y="3178525"/>
            <a:ext cx="197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 = 3 × 5 = 15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103"/>
          <p:cNvSpPr txBox="1"/>
          <p:nvPr/>
        </p:nvSpPr>
        <p:spPr>
          <a:xfrm>
            <a:off x="1857601" y="4360243"/>
            <a:ext cx="171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94 units²</a:t>
            </a:r>
            <a:endParaRPr sz="18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6" name="Google Shape;1746;p103"/>
          <p:cNvCxnSpPr/>
          <p:nvPr/>
        </p:nvCxnSpPr>
        <p:spPr>
          <a:xfrm>
            <a:off x="5076775" y="3178525"/>
            <a:ext cx="1451700" cy="838200"/>
          </a:xfrm>
          <a:prstGeom prst="straightConnector1">
            <a:avLst/>
          </a:prstGeom>
          <a:noFill/>
          <a:ln cap="flat" cmpd="sng" w="762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104"/>
          <p:cNvSpPr txBox="1"/>
          <p:nvPr/>
        </p:nvSpPr>
        <p:spPr>
          <a:xfrm>
            <a:off x="847825" y="4379850"/>
            <a:ext cx="29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753" name="Google Shape;1753;p104"/>
          <p:cNvSpPr txBox="1"/>
          <p:nvPr/>
        </p:nvSpPr>
        <p:spPr>
          <a:xfrm>
            <a:off x="324000" y="726750"/>
            <a:ext cx="411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find the surface area of this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4" name="Google Shape;175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0650" y="935800"/>
            <a:ext cx="3137826" cy="3025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5" name="Google Shape;1755;p104"/>
          <p:cNvGrpSpPr/>
          <p:nvPr/>
        </p:nvGrpSpPr>
        <p:grpSpPr>
          <a:xfrm rot="1813883">
            <a:off x="5141837" y="3744649"/>
            <a:ext cx="816318" cy="231829"/>
            <a:chOff x="7309296" y="2227128"/>
            <a:chExt cx="1102200" cy="372931"/>
          </a:xfrm>
        </p:grpSpPr>
        <p:sp>
          <p:nvSpPr>
            <p:cNvPr id="1756" name="Google Shape;1756;p104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57" name="Google Shape;1757;p104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758" name="Google Shape;1758;p104"/>
          <p:cNvGrpSpPr/>
          <p:nvPr/>
        </p:nvGrpSpPr>
        <p:grpSpPr>
          <a:xfrm rot="-1800065">
            <a:off x="5944274" y="3354869"/>
            <a:ext cx="2379850" cy="232077"/>
            <a:chOff x="7309296" y="2227128"/>
            <a:chExt cx="1148503" cy="372934"/>
          </a:xfrm>
        </p:grpSpPr>
        <p:sp>
          <p:nvSpPr>
            <p:cNvPr id="1759" name="Google Shape;1759;p104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11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60" name="Google Shape;1760;p104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761" name="Google Shape;1761;p104"/>
          <p:cNvGrpSpPr/>
          <p:nvPr/>
        </p:nvGrpSpPr>
        <p:grpSpPr>
          <a:xfrm rot="-5399685">
            <a:off x="7856188" y="1828808"/>
            <a:ext cx="1201839" cy="541022"/>
            <a:chOff x="7309296" y="2219412"/>
            <a:chExt cx="1102200" cy="1871400"/>
          </a:xfrm>
        </p:grpSpPr>
        <p:sp>
          <p:nvSpPr>
            <p:cNvPr id="1762" name="Google Shape;1762;p104"/>
            <p:cNvSpPr/>
            <p:nvPr/>
          </p:nvSpPr>
          <p:spPr>
            <a:xfrm rot="5400000">
              <a:off x="6924704" y="3075612"/>
              <a:ext cx="18714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63" name="Google Shape;1763;p104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64" name="Google Shape;1764;p104"/>
          <p:cNvSpPr txBox="1"/>
          <p:nvPr/>
        </p:nvSpPr>
        <p:spPr>
          <a:xfrm>
            <a:off x="847825" y="1535425"/>
            <a:ext cx="29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= 2 ×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104"/>
          <p:cNvSpPr txBox="1"/>
          <p:nvPr/>
        </p:nvSpPr>
        <p:spPr>
          <a:xfrm>
            <a:off x="847825" y="2009496"/>
            <a:ext cx="29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back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104"/>
          <p:cNvSpPr txBox="1"/>
          <p:nvPr/>
        </p:nvSpPr>
        <p:spPr>
          <a:xfrm>
            <a:off x="847825" y="2483575"/>
            <a:ext cx="324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104"/>
          <p:cNvSpPr txBox="1"/>
          <p:nvPr/>
        </p:nvSpPr>
        <p:spPr>
          <a:xfrm>
            <a:off x="847825" y="2957638"/>
            <a:ext cx="29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left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104"/>
          <p:cNvSpPr txBox="1"/>
          <p:nvPr/>
        </p:nvSpPr>
        <p:spPr>
          <a:xfrm>
            <a:off x="847825" y="3431708"/>
            <a:ext cx="29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bottom = 2 × 11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104"/>
          <p:cNvSpPr txBox="1"/>
          <p:nvPr/>
        </p:nvSpPr>
        <p:spPr>
          <a:xfrm>
            <a:off x="847825" y="3905779"/>
            <a:ext cx="29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4" name="Google Shape;1774;p105"/>
          <p:cNvPicPr preferRelativeResize="0"/>
          <p:nvPr/>
        </p:nvPicPr>
        <p:blipFill rotWithShape="1">
          <a:blip r:embed="rId3">
            <a:alphaModFix/>
          </a:blip>
          <a:srcRect b="3025" l="0" r="3855" t="0"/>
          <a:stretch/>
        </p:blipFill>
        <p:spPr>
          <a:xfrm>
            <a:off x="5071865" y="725333"/>
            <a:ext cx="3336901" cy="22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5" name="Google Shape;1775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776" name="Google Shape;1776;p105"/>
          <p:cNvSpPr txBox="1"/>
          <p:nvPr/>
        </p:nvSpPr>
        <p:spPr>
          <a:xfrm>
            <a:off x="324000" y="726750"/>
            <a:ext cx="411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find the surface area of this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7" name="Google Shape;1777;p105"/>
          <p:cNvGrpSpPr/>
          <p:nvPr/>
        </p:nvGrpSpPr>
        <p:grpSpPr>
          <a:xfrm rot="1813846">
            <a:off x="4888053" y="2373681"/>
            <a:ext cx="2461695" cy="231829"/>
            <a:chOff x="7309296" y="2227128"/>
            <a:chExt cx="1102200" cy="372931"/>
          </a:xfrm>
        </p:grpSpPr>
        <p:sp>
          <p:nvSpPr>
            <p:cNvPr id="1778" name="Google Shape;1778;p105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0 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79" name="Google Shape;1779;p105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780" name="Google Shape;1780;p105"/>
          <p:cNvGrpSpPr/>
          <p:nvPr/>
        </p:nvGrpSpPr>
        <p:grpSpPr>
          <a:xfrm rot="-1800100">
            <a:off x="7261346" y="2671234"/>
            <a:ext cx="1334952" cy="232077"/>
            <a:chOff x="7309296" y="2227128"/>
            <a:chExt cx="1148503" cy="372934"/>
          </a:xfrm>
        </p:grpSpPr>
        <p:sp>
          <p:nvSpPr>
            <p:cNvPr id="1781" name="Google Shape;1781;p105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12 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82" name="Google Shape;1782;p105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83" name="Google Shape;1783;p105"/>
          <p:cNvSpPr txBox="1"/>
          <p:nvPr/>
        </p:nvSpPr>
        <p:spPr>
          <a:xfrm>
            <a:off x="324000" y="1450125"/>
            <a:ext cx="360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ront and back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30 ×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2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105"/>
          <p:cNvSpPr txBox="1"/>
          <p:nvPr/>
        </p:nvSpPr>
        <p:spPr>
          <a:xfrm>
            <a:off x="324000" y="2388500"/>
            <a:ext cx="360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left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right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2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105"/>
          <p:cNvSpPr txBox="1"/>
          <p:nvPr/>
        </p:nvSpPr>
        <p:spPr>
          <a:xfrm>
            <a:off x="324000" y="3326875"/>
            <a:ext cx="360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and bottom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30 ×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6" name="Google Shape;1786;p105"/>
          <p:cNvGrpSpPr/>
          <p:nvPr/>
        </p:nvGrpSpPr>
        <p:grpSpPr>
          <a:xfrm rot="-5400000">
            <a:off x="8440512" y="1937501"/>
            <a:ext cx="383786" cy="447265"/>
            <a:chOff x="7309296" y="2219412"/>
            <a:chExt cx="1102200" cy="1871400"/>
          </a:xfrm>
        </p:grpSpPr>
        <p:sp>
          <p:nvSpPr>
            <p:cNvPr id="1787" name="Google Shape;1787;p105"/>
            <p:cNvSpPr/>
            <p:nvPr/>
          </p:nvSpPr>
          <p:spPr>
            <a:xfrm rot="5400000">
              <a:off x="6924704" y="3075612"/>
              <a:ext cx="18714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 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88" name="Google Shape;1788;p105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89" name="Google Shape;1789;p105"/>
          <p:cNvSpPr txBox="1"/>
          <p:nvPr/>
        </p:nvSpPr>
        <p:spPr>
          <a:xfrm>
            <a:off x="324000" y="4543200"/>
            <a:ext cx="545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4" name="Google Shape;1794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1200" y="726750"/>
            <a:ext cx="3098800" cy="245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06"/>
          <p:cNvSpPr txBox="1"/>
          <p:nvPr/>
        </p:nvSpPr>
        <p:spPr>
          <a:xfrm>
            <a:off x="324000" y="1526325"/>
            <a:ext cx="360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ront =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 =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=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1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797" name="Google Shape;1797;p106"/>
          <p:cNvSpPr txBox="1"/>
          <p:nvPr/>
        </p:nvSpPr>
        <p:spPr>
          <a:xfrm>
            <a:off x="324000" y="726750"/>
            <a:ext cx="411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find the surface area of this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8" name="Google Shape;1798;p106"/>
          <p:cNvGrpSpPr/>
          <p:nvPr/>
        </p:nvGrpSpPr>
        <p:grpSpPr>
          <a:xfrm rot="1813881">
            <a:off x="5548813" y="2713179"/>
            <a:ext cx="2083593" cy="231829"/>
            <a:chOff x="7309296" y="2227128"/>
            <a:chExt cx="1102200" cy="372931"/>
          </a:xfrm>
        </p:grpSpPr>
        <p:sp>
          <p:nvSpPr>
            <p:cNvPr id="1799" name="Google Shape;1799;p106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16 inches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00" name="Google Shape;1800;p106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801" name="Google Shape;1801;p106"/>
          <p:cNvGrpSpPr/>
          <p:nvPr/>
        </p:nvGrpSpPr>
        <p:grpSpPr>
          <a:xfrm rot="-1799925">
            <a:off x="7664379" y="3002524"/>
            <a:ext cx="948469" cy="232077"/>
            <a:chOff x="7309296" y="2227128"/>
            <a:chExt cx="1148503" cy="372934"/>
          </a:xfrm>
        </p:grpSpPr>
        <p:sp>
          <p:nvSpPr>
            <p:cNvPr id="1802" name="Google Shape;1802;p106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 inches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03" name="Google Shape;1803;p106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804" name="Google Shape;1804;p106"/>
          <p:cNvGrpSpPr/>
          <p:nvPr/>
        </p:nvGrpSpPr>
        <p:grpSpPr>
          <a:xfrm flipH="1" rot="5400000">
            <a:off x="4939746" y="1321504"/>
            <a:ext cx="900277" cy="662288"/>
            <a:chOff x="7309296" y="2219412"/>
            <a:chExt cx="1102200" cy="1871400"/>
          </a:xfrm>
        </p:grpSpPr>
        <p:sp>
          <p:nvSpPr>
            <p:cNvPr id="1805" name="Google Shape;1805;p106"/>
            <p:cNvSpPr/>
            <p:nvPr/>
          </p:nvSpPr>
          <p:spPr>
            <a:xfrm rot="5400000">
              <a:off x="6924704" y="3075612"/>
              <a:ext cx="18714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 inches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06" name="Google Shape;1806;p106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07" name="Google Shape;1807;p106"/>
          <p:cNvSpPr txBox="1"/>
          <p:nvPr/>
        </p:nvSpPr>
        <p:spPr>
          <a:xfrm>
            <a:off x="324000" y="3676825"/>
            <a:ext cx="593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= 2(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07"/>
          <p:cNvSpPr txBox="1"/>
          <p:nvPr/>
        </p:nvSpPr>
        <p:spPr>
          <a:xfrm>
            <a:off x="324000" y="3874925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Jun says there is a quicker way of calculating the surface area of a cube. Is Jun correct? If so, show a more efficient calculation to find the surface area of a cube.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107"/>
          <p:cNvSpPr txBox="1"/>
          <p:nvPr/>
        </p:nvSpPr>
        <p:spPr>
          <a:xfrm>
            <a:off x="324000" y="650550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This is a cube.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Calculate the area of the front, right, and top faces of the cube, and hence calculate the surface area.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107"/>
          <p:cNvSpPr txBox="1"/>
          <p:nvPr/>
        </p:nvSpPr>
        <p:spPr>
          <a:xfrm>
            <a:off x="628800" y="1678725"/>
            <a:ext cx="5298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=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 =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=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= 2</a:t>
            </a:r>
            <a:r>
              <a:rPr lang="en-GB" sz="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) =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8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10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pic>
        <p:nvPicPr>
          <p:cNvPr id="1816" name="Google Shape;1816;p107"/>
          <p:cNvPicPr preferRelativeResize="0"/>
          <p:nvPr/>
        </p:nvPicPr>
        <p:blipFill rotWithShape="1">
          <a:blip r:embed="rId3">
            <a:alphaModFix/>
          </a:blip>
          <a:srcRect b="2146" l="2856" r="0" t="7273"/>
          <a:stretch/>
        </p:blipFill>
        <p:spPr>
          <a:xfrm>
            <a:off x="6680700" y="1304500"/>
            <a:ext cx="2166600" cy="2419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7" name="Google Shape;1817;p107"/>
          <p:cNvGrpSpPr/>
          <p:nvPr/>
        </p:nvGrpSpPr>
        <p:grpSpPr>
          <a:xfrm flipH="1" rot="5400000">
            <a:off x="5849460" y="2276235"/>
            <a:ext cx="1161057" cy="495930"/>
            <a:chOff x="7309296" y="2227128"/>
            <a:chExt cx="1102200" cy="1401328"/>
          </a:xfrm>
        </p:grpSpPr>
        <p:sp>
          <p:nvSpPr>
            <p:cNvPr id="1818" name="Google Shape;1818;p107"/>
            <p:cNvSpPr/>
            <p:nvPr/>
          </p:nvSpPr>
          <p:spPr>
            <a:xfrm rot="5400000">
              <a:off x="7215700" y="2904257"/>
              <a:ext cx="12894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 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19" name="Google Shape;1819;p107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108"/>
          <p:cNvSpPr txBox="1"/>
          <p:nvPr/>
        </p:nvSpPr>
        <p:spPr>
          <a:xfrm>
            <a:off x="847825" y="4379850"/>
            <a:ext cx="29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=         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10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826" name="Google Shape;1826;p108"/>
          <p:cNvSpPr txBox="1"/>
          <p:nvPr/>
        </p:nvSpPr>
        <p:spPr>
          <a:xfrm>
            <a:off x="324000" y="726750"/>
            <a:ext cx="411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find the surface area of this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7" name="Google Shape;1827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0650" y="935800"/>
            <a:ext cx="3137826" cy="3025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8" name="Google Shape;1828;p108"/>
          <p:cNvGrpSpPr/>
          <p:nvPr/>
        </p:nvGrpSpPr>
        <p:grpSpPr>
          <a:xfrm rot="1813883">
            <a:off x="5141837" y="3744649"/>
            <a:ext cx="816318" cy="231829"/>
            <a:chOff x="7309296" y="2227128"/>
            <a:chExt cx="1102200" cy="372931"/>
          </a:xfrm>
        </p:grpSpPr>
        <p:sp>
          <p:nvSpPr>
            <p:cNvPr id="1829" name="Google Shape;1829;p108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2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30" name="Google Shape;1830;p108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831" name="Google Shape;1831;p108"/>
          <p:cNvGrpSpPr/>
          <p:nvPr/>
        </p:nvGrpSpPr>
        <p:grpSpPr>
          <a:xfrm rot="-1800065">
            <a:off x="5944274" y="3354869"/>
            <a:ext cx="2379850" cy="232077"/>
            <a:chOff x="7309296" y="2227128"/>
            <a:chExt cx="1148503" cy="372934"/>
          </a:xfrm>
        </p:grpSpPr>
        <p:sp>
          <p:nvSpPr>
            <p:cNvPr id="1832" name="Google Shape;1832;p108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11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33" name="Google Shape;1833;p108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834" name="Google Shape;1834;p108"/>
          <p:cNvGrpSpPr/>
          <p:nvPr/>
        </p:nvGrpSpPr>
        <p:grpSpPr>
          <a:xfrm rot="-5399685">
            <a:off x="7856188" y="1828808"/>
            <a:ext cx="1201839" cy="541022"/>
            <a:chOff x="7309296" y="2219412"/>
            <a:chExt cx="1102200" cy="1871400"/>
          </a:xfrm>
        </p:grpSpPr>
        <p:sp>
          <p:nvSpPr>
            <p:cNvPr id="1835" name="Google Shape;1835;p108"/>
            <p:cNvSpPr/>
            <p:nvPr/>
          </p:nvSpPr>
          <p:spPr>
            <a:xfrm rot="5400000">
              <a:off x="6924704" y="3075612"/>
              <a:ext cx="18714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 cm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36" name="Google Shape;1836;p108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37" name="Google Shape;1837;p108"/>
          <p:cNvSpPr txBox="1"/>
          <p:nvPr/>
        </p:nvSpPr>
        <p:spPr>
          <a:xfrm>
            <a:off x="847825" y="1535425"/>
            <a:ext cx="29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= 2 ×          =        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08"/>
          <p:cNvSpPr txBox="1"/>
          <p:nvPr/>
        </p:nvSpPr>
        <p:spPr>
          <a:xfrm>
            <a:off x="847825" y="2009496"/>
            <a:ext cx="29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back =   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108"/>
          <p:cNvSpPr txBox="1"/>
          <p:nvPr/>
        </p:nvSpPr>
        <p:spPr>
          <a:xfrm>
            <a:off x="847825" y="2483575"/>
            <a:ext cx="324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 =          ×          =   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108"/>
          <p:cNvSpPr txBox="1"/>
          <p:nvPr/>
        </p:nvSpPr>
        <p:spPr>
          <a:xfrm>
            <a:off x="847825" y="2957638"/>
            <a:ext cx="29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left =   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108"/>
          <p:cNvSpPr txBox="1"/>
          <p:nvPr/>
        </p:nvSpPr>
        <p:spPr>
          <a:xfrm>
            <a:off x="847825" y="3431708"/>
            <a:ext cx="29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bottom = 2 × 11 =   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108"/>
          <p:cNvSpPr txBox="1"/>
          <p:nvPr/>
        </p:nvSpPr>
        <p:spPr>
          <a:xfrm>
            <a:off x="847825" y="3905779"/>
            <a:ext cx="29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=   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3" name="Google Shape;1843;p108"/>
          <p:cNvSpPr txBox="1"/>
          <p:nvPr/>
        </p:nvSpPr>
        <p:spPr>
          <a:xfrm>
            <a:off x="2015375" y="1514078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4" name="Google Shape;1844;p108"/>
          <p:cNvSpPr txBox="1"/>
          <p:nvPr/>
        </p:nvSpPr>
        <p:spPr>
          <a:xfrm>
            <a:off x="2777375" y="1514078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5" name="Google Shape;1845;p108"/>
          <p:cNvSpPr txBox="1"/>
          <p:nvPr/>
        </p:nvSpPr>
        <p:spPr>
          <a:xfrm>
            <a:off x="1648475" y="1993403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6" name="Google Shape;1846;p108"/>
          <p:cNvSpPr txBox="1"/>
          <p:nvPr/>
        </p:nvSpPr>
        <p:spPr>
          <a:xfrm>
            <a:off x="1648475" y="2487390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7" name="Google Shape;1847;p108"/>
          <p:cNvSpPr txBox="1"/>
          <p:nvPr/>
        </p:nvSpPr>
        <p:spPr>
          <a:xfrm>
            <a:off x="2383800" y="2487390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8" name="Google Shape;1848;p108"/>
          <p:cNvSpPr txBox="1"/>
          <p:nvPr/>
        </p:nvSpPr>
        <p:spPr>
          <a:xfrm>
            <a:off x="3152850" y="2487390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9" name="Google Shape;1849;p108"/>
          <p:cNvSpPr txBox="1"/>
          <p:nvPr/>
        </p:nvSpPr>
        <p:spPr>
          <a:xfrm>
            <a:off x="1480675" y="2947915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0" name="Google Shape;1850;p108"/>
          <p:cNvSpPr txBox="1"/>
          <p:nvPr/>
        </p:nvSpPr>
        <p:spPr>
          <a:xfrm>
            <a:off x="2777375" y="3421990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1" name="Google Shape;1851;p108"/>
          <p:cNvSpPr txBox="1"/>
          <p:nvPr/>
        </p:nvSpPr>
        <p:spPr>
          <a:xfrm>
            <a:off x="1480675" y="3902440"/>
            <a:ext cx="50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2" name="Google Shape;1852;p108"/>
          <p:cNvSpPr txBox="1"/>
          <p:nvPr/>
        </p:nvSpPr>
        <p:spPr>
          <a:xfrm>
            <a:off x="2518775" y="4356603"/>
            <a:ext cx="88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174 cm²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109"/>
          <p:cNvSpPr txBox="1"/>
          <p:nvPr/>
        </p:nvSpPr>
        <p:spPr>
          <a:xfrm>
            <a:off x="324000" y="3326875"/>
            <a:ext cx="360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 and bottom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30 ×          ×          =    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8" name="Google Shape;1858;p109"/>
          <p:cNvPicPr preferRelativeResize="0"/>
          <p:nvPr/>
        </p:nvPicPr>
        <p:blipFill rotWithShape="1">
          <a:blip r:embed="rId3">
            <a:alphaModFix/>
          </a:blip>
          <a:srcRect b="3025" l="0" r="3855" t="0"/>
          <a:stretch/>
        </p:blipFill>
        <p:spPr>
          <a:xfrm>
            <a:off x="5071865" y="725333"/>
            <a:ext cx="3336901" cy="22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1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860" name="Google Shape;1860;p109"/>
          <p:cNvSpPr txBox="1"/>
          <p:nvPr/>
        </p:nvSpPr>
        <p:spPr>
          <a:xfrm>
            <a:off x="324000" y="726750"/>
            <a:ext cx="411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find the surface area of this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1" name="Google Shape;1861;p109"/>
          <p:cNvGrpSpPr/>
          <p:nvPr/>
        </p:nvGrpSpPr>
        <p:grpSpPr>
          <a:xfrm rot="1813846">
            <a:off x="4888053" y="2373681"/>
            <a:ext cx="2461695" cy="231829"/>
            <a:chOff x="7309296" y="2227128"/>
            <a:chExt cx="1102200" cy="372931"/>
          </a:xfrm>
        </p:grpSpPr>
        <p:sp>
          <p:nvSpPr>
            <p:cNvPr id="1862" name="Google Shape;1862;p109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30 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63" name="Google Shape;1863;p109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64" name="Google Shape;1864;p109"/>
          <p:cNvSpPr txBox="1"/>
          <p:nvPr/>
        </p:nvSpPr>
        <p:spPr>
          <a:xfrm>
            <a:off x="324000" y="4543200"/>
            <a:ext cx="395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=          +          +         =          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5" name="Google Shape;1865;p109"/>
          <p:cNvGrpSpPr/>
          <p:nvPr/>
        </p:nvGrpSpPr>
        <p:grpSpPr>
          <a:xfrm rot="-1800100">
            <a:off x="7261346" y="2671234"/>
            <a:ext cx="1334952" cy="232077"/>
            <a:chOff x="7309296" y="2227128"/>
            <a:chExt cx="1148503" cy="372934"/>
          </a:xfrm>
        </p:grpSpPr>
        <p:sp>
          <p:nvSpPr>
            <p:cNvPr id="1866" name="Google Shape;1866;p109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12 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67" name="Google Shape;1867;p109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68" name="Google Shape;1868;p109"/>
          <p:cNvSpPr txBox="1"/>
          <p:nvPr/>
        </p:nvSpPr>
        <p:spPr>
          <a:xfrm>
            <a:off x="324000" y="1450125"/>
            <a:ext cx="360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and back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30 × 4 × 2 =    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109"/>
          <p:cNvSpPr txBox="1"/>
          <p:nvPr/>
        </p:nvSpPr>
        <p:spPr>
          <a:xfrm>
            <a:off x="324000" y="2388500"/>
            <a:ext cx="360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left and right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×          × 2 =    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0" name="Google Shape;1870;p109"/>
          <p:cNvGrpSpPr/>
          <p:nvPr/>
        </p:nvGrpSpPr>
        <p:grpSpPr>
          <a:xfrm rot="-5400000">
            <a:off x="8440512" y="1937501"/>
            <a:ext cx="383786" cy="447265"/>
            <a:chOff x="7309296" y="2219412"/>
            <a:chExt cx="1102200" cy="1871400"/>
          </a:xfrm>
        </p:grpSpPr>
        <p:sp>
          <p:nvSpPr>
            <p:cNvPr id="1871" name="Google Shape;1871;p109"/>
            <p:cNvSpPr/>
            <p:nvPr/>
          </p:nvSpPr>
          <p:spPr>
            <a:xfrm rot="5400000">
              <a:off x="6924704" y="3075612"/>
              <a:ext cx="18714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 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72" name="Google Shape;1872;p109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73" name="Google Shape;1873;p109"/>
          <p:cNvSpPr txBox="1"/>
          <p:nvPr/>
        </p:nvSpPr>
        <p:spPr>
          <a:xfrm>
            <a:off x="2234100" y="1886150"/>
            <a:ext cx="80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4" name="Google Shape;1874;p109"/>
          <p:cNvSpPr txBox="1"/>
          <p:nvPr/>
        </p:nvSpPr>
        <p:spPr>
          <a:xfrm>
            <a:off x="1034650" y="2813008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5" name="Google Shape;1875;p109"/>
          <p:cNvSpPr txBox="1"/>
          <p:nvPr/>
        </p:nvSpPr>
        <p:spPr>
          <a:xfrm>
            <a:off x="1768425" y="2821438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6" name="Google Shape;1876;p109"/>
          <p:cNvSpPr txBox="1"/>
          <p:nvPr/>
        </p:nvSpPr>
        <p:spPr>
          <a:xfrm>
            <a:off x="2887200" y="2813008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7" name="Google Shape;1877;p109"/>
          <p:cNvSpPr txBox="1"/>
          <p:nvPr/>
        </p:nvSpPr>
        <p:spPr>
          <a:xfrm>
            <a:off x="1518425" y="3762203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8" name="Google Shape;1878;p109"/>
          <p:cNvSpPr txBox="1"/>
          <p:nvPr/>
        </p:nvSpPr>
        <p:spPr>
          <a:xfrm>
            <a:off x="2273375" y="3762203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9" name="Google Shape;1879;p109"/>
          <p:cNvSpPr txBox="1"/>
          <p:nvPr/>
        </p:nvSpPr>
        <p:spPr>
          <a:xfrm>
            <a:off x="3028325" y="3708283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720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0" name="Google Shape;1880;p109"/>
          <p:cNvSpPr txBox="1"/>
          <p:nvPr/>
        </p:nvSpPr>
        <p:spPr>
          <a:xfrm>
            <a:off x="1970000" y="4536831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1" name="Google Shape;1881;p109"/>
          <p:cNvSpPr txBox="1"/>
          <p:nvPr/>
        </p:nvSpPr>
        <p:spPr>
          <a:xfrm>
            <a:off x="2732000" y="4536831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2" name="Google Shape;1882;p109"/>
          <p:cNvSpPr txBox="1"/>
          <p:nvPr/>
        </p:nvSpPr>
        <p:spPr>
          <a:xfrm>
            <a:off x="3472850" y="4536831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720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3" name="Google Shape;1883;p109"/>
          <p:cNvSpPr txBox="1"/>
          <p:nvPr/>
        </p:nvSpPr>
        <p:spPr>
          <a:xfrm>
            <a:off x="4213700" y="4498517"/>
            <a:ext cx="98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1056 m²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8" name="Google Shape;1888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1200" y="726750"/>
            <a:ext cx="3098800" cy="245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9" name="Google Shape;1889;p110"/>
          <p:cNvSpPr txBox="1"/>
          <p:nvPr/>
        </p:nvSpPr>
        <p:spPr>
          <a:xfrm>
            <a:off x="324000" y="1526325"/>
            <a:ext cx="217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=     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 =     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=     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sp>
        <p:nvSpPr>
          <p:cNvPr id="1891" name="Google Shape;1891;p110"/>
          <p:cNvSpPr txBox="1"/>
          <p:nvPr/>
        </p:nvSpPr>
        <p:spPr>
          <a:xfrm>
            <a:off x="324000" y="726750"/>
            <a:ext cx="411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Complete the calculations to find the surface area of this cuboid.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2" name="Google Shape;1892;p110"/>
          <p:cNvGrpSpPr/>
          <p:nvPr/>
        </p:nvGrpSpPr>
        <p:grpSpPr>
          <a:xfrm rot="1813881">
            <a:off x="5548813" y="2713179"/>
            <a:ext cx="2083593" cy="231829"/>
            <a:chOff x="7309296" y="2227128"/>
            <a:chExt cx="1102200" cy="372931"/>
          </a:xfrm>
        </p:grpSpPr>
        <p:sp>
          <p:nvSpPr>
            <p:cNvPr id="1893" name="Google Shape;1893;p110"/>
            <p:cNvSpPr/>
            <p:nvPr/>
          </p:nvSpPr>
          <p:spPr>
            <a:xfrm>
              <a:off x="7524297" y="2343859"/>
              <a:ext cx="7527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16 inches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94" name="Google Shape;1894;p11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895" name="Google Shape;1895;p110"/>
          <p:cNvGrpSpPr/>
          <p:nvPr/>
        </p:nvGrpSpPr>
        <p:grpSpPr>
          <a:xfrm rot="-1799925">
            <a:off x="7664379" y="3002524"/>
            <a:ext cx="948469" cy="232077"/>
            <a:chOff x="7309296" y="2227128"/>
            <a:chExt cx="1148503" cy="372934"/>
          </a:xfrm>
        </p:grpSpPr>
        <p:sp>
          <p:nvSpPr>
            <p:cNvPr id="1896" name="Google Shape;1896;p110"/>
            <p:cNvSpPr/>
            <p:nvPr/>
          </p:nvSpPr>
          <p:spPr>
            <a:xfrm>
              <a:off x="7343598" y="2343862"/>
              <a:ext cx="1114200" cy="25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8 inches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97" name="Google Shape;1897;p11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898" name="Google Shape;1898;p110"/>
          <p:cNvGrpSpPr/>
          <p:nvPr/>
        </p:nvGrpSpPr>
        <p:grpSpPr>
          <a:xfrm flipH="1" rot="5400000">
            <a:off x="4939746" y="1321504"/>
            <a:ext cx="900277" cy="662288"/>
            <a:chOff x="7309296" y="2219412"/>
            <a:chExt cx="1102200" cy="1871400"/>
          </a:xfrm>
        </p:grpSpPr>
        <p:sp>
          <p:nvSpPr>
            <p:cNvPr id="1899" name="Google Shape;1899;p110"/>
            <p:cNvSpPr/>
            <p:nvPr/>
          </p:nvSpPr>
          <p:spPr>
            <a:xfrm rot="5400000">
              <a:off x="6924704" y="3075612"/>
              <a:ext cx="18714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7 inches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00" name="Google Shape;1900;p11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901" name="Google Shape;1901;p110"/>
          <p:cNvSpPr txBox="1"/>
          <p:nvPr/>
        </p:nvSpPr>
        <p:spPr>
          <a:xfrm>
            <a:off x="324000" y="3676825"/>
            <a:ext cx="593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= 2(          +          +         ) =          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2" name="Google Shape;1902;p110"/>
          <p:cNvSpPr txBox="1"/>
          <p:nvPr/>
        </p:nvSpPr>
        <p:spPr>
          <a:xfrm>
            <a:off x="1182800" y="1535086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3" name="Google Shape;1903;p110"/>
          <p:cNvSpPr txBox="1"/>
          <p:nvPr/>
        </p:nvSpPr>
        <p:spPr>
          <a:xfrm>
            <a:off x="1149300" y="2075086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4" name="Google Shape;1904;p110"/>
          <p:cNvSpPr txBox="1"/>
          <p:nvPr/>
        </p:nvSpPr>
        <p:spPr>
          <a:xfrm>
            <a:off x="1008175" y="2618361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5" name="Google Shape;1905;p110"/>
          <p:cNvSpPr txBox="1"/>
          <p:nvPr/>
        </p:nvSpPr>
        <p:spPr>
          <a:xfrm>
            <a:off x="3752800" y="3695086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128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6" name="Google Shape;1906;p110"/>
          <p:cNvSpPr txBox="1"/>
          <p:nvPr/>
        </p:nvSpPr>
        <p:spPr>
          <a:xfrm>
            <a:off x="3022650" y="3695086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56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7" name="Google Shape;1907;p110"/>
          <p:cNvSpPr txBox="1"/>
          <p:nvPr/>
        </p:nvSpPr>
        <p:spPr>
          <a:xfrm>
            <a:off x="2239475" y="3695086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112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8" name="Google Shape;1908;p110"/>
          <p:cNvSpPr txBox="1"/>
          <p:nvPr/>
        </p:nvSpPr>
        <p:spPr>
          <a:xfrm>
            <a:off x="4670025" y="3661378"/>
            <a:ext cx="129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592 inches²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111"/>
          <p:cNvSpPr txBox="1"/>
          <p:nvPr/>
        </p:nvSpPr>
        <p:spPr>
          <a:xfrm>
            <a:off x="324000" y="3874925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Jun says there is a quicker way of calculating the surface area of a cube. Is Jun correct? If so, show a more efficient calculation to find the surface area of a cube.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111"/>
          <p:cNvSpPr txBox="1"/>
          <p:nvPr/>
        </p:nvSpPr>
        <p:spPr>
          <a:xfrm>
            <a:off x="324000" y="650550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This is a cube.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Calculate the area of the front, right, and top faces of the cube, and hence calculate the surface area.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111"/>
          <p:cNvSpPr txBox="1"/>
          <p:nvPr/>
        </p:nvSpPr>
        <p:spPr>
          <a:xfrm>
            <a:off x="628800" y="1678725"/>
            <a:ext cx="5298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front =         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right =         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 =         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= 2(          +          +         ) =            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Surface area of cuboids from 3D representations</a:t>
            </a:r>
            <a:endParaRPr/>
          </a:p>
        </p:txBody>
      </p:sp>
      <p:pic>
        <p:nvPicPr>
          <p:cNvPr id="1917" name="Google Shape;1917;p111"/>
          <p:cNvPicPr preferRelativeResize="0"/>
          <p:nvPr/>
        </p:nvPicPr>
        <p:blipFill rotWithShape="1">
          <a:blip r:embed="rId3">
            <a:alphaModFix/>
          </a:blip>
          <a:srcRect b="2146" l="2856" r="0" t="7273"/>
          <a:stretch/>
        </p:blipFill>
        <p:spPr>
          <a:xfrm>
            <a:off x="6680700" y="1304500"/>
            <a:ext cx="2166600" cy="2419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8" name="Google Shape;1918;p111"/>
          <p:cNvGrpSpPr/>
          <p:nvPr/>
        </p:nvGrpSpPr>
        <p:grpSpPr>
          <a:xfrm flipH="1" rot="5400000">
            <a:off x="5849460" y="2276235"/>
            <a:ext cx="1161057" cy="495930"/>
            <a:chOff x="7309296" y="2227128"/>
            <a:chExt cx="1102200" cy="1401328"/>
          </a:xfrm>
        </p:grpSpPr>
        <p:sp>
          <p:nvSpPr>
            <p:cNvPr id="1919" name="Google Shape;1919;p111"/>
            <p:cNvSpPr/>
            <p:nvPr/>
          </p:nvSpPr>
          <p:spPr>
            <a:xfrm rot="5400000">
              <a:off x="7215700" y="2904257"/>
              <a:ext cx="1289400" cy="1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 m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20" name="Google Shape;1920;p111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374CF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921" name="Google Shape;1921;p111"/>
          <p:cNvSpPr txBox="1"/>
          <p:nvPr/>
        </p:nvSpPr>
        <p:spPr>
          <a:xfrm>
            <a:off x="1480900" y="1688989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2" name="Google Shape;1922;p111"/>
          <p:cNvSpPr txBox="1"/>
          <p:nvPr/>
        </p:nvSpPr>
        <p:spPr>
          <a:xfrm>
            <a:off x="1459733" y="2228989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3" name="Google Shape;1923;p111"/>
          <p:cNvSpPr txBox="1"/>
          <p:nvPr/>
        </p:nvSpPr>
        <p:spPr>
          <a:xfrm>
            <a:off x="1311558" y="2768989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4" name="Google Shape;1924;p111"/>
          <p:cNvSpPr txBox="1"/>
          <p:nvPr/>
        </p:nvSpPr>
        <p:spPr>
          <a:xfrm>
            <a:off x="2546283" y="3353330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5" name="Google Shape;1925;p111"/>
          <p:cNvSpPr txBox="1"/>
          <p:nvPr/>
        </p:nvSpPr>
        <p:spPr>
          <a:xfrm>
            <a:off x="3329433" y="3353330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6" name="Google Shape;1926;p111"/>
          <p:cNvSpPr txBox="1"/>
          <p:nvPr/>
        </p:nvSpPr>
        <p:spPr>
          <a:xfrm>
            <a:off x="4969471" y="3319618"/>
            <a:ext cx="76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150 m²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7" name="Google Shape;1927;p111"/>
          <p:cNvSpPr txBox="1"/>
          <p:nvPr/>
        </p:nvSpPr>
        <p:spPr>
          <a:xfrm>
            <a:off x="4052258" y="3353330"/>
            <a:ext cx="53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8" name="Google Shape;1928;p111"/>
          <p:cNvSpPr txBox="1"/>
          <p:nvPr/>
        </p:nvSpPr>
        <p:spPr>
          <a:xfrm>
            <a:off x="2546244" y="4474625"/>
            <a:ext cx="211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× 5² = 150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12"/>
          <p:cNvSpPr txBox="1"/>
          <p:nvPr/>
        </p:nvSpPr>
        <p:spPr>
          <a:xfrm>
            <a:off x="324000" y="879150"/>
            <a:ext cx="84960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net of a cuboid comprises exactly six rectangles, with the edges of two adjacent rectangles having an equal side length.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net of a cuboid can be used to calculate the surface area of the cuboid; the area of each rectangle can be calculated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individually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then summed together to get the total surface area.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surface area of a cuboid can be calculated by finding the area of each face.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isometric grid can be used to represent a cuboid, and its surface area can be calculated from isometric grid lines.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11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cuboids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11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40" name="Google Shape;1940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