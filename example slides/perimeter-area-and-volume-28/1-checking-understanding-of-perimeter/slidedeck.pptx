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818748f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818748f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818748fe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818748fe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a8677368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a8677368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a8677368a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a8677368a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988e7dcb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988e7dcb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988e7dcbe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988e7dcbe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988e7dcbe8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988e7dcbe8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988e7dcbe8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988e7dcbe8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9e29adb10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9e29adb10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988e7dcbe8_1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988e7dcbe8_1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2988e7dcbe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2988e7dcbe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988e7dcbe8_1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988e7dcbe8_1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9e56e899d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9e56e899d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605b9f513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605b9f513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605b9f5130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605b9f5130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605b9f5130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605b9f5130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2605b9f5130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2605b9f5130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2605b9f5130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2605b9f5130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2988e7dcbe8_1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2988e7dcbe8_1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9e56e899de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9e56e899de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9e56e899de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9e56e899de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9e56e899de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9e56e899de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9e56e899de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9e56e899de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29e56e899de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29e56e899de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2605b9f5130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2605b9f5130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605b9f5130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605b9f5130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605b9f513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605b9f513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2988e7dcbe8_1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2988e7dcbe8_1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29e56e899de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29e56e899de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9e56e899de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9e56e899de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2605b9f513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2605b9f513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2988e7dcbe8_1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2988e7dcbe8_1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988e7dcbe8_1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2988e7dcbe8_1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2988e7dcbe8_1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2988e7dcbe8_1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2988e7dcbe8_1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" name="Google Shape;1713;g2988e7dcbe8_1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2988e7dcbe8_1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2988e7dcbe8_1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g29e56e899de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" name="Google Shape;1823;g29e56e899de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2" name="Google Shape;190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Relationship Id="rId4" Type="http://schemas.openxmlformats.org/officeDocument/2006/relationships/image" Target="../media/image72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72.png"/><Relationship Id="rId4" Type="http://schemas.openxmlformats.org/officeDocument/2006/relationships/image" Target="../media/image24.png"/><Relationship Id="rId9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72.png"/><Relationship Id="rId4" Type="http://schemas.openxmlformats.org/officeDocument/2006/relationships/image" Target="../media/image26.png"/><Relationship Id="rId11" Type="http://schemas.openxmlformats.org/officeDocument/2006/relationships/image" Target="../media/image13.png"/><Relationship Id="rId10" Type="http://schemas.openxmlformats.org/officeDocument/2006/relationships/image" Target="../media/image38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45.png"/><Relationship Id="rId7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5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4.png"/><Relationship Id="rId4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Relationship Id="rId4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Relationship Id="rId4" Type="http://schemas.openxmlformats.org/officeDocument/2006/relationships/image" Target="../media/image43.png"/><Relationship Id="rId5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8.png"/><Relationship Id="rId4" Type="http://schemas.openxmlformats.org/officeDocument/2006/relationships/image" Target="../media/image7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perimeter of many polygons or compound shapes.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The perimeter is the distance around a 2D shape.</a:t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1" y="205831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A polygon is a flat (2D), closed figure made up of straight line segments.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483825"/>
            <a:ext cx="8496000" cy="10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A compound shape is a shape created using two or more basic shapes. A composite shape is an alternative term for a compound shape.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when the perimeter is known</a:t>
            </a:r>
            <a:endParaRPr/>
          </a:p>
        </p:txBody>
      </p:sp>
      <p:sp>
        <p:nvSpPr>
          <p:cNvPr id="776" name="Google Shape;776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2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8496000" cy="36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Perimeter is a length that </a:t>
            </a:r>
            <a:r>
              <a:rPr lang="en-GB" sz="2000">
                <a:solidFill>
                  <a:schemeClr val="accent4"/>
                </a:solidFill>
              </a:rPr>
              <a:t>wraps around</a:t>
            </a:r>
            <a:r>
              <a:rPr lang="en-GB" sz="2000">
                <a:solidFill>
                  <a:srgbClr val="282828"/>
                </a:solidFill>
              </a:rPr>
              <a:t> a 2D space.</a:t>
            </a:r>
            <a:endParaRPr sz="2000"/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784" name="Google Shape;784;p69"/>
          <p:cNvSpPr/>
          <p:nvPr/>
        </p:nvSpPr>
        <p:spPr>
          <a:xfrm>
            <a:off x="2876372" y="3101205"/>
            <a:ext cx="1824900" cy="112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324000" y="1177850"/>
            <a:ext cx="8496000" cy="36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rectangle below represents a field that is surrounded by a wall.</a:t>
            </a:r>
            <a:endParaRPr sz="2000"/>
          </a:p>
        </p:txBody>
      </p:sp>
      <p:cxnSp>
        <p:nvCxnSpPr>
          <p:cNvPr id="786" name="Google Shape;786;p69"/>
          <p:cNvCxnSpPr/>
          <p:nvPr/>
        </p:nvCxnSpPr>
        <p:spPr>
          <a:xfrm>
            <a:off x="2885521" y="4321360"/>
            <a:ext cx="1815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2289698" y="3572601"/>
            <a:ext cx="5226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90 m</a:t>
            </a:r>
            <a:endParaRPr sz="1600"/>
          </a:p>
        </p:txBody>
      </p:sp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4828339" y="3549189"/>
            <a:ext cx="5226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90 m</a:t>
            </a:r>
            <a:endParaRPr sz="1600"/>
          </a:p>
        </p:txBody>
      </p:sp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3549119" y="4321360"/>
            <a:ext cx="6375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120 m</a:t>
            </a:r>
            <a:endParaRPr sz="1600"/>
          </a:p>
        </p:txBody>
      </p:sp>
      <p:sp>
        <p:nvSpPr>
          <p:cNvPr id="790" name="Google Shape;790;p69"/>
          <p:cNvSpPr txBox="1"/>
          <p:nvPr>
            <p:ph idx="1" type="body"/>
          </p:nvPr>
        </p:nvSpPr>
        <p:spPr>
          <a:xfrm>
            <a:off x="3535791" y="2776830"/>
            <a:ext cx="6375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120 m</a:t>
            </a:r>
            <a:endParaRPr sz="1600"/>
          </a:p>
        </p:txBody>
      </p:sp>
      <p:cxnSp>
        <p:nvCxnSpPr>
          <p:cNvPr id="791" name="Google Shape;791;p69"/>
          <p:cNvCxnSpPr/>
          <p:nvPr/>
        </p:nvCxnSpPr>
        <p:spPr>
          <a:xfrm>
            <a:off x="2890565" y="4220507"/>
            <a:ext cx="18057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2" name="Google Shape;792;p69"/>
          <p:cNvGrpSpPr/>
          <p:nvPr/>
        </p:nvGrpSpPr>
        <p:grpSpPr>
          <a:xfrm>
            <a:off x="2787002" y="3080985"/>
            <a:ext cx="98978" cy="1172117"/>
            <a:chOff x="1561125" y="2699900"/>
            <a:chExt cx="105475" cy="1249060"/>
          </a:xfrm>
        </p:grpSpPr>
        <p:cxnSp>
          <p:nvCxnSpPr>
            <p:cNvPr id="793" name="Google Shape;793;p69"/>
            <p:cNvCxnSpPr/>
            <p:nvPr/>
          </p:nvCxnSpPr>
          <p:spPr>
            <a:xfrm rot="10800000">
              <a:off x="1561125" y="2699900"/>
              <a:ext cx="0" cy="1214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4" name="Google Shape;794;p69"/>
            <p:cNvCxnSpPr/>
            <p:nvPr/>
          </p:nvCxnSpPr>
          <p:spPr>
            <a:xfrm rot="10800000">
              <a:off x="1666600" y="2711160"/>
              <a:ext cx="0" cy="12378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5" name="Google Shape;795;p69"/>
          <p:cNvGrpSpPr/>
          <p:nvPr/>
        </p:nvGrpSpPr>
        <p:grpSpPr>
          <a:xfrm>
            <a:off x="4686156" y="3086529"/>
            <a:ext cx="109960" cy="1161552"/>
            <a:chOff x="3584947" y="2705808"/>
            <a:chExt cx="117178" cy="1237800"/>
          </a:xfrm>
        </p:grpSpPr>
        <p:cxnSp>
          <p:nvCxnSpPr>
            <p:cNvPr id="796" name="Google Shape;796;p69"/>
            <p:cNvCxnSpPr/>
            <p:nvPr/>
          </p:nvCxnSpPr>
          <p:spPr>
            <a:xfrm rot="10800000">
              <a:off x="3702125" y="2721500"/>
              <a:ext cx="0" cy="1214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7" name="Google Shape;797;p69"/>
            <p:cNvCxnSpPr/>
            <p:nvPr/>
          </p:nvCxnSpPr>
          <p:spPr>
            <a:xfrm rot="10800000">
              <a:off x="3584947" y="2705808"/>
              <a:ext cx="0" cy="12378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8" name="Google Shape;798;p69"/>
          <p:cNvGrpSpPr/>
          <p:nvPr/>
        </p:nvGrpSpPr>
        <p:grpSpPr>
          <a:xfrm>
            <a:off x="2868666" y="3003215"/>
            <a:ext cx="1828050" cy="114649"/>
            <a:chOff x="1648150" y="2617025"/>
            <a:chExt cx="1948050" cy="122175"/>
          </a:xfrm>
        </p:grpSpPr>
        <p:cxnSp>
          <p:nvCxnSpPr>
            <p:cNvPr id="799" name="Google Shape;799;p69"/>
            <p:cNvCxnSpPr/>
            <p:nvPr/>
          </p:nvCxnSpPr>
          <p:spPr>
            <a:xfrm>
              <a:off x="1661200" y="2617025"/>
              <a:ext cx="1935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00" name="Google Shape;800;p69"/>
            <p:cNvCxnSpPr/>
            <p:nvPr/>
          </p:nvCxnSpPr>
          <p:spPr>
            <a:xfrm>
              <a:off x="1648150" y="2739200"/>
              <a:ext cx="19476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293520" y="2377759"/>
            <a:ext cx="8667600" cy="317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The perimeter of the field is the total length of the wall.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2" name="Google Shape;802;p69"/>
          <p:cNvSpPr txBox="1"/>
          <p:nvPr>
            <p:ph idx="1" type="body"/>
          </p:nvPr>
        </p:nvSpPr>
        <p:spPr>
          <a:xfrm>
            <a:off x="324000" y="1596400"/>
            <a:ext cx="7885200" cy="687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Which could be found by calculating the </a:t>
            </a:r>
            <a:r>
              <a:rPr lang="en-GB" sz="2000"/>
              <a:t>perimeter of the field: </a:t>
            </a:r>
            <a:r>
              <a:rPr lang="en-GB" sz="2000">
                <a:solidFill>
                  <a:srgbClr val="282828"/>
                </a:solidFill>
              </a:rPr>
              <a:t>the total amount of grass or the total length of wall?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324000" y="759300"/>
            <a:ext cx="8496000" cy="36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Perimeter is a length that </a:t>
            </a:r>
            <a:r>
              <a:rPr lang="en-GB" sz="2000">
                <a:solidFill>
                  <a:schemeClr val="accent4"/>
                </a:solidFill>
              </a:rPr>
              <a:t>wraps around</a:t>
            </a:r>
            <a:r>
              <a:rPr lang="en-GB" sz="2000">
                <a:solidFill>
                  <a:srgbClr val="282828"/>
                </a:solidFill>
              </a:rPr>
              <a:t> a 2D space.</a:t>
            </a:r>
            <a:endParaRPr sz="2000"/>
          </a:p>
        </p:txBody>
      </p:sp>
      <p:sp>
        <p:nvSpPr>
          <p:cNvPr id="808" name="Google Shape;80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809" name="Google Shape;809;p70"/>
          <p:cNvSpPr/>
          <p:nvPr/>
        </p:nvSpPr>
        <p:spPr>
          <a:xfrm>
            <a:off x="2876372" y="3101205"/>
            <a:ext cx="1824900" cy="112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324000" y="1177850"/>
            <a:ext cx="8496000" cy="36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rectangle below represents a field that is surrounded by a wall.</a:t>
            </a:r>
            <a:endParaRPr sz="2000"/>
          </a:p>
        </p:txBody>
      </p:sp>
      <p:cxnSp>
        <p:nvCxnSpPr>
          <p:cNvPr id="811" name="Google Shape;811;p70"/>
          <p:cNvCxnSpPr/>
          <p:nvPr/>
        </p:nvCxnSpPr>
        <p:spPr>
          <a:xfrm>
            <a:off x="2885521" y="4321360"/>
            <a:ext cx="1815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2" name="Google Shape;812;p70"/>
          <p:cNvSpPr txBox="1"/>
          <p:nvPr>
            <p:ph idx="1" type="body"/>
          </p:nvPr>
        </p:nvSpPr>
        <p:spPr>
          <a:xfrm>
            <a:off x="4828339" y="3549189"/>
            <a:ext cx="5226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90 m</a:t>
            </a:r>
            <a:endParaRPr sz="1600"/>
          </a:p>
        </p:txBody>
      </p:sp>
      <p:sp>
        <p:nvSpPr>
          <p:cNvPr id="813" name="Google Shape;813;p70"/>
          <p:cNvSpPr txBox="1"/>
          <p:nvPr>
            <p:ph idx="1" type="body"/>
          </p:nvPr>
        </p:nvSpPr>
        <p:spPr>
          <a:xfrm>
            <a:off x="3549119" y="4321360"/>
            <a:ext cx="6375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120 m</a:t>
            </a:r>
            <a:endParaRPr sz="1600"/>
          </a:p>
        </p:txBody>
      </p:sp>
      <p:sp>
        <p:nvSpPr>
          <p:cNvPr id="814" name="Google Shape;814;p70"/>
          <p:cNvSpPr txBox="1"/>
          <p:nvPr>
            <p:ph idx="1" type="body"/>
          </p:nvPr>
        </p:nvSpPr>
        <p:spPr>
          <a:xfrm>
            <a:off x="3535791" y="2776830"/>
            <a:ext cx="6375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120 m</a:t>
            </a:r>
            <a:endParaRPr sz="1600"/>
          </a:p>
        </p:txBody>
      </p:sp>
      <p:cxnSp>
        <p:nvCxnSpPr>
          <p:cNvPr id="815" name="Google Shape;815;p70"/>
          <p:cNvCxnSpPr/>
          <p:nvPr/>
        </p:nvCxnSpPr>
        <p:spPr>
          <a:xfrm>
            <a:off x="2890565" y="4220507"/>
            <a:ext cx="18057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6" name="Google Shape;816;p70"/>
          <p:cNvGrpSpPr/>
          <p:nvPr/>
        </p:nvGrpSpPr>
        <p:grpSpPr>
          <a:xfrm>
            <a:off x="4686156" y="3086529"/>
            <a:ext cx="109960" cy="1161552"/>
            <a:chOff x="3584947" y="2705808"/>
            <a:chExt cx="117178" cy="1237800"/>
          </a:xfrm>
        </p:grpSpPr>
        <p:cxnSp>
          <p:nvCxnSpPr>
            <p:cNvPr id="817" name="Google Shape;817;p70"/>
            <p:cNvCxnSpPr/>
            <p:nvPr/>
          </p:nvCxnSpPr>
          <p:spPr>
            <a:xfrm rot="10800000">
              <a:off x="3702125" y="2721500"/>
              <a:ext cx="0" cy="1214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18" name="Google Shape;818;p70"/>
            <p:cNvCxnSpPr/>
            <p:nvPr/>
          </p:nvCxnSpPr>
          <p:spPr>
            <a:xfrm rot="10800000">
              <a:off x="3584947" y="2705808"/>
              <a:ext cx="0" cy="12378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19" name="Google Shape;819;p70"/>
          <p:cNvGrpSpPr/>
          <p:nvPr/>
        </p:nvGrpSpPr>
        <p:grpSpPr>
          <a:xfrm>
            <a:off x="2868666" y="3003215"/>
            <a:ext cx="1828050" cy="114649"/>
            <a:chOff x="1648150" y="2617025"/>
            <a:chExt cx="1948050" cy="122175"/>
          </a:xfrm>
        </p:grpSpPr>
        <p:cxnSp>
          <p:nvCxnSpPr>
            <p:cNvPr id="820" name="Google Shape;820;p70"/>
            <p:cNvCxnSpPr/>
            <p:nvPr/>
          </p:nvCxnSpPr>
          <p:spPr>
            <a:xfrm>
              <a:off x="1661200" y="2617025"/>
              <a:ext cx="1935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21" name="Google Shape;821;p70"/>
            <p:cNvCxnSpPr/>
            <p:nvPr/>
          </p:nvCxnSpPr>
          <p:spPr>
            <a:xfrm>
              <a:off x="1648150" y="2739200"/>
              <a:ext cx="19476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22" name="Google Shape;822;p70"/>
          <p:cNvCxnSpPr/>
          <p:nvPr/>
        </p:nvCxnSpPr>
        <p:spPr>
          <a:xfrm rot="10800000">
            <a:off x="1704087" y="4317962"/>
            <a:ext cx="116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2090856" y="4321360"/>
            <a:ext cx="5226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90 m</a:t>
            </a:r>
            <a:endParaRPr sz="1600"/>
          </a:p>
        </p:txBody>
      </p:sp>
      <p:grpSp>
        <p:nvGrpSpPr>
          <p:cNvPr id="824" name="Google Shape;824;p70"/>
          <p:cNvGrpSpPr/>
          <p:nvPr/>
        </p:nvGrpSpPr>
        <p:grpSpPr>
          <a:xfrm rot="5400000">
            <a:off x="5227646" y="3690712"/>
            <a:ext cx="102449" cy="1161552"/>
            <a:chOff x="3584947" y="2705808"/>
            <a:chExt cx="109174" cy="1237800"/>
          </a:xfrm>
        </p:grpSpPr>
        <p:cxnSp>
          <p:nvCxnSpPr>
            <p:cNvPr id="825" name="Google Shape;825;p70"/>
            <p:cNvCxnSpPr/>
            <p:nvPr/>
          </p:nvCxnSpPr>
          <p:spPr>
            <a:xfrm rot="-5400000">
              <a:off x="3082271" y="3324050"/>
              <a:ext cx="122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26" name="Google Shape;826;p70"/>
            <p:cNvCxnSpPr/>
            <p:nvPr/>
          </p:nvCxnSpPr>
          <p:spPr>
            <a:xfrm rot="10800000">
              <a:off x="3584947" y="2705808"/>
              <a:ext cx="0" cy="123780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27" name="Google Shape;827;p70"/>
          <p:cNvSpPr txBox="1"/>
          <p:nvPr>
            <p:ph idx="1" type="body"/>
          </p:nvPr>
        </p:nvSpPr>
        <p:spPr>
          <a:xfrm>
            <a:off x="4985978" y="4318139"/>
            <a:ext cx="5226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90 m</a:t>
            </a:r>
            <a:endParaRPr sz="1600"/>
          </a:p>
        </p:txBody>
      </p:sp>
      <p:grpSp>
        <p:nvGrpSpPr>
          <p:cNvPr id="828" name="Google Shape;828;p70"/>
          <p:cNvGrpSpPr/>
          <p:nvPr/>
        </p:nvGrpSpPr>
        <p:grpSpPr>
          <a:xfrm rot="10800000">
            <a:off x="5859964" y="4220323"/>
            <a:ext cx="1828674" cy="101541"/>
            <a:chOff x="1648150" y="2630993"/>
            <a:chExt cx="1948715" cy="108207"/>
          </a:xfrm>
        </p:grpSpPr>
        <p:cxnSp>
          <p:nvCxnSpPr>
            <p:cNvPr id="829" name="Google Shape;829;p70"/>
            <p:cNvCxnSpPr/>
            <p:nvPr/>
          </p:nvCxnSpPr>
          <p:spPr>
            <a:xfrm>
              <a:off x="1661865" y="2630993"/>
              <a:ext cx="1935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30" name="Google Shape;830;p70"/>
            <p:cNvCxnSpPr/>
            <p:nvPr/>
          </p:nvCxnSpPr>
          <p:spPr>
            <a:xfrm>
              <a:off x="1648150" y="2739200"/>
              <a:ext cx="1947600" cy="0"/>
            </a:xfrm>
            <a:prstGeom prst="straightConnector1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1" name="Google Shape;831;p70"/>
          <p:cNvSpPr txBox="1"/>
          <p:nvPr>
            <p:ph idx="1" type="body"/>
          </p:nvPr>
        </p:nvSpPr>
        <p:spPr>
          <a:xfrm>
            <a:off x="6458054" y="4318146"/>
            <a:ext cx="6375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120 m</a:t>
            </a:r>
            <a:endParaRPr sz="1600"/>
          </a:p>
        </p:txBody>
      </p:sp>
      <p:cxnSp>
        <p:nvCxnSpPr>
          <p:cNvPr id="832" name="Google Shape;832;p70"/>
          <p:cNvCxnSpPr/>
          <p:nvPr/>
        </p:nvCxnSpPr>
        <p:spPr>
          <a:xfrm>
            <a:off x="1720036" y="4602985"/>
            <a:ext cx="595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3" name="Google Shape;833;p70"/>
          <p:cNvSpPr txBox="1"/>
          <p:nvPr>
            <p:ph idx="1" type="body"/>
          </p:nvPr>
        </p:nvSpPr>
        <p:spPr>
          <a:xfrm>
            <a:off x="4358941" y="4609883"/>
            <a:ext cx="6375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420 m</a:t>
            </a:r>
            <a:endParaRPr sz="1600"/>
          </a:p>
        </p:txBody>
      </p:sp>
      <p:sp>
        <p:nvSpPr>
          <p:cNvPr id="834" name="Google Shape;834;p70"/>
          <p:cNvSpPr txBox="1"/>
          <p:nvPr>
            <p:ph idx="1" type="body"/>
          </p:nvPr>
        </p:nvSpPr>
        <p:spPr>
          <a:xfrm>
            <a:off x="293520" y="2377759"/>
            <a:ext cx="8667600" cy="317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The perimeter of the field is the total length of the wall.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5" name="Google Shape;835;p70"/>
          <p:cNvSpPr txBox="1"/>
          <p:nvPr>
            <p:ph idx="1" type="body"/>
          </p:nvPr>
        </p:nvSpPr>
        <p:spPr>
          <a:xfrm>
            <a:off x="324000" y="1596400"/>
            <a:ext cx="7885200" cy="687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Which could be found by calculating the </a:t>
            </a:r>
            <a:r>
              <a:rPr lang="en-GB" sz="2000"/>
              <a:t>perimeter of the field: </a:t>
            </a:r>
            <a:r>
              <a:rPr lang="en-GB" sz="2000">
                <a:solidFill>
                  <a:srgbClr val="282828"/>
                </a:solidFill>
              </a:rPr>
              <a:t>the total amount of grass or the total length of wall?</a:t>
            </a:r>
            <a:endParaRPr sz="2000"/>
          </a:p>
        </p:txBody>
      </p:sp>
      <p:sp>
        <p:nvSpPr>
          <p:cNvPr id="836" name="Google Shape;836;p70"/>
          <p:cNvSpPr txBox="1"/>
          <p:nvPr>
            <p:ph idx="1" type="body"/>
          </p:nvPr>
        </p:nvSpPr>
        <p:spPr>
          <a:xfrm>
            <a:off x="6102996" y="3347950"/>
            <a:ext cx="2180700" cy="317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perimeter = 420 m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37" name="Google Shape;837;p70"/>
          <p:cNvCxnSpPr/>
          <p:nvPr/>
        </p:nvCxnSpPr>
        <p:spPr>
          <a:xfrm>
            <a:off x="1704225" y="4221950"/>
            <a:ext cx="1191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1"/>
          <p:cNvSpPr txBox="1"/>
          <p:nvPr>
            <p:ph idx="1" type="body"/>
          </p:nvPr>
        </p:nvSpPr>
        <p:spPr>
          <a:xfrm>
            <a:off x="324000" y="759300"/>
            <a:ext cx="8237700" cy="45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The perimeter is the </a:t>
            </a:r>
            <a:r>
              <a:rPr lang="en-GB" sz="2000">
                <a:solidFill>
                  <a:schemeClr val="accent4"/>
                </a:solidFill>
              </a:rPr>
              <a:t>distance</a:t>
            </a:r>
            <a:r>
              <a:rPr lang="en-GB" sz="2000">
                <a:solidFill>
                  <a:srgbClr val="282828"/>
                </a:solidFill>
              </a:rPr>
              <a:t> around a 2D shape.</a:t>
            </a:r>
            <a:endParaRPr sz="2000"/>
          </a:p>
        </p:txBody>
      </p:sp>
      <p:sp>
        <p:nvSpPr>
          <p:cNvPr id="843" name="Google Shape;84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844" name="Google Shape;844;p71"/>
          <p:cNvSpPr txBox="1"/>
          <p:nvPr>
            <p:ph idx="1" type="body"/>
          </p:nvPr>
        </p:nvSpPr>
        <p:spPr>
          <a:xfrm>
            <a:off x="324000" y="1243975"/>
            <a:ext cx="8496000" cy="73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Perimeter is a length and so it can be measured with </a:t>
            </a:r>
            <a:r>
              <a:rPr lang="en-GB" sz="2000"/>
              <a:t>units of length (e.g. centimetres, inches).</a:t>
            </a:r>
            <a:endParaRPr sz="2000"/>
          </a:p>
        </p:txBody>
      </p:sp>
      <p:sp>
        <p:nvSpPr>
          <p:cNvPr id="845" name="Google Shape;845;p71"/>
          <p:cNvSpPr txBox="1"/>
          <p:nvPr>
            <p:ph idx="1" type="body"/>
          </p:nvPr>
        </p:nvSpPr>
        <p:spPr>
          <a:xfrm>
            <a:off x="324000" y="2082175"/>
            <a:ext cx="8237700" cy="45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What other units could be used to measure perimeter?</a:t>
            </a:r>
            <a:endParaRPr sz="2000"/>
          </a:p>
        </p:txBody>
      </p:sp>
      <p:sp>
        <p:nvSpPr>
          <p:cNvPr id="846" name="Google Shape;846;p71"/>
          <p:cNvSpPr txBox="1"/>
          <p:nvPr>
            <p:ph idx="1" type="body"/>
          </p:nvPr>
        </p:nvSpPr>
        <p:spPr>
          <a:xfrm>
            <a:off x="2099460" y="2853600"/>
            <a:ext cx="1802100" cy="386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millimetres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7" name="Google Shape;847;p71"/>
          <p:cNvSpPr txBox="1"/>
          <p:nvPr>
            <p:ph idx="1" type="body"/>
          </p:nvPr>
        </p:nvSpPr>
        <p:spPr>
          <a:xfrm>
            <a:off x="2099460" y="3455550"/>
            <a:ext cx="849600" cy="386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metres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8" name="Google Shape;848;p71"/>
          <p:cNvSpPr txBox="1"/>
          <p:nvPr>
            <p:ph idx="1" type="body"/>
          </p:nvPr>
        </p:nvSpPr>
        <p:spPr>
          <a:xfrm>
            <a:off x="2090940" y="4109825"/>
            <a:ext cx="1802100" cy="386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kilometres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9" name="Google Shape;849;p71"/>
          <p:cNvSpPr txBox="1"/>
          <p:nvPr>
            <p:ph idx="1" type="body"/>
          </p:nvPr>
        </p:nvSpPr>
        <p:spPr>
          <a:xfrm>
            <a:off x="5223660" y="2853600"/>
            <a:ext cx="1802100" cy="386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feet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0" name="Google Shape;850;p71"/>
          <p:cNvSpPr txBox="1"/>
          <p:nvPr>
            <p:ph idx="1" type="body"/>
          </p:nvPr>
        </p:nvSpPr>
        <p:spPr>
          <a:xfrm>
            <a:off x="5223660" y="3455550"/>
            <a:ext cx="849600" cy="386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yards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1" name="Google Shape;851;p71"/>
          <p:cNvSpPr txBox="1"/>
          <p:nvPr>
            <p:ph idx="1" type="body"/>
          </p:nvPr>
        </p:nvSpPr>
        <p:spPr>
          <a:xfrm>
            <a:off x="5215140" y="4109825"/>
            <a:ext cx="1802100" cy="386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miles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2"/>
          <p:cNvSpPr txBox="1"/>
          <p:nvPr>
            <p:ph idx="1" type="body"/>
          </p:nvPr>
        </p:nvSpPr>
        <p:spPr>
          <a:xfrm>
            <a:off x="324000" y="683100"/>
            <a:ext cx="7135200" cy="713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perimeter can be found by summing the lengths of the sides.</a:t>
            </a:r>
            <a:endParaRPr sz="2000"/>
          </a:p>
        </p:txBody>
      </p:sp>
      <p:sp>
        <p:nvSpPr>
          <p:cNvPr id="857" name="Google Shape;85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858" name="Google Shape;858;p72"/>
          <p:cNvSpPr txBox="1"/>
          <p:nvPr>
            <p:ph idx="1" type="body"/>
          </p:nvPr>
        </p:nvSpPr>
        <p:spPr>
          <a:xfrm>
            <a:off x="324000" y="1449725"/>
            <a:ext cx="8496000" cy="397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Who has correctly calculated the perimeter of the rectangle?</a:t>
            </a:r>
            <a:endParaRPr sz="2000"/>
          </a:p>
        </p:txBody>
      </p:sp>
      <p:cxnSp>
        <p:nvCxnSpPr>
          <p:cNvPr id="859" name="Google Shape;859;p72"/>
          <p:cNvCxnSpPr/>
          <p:nvPr/>
        </p:nvCxnSpPr>
        <p:spPr>
          <a:xfrm>
            <a:off x="5924415" y="4146437"/>
            <a:ext cx="143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0" name="Google Shape;860;p72"/>
          <p:cNvSpPr txBox="1"/>
          <p:nvPr>
            <p:ph idx="1" type="body"/>
          </p:nvPr>
        </p:nvSpPr>
        <p:spPr>
          <a:xfrm>
            <a:off x="6404315" y="4138608"/>
            <a:ext cx="723600" cy="33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 cm</a:t>
            </a:r>
            <a:endParaRPr sz="1600"/>
          </a:p>
        </p:txBody>
      </p:sp>
      <p:sp>
        <p:nvSpPr>
          <p:cNvPr id="861" name="Google Shape;861;p72"/>
          <p:cNvSpPr/>
          <p:nvPr/>
        </p:nvSpPr>
        <p:spPr>
          <a:xfrm rot="5400000">
            <a:off x="5742357" y="2384070"/>
            <a:ext cx="1782000" cy="1418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2" name="Google Shape;862;p72"/>
          <p:cNvCxnSpPr/>
          <p:nvPr/>
        </p:nvCxnSpPr>
        <p:spPr>
          <a:xfrm rot="10800000">
            <a:off x="5734814" y="2211159"/>
            <a:ext cx="0" cy="175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5214600" y="2986847"/>
            <a:ext cx="723600" cy="33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8</a:t>
            </a:r>
            <a:r>
              <a:rPr lang="en-GB" sz="1600">
                <a:solidFill>
                  <a:srgbClr val="282828"/>
                </a:solidFill>
              </a:rPr>
              <a:t> cm</a:t>
            </a:r>
            <a:endParaRPr sz="1600"/>
          </a:p>
        </p:txBody>
      </p:sp>
      <p:cxnSp>
        <p:nvCxnSpPr>
          <p:cNvPr id="864" name="Google Shape;864;p72"/>
          <p:cNvCxnSpPr/>
          <p:nvPr/>
        </p:nvCxnSpPr>
        <p:spPr>
          <a:xfrm>
            <a:off x="6605523" y="3866034"/>
            <a:ext cx="0" cy="21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72"/>
          <p:cNvCxnSpPr/>
          <p:nvPr/>
        </p:nvCxnSpPr>
        <p:spPr>
          <a:xfrm>
            <a:off x="6605523" y="2088810"/>
            <a:ext cx="0" cy="21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72"/>
          <p:cNvCxnSpPr/>
          <p:nvPr/>
        </p:nvCxnSpPr>
        <p:spPr>
          <a:xfrm>
            <a:off x="7353300" y="2910135"/>
            <a:ext cx="0" cy="21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72"/>
          <p:cNvCxnSpPr/>
          <p:nvPr/>
        </p:nvCxnSpPr>
        <p:spPr>
          <a:xfrm>
            <a:off x="7353300" y="3009874"/>
            <a:ext cx="0" cy="21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72"/>
          <p:cNvCxnSpPr/>
          <p:nvPr/>
        </p:nvCxnSpPr>
        <p:spPr>
          <a:xfrm>
            <a:off x="5926270" y="2910135"/>
            <a:ext cx="0" cy="21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72"/>
          <p:cNvCxnSpPr/>
          <p:nvPr/>
        </p:nvCxnSpPr>
        <p:spPr>
          <a:xfrm>
            <a:off x="5926270" y="3009874"/>
            <a:ext cx="0" cy="21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0" name="Google Shape;87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600" y="1870500"/>
            <a:ext cx="570486" cy="7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64599" y="3492500"/>
            <a:ext cx="608551" cy="6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2"/>
          <p:cNvSpPr txBox="1"/>
          <p:nvPr>
            <p:ph idx="1" type="body"/>
          </p:nvPr>
        </p:nvSpPr>
        <p:spPr>
          <a:xfrm>
            <a:off x="1444125" y="2104074"/>
            <a:ext cx="1787400" cy="397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Jun’s working:</a:t>
            </a:r>
            <a:endParaRPr sz="1800"/>
          </a:p>
        </p:txBody>
      </p:sp>
      <p:sp>
        <p:nvSpPr>
          <p:cNvPr id="873" name="Google Shape;873;p72"/>
          <p:cNvSpPr txBox="1"/>
          <p:nvPr>
            <p:ph idx="1" type="body"/>
          </p:nvPr>
        </p:nvSpPr>
        <p:spPr>
          <a:xfrm>
            <a:off x="1444125" y="3660719"/>
            <a:ext cx="1787400" cy="397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Sofia</a:t>
            </a:r>
            <a:r>
              <a:rPr lang="en-GB" sz="1800">
                <a:solidFill>
                  <a:srgbClr val="282828"/>
                </a:solidFill>
              </a:rPr>
              <a:t>’s working:</a:t>
            </a:r>
            <a:endParaRPr sz="1800"/>
          </a:p>
        </p:txBody>
      </p:sp>
      <p:sp>
        <p:nvSpPr>
          <p:cNvPr id="874" name="Google Shape;874;p72"/>
          <p:cNvSpPr txBox="1"/>
          <p:nvPr>
            <p:ph idx="1" type="body"/>
          </p:nvPr>
        </p:nvSpPr>
        <p:spPr>
          <a:xfrm>
            <a:off x="1768600" y="2501875"/>
            <a:ext cx="1828200" cy="342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8 + 5 = 13 cm</a:t>
            </a:r>
            <a:endParaRPr sz="2000"/>
          </a:p>
        </p:txBody>
      </p:sp>
      <p:sp>
        <p:nvSpPr>
          <p:cNvPr id="875" name="Google Shape;875;p72"/>
          <p:cNvSpPr txBox="1"/>
          <p:nvPr>
            <p:ph idx="1" type="body"/>
          </p:nvPr>
        </p:nvSpPr>
        <p:spPr>
          <a:xfrm>
            <a:off x="1768600" y="4102075"/>
            <a:ext cx="2605500" cy="342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8 + 5 + 8 + 5 = 26 cm</a:t>
            </a:r>
            <a:endParaRPr sz="2000"/>
          </a:p>
        </p:txBody>
      </p:sp>
      <p:pic>
        <p:nvPicPr>
          <p:cNvPr id="876" name="Google Shape;876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3721" y="396525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7" name="Google Shape;877;p72"/>
          <p:cNvCxnSpPr/>
          <p:nvPr/>
        </p:nvCxnSpPr>
        <p:spPr>
          <a:xfrm rot="10800000">
            <a:off x="7563614" y="2211159"/>
            <a:ext cx="0" cy="175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8" name="Google Shape;878;p72"/>
          <p:cNvSpPr txBox="1"/>
          <p:nvPr>
            <p:ph idx="1" type="body"/>
          </p:nvPr>
        </p:nvSpPr>
        <p:spPr>
          <a:xfrm>
            <a:off x="7653000" y="2986847"/>
            <a:ext cx="723600" cy="33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8 cm</a:t>
            </a:r>
            <a:endParaRPr sz="1600"/>
          </a:p>
        </p:txBody>
      </p:sp>
      <p:cxnSp>
        <p:nvCxnSpPr>
          <p:cNvPr id="879" name="Google Shape;879;p72"/>
          <p:cNvCxnSpPr/>
          <p:nvPr/>
        </p:nvCxnSpPr>
        <p:spPr>
          <a:xfrm>
            <a:off x="5924415" y="2012837"/>
            <a:ext cx="143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0" name="Google Shape;880;p72"/>
          <p:cNvSpPr txBox="1"/>
          <p:nvPr>
            <p:ph idx="1" type="body"/>
          </p:nvPr>
        </p:nvSpPr>
        <p:spPr>
          <a:xfrm>
            <a:off x="6366215" y="1776408"/>
            <a:ext cx="723600" cy="33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 cm</a:t>
            </a:r>
            <a:endParaRPr sz="1600"/>
          </a:p>
        </p:txBody>
      </p:sp>
      <p:sp>
        <p:nvSpPr>
          <p:cNvPr id="881" name="Google Shape;881;p72"/>
          <p:cNvSpPr txBox="1"/>
          <p:nvPr>
            <p:ph idx="1" type="body"/>
          </p:nvPr>
        </p:nvSpPr>
        <p:spPr>
          <a:xfrm>
            <a:off x="815450" y="2903775"/>
            <a:ext cx="4126500" cy="397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Jun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has not included all of the sides.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82" name="Google Shape;882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0013" y="242501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693" y="3454177"/>
            <a:ext cx="475507" cy="6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49845" y="1912559"/>
            <a:ext cx="593750" cy="68474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3"/>
          <p:cNvSpPr txBox="1"/>
          <p:nvPr>
            <p:ph idx="1" type="body"/>
          </p:nvPr>
        </p:nvSpPr>
        <p:spPr>
          <a:xfrm>
            <a:off x="324000" y="759300"/>
            <a:ext cx="7135200" cy="713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perimeter can be found by summing the lengths of the sides.</a:t>
            </a:r>
            <a:endParaRPr sz="2000"/>
          </a:p>
        </p:txBody>
      </p:sp>
      <p:sp>
        <p:nvSpPr>
          <p:cNvPr id="890" name="Google Shape;89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891" name="Google Shape;891;p73"/>
          <p:cNvSpPr txBox="1"/>
          <p:nvPr>
            <p:ph idx="1" type="body"/>
          </p:nvPr>
        </p:nvSpPr>
        <p:spPr>
          <a:xfrm>
            <a:off x="324000" y="1525925"/>
            <a:ext cx="8496000" cy="397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Who has correctly calculated the perimeter of the triangle?</a:t>
            </a:r>
            <a:endParaRPr sz="2000"/>
          </a:p>
        </p:txBody>
      </p:sp>
      <p:sp>
        <p:nvSpPr>
          <p:cNvPr id="892" name="Google Shape;892;p73"/>
          <p:cNvSpPr txBox="1"/>
          <p:nvPr>
            <p:ph idx="1" type="body"/>
          </p:nvPr>
        </p:nvSpPr>
        <p:spPr>
          <a:xfrm>
            <a:off x="5880375" y="3877168"/>
            <a:ext cx="723600" cy="33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 cm</a:t>
            </a:r>
            <a:endParaRPr sz="1600"/>
          </a:p>
        </p:txBody>
      </p:sp>
      <p:sp>
        <p:nvSpPr>
          <p:cNvPr id="893" name="Google Shape;893;p73"/>
          <p:cNvSpPr txBox="1"/>
          <p:nvPr>
            <p:ph idx="1" type="body"/>
          </p:nvPr>
        </p:nvSpPr>
        <p:spPr>
          <a:xfrm>
            <a:off x="1444125" y="2104074"/>
            <a:ext cx="1787400" cy="397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Alex’s working:</a:t>
            </a:r>
            <a:endParaRPr sz="1800"/>
          </a:p>
        </p:txBody>
      </p:sp>
      <p:sp>
        <p:nvSpPr>
          <p:cNvPr id="894" name="Google Shape;894;p73"/>
          <p:cNvSpPr txBox="1"/>
          <p:nvPr>
            <p:ph idx="1" type="body"/>
          </p:nvPr>
        </p:nvSpPr>
        <p:spPr>
          <a:xfrm>
            <a:off x="1444125" y="3660719"/>
            <a:ext cx="1787400" cy="397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Sam’s working:</a:t>
            </a:r>
            <a:endParaRPr sz="1800"/>
          </a:p>
        </p:txBody>
      </p:sp>
      <p:sp>
        <p:nvSpPr>
          <p:cNvPr id="895" name="Google Shape;895;p73"/>
          <p:cNvSpPr txBox="1"/>
          <p:nvPr>
            <p:ph idx="1" type="body"/>
          </p:nvPr>
        </p:nvSpPr>
        <p:spPr>
          <a:xfrm>
            <a:off x="1768600" y="2501875"/>
            <a:ext cx="2254800" cy="342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8 + 5 + 6 = 19 cm</a:t>
            </a:r>
            <a:endParaRPr sz="2000"/>
          </a:p>
        </p:txBody>
      </p:sp>
      <p:sp>
        <p:nvSpPr>
          <p:cNvPr id="896" name="Google Shape;896;p73"/>
          <p:cNvSpPr txBox="1"/>
          <p:nvPr>
            <p:ph idx="1" type="body"/>
          </p:nvPr>
        </p:nvSpPr>
        <p:spPr>
          <a:xfrm>
            <a:off x="1768600" y="4102075"/>
            <a:ext cx="2605500" cy="342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8 +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08-11-2023/6f4e61b8-488d-491d-8f04-ce4a34fb6470&quot; data-equatio-type=&quot;image&quot;&gt;&lt;mglyph src=&quot;https://equatio-api.texthelp.com/desmos/get/08-11-2023/6f4e61b8-488d-491d-8f04-ce4a34fb6470&quot; alt=&quot;Equatio Image&quot;/&gt;&lt;/math&gt;" id="897" name="Google Shape;897;p73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8111" y="2415050"/>
            <a:ext cx="2605500" cy="1344586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3"/>
          <p:cNvSpPr txBox="1"/>
          <p:nvPr>
            <p:ph idx="1" type="body"/>
          </p:nvPr>
        </p:nvSpPr>
        <p:spPr>
          <a:xfrm>
            <a:off x="7472015" y="3163626"/>
            <a:ext cx="723600" cy="33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/>
          </a:p>
        </p:txBody>
      </p:sp>
      <p:cxnSp>
        <p:nvCxnSpPr>
          <p:cNvPr id="899" name="Google Shape;899;p73"/>
          <p:cNvCxnSpPr/>
          <p:nvPr/>
        </p:nvCxnSpPr>
        <p:spPr>
          <a:xfrm rot="10800000">
            <a:off x="8193734" y="2471250"/>
            <a:ext cx="0" cy="130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00" name="Google Shape;900;p73"/>
          <p:cNvSpPr txBox="1"/>
          <p:nvPr>
            <p:ph idx="1" type="body"/>
          </p:nvPr>
        </p:nvSpPr>
        <p:spPr>
          <a:xfrm>
            <a:off x="8216919" y="3028153"/>
            <a:ext cx="723600" cy="33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cm</a:t>
            </a:r>
            <a:endParaRPr sz="1600"/>
          </a:p>
        </p:txBody>
      </p:sp>
      <p:sp>
        <p:nvSpPr>
          <p:cNvPr id="901" name="Google Shape;901;p73"/>
          <p:cNvSpPr txBox="1"/>
          <p:nvPr>
            <p:ph idx="1" type="body"/>
          </p:nvPr>
        </p:nvSpPr>
        <p:spPr>
          <a:xfrm>
            <a:off x="5804175" y="2729317"/>
            <a:ext cx="723600" cy="33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8 cm</a:t>
            </a:r>
            <a:endParaRPr sz="1600"/>
          </a:p>
        </p:txBody>
      </p:sp>
      <p:pic>
        <p:nvPicPr>
          <p:cNvPr id="902" name="Google Shape;902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4946" y="242221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3"/>
          <p:cNvSpPr txBox="1"/>
          <p:nvPr>
            <p:ph idx="1" type="body"/>
          </p:nvPr>
        </p:nvSpPr>
        <p:spPr>
          <a:xfrm>
            <a:off x="868800" y="4505935"/>
            <a:ext cx="6408300" cy="397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Sam has included a length that is not one of the sides.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04" name="Google Shape;90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9988" y="4063642"/>
            <a:ext cx="396000" cy="419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5" name="Google Shape;905;p73"/>
          <p:cNvCxnSpPr/>
          <p:nvPr/>
        </p:nvCxnSpPr>
        <p:spPr>
          <a:xfrm flipH="1" rot="10800000">
            <a:off x="5172791" y="2330654"/>
            <a:ext cx="2507400" cy="126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06" name="Google Shape;906;p73"/>
          <p:cNvCxnSpPr/>
          <p:nvPr/>
        </p:nvCxnSpPr>
        <p:spPr>
          <a:xfrm flipH="1" rot="10800000">
            <a:off x="5268507" y="3865782"/>
            <a:ext cx="16470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07" name="Google Shape;907;p73"/>
          <p:cNvCxnSpPr/>
          <p:nvPr/>
        </p:nvCxnSpPr>
        <p:spPr>
          <a:xfrm flipH="1" rot="10800000">
            <a:off x="7015481" y="2482328"/>
            <a:ext cx="931200" cy="12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8" name="Google Shape;908;p73"/>
          <p:cNvSpPr/>
          <p:nvPr/>
        </p:nvSpPr>
        <p:spPr>
          <a:xfrm>
            <a:off x="3034926" y="4043450"/>
            <a:ext cx="270900" cy="462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3"/>
          <p:cNvSpPr/>
          <p:nvPr/>
        </p:nvSpPr>
        <p:spPr>
          <a:xfrm>
            <a:off x="8192240" y="2966050"/>
            <a:ext cx="593700" cy="462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3"/>
          <p:cNvSpPr txBox="1"/>
          <p:nvPr>
            <p:ph idx="1" type="body"/>
          </p:nvPr>
        </p:nvSpPr>
        <p:spPr>
          <a:xfrm>
            <a:off x="2203075" y="4102075"/>
            <a:ext cx="2628300" cy="342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5 +</a:t>
            </a:r>
            <a:endParaRPr sz="2000"/>
          </a:p>
        </p:txBody>
      </p:sp>
      <p:sp>
        <p:nvSpPr>
          <p:cNvPr id="911" name="Google Shape;911;p73"/>
          <p:cNvSpPr txBox="1"/>
          <p:nvPr>
            <p:ph idx="1" type="body"/>
          </p:nvPr>
        </p:nvSpPr>
        <p:spPr>
          <a:xfrm>
            <a:off x="2637725" y="4102075"/>
            <a:ext cx="2650800" cy="342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6 +</a:t>
            </a:r>
            <a:endParaRPr sz="2000"/>
          </a:p>
        </p:txBody>
      </p:sp>
      <p:sp>
        <p:nvSpPr>
          <p:cNvPr id="912" name="Google Shape;912;p73"/>
          <p:cNvSpPr txBox="1"/>
          <p:nvPr>
            <p:ph idx="1" type="body"/>
          </p:nvPr>
        </p:nvSpPr>
        <p:spPr>
          <a:xfrm>
            <a:off x="3062050" y="4102075"/>
            <a:ext cx="2379000" cy="342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4</a:t>
            </a:r>
            <a:endParaRPr sz="2000"/>
          </a:p>
        </p:txBody>
      </p:sp>
      <p:sp>
        <p:nvSpPr>
          <p:cNvPr id="913" name="Google Shape;913;p73"/>
          <p:cNvSpPr txBox="1"/>
          <p:nvPr>
            <p:ph idx="1" type="body"/>
          </p:nvPr>
        </p:nvSpPr>
        <p:spPr>
          <a:xfrm>
            <a:off x="3305825" y="4102075"/>
            <a:ext cx="2287500" cy="342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= 23 cm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4"/>
          <p:cNvSpPr txBox="1"/>
          <p:nvPr>
            <p:ph type="title"/>
          </p:nvPr>
        </p:nvSpPr>
        <p:spPr>
          <a:xfrm>
            <a:off x="324000" y="810006"/>
            <a:ext cx="8179200" cy="7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rectangle is made out of square tiles. What is the perimeter of the </a:t>
            </a:r>
            <a:r>
              <a:rPr lang="en-GB" sz="2000"/>
              <a:t>rectangle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919" name="Google Shape;919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920" name="Google Shape;920;p74"/>
          <p:cNvSpPr txBox="1"/>
          <p:nvPr>
            <p:ph idx="1" type="subTitle"/>
          </p:nvPr>
        </p:nvSpPr>
        <p:spPr>
          <a:xfrm>
            <a:off x="1034425" y="1685375"/>
            <a:ext cx="901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m</a:t>
            </a:r>
            <a:endParaRPr/>
          </a:p>
        </p:txBody>
      </p:sp>
      <p:sp>
        <p:nvSpPr>
          <p:cNvPr id="921" name="Google Shape;921;p74"/>
          <p:cNvSpPr txBox="1"/>
          <p:nvPr>
            <p:ph idx="3" type="subTitle"/>
          </p:nvPr>
        </p:nvSpPr>
        <p:spPr>
          <a:xfrm>
            <a:off x="1034425" y="2489450"/>
            <a:ext cx="826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 m</a:t>
            </a:r>
            <a:endParaRPr/>
          </a:p>
        </p:txBody>
      </p:sp>
      <p:sp>
        <p:nvSpPr>
          <p:cNvPr id="922" name="Google Shape;922;p74"/>
          <p:cNvSpPr txBox="1"/>
          <p:nvPr>
            <p:ph idx="4" type="subTitle"/>
          </p:nvPr>
        </p:nvSpPr>
        <p:spPr>
          <a:xfrm>
            <a:off x="1034425" y="3309775"/>
            <a:ext cx="901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 m</a:t>
            </a:r>
            <a:endParaRPr/>
          </a:p>
        </p:txBody>
      </p:sp>
      <p:sp>
        <p:nvSpPr>
          <p:cNvPr id="923" name="Google Shape;923;p74"/>
          <p:cNvSpPr/>
          <p:nvPr/>
        </p:nvSpPr>
        <p:spPr>
          <a:xfrm>
            <a:off x="5075447" y="1990175"/>
            <a:ext cx="821100" cy="821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4"/>
          <p:cNvSpPr/>
          <p:nvPr/>
        </p:nvSpPr>
        <p:spPr>
          <a:xfrm>
            <a:off x="5896494" y="1990199"/>
            <a:ext cx="821100" cy="821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4"/>
          <p:cNvSpPr/>
          <p:nvPr/>
        </p:nvSpPr>
        <p:spPr>
          <a:xfrm>
            <a:off x="6717540" y="1990175"/>
            <a:ext cx="821100" cy="821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4"/>
          <p:cNvSpPr/>
          <p:nvPr/>
        </p:nvSpPr>
        <p:spPr>
          <a:xfrm>
            <a:off x="7538586" y="1990199"/>
            <a:ext cx="821100" cy="821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4"/>
          <p:cNvSpPr/>
          <p:nvPr/>
        </p:nvSpPr>
        <p:spPr>
          <a:xfrm>
            <a:off x="5075447" y="2811266"/>
            <a:ext cx="821100" cy="821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4"/>
          <p:cNvSpPr/>
          <p:nvPr/>
        </p:nvSpPr>
        <p:spPr>
          <a:xfrm>
            <a:off x="5896494" y="2811266"/>
            <a:ext cx="821100" cy="821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4"/>
          <p:cNvSpPr/>
          <p:nvPr/>
        </p:nvSpPr>
        <p:spPr>
          <a:xfrm>
            <a:off x="6717540" y="2811266"/>
            <a:ext cx="821100" cy="821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4"/>
          <p:cNvSpPr/>
          <p:nvPr/>
        </p:nvSpPr>
        <p:spPr>
          <a:xfrm>
            <a:off x="7538586" y="2811266"/>
            <a:ext cx="821100" cy="821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4"/>
          <p:cNvSpPr/>
          <p:nvPr/>
        </p:nvSpPr>
        <p:spPr>
          <a:xfrm>
            <a:off x="5084391" y="1995263"/>
            <a:ext cx="3275100" cy="1637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2" name="Google Shape;932;p74"/>
          <p:cNvCxnSpPr/>
          <p:nvPr/>
        </p:nvCxnSpPr>
        <p:spPr>
          <a:xfrm flipH="1" rot="10800000">
            <a:off x="5086510" y="3738768"/>
            <a:ext cx="826500" cy="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3" name="Google Shape;933;p74"/>
          <p:cNvSpPr txBox="1"/>
          <p:nvPr>
            <p:ph idx="4294967295" type="body"/>
          </p:nvPr>
        </p:nvSpPr>
        <p:spPr>
          <a:xfrm>
            <a:off x="5307370" y="3761628"/>
            <a:ext cx="723600" cy="33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</a:t>
            </a:r>
            <a:r>
              <a:rPr lang="en-GB" sz="2000"/>
              <a:t> m</a:t>
            </a:r>
            <a:endParaRPr sz="2000"/>
          </a:p>
        </p:txBody>
      </p:sp>
      <p:cxnSp>
        <p:nvCxnSpPr>
          <p:cNvPr id="934" name="Google Shape;934;p74"/>
          <p:cNvCxnSpPr/>
          <p:nvPr/>
        </p:nvCxnSpPr>
        <p:spPr>
          <a:xfrm rot="10800000">
            <a:off x="4956970" y="2870568"/>
            <a:ext cx="0" cy="76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5" name="Google Shape;935;p74"/>
          <p:cNvSpPr txBox="1"/>
          <p:nvPr>
            <p:ph idx="4294967295" type="body"/>
          </p:nvPr>
        </p:nvSpPr>
        <p:spPr>
          <a:xfrm>
            <a:off x="4469170" y="3091068"/>
            <a:ext cx="723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 m</a:t>
            </a:r>
            <a:endParaRPr sz="2000"/>
          </a:p>
        </p:txBody>
      </p:sp>
      <p:sp>
        <p:nvSpPr>
          <p:cNvPr id="936" name="Google Shape;936;p74"/>
          <p:cNvSpPr txBox="1"/>
          <p:nvPr>
            <p:ph idx="5" type="subTitle"/>
          </p:nvPr>
        </p:nvSpPr>
        <p:spPr>
          <a:xfrm>
            <a:off x="1034425" y="4113825"/>
            <a:ext cx="1068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 m</a:t>
            </a:r>
            <a:endParaRPr/>
          </a:p>
        </p:txBody>
      </p:sp>
      <p:pic>
        <p:nvPicPr>
          <p:cNvPr id="937" name="Google Shape;93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408" y="40505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5"/>
          <p:cNvSpPr/>
          <p:nvPr/>
        </p:nvSpPr>
        <p:spPr>
          <a:xfrm>
            <a:off x="6957185" y="1864650"/>
            <a:ext cx="1193700" cy="15294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5"/>
          <p:cNvSpPr/>
          <p:nvPr/>
        </p:nvSpPr>
        <p:spPr>
          <a:xfrm>
            <a:off x="498781" y="1885507"/>
            <a:ext cx="1959600" cy="1514400"/>
          </a:xfrm>
          <a:prstGeom prst="triangle">
            <a:avLst>
              <a:gd fmla="val 62779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shape has a perimeter of 16 cm?</a:t>
            </a:r>
            <a:endParaRPr/>
          </a:p>
        </p:txBody>
      </p:sp>
      <p:sp>
        <p:nvSpPr>
          <p:cNvPr id="945" name="Google Shape;945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946" name="Google Shape;946;p75"/>
          <p:cNvSpPr txBox="1"/>
          <p:nvPr>
            <p:ph idx="4294967295" type="body"/>
          </p:nvPr>
        </p:nvSpPr>
        <p:spPr>
          <a:xfrm>
            <a:off x="444063" y="2346509"/>
            <a:ext cx="567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/>
          </a:p>
        </p:txBody>
      </p:sp>
      <p:sp>
        <p:nvSpPr>
          <p:cNvPr id="947" name="Google Shape;947;p75"/>
          <p:cNvSpPr txBox="1"/>
          <p:nvPr>
            <p:ph idx="4294967295" type="body"/>
          </p:nvPr>
        </p:nvSpPr>
        <p:spPr>
          <a:xfrm>
            <a:off x="2259318" y="2408128"/>
            <a:ext cx="567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  <p:cxnSp>
        <p:nvCxnSpPr>
          <p:cNvPr id="948" name="Google Shape;948;p75"/>
          <p:cNvCxnSpPr/>
          <p:nvPr/>
        </p:nvCxnSpPr>
        <p:spPr>
          <a:xfrm rot="10800000">
            <a:off x="1715715" y="1954394"/>
            <a:ext cx="6600" cy="142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49" name="Google Shape;949;p75"/>
          <p:cNvSpPr txBox="1"/>
          <p:nvPr>
            <p:ph idx="4294967295" type="body"/>
          </p:nvPr>
        </p:nvSpPr>
        <p:spPr>
          <a:xfrm>
            <a:off x="1313146" y="3553684"/>
            <a:ext cx="567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 cm</a:t>
            </a:r>
            <a:endParaRPr sz="1600"/>
          </a:p>
        </p:txBody>
      </p:sp>
      <p:sp>
        <p:nvSpPr>
          <p:cNvPr id="950" name="Google Shape;950;p75"/>
          <p:cNvSpPr txBox="1"/>
          <p:nvPr>
            <p:ph idx="4294967295" type="body"/>
          </p:nvPr>
        </p:nvSpPr>
        <p:spPr>
          <a:xfrm>
            <a:off x="1228975" y="2717765"/>
            <a:ext cx="567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 cm</a:t>
            </a:r>
            <a:endParaRPr sz="1600"/>
          </a:p>
        </p:txBody>
      </p:sp>
      <p:sp>
        <p:nvSpPr>
          <p:cNvPr id="951" name="Google Shape;951;p75"/>
          <p:cNvSpPr/>
          <p:nvPr/>
        </p:nvSpPr>
        <p:spPr>
          <a:xfrm>
            <a:off x="4031832" y="1691581"/>
            <a:ext cx="1363200" cy="17151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5"/>
          <p:cNvSpPr txBox="1"/>
          <p:nvPr>
            <p:ph idx="4294967295" type="body"/>
          </p:nvPr>
        </p:nvSpPr>
        <p:spPr>
          <a:xfrm>
            <a:off x="4399117" y="3547636"/>
            <a:ext cx="599100" cy="319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/>
          </a:p>
        </p:txBody>
      </p:sp>
      <p:sp>
        <p:nvSpPr>
          <p:cNvPr id="953" name="Google Shape;953;p75"/>
          <p:cNvSpPr txBox="1"/>
          <p:nvPr>
            <p:ph idx="4294967295" type="body"/>
          </p:nvPr>
        </p:nvSpPr>
        <p:spPr>
          <a:xfrm>
            <a:off x="3268970" y="2505224"/>
            <a:ext cx="682800" cy="319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10 cm</a:t>
            </a:r>
            <a:endParaRPr sz="1600"/>
          </a:p>
        </p:txBody>
      </p:sp>
      <p:sp>
        <p:nvSpPr>
          <p:cNvPr id="954" name="Google Shape;954;p75"/>
          <p:cNvSpPr txBox="1"/>
          <p:nvPr>
            <p:ph idx="4294967295" type="body"/>
          </p:nvPr>
        </p:nvSpPr>
        <p:spPr>
          <a:xfrm>
            <a:off x="7291999" y="3550780"/>
            <a:ext cx="534000" cy="285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  <p:sp>
        <p:nvSpPr>
          <p:cNvPr id="955" name="Google Shape;955;p75"/>
          <p:cNvSpPr txBox="1"/>
          <p:nvPr>
            <p:ph idx="4294967295" type="body"/>
          </p:nvPr>
        </p:nvSpPr>
        <p:spPr>
          <a:xfrm>
            <a:off x="6284177" y="2510357"/>
            <a:ext cx="534000" cy="285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 cm</a:t>
            </a:r>
            <a:endParaRPr sz="1600"/>
          </a:p>
        </p:txBody>
      </p:sp>
      <p:pic>
        <p:nvPicPr>
          <p:cNvPr id="956" name="Google Shape;95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1233" y="394310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7" name="Google Shape;957;p75"/>
          <p:cNvCxnSpPr/>
          <p:nvPr/>
        </p:nvCxnSpPr>
        <p:spPr>
          <a:xfrm flipH="1" rot="10800000">
            <a:off x="351883" y="1823631"/>
            <a:ext cx="1246200" cy="1512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58" name="Google Shape;958;p75"/>
          <p:cNvCxnSpPr/>
          <p:nvPr/>
        </p:nvCxnSpPr>
        <p:spPr>
          <a:xfrm>
            <a:off x="498781" y="3552307"/>
            <a:ext cx="195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59" name="Google Shape;959;p75"/>
          <p:cNvCxnSpPr/>
          <p:nvPr/>
        </p:nvCxnSpPr>
        <p:spPr>
          <a:xfrm>
            <a:off x="1906381" y="1889407"/>
            <a:ext cx="704400" cy="151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0" name="Google Shape;960;p75"/>
          <p:cNvCxnSpPr/>
          <p:nvPr/>
        </p:nvCxnSpPr>
        <p:spPr>
          <a:xfrm>
            <a:off x="3872232" y="1709581"/>
            <a:ext cx="7200" cy="169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1" name="Google Shape;961;p75"/>
          <p:cNvCxnSpPr/>
          <p:nvPr/>
        </p:nvCxnSpPr>
        <p:spPr>
          <a:xfrm rot="10800000">
            <a:off x="4031832" y="3559081"/>
            <a:ext cx="136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2" name="Google Shape;962;p75"/>
          <p:cNvCxnSpPr/>
          <p:nvPr/>
        </p:nvCxnSpPr>
        <p:spPr>
          <a:xfrm flipH="1">
            <a:off x="6808400" y="1869200"/>
            <a:ext cx="7500" cy="153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3" name="Google Shape;963;p75"/>
          <p:cNvCxnSpPr/>
          <p:nvPr/>
        </p:nvCxnSpPr>
        <p:spPr>
          <a:xfrm flipH="1">
            <a:off x="6957125" y="3547025"/>
            <a:ext cx="1200000" cy="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76"/>
          <p:cNvSpPr txBox="1"/>
          <p:nvPr>
            <p:ph idx="1" type="body"/>
          </p:nvPr>
        </p:nvSpPr>
        <p:spPr>
          <a:xfrm>
            <a:off x="324000" y="759300"/>
            <a:ext cx="8237700" cy="4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Find the perimeter of each shape.</a:t>
            </a:r>
            <a:endParaRPr sz="1800"/>
          </a:p>
        </p:txBody>
      </p:sp>
      <p:sp>
        <p:nvSpPr>
          <p:cNvPr id="969" name="Google Shape;969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Understanding perimeter</a:t>
            </a:r>
            <a:endParaRPr/>
          </a:p>
        </p:txBody>
      </p:sp>
      <p:grpSp>
        <p:nvGrpSpPr>
          <p:cNvPr id="970" name="Google Shape;970;p76"/>
          <p:cNvGrpSpPr/>
          <p:nvPr/>
        </p:nvGrpSpPr>
        <p:grpSpPr>
          <a:xfrm>
            <a:off x="6850296" y="1562588"/>
            <a:ext cx="1598755" cy="2054951"/>
            <a:chOff x="848750" y="1620000"/>
            <a:chExt cx="1680600" cy="2160150"/>
          </a:xfrm>
        </p:grpSpPr>
        <p:cxnSp>
          <p:nvCxnSpPr>
            <p:cNvPr id="971" name="Google Shape;971;p76"/>
            <p:cNvCxnSpPr/>
            <p:nvPr/>
          </p:nvCxnSpPr>
          <p:spPr>
            <a:xfrm>
              <a:off x="1684795" y="1620000"/>
              <a:ext cx="0" cy="2160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2" name="Google Shape;972;p76"/>
            <p:cNvCxnSpPr/>
            <p:nvPr/>
          </p:nvCxnSpPr>
          <p:spPr>
            <a:xfrm>
              <a:off x="2109345" y="1620000"/>
              <a:ext cx="0" cy="2160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76"/>
            <p:cNvCxnSpPr/>
            <p:nvPr/>
          </p:nvCxnSpPr>
          <p:spPr>
            <a:xfrm>
              <a:off x="1260245" y="1620000"/>
              <a:ext cx="0" cy="2160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4" name="Google Shape;974;p76"/>
            <p:cNvCxnSpPr/>
            <p:nvPr/>
          </p:nvCxnSpPr>
          <p:spPr>
            <a:xfrm>
              <a:off x="848750" y="2069275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5" name="Google Shape;975;p76"/>
            <p:cNvCxnSpPr/>
            <p:nvPr/>
          </p:nvCxnSpPr>
          <p:spPr>
            <a:xfrm>
              <a:off x="848750" y="2502663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6" name="Google Shape;976;p76"/>
            <p:cNvCxnSpPr/>
            <p:nvPr/>
          </p:nvCxnSpPr>
          <p:spPr>
            <a:xfrm>
              <a:off x="848750" y="2932648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" name="Google Shape;977;p76"/>
            <p:cNvCxnSpPr/>
            <p:nvPr/>
          </p:nvCxnSpPr>
          <p:spPr>
            <a:xfrm>
              <a:off x="848750" y="3334059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8" name="Google Shape;978;p76"/>
            <p:cNvSpPr/>
            <p:nvPr/>
          </p:nvSpPr>
          <p:spPr>
            <a:xfrm>
              <a:off x="848750" y="1637250"/>
              <a:ext cx="1680600" cy="21429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9" name="Google Shape;979;p76"/>
          <p:cNvSpPr/>
          <p:nvPr/>
        </p:nvSpPr>
        <p:spPr>
          <a:xfrm>
            <a:off x="956325" y="1666140"/>
            <a:ext cx="1176300" cy="16194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6"/>
          <p:cNvSpPr txBox="1"/>
          <p:nvPr>
            <p:ph idx="1" type="body"/>
          </p:nvPr>
        </p:nvSpPr>
        <p:spPr>
          <a:xfrm>
            <a:off x="400575" y="2452034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981" name="Google Shape;981;p76"/>
          <p:cNvSpPr txBox="1"/>
          <p:nvPr>
            <p:ph idx="1" type="body"/>
          </p:nvPr>
        </p:nvSpPr>
        <p:spPr>
          <a:xfrm>
            <a:off x="1275205" y="3427897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sp>
        <p:nvSpPr>
          <p:cNvPr id="982" name="Google Shape;982;p76"/>
          <p:cNvSpPr txBox="1"/>
          <p:nvPr>
            <p:ph idx="1" type="body"/>
          </p:nvPr>
        </p:nvSpPr>
        <p:spPr>
          <a:xfrm>
            <a:off x="1707481" y="2220999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cxnSp>
        <p:nvCxnSpPr>
          <p:cNvPr id="983" name="Google Shape;983;p76"/>
          <p:cNvCxnSpPr/>
          <p:nvPr/>
        </p:nvCxnSpPr>
        <p:spPr>
          <a:xfrm rot="10800000">
            <a:off x="6856235" y="3704075"/>
            <a:ext cx="38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4" name="Google Shape;984;p76"/>
          <p:cNvSpPr txBox="1"/>
          <p:nvPr>
            <p:ph idx="1" type="body"/>
          </p:nvPr>
        </p:nvSpPr>
        <p:spPr>
          <a:xfrm>
            <a:off x="6833947" y="3733364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cm</a:t>
            </a:r>
            <a:endParaRPr sz="1600"/>
          </a:p>
        </p:txBody>
      </p:sp>
      <p:cxnSp>
        <p:nvCxnSpPr>
          <p:cNvPr id="985" name="Google Shape;985;p76"/>
          <p:cNvCxnSpPr/>
          <p:nvPr/>
        </p:nvCxnSpPr>
        <p:spPr>
          <a:xfrm rot="10800000">
            <a:off x="6767889" y="3210222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6" name="Google Shape;986;p76"/>
          <p:cNvSpPr txBox="1"/>
          <p:nvPr>
            <p:ph idx="1" type="body"/>
          </p:nvPr>
        </p:nvSpPr>
        <p:spPr>
          <a:xfrm>
            <a:off x="6297826" y="3284957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cm</a:t>
            </a:r>
            <a:endParaRPr sz="1600"/>
          </a:p>
        </p:txBody>
      </p:sp>
      <p:sp>
        <p:nvSpPr>
          <p:cNvPr id="987" name="Google Shape;987;p76"/>
          <p:cNvSpPr/>
          <p:nvPr/>
        </p:nvSpPr>
        <p:spPr>
          <a:xfrm flipH="1">
            <a:off x="3202939" y="1674601"/>
            <a:ext cx="2348100" cy="1563900"/>
          </a:xfrm>
          <a:prstGeom prst="parallelogram">
            <a:avLst>
              <a:gd fmla="val 7405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6"/>
          <p:cNvSpPr txBox="1"/>
          <p:nvPr>
            <p:ph idx="1" type="body"/>
          </p:nvPr>
        </p:nvSpPr>
        <p:spPr>
          <a:xfrm>
            <a:off x="3987737" y="2206302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cxnSp>
        <p:nvCxnSpPr>
          <p:cNvPr id="989" name="Google Shape;989;p76"/>
          <p:cNvCxnSpPr/>
          <p:nvPr/>
        </p:nvCxnSpPr>
        <p:spPr>
          <a:xfrm>
            <a:off x="4377032" y="1682002"/>
            <a:ext cx="0" cy="160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90" name="Google Shape;990;p76"/>
          <p:cNvSpPr txBox="1"/>
          <p:nvPr>
            <p:ph idx="1" type="body"/>
          </p:nvPr>
        </p:nvSpPr>
        <p:spPr>
          <a:xfrm>
            <a:off x="4781428" y="3366942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sp>
        <p:nvSpPr>
          <p:cNvPr id="991" name="Google Shape;991;p76"/>
          <p:cNvSpPr txBox="1"/>
          <p:nvPr>
            <p:ph idx="1" type="body"/>
          </p:nvPr>
        </p:nvSpPr>
        <p:spPr>
          <a:xfrm>
            <a:off x="5144478" y="2180488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sp>
        <p:nvSpPr>
          <p:cNvPr id="992" name="Google Shape;992;p76"/>
          <p:cNvSpPr txBox="1"/>
          <p:nvPr>
            <p:ph idx="1" type="body"/>
          </p:nvPr>
        </p:nvSpPr>
        <p:spPr>
          <a:xfrm>
            <a:off x="3138859" y="2463984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sp>
        <p:nvSpPr>
          <p:cNvPr id="993" name="Google Shape;993;p76"/>
          <p:cNvSpPr txBox="1"/>
          <p:nvPr>
            <p:ph idx="1" type="body"/>
          </p:nvPr>
        </p:nvSpPr>
        <p:spPr>
          <a:xfrm>
            <a:off x="3609800" y="1329226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sp>
        <p:nvSpPr>
          <p:cNvPr id="994" name="Google Shape;994;p76"/>
          <p:cNvSpPr txBox="1"/>
          <p:nvPr>
            <p:ph idx="1" type="body"/>
          </p:nvPr>
        </p:nvSpPr>
        <p:spPr>
          <a:xfrm>
            <a:off x="324000" y="12071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995" name="Google Shape;995;p76"/>
          <p:cNvSpPr txBox="1"/>
          <p:nvPr>
            <p:ph idx="1" type="body"/>
          </p:nvPr>
        </p:nvSpPr>
        <p:spPr>
          <a:xfrm>
            <a:off x="2724300" y="12071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996" name="Google Shape;996;p76"/>
          <p:cNvSpPr txBox="1"/>
          <p:nvPr>
            <p:ph idx="1" type="body"/>
          </p:nvPr>
        </p:nvSpPr>
        <p:spPr>
          <a:xfrm>
            <a:off x="6305700" y="12071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cxnSp>
        <p:nvCxnSpPr>
          <p:cNvPr id="997" name="Google Shape;997;p76"/>
          <p:cNvCxnSpPr/>
          <p:nvPr/>
        </p:nvCxnSpPr>
        <p:spPr>
          <a:xfrm rot="10800000">
            <a:off x="803925" y="1666140"/>
            <a:ext cx="0" cy="161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8" name="Google Shape;998;p76"/>
          <p:cNvCxnSpPr/>
          <p:nvPr/>
        </p:nvCxnSpPr>
        <p:spPr>
          <a:xfrm rot="10800000">
            <a:off x="1108725" y="1589940"/>
            <a:ext cx="1176300" cy="161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9" name="Google Shape;999;p76"/>
          <p:cNvCxnSpPr/>
          <p:nvPr/>
        </p:nvCxnSpPr>
        <p:spPr>
          <a:xfrm>
            <a:off x="956325" y="3437940"/>
            <a:ext cx="117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0" name="Google Shape;1000;p76"/>
          <p:cNvCxnSpPr/>
          <p:nvPr/>
        </p:nvCxnSpPr>
        <p:spPr>
          <a:xfrm>
            <a:off x="4370150" y="3368050"/>
            <a:ext cx="1180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1" name="Google Shape;1001;p76"/>
          <p:cNvCxnSpPr/>
          <p:nvPr/>
        </p:nvCxnSpPr>
        <p:spPr>
          <a:xfrm>
            <a:off x="3202940" y="1566208"/>
            <a:ext cx="1189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2" name="Google Shape;1002;p76"/>
          <p:cNvCxnSpPr/>
          <p:nvPr/>
        </p:nvCxnSpPr>
        <p:spPr>
          <a:xfrm>
            <a:off x="4605615" y="1675096"/>
            <a:ext cx="1173300" cy="154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03" name="Google Shape;1003;p76"/>
          <p:cNvCxnSpPr/>
          <p:nvPr/>
        </p:nvCxnSpPr>
        <p:spPr>
          <a:xfrm>
            <a:off x="2991092" y="1675096"/>
            <a:ext cx="1173300" cy="154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77"/>
          <p:cNvPicPr preferRelativeResize="0"/>
          <p:nvPr/>
        </p:nvPicPr>
        <p:blipFill rotWithShape="1">
          <a:blip r:embed="rId3">
            <a:alphaModFix/>
          </a:blip>
          <a:srcRect b="60190" l="0" r="66229" t="9446"/>
          <a:stretch/>
        </p:blipFill>
        <p:spPr>
          <a:xfrm>
            <a:off x="374750" y="1999012"/>
            <a:ext cx="2663701" cy="11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9" name="Google Shape;1009;p77"/>
          <p:cNvPicPr preferRelativeResize="0"/>
          <p:nvPr/>
        </p:nvPicPr>
        <p:blipFill rotWithShape="1">
          <a:blip r:embed="rId3">
            <a:alphaModFix/>
          </a:blip>
          <a:srcRect b="39934" l="35602" r="39603" t="29701"/>
          <a:stretch/>
        </p:blipFill>
        <p:spPr>
          <a:xfrm>
            <a:off x="3259202" y="2714750"/>
            <a:ext cx="1955674" cy="11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0" name="Google Shape;1010;p77"/>
          <p:cNvPicPr preferRelativeResize="0"/>
          <p:nvPr/>
        </p:nvPicPr>
        <p:blipFill rotWithShape="1">
          <a:blip r:embed="rId3">
            <a:alphaModFix/>
          </a:blip>
          <a:srcRect b="65080" l="41340" r="28456" t="7488"/>
          <a:stretch/>
        </p:blipFill>
        <p:spPr>
          <a:xfrm>
            <a:off x="3864349" y="1681102"/>
            <a:ext cx="2382273" cy="99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1" name="Google Shape;1011;p77"/>
          <p:cNvPicPr preferRelativeResize="0"/>
          <p:nvPr/>
        </p:nvPicPr>
        <p:blipFill rotWithShape="1">
          <a:blip r:embed="rId3">
            <a:alphaModFix/>
          </a:blip>
          <a:srcRect b="4963" l="52717" r="9958" t="69607"/>
          <a:stretch/>
        </p:blipFill>
        <p:spPr>
          <a:xfrm>
            <a:off x="5066375" y="3780000"/>
            <a:ext cx="2944148" cy="9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2" name="Google Shape;1012;p77"/>
          <p:cNvPicPr preferRelativeResize="0"/>
          <p:nvPr/>
        </p:nvPicPr>
        <p:blipFill rotWithShape="1">
          <a:blip r:embed="rId3">
            <a:alphaModFix/>
          </a:blip>
          <a:srcRect b="47777" l="71261" r="0" t="8938"/>
          <a:stretch/>
        </p:blipFill>
        <p:spPr>
          <a:xfrm>
            <a:off x="6671950" y="1581150"/>
            <a:ext cx="2266799" cy="156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77"/>
          <p:cNvPicPr preferRelativeResize="0"/>
          <p:nvPr/>
        </p:nvPicPr>
        <p:blipFill rotWithShape="1">
          <a:blip r:embed="rId3">
            <a:alphaModFix/>
          </a:blip>
          <a:srcRect b="12128" l="7732" r="62064" t="57880"/>
          <a:stretch/>
        </p:blipFill>
        <p:spPr>
          <a:xfrm>
            <a:off x="603725" y="3792460"/>
            <a:ext cx="2382273" cy="10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77"/>
          <p:cNvSpPr txBox="1"/>
          <p:nvPr>
            <p:ph idx="1" type="body"/>
          </p:nvPr>
        </p:nvSpPr>
        <p:spPr>
          <a:xfrm>
            <a:off x="324000" y="759300"/>
            <a:ext cx="8237700" cy="5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Tick the triangles that contain enough information to calculate their </a:t>
            </a:r>
            <a:r>
              <a:rPr lang="en-GB" sz="1800"/>
              <a:t>perimeter</a:t>
            </a:r>
            <a:r>
              <a:rPr lang="en-GB" sz="1800"/>
              <a:t> by summing the given lengths. All lengths are given in centimetres.</a:t>
            </a:r>
            <a:endParaRPr sz="1800"/>
          </a:p>
        </p:txBody>
      </p:sp>
      <p:sp>
        <p:nvSpPr>
          <p:cNvPr id="1015" name="Google Shape;1015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Understanding perimeter</a:t>
            </a:r>
            <a:endParaRPr/>
          </a:p>
        </p:txBody>
      </p:sp>
      <p:sp>
        <p:nvSpPr>
          <p:cNvPr id="1016" name="Google Shape;1016;p77"/>
          <p:cNvSpPr txBox="1"/>
          <p:nvPr>
            <p:ph idx="4294967295" type="body"/>
          </p:nvPr>
        </p:nvSpPr>
        <p:spPr>
          <a:xfrm>
            <a:off x="534075" y="2545250"/>
            <a:ext cx="5118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2.5</a:t>
            </a:r>
            <a:endParaRPr sz="1600"/>
          </a:p>
        </p:txBody>
      </p:sp>
      <p:sp>
        <p:nvSpPr>
          <p:cNvPr id="1017" name="Google Shape;1017;p77"/>
          <p:cNvSpPr txBox="1"/>
          <p:nvPr>
            <p:ph idx="4294967295" type="body"/>
          </p:nvPr>
        </p:nvSpPr>
        <p:spPr>
          <a:xfrm>
            <a:off x="1459622" y="1792835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</a:t>
            </a:r>
            <a:endParaRPr sz="1600"/>
          </a:p>
        </p:txBody>
      </p:sp>
      <p:cxnSp>
        <p:nvCxnSpPr>
          <p:cNvPr id="1018" name="Google Shape;1018;p77"/>
          <p:cNvCxnSpPr/>
          <p:nvPr/>
        </p:nvCxnSpPr>
        <p:spPr>
          <a:xfrm>
            <a:off x="1407994" y="3032431"/>
            <a:ext cx="333900" cy="33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77"/>
          <p:cNvCxnSpPr/>
          <p:nvPr/>
        </p:nvCxnSpPr>
        <p:spPr>
          <a:xfrm flipH="1" rot="10800000">
            <a:off x="1609163" y="3110084"/>
            <a:ext cx="121800" cy="11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77"/>
          <p:cNvCxnSpPr/>
          <p:nvPr/>
        </p:nvCxnSpPr>
        <p:spPr>
          <a:xfrm rot="10800000">
            <a:off x="1721125" y="3106010"/>
            <a:ext cx="112800" cy="1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77"/>
          <p:cNvSpPr txBox="1"/>
          <p:nvPr>
            <p:ph idx="4294967295" type="body"/>
          </p:nvPr>
        </p:nvSpPr>
        <p:spPr>
          <a:xfrm>
            <a:off x="2235521" y="2786935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endParaRPr sz="1600"/>
          </a:p>
        </p:txBody>
      </p:sp>
      <p:sp>
        <p:nvSpPr>
          <p:cNvPr id="1022" name="Google Shape;1022;p77"/>
          <p:cNvSpPr txBox="1"/>
          <p:nvPr>
            <p:ph idx="4294967295" type="body"/>
          </p:nvPr>
        </p:nvSpPr>
        <p:spPr>
          <a:xfrm>
            <a:off x="1468846" y="2280045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A</a:t>
            </a:r>
            <a:endParaRPr sz="1600"/>
          </a:p>
        </p:txBody>
      </p:sp>
      <p:sp>
        <p:nvSpPr>
          <p:cNvPr id="1023" name="Google Shape;1023;p77"/>
          <p:cNvSpPr txBox="1"/>
          <p:nvPr>
            <p:ph idx="4294967295" type="body"/>
          </p:nvPr>
        </p:nvSpPr>
        <p:spPr>
          <a:xfrm>
            <a:off x="4927501" y="1477875"/>
            <a:ext cx="1668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endParaRPr sz="1600"/>
          </a:p>
        </p:txBody>
      </p:sp>
      <p:sp>
        <p:nvSpPr>
          <p:cNvPr id="1024" name="Google Shape;1024;p77"/>
          <p:cNvSpPr txBox="1"/>
          <p:nvPr>
            <p:ph idx="4294967295" type="body"/>
          </p:nvPr>
        </p:nvSpPr>
        <p:spPr>
          <a:xfrm>
            <a:off x="6099505" y="1996337"/>
            <a:ext cx="1668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</a:t>
            </a:r>
            <a:r>
              <a:rPr lang="en-GB" sz="1600">
                <a:solidFill>
                  <a:srgbClr val="282828"/>
                </a:solidFill>
              </a:rPr>
              <a:t> </a:t>
            </a:r>
            <a:endParaRPr sz="1600"/>
          </a:p>
        </p:txBody>
      </p:sp>
      <p:sp>
        <p:nvSpPr>
          <p:cNvPr id="1025" name="Google Shape;1025;p77"/>
          <p:cNvSpPr txBox="1"/>
          <p:nvPr>
            <p:ph idx="4294967295" type="body"/>
          </p:nvPr>
        </p:nvSpPr>
        <p:spPr>
          <a:xfrm>
            <a:off x="4761578" y="2220960"/>
            <a:ext cx="2565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</a:t>
            </a:r>
            <a:r>
              <a:rPr lang="en-GB" sz="1600">
                <a:solidFill>
                  <a:srgbClr val="282828"/>
                </a:solidFill>
              </a:rPr>
              <a:t> </a:t>
            </a:r>
            <a:endParaRPr sz="1600"/>
          </a:p>
        </p:txBody>
      </p:sp>
      <p:sp>
        <p:nvSpPr>
          <p:cNvPr id="1026" name="Google Shape;1026;p77"/>
          <p:cNvSpPr txBox="1"/>
          <p:nvPr>
            <p:ph idx="4294967295" type="body"/>
          </p:nvPr>
        </p:nvSpPr>
        <p:spPr>
          <a:xfrm>
            <a:off x="8703394" y="2257650"/>
            <a:ext cx="1218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</a:t>
            </a:r>
            <a:endParaRPr sz="1600"/>
          </a:p>
        </p:txBody>
      </p:sp>
      <p:sp>
        <p:nvSpPr>
          <p:cNvPr id="1027" name="Google Shape;1027;p77"/>
          <p:cNvSpPr txBox="1"/>
          <p:nvPr>
            <p:ph idx="4294967295" type="body"/>
          </p:nvPr>
        </p:nvSpPr>
        <p:spPr>
          <a:xfrm>
            <a:off x="7660752" y="3089724"/>
            <a:ext cx="1668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r>
              <a:rPr lang="en-GB" sz="1600">
                <a:solidFill>
                  <a:srgbClr val="282828"/>
                </a:solidFill>
              </a:rPr>
              <a:t> </a:t>
            </a:r>
            <a:endParaRPr sz="1600"/>
          </a:p>
        </p:txBody>
      </p:sp>
      <p:sp>
        <p:nvSpPr>
          <p:cNvPr id="1028" name="Google Shape;1028;p77"/>
          <p:cNvSpPr txBox="1"/>
          <p:nvPr>
            <p:ph idx="4294967295" type="body"/>
          </p:nvPr>
        </p:nvSpPr>
        <p:spPr>
          <a:xfrm>
            <a:off x="7411353" y="2084000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</a:t>
            </a:r>
            <a:endParaRPr sz="1600"/>
          </a:p>
        </p:txBody>
      </p:sp>
      <p:sp>
        <p:nvSpPr>
          <p:cNvPr id="1029" name="Google Shape;1029;p77"/>
          <p:cNvSpPr txBox="1"/>
          <p:nvPr>
            <p:ph idx="4294967295" type="body"/>
          </p:nvPr>
        </p:nvSpPr>
        <p:spPr>
          <a:xfrm>
            <a:off x="3063894" y="3166006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</a:t>
            </a:r>
            <a:r>
              <a:rPr lang="en-GB" sz="1600">
                <a:solidFill>
                  <a:srgbClr val="282828"/>
                </a:solidFill>
              </a:rPr>
              <a:t> </a:t>
            </a:r>
            <a:endParaRPr sz="1600"/>
          </a:p>
        </p:txBody>
      </p:sp>
      <p:sp>
        <p:nvSpPr>
          <p:cNvPr id="1030" name="Google Shape;1030;p77"/>
          <p:cNvSpPr txBox="1"/>
          <p:nvPr>
            <p:ph idx="4294967295" type="body"/>
          </p:nvPr>
        </p:nvSpPr>
        <p:spPr>
          <a:xfrm>
            <a:off x="4054494" y="3791750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</a:t>
            </a:r>
            <a:endParaRPr sz="1600"/>
          </a:p>
        </p:txBody>
      </p:sp>
      <p:sp>
        <p:nvSpPr>
          <p:cNvPr id="1031" name="Google Shape;1031;p77"/>
          <p:cNvSpPr txBox="1"/>
          <p:nvPr>
            <p:ph idx="4294967295" type="body"/>
          </p:nvPr>
        </p:nvSpPr>
        <p:spPr>
          <a:xfrm>
            <a:off x="1681531" y="3942367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endParaRPr sz="1600"/>
          </a:p>
        </p:txBody>
      </p:sp>
      <p:cxnSp>
        <p:nvCxnSpPr>
          <p:cNvPr id="1032" name="Google Shape;1032;p77"/>
          <p:cNvCxnSpPr/>
          <p:nvPr/>
        </p:nvCxnSpPr>
        <p:spPr>
          <a:xfrm>
            <a:off x="646425" y="4789035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33" name="Google Shape;1033;p77"/>
          <p:cNvSpPr txBox="1"/>
          <p:nvPr>
            <p:ph idx="4294967295" type="body"/>
          </p:nvPr>
        </p:nvSpPr>
        <p:spPr>
          <a:xfrm>
            <a:off x="482131" y="4241786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</a:t>
            </a:r>
            <a:r>
              <a:rPr lang="en-GB" sz="1600">
                <a:solidFill>
                  <a:srgbClr val="282828"/>
                </a:solidFill>
              </a:rPr>
              <a:t> </a:t>
            </a:r>
            <a:endParaRPr sz="1600"/>
          </a:p>
        </p:txBody>
      </p:sp>
      <p:cxnSp>
        <p:nvCxnSpPr>
          <p:cNvPr id="1034" name="Google Shape;1034;p77"/>
          <p:cNvCxnSpPr/>
          <p:nvPr/>
        </p:nvCxnSpPr>
        <p:spPr>
          <a:xfrm>
            <a:off x="619137" y="4622977"/>
            <a:ext cx="16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77"/>
          <p:cNvCxnSpPr/>
          <p:nvPr/>
        </p:nvCxnSpPr>
        <p:spPr>
          <a:xfrm rot="10800000">
            <a:off x="783112" y="4618360"/>
            <a:ext cx="0" cy="16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77"/>
          <p:cNvCxnSpPr/>
          <p:nvPr/>
        </p:nvCxnSpPr>
        <p:spPr>
          <a:xfrm>
            <a:off x="619517" y="3854970"/>
            <a:ext cx="6300" cy="92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7" name="Google Shape;1037;p77"/>
          <p:cNvCxnSpPr/>
          <p:nvPr/>
        </p:nvCxnSpPr>
        <p:spPr>
          <a:xfrm flipH="1">
            <a:off x="1726549" y="2122670"/>
            <a:ext cx="1313400" cy="120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38" name="Google Shape;1038;p77"/>
          <p:cNvSpPr txBox="1"/>
          <p:nvPr>
            <p:ph idx="4294967295" type="body"/>
          </p:nvPr>
        </p:nvSpPr>
        <p:spPr>
          <a:xfrm>
            <a:off x="5839788" y="3917112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r>
              <a:rPr lang="en-GB" sz="1600">
                <a:solidFill>
                  <a:srgbClr val="282828"/>
                </a:solidFill>
              </a:rPr>
              <a:t> </a:t>
            </a:r>
            <a:endParaRPr sz="1600"/>
          </a:p>
        </p:txBody>
      </p:sp>
      <p:sp>
        <p:nvSpPr>
          <p:cNvPr id="1039" name="Google Shape;1039;p77"/>
          <p:cNvSpPr txBox="1"/>
          <p:nvPr>
            <p:ph idx="4294967295" type="body"/>
          </p:nvPr>
        </p:nvSpPr>
        <p:spPr>
          <a:xfrm>
            <a:off x="6914828" y="4103668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</a:t>
            </a:r>
            <a:r>
              <a:rPr lang="en-GB" sz="1600">
                <a:solidFill>
                  <a:srgbClr val="282828"/>
                </a:solidFill>
              </a:rPr>
              <a:t> </a:t>
            </a:r>
            <a:endParaRPr sz="1600"/>
          </a:p>
        </p:txBody>
      </p:sp>
      <p:sp>
        <p:nvSpPr>
          <p:cNvPr id="1040" name="Google Shape;1040;p77"/>
          <p:cNvSpPr txBox="1"/>
          <p:nvPr>
            <p:ph idx="4294967295" type="body"/>
          </p:nvPr>
        </p:nvSpPr>
        <p:spPr>
          <a:xfrm>
            <a:off x="6551419" y="4613700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</a:t>
            </a:r>
            <a:r>
              <a:rPr lang="en-GB" sz="1600">
                <a:solidFill>
                  <a:srgbClr val="282828"/>
                </a:solidFill>
              </a:rPr>
              <a:t> </a:t>
            </a:r>
            <a:endParaRPr sz="1600"/>
          </a:p>
        </p:txBody>
      </p:sp>
      <p:cxnSp>
        <p:nvCxnSpPr>
          <p:cNvPr id="1041" name="Google Shape;1041;p77"/>
          <p:cNvCxnSpPr/>
          <p:nvPr/>
        </p:nvCxnSpPr>
        <p:spPr>
          <a:xfrm>
            <a:off x="6892449" y="3932409"/>
            <a:ext cx="0" cy="5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042" name="Google Shape;1042;p77"/>
          <p:cNvSpPr txBox="1"/>
          <p:nvPr>
            <p:ph idx="4294967295" type="body"/>
          </p:nvPr>
        </p:nvSpPr>
        <p:spPr>
          <a:xfrm>
            <a:off x="5367271" y="1901559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B</a:t>
            </a:r>
            <a:endParaRPr sz="1600"/>
          </a:p>
        </p:txBody>
      </p:sp>
      <p:sp>
        <p:nvSpPr>
          <p:cNvPr id="1043" name="Google Shape;1043;p77"/>
          <p:cNvSpPr txBox="1"/>
          <p:nvPr>
            <p:ph idx="4294967295" type="body"/>
          </p:nvPr>
        </p:nvSpPr>
        <p:spPr>
          <a:xfrm>
            <a:off x="7885421" y="2458959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D</a:t>
            </a:r>
            <a:endParaRPr sz="1600"/>
          </a:p>
        </p:txBody>
      </p:sp>
      <p:sp>
        <p:nvSpPr>
          <p:cNvPr id="1044" name="Google Shape;1044;p77"/>
          <p:cNvSpPr txBox="1"/>
          <p:nvPr>
            <p:ph idx="4294967295" type="body"/>
          </p:nvPr>
        </p:nvSpPr>
        <p:spPr>
          <a:xfrm>
            <a:off x="3700302" y="3265697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C</a:t>
            </a:r>
            <a:endParaRPr sz="1600"/>
          </a:p>
        </p:txBody>
      </p:sp>
      <p:sp>
        <p:nvSpPr>
          <p:cNvPr id="1045" name="Google Shape;1045;p77"/>
          <p:cNvSpPr txBox="1"/>
          <p:nvPr>
            <p:ph idx="4294967295" type="body"/>
          </p:nvPr>
        </p:nvSpPr>
        <p:spPr>
          <a:xfrm>
            <a:off x="1298871" y="4317545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E</a:t>
            </a:r>
            <a:endParaRPr sz="1600"/>
          </a:p>
        </p:txBody>
      </p:sp>
      <p:sp>
        <p:nvSpPr>
          <p:cNvPr id="1046" name="Google Shape;1046;p77"/>
          <p:cNvSpPr txBox="1"/>
          <p:nvPr>
            <p:ph idx="4294967295" type="body"/>
          </p:nvPr>
        </p:nvSpPr>
        <p:spPr>
          <a:xfrm>
            <a:off x="6396146" y="4176647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F</a:t>
            </a:r>
            <a:endParaRPr sz="1600"/>
          </a:p>
        </p:txBody>
      </p:sp>
      <p:cxnSp>
        <p:nvCxnSpPr>
          <p:cNvPr id="1047" name="Google Shape;1047;p77"/>
          <p:cNvCxnSpPr/>
          <p:nvPr/>
        </p:nvCxnSpPr>
        <p:spPr>
          <a:xfrm flipH="1">
            <a:off x="505375" y="1997828"/>
            <a:ext cx="2490000" cy="1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8" name="Google Shape;1048;p77"/>
          <p:cNvCxnSpPr/>
          <p:nvPr/>
        </p:nvCxnSpPr>
        <p:spPr>
          <a:xfrm rot="10800000">
            <a:off x="404179" y="2183282"/>
            <a:ext cx="900300" cy="90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9" name="Google Shape;1049;p77"/>
          <p:cNvCxnSpPr/>
          <p:nvPr/>
        </p:nvCxnSpPr>
        <p:spPr>
          <a:xfrm rot="10800000">
            <a:off x="3912600" y="1681110"/>
            <a:ext cx="1878600" cy="2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0" name="Google Shape;1050;p77"/>
          <p:cNvCxnSpPr/>
          <p:nvPr/>
        </p:nvCxnSpPr>
        <p:spPr>
          <a:xfrm rot="10800000">
            <a:off x="3864344" y="1873569"/>
            <a:ext cx="2237700" cy="84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1" name="Google Shape;1051;p77"/>
          <p:cNvCxnSpPr/>
          <p:nvPr/>
        </p:nvCxnSpPr>
        <p:spPr>
          <a:xfrm rot="10800000">
            <a:off x="5916489" y="1791333"/>
            <a:ext cx="356700" cy="80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2" name="Google Shape;1052;p77"/>
          <p:cNvCxnSpPr/>
          <p:nvPr/>
        </p:nvCxnSpPr>
        <p:spPr>
          <a:xfrm flipH="1">
            <a:off x="6705750" y="1581150"/>
            <a:ext cx="1771500" cy="133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3" name="Google Shape;1053;p77"/>
          <p:cNvCxnSpPr/>
          <p:nvPr/>
        </p:nvCxnSpPr>
        <p:spPr>
          <a:xfrm rot="10800000">
            <a:off x="6775375" y="3097875"/>
            <a:ext cx="1799400" cy="1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4" name="Google Shape;1054;p77"/>
          <p:cNvCxnSpPr/>
          <p:nvPr/>
        </p:nvCxnSpPr>
        <p:spPr>
          <a:xfrm flipH="1" rot="10800000">
            <a:off x="8675814" y="1662950"/>
            <a:ext cx="16200" cy="135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5" name="Google Shape;1055;p77"/>
          <p:cNvCxnSpPr/>
          <p:nvPr/>
        </p:nvCxnSpPr>
        <p:spPr>
          <a:xfrm rot="10800000">
            <a:off x="719201" y="3748166"/>
            <a:ext cx="2266800" cy="9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6" name="Google Shape;1056;p77"/>
          <p:cNvCxnSpPr/>
          <p:nvPr/>
        </p:nvCxnSpPr>
        <p:spPr>
          <a:xfrm flipH="1" rot="10800000">
            <a:off x="3194811" y="2802450"/>
            <a:ext cx="5100" cy="91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7" name="Google Shape;1057;p77"/>
          <p:cNvCxnSpPr/>
          <p:nvPr/>
        </p:nvCxnSpPr>
        <p:spPr>
          <a:xfrm>
            <a:off x="3320318" y="3815175"/>
            <a:ext cx="180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8" name="Google Shape;1058;p77"/>
          <p:cNvCxnSpPr/>
          <p:nvPr/>
        </p:nvCxnSpPr>
        <p:spPr>
          <a:xfrm flipH="1" rot="10800000">
            <a:off x="5181168" y="3806375"/>
            <a:ext cx="1660200" cy="62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9" name="Google Shape;1059;p77"/>
          <p:cNvCxnSpPr/>
          <p:nvPr/>
        </p:nvCxnSpPr>
        <p:spPr>
          <a:xfrm flipH="1" rot="10800000">
            <a:off x="5208075" y="4644957"/>
            <a:ext cx="26637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78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Find the </a:t>
            </a:r>
            <a:r>
              <a:rPr lang="en-GB" sz="1800"/>
              <a:t>perimeter</a:t>
            </a:r>
            <a:r>
              <a:rPr lang="en-GB" sz="1800"/>
              <a:t> of each shape.</a:t>
            </a:r>
            <a:endParaRPr sz="1800"/>
          </a:p>
        </p:txBody>
      </p:sp>
      <p:sp>
        <p:nvSpPr>
          <p:cNvPr id="1065" name="Google Shape;1065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Understanding perimeter</a:t>
            </a:r>
            <a:endParaRPr/>
          </a:p>
        </p:txBody>
      </p:sp>
      <p:grpSp>
        <p:nvGrpSpPr>
          <p:cNvPr id="1066" name="Google Shape;1066;p78"/>
          <p:cNvGrpSpPr/>
          <p:nvPr/>
        </p:nvGrpSpPr>
        <p:grpSpPr>
          <a:xfrm>
            <a:off x="6850296" y="1562588"/>
            <a:ext cx="1598755" cy="2054951"/>
            <a:chOff x="848750" y="1620000"/>
            <a:chExt cx="1680600" cy="2160150"/>
          </a:xfrm>
        </p:grpSpPr>
        <p:cxnSp>
          <p:nvCxnSpPr>
            <p:cNvPr id="1067" name="Google Shape;1067;p78"/>
            <p:cNvCxnSpPr/>
            <p:nvPr/>
          </p:nvCxnSpPr>
          <p:spPr>
            <a:xfrm>
              <a:off x="1684795" y="1620000"/>
              <a:ext cx="0" cy="2160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" name="Google Shape;1068;p78"/>
            <p:cNvCxnSpPr/>
            <p:nvPr/>
          </p:nvCxnSpPr>
          <p:spPr>
            <a:xfrm>
              <a:off x="2109345" y="1620000"/>
              <a:ext cx="0" cy="2160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78"/>
            <p:cNvCxnSpPr/>
            <p:nvPr/>
          </p:nvCxnSpPr>
          <p:spPr>
            <a:xfrm>
              <a:off x="1260245" y="1620000"/>
              <a:ext cx="0" cy="2160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0" name="Google Shape;1070;p78"/>
            <p:cNvCxnSpPr/>
            <p:nvPr/>
          </p:nvCxnSpPr>
          <p:spPr>
            <a:xfrm>
              <a:off x="848750" y="2069275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1" name="Google Shape;1071;p78"/>
            <p:cNvCxnSpPr/>
            <p:nvPr/>
          </p:nvCxnSpPr>
          <p:spPr>
            <a:xfrm>
              <a:off x="848750" y="2502663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2" name="Google Shape;1072;p78"/>
            <p:cNvCxnSpPr/>
            <p:nvPr/>
          </p:nvCxnSpPr>
          <p:spPr>
            <a:xfrm>
              <a:off x="848750" y="2932648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3" name="Google Shape;1073;p78"/>
            <p:cNvCxnSpPr/>
            <p:nvPr/>
          </p:nvCxnSpPr>
          <p:spPr>
            <a:xfrm>
              <a:off x="848750" y="3334059"/>
              <a:ext cx="1680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4" name="Google Shape;1074;p78"/>
            <p:cNvSpPr/>
            <p:nvPr/>
          </p:nvSpPr>
          <p:spPr>
            <a:xfrm>
              <a:off x="848750" y="1637250"/>
              <a:ext cx="1680600" cy="21429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75" name="Google Shape;1075;p78"/>
          <p:cNvCxnSpPr/>
          <p:nvPr/>
        </p:nvCxnSpPr>
        <p:spPr>
          <a:xfrm rot="10800000">
            <a:off x="6856235" y="3704075"/>
            <a:ext cx="38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6" name="Google Shape;1076;p78"/>
          <p:cNvSpPr txBox="1"/>
          <p:nvPr>
            <p:ph idx="1" type="body"/>
          </p:nvPr>
        </p:nvSpPr>
        <p:spPr>
          <a:xfrm>
            <a:off x="6833947" y="3733364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cm</a:t>
            </a:r>
            <a:endParaRPr sz="1600"/>
          </a:p>
        </p:txBody>
      </p:sp>
      <p:cxnSp>
        <p:nvCxnSpPr>
          <p:cNvPr id="1077" name="Google Shape;1077;p78"/>
          <p:cNvCxnSpPr/>
          <p:nvPr/>
        </p:nvCxnSpPr>
        <p:spPr>
          <a:xfrm rot="10800000">
            <a:off x="6767889" y="3210222"/>
            <a:ext cx="0" cy="40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8" name="Google Shape;1078;p78"/>
          <p:cNvSpPr txBox="1"/>
          <p:nvPr>
            <p:ph idx="1" type="body"/>
          </p:nvPr>
        </p:nvSpPr>
        <p:spPr>
          <a:xfrm>
            <a:off x="6297826" y="3284957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cm</a:t>
            </a:r>
            <a:endParaRPr sz="1600"/>
          </a:p>
        </p:txBody>
      </p:sp>
      <p:sp>
        <p:nvSpPr>
          <p:cNvPr id="1079" name="Google Shape;1079;p78"/>
          <p:cNvSpPr txBox="1"/>
          <p:nvPr>
            <p:ph idx="1" type="body"/>
          </p:nvPr>
        </p:nvSpPr>
        <p:spPr>
          <a:xfrm>
            <a:off x="6305700" y="12071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080" name="Google Shape;1080;p78"/>
          <p:cNvSpPr txBox="1"/>
          <p:nvPr>
            <p:ph idx="1" type="body"/>
          </p:nvPr>
        </p:nvSpPr>
        <p:spPr>
          <a:xfrm>
            <a:off x="1181325" y="4144575"/>
            <a:ext cx="699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1" name="Google Shape;1081;p78"/>
          <p:cNvSpPr txBox="1"/>
          <p:nvPr>
            <p:ph idx="1" type="body"/>
          </p:nvPr>
        </p:nvSpPr>
        <p:spPr>
          <a:xfrm>
            <a:off x="4222500" y="4144575"/>
            <a:ext cx="699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2" name="Google Shape;1082;p78"/>
          <p:cNvSpPr txBox="1"/>
          <p:nvPr>
            <p:ph idx="1" type="body"/>
          </p:nvPr>
        </p:nvSpPr>
        <p:spPr>
          <a:xfrm>
            <a:off x="7346700" y="4144575"/>
            <a:ext cx="699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3" name="Google Shape;1083;p78"/>
          <p:cNvSpPr/>
          <p:nvPr/>
        </p:nvSpPr>
        <p:spPr>
          <a:xfrm>
            <a:off x="956325" y="1666140"/>
            <a:ext cx="1176300" cy="16194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78"/>
          <p:cNvSpPr txBox="1"/>
          <p:nvPr>
            <p:ph idx="1" type="body"/>
          </p:nvPr>
        </p:nvSpPr>
        <p:spPr>
          <a:xfrm>
            <a:off x="400575" y="2452034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085" name="Google Shape;1085;p78"/>
          <p:cNvSpPr txBox="1"/>
          <p:nvPr>
            <p:ph idx="1" type="body"/>
          </p:nvPr>
        </p:nvSpPr>
        <p:spPr>
          <a:xfrm>
            <a:off x="1275205" y="3427897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sp>
        <p:nvSpPr>
          <p:cNvPr id="1086" name="Google Shape;1086;p78"/>
          <p:cNvSpPr txBox="1"/>
          <p:nvPr>
            <p:ph idx="1" type="body"/>
          </p:nvPr>
        </p:nvSpPr>
        <p:spPr>
          <a:xfrm>
            <a:off x="1707481" y="2220999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sp>
        <p:nvSpPr>
          <p:cNvPr id="1087" name="Google Shape;1087;p78"/>
          <p:cNvSpPr/>
          <p:nvPr/>
        </p:nvSpPr>
        <p:spPr>
          <a:xfrm flipH="1">
            <a:off x="3202939" y="1674601"/>
            <a:ext cx="2348100" cy="1563900"/>
          </a:xfrm>
          <a:prstGeom prst="parallelogram">
            <a:avLst>
              <a:gd fmla="val 7405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78"/>
          <p:cNvSpPr txBox="1"/>
          <p:nvPr>
            <p:ph idx="1" type="body"/>
          </p:nvPr>
        </p:nvSpPr>
        <p:spPr>
          <a:xfrm>
            <a:off x="3987737" y="2206302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cxnSp>
        <p:nvCxnSpPr>
          <p:cNvPr id="1089" name="Google Shape;1089;p78"/>
          <p:cNvCxnSpPr/>
          <p:nvPr/>
        </p:nvCxnSpPr>
        <p:spPr>
          <a:xfrm>
            <a:off x="4377032" y="1682002"/>
            <a:ext cx="0" cy="160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090" name="Google Shape;1090;p78"/>
          <p:cNvSpPr txBox="1"/>
          <p:nvPr>
            <p:ph idx="1" type="body"/>
          </p:nvPr>
        </p:nvSpPr>
        <p:spPr>
          <a:xfrm>
            <a:off x="4781428" y="3366942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sp>
        <p:nvSpPr>
          <p:cNvPr id="1091" name="Google Shape;1091;p78"/>
          <p:cNvSpPr txBox="1"/>
          <p:nvPr>
            <p:ph idx="1" type="body"/>
          </p:nvPr>
        </p:nvSpPr>
        <p:spPr>
          <a:xfrm>
            <a:off x="5144478" y="2180488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sp>
        <p:nvSpPr>
          <p:cNvPr id="1092" name="Google Shape;1092;p78"/>
          <p:cNvSpPr txBox="1"/>
          <p:nvPr>
            <p:ph idx="1" type="body"/>
          </p:nvPr>
        </p:nvSpPr>
        <p:spPr>
          <a:xfrm>
            <a:off x="3138859" y="2463984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sp>
        <p:nvSpPr>
          <p:cNvPr id="1093" name="Google Shape;1093;p78"/>
          <p:cNvSpPr txBox="1"/>
          <p:nvPr>
            <p:ph idx="1" type="body"/>
          </p:nvPr>
        </p:nvSpPr>
        <p:spPr>
          <a:xfrm>
            <a:off x="3609800" y="1329226"/>
            <a:ext cx="470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sp>
        <p:nvSpPr>
          <p:cNvPr id="1094" name="Google Shape;1094;p78"/>
          <p:cNvSpPr txBox="1"/>
          <p:nvPr>
            <p:ph idx="1" type="body"/>
          </p:nvPr>
        </p:nvSpPr>
        <p:spPr>
          <a:xfrm>
            <a:off x="324000" y="12071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095" name="Google Shape;1095;p78"/>
          <p:cNvSpPr txBox="1"/>
          <p:nvPr>
            <p:ph idx="1" type="body"/>
          </p:nvPr>
        </p:nvSpPr>
        <p:spPr>
          <a:xfrm>
            <a:off x="2724300" y="12071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cxnSp>
        <p:nvCxnSpPr>
          <p:cNvPr id="1096" name="Google Shape;1096;p78"/>
          <p:cNvCxnSpPr/>
          <p:nvPr/>
        </p:nvCxnSpPr>
        <p:spPr>
          <a:xfrm rot="10800000">
            <a:off x="803925" y="1666140"/>
            <a:ext cx="0" cy="161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7" name="Google Shape;1097;p78"/>
          <p:cNvCxnSpPr/>
          <p:nvPr/>
        </p:nvCxnSpPr>
        <p:spPr>
          <a:xfrm rot="10800000">
            <a:off x="1108725" y="1589940"/>
            <a:ext cx="1176300" cy="161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8" name="Google Shape;1098;p78"/>
          <p:cNvCxnSpPr/>
          <p:nvPr/>
        </p:nvCxnSpPr>
        <p:spPr>
          <a:xfrm>
            <a:off x="956325" y="3437940"/>
            <a:ext cx="117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9" name="Google Shape;1099;p78"/>
          <p:cNvCxnSpPr/>
          <p:nvPr/>
        </p:nvCxnSpPr>
        <p:spPr>
          <a:xfrm>
            <a:off x="4370150" y="3368050"/>
            <a:ext cx="1180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0" name="Google Shape;1100;p78"/>
          <p:cNvCxnSpPr/>
          <p:nvPr/>
        </p:nvCxnSpPr>
        <p:spPr>
          <a:xfrm>
            <a:off x="3202940" y="1566208"/>
            <a:ext cx="1189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1" name="Google Shape;1101;p78"/>
          <p:cNvCxnSpPr/>
          <p:nvPr/>
        </p:nvCxnSpPr>
        <p:spPr>
          <a:xfrm>
            <a:off x="4605615" y="1675096"/>
            <a:ext cx="1173300" cy="154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02" name="Google Shape;1102;p78"/>
          <p:cNvCxnSpPr/>
          <p:nvPr/>
        </p:nvCxnSpPr>
        <p:spPr>
          <a:xfrm>
            <a:off x="2991092" y="1675096"/>
            <a:ext cx="1173300" cy="154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79"/>
          <p:cNvPicPr preferRelativeResize="0"/>
          <p:nvPr/>
        </p:nvPicPr>
        <p:blipFill rotWithShape="1">
          <a:blip r:embed="rId3">
            <a:alphaModFix/>
          </a:blip>
          <a:srcRect b="5585" l="53041" r="10312" t="71221"/>
          <a:stretch/>
        </p:blipFill>
        <p:spPr>
          <a:xfrm>
            <a:off x="5105399" y="3835850"/>
            <a:ext cx="2895601" cy="84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79"/>
          <p:cNvPicPr preferRelativeResize="0"/>
          <p:nvPr/>
        </p:nvPicPr>
        <p:blipFill rotWithShape="1">
          <a:blip r:embed="rId3">
            <a:alphaModFix/>
          </a:blip>
          <a:srcRect b="40089" l="34836" r="39793" t="29546"/>
          <a:stretch/>
        </p:blipFill>
        <p:spPr>
          <a:xfrm>
            <a:off x="3209799" y="2706576"/>
            <a:ext cx="2004548" cy="11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79"/>
          <p:cNvPicPr preferRelativeResize="0"/>
          <p:nvPr/>
        </p:nvPicPr>
        <p:blipFill rotWithShape="1">
          <a:blip r:embed="rId3">
            <a:alphaModFix/>
          </a:blip>
          <a:srcRect b="11494" l="8246" r="61603" t="58515"/>
          <a:stretch/>
        </p:blipFill>
        <p:spPr>
          <a:xfrm>
            <a:off x="642773" y="3797598"/>
            <a:ext cx="2382276" cy="10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79"/>
          <p:cNvPicPr preferRelativeResize="0"/>
          <p:nvPr/>
        </p:nvPicPr>
        <p:blipFill rotWithShape="1">
          <a:blip r:embed="rId3">
            <a:alphaModFix/>
          </a:blip>
          <a:srcRect b="48716" l="71311" r="3318" t="7998"/>
          <a:stretch/>
        </p:blipFill>
        <p:spPr>
          <a:xfrm>
            <a:off x="6682250" y="1544549"/>
            <a:ext cx="2004548" cy="156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79"/>
          <p:cNvPicPr preferRelativeResize="0"/>
          <p:nvPr/>
        </p:nvPicPr>
        <p:blipFill rotWithShape="1">
          <a:blip r:embed="rId3">
            <a:alphaModFix/>
          </a:blip>
          <a:srcRect b="63659" l="41348" r="28501" t="7560"/>
          <a:stretch/>
        </p:blipFill>
        <p:spPr>
          <a:xfrm>
            <a:off x="3876675" y="1681100"/>
            <a:ext cx="2382276" cy="104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79"/>
          <p:cNvPicPr preferRelativeResize="0"/>
          <p:nvPr/>
        </p:nvPicPr>
        <p:blipFill rotWithShape="1">
          <a:blip r:embed="rId3">
            <a:alphaModFix/>
          </a:blip>
          <a:srcRect b="60801" l="0" r="65501" t="9207"/>
          <a:stretch/>
        </p:blipFill>
        <p:spPr>
          <a:xfrm>
            <a:off x="381000" y="1969324"/>
            <a:ext cx="2725800" cy="10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79"/>
          <p:cNvSpPr txBox="1"/>
          <p:nvPr>
            <p:ph idx="1" type="body"/>
          </p:nvPr>
        </p:nvSpPr>
        <p:spPr>
          <a:xfrm>
            <a:off x="324000" y="692318"/>
            <a:ext cx="8237700" cy="5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Tick the triangles that contain enough information to calculate their </a:t>
            </a:r>
            <a:r>
              <a:rPr lang="en-GB" sz="1800"/>
              <a:t>perimeter</a:t>
            </a:r>
            <a:r>
              <a:rPr lang="en-GB" sz="1800"/>
              <a:t> by summing the given lengths. All lengths are given in centimetres.</a:t>
            </a:r>
            <a:endParaRPr sz="1800"/>
          </a:p>
        </p:txBody>
      </p:sp>
      <p:sp>
        <p:nvSpPr>
          <p:cNvPr id="1114" name="Google Shape;1114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Understanding perimeter</a:t>
            </a:r>
            <a:endParaRPr/>
          </a:p>
        </p:txBody>
      </p:sp>
      <p:sp>
        <p:nvSpPr>
          <p:cNvPr id="1115" name="Google Shape;1115;p79"/>
          <p:cNvSpPr txBox="1"/>
          <p:nvPr>
            <p:ph idx="4294967295" type="body"/>
          </p:nvPr>
        </p:nvSpPr>
        <p:spPr>
          <a:xfrm>
            <a:off x="534075" y="2526825"/>
            <a:ext cx="5805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2.5</a:t>
            </a:r>
            <a:endParaRPr sz="1600"/>
          </a:p>
        </p:txBody>
      </p:sp>
      <p:sp>
        <p:nvSpPr>
          <p:cNvPr id="1116" name="Google Shape;1116;p79"/>
          <p:cNvSpPr txBox="1"/>
          <p:nvPr>
            <p:ph idx="4294967295" type="body"/>
          </p:nvPr>
        </p:nvSpPr>
        <p:spPr>
          <a:xfrm>
            <a:off x="1459622" y="1774400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</a:t>
            </a:r>
            <a:endParaRPr sz="1600"/>
          </a:p>
        </p:txBody>
      </p:sp>
      <p:cxnSp>
        <p:nvCxnSpPr>
          <p:cNvPr id="1117" name="Google Shape;1117;p79"/>
          <p:cNvCxnSpPr/>
          <p:nvPr/>
        </p:nvCxnSpPr>
        <p:spPr>
          <a:xfrm>
            <a:off x="1407994" y="3013995"/>
            <a:ext cx="333900" cy="33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79"/>
          <p:cNvCxnSpPr/>
          <p:nvPr/>
        </p:nvCxnSpPr>
        <p:spPr>
          <a:xfrm flipH="1" rot="10800000">
            <a:off x="1609163" y="3091648"/>
            <a:ext cx="121800" cy="11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79"/>
          <p:cNvCxnSpPr/>
          <p:nvPr/>
        </p:nvCxnSpPr>
        <p:spPr>
          <a:xfrm rot="10800000">
            <a:off x="1721125" y="3087575"/>
            <a:ext cx="112800" cy="11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0" name="Google Shape;1120;p79"/>
          <p:cNvSpPr txBox="1"/>
          <p:nvPr>
            <p:ph idx="4294967295" type="body"/>
          </p:nvPr>
        </p:nvSpPr>
        <p:spPr>
          <a:xfrm>
            <a:off x="2235521" y="2768500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endParaRPr sz="1600"/>
          </a:p>
        </p:txBody>
      </p:sp>
      <p:sp>
        <p:nvSpPr>
          <p:cNvPr id="1121" name="Google Shape;1121;p79"/>
          <p:cNvSpPr txBox="1"/>
          <p:nvPr>
            <p:ph idx="4294967295" type="body"/>
          </p:nvPr>
        </p:nvSpPr>
        <p:spPr>
          <a:xfrm>
            <a:off x="1468846" y="2261609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A</a:t>
            </a:r>
            <a:endParaRPr sz="1600"/>
          </a:p>
        </p:txBody>
      </p:sp>
      <p:sp>
        <p:nvSpPr>
          <p:cNvPr id="1122" name="Google Shape;1122;p79"/>
          <p:cNvSpPr txBox="1"/>
          <p:nvPr>
            <p:ph idx="4294967295" type="body"/>
          </p:nvPr>
        </p:nvSpPr>
        <p:spPr>
          <a:xfrm>
            <a:off x="4927501" y="1477875"/>
            <a:ext cx="1668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endParaRPr sz="1600"/>
          </a:p>
        </p:txBody>
      </p:sp>
      <p:sp>
        <p:nvSpPr>
          <p:cNvPr id="1123" name="Google Shape;1123;p79"/>
          <p:cNvSpPr txBox="1"/>
          <p:nvPr>
            <p:ph idx="4294967295" type="body"/>
          </p:nvPr>
        </p:nvSpPr>
        <p:spPr>
          <a:xfrm>
            <a:off x="6099505" y="1996337"/>
            <a:ext cx="1668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 </a:t>
            </a:r>
            <a:endParaRPr sz="1600"/>
          </a:p>
        </p:txBody>
      </p:sp>
      <p:sp>
        <p:nvSpPr>
          <p:cNvPr id="1124" name="Google Shape;1124;p79"/>
          <p:cNvSpPr txBox="1"/>
          <p:nvPr>
            <p:ph idx="4294967295" type="body"/>
          </p:nvPr>
        </p:nvSpPr>
        <p:spPr>
          <a:xfrm>
            <a:off x="4761578" y="2220960"/>
            <a:ext cx="2565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 </a:t>
            </a:r>
            <a:endParaRPr sz="1600"/>
          </a:p>
        </p:txBody>
      </p:sp>
      <p:sp>
        <p:nvSpPr>
          <p:cNvPr id="1125" name="Google Shape;1125;p79"/>
          <p:cNvSpPr txBox="1"/>
          <p:nvPr>
            <p:ph idx="4294967295" type="body"/>
          </p:nvPr>
        </p:nvSpPr>
        <p:spPr>
          <a:xfrm>
            <a:off x="8703394" y="2257650"/>
            <a:ext cx="1218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</a:t>
            </a:r>
            <a:endParaRPr sz="1600"/>
          </a:p>
        </p:txBody>
      </p:sp>
      <p:sp>
        <p:nvSpPr>
          <p:cNvPr id="1126" name="Google Shape;1126;p79"/>
          <p:cNvSpPr txBox="1"/>
          <p:nvPr>
            <p:ph idx="4294967295" type="body"/>
          </p:nvPr>
        </p:nvSpPr>
        <p:spPr>
          <a:xfrm>
            <a:off x="7660752" y="3089724"/>
            <a:ext cx="1668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</a:t>
            </a:r>
            <a:endParaRPr sz="1600"/>
          </a:p>
        </p:txBody>
      </p:sp>
      <p:sp>
        <p:nvSpPr>
          <p:cNvPr id="1127" name="Google Shape;1127;p79"/>
          <p:cNvSpPr txBox="1"/>
          <p:nvPr>
            <p:ph idx="4294967295" type="body"/>
          </p:nvPr>
        </p:nvSpPr>
        <p:spPr>
          <a:xfrm>
            <a:off x="7411353" y="2084000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</a:t>
            </a:r>
            <a:endParaRPr sz="1600"/>
          </a:p>
        </p:txBody>
      </p:sp>
      <p:sp>
        <p:nvSpPr>
          <p:cNvPr id="1128" name="Google Shape;1128;p79"/>
          <p:cNvSpPr txBox="1"/>
          <p:nvPr>
            <p:ph idx="4294967295" type="body"/>
          </p:nvPr>
        </p:nvSpPr>
        <p:spPr>
          <a:xfrm>
            <a:off x="3063894" y="3166006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 </a:t>
            </a:r>
            <a:endParaRPr sz="1600"/>
          </a:p>
        </p:txBody>
      </p:sp>
      <p:sp>
        <p:nvSpPr>
          <p:cNvPr id="1129" name="Google Shape;1129;p79"/>
          <p:cNvSpPr txBox="1"/>
          <p:nvPr>
            <p:ph idx="4294967295" type="body"/>
          </p:nvPr>
        </p:nvSpPr>
        <p:spPr>
          <a:xfrm>
            <a:off x="4054494" y="3791750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</a:t>
            </a:r>
            <a:endParaRPr sz="1600"/>
          </a:p>
        </p:txBody>
      </p:sp>
      <p:sp>
        <p:nvSpPr>
          <p:cNvPr id="1130" name="Google Shape;1130;p79"/>
          <p:cNvSpPr txBox="1"/>
          <p:nvPr>
            <p:ph idx="4294967295" type="body"/>
          </p:nvPr>
        </p:nvSpPr>
        <p:spPr>
          <a:xfrm>
            <a:off x="1681531" y="3923932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endParaRPr sz="1600"/>
          </a:p>
        </p:txBody>
      </p:sp>
      <p:cxnSp>
        <p:nvCxnSpPr>
          <p:cNvPr id="1131" name="Google Shape;1131;p79"/>
          <p:cNvCxnSpPr/>
          <p:nvPr/>
        </p:nvCxnSpPr>
        <p:spPr>
          <a:xfrm>
            <a:off x="646425" y="4770600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32" name="Google Shape;1132;p79"/>
          <p:cNvSpPr txBox="1"/>
          <p:nvPr>
            <p:ph idx="4294967295" type="body"/>
          </p:nvPr>
        </p:nvSpPr>
        <p:spPr>
          <a:xfrm>
            <a:off x="482131" y="4223350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</a:t>
            </a:r>
            <a:endParaRPr sz="1600"/>
          </a:p>
        </p:txBody>
      </p:sp>
      <p:cxnSp>
        <p:nvCxnSpPr>
          <p:cNvPr id="1133" name="Google Shape;1133;p79"/>
          <p:cNvCxnSpPr/>
          <p:nvPr/>
        </p:nvCxnSpPr>
        <p:spPr>
          <a:xfrm>
            <a:off x="619137" y="4604541"/>
            <a:ext cx="16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79"/>
          <p:cNvCxnSpPr/>
          <p:nvPr/>
        </p:nvCxnSpPr>
        <p:spPr>
          <a:xfrm rot="10800000">
            <a:off x="783112" y="4599925"/>
            <a:ext cx="0" cy="16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79"/>
          <p:cNvCxnSpPr/>
          <p:nvPr/>
        </p:nvCxnSpPr>
        <p:spPr>
          <a:xfrm>
            <a:off x="619517" y="3836534"/>
            <a:ext cx="6300" cy="92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6" name="Google Shape;1136;p79"/>
          <p:cNvCxnSpPr/>
          <p:nvPr/>
        </p:nvCxnSpPr>
        <p:spPr>
          <a:xfrm flipH="1">
            <a:off x="1726549" y="2104234"/>
            <a:ext cx="1313400" cy="120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7" name="Google Shape;1137;p79"/>
          <p:cNvSpPr txBox="1"/>
          <p:nvPr>
            <p:ph idx="4294967295" type="body"/>
          </p:nvPr>
        </p:nvSpPr>
        <p:spPr>
          <a:xfrm>
            <a:off x="5839788" y="3917112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</a:t>
            </a:r>
            <a:endParaRPr sz="1600"/>
          </a:p>
        </p:txBody>
      </p:sp>
      <p:sp>
        <p:nvSpPr>
          <p:cNvPr id="1138" name="Google Shape;1138;p79"/>
          <p:cNvSpPr txBox="1"/>
          <p:nvPr>
            <p:ph idx="4294967295" type="body"/>
          </p:nvPr>
        </p:nvSpPr>
        <p:spPr>
          <a:xfrm>
            <a:off x="6914828" y="4103668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 </a:t>
            </a:r>
            <a:endParaRPr sz="1600"/>
          </a:p>
        </p:txBody>
      </p:sp>
      <p:sp>
        <p:nvSpPr>
          <p:cNvPr id="1139" name="Google Shape;1139;p79"/>
          <p:cNvSpPr txBox="1"/>
          <p:nvPr>
            <p:ph idx="4294967295" type="body"/>
          </p:nvPr>
        </p:nvSpPr>
        <p:spPr>
          <a:xfrm>
            <a:off x="6551419" y="4613700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 </a:t>
            </a:r>
            <a:endParaRPr sz="1600"/>
          </a:p>
        </p:txBody>
      </p:sp>
      <p:cxnSp>
        <p:nvCxnSpPr>
          <p:cNvPr id="1140" name="Google Shape;1140;p79"/>
          <p:cNvCxnSpPr/>
          <p:nvPr/>
        </p:nvCxnSpPr>
        <p:spPr>
          <a:xfrm>
            <a:off x="6892449" y="3932409"/>
            <a:ext cx="0" cy="58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141" name="Google Shape;1141;p79"/>
          <p:cNvSpPr txBox="1"/>
          <p:nvPr>
            <p:ph idx="4294967295" type="body"/>
          </p:nvPr>
        </p:nvSpPr>
        <p:spPr>
          <a:xfrm>
            <a:off x="5367271" y="1901559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B</a:t>
            </a:r>
            <a:endParaRPr sz="1600"/>
          </a:p>
        </p:txBody>
      </p:sp>
      <p:sp>
        <p:nvSpPr>
          <p:cNvPr id="1142" name="Google Shape;1142;p79"/>
          <p:cNvSpPr txBox="1"/>
          <p:nvPr>
            <p:ph idx="4294967295" type="body"/>
          </p:nvPr>
        </p:nvSpPr>
        <p:spPr>
          <a:xfrm>
            <a:off x="7885421" y="2458959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D</a:t>
            </a:r>
            <a:endParaRPr sz="1600"/>
          </a:p>
        </p:txBody>
      </p:sp>
      <p:sp>
        <p:nvSpPr>
          <p:cNvPr id="1143" name="Google Shape;1143;p79"/>
          <p:cNvSpPr txBox="1"/>
          <p:nvPr>
            <p:ph idx="4294967295" type="body"/>
          </p:nvPr>
        </p:nvSpPr>
        <p:spPr>
          <a:xfrm>
            <a:off x="3700302" y="3265697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C</a:t>
            </a:r>
            <a:endParaRPr sz="1600"/>
          </a:p>
        </p:txBody>
      </p:sp>
      <p:sp>
        <p:nvSpPr>
          <p:cNvPr id="1144" name="Google Shape;1144;p79"/>
          <p:cNvSpPr txBox="1"/>
          <p:nvPr>
            <p:ph idx="4294967295" type="body"/>
          </p:nvPr>
        </p:nvSpPr>
        <p:spPr>
          <a:xfrm>
            <a:off x="1298871" y="4299109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E</a:t>
            </a:r>
            <a:endParaRPr sz="1600"/>
          </a:p>
        </p:txBody>
      </p:sp>
      <p:sp>
        <p:nvSpPr>
          <p:cNvPr id="1145" name="Google Shape;1145;p79"/>
          <p:cNvSpPr txBox="1"/>
          <p:nvPr>
            <p:ph idx="4294967295" type="body"/>
          </p:nvPr>
        </p:nvSpPr>
        <p:spPr>
          <a:xfrm>
            <a:off x="6396146" y="4176647"/>
            <a:ext cx="195300" cy="26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F</a:t>
            </a:r>
            <a:endParaRPr sz="1600"/>
          </a:p>
        </p:txBody>
      </p:sp>
      <p:cxnSp>
        <p:nvCxnSpPr>
          <p:cNvPr id="1146" name="Google Shape;1146;p79"/>
          <p:cNvCxnSpPr/>
          <p:nvPr/>
        </p:nvCxnSpPr>
        <p:spPr>
          <a:xfrm flipH="1">
            <a:off x="505375" y="1979393"/>
            <a:ext cx="2490000" cy="1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7" name="Google Shape;1147;p79"/>
          <p:cNvCxnSpPr/>
          <p:nvPr/>
        </p:nvCxnSpPr>
        <p:spPr>
          <a:xfrm rot="10800000">
            <a:off x="404179" y="2164846"/>
            <a:ext cx="900300" cy="90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8" name="Google Shape;1148;p79"/>
          <p:cNvCxnSpPr/>
          <p:nvPr/>
        </p:nvCxnSpPr>
        <p:spPr>
          <a:xfrm rot="10800000">
            <a:off x="3912600" y="1681110"/>
            <a:ext cx="1878600" cy="2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9" name="Google Shape;1149;p79"/>
          <p:cNvCxnSpPr/>
          <p:nvPr/>
        </p:nvCxnSpPr>
        <p:spPr>
          <a:xfrm rot="10800000">
            <a:off x="3864344" y="1873569"/>
            <a:ext cx="2237700" cy="84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0" name="Google Shape;1150;p79"/>
          <p:cNvCxnSpPr/>
          <p:nvPr/>
        </p:nvCxnSpPr>
        <p:spPr>
          <a:xfrm rot="10800000">
            <a:off x="5916489" y="1791333"/>
            <a:ext cx="356700" cy="80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1" name="Google Shape;1151;p79"/>
          <p:cNvCxnSpPr/>
          <p:nvPr/>
        </p:nvCxnSpPr>
        <p:spPr>
          <a:xfrm flipH="1">
            <a:off x="6705750" y="1581150"/>
            <a:ext cx="1771500" cy="133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2" name="Google Shape;1152;p79"/>
          <p:cNvCxnSpPr/>
          <p:nvPr/>
        </p:nvCxnSpPr>
        <p:spPr>
          <a:xfrm rot="10800000">
            <a:off x="6775375" y="3097875"/>
            <a:ext cx="1799400" cy="1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3" name="Google Shape;1153;p79"/>
          <p:cNvCxnSpPr/>
          <p:nvPr/>
        </p:nvCxnSpPr>
        <p:spPr>
          <a:xfrm flipH="1" rot="10800000">
            <a:off x="8675814" y="1662950"/>
            <a:ext cx="16200" cy="135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4" name="Google Shape;1154;p79"/>
          <p:cNvCxnSpPr/>
          <p:nvPr/>
        </p:nvCxnSpPr>
        <p:spPr>
          <a:xfrm rot="10800000">
            <a:off x="719201" y="3729731"/>
            <a:ext cx="2266800" cy="9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5" name="Google Shape;1155;p79"/>
          <p:cNvCxnSpPr/>
          <p:nvPr/>
        </p:nvCxnSpPr>
        <p:spPr>
          <a:xfrm flipH="1" rot="10800000">
            <a:off x="3194811" y="2802450"/>
            <a:ext cx="5100" cy="91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6" name="Google Shape;1156;p79"/>
          <p:cNvCxnSpPr/>
          <p:nvPr/>
        </p:nvCxnSpPr>
        <p:spPr>
          <a:xfrm>
            <a:off x="3320318" y="3815175"/>
            <a:ext cx="180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7" name="Google Shape;1157;p79"/>
          <p:cNvCxnSpPr/>
          <p:nvPr/>
        </p:nvCxnSpPr>
        <p:spPr>
          <a:xfrm flipH="1" rot="10800000">
            <a:off x="5181168" y="3806375"/>
            <a:ext cx="1660200" cy="62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8" name="Google Shape;1158;p79"/>
          <p:cNvCxnSpPr/>
          <p:nvPr/>
        </p:nvCxnSpPr>
        <p:spPr>
          <a:xfrm flipH="1" rot="10800000">
            <a:off x="5208075" y="4644957"/>
            <a:ext cx="2663700" cy="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159" name="Google Shape;115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2583" y="19297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0733" y="2458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1166" name="Google Shape;1166;p8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</a:t>
            </a:r>
            <a:endParaRPr/>
          </a:p>
        </p:txBody>
      </p:sp>
      <p:sp>
        <p:nvSpPr>
          <p:cNvPr id="1167" name="Google Shape;1167;p8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when the perimeter is known</a:t>
            </a:r>
            <a:endParaRPr/>
          </a:p>
        </p:txBody>
      </p:sp>
      <p:sp>
        <p:nvSpPr>
          <p:cNvPr id="1168" name="Google Shape;1168;p8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pic>
        <p:nvPicPr>
          <p:cNvPr id="1169" name="Google Shape;116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75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81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687209" y="1310164"/>
            <a:ext cx="3122852" cy="1416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81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Aisha has found the </a:t>
            </a:r>
            <a:r>
              <a:rPr lang="en-GB" sz="2000"/>
              <a:t>perimeter</a:t>
            </a:r>
            <a:r>
              <a:rPr lang="en-GB" sz="2000"/>
              <a:t> of the shape.</a:t>
            </a:r>
            <a:endParaRPr sz="2000"/>
          </a:p>
        </p:txBody>
      </p:sp>
      <p:sp>
        <p:nvSpPr>
          <p:cNvPr id="1176" name="Google Shape;117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pic>
        <p:nvPicPr>
          <p:cNvPr id="1177" name="Google Shape;1177;p81"/>
          <p:cNvPicPr preferRelativeResize="0"/>
          <p:nvPr/>
        </p:nvPicPr>
        <p:blipFill rotWithShape="1">
          <a:blip r:embed="rId4">
            <a:alphaModFix/>
          </a:blip>
          <a:srcRect b="0" l="70989" r="1512" t="0"/>
          <a:stretch/>
        </p:blipFill>
        <p:spPr>
          <a:xfrm>
            <a:off x="6543815" y="1520940"/>
            <a:ext cx="1356350" cy="2893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8" name="Google Shape;1178;p81"/>
          <p:cNvCxnSpPr/>
          <p:nvPr/>
        </p:nvCxnSpPr>
        <p:spPr>
          <a:xfrm>
            <a:off x="6805878" y="2237729"/>
            <a:ext cx="0" cy="116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9" name="Google Shape;1179;p81"/>
          <p:cNvSpPr txBox="1"/>
          <p:nvPr>
            <p:ph idx="4294967295" type="body"/>
          </p:nvPr>
        </p:nvSpPr>
        <p:spPr>
          <a:xfrm>
            <a:off x="6421067" y="26747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cxnSp>
        <p:nvCxnSpPr>
          <p:cNvPr id="1180" name="Google Shape;1180;p81"/>
          <p:cNvCxnSpPr/>
          <p:nvPr/>
        </p:nvCxnSpPr>
        <p:spPr>
          <a:xfrm flipH="1">
            <a:off x="6515550" y="3424921"/>
            <a:ext cx="284700" cy="87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1" name="Google Shape;1181;p81"/>
          <p:cNvCxnSpPr/>
          <p:nvPr/>
        </p:nvCxnSpPr>
        <p:spPr>
          <a:xfrm flipH="1">
            <a:off x="6659475" y="3955200"/>
            <a:ext cx="579600" cy="57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2" name="Google Shape;1182;p81"/>
          <p:cNvCxnSpPr/>
          <p:nvPr/>
        </p:nvCxnSpPr>
        <p:spPr>
          <a:xfrm flipH="1">
            <a:off x="6807050" y="1570075"/>
            <a:ext cx="289500" cy="58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3" name="Google Shape;1183;p81"/>
          <p:cNvSpPr txBox="1"/>
          <p:nvPr>
            <p:ph idx="4294967295" type="body"/>
          </p:nvPr>
        </p:nvSpPr>
        <p:spPr>
          <a:xfrm>
            <a:off x="6573174" y="1667159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m</a:t>
            </a:r>
            <a:endParaRPr sz="1600"/>
          </a:p>
        </p:txBody>
      </p:sp>
      <p:sp>
        <p:nvSpPr>
          <p:cNvPr id="1184" name="Google Shape;1184;p81"/>
          <p:cNvSpPr txBox="1"/>
          <p:nvPr>
            <p:ph idx="4294967295" type="body"/>
          </p:nvPr>
        </p:nvSpPr>
        <p:spPr>
          <a:xfrm>
            <a:off x="6267897" y="36653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185" name="Google Shape;1185;p81"/>
          <p:cNvSpPr txBox="1"/>
          <p:nvPr>
            <p:ph idx="4294967295" type="body"/>
          </p:nvPr>
        </p:nvSpPr>
        <p:spPr>
          <a:xfrm>
            <a:off x="6855100" y="4308669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cxnSp>
        <p:nvCxnSpPr>
          <p:cNvPr id="1186" name="Google Shape;1186;p81"/>
          <p:cNvCxnSpPr/>
          <p:nvPr/>
        </p:nvCxnSpPr>
        <p:spPr>
          <a:xfrm>
            <a:off x="7710747" y="2237729"/>
            <a:ext cx="0" cy="116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7" name="Google Shape;1187;p81"/>
          <p:cNvCxnSpPr/>
          <p:nvPr/>
        </p:nvCxnSpPr>
        <p:spPr>
          <a:xfrm>
            <a:off x="7716375" y="3424921"/>
            <a:ext cx="284700" cy="87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8" name="Google Shape;1188;p81"/>
          <p:cNvCxnSpPr/>
          <p:nvPr/>
        </p:nvCxnSpPr>
        <p:spPr>
          <a:xfrm>
            <a:off x="7277550" y="3955200"/>
            <a:ext cx="579600" cy="57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9" name="Google Shape;1189;p81"/>
          <p:cNvCxnSpPr/>
          <p:nvPr/>
        </p:nvCxnSpPr>
        <p:spPr>
          <a:xfrm>
            <a:off x="7420075" y="1570075"/>
            <a:ext cx="289500" cy="58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0" name="Google Shape;1190;p81"/>
          <p:cNvSpPr txBox="1"/>
          <p:nvPr>
            <p:ph idx="4294967295" type="body"/>
          </p:nvPr>
        </p:nvSpPr>
        <p:spPr>
          <a:xfrm>
            <a:off x="7325360" y="431348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sp>
        <p:nvSpPr>
          <p:cNvPr id="1191" name="Google Shape;1191;p81"/>
          <p:cNvSpPr txBox="1"/>
          <p:nvPr>
            <p:ph idx="4294967295" type="body"/>
          </p:nvPr>
        </p:nvSpPr>
        <p:spPr>
          <a:xfrm>
            <a:off x="7740520" y="26747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sp>
        <p:nvSpPr>
          <p:cNvPr id="1192" name="Google Shape;1192;p81"/>
          <p:cNvSpPr txBox="1"/>
          <p:nvPr>
            <p:ph idx="4294967295" type="body"/>
          </p:nvPr>
        </p:nvSpPr>
        <p:spPr>
          <a:xfrm>
            <a:off x="7606300" y="1681591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m</a:t>
            </a:r>
            <a:endParaRPr sz="1600"/>
          </a:p>
        </p:txBody>
      </p:sp>
      <p:sp>
        <p:nvSpPr>
          <p:cNvPr id="1193" name="Google Shape;1193;p81"/>
          <p:cNvSpPr txBox="1"/>
          <p:nvPr>
            <p:ph idx="4294967295" type="body"/>
          </p:nvPr>
        </p:nvSpPr>
        <p:spPr>
          <a:xfrm>
            <a:off x="7868097" y="36653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pic>
        <p:nvPicPr>
          <p:cNvPr id="1194" name="Google Shape;119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749" y="2432557"/>
            <a:ext cx="494100" cy="932972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81"/>
          <p:cNvSpPr txBox="1"/>
          <p:nvPr/>
        </p:nvSpPr>
        <p:spPr>
          <a:xfrm>
            <a:off x="921250" y="1421143"/>
            <a:ext cx="29541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started at the top of the shape and summed each length in order.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1"/>
          <p:cNvSpPr txBox="1"/>
          <p:nvPr>
            <p:ph idx="1" type="body"/>
          </p:nvPr>
        </p:nvSpPr>
        <p:spPr>
          <a:xfrm>
            <a:off x="305750" y="4482989"/>
            <a:ext cx="526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there a more efficient way to do this?</a:t>
            </a:r>
            <a:endParaRPr sz="2000"/>
          </a:p>
        </p:txBody>
      </p:sp>
      <p:sp>
        <p:nvSpPr>
          <p:cNvPr id="1197" name="Google Shape;1197;p81"/>
          <p:cNvSpPr txBox="1"/>
          <p:nvPr>
            <p:ph idx="4294967295" type="body"/>
          </p:nvPr>
        </p:nvSpPr>
        <p:spPr>
          <a:xfrm>
            <a:off x="1235114" y="3001736"/>
            <a:ext cx="51126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 + 5 + 4 + 3 + 3 + 4 + 5 + 2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= 28 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82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594680" y="1323775"/>
            <a:ext cx="3469824" cy="1416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82"/>
          <p:cNvSpPr txBox="1"/>
          <p:nvPr/>
        </p:nvSpPr>
        <p:spPr>
          <a:xfrm>
            <a:off x="849136" y="1427946"/>
            <a:ext cx="31989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length appears twice. So I double each length before summing them.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2"/>
          <p:cNvSpPr txBox="1"/>
          <p:nvPr>
            <p:ph idx="4294967295" type="body"/>
          </p:nvPr>
        </p:nvSpPr>
        <p:spPr>
          <a:xfrm>
            <a:off x="1241918" y="2973161"/>
            <a:ext cx="51126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2 × 2 + 2 × 5 + 2 × 4 + 2 × 3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= 4 + 10 + 8 + 6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= 28 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5" name="Google Shape;1205;p82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Jacob has found the perimeter of the shape in a different way.</a:t>
            </a:r>
            <a:endParaRPr sz="2000"/>
          </a:p>
        </p:txBody>
      </p:sp>
      <p:sp>
        <p:nvSpPr>
          <p:cNvPr id="1206" name="Google Shape;120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pic>
        <p:nvPicPr>
          <p:cNvPr id="1207" name="Google Shape;1207;p82"/>
          <p:cNvPicPr preferRelativeResize="0"/>
          <p:nvPr/>
        </p:nvPicPr>
        <p:blipFill rotWithShape="1">
          <a:blip r:embed="rId4">
            <a:alphaModFix/>
          </a:blip>
          <a:srcRect b="0" l="70989" r="1512" t="0"/>
          <a:stretch/>
        </p:blipFill>
        <p:spPr>
          <a:xfrm>
            <a:off x="6543815" y="1520940"/>
            <a:ext cx="1356350" cy="2893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8" name="Google Shape;1208;p82"/>
          <p:cNvCxnSpPr/>
          <p:nvPr/>
        </p:nvCxnSpPr>
        <p:spPr>
          <a:xfrm>
            <a:off x="6805878" y="2237729"/>
            <a:ext cx="0" cy="116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9" name="Google Shape;1209;p82"/>
          <p:cNvSpPr txBox="1"/>
          <p:nvPr>
            <p:ph idx="4294967295" type="body"/>
          </p:nvPr>
        </p:nvSpPr>
        <p:spPr>
          <a:xfrm>
            <a:off x="6421067" y="26747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cxnSp>
        <p:nvCxnSpPr>
          <p:cNvPr id="1210" name="Google Shape;1210;p82"/>
          <p:cNvCxnSpPr/>
          <p:nvPr/>
        </p:nvCxnSpPr>
        <p:spPr>
          <a:xfrm flipH="1">
            <a:off x="6515550" y="3424921"/>
            <a:ext cx="284700" cy="87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1" name="Google Shape;1211;p82"/>
          <p:cNvCxnSpPr/>
          <p:nvPr/>
        </p:nvCxnSpPr>
        <p:spPr>
          <a:xfrm flipH="1">
            <a:off x="6659475" y="3955200"/>
            <a:ext cx="579600" cy="57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2" name="Google Shape;1212;p82"/>
          <p:cNvCxnSpPr/>
          <p:nvPr/>
        </p:nvCxnSpPr>
        <p:spPr>
          <a:xfrm flipH="1">
            <a:off x="6807050" y="1570075"/>
            <a:ext cx="289500" cy="58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3" name="Google Shape;1213;p82"/>
          <p:cNvSpPr txBox="1"/>
          <p:nvPr>
            <p:ph idx="4294967295" type="body"/>
          </p:nvPr>
        </p:nvSpPr>
        <p:spPr>
          <a:xfrm>
            <a:off x="6573174" y="1667159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m</a:t>
            </a:r>
            <a:endParaRPr sz="1600"/>
          </a:p>
        </p:txBody>
      </p:sp>
      <p:sp>
        <p:nvSpPr>
          <p:cNvPr id="1214" name="Google Shape;1214;p82"/>
          <p:cNvSpPr txBox="1"/>
          <p:nvPr>
            <p:ph idx="4294967295" type="body"/>
          </p:nvPr>
        </p:nvSpPr>
        <p:spPr>
          <a:xfrm>
            <a:off x="6267897" y="36653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215" name="Google Shape;1215;p82"/>
          <p:cNvSpPr txBox="1"/>
          <p:nvPr>
            <p:ph idx="4294967295" type="body"/>
          </p:nvPr>
        </p:nvSpPr>
        <p:spPr>
          <a:xfrm>
            <a:off x="6855100" y="4308669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cxnSp>
        <p:nvCxnSpPr>
          <p:cNvPr id="1216" name="Google Shape;1216;p82"/>
          <p:cNvCxnSpPr/>
          <p:nvPr/>
        </p:nvCxnSpPr>
        <p:spPr>
          <a:xfrm>
            <a:off x="7710747" y="2237729"/>
            <a:ext cx="0" cy="116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7" name="Google Shape;1217;p82"/>
          <p:cNvCxnSpPr/>
          <p:nvPr/>
        </p:nvCxnSpPr>
        <p:spPr>
          <a:xfrm>
            <a:off x="7716375" y="3424921"/>
            <a:ext cx="284700" cy="87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8" name="Google Shape;1218;p82"/>
          <p:cNvCxnSpPr/>
          <p:nvPr/>
        </p:nvCxnSpPr>
        <p:spPr>
          <a:xfrm>
            <a:off x="7277550" y="3955200"/>
            <a:ext cx="579600" cy="57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19" name="Google Shape;1219;p82"/>
          <p:cNvCxnSpPr/>
          <p:nvPr/>
        </p:nvCxnSpPr>
        <p:spPr>
          <a:xfrm>
            <a:off x="7420075" y="1570075"/>
            <a:ext cx="289500" cy="58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0" name="Google Shape;1220;p82"/>
          <p:cNvSpPr txBox="1"/>
          <p:nvPr>
            <p:ph idx="4294967295" type="body"/>
          </p:nvPr>
        </p:nvSpPr>
        <p:spPr>
          <a:xfrm>
            <a:off x="7325360" y="431348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sp>
        <p:nvSpPr>
          <p:cNvPr id="1221" name="Google Shape;1221;p82"/>
          <p:cNvSpPr txBox="1"/>
          <p:nvPr>
            <p:ph idx="4294967295" type="body"/>
          </p:nvPr>
        </p:nvSpPr>
        <p:spPr>
          <a:xfrm>
            <a:off x="7740520" y="26747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sp>
        <p:nvSpPr>
          <p:cNvPr id="1222" name="Google Shape;1222;p82"/>
          <p:cNvSpPr txBox="1"/>
          <p:nvPr>
            <p:ph idx="4294967295" type="body"/>
          </p:nvPr>
        </p:nvSpPr>
        <p:spPr>
          <a:xfrm>
            <a:off x="7606300" y="1681591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m</a:t>
            </a:r>
            <a:endParaRPr sz="1600"/>
          </a:p>
        </p:txBody>
      </p:sp>
      <p:sp>
        <p:nvSpPr>
          <p:cNvPr id="1223" name="Google Shape;1223;p82"/>
          <p:cNvSpPr txBox="1"/>
          <p:nvPr>
            <p:ph idx="4294967295" type="body"/>
          </p:nvPr>
        </p:nvSpPr>
        <p:spPr>
          <a:xfrm>
            <a:off x="7868097" y="36653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224" name="Google Shape;1224;p82"/>
          <p:cNvSpPr txBox="1"/>
          <p:nvPr>
            <p:ph idx="1" type="body"/>
          </p:nvPr>
        </p:nvSpPr>
        <p:spPr>
          <a:xfrm>
            <a:off x="305750" y="4482989"/>
            <a:ext cx="5261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there a more efficient way to do this?</a:t>
            </a:r>
            <a:endParaRPr sz="2000"/>
          </a:p>
        </p:txBody>
      </p:sp>
      <p:pic>
        <p:nvPicPr>
          <p:cNvPr id="1225" name="Google Shape;1225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51368" y="2495413"/>
            <a:ext cx="579600" cy="713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8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Izzy</a:t>
            </a:r>
            <a:r>
              <a:rPr lang="en-GB" sz="2000"/>
              <a:t> has found the perimeter of the shape in a different way.</a:t>
            </a:r>
            <a:endParaRPr sz="2000"/>
          </a:p>
        </p:txBody>
      </p:sp>
      <p:sp>
        <p:nvSpPr>
          <p:cNvPr id="1231" name="Google Shape;123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pic>
        <p:nvPicPr>
          <p:cNvPr id="1232" name="Google Shape;1232;p83"/>
          <p:cNvPicPr preferRelativeResize="0"/>
          <p:nvPr/>
        </p:nvPicPr>
        <p:blipFill rotWithShape="1">
          <a:blip r:embed="rId3">
            <a:alphaModFix/>
          </a:blip>
          <a:srcRect b="0" l="70989" r="1512" t="0"/>
          <a:stretch/>
        </p:blipFill>
        <p:spPr>
          <a:xfrm>
            <a:off x="6543815" y="1520940"/>
            <a:ext cx="1356350" cy="2893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3" name="Google Shape;1233;p83"/>
          <p:cNvCxnSpPr/>
          <p:nvPr/>
        </p:nvCxnSpPr>
        <p:spPr>
          <a:xfrm>
            <a:off x="6805878" y="2237729"/>
            <a:ext cx="0" cy="116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4" name="Google Shape;1234;p83"/>
          <p:cNvSpPr txBox="1"/>
          <p:nvPr>
            <p:ph idx="4294967295" type="body"/>
          </p:nvPr>
        </p:nvSpPr>
        <p:spPr>
          <a:xfrm>
            <a:off x="6421067" y="26747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cxnSp>
        <p:nvCxnSpPr>
          <p:cNvPr id="1235" name="Google Shape;1235;p83"/>
          <p:cNvCxnSpPr/>
          <p:nvPr/>
        </p:nvCxnSpPr>
        <p:spPr>
          <a:xfrm flipH="1">
            <a:off x="6515550" y="3424921"/>
            <a:ext cx="284700" cy="87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6" name="Google Shape;1236;p83"/>
          <p:cNvCxnSpPr/>
          <p:nvPr/>
        </p:nvCxnSpPr>
        <p:spPr>
          <a:xfrm flipH="1">
            <a:off x="6659475" y="3955200"/>
            <a:ext cx="579600" cy="57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7" name="Google Shape;1237;p83"/>
          <p:cNvCxnSpPr/>
          <p:nvPr/>
        </p:nvCxnSpPr>
        <p:spPr>
          <a:xfrm flipH="1">
            <a:off x="6807050" y="1570075"/>
            <a:ext cx="289500" cy="58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8" name="Google Shape;1238;p83"/>
          <p:cNvSpPr txBox="1"/>
          <p:nvPr>
            <p:ph idx="4294967295" type="body"/>
          </p:nvPr>
        </p:nvSpPr>
        <p:spPr>
          <a:xfrm>
            <a:off x="6573174" y="1667159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m</a:t>
            </a:r>
            <a:endParaRPr sz="1600"/>
          </a:p>
        </p:txBody>
      </p:sp>
      <p:sp>
        <p:nvSpPr>
          <p:cNvPr id="1239" name="Google Shape;1239;p83"/>
          <p:cNvSpPr txBox="1"/>
          <p:nvPr>
            <p:ph idx="4294967295" type="body"/>
          </p:nvPr>
        </p:nvSpPr>
        <p:spPr>
          <a:xfrm>
            <a:off x="6267897" y="36653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240" name="Google Shape;1240;p83"/>
          <p:cNvSpPr txBox="1"/>
          <p:nvPr>
            <p:ph idx="4294967295" type="body"/>
          </p:nvPr>
        </p:nvSpPr>
        <p:spPr>
          <a:xfrm>
            <a:off x="6855100" y="4308669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pic>
        <p:nvPicPr>
          <p:cNvPr id="1241" name="Google Shape;1241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50684" y="2453246"/>
            <a:ext cx="737736" cy="7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83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>
            <a:off x="586525" y="1314250"/>
            <a:ext cx="4909399" cy="1416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83"/>
          <p:cNvSpPr txBox="1"/>
          <p:nvPr>
            <p:ph idx="4294967295" type="body"/>
          </p:nvPr>
        </p:nvSpPr>
        <p:spPr>
          <a:xfrm>
            <a:off x="1236620" y="3015350"/>
            <a:ext cx="38634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   2 × (2 + 5 + 4 + 3)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= 2 × 14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= 28 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4" name="Google Shape;1244;p83"/>
          <p:cNvSpPr txBox="1"/>
          <p:nvPr/>
        </p:nvSpPr>
        <p:spPr>
          <a:xfrm flipH="1">
            <a:off x="952650" y="1400725"/>
            <a:ext cx="46671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lengths are the same on each side.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I summed the lengths on the left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then multiplied by 2.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5" name="Google Shape;1245;p83"/>
          <p:cNvCxnSpPr/>
          <p:nvPr/>
        </p:nvCxnSpPr>
        <p:spPr>
          <a:xfrm>
            <a:off x="7254673" y="1662125"/>
            <a:ext cx="0" cy="20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84"/>
          <p:cNvSpPr txBox="1"/>
          <p:nvPr>
            <p:ph idx="1" type="body"/>
          </p:nvPr>
        </p:nvSpPr>
        <p:spPr>
          <a:xfrm>
            <a:off x="324000" y="759300"/>
            <a:ext cx="7135200" cy="7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perimeter for shapes with </a:t>
            </a:r>
            <a:r>
              <a:rPr lang="en-GB" sz="2000">
                <a:solidFill>
                  <a:schemeClr val="accent5"/>
                </a:solidFill>
              </a:rPr>
              <a:t>symmetry</a:t>
            </a:r>
            <a:r>
              <a:rPr lang="en-GB" sz="2000"/>
              <a:t> or </a:t>
            </a:r>
            <a:r>
              <a:rPr lang="en-GB" sz="2000">
                <a:solidFill>
                  <a:schemeClr val="accent5"/>
                </a:solidFill>
              </a:rPr>
              <a:t>repeating patterns</a:t>
            </a:r>
            <a:r>
              <a:rPr lang="en-GB" sz="2000"/>
              <a:t> can be calculated using different methods. </a:t>
            </a:r>
            <a:endParaRPr sz="2000"/>
          </a:p>
        </p:txBody>
      </p:sp>
      <p:sp>
        <p:nvSpPr>
          <p:cNvPr id="1251" name="Google Shape;125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pic>
        <p:nvPicPr>
          <p:cNvPr id="1252" name="Google Shape;1252;p84"/>
          <p:cNvPicPr preferRelativeResize="0"/>
          <p:nvPr/>
        </p:nvPicPr>
        <p:blipFill rotWithShape="1">
          <a:blip r:embed="rId3">
            <a:alphaModFix/>
          </a:blip>
          <a:srcRect b="0" l="70989" r="1512" t="0"/>
          <a:stretch/>
        </p:blipFill>
        <p:spPr>
          <a:xfrm>
            <a:off x="6543815" y="1520940"/>
            <a:ext cx="1356350" cy="2893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3" name="Google Shape;1253;p84"/>
          <p:cNvCxnSpPr/>
          <p:nvPr/>
        </p:nvCxnSpPr>
        <p:spPr>
          <a:xfrm>
            <a:off x="6805878" y="2237729"/>
            <a:ext cx="0" cy="116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4" name="Google Shape;1254;p84"/>
          <p:cNvSpPr txBox="1"/>
          <p:nvPr>
            <p:ph idx="4294967295" type="body"/>
          </p:nvPr>
        </p:nvSpPr>
        <p:spPr>
          <a:xfrm>
            <a:off x="6421067" y="26747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cxnSp>
        <p:nvCxnSpPr>
          <p:cNvPr id="1255" name="Google Shape;1255;p84"/>
          <p:cNvCxnSpPr/>
          <p:nvPr/>
        </p:nvCxnSpPr>
        <p:spPr>
          <a:xfrm flipH="1">
            <a:off x="6515550" y="3424921"/>
            <a:ext cx="284700" cy="87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6" name="Google Shape;1256;p84"/>
          <p:cNvCxnSpPr/>
          <p:nvPr/>
        </p:nvCxnSpPr>
        <p:spPr>
          <a:xfrm flipH="1">
            <a:off x="6659475" y="3955200"/>
            <a:ext cx="579600" cy="57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7" name="Google Shape;1257;p84"/>
          <p:cNvCxnSpPr/>
          <p:nvPr/>
        </p:nvCxnSpPr>
        <p:spPr>
          <a:xfrm flipH="1">
            <a:off x="6807050" y="1570075"/>
            <a:ext cx="289500" cy="58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58" name="Google Shape;1258;p84"/>
          <p:cNvSpPr txBox="1"/>
          <p:nvPr>
            <p:ph idx="4294967295" type="body"/>
          </p:nvPr>
        </p:nvSpPr>
        <p:spPr>
          <a:xfrm>
            <a:off x="6573174" y="1667159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m</a:t>
            </a:r>
            <a:endParaRPr sz="1600"/>
          </a:p>
        </p:txBody>
      </p:sp>
      <p:sp>
        <p:nvSpPr>
          <p:cNvPr id="1259" name="Google Shape;1259;p84"/>
          <p:cNvSpPr txBox="1"/>
          <p:nvPr>
            <p:ph idx="4294967295" type="body"/>
          </p:nvPr>
        </p:nvSpPr>
        <p:spPr>
          <a:xfrm>
            <a:off x="6267897" y="3665375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260" name="Google Shape;1260;p84"/>
          <p:cNvSpPr txBox="1"/>
          <p:nvPr>
            <p:ph idx="4294967295" type="body"/>
          </p:nvPr>
        </p:nvSpPr>
        <p:spPr>
          <a:xfrm>
            <a:off x="6855100" y="4308669"/>
            <a:ext cx="494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cxnSp>
        <p:nvCxnSpPr>
          <p:cNvPr id="1261" name="Google Shape;1261;p84"/>
          <p:cNvCxnSpPr/>
          <p:nvPr/>
        </p:nvCxnSpPr>
        <p:spPr>
          <a:xfrm>
            <a:off x="7254673" y="1662125"/>
            <a:ext cx="0" cy="204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262" name="Google Shape;126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1324" y="3688373"/>
            <a:ext cx="524301" cy="507388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84"/>
          <p:cNvSpPr txBox="1"/>
          <p:nvPr>
            <p:ph idx="4294967295" type="body"/>
          </p:nvPr>
        </p:nvSpPr>
        <p:spPr>
          <a:xfrm>
            <a:off x="1424400" y="3898175"/>
            <a:ext cx="3001500" cy="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(2 + 5 + 4 + 3)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4" name="Google Shape;1264;p84"/>
          <p:cNvSpPr txBox="1"/>
          <p:nvPr>
            <p:ph idx="4294967295" type="body"/>
          </p:nvPr>
        </p:nvSpPr>
        <p:spPr>
          <a:xfrm>
            <a:off x="1394325" y="2820750"/>
            <a:ext cx="4077300" cy="3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× 2 + 2 × 5 + 2 × 4 + 2 ×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65" name="Google Shape;126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25824" y="2622112"/>
            <a:ext cx="411914" cy="5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366" y="1572013"/>
            <a:ext cx="324771" cy="613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84"/>
          <p:cNvSpPr txBox="1"/>
          <p:nvPr>
            <p:ph idx="4294967295" type="body"/>
          </p:nvPr>
        </p:nvSpPr>
        <p:spPr>
          <a:xfrm>
            <a:off x="1387525" y="1755317"/>
            <a:ext cx="5112600" cy="4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+ 5 + 4 + 3 + 3 + 4 + 5 +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8" name="Google Shape;1268;p84"/>
          <p:cNvSpPr txBox="1"/>
          <p:nvPr>
            <p:ph idx="1" type="body"/>
          </p:nvPr>
        </p:nvSpPr>
        <p:spPr>
          <a:xfrm>
            <a:off x="790913" y="2176473"/>
            <a:ext cx="5796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Aisha</a:t>
            </a:r>
            <a:endParaRPr sz="1600"/>
          </a:p>
        </p:txBody>
      </p:sp>
      <p:sp>
        <p:nvSpPr>
          <p:cNvPr id="1269" name="Google Shape;1269;p84"/>
          <p:cNvSpPr txBox="1"/>
          <p:nvPr>
            <p:ph idx="1" type="body"/>
          </p:nvPr>
        </p:nvSpPr>
        <p:spPr>
          <a:xfrm>
            <a:off x="735137" y="3126257"/>
            <a:ext cx="6516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/>
          </a:p>
        </p:txBody>
      </p:sp>
      <p:sp>
        <p:nvSpPr>
          <p:cNvPr id="1270" name="Google Shape;1270;p84"/>
          <p:cNvSpPr txBox="1"/>
          <p:nvPr>
            <p:ph idx="1" type="body"/>
          </p:nvPr>
        </p:nvSpPr>
        <p:spPr>
          <a:xfrm>
            <a:off x="894331" y="4171275"/>
            <a:ext cx="4941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/>
          </a:p>
        </p:txBody>
      </p:sp>
      <p:sp>
        <p:nvSpPr>
          <p:cNvPr id="1271" name="Google Shape;1271;p84"/>
          <p:cNvSpPr txBox="1"/>
          <p:nvPr>
            <p:ph idx="1" type="body"/>
          </p:nvPr>
        </p:nvSpPr>
        <p:spPr>
          <a:xfrm>
            <a:off x="324000" y="4569300"/>
            <a:ext cx="5204700" cy="3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Whose method seems the most efficient?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85"/>
          <p:cNvSpPr txBox="1"/>
          <p:nvPr>
            <p:ph idx="1" type="body"/>
          </p:nvPr>
        </p:nvSpPr>
        <p:spPr>
          <a:xfrm>
            <a:off x="324000" y="759300"/>
            <a:ext cx="8237700" cy="8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Sides which have the same markings have equal lengths. </a:t>
            </a:r>
            <a:br>
              <a:rPr lang="en-GB" sz="2000"/>
            </a:br>
            <a:r>
              <a:rPr lang="en-GB" sz="2000"/>
              <a:t>Find the </a:t>
            </a:r>
            <a:r>
              <a:rPr lang="en-GB" sz="2000"/>
              <a:t>perimeter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277" name="Google Shape;1277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sp>
        <p:nvSpPr>
          <p:cNvPr id="1278" name="Google Shape;1278;p85"/>
          <p:cNvSpPr/>
          <p:nvPr/>
        </p:nvSpPr>
        <p:spPr>
          <a:xfrm>
            <a:off x="966489" y="2007600"/>
            <a:ext cx="2235300" cy="21246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9" name="Google Shape;1279;p85"/>
          <p:cNvCxnSpPr/>
          <p:nvPr/>
        </p:nvCxnSpPr>
        <p:spPr>
          <a:xfrm>
            <a:off x="2109117" y="4030746"/>
            <a:ext cx="0" cy="23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85"/>
          <p:cNvCxnSpPr/>
          <p:nvPr/>
        </p:nvCxnSpPr>
        <p:spPr>
          <a:xfrm flipH="1">
            <a:off x="1068731" y="3437157"/>
            <a:ext cx="193500" cy="9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85"/>
          <p:cNvCxnSpPr/>
          <p:nvPr/>
        </p:nvCxnSpPr>
        <p:spPr>
          <a:xfrm rot="10800000">
            <a:off x="1445498" y="2352853"/>
            <a:ext cx="103500" cy="15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85"/>
          <p:cNvCxnSpPr/>
          <p:nvPr/>
        </p:nvCxnSpPr>
        <p:spPr>
          <a:xfrm>
            <a:off x="2898714" y="3494449"/>
            <a:ext cx="193500" cy="9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85"/>
          <p:cNvCxnSpPr/>
          <p:nvPr/>
        </p:nvCxnSpPr>
        <p:spPr>
          <a:xfrm flipH="1" rot="10800000">
            <a:off x="2683564" y="2381499"/>
            <a:ext cx="103500" cy="15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4" name="Google Shape;1284;p85"/>
          <p:cNvSpPr txBox="1"/>
          <p:nvPr>
            <p:ph idx="4294967295" type="body"/>
          </p:nvPr>
        </p:nvSpPr>
        <p:spPr>
          <a:xfrm>
            <a:off x="1719989" y="4369777"/>
            <a:ext cx="7350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mm</a:t>
            </a:r>
            <a:endParaRPr sz="1600"/>
          </a:p>
        </p:txBody>
      </p:sp>
      <p:sp>
        <p:nvSpPr>
          <p:cNvPr id="1285" name="Google Shape;1285;p85"/>
          <p:cNvSpPr txBox="1"/>
          <p:nvPr>
            <p:ph idx="4294967295" type="body"/>
          </p:nvPr>
        </p:nvSpPr>
        <p:spPr>
          <a:xfrm>
            <a:off x="4872723" y="1930246"/>
            <a:ext cx="2982900" cy="3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 + 10 + 10 + 10 + 10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6" name="Google Shape;1286;p85"/>
          <p:cNvSpPr txBox="1"/>
          <p:nvPr>
            <p:ph idx="4294967295" type="body"/>
          </p:nvPr>
        </p:nvSpPr>
        <p:spPr>
          <a:xfrm>
            <a:off x="4567915" y="2387450"/>
            <a:ext cx="1298100" cy="3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50 mm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7" name="Google Shape;1287;p85"/>
          <p:cNvSpPr txBox="1"/>
          <p:nvPr>
            <p:ph idx="4294967295" type="body"/>
          </p:nvPr>
        </p:nvSpPr>
        <p:spPr>
          <a:xfrm>
            <a:off x="307564" y="3511550"/>
            <a:ext cx="7350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mm</a:t>
            </a:r>
            <a:endParaRPr sz="1600"/>
          </a:p>
        </p:txBody>
      </p:sp>
      <p:sp>
        <p:nvSpPr>
          <p:cNvPr id="1288" name="Google Shape;1288;p85"/>
          <p:cNvSpPr txBox="1"/>
          <p:nvPr>
            <p:ph idx="4294967295" type="body"/>
          </p:nvPr>
        </p:nvSpPr>
        <p:spPr>
          <a:xfrm>
            <a:off x="689541" y="2028098"/>
            <a:ext cx="7350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mm</a:t>
            </a:r>
            <a:endParaRPr sz="1600"/>
          </a:p>
        </p:txBody>
      </p:sp>
      <p:sp>
        <p:nvSpPr>
          <p:cNvPr id="1289" name="Google Shape;1289;p85"/>
          <p:cNvSpPr txBox="1"/>
          <p:nvPr>
            <p:ph idx="4294967295" type="body"/>
          </p:nvPr>
        </p:nvSpPr>
        <p:spPr>
          <a:xfrm>
            <a:off x="2759764" y="1937575"/>
            <a:ext cx="7350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mm</a:t>
            </a:r>
            <a:endParaRPr sz="1600"/>
          </a:p>
        </p:txBody>
      </p:sp>
      <p:sp>
        <p:nvSpPr>
          <p:cNvPr id="1290" name="Google Shape;1290;p85"/>
          <p:cNvSpPr txBox="1"/>
          <p:nvPr>
            <p:ph idx="4294967295" type="body"/>
          </p:nvPr>
        </p:nvSpPr>
        <p:spPr>
          <a:xfrm>
            <a:off x="3269037" y="3489907"/>
            <a:ext cx="7350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mm</a:t>
            </a:r>
            <a:endParaRPr sz="1600"/>
          </a:p>
        </p:txBody>
      </p:sp>
      <p:sp>
        <p:nvSpPr>
          <p:cNvPr id="1291" name="Google Shape;1291;p85"/>
          <p:cNvSpPr txBox="1"/>
          <p:nvPr>
            <p:ph idx="4294967295" type="body"/>
          </p:nvPr>
        </p:nvSpPr>
        <p:spPr>
          <a:xfrm>
            <a:off x="4322998" y="1543796"/>
            <a:ext cx="2982900" cy="3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Method 1: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2" name="Google Shape;1292;p85"/>
          <p:cNvSpPr txBox="1"/>
          <p:nvPr>
            <p:ph idx="4294967295" type="body"/>
          </p:nvPr>
        </p:nvSpPr>
        <p:spPr>
          <a:xfrm>
            <a:off x="4872723" y="3530446"/>
            <a:ext cx="2982900" cy="3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×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3" name="Google Shape;1293;p85"/>
          <p:cNvSpPr txBox="1"/>
          <p:nvPr>
            <p:ph idx="4294967295" type="body"/>
          </p:nvPr>
        </p:nvSpPr>
        <p:spPr>
          <a:xfrm>
            <a:off x="4567915" y="3987650"/>
            <a:ext cx="1298100" cy="3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50 mm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4" name="Google Shape;1294;p85"/>
          <p:cNvSpPr txBox="1"/>
          <p:nvPr>
            <p:ph idx="4294967295" type="body"/>
          </p:nvPr>
        </p:nvSpPr>
        <p:spPr>
          <a:xfrm>
            <a:off x="4322998" y="3143996"/>
            <a:ext cx="2982900" cy="3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Method 2: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5" name="Google Shape;1295;p85"/>
          <p:cNvSpPr txBox="1"/>
          <p:nvPr>
            <p:ph idx="1" type="body"/>
          </p:nvPr>
        </p:nvSpPr>
        <p:spPr>
          <a:xfrm>
            <a:off x="4316186" y="4569300"/>
            <a:ext cx="4248000" cy="3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method seems more efficient?</a:t>
            </a:r>
            <a:endParaRPr sz="1800"/>
          </a:p>
        </p:txBody>
      </p:sp>
      <p:cxnSp>
        <p:nvCxnSpPr>
          <p:cNvPr id="1296" name="Google Shape;1296;p85"/>
          <p:cNvCxnSpPr/>
          <p:nvPr/>
        </p:nvCxnSpPr>
        <p:spPr>
          <a:xfrm rot="10800000">
            <a:off x="1393384" y="4360795"/>
            <a:ext cx="1381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297" name="Google Shape;1297;p85"/>
          <p:cNvGrpSpPr/>
          <p:nvPr/>
        </p:nvGrpSpPr>
        <p:grpSpPr>
          <a:xfrm>
            <a:off x="716410" y="1800485"/>
            <a:ext cx="2764105" cy="2346033"/>
            <a:chOff x="716410" y="1800485"/>
            <a:chExt cx="2764105" cy="2346033"/>
          </a:xfrm>
        </p:grpSpPr>
        <p:cxnSp>
          <p:nvCxnSpPr>
            <p:cNvPr id="1298" name="Google Shape;1298;p85"/>
            <p:cNvCxnSpPr/>
            <p:nvPr/>
          </p:nvCxnSpPr>
          <p:spPr>
            <a:xfrm rot="10800000">
              <a:off x="716410" y="2819095"/>
              <a:ext cx="426900" cy="1313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299" name="Google Shape;1299;p85"/>
            <p:cNvCxnSpPr/>
            <p:nvPr/>
          </p:nvCxnSpPr>
          <p:spPr>
            <a:xfrm flipH="1">
              <a:off x="814239" y="1840877"/>
              <a:ext cx="1117500" cy="81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00" name="Google Shape;1300;p85"/>
            <p:cNvCxnSpPr/>
            <p:nvPr/>
          </p:nvCxnSpPr>
          <p:spPr>
            <a:xfrm>
              <a:off x="2236539" y="1800485"/>
              <a:ext cx="1117500" cy="81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01" name="Google Shape;1301;p85"/>
            <p:cNvCxnSpPr/>
            <p:nvPr/>
          </p:nvCxnSpPr>
          <p:spPr>
            <a:xfrm flipH="1">
              <a:off x="3053615" y="2833418"/>
              <a:ext cx="426900" cy="1313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3000" y="1626525"/>
            <a:ext cx="2083525" cy="331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8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dashed line represents a mirror line.</a:t>
            </a:r>
            <a:br>
              <a:rPr lang="en-GB"/>
            </a:br>
            <a:r>
              <a:rPr lang="en-GB"/>
              <a:t>What is the </a:t>
            </a:r>
            <a:r>
              <a:rPr lang="en-GB"/>
              <a:t>perimeter</a:t>
            </a:r>
            <a:r>
              <a:rPr lang="en-GB"/>
              <a:t> of the shape?</a:t>
            </a:r>
            <a:endParaRPr/>
          </a:p>
        </p:txBody>
      </p:sp>
      <p:sp>
        <p:nvSpPr>
          <p:cNvPr id="1308" name="Google Shape;1308;p8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sp>
        <p:nvSpPr>
          <p:cNvPr id="1309" name="Google Shape;1309;p86"/>
          <p:cNvSpPr txBox="1"/>
          <p:nvPr>
            <p:ph idx="1" type="subTitle"/>
          </p:nvPr>
        </p:nvSpPr>
        <p:spPr>
          <a:xfrm>
            <a:off x="1034425" y="1837775"/>
            <a:ext cx="1278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19 cm</a:t>
            </a:r>
            <a:endParaRPr/>
          </a:p>
        </p:txBody>
      </p:sp>
      <p:sp>
        <p:nvSpPr>
          <p:cNvPr id="1310" name="Google Shape;1310;p86"/>
          <p:cNvSpPr txBox="1"/>
          <p:nvPr>
            <p:ph idx="3" type="subTitle"/>
          </p:nvPr>
        </p:nvSpPr>
        <p:spPr>
          <a:xfrm>
            <a:off x="1034425" y="2794251"/>
            <a:ext cx="1278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38 cm</a:t>
            </a:r>
            <a:endParaRPr/>
          </a:p>
        </p:txBody>
      </p:sp>
      <p:sp>
        <p:nvSpPr>
          <p:cNvPr id="1311" name="Google Shape;1311;p86"/>
          <p:cNvSpPr txBox="1"/>
          <p:nvPr>
            <p:ph idx="4" type="subTitle"/>
          </p:nvPr>
        </p:nvSpPr>
        <p:spPr>
          <a:xfrm>
            <a:off x="1034425" y="3766974"/>
            <a:ext cx="1271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40 cm</a:t>
            </a:r>
            <a:endParaRPr/>
          </a:p>
        </p:txBody>
      </p:sp>
      <p:sp>
        <p:nvSpPr>
          <p:cNvPr id="1312" name="Google Shape;1312;p86"/>
          <p:cNvSpPr txBox="1"/>
          <p:nvPr>
            <p:ph idx="4294967295" type="body"/>
          </p:nvPr>
        </p:nvSpPr>
        <p:spPr>
          <a:xfrm>
            <a:off x="5845904" y="2885777"/>
            <a:ext cx="5607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313" name="Google Shape;1313;p86"/>
          <p:cNvSpPr txBox="1"/>
          <p:nvPr>
            <p:ph idx="4294967295" type="body"/>
          </p:nvPr>
        </p:nvSpPr>
        <p:spPr>
          <a:xfrm>
            <a:off x="7846308" y="2829749"/>
            <a:ext cx="5607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314" name="Google Shape;1314;p86"/>
          <p:cNvSpPr txBox="1"/>
          <p:nvPr>
            <p:ph idx="4294967295" type="body"/>
          </p:nvPr>
        </p:nvSpPr>
        <p:spPr>
          <a:xfrm>
            <a:off x="5637159" y="1849762"/>
            <a:ext cx="5607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1315" name="Google Shape;1315;p86"/>
          <p:cNvSpPr txBox="1"/>
          <p:nvPr>
            <p:ph idx="4294967295" type="body"/>
          </p:nvPr>
        </p:nvSpPr>
        <p:spPr>
          <a:xfrm>
            <a:off x="8013146" y="1865793"/>
            <a:ext cx="5607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1316" name="Google Shape;1316;p86"/>
          <p:cNvSpPr txBox="1"/>
          <p:nvPr>
            <p:ph idx="4294967295" type="body"/>
          </p:nvPr>
        </p:nvSpPr>
        <p:spPr>
          <a:xfrm>
            <a:off x="6804668" y="1337815"/>
            <a:ext cx="5607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pic>
        <p:nvPicPr>
          <p:cNvPr id="1317" name="Google Shape;1317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0133" y="2779250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8" name="Google Shape;1318;p86"/>
          <p:cNvCxnSpPr/>
          <p:nvPr/>
        </p:nvCxnSpPr>
        <p:spPr>
          <a:xfrm rot="10800000">
            <a:off x="6481450" y="1580675"/>
            <a:ext cx="1145700" cy="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9" name="Google Shape;1319;p86"/>
          <p:cNvCxnSpPr/>
          <p:nvPr/>
        </p:nvCxnSpPr>
        <p:spPr>
          <a:xfrm flipH="1" rot="10800000">
            <a:off x="5928475" y="1656450"/>
            <a:ext cx="39300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0" name="Google Shape;1320;p86"/>
          <p:cNvCxnSpPr/>
          <p:nvPr/>
        </p:nvCxnSpPr>
        <p:spPr>
          <a:xfrm rot="10800000">
            <a:off x="5940827" y="2551175"/>
            <a:ext cx="706500" cy="705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1" name="Google Shape;1321;p86"/>
          <p:cNvCxnSpPr/>
          <p:nvPr/>
        </p:nvCxnSpPr>
        <p:spPr>
          <a:xfrm flipH="1" rot="10800000">
            <a:off x="7471900" y="2521419"/>
            <a:ext cx="740100" cy="74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2" name="Google Shape;1322;p86"/>
          <p:cNvCxnSpPr/>
          <p:nvPr/>
        </p:nvCxnSpPr>
        <p:spPr>
          <a:xfrm rot="10800000">
            <a:off x="7777650" y="1661750"/>
            <a:ext cx="382200" cy="75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3" name="Google Shape;1323;p86"/>
          <p:cNvSpPr/>
          <p:nvPr/>
        </p:nvSpPr>
        <p:spPr>
          <a:xfrm>
            <a:off x="6875002" y="3219800"/>
            <a:ext cx="345300" cy="936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4" name="Google Shape;1324;p86"/>
          <p:cNvCxnSpPr/>
          <p:nvPr/>
        </p:nvCxnSpPr>
        <p:spPr>
          <a:xfrm>
            <a:off x="5784849" y="3270325"/>
            <a:ext cx="2486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87"/>
          <p:cNvSpPr/>
          <p:nvPr/>
        </p:nvSpPr>
        <p:spPr>
          <a:xfrm>
            <a:off x="1329196" y="1832210"/>
            <a:ext cx="2346600" cy="2132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0" name="Google Shape;1330;p87"/>
          <p:cNvPicPr preferRelativeResize="0"/>
          <p:nvPr/>
        </p:nvPicPr>
        <p:blipFill rotWithShape="1">
          <a:blip r:embed="rId3">
            <a:alphaModFix/>
          </a:blip>
          <a:srcRect b="1509" l="0" r="0" t="1100"/>
          <a:stretch/>
        </p:blipFill>
        <p:spPr>
          <a:xfrm>
            <a:off x="5326499" y="1816636"/>
            <a:ext cx="2439952" cy="21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87"/>
          <p:cNvSpPr txBox="1"/>
          <p:nvPr>
            <p:ph idx="1" type="body"/>
          </p:nvPr>
        </p:nvSpPr>
        <p:spPr>
          <a:xfrm>
            <a:off x="324000" y="759300"/>
            <a:ext cx="8237700" cy="3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Andeep starts with a rectangle, with all lengths in centimetres.</a:t>
            </a:r>
            <a:endParaRPr sz="2000"/>
          </a:p>
        </p:txBody>
      </p:sp>
      <p:sp>
        <p:nvSpPr>
          <p:cNvPr id="1332" name="Google Shape;133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sp>
        <p:nvSpPr>
          <p:cNvPr id="1333" name="Google Shape;1333;p87"/>
          <p:cNvSpPr txBox="1"/>
          <p:nvPr>
            <p:ph idx="1" type="body"/>
          </p:nvPr>
        </p:nvSpPr>
        <p:spPr>
          <a:xfrm>
            <a:off x="1086000" y="4513511"/>
            <a:ext cx="8237700" cy="4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does this affect the </a:t>
            </a:r>
            <a:r>
              <a:rPr lang="en-GB" sz="2000"/>
              <a:t>perimeter</a:t>
            </a:r>
            <a:r>
              <a:rPr lang="en-GB" sz="2000"/>
              <a:t> of the shape?</a:t>
            </a:r>
            <a:endParaRPr sz="2000"/>
          </a:p>
        </p:txBody>
      </p:sp>
      <p:pic>
        <p:nvPicPr>
          <p:cNvPr id="1334" name="Google Shape;1334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9068" y="822442"/>
            <a:ext cx="530925" cy="6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87"/>
          <p:cNvSpPr/>
          <p:nvPr/>
        </p:nvSpPr>
        <p:spPr>
          <a:xfrm>
            <a:off x="4491746" y="2745861"/>
            <a:ext cx="424200" cy="30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6" name="Google Shape;1336;p87"/>
          <p:cNvCxnSpPr/>
          <p:nvPr/>
        </p:nvCxnSpPr>
        <p:spPr>
          <a:xfrm>
            <a:off x="3817205" y="1843297"/>
            <a:ext cx="10500" cy="21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7" name="Google Shape;1337;p87"/>
          <p:cNvSpPr txBox="1"/>
          <p:nvPr>
            <p:ph idx="4294967295" type="body"/>
          </p:nvPr>
        </p:nvSpPr>
        <p:spPr>
          <a:xfrm>
            <a:off x="3855401" y="2879425"/>
            <a:ext cx="300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cxnSp>
        <p:nvCxnSpPr>
          <p:cNvPr id="1338" name="Google Shape;1338;p87"/>
          <p:cNvCxnSpPr/>
          <p:nvPr/>
        </p:nvCxnSpPr>
        <p:spPr>
          <a:xfrm>
            <a:off x="1334490" y="4073719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9" name="Google Shape;1339;p87"/>
          <p:cNvSpPr txBox="1"/>
          <p:nvPr>
            <p:ph idx="4294967295" type="body"/>
          </p:nvPr>
        </p:nvSpPr>
        <p:spPr>
          <a:xfrm>
            <a:off x="2392924" y="4064150"/>
            <a:ext cx="1938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cxnSp>
        <p:nvCxnSpPr>
          <p:cNvPr id="1340" name="Google Shape;1340;p87"/>
          <p:cNvCxnSpPr/>
          <p:nvPr/>
        </p:nvCxnSpPr>
        <p:spPr>
          <a:xfrm>
            <a:off x="7855805" y="1843297"/>
            <a:ext cx="10500" cy="21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1" name="Google Shape;1341;p87"/>
          <p:cNvSpPr txBox="1"/>
          <p:nvPr>
            <p:ph idx="4294967295" type="body"/>
          </p:nvPr>
        </p:nvSpPr>
        <p:spPr>
          <a:xfrm>
            <a:off x="7894001" y="2879425"/>
            <a:ext cx="300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cxnSp>
        <p:nvCxnSpPr>
          <p:cNvPr id="1342" name="Google Shape;1342;p87"/>
          <p:cNvCxnSpPr/>
          <p:nvPr/>
        </p:nvCxnSpPr>
        <p:spPr>
          <a:xfrm>
            <a:off x="5373090" y="4080523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3" name="Google Shape;1343;p87"/>
          <p:cNvSpPr txBox="1"/>
          <p:nvPr>
            <p:ph idx="4294967295" type="body"/>
          </p:nvPr>
        </p:nvSpPr>
        <p:spPr>
          <a:xfrm>
            <a:off x="6583924" y="4070950"/>
            <a:ext cx="1938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</a:t>
            </a:r>
            <a:endParaRPr sz="1600"/>
          </a:p>
        </p:txBody>
      </p:sp>
      <p:cxnSp>
        <p:nvCxnSpPr>
          <p:cNvPr id="1344" name="Google Shape;1344;p87"/>
          <p:cNvCxnSpPr/>
          <p:nvPr/>
        </p:nvCxnSpPr>
        <p:spPr>
          <a:xfrm>
            <a:off x="1170616" y="1843297"/>
            <a:ext cx="10500" cy="21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5" name="Google Shape;1345;p87"/>
          <p:cNvSpPr txBox="1"/>
          <p:nvPr>
            <p:ph idx="4294967295" type="body"/>
          </p:nvPr>
        </p:nvSpPr>
        <p:spPr>
          <a:xfrm>
            <a:off x="861827" y="2879425"/>
            <a:ext cx="300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cxnSp>
        <p:nvCxnSpPr>
          <p:cNvPr id="1346" name="Google Shape;1346;p87"/>
          <p:cNvCxnSpPr/>
          <p:nvPr/>
        </p:nvCxnSpPr>
        <p:spPr>
          <a:xfrm>
            <a:off x="1334490" y="1718323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7" name="Google Shape;1347;p87"/>
          <p:cNvSpPr txBox="1"/>
          <p:nvPr>
            <p:ph idx="4294967295" type="body"/>
          </p:nvPr>
        </p:nvSpPr>
        <p:spPr>
          <a:xfrm>
            <a:off x="2358904" y="1466550"/>
            <a:ext cx="1938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cxnSp>
        <p:nvCxnSpPr>
          <p:cNvPr id="1348" name="Google Shape;1348;p87"/>
          <p:cNvCxnSpPr/>
          <p:nvPr/>
        </p:nvCxnSpPr>
        <p:spPr>
          <a:xfrm rot="10800000">
            <a:off x="5378950" y="1836314"/>
            <a:ext cx="0" cy="147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87"/>
          <p:cNvCxnSpPr/>
          <p:nvPr/>
        </p:nvCxnSpPr>
        <p:spPr>
          <a:xfrm rot="10800000">
            <a:off x="5392575" y="1836314"/>
            <a:ext cx="802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50" name="Google Shape;1350;p87"/>
          <p:cNvSpPr txBox="1"/>
          <p:nvPr>
            <p:ph idx="1" type="body"/>
          </p:nvPr>
        </p:nvSpPr>
        <p:spPr>
          <a:xfrm>
            <a:off x="324000" y="1113086"/>
            <a:ext cx="8237700" cy="4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 cuts a rectangle out to make a </a:t>
            </a:r>
            <a:r>
              <a:rPr lang="en-GB" sz="2000"/>
              <a:t>composite</a:t>
            </a:r>
            <a:r>
              <a:rPr lang="en-GB" sz="2000"/>
              <a:t> rectilinear shape.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88"/>
          <p:cNvSpPr/>
          <p:nvPr/>
        </p:nvSpPr>
        <p:spPr>
          <a:xfrm>
            <a:off x="1329196" y="1832210"/>
            <a:ext cx="2346600" cy="2132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6" name="Google Shape;1356;p88"/>
          <p:cNvPicPr preferRelativeResize="0"/>
          <p:nvPr/>
        </p:nvPicPr>
        <p:blipFill rotWithShape="1">
          <a:blip r:embed="rId3">
            <a:alphaModFix/>
          </a:blip>
          <a:srcRect b="1509" l="0" r="0" t="1100"/>
          <a:stretch/>
        </p:blipFill>
        <p:spPr>
          <a:xfrm>
            <a:off x="5326499" y="1816636"/>
            <a:ext cx="2439952" cy="21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88"/>
          <p:cNvSpPr txBox="1"/>
          <p:nvPr>
            <p:ph idx="1" type="body"/>
          </p:nvPr>
        </p:nvSpPr>
        <p:spPr>
          <a:xfrm>
            <a:off x="324000" y="759300"/>
            <a:ext cx="7135200" cy="7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unknown vertical lengths on the </a:t>
            </a:r>
            <a:r>
              <a:rPr lang="en-GB" sz="2000"/>
              <a:t>composite</a:t>
            </a:r>
            <a:r>
              <a:rPr lang="en-GB" sz="2000"/>
              <a:t> shape sum to the total height of the shape.</a:t>
            </a:r>
            <a:endParaRPr sz="2000"/>
          </a:p>
        </p:txBody>
      </p:sp>
      <p:sp>
        <p:nvSpPr>
          <p:cNvPr id="1358" name="Google Shape;135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sp>
        <p:nvSpPr>
          <p:cNvPr id="1359" name="Google Shape;1359;p88"/>
          <p:cNvSpPr txBox="1"/>
          <p:nvPr>
            <p:ph idx="1" type="body"/>
          </p:nvPr>
        </p:nvSpPr>
        <p:spPr>
          <a:xfrm>
            <a:off x="6081775" y="4361100"/>
            <a:ext cx="1233300" cy="4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+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= 10</a:t>
            </a:r>
            <a:endParaRPr sz="2000"/>
          </a:p>
        </p:txBody>
      </p:sp>
      <p:cxnSp>
        <p:nvCxnSpPr>
          <p:cNvPr id="1360" name="Google Shape;1360;p88"/>
          <p:cNvCxnSpPr/>
          <p:nvPr/>
        </p:nvCxnSpPr>
        <p:spPr>
          <a:xfrm>
            <a:off x="3817205" y="1843297"/>
            <a:ext cx="10500" cy="21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1" name="Google Shape;1361;p88"/>
          <p:cNvCxnSpPr/>
          <p:nvPr/>
        </p:nvCxnSpPr>
        <p:spPr>
          <a:xfrm>
            <a:off x="7855805" y="1843297"/>
            <a:ext cx="10500" cy="21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2" name="Google Shape;1362;p88"/>
          <p:cNvSpPr txBox="1"/>
          <p:nvPr>
            <p:ph idx="4294967295" type="body"/>
          </p:nvPr>
        </p:nvSpPr>
        <p:spPr>
          <a:xfrm>
            <a:off x="7894001" y="2879425"/>
            <a:ext cx="300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</a:t>
            </a:r>
            <a:endParaRPr sz="1600"/>
          </a:p>
        </p:txBody>
      </p:sp>
      <p:cxnSp>
        <p:nvCxnSpPr>
          <p:cNvPr id="1363" name="Google Shape;1363;p88"/>
          <p:cNvCxnSpPr/>
          <p:nvPr/>
        </p:nvCxnSpPr>
        <p:spPr>
          <a:xfrm>
            <a:off x="1170616" y="1843297"/>
            <a:ext cx="10500" cy="21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4" name="Google Shape;1364;p88"/>
          <p:cNvCxnSpPr/>
          <p:nvPr/>
        </p:nvCxnSpPr>
        <p:spPr>
          <a:xfrm>
            <a:off x="5252118" y="3307168"/>
            <a:ext cx="0" cy="65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5" name="Google Shape;1365;p88"/>
          <p:cNvCxnSpPr/>
          <p:nvPr/>
        </p:nvCxnSpPr>
        <p:spPr>
          <a:xfrm>
            <a:off x="6087543" y="1817193"/>
            <a:ext cx="0" cy="148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6" name="Google Shape;1366;p88"/>
          <p:cNvSpPr txBox="1"/>
          <p:nvPr>
            <p:ph idx="4294967295" type="body"/>
          </p:nvPr>
        </p:nvSpPr>
        <p:spPr>
          <a:xfrm>
            <a:off x="5871300" y="2440975"/>
            <a:ext cx="300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7" name="Google Shape;1367;p88"/>
          <p:cNvSpPr txBox="1"/>
          <p:nvPr>
            <p:ph idx="4294967295" type="body"/>
          </p:nvPr>
        </p:nvSpPr>
        <p:spPr>
          <a:xfrm>
            <a:off x="5055719" y="3437625"/>
            <a:ext cx="2286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68" name="Google Shape;1368;p88"/>
          <p:cNvCxnSpPr/>
          <p:nvPr/>
        </p:nvCxnSpPr>
        <p:spPr>
          <a:xfrm>
            <a:off x="5249343" y="1817193"/>
            <a:ext cx="0" cy="148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9" name="Google Shape;1369;p88"/>
          <p:cNvSpPr txBox="1"/>
          <p:nvPr>
            <p:ph idx="4294967295" type="body"/>
          </p:nvPr>
        </p:nvSpPr>
        <p:spPr>
          <a:xfrm>
            <a:off x="5029200" y="2440975"/>
            <a:ext cx="2286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0" name="Google Shape;1370;p88"/>
          <p:cNvSpPr txBox="1"/>
          <p:nvPr>
            <p:ph idx="4294967295" type="body"/>
          </p:nvPr>
        </p:nvSpPr>
        <p:spPr>
          <a:xfrm>
            <a:off x="3855401" y="2879425"/>
            <a:ext cx="300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371" name="Google Shape;1371;p88"/>
          <p:cNvSpPr txBox="1"/>
          <p:nvPr>
            <p:ph idx="4294967295" type="body"/>
          </p:nvPr>
        </p:nvSpPr>
        <p:spPr>
          <a:xfrm>
            <a:off x="861827" y="2879425"/>
            <a:ext cx="300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6" name="Google Shape;1376;p89"/>
          <p:cNvCxnSpPr/>
          <p:nvPr/>
        </p:nvCxnSpPr>
        <p:spPr>
          <a:xfrm>
            <a:off x="5375550" y="1714232"/>
            <a:ext cx="81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77" name="Google Shape;1377;p89"/>
          <p:cNvSpPr/>
          <p:nvPr/>
        </p:nvSpPr>
        <p:spPr>
          <a:xfrm>
            <a:off x="1329196" y="1832210"/>
            <a:ext cx="2346600" cy="2132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8" name="Google Shape;1378;p89"/>
          <p:cNvPicPr preferRelativeResize="0"/>
          <p:nvPr/>
        </p:nvPicPr>
        <p:blipFill rotWithShape="1">
          <a:blip r:embed="rId3">
            <a:alphaModFix/>
          </a:blip>
          <a:srcRect b="1509" l="0" r="0" t="1100"/>
          <a:stretch/>
        </p:blipFill>
        <p:spPr>
          <a:xfrm>
            <a:off x="5326499" y="1816636"/>
            <a:ext cx="2439952" cy="21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89"/>
          <p:cNvSpPr txBox="1"/>
          <p:nvPr>
            <p:ph idx="1" type="body"/>
          </p:nvPr>
        </p:nvSpPr>
        <p:spPr>
          <a:xfrm>
            <a:off x="324000" y="759300"/>
            <a:ext cx="7135200" cy="7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unknown horizontal lengths on the </a:t>
            </a:r>
            <a:r>
              <a:rPr lang="en-GB" sz="2000"/>
              <a:t>composite</a:t>
            </a:r>
            <a:r>
              <a:rPr lang="en-GB" sz="2000"/>
              <a:t> shape sum to the total width of the shape.</a:t>
            </a:r>
            <a:endParaRPr sz="2000"/>
          </a:p>
        </p:txBody>
      </p:sp>
      <p:sp>
        <p:nvSpPr>
          <p:cNvPr id="1380" name="Google Shape;138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cxnSp>
        <p:nvCxnSpPr>
          <p:cNvPr id="1381" name="Google Shape;1381;p89"/>
          <p:cNvCxnSpPr/>
          <p:nvPr/>
        </p:nvCxnSpPr>
        <p:spPr>
          <a:xfrm>
            <a:off x="5373090" y="4107737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2" name="Google Shape;1382;p89"/>
          <p:cNvCxnSpPr/>
          <p:nvPr/>
        </p:nvCxnSpPr>
        <p:spPr>
          <a:xfrm>
            <a:off x="1334490" y="1718323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3" name="Google Shape;1383;p89"/>
          <p:cNvCxnSpPr/>
          <p:nvPr/>
        </p:nvCxnSpPr>
        <p:spPr>
          <a:xfrm>
            <a:off x="6213225" y="1711525"/>
            <a:ext cx="1518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4" name="Google Shape;1384;p89"/>
          <p:cNvCxnSpPr/>
          <p:nvPr/>
        </p:nvCxnSpPr>
        <p:spPr>
          <a:xfrm>
            <a:off x="5375550" y="3211018"/>
            <a:ext cx="817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85" name="Google Shape;1385;p89"/>
          <p:cNvSpPr txBox="1"/>
          <p:nvPr>
            <p:ph idx="4294967295" type="body"/>
          </p:nvPr>
        </p:nvSpPr>
        <p:spPr>
          <a:xfrm>
            <a:off x="7006675" y="1402511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6" name="Google Shape;1386;p89"/>
          <p:cNvSpPr txBox="1"/>
          <p:nvPr>
            <p:ph idx="4294967295" type="body"/>
          </p:nvPr>
        </p:nvSpPr>
        <p:spPr>
          <a:xfrm>
            <a:off x="5700900" y="2896036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7" name="Google Shape;1387;p89"/>
          <p:cNvSpPr txBox="1"/>
          <p:nvPr/>
        </p:nvSpPr>
        <p:spPr>
          <a:xfrm>
            <a:off x="6206200" y="4361275"/>
            <a:ext cx="118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8 </a:t>
            </a:r>
            <a:endParaRPr/>
          </a:p>
        </p:txBody>
      </p:sp>
      <p:sp>
        <p:nvSpPr>
          <p:cNvPr id="1388" name="Google Shape;1388;p89"/>
          <p:cNvSpPr txBox="1"/>
          <p:nvPr>
            <p:ph idx="4294967295" type="body"/>
          </p:nvPr>
        </p:nvSpPr>
        <p:spPr>
          <a:xfrm>
            <a:off x="5700900" y="1400611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89"/>
          <p:cNvSpPr txBox="1"/>
          <p:nvPr>
            <p:ph idx="4294967295" type="body"/>
          </p:nvPr>
        </p:nvSpPr>
        <p:spPr>
          <a:xfrm>
            <a:off x="2392924" y="4064150"/>
            <a:ext cx="1938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390" name="Google Shape;1390;p89"/>
          <p:cNvSpPr txBox="1"/>
          <p:nvPr>
            <p:ph idx="4294967295" type="body"/>
          </p:nvPr>
        </p:nvSpPr>
        <p:spPr>
          <a:xfrm>
            <a:off x="2358904" y="1466550"/>
            <a:ext cx="1938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391" name="Google Shape;1391;p89"/>
          <p:cNvSpPr txBox="1"/>
          <p:nvPr>
            <p:ph idx="4294967295" type="body"/>
          </p:nvPr>
        </p:nvSpPr>
        <p:spPr>
          <a:xfrm>
            <a:off x="6583924" y="4085273"/>
            <a:ext cx="1938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</a:t>
            </a:r>
            <a:endParaRPr sz="1600"/>
          </a:p>
        </p:txBody>
      </p:sp>
      <p:cxnSp>
        <p:nvCxnSpPr>
          <p:cNvPr id="1392" name="Google Shape;1392;p89"/>
          <p:cNvCxnSpPr/>
          <p:nvPr/>
        </p:nvCxnSpPr>
        <p:spPr>
          <a:xfrm>
            <a:off x="1334490" y="4073719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90"/>
          <p:cNvSpPr/>
          <p:nvPr/>
        </p:nvSpPr>
        <p:spPr>
          <a:xfrm>
            <a:off x="1329196" y="1832210"/>
            <a:ext cx="2346600" cy="2132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8" name="Google Shape;1398;p90"/>
          <p:cNvPicPr preferRelativeResize="0"/>
          <p:nvPr/>
        </p:nvPicPr>
        <p:blipFill rotWithShape="1">
          <a:blip r:embed="rId3">
            <a:alphaModFix/>
          </a:blip>
          <a:srcRect b="1509" l="0" r="0" t="1100"/>
          <a:stretch/>
        </p:blipFill>
        <p:spPr>
          <a:xfrm>
            <a:off x="5326499" y="1816636"/>
            <a:ext cx="2439952" cy="21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90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two shapes have equal </a:t>
            </a:r>
            <a:r>
              <a:rPr lang="en-GB" sz="2000"/>
              <a:t>perimeters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400" name="Google Shape;140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cxnSp>
        <p:nvCxnSpPr>
          <p:cNvPr id="1401" name="Google Shape;1401;p90"/>
          <p:cNvCxnSpPr/>
          <p:nvPr/>
        </p:nvCxnSpPr>
        <p:spPr>
          <a:xfrm>
            <a:off x="3817205" y="1843297"/>
            <a:ext cx="10500" cy="21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2" name="Google Shape;1402;p90"/>
          <p:cNvCxnSpPr/>
          <p:nvPr/>
        </p:nvCxnSpPr>
        <p:spPr>
          <a:xfrm>
            <a:off x="7855805" y="1843297"/>
            <a:ext cx="10500" cy="21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3" name="Google Shape;1403;p90"/>
          <p:cNvCxnSpPr/>
          <p:nvPr/>
        </p:nvCxnSpPr>
        <p:spPr>
          <a:xfrm>
            <a:off x="5373090" y="4107737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4" name="Google Shape;1404;p90"/>
          <p:cNvCxnSpPr/>
          <p:nvPr/>
        </p:nvCxnSpPr>
        <p:spPr>
          <a:xfrm>
            <a:off x="1170616" y="1843297"/>
            <a:ext cx="10500" cy="215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05" name="Google Shape;1405;p90"/>
          <p:cNvCxnSpPr/>
          <p:nvPr/>
        </p:nvCxnSpPr>
        <p:spPr>
          <a:xfrm>
            <a:off x="1334490" y="1718323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6" name="Google Shape;1406;p90"/>
          <p:cNvSpPr txBox="1"/>
          <p:nvPr>
            <p:ph idx="1" type="body"/>
          </p:nvPr>
        </p:nvSpPr>
        <p:spPr>
          <a:xfrm>
            <a:off x="795150" y="4538100"/>
            <a:ext cx="3930000" cy="4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perimeter</a:t>
            </a:r>
            <a:r>
              <a:rPr lang="en-GB" sz="1800"/>
              <a:t> = 2 × (10 + 8) = 36 cm</a:t>
            </a:r>
            <a:endParaRPr sz="1800"/>
          </a:p>
        </p:txBody>
      </p:sp>
      <p:sp>
        <p:nvSpPr>
          <p:cNvPr id="1407" name="Google Shape;1407;p90"/>
          <p:cNvSpPr txBox="1"/>
          <p:nvPr>
            <p:ph idx="1" type="body"/>
          </p:nvPr>
        </p:nvSpPr>
        <p:spPr>
          <a:xfrm>
            <a:off x="4965750" y="4538100"/>
            <a:ext cx="3595800" cy="4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perimeter</a:t>
            </a:r>
            <a:r>
              <a:rPr lang="en-GB" sz="1800"/>
              <a:t> = 2 × (10 + 8) = 36 cm</a:t>
            </a:r>
            <a:endParaRPr sz="1800"/>
          </a:p>
        </p:txBody>
      </p:sp>
      <p:sp>
        <p:nvSpPr>
          <p:cNvPr id="1408" name="Google Shape;1408;p90"/>
          <p:cNvSpPr txBox="1"/>
          <p:nvPr>
            <p:ph idx="4294967295" type="body"/>
          </p:nvPr>
        </p:nvSpPr>
        <p:spPr>
          <a:xfrm>
            <a:off x="3855401" y="2879425"/>
            <a:ext cx="300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409" name="Google Shape;1409;p90"/>
          <p:cNvSpPr txBox="1"/>
          <p:nvPr>
            <p:ph idx="4294967295" type="body"/>
          </p:nvPr>
        </p:nvSpPr>
        <p:spPr>
          <a:xfrm>
            <a:off x="2392924" y="4064150"/>
            <a:ext cx="1938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410" name="Google Shape;1410;p90"/>
          <p:cNvSpPr txBox="1"/>
          <p:nvPr>
            <p:ph idx="4294967295" type="body"/>
          </p:nvPr>
        </p:nvSpPr>
        <p:spPr>
          <a:xfrm>
            <a:off x="7894001" y="2879425"/>
            <a:ext cx="300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411" name="Google Shape;1411;p90"/>
          <p:cNvSpPr txBox="1"/>
          <p:nvPr>
            <p:ph idx="4294967295" type="body"/>
          </p:nvPr>
        </p:nvSpPr>
        <p:spPr>
          <a:xfrm>
            <a:off x="6583924" y="4070950"/>
            <a:ext cx="1938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</a:t>
            </a:r>
            <a:endParaRPr sz="1600"/>
          </a:p>
        </p:txBody>
      </p:sp>
      <p:sp>
        <p:nvSpPr>
          <p:cNvPr id="1412" name="Google Shape;1412;p90"/>
          <p:cNvSpPr txBox="1"/>
          <p:nvPr>
            <p:ph idx="4294967295" type="body"/>
          </p:nvPr>
        </p:nvSpPr>
        <p:spPr>
          <a:xfrm>
            <a:off x="861827" y="2879425"/>
            <a:ext cx="3003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413" name="Google Shape;1413;p90"/>
          <p:cNvSpPr txBox="1"/>
          <p:nvPr>
            <p:ph idx="4294967295" type="body"/>
          </p:nvPr>
        </p:nvSpPr>
        <p:spPr>
          <a:xfrm>
            <a:off x="2358904" y="1466550"/>
            <a:ext cx="193800" cy="1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cxnSp>
        <p:nvCxnSpPr>
          <p:cNvPr id="1414" name="Google Shape;1414;p90"/>
          <p:cNvCxnSpPr/>
          <p:nvPr/>
        </p:nvCxnSpPr>
        <p:spPr>
          <a:xfrm>
            <a:off x="1334490" y="4073719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91"/>
          <p:cNvSpPr txBox="1"/>
          <p:nvPr>
            <p:ph idx="1" type="body"/>
          </p:nvPr>
        </p:nvSpPr>
        <p:spPr>
          <a:xfrm>
            <a:off x="324000" y="759300"/>
            <a:ext cx="8237700" cy="4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Fill in the blank.</a:t>
            </a:r>
            <a:endParaRPr/>
          </a:p>
        </p:txBody>
      </p:sp>
      <p:sp>
        <p:nvSpPr>
          <p:cNvPr id="1420" name="Google Shape;142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pic>
        <p:nvPicPr>
          <p:cNvPr id="1421" name="Google Shape;142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200" y="1343650"/>
            <a:ext cx="3028049" cy="300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2" name="Google Shape;1422;p91"/>
          <p:cNvCxnSpPr/>
          <p:nvPr/>
        </p:nvCxnSpPr>
        <p:spPr>
          <a:xfrm>
            <a:off x="4062130" y="3561625"/>
            <a:ext cx="0" cy="71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3" name="Google Shape;1423;p91"/>
          <p:cNvSpPr txBox="1"/>
          <p:nvPr>
            <p:ph idx="4294967295" type="body"/>
          </p:nvPr>
        </p:nvSpPr>
        <p:spPr>
          <a:xfrm>
            <a:off x="3524782" y="3729575"/>
            <a:ext cx="6459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cm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4" name="Google Shape;1424;p91"/>
          <p:cNvCxnSpPr/>
          <p:nvPr/>
        </p:nvCxnSpPr>
        <p:spPr>
          <a:xfrm>
            <a:off x="5017352" y="2821396"/>
            <a:ext cx="0" cy="71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5" name="Google Shape;1425;p91"/>
          <p:cNvSpPr txBox="1"/>
          <p:nvPr>
            <p:ph idx="4294967295" type="body"/>
          </p:nvPr>
        </p:nvSpPr>
        <p:spPr>
          <a:xfrm>
            <a:off x="4514858" y="2975750"/>
            <a:ext cx="6846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cm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6" name="Google Shape;1426;p91"/>
          <p:cNvCxnSpPr/>
          <p:nvPr/>
        </p:nvCxnSpPr>
        <p:spPr>
          <a:xfrm>
            <a:off x="6263759" y="1479725"/>
            <a:ext cx="0" cy="106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7" name="Google Shape;1427;p91"/>
          <p:cNvSpPr txBox="1"/>
          <p:nvPr>
            <p:ph idx="4294967295" type="body"/>
          </p:nvPr>
        </p:nvSpPr>
        <p:spPr>
          <a:xfrm>
            <a:off x="5732526" y="1832750"/>
            <a:ext cx="6459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cm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8" name="Google Shape;1428;p91"/>
          <p:cNvCxnSpPr/>
          <p:nvPr/>
        </p:nvCxnSpPr>
        <p:spPr>
          <a:xfrm>
            <a:off x="5614043" y="2578946"/>
            <a:ext cx="0" cy="27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9" name="Google Shape;1429;p91"/>
          <p:cNvSpPr txBox="1"/>
          <p:nvPr>
            <p:ph idx="4294967295" type="body"/>
          </p:nvPr>
        </p:nvSpPr>
        <p:spPr>
          <a:xfrm>
            <a:off x="5066021" y="2518550"/>
            <a:ext cx="5505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cm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30" name="Google Shape;1430;p91"/>
          <p:cNvCxnSpPr/>
          <p:nvPr/>
        </p:nvCxnSpPr>
        <p:spPr>
          <a:xfrm>
            <a:off x="7101959" y="1479725"/>
            <a:ext cx="0" cy="274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1" name="Google Shape;1431;p91"/>
          <p:cNvCxnSpPr/>
          <p:nvPr/>
        </p:nvCxnSpPr>
        <p:spPr>
          <a:xfrm>
            <a:off x="4165550" y="4385011"/>
            <a:ext cx="279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2" name="Google Shape;1432;p91"/>
          <p:cNvSpPr txBox="1"/>
          <p:nvPr>
            <p:ph idx="4294967295" type="body"/>
          </p:nvPr>
        </p:nvSpPr>
        <p:spPr>
          <a:xfrm>
            <a:off x="7183952" y="2784532"/>
            <a:ext cx="6459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1433" name="Google Shape;1433;p91"/>
          <p:cNvSpPr txBox="1"/>
          <p:nvPr>
            <p:ph idx="4294967295" type="body"/>
          </p:nvPr>
        </p:nvSpPr>
        <p:spPr>
          <a:xfrm>
            <a:off x="5463002" y="4417107"/>
            <a:ext cx="6459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1434" name="Google Shape;1434;p91"/>
          <p:cNvSpPr txBox="1"/>
          <p:nvPr>
            <p:ph idx="1" type="body"/>
          </p:nvPr>
        </p:nvSpPr>
        <p:spPr>
          <a:xfrm>
            <a:off x="1005700" y="2225700"/>
            <a:ext cx="3045600" cy="4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+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lang="en-GB"/>
              <a:t>+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 c </a:t>
            </a:r>
            <a:r>
              <a:rPr lang="en-GB"/>
              <a:t>+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 d =        </a:t>
            </a:r>
            <a:endParaRPr/>
          </a:p>
        </p:txBody>
      </p:sp>
      <p:cxnSp>
        <p:nvCxnSpPr>
          <p:cNvPr id="1435" name="Google Shape;1435;p91"/>
          <p:cNvCxnSpPr/>
          <p:nvPr/>
        </p:nvCxnSpPr>
        <p:spPr>
          <a:xfrm>
            <a:off x="3076629" y="2573800"/>
            <a:ext cx="469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91"/>
          <p:cNvSpPr txBox="1"/>
          <p:nvPr>
            <p:ph idx="1" type="body"/>
          </p:nvPr>
        </p:nvSpPr>
        <p:spPr>
          <a:xfrm>
            <a:off x="3130061" y="2277021"/>
            <a:ext cx="469500" cy="4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2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shape has the same </a:t>
            </a:r>
            <a:r>
              <a:rPr lang="en-GB" sz="1800"/>
              <a:t>perimeter</a:t>
            </a:r>
            <a:r>
              <a:rPr lang="en-GB" sz="1800"/>
              <a:t> as the rectangle?</a:t>
            </a:r>
            <a:endParaRPr sz="1800"/>
          </a:p>
        </p:txBody>
      </p:sp>
      <p:sp>
        <p:nvSpPr>
          <p:cNvPr id="1442" name="Google Shape;144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 </a:t>
            </a:r>
            <a:endParaRPr/>
          </a:p>
        </p:txBody>
      </p:sp>
      <p:sp>
        <p:nvSpPr>
          <p:cNvPr id="1443" name="Google Shape;1443;p92"/>
          <p:cNvSpPr/>
          <p:nvPr/>
        </p:nvSpPr>
        <p:spPr>
          <a:xfrm rot="-5400000">
            <a:off x="6758000" y="638394"/>
            <a:ext cx="1053000" cy="1243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92"/>
          <p:cNvSpPr/>
          <p:nvPr/>
        </p:nvSpPr>
        <p:spPr>
          <a:xfrm rot="-5400000">
            <a:off x="6945345" y="2085750"/>
            <a:ext cx="1037400" cy="1239600"/>
          </a:xfrm>
          <a:prstGeom prst="corner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5" name="Google Shape;1445;p92"/>
          <p:cNvGrpSpPr/>
          <p:nvPr/>
        </p:nvGrpSpPr>
        <p:grpSpPr>
          <a:xfrm rot="-5400000">
            <a:off x="4038153" y="2078606"/>
            <a:ext cx="1029159" cy="1253798"/>
            <a:chOff x="319718" y="1621225"/>
            <a:chExt cx="1340400" cy="1632975"/>
          </a:xfrm>
        </p:grpSpPr>
        <p:cxnSp>
          <p:nvCxnSpPr>
            <p:cNvPr id="1446" name="Google Shape;1446;p92"/>
            <p:cNvCxnSpPr/>
            <p:nvPr/>
          </p:nvCxnSpPr>
          <p:spPr>
            <a:xfrm>
              <a:off x="326625" y="1628025"/>
              <a:ext cx="6900" cy="1626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7" name="Google Shape;1447;p92"/>
            <p:cNvCxnSpPr/>
            <p:nvPr/>
          </p:nvCxnSpPr>
          <p:spPr>
            <a:xfrm>
              <a:off x="319814" y="1628025"/>
              <a:ext cx="748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8" name="Google Shape;1448;p92"/>
            <p:cNvCxnSpPr/>
            <p:nvPr/>
          </p:nvCxnSpPr>
          <p:spPr>
            <a:xfrm>
              <a:off x="1061411" y="1621225"/>
              <a:ext cx="585000" cy="5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9" name="Google Shape;1449;p92"/>
            <p:cNvCxnSpPr/>
            <p:nvPr/>
          </p:nvCxnSpPr>
          <p:spPr>
            <a:xfrm>
              <a:off x="1646511" y="2165500"/>
              <a:ext cx="0" cy="1088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0" name="Google Shape;1450;p92"/>
            <p:cNvCxnSpPr/>
            <p:nvPr/>
          </p:nvCxnSpPr>
          <p:spPr>
            <a:xfrm rot="10800000">
              <a:off x="319718" y="3247175"/>
              <a:ext cx="1340400" cy="6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51" name="Google Shape;1451;p92"/>
          <p:cNvGrpSpPr/>
          <p:nvPr/>
        </p:nvGrpSpPr>
        <p:grpSpPr>
          <a:xfrm rot="-5400000">
            <a:off x="1114990" y="2073857"/>
            <a:ext cx="1029159" cy="1263235"/>
            <a:chOff x="2264955" y="1622441"/>
            <a:chExt cx="1340400" cy="1645266"/>
          </a:xfrm>
        </p:grpSpPr>
        <p:cxnSp>
          <p:nvCxnSpPr>
            <p:cNvPr id="1452" name="Google Shape;1452;p92"/>
            <p:cNvCxnSpPr/>
            <p:nvPr/>
          </p:nvCxnSpPr>
          <p:spPr>
            <a:xfrm>
              <a:off x="2271863" y="1628025"/>
              <a:ext cx="6900" cy="1626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3" name="Google Shape;1453;p92"/>
            <p:cNvCxnSpPr/>
            <p:nvPr/>
          </p:nvCxnSpPr>
          <p:spPr>
            <a:xfrm>
              <a:off x="2265052" y="1628025"/>
              <a:ext cx="13068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4" name="Google Shape;1454;p92"/>
            <p:cNvCxnSpPr/>
            <p:nvPr/>
          </p:nvCxnSpPr>
          <p:spPr>
            <a:xfrm>
              <a:off x="3565045" y="1622441"/>
              <a:ext cx="0" cy="53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5" name="Google Shape;1455;p92"/>
            <p:cNvCxnSpPr/>
            <p:nvPr/>
          </p:nvCxnSpPr>
          <p:spPr>
            <a:xfrm>
              <a:off x="3591750" y="2675807"/>
              <a:ext cx="0" cy="591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6" name="Google Shape;1456;p92"/>
            <p:cNvCxnSpPr/>
            <p:nvPr/>
          </p:nvCxnSpPr>
          <p:spPr>
            <a:xfrm rot="10800000">
              <a:off x="2264955" y="3247175"/>
              <a:ext cx="1340400" cy="6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7" name="Google Shape;1457;p92"/>
            <p:cNvCxnSpPr/>
            <p:nvPr/>
          </p:nvCxnSpPr>
          <p:spPr>
            <a:xfrm>
              <a:off x="2873541" y="2169388"/>
              <a:ext cx="711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8" name="Google Shape;1458;p92"/>
            <p:cNvCxnSpPr/>
            <p:nvPr/>
          </p:nvCxnSpPr>
          <p:spPr>
            <a:xfrm>
              <a:off x="2888536" y="2686380"/>
              <a:ext cx="711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9" name="Google Shape;1459;p92"/>
            <p:cNvCxnSpPr/>
            <p:nvPr/>
          </p:nvCxnSpPr>
          <p:spPr>
            <a:xfrm>
              <a:off x="2892852" y="2169448"/>
              <a:ext cx="0" cy="536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460" name="Google Shape;1460;p92"/>
          <p:cNvCxnSpPr/>
          <p:nvPr/>
        </p:nvCxnSpPr>
        <p:spPr>
          <a:xfrm>
            <a:off x="6682893" y="1916543"/>
            <a:ext cx="120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61" name="Google Shape;1461;p92"/>
          <p:cNvCxnSpPr/>
          <p:nvPr/>
        </p:nvCxnSpPr>
        <p:spPr>
          <a:xfrm>
            <a:off x="8068750" y="733400"/>
            <a:ext cx="0" cy="10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2" name="Google Shape;1462;p92"/>
          <p:cNvSpPr txBox="1"/>
          <p:nvPr>
            <p:ph idx="4294967295" type="body"/>
          </p:nvPr>
        </p:nvSpPr>
        <p:spPr>
          <a:xfrm>
            <a:off x="8181300" y="1069386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3" name="Google Shape;1463;p92"/>
          <p:cNvSpPr txBox="1"/>
          <p:nvPr>
            <p:ph idx="4294967295" type="body"/>
          </p:nvPr>
        </p:nvSpPr>
        <p:spPr>
          <a:xfrm>
            <a:off x="7215936" y="1896429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64" name="Google Shape;1464;p92"/>
          <p:cNvCxnSpPr/>
          <p:nvPr/>
        </p:nvCxnSpPr>
        <p:spPr>
          <a:xfrm>
            <a:off x="6869311" y="3343932"/>
            <a:ext cx="120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65" name="Google Shape;1465;p92"/>
          <p:cNvCxnSpPr/>
          <p:nvPr/>
        </p:nvCxnSpPr>
        <p:spPr>
          <a:xfrm>
            <a:off x="8255168" y="2160789"/>
            <a:ext cx="0" cy="10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6" name="Google Shape;1466;p92"/>
          <p:cNvSpPr txBox="1"/>
          <p:nvPr>
            <p:ph idx="4294967295" type="body"/>
          </p:nvPr>
        </p:nvSpPr>
        <p:spPr>
          <a:xfrm>
            <a:off x="8367718" y="2496775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7" name="Google Shape;1467;p92"/>
          <p:cNvSpPr txBox="1"/>
          <p:nvPr>
            <p:ph idx="4294967295" type="body"/>
          </p:nvPr>
        </p:nvSpPr>
        <p:spPr>
          <a:xfrm>
            <a:off x="7402354" y="3323818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68" name="Google Shape;1468;p92"/>
          <p:cNvCxnSpPr/>
          <p:nvPr/>
        </p:nvCxnSpPr>
        <p:spPr>
          <a:xfrm>
            <a:off x="3932889" y="3337129"/>
            <a:ext cx="120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69" name="Google Shape;1469;p92"/>
          <p:cNvCxnSpPr/>
          <p:nvPr/>
        </p:nvCxnSpPr>
        <p:spPr>
          <a:xfrm>
            <a:off x="5318746" y="2153986"/>
            <a:ext cx="0" cy="10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70" name="Google Shape;1470;p92"/>
          <p:cNvSpPr txBox="1"/>
          <p:nvPr>
            <p:ph idx="4294967295" type="body"/>
          </p:nvPr>
        </p:nvSpPr>
        <p:spPr>
          <a:xfrm>
            <a:off x="5431296" y="2489971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1" name="Google Shape;1471;p92"/>
          <p:cNvSpPr txBox="1"/>
          <p:nvPr>
            <p:ph idx="4294967295" type="body"/>
          </p:nvPr>
        </p:nvSpPr>
        <p:spPr>
          <a:xfrm>
            <a:off x="4465933" y="3317015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72" name="Google Shape;1472;p92"/>
          <p:cNvCxnSpPr/>
          <p:nvPr/>
        </p:nvCxnSpPr>
        <p:spPr>
          <a:xfrm>
            <a:off x="981500" y="3337129"/>
            <a:ext cx="1206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3" name="Google Shape;1473;p92"/>
          <p:cNvCxnSpPr/>
          <p:nvPr/>
        </p:nvCxnSpPr>
        <p:spPr>
          <a:xfrm>
            <a:off x="2367357" y="2153986"/>
            <a:ext cx="0" cy="10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74" name="Google Shape;1474;p92"/>
          <p:cNvSpPr txBox="1"/>
          <p:nvPr>
            <p:ph idx="4294967295" type="body"/>
          </p:nvPr>
        </p:nvSpPr>
        <p:spPr>
          <a:xfrm>
            <a:off x="2479907" y="2489971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5" name="Google Shape;1475;p92"/>
          <p:cNvSpPr txBox="1"/>
          <p:nvPr>
            <p:ph idx="4294967295" type="body"/>
          </p:nvPr>
        </p:nvSpPr>
        <p:spPr>
          <a:xfrm>
            <a:off x="1514544" y="3317015"/>
            <a:ext cx="2763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6" name="Google Shape;147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208" y="319345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7" name="Google Shape;1477;p92"/>
          <p:cNvGrpSpPr/>
          <p:nvPr/>
        </p:nvGrpSpPr>
        <p:grpSpPr>
          <a:xfrm>
            <a:off x="323653" y="2241749"/>
            <a:ext cx="457200" cy="457200"/>
            <a:chOff x="1020916" y="1442088"/>
            <a:chExt cx="457200" cy="457200"/>
          </a:xfrm>
        </p:grpSpPr>
        <p:pic>
          <p:nvPicPr>
            <p:cNvPr id="1478" name="Google Shape;147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9" name="Google Shape;147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0" name="Google Shape;1480;p92"/>
          <p:cNvGrpSpPr/>
          <p:nvPr/>
        </p:nvGrpSpPr>
        <p:grpSpPr>
          <a:xfrm>
            <a:off x="3371866" y="2249106"/>
            <a:ext cx="457200" cy="457200"/>
            <a:chOff x="1020916" y="1442088"/>
            <a:chExt cx="457200" cy="457200"/>
          </a:xfrm>
        </p:grpSpPr>
        <p:pic>
          <p:nvPicPr>
            <p:cNvPr id="1481" name="Google Shape;148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2" name="Google Shape;148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3" name="Google Shape;1483;p92"/>
          <p:cNvGrpSpPr/>
          <p:nvPr/>
        </p:nvGrpSpPr>
        <p:grpSpPr>
          <a:xfrm>
            <a:off x="6267253" y="2256469"/>
            <a:ext cx="457200" cy="457200"/>
            <a:chOff x="1020916" y="1442088"/>
            <a:chExt cx="457200" cy="457200"/>
          </a:xfrm>
        </p:grpSpPr>
        <p:pic>
          <p:nvPicPr>
            <p:cNvPr id="1484" name="Google Shape;148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5" name="Google Shape;148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86" name="Google Shape;1486;p92"/>
          <p:cNvSpPr txBox="1"/>
          <p:nvPr>
            <p:ph idx="1" type="body"/>
          </p:nvPr>
        </p:nvSpPr>
        <p:spPr>
          <a:xfrm>
            <a:off x="3697225" y="3685575"/>
            <a:ext cx="21258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ne of the lengths is diagonal.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7" name="Google Shape;1487;p92"/>
          <p:cNvSpPr txBox="1"/>
          <p:nvPr>
            <p:ph idx="1" type="body"/>
          </p:nvPr>
        </p:nvSpPr>
        <p:spPr>
          <a:xfrm>
            <a:off x="889300" y="3651175"/>
            <a:ext cx="2480400" cy="103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ome of the vertical lengths overlap with one another.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88" name="Google Shape;148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19413" y="31870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5013" y="318701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93"/>
          <p:cNvSpPr/>
          <p:nvPr/>
        </p:nvSpPr>
        <p:spPr>
          <a:xfrm>
            <a:off x="6046845" y="3875675"/>
            <a:ext cx="981600" cy="8505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3"/>
          <p:cNvSpPr txBox="1"/>
          <p:nvPr>
            <p:ph idx="1" type="body"/>
          </p:nvPr>
        </p:nvSpPr>
        <p:spPr>
          <a:xfrm>
            <a:off x="324000" y="683100"/>
            <a:ext cx="8496000" cy="6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shapes were formed by reflecting line segments over the dashed mirror lines. Find the perimeter of each shape.</a:t>
            </a:r>
            <a:endParaRPr sz="1800"/>
          </a:p>
        </p:txBody>
      </p:sp>
      <p:sp>
        <p:nvSpPr>
          <p:cNvPr id="1496" name="Google Shape;1496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Finding efficient methods to calculate perimeter</a:t>
            </a:r>
            <a:endParaRPr/>
          </a:p>
        </p:txBody>
      </p:sp>
      <p:pic>
        <p:nvPicPr>
          <p:cNvPr id="1497" name="Google Shape;1497;p93"/>
          <p:cNvPicPr preferRelativeResize="0"/>
          <p:nvPr/>
        </p:nvPicPr>
        <p:blipFill rotWithShape="1">
          <a:blip r:embed="rId3">
            <a:alphaModFix/>
          </a:blip>
          <a:srcRect b="26927" l="40068" r="36918" t="14445"/>
          <a:stretch/>
        </p:blipFill>
        <p:spPr>
          <a:xfrm>
            <a:off x="4934752" y="1607763"/>
            <a:ext cx="1773547" cy="1743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93"/>
          <p:cNvPicPr preferRelativeResize="0"/>
          <p:nvPr/>
        </p:nvPicPr>
        <p:blipFill rotWithShape="1">
          <a:blip r:embed="rId3">
            <a:alphaModFix/>
          </a:blip>
          <a:srcRect b="26928" l="1894" r="70767" t="14440"/>
          <a:stretch/>
        </p:blipFill>
        <p:spPr>
          <a:xfrm>
            <a:off x="1022688" y="1570874"/>
            <a:ext cx="2106858" cy="17436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9" name="Google Shape;1499;p93"/>
          <p:cNvCxnSpPr/>
          <p:nvPr/>
        </p:nvCxnSpPr>
        <p:spPr>
          <a:xfrm flipH="1" rot="10800000">
            <a:off x="1710799" y="1567807"/>
            <a:ext cx="302400" cy="28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0" name="Google Shape;1500;p93"/>
          <p:cNvCxnSpPr/>
          <p:nvPr/>
        </p:nvCxnSpPr>
        <p:spPr>
          <a:xfrm>
            <a:off x="1081001" y="1853565"/>
            <a:ext cx="62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1" name="Google Shape;1501;p93"/>
          <p:cNvCxnSpPr/>
          <p:nvPr/>
        </p:nvCxnSpPr>
        <p:spPr>
          <a:xfrm>
            <a:off x="1009523" y="2332975"/>
            <a:ext cx="995700" cy="99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2" name="Google Shape;1502;p93"/>
          <p:cNvCxnSpPr/>
          <p:nvPr/>
        </p:nvCxnSpPr>
        <p:spPr>
          <a:xfrm>
            <a:off x="985865" y="1937513"/>
            <a:ext cx="0" cy="35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3" name="Google Shape;1503;p93"/>
          <p:cNvCxnSpPr/>
          <p:nvPr/>
        </p:nvCxnSpPr>
        <p:spPr>
          <a:xfrm>
            <a:off x="5047384" y="1573750"/>
            <a:ext cx="628800" cy="3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4" name="Google Shape;1504;p93"/>
          <p:cNvCxnSpPr/>
          <p:nvPr/>
        </p:nvCxnSpPr>
        <p:spPr>
          <a:xfrm>
            <a:off x="5678317" y="3053669"/>
            <a:ext cx="33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5" name="Google Shape;1505;p93"/>
          <p:cNvCxnSpPr/>
          <p:nvPr/>
        </p:nvCxnSpPr>
        <p:spPr>
          <a:xfrm flipH="1">
            <a:off x="6002129" y="1574060"/>
            <a:ext cx="616800" cy="30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6" name="Google Shape;1506;p93"/>
          <p:cNvSpPr txBox="1"/>
          <p:nvPr>
            <p:ph idx="1" type="body"/>
          </p:nvPr>
        </p:nvSpPr>
        <p:spPr>
          <a:xfrm>
            <a:off x="617525" y="1973875"/>
            <a:ext cx="1067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m</a:t>
            </a:r>
            <a:endParaRPr sz="1600"/>
          </a:p>
        </p:txBody>
      </p:sp>
      <p:sp>
        <p:nvSpPr>
          <p:cNvPr id="1507" name="Google Shape;1507;p93"/>
          <p:cNvSpPr txBox="1"/>
          <p:nvPr>
            <p:ph idx="1" type="body"/>
          </p:nvPr>
        </p:nvSpPr>
        <p:spPr>
          <a:xfrm>
            <a:off x="1114180" y="2717400"/>
            <a:ext cx="6885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508" name="Google Shape;1508;p93"/>
          <p:cNvSpPr txBox="1"/>
          <p:nvPr>
            <p:ph idx="1" type="body"/>
          </p:nvPr>
        </p:nvSpPr>
        <p:spPr>
          <a:xfrm>
            <a:off x="1209909" y="1645925"/>
            <a:ext cx="9405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m</a:t>
            </a:r>
            <a:endParaRPr sz="1600"/>
          </a:p>
        </p:txBody>
      </p:sp>
      <p:sp>
        <p:nvSpPr>
          <p:cNvPr id="1509" name="Google Shape;1509;p93"/>
          <p:cNvSpPr txBox="1"/>
          <p:nvPr>
            <p:ph idx="1" type="body"/>
          </p:nvPr>
        </p:nvSpPr>
        <p:spPr>
          <a:xfrm>
            <a:off x="1548210" y="1481450"/>
            <a:ext cx="9405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m</a:t>
            </a:r>
            <a:endParaRPr sz="1600"/>
          </a:p>
        </p:txBody>
      </p:sp>
      <p:sp>
        <p:nvSpPr>
          <p:cNvPr id="1510" name="Google Shape;1510;p93"/>
          <p:cNvSpPr txBox="1"/>
          <p:nvPr>
            <p:ph idx="1" type="body"/>
          </p:nvPr>
        </p:nvSpPr>
        <p:spPr>
          <a:xfrm>
            <a:off x="5243899" y="1470975"/>
            <a:ext cx="6885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1511" name="Google Shape;1511;p93"/>
          <p:cNvSpPr txBox="1"/>
          <p:nvPr>
            <p:ph idx="1" type="body"/>
          </p:nvPr>
        </p:nvSpPr>
        <p:spPr>
          <a:xfrm>
            <a:off x="5962747" y="1469200"/>
            <a:ext cx="7455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1512" name="Google Shape;1512;p93"/>
          <p:cNvSpPr txBox="1"/>
          <p:nvPr>
            <p:ph idx="1" type="body"/>
          </p:nvPr>
        </p:nvSpPr>
        <p:spPr>
          <a:xfrm>
            <a:off x="5627694" y="3097000"/>
            <a:ext cx="887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1513" name="Google Shape;1513;p93"/>
          <p:cNvSpPr txBox="1"/>
          <p:nvPr>
            <p:ph idx="1" type="body"/>
          </p:nvPr>
        </p:nvSpPr>
        <p:spPr>
          <a:xfrm>
            <a:off x="324000" y="3452700"/>
            <a:ext cx="48747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Find the </a:t>
            </a:r>
            <a:r>
              <a:rPr lang="en-GB" sz="1800"/>
              <a:t>perimeter</a:t>
            </a:r>
            <a:r>
              <a:rPr lang="en-GB" sz="1800"/>
              <a:t> of each shape.</a:t>
            </a:r>
            <a:endParaRPr sz="1800"/>
          </a:p>
        </p:txBody>
      </p:sp>
      <p:sp>
        <p:nvSpPr>
          <p:cNvPr id="1514" name="Google Shape;1514;p93"/>
          <p:cNvSpPr/>
          <p:nvPr/>
        </p:nvSpPr>
        <p:spPr>
          <a:xfrm>
            <a:off x="3109327" y="3879061"/>
            <a:ext cx="1410300" cy="849000"/>
          </a:xfrm>
          <a:prstGeom prst="parallelogram">
            <a:avLst>
              <a:gd fmla="val 51191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93"/>
          <p:cNvSpPr/>
          <p:nvPr/>
        </p:nvSpPr>
        <p:spPr>
          <a:xfrm>
            <a:off x="808025" y="3879063"/>
            <a:ext cx="981600" cy="8490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6" name="Google Shape;1516;p93"/>
          <p:cNvCxnSpPr/>
          <p:nvPr/>
        </p:nvCxnSpPr>
        <p:spPr>
          <a:xfrm>
            <a:off x="980475" y="4257210"/>
            <a:ext cx="126600" cy="9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7" name="Google Shape;1517;p93"/>
          <p:cNvCxnSpPr/>
          <p:nvPr/>
        </p:nvCxnSpPr>
        <p:spPr>
          <a:xfrm flipH="1">
            <a:off x="1493875" y="4257210"/>
            <a:ext cx="126600" cy="9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8" name="Google Shape;1518;p93"/>
          <p:cNvCxnSpPr/>
          <p:nvPr/>
        </p:nvCxnSpPr>
        <p:spPr>
          <a:xfrm>
            <a:off x="1298825" y="464666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9" name="Google Shape;1519;p93"/>
          <p:cNvCxnSpPr/>
          <p:nvPr/>
        </p:nvCxnSpPr>
        <p:spPr>
          <a:xfrm>
            <a:off x="3274100" y="4233835"/>
            <a:ext cx="135900" cy="5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0" name="Google Shape;1520;p93"/>
          <p:cNvCxnSpPr/>
          <p:nvPr/>
        </p:nvCxnSpPr>
        <p:spPr>
          <a:xfrm>
            <a:off x="3635703" y="4657381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1" name="Google Shape;1521;p93"/>
          <p:cNvCxnSpPr/>
          <p:nvPr/>
        </p:nvCxnSpPr>
        <p:spPr>
          <a:xfrm>
            <a:off x="4210800" y="4327473"/>
            <a:ext cx="135900" cy="5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2" name="Google Shape;1522;p93"/>
          <p:cNvCxnSpPr/>
          <p:nvPr/>
        </p:nvCxnSpPr>
        <p:spPr>
          <a:xfrm>
            <a:off x="3981100" y="380286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3" name="Google Shape;1523;p93"/>
          <p:cNvCxnSpPr/>
          <p:nvPr/>
        </p:nvCxnSpPr>
        <p:spPr>
          <a:xfrm>
            <a:off x="6514745" y="380286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4" name="Google Shape;1524;p93"/>
          <p:cNvCxnSpPr/>
          <p:nvPr/>
        </p:nvCxnSpPr>
        <p:spPr>
          <a:xfrm>
            <a:off x="6553745" y="464666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5" name="Google Shape;1525;p93"/>
          <p:cNvCxnSpPr/>
          <p:nvPr/>
        </p:nvCxnSpPr>
        <p:spPr>
          <a:xfrm>
            <a:off x="6093145" y="4052073"/>
            <a:ext cx="130800" cy="7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6" name="Google Shape;1526;p93"/>
          <p:cNvCxnSpPr/>
          <p:nvPr/>
        </p:nvCxnSpPr>
        <p:spPr>
          <a:xfrm>
            <a:off x="6859765" y="4482292"/>
            <a:ext cx="130800" cy="7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93"/>
          <p:cNvCxnSpPr/>
          <p:nvPr/>
        </p:nvCxnSpPr>
        <p:spPr>
          <a:xfrm flipH="1">
            <a:off x="6859770" y="4052073"/>
            <a:ext cx="130800" cy="7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8" name="Google Shape;1528;p93"/>
          <p:cNvCxnSpPr/>
          <p:nvPr/>
        </p:nvCxnSpPr>
        <p:spPr>
          <a:xfrm flipH="1">
            <a:off x="6093145" y="4482273"/>
            <a:ext cx="130800" cy="7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9" name="Google Shape;1529;p93"/>
          <p:cNvSpPr txBox="1"/>
          <p:nvPr>
            <p:ph idx="1" type="body"/>
          </p:nvPr>
        </p:nvSpPr>
        <p:spPr>
          <a:xfrm>
            <a:off x="397171" y="4113925"/>
            <a:ext cx="9957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m</a:t>
            </a:r>
            <a:endParaRPr sz="1600"/>
          </a:p>
        </p:txBody>
      </p:sp>
      <p:sp>
        <p:nvSpPr>
          <p:cNvPr id="1530" name="Google Shape;1530;p93"/>
          <p:cNvSpPr txBox="1"/>
          <p:nvPr>
            <p:ph idx="1" type="body"/>
          </p:nvPr>
        </p:nvSpPr>
        <p:spPr>
          <a:xfrm>
            <a:off x="4488825" y="4254325"/>
            <a:ext cx="848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1531" name="Google Shape;1531;p93"/>
          <p:cNvSpPr txBox="1"/>
          <p:nvPr>
            <p:ph idx="1" type="body"/>
          </p:nvPr>
        </p:nvSpPr>
        <p:spPr>
          <a:xfrm>
            <a:off x="7103593" y="3887925"/>
            <a:ext cx="1067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 mm</a:t>
            </a:r>
            <a:endParaRPr sz="1600"/>
          </a:p>
        </p:txBody>
      </p:sp>
      <p:sp>
        <p:nvSpPr>
          <p:cNvPr id="1532" name="Google Shape;1532;p93"/>
          <p:cNvSpPr txBox="1"/>
          <p:nvPr>
            <p:ph idx="1" type="body"/>
          </p:nvPr>
        </p:nvSpPr>
        <p:spPr>
          <a:xfrm>
            <a:off x="324000" y="3797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533" name="Google Shape;1533;p93"/>
          <p:cNvSpPr txBox="1"/>
          <p:nvPr>
            <p:ph idx="1" type="body"/>
          </p:nvPr>
        </p:nvSpPr>
        <p:spPr>
          <a:xfrm>
            <a:off x="2876700" y="3797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34" name="Google Shape;1534;p93"/>
          <p:cNvSpPr txBox="1"/>
          <p:nvPr>
            <p:ph idx="1" type="body"/>
          </p:nvPr>
        </p:nvSpPr>
        <p:spPr>
          <a:xfrm>
            <a:off x="5772300" y="3797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35" name="Google Shape;1535;p93"/>
          <p:cNvSpPr txBox="1"/>
          <p:nvPr>
            <p:ph idx="1" type="body"/>
          </p:nvPr>
        </p:nvSpPr>
        <p:spPr>
          <a:xfrm>
            <a:off x="324000" y="1440358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536" name="Google Shape;1536;p93"/>
          <p:cNvSpPr txBox="1"/>
          <p:nvPr>
            <p:ph idx="1" type="body"/>
          </p:nvPr>
        </p:nvSpPr>
        <p:spPr>
          <a:xfrm>
            <a:off x="4553100" y="1440358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cxnSp>
        <p:nvCxnSpPr>
          <p:cNvPr id="1537" name="Google Shape;1537;p93"/>
          <p:cNvCxnSpPr/>
          <p:nvPr/>
        </p:nvCxnSpPr>
        <p:spPr>
          <a:xfrm flipH="1">
            <a:off x="655625" y="3858756"/>
            <a:ext cx="490800" cy="84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8" name="Google Shape;1538;p93"/>
          <p:cNvCxnSpPr/>
          <p:nvPr/>
        </p:nvCxnSpPr>
        <p:spPr>
          <a:xfrm flipH="1">
            <a:off x="4248225" y="3882550"/>
            <a:ext cx="441300" cy="84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9" name="Google Shape;1539;p93"/>
          <p:cNvCxnSpPr/>
          <p:nvPr/>
        </p:nvCxnSpPr>
        <p:spPr>
          <a:xfrm>
            <a:off x="6972756" y="3843926"/>
            <a:ext cx="212700" cy="42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4" name="Google Shape;154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5351038" y="1714387"/>
            <a:ext cx="2623899" cy="26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94"/>
          <p:cNvSpPr txBox="1"/>
          <p:nvPr>
            <p:ph idx="1" type="body"/>
          </p:nvPr>
        </p:nvSpPr>
        <p:spPr>
          <a:xfrm>
            <a:off x="324000" y="759300"/>
            <a:ext cx="82377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Find the </a:t>
            </a:r>
            <a:r>
              <a:rPr lang="en-GB" sz="1800"/>
              <a:t>perimeter</a:t>
            </a:r>
            <a:r>
              <a:rPr lang="en-GB" sz="1800"/>
              <a:t> of each composite rectilinear shape. </a:t>
            </a:r>
            <a:br>
              <a:rPr lang="en-GB" sz="1800"/>
            </a:br>
            <a:r>
              <a:rPr lang="en-GB" sz="1800"/>
              <a:t>    All lengths are given in metres.</a:t>
            </a:r>
            <a:endParaRPr sz="1800"/>
          </a:p>
        </p:txBody>
      </p:sp>
      <p:sp>
        <p:nvSpPr>
          <p:cNvPr id="1546" name="Google Shape;1546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efficient methods to calculate perimeter</a:t>
            </a:r>
            <a:endParaRPr/>
          </a:p>
        </p:txBody>
      </p:sp>
      <p:pic>
        <p:nvPicPr>
          <p:cNvPr id="1547" name="Google Shape;1547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511859" y="937517"/>
            <a:ext cx="1644022" cy="3119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48" name="Google Shape;1548;p94"/>
          <p:cNvSpPr txBox="1"/>
          <p:nvPr>
            <p:ph idx="1" type="body"/>
          </p:nvPr>
        </p:nvSpPr>
        <p:spPr>
          <a:xfrm>
            <a:off x="2693989" y="2025928"/>
            <a:ext cx="152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549" name="Google Shape;1549;p94"/>
          <p:cNvSpPr txBox="1"/>
          <p:nvPr>
            <p:ph idx="1" type="body"/>
          </p:nvPr>
        </p:nvSpPr>
        <p:spPr>
          <a:xfrm>
            <a:off x="1520334" y="3339891"/>
            <a:ext cx="152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550" name="Google Shape;1550;p94"/>
          <p:cNvSpPr txBox="1"/>
          <p:nvPr>
            <p:ph idx="1" type="body"/>
          </p:nvPr>
        </p:nvSpPr>
        <p:spPr>
          <a:xfrm>
            <a:off x="3424549" y="3329550"/>
            <a:ext cx="1683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551" name="Google Shape;1551;p94"/>
          <p:cNvSpPr txBox="1"/>
          <p:nvPr>
            <p:ph idx="1" type="body"/>
          </p:nvPr>
        </p:nvSpPr>
        <p:spPr>
          <a:xfrm>
            <a:off x="561500" y="2368431"/>
            <a:ext cx="1683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</a:t>
            </a:r>
            <a:endParaRPr sz="1600"/>
          </a:p>
        </p:txBody>
      </p:sp>
      <p:sp>
        <p:nvSpPr>
          <p:cNvPr id="1552" name="Google Shape;1552;p94"/>
          <p:cNvSpPr txBox="1"/>
          <p:nvPr>
            <p:ph idx="1" type="body"/>
          </p:nvPr>
        </p:nvSpPr>
        <p:spPr>
          <a:xfrm>
            <a:off x="2415112" y="2670092"/>
            <a:ext cx="152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553" name="Google Shape;1553;p94"/>
          <p:cNvSpPr txBox="1"/>
          <p:nvPr>
            <p:ph idx="1" type="body"/>
          </p:nvPr>
        </p:nvSpPr>
        <p:spPr>
          <a:xfrm>
            <a:off x="5027378" y="3027300"/>
            <a:ext cx="2646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</a:t>
            </a:r>
            <a:endParaRPr sz="1600"/>
          </a:p>
        </p:txBody>
      </p:sp>
      <p:sp>
        <p:nvSpPr>
          <p:cNvPr id="1554" name="Google Shape;1554;p94"/>
          <p:cNvSpPr txBox="1"/>
          <p:nvPr>
            <p:ph idx="1" type="body"/>
          </p:nvPr>
        </p:nvSpPr>
        <p:spPr>
          <a:xfrm>
            <a:off x="6533025" y="4424531"/>
            <a:ext cx="1683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endParaRPr sz="1600"/>
          </a:p>
        </p:txBody>
      </p:sp>
      <p:sp>
        <p:nvSpPr>
          <p:cNvPr id="1555" name="Google Shape;1555;p94"/>
          <p:cNvSpPr txBox="1"/>
          <p:nvPr>
            <p:ph idx="1" type="body"/>
          </p:nvPr>
        </p:nvSpPr>
        <p:spPr>
          <a:xfrm>
            <a:off x="324000" y="1511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556" name="Google Shape;1556;p94"/>
          <p:cNvSpPr txBox="1"/>
          <p:nvPr>
            <p:ph idx="1" type="body"/>
          </p:nvPr>
        </p:nvSpPr>
        <p:spPr>
          <a:xfrm>
            <a:off x="4829325" y="1511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cxnSp>
        <p:nvCxnSpPr>
          <p:cNvPr id="1557" name="Google Shape;1557;p94"/>
          <p:cNvCxnSpPr/>
          <p:nvPr/>
        </p:nvCxnSpPr>
        <p:spPr>
          <a:xfrm>
            <a:off x="703032" y="1774981"/>
            <a:ext cx="7800" cy="147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8" name="Google Shape;1558;p94"/>
          <p:cNvCxnSpPr/>
          <p:nvPr/>
        </p:nvCxnSpPr>
        <p:spPr>
          <a:xfrm flipH="1">
            <a:off x="840597" y="3346724"/>
            <a:ext cx="1473000" cy="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9" name="Google Shape;1559;p94"/>
          <p:cNvCxnSpPr/>
          <p:nvPr/>
        </p:nvCxnSpPr>
        <p:spPr>
          <a:xfrm>
            <a:off x="2401975" y="2390050"/>
            <a:ext cx="0" cy="8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0" name="Google Shape;1560;p94"/>
          <p:cNvCxnSpPr/>
          <p:nvPr/>
        </p:nvCxnSpPr>
        <p:spPr>
          <a:xfrm>
            <a:off x="2313850" y="2274950"/>
            <a:ext cx="88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1" name="Google Shape;1561;p94"/>
          <p:cNvCxnSpPr/>
          <p:nvPr/>
        </p:nvCxnSpPr>
        <p:spPr>
          <a:xfrm rot="10800000">
            <a:off x="3216428" y="3346724"/>
            <a:ext cx="58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2" name="Google Shape;1562;p94"/>
          <p:cNvCxnSpPr/>
          <p:nvPr/>
        </p:nvCxnSpPr>
        <p:spPr>
          <a:xfrm>
            <a:off x="5263882" y="1800150"/>
            <a:ext cx="0" cy="25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63" name="Google Shape;1563;p94"/>
          <p:cNvCxnSpPr/>
          <p:nvPr/>
        </p:nvCxnSpPr>
        <p:spPr>
          <a:xfrm rot="10800000">
            <a:off x="5395300" y="4423449"/>
            <a:ext cx="25266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Google Shape;1568;p95"/>
          <p:cNvPicPr preferRelativeResize="0"/>
          <p:nvPr/>
        </p:nvPicPr>
        <p:blipFill rotWithShape="1">
          <a:blip r:embed="rId3">
            <a:alphaModFix/>
          </a:blip>
          <a:srcRect b="22646" l="40392" r="34675" t="14586"/>
          <a:stretch/>
        </p:blipFill>
        <p:spPr>
          <a:xfrm>
            <a:off x="4918638" y="1556650"/>
            <a:ext cx="1880724" cy="18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95"/>
          <p:cNvPicPr preferRelativeResize="0"/>
          <p:nvPr/>
        </p:nvPicPr>
        <p:blipFill rotWithShape="1">
          <a:blip r:embed="rId3">
            <a:alphaModFix/>
          </a:blip>
          <a:srcRect b="22644" l="0" r="69891" t="5875"/>
          <a:stretch/>
        </p:blipFill>
        <p:spPr>
          <a:xfrm>
            <a:off x="895660" y="1294950"/>
            <a:ext cx="2227268" cy="20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95"/>
          <p:cNvSpPr/>
          <p:nvPr/>
        </p:nvSpPr>
        <p:spPr>
          <a:xfrm>
            <a:off x="6046845" y="3875675"/>
            <a:ext cx="981600" cy="8505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95"/>
          <p:cNvSpPr txBox="1"/>
          <p:nvPr>
            <p:ph idx="1" type="body"/>
          </p:nvPr>
        </p:nvSpPr>
        <p:spPr>
          <a:xfrm>
            <a:off x="324000" y="759300"/>
            <a:ext cx="8237700" cy="6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shapes were formed by reflecting line segments over the dashed mirror lines. Find the perimeter of each shape.</a:t>
            </a:r>
            <a:endParaRPr sz="1800"/>
          </a:p>
        </p:txBody>
      </p:sp>
      <p:sp>
        <p:nvSpPr>
          <p:cNvPr id="1572" name="Google Shape;1572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Finding efficient methods to calculate perimeter</a:t>
            </a:r>
            <a:endParaRPr/>
          </a:p>
        </p:txBody>
      </p:sp>
      <p:cxnSp>
        <p:nvCxnSpPr>
          <p:cNvPr id="1573" name="Google Shape;1573;p95"/>
          <p:cNvCxnSpPr/>
          <p:nvPr/>
        </p:nvCxnSpPr>
        <p:spPr>
          <a:xfrm flipH="1" rot="10800000">
            <a:off x="1710799" y="1567807"/>
            <a:ext cx="302400" cy="28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4" name="Google Shape;1574;p95"/>
          <p:cNvCxnSpPr/>
          <p:nvPr/>
        </p:nvCxnSpPr>
        <p:spPr>
          <a:xfrm>
            <a:off x="1081001" y="1853565"/>
            <a:ext cx="62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5" name="Google Shape;1575;p95"/>
          <p:cNvCxnSpPr/>
          <p:nvPr/>
        </p:nvCxnSpPr>
        <p:spPr>
          <a:xfrm>
            <a:off x="1009523" y="2332975"/>
            <a:ext cx="995700" cy="99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6" name="Google Shape;1576;p95"/>
          <p:cNvCxnSpPr/>
          <p:nvPr/>
        </p:nvCxnSpPr>
        <p:spPr>
          <a:xfrm>
            <a:off x="985865" y="1937513"/>
            <a:ext cx="0" cy="35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7" name="Google Shape;1577;p95"/>
          <p:cNvCxnSpPr/>
          <p:nvPr/>
        </p:nvCxnSpPr>
        <p:spPr>
          <a:xfrm>
            <a:off x="5047384" y="1573750"/>
            <a:ext cx="628800" cy="3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8" name="Google Shape;1578;p95"/>
          <p:cNvCxnSpPr/>
          <p:nvPr/>
        </p:nvCxnSpPr>
        <p:spPr>
          <a:xfrm>
            <a:off x="5678317" y="3053669"/>
            <a:ext cx="332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79" name="Google Shape;1579;p95"/>
          <p:cNvCxnSpPr/>
          <p:nvPr/>
        </p:nvCxnSpPr>
        <p:spPr>
          <a:xfrm flipH="1">
            <a:off x="6002129" y="1574060"/>
            <a:ext cx="616800" cy="30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80" name="Google Shape;1580;p95"/>
          <p:cNvSpPr txBox="1"/>
          <p:nvPr>
            <p:ph idx="1" type="body"/>
          </p:nvPr>
        </p:nvSpPr>
        <p:spPr>
          <a:xfrm>
            <a:off x="617525" y="1973875"/>
            <a:ext cx="7836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m</a:t>
            </a:r>
            <a:endParaRPr sz="1600"/>
          </a:p>
        </p:txBody>
      </p:sp>
      <p:sp>
        <p:nvSpPr>
          <p:cNvPr id="1581" name="Google Shape;1581;p95"/>
          <p:cNvSpPr txBox="1"/>
          <p:nvPr>
            <p:ph idx="1" type="body"/>
          </p:nvPr>
        </p:nvSpPr>
        <p:spPr>
          <a:xfrm>
            <a:off x="1114179" y="2717400"/>
            <a:ext cx="6288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582" name="Google Shape;1582;p95"/>
          <p:cNvSpPr txBox="1"/>
          <p:nvPr>
            <p:ph idx="1" type="body"/>
          </p:nvPr>
        </p:nvSpPr>
        <p:spPr>
          <a:xfrm>
            <a:off x="1209904" y="1645925"/>
            <a:ext cx="6288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m</a:t>
            </a:r>
            <a:endParaRPr sz="1600"/>
          </a:p>
        </p:txBody>
      </p:sp>
      <p:sp>
        <p:nvSpPr>
          <p:cNvPr id="1583" name="Google Shape;1583;p95"/>
          <p:cNvSpPr txBox="1"/>
          <p:nvPr>
            <p:ph idx="1" type="body"/>
          </p:nvPr>
        </p:nvSpPr>
        <p:spPr>
          <a:xfrm>
            <a:off x="1548218" y="1481450"/>
            <a:ext cx="6885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m</a:t>
            </a:r>
            <a:endParaRPr sz="1600"/>
          </a:p>
        </p:txBody>
      </p:sp>
      <p:sp>
        <p:nvSpPr>
          <p:cNvPr id="1584" name="Google Shape;1584;p95"/>
          <p:cNvSpPr txBox="1"/>
          <p:nvPr>
            <p:ph idx="1" type="body"/>
          </p:nvPr>
        </p:nvSpPr>
        <p:spPr>
          <a:xfrm>
            <a:off x="5243899" y="1470975"/>
            <a:ext cx="7836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585" name="Google Shape;1585;p95"/>
          <p:cNvSpPr txBox="1"/>
          <p:nvPr>
            <p:ph idx="1" type="body"/>
          </p:nvPr>
        </p:nvSpPr>
        <p:spPr>
          <a:xfrm>
            <a:off x="5962748" y="1469200"/>
            <a:ext cx="6885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586" name="Google Shape;1586;p95"/>
          <p:cNvSpPr txBox="1"/>
          <p:nvPr>
            <p:ph idx="1" type="body"/>
          </p:nvPr>
        </p:nvSpPr>
        <p:spPr>
          <a:xfrm>
            <a:off x="5627694" y="3097000"/>
            <a:ext cx="9018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cm</a:t>
            </a:r>
            <a:endParaRPr sz="1600"/>
          </a:p>
        </p:txBody>
      </p:sp>
      <p:sp>
        <p:nvSpPr>
          <p:cNvPr id="1587" name="Google Shape;1587;p95"/>
          <p:cNvSpPr txBox="1"/>
          <p:nvPr>
            <p:ph idx="1" type="body"/>
          </p:nvPr>
        </p:nvSpPr>
        <p:spPr>
          <a:xfrm>
            <a:off x="324000" y="3452700"/>
            <a:ext cx="53037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Find the </a:t>
            </a:r>
            <a:r>
              <a:rPr lang="en-GB" sz="1800"/>
              <a:t>perimeter</a:t>
            </a:r>
            <a:r>
              <a:rPr lang="en-GB" sz="1800"/>
              <a:t> of each shape.</a:t>
            </a:r>
            <a:endParaRPr sz="1800"/>
          </a:p>
        </p:txBody>
      </p:sp>
      <p:sp>
        <p:nvSpPr>
          <p:cNvPr id="1588" name="Google Shape;1588;p95"/>
          <p:cNvSpPr/>
          <p:nvPr/>
        </p:nvSpPr>
        <p:spPr>
          <a:xfrm>
            <a:off x="3109327" y="3879061"/>
            <a:ext cx="1410300" cy="849000"/>
          </a:xfrm>
          <a:prstGeom prst="parallelogram">
            <a:avLst>
              <a:gd fmla="val 51191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95"/>
          <p:cNvSpPr/>
          <p:nvPr/>
        </p:nvSpPr>
        <p:spPr>
          <a:xfrm>
            <a:off x="808025" y="3879063"/>
            <a:ext cx="981600" cy="8490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0" name="Google Shape;1590;p95"/>
          <p:cNvCxnSpPr/>
          <p:nvPr/>
        </p:nvCxnSpPr>
        <p:spPr>
          <a:xfrm>
            <a:off x="980475" y="4257210"/>
            <a:ext cx="126600" cy="9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95"/>
          <p:cNvCxnSpPr/>
          <p:nvPr/>
        </p:nvCxnSpPr>
        <p:spPr>
          <a:xfrm flipH="1">
            <a:off x="1493875" y="4257210"/>
            <a:ext cx="126600" cy="9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95"/>
          <p:cNvCxnSpPr/>
          <p:nvPr/>
        </p:nvCxnSpPr>
        <p:spPr>
          <a:xfrm>
            <a:off x="1298825" y="464666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95"/>
          <p:cNvCxnSpPr/>
          <p:nvPr/>
        </p:nvCxnSpPr>
        <p:spPr>
          <a:xfrm>
            <a:off x="3274100" y="4233835"/>
            <a:ext cx="135900" cy="5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4" name="Google Shape;1594;p95"/>
          <p:cNvCxnSpPr/>
          <p:nvPr/>
        </p:nvCxnSpPr>
        <p:spPr>
          <a:xfrm>
            <a:off x="3635703" y="4657381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95"/>
          <p:cNvCxnSpPr/>
          <p:nvPr/>
        </p:nvCxnSpPr>
        <p:spPr>
          <a:xfrm>
            <a:off x="4210800" y="4327473"/>
            <a:ext cx="135900" cy="57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95"/>
          <p:cNvCxnSpPr/>
          <p:nvPr/>
        </p:nvCxnSpPr>
        <p:spPr>
          <a:xfrm>
            <a:off x="3981100" y="380286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7" name="Google Shape;1597;p95"/>
          <p:cNvCxnSpPr/>
          <p:nvPr/>
        </p:nvCxnSpPr>
        <p:spPr>
          <a:xfrm>
            <a:off x="6514745" y="380286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8" name="Google Shape;1598;p95"/>
          <p:cNvCxnSpPr/>
          <p:nvPr/>
        </p:nvCxnSpPr>
        <p:spPr>
          <a:xfrm>
            <a:off x="6553745" y="4646660"/>
            <a:ext cx="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9" name="Google Shape;1599;p95"/>
          <p:cNvCxnSpPr/>
          <p:nvPr/>
        </p:nvCxnSpPr>
        <p:spPr>
          <a:xfrm>
            <a:off x="6093145" y="4052073"/>
            <a:ext cx="130800" cy="7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95"/>
          <p:cNvCxnSpPr/>
          <p:nvPr/>
        </p:nvCxnSpPr>
        <p:spPr>
          <a:xfrm>
            <a:off x="6859765" y="4482292"/>
            <a:ext cx="130800" cy="7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1" name="Google Shape;1601;p95"/>
          <p:cNvCxnSpPr/>
          <p:nvPr/>
        </p:nvCxnSpPr>
        <p:spPr>
          <a:xfrm flipH="1">
            <a:off x="6859770" y="4052073"/>
            <a:ext cx="130800" cy="7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95"/>
          <p:cNvCxnSpPr/>
          <p:nvPr/>
        </p:nvCxnSpPr>
        <p:spPr>
          <a:xfrm flipH="1">
            <a:off x="6093145" y="4482273"/>
            <a:ext cx="130800" cy="7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3" name="Google Shape;1603;p95"/>
          <p:cNvSpPr txBox="1"/>
          <p:nvPr>
            <p:ph idx="1" type="body"/>
          </p:nvPr>
        </p:nvSpPr>
        <p:spPr>
          <a:xfrm>
            <a:off x="397173" y="4113925"/>
            <a:ext cx="9018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m</a:t>
            </a:r>
            <a:endParaRPr sz="1600"/>
          </a:p>
        </p:txBody>
      </p:sp>
      <p:sp>
        <p:nvSpPr>
          <p:cNvPr id="1604" name="Google Shape;1604;p95"/>
          <p:cNvSpPr txBox="1"/>
          <p:nvPr>
            <p:ph idx="1" type="body"/>
          </p:nvPr>
        </p:nvSpPr>
        <p:spPr>
          <a:xfrm>
            <a:off x="4488825" y="4254325"/>
            <a:ext cx="8205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605" name="Google Shape;1605;p95"/>
          <p:cNvSpPr txBox="1"/>
          <p:nvPr>
            <p:ph idx="1" type="body"/>
          </p:nvPr>
        </p:nvSpPr>
        <p:spPr>
          <a:xfrm>
            <a:off x="7103593" y="3887925"/>
            <a:ext cx="10725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 mm</a:t>
            </a:r>
            <a:endParaRPr sz="1600"/>
          </a:p>
        </p:txBody>
      </p:sp>
      <p:sp>
        <p:nvSpPr>
          <p:cNvPr id="1606" name="Google Shape;1606;p95"/>
          <p:cNvSpPr txBox="1"/>
          <p:nvPr>
            <p:ph idx="1" type="body"/>
          </p:nvPr>
        </p:nvSpPr>
        <p:spPr>
          <a:xfrm>
            <a:off x="324000" y="3797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607" name="Google Shape;1607;p95"/>
          <p:cNvSpPr txBox="1"/>
          <p:nvPr>
            <p:ph idx="1" type="body"/>
          </p:nvPr>
        </p:nvSpPr>
        <p:spPr>
          <a:xfrm>
            <a:off x="2876700" y="3797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608" name="Google Shape;1608;p95"/>
          <p:cNvSpPr txBox="1"/>
          <p:nvPr>
            <p:ph idx="1" type="body"/>
          </p:nvPr>
        </p:nvSpPr>
        <p:spPr>
          <a:xfrm>
            <a:off x="5772300" y="3797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609" name="Google Shape;1609;p95"/>
          <p:cNvSpPr txBox="1"/>
          <p:nvPr>
            <p:ph idx="1" type="body"/>
          </p:nvPr>
        </p:nvSpPr>
        <p:spPr>
          <a:xfrm>
            <a:off x="324000" y="1440358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610" name="Google Shape;1610;p95"/>
          <p:cNvSpPr txBox="1"/>
          <p:nvPr>
            <p:ph idx="1" type="body"/>
          </p:nvPr>
        </p:nvSpPr>
        <p:spPr>
          <a:xfrm>
            <a:off x="4553100" y="1440358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cxnSp>
        <p:nvCxnSpPr>
          <p:cNvPr id="1611" name="Google Shape;1611;p95"/>
          <p:cNvCxnSpPr/>
          <p:nvPr/>
        </p:nvCxnSpPr>
        <p:spPr>
          <a:xfrm flipH="1">
            <a:off x="655625" y="3858756"/>
            <a:ext cx="490800" cy="84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2" name="Google Shape;1612;p95"/>
          <p:cNvCxnSpPr/>
          <p:nvPr/>
        </p:nvCxnSpPr>
        <p:spPr>
          <a:xfrm flipH="1">
            <a:off x="4248225" y="3882550"/>
            <a:ext cx="441300" cy="84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3" name="Google Shape;1613;p95"/>
          <p:cNvCxnSpPr/>
          <p:nvPr/>
        </p:nvCxnSpPr>
        <p:spPr>
          <a:xfrm>
            <a:off x="6972756" y="3843926"/>
            <a:ext cx="212700" cy="42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14" name="Google Shape;1614;p95"/>
          <p:cNvSpPr txBox="1"/>
          <p:nvPr>
            <p:ph idx="1" type="body"/>
          </p:nvPr>
        </p:nvSpPr>
        <p:spPr>
          <a:xfrm>
            <a:off x="2724300" y="2699725"/>
            <a:ext cx="1410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 = 16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5" name="Google Shape;1615;p95"/>
          <p:cNvSpPr txBox="1"/>
          <p:nvPr>
            <p:ph idx="1" type="body"/>
          </p:nvPr>
        </p:nvSpPr>
        <p:spPr>
          <a:xfrm>
            <a:off x="6838175" y="2699725"/>
            <a:ext cx="12357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 = 48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6" name="Google Shape;1616;p95"/>
          <p:cNvSpPr txBox="1"/>
          <p:nvPr>
            <p:ph idx="1" type="body"/>
          </p:nvPr>
        </p:nvSpPr>
        <p:spPr>
          <a:xfrm>
            <a:off x="1889725" y="4570050"/>
            <a:ext cx="12357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 = 36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7" name="Google Shape;1617;p95"/>
          <p:cNvSpPr txBox="1"/>
          <p:nvPr>
            <p:ph idx="1" type="body"/>
          </p:nvPr>
        </p:nvSpPr>
        <p:spPr>
          <a:xfrm>
            <a:off x="4632925" y="4570050"/>
            <a:ext cx="15318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 = 20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8" name="Google Shape;1618;p95"/>
          <p:cNvSpPr txBox="1"/>
          <p:nvPr>
            <p:ph idx="1" type="body"/>
          </p:nvPr>
        </p:nvSpPr>
        <p:spPr>
          <a:xfrm>
            <a:off x="7178377" y="4557647"/>
            <a:ext cx="14103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 = 66 mm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3" name="Google Shape;162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5325705" y="1734387"/>
            <a:ext cx="2651626" cy="263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506818" y="949125"/>
            <a:ext cx="1627450" cy="310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96"/>
          <p:cNvSpPr txBox="1"/>
          <p:nvPr>
            <p:ph idx="1" type="body"/>
          </p:nvPr>
        </p:nvSpPr>
        <p:spPr>
          <a:xfrm>
            <a:off x="324000" y="759300"/>
            <a:ext cx="8237700" cy="6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Find the </a:t>
            </a:r>
            <a:r>
              <a:rPr lang="en-GB" sz="1800"/>
              <a:t>perimeter</a:t>
            </a:r>
            <a:r>
              <a:rPr lang="en-GB" sz="1800"/>
              <a:t> of each composite rectilinear shape. </a:t>
            </a:r>
            <a:br>
              <a:rPr lang="en-GB" sz="1800"/>
            </a:br>
            <a:r>
              <a:rPr lang="en-GB" sz="1800"/>
              <a:t>    All lengths are given in metres.</a:t>
            </a:r>
            <a:endParaRPr sz="1800"/>
          </a:p>
        </p:txBody>
      </p:sp>
      <p:sp>
        <p:nvSpPr>
          <p:cNvPr id="1626" name="Google Shape;1626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efficient methods to calculate perimeter</a:t>
            </a:r>
            <a:endParaRPr/>
          </a:p>
        </p:txBody>
      </p:sp>
      <p:sp>
        <p:nvSpPr>
          <p:cNvPr id="1627" name="Google Shape;1627;p96"/>
          <p:cNvSpPr txBox="1"/>
          <p:nvPr>
            <p:ph idx="1" type="body"/>
          </p:nvPr>
        </p:nvSpPr>
        <p:spPr>
          <a:xfrm>
            <a:off x="1520334" y="3339891"/>
            <a:ext cx="152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628" name="Google Shape;1628;p96"/>
          <p:cNvSpPr txBox="1"/>
          <p:nvPr>
            <p:ph idx="1" type="body"/>
          </p:nvPr>
        </p:nvSpPr>
        <p:spPr>
          <a:xfrm>
            <a:off x="3424549" y="3329550"/>
            <a:ext cx="1683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629" name="Google Shape;1629;p96"/>
          <p:cNvSpPr txBox="1"/>
          <p:nvPr>
            <p:ph idx="1" type="body"/>
          </p:nvPr>
        </p:nvSpPr>
        <p:spPr>
          <a:xfrm>
            <a:off x="561500" y="2368431"/>
            <a:ext cx="1683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</a:t>
            </a:r>
            <a:endParaRPr sz="1600"/>
          </a:p>
        </p:txBody>
      </p:sp>
      <p:sp>
        <p:nvSpPr>
          <p:cNvPr id="1630" name="Google Shape;1630;p96"/>
          <p:cNvSpPr txBox="1"/>
          <p:nvPr>
            <p:ph idx="1" type="body"/>
          </p:nvPr>
        </p:nvSpPr>
        <p:spPr>
          <a:xfrm>
            <a:off x="5027373" y="3027300"/>
            <a:ext cx="4203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</a:t>
            </a:r>
            <a:endParaRPr sz="1600"/>
          </a:p>
        </p:txBody>
      </p:sp>
      <p:sp>
        <p:nvSpPr>
          <p:cNvPr id="1631" name="Google Shape;1631;p96"/>
          <p:cNvSpPr txBox="1"/>
          <p:nvPr>
            <p:ph idx="1" type="body"/>
          </p:nvPr>
        </p:nvSpPr>
        <p:spPr>
          <a:xfrm>
            <a:off x="6533025" y="4424525"/>
            <a:ext cx="302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endParaRPr sz="1600"/>
          </a:p>
        </p:txBody>
      </p:sp>
      <p:sp>
        <p:nvSpPr>
          <p:cNvPr id="1632" name="Google Shape;1632;p96"/>
          <p:cNvSpPr txBox="1"/>
          <p:nvPr>
            <p:ph idx="1" type="body"/>
          </p:nvPr>
        </p:nvSpPr>
        <p:spPr>
          <a:xfrm>
            <a:off x="324000" y="1511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633" name="Google Shape;1633;p96"/>
          <p:cNvSpPr txBox="1"/>
          <p:nvPr>
            <p:ph idx="1" type="body"/>
          </p:nvPr>
        </p:nvSpPr>
        <p:spPr>
          <a:xfrm>
            <a:off x="4829325" y="1511975"/>
            <a:ext cx="302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cxnSp>
        <p:nvCxnSpPr>
          <p:cNvPr id="1634" name="Google Shape;1634;p96"/>
          <p:cNvCxnSpPr/>
          <p:nvPr/>
        </p:nvCxnSpPr>
        <p:spPr>
          <a:xfrm>
            <a:off x="703032" y="1774981"/>
            <a:ext cx="7800" cy="147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5" name="Google Shape;1635;p96"/>
          <p:cNvCxnSpPr/>
          <p:nvPr/>
        </p:nvCxnSpPr>
        <p:spPr>
          <a:xfrm flipH="1">
            <a:off x="840597" y="3346724"/>
            <a:ext cx="1473000" cy="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6" name="Google Shape;1636;p96"/>
          <p:cNvCxnSpPr/>
          <p:nvPr/>
        </p:nvCxnSpPr>
        <p:spPr>
          <a:xfrm rot="10800000">
            <a:off x="3216428" y="3346724"/>
            <a:ext cx="58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7" name="Google Shape;1637;p96"/>
          <p:cNvCxnSpPr/>
          <p:nvPr/>
        </p:nvCxnSpPr>
        <p:spPr>
          <a:xfrm>
            <a:off x="5263882" y="1800150"/>
            <a:ext cx="0" cy="250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8" name="Google Shape;1638;p96"/>
          <p:cNvCxnSpPr/>
          <p:nvPr/>
        </p:nvCxnSpPr>
        <p:spPr>
          <a:xfrm rot="10800000">
            <a:off x="5395300" y="4423449"/>
            <a:ext cx="25266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9" name="Google Shape;1639;p96"/>
          <p:cNvSpPr txBox="1"/>
          <p:nvPr>
            <p:ph idx="1" type="body"/>
          </p:nvPr>
        </p:nvSpPr>
        <p:spPr>
          <a:xfrm>
            <a:off x="3313373" y="3630350"/>
            <a:ext cx="1409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 = 40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0" name="Google Shape;1640;p96"/>
          <p:cNvSpPr txBox="1"/>
          <p:nvPr>
            <p:ph idx="1" type="body"/>
          </p:nvPr>
        </p:nvSpPr>
        <p:spPr>
          <a:xfrm>
            <a:off x="7282925" y="4532750"/>
            <a:ext cx="1409400" cy="4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 = 40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1" name="Google Shape;1641;p96"/>
          <p:cNvSpPr txBox="1"/>
          <p:nvPr>
            <p:ph idx="1" type="body"/>
          </p:nvPr>
        </p:nvSpPr>
        <p:spPr>
          <a:xfrm>
            <a:off x="2693989" y="2025928"/>
            <a:ext cx="152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642" name="Google Shape;1642;p96"/>
          <p:cNvSpPr txBox="1"/>
          <p:nvPr>
            <p:ph idx="1" type="body"/>
          </p:nvPr>
        </p:nvSpPr>
        <p:spPr>
          <a:xfrm>
            <a:off x="2415112" y="2670092"/>
            <a:ext cx="1524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cxnSp>
        <p:nvCxnSpPr>
          <p:cNvPr id="1643" name="Google Shape;1643;p96"/>
          <p:cNvCxnSpPr/>
          <p:nvPr/>
        </p:nvCxnSpPr>
        <p:spPr>
          <a:xfrm>
            <a:off x="2401975" y="2390050"/>
            <a:ext cx="0" cy="8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4" name="Google Shape;1644;p96"/>
          <p:cNvCxnSpPr/>
          <p:nvPr/>
        </p:nvCxnSpPr>
        <p:spPr>
          <a:xfrm>
            <a:off x="2313850" y="2274950"/>
            <a:ext cx="88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9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perimeter</a:t>
            </a:r>
            <a:endParaRPr/>
          </a:p>
        </p:txBody>
      </p:sp>
      <p:sp>
        <p:nvSpPr>
          <p:cNvPr id="1650" name="Google Shape;1650;p9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efficient methods to calculate perimeter</a:t>
            </a:r>
            <a:endParaRPr/>
          </a:p>
        </p:txBody>
      </p:sp>
      <p:sp>
        <p:nvSpPr>
          <p:cNvPr id="1651" name="Google Shape;1651;p9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lengths when the perimeter is known</a:t>
            </a:r>
            <a:endParaRPr/>
          </a:p>
        </p:txBody>
      </p:sp>
      <p:sp>
        <p:nvSpPr>
          <p:cNvPr id="1652" name="Google Shape;1652;p9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  <p:pic>
        <p:nvPicPr>
          <p:cNvPr id="1653" name="Google Shape;165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50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98"/>
          <p:cNvSpPr txBox="1"/>
          <p:nvPr>
            <p:ph idx="1" type="body"/>
          </p:nvPr>
        </p:nvSpPr>
        <p:spPr>
          <a:xfrm>
            <a:off x="324000" y="759300"/>
            <a:ext cx="82377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/>
              <a:t>perimeter</a:t>
            </a:r>
            <a:r>
              <a:rPr lang="en-GB" sz="2000"/>
              <a:t> of the shape is 18 cm. Find the missing length.</a:t>
            </a:r>
            <a:endParaRPr sz="2000"/>
          </a:p>
        </p:txBody>
      </p:sp>
      <p:sp>
        <p:nvSpPr>
          <p:cNvPr id="1659" name="Google Shape;165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missing lengths when the perimeter is known</a:t>
            </a:r>
            <a:endParaRPr/>
          </a:p>
        </p:txBody>
      </p:sp>
      <p:cxnSp>
        <p:nvCxnSpPr>
          <p:cNvPr id="1660" name="Google Shape;1660;p98"/>
          <p:cNvCxnSpPr/>
          <p:nvPr/>
        </p:nvCxnSpPr>
        <p:spPr>
          <a:xfrm>
            <a:off x="1258290" y="4007420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1" name="Google Shape;1661;p98"/>
          <p:cNvSpPr txBox="1"/>
          <p:nvPr>
            <p:ph idx="4294967295" type="body"/>
          </p:nvPr>
        </p:nvSpPr>
        <p:spPr>
          <a:xfrm>
            <a:off x="2376260" y="3939470"/>
            <a:ext cx="2178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2" name="Google Shape;1662;p98"/>
          <p:cNvSpPr/>
          <p:nvPr/>
        </p:nvSpPr>
        <p:spPr>
          <a:xfrm>
            <a:off x="1276125" y="1768432"/>
            <a:ext cx="2296200" cy="2066700"/>
          </a:xfrm>
          <a:prstGeom prst="triangle">
            <a:avLst>
              <a:gd fmla="val 7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3" name="Google Shape;1663;p98"/>
          <p:cNvCxnSpPr/>
          <p:nvPr/>
        </p:nvCxnSpPr>
        <p:spPr>
          <a:xfrm>
            <a:off x="3050570" y="1737266"/>
            <a:ext cx="713100" cy="20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4" name="Google Shape;1664;p98"/>
          <p:cNvCxnSpPr/>
          <p:nvPr/>
        </p:nvCxnSpPr>
        <p:spPr>
          <a:xfrm flipH="1">
            <a:off x="1127384" y="1702891"/>
            <a:ext cx="1608900" cy="203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5" name="Google Shape;1665;p98"/>
          <p:cNvSpPr txBox="1"/>
          <p:nvPr>
            <p:ph idx="4294967295" type="body"/>
          </p:nvPr>
        </p:nvSpPr>
        <p:spPr>
          <a:xfrm>
            <a:off x="1249098" y="2537275"/>
            <a:ext cx="7881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8 cm</a:t>
            </a:r>
            <a:endParaRPr sz="1800"/>
          </a:p>
        </p:txBody>
      </p:sp>
      <p:sp>
        <p:nvSpPr>
          <p:cNvPr id="1666" name="Google Shape;1666;p98"/>
          <p:cNvSpPr txBox="1"/>
          <p:nvPr>
            <p:ph idx="4294967295" type="body"/>
          </p:nvPr>
        </p:nvSpPr>
        <p:spPr>
          <a:xfrm>
            <a:off x="3458900" y="2537275"/>
            <a:ext cx="9840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4 cm</a:t>
            </a:r>
            <a:endParaRPr sz="1800"/>
          </a:p>
        </p:txBody>
      </p:sp>
      <p:sp>
        <p:nvSpPr>
          <p:cNvPr id="1667" name="Google Shape;1667;p98"/>
          <p:cNvSpPr txBox="1"/>
          <p:nvPr>
            <p:ph idx="1" type="body"/>
          </p:nvPr>
        </p:nvSpPr>
        <p:spPr>
          <a:xfrm>
            <a:off x="5022625" y="1768425"/>
            <a:ext cx="22617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 + 4 +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8" name="Google Shape;1668;p98"/>
          <p:cNvSpPr txBox="1"/>
          <p:nvPr>
            <p:ph idx="1" type="body"/>
          </p:nvPr>
        </p:nvSpPr>
        <p:spPr>
          <a:xfrm>
            <a:off x="5332938" y="2375717"/>
            <a:ext cx="1608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+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9" name="Google Shape;1669;p98"/>
          <p:cNvSpPr txBox="1"/>
          <p:nvPr>
            <p:ph idx="1" type="body"/>
          </p:nvPr>
        </p:nvSpPr>
        <p:spPr>
          <a:xfrm>
            <a:off x="5979488" y="2983008"/>
            <a:ext cx="22962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18 −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0" name="Google Shape;1670;p98"/>
          <p:cNvSpPr txBox="1"/>
          <p:nvPr>
            <p:ph idx="1" type="body"/>
          </p:nvPr>
        </p:nvSpPr>
        <p:spPr>
          <a:xfrm>
            <a:off x="5979492" y="3590300"/>
            <a:ext cx="834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1" name="Google Shape;1671;p98"/>
          <p:cNvSpPr txBox="1"/>
          <p:nvPr>
            <p:ph idx="1" type="body"/>
          </p:nvPr>
        </p:nvSpPr>
        <p:spPr>
          <a:xfrm>
            <a:off x="6729067" y="3633523"/>
            <a:ext cx="834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cm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99"/>
          <p:cNvSpPr txBox="1"/>
          <p:nvPr>
            <p:ph idx="1" type="body"/>
          </p:nvPr>
        </p:nvSpPr>
        <p:spPr>
          <a:xfrm>
            <a:off x="324000" y="759300"/>
            <a:ext cx="82377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/>
              <a:t>perimeter</a:t>
            </a:r>
            <a:r>
              <a:rPr lang="en-GB" sz="2000"/>
              <a:t> of the shape is 18 cm. Find the missing length.</a:t>
            </a:r>
            <a:endParaRPr sz="2000"/>
          </a:p>
        </p:txBody>
      </p:sp>
      <p:sp>
        <p:nvSpPr>
          <p:cNvPr id="1677" name="Google Shape;167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missing lengths when the perimeter is known</a:t>
            </a:r>
            <a:endParaRPr/>
          </a:p>
        </p:txBody>
      </p:sp>
      <p:cxnSp>
        <p:nvCxnSpPr>
          <p:cNvPr id="1678" name="Google Shape;1678;p99"/>
          <p:cNvCxnSpPr/>
          <p:nvPr/>
        </p:nvCxnSpPr>
        <p:spPr>
          <a:xfrm>
            <a:off x="1258290" y="4007420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9" name="Google Shape;1679;p99"/>
          <p:cNvSpPr txBox="1"/>
          <p:nvPr>
            <p:ph idx="4294967295" type="body"/>
          </p:nvPr>
        </p:nvSpPr>
        <p:spPr>
          <a:xfrm>
            <a:off x="2376260" y="3939470"/>
            <a:ext cx="2178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0" name="Google Shape;1680;p99"/>
          <p:cNvSpPr/>
          <p:nvPr/>
        </p:nvSpPr>
        <p:spPr>
          <a:xfrm>
            <a:off x="1276125" y="1866800"/>
            <a:ext cx="2296200" cy="1968300"/>
          </a:xfrm>
          <a:prstGeom prst="triangle">
            <a:avLst>
              <a:gd fmla="val 56224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99"/>
          <p:cNvSpPr txBox="1"/>
          <p:nvPr>
            <p:ph idx="1" type="body"/>
          </p:nvPr>
        </p:nvSpPr>
        <p:spPr>
          <a:xfrm>
            <a:off x="5022625" y="1692225"/>
            <a:ext cx="20442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2" name="Google Shape;1682;p99"/>
          <p:cNvSpPr txBox="1"/>
          <p:nvPr>
            <p:ph idx="1" type="body"/>
          </p:nvPr>
        </p:nvSpPr>
        <p:spPr>
          <a:xfrm>
            <a:off x="5837763" y="2256713"/>
            <a:ext cx="1608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3" name="Google Shape;1683;p99"/>
          <p:cNvSpPr txBox="1"/>
          <p:nvPr>
            <p:ph idx="1" type="body"/>
          </p:nvPr>
        </p:nvSpPr>
        <p:spPr>
          <a:xfrm>
            <a:off x="5360363" y="2821200"/>
            <a:ext cx="22962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4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÷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18 </a:t>
            </a:r>
            <a:r>
              <a:rPr lang="en-GB" sz="24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÷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4" name="Google Shape;1684;p99"/>
          <p:cNvSpPr txBox="1"/>
          <p:nvPr>
            <p:ph idx="1" type="body"/>
          </p:nvPr>
        </p:nvSpPr>
        <p:spPr>
          <a:xfrm>
            <a:off x="5989017" y="3385688"/>
            <a:ext cx="834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5" name="Google Shape;1685;p99"/>
          <p:cNvSpPr txBox="1"/>
          <p:nvPr>
            <p:ph idx="1" type="body"/>
          </p:nvPr>
        </p:nvSpPr>
        <p:spPr>
          <a:xfrm>
            <a:off x="6716542" y="3385698"/>
            <a:ext cx="834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cm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86" name="Google Shape;1686;p99"/>
          <p:cNvCxnSpPr/>
          <p:nvPr/>
        </p:nvCxnSpPr>
        <p:spPr>
          <a:xfrm>
            <a:off x="2441675" y="3725852"/>
            <a:ext cx="0" cy="20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7" name="Google Shape;1687;p99"/>
          <p:cNvCxnSpPr/>
          <p:nvPr/>
        </p:nvCxnSpPr>
        <p:spPr>
          <a:xfrm>
            <a:off x="1803425" y="2824802"/>
            <a:ext cx="182400" cy="12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8" name="Google Shape;1688;p99"/>
          <p:cNvCxnSpPr/>
          <p:nvPr/>
        </p:nvCxnSpPr>
        <p:spPr>
          <a:xfrm flipH="1">
            <a:off x="2974450" y="2788102"/>
            <a:ext cx="182400" cy="12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00"/>
          <p:cNvSpPr/>
          <p:nvPr/>
        </p:nvSpPr>
        <p:spPr>
          <a:xfrm>
            <a:off x="1292734" y="2363417"/>
            <a:ext cx="2296200" cy="1423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00"/>
          <p:cNvSpPr txBox="1"/>
          <p:nvPr>
            <p:ph idx="1" type="body"/>
          </p:nvPr>
        </p:nvSpPr>
        <p:spPr>
          <a:xfrm>
            <a:off x="324000" y="759300"/>
            <a:ext cx="82377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/>
              <a:t>perimeter</a:t>
            </a:r>
            <a:r>
              <a:rPr lang="en-GB" sz="2000"/>
              <a:t> of the shape is 18 cm. Find the missing length.</a:t>
            </a:r>
            <a:endParaRPr sz="2000"/>
          </a:p>
        </p:txBody>
      </p:sp>
      <p:sp>
        <p:nvSpPr>
          <p:cNvPr id="1695" name="Google Shape;1695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missing lengths when the perimeter is known</a:t>
            </a:r>
            <a:endParaRPr/>
          </a:p>
        </p:txBody>
      </p:sp>
      <p:cxnSp>
        <p:nvCxnSpPr>
          <p:cNvPr id="1696" name="Google Shape;1696;p100"/>
          <p:cNvCxnSpPr/>
          <p:nvPr/>
        </p:nvCxnSpPr>
        <p:spPr>
          <a:xfrm>
            <a:off x="1258299" y="3972510"/>
            <a:ext cx="2358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97" name="Google Shape;1697;p100"/>
          <p:cNvSpPr txBox="1"/>
          <p:nvPr>
            <p:ph idx="4294967295" type="body"/>
          </p:nvPr>
        </p:nvSpPr>
        <p:spPr>
          <a:xfrm>
            <a:off x="2376265" y="3896352"/>
            <a:ext cx="2178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8" name="Google Shape;1698;p100"/>
          <p:cNvSpPr txBox="1"/>
          <p:nvPr>
            <p:ph idx="1" type="body"/>
          </p:nvPr>
        </p:nvSpPr>
        <p:spPr>
          <a:xfrm>
            <a:off x="4651150" y="1768425"/>
            <a:ext cx="2547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 +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9" name="Google Shape;1699;p100"/>
          <p:cNvSpPr txBox="1"/>
          <p:nvPr>
            <p:ph idx="1" type="body"/>
          </p:nvPr>
        </p:nvSpPr>
        <p:spPr>
          <a:xfrm>
            <a:off x="5456763" y="2375717"/>
            <a:ext cx="1608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+ 8 = 18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0" name="Google Shape;1700;p100"/>
          <p:cNvSpPr txBox="1"/>
          <p:nvPr>
            <p:ph idx="1" type="body"/>
          </p:nvPr>
        </p:nvSpPr>
        <p:spPr>
          <a:xfrm>
            <a:off x="5941394" y="2983008"/>
            <a:ext cx="10290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1" name="Google Shape;1701;p100"/>
          <p:cNvSpPr txBox="1"/>
          <p:nvPr>
            <p:ph idx="1" type="body"/>
          </p:nvPr>
        </p:nvSpPr>
        <p:spPr>
          <a:xfrm>
            <a:off x="6093792" y="3590300"/>
            <a:ext cx="834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2" name="Google Shape;1702;p100"/>
          <p:cNvSpPr txBox="1"/>
          <p:nvPr>
            <p:ph idx="1" type="body"/>
          </p:nvPr>
        </p:nvSpPr>
        <p:spPr>
          <a:xfrm>
            <a:off x="6824317" y="3595423"/>
            <a:ext cx="834900" cy="4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cm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03" name="Google Shape;1703;p100"/>
          <p:cNvCxnSpPr/>
          <p:nvPr/>
        </p:nvCxnSpPr>
        <p:spPr>
          <a:xfrm>
            <a:off x="2441680" y="3656930"/>
            <a:ext cx="0" cy="23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4" name="Google Shape;1704;p100"/>
          <p:cNvCxnSpPr/>
          <p:nvPr/>
        </p:nvCxnSpPr>
        <p:spPr>
          <a:xfrm>
            <a:off x="1180210" y="3024014"/>
            <a:ext cx="230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100"/>
          <p:cNvCxnSpPr/>
          <p:nvPr/>
        </p:nvCxnSpPr>
        <p:spPr>
          <a:xfrm>
            <a:off x="1180210" y="3112389"/>
            <a:ext cx="230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100"/>
          <p:cNvCxnSpPr/>
          <p:nvPr/>
        </p:nvCxnSpPr>
        <p:spPr>
          <a:xfrm>
            <a:off x="3476326" y="3030879"/>
            <a:ext cx="230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100"/>
          <p:cNvCxnSpPr/>
          <p:nvPr/>
        </p:nvCxnSpPr>
        <p:spPr>
          <a:xfrm>
            <a:off x="3476326" y="3119254"/>
            <a:ext cx="230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8" name="Google Shape;1708;p100"/>
          <p:cNvCxnSpPr/>
          <p:nvPr/>
        </p:nvCxnSpPr>
        <p:spPr>
          <a:xfrm>
            <a:off x="2437605" y="2248426"/>
            <a:ext cx="0" cy="23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100"/>
          <p:cNvCxnSpPr/>
          <p:nvPr/>
        </p:nvCxnSpPr>
        <p:spPr>
          <a:xfrm rot="10800000">
            <a:off x="1087200" y="2397033"/>
            <a:ext cx="0" cy="138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10" name="Google Shape;1710;p100"/>
          <p:cNvSpPr txBox="1"/>
          <p:nvPr>
            <p:ph idx="4294967295" type="body"/>
          </p:nvPr>
        </p:nvSpPr>
        <p:spPr>
          <a:xfrm>
            <a:off x="487097" y="2949400"/>
            <a:ext cx="1029000" cy="2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 </a:t>
            </a:r>
            <a:r>
              <a:rPr lang="en-GB" sz="1800"/>
              <a:t>cm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101"/>
          <p:cNvSpPr txBox="1"/>
          <p:nvPr>
            <p:ph type="title"/>
          </p:nvPr>
        </p:nvSpPr>
        <p:spPr>
          <a:xfrm>
            <a:off x="324000" y="748775"/>
            <a:ext cx="8488200" cy="76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lang="en-GB" sz="2000"/>
              <a:t>perimeter</a:t>
            </a:r>
            <a:r>
              <a:rPr lang="en-GB" sz="2000"/>
              <a:t> of each shape is 20 m.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which shapes is the missing length</a:t>
            </a:r>
            <a:r>
              <a:rPr lang="en-GB" sz="2000"/>
              <a:t> </a:t>
            </a:r>
            <a:r>
              <a:rPr lang="en-GB" sz="2000"/>
              <a:t>4 m?</a:t>
            </a:r>
            <a:endParaRPr sz="2000"/>
          </a:p>
        </p:txBody>
      </p:sp>
      <p:sp>
        <p:nvSpPr>
          <p:cNvPr id="1716" name="Google Shape;171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Finding missing lengths when the perimeter is known</a:t>
            </a:r>
            <a:endParaRPr/>
          </a:p>
        </p:txBody>
      </p:sp>
      <p:sp>
        <p:nvSpPr>
          <p:cNvPr id="1717" name="Google Shape;1717;p101"/>
          <p:cNvSpPr/>
          <p:nvPr/>
        </p:nvSpPr>
        <p:spPr>
          <a:xfrm>
            <a:off x="6578348" y="1837727"/>
            <a:ext cx="1860000" cy="1767900"/>
          </a:xfrm>
          <a:prstGeom prst="pentagon">
            <a:avLst>
              <a:gd fmla="val 105146" name="hf"/>
              <a:gd fmla="val 110557" name="vf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8" name="Google Shape;1718;p101"/>
          <p:cNvCxnSpPr/>
          <p:nvPr/>
        </p:nvCxnSpPr>
        <p:spPr>
          <a:xfrm>
            <a:off x="7529173" y="3521274"/>
            <a:ext cx="0" cy="19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9" name="Google Shape;1719;p101"/>
          <p:cNvCxnSpPr/>
          <p:nvPr/>
        </p:nvCxnSpPr>
        <p:spPr>
          <a:xfrm flipH="1">
            <a:off x="6693143" y="3074999"/>
            <a:ext cx="161100" cy="77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101"/>
          <p:cNvCxnSpPr/>
          <p:nvPr/>
        </p:nvCxnSpPr>
        <p:spPr>
          <a:xfrm rot="10800000">
            <a:off x="6927878" y="2148733"/>
            <a:ext cx="86100" cy="12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101"/>
          <p:cNvCxnSpPr/>
          <p:nvPr/>
        </p:nvCxnSpPr>
        <p:spPr>
          <a:xfrm>
            <a:off x="8186227" y="3074998"/>
            <a:ext cx="161100" cy="77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101"/>
          <p:cNvCxnSpPr/>
          <p:nvPr/>
        </p:nvCxnSpPr>
        <p:spPr>
          <a:xfrm flipH="1" rot="10800000">
            <a:off x="8007193" y="2148732"/>
            <a:ext cx="86100" cy="12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3" name="Google Shape;1723;p101"/>
          <p:cNvSpPr txBox="1"/>
          <p:nvPr>
            <p:ph idx="4294967295" type="body"/>
          </p:nvPr>
        </p:nvSpPr>
        <p:spPr>
          <a:xfrm>
            <a:off x="6353552" y="2944539"/>
            <a:ext cx="2823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24" name="Google Shape;1724;p101"/>
          <p:cNvCxnSpPr/>
          <p:nvPr/>
        </p:nvCxnSpPr>
        <p:spPr>
          <a:xfrm>
            <a:off x="6349750" y="2513003"/>
            <a:ext cx="355200" cy="109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5" name="Google Shape;1725;p101"/>
          <p:cNvSpPr/>
          <p:nvPr/>
        </p:nvSpPr>
        <p:spPr>
          <a:xfrm>
            <a:off x="4256550" y="1959000"/>
            <a:ext cx="630900" cy="1668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6" name="Google Shape;1726;p101"/>
          <p:cNvCxnSpPr/>
          <p:nvPr/>
        </p:nvCxnSpPr>
        <p:spPr>
          <a:xfrm>
            <a:off x="4247550" y="3768478"/>
            <a:ext cx="641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7" name="Google Shape;1727;p101"/>
          <p:cNvSpPr txBox="1"/>
          <p:nvPr>
            <p:ph idx="4294967295" type="body"/>
          </p:nvPr>
        </p:nvSpPr>
        <p:spPr>
          <a:xfrm>
            <a:off x="4499609" y="3749157"/>
            <a:ext cx="2823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8" name="Google Shape;1728;p101"/>
          <p:cNvSpPr txBox="1"/>
          <p:nvPr>
            <p:ph type="title"/>
          </p:nvPr>
        </p:nvSpPr>
        <p:spPr>
          <a:xfrm>
            <a:off x="3722627" y="2769775"/>
            <a:ext cx="544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8 m</a:t>
            </a:r>
            <a:endParaRPr sz="1800"/>
          </a:p>
        </p:txBody>
      </p:sp>
      <p:cxnSp>
        <p:nvCxnSpPr>
          <p:cNvPr id="1729" name="Google Shape;1729;p101"/>
          <p:cNvCxnSpPr/>
          <p:nvPr/>
        </p:nvCxnSpPr>
        <p:spPr>
          <a:xfrm>
            <a:off x="4571998" y="3521274"/>
            <a:ext cx="0" cy="19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0" name="Google Shape;1730;p101"/>
          <p:cNvCxnSpPr/>
          <p:nvPr/>
        </p:nvCxnSpPr>
        <p:spPr>
          <a:xfrm>
            <a:off x="4568098" y="1858781"/>
            <a:ext cx="0" cy="19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1" name="Google Shape;1731;p101"/>
          <p:cNvCxnSpPr/>
          <p:nvPr/>
        </p:nvCxnSpPr>
        <p:spPr>
          <a:xfrm>
            <a:off x="4266598" y="2624631"/>
            <a:ext cx="0" cy="19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2" name="Google Shape;1732;p101"/>
          <p:cNvCxnSpPr/>
          <p:nvPr/>
        </p:nvCxnSpPr>
        <p:spPr>
          <a:xfrm>
            <a:off x="4266598" y="2719108"/>
            <a:ext cx="0" cy="19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3" name="Google Shape;1733;p101"/>
          <p:cNvCxnSpPr/>
          <p:nvPr/>
        </p:nvCxnSpPr>
        <p:spPr>
          <a:xfrm>
            <a:off x="4894475" y="2624631"/>
            <a:ext cx="0" cy="19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4" name="Google Shape;1734;p101"/>
          <p:cNvCxnSpPr/>
          <p:nvPr/>
        </p:nvCxnSpPr>
        <p:spPr>
          <a:xfrm>
            <a:off x="4894475" y="2719108"/>
            <a:ext cx="0" cy="194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5" name="Google Shape;1735;p101"/>
          <p:cNvSpPr txBox="1"/>
          <p:nvPr>
            <p:ph type="title"/>
          </p:nvPr>
        </p:nvSpPr>
        <p:spPr>
          <a:xfrm>
            <a:off x="1861836" y="2603614"/>
            <a:ext cx="6411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9</a:t>
            </a:r>
            <a:r>
              <a:rPr lang="en-GB" sz="1800"/>
              <a:t> m</a:t>
            </a:r>
            <a:endParaRPr sz="1800"/>
          </a:p>
        </p:txBody>
      </p:sp>
      <p:sp>
        <p:nvSpPr>
          <p:cNvPr id="1736" name="Google Shape;1736;p101"/>
          <p:cNvSpPr txBox="1"/>
          <p:nvPr>
            <p:ph type="title"/>
          </p:nvPr>
        </p:nvSpPr>
        <p:spPr>
          <a:xfrm>
            <a:off x="1402876" y="3629954"/>
            <a:ext cx="6411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7</a:t>
            </a:r>
            <a:r>
              <a:rPr lang="en-GB" sz="1800"/>
              <a:t> m</a:t>
            </a:r>
            <a:endParaRPr sz="1800"/>
          </a:p>
        </p:txBody>
      </p:sp>
      <p:cxnSp>
        <p:nvCxnSpPr>
          <p:cNvPr id="1737" name="Google Shape;1737;p101"/>
          <p:cNvCxnSpPr/>
          <p:nvPr/>
        </p:nvCxnSpPr>
        <p:spPr>
          <a:xfrm flipH="1">
            <a:off x="649874" y="2276340"/>
            <a:ext cx="313200" cy="1347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8" name="Google Shape;1738;p101"/>
          <p:cNvSpPr txBox="1"/>
          <p:nvPr>
            <p:ph idx="4294967295" type="body"/>
          </p:nvPr>
        </p:nvSpPr>
        <p:spPr>
          <a:xfrm>
            <a:off x="608505" y="2623444"/>
            <a:ext cx="282300" cy="34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9" name="Google Shape;1739;p101"/>
          <p:cNvSpPr/>
          <p:nvPr/>
        </p:nvSpPr>
        <p:spPr>
          <a:xfrm>
            <a:off x="802180" y="2276340"/>
            <a:ext cx="1989300" cy="1347000"/>
          </a:xfrm>
          <a:prstGeom prst="triangle">
            <a:avLst>
              <a:gd fmla="val 15749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0" name="Google Shape;174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1833" y="4177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208" y="41775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02"/>
          <p:cNvSpPr txBox="1"/>
          <p:nvPr>
            <p:ph idx="1" type="body"/>
          </p:nvPr>
        </p:nvSpPr>
        <p:spPr>
          <a:xfrm>
            <a:off x="324000" y="634553"/>
            <a:ext cx="8237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</a:t>
            </a:r>
            <a:r>
              <a:rPr lang="en-GB" sz="1800"/>
              <a:t>perimeter</a:t>
            </a:r>
            <a:r>
              <a:rPr lang="en-GB" sz="1800"/>
              <a:t> of each shape is 24 m. Find the value of each of the unknowns.</a:t>
            </a:r>
            <a:endParaRPr sz="1800"/>
          </a:p>
        </p:txBody>
      </p:sp>
      <p:sp>
        <p:nvSpPr>
          <p:cNvPr id="1747" name="Google Shape;1747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missing lengths when the perimeter is known</a:t>
            </a:r>
            <a:endParaRPr/>
          </a:p>
        </p:txBody>
      </p:sp>
      <p:sp>
        <p:nvSpPr>
          <p:cNvPr id="1748" name="Google Shape;1748;p102"/>
          <p:cNvSpPr/>
          <p:nvPr/>
        </p:nvSpPr>
        <p:spPr>
          <a:xfrm>
            <a:off x="873457" y="1640629"/>
            <a:ext cx="1329000" cy="996900"/>
          </a:xfrm>
          <a:prstGeom prst="trapezoid">
            <a:avLst>
              <a:gd fmla="val 33539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102"/>
          <p:cNvSpPr/>
          <p:nvPr/>
        </p:nvSpPr>
        <p:spPr>
          <a:xfrm flipH="1">
            <a:off x="4060561" y="3517572"/>
            <a:ext cx="1598700" cy="942300"/>
          </a:xfrm>
          <a:prstGeom prst="parallelogram">
            <a:avLst>
              <a:gd fmla="val 105812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02"/>
          <p:cNvSpPr/>
          <p:nvPr/>
        </p:nvSpPr>
        <p:spPr>
          <a:xfrm>
            <a:off x="3829109" y="1637512"/>
            <a:ext cx="1157700" cy="10029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02"/>
          <p:cNvSpPr/>
          <p:nvPr/>
        </p:nvSpPr>
        <p:spPr>
          <a:xfrm flipH="1" rot="-5400000">
            <a:off x="6881162" y="1338627"/>
            <a:ext cx="769800" cy="15084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102"/>
          <p:cNvSpPr txBox="1"/>
          <p:nvPr>
            <p:ph idx="1" type="body"/>
          </p:nvPr>
        </p:nvSpPr>
        <p:spPr>
          <a:xfrm>
            <a:off x="482475" y="1934937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 m</a:t>
            </a:r>
            <a:endParaRPr sz="1600"/>
          </a:p>
        </p:txBody>
      </p:sp>
      <p:sp>
        <p:nvSpPr>
          <p:cNvPr id="1753" name="Google Shape;1753;p102"/>
          <p:cNvSpPr txBox="1"/>
          <p:nvPr>
            <p:ph idx="1" type="body"/>
          </p:nvPr>
        </p:nvSpPr>
        <p:spPr>
          <a:xfrm>
            <a:off x="2203271" y="1947045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 m</a:t>
            </a:r>
            <a:endParaRPr sz="1600"/>
          </a:p>
        </p:txBody>
      </p:sp>
      <p:sp>
        <p:nvSpPr>
          <p:cNvPr id="1754" name="Google Shape;1754;p102"/>
          <p:cNvSpPr txBox="1"/>
          <p:nvPr>
            <p:ph idx="1" type="body"/>
          </p:nvPr>
        </p:nvSpPr>
        <p:spPr>
          <a:xfrm>
            <a:off x="1297884" y="1281291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755" name="Google Shape;1755;p102"/>
          <p:cNvSpPr txBox="1"/>
          <p:nvPr>
            <p:ph idx="1" type="body"/>
          </p:nvPr>
        </p:nvSpPr>
        <p:spPr>
          <a:xfrm flipH="1">
            <a:off x="6960949" y="1502586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m</a:t>
            </a:r>
            <a:endParaRPr sz="1600"/>
          </a:p>
        </p:txBody>
      </p:sp>
      <p:sp>
        <p:nvSpPr>
          <p:cNvPr id="1756" name="Google Shape;1756;p102"/>
          <p:cNvSpPr/>
          <p:nvPr/>
        </p:nvSpPr>
        <p:spPr>
          <a:xfrm rot="9279544">
            <a:off x="578032" y="3926025"/>
            <a:ext cx="2028487" cy="484166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7" name="Google Shape;1757;p102"/>
          <p:cNvCxnSpPr/>
          <p:nvPr/>
        </p:nvCxnSpPr>
        <p:spPr>
          <a:xfrm>
            <a:off x="4407992" y="2573178"/>
            <a:ext cx="0" cy="1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8" name="Google Shape;1758;p102"/>
          <p:cNvCxnSpPr/>
          <p:nvPr/>
        </p:nvCxnSpPr>
        <p:spPr>
          <a:xfrm>
            <a:off x="4407992" y="1570643"/>
            <a:ext cx="0" cy="1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9" name="Google Shape;1759;p102"/>
          <p:cNvCxnSpPr/>
          <p:nvPr/>
        </p:nvCxnSpPr>
        <p:spPr>
          <a:xfrm flipH="1">
            <a:off x="4799529" y="1820461"/>
            <a:ext cx="107700" cy="7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102"/>
          <p:cNvCxnSpPr/>
          <p:nvPr/>
        </p:nvCxnSpPr>
        <p:spPr>
          <a:xfrm flipH="1">
            <a:off x="3888869" y="2351810"/>
            <a:ext cx="107700" cy="7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1" name="Google Shape;1761;p102"/>
          <p:cNvCxnSpPr/>
          <p:nvPr/>
        </p:nvCxnSpPr>
        <p:spPr>
          <a:xfrm rot="10800000">
            <a:off x="3891893" y="1876835"/>
            <a:ext cx="101700" cy="5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102"/>
          <p:cNvCxnSpPr/>
          <p:nvPr/>
        </p:nvCxnSpPr>
        <p:spPr>
          <a:xfrm rot="10800000">
            <a:off x="4822483" y="2342802"/>
            <a:ext cx="101700" cy="5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3" name="Google Shape;1763;p102"/>
          <p:cNvCxnSpPr/>
          <p:nvPr/>
        </p:nvCxnSpPr>
        <p:spPr>
          <a:xfrm>
            <a:off x="7294565" y="1840841"/>
            <a:ext cx="26700" cy="9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102"/>
          <p:cNvCxnSpPr/>
          <p:nvPr/>
        </p:nvCxnSpPr>
        <p:spPr>
          <a:xfrm flipH="1">
            <a:off x="7280191" y="2243550"/>
            <a:ext cx="26700" cy="9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102"/>
          <p:cNvCxnSpPr/>
          <p:nvPr/>
        </p:nvCxnSpPr>
        <p:spPr>
          <a:xfrm>
            <a:off x="4436397" y="3439115"/>
            <a:ext cx="0" cy="1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102"/>
          <p:cNvCxnSpPr/>
          <p:nvPr/>
        </p:nvCxnSpPr>
        <p:spPr>
          <a:xfrm>
            <a:off x="5301344" y="4388002"/>
            <a:ext cx="0" cy="1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7" name="Google Shape;1767;p102"/>
          <p:cNvCxnSpPr/>
          <p:nvPr/>
        </p:nvCxnSpPr>
        <p:spPr>
          <a:xfrm flipH="1">
            <a:off x="4990108" y="3826899"/>
            <a:ext cx="65100" cy="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102"/>
          <p:cNvCxnSpPr/>
          <p:nvPr/>
        </p:nvCxnSpPr>
        <p:spPr>
          <a:xfrm flipH="1">
            <a:off x="5018774" y="3854455"/>
            <a:ext cx="65100" cy="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9" name="Google Shape;1769;p102"/>
          <p:cNvCxnSpPr/>
          <p:nvPr/>
        </p:nvCxnSpPr>
        <p:spPr>
          <a:xfrm flipH="1">
            <a:off x="4594269" y="4026731"/>
            <a:ext cx="65100" cy="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102"/>
          <p:cNvCxnSpPr/>
          <p:nvPr/>
        </p:nvCxnSpPr>
        <p:spPr>
          <a:xfrm flipH="1">
            <a:off x="4622935" y="4054286"/>
            <a:ext cx="65100" cy="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1" name="Google Shape;1771;p102"/>
          <p:cNvCxnSpPr/>
          <p:nvPr/>
        </p:nvCxnSpPr>
        <p:spPr>
          <a:xfrm>
            <a:off x="1930845" y="4020072"/>
            <a:ext cx="9210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2" name="Google Shape;1772;p102"/>
          <p:cNvCxnSpPr/>
          <p:nvPr/>
        </p:nvCxnSpPr>
        <p:spPr>
          <a:xfrm flipH="1">
            <a:off x="1231337" y="4326939"/>
            <a:ext cx="4500" cy="113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3" name="Google Shape;1773;p102"/>
          <p:cNvCxnSpPr/>
          <p:nvPr/>
        </p:nvCxnSpPr>
        <p:spPr>
          <a:xfrm>
            <a:off x="841533" y="2751057"/>
            <a:ext cx="136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4" name="Google Shape;1774;p102"/>
          <p:cNvSpPr txBox="1"/>
          <p:nvPr>
            <p:ph idx="1" type="body"/>
          </p:nvPr>
        </p:nvSpPr>
        <p:spPr>
          <a:xfrm>
            <a:off x="1326681" y="2694519"/>
            <a:ext cx="5421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75" name="Google Shape;1775;p102"/>
          <p:cNvCxnSpPr/>
          <p:nvPr/>
        </p:nvCxnSpPr>
        <p:spPr>
          <a:xfrm>
            <a:off x="4879788" y="1601436"/>
            <a:ext cx="260100" cy="49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6" name="Google Shape;1776;p102"/>
          <p:cNvSpPr txBox="1"/>
          <p:nvPr>
            <p:ph idx="1" type="body"/>
          </p:nvPr>
        </p:nvSpPr>
        <p:spPr>
          <a:xfrm>
            <a:off x="5061103" y="1589800"/>
            <a:ext cx="4884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77" name="Google Shape;1777;p102"/>
          <p:cNvCxnSpPr/>
          <p:nvPr/>
        </p:nvCxnSpPr>
        <p:spPr>
          <a:xfrm>
            <a:off x="8146462" y="1707927"/>
            <a:ext cx="0" cy="769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8" name="Google Shape;1778;p102"/>
          <p:cNvSpPr txBox="1"/>
          <p:nvPr>
            <p:ph idx="1" type="body"/>
          </p:nvPr>
        </p:nvSpPr>
        <p:spPr>
          <a:xfrm flipH="1">
            <a:off x="8167377" y="1916037"/>
            <a:ext cx="4626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79" name="Google Shape;1779;p102"/>
          <p:cNvCxnSpPr/>
          <p:nvPr/>
        </p:nvCxnSpPr>
        <p:spPr>
          <a:xfrm rot="10800000">
            <a:off x="553801" y="4505430"/>
            <a:ext cx="1155000" cy="1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0" name="Google Shape;1780;p102"/>
          <p:cNvSpPr txBox="1"/>
          <p:nvPr>
            <p:ph idx="1" type="body"/>
          </p:nvPr>
        </p:nvSpPr>
        <p:spPr>
          <a:xfrm>
            <a:off x="910340" y="4480656"/>
            <a:ext cx="517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81" name="Google Shape;1781;p102"/>
          <p:cNvCxnSpPr/>
          <p:nvPr/>
        </p:nvCxnSpPr>
        <p:spPr>
          <a:xfrm rot="10800000">
            <a:off x="4003063" y="4469723"/>
            <a:ext cx="1035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2" name="Google Shape;1782;p102"/>
          <p:cNvCxnSpPr/>
          <p:nvPr/>
        </p:nvCxnSpPr>
        <p:spPr>
          <a:xfrm>
            <a:off x="4014137" y="4310331"/>
            <a:ext cx="157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3" name="Google Shape;1783;p102"/>
          <p:cNvCxnSpPr/>
          <p:nvPr/>
        </p:nvCxnSpPr>
        <p:spPr>
          <a:xfrm rot="10800000">
            <a:off x="4163927" y="4306129"/>
            <a:ext cx="0" cy="1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4" name="Google Shape;1784;p102"/>
          <p:cNvCxnSpPr/>
          <p:nvPr/>
        </p:nvCxnSpPr>
        <p:spPr>
          <a:xfrm>
            <a:off x="4014136" y="3521995"/>
            <a:ext cx="0" cy="93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5" name="Google Shape;1785;p102"/>
          <p:cNvCxnSpPr/>
          <p:nvPr/>
        </p:nvCxnSpPr>
        <p:spPr>
          <a:xfrm rot="10800000">
            <a:off x="4014131" y="3400339"/>
            <a:ext cx="65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86" name="Google Shape;1786;p102"/>
          <p:cNvSpPr txBox="1"/>
          <p:nvPr>
            <p:ph idx="1" type="body"/>
          </p:nvPr>
        </p:nvSpPr>
        <p:spPr>
          <a:xfrm>
            <a:off x="928012" y="3592914"/>
            <a:ext cx="5880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1787" name="Google Shape;1787;p102"/>
          <p:cNvSpPr txBox="1"/>
          <p:nvPr>
            <p:ph idx="1" type="body"/>
          </p:nvPr>
        </p:nvSpPr>
        <p:spPr>
          <a:xfrm>
            <a:off x="5305664" y="3721188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1788" name="Google Shape;1788;p102"/>
          <p:cNvSpPr txBox="1"/>
          <p:nvPr>
            <p:ph idx="1" type="body"/>
          </p:nvPr>
        </p:nvSpPr>
        <p:spPr>
          <a:xfrm>
            <a:off x="3575028" y="3899511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sp>
        <p:nvSpPr>
          <p:cNvPr id="1789" name="Google Shape;1789;p102"/>
          <p:cNvSpPr txBox="1"/>
          <p:nvPr>
            <p:ph idx="1" type="body"/>
          </p:nvPr>
        </p:nvSpPr>
        <p:spPr>
          <a:xfrm>
            <a:off x="337475" y="1333479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790" name="Google Shape;1790;p102"/>
          <p:cNvSpPr txBox="1"/>
          <p:nvPr>
            <p:ph idx="1" type="body"/>
          </p:nvPr>
        </p:nvSpPr>
        <p:spPr>
          <a:xfrm>
            <a:off x="3453361" y="1333479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791" name="Google Shape;1791;p102"/>
          <p:cNvSpPr txBox="1"/>
          <p:nvPr>
            <p:ph idx="1" type="body"/>
          </p:nvPr>
        </p:nvSpPr>
        <p:spPr>
          <a:xfrm>
            <a:off x="6264447" y="1333479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792" name="Google Shape;1792;p102"/>
          <p:cNvSpPr txBox="1"/>
          <p:nvPr>
            <p:ph idx="1" type="body"/>
          </p:nvPr>
        </p:nvSpPr>
        <p:spPr>
          <a:xfrm>
            <a:off x="337475" y="3189898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1793" name="Google Shape;1793;p102"/>
          <p:cNvSpPr txBox="1"/>
          <p:nvPr>
            <p:ph idx="1" type="body"/>
          </p:nvPr>
        </p:nvSpPr>
        <p:spPr>
          <a:xfrm>
            <a:off x="3453361" y="3189898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</a:t>
            </a:r>
            <a:endParaRPr sz="1800"/>
          </a:p>
        </p:txBody>
      </p:sp>
      <p:sp>
        <p:nvSpPr>
          <p:cNvPr id="1794" name="Google Shape;1794;p102"/>
          <p:cNvSpPr txBox="1"/>
          <p:nvPr>
            <p:ph idx="1" type="body"/>
          </p:nvPr>
        </p:nvSpPr>
        <p:spPr>
          <a:xfrm>
            <a:off x="2516994" y="2664091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795" name="Google Shape;1795;p102"/>
          <p:cNvCxnSpPr/>
          <p:nvPr/>
        </p:nvCxnSpPr>
        <p:spPr>
          <a:xfrm>
            <a:off x="2899743" y="2924804"/>
            <a:ext cx="462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6" name="Google Shape;1796;p102"/>
          <p:cNvSpPr txBox="1"/>
          <p:nvPr>
            <p:ph idx="1" type="body"/>
          </p:nvPr>
        </p:nvSpPr>
        <p:spPr>
          <a:xfrm>
            <a:off x="5107794" y="2664091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</a:t>
            </a:r>
            <a:endParaRPr sz="2000"/>
          </a:p>
        </p:txBody>
      </p:sp>
      <p:cxnSp>
        <p:nvCxnSpPr>
          <p:cNvPr id="1797" name="Google Shape;1797;p102"/>
          <p:cNvCxnSpPr/>
          <p:nvPr/>
        </p:nvCxnSpPr>
        <p:spPr>
          <a:xfrm>
            <a:off x="5490543" y="2924804"/>
            <a:ext cx="462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8" name="Google Shape;1798;p102"/>
          <p:cNvSpPr txBox="1"/>
          <p:nvPr>
            <p:ph idx="1" type="body"/>
          </p:nvPr>
        </p:nvSpPr>
        <p:spPr>
          <a:xfrm>
            <a:off x="7774794" y="2664091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</a:t>
            </a:r>
            <a:endParaRPr sz="2000"/>
          </a:p>
        </p:txBody>
      </p:sp>
      <p:cxnSp>
        <p:nvCxnSpPr>
          <p:cNvPr id="1799" name="Google Shape;1799;p102"/>
          <p:cNvCxnSpPr/>
          <p:nvPr/>
        </p:nvCxnSpPr>
        <p:spPr>
          <a:xfrm>
            <a:off x="8157543" y="2924804"/>
            <a:ext cx="462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0" name="Google Shape;1800;p102"/>
          <p:cNvSpPr txBox="1"/>
          <p:nvPr>
            <p:ph idx="1" type="body"/>
          </p:nvPr>
        </p:nvSpPr>
        <p:spPr>
          <a:xfrm>
            <a:off x="1754994" y="4533713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</a:t>
            </a:r>
            <a:endParaRPr sz="2000"/>
          </a:p>
        </p:txBody>
      </p:sp>
      <p:cxnSp>
        <p:nvCxnSpPr>
          <p:cNvPr id="1801" name="Google Shape;1801;p102"/>
          <p:cNvCxnSpPr/>
          <p:nvPr/>
        </p:nvCxnSpPr>
        <p:spPr>
          <a:xfrm>
            <a:off x="2137743" y="4794425"/>
            <a:ext cx="462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2" name="Google Shape;1802;p102"/>
          <p:cNvSpPr txBox="1"/>
          <p:nvPr>
            <p:ph idx="1" type="body"/>
          </p:nvPr>
        </p:nvSpPr>
        <p:spPr>
          <a:xfrm>
            <a:off x="4802994" y="4533713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</a:t>
            </a:r>
            <a:endParaRPr sz="2000"/>
          </a:p>
        </p:txBody>
      </p:sp>
      <p:cxnSp>
        <p:nvCxnSpPr>
          <p:cNvPr id="1803" name="Google Shape;1803;p102"/>
          <p:cNvCxnSpPr/>
          <p:nvPr/>
        </p:nvCxnSpPr>
        <p:spPr>
          <a:xfrm>
            <a:off x="5185743" y="4794425"/>
            <a:ext cx="462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4" name="Google Shape;1804;p102"/>
          <p:cNvSpPr txBox="1"/>
          <p:nvPr>
            <p:ph idx="1" type="body"/>
          </p:nvPr>
        </p:nvSpPr>
        <p:spPr>
          <a:xfrm>
            <a:off x="7546194" y="4533713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</a:t>
            </a:r>
            <a:endParaRPr sz="2000"/>
          </a:p>
        </p:txBody>
      </p:sp>
      <p:cxnSp>
        <p:nvCxnSpPr>
          <p:cNvPr id="1805" name="Google Shape;1805;p102"/>
          <p:cNvCxnSpPr/>
          <p:nvPr/>
        </p:nvCxnSpPr>
        <p:spPr>
          <a:xfrm>
            <a:off x="7852743" y="4794425"/>
            <a:ext cx="462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6" name="Google Shape;1806;p102"/>
          <p:cNvSpPr/>
          <p:nvPr/>
        </p:nvSpPr>
        <p:spPr>
          <a:xfrm flipH="1" rot="5400000">
            <a:off x="7140600" y="3280532"/>
            <a:ext cx="913800" cy="1555500"/>
          </a:xfrm>
          <a:prstGeom prst="corner">
            <a:avLst>
              <a:gd fmla="val 38452" name="adj1"/>
              <a:gd fmla="val 53479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102"/>
          <p:cNvSpPr txBox="1"/>
          <p:nvPr>
            <p:ph idx="1" type="body"/>
          </p:nvPr>
        </p:nvSpPr>
        <p:spPr>
          <a:xfrm>
            <a:off x="7548055" y="3721473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sp>
        <p:nvSpPr>
          <p:cNvPr id="1808" name="Google Shape;1808;p102"/>
          <p:cNvSpPr txBox="1"/>
          <p:nvPr>
            <p:ph idx="1" type="body"/>
          </p:nvPr>
        </p:nvSpPr>
        <p:spPr>
          <a:xfrm>
            <a:off x="6297856" y="3949961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cxnSp>
        <p:nvCxnSpPr>
          <p:cNvPr id="1809" name="Google Shape;1809;p102"/>
          <p:cNvCxnSpPr/>
          <p:nvPr/>
        </p:nvCxnSpPr>
        <p:spPr>
          <a:xfrm rot="10800000">
            <a:off x="6806800" y="3507491"/>
            <a:ext cx="37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0" name="Google Shape;1810;p102"/>
          <p:cNvSpPr txBox="1"/>
          <p:nvPr>
            <p:ph idx="1" type="body"/>
          </p:nvPr>
        </p:nvSpPr>
        <p:spPr>
          <a:xfrm>
            <a:off x="6849662" y="3177656"/>
            <a:ext cx="5421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1" name="Google Shape;1811;p102"/>
          <p:cNvSpPr txBox="1"/>
          <p:nvPr>
            <p:ph idx="1" type="body"/>
          </p:nvPr>
        </p:nvSpPr>
        <p:spPr>
          <a:xfrm>
            <a:off x="6264447" y="3189898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f)</a:t>
            </a:r>
            <a:endParaRPr sz="1800"/>
          </a:p>
        </p:txBody>
      </p:sp>
      <p:cxnSp>
        <p:nvCxnSpPr>
          <p:cNvPr id="1812" name="Google Shape;1812;p102"/>
          <p:cNvCxnSpPr/>
          <p:nvPr/>
        </p:nvCxnSpPr>
        <p:spPr>
          <a:xfrm>
            <a:off x="1206775" y="1538812"/>
            <a:ext cx="66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3" name="Google Shape;1813;p102"/>
          <p:cNvCxnSpPr/>
          <p:nvPr/>
        </p:nvCxnSpPr>
        <p:spPr>
          <a:xfrm flipH="1" rot="10800000">
            <a:off x="747627" y="1633070"/>
            <a:ext cx="327000" cy="9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4" name="Google Shape;1814;p102"/>
          <p:cNvCxnSpPr/>
          <p:nvPr/>
        </p:nvCxnSpPr>
        <p:spPr>
          <a:xfrm rot="10800000">
            <a:off x="2016825" y="1645314"/>
            <a:ext cx="323100" cy="97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5" name="Google Shape;1815;p102"/>
          <p:cNvCxnSpPr/>
          <p:nvPr/>
        </p:nvCxnSpPr>
        <p:spPr>
          <a:xfrm flipH="1">
            <a:off x="6487646" y="1563599"/>
            <a:ext cx="1508400" cy="38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6" name="Google Shape;1816;p102"/>
          <p:cNvCxnSpPr/>
          <p:nvPr/>
        </p:nvCxnSpPr>
        <p:spPr>
          <a:xfrm flipH="1">
            <a:off x="488464" y="3377232"/>
            <a:ext cx="1833300" cy="86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7" name="Google Shape;1817;p102"/>
          <p:cNvCxnSpPr/>
          <p:nvPr/>
        </p:nvCxnSpPr>
        <p:spPr>
          <a:xfrm>
            <a:off x="4836290" y="3477843"/>
            <a:ext cx="1000800" cy="93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8" name="Google Shape;1818;p102"/>
          <p:cNvCxnSpPr/>
          <p:nvPr/>
        </p:nvCxnSpPr>
        <p:spPr>
          <a:xfrm flipH="1">
            <a:off x="6696588" y="3605435"/>
            <a:ext cx="6000" cy="91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9" name="Google Shape;1819;p102"/>
          <p:cNvCxnSpPr/>
          <p:nvPr/>
        </p:nvCxnSpPr>
        <p:spPr>
          <a:xfrm>
            <a:off x="7187594" y="3946532"/>
            <a:ext cx="120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0" name="Google Shape;1820;p102"/>
          <p:cNvSpPr txBox="1"/>
          <p:nvPr>
            <p:ph idx="1" type="body"/>
          </p:nvPr>
        </p:nvSpPr>
        <p:spPr>
          <a:xfrm>
            <a:off x="4106148" y="3109036"/>
            <a:ext cx="5880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Finding missing lengths when the perimeter is known</a:t>
            </a:r>
            <a:endParaRPr/>
          </a:p>
        </p:txBody>
      </p:sp>
      <p:sp>
        <p:nvSpPr>
          <p:cNvPr id="1826" name="Google Shape;1826;p103"/>
          <p:cNvSpPr/>
          <p:nvPr/>
        </p:nvSpPr>
        <p:spPr>
          <a:xfrm>
            <a:off x="873457" y="1640629"/>
            <a:ext cx="1329000" cy="996900"/>
          </a:xfrm>
          <a:prstGeom prst="trapezoid">
            <a:avLst>
              <a:gd fmla="val 33539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103"/>
          <p:cNvSpPr/>
          <p:nvPr/>
        </p:nvSpPr>
        <p:spPr>
          <a:xfrm flipH="1">
            <a:off x="4060561" y="3517572"/>
            <a:ext cx="1598700" cy="942300"/>
          </a:xfrm>
          <a:prstGeom prst="parallelogram">
            <a:avLst>
              <a:gd fmla="val 105812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103"/>
          <p:cNvSpPr/>
          <p:nvPr/>
        </p:nvSpPr>
        <p:spPr>
          <a:xfrm>
            <a:off x="3829109" y="1637512"/>
            <a:ext cx="1157700" cy="1002900"/>
          </a:xfrm>
          <a:prstGeom prst="hexagon">
            <a:avLst>
              <a:gd fmla="val 25000" name="adj"/>
              <a:gd fmla="val 115470" name="vf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103"/>
          <p:cNvSpPr/>
          <p:nvPr/>
        </p:nvSpPr>
        <p:spPr>
          <a:xfrm flipH="1" rot="-5400000">
            <a:off x="6881162" y="1338627"/>
            <a:ext cx="769800" cy="15084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103"/>
          <p:cNvSpPr txBox="1"/>
          <p:nvPr>
            <p:ph idx="1" type="body"/>
          </p:nvPr>
        </p:nvSpPr>
        <p:spPr>
          <a:xfrm>
            <a:off x="482475" y="1934937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 m</a:t>
            </a:r>
            <a:endParaRPr sz="1600"/>
          </a:p>
        </p:txBody>
      </p:sp>
      <p:sp>
        <p:nvSpPr>
          <p:cNvPr id="1831" name="Google Shape;1831;p103"/>
          <p:cNvSpPr txBox="1"/>
          <p:nvPr>
            <p:ph idx="1" type="body"/>
          </p:nvPr>
        </p:nvSpPr>
        <p:spPr>
          <a:xfrm>
            <a:off x="2203271" y="1947045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 m</a:t>
            </a:r>
            <a:endParaRPr sz="1600"/>
          </a:p>
        </p:txBody>
      </p:sp>
      <p:sp>
        <p:nvSpPr>
          <p:cNvPr id="1832" name="Google Shape;1832;p103"/>
          <p:cNvSpPr txBox="1"/>
          <p:nvPr>
            <p:ph idx="1" type="body"/>
          </p:nvPr>
        </p:nvSpPr>
        <p:spPr>
          <a:xfrm>
            <a:off x="1297884" y="1281291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1833" name="Google Shape;1833;p103"/>
          <p:cNvSpPr txBox="1"/>
          <p:nvPr>
            <p:ph idx="1" type="body"/>
          </p:nvPr>
        </p:nvSpPr>
        <p:spPr>
          <a:xfrm flipH="1">
            <a:off x="6960949" y="1502586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m</a:t>
            </a:r>
            <a:endParaRPr sz="1600"/>
          </a:p>
        </p:txBody>
      </p:sp>
      <p:sp>
        <p:nvSpPr>
          <p:cNvPr id="1834" name="Google Shape;1834;p103"/>
          <p:cNvSpPr/>
          <p:nvPr/>
        </p:nvSpPr>
        <p:spPr>
          <a:xfrm rot="9279544">
            <a:off x="578032" y="3926025"/>
            <a:ext cx="2028487" cy="484166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5" name="Google Shape;1835;p103"/>
          <p:cNvCxnSpPr/>
          <p:nvPr/>
        </p:nvCxnSpPr>
        <p:spPr>
          <a:xfrm>
            <a:off x="4407992" y="2573178"/>
            <a:ext cx="0" cy="1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6" name="Google Shape;1836;p103"/>
          <p:cNvCxnSpPr/>
          <p:nvPr/>
        </p:nvCxnSpPr>
        <p:spPr>
          <a:xfrm>
            <a:off x="4407992" y="1570643"/>
            <a:ext cx="0" cy="1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103"/>
          <p:cNvCxnSpPr/>
          <p:nvPr/>
        </p:nvCxnSpPr>
        <p:spPr>
          <a:xfrm flipH="1">
            <a:off x="4799529" y="1820461"/>
            <a:ext cx="107700" cy="7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103"/>
          <p:cNvCxnSpPr/>
          <p:nvPr/>
        </p:nvCxnSpPr>
        <p:spPr>
          <a:xfrm flipH="1">
            <a:off x="3888869" y="2351810"/>
            <a:ext cx="107700" cy="7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9" name="Google Shape;1839;p103"/>
          <p:cNvCxnSpPr/>
          <p:nvPr/>
        </p:nvCxnSpPr>
        <p:spPr>
          <a:xfrm rot="10800000">
            <a:off x="3891893" y="1876835"/>
            <a:ext cx="101700" cy="5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0" name="Google Shape;1840;p103"/>
          <p:cNvCxnSpPr/>
          <p:nvPr/>
        </p:nvCxnSpPr>
        <p:spPr>
          <a:xfrm rot="10800000">
            <a:off x="4822483" y="2342802"/>
            <a:ext cx="101700" cy="58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103"/>
          <p:cNvCxnSpPr/>
          <p:nvPr/>
        </p:nvCxnSpPr>
        <p:spPr>
          <a:xfrm>
            <a:off x="7294565" y="1840841"/>
            <a:ext cx="26700" cy="9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2" name="Google Shape;1842;p103"/>
          <p:cNvCxnSpPr/>
          <p:nvPr/>
        </p:nvCxnSpPr>
        <p:spPr>
          <a:xfrm flipH="1">
            <a:off x="7280191" y="2243550"/>
            <a:ext cx="26700" cy="99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103"/>
          <p:cNvCxnSpPr/>
          <p:nvPr/>
        </p:nvCxnSpPr>
        <p:spPr>
          <a:xfrm>
            <a:off x="4436397" y="3439115"/>
            <a:ext cx="0" cy="1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4" name="Google Shape;1844;p103"/>
          <p:cNvCxnSpPr/>
          <p:nvPr/>
        </p:nvCxnSpPr>
        <p:spPr>
          <a:xfrm>
            <a:off x="5301344" y="4388002"/>
            <a:ext cx="0" cy="15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5" name="Google Shape;1845;p103"/>
          <p:cNvCxnSpPr/>
          <p:nvPr/>
        </p:nvCxnSpPr>
        <p:spPr>
          <a:xfrm flipH="1">
            <a:off x="4990108" y="3826899"/>
            <a:ext cx="65100" cy="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6" name="Google Shape;1846;p103"/>
          <p:cNvCxnSpPr/>
          <p:nvPr/>
        </p:nvCxnSpPr>
        <p:spPr>
          <a:xfrm flipH="1">
            <a:off x="5018774" y="3854455"/>
            <a:ext cx="65100" cy="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7" name="Google Shape;1847;p103"/>
          <p:cNvCxnSpPr/>
          <p:nvPr/>
        </p:nvCxnSpPr>
        <p:spPr>
          <a:xfrm flipH="1">
            <a:off x="4594269" y="4026731"/>
            <a:ext cx="65100" cy="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103"/>
          <p:cNvCxnSpPr/>
          <p:nvPr/>
        </p:nvCxnSpPr>
        <p:spPr>
          <a:xfrm flipH="1">
            <a:off x="4622935" y="4054286"/>
            <a:ext cx="65100" cy="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9" name="Google Shape;1849;p103"/>
          <p:cNvCxnSpPr/>
          <p:nvPr/>
        </p:nvCxnSpPr>
        <p:spPr>
          <a:xfrm>
            <a:off x="1930845" y="4020072"/>
            <a:ext cx="92100" cy="6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0" name="Google Shape;1850;p103"/>
          <p:cNvCxnSpPr/>
          <p:nvPr/>
        </p:nvCxnSpPr>
        <p:spPr>
          <a:xfrm flipH="1">
            <a:off x="1231337" y="4326939"/>
            <a:ext cx="4500" cy="113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1" name="Google Shape;1851;p103"/>
          <p:cNvCxnSpPr/>
          <p:nvPr/>
        </p:nvCxnSpPr>
        <p:spPr>
          <a:xfrm>
            <a:off x="841533" y="2751057"/>
            <a:ext cx="1361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2" name="Google Shape;1852;p103"/>
          <p:cNvSpPr txBox="1"/>
          <p:nvPr>
            <p:ph idx="1" type="body"/>
          </p:nvPr>
        </p:nvSpPr>
        <p:spPr>
          <a:xfrm>
            <a:off x="1326681" y="2694519"/>
            <a:ext cx="5421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53" name="Google Shape;1853;p103"/>
          <p:cNvCxnSpPr/>
          <p:nvPr/>
        </p:nvCxnSpPr>
        <p:spPr>
          <a:xfrm>
            <a:off x="4879788" y="1601436"/>
            <a:ext cx="260100" cy="49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4" name="Google Shape;1854;p103"/>
          <p:cNvSpPr txBox="1"/>
          <p:nvPr>
            <p:ph idx="1" type="body"/>
          </p:nvPr>
        </p:nvSpPr>
        <p:spPr>
          <a:xfrm>
            <a:off x="5061103" y="1589800"/>
            <a:ext cx="4884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55" name="Google Shape;1855;p103"/>
          <p:cNvCxnSpPr/>
          <p:nvPr/>
        </p:nvCxnSpPr>
        <p:spPr>
          <a:xfrm>
            <a:off x="8146462" y="1707927"/>
            <a:ext cx="0" cy="769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6" name="Google Shape;1856;p103"/>
          <p:cNvSpPr txBox="1"/>
          <p:nvPr>
            <p:ph idx="1" type="body"/>
          </p:nvPr>
        </p:nvSpPr>
        <p:spPr>
          <a:xfrm flipH="1">
            <a:off x="8167377" y="1916037"/>
            <a:ext cx="4626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57" name="Google Shape;1857;p103"/>
          <p:cNvCxnSpPr/>
          <p:nvPr/>
        </p:nvCxnSpPr>
        <p:spPr>
          <a:xfrm rot="10800000">
            <a:off x="553801" y="4505430"/>
            <a:ext cx="1155000" cy="1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8" name="Google Shape;1858;p103"/>
          <p:cNvSpPr txBox="1"/>
          <p:nvPr>
            <p:ph idx="1" type="body"/>
          </p:nvPr>
        </p:nvSpPr>
        <p:spPr>
          <a:xfrm>
            <a:off x="910340" y="4480656"/>
            <a:ext cx="517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59" name="Google Shape;1859;p103"/>
          <p:cNvCxnSpPr/>
          <p:nvPr/>
        </p:nvCxnSpPr>
        <p:spPr>
          <a:xfrm rot="10800000">
            <a:off x="4003063" y="4469723"/>
            <a:ext cx="1035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60" name="Google Shape;1860;p103"/>
          <p:cNvCxnSpPr/>
          <p:nvPr/>
        </p:nvCxnSpPr>
        <p:spPr>
          <a:xfrm>
            <a:off x="4014137" y="4310331"/>
            <a:ext cx="157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1" name="Google Shape;1861;p103"/>
          <p:cNvCxnSpPr/>
          <p:nvPr/>
        </p:nvCxnSpPr>
        <p:spPr>
          <a:xfrm rot="10800000">
            <a:off x="4163927" y="4306129"/>
            <a:ext cx="0" cy="15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2" name="Google Shape;1862;p103"/>
          <p:cNvCxnSpPr/>
          <p:nvPr/>
        </p:nvCxnSpPr>
        <p:spPr>
          <a:xfrm>
            <a:off x="4014136" y="3521995"/>
            <a:ext cx="0" cy="93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3" name="Google Shape;1863;p103"/>
          <p:cNvCxnSpPr/>
          <p:nvPr/>
        </p:nvCxnSpPr>
        <p:spPr>
          <a:xfrm rot="10800000">
            <a:off x="4014131" y="3400339"/>
            <a:ext cx="656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4" name="Google Shape;1864;p103"/>
          <p:cNvSpPr txBox="1"/>
          <p:nvPr>
            <p:ph idx="1" type="body"/>
          </p:nvPr>
        </p:nvSpPr>
        <p:spPr>
          <a:xfrm>
            <a:off x="4106148" y="3109036"/>
            <a:ext cx="5880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5" name="Google Shape;1865;p103"/>
          <p:cNvSpPr txBox="1"/>
          <p:nvPr>
            <p:ph idx="1" type="body"/>
          </p:nvPr>
        </p:nvSpPr>
        <p:spPr>
          <a:xfrm>
            <a:off x="928012" y="3592914"/>
            <a:ext cx="5880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1866" name="Google Shape;1866;p103"/>
          <p:cNvSpPr txBox="1"/>
          <p:nvPr>
            <p:ph idx="1" type="body"/>
          </p:nvPr>
        </p:nvSpPr>
        <p:spPr>
          <a:xfrm>
            <a:off x="5305664" y="3721188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1867" name="Google Shape;1867;p103"/>
          <p:cNvSpPr txBox="1"/>
          <p:nvPr>
            <p:ph idx="1" type="body"/>
          </p:nvPr>
        </p:nvSpPr>
        <p:spPr>
          <a:xfrm>
            <a:off x="3575028" y="3899511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sp>
        <p:nvSpPr>
          <p:cNvPr id="1868" name="Google Shape;1868;p103"/>
          <p:cNvSpPr txBox="1"/>
          <p:nvPr>
            <p:ph idx="1" type="body"/>
          </p:nvPr>
        </p:nvSpPr>
        <p:spPr>
          <a:xfrm>
            <a:off x="337475" y="1333479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869" name="Google Shape;1869;p103"/>
          <p:cNvSpPr txBox="1"/>
          <p:nvPr>
            <p:ph idx="1" type="body"/>
          </p:nvPr>
        </p:nvSpPr>
        <p:spPr>
          <a:xfrm>
            <a:off x="3453361" y="1333479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870" name="Google Shape;1870;p103"/>
          <p:cNvSpPr txBox="1"/>
          <p:nvPr>
            <p:ph idx="1" type="body"/>
          </p:nvPr>
        </p:nvSpPr>
        <p:spPr>
          <a:xfrm>
            <a:off x="6264447" y="1333479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871" name="Google Shape;1871;p103"/>
          <p:cNvSpPr txBox="1"/>
          <p:nvPr>
            <p:ph idx="1" type="body"/>
          </p:nvPr>
        </p:nvSpPr>
        <p:spPr>
          <a:xfrm>
            <a:off x="337475" y="3189898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1872" name="Google Shape;1872;p103"/>
          <p:cNvSpPr txBox="1"/>
          <p:nvPr>
            <p:ph idx="1" type="body"/>
          </p:nvPr>
        </p:nvSpPr>
        <p:spPr>
          <a:xfrm>
            <a:off x="3453361" y="3189898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</a:t>
            </a:r>
            <a:endParaRPr sz="1800"/>
          </a:p>
        </p:txBody>
      </p:sp>
      <p:sp>
        <p:nvSpPr>
          <p:cNvPr id="1873" name="Google Shape;1873;p103"/>
          <p:cNvSpPr txBox="1"/>
          <p:nvPr>
            <p:ph idx="1" type="body"/>
          </p:nvPr>
        </p:nvSpPr>
        <p:spPr>
          <a:xfrm>
            <a:off x="2516994" y="2664091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000"/>
              <a:t>= </a:t>
            </a:r>
            <a:endParaRPr sz="2000"/>
          </a:p>
        </p:txBody>
      </p:sp>
      <p:sp>
        <p:nvSpPr>
          <p:cNvPr id="1874" name="Google Shape;1874;p103"/>
          <p:cNvSpPr txBox="1"/>
          <p:nvPr>
            <p:ph idx="1" type="body"/>
          </p:nvPr>
        </p:nvSpPr>
        <p:spPr>
          <a:xfrm>
            <a:off x="5107794" y="2664091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2000"/>
              <a:t>= </a:t>
            </a:r>
            <a:endParaRPr sz="2000"/>
          </a:p>
        </p:txBody>
      </p:sp>
      <p:sp>
        <p:nvSpPr>
          <p:cNvPr id="1875" name="Google Shape;1875;p103"/>
          <p:cNvSpPr txBox="1"/>
          <p:nvPr>
            <p:ph idx="1" type="body"/>
          </p:nvPr>
        </p:nvSpPr>
        <p:spPr>
          <a:xfrm>
            <a:off x="7774794" y="2664091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2000"/>
              <a:t>= </a:t>
            </a:r>
            <a:endParaRPr sz="2000"/>
          </a:p>
        </p:txBody>
      </p:sp>
      <p:sp>
        <p:nvSpPr>
          <p:cNvPr id="1876" name="Google Shape;1876;p103"/>
          <p:cNvSpPr txBox="1"/>
          <p:nvPr>
            <p:ph idx="1" type="body"/>
          </p:nvPr>
        </p:nvSpPr>
        <p:spPr>
          <a:xfrm>
            <a:off x="1754994" y="4533713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2000"/>
              <a:t>= </a:t>
            </a:r>
            <a:endParaRPr sz="2000"/>
          </a:p>
        </p:txBody>
      </p:sp>
      <p:sp>
        <p:nvSpPr>
          <p:cNvPr id="1877" name="Google Shape;1877;p103"/>
          <p:cNvSpPr txBox="1"/>
          <p:nvPr>
            <p:ph idx="1" type="body"/>
          </p:nvPr>
        </p:nvSpPr>
        <p:spPr>
          <a:xfrm>
            <a:off x="4802994" y="4533713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= </a:t>
            </a:r>
            <a:endParaRPr sz="2000"/>
          </a:p>
        </p:txBody>
      </p:sp>
      <p:sp>
        <p:nvSpPr>
          <p:cNvPr id="1878" name="Google Shape;1878;p103"/>
          <p:cNvSpPr txBox="1"/>
          <p:nvPr>
            <p:ph idx="1" type="body"/>
          </p:nvPr>
        </p:nvSpPr>
        <p:spPr>
          <a:xfrm>
            <a:off x="7546194" y="4533713"/>
            <a:ext cx="517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2000"/>
              <a:t>= </a:t>
            </a:r>
            <a:endParaRPr sz="2000"/>
          </a:p>
        </p:txBody>
      </p:sp>
      <p:sp>
        <p:nvSpPr>
          <p:cNvPr id="1879" name="Google Shape;1879;p103"/>
          <p:cNvSpPr/>
          <p:nvPr/>
        </p:nvSpPr>
        <p:spPr>
          <a:xfrm flipH="1" rot="5400000">
            <a:off x="7140600" y="3280532"/>
            <a:ext cx="913800" cy="1555500"/>
          </a:xfrm>
          <a:prstGeom prst="corner">
            <a:avLst>
              <a:gd fmla="val 38452" name="adj1"/>
              <a:gd fmla="val 53479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103"/>
          <p:cNvSpPr txBox="1"/>
          <p:nvPr>
            <p:ph idx="1" type="body"/>
          </p:nvPr>
        </p:nvSpPr>
        <p:spPr>
          <a:xfrm>
            <a:off x="7548055" y="3721473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sp>
        <p:nvSpPr>
          <p:cNvPr id="1881" name="Google Shape;1881;p103"/>
          <p:cNvSpPr txBox="1"/>
          <p:nvPr>
            <p:ph idx="1" type="body"/>
          </p:nvPr>
        </p:nvSpPr>
        <p:spPr>
          <a:xfrm>
            <a:off x="6297856" y="3949961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cxnSp>
        <p:nvCxnSpPr>
          <p:cNvPr id="1882" name="Google Shape;1882;p103"/>
          <p:cNvCxnSpPr/>
          <p:nvPr/>
        </p:nvCxnSpPr>
        <p:spPr>
          <a:xfrm rot="10800000">
            <a:off x="6806800" y="3507491"/>
            <a:ext cx="37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3" name="Google Shape;1883;p103"/>
          <p:cNvSpPr txBox="1"/>
          <p:nvPr>
            <p:ph idx="1" type="body"/>
          </p:nvPr>
        </p:nvSpPr>
        <p:spPr>
          <a:xfrm>
            <a:off x="6849662" y="3177656"/>
            <a:ext cx="5421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 sz="1600"/>
              <a:t>m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4" name="Google Shape;1884;p103"/>
          <p:cNvSpPr txBox="1"/>
          <p:nvPr>
            <p:ph idx="1" type="body"/>
          </p:nvPr>
        </p:nvSpPr>
        <p:spPr>
          <a:xfrm>
            <a:off x="6264447" y="3189898"/>
            <a:ext cx="2601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f)</a:t>
            </a:r>
            <a:endParaRPr sz="1800"/>
          </a:p>
        </p:txBody>
      </p:sp>
      <p:cxnSp>
        <p:nvCxnSpPr>
          <p:cNvPr id="1885" name="Google Shape;1885;p103"/>
          <p:cNvCxnSpPr/>
          <p:nvPr/>
        </p:nvCxnSpPr>
        <p:spPr>
          <a:xfrm>
            <a:off x="1206775" y="1538812"/>
            <a:ext cx="66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6" name="Google Shape;1886;p103"/>
          <p:cNvCxnSpPr/>
          <p:nvPr/>
        </p:nvCxnSpPr>
        <p:spPr>
          <a:xfrm flipH="1" rot="10800000">
            <a:off x="747627" y="1633070"/>
            <a:ext cx="327000" cy="96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7" name="Google Shape;1887;p103"/>
          <p:cNvCxnSpPr/>
          <p:nvPr/>
        </p:nvCxnSpPr>
        <p:spPr>
          <a:xfrm rot="10800000">
            <a:off x="2016825" y="1645314"/>
            <a:ext cx="323100" cy="97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8" name="Google Shape;1888;p103"/>
          <p:cNvCxnSpPr/>
          <p:nvPr/>
        </p:nvCxnSpPr>
        <p:spPr>
          <a:xfrm flipH="1">
            <a:off x="6487646" y="1563599"/>
            <a:ext cx="1508400" cy="38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9" name="Google Shape;1889;p103"/>
          <p:cNvCxnSpPr/>
          <p:nvPr/>
        </p:nvCxnSpPr>
        <p:spPr>
          <a:xfrm flipH="1">
            <a:off x="488464" y="3377232"/>
            <a:ext cx="1833300" cy="86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0" name="Google Shape;1890;p103"/>
          <p:cNvCxnSpPr/>
          <p:nvPr/>
        </p:nvCxnSpPr>
        <p:spPr>
          <a:xfrm>
            <a:off x="4836290" y="3477843"/>
            <a:ext cx="1000800" cy="93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1" name="Google Shape;1891;p103"/>
          <p:cNvCxnSpPr/>
          <p:nvPr/>
        </p:nvCxnSpPr>
        <p:spPr>
          <a:xfrm flipH="1">
            <a:off x="6696588" y="3605435"/>
            <a:ext cx="6000" cy="916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2" name="Google Shape;1892;p103"/>
          <p:cNvCxnSpPr/>
          <p:nvPr/>
        </p:nvCxnSpPr>
        <p:spPr>
          <a:xfrm>
            <a:off x="7187594" y="3946532"/>
            <a:ext cx="120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93" name="Google Shape;1893;p103"/>
          <p:cNvSpPr txBox="1"/>
          <p:nvPr>
            <p:ph idx="1" type="body"/>
          </p:nvPr>
        </p:nvSpPr>
        <p:spPr>
          <a:xfrm>
            <a:off x="2900476" y="2675225"/>
            <a:ext cx="5880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4" name="Google Shape;1894;p103"/>
          <p:cNvSpPr txBox="1"/>
          <p:nvPr>
            <p:ph idx="1" type="body"/>
          </p:nvPr>
        </p:nvSpPr>
        <p:spPr>
          <a:xfrm>
            <a:off x="5491276" y="2675225"/>
            <a:ext cx="5610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5" name="Google Shape;1895;p103"/>
          <p:cNvSpPr txBox="1"/>
          <p:nvPr>
            <p:ph idx="1" type="body"/>
          </p:nvPr>
        </p:nvSpPr>
        <p:spPr>
          <a:xfrm>
            <a:off x="8158276" y="2675225"/>
            <a:ext cx="5880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6" name="Google Shape;1896;p103"/>
          <p:cNvSpPr txBox="1"/>
          <p:nvPr>
            <p:ph idx="1" type="body"/>
          </p:nvPr>
        </p:nvSpPr>
        <p:spPr>
          <a:xfrm>
            <a:off x="7875240" y="4555737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7" name="Google Shape;1897;p103"/>
          <p:cNvSpPr txBox="1"/>
          <p:nvPr>
            <p:ph idx="1" type="body"/>
          </p:nvPr>
        </p:nvSpPr>
        <p:spPr>
          <a:xfrm>
            <a:off x="5246353" y="4584300"/>
            <a:ext cx="6567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8" name="Google Shape;1898;p103"/>
          <p:cNvSpPr txBox="1"/>
          <p:nvPr>
            <p:ph idx="1" type="body"/>
          </p:nvPr>
        </p:nvSpPr>
        <p:spPr>
          <a:xfrm>
            <a:off x="2198340" y="4555737"/>
            <a:ext cx="4884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9" name="Google Shape;1899;p103"/>
          <p:cNvSpPr txBox="1"/>
          <p:nvPr>
            <p:ph idx="1" type="body"/>
          </p:nvPr>
        </p:nvSpPr>
        <p:spPr>
          <a:xfrm>
            <a:off x="324000" y="634553"/>
            <a:ext cx="8237700" cy="2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</a:t>
            </a:r>
            <a:r>
              <a:rPr lang="en-GB" sz="1800"/>
              <a:t>perimeter</a:t>
            </a:r>
            <a:r>
              <a:rPr lang="en-GB" sz="1800"/>
              <a:t> of each shape is 24 m. Find the value of each of the unknowns.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10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  <a:highlight>
                  <a:srgbClr val="FFFFFF"/>
                </a:highlight>
              </a:rPr>
              <a:t>The perimeter is the distance around a 2D shape.</a:t>
            </a:r>
            <a:br>
              <a:rPr lang="en-GB" sz="2000">
                <a:solidFill>
                  <a:srgbClr val="282828"/>
                </a:solidFill>
                <a:highlight>
                  <a:srgbClr val="FFFFFF"/>
                </a:highlight>
              </a:rPr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perimeter of any polygon or compound shape made of polygons can be found by summing the lengths of the sides.</a:t>
            </a:r>
            <a:br>
              <a:rPr lang="en-GB" sz="2000"/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 methods for finding perimeters are more efficient than others.</a:t>
            </a:r>
            <a:br>
              <a:rPr lang="en-GB" sz="2000"/>
            </a:b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Knowing the perimeter can sometimes enable you to find missing lengths.</a:t>
            </a:r>
            <a:endParaRPr sz="2000"/>
          </a:p>
        </p:txBody>
      </p:sp>
      <p:sp>
        <p:nvSpPr>
          <p:cNvPr id="1905" name="Google Shape;1905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perimeter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11" name="Google Shape;1911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