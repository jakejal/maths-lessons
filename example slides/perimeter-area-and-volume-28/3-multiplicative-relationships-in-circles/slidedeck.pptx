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F43EAD-AA21-4773-A439-60C7A0E335FF}">
  <a:tblStyle styleId="{94F43EAD-AA21-4773-A439-60C7A0E335F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9813cb68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9813cb68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9813cb68b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9813cb68b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99908ee36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99908ee36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299908ee36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299908ee36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99908ee36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299908ee36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99908ee36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299908ee36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99908ee369_0_1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299908ee369_0_1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299908ee36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299908ee369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99908ee369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299908ee369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299908ee369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299908ee36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99908ee369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299908ee369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299908ee369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299908ee369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99908ee369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99908ee369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299908ee369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299908ee369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99908ee369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299908ee369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299908ee369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299908ee369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299908ee369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299908ee369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99908ee369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299908ee369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99908ee369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299908ee369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99908ee369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299908ee369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99908ee369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299908ee369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99908ee369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299908ee369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29a7aac74c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29a7aac74c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29a7aac74c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29a7aac74c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29a7aac74c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9" name="Google Shape;1159;g29a7aac74c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29a7aac74c5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29a7aac74c5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99908ee369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299908ee369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299908ee369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299908ee369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99908ee369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299908ee369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299908ee369_0_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299908ee369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299908ee369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299908ee369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299908ee369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299908ee369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299908ee369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299908ee369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29a7aac7d9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5" name="Google Shape;1395;g29a7aac7d9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299908ee369_0_1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299908ee369_0_1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299908ee369_0_1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299908ee369_0_1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299908ee369_0_1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299908ee369_0_1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299908ee369_0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7" name="Google Shape;1467;g299908ee369_0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g299908ee369_0_1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8" name="Google Shape;1478;g299908ee369_0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29a7aac74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29a7aac74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7" name="Google Shape;1537;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2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3.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3.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67.png"/><Relationship Id="rId5" Type="http://schemas.openxmlformats.org/officeDocument/2006/relationships/image" Target="../media/image30.png"/><Relationship Id="rId6" Type="http://schemas.openxmlformats.org/officeDocument/2006/relationships/image" Target="../media/image27.png"/><Relationship Id="rId7"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7.png"/><Relationship Id="rId4" Type="http://schemas.openxmlformats.org/officeDocument/2006/relationships/image" Target="../media/image21.png"/><Relationship Id="rId9"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31.png"/><Relationship Id="rId7" Type="http://schemas.openxmlformats.org/officeDocument/2006/relationships/image" Target="../media/image30.png"/><Relationship Id="rId8" Type="http://schemas.openxmlformats.org/officeDocument/2006/relationships/image" Target="../media/image2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7.png"/><Relationship Id="rId4" Type="http://schemas.openxmlformats.org/officeDocument/2006/relationships/image" Target="../media/image26.png"/><Relationship Id="rId11" Type="http://schemas.openxmlformats.org/officeDocument/2006/relationships/image" Target="../media/image15.png"/><Relationship Id="rId10" Type="http://schemas.openxmlformats.org/officeDocument/2006/relationships/image" Target="../media/image40.png"/><Relationship Id="rId9" Type="http://schemas.openxmlformats.org/officeDocument/2006/relationships/image" Target="../media/image27.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31.png"/><Relationship Id="rId8" Type="http://schemas.openxmlformats.org/officeDocument/2006/relationships/image" Target="../media/image3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2.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49.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 Id="rId3"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50.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50.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50.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50.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50.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51.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50.png"/><Relationship Id="rId4" Type="http://schemas.openxmlformats.org/officeDocument/2006/relationships/image" Target="../media/image48.png"/><Relationship Id="rId5"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50.png"/><Relationship Id="rId4" Type="http://schemas.openxmlformats.org/officeDocument/2006/relationships/image" Target="../media/image54.png"/><Relationship Id="rId5"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50.png"/><Relationship Id="rId4" Type="http://schemas.openxmlformats.org/officeDocument/2006/relationships/image" Target="../media/image63.png"/><Relationship Id="rId5"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50.png"/><Relationship Id="rId4" Type="http://schemas.openxmlformats.org/officeDocument/2006/relationships/image" Target="../media/image55.png"/><Relationship Id="rId5"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50.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60.png"/><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6.xml"/><Relationship Id="rId3"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7.xml"/><Relationship Id="rId3" Type="http://schemas.openxmlformats.org/officeDocument/2006/relationships/image" Target="../media/image61.png"/><Relationship Id="rId4" Type="http://schemas.openxmlformats.org/officeDocument/2006/relationships/image" Target="../media/image59.png"/><Relationship Id="rId5" Type="http://schemas.openxmlformats.org/officeDocument/2006/relationships/image" Target="../media/image5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 Id="rId3" Type="http://schemas.openxmlformats.org/officeDocument/2006/relationships/image" Target="../media/image61.png"/><Relationship Id="rId4" Type="http://schemas.openxmlformats.org/officeDocument/2006/relationships/image" Target="../media/image64.png"/><Relationship Id="rId5" Type="http://schemas.openxmlformats.org/officeDocument/2006/relationships/image" Target="../media/image66.png"/><Relationship Id="rId6" Type="http://schemas.openxmlformats.org/officeDocument/2006/relationships/image" Target="../media/image6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circles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Perimeter, area and volume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recognise that there is a constant multiplicative relationship (</a:t>
            </a:r>
            <a:r>
              <a:rPr lang="en-GB">
                <a:latin typeface="Times New Roman"/>
                <a:ea typeface="Times New Roman"/>
                <a:cs typeface="Times New Roman"/>
                <a:sym typeface="Times New Roman"/>
              </a:rPr>
              <a:t>π</a:t>
            </a:r>
            <a:r>
              <a:rPr lang="en-GB"/>
              <a:t>) between the diameter and circumference of a circle.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1" type="subTitle"/>
          </p:nvPr>
        </p:nvSpPr>
        <p:spPr>
          <a:xfrm>
            <a:off x="324000" y="993650"/>
            <a:ext cx="8496000" cy="8013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The </a:t>
            </a:r>
            <a:r>
              <a:rPr b="1" lang="en-GB"/>
              <a:t>circumference</a:t>
            </a:r>
            <a:r>
              <a:rPr lang="en-GB"/>
              <a:t> of a circle is the perimeter of the circle.</a:t>
            </a:r>
            <a:endParaRPr/>
          </a:p>
        </p:txBody>
      </p:sp>
      <p:sp>
        <p:nvSpPr>
          <p:cNvPr id="767" name="Google Shape;767;p67"/>
          <p:cNvSpPr txBox="1"/>
          <p:nvPr>
            <p:ph idx="2" type="subTitle"/>
          </p:nvPr>
        </p:nvSpPr>
        <p:spPr>
          <a:xfrm>
            <a:off x="324000" y="2086325"/>
            <a:ext cx="8496000" cy="8370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The </a:t>
            </a:r>
            <a:r>
              <a:rPr b="1" lang="en-GB"/>
              <a:t>radius</a:t>
            </a:r>
            <a:r>
              <a:rPr lang="en-GB"/>
              <a:t> is any line segment that joins the centre of a circle to its edge.</a:t>
            </a:r>
            <a:endParaRPr/>
          </a:p>
        </p:txBody>
      </p:sp>
      <p:sp>
        <p:nvSpPr>
          <p:cNvPr id="768" name="Google Shape;768;p67"/>
          <p:cNvSpPr txBox="1"/>
          <p:nvPr>
            <p:ph idx="3" type="subTitle"/>
          </p:nvPr>
        </p:nvSpPr>
        <p:spPr>
          <a:xfrm>
            <a:off x="324000" y="3483825"/>
            <a:ext cx="8496000" cy="8013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The </a:t>
            </a:r>
            <a:r>
              <a:rPr b="1" lang="en-GB"/>
              <a:t>diameter</a:t>
            </a:r>
            <a:r>
              <a:rPr lang="en-GB"/>
              <a:t> of a circle is any line segment that starts and ends on the edge of the circle and passes through the centre.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t>
            </a:r>
            <a:r>
              <a:rPr lang="en-GB"/>
              <a:t>arts of a circle</a:t>
            </a:r>
            <a:endParaRPr/>
          </a:p>
        </p:txBody>
      </p:sp>
      <p:sp>
        <p:nvSpPr>
          <p:cNvPr id="774" name="Google Shape;774;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a:t>
            </a:r>
            <a:r>
              <a:rPr lang="en-GB"/>
              <a:t>circumference and diameter</a:t>
            </a:r>
            <a:endParaRPr/>
          </a:p>
        </p:txBody>
      </p:sp>
      <p:sp>
        <p:nvSpPr>
          <p:cNvPr id="775" name="Google Shape;775;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circles</a:t>
            </a:r>
            <a:endParaRPr/>
          </a:p>
        </p:txBody>
      </p:sp>
      <p:pic>
        <p:nvPicPr>
          <p:cNvPr id="776" name="Google Shape;776;p68"/>
          <p:cNvPicPr preferRelativeResize="0"/>
          <p:nvPr/>
        </p:nvPicPr>
        <p:blipFill>
          <a:blip r:embed="rId3">
            <a:alphaModFix/>
          </a:blip>
          <a:stretch>
            <a:fillRect/>
          </a:stretch>
        </p:blipFill>
        <p:spPr>
          <a:xfrm>
            <a:off x="422425" y="20458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69"/>
          <p:cNvSpPr txBox="1"/>
          <p:nvPr>
            <p:ph idx="1" type="body"/>
          </p:nvPr>
        </p:nvSpPr>
        <p:spPr>
          <a:xfrm>
            <a:off x="324000" y="759300"/>
            <a:ext cx="8237700" cy="4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circle can be described based on its parts.</a:t>
            </a:r>
            <a:endParaRPr sz="2000"/>
          </a:p>
        </p:txBody>
      </p:sp>
      <p:sp>
        <p:nvSpPr>
          <p:cNvPr id="782" name="Google Shape;782;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t>
            </a:r>
            <a:r>
              <a:rPr lang="en-GB"/>
              <a:t>arts of a circle</a:t>
            </a:r>
            <a:endParaRPr/>
          </a:p>
        </p:txBody>
      </p:sp>
      <p:sp>
        <p:nvSpPr>
          <p:cNvPr id="783" name="Google Shape;783;p69"/>
          <p:cNvSpPr txBox="1"/>
          <p:nvPr>
            <p:ph idx="4294967295" type="subTitle"/>
          </p:nvPr>
        </p:nvSpPr>
        <p:spPr>
          <a:xfrm>
            <a:off x="324000" y="1200000"/>
            <a:ext cx="8496000" cy="3999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The </a:t>
            </a:r>
            <a:r>
              <a:rPr b="1" lang="en-GB" sz="2000"/>
              <a:t>circumference</a:t>
            </a:r>
            <a:r>
              <a:rPr lang="en-GB" sz="2000"/>
              <a:t> of a circle is the distance around its edge.</a:t>
            </a:r>
            <a:endParaRPr sz="2000"/>
          </a:p>
        </p:txBody>
      </p:sp>
      <p:sp>
        <p:nvSpPr>
          <p:cNvPr id="784" name="Google Shape;784;p69"/>
          <p:cNvSpPr txBox="1"/>
          <p:nvPr>
            <p:ph idx="4294967295" type="subTitle"/>
          </p:nvPr>
        </p:nvSpPr>
        <p:spPr>
          <a:xfrm>
            <a:off x="324000" y="1657200"/>
            <a:ext cx="8496000" cy="369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1" lang="en-GB" sz="2000"/>
              <a:t>C</a:t>
            </a:r>
            <a:r>
              <a:rPr b="1" lang="en-GB" sz="2000"/>
              <a:t>ircumference</a:t>
            </a:r>
            <a:r>
              <a:rPr lang="en-GB" sz="2000"/>
              <a:t> is a word used for the perimeter of a curved shape.</a:t>
            </a:r>
            <a:endParaRPr sz="2000"/>
          </a:p>
        </p:txBody>
      </p:sp>
      <p:sp>
        <p:nvSpPr>
          <p:cNvPr id="785" name="Google Shape;785;p69"/>
          <p:cNvSpPr/>
          <p:nvPr/>
        </p:nvSpPr>
        <p:spPr>
          <a:xfrm>
            <a:off x="1903350" y="2761500"/>
            <a:ext cx="1967700" cy="1967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6" name="Google Shape;786;p69"/>
          <p:cNvSpPr txBox="1"/>
          <p:nvPr>
            <p:ph idx="4294967295" type="subTitle"/>
          </p:nvPr>
        </p:nvSpPr>
        <p:spPr>
          <a:xfrm>
            <a:off x="575850" y="2423450"/>
            <a:ext cx="18849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1" lang="en-GB" sz="1800"/>
              <a:t>circumference</a:t>
            </a:r>
            <a:endParaRPr sz="1800"/>
          </a:p>
        </p:txBody>
      </p:sp>
      <p:sp>
        <p:nvSpPr>
          <p:cNvPr id="787" name="Google Shape;787;p69"/>
          <p:cNvSpPr/>
          <p:nvPr/>
        </p:nvSpPr>
        <p:spPr>
          <a:xfrm rot="-5400000">
            <a:off x="5069925" y="3179400"/>
            <a:ext cx="1967700" cy="10572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8" name="Google Shape;788;p69"/>
          <p:cNvSpPr txBox="1"/>
          <p:nvPr>
            <p:ph idx="4294967295" type="subTitle"/>
          </p:nvPr>
        </p:nvSpPr>
        <p:spPr>
          <a:xfrm>
            <a:off x="6671850" y="2423450"/>
            <a:ext cx="18849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1" lang="en-GB" sz="1800"/>
              <a:t>circumference</a:t>
            </a:r>
            <a:endParaRPr sz="1800"/>
          </a:p>
        </p:txBody>
      </p:sp>
      <p:cxnSp>
        <p:nvCxnSpPr>
          <p:cNvPr id="789" name="Google Shape;789;p69"/>
          <p:cNvCxnSpPr>
            <a:endCxn id="785" idx="1"/>
          </p:cNvCxnSpPr>
          <p:nvPr/>
        </p:nvCxnSpPr>
        <p:spPr>
          <a:xfrm>
            <a:off x="1824613" y="2719363"/>
            <a:ext cx="366900" cy="330300"/>
          </a:xfrm>
          <a:prstGeom prst="straightConnector1">
            <a:avLst/>
          </a:prstGeom>
          <a:noFill/>
          <a:ln cap="flat" cmpd="sng" w="38100">
            <a:solidFill>
              <a:schemeClr val="dk1"/>
            </a:solidFill>
            <a:prstDash val="solid"/>
            <a:round/>
            <a:headEnd len="med" w="med" type="none"/>
            <a:tailEnd len="med" w="med" type="none"/>
          </a:ln>
        </p:spPr>
      </p:cxnSp>
      <p:cxnSp>
        <p:nvCxnSpPr>
          <p:cNvPr id="790" name="Google Shape;790;p69"/>
          <p:cNvCxnSpPr>
            <a:endCxn id="787" idx="5"/>
          </p:cNvCxnSpPr>
          <p:nvPr/>
        </p:nvCxnSpPr>
        <p:spPr>
          <a:xfrm flipH="1">
            <a:off x="6427552" y="2725513"/>
            <a:ext cx="361800" cy="28680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70"/>
          <p:cNvSpPr/>
          <p:nvPr/>
        </p:nvSpPr>
        <p:spPr>
          <a:xfrm>
            <a:off x="1446150" y="2761500"/>
            <a:ext cx="1967700" cy="19677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6" name="Google Shape;796;p70"/>
          <p:cNvSpPr txBox="1"/>
          <p:nvPr>
            <p:ph idx="1" type="body"/>
          </p:nvPr>
        </p:nvSpPr>
        <p:spPr>
          <a:xfrm>
            <a:off x="324000" y="759300"/>
            <a:ext cx="8237700" cy="7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circle is a shape such that every point on the </a:t>
            </a:r>
            <a:r>
              <a:rPr b="1" lang="en-GB" sz="2000"/>
              <a:t>circumference</a:t>
            </a:r>
            <a:r>
              <a:rPr lang="en-GB" sz="2000"/>
              <a:t> is equidistant to its centre.</a:t>
            </a:r>
            <a:endParaRPr sz="2000"/>
          </a:p>
        </p:txBody>
      </p:sp>
      <p:sp>
        <p:nvSpPr>
          <p:cNvPr id="797" name="Google Shape;797;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Parts of a circle</a:t>
            </a:r>
            <a:endParaRPr/>
          </a:p>
        </p:txBody>
      </p:sp>
      <p:sp>
        <p:nvSpPr>
          <p:cNvPr id="798" name="Google Shape;798;p70"/>
          <p:cNvSpPr txBox="1"/>
          <p:nvPr>
            <p:ph idx="4294967295" type="subTitle"/>
          </p:nvPr>
        </p:nvSpPr>
        <p:spPr>
          <a:xfrm>
            <a:off x="2107650" y="1669550"/>
            <a:ext cx="6447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circle</a:t>
            </a:r>
            <a:endParaRPr sz="1800"/>
          </a:p>
        </p:txBody>
      </p:sp>
      <p:sp>
        <p:nvSpPr>
          <p:cNvPr id="799" name="Google Shape;799;p70"/>
          <p:cNvSpPr/>
          <p:nvPr/>
        </p:nvSpPr>
        <p:spPr>
          <a:xfrm rot="-5400000">
            <a:off x="5298525" y="3179400"/>
            <a:ext cx="1967700" cy="10572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00" name="Google Shape;800;p70"/>
          <p:cNvCxnSpPr>
            <a:endCxn id="795" idx="6"/>
          </p:cNvCxnSpPr>
          <p:nvPr/>
        </p:nvCxnSpPr>
        <p:spPr>
          <a:xfrm flipH="1" rot="10800000">
            <a:off x="2413350" y="3745350"/>
            <a:ext cx="1000500" cy="1500"/>
          </a:xfrm>
          <a:prstGeom prst="straightConnector1">
            <a:avLst/>
          </a:prstGeom>
          <a:noFill/>
          <a:ln cap="flat" cmpd="sng" w="28575">
            <a:solidFill>
              <a:schemeClr val="dk1"/>
            </a:solidFill>
            <a:prstDash val="solid"/>
            <a:round/>
            <a:headEnd len="med" w="med" type="triangle"/>
            <a:tailEnd len="med" w="med" type="triangle"/>
          </a:ln>
        </p:spPr>
      </p:cxnSp>
      <p:sp>
        <p:nvSpPr>
          <p:cNvPr id="801" name="Google Shape;801;p70"/>
          <p:cNvSpPr txBox="1"/>
          <p:nvPr>
            <p:ph idx="4294967295" type="subTitle"/>
          </p:nvPr>
        </p:nvSpPr>
        <p:spPr>
          <a:xfrm>
            <a:off x="5650875" y="1669550"/>
            <a:ext cx="13263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not a circle</a:t>
            </a:r>
            <a:endParaRPr sz="1800"/>
          </a:p>
        </p:txBody>
      </p:sp>
      <p:cxnSp>
        <p:nvCxnSpPr>
          <p:cNvPr id="802" name="Google Shape;802;p70"/>
          <p:cNvCxnSpPr>
            <a:stCxn id="795" idx="0"/>
          </p:cNvCxnSpPr>
          <p:nvPr/>
        </p:nvCxnSpPr>
        <p:spPr>
          <a:xfrm flipH="1">
            <a:off x="2426100" y="2761500"/>
            <a:ext cx="3900" cy="985500"/>
          </a:xfrm>
          <a:prstGeom prst="straightConnector1">
            <a:avLst/>
          </a:prstGeom>
          <a:noFill/>
          <a:ln cap="flat" cmpd="sng" w="28575">
            <a:solidFill>
              <a:schemeClr val="dk1"/>
            </a:solidFill>
            <a:prstDash val="solid"/>
            <a:round/>
            <a:headEnd len="med" w="med" type="triangle"/>
            <a:tailEnd len="med" w="med" type="triangle"/>
          </a:ln>
        </p:spPr>
      </p:cxnSp>
      <p:sp>
        <p:nvSpPr>
          <p:cNvPr id="803" name="Google Shape;803;p70"/>
          <p:cNvSpPr txBox="1"/>
          <p:nvPr>
            <p:ph idx="4294967295" type="subTitle"/>
          </p:nvPr>
        </p:nvSpPr>
        <p:spPr>
          <a:xfrm>
            <a:off x="2242192" y="3066619"/>
            <a:ext cx="3153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i="1" lang="en-GB">
                <a:latin typeface="Times New Roman"/>
                <a:ea typeface="Times New Roman"/>
                <a:cs typeface="Times New Roman"/>
                <a:sym typeface="Times New Roman"/>
              </a:rPr>
              <a:t>a</a:t>
            </a:r>
            <a:endParaRPr i="1">
              <a:latin typeface="Times New Roman"/>
              <a:ea typeface="Times New Roman"/>
              <a:cs typeface="Times New Roman"/>
              <a:sym typeface="Times New Roman"/>
            </a:endParaRPr>
          </a:p>
        </p:txBody>
      </p:sp>
      <p:sp>
        <p:nvSpPr>
          <p:cNvPr id="804" name="Google Shape;804;p70"/>
          <p:cNvSpPr txBox="1"/>
          <p:nvPr>
            <p:ph idx="4294967295" type="subTitle"/>
          </p:nvPr>
        </p:nvSpPr>
        <p:spPr>
          <a:xfrm>
            <a:off x="2806727" y="3447619"/>
            <a:ext cx="3153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i="1" lang="en-GB">
                <a:latin typeface="Times New Roman"/>
                <a:ea typeface="Times New Roman"/>
                <a:cs typeface="Times New Roman"/>
                <a:sym typeface="Times New Roman"/>
              </a:rPr>
              <a:t>b</a:t>
            </a:r>
            <a:endParaRPr i="1">
              <a:latin typeface="Times New Roman"/>
              <a:ea typeface="Times New Roman"/>
              <a:cs typeface="Times New Roman"/>
              <a:sym typeface="Times New Roman"/>
            </a:endParaRPr>
          </a:p>
        </p:txBody>
      </p:sp>
      <p:sp>
        <p:nvSpPr>
          <p:cNvPr id="805" name="Google Shape;805;p70"/>
          <p:cNvSpPr txBox="1"/>
          <p:nvPr>
            <p:ph idx="4294967295" type="subTitle"/>
          </p:nvPr>
        </p:nvSpPr>
        <p:spPr>
          <a:xfrm>
            <a:off x="5938865" y="2025450"/>
            <a:ext cx="9027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i="1" lang="en-GB">
                <a:latin typeface="Times New Roman"/>
                <a:ea typeface="Times New Roman"/>
                <a:cs typeface="Times New Roman"/>
                <a:sym typeface="Times New Roman"/>
              </a:rPr>
              <a:t>a</a:t>
            </a:r>
            <a:r>
              <a:rPr i="1" lang="en-GB">
                <a:latin typeface="Times New Roman"/>
                <a:ea typeface="Times New Roman"/>
                <a:cs typeface="Times New Roman"/>
                <a:sym typeface="Times New Roman"/>
              </a:rPr>
              <a:t> ≠ b</a:t>
            </a:r>
            <a:endParaRPr i="1">
              <a:latin typeface="Times New Roman"/>
              <a:ea typeface="Times New Roman"/>
              <a:cs typeface="Times New Roman"/>
              <a:sym typeface="Times New Roman"/>
            </a:endParaRPr>
          </a:p>
        </p:txBody>
      </p:sp>
      <p:sp>
        <p:nvSpPr>
          <p:cNvPr id="806" name="Google Shape;806;p70"/>
          <p:cNvSpPr txBox="1"/>
          <p:nvPr>
            <p:ph idx="4294967295" type="subTitle"/>
          </p:nvPr>
        </p:nvSpPr>
        <p:spPr>
          <a:xfrm>
            <a:off x="2072701" y="2031225"/>
            <a:ext cx="6708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i="1" lang="en-GB">
                <a:latin typeface="Times New Roman"/>
                <a:ea typeface="Times New Roman"/>
                <a:cs typeface="Times New Roman"/>
                <a:sym typeface="Times New Roman"/>
              </a:rPr>
              <a:t>a = b</a:t>
            </a:r>
            <a:endParaRPr i="1">
              <a:latin typeface="Times New Roman"/>
              <a:ea typeface="Times New Roman"/>
              <a:cs typeface="Times New Roman"/>
              <a:sym typeface="Times New Roman"/>
            </a:endParaRPr>
          </a:p>
        </p:txBody>
      </p:sp>
      <p:cxnSp>
        <p:nvCxnSpPr>
          <p:cNvPr id="807" name="Google Shape;807;p70"/>
          <p:cNvCxnSpPr>
            <a:endCxn id="799" idx="4"/>
          </p:cNvCxnSpPr>
          <p:nvPr/>
        </p:nvCxnSpPr>
        <p:spPr>
          <a:xfrm>
            <a:off x="6256275" y="3708000"/>
            <a:ext cx="554700" cy="0"/>
          </a:xfrm>
          <a:prstGeom prst="straightConnector1">
            <a:avLst/>
          </a:prstGeom>
          <a:noFill/>
          <a:ln cap="flat" cmpd="sng" w="28575">
            <a:solidFill>
              <a:schemeClr val="dk1"/>
            </a:solidFill>
            <a:prstDash val="solid"/>
            <a:round/>
            <a:headEnd len="med" w="med" type="triangle"/>
            <a:tailEnd len="med" w="med" type="triangle"/>
          </a:ln>
        </p:spPr>
      </p:cxnSp>
      <p:cxnSp>
        <p:nvCxnSpPr>
          <p:cNvPr id="808" name="Google Shape;808;p70"/>
          <p:cNvCxnSpPr/>
          <p:nvPr/>
        </p:nvCxnSpPr>
        <p:spPr>
          <a:xfrm>
            <a:off x="6278838" y="2761500"/>
            <a:ext cx="0" cy="935700"/>
          </a:xfrm>
          <a:prstGeom prst="straightConnector1">
            <a:avLst/>
          </a:prstGeom>
          <a:noFill/>
          <a:ln cap="flat" cmpd="sng" w="28575">
            <a:solidFill>
              <a:schemeClr val="dk1"/>
            </a:solidFill>
            <a:prstDash val="solid"/>
            <a:round/>
            <a:headEnd len="med" w="med" type="triangle"/>
            <a:tailEnd len="med" w="med" type="triangle"/>
          </a:ln>
        </p:spPr>
      </p:cxnSp>
      <p:sp>
        <p:nvSpPr>
          <p:cNvPr id="809" name="Google Shape;809;p70"/>
          <p:cNvSpPr txBox="1"/>
          <p:nvPr>
            <p:ph idx="4294967295" type="subTitle"/>
          </p:nvPr>
        </p:nvSpPr>
        <p:spPr>
          <a:xfrm>
            <a:off x="6091030" y="3066619"/>
            <a:ext cx="3153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i="1" lang="en-GB">
                <a:latin typeface="Times New Roman"/>
                <a:ea typeface="Times New Roman"/>
                <a:cs typeface="Times New Roman"/>
                <a:sym typeface="Times New Roman"/>
              </a:rPr>
              <a:t>a</a:t>
            </a:r>
            <a:endParaRPr i="1">
              <a:latin typeface="Times New Roman"/>
              <a:ea typeface="Times New Roman"/>
              <a:cs typeface="Times New Roman"/>
              <a:sym typeface="Times New Roman"/>
            </a:endParaRPr>
          </a:p>
        </p:txBody>
      </p:sp>
      <p:sp>
        <p:nvSpPr>
          <p:cNvPr id="810" name="Google Shape;810;p70"/>
          <p:cNvSpPr txBox="1"/>
          <p:nvPr>
            <p:ph idx="4294967295" type="subTitle"/>
          </p:nvPr>
        </p:nvSpPr>
        <p:spPr>
          <a:xfrm>
            <a:off x="6464327" y="3404030"/>
            <a:ext cx="315300" cy="330600"/>
          </a:xfrm>
          <a:prstGeom prst="rect">
            <a:avLst/>
          </a:prstGeom>
          <a:ln>
            <a:noFill/>
          </a:ln>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i="1" lang="en-GB">
                <a:latin typeface="Times New Roman"/>
                <a:ea typeface="Times New Roman"/>
                <a:cs typeface="Times New Roman"/>
                <a:sym typeface="Times New Roman"/>
              </a:rPr>
              <a:t>b</a:t>
            </a:r>
            <a:endParaRPr i="1">
              <a:latin typeface="Times New Roman"/>
              <a:ea typeface="Times New Roman"/>
              <a:cs typeface="Times New Roman"/>
              <a:sym typeface="Times New Roman"/>
            </a:endParaRPr>
          </a:p>
        </p:txBody>
      </p:sp>
      <p:sp>
        <p:nvSpPr>
          <p:cNvPr id="811" name="Google Shape;811;p70"/>
          <p:cNvSpPr/>
          <p:nvPr/>
        </p:nvSpPr>
        <p:spPr>
          <a:xfrm>
            <a:off x="2389500" y="3705600"/>
            <a:ext cx="81000" cy="81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2" name="Google Shape;812;p70"/>
          <p:cNvSpPr/>
          <p:nvPr/>
        </p:nvSpPr>
        <p:spPr>
          <a:xfrm>
            <a:off x="6238350" y="3665800"/>
            <a:ext cx="81000" cy="81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3" name="Google Shape;813;p70"/>
          <p:cNvSpPr txBox="1"/>
          <p:nvPr>
            <p:ph idx="4294967295" type="subTitle"/>
          </p:nvPr>
        </p:nvSpPr>
        <p:spPr>
          <a:xfrm>
            <a:off x="1135050" y="2360502"/>
            <a:ext cx="2862600" cy="330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600"/>
              <a:t>(for any direction of </a:t>
            </a:r>
            <a:r>
              <a:rPr i="1" lang="en-GB" sz="1800">
                <a:latin typeface="Times New Roman"/>
                <a:ea typeface="Times New Roman"/>
                <a:cs typeface="Times New Roman"/>
                <a:sym typeface="Times New Roman"/>
              </a:rPr>
              <a:t>a</a:t>
            </a:r>
            <a:r>
              <a:rPr lang="en-GB" sz="1600"/>
              <a:t> and </a:t>
            </a:r>
            <a:r>
              <a:rPr i="1" lang="en-GB" sz="1800">
                <a:latin typeface="Times New Roman"/>
                <a:ea typeface="Times New Roman"/>
                <a:cs typeface="Times New Roman"/>
                <a:sym typeface="Times New Roman"/>
              </a:rPr>
              <a:t>b</a:t>
            </a:r>
            <a:r>
              <a:rPr lang="en-GB" sz="1600"/>
              <a:t>)</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71"/>
          <p:cNvSpPr txBox="1"/>
          <p:nvPr>
            <p:ph idx="1" type="body"/>
          </p:nvPr>
        </p:nvSpPr>
        <p:spPr>
          <a:xfrm>
            <a:off x="324000" y="759300"/>
            <a:ext cx="8237700" cy="366600"/>
          </a:xfrm>
          <a:prstGeom prst="rect">
            <a:avLst/>
          </a:prstGeom>
        </p:spPr>
        <p:txBody>
          <a:bodyPr anchorCtr="0" anchor="t" bIns="0" lIns="0" spcFirstLastPara="1" rIns="0" wrap="square" tIns="0">
            <a:noAutofit/>
          </a:bodyPr>
          <a:lstStyle/>
          <a:p>
            <a:pPr indent="0" lvl="0" marL="0" rtl="0" algn="l">
              <a:lnSpc>
                <a:spcPct val="130000"/>
              </a:lnSpc>
              <a:spcBef>
                <a:spcPts val="0"/>
              </a:spcBef>
              <a:spcAft>
                <a:spcPts val="1000"/>
              </a:spcAft>
              <a:buClr>
                <a:schemeClr val="dk1"/>
              </a:buClr>
              <a:buSzPts val="1100"/>
              <a:buFont typeface="Arial"/>
              <a:buNone/>
            </a:pPr>
            <a:r>
              <a:rPr lang="en-GB" sz="2000"/>
              <a:t>The distance from the edge of a circle to its centre is the </a:t>
            </a:r>
            <a:r>
              <a:rPr b="1" lang="en-GB" sz="2000"/>
              <a:t>radius</a:t>
            </a:r>
            <a:r>
              <a:rPr lang="en-GB" sz="2000"/>
              <a:t>.</a:t>
            </a:r>
            <a:endParaRPr sz="2000"/>
          </a:p>
        </p:txBody>
      </p:sp>
      <p:sp>
        <p:nvSpPr>
          <p:cNvPr id="819" name="Google Shape;819;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Parts of a circle</a:t>
            </a:r>
            <a:endParaRPr/>
          </a:p>
        </p:txBody>
      </p:sp>
      <p:sp>
        <p:nvSpPr>
          <p:cNvPr id="820" name="Google Shape;820;p71"/>
          <p:cNvSpPr/>
          <p:nvPr/>
        </p:nvSpPr>
        <p:spPr>
          <a:xfrm>
            <a:off x="1461390" y="2747077"/>
            <a:ext cx="1812600" cy="18126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1" name="Google Shape;821;p71"/>
          <p:cNvSpPr txBox="1"/>
          <p:nvPr>
            <p:ph idx="4294967295" type="subTitle"/>
          </p:nvPr>
        </p:nvSpPr>
        <p:spPr>
          <a:xfrm>
            <a:off x="713743" y="2711199"/>
            <a:ext cx="7542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1" lang="en-GB" sz="1800"/>
              <a:t>radius</a:t>
            </a:r>
            <a:endParaRPr sz="1800"/>
          </a:p>
        </p:txBody>
      </p:sp>
      <p:cxnSp>
        <p:nvCxnSpPr>
          <p:cNvPr id="822" name="Google Shape;822;p71"/>
          <p:cNvCxnSpPr>
            <a:stCxn id="820" idx="0"/>
            <a:endCxn id="823" idx="4"/>
          </p:cNvCxnSpPr>
          <p:nvPr/>
        </p:nvCxnSpPr>
        <p:spPr>
          <a:xfrm>
            <a:off x="2367690" y="2747077"/>
            <a:ext cx="0" cy="971100"/>
          </a:xfrm>
          <a:prstGeom prst="straightConnector1">
            <a:avLst/>
          </a:prstGeom>
          <a:noFill/>
          <a:ln cap="flat" cmpd="sng" w="38100">
            <a:solidFill>
              <a:schemeClr val="accent4"/>
            </a:solidFill>
            <a:prstDash val="solid"/>
            <a:round/>
            <a:headEnd len="med" w="med" type="none"/>
            <a:tailEnd len="med" w="med" type="none"/>
          </a:ln>
        </p:spPr>
      </p:cxnSp>
      <p:sp>
        <p:nvSpPr>
          <p:cNvPr id="824" name="Google Shape;824;p71"/>
          <p:cNvSpPr txBox="1"/>
          <p:nvPr>
            <p:ph idx="1" type="body"/>
          </p:nvPr>
        </p:nvSpPr>
        <p:spPr>
          <a:xfrm>
            <a:off x="324000" y="1140300"/>
            <a:ext cx="8237700" cy="7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a:t>
            </a:r>
            <a:r>
              <a:rPr b="1" lang="en-GB" sz="2000"/>
              <a:t>radius</a:t>
            </a:r>
            <a:r>
              <a:rPr lang="en-GB" sz="2000"/>
              <a:t> of a circle is </a:t>
            </a:r>
            <a:r>
              <a:rPr lang="en-GB" sz="2000">
                <a:solidFill>
                  <a:schemeClr val="accent4"/>
                </a:solidFill>
              </a:rPr>
              <a:t>any</a:t>
            </a:r>
            <a:r>
              <a:rPr lang="en-GB" sz="2000"/>
              <a:t> line segment that joins the </a:t>
            </a:r>
            <a:r>
              <a:rPr lang="en-GB" sz="2000">
                <a:solidFill>
                  <a:schemeClr val="accent4"/>
                </a:solidFill>
              </a:rPr>
              <a:t>centre</a:t>
            </a:r>
            <a:r>
              <a:rPr lang="en-GB" sz="2000"/>
              <a:t> of a circle to its </a:t>
            </a:r>
            <a:r>
              <a:rPr lang="en-GB" sz="2000">
                <a:solidFill>
                  <a:schemeClr val="accent4"/>
                </a:solidFill>
              </a:rPr>
              <a:t>edge</a:t>
            </a:r>
            <a:r>
              <a:rPr lang="en-GB" sz="2000"/>
              <a:t>. Its length is the same in every direction.</a:t>
            </a:r>
            <a:endParaRPr sz="2000"/>
          </a:p>
        </p:txBody>
      </p:sp>
      <p:cxnSp>
        <p:nvCxnSpPr>
          <p:cNvPr id="825" name="Google Shape;825;p71"/>
          <p:cNvCxnSpPr/>
          <p:nvPr/>
        </p:nvCxnSpPr>
        <p:spPr>
          <a:xfrm>
            <a:off x="1497386" y="2895668"/>
            <a:ext cx="843300" cy="292500"/>
          </a:xfrm>
          <a:prstGeom prst="straightConnector1">
            <a:avLst/>
          </a:prstGeom>
          <a:noFill/>
          <a:ln cap="flat" cmpd="sng" w="38100">
            <a:solidFill>
              <a:schemeClr val="dk1"/>
            </a:solidFill>
            <a:prstDash val="solid"/>
            <a:round/>
            <a:headEnd len="med" w="med" type="none"/>
            <a:tailEnd len="med" w="med" type="none"/>
          </a:ln>
        </p:spPr>
      </p:cxnSp>
      <p:sp>
        <p:nvSpPr>
          <p:cNvPr id="826" name="Google Shape;826;p71"/>
          <p:cNvSpPr txBox="1"/>
          <p:nvPr>
            <p:ph idx="1" type="body"/>
          </p:nvPr>
        </p:nvSpPr>
        <p:spPr>
          <a:xfrm>
            <a:off x="311549" y="1889849"/>
            <a:ext cx="3672900" cy="41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plural for </a:t>
            </a:r>
            <a:r>
              <a:rPr b="1" lang="en-GB" sz="2000"/>
              <a:t>radius</a:t>
            </a:r>
            <a:r>
              <a:rPr lang="en-GB" sz="2000"/>
              <a:t> is </a:t>
            </a:r>
            <a:r>
              <a:rPr b="1" lang="en-GB" sz="2000"/>
              <a:t>radii</a:t>
            </a:r>
            <a:r>
              <a:rPr lang="en-GB" sz="2000"/>
              <a:t>.</a:t>
            </a:r>
            <a:endParaRPr sz="2000"/>
          </a:p>
        </p:txBody>
      </p:sp>
      <p:cxnSp>
        <p:nvCxnSpPr>
          <p:cNvPr id="827" name="Google Shape;827;p71"/>
          <p:cNvCxnSpPr/>
          <p:nvPr/>
        </p:nvCxnSpPr>
        <p:spPr>
          <a:xfrm flipH="1" rot="10800000">
            <a:off x="1561886" y="3666247"/>
            <a:ext cx="800100" cy="366000"/>
          </a:xfrm>
          <a:prstGeom prst="straightConnector1">
            <a:avLst/>
          </a:prstGeom>
          <a:noFill/>
          <a:ln cap="flat" cmpd="sng" w="38100">
            <a:solidFill>
              <a:schemeClr val="accent4"/>
            </a:solidFill>
            <a:prstDash val="solid"/>
            <a:round/>
            <a:headEnd len="med" w="med" type="none"/>
            <a:tailEnd len="med" w="med" type="none"/>
          </a:ln>
        </p:spPr>
      </p:cxnSp>
      <p:sp>
        <p:nvSpPr>
          <p:cNvPr id="828" name="Google Shape;828;p71"/>
          <p:cNvSpPr txBox="1"/>
          <p:nvPr>
            <p:ph idx="4294967295" type="subTitle"/>
          </p:nvPr>
        </p:nvSpPr>
        <p:spPr>
          <a:xfrm>
            <a:off x="317471" y="3617650"/>
            <a:ext cx="7542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1" lang="en-GB" sz="1800"/>
              <a:t>radius</a:t>
            </a:r>
            <a:endParaRPr sz="1800"/>
          </a:p>
        </p:txBody>
      </p:sp>
      <p:cxnSp>
        <p:nvCxnSpPr>
          <p:cNvPr id="829" name="Google Shape;829;p71"/>
          <p:cNvCxnSpPr/>
          <p:nvPr/>
        </p:nvCxnSpPr>
        <p:spPr>
          <a:xfrm>
            <a:off x="1081762" y="3781819"/>
            <a:ext cx="712800" cy="115200"/>
          </a:xfrm>
          <a:prstGeom prst="straightConnector1">
            <a:avLst/>
          </a:prstGeom>
          <a:noFill/>
          <a:ln cap="flat" cmpd="sng" w="38100">
            <a:solidFill>
              <a:schemeClr val="dk1"/>
            </a:solidFill>
            <a:prstDash val="solid"/>
            <a:round/>
            <a:headEnd len="med" w="med" type="none"/>
            <a:tailEnd len="med" w="med" type="none"/>
          </a:ln>
        </p:spPr>
      </p:cxnSp>
      <p:sp>
        <p:nvSpPr>
          <p:cNvPr id="830" name="Google Shape;830;p71"/>
          <p:cNvSpPr txBox="1"/>
          <p:nvPr>
            <p:ph idx="4294967295" type="subTitle"/>
          </p:nvPr>
        </p:nvSpPr>
        <p:spPr>
          <a:xfrm>
            <a:off x="616932" y="3215141"/>
            <a:ext cx="5739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1" lang="en-GB" sz="1800"/>
              <a:t>radii</a:t>
            </a:r>
            <a:endParaRPr sz="1800"/>
          </a:p>
        </p:txBody>
      </p:sp>
      <p:cxnSp>
        <p:nvCxnSpPr>
          <p:cNvPr id="831" name="Google Shape;831;p71"/>
          <p:cNvCxnSpPr/>
          <p:nvPr/>
        </p:nvCxnSpPr>
        <p:spPr>
          <a:xfrm>
            <a:off x="1183049" y="3452420"/>
            <a:ext cx="595500" cy="441900"/>
          </a:xfrm>
          <a:prstGeom prst="straightConnector1">
            <a:avLst/>
          </a:prstGeom>
          <a:noFill/>
          <a:ln cap="flat" cmpd="sng" w="38100">
            <a:solidFill>
              <a:schemeClr val="dk1"/>
            </a:solidFill>
            <a:prstDash val="solid"/>
            <a:round/>
            <a:headEnd len="med" w="med" type="none"/>
            <a:tailEnd len="med" w="med" type="none"/>
          </a:ln>
        </p:spPr>
      </p:cxnSp>
      <p:cxnSp>
        <p:nvCxnSpPr>
          <p:cNvPr id="832" name="Google Shape;832;p71"/>
          <p:cNvCxnSpPr/>
          <p:nvPr/>
        </p:nvCxnSpPr>
        <p:spPr>
          <a:xfrm flipH="1" rot="10800000">
            <a:off x="1209695" y="3181611"/>
            <a:ext cx="1110600" cy="135300"/>
          </a:xfrm>
          <a:prstGeom prst="straightConnector1">
            <a:avLst/>
          </a:prstGeom>
          <a:noFill/>
          <a:ln cap="flat" cmpd="sng" w="38100">
            <a:solidFill>
              <a:schemeClr val="dk1"/>
            </a:solidFill>
            <a:prstDash val="solid"/>
            <a:round/>
            <a:headEnd len="med" w="med" type="none"/>
            <a:tailEnd len="med" w="med" type="none"/>
          </a:ln>
        </p:spPr>
      </p:cxnSp>
      <p:cxnSp>
        <p:nvCxnSpPr>
          <p:cNvPr id="833" name="Google Shape;833;p71"/>
          <p:cNvCxnSpPr>
            <a:stCxn id="820" idx="6"/>
          </p:cNvCxnSpPr>
          <p:nvPr/>
        </p:nvCxnSpPr>
        <p:spPr>
          <a:xfrm flipH="1">
            <a:off x="2370390" y="3653377"/>
            <a:ext cx="903600" cy="4800"/>
          </a:xfrm>
          <a:prstGeom prst="straightConnector1">
            <a:avLst/>
          </a:prstGeom>
          <a:noFill/>
          <a:ln cap="flat" cmpd="sng" w="38100">
            <a:solidFill>
              <a:schemeClr val="accent4"/>
            </a:solidFill>
            <a:prstDash val="solid"/>
            <a:round/>
            <a:headEnd len="med" w="med" type="none"/>
            <a:tailEnd len="med" w="med" type="none"/>
          </a:ln>
        </p:spPr>
      </p:cxnSp>
      <p:sp>
        <p:nvSpPr>
          <p:cNvPr id="834" name="Google Shape;834;p71"/>
          <p:cNvSpPr txBox="1"/>
          <p:nvPr>
            <p:ph idx="4294967295" type="subTitle"/>
          </p:nvPr>
        </p:nvSpPr>
        <p:spPr>
          <a:xfrm>
            <a:off x="3315494" y="2729875"/>
            <a:ext cx="7542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1" lang="en-GB" sz="1800"/>
              <a:t>radius</a:t>
            </a:r>
            <a:endParaRPr sz="1800"/>
          </a:p>
        </p:txBody>
      </p:sp>
      <p:cxnSp>
        <p:nvCxnSpPr>
          <p:cNvPr id="835" name="Google Shape;835;p71"/>
          <p:cNvCxnSpPr/>
          <p:nvPr/>
        </p:nvCxnSpPr>
        <p:spPr>
          <a:xfrm flipH="1" rot="10800000">
            <a:off x="2960925" y="2942749"/>
            <a:ext cx="349800" cy="688200"/>
          </a:xfrm>
          <a:prstGeom prst="straightConnector1">
            <a:avLst/>
          </a:prstGeom>
          <a:noFill/>
          <a:ln cap="flat" cmpd="sng" w="38100">
            <a:solidFill>
              <a:schemeClr val="dk1"/>
            </a:solidFill>
            <a:prstDash val="solid"/>
            <a:round/>
            <a:headEnd len="med" w="med" type="none"/>
            <a:tailEnd len="med" w="med" type="none"/>
          </a:ln>
        </p:spPr>
      </p:cxnSp>
      <p:sp>
        <p:nvSpPr>
          <p:cNvPr id="823" name="Google Shape;823;p71"/>
          <p:cNvSpPr/>
          <p:nvPr/>
        </p:nvSpPr>
        <p:spPr>
          <a:xfrm>
            <a:off x="2303647" y="3590025"/>
            <a:ext cx="128100" cy="128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6" name="Google Shape;836;p71"/>
          <p:cNvSpPr/>
          <p:nvPr/>
        </p:nvSpPr>
        <p:spPr>
          <a:xfrm>
            <a:off x="5239949" y="2823277"/>
            <a:ext cx="1812600" cy="18126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7" name="Google Shape;837;p71"/>
          <p:cNvSpPr txBox="1"/>
          <p:nvPr>
            <p:ph idx="4294967295" type="subTitle"/>
          </p:nvPr>
        </p:nvSpPr>
        <p:spPr>
          <a:xfrm>
            <a:off x="7021593" y="2535144"/>
            <a:ext cx="15369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not a</a:t>
            </a:r>
            <a:r>
              <a:rPr b="1" lang="en-GB" sz="1800"/>
              <a:t> </a:t>
            </a:r>
            <a:r>
              <a:rPr b="1" lang="en-GB" sz="1800"/>
              <a:t>radius</a:t>
            </a:r>
            <a:endParaRPr sz="1800"/>
          </a:p>
        </p:txBody>
      </p:sp>
      <p:cxnSp>
        <p:nvCxnSpPr>
          <p:cNvPr id="838" name="Google Shape;838;p71"/>
          <p:cNvCxnSpPr/>
          <p:nvPr/>
        </p:nvCxnSpPr>
        <p:spPr>
          <a:xfrm flipH="1" rot="10800000">
            <a:off x="6661575" y="2766200"/>
            <a:ext cx="345600" cy="469200"/>
          </a:xfrm>
          <a:prstGeom prst="straightConnector1">
            <a:avLst/>
          </a:prstGeom>
          <a:noFill/>
          <a:ln cap="flat" cmpd="sng" w="38100">
            <a:solidFill>
              <a:schemeClr val="dk1"/>
            </a:solidFill>
            <a:prstDash val="solid"/>
            <a:round/>
            <a:headEnd len="med" w="med" type="none"/>
            <a:tailEnd len="med" w="med" type="none"/>
          </a:ln>
        </p:spPr>
      </p:cxnSp>
      <p:cxnSp>
        <p:nvCxnSpPr>
          <p:cNvPr id="839" name="Google Shape;839;p71"/>
          <p:cNvCxnSpPr>
            <a:stCxn id="836" idx="6"/>
            <a:endCxn id="836" idx="0"/>
          </p:cNvCxnSpPr>
          <p:nvPr/>
        </p:nvCxnSpPr>
        <p:spPr>
          <a:xfrm rot="10800000">
            <a:off x="6146249" y="2823277"/>
            <a:ext cx="906300" cy="906300"/>
          </a:xfrm>
          <a:prstGeom prst="straightConnector1">
            <a:avLst/>
          </a:prstGeom>
          <a:noFill/>
          <a:ln cap="flat" cmpd="sng" w="38100">
            <a:solidFill>
              <a:schemeClr val="accent4"/>
            </a:solidFill>
            <a:prstDash val="solid"/>
            <a:round/>
            <a:headEnd len="med" w="med" type="none"/>
            <a:tailEnd len="med" w="med" type="none"/>
          </a:ln>
        </p:spPr>
      </p:cxnSp>
      <p:cxnSp>
        <p:nvCxnSpPr>
          <p:cNvPr id="840" name="Google Shape;840;p71"/>
          <p:cNvCxnSpPr/>
          <p:nvPr/>
        </p:nvCxnSpPr>
        <p:spPr>
          <a:xfrm rot="10800000">
            <a:off x="6145954" y="3712579"/>
            <a:ext cx="600" cy="576900"/>
          </a:xfrm>
          <a:prstGeom prst="straightConnector1">
            <a:avLst/>
          </a:prstGeom>
          <a:noFill/>
          <a:ln cap="flat" cmpd="sng" w="38100">
            <a:solidFill>
              <a:schemeClr val="accent4"/>
            </a:solidFill>
            <a:prstDash val="solid"/>
            <a:round/>
            <a:headEnd len="med" w="med" type="none"/>
            <a:tailEnd len="med" w="med" type="none"/>
          </a:ln>
        </p:spPr>
      </p:cxnSp>
      <p:cxnSp>
        <p:nvCxnSpPr>
          <p:cNvPr id="841" name="Google Shape;841;p71"/>
          <p:cNvCxnSpPr>
            <a:endCxn id="842" idx="1"/>
          </p:cNvCxnSpPr>
          <p:nvPr/>
        </p:nvCxnSpPr>
        <p:spPr>
          <a:xfrm>
            <a:off x="6210252" y="4113150"/>
            <a:ext cx="984300" cy="99600"/>
          </a:xfrm>
          <a:prstGeom prst="straightConnector1">
            <a:avLst/>
          </a:prstGeom>
          <a:noFill/>
          <a:ln cap="flat" cmpd="sng" w="38100">
            <a:solidFill>
              <a:schemeClr val="dk1"/>
            </a:solidFill>
            <a:prstDash val="solid"/>
            <a:round/>
            <a:headEnd len="med" w="med" type="none"/>
            <a:tailEnd len="med" w="med" type="none"/>
          </a:ln>
        </p:spPr>
      </p:cxnSp>
      <p:sp>
        <p:nvSpPr>
          <p:cNvPr id="843" name="Google Shape;843;p71"/>
          <p:cNvSpPr/>
          <p:nvPr/>
        </p:nvSpPr>
        <p:spPr>
          <a:xfrm>
            <a:off x="6082206" y="3666225"/>
            <a:ext cx="128100" cy="128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2" name="Google Shape;842;p71"/>
          <p:cNvSpPr txBox="1"/>
          <p:nvPr>
            <p:ph idx="4294967295" type="subTitle"/>
          </p:nvPr>
        </p:nvSpPr>
        <p:spPr>
          <a:xfrm>
            <a:off x="7194552" y="4060500"/>
            <a:ext cx="16737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not a</a:t>
            </a:r>
            <a:r>
              <a:rPr b="1" lang="en-GB" sz="1800"/>
              <a:t> radius</a:t>
            </a:r>
            <a:endParaRPr sz="1800"/>
          </a:p>
        </p:txBody>
      </p:sp>
      <p:sp>
        <p:nvSpPr>
          <p:cNvPr id="844" name="Google Shape;844;p71"/>
          <p:cNvSpPr txBox="1"/>
          <p:nvPr>
            <p:ph idx="1" type="body"/>
          </p:nvPr>
        </p:nvSpPr>
        <p:spPr>
          <a:xfrm>
            <a:off x="4566300" y="2258400"/>
            <a:ext cx="2129100" cy="41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Non-e</a:t>
            </a:r>
            <a:r>
              <a:rPr lang="en-GB" sz="2000"/>
              <a:t>xamples:</a:t>
            </a:r>
            <a:endParaRPr sz="2000"/>
          </a:p>
        </p:txBody>
      </p:sp>
      <p:cxnSp>
        <p:nvCxnSpPr>
          <p:cNvPr id="845" name="Google Shape;845;p71"/>
          <p:cNvCxnSpPr>
            <a:stCxn id="836" idx="2"/>
          </p:cNvCxnSpPr>
          <p:nvPr/>
        </p:nvCxnSpPr>
        <p:spPr>
          <a:xfrm flipH="1" rot="10800000">
            <a:off x="5239949" y="3459577"/>
            <a:ext cx="904800" cy="270000"/>
          </a:xfrm>
          <a:prstGeom prst="straightConnector1">
            <a:avLst/>
          </a:prstGeom>
          <a:noFill/>
          <a:ln cap="flat" cmpd="sng" w="38100">
            <a:solidFill>
              <a:schemeClr val="accent4"/>
            </a:solidFill>
            <a:prstDash val="solid"/>
            <a:round/>
            <a:headEnd len="med" w="med" type="none"/>
            <a:tailEnd len="med" w="med" type="none"/>
          </a:ln>
        </p:spPr>
      </p:cxnSp>
      <p:sp>
        <p:nvSpPr>
          <p:cNvPr id="846" name="Google Shape;846;p71"/>
          <p:cNvSpPr txBox="1"/>
          <p:nvPr>
            <p:ph idx="4294967295" type="subTitle"/>
          </p:nvPr>
        </p:nvSpPr>
        <p:spPr>
          <a:xfrm>
            <a:off x="4336802" y="4585875"/>
            <a:ext cx="16737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not a</a:t>
            </a:r>
            <a:r>
              <a:rPr b="1" lang="en-GB" sz="1800"/>
              <a:t> radius</a:t>
            </a:r>
            <a:endParaRPr sz="1800"/>
          </a:p>
        </p:txBody>
      </p:sp>
      <p:cxnSp>
        <p:nvCxnSpPr>
          <p:cNvPr id="847" name="Google Shape;847;p71"/>
          <p:cNvCxnSpPr/>
          <p:nvPr/>
        </p:nvCxnSpPr>
        <p:spPr>
          <a:xfrm flipH="1" rot="10800000">
            <a:off x="4651200" y="3776975"/>
            <a:ext cx="746400" cy="85890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2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2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2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cxnSp>
        <p:nvCxnSpPr>
          <p:cNvPr id="852" name="Google Shape;852;p72"/>
          <p:cNvCxnSpPr/>
          <p:nvPr/>
        </p:nvCxnSpPr>
        <p:spPr>
          <a:xfrm rot="10800000">
            <a:off x="1461390" y="3653377"/>
            <a:ext cx="1812600" cy="0"/>
          </a:xfrm>
          <a:prstGeom prst="straightConnector1">
            <a:avLst/>
          </a:prstGeom>
          <a:noFill/>
          <a:ln cap="flat" cmpd="sng" w="38100">
            <a:solidFill>
              <a:schemeClr val="accent4"/>
            </a:solidFill>
            <a:prstDash val="solid"/>
            <a:round/>
            <a:headEnd len="med" w="med" type="none"/>
            <a:tailEnd len="med" w="med" type="none"/>
          </a:ln>
        </p:spPr>
      </p:cxnSp>
      <p:sp>
        <p:nvSpPr>
          <p:cNvPr id="853" name="Google Shape;853;p72"/>
          <p:cNvSpPr/>
          <p:nvPr/>
        </p:nvSpPr>
        <p:spPr>
          <a:xfrm>
            <a:off x="1461390" y="2747077"/>
            <a:ext cx="1812600" cy="18126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4" name="Google Shape;854;p72"/>
          <p:cNvCxnSpPr>
            <a:stCxn id="853" idx="0"/>
            <a:endCxn id="853" idx="4"/>
          </p:cNvCxnSpPr>
          <p:nvPr/>
        </p:nvCxnSpPr>
        <p:spPr>
          <a:xfrm>
            <a:off x="2367690" y="2747077"/>
            <a:ext cx="0" cy="1812600"/>
          </a:xfrm>
          <a:prstGeom prst="straightConnector1">
            <a:avLst/>
          </a:prstGeom>
          <a:noFill/>
          <a:ln cap="flat" cmpd="sng" w="38100">
            <a:solidFill>
              <a:schemeClr val="accent4"/>
            </a:solidFill>
            <a:prstDash val="solid"/>
            <a:round/>
            <a:headEnd len="med" w="med" type="none"/>
            <a:tailEnd len="med" w="med" type="none"/>
          </a:ln>
        </p:spPr>
      </p:cxnSp>
      <p:sp>
        <p:nvSpPr>
          <p:cNvPr id="855" name="Google Shape;855;p72"/>
          <p:cNvSpPr txBox="1"/>
          <p:nvPr>
            <p:ph idx="1" type="body"/>
          </p:nvPr>
        </p:nvSpPr>
        <p:spPr>
          <a:xfrm>
            <a:off x="324000" y="759300"/>
            <a:ext cx="8496000" cy="7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greatest distance that can be travelled from one side of a circle to the other must go </a:t>
            </a:r>
            <a:r>
              <a:rPr lang="en-GB" sz="2000">
                <a:solidFill>
                  <a:schemeClr val="accent4"/>
                </a:solidFill>
              </a:rPr>
              <a:t>through the centre</a:t>
            </a:r>
            <a:r>
              <a:rPr lang="en-GB" sz="2000"/>
              <a:t>. </a:t>
            </a:r>
            <a:endParaRPr sz="2000"/>
          </a:p>
        </p:txBody>
      </p:sp>
      <p:sp>
        <p:nvSpPr>
          <p:cNvPr id="856" name="Google Shape;856;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Parts of a circle</a:t>
            </a:r>
            <a:endParaRPr/>
          </a:p>
        </p:txBody>
      </p:sp>
      <p:sp>
        <p:nvSpPr>
          <p:cNvPr id="857" name="Google Shape;857;p72"/>
          <p:cNvSpPr txBox="1"/>
          <p:nvPr>
            <p:ph idx="4294967295" type="subTitle"/>
          </p:nvPr>
        </p:nvSpPr>
        <p:spPr>
          <a:xfrm>
            <a:off x="324000" y="1504800"/>
            <a:ext cx="8496000" cy="802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solidFill>
                  <a:srgbClr val="282828"/>
                </a:solidFill>
              </a:rPr>
              <a:t>The </a:t>
            </a:r>
            <a:r>
              <a:rPr b="1" lang="en-GB" sz="2000">
                <a:solidFill>
                  <a:srgbClr val="282828"/>
                </a:solidFill>
              </a:rPr>
              <a:t>diameter</a:t>
            </a:r>
            <a:r>
              <a:rPr lang="en-GB" sz="2000">
                <a:solidFill>
                  <a:srgbClr val="282828"/>
                </a:solidFill>
              </a:rPr>
              <a:t> of a circle is any line segment that starts and ends on the </a:t>
            </a:r>
            <a:r>
              <a:rPr b="1" lang="en-GB" sz="2000">
                <a:solidFill>
                  <a:srgbClr val="282828"/>
                </a:solidFill>
              </a:rPr>
              <a:t>circumference</a:t>
            </a:r>
            <a:r>
              <a:rPr lang="en-GB" sz="2000">
                <a:solidFill>
                  <a:srgbClr val="282828"/>
                </a:solidFill>
              </a:rPr>
              <a:t> of the circle and passes through the centre.</a:t>
            </a:r>
            <a:endParaRPr sz="1800"/>
          </a:p>
        </p:txBody>
      </p:sp>
      <p:sp>
        <p:nvSpPr>
          <p:cNvPr id="858" name="Google Shape;858;p72"/>
          <p:cNvSpPr txBox="1"/>
          <p:nvPr>
            <p:ph idx="4294967295" type="subTitle"/>
          </p:nvPr>
        </p:nvSpPr>
        <p:spPr>
          <a:xfrm>
            <a:off x="433550" y="2711200"/>
            <a:ext cx="11106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1" lang="en-GB" sz="1800"/>
              <a:t>diameter</a:t>
            </a:r>
            <a:endParaRPr sz="1800"/>
          </a:p>
        </p:txBody>
      </p:sp>
      <p:cxnSp>
        <p:nvCxnSpPr>
          <p:cNvPr id="859" name="Google Shape;859;p72"/>
          <p:cNvCxnSpPr>
            <a:stCxn id="853" idx="3"/>
            <a:endCxn id="853" idx="7"/>
          </p:cNvCxnSpPr>
          <p:nvPr/>
        </p:nvCxnSpPr>
        <p:spPr>
          <a:xfrm flipH="1" rot="10800000">
            <a:off x="1726840" y="3012628"/>
            <a:ext cx="1281600" cy="1281600"/>
          </a:xfrm>
          <a:prstGeom prst="straightConnector1">
            <a:avLst/>
          </a:prstGeom>
          <a:noFill/>
          <a:ln cap="flat" cmpd="sng" w="38100">
            <a:solidFill>
              <a:schemeClr val="accent4"/>
            </a:solidFill>
            <a:prstDash val="solid"/>
            <a:round/>
            <a:headEnd len="med" w="med" type="none"/>
            <a:tailEnd len="med" w="med" type="none"/>
          </a:ln>
        </p:spPr>
      </p:cxnSp>
      <p:cxnSp>
        <p:nvCxnSpPr>
          <p:cNvPr id="860" name="Google Shape;860;p72"/>
          <p:cNvCxnSpPr>
            <a:stCxn id="858" idx="3"/>
          </p:cNvCxnSpPr>
          <p:nvPr/>
        </p:nvCxnSpPr>
        <p:spPr>
          <a:xfrm>
            <a:off x="1544150" y="2863450"/>
            <a:ext cx="777600" cy="37200"/>
          </a:xfrm>
          <a:prstGeom prst="straightConnector1">
            <a:avLst/>
          </a:prstGeom>
          <a:noFill/>
          <a:ln cap="flat" cmpd="sng" w="38100">
            <a:solidFill>
              <a:schemeClr val="dk1"/>
            </a:solidFill>
            <a:prstDash val="solid"/>
            <a:round/>
            <a:headEnd len="med" w="med" type="none"/>
            <a:tailEnd len="med" w="med" type="none"/>
          </a:ln>
        </p:spPr>
      </p:cxnSp>
      <p:cxnSp>
        <p:nvCxnSpPr>
          <p:cNvPr id="861" name="Google Shape;861;p72"/>
          <p:cNvCxnSpPr>
            <a:stCxn id="853" idx="6"/>
            <a:endCxn id="853" idx="2"/>
          </p:cNvCxnSpPr>
          <p:nvPr/>
        </p:nvCxnSpPr>
        <p:spPr>
          <a:xfrm rot="10800000">
            <a:off x="1461390" y="3653377"/>
            <a:ext cx="1812600" cy="0"/>
          </a:xfrm>
          <a:prstGeom prst="straightConnector1">
            <a:avLst/>
          </a:prstGeom>
          <a:noFill/>
          <a:ln cap="flat" cmpd="sng" w="38100">
            <a:solidFill>
              <a:schemeClr val="accent4"/>
            </a:solidFill>
            <a:prstDash val="solid"/>
            <a:round/>
            <a:headEnd len="med" w="med" type="triangle"/>
            <a:tailEnd len="med" w="med" type="triangle"/>
          </a:ln>
        </p:spPr>
      </p:cxnSp>
      <p:sp>
        <p:nvSpPr>
          <p:cNvPr id="862" name="Google Shape;862;p72"/>
          <p:cNvSpPr/>
          <p:nvPr/>
        </p:nvSpPr>
        <p:spPr>
          <a:xfrm>
            <a:off x="2303647" y="3590025"/>
            <a:ext cx="128100" cy="128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3" name="Google Shape;863;p72"/>
          <p:cNvSpPr/>
          <p:nvPr/>
        </p:nvSpPr>
        <p:spPr>
          <a:xfrm>
            <a:off x="5239949" y="2823277"/>
            <a:ext cx="1812600" cy="18126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4" name="Google Shape;864;p72"/>
          <p:cNvSpPr txBox="1"/>
          <p:nvPr>
            <p:ph idx="4294967295" type="subTitle"/>
          </p:nvPr>
        </p:nvSpPr>
        <p:spPr>
          <a:xfrm>
            <a:off x="7097801" y="2763750"/>
            <a:ext cx="18126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not a</a:t>
            </a:r>
            <a:r>
              <a:rPr b="1" lang="en-GB" sz="1800"/>
              <a:t> diameter</a:t>
            </a:r>
            <a:endParaRPr sz="1800"/>
          </a:p>
        </p:txBody>
      </p:sp>
      <p:cxnSp>
        <p:nvCxnSpPr>
          <p:cNvPr id="865" name="Google Shape;865;p72"/>
          <p:cNvCxnSpPr/>
          <p:nvPr/>
        </p:nvCxnSpPr>
        <p:spPr>
          <a:xfrm flipH="1" rot="10800000">
            <a:off x="6619075" y="3035650"/>
            <a:ext cx="502200" cy="509100"/>
          </a:xfrm>
          <a:prstGeom prst="straightConnector1">
            <a:avLst/>
          </a:prstGeom>
          <a:noFill/>
          <a:ln cap="flat" cmpd="sng" w="38100">
            <a:solidFill>
              <a:schemeClr val="dk1"/>
            </a:solidFill>
            <a:prstDash val="solid"/>
            <a:round/>
            <a:headEnd len="med" w="med" type="none"/>
            <a:tailEnd len="med" w="med" type="none"/>
          </a:ln>
        </p:spPr>
      </p:cxnSp>
      <p:cxnSp>
        <p:nvCxnSpPr>
          <p:cNvPr id="866" name="Google Shape;866;p72"/>
          <p:cNvCxnSpPr>
            <a:stCxn id="863" idx="6"/>
            <a:endCxn id="863" idx="1"/>
          </p:cNvCxnSpPr>
          <p:nvPr/>
        </p:nvCxnSpPr>
        <p:spPr>
          <a:xfrm rot="10800000">
            <a:off x="5505449" y="3088777"/>
            <a:ext cx="1547100" cy="640800"/>
          </a:xfrm>
          <a:prstGeom prst="straightConnector1">
            <a:avLst/>
          </a:prstGeom>
          <a:noFill/>
          <a:ln cap="flat" cmpd="sng" w="38100">
            <a:solidFill>
              <a:schemeClr val="accent4"/>
            </a:solidFill>
            <a:prstDash val="solid"/>
            <a:round/>
            <a:headEnd len="med" w="med" type="none"/>
            <a:tailEnd len="med" w="med" type="none"/>
          </a:ln>
        </p:spPr>
      </p:cxnSp>
      <p:sp>
        <p:nvSpPr>
          <p:cNvPr id="867" name="Google Shape;867;p72"/>
          <p:cNvSpPr txBox="1"/>
          <p:nvPr>
            <p:ph idx="1" type="body"/>
          </p:nvPr>
        </p:nvSpPr>
        <p:spPr>
          <a:xfrm>
            <a:off x="4337700" y="2410800"/>
            <a:ext cx="2129100" cy="41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N</a:t>
            </a:r>
            <a:r>
              <a:rPr lang="en-GB" sz="2000"/>
              <a:t>on-examples:</a:t>
            </a:r>
            <a:endParaRPr sz="2000"/>
          </a:p>
        </p:txBody>
      </p:sp>
      <p:cxnSp>
        <p:nvCxnSpPr>
          <p:cNvPr id="868" name="Google Shape;868;p72"/>
          <p:cNvCxnSpPr/>
          <p:nvPr/>
        </p:nvCxnSpPr>
        <p:spPr>
          <a:xfrm flipH="1" rot="10800000">
            <a:off x="5266956" y="3733425"/>
            <a:ext cx="879600" cy="12300"/>
          </a:xfrm>
          <a:prstGeom prst="straightConnector1">
            <a:avLst/>
          </a:prstGeom>
          <a:noFill/>
          <a:ln cap="flat" cmpd="sng" w="38100">
            <a:solidFill>
              <a:schemeClr val="accent4"/>
            </a:solidFill>
            <a:prstDash val="solid"/>
            <a:round/>
            <a:headEnd len="med" w="med" type="none"/>
            <a:tailEnd len="med" w="med" type="none"/>
          </a:ln>
        </p:spPr>
      </p:cxnSp>
      <p:sp>
        <p:nvSpPr>
          <p:cNvPr id="869" name="Google Shape;869;p72"/>
          <p:cNvSpPr txBox="1"/>
          <p:nvPr>
            <p:ph idx="4294967295" type="subTitle"/>
          </p:nvPr>
        </p:nvSpPr>
        <p:spPr>
          <a:xfrm>
            <a:off x="4197900" y="4585875"/>
            <a:ext cx="1812600" cy="304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not a</a:t>
            </a:r>
            <a:r>
              <a:rPr b="1" lang="en-GB" sz="1800"/>
              <a:t> diameter</a:t>
            </a:r>
            <a:endParaRPr sz="1800"/>
          </a:p>
        </p:txBody>
      </p:sp>
      <p:cxnSp>
        <p:nvCxnSpPr>
          <p:cNvPr id="870" name="Google Shape;870;p72"/>
          <p:cNvCxnSpPr/>
          <p:nvPr/>
        </p:nvCxnSpPr>
        <p:spPr>
          <a:xfrm flipH="1" rot="10800000">
            <a:off x="4651200" y="3764075"/>
            <a:ext cx="827400" cy="871800"/>
          </a:xfrm>
          <a:prstGeom prst="straightConnector1">
            <a:avLst/>
          </a:prstGeom>
          <a:noFill/>
          <a:ln cap="flat" cmpd="sng" w="38100">
            <a:solidFill>
              <a:schemeClr val="dk1"/>
            </a:solidFill>
            <a:prstDash val="solid"/>
            <a:round/>
            <a:headEnd len="med" w="med" type="none"/>
            <a:tailEnd len="med" w="med" type="none"/>
          </a:ln>
        </p:spPr>
      </p:cxnSp>
      <p:cxnSp>
        <p:nvCxnSpPr>
          <p:cNvPr id="871" name="Google Shape;871;p72"/>
          <p:cNvCxnSpPr/>
          <p:nvPr/>
        </p:nvCxnSpPr>
        <p:spPr>
          <a:xfrm>
            <a:off x="1419475" y="2998900"/>
            <a:ext cx="610200" cy="622500"/>
          </a:xfrm>
          <a:prstGeom prst="straightConnector1">
            <a:avLst/>
          </a:prstGeom>
          <a:noFill/>
          <a:ln cap="flat" cmpd="sng" w="38100">
            <a:solidFill>
              <a:schemeClr val="dk1"/>
            </a:solidFill>
            <a:prstDash val="solid"/>
            <a:round/>
            <a:headEnd len="med" w="med" type="none"/>
            <a:tailEnd len="med" w="med" type="none"/>
          </a:ln>
        </p:spPr>
      </p:cxnSp>
      <p:cxnSp>
        <p:nvCxnSpPr>
          <p:cNvPr id="872" name="Google Shape;872;p72"/>
          <p:cNvCxnSpPr/>
          <p:nvPr/>
        </p:nvCxnSpPr>
        <p:spPr>
          <a:xfrm>
            <a:off x="1495300" y="2948050"/>
            <a:ext cx="1088400" cy="418200"/>
          </a:xfrm>
          <a:prstGeom prst="straightConnector1">
            <a:avLst/>
          </a:prstGeom>
          <a:noFill/>
          <a:ln cap="flat" cmpd="sng" w="38100">
            <a:solidFill>
              <a:schemeClr val="dk1"/>
            </a:solidFill>
            <a:prstDash val="solid"/>
            <a:round/>
            <a:headEnd len="med" w="med" type="none"/>
            <a:tailEnd len="med" w="med" type="none"/>
          </a:ln>
        </p:spPr>
      </p:cxnSp>
      <p:sp>
        <p:nvSpPr>
          <p:cNvPr id="873" name="Google Shape;873;p72"/>
          <p:cNvSpPr/>
          <p:nvPr/>
        </p:nvSpPr>
        <p:spPr>
          <a:xfrm>
            <a:off x="6082206" y="3666225"/>
            <a:ext cx="128100" cy="128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4" name="Google Shape;874;p72"/>
          <p:cNvSpPr txBox="1"/>
          <p:nvPr>
            <p:ph idx="1" type="body"/>
          </p:nvPr>
        </p:nvSpPr>
        <p:spPr>
          <a:xfrm>
            <a:off x="324000" y="759300"/>
            <a:ext cx="8496000" cy="7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greatest distance that can be travelled from one side of a circle to the other must go </a:t>
            </a:r>
            <a:r>
              <a:rPr lang="en-GB" sz="2000">
                <a:solidFill>
                  <a:schemeClr val="accent4"/>
                </a:solidFill>
              </a:rPr>
              <a:t>through the centre</a:t>
            </a:r>
            <a:r>
              <a:rPr lang="en-GB" sz="2000"/>
              <a:t>. Its length is the </a:t>
            </a:r>
            <a:r>
              <a:rPr b="1" lang="en-GB" sz="2000"/>
              <a:t>diameter</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7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5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7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73"/>
          <p:cNvSpPr txBox="1"/>
          <p:nvPr>
            <p:ph idx="1" type="body"/>
          </p:nvPr>
        </p:nvSpPr>
        <p:spPr>
          <a:xfrm>
            <a:off x="324000" y="759300"/>
            <a:ext cx="84960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Alex and Izzy are exercising on a field with a marked circle.</a:t>
            </a:r>
            <a:endParaRPr sz="1900"/>
          </a:p>
        </p:txBody>
      </p:sp>
      <p:sp>
        <p:nvSpPr>
          <p:cNvPr id="880" name="Google Shape;880;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Parts of a circle</a:t>
            </a:r>
            <a:endParaRPr/>
          </a:p>
        </p:txBody>
      </p:sp>
      <p:sp>
        <p:nvSpPr>
          <p:cNvPr id="881" name="Google Shape;881;p73"/>
          <p:cNvSpPr txBox="1"/>
          <p:nvPr>
            <p:ph idx="1" type="body"/>
          </p:nvPr>
        </p:nvSpPr>
        <p:spPr>
          <a:xfrm>
            <a:off x="324000" y="1109173"/>
            <a:ext cx="8496000" cy="66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Alex runs from the </a:t>
            </a:r>
            <a:r>
              <a:rPr lang="en-GB" sz="1900">
                <a:solidFill>
                  <a:schemeClr val="accent4"/>
                </a:solidFill>
              </a:rPr>
              <a:t>edge</a:t>
            </a:r>
            <a:r>
              <a:rPr lang="en-GB" sz="1900"/>
              <a:t> of the circle to its </a:t>
            </a:r>
            <a:r>
              <a:rPr lang="en-GB" sz="1900">
                <a:solidFill>
                  <a:schemeClr val="accent4"/>
                </a:solidFill>
              </a:rPr>
              <a:t>centre</a:t>
            </a:r>
            <a:r>
              <a:rPr lang="en-GB" sz="1900"/>
              <a:t> and then out to another point on the </a:t>
            </a:r>
            <a:r>
              <a:rPr lang="en-GB" sz="1900">
                <a:solidFill>
                  <a:schemeClr val="accent4"/>
                </a:solidFill>
              </a:rPr>
              <a:t>edge</a:t>
            </a:r>
            <a:r>
              <a:rPr lang="en-GB" sz="1900"/>
              <a:t>.</a:t>
            </a:r>
            <a:endParaRPr sz="1900"/>
          </a:p>
        </p:txBody>
      </p:sp>
      <p:sp>
        <p:nvSpPr>
          <p:cNvPr id="882" name="Google Shape;882;p73"/>
          <p:cNvSpPr txBox="1"/>
          <p:nvPr>
            <p:ph idx="1" type="body"/>
          </p:nvPr>
        </p:nvSpPr>
        <p:spPr>
          <a:xfrm>
            <a:off x="324000" y="1824600"/>
            <a:ext cx="8496000" cy="757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Izzy runs in a </a:t>
            </a:r>
            <a:r>
              <a:rPr lang="en-GB" sz="1900">
                <a:solidFill>
                  <a:schemeClr val="accent4"/>
                </a:solidFill>
              </a:rPr>
              <a:t>straight line</a:t>
            </a:r>
            <a:r>
              <a:rPr lang="en-GB" sz="1900"/>
              <a:t> from one side of the circle to the other, </a:t>
            </a:r>
            <a:r>
              <a:rPr lang="en-GB" sz="1900">
                <a:solidFill>
                  <a:schemeClr val="accent4"/>
                </a:solidFill>
              </a:rPr>
              <a:t>through its centre</a:t>
            </a:r>
            <a:r>
              <a:rPr lang="en-GB" sz="1900"/>
              <a:t>.</a:t>
            </a:r>
            <a:endParaRPr sz="1900"/>
          </a:p>
        </p:txBody>
      </p:sp>
      <p:sp>
        <p:nvSpPr>
          <p:cNvPr id="883" name="Google Shape;883;p73"/>
          <p:cNvSpPr/>
          <p:nvPr/>
        </p:nvSpPr>
        <p:spPr>
          <a:xfrm>
            <a:off x="5502198" y="2684571"/>
            <a:ext cx="1956300" cy="1956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pic>
        <p:nvPicPr>
          <p:cNvPr id="884" name="Google Shape;884;p73"/>
          <p:cNvPicPr preferRelativeResize="0"/>
          <p:nvPr/>
        </p:nvPicPr>
        <p:blipFill>
          <a:blip r:embed="rId3">
            <a:alphaModFix/>
          </a:blip>
          <a:stretch>
            <a:fillRect/>
          </a:stretch>
        </p:blipFill>
        <p:spPr>
          <a:xfrm>
            <a:off x="7557940" y="3288539"/>
            <a:ext cx="627729" cy="607494"/>
          </a:xfrm>
          <a:prstGeom prst="rect">
            <a:avLst/>
          </a:prstGeom>
          <a:noFill/>
          <a:ln>
            <a:noFill/>
          </a:ln>
        </p:spPr>
      </p:pic>
      <p:pic>
        <p:nvPicPr>
          <p:cNvPr id="885" name="Google Shape;885;p73"/>
          <p:cNvPicPr preferRelativeResize="0"/>
          <p:nvPr/>
        </p:nvPicPr>
        <p:blipFill>
          <a:blip r:embed="rId4">
            <a:alphaModFix/>
          </a:blip>
          <a:stretch>
            <a:fillRect/>
          </a:stretch>
        </p:blipFill>
        <p:spPr>
          <a:xfrm>
            <a:off x="7166284" y="2394448"/>
            <a:ext cx="496178" cy="572230"/>
          </a:xfrm>
          <a:prstGeom prst="rect">
            <a:avLst/>
          </a:prstGeom>
          <a:noFill/>
          <a:ln>
            <a:noFill/>
          </a:ln>
        </p:spPr>
      </p:pic>
      <p:cxnSp>
        <p:nvCxnSpPr>
          <p:cNvPr id="886" name="Google Shape;886;p73"/>
          <p:cNvCxnSpPr>
            <a:stCxn id="883" idx="2"/>
            <a:endCxn id="883" idx="6"/>
          </p:cNvCxnSpPr>
          <p:nvPr/>
        </p:nvCxnSpPr>
        <p:spPr>
          <a:xfrm>
            <a:off x="5502198" y="3662721"/>
            <a:ext cx="1956300" cy="0"/>
          </a:xfrm>
          <a:prstGeom prst="straightConnector1">
            <a:avLst/>
          </a:prstGeom>
          <a:noFill/>
          <a:ln cap="flat" cmpd="sng" w="38100">
            <a:solidFill>
              <a:schemeClr val="accent5"/>
            </a:solidFill>
            <a:prstDash val="solid"/>
            <a:round/>
            <a:headEnd len="med" w="med" type="triangle"/>
            <a:tailEnd len="med" w="med" type="none"/>
          </a:ln>
        </p:spPr>
      </p:cxnSp>
      <p:cxnSp>
        <p:nvCxnSpPr>
          <p:cNvPr id="887" name="Google Shape;887;p73"/>
          <p:cNvCxnSpPr>
            <a:stCxn id="883" idx="7"/>
            <a:endCxn id="888" idx="7"/>
          </p:cNvCxnSpPr>
          <p:nvPr/>
        </p:nvCxnSpPr>
        <p:spPr>
          <a:xfrm flipH="1">
            <a:off x="6518305" y="2971064"/>
            <a:ext cx="653700" cy="653700"/>
          </a:xfrm>
          <a:prstGeom prst="straightConnector1">
            <a:avLst/>
          </a:prstGeom>
          <a:noFill/>
          <a:ln cap="flat" cmpd="sng" w="38100">
            <a:solidFill>
              <a:schemeClr val="accent4"/>
            </a:solidFill>
            <a:prstDash val="solid"/>
            <a:round/>
            <a:headEnd len="med" w="med" type="none"/>
            <a:tailEnd len="med" w="med" type="triangle"/>
          </a:ln>
        </p:spPr>
      </p:cxnSp>
      <p:cxnSp>
        <p:nvCxnSpPr>
          <p:cNvPr id="889" name="Google Shape;889;p73"/>
          <p:cNvCxnSpPr>
            <a:stCxn id="888" idx="1"/>
            <a:endCxn id="883" idx="1"/>
          </p:cNvCxnSpPr>
          <p:nvPr/>
        </p:nvCxnSpPr>
        <p:spPr>
          <a:xfrm rot="10800000">
            <a:off x="5788812" y="2971177"/>
            <a:ext cx="653700" cy="653700"/>
          </a:xfrm>
          <a:prstGeom prst="straightConnector1">
            <a:avLst/>
          </a:prstGeom>
          <a:noFill/>
          <a:ln cap="flat" cmpd="sng" w="38100">
            <a:solidFill>
              <a:schemeClr val="accent4"/>
            </a:solidFill>
            <a:prstDash val="solid"/>
            <a:round/>
            <a:headEnd len="med" w="med" type="none"/>
            <a:tailEnd len="med" w="med" type="triangle"/>
          </a:ln>
        </p:spPr>
      </p:cxnSp>
      <p:sp>
        <p:nvSpPr>
          <p:cNvPr id="890" name="Google Shape;890;p73"/>
          <p:cNvSpPr txBox="1"/>
          <p:nvPr>
            <p:ph idx="1" type="body"/>
          </p:nvPr>
        </p:nvSpPr>
        <p:spPr>
          <a:xfrm>
            <a:off x="324000" y="2739000"/>
            <a:ext cx="5406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Izzy</a:t>
            </a:r>
            <a:endParaRPr sz="1900"/>
          </a:p>
        </p:txBody>
      </p:sp>
      <p:sp>
        <p:nvSpPr>
          <p:cNvPr id="891" name="Google Shape;891;p73"/>
          <p:cNvSpPr txBox="1"/>
          <p:nvPr>
            <p:ph idx="1" type="body"/>
          </p:nvPr>
        </p:nvSpPr>
        <p:spPr>
          <a:xfrm>
            <a:off x="1966922" y="2714100"/>
            <a:ext cx="10584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b="1" lang="en-GB" sz="2100">
                <a:latin typeface="Kalam"/>
                <a:ea typeface="Kalam"/>
                <a:cs typeface="Kalam"/>
                <a:sym typeface="Kalam"/>
              </a:rPr>
              <a:t>diameter</a:t>
            </a:r>
            <a:endParaRPr b="1" sz="2100">
              <a:latin typeface="Kalam"/>
              <a:ea typeface="Kalam"/>
              <a:cs typeface="Kalam"/>
              <a:sym typeface="Kalam"/>
            </a:endParaRPr>
          </a:p>
        </p:txBody>
      </p:sp>
      <p:sp>
        <p:nvSpPr>
          <p:cNvPr id="892" name="Google Shape;892;p73"/>
          <p:cNvSpPr txBox="1"/>
          <p:nvPr>
            <p:ph idx="1" type="body"/>
          </p:nvPr>
        </p:nvSpPr>
        <p:spPr>
          <a:xfrm>
            <a:off x="324000" y="3272400"/>
            <a:ext cx="6537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Alex</a:t>
            </a:r>
            <a:endParaRPr sz="1900"/>
          </a:p>
        </p:txBody>
      </p:sp>
      <p:sp>
        <p:nvSpPr>
          <p:cNvPr id="893" name="Google Shape;893;p73"/>
          <p:cNvSpPr txBox="1"/>
          <p:nvPr>
            <p:ph idx="1" type="body"/>
          </p:nvPr>
        </p:nvSpPr>
        <p:spPr>
          <a:xfrm>
            <a:off x="2003925" y="3253726"/>
            <a:ext cx="5877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b="1" lang="en-GB" sz="2100">
                <a:latin typeface="Kalam"/>
                <a:ea typeface="Kalam"/>
                <a:cs typeface="Kalam"/>
                <a:sym typeface="Kalam"/>
              </a:rPr>
              <a:t>radii</a:t>
            </a:r>
            <a:endParaRPr b="1" sz="2100">
              <a:latin typeface="Kalam"/>
              <a:ea typeface="Kalam"/>
              <a:cs typeface="Kalam"/>
              <a:sym typeface="Kalam"/>
            </a:endParaRPr>
          </a:p>
        </p:txBody>
      </p:sp>
      <p:sp>
        <p:nvSpPr>
          <p:cNvPr id="894" name="Google Shape;894;p73"/>
          <p:cNvSpPr txBox="1"/>
          <p:nvPr>
            <p:ph idx="1" type="body"/>
          </p:nvPr>
        </p:nvSpPr>
        <p:spPr>
          <a:xfrm>
            <a:off x="324000" y="3805800"/>
            <a:ext cx="39261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Who runs the greatest distance?</a:t>
            </a:r>
            <a:endParaRPr sz="1900"/>
          </a:p>
        </p:txBody>
      </p:sp>
      <p:cxnSp>
        <p:nvCxnSpPr>
          <p:cNvPr id="895" name="Google Shape;895;p73"/>
          <p:cNvCxnSpPr/>
          <p:nvPr/>
        </p:nvCxnSpPr>
        <p:spPr>
          <a:xfrm>
            <a:off x="1966572" y="3007576"/>
            <a:ext cx="1058400" cy="0"/>
          </a:xfrm>
          <a:prstGeom prst="straightConnector1">
            <a:avLst/>
          </a:prstGeom>
          <a:noFill/>
          <a:ln cap="flat" cmpd="sng" w="38100">
            <a:solidFill>
              <a:schemeClr val="dk1"/>
            </a:solidFill>
            <a:prstDash val="solid"/>
            <a:round/>
            <a:headEnd len="med" w="med" type="none"/>
            <a:tailEnd len="med" w="med" type="none"/>
          </a:ln>
        </p:spPr>
      </p:cxnSp>
      <p:cxnSp>
        <p:nvCxnSpPr>
          <p:cNvPr id="896" name="Google Shape;896;p73"/>
          <p:cNvCxnSpPr/>
          <p:nvPr/>
        </p:nvCxnSpPr>
        <p:spPr>
          <a:xfrm flipH="1" rot="10800000">
            <a:off x="1977204" y="3548726"/>
            <a:ext cx="540600" cy="3900"/>
          </a:xfrm>
          <a:prstGeom prst="straightConnector1">
            <a:avLst/>
          </a:prstGeom>
          <a:noFill/>
          <a:ln cap="flat" cmpd="sng" w="38100">
            <a:solidFill>
              <a:schemeClr val="dk1"/>
            </a:solidFill>
            <a:prstDash val="solid"/>
            <a:round/>
            <a:headEnd len="med" w="med" type="none"/>
            <a:tailEnd len="med" w="med" type="none"/>
          </a:ln>
        </p:spPr>
      </p:cxnSp>
      <p:sp>
        <p:nvSpPr>
          <p:cNvPr id="897" name="Google Shape;897;p73"/>
          <p:cNvSpPr txBox="1"/>
          <p:nvPr>
            <p:ph idx="1" type="body"/>
          </p:nvPr>
        </p:nvSpPr>
        <p:spPr>
          <a:xfrm>
            <a:off x="581525" y="4238100"/>
            <a:ext cx="38826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Kalam"/>
                <a:ea typeface="Kalam"/>
                <a:cs typeface="Kalam"/>
                <a:sym typeface="Kalam"/>
              </a:rPr>
              <a:t>They both run the same distance.</a:t>
            </a:r>
            <a:endParaRPr sz="2100">
              <a:latin typeface="Kalam"/>
              <a:ea typeface="Kalam"/>
              <a:cs typeface="Kalam"/>
              <a:sym typeface="Kalam"/>
            </a:endParaRPr>
          </a:p>
        </p:txBody>
      </p:sp>
      <p:cxnSp>
        <p:nvCxnSpPr>
          <p:cNvPr id="898" name="Google Shape;898;p73"/>
          <p:cNvCxnSpPr>
            <a:endCxn id="883" idx="3"/>
          </p:cNvCxnSpPr>
          <p:nvPr/>
        </p:nvCxnSpPr>
        <p:spPr>
          <a:xfrm flipH="1">
            <a:off x="5788692" y="3662877"/>
            <a:ext cx="694200" cy="691500"/>
          </a:xfrm>
          <a:prstGeom prst="straightConnector1">
            <a:avLst/>
          </a:prstGeom>
          <a:noFill/>
          <a:ln cap="flat" cmpd="sng" w="38100">
            <a:solidFill>
              <a:schemeClr val="accent4"/>
            </a:solidFill>
            <a:prstDash val="solid"/>
            <a:round/>
            <a:headEnd len="med" w="med" type="none"/>
            <a:tailEnd len="med" w="med" type="triangle"/>
          </a:ln>
        </p:spPr>
      </p:cxnSp>
      <p:sp>
        <p:nvSpPr>
          <p:cNvPr id="888" name="Google Shape;888;p73"/>
          <p:cNvSpPr/>
          <p:nvPr/>
        </p:nvSpPr>
        <p:spPr>
          <a:xfrm>
            <a:off x="6426828" y="3609193"/>
            <a:ext cx="107100" cy="1071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899" name="Google Shape;899;p73"/>
          <p:cNvCxnSpPr>
            <a:stCxn id="883" idx="6"/>
            <a:endCxn id="888" idx="6"/>
          </p:cNvCxnSpPr>
          <p:nvPr/>
        </p:nvCxnSpPr>
        <p:spPr>
          <a:xfrm rot="10800000">
            <a:off x="6533898" y="3662721"/>
            <a:ext cx="924600" cy="0"/>
          </a:xfrm>
          <a:prstGeom prst="straightConnector1">
            <a:avLst/>
          </a:prstGeom>
          <a:noFill/>
          <a:ln cap="flat" cmpd="sng" w="38100">
            <a:solidFill>
              <a:schemeClr val="accent4"/>
            </a:solidFill>
            <a:prstDash val="solid"/>
            <a:round/>
            <a:headEnd len="med" w="med" type="none"/>
            <a:tailEnd len="med" w="med" type="triangle"/>
          </a:ln>
        </p:spPr>
      </p:cxnSp>
      <p:cxnSp>
        <p:nvCxnSpPr>
          <p:cNvPr id="900" name="Google Shape;900;p73"/>
          <p:cNvCxnSpPr>
            <a:stCxn id="888" idx="2"/>
            <a:endCxn id="883" idx="2"/>
          </p:cNvCxnSpPr>
          <p:nvPr/>
        </p:nvCxnSpPr>
        <p:spPr>
          <a:xfrm rot="10800000">
            <a:off x="5502228" y="3662743"/>
            <a:ext cx="924600" cy="0"/>
          </a:xfrm>
          <a:prstGeom prst="straightConnector1">
            <a:avLst/>
          </a:prstGeom>
          <a:noFill/>
          <a:ln cap="flat" cmpd="sng" w="38100">
            <a:solidFill>
              <a:schemeClr val="accent4"/>
            </a:solidFill>
            <a:prstDash val="solid"/>
            <a:round/>
            <a:headEnd len="med" w="med" type="none"/>
            <a:tailEnd len="med" w="med" type="triangle"/>
          </a:ln>
        </p:spPr>
      </p:cxnSp>
      <p:sp>
        <p:nvSpPr>
          <p:cNvPr id="901" name="Google Shape;901;p73"/>
          <p:cNvSpPr txBox="1"/>
          <p:nvPr>
            <p:ph idx="1" type="body"/>
          </p:nvPr>
        </p:nvSpPr>
        <p:spPr>
          <a:xfrm>
            <a:off x="3107675" y="2739000"/>
            <a:ext cx="16167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of the circle.</a:t>
            </a:r>
            <a:endParaRPr sz="1900"/>
          </a:p>
        </p:txBody>
      </p:sp>
      <p:sp>
        <p:nvSpPr>
          <p:cNvPr id="902" name="Google Shape;902;p73"/>
          <p:cNvSpPr txBox="1"/>
          <p:nvPr>
            <p:ph idx="1" type="body"/>
          </p:nvPr>
        </p:nvSpPr>
        <p:spPr>
          <a:xfrm>
            <a:off x="887000" y="2739000"/>
            <a:ext cx="5406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runs</a:t>
            </a:r>
            <a:endParaRPr sz="1900"/>
          </a:p>
        </p:txBody>
      </p:sp>
      <p:sp>
        <p:nvSpPr>
          <p:cNvPr id="903" name="Google Shape;903;p73"/>
          <p:cNvSpPr txBox="1"/>
          <p:nvPr>
            <p:ph idx="1" type="body"/>
          </p:nvPr>
        </p:nvSpPr>
        <p:spPr>
          <a:xfrm>
            <a:off x="1451300" y="2739000"/>
            <a:ext cx="4962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one</a:t>
            </a:r>
            <a:endParaRPr sz="1900"/>
          </a:p>
        </p:txBody>
      </p:sp>
      <p:sp>
        <p:nvSpPr>
          <p:cNvPr id="904" name="Google Shape;904;p73"/>
          <p:cNvSpPr txBox="1"/>
          <p:nvPr>
            <p:ph idx="1" type="body"/>
          </p:nvPr>
        </p:nvSpPr>
        <p:spPr>
          <a:xfrm>
            <a:off x="2637400" y="3272400"/>
            <a:ext cx="15624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of the circle.</a:t>
            </a:r>
            <a:endParaRPr sz="1900"/>
          </a:p>
        </p:txBody>
      </p:sp>
      <p:sp>
        <p:nvSpPr>
          <p:cNvPr id="905" name="Google Shape;905;p73"/>
          <p:cNvSpPr txBox="1"/>
          <p:nvPr>
            <p:ph idx="1" type="body"/>
          </p:nvPr>
        </p:nvSpPr>
        <p:spPr>
          <a:xfrm>
            <a:off x="887000" y="3272400"/>
            <a:ext cx="5643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runs</a:t>
            </a:r>
            <a:endParaRPr sz="1900"/>
          </a:p>
        </p:txBody>
      </p:sp>
      <p:sp>
        <p:nvSpPr>
          <p:cNvPr id="906" name="Google Shape;906;p73"/>
          <p:cNvSpPr txBox="1"/>
          <p:nvPr>
            <p:ph idx="1" type="body"/>
          </p:nvPr>
        </p:nvSpPr>
        <p:spPr>
          <a:xfrm>
            <a:off x="1451300" y="3272400"/>
            <a:ext cx="587700" cy="3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t>two</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8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8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9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74"/>
          <p:cNvSpPr txBox="1"/>
          <p:nvPr>
            <p:ph idx="1" type="body"/>
          </p:nvPr>
        </p:nvSpPr>
        <p:spPr>
          <a:xfrm>
            <a:off x="324000" y="759300"/>
            <a:ext cx="84960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a:t>
            </a:r>
            <a:r>
              <a:rPr b="1" lang="en-GB" sz="2000"/>
              <a:t>diameter</a:t>
            </a:r>
            <a:r>
              <a:rPr lang="en-GB" sz="2000"/>
              <a:t> of a circle is </a:t>
            </a:r>
            <a:r>
              <a:rPr lang="en-GB" sz="2000">
                <a:solidFill>
                  <a:schemeClr val="accent4"/>
                </a:solidFill>
              </a:rPr>
              <a:t>twice</a:t>
            </a:r>
            <a:r>
              <a:rPr lang="en-GB" sz="2000"/>
              <a:t> the length of the</a:t>
            </a:r>
            <a:r>
              <a:rPr lang="en-GB" sz="2000"/>
              <a:t> </a:t>
            </a:r>
            <a:r>
              <a:rPr b="1" lang="en-GB" sz="2000"/>
              <a:t>radi</a:t>
            </a:r>
            <a:r>
              <a:rPr b="1" lang="en-GB" sz="2000"/>
              <a:t>us</a:t>
            </a:r>
            <a:r>
              <a:rPr lang="en-GB" sz="2000"/>
              <a:t>.</a:t>
            </a:r>
            <a:endParaRPr sz="2000"/>
          </a:p>
        </p:txBody>
      </p:sp>
      <p:sp>
        <p:nvSpPr>
          <p:cNvPr id="912" name="Google Shape;912;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Parts of a circle</a:t>
            </a:r>
            <a:endParaRPr/>
          </a:p>
        </p:txBody>
      </p:sp>
      <p:sp>
        <p:nvSpPr>
          <p:cNvPr id="913" name="Google Shape;913;p74"/>
          <p:cNvSpPr/>
          <p:nvPr/>
        </p:nvSpPr>
        <p:spPr>
          <a:xfrm>
            <a:off x="3045675" y="1618325"/>
            <a:ext cx="3046800" cy="30471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914" name="Google Shape;914;p74"/>
          <p:cNvCxnSpPr>
            <a:stCxn id="913" idx="6"/>
            <a:endCxn id="913" idx="2"/>
          </p:cNvCxnSpPr>
          <p:nvPr/>
        </p:nvCxnSpPr>
        <p:spPr>
          <a:xfrm rot="10800000">
            <a:off x="3045675" y="3141875"/>
            <a:ext cx="3046800" cy="0"/>
          </a:xfrm>
          <a:prstGeom prst="straightConnector1">
            <a:avLst/>
          </a:prstGeom>
          <a:noFill/>
          <a:ln cap="flat" cmpd="sng" w="38100">
            <a:solidFill>
              <a:schemeClr val="accent4"/>
            </a:solidFill>
            <a:prstDash val="solid"/>
            <a:round/>
            <a:headEnd len="med" w="med" type="none"/>
            <a:tailEnd len="med" w="med" type="none"/>
          </a:ln>
        </p:spPr>
      </p:cxnSp>
      <p:sp>
        <p:nvSpPr>
          <p:cNvPr id="915" name="Google Shape;915;p74"/>
          <p:cNvSpPr/>
          <p:nvPr/>
        </p:nvSpPr>
        <p:spPr>
          <a:xfrm>
            <a:off x="4511477" y="3084124"/>
            <a:ext cx="115500" cy="115500"/>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916" name="Google Shape;916;p74"/>
          <p:cNvCxnSpPr/>
          <p:nvPr/>
        </p:nvCxnSpPr>
        <p:spPr>
          <a:xfrm rot="10800000">
            <a:off x="3045725" y="2989475"/>
            <a:ext cx="1511400" cy="0"/>
          </a:xfrm>
          <a:prstGeom prst="straightConnector1">
            <a:avLst/>
          </a:prstGeom>
          <a:noFill/>
          <a:ln cap="flat" cmpd="sng" w="38100">
            <a:solidFill>
              <a:schemeClr val="dk1"/>
            </a:solidFill>
            <a:prstDash val="solid"/>
            <a:round/>
            <a:headEnd len="med" w="med" type="triangle"/>
            <a:tailEnd len="med" w="med" type="triangle"/>
          </a:ln>
        </p:spPr>
      </p:cxnSp>
      <p:cxnSp>
        <p:nvCxnSpPr>
          <p:cNvPr id="917" name="Google Shape;917;p74"/>
          <p:cNvCxnSpPr/>
          <p:nvPr/>
        </p:nvCxnSpPr>
        <p:spPr>
          <a:xfrm rot="10800000">
            <a:off x="4569725" y="2989475"/>
            <a:ext cx="1511400" cy="0"/>
          </a:xfrm>
          <a:prstGeom prst="straightConnector1">
            <a:avLst/>
          </a:prstGeom>
          <a:noFill/>
          <a:ln cap="flat" cmpd="sng" w="38100">
            <a:solidFill>
              <a:schemeClr val="dk1"/>
            </a:solidFill>
            <a:prstDash val="solid"/>
            <a:round/>
            <a:headEnd len="med" w="med" type="triangle"/>
            <a:tailEnd len="med" w="med" type="triangle"/>
          </a:ln>
        </p:spPr>
      </p:cxnSp>
      <p:cxnSp>
        <p:nvCxnSpPr>
          <p:cNvPr id="918" name="Google Shape;918;p74"/>
          <p:cNvCxnSpPr/>
          <p:nvPr/>
        </p:nvCxnSpPr>
        <p:spPr>
          <a:xfrm rot="10800000">
            <a:off x="3062950" y="3294275"/>
            <a:ext cx="3013200" cy="0"/>
          </a:xfrm>
          <a:prstGeom prst="straightConnector1">
            <a:avLst/>
          </a:prstGeom>
          <a:noFill/>
          <a:ln cap="flat" cmpd="sng" w="38100">
            <a:solidFill>
              <a:schemeClr val="dk1"/>
            </a:solidFill>
            <a:prstDash val="solid"/>
            <a:round/>
            <a:headEnd len="med" w="med" type="triangle"/>
            <a:tailEnd len="med" w="med" type="triangle"/>
          </a:ln>
        </p:spPr>
      </p:cxnSp>
      <p:sp>
        <p:nvSpPr>
          <p:cNvPr id="919" name="Google Shape;919;p74"/>
          <p:cNvSpPr txBox="1"/>
          <p:nvPr>
            <p:ph idx="1" type="body"/>
          </p:nvPr>
        </p:nvSpPr>
        <p:spPr>
          <a:xfrm>
            <a:off x="3421050" y="2705474"/>
            <a:ext cx="8595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radius</a:t>
            </a:r>
            <a:endParaRPr sz="1900"/>
          </a:p>
        </p:txBody>
      </p:sp>
      <p:sp>
        <p:nvSpPr>
          <p:cNvPr id="920" name="Google Shape;920;p74"/>
          <p:cNvSpPr txBox="1"/>
          <p:nvPr>
            <p:ph idx="1" type="body"/>
          </p:nvPr>
        </p:nvSpPr>
        <p:spPr>
          <a:xfrm>
            <a:off x="4912428" y="2705474"/>
            <a:ext cx="8595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radius</a:t>
            </a:r>
            <a:endParaRPr sz="1900"/>
          </a:p>
        </p:txBody>
      </p:sp>
      <p:sp>
        <p:nvSpPr>
          <p:cNvPr id="921" name="Google Shape;921;p74"/>
          <p:cNvSpPr txBox="1"/>
          <p:nvPr>
            <p:ph idx="1" type="body"/>
          </p:nvPr>
        </p:nvSpPr>
        <p:spPr>
          <a:xfrm>
            <a:off x="3969150" y="3315075"/>
            <a:ext cx="12576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diameter</a:t>
            </a:r>
            <a:endParaRPr sz="1900"/>
          </a:p>
        </p:txBody>
      </p:sp>
      <p:sp>
        <p:nvSpPr>
          <p:cNvPr id="922" name="Google Shape;922;p74"/>
          <p:cNvSpPr txBox="1"/>
          <p:nvPr>
            <p:ph idx="1" type="body"/>
          </p:nvPr>
        </p:nvSpPr>
        <p:spPr>
          <a:xfrm>
            <a:off x="324000" y="1140300"/>
            <a:ext cx="84960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a:t>
            </a:r>
            <a:r>
              <a:rPr b="1" lang="en-GB" sz="2000"/>
              <a:t>radius </a:t>
            </a:r>
            <a:r>
              <a:rPr lang="en-GB" sz="2000"/>
              <a:t>of a circle is </a:t>
            </a:r>
            <a:r>
              <a:rPr lang="en-GB" sz="2000">
                <a:solidFill>
                  <a:schemeClr val="accent4"/>
                </a:solidFill>
              </a:rPr>
              <a:t>half</a:t>
            </a:r>
            <a:r>
              <a:rPr lang="en-GB" sz="2000"/>
              <a:t> the length of the </a:t>
            </a:r>
            <a:r>
              <a:rPr b="1" lang="en-GB" sz="2000"/>
              <a:t>diameter</a:t>
            </a:r>
            <a:r>
              <a:rPr lang="en-GB" sz="2000"/>
              <a:t>.</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1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75"/>
          <p:cNvSpPr/>
          <p:nvPr/>
        </p:nvSpPr>
        <p:spPr>
          <a:xfrm>
            <a:off x="4511477" y="3084124"/>
            <a:ext cx="115500" cy="115500"/>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928" name="Google Shape;928;p75"/>
          <p:cNvSpPr/>
          <p:nvPr/>
        </p:nvSpPr>
        <p:spPr>
          <a:xfrm>
            <a:off x="3045675" y="1618325"/>
            <a:ext cx="3046800" cy="30471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929" name="Google Shape;929;p75"/>
          <p:cNvCxnSpPr/>
          <p:nvPr/>
        </p:nvCxnSpPr>
        <p:spPr>
          <a:xfrm rot="10800000">
            <a:off x="3062950" y="3141875"/>
            <a:ext cx="3013200" cy="0"/>
          </a:xfrm>
          <a:prstGeom prst="straightConnector1">
            <a:avLst/>
          </a:prstGeom>
          <a:noFill/>
          <a:ln cap="flat" cmpd="sng" w="38100">
            <a:solidFill>
              <a:schemeClr val="dk1"/>
            </a:solidFill>
            <a:prstDash val="solid"/>
            <a:round/>
            <a:headEnd len="med" w="med" type="triangle"/>
            <a:tailEnd len="med" w="med" type="triangle"/>
          </a:ln>
        </p:spPr>
      </p:cxnSp>
      <p:sp>
        <p:nvSpPr>
          <p:cNvPr id="930" name="Google Shape;930;p75"/>
          <p:cNvSpPr txBox="1"/>
          <p:nvPr>
            <p:ph idx="1" type="body"/>
          </p:nvPr>
        </p:nvSpPr>
        <p:spPr>
          <a:xfrm>
            <a:off x="4409450" y="2783920"/>
            <a:ext cx="3384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10</a:t>
            </a:r>
            <a:endParaRPr sz="1900"/>
          </a:p>
        </p:txBody>
      </p:sp>
      <p:cxnSp>
        <p:nvCxnSpPr>
          <p:cNvPr id="931" name="Google Shape;931;p75"/>
          <p:cNvCxnSpPr/>
          <p:nvPr/>
        </p:nvCxnSpPr>
        <p:spPr>
          <a:xfrm rot="10800000">
            <a:off x="4569725" y="3141875"/>
            <a:ext cx="1511400" cy="0"/>
          </a:xfrm>
          <a:prstGeom prst="straightConnector1">
            <a:avLst/>
          </a:prstGeom>
          <a:noFill/>
          <a:ln cap="flat" cmpd="sng" w="38100">
            <a:solidFill>
              <a:schemeClr val="dk1"/>
            </a:solidFill>
            <a:prstDash val="solid"/>
            <a:round/>
            <a:headEnd len="med" w="med" type="triangle"/>
            <a:tailEnd len="med" w="med" type="triangle"/>
          </a:ln>
        </p:spPr>
      </p:cxnSp>
      <p:sp>
        <p:nvSpPr>
          <p:cNvPr id="932" name="Google Shape;932;p75"/>
          <p:cNvSpPr txBox="1"/>
          <p:nvPr>
            <p:ph idx="1" type="body"/>
          </p:nvPr>
        </p:nvSpPr>
        <p:spPr>
          <a:xfrm>
            <a:off x="324000" y="759300"/>
            <a:ext cx="84960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a:t>
            </a:r>
            <a:r>
              <a:rPr b="1" lang="en-GB" sz="2000"/>
              <a:t>diameter</a:t>
            </a:r>
            <a:r>
              <a:rPr lang="en-GB" sz="2000"/>
              <a:t> of a circle is </a:t>
            </a:r>
            <a:r>
              <a:rPr lang="en-GB" sz="2000">
                <a:solidFill>
                  <a:schemeClr val="accent4"/>
                </a:solidFill>
              </a:rPr>
              <a:t>twice</a:t>
            </a:r>
            <a:r>
              <a:rPr lang="en-GB" sz="2000"/>
              <a:t> the length of the </a:t>
            </a:r>
            <a:r>
              <a:rPr b="1" lang="en-GB" sz="2000"/>
              <a:t>radius</a:t>
            </a:r>
            <a:r>
              <a:rPr lang="en-GB" sz="2000"/>
              <a:t>.</a:t>
            </a:r>
            <a:endParaRPr sz="2000"/>
          </a:p>
        </p:txBody>
      </p:sp>
      <p:sp>
        <p:nvSpPr>
          <p:cNvPr id="933" name="Google Shape;933;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Parts of a circle</a:t>
            </a:r>
            <a:endParaRPr/>
          </a:p>
        </p:txBody>
      </p:sp>
      <p:cxnSp>
        <p:nvCxnSpPr>
          <p:cNvPr id="934" name="Google Shape;934;p75"/>
          <p:cNvCxnSpPr/>
          <p:nvPr/>
        </p:nvCxnSpPr>
        <p:spPr>
          <a:xfrm rot="10800000">
            <a:off x="3045725" y="3141875"/>
            <a:ext cx="1511400" cy="0"/>
          </a:xfrm>
          <a:prstGeom prst="straightConnector1">
            <a:avLst/>
          </a:prstGeom>
          <a:noFill/>
          <a:ln cap="flat" cmpd="sng" w="38100">
            <a:solidFill>
              <a:schemeClr val="dk1"/>
            </a:solidFill>
            <a:prstDash val="solid"/>
            <a:round/>
            <a:headEnd len="med" w="med" type="triangle"/>
            <a:tailEnd len="med" w="med" type="triangle"/>
          </a:ln>
        </p:spPr>
      </p:cxnSp>
      <p:sp>
        <p:nvSpPr>
          <p:cNvPr id="935" name="Google Shape;935;p75"/>
          <p:cNvSpPr txBox="1"/>
          <p:nvPr>
            <p:ph idx="1" type="body"/>
          </p:nvPr>
        </p:nvSpPr>
        <p:spPr>
          <a:xfrm>
            <a:off x="324000" y="1140300"/>
            <a:ext cx="84960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a:t>
            </a:r>
            <a:r>
              <a:rPr b="1" lang="en-GB" sz="2000"/>
              <a:t>radius </a:t>
            </a:r>
            <a:r>
              <a:rPr lang="en-GB" sz="2000"/>
              <a:t>of a circle is </a:t>
            </a:r>
            <a:r>
              <a:rPr lang="en-GB" sz="2000">
                <a:solidFill>
                  <a:schemeClr val="accent4"/>
                </a:solidFill>
              </a:rPr>
              <a:t>half</a:t>
            </a:r>
            <a:r>
              <a:rPr lang="en-GB" sz="2000"/>
              <a:t> the length of the </a:t>
            </a:r>
            <a:r>
              <a:rPr b="1" lang="en-GB" sz="2000"/>
              <a:t>diameter</a:t>
            </a:r>
            <a:r>
              <a:rPr lang="en-GB" sz="2000"/>
              <a:t>.</a:t>
            </a:r>
            <a:endParaRPr sz="2000"/>
          </a:p>
        </p:txBody>
      </p:sp>
      <p:sp>
        <p:nvSpPr>
          <p:cNvPr id="936" name="Google Shape;936;p75"/>
          <p:cNvSpPr txBox="1"/>
          <p:nvPr>
            <p:ph idx="1" type="body"/>
          </p:nvPr>
        </p:nvSpPr>
        <p:spPr>
          <a:xfrm>
            <a:off x="3723650" y="2776200"/>
            <a:ext cx="192900" cy="28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5</a:t>
            </a:r>
            <a:endParaRPr sz="1900"/>
          </a:p>
        </p:txBody>
      </p:sp>
      <p:sp>
        <p:nvSpPr>
          <p:cNvPr id="937" name="Google Shape;937;p75"/>
          <p:cNvSpPr txBox="1"/>
          <p:nvPr>
            <p:ph idx="1" type="body"/>
          </p:nvPr>
        </p:nvSpPr>
        <p:spPr>
          <a:xfrm>
            <a:off x="5171450" y="2776200"/>
            <a:ext cx="192900" cy="28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5</a:t>
            </a:r>
            <a:endParaRPr sz="1900"/>
          </a:p>
        </p:txBody>
      </p:sp>
      <p:sp>
        <p:nvSpPr>
          <p:cNvPr id="938" name="Google Shape;938;p75"/>
          <p:cNvSpPr txBox="1"/>
          <p:nvPr>
            <p:ph idx="1" type="body"/>
          </p:nvPr>
        </p:nvSpPr>
        <p:spPr>
          <a:xfrm>
            <a:off x="314850" y="1922153"/>
            <a:ext cx="1210500" cy="3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a:t>
            </a:r>
            <a:r>
              <a:rPr lang="en-GB" sz="2000"/>
              <a:t>xample:</a:t>
            </a:r>
            <a:endParaRPr sz="2000"/>
          </a:p>
        </p:txBody>
      </p:sp>
      <p:sp>
        <p:nvSpPr>
          <p:cNvPr id="939" name="Google Shape;939;p75"/>
          <p:cNvSpPr txBox="1"/>
          <p:nvPr>
            <p:ph idx="1" type="body"/>
          </p:nvPr>
        </p:nvSpPr>
        <p:spPr>
          <a:xfrm>
            <a:off x="324000" y="3511500"/>
            <a:ext cx="2739000" cy="3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The radius has length 5.</a:t>
            </a:r>
            <a:endParaRPr sz="1700"/>
          </a:p>
        </p:txBody>
      </p:sp>
      <p:sp>
        <p:nvSpPr>
          <p:cNvPr id="940" name="Google Shape;940;p75"/>
          <p:cNvSpPr txBox="1"/>
          <p:nvPr>
            <p:ph idx="1" type="body"/>
          </p:nvPr>
        </p:nvSpPr>
        <p:spPr>
          <a:xfrm>
            <a:off x="324000" y="3968700"/>
            <a:ext cx="2658000" cy="3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Each</a:t>
            </a:r>
            <a:r>
              <a:rPr lang="en-GB" sz="1700"/>
              <a:t> radii has length 5.</a:t>
            </a:r>
            <a:endParaRPr sz="1700"/>
          </a:p>
        </p:txBody>
      </p:sp>
      <p:sp>
        <p:nvSpPr>
          <p:cNvPr id="941" name="Google Shape;941;p75"/>
          <p:cNvSpPr txBox="1"/>
          <p:nvPr>
            <p:ph idx="1" type="body"/>
          </p:nvPr>
        </p:nvSpPr>
        <p:spPr>
          <a:xfrm>
            <a:off x="324000" y="4425900"/>
            <a:ext cx="3318000" cy="3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The diameter</a:t>
            </a:r>
            <a:r>
              <a:rPr lang="en-GB" sz="1700"/>
              <a:t> has length 10.</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3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3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3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3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76"/>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part of the circle is labelled?</a:t>
            </a:r>
            <a:endParaRPr/>
          </a:p>
        </p:txBody>
      </p:sp>
      <p:sp>
        <p:nvSpPr>
          <p:cNvPr id="947" name="Google Shape;947;p76"/>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Parts of a circle</a:t>
            </a:r>
            <a:endParaRPr/>
          </a:p>
        </p:txBody>
      </p:sp>
      <p:sp>
        <p:nvSpPr>
          <p:cNvPr id="948" name="Google Shape;948;p76"/>
          <p:cNvSpPr txBox="1"/>
          <p:nvPr>
            <p:ph idx="1" type="subTitle"/>
          </p:nvPr>
        </p:nvSpPr>
        <p:spPr>
          <a:xfrm>
            <a:off x="1034425" y="1837775"/>
            <a:ext cx="31491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a:t>circumference</a:t>
            </a:r>
            <a:endParaRPr b="1"/>
          </a:p>
        </p:txBody>
      </p:sp>
      <p:sp>
        <p:nvSpPr>
          <p:cNvPr id="949" name="Google Shape;949;p76"/>
          <p:cNvSpPr txBox="1"/>
          <p:nvPr>
            <p:ph idx="3" type="subTitle"/>
          </p:nvPr>
        </p:nvSpPr>
        <p:spPr>
          <a:xfrm>
            <a:off x="1034425" y="2794251"/>
            <a:ext cx="31491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a:t>diameter</a:t>
            </a:r>
            <a:endParaRPr b="1"/>
          </a:p>
        </p:txBody>
      </p:sp>
      <p:sp>
        <p:nvSpPr>
          <p:cNvPr id="950" name="Google Shape;950;p76"/>
          <p:cNvSpPr txBox="1"/>
          <p:nvPr>
            <p:ph idx="4" type="subTitle"/>
          </p:nvPr>
        </p:nvSpPr>
        <p:spPr>
          <a:xfrm>
            <a:off x="1034425" y="3766974"/>
            <a:ext cx="31317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a:t>radius</a:t>
            </a:r>
            <a:endParaRPr b="1"/>
          </a:p>
        </p:txBody>
      </p:sp>
      <p:pic>
        <p:nvPicPr>
          <p:cNvPr id="951" name="Google Shape;951;p76"/>
          <p:cNvPicPr preferRelativeResize="0"/>
          <p:nvPr/>
        </p:nvPicPr>
        <p:blipFill>
          <a:blip r:embed="rId3">
            <a:alphaModFix/>
          </a:blip>
          <a:stretch>
            <a:fillRect/>
          </a:stretch>
        </p:blipFill>
        <p:spPr>
          <a:xfrm>
            <a:off x="2000883" y="3719725"/>
            <a:ext cx="396000" cy="419100"/>
          </a:xfrm>
          <a:prstGeom prst="rect">
            <a:avLst/>
          </a:prstGeom>
          <a:noFill/>
          <a:ln>
            <a:noFill/>
          </a:ln>
        </p:spPr>
      </p:pic>
      <p:sp>
        <p:nvSpPr>
          <p:cNvPr id="952" name="Google Shape;952;p76"/>
          <p:cNvSpPr/>
          <p:nvPr/>
        </p:nvSpPr>
        <p:spPr>
          <a:xfrm>
            <a:off x="4209575" y="1422950"/>
            <a:ext cx="3131700" cy="31317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53" name="Google Shape;953;p76"/>
          <p:cNvCxnSpPr/>
          <p:nvPr/>
        </p:nvCxnSpPr>
        <p:spPr>
          <a:xfrm rot="10800000">
            <a:off x="5760754" y="2991146"/>
            <a:ext cx="1349100" cy="833400"/>
          </a:xfrm>
          <a:prstGeom prst="straightConnector1">
            <a:avLst/>
          </a:prstGeom>
          <a:noFill/>
          <a:ln cap="flat" cmpd="sng" w="38100">
            <a:solidFill>
              <a:schemeClr val="accent4"/>
            </a:solidFill>
            <a:prstDash val="solid"/>
            <a:round/>
            <a:headEnd len="med" w="med" type="none"/>
            <a:tailEnd len="med" w="med" type="none"/>
          </a:ln>
        </p:spPr>
      </p:cxnSp>
      <p:sp>
        <p:nvSpPr>
          <p:cNvPr id="954" name="Google Shape;954;p76"/>
          <p:cNvSpPr/>
          <p:nvPr/>
        </p:nvSpPr>
        <p:spPr>
          <a:xfrm>
            <a:off x="5710967" y="2925536"/>
            <a:ext cx="129000" cy="129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55" name="Google Shape;955;p76"/>
          <p:cNvCxnSpPr/>
          <p:nvPr/>
        </p:nvCxnSpPr>
        <p:spPr>
          <a:xfrm flipH="1">
            <a:off x="6797625" y="3280275"/>
            <a:ext cx="856500" cy="294300"/>
          </a:xfrm>
          <a:prstGeom prst="straightConnector1">
            <a:avLst/>
          </a:prstGeom>
          <a:noFill/>
          <a:ln cap="flat" cmpd="sng" w="38100">
            <a:solidFill>
              <a:schemeClr val="dk1"/>
            </a:solidFill>
            <a:prstDash val="solid"/>
            <a:round/>
            <a:headEnd len="med" w="med" type="none"/>
            <a:tailEnd len="med" w="med" type="none"/>
          </a:ln>
        </p:spPr>
      </p:cxnSp>
      <p:sp>
        <p:nvSpPr>
          <p:cNvPr id="956" name="Google Shape;956;p76"/>
          <p:cNvSpPr txBox="1"/>
          <p:nvPr>
            <p:ph idx="1" type="subTitle"/>
          </p:nvPr>
        </p:nvSpPr>
        <p:spPr>
          <a:xfrm>
            <a:off x="7726745" y="3097047"/>
            <a:ext cx="2334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77"/>
          <p:cNvSpPr txBox="1"/>
          <p:nvPr>
            <p:ph idx="1" type="body"/>
          </p:nvPr>
        </p:nvSpPr>
        <p:spPr>
          <a:xfrm>
            <a:off x="324000" y="759300"/>
            <a:ext cx="8237700" cy="384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The </a:t>
            </a:r>
            <a:r>
              <a:rPr b="1" lang="en-GB"/>
              <a:t>radius </a:t>
            </a:r>
            <a:r>
              <a:rPr lang="en-GB"/>
              <a:t>of the circle is 8 m. How long is the </a:t>
            </a:r>
            <a:r>
              <a:rPr b="1" lang="en-GB"/>
              <a:t>diameter</a:t>
            </a:r>
            <a:r>
              <a:rPr lang="en-GB"/>
              <a:t>?</a:t>
            </a:r>
            <a:endParaRPr/>
          </a:p>
        </p:txBody>
      </p:sp>
      <p:sp>
        <p:nvSpPr>
          <p:cNvPr id="962" name="Google Shape;962;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Parts of a circle</a:t>
            </a:r>
            <a:endParaRPr/>
          </a:p>
        </p:txBody>
      </p:sp>
      <p:sp>
        <p:nvSpPr>
          <p:cNvPr id="963" name="Google Shape;963;p77"/>
          <p:cNvSpPr/>
          <p:nvPr/>
        </p:nvSpPr>
        <p:spPr>
          <a:xfrm>
            <a:off x="1845152" y="1542125"/>
            <a:ext cx="3046800" cy="30471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964" name="Google Shape;964;p77"/>
          <p:cNvCxnSpPr/>
          <p:nvPr/>
        </p:nvCxnSpPr>
        <p:spPr>
          <a:xfrm flipH="1" rot="10800000">
            <a:off x="3415764" y="1994564"/>
            <a:ext cx="1036200" cy="1036500"/>
          </a:xfrm>
          <a:prstGeom prst="straightConnector1">
            <a:avLst/>
          </a:prstGeom>
          <a:noFill/>
          <a:ln cap="flat" cmpd="sng" w="38100">
            <a:solidFill>
              <a:schemeClr val="dk1"/>
            </a:solidFill>
            <a:prstDash val="solid"/>
            <a:round/>
            <a:headEnd len="med" w="med" type="triangle"/>
            <a:tailEnd len="med" w="med" type="triangle"/>
          </a:ln>
        </p:spPr>
      </p:cxnSp>
      <p:cxnSp>
        <p:nvCxnSpPr>
          <p:cNvPr id="965" name="Google Shape;965;p77"/>
          <p:cNvCxnSpPr/>
          <p:nvPr/>
        </p:nvCxnSpPr>
        <p:spPr>
          <a:xfrm>
            <a:off x="1914026" y="2662725"/>
            <a:ext cx="2907300" cy="815400"/>
          </a:xfrm>
          <a:prstGeom prst="straightConnector1">
            <a:avLst/>
          </a:prstGeom>
          <a:noFill/>
          <a:ln cap="flat" cmpd="sng" w="38100">
            <a:solidFill>
              <a:schemeClr val="accent4"/>
            </a:solidFill>
            <a:prstDash val="solid"/>
            <a:round/>
            <a:headEnd len="med" w="med" type="triangle"/>
            <a:tailEnd len="med" w="med" type="triangle"/>
          </a:ln>
        </p:spPr>
      </p:cxnSp>
      <p:sp>
        <p:nvSpPr>
          <p:cNvPr id="966" name="Google Shape;966;p77"/>
          <p:cNvSpPr/>
          <p:nvPr/>
        </p:nvSpPr>
        <p:spPr>
          <a:xfrm>
            <a:off x="3310954" y="3007924"/>
            <a:ext cx="115500" cy="1155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967" name="Google Shape;967;p77"/>
          <p:cNvSpPr txBox="1"/>
          <p:nvPr>
            <p:ph idx="1" type="body"/>
          </p:nvPr>
        </p:nvSpPr>
        <p:spPr>
          <a:xfrm>
            <a:off x="3187276" y="3123425"/>
            <a:ext cx="175800" cy="38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solidFill>
                  <a:schemeClr val="accent4"/>
                </a:solidFill>
              </a:rPr>
              <a:t>?</a:t>
            </a:r>
            <a:endParaRPr>
              <a:solidFill>
                <a:schemeClr val="accent4"/>
              </a:solidFill>
            </a:endParaRPr>
          </a:p>
        </p:txBody>
      </p:sp>
      <p:sp>
        <p:nvSpPr>
          <p:cNvPr id="968" name="Google Shape;968;p77"/>
          <p:cNvSpPr txBox="1"/>
          <p:nvPr>
            <p:ph idx="1" type="body"/>
          </p:nvPr>
        </p:nvSpPr>
        <p:spPr>
          <a:xfrm>
            <a:off x="3378424" y="2329723"/>
            <a:ext cx="660000" cy="38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8 m</a:t>
            </a:r>
            <a:endParaRPr sz="2000"/>
          </a:p>
        </p:txBody>
      </p:sp>
      <p:sp>
        <p:nvSpPr>
          <p:cNvPr id="969" name="Google Shape;969;p77"/>
          <p:cNvSpPr txBox="1"/>
          <p:nvPr>
            <p:ph idx="1" type="body"/>
          </p:nvPr>
        </p:nvSpPr>
        <p:spPr>
          <a:xfrm>
            <a:off x="6524375" y="2805050"/>
            <a:ext cx="660000" cy="38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Kalam"/>
                <a:ea typeface="Kalam"/>
                <a:cs typeface="Kalam"/>
                <a:sym typeface="Kalam"/>
              </a:rPr>
              <a:t>16 m</a:t>
            </a:r>
            <a:endParaRPr sz="24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78"/>
          <p:cNvSpPr txBox="1"/>
          <p:nvPr>
            <p:ph idx="1" type="body"/>
          </p:nvPr>
        </p:nvSpPr>
        <p:spPr>
          <a:xfrm>
            <a:off x="324000" y="683100"/>
            <a:ext cx="8237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1) For each diagram, explain why the length of the line segment is </a:t>
            </a:r>
            <a:r>
              <a:rPr lang="en-GB" sz="1700">
                <a:solidFill>
                  <a:schemeClr val="accent4"/>
                </a:solidFill>
              </a:rPr>
              <a:t>not</a:t>
            </a:r>
            <a:r>
              <a:rPr lang="en-GB" sz="1700"/>
              <a:t> the </a:t>
            </a:r>
            <a:r>
              <a:rPr b="1" lang="en-GB" sz="1700"/>
              <a:t>radius</a:t>
            </a:r>
            <a:r>
              <a:rPr lang="en-GB" sz="1700"/>
              <a:t>.</a:t>
            </a:r>
            <a:endParaRPr sz="1700"/>
          </a:p>
        </p:txBody>
      </p:sp>
      <p:sp>
        <p:nvSpPr>
          <p:cNvPr id="975" name="Google Shape;975;p7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Parts of a circle</a:t>
            </a:r>
            <a:endParaRPr/>
          </a:p>
        </p:txBody>
      </p:sp>
      <p:grpSp>
        <p:nvGrpSpPr>
          <p:cNvPr id="976" name="Google Shape;976;p78"/>
          <p:cNvGrpSpPr/>
          <p:nvPr/>
        </p:nvGrpSpPr>
        <p:grpSpPr>
          <a:xfrm>
            <a:off x="684525" y="1364125"/>
            <a:ext cx="945000" cy="945000"/>
            <a:chOff x="913125" y="1287925"/>
            <a:chExt cx="945000" cy="945000"/>
          </a:xfrm>
        </p:grpSpPr>
        <p:sp>
          <p:nvSpPr>
            <p:cNvPr id="977" name="Google Shape;977;p78"/>
            <p:cNvSpPr/>
            <p:nvPr/>
          </p:nvSpPr>
          <p:spPr>
            <a:xfrm>
              <a:off x="913125" y="1287925"/>
              <a:ext cx="945000" cy="945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78" name="Google Shape;978;p78"/>
            <p:cNvCxnSpPr/>
            <p:nvPr/>
          </p:nvCxnSpPr>
          <p:spPr>
            <a:xfrm flipH="1" rot="10800000">
              <a:off x="1275505" y="1794849"/>
              <a:ext cx="201900" cy="417900"/>
            </a:xfrm>
            <a:prstGeom prst="straightConnector1">
              <a:avLst/>
            </a:prstGeom>
            <a:noFill/>
            <a:ln cap="flat" cmpd="sng" w="38100">
              <a:solidFill>
                <a:schemeClr val="accent4"/>
              </a:solidFill>
              <a:prstDash val="solid"/>
              <a:round/>
              <a:headEnd len="med" w="med" type="none"/>
              <a:tailEnd len="med" w="med" type="none"/>
            </a:ln>
          </p:spPr>
        </p:cxnSp>
        <p:sp>
          <p:nvSpPr>
            <p:cNvPr id="979" name="Google Shape;979;p78"/>
            <p:cNvSpPr/>
            <p:nvPr/>
          </p:nvSpPr>
          <p:spPr>
            <a:xfrm>
              <a:off x="1364542" y="1739338"/>
              <a:ext cx="42000" cy="420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80" name="Google Shape;980;p78"/>
          <p:cNvGrpSpPr/>
          <p:nvPr/>
        </p:nvGrpSpPr>
        <p:grpSpPr>
          <a:xfrm>
            <a:off x="684525" y="2547565"/>
            <a:ext cx="945000" cy="945000"/>
            <a:chOff x="913125" y="2395165"/>
            <a:chExt cx="945000" cy="945000"/>
          </a:xfrm>
        </p:grpSpPr>
        <p:sp>
          <p:nvSpPr>
            <p:cNvPr id="981" name="Google Shape;981;p78"/>
            <p:cNvSpPr/>
            <p:nvPr/>
          </p:nvSpPr>
          <p:spPr>
            <a:xfrm>
              <a:off x="913125" y="2395165"/>
              <a:ext cx="945000" cy="945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82" name="Google Shape;982;p78"/>
            <p:cNvCxnSpPr>
              <a:endCxn id="983" idx="0"/>
            </p:cNvCxnSpPr>
            <p:nvPr/>
          </p:nvCxnSpPr>
          <p:spPr>
            <a:xfrm flipH="1" rot="10800000">
              <a:off x="1303342" y="2846578"/>
              <a:ext cx="82200" cy="364200"/>
            </a:xfrm>
            <a:prstGeom prst="straightConnector1">
              <a:avLst/>
            </a:prstGeom>
            <a:noFill/>
            <a:ln cap="flat" cmpd="sng" w="38100">
              <a:solidFill>
                <a:schemeClr val="accent4"/>
              </a:solidFill>
              <a:prstDash val="solid"/>
              <a:round/>
              <a:headEnd len="med" w="med" type="none"/>
              <a:tailEnd len="med" w="med" type="none"/>
            </a:ln>
          </p:spPr>
        </p:cxnSp>
        <p:sp>
          <p:nvSpPr>
            <p:cNvPr id="983" name="Google Shape;983;p78"/>
            <p:cNvSpPr/>
            <p:nvPr/>
          </p:nvSpPr>
          <p:spPr>
            <a:xfrm>
              <a:off x="1364542" y="2846578"/>
              <a:ext cx="42000" cy="420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84" name="Google Shape;984;p78"/>
          <p:cNvGrpSpPr/>
          <p:nvPr/>
        </p:nvGrpSpPr>
        <p:grpSpPr>
          <a:xfrm>
            <a:off x="684525" y="3731004"/>
            <a:ext cx="945000" cy="1113063"/>
            <a:chOff x="913125" y="3654804"/>
            <a:chExt cx="945000" cy="1113063"/>
          </a:xfrm>
        </p:grpSpPr>
        <p:sp>
          <p:nvSpPr>
            <p:cNvPr id="985" name="Google Shape;985;p78"/>
            <p:cNvSpPr/>
            <p:nvPr/>
          </p:nvSpPr>
          <p:spPr>
            <a:xfrm>
              <a:off x="913125" y="3654804"/>
              <a:ext cx="945000" cy="945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86" name="Google Shape;986;p78"/>
            <p:cNvCxnSpPr>
              <a:endCxn id="987" idx="3"/>
            </p:cNvCxnSpPr>
            <p:nvPr/>
          </p:nvCxnSpPr>
          <p:spPr>
            <a:xfrm flipH="1" rot="10800000">
              <a:off x="1169993" y="4142067"/>
              <a:ext cx="200700" cy="625800"/>
            </a:xfrm>
            <a:prstGeom prst="straightConnector1">
              <a:avLst/>
            </a:prstGeom>
            <a:noFill/>
            <a:ln cap="flat" cmpd="sng" w="38100">
              <a:solidFill>
                <a:schemeClr val="accent4"/>
              </a:solidFill>
              <a:prstDash val="solid"/>
              <a:round/>
              <a:headEnd len="med" w="med" type="none"/>
              <a:tailEnd len="med" w="med" type="none"/>
            </a:ln>
          </p:spPr>
        </p:cxnSp>
        <p:sp>
          <p:nvSpPr>
            <p:cNvPr id="987" name="Google Shape;987;p78"/>
            <p:cNvSpPr/>
            <p:nvPr/>
          </p:nvSpPr>
          <p:spPr>
            <a:xfrm>
              <a:off x="1364542" y="4106218"/>
              <a:ext cx="42000" cy="420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88" name="Google Shape;988;p78"/>
          <p:cNvSpPr txBox="1"/>
          <p:nvPr>
            <p:ph idx="1" type="body"/>
          </p:nvPr>
        </p:nvSpPr>
        <p:spPr>
          <a:xfrm>
            <a:off x="324000" y="1459825"/>
            <a:ext cx="287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a:t>
            </a:r>
            <a:endParaRPr sz="1600"/>
          </a:p>
        </p:txBody>
      </p:sp>
      <p:sp>
        <p:nvSpPr>
          <p:cNvPr id="989" name="Google Shape;989;p78"/>
          <p:cNvSpPr txBox="1"/>
          <p:nvPr>
            <p:ph idx="1" type="body"/>
          </p:nvPr>
        </p:nvSpPr>
        <p:spPr>
          <a:xfrm>
            <a:off x="324000" y="2602825"/>
            <a:ext cx="287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b</a:t>
            </a:r>
            <a:r>
              <a:rPr lang="en-GB" sz="1600"/>
              <a:t>)</a:t>
            </a:r>
            <a:endParaRPr sz="1600"/>
          </a:p>
        </p:txBody>
      </p:sp>
      <p:sp>
        <p:nvSpPr>
          <p:cNvPr id="990" name="Google Shape;990;p78"/>
          <p:cNvSpPr txBox="1"/>
          <p:nvPr>
            <p:ph idx="1" type="body"/>
          </p:nvPr>
        </p:nvSpPr>
        <p:spPr>
          <a:xfrm>
            <a:off x="324000" y="3669625"/>
            <a:ext cx="287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c</a:t>
            </a:r>
            <a:r>
              <a:rPr lang="en-GB" sz="1600"/>
              <a:t>)</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9"/>
          <p:cNvSpPr txBox="1"/>
          <p:nvPr>
            <p:ph idx="1" type="body"/>
          </p:nvPr>
        </p:nvSpPr>
        <p:spPr>
          <a:xfrm>
            <a:off x="324000" y="759300"/>
            <a:ext cx="8237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2</a:t>
            </a:r>
            <a:r>
              <a:rPr lang="en-GB" sz="1700"/>
              <a:t>) Fill in the blanks with numbers.</a:t>
            </a:r>
            <a:endParaRPr sz="1700"/>
          </a:p>
        </p:txBody>
      </p:sp>
      <p:sp>
        <p:nvSpPr>
          <p:cNvPr id="996" name="Google Shape;996;p7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Parts of a circle</a:t>
            </a:r>
            <a:endParaRPr/>
          </a:p>
        </p:txBody>
      </p:sp>
      <p:sp>
        <p:nvSpPr>
          <p:cNvPr id="997" name="Google Shape;997;p79"/>
          <p:cNvSpPr txBox="1"/>
          <p:nvPr>
            <p:ph idx="1" type="body"/>
          </p:nvPr>
        </p:nvSpPr>
        <p:spPr>
          <a:xfrm>
            <a:off x="324000" y="1205712"/>
            <a:ext cx="8496000" cy="370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700"/>
              <a:t>a) The </a:t>
            </a:r>
            <a:r>
              <a:rPr b="1" lang="en-GB" sz="1700"/>
              <a:t>diameter</a:t>
            </a:r>
            <a:r>
              <a:rPr lang="en-GB" sz="1700"/>
              <a:t> of a circle is </a:t>
            </a:r>
            <a:r>
              <a:rPr lang="en-GB" sz="1700" u="sng"/>
              <a:t>     </a:t>
            </a:r>
            <a:r>
              <a:rPr lang="en-GB" sz="1700"/>
              <a:t> times the </a:t>
            </a:r>
            <a:r>
              <a:rPr b="1" lang="en-GB" sz="1700"/>
              <a:t>radius</a:t>
            </a:r>
            <a:r>
              <a:rPr lang="en-GB" sz="1700"/>
              <a:t>.</a:t>
            </a:r>
            <a:br>
              <a:rPr lang="en-GB" sz="1700"/>
            </a:br>
            <a:br>
              <a:rPr lang="en-GB" sz="1700"/>
            </a:br>
            <a:r>
              <a:rPr lang="en-GB" sz="1700"/>
              <a:t>b</a:t>
            </a:r>
            <a:r>
              <a:rPr lang="en-GB" sz="1700"/>
              <a:t>) A circle with a </a:t>
            </a:r>
            <a:r>
              <a:rPr b="1" lang="en-GB" sz="1700"/>
              <a:t>radius</a:t>
            </a:r>
            <a:r>
              <a:rPr lang="en-GB" sz="1700"/>
              <a:t> of 6 cm has a </a:t>
            </a:r>
            <a:r>
              <a:rPr b="1" lang="en-GB" sz="1700"/>
              <a:t>diameter</a:t>
            </a:r>
            <a:r>
              <a:rPr lang="en-GB" sz="1700"/>
              <a:t> of </a:t>
            </a:r>
            <a:r>
              <a:rPr lang="en-GB" sz="1700" u="sng"/>
              <a:t>      </a:t>
            </a:r>
            <a:r>
              <a:rPr lang="en-GB" sz="1700"/>
              <a:t> cm.</a:t>
            </a:r>
            <a:br>
              <a:rPr lang="en-GB" sz="1700"/>
            </a:br>
            <a:endParaRPr sz="1700"/>
          </a:p>
          <a:p>
            <a:pPr indent="0" lvl="0" marL="0" rtl="0" algn="l">
              <a:spcBef>
                <a:spcPts val="1000"/>
              </a:spcBef>
              <a:spcAft>
                <a:spcPts val="0"/>
              </a:spcAft>
              <a:buNone/>
            </a:pPr>
            <a:r>
              <a:rPr lang="en-GB" sz="1700"/>
              <a:t>c) A circle with a </a:t>
            </a:r>
            <a:r>
              <a:rPr b="1" lang="en-GB" sz="1700"/>
              <a:t>diameter</a:t>
            </a:r>
            <a:r>
              <a:rPr lang="en-GB" sz="1700"/>
              <a:t> of 6 cm has a </a:t>
            </a:r>
            <a:r>
              <a:rPr b="1" lang="en-GB" sz="1700"/>
              <a:t>radius</a:t>
            </a:r>
            <a:r>
              <a:rPr lang="en-GB" sz="1700"/>
              <a:t> of </a:t>
            </a:r>
            <a:r>
              <a:rPr lang="en-GB" sz="1700" u="sng"/>
              <a:t>      </a:t>
            </a:r>
            <a:r>
              <a:rPr lang="en-GB" sz="1700"/>
              <a:t> cm.</a:t>
            </a:r>
            <a:br>
              <a:rPr lang="en-GB" sz="1700"/>
            </a:br>
            <a:endParaRPr sz="1700"/>
          </a:p>
          <a:p>
            <a:pPr indent="0" lvl="0" marL="0" rtl="0" algn="l">
              <a:spcBef>
                <a:spcPts val="1000"/>
              </a:spcBef>
              <a:spcAft>
                <a:spcPts val="0"/>
              </a:spcAft>
              <a:buNone/>
            </a:pPr>
            <a:r>
              <a:rPr lang="en-GB" sz="1700"/>
              <a:t>d) The distance from the centre of a circle to its edge is 10 m. </a:t>
            </a:r>
            <a:br>
              <a:rPr lang="en-GB" sz="1700"/>
            </a:br>
            <a:r>
              <a:rPr lang="en-GB" sz="1700"/>
              <a:t>     Its </a:t>
            </a:r>
            <a:r>
              <a:rPr b="1" lang="en-GB" sz="1700"/>
              <a:t>radius</a:t>
            </a:r>
            <a:r>
              <a:rPr lang="en-GB" sz="1700"/>
              <a:t> is </a:t>
            </a:r>
            <a:r>
              <a:rPr lang="en-GB" sz="1700" u="sng"/>
              <a:t>      </a:t>
            </a:r>
            <a:r>
              <a:rPr lang="en-GB" sz="1700"/>
              <a:t> m and its </a:t>
            </a:r>
            <a:r>
              <a:rPr b="1" lang="en-GB" sz="1700"/>
              <a:t>diameter</a:t>
            </a:r>
            <a:r>
              <a:rPr lang="en-GB" sz="1700"/>
              <a:t> is </a:t>
            </a:r>
            <a:r>
              <a:rPr lang="en-GB" sz="1700" u="sng"/>
              <a:t>      </a:t>
            </a:r>
            <a:r>
              <a:rPr lang="en-GB" sz="1700"/>
              <a:t> m.</a:t>
            </a:r>
            <a:br>
              <a:rPr lang="en-GB" sz="1700"/>
            </a:br>
            <a:endParaRPr sz="1700"/>
          </a:p>
          <a:p>
            <a:pPr indent="0" lvl="0" marL="0" rtl="0" algn="l">
              <a:spcBef>
                <a:spcPts val="1000"/>
              </a:spcBef>
              <a:spcAft>
                <a:spcPts val="1000"/>
              </a:spcAft>
              <a:buClr>
                <a:schemeClr val="dk1"/>
              </a:buClr>
              <a:buSzPts val="1100"/>
              <a:buFont typeface="Arial"/>
              <a:buNone/>
            </a:pPr>
            <a:r>
              <a:rPr lang="en-GB" sz="1700"/>
              <a:t>e) The furthest distance between two points on the edge of a circle is 24 m. </a:t>
            </a:r>
            <a:br>
              <a:rPr lang="en-GB" sz="1700"/>
            </a:br>
            <a:r>
              <a:rPr lang="en-GB" sz="1700"/>
              <a:t>     Its </a:t>
            </a:r>
            <a:r>
              <a:rPr b="1" lang="en-GB" sz="1700"/>
              <a:t>radius</a:t>
            </a:r>
            <a:r>
              <a:rPr lang="en-GB" sz="1700"/>
              <a:t> is </a:t>
            </a:r>
            <a:r>
              <a:rPr lang="en-GB" sz="1700" u="sng"/>
              <a:t>      </a:t>
            </a:r>
            <a:r>
              <a:rPr lang="en-GB" sz="1700"/>
              <a:t> m and its </a:t>
            </a:r>
            <a:r>
              <a:rPr b="1" lang="en-GB" sz="1700"/>
              <a:t>diameter</a:t>
            </a:r>
            <a:r>
              <a:rPr lang="en-GB" sz="1700"/>
              <a:t> is </a:t>
            </a:r>
            <a:r>
              <a:rPr lang="en-GB" sz="1700" u="sng"/>
              <a:t>      </a:t>
            </a:r>
            <a:r>
              <a:rPr lang="en-GB" sz="1700"/>
              <a:t> m.</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8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Parts of a circle</a:t>
            </a:r>
            <a:endParaRPr/>
          </a:p>
        </p:txBody>
      </p:sp>
      <p:grpSp>
        <p:nvGrpSpPr>
          <p:cNvPr id="1003" name="Google Shape;1003;p80"/>
          <p:cNvGrpSpPr/>
          <p:nvPr/>
        </p:nvGrpSpPr>
        <p:grpSpPr>
          <a:xfrm>
            <a:off x="684525" y="1343430"/>
            <a:ext cx="945000" cy="945000"/>
            <a:chOff x="913125" y="1287925"/>
            <a:chExt cx="945000" cy="945000"/>
          </a:xfrm>
        </p:grpSpPr>
        <p:sp>
          <p:nvSpPr>
            <p:cNvPr id="1004" name="Google Shape;1004;p80"/>
            <p:cNvSpPr/>
            <p:nvPr/>
          </p:nvSpPr>
          <p:spPr>
            <a:xfrm>
              <a:off x="913125" y="1287925"/>
              <a:ext cx="945000" cy="945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05" name="Google Shape;1005;p80"/>
            <p:cNvCxnSpPr/>
            <p:nvPr/>
          </p:nvCxnSpPr>
          <p:spPr>
            <a:xfrm flipH="1" rot="10800000">
              <a:off x="1275505" y="1794849"/>
              <a:ext cx="201900" cy="417900"/>
            </a:xfrm>
            <a:prstGeom prst="straightConnector1">
              <a:avLst/>
            </a:prstGeom>
            <a:noFill/>
            <a:ln cap="flat" cmpd="sng" w="38100">
              <a:solidFill>
                <a:schemeClr val="accent4"/>
              </a:solidFill>
              <a:prstDash val="solid"/>
              <a:round/>
              <a:headEnd len="med" w="med" type="none"/>
              <a:tailEnd len="med" w="med" type="none"/>
            </a:ln>
          </p:spPr>
        </p:cxnSp>
        <p:sp>
          <p:nvSpPr>
            <p:cNvPr id="1006" name="Google Shape;1006;p80"/>
            <p:cNvSpPr/>
            <p:nvPr/>
          </p:nvSpPr>
          <p:spPr>
            <a:xfrm>
              <a:off x="1364542" y="1739338"/>
              <a:ext cx="42000" cy="420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07" name="Google Shape;1007;p80"/>
          <p:cNvGrpSpPr/>
          <p:nvPr/>
        </p:nvGrpSpPr>
        <p:grpSpPr>
          <a:xfrm>
            <a:off x="684525" y="2526870"/>
            <a:ext cx="945000" cy="945000"/>
            <a:chOff x="913125" y="2395165"/>
            <a:chExt cx="945000" cy="945000"/>
          </a:xfrm>
        </p:grpSpPr>
        <p:sp>
          <p:nvSpPr>
            <p:cNvPr id="1008" name="Google Shape;1008;p80"/>
            <p:cNvSpPr/>
            <p:nvPr/>
          </p:nvSpPr>
          <p:spPr>
            <a:xfrm>
              <a:off x="913125" y="2395165"/>
              <a:ext cx="945000" cy="945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09" name="Google Shape;1009;p80"/>
            <p:cNvCxnSpPr>
              <a:endCxn id="1010" idx="0"/>
            </p:cNvCxnSpPr>
            <p:nvPr/>
          </p:nvCxnSpPr>
          <p:spPr>
            <a:xfrm flipH="1" rot="10800000">
              <a:off x="1303342" y="2846578"/>
              <a:ext cx="82200" cy="364200"/>
            </a:xfrm>
            <a:prstGeom prst="straightConnector1">
              <a:avLst/>
            </a:prstGeom>
            <a:noFill/>
            <a:ln cap="flat" cmpd="sng" w="38100">
              <a:solidFill>
                <a:schemeClr val="accent4"/>
              </a:solidFill>
              <a:prstDash val="solid"/>
              <a:round/>
              <a:headEnd len="med" w="med" type="none"/>
              <a:tailEnd len="med" w="med" type="none"/>
            </a:ln>
          </p:spPr>
        </p:cxnSp>
        <p:sp>
          <p:nvSpPr>
            <p:cNvPr id="1010" name="Google Shape;1010;p80"/>
            <p:cNvSpPr/>
            <p:nvPr/>
          </p:nvSpPr>
          <p:spPr>
            <a:xfrm>
              <a:off x="1364542" y="2846578"/>
              <a:ext cx="42000" cy="420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11" name="Google Shape;1011;p80"/>
          <p:cNvGrpSpPr/>
          <p:nvPr/>
        </p:nvGrpSpPr>
        <p:grpSpPr>
          <a:xfrm>
            <a:off x="684525" y="3710310"/>
            <a:ext cx="945000" cy="1113063"/>
            <a:chOff x="913125" y="3654804"/>
            <a:chExt cx="945000" cy="1113063"/>
          </a:xfrm>
        </p:grpSpPr>
        <p:sp>
          <p:nvSpPr>
            <p:cNvPr id="1012" name="Google Shape;1012;p80"/>
            <p:cNvSpPr/>
            <p:nvPr/>
          </p:nvSpPr>
          <p:spPr>
            <a:xfrm>
              <a:off x="913125" y="3654804"/>
              <a:ext cx="945000" cy="945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13" name="Google Shape;1013;p80"/>
            <p:cNvCxnSpPr>
              <a:endCxn id="1014" idx="3"/>
            </p:cNvCxnSpPr>
            <p:nvPr/>
          </p:nvCxnSpPr>
          <p:spPr>
            <a:xfrm flipH="1" rot="10800000">
              <a:off x="1169993" y="4142067"/>
              <a:ext cx="200700" cy="625800"/>
            </a:xfrm>
            <a:prstGeom prst="straightConnector1">
              <a:avLst/>
            </a:prstGeom>
            <a:noFill/>
            <a:ln cap="flat" cmpd="sng" w="38100">
              <a:solidFill>
                <a:schemeClr val="accent4"/>
              </a:solidFill>
              <a:prstDash val="solid"/>
              <a:round/>
              <a:headEnd len="med" w="med" type="none"/>
              <a:tailEnd len="med" w="med" type="none"/>
            </a:ln>
          </p:spPr>
        </p:cxnSp>
        <p:sp>
          <p:nvSpPr>
            <p:cNvPr id="1014" name="Google Shape;1014;p80"/>
            <p:cNvSpPr/>
            <p:nvPr/>
          </p:nvSpPr>
          <p:spPr>
            <a:xfrm>
              <a:off x="1364542" y="4106218"/>
              <a:ext cx="42000" cy="420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15" name="Google Shape;1015;p80"/>
          <p:cNvSpPr txBox="1"/>
          <p:nvPr>
            <p:ph idx="1" type="body"/>
          </p:nvPr>
        </p:nvSpPr>
        <p:spPr>
          <a:xfrm>
            <a:off x="324000" y="1439130"/>
            <a:ext cx="287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a:t>
            </a:r>
            <a:endParaRPr sz="1600"/>
          </a:p>
        </p:txBody>
      </p:sp>
      <p:sp>
        <p:nvSpPr>
          <p:cNvPr id="1016" name="Google Shape;1016;p80"/>
          <p:cNvSpPr txBox="1"/>
          <p:nvPr>
            <p:ph idx="1" type="body"/>
          </p:nvPr>
        </p:nvSpPr>
        <p:spPr>
          <a:xfrm>
            <a:off x="324000" y="2582130"/>
            <a:ext cx="287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b)</a:t>
            </a:r>
            <a:endParaRPr sz="1600"/>
          </a:p>
        </p:txBody>
      </p:sp>
      <p:sp>
        <p:nvSpPr>
          <p:cNvPr id="1017" name="Google Shape;1017;p80"/>
          <p:cNvSpPr txBox="1"/>
          <p:nvPr>
            <p:ph idx="1" type="body"/>
          </p:nvPr>
        </p:nvSpPr>
        <p:spPr>
          <a:xfrm>
            <a:off x="324000" y="3648930"/>
            <a:ext cx="287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c)</a:t>
            </a:r>
            <a:endParaRPr sz="1600"/>
          </a:p>
        </p:txBody>
      </p:sp>
      <p:sp>
        <p:nvSpPr>
          <p:cNvPr id="1018" name="Google Shape;1018;p80"/>
          <p:cNvSpPr txBox="1"/>
          <p:nvPr>
            <p:ph idx="1" type="body"/>
          </p:nvPr>
        </p:nvSpPr>
        <p:spPr>
          <a:xfrm>
            <a:off x="1828600" y="1647330"/>
            <a:ext cx="6293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line segment does not go to the centre of the circle.</a:t>
            </a:r>
            <a:endParaRPr sz="2000">
              <a:latin typeface="Kalam"/>
              <a:ea typeface="Kalam"/>
              <a:cs typeface="Kalam"/>
              <a:sym typeface="Kalam"/>
            </a:endParaRPr>
          </a:p>
        </p:txBody>
      </p:sp>
      <p:sp>
        <p:nvSpPr>
          <p:cNvPr id="1019" name="Google Shape;1019;p80"/>
          <p:cNvSpPr txBox="1"/>
          <p:nvPr>
            <p:ph idx="1" type="body"/>
          </p:nvPr>
        </p:nvSpPr>
        <p:spPr>
          <a:xfrm>
            <a:off x="1828600" y="2866530"/>
            <a:ext cx="6293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line segment does not go to the edge of the circle.</a:t>
            </a:r>
            <a:endParaRPr sz="2000">
              <a:latin typeface="Kalam"/>
              <a:ea typeface="Kalam"/>
              <a:cs typeface="Kalam"/>
              <a:sym typeface="Kalam"/>
            </a:endParaRPr>
          </a:p>
        </p:txBody>
      </p:sp>
      <p:sp>
        <p:nvSpPr>
          <p:cNvPr id="1020" name="Google Shape;1020;p80"/>
          <p:cNvSpPr txBox="1"/>
          <p:nvPr>
            <p:ph idx="1" type="body"/>
          </p:nvPr>
        </p:nvSpPr>
        <p:spPr>
          <a:xfrm>
            <a:off x="1828600" y="4085730"/>
            <a:ext cx="6293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line segment goes beyond the edge of the circle.</a:t>
            </a:r>
            <a:endParaRPr sz="2000">
              <a:latin typeface="Kalam"/>
              <a:ea typeface="Kalam"/>
              <a:cs typeface="Kalam"/>
              <a:sym typeface="Kalam"/>
            </a:endParaRPr>
          </a:p>
        </p:txBody>
      </p:sp>
      <p:sp>
        <p:nvSpPr>
          <p:cNvPr id="1021" name="Google Shape;1021;p80"/>
          <p:cNvSpPr txBox="1"/>
          <p:nvPr>
            <p:ph idx="1" type="body"/>
          </p:nvPr>
        </p:nvSpPr>
        <p:spPr>
          <a:xfrm>
            <a:off x="324000" y="683100"/>
            <a:ext cx="8237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1) For each diagram, explain why the length of the line segment is </a:t>
            </a:r>
            <a:r>
              <a:rPr lang="en-GB" sz="1700">
                <a:solidFill>
                  <a:schemeClr val="accent4"/>
                </a:solidFill>
              </a:rPr>
              <a:t>not</a:t>
            </a:r>
            <a:r>
              <a:rPr lang="en-GB" sz="1700"/>
              <a:t> the </a:t>
            </a:r>
            <a:r>
              <a:rPr b="1" lang="en-GB" sz="1700"/>
              <a:t>radius</a:t>
            </a:r>
            <a:r>
              <a:rPr lang="en-GB" sz="1700"/>
              <a:t>.</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8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2) Fill in the blanks with numbers.</a:t>
            </a:r>
            <a:endParaRPr sz="1700"/>
          </a:p>
        </p:txBody>
      </p:sp>
      <p:sp>
        <p:nvSpPr>
          <p:cNvPr id="1027" name="Google Shape;1027;p8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Parts of a circle</a:t>
            </a:r>
            <a:endParaRPr/>
          </a:p>
        </p:txBody>
      </p:sp>
      <p:sp>
        <p:nvSpPr>
          <p:cNvPr id="1028" name="Google Shape;1028;p81"/>
          <p:cNvSpPr txBox="1"/>
          <p:nvPr>
            <p:ph idx="1" type="body"/>
          </p:nvPr>
        </p:nvSpPr>
        <p:spPr>
          <a:xfrm>
            <a:off x="324000" y="1205712"/>
            <a:ext cx="8496000" cy="370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700"/>
              <a:t>a) The </a:t>
            </a:r>
            <a:r>
              <a:rPr b="1" lang="en-GB" sz="1700"/>
              <a:t>diameter</a:t>
            </a:r>
            <a:r>
              <a:rPr lang="en-GB" sz="1700"/>
              <a:t> of a circle is       times the </a:t>
            </a:r>
            <a:r>
              <a:rPr b="1" lang="en-GB" sz="1700"/>
              <a:t>radius</a:t>
            </a:r>
            <a:r>
              <a:rPr lang="en-GB" sz="1700"/>
              <a:t>.</a:t>
            </a:r>
            <a:br>
              <a:rPr lang="en-GB" sz="1700"/>
            </a:br>
            <a:br>
              <a:rPr lang="en-GB" sz="1700"/>
            </a:br>
            <a:r>
              <a:rPr lang="en-GB" sz="1700"/>
              <a:t>b) A circle with a </a:t>
            </a:r>
            <a:r>
              <a:rPr b="1" lang="en-GB" sz="1700"/>
              <a:t>radius</a:t>
            </a:r>
            <a:r>
              <a:rPr lang="en-GB" sz="1700"/>
              <a:t> of 6 cm has a </a:t>
            </a:r>
            <a:r>
              <a:rPr b="1" lang="en-GB" sz="1700"/>
              <a:t>diameter</a:t>
            </a:r>
            <a:r>
              <a:rPr lang="en-GB" sz="1700"/>
              <a:t> of        cm.</a:t>
            </a:r>
            <a:br>
              <a:rPr lang="en-GB" sz="1700"/>
            </a:br>
            <a:endParaRPr sz="1700"/>
          </a:p>
          <a:p>
            <a:pPr indent="0" lvl="0" marL="0" rtl="0" algn="l">
              <a:spcBef>
                <a:spcPts val="1000"/>
              </a:spcBef>
              <a:spcAft>
                <a:spcPts val="0"/>
              </a:spcAft>
              <a:buNone/>
            </a:pPr>
            <a:r>
              <a:rPr lang="en-GB" sz="1700"/>
              <a:t>c) A circle with a </a:t>
            </a:r>
            <a:r>
              <a:rPr b="1" lang="en-GB" sz="1700"/>
              <a:t>diameter</a:t>
            </a:r>
            <a:r>
              <a:rPr lang="en-GB" sz="1700"/>
              <a:t> of 6 cm has a </a:t>
            </a:r>
            <a:r>
              <a:rPr b="1" lang="en-GB" sz="1700"/>
              <a:t>radius</a:t>
            </a:r>
            <a:r>
              <a:rPr lang="en-GB" sz="1700"/>
              <a:t> of        cm.</a:t>
            </a:r>
            <a:br>
              <a:rPr lang="en-GB" sz="1700"/>
            </a:br>
            <a:endParaRPr sz="1700"/>
          </a:p>
          <a:p>
            <a:pPr indent="0" lvl="0" marL="0" rtl="0" algn="l">
              <a:spcBef>
                <a:spcPts val="1000"/>
              </a:spcBef>
              <a:spcAft>
                <a:spcPts val="0"/>
              </a:spcAft>
              <a:buNone/>
            </a:pPr>
            <a:r>
              <a:rPr lang="en-GB" sz="1700"/>
              <a:t>d) The distance from the centre of a circle to its edge is 10 m. </a:t>
            </a:r>
            <a:br>
              <a:rPr lang="en-GB" sz="1700"/>
            </a:br>
            <a:r>
              <a:rPr lang="en-GB" sz="1700"/>
              <a:t>     Its </a:t>
            </a:r>
            <a:r>
              <a:rPr b="1" lang="en-GB" sz="1700"/>
              <a:t>radius</a:t>
            </a:r>
            <a:r>
              <a:rPr lang="en-GB" sz="1700"/>
              <a:t> is        m and its </a:t>
            </a:r>
            <a:r>
              <a:rPr b="1" lang="en-GB" sz="1700"/>
              <a:t>diameter</a:t>
            </a:r>
            <a:r>
              <a:rPr lang="en-GB" sz="1700"/>
              <a:t> is        m.</a:t>
            </a:r>
            <a:br>
              <a:rPr lang="en-GB" sz="1700"/>
            </a:br>
            <a:endParaRPr sz="1700"/>
          </a:p>
          <a:p>
            <a:pPr indent="0" lvl="0" marL="0" rtl="0" algn="l">
              <a:spcBef>
                <a:spcPts val="1000"/>
              </a:spcBef>
              <a:spcAft>
                <a:spcPts val="1000"/>
              </a:spcAft>
              <a:buNone/>
            </a:pPr>
            <a:r>
              <a:rPr lang="en-GB" sz="1700"/>
              <a:t>e) The furthest distance between two points on the edge of a circle is 24 m. </a:t>
            </a:r>
            <a:br>
              <a:rPr lang="en-GB" sz="1700"/>
            </a:br>
            <a:r>
              <a:rPr lang="en-GB" sz="1700"/>
              <a:t>     Its </a:t>
            </a:r>
            <a:r>
              <a:rPr b="1" lang="en-GB" sz="1700"/>
              <a:t>radius</a:t>
            </a:r>
            <a:r>
              <a:rPr lang="en-GB" sz="1700"/>
              <a:t> is        m and its </a:t>
            </a:r>
            <a:r>
              <a:rPr b="1" lang="en-GB" sz="1700"/>
              <a:t>diameter</a:t>
            </a:r>
            <a:r>
              <a:rPr lang="en-GB" sz="1700"/>
              <a:t> is        m.</a:t>
            </a:r>
            <a:endParaRPr sz="1700"/>
          </a:p>
        </p:txBody>
      </p:sp>
      <p:sp>
        <p:nvSpPr>
          <p:cNvPr id="1029" name="Google Shape;1029;p81"/>
          <p:cNvSpPr txBox="1"/>
          <p:nvPr>
            <p:ph idx="1" type="body"/>
          </p:nvPr>
        </p:nvSpPr>
        <p:spPr>
          <a:xfrm>
            <a:off x="324000" y="1205712"/>
            <a:ext cx="8496000" cy="370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700"/>
              <a:t>a) The </a:t>
            </a:r>
            <a:r>
              <a:rPr b="1" lang="en-GB" sz="1700"/>
              <a:t>diameter</a:t>
            </a:r>
            <a:r>
              <a:rPr lang="en-GB" sz="1700"/>
              <a:t> of a circle is  </a:t>
            </a:r>
            <a:r>
              <a:rPr lang="en-GB" sz="1700">
                <a:latin typeface="Kalam"/>
                <a:ea typeface="Kalam"/>
                <a:cs typeface="Kalam"/>
                <a:sym typeface="Kalam"/>
              </a:rPr>
              <a:t>2</a:t>
            </a:r>
            <a:r>
              <a:rPr lang="en-GB" sz="1700"/>
              <a:t>   times the </a:t>
            </a:r>
            <a:r>
              <a:rPr b="1" lang="en-GB" sz="1700"/>
              <a:t>radius</a:t>
            </a:r>
            <a:r>
              <a:rPr lang="en-GB" sz="1700"/>
              <a:t>.</a:t>
            </a:r>
            <a:br>
              <a:rPr lang="en-GB" sz="1700"/>
            </a:br>
            <a:br>
              <a:rPr lang="en-GB" sz="1700"/>
            </a:br>
            <a:r>
              <a:rPr lang="en-GB" sz="1700"/>
              <a:t>b) A circle with a </a:t>
            </a:r>
            <a:r>
              <a:rPr b="1" lang="en-GB" sz="1700"/>
              <a:t>radius</a:t>
            </a:r>
            <a:r>
              <a:rPr lang="en-GB" sz="1700"/>
              <a:t> of 6 cm has a </a:t>
            </a:r>
            <a:r>
              <a:rPr b="1" lang="en-GB" sz="1700"/>
              <a:t>diameter</a:t>
            </a:r>
            <a:r>
              <a:rPr lang="en-GB" sz="1700"/>
              <a:t> of  </a:t>
            </a:r>
            <a:r>
              <a:rPr lang="en-GB" sz="1700">
                <a:latin typeface="Kalam"/>
                <a:ea typeface="Kalam"/>
                <a:cs typeface="Kalam"/>
                <a:sym typeface="Kalam"/>
              </a:rPr>
              <a:t>12</a:t>
            </a:r>
            <a:r>
              <a:rPr lang="en-GB" sz="1700"/>
              <a:t>   cm.</a:t>
            </a:r>
            <a:br>
              <a:rPr lang="en-GB" sz="1700"/>
            </a:br>
            <a:endParaRPr sz="1700"/>
          </a:p>
          <a:p>
            <a:pPr indent="0" lvl="0" marL="0" rtl="0" algn="l">
              <a:spcBef>
                <a:spcPts val="1000"/>
              </a:spcBef>
              <a:spcAft>
                <a:spcPts val="0"/>
              </a:spcAft>
              <a:buNone/>
            </a:pPr>
            <a:r>
              <a:rPr lang="en-GB" sz="1700"/>
              <a:t>c) A circle with a </a:t>
            </a:r>
            <a:r>
              <a:rPr b="1" lang="en-GB" sz="1700"/>
              <a:t>diameter</a:t>
            </a:r>
            <a:r>
              <a:rPr lang="en-GB" sz="1700"/>
              <a:t> of 6 cm has a </a:t>
            </a:r>
            <a:r>
              <a:rPr b="1" lang="en-GB" sz="1700"/>
              <a:t>radius</a:t>
            </a:r>
            <a:r>
              <a:rPr lang="en-GB" sz="1700"/>
              <a:t> of  </a:t>
            </a:r>
            <a:r>
              <a:rPr lang="en-GB" sz="1700">
                <a:latin typeface="Kalam"/>
                <a:ea typeface="Kalam"/>
                <a:cs typeface="Kalam"/>
                <a:sym typeface="Kalam"/>
              </a:rPr>
              <a:t>3</a:t>
            </a:r>
            <a:r>
              <a:rPr lang="en-GB" sz="1700"/>
              <a:t>    cm.</a:t>
            </a:r>
            <a:br>
              <a:rPr lang="en-GB" sz="1700"/>
            </a:br>
            <a:endParaRPr sz="1700"/>
          </a:p>
          <a:p>
            <a:pPr indent="0" lvl="0" marL="0" rtl="0" algn="l">
              <a:spcBef>
                <a:spcPts val="1000"/>
              </a:spcBef>
              <a:spcAft>
                <a:spcPts val="0"/>
              </a:spcAft>
              <a:buNone/>
            </a:pPr>
            <a:r>
              <a:rPr lang="en-GB" sz="1700"/>
              <a:t>d) The distance from the centre of a circle to its edge is 10 m. </a:t>
            </a:r>
            <a:br>
              <a:rPr lang="en-GB" sz="1700"/>
            </a:br>
            <a:r>
              <a:rPr lang="en-GB" sz="1700"/>
              <a:t>     Its </a:t>
            </a:r>
            <a:r>
              <a:rPr b="1" lang="en-GB" sz="1700"/>
              <a:t>radius</a:t>
            </a:r>
            <a:r>
              <a:rPr lang="en-GB" sz="1700"/>
              <a:t> is   </a:t>
            </a:r>
            <a:r>
              <a:rPr lang="en-GB" sz="1700">
                <a:latin typeface="Kalam"/>
                <a:ea typeface="Kalam"/>
                <a:cs typeface="Kalam"/>
                <a:sym typeface="Kalam"/>
              </a:rPr>
              <a:t>10</a:t>
            </a:r>
            <a:r>
              <a:rPr lang="en-GB" sz="1700"/>
              <a:t>  m and its </a:t>
            </a:r>
            <a:r>
              <a:rPr b="1" lang="en-GB" sz="1700"/>
              <a:t>diameter</a:t>
            </a:r>
            <a:r>
              <a:rPr lang="en-GB" sz="1700"/>
              <a:t> is  </a:t>
            </a:r>
            <a:r>
              <a:rPr lang="en-GB" sz="1700">
                <a:latin typeface="Kalam"/>
                <a:ea typeface="Kalam"/>
                <a:cs typeface="Kalam"/>
                <a:sym typeface="Kalam"/>
              </a:rPr>
              <a:t>20</a:t>
            </a:r>
            <a:r>
              <a:rPr lang="en-GB" sz="1700"/>
              <a:t>  m.</a:t>
            </a:r>
            <a:br>
              <a:rPr lang="en-GB" sz="1700"/>
            </a:br>
            <a:endParaRPr sz="1700"/>
          </a:p>
          <a:p>
            <a:pPr indent="0" lvl="0" marL="0" rtl="0" algn="l">
              <a:spcBef>
                <a:spcPts val="1000"/>
              </a:spcBef>
              <a:spcAft>
                <a:spcPts val="1000"/>
              </a:spcAft>
              <a:buNone/>
            </a:pPr>
            <a:r>
              <a:rPr lang="en-GB" sz="1700"/>
              <a:t>e) The furthest distance between two points on the edge of a circle is 24 m. </a:t>
            </a:r>
            <a:br>
              <a:rPr lang="en-GB" sz="1700"/>
            </a:br>
            <a:r>
              <a:rPr lang="en-GB" sz="1700"/>
              <a:t>     Its </a:t>
            </a:r>
            <a:r>
              <a:rPr b="1" lang="en-GB" sz="1700"/>
              <a:t>radius</a:t>
            </a:r>
            <a:r>
              <a:rPr lang="en-GB" sz="1700"/>
              <a:t> is   </a:t>
            </a:r>
            <a:r>
              <a:rPr lang="en-GB" sz="1700">
                <a:latin typeface="Kalam"/>
                <a:ea typeface="Kalam"/>
                <a:cs typeface="Kalam"/>
                <a:sym typeface="Kalam"/>
              </a:rPr>
              <a:t>12</a:t>
            </a:r>
            <a:r>
              <a:rPr lang="en-GB" sz="1700"/>
              <a:t>  m and its </a:t>
            </a:r>
            <a:r>
              <a:rPr b="1" lang="en-GB" sz="1700"/>
              <a:t>diameter</a:t>
            </a:r>
            <a:r>
              <a:rPr lang="en-GB" sz="1700"/>
              <a:t> is  </a:t>
            </a:r>
            <a:r>
              <a:rPr lang="en-GB" sz="1700">
                <a:latin typeface="Kalam"/>
                <a:ea typeface="Kalam"/>
                <a:cs typeface="Kalam"/>
                <a:sym typeface="Kalam"/>
              </a:rPr>
              <a:t>2</a:t>
            </a:r>
            <a:r>
              <a:rPr lang="en-GB" sz="1700">
                <a:latin typeface="Kalam"/>
                <a:ea typeface="Kalam"/>
                <a:cs typeface="Kalam"/>
                <a:sym typeface="Kalam"/>
              </a:rPr>
              <a:t>4</a:t>
            </a:r>
            <a:r>
              <a:rPr lang="en-GB" sz="1700"/>
              <a:t>  m.</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2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82"/>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Parts of a circle</a:t>
            </a:r>
            <a:endParaRPr/>
          </a:p>
        </p:txBody>
      </p:sp>
      <p:sp>
        <p:nvSpPr>
          <p:cNvPr id="1035" name="Google Shape;1035;p82"/>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036" name="Google Shape;1036;p82"/>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circles</a:t>
            </a:r>
            <a:endParaRPr/>
          </a:p>
        </p:txBody>
      </p:sp>
      <p:pic>
        <p:nvPicPr>
          <p:cNvPr id="1037" name="Google Shape;1037;p82"/>
          <p:cNvPicPr preferRelativeResize="0"/>
          <p:nvPr/>
        </p:nvPicPr>
        <p:blipFill>
          <a:blip r:embed="rId3">
            <a:alphaModFix/>
          </a:blip>
          <a:stretch>
            <a:fillRect/>
          </a:stretch>
        </p:blipFill>
        <p:spPr>
          <a:xfrm>
            <a:off x="430950" y="2994675"/>
            <a:ext cx="450575" cy="446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83"/>
          <p:cNvSpPr/>
          <p:nvPr/>
        </p:nvSpPr>
        <p:spPr>
          <a:xfrm>
            <a:off x="5534539" y="1740800"/>
            <a:ext cx="2507400" cy="2507400"/>
          </a:xfrm>
          <a:prstGeom prst="arc">
            <a:avLst>
              <a:gd fmla="val 10833709" name="adj1"/>
              <a:gd fmla="val 10774188" name="adj2"/>
            </a:avLst>
          </a:prstGeom>
          <a:noFill/>
          <a:ln cap="flat" cmpd="sng" w="3810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3" name="Google Shape;1043;p83"/>
          <p:cNvSpPr/>
          <p:nvPr/>
        </p:nvSpPr>
        <p:spPr>
          <a:xfrm>
            <a:off x="6726159" y="2930142"/>
            <a:ext cx="128400" cy="1284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44" name="Google Shape;1044;p83"/>
          <p:cNvCxnSpPr/>
          <p:nvPr/>
        </p:nvCxnSpPr>
        <p:spPr>
          <a:xfrm>
            <a:off x="5536759" y="2991695"/>
            <a:ext cx="2507400" cy="0"/>
          </a:xfrm>
          <a:prstGeom prst="straightConnector1">
            <a:avLst/>
          </a:prstGeom>
          <a:noFill/>
          <a:ln cap="flat" cmpd="sng" w="38100">
            <a:solidFill>
              <a:schemeClr val="dk1"/>
            </a:solidFill>
            <a:prstDash val="solid"/>
            <a:round/>
            <a:headEnd len="med" w="med" type="none"/>
            <a:tailEnd len="med" w="med" type="triangle"/>
          </a:ln>
        </p:spPr>
      </p:cxnSp>
      <p:sp>
        <p:nvSpPr>
          <p:cNvPr id="1045" name="Google Shape;1045;p83"/>
          <p:cNvSpPr/>
          <p:nvPr/>
        </p:nvSpPr>
        <p:spPr>
          <a:xfrm>
            <a:off x="5534539" y="1740800"/>
            <a:ext cx="2507400" cy="2507400"/>
          </a:xfrm>
          <a:prstGeom prst="arc">
            <a:avLst>
              <a:gd fmla="val 10833709" name="adj1"/>
              <a:gd fmla="val 38740" name="adj2"/>
            </a:avLst>
          </a:prstGeom>
          <a:noFill/>
          <a:ln cap="flat" cmpd="sng" w="3810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6" name="Google Shape;1046;p83"/>
          <p:cNvSpPr txBox="1"/>
          <p:nvPr>
            <p:ph idx="1" type="body"/>
          </p:nvPr>
        </p:nvSpPr>
        <p:spPr>
          <a:xfrm>
            <a:off x="324000" y="759300"/>
            <a:ext cx="71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is comparing the </a:t>
            </a:r>
            <a:r>
              <a:rPr b="1" lang="en-GB" sz="2000"/>
              <a:t>circumference </a:t>
            </a:r>
            <a:r>
              <a:rPr lang="en-GB" sz="2000"/>
              <a:t>of a circle with its </a:t>
            </a:r>
            <a:r>
              <a:rPr b="1" lang="en-GB" sz="2000"/>
              <a:t>diameter</a:t>
            </a:r>
            <a:r>
              <a:rPr lang="en-GB" sz="2000"/>
              <a:t>. </a:t>
            </a:r>
            <a:endParaRPr sz="2000"/>
          </a:p>
        </p:txBody>
      </p:sp>
      <p:sp>
        <p:nvSpPr>
          <p:cNvPr id="1047" name="Google Shape;1047;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pic>
        <p:nvPicPr>
          <p:cNvPr id="1048" name="Google Shape;1048;p83"/>
          <p:cNvPicPr preferRelativeResize="0"/>
          <p:nvPr/>
        </p:nvPicPr>
        <p:blipFill rotWithShape="1">
          <a:blip r:embed="rId3">
            <a:alphaModFix/>
          </a:blip>
          <a:srcRect b="0" l="0" r="69082" t="56280"/>
          <a:stretch/>
        </p:blipFill>
        <p:spPr>
          <a:xfrm flipH="1">
            <a:off x="536124" y="1679325"/>
            <a:ext cx="4480676" cy="2320076"/>
          </a:xfrm>
          <a:prstGeom prst="rect">
            <a:avLst/>
          </a:prstGeom>
          <a:noFill/>
          <a:ln>
            <a:noFill/>
          </a:ln>
        </p:spPr>
      </p:pic>
      <p:sp>
        <p:nvSpPr>
          <p:cNvPr id="1049" name="Google Shape;1049;p83"/>
          <p:cNvSpPr txBox="1"/>
          <p:nvPr>
            <p:ph idx="1" type="body"/>
          </p:nvPr>
        </p:nvSpPr>
        <p:spPr>
          <a:xfrm>
            <a:off x="911150" y="2108871"/>
            <a:ext cx="3853800" cy="69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curved distance is further than the straight distance.</a:t>
            </a:r>
            <a:r>
              <a:rPr lang="en-GB" sz="1800"/>
              <a:t> </a:t>
            </a:r>
            <a:endParaRPr sz="1800"/>
          </a:p>
        </p:txBody>
      </p:sp>
      <p:sp>
        <p:nvSpPr>
          <p:cNvPr id="1050" name="Google Shape;1050;p83"/>
          <p:cNvSpPr txBox="1"/>
          <p:nvPr>
            <p:ph idx="1" type="body"/>
          </p:nvPr>
        </p:nvSpPr>
        <p:spPr>
          <a:xfrm>
            <a:off x="911150" y="2836853"/>
            <a:ext cx="3853800" cy="666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 </a:t>
            </a:r>
            <a:r>
              <a:rPr lang="en-GB" sz="1800">
                <a:solidFill>
                  <a:schemeClr val="accent5"/>
                </a:solidFill>
              </a:rPr>
              <a:t>half</a:t>
            </a:r>
            <a:r>
              <a:rPr lang="en-GB" sz="1800"/>
              <a:t> of the </a:t>
            </a:r>
            <a:r>
              <a:rPr b="1" lang="en-GB" sz="1800"/>
              <a:t>circumference</a:t>
            </a:r>
            <a:r>
              <a:rPr lang="en-GB" sz="1800"/>
              <a:t> must be </a:t>
            </a:r>
            <a:r>
              <a:rPr lang="en-GB" sz="1800">
                <a:solidFill>
                  <a:schemeClr val="accent5"/>
                </a:solidFill>
              </a:rPr>
              <a:t>greater than</a:t>
            </a:r>
            <a:r>
              <a:rPr lang="en-GB" sz="1800"/>
              <a:t> the </a:t>
            </a:r>
            <a:r>
              <a:rPr b="1" lang="en-GB" sz="1800"/>
              <a:t>diameter</a:t>
            </a:r>
            <a:r>
              <a:rPr lang="en-GB" sz="1800"/>
              <a:t>. </a:t>
            </a:r>
            <a:endParaRPr sz="1800"/>
          </a:p>
        </p:txBody>
      </p:sp>
      <p:pic>
        <p:nvPicPr>
          <p:cNvPr id="1051" name="Google Shape;1051;p83"/>
          <p:cNvPicPr preferRelativeResize="0"/>
          <p:nvPr/>
        </p:nvPicPr>
        <p:blipFill>
          <a:blip r:embed="rId4">
            <a:alphaModFix/>
          </a:blip>
          <a:stretch>
            <a:fillRect/>
          </a:stretch>
        </p:blipFill>
        <p:spPr>
          <a:xfrm>
            <a:off x="469263" y="3896748"/>
            <a:ext cx="479274" cy="9050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4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84"/>
          <p:cNvSpPr/>
          <p:nvPr/>
        </p:nvSpPr>
        <p:spPr>
          <a:xfrm>
            <a:off x="5534539" y="1740800"/>
            <a:ext cx="2507400" cy="2507400"/>
          </a:xfrm>
          <a:prstGeom prst="arc">
            <a:avLst>
              <a:gd fmla="val 10833709" name="adj1"/>
              <a:gd fmla="val 21594839" name="adj2"/>
            </a:avLst>
          </a:prstGeom>
          <a:noFill/>
          <a:ln cap="flat" cmpd="sng" w="3810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7" name="Google Shape;1057;p84"/>
          <p:cNvSpPr/>
          <p:nvPr/>
        </p:nvSpPr>
        <p:spPr>
          <a:xfrm rot="10800000">
            <a:off x="5534539" y="1740800"/>
            <a:ext cx="2507400" cy="2507400"/>
          </a:xfrm>
          <a:prstGeom prst="arc">
            <a:avLst>
              <a:gd fmla="val 10833709" name="adj1"/>
              <a:gd fmla="val 21594839" name="adj2"/>
            </a:avLst>
          </a:prstGeom>
          <a:noFill/>
          <a:ln cap="flat" cmpd="sng" w="3810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8" name="Google Shape;1058;p84"/>
          <p:cNvSpPr txBox="1"/>
          <p:nvPr>
            <p:ph idx="1" type="body"/>
          </p:nvPr>
        </p:nvSpPr>
        <p:spPr>
          <a:xfrm>
            <a:off x="324000" y="759300"/>
            <a:ext cx="71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is comparing the </a:t>
            </a:r>
            <a:r>
              <a:rPr b="1" lang="en-GB" sz="2000"/>
              <a:t>circumference </a:t>
            </a:r>
            <a:r>
              <a:rPr lang="en-GB" sz="2000"/>
              <a:t>of a circle with its </a:t>
            </a:r>
            <a:r>
              <a:rPr b="1" lang="en-GB" sz="2000"/>
              <a:t>diameter</a:t>
            </a:r>
            <a:r>
              <a:rPr lang="en-GB" sz="2000"/>
              <a:t>. </a:t>
            </a:r>
            <a:endParaRPr sz="2000"/>
          </a:p>
        </p:txBody>
      </p:sp>
      <p:sp>
        <p:nvSpPr>
          <p:cNvPr id="1059" name="Google Shape;1059;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060" name="Google Shape;1060;p84"/>
          <p:cNvSpPr/>
          <p:nvPr/>
        </p:nvSpPr>
        <p:spPr>
          <a:xfrm>
            <a:off x="6726159" y="2930142"/>
            <a:ext cx="128400" cy="1284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61" name="Google Shape;1061;p84"/>
          <p:cNvPicPr preferRelativeResize="0"/>
          <p:nvPr/>
        </p:nvPicPr>
        <p:blipFill rotWithShape="1">
          <a:blip r:embed="rId3">
            <a:alphaModFix/>
          </a:blip>
          <a:srcRect b="0" l="0" r="69082" t="56280"/>
          <a:stretch/>
        </p:blipFill>
        <p:spPr>
          <a:xfrm flipH="1">
            <a:off x="536124" y="2164750"/>
            <a:ext cx="4480676" cy="1910849"/>
          </a:xfrm>
          <a:prstGeom prst="rect">
            <a:avLst/>
          </a:prstGeom>
          <a:noFill/>
          <a:ln>
            <a:noFill/>
          </a:ln>
        </p:spPr>
      </p:pic>
      <p:cxnSp>
        <p:nvCxnSpPr>
          <p:cNvPr id="1062" name="Google Shape;1062;p84"/>
          <p:cNvCxnSpPr/>
          <p:nvPr/>
        </p:nvCxnSpPr>
        <p:spPr>
          <a:xfrm>
            <a:off x="5573139" y="2952009"/>
            <a:ext cx="2429700" cy="0"/>
          </a:xfrm>
          <a:prstGeom prst="straightConnector1">
            <a:avLst/>
          </a:prstGeom>
          <a:noFill/>
          <a:ln cap="flat" cmpd="sng" w="38100">
            <a:solidFill>
              <a:schemeClr val="dk1"/>
            </a:solidFill>
            <a:prstDash val="solid"/>
            <a:round/>
            <a:headEnd len="med" w="med" type="none"/>
            <a:tailEnd len="med" w="med" type="triangle"/>
          </a:ln>
        </p:spPr>
      </p:cxnSp>
      <p:sp>
        <p:nvSpPr>
          <p:cNvPr id="1063" name="Google Shape;1063;p84"/>
          <p:cNvSpPr txBox="1"/>
          <p:nvPr>
            <p:ph idx="1" type="body"/>
          </p:nvPr>
        </p:nvSpPr>
        <p:spPr>
          <a:xfrm>
            <a:off x="911150" y="2794675"/>
            <a:ext cx="3912900" cy="733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t>
            </a:r>
            <a:r>
              <a:rPr lang="en-GB" sz="1800">
                <a:solidFill>
                  <a:schemeClr val="accent5"/>
                </a:solidFill>
              </a:rPr>
              <a:t>whole </a:t>
            </a:r>
            <a:r>
              <a:rPr lang="en-GB" sz="1800"/>
              <a:t>of</a:t>
            </a:r>
            <a:r>
              <a:rPr lang="en-GB" sz="1800">
                <a:solidFill>
                  <a:schemeClr val="accent5"/>
                </a:solidFill>
              </a:rPr>
              <a:t> </a:t>
            </a:r>
            <a:r>
              <a:rPr lang="en-GB" sz="1800"/>
              <a:t>the </a:t>
            </a:r>
            <a:r>
              <a:rPr b="1" lang="en-GB" sz="1800"/>
              <a:t>circumference</a:t>
            </a:r>
            <a:r>
              <a:rPr lang="en-GB" sz="1800"/>
              <a:t> must be </a:t>
            </a:r>
            <a:r>
              <a:rPr lang="en-GB" sz="1800">
                <a:solidFill>
                  <a:schemeClr val="accent5"/>
                </a:solidFill>
              </a:rPr>
              <a:t>greater than</a:t>
            </a:r>
            <a:r>
              <a:rPr lang="en-GB" sz="1800"/>
              <a:t> </a:t>
            </a:r>
            <a:r>
              <a:rPr lang="en-GB" sz="1800">
                <a:solidFill>
                  <a:schemeClr val="accent5"/>
                </a:solidFill>
              </a:rPr>
              <a:t>2</a:t>
            </a:r>
            <a:r>
              <a:rPr lang="en-GB" sz="1800"/>
              <a:t> </a:t>
            </a:r>
            <a:r>
              <a:rPr b="1" lang="en-GB" sz="1800"/>
              <a:t>diameters</a:t>
            </a:r>
            <a:r>
              <a:rPr lang="en-GB" sz="1800"/>
              <a:t>. </a:t>
            </a:r>
            <a:endParaRPr sz="1800"/>
          </a:p>
        </p:txBody>
      </p:sp>
      <p:cxnSp>
        <p:nvCxnSpPr>
          <p:cNvPr id="1064" name="Google Shape;1064;p84"/>
          <p:cNvCxnSpPr/>
          <p:nvPr/>
        </p:nvCxnSpPr>
        <p:spPr>
          <a:xfrm flipH="1" rot="10800000">
            <a:off x="5556603" y="3038177"/>
            <a:ext cx="2439600" cy="600"/>
          </a:xfrm>
          <a:prstGeom prst="straightConnector1">
            <a:avLst/>
          </a:prstGeom>
          <a:noFill/>
          <a:ln cap="flat" cmpd="sng" w="38100">
            <a:solidFill>
              <a:schemeClr val="dk1"/>
            </a:solidFill>
            <a:prstDash val="solid"/>
            <a:round/>
            <a:headEnd len="med" w="med" type="triangle"/>
            <a:tailEnd len="med" w="med" type="none"/>
          </a:ln>
        </p:spPr>
      </p:cxnSp>
      <p:pic>
        <p:nvPicPr>
          <p:cNvPr id="1065" name="Google Shape;1065;p84"/>
          <p:cNvPicPr preferRelativeResize="0"/>
          <p:nvPr/>
        </p:nvPicPr>
        <p:blipFill>
          <a:blip r:embed="rId4">
            <a:alphaModFix/>
          </a:blip>
          <a:stretch>
            <a:fillRect/>
          </a:stretch>
        </p:blipFill>
        <p:spPr>
          <a:xfrm>
            <a:off x="469263" y="3896748"/>
            <a:ext cx="479274" cy="9050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85"/>
          <p:cNvSpPr/>
          <p:nvPr/>
        </p:nvSpPr>
        <p:spPr>
          <a:xfrm>
            <a:off x="5524299" y="1722676"/>
            <a:ext cx="2542200" cy="25422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1" name="Google Shape;1071;p85"/>
          <p:cNvSpPr/>
          <p:nvPr/>
        </p:nvSpPr>
        <p:spPr>
          <a:xfrm>
            <a:off x="5536759" y="1740741"/>
            <a:ext cx="2507400" cy="25074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2" name="Google Shape;1072;p85"/>
          <p:cNvSpPr txBox="1"/>
          <p:nvPr>
            <p:ph idx="1" type="body"/>
          </p:nvPr>
        </p:nvSpPr>
        <p:spPr>
          <a:xfrm>
            <a:off x="324000" y="759300"/>
            <a:ext cx="71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is comparing the </a:t>
            </a:r>
            <a:r>
              <a:rPr b="1" lang="en-GB" sz="2000"/>
              <a:t>circumference </a:t>
            </a:r>
            <a:r>
              <a:rPr lang="en-GB" sz="2000"/>
              <a:t>of a circle with its </a:t>
            </a:r>
            <a:r>
              <a:rPr b="1" lang="en-GB" sz="2000"/>
              <a:t>diameter</a:t>
            </a:r>
            <a:r>
              <a:rPr lang="en-GB" sz="2000"/>
              <a:t>. </a:t>
            </a:r>
            <a:endParaRPr sz="2000"/>
          </a:p>
        </p:txBody>
      </p:sp>
      <p:sp>
        <p:nvSpPr>
          <p:cNvPr id="1073" name="Google Shape;1073;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074" name="Google Shape;1074;p85"/>
          <p:cNvSpPr/>
          <p:nvPr/>
        </p:nvSpPr>
        <p:spPr>
          <a:xfrm>
            <a:off x="6726159" y="2930142"/>
            <a:ext cx="128400" cy="1284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75" name="Google Shape;1075;p85"/>
          <p:cNvPicPr preferRelativeResize="0"/>
          <p:nvPr/>
        </p:nvPicPr>
        <p:blipFill rotWithShape="1">
          <a:blip r:embed="rId3">
            <a:alphaModFix/>
          </a:blip>
          <a:srcRect b="0" l="0" r="69082" t="56280"/>
          <a:stretch/>
        </p:blipFill>
        <p:spPr>
          <a:xfrm flipH="1">
            <a:off x="527624" y="1889575"/>
            <a:ext cx="4480676" cy="1953300"/>
          </a:xfrm>
          <a:prstGeom prst="rect">
            <a:avLst/>
          </a:prstGeom>
          <a:noFill/>
          <a:ln>
            <a:noFill/>
          </a:ln>
        </p:spPr>
      </p:pic>
      <p:sp>
        <p:nvSpPr>
          <p:cNvPr id="1076" name="Google Shape;1076;p85"/>
          <p:cNvSpPr txBox="1"/>
          <p:nvPr>
            <p:ph idx="1" type="body"/>
          </p:nvPr>
        </p:nvSpPr>
        <p:spPr>
          <a:xfrm>
            <a:off x="987350" y="2337475"/>
            <a:ext cx="3825000" cy="90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we draw a square around the circle, then each of its lengths would be equal to the </a:t>
            </a:r>
            <a:r>
              <a:rPr b="1" lang="en-GB" sz="1800"/>
              <a:t>diameter</a:t>
            </a:r>
            <a:r>
              <a:rPr lang="en-GB" sz="1800"/>
              <a:t>.</a:t>
            </a:r>
            <a:endParaRPr sz="1800"/>
          </a:p>
        </p:txBody>
      </p:sp>
      <p:cxnSp>
        <p:nvCxnSpPr>
          <p:cNvPr id="1077" name="Google Shape;1077;p85"/>
          <p:cNvCxnSpPr/>
          <p:nvPr/>
        </p:nvCxnSpPr>
        <p:spPr>
          <a:xfrm>
            <a:off x="5536759" y="4408563"/>
            <a:ext cx="2507400" cy="0"/>
          </a:xfrm>
          <a:prstGeom prst="straightConnector1">
            <a:avLst/>
          </a:prstGeom>
          <a:noFill/>
          <a:ln cap="flat" cmpd="sng" w="38100">
            <a:solidFill>
              <a:schemeClr val="dk1"/>
            </a:solidFill>
            <a:prstDash val="solid"/>
            <a:round/>
            <a:headEnd len="med" w="med" type="triangle"/>
            <a:tailEnd len="med" w="med" type="triangle"/>
          </a:ln>
        </p:spPr>
      </p:cxnSp>
      <p:cxnSp>
        <p:nvCxnSpPr>
          <p:cNvPr id="1078" name="Google Shape;1078;p85"/>
          <p:cNvCxnSpPr/>
          <p:nvPr/>
        </p:nvCxnSpPr>
        <p:spPr>
          <a:xfrm>
            <a:off x="5536759" y="2994441"/>
            <a:ext cx="2507400" cy="0"/>
          </a:xfrm>
          <a:prstGeom prst="straightConnector1">
            <a:avLst/>
          </a:prstGeom>
          <a:noFill/>
          <a:ln cap="flat" cmpd="sng" w="38100">
            <a:solidFill>
              <a:schemeClr val="dk2"/>
            </a:solidFill>
            <a:prstDash val="dash"/>
            <a:round/>
            <a:headEnd len="med" w="med" type="triangle"/>
            <a:tailEnd len="med" w="med" type="triangle"/>
          </a:ln>
        </p:spPr>
      </p:cxnSp>
      <p:cxnSp>
        <p:nvCxnSpPr>
          <p:cNvPr id="1079" name="Google Shape;1079;p85"/>
          <p:cNvCxnSpPr/>
          <p:nvPr/>
        </p:nvCxnSpPr>
        <p:spPr>
          <a:xfrm rot="5400000">
            <a:off x="5541011" y="2998693"/>
            <a:ext cx="2507400" cy="0"/>
          </a:xfrm>
          <a:prstGeom prst="straightConnector1">
            <a:avLst/>
          </a:prstGeom>
          <a:noFill/>
          <a:ln cap="flat" cmpd="sng" w="38100">
            <a:solidFill>
              <a:schemeClr val="dk2"/>
            </a:solidFill>
            <a:prstDash val="dash"/>
            <a:round/>
            <a:headEnd len="med" w="med" type="triangle"/>
            <a:tailEnd len="med" w="med" type="triangle"/>
          </a:ln>
        </p:spPr>
      </p:cxnSp>
      <p:cxnSp>
        <p:nvCxnSpPr>
          <p:cNvPr id="1080" name="Google Shape;1080;p85"/>
          <p:cNvCxnSpPr/>
          <p:nvPr/>
        </p:nvCxnSpPr>
        <p:spPr>
          <a:xfrm rot="5400000">
            <a:off x="6955133" y="2998693"/>
            <a:ext cx="2507400" cy="0"/>
          </a:xfrm>
          <a:prstGeom prst="straightConnector1">
            <a:avLst/>
          </a:prstGeom>
          <a:noFill/>
          <a:ln cap="flat" cmpd="sng" w="38100">
            <a:solidFill>
              <a:schemeClr val="dk1"/>
            </a:solidFill>
            <a:prstDash val="solid"/>
            <a:round/>
            <a:headEnd len="med" w="med" type="triangle"/>
            <a:tailEnd len="med" w="med" type="triangle"/>
          </a:ln>
        </p:spPr>
      </p:cxnSp>
      <p:cxnSp>
        <p:nvCxnSpPr>
          <p:cNvPr id="1081" name="Google Shape;1081;p85"/>
          <p:cNvCxnSpPr/>
          <p:nvPr/>
        </p:nvCxnSpPr>
        <p:spPr>
          <a:xfrm>
            <a:off x="5536759" y="1580319"/>
            <a:ext cx="2507400" cy="0"/>
          </a:xfrm>
          <a:prstGeom prst="straightConnector1">
            <a:avLst/>
          </a:prstGeom>
          <a:noFill/>
          <a:ln cap="flat" cmpd="sng" w="38100">
            <a:solidFill>
              <a:schemeClr val="dk1"/>
            </a:solidFill>
            <a:prstDash val="solid"/>
            <a:round/>
            <a:headEnd len="med" w="med" type="triangle"/>
            <a:tailEnd len="med" w="med" type="triangle"/>
          </a:ln>
        </p:spPr>
      </p:cxnSp>
      <p:cxnSp>
        <p:nvCxnSpPr>
          <p:cNvPr id="1082" name="Google Shape;1082;p85"/>
          <p:cNvCxnSpPr/>
          <p:nvPr/>
        </p:nvCxnSpPr>
        <p:spPr>
          <a:xfrm rot="5400000">
            <a:off x="4126889" y="2998693"/>
            <a:ext cx="2507400" cy="0"/>
          </a:xfrm>
          <a:prstGeom prst="straightConnector1">
            <a:avLst/>
          </a:prstGeom>
          <a:noFill/>
          <a:ln cap="flat" cmpd="sng" w="38100">
            <a:solidFill>
              <a:schemeClr val="dk1"/>
            </a:solidFill>
            <a:prstDash val="solid"/>
            <a:round/>
            <a:headEnd len="med" w="med" type="triangle"/>
            <a:tailEnd len="med" w="med" type="triangle"/>
          </a:ln>
        </p:spPr>
      </p:cxnSp>
      <p:pic>
        <p:nvPicPr>
          <p:cNvPr id="1083" name="Google Shape;1083;p85"/>
          <p:cNvPicPr preferRelativeResize="0"/>
          <p:nvPr/>
        </p:nvPicPr>
        <p:blipFill>
          <a:blip r:embed="rId4">
            <a:alphaModFix/>
          </a:blip>
          <a:stretch>
            <a:fillRect/>
          </a:stretch>
        </p:blipFill>
        <p:spPr>
          <a:xfrm>
            <a:off x="469263" y="3896748"/>
            <a:ext cx="479274" cy="9050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7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7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86"/>
          <p:cNvSpPr/>
          <p:nvPr/>
        </p:nvSpPr>
        <p:spPr>
          <a:xfrm>
            <a:off x="5524299" y="1722676"/>
            <a:ext cx="2542200" cy="25422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9" name="Google Shape;1089;p86"/>
          <p:cNvSpPr/>
          <p:nvPr/>
        </p:nvSpPr>
        <p:spPr>
          <a:xfrm>
            <a:off x="5536759" y="1740741"/>
            <a:ext cx="2507400" cy="25074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0" name="Google Shape;1090;p86"/>
          <p:cNvSpPr txBox="1"/>
          <p:nvPr>
            <p:ph idx="1" type="body"/>
          </p:nvPr>
        </p:nvSpPr>
        <p:spPr>
          <a:xfrm>
            <a:off x="324000" y="759300"/>
            <a:ext cx="71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is comparing the </a:t>
            </a:r>
            <a:r>
              <a:rPr b="1" lang="en-GB" sz="2000"/>
              <a:t>circumference </a:t>
            </a:r>
            <a:r>
              <a:rPr lang="en-GB" sz="2000"/>
              <a:t>of a circle with its </a:t>
            </a:r>
            <a:r>
              <a:rPr b="1" lang="en-GB" sz="2000"/>
              <a:t>diameter</a:t>
            </a:r>
            <a:r>
              <a:rPr lang="en-GB" sz="2000"/>
              <a:t>. </a:t>
            </a:r>
            <a:endParaRPr sz="2000"/>
          </a:p>
        </p:txBody>
      </p:sp>
      <p:sp>
        <p:nvSpPr>
          <p:cNvPr id="1091" name="Google Shape;1091;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092" name="Google Shape;1092;p86"/>
          <p:cNvSpPr/>
          <p:nvPr/>
        </p:nvSpPr>
        <p:spPr>
          <a:xfrm>
            <a:off x="6726159" y="2930142"/>
            <a:ext cx="128400" cy="1284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93" name="Google Shape;1093;p86"/>
          <p:cNvPicPr preferRelativeResize="0"/>
          <p:nvPr/>
        </p:nvPicPr>
        <p:blipFill rotWithShape="1">
          <a:blip r:embed="rId3">
            <a:alphaModFix/>
          </a:blip>
          <a:srcRect b="0" l="0" r="69082" t="56280"/>
          <a:stretch/>
        </p:blipFill>
        <p:spPr>
          <a:xfrm flipH="1">
            <a:off x="536124" y="1936475"/>
            <a:ext cx="4480676" cy="1834326"/>
          </a:xfrm>
          <a:prstGeom prst="rect">
            <a:avLst/>
          </a:prstGeom>
          <a:noFill/>
          <a:ln>
            <a:noFill/>
          </a:ln>
        </p:spPr>
      </p:pic>
      <p:sp>
        <p:nvSpPr>
          <p:cNvPr id="1094" name="Google Shape;1094;p86"/>
          <p:cNvSpPr txBox="1"/>
          <p:nvPr>
            <p:ph idx="1" type="body"/>
          </p:nvPr>
        </p:nvSpPr>
        <p:spPr>
          <a:xfrm>
            <a:off x="911150" y="2489875"/>
            <a:ext cx="3836700" cy="67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perimeter of the square must be equal to 4 </a:t>
            </a:r>
            <a:r>
              <a:rPr b="1" lang="en-GB" sz="1800"/>
              <a:t>diameters</a:t>
            </a:r>
            <a:r>
              <a:rPr lang="en-GB" sz="1800"/>
              <a:t>.</a:t>
            </a:r>
            <a:endParaRPr sz="1800"/>
          </a:p>
        </p:txBody>
      </p:sp>
      <p:cxnSp>
        <p:nvCxnSpPr>
          <p:cNvPr id="1095" name="Google Shape;1095;p86"/>
          <p:cNvCxnSpPr/>
          <p:nvPr/>
        </p:nvCxnSpPr>
        <p:spPr>
          <a:xfrm>
            <a:off x="5536759" y="4408563"/>
            <a:ext cx="2507400" cy="0"/>
          </a:xfrm>
          <a:prstGeom prst="straightConnector1">
            <a:avLst/>
          </a:prstGeom>
          <a:noFill/>
          <a:ln cap="flat" cmpd="sng" w="38100">
            <a:solidFill>
              <a:schemeClr val="dk1"/>
            </a:solidFill>
            <a:prstDash val="solid"/>
            <a:round/>
            <a:headEnd len="med" w="med" type="triangle"/>
            <a:tailEnd len="med" w="med" type="triangle"/>
          </a:ln>
        </p:spPr>
      </p:cxnSp>
      <p:cxnSp>
        <p:nvCxnSpPr>
          <p:cNvPr id="1096" name="Google Shape;1096;p86"/>
          <p:cNvCxnSpPr/>
          <p:nvPr/>
        </p:nvCxnSpPr>
        <p:spPr>
          <a:xfrm>
            <a:off x="5536759" y="1580319"/>
            <a:ext cx="2507400" cy="0"/>
          </a:xfrm>
          <a:prstGeom prst="straightConnector1">
            <a:avLst/>
          </a:prstGeom>
          <a:noFill/>
          <a:ln cap="flat" cmpd="sng" w="38100">
            <a:solidFill>
              <a:schemeClr val="dk1"/>
            </a:solidFill>
            <a:prstDash val="solid"/>
            <a:round/>
            <a:headEnd len="med" w="med" type="triangle"/>
            <a:tailEnd len="med" w="med" type="triangle"/>
          </a:ln>
        </p:spPr>
      </p:cxnSp>
      <p:cxnSp>
        <p:nvCxnSpPr>
          <p:cNvPr id="1097" name="Google Shape;1097;p86"/>
          <p:cNvCxnSpPr/>
          <p:nvPr/>
        </p:nvCxnSpPr>
        <p:spPr>
          <a:xfrm rot="5400000">
            <a:off x="4126889" y="2998693"/>
            <a:ext cx="2507400" cy="0"/>
          </a:xfrm>
          <a:prstGeom prst="straightConnector1">
            <a:avLst/>
          </a:prstGeom>
          <a:noFill/>
          <a:ln cap="flat" cmpd="sng" w="38100">
            <a:solidFill>
              <a:schemeClr val="dk1"/>
            </a:solidFill>
            <a:prstDash val="solid"/>
            <a:round/>
            <a:headEnd len="med" w="med" type="triangle"/>
            <a:tailEnd len="med" w="med" type="triangle"/>
          </a:ln>
        </p:spPr>
      </p:cxnSp>
      <p:cxnSp>
        <p:nvCxnSpPr>
          <p:cNvPr id="1098" name="Google Shape;1098;p86"/>
          <p:cNvCxnSpPr/>
          <p:nvPr/>
        </p:nvCxnSpPr>
        <p:spPr>
          <a:xfrm rot="5400000">
            <a:off x="6955133" y="2998693"/>
            <a:ext cx="2507400" cy="0"/>
          </a:xfrm>
          <a:prstGeom prst="straightConnector1">
            <a:avLst/>
          </a:prstGeom>
          <a:noFill/>
          <a:ln cap="flat" cmpd="sng" w="38100">
            <a:solidFill>
              <a:schemeClr val="dk1"/>
            </a:solidFill>
            <a:prstDash val="solid"/>
            <a:round/>
            <a:headEnd len="med" w="med" type="triangle"/>
            <a:tailEnd len="med" w="med" type="triangle"/>
          </a:ln>
        </p:spPr>
      </p:cxnSp>
      <p:pic>
        <p:nvPicPr>
          <p:cNvPr id="1099" name="Google Shape;1099;p86"/>
          <p:cNvPicPr preferRelativeResize="0"/>
          <p:nvPr/>
        </p:nvPicPr>
        <p:blipFill>
          <a:blip r:embed="rId4">
            <a:alphaModFix/>
          </a:blip>
          <a:stretch>
            <a:fillRect/>
          </a:stretch>
        </p:blipFill>
        <p:spPr>
          <a:xfrm>
            <a:off x="469263" y="3896748"/>
            <a:ext cx="479274" cy="9050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87"/>
          <p:cNvSpPr/>
          <p:nvPr/>
        </p:nvSpPr>
        <p:spPr>
          <a:xfrm>
            <a:off x="5524299" y="1727212"/>
            <a:ext cx="2542200" cy="25422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5" name="Google Shape;1105;p87"/>
          <p:cNvSpPr txBox="1"/>
          <p:nvPr>
            <p:ph idx="1" type="body"/>
          </p:nvPr>
        </p:nvSpPr>
        <p:spPr>
          <a:xfrm>
            <a:off x="324000" y="759300"/>
            <a:ext cx="71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is comparing the </a:t>
            </a:r>
            <a:r>
              <a:rPr b="1" lang="en-GB" sz="2000"/>
              <a:t>circumference </a:t>
            </a:r>
            <a:r>
              <a:rPr lang="en-GB" sz="2000"/>
              <a:t>of a circle with its </a:t>
            </a:r>
            <a:r>
              <a:rPr b="1" lang="en-GB" sz="2000"/>
              <a:t>diameter</a:t>
            </a:r>
            <a:r>
              <a:rPr lang="en-GB" sz="2000"/>
              <a:t>. </a:t>
            </a:r>
            <a:endParaRPr sz="2000"/>
          </a:p>
        </p:txBody>
      </p:sp>
      <p:sp>
        <p:nvSpPr>
          <p:cNvPr id="1106" name="Google Shape;1106;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107" name="Google Shape;1107;p87"/>
          <p:cNvSpPr/>
          <p:nvPr/>
        </p:nvSpPr>
        <p:spPr>
          <a:xfrm>
            <a:off x="6726159" y="2930142"/>
            <a:ext cx="128400" cy="1284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108" name="Google Shape;1108;p87"/>
          <p:cNvPicPr preferRelativeResize="0"/>
          <p:nvPr/>
        </p:nvPicPr>
        <p:blipFill rotWithShape="1">
          <a:blip r:embed="rId3">
            <a:alphaModFix/>
          </a:blip>
          <a:srcRect b="0" l="0" r="69082" t="56280"/>
          <a:stretch/>
        </p:blipFill>
        <p:spPr>
          <a:xfrm flipH="1">
            <a:off x="536124" y="1524950"/>
            <a:ext cx="4480676" cy="2342050"/>
          </a:xfrm>
          <a:prstGeom prst="rect">
            <a:avLst/>
          </a:prstGeom>
          <a:noFill/>
          <a:ln>
            <a:noFill/>
          </a:ln>
        </p:spPr>
      </p:pic>
      <p:sp>
        <p:nvSpPr>
          <p:cNvPr id="1109" name="Google Shape;1109;p87"/>
          <p:cNvSpPr txBox="1"/>
          <p:nvPr>
            <p:ph idx="1" type="body"/>
          </p:nvPr>
        </p:nvSpPr>
        <p:spPr>
          <a:xfrm>
            <a:off x="911150" y="1880275"/>
            <a:ext cx="3836700" cy="6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distance around the the circle is less than around the square.</a:t>
            </a:r>
            <a:endParaRPr sz="1800"/>
          </a:p>
        </p:txBody>
      </p:sp>
      <p:cxnSp>
        <p:nvCxnSpPr>
          <p:cNvPr id="1110" name="Google Shape;1110;p87"/>
          <p:cNvCxnSpPr/>
          <p:nvPr/>
        </p:nvCxnSpPr>
        <p:spPr>
          <a:xfrm>
            <a:off x="5536759" y="4268614"/>
            <a:ext cx="2507400" cy="0"/>
          </a:xfrm>
          <a:prstGeom prst="straightConnector1">
            <a:avLst/>
          </a:prstGeom>
          <a:noFill/>
          <a:ln cap="flat" cmpd="sng" w="38100">
            <a:solidFill>
              <a:schemeClr val="dk1"/>
            </a:solidFill>
            <a:prstDash val="solid"/>
            <a:round/>
            <a:headEnd len="med" w="med" type="triangle"/>
            <a:tailEnd len="med" w="med" type="none"/>
          </a:ln>
        </p:spPr>
      </p:cxnSp>
      <p:cxnSp>
        <p:nvCxnSpPr>
          <p:cNvPr id="1111" name="Google Shape;1111;p87"/>
          <p:cNvCxnSpPr/>
          <p:nvPr/>
        </p:nvCxnSpPr>
        <p:spPr>
          <a:xfrm>
            <a:off x="5536759" y="1729973"/>
            <a:ext cx="2507400" cy="0"/>
          </a:xfrm>
          <a:prstGeom prst="straightConnector1">
            <a:avLst/>
          </a:prstGeom>
          <a:noFill/>
          <a:ln cap="flat" cmpd="sng" w="38100">
            <a:solidFill>
              <a:schemeClr val="dk1"/>
            </a:solidFill>
            <a:prstDash val="solid"/>
            <a:round/>
            <a:headEnd len="med" w="med" type="none"/>
            <a:tailEnd len="med" w="med" type="triangle"/>
          </a:ln>
        </p:spPr>
      </p:cxnSp>
      <p:cxnSp>
        <p:nvCxnSpPr>
          <p:cNvPr id="1112" name="Google Shape;1112;p87"/>
          <p:cNvCxnSpPr/>
          <p:nvPr/>
        </p:nvCxnSpPr>
        <p:spPr>
          <a:xfrm rot="5400000">
            <a:off x="4268290" y="2998693"/>
            <a:ext cx="2507400" cy="0"/>
          </a:xfrm>
          <a:prstGeom prst="straightConnector1">
            <a:avLst/>
          </a:prstGeom>
          <a:noFill/>
          <a:ln cap="flat" cmpd="sng" w="38100">
            <a:solidFill>
              <a:schemeClr val="dk1"/>
            </a:solidFill>
            <a:prstDash val="solid"/>
            <a:round/>
            <a:headEnd len="med" w="med" type="triangle"/>
            <a:tailEnd len="med" w="med" type="none"/>
          </a:ln>
        </p:spPr>
      </p:cxnSp>
      <p:cxnSp>
        <p:nvCxnSpPr>
          <p:cNvPr id="1113" name="Google Shape;1113;p87"/>
          <p:cNvCxnSpPr/>
          <p:nvPr/>
        </p:nvCxnSpPr>
        <p:spPr>
          <a:xfrm rot="5400000">
            <a:off x="6815718" y="2998693"/>
            <a:ext cx="2507400" cy="0"/>
          </a:xfrm>
          <a:prstGeom prst="straightConnector1">
            <a:avLst/>
          </a:prstGeom>
          <a:noFill/>
          <a:ln cap="flat" cmpd="sng" w="38100">
            <a:solidFill>
              <a:schemeClr val="dk1"/>
            </a:solidFill>
            <a:prstDash val="solid"/>
            <a:round/>
            <a:headEnd len="med" w="med" type="none"/>
            <a:tailEnd len="med" w="med" type="triangle"/>
          </a:ln>
        </p:spPr>
      </p:cxnSp>
      <p:sp>
        <p:nvSpPr>
          <p:cNvPr id="1114" name="Google Shape;1114;p87"/>
          <p:cNvSpPr/>
          <p:nvPr/>
        </p:nvSpPr>
        <p:spPr>
          <a:xfrm>
            <a:off x="5545300" y="1735999"/>
            <a:ext cx="2507400" cy="2507400"/>
          </a:xfrm>
          <a:prstGeom prst="arc">
            <a:avLst>
              <a:gd fmla="val 10729459" name="adj1"/>
              <a:gd fmla="val 10692828" name="adj2"/>
            </a:avLst>
          </a:prstGeom>
          <a:noFill/>
          <a:ln cap="flat" cmpd="sng" w="3810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5" name="Google Shape;1115;p87"/>
          <p:cNvSpPr txBox="1"/>
          <p:nvPr>
            <p:ph idx="1" type="body"/>
          </p:nvPr>
        </p:nvSpPr>
        <p:spPr>
          <a:xfrm>
            <a:off x="911150" y="2642275"/>
            <a:ext cx="3836700" cy="68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 the </a:t>
            </a:r>
            <a:r>
              <a:rPr b="1" lang="en-GB" sz="1800"/>
              <a:t>circumference</a:t>
            </a:r>
            <a:r>
              <a:rPr lang="en-GB" sz="1800"/>
              <a:t> must be </a:t>
            </a:r>
            <a:r>
              <a:rPr lang="en-GB" sz="1800">
                <a:solidFill>
                  <a:schemeClr val="accent5"/>
                </a:solidFill>
              </a:rPr>
              <a:t>less than 4</a:t>
            </a:r>
            <a:r>
              <a:rPr lang="en-GB" sz="1800"/>
              <a:t> </a:t>
            </a:r>
            <a:r>
              <a:rPr b="1" lang="en-GB" sz="1800"/>
              <a:t>diameters</a:t>
            </a:r>
            <a:r>
              <a:rPr lang="en-GB" sz="1800"/>
              <a:t>.</a:t>
            </a:r>
            <a:endParaRPr sz="1800"/>
          </a:p>
        </p:txBody>
      </p:sp>
      <p:pic>
        <p:nvPicPr>
          <p:cNvPr id="1116" name="Google Shape;1116;p87"/>
          <p:cNvPicPr preferRelativeResize="0"/>
          <p:nvPr/>
        </p:nvPicPr>
        <p:blipFill>
          <a:blip r:embed="rId4">
            <a:alphaModFix/>
          </a:blip>
          <a:stretch>
            <a:fillRect/>
          </a:stretch>
        </p:blipFill>
        <p:spPr>
          <a:xfrm>
            <a:off x="469263" y="3896748"/>
            <a:ext cx="479274" cy="9050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88"/>
          <p:cNvSpPr/>
          <p:nvPr/>
        </p:nvSpPr>
        <p:spPr>
          <a:xfrm>
            <a:off x="6726159" y="2930142"/>
            <a:ext cx="128400" cy="1284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2" name="Google Shape;1122;p88"/>
          <p:cNvSpPr/>
          <p:nvPr/>
        </p:nvSpPr>
        <p:spPr>
          <a:xfrm>
            <a:off x="5534539" y="1740800"/>
            <a:ext cx="2507400" cy="2507400"/>
          </a:xfrm>
          <a:prstGeom prst="arc">
            <a:avLst>
              <a:gd fmla="val 10833709" name="adj1"/>
              <a:gd fmla="val 10774188" name="adj2"/>
            </a:avLst>
          </a:prstGeom>
          <a:noFill/>
          <a:ln cap="flat" cmpd="sng" w="3810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23" name="Google Shape;1123;p88"/>
          <p:cNvCxnSpPr/>
          <p:nvPr/>
        </p:nvCxnSpPr>
        <p:spPr>
          <a:xfrm>
            <a:off x="5536759" y="2991695"/>
            <a:ext cx="2507400" cy="0"/>
          </a:xfrm>
          <a:prstGeom prst="straightConnector1">
            <a:avLst/>
          </a:prstGeom>
          <a:noFill/>
          <a:ln cap="flat" cmpd="sng" w="38100">
            <a:solidFill>
              <a:schemeClr val="dk1"/>
            </a:solidFill>
            <a:prstDash val="solid"/>
            <a:round/>
            <a:headEnd len="med" w="med" type="none"/>
            <a:tailEnd len="med" w="med" type="triangle"/>
          </a:ln>
        </p:spPr>
      </p:cxnSp>
      <p:sp>
        <p:nvSpPr>
          <p:cNvPr id="1124" name="Google Shape;1124;p88"/>
          <p:cNvSpPr txBox="1"/>
          <p:nvPr>
            <p:ph idx="1" type="body"/>
          </p:nvPr>
        </p:nvSpPr>
        <p:spPr>
          <a:xfrm>
            <a:off x="324000" y="759300"/>
            <a:ext cx="71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is comparing the </a:t>
            </a:r>
            <a:r>
              <a:rPr b="1" lang="en-GB" sz="2000"/>
              <a:t>circumference </a:t>
            </a:r>
            <a:r>
              <a:rPr lang="en-GB" sz="2000"/>
              <a:t>of a circle with its </a:t>
            </a:r>
            <a:r>
              <a:rPr b="1" lang="en-GB" sz="2000"/>
              <a:t>diameter</a:t>
            </a:r>
            <a:r>
              <a:rPr lang="en-GB" sz="2000"/>
              <a:t>. </a:t>
            </a:r>
            <a:endParaRPr sz="2000"/>
          </a:p>
        </p:txBody>
      </p:sp>
      <p:sp>
        <p:nvSpPr>
          <p:cNvPr id="1125" name="Google Shape;1125;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pic>
        <p:nvPicPr>
          <p:cNvPr id="1126" name="Google Shape;1126;p88"/>
          <p:cNvPicPr preferRelativeResize="0"/>
          <p:nvPr/>
        </p:nvPicPr>
        <p:blipFill>
          <a:blip r:embed="rId3">
            <a:alphaModFix/>
          </a:blip>
          <a:stretch>
            <a:fillRect/>
          </a:stretch>
        </p:blipFill>
        <p:spPr>
          <a:xfrm>
            <a:off x="469263" y="3896748"/>
            <a:ext cx="479274" cy="905001"/>
          </a:xfrm>
          <a:prstGeom prst="rect">
            <a:avLst/>
          </a:prstGeom>
          <a:noFill/>
          <a:ln>
            <a:noFill/>
          </a:ln>
        </p:spPr>
      </p:pic>
      <p:pic>
        <p:nvPicPr>
          <p:cNvPr id="1127" name="Google Shape;1127;p88"/>
          <p:cNvPicPr preferRelativeResize="0"/>
          <p:nvPr/>
        </p:nvPicPr>
        <p:blipFill rotWithShape="1">
          <a:blip r:embed="rId4">
            <a:alphaModFix/>
          </a:blip>
          <a:srcRect b="0" l="0" r="69082" t="56280"/>
          <a:stretch/>
        </p:blipFill>
        <p:spPr>
          <a:xfrm flipH="1">
            <a:off x="536123" y="1190500"/>
            <a:ext cx="4688927" cy="3030076"/>
          </a:xfrm>
          <a:prstGeom prst="rect">
            <a:avLst/>
          </a:prstGeom>
          <a:noFill/>
          <a:ln>
            <a:noFill/>
          </a:ln>
        </p:spPr>
      </p:pic>
      <p:sp>
        <p:nvSpPr>
          <p:cNvPr id="1128" name="Google Shape;1128;p88"/>
          <p:cNvSpPr txBox="1"/>
          <p:nvPr>
            <p:ph idx="1" type="body"/>
          </p:nvPr>
        </p:nvSpPr>
        <p:spPr>
          <a:xfrm>
            <a:off x="871625" y="1575475"/>
            <a:ext cx="4136700" cy="212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a:t>
            </a:r>
            <a:r>
              <a:rPr b="1" lang="en-GB" sz="1800"/>
              <a:t>circumference </a:t>
            </a:r>
            <a:r>
              <a:rPr lang="en-GB" sz="1800"/>
              <a:t>is </a:t>
            </a:r>
            <a:r>
              <a:rPr lang="en-GB" sz="1800">
                <a:solidFill>
                  <a:schemeClr val="accent5"/>
                </a:solidFill>
              </a:rPr>
              <a:t>more than 2</a:t>
            </a:r>
            <a:r>
              <a:rPr lang="en-GB" sz="1800"/>
              <a:t> </a:t>
            </a:r>
            <a:r>
              <a:rPr b="1" lang="en-GB" sz="1800"/>
              <a:t>diameters</a:t>
            </a:r>
            <a:r>
              <a:rPr lang="en-GB" sz="1800"/>
              <a:t> but </a:t>
            </a:r>
            <a:r>
              <a:rPr lang="en-GB" sz="1800">
                <a:solidFill>
                  <a:schemeClr val="accent5"/>
                </a:solidFill>
              </a:rPr>
              <a:t>less than 4</a:t>
            </a:r>
            <a:r>
              <a:rPr lang="en-GB" sz="1800"/>
              <a:t> </a:t>
            </a:r>
            <a:r>
              <a:rPr b="1" lang="en-GB" sz="1800"/>
              <a:t>diameters</a:t>
            </a:r>
            <a:r>
              <a:rPr lang="en-GB" sz="1800"/>
              <a:t>.</a:t>
            </a:r>
            <a:endParaRPr sz="1800"/>
          </a:p>
          <a:p>
            <a:pPr indent="0" lvl="0" marL="0" rtl="0" algn="l">
              <a:spcBef>
                <a:spcPts val="1000"/>
              </a:spcBef>
              <a:spcAft>
                <a:spcPts val="0"/>
              </a:spcAft>
              <a:buNone/>
            </a:pPr>
            <a:r>
              <a:rPr lang="en-GB" sz="1800"/>
              <a:t>The </a:t>
            </a:r>
            <a:r>
              <a:rPr b="1" lang="en-GB" sz="1800"/>
              <a:t>circumference</a:t>
            </a:r>
            <a:r>
              <a:rPr lang="en-GB" sz="1800"/>
              <a:t> must be around </a:t>
            </a:r>
            <a:br>
              <a:rPr lang="en-GB" sz="1800"/>
            </a:br>
            <a:r>
              <a:rPr lang="en-GB" sz="1800"/>
              <a:t>3 times the </a:t>
            </a:r>
            <a:r>
              <a:rPr b="1" lang="en-GB" sz="1800"/>
              <a:t>diameter</a:t>
            </a:r>
            <a:r>
              <a:rPr lang="en-GB" sz="1800"/>
              <a:t>.  </a:t>
            </a:r>
            <a:endParaRPr sz="1800"/>
          </a:p>
          <a:p>
            <a:pPr indent="0" lvl="0" marL="0" rtl="0" algn="l">
              <a:spcBef>
                <a:spcPts val="1000"/>
              </a:spcBef>
              <a:spcAft>
                <a:spcPts val="1000"/>
              </a:spcAft>
              <a:buNone/>
            </a:pPr>
            <a:r>
              <a:rPr lang="en-GB" sz="1800"/>
              <a:t>I wonder if it is exactly 3 </a:t>
            </a:r>
            <a:r>
              <a:rPr b="1" lang="en-GB" sz="1800"/>
              <a:t>diameters</a:t>
            </a:r>
            <a:r>
              <a:rPr lang="en-GB" sz="1800"/>
              <a:t> or if the multiplier is a decimal.</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pic>
        <p:nvPicPr>
          <p:cNvPr id="1133" name="Google Shape;1133;p89"/>
          <p:cNvPicPr preferRelativeResize="0"/>
          <p:nvPr/>
        </p:nvPicPr>
        <p:blipFill rotWithShape="1">
          <a:blip r:embed="rId3">
            <a:alphaModFix/>
          </a:blip>
          <a:srcRect b="0" l="0" r="69082" t="56280"/>
          <a:stretch/>
        </p:blipFill>
        <p:spPr>
          <a:xfrm>
            <a:off x="5249675" y="1731175"/>
            <a:ext cx="3458125" cy="1984800"/>
          </a:xfrm>
          <a:prstGeom prst="rect">
            <a:avLst/>
          </a:prstGeom>
          <a:noFill/>
          <a:ln>
            <a:noFill/>
          </a:ln>
        </p:spPr>
      </p:pic>
      <p:sp>
        <p:nvSpPr>
          <p:cNvPr id="1134" name="Google Shape;1134;p89"/>
          <p:cNvSpPr txBox="1"/>
          <p:nvPr>
            <p:ph idx="1" type="body"/>
          </p:nvPr>
        </p:nvSpPr>
        <p:spPr>
          <a:xfrm>
            <a:off x="324000" y="759300"/>
            <a:ext cx="8496000" cy="762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Alex is exploring the relationship between the </a:t>
            </a:r>
            <a:r>
              <a:rPr b="1" lang="en-GB" sz="2000"/>
              <a:t>diameter</a:t>
            </a:r>
            <a:r>
              <a:rPr lang="en-GB" sz="2000"/>
              <a:t> and </a:t>
            </a:r>
            <a:r>
              <a:rPr b="1" lang="en-GB" sz="2000"/>
              <a:t>circumference</a:t>
            </a:r>
            <a:r>
              <a:rPr lang="en-GB" sz="2000"/>
              <a:t> of a </a:t>
            </a:r>
            <a:r>
              <a:rPr lang="en-GB" sz="2000"/>
              <a:t>circle</a:t>
            </a:r>
            <a:r>
              <a:rPr lang="en-GB" sz="2000"/>
              <a:t> in a </a:t>
            </a:r>
            <a:r>
              <a:rPr lang="en-GB" sz="2000"/>
              <a:t>practical</a:t>
            </a:r>
            <a:r>
              <a:rPr lang="en-GB" sz="2000"/>
              <a:t> way.</a:t>
            </a:r>
            <a:endParaRPr sz="2000"/>
          </a:p>
        </p:txBody>
      </p:sp>
      <p:sp>
        <p:nvSpPr>
          <p:cNvPr id="1135" name="Google Shape;1135;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pic>
        <p:nvPicPr>
          <p:cNvPr id="1136" name="Google Shape;1136;p89"/>
          <p:cNvPicPr preferRelativeResize="0"/>
          <p:nvPr/>
        </p:nvPicPr>
        <p:blipFill>
          <a:blip r:embed="rId4">
            <a:alphaModFix/>
          </a:blip>
          <a:stretch>
            <a:fillRect/>
          </a:stretch>
        </p:blipFill>
        <p:spPr>
          <a:xfrm>
            <a:off x="8078161" y="3736326"/>
            <a:ext cx="660763" cy="762000"/>
          </a:xfrm>
          <a:prstGeom prst="rect">
            <a:avLst/>
          </a:prstGeom>
          <a:noFill/>
          <a:ln>
            <a:noFill/>
          </a:ln>
        </p:spPr>
      </p:pic>
      <p:pic>
        <p:nvPicPr>
          <p:cNvPr id="1137" name="Google Shape;1137;p89"/>
          <p:cNvPicPr preferRelativeResize="0"/>
          <p:nvPr/>
        </p:nvPicPr>
        <p:blipFill>
          <a:blip r:embed="rId5">
            <a:alphaModFix/>
          </a:blip>
          <a:stretch>
            <a:fillRect/>
          </a:stretch>
        </p:blipFill>
        <p:spPr>
          <a:xfrm rot="-5400000">
            <a:off x="1161941" y="1086611"/>
            <a:ext cx="3200398" cy="4267182"/>
          </a:xfrm>
          <a:prstGeom prst="rect">
            <a:avLst/>
          </a:prstGeom>
          <a:noFill/>
          <a:ln>
            <a:noFill/>
          </a:ln>
        </p:spPr>
      </p:pic>
      <p:sp>
        <p:nvSpPr>
          <p:cNvPr id="1138" name="Google Shape;1138;p89"/>
          <p:cNvSpPr txBox="1"/>
          <p:nvPr/>
        </p:nvSpPr>
        <p:spPr>
          <a:xfrm>
            <a:off x="5410908" y="1965075"/>
            <a:ext cx="3053400" cy="14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How large</a:t>
            </a:r>
            <a:r>
              <a:rPr lang="en-GB" sz="1800">
                <a:solidFill>
                  <a:schemeClr val="dk1"/>
                </a:solidFill>
                <a:latin typeface="Lexend"/>
                <a:ea typeface="Lexend"/>
                <a:cs typeface="Lexend"/>
                <a:sym typeface="Lexend"/>
              </a:rPr>
              <a:t> is the</a:t>
            </a:r>
            <a:r>
              <a:rPr lang="en-GB" sz="1800">
                <a:solidFill>
                  <a:schemeClr val="dk1"/>
                </a:solidFill>
                <a:latin typeface="Lexend"/>
                <a:ea typeface="Lexend"/>
                <a:cs typeface="Lexend"/>
                <a:sym typeface="Lexend"/>
              </a:rPr>
              <a:t> </a:t>
            </a:r>
            <a:r>
              <a:rPr b="1" lang="en-GB" sz="1800">
                <a:solidFill>
                  <a:schemeClr val="dk1"/>
                </a:solidFill>
                <a:latin typeface="Lexend"/>
                <a:ea typeface="Lexend"/>
                <a:cs typeface="Lexend"/>
                <a:sym typeface="Lexend"/>
              </a:rPr>
              <a:t>circumference</a:t>
            </a:r>
            <a:r>
              <a:rPr lang="en-GB" sz="1800">
                <a:solidFill>
                  <a:schemeClr val="dk1"/>
                </a:solidFill>
                <a:latin typeface="Lexend"/>
                <a:ea typeface="Lexend"/>
                <a:cs typeface="Lexend"/>
                <a:sym typeface="Lexend"/>
              </a:rPr>
              <a:t> of this </a:t>
            </a:r>
            <a:r>
              <a:rPr lang="en-GB" sz="1800">
                <a:solidFill>
                  <a:schemeClr val="dk1"/>
                </a:solidFill>
                <a:latin typeface="Lexend"/>
                <a:ea typeface="Lexend"/>
                <a:cs typeface="Lexend"/>
                <a:sym typeface="Lexend"/>
              </a:rPr>
              <a:t>toilet </a:t>
            </a:r>
            <a:r>
              <a:rPr lang="en-GB" sz="1800">
                <a:solidFill>
                  <a:schemeClr val="dk1"/>
                </a:solidFill>
                <a:latin typeface="Lexend"/>
                <a:ea typeface="Lexend"/>
                <a:cs typeface="Lexend"/>
                <a:sym typeface="Lexend"/>
              </a:rPr>
              <a:t>roll compared to its </a:t>
            </a:r>
            <a:r>
              <a:rPr b="1" lang="en-GB" sz="1800">
                <a:solidFill>
                  <a:schemeClr val="dk1"/>
                </a:solidFill>
                <a:latin typeface="Lexend"/>
                <a:ea typeface="Lexend"/>
                <a:cs typeface="Lexend"/>
                <a:sym typeface="Lexend"/>
              </a:rPr>
              <a:t>diameter</a:t>
            </a:r>
            <a:r>
              <a:rPr lang="en-GB" sz="1800">
                <a:solidFill>
                  <a:schemeClr val="dk1"/>
                </a:solidFill>
                <a:latin typeface="Lexend"/>
                <a:ea typeface="Lexend"/>
                <a:cs typeface="Lexend"/>
                <a:sym typeface="Lexend"/>
              </a:rPr>
              <a:t>?</a:t>
            </a:r>
            <a:endParaRPr/>
          </a:p>
        </p:txBody>
      </p:sp>
      <p:sp>
        <p:nvSpPr>
          <p:cNvPr id="1139" name="Google Shape;1139;p89"/>
          <p:cNvSpPr/>
          <p:nvPr/>
        </p:nvSpPr>
        <p:spPr>
          <a:xfrm rot="904616">
            <a:off x="2568654" y="2317357"/>
            <a:ext cx="1133726" cy="106721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0" name="Google Shape;1140;p89"/>
          <p:cNvSpPr txBox="1"/>
          <p:nvPr/>
        </p:nvSpPr>
        <p:spPr>
          <a:xfrm>
            <a:off x="763269" y="1960970"/>
            <a:ext cx="1756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600">
                <a:solidFill>
                  <a:schemeClr val="dk1"/>
                </a:solidFill>
                <a:latin typeface="Lexend"/>
                <a:ea typeface="Lexend"/>
                <a:cs typeface="Lexend"/>
                <a:sym typeface="Lexend"/>
              </a:rPr>
              <a:t>circumference</a:t>
            </a:r>
            <a:endParaRPr b="1" sz="1200"/>
          </a:p>
        </p:txBody>
      </p:sp>
      <p:cxnSp>
        <p:nvCxnSpPr>
          <p:cNvPr id="1141" name="Google Shape;1141;p89"/>
          <p:cNvCxnSpPr/>
          <p:nvPr/>
        </p:nvCxnSpPr>
        <p:spPr>
          <a:xfrm>
            <a:off x="2389742" y="2297366"/>
            <a:ext cx="318000" cy="185700"/>
          </a:xfrm>
          <a:prstGeom prst="straightConnector1">
            <a:avLst/>
          </a:prstGeom>
          <a:noFill/>
          <a:ln cap="flat" cmpd="sng" w="38100">
            <a:solidFill>
              <a:schemeClr val="dk1"/>
            </a:solidFill>
            <a:prstDash val="solid"/>
            <a:round/>
            <a:headEnd len="med" w="med" type="none"/>
            <a:tailEnd len="med" w="med" type="none"/>
          </a:ln>
        </p:spPr>
      </p:cxnSp>
      <p:cxnSp>
        <p:nvCxnSpPr>
          <p:cNvPr id="1142" name="Google Shape;1142;p89"/>
          <p:cNvCxnSpPr/>
          <p:nvPr/>
        </p:nvCxnSpPr>
        <p:spPr>
          <a:xfrm>
            <a:off x="2588663" y="2854298"/>
            <a:ext cx="1133700" cy="0"/>
          </a:xfrm>
          <a:prstGeom prst="straightConnector1">
            <a:avLst/>
          </a:prstGeom>
          <a:noFill/>
          <a:ln cap="flat" cmpd="sng" w="38100">
            <a:solidFill>
              <a:schemeClr val="accent5"/>
            </a:solidFill>
            <a:prstDash val="solid"/>
            <a:round/>
            <a:headEnd len="med" w="med" type="triangle"/>
            <a:tailEnd len="med" w="med" type="triangle"/>
          </a:ln>
        </p:spPr>
      </p:cxnSp>
      <p:sp>
        <p:nvSpPr>
          <p:cNvPr id="1143" name="Google Shape;1143;p89"/>
          <p:cNvSpPr txBox="1"/>
          <p:nvPr/>
        </p:nvSpPr>
        <p:spPr>
          <a:xfrm>
            <a:off x="3644397" y="3609223"/>
            <a:ext cx="1322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600">
                <a:solidFill>
                  <a:schemeClr val="dk1"/>
                </a:solidFill>
                <a:latin typeface="Lexend"/>
                <a:ea typeface="Lexend"/>
                <a:cs typeface="Lexend"/>
                <a:sym typeface="Lexend"/>
              </a:rPr>
              <a:t>diameter</a:t>
            </a:r>
            <a:endParaRPr b="1" sz="1200"/>
          </a:p>
        </p:txBody>
      </p:sp>
      <p:cxnSp>
        <p:nvCxnSpPr>
          <p:cNvPr id="1144" name="Google Shape;1144;p89"/>
          <p:cNvCxnSpPr/>
          <p:nvPr/>
        </p:nvCxnSpPr>
        <p:spPr>
          <a:xfrm rot="10800000">
            <a:off x="3218748" y="2920767"/>
            <a:ext cx="570000" cy="8220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pic>
        <p:nvPicPr>
          <p:cNvPr id="1149" name="Google Shape;1149;p90"/>
          <p:cNvPicPr preferRelativeResize="0"/>
          <p:nvPr/>
        </p:nvPicPr>
        <p:blipFill rotWithShape="1">
          <a:blip r:embed="rId3">
            <a:alphaModFix/>
          </a:blip>
          <a:srcRect b="0" l="0" r="69082" t="56280"/>
          <a:stretch/>
        </p:blipFill>
        <p:spPr>
          <a:xfrm>
            <a:off x="5249675" y="1731175"/>
            <a:ext cx="3458125" cy="1984800"/>
          </a:xfrm>
          <a:prstGeom prst="rect">
            <a:avLst/>
          </a:prstGeom>
          <a:noFill/>
          <a:ln>
            <a:noFill/>
          </a:ln>
        </p:spPr>
      </p:pic>
      <p:pic>
        <p:nvPicPr>
          <p:cNvPr id="1150" name="Google Shape;1150;p90"/>
          <p:cNvPicPr preferRelativeResize="0"/>
          <p:nvPr/>
        </p:nvPicPr>
        <p:blipFill>
          <a:blip r:embed="rId4">
            <a:alphaModFix/>
          </a:blip>
          <a:stretch>
            <a:fillRect/>
          </a:stretch>
        </p:blipFill>
        <p:spPr>
          <a:xfrm rot="-5400000">
            <a:off x="1158094" y="1086596"/>
            <a:ext cx="3200375" cy="4267182"/>
          </a:xfrm>
          <a:prstGeom prst="rect">
            <a:avLst/>
          </a:prstGeom>
          <a:noFill/>
          <a:ln>
            <a:noFill/>
          </a:ln>
        </p:spPr>
      </p:pic>
      <p:sp>
        <p:nvSpPr>
          <p:cNvPr id="1151" name="Google Shape;1151;p90"/>
          <p:cNvSpPr txBox="1"/>
          <p:nvPr>
            <p:ph idx="1" type="body"/>
          </p:nvPr>
        </p:nvSpPr>
        <p:spPr>
          <a:xfrm>
            <a:off x="324000" y="759300"/>
            <a:ext cx="8496000" cy="762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Alex is exploring the relationship between the </a:t>
            </a:r>
            <a:r>
              <a:rPr b="1" lang="en-GB" sz="2000"/>
              <a:t>diameter</a:t>
            </a:r>
            <a:r>
              <a:rPr lang="en-GB" sz="2000"/>
              <a:t> and </a:t>
            </a:r>
            <a:r>
              <a:rPr b="1" lang="en-GB" sz="2000"/>
              <a:t>circumference</a:t>
            </a:r>
            <a:r>
              <a:rPr lang="en-GB" sz="2000"/>
              <a:t> of </a:t>
            </a:r>
            <a:r>
              <a:rPr lang="en-GB" sz="2000"/>
              <a:t>a circle</a:t>
            </a:r>
            <a:r>
              <a:rPr lang="en-GB" sz="2000"/>
              <a:t> in a practical way.</a:t>
            </a:r>
            <a:endParaRPr sz="2000"/>
          </a:p>
        </p:txBody>
      </p:sp>
      <p:sp>
        <p:nvSpPr>
          <p:cNvPr id="1152" name="Google Shape;1152;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pic>
        <p:nvPicPr>
          <p:cNvPr id="1153" name="Google Shape;1153;p90"/>
          <p:cNvPicPr preferRelativeResize="0"/>
          <p:nvPr/>
        </p:nvPicPr>
        <p:blipFill>
          <a:blip r:embed="rId5">
            <a:alphaModFix/>
          </a:blip>
          <a:stretch>
            <a:fillRect/>
          </a:stretch>
        </p:blipFill>
        <p:spPr>
          <a:xfrm>
            <a:off x="8078161" y="3736326"/>
            <a:ext cx="660763" cy="762000"/>
          </a:xfrm>
          <a:prstGeom prst="rect">
            <a:avLst/>
          </a:prstGeom>
          <a:noFill/>
          <a:ln>
            <a:noFill/>
          </a:ln>
        </p:spPr>
      </p:pic>
      <p:sp>
        <p:nvSpPr>
          <p:cNvPr id="1154" name="Google Shape;1154;p90"/>
          <p:cNvSpPr txBox="1"/>
          <p:nvPr/>
        </p:nvSpPr>
        <p:spPr>
          <a:xfrm>
            <a:off x="5398424" y="1995632"/>
            <a:ext cx="3123300" cy="14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I will mark the end of the paper, unroll it up to the mark then I will cut along the mark.</a:t>
            </a:r>
            <a:endParaRPr sz="1800">
              <a:solidFill>
                <a:schemeClr val="dk1"/>
              </a:solidFill>
              <a:latin typeface="Lexend"/>
              <a:ea typeface="Lexend"/>
              <a:cs typeface="Lexend"/>
              <a:sym typeface="Lexend"/>
            </a:endParaRPr>
          </a:p>
        </p:txBody>
      </p:sp>
      <p:sp>
        <p:nvSpPr>
          <p:cNvPr id="1155" name="Google Shape;1155;p90"/>
          <p:cNvSpPr/>
          <p:nvPr/>
        </p:nvSpPr>
        <p:spPr>
          <a:xfrm>
            <a:off x="1807861" y="2393692"/>
            <a:ext cx="2596468" cy="385207"/>
          </a:xfrm>
          <a:custGeom>
            <a:rect b="b" l="l" r="r" t="t"/>
            <a:pathLst>
              <a:path extrusionOk="0" h="14506" w="97777">
                <a:moveTo>
                  <a:pt x="0" y="0"/>
                </a:moveTo>
                <a:cubicBezTo>
                  <a:pt x="1183" y="81"/>
                  <a:pt x="4519" y="81"/>
                  <a:pt x="7095" y="486"/>
                </a:cubicBezTo>
                <a:cubicBezTo>
                  <a:pt x="9671" y="891"/>
                  <a:pt x="13267" y="1539"/>
                  <a:pt x="15454" y="2430"/>
                </a:cubicBezTo>
                <a:cubicBezTo>
                  <a:pt x="17641" y="3321"/>
                  <a:pt x="18532" y="4455"/>
                  <a:pt x="20217" y="5832"/>
                </a:cubicBezTo>
                <a:cubicBezTo>
                  <a:pt x="21902" y="7209"/>
                  <a:pt x="23667" y="9429"/>
                  <a:pt x="25562" y="10692"/>
                </a:cubicBezTo>
                <a:cubicBezTo>
                  <a:pt x="27457" y="11956"/>
                  <a:pt x="29110" y="12814"/>
                  <a:pt x="31588" y="13413"/>
                </a:cubicBezTo>
                <a:cubicBezTo>
                  <a:pt x="34067" y="14012"/>
                  <a:pt x="37015" y="14110"/>
                  <a:pt x="40433" y="14288"/>
                </a:cubicBezTo>
                <a:cubicBezTo>
                  <a:pt x="43851" y="14466"/>
                  <a:pt x="47658" y="14531"/>
                  <a:pt x="52096" y="14482"/>
                </a:cubicBezTo>
                <a:cubicBezTo>
                  <a:pt x="56535" y="14433"/>
                  <a:pt x="59451" y="14498"/>
                  <a:pt x="67064" y="13996"/>
                </a:cubicBezTo>
                <a:cubicBezTo>
                  <a:pt x="74678" y="13494"/>
                  <a:pt x="92658" y="11890"/>
                  <a:pt x="97777" y="11469"/>
                </a:cubicBezTo>
              </a:path>
            </a:pathLst>
          </a:custGeom>
          <a:noFill/>
          <a:ln cap="flat" cmpd="sng" w="38100">
            <a:solidFill>
              <a:schemeClr val="dk1"/>
            </a:solidFill>
            <a:prstDash val="solid"/>
            <a:round/>
            <a:headEnd len="med" w="med" type="triangle"/>
            <a:tailEnd len="med" w="med" type="triangle"/>
          </a:ln>
        </p:spPr>
      </p:sp>
      <p:sp>
        <p:nvSpPr>
          <p:cNvPr id="1156" name="Google Shape;1156;p90"/>
          <p:cNvSpPr txBox="1"/>
          <p:nvPr/>
        </p:nvSpPr>
        <p:spPr>
          <a:xfrm>
            <a:off x="2463119" y="2349704"/>
            <a:ext cx="1756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600">
                <a:solidFill>
                  <a:schemeClr val="dk1"/>
                </a:solidFill>
                <a:latin typeface="Lexend"/>
                <a:ea typeface="Lexend"/>
                <a:cs typeface="Lexend"/>
                <a:sym typeface="Lexend"/>
              </a:rPr>
              <a:t>circumference</a:t>
            </a:r>
            <a:endParaRPr b="1" sz="1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pic>
        <p:nvPicPr>
          <p:cNvPr id="1161" name="Google Shape;1161;p91"/>
          <p:cNvPicPr preferRelativeResize="0"/>
          <p:nvPr/>
        </p:nvPicPr>
        <p:blipFill rotWithShape="1">
          <a:blip r:embed="rId3">
            <a:alphaModFix/>
          </a:blip>
          <a:srcRect b="0" l="0" r="69082" t="56280"/>
          <a:stretch/>
        </p:blipFill>
        <p:spPr>
          <a:xfrm>
            <a:off x="5249675" y="1731175"/>
            <a:ext cx="3458125" cy="1984800"/>
          </a:xfrm>
          <a:prstGeom prst="rect">
            <a:avLst/>
          </a:prstGeom>
          <a:noFill/>
          <a:ln>
            <a:noFill/>
          </a:ln>
        </p:spPr>
      </p:pic>
      <p:pic>
        <p:nvPicPr>
          <p:cNvPr id="1162" name="Google Shape;1162;p91"/>
          <p:cNvPicPr preferRelativeResize="0"/>
          <p:nvPr/>
        </p:nvPicPr>
        <p:blipFill>
          <a:blip r:embed="rId4">
            <a:alphaModFix/>
          </a:blip>
          <a:stretch>
            <a:fillRect/>
          </a:stretch>
        </p:blipFill>
        <p:spPr>
          <a:xfrm rot="-5400000">
            <a:off x="1159883" y="1086863"/>
            <a:ext cx="3198854" cy="4265129"/>
          </a:xfrm>
          <a:prstGeom prst="rect">
            <a:avLst/>
          </a:prstGeom>
          <a:noFill/>
          <a:ln>
            <a:noFill/>
          </a:ln>
        </p:spPr>
      </p:pic>
      <p:sp>
        <p:nvSpPr>
          <p:cNvPr id="1163" name="Google Shape;1163;p91"/>
          <p:cNvSpPr txBox="1"/>
          <p:nvPr>
            <p:ph idx="1" type="body"/>
          </p:nvPr>
        </p:nvSpPr>
        <p:spPr>
          <a:xfrm>
            <a:off x="324000" y="759300"/>
            <a:ext cx="8496000" cy="762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Alex is exploring the relationship between the </a:t>
            </a:r>
            <a:r>
              <a:rPr b="1" lang="en-GB" sz="2000"/>
              <a:t>diameter</a:t>
            </a:r>
            <a:r>
              <a:rPr lang="en-GB" sz="2000"/>
              <a:t> and </a:t>
            </a:r>
            <a:r>
              <a:rPr b="1" lang="en-GB" sz="2000"/>
              <a:t>circumference</a:t>
            </a:r>
            <a:r>
              <a:rPr lang="en-GB" sz="2000"/>
              <a:t> of </a:t>
            </a:r>
            <a:r>
              <a:rPr lang="en-GB" sz="2000"/>
              <a:t>a circle </a:t>
            </a:r>
            <a:r>
              <a:rPr lang="en-GB" sz="2000"/>
              <a:t>in a practical way.</a:t>
            </a:r>
            <a:endParaRPr sz="2000"/>
          </a:p>
        </p:txBody>
      </p:sp>
      <p:sp>
        <p:nvSpPr>
          <p:cNvPr id="1164" name="Google Shape;1164;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pic>
        <p:nvPicPr>
          <p:cNvPr id="1165" name="Google Shape;1165;p91"/>
          <p:cNvPicPr preferRelativeResize="0"/>
          <p:nvPr/>
        </p:nvPicPr>
        <p:blipFill>
          <a:blip r:embed="rId5">
            <a:alphaModFix/>
          </a:blip>
          <a:stretch>
            <a:fillRect/>
          </a:stretch>
        </p:blipFill>
        <p:spPr>
          <a:xfrm>
            <a:off x="8078161" y="3736326"/>
            <a:ext cx="660763" cy="762000"/>
          </a:xfrm>
          <a:prstGeom prst="rect">
            <a:avLst/>
          </a:prstGeom>
          <a:noFill/>
          <a:ln>
            <a:noFill/>
          </a:ln>
        </p:spPr>
      </p:pic>
      <p:sp>
        <p:nvSpPr>
          <p:cNvPr id="1166" name="Google Shape;1166;p91"/>
          <p:cNvSpPr txBox="1"/>
          <p:nvPr/>
        </p:nvSpPr>
        <p:spPr>
          <a:xfrm>
            <a:off x="5454600" y="1971325"/>
            <a:ext cx="2989500" cy="14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length of the paper is approximately equal to the </a:t>
            </a:r>
            <a:r>
              <a:rPr b="1" lang="en-GB" sz="1800">
                <a:solidFill>
                  <a:schemeClr val="dk1"/>
                </a:solidFill>
                <a:latin typeface="Lexend"/>
                <a:ea typeface="Lexend"/>
                <a:cs typeface="Lexend"/>
                <a:sym typeface="Lexend"/>
              </a:rPr>
              <a:t>circumference</a:t>
            </a:r>
            <a:r>
              <a:rPr lang="en-GB" sz="1800">
                <a:solidFill>
                  <a:schemeClr val="dk1"/>
                </a:solidFill>
                <a:latin typeface="Lexend"/>
                <a:ea typeface="Lexend"/>
                <a:cs typeface="Lexend"/>
                <a:sym typeface="Lexend"/>
              </a:rPr>
              <a:t> of the roll.</a:t>
            </a:r>
            <a:endParaRPr/>
          </a:p>
        </p:txBody>
      </p:sp>
      <p:cxnSp>
        <p:nvCxnSpPr>
          <p:cNvPr id="1167" name="Google Shape;1167;p91"/>
          <p:cNvCxnSpPr/>
          <p:nvPr/>
        </p:nvCxnSpPr>
        <p:spPr>
          <a:xfrm>
            <a:off x="1096671" y="4457472"/>
            <a:ext cx="3280500" cy="0"/>
          </a:xfrm>
          <a:prstGeom prst="straightConnector1">
            <a:avLst/>
          </a:prstGeom>
          <a:noFill/>
          <a:ln cap="flat" cmpd="sng" w="38100">
            <a:solidFill>
              <a:schemeClr val="dk1"/>
            </a:solidFill>
            <a:prstDash val="solid"/>
            <a:round/>
            <a:headEnd len="med" w="med" type="triangle"/>
            <a:tailEnd len="med" w="med" type="triangle"/>
          </a:ln>
        </p:spPr>
      </p:cxnSp>
      <p:sp>
        <p:nvSpPr>
          <p:cNvPr id="1168" name="Google Shape;1168;p91"/>
          <p:cNvSpPr txBox="1"/>
          <p:nvPr/>
        </p:nvSpPr>
        <p:spPr>
          <a:xfrm>
            <a:off x="1859474" y="4387687"/>
            <a:ext cx="1932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600">
                <a:solidFill>
                  <a:schemeClr val="dk1"/>
                </a:solidFill>
                <a:latin typeface="Lexend"/>
                <a:ea typeface="Lexend"/>
                <a:cs typeface="Lexend"/>
                <a:sym typeface="Lexend"/>
              </a:rPr>
              <a:t>circumference</a:t>
            </a:r>
            <a:endParaRPr b="1"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pic>
        <p:nvPicPr>
          <p:cNvPr id="1173" name="Google Shape;1173;p92"/>
          <p:cNvPicPr preferRelativeResize="0"/>
          <p:nvPr/>
        </p:nvPicPr>
        <p:blipFill rotWithShape="1">
          <a:blip r:embed="rId3">
            <a:alphaModFix/>
          </a:blip>
          <a:srcRect b="0" l="0" r="69082" t="56280"/>
          <a:stretch/>
        </p:blipFill>
        <p:spPr>
          <a:xfrm>
            <a:off x="5249675" y="1731175"/>
            <a:ext cx="3458125" cy="1984800"/>
          </a:xfrm>
          <a:prstGeom prst="rect">
            <a:avLst/>
          </a:prstGeom>
          <a:noFill/>
          <a:ln>
            <a:noFill/>
          </a:ln>
        </p:spPr>
      </p:pic>
      <p:pic>
        <p:nvPicPr>
          <p:cNvPr id="1174" name="Google Shape;1174;p92"/>
          <p:cNvPicPr preferRelativeResize="0"/>
          <p:nvPr/>
        </p:nvPicPr>
        <p:blipFill>
          <a:blip r:embed="rId4">
            <a:alphaModFix/>
          </a:blip>
          <a:stretch>
            <a:fillRect/>
          </a:stretch>
        </p:blipFill>
        <p:spPr>
          <a:xfrm rot="-5400000">
            <a:off x="1158082" y="1086609"/>
            <a:ext cx="3200402" cy="4267182"/>
          </a:xfrm>
          <a:prstGeom prst="rect">
            <a:avLst/>
          </a:prstGeom>
          <a:noFill/>
          <a:ln>
            <a:noFill/>
          </a:ln>
        </p:spPr>
      </p:pic>
      <p:sp>
        <p:nvSpPr>
          <p:cNvPr id="1175" name="Google Shape;1175;p92"/>
          <p:cNvSpPr txBox="1"/>
          <p:nvPr>
            <p:ph idx="1" type="body"/>
          </p:nvPr>
        </p:nvSpPr>
        <p:spPr>
          <a:xfrm>
            <a:off x="324000" y="759300"/>
            <a:ext cx="8496000" cy="762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Alex is exploring the relationship between the </a:t>
            </a:r>
            <a:r>
              <a:rPr b="1" lang="en-GB" sz="2000"/>
              <a:t>diameter</a:t>
            </a:r>
            <a:r>
              <a:rPr lang="en-GB" sz="2000"/>
              <a:t> and </a:t>
            </a:r>
            <a:r>
              <a:rPr b="1" lang="en-GB" sz="2000"/>
              <a:t>circumference</a:t>
            </a:r>
            <a:r>
              <a:rPr lang="en-GB" sz="2000"/>
              <a:t> of </a:t>
            </a:r>
            <a:r>
              <a:rPr lang="en-GB" sz="2000"/>
              <a:t>a circle </a:t>
            </a:r>
            <a:r>
              <a:rPr lang="en-GB" sz="2000"/>
              <a:t>in a practical way.</a:t>
            </a:r>
            <a:endParaRPr sz="2000"/>
          </a:p>
        </p:txBody>
      </p:sp>
      <p:sp>
        <p:nvSpPr>
          <p:cNvPr id="1176" name="Google Shape;1176;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pic>
        <p:nvPicPr>
          <p:cNvPr id="1177" name="Google Shape;1177;p92"/>
          <p:cNvPicPr preferRelativeResize="0"/>
          <p:nvPr/>
        </p:nvPicPr>
        <p:blipFill>
          <a:blip r:embed="rId5">
            <a:alphaModFix/>
          </a:blip>
          <a:stretch>
            <a:fillRect/>
          </a:stretch>
        </p:blipFill>
        <p:spPr>
          <a:xfrm>
            <a:off x="8078161" y="3736326"/>
            <a:ext cx="660763" cy="762000"/>
          </a:xfrm>
          <a:prstGeom prst="rect">
            <a:avLst/>
          </a:prstGeom>
          <a:noFill/>
          <a:ln>
            <a:noFill/>
          </a:ln>
        </p:spPr>
      </p:pic>
      <p:cxnSp>
        <p:nvCxnSpPr>
          <p:cNvPr id="1178" name="Google Shape;1178;p92"/>
          <p:cNvCxnSpPr/>
          <p:nvPr/>
        </p:nvCxnSpPr>
        <p:spPr>
          <a:xfrm>
            <a:off x="918443" y="4209831"/>
            <a:ext cx="3282300" cy="0"/>
          </a:xfrm>
          <a:prstGeom prst="straightConnector1">
            <a:avLst/>
          </a:prstGeom>
          <a:noFill/>
          <a:ln cap="flat" cmpd="sng" w="38100">
            <a:solidFill>
              <a:schemeClr val="dk1"/>
            </a:solidFill>
            <a:prstDash val="solid"/>
            <a:round/>
            <a:headEnd len="med" w="med" type="triangle"/>
            <a:tailEnd len="med" w="med" type="triangle"/>
          </a:ln>
        </p:spPr>
      </p:cxnSp>
      <p:sp>
        <p:nvSpPr>
          <p:cNvPr id="1179" name="Google Shape;1179;p92"/>
          <p:cNvSpPr txBox="1"/>
          <p:nvPr/>
        </p:nvSpPr>
        <p:spPr>
          <a:xfrm>
            <a:off x="1681615" y="4140011"/>
            <a:ext cx="19338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600">
                <a:solidFill>
                  <a:schemeClr val="dk1"/>
                </a:solidFill>
                <a:latin typeface="Lexend"/>
                <a:ea typeface="Lexend"/>
                <a:cs typeface="Lexend"/>
                <a:sym typeface="Lexend"/>
              </a:rPr>
              <a:t>circumference</a:t>
            </a:r>
            <a:endParaRPr b="1" sz="1200"/>
          </a:p>
        </p:txBody>
      </p:sp>
      <p:cxnSp>
        <p:nvCxnSpPr>
          <p:cNvPr id="1180" name="Google Shape;1180;p92"/>
          <p:cNvCxnSpPr/>
          <p:nvPr/>
        </p:nvCxnSpPr>
        <p:spPr>
          <a:xfrm>
            <a:off x="966351" y="3561027"/>
            <a:ext cx="958500" cy="0"/>
          </a:xfrm>
          <a:prstGeom prst="straightConnector1">
            <a:avLst/>
          </a:prstGeom>
          <a:noFill/>
          <a:ln cap="flat" cmpd="sng" w="38100">
            <a:solidFill>
              <a:schemeClr val="dk1"/>
            </a:solidFill>
            <a:prstDash val="solid"/>
            <a:round/>
            <a:headEnd len="med" w="med" type="triangle"/>
            <a:tailEnd len="med" w="med" type="triangle"/>
          </a:ln>
        </p:spPr>
      </p:cxnSp>
      <p:sp>
        <p:nvSpPr>
          <p:cNvPr id="1181" name="Google Shape;1181;p92"/>
          <p:cNvSpPr txBox="1"/>
          <p:nvPr/>
        </p:nvSpPr>
        <p:spPr>
          <a:xfrm>
            <a:off x="881937" y="3146699"/>
            <a:ext cx="1248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600">
                <a:solidFill>
                  <a:schemeClr val="dk1"/>
                </a:solidFill>
                <a:latin typeface="Lexend"/>
                <a:ea typeface="Lexend"/>
                <a:cs typeface="Lexend"/>
                <a:sym typeface="Lexend"/>
              </a:rPr>
              <a:t>diameter</a:t>
            </a:r>
            <a:endParaRPr b="1" sz="1200">
              <a:solidFill>
                <a:schemeClr val="dk1"/>
              </a:solidFill>
            </a:endParaRPr>
          </a:p>
        </p:txBody>
      </p:sp>
      <p:cxnSp>
        <p:nvCxnSpPr>
          <p:cNvPr id="1182" name="Google Shape;1182;p92"/>
          <p:cNvCxnSpPr/>
          <p:nvPr/>
        </p:nvCxnSpPr>
        <p:spPr>
          <a:xfrm>
            <a:off x="1994349" y="3561027"/>
            <a:ext cx="958500" cy="0"/>
          </a:xfrm>
          <a:prstGeom prst="straightConnector1">
            <a:avLst/>
          </a:prstGeom>
          <a:noFill/>
          <a:ln cap="flat" cmpd="sng" w="38100">
            <a:solidFill>
              <a:schemeClr val="dk1"/>
            </a:solidFill>
            <a:prstDash val="solid"/>
            <a:round/>
            <a:headEnd len="med" w="med" type="triangle"/>
            <a:tailEnd len="med" w="med" type="triangle"/>
          </a:ln>
        </p:spPr>
      </p:cxnSp>
      <p:sp>
        <p:nvSpPr>
          <p:cNvPr id="1183" name="Google Shape;1183;p92"/>
          <p:cNvSpPr txBox="1"/>
          <p:nvPr/>
        </p:nvSpPr>
        <p:spPr>
          <a:xfrm>
            <a:off x="1905399" y="3155770"/>
            <a:ext cx="1248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600">
                <a:solidFill>
                  <a:schemeClr val="dk1"/>
                </a:solidFill>
                <a:latin typeface="Lexend"/>
                <a:ea typeface="Lexend"/>
                <a:cs typeface="Lexend"/>
                <a:sym typeface="Lexend"/>
              </a:rPr>
              <a:t>diameter</a:t>
            </a:r>
            <a:endParaRPr b="1" sz="1200">
              <a:solidFill>
                <a:schemeClr val="dk1"/>
              </a:solidFill>
            </a:endParaRPr>
          </a:p>
        </p:txBody>
      </p:sp>
      <p:cxnSp>
        <p:nvCxnSpPr>
          <p:cNvPr id="1184" name="Google Shape;1184;p92"/>
          <p:cNvCxnSpPr/>
          <p:nvPr/>
        </p:nvCxnSpPr>
        <p:spPr>
          <a:xfrm>
            <a:off x="2984975" y="3561027"/>
            <a:ext cx="958500" cy="0"/>
          </a:xfrm>
          <a:prstGeom prst="straightConnector1">
            <a:avLst/>
          </a:prstGeom>
          <a:noFill/>
          <a:ln cap="flat" cmpd="sng" w="38100">
            <a:solidFill>
              <a:schemeClr val="dk1"/>
            </a:solidFill>
            <a:prstDash val="solid"/>
            <a:round/>
            <a:headEnd len="med" w="med" type="triangle"/>
            <a:tailEnd len="med" w="med" type="triangle"/>
          </a:ln>
        </p:spPr>
      </p:cxnSp>
      <p:sp>
        <p:nvSpPr>
          <p:cNvPr id="1185" name="Google Shape;1185;p92"/>
          <p:cNvSpPr txBox="1"/>
          <p:nvPr/>
        </p:nvSpPr>
        <p:spPr>
          <a:xfrm>
            <a:off x="2905097" y="3169378"/>
            <a:ext cx="1248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600">
                <a:solidFill>
                  <a:schemeClr val="dk1"/>
                </a:solidFill>
                <a:latin typeface="Lexend"/>
                <a:ea typeface="Lexend"/>
                <a:cs typeface="Lexend"/>
                <a:sym typeface="Lexend"/>
              </a:rPr>
              <a:t>diameter</a:t>
            </a:r>
            <a:endParaRPr b="1" sz="1200">
              <a:solidFill>
                <a:schemeClr val="dk1"/>
              </a:solidFill>
            </a:endParaRPr>
          </a:p>
        </p:txBody>
      </p:sp>
      <p:sp>
        <p:nvSpPr>
          <p:cNvPr id="1186" name="Google Shape;1186;p92"/>
          <p:cNvSpPr txBox="1"/>
          <p:nvPr/>
        </p:nvSpPr>
        <p:spPr>
          <a:xfrm>
            <a:off x="5403380" y="2106267"/>
            <a:ext cx="31083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a:t>
            </a:r>
            <a:r>
              <a:rPr b="1" lang="en-GB" sz="1800">
                <a:solidFill>
                  <a:schemeClr val="dk1"/>
                </a:solidFill>
                <a:latin typeface="Lexend"/>
                <a:ea typeface="Lexend"/>
                <a:cs typeface="Lexend"/>
                <a:sym typeface="Lexend"/>
              </a:rPr>
              <a:t>circumference</a:t>
            </a:r>
            <a:r>
              <a:rPr lang="en-GB" sz="1800">
                <a:solidFill>
                  <a:schemeClr val="dk1"/>
                </a:solidFill>
                <a:latin typeface="Lexend"/>
                <a:ea typeface="Lexend"/>
                <a:cs typeface="Lexend"/>
                <a:sym typeface="Lexend"/>
              </a:rPr>
              <a:t> is approximately equal to </a:t>
            </a:r>
            <a:r>
              <a:rPr lang="en-GB" sz="1800">
                <a:solidFill>
                  <a:schemeClr val="accent5"/>
                </a:solidFill>
                <a:latin typeface="Lexend"/>
                <a:ea typeface="Lexend"/>
                <a:cs typeface="Lexend"/>
                <a:sym typeface="Lexend"/>
              </a:rPr>
              <a:t>three and a bit</a:t>
            </a:r>
            <a:r>
              <a:rPr lang="en-GB" sz="1800">
                <a:solidFill>
                  <a:schemeClr val="dk1"/>
                </a:solidFill>
                <a:latin typeface="Lexend"/>
                <a:ea typeface="Lexend"/>
                <a:cs typeface="Lexend"/>
                <a:sym typeface="Lexend"/>
              </a:rPr>
              <a:t> </a:t>
            </a:r>
            <a:r>
              <a:rPr b="1" lang="en-GB" sz="1800">
                <a:solidFill>
                  <a:schemeClr val="dk1"/>
                </a:solidFill>
                <a:latin typeface="Lexend"/>
                <a:ea typeface="Lexend"/>
                <a:cs typeface="Lexend"/>
                <a:sym typeface="Lexend"/>
              </a:rPr>
              <a:t>diameters</a:t>
            </a:r>
            <a:r>
              <a:rPr lang="en-GB" sz="1800">
                <a:solidFill>
                  <a:schemeClr val="dk1"/>
                </a:solidFill>
                <a:latin typeface="Lexend"/>
                <a:ea typeface="Lexend"/>
                <a:cs typeface="Lexend"/>
                <a:sym typeface="Lexend"/>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grpSp>
        <p:nvGrpSpPr>
          <p:cNvPr id="1191" name="Google Shape;1191;p93"/>
          <p:cNvGrpSpPr/>
          <p:nvPr/>
        </p:nvGrpSpPr>
        <p:grpSpPr>
          <a:xfrm>
            <a:off x="4425275" y="1609748"/>
            <a:ext cx="3179400" cy="3179400"/>
            <a:chOff x="4425275" y="1609748"/>
            <a:chExt cx="3179400" cy="3179400"/>
          </a:xfrm>
        </p:grpSpPr>
        <p:sp>
          <p:nvSpPr>
            <p:cNvPr id="1192" name="Google Shape;1192;p93"/>
            <p:cNvSpPr/>
            <p:nvPr/>
          </p:nvSpPr>
          <p:spPr>
            <a:xfrm>
              <a:off x="4425275" y="1609748"/>
              <a:ext cx="3179400" cy="31794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3" name="Google Shape;1193;p93"/>
            <p:cNvCxnSpPr>
              <a:stCxn id="1192" idx="2"/>
              <a:endCxn id="1192" idx="6"/>
            </p:cNvCxnSpPr>
            <p:nvPr/>
          </p:nvCxnSpPr>
          <p:spPr>
            <a:xfrm>
              <a:off x="4425275" y="3199448"/>
              <a:ext cx="3179400" cy="0"/>
            </a:xfrm>
            <a:prstGeom prst="straightConnector1">
              <a:avLst/>
            </a:prstGeom>
            <a:noFill/>
            <a:ln cap="flat" cmpd="sng" w="38100">
              <a:solidFill>
                <a:schemeClr val="dk1"/>
              </a:solidFill>
              <a:prstDash val="solid"/>
              <a:round/>
              <a:headEnd len="med" w="med" type="triangle"/>
              <a:tailEnd len="med" w="med" type="triangle"/>
            </a:ln>
          </p:spPr>
        </p:cxnSp>
      </p:grpSp>
      <p:grpSp>
        <p:nvGrpSpPr>
          <p:cNvPr id="1194" name="Google Shape;1194;p93"/>
          <p:cNvGrpSpPr/>
          <p:nvPr/>
        </p:nvGrpSpPr>
        <p:grpSpPr>
          <a:xfrm>
            <a:off x="4749275" y="1933748"/>
            <a:ext cx="2531400" cy="2531400"/>
            <a:chOff x="4749275" y="1933748"/>
            <a:chExt cx="2531400" cy="2531400"/>
          </a:xfrm>
        </p:grpSpPr>
        <p:sp>
          <p:nvSpPr>
            <p:cNvPr id="1195" name="Google Shape;1195;p93"/>
            <p:cNvSpPr/>
            <p:nvPr/>
          </p:nvSpPr>
          <p:spPr>
            <a:xfrm>
              <a:off x="4749275" y="1933748"/>
              <a:ext cx="2531400" cy="25314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6" name="Google Shape;1196;p93"/>
            <p:cNvCxnSpPr>
              <a:stCxn id="1195" idx="2"/>
              <a:endCxn id="1195" idx="6"/>
            </p:cNvCxnSpPr>
            <p:nvPr/>
          </p:nvCxnSpPr>
          <p:spPr>
            <a:xfrm>
              <a:off x="4749275" y="3199448"/>
              <a:ext cx="2531400" cy="0"/>
            </a:xfrm>
            <a:prstGeom prst="straightConnector1">
              <a:avLst/>
            </a:prstGeom>
            <a:noFill/>
            <a:ln cap="flat" cmpd="sng" w="38100">
              <a:solidFill>
                <a:schemeClr val="dk1"/>
              </a:solidFill>
              <a:prstDash val="solid"/>
              <a:round/>
              <a:headEnd len="med" w="med" type="triangle"/>
              <a:tailEnd len="med" w="med" type="triangle"/>
            </a:ln>
          </p:spPr>
        </p:cxnSp>
      </p:grpSp>
      <p:grpSp>
        <p:nvGrpSpPr>
          <p:cNvPr id="1197" name="Google Shape;1197;p93"/>
          <p:cNvGrpSpPr/>
          <p:nvPr/>
        </p:nvGrpSpPr>
        <p:grpSpPr>
          <a:xfrm>
            <a:off x="5060975" y="2254873"/>
            <a:ext cx="1908000" cy="1908000"/>
            <a:chOff x="5060975" y="2254873"/>
            <a:chExt cx="1908000" cy="1908000"/>
          </a:xfrm>
        </p:grpSpPr>
        <p:sp>
          <p:nvSpPr>
            <p:cNvPr id="1198" name="Google Shape;1198;p93"/>
            <p:cNvSpPr/>
            <p:nvPr/>
          </p:nvSpPr>
          <p:spPr>
            <a:xfrm>
              <a:off x="5060975" y="2254873"/>
              <a:ext cx="1908000" cy="1908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9" name="Google Shape;1199;p93"/>
            <p:cNvCxnSpPr>
              <a:stCxn id="1198" idx="2"/>
              <a:endCxn id="1198" idx="6"/>
            </p:cNvCxnSpPr>
            <p:nvPr/>
          </p:nvCxnSpPr>
          <p:spPr>
            <a:xfrm>
              <a:off x="5060975" y="3208873"/>
              <a:ext cx="1908000" cy="0"/>
            </a:xfrm>
            <a:prstGeom prst="straightConnector1">
              <a:avLst/>
            </a:prstGeom>
            <a:noFill/>
            <a:ln cap="flat" cmpd="sng" w="38100">
              <a:solidFill>
                <a:schemeClr val="dk1"/>
              </a:solidFill>
              <a:prstDash val="solid"/>
              <a:round/>
              <a:headEnd len="med" w="med" type="triangle"/>
              <a:tailEnd len="med" w="med" type="triangle"/>
            </a:ln>
          </p:spPr>
        </p:cxnSp>
      </p:grpSp>
      <p:grpSp>
        <p:nvGrpSpPr>
          <p:cNvPr id="1200" name="Google Shape;1200;p93"/>
          <p:cNvGrpSpPr/>
          <p:nvPr/>
        </p:nvGrpSpPr>
        <p:grpSpPr>
          <a:xfrm>
            <a:off x="5382425" y="2566898"/>
            <a:ext cx="1265100" cy="1265100"/>
            <a:chOff x="5382425" y="2566898"/>
            <a:chExt cx="1265100" cy="1265100"/>
          </a:xfrm>
        </p:grpSpPr>
        <p:sp>
          <p:nvSpPr>
            <p:cNvPr id="1201" name="Google Shape;1201;p93"/>
            <p:cNvSpPr/>
            <p:nvPr/>
          </p:nvSpPr>
          <p:spPr>
            <a:xfrm>
              <a:off x="5382425" y="2566898"/>
              <a:ext cx="1265100" cy="12651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02" name="Google Shape;1202;p93"/>
            <p:cNvCxnSpPr>
              <a:stCxn id="1201" idx="2"/>
              <a:endCxn id="1201" idx="6"/>
            </p:cNvCxnSpPr>
            <p:nvPr/>
          </p:nvCxnSpPr>
          <p:spPr>
            <a:xfrm>
              <a:off x="5382425" y="3199448"/>
              <a:ext cx="1265100" cy="0"/>
            </a:xfrm>
            <a:prstGeom prst="straightConnector1">
              <a:avLst/>
            </a:prstGeom>
            <a:noFill/>
            <a:ln cap="flat" cmpd="sng" w="38100">
              <a:solidFill>
                <a:schemeClr val="dk1"/>
              </a:solidFill>
              <a:prstDash val="solid"/>
              <a:round/>
              <a:headEnd len="med" w="med" type="triangle"/>
              <a:tailEnd len="med" w="med" type="triangle"/>
            </a:ln>
          </p:spPr>
        </p:cxnSp>
      </p:grpSp>
      <p:sp>
        <p:nvSpPr>
          <p:cNvPr id="1203" name="Google Shape;1203;p93"/>
          <p:cNvSpPr txBox="1"/>
          <p:nvPr>
            <p:ph idx="1" type="body"/>
          </p:nvPr>
        </p:nvSpPr>
        <p:spPr>
          <a:xfrm>
            <a:off x="324000" y="759300"/>
            <a:ext cx="8496000" cy="70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a:t>
            </a:r>
            <a:r>
              <a:rPr lang="en-GB" sz="2000"/>
              <a:t> uses a computer to draw circles and measure their </a:t>
            </a:r>
            <a:r>
              <a:rPr b="1" lang="en-GB" sz="2000"/>
              <a:t>circumference</a:t>
            </a:r>
            <a:r>
              <a:rPr lang="en-GB" sz="2000"/>
              <a:t> and </a:t>
            </a:r>
            <a:r>
              <a:rPr b="1" lang="en-GB" sz="2000"/>
              <a:t>diameter.</a:t>
            </a:r>
            <a:endParaRPr b="1" sz="2000"/>
          </a:p>
        </p:txBody>
      </p:sp>
      <p:sp>
        <p:nvSpPr>
          <p:cNvPr id="1204" name="Google Shape;1204;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graphicFrame>
        <p:nvGraphicFramePr>
          <p:cNvPr id="1205" name="Google Shape;1205;p93"/>
          <p:cNvGraphicFramePr/>
          <p:nvPr/>
        </p:nvGraphicFramePr>
        <p:xfrm>
          <a:off x="324000" y="1640863"/>
          <a:ext cx="3000000" cy="3000000"/>
        </p:xfrm>
        <a:graphic>
          <a:graphicData uri="http://schemas.openxmlformats.org/drawingml/2006/table">
            <a:tbl>
              <a:tblPr>
                <a:noFill/>
                <a:tableStyleId>{94F43EAD-AA21-4773-A439-60C7A0E335FF}</a:tableStyleId>
              </a:tblPr>
              <a:tblGrid>
                <a:gridCol w="1129075"/>
                <a:gridCol w="1730775"/>
              </a:tblGrid>
              <a:tr h="508775">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diameter</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circumference</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06" name="Google Shape;1206;p93"/>
          <p:cNvSpPr txBox="1"/>
          <p:nvPr>
            <p:ph idx="1" type="body"/>
          </p:nvPr>
        </p:nvSpPr>
        <p:spPr>
          <a:xfrm>
            <a:off x="420616" y="231803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sp>
        <p:nvSpPr>
          <p:cNvPr id="1207" name="Google Shape;1207;p93"/>
          <p:cNvSpPr txBox="1"/>
          <p:nvPr>
            <p:ph idx="1" type="body"/>
          </p:nvPr>
        </p:nvSpPr>
        <p:spPr>
          <a:xfrm>
            <a:off x="420630" y="2775225"/>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1208" name="Google Shape;1208;p93"/>
          <p:cNvSpPr txBox="1"/>
          <p:nvPr>
            <p:ph idx="1" type="body"/>
          </p:nvPr>
        </p:nvSpPr>
        <p:spPr>
          <a:xfrm>
            <a:off x="420630" y="3240929"/>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a:t>
            </a:r>
            <a:endParaRPr sz="1600"/>
          </a:p>
        </p:txBody>
      </p:sp>
      <p:sp>
        <p:nvSpPr>
          <p:cNvPr id="1209" name="Google Shape;1209;p93"/>
          <p:cNvSpPr txBox="1"/>
          <p:nvPr>
            <p:ph idx="1" type="body"/>
          </p:nvPr>
        </p:nvSpPr>
        <p:spPr>
          <a:xfrm>
            <a:off x="420630" y="37151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endParaRPr sz="1600"/>
          </a:p>
        </p:txBody>
      </p:sp>
      <p:sp>
        <p:nvSpPr>
          <p:cNvPr id="1210" name="Google Shape;1210;p93"/>
          <p:cNvSpPr txBox="1"/>
          <p:nvPr>
            <p:ph idx="1" type="body"/>
          </p:nvPr>
        </p:nvSpPr>
        <p:spPr>
          <a:xfrm>
            <a:off x="420630" y="41723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a:t>
            </a:r>
            <a:endParaRPr sz="1600"/>
          </a:p>
        </p:txBody>
      </p:sp>
      <p:sp>
        <p:nvSpPr>
          <p:cNvPr id="1211" name="Google Shape;1211;p93"/>
          <p:cNvSpPr txBox="1"/>
          <p:nvPr>
            <p:ph idx="1" type="body"/>
          </p:nvPr>
        </p:nvSpPr>
        <p:spPr>
          <a:xfrm>
            <a:off x="1546690" y="2318025"/>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3.141592654</a:t>
            </a:r>
            <a:endParaRPr sz="1600"/>
          </a:p>
        </p:txBody>
      </p:sp>
      <p:sp>
        <p:nvSpPr>
          <p:cNvPr id="1212" name="Google Shape;1212;p93"/>
          <p:cNvSpPr txBox="1"/>
          <p:nvPr>
            <p:ph idx="1" type="body"/>
          </p:nvPr>
        </p:nvSpPr>
        <p:spPr>
          <a:xfrm>
            <a:off x="1546690" y="27837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6.283185307</a:t>
            </a:r>
            <a:endParaRPr sz="1600"/>
          </a:p>
        </p:txBody>
      </p:sp>
      <p:sp>
        <p:nvSpPr>
          <p:cNvPr id="1213" name="Google Shape;1213;p93"/>
          <p:cNvSpPr txBox="1"/>
          <p:nvPr>
            <p:ph idx="1" type="body"/>
          </p:nvPr>
        </p:nvSpPr>
        <p:spPr>
          <a:xfrm>
            <a:off x="1546690" y="32409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9.424777961</a:t>
            </a:r>
            <a:endParaRPr sz="1600"/>
          </a:p>
        </p:txBody>
      </p:sp>
      <p:sp>
        <p:nvSpPr>
          <p:cNvPr id="1214" name="Google Shape;1214;p93"/>
          <p:cNvSpPr txBox="1"/>
          <p:nvPr>
            <p:ph idx="1" type="body"/>
          </p:nvPr>
        </p:nvSpPr>
        <p:spPr>
          <a:xfrm>
            <a:off x="1546690" y="37151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12.56637061</a:t>
            </a:r>
            <a:endParaRPr sz="1600"/>
          </a:p>
        </p:txBody>
      </p:sp>
      <p:sp>
        <p:nvSpPr>
          <p:cNvPr id="1215" name="Google Shape;1215;p93"/>
          <p:cNvSpPr txBox="1"/>
          <p:nvPr>
            <p:ph idx="1" type="body"/>
          </p:nvPr>
        </p:nvSpPr>
        <p:spPr>
          <a:xfrm>
            <a:off x="1546690" y="41723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15.70796327</a:t>
            </a:r>
            <a:endParaRPr sz="1600"/>
          </a:p>
        </p:txBody>
      </p:sp>
      <p:grpSp>
        <p:nvGrpSpPr>
          <p:cNvPr id="1216" name="Google Shape;1216;p93"/>
          <p:cNvGrpSpPr/>
          <p:nvPr/>
        </p:nvGrpSpPr>
        <p:grpSpPr>
          <a:xfrm>
            <a:off x="5698625" y="2892523"/>
            <a:ext cx="632700" cy="632700"/>
            <a:chOff x="5698625" y="2892523"/>
            <a:chExt cx="632700" cy="632700"/>
          </a:xfrm>
        </p:grpSpPr>
        <p:sp>
          <p:nvSpPr>
            <p:cNvPr id="1217" name="Google Shape;1217;p93"/>
            <p:cNvSpPr/>
            <p:nvPr/>
          </p:nvSpPr>
          <p:spPr>
            <a:xfrm>
              <a:off x="5698625" y="2892523"/>
              <a:ext cx="632700" cy="6327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8" name="Google Shape;1218;p93"/>
            <p:cNvCxnSpPr>
              <a:stCxn id="1217" idx="2"/>
              <a:endCxn id="1217" idx="6"/>
            </p:cNvCxnSpPr>
            <p:nvPr/>
          </p:nvCxnSpPr>
          <p:spPr>
            <a:xfrm>
              <a:off x="5698625" y="3208873"/>
              <a:ext cx="632700" cy="0"/>
            </a:xfrm>
            <a:prstGeom prst="straightConnector1">
              <a:avLst/>
            </a:prstGeom>
            <a:noFill/>
            <a:ln cap="flat" cmpd="sng" w="38100">
              <a:solidFill>
                <a:schemeClr val="dk1"/>
              </a:solidFill>
              <a:prstDash val="solid"/>
              <a:round/>
              <a:headEnd len="med" w="med" type="triangle"/>
              <a:tailEnd len="med" w="med" type="triangle"/>
            </a:ln>
          </p:spPr>
        </p:cxnSp>
      </p:grpSp>
      <p:sp>
        <p:nvSpPr>
          <p:cNvPr id="1219" name="Google Shape;1219;p93"/>
          <p:cNvSpPr txBox="1"/>
          <p:nvPr>
            <p:ph idx="1" type="body"/>
          </p:nvPr>
        </p:nvSpPr>
        <p:spPr>
          <a:xfrm>
            <a:off x="5962465" y="318708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sp>
        <p:nvSpPr>
          <p:cNvPr id="1220" name="Google Shape;1220;p93"/>
          <p:cNvSpPr txBox="1"/>
          <p:nvPr>
            <p:ph idx="1" type="body"/>
          </p:nvPr>
        </p:nvSpPr>
        <p:spPr>
          <a:xfrm>
            <a:off x="5962465" y="318708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1221" name="Google Shape;1221;p93"/>
          <p:cNvSpPr txBox="1"/>
          <p:nvPr>
            <p:ph idx="1" type="body"/>
          </p:nvPr>
        </p:nvSpPr>
        <p:spPr>
          <a:xfrm>
            <a:off x="5962465" y="318708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a:t>
            </a:r>
            <a:endParaRPr sz="1600"/>
          </a:p>
        </p:txBody>
      </p:sp>
      <p:sp>
        <p:nvSpPr>
          <p:cNvPr id="1222" name="Google Shape;1222;p93"/>
          <p:cNvSpPr txBox="1"/>
          <p:nvPr>
            <p:ph idx="1" type="body"/>
          </p:nvPr>
        </p:nvSpPr>
        <p:spPr>
          <a:xfrm>
            <a:off x="5962465" y="318708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endParaRPr sz="1600"/>
          </a:p>
        </p:txBody>
      </p:sp>
      <p:sp>
        <p:nvSpPr>
          <p:cNvPr id="1223" name="Google Shape;1223;p93"/>
          <p:cNvSpPr txBox="1"/>
          <p:nvPr>
            <p:ph idx="1" type="body"/>
          </p:nvPr>
        </p:nvSpPr>
        <p:spPr>
          <a:xfrm>
            <a:off x="5962465" y="318708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a:t>
            </a:r>
            <a:endParaRPr sz="1600"/>
          </a:p>
        </p:txBody>
      </p:sp>
      <p:sp>
        <p:nvSpPr>
          <p:cNvPr id="1224" name="Google Shape;1224;p93"/>
          <p:cNvSpPr txBox="1"/>
          <p:nvPr>
            <p:ph idx="1" type="body"/>
          </p:nvPr>
        </p:nvSpPr>
        <p:spPr>
          <a:xfrm>
            <a:off x="6363041" y="2758823"/>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3.141592654</a:t>
            </a:r>
            <a:endParaRPr sz="1600"/>
          </a:p>
        </p:txBody>
      </p:sp>
      <p:sp>
        <p:nvSpPr>
          <p:cNvPr id="1225" name="Google Shape;1225;p93"/>
          <p:cNvSpPr txBox="1"/>
          <p:nvPr>
            <p:ph idx="1" type="body"/>
          </p:nvPr>
        </p:nvSpPr>
        <p:spPr>
          <a:xfrm>
            <a:off x="6575890" y="2485155"/>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6.283185307</a:t>
            </a:r>
            <a:endParaRPr sz="1600"/>
          </a:p>
        </p:txBody>
      </p:sp>
      <p:sp>
        <p:nvSpPr>
          <p:cNvPr id="1226" name="Google Shape;1226;p93"/>
          <p:cNvSpPr txBox="1"/>
          <p:nvPr>
            <p:ph idx="1" type="body"/>
          </p:nvPr>
        </p:nvSpPr>
        <p:spPr>
          <a:xfrm>
            <a:off x="6728290" y="223015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9.424777961</a:t>
            </a:r>
            <a:endParaRPr sz="1600"/>
          </a:p>
        </p:txBody>
      </p:sp>
      <p:sp>
        <p:nvSpPr>
          <p:cNvPr id="1227" name="Google Shape;1227;p93"/>
          <p:cNvSpPr txBox="1"/>
          <p:nvPr>
            <p:ph idx="1" type="body"/>
          </p:nvPr>
        </p:nvSpPr>
        <p:spPr>
          <a:xfrm>
            <a:off x="6950664" y="197498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12.56637061</a:t>
            </a:r>
            <a:endParaRPr sz="1600"/>
          </a:p>
        </p:txBody>
      </p:sp>
      <p:sp>
        <p:nvSpPr>
          <p:cNvPr id="1228" name="Google Shape;1228;p93"/>
          <p:cNvSpPr txBox="1"/>
          <p:nvPr>
            <p:ph idx="1" type="body"/>
          </p:nvPr>
        </p:nvSpPr>
        <p:spPr>
          <a:xfrm>
            <a:off x="7210392" y="1747883"/>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15.70796327</a:t>
            </a:r>
            <a:endParaRPr sz="1600"/>
          </a:p>
        </p:txBody>
      </p:sp>
      <p:cxnSp>
        <p:nvCxnSpPr>
          <p:cNvPr id="1229" name="Google Shape;1229;p93"/>
          <p:cNvCxnSpPr>
            <a:stCxn id="1224" idx="1"/>
          </p:cNvCxnSpPr>
          <p:nvPr/>
        </p:nvCxnSpPr>
        <p:spPr>
          <a:xfrm flipH="1">
            <a:off x="6210941" y="2885723"/>
            <a:ext cx="152100" cy="32400"/>
          </a:xfrm>
          <a:prstGeom prst="straightConnector1">
            <a:avLst/>
          </a:prstGeom>
          <a:noFill/>
          <a:ln cap="flat" cmpd="sng" w="28575">
            <a:solidFill>
              <a:schemeClr val="dk1"/>
            </a:solidFill>
            <a:prstDash val="solid"/>
            <a:round/>
            <a:headEnd len="med" w="med" type="none"/>
            <a:tailEnd len="med" w="med" type="none"/>
          </a:ln>
        </p:spPr>
      </p:cxnSp>
      <p:cxnSp>
        <p:nvCxnSpPr>
          <p:cNvPr id="1230" name="Google Shape;1230;p93"/>
          <p:cNvCxnSpPr/>
          <p:nvPr/>
        </p:nvCxnSpPr>
        <p:spPr>
          <a:xfrm flipH="1">
            <a:off x="6420785" y="2637192"/>
            <a:ext cx="152100" cy="32400"/>
          </a:xfrm>
          <a:prstGeom prst="straightConnector1">
            <a:avLst/>
          </a:prstGeom>
          <a:noFill/>
          <a:ln cap="flat" cmpd="sng" w="28575">
            <a:solidFill>
              <a:schemeClr val="dk1"/>
            </a:solidFill>
            <a:prstDash val="solid"/>
            <a:round/>
            <a:headEnd len="med" w="med" type="none"/>
            <a:tailEnd len="med" w="med" type="none"/>
          </a:ln>
        </p:spPr>
      </p:cxnSp>
      <p:cxnSp>
        <p:nvCxnSpPr>
          <p:cNvPr id="1231" name="Google Shape;1231;p93"/>
          <p:cNvCxnSpPr/>
          <p:nvPr/>
        </p:nvCxnSpPr>
        <p:spPr>
          <a:xfrm flipH="1">
            <a:off x="6579838" y="2369283"/>
            <a:ext cx="152100" cy="32400"/>
          </a:xfrm>
          <a:prstGeom prst="straightConnector1">
            <a:avLst/>
          </a:prstGeom>
          <a:noFill/>
          <a:ln cap="flat" cmpd="sng" w="28575">
            <a:solidFill>
              <a:schemeClr val="dk1"/>
            </a:solidFill>
            <a:prstDash val="solid"/>
            <a:round/>
            <a:headEnd len="med" w="med" type="none"/>
            <a:tailEnd len="med" w="med" type="none"/>
          </a:ln>
        </p:spPr>
      </p:cxnSp>
      <p:cxnSp>
        <p:nvCxnSpPr>
          <p:cNvPr id="1232" name="Google Shape;1232;p93"/>
          <p:cNvCxnSpPr/>
          <p:nvPr/>
        </p:nvCxnSpPr>
        <p:spPr>
          <a:xfrm flipH="1">
            <a:off x="6814485" y="2143706"/>
            <a:ext cx="152100" cy="32400"/>
          </a:xfrm>
          <a:prstGeom prst="straightConnector1">
            <a:avLst/>
          </a:prstGeom>
          <a:noFill/>
          <a:ln cap="flat" cmpd="sng" w="28575">
            <a:solidFill>
              <a:schemeClr val="dk1"/>
            </a:solidFill>
            <a:prstDash val="solid"/>
            <a:round/>
            <a:headEnd len="med" w="med" type="none"/>
            <a:tailEnd len="med" w="med" type="none"/>
          </a:ln>
        </p:spPr>
      </p:cxnSp>
      <p:cxnSp>
        <p:nvCxnSpPr>
          <p:cNvPr id="1233" name="Google Shape;1233;p93"/>
          <p:cNvCxnSpPr/>
          <p:nvPr/>
        </p:nvCxnSpPr>
        <p:spPr>
          <a:xfrm flipH="1">
            <a:off x="7058204" y="1924178"/>
            <a:ext cx="152100" cy="32400"/>
          </a:xfrm>
          <a:prstGeom prst="straightConnector1">
            <a:avLst/>
          </a:prstGeom>
          <a:noFill/>
          <a:ln cap="flat" cmpd="sng" w="28575">
            <a:solidFill>
              <a:schemeClr val="dk1"/>
            </a:solidFill>
            <a:prstDash val="solid"/>
            <a:round/>
            <a:headEnd len="med" w="med" type="none"/>
            <a:tailEnd len="med" w="med" type="none"/>
          </a:ln>
        </p:spPr>
      </p:cxnSp>
      <p:pic>
        <p:nvPicPr>
          <p:cNvPr id="1234" name="Google Shape;1234;p93"/>
          <p:cNvPicPr preferRelativeResize="0"/>
          <p:nvPr/>
        </p:nvPicPr>
        <p:blipFill>
          <a:blip r:embed="rId3">
            <a:alphaModFix/>
          </a:blip>
          <a:stretch>
            <a:fillRect/>
          </a:stretch>
        </p:blipFill>
        <p:spPr>
          <a:xfrm>
            <a:off x="7822933" y="3417700"/>
            <a:ext cx="967166" cy="935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1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1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2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0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2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3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2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3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2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3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pic>
        <p:nvPicPr>
          <p:cNvPr id="1239" name="Google Shape;1239;p94"/>
          <p:cNvPicPr preferRelativeResize="0"/>
          <p:nvPr/>
        </p:nvPicPr>
        <p:blipFill rotWithShape="1">
          <a:blip r:embed="rId3">
            <a:alphaModFix/>
          </a:blip>
          <a:srcRect b="4760" l="40550" r="0" t="13015"/>
          <a:stretch/>
        </p:blipFill>
        <p:spPr>
          <a:xfrm flipH="1">
            <a:off x="4458325" y="1416300"/>
            <a:ext cx="4072325" cy="2392299"/>
          </a:xfrm>
          <a:prstGeom prst="rect">
            <a:avLst/>
          </a:prstGeom>
          <a:noFill/>
          <a:ln>
            <a:noFill/>
          </a:ln>
        </p:spPr>
      </p:pic>
      <p:sp>
        <p:nvSpPr>
          <p:cNvPr id="1240" name="Google Shape;1240;p94"/>
          <p:cNvSpPr txBox="1"/>
          <p:nvPr>
            <p:ph idx="1" type="body"/>
          </p:nvPr>
        </p:nvSpPr>
        <p:spPr>
          <a:xfrm>
            <a:off x="324000" y="759300"/>
            <a:ext cx="8496000" cy="70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a:t>
            </a:r>
            <a:r>
              <a:rPr lang="en-GB" sz="2000"/>
              <a:t> uses a computer to draw circles and measure their </a:t>
            </a:r>
            <a:r>
              <a:rPr b="1" lang="en-GB" sz="2000"/>
              <a:t>circumference</a:t>
            </a:r>
            <a:r>
              <a:rPr lang="en-GB" sz="2000"/>
              <a:t> and </a:t>
            </a:r>
            <a:r>
              <a:rPr b="1" lang="en-GB" sz="2000"/>
              <a:t>diameter.</a:t>
            </a:r>
            <a:endParaRPr b="1" sz="2000"/>
          </a:p>
        </p:txBody>
      </p:sp>
      <p:sp>
        <p:nvSpPr>
          <p:cNvPr id="1241" name="Google Shape;1241;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graphicFrame>
        <p:nvGraphicFramePr>
          <p:cNvPr id="1242" name="Google Shape;1242;p94"/>
          <p:cNvGraphicFramePr/>
          <p:nvPr/>
        </p:nvGraphicFramePr>
        <p:xfrm>
          <a:off x="324000" y="1640863"/>
          <a:ext cx="3000000" cy="3000000"/>
        </p:xfrm>
        <a:graphic>
          <a:graphicData uri="http://schemas.openxmlformats.org/drawingml/2006/table">
            <a:tbl>
              <a:tblPr>
                <a:noFill/>
                <a:tableStyleId>{94F43EAD-AA21-4773-A439-60C7A0E335FF}</a:tableStyleId>
              </a:tblPr>
              <a:tblGrid>
                <a:gridCol w="1129075"/>
                <a:gridCol w="1730775"/>
              </a:tblGrid>
              <a:tr h="508775">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diameter</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circumference</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43" name="Google Shape;1243;p94"/>
          <p:cNvSpPr txBox="1"/>
          <p:nvPr>
            <p:ph idx="1" type="body"/>
          </p:nvPr>
        </p:nvSpPr>
        <p:spPr>
          <a:xfrm>
            <a:off x="420616" y="231803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sp>
        <p:nvSpPr>
          <p:cNvPr id="1244" name="Google Shape;1244;p94"/>
          <p:cNvSpPr txBox="1"/>
          <p:nvPr>
            <p:ph idx="1" type="body"/>
          </p:nvPr>
        </p:nvSpPr>
        <p:spPr>
          <a:xfrm>
            <a:off x="420630" y="2775225"/>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1245" name="Google Shape;1245;p94"/>
          <p:cNvSpPr txBox="1"/>
          <p:nvPr>
            <p:ph idx="1" type="body"/>
          </p:nvPr>
        </p:nvSpPr>
        <p:spPr>
          <a:xfrm>
            <a:off x="420630" y="3240929"/>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a:t>
            </a:r>
            <a:endParaRPr sz="1600"/>
          </a:p>
        </p:txBody>
      </p:sp>
      <p:sp>
        <p:nvSpPr>
          <p:cNvPr id="1246" name="Google Shape;1246;p94"/>
          <p:cNvSpPr txBox="1"/>
          <p:nvPr>
            <p:ph idx="1" type="body"/>
          </p:nvPr>
        </p:nvSpPr>
        <p:spPr>
          <a:xfrm>
            <a:off x="420630" y="37151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endParaRPr sz="1600"/>
          </a:p>
        </p:txBody>
      </p:sp>
      <p:sp>
        <p:nvSpPr>
          <p:cNvPr id="1247" name="Google Shape;1247;p94"/>
          <p:cNvSpPr txBox="1"/>
          <p:nvPr>
            <p:ph idx="1" type="body"/>
          </p:nvPr>
        </p:nvSpPr>
        <p:spPr>
          <a:xfrm>
            <a:off x="420630" y="41723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a:t>
            </a:r>
            <a:endParaRPr sz="1600"/>
          </a:p>
        </p:txBody>
      </p:sp>
      <p:sp>
        <p:nvSpPr>
          <p:cNvPr id="1248" name="Google Shape;1248;p94"/>
          <p:cNvSpPr txBox="1"/>
          <p:nvPr>
            <p:ph idx="1" type="body"/>
          </p:nvPr>
        </p:nvSpPr>
        <p:spPr>
          <a:xfrm>
            <a:off x="1546690" y="2318025"/>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3.141592654</a:t>
            </a:r>
            <a:endParaRPr sz="1600"/>
          </a:p>
        </p:txBody>
      </p:sp>
      <p:sp>
        <p:nvSpPr>
          <p:cNvPr id="1249" name="Google Shape;1249;p94"/>
          <p:cNvSpPr txBox="1"/>
          <p:nvPr>
            <p:ph idx="1" type="body"/>
          </p:nvPr>
        </p:nvSpPr>
        <p:spPr>
          <a:xfrm>
            <a:off x="1546690" y="27837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6.283185307</a:t>
            </a:r>
            <a:endParaRPr sz="1600"/>
          </a:p>
        </p:txBody>
      </p:sp>
      <p:sp>
        <p:nvSpPr>
          <p:cNvPr id="1250" name="Google Shape;1250;p94"/>
          <p:cNvSpPr txBox="1"/>
          <p:nvPr>
            <p:ph idx="1" type="body"/>
          </p:nvPr>
        </p:nvSpPr>
        <p:spPr>
          <a:xfrm>
            <a:off x="1546690" y="32409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9.424777961</a:t>
            </a:r>
            <a:endParaRPr sz="1600"/>
          </a:p>
        </p:txBody>
      </p:sp>
      <p:sp>
        <p:nvSpPr>
          <p:cNvPr id="1251" name="Google Shape;1251;p94"/>
          <p:cNvSpPr txBox="1"/>
          <p:nvPr>
            <p:ph idx="1" type="body"/>
          </p:nvPr>
        </p:nvSpPr>
        <p:spPr>
          <a:xfrm>
            <a:off x="1546690" y="37151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12.56637061</a:t>
            </a:r>
            <a:endParaRPr sz="1600"/>
          </a:p>
        </p:txBody>
      </p:sp>
      <p:sp>
        <p:nvSpPr>
          <p:cNvPr id="1252" name="Google Shape;1252;p94"/>
          <p:cNvSpPr txBox="1"/>
          <p:nvPr>
            <p:ph idx="1" type="body"/>
          </p:nvPr>
        </p:nvSpPr>
        <p:spPr>
          <a:xfrm>
            <a:off x="1546690" y="41723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15.70796327</a:t>
            </a:r>
            <a:endParaRPr sz="1600"/>
          </a:p>
        </p:txBody>
      </p:sp>
      <p:sp>
        <p:nvSpPr>
          <p:cNvPr id="1253" name="Google Shape;1253;p94"/>
          <p:cNvSpPr txBox="1"/>
          <p:nvPr/>
        </p:nvSpPr>
        <p:spPr>
          <a:xfrm>
            <a:off x="4495800" y="1524000"/>
            <a:ext cx="3929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values for </a:t>
            </a:r>
            <a:r>
              <a:rPr b="1" lang="en-GB" sz="1800">
                <a:solidFill>
                  <a:schemeClr val="dk1"/>
                </a:solidFill>
                <a:latin typeface="Lexend"/>
                <a:ea typeface="Lexend"/>
                <a:cs typeface="Lexend"/>
                <a:sym typeface="Lexend"/>
              </a:rPr>
              <a:t>circumference</a:t>
            </a:r>
            <a:r>
              <a:rPr lang="en-GB" sz="1800">
                <a:solidFill>
                  <a:schemeClr val="dk1"/>
                </a:solidFill>
                <a:latin typeface="Lexend"/>
                <a:ea typeface="Lexend"/>
                <a:cs typeface="Lexend"/>
                <a:sym typeface="Lexend"/>
              </a:rPr>
              <a:t> in this table have been rounded. </a:t>
            </a:r>
            <a:endParaRPr/>
          </a:p>
        </p:txBody>
      </p:sp>
      <p:sp>
        <p:nvSpPr>
          <p:cNvPr id="1254" name="Google Shape;1254;p94"/>
          <p:cNvSpPr txBox="1"/>
          <p:nvPr/>
        </p:nvSpPr>
        <p:spPr>
          <a:xfrm>
            <a:off x="4504000" y="2271350"/>
            <a:ext cx="39294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numbers that the computer showed had a lot more digits than these.</a:t>
            </a:r>
            <a:endParaRPr>
              <a:solidFill>
                <a:schemeClr val="dk1"/>
              </a:solidFill>
            </a:endParaRPr>
          </a:p>
        </p:txBody>
      </p:sp>
      <p:pic>
        <p:nvPicPr>
          <p:cNvPr id="1255" name="Google Shape;1255;p94"/>
          <p:cNvPicPr preferRelativeResize="0"/>
          <p:nvPr/>
        </p:nvPicPr>
        <p:blipFill>
          <a:blip r:embed="rId4">
            <a:alphaModFix/>
          </a:blip>
          <a:stretch>
            <a:fillRect/>
          </a:stretch>
        </p:blipFill>
        <p:spPr>
          <a:xfrm>
            <a:off x="7822933" y="3417700"/>
            <a:ext cx="967166" cy="935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graphicFrame>
        <p:nvGraphicFramePr>
          <p:cNvPr id="1261" name="Google Shape;1261;p95"/>
          <p:cNvGraphicFramePr/>
          <p:nvPr/>
        </p:nvGraphicFramePr>
        <p:xfrm>
          <a:off x="324000" y="1640863"/>
          <a:ext cx="3000000" cy="3000000"/>
        </p:xfrm>
        <a:graphic>
          <a:graphicData uri="http://schemas.openxmlformats.org/drawingml/2006/table">
            <a:tbl>
              <a:tblPr>
                <a:noFill/>
                <a:tableStyleId>{94F43EAD-AA21-4773-A439-60C7A0E335FF}</a:tableStyleId>
              </a:tblPr>
              <a:tblGrid>
                <a:gridCol w="1129075"/>
                <a:gridCol w="1730775"/>
              </a:tblGrid>
              <a:tr h="508775">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diameter</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circumference</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62" name="Google Shape;1262;p95"/>
          <p:cNvSpPr txBox="1"/>
          <p:nvPr>
            <p:ph idx="1" type="body"/>
          </p:nvPr>
        </p:nvSpPr>
        <p:spPr>
          <a:xfrm>
            <a:off x="420616" y="231803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sp>
        <p:nvSpPr>
          <p:cNvPr id="1263" name="Google Shape;1263;p95"/>
          <p:cNvSpPr txBox="1"/>
          <p:nvPr>
            <p:ph idx="1" type="body"/>
          </p:nvPr>
        </p:nvSpPr>
        <p:spPr>
          <a:xfrm>
            <a:off x="420630" y="2775225"/>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1264" name="Google Shape;1264;p95"/>
          <p:cNvSpPr txBox="1"/>
          <p:nvPr>
            <p:ph idx="1" type="body"/>
          </p:nvPr>
        </p:nvSpPr>
        <p:spPr>
          <a:xfrm>
            <a:off x="420630" y="3240929"/>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a:t>
            </a:r>
            <a:endParaRPr sz="1600"/>
          </a:p>
        </p:txBody>
      </p:sp>
      <p:sp>
        <p:nvSpPr>
          <p:cNvPr id="1265" name="Google Shape;1265;p95"/>
          <p:cNvSpPr txBox="1"/>
          <p:nvPr>
            <p:ph idx="1" type="body"/>
          </p:nvPr>
        </p:nvSpPr>
        <p:spPr>
          <a:xfrm>
            <a:off x="420630" y="37151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endParaRPr sz="1600"/>
          </a:p>
        </p:txBody>
      </p:sp>
      <p:sp>
        <p:nvSpPr>
          <p:cNvPr id="1266" name="Google Shape;1266;p95"/>
          <p:cNvSpPr txBox="1"/>
          <p:nvPr>
            <p:ph idx="1" type="body"/>
          </p:nvPr>
        </p:nvSpPr>
        <p:spPr>
          <a:xfrm>
            <a:off x="420630" y="41723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a:t>
            </a:r>
            <a:endParaRPr sz="1600"/>
          </a:p>
        </p:txBody>
      </p:sp>
      <p:sp>
        <p:nvSpPr>
          <p:cNvPr id="1267" name="Google Shape;1267;p95"/>
          <p:cNvSpPr txBox="1"/>
          <p:nvPr>
            <p:ph idx="1" type="body"/>
          </p:nvPr>
        </p:nvSpPr>
        <p:spPr>
          <a:xfrm>
            <a:off x="1546690" y="2318025"/>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3.14159265</a:t>
            </a:r>
            <a:r>
              <a:rPr lang="en-GB" sz="1600"/>
              <a:t>…</a:t>
            </a:r>
            <a:endParaRPr sz="1600"/>
          </a:p>
        </p:txBody>
      </p:sp>
      <p:sp>
        <p:nvSpPr>
          <p:cNvPr id="1268" name="Google Shape;1268;p95"/>
          <p:cNvSpPr txBox="1"/>
          <p:nvPr>
            <p:ph idx="1" type="body"/>
          </p:nvPr>
        </p:nvSpPr>
        <p:spPr>
          <a:xfrm>
            <a:off x="1546690" y="27837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6.28318530</a:t>
            </a:r>
            <a:r>
              <a:rPr lang="en-GB" sz="1600"/>
              <a:t>…</a:t>
            </a:r>
            <a:endParaRPr sz="1600"/>
          </a:p>
        </p:txBody>
      </p:sp>
      <p:sp>
        <p:nvSpPr>
          <p:cNvPr id="1269" name="Google Shape;1269;p95"/>
          <p:cNvSpPr txBox="1"/>
          <p:nvPr>
            <p:ph idx="1" type="body"/>
          </p:nvPr>
        </p:nvSpPr>
        <p:spPr>
          <a:xfrm>
            <a:off x="1546690" y="32409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9.42477796</a:t>
            </a:r>
            <a:r>
              <a:rPr lang="en-GB" sz="1600"/>
              <a:t>…</a:t>
            </a:r>
            <a:endParaRPr sz="1600"/>
          </a:p>
        </p:txBody>
      </p:sp>
      <p:sp>
        <p:nvSpPr>
          <p:cNvPr id="1270" name="Google Shape;1270;p95"/>
          <p:cNvSpPr txBox="1"/>
          <p:nvPr>
            <p:ph idx="1" type="body"/>
          </p:nvPr>
        </p:nvSpPr>
        <p:spPr>
          <a:xfrm>
            <a:off x="1546690" y="37151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12.5663706</a:t>
            </a:r>
            <a:r>
              <a:rPr lang="en-GB" sz="1600"/>
              <a:t>…</a:t>
            </a:r>
            <a:endParaRPr sz="1600"/>
          </a:p>
        </p:txBody>
      </p:sp>
      <p:sp>
        <p:nvSpPr>
          <p:cNvPr id="1271" name="Google Shape;1271;p95"/>
          <p:cNvSpPr txBox="1"/>
          <p:nvPr>
            <p:ph idx="1" type="body"/>
          </p:nvPr>
        </p:nvSpPr>
        <p:spPr>
          <a:xfrm>
            <a:off x="1546690" y="41723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15.7079632</a:t>
            </a:r>
            <a:r>
              <a:rPr lang="en-GB" sz="1600"/>
              <a:t>…</a:t>
            </a:r>
            <a:endParaRPr sz="1600"/>
          </a:p>
        </p:txBody>
      </p:sp>
      <p:pic>
        <p:nvPicPr>
          <p:cNvPr id="1272" name="Google Shape;1272;p95"/>
          <p:cNvPicPr preferRelativeResize="0"/>
          <p:nvPr/>
        </p:nvPicPr>
        <p:blipFill rotWithShape="1">
          <a:blip r:embed="rId3">
            <a:alphaModFix/>
          </a:blip>
          <a:srcRect b="4760" l="40550" r="0" t="13015"/>
          <a:stretch/>
        </p:blipFill>
        <p:spPr>
          <a:xfrm flipH="1">
            <a:off x="5125127" y="1923850"/>
            <a:ext cx="3347098" cy="1805400"/>
          </a:xfrm>
          <a:prstGeom prst="rect">
            <a:avLst/>
          </a:prstGeom>
          <a:noFill/>
          <a:ln>
            <a:noFill/>
          </a:ln>
        </p:spPr>
      </p:pic>
      <p:sp>
        <p:nvSpPr>
          <p:cNvPr id="1273" name="Google Shape;1273;p95"/>
          <p:cNvSpPr txBox="1"/>
          <p:nvPr>
            <p:ph idx="1" type="body"/>
          </p:nvPr>
        </p:nvSpPr>
        <p:spPr>
          <a:xfrm>
            <a:off x="5289750" y="2219100"/>
            <a:ext cx="2859900" cy="942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t>
            </a:r>
            <a:r>
              <a:rPr b="1" lang="en-GB" sz="1800"/>
              <a:t>circumference </a:t>
            </a:r>
            <a:r>
              <a:rPr lang="en-GB" sz="1800"/>
              <a:t>looks like it</a:t>
            </a:r>
            <a:r>
              <a:rPr b="1" lang="en-GB" sz="1800"/>
              <a:t> </a:t>
            </a:r>
            <a:r>
              <a:rPr lang="en-GB" sz="1800"/>
              <a:t>is increasing by a constant difference.</a:t>
            </a:r>
            <a:endParaRPr b="1" sz="1800"/>
          </a:p>
        </p:txBody>
      </p:sp>
      <p:sp>
        <p:nvSpPr>
          <p:cNvPr id="1274" name="Google Shape;1274;p95"/>
          <p:cNvSpPr txBox="1"/>
          <p:nvPr>
            <p:ph idx="1" type="body"/>
          </p:nvPr>
        </p:nvSpPr>
        <p:spPr>
          <a:xfrm>
            <a:off x="324000" y="759300"/>
            <a:ext cx="8496000" cy="70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 uses a computer to draw circles and measure their </a:t>
            </a:r>
            <a:r>
              <a:rPr b="1" lang="en-GB" sz="2000"/>
              <a:t>circumference</a:t>
            </a:r>
            <a:r>
              <a:rPr lang="en-GB" sz="2000"/>
              <a:t> and </a:t>
            </a:r>
            <a:r>
              <a:rPr b="1" lang="en-GB" sz="2000"/>
              <a:t>diameter.</a:t>
            </a:r>
            <a:endParaRPr b="1" sz="2000"/>
          </a:p>
        </p:txBody>
      </p:sp>
      <p:pic>
        <p:nvPicPr>
          <p:cNvPr id="1275" name="Google Shape;1275;p95"/>
          <p:cNvPicPr preferRelativeResize="0"/>
          <p:nvPr/>
        </p:nvPicPr>
        <p:blipFill>
          <a:blip r:embed="rId4">
            <a:alphaModFix/>
          </a:blip>
          <a:stretch>
            <a:fillRect/>
          </a:stretch>
        </p:blipFill>
        <p:spPr>
          <a:xfrm>
            <a:off x="7822933" y="3417700"/>
            <a:ext cx="967166" cy="935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96"/>
          <p:cNvSpPr txBox="1"/>
          <p:nvPr>
            <p:ph idx="1" type="body"/>
          </p:nvPr>
        </p:nvSpPr>
        <p:spPr>
          <a:xfrm>
            <a:off x="324000" y="759300"/>
            <a:ext cx="8496000" cy="70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a:t>
            </a:r>
            <a:r>
              <a:rPr lang="en-GB" sz="2000"/>
              <a:t> plots her measurements on a graph to explore the relationship between </a:t>
            </a:r>
            <a:r>
              <a:rPr b="1" lang="en-GB" sz="2000"/>
              <a:t>diameter</a:t>
            </a:r>
            <a:r>
              <a:rPr lang="en-GB" sz="2000"/>
              <a:t> and </a:t>
            </a:r>
            <a:r>
              <a:rPr b="1" lang="en-GB" sz="2000"/>
              <a:t>circumference</a:t>
            </a:r>
            <a:r>
              <a:rPr lang="en-GB" sz="2000"/>
              <a:t> further. </a:t>
            </a:r>
            <a:endParaRPr b="1" sz="2000"/>
          </a:p>
        </p:txBody>
      </p:sp>
      <p:sp>
        <p:nvSpPr>
          <p:cNvPr id="1281" name="Google Shape;1281;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graphicFrame>
        <p:nvGraphicFramePr>
          <p:cNvPr id="1282" name="Google Shape;1282;p96"/>
          <p:cNvGraphicFramePr/>
          <p:nvPr/>
        </p:nvGraphicFramePr>
        <p:xfrm>
          <a:off x="324000" y="1640863"/>
          <a:ext cx="3000000" cy="3000000"/>
        </p:xfrm>
        <a:graphic>
          <a:graphicData uri="http://schemas.openxmlformats.org/drawingml/2006/table">
            <a:tbl>
              <a:tblPr>
                <a:noFill/>
                <a:tableStyleId>{94F43EAD-AA21-4773-A439-60C7A0E335FF}</a:tableStyleId>
              </a:tblPr>
              <a:tblGrid>
                <a:gridCol w="1129075"/>
                <a:gridCol w="1730775"/>
              </a:tblGrid>
              <a:tr h="508775">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diameter</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circumference</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83" name="Google Shape;1283;p96"/>
          <p:cNvSpPr txBox="1"/>
          <p:nvPr>
            <p:ph idx="1" type="body"/>
          </p:nvPr>
        </p:nvSpPr>
        <p:spPr>
          <a:xfrm>
            <a:off x="420616" y="231803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sp>
        <p:nvSpPr>
          <p:cNvPr id="1284" name="Google Shape;1284;p96"/>
          <p:cNvSpPr txBox="1"/>
          <p:nvPr>
            <p:ph idx="1" type="body"/>
          </p:nvPr>
        </p:nvSpPr>
        <p:spPr>
          <a:xfrm>
            <a:off x="420630" y="2775225"/>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1285" name="Google Shape;1285;p96"/>
          <p:cNvSpPr txBox="1"/>
          <p:nvPr>
            <p:ph idx="1" type="body"/>
          </p:nvPr>
        </p:nvSpPr>
        <p:spPr>
          <a:xfrm>
            <a:off x="420630" y="3240929"/>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a:t>
            </a:r>
            <a:endParaRPr sz="1600"/>
          </a:p>
        </p:txBody>
      </p:sp>
      <p:sp>
        <p:nvSpPr>
          <p:cNvPr id="1286" name="Google Shape;1286;p96"/>
          <p:cNvSpPr txBox="1"/>
          <p:nvPr>
            <p:ph idx="1" type="body"/>
          </p:nvPr>
        </p:nvSpPr>
        <p:spPr>
          <a:xfrm>
            <a:off x="420630" y="37151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endParaRPr sz="1600"/>
          </a:p>
        </p:txBody>
      </p:sp>
      <p:sp>
        <p:nvSpPr>
          <p:cNvPr id="1287" name="Google Shape;1287;p96"/>
          <p:cNvSpPr txBox="1"/>
          <p:nvPr>
            <p:ph idx="1" type="body"/>
          </p:nvPr>
        </p:nvSpPr>
        <p:spPr>
          <a:xfrm>
            <a:off x="420630" y="41723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a:t>
            </a:r>
            <a:endParaRPr sz="1600"/>
          </a:p>
        </p:txBody>
      </p:sp>
      <p:sp>
        <p:nvSpPr>
          <p:cNvPr id="1288" name="Google Shape;1288;p96"/>
          <p:cNvSpPr txBox="1"/>
          <p:nvPr>
            <p:ph idx="1" type="body"/>
          </p:nvPr>
        </p:nvSpPr>
        <p:spPr>
          <a:xfrm>
            <a:off x="1546690" y="2318025"/>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3.14159265</a:t>
            </a:r>
            <a:r>
              <a:rPr lang="en-GB" sz="1600"/>
              <a:t>…</a:t>
            </a:r>
            <a:endParaRPr sz="1600"/>
          </a:p>
        </p:txBody>
      </p:sp>
      <p:sp>
        <p:nvSpPr>
          <p:cNvPr id="1289" name="Google Shape;1289;p96"/>
          <p:cNvSpPr txBox="1"/>
          <p:nvPr>
            <p:ph idx="1" type="body"/>
          </p:nvPr>
        </p:nvSpPr>
        <p:spPr>
          <a:xfrm>
            <a:off x="1546690" y="27837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6.28318530</a:t>
            </a:r>
            <a:r>
              <a:rPr lang="en-GB" sz="1600"/>
              <a:t>…</a:t>
            </a:r>
            <a:endParaRPr sz="1600"/>
          </a:p>
        </p:txBody>
      </p:sp>
      <p:sp>
        <p:nvSpPr>
          <p:cNvPr id="1290" name="Google Shape;1290;p96"/>
          <p:cNvSpPr txBox="1"/>
          <p:nvPr>
            <p:ph idx="1" type="body"/>
          </p:nvPr>
        </p:nvSpPr>
        <p:spPr>
          <a:xfrm>
            <a:off x="1546690" y="32409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9.42477796</a:t>
            </a:r>
            <a:r>
              <a:rPr lang="en-GB" sz="1600"/>
              <a:t>…</a:t>
            </a:r>
            <a:endParaRPr sz="1600"/>
          </a:p>
        </p:txBody>
      </p:sp>
      <p:sp>
        <p:nvSpPr>
          <p:cNvPr id="1291" name="Google Shape;1291;p96"/>
          <p:cNvSpPr txBox="1"/>
          <p:nvPr>
            <p:ph idx="1" type="body"/>
          </p:nvPr>
        </p:nvSpPr>
        <p:spPr>
          <a:xfrm>
            <a:off x="1546690" y="37151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12.5663706</a:t>
            </a:r>
            <a:r>
              <a:rPr lang="en-GB" sz="1600"/>
              <a:t>…</a:t>
            </a:r>
            <a:endParaRPr sz="1600"/>
          </a:p>
        </p:txBody>
      </p:sp>
      <p:sp>
        <p:nvSpPr>
          <p:cNvPr id="1292" name="Google Shape;1292;p96"/>
          <p:cNvSpPr txBox="1"/>
          <p:nvPr>
            <p:ph idx="1" type="body"/>
          </p:nvPr>
        </p:nvSpPr>
        <p:spPr>
          <a:xfrm>
            <a:off x="1546690" y="41723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15.7079632</a:t>
            </a:r>
            <a:r>
              <a:rPr lang="en-GB" sz="1600"/>
              <a:t>…</a:t>
            </a:r>
            <a:endParaRPr sz="1600"/>
          </a:p>
        </p:txBody>
      </p:sp>
      <p:pic>
        <p:nvPicPr>
          <p:cNvPr id="1293" name="Google Shape;1293;p96"/>
          <p:cNvPicPr preferRelativeResize="0"/>
          <p:nvPr/>
        </p:nvPicPr>
        <p:blipFill rotWithShape="1">
          <a:blip r:embed="rId3">
            <a:alphaModFix/>
          </a:blip>
          <a:srcRect b="2855" l="4953" r="42458" t="50644"/>
          <a:stretch/>
        </p:blipFill>
        <p:spPr>
          <a:xfrm>
            <a:off x="5357401" y="1549100"/>
            <a:ext cx="1987700" cy="2755975"/>
          </a:xfrm>
          <a:prstGeom prst="rect">
            <a:avLst/>
          </a:prstGeom>
          <a:noFill/>
          <a:ln>
            <a:noFill/>
          </a:ln>
        </p:spPr>
      </p:pic>
      <p:cxnSp>
        <p:nvCxnSpPr>
          <p:cNvPr id="1294" name="Google Shape;1294;p96"/>
          <p:cNvCxnSpPr/>
          <p:nvPr/>
        </p:nvCxnSpPr>
        <p:spPr>
          <a:xfrm>
            <a:off x="5370675" y="4288050"/>
            <a:ext cx="2160300" cy="0"/>
          </a:xfrm>
          <a:prstGeom prst="straightConnector1">
            <a:avLst/>
          </a:prstGeom>
          <a:noFill/>
          <a:ln cap="flat" cmpd="sng" w="38100">
            <a:solidFill>
              <a:schemeClr val="dk1"/>
            </a:solidFill>
            <a:prstDash val="solid"/>
            <a:round/>
            <a:headEnd len="med" w="med" type="none"/>
            <a:tailEnd len="med" w="med" type="triangle"/>
          </a:ln>
        </p:spPr>
      </p:cxnSp>
      <p:cxnSp>
        <p:nvCxnSpPr>
          <p:cNvPr id="1295" name="Google Shape;1295;p96"/>
          <p:cNvCxnSpPr/>
          <p:nvPr/>
        </p:nvCxnSpPr>
        <p:spPr>
          <a:xfrm rot="10800000">
            <a:off x="5358224" y="1480424"/>
            <a:ext cx="0" cy="2801400"/>
          </a:xfrm>
          <a:prstGeom prst="straightConnector1">
            <a:avLst/>
          </a:prstGeom>
          <a:noFill/>
          <a:ln cap="flat" cmpd="sng" w="38100">
            <a:solidFill>
              <a:schemeClr val="dk1"/>
            </a:solidFill>
            <a:prstDash val="solid"/>
            <a:round/>
            <a:headEnd len="med" w="med" type="none"/>
            <a:tailEnd len="med" w="med" type="triangle"/>
          </a:ln>
        </p:spPr>
      </p:cxnSp>
      <p:sp>
        <p:nvSpPr>
          <p:cNvPr id="1296" name="Google Shape;1296;p96"/>
          <p:cNvSpPr txBox="1"/>
          <p:nvPr>
            <p:ph idx="1" type="body"/>
          </p:nvPr>
        </p:nvSpPr>
        <p:spPr>
          <a:xfrm>
            <a:off x="5303895" y="4287025"/>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0</a:t>
            </a:r>
            <a:endParaRPr sz="1600"/>
          </a:p>
        </p:txBody>
      </p:sp>
      <p:sp>
        <p:nvSpPr>
          <p:cNvPr id="1297" name="Google Shape;1297;p96"/>
          <p:cNvSpPr txBox="1"/>
          <p:nvPr>
            <p:ph idx="1" type="body"/>
          </p:nvPr>
        </p:nvSpPr>
        <p:spPr>
          <a:xfrm>
            <a:off x="5646048" y="4287025"/>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sp>
        <p:nvSpPr>
          <p:cNvPr id="1298" name="Google Shape;1298;p96"/>
          <p:cNvSpPr txBox="1"/>
          <p:nvPr>
            <p:ph idx="1" type="body"/>
          </p:nvPr>
        </p:nvSpPr>
        <p:spPr>
          <a:xfrm>
            <a:off x="6002146" y="4287025"/>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1299" name="Google Shape;1299;p96"/>
          <p:cNvSpPr txBox="1"/>
          <p:nvPr>
            <p:ph idx="1" type="body"/>
          </p:nvPr>
        </p:nvSpPr>
        <p:spPr>
          <a:xfrm>
            <a:off x="6364469" y="4287025"/>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a:t>
            </a:r>
            <a:endParaRPr sz="1600"/>
          </a:p>
        </p:txBody>
      </p:sp>
      <p:sp>
        <p:nvSpPr>
          <p:cNvPr id="1300" name="Google Shape;1300;p96"/>
          <p:cNvSpPr txBox="1"/>
          <p:nvPr>
            <p:ph idx="1" type="body"/>
          </p:nvPr>
        </p:nvSpPr>
        <p:spPr>
          <a:xfrm>
            <a:off x="6706622" y="4287025"/>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endParaRPr sz="1600"/>
          </a:p>
        </p:txBody>
      </p:sp>
      <p:sp>
        <p:nvSpPr>
          <p:cNvPr id="1301" name="Google Shape;1301;p96"/>
          <p:cNvSpPr txBox="1"/>
          <p:nvPr>
            <p:ph idx="1" type="body"/>
          </p:nvPr>
        </p:nvSpPr>
        <p:spPr>
          <a:xfrm>
            <a:off x="7087622" y="4287025"/>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a:t>
            </a:r>
            <a:endParaRPr sz="1600"/>
          </a:p>
        </p:txBody>
      </p:sp>
      <p:sp>
        <p:nvSpPr>
          <p:cNvPr id="1302" name="Google Shape;1302;p96"/>
          <p:cNvSpPr txBox="1"/>
          <p:nvPr>
            <p:ph idx="1" type="body"/>
          </p:nvPr>
        </p:nvSpPr>
        <p:spPr>
          <a:xfrm>
            <a:off x="5184116" y="4140851"/>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0</a:t>
            </a:r>
            <a:endParaRPr sz="1600"/>
          </a:p>
        </p:txBody>
      </p:sp>
      <p:sp>
        <p:nvSpPr>
          <p:cNvPr id="1303" name="Google Shape;1303;p96"/>
          <p:cNvSpPr txBox="1"/>
          <p:nvPr>
            <p:ph idx="1" type="body"/>
          </p:nvPr>
        </p:nvSpPr>
        <p:spPr>
          <a:xfrm>
            <a:off x="5196567" y="3836051"/>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1304" name="Google Shape;1304;p96"/>
          <p:cNvSpPr txBox="1"/>
          <p:nvPr>
            <p:ph idx="1" type="body"/>
          </p:nvPr>
        </p:nvSpPr>
        <p:spPr>
          <a:xfrm>
            <a:off x="5196567" y="3506349"/>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endParaRPr sz="1600"/>
          </a:p>
        </p:txBody>
      </p:sp>
      <p:sp>
        <p:nvSpPr>
          <p:cNvPr id="1305" name="Google Shape;1305;p96"/>
          <p:cNvSpPr txBox="1"/>
          <p:nvPr>
            <p:ph idx="1" type="body"/>
          </p:nvPr>
        </p:nvSpPr>
        <p:spPr>
          <a:xfrm>
            <a:off x="5196567" y="3182873"/>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a:t>
            </a:r>
            <a:endParaRPr sz="1600"/>
          </a:p>
        </p:txBody>
      </p:sp>
      <p:sp>
        <p:nvSpPr>
          <p:cNvPr id="1306" name="Google Shape;1306;p96"/>
          <p:cNvSpPr txBox="1"/>
          <p:nvPr>
            <p:ph idx="1" type="body"/>
          </p:nvPr>
        </p:nvSpPr>
        <p:spPr>
          <a:xfrm>
            <a:off x="5196567" y="2839225"/>
            <a:ext cx="1812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8</a:t>
            </a:r>
            <a:endParaRPr sz="1600"/>
          </a:p>
        </p:txBody>
      </p:sp>
      <p:sp>
        <p:nvSpPr>
          <p:cNvPr id="1307" name="Google Shape;1307;p96"/>
          <p:cNvSpPr txBox="1"/>
          <p:nvPr>
            <p:ph idx="1" type="body"/>
          </p:nvPr>
        </p:nvSpPr>
        <p:spPr>
          <a:xfrm>
            <a:off x="5071855" y="2521975"/>
            <a:ext cx="306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10</a:t>
            </a:r>
            <a:endParaRPr sz="1600"/>
          </a:p>
        </p:txBody>
      </p:sp>
      <p:sp>
        <p:nvSpPr>
          <p:cNvPr id="1308" name="Google Shape;1308;p96"/>
          <p:cNvSpPr txBox="1"/>
          <p:nvPr>
            <p:ph idx="1" type="body"/>
          </p:nvPr>
        </p:nvSpPr>
        <p:spPr>
          <a:xfrm>
            <a:off x="5071781" y="2186050"/>
            <a:ext cx="306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a:t>
            </a:r>
            <a:endParaRPr sz="1600"/>
          </a:p>
        </p:txBody>
      </p:sp>
      <p:sp>
        <p:nvSpPr>
          <p:cNvPr id="1309" name="Google Shape;1309;p96"/>
          <p:cNvSpPr txBox="1"/>
          <p:nvPr>
            <p:ph idx="1" type="body"/>
          </p:nvPr>
        </p:nvSpPr>
        <p:spPr>
          <a:xfrm>
            <a:off x="5071781" y="1842400"/>
            <a:ext cx="306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14</a:t>
            </a:r>
            <a:endParaRPr sz="1600"/>
          </a:p>
        </p:txBody>
      </p:sp>
      <p:cxnSp>
        <p:nvCxnSpPr>
          <p:cNvPr id="1310" name="Google Shape;1310;p96"/>
          <p:cNvCxnSpPr/>
          <p:nvPr/>
        </p:nvCxnSpPr>
        <p:spPr>
          <a:xfrm flipH="1" rot="10800000">
            <a:off x="5367035" y="1662312"/>
            <a:ext cx="1768200" cy="2604000"/>
          </a:xfrm>
          <a:prstGeom prst="straightConnector1">
            <a:avLst/>
          </a:prstGeom>
          <a:noFill/>
          <a:ln cap="flat" cmpd="sng" w="38100">
            <a:solidFill>
              <a:schemeClr val="dk1"/>
            </a:solidFill>
            <a:prstDash val="solid"/>
            <a:round/>
            <a:headEnd len="med" w="med" type="none"/>
            <a:tailEnd len="med" w="med" type="none"/>
          </a:ln>
        </p:spPr>
      </p:cxnSp>
      <p:sp>
        <p:nvSpPr>
          <p:cNvPr id="1311" name="Google Shape;1311;p96"/>
          <p:cNvSpPr/>
          <p:nvPr/>
        </p:nvSpPr>
        <p:spPr>
          <a:xfrm>
            <a:off x="5667803" y="3722974"/>
            <a:ext cx="83100" cy="83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2" name="Google Shape;1312;p96"/>
          <p:cNvSpPr/>
          <p:nvPr/>
        </p:nvSpPr>
        <p:spPr>
          <a:xfrm>
            <a:off x="6019100" y="3196516"/>
            <a:ext cx="83100" cy="83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3" name="Google Shape;1313;p96"/>
          <p:cNvSpPr/>
          <p:nvPr/>
        </p:nvSpPr>
        <p:spPr>
          <a:xfrm>
            <a:off x="6370785" y="2694632"/>
            <a:ext cx="83100" cy="83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4" name="Google Shape;1314;p96"/>
          <p:cNvSpPr/>
          <p:nvPr/>
        </p:nvSpPr>
        <p:spPr>
          <a:xfrm>
            <a:off x="6717740" y="2177769"/>
            <a:ext cx="83100" cy="83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5" name="Google Shape;1315;p96"/>
          <p:cNvSpPr/>
          <p:nvPr/>
        </p:nvSpPr>
        <p:spPr>
          <a:xfrm>
            <a:off x="7064305" y="1650143"/>
            <a:ext cx="83100" cy="831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6" name="Google Shape;1316;p96"/>
          <p:cNvSpPr txBox="1"/>
          <p:nvPr>
            <p:ph idx="1" type="body"/>
          </p:nvPr>
        </p:nvSpPr>
        <p:spPr>
          <a:xfrm>
            <a:off x="5798473" y="4591825"/>
            <a:ext cx="10023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600"/>
              <a:t>diameter</a:t>
            </a:r>
            <a:endParaRPr b="1" sz="1600"/>
          </a:p>
        </p:txBody>
      </p:sp>
      <p:sp>
        <p:nvSpPr>
          <p:cNvPr id="1317" name="Google Shape;1317;p96"/>
          <p:cNvSpPr txBox="1"/>
          <p:nvPr>
            <p:ph idx="1" type="body"/>
          </p:nvPr>
        </p:nvSpPr>
        <p:spPr>
          <a:xfrm rot="-5400000">
            <a:off x="4054801" y="2754225"/>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600"/>
              <a:t>circumference</a:t>
            </a:r>
            <a:endParaRPr b="1" sz="1600"/>
          </a:p>
        </p:txBody>
      </p:sp>
      <p:grpSp>
        <p:nvGrpSpPr>
          <p:cNvPr id="1318" name="Google Shape;1318;p96"/>
          <p:cNvGrpSpPr/>
          <p:nvPr/>
        </p:nvGrpSpPr>
        <p:grpSpPr>
          <a:xfrm>
            <a:off x="2861533" y="2458311"/>
            <a:ext cx="433420" cy="1732550"/>
            <a:chOff x="2937625" y="2439850"/>
            <a:chExt cx="433420" cy="2025900"/>
          </a:xfrm>
        </p:grpSpPr>
        <p:sp>
          <p:nvSpPr>
            <p:cNvPr id="1319" name="Google Shape;1319;p96"/>
            <p:cNvSpPr/>
            <p:nvPr/>
          </p:nvSpPr>
          <p:spPr>
            <a:xfrm rot="5400000">
              <a:off x="2937625" y="2439850"/>
              <a:ext cx="425700" cy="4257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0" name="Google Shape;1320;p96"/>
            <p:cNvSpPr/>
            <p:nvPr/>
          </p:nvSpPr>
          <p:spPr>
            <a:xfrm rot="5400000">
              <a:off x="2945344" y="2973250"/>
              <a:ext cx="425700" cy="4257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1" name="Google Shape;1321;p96"/>
            <p:cNvSpPr/>
            <p:nvPr/>
          </p:nvSpPr>
          <p:spPr>
            <a:xfrm rot="5400000">
              <a:off x="2937625" y="3506650"/>
              <a:ext cx="425700" cy="4257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2" name="Google Shape;1322;p96"/>
            <p:cNvSpPr/>
            <p:nvPr/>
          </p:nvSpPr>
          <p:spPr>
            <a:xfrm rot="5400000">
              <a:off x="2943850" y="4040050"/>
              <a:ext cx="425700" cy="4257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23" name="Google Shape;1323;p96"/>
          <p:cNvSpPr txBox="1"/>
          <p:nvPr>
            <p:ph idx="1" type="body"/>
          </p:nvPr>
        </p:nvSpPr>
        <p:spPr>
          <a:xfrm>
            <a:off x="3326072" y="2521975"/>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a:t>
            </a:r>
            <a:r>
              <a:rPr lang="en-GB" sz="1600">
                <a:solidFill>
                  <a:schemeClr val="accent5"/>
                </a:solidFill>
              </a:rPr>
              <a:t>3.14…</a:t>
            </a:r>
            <a:endParaRPr sz="1600">
              <a:solidFill>
                <a:schemeClr val="accent5"/>
              </a:solidFill>
            </a:endParaRPr>
          </a:p>
        </p:txBody>
      </p:sp>
      <p:sp>
        <p:nvSpPr>
          <p:cNvPr id="1324" name="Google Shape;1324;p96"/>
          <p:cNvSpPr txBox="1"/>
          <p:nvPr>
            <p:ph idx="1" type="body"/>
          </p:nvPr>
        </p:nvSpPr>
        <p:spPr>
          <a:xfrm>
            <a:off x="3326072" y="2966724"/>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+ 3.14…</a:t>
            </a:r>
            <a:endParaRPr sz="1600">
              <a:solidFill>
                <a:schemeClr val="accent5"/>
              </a:solidFill>
            </a:endParaRPr>
          </a:p>
        </p:txBody>
      </p:sp>
      <p:sp>
        <p:nvSpPr>
          <p:cNvPr id="1325" name="Google Shape;1325;p96"/>
          <p:cNvSpPr txBox="1"/>
          <p:nvPr>
            <p:ph idx="1" type="body"/>
          </p:nvPr>
        </p:nvSpPr>
        <p:spPr>
          <a:xfrm>
            <a:off x="3326072" y="3417699"/>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+ 3.14…</a:t>
            </a:r>
            <a:endParaRPr sz="1600">
              <a:solidFill>
                <a:schemeClr val="accent5"/>
              </a:solidFill>
            </a:endParaRPr>
          </a:p>
        </p:txBody>
      </p:sp>
      <p:sp>
        <p:nvSpPr>
          <p:cNvPr id="1326" name="Google Shape;1326;p96"/>
          <p:cNvSpPr txBox="1"/>
          <p:nvPr>
            <p:ph idx="1" type="body"/>
          </p:nvPr>
        </p:nvSpPr>
        <p:spPr>
          <a:xfrm>
            <a:off x="3326072" y="3874899"/>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+ 3.14…</a:t>
            </a:r>
            <a:endParaRPr sz="1600">
              <a:solidFill>
                <a:schemeClr val="accent5"/>
              </a:solidFill>
            </a:endParaRPr>
          </a:p>
        </p:txBody>
      </p:sp>
      <p:grpSp>
        <p:nvGrpSpPr>
          <p:cNvPr id="1327" name="Google Shape;1327;p96"/>
          <p:cNvGrpSpPr/>
          <p:nvPr/>
        </p:nvGrpSpPr>
        <p:grpSpPr>
          <a:xfrm>
            <a:off x="5750900" y="3273503"/>
            <a:ext cx="315900" cy="499654"/>
            <a:chOff x="5598503" y="3309923"/>
            <a:chExt cx="315900" cy="463200"/>
          </a:xfrm>
        </p:grpSpPr>
        <p:cxnSp>
          <p:nvCxnSpPr>
            <p:cNvPr id="1328" name="Google Shape;1328;p96"/>
            <p:cNvCxnSpPr/>
            <p:nvPr/>
          </p:nvCxnSpPr>
          <p:spPr>
            <a:xfrm rot="10800000">
              <a:off x="5598503" y="3764524"/>
              <a:ext cx="315900" cy="0"/>
            </a:xfrm>
            <a:prstGeom prst="straightConnector1">
              <a:avLst/>
            </a:prstGeom>
            <a:noFill/>
            <a:ln cap="flat" cmpd="sng" w="28575">
              <a:solidFill>
                <a:schemeClr val="dk2"/>
              </a:solidFill>
              <a:prstDash val="solid"/>
              <a:round/>
              <a:headEnd len="med" w="med" type="none"/>
              <a:tailEnd len="med" w="med" type="none"/>
            </a:ln>
          </p:spPr>
        </p:cxnSp>
        <p:cxnSp>
          <p:nvCxnSpPr>
            <p:cNvPr id="1329" name="Google Shape;1329;p96"/>
            <p:cNvCxnSpPr/>
            <p:nvPr/>
          </p:nvCxnSpPr>
          <p:spPr>
            <a:xfrm rot="10800000">
              <a:off x="5910439" y="3309923"/>
              <a:ext cx="0" cy="463200"/>
            </a:xfrm>
            <a:prstGeom prst="straightConnector1">
              <a:avLst/>
            </a:prstGeom>
            <a:noFill/>
            <a:ln cap="flat" cmpd="sng" w="28575">
              <a:solidFill>
                <a:schemeClr val="accent5"/>
              </a:solidFill>
              <a:prstDash val="solid"/>
              <a:round/>
              <a:headEnd len="med" w="med" type="none"/>
              <a:tailEnd len="med" w="med" type="triangle"/>
            </a:ln>
          </p:spPr>
        </p:cxnSp>
      </p:grpSp>
      <p:grpSp>
        <p:nvGrpSpPr>
          <p:cNvPr id="1330" name="Google Shape;1330;p96"/>
          <p:cNvGrpSpPr/>
          <p:nvPr/>
        </p:nvGrpSpPr>
        <p:grpSpPr>
          <a:xfrm>
            <a:off x="6098490" y="2798520"/>
            <a:ext cx="315900" cy="499654"/>
            <a:chOff x="5598503" y="3309923"/>
            <a:chExt cx="315900" cy="463200"/>
          </a:xfrm>
        </p:grpSpPr>
        <p:cxnSp>
          <p:nvCxnSpPr>
            <p:cNvPr id="1331" name="Google Shape;1331;p96"/>
            <p:cNvCxnSpPr/>
            <p:nvPr/>
          </p:nvCxnSpPr>
          <p:spPr>
            <a:xfrm rot="10800000">
              <a:off x="5598503" y="3764524"/>
              <a:ext cx="315900" cy="0"/>
            </a:xfrm>
            <a:prstGeom prst="straightConnector1">
              <a:avLst/>
            </a:prstGeom>
            <a:noFill/>
            <a:ln cap="flat" cmpd="sng" w="28575">
              <a:solidFill>
                <a:schemeClr val="dk2"/>
              </a:solidFill>
              <a:prstDash val="solid"/>
              <a:round/>
              <a:headEnd len="med" w="med" type="none"/>
              <a:tailEnd len="med" w="med" type="none"/>
            </a:ln>
          </p:spPr>
        </p:cxnSp>
        <p:cxnSp>
          <p:nvCxnSpPr>
            <p:cNvPr id="1332" name="Google Shape;1332;p96"/>
            <p:cNvCxnSpPr/>
            <p:nvPr/>
          </p:nvCxnSpPr>
          <p:spPr>
            <a:xfrm rot="10800000">
              <a:off x="5910439" y="3309923"/>
              <a:ext cx="0" cy="463200"/>
            </a:xfrm>
            <a:prstGeom prst="straightConnector1">
              <a:avLst/>
            </a:prstGeom>
            <a:noFill/>
            <a:ln cap="flat" cmpd="sng" w="28575">
              <a:solidFill>
                <a:schemeClr val="accent5"/>
              </a:solidFill>
              <a:prstDash val="solid"/>
              <a:round/>
              <a:headEnd len="med" w="med" type="none"/>
              <a:tailEnd len="med" w="med" type="triangle"/>
            </a:ln>
          </p:spPr>
        </p:cxnSp>
      </p:grpSp>
      <p:grpSp>
        <p:nvGrpSpPr>
          <p:cNvPr id="1333" name="Google Shape;1333;p96"/>
          <p:cNvGrpSpPr/>
          <p:nvPr/>
        </p:nvGrpSpPr>
        <p:grpSpPr>
          <a:xfrm>
            <a:off x="6453031" y="2265252"/>
            <a:ext cx="315900" cy="499654"/>
            <a:chOff x="5598503" y="3309923"/>
            <a:chExt cx="315900" cy="463200"/>
          </a:xfrm>
        </p:grpSpPr>
        <p:cxnSp>
          <p:nvCxnSpPr>
            <p:cNvPr id="1334" name="Google Shape;1334;p96"/>
            <p:cNvCxnSpPr/>
            <p:nvPr/>
          </p:nvCxnSpPr>
          <p:spPr>
            <a:xfrm rot="10800000">
              <a:off x="5598503" y="3764524"/>
              <a:ext cx="315900" cy="0"/>
            </a:xfrm>
            <a:prstGeom prst="straightConnector1">
              <a:avLst/>
            </a:prstGeom>
            <a:noFill/>
            <a:ln cap="flat" cmpd="sng" w="28575">
              <a:solidFill>
                <a:schemeClr val="dk2"/>
              </a:solidFill>
              <a:prstDash val="solid"/>
              <a:round/>
              <a:headEnd len="med" w="med" type="none"/>
              <a:tailEnd len="med" w="med" type="none"/>
            </a:ln>
          </p:spPr>
        </p:cxnSp>
        <p:cxnSp>
          <p:nvCxnSpPr>
            <p:cNvPr id="1335" name="Google Shape;1335;p96"/>
            <p:cNvCxnSpPr/>
            <p:nvPr/>
          </p:nvCxnSpPr>
          <p:spPr>
            <a:xfrm rot="10800000">
              <a:off x="5910439" y="3309923"/>
              <a:ext cx="0" cy="463200"/>
            </a:xfrm>
            <a:prstGeom prst="straightConnector1">
              <a:avLst/>
            </a:prstGeom>
            <a:noFill/>
            <a:ln cap="flat" cmpd="sng" w="28575">
              <a:solidFill>
                <a:schemeClr val="accent5"/>
              </a:solidFill>
              <a:prstDash val="solid"/>
              <a:round/>
              <a:headEnd len="med" w="med" type="none"/>
              <a:tailEnd len="med" w="med" type="triangle"/>
            </a:ln>
          </p:spPr>
        </p:cxnSp>
      </p:grpSp>
      <p:grpSp>
        <p:nvGrpSpPr>
          <p:cNvPr id="1336" name="Google Shape;1336;p96"/>
          <p:cNvGrpSpPr/>
          <p:nvPr/>
        </p:nvGrpSpPr>
        <p:grpSpPr>
          <a:xfrm>
            <a:off x="6813861" y="1738078"/>
            <a:ext cx="315900" cy="499654"/>
            <a:chOff x="5598503" y="3309923"/>
            <a:chExt cx="315900" cy="463200"/>
          </a:xfrm>
        </p:grpSpPr>
        <p:cxnSp>
          <p:nvCxnSpPr>
            <p:cNvPr id="1337" name="Google Shape;1337;p96"/>
            <p:cNvCxnSpPr/>
            <p:nvPr/>
          </p:nvCxnSpPr>
          <p:spPr>
            <a:xfrm rot="10800000">
              <a:off x="5598503" y="3764524"/>
              <a:ext cx="315900" cy="0"/>
            </a:xfrm>
            <a:prstGeom prst="straightConnector1">
              <a:avLst/>
            </a:prstGeom>
            <a:noFill/>
            <a:ln cap="flat" cmpd="sng" w="28575">
              <a:solidFill>
                <a:schemeClr val="dk2"/>
              </a:solidFill>
              <a:prstDash val="solid"/>
              <a:round/>
              <a:headEnd len="med" w="med" type="none"/>
              <a:tailEnd len="med" w="med" type="none"/>
            </a:ln>
          </p:spPr>
        </p:cxnSp>
        <p:cxnSp>
          <p:nvCxnSpPr>
            <p:cNvPr id="1338" name="Google Shape;1338;p96"/>
            <p:cNvCxnSpPr/>
            <p:nvPr/>
          </p:nvCxnSpPr>
          <p:spPr>
            <a:xfrm rot="10800000">
              <a:off x="5910439" y="3309923"/>
              <a:ext cx="0" cy="463200"/>
            </a:xfrm>
            <a:prstGeom prst="straightConnector1">
              <a:avLst/>
            </a:prstGeom>
            <a:noFill/>
            <a:ln cap="flat" cmpd="sng" w="28575">
              <a:solidFill>
                <a:schemeClr val="accent5"/>
              </a:solidFill>
              <a:prstDash val="solid"/>
              <a:round/>
              <a:headEnd len="med" w="med" type="none"/>
              <a:tailEnd len="med" w="med" type="triangle"/>
            </a:ln>
          </p:spPr>
        </p:cxnSp>
      </p:grpSp>
      <p:sp>
        <p:nvSpPr>
          <p:cNvPr id="1339" name="Google Shape;1339;p96"/>
          <p:cNvSpPr txBox="1"/>
          <p:nvPr>
            <p:ph idx="1" type="body"/>
          </p:nvPr>
        </p:nvSpPr>
        <p:spPr>
          <a:xfrm>
            <a:off x="6103852" y="3430889"/>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3.14…</a:t>
            </a:r>
            <a:endParaRPr sz="1600">
              <a:solidFill>
                <a:schemeClr val="accent5"/>
              </a:solidFill>
            </a:endParaRPr>
          </a:p>
        </p:txBody>
      </p:sp>
      <p:sp>
        <p:nvSpPr>
          <p:cNvPr id="1340" name="Google Shape;1340;p96"/>
          <p:cNvSpPr txBox="1"/>
          <p:nvPr>
            <p:ph idx="1" type="body"/>
          </p:nvPr>
        </p:nvSpPr>
        <p:spPr>
          <a:xfrm>
            <a:off x="6452231" y="2998591"/>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3.14…</a:t>
            </a:r>
            <a:endParaRPr sz="1600">
              <a:solidFill>
                <a:schemeClr val="accent5"/>
              </a:solidFill>
            </a:endParaRPr>
          </a:p>
        </p:txBody>
      </p:sp>
      <p:sp>
        <p:nvSpPr>
          <p:cNvPr id="1341" name="Google Shape;1341;p96"/>
          <p:cNvSpPr txBox="1"/>
          <p:nvPr>
            <p:ph idx="1" type="body"/>
          </p:nvPr>
        </p:nvSpPr>
        <p:spPr>
          <a:xfrm>
            <a:off x="6775707" y="2476148"/>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3.14…</a:t>
            </a:r>
            <a:endParaRPr sz="1600">
              <a:solidFill>
                <a:schemeClr val="accent5"/>
              </a:solidFill>
            </a:endParaRPr>
          </a:p>
        </p:txBody>
      </p:sp>
      <p:sp>
        <p:nvSpPr>
          <p:cNvPr id="1342" name="Google Shape;1342;p96"/>
          <p:cNvSpPr txBox="1"/>
          <p:nvPr>
            <p:ph idx="1" type="body"/>
          </p:nvPr>
        </p:nvSpPr>
        <p:spPr>
          <a:xfrm>
            <a:off x="7156707" y="1944242"/>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3.14…</a:t>
            </a:r>
            <a:endParaRPr sz="1600">
              <a:solidFill>
                <a:schemeClr val="accent5"/>
              </a:solidFill>
            </a:endParaRPr>
          </a:p>
        </p:txBody>
      </p:sp>
      <p:pic>
        <p:nvPicPr>
          <p:cNvPr id="1343" name="Google Shape;1343;p96"/>
          <p:cNvPicPr preferRelativeResize="0"/>
          <p:nvPr/>
        </p:nvPicPr>
        <p:blipFill>
          <a:blip r:embed="rId4">
            <a:alphaModFix/>
          </a:blip>
          <a:stretch>
            <a:fillRect/>
          </a:stretch>
        </p:blipFill>
        <p:spPr>
          <a:xfrm>
            <a:off x="7822933" y="3417700"/>
            <a:ext cx="967166" cy="935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97"/>
          <p:cNvSpPr txBox="1"/>
          <p:nvPr>
            <p:ph idx="1" type="body"/>
          </p:nvPr>
        </p:nvSpPr>
        <p:spPr>
          <a:xfrm>
            <a:off x="324000" y="759300"/>
            <a:ext cx="8496000" cy="72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ratio between the </a:t>
            </a:r>
            <a:r>
              <a:rPr b="1" lang="en-GB" sz="2000"/>
              <a:t>diameter</a:t>
            </a:r>
            <a:r>
              <a:rPr lang="en-GB" sz="2000"/>
              <a:t> and </a:t>
            </a:r>
            <a:r>
              <a:rPr b="1" lang="en-GB" sz="2000"/>
              <a:t>circumference</a:t>
            </a:r>
            <a:r>
              <a:rPr lang="en-GB" sz="2000"/>
              <a:t> of a circle is always the same.</a:t>
            </a:r>
            <a:endParaRPr sz="2000"/>
          </a:p>
        </p:txBody>
      </p:sp>
      <p:sp>
        <p:nvSpPr>
          <p:cNvPr id="1349" name="Google Shape;1349;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350" name="Google Shape;1350;p97"/>
          <p:cNvSpPr txBox="1"/>
          <p:nvPr/>
        </p:nvSpPr>
        <p:spPr>
          <a:xfrm>
            <a:off x="3505875" y="1518100"/>
            <a:ext cx="54159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The </a:t>
            </a:r>
            <a:r>
              <a:rPr b="1" lang="en-GB" sz="2000">
                <a:solidFill>
                  <a:schemeClr val="dk1"/>
                </a:solidFill>
                <a:latin typeface="Lexend"/>
                <a:ea typeface="Lexend"/>
                <a:cs typeface="Lexend"/>
                <a:sym typeface="Lexend"/>
              </a:rPr>
              <a:t>circumference</a:t>
            </a:r>
            <a:r>
              <a:rPr lang="en-GB" sz="2000">
                <a:solidFill>
                  <a:schemeClr val="dk1"/>
                </a:solidFill>
                <a:latin typeface="Lexend"/>
                <a:ea typeface="Lexend"/>
                <a:cs typeface="Lexend"/>
                <a:sym typeface="Lexend"/>
              </a:rPr>
              <a:t> is always </a:t>
            </a:r>
            <a:r>
              <a:rPr lang="en-GB" sz="2000">
                <a:solidFill>
                  <a:schemeClr val="accent5"/>
                </a:solidFill>
                <a:latin typeface="Lexend"/>
                <a:ea typeface="Lexend"/>
                <a:cs typeface="Lexend"/>
                <a:sym typeface="Lexend"/>
              </a:rPr>
              <a:t>approximately 3.14</a:t>
            </a:r>
            <a:r>
              <a:rPr lang="en-GB" sz="2000">
                <a:solidFill>
                  <a:schemeClr val="dk1"/>
                </a:solidFill>
                <a:latin typeface="Lexend"/>
                <a:ea typeface="Lexend"/>
                <a:cs typeface="Lexend"/>
                <a:sym typeface="Lexend"/>
              </a:rPr>
              <a:t>… times the </a:t>
            </a:r>
            <a:r>
              <a:rPr b="1" lang="en-GB" sz="2000">
                <a:solidFill>
                  <a:schemeClr val="dk1"/>
                </a:solidFill>
                <a:latin typeface="Lexend"/>
                <a:ea typeface="Lexend"/>
                <a:cs typeface="Lexend"/>
                <a:sym typeface="Lexend"/>
              </a:rPr>
              <a:t>diameter.</a:t>
            </a:r>
            <a:r>
              <a:rPr lang="en-GB" sz="2000">
                <a:solidFill>
                  <a:schemeClr val="dk1"/>
                </a:solidFill>
                <a:latin typeface="Lexend"/>
                <a:ea typeface="Lexend"/>
                <a:cs typeface="Lexend"/>
                <a:sym typeface="Lexend"/>
              </a:rPr>
              <a:t> </a:t>
            </a:r>
            <a:endParaRPr/>
          </a:p>
        </p:txBody>
      </p:sp>
      <p:sp>
        <p:nvSpPr>
          <p:cNvPr id="1351" name="Google Shape;1351;p97"/>
          <p:cNvSpPr txBox="1"/>
          <p:nvPr/>
        </p:nvSpPr>
        <p:spPr>
          <a:xfrm>
            <a:off x="3505649" y="2581325"/>
            <a:ext cx="49740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However, this number has </a:t>
            </a:r>
            <a:r>
              <a:rPr lang="en-GB" sz="2000">
                <a:solidFill>
                  <a:schemeClr val="accent5"/>
                </a:solidFill>
                <a:latin typeface="Lexend"/>
                <a:ea typeface="Lexend"/>
                <a:cs typeface="Lexend"/>
                <a:sym typeface="Lexend"/>
              </a:rPr>
              <a:t>more digits</a:t>
            </a:r>
            <a:r>
              <a:rPr lang="en-GB" sz="2000">
                <a:solidFill>
                  <a:schemeClr val="dk1"/>
                </a:solidFill>
                <a:latin typeface="Lexend"/>
                <a:ea typeface="Lexend"/>
                <a:cs typeface="Lexend"/>
                <a:sym typeface="Lexend"/>
              </a:rPr>
              <a:t> after 3.14…</a:t>
            </a:r>
            <a:endParaRPr/>
          </a:p>
        </p:txBody>
      </p:sp>
      <p:graphicFrame>
        <p:nvGraphicFramePr>
          <p:cNvPr id="1352" name="Google Shape;1352;p97"/>
          <p:cNvGraphicFramePr/>
          <p:nvPr/>
        </p:nvGraphicFramePr>
        <p:xfrm>
          <a:off x="324000" y="1640863"/>
          <a:ext cx="3000000" cy="3000000"/>
        </p:xfrm>
        <a:graphic>
          <a:graphicData uri="http://schemas.openxmlformats.org/drawingml/2006/table">
            <a:tbl>
              <a:tblPr>
                <a:noFill/>
                <a:tableStyleId>{94F43EAD-AA21-4773-A439-60C7A0E335FF}</a:tableStyleId>
              </a:tblPr>
              <a:tblGrid>
                <a:gridCol w="1129075"/>
                <a:gridCol w="1730775"/>
              </a:tblGrid>
              <a:tr h="508775">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diameter</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GB" sz="1600">
                          <a:solidFill>
                            <a:schemeClr val="lt1"/>
                          </a:solidFill>
                          <a:latin typeface="Lexend"/>
                          <a:ea typeface="Lexend"/>
                          <a:cs typeface="Lexend"/>
                          <a:sym typeface="Lexend"/>
                        </a:rPr>
                        <a:t>circumference</a:t>
                      </a:r>
                      <a:endParaRPr b="1" sz="1600">
                        <a:solidFill>
                          <a:schemeClr val="lt1"/>
                        </a:solidFill>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724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4325">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353" name="Google Shape;1353;p97"/>
          <p:cNvSpPr txBox="1"/>
          <p:nvPr>
            <p:ph idx="1" type="body"/>
          </p:nvPr>
        </p:nvSpPr>
        <p:spPr>
          <a:xfrm>
            <a:off x="420616" y="2318037"/>
            <a:ext cx="2295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sp>
        <p:nvSpPr>
          <p:cNvPr id="1354" name="Google Shape;1354;p97"/>
          <p:cNvSpPr txBox="1"/>
          <p:nvPr>
            <p:ph idx="1" type="body"/>
          </p:nvPr>
        </p:nvSpPr>
        <p:spPr>
          <a:xfrm>
            <a:off x="420630" y="2775225"/>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1355" name="Google Shape;1355;p97"/>
          <p:cNvSpPr txBox="1"/>
          <p:nvPr>
            <p:ph idx="1" type="body"/>
          </p:nvPr>
        </p:nvSpPr>
        <p:spPr>
          <a:xfrm>
            <a:off x="420630" y="3240929"/>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a:t>
            </a:r>
            <a:endParaRPr sz="1600"/>
          </a:p>
        </p:txBody>
      </p:sp>
      <p:sp>
        <p:nvSpPr>
          <p:cNvPr id="1356" name="Google Shape;1356;p97"/>
          <p:cNvSpPr txBox="1"/>
          <p:nvPr>
            <p:ph idx="1" type="body"/>
          </p:nvPr>
        </p:nvSpPr>
        <p:spPr>
          <a:xfrm>
            <a:off x="420630" y="37151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endParaRPr sz="1600"/>
          </a:p>
        </p:txBody>
      </p:sp>
      <p:sp>
        <p:nvSpPr>
          <p:cNvPr id="1357" name="Google Shape;1357;p97"/>
          <p:cNvSpPr txBox="1"/>
          <p:nvPr>
            <p:ph idx="1" type="body"/>
          </p:nvPr>
        </p:nvSpPr>
        <p:spPr>
          <a:xfrm>
            <a:off x="420630" y="4172338"/>
            <a:ext cx="361800" cy="36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a:t>
            </a:r>
            <a:endParaRPr sz="1600"/>
          </a:p>
        </p:txBody>
      </p:sp>
      <p:sp>
        <p:nvSpPr>
          <p:cNvPr id="1358" name="Google Shape;1358;p97"/>
          <p:cNvSpPr txBox="1"/>
          <p:nvPr>
            <p:ph idx="1" type="body"/>
          </p:nvPr>
        </p:nvSpPr>
        <p:spPr>
          <a:xfrm>
            <a:off x="1546690" y="2318025"/>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3.14159265…</a:t>
            </a:r>
            <a:endParaRPr sz="1600"/>
          </a:p>
        </p:txBody>
      </p:sp>
      <p:sp>
        <p:nvSpPr>
          <p:cNvPr id="1359" name="Google Shape;1359;p97"/>
          <p:cNvSpPr txBox="1"/>
          <p:nvPr>
            <p:ph idx="1" type="body"/>
          </p:nvPr>
        </p:nvSpPr>
        <p:spPr>
          <a:xfrm>
            <a:off x="1546690" y="27837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6.28318530…</a:t>
            </a:r>
            <a:endParaRPr sz="1600"/>
          </a:p>
        </p:txBody>
      </p:sp>
      <p:sp>
        <p:nvSpPr>
          <p:cNvPr id="1360" name="Google Shape;1360;p97"/>
          <p:cNvSpPr txBox="1"/>
          <p:nvPr>
            <p:ph idx="1" type="body"/>
          </p:nvPr>
        </p:nvSpPr>
        <p:spPr>
          <a:xfrm>
            <a:off x="1546690" y="3240929"/>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9.42477796…</a:t>
            </a:r>
            <a:endParaRPr sz="1600"/>
          </a:p>
        </p:txBody>
      </p:sp>
      <p:sp>
        <p:nvSpPr>
          <p:cNvPr id="1361" name="Google Shape;1361;p97"/>
          <p:cNvSpPr txBox="1"/>
          <p:nvPr>
            <p:ph idx="1" type="body"/>
          </p:nvPr>
        </p:nvSpPr>
        <p:spPr>
          <a:xfrm>
            <a:off x="1546690" y="37151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12.5663706…</a:t>
            </a:r>
            <a:endParaRPr sz="1600"/>
          </a:p>
        </p:txBody>
      </p:sp>
      <p:sp>
        <p:nvSpPr>
          <p:cNvPr id="1362" name="Google Shape;1362;p97"/>
          <p:cNvSpPr txBox="1"/>
          <p:nvPr>
            <p:ph idx="1" type="body"/>
          </p:nvPr>
        </p:nvSpPr>
        <p:spPr>
          <a:xfrm>
            <a:off x="1546690" y="4172338"/>
            <a:ext cx="15840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15.7079632…</a:t>
            </a:r>
            <a:endParaRPr sz="1600"/>
          </a:p>
        </p:txBody>
      </p:sp>
      <p:sp>
        <p:nvSpPr>
          <p:cNvPr id="1363" name="Google Shape;1363;p97"/>
          <p:cNvSpPr txBox="1"/>
          <p:nvPr>
            <p:ph idx="1" type="body"/>
          </p:nvPr>
        </p:nvSpPr>
        <p:spPr>
          <a:xfrm>
            <a:off x="667358" y="2192839"/>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3.14…</a:t>
            </a:r>
            <a:endParaRPr sz="1600">
              <a:solidFill>
                <a:schemeClr val="accent5"/>
              </a:solidFill>
            </a:endParaRPr>
          </a:p>
        </p:txBody>
      </p:sp>
      <p:cxnSp>
        <p:nvCxnSpPr>
          <p:cNvPr id="1364" name="Google Shape;1364;p97"/>
          <p:cNvCxnSpPr/>
          <p:nvPr/>
        </p:nvCxnSpPr>
        <p:spPr>
          <a:xfrm>
            <a:off x="662275" y="2447175"/>
            <a:ext cx="861900" cy="0"/>
          </a:xfrm>
          <a:prstGeom prst="straightConnector1">
            <a:avLst/>
          </a:prstGeom>
          <a:noFill/>
          <a:ln cap="flat" cmpd="sng" w="28575">
            <a:solidFill>
              <a:schemeClr val="accent5"/>
            </a:solidFill>
            <a:prstDash val="solid"/>
            <a:round/>
            <a:headEnd len="med" w="med" type="none"/>
            <a:tailEnd len="med" w="med" type="triangle"/>
          </a:ln>
        </p:spPr>
      </p:cxnSp>
      <p:sp>
        <p:nvSpPr>
          <p:cNvPr id="1365" name="Google Shape;1365;p97"/>
          <p:cNvSpPr txBox="1"/>
          <p:nvPr>
            <p:ph idx="1" type="body"/>
          </p:nvPr>
        </p:nvSpPr>
        <p:spPr>
          <a:xfrm>
            <a:off x="667358" y="2668182"/>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3.14…</a:t>
            </a:r>
            <a:endParaRPr sz="1600">
              <a:solidFill>
                <a:schemeClr val="accent5"/>
              </a:solidFill>
            </a:endParaRPr>
          </a:p>
        </p:txBody>
      </p:sp>
      <p:cxnSp>
        <p:nvCxnSpPr>
          <p:cNvPr id="1366" name="Google Shape;1366;p97"/>
          <p:cNvCxnSpPr/>
          <p:nvPr/>
        </p:nvCxnSpPr>
        <p:spPr>
          <a:xfrm>
            <a:off x="662275" y="2922518"/>
            <a:ext cx="861900" cy="0"/>
          </a:xfrm>
          <a:prstGeom prst="straightConnector1">
            <a:avLst/>
          </a:prstGeom>
          <a:noFill/>
          <a:ln cap="flat" cmpd="sng" w="28575">
            <a:solidFill>
              <a:schemeClr val="accent5"/>
            </a:solidFill>
            <a:prstDash val="solid"/>
            <a:round/>
            <a:headEnd len="med" w="med" type="none"/>
            <a:tailEnd len="med" w="med" type="triangle"/>
          </a:ln>
        </p:spPr>
      </p:cxnSp>
      <p:sp>
        <p:nvSpPr>
          <p:cNvPr id="1367" name="Google Shape;1367;p97"/>
          <p:cNvSpPr txBox="1"/>
          <p:nvPr>
            <p:ph idx="1" type="body"/>
          </p:nvPr>
        </p:nvSpPr>
        <p:spPr>
          <a:xfrm>
            <a:off x="667358" y="3125382"/>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3.14…</a:t>
            </a:r>
            <a:endParaRPr sz="1600">
              <a:solidFill>
                <a:schemeClr val="accent5"/>
              </a:solidFill>
            </a:endParaRPr>
          </a:p>
        </p:txBody>
      </p:sp>
      <p:cxnSp>
        <p:nvCxnSpPr>
          <p:cNvPr id="1368" name="Google Shape;1368;p97"/>
          <p:cNvCxnSpPr/>
          <p:nvPr/>
        </p:nvCxnSpPr>
        <p:spPr>
          <a:xfrm>
            <a:off x="662275" y="3379718"/>
            <a:ext cx="861900" cy="0"/>
          </a:xfrm>
          <a:prstGeom prst="straightConnector1">
            <a:avLst/>
          </a:prstGeom>
          <a:noFill/>
          <a:ln cap="flat" cmpd="sng" w="28575">
            <a:solidFill>
              <a:schemeClr val="accent5"/>
            </a:solidFill>
            <a:prstDash val="solid"/>
            <a:round/>
            <a:headEnd len="med" w="med" type="none"/>
            <a:tailEnd len="med" w="med" type="triangle"/>
          </a:ln>
        </p:spPr>
      </p:cxnSp>
      <p:sp>
        <p:nvSpPr>
          <p:cNvPr id="1369" name="Google Shape;1369;p97"/>
          <p:cNvSpPr txBox="1"/>
          <p:nvPr>
            <p:ph idx="1" type="body"/>
          </p:nvPr>
        </p:nvSpPr>
        <p:spPr>
          <a:xfrm>
            <a:off x="667358" y="3596189"/>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3.14…</a:t>
            </a:r>
            <a:endParaRPr sz="1600">
              <a:solidFill>
                <a:schemeClr val="accent5"/>
              </a:solidFill>
            </a:endParaRPr>
          </a:p>
        </p:txBody>
      </p:sp>
      <p:cxnSp>
        <p:nvCxnSpPr>
          <p:cNvPr id="1370" name="Google Shape;1370;p97"/>
          <p:cNvCxnSpPr/>
          <p:nvPr/>
        </p:nvCxnSpPr>
        <p:spPr>
          <a:xfrm>
            <a:off x="662275" y="3850525"/>
            <a:ext cx="861900" cy="0"/>
          </a:xfrm>
          <a:prstGeom prst="straightConnector1">
            <a:avLst/>
          </a:prstGeom>
          <a:noFill/>
          <a:ln cap="flat" cmpd="sng" w="28575">
            <a:solidFill>
              <a:schemeClr val="accent5"/>
            </a:solidFill>
            <a:prstDash val="solid"/>
            <a:round/>
            <a:headEnd len="med" w="med" type="none"/>
            <a:tailEnd len="med" w="med" type="triangle"/>
          </a:ln>
        </p:spPr>
      </p:cxnSp>
      <p:sp>
        <p:nvSpPr>
          <p:cNvPr id="1371" name="Google Shape;1371;p97"/>
          <p:cNvSpPr txBox="1"/>
          <p:nvPr>
            <p:ph idx="1" type="body"/>
          </p:nvPr>
        </p:nvSpPr>
        <p:spPr>
          <a:xfrm>
            <a:off x="667358" y="4057925"/>
            <a:ext cx="753900" cy="2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solidFill>
                  <a:schemeClr val="accent5"/>
                </a:solidFill>
              </a:rPr>
              <a:t>× 3.14…</a:t>
            </a:r>
            <a:endParaRPr sz="1600">
              <a:solidFill>
                <a:schemeClr val="accent5"/>
              </a:solidFill>
            </a:endParaRPr>
          </a:p>
        </p:txBody>
      </p:sp>
      <p:cxnSp>
        <p:nvCxnSpPr>
          <p:cNvPr id="1372" name="Google Shape;1372;p97"/>
          <p:cNvCxnSpPr/>
          <p:nvPr/>
        </p:nvCxnSpPr>
        <p:spPr>
          <a:xfrm>
            <a:off x="662275" y="4312261"/>
            <a:ext cx="861900" cy="0"/>
          </a:xfrm>
          <a:prstGeom prst="straightConnector1">
            <a:avLst/>
          </a:prstGeom>
          <a:noFill/>
          <a:ln cap="flat" cmpd="sng" w="28575">
            <a:solidFill>
              <a:schemeClr val="accent5"/>
            </a:solidFill>
            <a:prstDash val="solid"/>
            <a:round/>
            <a:headEnd len="med" w="med" type="none"/>
            <a:tailEnd len="med" w="med" type="triangle"/>
          </a:ln>
        </p:spPr>
      </p:cxnSp>
      <p:sp>
        <p:nvSpPr>
          <p:cNvPr id="1373" name="Google Shape;1373;p97"/>
          <p:cNvSpPr txBox="1"/>
          <p:nvPr/>
        </p:nvSpPr>
        <p:spPr>
          <a:xfrm>
            <a:off x="3505650" y="3571925"/>
            <a:ext cx="53142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The number of decimal places is infinite, meaning that the digits </a:t>
            </a:r>
            <a:r>
              <a:rPr lang="en-GB" sz="2000">
                <a:solidFill>
                  <a:schemeClr val="accent5"/>
                </a:solidFill>
                <a:latin typeface="Lexend"/>
                <a:ea typeface="Lexend"/>
                <a:cs typeface="Lexend"/>
                <a:sym typeface="Lexend"/>
              </a:rPr>
              <a:t>never end</a:t>
            </a:r>
            <a:r>
              <a:rPr lang="en-GB" sz="2000">
                <a:solidFill>
                  <a:schemeClr val="dk1"/>
                </a:solidFill>
                <a:latin typeface="Lexend"/>
                <a:ea typeface="Lexend"/>
                <a:cs typeface="Lexend"/>
                <a:sym typeface="Lexend"/>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98"/>
          <p:cNvSpPr txBox="1"/>
          <p:nvPr>
            <p:ph idx="1" type="body"/>
          </p:nvPr>
        </p:nvSpPr>
        <p:spPr>
          <a:xfrm>
            <a:off x="324000" y="759300"/>
            <a:ext cx="8496000" cy="40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ratio between the </a:t>
            </a:r>
            <a:r>
              <a:rPr b="1" lang="en-GB" sz="2000"/>
              <a:t>diameter</a:t>
            </a:r>
            <a:r>
              <a:rPr lang="en-GB" sz="2000"/>
              <a:t> and </a:t>
            </a:r>
            <a:r>
              <a:rPr b="1" lang="en-GB" sz="2000"/>
              <a:t>circumference</a:t>
            </a:r>
            <a:r>
              <a:rPr lang="en-GB" sz="2000"/>
              <a:t> is called </a:t>
            </a:r>
            <a:r>
              <a:rPr lang="en-GB" sz="2000">
                <a:latin typeface="Times New Roman"/>
                <a:ea typeface="Times New Roman"/>
                <a:cs typeface="Times New Roman"/>
                <a:sym typeface="Times New Roman"/>
              </a:rPr>
              <a:t>π</a:t>
            </a:r>
            <a:r>
              <a:rPr lang="en-GB" sz="2000"/>
              <a:t> (“pi”).</a:t>
            </a:r>
            <a:endParaRPr sz="2000"/>
          </a:p>
        </p:txBody>
      </p:sp>
      <p:sp>
        <p:nvSpPr>
          <p:cNvPr id="1379" name="Google Shape;1379;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380" name="Google Shape;1380;p98"/>
          <p:cNvSpPr txBox="1"/>
          <p:nvPr>
            <p:ph idx="1" type="body"/>
          </p:nvPr>
        </p:nvSpPr>
        <p:spPr>
          <a:xfrm>
            <a:off x="347400" y="1262776"/>
            <a:ext cx="8496000" cy="212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π</a:t>
            </a:r>
            <a:r>
              <a:rPr lang="en-GB">
                <a:latin typeface="Times New Roman"/>
                <a:ea typeface="Times New Roman"/>
                <a:cs typeface="Times New Roman"/>
                <a:sym typeface="Times New Roman"/>
              </a:rPr>
              <a:t> ≈ </a:t>
            </a:r>
            <a:r>
              <a:rPr lang="en-GB" sz="1600">
                <a:highlight>
                  <a:srgbClr val="FFFFFF"/>
                </a:highlight>
              </a:rPr>
              <a:t>3.1415926535 8979323846 2643383279 5028841971 6939937510 5820974944 5923078164 0628620899 8628034825 3421170679 8214808651 3282306647 0938446095 5058223172 5359408128 4811174502 8410270193 8521105559 6446229489 5493038196 4428810975 6659334461 2847564823 3786783165 2712019091 4564856692 3460348610 4543266482 1339360726 0249141273 7245870066 0631558817 4881520920 9628292540 9171536436 7892590360 0113305305 4882046652 1384146951 9415116094 3305727036 5759591953 0921861173 8193261179 3105118548 0744623799 6274956735…</a:t>
            </a:r>
            <a:endParaRPr sz="1600"/>
          </a:p>
        </p:txBody>
      </p:sp>
      <p:sp>
        <p:nvSpPr>
          <p:cNvPr id="1381" name="Google Shape;1381;p98"/>
          <p:cNvSpPr txBox="1"/>
          <p:nvPr/>
        </p:nvSpPr>
        <p:spPr>
          <a:xfrm>
            <a:off x="273150" y="3528200"/>
            <a:ext cx="85701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Times New Roman"/>
                <a:ea typeface="Times New Roman"/>
                <a:cs typeface="Times New Roman"/>
                <a:sym typeface="Times New Roman"/>
              </a:rPr>
              <a:t>π</a:t>
            </a:r>
            <a:r>
              <a:rPr i="1" lang="en-GB" sz="2000">
                <a:solidFill>
                  <a:schemeClr val="dk1"/>
                </a:solidFill>
                <a:latin typeface="Times New Roman"/>
                <a:ea typeface="Times New Roman"/>
                <a:cs typeface="Times New Roman"/>
                <a:sym typeface="Times New Roman"/>
              </a:rPr>
              <a:t> </a:t>
            </a:r>
            <a:r>
              <a:rPr lang="en-GB" sz="2000">
                <a:solidFill>
                  <a:schemeClr val="dk1"/>
                </a:solidFill>
                <a:latin typeface="Lexend"/>
                <a:ea typeface="Lexend"/>
                <a:cs typeface="Lexend"/>
                <a:sym typeface="Lexend"/>
              </a:rPr>
              <a:t>has </a:t>
            </a:r>
            <a:r>
              <a:rPr lang="en-GB" sz="2000">
                <a:solidFill>
                  <a:schemeClr val="dk1"/>
                </a:solidFill>
                <a:latin typeface="Lexend"/>
                <a:ea typeface="Lexend"/>
                <a:cs typeface="Lexend"/>
                <a:sym typeface="Lexend"/>
              </a:rPr>
              <a:t>infinite</a:t>
            </a:r>
            <a:r>
              <a:rPr lang="en-GB" sz="2000">
                <a:solidFill>
                  <a:schemeClr val="dk1"/>
                </a:solidFill>
                <a:latin typeface="Lexend"/>
                <a:ea typeface="Lexend"/>
                <a:cs typeface="Lexend"/>
                <a:sym typeface="Lexend"/>
              </a:rPr>
              <a:t> many digits and so cannot be written accurately in decimal form, but it is approximately 3.14159…</a:t>
            </a:r>
            <a:endParaRPr/>
          </a:p>
        </p:txBody>
      </p:sp>
      <p:sp>
        <p:nvSpPr>
          <p:cNvPr id="1382" name="Google Shape;1382;p98"/>
          <p:cNvSpPr txBox="1"/>
          <p:nvPr/>
        </p:nvSpPr>
        <p:spPr>
          <a:xfrm>
            <a:off x="243883" y="4413663"/>
            <a:ext cx="66873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T</a:t>
            </a:r>
            <a:r>
              <a:rPr lang="en-GB" sz="2000">
                <a:solidFill>
                  <a:schemeClr val="dk1"/>
                </a:solidFill>
                <a:latin typeface="Lexend"/>
                <a:ea typeface="Lexend"/>
                <a:cs typeface="Lexend"/>
                <a:sym typeface="Lexend"/>
              </a:rPr>
              <a:t>he most accurate way to write the number is as </a:t>
            </a:r>
            <a:r>
              <a:rPr lang="en-GB" sz="2000">
                <a:solidFill>
                  <a:schemeClr val="dk1"/>
                </a:solidFill>
                <a:latin typeface="Times New Roman"/>
                <a:ea typeface="Times New Roman"/>
                <a:cs typeface="Times New Roman"/>
                <a:sym typeface="Times New Roman"/>
              </a:rPr>
              <a:t>π</a:t>
            </a:r>
            <a:r>
              <a:rPr i="1" lang="en-GB" sz="2000">
                <a:solidFill>
                  <a:schemeClr val="dk1"/>
                </a:solidFill>
                <a:latin typeface="Times New Roman"/>
                <a:ea typeface="Times New Roman"/>
                <a:cs typeface="Times New Roman"/>
                <a:sym typeface="Times New Roman"/>
              </a:rPr>
              <a:t>.</a:t>
            </a:r>
            <a:r>
              <a:rPr lang="en-GB" sz="2000">
                <a:solidFill>
                  <a:schemeClr val="dk1"/>
                </a:solidFill>
                <a:latin typeface="Lexend"/>
                <a:ea typeface="Lexend"/>
                <a:cs typeface="Lexend"/>
                <a:sym typeface="Lexend"/>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99"/>
          <p:cNvSpPr txBox="1"/>
          <p:nvPr>
            <p:ph idx="1" type="subTitle"/>
          </p:nvPr>
        </p:nvSpPr>
        <p:spPr>
          <a:xfrm>
            <a:off x="324000" y="1080000"/>
            <a:ext cx="8496000" cy="795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a:t>The ratio between the </a:t>
            </a:r>
            <a:r>
              <a:rPr b="1" lang="en-GB"/>
              <a:t>diameter</a:t>
            </a:r>
            <a:r>
              <a:rPr lang="en-GB"/>
              <a:t> and </a:t>
            </a:r>
            <a:r>
              <a:rPr b="1" lang="en-GB"/>
              <a:t>circumference</a:t>
            </a:r>
            <a:r>
              <a:rPr lang="en-GB"/>
              <a:t> is always the same for every circle.</a:t>
            </a:r>
            <a:endParaRPr/>
          </a:p>
        </p:txBody>
      </p:sp>
      <p:sp>
        <p:nvSpPr>
          <p:cNvPr id="1388" name="Google Shape;1388;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The relationship between circumference and diameter</a:t>
            </a:r>
            <a:endParaRPr/>
          </a:p>
        </p:txBody>
      </p:sp>
      <p:sp>
        <p:nvSpPr>
          <p:cNvPr id="1389" name="Google Shape;1389;p99"/>
          <p:cNvSpPr txBox="1"/>
          <p:nvPr>
            <p:ph idx="2" type="subTitle"/>
          </p:nvPr>
        </p:nvSpPr>
        <p:spPr>
          <a:xfrm>
            <a:off x="980575" y="3139763"/>
            <a:ext cx="74526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ratio differs depending on the size of the circle.</a:t>
            </a:r>
            <a:endParaRPr/>
          </a:p>
        </p:txBody>
      </p:sp>
      <p:sp>
        <p:nvSpPr>
          <p:cNvPr id="1390" name="Google Shape;1390;p99"/>
          <p:cNvSpPr txBox="1"/>
          <p:nvPr>
            <p:ph idx="3" type="subTitle"/>
          </p:nvPr>
        </p:nvSpPr>
        <p:spPr>
          <a:xfrm>
            <a:off x="980575" y="4000095"/>
            <a:ext cx="74526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a:t>
            </a:r>
            <a:r>
              <a:rPr b="1" lang="en-GB"/>
              <a:t>circumference</a:t>
            </a:r>
            <a:r>
              <a:rPr lang="en-GB"/>
              <a:t> is always approximately 3.14 times the length of the </a:t>
            </a:r>
            <a:r>
              <a:rPr b="1" lang="en-GB"/>
              <a:t>diameter</a:t>
            </a:r>
            <a:r>
              <a:rPr lang="en-GB"/>
              <a:t>.</a:t>
            </a:r>
            <a:endParaRPr/>
          </a:p>
        </p:txBody>
      </p:sp>
      <p:pic>
        <p:nvPicPr>
          <p:cNvPr id="1391" name="Google Shape;1391;p99"/>
          <p:cNvPicPr preferRelativeResize="0"/>
          <p:nvPr/>
        </p:nvPicPr>
        <p:blipFill>
          <a:blip r:embed="rId3">
            <a:alphaModFix/>
          </a:blip>
          <a:stretch>
            <a:fillRect/>
          </a:stretch>
        </p:blipFill>
        <p:spPr>
          <a:xfrm>
            <a:off x="3687983" y="1836750"/>
            <a:ext cx="396000" cy="419100"/>
          </a:xfrm>
          <a:prstGeom prst="rect">
            <a:avLst/>
          </a:prstGeom>
          <a:noFill/>
          <a:ln>
            <a:noFill/>
          </a:ln>
        </p:spPr>
      </p:pic>
      <p:pic>
        <p:nvPicPr>
          <p:cNvPr id="1392" name="Google Shape;1392;p99"/>
          <p:cNvPicPr preferRelativeResize="0"/>
          <p:nvPr/>
        </p:nvPicPr>
        <p:blipFill>
          <a:blip r:embed="rId3">
            <a:alphaModFix/>
          </a:blip>
          <a:stretch>
            <a:fillRect/>
          </a:stretch>
        </p:blipFill>
        <p:spPr>
          <a:xfrm>
            <a:off x="5576408" y="44013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100"/>
          <p:cNvSpPr txBox="1"/>
          <p:nvPr>
            <p:ph idx="1" type="body"/>
          </p:nvPr>
        </p:nvSpPr>
        <p:spPr>
          <a:xfrm>
            <a:off x="320475" y="759300"/>
            <a:ext cx="8499600" cy="75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Scientific calculators have a </a:t>
            </a:r>
            <a:r>
              <a:rPr lang="en-GB" sz="2000">
                <a:solidFill>
                  <a:schemeClr val="accent5"/>
                </a:solidFill>
                <a:latin typeface="Times New Roman"/>
                <a:ea typeface="Times New Roman"/>
                <a:cs typeface="Times New Roman"/>
                <a:sym typeface="Times New Roman"/>
              </a:rPr>
              <a:t>π</a:t>
            </a:r>
            <a:r>
              <a:rPr lang="en-GB" sz="2000">
                <a:solidFill>
                  <a:schemeClr val="accent5"/>
                </a:solidFill>
              </a:rPr>
              <a:t> button</a:t>
            </a:r>
            <a:r>
              <a:rPr lang="en-GB" sz="2000"/>
              <a:t> so can perform calculations with </a:t>
            </a:r>
            <a:r>
              <a:rPr lang="en-GB" sz="2000">
                <a:latin typeface="Times New Roman"/>
                <a:ea typeface="Times New Roman"/>
                <a:cs typeface="Times New Roman"/>
                <a:sym typeface="Times New Roman"/>
              </a:rPr>
              <a:t>π</a:t>
            </a:r>
            <a:r>
              <a:rPr lang="en-GB" sz="2000"/>
              <a:t> accurately.</a:t>
            </a:r>
            <a:endParaRPr sz="2000"/>
          </a:p>
        </p:txBody>
      </p:sp>
      <p:sp>
        <p:nvSpPr>
          <p:cNvPr id="1398" name="Google Shape;1398;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399" name="Google Shape;1399;p100"/>
          <p:cNvSpPr txBox="1"/>
          <p:nvPr>
            <p:ph idx="1" type="body"/>
          </p:nvPr>
        </p:nvSpPr>
        <p:spPr>
          <a:xfrm>
            <a:off x="322818" y="1815650"/>
            <a:ext cx="4801800" cy="75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On this calculator the </a:t>
            </a:r>
            <a:r>
              <a:rPr lang="en-GB" sz="2000">
                <a:latin typeface="Times New Roman"/>
                <a:ea typeface="Times New Roman"/>
                <a:cs typeface="Times New Roman"/>
                <a:sym typeface="Times New Roman"/>
              </a:rPr>
              <a:t>π</a:t>
            </a:r>
            <a:r>
              <a:rPr lang="en-GB" sz="2000"/>
              <a:t> symbol is above the 7 button. </a:t>
            </a:r>
            <a:endParaRPr sz="2000"/>
          </a:p>
        </p:txBody>
      </p:sp>
      <p:pic>
        <p:nvPicPr>
          <p:cNvPr id="1400" name="Google Shape;1400;p100"/>
          <p:cNvPicPr preferRelativeResize="0"/>
          <p:nvPr/>
        </p:nvPicPr>
        <p:blipFill rotWithShape="1">
          <a:blip r:embed="rId3">
            <a:alphaModFix/>
          </a:blip>
          <a:srcRect b="0" l="0" r="5392" t="0"/>
          <a:stretch/>
        </p:blipFill>
        <p:spPr>
          <a:xfrm>
            <a:off x="6409200" y="1289100"/>
            <a:ext cx="2037424" cy="3531300"/>
          </a:xfrm>
          <a:prstGeom prst="rect">
            <a:avLst/>
          </a:prstGeom>
          <a:noFill/>
          <a:ln>
            <a:noFill/>
          </a:ln>
        </p:spPr>
      </p:pic>
      <p:sp>
        <p:nvSpPr>
          <p:cNvPr id="1401" name="Google Shape;1401;p100"/>
          <p:cNvSpPr txBox="1"/>
          <p:nvPr>
            <p:ph idx="1" type="body"/>
          </p:nvPr>
        </p:nvSpPr>
        <p:spPr>
          <a:xfrm>
            <a:off x="333867" y="2916300"/>
            <a:ext cx="4801800" cy="71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So, you need press the </a:t>
            </a:r>
            <a:r>
              <a:rPr lang="en-GB" sz="2000">
                <a:solidFill>
                  <a:schemeClr val="accent5"/>
                </a:solidFill>
              </a:rPr>
              <a:t>shift button</a:t>
            </a:r>
            <a:r>
              <a:rPr lang="en-GB" sz="2000"/>
              <a:t> before pressing the 7 button to enter </a:t>
            </a:r>
            <a:r>
              <a:rPr lang="en-GB" sz="2000">
                <a:latin typeface="Times New Roman"/>
                <a:ea typeface="Times New Roman"/>
                <a:cs typeface="Times New Roman"/>
                <a:sym typeface="Times New Roman"/>
              </a:rPr>
              <a:t>π</a:t>
            </a:r>
            <a:r>
              <a:rPr i="1" lang="en-GB" sz="2000">
                <a:latin typeface="Times New Roman"/>
                <a:ea typeface="Times New Roman"/>
                <a:cs typeface="Times New Roman"/>
                <a:sym typeface="Times New Roman"/>
              </a:rPr>
              <a:t>.</a:t>
            </a:r>
            <a:endParaRPr sz="2000"/>
          </a:p>
        </p:txBody>
      </p:sp>
      <p:sp>
        <p:nvSpPr>
          <p:cNvPr id="1402" name="Google Shape;1402;p100"/>
          <p:cNvSpPr txBox="1"/>
          <p:nvPr>
            <p:ph idx="1" type="body"/>
          </p:nvPr>
        </p:nvSpPr>
        <p:spPr>
          <a:xfrm>
            <a:off x="5241469" y="3857500"/>
            <a:ext cx="1072500" cy="30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Times New Roman"/>
                <a:ea typeface="Times New Roman"/>
                <a:cs typeface="Times New Roman"/>
                <a:sym typeface="Times New Roman"/>
              </a:rPr>
              <a:t>π</a:t>
            </a:r>
            <a:r>
              <a:rPr lang="en-GB" sz="1800"/>
              <a:t> button </a:t>
            </a:r>
            <a:endParaRPr sz="1800"/>
          </a:p>
        </p:txBody>
      </p:sp>
      <p:cxnSp>
        <p:nvCxnSpPr>
          <p:cNvPr id="1403" name="Google Shape;1403;p100"/>
          <p:cNvCxnSpPr/>
          <p:nvPr/>
        </p:nvCxnSpPr>
        <p:spPr>
          <a:xfrm flipH="1" rot="10800000">
            <a:off x="6141150" y="3689275"/>
            <a:ext cx="332100" cy="200400"/>
          </a:xfrm>
          <a:prstGeom prst="straightConnector1">
            <a:avLst/>
          </a:prstGeom>
          <a:noFill/>
          <a:ln cap="flat" cmpd="sng" w="38100">
            <a:solidFill>
              <a:schemeClr val="dk1"/>
            </a:solidFill>
            <a:prstDash val="solid"/>
            <a:round/>
            <a:headEnd len="med" w="med" type="none"/>
            <a:tailEnd len="med" w="med" type="none"/>
          </a:ln>
        </p:spPr>
      </p:cxnSp>
      <p:sp>
        <p:nvSpPr>
          <p:cNvPr id="1404" name="Google Shape;1404;p100"/>
          <p:cNvSpPr txBox="1"/>
          <p:nvPr>
            <p:ph idx="1" type="body"/>
          </p:nvPr>
        </p:nvSpPr>
        <p:spPr>
          <a:xfrm>
            <a:off x="4861500" y="2409700"/>
            <a:ext cx="1528800" cy="30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shift </a:t>
            </a:r>
            <a:r>
              <a:rPr lang="en-GB" sz="1800"/>
              <a:t>button </a:t>
            </a:r>
            <a:endParaRPr sz="1800"/>
          </a:p>
        </p:txBody>
      </p:sp>
      <p:cxnSp>
        <p:nvCxnSpPr>
          <p:cNvPr id="1405" name="Google Shape;1405;p100"/>
          <p:cNvCxnSpPr/>
          <p:nvPr/>
        </p:nvCxnSpPr>
        <p:spPr>
          <a:xfrm>
            <a:off x="6123994" y="2649350"/>
            <a:ext cx="376200" cy="200100"/>
          </a:xfrm>
          <a:prstGeom prst="straightConnector1">
            <a:avLst/>
          </a:prstGeom>
          <a:noFill/>
          <a:ln cap="flat" cmpd="sng" w="38100">
            <a:solidFill>
              <a:schemeClr val="dk1"/>
            </a:solidFill>
            <a:prstDash val="solid"/>
            <a:round/>
            <a:headEnd len="med" w="med" type="none"/>
            <a:tailEnd len="med" w="med" type="none"/>
          </a:ln>
        </p:spPr>
      </p:cxnSp>
      <p:pic>
        <p:nvPicPr>
          <p:cNvPr id="1406" name="Google Shape;1406;p100"/>
          <p:cNvPicPr preferRelativeResize="0"/>
          <p:nvPr/>
        </p:nvPicPr>
        <p:blipFill rotWithShape="1">
          <a:blip r:embed="rId4">
            <a:alphaModFix/>
          </a:blip>
          <a:srcRect b="4517" l="5231" r="0" t="5131"/>
          <a:stretch/>
        </p:blipFill>
        <p:spPr>
          <a:xfrm>
            <a:off x="2482775" y="3845825"/>
            <a:ext cx="787891" cy="664200"/>
          </a:xfrm>
          <a:prstGeom prst="rect">
            <a:avLst/>
          </a:prstGeom>
          <a:noFill/>
          <a:ln cap="flat" cmpd="sng" w="9525">
            <a:solidFill>
              <a:schemeClr val="dk2"/>
            </a:solidFill>
            <a:prstDash val="solid"/>
            <a:round/>
            <a:headEnd len="sm" w="sm" type="none"/>
            <a:tailEnd len="sm" w="sm" type="none"/>
          </a:ln>
        </p:spPr>
      </p:pic>
      <p:pic>
        <p:nvPicPr>
          <p:cNvPr id="1407" name="Google Shape;1407;p100"/>
          <p:cNvPicPr preferRelativeResize="0"/>
          <p:nvPr/>
        </p:nvPicPr>
        <p:blipFill rotWithShape="1">
          <a:blip r:embed="rId5">
            <a:alphaModFix/>
          </a:blip>
          <a:srcRect b="0" l="0" r="0" t="6200"/>
          <a:stretch/>
        </p:blipFill>
        <p:spPr>
          <a:xfrm>
            <a:off x="1181100" y="3845825"/>
            <a:ext cx="607450" cy="673375"/>
          </a:xfrm>
          <a:prstGeom prst="rect">
            <a:avLst/>
          </a:prstGeom>
          <a:noFill/>
          <a:ln>
            <a:noFill/>
          </a:ln>
        </p:spPr>
      </p:pic>
      <p:sp>
        <p:nvSpPr>
          <p:cNvPr id="1408" name="Google Shape;1408;p100"/>
          <p:cNvSpPr/>
          <p:nvPr/>
        </p:nvSpPr>
        <p:spPr>
          <a:xfrm>
            <a:off x="1947563" y="4053575"/>
            <a:ext cx="376200" cy="248700"/>
          </a:xfrm>
          <a:prstGeom prst="right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101"/>
          <p:cNvSpPr txBox="1"/>
          <p:nvPr>
            <p:ph idx="1" type="body"/>
          </p:nvPr>
        </p:nvSpPr>
        <p:spPr>
          <a:xfrm>
            <a:off x="324000" y="759300"/>
            <a:ext cx="8496000" cy="775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When typing a calculation using the </a:t>
            </a:r>
            <a:r>
              <a:rPr lang="en-GB">
                <a:latin typeface="Times New Roman"/>
                <a:ea typeface="Times New Roman"/>
                <a:cs typeface="Times New Roman"/>
                <a:sym typeface="Times New Roman"/>
              </a:rPr>
              <a:t>π</a:t>
            </a:r>
            <a:r>
              <a:rPr i="1" lang="en-GB" sz="2000">
                <a:latin typeface="Times New Roman"/>
                <a:ea typeface="Times New Roman"/>
                <a:cs typeface="Times New Roman"/>
                <a:sym typeface="Times New Roman"/>
              </a:rPr>
              <a:t> </a:t>
            </a:r>
            <a:r>
              <a:rPr lang="en-GB" sz="2000"/>
              <a:t>button, the calculator will often give an answer that is </a:t>
            </a:r>
            <a:r>
              <a:rPr lang="en-GB" sz="2000">
                <a:solidFill>
                  <a:schemeClr val="accent5"/>
                </a:solidFill>
              </a:rPr>
              <a:t>in terms of </a:t>
            </a:r>
            <a:r>
              <a:rPr lang="en-GB">
                <a:solidFill>
                  <a:schemeClr val="accent5"/>
                </a:solidFill>
                <a:latin typeface="Times New Roman"/>
                <a:ea typeface="Times New Roman"/>
                <a:cs typeface="Times New Roman"/>
                <a:sym typeface="Times New Roman"/>
              </a:rPr>
              <a:t>π</a:t>
            </a:r>
            <a:r>
              <a:rPr i="1" lang="en-GB" sz="2000">
                <a:latin typeface="Times New Roman"/>
                <a:ea typeface="Times New Roman"/>
                <a:cs typeface="Times New Roman"/>
                <a:sym typeface="Times New Roman"/>
              </a:rPr>
              <a:t>.</a:t>
            </a:r>
            <a:r>
              <a:rPr lang="en-GB" sz="2000"/>
              <a:t> </a:t>
            </a:r>
            <a:endParaRPr sz="2000"/>
          </a:p>
        </p:txBody>
      </p:sp>
      <p:sp>
        <p:nvSpPr>
          <p:cNvPr id="1414" name="Google Shape;1414;p10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415" name="Google Shape;1415;p101"/>
          <p:cNvSpPr txBox="1"/>
          <p:nvPr>
            <p:ph idx="1" type="body"/>
          </p:nvPr>
        </p:nvSpPr>
        <p:spPr>
          <a:xfrm>
            <a:off x="324000" y="1749900"/>
            <a:ext cx="4987800" cy="84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Calculators can </a:t>
            </a:r>
            <a:r>
              <a:rPr lang="en-GB" sz="2000">
                <a:solidFill>
                  <a:schemeClr val="accent5"/>
                </a:solidFill>
              </a:rPr>
              <a:t>convert</a:t>
            </a:r>
            <a:r>
              <a:rPr lang="en-GB" sz="2000"/>
              <a:t> answers from </a:t>
            </a:r>
            <a:r>
              <a:rPr lang="en-GB" sz="2000"/>
              <a:t>being in terms of </a:t>
            </a:r>
            <a:r>
              <a:rPr lang="en-GB">
                <a:latin typeface="Times New Roman"/>
                <a:ea typeface="Times New Roman"/>
                <a:cs typeface="Times New Roman"/>
                <a:sym typeface="Times New Roman"/>
              </a:rPr>
              <a:t>π</a:t>
            </a:r>
            <a:r>
              <a:rPr lang="en-GB" sz="2000"/>
              <a:t> to decimals.</a:t>
            </a:r>
            <a:endParaRPr sz="2000"/>
          </a:p>
        </p:txBody>
      </p:sp>
      <p:sp>
        <p:nvSpPr>
          <p:cNvPr id="1416" name="Google Shape;1416;p101"/>
          <p:cNvSpPr txBox="1"/>
          <p:nvPr>
            <p:ph idx="1" type="body"/>
          </p:nvPr>
        </p:nvSpPr>
        <p:spPr>
          <a:xfrm>
            <a:off x="324000" y="2789400"/>
            <a:ext cx="4610100" cy="116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On this calculator, you can do this by pressing the </a:t>
            </a:r>
            <a:r>
              <a:rPr lang="en-GB" sz="2000">
                <a:solidFill>
                  <a:schemeClr val="accent5"/>
                </a:solidFill>
              </a:rPr>
              <a:t>format button</a:t>
            </a:r>
            <a:r>
              <a:rPr lang="en-GB" sz="2000"/>
              <a:t> and then selecting decimal.</a:t>
            </a:r>
            <a:endParaRPr sz="2000"/>
          </a:p>
        </p:txBody>
      </p:sp>
      <p:pic>
        <p:nvPicPr>
          <p:cNvPr id="1417" name="Google Shape;1417;p101"/>
          <p:cNvPicPr preferRelativeResize="0"/>
          <p:nvPr/>
        </p:nvPicPr>
        <p:blipFill rotWithShape="1">
          <a:blip r:embed="rId3">
            <a:alphaModFix/>
          </a:blip>
          <a:srcRect b="0" l="0" r="5392" t="0"/>
          <a:stretch/>
        </p:blipFill>
        <p:spPr>
          <a:xfrm>
            <a:off x="6409200" y="1289100"/>
            <a:ext cx="2037424" cy="3531300"/>
          </a:xfrm>
          <a:prstGeom prst="rect">
            <a:avLst/>
          </a:prstGeom>
          <a:noFill/>
          <a:ln>
            <a:noFill/>
          </a:ln>
        </p:spPr>
      </p:pic>
      <p:pic>
        <p:nvPicPr>
          <p:cNvPr id="1418" name="Google Shape;1418;p101"/>
          <p:cNvPicPr preferRelativeResize="0"/>
          <p:nvPr/>
        </p:nvPicPr>
        <p:blipFill>
          <a:blip r:embed="rId4">
            <a:alphaModFix/>
          </a:blip>
          <a:stretch>
            <a:fillRect/>
          </a:stretch>
        </p:blipFill>
        <p:spPr>
          <a:xfrm>
            <a:off x="6550246" y="1430176"/>
            <a:ext cx="1746275" cy="802225"/>
          </a:xfrm>
          <a:prstGeom prst="rect">
            <a:avLst/>
          </a:prstGeom>
          <a:noFill/>
          <a:ln>
            <a:noFill/>
          </a:ln>
        </p:spPr>
      </p:pic>
      <p:pic>
        <p:nvPicPr>
          <p:cNvPr id="1419" name="Google Shape;1419;p101"/>
          <p:cNvPicPr preferRelativeResize="0"/>
          <p:nvPr/>
        </p:nvPicPr>
        <p:blipFill rotWithShape="1">
          <a:blip r:embed="rId5">
            <a:alphaModFix/>
          </a:blip>
          <a:srcRect b="73140" l="6506" r="13365" t="3778"/>
          <a:stretch/>
        </p:blipFill>
        <p:spPr>
          <a:xfrm>
            <a:off x="6554825" y="1430175"/>
            <a:ext cx="1746275" cy="815101"/>
          </a:xfrm>
          <a:prstGeom prst="rect">
            <a:avLst/>
          </a:prstGeom>
          <a:noFill/>
          <a:ln>
            <a:noFill/>
          </a:ln>
        </p:spPr>
      </p:pic>
      <p:pic>
        <p:nvPicPr>
          <p:cNvPr id="1420" name="Google Shape;1420;p101"/>
          <p:cNvPicPr preferRelativeResize="0"/>
          <p:nvPr/>
        </p:nvPicPr>
        <p:blipFill>
          <a:blip r:embed="rId6">
            <a:alphaModFix/>
          </a:blip>
          <a:stretch>
            <a:fillRect/>
          </a:stretch>
        </p:blipFill>
        <p:spPr>
          <a:xfrm>
            <a:off x="6550251" y="1430175"/>
            <a:ext cx="1746275" cy="808703"/>
          </a:xfrm>
          <a:prstGeom prst="rect">
            <a:avLst/>
          </a:prstGeom>
          <a:noFill/>
          <a:ln>
            <a:noFill/>
          </a:ln>
        </p:spPr>
      </p:pic>
      <p:sp>
        <p:nvSpPr>
          <p:cNvPr id="1421" name="Google Shape;1421;p101"/>
          <p:cNvSpPr txBox="1"/>
          <p:nvPr>
            <p:ph idx="1" type="body"/>
          </p:nvPr>
        </p:nvSpPr>
        <p:spPr>
          <a:xfrm>
            <a:off x="4530825" y="3857500"/>
            <a:ext cx="1782300" cy="30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format</a:t>
            </a:r>
            <a:r>
              <a:rPr lang="en-GB" sz="1800"/>
              <a:t> button </a:t>
            </a:r>
            <a:endParaRPr sz="1800"/>
          </a:p>
        </p:txBody>
      </p:sp>
      <p:cxnSp>
        <p:nvCxnSpPr>
          <p:cNvPr id="1422" name="Google Shape;1422;p101"/>
          <p:cNvCxnSpPr/>
          <p:nvPr/>
        </p:nvCxnSpPr>
        <p:spPr>
          <a:xfrm>
            <a:off x="6123994" y="4097150"/>
            <a:ext cx="1513200" cy="48270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02"/>
          <p:cNvSpPr txBox="1"/>
          <p:nvPr>
            <p:ph idx="1" type="body"/>
          </p:nvPr>
        </p:nvSpPr>
        <p:spPr>
          <a:xfrm>
            <a:off x="324000" y="759300"/>
            <a:ext cx="84960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 </a:t>
            </a:r>
            <a:r>
              <a:rPr b="1" lang="en-GB" sz="1900"/>
              <a:t>diameter</a:t>
            </a:r>
            <a:r>
              <a:rPr lang="en-GB" sz="1900"/>
              <a:t> of the circle is 20 cm. Find the </a:t>
            </a:r>
            <a:r>
              <a:rPr b="1" lang="en-GB" sz="1900"/>
              <a:t>circumference</a:t>
            </a:r>
            <a:r>
              <a:rPr lang="en-GB" sz="1900"/>
              <a:t>.</a:t>
            </a:r>
            <a:endParaRPr sz="1900"/>
          </a:p>
        </p:txBody>
      </p:sp>
      <p:sp>
        <p:nvSpPr>
          <p:cNvPr id="1428" name="Google Shape;1428;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429" name="Google Shape;1429;p102"/>
          <p:cNvSpPr/>
          <p:nvPr/>
        </p:nvSpPr>
        <p:spPr>
          <a:xfrm>
            <a:off x="1233951" y="1388158"/>
            <a:ext cx="2135700" cy="2136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1430" name="Google Shape;1430;p102"/>
          <p:cNvCxnSpPr/>
          <p:nvPr/>
        </p:nvCxnSpPr>
        <p:spPr>
          <a:xfrm>
            <a:off x="1282229" y="2173635"/>
            <a:ext cx="2037900" cy="571500"/>
          </a:xfrm>
          <a:prstGeom prst="straightConnector1">
            <a:avLst/>
          </a:prstGeom>
          <a:noFill/>
          <a:ln cap="flat" cmpd="sng" w="38100">
            <a:solidFill>
              <a:schemeClr val="dk1"/>
            </a:solidFill>
            <a:prstDash val="solid"/>
            <a:round/>
            <a:headEnd len="med" w="med" type="triangle"/>
            <a:tailEnd len="med" w="med" type="triangle"/>
          </a:ln>
        </p:spPr>
      </p:cxnSp>
      <p:sp>
        <p:nvSpPr>
          <p:cNvPr id="1431" name="Google Shape;1431;p102"/>
          <p:cNvSpPr/>
          <p:nvPr/>
        </p:nvSpPr>
        <p:spPr>
          <a:xfrm>
            <a:off x="2261395" y="2415600"/>
            <a:ext cx="80700" cy="807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432" name="Google Shape;1432;p102"/>
          <p:cNvSpPr txBox="1"/>
          <p:nvPr>
            <p:ph idx="1" type="body"/>
          </p:nvPr>
        </p:nvSpPr>
        <p:spPr>
          <a:xfrm>
            <a:off x="1914976" y="2519246"/>
            <a:ext cx="938700" cy="26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20 cm</a:t>
            </a:r>
            <a:endParaRPr sz="2000"/>
          </a:p>
        </p:txBody>
      </p:sp>
      <p:sp>
        <p:nvSpPr>
          <p:cNvPr id="1433" name="Google Shape;1433;p102"/>
          <p:cNvSpPr txBox="1"/>
          <p:nvPr>
            <p:ph idx="1" type="body"/>
          </p:nvPr>
        </p:nvSpPr>
        <p:spPr>
          <a:xfrm>
            <a:off x="3971750" y="1567725"/>
            <a:ext cx="32619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900"/>
              <a:t>diameter</a:t>
            </a:r>
            <a:r>
              <a:rPr lang="en-GB" sz="1900"/>
              <a:t> : </a:t>
            </a:r>
            <a:r>
              <a:rPr b="1" lang="en-GB" sz="1900"/>
              <a:t>circumference</a:t>
            </a:r>
            <a:endParaRPr sz="1900"/>
          </a:p>
        </p:txBody>
      </p:sp>
      <p:sp>
        <p:nvSpPr>
          <p:cNvPr id="1434" name="Google Shape;1434;p102"/>
          <p:cNvSpPr/>
          <p:nvPr/>
        </p:nvSpPr>
        <p:spPr>
          <a:xfrm>
            <a:off x="4904487" y="1360773"/>
            <a:ext cx="699300" cy="384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5" name="Google Shape;1435;p102"/>
          <p:cNvSpPr txBox="1"/>
          <p:nvPr>
            <p:ph idx="1" type="body"/>
          </p:nvPr>
        </p:nvSpPr>
        <p:spPr>
          <a:xfrm>
            <a:off x="5073232" y="1073250"/>
            <a:ext cx="4341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π</a:t>
            </a:r>
            <a:r>
              <a:rPr i="1" lang="en-GB" sz="2000">
                <a:latin typeface="Times New Roman"/>
                <a:ea typeface="Times New Roman"/>
                <a:cs typeface="Times New Roman"/>
                <a:sym typeface="Times New Roman"/>
              </a:rPr>
              <a:t> </a:t>
            </a:r>
            <a:endParaRPr sz="2000"/>
          </a:p>
        </p:txBody>
      </p:sp>
      <p:sp>
        <p:nvSpPr>
          <p:cNvPr id="1436" name="Google Shape;1436;p102"/>
          <p:cNvSpPr txBox="1"/>
          <p:nvPr>
            <p:ph idx="1" type="body"/>
          </p:nvPr>
        </p:nvSpPr>
        <p:spPr>
          <a:xfrm>
            <a:off x="4420786" y="2346734"/>
            <a:ext cx="24573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20 cm : </a:t>
            </a:r>
            <a:r>
              <a:rPr lang="en-GB" sz="1900" u="sng"/>
              <a:t>       </a:t>
            </a:r>
            <a:r>
              <a:rPr lang="en-GB" sz="1900"/>
              <a:t> cm</a:t>
            </a:r>
            <a:endParaRPr sz="1900"/>
          </a:p>
        </p:txBody>
      </p:sp>
      <p:sp>
        <p:nvSpPr>
          <p:cNvPr id="1437" name="Google Shape;1437;p102"/>
          <p:cNvSpPr/>
          <p:nvPr/>
        </p:nvSpPr>
        <p:spPr>
          <a:xfrm>
            <a:off x="4904487" y="2198973"/>
            <a:ext cx="699300" cy="384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8" name="Google Shape;1438;p102"/>
          <p:cNvSpPr txBox="1"/>
          <p:nvPr>
            <p:ph idx="1" type="body"/>
          </p:nvPr>
        </p:nvSpPr>
        <p:spPr>
          <a:xfrm>
            <a:off x="5073232" y="1911450"/>
            <a:ext cx="4341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π </a:t>
            </a:r>
            <a:endParaRPr sz="2000"/>
          </a:p>
        </p:txBody>
      </p:sp>
      <p:sp>
        <p:nvSpPr>
          <p:cNvPr id="1439" name="Google Shape;1439;p102"/>
          <p:cNvSpPr txBox="1"/>
          <p:nvPr>
            <p:ph idx="1" type="body"/>
          </p:nvPr>
        </p:nvSpPr>
        <p:spPr>
          <a:xfrm>
            <a:off x="3962400" y="2873350"/>
            <a:ext cx="30729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900"/>
              <a:t>circumference</a:t>
            </a:r>
            <a:r>
              <a:rPr lang="en-GB" sz="1900"/>
              <a:t> </a:t>
            </a:r>
            <a:r>
              <a:rPr lang="en-GB" sz="2100"/>
              <a:t>= </a:t>
            </a:r>
            <a:r>
              <a:rPr lang="en-GB" sz="1900"/>
              <a:t>20 </a:t>
            </a:r>
            <a:r>
              <a:rPr lang="en-GB" sz="2100">
                <a:latin typeface="Times New Roman"/>
                <a:ea typeface="Times New Roman"/>
                <a:cs typeface="Times New Roman"/>
                <a:sym typeface="Times New Roman"/>
              </a:rPr>
              <a:t>× π</a:t>
            </a:r>
            <a:r>
              <a:rPr lang="en-GB" sz="1900">
                <a:latin typeface="Times New Roman"/>
                <a:ea typeface="Times New Roman"/>
                <a:cs typeface="Times New Roman"/>
                <a:sym typeface="Times New Roman"/>
              </a:rPr>
              <a:t>  =  </a:t>
            </a:r>
            <a:endParaRPr sz="1900"/>
          </a:p>
        </p:txBody>
      </p:sp>
      <p:sp>
        <p:nvSpPr>
          <p:cNvPr id="1440" name="Google Shape;1440;p102"/>
          <p:cNvSpPr txBox="1"/>
          <p:nvPr>
            <p:ph idx="1" type="body"/>
          </p:nvPr>
        </p:nvSpPr>
        <p:spPr>
          <a:xfrm>
            <a:off x="7045927" y="2867003"/>
            <a:ext cx="10062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20</a:t>
            </a:r>
            <a:r>
              <a:rPr lang="en-GB" sz="2100">
                <a:latin typeface="Times New Roman"/>
                <a:ea typeface="Times New Roman"/>
                <a:cs typeface="Times New Roman"/>
                <a:sym typeface="Times New Roman"/>
              </a:rPr>
              <a:t>π </a:t>
            </a:r>
            <a:r>
              <a:rPr lang="en-GB" sz="1900"/>
              <a:t>cm</a:t>
            </a:r>
            <a:r>
              <a:rPr lang="en-GB" sz="1900">
                <a:latin typeface="Times New Roman"/>
                <a:ea typeface="Times New Roman"/>
                <a:cs typeface="Times New Roman"/>
                <a:sym typeface="Times New Roman"/>
              </a:rPr>
              <a:t> </a:t>
            </a:r>
            <a:endParaRPr sz="1900"/>
          </a:p>
        </p:txBody>
      </p:sp>
      <p:sp>
        <p:nvSpPr>
          <p:cNvPr id="1441" name="Google Shape;1441;p102"/>
          <p:cNvSpPr txBox="1"/>
          <p:nvPr>
            <p:ph idx="1" type="body"/>
          </p:nvPr>
        </p:nvSpPr>
        <p:spPr>
          <a:xfrm>
            <a:off x="324000" y="3788090"/>
            <a:ext cx="80052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 most accurate way to write the solution is in </a:t>
            </a:r>
            <a:r>
              <a:rPr lang="en-GB" sz="1900">
                <a:solidFill>
                  <a:schemeClr val="accent5"/>
                </a:solidFill>
              </a:rPr>
              <a:t>terms of </a:t>
            </a:r>
            <a:r>
              <a:rPr lang="en-GB" sz="1900">
                <a:solidFill>
                  <a:schemeClr val="accent5"/>
                </a:solidFill>
                <a:latin typeface="Times New Roman"/>
                <a:ea typeface="Times New Roman"/>
                <a:cs typeface="Times New Roman"/>
                <a:sym typeface="Times New Roman"/>
              </a:rPr>
              <a:t>π</a:t>
            </a:r>
            <a:r>
              <a:rPr lang="en-GB" sz="1900"/>
              <a:t>.</a:t>
            </a:r>
            <a:endParaRPr sz="1900"/>
          </a:p>
        </p:txBody>
      </p:sp>
      <p:sp>
        <p:nvSpPr>
          <p:cNvPr id="1442" name="Google Shape;1442;p102"/>
          <p:cNvSpPr txBox="1"/>
          <p:nvPr>
            <p:ph idx="1" type="body"/>
          </p:nvPr>
        </p:nvSpPr>
        <p:spPr>
          <a:xfrm>
            <a:off x="324000" y="4162759"/>
            <a:ext cx="8134200" cy="72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To write it as a decimal would require </a:t>
            </a:r>
            <a:r>
              <a:rPr lang="en-GB" sz="1900">
                <a:solidFill>
                  <a:schemeClr val="accent5"/>
                </a:solidFill>
              </a:rPr>
              <a:t>rounding</a:t>
            </a:r>
            <a:r>
              <a:rPr lang="en-GB" sz="1900"/>
              <a:t> it to an appropriate degree of accuracy (e.g. 3 significant figures).</a:t>
            </a:r>
            <a:endParaRPr sz="1900"/>
          </a:p>
        </p:txBody>
      </p:sp>
      <p:sp>
        <p:nvSpPr>
          <p:cNvPr id="1443" name="Google Shape;1443;p102"/>
          <p:cNvSpPr txBox="1"/>
          <p:nvPr>
            <p:ph idx="1" type="body"/>
          </p:nvPr>
        </p:nvSpPr>
        <p:spPr>
          <a:xfrm>
            <a:off x="6781800" y="3254350"/>
            <a:ext cx="12957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100">
                <a:latin typeface="Times New Roman"/>
                <a:ea typeface="Times New Roman"/>
                <a:cs typeface="Times New Roman"/>
                <a:sym typeface="Times New Roman"/>
              </a:rPr>
              <a:t>≈ </a:t>
            </a:r>
            <a:r>
              <a:rPr lang="en-GB" sz="1900">
                <a:latin typeface="Times New Roman"/>
                <a:ea typeface="Times New Roman"/>
                <a:cs typeface="Times New Roman"/>
                <a:sym typeface="Times New Roman"/>
              </a:rPr>
              <a:t> </a:t>
            </a:r>
            <a:r>
              <a:rPr lang="en-GB" sz="1900"/>
              <a:t>62.8 cm</a:t>
            </a:r>
            <a:r>
              <a:rPr i="1" lang="en-GB" sz="1900">
                <a:latin typeface="Times New Roman"/>
                <a:ea typeface="Times New Roman"/>
                <a:cs typeface="Times New Roman"/>
                <a:sym typeface="Times New Roman"/>
              </a:rPr>
              <a:t> </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103"/>
          <p:cNvSpPr txBox="1"/>
          <p:nvPr>
            <p:ph idx="1" type="body"/>
          </p:nvPr>
        </p:nvSpPr>
        <p:spPr>
          <a:xfrm>
            <a:off x="324000" y="759300"/>
            <a:ext cx="8496000" cy="72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 </a:t>
            </a:r>
            <a:r>
              <a:rPr b="1" lang="en-GB" sz="1900"/>
              <a:t>circumference</a:t>
            </a:r>
            <a:r>
              <a:rPr lang="en-GB" sz="1900"/>
              <a:t> of the circle is 20 cm. Find the </a:t>
            </a:r>
            <a:r>
              <a:rPr b="1" lang="en-GB" sz="1900"/>
              <a:t>diameter</a:t>
            </a:r>
            <a:r>
              <a:rPr lang="en-GB" sz="1900"/>
              <a:t>. </a:t>
            </a:r>
            <a:br>
              <a:rPr lang="en-GB" sz="1900"/>
            </a:br>
            <a:r>
              <a:rPr lang="en-GB" sz="1900"/>
              <a:t>G</a:t>
            </a:r>
            <a:r>
              <a:rPr lang="en-GB" sz="1900"/>
              <a:t>iv</a:t>
            </a:r>
            <a:r>
              <a:rPr lang="en-GB" sz="1900"/>
              <a:t>e</a:t>
            </a:r>
            <a:r>
              <a:rPr lang="en-GB" sz="1900"/>
              <a:t> your answer to 2 decimal places.</a:t>
            </a:r>
            <a:endParaRPr sz="1900"/>
          </a:p>
        </p:txBody>
      </p:sp>
      <p:sp>
        <p:nvSpPr>
          <p:cNvPr id="1449" name="Google Shape;1449;p10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450" name="Google Shape;1450;p103"/>
          <p:cNvSpPr/>
          <p:nvPr/>
        </p:nvSpPr>
        <p:spPr>
          <a:xfrm>
            <a:off x="1396175" y="2160000"/>
            <a:ext cx="1878300" cy="1878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1451" name="Google Shape;1451;p103"/>
          <p:cNvCxnSpPr>
            <a:stCxn id="1450" idx="3"/>
            <a:endCxn id="1450" idx="7"/>
          </p:cNvCxnSpPr>
          <p:nvPr/>
        </p:nvCxnSpPr>
        <p:spPr>
          <a:xfrm flipH="1" rot="10800000">
            <a:off x="1671245" y="2435129"/>
            <a:ext cx="1328100" cy="1328100"/>
          </a:xfrm>
          <a:prstGeom prst="straightConnector1">
            <a:avLst/>
          </a:prstGeom>
          <a:noFill/>
          <a:ln cap="flat" cmpd="sng" w="38100">
            <a:solidFill>
              <a:schemeClr val="dk1"/>
            </a:solidFill>
            <a:prstDash val="solid"/>
            <a:round/>
            <a:headEnd len="med" w="med" type="triangle"/>
            <a:tailEnd len="med" w="med" type="triangle"/>
          </a:ln>
        </p:spPr>
      </p:cxnSp>
      <p:sp>
        <p:nvSpPr>
          <p:cNvPr id="1452" name="Google Shape;1452;p103"/>
          <p:cNvSpPr/>
          <p:nvPr/>
        </p:nvSpPr>
        <p:spPr>
          <a:xfrm>
            <a:off x="2303976" y="3067824"/>
            <a:ext cx="62700" cy="627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453" name="Google Shape;1453;p103"/>
          <p:cNvSpPr txBox="1"/>
          <p:nvPr>
            <p:ph idx="1" type="body"/>
          </p:nvPr>
        </p:nvSpPr>
        <p:spPr>
          <a:xfrm>
            <a:off x="533401" y="1796763"/>
            <a:ext cx="938700" cy="26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20 cm</a:t>
            </a:r>
            <a:endParaRPr sz="2000"/>
          </a:p>
        </p:txBody>
      </p:sp>
      <p:sp>
        <p:nvSpPr>
          <p:cNvPr id="1454" name="Google Shape;1454;p103"/>
          <p:cNvSpPr txBox="1"/>
          <p:nvPr>
            <p:ph idx="1" type="body"/>
          </p:nvPr>
        </p:nvSpPr>
        <p:spPr>
          <a:xfrm>
            <a:off x="3971750" y="2101125"/>
            <a:ext cx="32619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900"/>
              <a:t>diameter</a:t>
            </a:r>
            <a:r>
              <a:rPr lang="en-GB" sz="1900"/>
              <a:t> : </a:t>
            </a:r>
            <a:r>
              <a:rPr b="1" lang="en-GB" sz="1900"/>
              <a:t>circumference</a:t>
            </a:r>
            <a:endParaRPr sz="1900"/>
          </a:p>
        </p:txBody>
      </p:sp>
      <p:sp>
        <p:nvSpPr>
          <p:cNvPr id="1455" name="Google Shape;1455;p103"/>
          <p:cNvSpPr/>
          <p:nvPr/>
        </p:nvSpPr>
        <p:spPr>
          <a:xfrm>
            <a:off x="4828287" y="1894173"/>
            <a:ext cx="699300" cy="384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6" name="Google Shape;1456;p103"/>
          <p:cNvSpPr txBox="1"/>
          <p:nvPr>
            <p:ph idx="1" type="body"/>
          </p:nvPr>
        </p:nvSpPr>
        <p:spPr>
          <a:xfrm>
            <a:off x="4997032" y="1606650"/>
            <a:ext cx="4341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π </a:t>
            </a:r>
            <a:endParaRPr sz="2000"/>
          </a:p>
        </p:txBody>
      </p:sp>
      <p:sp>
        <p:nvSpPr>
          <p:cNvPr id="1457" name="Google Shape;1457;p103"/>
          <p:cNvSpPr txBox="1"/>
          <p:nvPr>
            <p:ph idx="1" type="body"/>
          </p:nvPr>
        </p:nvSpPr>
        <p:spPr>
          <a:xfrm>
            <a:off x="4268386" y="3075056"/>
            <a:ext cx="24573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u="sng"/>
              <a:t>      </a:t>
            </a:r>
            <a:r>
              <a:rPr lang="en-GB" sz="1900"/>
              <a:t> cm : </a:t>
            </a:r>
            <a:r>
              <a:rPr lang="en-GB" sz="1900"/>
              <a:t>20</a:t>
            </a:r>
            <a:r>
              <a:rPr lang="en-GB" sz="1900"/>
              <a:t> cm</a:t>
            </a:r>
            <a:endParaRPr sz="1900"/>
          </a:p>
        </p:txBody>
      </p:sp>
      <p:sp>
        <p:nvSpPr>
          <p:cNvPr id="1458" name="Google Shape;1458;p103"/>
          <p:cNvSpPr txBox="1"/>
          <p:nvPr>
            <p:ph idx="1" type="body"/>
          </p:nvPr>
        </p:nvSpPr>
        <p:spPr>
          <a:xfrm>
            <a:off x="3941075" y="4092550"/>
            <a:ext cx="27633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900"/>
              <a:t>diameter</a:t>
            </a:r>
            <a:r>
              <a:rPr lang="en-GB" sz="1900"/>
              <a:t> </a:t>
            </a:r>
            <a:r>
              <a:rPr lang="en-GB" sz="2100"/>
              <a:t>= </a:t>
            </a:r>
            <a:r>
              <a:rPr lang="en-GB" sz="1900"/>
              <a:t>20 </a:t>
            </a:r>
            <a:r>
              <a:rPr lang="en-GB" sz="2100">
                <a:latin typeface="Times New Roman"/>
                <a:ea typeface="Times New Roman"/>
                <a:cs typeface="Times New Roman"/>
                <a:sym typeface="Times New Roman"/>
              </a:rPr>
              <a:t>÷</a:t>
            </a:r>
            <a:r>
              <a:rPr lang="en-GB" sz="2100">
                <a:latin typeface="Times New Roman"/>
                <a:ea typeface="Times New Roman"/>
                <a:cs typeface="Times New Roman"/>
                <a:sym typeface="Times New Roman"/>
              </a:rPr>
              <a:t> π</a:t>
            </a:r>
            <a:r>
              <a:rPr lang="en-GB" sz="1900">
                <a:latin typeface="Times New Roman"/>
                <a:ea typeface="Times New Roman"/>
                <a:cs typeface="Times New Roman"/>
                <a:sym typeface="Times New Roman"/>
              </a:rPr>
              <a:t>  </a:t>
            </a:r>
            <a:endParaRPr sz="1900"/>
          </a:p>
        </p:txBody>
      </p:sp>
      <p:sp>
        <p:nvSpPr>
          <p:cNvPr id="1459" name="Google Shape;1459;p103"/>
          <p:cNvSpPr txBox="1"/>
          <p:nvPr>
            <p:ph idx="1" type="body"/>
          </p:nvPr>
        </p:nvSpPr>
        <p:spPr>
          <a:xfrm>
            <a:off x="6130018" y="4092550"/>
            <a:ext cx="12957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100">
                <a:latin typeface="Times New Roman"/>
                <a:ea typeface="Times New Roman"/>
                <a:cs typeface="Times New Roman"/>
                <a:sym typeface="Times New Roman"/>
              </a:rPr>
              <a:t>≈ </a:t>
            </a:r>
            <a:r>
              <a:rPr lang="en-GB" sz="1900">
                <a:latin typeface="Times New Roman"/>
                <a:ea typeface="Times New Roman"/>
                <a:cs typeface="Times New Roman"/>
                <a:sym typeface="Times New Roman"/>
              </a:rPr>
              <a:t> </a:t>
            </a:r>
            <a:r>
              <a:rPr lang="en-GB" sz="1900"/>
              <a:t>6.37</a:t>
            </a:r>
            <a:r>
              <a:rPr lang="en-GB" sz="1900"/>
              <a:t> cm</a:t>
            </a:r>
            <a:r>
              <a:rPr i="1" lang="en-GB" sz="1900">
                <a:latin typeface="Times New Roman"/>
                <a:ea typeface="Times New Roman"/>
                <a:cs typeface="Times New Roman"/>
                <a:sym typeface="Times New Roman"/>
              </a:rPr>
              <a:t> </a:t>
            </a:r>
            <a:endParaRPr sz="1900"/>
          </a:p>
        </p:txBody>
      </p:sp>
      <p:cxnSp>
        <p:nvCxnSpPr>
          <p:cNvPr id="1460" name="Google Shape;1460;p103"/>
          <p:cNvCxnSpPr/>
          <p:nvPr/>
        </p:nvCxnSpPr>
        <p:spPr>
          <a:xfrm>
            <a:off x="867575" y="2081150"/>
            <a:ext cx="521700" cy="776400"/>
          </a:xfrm>
          <a:prstGeom prst="straightConnector1">
            <a:avLst/>
          </a:prstGeom>
          <a:noFill/>
          <a:ln cap="flat" cmpd="sng" w="38100">
            <a:solidFill>
              <a:schemeClr val="dk1"/>
            </a:solidFill>
            <a:prstDash val="solid"/>
            <a:round/>
            <a:headEnd len="med" w="med" type="none"/>
            <a:tailEnd len="med" w="med" type="none"/>
          </a:ln>
        </p:spPr>
      </p:cxnSp>
      <p:sp>
        <p:nvSpPr>
          <p:cNvPr id="1461" name="Google Shape;1461;p103"/>
          <p:cNvSpPr/>
          <p:nvPr/>
        </p:nvSpPr>
        <p:spPr>
          <a:xfrm rot="10800000">
            <a:off x="4828287" y="2275173"/>
            <a:ext cx="699300" cy="384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2" name="Google Shape;1462;p103"/>
          <p:cNvSpPr txBox="1"/>
          <p:nvPr>
            <p:ph idx="1" type="body"/>
          </p:nvPr>
        </p:nvSpPr>
        <p:spPr>
          <a:xfrm>
            <a:off x="4997032" y="2597250"/>
            <a:ext cx="4341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π </a:t>
            </a:r>
            <a:endParaRPr sz="2000"/>
          </a:p>
        </p:txBody>
      </p:sp>
      <p:sp>
        <p:nvSpPr>
          <p:cNvPr id="1463" name="Google Shape;1463;p103"/>
          <p:cNvSpPr/>
          <p:nvPr/>
        </p:nvSpPr>
        <p:spPr>
          <a:xfrm rot="10800000">
            <a:off x="4752087" y="3206582"/>
            <a:ext cx="699300" cy="384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4" name="Google Shape;1464;p103"/>
          <p:cNvSpPr txBox="1"/>
          <p:nvPr>
            <p:ph idx="1" type="body"/>
          </p:nvPr>
        </p:nvSpPr>
        <p:spPr>
          <a:xfrm>
            <a:off x="4920832" y="3528659"/>
            <a:ext cx="4341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π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104"/>
          <p:cNvSpPr txBox="1"/>
          <p:nvPr>
            <p:ph idx="1" type="body"/>
          </p:nvPr>
        </p:nvSpPr>
        <p:spPr>
          <a:xfrm>
            <a:off x="324000" y="759300"/>
            <a:ext cx="8237700" cy="94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a:t>
            </a:r>
            <a:r>
              <a:rPr b="1" lang="en-GB"/>
              <a:t>diameter</a:t>
            </a:r>
            <a:r>
              <a:rPr lang="en-GB"/>
              <a:t> of the circle is 12 cm. Find the </a:t>
            </a:r>
            <a:r>
              <a:rPr b="1" lang="en-GB"/>
              <a:t>circumference</a:t>
            </a:r>
            <a:r>
              <a:rPr lang="en-GB"/>
              <a:t>.</a:t>
            </a:r>
            <a:br>
              <a:rPr lang="en-GB"/>
            </a:br>
            <a:r>
              <a:rPr lang="en-GB"/>
              <a:t>Give your answer to 1 decimal place</a:t>
            </a:r>
            <a:r>
              <a:rPr i="1" lang="en-GB" sz="2400">
                <a:latin typeface="Times New Roman"/>
                <a:ea typeface="Times New Roman"/>
                <a:cs typeface="Times New Roman"/>
                <a:sym typeface="Times New Roman"/>
              </a:rPr>
              <a:t>.</a:t>
            </a:r>
            <a:endParaRPr sz="2600"/>
          </a:p>
        </p:txBody>
      </p:sp>
      <p:sp>
        <p:nvSpPr>
          <p:cNvPr id="1470" name="Google Shape;1470;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The relationship between circumference and diameter</a:t>
            </a:r>
            <a:endParaRPr/>
          </a:p>
        </p:txBody>
      </p:sp>
      <p:sp>
        <p:nvSpPr>
          <p:cNvPr id="1471" name="Google Shape;1471;p104"/>
          <p:cNvSpPr/>
          <p:nvPr/>
        </p:nvSpPr>
        <p:spPr>
          <a:xfrm>
            <a:off x="1233951" y="2073958"/>
            <a:ext cx="2135700" cy="21360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1472" name="Google Shape;1472;p104"/>
          <p:cNvCxnSpPr>
            <a:stCxn id="1471" idx="0"/>
            <a:endCxn id="1471" idx="4"/>
          </p:cNvCxnSpPr>
          <p:nvPr/>
        </p:nvCxnSpPr>
        <p:spPr>
          <a:xfrm>
            <a:off x="2301801" y="2073958"/>
            <a:ext cx="0" cy="2136000"/>
          </a:xfrm>
          <a:prstGeom prst="straightConnector1">
            <a:avLst/>
          </a:prstGeom>
          <a:noFill/>
          <a:ln cap="flat" cmpd="sng" w="38100">
            <a:solidFill>
              <a:schemeClr val="dk1"/>
            </a:solidFill>
            <a:prstDash val="solid"/>
            <a:round/>
            <a:headEnd len="med" w="med" type="triangle"/>
            <a:tailEnd len="med" w="med" type="triangle"/>
          </a:ln>
        </p:spPr>
      </p:cxnSp>
      <p:sp>
        <p:nvSpPr>
          <p:cNvPr id="1473" name="Google Shape;1473;p104"/>
          <p:cNvSpPr/>
          <p:nvPr/>
        </p:nvSpPr>
        <p:spPr>
          <a:xfrm>
            <a:off x="2261395" y="3101400"/>
            <a:ext cx="80700" cy="807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474" name="Google Shape;1474;p104"/>
          <p:cNvSpPr txBox="1"/>
          <p:nvPr>
            <p:ph idx="1" type="body"/>
          </p:nvPr>
        </p:nvSpPr>
        <p:spPr>
          <a:xfrm>
            <a:off x="2311280" y="2765196"/>
            <a:ext cx="938700" cy="26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12 cm</a:t>
            </a:r>
            <a:endParaRPr sz="2000"/>
          </a:p>
        </p:txBody>
      </p:sp>
      <p:sp>
        <p:nvSpPr>
          <p:cNvPr id="1475" name="Google Shape;1475;p104"/>
          <p:cNvSpPr txBox="1"/>
          <p:nvPr>
            <p:ph idx="1" type="body"/>
          </p:nvPr>
        </p:nvSpPr>
        <p:spPr>
          <a:xfrm>
            <a:off x="4824000" y="2765200"/>
            <a:ext cx="2537700" cy="43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12 × </a:t>
            </a:r>
            <a:r>
              <a:rPr i="1" lang="en-GB" sz="2800">
                <a:latin typeface="Times New Roman"/>
                <a:ea typeface="Times New Roman"/>
                <a:cs typeface="Times New Roman"/>
                <a:sym typeface="Times New Roman"/>
              </a:rPr>
              <a:t>π</a:t>
            </a:r>
            <a:r>
              <a:rPr i="1" lang="en-GB" sz="2400">
                <a:latin typeface="Times New Roman"/>
                <a:ea typeface="Times New Roman"/>
                <a:cs typeface="Times New Roman"/>
                <a:sym typeface="Times New Roman"/>
              </a:rPr>
              <a:t> </a:t>
            </a:r>
            <a:r>
              <a:rPr i="1" lang="en-GB" sz="2400">
                <a:latin typeface="Times New Roman"/>
                <a:ea typeface="Times New Roman"/>
                <a:cs typeface="Times New Roman"/>
                <a:sym typeface="Times New Roman"/>
              </a:rPr>
              <a:t>≈</a:t>
            </a:r>
            <a:r>
              <a:rPr i="1" lang="en-GB" sz="2400">
                <a:latin typeface="Times New Roman"/>
                <a:ea typeface="Times New Roman"/>
                <a:cs typeface="Times New Roman"/>
                <a:sym typeface="Times New Roman"/>
              </a:rPr>
              <a:t> </a:t>
            </a:r>
            <a:r>
              <a:rPr lang="en-GB">
                <a:latin typeface="Kalam"/>
                <a:ea typeface="Kalam"/>
                <a:cs typeface="Kalam"/>
                <a:sym typeface="Kalam"/>
              </a:rPr>
              <a:t>37.7 cm</a:t>
            </a:r>
            <a:endParaRPr sz="24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105"/>
          <p:cNvSpPr txBox="1"/>
          <p:nvPr>
            <p:ph idx="1" type="body"/>
          </p:nvPr>
        </p:nvSpPr>
        <p:spPr>
          <a:xfrm>
            <a:off x="324000" y="759300"/>
            <a:ext cx="4132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1) Fill in the blanks in the table.</a:t>
            </a:r>
            <a:endParaRPr sz="1700"/>
          </a:p>
        </p:txBody>
      </p:sp>
      <p:sp>
        <p:nvSpPr>
          <p:cNvPr id="1481" name="Google Shape;1481;p10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1800"/>
              <a:t>The relationship between circumference and diameter</a:t>
            </a:r>
            <a:endParaRPr sz="1800"/>
          </a:p>
        </p:txBody>
      </p:sp>
      <p:graphicFrame>
        <p:nvGraphicFramePr>
          <p:cNvPr id="1482" name="Google Shape;1482;p105"/>
          <p:cNvGraphicFramePr/>
          <p:nvPr/>
        </p:nvGraphicFramePr>
        <p:xfrm>
          <a:off x="761500" y="1248900"/>
          <a:ext cx="3000000" cy="3000000"/>
        </p:xfrm>
        <a:graphic>
          <a:graphicData uri="http://schemas.openxmlformats.org/drawingml/2006/table">
            <a:tbl>
              <a:tblPr>
                <a:noFill/>
                <a:tableStyleId>{94F43EAD-AA21-4773-A439-60C7A0E335FF}</a:tableStyleId>
              </a:tblPr>
              <a:tblGrid>
                <a:gridCol w="1944325"/>
                <a:gridCol w="792225"/>
                <a:gridCol w="792225"/>
                <a:gridCol w="792225"/>
                <a:gridCol w="792225"/>
                <a:gridCol w="792225"/>
                <a:gridCol w="792225"/>
              </a:tblGrid>
              <a:tr h="394025">
                <a:tc>
                  <a:txBody>
                    <a:bodyPr/>
                    <a:lstStyle/>
                    <a:p>
                      <a:pPr indent="0" lvl="0" marL="0" rtl="0" algn="r">
                        <a:spcBef>
                          <a:spcPts val="0"/>
                        </a:spcBef>
                        <a:spcAft>
                          <a:spcPts val="0"/>
                        </a:spcAft>
                        <a:buClr>
                          <a:schemeClr val="dk1"/>
                        </a:buClr>
                        <a:buSzPts val="1100"/>
                        <a:buFont typeface="Arial"/>
                        <a:buNone/>
                      </a:pPr>
                      <a:r>
                        <a:rPr b="1" lang="en-GB" sz="1600">
                          <a:solidFill>
                            <a:schemeClr val="lt1"/>
                          </a:solidFill>
                          <a:latin typeface="Lexend"/>
                          <a:ea typeface="Lexend"/>
                          <a:cs typeface="Lexend"/>
                          <a:sym typeface="Lexend"/>
                        </a:rPr>
                        <a:t>radius</a:t>
                      </a:r>
                      <a:endParaRPr b="1" sz="1600">
                        <a:solidFill>
                          <a:schemeClr val="lt1"/>
                        </a:solidFill>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600">
                          <a:latin typeface="Lexend"/>
                          <a:ea typeface="Lexend"/>
                          <a:cs typeface="Lexend"/>
                          <a:sym typeface="Lexend"/>
                        </a:rPr>
                        <a:t>0.5</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5</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50</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4025">
                <a:tc>
                  <a:txBody>
                    <a:bodyPr/>
                    <a:lstStyle/>
                    <a:p>
                      <a:pPr indent="0" lvl="0" marL="0" rtl="0" algn="r">
                        <a:spcBef>
                          <a:spcPts val="0"/>
                        </a:spcBef>
                        <a:spcAft>
                          <a:spcPts val="0"/>
                        </a:spcAft>
                        <a:buNone/>
                      </a:pPr>
                      <a:r>
                        <a:rPr b="1" lang="en-GB" sz="1600">
                          <a:solidFill>
                            <a:schemeClr val="lt1"/>
                          </a:solidFill>
                          <a:latin typeface="Lexend"/>
                          <a:ea typeface="Lexend"/>
                          <a:cs typeface="Lexend"/>
                          <a:sym typeface="Lexend"/>
                        </a:rPr>
                        <a:t>diameter</a:t>
                      </a:r>
                      <a:endParaRPr b="1" sz="1600">
                        <a:solidFill>
                          <a:schemeClr val="lt1"/>
                        </a:solidFill>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6</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2175">
                <a:tc>
                  <a:txBody>
                    <a:bodyPr/>
                    <a:lstStyle/>
                    <a:p>
                      <a:pPr indent="0" lvl="0" marL="0" rtl="0" algn="r">
                        <a:spcBef>
                          <a:spcPts val="0"/>
                        </a:spcBef>
                        <a:spcAft>
                          <a:spcPts val="0"/>
                        </a:spcAft>
                        <a:buNone/>
                      </a:pPr>
                      <a:r>
                        <a:rPr b="1" lang="en-GB" sz="1600">
                          <a:solidFill>
                            <a:schemeClr val="lt1"/>
                          </a:solidFill>
                          <a:latin typeface="Lexend"/>
                          <a:ea typeface="Lexend"/>
                          <a:cs typeface="Lexend"/>
                          <a:sym typeface="Lexend"/>
                        </a:rPr>
                        <a:t>circumference</a:t>
                      </a:r>
                      <a:endParaRPr b="1" sz="1600">
                        <a:solidFill>
                          <a:schemeClr val="lt1"/>
                        </a:solidFill>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1000"/>
                        </a:spcAft>
                        <a:buClr>
                          <a:schemeClr val="dk1"/>
                        </a:buClr>
                        <a:buSzPts val="1100"/>
                        <a:buFont typeface="Arial"/>
                        <a:buNone/>
                      </a:pPr>
                      <a:r>
                        <a:rPr lang="en-GB" sz="1800">
                          <a:solidFill>
                            <a:schemeClr val="dk1"/>
                          </a:solidFill>
                          <a:latin typeface="Times New Roman"/>
                          <a:ea typeface="Times New Roman"/>
                          <a:cs typeface="Times New Roman"/>
                          <a:sym typeface="Times New Roman"/>
                        </a:rPr>
                        <a:t>π</a:t>
                      </a:r>
                      <a:endParaRPr sz="10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10</a:t>
                      </a:r>
                      <a:r>
                        <a:rPr lang="en-GB" sz="1800">
                          <a:solidFill>
                            <a:schemeClr val="dk1"/>
                          </a:solidFill>
                          <a:latin typeface="Times New Roman"/>
                          <a:ea typeface="Times New Roman"/>
                          <a:cs typeface="Times New Roman"/>
                          <a:sym typeface="Times New Roman"/>
                        </a:rPr>
                        <a:t>π</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600">
                          <a:solidFill>
                            <a:schemeClr val="dk1"/>
                          </a:solidFill>
                          <a:latin typeface="Lexend"/>
                          <a:ea typeface="Lexend"/>
                          <a:cs typeface="Lexend"/>
                          <a:sym typeface="Lexend"/>
                        </a:rPr>
                        <a:t>24</a:t>
                      </a:r>
                      <a:r>
                        <a:rPr lang="en-GB" sz="1800">
                          <a:solidFill>
                            <a:schemeClr val="dk1"/>
                          </a:solidFill>
                          <a:latin typeface="Times New Roman"/>
                          <a:ea typeface="Times New Roman"/>
                          <a:cs typeface="Times New Roman"/>
                          <a:sym typeface="Times New Roman"/>
                        </a:rPr>
                        <a:t>π</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483" name="Google Shape;1483;p105"/>
          <p:cNvSpPr txBox="1"/>
          <p:nvPr>
            <p:ph idx="1" type="body"/>
          </p:nvPr>
        </p:nvSpPr>
        <p:spPr>
          <a:xfrm>
            <a:off x="324000" y="2875900"/>
            <a:ext cx="8496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2</a:t>
            </a:r>
            <a:r>
              <a:rPr lang="en-GB" sz="1700"/>
              <a:t>) Find the missing length in each circle, giving your answer to 3 significant figures.</a:t>
            </a:r>
            <a:endParaRPr sz="1700"/>
          </a:p>
        </p:txBody>
      </p:sp>
      <p:sp>
        <p:nvSpPr>
          <p:cNvPr id="1484" name="Google Shape;1484;p105"/>
          <p:cNvSpPr/>
          <p:nvPr/>
        </p:nvSpPr>
        <p:spPr>
          <a:xfrm>
            <a:off x="498700" y="3682423"/>
            <a:ext cx="1121400" cy="11214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1485" name="Google Shape;1485;p105"/>
          <p:cNvCxnSpPr>
            <a:stCxn id="1484" idx="1"/>
            <a:endCxn id="1484" idx="5"/>
          </p:cNvCxnSpPr>
          <p:nvPr/>
        </p:nvCxnSpPr>
        <p:spPr>
          <a:xfrm>
            <a:off x="662925" y="3846648"/>
            <a:ext cx="792900" cy="792900"/>
          </a:xfrm>
          <a:prstGeom prst="straightConnector1">
            <a:avLst/>
          </a:prstGeom>
          <a:noFill/>
          <a:ln cap="flat" cmpd="sng" w="28575">
            <a:solidFill>
              <a:schemeClr val="dk1"/>
            </a:solidFill>
            <a:prstDash val="solid"/>
            <a:round/>
            <a:headEnd len="med" w="med" type="triangle"/>
            <a:tailEnd len="med" w="med" type="triangle"/>
          </a:ln>
        </p:spPr>
      </p:cxnSp>
      <p:sp>
        <p:nvSpPr>
          <p:cNvPr id="1486" name="Google Shape;1486;p105"/>
          <p:cNvSpPr/>
          <p:nvPr/>
        </p:nvSpPr>
        <p:spPr>
          <a:xfrm>
            <a:off x="1038140" y="4221863"/>
            <a:ext cx="42300" cy="42300"/>
          </a:xfrm>
          <a:prstGeom prst="ellipse">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487" name="Google Shape;1487;p105"/>
          <p:cNvSpPr txBox="1"/>
          <p:nvPr>
            <p:ph idx="4294967295" type="body"/>
          </p:nvPr>
        </p:nvSpPr>
        <p:spPr>
          <a:xfrm>
            <a:off x="950252" y="3933321"/>
            <a:ext cx="586500" cy="23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600"/>
              <a:t>11</a:t>
            </a:r>
            <a:r>
              <a:rPr lang="en-GB" sz="1600"/>
              <a:t> cm</a:t>
            </a:r>
            <a:endParaRPr sz="1600"/>
          </a:p>
        </p:txBody>
      </p:sp>
      <p:sp>
        <p:nvSpPr>
          <p:cNvPr id="1488" name="Google Shape;1488;p105"/>
          <p:cNvSpPr txBox="1"/>
          <p:nvPr>
            <p:ph idx="1" type="body"/>
          </p:nvPr>
        </p:nvSpPr>
        <p:spPr>
          <a:xfrm>
            <a:off x="324000" y="3568198"/>
            <a:ext cx="2601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a:t>
            </a:r>
            <a:endParaRPr sz="1600"/>
          </a:p>
        </p:txBody>
      </p:sp>
      <p:sp>
        <p:nvSpPr>
          <p:cNvPr id="1489" name="Google Shape;1489;p105"/>
          <p:cNvSpPr txBox="1"/>
          <p:nvPr>
            <p:ph idx="1" type="body"/>
          </p:nvPr>
        </p:nvSpPr>
        <p:spPr>
          <a:xfrm>
            <a:off x="4743600" y="3568198"/>
            <a:ext cx="2601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b</a:t>
            </a:r>
            <a:r>
              <a:rPr lang="en-GB" sz="1600"/>
              <a:t>)</a:t>
            </a:r>
            <a:endParaRPr sz="1600"/>
          </a:p>
        </p:txBody>
      </p:sp>
      <p:sp>
        <p:nvSpPr>
          <p:cNvPr id="1490" name="Google Shape;1490;p105"/>
          <p:cNvSpPr txBox="1"/>
          <p:nvPr>
            <p:ph idx="4294967295" type="body"/>
          </p:nvPr>
        </p:nvSpPr>
        <p:spPr>
          <a:xfrm>
            <a:off x="1609550" y="3606623"/>
            <a:ext cx="26946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600"/>
              <a:t>diameter</a:t>
            </a:r>
            <a:r>
              <a:rPr lang="en-GB" sz="1600"/>
              <a:t> : </a:t>
            </a:r>
            <a:r>
              <a:rPr b="1" lang="en-GB" sz="1600"/>
              <a:t>circumference</a:t>
            </a:r>
            <a:endParaRPr sz="1600"/>
          </a:p>
        </p:txBody>
      </p:sp>
      <p:sp>
        <p:nvSpPr>
          <p:cNvPr id="1491" name="Google Shape;1491;p105"/>
          <p:cNvSpPr txBox="1"/>
          <p:nvPr>
            <p:ph idx="4294967295" type="body"/>
          </p:nvPr>
        </p:nvSpPr>
        <p:spPr>
          <a:xfrm>
            <a:off x="1982386" y="4004632"/>
            <a:ext cx="24573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11</a:t>
            </a:r>
            <a:r>
              <a:rPr lang="en-GB" sz="1600"/>
              <a:t> cm : </a:t>
            </a:r>
            <a:r>
              <a:rPr lang="en-GB" sz="1600" u="sng"/>
              <a:t>         </a:t>
            </a:r>
            <a:r>
              <a:rPr lang="en-GB" sz="1600"/>
              <a:t> cm</a:t>
            </a:r>
            <a:endParaRPr sz="1600"/>
          </a:p>
        </p:txBody>
      </p:sp>
      <p:sp>
        <p:nvSpPr>
          <p:cNvPr id="1492" name="Google Shape;1492;p105"/>
          <p:cNvSpPr/>
          <p:nvPr/>
        </p:nvSpPr>
        <p:spPr>
          <a:xfrm>
            <a:off x="5087424" y="3607697"/>
            <a:ext cx="792900" cy="7929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493" name="Google Shape;1493;p105"/>
          <p:cNvSpPr txBox="1"/>
          <p:nvPr>
            <p:ph idx="4294967295" type="body"/>
          </p:nvPr>
        </p:nvSpPr>
        <p:spPr>
          <a:xfrm>
            <a:off x="5362376" y="4530098"/>
            <a:ext cx="681300" cy="24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600"/>
              <a:t>80 mm</a:t>
            </a:r>
            <a:endParaRPr sz="1600"/>
          </a:p>
        </p:txBody>
      </p:sp>
      <p:sp>
        <p:nvSpPr>
          <p:cNvPr id="1494" name="Google Shape;1494;p105"/>
          <p:cNvSpPr txBox="1"/>
          <p:nvPr>
            <p:ph idx="4294967295" type="body"/>
          </p:nvPr>
        </p:nvSpPr>
        <p:spPr>
          <a:xfrm>
            <a:off x="6257750" y="3606623"/>
            <a:ext cx="32619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600"/>
              <a:t>diameter</a:t>
            </a:r>
            <a:r>
              <a:rPr lang="en-GB" sz="1600"/>
              <a:t> : </a:t>
            </a:r>
            <a:r>
              <a:rPr b="1" lang="en-GB" sz="1600"/>
              <a:t>circumference</a:t>
            </a:r>
            <a:endParaRPr sz="1600"/>
          </a:p>
        </p:txBody>
      </p:sp>
      <p:sp>
        <p:nvSpPr>
          <p:cNvPr id="1495" name="Google Shape;1495;p105"/>
          <p:cNvSpPr txBox="1"/>
          <p:nvPr>
            <p:ph idx="4294967295" type="body"/>
          </p:nvPr>
        </p:nvSpPr>
        <p:spPr>
          <a:xfrm>
            <a:off x="6260883" y="4004623"/>
            <a:ext cx="23637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u="sng"/>
              <a:t>         </a:t>
            </a:r>
            <a:r>
              <a:rPr lang="en-GB" sz="1600"/>
              <a:t> mm :  80 mm</a:t>
            </a:r>
            <a:endParaRPr sz="1600"/>
          </a:p>
        </p:txBody>
      </p:sp>
      <p:cxnSp>
        <p:nvCxnSpPr>
          <p:cNvPr id="1496" name="Google Shape;1496;p105"/>
          <p:cNvCxnSpPr>
            <a:endCxn id="1493" idx="1"/>
          </p:cNvCxnSpPr>
          <p:nvPr/>
        </p:nvCxnSpPr>
        <p:spPr>
          <a:xfrm>
            <a:off x="5167676" y="4284398"/>
            <a:ext cx="194700" cy="3669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06"/>
          <p:cNvSpPr txBox="1"/>
          <p:nvPr>
            <p:ph idx="4294967295" type="body"/>
          </p:nvPr>
        </p:nvSpPr>
        <p:spPr>
          <a:xfrm>
            <a:off x="6822000" y="4004625"/>
            <a:ext cx="1802400" cy="384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600"/>
              <a:t>mm :  80 mm</a:t>
            </a:r>
            <a:endParaRPr sz="1600"/>
          </a:p>
        </p:txBody>
      </p:sp>
      <p:sp>
        <p:nvSpPr>
          <p:cNvPr id="1502" name="Google Shape;1502;p106"/>
          <p:cNvSpPr txBox="1"/>
          <p:nvPr>
            <p:ph idx="1" type="body"/>
          </p:nvPr>
        </p:nvSpPr>
        <p:spPr>
          <a:xfrm>
            <a:off x="324000" y="759300"/>
            <a:ext cx="82377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1) Fill in the blanks in the table.</a:t>
            </a:r>
            <a:endParaRPr sz="1700"/>
          </a:p>
        </p:txBody>
      </p:sp>
      <p:sp>
        <p:nvSpPr>
          <p:cNvPr id="1503" name="Google Shape;1503;p10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The relationship between circumference and diameter</a:t>
            </a:r>
            <a:endParaRPr sz="1800"/>
          </a:p>
        </p:txBody>
      </p:sp>
      <p:graphicFrame>
        <p:nvGraphicFramePr>
          <p:cNvPr id="1504" name="Google Shape;1504;p106"/>
          <p:cNvGraphicFramePr/>
          <p:nvPr/>
        </p:nvGraphicFramePr>
        <p:xfrm>
          <a:off x="761500" y="1248900"/>
          <a:ext cx="3000000" cy="3000000"/>
        </p:xfrm>
        <a:graphic>
          <a:graphicData uri="http://schemas.openxmlformats.org/drawingml/2006/table">
            <a:tbl>
              <a:tblPr>
                <a:noFill/>
                <a:tableStyleId>{94F43EAD-AA21-4773-A439-60C7A0E335FF}</a:tableStyleId>
              </a:tblPr>
              <a:tblGrid>
                <a:gridCol w="1944325"/>
                <a:gridCol w="792225"/>
                <a:gridCol w="792225"/>
                <a:gridCol w="792225"/>
                <a:gridCol w="792225"/>
                <a:gridCol w="792225"/>
                <a:gridCol w="792225"/>
              </a:tblGrid>
              <a:tr h="394025">
                <a:tc>
                  <a:txBody>
                    <a:bodyPr/>
                    <a:lstStyle/>
                    <a:p>
                      <a:pPr indent="0" lvl="0" marL="0" rtl="0" algn="r">
                        <a:spcBef>
                          <a:spcPts val="0"/>
                        </a:spcBef>
                        <a:spcAft>
                          <a:spcPts val="0"/>
                        </a:spcAft>
                        <a:buNone/>
                      </a:pPr>
                      <a:r>
                        <a:rPr b="1" lang="en-GB" sz="1600">
                          <a:solidFill>
                            <a:schemeClr val="lt1"/>
                          </a:solidFill>
                          <a:latin typeface="Lexend"/>
                          <a:ea typeface="Lexend"/>
                          <a:cs typeface="Lexend"/>
                          <a:sym typeface="Lexend"/>
                        </a:rPr>
                        <a:t>radius</a:t>
                      </a:r>
                      <a:endParaRPr b="1" sz="1600">
                        <a:solidFill>
                          <a:schemeClr val="lt1"/>
                        </a:solidFill>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600">
                          <a:latin typeface="Lexend"/>
                          <a:ea typeface="Lexend"/>
                          <a:cs typeface="Lexend"/>
                          <a:sym typeface="Lexend"/>
                        </a:rPr>
                        <a:t>0.5</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5</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50</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4025">
                <a:tc>
                  <a:txBody>
                    <a:bodyPr/>
                    <a:lstStyle/>
                    <a:p>
                      <a:pPr indent="0" lvl="0" marL="0" rtl="0" algn="r">
                        <a:spcBef>
                          <a:spcPts val="0"/>
                        </a:spcBef>
                        <a:spcAft>
                          <a:spcPts val="0"/>
                        </a:spcAft>
                        <a:buNone/>
                      </a:pPr>
                      <a:r>
                        <a:rPr b="1" lang="en-GB" sz="1600">
                          <a:solidFill>
                            <a:schemeClr val="lt1"/>
                          </a:solidFill>
                          <a:latin typeface="Lexend"/>
                          <a:ea typeface="Lexend"/>
                          <a:cs typeface="Lexend"/>
                          <a:sym typeface="Lexend"/>
                        </a:rPr>
                        <a:t>diameter</a:t>
                      </a:r>
                      <a:endParaRPr b="1" sz="1600">
                        <a:solidFill>
                          <a:schemeClr val="lt1"/>
                        </a:solidFill>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6</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2175">
                <a:tc>
                  <a:txBody>
                    <a:bodyPr/>
                    <a:lstStyle/>
                    <a:p>
                      <a:pPr indent="0" lvl="0" marL="0" rtl="0" algn="r">
                        <a:spcBef>
                          <a:spcPts val="0"/>
                        </a:spcBef>
                        <a:spcAft>
                          <a:spcPts val="0"/>
                        </a:spcAft>
                        <a:buNone/>
                      </a:pPr>
                      <a:r>
                        <a:rPr b="1" lang="en-GB" sz="1600">
                          <a:solidFill>
                            <a:schemeClr val="lt1"/>
                          </a:solidFill>
                          <a:latin typeface="Lexend"/>
                          <a:ea typeface="Lexend"/>
                          <a:cs typeface="Lexend"/>
                          <a:sym typeface="Lexend"/>
                        </a:rPr>
                        <a:t>circumference</a:t>
                      </a:r>
                      <a:endParaRPr b="1" sz="1600">
                        <a:solidFill>
                          <a:schemeClr val="lt1"/>
                        </a:solidFill>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5"/>
                    </a:solidFill>
                  </a:tcPr>
                </a:tc>
                <a:tc>
                  <a:txBody>
                    <a:bodyPr/>
                    <a:lstStyle/>
                    <a:p>
                      <a:pPr indent="0" lvl="0" marL="0" rtl="0" algn="l">
                        <a:lnSpc>
                          <a:spcPct val="115000"/>
                        </a:lnSpc>
                        <a:spcBef>
                          <a:spcPts val="0"/>
                        </a:spcBef>
                        <a:spcAft>
                          <a:spcPts val="1000"/>
                        </a:spcAft>
                        <a:buNone/>
                      </a:pPr>
                      <a:r>
                        <a:rPr i="1" lang="en-GB" sz="1800">
                          <a:solidFill>
                            <a:schemeClr val="dk1"/>
                          </a:solidFill>
                          <a:latin typeface="Times New Roman"/>
                          <a:ea typeface="Times New Roman"/>
                          <a:cs typeface="Times New Roman"/>
                          <a:sym typeface="Times New Roman"/>
                        </a:rPr>
                        <a:t>π</a:t>
                      </a:r>
                      <a:endParaRPr i="1" sz="10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Lexend"/>
                          <a:ea typeface="Lexend"/>
                          <a:cs typeface="Lexend"/>
                          <a:sym typeface="Lexend"/>
                        </a:rPr>
                        <a:t>10</a:t>
                      </a:r>
                      <a:r>
                        <a:rPr i="1" lang="en-GB" sz="1800">
                          <a:solidFill>
                            <a:schemeClr val="dk1"/>
                          </a:solidFill>
                          <a:latin typeface="Times New Roman"/>
                          <a:ea typeface="Times New Roman"/>
                          <a:cs typeface="Times New Roman"/>
                          <a:sym typeface="Times New Roman"/>
                        </a:rPr>
                        <a:t>π</a:t>
                      </a:r>
                      <a:endParaRPr i="1"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GB" sz="1600">
                          <a:solidFill>
                            <a:schemeClr val="dk1"/>
                          </a:solidFill>
                          <a:latin typeface="Lexend"/>
                          <a:ea typeface="Lexend"/>
                          <a:cs typeface="Lexend"/>
                          <a:sym typeface="Lexend"/>
                        </a:rPr>
                        <a:t>24</a:t>
                      </a:r>
                      <a:r>
                        <a:rPr i="1" lang="en-GB" sz="1800">
                          <a:solidFill>
                            <a:schemeClr val="dk1"/>
                          </a:solidFill>
                          <a:latin typeface="Times New Roman"/>
                          <a:ea typeface="Times New Roman"/>
                          <a:cs typeface="Times New Roman"/>
                          <a:sym typeface="Times New Roman"/>
                        </a:rPr>
                        <a:t>π</a:t>
                      </a:r>
                      <a:endParaRPr i="1"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505" name="Google Shape;1505;p106"/>
          <p:cNvSpPr txBox="1"/>
          <p:nvPr>
            <p:ph idx="1" type="body"/>
          </p:nvPr>
        </p:nvSpPr>
        <p:spPr>
          <a:xfrm>
            <a:off x="324000" y="2875900"/>
            <a:ext cx="84441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700"/>
              <a:t>2) </a:t>
            </a:r>
            <a:r>
              <a:rPr lang="en-GB" sz="1700"/>
              <a:t>Find the missing length in each circle, </a:t>
            </a:r>
            <a:r>
              <a:rPr lang="en-GB" sz="1700"/>
              <a:t>giving your answer to 3 significant figures.</a:t>
            </a:r>
            <a:endParaRPr sz="1700"/>
          </a:p>
        </p:txBody>
      </p:sp>
      <p:sp>
        <p:nvSpPr>
          <p:cNvPr id="1506" name="Google Shape;1506;p106"/>
          <p:cNvSpPr/>
          <p:nvPr/>
        </p:nvSpPr>
        <p:spPr>
          <a:xfrm>
            <a:off x="498700" y="3682423"/>
            <a:ext cx="1121400" cy="11214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1507" name="Google Shape;1507;p106"/>
          <p:cNvCxnSpPr>
            <a:stCxn id="1506" idx="1"/>
            <a:endCxn id="1506" idx="5"/>
          </p:cNvCxnSpPr>
          <p:nvPr/>
        </p:nvCxnSpPr>
        <p:spPr>
          <a:xfrm>
            <a:off x="662925" y="3846648"/>
            <a:ext cx="792900" cy="792900"/>
          </a:xfrm>
          <a:prstGeom prst="straightConnector1">
            <a:avLst/>
          </a:prstGeom>
          <a:noFill/>
          <a:ln cap="flat" cmpd="sng" w="28575">
            <a:solidFill>
              <a:schemeClr val="dk1"/>
            </a:solidFill>
            <a:prstDash val="solid"/>
            <a:round/>
            <a:headEnd len="med" w="med" type="triangle"/>
            <a:tailEnd len="med" w="med" type="triangle"/>
          </a:ln>
        </p:spPr>
      </p:cxnSp>
      <p:sp>
        <p:nvSpPr>
          <p:cNvPr id="1508" name="Google Shape;1508;p106"/>
          <p:cNvSpPr/>
          <p:nvPr/>
        </p:nvSpPr>
        <p:spPr>
          <a:xfrm>
            <a:off x="1038140" y="4221863"/>
            <a:ext cx="42300" cy="42300"/>
          </a:xfrm>
          <a:prstGeom prst="ellipse">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509" name="Google Shape;1509;p106"/>
          <p:cNvSpPr txBox="1"/>
          <p:nvPr>
            <p:ph idx="4294967295" type="body"/>
          </p:nvPr>
        </p:nvSpPr>
        <p:spPr>
          <a:xfrm>
            <a:off x="950252" y="3933321"/>
            <a:ext cx="586500" cy="23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600"/>
              <a:t>11 cm</a:t>
            </a:r>
            <a:endParaRPr sz="1600"/>
          </a:p>
        </p:txBody>
      </p:sp>
      <p:sp>
        <p:nvSpPr>
          <p:cNvPr id="1510" name="Google Shape;1510;p106"/>
          <p:cNvSpPr txBox="1"/>
          <p:nvPr>
            <p:ph idx="1" type="body"/>
          </p:nvPr>
        </p:nvSpPr>
        <p:spPr>
          <a:xfrm>
            <a:off x="324000" y="3568198"/>
            <a:ext cx="2601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a:t>
            </a:r>
            <a:endParaRPr sz="1600"/>
          </a:p>
        </p:txBody>
      </p:sp>
      <p:sp>
        <p:nvSpPr>
          <p:cNvPr id="1511" name="Google Shape;1511;p106"/>
          <p:cNvSpPr txBox="1"/>
          <p:nvPr>
            <p:ph idx="1" type="body"/>
          </p:nvPr>
        </p:nvSpPr>
        <p:spPr>
          <a:xfrm>
            <a:off x="4743600" y="3568198"/>
            <a:ext cx="2601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b)</a:t>
            </a:r>
            <a:endParaRPr sz="1600"/>
          </a:p>
        </p:txBody>
      </p:sp>
      <p:sp>
        <p:nvSpPr>
          <p:cNvPr id="1512" name="Google Shape;1512;p106"/>
          <p:cNvSpPr txBox="1"/>
          <p:nvPr>
            <p:ph idx="4294967295" type="body"/>
          </p:nvPr>
        </p:nvSpPr>
        <p:spPr>
          <a:xfrm>
            <a:off x="1609550" y="3606623"/>
            <a:ext cx="26946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600"/>
              <a:t>diameter</a:t>
            </a:r>
            <a:r>
              <a:rPr lang="en-GB" sz="1600"/>
              <a:t> : </a:t>
            </a:r>
            <a:r>
              <a:rPr b="1" lang="en-GB" sz="1600"/>
              <a:t>circumference</a:t>
            </a:r>
            <a:endParaRPr sz="1600"/>
          </a:p>
        </p:txBody>
      </p:sp>
      <p:sp>
        <p:nvSpPr>
          <p:cNvPr id="1513" name="Google Shape;1513;p106"/>
          <p:cNvSpPr txBox="1"/>
          <p:nvPr>
            <p:ph idx="4294967295" type="body"/>
          </p:nvPr>
        </p:nvSpPr>
        <p:spPr>
          <a:xfrm>
            <a:off x="1982386" y="4004632"/>
            <a:ext cx="2457300" cy="384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600"/>
              <a:t>11 cm :           </a:t>
            </a:r>
            <a:endParaRPr sz="1600"/>
          </a:p>
        </p:txBody>
      </p:sp>
      <p:sp>
        <p:nvSpPr>
          <p:cNvPr id="1514" name="Google Shape;1514;p106"/>
          <p:cNvSpPr txBox="1"/>
          <p:nvPr>
            <p:ph idx="1" type="body"/>
          </p:nvPr>
        </p:nvSpPr>
        <p:spPr>
          <a:xfrm>
            <a:off x="4369422" y="1325322"/>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3</a:t>
            </a:r>
            <a:endParaRPr sz="1800">
              <a:latin typeface="Kalam"/>
              <a:ea typeface="Kalam"/>
              <a:cs typeface="Kalam"/>
              <a:sym typeface="Kalam"/>
            </a:endParaRPr>
          </a:p>
        </p:txBody>
      </p:sp>
      <p:sp>
        <p:nvSpPr>
          <p:cNvPr id="1515" name="Google Shape;1515;p106"/>
          <p:cNvSpPr txBox="1"/>
          <p:nvPr>
            <p:ph idx="1" type="body"/>
          </p:nvPr>
        </p:nvSpPr>
        <p:spPr>
          <a:xfrm>
            <a:off x="5969622" y="1325322"/>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12</a:t>
            </a:r>
            <a:endParaRPr sz="1800">
              <a:latin typeface="Kalam"/>
              <a:ea typeface="Kalam"/>
              <a:cs typeface="Kalam"/>
              <a:sym typeface="Kalam"/>
            </a:endParaRPr>
          </a:p>
        </p:txBody>
      </p:sp>
      <p:sp>
        <p:nvSpPr>
          <p:cNvPr id="1516" name="Google Shape;1516;p106"/>
          <p:cNvSpPr txBox="1"/>
          <p:nvPr>
            <p:ph idx="1" type="body"/>
          </p:nvPr>
        </p:nvSpPr>
        <p:spPr>
          <a:xfrm>
            <a:off x="5182109" y="1740340"/>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10</a:t>
            </a:r>
            <a:endParaRPr sz="1800">
              <a:latin typeface="Kalam"/>
              <a:ea typeface="Kalam"/>
              <a:cs typeface="Kalam"/>
              <a:sym typeface="Kalam"/>
            </a:endParaRPr>
          </a:p>
        </p:txBody>
      </p:sp>
      <p:sp>
        <p:nvSpPr>
          <p:cNvPr id="1517" name="Google Shape;1517;p106"/>
          <p:cNvSpPr txBox="1"/>
          <p:nvPr>
            <p:ph idx="1" type="body"/>
          </p:nvPr>
        </p:nvSpPr>
        <p:spPr>
          <a:xfrm>
            <a:off x="5952613" y="1740340"/>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24</a:t>
            </a:r>
            <a:endParaRPr sz="1800">
              <a:latin typeface="Kalam"/>
              <a:ea typeface="Kalam"/>
              <a:cs typeface="Kalam"/>
              <a:sym typeface="Kalam"/>
            </a:endParaRPr>
          </a:p>
        </p:txBody>
      </p:sp>
      <p:sp>
        <p:nvSpPr>
          <p:cNvPr id="1518" name="Google Shape;1518;p106"/>
          <p:cNvSpPr txBox="1"/>
          <p:nvPr>
            <p:ph idx="1" type="body"/>
          </p:nvPr>
        </p:nvSpPr>
        <p:spPr>
          <a:xfrm>
            <a:off x="6773804" y="1740340"/>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100</a:t>
            </a:r>
            <a:endParaRPr sz="1800">
              <a:latin typeface="Kalam"/>
              <a:ea typeface="Kalam"/>
              <a:cs typeface="Kalam"/>
              <a:sym typeface="Kalam"/>
            </a:endParaRPr>
          </a:p>
        </p:txBody>
      </p:sp>
      <p:sp>
        <p:nvSpPr>
          <p:cNvPr id="1519" name="Google Shape;1519;p106"/>
          <p:cNvSpPr txBox="1"/>
          <p:nvPr>
            <p:ph idx="1" type="body"/>
          </p:nvPr>
        </p:nvSpPr>
        <p:spPr>
          <a:xfrm>
            <a:off x="6773804" y="2189036"/>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100</a:t>
            </a:r>
            <a:r>
              <a:rPr i="1" lang="en-GB" sz="1800">
                <a:latin typeface="Times New Roman"/>
                <a:ea typeface="Times New Roman"/>
                <a:cs typeface="Times New Roman"/>
                <a:sym typeface="Times New Roman"/>
              </a:rPr>
              <a:t>π</a:t>
            </a:r>
            <a:endParaRPr sz="1800">
              <a:latin typeface="Kalam"/>
              <a:ea typeface="Kalam"/>
              <a:cs typeface="Kalam"/>
              <a:sym typeface="Kalam"/>
            </a:endParaRPr>
          </a:p>
        </p:txBody>
      </p:sp>
      <p:sp>
        <p:nvSpPr>
          <p:cNvPr id="1520" name="Google Shape;1520;p106"/>
          <p:cNvSpPr txBox="1"/>
          <p:nvPr>
            <p:ph idx="1" type="body"/>
          </p:nvPr>
        </p:nvSpPr>
        <p:spPr>
          <a:xfrm>
            <a:off x="4377587" y="2189036"/>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6</a:t>
            </a:r>
            <a:r>
              <a:rPr i="1" lang="en-GB" sz="1800">
                <a:latin typeface="Times New Roman"/>
                <a:ea typeface="Times New Roman"/>
                <a:cs typeface="Times New Roman"/>
                <a:sym typeface="Times New Roman"/>
              </a:rPr>
              <a:t>π</a:t>
            </a:r>
            <a:endParaRPr sz="1800">
              <a:latin typeface="Kalam"/>
              <a:ea typeface="Kalam"/>
              <a:cs typeface="Kalam"/>
              <a:sym typeface="Kalam"/>
            </a:endParaRPr>
          </a:p>
        </p:txBody>
      </p:sp>
      <p:sp>
        <p:nvSpPr>
          <p:cNvPr id="1521" name="Google Shape;1521;p106"/>
          <p:cNvSpPr txBox="1"/>
          <p:nvPr>
            <p:ph idx="1" type="body"/>
          </p:nvPr>
        </p:nvSpPr>
        <p:spPr>
          <a:xfrm>
            <a:off x="3581909" y="2189036"/>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2</a:t>
            </a:r>
            <a:r>
              <a:rPr i="1" lang="en-GB" sz="1800">
                <a:latin typeface="Times New Roman"/>
                <a:ea typeface="Times New Roman"/>
                <a:cs typeface="Times New Roman"/>
                <a:sym typeface="Times New Roman"/>
              </a:rPr>
              <a:t>π</a:t>
            </a:r>
            <a:endParaRPr sz="1800">
              <a:latin typeface="Kalam"/>
              <a:ea typeface="Kalam"/>
              <a:cs typeface="Kalam"/>
              <a:sym typeface="Kalam"/>
            </a:endParaRPr>
          </a:p>
        </p:txBody>
      </p:sp>
      <p:sp>
        <p:nvSpPr>
          <p:cNvPr id="1522" name="Google Shape;1522;p106"/>
          <p:cNvSpPr txBox="1"/>
          <p:nvPr>
            <p:ph idx="1" type="body"/>
          </p:nvPr>
        </p:nvSpPr>
        <p:spPr>
          <a:xfrm>
            <a:off x="2762878" y="3981604"/>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34.6</a:t>
            </a:r>
            <a:endParaRPr sz="1800">
              <a:latin typeface="Kalam"/>
              <a:ea typeface="Kalam"/>
              <a:cs typeface="Kalam"/>
              <a:sym typeface="Kalam"/>
            </a:endParaRPr>
          </a:p>
        </p:txBody>
      </p:sp>
      <p:sp>
        <p:nvSpPr>
          <p:cNvPr id="1523" name="Google Shape;1523;p106"/>
          <p:cNvSpPr txBox="1"/>
          <p:nvPr>
            <p:ph idx="1" type="body"/>
          </p:nvPr>
        </p:nvSpPr>
        <p:spPr>
          <a:xfrm>
            <a:off x="6307014" y="3981604"/>
            <a:ext cx="438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25.5</a:t>
            </a:r>
            <a:endParaRPr sz="1800">
              <a:latin typeface="Kalam"/>
              <a:ea typeface="Kalam"/>
              <a:cs typeface="Kalam"/>
              <a:sym typeface="Kalam"/>
            </a:endParaRPr>
          </a:p>
        </p:txBody>
      </p:sp>
      <p:sp>
        <p:nvSpPr>
          <p:cNvPr id="1524" name="Google Shape;1524;p106"/>
          <p:cNvSpPr/>
          <p:nvPr/>
        </p:nvSpPr>
        <p:spPr>
          <a:xfrm>
            <a:off x="5087424" y="3607697"/>
            <a:ext cx="792900" cy="7929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525" name="Google Shape;1525;p106"/>
          <p:cNvSpPr txBox="1"/>
          <p:nvPr>
            <p:ph idx="4294967295" type="body"/>
          </p:nvPr>
        </p:nvSpPr>
        <p:spPr>
          <a:xfrm>
            <a:off x="5362376" y="4530098"/>
            <a:ext cx="681300" cy="24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600"/>
              <a:t>80 mm</a:t>
            </a:r>
            <a:endParaRPr sz="1600"/>
          </a:p>
        </p:txBody>
      </p:sp>
      <p:sp>
        <p:nvSpPr>
          <p:cNvPr id="1526" name="Google Shape;1526;p106"/>
          <p:cNvSpPr txBox="1"/>
          <p:nvPr>
            <p:ph idx="4294967295" type="body"/>
          </p:nvPr>
        </p:nvSpPr>
        <p:spPr>
          <a:xfrm>
            <a:off x="6257750" y="3606623"/>
            <a:ext cx="3261900" cy="38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600"/>
              <a:t>diameter</a:t>
            </a:r>
            <a:r>
              <a:rPr lang="en-GB" sz="1600"/>
              <a:t> : </a:t>
            </a:r>
            <a:r>
              <a:rPr b="1" lang="en-GB" sz="1600"/>
              <a:t>circumference</a:t>
            </a:r>
            <a:endParaRPr sz="1600"/>
          </a:p>
        </p:txBody>
      </p:sp>
      <p:cxnSp>
        <p:nvCxnSpPr>
          <p:cNvPr id="1527" name="Google Shape;1527;p106"/>
          <p:cNvCxnSpPr/>
          <p:nvPr/>
        </p:nvCxnSpPr>
        <p:spPr>
          <a:xfrm>
            <a:off x="5167676" y="4284398"/>
            <a:ext cx="194700" cy="366900"/>
          </a:xfrm>
          <a:prstGeom prst="straightConnector1">
            <a:avLst/>
          </a:prstGeom>
          <a:noFill/>
          <a:ln cap="flat" cmpd="sng" w="28575">
            <a:solidFill>
              <a:schemeClr val="dk1"/>
            </a:solidFill>
            <a:prstDash val="solid"/>
            <a:round/>
            <a:headEnd len="med" w="med" type="none"/>
            <a:tailEnd len="med" w="med" type="none"/>
          </a:ln>
        </p:spPr>
      </p:cxnSp>
      <p:sp>
        <p:nvSpPr>
          <p:cNvPr id="1528" name="Google Shape;1528;p106"/>
          <p:cNvSpPr txBox="1"/>
          <p:nvPr>
            <p:ph idx="4294967295" type="body"/>
          </p:nvPr>
        </p:nvSpPr>
        <p:spPr>
          <a:xfrm>
            <a:off x="3273242" y="4004625"/>
            <a:ext cx="1318800" cy="384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600"/>
              <a:t>cm</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107"/>
          <p:cNvSpPr txBox="1"/>
          <p:nvPr>
            <p:ph idx="1" type="body"/>
          </p:nvPr>
        </p:nvSpPr>
        <p:spPr>
          <a:xfrm>
            <a:off x="324000" y="828117"/>
            <a:ext cx="8496000" cy="37404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Char char="●"/>
            </a:pPr>
            <a:r>
              <a:rPr lang="en-GB" sz="2000"/>
              <a:t>The </a:t>
            </a:r>
            <a:r>
              <a:rPr b="1" lang="en-GB" sz="2000"/>
              <a:t>diameter</a:t>
            </a:r>
            <a:r>
              <a:rPr lang="en-GB" sz="2000"/>
              <a:t> of a circle is double the length of the radius. The length of the </a:t>
            </a:r>
            <a:r>
              <a:rPr b="1" lang="en-GB" sz="2000"/>
              <a:t>radius</a:t>
            </a:r>
            <a:r>
              <a:rPr lang="en-GB" sz="2000"/>
              <a:t> is half of the </a:t>
            </a:r>
            <a:r>
              <a:rPr b="1" lang="en-GB" sz="2000"/>
              <a:t>diameter</a:t>
            </a:r>
            <a:r>
              <a:rPr lang="en-GB" sz="2000"/>
              <a:t>.</a:t>
            </a:r>
            <a:endParaRPr sz="2000"/>
          </a:p>
          <a:p>
            <a:pPr indent="-355600" lvl="0" marL="457200" rtl="0" algn="l">
              <a:spcBef>
                <a:spcPts val="1000"/>
              </a:spcBef>
              <a:spcAft>
                <a:spcPts val="0"/>
              </a:spcAft>
              <a:buSzPts val="2000"/>
              <a:buChar char="●"/>
            </a:pPr>
            <a:r>
              <a:rPr lang="en-GB" sz="2000"/>
              <a:t>The ratio between the </a:t>
            </a:r>
            <a:r>
              <a:rPr b="1" lang="en-GB" sz="2000"/>
              <a:t>diameter</a:t>
            </a:r>
            <a:r>
              <a:rPr lang="en-GB" sz="2000"/>
              <a:t> and </a:t>
            </a:r>
            <a:r>
              <a:rPr b="1" lang="en-GB" sz="2000"/>
              <a:t>circumference</a:t>
            </a:r>
            <a:r>
              <a:rPr lang="en-GB" sz="2000"/>
              <a:t> of a circle is always the same.</a:t>
            </a:r>
            <a:endParaRPr sz="2000"/>
          </a:p>
          <a:p>
            <a:pPr indent="-355600" lvl="0" marL="457200" rtl="0" algn="l">
              <a:spcBef>
                <a:spcPts val="1000"/>
              </a:spcBef>
              <a:spcAft>
                <a:spcPts val="0"/>
              </a:spcAft>
              <a:buSzPts val="2000"/>
              <a:buChar char="●"/>
            </a:pPr>
            <a:r>
              <a:rPr lang="en-GB" sz="2000"/>
              <a:t>The ratio between the </a:t>
            </a:r>
            <a:r>
              <a:rPr b="1" lang="en-GB" sz="2000"/>
              <a:t>diameter</a:t>
            </a:r>
            <a:r>
              <a:rPr lang="en-GB" sz="2000"/>
              <a:t> and </a:t>
            </a:r>
            <a:r>
              <a:rPr b="1" lang="en-GB" sz="2000"/>
              <a:t>circumference</a:t>
            </a:r>
            <a:r>
              <a:rPr lang="en-GB" sz="2000"/>
              <a:t> is called </a:t>
            </a:r>
            <a:r>
              <a:rPr lang="en-GB" sz="2000">
                <a:latin typeface="Times New Roman"/>
                <a:ea typeface="Times New Roman"/>
                <a:cs typeface="Times New Roman"/>
                <a:sym typeface="Times New Roman"/>
              </a:rPr>
              <a:t>π</a:t>
            </a:r>
            <a:r>
              <a:rPr lang="en-GB" sz="2000"/>
              <a:t> (“pi”).</a:t>
            </a:r>
            <a:endParaRPr sz="2000"/>
          </a:p>
          <a:p>
            <a:pPr indent="-355600" lvl="0" marL="457200" rtl="0" algn="l">
              <a:spcBef>
                <a:spcPts val="1000"/>
              </a:spcBef>
              <a:spcAft>
                <a:spcPts val="0"/>
              </a:spcAft>
              <a:buSzPts val="2000"/>
              <a:buChar char="●"/>
            </a:pPr>
            <a:r>
              <a:rPr lang="en-GB">
                <a:latin typeface="Times New Roman"/>
                <a:ea typeface="Times New Roman"/>
                <a:cs typeface="Times New Roman"/>
                <a:sym typeface="Times New Roman"/>
              </a:rPr>
              <a:t>π</a:t>
            </a:r>
            <a:r>
              <a:rPr i="1" lang="en-GB" sz="2000">
                <a:latin typeface="Times New Roman"/>
                <a:ea typeface="Times New Roman"/>
                <a:cs typeface="Times New Roman"/>
                <a:sym typeface="Times New Roman"/>
              </a:rPr>
              <a:t> </a:t>
            </a:r>
            <a:r>
              <a:rPr lang="en-GB" sz="2000"/>
              <a:t>cannot be written accurately in decimal form, but it is approximately 3.14159…</a:t>
            </a:r>
            <a:endParaRPr sz="2000"/>
          </a:p>
          <a:p>
            <a:pPr indent="-355600" lvl="0" marL="457200" rtl="0" algn="l">
              <a:spcBef>
                <a:spcPts val="1000"/>
              </a:spcBef>
              <a:spcAft>
                <a:spcPts val="1000"/>
              </a:spcAft>
              <a:buSzPts val="2000"/>
              <a:buChar char="●"/>
            </a:pPr>
            <a:r>
              <a:rPr lang="en-GB" sz="2000"/>
              <a:t>The </a:t>
            </a:r>
            <a:r>
              <a:rPr b="1" lang="en-GB" sz="2000"/>
              <a:t>circumference</a:t>
            </a:r>
            <a:r>
              <a:rPr lang="en-GB" sz="2000"/>
              <a:t> of a circle can be calculated using the formula </a:t>
            </a:r>
            <a:r>
              <a:rPr i="1" lang="en-GB" sz="2000">
                <a:latin typeface="Times New Roman"/>
                <a:ea typeface="Times New Roman"/>
                <a:cs typeface="Times New Roman"/>
                <a:sym typeface="Times New Roman"/>
              </a:rPr>
              <a:t>C = </a:t>
            </a:r>
            <a:r>
              <a:rPr lang="en-GB" sz="2000">
                <a:latin typeface="Times New Roman"/>
                <a:ea typeface="Times New Roman"/>
                <a:cs typeface="Times New Roman"/>
                <a:sym typeface="Times New Roman"/>
              </a:rPr>
              <a:t>π</a:t>
            </a:r>
            <a:r>
              <a:rPr i="1" lang="en-GB" sz="2000">
                <a:latin typeface="Times New Roman"/>
                <a:ea typeface="Times New Roman"/>
                <a:cs typeface="Times New Roman"/>
                <a:sym typeface="Times New Roman"/>
              </a:rPr>
              <a:t>d</a:t>
            </a:r>
            <a:r>
              <a:rPr lang="en-GB" sz="2000"/>
              <a:t> or </a:t>
            </a:r>
            <a:r>
              <a:rPr i="1" lang="en-GB" sz="2000">
                <a:latin typeface="Times New Roman"/>
                <a:ea typeface="Times New Roman"/>
                <a:cs typeface="Times New Roman"/>
                <a:sym typeface="Times New Roman"/>
              </a:rPr>
              <a:t>C = 2</a:t>
            </a:r>
            <a:r>
              <a:rPr lang="en-GB" sz="2000">
                <a:latin typeface="Times New Roman"/>
                <a:ea typeface="Times New Roman"/>
                <a:cs typeface="Times New Roman"/>
                <a:sym typeface="Times New Roman"/>
              </a:rPr>
              <a:t>π</a:t>
            </a:r>
            <a:r>
              <a:rPr i="1" lang="en-GB" sz="2000">
                <a:latin typeface="Times New Roman"/>
                <a:ea typeface="Times New Roman"/>
                <a:cs typeface="Times New Roman"/>
                <a:sym typeface="Times New Roman"/>
              </a:rPr>
              <a:t>r</a:t>
            </a:r>
            <a:endParaRPr sz="2000"/>
          </a:p>
        </p:txBody>
      </p:sp>
      <p:sp>
        <p:nvSpPr>
          <p:cNvPr id="1534" name="Google Shape;1534;p107"/>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circles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108"/>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540" name="Google Shape;1540;p108"/>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