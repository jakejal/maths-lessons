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0e4fde957f_0_297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0e4fde957f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0e4fde957f_0_30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0e4fde957f_0_3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climate change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1" y="1335050"/>
            <a:ext cx="6194100" cy="29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Comparing data between different periods of time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" name="Google Shape;105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7250" y="4399775"/>
            <a:ext cx="4183751" cy="1101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45643" y="2642725"/>
            <a:ext cx="4176851" cy="110123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7" name="Google Shape;107;p12"/>
          <p:cNvCxnSpPr/>
          <p:nvPr/>
        </p:nvCxnSpPr>
        <p:spPr>
          <a:xfrm>
            <a:off x="1751712" y="3745101"/>
            <a:ext cx="43398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8" name="Google Shape;108;p12"/>
          <p:cNvCxnSpPr/>
          <p:nvPr/>
        </p:nvCxnSpPr>
        <p:spPr>
          <a:xfrm rot="10800000">
            <a:off x="1748119" y="2441852"/>
            <a:ext cx="0" cy="13089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2"/>
          <p:cNvSpPr txBox="1"/>
          <p:nvPr/>
        </p:nvSpPr>
        <p:spPr>
          <a:xfrm>
            <a:off x="2028075" y="3775553"/>
            <a:ext cx="23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2"/>
          <p:cNvSpPr txBox="1"/>
          <p:nvPr/>
        </p:nvSpPr>
        <p:spPr>
          <a:xfrm>
            <a:off x="2366088" y="37755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" name="Google Shape;111;p12"/>
          <p:cNvSpPr txBox="1"/>
          <p:nvPr/>
        </p:nvSpPr>
        <p:spPr>
          <a:xfrm>
            <a:off x="2806782" y="3775553"/>
            <a:ext cx="24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" name="Google Shape;112;p12"/>
          <p:cNvSpPr txBox="1"/>
          <p:nvPr/>
        </p:nvSpPr>
        <p:spPr>
          <a:xfrm>
            <a:off x="3127796" y="3775553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" name="Google Shape;113;p12"/>
          <p:cNvSpPr txBox="1"/>
          <p:nvPr/>
        </p:nvSpPr>
        <p:spPr>
          <a:xfrm>
            <a:off x="3565111" y="3775553"/>
            <a:ext cx="195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" name="Google Shape;114;p12"/>
          <p:cNvSpPr txBox="1"/>
          <p:nvPr/>
        </p:nvSpPr>
        <p:spPr>
          <a:xfrm>
            <a:off x="3869454" y="37755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2"/>
          <p:cNvSpPr txBox="1"/>
          <p:nvPr/>
        </p:nvSpPr>
        <p:spPr>
          <a:xfrm>
            <a:off x="4359144" y="3775553"/>
            <a:ext cx="195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" name="Google Shape;116;p12"/>
          <p:cNvSpPr txBox="1"/>
          <p:nvPr/>
        </p:nvSpPr>
        <p:spPr>
          <a:xfrm>
            <a:off x="4697190" y="37755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/>
        </p:nvSpPr>
        <p:spPr>
          <a:xfrm>
            <a:off x="5134947" y="3775553"/>
            <a:ext cx="129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2"/>
          <p:cNvSpPr txBox="1"/>
          <p:nvPr/>
        </p:nvSpPr>
        <p:spPr>
          <a:xfrm>
            <a:off x="5453941" y="3775553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9" name="Google Shape;119;p12"/>
          <p:cNvSpPr txBox="1"/>
          <p:nvPr/>
        </p:nvSpPr>
        <p:spPr>
          <a:xfrm>
            <a:off x="5862382" y="37755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1554562" y="3636167"/>
            <a:ext cx="15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1437345" y="3259142"/>
            <a:ext cx="27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1351890" y="2893287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1351865" y="2546559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3270462" y="2471392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1979 to 2001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2"/>
          <p:cNvSpPr txBox="1"/>
          <p:nvPr/>
        </p:nvSpPr>
        <p:spPr>
          <a:xfrm rot="-5400000">
            <a:off x="694155" y="2803353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6" name="Google Shape;126;p12"/>
          <p:cNvCxnSpPr/>
          <p:nvPr/>
        </p:nvCxnSpPr>
        <p:spPr>
          <a:xfrm>
            <a:off x="1751712" y="5497701"/>
            <a:ext cx="43398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7" name="Google Shape;127;p12"/>
          <p:cNvCxnSpPr/>
          <p:nvPr/>
        </p:nvCxnSpPr>
        <p:spPr>
          <a:xfrm rot="10800000">
            <a:off x="1748119" y="4194452"/>
            <a:ext cx="0" cy="13089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8" name="Google Shape;128;p12"/>
          <p:cNvSpPr txBox="1"/>
          <p:nvPr/>
        </p:nvSpPr>
        <p:spPr>
          <a:xfrm>
            <a:off x="2028075" y="5528153"/>
            <a:ext cx="23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-3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" name="Google Shape;129;p12"/>
          <p:cNvSpPr txBox="1"/>
          <p:nvPr/>
        </p:nvSpPr>
        <p:spPr>
          <a:xfrm>
            <a:off x="2366088" y="55281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2"/>
          <p:cNvSpPr txBox="1"/>
          <p:nvPr/>
        </p:nvSpPr>
        <p:spPr>
          <a:xfrm>
            <a:off x="2806782" y="5528153"/>
            <a:ext cx="240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" name="Google Shape;131;p12"/>
          <p:cNvSpPr txBox="1"/>
          <p:nvPr/>
        </p:nvSpPr>
        <p:spPr>
          <a:xfrm>
            <a:off x="3127796" y="5528153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" name="Google Shape;132;p12"/>
          <p:cNvSpPr txBox="1"/>
          <p:nvPr/>
        </p:nvSpPr>
        <p:spPr>
          <a:xfrm>
            <a:off x="3565111" y="5528153"/>
            <a:ext cx="195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3869454" y="55281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2"/>
          <p:cNvSpPr txBox="1"/>
          <p:nvPr/>
        </p:nvSpPr>
        <p:spPr>
          <a:xfrm>
            <a:off x="4359144" y="5528153"/>
            <a:ext cx="195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2"/>
          <p:cNvSpPr txBox="1"/>
          <p:nvPr/>
        </p:nvSpPr>
        <p:spPr>
          <a:xfrm>
            <a:off x="4697190" y="55281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2"/>
          <p:cNvSpPr txBox="1"/>
          <p:nvPr/>
        </p:nvSpPr>
        <p:spPr>
          <a:xfrm>
            <a:off x="5134947" y="5528153"/>
            <a:ext cx="129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2"/>
          <p:cNvSpPr txBox="1"/>
          <p:nvPr/>
        </p:nvSpPr>
        <p:spPr>
          <a:xfrm>
            <a:off x="5453941" y="5528153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2"/>
          <p:cNvSpPr txBox="1"/>
          <p:nvPr/>
        </p:nvSpPr>
        <p:spPr>
          <a:xfrm>
            <a:off x="5862382" y="5528158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2"/>
          <p:cNvSpPr txBox="1"/>
          <p:nvPr/>
        </p:nvSpPr>
        <p:spPr>
          <a:xfrm>
            <a:off x="1554562" y="5388767"/>
            <a:ext cx="15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" name="Google Shape;140;p12"/>
          <p:cNvSpPr txBox="1"/>
          <p:nvPr/>
        </p:nvSpPr>
        <p:spPr>
          <a:xfrm>
            <a:off x="1437345" y="5011742"/>
            <a:ext cx="27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" name="Google Shape;141;p12"/>
          <p:cNvSpPr txBox="1"/>
          <p:nvPr/>
        </p:nvSpPr>
        <p:spPr>
          <a:xfrm>
            <a:off x="1351890" y="4645887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2"/>
          <p:cNvSpPr txBox="1"/>
          <p:nvPr/>
        </p:nvSpPr>
        <p:spPr>
          <a:xfrm>
            <a:off x="1351865" y="4299159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2"/>
          <p:cNvSpPr txBox="1"/>
          <p:nvPr/>
        </p:nvSpPr>
        <p:spPr>
          <a:xfrm>
            <a:off x="3270462" y="4212678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2002 to 2024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4" name="Google Shape;144;p12"/>
          <p:cNvSpPr txBox="1"/>
          <p:nvPr/>
        </p:nvSpPr>
        <p:spPr>
          <a:xfrm rot="-5400000">
            <a:off x="694155" y="4555953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12"/>
          <p:cNvSpPr txBox="1"/>
          <p:nvPr/>
        </p:nvSpPr>
        <p:spPr>
          <a:xfrm>
            <a:off x="1716275" y="5800325"/>
            <a:ext cx="4214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Horizontal axes show the monthly Arctic sea ice extent expressed as a difference from the 1981-2010 average for each month separately (million km</a:t>
            </a:r>
            <a:r>
              <a:rPr baseline="30000"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).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12"/>
          <p:cNvSpPr txBox="1"/>
          <p:nvPr/>
        </p:nvSpPr>
        <p:spPr>
          <a:xfrm>
            <a:off x="476400" y="18006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The graphs show data from the Met Office and OSI SAF about sea ice in the Arctic for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each month from 1979 to 2024.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12"/>
          <p:cNvSpPr txBox="1"/>
          <p:nvPr/>
        </p:nvSpPr>
        <p:spPr>
          <a:xfrm>
            <a:off x="476400" y="6711418"/>
            <a:ext cx="661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What was the modal class for 1979 to 2001?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476400" y="7321018"/>
            <a:ext cx="661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What was the modal class for 2002 to 2024?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2"/>
          <p:cNvSpPr txBox="1"/>
          <p:nvPr/>
        </p:nvSpPr>
        <p:spPr>
          <a:xfrm>
            <a:off x="476400" y="7930618"/>
            <a:ext cx="6615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c) Did the extent of sea ice generally increase or decrease between the two periods of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time? Explain your answer.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climate change</a:t>
            </a:r>
            <a:endParaRPr/>
          </a:p>
        </p:txBody>
      </p:sp>
      <p:sp>
        <p:nvSpPr>
          <p:cNvPr id="155" name="Google Shape;155;p13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156" name="Google Shape;156;p13"/>
          <p:cNvSpPr txBox="1"/>
          <p:nvPr/>
        </p:nvSpPr>
        <p:spPr>
          <a:xfrm>
            <a:off x="468000" y="810000"/>
            <a:ext cx="66240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The graphs show data from the Met Office and HadSST4 about sea-surface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temperatures for each year from 1851 to 2024.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7" name="Google Shape;15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7994" y="4413850"/>
            <a:ext cx="4176850" cy="82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5969" y="2984850"/>
            <a:ext cx="4162351" cy="822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32000" y="1645025"/>
            <a:ext cx="4176850" cy="82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3"/>
          <p:cNvCxnSpPr/>
          <p:nvPr/>
        </p:nvCxnSpPr>
        <p:spPr>
          <a:xfrm>
            <a:off x="1635598" y="2464669"/>
            <a:ext cx="43398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13"/>
          <p:cNvCxnSpPr/>
          <p:nvPr/>
        </p:nvCxnSpPr>
        <p:spPr>
          <a:xfrm rot="10800000">
            <a:off x="1632004" y="1456920"/>
            <a:ext cx="0" cy="10134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2" name="Google Shape;162;p13"/>
          <p:cNvSpPr txBox="1"/>
          <p:nvPr/>
        </p:nvSpPr>
        <p:spPr>
          <a:xfrm>
            <a:off x="1915946" y="2479079"/>
            <a:ext cx="23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3"/>
          <p:cNvSpPr txBox="1"/>
          <p:nvPr/>
        </p:nvSpPr>
        <p:spPr>
          <a:xfrm>
            <a:off x="2223244" y="2479084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3"/>
          <p:cNvSpPr txBox="1"/>
          <p:nvPr/>
        </p:nvSpPr>
        <p:spPr>
          <a:xfrm>
            <a:off x="2604156" y="2479081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13"/>
          <p:cNvSpPr txBox="1"/>
          <p:nvPr/>
        </p:nvSpPr>
        <p:spPr>
          <a:xfrm>
            <a:off x="2997596" y="2479079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3"/>
          <p:cNvSpPr txBox="1"/>
          <p:nvPr/>
        </p:nvSpPr>
        <p:spPr>
          <a:xfrm>
            <a:off x="3373477" y="2479081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3"/>
          <p:cNvSpPr txBox="1"/>
          <p:nvPr/>
        </p:nvSpPr>
        <p:spPr>
          <a:xfrm>
            <a:off x="3882668" y="2479081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8" name="Google Shape;168;p13"/>
          <p:cNvSpPr txBox="1"/>
          <p:nvPr/>
        </p:nvSpPr>
        <p:spPr>
          <a:xfrm>
            <a:off x="4192396" y="2479081"/>
            <a:ext cx="31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9" name="Google Shape;169;p13"/>
          <p:cNvSpPr txBox="1"/>
          <p:nvPr/>
        </p:nvSpPr>
        <p:spPr>
          <a:xfrm>
            <a:off x="4567953" y="2479084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4941458" y="2479081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1" name="Google Shape;171;p13"/>
          <p:cNvSpPr txBox="1"/>
          <p:nvPr/>
        </p:nvSpPr>
        <p:spPr>
          <a:xfrm>
            <a:off x="5325870" y="2479079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2" name="Google Shape;172;p13"/>
          <p:cNvSpPr txBox="1"/>
          <p:nvPr/>
        </p:nvSpPr>
        <p:spPr>
          <a:xfrm>
            <a:off x="5746268" y="2479084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1438447" y="2355735"/>
            <a:ext cx="15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1235775" y="1815747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1235751" y="1562763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13"/>
          <p:cNvSpPr txBox="1"/>
          <p:nvPr/>
        </p:nvSpPr>
        <p:spPr>
          <a:xfrm>
            <a:off x="1321230" y="2095946"/>
            <a:ext cx="27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13"/>
          <p:cNvSpPr txBox="1"/>
          <p:nvPr/>
        </p:nvSpPr>
        <p:spPr>
          <a:xfrm>
            <a:off x="3382948" y="1470364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1851 to 1908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13"/>
          <p:cNvSpPr txBox="1"/>
          <p:nvPr/>
        </p:nvSpPr>
        <p:spPr>
          <a:xfrm rot="-5400000">
            <a:off x="441541" y="1747892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13"/>
          <p:cNvSpPr txBox="1"/>
          <p:nvPr/>
        </p:nvSpPr>
        <p:spPr>
          <a:xfrm>
            <a:off x="1619150" y="5552375"/>
            <a:ext cx="4674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Horizontal axes show the annual global mean sea-surface temperature expressed as a difference from 1981-2010 average (°C).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13"/>
          <p:cNvCxnSpPr/>
          <p:nvPr/>
        </p:nvCxnSpPr>
        <p:spPr>
          <a:xfrm>
            <a:off x="1635598" y="3809055"/>
            <a:ext cx="43398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1" name="Google Shape;181;p13"/>
          <p:cNvCxnSpPr/>
          <p:nvPr/>
        </p:nvCxnSpPr>
        <p:spPr>
          <a:xfrm rot="10800000">
            <a:off x="1632004" y="2801306"/>
            <a:ext cx="0" cy="10134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2" name="Google Shape;182;p13"/>
          <p:cNvSpPr txBox="1"/>
          <p:nvPr/>
        </p:nvSpPr>
        <p:spPr>
          <a:xfrm>
            <a:off x="1915946" y="3823465"/>
            <a:ext cx="23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13"/>
          <p:cNvSpPr txBox="1"/>
          <p:nvPr/>
        </p:nvSpPr>
        <p:spPr>
          <a:xfrm>
            <a:off x="2223244" y="3823470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13"/>
          <p:cNvSpPr txBox="1"/>
          <p:nvPr/>
        </p:nvSpPr>
        <p:spPr>
          <a:xfrm>
            <a:off x="2604156" y="3823466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13"/>
          <p:cNvSpPr txBox="1"/>
          <p:nvPr/>
        </p:nvSpPr>
        <p:spPr>
          <a:xfrm>
            <a:off x="2997596" y="3823465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13"/>
          <p:cNvSpPr txBox="1"/>
          <p:nvPr/>
        </p:nvSpPr>
        <p:spPr>
          <a:xfrm>
            <a:off x="3373477" y="3823466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13"/>
          <p:cNvSpPr txBox="1"/>
          <p:nvPr/>
        </p:nvSpPr>
        <p:spPr>
          <a:xfrm>
            <a:off x="3882668" y="3823466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3"/>
          <p:cNvSpPr txBox="1"/>
          <p:nvPr/>
        </p:nvSpPr>
        <p:spPr>
          <a:xfrm>
            <a:off x="4192396" y="3823466"/>
            <a:ext cx="31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4567953" y="3823470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4941458" y="3823466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13"/>
          <p:cNvSpPr txBox="1"/>
          <p:nvPr/>
        </p:nvSpPr>
        <p:spPr>
          <a:xfrm>
            <a:off x="5325870" y="3823465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13"/>
          <p:cNvSpPr txBox="1"/>
          <p:nvPr/>
        </p:nvSpPr>
        <p:spPr>
          <a:xfrm>
            <a:off x="5746268" y="3823470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13"/>
          <p:cNvSpPr txBox="1"/>
          <p:nvPr/>
        </p:nvSpPr>
        <p:spPr>
          <a:xfrm>
            <a:off x="1438447" y="3700121"/>
            <a:ext cx="15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4" name="Google Shape;194;p13"/>
          <p:cNvSpPr txBox="1"/>
          <p:nvPr/>
        </p:nvSpPr>
        <p:spPr>
          <a:xfrm>
            <a:off x="1235775" y="3160133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5" name="Google Shape;195;p13"/>
          <p:cNvSpPr txBox="1"/>
          <p:nvPr/>
        </p:nvSpPr>
        <p:spPr>
          <a:xfrm>
            <a:off x="1235751" y="2907148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13"/>
          <p:cNvSpPr txBox="1"/>
          <p:nvPr/>
        </p:nvSpPr>
        <p:spPr>
          <a:xfrm>
            <a:off x="1321230" y="3440332"/>
            <a:ext cx="27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13"/>
          <p:cNvSpPr txBox="1"/>
          <p:nvPr/>
        </p:nvSpPr>
        <p:spPr>
          <a:xfrm>
            <a:off x="3382948" y="2814749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1909 to 1966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13"/>
          <p:cNvSpPr txBox="1"/>
          <p:nvPr/>
        </p:nvSpPr>
        <p:spPr>
          <a:xfrm rot="-5400000">
            <a:off x="441541" y="3092278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9" name="Google Shape;199;p13"/>
          <p:cNvCxnSpPr/>
          <p:nvPr/>
        </p:nvCxnSpPr>
        <p:spPr>
          <a:xfrm>
            <a:off x="1635598" y="5226012"/>
            <a:ext cx="43398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0" name="Google Shape;200;p13"/>
          <p:cNvCxnSpPr/>
          <p:nvPr/>
        </p:nvCxnSpPr>
        <p:spPr>
          <a:xfrm rot="10800000">
            <a:off x="1632004" y="4218263"/>
            <a:ext cx="0" cy="10134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1" name="Google Shape;201;p13"/>
          <p:cNvSpPr txBox="1"/>
          <p:nvPr/>
        </p:nvSpPr>
        <p:spPr>
          <a:xfrm>
            <a:off x="1915946" y="5240422"/>
            <a:ext cx="23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13"/>
          <p:cNvSpPr txBox="1"/>
          <p:nvPr/>
        </p:nvSpPr>
        <p:spPr>
          <a:xfrm>
            <a:off x="2223244" y="5240427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13"/>
          <p:cNvSpPr txBox="1"/>
          <p:nvPr/>
        </p:nvSpPr>
        <p:spPr>
          <a:xfrm>
            <a:off x="2604156" y="5240424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3"/>
          <p:cNvSpPr txBox="1"/>
          <p:nvPr/>
        </p:nvSpPr>
        <p:spPr>
          <a:xfrm>
            <a:off x="2997596" y="5240422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13"/>
          <p:cNvSpPr txBox="1"/>
          <p:nvPr/>
        </p:nvSpPr>
        <p:spPr>
          <a:xfrm>
            <a:off x="3373477" y="5240424"/>
            <a:ext cx="411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3882668" y="5240424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13"/>
          <p:cNvSpPr txBox="1"/>
          <p:nvPr/>
        </p:nvSpPr>
        <p:spPr>
          <a:xfrm>
            <a:off x="4192396" y="5240424"/>
            <a:ext cx="310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0.2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13"/>
          <p:cNvSpPr txBox="1"/>
          <p:nvPr/>
        </p:nvSpPr>
        <p:spPr>
          <a:xfrm>
            <a:off x="4567953" y="5240427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0.4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13"/>
          <p:cNvSpPr txBox="1"/>
          <p:nvPr/>
        </p:nvSpPr>
        <p:spPr>
          <a:xfrm>
            <a:off x="4941458" y="5240424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0.6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13"/>
          <p:cNvSpPr txBox="1"/>
          <p:nvPr/>
        </p:nvSpPr>
        <p:spPr>
          <a:xfrm>
            <a:off x="5325870" y="5240422"/>
            <a:ext cx="293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0.8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13"/>
          <p:cNvSpPr txBox="1"/>
          <p:nvPr/>
        </p:nvSpPr>
        <p:spPr>
          <a:xfrm>
            <a:off x="5746268" y="5240427"/>
            <a:ext cx="427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13"/>
          <p:cNvSpPr txBox="1"/>
          <p:nvPr/>
        </p:nvSpPr>
        <p:spPr>
          <a:xfrm>
            <a:off x="1438447" y="5117078"/>
            <a:ext cx="153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3" name="Google Shape;213;p13"/>
          <p:cNvSpPr txBox="1"/>
          <p:nvPr/>
        </p:nvSpPr>
        <p:spPr>
          <a:xfrm>
            <a:off x="1235775" y="4577090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13"/>
          <p:cNvSpPr txBox="1"/>
          <p:nvPr/>
        </p:nvSpPr>
        <p:spPr>
          <a:xfrm>
            <a:off x="1235751" y="4324105"/>
            <a:ext cx="355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30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5" name="Google Shape;215;p13"/>
          <p:cNvSpPr txBox="1"/>
          <p:nvPr/>
        </p:nvSpPr>
        <p:spPr>
          <a:xfrm>
            <a:off x="1321230" y="4857289"/>
            <a:ext cx="270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13"/>
          <p:cNvSpPr txBox="1"/>
          <p:nvPr/>
        </p:nvSpPr>
        <p:spPr>
          <a:xfrm>
            <a:off x="3382948" y="4239711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highlight>
                  <a:srgbClr val="FFFFFF"/>
                </a:highlight>
                <a:latin typeface="Lexend"/>
                <a:ea typeface="Lexend"/>
                <a:cs typeface="Lexend"/>
                <a:sym typeface="Lexend"/>
              </a:rPr>
              <a:t>1967 to 2024</a:t>
            </a:r>
            <a:endParaRPr sz="1100">
              <a:solidFill>
                <a:srgbClr val="222222"/>
              </a:solidFill>
              <a:highlight>
                <a:srgbClr val="FFFFFF"/>
              </a:highlight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13"/>
          <p:cNvSpPr txBox="1"/>
          <p:nvPr/>
        </p:nvSpPr>
        <p:spPr>
          <a:xfrm rot="-5400000">
            <a:off x="441541" y="4482021"/>
            <a:ext cx="12540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frequency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13"/>
          <p:cNvSpPr txBox="1"/>
          <p:nvPr/>
        </p:nvSpPr>
        <p:spPr>
          <a:xfrm>
            <a:off x="508593" y="6228364"/>
            <a:ext cx="63888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Compare the sea-surface temperatures for the three periods of time.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Describe any conclusions that you can draw from the data.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" name="Google Shape;219;p13"/>
          <p:cNvCxnSpPr/>
          <p:nvPr/>
        </p:nvCxnSpPr>
        <p:spPr>
          <a:xfrm>
            <a:off x="482701" y="9954310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</a:t>
            </a:r>
            <a:r>
              <a:rPr lang="en-GB"/>
              <a:t>climate</a:t>
            </a:r>
            <a:r>
              <a:rPr lang="en-GB"/>
              <a:t> change</a:t>
            </a:r>
            <a:endParaRPr/>
          </a:p>
        </p:txBody>
      </p:sp>
      <p:sp>
        <p:nvSpPr>
          <p:cNvPr id="225" name="Google Shape;225;p14"/>
          <p:cNvSpPr txBox="1"/>
          <p:nvPr/>
        </p:nvSpPr>
        <p:spPr>
          <a:xfrm>
            <a:off x="6352325" y="9972000"/>
            <a:ext cx="48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rgbClr val="222222"/>
                </a:solidFill>
                <a:latin typeface="Lexend Medium"/>
                <a:ea typeface="Lexend Medium"/>
                <a:cs typeface="Lexend Medium"/>
                <a:sym typeface="Lexend Medium"/>
              </a:rPr>
              <a:t>‹#›</a:t>
            </a:fld>
            <a:endParaRPr sz="1200">
              <a:solidFill>
                <a:srgbClr val="222222"/>
              </a:solidFill>
              <a:latin typeface="Lexend Medium"/>
              <a:ea typeface="Lexend Medium"/>
              <a:cs typeface="Lexend Medium"/>
              <a:sym typeface="Lexend Medium"/>
            </a:endParaRPr>
          </a:p>
        </p:txBody>
      </p:sp>
      <p:sp>
        <p:nvSpPr>
          <p:cNvPr id="226" name="Google Shape;226;p14"/>
          <p:cNvSpPr txBox="1"/>
          <p:nvPr/>
        </p:nvSpPr>
        <p:spPr>
          <a:xfrm>
            <a:off x="491525" y="649250"/>
            <a:ext cx="66006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Using data about sea ice to make predictions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14"/>
          <p:cNvSpPr txBox="1"/>
          <p:nvPr/>
        </p:nvSpPr>
        <p:spPr>
          <a:xfrm>
            <a:off x="476400" y="1267200"/>
            <a:ext cx="6600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1) The graphs show data from the Met Office and HadSST4 about sea-surface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temperatures for each year from 1851 to 2024.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8" name="Google Shape;228;p14"/>
          <p:cNvPicPr preferRelativeResize="0"/>
          <p:nvPr/>
        </p:nvPicPr>
        <p:blipFill rotWithShape="1">
          <a:blip r:embed="rId3">
            <a:alphaModFix/>
          </a:blip>
          <a:srcRect b="4853" l="4662" r="0" t="1810"/>
          <a:stretch/>
        </p:blipFill>
        <p:spPr>
          <a:xfrm>
            <a:off x="1513113" y="1952820"/>
            <a:ext cx="5397087" cy="316338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9" name="Google Shape;229;p14"/>
          <p:cNvCxnSpPr/>
          <p:nvPr/>
        </p:nvCxnSpPr>
        <p:spPr>
          <a:xfrm>
            <a:off x="1587770" y="3906254"/>
            <a:ext cx="53706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30" name="Google Shape;230;p14"/>
          <p:cNvCxnSpPr/>
          <p:nvPr/>
        </p:nvCxnSpPr>
        <p:spPr>
          <a:xfrm rot="10800000">
            <a:off x="1600675" y="1740085"/>
            <a:ext cx="0" cy="33066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14"/>
          <p:cNvSpPr txBox="1"/>
          <p:nvPr/>
        </p:nvSpPr>
        <p:spPr>
          <a:xfrm>
            <a:off x="1394554" y="5061014"/>
            <a:ext cx="553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1850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2" name="Google Shape;232;p14"/>
          <p:cNvSpPr txBox="1"/>
          <p:nvPr/>
        </p:nvSpPr>
        <p:spPr>
          <a:xfrm rot="-5400000">
            <a:off x="-715761" y="3272335"/>
            <a:ext cx="29952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annual global mean sea-surface temperature expressed as a difference from 1981-2010 average (°C)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14"/>
          <p:cNvSpPr txBox="1"/>
          <p:nvPr/>
        </p:nvSpPr>
        <p:spPr>
          <a:xfrm>
            <a:off x="1109216" y="1833979"/>
            <a:ext cx="41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14"/>
          <p:cNvSpPr txBox="1"/>
          <p:nvPr/>
        </p:nvSpPr>
        <p:spPr>
          <a:xfrm>
            <a:off x="1108378" y="2448807"/>
            <a:ext cx="41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14"/>
          <p:cNvSpPr txBox="1"/>
          <p:nvPr/>
        </p:nvSpPr>
        <p:spPr>
          <a:xfrm>
            <a:off x="1108378" y="3063635"/>
            <a:ext cx="41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6" name="Google Shape;236;p14"/>
          <p:cNvSpPr txBox="1"/>
          <p:nvPr/>
        </p:nvSpPr>
        <p:spPr>
          <a:xfrm>
            <a:off x="1108378" y="3781736"/>
            <a:ext cx="41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7" name="Google Shape;237;p14"/>
          <p:cNvSpPr txBox="1"/>
          <p:nvPr/>
        </p:nvSpPr>
        <p:spPr>
          <a:xfrm>
            <a:off x="1108378" y="4415341"/>
            <a:ext cx="4179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8" name="Google Shape;238;p14"/>
          <p:cNvSpPr txBox="1"/>
          <p:nvPr/>
        </p:nvSpPr>
        <p:spPr>
          <a:xfrm>
            <a:off x="2424398" y="5061014"/>
            <a:ext cx="553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1900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9" name="Google Shape;239;p14"/>
          <p:cNvSpPr txBox="1"/>
          <p:nvPr/>
        </p:nvSpPr>
        <p:spPr>
          <a:xfrm>
            <a:off x="3462981" y="5061014"/>
            <a:ext cx="45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1950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0" name="Google Shape;240;p14"/>
          <p:cNvSpPr txBox="1"/>
          <p:nvPr/>
        </p:nvSpPr>
        <p:spPr>
          <a:xfrm>
            <a:off x="4514332" y="5061012"/>
            <a:ext cx="61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1" name="Google Shape;241;p14"/>
          <p:cNvSpPr txBox="1"/>
          <p:nvPr/>
        </p:nvSpPr>
        <p:spPr>
          <a:xfrm>
            <a:off x="5559297" y="5061016"/>
            <a:ext cx="61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2050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2" name="Google Shape;242;p14"/>
          <p:cNvSpPr txBox="1"/>
          <p:nvPr/>
        </p:nvSpPr>
        <p:spPr>
          <a:xfrm>
            <a:off x="3958243" y="5303086"/>
            <a:ext cx="454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year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3" name="Google Shape;243;p14"/>
          <p:cNvSpPr txBox="1"/>
          <p:nvPr/>
        </p:nvSpPr>
        <p:spPr>
          <a:xfrm>
            <a:off x="6559710" y="5061014"/>
            <a:ext cx="613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2100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14"/>
          <p:cNvSpPr txBox="1"/>
          <p:nvPr/>
        </p:nvSpPr>
        <p:spPr>
          <a:xfrm>
            <a:off x="494878" y="5847275"/>
            <a:ext cx="660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Write down at least two observations that you make about any trends in the data.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14"/>
          <p:cNvSpPr txBox="1"/>
          <p:nvPr/>
        </p:nvSpPr>
        <p:spPr>
          <a:xfrm>
            <a:off x="494876" y="7904675"/>
            <a:ext cx="66006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If the trend in mean global sea-surface temperatures continues in the way it has since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1970, what range of data could we expect to observe in: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i) 2040?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ii) 2050?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iii) 2060?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251" name="Google Shape;251;p15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Studying climate change</a:t>
            </a:r>
            <a:endParaRPr/>
          </a:p>
        </p:txBody>
      </p:sp>
      <p:sp>
        <p:nvSpPr>
          <p:cNvPr id="252" name="Google Shape;252;p1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53" name="Google Shape;253;p15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4" name="Google Shape;254;p15"/>
          <p:cNvSpPr txBox="1"/>
          <p:nvPr/>
        </p:nvSpPr>
        <p:spPr>
          <a:xfrm>
            <a:off x="476400" y="886200"/>
            <a:ext cx="6615600" cy="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2) The graph shows data from the Met Office and OSI SAF about sea ice in the Arctic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for each January from 1980 to 2024.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5" name="Google Shape;255;p15"/>
          <p:cNvPicPr preferRelativeResize="0"/>
          <p:nvPr/>
        </p:nvPicPr>
        <p:blipFill rotWithShape="1">
          <a:blip r:embed="rId3">
            <a:alphaModFix/>
          </a:blip>
          <a:srcRect b="3744" l="4251" r="0" t="0"/>
          <a:stretch/>
        </p:blipFill>
        <p:spPr>
          <a:xfrm>
            <a:off x="1495019" y="1584210"/>
            <a:ext cx="5278500" cy="323571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6" name="Google Shape;256;p15"/>
          <p:cNvCxnSpPr/>
          <p:nvPr/>
        </p:nvCxnSpPr>
        <p:spPr>
          <a:xfrm>
            <a:off x="1563970" y="2421992"/>
            <a:ext cx="5196900" cy="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57" name="Google Shape;257;p15"/>
          <p:cNvCxnSpPr/>
          <p:nvPr/>
        </p:nvCxnSpPr>
        <p:spPr>
          <a:xfrm rot="10800000">
            <a:off x="1583609" y="1401091"/>
            <a:ext cx="0" cy="3301200"/>
          </a:xfrm>
          <a:prstGeom prst="straightConnector1">
            <a:avLst/>
          </a:prstGeom>
          <a:noFill/>
          <a:ln cap="flat" cmpd="sng" w="19050">
            <a:solidFill>
              <a:srgbClr val="22222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8" name="Google Shape;258;p15"/>
          <p:cNvSpPr txBox="1"/>
          <p:nvPr/>
        </p:nvSpPr>
        <p:spPr>
          <a:xfrm>
            <a:off x="1427959" y="4730842"/>
            <a:ext cx="50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1980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9" name="Google Shape;259;p15"/>
          <p:cNvSpPr txBox="1"/>
          <p:nvPr/>
        </p:nvSpPr>
        <p:spPr>
          <a:xfrm>
            <a:off x="1106955" y="1576179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15"/>
          <p:cNvSpPr txBox="1"/>
          <p:nvPr/>
        </p:nvSpPr>
        <p:spPr>
          <a:xfrm>
            <a:off x="1106142" y="1955116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15"/>
          <p:cNvSpPr txBox="1"/>
          <p:nvPr/>
        </p:nvSpPr>
        <p:spPr>
          <a:xfrm>
            <a:off x="1106142" y="2334053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0.0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15"/>
          <p:cNvSpPr txBox="1"/>
          <p:nvPr/>
        </p:nvSpPr>
        <p:spPr>
          <a:xfrm>
            <a:off x="1106142" y="3470863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15"/>
          <p:cNvSpPr txBox="1"/>
          <p:nvPr/>
        </p:nvSpPr>
        <p:spPr>
          <a:xfrm>
            <a:off x="1106142" y="4228736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-3.0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15"/>
          <p:cNvSpPr txBox="1"/>
          <p:nvPr/>
        </p:nvSpPr>
        <p:spPr>
          <a:xfrm>
            <a:off x="2280218" y="4730842"/>
            <a:ext cx="50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1990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15"/>
          <p:cNvSpPr txBox="1"/>
          <p:nvPr/>
        </p:nvSpPr>
        <p:spPr>
          <a:xfrm>
            <a:off x="3105085" y="4730838"/>
            <a:ext cx="50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2000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6" name="Google Shape;266;p15"/>
          <p:cNvSpPr txBox="1"/>
          <p:nvPr/>
        </p:nvSpPr>
        <p:spPr>
          <a:xfrm>
            <a:off x="3962158" y="4730843"/>
            <a:ext cx="594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2010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7" name="Google Shape;267;p15"/>
          <p:cNvSpPr txBox="1"/>
          <p:nvPr/>
        </p:nvSpPr>
        <p:spPr>
          <a:xfrm>
            <a:off x="4800821" y="4730846"/>
            <a:ext cx="594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2020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15"/>
          <p:cNvSpPr txBox="1"/>
          <p:nvPr/>
        </p:nvSpPr>
        <p:spPr>
          <a:xfrm>
            <a:off x="3910652" y="5101120"/>
            <a:ext cx="440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year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15"/>
          <p:cNvSpPr txBox="1"/>
          <p:nvPr/>
        </p:nvSpPr>
        <p:spPr>
          <a:xfrm>
            <a:off x="6480256" y="4730838"/>
            <a:ext cx="505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2040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15"/>
          <p:cNvSpPr txBox="1"/>
          <p:nvPr/>
        </p:nvSpPr>
        <p:spPr>
          <a:xfrm>
            <a:off x="1106142" y="2712989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-0.5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15"/>
          <p:cNvSpPr txBox="1"/>
          <p:nvPr/>
        </p:nvSpPr>
        <p:spPr>
          <a:xfrm>
            <a:off x="1106142" y="3091926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-1.5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15"/>
          <p:cNvSpPr txBox="1"/>
          <p:nvPr/>
        </p:nvSpPr>
        <p:spPr>
          <a:xfrm>
            <a:off x="1106142" y="3849799"/>
            <a:ext cx="4047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-2.5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15"/>
          <p:cNvSpPr txBox="1"/>
          <p:nvPr/>
        </p:nvSpPr>
        <p:spPr>
          <a:xfrm>
            <a:off x="5648387" y="4730846"/>
            <a:ext cx="594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2030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 rot="-5400000">
            <a:off x="-650412" y="2888471"/>
            <a:ext cx="3049500" cy="5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Arctic sea ice extent for January expressed as a difference from the 1981-2010 average for each January (million km</a:t>
            </a:r>
            <a:r>
              <a:rPr baseline="30000"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-GB" sz="11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1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468013" y="5365525"/>
            <a:ext cx="6615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a) Write down at least one observation that you make about any trends in the data.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468000" y="6976025"/>
            <a:ext cx="6231600" cy="14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b) If the trend in the extent of Arctic sea ice continues in the way it has since 1980, </a:t>
            </a:r>
            <a:b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 what range of data could we expect to see in: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i) 2030?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ii) 2035?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   iii) 2040?</a:t>
            </a:r>
            <a:endParaRPr sz="1200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