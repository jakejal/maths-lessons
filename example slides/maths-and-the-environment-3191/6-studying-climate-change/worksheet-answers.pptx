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e4b3e4a42_0_8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e4b3e4a4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e4b3e4a42_0_18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e4b3e4a4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data between different periods of time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" name="Google Shape;11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0" y="4399775"/>
            <a:ext cx="4183751" cy="110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643" y="2642725"/>
            <a:ext cx="4176851" cy="1101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2"/>
          <p:cNvCxnSpPr/>
          <p:nvPr/>
        </p:nvCxnSpPr>
        <p:spPr>
          <a:xfrm>
            <a:off x="1751712" y="3745101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2"/>
          <p:cNvCxnSpPr/>
          <p:nvPr/>
        </p:nvCxnSpPr>
        <p:spPr>
          <a:xfrm rot="10800000">
            <a:off x="1748119" y="2441852"/>
            <a:ext cx="0" cy="13089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2"/>
          <p:cNvSpPr txBox="1"/>
          <p:nvPr/>
        </p:nvSpPr>
        <p:spPr>
          <a:xfrm>
            <a:off x="2028075" y="3775553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2366088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2806782" y="3775553"/>
            <a:ext cx="24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3127796" y="3775553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565111" y="37755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3869454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359144" y="37755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4697190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5134947" y="3775553"/>
            <a:ext cx="129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5453941" y="3775553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5862382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1554562" y="3636167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437345" y="325914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1351890" y="289328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1351865" y="2546559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3270462" y="2471392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1979 to 2001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 rot="-5400000">
            <a:off x="694155" y="2803353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" name="Google Shape;139;p12"/>
          <p:cNvCxnSpPr/>
          <p:nvPr/>
        </p:nvCxnSpPr>
        <p:spPr>
          <a:xfrm>
            <a:off x="1751712" y="5497701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2"/>
          <p:cNvCxnSpPr/>
          <p:nvPr/>
        </p:nvCxnSpPr>
        <p:spPr>
          <a:xfrm rot="10800000">
            <a:off x="1748119" y="4194452"/>
            <a:ext cx="0" cy="13089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12"/>
          <p:cNvSpPr txBox="1"/>
          <p:nvPr/>
        </p:nvSpPr>
        <p:spPr>
          <a:xfrm>
            <a:off x="2028075" y="5528153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2366088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2806782" y="5528153"/>
            <a:ext cx="24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3127796" y="5528153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3565111" y="55281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3869454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4359144" y="55281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697190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5134947" y="5528153"/>
            <a:ext cx="129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5453941" y="5528153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5862382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1554562" y="5388767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437345" y="501174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1351890" y="464588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351865" y="4299159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3270462" y="4212678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2002 to 2024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 rot="-5400000">
            <a:off x="694155" y="4555953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1716275" y="5800325"/>
            <a:ext cx="4214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Horizontal axes show the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monthly Arctic sea ice extent expressed as a difference from the 1981-2010 average for each month separately (million km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476400" y="18006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graphs show data from the Met Office and OSI SAF about sea ice in the Arctic for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each month from 1979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476400" y="6711418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was the modal class for 1979 to 2001?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476400" y="7321018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was the modal class for 2002 to 2024?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476400" y="7930618"/>
            <a:ext cx="6615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Did the extent of sea ice generally increase or decrease between the two periods of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time? Explain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16339" y="6982200"/>
            <a:ext cx="304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 to 0.5 million km</a:t>
            </a:r>
            <a:r>
              <a:rPr baseline="30000"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716339" y="7601607"/>
            <a:ext cx="304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-1 to -0.5 million km</a:t>
            </a:r>
            <a:r>
              <a:rPr baseline="30000"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657811" y="8399157"/>
            <a:ext cx="6422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extent of sea ice is generally less for 2002 to 2024 than for 1979 to 2001, so it generally decreased.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659646" y="8898543"/>
            <a:ext cx="63255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explanations for why: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modal class is lower for 2002-2024 than for 1979-2001.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data for 1979 to 2001 is between -1 and 1.5, while the data for 2002 to 2024 is between -2.5 and 0.5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172" name="Google Shape;17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468000" y="81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graphs show data from the Met Office and HadSST4 about sea-surface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temperatures for each year from 1851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994" y="4413850"/>
            <a:ext cx="4176850" cy="8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969" y="2984850"/>
            <a:ext cx="4162351" cy="8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2000" y="1645025"/>
            <a:ext cx="4176850" cy="82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3"/>
          <p:cNvCxnSpPr/>
          <p:nvPr/>
        </p:nvCxnSpPr>
        <p:spPr>
          <a:xfrm>
            <a:off x="1635598" y="2464669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3"/>
          <p:cNvCxnSpPr/>
          <p:nvPr/>
        </p:nvCxnSpPr>
        <p:spPr>
          <a:xfrm rot="10800000">
            <a:off x="1632004" y="1456920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13"/>
          <p:cNvSpPr txBox="1"/>
          <p:nvPr/>
        </p:nvSpPr>
        <p:spPr>
          <a:xfrm>
            <a:off x="1915946" y="2479079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2223244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2604156" y="2479081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2997596" y="2479079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3373477" y="2479081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3882668" y="2479081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4192396" y="2479081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4567953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4941458" y="2479081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5325870" y="2479079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5746268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1438447" y="2355735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1235775" y="181574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235751" y="1562763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1321230" y="2095946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3382948" y="1470364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1851 to 1908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 rot="-5400000">
            <a:off x="441541" y="1747892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619150" y="5552375"/>
            <a:ext cx="46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Horizontal axes show the </a:t>
            </a: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annual global mean sea-surface temperature expressed as a difference from 1981-2010 average (°C).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13"/>
          <p:cNvCxnSpPr/>
          <p:nvPr/>
        </p:nvCxnSpPr>
        <p:spPr>
          <a:xfrm>
            <a:off x="1635598" y="3809055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3"/>
          <p:cNvCxnSpPr/>
          <p:nvPr/>
        </p:nvCxnSpPr>
        <p:spPr>
          <a:xfrm rot="10800000">
            <a:off x="1632004" y="2801306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13"/>
          <p:cNvSpPr txBox="1"/>
          <p:nvPr/>
        </p:nvSpPr>
        <p:spPr>
          <a:xfrm>
            <a:off x="1915946" y="3823465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2223244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2604156" y="3823466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997596" y="3823465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373477" y="3823466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3882668" y="3823466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4192396" y="3823466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4567953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4941458" y="3823466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5325870" y="3823465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5746268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1438447" y="3700121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1235775" y="3160133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1235751" y="2907148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321230" y="344033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3382948" y="2814749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1909 to 1966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 rot="-5400000">
            <a:off x="441541" y="3092278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13"/>
          <p:cNvCxnSpPr/>
          <p:nvPr/>
        </p:nvCxnSpPr>
        <p:spPr>
          <a:xfrm>
            <a:off x="1635598" y="5226012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13"/>
          <p:cNvCxnSpPr/>
          <p:nvPr/>
        </p:nvCxnSpPr>
        <p:spPr>
          <a:xfrm rot="10800000">
            <a:off x="1632004" y="4218263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3"/>
          <p:cNvSpPr txBox="1"/>
          <p:nvPr/>
        </p:nvSpPr>
        <p:spPr>
          <a:xfrm>
            <a:off x="1915946" y="5240422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2223244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2604156" y="5240424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2997596" y="5240422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3373477" y="5240424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3882668" y="5240424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4192396" y="5240424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4567953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4941458" y="5240424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5325870" y="5240422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5746268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1438447" y="5117078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1235775" y="4577090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1235751" y="4324105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1321230" y="4857289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3382948" y="4239711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1967 to 2024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 rot="-5400000">
            <a:off x="441541" y="4482021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508593" y="6228364"/>
            <a:ext cx="6388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Compare the sea-surface temperatures for the three periods of time.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Describe any conclusions that you can draw from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533096" y="6959520"/>
            <a:ext cx="6189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annual global mean sea-surface temperatures appeared to increase slightly between the first two time periods.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modal class for each period of time is the same (-0.6 to -0.4). However the data for 1851 to 1908 is between -1 and -0.2, where as it is between -1 and 0 from 1909 to 1966.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533096" y="6750425"/>
            <a:ext cx="618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Example 1: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552600" y="8342459"/>
            <a:ext cx="64899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For the majority of years from 1967 to 2024, the annual global sea-surface temperatures were higher than they were between 1851 and 1966.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modal classes from 1967 to 2024 are between -0.2 and 0.2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Also the data from 1967 to 2024 is between -0.6 and 0.8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552600" y="8122025"/>
            <a:ext cx="618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Example 2: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539900" y="9517968"/>
            <a:ext cx="64899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More precise methods can also be used to compare the datasets (e.g. mean or median) if pupils already know how to use them. 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1" name="Google Shape;241;p13"/>
          <p:cNvCxnSpPr/>
          <p:nvPr/>
        </p:nvCxnSpPr>
        <p:spPr>
          <a:xfrm>
            <a:off x="482701" y="9954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491525" y="6492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data about sea ice to make predictions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476400" y="1267200"/>
            <a:ext cx="6600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graphs show data from the Met Office and HadSST4 about sea-surface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temperatures for each year from 1851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14"/>
          <p:cNvPicPr preferRelativeResize="0"/>
          <p:nvPr/>
        </p:nvPicPr>
        <p:blipFill rotWithShape="1">
          <a:blip r:embed="rId3">
            <a:alphaModFix/>
          </a:blip>
          <a:srcRect b="4853" l="4662" r="0" t="1810"/>
          <a:stretch/>
        </p:blipFill>
        <p:spPr>
          <a:xfrm>
            <a:off x="1513113" y="1952820"/>
            <a:ext cx="5397087" cy="31633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14"/>
          <p:cNvCxnSpPr/>
          <p:nvPr/>
        </p:nvCxnSpPr>
        <p:spPr>
          <a:xfrm>
            <a:off x="1587770" y="3906254"/>
            <a:ext cx="53706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14"/>
          <p:cNvCxnSpPr/>
          <p:nvPr/>
        </p:nvCxnSpPr>
        <p:spPr>
          <a:xfrm rot="10800000">
            <a:off x="1600675" y="1740085"/>
            <a:ext cx="0" cy="33066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14"/>
          <p:cNvSpPr txBox="1"/>
          <p:nvPr/>
        </p:nvSpPr>
        <p:spPr>
          <a:xfrm>
            <a:off x="1394554" y="5061014"/>
            <a:ext cx="55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1850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 rot="-5400000">
            <a:off x="-715761" y="3272335"/>
            <a:ext cx="299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annual global mean sea-surface temperature expressed as a difference from 1981-2010 average (°C)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1109216" y="1833979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1108378" y="2448807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108378" y="3063635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1108378" y="3781736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1108378" y="4415341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2424398" y="5061014"/>
            <a:ext cx="55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3462981" y="5061014"/>
            <a:ext cx="45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4514332" y="5061012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5559297" y="5061016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3958243" y="5303086"/>
            <a:ext cx="45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6559710" y="5061014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494878" y="5847275"/>
            <a:ext cx="66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Write down at least two observations that you make about any trends in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494876" y="7904675"/>
            <a:ext cx="6600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If the trend in mean global sea-surface temperatures continues in the way it has since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1970, what range of data could we expect to observe in: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i)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2040?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ii)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2050?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iii)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2060?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694200" y="6140907"/>
            <a:ext cx="64014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global mean sea-surface temperatures remain relatively stable between 1850 and 1930.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an upward trend from 1920 to 1945.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global mean sea-surface temperatures remain relatively stable between 1945 and 1980.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a clear upward trend from 1980 onwards.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1480125" y="8454034"/>
            <a:ext cx="160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0.5 to 0.8°C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1480125" y="8802336"/>
            <a:ext cx="160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0.65 to 0.95°C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480125" y="9127371"/>
            <a:ext cx="160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0.8 to 1.1°C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2" name="Google Shape;272;p14"/>
          <p:cNvCxnSpPr/>
          <p:nvPr/>
        </p:nvCxnSpPr>
        <p:spPr>
          <a:xfrm flipH="1" rot="10800000">
            <a:off x="3980425" y="2458975"/>
            <a:ext cx="1972800" cy="1813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4"/>
          <p:cNvCxnSpPr/>
          <p:nvPr/>
        </p:nvCxnSpPr>
        <p:spPr>
          <a:xfrm flipH="1" rot="10800000">
            <a:off x="4056150" y="2865575"/>
            <a:ext cx="1897200" cy="17337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4"/>
          <p:cNvSpPr txBox="1"/>
          <p:nvPr/>
        </p:nvSpPr>
        <p:spPr>
          <a:xfrm>
            <a:off x="636116" y="9482832"/>
            <a:ext cx="60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Pupils’ answers may differ slightly from the values given.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281" name="Google Shape;281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476400" y="886200"/>
            <a:ext cx="6615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graph shows data from the Met Office and OSI SAF about sea ice in the Arctic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for each January from 1980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15"/>
          <p:cNvPicPr preferRelativeResize="0"/>
          <p:nvPr/>
        </p:nvPicPr>
        <p:blipFill rotWithShape="1">
          <a:blip r:embed="rId3">
            <a:alphaModFix/>
          </a:blip>
          <a:srcRect b="3744" l="4251" r="0" t="0"/>
          <a:stretch/>
        </p:blipFill>
        <p:spPr>
          <a:xfrm>
            <a:off x="1495019" y="1584210"/>
            <a:ext cx="5278500" cy="323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15"/>
          <p:cNvCxnSpPr/>
          <p:nvPr/>
        </p:nvCxnSpPr>
        <p:spPr>
          <a:xfrm>
            <a:off x="1563970" y="2421992"/>
            <a:ext cx="51969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1583609" y="1401091"/>
            <a:ext cx="0" cy="33012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15"/>
          <p:cNvSpPr txBox="1"/>
          <p:nvPr/>
        </p:nvSpPr>
        <p:spPr>
          <a:xfrm>
            <a:off x="1427959" y="4730842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1980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106955" y="157617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1106142" y="195511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1106142" y="2334053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1106142" y="3470863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1106142" y="422873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2280218" y="4730842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1990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105085" y="4730838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3962158" y="4730843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800821" y="4730846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3910652" y="5101120"/>
            <a:ext cx="44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6480256" y="4730838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2040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1106142" y="271298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1106142" y="309192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1106142" y="384979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5648387" y="4730846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 rot="-5400000">
            <a:off x="-650412" y="2888471"/>
            <a:ext cx="3049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Arctic sea ice extent for January expressed as a difference from the 1981-2010 average for each January (million km</a:t>
            </a:r>
            <a:r>
              <a:rPr baseline="30000"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468013" y="5365525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Write down at least one observation that you make about any trends in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476392" y="5698325"/>
            <a:ext cx="66156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Overall, there is a downward trend from 1980 onwards.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trend possibly changes from around 2006 to something slightly more stable.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468000" y="6976025"/>
            <a:ext cx="6231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If the trend in the extent of Arctic sea ice continues in the way it has since 1980,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what range of data could we expect to see in: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i) 2030?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ii) 2035?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iii) 2040?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1389841" y="7520485"/>
            <a:ext cx="20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-2.5 to -1.6 km</a:t>
            </a:r>
            <a:r>
              <a:rPr baseline="30000"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1389841" y="7860791"/>
            <a:ext cx="197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-2.7 to -1.8 km</a:t>
            </a:r>
            <a:r>
              <a:rPr baseline="30000"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1389841" y="8193514"/>
            <a:ext cx="201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-2.9 to -2.0 km</a:t>
            </a:r>
            <a:r>
              <a:rPr baseline="30000"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636116" y="8568432"/>
            <a:ext cx="60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Pupils’ answers may differ slightly from the values given.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11" name="Google Shape;311;p15"/>
          <p:cNvCxnSpPr/>
          <p:nvPr/>
        </p:nvCxnSpPr>
        <p:spPr>
          <a:xfrm>
            <a:off x="1657750" y="1658575"/>
            <a:ext cx="4999800" cy="19317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15"/>
          <p:cNvCxnSpPr/>
          <p:nvPr/>
        </p:nvCxnSpPr>
        <p:spPr>
          <a:xfrm>
            <a:off x="1584700" y="2304800"/>
            <a:ext cx="5064900" cy="19800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