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fcdcf486b6_0_2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fcdcf486b6_0_2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fcdcf486b6_0_2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2fcdcf486b6_0_2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0c08a0f5f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30c08a0f5f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0406443a74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30406443a74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2fea37f995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2fea37f995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2fea37f995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2fea37f995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01fcc4747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01fcc4747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01fcc4747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301fcc4747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01fcc4747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01fcc4747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01fcc4747d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301fcc4747d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01fcc4747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301fcc4747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01fcc4747d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301fcc4747d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01fcc4747d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9" name="Google Shape;1179;g301fcc4747d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01fcc4747d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301fcc4747d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01fcc4747d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g301fcc4747d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01fcc4747d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301fcc4747d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01fcc4747d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301fcc4747d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g301fcc4747d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9" name="Google Shape;1459;g301fcc4747d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306e9f5bbc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g306e9f5bbc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301fcc4747d_0_1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301fcc4747d_0_1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01fcc4747d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301fcc4747d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301fcc4747d_0_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301fcc4747d_0_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g301fcc4747d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5" name="Google Shape;1705;g301fcc4747d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g301fcc4747d_0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6" name="Google Shape;1756;g301fcc4747d_0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301fcc4747d_0_10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301fcc4747d_0_10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g2fea37f995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8" name="Google Shape;1858;g2fea37f995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01fcc4747d_0_1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8" name="Google Shape;1908;g301fcc4747d_0_1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4" name="Shape 1974"/>
        <p:cNvGrpSpPr/>
        <p:nvPr/>
      </p:nvGrpSpPr>
      <p:grpSpPr>
        <a:xfrm>
          <a:off x="0" y="0"/>
          <a:ext cx="0" cy="0"/>
          <a:chOff x="0" y="0"/>
          <a:chExt cx="0" cy="0"/>
        </a:xfrm>
      </p:grpSpPr>
      <p:sp>
        <p:nvSpPr>
          <p:cNvPr id="1975" name="Google Shape;1975;g301fcc4747d_0_1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6" name="Google Shape;1976;g301fcc4747d_0_1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5" name="Shape 2025"/>
        <p:cNvGrpSpPr/>
        <p:nvPr/>
      </p:nvGrpSpPr>
      <p:grpSpPr>
        <a:xfrm>
          <a:off x="0" y="0"/>
          <a:ext cx="0" cy="0"/>
          <a:chOff x="0" y="0"/>
          <a:chExt cx="0" cy="0"/>
        </a:xfrm>
      </p:grpSpPr>
      <p:sp>
        <p:nvSpPr>
          <p:cNvPr id="2026" name="Google Shape;2026;g301fcc4747d_0_1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7" name="Google Shape;2027;g301fcc4747d_0_1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g301fcc4747d_0_1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6" name="Google Shape;2076;g301fcc4747d_0_1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301fcc4747d_0_1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5" name="Google Shape;2125;g301fcc4747d_0_1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1" name="Shape 2191"/>
        <p:cNvGrpSpPr/>
        <p:nvPr/>
      </p:nvGrpSpPr>
      <p:grpSpPr>
        <a:xfrm>
          <a:off x="0" y="0"/>
          <a:ext cx="0" cy="0"/>
          <a:chOff x="0" y="0"/>
          <a:chExt cx="0" cy="0"/>
        </a:xfrm>
      </p:grpSpPr>
      <p:sp>
        <p:nvSpPr>
          <p:cNvPr id="2192" name="Google Shape;2192;g301fcc4747d_0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3" name="Google Shape;2193;g301fcc4747d_0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0" name="Shape 2260"/>
        <p:cNvGrpSpPr/>
        <p:nvPr/>
      </p:nvGrpSpPr>
      <p:grpSpPr>
        <a:xfrm>
          <a:off x="0" y="0"/>
          <a:ext cx="0" cy="0"/>
          <a:chOff x="0" y="0"/>
          <a:chExt cx="0" cy="0"/>
        </a:xfrm>
      </p:grpSpPr>
      <p:sp>
        <p:nvSpPr>
          <p:cNvPr id="2261" name="Google Shape;2261;g306e9f5bbcd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2" name="Google Shape;2262;g306e9f5bbcd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9" name="Shape 2329"/>
        <p:cNvGrpSpPr/>
        <p:nvPr/>
      </p:nvGrpSpPr>
      <p:grpSpPr>
        <a:xfrm>
          <a:off x="0" y="0"/>
          <a:ext cx="0" cy="0"/>
          <a:chOff x="0" y="0"/>
          <a:chExt cx="0" cy="0"/>
        </a:xfrm>
      </p:grpSpPr>
      <p:sp>
        <p:nvSpPr>
          <p:cNvPr id="2330" name="Google Shape;2330;g306e9f5bbcd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1" name="Google Shape;2331;g306e9f5bbcd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6" name="Shape 2396"/>
        <p:cNvGrpSpPr/>
        <p:nvPr/>
      </p:nvGrpSpPr>
      <p:grpSpPr>
        <a:xfrm>
          <a:off x="0" y="0"/>
          <a:ext cx="0" cy="0"/>
          <a:chOff x="0" y="0"/>
          <a:chExt cx="0" cy="0"/>
        </a:xfrm>
      </p:grpSpPr>
      <p:sp>
        <p:nvSpPr>
          <p:cNvPr id="2397" name="Google Shape;2397;g2fea37f9950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8" name="Google Shape;2398;g2fea37f995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g30406443a7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6" name="Google Shape;2406;g30406443a7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3" name="Shape 2433"/>
        <p:cNvGrpSpPr/>
        <p:nvPr/>
      </p:nvGrpSpPr>
      <p:grpSpPr>
        <a:xfrm>
          <a:off x="0" y="0"/>
          <a:ext cx="0" cy="0"/>
          <a:chOff x="0" y="0"/>
          <a:chExt cx="0" cy="0"/>
        </a:xfrm>
      </p:grpSpPr>
      <p:sp>
        <p:nvSpPr>
          <p:cNvPr id="2434" name="Google Shape;2434;g30406443a74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5" name="Google Shape;2435;g30406443a74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1" name="Shape 2461"/>
        <p:cNvGrpSpPr/>
        <p:nvPr/>
      </p:nvGrpSpPr>
      <p:grpSpPr>
        <a:xfrm>
          <a:off x="0" y="0"/>
          <a:ext cx="0" cy="0"/>
          <a:chOff x="0" y="0"/>
          <a:chExt cx="0" cy="0"/>
        </a:xfrm>
      </p:grpSpPr>
      <p:sp>
        <p:nvSpPr>
          <p:cNvPr id="2462" name="Google Shape;2462;g30406443a7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3" name="Google Shape;2463;g30406443a7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1" name="Shape 2491"/>
        <p:cNvGrpSpPr/>
        <p:nvPr/>
      </p:nvGrpSpPr>
      <p:grpSpPr>
        <a:xfrm>
          <a:off x="0" y="0"/>
          <a:ext cx="0" cy="0"/>
          <a:chOff x="0" y="0"/>
          <a:chExt cx="0" cy="0"/>
        </a:xfrm>
      </p:grpSpPr>
      <p:sp>
        <p:nvSpPr>
          <p:cNvPr id="2492" name="Google Shape;2492;g30406443a7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3" name="Google Shape;2493;g30406443a7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4" name="Shape 2524"/>
        <p:cNvGrpSpPr/>
        <p:nvPr/>
      </p:nvGrpSpPr>
      <p:grpSpPr>
        <a:xfrm>
          <a:off x="0" y="0"/>
          <a:ext cx="0" cy="0"/>
          <a:chOff x="0" y="0"/>
          <a:chExt cx="0" cy="0"/>
        </a:xfrm>
      </p:grpSpPr>
      <p:sp>
        <p:nvSpPr>
          <p:cNvPr id="2525" name="Google Shape;2525;g30406443a7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6" name="Google Shape;2526;g30406443a7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7" name="Shape 2557"/>
        <p:cNvGrpSpPr/>
        <p:nvPr/>
      </p:nvGrpSpPr>
      <p:grpSpPr>
        <a:xfrm>
          <a:off x="0" y="0"/>
          <a:ext cx="0" cy="0"/>
          <a:chOff x="0" y="0"/>
          <a:chExt cx="0" cy="0"/>
        </a:xfrm>
      </p:grpSpPr>
      <p:sp>
        <p:nvSpPr>
          <p:cNvPr id="2558" name="Google Shape;2558;g30406443a74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9" name="Google Shape;2559;g30406443a74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0" name="Shape 2590"/>
        <p:cNvGrpSpPr/>
        <p:nvPr/>
      </p:nvGrpSpPr>
      <p:grpSpPr>
        <a:xfrm>
          <a:off x="0" y="0"/>
          <a:ext cx="0" cy="0"/>
          <a:chOff x="0" y="0"/>
          <a:chExt cx="0" cy="0"/>
        </a:xfrm>
      </p:grpSpPr>
      <p:sp>
        <p:nvSpPr>
          <p:cNvPr id="2591" name="Google Shape;2591;g30406443a74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2" name="Google Shape;2592;g30406443a74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g30406443a74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0" name="Google Shape;2620;g30406443a74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2" name="Shape 2642"/>
        <p:cNvGrpSpPr/>
        <p:nvPr/>
      </p:nvGrpSpPr>
      <p:grpSpPr>
        <a:xfrm>
          <a:off x="0" y="0"/>
          <a:ext cx="0" cy="0"/>
          <a:chOff x="0" y="0"/>
          <a:chExt cx="0" cy="0"/>
        </a:xfrm>
      </p:grpSpPr>
      <p:sp>
        <p:nvSpPr>
          <p:cNvPr id="2643" name="Google Shape;2643;g30406443a74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4" name="Google Shape;2644;g30406443a74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g30406443a74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7" name="Google Shape;2677;g30406443a74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g30406443a74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2" name="Google Shape;2712;g30406443a74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1" name="Shape 2741"/>
        <p:cNvGrpSpPr/>
        <p:nvPr/>
      </p:nvGrpSpPr>
      <p:grpSpPr>
        <a:xfrm>
          <a:off x="0" y="0"/>
          <a:ext cx="0" cy="0"/>
          <a:chOff x="0" y="0"/>
          <a:chExt cx="0" cy="0"/>
        </a:xfrm>
      </p:grpSpPr>
      <p:sp>
        <p:nvSpPr>
          <p:cNvPr id="2742" name="Google Shape;2742;g30406443a74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3" name="Google Shape;2743;g30406443a74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4" name="Shape 2764"/>
        <p:cNvGrpSpPr/>
        <p:nvPr/>
      </p:nvGrpSpPr>
      <p:grpSpPr>
        <a:xfrm>
          <a:off x="0" y="0"/>
          <a:ext cx="0" cy="0"/>
          <a:chOff x="0" y="0"/>
          <a:chExt cx="0" cy="0"/>
        </a:xfrm>
      </p:grpSpPr>
      <p:sp>
        <p:nvSpPr>
          <p:cNvPr id="2765" name="Google Shape;2765;g30406443a74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6" name="Google Shape;2766;g30406443a74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2" name="Shape 2792"/>
        <p:cNvGrpSpPr/>
        <p:nvPr/>
      </p:nvGrpSpPr>
      <p:grpSpPr>
        <a:xfrm>
          <a:off x="0" y="0"/>
          <a:ext cx="0" cy="0"/>
          <a:chOff x="0" y="0"/>
          <a:chExt cx="0" cy="0"/>
        </a:xfrm>
      </p:grpSpPr>
      <p:sp>
        <p:nvSpPr>
          <p:cNvPr id="2793" name="Google Shape;2793;g30406443a74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4" name="Google Shape;2794;g30406443a74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0" name="Shape 2820"/>
        <p:cNvGrpSpPr/>
        <p:nvPr/>
      </p:nvGrpSpPr>
      <p:grpSpPr>
        <a:xfrm>
          <a:off x="0" y="0"/>
          <a:ext cx="0" cy="0"/>
          <a:chOff x="0" y="0"/>
          <a:chExt cx="0" cy="0"/>
        </a:xfrm>
      </p:grpSpPr>
      <p:sp>
        <p:nvSpPr>
          <p:cNvPr id="2821" name="Google Shape;2821;g30406443a74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2" name="Google Shape;2822;g30406443a74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2" name="Shape 2852"/>
        <p:cNvGrpSpPr/>
        <p:nvPr/>
      </p:nvGrpSpPr>
      <p:grpSpPr>
        <a:xfrm>
          <a:off x="0" y="0"/>
          <a:ext cx="0" cy="0"/>
          <a:chOff x="0" y="0"/>
          <a:chExt cx="0" cy="0"/>
        </a:xfrm>
      </p:grpSpPr>
      <p:sp>
        <p:nvSpPr>
          <p:cNvPr id="2853" name="Google Shape;2853;g30406443a74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4" name="Google Shape;2854;g30406443a74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2" name="Shape 2882"/>
        <p:cNvGrpSpPr/>
        <p:nvPr/>
      </p:nvGrpSpPr>
      <p:grpSpPr>
        <a:xfrm>
          <a:off x="0" y="0"/>
          <a:ext cx="0" cy="0"/>
          <a:chOff x="0" y="0"/>
          <a:chExt cx="0" cy="0"/>
        </a:xfrm>
      </p:grpSpPr>
      <p:sp>
        <p:nvSpPr>
          <p:cNvPr id="2883" name="Google Shape;2883;g30406443a74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4" name="Google Shape;2884;g30406443a74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5" name="Shape 2905"/>
        <p:cNvGrpSpPr/>
        <p:nvPr/>
      </p:nvGrpSpPr>
      <p:grpSpPr>
        <a:xfrm>
          <a:off x="0" y="0"/>
          <a:ext cx="0" cy="0"/>
          <a:chOff x="0" y="0"/>
          <a:chExt cx="0" cy="0"/>
        </a:xfrm>
      </p:grpSpPr>
      <p:sp>
        <p:nvSpPr>
          <p:cNvPr id="2906" name="Google Shape;2906;g30406443a74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7" name="Google Shape;2907;g30406443a74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8" name="Shape 2928"/>
        <p:cNvGrpSpPr/>
        <p:nvPr/>
      </p:nvGrpSpPr>
      <p:grpSpPr>
        <a:xfrm>
          <a:off x="0" y="0"/>
          <a:ext cx="0" cy="0"/>
          <a:chOff x="0" y="0"/>
          <a:chExt cx="0" cy="0"/>
        </a:xfrm>
      </p:grpSpPr>
      <p:sp>
        <p:nvSpPr>
          <p:cNvPr id="2929" name="Google Shape;2929;g30406443a74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0" name="Google Shape;2930;g30406443a74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5" name="Shape 2955"/>
        <p:cNvGrpSpPr/>
        <p:nvPr/>
      </p:nvGrpSpPr>
      <p:grpSpPr>
        <a:xfrm>
          <a:off x="0" y="0"/>
          <a:ext cx="0" cy="0"/>
          <a:chOff x="0" y="0"/>
          <a:chExt cx="0" cy="0"/>
        </a:xfrm>
      </p:grpSpPr>
      <p:sp>
        <p:nvSpPr>
          <p:cNvPr id="2956" name="Google Shape;2956;g30406443a74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7" name="Google Shape;2957;g30406443a74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2" name="Shape 2982"/>
        <p:cNvGrpSpPr/>
        <p:nvPr/>
      </p:nvGrpSpPr>
      <p:grpSpPr>
        <a:xfrm>
          <a:off x="0" y="0"/>
          <a:ext cx="0" cy="0"/>
          <a:chOff x="0" y="0"/>
          <a:chExt cx="0" cy="0"/>
        </a:xfrm>
      </p:grpSpPr>
      <p:sp>
        <p:nvSpPr>
          <p:cNvPr id="2983" name="Google Shape;2983;g30406443a74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4" name="Google Shape;2984;g30406443a74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6" name="Shape 3006"/>
        <p:cNvGrpSpPr/>
        <p:nvPr/>
      </p:nvGrpSpPr>
      <p:grpSpPr>
        <a:xfrm>
          <a:off x="0" y="0"/>
          <a:ext cx="0" cy="0"/>
          <a:chOff x="0" y="0"/>
          <a:chExt cx="0" cy="0"/>
        </a:xfrm>
      </p:grpSpPr>
      <p:sp>
        <p:nvSpPr>
          <p:cNvPr id="3007" name="Google Shape;3007;g30406443a74_0_1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8" name="Google Shape;3008;g30406443a74_0_1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0" name="Shape 3030"/>
        <p:cNvGrpSpPr/>
        <p:nvPr/>
      </p:nvGrpSpPr>
      <p:grpSpPr>
        <a:xfrm>
          <a:off x="0" y="0"/>
          <a:ext cx="0" cy="0"/>
          <a:chOff x="0" y="0"/>
          <a:chExt cx="0" cy="0"/>
        </a:xfrm>
      </p:grpSpPr>
      <p:sp>
        <p:nvSpPr>
          <p:cNvPr id="3031" name="Google Shape;3031;g30406443a74_0_1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2" name="Google Shape;3032;g30406443a74_0_1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4" name="Shape 3054"/>
        <p:cNvGrpSpPr/>
        <p:nvPr/>
      </p:nvGrpSpPr>
      <p:grpSpPr>
        <a:xfrm>
          <a:off x="0" y="0"/>
          <a:ext cx="0" cy="0"/>
          <a:chOff x="0" y="0"/>
          <a:chExt cx="0" cy="0"/>
        </a:xfrm>
      </p:grpSpPr>
      <p:sp>
        <p:nvSpPr>
          <p:cNvPr id="3055" name="Google Shape;3055;g30406443a74_0_1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6" name="Google Shape;3056;g30406443a74_0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8" name="Shape 3078"/>
        <p:cNvGrpSpPr/>
        <p:nvPr/>
      </p:nvGrpSpPr>
      <p:grpSpPr>
        <a:xfrm>
          <a:off x="0" y="0"/>
          <a:ext cx="0" cy="0"/>
          <a:chOff x="0" y="0"/>
          <a:chExt cx="0" cy="0"/>
        </a:xfrm>
      </p:grpSpPr>
      <p:sp>
        <p:nvSpPr>
          <p:cNvPr id="3079" name="Google Shape;3079;g30406443a74_0_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0" name="Google Shape;3080;g30406443a74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6" name="Shape 3106"/>
        <p:cNvGrpSpPr/>
        <p:nvPr/>
      </p:nvGrpSpPr>
      <p:grpSpPr>
        <a:xfrm>
          <a:off x="0" y="0"/>
          <a:ext cx="0" cy="0"/>
          <a:chOff x="0" y="0"/>
          <a:chExt cx="0" cy="0"/>
        </a:xfrm>
      </p:grpSpPr>
      <p:sp>
        <p:nvSpPr>
          <p:cNvPr id="3107" name="Google Shape;3107;g30406443a74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8" name="Google Shape;3108;g30406443a74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6" name="Shape 3136"/>
        <p:cNvGrpSpPr/>
        <p:nvPr/>
      </p:nvGrpSpPr>
      <p:grpSpPr>
        <a:xfrm>
          <a:off x="0" y="0"/>
          <a:ext cx="0" cy="0"/>
          <a:chOff x="0" y="0"/>
          <a:chExt cx="0" cy="0"/>
        </a:xfrm>
      </p:grpSpPr>
      <p:sp>
        <p:nvSpPr>
          <p:cNvPr id="3137" name="Google Shape;3137;g30406443a74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8" name="Google Shape;3138;g30406443a74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6" name="Shape 3166"/>
        <p:cNvGrpSpPr/>
        <p:nvPr/>
      </p:nvGrpSpPr>
      <p:grpSpPr>
        <a:xfrm>
          <a:off x="0" y="0"/>
          <a:ext cx="0" cy="0"/>
          <a:chOff x="0" y="0"/>
          <a:chExt cx="0" cy="0"/>
        </a:xfrm>
      </p:grpSpPr>
      <p:sp>
        <p:nvSpPr>
          <p:cNvPr id="3167" name="Google Shape;3167;g30406443a74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8" name="Google Shape;3168;g30406443a74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8" name="Shape 3198"/>
        <p:cNvGrpSpPr/>
        <p:nvPr/>
      </p:nvGrpSpPr>
      <p:grpSpPr>
        <a:xfrm>
          <a:off x="0" y="0"/>
          <a:ext cx="0" cy="0"/>
          <a:chOff x="0" y="0"/>
          <a:chExt cx="0" cy="0"/>
        </a:xfrm>
      </p:grpSpPr>
      <p:sp>
        <p:nvSpPr>
          <p:cNvPr id="3199" name="Google Shape;3199;g2fcdcf486b6_0_2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0" name="Google Shape;3200;g2fcdcf486b6_0_2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4" name="Shape 3204"/>
        <p:cNvGrpSpPr/>
        <p:nvPr/>
      </p:nvGrpSpPr>
      <p:grpSpPr>
        <a:xfrm>
          <a:off x="0" y="0"/>
          <a:ext cx="0" cy="0"/>
          <a:chOff x="0" y="0"/>
          <a:chExt cx="0" cy="0"/>
        </a:xfrm>
      </p:grpSpPr>
      <p:sp>
        <p:nvSpPr>
          <p:cNvPr id="3205" name="Google Shape;3205;g2fcdcf486b6_0_2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6" name="Google Shape;3206;g2fcdcf486b6_0_2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7.png"/><Relationship Id="rId5"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1.png"/><Relationship Id="rId7" Type="http://schemas.openxmlformats.org/officeDocument/2006/relationships/image" Target="../media/image3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95.png"/><Relationship Id="rId5" Type="http://schemas.openxmlformats.org/officeDocument/2006/relationships/image" Target="../media/image36.png"/><Relationship Id="rId6" Type="http://schemas.openxmlformats.org/officeDocument/2006/relationships/image" Target="../media/image39.png"/><Relationship Id="rId7" Type="http://schemas.openxmlformats.org/officeDocument/2006/relationships/image" Target="../media/image3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95.png"/><Relationship Id="rId4" Type="http://schemas.openxmlformats.org/officeDocument/2006/relationships/image" Target="../media/image35.png"/><Relationship Id="rId9"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36.png"/><Relationship Id="rId8" Type="http://schemas.openxmlformats.org/officeDocument/2006/relationships/image" Target="../media/image3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95.png"/><Relationship Id="rId4" Type="http://schemas.openxmlformats.org/officeDocument/2006/relationships/image" Target="../media/image43.png"/><Relationship Id="rId11" Type="http://schemas.openxmlformats.org/officeDocument/2006/relationships/image" Target="../media/image34.png"/><Relationship Id="rId10" Type="http://schemas.openxmlformats.org/officeDocument/2006/relationships/image" Target="../media/image50.png"/><Relationship Id="rId9" Type="http://schemas.openxmlformats.org/officeDocument/2006/relationships/image" Target="../media/image39.png"/><Relationship Id="rId5" Type="http://schemas.openxmlformats.org/officeDocument/2006/relationships/image" Target="../media/image35.png"/><Relationship Id="rId6" Type="http://schemas.openxmlformats.org/officeDocument/2006/relationships/image" Target="../media/image37.png"/><Relationship Id="rId7" Type="http://schemas.openxmlformats.org/officeDocument/2006/relationships/image" Target="../media/image41.png"/><Relationship Id="rId8" Type="http://schemas.openxmlformats.org/officeDocument/2006/relationships/image" Target="../media/image3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4.png"/><Relationship Id="rId4" Type="http://schemas.openxmlformats.org/officeDocument/2006/relationships/image" Target="../media/image5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4.png"/><Relationship Id="rId4" Type="http://schemas.openxmlformats.org/officeDocument/2006/relationships/image" Target="../media/image5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44.png"/><Relationship Id="rId4" Type="http://schemas.openxmlformats.org/officeDocument/2006/relationships/image" Target="../media/image5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44.png"/><Relationship Id="rId4" Type="http://schemas.openxmlformats.org/officeDocument/2006/relationships/image" Target="../media/image5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5.png"/><Relationship Id="rId4" Type="http://schemas.openxmlformats.org/officeDocument/2006/relationships/image" Target="../media/image5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2.png"/><Relationship Id="rId4" Type="http://schemas.openxmlformats.org/officeDocument/2006/relationships/image" Target="../media/image5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 Id="rId4" Type="http://schemas.openxmlformats.org/officeDocument/2006/relationships/image" Target="../media/image5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6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6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6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6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6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1705150" cy="128000"/>
          </a:xfrm>
          <a:prstGeom prst="rect">
            <a:avLst/>
          </a:prstGeom>
          <a:noFill/>
          <a:ln>
            <a:noFill/>
          </a:ln>
        </p:spPr>
      </p:pic>
      <p:sp>
        <p:nvSpPr>
          <p:cNvPr id="11" name="Google Shape;11;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3800"/>
              <a:buFont typeface="Lexend"/>
              <a:buNone/>
              <a:defRPr sz="3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 name="Google Shape;12;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Art and design</a:t>
            </a:r>
            <a:endParaRPr b="1" sz="1700">
              <a:solidFill>
                <a:schemeClr val="dk1"/>
              </a:solidFill>
              <a:latin typeface="Lexend"/>
              <a:ea typeface="Lexend"/>
              <a:cs typeface="Lexend"/>
              <a:sym typeface="Lexend"/>
            </a:endParaRPr>
          </a:p>
        </p:txBody>
      </p:sp>
      <p:sp>
        <p:nvSpPr>
          <p:cNvPr id="13" name="Google Shape;13;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4" name="Google Shape;14;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800"/>
              <a:buFont typeface="Lexend"/>
              <a:buNone/>
              <a:defRPr sz="1800">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grpSp>
        <p:nvGrpSpPr>
          <p:cNvPr id="15" name="Google Shape;15;p2"/>
          <p:cNvGrpSpPr/>
          <p:nvPr/>
        </p:nvGrpSpPr>
        <p:grpSpPr>
          <a:xfrm>
            <a:off x="6156975" y="0"/>
            <a:ext cx="2987025" cy="3854074"/>
            <a:chOff x="6156975" y="0"/>
            <a:chExt cx="2987025" cy="3854074"/>
          </a:xfrm>
        </p:grpSpPr>
        <p:pic>
          <p:nvPicPr>
            <p:cNvPr id="16" name="Google Shape;16;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 name="Google Shape;17;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 name="Google Shape;18;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9" name="Google Shape;19;p2"/>
          <p:cNvPicPr preferRelativeResize="0"/>
          <p:nvPr/>
        </p:nvPicPr>
        <p:blipFill rotWithShape="1">
          <a:blip r:embed="rId5">
            <a:alphaModFix/>
          </a:blip>
          <a:srcRect b="0" l="0" r="0" t="0"/>
          <a:stretch/>
        </p:blipFill>
        <p:spPr>
          <a:xfrm>
            <a:off x="7690424" y="4098434"/>
            <a:ext cx="1052750" cy="482825"/>
          </a:xfrm>
          <a:prstGeom prst="rect">
            <a:avLst/>
          </a:prstGeom>
          <a:noFill/>
          <a:ln>
            <a:noFill/>
          </a:ln>
        </p:spPr>
      </p:pic>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Biology</a:t>
            </a:r>
            <a:endParaRPr b="1" sz="1700">
              <a:solidFill>
                <a:schemeClr val="dk1"/>
              </a:solidFill>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Chemistry</a:t>
            </a:r>
            <a:endParaRPr b="1" sz="1700">
              <a:solidFill>
                <a:schemeClr val="dk1"/>
              </a:solidFill>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Citizenship</a:t>
            </a:r>
            <a:endParaRPr b="1" sz="1700">
              <a:solidFill>
                <a:schemeClr val="dk1"/>
              </a:solidFill>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Computing</a:t>
            </a:r>
            <a:endParaRPr b="1" sz="1700">
              <a:solidFill>
                <a:schemeClr val="dk1"/>
              </a:solidFill>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Design and technology</a:t>
            </a:r>
            <a:endParaRPr b="1" sz="1700">
              <a:solidFill>
                <a:schemeClr val="dk1"/>
              </a:solidFill>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English</a:t>
            </a:r>
            <a:endParaRPr b="1" sz="1700">
              <a:solidFill>
                <a:schemeClr val="dk1"/>
              </a:solidFill>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French</a:t>
            </a:r>
            <a:endParaRPr b="1" sz="1700">
              <a:solidFill>
                <a:schemeClr val="dk1"/>
              </a:solidFill>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Geography</a:t>
            </a:r>
            <a:endParaRPr b="1" sz="1700">
              <a:solidFill>
                <a:schemeClr val="dk1"/>
              </a:solidFill>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German</a:t>
            </a:r>
            <a:endParaRPr b="1" sz="1700">
              <a:solidFill>
                <a:schemeClr val="dk1"/>
              </a:solidFill>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History</a:t>
            </a:r>
            <a:endParaRPr b="1" sz="1700">
              <a:solidFill>
                <a:schemeClr val="dk1"/>
              </a:solidFill>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Maths</a:t>
            </a:r>
            <a:endParaRPr b="1" sz="1700">
              <a:solidFill>
                <a:schemeClr val="dk1"/>
              </a:solidFill>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Music</a:t>
            </a:r>
            <a:endParaRPr b="1" sz="1700">
              <a:solidFill>
                <a:schemeClr val="dk1"/>
              </a:solidFill>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Physical education</a:t>
            </a:r>
            <a:endParaRPr b="1" sz="1700">
              <a:solidFill>
                <a:schemeClr val="dk1"/>
              </a:solidFill>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Physics</a:t>
            </a:r>
            <a:endParaRPr b="1" sz="1700">
              <a:solidFill>
                <a:schemeClr val="dk1"/>
              </a:solidFill>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pic>
        <p:nvPicPr>
          <p:cNvPr id="157" name="Google Shape;157;p17"/>
          <p:cNvPicPr preferRelativeResize="0"/>
          <p:nvPr/>
        </p:nvPicPr>
        <p:blipFill rotWithShape="1">
          <a:blip r:embed="rId2">
            <a:alphaModFix/>
          </a:blip>
          <a:srcRect b="0" l="6209" r="6209" t="0"/>
          <a:stretch/>
        </p:blipFill>
        <p:spPr>
          <a:xfrm>
            <a:off x="324000" y="4008600"/>
            <a:ext cx="1360800" cy="128000"/>
          </a:xfrm>
          <a:prstGeom prst="rect">
            <a:avLst/>
          </a:prstGeom>
          <a:noFill/>
          <a:ln>
            <a:noFill/>
          </a:ln>
        </p:spPr>
      </p:pic>
      <p:sp>
        <p:nvSpPr>
          <p:cNvPr id="158" name="Google Shape;158;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RHE (PSHE)</a:t>
            </a:r>
            <a:endParaRPr b="1" sz="1700">
              <a:solidFill>
                <a:schemeClr val="dk1"/>
              </a:solidFill>
              <a:latin typeface="Lexend"/>
              <a:ea typeface="Lexend"/>
              <a:cs typeface="Lexend"/>
              <a:sym typeface="Lexend"/>
            </a:endParaRPr>
          </a:p>
        </p:txBody>
      </p:sp>
      <p:pic>
        <p:nvPicPr>
          <p:cNvPr id="160" name="Google Shape;160;p1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61" name="Google Shape;161;p17"/>
          <p:cNvGrpSpPr/>
          <p:nvPr/>
        </p:nvGrpSpPr>
        <p:grpSpPr>
          <a:xfrm>
            <a:off x="6156975" y="0"/>
            <a:ext cx="2987025" cy="3854074"/>
            <a:chOff x="6156975" y="0"/>
            <a:chExt cx="2987025" cy="3854074"/>
          </a:xfrm>
        </p:grpSpPr>
        <p:pic>
          <p:nvPicPr>
            <p:cNvPr id="162" name="Google Shape;162;p1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63" name="Google Shape;163;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4" name="Google Shape;164;p17"/>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165" name="Google Shape;165;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66" name="Google Shape;166;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800"/>
              <a:buFont typeface="Lexend"/>
              <a:buNone/>
              <a:defRPr sz="1800">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pic>
        <p:nvPicPr>
          <p:cNvPr id="168" name="Google Shape;168;p18"/>
          <p:cNvPicPr preferRelativeResize="0"/>
          <p:nvPr/>
        </p:nvPicPr>
        <p:blipFill rotWithShape="1">
          <a:blip r:embed="rId2">
            <a:alphaModFix/>
          </a:blip>
          <a:srcRect b="0" l="6209" r="6209" t="0"/>
          <a:stretch/>
        </p:blipFill>
        <p:spPr>
          <a:xfrm>
            <a:off x="324000" y="4008600"/>
            <a:ext cx="1511900" cy="128000"/>
          </a:xfrm>
          <a:prstGeom prst="rect">
            <a:avLst/>
          </a:prstGeom>
          <a:noFill/>
          <a:ln>
            <a:noFill/>
          </a:ln>
        </p:spPr>
      </p:pic>
      <p:sp>
        <p:nvSpPr>
          <p:cNvPr id="169" name="Google Shape;169;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0" name="Google Shape;170;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RSHE (PSHE)</a:t>
            </a:r>
            <a:endParaRPr b="1" sz="1700">
              <a:solidFill>
                <a:schemeClr val="dk1"/>
              </a:solidFill>
              <a:latin typeface="Lexend"/>
              <a:ea typeface="Lexend"/>
              <a:cs typeface="Lexend"/>
              <a:sym typeface="Lexend"/>
            </a:endParaRPr>
          </a:p>
        </p:txBody>
      </p:sp>
      <p:pic>
        <p:nvPicPr>
          <p:cNvPr id="171" name="Google Shape;171;p1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72" name="Google Shape;172;p18"/>
          <p:cNvGrpSpPr/>
          <p:nvPr/>
        </p:nvGrpSpPr>
        <p:grpSpPr>
          <a:xfrm>
            <a:off x="6156975" y="0"/>
            <a:ext cx="2987025" cy="3854074"/>
            <a:chOff x="6156975" y="0"/>
            <a:chExt cx="2987025" cy="3854074"/>
          </a:xfrm>
        </p:grpSpPr>
        <p:pic>
          <p:nvPicPr>
            <p:cNvPr id="173" name="Google Shape;173;p1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74" name="Google Shape;174;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5" name="Google Shape;175;p18"/>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176" name="Google Shape;176;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77" name="Google Shape;177;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Religious education</a:t>
            </a:r>
            <a:endParaRPr b="1" sz="1700">
              <a:solidFill>
                <a:schemeClr val="dk1"/>
              </a:solidFill>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Science</a:t>
            </a:r>
            <a:endParaRPr b="1" sz="1700">
              <a:solidFill>
                <a:schemeClr val="dk1"/>
              </a:solidFill>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Spanish</a:t>
            </a:r>
            <a:endParaRPr b="1" sz="1700">
              <a:solidFill>
                <a:schemeClr val="dk1"/>
              </a:solidFill>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solidFill>
                  <a:schemeClr val="dk1"/>
                </a:solidFill>
                <a:latin typeface="Lexend"/>
                <a:ea typeface="Lexend"/>
                <a:cs typeface="Lexend"/>
                <a:sym typeface="Lexend"/>
              </a:rPr>
              <a:t>Outcome</a:t>
            </a:r>
            <a:endParaRPr b="1" sz="2800">
              <a:solidFill>
                <a:schemeClr val="dk1"/>
              </a:solidFill>
              <a:latin typeface="Lexend"/>
              <a:ea typeface="Lexend"/>
              <a:cs typeface="Lexend"/>
              <a:sym typeface="Lexend"/>
            </a:endParaRPr>
          </a:p>
        </p:txBody>
      </p:sp>
      <p:sp>
        <p:nvSpPr>
          <p:cNvPr id="214" name="Google Shape;214;p22"/>
          <p:cNvSpPr txBox="1"/>
          <p:nvPr>
            <p:ph idx="1" type="subTitle"/>
          </p:nvPr>
        </p:nvSpPr>
        <p:spPr>
          <a:xfrm>
            <a:off x="666000" y="1620000"/>
            <a:ext cx="7270800" cy="25041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2000"/>
              <a:buNone/>
              <a:defRPr sz="20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bg>
      <p:bgPr>
        <a:solidFill>
          <a:srgbClr val="FFF7CC"/>
        </a:solidFill>
      </p:bgPr>
    </p:bg>
    <p:spTree>
      <p:nvGrpSpPr>
        <p:cNvPr id="215" name="Shape 215"/>
        <p:cNvGrpSpPr/>
        <p:nvPr/>
      </p:nvGrpSpPr>
      <p:grpSpPr>
        <a:xfrm>
          <a:off x="0" y="0"/>
          <a:ext cx="0" cy="0"/>
          <a:chOff x="0" y="0"/>
          <a:chExt cx="0" cy="0"/>
        </a:xfrm>
      </p:grpSpPr>
      <p:sp>
        <p:nvSpPr>
          <p:cNvPr id="216" name="Google Shape;216;p23"/>
          <p:cNvSpPr/>
          <p:nvPr/>
        </p:nvSpPr>
        <p:spPr>
          <a:xfrm>
            <a:off x="4683800" y="810000"/>
            <a:ext cx="4134600" cy="1163400"/>
          </a:xfrm>
          <a:prstGeom prst="roundRect">
            <a:avLst>
              <a:gd fmla="val 10151"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3"/>
          <p:cNvSpPr/>
          <p:nvPr/>
        </p:nvSpPr>
        <p:spPr>
          <a:xfrm>
            <a:off x="185250" y="810000"/>
            <a:ext cx="4134600" cy="3850200"/>
          </a:xfrm>
          <a:prstGeom prst="roundRect">
            <a:avLst>
              <a:gd fmla="val 2796"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nvSpPr>
        <p:spPr>
          <a:xfrm>
            <a:off x="325475" y="1245050"/>
            <a:ext cx="3998700" cy="461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Oak’s lessons are structured around </a:t>
            </a:r>
            <a:r>
              <a:rPr b="1" lang="en-GB" sz="1200">
                <a:solidFill>
                  <a:schemeClr val="dk1"/>
                </a:solidFill>
                <a:latin typeface="Lexend"/>
                <a:ea typeface="Lexend"/>
                <a:cs typeface="Lexend"/>
                <a:sym typeface="Lexend"/>
              </a:rPr>
              <a:t>learning cycles</a:t>
            </a:r>
            <a:r>
              <a:rPr i="1" lang="en-GB" sz="1200">
                <a:solidFill>
                  <a:schemeClr val="dk1"/>
                </a:solidFill>
                <a:latin typeface="Lexend"/>
                <a:ea typeface="Lexend"/>
                <a:cs typeface="Lexend"/>
                <a:sym typeface="Lexend"/>
              </a:rPr>
              <a:t>.</a:t>
            </a:r>
            <a:r>
              <a:rPr lang="en-GB" sz="1200">
                <a:solidFill>
                  <a:schemeClr val="dk1"/>
                </a:solidFill>
                <a:latin typeface="Lexend"/>
                <a:ea typeface="Lexend"/>
                <a:cs typeface="Lexend"/>
                <a:sym typeface="Lexend"/>
              </a:rPr>
              <a:t> These are indicated through colour in the slide deck:</a:t>
            </a:r>
            <a:endParaRPr sz="1200">
              <a:solidFill>
                <a:schemeClr val="dk1"/>
              </a:solidFill>
              <a:latin typeface="Lexend"/>
              <a:ea typeface="Lexend"/>
              <a:cs typeface="Lexend"/>
              <a:sym typeface="Lexend"/>
            </a:endParaRPr>
          </a:p>
        </p:txBody>
      </p:sp>
      <p:sp>
        <p:nvSpPr>
          <p:cNvPr id="219" name="Google Shape;219;p23"/>
          <p:cNvSpPr txBox="1"/>
          <p:nvPr/>
        </p:nvSpPr>
        <p:spPr>
          <a:xfrm>
            <a:off x="32547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Oak’s lesson structure</a:t>
            </a:r>
            <a:endParaRPr b="1" sz="1600">
              <a:solidFill>
                <a:schemeClr val="dk1"/>
              </a:solidFill>
              <a:latin typeface="Lexend"/>
              <a:ea typeface="Lexend"/>
              <a:cs typeface="Lexend"/>
              <a:sym typeface="Lexend"/>
            </a:endParaRPr>
          </a:p>
        </p:txBody>
      </p:sp>
      <p:sp>
        <p:nvSpPr>
          <p:cNvPr id="220" name="Google Shape;220;p23"/>
          <p:cNvSpPr txBox="1"/>
          <p:nvPr/>
        </p:nvSpPr>
        <p:spPr>
          <a:xfrm>
            <a:off x="482412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Useful links</a:t>
            </a:r>
            <a:endParaRPr b="1" sz="1600">
              <a:solidFill>
                <a:schemeClr val="dk1"/>
              </a:solidFill>
              <a:latin typeface="Lexend"/>
              <a:ea typeface="Lexend"/>
              <a:cs typeface="Lexend"/>
              <a:sym typeface="Lexend"/>
            </a:endParaRPr>
          </a:p>
        </p:txBody>
      </p:sp>
      <p:sp>
        <p:nvSpPr>
          <p:cNvPr id="221" name="Google Shape;221;p23"/>
          <p:cNvSpPr txBox="1"/>
          <p:nvPr/>
        </p:nvSpPr>
        <p:spPr>
          <a:xfrm>
            <a:off x="325475" y="3407125"/>
            <a:ext cx="39987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Each</a:t>
            </a:r>
            <a:r>
              <a:rPr b="1" lang="en-GB" sz="1200">
                <a:solidFill>
                  <a:schemeClr val="dk1"/>
                </a:solidFill>
                <a:latin typeface="Lexend"/>
                <a:ea typeface="Lexend"/>
                <a:cs typeface="Lexend"/>
                <a:sym typeface="Lexend"/>
              </a:rPr>
              <a:t> learning cycle</a:t>
            </a:r>
            <a:r>
              <a:rPr lang="en-GB" sz="1200">
                <a:solidFill>
                  <a:schemeClr val="dk1"/>
                </a:solidFill>
                <a:latin typeface="Lexend"/>
                <a:ea typeface="Lexend"/>
                <a:cs typeface="Lexend"/>
                <a:sym typeface="Lexend"/>
              </a:rPr>
              <a:t> covers several phases:</a:t>
            </a:r>
            <a:endParaRPr sz="1200">
              <a:solidFill>
                <a:schemeClr val="dk1"/>
              </a:solidFill>
              <a:latin typeface="Lexend"/>
              <a:ea typeface="Lexend"/>
              <a:cs typeface="Lexend"/>
              <a:sym typeface="Lexend"/>
            </a:endParaRPr>
          </a:p>
        </p:txBody>
      </p:sp>
      <p:grpSp>
        <p:nvGrpSpPr>
          <p:cNvPr id="222" name="Google Shape;222;p23"/>
          <p:cNvGrpSpPr/>
          <p:nvPr/>
        </p:nvGrpSpPr>
        <p:grpSpPr>
          <a:xfrm>
            <a:off x="2475040" y="1859748"/>
            <a:ext cx="1688103" cy="1373213"/>
            <a:chOff x="2642961" y="1644312"/>
            <a:chExt cx="1454634" cy="1195657"/>
          </a:xfrm>
        </p:grpSpPr>
        <p:pic>
          <p:nvPicPr>
            <p:cNvPr id="223" name="Google Shape;223;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5" name="Google Shape;225;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6" name="Google Shape;226;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7" name="Google Shape;227;p23"/>
          <p:cNvPicPr preferRelativeResize="0"/>
          <p:nvPr/>
        </p:nvPicPr>
        <p:blipFill rotWithShape="1">
          <a:blip r:embed="rId6">
            <a:alphaModFix/>
          </a:blip>
          <a:srcRect b="71084" l="3912" r="56768" t="0"/>
          <a:stretch/>
        </p:blipFill>
        <p:spPr>
          <a:xfrm>
            <a:off x="382600" y="3725750"/>
            <a:ext cx="841850" cy="364800"/>
          </a:xfrm>
          <a:prstGeom prst="rect">
            <a:avLst/>
          </a:prstGeom>
          <a:noFill/>
          <a:ln>
            <a:noFill/>
          </a:ln>
        </p:spPr>
      </p:pic>
      <p:pic>
        <p:nvPicPr>
          <p:cNvPr id="228" name="Google Shape;228;p23"/>
          <p:cNvPicPr preferRelativeResize="0"/>
          <p:nvPr/>
        </p:nvPicPr>
        <p:blipFill>
          <a:blip r:embed="rId7">
            <a:alphaModFix/>
          </a:blip>
          <a:stretch>
            <a:fillRect/>
          </a:stretch>
        </p:blipFill>
        <p:spPr>
          <a:xfrm>
            <a:off x="325475" y="2016159"/>
            <a:ext cx="1976824" cy="1117855"/>
          </a:xfrm>
          <a:prstGeom prst="rect">
            <a:avLst/>
          </a:prstGeom>
          <a:noFill/>
          <a:ln>
            <a:noFill/>
          </a:ln>
          <a:effectLst>
            <a:outerShdw blurRad="57150" rotWithShape="0" algn="bl" dir="5400000" dist="19050">
              <a:srgbClr val="000000">
                <a:alpha val="50000"/>
              </a:srgbClr>
            </a:outerShdw>
          </a:effectLst>
        </p:spPr>
      </p:pic>
      <p:pic>
        <p:nvPicPr>
          <p:cNvPr id="229" name="Google Shape;229;p23"/>
          <p:cNvPicPr preferRelativeResize="0"/>
          <p:nvPr/>
        </p:nvPicPr>
        <p:blipFill rotWithShape="1">
          <a:blip r:embed="rId6">
            <a:alphaModFix/>
          </a:blip>
          <a:srcRect b="71902" l="62493" r="7303" t="2791"/>
          <a:stretch/>
        </p:blipFill>
        <p:spPr>
          <a:xfrm>
            <a:off x="1322300" y="3754900"/>
            <a:ext cx="688050" cy="339675"/>
          </a:xfrm>
          <a:prstGeom prst="rect">
            <a:avLst/>
          </a:prstGeom>
          <a:noFill/>
          <a:ln>
            <a:noFill/>
          </a:ln>
        </p:spPr>
      </p:pic>
      <p:pic>
        <p:nvPicPr>
          <p:cNvPr id="230" name="Google Shape;230;p23"/>
          <p:cNvPicPr preferRelativeResize="0"/>
          <p:nvPr/>
        </p:nvPicPr>
        <p:blipFill rotWithShape="1">
          <a:blip r:embed="rId6">
            <a:alphaModFix/>
          </a:blip>
          <a:srcRect b="19543" l="6196" r="59088" t="51182"/>
          <a:stretch/>
        </p:blipFill>
        <p:spPr>
          <a:xfrm>
            <a:off x="2108188" y="3710946"/>
            <a:ext cx="743275" cy="369300"/>
          </a:xfrm>
          <a:prstGeom prst="rect">
            <a:avLst/>
          </a:prstGeom>
          <a:noFill/>
          <a:ln>
            <a:noFill/>
          </a:ln>
        </p:spPr>
      </p:pic>
      <p:pic>
        <p:nvPicPr>
          <p:cNvPr id="231" name="Google Shape;231;p23"/>
          <p:cNvPicPr preferRelativeResize="0"/>
          <p:nvPr/>
        </p:nvPicPr>
        <p:blipFill rotWithShape="1">
          <a:blip r:embed="rId6">
            <a:alphaModFix/>
          </a:blip>
          <a:srcRect b="19543" l="58433" r="3864" t="51182"/>
          <a:stretch/>
        </p:blipFill>
        <p:spPr>
          <a:xfrm>
            <a:off x="2989750" y="3725750"/>
            <a:ext cx="807200" cy="369300"/>
          </a:xfrm>
          <a:prstGeom prst="rect">
            <a:avLst/>
          </a:prstGeom>
          <a:noFill/>
          <a:ln>
            <a:noFill/>
          </a:ln>
        </p:spPr>
      </p:pic>
      <p:sp>
        <p:nvSpPr>
          <p:cNvPr id="232" name="Google Shape;232;p23"/>
          <p:cNvSpPr/>
          <p:nvPr/>
        </p:nvSpPr>
        <p:spPr>
          <a:xfrm>
            <a:off x="324000" y="264675"/>
            <a:ext cx="67464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chemeClr val="dk1"/>
                </a:solidFill>
                <a:latin typeface="Lexend"/>
                <a:ea typeface="Lexend"/>
                <a:cs typeface="Lexend"/>
                <a:sym typeface="Lexend"/>
              </a:rPr>
              <a:t>Teacher guidance</a:t>
            </a:r>
            <a:endParaRPr b="0" i="0" sz="2000" u="none" cap="none" strike="noStrike">
              <a:solidFill>
                <a:schemeClr val="dk1"/>
              </a:solidFill>
              <a:latin typeface="Calibri"/>
              <a:ea typeface="Calibri"/>
              <a:cs typeface="Calibri"/>
              <a:sym typeface="Calibri"/>
            </a:endParaRPr>
          </a:p>
        </p:txBody>
      </p:sp>
      <p:sp>
        <p:nvSpPr>
          <p:cNvPr id="233" name="Google Shape;233;p23"/>
          <p:cNvSpPr txBox="1"/>
          <p:nvPr/>
        </p:nvSpPr>
        <p:spPr>
          <a:xfrm>
            <a:off x="325475" y="4122125"/>
            <a:ext cx="39396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Explanation      Check      Practice      Feedback</a:t>
            </a:r>
            <a:endParaRPr sz="1200">
              <a:solidFill>
                <a:schemeClr val="dk1"/>
              </a:solidFill>
              <a:latin typeface="Lexend"/>
              <a:ea typeface="Lexend"/>
              <a:cs typeface="Lexend"/>
              <a:sym typeface="Lexen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34" name="Shape 234"/>
        <p:cNvGrpSpPr/>
        <p:nvPr/>
      </p:nvGrpSpPr>
      <p:grpSpPr>
        <a:xfrm>
          <a:off x="0" y="0"/>
          <a:ext cx="0" cy="0"/>
          <a:chOff x="0" y="0"/>
          <a:chExt cx="0" cy="0"/>
        </a:xfrm>
      </p:grpSpPr>
      <p:grpSp>
        <p:nvGrpSpPr>
          <p:cNvPr id="235" name="Google Shape;235;p24"/>
          <p:cNvGrpSpPr/>
          <p:nvPr/>
        </p:nvGrpSpPr>
        <p:grpSpPr>
          <a:xfrm>
            <a:off x="0" y="1"/>
            <a:ext cx="9151202" cy="649234"/>
            <a:chOff x="0" y="1"/>
            <a:chExt cx="9151202" cy="649234"/>
          </a:xfrm>
        </p:grpSpPr>
        <p:sp>
          <p:nvSpPr>
            <p:cNvPr id="236" name="Google Shape;236;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7" name="Google Shape;237;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38" name="Google Shape;238;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39" name="Google Shape;239;p24"/>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0" name="Google Shape;240;p24"/>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41" name="Google Shape;241;p24"/>
          <p:cNvSpPr txBox="1"/>
          <p:nvPr>
            <p:ph idx="3" type="subTitle"/>
          </p:nvPr>
        </p:nvSpPr>
        <p:spPr>
          <a:xfrm>
            <a:off x="324000" y="21054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2" name="Google Shape;242;p24"/>
          <p:cNvSpPr txBox="1"/>
          <p:nvPr>
            <p:ph idx="4" type="subTitle"/>
          </p:nvPr>
        </p:nvSpPr>
        <p:spPr>
          <a:xfrm>
            <a:off x="2699325" y="21054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43" name="Google Shape;243;p24"/>
          <p:cNvSpPr txBox="1"/>
          <p:nvPr>
            <p:ph idx="5" type="subTitle"/>
          </p:nvPr>
        </p:nvSpPr>
        <p:spPr>
          <a:xfrm>
            <a:off x="324000" y="3400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4" name="Google Shape;244;p24"/>
          <p:cNvSpPr txBox="1"/>
          <p:nvPr>
            <p:ph idx="6" type="subTitle"/>
          </p:nvPr>
        </p:nvSpPr>
        <p:spPr>
          <a:xfrm>
            <a:off x="2699325" y="3400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45" name="Shape 245"/>
        <p:cNvGrpSpPr/>
        <p:nvPr/>
      </p:nvGrpSpPr>
      <p:grpSpPr>
        <a:xfrm>
          <a:off x="0" y="0"/>
          <a:ext cx="0" cy="0"/>
          <a:chOff x="0" y="0"/>
          <a:chExt cx="0" cy="0"/>
        </a:xfrm>
      </p:grpSpPr>
      <p:grpSp>
        <p:nvGrpSpPr>
          <p:cNvPr id="246" name="Google Shape;246;p25"/>
          <p:cNvGrpSpPr/>
          <p:nvPr/>
        </p:nvGrpSpPr>
        <p:grpSpPr>
          <a:xfrm>
            <a:off x="0" y="1"/>
            <a:ext cx="9151202" cy="649234"/>
            <a:chOff x="0" y="1"/>
            <a:chExt cx="9151202" cy="649234"/>
          </a:xfrm>
        </p:grpSpPr>
        <p:sp>
          <p:nvSpPr>
            <p:cNvPr id="247" name="Google Shape;247;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49" name="Google Shape;249;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50" name="Google Shape;250;p25"/>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1" name="Google Shape;251;p25"/>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2" name="Google Shape;252;p25"/>
          <p:cNvSpPr txBox="1"/>
          <p:nvPr>
            <p:ph idx="3" type="subTitle"/>
          </p:nvPr>
        </p:nvSpPr>
        <p:spPr>
          <a:xfrm>
            <a:off x="324000" y="1800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3" name="Google Shape;253;p25"/>
          <p:cNvSpPr txBox="1"/>
          <p:nvPr>
            <p:ph idx="4" type="subTitle"/>
          </p:nvPr>
        </p:nvSpPr>
        <p:spPr>
          <a:xfrm>
            <a:off x="2699325" y="1800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4" name="Google Shape;254;p25"/>
          <p:cNvSpPr txBox="1"/>
          <p:nvPr>
            <p:ph idx="5" type="subTitle"/>
          </p:nvPr>
        </p:nvSpPr>
        <p:spPr>
          <a:xfrm>
            <a:off x="324000" y="27912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5" name="Google Shape;255;p25"/>
          <p:cNvSpPr txBox="1"/>
          <p:nvPr>
            <p:ph idx="6" type="subTitle"/>
          </p:nvPr>
        </p:nvSpPr>
        <p:spPr>
          <a:xfrm>
            <a:off x="2699325" y="27912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6" name="Google Shape;256;p25"/>
          <p:cNvSpPr txBox="1"/>
          <p:nvPr>
            <p:ph idx="7" type="subTitle"/>
          </p:nvPr>
        </p:nvSpPr>
        <p:spPr>
          <a:xfrm>
            <a:off x="324000" y="3781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7" name="Google Shape;257;p25"/>
          <p:cNvSpPr txBox="1"/>
          <p:nvPr>
            <p:ph idx="8" type="subTitle"/>
          </p:nvPr>
        </p:nvSpPr>
        <p:spPr>
          <a:xfrm>
            <a:off x="2699325" y="3781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8" name="Shape 258"/>
        <p:cNvGrpSpPr/>
        <p:nvPr/>
      </p:nvGrpSpPr>
      <p:grpSpPr>
        <a:xfrm>
          <a:off x="0" y="0"/>
          <a:ext cx="0" cy="0"/>
          <a:chOff x="0" y="0"/>
          <a:chExt cx="0" cy="0"/>
        </a:xfrm>
      </p:grpSpPr>
      <p:grpSp>
        <p:nvGrpSpPr>
          <p:cNvPr id="259" name="Google Shape;259;p26"/>
          <p:cNvGrpSpPr/>
          <p:nvPr/>
        </p:nvGrpSpPr>
        <p:grpSpPr>
          <a:xfrm>
            <a:off x="0" y="1"/>
            <a:ext cx="9151202" cy="649234"/>
            <a:chOff x="0" y="1"/>
            <a:chExt cx="9151202" cy="649234"/>
          </a:xfrm>
        </p:grpSpPr>
        <p:sp>
          <p:nvSpPr>
            <p:cNvPr id="260" name="Google Shape;260;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62" name="Google Shape;262;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63" name="Google Shape;263;p26"/>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4" name="Google Shape;264;p26"/>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5" name="Google Shape;265;p26"/>
          <p:cNvSpPr txBox="1"/>
          <p:nvPr>
            <p:ph idx="3" type="subTitle"/>
          </p:nvPr>
        </p:nvSpPr>
        <p:spPr>
          <a:xfrm>
            <a:off x="324000" y="24864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6" name="Google Shape;266;p26"/>
          <p:cNvSpPr txBox="1"/>
          <p:nvPr>
            <p:ph idx="4" type="subTitle"/>
          </p:nvPr>
        </p:nvSpPr>
        <p:spPr>
          <a:xfrm>
            <a:off x="2699325" y="24864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7" name="Google Shape;267;p26"/>
          <p:cNvSpPr txBox="1"/>
          <p:nvPr>
            <p:ph idx="5" type="subTitle"/>
          </p:nvPr>
        </p:nvSpPr>
        <p:spPr>
          <a:xfrm>
            <a:off x="324000" y="4162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8" name="Google Shape;268;p26"/>
          <p:cNvSpPr txBox="1"/>
          <p:nvPr>
            <p:ph idx="6" type="subTitle"/>
          </p:nvPr>
        </p:nvSpPr>
        <p:spPr>
          <a:xfrm>
            <a:off x="2699325" y="4162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9" name="Google Shape;269;p26"/>
          <p:cNvSpPr txBox="1"/>
          <p:nvPr>
            <p:ph idx="7" type="subTitle"/>
          </p:nvPr>
        </p:nvSpPr>
        <p:spPr>
          <a:xfrm>
            <a:off x="324000" y="16482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0" name="Google Shape;270;p26"/>
          <p:cNvSpPr txBox="1"/>
          <p:nvPr>
            <p:ph idx="8" type="subTitle"/>
          </p:nvPr>
        </p:nvSpPr>
        <p:spPr>
          <a:xfrm>
            <a:off x="2699325" y="16482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1" name="Google Shape;271;p26"/>
          <p:cNvSpPr txBox="1"/>
          <p:nvPr>
            <p:ph idx="9" type="subTitle"/>
          </p:nvPr>
        </p:nvSpPr>
        <p:spPr>
          <a:xfrm>
            <a:off x="324000" y="3324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2" name="Google Shape;272;p26"/>
          <p:cNvSpPr txBox="1"/>
          <p:nvPr>
            <p:ph idx="13" type="subTitle"/>
          </p:nvPr>
        </p:nvSpPr>
        <p:spPr>
          <a:xfrm>
            <a:off x="2699325" y="3324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73" name="Shape 273"/>
        <p:cNvGrpSpPr/>
        <p:nvPr/>
      </p:nvGrpSpPr>
      <p:grpSpPr>
        <a:xfrm>
          <a:off x="0" y="0"/>
          <a:ext cx="0" cy="0"/>
          <a:chOff x="0" y="0"/>
          <a:chExt cx="0" cy="0"/>
        </a:xfrm>
      </p:grpSpPr>
      <p:grpSp>
        <p:nvGrpSpPr>
          <p:cNvPr id="274" name="Google Shape;274;p27"/>
          <p:cNvGrpSpPr/>
          <p:nvPr/>
        </p:nvGrpSpPr>
        <p:grpSpPr>
          <a:xfrm>
            <a:off x="0" y="1"/>
            <a:ext cx="9151202" cy="649234"/>
            <a:chOff x="0" y="1"/>
            <a:chExt cx="9151202" cy="649234"/>
          </a:xfrm>
        </p:grpSpPr>
        <p:sp>
          <p:nvSpPr>
            <p:cNvPr id="275" name="Google Shape;27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6" name="Google Shape;27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77" name="Google Shape;27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78" name="Google Shape;278;p27"/>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9" name="Google Shape;279;p27"/>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80" name="Google Shape;280;p27"/>
          <p:cNvSpPr txBox="1"/>
          <p:nvPr>
            <p:ph idx="3" type="subTitle"/>
          </p:nvPr>
        </p:nvSpPr>
        <p:spPr>
          <a:xfrm>
            <a:off x="324000" y="2562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81" name="Google Shape;281;p27"/>
          <p:cNvSpPr txBox="1"/>
          <p:nvPr>
            <p:ph idx="4" type="subTitle"/>
          </p:nvPr>
        </p:nvSpPr>
        <p:spPr>
          <a:xfrm>
            <a:off x="2699325" y="2562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_2">
    <p:spTree>
      <p:nvGrpSpPr>
        <p:cNvPr id="282" name="Shape 282"/>
        <p:cNvGrpSpPr/>
        <p:nvPr/>
      </p:nvGrpSpPr>
      <p:grpSpPr>
        <a:xfrm>
          <a:off x="0" y="0"/>
          <a:ext cx="0" cy="0"/>
          <a:chOff x="0" y="0"/>
          <a:chExt cx="0" cy="0"/>
        </a:xfrm>
      </p:grpSpPr>
      <p:pic>
        <p:nvPicPr>
          <p:cNvPr id="283" name="Google Shape;283;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84" name="Google Shape;284;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85" name="Google Shape;285;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86" name="Google Shape;286;p28"/>
          <p:cNvCxnSpPr>
            <a:endCxn id="28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88" name="Google Shape;288;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9" name="Google Shape;289;p28"/>
          <p:cNvSpPr txBox="1"/>
          <p:nvPr>
            <p:ph type="title"/>
          </p:nvPr>
        </p:nvSpPr>
        <p:spPr>
          <a:xfrm>
            <a:off x="1225225" y="2133562"/>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87" name="Google Shape;287;p28"/>
          <p:cNvPicPr preferRelativeResize="0"/>
          <p:nvPr/>
        </p:nvPicPr>
        <p:blipFill>
          <a:blip r:embed="rId6">
            <a:alphaModFix/>
          </a:blip>
          <a:stretch>
            <a:fillRect/>
          </a:stretch>
        </p:blipFill>
        <p:spPr>
          <a:xfrm>
            <a:off x="363340" y="2925705"/>
            <a:ext cx="563446" cy="572077"/>
          </a:xfrm>
          <a:prstGeom prst="rect">
            <a:avLst/>
          </a:prstGeom>
          <a:noFill/>
          <a:ln>
            <a:noFill/>
          </a:ln>
        </p:spPr>
      </p:pic>
      <p:grpSp>
        <p:nvGrpSpPr>
          <p:cNvPr id="290" name="Google Shape;290;p28"/>
          <p:cNvGrpSpPr/>
          <p:nvPr/>
        </p:nvGrpSpPr>
        <p:grpSpPr>
          <a:xfrm>
            <a:off x="-12" y="0"/>
            <a:ext cx="9151202" cy="598359"/>
            <a:chOff x="-12" y="0"/>
            <a:chExt cx="9151202" cy="598359"/>
          </a:xfrm>
        </p:grpSpPr>
        <p:sp>
          <p:nvSpPr>
            <p:cNvPr id="291" name="Google Shape;291;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2" name="Google Shape;29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grpSp>
      <p:sp>
        <p:nvSpPr>
          <p:cNvPr id="293" name="Google Shape;29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94" name="Google Shape;294;p28"/>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295" name="Google Shape;295;p28"/>
          <p:cNvSpPr txBox="1"/>
          <p:nvPr>
            <p:ph idx="3" type="title"/>
          </p:nvPr>
        </p:nvSpPr>
        <p:spPr>
          <a:xfrm>
            <a:off x="1225225" y="30698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_1">
    <p:spTree>
      <p:nvGrpSpPr>
        <p:cNvPr id="296" name="Shape 296"/>
        <p:cNvGrpSpPr/>
        <p:nvPr/>
      </p:nvGrpSpPr>
      <p:grpSpPr>
        <a:xfrm>
          <a:off x="0" y="0"/>
          <a:ext cx="0" cy="0"/>
          <a:chOff x="0" y="0"/>
          <a:chExt cx="0" cy="0"/>
        </a:xfrm>
      </p:grpSpPr>
      <p:pic>
        <p:nvPicPr>
          <p:cNvPr id="297" name="Google Shape;297;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98" name="Google Shape;298;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99" name="Google Shape;299;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300" name="Google Shape;300;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301" name="Google Shape;301;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302" name="Google Shape;302;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303" name="Google Shape;303;p29"/>
          <p:cNvCxnSpPr>
            <a:endCxn id="304"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304" name="Google Shape;304;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305" name="Google Shape;305;p29"/>
          <p:cNvPicPr preferRelativeResize="0"/>
          <p:nvPr/>
        </p:nvPicPr>
        <p:blipFill>
          <a:blip r:embed="rId7">
            <a:alphaModFix/>
          </a:blip>
          <a:stretch>
            <a:fillRect/>
          </a:stretch>
        </p:blipFill>
        <p:spPr>
          <a:xfrm>
            <a:off x="363482" y="1682508"/>
            <a:ext cx="563185" cy="572092"/>
          </a:xfrm>
          <a:prstGeom prst="rect">
            <a:avLst/>
          </a:prstGeom>
          <a:noFill/>
          <a:ln>
            <a:noFill/>
          </a:ln>
        </p:spPr>
      </p:pic>
      <p:pic>
        <p:nvPicPr>
          <p:cNvPr id="306" name="Google Shape;306;p29"/>
          <p:cNvPicPr preferRelativeResize="0"/>
          <p:nvPr/>
        </p:nvPicPr>
        <p:blipFill>
          <a:blip r:embed="rId8">
            <a:alphaModFix/>
          </a:blip>
          <a:stretch>
            <a:fillRect/>
          </a:stretch>
        </p:blipFill>
        <p:spPr>
          <a:xfrm>
            <a:off x="363340" y="2703416"/>
            <a:ext cx="563446" cy="572077"/>
          </a:xfrm>
          <a:prstGeom prst="rect">
            <a:avLst/>
          </a:prstGeom>
          <a:noFill/>
          <a:ln>
            <a:noFill/>
          </a:ln>
        </p:spPr>
      </p:pic>
      <p:grpSp>
        <p:nvGrpSpPr>
          <p:cNvPr id="307" name="Google Shape;307;p29"/>
          <p:cNvGrpSpPr/>
          <p:nvPr/>
        </p:nvGrpSpPr>
        <p:grpSpPr>
          <a:xfrm>
            <a:off x="-12" y="0"/>
            <a:ext cx="9151202" cy="598359"/>
            <a:chOff x="-12" y="0"/>
            <a:chExt cx="9151202" cy="598359"/>
          </a:xfrm>
        </p:grpSpPr>
        <p:sp>
          <p:nvSpPr>
            <p:cNvPr id="308" name="Google Shape;308;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9" name="Google Shape;309;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grpSp>
      <p:sp>
        <p:nvSpPr>
          <p:cNvPr id="310" name="Google Shape;310;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11" name="Google Shape;311;p29"/>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12" name="Google Shape;312;p29"/>
          <p:cNvSpPr txBox="1"/>
          <p:nvPr>
            <p:ph idx="2" type="title"/>
          </p:nvPr>
        </p:nvSpPr>
        <p:spPr>
          <a:xfrm>
            <a:off x="1225225" y="28412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3" name="Google Shape;313;p29"/>
          <p:cNvSpPr txBox="1"/>
          <p:nvPr>
            <p:ph idx="3" type="title"/>
          </p:nvPr>
        </p:nvSpPr>
        <p:spPr>
          <a:xfrm>
            <a:off x="1225200" y="37819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4" name="Google Shape;314;p29"/>
          <p:cNvSpPr txBox="1"/>
          <p:nvPr>
            <p:ph idx="4" type="title"/>
          </p:nvPr>
        </p:nvSpPr>
        <p:spPr>
          <a:xfrm>
            <a:off x="1225200" y="1822462"/>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15" name="Shape 315"/>
        <p:cNvGrpSpPr/>
        <p:nvPr/>
      </p:nvGrpSpPr>
      <p:grpSpPr>
        <a:xfrm>
          <a:off x="0" y="0"/>
          <a:ext cx="0" cy="0"/>
          <a:chOff x="0" y="0"/>
          <a:chExt cx="0" cy="0"/>
        </a:xfrm>
      </p:grpSpPr>
      <p:pic>
        <p:nvPicPr>
          <p:cNvPr id="316" name="Google Shape;316;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17" name="Google Shape;317;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18" name="Google Shape;318;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19" name="Google Shape;319;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20" name="Google Shape;320;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21" name="Google Shape;321;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22" name="Google Shape;322;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23" name="Google Shape;323;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24" name="Google Shape;324;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25" name="Google Shape;325;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26" name="Google Shape;326;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27" name="Google Shape;327;p30"/>
          <p:cNvPicPr preferRelativeResize="0"/>
          <p:nvPr/>
        </p:nvPicPr>
        <p:blipFill>
          <a:blip r:embed="rId9">
            <a:alphaModFix/>
          </a:blip>
          <a:stretch>
            <a:fillRect/>
          </a:stretch>
        </p:blipFill>
        <p:spPr>
          <a:xfrm>
            <a:off x="363340" y="2287588"/>
            <a:ext cx="563446" cy="572077"/>
          </a:xfrm>
          <a:prstGeom prst="rect">
            <a:avLst/>
          </a:prstGeom>
          <a:noFill/>
          <a:ln>
            <a:noFill/>
          </a:ln>
        </p:spPr>
      </p:pic>
      <p:pic>
        <p:nvPicPr>
          <p:cNvPr id="328" name="Google Shape;328;p30"/>
          <p:cNvPicPr preferRelativeResize="0"/>
          <p:nvPr/>
        </p:nvPicPr>
        <p:blipFill>
          <a:blip r:embed="rId10">
            <a:alphaModFix/>
          </a:blip>
          <a:stretch>
            <a:fillRect/>
          </a:stretch>
        </p:blipFill>
        <p:spPr>
          <a:xfrm>
            <a:off x="363341" y="3969363"/>
            <a:ext cx="563446" cy="572077"/>
          </a:xfrm>
          <a:prstGeom prst="rect">
            <a:avLst/>
          </a:prstGeom>
          <a:noFill/>
          <a:ln>
            <a:noFill/>
          </a:ln>
        </p:spPr>
      </p:pic>
      <p:grpSp>
        <p:nvGrpSpPr>
          <p:cNvPr id="329" name="Google Shape;329;p30"/>
          <p:cNvGrpSpPr/>
          <p:nvPr/>
        </p:nvGrpSpPr>
        <p:grpSpPr>
          <a:xfrm>
            <a:off x="-12" y="0"/>
            <a:ext cx="9151202" cy="598359"/>
            <a:chOff x="-12" y="0"/>
            <a:chExt cx="9151202" cy="598359"/>
          </a:xfrm>
        </p:grpSpPr>
        <p:sp>
          <p:nvSpPr>
            <p:cNvPr id="330" name="Google Shape;330;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1" name="Google Shape;331;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grpSp>
      <p:sp>
        <p:nvSpPr>
          <p:cNvPr id="332" name="Google Shape;332;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33" name="Google Shape;333;p30"/>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34" name="Google Shape;334;p30"/>
          <p:cNvSpPr txBox="1"/>
          <p:nvPr>
            <p:ph idx="2" type="title"/>
          </p:nvPr>
        </p:nvSpPr>
        <p:spPr>
          <a:xfrm>
            <a:off x="1224600" y="160210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35" name="Google Shape;335;p30"/>
          <p:cNvSpPr txBox="1"/>
          <p:nvPr>
            <p:ph idx="3" type="title"/>
          </p:nvPr>
        </p:nvSpPr>
        <p:spPr>
          <a:xfrm>
            <a:off x="1224600" y="24317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36" name="Google Shape;336;p30"/>
          <p:cNvSpPr txBox="1"/>
          <p:nvPr>
            <p:ph idx="4" type="title"/>
          </p:nvPr>
        </p:nvSpPr>
        <p:spPr>
          <a:xfrm>
            <a:off x="1224600" y="3286637"/>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37" name="Google Shape;337;p30"/>
          <p:cNvSpPr txBox="1"/>
          <p:nvPr>
            <p:ph idx="5" type="title"/>
          </p:nvPr>
        </p:nvSpPr>
        <p:spPr>
          <a:xfrm>
            <a:off x="1224600" y="41081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38" name="Shape 338"/>
        <p:cNvGrpSpPr/>
        <p:nvPr/>
      </p:nvGrpSpPr>
      <p:grpSpPr>
        <a:xfrm>
          <a:off x="0" y="0"/>
          <a:ext cx="0" cy="0"/>
          <a:chOff x="0" y="0"/>
          <a:chExt cx="0" cy="0"/>
        </a:xfrm>
      </p:grpSpPr>
      <p:grpSp>
        <p:nvGrpSpPr>
          <p:cNvPr id="339" name="Google Shape;339;p31"/>
          <p:cNvGrpSpPr/>
          <p:nvPr/>
        </p:nvGrpSpPr>
        <p:grpSpPr>
          <a:xfrm>
            <a:off x="-1" y="-2"/>
            <a:ext cx="9151203" cy="649227"/>
            <a:chOff x="-1" y="-2"/>
            <a:chExt cx="9151203" cy="649227"/>
          </a:xfrm>
        </p:grpSpPr>
        <p:pic>
          <p:nvPicPr>
            <p:cNvPr id="340" name="Google Shape;340;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41" name="Google Shape;341;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2" name="Google Shape;342;p31"/>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343" name="Google Shape;343;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44" name="Google Shape;344;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
        <p:nvSpPr>
          <p:cNvPr id="345" name="Google Shape;345;p31"/>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46" name="Shape 346"/>
        <p:cNvGrpSpPr/>
        <p:nvPr/>
      </p:nvGrpSpPr>
      <p:grpSpPr>
        <a:xfrm>
          <a:off x="0" y="0"/>
          <a:ext cx="0" cy="0"/>
          <a:chOff x="0" y="0"/>
          <a:chExt cx="0" cy="0"/>
        </a:xfrm>
      </p:grpSpPr>
      <p:grpSp>
        <p:nvGrpSpPr>
          <p:cNvPr id="347" name="Google Shape;347;p32"/>
          <p:cNvGrpSpPr/>
          <p:nvPr/>
        </p:nvGrpSpPr>
        <p:grpSpPr>
          <a:xfrm>
            <a:off x="-1" y="-2"/>
            <a:ext cx="9151203" cy="649236"/>
            <a:chOff x="-1" y="-2"/>
            <a:chExt cx="9151203" cy="649236"/>
          </a:xfrm>
        </p:grpSpPr>
        <p:pic>
          <p:nvPicPr>
            <p:cNvPr id="348" name="Google Shape;348;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9" name="Google Shape;349;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 name="Google Shape;350;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pic>
        <p:nvPicPr>
          <p:cNvPr id="351" name="Google Shape;351;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52" name="Google Shape;352;p32"/>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3" name="Google Shape;353;p3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54" name="Shape 354"/>
        <p:cNvGrpSpPr/>
        <p:nvPr/>
      </p:nvGrpSpPr>
      <p:grpSpPr>
        <a:xfrm>
          <a:off x="0" y="0"/>
          <a:ext cx="0" cy="0"/>
          <a:chOff x="0" y="0"/>
          <a:chExt cx="0" cy="0"/>
        </a:xfrm>
      </p:grpSpPr>
      <p:pic>
        <p:nvPicPr>
          <p:cNvPr id="355" name="Google Shape;355;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pic>
        <p:nvPicPr>
          <p:cNvPr id="358" name="Google Shape;358;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59" name="Google Shape;359;p33"/>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0" name="Google Shape;360;p3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61" name="Shape 361"/>
        <p:cNvGrpSpPr/>
        <p:nvPr/>
      </p:nvGrpSpPr>
      <p:grpSpPr>
        <a:xfrm>
          <a:off x="0" y="0"/>
          <a:ext cx="0" cy="0"/>
          <a:chOff x="0" y="0"/>
          <a:chExt cx="0" cy="0"/>
        </a:xfrm>
      </p:grpSpPr>
      <p:pic>
        <p:nvPicPr>
          <p:cNvPr id="362" name="Google Shape;362;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3" name="Google Shape;363;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pic>
        <p:nvPicPr>
          <p:cNvPr id="365" name="Google Shape;365;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66" name="Google Shape;366;p34"/>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7" name="Google Shape;367;p3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68" name="Shape 368"/>
        <p:cNvGrpSpPr/>
        <p:nvPr/>
      </p:nvGrpSpPr>
      <p:grpSpPr>
        <a:xfrm>
          <a:off x="0" y="0"/>
          <a:ext cx="0" cy="0"/>
          <a:chOff x="0" y="0"/>
          <a:chExt cx="0" cy="0"/>
        </a:xfrm>
      </p:grpSpPr>
      <p:sp>
        <p:nvSpPr>
          <p:cNvPr id="369" name="Google Shape;369;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0" name="Google Shape;370;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71" name="Google Shape;371;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5"/>
          <p:cNvSpPr txBox="1"/>
          <p:nvPr>
            <p:ph idx="1"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3" name="Google Shape;373;p35"/>
          <p:cNvSpPr txBox="1"/>
          <p:nvPr>
            <p:ph idx="2"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4" name="Google Shape;374;p35"/>
          <p:cNvGrpSpPr/>
          <p:nvPr/>
        </p:nvGrpSpPr>
        <p:grpSpPr>
          <a:xfrm>
            <a:off x="7834231" y="1285"/>
            <a:ext cx="828900" cy="576065"/>
            <a:chOff x="7801496" y="1285"/>
            <a:chExt cx="828900" cy="576065"/>
          </a:xfrm>
        </p:grpSpPr>
        <p:pic>
          <p:nvPicPr>
            <p:cNvPr id="375" name="Google Shape;375;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6" name="Google Shape;376;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77" name="Google Shape;377;p35"/>
          <p:cNvGrpSpPr/>
          <p:nvPr/>
        </p:nvGrpSpPr>
        <p:grpSpPr>
          <a:xfrm>
            <a:off x="8635663" y="1285"/>
            <a:ext cx="499700" cy="576065"/>
            <a:chOff x="8635663" y="1285"/>
            <a:chExt cx="499700" cy="576065"/>
          </a:xfrm>
        </p:grpSpPr>
        <p:pic>
          <p:nvPicPr>
            <p:cNvPr id="378" name="Google Shape;378;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9" name="Google Shape;379;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
        <p:nvSpPr>
          <p:cNvPr id="380" name="Google Shape;380;p35"/>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81" name="Shape 381"/>
        <p:cNvGrpSpPr/>
        <p:nvPr/>
      </p:nvGrpSpPr>
      <p:grpSpPr>
        <a:xfrm>
          <a:off x="0" y="0"/>
          <a:ext cx="0" cy="0"/>
          <a:chOff x="0" y="0"/>
          <a:chExt cx="0" cy="0"/>
        </a:xfrm>
      </p:grpSpPr>
      <p:sp>
        <p:nvSpPr>
          <p:cNvPr id="382" name="Google Shape;382;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3" name="Google Shape;383;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4" name="Google Shape;384;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6"/>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6"/>
          <p:cNvGrpSpPr/>
          <p:nvPr/>
        </p:nvGrpSpPr>
        <p:grpSpPr>
          <a:xfrm>
            <a:off x="7834231" y="1285"/>
            <a:ext cx="828900" cy="576065"/>
            <a:chOff x="7801496" y="1285"/>
            <a:chExt cx="828900" cy="576065"/>
          </a:xfrm>
        </p:grpSpPr>
        <p:pic>
          <p:nvPicPr>
            <p:cNvPr id="387" name="Google Shape;387;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6"/>
          <p:cNvGrpSpPr/>
          <p:nvPr/>
        </p:nvGrpSpPr>
        <p:grpSpPr>
          <a:xfrm>
            <a:off x="8635663" y="1285"/>
            <a:ext cx="499700" cy="576065"/>
            <a:chOff x="8635663" y="1285"/>
            <a:chExt cx="499700" cy="576065"/>
          </a:xfrm>
        </p:grpSpPr>
        <p:pic>
          <p:nvPicPr>
            <p:cNvPr id="390" name="Google Shape;390;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392" name="Google Shape;392;p36"/>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3" name="Google Shape;393;p36"/>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94" name="Shape 394"/>
        <p:cNvGrpSpPr/>
        <p:nvPr/>
      </p:nvGrpSpPr>
      <p:grpSpPr>
        <a:xfrm>
          <a:off x="0" y="0"/>
          <a:ext cx="0" cy="0"/>
          <a:chOff x="0" y="0"/>
          <a:chExt cx="0" cy="0"/>
        </a:xfrm>
      </p:grpSpPr>
      <p:sp>
        <p:nvSpPr>
          <p:cNvPr id="395" name="Google Shape;395;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6" name="Google Shape;39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7"/>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9" name="Google Shape;399;p37"/>
          <p:cNvGrpSpPr/>
          <p:nvPr/>
        </p:nvGrpSpPr>
        <p:grpSpPr>
          <a:xfrm>
            <a:off x="7834231" y="1285"/>
            <a:ext cx="828900" cy="576065"/>
            <a:chOff x="7801496" y="1285"/>
            <a:chExt cx="828900" cy="576065"/>
          </a:xfrm>
        </p:grpSpPr>
        <p:pic>
          <p:nvPicPr>
            <p:cNvPr id="400" name="Google Shape;400;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402" name="Google Shape;402;p37"/>
          <p:cNvGrpSpPr/>
          <p:nvPr/>
        </p:nvGrpSpPr>
        <p:grpSpPr>
          <a:xfrm>
            <a:off x="8635663" y="1285"/>
            <a:ext cx="499700" cy="576065"/>
            <a:chOff x="8635663" y="1285"/>
            <a:chExt cx="499700" cy="576065"/>
          </a:xfrm>
        </p:grpSpPr>
        <p:pic>
          <p:nvPicPr>
            <p:cNvPr id="403" name="Google Shape;403;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405" name="Google Shape;405;p37"/>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7"/>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407" name="Shape 407"/>
        <p:cNvGrpSpPr/>
        <p:nvPr/>
      </p:nvGrpSpPr>
      <p:grpSpPr>
        <a:xfrm>
          <a:off x="0" y="0"/>
          <a:ext cx="0" cy="0"/>
          <a:chOff x="0" y="0"/>
          <a:chExt cx="0" cy="0"/>
        </a:xfrm>
      </p:grpSpPr>
      <p:sp>
        <p:nvSpPr>
          <p:cNvPr id="408" name="Google Shape;408;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 name="Google Shape;40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0" name="Google Shape;410;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8"/>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12" name="Google Shape;412;p38"/>
          <p:cNvGrpSpPr/>
          <p:nvPr/>
        </p:nvGrpSpPr>
        <p:grpSpPr>
          <a:xfrm>
            <a:off x="7834231" y="1285"/>
            <a:ext cx="828900" cy="576065"/>
            <a:chOff x="7801496" y="1285"/>
            <a:chExt cx="828900" cy="576065"/>
          </a:xfrm>
        </p:grpSpPr>
        <p:pic>
          <p:nvPicPr>
            <p:cNvPr id="413" name="Google Shape;413;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14" name="Google Shape;414;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15" name="Google Shape;415;p38"/>
          <p:cNvGrpSpPr/>
          <p:nvPr/>
        </p:nvGrpSpPr>
        <p:grpSpPr>
          <a:xfrm>
            <a:off x="8635663" y="1285"/>
            <a:ext cx="499700" cy="576065"/>
            <a:chOff x="8635663" y="1285"/>
            <a:chExt cx="499700" cy="576065"/>
          </a:xfrm>
        </p:grpSpPr>
        <p:pic>
          <p:nvPicPr>
            <p:cNvPr id="416" name="Google Shape;416;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17" name="Google Shape;417;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
        <p:nvSpPr>
          <p:cNvPr id="418" name="Google Shape;418;p38"/>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9" name="Google Shape;419;p38"/>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20" name="Shape 420"/>
        <p:cNvGrpSpPr/>
        <p:nvPr/>
      </p:nvGrpSpPr>
      <p:grpSpPr>
        <a:xfrm>
          <a:off x="0" y="0"/>
          <a:ext cx="0" cy="0"/>
          <a:chOff x="0" y="0"/>
          <a:chExt cx="0" cy="0"/>
        </a:xfrm>
      </p:grpSpPr>
      <p:pic>
        <p:nvPicPr>
          <p:cNvPr id="421" name="Google Shape;421;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22" name="Google Shape;422;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23" name="Google Shape;423;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24" name="Google Shape;424;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6" name="Google Shape;426;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27" name="Google Shape;427;p39"/>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28" name="Google Shape;428;p39"/>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9" name="Google Shape;429;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0" name="Google Shape;430;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1" name="Google Shape;431;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32" name="Google Shape;432;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33" name="Google Shape;433;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34" name="Google Shape;434;p39"/>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35" name="Shape 435"/>
        <p:cNvGrpSpPr/>
        <p:nvPr/>
      </p:nvGrpSpPr>
      <p:grpSpPr>
        <a:xfrm>
          <a:off x="0" y="0"/>
          <a:ext cx="0" cy="0"/>
          <a:chOff x="0" y="0"/>
          <a:chExt cx="0" cy="0"/>
        </a:xfrm>
      </p:grpSpPr>
      <p:pic>
        <p:nvPicPr>
          <p:cNvPr id="436" name="Google Shape;436;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pic>
        <p:nvPicPr>
          <p:cNvPr id="440" name="Google Shape;440;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1" name="Google Shape;441;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2" name="Google Shape;442;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3" name="Google Shape;443;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4" name="Google Shape;444;p40"/>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5" name="Google Shape;445;p40"/>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7" name="Google Shape;447;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8" name="Google Shape;448;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49" name="Google Shape;449;p40"/>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50" name="Shape 450"/>
        <p:cNvGrpSpPr/>
        <p:nvPr/>
      </p:nvGrpSpPr>
      <p:grpSpPr>
        <a:xfrm>
          <a:off x="0" y="0"/>
          <a:ext cx="0" cy="0"/>
          <a:chOff x="0" y="0"/>
          <a:chExt cx="0" cy="0"/>
        </a:xfrm>
      </p:grpSpPr>
      <p:pic>
        <p:nvPicPr>
          <p:cNvPr id="451" name="Google Shape;451;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pic>
        <p:nvPicPr>
          <p:cNvPr id="455" name="Google Shape;455;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6" name="Google Shape;456;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7" name="Google Shape;457;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8" name="Google Shape;458;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59" name="Google Shape;459;p41"/>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0" name="Google Shape;460;p41"/>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2" name="Google Shape;462;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3" name="Google Shape;463;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64" name="Google Shape;464;p41"/>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65" name="Shape 465"/>
        <p:cNvGrpSpPr/>
        <p:nvPr/>
      </p:nvGrpSpPr>
      <p:grpSpPr>
        <a:xfrm>
          <a:off x="0" y="0"/>
          <a:ext cx="0" cy="0"/>
          <a:chOff x="0" y="0"/>
          <a:chExt cx="0" cy="0"/>
        </a:xfrm>
      </p:grpSpPr>
      <p:pic>
        <p:nvPicPr>
          <p:cNvPr id="466" name="Google Shape;466;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67" name="Google Shape;467;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8" name="Google Shape;468;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9" name="Google Shape;469;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pic>
        <p:nvPicPr>
          <p:cNvPr id="470" name="Google Shape;470;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71" name="Google Shape;471;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72" name="Google Shape;472;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73" name="Google Shape;473;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74" name="Google Shape;474;p42"/>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75" name="Google Shape;475;p42"/>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6" name="Google Shape;476;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77" name="Google Shape;477;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78" name="Google Shape;478;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79" name="Google Shape;479;p4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80" name="Shape 480"/>
        <p:cNvGrpSpPr/>
        <p:nvPr/>
      </p:nvGrpSpPr>
      <p:grpSpPr>
        <a:xfrm>
          <a:off x="0" y="0"/>
          <a:ext cx="0" cy="0"/>
          <a:chOff x="0" y="0"/>
          <a:chExt cx="0" cy="0"/>
        </a:xfrm>
      </p:grpSpPr>
      <p:pic>
        <p:nvPicPr>
          <p:cNvPr id="481" name="Google Shape;481;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82" name="Google Shape;482;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3"/>
          <p:cNvSpPr txBox="1"/>
          <p:nvPr>
            <p:ph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4" name="Google Shape;484;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5" name="Google Shape;485;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86" name="Google Shape;486;p43"/>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43"/>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43"/>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9" name="Google Shape;489;p43"/>
          <p:cNvGrpSpPr/>
          <p:nvPr/>
        </p:nvGrpSpPr>
        <p:grpSpPr>
          <a:xfrm>
            <a:off x="323653" y="1804438"/>
            <a:ext cx="457200" cy="457200"/>
            <a:chOff x="1020916" y="1442088"/>
            <a:chExt cx="457200" cy="457200"/>
          </a:xfrm>
        </p:grpSpPr>
        <p:pic>
          <p:nvPicPr>
            <p:cNvPr id="490" name="Google Shape;490;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2" name="Google Shape;492;p43"/>
          <p:cNvGrpSpPr/>
          <p:nvPr/>
        </p:nvGrpSpPr>
        <p:grpSpPr>
          <a:xfrm>
            <a:off x="323653" y="2766575"/>
            <a:ext cx="457200" cy="457200"/>
            <a:chOff x="1020916" y="1442088"/>
            <a:chExt cx="457200" cy="457200"/>
          </a:xfrm>
        </p:grpSpPr>
        <p:pic>
          <p:nvPicPr>
            <p:cNvPr id="493" name="Google Shape;49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5" name="Google Shape;495;p43"/>
          <p:cNvGrpSpPr/>
          <p:nvPr/>
        </p:nvGrpSpPr>
        <p:grpSpPr>
          <a:xfrm>
            <a:off x="323641" y="3729038"/>
            <a:ext cx="457200" cy="457200"/>
            <a:chOff x="1020916" y="1442088"/>
            <a:chExt cx="457200" cy="457200"/>
          </a:xfrm>
        </p:grpSpPr>
        <p:pic>
          <p:nvPicPr>
            <p:cNvPr id="496" name="Google Shape;49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498" name="Google Shape;498;p43"/>
          <p:cNvSpPr txBox="1"/>
          <p:nvPr>
            <p:ph idx="4"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99" name="Shape 499"/>
        <p:cNvGrpSpPr/>
        <p:nvPr/>
      </p:nvGrpSpPr>
      <p:grpSpPr>
        <a:xfrm>
          <a:off x="0" y="0"/>
          <a:ext cx="0" cy="0"/>
          <a:chOff x="0" y="0"/>
          <a:chExt cx="0" cy="0"/>
        </a:xfrm>
      </p:grpSpPr>
      <p:pic>
        <p:nvPicPr>
          <p:cNvPr id="500" name="Google Shape;500;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2" name="Google Shape;502;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44"/>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5" name="Google Shape;505;p44"/>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44"/>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7" name="Google Shape;507;p44"/>
          <p:cNvGrpSpPr/>
          <p:nvPr/>
        </p:nvGrpSpPr>
        <p:grpSpPr>
          <a:xfrm>
            <a:off x="323653" y="1804438"/>
            <a:ext cx="457200" cy="457200"/>
            <a:chOff x="1020916" y="1442088"/>
            <a:chExt cx="457200" cy="457200"/>
          </a:xfrm>
        </p:grpSpPr>
        <p:pic>
          <p:nvPicPr>
            <p:cNvPr id="508" name="Google Shape;50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9" name="Google Shape;50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0" name="Google Shape;510;p44"/>
          <p:cNvGrpSpPr/>
          <p:nvPr/>
        </p:nvGrpSpPr>
        <p:grpSpPr>
          <a:xfrm>
            <a:off x="323653" y="2766575"/>
            <a:ext cx="457200" cy="457200"/>
            <a:chOff x="1020916" y="1442088"/>
            <a:chExt cx="457200" cy="457200"/>
          </a:xfrm>
        </p:grpSpPr>
        <p:pic>
          <p:nvPicPr>
            <p:cNvPr id="511" name="Google Shape;51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3" name="Google Shape;513;p44"/>
          <p:cNvGrpSpPr/>
          <p:nvPr/>
        </p:nvGrpSpPr>
        <p:grpSpPr>
          <a:xfrm>
            <a:off x="323641" y="3729038"/>
            <a:ext cx="457200" cy="457200"/>
            <a:chOff x="1020916" y="1442088"/>
            <a:chExt cx="457200" cy="457200"/>
          </a:xfrm>
        </p:grpSpPr>
        <p:pic>
          <p:nvPicPr>
            <p:cNvPr id="514" name="Google Shape;514;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16" name="Google Shape;516;p44"/>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7" name="Google Shape;517;p44"/>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18" name="Shape 518"/>
        <p:cNvGrpSpPr/>
        <p:nvPr/>
      </p:nvGrpSpPr>
      <p:grpSpPr>
        <a:xfrm>
          <a:off x="0" y="0"/>
          <a:ext cx="0" cy="0"/>
          <a:chOff x="0" y="0"/>
          <a:chExt cx="0" cy="0"/>
        </a:xfrm>
      </p:grpSpPr>
      <p:pic>
        <p:nvPicPr>
          <p:cNvPr id="519" name="Google Shape;51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0" name="Google Shape;520;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1" name="Google Shape;52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2" name="Google Shape;52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23" name="Google Shape;523;p45"/>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4" name="Google Shape;524;p45"/>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5" name="Google Shape;525;p45"/>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26" name="Google Shape;526;p45"/>
          <p:cNvGrpSpPr/>
          <p:nvPr/>
        </p:nvGrpSpPr>
        <p:grpSpPr>
          <a:xfrm>
            <a:off x="323653" y="1804438"/>
            <a:ext cx="457200" cy="457200"/>
            <a:chOff x="1020916" y="1442088"/>
            <a:chExt cx="457200" cy="457200"/>
          </a:xfrm>
        </p:grpSpPr>
        <p:pic>
          <p:nvPicPr>
            <p:cNvPr id="527" name="Google Shape;52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8" name="Google Shape;52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29" name="Google Shape;529;p45"/>
          <p:cNvGrpSpPr/>
          <p:nvPr/>
        </p:nvGrpSpPr>
        <p:grpSpPr>
          <a:xfrm>
            <a:off x="323653" y="2766575"/>
            <a:ext cx="457200" cy="457200"/>
            <a:chOff x="1020916" y="1442088"/>
            <a:chExt cx="457200" cy="457200"/>
          </a:xfrm>
        </p:grpSpPr>
        <p:pic>
          <p:nvPicPr>
            <p:cNvPr id="530" name="Google Shape;53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1" name="Google Shape;53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2" name="Google Shape;532;p45"/>
          <p:cNvGrpSpPr/>
          <p:nvPr/>
        </p:nvGrpSpPr>
        <p:grpSpPr>
          <a:xfrm>
            <a:off x="323641" y="3729038"/>
            <a:ext cx="457200" cy="457200"/>
            <a:chOff x="1020916" y="1442088"/>
            <a:chExt cx="457200" cy="457200"/>
          </a:xfrm>
        </p:grpSpPr>
        <p:pic>
          <p:nvPicPr>
            <p:cNvPr id="533" name="Google Shape;533;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35" name="Google Shape;535;p4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6" name="Google Shape;536;p45"/>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37" name="Shape 537"/>
        <p:cNvGrpSpPr/>
        <p:nvPr/>
      </p:nvGrpSpPr>
      <p:grpSpPr>
        <a:xfrm>
          <a:off x="0" y="0"/>
          <a:ext cx="0" cy="0"/>
          <a:chOff x="0" y="0"/>
          <a:chExt cx="0" cy="0"/>
        </a:xfrm>
      </p:grpSpPr>
      <p:pic>
        <p:nvPicPr>
          <p:cNvPr id="538" name="Google Shape;538;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39" name="Google Shape;539;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0" name="Google Shape;540;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1" name="Google Shape;541;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42" name="Google Shape;542;p46"/>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3" name="Google Shape;543;p46"/>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4" name="Google Shape;544;p46"/>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45" name="Google Shape;545;p46"/>
          <p:cNvGrpSpPr/>
          <p:nvPr/>
        </p:nvGrpSpPr>
        <p:grpSpPr>
          <a:xfrm>
            <a:off x="323653" y="1804438"/>
            <a:ext cx="457200" cy="457200"/>
            <a:chOff x="1020916" y="1442088"/>
            <a:chExt cx="457200" cy="457200"/>
          </a:xfrm>
        </p:grpSpPr>
        <p:pic>
          <p:nvPicPr>
            <p:cNvPr id="546" name="Google Shape;54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48" name="Google Shape;548;p46"/>
          <p:cNvGrpSpPr/>
          <p:nvPr/>
        </p:nvGrpSpPr>
        <p:grpSpPr>
          <a:xfrm>
            <a:off x="323653" y="2766575"/>
            <a:ext cx="457200" cy="457200"/>
            <a:chOff x="1020916" y="1442088"/>
            <a:chExt cx="457200" cy="457200"/>
          </a:xfrm>
        </p:grpSpPr>
        <p:pic>
          <p:nvPicPr>
            <p:cNvPr id="549" name="Google Shape;54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0" name="Google Shape;55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1" name="Google Shape;551;p46"/>
          <p:cNvGrpSpPr/>
          <p:nvPr/>
        </p:nvGrpSpPr>
        <p:grpSpPr>
          <a:xfrm>
            <a:off x="323641" y="3729038"/>
            <a:ext cx="457200" cy="457200"/>
            <a:chOff x="1020916" y="1442088"/>
            <a:chExt cx="457200" cy="457200"/>
          </a:xfrm>
        </p:grpSpPr>
        <p:pic>
          <p:nvPicPr>
            <p:cNvPr id="552" name="Google Shape;552;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3" name="Google Shape;553;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54" name="Google Shape;554;p4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6"/>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56" name="Shape 556"/>
        <p:cNvGrpSpPr/>
        <p:nvPr/>
      </p:nvGrpSpPr>
      <p:grpSpPr>
        <a:xfrm>
          <a:off x="0" y="0"/>
          <a:ext cx="0" cy="0"/>
          <a:chOff x="0" y="0"/>
          <a:chExt cx="0" cy="0"/>
        </a:xfrm>
      </p:grpSpPr>
      <p:pic>
        <p:nvPicPr>
          <p:cNvPr id="557" name="Google Shape;557;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8" name="Google Shape;558;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9" name="Google Shape;559;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0" name="Google Shape;560;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61" name="Google Shape;561;p47"/>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62" name="Google Shape;562;p47"/>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63" name="Google Shape;563;p47"/>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64" name="Google Shape;564;p47"/>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65" name="Google Shape;565;p47"/>
          <p:cNvGrpSpPr/>
          <p:nvPr/>
        </p:nvGrpSpPr>
        <p:grpSpPr>
          <a:xfrm>
            <a:off x="323653" y="1652038"/>
            <a:ext cx="457200" cy="457200"/>
            <a:chOff x="1020916" y="1442088"/>
            <a:chExt cx="457200" cy="457200"/>
          </a:xfrm>
        </p:grpSpPr>
        <p:pic>
          <p:nvPicPr>
            <p:cNvPr id="566" name="Google Shape;56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7" name="Google Shape;56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8" name="Google Shape;568;p47"/>
          <p:cNvGrpSpPr/>
          <p:nvPr/>
        </p:nvGrpSpPr>
        <p:grpSpPr>
          <a:xfrm>
            <a:off x="323653" y="2461775"/>
            <a:ext cx="457200" cy="457200"/>
            <a:chOff x="1020916" y="1442088"/>
            <a:chExt cx="457200" cy="457200"/>
          </a:xfrm>
        </p:grpSpPr>
        <p:pic>
          <p:nvPicPr>
            <p:cNvPr id="569" name="Google Shape;56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0" name="Google Shape;57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1" name="Google Shape;571;p47"/>
          <p:cNvGrpSpPr/>
          <p:nvPr/>
        </p:nvGrpSpPr>
        <p:grpSpPr>
          <a:xfrm>
            <a:off x="323641" y="3271838"/>
            <a:ext cx="457200" cy="457200"/>
            <a:chOff x="1020916" y="1442088"/>
            <a:chExt cx="457200" cy="457200"/>
          </a:xfrm>
        </p:grpSpPr>
        <p:pic>
          <p:nvPicPr>
            <p:cNvPr id="572" name="Google Shape;57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3" name="Google Shape;57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74" name="Google Shape;574;p47"/>
          <p:cNvGrpSpPr/>
          <p:nvPr/>
        </p:nvGrpSpPr>
        <p:grpSpPr>
          <a:xfrm>
            <a:off x="323641" y="4081763"/>
            <a:ext cx="457200" cy="457200"/>
            <a:chOff x="1020916" y="1442088"/>
            <a:chExt cx="457200" cy="457200"/>
          </a:xfrm>
        </p:grpSpPr>
        <p:pic>
          <p:nvPicPr>
            <p:cNvPr id="575" name="Google Shape;575;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577" name="Google Shape;577;p4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8" name="Google Shape;578;p47"/>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79" name="Shape 579"/>
        <p:cNvGrpSpPr/>
        <p:nvPr/>
      </p:nvGrpSpPr>
      <p:grpSpPr>
        <a:xfrm>
          <a:off x="0" y="0"/>
          <a:ext cx="0" cy="0"/>
          <a:chOff x="0" y="0"/>
          <a:chExt cx="0" cy="0"/>
        </a:xfrm>
      </p:grpSpPr>
      <p:pic>
        <p:nvPicPr>
          <p:cNvPr id="580" name="Google Shape;580;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1" name="Google Shape;581;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2" name="Google Shape;58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3" name="Google Shape;58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84" name="Google Shape;584;p48"/>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85" name="Google Shape;585;p48"/>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86" name="Google Shape;586;p48"/>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87" name="Google Shape;587;p48"/>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88" name="Google Shape;588;p48"/>
          <p:cNvGrpSpPr/>
          <p:nvPr/>
        </p:nvGrpSpPr>
        <p:grpSpPr>
          <a:xfrm>
            <a:off x="323653" y="1652038"/>
            <a:ext cx="457200" cy="457200"/>
            <a:chOff x="1020916" y="1442088"/>
            <a:chExt cx="457200" cy="457200"/>
          </a:xfrm>
        </p:grpSpPr>
        <p:pic>
          <p:nvPicPr>
            <p:cNvPr id="589" name="Google Shape;58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0" name="Google Shape;59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1" name="Google Shape;591;p48"/>
          <p:cNvGrpSpPr/>
          <p:nvPr/>
        </p:nvGrpSpPr>
        <p:grpSpPr>
          <a:xfrm>
            <a:off x="323653" y="2461775"/>
            <a:ext cx="457200" cy="457200"/>
            <a:chOff x="1020916" y="1442088"/>
            <a:chExt cx="457200" cy="457200"/>
          </a:xfrm>
        </p:grpSpPr>
        <p:pic>
          <p:nvPicPr>
            <p:cNvPr id="592" name="Google Shape;59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3" name="Google Shape;59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4" name="Google Shape;594;p48"/>
          <p:cNvGrpSpPr/>
          <p:nvPr/>
        </p:nvGrpSpPr>
        <p:grpSpPr>
          <a:xfrm>
            <a:off x="323641" y="3271838"/>
            <a:ext cx="457200" cy="457200"/>
            <a:chOff x="1020916" y="1442088"/>
            <a:chExt cx="457200" cy="457200"/>
          </a:xfrm>
        </p:grpSpPr>
        <p:pic>
          <p:nvPicPr>
            <p:cNvPr id="595" name="Google Shape;59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6" name="Google Shape;59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97" name="Google Shape;597;p48"/>
          <p:cNvGrpSpPr/>
          <p:nvPr/>
        </p:nvGrpSpPr>
        <p:grpSpPr>
          <a:xfrm>
            <a:off x="323641" y="4081763"/>
            <a:ext cx="457200" cy="457200"/>
            <a:chOff x="1020916" y="1442088"/>
            <a:chExt cx="457200" cy="457200"/>
          </a:xfrm>
        </p:grpSpPr>
        <p:pic>
          <p:nvPicPr>
            <p:cNvPr id="598" name="Google Shape;598;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9" name="Google Shape;599;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00" name="Google Shape;600;p4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1" name="Google Shape;601;p48"/>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602" name="Shape 602"/>
        <p:cNvGrpSpPr/>
        <p:nvPr/>
      </p:nvGrpSpPr>
      <p:grpSpPr>
        <a:xfrm>
          <a:off x="0" y="0"/>
          <a:ext cx="0" cy="0"/>
          <a:chOff x="0" y="0"/>
          <a:chExt cx="0" cy="0"/>
        </a:xfrm>
      </p:grpSpPr>
      <p:pic>
        <p:nvPicPr>
          <p:cNvPr id="603" name="Google Shape;603;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9"/>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08" name="Google Shape;608;p49"/>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09" name="Google Shape;609;p49"/>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0" name="Google Shape;610;p49"/>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1" name="Google Shape;611;p49"/>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12" name="Google Shape;612;p49"/>
          <p:cNvGrpSpPr/>
          <p:nvPr/>
        </p:nvGrpSpPr>
        <p:grpSpPr>
          <a:xfrm>
            <a:off x="323653" y="1652038"/>
            <a:ext cx="457200" cy="457200"/>
            <a:chOff x="1020916" y="1442088"/>
            <a:chExt cx="457200" cy="457200"/>
          </a:xfrm>
        </p:grpSpPr>
        <p:pic>
          <p:nvPicPr>
            <p:cNvPr id="613" name="Google Shape;613;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9"/>
          <p:cNvGrpSpPr/>
          <p:nvPr/>
        </p:nvGrpSpPr>
        <p:grpSpPr>
          <a:xfrm>
            <a:off x="323653" y="2461775"/>
            <a:ext cx="457200" cy="457200"/>
            <a:chOff x="1020916" y="1442088"/>
            <a:chExt cx="457200" cy="457200"/>
          </a:xfrm>
        </p:grpSpPr>
        <p:pic>
          <p:nvPicPr>
            <p:cNvPr id="616" name="Google Shape;616;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9"/>
          <p:cNvGrpSpPr/>
          <p:nvPr/>
        </p:nvGrpSpPr>
        <p:grpSpPr>
          <a:xfrm>
            <a:off x="323641" y="3271838"/>
            <a:ext cx="457200" cy="457200"/>
            <a:chOff x="1020916" y="1442088"/>
            <a:chExt cx="457200" cy="457200"/>
          </a:xfrm>
        </p:grpSpPr>
        <p:pic>
          <p:nvPicPr>
            <p:cNvPr id="619" name="Google Shape;61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21" name="Google Shape;621;p49"/>
          <p:cNvGrpSpPr/>
          <p:nvPr/>
        </p:nvGrpSpPr>
        <p:grpSpPr>
          <a:xfrm>
            <a:off x="323641" y="4081763"/>
            <a:ext cx="457200" cy="457200"/>
            <a:chOff x="1020916" y="1442088"/>
            <a:chExt cx="457200" cy="457200"/>
          </a:xfrm>
        </p:grpSpPr>
        <p:pic>
          <p:nvPicPr>
            <p:cNvPr id="622" name="Google Shape;62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24" name="Google Shape;624;p49"/>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25" name="Shape 625"/>
        <p:cNvGrpSpPr/>
        <p:nvPr/>
      </p:nvGrpSpPr>
      <p:grpSpPr>
        <a:xfrm>
          <a:off x="0" y="0"/>
          <a:ext cx="0" cy="0"/>
          <a:chOff x="0" y="0"/>
          <a:chExt cx="0" cy="0"/>
        </a:xfrm>
      </p:grpSpPr>
      <p:pic>
        <p:nvPicPr>
          <p:cNvPr id="626" name="Google Shape;62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7" name="Google Shape;627;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0"/>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29" name="Google Shape;629;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0" name="Google Shape;630;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31" name="Google Shape;631;p50"/>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32" name="Google Shape;632;p50"/>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33" name="Google Shape;633;p50"/>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34" name="Google Shape;634;p50"/>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35" name="Google Shape;635;p50"/>
          <p:cNvGrpSpPr/>
          <p:nvPr/>
        </p:nvGrpSpPr>
        <p:grpSpPr>
          <a:xfrm>
            <a:off x="323653" y="1652038"/>
            <a:ext cx="457200" cy="457200"/>
            <a:chOff x="1020916" y="1442088"/>
            <a:chExt cx="457200" cy="457200"/>
          </a:xfrm>
        </p:grpSpPr>
        <p:pic>
          <p:nvPicPr>
            <p:cNvPr id="636" name="Google Shape;636;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7" name="Google Shape;637;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38" name="Google Shape;638;p50"/>
          <p:cNvGrpSpPr/>
          <p:nvPr/>
        </p:nvGrpSpPr>
        <p:grpSpPr>
          <a:xfrm>
            <a:off x="323653" y="2461775"/>
            <a:ext cx="457200" cy="457200"/>
            <a:chOff x="1020916" y="1442088"/>
            <a:chExt cx="457200" cy="457200"/>
          </a:xfrm>
        </p:grpSpPr>
        <p:pic>
          <p:nvPicPr>
            <p:cNvPr id="639" name="Google Shape;639;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0" name="Google Shape;640;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1" name="Google Shape;641;p50"/>
          <p:cNvGrpSpPr/>
          <p:nvPr/>
        </p:nvGrpSpPr>
        <p:grpSpPr>
          <a:xfrm>
            <a:off x="323641" y="3271838"/>
            <a:ext cx="457200" cy="457200"/>
            <a:chOff x="1020916" y="1442088"/>
            <a:chExt cx="457200" cy="457200"/>
          </a:xfrm>
        </p:grpSpPr>
        <p:pic>
          <p:nvPicPr>
            <p:cNvPr id="642" name="Google Shape;64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3" name="Google Shape;64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44" name="Google Shape;644;p50"/>
          <p:cNvGrpSpPr/>
          <p:nvPr/>
        </p:nvGrpSpPr>
        <p:grpSpPr>
          <a:xfrm>
            <a:off x="323641" y="4081763"/>
            <a:ext cx="457200" cy="457200"/>
            <a:chOff x="1020916" y="1442088"/>
            <a:chExt cx="457200" cy="457200"/>
          </a:xfrm>
        </p:grpSpPr>
        <p:pic>
          <p:nvPicPr>
            <p:cNvPr id="645" name="Google Shape;64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6" name="Google Shape;64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47" name="Google Shape;647;p50"/>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48" name="Shape 648"/>
        <p:cNvGrpSpPr/>
        <p:nvPr/>
      </p:nvGrpSpPr>
      <p:grpSpPr>
        <a:xfrm>
          <a:off x="0" y="0"/>
          <a:ext cx="0" cy="0"/>
          <a:chOff x="0" y="0"/>
          <a:chExt cx="0" cy="0"/>
        </a:xfrm>
      </p:grpSpPr>
      <p:pic>
        <p:nvPicPr>
          <p:cNvPr id="649" name="Google Shape;649;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1" name="Google Shape;651;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2" name="Google Shape;652;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53" name="Google Shape;653;p51"/>
          <p:cNvSpPr/>
          <p:nvPr>
            <p:ph idx="2" type="pic"/>
          </p:nvPr>
        </p:nvSpPr>
        <p:spPr>
          <a:xfrm>
            <a:off x="324000" y="1893950"/>
            <a:ext cx="2555400" cy="1939500"/>
          </a:xfrm>
          <a:prstGeom prst="rect">
            <a:avLst/>
          </a:prstGeom>
          <a:noFill/>
          <a:ln>
            <a:noFill/>
          </a:ln>
        </p:spPr>
      </p:sp>
      <p:sp>
        <p:nvSpPr>
          <p:cNvPr id="654" name="Google Shape;654;p51"/>
          <p:cNvSpPr/>
          <p:nvPr>
            <p:ph idx="3" type="pic"/>
          </p:nvPr>
        </p:nvSpPr>
        <p:spPr>
          <a:xfrm>
            <a:off x="6256800" y="1893950"/>
            <a:ext cx="2555400" cy="1939500"/>
          </a:xfrm>
          <a:prstGeom prst="rect">
            <a:avLst/>
          </a:prstGeom>
          <a:noFill/>
          <a:ln>
            <a:noFill/>
          </a:ln>
        </p:spPr>
      </p:sp>
      <p:sp>
        <p:nvSpPr>
          <p:cNvPr id="655" name="Google Shape;655;p51"/>
          <p:cNvSpPr/>
          <p:nvPr>
            <p:ph idx="4" type="pic"/>
          </p:nvPr>
        </p:nvSpPr>
        <p:spPr>
          <a:xfrm>
            <a:off x="3294300" y="1893950"/>
            <a:ext cx="2555400" cy="1939500"/>
          </a:xfrm>
          <a:prstGeom prst="rect">
            <a:avLst/>
          </a:prstGeom>
          <a:noFill/>
          <a:ln>
            <a:noFill/>
          </a:ln>
        </p:spPr>
      </p:sp>
      <p:grpSp>
        <p:nvGrpSpPr>
          <p:cNvPr id="656" name="Google Shape;656;p51"/>
          <p:cNvGrpSpPr/>
          <p:nvPr/>
        </p:nvGrpSpPr>
        <p:grpSpPr>
          <a:xfrm>
            <a:off x="1381028" y="4148538"/>
            <a:ext cx="457200" cy="457200"/>
            <a:chOff x="1020916" y="1442088"/>
            <a:chExt cx="457200" cy="457200"/>
          </a:xfrm>
        </p:grpSpPr>
        <p:pic>
          <p:nvPicPr>
            <p:cNvPr id="657" name="Google Shape;65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8" name="Google Shape;65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59" name="Google Shape;659;p51"/>
          <p:cNvGrpSpPr/>
          <p:nvPr/>
        </p:nvGrpSpPr>
        <p:grpSpPr>
          <a:xfrm>
            <a:off x="4331066" y="4148550"/>
            <a:ext cx="457200" cy="457200"/>
            <a:chOff x="1020916" y="1442088"/>
            <a:chExt cx="457200" cy="457200"/>
          </a:xfrm>
        </p:grpSpPr>
        <p:pic>
          <p:nvPicPr>
            <p:cNvPr id="660" name="Google Shape;66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1" name="Google Shape;66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2" name="Google Shape;662;p51"/>
          <p:cNvGrpSpPr/>
          <p:nvPr/>
        </p:nvGrpSpPr>
        <p:grpSpPr>
          <a:xfrm>
            <a:off x="7305791" y="4148538"/>
            <a:ext cx="457200" cy="457200"/>
            <a:chOff x="1020916" y="1442088"/>
            <a:chExt cx="457200" cy="457200"/>
          </a:xfrm>
        </p:grpSpPr>
        <p:pic>
          <p:nvPicPr>
            <p:cNvPr id="663" name="Google Shape;663;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665" name="Google Shape;665;p51"/>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6" name="Google Shape;666;p51"/>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67" name="Shape 667"/>
        <p:cNvGrpSpPr/>
        <p:nvPr/>
      </p:nvGrpSpPr>
      <p:grpSpPr>
        <a:xfrm>
          <a:off x="0" y="0"/>
          <a:ext cx="0" cy="0"/>
          <a:chOff x="0" y="0"/>
          <a:chExt cx="0" cy="0"/>
        </a:xfrm>
      </p:grpSpPr>
      <p:pic>
        <p:nvPicPr>
          <p:cNvPr id="668" name="Google Shape;668;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9" name="Google Shape;669;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0" name="Google Shape;670;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1" name="Google Shape;671;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72" name="Google Shape;672;p52"/>
          <p:cNvSpPr/>
          <p:nvPr>
            <p:ph idx="2" type="pic"/>
          </p:nvPr>
        </p:nvSpPr>
        <p:spPr>
          <a:xfrm>
            <a:off x="324000" y="1893950"/>
            <a:ext cx="2555400" cy="1939500"/>
          </a:xfrm>
          <a:prstGeom prst="rect">
            <a:avLst/>
          </a:prstGeom>
          <a:noFill/>
          <a:ln>
            <a:noFill/>
          </a:ln>
        </p:spPr>
      </p:sp>
      <p:sp>
        <p:nvSpPr>
          <p:cNvPr id="673" name="Google Shape;673;p52"/>
          <p:cNvSpPr/>
          <p:nvPr>
            <p:ph idx="3" type="pic"/>
          </p:nvPr>
        </p:nvSpPr>
        <p:spPr>
          <a:xfrm>
            <a:off x="6256800" y="1893950"/>
            <a:ext cx="2555400" cy="1939500"/>
          </a:xfrm>
          <a:prstGeom prst="rect">
            <a:avLst/>
          </a:prstGeom>
          <a:noFill/>
          <a:ln>
            <a:noFill/>
          </a:ln>
        </p:spPr>
      </p:sp>
      <p:sp>
        <p:nvSpPr>
          <p:cNvPr id="674" name="Google Shape;674;p52"/>
          <p:cNvSpPr/>
          <p:nvPr>
            <p:ph idx="4" type="pic"/>
          </p:nvPr>
        </p:nvSpPr>
        <p:spPr>
          <a:xfrm>
            <a:off x="3294300" y="1893950"/>
            <a:ext cx="2555400" cy="1939500"/>
          </a:xfrm>
          <a:prstGeom prst="rect">
            <a:avLst/>
          </a:prstGeom>
          <a:noFill/>
          <a:ln>
            <a:noFill/>
          </a:ln>
        </p:spPr>
      </p:sp>
      <p:grpSp>
        <p:nvGrpSpPr>
          <p:cNvPr id="675" name="Google Shape;675;p52"/>
          <p:cNvGrpSpPr/>
          <p:nvPr/>
        </p:nvGrpSpPr>
        <p:grpSpPr>
          <a:xfrm>
            <a:off x="1381028" y="4148538"/>
            <a:ext cx="457200" cy="457200"/>
            <a:chOff x="1020916" y="1442088"/>
            <a:chExt cx="457200" cy="457200"/>
          </a:xfrm>
        </p:grpSpPr>
        <p:pic>
          <p:nvPicPr>
            <p:cNvPr id="676" name="Google Shape;67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7" name="Google Shape;67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78" name="Google Shape;678;p52"/>
          <p:cNvGrpSpPr/>
          <p:nvPr/>
        </p:nvGrpSpPr>
        <p:grpSpPr>
          <a:xfrm>
            <a:off x="4331066" y="4148550"/>
            <a:ext cx="457200" cy="457200"/>
            <a:chOff x="1020916" y="1442088"/>
            <a:chExt cx="457200" cy="457200"/>
          </a:xfrm>
        </p:grpSpPr>
        <p:pic>
          <p:nvPicPr>
            <p:cNvPr id="679" name="Google Shape;67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0" name="Google Shape;68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1" name="Google Shape;681;p52"/>
          <p:cNvGrpSpPr/>
          <p:nvPr/>
        </p:nvGrpSpPr>
        <p:grpSpPr>
          <a:xfrm>
            <a:off x="7305791" y="4148538"/>
            <a:ext cx="457200" cy="457200"/>
            <a:chOff x="1020916" y="1442088"/>
            <a:chExt cx="457200" cy="457200"/>
          </a:xfrm>
        </p:grpSpPr>
        <p:pic>
          <p:nvPicPr>
            <p:cNvPr id="682" name="Google Shape;682;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684" name="Google Shape;684;p5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5" name="Google Shape;685;p52"/>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86" name="Shape 686"/>
        <p:cNvGrpSpPr/>
        <p:nvPr/>
      </p:nvGrpSpPr>
      <p:grpSpPr>
        <a:xfrm>
          <a:off x="0" y="0"/>
          <a:ext cx="0" cy="0"/>
          <a:chOff x="0" y="0"/>
          <a:chExt cx="0" cy="0"/>
        </a:xfrm>
      </p:grpSpPr>
      <p:pic>
        <p:nvPicPr>
          <p:cNvPr id="687" name="Google Shape;68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88" name="Google Shape;688;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9" name="Google Shape;689;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0" name="Google Shape;69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91" name="Google Shape;691;p53"/>
          <p:cNvSpPr/>
          <p:nvPr>
            <p:ph idx="2" type="pic"/>
          </p:nvPr>
        </p:nvSpPr>
        <p:spPr>
          <a:xfrm>
            <a:off x="324000" y="1893950"/>
            <a:ext cx="2555400" cy="1939500"/>
          </a:xfrm>
          <a:prstGeom prst="rect">
            <a:avLst/>
          </a:prstGeom>
          <a:noFill/>
          <a:ln>
            <a:noFill/>
          </a:ln>
        </p:spPr>
      </p:sp>
      <p:sp>
        <p:nvSpPr>
          <p:cNvPr id="692" name="Google Shape;692;p53"/>
          <p:cNvSpPr/>
          <p:nvPr>
            <p:ph idx="3" type="pic"/>
          </p:nvPr>
        </p:nvSpPr>
        <p:spPr>
          <a:xfrm>
            <a:off x="6256800" y="1893950"/>
            <a:ext cx="2555400" cy="1939500"/>
          </a:xfrm>
          <a:prstGeom prst="rect">
            <a:avLst/>
          </a:prstGeom>
          <a:noFill/>
          <a:ln>
            <a:noFill/>
          </a:ln>
        </p:spPr>
      </p:sp>
      <p:sp>
        <p:nvSpPr>
          <p:cNvPr id="693" name="Google Shape;693;p53"/>
          <p:cNvSpPr/>
          <p:nvPr>
            <p:ph idx="4" type="pic"/>
          </p:nvPr>
        </p:nvSpPr>
        <p:spPr>
          <a:xfrm>
            <a:off x="3294300" y="1893950"/>
            <a:ext cx="2555400" cy="1939500"/>
          </a:xfrm>
          <a:prstGeom prst="rect">
            <a:avLst/>
          </a:prstGeom>
          <a:noFill/>
          <a:ln>
            <a:noFill/>
          </a:ln>
        </p:spPr>
      </p:sp>
      <p:grpSp>
        <p:nvGrpSpPr>
          <p:cNvPr id="694" name="Google Shape;694;p53"/>
          <p:cNvGrpSpPr/>
          <p:nvPr/>
        </p:nvGrpSpPr>
        <p:grpSpPr>
          <a:xfrm>
            <a:off x="1381028" y="4148538"/>
            <a:ext cx="457200" cy="457200"/>
            <a:chOff x="1020916" y="1442088"/>
            <a:chExt cx="457200" cy="457200"/>
          </a:xfrm>
        </p:grpSpPr>
        <p:pic>
          <p:nvPicPr>
            <p:cNvPr id="695" name="Google Shape;69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6" name="Google Shape;69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97" name="Google Shape;697;p53"/>
          <p:cNvGrpSpPr/>
          <p:nvPr/>
        </p:nvGrpSpPr>
        <p:grpSpPr>
          <a:xfrm>
            <a:off x="4331066" y="4148550"/>
            <a:ext cx="457200" cy="457200"/>
            <a:chOff x="1020916" y="1442088"/>
            <a:chExt cx="457200" cy="457200"/>
          </a:xfrm>
        </p:grpSpPr>
        <p:pic>
          <p:nvPicPr>
            <p:cNvPr id="698" name="Google Shape;69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9" name="Google Shape;69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0" name="Google Shape;700;p53"/>
          <p:cNvGrpSpPr/>
          <p:nvPr/>
        </p:nvGrpSpPr>
        <p:grpSpPr>
          <a:xfrm>
            <a:off x="7305791" y="4148538"/>
            <a:ext cx="457200" cy="457200"/>
            <a:chOff x="1020916" y="1442088"/>
            <a:chExt cx="457200" cy="457200"/>
          </a:xfrm>
        </p:grpSpPr>
        <p:pic>
          <p:nvPicPr>
            <p:cNvPr id="701" name="Google Shape;701;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03" name="Google Shape;703;p5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4" name="Google Shape;704;p53"/>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705" name="Shape 705"/>
        <p:cNvGrpSpPr/>
        <p:nvPr/>
      </p:nvGrpSpPr>
      <p:grpSpPr>
        <a:xfrm>
          <a:off x="0" y="0"/>
          <a:ext cx="0" cy="0"/>
          <a:chOff x="0" y="0"/>
          <a:chExt cx="0" cy="0"/>
        </a:xfrm>
      </p:grpSpPr>
      <p:pic>
        <p:nvPicPr>
          <p:cNvPr id="706" name="Google Shape;706;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8" name="Google Shape;708;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9" name="Google Shape;709;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10" name="Google Shape;710;p54"/>
          <p:cNvSpPr/>
          <p:nvPr>
            <p:ph idx="2" type="pic"/>
          </p:nvPr>
        </p:nvSpPr>
        <p:spPr>
          <a:xfrm>
            <a:off x="324000" y="1893950"/>
            <a:ext cx="2555400" cy="1939500"/>
          </a:xfrm>
          <a:prstGeom prst="rect">
            <a:avLst/>
          </a:prstGeom>
          <a:noFill/>
          <a:ln>
            <a:noFill/>
          </a:ln>
        </p:spPr>
      </p:sp>
      <p:sp>
        <p:nvSpPr>
          <p:cNvPr id="711" name="Google Shape;711;p54"/>
          <p:cNvSpPr/>
          <p:nvPr>
            <p:ph idx="3" type="pic"/>
          </p:nvPr>
        </p:nvSpPr>
        <p:spPr>
          <a:xfrm>
            <a:off x="6256800" y="1893950"/>
            <a:ext cx="2555400" cy="1939500"/>
          </a:xfrm>
          <a:prstGeom prst="rect">
            <a:avLst/>
          </a:prstGeom>
          <a:noFill/>
          <a:ln>
            <a:noFill/>
          </a:ln>
        </p:spPr>
      </p:sp>
      <p:sp>
        <p:nvSpPr>
          <p:cNvPr id="712" name="Google Shape;712;p54"/>
          <p:cNvSpPr/>
          <p:nvPr>
            <p:ph idx="4" type="pic"/>
          </p:nvPr>
        </p:nvSpPr>
        <p:spPr>
          <a:xfrm>
            <a:off x="3294300" y="1893950"/>
            <a:ext cx="2555400" cy="1939500"/>
          </a:xfrm>
          <a:prstGeom prst="rect">
            <a:avLst/>
          </a:prstGeom>
          <a:noFill/>
          <a:ln>
            <a:noFill/>
          </a:ln>
        </p:spPr>
      </p:sp>
      <p:grpSp>
        <p:nvGrpSpPr>
          <p:cNvPr id="713" name="Google Shape;713;p54"/>
          <p:cNvGrpSpPr/>
          <p:nvPr/>
        </p:nvGrpSpPr>
        <p:grpSpPr>
          <a:xfrm>
            <a:off x="1381028" y="4148538"/>
            <a:ext cx="457200" cy="457200"/>
            <a:chOff x="1020916" y="1442088"/>
            <a:chExt cx="457200" cy="457200"/>
          </a:xfrm>
        </p:grpSpPr>
        <p:pic>
          <p:nvPicPr>
            <p:cNvPr id="714" name="Google Shape;71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5" name="Google Shape;71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16" name="Google Shape;716;p54"/>
          <p:cNvGrpSpPr/>
          <p:nvPr/>
        </p:nvGrpSpPr>
        <p:grpSpPr>
          <a:xfrm>
            <a:off x="4331066" y="4148550"/>
            <a:ext cx="457200" cy="457200"/>
            <a:chOff x="1020916" y="1442088"/>
            <a:chExt cx="457200" cy="457200"/>
          </a:xfrm>
        </p:grpSpPr>
        <p:pic>
          <p:nvPicPr>
            <p:cNvPr id="717" name="Google Shape;71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8" name="Google Shape;71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19" name="Google Shape;719;p54"/>
          <p:cNvGrpSpPr/>
          <p:nvPr/>
        </p:nvGrpSpPr>
        <p:grpSpPr>
          <a:xfrm>
            <a:off x="7305791" y="4148538"/>
            <a:ext cx="457200" cy="457200"/>
            <a:chOff x="1020916" y="1442088"/>
            <a:chExt cx="457200" cy="457200"/>
          </a:xfrm>
        </p:grpSpPr>
        <p:pic>
          <p:nvPicPr>
            <p:cNvPr id="720" name="Google Shape;720;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21" name="Google Shape;721;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22" name="Google Shape;722;p54"/>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3" name="Google Shape;723;p54"/>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_3">
    <p:bg>
      <p:bgPr>
        <a:solidFill>
          <a:srgbClr val="F3EEFB"/>
        </a:solidFill>
      </p:bgPr>
    </p:bg>
    <p:spTree>
      <p:nvGrpSpPr>
        <p:cNvPr id="724" name="Shape 724"/>
        <p:cNvGrpSpPr/>
        <p:nvPr/>
      </p:nvGrpSpPr>
      <p:grpSpPr>
        <a:xfrm>
          <a:off x="0" y="0"/>
          <a:ext cx="0" cy="0"/>
          <a:chOff x="0" y="0"/>
          <a:chExt cx="0" cy="0"/>
        </a:xfrm>
      </p:grpSpPr>
      <p:pic>
        <p:nvPicPr>
          <p:cNvPr id="725" name="Google Shape;725;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26" name="Google Shape;726;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7" name="Google Shape;727;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0" name="Google Shape;730;p5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31" name="Shape 731"/>
        <p:cNvGrpSpPr/>
        <p:nvPr/>
      </p:nvGrpSpPr>
      <p:grpSpPr>
        <a:xfrm>
          <a:off x="0" y="0"/>
          <a:ext cx="0" cy="0"/>
          <a:chOff x="0" y="0"/>
          <a:chExt cx="0" cy="0"/>
        </a:xfrm>
      </p:grpSpPr>
      <p:pic>
        <p:nvPicPr>
          <p:cNvPr id="732" name="Google Shape;732;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3" name="Google Shape;733;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34" name="Google Shape;734;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36" name="Google Shape;736;p5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7" name="Google Shape;737;p5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38" name="Shape 738"/>
        <p:cNvGrpSpPr/>
        <p:nvPr/>
      </p:nvGrpSpPr>
      <p:grpSpPr>
        <a:xfrm>
          <a:off x="0" y="0"/>
          <a:ext cx="0" cy="0"/>
          <a:chOff x="0" y="0"/>
          <a:chExt cx="0" cy="0"/>
        </a:xfrm>
      </p:grpSpPr>
      <p:pic>
        <p:nvPicPr>
          <p:cNvPr id="739" name="Google Shape;73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0" name="Google Shape;740;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1" name="Google Shape;741;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42" name="Google Shape;742;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43" name="Google Shape;743;p5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4" name="Google Shape;744;p5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45" name="Shape 745"/>
        <p:cNvGrpSpPr/>
        <p:nvPr/>
      </p:nvGrpSpPr>
      <p:grpSpPr>
        <a:xfrm>
          <a:off x="0" y="0"/>
          <a:ext cx="0" cy="0"/>
          <a:chOff x="0" y="0"/>
          <a:chExt cx="0" cy="0"/>
        </a:xfrm>
      </p:grpSpPr>
      <p:pic>
        <p:nvPicPr>
          <p:cNvPr id="746" name="Google Shape;746;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9" name="Google Shape;749;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50" name="Google Shape;750;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51" name="Google Shape;751;p5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52" name="Shape 752"/>
        <p:cNvGrpSpPr/>
        <p:nvPr/>
      </p:nvGrpSpPr>
      <p:grpSpPr>
        <a:xfrm>
          <a:off x="0" y="0"/>
          <a:ext cx="0" cy="0"/>
          <a:chOff x="0" y="0"/>
          <a:chExt cx="0" cy="0"/>
        </a:xfrm>
      </p:grpSpPr>
      <p:pic>
        <p:nvPicPr>
          <p:cNvPr id="753" name="Google Shape;753;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54" name="Google Shape;754;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5" name="Google Shape;755;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6" name="Google Shape;756;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57" name="Google Shape;757;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758" name="Google Shape;758;p59"/>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759" name="Google Shape;759;p59"/>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60" name="Shape 760"/>
        <p:cNvGrpSpPr/>
        <p:nvPr/>
      </p:nvGrpSpPr>
      <p:grpSpPr>
        <a:xfrm>
          <a:off x="0" y="0"/>
          <a:ext cx="0" cy="0"/>
          <a:chOff x="0" y="0"/>
          <a:chExt cx="0" cy="0"/>
        </a:xfrm>
      </p:grpSpPr>
      <p:pic>
        <p:nvPicPr>
          <p:cNvPr id="761" name="Google Shape;761;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2" name="Google Shape;762;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64" name="Google Shape;764;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5" name="Google Shape;765;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766" name="Google Shape;766;p60"/>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767" name="Google Shape;767;p60"/>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68" name="Shape 768"/>
        <p:cNvGrpSpPr/>
        <p:nvPr/>
      </p:nvGrpSpPr>
      <p:grpSpPr>
        <a:xfrm>
          <a:off x="0" y="0"/>
          <a:ext cx="0" cy="0"/>
          <a:chOff x="0" y="0"/>
          <a:chExt cx="0" cy="0"/>
        </a:xfrm>
      </p:grpSpPr>
      <p:pic>
        <p:nvPicPr>
          <p:cNvPr id="769" name="Google Shape;769;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0" name="Google Shape;770;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72" name="Google Shape;772;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73" name="Google Shape;773;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774" name="Google Shape;774;p61"/>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775" name="Google Shape;775;p61"/>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76" name="Shape 776"/>
        <p:cNvGrpSpPr/>
        <p:nvPr/>
      </p:nvGrpSpPr>
      <p:grpSpPr>
        <a:xfrm>
          <a:off x="0" y="0"/>
          <a:ext cx="0" cy="0"/>
          <a:chOff x="0" y="0"/>
          <a:chExt cx="0" cy="0"/>
        </a:xfrm>
      </p:grpSpPr>
      <p:pic>
        <p:nvPicPr>
          <p:cNvPr id="777" name="Google Shape;777;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8" name="Google Shape;778;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80" name="Google Shape;780;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81" name="Google Shape;781;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
        <p:nvSpPr>
          <p:cNvPr id="782" name="Google Shape;782;p62"/>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783" name="Google Shape;783;p6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_2">
    <p:bg>
      <p:bgPr>
        <a:solidFill>
          <a:srgbClr val="F3EEFB"/>
        </a:solidFill>
      </p:bgPr>
    </p:bg>
    <p:spTree>
      <p:nvGrpSpPr>
        <p:cNvPr id="784" name="Shape 784"/>
        <p:cNvGrpSpPr/>
        <p:nvPr/>
      </p:nvGrpSpPr>
      <p:grpSpPr>
        <a:xfrm>
          <a:off x="0" y="0"/>
          <a:ext cx="0" cy="0"/>
          <a:chOff x="0" y="0"/>
          <a:chExt cx="0" cy="0"/>
        </a:xfrm>
      </p:grpSpPr>
      <p:pic>
        <p:nvPicPr>
          <p:cNvPr id="785" name="Google Shape;785;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86" name="Google Shape;786;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7" name="Google Shape;787;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8" name="Google Shape;788;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89" name="Google Shape;789;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790" name="Google Shape;790;p63"/>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791" name="Google Shape;791;p6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92" name="Shape 792"/>
        <p:cNvGrpSpPr/>
        <p:nvPr/>
      </p:nvGrpSpPr>
      <p:grpSpPr>
        <a:xfrm>
          <a:off x="0" y="0"/>
          <a:ext cx="0" cy="0"/>
          <a:chOff x="0" y="0"/>
          <a:chExt cx="0" cy="0"/>
        </a:xfrm>
      </p:grpSpPr>
      <p:pic>
        <p:nvPicPr>
          <p:cNvPr id="793" name="Google Shape;793;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4" name="Google Shape;794;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6" name="Google Shape;796;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7" name="Google Shape;797;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798" name="Google Shape;798;p64"/>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799" name="Google Shape;799;p6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800" name="Shape 800"/>
        <p:cNvGrpSpPr/>
        <p:nvPr/>
      </p:nvGrpSpPr>
      <p:grpSpPr>
        <a:xfrm>
          <a:off x="0" y="0"/>
          <a:ext cx="0" cy="0"/>
          <a:chOff x="0" y="0"/>
          <a:chExt cx="0" cy="0"/>
        </a:xfrm>
      </p:grpSpPr>
      <p:pic>
        <p:nvPicPr>
          <p:cNvPr id="801" name="Google Shape;801;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02" name="Google Shape;802;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804" name="Google Shape;804;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5" name="Google Shape;805;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806" name="Google Shape;806;p65"/>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07" name="Google Shape;807;p6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808" name="Shape 808"/>
        <p:cNvGrpSpPr/>
        <p:nvPr/>
      </p:nvGrpSpPr>
      <p:grpSpPr>
        <a:xfrm>
          <a:off x="0" y="0"/>
          <a:ext cx="0" cy="0"/>
          <a:chOff x="0" y="0"/>
          <a:chExt cx="0" cy="0"/>
        </a:xfrm>
      </p:grpSpPr>
      <p:pic>
        <p:nvPicPr>
          <p:cNvPr id="809" name="Google Shape;809;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10" name="Google Shape;810;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812" name="Google Shape;812;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13" name="Google Shape;813;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14" name="Google Shape;814;p66"/>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15" name="Google Shape;815;p6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16" name="Shape 816"/>
        <p:cNvGrpSpPr/>
        <p:nvPr/>
      </p:nvGrpSpPr>
      <p:grpSpPr>
        <a:xfrm>
          <a:off x="0" y="0"/>
          <a:ext cx="0" cy="0"/>
          <a:chOff x="0" y="0"/>
          <a:chExt cx="0" cy="0"/>
        </a:xfrm>
      </p:grpSpPr>
      <p:grpSp>
        <p:nvGrpSpPr>
          <p:cNvPr id="817" name="Google Shape;817;p67"/>
          <p:cNvGrpSpPr/>
          <p:nvPr/>
        </p:nvGrpSpPr>
        <p:grpSpPr>
          <a:xfrm>
            <a:off x="0" y="0"/>
            <a:ext cx="9151202" cy="652534"/>
            <a:chOff x="0" y="0"/>
            <a:chExt cx="9151202" cy="652534"/>
          </a:xfrm>
        </p:grpSpPr>
        <p:sp>
          <p:nvSpPr>
            <p:cNvPr id="818" name="Google Shape;818;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9" name="Google Shape;819;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grpSp>
      <p:sp>
        <p:nvSpPr>
          <p:cNvPr id="820" name="Google Shape;820;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21" name="Google Shape;821;p67"/>
          <p:cNvSpPr txBox="1"/>
          <p:nvPr>
            <p:ph type="title"/>
          </p:nvPr>
        </p:nvSpPr>
        <p:spPr>
          <a:xfrm>
            <a:off x="1684800" y="119125"/>
            <a:ext cx="5741400" cy="307800"/>
          </a:xfrm>
          <a:prstGeom prst="rect">
            <a:avLst/>
          </a:prstGeom>
        </p:spPr>
        <p:txBody>
          <a:bodyPr anchorCtr="0" anchor="t" bIns="0" lIns="0" spcFirstLastPara="1" rIns="0" wrap="square" tIns="0">
            <a:spAutoFit/>
          </a:bodyPr>
          <a:lstStyle>
            <a:lvl1pPr lvl="0" rtl="0">
              <a:spcBef>
                <a:spcPts val="0"/>
              </a:spcBef>
              <a:spcAft>
                <a:spcPts val="0"/>
              </a:spcAft>
              <a:buSzPts val="2000"/>
              <a:buNone/>
              <a:defRPr b="0" sz="2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2" name="Google Shape;822;p6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23" name="Shape 823"/>
        <p:cNvGrpSpPr/>
        <p:nvPr/>
      </p:nvGrpSpPr>
      <p:grpSpPr>
        <a:xfrm>
          <a:off x="0" y="0"/>
          <a:ext cx="0" cy="0"/>
          <a:chOff x="0" y="0"/>
          <a:chExt cx="0" cy="0"/>
        </a:xfrm>
      </p:grpSpPr>
      <p:grpSp>
        <p:nvGrpSpPr>
          <p:cNvPr id="824" name="Google Shape;824;p68"/>
          <p:cNvGrpSpPr/>
          <p:nvPr/>
        </p:nvGrpSpPr>
        <p:grpSpPr>
          <a:xfrm>
            <a:off x="0" y="0"/>
            <a:ext cx="9151202" cy="886259"/>
            <a:chOff x="0" y="0"/>
            <a:chExt cx="9151202" cy="886259"/>
          </a:xfrm>
        </p:grpSpPr>
        <p:sp>
          <p:nvSpPr>
            <p:cNvPr id="825" name="Google Shape;825;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6" name="Google Shape;826;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grpSp>
      <p:sp>
        <p:nvSpPr>
          <p:cNvPr id="827" name="Google Shape;827;p68"/>
          <p:cNvSpPr txBox="1"/>
          <p:nvPr>
            <p:ph idx="1" type="body"/>
          </p:nvPr>
        </p:nvSpPr>
        <p:spPr>
          <a:xfrm>
            <a:off x="324000" y="1080000"/>
            <a:ext cx="8113800" cy="37404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28" name="Google Shape;828;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29" name="Google Shape;829;p68"/>
          <p:cNvSpPr txBox="1"/>
          <p:nvPr>
            <p:ph type="title"/>
          </p:nvPr>
        </p:nvSpPr>
        <p:spPr>
          <a:xfrm>
            <a:off x="1684800" y="43825"/>
            <a:ext cx="5741400" cy="382800"/>
          </a:xfrm>
          <a:prstGeom prst="rect">
            <a:avLst/>
          </a:prstGeom>
        </p:spPr>
        <p:txBody>
          <a:bodyPr anchorCtr="0" anchor="b" bIns="0" lIns="0" spcFirstLastPara="1" rIns="0" wrap="square" tIns="0">
            <a:sp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30" name="Shape 830"/>
        <p:cNvGrpSpPr/>
        <p:nvPr/>
      </p:nvGrpSpPr>
      <p:grpSpPr>
        <a:xfrm>
          <a:off x="0" y="0"/>
          <a:ext cx="0" cy="0"/>
          <a:chOff x="0" y="0"/>
          <a:chExt cx="0" cy="0"/>
        </a:xfrm>
      </p:grpSpPr>
      <p:sp>
        <p:nvSpPr>
          <p:cNvPr id="831" name="Google Shape;831;p6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32" name="Google Shape;832;p6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33" name="Google Shape;833;p6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34" name="Google Shape;834;p6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35" name="Google Shape;835;p6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36" name="Google Shape;836;p6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Audio clip</a:t>
            </a:r>
            <a:endParaRPr i="0" sz="1600" u="none" cap="none" strike="noStrike">
              <a:solidFill>
                <a:schemeClr val="dk1"/>
              </a:solidFill>
              <a:latin typeface="Lexend"/>
              <a:ea typeface="Lexend"/>
              <a:cs typeface="Lexend"/>
              <a:sym typeface="Lexend"/>
            </a:endParaRPr>
          </a:p>
        </p:txBody>
      </p:sp>
      <p:sp>
        <p:nvSpPr>
          <p:cNvPr id="837" name="Google Shape;837;p6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Video clip</a:t>
            </a:r>
            <a:endParaRPr i="0" sz="1600" u="none" cap="none" strike="noStrike">
              <a:solidFill>
                <a:schemeClr val="dk1"/>
              </a:solidFill>
              <a:latin typeface="Lexend"/>
              <a:ea typeface="Lexend"/>
              <a:cs typeface="Lexend"/>
              <a:sym typeface="Lexend"/>
            </a:endParaRPr>
          </a:p>
        </p:txBody>
      </p:sp>
      <p:sp>
        <p:nvSpPr>
          <p:cNvPr id="838" name="Google Shape;838;p6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39" name="Google Shape;839;p6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40" name="Shape 840"/>
        <p:cNvGrpSpPr/>
        <p:nvPr/>
      </p:nvGrpSpPr>
      <p:grpSpPr>
        <a:xfrm>
          <a:off x="0" y="0"/>
          <a:ext cx="0" cy="0"/>
          <a:chOff x="0" y="0"/>
          <a:chExt cx="0" cy="0"/>
        </a:xfrm>
      </p:grpSpPr>
      <p:pic>
        <p:nvPicPr>
          <p:cNvPr id="841" name="Google Shape;841;p7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42" name="Google Shape;842;p70"/>
          <p:cNvSpPr txBox="1"/>
          <p:nvPr>
            <p:ph idx="1" type="subTitle"/>
          </p:nvPr>
        </p:nvSpPr>
        <p:spPr>
          <a:xfrm>
            <a:off x="661775" y="1266500"/>
            <a:ext cx="7351200" cy="26271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43" name="Shape 843"/>
        <p:cNvGrpSpPr/>
        <p:nvPr/>
      </p:nvGrpSpPr>
      <p:grpSpPr>
        <a:xfrm>
          <a:off x="0" y="0"/>
          <a:ext cx="0" cy="0"/>
          <a:chOff x="0" y="0"/>
          <a:chExt cx="0" cy="0"/>
        </a:xfrm>
      </p:grpSpPr>
      <p:sp>
        <p:nvSpPr>
          <p:cNvPr id="844" name="Google Shape;844;p71"/>
          <p:cNvSpPr txBox="1"/>
          <p:nvPr>
            <p:ph type="title"/>
          </p:nvPr>
        </p:nvSpPr>
        <p:spPr>
          <a:xfrm>
            <a:off x="459000" y="226200"/>
            <a:ext cx="6600600" cy="814500"/>
          </a:xfrm>
          <a:prstGeom prst="rect">
            <a:avLst/>
          </a:prstGeom>
        </p:spPr>
        <p:txBody>
          <a:bodyPr anchorCtr="0" anchor="t" bIns="0" lIns="0" spcFirstLastPara="1" rIns="0" wrap="square" tIns="0">
            <a:spAutoFit/>
          </a:bodyPr>
          <a:lstStyle>
            <a:lvl1pPr lvl="0" rtl="0">
              <a:spcBef>
                <a:spcPts val="0"/>
              </a:spcBef>
              <a:spcAft>
                <a:spcPts val="0"/>
              </a:spcAft>
              <a:buSzPts val="2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2" Type="http://schemas.openxmlformats.org/officeDocument/2006/relationships/theme" Target="../theme/theme2.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24000" y="167475"/>
            <a:ext cx="6981900" cy="372600"/>
          </a:xfrm>
          <a:prstGeom prst="rect">
            <a:avLst/>
          </a:prstGeom>
          <a:noFill/>
          <a:ln>
            <a:noFill/>
          </a:ln>
        </p:spPr>
        <p:txBody>
          <a:bodyPr anchorCtr="0" anchor="t" bIns="0" lIns="0" spcFirstLastPara="1" rIns="0" wrap="square" tIns="0">
            <a:sp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324000" y="810000"/>
            <a:ext cx="8226000" cy="3159900"/>
          </a:xfrm>
          <a:prstGeom prst="rect">
            <a:avLst/>
          </a:prstGeom>
          <a:noFill/>
          <a:ln>
            <a:noFill/>
          </a:ln>
        </p:spPr>
        <p:txBody>
          <a:bodyPr anchorCtr="0" anchor="t" bIns="0" lIns="0" spcFirstLastPara="1" rIns="0" wrap="square" tIns="0">
            <a:sp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guide id="23" pos="420">
          <p15:clr>
            <a:srgbClr val="6D9EE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6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 Id="rId3" Type="http://schemas.openxmlformats.org/officeDocument/2006/relationships/image" Target="../media/image6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6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69.png"/><Relationship Id="rId4" Type="http://schemas.openxmlformats.org/officeDocument/2006/relationships/image" Target="../media/image6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69.png"/><Relationship Id="rId4" Type="http://schemas.openxmlformats.org/officeDocument/2006/relationships/image" Target="../media/image6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 Id="rId3" Type="http://schemas.openxmlformats.org/officeDocument/2006/relationships/image" Target="../media/image69.png"/><Relationship Id="rId4" Type="http://schemas.openxmlformats.org/officeDocument/2006/relationships/image" Target="../media/image6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69.png"/><Relationship Id="rId4" Type="http://schemas.openxmlformats.org/officeDocument/2006/relationships/image" Target="../media/image6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 Id="rId3" Type="http://schemas.openxmlformats.org/officeDocument/2006/relationships/image" Target="../media/image69.png"/><Relationship Id="rId4" Type="http://schemas.openxmlformats.org/officeDocument/2006/relationships/image" Target="../media/image6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image69.png"/><Relationship Id="rId4" Type="http://schemas.openxmlformats.org/officeDocument/2006/relationships/image" Target="../media/image6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69.png"/><Relationship Id="rId4" Type="http://schemas.openxmlformats.org/officeDocument/2006/relationships/image" Target="../media/image6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 Id="rId3" Type="http://schemas.openxmlformats.org/officeDocument/2006/relationships/image" Target="../media/image70.png"/><Relationship Id="rId4" Type="http://schemas.openxmlformats.org/officeDocument/2006/relationships/image" Target="../media/image72.png"/><Relationship Id="rId5" Type="http://schemas.openxmlformats.org/officeDocument/2006/relationships/image" Target="../media/image7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 Id="rId3" Type="http://schemas.openxmlformats.org/officeDocument/2006/relationships/image" Target="../media/image70.png"/><Relationship Id="rId4" Type="http://schemas.openxmlformats.org/officeDocument/2006/relationships/image" Target="../media/image72.png"/><Relationship Id="rId5" Type="http://schemas.openxmlformats.org/officeDocument/2006/relationships/image" Target="../media/image7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 Id="rId3" Type="http://schemas.openxmlformats.org/officeDocument/2006/relationships/image" Target="../media/image70.png"/><Relationship Id="rId4" Type="http://schemas.openxmlformats.org/officeDocument/2006/relationships/image" Target="../media/image72.png"/><Relationship Id="rId5" Type="http://schemas.openxmlformats.org/officeDocument/2006/relationships/image" Target="../media/image7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 Id="rId3" Type="http://schemas.openxmlformats.org/officeDocument/2006/relationships/image" Target="../media/image70.png"/><Relationship Id="rId4" Type="http://schemas.openxmlformats.org/officeDocument/2006/relationships/image" Target="../media/image72.png"/><Relationship Id="rId5" Type="http://schemas.openxmlformats.org/officeDocument/2006/relationships/image" Target="../media/image7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 Id="rId3" Type="http://schemas.openxmlformats.org/officeDocument/2006/relationships/image" Target="../media/image7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xml"/><Relationship Id="rId3" Type="http://schemas.openxmlformats.org/officeDocument/2006/relationships/image" Target="../media/image73.png"/><Relationship Id="rId4" Type="http://schemas.openxmlformats.org/officeDocument/2006/relationships/image" Target="../media/image7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2.xml"/><Relationship Id="rId3" Type="http://schemas.openxmlformats.org/officeDocument/2006/relationships/image" Target="../media/image76.png"/><Relationship Id="rId4" Type="http://schemas.openxmlformats.org/officeDocument/2006/relationships/image" Target="../media/image7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3.xml"/><Relationship Id="rId3" Type="http://schemas.openxmlformats.org/officeDocument/2006/relationships/image" Target="../media/image76.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4.xml"/><Relationship Id="rId3" Type="http://schemas.openxmlformats.org/officeDocument/2006/relationships/image" Target="../media/image76.png"/><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5.xml"/><Relationship Id="rId3" Type="http://schemas.openxmlformats.org/officeDocument/2006/relationships/image" Target="../media/image76.png"/><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6.xml"/><Relationship Id="rId3" Type="http://schemas.openxmlformats.org/officeDocument/2006/relationships/image" Target="../media/image78.png"/><Relationship Id="rId4"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7.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8.xml"/><Relationship Id="rId3" Type="http://schemas.openxmlformats.org/officeDocument/2006/relationships/image" Target="../media/image78.png"/><Relationship Id="rId4" Type="http://schemas.openxmlformats.org/officeDocument/2006/relationships/image" Target="../media/image7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9.xml"/><Relationship Id="rId3" Type="http://schemas.openxmlformats.org/officeDocument/2006/relationships/image" Target="../media/image78.png"/><Relationship Id="rId4" Type="http://schemas.openxmlformats.org/officeDocument/2006/relationships/image" Target="../media/image7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0.xml"/><Relationship Id="rId3" Type="http://schemas.openxmlformats.org/officeDocument/2006/relationships/image" Target="../media/image78.png"/><Relationship Id="rId4" Type="http://schemas.openxmlformats.org/officeDocument/2006/relationships/image" Target="../media/image7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1.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2.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3.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4.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5.xml"/><Relationship Id="rId3" Type="http://schemas.openxmlformats.org/officeDocument/2006/relationships/image" Target="../media/image6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 Id="rId3" Type="http://schemas.openxmlformats.org/officeDocument/2006/relationships/image" Target="../media/image8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7.xml"/><Relationship Id="rId3" Type="http://schemas.openxmlformats.org/officeDocument/2006/relationships/image" Target="../media/image82.png"/><Relationship Id="rId4" Type="http://schemas.openxmlformats.org/officeDocument/2006/relationships/image" Target="../media/image84.png"/><Relationship Id="rId5" Type="http://schemas.openxmlformats.org/officeDocument/2006/relationships/image" Target="../media/image8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8.xml"/><Relationship Id="rId3" Type="http://schemas.openxmlformats.org/officeDocument/2006/relationships/image" Target="../media/image82.png"/><Relationship Id="rId4" Type="http://schemas.openxmlformats.org/officeDocument/2006/relationships/image" Target="../media/image84.png"/><Relationship Id="rId5" Type="http://schemas.openxmlformats.org/officeDocument/2006/relationships/image" Target="../media/image8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9.xml"/><Relationship Id="rId3" Type="http://schemas.openxmlformats.org/officeDocument/2006/relationships/image" Target="../media/image82.png"/><Relationship Id="rId4" Type="http://schemas.openxmlformats.org/officeDocument/2006/relationships/image" Target="../media/image84.png"/><Relationship Id="rId5" Type="http://schemas.openxmlformats.org/officeDocument/2006/relationships/image" Target="../media/image8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0.xml"/><Relationship Id="rId3" Type="http://schemas.openxmlformats.org/officeDocument/2006/relationships/image" Target="../media/image82.png"/><Relationship Id="rId4" Type="http://schemas.openxmlformats.org/officeDocument/2006/relationships/image" Target="../media/image84.png"/><Relationship Id="rId5" Type="http://schemas.openxmlformats.org/officeDocument/2006/relationships/image" Target="../media/image8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1.xml"/><Relationship Id="rId3" Type="http://schemas.openxmlformats.org/officeDocument/2006/relationships/image" Target="../media/image82.png"/><Relationship Id="rId4" Type="http://schemas.openxmlformats.org/officeDocument/2006/relationships/image" Target="../media/image84.png"/><Relationship Id="rId5" Type="http://schemas.openxmlformats.org/officeDocument/2006/relationships/image" Target="../media/image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2.xml"/><Relationship Id="rId3" Type="http://schemas.openxmlformats.org/officeDocument/2006/relationships/image" Target="../media/image82.png"/><Relationship Id="rId4" Type="http://schemas.openxmlformats.org/officeDocument/2006/relationships/image" Target="../media/image84.png"/><Relationship Id="rId5" Type="http://schemas.openxmlformats.org/officeDocument/2006/relationships/image" Target="../media/image8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3.xml"/><Relationship Id="rId3" Type="http://schemas.openxmlformats.org/officeDocument/2006/relationships/image" Target="../media/image8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4.xml"/><Relationship Id="rId3" Type="http://schemas.openxmlformats.org/officeDocument/2006/relationships/image" Target="../media/image8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5.xml"/><Relationship Id="rId3" Type="http://schemas.openxmlformats.org/officeDocument/2006/relationships/image" Target="../media/image8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6.xml"/><Relationship Id="rId3" Type="http://schemas.openxmlformats.org/officeDocument/2006/relationships/image" Target="../media/image8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7.xml"/><Relationship Id="rId3" Type="http://schemas.openxmlformats.org/officeDocument/2006/relationships/image" Target="../media/image9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8.xml"/><Relationship Id="rId3" Type="http://schemas.openxmlformats.org/officeDocument/2006/relationships/image" Target="../media/image9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9.xml"/><Relationship Id="rId3" Type="http://schemas.openxmlformats.org/officeDocument/2006/relationships/image" Target="../media/image9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0.xml"/><Relationship Id="rId3" Type="http://schemas.openxmlformats.org/officeDocument/2006/relationships/image" Target="../media/image90.png"/><Relationship Id="rId4" Type="http://schemas.openxmlformats.org/officeDocument/2006/relationships/image" Target="../media/image8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1.xml"/><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8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2.xml"/><Relationship Id="rId3" Type="http://schemas.openxmlformats.org/officeDocument/2006/relationships/image" Target="../media/image9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3.xml"/><Relationship Id="rId3" Type="http://schemas.openxmlformats.org/officeDocument/2006/relationships/image" Target="../media/image9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4.xml"/><Relationship Id="rId3" Type="http://schemas.openxmlformats.org/officeDocument/2006/relationships/image" Target="../media/image9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5.xml"/><Relationship Id="rId3" Type="http://schemas.openxmlformats.org/officeDocument/2006/relationships/image" Target="../media/image9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6.xml"/><Relationship Id="rId3" Type="http://schemas.openxmlformats.org/officeDocument/2006/relationships/image" Target="../media/image9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7.xml"/><Relationship Id="rId3" Type="http://schemas.openxmlformats.org/officeDocument/2006/relationships/image" Target="../media/image9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8.xml"/><Relationship Id="rId3" Type="http://schemas.openxmlformats.org/officeDocument/2006/relationships/image" Target="../media/image9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9.xml"/><Relationship Id="rId3" Type="http://schemas.openxmlformats.org/officeDocument/2006/relationships/image" Target="../media/image9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0.xml"/><Relationship Id="rId3" Type="http://schemas.openxmlformats.org/officeDocument/2006/relationships/image" Target="../media/image9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1.xml"/><Relationship Id="rId3" Type="http://schemas.openxmlformats.org/officeDocument/2006/relationships/image" Target="../media/image9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2.xml"/><Relationship Id="rId3" Type="http://schemas.openxmlformats.org/officeDocument/2006/relationships/image" Target="../media/image9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3.xml"/><Relationship Id="rId3" Type="http://schemas.openxmlformats.org/officeDocument/2006/relationships/image" Target="../media/image9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6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9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72"/>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Studying climate change</a:t>
            </a:r>
            <a:endParaRPr/>
          </a:p>
        </p:txBody>
      </p:sp>
      <p:sp>
        <p:nvSpPr>
          <p:cNvPr id="850" name="Google Shape;850;p72"/>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and the environment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4" name="Shape 854"/>
        <p:cNvGrpSpPr/>
        <p:nvPr/>
      </p:nvGrpSpPr>
      <p:grpSpPr>
        <a:xfrm>
          <a:off x="0" y="0"/>
          <a:ext cx="0" cy="0"/>
          <a:chOff x="0" y="0"/>
          <a:chExt cx="0" cy="0"/>
        </a:xfrm>
      </p:grpSpPr>
      <p:sp>
        <p:nvSpPr>
          <p:cNvPr id="855" name="Google Shape;855;p73"/>
          <p:cNvSpPr txBox="1"/>
          <p:nvPr/>
        </p:nvSpPr>
        <p:spPr>
          <a:xfrm>
            <a:off x="4824000" y="1184625"/>
            <a:ext cx="39960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74"/>
          <p:cNvSpPr txBox="1"/>
          <p:nvPr>
            <p:ph idx="1" type="subTitle"/>
          </p:nvPr>
        </p:nvSpPr>
        <p:spPr>
          <a:xfrm>
            <a:off x="666000" y="1620000"/>
            <a:ext cx="7351200" cy="25041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how Earth’s polar ice caps are changing.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5"/>
          <p:cNvSpPr txBox="1"/>
          <p:nvPr/>
        </p:nvSpPr>
        <p:spPr>
          <a:xfrm>
            <a:off x="324000" y="778110"/>
            <a:ext cx="84960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 forecast is a prediction of a future event occurring (based on data).</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Extrapolation is the process of estimating unknown values that are outside the range of existing data. </a:t>
            </a:r>
            <a:endParaRPr sz="18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76"/>
          <p:cNvSpPr txBox="1"/>
          <p:nvPr>
            <p:ph type="title"/>
          </p:nvPr>
        </p:nvSpPr>
        <p:spPr>
          <a:xfrm>
            <a:off x="1225225" y="2133562"/>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sp>
        <p:nvSpPr>
          <p:cNvPr id="871" name="Google Shape;871;p76"/>
          <p:cNvSpPr txBox="1"/>
          <p:nvPr>
            <p:ph idx="2" type="title"/>
          </p:nvPr>
        </p:nvSpPr>
        <p:spPr>
          <a:xfrm>
            <a:off x="324000" y="657600"/>
            <a:ext cx="7135200" cy="307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800"/>
              <a:t>Studying climate change</a:t>
            </a:r>
            <a:endParaRPr sz="1800"/>
          </a:p>
        </p:txBody>
      </p:sp>
      <p:sp>
        <p:nvSpPr>
          <p:cNvPr id="872" name="Google Shape;872;p76"/>
          <p:cNvSpPr txBox="1"/>
          <p:nvPr>
            <p:ph idx="3" type="title"/>
          </p:nvPr>
        </p:nvSpPr>
        <p:spPr>
          <a:xfrm>
            <a:off x="1225225" y="3069850"/>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pic>
        <p:nvPicPr>
          <p:cNvPr id="873" name="Google Shape;873;p76"/>
          <p:cNvPicPr preferRelativeResize="0"/>
          <p:nvPr/>
        </p:nvPicPr>
        <p:blipFill>
          <a:blip r:embed="rId3">
            <a:alphaModFix/>
          </a:blip>
          <a:stretch>
            <a:fillRect/>
          </a:stretch>
        </p:blipFill>
        <p:spPr>
          <a:xfrm>
            <a:off x="410575" y="2048775"/>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pic>
        <p:nvPicPr>
          <p:cNvPr id="878" name="Google Shape;878;p77"/>
          <p:cNvPicPr preferRelativeResize="0"/>
          <p:nvPr/>
        </p:nvPicPr>
        <p:blipFill>
          <a:blip r:embed="rId3">
            <a:alphaModFix/>
          </a:blip>
          <a:stretch>
            <a:fillRect/>
          </a:stretch>
        </p:blipFill>
        <p:spPr>
          <a:xfrm>
            <a:off x="863700" y="1718250"/>
            <a:ext cx="4524125" cy="2275976"/>
          </a:xfrm>
          <a:prstGeom prst="rect">
            <a:avLst/>
          </a:prstGeom>
          <a:noFill/>
          <a:ln>
            <a:noFill/>
          </a:ln>
        </p:spPr>
      </p:pic>
      <p:sp>
        <p:nvSpPr>
          <p:cNvPr id="879" name="Google Shape;879;p77"/>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1851 to 2024.</a:t>
            </a:r>
            <a:endParaRPr sz="1800"/>
          </a:p>
        </p:txBody>
      </p:sp>
      <p:sp>
        <p:nvSpPr>
          <p:cNvPr id="880" name="Google Shape;880;p77"/>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881" name="Google Shape;881;p77"/>
          <p:cNvCxnSpPr/>
          <p:nvPr/>
        </p:nvCxnSpPr>
        <p:spPr>
          <a:xfrm>
            <a:off x="844650" y="3986000"/>
            <a:ext cx="4831500" cy="0"/>
          </a:xfrm>
          <a:prstGeom prst="straightConnector1">
            <a:avLst/>
          </a:prstGeom>
          <a:noFill/>
          <a:ln cap="flat" cmpd="sng" w="28575">
            <a:solidFill>
              <a:schemeClr val="dk1"/>
            </a:solidFill>
            <a:prstDash val="solid"/>
            <a:round/>
            <a:headEnd len="med" w="med" type="none"/>
            <a:tailEnd len="med" w="med" type="triangle"/>
          </a:ln>
        </p:spPr>
      </p:cxnSp>
      <p:cxnSp>
        <p:nvCxnSpPr>
          <p:cNvPr id="882" name="Google Shape;882;p77"/>
          <p:cNvCxnSpPr/>
          <p:nvPr/>
        </p:nvCxnSpPr>
        <p:spPr>
          <a:xfrm rot="10800000">
            <a:off x="87000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883" name="Google Shape;883;p77"/>
          <p:cNvSpPr txBox="1"/>
          <p:nvPr>
            <p:ph idx="1" type="body"/>
          </p:nvPr>
        </p:nvSpPr>
        <p:spPr>
          <a:xfrm>
            <a:off x="1057502"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-0.4</a:t>
            </a:r>
            <a:endParaRPr sz="1400"/>
          </a:p>
        </p:txBody>
      </p:sp>
      <p:sp>
        <p:nvSpPr>
          <p:cNvPr id="884" name="Google Shape;884;p77"/>
          <p:cNvSpPr txBox="1"/>
          <p:nvPr>
            <p:ph idx="1" type="body"/>
          </p:nvPr>
        </p:nvSpPr>
        <p:spPr>
          <a:xfrm>
            <a:off x="1497933"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-0.2</a:t>
            </a:r>
            <a:endParaRPr sz="1400"/>
          </a:p>
        </p:txBody>
      </p:sp>
      <p:sp>
        <p:nvSpPr>
          <p:cNvPr id="885" name="Google Shape;885;p77"/>
          <p:cNvSpPr txBox="1"/>
          <p:nvPr>
            <p:ph idx="1" type="body"/>
          </p:nvPr>
        </p:nvSpPr>
        <p:spPr>
          <a:xfrm>
            <a:off x="2043952" y="3990400"/>
            <a:ext cx="1947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a:t>
            </a:r>
            <a:endParaRPr sz="1400"/>
          </a:p>
        </p:txBody>
      </p:sp>
      <p:sp>
        <p:nvSpPr>
          <p:cNvPr id="886" name="Google Shape;886;p77"/>
          <p:cNvSpPr txBox="1"/>
          <p:nvPr>
            <p:ph idx="1" type="body"/>
          </p:nvPr>
        </p:nvSpPr>
        <p:spPr>
          <a:xfrm>
            <a:off x="237448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0.2</a:t>
            </a:r>
            <a:endParaRPr sz="1400"/>
          </a:p>
        </p:txBody>
      </p:sp>
      <p:sp>
        <p:nvSpPr>
          <p:cNvPr id="887" name="Google Shape;887;p77"/>
          <p:cNvSpPr txBox="1"/>
          <p:nvPr>
            <p:ph idx="1" type="body"/>
          </p:nvPr>
        </p:nvSpPr>
        <p:spPr>
          <a:xfrm>
            <a:off x="280014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0.4</a:t>
            </a:r>
            <a:endParaRPr sz="1400"/>
          </a:p>
        </p:txBody>
      </p:sp>
      <p:sp>
        <p:nvSpPr>
          <p:cNvPr id="888" name="Google Shape;888;p77"/>
          <p:cNvSpPr txBox="1"/>
          <p:nvPr>
            <p:ph idx="1" type="body"/>
          </p:nvPr>
        </p:nvSpPr>
        <p:spPr>
          <a:xfrm>
            <a:off x="3206377"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0.6</a:t>
            </a:r>
            <a:endParaRPr sz="1400"/>
          </a:p>
        </p:txBody>
      </p:sp>
      <p:sp>
        <p:nvSpPr>
          <p:cNvPr id="889" name="Google Shape;889;p77"/>
          <p:cNvSpPr txBox="1"/>
          <p:nvPr>
            <p:ph idx="1" type="body"/>
          </p:nvPr>
        </p:nvSpPr>
        <p:spPr>
          <a:xfrm>
            <a:off x="3600498"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0.8</a:t>
            </a:r>
            <a:endParaRPr sz="1400"/>
          </a:p>
        </p:txBody>
      </p:sp>
      <p:sp>
        <p:nvSpPr>
          <p:cNvPr id="890" name="Google Shape;890;p77"/>
          <p:cNvSpPr txBox="1"/>
          <p:nvPr>
            <p:ph idx="1" type="body"/>
          </p:nvPr>
        </p:nvSpPr>
        <p:spPr>
          <a:xfrm>
            <a:off x="4045082"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a:t>
            </a:r>
            <a:r>
              <a:rPr lang="en-GB" sz="1400"/>
              <a:t>.0</a:t>
            </a:r>
            <a:endParaRPr sz="1400"/>
          </a:p>
        </p:txBody>
      </p:sp>
      <p:sp>
        <p:nvSpPr>
          <p:cNvPr id="891" name="Google Shape;891;p77"/>
          <p:cNvSpPr txBox="1"/>
          <p:nvPr>
            <p:ph idx="1" type="body"/>
          </p:nvPr>
        </p:nvSpPr>
        <p:spPr>
          <a:xfrm>
            <a:off x="4445006"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a:t>
            </a:r>
            <a:r>
              <a:rPr lang="en-GB" sz="1400"/>
              <a:t>.2</a:t>
            </a:r>
            <a:endParaRPr sz="1400"/>
          </a:p>
        </p:txBody>
      </p:sp>
      <p:sp>
        <p:nvSpPr>
          <p:cNvPr id="892" name="Google Shape;892;p77"/>
          <p:cNvSpPr txBox="1"/>
          <p:nvPr>
            <p:ph idx="1" type="body"/>
          </p:nvPr>
        </p:nvSpPr>
        <p:spPr>
          <a:xfrm>
            <a:off x="4863853"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a:t>
            </a:r>
            <a:r>
              <a:rPr lang="en-GB" sz="1400"/>
              <a:t>.4</a:t>
            </a:r>
            <a:endParaRPr sz="1400"/>
          </a:p>
        </p:txBody>
      </p:sp>
      <p:sp>
        <p:nvSpPr>
          <p:cNvPr id="893" name="Google Shape;893;p77"/>
          <p:cNvSpPr txBox="1"/>
          <p:nvPr>
            <p:ph idx="1" type="body"/>
          </p:nvPr>
        </p:nvSpPr>
        <p:spPr>
          <a:xfrm>
            <a:off x="523854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a:t>
            </a:r>
            <a:r>
              <a:rPr lang="en-GB" sz="1400"/>
              <a:t>.6</a:t>
            </a:r>
            <a:endParaRPr sz="1400"/>
          </a:p>
        </p:txBody>
      </p:sp>
      <p:sp>
        <p:nvSpPr>
          <p:cNvPr id="894" name="Google Shape;894;p77"/>
          <p:cNvSpPr txBox="1"/>
          <p:nvPr>
            <p:ph idx="1" type="body"/>
          </p:nvPr>
        </p:nvSpPr>
        <p:spPr>
          <a:xfrm>
            <a:off x="705647" y="3888032"/>
            <a:ext cx="168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a:t>
            </a:r>
            <a:endParaRPr sz="1400"/>
          </a:p>
        </p:txBody>
      </p:sp>
      <p:sp>
        <p:nvSpPr>
          <p:cNvPr id="895" name="Google Shape;895;p77"/>
          <p:cNvSpPr txBox="1"/>
          <p:nvPr>
            <p:ph idx="1" type="body"/>
          </p:nvPr>
        </p:nvSpPr>
        <p:spPr>
          <a:xfrm>
            <a:off x="617052" y="3498300"/>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10</a:t>
            </a:r>
            <a:endParaRPr sz="1400"/>
          </a:p>
        </p:txBody>
      </p:sp>
      <p:sp>
        <p:nvSpPr>
          <p:cNvPr id="896" name="Google Shape;896;p77"/>
          <p:cNvSpPr txBox="1"/>
          <p:nvPr>
            <p:ph idx="1" type="body"/>
          </p:nvPr>
        </p:nvSpPr>
        <p:spPr>
          <a:xfrm>
            <a:off x="617052" y="3121184"/>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a:t>
            </a:r>
            <a:r>
              <a:rPr lang="en-GB" sz="1400"/>
              <a:t>0</a:t>
            </a:r>
            <a:endParaRPr sz="1400"/>
          </a:p>
        </p:txBody>
      </p:sp>
      <p:sp>
        <p:nvSpPr>
          <p:cNvPr id="897" name="Google Shape;897;p77"/>
          <p:cNvSpPr txBox="1"/>
          <p:nvPr>
            <p:ph idx="1" type="body"/>
          </p:nvPr>
        </p:nvSpPr>
        <p:spPr>
          <a:xfrm>
            <a:off x="617052" y="2744068"/>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3</a:t>
            </a:r>
            <a:r>
              <a:rPr lang="en-GB" sz="1400"/>
              <a:t>0</a:t>
            </a:r>
            <a:endParaRPr sz="1400"/>
          </a:p>
        </p:txBody>
      </p:sp>
      <p:sp>
        <p:nvSpPr>
          <p:cNvPr id="898" name="Google Shape;898;p77"/>
          <p:cNvSpPr txBox="1"/>
          <p:nvPr>
            <p:ph idx="1" type="body"/>
          </p:nvPr>
        </p:nvSpPr>
        <p:spPr>
          <a:xfrm>
            <a:off x="617052" y="2366952"/>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4</a:t>
            </a:r>
            <a:r>
              <a:rPr lang="en-GB" sz="1400"/>
              <a:t>0</a:t>
            </a:r>
            <a:endParaRPr sz="1400"/>
          </a:p>
        </p:txBody>
      </p:sp>
      <p:sp>
        <p:nvSpPr>
          <p:cNvPr id="899" name="Google Shape;899;p77"/>
          <p:cNvSpPr txBox="1"/>
          <p:nvPr>
            <p:ph idx="1" type="body"/>
          </p:nvPr>
        </p:nvSpPr>
        <p:spPr>
          <a:xfrm>
            <a:off x="617052" y="2002452"/>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50</a:t>
            </a:r>
            <a:endParaRPr sz="1400"/>
          </a:p>
        </p:txBody>
      </p:sp>
      <p:sp>
        <p:nvSpPr>
          <p:cNvPr id="900" name="Google Shape;900;p77"/>
          <p:cNvSpPr txBox="1"/>
          <p:nvPr>
            <p:ph idx="1" type="body"/>
          </p:nvPr>
        </p:nvSpPr>
        <p:spPr>
          <a:xfrm>
            <a:off x="765290" y="4295200"/>
            <a:ext cx="48315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901" name="Google Shape;901;p77"/>
          <p:cNvSpPr txBox="1"/>
          <p:nvPr>
            <p:ph idx="1" type="body"/>
          </p:nvPr>
        </p:nvSpPr>
        <p:spPr>
          <a:xfrm rot="-5400000">
            <a:off x="-139075" y="28484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902" name="Google Shape;902;p77"/>
          <p:cNvSpPr txBox="1"/>
          <p:nvPr>
            <p:ph idx="1" type="body"/>
          </p:nvPr>
        </p:nvSpPr>
        <p:spPr>
          <a:xfrm>
            <a:off x="5797051" y="1572000"/>
            <a:ext cx="2859000" cy="1164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700"/>
              <a:t>The </a:t>
            </a:r>
            <a:r>
              <a:rPr lang="en-GB" sz="1700"/>
              <a:t>horizontal</a:t>
            </a:r>
            <a:r>
              <a:rPr lang="en-GB" sz="1700"/>
              <a:t> axis shows whether it was warmer or colder than it was before industrialisation.</a:t>
            </a:r>
            <a:endParaRPr sz="1700"/>
          </a:p>
        </p:txBody>
      </p:sp>
      <p:sp>
        <p:nvSpPr>
          <p:cNvPr id="903" name="Google Shape;903;p77"/>
          <p:cNvSpPr txBox="1"/>
          <p:nvPr>
            <p:ph idx="1" type="body"/>
          </p:nvPr>
        </p:nvSpPr>
        <p:spPr>
          <a:xfrm>
            <a:off x="5797051" y="2917858"/>
            <a:ext cx="3054600" cy="1465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700"/>
              <a:t>E.g. This bar represents years where the mean global temperature was between 0.8 and 1°C warmer than pre-industrial conditions.</a:t>
            </a:r>
            <a:endParaRPr sz="1700"/>
          </a:p>
        </p:txBody>
      </p:sp>
      <p:sp>
        <p:nvSpPr>
          <p:cNvPr id="904" name="Google Shape;904;p77"/>
          <p:cNvSpPr/>
          <p:nvPr/>
        </p:nvSpPr>
        <p:spPr>
          <a:xfrm>
            <a:off x="3734350" y="3499050"/>
            <a:ext cx="403800" cy="4914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5" name="Google Shape;905;p77"/>
          <p:cNvCxnSpPr/>
          <p:nvPr/>
        </p:nvCxnSpPr>
        <p:spPr>
          <a:xfrm flipH="1" rot="10800000">
            <a:off x="4144375" y="3057575"/>
            <a:ext cx="1671600" cy="53610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pic>
        <p:nvPicPr>
          <p:cNvPr id="910" name="Google Shape;910;p78"/>
          <p:cNvPicPr preferRelativeResize="0"/>
          <p:nvPr/>
        </p:nvPicPr>
        <p:blipFill>
          <a:blip r:embed="rId3">
            <a:alphaModFix/>
          </a:blip>
          <a:stretch>
            <a:fillRect/>
          </a:stretch>
        </p:blipFill>
        <p:spPr>
          <a:xfrm>
            <a:off x="863700" y="1718250"/>
            <a:ext cx="4524125" cy="2275976"/>
          </a:xfrm>
          <a:prstGeom prst="rect">
            <a:avLst/>
          </a:prstGeom>
          <a:noFill/>
          <a:ln>
            <a:noFill/>
          </a:ln>
        </p:spPr>
      </p:pic>
      <p:sp>
        <p:nvSpPr>
          <p:cNvPr id="911" name="Google Shape;911;p78"/>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1851 to 2024.</a:t>
            </a:r>
            <a:endParaRPr sz="1800"/>
          </a:p>
        </p:txBody>
      </p:sp>
      <p:sp>
        <p:nvSpPr>
          <p:cNvPr id="912" name="Google Shape;912;p78"/>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913" name="Google Shape;913;p78"/>
          <p:cNvCxnSpPr/>
          <p:nvPr/>
        </p:nvCxnSpPr>
        <p:spPr>
          <a:xfrm>
            <a:off x="844650" y="3986000"/>
            <a:ext cx="4831500" cy="0"/>
          </a:xfrm>
          <a:prstGeom prst="straightConnector1">
            <a:avLst/>
          </a:prstGeom>
          <a:noFill/>
          <a:ln cap="flat" cmpd="sng" w="28575">
            <a:solidFill>
              <a:schemeClr val="dk1"/>
            </a:solidFill>
            <a:prstDash val="solid"/>
            <a:round/>
            <a:headEnd len="med" w="med" type="none"/>
            <a:tailEnd len="med" w="med" type="triangle"/>
          </a:ln>
        </p:spPr>
      </p:cxnSp>
      <p:cxnSp>
        <p:nvCxnSpPr>
          <p:cNvPr id="914" name="Google Shape;914;p78"/>
          <p:cNvCxnSpPr/>
          <p:nvPr/>
        </p:nvCxnSpPr>
        <p:spPr>
          <a:xfrm rot="10800000">
            <a:off x="87000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915" name="Google Shape;915;p78"/>
          <p:cNvSpPr txBox="1"/>
          <p:nvPr>
            <p:ph idx="1" type="body"/>
          </p:nvPr>
        </p:nvSpPr>
        <p:spPr>
          <a:xfrm>
            <a:off x="1057502"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-0.4</a:t>
            </a:r>
            <a:endParaRPr sz="1400"/>
          </a:p>
        </p:txBody>
      </p:sp>
      <p:sp>
        <p:nvSpPr>
          <p:cNvPr id="916" name="Google Shape;916;p78"/>
          <p:cNvSpPr txBox="1"/>
          <p:nvPr>
            <p:ph idx="1" type="body"/>
          </p:nvPr>
        </p:nvSpPr>
        <p:spPr>
          <a:xfrm>
            <a:off x="1497933"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-0.2</a:t>
            </a:r>
            <a:endParaRPr sz="1400"/>
          </a:p>
        </p:txBody>
      </p:sp>
      <p:sp>
        <p:nvSpPr>
          <p:cNvPr id="917" name="Google Shape;917;p78"/>
          <p:cNvSpPr txBox="1"/>
          <p:nvPr>
            <p:ph idx="1" type="body"/>
          </p:nvPr>
        </p:nvSpPr>
        <p:spPr>
          <a:xfrm>
            <a:off x="2043952" y="3990400"/>
            <a:ext cx="1947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a:t>
            </a:r>
            <a:endParaRPr sz="1400"/>
          </a:p>
        </p:txBody>
      </p:sp>
      <p:sp>
        <p:nvSpPr>
          <p:cNvPr id="918" name="Google Shape;918;p78"/>
          <p:cNvSpPr txBox="1"/>
          <p:nvPr>
            <p:ph idx="1" type="body"/>
          </p:nvPr>
        </p:nvSpPr>
        <p:spPr>
          <a:xfrm>
            <a:off x="237448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0.2</a:t>
            </a:r>
            <a:endParaRPr sz="1400"/>
          </a:p>
        </p:txBody>
      </p:sp>
      <p:sp>
        <p:nvSpPr>
          <p:cNvPr id="919" name="Google Shape;919;p78"/>
          <p:cNvSpPr txBox="1"/>
          <p:nvPr>
            <p:ph idx="1" type="body"/>
          </p:nvPr>
        </p:nvSpPr>
        <p:spPr>
          <a:xfrm>
            <a:off x="280014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0.4</a:t>
            </a:r>
            <a:endParaRPr sz="1400"/>
          </a:p>
        </p:txBody>
      </p:sp>
      <p:sp>
        <p:nvSpPr>
          <p:cNvPr id="920" name="Google Shape;920;p78"/>
          <p:cNvSpPr txBox="1"/>
          <p:nvPr>
            <p:ph idx="1" type="body"/>
          </p:nvPr>
        </p:nvSpPr>
        <p:spPr>
          <a:xfrm>
            <a:off x="3206377"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0.6</a:t>
            </a:r>
            <a:endParaRPr sz="1400"/>
          </a:p>
        </p:txBody>
      </p:sp>
      <p:sp>
        <p:nvSpPr>
          <p:cNvPr id="921" name="Google Shape;921;p78"/>
          <p:cNvSpPr txBox="1"/>
          <p:nvPr>
            <p:ph idx="1" type="body"/>
          </p:nvPr>
        </p:nvSpPr>
        <p:spPr>
          <a:xfrm>
            <a:off x="3600498"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0.8</a:t>
            </a:r>
            <a:endParaRPr sz="1400"/>
          </a:p>
        </p:txBody>
      </p:sp>
      <p:sp>
        <p:nvSpPr>
          <p:cNvPr id="922" name="Google Shape;922;p78"/>
          <p:cNvSpPr txBox="1"/>
          <p:nvPr>
            <p:ph idx="1" type="body"/>
          </p:nvPr>
        </p:nvSpPr>
        <p:spPr>
          <a:xfrm>
            <a:off x="4045082"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1.0</a:t>
            </a:r>
            <a:endParaRPr sz="1400"/>
          </a:p>
        </p:txBody>
      </p:sp>
      <p:sp>
        <p:nvSpPr>
          <p:cNvPr id="923" name="Google Shape;923;p78"/>
          <p:cNvSpPr txBox="1"/>
          <p:nvPr>
            <p:ph idx="1" type="body"/>
          </p:nvPr>
        </p:nvSpPr>
        <p:spPr>
          <a:xfrm>
            <a:off x="4445006"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1.2</a:t>
            </a:r>
            <a:endParaRPr sz="1400"/>
          </a:p>
        </p:txBody>
      </p:sp>
      <p:sp>
        <p:nvSpPr>
          <p:cNvPr id="924" name="Google Shape;924;p78"/>
          <p:cNvSpPr txBox="1"/>
          <p:nvPr>
            <p:ph idx="1" type="body"/>
          </p:nvPr>
        </p:nvSpPr>
        <p:spPr>
          <a:xfrm>
            <a:off x="4863853"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1.4</a:t>
            </a:r>
            <a:endParaRPr sz="1400"/>
          </a:p>
        </p:txBody>
      </p:sp>
      <p:sp>
        <p:nvSpPr>
          <p:cNvPr id="925" name="Google Shape;925;p78"/>
          <p:cNvSpPr txBox="1"/>
          <p:nvPr>
            <p:ph idx="1" type="body"/>
          </p:nvPr>
        </p:nvSpPr>
        <p:spPr>
          <a:xfrm>
            <a:off x="523854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1.6</a:t>
            </a:r>
            <a:endParaRPr sz="1400"/>
          </a:p>
        </p:txBody>
      </p:sp>
      <p:sp>
        <p:nvSpPr>
          <p:cNvPr id="926" name="Google Shape;926;p78"/>
          <p:cNvSpPr txBox="1"/>
          <p:nvPr>
            <p:ph idx="1" type="body"/>
          </p:nvPr>
        </p:nvSpPr>
        <p:spPr>
          <a:xfrm>
            <a:off x="705647" y="3888032"/>
            <a:ext cx="168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a:t>
            </a:r>
            <a:endParaRPr sz="1400"/>
          </a:p>
        </p:txBody>
      </p:sp>
      <p:sp>
        <p:nvSpPr>
          <p:cNvPr id="927" name="Google Shape;927;p78"/>
          <p:cNvSpPr txBox="1"/>
          <p:nvPr>
            <p:ph idx="1" type="body"/>
          </p:nvPr>
        </p:nvSpPr>
        <p:spPr>
          <a:xfrm>
            <a:off x="617052" y="3498300"/>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10</a:t>
            </a:r>
            <a:endParaRPr sz="1400"/>
          </a:p>
        </p:txBody>
      </p:sp>
      <p:sp>
        <p:nvSpPr>
          <p:cNvPr id="928" name="Google Shape;928;p78"/>
          <p:cNvSpPr txBox="1"/>
          <p:nvPr>
            <p:ph idx="1" type="body"/>
          </p:nvPr>
        </p:nvSpPr>
        <p:spPr>
          <a:xfrm>
            <a:off x="617052" y="3121184"/>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a:t>
            </a:r>
            <a:endParaRPr sz="1400"/>
          </a:p>
        </p:txBody>
      </p:sp>
      <p:sp>
        <p:nvSpPr>
          <p:cNvPr id="929" name="Google Shape;929;p78"/>
          <p:cNvSpPr txBox="1"/>
          <p:nvPr>
            <p:ph idx="1" type="body"/>
          </p:nvPr>
        </p:nvSpPr>
        <p:spPr>
          <a:xfrm>
            <a:off x="617052" y="2744068"/>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30</a:t>
            </a:r>
            <a:endParaRPr sz="1400"/>
          </a:p>
        </p:txBody>
      </p:sp>
      <p:sp>
        <p:nvSpPr>
          <p:cNvPr id="930" name="Google Shape;930;p78"/>
          <p:cNvSpPr txBox="1"/>
          <p:nvPr>
            <p:ph idx="1" type="body"/>
          </p:nvPr>
        </p:nvSpPr>
        <p:spPr>
          <a:xfrm>
            <a:off x="617052" y="2366952"/>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40</a:t>
            </a:r>
            <a:endParaRPr sz="1400"/>
          </a:p>
        </p:txBody>
      </p:sp>
      <p:sp>
        <p:nvSpPr>
          <p:cNvPr id="931" name="Google Shape;931;p78"/>
          <p:cNvSpPr txBox="1"/>
          <p:nvPr>
            <p:ph idx="1" type="body"/>
          </p:nvPr>
        </p:nvSpPr>
        <p:spPr>
          <a:xfrm>
            <a:off x="617052" y="2002452"/>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50</a:t>
            </a:r>
            <a:endParaRPr sz="1400"/>
          </a:p>
        </p:txBody>
      </p:sp>
      <p:sp>
        <p:nvSpPr>
          <p:cNvPr id="932" name="Google Shape;932;p78"/>
          <p:cNvSpPr txBox="1"/>
          <p:nvPr>
            <p:ph idx="1" type="body"/>
          </p:nvPr>
        </p:nvSpPr>
        <p:spPr>
          <a:xfrm>
            <a:off x="765290" y="4295200"/>
            <a:ext cx="48315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933" name="Google Shape;933;p78"/>
          <p:cNvSpPr txBox="1"/>
          <p:nvPr>
            <p:ph idx="1" type="body"/>
          </p:nvPr>
        </p:nvSpPr>
        <p:spPr>
          <a:xfrm rot="-5400000">
            <a:off x="-139075" y="28484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934" name="Google Shape;934;p78"/>
          <p:cNvSpPr txBox="1"/>
          <p:nvPr>
            <p:ph idx="1" type="body"/>
          </p:nvPr>
        </p:nvSpPr>
        <p:spPr>
          <a:xfrm>
            <a:off x="5795033" y="1673432"/>
            <a:ext cx="28590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vertical axis shows the number of years represented by each bar.</a:t>
            </a:r>
            <a:endParaRPr sz="1800"/>
          </a:p>
        </p:txBody>
      </p:sp>
      <p:sp>
        <p:nvSpPr>
          <p:cNvPr id="935" name="Google Shape;935;p78"/>
          <p:cNvSpPr txBox="1"/>
          <p:nvPr>
            <p:ph idx="1" type="body"/>
          </p:nvPr>
        </p:nvSpPr>
        <p:spPr>
          <a:xfrm>
            <a:off x="5795033" y="2835356"/>
            <a:ext cx="29331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E.g. T</a:t>
            </a:r>
            <a:r>
              <a:rPr lang="en-GB" sz="1800"/>
              <a:t>here were 13</a:t>
            </a:r>
            <a:r>
              <a:rPr lang="en-GB" sz="1800"/>
              <a:t> years where the mean global temperature was between 0.8 and 1°C warmer than pre-industrial conditions</a:t>
            </a:r>
            <a:r>
              <a:rPr lang="en-GB" sz="1800"/>
              <a:t>.</a:t>
            </a:r>
            <a:endParaRPr sz="1800"/>
          </a:p>
        </p:txBody>
      </p:sp>
      <p:sp>
        <p:nvSpPr>
          <p:cNvPr id="936" name="Google Shape;936;p78"/>
          <p:cNvSpPr/>
          <p:nvPr/>
        </p:nvSpPr>
        <p:spPr>
          <a:xfrm>
            <a:off x="3734350" y="3499050"/>
            <a:ext cx="403800" cy="4914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37" name="Google Shape;937;p78"/>
          <p:cNvCxnSpPr/>
          <p:nvPr/>
        </p:nvCxnSpPr>
        <p:spPr>
          <a:xfrm rot="10800000">
            <a:off x="876775" y="3498551"/>
            <a:ext cx="3267600" cy="0"/>
          </a:xfrm>
          <a:prstGeom prst="straightConnector1">
            <a:avLst/>
          </a:prstGeom>
          <a:noFill/>
          <a:ln cap="flat" cmpd="sng" w="38100">
            <a:solidFill>
              <a:schemeClr val="dk1"/>
            </a:solidFill>
            <a:prstDash val="dash"/>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id="942" name="Google Shape;942;p79"/>
          <p:cNvPicPr preferRelativeResize="0"/>
          <p:nvPr/>
        </p:nvPicPr>
        <p:blipFill>
          <a:blip r:embed="rId3">
            <a:alphaModFix/>
          </a:blip>
          <a:stretch>
            <a:fillRect/>
          </a:stretch>
        </p:blipFill>
        <p:spPr>
          <a:xfrm>
            <a:off x="863700" y="1718250"/>
            <a:ext cx="4524125" cy="2275976"/>
          </a:xfrm>
          <a:prstGeom prst="rect">
            <a:avLst/>
          </a:prstGeom>
          <a:noFill/>
          <a:ln>
            <a:noFill/>
          </a:ln>
        </p:spPr>
      </p:pic>
      <p:sp>
        <p:nvSpPr>
          <p:cNvPr id="943" name="Google Shape;943;p79"/>
          <p:cNvSpPr txBox="1"/>
          <p:nvPr>
            <p:ph idx="1" type="body"/>
          </p:nvPr>
        </p:nvSpPr>
        <p:spPr>
          <a:xfrm>
            <a:off x="324000" y="810000"/>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There are 174 years represented in this graph. But it is not clear </a:t>
            </a:r>
            <a:r>
              <a:rPr lang="en-GB" sz="1800"/>
              <a:t>from this graph </a:t>
            </a:r>
            <a:r>
              <a:rPr lang="en-GB" sz="1800"/>
              <a:t>whether the later years were warmer or colder than the earlier </a:t>
            </a:r>
            <a:r>
              <a:rPr lang="en-GB" sz="1800"/>
              <a:t>years.</a:t>
            </a:r>
            <a:endParaRPr sz="1800"/>
          </a:p>
        </p:txBody>
      </p:sp>
      <p:sp>
        <p:nvSpPr>
          <p:cNvPr id="944" name="Google Shape;944;p79"/>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945" name="Google Shape;945;p79"/>
          <p:cNvCxnSpPr/>
          <p:nvPr/>
        </p:nvCxnSpPr>
        <p:spPr>
          <a:xfrm>
            <a:off x="844650" y="3986000"/>
            <a:ext cx="4831500" cy="0"/>
          </a:xfrm>
          <a:prstGeom prst="straightConnector1">
            <a:avLst/>
          </a:prstGeom>
          <a:noFill/>
          <a:ln cap="flat" cmpd="sng" w="28575">
            <a:solidFill>
              <a:schemeClr val="dk1"/>
            </a:solidFill>
            <a:prstDash val="solid"/>
            <a:round/>
            <a:headEnd len="med" w="med" type="none"/>
            <a:tailEnd len="med" w="med" type="triangle"/>
          </a:ln>
        </p:spPr>
      </p:cxnSp>
      <p:cxnSp>
        <p:nvCxnSpPr>
          <p:cNvPr id="946" name="Google Shape;946;p79"/>
          <p:cNvCxnSpPr/>
          <p:nvPr/>
        </p:nvCxnSpPr>
        <p:spPr>
          <a:xfrm rot="10800000">
            <a:off x="87000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947" name="Google Shape;947;p79"/>
          <p:cNvSpPr txBox="1"/>
          <p:nvPr>
            <p:ph idx="1" type="body"/>
          </p:nvPr>
        </p:nvSpPr>
        <p:spPr>
          <a:xfrm>
            <a:off x="1057502"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-0.4</a:t>
            </a:r>
            <a:endParaRPr sz="1400"/>
          </a:p>
        </p:txBody>
      </p:sp>
      <p:sp>
        <p:nvSpPr>
          <p:cNvPr id="948" name="Google Shape;948;p79"/>
          <p:cNvSpPr txBox="1"/>
          <p:nvPr>
            <p:ph idx="1" type="body"/>
          </p:nvPr>
        </p:nvSpPr>
        <p:spPr>
          <a:xfrm>
            <a:off x="1497933"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-0.2</a:t>
            </a:r>
            <a:endParaRPr sz="1400"/>
          </a:p>
        </p:txBody>
      </p:sp>
      <p:sp>
        <p:nvSpPr>
          <p:cNvPr id="949" name="Google Shape;949;p79"/>
          <p:cNvSpPr txBox="1"/>
          <p:nvPr>
            <p:ph idx="1" type="body"/>
          </p:nvPr>
        </p:nvSpPr>
        <p:spPr>
          <a:xfrm>
            <a:off x="2043952" y="3990400"/>
            <a:ext cx="1947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a:t>
            </a:r>
            <a:endParaRPr sz="1400"/>
          </a:p>
        </p:txBody>
      </p:sp>
      <p:sp>
        <p:nvSpPr>
          <p:cNvPr id="950" name="Google Shape;950;p79"/>
          <p:cNvSpPr txBox="1"/>
          <p:nvPr>
            <p:ph idx="1" type="body"/>
          </p:nvPr>
        </p:nvSpPr>
        <p:spPr>
          <a:xfrm>
            <a:off x="237448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0.2</a:t>
            </a:r>
            <a:endParaRPr sz="1400"/>
          </a:p>
        </p:txBody>
      </p:sp>
      <p:sp>
        <p:nvSpPr>
          <p:cNvPr id="951" name="Google Shape;951;p79"/>
          <p:cNvSpPr txBox="1"/>
          <p:nvPr>
            <p:ph idx="1" type="body"/>
          </p:nvPr>
        </p:nvSpPr>
        <p:spPr>
          <a:xfrm>
            <a:off x="280014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0.4</a:t>
            </a:r>
            <a:endParaRPr sz="1400"/>
          </a:p>
        </p:txBody>
      </p:sp>
      <p:sp>
        <p:nvSpPr>
          <p:cNvPr id="952" name="Google Shape;952;p79"/>
          <p:cNvSpPr txBox="1"/>
          <p:nvPr>
            <p:ph idx="1" type="body"/>
          </p:nvPr>
        </p:nvSpPr>
        <p:spPr>
          <a:xfrm>
            <a:off x="3206377"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0.6</a:t>
            </a:r>
            <a:endParaRPr sz="1400"/>
          </a:p>
        </p:txBody>
      </p:sp>
      <p:sp>
        <p:nvSpPr>
          <p:cNvPr id="953" name="Google Shape;953;p79"/>
          <p:cNvSpPr txBox="1"/>
          <p:nvPr>
            <p:ph idx="1" type="body"/>
          </p:nvPr>
        </p:nvSpPr>
        <p:spPr>
          <a:xfrm>
            <a:off x="3600498"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0.8</a:t>
            </a:r>
            <a:endParaRPr sz="1400"/>
          </a:p>
        </p:txBody>
      </p:sp>
      <p:sp>
        <p:nvSpPr>
          <p:cNvPr id="954" name="Google Shape;954;p79"/>
          <p:cNvSpPr txBox="1"/>
          <p:nvPr>
            <p:ph idx="1" type="body"/>
          </p:nvPr>
        </p:nvSpPr>
        <p:spPr>
          <a:xfrm>
            <a:off x="4045082"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1.0</a:t>
            </a:r>
            <a:endParaRPr sz="1400"/>
          </a:p>
        </p:txBody>
      </p:sp>
      <p:sp>
        <p:nvSpPr>
          <p:cNvPr id="955" name="Google Shape;955;p79"/>
          <p:cNvSpPr txBox="1"/>
          <p:nvPr>
            <p:ph idx="1" type="body"/>
          </p:nvPr>
        </p:nvSpPr>
        <p:spPr>
          <a:xfrm>
            <a:off x="4445006"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1.2</a:t>
            </a:r>
            <a:endParaRPr sz="1400"/>
          </a:p>
        </p:txBody>
      </p:sp>
      <p:sp>
        <p:nvSpPr>
          <p:cNvPr id="956" name="Google Shape;956;p79"/>
          <p:cNvSpPr txBox="1"/>
          <p:nvPr>
            <p:ph idx="1" type="body"/>
          </p:nvPr>
        </p:nvSpPr>
        <p:spPr>
          <a:xfrm>
            <a:off x="4863853"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1.4</a:t>
            </a:r>
            <a:endParaRPr sz="1400"/>
          </a:p>
        </p:txBody>
      </p:sp>
      <p:sp>
        <p:nvSpPr>
          <p:cNvPr id="957" name="Google Shape;957;p79"/>
          <p:cNvSpPr txBox="1"/>
          <p:nvPr>
            <p:ph idx="1" type="body"/>
          </p:nvPr>
        </p:nvSpPr>
        <p:spPr>
          <a:xfrm>
            <a:off x="5238545" y="3990392"/>
            <a:ext cx="450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1.6</a:t>
            </a:r>
            <a:endParaRPr sz="1400"/>
          </a:p>
        </p:txBody>
      </p:sp>
      <p:sp>
        <p:nvSpPr>
          <p:cNvPr id="958" name="Google Shape;958;p79"/>
          <p:cNvSpPr txBox="1"/>
          <p:nvPr>
            <p:ph idx="1" type="body"/>
          </p:nvPr>
        </p:nvSpPr>
        <p:spPr>
          <a:xfrm>
            <a:off x="705647" y="3888032"/>
            <a:ext cx="168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0</a:t>
            </a:r>
            <a:endParaRPr sz="1400"/>
          </a:p>
        </p:txBody>
      </p:sp>
      <p:sp>
        <p:nvSpPr>
          <p:cNvPr id="959" name="Google Shape;959;p79"/>
          <p:cNvSpPr txBox="1"/>
          <p:nvPr>
            <p:ph idx="1" type="body"/>
          </p:nvPr>
        </p:nvSpPr>
        <p:spPr>
          <a:xfrm>
            <a:off x="617052" y="3498300"/>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10</a:t>
            </a:r>
            <a:endParaRPr sz="1400"/>
          </a:p>
        </p:txBody>
      </p:sp>
      <p:sp>
        <p:nvSpPr>
          <p:cNvPr id="960" name="Google Shape;960;p79"/>
          <p:cNvSpPr txBox="1"/>
          <p:nvPr>
            <p:ph idx="1" type="body"/>
          </p:nvPr>
        </p:nvSpPr>
        <p:spPr>
          <a:xfrm>
            <a:off x="617052" y="3121184"/>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a:t>
            </a:r>
            <a:endParaRPr sz="1400"/>
          </a:p>
        </p:txBody>
      </p:sp>
      <p:sp>
        <p:nvSpPr>
          <p:cNvPr id="961" name="Google Shape;961;p79"/>
          <p:cNvSpPr txBox="1"/>
          <p:nvPr>
            <p:ph idx="1" type="body"/>
          </p:nvPr>
        </p:nvSpPr>
        <p:spPr>
          <a:xfrm>
            <a:off x="617052" y="2744068"/>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30</a:t>
            </a:r>
            <a:endParaRPr sz="1400"/>
          </a:p>
        </p:txBody>
      </p:sp>
      <p:sp>
        <p:nvSpPr>
          <p:cNvPr id="962" name="Google Shape;962;p79"/>
          <p:cNvSpPr txBox="1"/>
          <p:nvPr>
            <p:ph idx="1" type="body"/>
          </p:nvPr>
        </p:nvSpPr>
        <p:spPr>
          <a:xfrm>
            <a:off x="617052" y="2366952"/>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40</a:t>
            </a:r>
            <a:endParaRPr sz="1400"/>
          </a:p>
        </p:txBody>
      </p:sp>
      <p:sp>
        <p:nvSpPr>
          <p:cNvPr id="963" name="Google Shape;963;p79"/>
          <p:cNvSpPr txBox="1"/>
          <p:nvPr>
            <p:ph idx="1" type="body"/>
          </p:nvPr>
        </p:nvSpPr>
        <p:spPr>
          <a:xfrm>
            <a:off x="617052" y="2002452"/>
            <a:ext cx="2574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50</a:t>
            </a:r>
            <a:endParaRPr sz="1400"/>
          </a:p>
        </p:txBody>
      </p:sp>
      <p:sp>
        <p:nvSpPr>
          <p:cNvPr id="964" name="Google Shape;964;p79"/>
          <p:cNvSpPr txBox="1"/>
          <p:nvPr>
            <p:ph idx="1" type="body"/>
          </p:nvPr>
        </p:nvSpPr>
        <p:spPr>
          <a:xfrm>
            <a:off x="765290" y="4295200"/>
            <a:ext cx="48315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965" name="Google Shape;965;p79"/>
          <p:cNvSpPr txBox="1"/>
          <p:nvPr>
            <p:ph idx="1" type="body"/>
          </p:nvPr>
        </p:nvSpPr>
        <p:spPr>
          <a:xfrm rot="-5400000">
            <a:off x="-139075" y="28484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966" name="Google Shape;966;p79"/>
          <p:cNvSpPr txBox="1"/>
          <p:nvPr>
            <p:ph idx="1" type="body"/>
          </p:nvPr>
        </p:nvSpPr>
        <p:spPr>
          <a:xfrm>
            <a:off x="5774400" y="1724400"/>
            <a:ext cx="2981100" cy="2635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We could compare different periods of time by splitting the data up into parts.</a:t>
            </a:r>
            <a:endParaRPr sz="1800"/>
          </a:p>
          <a:p>
            <a:pPr indent="0" lvl="0" marL="0" rtl="0" algn="l">
              <a:spcBef>
                <a:spcPts val="1000"/>
              </a:spcBef>
              <a:spcAft>
                <a:spcPts val="1000"/>
              </a:spcAft>
              <a:buNone/>
            </a:pPr>
            <a:r>
              <a:rPr lang="en-GB" sz="1800"/>
              <a:t>E.g. We could split the data into two equal time periods: 1851 to 1937 and 1938 to 2024.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id="971" name="Google Shape;971;p80"/>
          <p:cNvPicPr preferRelativeResize="0"/>
          <p:nvPr/>
        </p:nvPicPr>
        <p:blipFill>
          <a:blip r:embed="rId3">
            <a:alphaModFix/>
          </a:blip>
          <a:stretch>
            <a:fillRect/>
          </a:stretch>
        </p:blipFill>
        <p:spPr>
          <a:xfrm>
            <a:off x="880543" y="1713908"/>
            <a:ext cx="3372178" cy="2274000"/>
          </a:xfrm>
          <a:prstGeom prst="rect">
            <a:avLst/>
          </a:prstGeom>
          <a:noFill/>
          <a:ln>
            <a:noFill/>
          </a:ln>
        </p:spPr>
      </p:pic>
      <p:sp>
        <p:nvSpPr>
          <p:cNvPr id="972" name="Google Shape;972;p80"/>
          <p:cNvSpPr txBox="1"/>
          <p:nvPr>
            <p:ph idx="1" type="body"/>
          </p:nvPr>
        </p:nvSpPr>
        <p:spPr>
          <a:xfrm>
            <a:off x="324000" y="810000"/>
            <a:ext cx="84753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These graphs show the same data as the previous one, but each period of time is represented separately. </a:t>
            </a:r>
            <a:endParaRPr sz="1800"/>
          </a:p>
        </p:txBody>
      </p:sp>
      <p:sp>
        <p:nvSpPr>
          <p:cNvPr id="973" name="Google Shape;973;p8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974" name="Google Shape;974;p80"/>
          <p:cNvCxnSpPr/>
          <p:nvPr/>
        </p:nvCxnSpPr>
        <p:spPr>
          <a:xfrm>
            <a:off x="886880"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975" name="Google Shape;975;p80"/>
          <p:cNvCxnSpPr/>
          <p:nvPr/>
        </p:nvCxnSpPr>
        <p:spPr>
          <a:xfrm rot="10800000">
            <a:off x="880549"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976" name="Google Shape;976;p80"/>
          <p:cNvSpPr txBox="1"/>
          <p:nvPr>
            <p:ph idx="1" type="body"/>
          </p:nvPr>
        </p:nvSpPr>
        <p:spPr>
          <a:xfrm>
            <a:off x="1020303"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977" name="Google Shape;977;p80"/>
          <p:cNvSpPr txBox="1"/>
          <p:nvPr>
            <p:ph idx="1" type="body"/>
          </p:nvPr>
        </p:nvSpPr>
        <p:spPr>
          <a:xfrm>
            <a:off x="134859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978" name="Google Shape;978;p80"/>
          <p:cNvSpPr txBox="1"/>
          <p:nvPr>
            <p:ph idx="1" type="body"/>
          </p:nvPr>
        </p:nvSpPr>
        <p:spPr>
          <a:xfrm>
            <a:off x="1755580"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979" name="Google Shape;979;p80"/>
          <p:cNvSpPr txBox="1"/>
          <p:nvPr>
            <p:ph idx="1" type="body"/>
          </p:nvPr>
        </p:nvSpPr>
        <p:spPr>
          <a:xfrm>
            <a:off x="200195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980" name="Google Shape;980;p80"/>
          <p:cNvSpPr txBox="1"/>
          <p:nvPr>
            <p:ph idx="1" type="body"/>
          </p:nvPr>
        </p:nvSpPr>
        <p:spPr>
          <a:xfrm>
            <a:off x="231922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981" name="Google Shape;981;p80"/>
          <p:cNvSpPr txBox="1"/>
          <p:nvPr>
            <p:ph idx="1" type="body"/>
          </p:nvPr>
        </p:nvSpPr>
        <p:spPr>
          <a:xfrm>
            <a:off x="26220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982" name="Google Shape;982;p80"/>
          <p:cNvSpPr txBox="1"/>
          <p:nvPr>
            <p:ph idx="1" type="body"/>
          </p:nvPr>
        </p:nvSpPr>
        <p:spPr>
          <a:xfrm>
            <a:off x="2915794"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983" name="Google Shape;983;p80"/>
          <p:cNvSpPr txBox="1"/>
          <p:nvPr>
            <p:ph idx="1" type="body"/>
          </p:nvPr>
        </p:nvSpPr>
        <p:spPr>
          <a:xfrm>
            <a:off x="324717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984" name="Google Shape;984;p80"/>
          <p:cNvSpPr txBox="1"/>
          <p:nvPr>
            <p:ph idx="1" type="body"/>
          </p:nvPr>
        </p:nvSpPr>
        <p:spPr>
          <a:xfrm>
            <a:off x="35452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985" name="Google Shape;985;p80"/>
          <p:cNvSpPr txBox="1"/>
          <p:nvPr>
            <p:ph idx="1" type="body"/>
          </p:nvPr>
        </p:nvSpPr>
        <p:spPr>
          <a:xfrm>
            <a:off x="38574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986" name="Google Shape;986;p80"/>
          <p:cNvSpPr txBox="1"/>
          <p:nvPr>
            <p:ph idx="1" type="body"/>
          </p:nvPr>
        </p:nvSpPr>
        <p:spPr>
          <a:xfrm>
            <a:off x="413675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987" name="Google Shape;987;p80"/>
          <p:cNvSpPr txBox="1"/>
          <p:nvPr>
            <p:ph idx="1" type="body"/>
          </p:nvPr>
        </p:nvSpPr>
        <p:spPr>
          <a:xfrm>
            <a:off x="758038"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988" name="Google Shape;988;p80"/>
          <p:cNvSpPr txBox="1"/>
          <p:nvPr>
            <p:ph idx="1" type="body"/>
          </p:nvPr>
        </p:nvSpPr>
        <p:spPr>
          <a:xfrm>
            <a:off x="670190"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989" name="Google Shape;989;p80"/>
          <p:cNvSpPr txBox="1"/>
          <p:nvPr>
            <p:ph idx="1" type="body"/>
          </p:nvPr>
        </p:nvSpPr>
        <p:spPr>
          <a:xfrm>
            <a:off x="670190"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990" name="Google Shape;990;p80"/>
          <p:cNvSpPr txBox="1"/>
          <p:nvPr>
            <p:ph idx="1" type="body"/>
          </p:nvPr>
        </p:nvSpPr>
        <p:spPr>
          <a:xfrm>
            <a:off x="670190"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991" name="Google Shape;991;p80"/>
          <p:cNvSpPr txBox="1"/>
          <p:nvPr>
            <p:ph idx="1" type="body"/>
          </p:nvPr>
        </p:nvSpPr>
        <p:spPr>
          <a:xfrm>
            <a:off x="670190"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992" name="Google Shape;992;p80"/>
          <p:cNvSpPr txBox="1"/>
          <p:nvPr>
            <p:ph idx="1" type="body"/>
          </p:nvPr>
        </p:nvSpPr>
        <p:spPr>
          <a:xfrm>
            <a:off x="670190"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993" name="Google Shape;993;p80"/>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Both horizontal axes show </a:t>
            </a:r>
            <a:r>
              <a:rPr lang="en-GB" sz="1600"/>
              <a:t>annual global mean temperature expressed as a difference from pre-industrial conditions (°C).</a:t>
            </a:r>
            <a:endParaRPr sz="1600"/>
          </a:p>
        </p:txBody>
      </p:sp>
      <p:sp>
        <p:nvSpPr>
          <p:cNvPr id="994" name="Google Shape;994;p80"/>
          <p:cNvSpPr txBox="1"/>
          <p:nvPr>
            <p:ph idx="1" type="body"/>
          </p:nvPr>
        </p:nvSpPr>
        <p:spPr>
          <a:xfrm rot="-5400000">
            <a:off x="-94415"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pic>
        <p:nvPicPr>
          <p:cNvPr id="995" name="Google Shape;995;p80"/>
          <p:cNvPicPr preferRelativeResize="0"/>
          <p:nvPr/>
        </p:nvPicPr>
        <p:blipFill>
          <a:blip r:embed="rId4">
            <a:alphaModFix/>
          </a:blip>
          <a:stretch>
            <a:fillRect/>
          </a:stretch>
        </p:blipFill>
        <p:spPr>
          <a:xfrm>
            <a:off x="5191899" y="1722325"/>
            <a:ext cx="3364315" cy="2259275"/>
          </a:xfrm>
          <a:prstGeom prst="rect">
            <a:avLst/>
          </a:prstGeom>
          <a:noFill/>
          <a:ln>
            <a:noFill/>
          </a:ln>
        </p:spPr>
      </p:pic>
      <p:cxnSp>
        <p:nvCxnSpPr>
          <p:cNvPr id="996" name="Google Shape;996;p80"/>
          <p:cNvCxnSpPr/>
          <p:nvPr/>
        </p:nvCxnSpPr>
        <p:spPr>
          <a:xfrm>
            <a:off x="5198235"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997" name="Google Shape;997;p80"/>
          <p:cNvCxnSpPr/>
          <p:nvPr/>
        </p:nvCxnSpPr>
        <p:spPr>
          <a:xfrm rot="10800000">
            <a:off x="5191905"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998" name="Google Shape;998;p80"/>
          <p:cNvSpPr txBox="1"/>
          <p:nvPr>
            <p:ph idx="1" type="body"/>
          </p:nvPr>
        </p:nvSpPr>
        <p:spPr>
          <a:xfrm>
            <a:off x="533165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999" name="Google Shape;999;p80"/>
          <p:cNvSpPr txBox="1"/>
          <p:nvPr>
            <p:ph idx="1" type="body"/>
          </p:nvPr>
        </p:nvSpPr>
        <p:spPr>
          <a:xfrm>
            <a:off x="565994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000" name="Google Shape;1000;p80"/>
          <p:cNvSpPr txBox="1"/>
          <p:nvPr>
            <p:ph idx="1" type="body"/>
          </p:nvPr>
        </p:nvSpPr>
        <p:spPr>
          <a:xfrm>
            <a:off x="6066935"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001" name="Google Shape;1001;p80"/>
          <p:cNvSpPr txBox="1"/>
          <p:nvPr>
            <p:ph idx="1" type="body"/>
          </p:nvPr>
        </p:nvSpPr>
        <p:spPr>
          <a:xfrm>
            <a:off x="631330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002" name="Google Shape;1002;p80"/>
          <p:cNvSpPr txBox="1"/>
          <p:nvPr>
            <p:ph idx="1" type="body"/>
          </p:nvPr>
        </p:nvSpPr>
        <p:spPr>
          <a:xfrm>
            <a:off x="663058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003" name="Google Shape;1003;p80"/>
          <p:cNvSpPr txBox="1"/>
          <p:nvPr>
            <p:ph idx="1" type="body"/>
          </p:nvPr>
        </p:nvSpPr>
        <p:spPr>
          <a:xfrm>
            <a:off x="6933381"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004" name="Google Shape;1004;p80"/>
          <p:cNvSpPr txBox="1"/>
          <p:nvPr>
            <p:ph idx="1" type="body"/>
          </p:nvPr>
        </p:nvSpPr>
        <p:spPr>
          <a:xfrm>
            <a:off x="722714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005" name="Google Shape;1005;p80"/>
          <p:cNvSpPr txBox="1"/>
          <p:nvPr>
            <p:ph idx="1" type="body"/>
          </p:nvPr>
        </p:nvSpPr>
        <p:spPr>
          <a:xfrm>
            <a:off x="755853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006" name="Google Shape;1006;p80"/>
          <p:cNvSpPr txBox="1"/>
          <p:nvPr>
            <p:ph idx="1" type="body"/>
          </p:nvPr>
        </p:nvSpPr>
        <p:spPr>
          <a:xfrm>
            <a:off x="785662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007" name="Google Shape;1007;p80"/>
          <p:cNvSpPr txBox="1"/>
          <p:nvPr>
            <p:ph idx="1" type="body"/>
          </p:nvPr>
        </p:nvSpPr>
        <p:spPr>
          <a:xfrm>
            <a:off x="81688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008" name="Google Shape;1008;p80"/>
          <p:cNvSpPr txBox="1"/>
          <p:nvPr>
            <p:ph idx="1" type="body"/>
          </p:nvPr>
        </p:nvSpPr>
        <p:spPr>
          <a:xfrm>
            <a:off x="844811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009" name="Google Shape;1009;p80"/>
          <p:cNvSpPr txBox="1"/>
          <p:nvPr>
            <p:ph idx="1" type="body"/>
          </p:nvPr>
        </p:nvSpPr>
        <p:spPr>
          <a:xfrm>
            <a:off x="5069394"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010" name="Google Shape;1010;p80"/>
          <p:cNvSpPr txBox="1"/>
          <p:nvPr>
            <p:ph idx="1" type="body"/>
          </p:nvPr>
        </p:nvSpPr>
        <p:spPr>
          <a:xfrm>
            <a:off x="4981546"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011" name="Google Shape;1011;p80"/>
          <p:cNvSpPr txBox="1"/>
          <p:nvPr>
            <p:ph idx="1" type="body"/>
          </p:nvPr>
        </p:nvSpPr>
        <p:spPr>
          <a:xfrm>
            <a:off x="4981546"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012" name="Google Shape;1012;p80"/>
          <p:cNvSpPr txBox="1"/>
          <p:nvPr>
            <p:ph idx="1" type="body"/>
          </p:nvPr>
        </p:nvSpPr>
        <p:spPr>
          <a:xfrm>
            <a:off x="4981546"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013" name="Google Shape;1013;p80"/>
          <p:cNvSpPr txBox="1"/>
          <p:nvPr>
            <p:ph idx="1" type="body"/>
          </p:nvPr>
        </p:nvSpPr>
        <p:spPr>
          <a:xfrm>
            <a:off x="4981546"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014" name="Google Shape;1014;p80"/>
          <p:cNvSpPr txBox="1"/>
          <p:nvPr>
            <p:ph idx="1" type="body"/>
          </p:nvPr>
        </p:nvSpPr>
        <p:spPr>
          <a:xfrm>
            <a:off x="4981546"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015" name="Google Shape;1015;p80"/>
          <p:cNvSpPr txBox="1"/>
          <p:nvPr>
            <p:ph idx="1" type="body"/>
          </p:nvPr>
        </p:nvSpPr>
        <p:spPr>
          <a:xfrm rot="-5400000">
            <a:off x="4216941"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016" name="Google Shape;1016;p80"/>
          <p:cNvSpPr txBox="1"/>
          <p:nvPr>
            <p:ph idx="1" type="body"/>
          </p:nvPr>
        </p:nvSpPr>
        <p:spPr>
          <a:xfrm>
            <a:off x="1848000"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1937</a:t>
            </a:r>
            <a:endParaRPr sz="1800">
              <a:highlight>
                <a:schemeClr val="lt1"/>
              </a:highlight>
            </a:endParaRPr>
          </a:p>
        </p:txBody>
      </p:sp>
      <p:sp>
        <p:nvSpPr>
          <p:cNvPr id="1017" name="Google Shape;1017;p80"/>
          <p:cNvSpPr txBox="1"/>
          <p:nvPr>
            <p:ph idx="1" type="body"/>
          </p:nvPr>
        </p:nvSpPr>
        <p:spPr>
          <a:xfrm>
            <a:off x="6242368"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1938</a:t>
            </a:r>
            <a:r>
              <a:rPr lang="en-GB" sz="1800">
                <a:highlight>
                  <a:schemeClr val="lt1"/>
                </a:highlight>
              </a:rPr>
              <a:t> to 2024</a:t>
            </a:r>
            <a:endParaRPr sz="1800">
              <a:highlight>
                <a:schemeClr val="lt1"/>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pic>
        <p:nvPicPr>
          <p:cNvPr id="1022" name="Google Shape;1022;p81"/>
          <p:cNvPicPr preferRelativeResize="0"/>
          <p:nvPr/>
        </p:nvPicPr>
        <p:blipFill>
          <a:blip r:embed="rId3">
            <a:alphaModFix/>
          </a:blip>
          <a:stretch>
            <a:fillRect/>
          </a:stretch>
        </p:blipFill>
        <p:spPr>
          <a:xfrm>
            <a:off x="880543" y="1713908"/>
            <a:ext cx="3372178" cy="2274000"/>
          </a:xfrm>
          <a:prstGeom prst="rect">
            <a:avLst/>
          </a:prstGeom>
          <a:noFill/>
          <a:ln>
            <a:noFill/>
          </a:ln>
        </p:spPr>
      </p:pic>
      <p:sp>
        <p:nvSpPr>
          <p:cNvPr id="1023" name="Google Shape;1023;p81"/>
          <p:cNvSpPr txBox="1"/>
          <p:nvPr>
            <p:ph idx="1" type="body"/>
          </p:nvPr>
        </p:nvSpPr>
        <p:spPr>
          <a:xfrm>
            <a:off x="324000" y="810000"/>
            <a:ext cx="84753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By representing each period of time separately, we can make comparisons and draw conclusions.</a:t>
            </a:r>
            <a:endParaRPr sz="1800"/>
          </a:p>
        </p:txBody>
      </p:sp>
      <p:sp>
        <p:nvSpPr>
          <p:cNvPr id="1024" name="Google Shape;1024;p81"/>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025" name="Google Shape;1025;p81"/>
          <p:cNvCxnSpPr/>
          <p:nvPr/>
        </p:nvCxnSpPr>
        <p:spPr>
          <a:xfrm>
            <a:off x="886880"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026" name="Google Shape;1026;p81"/>
          <p:cNvCxnSpPr/>
          <p:nvPr/>
        </p:nvCxnSpPr>
        <p:spPr>
          <a:xfrm rot="10800000">
            <a:off x="880549"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027" name="Google Shape;1027;p81"/>
          <p:cNvSpPr txBox="1"/>
          <p:nvPr>
            <p:ph idx="1" type="body"/>
          </p:nvPr>
        </p:nvSpPr>
        <p:spPr>
          <a:xfrm>
            <a:off x="1020303"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028" name="Google Shape;1028;p81"/>
          <p:cNvSpPr txBox="1"/>
          <p:nvPr>
            <p:ph idx="1" type="body"/>
          </p:nvPr>
        </p:nvSpPr>
        <p:spPr>
          <a:xfrm>
            <a:off x="134859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029" name="Google Shape;1029;p81"/>
          <p:cNvSpPr txBox="1"/>
          <p:nvPr>
            <p:ph idx="1" type="body"/>
          </p:nvPr>
        </p:nvSpPr>
        <p:spPr>
          <a:xfrm>
            <a:off x="1755580"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030" name="Google Shape;1030;p81"/>
          <p:cNvSpPr txBox="1"/>
          <p:nvPr>
            <p:ph idx="1" type="body"/>
          </p:nvPr>
        </p:nvSpPr>
        <p:spPr>
          <a:xfrm>
            <a:off x="200195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031" name="Google Shape;1031;p81"/>
          <p:cNvSpPr txBox="1"/>
          <p:nvPr>
            <p:ph idx="1" type="body"/>
          </p:nvPr>
        </p:nvSpPr>
        <p:spPr>
          <a:xfrm>
            <a:off x="231922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032" name="Google Shape;1032;p81"/>
          <p:cNvSpPr txBox="1"/>
          <p:nvPr>
            <p:ph idx="1" type="body"/>
          </p:nvPr>
        </p:nvSpPr>
        <p:spPr>
          <a:xfrm>
            <a:off x="26220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033" name="Google Shape;1033;p81"/>
          <p:cNvSpPr txBox="1"/>
          <p:nvPr>
            <p:ph idx="1" type="body"/>
          </p:nvPr>
        </p:nvSpPr>
        <p:spPr>
          <a:xfrm>
            <a:off x="2915794"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034" name="Google Shape;1034;p81"/>
          <p:cNvSpPr txBox="1"/>
          <p:nvPr>
            <p:ph idx="1" type="body"/>
          </p:nvPr>
        </p:nvSpPr>
        <p:spPr>
          <a:xfrm>
            <a:off x="324717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035" name="Google Shape;1035;p81"/>
          <p:cNvSpPr txBox="1"/>
          <p:nvPr>
            <p:ph idx="1" type="body"/>
          </p:nvPr>
        </p:nvSpPr>
        <p:spPr>
          <a:xfrm>
            <a:off x="35452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036" name="Google Shape;1036;p81"/>
          <p:cNvSpPr txBox="1"/>
          <p:nvPr>
            <p:ph idx="1" type="body"/>
          </p:nvPr>
        </p:nvSpPr>
        <p:spPr>
          <a:xfrm>
            <a:off x="38574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037" name="Google Shape;1037;p81"/>
          <p:cNvSpPr txBox="1"/>
          <p:nvPr>
            <p:ph idx="1" type="body"/>
          </p:nvPr>
        </p:nvSpPr>
        <p:spPr>
          <a:xfrm>
            <a:off x="413675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038" name="Google Shape;1038;p81"/>
          <p:cNvSpPr txBox="1"/>
          <p:nvPr>
            <p:ph idx="1" type="body"/>
          </p:nvPr>
        </p:nvSpPr>
        <p:spPr>
          <a:xfrm>
            <a:off x="758038"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039" name="Google Shape;1039;p81"/>
          <p:cNvSpPr txBox="1"/>
          <p:nvPr>
            <p:ph idx="1" type="body"/>
          </p:nvPr>
        </p:nvSpPr>
        <p:spPr>
          <a:xfrm>
            <a:off x="670190"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040" name="Google Shape;1040;p81"/>
          <p:cNvSpPr txBox="1"/>
          <p:nvPr>
            <p:ph idx="1" type="body"/>
          </p:nvPr>
        </p:nvSpPr>
        <p:spPr>
          <a:xfrm>
            <a:off x="670190"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041" name="Google Shape;1041;p81"/>
          <p:cNvSpPr txBox="1"/>
          <p:nvPr>
            <p:ph idx="1" type="body"/>
          </p:nvPr>
        </p:nvSpPr>
        <p:spPr>
          <a:xfrm>
            <a:off x="670190"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042" name="Google Shape;1042;p81"/>
          <p:cNvSpPr txBox="1"/>
          <p:nvPr>
            <p:ph idx="1" type="body"/>
          </p:nvPr>
        </p:nvSpPr>
        <p:spPr>
          <a:xfrm>
            <a:off x="670190"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043" name="Google Shape;1043;p81"/>
          <p:cNvSpPr txBox="1"/>
          <p:nvPr>
            <p:ph idx="1" type="body"/>
          </p:nvPr>
        </p:nvSpPr>
        <p:spPr>
          <a:xfrm>
            <a:off x="670190"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044" name="Google Shape;1044;p81"/>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Both horizontal axes show annual global mean temperature expressed as a difference from pre-industrial conditions (°C).</a:t>
            </a:r>
            <a:endParaRPr sz="1600"/>
          </a:p>
        </p:txBody>
      </p:sp>
      <p:sp>
        <p:nvSpPr>
          <p:cNvPr id="1045" name="Google Shape;1045;p81"/>
          <p:cNvSpPr txBox="1"/>
          <p:nvPr>
            <p:ph idx="1" type="body"/>
          </p:nvPr>
        </p:nvSpPr>
        <p:spPr>
          <a:xfrm rot="-5400000">
            <a:off x="-94415"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pic>
        <p:nvPicPr>
          <p:cNvPr id="1046" name="Google Shape;1046;p81"/>
          <p:cNvPicPr preferRelativeResize="0"/>
          <p:nvPr/>
        </p:nvPicPr>
        <p:blipFill>
          <a:blip r:embed="rId4">
            <a:alphaModFix/>
          </a:blip>
          <a:stretch>
            <a:fillRect/>
          </a:stretch>
        </p:blipFill>
        <p:spPr>
          <a:xfrm>
            <a:off x="5191899" y="1722325"/>
            <a:ext cx="3364315" cy="2259275"/>
          </a:xfrm>
          <a:prstGeom prst="rect">
            <a:avLst/>
          </a:prstGeom>
          <a:noFill/>
          <a:ln>
            <a:noFill/>
          </a:ln>
        </p:spPr>
      </p:pic>
      <p:cxnSp>
        <p:nvCxnSpPr>
          <p:cNvPr id="1047" name="Google Shape;1047;p81"/>
          <p:cNvCxnSpPr/>
          <p:nvPr/>
        </p:nvCxnSpPr>
        <p:spPr>
          <a:xfrm>
            <a:off x="5198235"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048" name="Google Shape;1048;p81"/>
          <p:cNvCxnSpPr/>
          <p:nvPr/>
        </p:nvCxnSpPr>
        <p:spPr>
          <a:xfrm rot="10800000">
            <a:off x="5191905"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049" name="Google Shape;1049;p81"/>
          <p:cNvSpPr txBox="1"/>
          <p:nvPr>
            <p:ph idx="1" type="body"/>
          </p:nvPr>
        </p:nvSpPr>
        <p:spPr>
          <a:xfrm>
            <a:off x="533165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050" name="Google Shape;1050;p81"/>
          <p:cNvSpPr txBox="1"/>
          <p:nvPr>
            <p:ph idx="1" type="body"/>
          </p:nvPr>
        </p:nvSpPr>
        <p:spPr>
          <a:xfrm>
            <a:off x="565994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051" name="Google Shape;1051;p81"/>
          <p:cNvSpPr txBox="1"/>
          <p:nvPr>
            <p:ph idx="1" type="body"/>
          </p:nvPr>
        </p:nvSpPr>
        <p:spPr>
          <a:xfrm>
            <a:off x="6066935"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052" name="Google Shape;1052;p81"/>
          <p:cNvSpPr txBox="1"/>
          <p:nvPr>
            <p:ph idx="1" type="body"/>
          </p:nvPr>
        </p:nvSpPr>
        <p:spPr>
          <a:xfrm>
            <a:off x="631330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053" name="Google Shape;1053;p81"/>
          <p:cNvSpPr txBox="1"/>
          <p:nvPr>
            <p:ph idx="1" type="body"/>
          </p:nvPr>
        </p:nvSpPr>
        <p:spPr>
          <a:xfrm>
            <a:off x="663058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054" name="Google Shape;1054;p81"/>
          <p:cNvSpPr txBox="1"/>
          <p:nvPr>
            <p:ph idx="1" type="body"/>
          </p:nvPr>
        </p:nvSpPr>
        <p:spPr>
          <a:xfrm>
            <a:off x="6933381"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055" name="Google Shape;1055;p81"/>
          <p:cNvSpPr txBox="1"/>
          <p:nvPr>
            <p:ph idx="1" type="body"/>
          </p:nvPr>
        </p:nvSpPr>
        <p:spPr>
          <a:xfrm>
            <a:off x="722714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056" name="Google Shape;1056;p81"/>
          <p:cNvSpPr txBox="1"/>
          <p:nvPr>
            <p:ph idx="1" type="body"/>
          </p:nvPr>
        </p:nvSpPr>
        <p:spPr>
          <a:xfrm>
            <a:off x="755853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057" name="Google Shape;1057;p81"/>
          <p:cNvSpPr txBox="1"/>
          <p:nvPr>
            <p:ph idx="1" type="body"/>
          </p:nvPr>
        </p:nvSpPr>
        <p:spPr>
          <a:xfrm>
            <a:off x="785662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058" name="Google Shape;1058;p81"/>
          <p:cNvSpPr txBox="1"/>
          <p:nvPr>
            <p:ph idx="1" type="body"/>
          </p:nvPr>
        </p:nvSpPr>
        <p:spPr>
          <a:xfrm>
            <a:off x="81688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059" name="Google Shape;1059;p81"/>
          <p:cNvSpPr txBox="1"/>
          <p:nvPr>
            <p:ph idx="1" type="body"/>
          </p:nvPr>
        </p:nvSpPr>
        <p:spPr>
          <a:xfrm>
            <a:off x="844811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060" name="Google Shape;1060;p81"/>
          <p:cNvSpPr txBox="1"/>
          <p:nvPr>
            <p:ph idx="1" type="body"/>
          </p:nvPr>
        </p:nvSpPr>
        <p:spPr>
          <a:xfrm>
            <a:off x="5069394"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061" name="Google Shape;1061;p81"/>
          <p:cNvSpPr txBox="1"/>
          <p:nvPr>
            <p:ph idx="1" type="body"/>
          </p:nvPr>
        </p:nvSpPr>
        <p:spPr>
          <a:xfrm>
            <a:off x="4981546"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062" name="Google Shape;1062;p81"/>
          <p:cNvSpPr txBox="1"/>
          <p:nvPr>
            <p:ph idx="1" type="body"/>
          </p:nvPr>
        </p:nvSpPr>
        <p:spPr>
          <a:xfrm>
            <a:off x="4981546"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063" name="Google Shape;1063;p81"/>
          <p:cNvSpPr txBox="1"/>
          <p:nvPr>
            <p:ph idx="1" type="body"/>
          </p:nvPr>
        </p:nvSpPr>
        <p:spPr>
          <a:xfrm>
            <a:off x="4981546"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064" name="Google Shape;1064;p81"/>
          <p:cNvSpPr txBox="1"/>
          <p:nvPr>
            <p:ph idx="1" type="body"/>
          </p:nvPr>
        </p:nvSpPr>
        <p:spPr>
          <a:xfrm>
            <a:off x="4981546"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065" name="Google Shape;1065;p81"/>
          <p:cNvSpPr txBox="1"/>
          <p:nvPr>
            <p:ph idx="1" type="body"/>
          </p:nvPr>
        </p:nvSpPr>
        <p:spPr>
          <a:xfrm>
            <a:off x="4981546"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066" name="Google Shape;1066;p81"/>
          <p:cNvSpPr txBox="1"/>
          <p:nvPr>
            <p:ph idx="1" type="body"/>
          </p:nvPr>
        </p:nvSpPr>
        <p:spPr>
          <a:xfrm rot="-5400000">
            <a:off x="4216941"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067" name="Google Shape;1067;p81"/>
          <p:cNvSpPr txBox="1"/>
          <p:nvPr>
            <p:ph idx="1" type="body"/>
          </p:nvPr>
        </p:nvSpPr>
        <p:spPr>
          <a:xfrm>
            <a:off x="1848000"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1937</a:t>
            </a:r>
            <a:endParaRPr sz="1800">
              <a:highlight>
                <a:schemeClr val="lt1"/>
              </a:highlight>
            </a:endParaRPr>
          </a:p>
        </p:txBody>
      </p:sp>
      <p:sp>
        <p:nvSpPr>
          <p:cNvPr id="1068" name="Google Shape;1068;p81"/>
          <p:cNvSpPr txBox="1"/>
          <p:nvPr>
            <p:ph idx="1" type="body"/>
          </p:nvPr>
        </p:nvSpPr>
        <p:spPr>
          <a:xfrm>
            <a:off x="6242368"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1938 to 2024</a:t>
            </a:r>
            <a:endParaRPr sz="1800">
              <a:highlight>
                <a:schemeClr val="lt1"/>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pic>
        <p:nvPicPr>
          <p:cNvPr id="1073" name="Google Shape;1073;p82"/>
          <p:cNvPicPr preferRelativeResize="0"/>
          <p:nvPr/>
        </p:nvPicPr>
        <p:blipFill>
          <a:blip r:embed="rId3">
            <a:alphaModFix/>
          </a:blip>
          <a:stretch>
            <a:fillRect/>
          </a:stretch>
        </p:blipFill>
        <p:spPr>
          <a:xfrm>
            <a:off x="880543" y="1713908"/>
            <a:ext cx="3372178" cy="2274000"/>
          </a:xfrm>
          <a:prstGeom prst="rect">
            <a:avLst/>
          </a:prstGeom>
          <a:noFill/>
          <a:ln>
            <a:noFill/>
          </a:ln>
        </p:spPr>
      </p:pic>
      <p:sp>
        <p:nvSpPr>
          <p:cNvPr id="1074" name="Google Shape;1074;p82"/>
          <p:cNvSpPr txBox="1"/>
          <p:nvPr>
            <p:ph idx="1" type="body"/>
          </p:nvPr>
        </p:nvSpPr>
        <p:spPr>
          <a:xfrm>
            <a:off x="324000" y="810000"/>
            <a:ext cx="84753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All of the annual global mean temperatures between 1851 and 1937 were between 0.4</a:t>
            </a:r>
            <a:r>
              <a:rPr lang="en-GB" sz="1800"/>
              <a:t>°C</a:t>
            </a:r>
            <a:r>
              <a:rPr lang="en-GB" sz="1800"/>
              <a:t> colder and 0.4</a:t>
            </a:r>
            <a:r>
              <a:rPr lang="en-GB" sz="1800"/>
              <a:t>°C warmer than pre-industrial conditions. </a:t>
            </a:r>
            <a:endParaRPr sz="2000"/>
          </a:p>
        </p:txBody>
      </p:sp>
      <p:sp>
        <p:nvSpPr>
          <p:cNvPr id="1075" name="Google Shape;1075;p8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076" name="Google Shape;1076;p82"/>
          <p:cNvCxnSpPr/>
          <p:nvPr/>
        </p:nvCxnSpPr>
        <p:spPr>
          <a:xfrm>
            <a:off x="886880"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077" name="Google Shape;1077;p82"/>
          <p:cNvCxnSpPr/>
          <p:nvPr/>
        </p:nvCxnSpPr>
        <p:spPr>
          <a:xfrm rot="10800000">
            <a:off x="880549"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078" name="Google Shape;1078;p82"/>
          <p:cNvSpPr txBox="1"/>
          <p:nvPr>
            <p:ph idx="1" type="body"/>
          </p:nvPr>
        </p:nvSpPr>
        <p:spPr>
          <a:xfrm>
            <a:off x="1020303"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solidFill>
                  <a:schemeClr val="accent4"/>
                </a:solidFill>
              </a:rPr>
              <a:t>-0.4</a:t>
            </a:r>
            <a:endParaRPr sz="1200">
              <a:solidFill>
                <a:schemeClr val="accent4"/>
              </a:solidFill>
            </a:endParaRPr>
          </a:p>
        </p:txBody>
      </p:sp>
      <p:sp>
        <p:nvSpPr>
          <p:cNvPr id="1079" name="Google Shape;1079;p82"/>
          <p:cNvSpPr txBox="1"/>
          <p:nvPr>
            <p:ph idx="1" type="body"/>
          </p:nvPr>
        </p:nvSpPr>
        <p:spPr>
          <a:xfrm>
            <a:off x="134859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080" name="Google Shape;1080;p82"/>
          <p:cNvSpPr txBox="1"/>
          <p:nvPr>
            <p:ph idx="1" type="body"/>
          </p:nvPr>
        </p:nvSpPr>
        <p:spPr>
          <a:xfrm>
            <a:off x="1755580"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081" name="Google Shape;1081;p82"/>
          <p:cNvSpPr txBox="1"/>
          <p:nvPr>
            <p:ph idx="1" type="body"/>
          </p:nvPr>
        </p:nvSpPr>
        <p:spPr>
          <a:xfrm>
            <a:off x="200195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082" name="Google Shape;1082;p82"/>
          <p:cNvSpPr txBox="1"/>
          <p:nvPr>
            <p:ph idx="1" type="body"/>
          </p:nvPr>
        </p:nvSpPr>
        <p:spPr>
          <a:xfrm>
            <a:off x="231922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solidFill>
                  <a:schemeClr val="accent4"/>
                </a:solidFill>
              </a:rPr>
              <a:t>0.4</a:t>
            </a:r>
            <a:endParaRPr sz="1200">
              <a:solidFill>
                <a:schemeClr val="accent4"/>
              </a:solidFill>
            </a:endParaRPr>
          </a:p>
        </p:txBody>
      </p:sp>
      <p:sp>
        <p:nvSpPr>
          <p:cNvPr id="1083" name="Google Shape;1083;p82"/>
          <p:cNvSpPr txBox="1"/>
          <p:nvPr>
            <p:ph idx="1" type="body"/>
          </p:nvPr>
        </p:nvSpPr>
        <p:spPr>
          <a:xfrm>
            <a:off x="26220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084" name="Google Shape;1084;p82"/>
          <p:cNvSpPr txBox="1"/>
          <p:nvPr>
            <p:ph idx="1" type="body"/>
          </p:nvPr>
        </p:nvSpPr>
        <p:spPr>
          <a:xfrm>
            <a:off x="2915794"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085" name="Google Shape;1085;p82"/>
          <p:cNvSpPr txBox="1"/>
          <p:nvPr>
            <p:ph idx="1" type="body"/>
          </p:nvPr>
        </p:nvSpPr>
        <p:spPr>
          <a:xfrm>
            <a:off x="324717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086" name="Google Shape;1086;p82"/>
          <p:cNvSpPr txBox="1"/>
          <p:nvPr>
            <p:ph idx="1" type="body"/>
          </p:nvPr>
        </p:nvSpPr>
        <p:spPr>
          <a:xfrm>
            <a:off x="35452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087" name="Google Shape;1087;p82"/>
          <p:cNvSpPr txBox="1"/>
          <p:nvPr>
            <p:ph idx="1" type="body"/>
          </p:nvPr>
        </p:nvSpPr>
        <p:spPr>
          <a:xfrm>
            <a:off x="38574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088" name="Google Shape;1088;p82"/>
          <p:cNvSpPr txBox="1"/>
          <p:nvPr>
            <p:ph idx="1" type="body"/>
          </p:nvPr>
        </p:nvSpPr>
        <p:spPr>
          <a:xfrm>
            <a:off x="413675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089" name="Google Shape;1089;p82"/>
          <p:cNvSpPr txBox="1"/>
          <p:nvPr>
            <p:ph idx="1" type="body"/>
          </p:nvPr>
        </p:nvSpPr>
        <p:spPr>
          <a:xfrm>
            <a:off x="758038"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090" name="Google Shape;1090;p82"/>
          <p:cNvSpPr txBox="1"/>
          <p:nvPr>
            <p:ph idx="1" type="body"/>
          </p:nvPr>
        </p:nvSpPr>
        <p:spPr>
          <a:xfrm>
            <a:off x="670190"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091" name="Google Shape;1091;p82"/>
          <p:cNvSpPr txBox="1"/>
          <p:nvPr>
            <p:ph idx="1" type="body"/>
          </p:nvPr>
        </p:nvSpPr>
        <p:spPr>
          <a:xfrm>
            <a:off x="670190"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092" name="Google Shape;1092;p82"/>
          <p:cNvSpPr txBox="1"/>
          <p:nvPr>
            <p:ph idx="1" type="body"/>
          </p:nvPr>
        </p:nvSpPr>
        <p:spPr>
          <a:xfrm>
            <a:off x="670190"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093" name="Google Shape;1093;p82"/>
          <p:cNvSpPr txBox="1"/>
          <p:nvPr>
            <p:ph idx="1" type="body"/>
          </p:nvPr>
        </p:nvSpPr>
        <p:spPr>
          <a:xfrm>
            <a:off x="670190"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094" name="Google Shape;1094;p82"/>
          <p:cNvSpPr txBox="1"/>
          <p:nvPr>
            <p:ph idx="1" type="body"/>
          </p:nvPr>
        </p:nvSpPr>
        <p:spPr>
          <a:xfrm>
            <a:off x="670190"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095" name="Google Shape;1095;p82"/>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Both horizontal axes show annual global mean temperature expressed as a difference from pre-industrial conditions (°C).</a:t>
            </a:r>
            <a:endParaRPr sz="1600"/>
          </a:p>
        </p:txBody>
      </p:sp>
      <p:sp>
        <p:nvSpPr>
          <p:cNvPr id="1096" name="Google Shape;1096;p82"/>
          <p:cNvSpPr txBox="1"/>
          <p:nvPr>
            <p:ph idx="1" type="body"/>
          </p:nvPr>
        </p:nvSpPr>
        <p:spPr>
          <a:xfrm rot="-5400000">
            <a:off x="-94415"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pic>
        <p:nvPicPr>
          <p:cNvPr id="1097" name="Google Shape;1097;p82"/>
          <p:cNvPicPr preferRelativeResize="0"/>
          <p:nvPr/>
        </p:nvPicPr>
        <p:blipFill>
          <a:blip r:embed="rId4">
            <a:alphaModFix/>
          </a:blip>
          <a:stretch>
            <a:fillRect/>
          </a:stretch>
        </p:blipFill>
        <p:spPr>
          <a:xfrm>
            <a:off x="5191899" y="1722325"/>
            <a:ext cx="3364315" cy="2259275"/>
          </a:xfrm>
          <a:prstGeom prst="rect">
            <a:avLst/>
          </a:prstGeom>
          <a:noFill/>
          <a:ln>
            <a:noFill/>
          </a:ln>
        </p:spPr>
      </p:pic>
      <p:cxnSp>
        <p:nvCxnSpPr>
          <p:cNvPr id="1098" name="Google Shape;1098;p82"/>
          <p:cNvCxnSpPr/>
          <p:nvPr/>
        </p:nvCxnSpPr>
        <p:spPr>
          <a:xfrm>
            <a:off x="5198235"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099" name="Google Shape;1099;p82"/>
          <p:cNvCxnSpPr/>
          <p:nvPr/>
        </p:nvCxnSpPr>
        <p:spPr>
          <a:xfrm rot="10800000">
            <a:off x="5191905"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100" name="Google Shape;1100;p82"/>
          <p:cNvSpPr txBox="1"/>
          <p:nvPr>
            <p:ph idx="1" type="body"/>
          </p:nvPr>
        </p:nvSpPr>
        <p:spPr>
          <a:xfrm>
            <a:off x="533165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101" name="Google Shape;1101;p82"/>
          <p:cNvSpPr txBox="1"/>
          <p:nvPr>
            <p:ph idx="1" type="body"/>
          </p:nvPr>
        </p:nvSpPr>
        <p:spPr>
          <a:xfrm>
            <a:off x="565994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102" name="Google Shape;1102;p82"/>
          <p:cNvSpPr txBox="1"/>
          <p:nvPr>
            <p:ph idx="1" type="body"/>
          </p:nvPr>
        </p:nvSpPr>
        <p:spPr>
          <a:xfrm>
            <a:off x="6066935"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103" name="Google Shape;1103;p82"/>
          <p:cNvSpPr txBox="1"/>
          <p:nvPr>
            <p:ph idx="1" type="body"/>
          </p:nvPr>
        </p:nvSpPr>
        <p:spPr>
          <a:xfrm>
            <a:off x="631330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104" name="Google Shape;1104;p82"/>
          <p:cNvSpPr txBox="1"/>
          <p:nvPr>
            <p:ph idx="1" type="body"/>
          </p:nvPr>
        </p:nvSpPr>
        <p:spPr>
          <a:xfrm>
            <a:off x="663058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105" name="Google Shape;1105;p82"/>
          <p:cNvSpPr txBox="1"/>
          <p:nvPr>
            <p:ph idx="1" type="body"/>
          </p:nvPr>
        </p:nvSpPr>
        <p:spPr>
          <a:xfrm>
            <a:off x="6933381"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106" name="Google Shape;1106;p82"/>
          <p:cNvSpPr txBox="1"/>
          <p:nvPr>
            <p:ph idx="1" type="body"/>
          </p:nvPr>
        </p:nvSpPr>
        <p:spPr>
          <a:xfrm>
            <a:off x="722714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107" name="Google Shape;1107;p82"/>
          <p:cNvSpPr txBox="1"/>
          <p:nvPr>
            <p:ph idx="1" type="body"/>
          </p:nvPr>
        </p:nvSpPr>
        <p:spPr>
          <a:xfrm>
            <a:off x="755853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108" name="Google Shape;1108;p82"/>
          <p:cNvSpPr txBox="1"/>
          <p:nvPr>
            <p:ph idx="1" type="body"/>
          </p:nvPr>
        </p:nvSpPr>
        <p:spPr>
          <a:xfrm>
            <a:off x="785662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109" name="Google Shape;1109;p82"/>
          <p:cNvSpPr txBox="1"/>
          <p:nvPr>
            <p:ph idx="1" type="body"/>
          </p:nvPr>
        </p:nvSpPr>
        <p:spPr>
          <a:xfrm>
            <a:off x="81688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110" name="Google Shape;1110;p82"/>
          <p:cNvSpPr txBox="1"/>
          <p:nvPr>
            <p:ph idx="1" type="body"/>
          </p:nvPr>
        </p:nvSpPr>
        <p:spPr>
          <a:xfrm>
            <a:off x="844811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111" name="Google Shape;1111;p82"/>
          <p:cNvSpPr txBox="1"/>
          <p:nvPr>
            <p:ph idx="1" type="body"/>
          </p:nvPr>
        </p:nvSpPr>
        <p:spPr>
          <a:xfrm>
            <a:off x="5069394"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112" name="Google Shape;1112;p82"/>
          <p:cNvSpPr txBox="1"/>
          <p:nvPr>
            <p:ph idx="1" type="body"/>
          </p:nvPr>
        </p:nvSpPr>
        <p:spPr>
          <a:xfrm>
            <a:off x="4981546"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113" name="Google Shape;1113;p82"/>
          <p:cNvSpPr txBox="1"/>
          <p:nvPr>
            <p:ph idx="1" type="body"/>
          </p:nvPr>
        </p:nvSpPr>
        <p:spPr>
          <a:xfrm>
            <a:off x="4981546"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114" name="Google Shape;1114;p82"/>
          <p:cNvSpPr txBox="1"/>
          <p:nvPr>
            <p:ph idx="1" type="body"/>
          </p:nvPr>
        </p:nvSpPr>
        <p:spPr>
          <a:xfrm>
            <a:off x="4981546"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115" name="Google Shape;1115;p82"/>
          <p:cNvSpPr txBox="1"/>
          <p:nvPr>
            <p:ph idx="1" type="body"/>
          </p:nvPr>
        </p:nvSpPr>
        <p:spPr>
          <a:xfrm>
            <a:off x="4981546"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116" name="Google Shape;1116;p82"/>
          <p:cNvSpPr txBox="1"/>
          <p:nvPr>
            <p:ph idx="1" type="body"/>
          </p:nvPr>
        </p:nvSpPr>
        <p:spPr>
          <a:xfrm>
            <a:off x="4981546"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117" name="Google Shape;1117;p82"/>
          <p:cNvSpPr txBox="1"/>
          <p:nvPr>
            <p:ph idx="1" type="body"/>
          </p:nvPr>
        </p:nvSpPr>
        <p:spPr>
          <a:xfrm rot="-5400000">
            <a:off x="4216941"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118" name="Google Shape;1118;p82"/>
          <p:cNvSpPr txBox="1"/>
          <p:nvPr>
            <p:ph idx="1" type="body"/>
          </p:nvPr>
        </p:nvSpPr>
        <p:spPr>
          <a:xfrm>
            <a:off x="1848000"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1937</a:t>
            </a:r>
            <a:endParaRPr sz="1800">
              <a:highlight>
                <a:schemeClr val="lt1"/>
              </a:highlight>
            </a:endParaRPr>
          </a:p>
        </p:txBody>
      </p:sp>
      <p:sp>
        <p:nvSpPr>
          <p:cNvPr id="1119" name="Google Shape;1119;p82"/>
          <p:cNvSpPr txBox="1"/>
          <p:nvPr>
            <p:ph idx="1" type="body"/>
          </p:nvPr>
        </p:nvSpPr>
        <p:spPr>
          <a:xfrm>
            <a:off x="6242368"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1938 to 2024</a:t>
            </a:r>
            <a:endParaRPr sz="1800">
              <a:highlight>
                <a:schemeClr val="lt1"/>
              </a:highlight>
            </a:endParaRPr>
          </a:p>
        </p:txBody>
      </p:sp>
      <p:cxnSp>
        <p:nvCxnSpPr>
          <p:cNvPr id="1120" name="Google Shape;1120;p82"/>
          <p:cNvCxnSpPr>
            <a:stCxn id="1078" idx="0"/>
          </p:cNvCxnSpPr>
          <p:nvPr/>
        </p:nvCxnSpPr>
        <p:spPr>
          <a:xfrm rot="10800000">
            <a:off x="1188153" y="2130092"/>
            <a:ext cx="0" cy="1860300"/>
          </a:xfrm>
          <a:prstGeom prst="straightConnector1">
            <a:avLst/>
          </a:prstGeom>
          <a:noFill/>
          <a:ln cap="flat" cmpd="sng" w="38100">
            <a:solidFill>
              <a:schemeClr val="accent4"/>
            </a:solidFill>
            <a:prstDash val="lgDash"/>
            <a:round/>
            <a:headEnd len="med" w="med" type="none"/>
            <a:tailEnd len="med" w="med" type="none"/>
          </a:ln>
        </p:spPr>
      </p:cxnSp>
      <p:cxnSp>
        <p:nvCxnSpPr>
          <p:cNvPr id="1121" name="Google Shape;1121;p82"/>
          <p:cNvCxnSpPr/>
          <p:nvPr/>
        </p:nvCxnSpPr>
        <p:spPr>
          <a:xfrm rot="10800000">
            <a:off x="2407353" y="2130092"/>
            <a:ext cx="0" cy="1860300"/>
          </a:xfrm>
          <a:prstGeom prst="straightConnector1">
            <a:avLst/>
          </a:prstGeom>
          <a:noFill/>
          <a:ln cap="flat" cmpd="sng" w="38100">
            <a:solidFill>
              <a:schemeClr val="accent4"/>
            </a:solidFill>
            <a:prstDash val="lgDash"/>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pic>
        <p:nvPicPr>
          <p:cNvPr id="1126" name="Google Shape;1126;p83"/>
          <p:cNvPicPr preferRelativeResize="0"/>
          <p:nvPr/>
        </p:nvPicPr>
        <p:blipFill>
          <a:blip r:embed="rId3">
            <a:alphaModFix/>
          </a:blip>
          <a:stretch>
            <a:fillRect/>
          </a:stretch>
        </p:blipFill>
        <p:spPr>
          <a:xfrm>
            <a:off x="880543" y="1713908"/>
            <a:ext cx="3372178" cy="2274000"/>
          </a:xfrm>
          <a:prstGeom prst="rect">
            <a:avLst/>
          </a:prstGeom>
          <a:noFill/>
          <a:ln>
            <a:noFill/>
          </a:ln>
        </p:spPr>
      </p:pic>
      <p:sp>
        <p:nvSpPr>
          <p:cNvPr id="1127" name="Google Shape;1127;p83"/>
          <p:cNvSpPr txBox="1"/>
          <p:nvPr>
            <p:ph idx="1" type="body"/>
          </p:nvPr>
        </p:nvSpPr>
        <p:spPr>
          <a:xfrm>
            <a:off x="324000" y="810000"/>
            <a:ext cx="84753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All of the annual global mean temperatures between 1938 and 2024 were between 0 and 1.6°C warmer than pre-industrial conditions. </a:t>
            </a:r>
            <a:endParaRPr sz="2000"/>
          </a:p>
        </p:txBody>
      </p:sp>
      <p:sp>
        <p:nvSpPr>
          <p:cNvPr id="1128" name="Google Shape;1128;p8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129" name="Google Shape;1129;p83"/>
          <p:cNvCxnSpPr/>
          <p:nvPr/>
        </p:nvCxnSpPr>
        <p:spPr>
          <a:xfrm>
            <a:off x="886880"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130" name="Google Shape;1130;p83"/>
          <p:cNvCxnSpPr/>
          <p:nvPr/>
        </p:nvCxnSpPr>
        <p:spPr>
          <a:xfrm rot="10800000">
            <a:off x="880549"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131" name="Google Shape;1131;p83"/>
          <p:cNvSpPr txBox="1"/>
          <p:nvPr>
            <p:ph idx="1" type="body"/>
          </p:nvPr>
        </p:nvSpPr>
        <p:spPr>
          <a:xfrm>
            <a:off x="1020303"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solidFill>
                  <a:schemeClr val="accent4"/>
                </a:solidFill>
              </a:rPr>
              <a:t>-0.4</a:t>
            </a:r>
            <a:endParaRPr sz="1200">
              <a:solidFill>
                <a:schemeClr val="accent4"/>
              </a:solidFill>
            </a:endParaRPr>
          </a:p>
        </p:txBody>
      </p:sp>
      <p:sp>
        <p:nvSpPr>
          <p:cNvPr id="1132" name="Google Shape;1132;p83"/>
          <p:cNvSpPr txBox="1"/>
          <p:nvPr>
            <p:ph idx="1" type="body"/>
          </p:nvPr>
        </p:nvSpPr>
        <p:spPr>
          <a:xfrm>
            <a:off x="134859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133" name="Google Shape;1133;p83"/>
          <p:cNvSpPr txBox="1"/>
          <p:nvPr>
            <p:ph idx="1" type="body"/>
          </p:nvPr>
        </p:nvSpPr>
        <p:spPr>
          <a:xfrm>
            <a:off x="1755580"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134" name="Google Shape;1134;p83"/>
          <p:cNvSpPr txBox="1"/>
          <p:nvPr>
            <p:ph idx="1" type="body"/>
          </p:nvPr>
        </p:nvSpPr>
        <p:spPr>
          <a:xfrm>
            <a:off x="200195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135" name="Google Shape;1135;p83"/>
          <p:cNvSpPr txBox="1"/>
          <p:nvPr>
            <p:ph idx="1" type="body"/>
          </p:nvPr>
        </p:nvSpPr>
        <p:spPr>
          <a:xfrm>
            <a:off x="231922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solidFill>
                  <a:schemeClr val="accent4"/>
                </a:solidFill>
              </a:rPr>
              <a:t>0.4</a:t>
            </a:r>
            <a:endParaRPr sz="1200">
              <a:solidFill>
                <a:schemeClr val="accent4"/>
              </a:solidFill>
            </a:endParaRPr>
          </a:p>
        </p:txBody>
      </p:sp>
      <p:sp>
        <p:nvSpPr>
          <p:cNvPr id="1136" name="Google Shape;1136;p83"/>
          <p:cNvSpPr txBox="1"/>
          <p:nvPr>
            <p:ph idx="1" type="body"/>
          </p:nvPr>
        </p:nvSpPr>
        <p:spPr>
          <a:xfrm>
            <a:off x="26220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137" name="Google Shape;1137;p83"/>
          <p:cNvSpPr txBox="1"/>
          <p:nvPr>
            <p:ph idx="1" type="body"/>
          </p:nvPr>
        </p:nvSpPr>
        <p:spPr>
          <a:xfrm>
            <a:off x="2915794"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138" name="Google Shape;1138;p83"/>
          <p:cNvSpPr txBox="1"/>
          <p:nvPr>
            <p:ph idx="1" type="body"/>
          </p:nvPr>
        </p:nvSpPr>
        <p:spPr>
          <a:xfrm>
            <a:off x="324717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139" name="Google Shape;1139;p83"/>
          <p:cNvSpPr txBox="1"/>
          <p:nvPr>
            <p:ph idx="1" type="body"/>
          </p:nvPr>
        </p:nvSpPr>
        <p:spPr>
          <a:xfrm>
            <a:off x="35452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140" name="Google Shape;1140;p83"/>
          <p:cNvSpPr txBox="1"/>
          <p:nvPr>
            <p:ph idx="1" type="body"/>
          </p:nvPr>
        </p:nvSpPr>
        <p:spPr>
          <a:xfrm>
            <a:off x="38574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141" name="Google Shape;1141;p83"/>
          <p:cNvSpPr txBox="1"/>
          <p:nvPr>
            <p:ph idx="1" type="body"/>
          </p:nvPr>
        </p:nvSpPr>
        <p:spPr>
          <a:xfrm>
            <a:off x="413675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142" name="Google Shape;1142;p83"/>
          <p:cNvSpPr txBox="1"/>
          <p:nvPr>
            <p:ph idx="1" type="body"/>
          </p:nvPr>
        </p:nvSpPr>
        <p:spPr>
          <a:xfrm>
            <a:off x="758038"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143" name="Google Shape;1143;p83"/>
          <p:cNvSpPr txBox="1"/>
          <p:nvPr>
            <p:ph idx="1" type="body"/>
          </p:nvPr>
        </p:nvSpPr>
        <p:spPr>
          <a:xfrm>
            <a:off x="670190"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144" name="Google Shape;1144;p83"/>
          <p:cNvSpPr txBox="1"/>
          <p:nvPr>
            <p:ph idx="1" type="body"/>
          </p:nvPr>
        </p:nvSpPr>
        <p:spPr>
          <a:xfrm>
            <a:off x="670190"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145" name="Google Shape;1145;p83"/>
          <p:cNvSpPr txBox="1"/>
          <p:nvPr>
            <p:ph idx="1" type="body"/>
          </p:nvPr>
        </p:nvSpPr>
        <p:spPr>
          <a:xfrm>
            <a:off x="670190"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146" name="Google Shape;1146;p83"/>
          <p:cNvSpPr txBox="1"/>
          <p:nvPr>
            <p:ph idx="1" type="body"/>
          </p:nvPr>
        </p:nvSpPr>
        <p:spPr>
          <a:xfrm>
            <a:off x="670190"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147" name="Google Shape;1147;p83"/>
          <p:cNvSpPr txBox="1"/>
          <p:nvPr>
            <p:ph idx="1" type="body"/>
          </p:nvPr>
        </p:nvSpPr>
        <p:spPr>
          <a:xfrm>
            <a:off x="670190"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148" name="Google Shape;1148;p83"/>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Both horizontal axes show annual global mean temperature expressed as a difference from pre-industrial conditions (°C).</a:t>
            </a:r>
            <a:endParaRPr sz="1600"/>
          </a:p>
        </p:txBody>
      </p:sp>
      <p:sp>
        <p:nvSpPr>
          <p:cNvPr id="1149" name="Google Shape;1149;p83"/>
          <p:cNvSpPr txBox="1"/>
          <p:nvPr>
            <p:ph idx="1" type="body"/>
          </p:nvPr>
        </p:nvSpPr>
        <p:spPr>
          <a:xfrm rot="-5400000">
            <a:off x="-94415"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pic>
        <p:nvPicPr>
          <p:cNvPr id="1150" name="Google Shape;1150;p83"/>
          <p:cNvPicPr preferRelativeResize="0"/>
          <p:nvPr/>
        </p:nvPicPr>
        <p:blipFill>
          <a:blip r:embed="rId4">
            <a:alphaModFix/>
          </a:blip>
          <a:stretch>
            <a:fillRect/>
          </a:stretch>
        </p:blipFill>
        <p:spPr>
          <a:xfrm>
            <a:off x="5191899" y="1722325"/>
            <a:ext cx="3364315" cy="2259275"/>
          </a:xfrm>
          <a:prstGeom prst="rect">
            <a:avLst/>
          </a:prstGeom>
          <a:noFill/>
          <a:ln>
            <a:noFill/>
          </a:ln>
        </p:spPr>
      </p:pic>
      <p:cxnSp>
        <p:nvCxnSpPr>
          <p:cNvPr id="1151" name="Google Shape;1151;p83"/>
          <p:cNvCxnSpPr/>
          <p:nvPr/>
        </p:nvCxnSpPr>
        <p:spPr>
          <a:xfrm>
            <a:off x="5198235"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152" name="Google Shape;1152;p83"/>
          <p:cNvCxnSpPr/>
          <p:nvPr/>
        </p:nvCxnSpPr>
        <p:spPr>
          <a:xfrm rot="10800000">
            <a:off x="5191905"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153" name="Google Shape;1153;p83"/>
          <p:cNvSpPr txBox="1"/>
          <p:nvPr>
            <p:ph idx="1" type="body"/>
          </p:nvPr>
        </p:nvSpPr>
        <p:spPr>
          <a:xfrm>
            <a:off x="533165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154" name="Google Shape;1154;p83"/>
          <p:cNvSpPr txBox="1"/>
          <p:nvPr>
            <p:ph idx="1" type="body"/>
          </p:nvPr>
        </p:nvSpPr>
        <p:spPr>
          <a:xfrm>
            <a:off x="565994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155" name="Google Shape;1155;p83"/>
          <p:cNvSpPr txBox="1"/>
          <p:nvPr>
            <p:ph idx="1" type="body"/>
          </p:nvPr>
        </p:nvSpPr>
        <p:spPr>
          <a:xfrm>
            <a:off x="6066935"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solidFill>
                  <a:schemeClr val="accent4"/>
                </a:solidFill>
              </a:rPr>
              <a:t>0</a:t>
            </a:r>
            <a:endParaRPr sz="1200">
              <a:solidFill>
                <a:schemeClr val="accent4"/>
              </a:solidFill>
            </a:endParaRPr>
          </a:p>
        </p:txBody>
      </p:sp>
      <p:sp>
        <p:nvSpPr>
          <p:cNvPr id="1156" name="Google Shape;1156;p83"/>
          <p:cNvSpPr txBox="1"/>
          <p:nvPr>
            <p:ph idx="1" type="body"/>
          </p:nvPr>
        </p:nvSpPr>
        <p:spPr>
          <a:xfrm>
            <a:off x="631330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157" name="Google Shape;1157;p83"/>
          <p:cNvSpPr txBox="1"/>
          <p:nvPr>
            <p:ph idx="1" type="body"/>
          </p:nvPr>
        </p:nvSpPr>
        <p:spPr>
          <a:xfrm>
            <a:off x="663058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158" name="Google Shape;1158;p83"/>
          <p:cNvSpPr txBox="1"/>
          <p:nvPr>
            <p:ph idx="1" type="body"/>
          </p:nvPr>
        </p:nvSpPr>
        <p:spPr>
          <a:xfrm>
            <a:off x="6933381"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159" name="Google Shape;1159;p83"/>
          <p:cNvSpPr txBox="1"/>
          <p:nvPr>
            <p:ph idx="1" type="body"/>
          </p:nvPr>
        </p:nvSpPr>
        <p:spPr>
          <a:xfrm>
            <a:off x="722714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160" name="Google Shape;1160;p83"/>
          <p:cNvSpPr txBox="1"/>
          <p:nvPr>
            <p:ph idx="1" type="body"/>
          </p:nvPr>
        </p:nvSpPr>
        <p:spPr>
          <a:xfrm>
            <a:off x="755853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161" name="Google Shape;1161;p83"/>
          <p:cNvSpPr txBox="1"/>
          <p:nvPr>
            <p:ph idx="1" type="body"/>
          </p:nvPr>
        </p:nvSpPr>
        <p:spPr>
          <a:xfrm>
            <a:off x="785662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162" name="Google Shape;1162;p83"/>
          <p:cNvSpPr txBox="1"/>
          <p:nvPr>
            <p:ph idx="1" type="body"/>
          </p:nvPr>
        </p:nvSpPr>
        <p:spPr>
          <a:xfrm>
            <a:off x="81688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163" name="Google Shape;1163;p83"/>
          <p:cNvSpPr txBox="1"/>
          <p:nvPr>
            <p:ph idx="1" type="body"/>
          </p:nvPr>
        </p:nvSpPr>
        <p:spPr>
          <a:xfrm>
            <a:off x="844811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solidFill>
                  <a:schemeClr val="accent4"/>
                </a:solidFill>
              </a:rPr>
              <a:t>1.6</a:t>
            </a:r>
            <a:endParaRPr sz="1200">
              <a:solidFill>
                <a:schemeClr val="accent4"/>
              </a:solidFill>
            </a:endParaRPr>
          </a:p>
        </p:txBody>
      </p:sp>
      <p:sp>
        <p:nvSpPr>
          <p:cNvPr id="1164" name="Google Shape;1164;p83"/>
          <p:cNvSpPr txBox="1"/>
          <p:nvPr>
            <p:ph idx="1" type="body"/>
          </p:nvPr>
        </p:nvSpPr>
        <p:spPr>
          <a:xfrm>
            <a:off x="5069394"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165" name="Google Shape;1165;p83"/>
          <p:cNvSpPr txBox="1"/>
          <p:nvPr>
            <p:ph idx="1" type="body"/>
          </p:nvPr>
        </p:nvSpPr>
        <p:spPr>
          <a:xfrm>
            <a:off x="4981546"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166" name="Google Shape;1166;p83"/>
          <p:cNvSpPr txBox="1"/>
          <p:nvPr>
            <p:ph idx="1" type="body"/>
          </p:nvPr>
        </p:nvSpPr>
        <p:spPr>
          <a:xfrm>
            <a:off x="4981546"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167" name="Google Shape;1167;p83"/>
          <p:cNvSpPr txBox="1"/>
          <p:nvPr>
            <p:ph idx="1" type="body"/>
          </p:nvPr>
        </p:nvSpPr>
        <p:spPr>
          <a:xfrm>
            <a:off x="4981546"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168" name="Google Shape;1168;p83"/>
          <p:cNvSpPr txBox="1"/>
          <p:nvPr>
            <p:ph idx="1" type="body"/>
          </p:nvPr>
        </p:nvSpPr>
        <p:spPr>
          <a:xfrm>
            <a:off x="4981546"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169" name="Google Shape;1169;p83"/>
          <p:cNvSpPr txBox="1"/>
          <p:nvPr>
            <p:ph idx="1" type="body"/>
          </p:nvPr>
        </p:nvSpPr>
        <p:spPr>
          <a:xfrm>
            <a:off x="4981546"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170" name="Google Shape;1170;p83"/>
          <p:cNvSpPr txBox="1"/>
          <p:nvPr>
            <p:ph idx="1" type="body"/>
          </p:nvPr>
        </p:nvSpPr>
        <p:spPr>
          <a:xfrm rot="-5400000">
            <a:off x="4216941"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171" name="Google Shape;1171;p83"/>
          <p:cNvSpPr txBox="1"/>
          <p:nvPr>
            <p:ph idx="1" type="body"/>
          </p:nvPr>
        </p:nvSpPr>
        <p:spPr>
          <a:xfrm>
            <a:off x="1848000"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1937</a:t>
            </a:r>
            <a:endParaRPr sz="1800">
              <a:highlight>
                <a:schemeClr val="lt1"/>
              </a:highlight>
            </a:endParaRPr>
          </a:p>
        </p:txBody>
      </p:sp>
      <p:sp>
        <p:nvSpPr>
          <p:cNvPr id="1172" name="Google Shape;1172;p83"/>
          <p:cNvSpPr txBox="1"/>
          <p:nvPr>
            <p:ph idx="1" type="body"/>
          </p:nvPr>
        </p:nvSpPr>
        <p:spPr>
          <a:xfrm>
            <a:off x="6242368"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1938 to 2024</a:t>
            </a:r>
            <a:endParaRPr sz="1800">
              <a:highlight>
                <a:schemeClr val="lt1"/>
              </a:highlight>
            </a:endParaRPr>
          </a:p>
        </p:txBody>
      </p:sp>
      <p:cxnSp>
        <p:nvCxnSpPr>
          <p:cNvPr id="1173" name="Google Shape;1173;p83"/>
          <p:cNvCxnSpPr>
            <a:stCxn id="1131" idx="0"/>
          </p:cNvCxnSpPr>
          <p:nvPr/>
        </p:nvCxnSpPr>
        <p:spPr>
          <a:xfrm rot="10800000">
            <a:off x="1188153" y="2130092"/>
            <a:ext cx="0" cy="1860300"/>
          </a:xfrm>
          <a:prstGeom prst="straightConnector1">
            <a:avLst/>
          </a:prstGeom>
          <a:noFill/>
          <a:ln cap="flat" cmpd="sng" w="38100">
            <a:solidFill>
              <a:schemeClr val="accent4"/>
            </a:solidFill>
            <a:prstDash val="lgDash"/>
            <a:round/>
            <a:headEnd len="med" w="med" type="none"/>
            <a:tailEnd len="med" w="med" type="none"/>
          </a:ln>
        </p:spPr>
      </p:cxnSp>
      <p:cxnSp>
        <p:nvCxnSpPr>
          <p:cNvPr id="1174" name="Google Shape;1174;p83"/>
          <p:cNvCxnSpPr/>
          <p:nvPr/>
        </p:nvCxnSpPr>
        <p:spPr>
          <a:xfrm rot="10800000">
            <a:off x="2407353" y="2130092"/>
            <a:ext cx="0" cy="1860300"/>
          </a:xfrm>
          <a:prstGeom prst="straightConnector1">
            <a:avLst/>
          </a:prstGeom>
          <a:noFill/>
          <a:ln cap="flat" cmpd="sng" w="38100">
            <a:solidFill>
              <a:schemeClr val="accent4"/>
            </a:solidFill>
            <a:prstDash val="lgDash"/>
            <a:round/>
            <a:headEnd len="med" w="med" type="none"/>
            <a:tailEnd len="med" w="med" type="none"/>
          </a:ln>
        </p:spPr>
      </p:cxnSp>
      <p:cxnSp>
        <p:nvCxnSpPr>
          <p:cNvPr id="1175" name="Google Shape;1175;p83"/>
          <p:cNvCxnSpPr/>
          <p:nvPr/>
        </p:nvCxnSpPr>
        <p:spPr>
          <a:xfrm rot="10800000">
            <a:off x="6102801" y="2130092"/>
            <a:ext cx="0" cy="1860300"/>
          </a:xfrm>
          <a:prstGeom prst="straightConnector1">
            <a:avLst/>
          </a:prstGeom>
          <a:noFill/>
          <a:ln cap="flat" cmpd="sng" w="38100">
            <a:solidFill>
              <a:schemeClr val="accent4"/>
            </a:solidFill>
            <a:prstDash val="lgDash"/>
            <a:round/>
            <a:headEnd len="med" w="med" type="none"/>
            <a:tailEnd len="med" w="med" type="none"/>
          </a:ln>
        </p:spPr>
      </p:cxnSp>
      <p:cxnSp>
        <p:nvCxnSpPr>
          <p:cNvPr id="1176" name="Google Shape;1176;p83"/>
          <p:cNvCxnSpPr/>
          <p:nvPr/>
        </p:nvCxnSpPr>
        <p:spPr>
          <a:xfrm rot="10800000">
            <a:off x="8541201" y="2130092"/>
            <a:ext cx="0" cy="1860300"/>
          </a:xfrm>
          <a:prstGeom prst="straightConnector1">
            <a:avLst/>
          </a:prstGeom>
          <a:noFill/>
          <a:ln cap="flat" cmpd="sng" w="38100">
            <a:solidFill>
              <a:schemeClr val="accent4"/>
            </a:solidFill>
            <a:prstDash val="lgDash"/>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pic>
        <p:nvPicPr>
          <p:cNvPr id="1181" name="Google Shape;1181;p84"/>
          <p:cNvPicPr preferRelativeResize="0"/>
          <p:nvPr/>
        </p:nvPicPr>
        <p:blipFill>
          <a:blip r:embed="rId3">
            <a:alphaModFix/>
          </a:blip>
          <a:stretch>
            <a:fillRect/>
          </a:stretch>
        </p:blipFill>
        <p:spPr>
          <a:xfrm>
            <a:off x="880543" y="1713908"/>
            <a:ext cx="3372178" cy="2274000"/>
          </a:xfrm>
          <a:prstGeom prst="rect">
            <a:avLst/>
          </a:prstGeom>
          <a:noFill/>
          <a:ln>
            <a:noFill/>
          </a:ln>
        </p:spPr>
      </p:pic>
      <p:sp>
        <p:nvSpPr>
          <p:cNvPr id="1182" name="Google Shape;1182;p84"/>
          <p:cNvSpPr txBox="1"/>
          <p:nvPr>
            <p:ph idx="1" type="body"/>
          </p:nvPr>
        </p:nvSpPr>
        <p:spPr>
          <a:xfrm>
            <a:off x="324000" y="810000"/>
            <a:ext cx="84753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We could also compare the modal class for each time period.</a:t>
            </a:r>
            <a:endParaRPr sz="1800"/>
          </a:p>
        </p:txBody>
      </p:sp>
      <p:sp>
        <p:nvSpPr>
          <p:cNvPr id="1183" name="Google Shape;1183;p84"/>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184" name="Google Shape;1184;p84"/>
          <p:cNvCxnSpPr/>
          <p:nvPr/>
        </p:nvCxnSpPr>
        <p:spPr>
          <a:xfrm>
            <a:off x="886880"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185" name="Google Shape;1185;p84"/>
          <p:cNvCxnSpPr/>
          <p:nvPr/>
        </p:nvCxnSpPr>
        <p:spPr>
          <a:xfrm rot="10800000">
            <a:off x="880549"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186" name="Google Shape;1186;p84"/>
          <p:cNvSpPr txBox="1"/>
          <p:nvPr>
            <p:ph idx="1" type="body"/>
          </p:nvPr>
        </p:nvSpPr>
        <p:spPr>
          <a:xfrm>
            <a:off x="1020303"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187" name="Google Shape;1187;p84"/>
          <p:cNvSpPr txBox="1"/>
          <p:nvPr>
            <p:ph idx="1" type="body"/>
          </p:nvPr>
        </p:nvSpPr>
        <p:spPr>
          <a:xfrm>
            <a:off x="134859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188" name="Google Shape;1188;p84"/>
          <p:cNvSpPr txBox="1"/>
          <p:nvPr>
            <p:ph idx="1" type="body"/>
          </p:nvPr>
        </p:nvSpPr>
        <p:spPr>
          <a:xfrm>
            <a:off x="1755580"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189" name="Google Shape;1189;p84"/>
          <p:cNvSpPr txBox="1"/>
          <p:nvPr>
            <p:ph idx="1" type="body"/>
          </p:nvPr>
        </p:nvSpPr>
        <p:spPr>
          <a:xfrm>
            <a:off x="200195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190" name="Google Shape;1190;p84"/>
          <p:cNvSpPr txBox="1"/>
          <p:nvPr>
            <p:ph idx="1" type="body"/>
          </p:nvPr>
        </p:nvSpPr>
        <p:spPr>
          <a:xfrm>
            <a:off x="231922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191" name="Google Shape;1191;p84"/>
          <p:cNvSpPr txBox="1"/>
          <p:nvPr>
            <p:ph idx="1" type="body"/>
          </p:nvPr>
        </p:nvSpPr>
        <p:spPr>
          <a:xfrm>
            <a:off x="26220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192" name="Google Shape;1192;p84"/>
          <p:cNvSpPr txBox="1"/>
          <p:nvPr>
            <p:ph idx="1" type="body"/>
          </p:nvPr>
        </p:nvSpPr>
        <p:spPr>
          <a:xfrm>
            <a:off x="2915794"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193" name="Google Shape;1193;p84"/>
          <p:cNvSpPr txBox="1"/>
          <p:nvPr>
            <p:ph idx="1" type="body"/>
          </p:nvPr>
        </p:nvSpPr>
        <p:spPr>
          <a:xfrm>
            <a:off x="324717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194" name="Google Shape;1194;p84"/>
          <p:cNvSpPr txBox="1"/>
          <p:nvPr>
            <p:ph idx="1" type="body"/>
          </p:nvPr>
        </p:nvSpPr>
        <p:spPr>
          <a:xfrm>
            <a:off x="35452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195" name="Google Shape;1195;p84"/>
          <p:cNvSpPr txBox="1"/>
          <p:nvPr>
            <p:ph idx="1" type="body"/>
          </p:nvPr>
        </p:nvSpPr>
        <p:spPr>
          <a:xfrm>
            <a:off x="38574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196" name="Google Shape;1196;p84"/>
          <p:cNvSpPr txBox="1"/>
          <p:nvPr>
            <p:ph idx="1" type="body"/>
          </p:nvPr>
        </p:nvSpPr>
        <p:spPr>
          <a:xfrm>
            <a:off x="413675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197" name="Google Shape;1197;p84"/>
          <p:cNvSpPr txBox="1"/>
          <p:nvPr>
            <p:ph idx="1" type="body"/>
          </p:nvPr>
        </p:nvSpPr>
        <p:spPr>
          <a:xfrm>
            <a:off x="758038"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198" name="Google Shape;1198;p84"/>
          <p:cNvSpPr txBox="1"/>
          <p:nvPr>
            <p:ph idx="1" type="body"/>
          </p:nvPr>
        </p:nvSpPr>
        <p:spPr>
          <a:xfrm>
            <a:off x="670190"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199" name="Google Shape;1199;p84"/>
          <p:cNvSpPr txBox="1"/>
          <p:nvPr>
            <p:ph idx="1" type="body"/>
          </p:nvPr>
        </p:nvSpPr>
        <p:spPr>
          <a:xfrm>
            <a:off x="670190"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200" name="Google Shape;1200;p84"/>
          <p:cNvSpPr txBox="1"/>
          <p:nvPr>
            <p:ph idx="1" type="body"/>
          </p:nvPr>
        </p:nvSpPr>
        <p:spPr>
          <a:xfrm>
            <a:off x="670190"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201" name="Google Shape;1201;p84"/>
          <p:cNvSpPr txBox="1"/>
          <p:nvPr>
            <p:ph idx="1" type="body"/>
          </p:nvPr>
        </p:nvSpPr>
        <p:spPr>
          <a:xfrm>
            <a:off x="670190"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202" name="Google Shape;1202;p84"/>
          <p:cNvSpPr txBox="1"/>
          <p:nvPr>
            <p:ph idx="1" type="body"/>
          </p:nvPr>
        </p:nvSpPr>
        <p:spPr>
          <a:xfrm>
            <a:off x="670190"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203" name="Google Shape;1203;p84"/>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Both horizontal axes show annual global mean temperature expressed as a difference from pre-industrial conditions (°C).</a:t>
            </a:r>
            <a:endParaRPr sz="1600"/>
          </a:p>
        </p:txBody>
      </p:sp>
      <p:sp>
        <p:nvSpPr>
          <p:cNvPr id="1204" name="Google Shape;1204;p84"/>
          <p:cNvSpPr txBox="1"/>
          <p:nvPr>
            <p:ph idx="1" type="body"/>
          </p:nvPr>
        </p:nvSpPr>
        <p:spPr>
          <a:xfrm rot="-5400000">
            <a:off x="-94415"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pic>
        <p:nvPicPr>
          <p:cNvPr id="1205" name="Google Shape;1205;p84"/>
          <p:cNvPicPr preferRelativeResize="0"/>
          <p:nvPr/>
        </p:nvPicPr>
        <p:blipFill>
          <a:blip r:embed="rId4">
            <a:alphaModFix/>
          </a:blip>
          <a:stretch>
            <a:fillRect/>
          </a:stretch>
        </p:blipFill>
        <p:spPr>
          <a:xfrm>
            <a:off x="5191899" y="1722325"/>
            <a:ext cx="3364315" cy="2259275"/>
          </a:xfrm>
          <a:prstGeom prst="rect">
            <a:avLst/>
          </a:prstGeom>
          <a:noFill/>
          <a:ln>
            <a:noFill/>
          </a:ln>
        </p:spPr>
      </p:pic>
      <p:cxnSp>
        <p:nvCxnSpPr>
          <p:cNvPr id="1206" name="Google Shape;1206;p84"/>
          <p:cNvCxnSpPr/>
          <p:nvPr/>
        </p:nvCxnSpPr>
        <p:spPr>
          <a:xfrm>
            <a:off x="5198235"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207" name="Google Shape;1207;p84"/>
          <p:cNvCxnSpPr/>
          <p:nvPr/>
        </p:nvCxnSpPr>
        <p:spPr>
          <a:xfrm rot="10800000">
            <a:off x="5191905"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208" name="Google Shape;1208;p84"/>
          <p:cNvSpPr txBox="1"/>
          <p:nvPr>
            <p:ph idx="1" type="body"/>
          </p:nvPr>
        </p:nvSpPr>
        <p:spPr>
          <a:xfrm>
            <a:off x="533165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209" name="Google Shape;1209;p84"/>
          <p:cNvSpPr txBox="1"/>
          <p:nvPr>
            <p:ph idx="1" type="body"/>
          </p:nvPr>
        </p:nvSpPr>
        <p:spPr>
          <a:xfrm>
            <a:off x="565994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210" name="Google Shape;1210;p84"/>
          <p:cNvSpPr txBox="1"/>
          <p:nvPr>
            <p:ph idx="1" type="body"/>
          </p:nvPr>
        </p:nvSpPr>
        <p:spPr>
          <a:xfrm>
            <a:off x="6066935"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211" name="Google Shape;1211;p84"/>
          <p:cNvSpPr txBox="1"/>
          <p:nvPr>
            <p:ph idx="1" type="body"/>
          </p:nvPr>
        </p:nvSpPr>
        <p:spPr>
          <a:xfrm>
            <a:off x="631330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212" name="Google Shape;1212;p84"/>
          <p:cNvSpPr txBox="1"/>
          <p:nvPr>
            <p:ph idx="1" type="body"/>
          </p:nvPr>
        </p:nvSpPr>
        <p:spPr>
          <a:xfrm>
            <a:off x="663058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213" name="Google Shape;1213;p84"/>
          <p:cNvSpPr txBox="1"/>
          <p:nvPr>
            <p:ph idx="1" type="body"/>
          </p:nvPr>
        </p:nvSpPr>
        <p:spPr>
          <a:xfrm>
            <a:off x="6933381"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214" name="Google Shape;1214;p84"/>
          <p:cNvSpPr txBox="1"/>
          <p:nvPr>
            <p:ph idx="1" type="body"/>
          </p:nvPr>
        </p:nvSpPr>
        <p:spPr>
          <a:xfrm>
            <a:off x="722714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215" name="Google Shape;1215;p84"/>
          <p:cNvSpPr txBox="1"/>
          <p:nvPr>
            <p:ph idx="1" type="body"/>
          </p:nvPr>
        </p:nvSpPr>
        <p:spPr>
          <a:xfrm>
            <a:off x="755853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216" name="Google Shape;1216;p84"/>
          <p:cNvSpPr txBox="1"/>
          <p:nvPr>
            <p:ph idx="1" type="body"/>
          </p:nvPr>
        </p:nvSpPr>
        <p:spPr>
          <a:xfrm>
            <a:off x="785662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217" name="Google Shape;1217;p84"/>
          <p:cNvSpPr txBox="1"/>
          <p:nvPr>
            <p:ph idx="1" type="body"/>
          </p:nvPr>
        </p:nvSpPr>
        <p:spPr>
          <a:xfrm>
            <a:off x="81688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218" name="Google Shape;1218;p84"/>
          <p:cNvSpPr txBox="1"/>
          <p:nvPr>
            <p:ph idx="1" type="body"/>
          </p:nvPr>
        </p:nvSpPr>
        <p:spPr>
          <a:xfrm>
            <a:off x="844811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219" name="Google Shape;1219;p84"/>
          <p:cNvSpPr txBox="1"/>
          <p:nvPr>
            <p:ph idx="1" type="body"/>
          </p:nvPr>
        </p:nvSpPr>
        <p:spPr>
          <a:xfrm>
            <a:off x="5069394"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220" name="Google Shape;1220;p84"/>
          <p:cNvSpPr txBox="1"/>
          <p:nvPr>
            <p:ph idx="1" type="body"/>
          </p:nvPr>
        </p:nvSpPr>
        <p:spPr>
          <a:xfrm>
            <a:off x="4981546"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221" name="Google Shape;1221;p84"/>
          <p:cNvSpPr txBox="1"/>
          <p:nvPr>
            <p:ph idx="1" type="body"/>
          </p:nvPr>
        </p:nvSpPr>
        <p:spPr>
          <a:xfrm>
            <a:off x="4981546"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222" name="Google Shape;1222;p84"/>
          <p:cNvSpPr txBox="1"/>
          <p:nvPr>
            <p:ph idx="1" type="body"/>
          </p:nvPr>
        </p:nvSpPr>
        <p:spPr>
          <a:xfrm>
            <a:off x="4981546"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223" name="Google Shape;1223;p84"/>
          <p:cNvSpPr txBox="1"/>
          <p:nvPr>
            <p:ph idx="1" type="body"/>
          </p:nvPr>
        </p:nvSpPr>
        <p:spPr>
          <a:xfrm>
            <a:off x="4981546"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224" name="Google Shape;1224;p84"/>
          <p:cNvSpPr txBox="1"/>
          <p:nvPr>
            <p:ph idx="1" type="body"/>
          </p:nvPr>
        </p:nvSpPr>
        <p:spPr>
          <a:xfrm>
            <a:off x="4981546"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225" name="Google Shape;1225;p84"/>
          <p:cNvSpPr txBox="1"/>
          <p:nvPr>
            <p:ph idx="1" type="body"/>
          </p:nvPr>
        </p:nvSpPr>
        <p:spPr>
          <a:xfrm rot="-5400000">
            <a:off x="4216941"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226" name="Google Shape;1226;p84"/>
          <p:cNvSpPr txBox="1"/>
          <p:nvPr>
            <p:ph idx="1" type="body"/>
          </p:nvPr>
        </p:nvSpPr>
        <p:spPr>
          <a:xfrm>
            <a:off x="1848000"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1937</a:t>
            </a:r>
            <a:endParaRPr sz="1800">
              <a:highlight>
                <a:schemeClr val="lt1"/>
              </a:highlight>
            </a:endParaRPr>
          </a:p>
        </p:txBody>
      </p:sp>
      <p:sp>
        <p:nvSpPr>
          <p:cNvPr id="1227" name="Google Shape;1227;p84"/>
          <p:cNvSpPr txBox="1"/>
          <p:nvPr>
            <p:ph idx="1" type="body"/>
          </p:nvPr>
        </p:nvSpPr>
        <p:spPr>
          <a:xfrm>
            <a:off x="6242368"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1938 to 2024</a:t>
            </a:r>
            <a:endParaRPr sz="1800">
              <a:highlight>
                <a:schemeClr val="lt1"/>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pic>
        <p:nvPicPr>
          <p:cNvPr id="1232" name="Google Shape;1232;p85"/>
          <p:cNvPicPr preferRelativeResize="0"/>
          <p:nvPr/>
        </p:nvPicPr>
        <p:blipFill>
          <a:blip r:embed="rId3">
            <a:alphaModFix/>
          </a:blip>
          <a:stretch>
            <a:fillRect/>
          </a:stretch>
        </p:blipFill>
        <p:spPr>
          <a:xfrm>
            <a:off x="880543" y="1713908"/>
            <a:ext cx="3372178" cy="2274000"/>
          </a:xfrm>
          <a:prstGeom prst="rect">
            <a:avLst/>
          </a:prstGeom>
          <a:noFill/>
          <a:ln>
            <a:noFill/>
          </a:ln>
        </p:spPr>
      </p:pic>
      <p:sp>
        <p:nvSpPr>
          <p:cNvPr id="1233" name="Google Shape;1233;p85"/>
          <p:cNvSpPr txBox="1"/>
          <p:nvPr>
            <p:ph idx="1" type="body"/>
          </p:nvPr>
        </p:nvSpPr>
        <p:spPr>
          <a:xfrm>
            <a:off x="324000" y="810000"/>
            <a:ext cx="84753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modal class for 1851 to 1937 is between 0 and 0.2°C.</a:t>
            </a:r>
            <a:endParaRPr sz="1800"/>
          </a:p>
        </p:txBody>
      </p:sp>
      <p:sp>
        <p:nvSpPr>
          <p:cNvPr id="1234" name="Google Shape;1234;p85"/>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235" name="Google Shape;1235;p85"/>
          <p:cNvCxnSpPr/>
          <p:nvPr/>
        </p:nvCxnSpPr>
        <p:spPr>
          <a:xfrm>
            <a:off x="886880"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236" name="Google Shape;1236;p85"/>
          <p:cNvCxnSpPr/>
          <p:nvPr/>
        </p:nvCxnSpPr>
        <p:spPr>
          <a:xfrm rot="10800000">
            <a:off x="880549"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237" name="Google Shape;1237;p85"/>
          <p:cNvSpPr txBox="1"/>
          <p:nvPr>
            <p:ph idx="1" type="body"/>
          </p:nvPr>
        </p:nvSpPr>
        <p:spPr>
          <a:xfrm>
            <a:off x="1020303"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238" name="Google Shape;1238;p85"/>
          <p:cNvSpPr txBox="1"/>
          <p:nvPr>
            <p:ph idx="1" type="body"/>
          </p:nvPr>
        </p:nvSpPr>
        <p:spPr>
          <a:xfrm>
            <a:off x="134859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239" name="Google Shape;1239;p85"/>
          <p:cNvSpPr txBox="1"/>
          <p:nvPr>
            <p:ph idx="1" type="body"/>
          </p:nvPr>
        </p:nvSpPr>
        <p:spPr>
          <a:xfrm>
            <a:off x="1755580"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240" name="Google Shape;1240;p85"/>
          <p:cNvSpPr txBox="1"/>
          <p:nvPr>
            <p:ph idx="1" type="body"/>
          </p:nvPr>
        </p:nvSpPr>
        <p:spPr>
          <a:xfrm>
            <a:off x="200195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241" name="Google Shape;1241;p85"/>
          <p:cNvSpPr txBox="1"/>
          <p:nvPr>
            <p:ph idx="1" type="body"/>
          </p:nvPr>
        </p:nvSpPr>
        <p:spPr>
          <a:xfrm>
            <a:off x="231922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242" name="Google Shape;1242;p85"/>
          <p:cNvSpPr txBox="1"/>
          <p:nvPr>
            <p:ph idx="1" type="body"/>
          </p:nvPr>
        </p:nvSpPr>
        <p:spPr>
          <a:xfrm>
            <a:off x="26220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243" name="Google Shape;1243;p85"/>
          <p:cNvSpPr txBox="1"/>
          <p:nvPr>
            <p:ph idx="1" type="body"/>
          </p:nvPr>
        </p:nvSpPr>
        <p:spPr>
          <a:xfrm>
            <a:off x="2915794"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244" name="Google Shape;1244;p85"/>
          <p:cNvSpPr txBox="1"/>
          <p:nvPr>
            <p:ph idx="1" type="body"/>
          </p:nvPr>
        </p:nvSpPr>
        <p:spPr>
          <a:xfrm>
            <a:off x="324717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245" name="Google Shape;1245;p85"/>
          <p:cNvSpPr txBox="1"/>
          <p:nvPr>
            <p:ph idx="1" type="body"/>
          </p:nvPr>
        </p:nvSpPr>
        <p:spPr>
          <a:xfrm>
            <a:off x="35452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246" name="Google Shape;1246;p85"/>
          <p:cNvSpPr txBox="1"/>
          <p:nvPr>
            <p:ph idx="1" type="body"/>
          </p:nvPr>
        </p:nvSpPr>
        <p:spPr>
          <a:xfrm>
            <a:off x="38574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247" name="Google Shape;1247;p85"/>
          <p:cNvSpPr txBox="1"/>
          <p:nvPr>
            <p:ph idx="1" type="body"/>
          </p:nvPr>
        </p:nvSpPr>
        <p:spPr>
          <a:xfrm>
            <a:off x="413675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248" name="Google Shape;1248;p85"/>
          <p:cNvSpPr txBox="1"/>
          <p:nvPr>
            <p:ph idx="1" type="body"/>
          </p:nvPr>
        </p:nvSpPr>
        <p:spPr>
          <a:xfrm>
            <a:off x="758038"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249" name="Google Shape;1249;p85"/>
          <p:cNvSpPr txBox="1"/>
          <p:nvPr>
            <p:ph idx="1" type="body"/>
          </p:nvPr>
        </p:nvSpPr>
        <p:spPr>
          <a:xfrm>
            <a:off x="670190"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250" name="Google Shape;1250;p85"/>
          <p:cNvSpPr txBox="1"/>
          <p:nvPr>
            <p:ph idx="1" type="body"/>
          </p:nvPr>
        </p:nvSpPr>
        <p:spPr>
          <a:xfrm>
            <a:off x="670190"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251" name="Google Shape;1251;p85"/>
          <p:cNvSpPr txBox="1"/>
          <p:nvPr>
            <p:ph idx="1" type="body"/>
          </p:nvPr>
        </p:nvSpPr>
        <p:spPr>
          <a:xfrm>
            <a:off x="670190"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252" name="Google Shape;1252;p85"/>
          <p:cNvSpPr txBox="1"/>
          <p:nvPr>
            <p:ph idx="1" type="body"/>
          </p:nvPr>
        </p:nvSpPr>
        <p:spPr>
          <a:xfrm>
            <a:off x="670190"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253" name="Google Shape;1253;p85"/>
          <p:cNvSpPr txBox="1"/>
          <p:nvPr>
            <p:ph idx="1" type="body"/>
          </p:nvPr>
        </p:nvSpPr>
        <p:spPr>
          <a:xfrm>
            <a:off x="670190"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254" name="Google Shape;1254;p85"/>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Both horizontal axes show annual global mean temperature expressed as a difference from pre-industrial conditions (°C).</a:t>
            </a:r>
            <a:endParaRPr sz="1600"/>
          </a:p>
        </p:txBody>
      </p:sp>
      <p:sp>
        <p:nvSpPr>
          <p:cNvPr id="1255" name="Google Shape;1255;p85"/>
          <p:cNvSpPr txBox="1"/>
          <p:nvPr>
            <p:ph idx="1" type="body"/>
          </p:nvPr>
        </p:nvSpPr>
        <p:spPr>
          <a:xfrm rot="-5400000">
            <a:off x="-94415"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pic>
        <p:nvPicPr>
          <p:cNvPr id="1256" name="Google Shape;1256;p85"/>
          <p:cNvPicPr preferRelativeResize="0"/>
          <p:nvPr/>
        </p:nvPicPr>
        <p:blipFill>
          <a:blip r:embed="rId4">
            <a:alphaModFix/>
          </a:blip>
          <a:stretch>
            <a:fillRect/>
          </a:stretch>
        </p:blipFill>
        <p:spPr>
          <a:xfrm>
            <a:off x="5191899" y="1722325"/>
            <a:ext cx="3364315" cy="2259275"/>
          </a:xfrm>
          <a:prstGeom prst="rect">
            <a:avLst/>
          </a:prstGeom>
          <a:noFill/>
          <a:ln>
            <a:noFill/>
          </a:ln>
        </p:spPr>
      </p:pic>
      <p:cxnSp>
        <p:nvCxnSpPr>
          <p:cNvPr id="1257" name="Google Shape;1257;p85"/>
          <p:cNvCxnSpPr/>
          <p:nvPr/>
        </p:nvCxnSpPr>
        <p:spPr>
          <a:xfrm>
            <a:off x="5198235"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258" name="Google Shape;1258;p85"/>
          <p:cNvCxnSpPr/>
          <p:nvPr/>
        </p:nvCxnSpPr>
        <p:spPr>
          <a:xfrm rot="10800000">
            <a:off x="5191905"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259" name="Google Shape;1259;p85"/>
          <p:cNvSpPr txBox="1"/>
          <p:nvPr>
            <p:ph idx="1" type="body"/>
          </p:nvPr>
        </p:nvSpPr>
        <p:spPr>
          <a:xfrm>
            <a:off x="533165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260" name="Google Shape;1260;p85"/>
          <p:cNvSpPr txBox="1"/>
          <p:nvPr>
            <p:ph idx="1" type="body"/>
          </p:nvPr>
        </p:nvSpPr>
        <p:spPr>
          <a:xfrm>
            <a:off x="565994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261" name="Google Shape;1261;p85"/>
          <p:cNvSpPr txBox="1"/>
          <p:nvPr>
            <p:ph idx="1" type="body"/>
          </p:nvPr>
        </p:nvSpPr>
        <p:spPr>
          <a:xfrm>
            <a:off x="6066935"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262" name="Google Shape;1262;p85"/>
          <p:cNvSpPr txBox="1"/>
          <p:nvPr>
            <p:ph idx="1" type="body"/>
          </p:nvPr>
        </p:nvSpPr>
        <p:spPr>
          <a:xfrm>
            <a:off x="631330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263" name="Google Shape;1263;p85"/>
          <p:cNvSpPr txBox="1"/>
          <p:nvPr>
            <p:ph idx="1" type="body"/>
          </p:nvPr>
        </p:nvSpPr>
        <p:spPr>
          <a:xfrm>
            <a:off x="663058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264" name="Google Shape;1264;p85"/>
          <p:cNvSpPr txBox="1"/>
          <p:nvPr>
            <p:ph idx="1" type="body"/>
          </p:nvPr>
        </p:nvSpPr>
        <p:spPr>
          <a:xfrm>
            <a:off x="6933381"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265" name="Google Shape;1265;p85"/>
          <p:cNvSpPr txBox="1"/>
          <p:nvPr>
            <p:ph idx="1" type="body"/>
          </p:nvPr>
        </p:nvSpPr>
        <p:spPr>
          <a:xfrm>
            <a:off x="722714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266" name="Google Shape;1266;p85"/>
          <p:cNvSpPr txBox="1"/>
          <p:nvPr>
            <p:ph idx="1" type="body"/>
          </p:nvPr>
        </p:nvSpPr>
        <p:spPr>
          <a:xfrm>
            <a:off x="755853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267" name="Google Shape;1267;p85"/>
          <p:cNvSpPr txBox="1"/>
          <p:nvPr>
            <p:ph idx="1" type="body"/>
          </p:nvPr>
        </p:nvSpPr>
        <p:spPr>
          <a:xfrm>
            <a:off x="785662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268" name="Google Shape;1268;p85"/>
          <p:cNvSpPr txBox="1"/>
          <p:nvPr>
            <p:ph idx="1" type="body"/>
          </p:nvPr>
        </p:nvSpPr>
        <p:spPr>
          <a:xfrm>
            <a:off x="81688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269" name="Google Shape;1269;p85"/>
          <p:cNvSpPr txBox="1"/>
          <p:nvPr>
            <p:ph idx="1" type="body"/>
          </p:nvPr>
        </p:nvSpPr>
        <p:spPr>
          <a:xfrm>
            <a:off x="844811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270" name="Google Shape;1270;p85"/>
          <p:cNvSpPr txBox="1"/>
          <p:nvPr>
            <p:ph idx="1" type="body"/>
          </p:nvPr>
        </p:nvSpPr>
        <p:spPr>
          <a:xfrm>
            <a:off x="5069394"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271" name="Google Shape;1271;p85"/>
          <p:cNvSpPr txBox="1"/>
          <p:nvPr>
            <p:ph idx="1" type="body"/>
          </p:nvPr>
        </p:nvSpPr>
        <p:spPr>
          <a:xfrm>
            <a:off x="4981546"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272" name="Google Shape;1272;p85"/>
          <p:cNvSpPr txBox="1"/>
          <p:nvPr>
            <p:ph idx="1" type="body"/>
          </p:nvPr>
        </p:nvSpPr>
        <p:spPr>
          <a:xfrm>
            <a:off x="4981546"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273" name="Google Shape;1273;p85"/>
          <p:cNvSpPr txBox="1"/>
          <p:nvPr>
            <p:ph idx="1" type="body"/>
          </p:nvPr>
        </p:nvSpPr>
        <p:spPr>
          <a:xfrm>
            <a:off x="4981546"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274" name="Google Shape;1274;p85"/>
          <p:cNvSpPr txBox="1"/>
          <p:nvPr>
            <p:ph idx="1" type="body"/>
          </p:nvPr>
        </p:nvSpPr>
        <p:spPr>
          <a:xfrm>
            <a:off x="4981546"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275" name="Google Shape;1275;p85"/>
          <p:cNvSpPr txBox="1"/>
          <p:nvPr>
            <p:ph idx="1" type="body"/>
          </p:nvPr>
        </p:nvSpPr>
        <p:spPr>
          <a:xfrm>
            <a:off x="4981546"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276" name="Google Shape;1276;p85"/>
          <p:cNvSpPr txBox="1"/>
          <p:nvPr>
            <p:ph idx="1" type="body"/>
          </p:nvPr>
        </p:nvSpPr>
        <p:spPr>
          <a:xfrm rot="-5400000">
            <a:off x="4216941"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277" name="Google Shape;1277;p85"/>
          <p:cNvSpPr txBox="1"/>
          <p:nvPr>
            <p:ph idx="1" type="body"/>
          </p:nvPr>
        </p:nvSpPr>
        <p:spPr>
          <a:xfrm>
            <a:off x="1848000"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1937</a:t>
            </a:r>
            <a:endParaRPr sz="1800">
              <a:highlight>
                <a:schemeClr val="lt1"/>
              </a:highlight>
            </a:endParaRPr>
          </a:p>
        </p:txBody>
      </p:sp>
      <p:sp>
        <p:nvSpPr>
          <p:cNvPr id="1278" name="Google Shape;1278;p85"/>
          <p:cNvSpPr txBox="1"/>
          <p:nvPr>
            <p:ph idx="1" type="body"/>
          </p:nvPr>
        </p:nvSpPr>
        <p:spPr>
          <a:xfrm>
            <a:off x="6242368"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1938 to 2024</a:t>
            </a:r>
            <a:endParaRPr sz="1800">
              <a:highlight>
                <a:schemeClr val="lt1"/>
              </a:highlight>
            </a:endParaRPr>
          </a:p>
        </p:txBody>
      </p:sp>
      <p:sp>
        <p:nvSpPr>
          <p:cNvPr id="1279" name="Google Shape;1279;p85"/>
          <p:cNvSpPr/>
          <p:nvPr/>
        </p:nvSpPr>
        <p:spPr>
          <a:xfrm>
            <a:off x="1808106" y="2440375"/>
            <a:ext cx="302700" cy="15411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0" name="Google Shape;1280;p85"/>
          <p:cNvSpPr txBox="1"/>
          <p:nvPr>
            <p:ph idx="1" type="body"/>
          </p:nvPr>
        </p:nvSpPr>
        <p:spPr>
          <a:xfrm>
            <a:off x="324000" y="1164542"/>
            <a:ext cx="84753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modal class for 1938 to 2024 is between 0.2 and 0.4°C.</a:t>
            </a:r>
            <a:endParaRPr sz="1800"/>
          </a:p>
        </p:txBody>
      </p:sp>
      <p:sp>
        <p:nvSpPr>
          <p:cNvPr id="1281" name="Google Shape;1281;p85"/>
          <p:cNvSpPr/>
          <p:nvPr/>
        </p:nvSpPr>
        <p:spPr>
          <a:xfrm>
            <a:off x="6429850" y="2831275"/>
            <a:ext cx="302700" cy="11502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pic>
        <p:nvPicPr>
          <p:cNvPr id="1286" name="Google Shape;1286;p86"/>
          <p:cNvPicPr preferRelativeResize="0"/>
          <p:nvPr/>
        </p:nvPicPr>
        <p:blipFill>
          <a:blip r:embed="rId3">
            <a:alphaModFix/>
          </a:blip>
          <a:stretch>
            <a:fillRect/>
          </a:stretch>
        </p:blipFill>
        <p:spPr>
          <a:xfrm>
            <a:off x="880543" y="1713908"/>
            <a:ext cx="3372178" cy="2274000"/>
          </a:xfrm>
          <a:prstGeom prst="rect">
            <a:avLst/>
          </a:prstGeom>
          <a:noFill/>
          <a:ln>
            <a:noFill/>
          </a:ln>
        </p:spPr>
      </p:pic>
      <p:sp>
        <p:nvSpPr>
          <p:cNvPr id="1287" name="Google Shape;1287;p86"/>
          <p:cNvSpPr txBox="1"/>
          <p:nvPr>
            <p:ph idx="1" type="body"/>
          </p:nvPr>
        </p:nvSpPr>
        <p:spPr>
          <a:xfrm>
            <a:off x="324000" y="810000"/>
            <a:ext cx="84753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This data would suggest that annual mean global temperatures have been generally warmer since 1938 than they were</a:t>
            </a:r>
            <a:r>
              <a:rPr lang="en-GB" sz="1800"/>
              <a:t> before 1938</a:t>
            </a:r>
            <a:r>
              <a:rPr lang="en-GB" sz="1800"/>
              <a:t>.</a:t>
            </a:r>
            <a:endParaRPr sz="1800"/>
          </a:p>
        </p:txBody>
      </p:sp>
      <p:sp>
        <p:nvSpPr>
          <p:cNvPr id="1288" name="Google Shape;1288;p86"/>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289" name="Google Shape;1289;p86"/>
          <p:cNvCxnSpPr/>
          <p:nvPr/>
        </p:nvCxnSpPr>
        <p:spPr>
          <a:xfrm>
            <a:off x="886880"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290" name="Google Shape;1290;p86"/>
          <p:cNvCxnSpPr/>
          <p:nvPr/>
        </p:nvCxnSpPr>
        <p:spPr>
          <a:xfrm rot="10800000">
            <a:off x="880549"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291" name="Google Shape;1291;p86"/>
          <p:cNvSpPr txBox="1"/>
          <p:nvPr>
            <p:ph idx="1" type="body"/>
          </p:nvPr>
        </p:nvSpPr>
        <p:spPr>
          <a:xfrm>
            <a:off x="1020303"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292" name="Google Shape;1292;p86"/>
          <p:cNvSpPr txBox="1"/>
          <p:nvPr>
            <p:ph idx="1" type="body"/>
          </p:nvPr>
        </p:nvSpPr>
        <p:spPr>
          <a:xfrm>
            <a:off x="134859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293" name="Google Shape;1293;p86"/>
          <p:cNvSpPr txBox="1"/>
          <p:nvPr>
            <p:ph idx="1" type="body"/>
          </p:nvPr>
        </p:nvSpPr>
        <p:spPr>
          <a:xfrm>
            <a:off x="1755580"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294" name="Google Shape;1294;p86"/>
          <p:cNvSpPr txBox="1"/>
          <p:nvPr>
            <p:ph idx="1" type="body"/>
          </p:nvPr>
        </p:nvSpPr>
        <p:spPr>
          <a:xfrm>
            <a:off x="200195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295" name="Google Shape;1295;p86"/>
          <p:cNvSpPr txBox="1"/>
          <p:nvPr>
            <p:ph idx="1" type="body"/>
          </p:nvPr>
        </p:nvSpPr>
        <p:spPr>
          <a:xfrm>
            <a:off x="231922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296" name="Google Shape;1296;p86"/>
          <p:cNvSpPr txBox="1"/>
          <p:nvPr>
            <p:ph idx="1" type="body"/>
          </p:nvPr>
        </p:nvSpPr>
        <p:spPr>
          <a:xfrm>
            <a:off x="26220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297" name="Google Shape;1297;p86"/>
          <p:cNvSpPr txBox="1"/>
          <p:nvPr>
            <p:ph idx="1" type="body"/>
          </p:nvPr>
        </p:nvSpPr>
        <p:spPr>
          <a:xfrm>
            <a:off x="2915794"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298" name="Google Shape;1298;p86"/>
          <p:cNvSpPr txBox="1"/>
          <p:nvPr>
            <p:ph idx="1" type="body"/>
          </p:nvPr>
        </p:nvSpPr>
        <p:spPr>
          <a:xfrm>
            <a:off x="324717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299" name="Google Shape;1299;p86"/>
          <p:cNvSpPr txBox="1"/>
          <p:nvPr>
            <p:ph idx="1" type="body"/>
          </p:nvPr>
        </p:nvSpPr>
        <p:spPr>
          <a:xfrm>
            <a:off x="35452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300" name="Google Shape;1300;p86"/>
          <p:cNvSpPr txBox="1"/>
          <p:nvPr>
            <p:ph idx="1" type="body"/>
          </p:nvPr>
        </p:nvSpPr>
        <p:spPr>
          <a:xfrm>
            <a:off x="3857470"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301" name="Google Shape;1301;p86"/>
          <p:cNvSpPr txBox="1"/>
          <p:nvPr>
            <p:ph idx="1" type="body"/>
          </p:nvPr>
        </p:nvSpPr>
        <p:spPr>
          <a:xfrm>
            <a:off x="413675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302" name="Google Shape;1302;p86"/>
          <p:cNvSpPr txBox="1"/>
          <p:nvPr>
            <p:ph idx="1" type="body"/>
          </p:nvPr>
        </p:nvSpPr>
        <p:spPr>
          <a:xfrm>
            <a:off x="758038"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03" name="Google Shape;1303;p86"/>
          <p:cNvSpPr txBox="1"/>
          <p:nvPr>
            <p:ph idx="1" type="body"/>
          </p:nvPr>
        </p:nvSpPr>
        <p:spPr>
          <a:xfrm>
            <a:off x="670190"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304" name="Google Shape;1304;p86"/>
          <p:cNvSpPr txBox="1"/>
          <p:nvPr>
            <p:ph idx="1" type="body"/>
          </p:nvPr>
        </p:nvSpPr>
        <p:spPr>
          <a:xfrm>
            <a:off x="670190"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305" name="Google Shape;1305;p86"/>
          <p:cNvSpPr txBox="1"/>
          <p:nvPr>
            <p:ph idx="1" type="body"/>
          </p:nvPr>
        </p:nvSpPr>
        <p:spPr>
          <a:xfrm>
            <a:off x="670190"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306" name="Google Shape;1306;p86"/>
          <p:cNvSpPr txBox="1"/>
          <p:nvPr>
            <p:ph idx="1" type="body"/>
          </p:nvPr>
        </p:nvSpPr>
        <p:spPr>
          <a:xfrm>
            <a:off x="670190"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307" name="Google Shape;1307;p86"/>
          <p:cNvSpPr txBox="1"/>
          <p:nvPr>
            <p:ph idx="1" type="body"/>
          </p:nvPr>
        </p:nvSpPr>
        <p:spPr>
          <a:xfrm>
            <a:off x="670190"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308" name="Google Shape;1308;p86"/>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Both horizontal axes show annual global mean temperature expressed as a difference from pre-industrial conditions (°C).</a:t>
            </a:r>
            <a:endParaRPr sz="1600"/>
          </a:p>
        </p:txBody>
      </p:sp>
      <p:sp>
        <p:nvSpPr>
          <p:cNvPr id="1309" name="Google Shape;1309;p86"/>
          <p:cNvSpPr txBox="1"/>
          <p:nvPr>
            <p:ph idx="1" type="body"/>
          </p:nvPr>
        </p:nvSpPr>
        <p:spPr>
          <a:xfrm rot="-5400000">
            <a:off x="-94415"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pic>
        <p:nvPicPr>
          <p:cNvPr id="1310" name="Google Shape;1310;p86"/>
          <p:cNvPicPr preferRelativeResize="0"/>
          <p:nvPr/>
        </p:nvPicPr>
        <p:blipFill>
          <a:blip r:embed="rId4">
            <a:alphaModFix/>
          </a:blip>
          <a:stretch>
            <a:fillRect/>
          </a:stretch>
        </p:blipFill>
        <p:spPr>
          <a:xfrm>
            <a:off x="5191899" y="1722325"/>
            <a:ext cx="3364315" cy="2259275"/>
          </a:xfrm>
          <a:prstGeom prst="rect">
            <a:avLst/>
          </a:prstGeom>
          <a:noFill/>
          <a:ln>
            <a:noFill/>
          </a:ln>
        </p:spPr>
      </p:pic>
      <p:cxnSp>
        <p:nvCxnSpPr>
          <p:cNvPr id="1311" name="Google Shape;1311;p86"/>
          <p:cNvCxnSpPr/>
          <p:nvPr/>
        </p:nvCxnSpPr>
        <p:spPr>
          <a:xfrm>
            <a:off x="5198235" y="3979692"/>
            <a:ext cx="3601200" cy="0"/>
          </a:xfrm>
          <a:prstGeom prst="straightConnector1">
            <a:avLst/>
          </a:prstGeom>
          <a:noFill/>
          <a:ln cap="flat" cmpd="sng" w="28575">
            <a:solidFill>
              <a:schemeClr val="dk1"/>
            </a:solidFill>
            <a:prstDash val="solid"/>
            <a:round/>
            <a:headEnd len="med" w="med" type="none"/>
            <a:tailEnd len="med" w="med" type="triangle"/>
          </a:ln>
        </p:spPr>
      </p:cxnSp>
      <p:cxnSp>
        <p:nvCxnSpPr>
          <p:cNvPr id="1312" name="Google Shape;1312;p86"/>
          <p:cNvCxnSpPr/>
          <p:nvPr/>
        </p:nvCxnSpPr>
        <p:spPr>
          <a:xfrm rot="10800000">
            <a:off x="5191905"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313" name="Google Shape;1313;p86"/>
          <p:cNvSpPr txBox="1"/>
          <p:nvPr>
            <p:ph idx="1" type="body"/>
          </p:nvPr>
        </p:nvSpPr>
        <p:spPr>
          <a:xfrm>
            <a:off x="533165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314" name="Google Shape;1314;p86"/>
          <p:cNvSpPr txBox="1"/>
          <p:nvPr>
            <p:ph idx="1" type="body"/>
          </p:nvPr>
        </p:nvSpPr>
        <p:spPr>
          <a:xfrm>
            <a:off x="565994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315" name="Google Shape;1315;p86"/>
          <p:cNvSpPr txBox="1"/>
          <p:nvPr>
            <p:ph idx="1" type="body"/>
          </p:nvPr>
        </p:nvSpPr>
        <p:spPr>
          <a:xfrm>
            <a:off x="6066935" y="3990400"/>
            <a:ext cx="14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16" name="Google Shape;1316;p86"/>
          <p:cNvSpPr txBox="1"/>
          <p:nvPr>
            <p:ph idx="1" type="body"/>
          </p:nvPr>
        </p:nvSpPr>
        <p:spPr>
          <a:xfrm>
            <a:off x="6313307"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317" name="Google Shape;1317;p86"/>
          <p:cNvSpPr txBox="1"/>
          <p:nvPr>
            <p:ph idx="1" type="body"/>
          </p:nvPr>
        </p:nvSpPr>
        <p:spPr>
          <a:xfrm>
            <a:off x="663058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318" name="Google Shape;1318;p86"/>
          <p:cNvSpPr txBox="1"/>
          <p:nvPr>
            <p:ph idx="1" type="body"/>
          </p:nvPr>
        </p:nvSpPr>
        <p:spPr>
          <a:xfrm>
            <a:off x="6933381"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319" name="Google Shape;1319;p86"/>
          <p:cNvSpPr txBox="1"/>
          <p:nvPr>
            <p:ph idx="1" type="body"/>
          </p:nvPr>
        </p:nvSpPr>
        <p:spPr>
          <a:xfrm>
            <a:off x="7227149"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320" name="Google Shape;1320;p86"/>
          <p:cNvSpPr txBox="1"/>
          <p:nvPr>
            <p:ph idx="1" type="body"/>
          </p:nvPr>
        </p:nvSpPr>
        <p:spPr>
          <a:xfrm>
            <a:off x="755853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321" name="Google Shape;1321;p86"/>
          <p:cNvSpPr txBox="1"/>
          <p:nvPr>
            <p:ph idx="1" type="body"/>
          </p:nvPr>
        </p:nvSpPr>
        <p:spPr>
          <a:xfrm>
            <a:off x="7856626"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322" name="Google Shape;1322;p86"/>
          <p:cNvSpPr txBox="1"/>
          <p:nvPr>
            <p:ph idx="1" type="body"/>
          </p:nvPr>
        </p:nvSpPr>
        <p:spPr>
          <a:xfrm>
            <a:off x="8168825"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1.4</a:t>
            </a:r>
            <a:endParaRPr sz="1200"/>
          </a:p>
        </p:txBody>
      </p:sp>
      <p:sp>
        <p:nvSpPr>
          <p:cNvPr id="1323" name="Google Shape;1323;p86"/>
          <p:cNvSpPr txBox="1"/>
          <p:nvPr>
            <p:ph idx="1" type="body"/>
          </p:nvPr>
        </p:nvSpPr>
        <p:spPr>
          <a:xfrm>
            <a:off x="8448112" y="3990392"/>
            <a:ext cx="335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324" name="Google Shape;1324;p86"/>
          <p:cNvSpPr txBox="1"/>
          <p:nvPr>
            <p:ph idx="1" type="body"/>
          </p:nvPr>
        </p:nvSpPr>
        <p:spPr>
          <a:xfrm>
            <a:off x="5069394" y="3888032"/>
            <a:ext cx="1260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25" name="Google Shape;1325;p86"/>
          <p:cNvSpPr txBox="1"/>
          <p:nvPr>
            <p:ph idx="1" type="body"/>
          </p:nvPr>
        </p:nvSpPr>
        <p:spPr>
          <a:xfrm>
            <a:off x="4981546" y="3509654"/>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326" name="Google Shape;1326;p86"/>
          <p:cNvSpPr txBox="1"/>
          <p:nvPr>
            <p:ph idx="1" type="body"/>
          </p:nvPr>
        </p:nvSpPr>
        <p:spPr>
          <a:xfrm>
            <a:off x="4981546" y="3131276"/>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327" name="Google Shape;1327;p86"/>
          <p:cNvSpPr txBox="1"/>
          <p:nvPr>
            <p:ph idx="1" type="body"/>
          </p:nvPr>
        </p:nvSpPr>
        <p:spPr>
          <a:xfrm>
            <a:off x="4981546" y="2752898"/>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328" name="Google Shape;1328;p86"/>
          <p:cNvSpPr txBox="1"/>
          <p:nvPr>
            <p:ph idx="1" type="body"/>
          </p:nvPr>
        </p:nvSpPr>
        <p:spPr>
          <a:xfrm>
            <a:off x="4981546" y="2374520"/>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329" name="Google Shape;1329;p86"/>
          <p:cNvSpPr txBox="1"/>
          <p:nvPr>
            <p:ph idx="1" type="body"/>
          </p:nvPr>
        </p:nvSpPr>
        <p:spPr>
          <a:xfrm>
            <a:off x="4981546" y="1996142"/>
            <a:ext cx="302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330" name="Google Shape;1330;p86"/>
          <p:cNvSpPr txBox="1"/>
          <p:nvPr>
            <p:ph idx="1" type="body"/>
          </p:nvPr>
        </p:nvSpPr>
        <p:spPr>
          <a:xfrm rot="-5400000">
            <a:off x="4216941"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331" name="Google Shape;1331;p86"/>
          <p:cNvSpPr txBox="1"/>
          <p:nvPr>
            <p:ph idx="1" type="body"/>
          </p:nvPr>
        </p:nvSpPr>
        <p:spPr>
          <a:xfrm>
            <a:off x="1848000"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1937</a:t>
            </a:r>
            <a:endParaRPr sz="1800">
              <a:highlight>
                <a:schemeClr val="lt1"/>
              </a:highlight>
            </a:endParaRPr>
          </a:p>
        </p:txBody>
      </p:sp>
      <p:sp>
        <p:nvSpPr>
          <p:cNvPr id="1332" name="Google Shape;1332;p86"/>
          <p:cNvSpPr txBox="1"/>
          <p:nvPr>
            <p:ph idx="1" type="body"/>
          </p:nvPr>
        </p:nvSpPr>
        <p:spPr>
          <a:xfrm>
            <a:off x="6242368" y="1787479"/>
            <a:ext cx="1486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1938 to 2024</a:t>
            </a:r>
            <a:endParaRPr sz="1800">
              <a:highlight>
                <a:schemeClr val="lt1"/>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pic>
        <p:nvPicPr>
          <p:cNvPr id="1337" name="Google Shape;1337;p87"/>
          <p:cNvPicPr preferRelativeResize="0"/>
          <p:nvPr/>
        </p:nvPicPr>
        <p:blipFill>
          <a:blip r:embed="rId3">
            <a:alphaModFix/>
          </a:blip>
          <a:stretch>
            <a:fillRect/>
          </a:stretch>
        </p:blipFill>
        <p:spPr>
          <a:xfrm>
            <a:off x="6478959" y="1868789"/>
            <a:ext cx="2186770" cy="2102299"/>
          </a:xfrm>
          <a:prstGeom prst="rect">
            <a:avLst/>
          </a:prstGeom>
          <a:noFill/>
          <a:ln>
            <a:noFill/>
          </a:ln>
        </p:spPr>
      </p:pic>
      <p:pic>
        <p:nvPicPr>
          <p:cNvPr id="1338" name="Google Shape;1338;p87"/>
          <p:cNvPicPr preferRelativeResize="0"/>
          <p:nvPr/>
        </p:nvPicPr>
        <p:blipFill>
          <a:blip r:embed="rId4">
            <a:alphaModFix/>
          </a:blip>
          <a:stretch>
            <a:fillRect/>
          </a:stretch>
        </p:blipFill>
        <p:spPr>
          <a:xfrm>
            <a:off x="3615012" y="1864609"/>
            <a:ext cx="2183237" cy="2104391"/>
          </a:xfrm>
          <a:prstGeom prst="rect">
            <a:avLst/>
          </a:prstGeom>
          <a:noFill/>
          <a:ln>
            <a:noFill/>
          </a:ln>
        </p:spPr>
      </p:pic>
      <p:pic>
        <p:nvPicPr>
          <p:cNvPr id="1339" name="Google Shape;1339;p87"/>
          <p:cNvPicPr preferRelativeResize="0"/>
          <p:nvPr/>
        </p:nvPicPr>
        <p:blipFill>
          <a:blip r:embed="rId5">
            <a:alphaModFix/>
          </a:blip>
          <a:stretch>
            <a:fillRect/>
          </a:stretch>
        </p:blipFill>
        <p:spPr>
          <a:xfrm>
            <a:off x="813118" y="1871397"/>
            <a:ext cx="2183238" cy="2102295"/>
          </a:xfrm>
          <a:prstGeom prst="rect">
            <a:avLst/>
          </a:prstGeom>
          <a:noFill/>
          <a:ln>
            <a:noFill/>
          </a:ln>
        </p:spPr>
      </p:pic>
      <p:sp>
        <p:nvSpPr>
          <p:cNvPr id="1340" name="Google Shape;1340;p87"/>
          <p:cNvSpPr txBox="1"/>
          <p:nvPr>
            <p:ph idx="1" type="body"/>
          </p:nvPr>
        </p:nvSpPr>
        <p:spPr>
          <a:xfrm>
            <a:off x="324000" y="810000"/>
            <a:ext cx="84753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These graphs show the same data again, but split up into three equal </a:t>
            </a:r>
            <a:r>
              <a:rPr lang="en-GB" sz="1800"/>
              <a:t>periods</a:t>
            </a:r>
            <a:r>
              <a:rPr lang="en-GB" sz="1800"/>
              <a:t> of time. Similar comparisons could be made.</a:t>
            </a:r>
            <a:endParaRPr sz="1800"/>
          </a:p>
        </p:txBody>
      </p:sp>
      <p:sp>
        <p:nvSpPr>
          <p:cNvPr id="1341" name="Google Shape;1341;p87"/>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342" name="Google Shape;1342;p87"/>
          <p:cNvCxnSpPr/>
          <p:nvPr/>
        </p:nvCxnSpPr>
        <p:spPr>
          <a:xfrm>
            <a:off x="817226"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343" name="Google Shape;1343;p87"/>
          <p:cNvCxnSpPr/>
          <p:nvPr/>
        </p:nvCxnSpPr>
        <p:spPr>
          <a:xfrm rot="10800000">
            <a:off x="81311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344" name="Google Shape;1344;p87"/>
          <p:cNvSpPr txBox="1"/>
          <p:nvPr>
            <p:ph idx="1" type="body"/>
          </p:nvPr>
        </p:nvSpPr>
        <p:spPr>
          <a:xfrm>
            <a:off x="889970"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345" name="Google Shape;1345;p87"/>
          <p:cNvSpPr txBox="1"/>
          <p:nvPr>
            <p:ph idx="1" type="body"/>
          </p:nvPr>
        </p:nvSpPr>
        <p:spPr>
          <a:xfrm>
            <a:off x="1380958"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46" name="Google Shape;1346;p87"/>
          <p:cNvSpPr txBox="1"/>
          <p:nvPr>
            <p:ph idx="1" type="body"/>
          </p:nvPr>
        </p:nvSpPr>
        <p:spPr>
          <a:xfrm>
            <a:off x="1746723"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347" name="Google Shape;1347;p87"/>
          <p:cNvSpPr txBox="1"/>
          <p:nvPr>
            <p:ph idx="1" type="body"/>
          </p:nvPr>
        </p:nvSpPr>
        <p:spPr>
          <a:xfrm>
            <a:off x="213386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348" name="Google Shape;1348;p87"/>
          <p:cNvSpPr txBox="1"/>
          <p:nvPr>
            <p:ph idx="1" type="body"/>
          </p:nvPr>
        </p:nvSpPr>
        <p:spPr>
          <a:xfrm>
            <a:off x="2542355"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349" name="Google Shape;1349;p87"/>
          <p:cNvSpPr txBox="1"/>
          <p:nvPr>
            <p:ph idx="1" type="body"/>
          </p:nvPr>
        </p:nvSpPr>
        <p:spPr>
          <a:xfrm>
            <a:off x="2926193"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350" name="Google Shape;1350;p87"/>
          <p:cNvSpPr txBox="1"/>
          <p:nvPr>
            <p:ph idx="1" type="body"/>
          </p:nvPr>
        </p:nvSpPr>
        <p:spPr>
          <a:xfrm>
            <a:off x="667977"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51" name="Google Shape;1351;p87"/>
          <p:cNvSpPr txBox="1"/>
          <p:nvPr>
            <p:ph idx="1" type="body"/>
          </p:nvPr>
        </p:nvSpPr>
        <p:spPr>
          <a:xfrm>
            <a:off x="601751" y="3540134"/>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352" name="Google Shape;1352;p87"/>
          <p:cNvSpPr txBox="1"/>
          <p:nvPr>
            <p:ph idx="1" type="body"/>
          </p:nvPr>
        </p:nvSpPr>
        <p:spPr>
          <a:xfrm>
            <a:off x="601751" y="3192236"/>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353" name="Google Shape;1353;p87"/>
          <p:cNvSpPr txBox="1"/>
          <p:nvPr>
            <p:ph idx="1" type="body"/>
          </p:nvPr>
        </p:nvSpPr>
        <p:spPr>
          <a:xfrm>
            <a:off x="601751" y="2844338"/>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354" name="Google Shape;1354;p87"/>
          <p:cNvSpPr txBox="1"/>
          <p:nvPr>
            <p:ph idx="1" type="body"/>
          </p:nvPr>
        </p:nvSpPr>
        <p:spPr>
          <a:xfrm>
            <a:off x="601751" y="249644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355" name="Google Shape;1355;p87"/>
          <p:cNvSpPr txBox="1"/>
          <p:nvPr>
            <p:ph idx="1" type="body"/>
          </p:nvPr>
        </p:nvSpPr>
        <p:spPr>
          <a:xfrm>
            <a:off x="601751" y="2148542"/>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356" name="Google Shape;1356;p87"/>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Each</a:t>
            </a:r>
            <a:r>
              <a:rPr lang="en-GB" sz="1600"/>
              <a:t> horizontal axes show annual global mean temperature expressed as a difference from pre-industrial conditions (°C).</a:t>
            </a:r>
            <a:endParaRPr sz="1600"/>
          </a:p>
        </p:txBody>
      </p:sp>
      <p:sp>
        <p:nvSpPr>
          <p:cNvPr id="1357" name="Google Shape;1357;p87"/>
          <p:cNvSpPr txBox="1"/>
          <p:nvPr>
            <p:ph idx="1" type="body"/>
          </p:nvPr>
        </p:nvSpPr>
        <p:spPr>
          <a:xfrm rot="-5400000">
            <a:off x="-127950"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cxnSp>
        <p:nvCxnSpPr>
          <p:cNvPr id="1358" name="Google Shape;1358;p87"/>
          <p:cNvCxnSpPr/>
          <p:nvPr/>
        </p:nvCxnSpPr>
        <p:spPr>
          <a:xfrm>
            <a:off x="3615026"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359" name="Google Shape;1359;p87"/>
          <p:cNvCxnSpPr/>
          <p:nvPr/>
        </p:nvCxnSpPr>
        <p:spPr>
          <a:xfrm rot="10800000">
            <a:off x="361091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360" name="Google Shape;1360;p87"/>
          <p:cNvSpPr txBox="1"/>
          <p:nvPr>
            <p:ph idx="1" type="body"/>
          </p:nvPr>
        </p:nvSpPr>
        <p:spPr>
          <a:xfrm>
            <a:off x="3666341"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361" name="Google Shape;1361;p87"/>
          <p:cNvSpPr txBox="1"/>
          <p:nvPr>
            <p:ph idx="1" type="body"/>
          </p:nvPr>
        </p:nvSpPr>
        <p:spPr>
          <a:xfrm>
            <a:off x="4178758"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62" name="Google Shape;1362;p87"/>
          <p:cNvSpPr txBox="1"/>
          <p:nvPr>
            <p:ph idx="1" type="body"/>
          </p:nvPr>
        </p:nvSpPr>
        <p:spPr>
          <a:xfrm>
            <a:off x="4482788" y="3990400"/>
            <a:ext cx="2463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363" name="Google Shape;1363;p87"/>
          <p:cNvSpPr txBox="1"/>
          <p:nvPr>
            <p:ph idx="1" type="body"/>
          </p:nvPr>
        </p:nvSpPr>
        <p:spPr>
          <a:xfrm>
            <a:off x="493166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364" name="Google Shape;1364;p87"/>
          <p:cNvSpPr txBox="1"/>
          <p:nvPr>
            <p:ph idx="1" type="body"/>
          </p:nvPr>
        </p:nvSpPr>
        <p:spPr>
          <a:xfrm>
            <a:off x="5340155"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365" name="Google Shape;1365;p87"/>
          <p:cNvSpPr txBox="1"/>
          <p:nvPr>
            <p:ph idx="1" type="body"/>
          </p:nvPr>
        </p:nvSpPr>
        <p:spPr>
          <a:xfrm>
            <a:off x="5723993"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366" name="Google Shape;1366;p87"/>
          <p:cNvSpPr txBox="1"/>
          <p:nvPr>
            <p:ph idx="1" type="body"/>
          </p:nvPr>
        </p:nvSpPr>
        <p:spPr>
          <a:xfrm>
            <a:off x="3456559"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67" name="Google Shape;1367;p87"/>
          <p:cNvSpPr txBox="1"/>
          <p:nvPr>
            <p:ph idx="1" type="body"/>
          </p:nvPr>
        </p:nvSpPr>
        <p:spPr>
          <a:xfrm>
            <a:off x="3399551" y="353756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368" name="Google Shape;1368;p87"/>
          <p:cNvSpPr txBox="1"/>
          <p:nvPr>
            <p:ph idx="1" type="body"/>
          </p:nvPr>
        </p:nvSpPr>
        <p:spPr>
          <a:xfrm>
            <a:off x="3399551" y="3187087"/>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369" name="Google Shape;1369;p87"/>
          <p:cNvSpPr txBox="1"/>
          <p:nvPr>
            <p:ph idx="1" type="body"/>
          </p:nvPr>
        </p:nvSpPr>
        <p:spPr>
          <a:xfrm>
            <a:off x="3399551" y="2836615"/>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370" name="Google Shape;1370;p87"/>
          <p:cNvSpPr txBox="1"/>
          <p:nvPr>
            <p:ph idx="1" type="body"/>
          </p:nvPr>
        </p:nvSpPr>
        <p:spPr>
          <a:xfrm>
            <a:off x="3399551" y="2486143"/>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371" name="Google Shape;1371;p87"/>
          <p:cNvSpPr txBox="1"/>
          <p:nvPr>
            <p:ph idx="1" type="body"/>
          </p:nvPr>
        </p:nvSpPr>
        <p:spPr>
          <a:xfrm>
            <a:off x="3399551" y="213567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372" name="Google Shape;1372;p87"/>
          <p:cNvSpPr txBox="1"/>
          <p:nvPr>
            <p:ph idx="1" type="body"/>
          </p:nvPr>
        </p:nvSpPr>
        <p:spPr>
          <a:xfrm rot="-5400000">
            <a:off x="2707832"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373" name="Google Shape;1373;p87"/>
          <p:cNvSpPr txBox="1"/>
          <p:nvPr>
            <p:ph idx="1" type="body"/>
          </p:nvPr>
        </p:nvSpPr>
        <p:spPr>
          <a:xfrm>
            <a:off x="1229959" y="1863675"/>
            <a:ext cx="1555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1908</a:t>
            </a:r>
            <a:endParaRPr sz="1800">
              <a:highlight>
                <a:schemeClr val="lt1"/>
              </a:highlight>
            </a:endParaRPr>
          </a:p>
        </p:txBody>
      </p:sp>
      <p:sp>
        <p:nvSpPr>
          <p:cNvPr id="1374" name="Google Shape;1374;p87"/>
          <p:cNvSpPr txBox="1"/>
          <p:nvPr>
            <p:ph idx="1" type="body"/>
          </p:nvPr>
        </p:nvSpPr>
        <p:spPr>
          <a:xfrm>
            <a:off x="4081637" y="1863675"/>
            <a:ext cx="150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1909</a:t>
            </a:r>
            <a:r>
              <a:rPr lang="en-GB" sz="1800">
                <a:highlight>
                  <a:schemeClr val="lt1"/>
                </a:highlight>
              </a:rPr>
              <a:t> to 1966</a:t>
            </a:r>
            <a:endParaRPr sz="1800">
              <a:highlight>
                <a:schemeClr val="lt1"/>
              </a:highlight>
            </a:endParaRPr>
          </a:p>
        </p:txBody>
      </p:sp>
      <p:cxnSp>
        <p:nvCxnSpPr>
          <p:cNvPr id="1375" name="Google Shape;1375;p87"/>
          <p:cNvCxnSpPr/>
          <p:nvPr/>
        </p:nvCxnSpPr>
        <p:spPr>
          <a:xfrm>
            <a:off x="6483070"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376" name="Google Shape;1376;p87"/>
          <p:cNvCxnSpPr/>
          <p:nvPr/>
        </p:nvCxnSpPr>
        <p:spPr>
          <a:xfrm rot="10800000">
            <a:off x="6478962"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377" name="Google Shape;1377;p87"/>
          <p:cNvSpPr txBox="1"/>
          <p:nvPr>
            <p:ph idx="1" type="body"/>
          </p:nvPr>
        </p:nvSpPr>
        <p:spPr>
          <a:xfrm>
            <a:off x="6569647"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378" name="Google Shape;1378;p87"/>
          <p:cNvSpPr txBox="1"/>
          <p:nvPr>
            <p:ph idx="1" type="body"/>
          </p:nvPr>
        </p:nvSpPr>
        <p:spPr>
          <a:xfrm>
            <a:off x="7046802"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79" name="Google Shape;1379;p87"/>
          <p:cNvSpPr txBox="1"/>
          <p:nvPr>
            <p:ph idx="1" type="body"/>
          </p:nvPr>
        </p:nvSpPr>
        <p:spPr>
          <a:xfrm>
            <a:off x="7377297"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380" name="Google Shape;1380;p87"/>
          <p:cNvSpPr txBox="1"/>
          <p:nvPr>
            <p:ph idx="1" type="body"/>
          </p:nvPr>
        </p:nvSpPr>
        <p:spPr>
          <a:xfrm>
            <a:off x="7799708"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381" name="Google Shape;1381;p87"/>
          <p:cNvSpPr txBox="1"/>
          <p:nvPr>
            <p:ph idx="1" type="body"/>
          </p:nvPr>
        </p:nvSpPr>
        <p:spPr>
          <a:xfrm>
            <a:off x="8208199"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382" name="Google Shape;1382;p87"/>
          <p:cNvSpPr txBox="1"/>
          <p:nvPr>
            <p:ph idx="1" type="body"/>
          </p:nvPr>
        </p:nvSpPr>
        <p:spPr>
          <a:xfrm>
            <a:off x="857692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383" name="Google Shape;1383;p87"/>
          <p:cNvSpPr txBox="1"/>
          <p:nvPr>
            <p:ph idx="1" type="body"/>
          </p:nvPr>
        </p:nvSpPr>
        <p:spPr>
          <a:xfrm>
            <a:off x="6333821"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384" name="Google Shape;1384;p87"/>
          <p:cNvSpPr txBox="1"/>
          <p:nvPr>
            <p:ph idx="1" type="body"/>
          </p:nvPr>
        </p:nvSpPr>
        <p:spPr>
          <a:xfrm>
            <a:off x="6276813" y="353756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385" name="Google Shape;1385;p87"/>
          <p:cNvSpPr txBox="1"/>
          <p:nvPr>
            <p:ph idx="1" type="body"/>
          </p:nvPr>
        </p:nvSpPr>
        <p:spPr>
          <a:xfrm>
            <a:off x="6276813" y="3187087"/>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386" name="Google Shape;1386;p87"/>
          <p:cNvSpPr txBox="1"/>
          <p:nvPr>
            <p:ph idx="1" type="body"/>
          </p:nvPr>
        </p:nvSpPr>
        <p:spPr>
          <a:xfrm>
            <a:off x="6276813" y="2836615"/>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387" name="Google Shape;1387;p87"/>
          <p:cNvSpPr txBox="1"/>
          <p:nvPr>
            <p:ph idx="1" type="body"/>
          </p:nvPr>
        </p:nvSpPr>
        <p:spPr>
          <a:xfrm>
            <a:off x="6276813" y="2486143"/>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388" name="Google Shape;1388;p87"/>
          <p:cNvSpPr txBox="1"/>
          <p:nvPr>
            <p:ph idx="1" type="body"/>
          </p:nvPr>
        </p:nvSpPr>
        <p:spPr>
          <a:xfrm>
            <a:off x="6276813" y="213567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389" name="Google Shape;1389;p87"/>
          <p:cNvSpPr txBox="1"/>
          <p:nvPr>
            <p:ph idx="1" type="body"/>
          </p:nvPr>
        </p:nvSpPr>
        <p:spPr>
          <a:xfrm rot="-5400000">
            <a:off x="5565550"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390" name="Google Shape;1390;p87"/>
          <p:cNvSpPr txBox="1"/>
          <p:nvPr>
            <p:ph idx="1" type="body"/>
          </p:nvPr>
        </p:nvSpPr>
        <p:spPr>
          <a:xfrm>
            <a:off x="6949689" y="1863675"/>
            <a:ext cx="150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1967</a:t>
            </a:r>
            <a:r>
              <a:rPr lang="en-GB" sz="1800">
                <a:highlight>
                  <a:schemeClr val="lt1"/>
                </a:highlight>
              </a:rPr>
              <a:t> to 2024</a:t>
            </a:r>
            <a:endParaRPr sz="1800">
              <a:highlight>
                <a:schemeClr val="lt1"/>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pic>
        <p:nvPicPr>
          <p:cNvPr id="1395" name="Google Shape;1395;p88"/>
          <p:cNvPicPr preferRelativeResize="0"/>
          <p:nvPr/>
        </p:nvPicPr>
        <p:blipFill>
          <a:blip r:embed="rId3">
            <a:alphaModFix/>
          </a:blip>
          <a:stretch>
            <a:fillRect/>
          </a:stretch>
        </p:blipFill>
        <p:spPr>
          <a:xfrm>
            <a:off x="6478959" y="1868789"/>
            <a:ext cx="2186770" cy="2102299"/>
          </a:xfrm>
          <a:prstGeom prst="rect">
            <a:avLst/>
          </a:prstGeom>
          <a:noFill/>
          <a:ln>
            <a:noFill/>
          </a:ln>
        </p:spPr>
      </p:pic>
      <p:pic>
        <p:nvPicPr>
          <p:cNvPr id="1396" name="Google Shape;1396;p88"/>
          <p:cNvPicPr preferRelativeResize="0"/>
          <p:nvPr/>
        </p:nvPicPr>
        <p:blipFill>
          <a:blip r:embed="rId4">
            <a:alphaModFix/>
          </a:blip>
          <a:stretch>
            <a:fillRect/>
          </a:stretch>
        </p:blipFill>
        <p:spPr>
          <a:xfrm>
            <a:off x="3615012" y="1864609"/>
            <a:ext cx="2183237" cy="2104391"/>
          </a:xfrm>
          <a:prstGeom prst="rect">
            <a:avLst/>
          </a:prstGeom>
          <a:noFill/>
          <a:ln>
            <a:noFill/>
          </a:ln>
        </p:spPr>
      </p:pic>
      <p:pic>
        <p:nvPicPr>
          <p:cNvPr id="1397" name="Google Shape;1397;p88"/>
          <p:cNvPicPr preferRelativeResize="0"/>
          <p:nvPr/>
        </p:nvPicPr>
        <p:blipFill>
          <a:blip r:embed="rId5">
            <a:alphaModFix/>
          </a:blip>
          <a:stretch>
            <a:fillRect/>
          </a:stretch>
        </p:blipFill>
        <p:spPr>
          <a:xfrm>
            <a:off x="813118" y="1871397"/>
            <a:ext cx="2183238" cy="2102295"/>
          </a:xfrm>
          <a:prstGeom prst="rect">
            <a:avLst/>
          </a:prstGeom>
          <a:noFill/>
          <a:ln>
            <a:noFill/>
          </a:ln>
        </p:spPr>
      </p:pic>
      <p:sp>
        <p:nvSpPr>
          <p:cNvPr id="1398" name="Google Shape;1398;p88"/>
          <p:cNvSpPr txBox="1"/>
          <p:nvPr>
            <p:ph idx="1" type="body"/>
          </p:nvPr>
        </p:nvSpPr>
        <p:spPr>
          <a:xfrm>
            <a:off x="865331" y="1038600"/>
            <a:ext cx="21282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All data is between -0.4 and 0.4°C.</a:t>
            </a:r>
            <a:endParaRPr sz="1800"/>
          </a:p>
        </p:txBody>
      </p:sp>
      <p:sp>
        <p:nvSpPr>
          <p:cNvPr id="1399" name="Google Shape;1399;p88"/>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400" name="Google Shape;1400;p88"/>
          <p:cNvCxnSpPr/>
          <p:nvPr/>
        </p:nvCxnSpPr>
        <p:spPr>
          <a:xfrm>
            <a:off x="817226"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401" name="Google Shape;1401;p88"/>
          <p:cNvCxnSpPr/>
          <p:nvPr/>
        </p:nvCxnSpPr>
        <p:spPr>
          <a:xfrm rot="10800000">
            <a:off x="81311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402" name="Google Shape;1402;p88"/>
          <p:cNvSpPr txBox="1"/>
          <p:nvPr>
            <p:ph idx="1" type="body"/>
          </p:nvPr>
        </p:nvSpPr>
        <p:spPr>
          <a:xfrm>
            <a:off x="889970"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03" name="Google Shape;1403;p88"/>
          <p:cNvSpPr txBox="1"/>
          <p:nvPr>
            <p:ph idx="1" type="body"/>
          </p:nvPr>
        </p:nvSpPr>
        <p:spPr>
          <a:xfrm>
            <a:off x="1380958"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04" name="Google Shape;1404;p88"/>
          <p:cNvSpPr txBox="1"/>
          <p:nvPr>
            <p:ph idx="1" type="body"/>
          </p:nvPr>
        </p:nvSpPr>
        <p:spPr>
          <a:xfrm>
            <a:off x="1746723"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05" name="Google Shape;1405;p88"/>
          <p:cNvSpPr txBox="1"/>
          <p:nvPr>
            <p:ph idx="1" type="body"/>
          </p:nvPr>
        </p:nvSpPr>
        <p:spPr>
          <a:xfrm>
            <a:off x="213386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406" name="Google Shape;1406;p88"/>
          <p:cNvSpPr txBox="1"/>
          <p:nvPr>
            <p:ph idx="1" type="body"/>
          </p:nvPr>
        </p:nvSpPr>
        <p:spPr>
          <a:xfrm>
            <a:off x="2542355"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407" name="Google Shape;1407;p88"/>
          <p:cNvSpPr txBox="1"/>
          <p:nvPr>
            <p:ph idx="1" type="body"/>
          </p:nvPr>
        </p:nvSpPr>
        <p:spPr>
          <a:xfrm>
            <a:off x="2926193"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408" name="Google Shape;1408;p88"/>
          <p:cNvSpPr txBox="1"/>
          <p:nvPr>
            <p:ph idx="1" type="body"/>
          </p:nvPr>
        </p:nvSpPr>
        <p:spPr>
          <a:xfrm>
            <a:off x="667977"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09" name="Google Shape;1409;p88"/>
          <p:cNvSpPr txBox="1"/>
          <p:nvPr>
            <p:ph idx="1" type="body"/>
          </p:nvPr>
        </p:nvSpPr>
        <p:spPr>
          <a:xfrm>
            <a:off x="601751" y="3540134"/>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410" name="Google Shape;1410;p88"/>
          <p:cNvSpPr txBox="1"/>
          <p:nvPr>
            <p:ph idx="1" type="body"/>
          </p:nvPr>
        </p:nvSpPr>
        <p:spPr>
          <a:xfrm>
            <a:off x="601751" y="3192236"/>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411" name="Google Shape;1411;p88"/>
          <p:cNvSpPr txBox="1"/>
          <p:nvPr>
            <p:ph idx="1" type="body"/>
          </p:nvPr>
        </p:nvSpPr>
        <p:spPr>
          <a:xfrm>
            <a:off x="601751" y="2844338"/>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412" name="Google Shape;1412;p88"/>
          <p:cNvSpPr txBox="1"/>
          <p:nvPr>
            <p:ph idx="1" type="body"/>
          </p:nvPr>
        </p:nvSpPr>
        <p:spPr>
          <a:xfrm>
            <a:off x="601751" y="249644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413" name="Google Shape;1413;p88"/>
          <p:cNvSpPr txBox="1"/>
          <p:nvPr>
            <p:ph idx="1" type="body"/>
          </p:nvPr>
        </p:nvSpPr>
        <p:spPr>
          <a:xfrm>
            <a:off x="601751" y="2148542"/>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414" name="Google Shape;1414;p88"/>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Each horizontal axes show annual global mean temperature expressed as a difference from pre-industrial conditions (°C).</a:t>
            </a:r>
            <a:endParaRPr sz="1600"/>
          </a:p>
        </p:txBody>
      </p:sp>
      <p:sp>
        <p:nvSpPr>
          <p:cNvPr id="1415" name="Google Shape;1415;p88"/>
          <p:cNvSpPr txBox="1"/>
          <p:nvPr>
            <p:ph idx="1" type="body"/>
          </p:nvPr>
        </p:nvSpPr>
        <p:spPr>
          <a:xfrm rot="-5400000">
            <a:off x="-127950"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cxnSp>
        <p:nvCxnSpPr>
          <p:cNvPr id="1416" name="Google Shape;1416;p88"/>
          <p:cNvCxnSpPr/>
          <p:nvPr/>
        </p:nvCxnSpPr>
        <p:spPr>
          <a:xfrm>
            <a:off x="3615026"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417" name="Google Shape;1417;p88"/>
          <p:cNvCxnSpPr/>
          <p:nvPr/>
        </p:nvCxnSpPr>
        <p:spPr>
          <a:xfrm rot="10800000">
            <a:off x="361091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418" name="Google Shape;1418;p88"/>
          <p:cNvSpPr txBox="1"/>
          <p:nvPr>
            <p:ph idx="1" type="body"/>
          </p:nvPr>
        </p:nvSpPr>
        <p:spPr>
          <a:xfrm>
            <a:off x="3666341"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19" name="Google Shape;1419;p88"/>
          <p:cNvSpPr txBox="1"/>
          <p:nvPr>
            <p:ph idx="1" type="body"/>
          </p:nvPr>
        </p:nvSpPr>
        <p:spPr>
          <a:xfrm>
            <a:off x="4178758"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20" name="Google Shape;1420;p88"/>
          <p:cNvSpPr txBox="1"/>
          <p:nvPr>
            <p:ph idx="1" type="body"/>
          </p:nvPr>
        </p:nvSpPr>
        <p:spPr>
          <a:xfrm>
            <a:off x="4482788" y="3990400"/>
            <a:ext cx="2463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21" name="Google Shape;1421;p88"/>
          <p:cNvSpPr txBox="1"/>
          <p:nvPr>
            <p:ph idx="1" type="body"/>
          </p:nvPr>
        </p:nvSpPr>
        <p:spPr>
          <a:xfrm>
            <a:off x="493166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422" name="Google Shape;1422;p88"/>
          <p:cNvSpPr txBox="1"/>
          <p:nvPr>
            <p:ph idx="1" type="body"/>
          </p:nvPr>
        </p:nvSpPr>
        <p:spPr>
          <a:xfrm>
            <a:off x="5340155"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423" name="Google Shape;1423;p88"/>
          <p:cNvSpPr txBox="1"/>
          <p:nvPr>
            <p:ph idx="1" type="body"/>
          </p:nvPr>
        </p:nvSpPr>
        <p:spPr>
          <a:xfrm>
            <a:off x="5723993"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424" name="Google Shape;1424;p88"/>
          <p:cNvSpPr txBox="1"/>
          <p:nvPr>
            <p:ph idx="1" type="body"/>
          </p:nvPr>
        </p:nvSpPr>
        <p:spPr>
          <a:xfrm>
            <a:off x="3456559"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25" name="Google Shape;1425;p88"/>
          <p:cNvSpPr txBox="1"/>
          <p:nvPr>
            <p:ph idx="1" type="body"/>
          </p:nvPr>
        </p:nvSpPr>
        <p:spPr>
          <a:xfrm>
            <a:off x="3399551" y="353756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426" name="Google Shape;1426;p88"/>
          <p:cNvSpPr txBox="1"/>
          <p:nvPr>
            <p:ph idx="1" type="body"/>
          </p:nvPr>
        </p:nvSpPr>
        <p:spPr>
          <a:xfrm>
            <a:off x="3399551" y="3187087"/>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427" name="Google Shape;1427;p88"/>
          <p:cNvSpPr txBox="1"/>
          <p:nvPr>
            <p:ph idx="1" type="body"/>
          </p:nvPr>
        </p:nvSpPr>
        <p:spPr>
          <a:xfrm>
            <a:off x="3399551" y="2836615"/>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428" name="Google Shape;1428;p88"/>
          <p:cNvSpPr txBox="1"/>
          <p:nvPr>
            <p:ph idx="1" type="body"/>
          </p:nvPr>
        </p:nvSpPr>
        <p:spPr>
          <a:xfrm>
            <a:off x="3399551" y="2486143"/>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429" name="Google Shape;1429;p88"/>
          <p:cNvSpPr txBox="1"/>
          <p:nvPr>
            <p:ph idx="1" type="body"/>
          </p:nvPr>
        </p:nvSpPr>
        <p:spPr>
          <a:xfrm>
            <a:off x="3399551" y="213567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430" name="Google Shape;1430;p88"/>
          <p:cNvSpPr txBox="1"/>
          <p:nvPr>
            <p:ph idx="1" type="body"/>
          </p:nvPr>
        </p:nvSpPr>
        <p:spPr>
          <a:xfrm rot="-5400000">
            <a:off x="2707832"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431" name="Google Shape;1431;p88"/>
          <p:cNvSpPr txBox="1"/>
          <p:nvPr>
            <p:ph idx="1" type="body"/>
          </p:nvPr>
        </p:nvSpPr>
        <p:spPr>
          <a:xfrm>
            <a:off x="1229959" y="1863675"/>
            <a:ext cx="1555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1908</a:t>
            </a:r>
            <a:endParaRPr sz="1800">
              <a:highlight>
                <a:schemeClr val="lt1"/>
              </a:highlight>
            </a:endParaRPr>
          </a:p>
        </p:txBody>
      </p:sp>
      <p:sp>
        <p:nvSpPr>
          <p:cNvPr id="1432" name="Google Shape;1432;p88"/>
          <p:cNvSpPr txBox="1"/>
          <p:nvPr>
            <p:ph idx="1" type="body"/>
          </p:nvPr>
        </p:nvSpPr>
        <p:spPr>
          <a:xfrm>
            <a:off x="4081637" y="1863675"/>
            <a:ext cx="150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1909 to 1966</a:t>
            </a:r>
            <a:endParaRPr sz="1800">
              <a:highlight>
                <a:schemeClr val="lt1"/>
              </a:highlight>
            </a:endParaRPr>
          </a:p>
        </p:txBody>
      </p:sp>
      <p:cxnSp>
        <p:nvCxnSpPr>
          <p:cNvPr id="1433" name="Google Shape;1433;p88"/>
          <p:cNvCxnSpPr/>
          <p:nvPr/>
        </p:nvCxnSpPr>
        <p:spPr>
          <a:xfrm>
            <a:off x="6483070"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434" name="Google Shape;1434;p88"/>
          <p:cNvCxnSpPr/>
          <p:nvPr/>
        </p:nvCxnSpPr>
        <p:spPr>
          <a:xfrm rot="10800000">
            <a:off x="6478962"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435" name="Google Shape;1435;p88"/>
          <p:cNvSpPr txBox="1"/>
          <p:nvPr>
            <p:ph idx="1" type="body"/>
          </p:nvPr>
        </p:nvSpPr>
        <p:spPr>
          <a:xfrm>
            <a:off x="6569647"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36" name="Google Shape;1436;p88"/>
          <p:cNvSpPr txBox="1"/>
          <p:nvPr>
            <p:ph idx="1" type="body"/>
          </p:nvPr>
        </p:nvSpPr>
        <p:spPr>
          <a:xfrm>
            <a:off x="7046802"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37" name="Google Shape;1437;p88"/>
          <p:cNvSpPr txBox="1"/>
          <p:nvPr>
            <p:ph idx="1" type="body"/>
          </p:nvPr>
        </p:nvSpPr>
        <p:spPr>
          <a:xfrm>
            <a:off x="7377297"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38" name="Google Shape;1438;p88"/>
          <p:cNvSpPr txBox="1"/>
          <p:nvPr>
            <p:ph idx="1" type="body"/>
          </p:nvPr>
        </p:nvSpPr>
        <p:spPr>
          <a:xfrm>
            <a:off x="7799708"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439" name="Google Shape;1439;p88"/>
          <p:cNvSpPr txBox="1"/>
          <p:nvPr>
            <p:ph idx="1" type="body"/>
          </p:nvPr>
        </p:nvSpPr>
        <p:spPr>
          <a:xfrm>
            <a:off x="8208199"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440" name="Google Shape;1440;p88"/>
          <p:cNvSpPr txBox="1"/>
          <p:nvPr>
            <p:ph idx="1" type="body"/>
          </p:nvPr>
        </p:nvSpPr>
        <p:spPr>
          <a:xfrm>
            <a:off x="857692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441" name="Google Shape;1441;p88"/>
          <p:cNvSpPr txBox="1"/>
          <p:nvPr>
            <p:ph idx="1" type="body"/>
          </p:nvPr>
        </p:nvSpPr>
        <p:spPr>
          <a:xfrm>
            <a:off x="6333821"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42" name="Google Shape;1442;p88"/>
          <p:cNvSpPr txBox="1"/>
          <p:nvPr>
            <p:ph idx="1" type="body"/>
          </p:nvPr>
        </p:nvSpPr>
        <p:spPr>
          <a:xfrm>
            <a:off x="6276813" y="353756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443" name="Google Shape;1443;p88"/>
          <p:cNvSpPr txBox="1"/>
          <p:nvPr>
            <p:ph idx="1" type="body"/>
          </p:nvPr>
        </p:nvSpPr>
        <p:spPr>
          <a:xfrm>
            <a:off x="6276813" y="3187087"/>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444" name="Google Shape;1444;p88"/>
          <p:cNvSpPr txBox="1"/>
          <p:nvPr>
            <p:ph idx="1" type="body"/>
          </p:nvPr>
        </p:nvSpPr>
        <p:spPr>
          <a:xfrm>
            <a:off x="6276813" y="2836615"/>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445" name="Google Shape;1445;p88"/>
          <p:cNvSpPr txBox="1"/>
          <p:nvPr>
            <p:ph idx="1" type="body"/>
          </p:nvPr>
        </p:nvSpPr>
        <p:spPr>
          <a:xfrm>
            <a:off x="6276813" y="2486143"/>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446" name="Google Shape;1446;p88"/>
          <p:cNvSpPr txBox="1"/>
          <p:nvPr>
            <p:ph idx="1" type="body"/>
          </p:nvPr>
        </p:nvSpPr>
        <p:spPr>
          <a:xfrm>
            <a:off x="6276813" y="213567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447" name="Google Shape;1447;p88"/>
          <p:cNvSpPr txBox="1"/>
          <p:nvPr>
            <p:ph idx="1" type="body"/>
          </p:nvPr>
        </p:nvSpPr>
        <p:spPr>
          <a:xfrm rot="-5400000">
            <a:off x="5565550"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448" name="Google Shape;1448;p88"/>
          <p:cNvSpPr txBox="1"/>
          <p:nvPr>
            <p:ph idx="1" type="body"/>
          </p:nvPr>
        </p:nvSpPr>
        <p:spPr>
          <a:xfrm>
            <a:off x="6949689" y="1863675"/>
            <a:ext cx="150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1967 to 2024</a:t>
            </a:r>
            <a:endParaRPr sz="1800">
              <a:highlight>
                <a:schemeClr val="lt1"/>
              </a:highlight>
            </a:endParaRPr>
          </a:p>
        </p:txBody>
      </p:sp>
      <p:cxnSp>
        <p:nvCxnSpPr>
          <p:cNvPr id="1449" name="Google Shape;1449;p88"/>
          <p:cNvCxnSpPr/>
          <p:nvPr/>
        </p:nvCxnSpPr>
        <p:spPr>
          <a:xfrm rot="10800000">
            <a:off x="1026934" y="2130092"/>
            <a:ext cx="0" cy="1860300"/>
          </a:xfrm>
          <a:prstGeom prst="straightConnector1">
            <a:avLst/>
          </a:prstGeom>
          <a:noFill/>
          <a:ln cap="flat" cmpd="sng" w="38100">
            <a:solidFill>
              <a:schemeClr val="accent4"/>
            </a:solidFill>
            <a:prstDash val="lgDash"/>
            <a:round/>
            <a:headEnd len="med" w="med" type="none"/>
            <a:tailEnd len="med" w="med" type="none"/>
          </a:ln>
        </p:spPr>
      </p:cxnSp>
      <p:cxnSp>
        <p:nvCxnSpPr>
          <p:cNvPr id="1450" name="Google Shape;1450;p88"/>
          <p:cNvCxnSpPr/>
          <p:nvPr/>
        </p:nvCxnSpPr>
        <p:spPr>
          <a:xfrm rot="10800000">
            <a:off x="1821036" y="2130092"/>
            <a:ext cx="0" cy="1860300"/>
          </a:xfrm>
          <a:prstGeom prst="straightConnector1">
            <a:avLst/>
          </a:prstGeom>
          <a:noFill/>
          <a:ln cap="flat" cmpd="sng" w="38100">
            <a:solidFill>
              <a:schemeClr val="accent4"/>
            </a:solidFill>
            <a:prstDash val="lgDash"/>
            <a:round/>
            <a:headEnd len="med" w="med" type="none"/>
            <a:tailEnd len="med" w="med" type="none"/>
          </a:ln>
        </p:spPr>
      </p:cxnSp>
      <p:cxnSp>
        <p:nvCxnSpPr>
          <p:cNvPr id="1451" name="Google Shape;1451;p88"/>
          <p:cNvCxnSpPr/>
          <p:nvPr/>
        </p:nvCxnSpPr>
        <p:spPr>
          <a:xfrm rot="10800000">
            <a:off x="3989914" y="2130092"/>
            <a:ext cx="0" cy="1860300"/>
          </a:xfrm>
          <a:prstGeom prst="straightConnector1">
            <a:avLst/>
          </a:prstGeom>
          <a:noFill/>
          <a:ln cap="flat" cmpd="sng" w="38100">
            <a:solidFill>
              <a:schemeClr val="accent4"/>
            </a:solidFill>
            <a:prstDash val="lgDash"/>
            <a:round/>
            <a:headEnd len="med" w="med" type="none"/>
            <a:tailEnd len="med" w="med" type="none"/>
          </a:ln>
        </p:spPr>
      </p:cxnSp>
      <p:cxnSp>
        <p:nvCxnSpPr>
          <p:cNvPr id="1452" name="Google Shape;1452;p88"/>
          <p:cNvCxnSpPr/>
          <p:nvPr/>
        </p:nvCxnSpPr>
        <p:spPr>
          <a:xfrm rot="10800000">
            <a:off x="4784017" y="2130092"/>
            <a:ext cx="0" cy="1860300"/>
          </a:xfrm>
          <a:prstGeom prst="straightConnector1">
            <a:avLst/>
          </a:prstGeom>
          <a:noFill/>
          <a:ln cap="flat" cmpd="sng" w="38100">
            <a:solidFill>
              <a:schemeClr val="accent4"/>
            </a:solidFill>
            <a:prstDash val="lgDash"/>
            <a:round/>
            <a:headEnd len="med" w="med" type="none"/>
            <a:tailEnd len="med" w="med" type="none"/>
          </a:ln>
        </p:spPr>
      </p:cxnSp>
      <p:sp>
        <p:nvSpPr>
          <p:cNvPr id="1453" name="Google Shape;1453;p88"/>
          <p:cNvSpPr txBox="1"/>
          <p:nvPr>
            <p:ph idx="1" type="body"/>
          </p:nvPr>
        </p:nvSpPr>
        <p:spPr>
          <a:xfrm>
            <a:off x="3684731" y="1038600"/>
            <a:ext cx="21282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All data is between -0.3 and 0.5°C.</a:t>
            </a:r>
            <a:endParaRPr sz="1800"/>
          </a:p>
        </p:txBody>
      </p:sp>
      <p:cxnSp>
        <p:nvCxnSpPr>
          <p:cNvPr id="1454" name="Google Shape;1454;p88"/>
          <p:cNvCxnSpPr/>
          <p:nvPr/>
        </p:nvCxnSpPr>
        <p:spPr>
          <a:xfrm rot="10800000">
            <a:off x="7055553" y="2130092"/>
            <a:ext cx="0" cy="1860300"/>
          </a:xfrm>
          <a:prstGeom prst="straightConnector1">
            <a:avLst/>
          </a:prstGeom>
          <a:noFill/>
          <a:ln cap="flat" cmpd="sng" w="38100">
            <a:solidFill>
              <a:schemeClr val="accent4"/>
            </a:solidFill>
            <a:prstDash val="lgDash"/>
            <a:round/>
            <a:headEnd len="med" w="med" type="none"/>
            <a:tailEnd len="med" w="med" type="none"/>
          </a:ln>
        </p:spPr>
      </p:cxnSp>
      <p:cxnSp>
        <p:nvCxnSpPr>
          <p:cNvPr id="1455" name="Google Shape;1455;p88"/>
          <p:cNvCxnSpPr/>
          <p:nvPr/>
        </p:nvCxnSpPr>
        <p:spPr>
          <a:xfrm rot="10800000">
            <a:off x="8670217" y="2130092"/>
            <a:ext cx="0" cy="1860300"/>
          </a:xfrm>
          <a:prstGeom prst="straightConnector1">
            <a:avLst/>
          </a:prstGeom>
          <a:noFill/>
          <a:ln cap="flat" cmpd="sng" w="38100">
            <a:solidFill>
              <a:schemeClr val="accent4"/>
            </a:solidFill>
            <a:prstDash val="lgDash"/>
            <a:round/>
            <a:headEnd len="med" w="med" type="none"/>
            <a:tailEnd len="med" w="med" type="none"/>
          </a:ln>
        </p:spPr>
      </p:cxnSp>
      <p:sp>
        <p:nvSpPr>
          <p:cNvPr id="1456" name="Google Shape;1456;p88"/>
          <p:cNvSpPr txBox="1"/>
          <p:nvPr>
            <p:ph idx="1" type="body"/>
          </p:nvPr>
        </p:nvSpPr>
        <p:spPr>
          <a:xfrm>
            <a:off x="6580331" y="1038600"/>
            <a:ext cx="21282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All data is between 0 and 1.6°C.</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pic>
        <p:nvPicPr>
          <p:cNvPr id="1461" name="Google Shape;1461;p89"/>
          <p:cNvPicPr preferRelativeResize="0"/>
          <p:nvPr/>
        </p:nvPicPr>
        <p:blipFill>
          <a:blip r:embed="rId3">
            <a:alphaModFix/>
          </a:blip>
          <a:stretch>
            <a:fillRect/>
          </a:stretch>
        </p:blipFill>
        <p:spPr>
          <a:xfrm>
            <a:off x="6478959" y="1868789"/>
            <a:ext cx="2186770" cy="2102299"/>
          </a:xfrm>
          <a:prstGeom prst="rect">
            <a:avLst/>
          </a:prstGeom>
          <a:noFill/>
          <a:ln>
            <a:noFill/>
          </a:ln>
        </p:spPr>
      </p:pic>
      <p:pic>
        <p:nvPicPr>
          <p:cNvPr id="1462" name="Google Shape;1462;p89"/>
          <p:cNvPicPr preferRelativeResize="0"/>
          <p:nvPr/>
        </p:nvPicPr>
        <p:blipFill>
          <a:blip r:embed="rId4">
            <a:alphaModFix/>
          </a:blip>
          <a:stretch>
            <a:fillRect/>
          </a:stretch>
        </p:blipFill>
        <p:spPr>
          <a:xfrm>
            <a:off x="3615012" y="1864609"/>
            <a:ext cx="2183237" cy="2104391"/>
          </a:xfrm>
          <a:prstGeom prst="rect">
            <a:avLst/>
          </a:prstGeom>
          <a:noFill/>
          <a:ln>
            <a:noFill/>
          </a:ln>
        </p:spPr>
      </p:pic>
      <p:pic>
        <p:nvPicPr>
          <p:cNvPr id="1463" name="Google Shape;1463;p89"/>
          <p:cNvPicPr preferRelativeResize="0"/>
          <p:nvPr/>
        </p:nvPicPr>
        <p:blipFill>
          <a:blip r:embed="rId5">
            <a:alphaModFix/>
          </a:blip>
          <a:stretch>
            <a:fillRect/>
          </a:stretch>
        </p:blipFill>
        <p:spPr>
          <a:xfrm>
            <a:off x="813118" y="1871397"/>
            <a:ext cx="2183238" cy="2102295"/>
          </a:xfrm>
          <a:prstGeom prst="rect">
            <a:avLst/>
          </a:prstGeom>
          <a:noFill/>
          <a:ln>
            <a:noFill/>
          </a:ln>
        </p:spPr>
      </p:pic>
      <p:sp>
        <p:nvSpPr>
          <p:cNvPr id="1464" name="Google Shape;1464;p89"/>
          <p:cNvSpPr txBox="1"/>
          <p:nvPr>
            <p:ph idx="1" type="body"/>
          </p:nvPr>
        </p:nvSpPr>
        <p:spPr>
          <a:xfrm>
            <a:off x="789125" y="1038600"/>
            <a:ext cx="24996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Modal class</a:t>
            </a:r>
            <a:r>
              <a:rPr lang="en-GB" sz="1800"/>
              <a:t> is between -0.2 and 0°C.</a:t>
            </a:r>
            <a:endParaRPr sz="1800"/>
          </a:p>
        </p:txBody>
      </p:sp>
      <p:sp>
        <p:nvSpPr>
          <p:cNvPr id="1465" name="Google Shape;1465;p89"/>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466" name="Google Shape;1466;p89"/>
          <p:cNvCxnSpPr/>
          <p:nvPr/>
        </p:nvCxnSpPr>
        <p:spPr>
          <a:xfrm>
            <a:off x="817226"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467" name="Google Shape;1467;p89"/>
          <p:cNvCxnSpPr/>
          <p:nvPr/>
        </p:nvCxnSpPr>
        <p:spPr>
          <a:xfrm rot="10800000">
            <a:off x="81311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468" name="Google Shape;1468;p89"/>
          <p:cNvSpPr txBox="1"/>
          <p:nvPr>
            <p:ph idx="1" type="body"/>
          </p:nvPr>
        </p:nvSpPr>
        <p:spPr>
          <a:xfrm>
            <a:off x="889970"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69" name="Google Shape;1469;p89"/>
          <p:cNvSpPr txBox="1"/>
          <p:nvPr>
            <p:ph idx="1" type="body"/>
          </p:nvPr>
        </p:nvSpPr>
        <p:spPr>
          <a:xfrm>
            <a:off x="1380958"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70" name="Google Shape;1470;p89"/>
          <p:cNvSpPr txBox="1"/>
          <p:nvPr>
            <p:ph idx="1" type="body"/>
          </p:nvPr>
        </p:nvSpPr>
        <p:spPr>
          <a:xfrm>
            <a:off x="1746723"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71" name="Google Shape;1471;p89"/>
          <p:cNvSpPr txBox="1"/>
          <p:nvPr>
            <p:ph idx="1" type="body"/>
          </p:nvPr>
        </p:nvSpPr>
        <p:spPr>
          <a:xfrm>
            <a:off x="213386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472" name="Google Shape;1472;p89"/>
          <p:cNvSpPr txBox="1"/>
          <p:nvPr>
            <p:ph idx="1" type="body"/>
          </p:nvPr>
        </p:nvSpPr>
        <p:spPr>
          <a:xfrm>
            <a:off x="2542355"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473" name="Google Shape;1473;p89"/>
          <p:cNvSpPr txBox="1"/>
          <p:nvPr>
            <p:ph idx="1" type="body"/>
          </p:nvPr>
        </p:nvSpPr>
        <p:spPr>
          <a:xfrm>
            <a:off x="2926193"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474" name="Google Shape;1474;p89"/>
          <p:cNvSpPr txBox="1"/>
          <p:nvPr>
            <p:ph idx="1" type="body"/>
          </p:nvPr>
        </p:nvSpPr>
        <p:spPr>
          <a:xfrm>
            <a:off x="667977"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75" name="Google Shape;1475;p89"/>
          <p:cNvSpPr txBox="1"/>
          <p:nvPr>
            <p:ph idx="1" type="body"/>
          </p:nvPr>
        </p:nvSpPr>
        <p:spPr>
          <a:xfrm>
            <a:off x="601751" y="3540134"/>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476" name="Google Shape;1476;p89"/>
          <p:cNvSpPr txBox="1"/>
          <p:nvPr>
            <p:ph idx="1" type="body"/>
          </p:nvPr>
        </p:nvSpPr>
        <p:spPr>
          <a:xfrm>
            <a:off x="601751" y="3192236"/>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477" name="Google Shape;1477;p89"/>
          <p:cNvSpPr txBox="1"/>
          <p:nvPr>
            <p:ph idx="1" type="body"/>
          </p:nvPr>
        </p:nvSpPr>
        <p:spPr>
          <a:xfrm>
            <a:off x="601751" y="2844338"/>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478" name="Google Shape;1478;p89"/>
          <p:cNvSpPr txBox="1"/>
          <p:nvPr>
            <p:ph idx="1" type="body"/>
          </p:nvPr>
        </p:nvSpPr>
        <p:spPr>
          <a:xfrm>
            <a:off x="601751" y="249644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479" name="Google Shape;1479;p89"/>
          <p:cNvSpPr txBox="1"/>
          <p:nvPr>
            <p:ph idx="1" type="body"/>
          </p:nvPr>
        </p:nvSpPr>
        <p:spPr>
          <a:xfrm>
            <a:off x="601751" y="2148542"/>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480" name="Google Shape;1480;p89"/>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Each horizontal axes show annual global mean temperature expressed as a difference from pre-industrial conditions (°C).</a:t>
            </a:r>
            <a:endParaRPr sz="1600"/>
          </a:p>
        </p:txBody>
      </p:sp>
      <p:sp>
        <p:nvSpPr>
          <p:cNvPr id="1481" name="Google Shape;1481;p89"/>
          <p:cNvSpPr txBox="1"/>
          <p:nvPr>
            <p:ph idx="1" type="body"/>
          </p:nvPr>
        </p:nvSpPr>
        <p:spPr>
          <a:xfrm rot="-5400000">
            <a:off x="-127950"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cxnSp>
        <p:nvCxnSpPr>
          <p:cNvPr id="1482" name="Google Shape;1482;p89"/>
          <p:cNvCxnSpPr/>
          <p:nvPr/>
        </p:nvCxnSpPr>
        <p:spPr>
          <a:xfrm>
            <a:off x="3615026"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483" name="Google Shape;1483;p89"/>
          <p:cNvCxnSpPr/>
          <p:nvPr/>
        </p:nvCxnSpPr>
        <p:spPr>
          <a:xfrm rot="10800000">
            <a:off x="361091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484" name="Google Shape;1484;p89"/>
          <p:cNvSpPr txBox="1"/>
          <p:nvPr>
            <p:ph idx="1" type="body"/>
          </p:nvPr>
        </p:nvSpPr>
        <p:spPr>
          <a:xfrm>
            <a:off x="3666341"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85" name="Google Shape;1485;p89"/>
          <p:cNvSpPr txBox="1"/>
          <p:nvPr>
            <p:ph idx="1" type="body"/>
          </p:nvPr>
        </p:nvSpPr>
        <p:spPr>
          <a:xfrm>
            <a:off x="4178758"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86" name="Google Shape;1486;p89"/>
          <p:cNvSpPr txBox="1"/>
          <p:nvPr>
            <p:ph idx="1" type="body"/>
          </p:nvPr>
        </p:nvSpPr>
        <p:spPr>
          <a:xfrm>
            <a:off x="4482788" y="3990400"/>
            <a:ext cx="2463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487" name="Google Shape;1487;p89"/>
          <p:cNvSpPr txBox="1"/>
          <p:nvPr>
            <p:ph idx="1" type="body"/>
          </p:nvPr>
        </p:nvSpPr>
        <p:spPr>
          <a:xfrm>
            <a:off x="493166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488" name="Google Shape;1488;p89"/>
          <p:cNvSpPr txBox="1"/>
          <p:nvPr>
            <p:ph idx="1" type="body"/>
          </p:nvPr>
        </p:nvSpPr>
        <p:spPr>
          <a:xfrm>
            <a:off x="5340155"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489" name="Google Shape;1489;p89"/>
          <p:cNvSpPr txBox="1"/>
          <p:nvPr>
            <p:ph idx="1" type="body"/>
          </p:nvPr>
        </p:nvSpPr>
        <p:spPr>
          <a:xfrm>
            <a:off x="5723993"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490" name="Google Shape;1490;p89"/>
          <p:cNvSpPr txBox="1"/>
          <p:nvPr>
            <p:ph idx="1" type="body"/>
          </p:nvPr>
        </p:nvSpPr>
        <p:spPr>
          <a:xfrm>
            <a:off x="3456559"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491" name="Google Shape;1491;p89"/>
          <p:cNvSpPr txBox="1"/>
          <p:nvPr>
            <p:ph idx="1" type="body"/>
          </p:nvPr>
        </p:nvSpPr>
        <p:spPr>
          <a:xfrm>
            <a:off x="3399551" y="353756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492" name="Google Shape;1492;p89"/>
          <p:cNvSpPr txBox="1"/>
          <p:nvPr>
            <p:ph idx="1" type="body"/>
          </p:nvPr>
        </p:nvSpPr>
        <p:spPr>
          <a:xfrm>
            <a:off x="3399551" y="3187087"/>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493" name="Google Shape;1493;p89"/>
          <p:cNvSpPr txBox="1"/>
          <p:nvPr>
            <p:ph idx="1" type="body"/>
          </p:nvPr>
        </p:nvSpPr>
        <p:spPr>
          <a:xfrm>
            <a:off x="3399551" y="2836615"/>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494" name="Google Shape;1494;p89"/>
          <p:cNvSpPr txBox="1"/>
          <p:nvPr>
            <p:ph idx="1" type="body"/>
          </p:nvPr>
        </p:nvSpPr>
        <p:spPr>
          <a:xfrm>
            <a:off x="3399551" y="2486143"/>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495" name="Google Shape;1495;p89"/>
          <p:cNvSpPr txBox="1"/>
          <p:nvPr>
            <p:ph idx="1" type="body"/>
          </p:nvPr>
        </p:nvSpPr>
        <p:spPr>
          <a:xfrm>
            <a:off x="3399551" y="213567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496" name="Google Shape;1496;p89"/>
          <p:cNvSpPr txBox="1"/>
          <p:nvPr>
            <p:ph idx="1" type="body"/>
          </p:nvPr>
        </p:nvSpPr>
        <p:spPr>
          <a:xfrm rot="-5400000">
            <a:off x="2707832"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497" name="Google Shape;1497;p89"/>
          <p:cNvSpPr txBox="1"/>
          <p:nvPr>
            <p:ph idx="1" type="body"/>
          </p:nvPr>
        </p:nvSpPr>
        <p:spPr>
          <a:xfrm>
            <a:off x="1229959" y="1863675"/>
            <a:ext cx="1555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1908</a:t>
            </a:r>
            <a:endParaRPr sz="1800">
              <a:highlight>
                <a:schemeClr val="lt1"/>
              </a:highlight>
            </a:endParaRPr>
          </a:p>
        </p:txBody>
      </p:sp>
      <p:sp>
        <p:nvSpPr>
          <p:cNvPr id="1498" name="Google Shape;1498;p89"/>
          <p:cNvSpPr txBox="1"/>
          <p:nvPr>
            <p:ph idx="1" type="body"/>
          </p:nvPr>
        </p:nvSpPr>
        <p:spPr>
          <a:xfrm>
            <a:off x="4081637" y="1863675"/>
            <a:ext cx="150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1909 to 1966</a:t>
            </a:r>
            <a:endParaRPr sz="1800">
              <a:highlight>
                <a:schemeClr val="lt1"/>
              </a:highlight>
            </a:endParaRPr>
          </a:p>
        </p:txBody>
      </p:sp>
      <p:cxnSp>
        <p:nvCxnSpPr>
          <p:cNvPr id="1499" name="Google Shape;1499;p89"/>
          <p:cNvCxnSpPr/>
          <p:nvPr/>
        </p:nvCxnSpPr>
        <p:spPr>
          <a:xfrm>
            <a:off x="6483070"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500" name="Google Shape;1500;p89"/>
          <p:cNvCxnSpPr/>
          <p:nvPr/>
        </p:nvCxnSpPr>
        <p:spPr>
          <a:xfrm rot="10800000">
            <a:off x="6478962"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501" name="Google Shape;1501;p89"/>
          <p:cNvSpPr txBox="1"/>
          <p:nvPr>
            <p:ph idx="1" type="body"/>
          </p:nvPr>
        </p:nvSpPr>
        <p:spPr>
          <a:xfrm>
            <a:off x="6569647"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502" name="Google Shape;1502;p89"/>
          <p:cNvSpPr txBox="1"/>
          <p:nvPr>
            <p:ph idx="1" type="body"/>
          </p:nvPr>
        </p:nvSpPr>
        <p:spPr>
          <a:xfrm>
            <a:off x="7046802"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503" name="Google Shape;1503;p89"/>
          <p:cNvSpPr txBox="1"/>
          <p:nvPr>
            <p:ph idx="1" type="body"/>
          </p:nvPr>
        </p:nvSpPr>
        <p:spPr>
          <a:xfrm>
            <a:off x="7377297"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504" name="Google Shape;1504;p89"/>
          <p:cNvSpPr txBox="1"/>
          <p:nvPr>
            <p:ph idx="1" type="body"/>
          </p:nvPr>
        </p:nvSpPr>
        <p:spPr>
          <a:xfrm>
            <a:off x="7799708"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505" name="Google Shape;1505;p89"/>
          <p:cNvSpPr txBox="1"/>
          <p:nvPr>
            <p:ph idx="1" type="body"/>
          </p:nvPr>
        </p:nvSpPr>
        <p:spPr>
          <a:xfrm>
            <a:off x="8208199"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506" name="Google Shape;1506;p89"/>
          <p:cNvSpPr txBox="1"/>
          <p:nvPr>
            <p:ph idx="1" type="body"/>
          </p:nvPr>
        </p:nvSpPr>
        <p:spPr>
          <a:xfrm>
            <a:off x="857692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507" name="Google Shape;1507;p89"/>
          <p:cNvSpPr txBox="1"/>
          <p:nvPr>
            <p:ph idx="1" type="body"/>
          </p:nvPr>
        </p:nvSpPr>
        <p:spPr>
          <a:xfrm>
            <a:off x="6333821"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508" name="Google Shape;1508;p89"/>
          <p:cNvSpPr txBox="1"/>
          <p:nvPr>
            <p:ph idx="1" type="body"/>
          </p:nvPr>
        </p:nvSpPr>
        <p:spPr>
          <a:xfrm>
            <a:off x="6276813" y="353756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509" name="Google Shape;1509;p89"/>
          <p:cNvSpPr txBox="1"/>
          <p:nvPr>
            <p:ph idx="1" type="body"/>
          </p:nvPr>
        </p:nvSpPr>
        <p:spPr>
          <a:xfrm>
            <a:off x="6276813" y="3187087"/>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510" name="Google Shape;1510;p89"/>
          <p:cNvSpPr txBox="1"/>
          <p:nvPr>
            <p:ph idx="1" type="body"/>
          </p:nvPr>
        </p:nvSpPr>
        <p:spPr>
          <a:xfrm>
            <a:off x="6276813" y="2836615"/>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511" name="Google Shape;1511;p89"/>
          <p:cNvSpPr txBox="1"/>
          <p:nvPr>
            <p:ph idx="1" type="body"/>
          </p:nvPr>
        </p:nvSpPr>
        <p:spPr>
          <a:xfrm>
            <a:off x="6276813" y="2486143"/>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512" name="Google Shape;1512;p89"/>
          <p:cNvSpPr txBox="1"/>
          <p:nvPr>
            <p:ph idx="1" type="body"/>
          </p:nvPr>
        </p:nvSpPr>
        <p:spPr>
          <a:xfrm>
            <a:off x="6276813" y="213567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513" name="Google Shape;1513;p89"/>
          <p:cNvSpPr txBox="1"/>
          <p:nvPr>
            <p:ph idx="1" type="body"/>
          </p:nvPr>
        </p:nvSpPr>
        <p:spPr>
          <a:xfrm rot="-5400000">
            <a:off x="5565550"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514" name="Google Shape;1514;p89"/>
          <p:cNvSpPr txBox="1"/>
          <p:nvPr>
            <p:ph idx="1" type="body"/>
          </p:nvPr>
        </p:nvSpPr>
        <p:spPr>
          <a:xfrm>
            <a:off x="6949689" y="1863675"/>
            <a:ext cx="150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1967 to 2024</a:t>
            </a:r>
            <a:endParaRPr sz="1800">
              <a:highlight>
                <a:schemeClr val="lt1"/>
              </a:highlight>
            </a:endParaRPr>
          </a:p>
        </p:txBody>
      </p:sp>
      <p:sp>
        <p:nvSpPr>
          <p:cNvPr id="1515" name="Google Shape;1515;p89"/>
          <p:cNvSpPr txBox="1"/>
          <p:nvPr>
            <p:ph idx="1" type="body"/>
          </p:nvPr>
        </p:nvSpPr>
        <p:spPr>
          <a:xfrm>
            <a:off x="3568255" y="1038600"/>
            <a:ext cx="25581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Modal classes are</a:t>
            </a:r>
            <a:r>
              <a:rPr lang="en-GB" sz="1800"/>
              <a:t> between 0 and 0.4°C.</a:t>
            </a:r>
            <a:endParaRPr sz="1800"/>
          </a:p>
        </p:txBody>
      </p:sp>
      <p:sp>
        <p:nvSpPr>
          <p:cNvPr id="1516" name="Google Shape;1516;p89"/>
          <p:cNvSpPr txBox="1"/>
          <p:nvPr>
            <p:ph idx="1" type="body"/>
          </p:nvPr>
        </p:nvSpPr>
        <p:spPr>
          <a:xfrm>
            <a:off x="6438975" y="1038600"/>
            <a:ext cx="23709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Modal class</a:t>
            </a:r>
            <a:r>
              <a:rPr lang="en-GB" sz="1800"/>
              <a:t> is between 0.8 and 1°C.</a:t>
            </a:r>
            <a:endParaRPr sz="1800"/>
          </a:p>
        </p:txBody>
      </p:sp>
      <p:sp>
        <p:nvSpPr>
          <p:cNvPr id="1517" name="Google Shape;1517;p89"/>
          <p:cNvSpPr/>
          <p:nvPr/>
        </p:nvSpPr>
        <p:spPr>
          <a:xfrm>
            <a:off x="1204950" y="2877800"/>
            <a:ext cx="217800" cy="11037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8" name="Google Shape;1518;p89"/>
          <p:cNvSpPr/>
          <p:nvPr/>
        </p:nvSpPr>
        <p:spPr>
          <a:xfrm>
            <a:off x="4214325" y="3154525"/>
            <a:ext cx="217800" cy="8271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9" name="Google Shape;1519;p89"/>
          <p:cNvSpPr/>
          <p:nvPr/>
        </p:nvSpPr>
        <p:spPr>
          <a:xfrm>
            <a:off x="4423624" y="3154525"/>
            <a:ext cx="196200" cy="8271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0" name="Google Shape;1520;p89"/>
          <p:cNvSpPr/>
          <p:nvPr/>
        </p:nvSpPr>
        <p:spPr>
          <a:xfrm>
            <a:off x="7852625" y="3502075"/>
            <a:ext cx="196200" cy="4797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pic>
        <p:nvPicPr>
          <p:cNvPr id="1525" name="Google Shape;1525;p90"/>
          <p:cNvPicPr preferRelativeResize="0"/>
          <p:nvPr/>
        </p:nvPicPr>
        <p:blipFill>
          <a:blip r:embed="rId3">
            <a:alphaModFix/>
          </a:blip>
          <a:stretch>
            <a:fillRect/>
          </a:stretch>
        </p:blipFill>
        <p:spPr>
          <a:xfrm>
            <a:off x="6478959" y="1868789"/>
            <a:ext cx="2186770" cy="2102299"/>
          </a:xfrm>
          <a:prstGeom prst="rect">
            <a:avLst/>
          </a:prstGeom>
          <a:noFill/>
          <a:ln>
            <a:noFill/>
          </a:ln>
        </p:spPr>
      </p:pic>
      <p:pic>
        <p:nvPicPr>
          <p:cNvPr id="1526" name="Google Shape;1526;p90"/>
          <p:cNvPicPr preferRelativeResize="0"/>
          <p:nvPr/>
        </p:nvPicPr>
        <p:blipFill>
          <a:blip r:embed="rId4">
            <a:alphaModFix/>
          </a:blip>
          <a:stretch>
            <a:fillRect/>
          </a:stretch>
        </p:blipFill>
        <p:spPr>
          <a:xfrm>
            <a:off x="3615012" y="1864609"/>
            <a:ext cx="2183237" cy="2104391"/>
          </a:xfrm>
          <a:prstGeom prst="rect">
            <a:avLst/>
          </a:prstGeom>
          <a:noFill/>
          <a:ln>
            <a:noFill/>
          </a:ln>
        </p:spPr>
      </p:pic>
      <p:pic>
        <p:nvPicPr>
          <p:cNvPr id="1527" name="Google Shape;1527;p90"/>
          <p:cNvPicPr preferRelativeResize="0"/>
          <p:nvPr/>
        </p:nvPicPr>
        <p:blipFill>
          <a:blip r:embed="rId5">
            <a:alphaModFix/>
          </a:blip>
          <a:stretch>
            <a:fillRect/>
          </a:stretch>
        </p:blipFill>
        <p:spPr>
          <a:xfrm>
            <a:off x="813118" y="1871397"/>
            <a:ext cx="2183238" cy="2102295"/>
          </a:xfrm>
          <a:prstGeom prst="rect">
            <a:avLst/>
          </a:prstGeom>
          <a:noFill/>
          <a:ln>
            <a:noFill/>
          </a:ln>
        </p:spPr>
      </p:pic>
      <p:sp>
        <p:nvSpPr>
          <p:cNvPr id="1528" name="Google Shape;1528;p90"/>
          <p:cNvSpPr txBox="1"/>
          <p:nvPr>
            <p:ph idx="1" type="body"/>
          </p:nvPr>
        </p:nvSpPr>
        <p:spPr>
          <a:xfrm>
            <a:off x="324000" y="810000"/>
            <a:ext cx="84753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This data would suggest that annual mean global temperatures have been generally increasing over time, since 1851.</a:t>
            </a:r>
            <a:endParaRPr sz="1800"/>
          </a:p>
        </p:txBody>
      </p:sp>
      <p:sp>
        <p:nvSpPr>
          <p:cNvPr id="1529" name="Google Shape;1529;p9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530" name="Google Shape;1530;p90"/>
          <p:cNvCxnSpPr/>
          <p:nvPr/>
        </p:nvCxnSpPr>
        <p:spPr>
          <a:xfrm>
            <a:off x="817226"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531" name="Google Shape;1531;p90"/>
          <p:cNvCxnSpPr/>
          <p:nvPr/>
        </p:nvCxnSpPr>
        <p:spPr>
          <a:xfrm rot="10800000">
            <a:off x="81311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532" name="Google Shape;1532;p90"/>
          <p:cNvSpPr txBox="1"/>
          <p:nvPr>
            <p:ph idx="1" type="body"/>
          </p:nvPr>
        </p:nvSpPr>
        <p:spPr>
          <a:xfrm>
            <a:off x="889970"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533" name="Google Shape;1533;p90"/>
          <p:cNvSpPr txBox="1"/>
          <p:nvPr>
            <p:ph idx="1" type="body"/>
          </p:nvPr>
        </p:nvSpPr>
        <p:spPr>
          <a:xfrm>
            <a:off x="1380958"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534" name="Google Shape;1534;p90"/>
          <p:cNvSpPr txBox="1"/>
          <p:nvPr>
            <p:ph idx="1" type="body"/>
          </p:nvPr>
        </p:nvSpPr>
        <p:spPr>
          <a:xfrm>
            <a:off x="1746723"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535" name="Google Shape;1535;p90"/>
          <p:cNvSpPr txBox="1"/>
          <p:nvPr>
            <p:ph idx="1" type="body"/>
          </p:nvPr>
        </p:nvSpPr>
        <p:spPr>
          <a:xfrm>
            <a:off x="213386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536" name="Google Shape;1536;p90"/>
          <p:cNvSpPr txBox="1"/>
          <p:nvPr>
            <p:ph idx="1" type="body"/>
          </p:nvPr>
        </p:nvSpPr>
        <p:spPr>
          <a:xfrm>
            <a:off x="2542355"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537" name="Google Shape;1537;p90"/>
          <p:cNvSpPr txBox="1"/>
          <p:nvPr>
            <p:ph idx="1" type="body"/>
          </p:nvPr>
        </p:nvSpPr>
        <p:spPr>
          <a:xfrm>
            <a:off x="2926193"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538" name="Google Shape;1538;p90"/>
          <p:cNvSpPr txBox="1"/>
          <p:nvPr>
            <p:ph idx="1" type="body"/>
          </p:nvPr>
        </p:nvSpPr>
        <p:spPr>
          <a:xfrm>
            <a:off x="667977"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539" name="Google Shape;1539;p90"/>
          <p:cNvSpPr txBox="1"/>
          <p:nvPr>
            <p:ph idx="1" type="body"/>
          </p:nvPr>
        </p:nvSpPr>
        <p:spPr>
          <a:xfrm>
            <a:off x="601751" y="3540134"/>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540" name="Google Shape;1540;p90"/>
          <p:cNvSpPr txBox="1"/>
          <p:nvPr>
            <p:ph idx="1" type="body"/>
          </p:nvPr>
        </p:nvSpPr>
        <p:spPr>
          <a:xfrm>
            <a:off x="601751" y="3192236"/>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541" name="Google Shape;1541;p90"/>
          <p:cNvSpPr txBox="1"/>
          <p:nvPr>
            <p:ph idx="1" type="body"/>
          </p:nvPr>
        </p:nvSpPr>
        <p:spPr>
          <a:xfrm>
            <a:off x="601751" y="2844338"/>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542" name="Google Shape;1542;p90"/>
          <p:cNvSpPr txBox="1"/>
          <p:nvPr>
            <p:ph idx="1" type="body"/>
          </p:nvPr>
        </p:nvSpPr>
        <p:spPr>
          <a:xfrm>
            <a:off x="601751" y="249644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543" name="Google Shape;1543;p90"/>
          <p:cNvSpPr txBox="1"/>
          <p:nvPr>
            <p:ph idx="1" type="body"/>
          </p:nvPr>
        </p:nvSpPr>
        <p:spPr>
          <a:xfrm>
            <a:off x="601751" y="2148542"/>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544" name="Google Shape;1544;p90"/>
          <p:cNvSpPr txBox="1"/>
          <p:nvPr>
            <p:ph idx="1" type="body"/>
          </p:nvPr>
        </p:nvSpPr>
        <p:spPr>
          <a:xfrm>
            <a:off x="1603500" y="4295200"/>
            <a:ext cx="6201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Each horizontal axes show annual global mean temperature expressed as a difference from pre-industrial conditions (°C).</a:t>
            </a:r>
            <a:endParaRPr sz="1600"/>
          </a:p>
        </p:txBody>
      </p:sp>
      <p:sp>
        <p:nvSpPr>
          <p:cNvPr id="1545" name="Google Shape;1545;p90"/>
          <p:cNvSpPr txBox="1"/>
          <p:nvPr>
            <p:ph idx="1" type="body"/>
          </p:nvPr>
        </p:nvSpPr>
        <p:spPr>
          <a:xfrm rot="-5400000">
            <a:off x="-127950"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cxnSp>
        <p:nvCxnSpPr>
          <p:cNvPr id="1546" name="Google Shape;1546;p90"/>
          <p:cNvCxnSpPr/>
          <p:nvPr/>
        </p:nvCxnSpPr>
        <p:spPr>
          <a:xfrm>
            <a:off x="3615026"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547" name="Google Shape;1547;p90"/>
          <p:cNvCxnSpPr/>
          <p:nvPr/>
        </p:nvCxnSpPr>
        <p:spPr>
          <a:xfrm rot="10800000">
            <a:off x="3610918"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548" name="Google Shape;1548;p90"/>
          <p:cNvSpPr txBox="1"/>
          <p:nvPr>
            <p:ph idx="1" type="body"/>
          </p:nvPr>
        </p:nvSpPr>
        <p:spPr>
          <a:xfrm>
            <a:off x="3666341"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549" name="Google Shape;1549;p90"/>
          <p:cNvSpPr txBox="1"/>
          <p:nvPr>
            <p:ph idx="1" type="body"/>
          </p:nvPr>
        </p:nvSpPr>
        <p:spPr>
          <a:xfrm>
            <a:off x="4178758"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550" name="Google Shape;1550;p90"/>
          <p:cNvSpPr txBox="1"/>
          <p:nvPr>
            <p:ph idx="1" type="body"/>
          </p:nvPr>
        </p:nvSpPr>
        <p:spPr>
          <a:xfrm>
            <a:off x="4482788" y="3990400"/>
            <a:ext cx="2463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551" name="Google Shape;1551;p90"/>
          <p:cNvSpPr txBox="1"/>
          <p:nvPr>
            <p:ph idx="1" type="body"/>
          </p:nvPr>
        </p:nvSpPr>
        <p:spPr>
          <a:xfrm>
            <a:off x="493166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552" name="Google Shape;1552;p90"/>
          <p:cNvSpPr txBox="1"/>
          <p:nvPr>
            <p:ph idx="1" type="body"/>
          </p:nvPr>
        </p:nvSpPr>
        <p:spPr>
          <a:xfrm>
            <a:off x="5340155"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553" name="Google Shape;1553;p90"/>
          <p:cNvSpPr txBox="1"/>
          <p:nvPr>
            <p:ph idx="1" type="body"/>
          </p:nvPr>
        </p:nvSpPr>
        <p:spPr>
          <a:xfrm>
            <a:off x="5723993"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554" name="Google Shape;1554;p90"/>
          <p:cNvSpPr txBox="1"/>
          <p:nvPr>
            <p:ph idx="1" type="body"/>
          </p:nvPr>
        </p:nvSpPr>
        <p:spPr>
          <a:xfrm>
            <a:off x="3456559"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555" name="Google Shape;1555;p90"/>
          <p:cNvSpPr txBox="1"/>
          <p:nvPr>
            <p:ph idx="1" type="body"/>
          </p:nvPr>
        </p:nvSpPr>
        <p:spPr>
          <a:xfrm>
            <a:off x="3399551" y="353756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556" name="Google Shape;1556;p90"/>
          <p:cNvSpPr txBox="1"/>
          <p:nvPr>
            <p:ph idx="1" type="body"/>
          </p:nvPr>
        </p:nvSpPr>
        <p:spPr>
          <a:xfrm>
            <a:off x="3399551" y="3187087"/>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557" name="Google Shape;1557;p90"/>
          <p:cNvSpPr txBox="1"/>
          <p:nvPr>
            <p:ph idx="1" type="body"/>
          </p:nvPr>
        </p:nvSpPr>
        <p:spPr>
          <a:xfrm>
            <a:off x="3399551" y="2836615"/>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558" name="Google Shape;1558;p90"/>
          <p:cNvSpPr txBox="1"/>
          <p:nvPr>
            <p:ph idx="1" type="body"/>
          </p:nvPr>
        </p:nvSpPr>
        <p:spPr>
          <a:xfrm>
            <a:off x="3399551" y="2486143"/>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559" name="Google Shape;1559;p90"/>
          <p:cNvSpPr txBox="1"/>
          <p:nvPr>
            <p:ph idx="1" type="body"/>
          </p:nvPr>
        </p:nvSpPr>
        <p:spPr>
          <a:xfrm>
            <a:off x="3399551" y="213567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560" name="Google Shape;1560;p90"/>
          <p:cNvSpPr txBox="1"/>
          <p:nvPr>
            <p:ph idx="1" type="body"/>
          </p:nvPr>
        </p:nvSpPr>
        <p:spPr>
          <a:xfrm rot="-5400000">
            <a:off x="2707832"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561" name="Google Shape;1561;p90"/>
          <p:cNvSpPr txBox="1"/>
          <p:nvPr>
            <p:ph idx="1" type="body"/>
          </p:nvPr>
        </p:nvSpPr>
        <p:spPr>
          <a:xfrm>
            <a:off x="1229959" y="1863675"/>
            <a:ext cx="15555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1851 to 1908</a:t>
            </a:r>
            <a:endParaRPr sz="1800">
              <a:highlight>
                <a:schemeClr val="lt1"/>
              </a:highlight>
            </a:endParaRPr>
          </a:p>
        </p:txBody>
      </p:sp>
      <p:sp>
        <p:nvSpPr>
          <p:cNvPr id="1562" name="Google Shape;1562;p90"/>
          <p:cNvSpPr txBox="1"/>
          <p:nvPr>
            <p:ph idx="1" type="body"/>
          </p:nvPr>
        </p:nvSpPr>
        <p:spPr>
          <a:xfrm>
            <a:off x="4081637" y="1863675"/>
            <a:ext cx="150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1909 to 1966</a:t>
            </a:r>
            <a:endParaRPr sz="1800">
              <a:highlight>
                <a:schemeClr val="lt1"/>
              </a:highlight>
            </a:endParaRPr>
          </a:p>
        </p:txBody>
      </p:sp>
      <p:cxnSp>
        <p:nvCxnSpPr>
          <p:cNvPr id="1563" name="Google Shape;1563;p90"/>
          <p:cNvCxnSpPr/>
          <p:nvPr/>
        </p:nvCxnSpPr>
        <p:spPr>
          <a:xfrm>
            <a:off x="6483070" y="3979692"/>
            <a:ext cx="2337000" cy="0"/>
          </a:xfrm>
          <a:prstGeom prst="straightConnector1">
            <a:avLst/>
          </a:prstGeom>
          <a:noFill/>
          <a:ln cap="flat" cmpd="sng" w="28575">
            <a:solidFill>
              <a:schemeClr val="dk1"/>
            </a:solidFill>
            <a:prstDash val="solid"/>
            <a:round/>
            <a:headEnd len="med" w="med" type="none"/>
            <a:tailEnd len="med" w="med" type="triangle"/>
          </a:ln>
        </p:spPr>
      </p:cxnSp>
      <p:cxnSp>
        <p:nvCxnSpPr>
          <p:cNvPr id="1564" name="Google Shape;1564;p90"/>
          <p:cNvCxnSpPr/>
          <p:nvPr/>
        </p:nvCxnSpPr>
        <p:spPr>
          <a:xfrm rot="10800000">
            <a:off x="6478962" y="1712000"/>
            <a:ext cx="0" cy="2274000"/>
          </a:xfrm>
          <a:prstGeom prst="straightConnector1">
            <a:avLst/>
          </a:prstGeom>
          <a:noFill/>
          <a:ln cap="flat" cmpd="sng" w="28575">
            <a:solidFill>
              <a:schemeClr val="dk1"/>
            </a:solidFill>
            <a:prstDash val="solid"/>
            <a:round/>
            <a:headEnd len="med" w="med" type="none"/>
            <a:tailEnd len="med" w="med" type="triangle"/>
          </a:ln>
        </p:spPr>
      </p:cxnSp>
      <p:sp>
        <p:nvSpPr>
          <p:cNvPr id="1565" name="Google Shape;1565;p90"/>
          <p:cNvSpPr txBox="1"/>
          <p:nvPr>
            <p:ph idx="1" type="body"/>
          </p:nvPr>
        </p:nvSpPr>
        <p:spPr>
          <a:xfrm>
            <a:off x="6569647"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566" name="Google Shape;1566;p90"/>
          <p:cNvSpPr txBox="1"/>
          <p:nvPr>
            <p:ph idx="1" type="body"/>
          </p:nvPr>
        </p:nvSpPr>
        <p:spPr>
          <a:xfrm>
            <a:off x="7046802" y="3990400"/>
            <a:ext cx="93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567" name="Google Shape;1567;p90"/>
          <p:cNvSpPr txBox="1"/>
          <p:nvPr>
            <p:ph idx="1" type="body"/>
          </p:nvPr>
        </p:nvSpPr>
        <p:spPr>
          <a:xfrm>
            <a:off x="7377297" y="3990400"/>
            <a:ext cx="2841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568" name="Google Shape;1568;p90"/>
          <p:cNvSpPr txBox="1"/>
          <p:nvPr>
            <p:ph idx="1" type="body"/>
          </p:nvPr>
        </p:nvSpPr>
        <p:spPr>
          <a:xfrm>
            <a:off x="7799708"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569" name="Google Shape;1569;p90"/>
          <p:cNvSpPr txBox="1"/>
          <p:nvPr>
            <p:ph idx="1" type="body"/>
          </p:nvPr>
        </p:nvSpPr>
        <p:spPr>
          <a:xfrm>
            <a:off x="8208199"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1.2</a:t>
            </a:r>
            <a:endParaRPr sz="1200"/>
          </a:p>
        </p:txBody>
      </p:sp>
      <p:sp>
        <p:nvSpPr>
          <p:cNvPr id="1570" name="Google Shape;1570;p90"/>
          <p:cNvSpPr txBox="1"/>
          <p:nvPr>
            <p:ph idx="1" type="body"/>
          </p:nvPr>
        </p:nvSpPr>
        <p:spPr>
          <a:xfrm>
            <a:off x="8576924" y="3990392"/>
            <a:ext cx="217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1.6</a:t>
            </a:r>
            <a:endParaRPr sz="1200"/>
          </a:p>
        </p:txBody>
      </p:sp>
      <p:sp>
        <p:nvSpPr>
          <p:cNvPr id="1571" name="Google Shape;1571;p90"/>
          <p:cNvSpPr txBox="1"/>
          <p:nvPr>
            <p:ph idx="1" type="body"/>
          </p:nvPr>
        </p:nvSpPr>
        <p:spPr>
          <a:xfrm>
            <a:off x="6333821" y="3888032"/>
            <a:ext cx="816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572" name="Google Shape;1572;p90"/>
          <p:cNvSpPr txBox="1"/>
          <p:nvPr>
            <p:ph idx="1" type="body"/>
          </p:nvPr>
        </p:nvSpPr>
        <p:spPr>
          <a:xfrm>
            <a:off x="6276813" y="353756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10</a:t>
            </a:r>
            <a:endParaRPr sz="1200"/>
          </a:p>
        </p:txBody>
      </p:sp>
      <p:sp>
        <p:nvSpPr>
          <p:cNvPr id="1573" name="Google Shape;1573;p90"/>
          <p:cNvSpPr txBox="1"/>
          <p:nvPr>
            <p:ph idx="1" type="body"/>
          </p:nvPr>
        </p:nvSpPr>
        <p:spPr>
          <a:xfrm>
            <a:off x="6276813" y="3187087"/>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20</a:t>
            </a:r>
            <a:endParaRPr sz="1200"/>
          </a:p>
        </p:txBody>
      </p:sp>
      <p:sp>
        <p:nvSpPr>
          <p:cNvPr id="1574" name="Google Shape;1574;p90"/>
          <p:cNvSpPr txBox="1"/>
          <p:nvPr>
            <p:ph idx="1" type="body"/>
          </p:nvPr>
        </p:nvSpPr>
        <p:spPr>
          <a:xfrm>
            <a:off x="6276813" y="2836615"/>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30</a:t>
            </a:r>
            <a:endParaRPr sz="1200"/>
          </a:p>
        </p:txBody>
      </p:sp>
      <p:sp>
        <p:nvSpPr>
          <p:cNvPr id="1575" name="Google Shape;1575;p90"/>
          <p:cNvSpPr txBox="1"/>
          <p:nvPr>
            <p:ph idx="1" type="body"/>
          </p:nvPr>
        </p:nvSpPr>
        <p:spPr>
          <a:xfrm>
            <a:off x="6276813" y="2486143"/>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40</a:t>
            </a:r>
            <a:endParaRPr sz="1200"/>
          </a:p>
        </p:txBody>
      </p:sp>
      <p:sp>
        <p:nvSpPr>
          <p:cNvPr id="1576" name="Google Shape;1576;p90"/>
          <p:cNvSpPr txBox="1"/>
          <p:nvPr>
            <p:ph idx="1" type="body"/>
          </p:nvPr>
        </p:nvSpPr>
        <p:spPr>
          <a:xfrm>
            <a:off x="6276813" y="2135670"/>
            <a:ext cx="196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50</a:t>
            </a:r>
            <a:endParaRPr sz="1200"/>
          </a:p>
        </p:txBody>
      </p:sp>
      <p:sp>
        <p:nvSpPr>
          <p:cNvPr id="1577" name="Google Shape;1577;p90"/>
          <p:cNvSpPr txBox="1"/>
          <p:nvPr>
            <p:ph idx="1" type="body"/>
          </p:nvPr>
        </p:nvSpPr>
        <p:spPr>
          <a:xfrm rot="-5400000">
            <a:off x="5565550" y="2696050"/>
            <a:ext cx="11502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578" name="Google Shape;1578;p90"/>
          <p:cNvSpPr txBox="1"/>
          <p:nvPr>
            <p:ph idx="1" type="body"/>
          </p:nvPr>
        </p:nvSpPr>
        <p:spPr>
          <a:xfrm>
            <a:off x="6949689" y="1863675"/>
            <a:ext cx="1505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highlight>
                  <a:schemeClr val="lt1"/>
                </a:highlight>
              </a:rPr>
              <a:t>1967 to 2024</a:t>
            </a:r>
            <a:endParaRPr sz="1800">
              <a:highlight>
                <a:schemeClr val="lt1"/>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91"/>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OSI SAF about sea ice in the Antarctic for each month from 1979 to 2024.</a:t>
            </a:r>
            <a:endParaRPr sz="1800"/>
          </a:p>
        </p:txBody>
      </p:sp>
      <p:sp>
        <p:nvSpPr>
          <p:cNvPr id="1584" name="Google Shape;1584;p91"/>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pic>
        <p:nvPicPr>
          <p:cNvPr id="1585" name="Google Shape;1585;p91"/>
          <p:cNvPicPr preferRelativeResize="0"/>
          <p:nvPr/>
        </p:nvPicPr>
        <p:blipFill>
          <a:blip r:embed="rId3">
            <a:alphaModFix/>
          </a:blip>
          <a:stretch>
            <a:fillRect/>
          </a:stretch>
        </p:blipFill>
        <p:spPr>
          <a:xfrm>
            <a:off x="4116562" y="1732836"/>
            <a:ext cx="4564258" cy="1966268"/>
          </a:xfrm>
          <a:prstGeom prst="rect">
            <a:avLst/>
          </a:prstGeom>
          <a:noFill/>
          <a:ln>
            <a:noFill/>
          </a:ln>
        </p:spPr>
      </p:pic>
      <p:cxnSp>
        <p:nvCxnSpPr>
          <p:cNvPr id="1586" name="Google Shape;1586;p91"/>
          <p:cNvCxnSpPr/>
          <p:nvPr/>
        </p:nvCxnSpPr>
        <p:spPr>
          <a:xfrm>
            <a:off x="4122983" y="36961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587" name="Google Shape;1587;p91"/>
          <p:cNvCxnSpPr/>
          <p:nvPr/>
        </p:nvCxnSpPr>
        <p:spPr>
          <a:xfrm rot="10800000">
            <a:off x="4119390" y="1492567"/>
            <a:ext cx="0" cy="2209200"/>
          </a:xfrm>
          <a:prstGeom prst="straightConnector1">
            <a:avLst/>
          </a:prstGeom>
          <a:noFill/>
          <a:ln cap="flat" cmpd="sng" w="28575">
            <a:solidFill>
              <a:schemeClr val="dk1"/>
            </a:solidFill>
            <a:prstDash val="solid"/>
            <a:round/>
            <a:headEnd len="med" w="med" type="none"/>
            <a:tailEnd len="med" w="med" type="triangle"/>
          </a:ln>
        </p:spPr>
      </p:cxnSp>
      <p:sp>
        <p:nvSpPr>
          <p:cNvPr id="1588" name="Google Shape;1588;p91"/>
          <p:cNvSpPr txBox="1"/>
          <p:nvPr>
            <p:ph idx="1" type="body"/>
          </p:nvPr>
        </p:nvSpPr>
        <p:spPr>
          <a:xfrm>
            <a:off x="4001238" y="37344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589" name="Google Shape;1589;p91"/>
          <p:cNvSpPr txBox="1"/>
          <p:nvPr>
            <p:ph idx="1" type="body"/>
          </p:nvPr>
        </p:nvSpPr>
        <p:spPr>
          <a:xfrm>
            <a:off x="4302905"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590" name="Google Shape;1590;p91"/>
          <p:cNvSpPr txBox="1"/>
          <p:nvPr>
            <p:ph idx="1" type="body"/>
          </p:nvPr>
        </p:nvSpPr>
        <p:spPr>
          <a:xfrm>
            <a:off x="4755555" y="37344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591" name="Google Shape;1591;p91"/>
          <p:cNvSpPr txBox="1"/>
          <p:nvPr>
            <p:ph idx="1" type="body"/>
          </p:nvPr>
        </p:nvSpPr>
        <p:spPr>
          <a:xfrm>
            <a:off x="5084539" y="37344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592" name="Google Shape;1592;p91"/>
          <p:cNvSpPr txBox="1"/>
          <p:nvPr>
            <p:ph idx="1" type="body"/>
          </p:nvPr>
        </p:nvSpPr>
        <p:spPr>
          <a:xfrm>
            <a:off x="5518347" y="37344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593" name="Google Shape;1593;p91"/>
          <p:cNvSpPr txBox="1"/>
          <p:nvPr>
            <p:ph idx="1" type="body"/>
          </p:nvPr>
        </p:nvSpPr>
        <p:spPr>
          <a:xfrm>
            <a:off x="5822212"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594" name="Google Shape;1594;p91"/>
          <p:cNvSpPr txBox="1"/>
          <p:nvPr>
            <p:ph idx="1" type="body"/>
          </p:nvPr>
        </p:nvSpPr>
        <p:spPr>
          <a:xfrm>
            <a:off x="6348248" y="37344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595" name="Google Shape;1595;p91"/>
          <p:cNvSpPr txBox="1"/>
          <p:nvPr>
            <p:ph idx="1" type="body"/>
          </p:nvPr>
        </p:nvSpPr>
        <p:spPr>
          <a:xfrm>
            <a:off x="6658397"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596" name="Google Shape;1596;p91"/>
          <p:cNvSpPr txBox="1"/>
          <p:nvPr>
            <p:ph idx="1" type="body"/>
          </p:nvPr>
        </p:nvSpPr>
        <p:spPr>
          <a:xfrm>
            <a:off x="7108110" y="37344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597" name="Google Shape;1597;p91"/>
          <p:cNvSpPr txBox="1"/>
          <p:nvPr>
            <p:ph idx="1" type="body"/>
          </p:nvPr>
        </p:nvSpPr>
        <p:spPr>
          <a:xfrm>
            <a:off x="7423118" y="37344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598" name="Google Shape;1598;p91"/>
          <p:cNvSpPr txBox="1"/>
          <p:nvPr>
            <p:ph idx="1" type="body"/>
          </p:nvPr>
        </p:nvSpPr>
        <p:spPr>
          <a:xfrm>
            <a:off x="7859457"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599" name="Google Shape;1599;p91"/>
          <p:cNvSpPr txBox="1"/>
          <p:nvPr>
            <p:ph idx="1" type="body"/>
          </p:nvPr>
        </p:nvSpPr>
        <p:spPr>
          <a:xfrm>
            <a:off x="8157035"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600" name="Google Shape;1600;p91"/>
          <p:cNvSpPr txBox="1"/>
          <p:nvPr>
            <p:ph idx="1" type="body"/>
          </p:nvPr>
        </p:nvSpPr>
        <p:spPr>
          <a:xfrm>
            <a:off x="8603403"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601" name="Google Shape;1601;p91"/>
          <p:cNvSpPr txBox="1"/>
          <p:nvPr>
            <p:ph idx="1" type="body"/>
          </p:nvPr>
        </p:nvSpPr>
        <p:spPr>
          <a:xfrm>
            <a:off x="4235959" y="3993925"/>
            <a:ext cx="4300500" cy="828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monthly </a:t>
            </a:r>
            <a:r>
              <a:rPr lang="en-GB" sz="1600"/>
              <a:t>Antarctic</a:t>
            </a:r>
            <a:r>
              <a:rPr lang="en-GB" sz="1600"/>
              <a:t> sea ice extent expressed as a difference from the 1981-2010 average for each month separately (million km</a:t>
            </a:r>
            <a:r>
              <a:rPr baseline="30000" lang="en-GB" sz="1700"/>
              <a:t>2</a:t>
            </a:r>
            <a:r>
              <a:rPr lang="en-GB" sz="1600"/>
              <a:t>)</a:t>
            </a:r>
            <a:endParaRPr sz="1600"/>
          </a:p>
        </p:txBody>
      </p:sp>
      <p:sp>
        <p:nvSpPr>
          <p:cNvPr id="1602" name="Google Shape;1602;p91"/>
          <p:cNvSpPr txBox="1"/>
          <p:nvPr>
            <p:ph idx="1" type="body"/>
          </p:nvPr>
        </p:nvSpPr>
        <p:spPr>
          <a:xfrm>
            <a:off x="3925833" y="35871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603" name="Google Shape;1603;p91"/>
          <p:cNvSpPr txBox="1"/>
          <p:nvPr>
            <p:ph idx="1" type="body"/>
          </p:nvPr>
        </p:nvSpPr>
        <p:spPr>
          <a:xfrm>
            <a:off x="3808616" y="308878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604" name="Google Shape;1604;p91"/>
          <p:cNvSpPr txBox="1"/>
          <p:nvPr>
            <p:ph idx="1" type="body"/>
          </p:nvPr>
        </p:nvSpPr>
        <p:spPr>
          <a:xfrm>
            <a:off x="3723161" y="26058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605" name="Google Shape;1605;p91"/>
          <p:cNvSpPr txBox="1"/>
          <p:nvPr>
            <p:ph idx="1" type="body"/>
          </p:nvPr>
        </p:nvSpPr>
        <p:spPr>
          <a:xfrm>
            <a:off x="3723136" y="2108485"/>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606" name="Google Shape;1606;p91"/>
          <p:cNvSpPr txBox="1"/>
          <p:nvPr>
            <p:ph idx="1" type="body"/>
          </p:nvPr>
        </p:nvSpPr>
        <p:spPr>
          <a:xfrm>
            <a:off x="3651375" y="1630712"/>
            <a:ext cx="4275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200</a:t>
            </a:r>
            <a:endParaRPr sz="1500"/>
          </a:p>
        </p:txBody>
      </p:sp>
      <p:sp>
        <p:nvSpPr>
          <p:cNvPr id="1607" name="Google Shape;1607;p91"/>
          <p:cNvSpPr txBox="1"/>
          <p:nvPr>
            <p:ph idx="1" type="body"/>
          </p:nvPr>
        </p:nvSpPr>
        <p:spPr>
          <a:xfrm rot="-5400000">
            <a:off x="3084775" y="2649807"/>
            <a:ext cx="10923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608" name="Google Shape;1608;p91"/>
          <p:cNvSpPr txBox="1"/>
          <p:nvPr>
            <p:ph idx="1" type="body"/>
          </p:nvPr>
        </p:nvSpPr>
        <p:spPr>
          <a:xfrm>
            <a:off x="5641734" y="14966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1979 to 2024</a:t>
            </a:r>
            <a:endParaRPr sz="1600"/>
          </a:p>
        </p:txBody>
      </p:sp>
      <p:sp>
        <p:nvSpPr>
          <p:cNvPr id="1609" name="Google Shape;1609;p91"/>
          <p:cNvSpPr txBox="1"/>
          <p:nvPr>
            <p:ph idx="1" type="body"/>
          </p:nvPr>
        </p:nvSpPr>
        <p:spPr>
          <a:xfrm>
            <a:off x="310650" y="1572000"/>
            <a:ext cx="3142500" cy="2067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700"/>
              <a:t>Each value of the horizontal axis shows the difference between the actual area of sea ice for that month and the average area of sea ice for the same month across many years.</a:t>
            </a:r>
            <a:endParaRPr sz="1700"/>
          </a:p>
        </p:txBody>
      </p:sp>
      <p:sp>
        <p:nvSpPr>
          <p:cNvPr id="1610" name="Google Shape;1610;p91"/>
          <p:cNvSpPr txBox="1"/>
          <p:nvPr>
            <p:ph idx="1" type="body"/>
          </p:nvPr>
        </p:nvSpPr>
        <p:spPr>
          <a:xfrm>
            <a:off x="310650" y="3934200"/>
            <a:ext cx="3058800" cy="863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700"/>
              <a:t>While this is a complex statistic, we can still interpret the overall data.</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92"/>
          <p:cNvSpPr txBox="1"/>
          <p:nvPr>
            <p:ph idx="1" type="subTitle"/>
          </p:nvPr>
        </p:nvSpPr>
        <p:spPr>
          <a:xfrm>
            <a:off x="1034425" y="1685375"/>
            <a:ext cx="23727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-1 to -0.5 million </a:t>
            </a:r>
            <a:r>
              <a:rPr lang="en-GB" sz="1800"/>
              <a:t>km</a:t>
            </a:r>
            <a:r>
              <a:rPr baseline="30000" lang="en-GB" sz="1800"/>
              <a:t>2</a:t>
            </a:r>
            <a:endParaRPr sz="1800"/>
          </a:p>
        </p:txBody>
      </p:sp>
      <p:sp>
        <p:nvSpPr>
          <p:cNvPr id="1616" name="Google Shape;1616;p92"/>
          <p:cNvSpPr txBox="1"/>
          <p:nvPr>
            <p:ph idx="2" type="subTitle"/>
          </p:nvPr>
        </p:nvSpPr>
        <p:spPr>
          <a:xfrm>
            <a:off x="1034425" y="2489450"/>
            <a:ext cx="23352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-0.5 to 0 million km</a:t>
            </a:r>
            <a:r>
              <a:rPr baseline="30000" lang="en-GB" sz="1800"/>
              <a:t>2</a:t>
            </a:r>
            <a:endParaRPr/>
          </a:p>
        </p:txBody>
      </p:sp>
      <p:sp>
        <p:nvSpPr>
          <p:cNvPr id="1617" name="Google Shape;1617;p92"/>
          <p:cNvSpPr txBox="1"/>
          <p:nvPr>
            <p:ph idx="3" type="subTitle"/>
          </p:nvPr>
        </p:nvSpPr>
        <p:spPr>
          <a:xfrm>
            <a:off x="1034425" y="3309762"/>
            <a:ext cx="23223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0</a:t>
            </a:r>
            <a:r>
              <a:rPr lang="en-GB" sz="1800"/>
              <a:t> to 0.5 million km</a:t>
            </a:r>
            <a:r>
              <a:rPr baseline="30000" lang="en-GB" sz="1800"/>
              <a:t>2</a:t>
            </a:r>
            <a:endParaRPr/>
          </a:p>
        </p:txBody>
      </p:sp>
      <p:sp>
        <p:nvSpPr>
          <p:cNvPr id="1618" name="Google Shape;1618;p92"/>
          <p:cNvSpPr txBox="1"/>
          <p:nvPr>
            <p:ph idx="4" type="subTitle"/>
          </p:nvPr>
        </p:nvSpPr>
        <p:spPr>
          <a:xfrm>
            <a:off x="1034425" y="4113827"/>
            <a:ext cx="23352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0.5 to 1 million km</a:t>
            </a:r>
            <a:r>
              <a:rPr baseline="30000" lang="en-GB" sz="1800"/>
              <a:t>2</a:t>
            </a:r>
            <a:endParaRPr/>
          </a:p>
        </p:txBody>
      </p:sp>
      <p:sp>
        <p:nvSpPr>
          <p:cNvPr id="1619" name="Google Shape;1619;p92"/>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sp>
        <p:nvSpPr>
          <p:cNvPr id="1620" name="Google Shape;1620;p92"/>
          <p:cNvSpPr txBox="1"/>
          <p:nvPr>
            <p:ph idx="5" type="title"/>
          </p:nvPr>
        </p:nvSpPr>
        <p:spPr>
          <a:xfrm>
            <a:off x="324000" y="809913"/>
            <a:ext cx="8179200" cy="30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2000"/>
              <a:t>Which is the modal class?</a:t>
            </a:r>
            <a:endParaRPr sz="2000"/>
          </a:p>
        </p:txBody>
      </p:sp>
      <p:pic>
        <p:nvPicPr>
          <p:cNvPr id="1621" name="Google Shape;1621;p92"/>
          <p:cNvPicPr preferRelativeResize="0"/>
          <p:nvPr/>
        </p:nvPicPr>
        <p:blipFill>
          <a:blip r:embed="rId3">
            <a:alphaModFix/>
          </a:blip>
          <a:stretch>
            <a:fillRect/>
          </a:stretch>
        </p:blipFill>
        <p:spPr>
          <a:xfrm>
            <a:off x="2960733" y="2593475"/>
            <a:ext cx="396000" cy="419100"/>
          </a:xfrm>
          <a:prstGeom prst="rect">
            <a:avLst/>
          </a:prstGeom>
          <a:noFill/>
          <a:ln>
            <a:noFill/>
          </a:ln>
        </p:spPr>
      </p:pic>
      <p:pic>
        <p:nvPicPr>
          <p:cNvPr id="1622" name="Google Shape;1622;p92"/>
          <p:cNvPicPr preferRelativeResize="0"/>
          <p:nvPr/>
        </p:nvPicPr>
        <p:blipFill>
          <a:blip r:embed="rId4">
            <a:alphaModFix/>
          </a:blip>
          <a:stretch>
            <a:fillRect/>
          </a:stretch>
        </p:blipFill>
        <p:spPr>
          <a:xfrm>
            <a:off x="4116562" y="1732836"/>
            <a:ext cx="4564258" cy="1966268"/>
          </a:xfrm>
          <a:prstGeom prst="rect">
            <a:avLst/>
          </a:prstGeom>
          <a:noFill/>
          <a:ln>
            <a:noFill/>
          </a:ln>
        </p:spPr>
      </p:pic>
      <p:cxnSp>
        <p:nvCxnSpPr>
          <p:cNvPr id="1623" name="Google Shape;1623;p92"/>
          <p:cNvCxnSpPr/>
          <p:nvPr/>
        </p:nvCxnSpPr>
        <p:spPr>
          <a:xfrm>
            <a:off x="4122983" y="36961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624" name="Google Shape;1624;p92"/>
          <p:cNvCxnSpPr/>
          <p:nvPr/>
        </p:nvCxnSpPr>
        <p:spPr>
          <a:xfrm rot="10800000">
            <a:off x="4119390" y="1492567"/>
            <a:ext cx="0" cy="2209200"/>
          </a:xfrm>
          <a:prstGeom prst="straightConnector1">
            <a:avLst/>
          </a:prstGeom>
          <a:noFill/>
          <a:ln cap="flat" cmpd="sng" w="28575">
            <a:solidFill>
              <a:schemeClr val="dk1"/>
            </a:solidFill>
            <a:prstDash val="solid"/>
            <a:round/>
            <a:headEnd len="med" w="med" type="none"/>
            <a:tailEnd len="med" w="med" type="triangle"/>
          </a:ln>
        </p:spPr>
      </p:cxnSp>
      <p:sp>
        <p:nvSpPr>
          <p:cNvPr id="1625" name="Google Shape;1625;p92"/>
          <p:cNvSpPr txBox="1"/>
          <p:nvPr>
            <p:ph idx="4294967295" type="body"/>
          </p:nvPr>
        </p:nvSpPr>
        <p:spPr>
          <a:xfrm>
            <a:off x="4001238" y="37344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626" name="Google Shape;1626;p92"/>
          <p:cNvSpPr txBox="1"/>
          <p:nvPr>
            <p:ph idx="4294967295" type="body"/>
          </p:nvPr>
        </p:nvSpPr>
        <p:spPr>
          <a:xfrm>
            <a:off x="4302905"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627" name="Google Shape;1627;p92"/>
          <p:cNvSpPr txBox="1"/>
          <p:nvPr>
            <p:ph idx="4294967295" type="body"/>
          </p:nvPr>
        </p:nvSpPr>
        <p:spPr>
          <a:xfrm>
            <a:off x="4755555" y="37344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628" name="Google Shape;1628;p92"/>
          <p:cNvSpPr txBox="1"/>
          <p:nvPr>
            <p:ph idx="4294967295" type="body"/>
          </p:nvPr>
        </p:nvSpPr>
        <p:spPr>
          <a:xfrm>
            <a:off x="5084539" y="37344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629" name="Google Shape;1629;p92"/>
          <p:cNvSpPr txBox="1"/>
          <p:nvPr>
            <p:ph idx="4294967295" type="body"/>
          </p:nvPr>
        </p:nvSpPr>
        <p:spPr>
          <a:xfrm>
            <a:off x="5518347" y="37344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630" name="Google Shape;1630;p92"/>
          <p:cNvSpPr txBox="1"/>
          <p:nvPr>
            <p:ph idx="4294967295" type="body"/>
          </p:nvPr>
        </p:nvSpPr>
        <p:spPr>
          <a:xfrm>
            <a:off x="5822212"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631" name="Google Shape;1631;p92"/>
          <p:cNvSpPr txBox="1"/>
          <p:nvPr>
            <p:ph idx="4294967295" type="body"/>
          </p:nvPr>
        </p:nvSpPr>
        <p:spPr>
          <a:xfrm>
            <a:off x="6348248" y="37344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632" name="Google Shape;1632;p92"/>
          <p:cNvSpPr txBox="1"/>
          <p:nvPr>
            <p:ph idx="4294967295" type="body"/>
          </p:nvPr>
        </p:nvSpPr>
        <p:spPr>
          <a:xfrm>
            <a:off x="6658397"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633" name="Google Shape;1633;p92"/>
          <p:cNvSpPr txBox="1"/>
          <p:nvPr>
            <p:ph idx="4294967295" type="body"/>
          </p:nvPr>
        </p:nvSpPr>
        <p:spPr>
          <a:xfrm>
            <a:off x="7108110" y="37344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634" name="Google Shape;1634;p92"/>
          <p:cNvSpPr txBox="1"/>
          <p:nvPr>
            <p:ph idx="4294967295" type="body"/>
          </p:nvPr>
        </p:nvSpPr>
        <p:spPr>
          <a:xfrm>
            <a:off x="7423118" y="37344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635" name="Google Shape;1635;p92"/>
          <p:cNvSpPr txBox="1"/>
          <p:nvPr>
            <p:ph idx="4294967295" type="body"/>
          </p:nvPr>
        </p:nvSpPr>
        <p:spPr>
          <a:xfrm>
            <a:off x="7859457"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636" name="Google Shape;1636;p92"/>
          <p:cNvSpPr txBox="1"/>
          <p:nvPr>
            <p:ph idx="4294967295" type="body"/>
          </p:nvPr>
        </p:nvSpPr>
        <p:spPr>
          <a:xfrm>
            <a:off x="8157035"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637" name="Google Shape;1637;p92"/>
          <p:cNvSpPr txBox="1"/>
          <p:nvPr>
            <p:ph idx="4294967295" type="body"/>
          </p:nvPr>
        </p:nvSpPr>
        <p:spPr>
          <a:xfrm>
            <a:off x="8603403" y="37344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638" name="Google Shape;1638;p92"/>
          <p:cNvSpPr txBox="1"/>
          <p:nvPr>
            <p:ph idx="4294967295" type="body"/>
          </p:nvPr>
        </p:nvSpPr>
        <p:spPr>
          <a:xfrm>
            <a:off x="4235959" y="3993925"/>
            <a:ext cx="4300500" cy="8280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600"/>
              <a:t>monthly Antarctic sea ice extent expressed as a difference </a:t>
            </a:r>
            <a:r>
              <a:rPr lang="en-GB" sz="1600"/>
              <a:t>from the</a:t>
            </a:r>
            <a:r>
              <a:rPr lang="en-GB" sz="1600"/>
              <a:t> 1981-2010 average for each month separately (million km</a:t>
            </a:r>
            <a:r>
              <a:rPr baseline="30000" lang="en-GB" sz="1700"/>
              <a:t>2</a:t>
            </a:r>
            <a:r>
              <a:rPr lang="en-GB" sz="1600"/>
              <a:t>)</a:t>
            </a:r>
            <a:endParaRPr sz="1600"/>
          </a:p>
        </p:txBody>
      </p:sp>
      <p:sp>
        <p:nvSpPr>
          <p:cNvPr id="1639" name="Google Shape;1639;p92"/>
          <p:cNvSpPr txBox="1"/>
          <p:nvPr>
            <p:ph idx="4294967295" type="body"/>
          </p:nvPr>
        </p:nvSpPr>
        <p:spPr>
          <a:xfrm>
            <a:off x="3925833" y="35871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640" name="Google Shape;1640;p92"/>
          <p:cNvSpPr txBox="1"/>
          <p:nvPr>
            <p:ph idx="4294967295" type="body"/>
          </p:nvPr>
        </p:nvSpPr>
        <p:spPr>
          <a:xfrm>
            <a:off x="3808616" y="308878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641" name="Google Shape;1641;p92"/>
          <p:cNvSpPr txBox="1"/>
          <p:nvPr>
            <p:ph idx="4294967295" type="body"/>
          </p:nvPr>
        </p:nvSpPr>
        <p:spPr>
          <a:xfrm>
            <a:off x="3723161" y="26058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642" name="Google Shape;1642;p92"/>
          <p:cNvSpPr txBox="1"/>
          <p:nvPr>
            <p:ph idx="4294967295" type="body"/>
          </p:nvPr>
        </p:nvSpPr>
        <p:spPr>
          <a:xfrm>
            <a:off x="3723136" y="2108485"/>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643" name="Google Shape;1643;p92"/>
          <p:cNvSpPr txBox="1"/>
          <p:nvPr>
            <p:ph idx="4294967295" type="body"/>
          </p:nvPr>
        </p:nvSpPr>
        <p:spPr>
          <a:xfrm>
            <a:off x="3651375" y="1630712"/>
            <a:ext cx="4275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200</a:t>
            </a:r>
            <a:endParaRPr sz="1500"/>
          </a:p>
        </p:txBody>
      </p:sp>
      <p:sp>
        <p:nvSpPr>
          <p:cNvPr id="1644" name="Google Shape;1644;p92"/>
          <p:cNvSpPr txBox="1"/>
          <p:nvPr>
            <p:ph idx="4294967295" type="body"/>
          </p:nvPr>
        </p:nvSpPr>
        <p:spPr>
          <a:xfrm rot="-5400000">
            <a:off x="3084775" y="2649807"/>
            <a:ext cx="10923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645" name="Google Shape;1645;p92"/>
          <p:cNvSpPr txBox="1"/>
          <p:nvPr>
            <p:ph idx="4294967295" type="body"/>
          </p:nvPr>
        </p:nvSpPr>
        <p:spPr>
          <a:xfrm>
            <a:off x="5641734" y="14966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1979 to 2024</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pic>
        <p:nvPicPr>
          <p:cNvPr id="1650" name="Google Shape;1650;p93"/>
          <p:cNvPicPr preferRelativeResize="0"/>
          <p:nvPr/>
        </p:nvPicPr>
        <p:blipFill>
          <a:blip r:embed="rId3">
            <a:alphaModFix/>
          </a:blip>
          <a:stretch>
            <a:fillRect/>
          </a:stretch>
        </p:blipFill>
        <p:spPr>
          <a:xfrm>
            <a:off x="975614" y="3174513"/>
            <a:ext cx="4564274" cy="1213462"/>
          </a:xfrm>
          <a:prstGeom prst="rect">
            <a:avLst/>
          </a:prstGeom>
          <a:noFill/>
          <a:ln>
            <a:noFill/>
          </a:ln>
        </p:spPr>
      </p:pic>
      <p:pic>
        <p:nvPicPr>
          <p:cNvPr id="1651" name="Google Shape;1651;p93"/>
          <p:cNvPicPr preferRelativeResize="0"/>
          <p:nvPr/>
        </p:nvPicPr>
        <p:blipFill rotWithShape="1">
          <a:blip r:embed="rId4">
            <a:alphaModFix/>
          </a:blip>
          <a:srcRect b="0" l="0" r="0" t="24681"/>
          <a:stretch/>
        </p:blipFill>
        <p:spPr>
          <a:xfrm>
            <a:off x="968764" y="1095825"/>
            <a:ext cx="4564275" cy="1234350"/>
          </a:xfrm>
          <a:prstGeom prst="rect">
            <a:avLst/>
          </a:prstGeom>
          <a:noFill/>
          <a:ln>
            <a:noFill/>
          </a:ln>
        </p:spPr>
      </p:pic>
      <p:sp>
        <p:nvSpPr>
          <p:cNvPr id="1652" name="Google Shape;1652;p93"/>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653" name="Google Shape;1653;p93"/>
          <p:cNvCxnSpPr/>
          <p:nvPr/>
        </p:nvCxnSpPr>
        <p:spPr>
          <a:xfrm>
            <a:off x="975198" y="23245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654" name="Google Shape;1654;p93"/>
          <p:cNvCxnSpPr/>
          <p:nvPr/>
        </p:nvCxnSpPr>
        <p:spPr>
          <a:xfrm rot="10800000">
            <a:off x="971604" y="878167"/>
            <a:ext cx="0" cy="1452000"/>
          </a:xfrm>
          <a:prstGeom prst="straightConnector1">
            <a:avLst/>
          </a:prstGeom>
          <a:noFill/>
          <a:ln cap="flat" cmpd="sng" w="28575">
            <a:solidFill>
              <a:schemeClr val="dk1"/>
            </a:solidFill>
            <a:prstDash val="solid"/>
            <a:round/>
            <a:headEnd len="med" w="med" type="none"/>
            <a:tailEnd len="med" w="med" type="triangle"/>
          </a:ln>
        </p:spPr>
      </p:cxnSp>
      <p:sp>
        <p:nvSpPr>
          <p:cNvPr id="1655" name="Google Shape;1655;p93"/>
          <p:cNvSpPr txBox="1"/>
          <p:nvPr>
            <p:ph idx="1" type="body"/>
          </p:nvPr>
        </p:nvSpPr>
        <p:spPr>
          <a:xfrm>
            <a:off x="853452" y="23628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656" name="Google Shape;1656;p93"/>
          <p:cNvSpPr txBox="1"/>
          <p:nvPr>
            <p:ph idx="1" type="body"/>
          </p:nvPr>
        </p:nvSpPr>
        <p:spPr>
          <a:xfrm>
            <a:off x="1155119"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657" name="Google Shape;1657;p93"/>
          <p:cNvSpPr txBox="1"/>
          <p:nvPr>
            <p:ph idx="1" type="body"/>
          </p:nvPr>
        </p:nvSpPr>
        <p:spPr>
          <a:xfrm>
            <a:off x="1607769" y="23628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658" name="Google Shape;1658;p93"/>
          <p:cNvSpPr txBox="1"/>
          <p:nvPr>
            <p:ph idx="1" type="body"/>
          </p:nvPr>
        </p:nvSpPr>
        <p:spPr>
          <a:xfrm>
            <a:off x="1936753" y="23628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659" name="Google Shape;1659;p93"/>
          <p:cNvSpPr txBox="1"/>
          <p:nvPr>
            <p:ph idx="1" type="body"/>
          </p:nvPr>
        </p:nvSpPr>
        <p:spPr>
          <a:xfrm>
            <a:off x="2370561" y="23628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660" name="Google Shape;1660;p93"/>
          <p:cNvSpPr txBox="1"/>
          <p:nvPr>
            <p:ph idx="1" type="body"/>
          </p:nvPr>
        </p:nvSpPr>
        <p:spPr>
          <a:xfrm>
            <a:off x="2674427"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661" name="Google Shape;1661;p93"/>
          <p:cNvSpPr txBox="1"/>
          <p:nvPr>
            <p:ph idx="1" type="body"/>
          </p:nvPr>
        </p:nvSpPr>
        <p:spPr>
          <a:xfrm>
            <a:off x="3200462" y="23628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662" name="Google Shape;1662;p93"/>
          <p:cNvSpPr txBox="1"/>
          <p:nvPr>
            <p:ph idx="1" type="body"/>
          </p:nvPr>
        </p:nvSpPr>
        <p:spPr>
          <a:xfrm>
            <a:off x="3510611"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663" name="Google Shape;1663;p93"/>
          <p:cNvSpPr txBox="1"/>
          <p:nvPr>
            <p:ph idx="1" type="body"/>
          </p:nvPr>
        </p:nvSpPr>
        <p:spPr>
          <a:xfrm>
            <a:off x="3960324" y="23628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664" name="Google Shape;1664;p93"/>
          <p:cNvSpPr txBox="1"/>
          <p:nvPr>
            <p:ph idx="1" type="body"/>
          </p:nvPr>
        </p:nvSpPr>
        <p:spPr>
          <a:xfrm>
            <a:off x="4275332" y="23628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665" name="Google Shape;1665;p93"/>
          <p:cNvSpPr txBox="1"/>
          <p:nvPr>
            <p:ph idx="1" type="body"/>
          </p:nvPr>
        </p:nvSpPr>
        <p:spPr>
          <a:xfrm>
            <a:off x="4711671"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666" name="Google Shape;1666;p93"/>
          <p:cNvSpPr txBox="1"/>
          <p:nvPr>
            <p:ph idx="1" type="body"/>
          </p:nvPr>
        </p:nvSpPr>
        <p:spPr>
          <a:xfrm>
            <a:off x="5009250"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667" name="Google Shape;1667;p93"/>
          <p:cNvSpPr txBox="1"/>
          <p:nvPr>
            <p:ph idx="1" type="body"/>
          </p:nvPr>
        </p:nvSpPr>
        <p:spPr>
          <a:xfrm>
            <a:off x="5455617"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668" name="Google Shape;1668;p93"/>
          <p:cNvSpPr txBox="1"/>
          <p:nvPr>
            <p:ph idx="1" type="body"/>
          </p:nvPr>
        </p:nvSpPr>
        <p:spPr>
          <a:xfrm>
            <a:off x="778047" y="22155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669" name="Google Shape;1669;p93"/>
          <p:cNvSpPr txBox="1"/>
          <p:nvPr>
            <p:ph idx="1" type="body"/>
          </p:nvPr>
        </p:nvSpPr>
        <p:spPr>
          <a:xfrm>
            <a:off x="660830" y="1807954"/>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670" name="Google Shape;1670;p93"/>
          <p:cNvSpPr txBox="1"/>
          <p:nvPr>
            <p:ph idx="1" type="body"/>
          </p:nvPr>
        </p:nvSpPr>
        <p:spPr>
          <a:xfrm>
            <a:off x="575375" y="140032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671" name="Google Shape;1671;p93"/>
          <p:cNvSpPr txBox="1"/>
          <p:nvPr>
            <p:ph idx="1" type="body"/>
          </p:nvPr>
        </p:nvSpPr>
        <p:spPr>
          <a:xfrm>
            <a:off x="575351" y="992700"/>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672" name="Google Shape;1672;p93"/>
          <p:cNvSpPr txBox="1"/>
          <p:nvPr>
            <p:ph idx="1" type="body"/>
          </p:nvPr>
        </p:nvSpPr>
        <p:spPr>
          <a:xfrm>
            <a:off x="2493948" y="8108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1979 to 2001</a:t>
            </a:r>
            <a:endParaRPr sz="1600"/>
          </a:p>
        </p:txBody>
      </p:sp>
      <p:cxnSp>
        <p:nvCxnSpPr>
          <p:cNvPr id="1673" name="Google Shape;1673;p93"/>
          <p:cNvCxnSpPr/>
          <p:nvPr/>
        </p:nvCxnSpPr>
        <p:spPr>
          <a:xfrm>
            <a:off x="975198" y="43819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674" name="Google Shape;1674;p93"/>
          <p:cNvCxnSpPr/>
          <p:nvPr/>
        </p:nvCxnSpPr>
        <p:spPr>
          <a:xfrm rot="10800000">
            <a:off x="971604" y="2935567"/>
            <a:ext cx="0" cy="1452000"/>
          </a:xfrm>
          <a:prstGeom prst="straightConnector1">
            <a:avLst/>
          </a:prstGeom>
          <a:noFill/>
          <a:ln cap="flat" cmpd="sng" w="28575">
            <a:solidFill>
              <a:schemeClr val="dk1"/>
            </a:solidFill>
            <a:prstDash val="solid"/>
            <a:round/>
            <a:headEnd len="med" w="med" type="none"/>
            <a:tailEnd len="med" w="med" type="triangle"/>
          </a:ln>
        </p:spPr>
      </p:cxnSp>
      <p:sp>
        <p:nvSpPr>
          <p:cNvPr id="1675" name="Google Shape;1675;p93"/>
          <p:cNvSpPr txBox="1"/>
          <p:nvPr>
            <p:ph idx="1" type="body"/>
          </p:nvPr>
        </p:nvSpPr>
        <p:spPr>
          <a:xfrm>
            <a:off x="853452" y="44202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676" name="Google Shape;1676;p93"/>
          <p:cNvSpPr txBox="1"/>
          <p:nvPr>
            <p:ph idx="1" type="body"/>
          </p:nvPr>
        </p:nvSpPr>
        <p:spPr>
          <a:xfrm>
            <a:off x="1155119"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677" name="Google Shape;1677;p93"/>
          <p:cNvSpPr txBox="1"/>
          <p:nvPr>
            <p:ph idx="1" type="body"/>
          </p:nvPr>
        </p:nvSpPr>
        <p:spPr>
          <a:xfrm>
            <a:off x="1607769" y="44202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678" name="Google Shape;1678;p93"/>
          <p:cNvSpPr txBox="1"/>
          <p:nvPr>
            <p:ph idx="1" type="body"/>
          </p:nvPr>
        </p:nvSpPr>
        <p:spPr>
          <a:xfrm>
            <a:off x="1936753" y="44202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679" name="Google Shape;1679;p93"/>
          <p:cNvSpPr txBox="1"/>
          <p:nvPr>
            <p:ph idx="1" type="body"/>
          </p:nvPr>
        </p:nvSpPr>
        <p:spPr>
          <a:xfrm>
            <a:off x="2370561" y="44202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680" name="Google Shape;1680;p93"/>
          <p:cNvSpPr txBox="1"/>
          <p:nvPr>
            <p:ph idx="1" type="body"/>
          </p:nvPr>
        </p:nvSpPr>
        <p:spPr>
          <a:xfrm>
            <a:off x="2674427"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681" name="Google Shape;1681;p93"/>
          <p:cNvSpPr txBox="1"/>
          <p:nvPr>
            <p:ph idx="1" type="body"/>
          </p:nvPr>
        </p:nvSpPr>
        <p:spPr>
          <a:xfrm>
            <a:off x="3200462" y="44202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682" name="Google Shape;1682;p93"/>
          <p:cNvSpPr txBox="1"/>
          <p:nvPr>
            <p:ph idx="1" type="body"/>
          </p:nvPr>
        </p:nvSpPr>
        <p:spPr>
          <a:xfrm>
            <a:off x="3510611"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683" name="Google Shape;1683;p93"/>
          <p:cNvSpPr txBox="1"/>
          <p:nvPr>
            <p:ph idx="1" type="body"/>
          </p:nvPr>
        </p:nvSpPr>
        <p:spPr>
          <a:xfrm>
            <a:off x="3960324" y="44202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684" name="Google Shape;1684;p93"/>
          <p:cNvSpPr txBox="1"/>
          <p:nvPr>
            <p:ph idx="1" type="body"/>
          </p:nvPr>
        </p:nvSpPr>
        <p:spPr>
          <a:xfrm>
            <a:off x="4275332" y="44202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685" name="Google Shape;1685;p93"/>
          <p:cNvSpPr txBox="1"/>
          <p:nvPr>
            <p:ph idx="1" type="body"/>
          </p:nvPr>
        </p:nvSpPr>
        <p:spPr>
          <a:xfrm>
            <a:off x="4711671"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686" name="Google Shape;1686;p93"/>
          <p:cNvSpPr txBox="1"/>
          <p:nvPr>
            <p:ph idx="1" type="body"/>
          </p:nvPr>
        </p:nvSpPr>
        <p:spPr>
          <a:xfrm>
            <a:off x="5009250"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687" name="Google Shape;1687;p93"/>
          <p:cNvSpPr txBox="1"/>
          <p:nvPr>
            <p:ph idx="1" type="body"/>
          </p:nvPr>
        </p:nvSpPr>
        <p:spPr>
          <a:xfrm>
            <a:off x="5455617"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688" name="Google Shape;1688;p93"/>
          <p:cNvSpPr txBox="1"/>
          <p:nvPr>
            <p:ph idx="1" type="body"/>
          </p:nvPr>
        </p:nvSpPr>
        <p:spPr>
          <a:xfrm>
            <a:off x="778047" y="42729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689" name="Google Shape;1689;p93"/>
          <p:cNvSpPr txBox="1"/>
          <p:nvPr>
            <p:ph idx="1" type="body"/>
          </p:nvPr>
        </p:nvSpPr>
        <p:spPr>
          <a:xfrm>
            <a:off x="660830" y="3865354"/>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690" name="Google Shape;1690;p93"/>
          <p:cNvSpPr txBox="1"/>
          <p:nvPr>
            <p:ph idx="1" type="body"/>
          </p:nvPr>
        </p:nvSpPr>
        <p:spPr>
          <a:xfrm>
            <a:off x="575375" y="345772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691" name="Google Shape;1691;p93"/>
          <p:cNvSpPr txBox="1"/>
          <p:nvPr>
            <p:ph idx="1" type="body"/>
          </p:nvPr>
        </p:nvSpPr>
        <p:spPr>
          <a:xfrm>
            <a:off x="575351" y="3050100"/>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692" name="Google Shape;1692;p93"/>
          <p:cNvSpPr txBox="1"/>
          <p:nvPr>
            <p:ph idx="1" type="body"/>
          </p:nvPr>
        </p:nvSpPr>
        <p:spPr>
          <a:xfrm>
            <a:off x="2493948" y="2908132"/>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2002 to 2024</a:t>
            </a:r>
            <a:endParaRPr sz="1600"/>
          </a:p>
        </p:txBody>
      </p:sp>
      <p:sp>
        <p:nvSpPr>
          <p:cNvPr id="1693" name="Google Shape;1693;p93"/>
          <p:cNvSpPr txBox="1"/>
          <p:nvPr>
            <p:ph idx="1" type="body"/>
          </p:nvPr>
        </p:nvSpPr>
        <p:spPr>
          <a:xfrm rot="-5400000">
            <a:off x="-207523" y="14966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694" name="Google Shape;1694;p93"/>
          <p:cNvSpPr txBox="1"/>
          <p:nvPr>
            <p:ph idx="1" type="body"/>
          </p:nvPr>
        </p:nvSpPr>
        <p:spPr>
          <a:xfrm rot="-5400000">
            <a:off x="-207523" y="36302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695" name="Google Shape;1695;p93"/>
          <p:cNvSpPr txBox="1"/>
          <p:nvPr>
            <p:ph idx="4294967295" type="title"/>
          </p:nvPr>
        </p:nvSpPr>
        <p:spPr>
          <a:xfrm>
            <a:off x="5963825" y="733725"/>
            <a:ext cx="2932500" cy="1233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en-GB" sz="1800"/>
              <a:t>These graphs show the same data as the previous one, but split into two time periods.</a:t>
            </a:r>
            <a:endParaRPr b="0" sz="1800"/>
          </a:p>
        </p:txBody>
      </p:sp>
      <p:sp>
        <p:nvSpPr>
          <p:cNvPr id="1696" name="Google Shape;1696;p93"/>
          <p:cNvSpPr txBox="1"/>
          <p:nvPr>
            <p:ph idx="4294967295" type="title"/>
          </p:nvPr>
        </p:nvSpPr>
        <p:spPr>
          <a:xfrm>
            <a:off x="5963814" y="2257725"/>
            <a:ext cx="2487000" cy="914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en-GB" sz="1800"/>
              <a:t>For which period of time is the modal class greater?</a:t>
            </a:r>
            <a:endParaRPr b="0" sz="1800"/>
          </a:p>
        </p:txBody>
      </p:sp>
      <p:sp>
        <p:nvSpPr>
          <p:cNvPr id="1697" name="Google Shape;1697;p93"/>
          <p:cNvSpPr txBox="1"/>
          <p:nvPr>
            <p:ph idx="4294967295" type="title"/>
          </p:nvPr>
        </p:nvSpPr>
        <p:spPr>
          <a:xfrm>
            <a:off x="5963814" y="3400725"/>
            <a:ext cx="1670700" cy="30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en-GB" sz="2000">
                <a:latin typeface="Kalam"/>
                <a:ea typeface="Kalam"/>
                <a:cs typeface="Kalam"/>
                <a:sym typeface="Kalam"/>
              </a:rPr>
              <a:t>2002 to 2024</a:t>
            </a:r>
            <a:endParaRPr b="0" sz="2000">
              <a:latin typeface="Kalam"/>
              <a:ea typeface="Kalam"/>
              <a:cs typeface="Kalam"/>
              <a:sym typeface="Kalam"/>
            </a:endParaRPr>
          </a:p>
        </p:txBody>
      </p:sp>
      <p:grpSp>
        <p:nvGrpSpPr>
          <p:cNvPr id="1698" name="Google Shape;1698;p93"/>
          <p:cNvGrpSpPr/>
          <p:nvPr/>
        </p:nvGrpSpPr>
        <p:grpSpPr>
          <a:xfrm>
            <a:off x="2703115" y="1306275"/>
            <a:ext cx="1079171" cy="3354034"/>
            <a:chOff x="2815601" y="1306275"/>
            <a:chExt cx="1079171" cy="3354034"/>
          </a:xfrm>
        </p:grpSpPr>
        <p:sp>
          <p:nvSpPr>
            <p:cNvPr id="1699" name="Google Shape;1699;p93"/>
            <p:cNvSpPr/>
            <p:nvPr/>
          </p:nvSpPr>
          <p:spPr>
            <a:xfrm>
              <a:off x="2975425" y="1306275"/>
              <a:ext cx="394200" cy="10278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0" name="Google Shape;1700;p93"/>
            <p:cNvSpPr/>
            <p:nvPr/>
          </p:nvSpPr>
          <p:spPr>
            <a:xfrm>
              <a:off x="3356425" y="3820175"/>
              <a:ext cx="394200" cy="5712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01" name="Google Shape;1701;p93"/>
            <p:cNvCxnSpPr/>
            <p:nvPr/>
          </p:nvCxnSpPr>
          <p:spPr>
            <a:xfrm>
              <a:off x="2815601" y="2593837"/>
              <a:ext cx="612900" cy="0"/>
            </a:xfrm>
            <a:prstGeom prst="straightConnector1">
              <a:avLst/>
            </a:prstGeom>
            <a:noFill/>
            <a:ln cap="flat" cmpd="sng" w="38100">
              <a:solidFill>
                <a:schemeClr val="dk1"/>
              </a:solidFill>
              <a:prstDash val="solid"/>
              <a:round/>
              <a:headEnd len="med" w="med" type="none"/>
              <a:tailEnd len="med" w="med" type="none"/>
            </a:ln>
          </p:spPr>
        </p:cxnSp>
        <p:cxnSp>
          <p:nvCxnSpPr>
            <p:cNvPr id="1702" name="Google Shape;1702;p93"/>
            <p:cNvCxnSpPr/>
            <p:nvPr/>
          </p:nvCxnSpPr>
          <p:spPr>
            <a:xfrm>
              <a:off x="3281872" y="4660309"/>
              <a:ext cx="612900" cy="0"/>
            </a:xfrm>
            <a:prstGeom prst="straightConnector1">
              <a:avLst/>
            </a:prstGeom>
            <a:noFill/>
            <a:ln cap="flat" cmpd="sng" w="38100">
              <a:solidFill>
                <a:schemeClr val="dk1"/>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pic>
        <p:nvPicPr>
          <p:cNvPr id="1707" name="Google Shape;1707;p94"/>
          <p:cNvPicPr preferRelativeResize="0"/>
          <p:nvPr/>
        </p:nvPicPr>
        <p:blipFill>
          <a:blip r:embed="rId3">
            <a:alphaModFix/>
          </a:blip>
          <a:stretch>
            <a:fillRect/>
          </a:stretch>
        </p:blipFill>
        <p:spPr>
          <a:xfrm>
            <a:off x="975614" y="3174513"/>
            <a:ext cx="4564274" cy="1213462"/>
          </a:xfrm>
          <a:prstGeom prst="rect">
            <a:avLst/>
          </a:prstGeom>
          <a:noFill/>
          <a:ln>
            <a:noFill/>
          </a:ln>
        </p:spPr>
      </p:pic>
      <p:pic>
        <p:nvPicPr>
          <p:cNvPr id="1708" name="Google Shape;1708;p94"/>
          <p:cNvPicPr preferRelativeResize="0"/>
          <p:nvPr/>
        </p:nvPicPr>
        <p:blipFill rotWithShape="1">
          <a:blip r:embed="rId4">
            <a:alphaModFix/>
          </a:blip>
          <a:srcRect b="0" l="0" r="0" t="24681"/>
          <a:stretch/>
        </p:blipFill>
        <p:spPr>
          <a:xfrm>
            <a:off x="968764" y="1095825"/>
            <a:ext cx="4564275" cy="1234350"/>
          </a:xfrm>
          <a:prstGeom prst="rect">
            <a:avLst/>
          </a:prstGeom>
          <a:noFill/>
          <a:ln>
            <a:noFill/>
          </a:ln>
        </p:spPr>
      </p:pic>
      <p:sp>
        <p:nvSpPr>
          <p:cNvPr id="1709" name="Google Shape;1709;p94"/>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710" name="Google Shape;1710;p94"/>
          <p:cNvCxnSpPr/>
          <p:nvPr/>
        </p:nvCxnSpPr>
        <p:spPr>
          <a:xfrm>
            <a:off x="975198" y="23245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711" name="Google Shape;1711;p94"/>
          <p:cNvCxnSpPr/>
          <p:nvPr/>
        </p:nvCxnSpPr>
        <p:spPr>
          <a:xfrm rot="10800000">
            <a:off x="971604" y="878167"/>
            <a:ext cx="0" cy="1452000"/>
          </a:xfrm>
          <a:prstGeom prst="straightConnector1">
            <a:avLst/>
          </a:prstGeom>
          <a:noFill/>
          <a:ln cap="flat" cmpd="sng" w="28575">
            <a:solidFill>
              <a:schemeClr val="dk1"/>
            </a:solidFill>
            <a:prstDash val="solid"/>
            <a:round/>
            <a:headEnd len="med" w="med" type="none"/>
            <a:tailEnd len="med" w="med" type="triangle"/>
          </a:ln>
        </p:spPr>
      </p:cxnSp>
      <p:sp>
        <p:nvSpPr>
          <p:cNvPr id="1712" name="Google Shape;1712;p94"/>
          <p:cNvSpPr txBox="1"/>
          <p:nvPr>
            <p:ph idx="1" type="body"/>
          </p:nvPr>
        </p:nvSpPr>
        <p:spPr>
          <a:xfrm>
            <a:off x="853452" y="23628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713" name="Google Shape;1713;p94"/>
          <p:cNvSpPr txBox="1"/>
          <p:nvPr>
            <p:ph idx="1" type="body"/>
          </p:nvPr>
        </p:nvSpPr>
        <p:spPr>
          <a:xfrm>
            <a:off x="1155119"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714" name="Google Shape;1714;p94"/>
          <p:cNvSpPr txBox="1"/>
          <p:nvPr>
            <p:ph idx="1" type="body"/>
          </p:nvPr>
        </p:nvSpPr>
        <p:spPr>
          <a:xfrm>
            <a:off x="1607769" y="23628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715" name="Google Shape;1715;p94"/>
          <p:cNvSpPr txBox="1"/>
          <p:nvPr>
            <p:ph idx="1" type="body"/>
          </p:nvPr>
        </p:nvSpPr>
        <p:spPr>
          <a:xfrm>
            <a:off x="1936753" y="23628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716" name="Google Shape;1716;p94"/>
          <p:cNvSpPr txBox="1"/>
          <p:nvPr>
            <p:ph idx="1" type="body"/>
          </p:nvPr>
        </p:nvSpPr>
        <p:spPr>
          <a:xfrm>
            <a:off x="2370561" y="23628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717" name="Google Shape;1717;p94"/>
          <p:cNvSpPr txBox="1"/>
          <p:nvPr>
            <p:ph idx="1" type="body"/>
          </p:nvPr>
        </p:nvSpPr>
        <p:spPr>
          <a:xfrm>
            <a:off x="2674427"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718" name="Google Shape;1718;p94"/>
          <p:cNvSpPr txBox="1"/>
          <p:nvPr>
            <p:ph idx="1" type="body"/>
          </p:nvPr>
        </p:nvSpPr>
        <p:spPr>
          <a:xfrm>
            <a:off x="3200462" y="23628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719" name="Google Shape;1719;p94"/>
          <p:cNvSpPr txBox="1"/>
          <p:nvPr>
            <p:ph idx="1" type="body"/>
          </p:nvPr>
        </p:nvSpPr>
        <p:spPr>
          <a:xfrm>
            <a:off x="3510611"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720" name="Google Shape;1720;p94"/>
          <p:cNvSpPr txBox="1"/>
          <p:nvPr>
            <p:ph idx="1" type="body"/>
          </p:nvPr>
        </p:nvSpPr>
        <p:spPr>
          <a:xfrm>
            <a:off x="3960324" y="23628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721" name="Google Shape;1721;p94"/>
          <p:cNvSpPr txBox="1"/>
          <p:nvPr>
            <p:ph idx="1" type="body"/>
          </p:nvPr>
        </p:nvSpPr>
        <p:spPr>
          <a:xfrm>
            <a:off x="4275332" y="23628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722" name="Google Shape;1722;p94"/>
          <p:cNvSpPr txBox="1"/>
          <p:nvPr>
            <p:ph idx="1" type="body"/>
          </p:nvPr>
        </p:nvSpPr>
        <p:spPr>
          <a:xfrm>
            <a:off x="4711671"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723" name="Google Shape;1723;p94"/>
          <p:cNvSpPr txBox="1"/>
          <p:nvPr>
            <p:ph idx="1" type="body"/>
          </p:nvPr>
        </p:nvSpPr>
        <p:spPr>
          <a:xfrm>
            <a:off x="5009250"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724" name="Google Shape;1724;p94"/>
          <p:cNvSpPr txBox="1"/>
          <p:nvPr>
            <p:ph idx="1" type="body"/>
          </p:nvPr>
        </p:nvSpPr>
        <p:spPr>
          <a:xfrm>
            <a:off x="5455617"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725" name="Google Shape;1725;p94"/>
          <p:cNvSpPr txBox="1"/>
          <p:nvPr>
            <p:ph idx="1" type="body"/>
          </p:nvPr>
        </p:nvSpPr>
        <p:spPr>
          <a:xfrm>
            <a:off x="778047" y="22155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726" name="Google Shape;1726;p94"/>
          <p:cNvSpPr txBox="1"/>
          <p:nvPr>
            <p:ph idx="1" type="body"/>
          </p:nvPr>
        </p:nvSpPr>
        <p:spPr>
          <a:xfrm>
            <a:off x="660830" y="1807954"/>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727" name="Google Shape;1727;p94"/>
          <p:cNvSpPr txBox="1"/>
          <p:nvPr>
            <p:ph idx="1" type="body"/>
          </p:nvPr>
        </p:nvSpPr>
        <p:spPr>
          <a:xfrm>
            <a:off x="575375" y="140032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728" name="Google Shape;1728;p94"/>
          <p:cNvSpPr txBox="1"/>
          <p:nvPr>
            <p:ph idx="1" type="body"/>
          </p:nvPr>
        </p:nvSpPr>
        <p:spPr>
          <a:xfrm>
            <a:off x="575351" y="992700"/>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729" name="Google Shape;1729;p94"/>
          <p:cNvSpPr txBox="1"/>
          <p:nvPr>
            <p:ph idx="1" type="body"/>
          </p:nvPr>
        </p:nvSpPr>
        <p:spPr>
          <a:xfrm>
            <a:off x="2493948" y="8108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1979 to 2001</a:t>
            </a:r>
            <a:endParaRPr sz="1600"/>
          </a:p>
        </p:txBody>
      </p:sp>
      <p:cxnSp>
        <p:nvCxnSpPr>
          <p:cNvPr id="1730" name="Google Shape;1730;p94"/>
          <p:cNvCxnSpPr/>
          <p:nvPr/>
        </p:nvCxnSpPr>
        <p:spPr>
          <a:xfrm>
            <a:off x="975198" y="43819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731" name="Google Shape;1731;p94"/>
          <p:cNvCxnSpPr/>
          <p:nvPr/>
        </p:nvCxnSpPr>
        <p:spPr>
          <a:xfrm rot="10800000">
            <a:off x="971604" y="2935567"/>
            <a:ext cx="0" cy="1452000"/>
          </a:xfrm>
          <a:prstGeom prst="straightConnector1">
            <a:avLst/>
          </a:prstGeom>
          <a:noFill/>
          <a:ln cap="flat" cmpd="sng" w="28575">
            <a:solidFill>
              <a:schemeClr val="dk1"/>
            </a:solidFill>
            <a:prstDash val="solid"/>
            <a:round/>
            <a:headEnd len="med" w="med" type="none"/>
            <a:tailEnd len="med" w="med" type="triangle"/>
          </a:ln>
        </p:spPr>
      </p:cxnSp>
      <p:sp>
        <p:nvSpPr>
          <p:cNvPr id="1732" name="Google Shape;1732;p94"/>
          <p:cNvSpPr txBox="1"/>
          <p:nvPr>
            <p:ph idx="1" type="body"/>
          </p:nvPr>
        </p:nvSpPr>
        <p:spPr>
          <a:xfrm>
            <a:off x="853452" y="44202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733" name="Google Shape;1733;p94"/>
          <p:cNvSpPr txBox="1"/>
          <p:nvPr>
            <p:ph idx="1" type="body"/>
          </p:nvPr>
        </p:nvSpPr>
        <p:spPr>
          <a:xfrm>
            <a:off x="1155119"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734" name="Google Shape;1734;p94"/>
          <p:cNvSpPr txBox="1"/>
          <p:nvPr>
            <p:ph idx="1" type="body"/>
          </p:nvPr>
        </p:nvSpPr>
        <p:spPr>
          <a:xfrm>
            <a:off x="1607769" y="44202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735" name="Google Shape;1735;p94"/>
          <p:cNvSpPr txBox="1"/>
          <p:nvPr>
            <p:ph idx="1" type="body"/>
          </p:nvPr>
        </p:nvSpPr>
        <p:spPr>
          <a:xfrm>
            <a:off x="1936753" y="44202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736" name="Google Shape;1736;p94"/>
          <p:cNvSpPr txBox="1"/>
          <p:nvPr>
            <p:ph idx="1" type="body"/>
          </p:nvPr>
        </p:nvSpPr>
        <p:spPr>
          <a:xfrm>
            <a:off x="2370561" y="44202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737" name="Google Shape;1737;p94"/>
          <p:cNvSpPr txBox="1"/>
          <p:nvPr>
            <p:ph idx="1" type="body"/>
          </p:nvPr>
        </p:nvSpPr>
        <p:spPr>
          <a:xfrm>
            <a:off x="2674427"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738" name="Google Shape;1738;p94"/>
          <p:cNvSpPr txBox="1"/>
          <p:nvPr>
            <p:ph idx="1" type="body"/>
          </p:nvPr>
        </p:nvSpPr>
        <p:spPr>
          <a:xfrm>
            <a:off x="3200462" y="44202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739" name="Google Shape;1739;p94"/>
          <p:cNvSpPr txBox="1"/>
          <p:nvPr>
            <p:ph idx="1" type="body"/>
          </p:nvPr>
        </p:nvSpPr>
        <p:spPr>
          <a:xfrm>
            <a:off x="3510611"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740" name="Google Shape;1740;p94"/>
          <p:cNvSpPr txBox="1"/>
          <p:nvPr>
            <p:ph idx="1" type="body"/>
          </p:nvPr>
        </p:nvSpPr>
        <p:spPr>
          <a:xfrm>
            <a:off x="3960324" y="44202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741" name="Google Shape;1741;p94"/>
          <p:cNvSpPr txBox="1"/>
          <p:nvPr>
            <p:ph idx="1" type="body"/>
          </p:nvPr>
        </p:nvSpPr>
        <p:spPr>
          <a:xfrm>
            <a:off x="4275332" y="44202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742" name="Google Shape;1742;p94"/>
          <p:cNvSpPr txBox="1"/>
          <p:nvPr>
            <p:ph idx="1" type="body"/>
          </p:nvPr>
        </p:nvSpPr>
        <p:spPr>
          <a:xfrm>
            <a:off x="4711671"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743" name="Google Shape;1743;p94"/>
          <p:cNvSpPr txBox="1"/>
          <p:nvPr>
            <p:ph idx="1" type="body"/>
          </p:nvPr>
        </p:nvSpPr>
        <p:spPr>
          <a:xfrm>
            <a:off x="5009250"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744" name="Google Shape;1744;p94"/>
          <p:cNvSpPr txBox="1"/>
          <p:nvPr>
            <p:ph idx="1" type="body"/>
          </p:nvPr>
        </p:nvSpPr>
        <p:spPr>
          <a:xfrm>
            <a:off x="5455617"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745" name="Google Shape;1745;p94"/>
          <p:cNvSpPr txBox="1"/>
          <p:nvPr>
            <p:ph idx="1" type="body"/>
          </p:nvPr>
        </p:nvSpPr>
        <p:spPr>
          <a:xfrm>
            <a:off x="778047" y="42729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746" name="Google Shape;1746;p94"/>
          <p:cNvSpPr txBox="1"/>
          <p:nvPr>
            <p:ph idx="1" type="body"/>
          </p:nvPr>
        </p:nvSpPr>
        <p:spPr>
          <a:xfrm>
            <a:off x="660830" y="3865354"/>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747" name="Google Shape;1747;p94"/>
          <p:cNvSpPr txBox="1"/>
          <p:nvPr>
            <p:ph idx="1" type="body"/>
          </p:nvPr>
        </p:nvSpPr>
        <p:spPr>
          <a:xfrm>
            <a:off x="575375" y="345772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748" name="Google Shape;1748;p94"/>
          <p:cNvSpPr txBox="1"/>
          <p:nvPr>
            <p:ph idx="1" type="body"/>
          </p:nvPr>
        </p:nvSpPr>
        <p:spPr>
          <a:xfrm>
            <a:off x="575351" y="3050100"/>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749" name="Google Shape;1749;p94"/>
          <p:cNvSpPr txBox="1"/>
          <p:nvPr>
            <p:ph idx="1" type="body"/>
          </p:nvPr>
        </p:nvSpPr>
        <p:spPr>
          <a:xfrm>
            <a:off x="2493948" y="2908132"/>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2002 to 2024</a:t>
            </a:r>
            <a:endParaRPr sz="1600"/>
          </a:p>
        </p:txBody>
      </p:sp>
      <p:sp>
        <p:nvSpPr>
          <p:cNvPr id="1750" name="Google Shape;1750;p94"/>
          <p:cNvSpPr txBox="1"/>
          <p:nvPr>
            <p:ph idx="4294967295" type="title"/>
          </p:nvPr>
        </p:nvSpPr>
        <p:spPr>
          <a:xfrm>
            <a:off x="5772500" y="679300"/>
            <a:ext cx="2981400" cy="2445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True or false?</a:t>
            </a:r>
            <a:endParaRPr sz="1800"/>
          </a:p>
          <a:p>
            <a:pPr indent="0" lvl="0" marL="0" rtl="0" algn="l">
              <a:spcBef>
                <a:spcPts val="1000"/>
              </a:spcBef>
              <a:spcAft>
                <a:spcPts val="0"/>
              </a:spcAft>
              <a:buNone/>
            </a:pPr>
            <a:r>
              <a:rPr b="0" lang="en-GB" sz="1800"/>
              <a:t>The extent of sea ice in the Antarctic was more consistent between 1979 and 2001 than it was between 2002 and 2024.</a:t>
            </a:r>
            <a:endParaRPr b="0" sz="1800"/>
          </a:p>
          <a:p>
            <a:pPr indent="0" lvl="0" marL="0" rtl="0" algn="l">
              <a:spcBef>
                <a:spcPts val="1000"/>
              </a:spcBef>
              <a:spcAft>
                <a:spcPts val="0"/>
              </a:spcAft>
              <a:buNone/>
            </a:pPr>
            <a:r>
              <a:rPr b="0" lang="en-GB" sz="1800"/>
              <a:t>Explain your answer.</a:t>
            </a:r>
            <a:endParaRPr b="0" sz="1800"/>
          </a:p>
        </p:txBody>
      </p:sp>
      <p:sp>
        <p:nvSpPr>
          <p:cNvPr id="1751" name="Google Shape;1751;p94"/>
          <p:cNvSpPr txBox="1"/>
          <p:nvPr>
            <p:ph idx="1" type="body"/>
          </p:nvPr>
        </p:nvSpPr>
        <p:spPr>
          <a:xfrm rot="-5400000">
            <a:off x="-207523" y="14966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752" name="Google Shape;1752;p94"/>
          <p:cNvSpPr txBox="1"/>
          <p:nvPr>
            <p:ph idx="1" type="body"/>
          </p:nvPr>
        </p:nvSpPr>
        <p:spPr>
          <a:xfrm rot="-5400000">
            <a:off x="-207523" y="36302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753" name="Google Shape;1753;p94"/>
          <p:cNvSpPr txBox="1"/>
          <p:nvPr>
            <p:ph idx="4294967295" type="title"/>
          </p:nvPr>
        </p:nvSpPr>
        <p:spPr>
          <a:xfrm>
            <a:off x="5772500" y="3141486"/>
            <a:ext cx="2981400" cy="1233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en-GB" sz="1800">
                <a:latin typeface="Kalam"/>
                <a:ea typeface="Kalam"/>
                <a:cs typeface="Kalam"/>
                <a:sym typeface="Kalam"/>
              </a:rPr>
              <a:t>True </a:t>
            </a:r>
            <a:br>
              <a:rPr b="0" lang="en-GB" sz="1800">
                <a:latin typeface="Kalam"/>
                <a:ea typeface="Kalam"/>
                <a:cs typeface="Kalam"/>
                <a:sym typeface="Kalam"/>
              </a:rPr>
            </a:br>
            <a:r>
              <a:rPr b="0" lang="en-GB" sz="1800">
                <a:latin typeface="Kalam"/>
                <a:ea typeface="Kalam"/>
                <a:cs typeface="Kalam"/>
                <a:sym typeface="Kalam"/>
              </a:rPr>
              <a:t>E.g. The data appears less spread out in the top graph than the bottom graph.</a:t>
            </a:r>
            <a:endParaRPr b="0"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pic>
        <p:nvPicPr>
          <p:cNvPr id="1758" name="Google Shape;1758;p95"/>
          <p:cNvPicPr preferRelativeResize="0"/>
          <p:nvPr/>
        </p:nvPicPr>
        <p:blipFill>
          <a:blip r:embed="rId3">
            <a:alphaModFix/>
          </a:blip>
          <a:stretch>
            <a:fillRect/>
          </a:stretch>
        </p:blipFill>
        <p:spPr>
          <a:xfrm>
            <a:off x="975614" y="3174513"/>
            <a:ext cx="4564274" cy="1213462"/>
          </a:xfrm>
          <a:prstGeom prst="rect">
            <a:avLst/>
          </a:prstGeom>
          <a:noFill/>
          <a:ln>
            <a:noFill/>
          </a:ln>
        </p:spPr>
      </p:pic>
      <p:pic>
        <p:nvPicPr>
          <p:cNvPr id="1759" name="Google Shape;1759;p95"/>
          <p:cNvPicPr preferRelativeResize="0"/>
          <p:nvPr/>
        </p:nvPicPr>
        <p:blipFill rotWithShape="1">
          <a:blip r:embed="rId4">
            <a:alphaModFix/>
          </a:blip>
          <a:srcRect b="0" l="0" r="0" t="24681"/>
          <a:stretch/>
        </p:blipFill>
        <p:spPr>
          <a:xfrm>
            <a:off x="968764" y="1095825"/>
            <a:ext cx="4564275" cy="1234350"/>
          </a:xfrm>
          <a:prstGeom prst="rect">
            <a:avLst/>
          </a:prstGeom>
          <a:noFill/>
          <a:ln>
            <a:noFill/>
          </a:ln>
        </p:spPr>
      </p:pic>
      <p:sp>
        <p:nvSpPr>
          <p:cNvPr id="1760" name="Google Shape;1760;p95"/>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761" name="Google Shape;1761;p95"/>
          <p:cNvCxnSpPr/>
          <p:nvPr/>
        </p:nvCxnSpPr>
        <p:spPr>
          <a:xfrm>
            <a:off x="975198" y="23245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762" name="Google Shape;1762;p95"/>
          <p:cNvCxnSpPr/>
          <p:nvPr/>
        </p:nvCxnSpPr>
        <p:spPr>
          <a:xfrm rot="10800000">
            <a:off x="971604" y="878167"/>
            <a:ext cx="0" cy="1452000"/>
          </a:xfrm>
          <a:prstGeom prst="straightConnector1">
            <a:avLst/>
          </a:prstGeom>
          <a:noFill/>
          <a:ln cap="flat" cmpd="sng" w="28575">
            <a:solidFill>
              <a:schemeClr val="dk1"/>
            </a:solidFill>
            <a:prstDash val="solid"/>
            <a:round/>
            <a:headEnd len="med" w="med" type="none"/>
            <a:tailEnd len="med" w="med" type="triangle"/>
          </a:ln>
        </p:spPr>
      </p:cxnSp>
      <p:sp>
        <p:nvSpPr>
          <p:cNvPr id="1763" name="Google Shape;1763;p95"/>
          <p:cNvSpPr txBox="1"/>
          <p:nvPr>
            <p:ph idx="1" type="body"/>
          </p:nvPr>
        </p:nvSpPr>
        <p:spPr>
          <a:xfrm>
            <a:off x="853452" y="23628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764" name="Google Shape;1764;p95"/>
          <p:cNvSpPr txBox="1"/>
          <p:nvPr>
            <p:ph idx="1" type="body"/>
          </p:nvPr>
        </p:nvSpPr>
        <p:spPr>
          <a:xfrm>
            <a:off x="1155119"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765" name="Google Shape;1765;p95"/>
          <p:cNvSpPr txBox="1"/>
          <p:nvPr>
            <p:ph idx="1" type="body"/>
          </p:nvPr>
        </p:nvSpPr>
        <p:spPr>
          <a:xfrm>
            <a:off x="1607769" y="23628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766" name="Google Shape;1766;p95"/>
          <p:cNvSpPr txBox="1"/>
          <p:nvPr>
            <p:ph idx="1" type="body"/>
          </p:nvPr>
        </p:nvSpPr>
        <p:spPr>
          <a:xfrm>
            <a:off x="1936753" y="23628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767" name="Google Shape;1767;p95"/>
          <p:cNvSpPr txBox="1"/>
          <p:nvPr>
            <p:ph idx="1" type="body"/>
          </p:nvPr>
        </p:nvSpPr>
        <p:spPr>
          <a:xfrm>
            <a:off x="2370561" y="23628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768" name="Google Shape;1768;p95"/>
          <p:cNvSpPr txBox="1"/>
          <p:nvPr>
            <p:ph idx="1" type="body"/>
          </p:nvPr>
        </p:nvSpPr>
        <p:spPr>
          <a:xfrm>
            <a:off x="2674427"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769" name="Google Shape;1769;p95"/>
          <p:cNvSpPr txBox="1"/>
          <p:nvPr>
            <p:ph idx="1" type="body"/>
          </p:nvPr>
        </p:nvSpPr>
        <p:spPr>
          <a:xfrm>
            <a:off x="3200462" y="23628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770" name="Google Shape;1770;p95"/>
          <p:cNvSpPr txBox="1"/>
          <p:nvPr>
            <p:ph idx="1" type="body"/>
          </p:nvPr>
        </p:nvSpPr>
        <p:spPr>
          <a:xfrm>
            <a:off x="3510611"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771" name="Google Shape;1771;p95"/>
          <p:cNvSpPr txBox="1"/>
          <p:nvPr>
            <p:ph idx="1" type="body"/>
          </p:nvPr>
        </p:nvSpPr>
        <p:spPr>
          <a:xfrm>
            <a:off x="3960324" y="23628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772" name="Google Shape;1772;p95"/>
          <p:cNvSpPr txBox="1"/>
          <p:nvPr>
            <p:ph idx="1" type="body"/>
          </p:nvPr>
        </p:nvSpPr>
        <p:spPr>
          <a:xfrm>
            <a:off x="4275332" y="23628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773" name="Google Shape;1773;p95"/>
          <p:cNvSpPr txBox="1"/>
          <p:nvPr>
            <p:ph idx="1" type="body"/>
          </p:nvPr>
        </p:nvSpPr>
        <p:spPr>
          <a:xfrm>
            <a:off x="4711671"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774" name="Google Shape;1774;p95"/>
          <p:cNvSpPr txBox="1"/>
          <p:nvPr>
            <p:ph idx="1" type="body"/>
          </p:nvPr>
        </p:nvSpPr>
        <p:spPr>
          <a:xfrm>
            <a:off x="5009250"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775" name="Google Shape;1775;p95"/>
          <p:cNvSpPr txBox="1"/>
          <p:nvPr>
            <p:ph idx="1" type="body"/>
          </p:nvPr>
        </p:nvSpPr>
        <p:spPr>
          <a:xfrm>
            <a:off x="5455617"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776" name="Google Shape;1776;p95"/>
          <p:cNvSpPr txBox="1"/>
          <p:nvPr>
            <p:ph idx="1" type="body"/>
          </p:nvPr>
        </p:nvSpPr>
        <p:spPr>
          <a:xfrm>
            <a:off x="778047" y="22155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777" name="Google Shape;1777;p95"/>
          <p:cNvSpPr txBox="1"/>
          <p:nvPr>
            <p:ph idx="1" type="body"/>
          </p:nvPr>
        </p:nvSpPr>
        <p:spPr>
          <a:xfrm>
            <a:off x="660830" y="1807954"/>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778" name="Google Shape;1778;p95"/>
          <p:cNvSpPr txBox="1"/>
          <p:nvPr>
            <p:ph idx="1" type="body"/>
          </p:nvPr>
        </p:nvSpPr>
        <p:spPr>
          <a:xfrm>
            <a:off x="575375" y="140032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779" name="Google Shape;1779;p95"/>
          <p:cNvSpPr txBox="1"/>
          <p:nvPr>
            <p:ph idx="1" type="body"/>
          </p:nvPr>
        </p:nvSpPr>
        <p:spPr>
          <a:xfrm>
            <a:off x="575351" y="992700"/>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780" name="Google Shape;1780;p95"/>
          <p:cNvSpPr txBox="1"/>
          <p:nvPr>
            <p:ph idx="1" type="body"/>
          </p:nvPr>
        </p:nvSpPr>
        <p:spPr>
          <a:xfrm>
            <a:off x="2493948" y="8108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1979 to 2001</a:t>
            </a:r>
            <a:endParaRPr sz="1600"/>
          </a:p>
        </p:txBody>
      </p:sp>
      <p:cxnSp>
        <p:nvCxnSpPr>
          <p:cNvPr id="1781" name="Google Shape;1781;p95"/>
          <p:cNvCxnSpPr/>
          <p:nvPr/>
        </p:nvCxnSpPr>
        <p:spPr>
          <a:xfrm>
            <a:off x="975198" y="43819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782" name="Google Shape;1782;p95"/>
          <p:cNvCxnSpPr/>
          <p:nvPr/>
        </p:nvCxnSpPr>
        <p:spPr>
          <a:xfrm rot="10800000">
            <a:off x="971604" y="2935567"/>
            <a:ext cx="0" cy="1452000"/>
          </a:xfrm>
          <a:prstGeom prst="straightConnector1">
            <a:avLst/>
          </a:prstGeom>
          <a:noFill/>
          <a:ln cap="flat" cmpd="sng" w="28575">
            <a:solidFill>
              <a:schemeClr val="dk1"/>
            </a:solidFill>
            <a:prstDash val="solid"/>
            <a:round/>
            <a:headEnd len="med" w="med" type="none"/>
            <a:tailEnd len="med" w="med" type="triangle"/>
          </a:ln>
        </p:spPr>
      </p:cxnSp>
      <p:sp>
        <p:nvSpPr>
          <p:cNvPr id="1783" name="Google Shape;1783;p95"/>
          <p:cNvSpPr txBox="1"/>
          <p:nvPr>
            <p:ph idx="1" type="body"/>
          </p:nvPr>
        </p:nvSpPr>
        <p:spPr>
          <a:xfrm>
            <a:off x="853452" y="44202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784" name="Google Shape;1784;p95"/>
          <p:cNvSpPr txBox="1"/>
          <p:nvPr>
            <p:ph idx="1" type="body"/>
          </p:nvPr>
        </p:nvSpPr>
        <p:spPr>
          <a:xfrm>
            <a:off x="1155119"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785" name="Google Shape;1785;p95"/>
          <p:cNvSpPr txBox="1"/>
          <p:nvPr>
            <p:ph idx="1" type="body"/>
          </p:nvPr>
        </p:nvSpPr>
        <p:spPr>
          <a:xfrm>
            <a:off x="1607769" y="44202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786" name="Google Shape;1786;p95"/>
          <p:cNvSpPr txBox="1"/>
          <p:nvPr>
            <p:ph idx="1" type="body"/>
          </p:nvPr>
        </p:nvSpPr>
        <p:spPr>
          <a:xfrm>
            <a:off x="1936753" y="44202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787" name="Google Shape;1787;p95"/>
          <p:cNvSpPr txBox="1"/>
          <p:nvPr>
            <p:ph idx="1" type="body"/>
          </p:nvPr>
        </p:nvSpPr>
        <p:spPr>
          <a:xfrm>
            <a:off x="2370561" y="44202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788" name="Google Shape;1788;p95"/>
          <p:cNvSpPr txBox="1"/>
          <p:nvPr>
            <p:ph idx="1" type="body"/>
          </p:nvPr>
        </p:nvSpPr>
        <p:spPr>
          <a:xfrm>
            <a:off x="2674427"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789" name="Google Shape;1789;p95"/>
          <p:cNvSpPr txBox="1"/>
          <p:nvPr>
            <p:ph idx="1" type="body"/>
          </p:nvPr>
        </p:nvSpPr>
        <p:spPr>
          <a:xfrm>
            <a:off x="3200462" y="44202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790" name="Google Shape;1790;p95"/>
          <p:cNvSpPr txBox="1"/>
          <p:nvPr>
            <p:ph idx="1" type="body"/>
          </p:nvPr>
        </p:nvSpPr>
        <p:spPr>
          <a:xfrm>
            <a:off x="3510611"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791" name="Google Shape;1791;p95"/>
          <p:cNvSpPr txBox="1"/>
          <p:nvPr>
            <p:ph idx="1" type="body"/>
          </p:nvPr>
        </p:nvSpPr>
        <p:spPr>
          <a:xfrm>
            <a:off x="3960324" y="44202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792" name="Google Shape;1792;p95"/>
          <p:cNvSpPr txBox="1"/>
          <p:nvPr>
            <p:ph idx="1" type="body"/>
          </p:nvPr>
        </p:nvSpPr>
        <p:spPr>
          <a:xfrm>
            <a:off x="4275332" y="44202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793" name="Google Shape;1793;p95"/>
          <p:cNvSpPr txBox="1"/>
          <p:nvPr>
            <p:ph idx="1" type="body"/>
          </p:nvPr>
        </p:nvSpPr>
        <p:spPr>
          <a:xfrm>
            <a:off x="4711671"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794" name="Google Shape;1794;p95"/>
          <p:cNvSpPr txBox="1"/>
          <p:nvPr>
            <p:ph idx="1" type="body"/>
          </p:nvPr>
        </p:nvSpPr>
        <p:spPr>
          <a:xfrm>
            <a:off x="5009250"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795" name="Google Shape;1795;p95"/>
          <p:cNvSpPr txBox="1"/>
          <p:nvPr>
            <p:ph idx="1" type="body"/>
          </p:nvPr>
        </p:nvSpPr>
        <p:spPr>
          <a:xfrm>
            <a:off x="5455617"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796" name="Google Shape;1796;p95"/>
          <p:cNvSpPr txBox="1"/>
          <p:nvPr>
            <p:ph idx="1" type="body"/>
          </p:nvPr>
        </p:nvSpPr>
        <p:spPr>
          <a:xfrm>
            <a:off x="778047" y="42729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797" name="Google Shape;1797;p95"/>
          <p:cNvSpPr txBox="1"/>
          <p:nvPr>
            <p:ph idx="1" type="body"/>
          </p:nvPr>
        </p:nvSpPr>
        <p:spPr>
          <a:xfrm>
            <a:off x="660830" y="3865354"/>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798" name="Google Shape;1798;p95"/>
          <p:cNvSpPr txBox="1"/>
          <p:nvPr>
            <p:ph idx="1" type="body"/>
          </p:nvPr>
        </p:nvSpPr>
        <p:spPr>
          <a:xfrm>
            <a:off x="575375" y="345772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799" name="Google Shape;1799;p95"/>
          <p:cNvSpPr txBox="1"/>
          <p:nvPr>
            <p:ph idx="1" type="body"/>
          </p:nvPr>
        </p:nvSpPr>
        <p:spPr>
          <a:xfrm>
            <a:off x="575351" y="3050100"/>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800" name="Google Shape;1800;p95"/>
          <p:cNvSpPr txBox="1"/>
          <p:nvPr>
            <p:ph idx="1" type="body"/>
          </p:nvPr>
        </p:nvSpPr>
        <p:spPr>
          <a:xfrm>
            <a:off x="2493948" y="2908132"/>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2002 to 2024</a:t>
            </a:r>
            <a:endParaRPr sz="1600"/>
          </a:p>
        </p:txBody>
      </p:sp>
      <p:sp>
        <p:nvSpPr>
          <p:cNvPr id="1801" name="Google Shape;1801;p95"/>
          <p:cNvSpPr txBox="1"/>
          <p:nvPr>
            <p:ph idx="4294967295" type="title"/>
          </p:nvPr>
        </p:nvSpPr>
        <p:spPr>
          <a:xfrm>
            <a:off x="5772500" y="679300"/>
            <a:ext cx="2981400" cy="2445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True or false?</a:t>
            </a:r>
            <a:endParaRPr sz="1800"/>
          </a:p>
          <a:p>
            <a:pPr indent="0" lvl="0" marL="0" rtl="0" algn="l">
              <a:spcBef>
                <a:spcPts val="1000"/>
              </a:spcBef>
              <a:spcAft>
                <a:spcPts val="0"/>
              </a:spcAft>
              <a:buNone/>
            </a:pPr>
            <a:r>
              <a:rPr b="0" lang="en-GB" sz="1800"/>
              <a:t>The extent of sea ice in the Antarctic was more consistent between 1979 and 2001 than it was between 2002 and 2024.</a:t>
            </a:r>
            <a:endParaRPr b="0" sz="1800"/>
          </a:p>
          <a:p>
            <a:pPr indent="0" lvl="0" marL="0" rtl="0" algn="l">
              <a:spcBef>
                <a:spcPts val="1000"/>
              </a:spcBef>
              <a:spcAft>
                <a:spcPts val="0"/>
              </a:spcAft>
              <a:buNone/>
            </a:pPr>
            <a:r>
              <a:rPr b="0" lang="en-GB" sz="1800"/>
              <a:t>Explain your answer.</a:t>
            </a:r>
            <a:endParaRPr b="0" sz="1800"/>
          </a:p>
        </p:txBody>
      </p:sp>
      <p:sp>
        <p:nvSpPr>
          <p:cNvPr id="1802" name="Google Shape;1802;p95"/>
          <p:cNvSpPr txBox="1"/>
          <p:nvPr>
            <p:ph idx="1" type="body"/>
          </p:nvPr>
        </p:nvSpPr>
        <p:spPr>
          <a:xfrm rot="-5400000">
            <a:off x="-207523" y="14966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803" name="Google Shape;1803;p95"/>
          <p:cNvSpPr txBox="1"/>
          <p:nvPr>
            <p:ph idx="1" type="body"/>
          </p:nvPr>
        </p:nvSpPr>
        <p:spPr>
          <a:xfrm rot="-5400000">
            <a:off x="-207523" y="36302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804" name="Google Shape;1804;p95"/>
          <p:cNvSpPr txBox="1"/>
          <p:nvPr>
            <p:ph idx="4294967295" type="title"/>
          </p:nvPr>
        </p:nvSpPr>
        <p:spPr>
          <a:xfrm>
            <a:off x="5772500" y="3141486"/>
            <a:ext cx="2981400" cy="1679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en-GB" sz="1800">
                <a:latin typeface="Kalam"/>
                <a:ea typeface="Kalam"/>
                <a:cs typeface="Kalam"/>
                <a:sym typeface="Kalam"/>
              </a:rPr>
              <a:t>True </a:t>
            </a:r>
            <a:br>
              <a:rPr b="0" lang="en-GB" sz="1800">
                <a:latin typeface="Kalam"/>
                <a:ea typeface="Kalam"/>
                <a:cs typeface="Kalam"/>
                <a:sym typeface="Kalam"/>
              </a:rPr>
            </a:br>
            <a:r>
              <a:rPr b="0" lang="en-GB" sz="1800">
                <a:latin typeface="Kalam"/>
                <a:ea typeface="Kalam"/>
                <a:cs typeface="Kalam"/>
                <a:sym typeface="Kalam"/>
              </a:rPr>
              <a:t>E.g. All data for 1979 to 2001 is between -1.5 and 1</a:t>
            </a:r>
            <a:endParaRPr b="0" sz="1800">
              <a:latin typeface="Kalam"/>
              <a:ea typeface="Kalam"/>
              <a:cs typeface="Kalam"/>
              <a:sym typeface="Kalam"/>
            </a:endParaRPr>
          </a:p>
          <a:p>
            <a:pPr indent="0" lvl="0" marL="0" rtl="0" algn="l">
              <a:spcBef>
                <a:spcPts val="1000"/>
              </a:spcBef>
              <a:spcAft>
                <a:spcPts val="0"/>
              </a:spcAft>
              <a:buNone/>
            </a:pPr>
            <a:r>
              <a:rPr b="0" lang="en-GB" sz="1800">
                <a:latin typeface="Kalam"/>
                <a:ea typeface="Kalam"/>
                <a:cs typeface="Kalam"/>
                <a:sym typeface="Kalam"/>
              </a:rPr>
              <a:t>But for 2002 to 2024, the data is between -2.5 and 2</a:t>
            </a:r>
            <a:endParaRPr b="0" sz="1800">
              <a:latin typeface="Kalam"/>
              <a:ea typeface="Kalam"/>
              <a:cs typeface="Kalam"/>
              <a:sym typeface="Kala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pic>
        <p:nvPicPr>
          <p:cNvPr id="1809" name="Google Shape;1809;p96"/>
          <p:cNvPicPr preferRelativeResize="0"/>
          <p:nvPr/>
        </p:nvPicPr>
        <p:blipFill>
          <a:blip r:embed="rId3">
            <a:alphaModFix/>
          </a:blip>
          <a:stretch>
            <a:fillRect/>
          </a:stretch>
        </p:blipFill>
        <p:spPr>
          <a:xfrm>
            <a:off x="975614" y="3174513"/>
            <a:ext cx="4564274" cy="1213462"/>
          </a:xfrm>
          <a:prstGeom prst="rect">
            <a:avLst/>
          </a:prstGeom>
          <a:noFill/>
          <a:ln>
            <a:noFill/>
          </a:ln>
        </p:spPr>
      </p:pic>
      <p:pic>
        <p:nvPicPr>
          <p:cNvPr id="1810" name="Google Shape;1810;p96"/>
          <p:cNvPicPr preferRelativeResize="0"/>
          <p:nvPr/>
        </p:nvPicPr>
        <p:blipFill rotWithShape="1">
          <a:blip r:embed="rId4">
            <a:alphaModFix/>
          </a:blip>
          <a:srcRect b="0" l="0" r="0" t="24681"/>
          <a:stretch/>
        </p:blipFill>
        <p:spPr>
          <a:xfrm>
            <a:off x="968764" y="1095825"/>
            <a:ext cx="4564275" cy="1234350"/>
          </a:xfrm>
          <a:prstGeom prst="rect">
            <a:avLst/>
          </a:prstGeom>
          <a:noFill/>
          <a:ln>
            <a:noFill/>
          </a:ln>
        </p:spPr>
      </p:pic>
      <p:sp>
        <p:nvSpPr>
          <p:cNvPr id="1811" name="Google Shape;1811;p96"/>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812" name="Google Shape;1812;p96"/>
          <p:cNvCxnSpPr/>
          <p:nvPr/>
        </p:nvCxnSpPr>
        <p:spPr>
          <a:xfrm>
            <a:off x="975198" y="23245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813" name="Google Shape;1813;p96"/>
          <p:cNvCxnSpPr/>
          <p:nvPr/>
        </p:nvCxnSpPr>
        <p:spPr>
          <a:xfrm rot="10800000">
            <a:off x="971604" y="878167"/>
            <a:ext cx="0" cy="1452000"/>
          </a:xfrm>
          <a:prstGeom prst="straightConnector1">
            <a:avLst/>
          </a:prstGeom>
          <a:noFill/>
          <a:ln cap="flat" cmpd="sng" w="28575">
            <a:solidFill>
              <a:schemeClr val="dk1"/>
            </a:solidFill>
            <a:prstDash val="solid"/>
            <a:round/>
            <a:headEnd len="med" w="med" type="none"/>
            <a:tailEnd len="med" w="med" type="triangle"/>
          </a:ln>
        </p:spPr>
      </p:cxnSp>
      <p:sp>
        <p:nvSpPr>
          <p:cNvPr id="1814" name="Google Shape;1814;p96"/>
          <p:cNvSpPr txBox="1"/>
          <p:nvPr>
            <p:ph idx="1" type="body"/>
          </p:nvPr>
        </p:nvSpPr>
        <p:spPr>
          <a:xfrm>
            <a:off x="853452" y="23628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815" name="Google Shape;1815;p96"/>
          <p:cNvSpPr txBox="1"/>
          <p:nvPr>
            <p:ph idx="1" type="body"/>
          </p:nvPr>
        </p:nvSpPr>
        <p:spPr>
          <a:xfrm>
            <a:off x="1155119"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816" name="Google Shape;1816;p96"/>
          <p:cNvSpPr txBox="1"/>
          <p:nvPr>
            <p:ph idx="1" type="body"/>
          </p:nvPr>
        </p:nvSpPr>
        <p:spPr>
          <a:xfrm>
            <a:off x="1607769" y="23628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817" name="Google Shape;1817;p96"/>
          <p:cNvSpPr txBox="1"/>
          <p:nvPr>
            <p:ph idx="1" type="body"/>
          </p:nvPr>
        </p:nvSpPr>
        <p:spPr>
          <a:xfrm>
            <a:off x="1936753" y="23628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818" name="Google Shape;1818;p96"/>
          <p:cNvSpPr txBox="1"/>
          <p:nvPr>
            <p:ph idx="1" type="body"/>
          </p:nvPr>
        </p:nvSpPr>
        <p:spPr>
          <a:xfrm>
            <a:off x="2370561" y="23628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819" name="Google Shape;1819;p96"/>
          <p:cNvSpPr txBox="1"/>
          <p:nvPr>
            <p:ph idx="1" type="body"/>
          </p:nvPr>
        </p:nvSpPr>
        <p:spPr>
          <a:xfrm>
            <a:off x="2674427"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820" name="Google Shape;1820;p96"/>
          <p:cNvSpPr txBox="1"/>
          <p:nvPr>
            <p:ph idx="1" type="body"/>
          </p:nvPr>
        </p:nvSpPr>
        <p:spPr>
          <a:xfrm>
            <a:off x="3200462" y="23628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821" name="Google Shape;1821;p96"/>
          <p:cNvSpPr txBox="1"/>
          <p:nvPr>
            <p:ph idx="1" type="body"/>
          </p:nvPr>
        </p:nvSpPr>
        <p:spPr>
          <a:xfrm>
            <a:off x="3510611"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822" name="Google Shape;1822;p96"/>
          <p:cNvSpPr txBox="1"/>
          <p:nvPr>
            <p:ph idx="1" type="body"/>
          </p:nvPr>
        </p:nvSpPr>
        <p:spPr>
          <a:xfrm>
            <a:off x="3960324" y="23628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823" name="Google Shape;1823;p96"/>
          <p:cNvSpPr txBox="1"/>
          <p:nvPr>
            <p:ph idx="1" type="body"/>
          </p:nvPr>
        </p:nvSpPr>
        <p:spPr>
          <a:xfrm>
            <a:off x="4275332" y="23628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824" name="Google Shape;1824;p96"/>
          <p:cNvSpPr txBox="1"/>
          <p:nvPr>
            <p:ph idx="1" type="body"/>
          </p:nvPr>
        </p:nvSpPr>
        <p:spPr>
          <a:xfrm>
            <a:off x="4711671"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825" name="Google Shape;1825;p96"/>
          <p:cNvSpPr txBox="1"/>
          <p:nvPr>
            <p:ph idx="1" type="body"/>
          </p:nvPr>
        </p:nvSpPr>
        <p:spPr>
          <a:xfrm>
            <a:off x="5009250"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826" name="Google Shape;1826;p96"/>
          <p:cNvSpPr txBox="1"/>
          <p:nvPr>
            <p:ph idx="1" type="body"/>
          </p:nvPr>
        </p:nvSpPr>
        <p:spPr>
          <a:xfrm>
            <a:off x="5455617" y="23628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827" name="Google Shape;1827;p96"/>
          <p:cNvSpPr txBox="1"/>
          <p:nvPr>
            <p:ph idx="1" type="body"/>
          </p:nvPr>
        </p:nvSpPr>
        <p:spPr>
          <a:xfrm>
            <a:off x="778047" y="22155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828" name="Google Shape;1828;p96"/>
          <p:cNvSpPr txBox="1"/>
          <p:nvPr>
            <p:ph idx="1" type="body"/>
          </p:nvPr>
        </p:nvSpPr>
        <p:spPr>
          <a:xfrm>
            <a:off x="660830" y="1807954"/>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829" name="Google Shape;1829;p96"/>
          <p:cNvSpPr txBox="1"/>
          <p:nvPr>
            <p:ph idx="1" type="body"/>
          </p:nvPr>
        </p:nvSpPr>
        <p:spPr>
          <a:xfrm>
            <a:off x="575375" y="140032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830" name="Google Shape;1830;p96"/>
          <p:cNvSpPr txBox="1"/>
          <p:nvPr>
            <p:ph idx="1" type="body"/>
          </p:nvPr>
        </p:nvSpPr>
        <p:spPr>
          <a:xfrm>
            <a:off x="575351" y="992700"/>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831" name="Google Shape;1831;p96"/>
          <p:cNvSpPr txBox="1"/>
          <p:nvPr>
            <p:ph idx="1" type="body"/>
          </p:nvPr>
        </p:nvSpPr>
        <p:spPr>
          <a:xfrm>
            <a:off x="2493948" y="8108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1979 to 2001</a:t>
            </a:r>
            <a:endParaRPr sz="1600"/>
          </a:p>
        </p:txBody>
      </p:sp>
      <p:cxnSp>
        <p:nvCxnSpPr>
          <p:cNvPr id="1832" name="Google Shape;1832;p96"/>
          <p:cNvCxnSpPr/>
          <p:nvPr/>
        </p:nvCxnSpPr>
        <p:spPr>
          <a:xfrm>
            <a:off x="975198" y="4381915"/>
            <a:ext cx="4698600" cy="0"/>
          </a:xfrm>
          <a:prstGeom prst="straightConnector1">
            <a:avLst/>
          </a:prstGeom>
          <a:noFill/>
          <a:ln cap="flat" cmpd="sng" w="28575">
            <a:solidFill>
              <a:schemeClr val="dk1"/>
            </a:solidFill>
            <a:prstDash val="solid"/>
            <a:round/>
            <a:headEnd len="med" w="med" type="none"/>
            <a:tailEnd len="med" w="med" type="triangle"/>
          </a:ln>
        </p:spPr>
      </p:cxnSp>
      <p:cxnSp>
        <p:nvCxnSpPr>
          <p:cNvPr id="1833" name="Google Shape;1833;p96"/>
          <p:cNvCxnSpPr/>
          <p:nvPr/>
        </p:nvCxnSpPr>
        <p:spPr>
          <a:xfrm rot="10800000">
            <a:off x="971604" y="2935567"/>
            <a:ext cx="0" cy="1452000"/>
          </a:xfrm>
          <a:prstGeom prst="straightConnector1">
            <a:avLst/>
          </a:prstGeom>
          <a:noFill/>
          <a:ln cap="flat" cmpd="sng" w="28575">
            <a:solidFill>
              <a:schemeClr val="dk1"/>
            </a:solidFill>
            <a:prstDash val="solid"/>
            <a:round/>
            <a:headEnd len="med" w="med" type="none"/>
            <a:tailEnd len="med" w="med" type="triangle"/>
          </a:ln>
        </p:spPr>
      </p:cxnSp>
      <p:sp>
        <p:nvSpPr>
          <p:cNvPr id="1834" name="Google Shape;1834;p96"/>
          <p:cNvSpPr txBox="1"/>
          <p:nvPr>
            <p:ph idx="1" type="body"/>
          </p:nvPr>
        </p:nvSpPr>
        <p:spPr>
          <a:xfrm>
            <a:off x="853452" y="4420237"/>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835" name="Google Shape;1835;p96"/>
          <p:cNvSpPr txBox="1"/>
          <p:nvPr>
            <p:ph idx="1" type="body"/>
          </p:nvPr>
        </p:nvSpPr>
        <p:spPr>
          <a:xfrm>
            <a:off x="1155119"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836" name="Google Shape;1836;p96"/>
          <p:cNvSpPr txBox="1"/>
          <p:nvPr>
            <p:ph idx="1" type="body"/>
          </p:nvPr>
        </p:nvSpPr>
        <p:spPr>
          <a:xfrm>
            <a:off x="1607769" y="4420237"/>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837" name="Google Shape;1837;p96"/>
          <p:cNvSpPr txBox="1"/>
          <p:nvPr>
            <p:ph idx="1" type="body"/>
          </p:nvPr>
        </p:nvSpPr>
        <p:spPr>
          <a:xfrm>
            <a:off x="1936753" y="4420237"/>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838" name="Google Shape;1838;p96"/>
          <p:cNvSpPr txBox="1"/>
          <p:nvPr>
            <p:ph idx="1" type="body"/>
          </p:nvPr>
        </p:nvSpPr>
        <p:spPr>
          <a:xfrm>
            <a:off x="2370561" y="44202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839" name="Google Shape;1839;p96"/>
          <p:cNvSpPr txBox="1"/>
          <p:nvPr>
            <p:ph idx="1" type="body"/>
          </p:nvPr>
        </p:nvSpPr>
        <p:spPr>
          <a:xfrm>
            <a:off x="2674427"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840" name="Google Shape;1840;p96"/>
          <p:cNvSpPr txBox="1"/>
          <p:nvPr>
            <p:ph idx="1" type="body"/>
          </p:nvPr>
        </p:nvSpPr>
        <p:spPr>
          <a:xfrm>
            <a:off x="3200462" y="4420237"/>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841" name="Google Shape;1841;p96"/>
          <p:cNvSpPr txBox="1"/>
          <p:nvPr>
            <p:ph idx="1" type="body"/>
          </p:nvPr>
        </p:nvSpPr>
        <p:spPr>
          <a:xfrm>
            <a:off x="3510611"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842" name="Google Shape;1842;p96"/>
          <p:cNvSpPr txBox="1"/>
          <p:nvPr>
            <p:ph idx="1" type="body"/>
          </p:nvPr>
        </p:nvSpPr>
        <p:spPr>
          <a:xfrm>
            <a:off x="3960324" y="4420237"/>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843" name="Google Shape;1843;p96"/>
          <p:cNvSpPr txBox="1"/>
          <p:nvPr>
            <p:ph idx="1" type="body"/>
          </p:nvPr>
        </p:nvSpPr>
        <p:spPr>
          <a:xfrm>
            <a:off x="4275332" y="4420237"/>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844" name="Google Shape;1844;p96"/>
          <p:cNvSpPr txBox="1"/>
          <p:nvPr>
            <p:ph idx="1" type="body"/>
          </p:nvPr>
        </p:nvSpPr>
        <p:spPr>
          <a:xfrm>
            <a:off x="4711671"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845" name="Google Shape;1845;p96"/>
          <p:cNvSpPr txBox="1"/>
          <p:nvPr>
            <p:ph idx="1" type="body"/>
          </p:nvPr>
        </p:nvSpPr>
        <p:spPr>
          <a:xfrm>
            <a:off x="5009250"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846" name="Google Shape;1846;p96"/>
          <p:cNvSpPr txBox="1"/>
          <p:nvPr>
            <p:ph idx="1" type="body"/>
          </p:nvPr>
        </p:nvSpPr>
        <p:spPr>
          <a:xfrm>
            <a:off x="5455617" y="4420243"/>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847" name="Google Shape;1847;p96"/>
          <p:cNvSpPr txBox="1"/>
          <p:nvPr>
            <p:ph idx="1" type="body"/>
          </p:nvPr>
        </p:nvSpPr>
        <p:spPr>
          <a:xfrm>
            <a:off x="778047" y="4272981"/>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848" name="Google Shape;1848;p96"/>
          <p:cNvSpPr txBox="1"/>
          <p:nvPr>
            <p:ph idx="1" type="body"/>
          </p:nvPr>
        </p:nvSpPr>
        <p:spPr>
          <a:xfrm>
            <a:off x="660830" y="3865354"/>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849" name="Google Shape;1849;p96"/>
          <p:cNvSpPr txBox="1"/>
          <p:nvPr>
            <p:ph idx="1" type="body"/>
          </p:nvPr>
        </p:nvSpPr>
        <p:spPr>
          <a:xfrm>
            <a:off x="575375" y="345772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850" name="Google Shape;1850;p96"/>
          <p:cNvSpPr txBox="1"/>
          <p:nvPr>
            <p:ph idx="1" type="body"/>
          </p:nvPr>
        </p:nvSpPr>
        <p:spPr>
          <a:xfrm>
            <a:off x="575351" y="3050100"/>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851" name="Google Shape;1851;p96"/>
          <p:cNvSpPr txBox="1"/>
          <p:nvPr>
            <p:ph idx="1" type="body"/>
          </p:nvPr>
        </p:nvSpPr>
        <p:spPr>
          <a:xfrm>
            <a:off x="2493948" y="2908132"/>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2002 to 2024</a:t>
            </a:r>
            <a:endParaRPr sz="1600"/>
          </a:p>
        </p:txBody>
      </p:sp>
      <p:sp>
        <p:nvSpPr>
          <p:cNvPr id="1852" name="Google Shape;1852;p96"/>
          <p:cNvSpPr txBox="1"/>
          <p:nvPr>
            <p:ph idx="4294967295" type="title"/>
          </p:nvPr>
        </p:nvSpPr>
        <p:spPr>
          <a:xfrm>
            <a:off x="5772500" y="679300"/>
            <a:ext cx="2981400" cy="2445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True or false?</a:t>
            </a:r>
            <a:endParaRPr sz="1800"/>
          </a:p>
          <a:p>
            <a:pPr indent="0" lvl="0" marL="0" rtl="0" algn="l">
              <a:spcBef>
                <a:spcPts val="1000"/>
              </a:spcBef>
              <a:spcAft>
                <a:spcPts val="0"/>
              </a:spcAft>
              <a:buNone/>
            </a:pPr>
            <a:r>
              <a:rPr b="0" lang="en-GB" sz="1800"/>
              <a:t>The extent of sea ice in the Antarctic was more consistent between 1979 and 2001 than it was between 2002 and 2024.</a:t>
            </a:r>
            <a:endParaRPr b="0" sz="1800"/>
          </a:p>
          <a:p>
            <a:pPr indent="0" lvl="0" marL="0" rtl="0" algn="l">
              <a:spcBef>
                <a:spcPts val="1000"/>
              </a:spcBef>
              <a:spcAft>
                <a:spcPts val="0"/>
              </a:spcAft>
              <a:buNone/>
            </a:pPr>
            <a:r>
              <a:rPr b="0" lang="en-GB" sz="1800"/>
              <a:t>Explain your answer.</a:t>
            </a:r>
            <a:endParaRPr b="0" sz="1800"/>
          </a:p>
        </p:txBody>
      </p:sp>
      <p:sp>
        <p:nvSpPr>
          <p:cNvPr id="1853" name="Google Shape;1853;p96"/>
          <p:cNvSpPr txBox="1"/>
          <p:nvPr>
            <p:ph idx="1" type="body"/>
          </p:nvPr>
        </p:nvSpPr>
        <p:spPr>
          <a:xfrm rot="-5400000">
            <a:off x="-207523" y="14966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854" name="Google Shape;1854;p96"/>
          <p:cNvSpPr txBox="1"/>
          <p:nvPr>
            <p:ph idx="1" type="body"/>
          </p:nvPr>
        </p:nvSpPr>
        <p:spPr>
          <a:xfrm rot="-5400000">
            <a:off x="-207523" y="363021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855" name="Google Shape;1855;p96"/>
          <p:cNvSpPr txBox="1"/>
          <p:nvPr>
            <p:ph idx="4294967295" type="title"/>
          </p:nvPr>
        </p:nvSpPr>
        <p:spPr>
          <a:xfrm>
            <a:off x="5772500" y="3141486"/>
            <a:ext cx="2981400" cy="1679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0" lang="en-GB" sz="1800">
                <a:latin typeface="Kalam"/>
                <a:ea typeface="Kalam"/>
                <a:cs typeface="Kalam"/>
                <a:sym typeface="Kalam"/>
              </a:rPr>
              <a:t>True </a:t>
            </a:r>
            <a:br>
              <a:rPr b="0" lang="en-GB" sz="1800">
                <a:latin typeface="Kalam"/>
                <a:ea typeface="Kalam"/>
                <a:cs typeface="Kalam"/>
                <a:sym typeface="Kalam"/>
              </a:rPr>
            </a:br>
            <a:r>
              <a:rPr b="0" lang="en-GB" sz="1800">
                <a:latin typeface="Kalam"/>
                <a:ea typeface="Kalam"/>
                <a:cs typeface="Kalam"/>
                <a:sym typeface="Kalam"/>
              </a:rPr>
              <a:t>E.g. Most data for 1979 to 2001 is between -0.5 and 0.5 </a:t>
            </a:r>
            <a:endParaRPr b="0" sz="1800">
              <a:latin typeface="Kalam"/>
              <a:ea typeface="Kalam"/>
              <a:cs typeface="Kalam"/>
              <a:sym typeface="Kalam"/>
            </a:endParaRPr>
          </a:p>
          <a:p>
            <a:pPr indent="0" lvl="0" marL="0" rtl="0" algn="l">
              <a:spcBef>
                <a:spcPts val="1000"/>
              </a:spcBef>
              <a:spcAft>
                <a:spcPts val="0"/>
              </a:spcAft>
              <a:buNone/>
            </a:pPr>
            <a:r>
              <a:rPr b="0" lang="en-GB" sz="1800">
                <a:latin typeface="Kalam"/>
                <a:ea typeface="Kalam"/>
                <a:cs typeface="Kalam"/>
                <a:sym typeface="Kalam"/>
              </a:rPr>
              <a:t>For 2002 to 2024, the data is more evenly spread.</a:t>
            </a:r>
            <a:endParaRPr b="0" sz="1800">
              <a:latin typeface="Kalam"/>
              <a:ea typeface="Kalam"/>
              <a:cs typeface="Kalam"/>
              <a:sym typeface="Kala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pic>
        <p:nvPicPr>
          <p:cNvPr id="1860" name="Google Shape;1860;p97"/>
          <p:cNvPicPr preferRelativeResize="0"/>
          <p:nvPr/>
        </p:nvPicPr>
        <p:blipFill>
          <a:blip r:embed="rId3">
            <a:alphaModFix/>
          </a:blip>
          <a:stretch>
            <a:fillRect/>
          </a:stretch>
        </p:blipFill>
        <p:spPr>
          <a:xfrm>
            <a:off x="4414250" y="2570975"/>
            <a:ext cx="4183751" cy="1101225"/>
          </a:xfrm>
          <a:prstGeom prst="rect">
            <a:avLst/>
          </a:prstGeom>
          <a:noFill/>
          <a:ln>
            <a:noFill/>
          </a:ln>
        </p:spPr>
      </p:pic>
      <p:pic>
        <p:nvPicPr>
          <p:cNvPr id="1861" name="Google Shape;1861;p97"/>
          <p:cNvPicPr preferRelativeResize="0"/>
          <p:nvPr/>
        </p:nvPicPr>
        <p:blipFill>
          <a:blip r:embed="rId4">
            <a:alphaModFix/>
          </a:blip>
          <a:stretch>
            <a:fillRect/>
          </a:stretch>
        </p:blipFill>
        <p:spPr>
          <a:xfrm>
            <a:off x="4412643" y="890125"/>
            <a:ext cx="4176851" cy="1101232"/>
          </a:xfrm>
          <a:prstGeom prst="rect">
            <a:avLst/>
          </a:prstGeom>
          <a:noFill/>
          <a:ln>
            <a:noFill/>
          </a:ln>
        </p:spPr>
      </p:pic>
      <p:sp>
        <p:nvSpPr>
          <p:cNvPr id="1862" name="Google Shape;1862;p97"/>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sp>
        <p:nvSpPr>
          <p:cNvPr id="1863" name="Google Shape;1863;p97"/>
          <p:cNvSpPr txBox="1"/>
          <p:nvPr>
            <p:ph idx="1" type="body"/>
          </p:nvPr>
        </p:nvSpPr>
        <p:spPr>
          <a:xfrm>
            <a:off x="324000" y="810000"/>
            <a:ext cx="30456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 The graphs show data from the Met Office and OSI SAF about sea ice in the Arctic for each month from 1979 to 2024.</a:t>
            </a:r>
            <a:endParaRPr sz="1400"/>
          </a:p>
        </p:txBody>
      </p:sp>
      <p:cxnSp>
        <p:nvCxnSpPr>
          <p:cNvPr id="1864" name="Google Shape;1864;p97"/>
          <p:cNvCxnSpPr/>
          <p:nvPr/>
        </p:nvCxnSpPr>
        <p:spPr>
          <a:xfrm>
            <a:off x="4418712" y="1992501"/>
            <a:ext cx="4339800" cy="0"/>
          </a:xfrm>
          <a:prstGeom prst="straightConnector1">
            <a:avLst/>
          </a:prstGeom>
          <a:noFill/>
          <a:ln cap="flat" cmpd="sng" w="28575">
            <a:solidFill>
              <a:schemeClr val="dk1"/>
            </a:solidFill>
            <a:prstDash val="solid"/>
            <a:round/>
            <a:headEnd len="med" w="med" type="none"/>
            <a:tailEnd len="med" w="med" type="triangle"/>
          </a:ln>
        </p:spPr>
      </p:cxnSp>
      <p:cxnSp>
        <p:nvCxnSpPr>
          <p:cNvPr id="1865" name="Google Shape;1865;p97"/>
          <p:cNvCxnSpPr/>
          <p:nvPr/>
        </p:nvCxnSpPr>
        <p:spPr>
          <a:xfrm rot="10800000">
            <a:off x="4415119" y="689252"/>
            <a:ext cx="0" cy="1308900"/>
          </a:xfrm>
          <a:prstGeom prst="straightConnector1">
            <a:avLst/>
          </a:prstGeom>
          <a:noFill/>
          <a:ln cap="flat" cmpd="sng" w="28575">
            <a:solidFill>
              <a:schemeClr val="dk1"/>
            </a:solidFill>
            <a:prstDash val="solid"/>
            <a:round/>
            <a:headEnd len="med" w="med" type="none"/>
            <a:tailEnd len="med" w="med" type="triangle"/>
          </a:ln>
        </p:spPr>
      </p:cxnSp>
      <p:sp>
        <p:nvSpPr>
          <p:cNvPr id="1866" name="Google Shape;1866;p97"/>
          <p:cNvSpPr txBox="1"/>
          <p:nvPr>
            <p:ph idx="1" type="body"/>
          </p:nvPr>
        </p:nvSpPr>
        <p:spPr>
          <a:xfrm>
            <a:off x="4671163" y="2030823"/>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867" name="Google Shape;1867;p97"/>
          <p:cNvSpPr txBox="1"/>
          <p:nvPr>
            <p:ph idx="1" type="body"/>
          </p:nvPr>
        </p:nvSpPr>
        <p:spPr>
          <a:xfrm>
            <a:off x="4972830"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868" name="Google Shape;1868;p97"/>
          <p:cNvSpPr txBox="1"/>
          <p:nvPr>
            <p:ph idx="1" type="body"/>
          </p:nvPr>
        </p:nvSpPr>
        <p:spPr>
          <a:xfrm>
            <a:off x="5425480" y="2030823"/>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869" name="Google Shape;1869;p97"/>
          <p:cNvSpPr txBox="1"/>
          <p:nvPr>
            <p:ph idx="1" type="body"/>
          </p:nvPr>
        </p:nvSpPr>
        <p:spPr>
          <a:xfrm>
            <a:off x="5754464" y="2030823"/>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870" name="Google Shape;1870;p97"/>
          <p:cNvSpPr txBox="1"/>
          <p:nvPr>
            <p:ph idx="1" type="body"/>
          </p:nvPr>
        </p:nvSpPr>
        <p:spPr>
          <a:xfrm>
            <a:off x="6188272" y="20308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871" name="Google Shape;1871;p97"/>
          <p:cNvSpPr txBox="1"/>
          <p:nvPr>
            <p:ph idx="1" type="body"/>
          </p:nvPr>
        </p:nvSpPr>
        <p:spPr>
          <a:xfrm>
            <a:off x="6492137"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872" name="Google Shape;1872;p97"/>
          <p:cNvSpPr txBox="1"/>
          <p:nvPr>
            <p:ph idx="1" type="body"/>
          </p:nvPr>
        </p:nvSpPr>
        <p:spPr>
          <a:xfrm>
            <a:off x="7018173" y="20308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873" name="Google Shape;1873;p97"/>
          <p:cNvSpPr txBox="1"/>
          <p:nvPr>
            <p:ph idx="1" type="body"/>
          </p:nvPr>
        </p:nvSpPr>
        <p:spPr>
          <a:xfrm>
            <a:off x="7328322"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874" name="Google Shape;1874;p97"/>
          <p:cNvSpPr txBox="1"/>
          <p:nvPr>
            <p:ph idx="1" type="body"/>
          </p:nvPr>
        </p:nvSpPr>
        <p:spPr>
          <a:xfrm>
            <a:off x="7778035" y="2030823"/>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875" name="Google Shape;1875;p97"/>
          <p:cNvSpPr txBox="1"/>
          <p:nvPr>
            <p:ph idx="1" type="body"/>
          </p:nvPr>
        </p:nvSpPr>
        <p:spPr>
          <a:xfrm>
            <a:off x="8093043" y="2030823"/>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876" name="Google Shape;1876;p97"/>
          <p:cNvSpPr txBox="1"/>
          <p:nvPr>
            <p:ph idx="1" type="body"/>
          </p:nvPr>
        </p:nvSpPr>
        <p:spPr>
          <a:xfrm>
            <a:off x="8529382"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877" name="Google Shape;1877;p97"/>
          <p:cNvSpPr txBox="1"/>
          <p:nvPr>
            <p:ph idx="1" type="body"/>
          </p:nvPr>
        </p:nvSpPr>
        <p:spPr>
          <a:xfrm>
            <a:off x="4221562" y="1883567"/>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878" name="Google Shape;1878;p97"/>
          <p:cNvSpPr txBox="1"/>
          <p:nvPr>
            <p:ph idx="1" type="body"/>
          </p:nvPr>
        </p:nvSpPr>
        <p:spPr>
          <a:xfrm>
            <a:off x="4104345" y="150654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879" name="Google Shape;1879;p97"/>
          <p:cNvSpPr txBox="1"/>
          <p:nvPr>
            <p:ph idx="1" type="body"/>
          </p:nvPr>
        </p:nvSpPr>
        <p:spPr>
          <a:xfrm>
            <a:off x="4018890" y="114068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880" name="Google Shape;1880;p97"/>
          <p:cNvSpPr txBox="1"/>
          <p:nvPr>
            <p:ph idx="1" type="body"/>
          </p:nvPr>
        </p:nvSpPr>
        <p:spPr>
          <a:xfrm>
            <a:off x="4018865" y="7939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881" name="Google Shape;1881;p97"/>
          <p:cNvSpPr txBox="1"/>
          <p:nvPr>
            <p:ph idx="1" type="body"/>
          </p:nvPr>
        </p:nvSpPr>
        <p:spPr>
          <a:xfrm>
            <a:off x="5785062" y="741421"/>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1979 to 2001</a:t>
            </a:r>
            <a:endParaRPr sz="1600">
              <a:highlight>
                <a:schemeClr val="lt1"/>
              </a:highlight>
            </a:endParaRPr>
          </a:p>
        </p:txBody>
      </p:sp>
      <p:sp>
        <p:nvSpPr>
          <p:cNvPr id="1882" name="Google Shape;1882;p97"/>
          <p:cNvSpPr txBox="1"/>
          <p:nvPr>
            <p:ph idx="1" type="body"/>
          </p:nvPr>
        </p:nvSpPr>
        <p:spPr>
          <a:xfrm rot="-5400000">
            <a:off x="3235991" y="1164603"/>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cxnSp>
        <p:nvCxnSpPr>
          <p:cNvPr id="1883" name="Google Shape;1883;p97"/>
          <p:cNvCxnSpPr/>
          <p:nvPr/>
        </p:nvCxnSpPr>
        <p:spPr>
          <a:xfrm>
            <a:off x="4418712" y="3668901"/>
            <a:ext cx="4339800" cy="0"/>
          </a:xfrm>
          <a:prstGeom prst="straightConnector1">
            <a:avLst/>
          </a:prstGeom>
          <a:noFill/>
          <a:ln cap="flat" cmpd="sng" w="28575">
            <a:solidFill>
              <a:schemeClr val="dk1"/>
            </a:solidFill>
            <a:prstDash val="solid"/>
            <a:round/>
            <a:headEnd len="med" w="med" type="none"/>
            <a:tailEnd len="med" w="med" type="triangle"/>
          </a:ln>
        </p:spPr>
      </p:cxnSp>
      <p:cxnSp>
        <p:nvCxnSpPr>
          <p:cNvPr id="1884" name="Google Shape;1884;p97"/>
          <p:cNvCxnSpPr/>
          <p:nvPr/>
        </p:nvCxnSpPr>
        <p:spPr>
          <a:xfrm rot="10800000">
            <a:off x="4415119" y="2365652"/>
            <a:ext cx="0" cy="1308900"/>
          </a:xfrm>
          <a:prstGeom prst="straightConnector1">
            <a:avLst/>
          </a:prstGeom>
          <a:noFill/>
          <a:ln cap="flat" cmpd="sng" w="28575">
            <a:solidFill>
              <a:schemeClr val="dk1"/>
            </a:solidFill>
            <a:prstDash val="solid"/>
            <a:round/>
            <a:headEnd len="med" w="med" type="none"/>
            <a:tailEnd len="med" w="med" type="triangle"/>
          </a:ln>
        </p:spPr>
      </p:cxnSp>
      <p:sp>
        <p:nvSpPr>
          <p:cNvPr id="1885" name="Google Shape;1885;p97"/>
          <p:cNvSpPr txBox="1"/>
          <p:nvPr>
            <p:ph idx="1" type="body"/>
          </p:nvPr>
        </p:nvSpPr>
        <p:spPr>
          <a:xfrm>
            <a:off x="4671163" y="3707223"/>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886" name="Google Shape;1886;p97"/>
          <p:cNvSpPr txBox="1"/>
          <p:nvPr>
            <p:ph idx="1" type="body"/>
          </p:nvPr>
        </p:nvSpPr>
        <p:spPr>
          <a:xfrm>
            <a:off x="4972830"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887" name="Google Shape;1887;p97"/>
          <p:cNvSpPr txBox="1"/>
          <p:nvPr>
            <p:ph idx="1" type="body"/>
          </p:nvPr>
        </p:nvSpPr>
        <p:spPr>
          <a:xfrm>
            <a:off x="5425480" y="3707223"/>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888" name="Google Shape;1888;p97"/>
          <p:cNvSpPr txBox="1"/>
          <p:nvPr>
            <p:ph idx="1" type="body"/>
          </p:nvPr>
        </p:nvSpPr>
        <p:spPr>
          <a:xfrm>
            <a:off x="5754464" y="3707223"/>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889" name="Google Shape;1889;p97"/>
          <p:cNvSpPr txBox="1"/>
          <p:nvPr>
            <p:ph idx="1" type="body"/>
          </p:nvPr>
        </p:nvSpPr>
        <p:spPr>
          <a:xfrm>
            <a:off x="6188272" y="37072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890" name="Google Shape;1890;p97"/>
          <p:cNvSpPr txBox="1"/>
          <p:nvPr>
            <p:ph idx="1" type="body"/>
          </p:nvPr>
        </p:nvSpPr>
        <p:spPr>
          <a:xfrm>
            <a:off x="6492137"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891" name="Google Shape;1891;p97"/>
          <p:cNvSpPr txBox="1"/>
          <p:nvPr>
            <p:ph idx="1" type="body"/>
          </p:nvPr>
        </p:nvSpPr>
        <p:spPr>
          <a:xfrm>
            <a:off x="7018173" y="37072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892" name="Google Shape;1892;p97"/>
          <p:cNvSpPr txBox="1"/>
          <p:nvPr>
            <p:ph idx="1" type="body"/>
          </p:nvPr>
        </p:nvSpPr>
        <p:spPr>
          <a:xfrm>
            <a:off x="7328322"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893" name="Google Shape;1893;p97"/>
          <p:cNvSpPr txBox="1"/>
          <p:nvPr>
            <p:ph idx="1" type="body"/>
          </p:nvPr>
        </p:nvSpPr>
        <p:spPr>
          <a:xfrm>
            <a:off x="7778035" y="3707223"/>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894" name="Google Shape;1894;p97"/>
          <p:cNvSpPr txBox="1"/>
          <p:nvPr>
            <p:ph idx="1" type="body"/>
          </p:nvPr>
        </p:nvSpPr>
        <p:spPr>
          <a:xfrm>
            <a:off x="8093043" y="3707223"/>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895" name="Google Shape;1895;p97"/>
          <p:cNvSpPr txBox="1"/>
          <p:nvPr>
            <p:ph idx="1" type="body"/>
          </p:nvPr>
        </p:nvSpPr>
        <p:spPr>
          <a:xfrm>
            <a:off x="8529382"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896" name="Google Shape;1896;p97"/>
          <p:cNvSpPr txBox="1"/>
          <p:nvPr>
            <p:ph idx="1" type="body"/>
          </p:nvPr>
        </p:nvSpPr>
        <p:spPr>
          <a:xfrm>
            <a:off x="4221562" y="3559967"/>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897" name="Google Shape;1897;p97"/>
          <p:cNvSpPr txBox="1"/>
          <p:nvPr>
            <p:ph idx="1" type="body"/>
          </p:nvPr>
        </p:nvSpPr>
        <p:spPr>
          <a:xfrm>
            <a:off x="4104345" y="318294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898" name="Google Shape;1898;p97"/>
          <p:cNvSpPr txBox="1"/>
          <p:nvPr>
            <p:ph idx="1" type="body"/>
          </p:nvPr>
        </p:nvSpPr>
        <p:spPr>
          <a:xfrm>
            <a:off x="4018890" y="281708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899" name="Google Shape;1899;p97"/>
          <p:cNvSpPr txBox="1"/>
          <p:nvPr>
            <p:ph idx="1" type="body"/>
          </p:nvPr>
        </p:nvSpPr>
        <p:spPr>
          <a:xfrm>
            <a:off x="4018865" y="24703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900" name="Google Shape;1900;p97"/>
          <p:cNvSpPr txBox="1"/>
          <p:nvPr>
            <p:ph idx="1" type="body"/>
          </p:nvPr>
        </p:nvSpPr>
        <p:spPr>
          <a:xfrm>
            <a:off x="5861262" y="2417821"/>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2002</a:t>
            </a:r>
            <a:r>
              <a:rPr lang="en-GB" sz="1600">
                <a:highlight>
                  <a:schemeClr val="lt1"/>
                </a:highlight>
              </a:rPr>
              <a:t> to 2024</a:t>
            </a:r>
            <a:endParaRPr sz="1600">
              <a:highlight>
                <a:schemeClr val="lt1"/>
              </a:highlight>
            </a:endParaRPr>
          </a:p>
        </p:txBody>
      </p:sp>
      <p:sp>
        <p:nvSpPr>
          <p:cNvPr id="1901" name="Google Shape;1901;p97"/>
          <p:cNvSpPr txBox="1"/>
          <p:nvPr>
            <p:ph idx="1" type="body"/>
          </p:nvPr>
        </p:nvSpPr>
        <p:spPr>
          <a:xfrm rot="-5400000">
            <a:off x="3235991" y="2841003"/>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1902" name="Google Shape;1902;p97"/>
          <p:cNvSpPr txBox="1"/>
          <p:nvPr>
            <p:ph idx="1" type="body"/>
          </p:nvPr>
        </p:nvSpPr>
        <p:spPr>
          <a:xfrm>
            <a:off x="4196925" y="4002996"/>
            <a:ext cx="4339800" cy="8280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600"/>
              <a:t>monthly Arctic sea ice extent expressed as a difference from the 1981-2010 average for each month separately (million km</a:t>
            </a:r>
            <a:r>
              <a:rPr baseline="30000" lang="en-GB" sz="1700"/>
              <a:t>2</a:t>
            </a:r>
            <a:r>
              <a:rPr lang="en-GB" sz="1600"/>
              <a:t>)</a:t>
            </a:r>
            <a:endParaRPr sz="1600"/>
          </a:p>
        </p:txBody>
      </p:sp>
      <p:sp>
        <p:nvSpPr>
          <p:cNvPr id="1903" name="Google Shape;1903;p97"/>
          <p:cNvSpPr txBox="1"/>
          <p:nvPr>
            <p:ph idx="1" type="body"/>
          </p:nvPr>
        </p:nvSpPr>
        <p:spPr>
          <a:xfrm>
            <a:off x="324000" y="2105400"/>
            <a:ext cx="30456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a:t>
            </a:r>
            <a:r>
              <a:rPr lang="en-GB" sz="1600"/>
              <a:t>) What was the modal class for 1979 to 2001?</a:t>
            </a:r>
            <a:endParaRPr sz="1400"/>
          </a:p>
        </p:txBody>
      </p:sp>
      <p:sp>
        <p:nvSpPr>
          <p:cNvPr id="1904" name="Google Shape;1904;p97"/>
          <p:cNvSpPr txBox="1"/>
          <p:nvPr>
            <p:ph idx="1" type="body"/>
          </p:nvPr>
        </p:nvSpPr>
        <p:spPr>
          <a:xfrm>
            <a:off x="324000" y="2943600"/>
            <a:ext cx="30456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a:t>
            </a:r>
            <a:r>
              <a:rPr lang="en-GB" sz="1600"/>
              <a:t>) What was the modal class for 2002 to 2024?</a:t>
            </a:r>
            <a:endParaRPr sz="1400"/>
          </a:p>
        </p:txBody>
      </p:sp>
      <p:sp>
        <p:nvSpPr>
          <p:cNvPr id="1905" name="Google Shape;1905;p97"/>
          <p:cNvSpPr txBox="1"/>
          <p:nvPr>
            <p:ph idx="1" type="body"/>
          </p:nvPr>
        </p:nvSpPr>
        <p:spPr>
          <a:xfrm>
            <a:off x="324000" y="3705600"/>
            <a:ext cx="30456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c</a:t>
            </a:r>
            <a:r>
              <a:rPr lang="en-GB" sz="1600"/>
              <a:t>) Did the extent of sea ice </a:t>
            </a:r>
            <a:r>
              <a:rPr lang="en-GB" sz="1600"/>
              <a:t>generally</a:t>
            </a:r>
            <a:r>
              <a:rPr lang="en-GB" sz="1600"/>
              <a:t> increase or </a:t>
            </a:r>
            <a:r>
              <a:rPr lang="en-GB" sz="1600"/>
              <a:t>decrease</a:t>
            </a:r>
            <a:r>
              <a:rPr lang="en-GB" sz="1600"/>
              <a:t> between the two periods of time? Explain your answer.</a:t>
            </a:r>
            <a:endParaRPr sz="1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pic>
        <p:nvPicPr>
          <p:cNvPr id="1910" name="Google Shape;1910;p98"/>
          <p:cNvPicPr preferRelativeResize="0"/>
          <p:nvPr/>
        </p:nvPicPr>
        <p:blipFill>
          <a:blip r:embed="rId3">
            <a:alphaModFix/>
          </a:blip>
          <a:stretch>
            <a:fillRect/>
          </a:stretch>
        </p:blipFill>
        <p:spPr>
          <a:xfrm>
            <a:off x="942194" y="3350225"/>
            <a:ext cx="4176850" cy="822150"/>
          </a:xfrm>
          <a:prstGeom prst="rect">
            <a:avLst/>
          </a:prstGeom>
          <a:noFill/>
          <a:ln>
            <a:noFill/>
          </a:ln>
        </p:spPr>
      </p:pic>
      <p:pic>
        <p:nvPicPr>
          <p:cNvPr id="1911" name="Google Shape;1911;p98"/>
          <p:cNvPicPr preferRelativeResize="0"/>
          <p:nvPr/>
        </p:nvPicPr>
        <p:blipFill>
          <a:blip r:embed="rId4">
            <a:alphaModFix/>
          </a:blip>
          <a:stretch>
            <a:fillRect/>
          </a:stretch>
        </p:blipFill>
        <p:spPr>
          <a:xfrm>
            <a:off x="950169" y="2073625"/>
            <a:ext cx="4162351" cy="822150"/>
          </a:xfrm>
          <a:prstGeom prst="rect">
            <a:avLst/>
          </a:prstGeom>
          <a:noFill/>
          <a:ln>
            <a:noFill/>
          </a:ln>
        </p:spPr>
      </p:pic>
      <p:pic>
        <p:nvPicPr>
          <p:cNvPr id="1912" name="Google Shape;1912;p98"/>
          <p:cNvPicPr preferRelativeResize="0"/>
          <p:nvPr/>
        </p:nvPicPr>
        <p:blipFill>
          <a:blip r:embed="rId5">
            <a:alphaModFix/>
          </a:blip>
          <a:stretch>
            <a:fillRect/>
          </a:stretch>
        </p:blipFill>
        <p:spPr>
          <a:xfrm>
            <a:off x="946200" y="810000"/>
            <a:ext cx="4176850" cy="822150"/>
          </a:xfrm>
          <a:prstGeom prst="rect">
            <a:avLst/>
          </a:prstGeom>
          <a:noFill/>
          <a:ln>
            <a:noFill/>
          </a:ln>
        </p:spPr>
      </p:pic>
      <p:sp>
        <p:nvSpPr>
          <p:cNvPr id="1913" name="Google Shape;1913;p98"/>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914" name="Google Shape;1914;p98"/>
          <p:cNvCxnSpPr/>
          <p:nvPr/>
        </p:nvCxnSpPr>
        <p:spPr>
          <a:xfrm>
            <a:off x="949798" y="1629644"/>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1915" name="Google Shape;1915;p98"/>
          <p:cNvCxnSpPr/>
          <p:nvPr/>
        </p:nvCxnSpPr>
        <p:spPr>
          <a:xfrm rot="10800000">
            <a:off x="946204" y="621895"/>
            <a:ext cx="0" cy="1013400"/>
          </a:xfrm>
          <a:prstGeom prst="straightConnector1">
            <a:avLst/>
          </a:prstGeom>
          <a:noFill/>
          <a:ln cap="flat" cmpd="sng" w="19050">
            <a:solidFill>
              <a:schemeClr val="dk1"/>
            </a:solidFill>
            <a:prstDash val="solid"/>
            <a:round/>
            <a:headEnd len="med" w="med" type="none"/>
            <a:tailEnd len="med" w="med" type="triangle"/>
          </a:ln>
        </p:spPr>
      </p:cxnSp>
      <p:sp>
        <p:nvSpPr>
          <p:cNvPr id="1916" name="Google Shape;1916;p98"/>
          <p:cNvSpPr txBox="1"/>
          <p:nvPr>
            <p:ph idx="1" type="body"/>
          </p:nvPr>
        </p:nvSpPr>
        <p:spPr>
          <a:xfrm>
            <a:off x="1202248" y="1667966"/>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1917" name="Google Shape;1917;p98"/>
          <p:cNvSpPr txBox="1"/>
          <p:nvPr>
            <p:ph idx="1" type="body"/>
          </p:nvPr>
        </p:nvSpPr>
        <p:spPr>
          <a:xfrm>
            <a:off x="1497112"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918" name="Google Shape;1918;p98"/>
          <p:cNvSpPr txBox="1"/>
          <p:nvPr>
            <p:ph idx="1" type="body"/>
          </p:nvPr>
        </p:nvSpPr>
        <p:spPr>
          <a:xfrm>
            <a:off x="1893966" y="1667968"/>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919" name="Google Shape;1919;p98"/>
          <p:cNvSpPr txBox="1"/>
          <p:nvPr>
            <p:ph idx="1" type="body"/>
          </p:nvPr>
        </p:nvSpPr>
        <p:spPr>
          <a:xfrm>
            <a:off x="2271942" y="1667966"/>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920" name="Google Shape;1920;p98"/>
          <p:cNvSpPr txBox="1"/>
          <p:nvPr>
            <p:ph idx="1" type="body"/>
          </p:nvPr>
        </p:nvSpPr>
        <p:spPr>
          <a:xfrm>
            <a:off x="2671735" y="1667968"/>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921" name="Google Shape;1921;p98"/>
          <p:cNvSpPr txBox="1"/>
          <p:nvPr>
            <p:ph idx="1" type="body"/>
          </p:nvPr>
        </p:nvSpPr>
        <p:spPr>
          <a:xfrm>
            <a:off x="3157015"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922" name="Google Shape;1922;p98"/>
          <p:cNvSpPr txBox="1"/>
          <p:nvPr>
            <p:ph idx="1" type="body"/>
          </p:nvPr>
        </p:nvSpPr>
        <p:spPr>
          <a:xfrm>
            <a:off x="3486669" y="1667968"/>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923" name="Google Shape;1923;p98"/>
          <p:cNvSpPr txBox="1"/>
          <p:nvPr>
            <p:ph idx="1" type="body"/>
          </p:nvPr>
        </p:nvSpPr>
        <p:spPr>
          <a:xfrm>
            <a:off x="3866211"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924" name="Google Shape;1924;p98"/>
          <p:cNvSpPr txBox="1"/>
          <p:nvPr>
            <p:ph idx="1" type="body"/>
          </p:nvPr>
        </p:nvSpPr>
        <p:spPr>
          <a:xfrm>
            <a:off x="4239716"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925" name="Google Shape;1925;p98"/>
          <p:cNvSpPr txBox="1"/>
          <p:nvPr>
            <p:ph idx="1" type="body"/>
          </p:nvPr>
        </p:nvSpPr>
        <p:spPr>
          <a:xfrm>
            <a:off x="4624129" y="1667966"/>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926" name="Google Shape;1926;p98"/>
          <p:cNvSpPr txBox="1"/>
          <p:nvPr>
            <p:ph idx="1" type="body"/>
          </p:nvPr>
        </p:nvSpPr>
        <p:spPr>
          <a:xfrm>
            <a:off x="5060468"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1927" name="Google Shape;1927;p98"/>
          <p:cNvSpPr txBox="1"/>
          <p:nvPr>
            <p:ph idx="1" type="body"/>
          </p:nvPr>
        </p:nvSpPr>
        <p:spPr>
          <a:xfrm>
            <a:off x="752647" y="1520710"/>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1928" name="Google Shape;1928;p98"/>
          <p:cNvSpPr txBox="1"/>
          <p:nvPr>
            <p:ph idx="1" type="body"/>
          </p:nvPr>
        </p:nvSpPr>
        <p:spPr>
          <a:xfrm>
            <a:off x="549975" y="980722"/>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2</a:t>
            </a:r>
            <a:r>
              <a:rPr lang="en-GB" sz="1200"/>
              <a:t>0</a:t>
            </a:r>
            <a:endParaRPr sz="1200"/>
          </a:p>
        </p:txBody>
      </p:sp>
      <p:sp>
        <p:nvSpPr>
          <p:cNvPr id="1929" name="Google Shape;1929;p98"/>
          <p:cNvSpPr txBox="1"/>
          <p:nvPr>
            <p:ph idx="1" type="body"/>
          </p:nvPr>
        </p:nvSpPr>
        <p:spPr>
          <a:xfrm>
            <a:off x="549951" y="72773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30</a:t>
            </a:r>
            <a:endParaRPr sz="1200"/>
          </a:p>
        </p:txBody>
      </p:sp>
      <p:sp>
        <p:nvSpPr>
          <p:cNvPr id="1930" name="Google Shape;1930;p98"/>
          <p:cNvSpPr txBox="1"/>
          <p:nvPr>
            <p:ph idx="1" type="body"/>
          </p:nvPr>
        </p:nvSpPr>
        <p:spPr>
          <a:xfrm>
            <a:off x="635430" y="1260921"/>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a:t>
            </a:r>
            <a:r>
              <a:rPr lang="en-GB" sz="1200"/>
              <a:t>0</a:t>
            </a:r>
            <a:endParaRPr sz="1200"/>
          </a:p>
        </p:txBody>
      </p:sp>
      <p:sp>
        <p:nvSpPr>
          <p:cNvPr id="1931" name="Google Shape;1931;p98"/>
          <p:cNvSpPr txBox="1"/>
          <p:nvPr>
            <p:ph idx="1" type="body"/>
          </p:nvPr>
        </p:nvSpPr>
        <p:spPr>
          <a:xfrm>
            <a:off x="2697148" y="759564"/>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1851 to 1908</a:t>
            </a:r>
            <a:endParaRPr sz="1600">
              <a:highlight>
                <a:schemeClr val="lt1"/>
              </a:highlight>
            </a:endParaRPr>
          </a:p>
        </p:txBody>
      </p:sp>
      <p:sp>
        <p:nvSpPr>
          <p:cNvPr id="1932" name="Google Shape;1932;p98"/>
          <p:cNvSpPr txBox="1"/>
          <p:nvPr>
            <p:ph idx="1" type="body"/>
          </p:nvPr>
        </p:nvSpPr>
        <p:spPr>
          <a:xfrm rot="-5400000">
            <a:off x="-221159" y="889767"/>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1933" name="Google Shape;1933;p98"/>
          <p:cNvSpPr txBox="1"/>
          <p:nvPr>
            <p:ph idx="1" type="body"/>
          </p:nvPr>
        </p:nvSpPr>
        <p:spPr>
          <a:xfrm>
            <a:off x="456871" y="4388532"/>
            <a:ext cx="4877100" cy="4311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a:t>
            </a:r>
            <a:r>
              <a:rPr lang="en-GB" sz="1400"/>
              <a:t>global </a:t>
            </a:r>
            <a:r>
              <a:rPr lang="en-GB" sz="1400"/>
              <a:t>mean sea-surface temperature expressed as a difference from 1981-2010 average (°C)</a:t>
            </a:r>
            <a:endParaRPr sz="1400"/>
          </a:p>
        </p:txBody>
      </p:sp>
      <p:cxnSp>
        <p:nvCxnSpPr>
          <p:cNvPr id="1934" name="Google Shape;1934;p98"/>
          <p:cNvCxnSpPr/>
          <p:nvPr/>
        </p:nvCxnSpPr>
        <p:spPr>
          <a:xfrm>
            <a:off x="949798" y="2897830"/>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1935" name="Google Shape;1935;p98"/>
          <p:cNvCxnSpPr/>
          <p:nvPr/>
        </p:nvCxnSpPr>
        <p:spPr>
          <a:xfrm rot="10800000">
            <a:off x="946204" y="1890081"/>
            <a:ext cx="0" cy="1013400"/>
          </a:xfrm>
          <a:prstGeom prst="straightConnector1">
            <a:avLst/>
          </a:prstGeom>
          <a:noFill/>
          <a:ln cap="flat" cmpd="sng" w="19050">
            <a:solidFill>
              <a:schemeClr val="dk1"/>
            </a:solidFill>
            <a:prstDash val="solid"/>
            <a:round/>
            <a:headEnd len="med" w="med" type="none"/>
            <a:tailEnd len="med" w="med" type="triangle"/>
          </a:ln>
        </p:spPr>
      </p:cxnSp>
      <p:sp>
        <p:nvSpPr>
          <p:cNvPr id="1936" name="Google Shape;1936;p98"/>
          <p:cNvSpPr txBox="1"/>
          <p:nvPr>
            <p:ph idx="1" type="body"/>
          </p:nvPr>
        </p:nvSpPr>
        <p:spPr>
          <a:xfrm>
            <a:off x="1202248" y="2936152"/>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1937" name="Google Shape;1937;p98"/>
          <p:cNvSpPr txBox="1"/>
          <p:nvPr>
            <p:ph idx="1" type="body"/>
          </p:nvPr>
        </p:nvSpPr>
        <p:spPr>
          <a:xfrm>
            <a:off x="1497112"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938" name="Google Shape;1938;p98"/>
          <p:cNvSpPr txBox="1"/>
          <p:nvPr>
            <p:ph idx="1" type="body"/>
          </p:nvPr>
        </p:nvSpPr>
        <p:spPr>
          <a:xfrm>
            <a:off x="1893966" y="2936154"/>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939" name="Google Shape;1939;p98"/>
          <p:cNvSpPr txBox="1"/>
          <p:nvPr>
            <p:ph idx="1" type="body"/>
          </p:nvPr>
        </p:nvSpPr>
        <p:spPr>
          <a:xfrm>
            <a:off x="2271942" y="2936152"/>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940" name="Google Shape;1940;p98"/>
          <p:cNvSpPr txBox="1"/>
          <p:nvPr>
            <p:ph idx="1" type="body"/>
          </p:nvPr>
        </p:nvSpPr>
        <p:spPr>
          <a:xfrm>
            <a:off x="2671735" y="2936154"/>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941" name="Google Shape;1941;p98"/>
          <p:cNvSpPr txBox="1"/>
          <p:nvPr>
            <p:ph idx="1" type="body"/>
          </p:nvPr>
        </p:nvSpPr>
        <p:spPr>
          <a:xfrm>
            <a:off x="3157015"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942" name="Google Shape;1942;p98"/>
          <p:cNvSpPr txBox="1"/>
          <p:nvPr>
            <p:ph idx="1" type="body"/>
          </p:nvPr>
        </p:nvSpPr>
        <p:spPr>
          <a:xfrm>
            <a:off x="3486669" y="2936154"/>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943" name="Google Shape;1943;p98"/>
          <p:cNvSpPr txBox="1"/>
          <p:nvPr>
            <p:ph idx="1" type="body"/>
          </p:nvPr>
        </p:nvSpPr>
        <p:spPr>
          <a:xfrm>
            <a:off x="3866211"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944" name="Google Shape;1944;p98"/>
          <p:cNvSpPr txBox="1"/>
          <p:nvPr>
            <p:ph idx="1" type="body"/>
          </p:nvPr>
        </p:nvSpPr>
        <p:spPr>
          <a:xfrm>
            <a:off x="4239716"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945" name="Google Shape;1945;p98"/>
          <p:cNvSpPr txBox="1"/>
          <p:nvPr>
            <p:ph idx="1" type="body"/>
          </p:nvPr>
        </p:nvSpPr>
        <p:spPr>
          <a:xfrm>
            <a:off x="4624129" y="2936152"/>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946" name="Google Shape;1946;p98"/>
          <p:cNvSpPr txBox="1"/>
          <p:nvPr>
            <p:ph idx="1" type="body"/>
          </p:nvPr>
        </p:nvSpPr>
        <p:spPr>
          <a:xfrm>
            <a:off x="5060468"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1947" name="Google Shape;1947;p98"/>
          <p:cNvSpPr txBox="1"/>
          <p:nvPr>
            <p:ph idx="1" type="body"/>
          </p:nvPr>
        </p:nvSpPr>
        <p:spPr>
          <a:xfrm>
            <a:off x="752647" y="2788896"/>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1948" name="Google Shape;1948;p98"/>
          <p:cNvSpPr txBox="1"/>
          <p:nvPr>
            <p:ph idx="1" type="body"/>
          </p:nvPr>
        </p:nvSpPr>
        <p:spPr>
          <a:xfrm>
            <a:off x="549975" y="224890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2</a:t>
            </a:r>
            <a:r>
              <a:rPr lang="en-GB" sz="1200"/>
              <a:t>0</a:t>
            </a:r>
            <a:endParaRPr sz="1200"/>
          </a:p>
        </p:txBody>
      </p:sp>
      <p:sp>
        <p:nvSpPr>
          <p:cNvPr id="1949" name="Google Shape;1949;p98"/>
          <p:cNvSpPr txBox="1"/>
          <p:nvPr>
            <p:ph idx="1" type="body"/>
          </p:nvPr>
        </p:nvSpPr>
        <p:spPr>
          <a:xfrm>
            <a:off x="549951" y="1995923"/>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3</a:t>
            </a:r>
            <a:r>
              <a:rPr lang="en-GB" sz="1200"/>
              <a:t>0</a:t>
            </a:r>
            <a:endParaRPr sz="1200"/>
          </a:p>
        </p:txBody>
      </p:sp>
      <p:sp>
        <p:nvSpPr>
          <p:cNvPr id="1950" name="Google Shape;1950;p98"/>
          <p:cNvSpPr txBox="1"/>
          <p:nvPr>
            <p:ph idx="1" type="body"/>
          </p:nvPr>
        </p:nvSpPr>
        <p:spPr>
          <a:xfrm>
            <a:off x="635430" y="2529107"/>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a:t>
            </a:r>
            <a:r>
              <a:rPr lang="en-GB" sz="1200"/>
              <a:t>0</a:t>
            </a:r>
            <a:endParaRPr sz="1200"/>
          </a:p>
        </p:txBody>
      </p:sp>
      <p:sp>
        <p:nvSpPr>
          <p:cNvPr id="1951" name="Google Shape;1951;p98"/>
          <p:cNvSpPr txBox="1"/>
          <p:nvPr>
            <p:ph idx="1" type="body"/>
          </p:nvPr>
        </p:nvSpPr>
        <p:spPr>
          <a:xfrm>
            <a:off x="2697148" y="2027749"/>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1909 to 1966</a:t>
            </a:r>
            <a:endParaRPr sz="1600">
              <a:highlight>
                <a:schemeClr val="lt1"/>
              </a:highlight>
            </a:endParaRPr>
          </a:p>
        </p:txBody>
      </p:sp>
      <p:sp>
        <p:nvSpPr>
          <p:cNvPr id="1952" name="Google Shape;1952;p98"/>
          <p:cNvSpPr txBox="1"/>
          <p:nvPr>
            <p:ph idx="1" type="body"/>
          </p:nvPr>
        </p:nvSpPr>
        <p:spPr>
          <a:xfrm rot="-5400000">
            <a:off x="-221159" y="2157953"/>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cxnSp>
        <p:nvCxnSpPr>
          <p:cNvPr id="1953" name="Google Shape;1953;p98"/>
          <p:cNvCxnSpPr/>
          <p:nvPr/>
        </p:nvCxnSpPr>
        <p:spPr>
          <a:xfrm>
            <a:off x="949798" y="4162387"/>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1954" name="Google Shape;1954;p98"/>
          <p:cNvCxnSpPr/>
          <p:nvPr/>
        </p:nvCxnSpPr>
        <p:spPr>
          <a:xfrm rot="10800000">
            <a:off x="946204" y="3154638"/>
            <a:ext cx="0" cy="1013400"/>
          </a:xfrm>
          <a:prstGeom prst="straightConnector1">
            <a:avLst/>
          </a:prstGeom>
          <a:noFill/>
          <a:ln cap="flat" cmpd="sng" w="19050">
            <a:solidFill>
              <a:schemeClr val="dk1"/>
            </a:solidFill>
            <a:prstDash val="solid"/>
            <a:round/>
            <a:headEnd len="med" w="med" type="none"/>
            <a:tailEnd len="med" w="med" type="triangle"/>
          </a:ln>
        </p:spPr>
      </p:cxnSp>
      <p:sp>
        <p:nvSpPr>
          <p:cNvPr id="1955" name="Google Shape;1955;p98"/>
          <p:cNvSpPr txBox="1"/>
          <p:nvPr>
            <p:ph idx="1" type="body"/>
          </p:nvPr>
        </p:nvSpPr>
        <p:spPr>
          <a:xfrm>
            <a:off x="1202248" y="4200709"/>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1956" name="Google Shape;1956;p98"/>
          <p:cNvSpPr txBox="1"/>
          <p:nvPr>
            <p:ph idx="1" type="body"/>
          </p:nvPr>
        </p:nvSpPr>
        <p:spPr>
          <a:xfrm>
            <a:off x="1497112"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957" name="Google Shape;1957;p98"/>
          <p:cNvSpPr txBox="1"/>
          <p:nvPr>
            <p:ph idx="1" type="body"/>
          </p:nvPr>
        </p:nvSpPr>
        <p:spPr>
          <a:xfrm>
            <a:off x="1893966" y="4200711"/>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958" name="Google Shape;1958;p98"/>
          <p:cNvSpPr txBox="1"/>
          <p:nvPr>
            <p:ph idx="1" type="body"/>
          </p:nvPr>
        </p:nvSpPr>
        <p:spPr>
          <a:xfrm>
            <a:off x="2271942" y="4200709"/>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959" name="Google Shape;1959;p98"/>
          <p:cNvSpPr txBox="1"/>
          <p:nvPr>
            <p:ph idx="1" type="body"/>
          </p:nvPr>
        </p:nvSpPr>
        <p:spPr>
          <a:xfrm>
            <a:off x="2671735" y="4200711"/>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960" name="Google Shape;1960;p98"/>
          <p:cNvSpPr txBox="1"/>
          <p:nvPr>
            <p:ph idx="1" type="body"/>
          </p:nvPr>
        </p:nvSpPr>
        <p:spPr>
          <a:xfrm>
            <a:off x="3157015"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1961" name="Google Shape;1961;p98"/>
          <p:cNvSpPr txBox="1"/>
          <p:nvPr>
            <p:ph idx="1" type="body"/>
          </p:nvPr>
        </p:nvSpPr>
        <p:spPr>
          <a:xfrm>
            <a:off x="3486669" y="4200711"/>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1962" name="Google Shape;1962;p98"/>
          <p:cNvSpPr txBox="1"/>
          <p:nvPr>
            <p:ph idx="1" type="body"/>
          </p:nvPr>
        </p:nvSpPr>
        <p:spPr>
          <a:xfrm>
            <a:off x="3866211"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1963" name="Google Shape;1963;p98"/>
          <p:cNvSpPr txBox="1"/>
          <p:nvPr>
            <p:ph idx="1" type="body"/>
          </p:nvPr>
        </p:nvSpPr>
        <p:spPr>
          <a:xfrm>
            <a:off x="4239716"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1964" name="Google Shape;1964;p98"/>
          <p:cNvSpPr txBox="1"/>
          <p:nvPr>
            <p:ph idx="1" type="body"/>
          </p:nvPr>
        </p:nvSpPr>
        <p:spPr>
          <a:xfrm>
            <a:off x="4624129" y="4200709"/>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1965" name="Google Shape;1965;p98"/>
          <p:cNvSpPr txBox="1"/>
          <p:nvPr>
            <p:ph idx="1" type="body"/>
          </p:nvPr>
        </p:nvSpPr>
        <p:spPr>
          <a:xfrm>
            <a:off x="5060468"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1966" name="Google Shape;1966;p98"/>
          <p:cNvSpPr txBox="1"/>
          <p:nvPr>
            <p:ph idx="1" type="body"/>
          </p:nvPr>
        </p:nvSpPr>
        <p:spPr>
          <a:xfrm>
            <a:off x="752647" y="4053453"/>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1967" name="Google Shape;1967;p98"/>
          <p:cNvSpPr txBox="1"/>
          <p:nvPr>
            <p:ph idx="1" type="body"/>
          </p:nvPr>
        </p:nvSpPr>
        <p:spPr>
          <a:xfrm>
            <a:off x="549975" y="3513465"/>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2</a:t>
            </a:r>
            <a:r>
              <a:rPr lang="en-GB" sz="1200"/>
              <a:t>0</a:t>
            </a:r>
            <a:endParaRPr sz="1200"/>
          </a:p>
        </p:txBody>
      </p:sp>
      <p:sp>
        <p:nvSpPr>
          <p:cNvPr id="1968" name="Google Shape;1968;p98"/>
          <p:cNvSpPr txBox="1"/>
          <p:nvPr>
            <p:ph idx="1" type="body"/>
          </p:nvPr>
        </p:nvSpPr>
        <p:spPr>
          <a:xfrm>
            <a:off x="549951" y="3260480"/>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3</a:t>
            </a:r>
            <a:r>
              <a:rPr lang="en-GB" sz="1200"/>
              <a:t>0</a:t>
            </a:r>
            <a:endParaRPr sz="1200"/>
          </a:p>
        </p:txBody>
      </p:sp>
      <p:sp>
        <p:nvSpPr>
          <p:cNvPr id="1969" name="Google Shape;1969;p98"/>
          <p:cNvSpPr txBox="1"/>
          <p:nvPr>
            <p:ph idx="1" type="body"/>
          </p:nvPr>
        </p:nvSpPr>
        <p:spPr>
          <a:xfrm>
            <a:off x="635430" y="3793664"/>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a:t>
            </a:r>
            <a:r>
              <a:rPr lang="en-GB" sz="1200"/>
              <a:t>0</a:t>
            </a:r>
            <a:endParaRPr sz="1200"/>
          </a:p>
        </p:txBody>
      </p:sp>
      <p:sp>
        <p:nvSpPr>
          <p:cNvPr id="1970" name="Google Shape;1970;p98"/>
          <p:cNvSpPr txBox="1"/>
          <p:nvPr>
            <p:ph idx="1" type="body"/>
          </p:nvPr>
        </p:nvSpPr>
        <p:spPr>
          <a:xfrm>
            <a:off x="2697148" y="329230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1967</a:t>
            </a:r>
            <a:r>
              <a:rPr lang="en-GB" sz="1600">
                <a:highlight>
                  <a:schemeClr val="lt1"/>
                </a:highlight>
              </a:rPr>
              <a:t> to 2024</a:t>
            </a:r>
            <a:endParaRPr sz="1600">
              <a:highlight>
                <a:schemeClr val="lt1"/>
              </a:highlight>
            </a:endParaRPr>
          </a:p>
        </p:txBody>
      </p:sp>
      <p:sp>
        <p:nvSpPr>
          <p:cNvPr id="1971" name="Google Shape;1971;p98"/>
          <p:cNvSpPr txBox="1"/>
          <p:nvPr>
            <p:ph idx="1" type="body"/>
          </p:nvPr>
        </p:nvSpPr>
        <p:spPr>
          <a:xfrm rot="-5400000">
            <a:off x="-221159" y="3395296"/>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1972" name="Google Shape;1972;p98"/>
          <p:cNvSpPr txBox="1"/>
          <p:nvPr>
            <p:ph idx="1" type="body"/>
          </p:nvPr>
        </p:nvSpPr>
        <p:spPr>
          <a:xfrm>
            <a:off x="5555700" y="810000"/>
            <a:ext cx="32241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a:t>
            </a:r>
            <a:r>
              <a:rPr lang="en-GB" sz="1600"/>
              <a:t>) The graphs show data from the Met Office and HadSST4 about sea-surface temperatures for each year from 1851 to 2024.</a:t>
            </a:r>
            <a:endParaRPr sz="1400"/>
          </a:p>
        </p:txBody>
      </p:sp>
      <p:sp>
        <p:nvSpPr>
          <p:cNvPr id="1973" name="Google Shape;1973;p98"/>
          <p:cNvSpPr txBox="1"/>
          <p:nvPr>
            <p:ph idx="1" type="body"/>
          </p:nvPr>
        </p:nvSpPr>
        <p:spPr>
          <a:xfrm>
            <a:off x="5555700" y="2181600"/>
            <a:ext cx="3224100" cy="1379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Compare the sea-surface temperatures for the three periods of time. Describe any conclusions that you can draw from the data.</a:t>
            </a:r>
            <a:endParaRPr sz="1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7" name="Shape 1977"/>
        <p:cNvGrpSpPr/>
        <p:nvPr/>
      </p:nvGrpSpPr>
      <p:grpSpPr>
        <a:xfrm>
          <a:off x="0" y="0"/>
          <a:ext cx="0" cy="0"/>
          <a:chOff x="0" y="0"/>
          <a:chExt cx="0" cy="0"/>
        </a:xfrm>
      </p:grpSpPr>
      <p:pic>
        <p:nvPicPr>
          <p:cNvPr id="1978" name="Google Shape;1978;p99"/>
          <p:cNvPicPr preferRelativeResize="0"/>
          <p:nvPr/>
        </p:nvPicPr>
        <p:blipFill>
          <a:blip r:embed="rId3">
            <a:alphaModFix/>
          </a:blip>
          <a:stretch>
            <a:fillRect/>
          </a:stretch>
        </p:blipFill>
        <p:spPr>
          <a:xfrm>
            <a:off x="4414250" y="2570975"/>
            <a:ext cx="4183751" cy="1101225"/>
          </a:xfrm>
          <a:prstGeom prst="rect">
            <a:avLst/>
          </a:prstGeom>
          <a:noFill/>
          <a:ln>
            <a:noFill/>
          </a:ln>
        </p:spPr>
      </p:pic>
      <p:pic>
        <p:nvPicPr>
          <p:cNvPr id="1979" name="Google Shape;1979;p99"/>
          <p:cNvPicPr preferRelativeResize="0"/>
          <p:nvPr/>
        </p:nvPicPr>
        <p:blipFill>
          <a:blip r:embed="rId4">
            <a:alphaModFix/>
          </a:blip>
          <a:stretch>
            <a:fillRect/>
          </a:stretch>
        </p:blipFill>
        <p:spPr>
          <a:xfrm>
            <a:off x="4412643" y="890125"/>
            <a:ext cx="4176851" cy="1101232"/>
          </a:xfrm>
          <a:prstGeom prst="rect">
            <a:avLst/>
          </a:prstGeom>
          <a:noFill/>
          <a:ln>
            <a:noFill/>
          </a:ln>
        </p:spPr>
      </p:pic>
      <p:sp>
        <p:nvSpPr>
          <p:cNvPr id="1980" name="Google Shape;1980;p99"/>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1981" name="Google Shape;1981;p99"/>
          <p:cNvCxnSpPr/>
          <p:nvPr/>
        </p:nvCxnSpPr>
        <p:spPr>
          <a:xfrm>
            <a:off x="4418712" y="1992501"/>
            <a:ext cx="4339800" cy="0"/>
          </a:xfrm>
          <a:prstGeom prst="straightConnector1">
            <a:avLst/>
          </a:prstGeom>
          <a:noFill/>
          <a:ln cap="flat" cmpd="sng" w="28575">
            <a:solidFill>
              <a:schemeClr val="dk1"/>
            </a:solidFill>
            <a:prstDash val="solid"/>
            <a:round/>
            <a:headEnd len="med" w="med" type="none"/>
            <a:tailEnd len="med" w="med" type="triangle"/>
          </a:ln>
        </p:spPr>
      </p:cxnSp>
      <p:cxnSp>
        <p:nvCxnSpPr>
          <p:cNvPr id="1982" name="Google Shape;1982;p99"/>
          <p:cNvCxnSpPr/>
          <p:nvPr/>
        </p:nvCxnSpPr>
        <p:spPr>
          <a:xfrm rot="10800000">
            <a:off x="4415119" y="689252"/>
            <a:ext cx="0" cy="1308900"/>
          </a:xfrm>
          <a:prstGeom prst="straightConnector1">
            <a:avLst/>
          </a:prstGeom>
          <a:noFill/>
          <a:ln cap="flat" cmpd="sng" w="28575">
            <a:solidFill>
              <a:schemeClr val="dk1"/>
            </a:solidFill>
            <a:prstDash val="solid"/>
            <a:round/>
            <a:headEnd len="med" w="med" type="none"/>
            <a:tailEnd len="med" w="med" type="triangle"/>
          </a:ln>
        </p:spPr>
      </p:cxnSp>
      <p:sp>
        <p:nvSpPr>
          <p:cNvPr id="1983" name="Google Shape;1983;p99"/>
          <p:cNvSpPr txBox="1"/>
          <p:nvPr>
            <p:ph idx="1" type="body"/>
          </p:nvPr>
        </p:nvSpPr>
        <p:spPr>
          <a:xfrm>
            <a:off x="4671163" y="2030823"/>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1984" name="Google Shape;1984;p99"/>
          <p:cNvSpPr txBox="1"/>
          <p:nvPr>
            <p:ph idx="1" type="body"/>
          </p:nvPr>
        </p:nvSpPr>
        <p:spPr>
          <a:xfrm>
            <a:off x="4972830"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1985" name="Google Shape;1985;p99"/>
          <p:cNvSpPr txBox="1"/>
          <p:nvPr>
            <p:ph idx="1" type="body"/>
          </p:nvPr>
        </p:nvSpPr>
        <p:spPr>
          <a:xfrm>
            <a:off x="5425480" y="2030823"/>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986" name="Google Shape;1986;p99"/>
          <p:cNvSpPr txBox="1"/>
          <p:nvPr>
            <p:ph idx="1" type="body"/>
          </p:nvPr>
        </p:nvSpPr>
        <p:spPr>
          <a:xfrm>
            <a:off x="5754464" y="2030823"/>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987" name="Google Shape;1987;p99"/>
          <p:cNvSpPr txBox="1"/>
          <p:nvPr>
            <p:ph idx="1" type="body"/>
          </p:nvPr>
        </p:nvSpPr>
        <p:spPr>
          <a:xfrm>
            <a:off x="6188272" y="20308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988" name="Google Shape;1988;p99"/>
          <p:cNvSpPr txBox="1"/>
          <p:nvPr>
            <p:ph idx="1" type="body"/>
          </p:nvPr>
        </p:nvSpPr>
        <p:spPr>
          <a:xfrm>
            <a:off x="6492137"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989" name="Google Shape;1989;p99"/>
          <p:cNvSpPr txBox="1"/>
          <p:nvPr>
            <p:ph idx="1" type="body"/>
          </p:nvPr>
        </p:nvSpPr>
        <p:spPr>
          <a:xfrm>
            <a:off x="7018173" y="20308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1990" name="Google Shape;1990;p99"/>
          <p:cNvSpPr txBox="1"/>
          <p:nvPr>
            <p:ph idx="1" type="body"/>
          </p:nvPr>
        </p:nvSpPr>
        <p:spPr>
          <a:xfrm>
            <a:off x="7328322"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1991" name="Google Shape;1991;p99"/>
          <p:cNvSpPr txBox="1"/>
          <p:nvPr>
            <p:ph idx="1" type="body"/>
          </p:nvPr>
        </p:nvSpPr>
        <p:spPr>
          <a:xfrm>
            <a:off x="7778035" y="2030823"/>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1992" name="Google Shape;1992;p99"/>
          <p:cNvSpPr txBox="1"/>
          <p:nvPr>
            <p:ph idx="1" type="body"/>
          </p:nvPr>
        </p:nvSpPr>
        <p:spPr>
          <a:xfrm>
            <a:off x="8093043" y="2030823"/>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1993" name="Google Shape;1993;p99"/>
          <p:cNvSpPr txBox="1"/>
          <p:nvPr>
            <p:ph idx="1" type="body"/>
          </p:nvPr>
        </p:nvSpPr>
        <p:spPr>
          <a:xfrm>
            <a:off x="8529382"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1994" name="Google Shape;1994;p99"/>
          <p:cNvSpPr txBox="1"/>
          <p:nvPr>
            <p:ph idx="1" type="body"/>
          </p:nvPr>
        </p:nvSpPr>
        <p:spPr>
          <a:xfrm>
            <a:off x="4221562" y="1883567"/>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1995" name="Google Shape;1995;p99"/>
          <p:cNvSpPr txBox="1"/>
          <p:nvPr>
            <p:ph idx="1" type="body"/>
          </p:nvPr>
        </p:nvSpPr>
        <p:spPr>
          <a:xfrm>
            <a:off x="4104345" y="150654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1996" name="Google Shape;1996;p99"/>
          <p:cNvSpPr txBox="1"/>
          <p:nvPr>
            <p:ph idx="1" type="body"/>
          </p:nvPr>
        </p:nvSpPr>
        <p:spPr>
          <a:xfrm>
            <a:off x="4018890" y="114068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1997" name="Google Shape;1997;p99"/>
          <p:cNvSpPr txBox="1"/>
          <p:nvPr>
            <p:ph idx="1" type="body"/>
          </p:nvPr>
        </p:nvSpPr>
        <p:spPr>
          <a:xfrm>
            <a:off x="4018865" y="7939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1998" name="Google Shape;1998;p99"/>
          <p:cNvSpPr txBox="1"/>
          <p:nvPr>
            <p:ph idx="1" type="body"/>
          </p:nvPr>
        </p:nvSpPr>
        <p:spPr>
          <a:xfrm>
            <a:off x="5785062" y="741421"/>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1979 to 2001</a:t>
            </a:r>
            <a:endParaRPr sz="1600">
              <a:highlight>
                <a:schemeClr val="lt1"/>
              </a:highlight>
            </a:endParaRPr>
          </a:p>
        </p:txBody>
      </p:sp>
      <p:sp>
        <p:nvSpPr>
          <p:cNvPr id="1999" name="Google Shape;1999;p99"/>
          <p:cNvSpPr txBox="1"/>
          <p:nvPr>
            <p:ph idx="1" type="body"/>
          </p:nvPr>
        </p:nvSpPr>
        <p:spPr>
          <a:xfrm rot="-5400000">
            <a:off x="3235991" y="1164603"/>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cxnSp>
        <p:nvCxnSpPr>
          <p:cNvPr id="2000" name="Google Shape;2000;p99"/>
          <p:cNvCxnSpPr/>
          <p:nvPr/>
        </p:nvCxnSpPr>
        <p:spPr>
          <a:xfrm>
            <a:off x="4418712" y="3668901"/>
            <a:ext cx="4339800" cy="0"/>
          </a:xfrm>
          <a:prstGeom prst="straightConnector1">
            <a:avLst/>
          </a:prstGeom>
          <a:noFill/>
          <a:ln cap="flat" cmpd="sng" w="28575">
            <a:solidFill>
              <a:schemeClr val="dk1"/>
            </a:solidFill>
            <a:prstDash val="solid"/>
            <a:round/>
            <a:headEnd len="med" w="med" type="none"/>
            <a:tailEnd len="med" w="med" type="triangle"/>
          </a:ln>
        </p:spPr>
      </p:cxnSp>
      <p:cxnSp>
        <p:nvCxnSpPr>
          <p:cNvPr id="2001" name="Google Shape;2001;p99"/>
          <p:cNvCxnSpPr/>
          <p:nvPr/>
        </p:nvCxnSpPr>
        <p:spPr>
          <a:xfrm rot="10800000">
            <a:off x="4415119" y="2365652"/>
            <a:ext cx="0" cy="1308900"/>
          </a:xfrm>
          <a:prstGeom prst="straightConnector1">
            <a:avLst/>
          </a:prstGeom>
          <a:noFill/>
          <a:ln cap="flat" cmpd="sng" w="28575">
            <a:solidFill>
              <a:schemeClr val="dk1"/>
            </a:solidFill>
            <a:prstDash val="solid"/>
            <a:round/>
            <a:headEnd len="med" w="med" type="none"/>
            <a:tailEnd len="med" w="med" type="triangle"/>
          </a:ln>
        </p:spPr>
      </p:cxnSp>
      <p:sp>
        <p:nvSpPr>
          <p:cNvPr id="2002" name="Google Shape;2002;p99"/>
          <p:cNvSpPr txBox="1"/>
          <p:nvPr>
            <p:ph idx="1" type="body"/>
          </p:nvPr>
        </p:nvSpPr>
        <p:spPr>
          <a:xfrm>
            <a:off x="4671163" y="3707223"/>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2003" name="Google Shape;2003;p99"/>
          <p:cNvSpPr txBox="1"/>
          <p:nvPr>
            <p:ph idx="1" type="body"/>
          </p:nvPr>
        </p:nvSpPr>
        <p:spPr>
          <a:xfrm>
            <a:off x="4972830"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2004" name="Google Shape;2004;p99"/>
          <p:cNvSpPr txBox="1"/>
          <p:nvPr>
            <p:ph idx="1" type="body"/>
          </p:nvPr>
        </p:nvSpPr>
        <p:spPr>
          <a:xfrm>
            <a:off x="5425480" y="3707223"/>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005" name="Google Shape;2005;p99"/>
          <p:cNvSpPr txBox="1"/>
          <p:nvPr>
            <p:ph idx="1" type="body"/>
          </p:nvPr>
        </p:nvSpPr>
        <p:spPr>
          <a:xfrm>
            <a:off x="5754464" y="3707223"/>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006" name="Google Shape;2006;p99"/>
          <p:cNvSpPr txBox="1"/>
          <p:nvPr>
            <p:ph idx="1" type="body"/>
          </p:nvPr>
        </p:nvSpPr>
        <p:spPr>
          <a:xfrm>
            <a:off x="6188272" y="37072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007" name="Google Shape;2007;p99"/>
          <p:cNvSpPr txBox="1"/>
          <p:nvPr>
            <p:ph idx="1" type="body"/>
          </p:nvPr>
        </p:nvSpPr>
        <p:spPr>
          <a:xfrm>
            <a:off x="6492137"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008" name="Google Shape;2008;p99"/>
          <p:cNvSpPr txBox="1"/>
          <p:nvPr>
            <p:ph idx="1" type="body"/>
          </p:nvPr>
        </p:nvSpPr>
        <p:spPr>
          <a:xfrm>
            <a:off x="7018173" y="37072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2009" name="Google Shape;2009;p99"/>
          <p:cNvSpPr txBox="1"/>
          <p:nvPr>
            <p:ph idx="1" type="body"/>
          </p:nvPr>
        </p:nvSpPr>
        <p:spPr>
          <a:xfrm>
            <a:off x="7328322"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010" name="Google Shape;2010;p99"/>
          <p:cNvSpPr txBox="1"/>
          <p:nvPr>
            <p:ph idx="1" type="body"/>
          </p:nvPr>
        </p:nvSpPr>
        <p:spPr>
          <a:xfrm>
            <a:off x="7778035" y="3707223"/>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011" name="Google Shape;2011;p99"/>
          <p:cNvSpPr txBox="1"/>
          <p:nvPr>
            <p:ph idx="1" type="body"/>
          </p:nvPr>
        </p:nvSpPr>
        <p:spPr>
          <a:xfrm>
            <a:off x="8093043" y="3707223"/>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012" name="Google Shape;2012;p99"/>
          <p:cNvSpPr txBox="1"/>
          <p:nvPr>
            <p:ph idx="1" type="body"/>
          </p:nvPr>
        </p:nvSpPr>
        <p:spPr>
          <a:xfrm>
            <a:off x="8529382"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013" name="Google Shape;2013;p99"/>
          <p:cNvSpPr txBox="1"/>
          <p:nvPr>
            <p:ph idx="1" type="body"/>
          </p:nvPr>
        </p:nvSpPr>
        <p:spPr>
          <a:xfrm>
            <a:off x="4221562" y="3559967"/>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2014" name="Google Shape;2014;p99"/>
          <p:cNvSpPr txBox="1"/>
          <p:nvPr>
            <p:ph idx="1" type="body"/>
          </p:nvPr>
        </p:nvSpPr>
        <p:spPr>
          <a:xfrm>
            <a:off x="4104345" y="318294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2015" name="Google Shape;2015;p99"/>
          <p:cNvSpPr txBox="1"/>
          <p:nvPr>
            <p:ph idx="1" type="body"/>
          </p:nvPr>
        </p:nvSpPr>
        <p:spPr>
          <a:xfrm>
            <a:off x="4018890" y="281708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2016" name="Google Shape;2016;p99"/>
          <p:cNvSpPr txBox="1"/>
          <p:nvPr>
            <p:ph idx="1" type="body"/>
          </p:nvPr>
        </p:nvSpPr>
        <p:spPr>
          <a:xfrm>
            <a:off x="4018865" y="24703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2017" name="Google Shape;2017;p99"/>
          <p:cNvSpPr txBox="1"/>
          <p:nvPr>
            <p:ph idx="1" type="body"/>
          </p:nvPr>
        </p:nvSpPr>
        <p:spPr>
          <a:xfrm>
            <a:off x="5861262" y="2417821"/>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2002 to 2024</a:t>
            </a:r>
            <a:endParaRPr sz="1600">
              <a:highlight>
                <a:schemeClr val="lt1"/>
              </a:highlight>
            </a:endParaRPr>
          </a:p>
        </p:txBody>
      </p:sp>
      <p:sp>
        <p:nvSpPr>
          <p:cNvPr id="2018" name="Google Shape;2018;p99"/>
          <p:cNvSpPr txBox="1"/>
          <p:nvPr>
            <p:ph idx="1" type="body"/>
          </p:nvPr>
        </p:nvSpPr>
        <p:spPr>
          <a:xfrm rot="-5400000">
            <a:off x="3235991" y="2841003"/>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2019" name="Google Shape;2019;p99"/>
          <p:cNvSpPr txBox="1"/>
          <p:nvPr>
            <p:ph idx="1" type="body"/>
          </p:nvPr>
        </p:nvSpPr>
        <p:spPr>
          <a:xfrm>
            <a:off x="4196925" y="4002996"/>
            <a:ext cx="4339800" cy="8280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600"/>
              <a:t>monthly Arctic sea ice extent expressed as a difference from the 1981-2010 average for each month separately (million km</a:t>
            </a:r>
            <a:r>
              <a:rPr baseline="30000" lang="en-GB" sz="1700"/>
              <a:t>2</a:t>
            </a:r>
            <a:r>
              <a:rPr lang="en-GB" sz="1600"/>
              <a:t>)</a:t>
            </a:r>
            <a:endParaRPr sz="1600"/>
          </a:p>
        </p:txBody>
      </p:sp>
      <p:sp>
        <p:nvSpPr>
          <p:cNvPr id="2020" name="Google Shape;2020;p99"/>
          <p:cNvSpPr txBox="1"/>
          <p:nvPr>
            <p:ph idx="1" type="body"/>
          </p:nvPr>
        </p:nvSpPr>
        <p:spPr>
          <a:xfrm>
            <a:off x="324000" y="2105400"/>
            <a:ext cx="30456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What was the modal class for 1979 to 2001?</a:t>
            </a:r>
            <a:endParaRPr sz="1400"/>
          </a:p>
        </p:txBody>
      </p:sp>
      <p:sp>
        <p:nvSpPr>
          <p:cNvPr id="2021" name="Google Shape;2021;p99"/>
          <p:cNvSpPr txBox="1"/>
          <p:nvPr>
            <p:ph idx="1" type="body"/>
          </p:nvPr>
        </p:nvSpPr>
        <p:spPr>
          <a:xfrm>
            <a:off x="324000" y="3400800"/>
            <a:ext cx="30456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b) What was the modal class for 2002 to 2024?</a:t>
            </a:r>
            <a:endParaRPr sz="1400"/>
          </a:p>
        </p:txBody>
      </p:sp>
      <p:sp>
        <p:nvSpPr>
          <p:cNvPr id="2022" name="Google Shape;2022;p99"/>
          <p:cNvSpPr txBox="1"/>
          <p:nvPr>
            <p:ph idx="1" type="body"/>
          </p:nvPr>
        </p:nvSpPr>
        <p:spPr>
          <a:xfrm>
            <a:off x="324000" y="810000"/>
            <a:ext cx="30456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 The graphs show data from the Met Office and OSI SAF about sea ice in the Arctic for each month from 1979 to 2024.</a:t>
            </a:r>
            <a:endParaRPr sz="1400"/>
          </a:p>
        </p:txBody>
      </p:sp>
      <p:sp>
        <p:nvSpPr>
          <p:cNvPr id="2023" name="Google Shape;2023;p99"/>
          <p:cNvSpPr txBox="1"/>
          <p:nvPr>
            <p:ph idx="1" type="body"/>
          </p:nvPr>
        </p:nvSpPr>
        <p:spPr>
          <a:xfrm>
            <a:off x="628800" y="2791200"/>
            <a:ext cx="30456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0 to 0.5 million km</a:t>
            </a:r>
            <a:r>
              <a:rPr baseline="30000" lang="en-GB" sz="1800">
                <a:latin typeface="Kalam"/>
                <a:ea typeface="Kalam"/>
                <a:cs typeface="Kalam"/>
                <a:sym typeface="Kalam"/>
              </a:rPr>
              <a:t>2</a:t>
            </a:r>
            <a:endParaRPr baseline="30000" sz="1600">
              <a:latin typeface="Kalam"/>
              <a:ea typeface="Kalam"/>
              <a:cs typeface="Kalam"/>
              <a:sym typeface="Kalam"/>
            </a:endParaRPr>
          </a:p>
        </p:txBody>
      </p:sp>
      <p:sp>
        <p:nvSpPr>
          <p:cNvPr id="2024" name="Google Shape;2024;p99"/>
          <p:cNvSpPr txBox="1"/>
          <p:nvPr>
            <p:ph idx="1" type="body"/>
          </p:nvPr>
        </p:nvSpPr>
        <p:spPr>
          <a:xfrm>
            <a:off x="628800" y="4149928"/>
            <a:ext cx="30456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-1</a:t>
            </a:r>
            <a:r>
              <a:rPr lang="en-GB" sz="1800">
                <a:latin typeface="Kalam"/>
                <a:ea typeface="Kalam"/>
                <a:cs typeface="Kalam"/>
                <a:sym typeface="Kalam"/>
              </a:rPr>
              <a:t> to -0.5 million km</a:t>
            </a:r>
            <a:r>
              <a:rPr baseline="30000" lang="en-GB" sz="1800">
                <a:latin typeface="Kalam"/>
                <a:ea typeface="Kalam"/>
                <a:cs typeface="Kalam"/>
                <a:sym typeface="Kalam"/>
              </a:rPr>
              <a:t>2</a:t>
            </a:r>
            <a:endParaRPr baseline="30000" sz="16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8" name="Shape 2028"/>
        <p:cNvGrpSpPr/>
        <p:nvPr/>
      </p:nvGrpSpPr>
      <p:grpSpPr>
        <a:xfrm>
          <a:off x="0" y="0"/>
          <a:ext cx="0" cy="0"/>
          <a:chOff x="0" y="0"/>
          <a:chExt cx="0" cy="0"/>
        </a:xfrm>
      </p:grpSpPr>
      <p:pic>
        <p:nvPicPr>
          <p:cNvPr id="2029" name="Google Shape;2029;p100"/>
          <p:cNvPicPr preferRelativeResize="0"/>
          <p:nvPr/>
        </p:nvPicPr>
        <p:blipFill>
          <a:blip r:embed="rId3">
            <a:alphaModFix/>
          </a:blip>
          <a:stretch>
            <a:fillRect/>
          </a:stretch>
        </p:blipFill>
        <p:spPr>
          <a:xfrm>
            <a:off x="4414250" y="2570975"/>
            <a:ext cx="4183751" cy="1101225"/>
          </a:xfrm>
          <a:prstGeom prst="rect">
            <a:avLst/>
          </a:prstGeom>
          <a:noFill/>
          <a:ln>
            <a:noFill/>
          </a:ln>
        </p:spPr>
      </p:pic>
      <p:pic>
        <p:nvPicPr>
          <p:cNvPr id="2030" name="Google Shape;2030;p100"/>
          <p:cNvPicPr preferRelativeResize="0"/>
          <p:nvPr/>
        </p:nvPicPr>
        <p:blipFill>
          <a:blip r:embed="rId4">
            <a:alphaModFix/>
          </a:blip>
          <a:stretch>
            <a:fillRect/>
          </a:stretch>
        </p:blipFill>
        <p:spPr>
          <a:xfrm>
            <a:off x="4412643" y="890125"/>
            <a:ext cx="4176851" cy="1101232"/>
          </a:xfrm>
          <a:prstGeom prst="rect">
            <a:avLst/>
          </a:prstGeom>
          <a:noFill/>
          <a:ln>
            <a:noFill/>
          </a:ln>
        </p:spPr>
      </p:pic>
      <p:sp>
        <p:nvSpPr>
          <p:cNvPr id="2031" name="Google Shape;2031;p100"/>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2032" name="Google Shape;2032;p100"/>
          <p:cNvCxnSpPr/>
          <p:nvPr/>
        </p:nvCxnSpPr>
        <p:spPr>
          <a:xfrm>
            <a:off x="4418712" y="1992501"/>
            <a:ext cx="4339800" cy="0"/>
          </a:xfrm>
          <a:prstGeom prst="straightConnector1">
            <a:avLst/>
          </a:prstGeom>
          <a:noFill/>
          <a:ln cap="flat" cmpd="sng" w="28575">
            <a:solidFill>
              <a:schemeClr val="dk1"/>
            </a:solidFill>
            <a:prstDash val="solid"/>
            <a:round/>
            <a:headEnd len="med" w="med" type="none"/>
            <a:tailEnd len="med" w="med" type="triangle"/>
          </a:ln>
        </p:spPr>
      </p:cxnSp>
      <p:cxnSp>
        <p:nvCxnSpPr>
          <p:cNvPr id="2033" name="Google Shape;2033;p100"/>
          <p:cNvCxnSpPr/>
          <p:nvPr/>
        </p:nvCxnSpPr>
        <p:spPr>
          <a:xfrm rot="10800000">
            <a:off x="4415119" y="689252"/>
            <a:ext cx="0" cy="1308900"/>
          </a:xfrm>
          <a:prstGeom prst="straightConnector1">
            <a:avLst/>
          </a:prstGeom>
          <a:noFill/>
          <a:ln cap="flat" cmpd="sng" w="28575">
            <a:solidFill>
              <a:schemeClr val="dk1"/>
            </a:solidFill>
            <a:prstDash val="solid"/>
            <a:round/>
            <a:headEnd len="med" w="med" type="none"/>
            <a:tailEnd len="med" w="med" type="triangle"/>
          </a:ln>
        </p:spPr>
      </p:cxnSp>
      <p:sp>
        <p:nvSpPr>
          <p:cNvPr id="2034" name="Google Shape;2034;p100"/>
          <p:cNvSpPr txBox="1"/>
          <p:nvPr>
            <p:ph idx="1" type="body"/>
          </p:nvPr>
        </p:nvSpPr>
        <p:spPr>
          <a:xfrm>
            <a:off x="4671163" y="2030823"/>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2035" name="Google Shape;2035;p100"/>
          <p:cNvSpPr txBox="1"/>
          <p:nvPr>
            <p:ph idx="1" type="body"/>
          </p:nvPr>
        </p:nvSpPr>
        <p:spPr>
          <a:xfrm>
            <a:off x="4972830"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2036" name="Google Shape;2036;p100"/>
          <p:cNvSpPr txBox="1"/>
          <p:nvPr>
            <p:ph idx="1" type="body"/>
          </p:nvPr>
        </p:nvSpPr>
        <p:spPr>
          <a:xfrm>
            <a:off x="5425480" y="2030823"/>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037" name="Google Shape;2037;p100"/>
          <p:cNvSpPr txBox="1"/>
          <p:nvPr>
            <p:ph idx="1" type="body"/>
          </p:nvPr>
        </p:nvSpPr>
        <p:spPr>
          <a:xfrm>
            <a:off x="5754464" y="2030823"/>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038" name="Google Shape;2038;p100"/>
          <p:cNvSpPr txBox="1"/>
          <p:nvPr>
            <p:ph idx="1" type="body"/>
          </p:nvPr>
        </p:nvSpPr>
        <p:spPr>
          <a:xfrm>
            <a:off x="6188272" y="20308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039" name="Google Shape;2039;p100"/>
          <p:cNvSpPr txBox="1"/>
          <p:nvPr>
            <p:ph idx="1" type="body"/>
          </p:nvPr>
        </p:nvSpPr>
        <p:spPr>
          <a:xfrm>
            <a:off x="6492137"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040" name="Google Shape;2040;p100"/>
          <p:cNvSpPr txBox="1"/>
          <p:nvPr>
            <p:ph idx="1" type="body"/>
          </p:nvPr>
        </p:nvSpPr>
        <p:spPr>
          <a:xfrm>
            <a:off x="7018173" y="20308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2041" name="Google Shape;2041;p100"/>
          <p:cNvSpPr txBox="1"/>
          <p:nvPr>
            <p:ph idx="1" type="body"/>
          </p:nvPr>
        </p:nvSpPr>
        <p:spPr>
          <a:xfrm>
            <a:off x="7328322"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042" name="Google Shape;2042;p100"/>
          <p:cNvSpPr txBox="1"/>
          <p:nvPr>
            <p:ph idx="1" type="body"/>
          </p:nvPr>
        </p:nvSpPr>
        <p:spPr>
          <a:xfrm>
            <a:off x="7778035" y="2030823"/>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043" name="Google Shape;2043;p100"/>
          <p:cNvSpPr txBox="1"/>
          <p:nvPr>
            <p:ph idx="1" type="body"/>
          </p:nvPr>
        </p:nvSpPr>
        <p:spPr>
          <a:xfrm>
            <a:off x="8093043" y="2030823"/>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044" name="Google Shape;2044;p100"/>
          <p:cNvSpPr txBox="1"/>
          <p:nvPr>
            <p:ph idx="1" type="body"/>
          </p:nvPr>
        </p:nvSpPr>
        <p:spPr>
          <a:xfrm>
            <a:off x="8529382"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045" name="Google Shape;2045;p100"/>
          <p:cNvSpPr txBox="1"/>
          <p:nvPr>
            <p:ph idx="1" type="body"/>
          </p:nvPr>
        </p:nvSpPr>
        <p:spPr>
          <a:xfrm>
            <a:off x="4221562" y="1883567"/>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2046" name="Google Shape;2046;p100"/>
          <p:cNvSpPr txBox="1"/>
          <p:nvPr>
            <p:ph idx="1" type="body"/>
          </p:nvPr>
        </p:nvSpPr>
        <p:spPr>
          <a:xfrm>
            <a:off x="4104345" y="150654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2047" name="Google Shape;2047;p100"/>
          <p:cNvSpPr txBox="1"/>
          <p:nvPr>
            <p:ph idx="1" type="body"/>
          </p:nvPr>
        </p:nvSpPr>
        <p:spPr>
          <a:xfrm>
            <a:off x="4018890" y="114068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2048" name="Google Shape;2048;p100"/>
          <p:cNvSpPr txBox="1"/>
          <p:nvPr>
            <p:ph idx="1" type="body"/>
          </p:nvPr>
        </p:nvSpPr>
        <p:spPr>
          <a:xfrm>
            <a:off x="4018865" y="7939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2049" name="Google Shape;2049;p100"/>
          <p:cNvSpPr txBox="1"/>
          <p:nvPr>
            <p:ph idx="1" type="body"/>
          </p:nvPr>
        </p:nvSpPr>
        <p:spPr>
          <a:xfrm>
            <a:off x="5785062" y="741421"/>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1979 to 2001</a:t>
            </a:r>
            <a:endParaRPr sz="1600">
              <a:highlight>
                <a:schemeClr val="lt1"/>
              </a:highlight>
            </a:endParaRPr>
          </a:p>
        </p:txBody>
      </p:sp>
      <p:sp>
        <p:nvSpPr>
          <p:cNvPr id="2050" name="Google Shape;2050;p100"/>
          <p:cNvSpPr txBox="1"/>
          <p:nvPr>
            <p:ph idx="1" type="body"/>
          </p:nvPr>
        </p:nvSpPr>
        <p:spPr>
          <a:xfrm rot="-5400000">
            <a:off x="3235991" y="1164603"/>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cxnSp>
        <p:nvCxnSpPr>
          <p:cNvPr id="2051" name="Google Shape;2051;p100"/>
          <p:cNvCxnSpPr/>
          <p:nvPr/>
        </p:nvCxnSpPr>
        <p:spPr>
          <a:xfrm>
            <a:off x="4418712" y="3668901"/>
            <a:ext cx="4339800" cy="0"/>
          </a:xfrm>
          <a:prstGeom prst="straightConnector1">
            <a:avLst/>
          </a:prstGeom>
          <a:noFill/>
          <a:ln cap="flat" cmpd="sng" w="28575">
            <a:solidFill>
              <a:schemeClr val="dk1"/>
            </a:solidFill>
            <a:prstDash val="solid"/>
            <a:round/>
            <a:headEnd len="med" w="med" type="none"/>
            <a:tailEnd len="med" w="med" type="triangle"/>
          </a:ln>
        </p:spPr>
      </p:cxnSp>
      <p:cxnSp>
        <p:nvCxnSpPr>
          <p:cNvPr id="2052" name="Google Shape;2052;p100"/>
          <p:cNvCxnSpPr/>
          <p:nvPr/>
        </p:nvCxnSpPr>
        <p:spPr>
          <a:xfrm rot="10800000">
            <a:off x="4415119" y="2365652"/>
            <a:ext cx="0" cy="1308900"/>
          </a:xfrm>
          <a:prstGeom prst="straightConnector1">
            <a:avLst/>
          </a:prstGeom>
          <a:noFill/>
          <a:ln cap="flat" cmpd="sng" w="28575">
            <a:solidFill>
              <a:schemeClr val="dk1"/>
            </a:solidFill>
            <a:prstDash val="solid"/>
            <a:round/>
            <a:headEnd len="med" w="med" type="none"/>
            <a:tailEnd len="med" w="med" type="triangle"/>
          </a:ln>
        </p:spPr>
      </p:cxnSp>
      <p:sp>
        <p:nvSpPr>
          <p:cNvPr id="2053" name="Google Shape;2053;p100"/>
          <p:cNvSpPr txBox="1"/>
          <p:nvPr>
            <p:ph idx="1" type="body"/>
          </p:nvPr>
        </p:nvSpPr>
        <p:spPr>
          <a:xfrm>
            <a:off x="4671163" y="3707223"/>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2054" name="Google Shape;2054;p100"/>
          <p:cNvSpPr txBox="1"/>
          <p:nvPr>
            <p:ph idx="1" type="body"/>
          </p:nvPr>
        </p:nvSpPr>
        <p:spPr>
          <a:xfrm>
            <a:off x="4972830"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2055" name="Google Shape;2055;p100"/>
          <p:cNvSpPr txBox="1"/>
          <p:nvPr>
            <p:ph idx="1" type="body"/>
          </p:nvPr>
        </p:nvSpPr>
        <p:spPr>
          <a:xfrm>
            <a:off x="5425480" y="3707223"/>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056" name="Google Shape;2056;p100"/>
          <p:cNvSpPr txBox="1"/>
          <p:nvPr>
            <p:ph idx="1" type="body"/>
          </p:nvPr>
        </p:nvSpPr>
        <p:spPr>
          <a:xfrm>
            <a:off x="5754464" y="3707223"/>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057" name="Google Shape;2057;p100"/>
          <p:cNvSpPr txBox="1"/>
          <p:nvPr>
            <p:ph idx="1" type="body"/>
          </p:nvPr>
        </p:nvSpPr>
        <p:spPr>
          <a:xfrm>
            <a:off x="6188272" y="37072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058" name="Google Shape;2058;p100"/>
          <p:cNvSpPr txBox="1"/>
          <p:nvPr>
            <p:ph idx="1" type="body"/>
          </p:nvPr>
        </p:nvSpPr>
        <p:spPr>
          <a:xfrm>
            <a:off x="6492137"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059" name="Google Shape;2059;p100"/>
          <p:cNvSpPr txBox="1"/>
          <p:nvPr>
            <p:ph idx="1" type="body"/>
          </p:nvPr>
        </p:nvSpPr>
        <p:spPr>
          <a:xfrm>
            <a:off x="7018173" y="37072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2060" name="Google Shape;2060;p100"/>
          <p:cNvSpPr txBox="1"/>
          <p:nvPr>
            <p:ph idx="1" type="body"/>
          </p:nvPr>
        </p:nvSpPr>
        <p:spPr>
          <a:xfrm>
            <a:off x="7328322"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061" name="Google Shape;2061;p100"/>
          <p:cNvSpPr txBox="1"/>
          <p:nvPr>
            <p:ph idx="1" type="body"/>
          </p:nvPr>
        </p:nvSpPr>
        <p:spPr>
          <a:xfrm>
            <a:off x="7778035" y="3707223"/>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062" name="Google Shape;2062;p100"/>
          <p:cNvSpPr txBox="1"/>
          <p:nvPr>
            <p:ph idx="1" type="body"/>
          </p:nvPr>
        </p:nvSpPr>
        <p:spPr>
          <a:xfrm>
            <a:off x="8093043" y="3707223"/>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063" name="Google Shape;2063;p100"/>
          <p:cNvSpPr txBox="1"/>
          <p:nvPr>
            <p:ph idx="1" type="body"/>
          </p:nvPr>
        </p:nvSpPr>
        <p:spPr>
          <a:xfrm>
            <a:off x="8529382"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064" name="Google Shape;2064;p100"/>
          <p:cNvSpPr txBox="1"/>
          <p:nvPr>
            <p:ph idx="1" type="body"/>
          </p:nvPr>
        </p:nvSpPr>
        <p:spPr>
          <a:xfrm>
            <a:off x="4221562" y="3559967"/>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2065" name="Google Shape;2065;p100"/>
          <p:cNvSpPr txBox="1"/>
          <p:nvPr>
            <p:ph idx="1" type="body"/>
          </p:nvPr>
        </p:nvSpPr>
        <p:spPr>
          <a:xfrm>
            <a:off x="4104345" y="318294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2066" name="Google Shape;2066;p100"/>
          <p:cNvSpPr txBox="1"/>
          <p:nvPr>
            <p:ph idx="1" type="body"/>
          </p:nvPr>
        </p:nvSpPr>
        <p:spPr>
          <a:xfrm>
            <a:off x="4018890" y="281708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2067" name="Google Shape;2067;p100"/>
          <p:cNvSpPr txBox="1"/>
          <p:nvPr>
            <p:ph idx="1" type="body"/>
          </p:nvPr>
        </p:nvSpPr>
        <p:spPr>
          <a:xfrm>
            <a:off x="4018865" y="24703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2068" name="Google Shape;2068;p100"/>
          <p:cNvSpPr txBox="1"/>
          <p:nvPr>
            <p:ph idx="1" type="body"/>
          </p:nvPr>
        </p:nvSpPr>
        <p:spPr>
          <a:xfrm>
            <a:off x="5861262" y="2417821"/>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2002 to 2024</a:t>
            </a:r>
            <a:endParaRPr sz="1600">
              <a:highlight>
                <a:schemeClr val="lt1"/>
              </a:highlight>
            </a:endParaRPr>
          </a:p>
        </p:txBody>
      </p:sp>
      <p:sp>
        <p:nvSpPr>
          <p:cNvPr id="2069" name="Google Shape;2069;p100"/>
          <p:cNvSpPr txBox="1"/>
          <p:nvPr>
            <p:ph idx="1" type="body"/>
          </p:nvPr>
        </p:nvSpPr>
        <p:spPr>
          <a:xfrm rot="-5400000">
            <a:off x="3235991" y="2841003"/>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2070" name="Google Shape;2070;p100"/>
          <p:cNvSpPr txBox="1"/>
          <p:nvPr>
            <p:ph idx="1" type="body"/>
          </p:nvPr>
        </p:nvSpPr>
        <p:spPr>
          <a:xfrm>
            <a:off x="4196925" y="4002996"/>
            <a:ext cx="4339800" cy="8280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600"/>
              <a:t>monthly Arctic sea ice extent expressed as a difference from the 1981-2010 average for each month separately (million km</a:t>
            </a:r>
            <a:r>
              <a:rPr baseline="30000" lang="en-GB" sz="1700"/>
              <a:t>2</a:t>
            </a:r>
            <a:r>
              <a:rPr lang="en-GB" sz="1600"/>
              <a:t>)</a:t>
            </a:r>
            <a:endParaRPr sz="1600"/>
          </a:p>
        </p:txBody>
      </p:sp>
      <p:sp>
        <p:nvSpPr>
          <p:cNvPr id="2071" name="Google Shape;2071;p100"/>
          <p:cNvSpPr txBox="1"/>
          <p:nvPr>
            <p:ph idx="1" type="body"/>
          </p:nvPr>
        </p:nvSpPr>
        <p:spPr>
          <a:xfrm>
            <a:off x="324000" y="810000"/>
            <a:ext cx="30456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c) Did the extent of sea ice generally increase or decrease between the two periods of time? Explain your answer.</a:t>
            </a:r>
            <a:endParaRPr sz="1400"/>
          </a:p>
        </p:txBody>
      </p:sp>
      <p:sp>
        <p:nvSpPr>
          <p:cNvPr id="2072" name="Google Shape;2072;p100"/>
          <p:cNvSpPr txBox="1"/>
          <p:nvPr>
            <p:ph idx="1" type="body"/>
          </p:nvPr>
        </p:nvSpPr>
        <p:spPr>
          <a:xfrm>
            <a:off x="324000" y="2105400"/>
            <a:ext cx="2992800" cy="1233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The extent of sea ice is generally less for 2002 to 2024 than for 1979 to 2001, so it generally decreased.</a:t>
            </a:r>
            <a:endParaRPr baseline="30000" sz="1600">
              <a:latin typeface="Kalam"/>
              <a:ea typeface="Kalam"/>
              <a:cs typeface="Kalam"/>
              <a:sym typeface="Kalam"/>
            </a:endParaRPr>
          </a:p>
        </p:txBody>
      </p:sp>
      <p:sp>
        <p:nvSpPr>
          <p:cNvPr id="2073" name="Google Shape;2073;p100"/>
          <p:cNvSpPr txBox="1"/>
          <p:nvPr>
            <p:ph idx="1" type="body"/>
          </p:nvPr>
        </p:nvSpPr>
        <p:spPr>
          <a:xfrm>
            <a:off x="324000" y="3477000"/>
            <a:ext cx="3180600" cy="104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E.g. explanation:</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The modal class is lower for 2002-2024 than for 1979-2001.</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7" name="Shape 2077"/>
        <p:cNvGrpSpPr/>
        <p:nvPr/>
      </p:nvGrpSpPr>
      <p:grpSpPr>
        <a:xfrm>
          <a:off x="0" y="0"/>
          <a:ext cx="0" cy="0"/>
          <a:chOff x="0" y="0"/>
          <a:chExt cx="0" cy="0"/>
        </a:xfrm>
      </p:grpSpPr>
      <p:pic>
        <p:nvPicPr>
          <p:cNvPr id="2078" name="Google Shape;2078;p101"/>
          <p:cNvPicPr preferRelativeResize="0"/>
          <p:nvPr/>
        </p:nvPicPr>
        <p:blipFill>
          <a:blip r:embed="rId3">
            <a:alphaModFix/>
          </a:blip>
          <a:stretch>
            <a:fillRect/>
          </a:stretch>
        </p:blipFill>
        <p:spPr>
          <a:xfrm>
            <a:off x="4414250" y="2570975"/>
            <a:ext cx="4183751" cy="1101225"/>
          </a:xfrm>
          <a:prstGeom prst="rect">
            <a:avLst/>
          </a:prstGeom>
          <a:noFill/>
          <a:ln>
            <a:noFill/>
          </a:ln>
        </p:spPr>
      </p:pic>
      <p:pic>
        <p:nvPicPr>
          <p:cNvPr id="2079" name="Google Shape;2079;p101"/>
          <p:cNvPicPr preferRelativeResize="0"/>
          <p:nvPr/>
        </p:nvPicPr>
        <p:blipFill>
          <a:blip r:embed="rId4">
            <a:alphaModFix/>
          </a:blip>
          <a:stretch>
            <a:fillRect/>
          </a:stretch>
        </p:blipFill>
        <p:spPr>
          <a:xfrm>
            <a:off x="4412643" y="890125"/>
            <a:ext cx="4176851" cy="1101232"/>
          </a:xfrm>
          <a:prstGeom prst="rect">
            <a:avLst/>
          </a:prstGeom>
          <a:noFill/>
          <a:ln>
            <a:noFill/>
          </a:ln>
        </p:spPr>
      </p:pic>
      <p:sp>
        <p:nvSpPr>
          <p:cNvPr id="2080" name="Google Shape;2080;p101"/>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2081" name="Google Shape;2081;p101"/>
          <p:cNvCxnSpPr/>
          <p:nvPr/>
        </p:nvCxnSpPr>
        <p:spPr>
          <a:xfrm>
            <a:off x="4418712" y="1992501"/>
            <a:ext cx="4339800" cy="0"/>
          </a:xfrm>
          <a:prstGeom prst="straightConnector1">
            <a:avLst/>
          </a:prstGeom>
          <a:noFill/>
          <a:ln cap="flat" cmpd="sng" w="28575">
            <a:solidFill>
              <a:schemeClr val="dk1"/>
            </a:solidFill>
            <a:prstDash val="solid"/>
            <a:round/>
            <a:headEnd len="med" w="med" type="none"/>
            <a:tailEnd len="med" w="med" type="triangle"/>
          </a:ln>
        </p:spPr>
      </p:cxnSp>
      <p:cxnSp>
        <p:nvCxnSpPr>
          <p:cNvPr id="2082" name="Google Shape;2082;p101"/>
          <p:cNvCxnSpPr/>
          <p:nvPr/>
        </p:nvCxnSpPr>
        <p:spPr>
          <a:xfrm rot="10800000">
            <a:off x="4415119" y="689252"/>
            <a:ext cx="0" cy="1308900"/>
          </a:xfrm>
          <a:prstGeom prst="straightConnector1">
            <a:avLst/>
          </a:prstGeom>
          <a:noFill/>
          <a:ln cap="flat" cmpd="sng" w="28575">
            <a:solidFill>
              <a:schemeClr val="dk1"/>
            </a:solidFill>
            <a:prstDash val="solid"/>
            <a:round/>
            <a:headEnd len="med" w="med" type="none"/>
            <a:tailEnd len="med" w="med" type="triangle"/>
          </a:ln>
        </p:spPr>
      </p:cxnSp>
      <p:sp>
        <p:nvSpPr>
          <p:cNvPr id="2083" name="Google Shape;2083;p101"/>
          <p:cNvSpPr txBox="1"/>
          <p:nvPr>
            <p:ph idx="1" type="body"/>
          </p:nvPr>
        </p:nvSpPr>
        <p:spPr>
          <a:xfrm>
            <a:off x="4671163" y="2030823"/>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2084" name="Google Shape;2084;p101"/>
          <p:cNvSpPr txBox="1"/>
          <p:nvPr>
            <p:ph idx="1" type="body"/>
          </p:nvPr>
        </p:nvSpPr>
        <p:spPr>
          <a:xfrm>
            <a:off x="4972830"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2085" name="Google Shape;2085;p101"/>
          <p:cNvSpPr txBox="1"/>
          <p:nvPr>
            <p:ph idx="1" type="body"/>
          </p:nvPr>
        </p:nvSpPr>
        <p:spPr>
          <a:xfrm>
            <a:off x="5425480" y="2030823"/>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086" name="Google Shape;2086;p101"/>
          <p:cNvSpPr txBox="1"/>
          <p:nvPr>
            <p:ph idx="1" type="body"/>
          </p:nvPr>
        </p:nvSpPr>
        <p:spPr>
          <a:xfrm>
            <a:off x="5754464" y="2030823"/>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087" name="Google Shape;2087;p101"/>
          <p:cNvSpPr txBox="1"/>
          <p:nvPr>
            <p:ph idx="1" type="body"/>
          </p:nvPr>
        </p:nvSpPr>
        <p:spPr>
          <a:xfrm>
            <a:off x="6188272" y="20308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088" name="Google Shape;2088;p101"/>
          <p:cNvSpPr txBox="1"/>
          <p:nvPr>
            <p:ph idx="1" type="body"/>
          </p:nvPr>
        </p:nvSpPr>
        <p:spPr>
          <a:xfrm>
            <a:off x="6492137"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089" name="Google Shape;2089;p101"/>
          <p:cNvSpPr txBox="1"/>
          <p:nvPr>
            <p:ph idx="1" type="body"/>
          </p:nvPr>
        </p:nvSpPr>
        <p:spPr>
          <a:xfrm>
            <a:off x="7018173" y="20308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2090" name="Google Shape;2090;p101"/>
          <p:cNvSpPr txBox="1"/>
          <p:nvPr>
            <p:ph idx="1" type="body"/>
          </p:nvPr>
        </p:nvSpPr>
        <p:spPr>
          <a:xfrm>
            <a:off x="7328322"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091" name="Google Shape;2091;p101"/>
          <p:cNvSpPr txBox="1"/>
          <p:nvPr>
            <p:ph idx="1" type="body"/>
          </p:nvPr>
        </p:nvSpPr>
        <p:spPr>
          <a:xfrm>
            <a:off x="7778035" y="2030823"/>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092" name="Google Shape;2092;p101"/>
          <p:cNvSpPr txBox="1"/>
          <p:nvPr>
            <p:ph idx="1" type="body"/>
          </p:nvPr>
        </p:nvSpPr>
        <p:spPr>
          <a:xfrm>
            <a:off x="8093043" y="2030823"/>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093" name="Google Shape;2093;p101"/>
          <p:cNvSpPr txBox="1"/>
          <p:nvPr>
            <p:ph idx="1" type="body"/>
          </p:nvPr>
        </p:nvSpPr>
        <p:spPr>
          <a:xfrm>
            <a:off x="8529382" y="20308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094" name="Google Shape;2094;p101"/>
          <p:cNvSpPr txBox="1"/>
          <p:nvPr>
            <p:ph idx="1" type="body"/>
          </p:nvPr>
        </p:nvSpPr>
        <p:spPr>
          <a:xfrm>
            <a:off x="4221562" y="1883567"/>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2095" name="Google Shape;2095;p101"/>
          <p:cNvSpPr txBox="1"/>
          <p:nvPr>
            <p:ph idx="1" type="body"/>
          </p:nvPr>
        </p:nvSpPr>
        <p:spPr>
          <a:xfrm>
            <a:off x="4104345" y="150654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2096" name="Google Shape;2096;p101"/>
          <p:cNvSpPr txBox="1"/>
          <p:nvPr>
            <p:ph idx="1" type="body"/>
          </p:nvPr>
        </p:nvSpPr>
        <p:spPr>
          <a:xfrm>
            <a:off x="4018890" y="114068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2097" name="Google Shape;2097;p101"/>
          <p:cNvSpPr txBox="1"/>
          <p:nvPr>
            <p:ph idx="1" type="body"/>
          </p:nvPr>
        </p:nvSpPr>
        <p:spPr>
          <a:xfrm>
            <a:off x="4018865" y="7939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2098" name="Google Shape;2098;p101"/>
          <p:cNvSpPr txBox="1"/>
          <p:nvPr>
            <p:ph idx="1" type="body"/>
          </p:nvPr>
        </p:nvSpPr>
        <p:spPr>
          <a:xfrm>
            <a:off x="5785062" y="741421"/>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1979 to 2001</a:t>
            </a:r>
            <a:endParaRPr sz="1600">
              <a:highlight>
                <a:schemeClr val="lt1"/>
              </a:highlight>
            </a:endParaRPr>
          </a:p>
        </p:txBody>
      </p:sp>
      <p:sp>
        <p:nvSpPr>
          <p:cNvPr id="2099" name="Google Shape;2099;p101"/>
          <p:cNvSpPr txBox="1"/>
          <p:nvPr>
            <p:ph idx="1" type="body"/>
          </p:nvPr>
        </p:nvSpPr>
        <p:spPr>
          <a:xfrm rot="-5400000">
            <a:off x="3235991" y="1164603"/>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cxnSp>
        <p:nvCxnSpPr>
          <p:cNvPr id="2100" name="Google Shape;2100;p101"/>
          <p:cNvCxnSpPr/>
          <p:nvPr/>
        </p:nvCxnSpPr>
        <p:spPr>
          <a:xfrm>
            <a:off x="4418712" y="3668901"/>
            <a:ext cx="4339800" cy="0"/>
          </a:xfrm>
          <a:prstGeom prst="straightConnector1">
            <a:avLst/>
          </a:prstGeom>
          <a:noFill/>
          <a:ln cap="flat" cmpd="sng" w="28575">
            <a:solidFill>
              <a:schemeClr val="dk1"/>
            </a:solidFill>
            <a:prstDash val="solid"/>
            <a:round/>
            <a:headEnd len="med" w="med" type="none"/>
            <a:tailEnd len="med" w="med" type="triangle"/>
          </a:ln>
        </p:spPr>
      </p:cxnSp>
      <p:cxnSp>
        <p:nvCxnSpPr>
          <p:cNvPr id="2101" name="Google Shape;2101;p101"/>
          <p:cNvCxnSpPr/>
          <p:nvPr/>
        </p:nvCxnSpPr>
        <p:spPr>
          <a:xfrm rot="10800000">
            <a:off x="4415119" y="2365652"/>
            <a:ext cx="0" cy="1308900"/>
          </a:xfrm>
          <a:prstGeom prst="straightConnector1">
            <a:avLst/>
          </a:prstGeom>
          <a:noFill/>
          <a:ln cap="flat" cmpd="sng" w="28575">
            <a:solidFill>
              <a:schemeClr val="dk1"/>
            </a:solidFill>
            <a:prstDash val="solid"/>
            <a:round/>
            <a:headEnd len="med" w="med" type="none"/>
            <a:tailEnd len="med" w="med" type="triangle"/>
          </a:ln>
        </p:spPr>
      </p:cxnSp>
      <p:sp>
        <p:nvSpPr>
          <p:cNvPr id="2102" name="Google Shape;2102;p101"/>
          <p:cNvSpPr txBox="1"/>
          <p:nvPr>
            <p:ph idx="1" type="body"/>
          </p:nvPr>
        </p:nvSpPr>
        <p:spPr>
          <a:xfrm>
            <a:off x="4671163" y="3707223"/>
            <a:ext cx="2352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-3</a:t>
            </a:r>
            <a:endParaRPr sz="1500"/>
          </a:p>
        </p:txBody>
      </p:sp>
      <p:sp>
        <p:nvSpPr>
          <p:cNvPr id="2103" name="Google Shape;2103;p101"/>
          <p:cNvSpPr txBox="1"/>
          <p:nvPr>
            <p:ph idx="1" type="body"/>
          </p:nvPr>
        </p:nvSpPr>
        <p:spPr>
          <a:xfrm>
            <a:off x="4972830"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-2.5</a:t>
            </a:r>
            <a:endParaRPr sz="1500"/>
          </a:p>
        </p:txBody>
      </p:sp>
      <p:sp>
        <p:nvSpPr>
          <p:cNvPr id="2104" name="Google Shape;2104;p101"/>
          <p:cNvSpPr txBox="1"/>
          <p:nvPr>
            <p:ph idx="1" type="body"/>
          </p:nvPr>
        </p:nvSpPr>
        <p:spPr>
          <a:xfrm>
            <a:off x="5425480" y="3707223"/>
            <a:ext cx="2400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105" name="Google Shape;2105;p101"/>
          <p:cNvSpPr txBox="1"/>
          <p:nvPr>
            <p:ph idx="1" type="body"/>
          </p:nvPr>
        </p:nvSpPr>
        <p:spPr>
          <a:xfrm>
            <a:off x="5754464" y="3707223"/>
            <a:ext cx="411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106" name="Google Shape;2106;p101"/>
          <p:cNvSpPr txBox="1"/>
          <p:nvPr>
            <p:ph idx="1" type="body"/>
          </p:nvPr>
        </p:nvSpPr>
        <p:spPr>
          <a:xfrm>
            <a:off x="6188272" y="37072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107" name="Google Shape;2107;p101"/>
          <p:cNvSpPr txBox="1"/>
          <p:nvPr>
            <p:ph idx="1" type="body"/>
          </p:nvPr>
        </p:nvSpPr>
        <p:spPr>
          <a:xfrm>
            <a:off x="6492137"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108" name="Google Shape;2108;p101"/>
          <p:cNvSpPr txBox="1"/>
          <p:nvPr>
            <p:ph idx="1" type="body"/>
          </p:nvPr>
        </p:nvSpPr>
        <p:spPr>
          <a:xfrm>
            <a:off x="7018173" y="3707223"/>
            <a:ext cx="1953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a:t>
            </a:r>
            <a:endParaRPr sz="1500"/>
          </a:p>
        </p:txBody>
      </p:sp>
      <p:sp>
        <p:nvSpPr>
          <p:cNvPr id="2109" name="Google Shape;2109;p101"/>
          <p:cNvSpPr txBox="1"/>
          <p:nvPr>
            <p:ph idx="1" type="body"/>
          </p:nvPr>
        </p:nvSpPr>
        <p:spPr>
          <a:xfrm>
            <a:off x="7328322"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0.5</a:t>
            </a:r>
            <a:endParaRPr sz="1500"/>
          </a:p>
        </p:txBody>
      </p:sp>
      <p:sp>
        <p:nvSpPr>
          <p:cNvPr id="2110" name="Google Shape;2110;p101"/>
          <p:cNvSpPr txBox="1"/>
          <p:nvPr>
            <p:ph idx="1" type="body"/>
          </p:nvPr>
        </p:nvSpPr>
        <p:spPr>
          <a:xfrm>
            <a:off x="7778035" y="3707223"/>
            <a:ext cx="1299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a:t>
            </a:r>
            <a:endParaRPr sz="1500"/>
          </a:p>
        </p:txBody>
      </p:sp>
      <p:sp>
        <p:nvSpPr>
          <p:cNvPr id="2111" name="Google Shape;2111;p101"/>
          <p:cNvSpPr txBox="1"/>
          <p:nvPr>
            <p:ph idx="1" type="body"/>
          </p:nvPr>
        </p:nvSpPr>
        <p:spPr>
          <a:xfrm>
            <a:off x="8093043" y="3707223"/>
            <a:ext cx="2937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1.5</a:t>
            </a:r>
            <a:endParaRPr sz="1500"/>
          </a:p>
        </p:txBody>
      </p:sp>
      <p:sp>
        <p:nvSpPr>
          <p:cNvPr id="2112" name="Google Shape;2112;p101"/>
          <p:cNvSpPr txBox="1"/>
          <p:nvPr>
            <p:ph idx="1" type="body"/>
          </p:nvPr>
        </p:nvSpPr>
        <p:spPr>
          <a:xfrm>
            <a:off x="8529382" y="3707228"/>
            <a:ext cx="427500" cy="231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500"/>
              <a:t>2</a:t>
            </a:r>
            <a:endParaRPr sz="1500"/>
          </a:p>
        </p:txBody>
      </p:sp>
      <p:sp>
        <p:nvSpPr>
          <p:cNvPr id="2113" name="Google Shape;2113;p101"/>
          <p:cNvSpPr txBox="1"/>
          <p:nvPr>
            <p:ph idx="1" type="body"/>
          </p:nvPr>
        </p:nvSpPr>
        <p:spPr>
          <a:xfrm>
            <a:off x="4221562" y="3559967"/>
            <a:ext cx="153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0</a:t>
            </a:r>
            <a:endParaRPr sz="1500"/>
          </a:p>
        </p:txBody>
      </p:sp>
      <p:sp>
        <p:nvSpPr>
          <p:cNvPr id="2114" name="Google Shape;2114;p101"/>
          <p:cNvSpPr txBox="1"/>
          <p:nvPr>
            <p:ph idx="1" type="body"/>
          </p:nvPr>
        </p:nvSpPr>
        <p:spPr>
          <a:xfrm>
            <a:off x="4104345" y="3182942"/>
            <a:ext cx="2703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50</a:t>
            </a:r>
            <a:endParaRPr sz="1500"/>
          </a:p>
        </p:txBody>
      </p:sp>
      <p:sp>
        <p:nvSpPr>
          <p:cNvPr id="2115" name="Google Shape;2115;p101"/>
          <p:cNvSpPr txBox="1"/>
          <p:nvPr>
            <p:ph idx="1" type="body"/>
          </p:nvPr>
        </p:nvSpPr>
        <p:spPr>
          <a:xfrm>
            <a:off x="4018890" y="2817087"/>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100</a:t>
            </a:r>
            <a:endParaRPr sz="1500"/>
          </a:p>
        </p:txBody>
      </p:sp>
      <p:sp>
        <p:nvSpPr>
          <p:cNvPr id="2116" name="Google Shape;2116;p101"/>
          <p:cNvSpPr txBox="1"/>
          <p:nvPr>
            <p:ph idx="1" type="body"/>
          </p:nvPr>
        </p:nvSpPr>
        <p:spPr>
          <a:xfrm>
            <a:off x="4018865" y="2470359"/>
            <a:ext cx="355800" cy="2310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500"/>
              <a:t>150</a:t>
            </a:r>
            <a:endParaRPr sz="1500"/>
          </a:p>
        </p:txBody>
      </p:sp>
      <p:sp>
        <p:nvSpPr>
          <p:cNvPr id="2117" name="Google Shape;2117;p101"/>
          <p:cNvSpPr txBox="1"/>
          <p:nvPr>
            <p:ph idx="1" type="body"/>
          </p:nvPr>
        </p:nvSpPr>
        <p:spPr>
          <a:xfrm>
            <a:off x="5861262" y="2417821"/>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2002 to 2024</a:t>
            </a:r>
            <a:endParaRPr sz="1600">
              <a:highlight>
                <a:schemeClr val="lt1"/>
              </a:highlight>
            </a:endParaRPr>
          </a:p>
        </p:txBody>
      </p:sp>
      <p:sp>
        <p:nvSpPr>
          <p:cNvPr id="2118" name="Google Shape;2118;p101"/>
          <p:cNvSpPr txBox="1"/>
          <p:nvPr>
            <p:ph idx="1" type="body"/>
          </p:nvPr>
        </p:nvSpPr>
        <p:spPr>
          <a:xfrm rot="-5400000">
            <a:off x="3235991" y="2841003"/>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frequency</a:t>
            </a:r>
            <a:endParaRPr sz="1600"/>
          </a:p>
        </p:txBody>
      </p:sp>
      <p:sp>
        <p:nvSpPr>
          <p:cNvPr id="2119" name="Google Shape;2119;p101"/>
          <p:cNvSpPr txBox="1"/>
          <p:nvPr>
            <p:ph idx="1" type="body"/>
          </p:nvPr>
        </p:nvSpPr>
        <p:spPr>
          <a:xfrm>
            <a:off x="4196925" y="4002996"/>
            <a:ext cx="4339800" cy="8280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600"/>
              <a:t>monthly Arctic sea ice extent expressed as a difference from the 1981-2010 average for each month separately (million km</a:t>
            </a:r>
            <a:r>
              <a:rPr baseline="30000" lang="en-GB" sz="1700"/>
              <a:t>2</a:t>
            </a:r>
            <a:r>
              <a:rPr lang="en-GB" sz="1600"/>
              <a:t>)</a:t>
            </a:r>
            <a:endParaRPr sz="1600"/>
          </a:p>
        </p:txBody>
      </p:sp>
      <p:sp>
        <p:nvSpPr>
          <p:cNvPr id="2120" name="Google Shape;2120;p101"/>
          <p:cNvSpPr txBox="1"/>
          <p:nvPr>
            <p:ph idx="1" type="body"/>
          </p:nvPr>
        </p:nvSpPr>
        <p:spPr>
          <a:xfrm>
            <a:off x="324000" y="810000"/>
            <a:ext cx="30456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c) Did the extent of sea ice generally increase or decrease between the two periods of time? Explain your answer.</a:t>
            </a:r>
            <a:endParaRPr sz="1400"/>
          </a:p>
        </p:txBody>
      </p:sp>
      <p:sp>
        <p:nvSpPr>
          <p:cNvPr id="2121" name="Google Shape;2121;p101"/>
          <p:cNvSpPr txBox="1"/>
          <p:nvPr>
            <p:ph idx="1" type="body"/>
          </p:nvPr>
        </p:nvSpPr>
        <p:spPr>
          <a:xfrm>
            <a:off x="324000" y="2105400"/>
            <a:ext cx="2992800" cy="12330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The extent of sea ice is generally less for 2002 to 2024 than for 1979 to 2001, so it generally decreased.</a:t>
            </a:r>
            <a:endParaRPr baseline="30000" sz="1600">
              <a:latin typeface="Kalam"/>
              <a:ea typeface="Kalam"/>
              <a:cs typeface="Kalam"/>
              <a:sym typeface="Kalam"/>
            </a:endParaRPr>
          </a:p>
        </p:txBody>
      </p:sp>
      <p:sp>
        <p:nvSpPr>
          <p:cNvPr id="2122" name="Google Shape;2122;p101"/>
          <p:cNvSpPr txBox="1"/>
          <p:nvPr>
            <p:ph idx="1" type="body"/>
          </p:nvPr>
        </p:nvSpPr>
        <p:spPr>
          <a:xfrm>
            <a:off x="324000" y="3477000"/>
            <a:ext cx="3694800" cy="136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E.g. explanation:</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The data for 1979 to 2001 is between -1 and 1.5, while the data for 2002 to 2024 is between -2.5 and 0.5</a:t>
            </a:r>
            <a:endParaRPr sz="1800">
              <a:latin typeface="Kalam"/>
              <a:ea typeface="Kalam"/>
              <a:cs typeface="Kalam"/>
              <a:sym typeface="Kala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pic>
        <p:nvPicPr>
          <p:cNvPr id="2127" name="Google Shape;2127;p102"/>
          <p:cNvPicPr preferRelativeResize="0"/>
          <p:nvPr/>
        </p:nvPicPr>
        <p:blipFill>
          <a:blip r:embed="rId3">
            <a:alphaModFix/>
          </a:blip>
          <a:stretch>
            <a:fillRect/>
          </a:stretch>
        </p:blipFill>
        <p:spPr>
          <a:xfrm>
            <a:off x="942194" y="3350225"/>
            <a:ext cx="4176850" cy="822150"/>
          </a:xfrm>
          <a:prstGeom prst="rect">
            <a:avLst/>
          </a:prstGeom>
          <a:noFill/>
          <a:ln>
            <a:noFill/>
          </a:ln>
        </p:spPr>
      </p:pic>
      <p:pic>
        <p:nvPicPr>
          <p:cNvPr id="2128" name="Google Shape;2128;p102"/>
          <p:cNvPicPr preferRelativeResize="0"/>
          <p:nvPr/>
        </p:nvPicPr>
        <p:blipFill>
          <a:blip r:embed="rId4">
            <a:alphaModFix/>
          </a:blip>
          <a:stretch>
            <a:fillRect/>
          </a:stretch>
        </p:blipFill>
        <p:spPr>
          <a:xfrm>
            <a:off x="950169" y="2073625"/>
            <a:ext cx="4162351" cy="822150"/>
          </a:xfrm>
          <a:prstGeom prst="rect">
            <a:avLst/>
          </a:prstGeom>
          <a:noFill/>
          <a:ln>
            <a:noFill/>
          </a:ln>
        </p:spPr>
      </p:pic>
      <p:pic>
        <p:nvPicPr>
          <p:cNvPr id="2129" name="Google Shape;2129;p102"/>
          <p:cNvPicPr preferRelativeResize="0"/>
          <p:nvPr/>
        </p:nvPicPr>
        <p:blipFill>
          <a:blip r:embed="rId5">
            <a:alphaModFix/>
          </a:blip>
          <a:stretch>
            <a:fillRect/>
          </a:stretch>
        </p:blipFill>
        <p:spPr>
          <a:xfrm>
            <a:off x="946200" y="810000"/>
            <a:ext cx="4176850" cy="822150"/>
          </a:xfrm>
          <a:prstGeom prst="rect">
            <a:avLst/>
          </a:prstGeom>
          <a:noFill/>
          <a:ln>
            <a:noFill/>
          </a:ln>
        </p:spPr>
      </p:pic>
      <p:sp>
        <p:nvSpPr>
          <p:cNvPr id="2130" name="Google Shape;2130;p102"/>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2131" name="Google Shape;2131;p102"/>
          <p:cNvCxnSpPr/>
          <p:nvPr/>
        </p:nvCxnSpPr>
        <p:spPr>
          <a:xfrm>
            <a:off x="949798" y="1629644"/>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132" name="Google Shape;2132;p102"/>
          <p:cNvCxnSpPr/>
          <p:nvPr/>
        </p:nvCxnSpPr>
        <p:spPr>
          <a:xfrm rot="10800000">
            <a:off x="946204" y="621895"/>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133" name="Google Shape;2133;p102"/>
          <p:cNvSpPr txBox="1"/>
          <p:nvPr>
            <p:ph idx="1" type="body"/>
          </p:nvPr>
        </p:nvSpPr>
        <p:spPr>
          <a:xfrm>
            <a:off x="1497112"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134" name="Google Shape;2134;p102"/>
          <p:cNvSpPr txBox="1"/>
          <p:nvPr>
            <p:ph idx="1" type="body"/>
          </p:nvPr>
        </p:nvSpPr>
        <p:spPr>
          <a:xfrm>
            <a:off x="1893966" y="1667968"/>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135" name="Google Shape;2135;p102"/>
          <p:cNvSpPr txBox="1"/>
          <p:nvPr>
            <p:ph idx="1" type="body"/>
          </p:nvPr>
        </p:nvSpPr>
        <p:spPr>
          <a:xfrm>
            <a:off x="2271942" y="1667966"/>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136" name="Google Shape;2136;p102"/>
          <p:cNvSpPr txBox="1"/>
          <p:nvPr>
            <p:ph idx="1" type="body"/>
          </p:nvPr>
        </p:nvSpPr>
        <p:spPr>
          <a:xfrm>
            <a:off x="2671735" y="1667968"/>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137" name="Google Shape;2137;p102"/>
          <p:cNvSpPr txBox="1"/>
          <p:nvPr>
            <p:ph idx="1" type="body"/>
          </p:nvPr>
        </p:nvSpPr>
        <p:spPr>
          <a:xfrm>
            <a:off x="3157015"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138" name="Google Shape;2138;p102"/>
          <p:cNvSpPr txBox="1"/>
          <p:nvPr>
            <p:ph idx="1" type="body"/>
          </p:nvPr>
        </p:nvSpPr>
        <p:spPr>
          <a:xfrm>
            <a:off x="3486669" y="1667968"/>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139" name="Google Shape;2139;p102"/>
          <p:cNvSpPr txBox="1"/>
          <p:nvPr>
            <p:ph idx="1" type="body"/>
          </p:nvPr>
        </p:nvSpPr>
        <p:spPr>
          <a:xfrm>
            <a:off x="3866211"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140" name="Google Shape;2140;p102"/>
          <p:cNvSpPr txBox="1"/>
          <p:nvPr>
            <p:ph idx="1" type="body"/>
          </p:nvPr>
        </p:nvSpPr>
        <p:spPr>
          <a:xfrm>
            <a:off x="4239716"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141" name="Google Shape;2141;p102"/>
          <p:cNvSpPr txBox="1"/>
          <p:nvPr>
            <p:ph idx="1" type="body"/>
          </p:nvPr>
        </p:nvSpPr>
        <p:spPr>
          <a:xfrm>
            <a:off x="4624129" y="1667966"/>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142" name="Google Shape;2142;p102"/>
          <p:cNvSpPr txBox="1"/>
          <p:nvPr>
            <p:ph idx="1" type="body"/>
          </p:nvPr>
        </p:nvSpPr>
        <p:spPr>
          <a:xfrm>
            <a:off x="5060468"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143" name="Google Shape;2143;p102"/>
          <p:cNvSpPr txBox="1"/>
          <p:nvPr>
            <p:ph idx="1" type="body"/>
          </p:nvPr>
        </p:nvSpPr>
        <p:spPr>
          <a:xfrm>
            <a:off x="752647" y="1520710"/>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144" name="Google Shape;2144;p102"/>
          <p:cNvSpPr txBox="1"/>
          <p:nvPr>
            <p:ph idx="1" type="body"/>
          </p:nvPr>
        </p:nvSpPr>
        <p:spPr>
          <a:xfrm>
            <a:off x="549975" y="980722"/>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2</a:t>
            </a:r>
            <a:r>
              <a:rPr lang="en-GB" sz="1200"/>
              <a:t>0</a:t>
            </a:r>
            <a:endParaRPr sz="1200"/>
          </a:p>
        </p:txBody>
      </p:sp>
      <p:sp>
        <p:nvSpPr>
          <p:cNvPr id="2145" name="Google Shape;2145;p102"/>
          <p:cNvSpPr txBox="1"/>
          <p:nvPr>
            <p:ph idx="1" type="body"/>
          </p:nvPr>
        </p:nvSpPr>
        <p:spPr>
          <a:xfrm>
            <a:off x="549951" y="72773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3</a:t>
            </a:r>
            <a:r>
              <a:rPr lang="en-GB" sz="1200"/>
              <a:t>0</a:t>
            </a:r>
            <a:endParaRPr sz="1200"/>
          </a:p>
        </p:txBody>
      </p:sp>
      <p:sp>
        <p:nvSpPr>
          <p:cNvPr id="2146" name="Google Shape;2146;p102"/>
          <p:cNvSpPr txBox="1"/>
          <p:nvPr>
            <p:ph idx="1" type="body"/>
          </p:nvPr>
        </p:nvSpPr>
        <p:spPr>
          <a:xfrm>
            <a:off x="635430" y="1260921"/>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a:t>
            </a:r>
            <a:r>
              <a:rPr lang="en-GB" sz="1200"/>
              <a:t>0</a:t>
            </a:r>
            <a:endParaRPr sz="1200"/>
          </a:p>
        </p:txBody>
      </p:sp>
      <p:sp>
        <p:nvSpPr>
          <p:cNvPr id="2147" name="Google Shape;2147;p102"/>
          <p:cNvSpPr txBox="1"/>
          <p:nvPr>
            <p:ph idx="1" type="body"/>
          </p:nvPr>
        </p:nvSpPr>
        <p:spPr>
          <a:xfrm>
            <a:off x="2697148" y="759564"/>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1851 to 1908</a:t>
            </a:r>
            <a:endParaRPr sz="1600">
              <a:highlight>
                <a:schemeClr val="lt1"/>
              </a:highlight>
            </a:endParaRPr>
          </a:p>
        </p:txBody>
      </p:sp>
      <p:sp>
        <p:nvSpPr>
          <p:cNvPr id="2148" name="Google Shape;2148;p102"/>
          <p:cNvSpPr txBox="1"/>
          <p:nvPr>
            <p:ph idx="1" type="body"/>
          </p:nvPr>
        </p:nvSpPr>
        <p:spPr>
          <a:xfrm rot="-5400000">
            <a:off x="-221159" y="889767"/>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2149" name="Google Shape;2149;p102"/>
          <p:cNvSpPr txBox="1"/>
          <p:nvPr>
            <p:ph idx="1" type="body"/>
          </p:nvPr>
        </p:nvSpPr>
        <p:spPr>
          <a:xfrm>
            <a:off x="456871" y="4388532"/>
            <a:ext cx="4877100" cy="4311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400"/>
          </a:p>
        </p:txBody>
      </p:sp>
      <p:cxnSp>
        <p:nvCxnSpPr>
          <p:cNvPr id="2150" name="Google Shape;2150;p102"/>
          <p:cNvCxnSpPr/>
          <p:nvPr/>
        </p:nvCxnSpPr>
        <p:spPr>
          <a:xfrm>
            <a:off x="949798" y="2897830"/>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151" name="Google Shape;2151;p102"/>
          <p:cNvCxnSpPr/>
          <p:nvPr/>
        </p:nvCxnSpPr>
        <p:spPr>
          <a:xfrm rot="10800000">
            <a:off x="946204" y="1890081"/>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152" name="Google Shape;2152;p102"/>
          <p:cNvSpPr txBox="1"/>
          <p:nvPr>
            <p:ph idx="1" type="body"/>
          </p:nvPr>
        </p:nvSpPr>
        <p:spPr>
          <a:xfrm>
            <a:off x="1202248" y="2936152"/>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153" name="Google Shape;2153;p102"/>
          <p:cNvSpPr txBox="1"/>
          <p:nvPr>
            <p:ph idx="1" type="body"/>
          </p:nvPr>
        </p:nvSpPr>
        <p:spPr>
          <a:xfrm>
            <a:off x="1497112"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154" name="Google Shape;2154;p102"/>
          <p:cNvSpPr txBox="1"/>
          <p:nvPr>
            <p:ph idx="1" type="body"/>
          </p:nvPr>
        </p:nvSpPr>
        <p:spPr>
          <a:xfrm>
            <a:off x="1893966" y="2936154"/>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155" name="Google Shape;2155;p102"/>
          <p:cNvSpPr txBox="1"/>
          <p:nvPr>
            <p:ph idx="1" type="body"/>
          </p:nvPr>
        </p:nvSpPr>
        <p:spPr>
          <a:xfrm>
            <a:off x="2271942" y="2936152"/>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156" name="Google Shape;2156;p102"/>
          <p:cNvSpPr txBox="1"/>
          <p:nvPr>
            <p:ph idx="1" type="body"/>
          </p:nvPr>
        </p:nvSpPr>
        <p:spPr>
          <a:xfrm>
            <a:off x="2671735" y="2936154"/>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157" name="Google Shape;2157;p102"/>
          <p:cNvSpPr txBox="1"/>
          <p:nvPr>
            <p:ph idx="1" type="body"/>
          </p:nvPr>
        </p:nvSpPr>
        <p:spPr>
          <a:xfrm>
            <a:off x="3157015"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158" name="Google Shape;2158;p102"/>
          <p:cNvSpPr txBox="1"/>
          <p:nvPr>
            <p:ph idx="1" type="body"/>
          </p:nvPr>
        </p:nvSpPr>
        <p:spPr>
          <a:xfrm>
            <a:off x="3486669" y="2936154"/>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159" name="Google Shape;2159;p102"/>
          <p:cNvSpPr txBox="1"/>
          <p:nvPr>
            <p:ph idx="1" type="body"/>
          </p:nvPr>
        </p:nvSpPr>
        <p:spPr>
          <a:xfrm>
            <a:off x="3866211"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160" name="Google Shape;2160;p102"/>
          <p:cNvSpPr txBox="1"/>
          <p:nvPr>
            <p:ph idx="1" type="body"/>
          </p:nvPr>
        </p:nvSpPr>
        <p:spPr>
          <a:xfrm>
            <a:off x="4239716"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161" name="Google Shape;2161;p102"/>
          <p:cNvSpPr txBox="1"/>
          <p:nvPr>
            <p:ph idx="1" type="body"/>
          </p:nvPr>
        </p:nvSpPr>
        <p:spPr>
          <a:xfrm>
            <a:off x="4624129" y="2936152"/>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162" name="Google Shape;2162;p102"/>
          <p:cNvSpPr txBox="1"/>
          <p:nvPr>
            <p:ph idx="1" type="body"/>
          </p:nvPr>
        </p:nvSpPr>
        <p:spPr>
          <a:xfrm>
            <a:off x="5060468"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163" name="Google Shape;2163;p102"/>
          <p:cNvSpPr txBox="1"/>
          <p:nvPr>
            <p:ph idx="1" type="body"/>
          </p:nvPr>
        </p:nvSpPr>
        <p:spPr>
          <a:xfrm>
            <a:off x="752647" y="2788896"/>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164" name="Google Shape;2164;p102"/>
          <p:cNvSpPr txBox="1"/>
          <p:nvPr>
            <p:ph idx="1" type="body"/>
          </p:nvPr>
        </p:nvSpPr>
        <p:spPr>
          <a:xfrm>
            <a:off x="549975" y="224890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2</a:t>
            </a:r>
            <a:r>
              <a:rPr lang="en-GB" sz="1200"/>
              <a:t>0</a:t>
            </a:r>
            <a:endParaRPr sz="1200"/>
          </a:p>
        </p:txBody>
      </p:sp>
      <p:sp>
        <p:nvSpPr>
          <p:cNvPr id="2165" name="Google Shape;2165;p102"/>
          <p:cNvSpPr txBox="1"/>
          <p:nvPr>
            <p:ph idx="1" type="body"/>
          </p:nvPr>
        </p:nvSpPr>
        <p:spPr>
          <a:xfrm>
            <a:off x="549951" y="1995923"/>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3</a:t>
            </a:r>
            <a:r>
              <a:rPr lang="en-GB" sz="1200"/>
              <a:t>0</a:t>
            </a:r>
            <a:endParaRPr sz="1200"/>
          </a:p>
        </p:txBody>
      </p:sp>
      <p:sp>
        <p:nvSpPr>
          <p:cNvPr id="2166" name="Google Shape;2166;p102"/>
          <p:cNvSpPr txBox="1"/>
          <p:nvPr>
            <p:ph idx="1" type="body"/>
          </p:nvPr>
        </p:nvSpPr>
        <p:spPr>
          <a:xfrm>
            <a:off x="635430" y="2529107"/>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a:t>
            </a:r>
            <a:r>
              <a:rPr lang="en-GB" sz="1200"/>
              <a:t>0</a:t>
            </a:r>
            <a:endParaRPr sz="1200"/>
          </a:p>
        </p:txBody>
      </p:sp>
      <p:sp>
        <p:nvSpPr>
          <p:cNvPr id="2167" name="Google Shape;2167;p102"/>
          <p:cNvSpPr txBox="1"/>
          <p:nvPr>
            <p:ph idx="1" type="body"/>
          </p:nvPr>
        </p:nvSpPr>
        <p:spPr>
          <a:xfrm>
            <a:off x="2697148" y="2027749"/>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1909 to 1966</a:t>
            </a:r>
            <a:endParaRPr sz="1600">
              <a:highlight>
                <a:schemeClr val="lt1"/>
              </a:highlight>
            </a:endParaRPr>
          </a:p>
        </p:txBody>
      </p:sp>
      <p:sp>
        <p:nvSpPr>
          <p:cNvPr id="2168" name="Google Shape;2168;p102"/>
          <p:cNvSpPr txBox="1"/>
          <p:nvPr>
            <p:ph idx="1" type="body"/>
          </p:nvPr>
        </p:nvSpPr>
        <p:spPr>
          <a:xfrm rot="-5400000">
            <a:off x="-221159" y="2157953"/>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cxnSp>
        <p:nvCxnSpPr>
          <p:cNvPr id="2169" name="Google Shape;2169;p102"/>
          <p:cNvCxnSpPr/>
          <p:nvPr/>
        </p:nvCxnSpPr>
        <p:spPr>
          <a:xfrm>
            <a:off x="949798" y="4162387"/>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170" name="Google Shape;2170;p102"/>
          <p:cNvCxnSpPr/>
          <p:nvPr/>
        </p:nvCxnSpPr>
        <p:spPr>
          <a:xfrm rot="10800000">
            <a:off x="946204" y="3154638"/>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171" name="Google Shape;2171;p102"/>
          <p:cNvSpPr txBox="1"/>
          <p:nvPr>
            <p:ph idx="1" type="body"/>
          </p:nvPr>
        </p:nvSpPr>
        <p:spPr>
          <a:xfrm>
            <a:off x="1202248" y="4200709"/>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172" name="Google Shape;2172;p102"/>
          <p:cNvSpPr txBox="1"/>
          <p:nvPr>
            <p:ph idx="1" type="body"/>
          </p:nvPr>
        </p:nvSpPr>
        <p:spPr>
          <a:xfrm>
            <a:off x="1497112"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173" name="Google Shape;2173;p102"/>
          <p:cNvSpPr txBox="1"/>
          <p:nvPr>
            <p:ph idx="1" type="body"/>
          </p:nvPr>
        </p:nvSpPr>
        <p:spPr>
          <a:xfrm>
            <a:off x="1893966" y="4200711"/>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174" name="Google Shape;2174;p102"/>
          <p:cNvSpPr txBox="1"/>
          <p:nvPr>
            <p:ph idx="1" type="body"/>
          </p:nvPr>
        </p:nvSpPr>
        <p:spPr>
          <a:xfrm>
            <a:off x="2271942" y="4200709"/>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175" name="Google Shape;2175;p102"/>
          <p:cNvSpPr txBox="1"/>
          <p:nvPr>
            <p:ph idx="1" type="body"/>
          </p:nvPr>
        </p:nvSpPr>
        <p:spPr>
          <a:xfrm>
            <a:off x="2671735" y="4200711"/>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176" name="Google Shape;2176;p102"/>
          <p:cNvSpPr txBox="1"/>
          <p:nvPr>
            <p:ph idx="1" type="body"/>
          </p:nvPr>
        </p:nvSpPr>
        <p:spPr>
          <a:xfrm>
            <a:off x="3157015"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177" name="Google Shape;2177;p102"/>
          <p:cNvSpPr txBox="1"/>
          <p:nvPr>
            <p:ph idx="1" type="body"/>
          </p:nvPr>
        </p:nvSpPr>
        <p:spPr>
          <a:xfrm>
            <a:off x="3486669" y="4200711"/>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178" name="Google Shape;2178;p102"/>
          <p:cNvSpPr txBox="1"/>
          <p:nvPr>
            <p:ph idx="1" type="body"/>
          </p:nvPr>
        </p:nvSpPr>
        <p:spPr>
          <a:xfrm>
            <a:off x="3866211"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179" name="Google Shape;2179;p102"/>
          <p:cNvSpPr txBox="1"/>
          <p:nvPr>
            <p:ph idx="1" type="body"/>
          </p:nvPr>
        </p:nvSpPr>
        <p:spPr>
          <a:xfrm>
            <a:off x="4239716"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180" name="Google Shape;2180;p102"/>
          <p:cNvSpPr txBox="1"/>
          <p:nvPr>
            <p:ph idx="1" type="body"/>
          </p:nvPr>
        </p:nvSpPr>
        <p:spPr>
          <a:xfrm>
            <a:off x="4624129" y="4200709"/>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181" name="Google Shape;2181;p102"/>
          <p:cNvSpPr txBox="1"/>
          <p:nvPr>
            <p:ph idx="1" type="body"/>
          </p:nvPr>
        </p:nvSpPr>
        <p:spPr>
          <a:xfrm>
            <a:off x="5060468"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182" name="Google Shape;2182;p102"/>
          <p:cNvSpPr txBox="1"/>
          <p:nvPr>
            <p:ph idx="1" type="body"/>
          </p:nvPr>
        </p:nvSpPr>
        <p:spPr>
          <a:xfrm>
            <a:off x="752647" y="4053453"/>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183" name="Google Shape;2183;p102"/>
          <p:cNvSpPr txBox="1"/>
          <p:nvPr>
            <p:ph idx="1" type="body"/>
          </p:nvPr>
        </p:nvSpPr>
        <p:spPr>
          <a:xfrm>
            <a:off x="549975" y="3513465"/>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2</a:t>
            </a:r>
            <a:r>
              <a:rPr lang="en-GB" sz="1200"/>
              <a:t>0</a:t>
            </a:r>
            <a:endParaRPr sz="1200"/>
          </a:p>
        </p:txBody>
      </p:sp>
      <p:sp>
        <p:nvSpPr>
          <p:cNvPr id="2184" name="Google Shape;2184;p102"/>
          <p:cNvSpPr txBox="1"/>
          <p:nvPr>
            <p:ph idx="1" type="body"/>
          </p:nvPr>
        </p:nvSpPr>
        <p:spPr>
          <a:xfrm>
            <a:off x="549951" y="3260480"/>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3</a:t>
            </a:r>
            <a:r>
              <a:rPr lang="en-GB" sz="1200"/>
              <a:t>0</a:t>
            </a:r>
            <a:endParaRPr sz="1200"/>
          </a:p>
        </p:txBody>
      </p:sp>
      <p:sp>
        <p:nvSpPr>
          <p:cNvPr id="2185" name="Google Shape;2185;p102"/>
          <p:cNvSpPr txBox="1"/>
          <p:nvPr>
            <p:ph idx="1" type="body"/>
          </p:nvPr>
        </p:nvSpPr>
        <p:spPr>
          <a:xfrm>
            <a:off x="635430" y="3793664"/>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a:t>
            </a:r>
            <a:r>
              <a:rPr lang="en-GB" sz="1200"/>
              <a:t>0</a:t>
            </a:r>
            <a:endParaRPr sz="1200"/>
          </a:p>
        </p:txBody>
      </p:sp>
      <p:sp>
        <p:nvSpPr>
          <p:cNvPr id="2186" name="Google Shape;2186;p102"/>
          <p:cNvSpPr txBox="1"/>
          <p:nvPr>
            <p:ph idx="1" type="body"/>
          </p:nvPr>
        </p:nvSpPr>
        <p:spPr>
          <a:xfrm>
            <a:off x="2697148" y="329230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1967 to 2024</a:t>
            </a:r>
            <a:endParaRPr sz="1600">
              <a:highlight>
                <a:schemeClr val="lt1"/>
              </a:highlight>
            </a:endParaRPr>
          </a:p>
        </p:txBody>
      </p:sp>
      <p:sp>
        <p:nvSpPr>
          <p:cNvPr id="2187" name="Google Shape;2187;p102"/>
          <p:cNvSpPr txBox="1"/>
          <p:nvPr>
            <p:ph idx="1" type="body"/>
          </p:nvPr>
        </p:nvSpPr>
        <p:spPr>
          <a:xfrm rot="-5400000">
            <a:off x="-221159" y="3395296"/>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2188" name="Google Shape;2188;p102"/>
          <p:cNvSpPr txBox="1"/>
          <p:nvPr>
            <p:ph idx="1" type="body"/>
          </p:nvPr>
        </p:nvSpPr>
        <p:spPr>
          <a:xfrm>
            <a:off x="5555700" y="810000"/>
            <a:ext cx="32241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 The graphs show data from the Met Office and HadSST4 about sea-surface temperatures for each year from 1851 to 2024.</a:t>
            </a:r>
            <a:endParaRPr sz="1400"/>
          </a:p>
        </p:txBody>
      </p:sp>
      <p:sp>
        <p:nvSpPr>
          <p:cNvPr id="2189" name="Google Shape;2189;p102"/>
          <p:cNvSpPr txBox="1"/>
          <p:nvPr>
            <p:ph idx="1" type="body"/>
          </p:nvPr>
        </p:nvSpPr>
        <p:spPr>
          <a:xfrm>
            <a:off x="5555700" y="2181600"/>
            <a:ext cx="3224100" cy="13791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Compare the sea-surface temperatures for the three periods of time. Describe any conclusions that you can draw from the data.</a:t>
            </a:r>
            <a:endParaRPr sz="1600"/>
          </a:p>
        </p:txBody>
      </p:sp>
      <p:sp>
        <p:nvSpPr>
          <p:cNvPr id="2190" name="Google Shape;2190;p102"/>
          <p:cNvSpPr txBox="1"/>
          <p:nvPr>
            <p:ph idx="1" type="body"/>
          </p:nvPr>
        </p:nvSpPr>
        <p:spPr>
          <a:xfrm>
            <a:off x="1202248" y="1667966"/>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4" name="Shape 2194"/>
        <p:cNvGrpSpPr/>
        <p:nvPr/>
      </p:nvGrpSpPr>
      <p:grpSpPr>
        <a:xfrm>
          <a:off x="0" y="0"/>
          <a:ext cx="0" cy="0"/>
          <a:chOff x="0" y="0"/>
          <a:chExt cx="0" cy="0"/>
        </a:xfrm>
      </p:grpSpPr>
      <p:pic>
        <p:nvPicPr>
          <p:cNvPr id="2195" name="Google Shape;2195;p103"/>
          <p:cNvPicPr preferRelativeResize="0"/>
          <p:nvPr/>
        </p:nvPicPr>
        <p:blipFill>
          <a:blip r:embed="rId3">
            <a:alphaModFix/>
          </a:blip>
          <a:stretch>
            <a:fillRect/>
          </a:stretch>
        </p:blipFill>
        <p:spPr>
          <a:xfrm>
            <a:off x="942194" y="3350225"/>
            <a:ext cx="4176850" cy="822150"/>
          </a:xfrm>
          <a:prstGeom prst="rect">
            <a:avLst/>
          </a:prstGeom>
          <a:noFill/>
          <a:ln>
            <a:noFill/>
          </a:ln>
        </p:spPr>
      </p:pic>
      <p:pic>
        <p:nvPicPr>
          <p:cNvPr id="2196" name="Google Shape;2196;p103"/>
          <p:cNvPicPr preferRelativeResize="0"/>
          <p:nvPr/>
        </p:nvPicPr>
        <p:blipFill>
          <a:blip r:embed="rId4">
            <a:alphaModFix/>
          </a:blip>
          <a:stretch>
            <a:fillRect/>
          </a:stretch>
        </p:blipFill>
        <p:spPr>
          <a:xfrm>
            <a:off x="950169" y="2073625"/>
            <a:ext cx="4162351" cy="822150"/>
          </a:xfrm>
          <a:prstGeom prst="rect">
            <a:avLst/>
          </a:prstGeom>
          <a:noFill/>
          <a:ln>
            <a:noFill/>
          </a:ln>
        </p:spPr>
      </p:pic>
      <p:pic>
        <p:nvPicPr>
          <p:cNvPr id="2197" name="Google Shape;2197;p103"/>
          <p:cNvPicPr preferRelativeResize="0"/>
          <p:nvPr/>
        </p:nvPicPr>
        <p:blipFill>
          <a:blip r:embed="rId5">
            <a:alphaModFix/>
          </a:blip>
          <a:stretch>
            <a:fillRect/>
          </a:stretch>
        </p:blipFill>
        <p:spPr>
          <a:xfrm>
            <a:off x="946200" y="810000"/>
            <a:ext cx="4176850" cy="822150"/>
          </a:xfrm>
          <a:prstGeom prst="rect">
            <a:avLst/>
          </a:prstGeom>
          <a:noFill/>
          <a:ln>
            <a:noFill/>
          </a:ln>
        </p:spPr>
      </p:pic>
      <p:sp>
        <p:nvSpPr>
          <p:cNvPr id="2198" name="Google Shape;2198;p103"/>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2199" name="Google Shape;2199;p103"/>
          <p:cNvCxnSpPr/>
          <p:nvPr/>
        </p:nvCxnSpPr>
        <p:spPr>
          <a:xfrm>
            <a:off x="949798" y="1629644"/>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200" name="Google Shape;2200;p103"/>
          <p:cNvCxnSpPr/>
          <p:nvPr/>
        </p:nvCxnSpPr>
        <p:spPr>
          <a:xfrm rot="10800000">
            <a:off x="946204" y="621895"/>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201" name="Google Shape;2201;p103"/>
          <p:cNvSpPr txBox="1"/>
          <p:nvPr>
            <p:ph idx="1" type="body"/>
          </p:nvPr>
        </p:nvSpPr>
        <p:spPr>
          <a:xfrm>
            <a:off x="1497112"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02" name="Google Shape;2202;p103"/>
          <p:cNvSpPr txBox="1"/>
          <p:nvPr>
            <p:ph idx="1" type="body"/>
          </p:nvPr>
        </p:nvSpPr>
        <p:spPr>
          <a:xfrm>
            <a:off x="1893966" y="1667968"/>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03" name="Google Shape;2203;p103"/>
          <p:cNvSpPr txBox="1"/>
          <p:nvPr>
            <p:ph idx="1" type="body"/>
          </p:nvPr>
        </p:nvSpPr>
        <p:spPr>
          <a:xfrm>
            <a:off x="2271942" y="1667966"/>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04" name="Google Shape;2204;p103"/>
          <p:cNvSpPr txBox="1"/>
          <p:nvPr>
            <p:ph idx="1" type="body"/>
          </p:nvPr>
        </p:nvSpPr>
        <p:spPr>
          <a:xfrm>
            <a:off x="2671735" y="1667968"/>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05" name="Google Shape;2205;p103"/>
          <p:cNvSpPr txBox="1"/>
          <p:nvPr>
            <p:ph idx="1" type="body"/>
          </p:nvPr>
        </p:nvSpPr>
        <p:spPr>
          <a:xfrm>
            <a:off x="3157015"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206" name="Google Shape;2206;p103"/>
          <p:cNvSpPr txBox="1"/>
          <p:nvPr>
            <p:ph idx="1" type="body"/>
          </p:nvPr>
        </p:nvSpPr>
        <p:spPr>
          <a:xfrm>
            <a:off x="3486669" y="1667968"/>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07" name="Google Shape;2207;p103"/>
          <p:cNvSpPr txBox="1"/>
          <p:nvPr>
            <p:ph idx="1" type="body"/>
          </p:nvPr>
        </p:nvSpPr>
        <p:spPr>
          <a:xfrm>
            <a:off x="3866211"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08" name="Google Shape;2208;p103"/>
          <p:cNvSpPr txBox="1"/>
          <p:nvPr>
            <p:ph idx="1" type="body"/>
          </p:nvPr>
        </p:nvSpPr>
        <p:spPr>
          <a:xfrm>
            <a:off x="4239716"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09" name="Google Shape;2209;p103"/>
          <p:cNvSpPr txBox="1"/>
          <p:nvPr>
            <p:ph idx="1" type="body"/>
          </p:nvPr>
        </p:nvSpPr>
        <p:spPr>
          <a:xfrm>
            <a:off x="4624129" y="1667966"/>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10" name="Google Shape;2210;p103"/>
          <p:cNvSpPr txBox="1"/>
          <p:nvPr>
            <p:ph idx="1" type="body"/>
          </p:nvPr>
        </p:nvSpPr>
        <p:spPr>
          <a:xfrm>
            <a:off x="5060468"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211" name="Google Shape;2211;p103"/>
          <p:cNvSpPr txBox="1"/>
          <p:nvPr>
            <p:ph idx="1" type="body"/>
          </p:nvPr>
        </p:nvSpPr>
        <p:spPr>
          <a:xfrm>
            <a:off x="752647" y="1520710"/>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212" name="Google Shape;2212;p103"/>
          <p:cNvSpPr txBox="1"/>
          <p:nvPr>
            <p:ph idx="1" type="body"/>
          </p:nvPr>
        </p:nvSpPr>
        <p:spPr>
          <a:xfrm>
            <a:off x="549975" y="980722"/>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213" name="Google Shape;2213;p103"/>
          <p:cNvSpPr txBox="1"/>
          <p:nvPr>
            <p:ph idx="1" type="body"/>
          </p:nvPr>
        </p:nvSpPr>
        <p:spPr>
          <a:xfrm>
            <a:off x="549951" y="72773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214" name="Google Shape;2214;p103"/>
          <p:cNvSpPr txBox="1"/>
          <p:nvPr>
            <p:ph idx="1" type="body"/>
          </p:nvPr>
        </p:nvSpPr>
        <p:spPr>
          <a:xfrm>
            <a:off x="635430" y="1260921"/>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215" name="Google Shape;2215;p103"/>
          <p:cNvSpPr txBox="1"/>
          <p:nvPr>
            <p:ph idx="1" type="body"/>
          </p:nvPr>
        </p:nvSpPr>
        <p:spPr>
          <a:xfrm>
            <a:off x="2697148" y="759564"/>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1851 to 1908</a:t>
            </a:r>
            <a:endParaRPr sz="1600">
              <a:highlight>
                <a:schemeClr val="lt1"/>
              </a:highlight>
            </a:endParaRPr>
          </a:p>
        </p:txBody>
      </p:sp>
      <p:sp>
        <p:nvSpPr>
          <p:cNvPr id="2216" name="Google Shape;2216;p103"/>
          <p:cNvSpPr txBox="1"/>
          <p:nvPr>
            <p:ph idx="1" type="body"/>
          </p:nvPr>
        </p:nvSpPr>
        <p:spPr>
          <a:xfrm rot="-5400000">
            <a:off x="-221159" y="889767"/>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2217" name="Google Shape;2217;p103"/>
          <p:cNvSpPr txBox="1"/>
          <p:nvPr>
            <p:ph idx="1" type="body"/>
          </p:nvPr>
        </p:nvSpPr>
        <p:spPr>
          <a:xfrm>
            <a:off x="456871" y="4388532"/>
            <a:ext cx="4877100" cy="4311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400"/>
          </a:p>
        </p:txBody>
      </p:sp>
      <p:cxnSp>
        <p:nvCxnSpPr>
          <p:cNvPr id="2218" name="Google Shape;2218;p103"/>
          <p:cNvCxnSpPr/>
          <p:nvPr/>
        </p:nvCxnSpPr>
        <p:spPr>
          <a:xfrm>
            <a:off x="949798" y="2897830"/>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219" name="Google Shape;2219;p103"/>
          <p:cNvCxnSpPr/>
          <p:nvPr/>
        </p:nvCxnSpPr>
        <p:spPr>
          <a:xfrm rot="10800000">
            <a:off x="946204" y="1890081"/>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220" name="Google Shape;2220;p103"/>
          <p:cNvSpPr txBox="1"/>
          <p:nvPr>
            <p:ph idx="1" type="body"/>
          </p:nvPr>
        </p:nvSpPr>
        <p:spPr>
          <a:xfrm>
            <a:off x="1202248" y="2936152"/>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221" name="Google Shape;2221;p103"/>
          <p:cNvSpPr txBox="1"/>
          <p:nvPr>
            <p:ph idx="1" type="body"/>
          </p:nvPr>
        </p:nvSpPr>
        <p:spPr>
          <a:xfrm>
            <a:off x="1497112"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22" name="Google Shape;2222;p103"/>
          <p:cNvSpPr txBox="1"/>
          <p:nvPr>
            <p:ph idx="1" type="body"/>
          </p:nvPr>
        </p:nvSpPr>
        <p:spPr>
          <a:xfrm>
            <a:off x="1893966" y="2936154"/>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23" name="Google Shape;2223;p103"/>
          <p:cNvSpPr txBox="1"/>
          <p:nvPr>
            <p:ph idx="1" type="body"/>
          </p:nvPr>
        </p:nvSpPr>
        <p:spPr>
          <a:xfrm>
            <a:off x="2271942" y="2936152"/>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24" name="Google Shape;2224;p103"/>
          <p:cNvSpPr txBox="1"/>
          <p:nvPr>
            <p:ph idx="1" type="body"/>
          </p:nvPr>
        </p:nvSpPr>
        <p:spPr>
          <a:xfrm>
            <a:off x="2671735" y="2936154"/>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25" name="Google Shape;2225;p103"/>
          <p:cNvSpPr txBox="1"/>
          <p:nvPr>
            <p:ph idx="1" type="body"/>
          </p:nvPr>
        </p:nvSpPr>
        <p:spPr>
          <a:xfrm>
            <a:off x="3157015"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226" name="Google Shape;2226;p103"/>
          <p:cNvSpPr txBox="1"/>
          <p:nvPr>
            <p:ph idx="1" type="body"/>
          </p:nvPr>
        </p:nvSpPr>
        <p:spPr>
          <a:xfrm>
            <a:off x="3486669" y="2936154"/>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27" name="Google Shape;2227;p103"/>
          <p:cNvSpPr txBox="1"/>
          <p:nvPr>
            <p:ph idx="1" type="body"/>
          </p:nvPr>
        </p:nvSpPr>
        <p:spPr>
          <a:xfrm>
            <a:off x="3866211"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28" name="Google Shape;2228;p103"/>
          <p:cNvSpPr txBox="1"/>
          <p:nvPr>
            <p:ph idx="1" type="body"/>
          </p:nvPr>
        </p:nvSpPr>
        <p:spPr>
          <a:xfrm>
            <a:off x="4239716"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29" name="Google Shape;2229;p103"/>
          <p:cNvSpPr txBox="1"/>
          <p:nvPr>
            <p:ph idx="1" type="body"/>
          </p:nvPr>
        </p:nvSpPr>
        <p:spPr>
          <a:xfrm>
            <a:off x="4624129" y="2936152"/>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30" name="Google Shape;2230;p103"/>
          <p:cNvSpPr txBox="1"/>
          <p:nvPr>
            <p:ph idx="1" type="body"/>
          </p:nvPr>
        </p:nvSpPr>
        <p:spPr>
          <a:xfrm>
            <a:off x="5060468"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231" name="Google Shape;2231;p103"/>
          <p:cNvSpPr txBox="1"/>
          <p:nvPr>
            <p:ph idx="1" type="body"/>
          </p:nvPr>
        </p:nvSpPr>
        <p:spPr>
          <a:xfrm>
            <a:off x="752647" y="2788896"/>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232" name="Google Shape;2232;p103"/>
          <p:cNvSpPr txBox="1"/>
          <p:nvPr>
            <p:ph idx="1" type="body"/>
          </p:nvPr>
        </p:nvSpPr>
        <p:spPr>
          <a:xfrm>
            <a:off x="549975" y="224890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233" name="Google Shape;2233;p103"/>
          <p:cNvSpPr txBox="1"/>
          <p:nvPr>
            <p:ph idx="1" type="body"/>
          </p:nvPr>
        </p:nvSpPr>
        <p:spPr>
          <a:xfrm>
            <a:off x="549951" y="1995923"/>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234" name="Google Shape;2234;p103"/>
          <p:cNvSpPr txBox="1"/>
          <p:nvPr>
            <p:ph idx="1" type="body"/>
          </p:nvPr>
        </p:nvSpPr>
        <p:spPr>
          <a:xfrm>
            <a:off x="635430" y="2529107"/>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235" name="Google Shape;2235;p103"/>
          <p:cNvSpPr txBox="1"/>
          <p:nvPr>
            <p:ph idx="1" type="body"/>
          </p:nvPr>
        </p:nvSpPr>
        <p:spPr>
          <a:xfrm>
            <a:off x="2697148" y="2027749"/>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1909 to 1966</a:t>
            </a:r>
            <a:endParaRPr sz="1600">
              <a:highlight>
                <a:schemeClr val="lt1"/>
              </a:highlight>
            </a:endParaRPr>
          </a:p>
        </p:txBody>
      </p:sp>
      <p:sp>
        <p:nvSpPr>
          <p:cNvPr id="2236" name="Google Shape;2236;p103"/>
          <p:cNvSpPr txBox="1"/>
          <p:nvPr>
            <p:ph idx="1" type="body"/>
          </p:nvPr>
        </p:nvSpPr>
        <p:spPr>
          <a:xfrm rot="-5400000">
            <a:off x="-221159" y="2157953"/>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cxnSp>
        <p:nvCxnSpPr>
          <p:cNvPr id="2237" name="Google Shape;2237;p103"/>
          <p:cNvCxnSpPr/>
          <p:nvPr/>
        </p:nvCxnSpPr>
        <p:spPr>
          <a:xfrm>
            <a:off x="949798" y="4162387"/>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238" name="Google Shape;2238;p103"/>
          <p:cNvCxnSpPr/>
          <p:nvPr/>
        </p:nvCxnSpPr>
        <p:spPr>
          <a:xfrm rot="10800000">
            <a:off x="946204" y="3154638"/>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239" name="Google Shape;2239;p103"/>
          <p:cNvSpPr txBox="1"/>
          <p:nvPr>
            <p:ph idx="1" type="body"/>
          </p:nvPr>
        </p:nvSpPr>
        <p:spPr>
          <a:xfrm>
            <a:off x="1202248" y="4200709"/>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240" name="Google Shape;2240;p103"/>
          <p:cNvSpPr txBox="1"/>
          <p:nvPr>
            <p:ph idx="1" type="body"/>
          </p:nvPr>
        </p:nvSpPr>
        <p:spPr>
          <a:xfrm>
            <a:off x="1497112"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41" name="Google Shape;2241;p103"/>
          <p:cNvSpPr txBox="1"/>
          <p:nvPr>
            <p:ph idx="1" type="body"/>
          </p:nvPr>
        </p:nvSpPr>
        <p:spPr>
          <a:xfrm>
            <a:off x="1893966" y="4200711"/>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42" name="Google Shape;2242;p103"/>
          <p:cNvSpPr txBox="1"/>
          <p:nvPr>
            <p:ph idx="1" type="body"/>
          </p:nvPr>
        </p:nvSpPr>
        <p:spPr>
          <a:xfrm>
            <a:off x="2271942" y="4200709"/>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43" name="Google Shape;2243;p103"/>
          <p:cNvSpPr txBox="1"/>
          <p:nvPr>
            <p:ph idx="1" type="body"/>
          </p:nvPr>
        </p:nvSpPr>
        <p:spPr>
          <a:xfrm>
            <a:off x="2671735" y="4200711"/>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44" name="Google Shape;2244;p103"/>
          <p:cNvSpPr txBox="1"/>
          <p:nvPr>
            <p:ph idx="1" type="body"/>
          </p:nvPr>
        </p:nvSpPr>
        <p:spPr>
          <a:xfrm>
            <a:off x="3157015"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245" name="Google Shape;2245;p103"/>
          <p:cNvSpPr txBox="1"/>
          <p:nvPr>
            <p:ph idx="1" type="body"/>
          </p:nvPr>
        </p:nvSpPr>
        <p:spPr>
          <a:xfrm>
            <a:off x="3486669" y="4200711"/>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46" name="Google Shape;2246;p103"/>
          <p:cNvSpPr txBox="1"/>
          <p:nvPr>
            <p:ph idx="1" type="body"/>
          </p:nvPr>
        </p:nvSpPr>
        <p:spPr>
          <a:xfrm>
            <a:off x="3866211"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47" name="Google Shape;2247;p103"/>
          <p:cNvSpPr txBox="1"/>
          <p:nvPr>
            <p:ph idx="1" type="body"/>
          </p:nvPr>
        </p:nvSpPr>
        <p:spPr>
          <a:xfrm>
            <a:off x="4239716"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48" name="Google Shape;2248;p103"/>
          <p:cNvSpPr txBox="1"/>
          <p:nvPr>
            <p:ph idx="1" type="body"/>
          </p:nvPr>
        </p:nvSpPr>
        <p:spPr>
          <a:xfrm>
            <a:off x="4624129" y="4200709"/>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49" name="Google Shape;2249;p103"/>
          <p:cNvSpPr txBox="1"/>
          <p:nvPr>
            <p:ph idx="1" type="body"/>
          </p:nvPr>
        </p:nvSpPr>
        <p:spPr>
          <a:xfrm>
            <a:off x="5060468"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250" name="Google Shape;2250;p103"/>
          <p:cNvSpPr txBox="1"/>
          <p:nvPr>
            <p:ph idx="1" type="body"/>
          </p:nvPr>
        </p:nvSpPr>
        <p:spPr>
          <a:xfrm>
            <a:off x="752647" y="4053453"/>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251" name="Google Shape;2251;p103"/>
          <p:cNvSpPr txBox="1"/>
          <p:nvPr>
            <p:ph idx="1" type="body"/>
          </p:nvPr>
        </p:nvSpPr>
        <p:spPr>
          <a:xfrm>
            <a:off x="549975" y="3513465"/>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252" name="Google Shape;2252;p103"/>
          <p:cNvSpPr txBox="1"/>
          <p:nvPr>
            <p:ph idx="1" type="body"/>
          </p:nvPr>
        </p:nvSpPr>
        <p:spPr>
          <a:xfrm>
            <a:off x="549951" y="3260480"/>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253" name="Google Shape;2253;p103"/>
          <p:cNvSpPr txBox="1"/>
          <p:nvPr>
            <p:ph idx="1" type="body"/>
          </p:nvPr>
        </p:nvSpPr>
        <p:spPr>
          <a:xfrm>
            <a:off x="635430" y="3793664"/>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254" name="Google Shape;2254;p103"/>
          <p:cNvSpPr txBox="1"/>
          <p:nvPr>
            <p:ph idx="1" type="body"/>
          </p:nvPr>
        </p:nvSpPr>
        <p:spPr>
          <a:xfrm>
            <a:off x="2697148" y="329230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1967 to 2024</a:t>
            </a:r>
            <a:endParaRPr sz="1600">
              <a:highlight>
                <a:schemeClr val="lt1"/>
              </a:highlight>
            </a:endParaRPr>
          </a:p>
        </p:txBody>
      </p:sp>
      <p:sp>
        <p:nvSpPr>
          <p:cNvPr id="2255" name="Google Shape;2255;p103"/>
          <p:cNvSpPr txBox="1"/>
          <p:nvPr>
            <p:ph idx="1" type="body"/>
          </p:nvPr>
        </p:nvSpPr>
        <p:spPr>
          <a:xfrm rot="-5400000">
            <a:off x="-221159" y="3395296"/>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2256" name="Google Shape;2256;p103"/>
          <p:cNvSpPr txBox="1"/>
          <p:nvPr>
            <p:ph idx="1" type="body"/>
          </p:nvPr>
        </p:nvSpPr>
        <p:spPr>
          <a:xfrm>
            <a:off x="5658000" y="1191000"/>
            <a:ext cx="29928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The annual global mean sea-surface temperatures appeared to increase slightly between the first two time periods.</a:t>
            </a:r>
            <a:endParaRPr baseline="30000" sz="1600">
              <a:latin typeface="Kalam"/>
              <a:ea typeface="Kalam"/>
              <a:cs typeface="Kalam"/>
              <a:sym typeface="Kalam"/>
            </a:endParaRPr>
          </a:p>
        </p:txBody>
      </p:sp>
      <p:sp>
        <p:nvSpPr>
          <p:cNvPr id="2257" name="Google Shape;2257;p103"/>
          <p:cNvSpPr txBox="1"/>
          <p:nvPr>
            <p:ph idx="1" type="body"/>
          </p:nvPr>
        </p:nvSpPr>
        <p:spPr>
          <a:xfrm>
            <a:off x="5658000" y="2918411"/>
            <a:ext cx="3162000" cy="1870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The modal class for each period of time is the same (-0.6 to -0.4). However the data for 1851 to 1908 is between -1 and -0.2, where as it is between -1 and 0 from 1909 to 1966.</a:t>
            </a:r>
            <a:endParaRPr baseline="30000" sz="1600">
              <a:latin typeface="Kalam"/>
              <a:ea typeface="Kalam"/>
              <a:cs typeface="Kalam"/>
              <a:sym typeface="Kalam"/>
            </a:endParaRPr>
          </a:p>
        </p:txBody>
      </p:sp>
      <p:sp>
        <p:nvSpPr>
          <p:cNvPr id="2258" name="Google Shape;2258;p103"/>
          <p:cNvSpPr txBox="1"/>
          <p:nvPr>
            <p:ph idx="1" type="body"/>
          </p:nvPr>
        </p:nvSpPr>
        <p:spPr>
          <a:xfrm>
            <a:off x="5658000" y="733800"/>
            <a:ext cx="2992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Example:</a:t>
            </a:r>
            <a:endParaRPr baseline="30000" sz="1600">
              <a:latin typeface="Kalam"/>
              <a:ea typeface="Kalam"/>
              <a:cs typeface="Kalam"/>
              <a:sym typeface="Kalam"/>
            </a:endParaRPr>
          </a:p>
        </p:txBody>
      </p:sp>
      <p:sp>
        <p:nvSpPr>
          <p:cNvPr id="2259" name="Google Shape;2259;p103"/>
          <p:cNvSpPr txBox="1"/>
          <p:nvPr>
            <p:ph idx="1" type="body"/>
          </p:nvPr>
        </p:nvSpPr>
        <p:spPr>
          <a:xfrm>
            <a:off x="1202248" y="1667966"/>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3" name="Shape 2263"/>
        <p:cNvGrpSpPr/>
        <p:nvPr/>
      </p:nvGrpSpPr>
      <p:grpSpPr>
        <a:xfrm>
          <a:off x="0" y="0"/>
          <a:ext cx="0" cy="0"/>
          <a:chOff x="0" y="0"/>
          <a:chExt cx="0" cy="0"/>
        </a:xfrm>
      </p:grpSpPr>
      <p:pic>
        <p:nvPicPr>
          <p:cNvPr id="2264" name="Google Shape;2264;p104"/>
          <p:cNvPicPr preferRelativeResize="0"/>
          <p:nvPr/>
        </p:nvPicPr>
        <p:blipFill>
          <a:blip r:embed="rId3">
            <a:alphaModFix/>
          </a:blip>
          <a:stretch>
            <a:fillRect/>
          </a:stretch>
        </p:blipFill>
        <p:spPr>
          <a:xfrm>
            <a:off x="942194" y="3350225"/>
            <a:ext cx="4176850" cy="822150"/>
          </a:xfrm>
          <a:prstGeom prst="rect">
            <a:avLst/>
          </a:prstGeom>
          <a:noFill/>
          <a:ln>
            <a:noFill/>
          </a:ln>
        </p:spPr>
      </p:pic>
      <p:pic>
        <p:nvPicPr>
          <p:cNvPr id="2265" name="Google Shape;2265;p104"/>
          <p:cNvPicPr preferRelativeResize="0"/>
          <p:nvPr/>
        </p:nvPicPr>
        <p:blipFill>
          <a:blip r:embed="rId4">
            <a:alphaModFix/>
          </a:blip>
          <a:stretch>
            <a:fillRect/>
          </a:stretch>
        </p:blipFill>
        <p:spPr>
          <a:xfrm>
            <a:off x="950169" y="2073625"/>
            <a:ext cx="4162351" cy="822150"/>
          </a:xfrm>
          <a:prstGeom prst="rect">
            <a:avLst/>
          </a:prstGeom>
          <a:noFill/>
          <a:ln>
            <a:noFill/>
          </a:ln>
        </p:spPr>
      </p:pic>
      <p:pic>
        <p:nvPicPr>
          <p:cNvPr id="2266" name="Google Shape;2266;p104"/>
          <p:cNvPicPr preferRelativeResize="0"/>
          <p:nvPr/>
        </p:nvPicPr>
        <p:blipFill>
          <a:blip r:embed="rId5">
            <a:alphaModFix/>
          </a:blip>
          <a:stretch>
            <a:fillRect/>
          </a:stretch>
        </p:blipFill>
        <p:spPr>
          <a:xfrm>
            <a:off x="946200" y="810000"/>
            <a:ext cx="4176850" cy="822150"/>
          </a:xfrm>
          <a:prstGeom prst="rect">
            <a:avLst/>
          </a:prstGeom>
          <a:noFill/>
          <a:ln>
            <a:noFill/>
          </a:ln>
        </p:spPr>
      </p:pic>
      <p:sp>
        <p:nvSpPr>
          <p:cNvPr id="2267" name="Google Shape;2267;p104"/>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2268" name="Google Shape;2268;p104"/>
          <p:cNvCxnSpPr/>
          <p:nvPr/>
        </p:nvCxnSpPr>
        <p:spPr>
          <a:xfrm>
            <a:off x="949798" y="1629644"/>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269" name="Google Shape;2269;p104"/>
          <p:cNvCxnSpPr/>
          <p:nvPr/>
        </p:nvCxnSpPr>
        <p:spPr>
          <a:xfrm rot="10800000">
            <a:off x="946204" y="621895"/>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270" name="Google Shape;2270;p104"/>
          <p:cNvSpPr txBox="1"/>
          <p:nvPr>
            <p:ph idx="1" type="body"/>
          </p:nvPr>
        </p:nvSpPr>
        <p:spPr>
          <a:xfrm>
            <a:off x="1497112"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71" name="Google Shape;2271;p104"/>
          <p:cNvSpPr txBox="1"/>
          <p:nvPr>
            <p:ph idx="1" type="body"/>
          </p:nvPr>
        </p:nvSpPr>
        <p:spPr>
          <a:xfrm>
            <a:off x="1893966" y="1667968"/>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72" name="Google Shape;2272;p104"/>
          <p:cNvSpPr txBox="1"/>
          <p:nvPr>
            <p:ph idx="1" type="body"/>
          </p:nvPr>
        </p:nvSpPr>
        <p:spPr>
          <a:xfrm>
            <a:off x="2271942" y="1667966"/>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73" name="Google Shape;2273;p104"/>
          <p:cNvSpPr txBox="1"/>
          <p:nvPr>
            <p:ph idx="1" type="body"/>
          </p:nvPr>
        </p:nvSpPr>
        <p:spPr>
          <a:xfrm>
            <a:off x="2671735" y="1667968"/>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74" name="Google Shape;2274;p104"/>
          <p:cNvSpPr txBox="1"/>
          <p:nvPr>
            <p:ph idx="1" type="body"/>
          </p:nvPr>
        </p:nvSpPr>
        <p:spPr>
          <a:xfrm>
            <a:off x="3157015"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275" name="Google Shape;2275;p104"/>
          <p:cNvSpPr txBox="1"/>
          <p:nvPr>
            <p:ph idx="1" type="body"/>
          </p:nvPr>
        </p:nvSpPr>
        <p:spPr>
          <a:xfrm>
            <a:off x="3486669" y="1667968"/>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76" name="Google Shape;2276;p104"/>
          <p:cNvSpPr txBox="1"/>
          <p:nvPr>
            <p:ph idx="1" type="body"/>
          </p:nvPr>
        </p:nvSpPr>
        <p:spPr>
          <a:xfrm>
            <a:off x="3866211"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77" name="Google Shape;2277;p104"/>
          <p:cNvSpPr txBox="1"/>
          <p:nvPr>
            <p:ph idx="1" type="body"/>
          </p:nvPr>
        </p:nvSpPr>
        <p:spPr>
          <a:xfrm>
            <a:off x="4239716"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78" name="Google Shape;2278;p104"/>
          <p:cNvSpPr txBox="1"/>
          <p:nvPr>
            <p:ph idx="1" type="body"/>
          </p:nvPr>
        </p:nvSpPr>
        <p:spPr>
          <a:xfrm>
            <a:off x="4624129" y="1667966"/>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79" name="Google Shape;2279;p104"/>
          <p:cNvSpPr txBox="1"/>
          <p:nvPr>
            <p:ph idx="1" type="body"/>
          </p:nvPr>
        </p:nvSpPr>
        <p:spPr>
          <a:xfrm>
            <a:off x="5060468"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280" name="Google Shape;2280;p104"/>
          <p:cNvSpPr txBox="1"/>
          <p:nvPr>
            <p:ph idx="1" type="body"/>
          </p:nvPr>
        </p:nvSpPr>
        <p:spPr>
          <a:xfrm>
            <a:off x="752647" y="1520710"/>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281" name="Google Shape;2281;p104"/>
          <p:cNvSpPr txBox="1"/>
          <p:nvPr>
            <p:ph idx="1" type="body"/>
          </p:nvPr>
        </p:nvSpPr>
        <p:spPr>
          <a:xfrm>
            <a:off x="549975" y="980722"/>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282" name="Google Shape;2282;p104"/>
          <p:cNvSpPr txBox="1"/>
          <p:nvPr>
            <p:ph idx="1" type="body"/>
          </p:nvPr>
        </p:nvSpPr>
        <p:spPr>
          <a:xfrm>
            <a:off x="549951" y="72773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283" name="Google Shape;2283;p104"/>
          <p:cNvSpPr txBox="1"/>
          <p:nvPr>
            <p:ph idx="1" type="body"/>
          </p:nvPr>
        </p:nvSpPr>
        <p:spPr>
          <a:xfrm>
            <a:off x="635430" y="1260921"/>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284" name="Google Shape;2284;p104"/>
          <p:cNvSpPr txBox="1"/>
          <p:nvPr>
            <p:ph idx="1" type="body"/>
          </p:nvPr>
        </p:nvSpPr>
        <p:spPr>
          <a:xfrm>
            <a:off x="2697148" y="759564"/>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1851 to 1908</a:t>
            </a:r>
            <a:endParaRPr sz="1600">
              <a:highlight>
                <a:schemeClr val="lt1"/>
              </a:highlight>
            </a:endParaRPr>
          </a:p>
        </p:txBody>
      </p:sp>
      <p:sp>
        <p:nvSpPr>
          <p:cNvPr id="2285" name="Google Shape;2285;p104"/>
          <p:cNvSpPr txBox="1"/>
          <p:nvPr>
            <p:ph idx="1" type="body"/>
          </p:nvPr>
        </p:nvSpPr>
        <p:spPr>
          <a:xfrm rot="-5400000">
            <a:off x="-221159" y="889767"/>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2286" name="Google Shape;2286;p104"/>
          <p:cNvSpPr txBox="1"/>
          <p:nvPr>
            <p:ph idx="1" type="body"/>
          </p:nvPr>
        </p:nvSpPr>
        <p:spPr>
          <a:xfrm>
            <a:off x="456871" y="4388532"/>
            <a:ext cx="4877100" cy="4311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400"/>
          </a:p>
        </p:txBody>
      </p:sp>
      <p:cxnSp>
        <p:nvCxnSpPr>
          <p:cNvPr id="2287" name="Google Shape;2287;p104"/>
          <p:cNvCxnSpPr/>
          <p:nvPr/>
        </p:nvCxnSpPr>
        <p:spPr>
          <a:xfrm>
            <a:off x="949798" y="2897830"/>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288" name="Google Shape;2288;p104"/>
          <p:cNvCxnSpPr/>
          <p:nvPr/>
        </p:nvCxnSpPr>
        <p:spPr>
          <a:xfrm rot="10800000">
            <a:off x="946204" y="1890081"/>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289" name="Google Shape;2289;p104"/>
          <p:cNvSpPr txBox="1"/>
          <p:nvPr>
            <p:ph idx="1" type="body"/>
          </p:nvPr>
        </p:nvSpPr>
        <p:spPr>
          <a:xfrm>
            <a:off x="1202248" y="2936152"/>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290" name="Google Shape;2290;p104"/>
          <p:cNvSpPr txBox="1"/>
          <p:nvPr>
            <p:ph idx="1" type="body"/>
          </p:nvPr>
        </p:nvSpPr>
        <p:spPr>
          <a:xfrm>
            <a:off x="1497112"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91" name="Google Shape;2291;p104"/>
          <p:cNvSpPr txBox="1"/>
          <p:nvPr>
            <p:ph idx="1" type="body"/>
          </p:nvPr>
        </p:nvSpPr>
        <p:spPr>
          <a:xfrm>
            <a:off x="1893966" y="2936154"/>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92" name="Google Shape;2292;p104"/>
          <p:cNvSpPr txBox="1"/>
          <p:nvPr>
            <p:ph idx="1" type="body"/>
          </p:nvPr>
        </p:nvSpPr>
        <p:spPr>
          <a:xfrm>
            <a:off x="2271942" y="2936152"/>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93" name="Google Shape;2293;p104"/>
          <p:cNvSpPr txBox="1"/>
          <p:nvPr>
            <p:ph idx="1" type="body"/>
          </p:nvPr>
        </p:nvSpPr>
        <p:spPr>
          <a:xfrm>
            <a:off x="2671735" y="2936154"/>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94" name="Google Shape;2294;p104"/>
          <p:cNvSpPr txBox="1"/>
          <p:nvPr>
            <p:ph idx="1" type="body"/>
          </p:nvPr>
        </p:nvSpPr>
        <p:spPr>
          <a:xfrm>
            <a:off x="3157015"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295" name="Google Shape;2295;p104"/>
          <p:cNvSpPr txBox="1"/>
          <p:nvPr>
            <p:ph idx="1" type="body"/>
          </p:nvPr>
        </p:nvSpPr>
        <p:spPr>
          <a:xfrm>
            <a:off x="3486669" y="2936154"/>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296" name="Google Shape;2296;p104"/>
          <p:cNvSpPr txBox="1"/>
          <p:nvPr>
            <p:ph idx="1" type="body"/>
          </p:nvPr>
        </p:nvSpPr>
        <p:spPr>
          <a:xfrm>
            <a:off x="3866211"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297" name="Google Shape;2297;p104"/>
          <p:cNvSpPr txBox="1"/>
          <p:nvPr>
            <p:ph idx="1" type="body"/>
          </p:nvPr>
        </p:nvSpPr>
        <p:spPr>
          <a:xfrm>
            <a:off x="4239716"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298" name="Google Shape;2298;p104"/>
          <p:cNvSpPr txBox="1"/>
          <p:nvPr>
            <p:ph idx="1" type="body"/>
          </p:nvPr>
        </p:nvSpPr>
        <p:spPr>
          <a:xfrm>
            <a:off x="4624129" y="2936152"/>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299" name="Google Shape;2299;p104"/>
          <p:cNvSpPr txBox="1"/>
          <p:nvPr>
            <p:ph idx="1" type="body"/>
          </p:nvPr>
        </p:nvSpPr>
        <p:spPr>
          <a:xfrm>
            <a:off x="5060468"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300" name="Google Shape;2300;p104"/>
          <p:cNvSpPr txBox="1"/>
          <p:nvPr>
            <p:ph idx="1" type="body"/>
          </p:nvPr>
        </p:nvSpPr>
        <p:spPr>
          <a:xfrm>
            <a:off x="752647" y="2788896"/>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301" name="Google Shape;2301;p104"/>
          <p:cNvSpPr txBox="1"/>
          <p:nvPr>
            <p:ph idx="1" type="body"/>
          </p:nvPr>
        </p:nvSpPr>
        <p:spPr>
          <a:xfrm>
            <a:off x="549975" y="224890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302" name="Google Shape;2302;p104"/>
          <p:cNvSpPr txBox="1"/>
          <p:nvPr>
            <p:ph idx="1" type="body"/>
          </p:nvPr>
        </p:nvSpPr>
        <p:spPr>
          <a:xfrm>
            <a:off x="549951" y="1995923"/>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303" name="Google Shape;2303;p104"/>
          <p:cNvSpPr txBox="1"/>
          <p:nvPr>
            <p:ph idx="1" type="body"/>
          </p:nvPr>
        </p:nvSpPr>
        <p:spPr>
          <a:xfrm>
            <a:off x="635430" y="2529107"/>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304" name="Google Shape;2304;p104"/>
          <p:cNvSpPr txBox="1"/>
          <p:nvPr>
            <p:ph idx="1" type="body"/>
          </p:nvPr>
        </p:nvSpPr>
        <p:spPr>
          <a:xfrm>
            <a:off x="2697148" y="2027749"/>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1909 to 1966</a:t>
            </a:r>
            <a:endParaRPr sz="1600">
              <a:highlight>
                <a:schemeClr val="lt1"/>
              </a:highlight>
            </a:endParaRPr>
          </a:p>
        </p:txBody>
      </p:sp>
      <p:sp>
        <p:nvSpPr>
          <p:cNvPr id="2305" name="Google Shape;2305;p104"/>
          <p:cNvSpPr txBox="1"/>
          <p:nvPr>
            <p:ph idx="1" type="body"/>
          </p:nvPr>
        </p:nvSpPr>
        <p:spPr>
          <a:xfrm rot="-5400000">
            <a:off x="-221159" y="2157953"/>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cxnSp>
        <p:nvCxnSpPr>
          <p:cNvPr id="2306" name="Google Shape;2306;p104"/>
          <p:cNvCxnSpPr/>
          <p:nvPr/>
        </p:nvCxnSpPr>
        <p:spPr>
          <a:xfrm>
            <a:off x="949798" y="4162387"/>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307" name="Google Shape;2307;p104"/>
          <p:cNvCxnSpPr/>
          <p:nvPr/>
        </p:nvCxnSpPr>
        <p:spPr>
          <a:xfrm rot="10800000">
            <a:off x="946204" y="3154638"/>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308" name="Google Shape;2308;p104"/>
          <p:cNvSpPr txBox="1"/>
          <p:nvPr>
            <p:ph idx="1" type="body"/>
          </p:nvPr>
        </p:nvSpPr>
        <p:spPr>
          <a:xfrm>
            <a:off x="1202248" y="4200709"/>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309" name="Google Shape;2309;p104"/>
          <p:cNvSpPr txBox="1"/>
          <p:nvPr>
            <p:ph idx="1" type="body"/>
          </p:nvPr>
        </p:nvSpPr>
        <p:spPr>
          <a:xfrm>
            <a:off x="1497112"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310" name="Google Shape;2310;p104"/>
          <p:cNvSpPr txBox="1"/>
          <p:nvPr>
            <p:ph idx="1" type="body"/>
          </p:nvPr>
        </p:nvSpPr>
        <p:spPr>
          <a:xfrm>
            <a:off x="1893966" y="4200711"/>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311" name="Google Shape;2311;p104"/>
          <p:cNvSpPr txBox="1"/>
          <p:nvPr>
            <p:ph idx="1" type="body"/>
          </p:nvPr>
        </p:nvSpPr>
        <p:spPr>
          <a:xfrm>
            <a:off x="2271942" y="4200709"/>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312" name="Google Shape;2312;p104"/>
          <p:cNvSpPr txBox="1"/>
          <p:nvPr>
            <p:ph idx="1" type="body"/>
          </p:nvPr>
        </p:nvSpPr>
        <p:spPr>
          <a:xfrm>
            <a:off x="2671735" y="4200711"/>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313" name="Google Shape;2313;p104"/>
          <p:cNvSpPr txBox="1"/>
          <p:nvPr>
            <p:ph idx="1" type="body"/>
          </p:nvPr>
        </p:nvSpPr>
        <p:spPr>
          <a:xfrm>
            <a:off x="3157015"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314" name="Google Shape;2314;p104"/>
          <p:cNvSpPr txBox="1"/>
          <p:nvPr>
            <p:ph idx="1" type="body"/>
          </p:nvPr>
        </p:nvSpPr>
        <p:spPr>
          <a:xfrm>
            <a:off x="3486669" y="4200711"/>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315" name="Google Shape;2315;p104"/>
          <p:cNvSpPr txBox="1"/>
          <p:nvPr>
            <p:ph idx="1" type="body"/>
          </p:nvPr>
        </p:nvSpPr>
        <p:spPr>
          <a:xfrm>
            <a:off x="3866211"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316" name="Google Shape;2316;p104"/>
          <p:cNvSpPr txBox="1"/>
          <p:nvPr>
            <p:ph idx="1" type="body"/>
          </p:nvPr>
        </p:nvSpPr>
        <p:spPr>
          <a:xfrm>
            <a:off x="4239716"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317" name="Google Shape;2317;p104"/>
          <p:cNvSpPr txBox="1"/>
          <p:nvPr>
            <p:ph idx="1" type="body"/>
          </p:nvPr>
        </p:nvSpPr>
        <p:spPr>
          <a:xfrm>
            <a:off x="4624129" y="4200709"/>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318" name="Google Shape;2318;p104"/>
          <p:cNvSpPr txBox="1"/>
          <p:nvPr>
            <p:ph idx="1" type="body"/>
          </p:nvPr>
        </p:nvSpPr>
        <p:spPr>
          <a:xfrm>
            <a:off x="5060468"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319" name="Google Shape;2319;p104"/>
          <p:cNvSpPr txBox="1"/>
          <p:nvPr>
            <p:ph idx="1" type="body"/>
          </p:nvPr>
        </p:nvSpPr>
        <p:spPr>
          <a:xfrm>
            <a:off x="752647" y="4053453"/>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320" name="Google Shape;2320;p104"/>
          <p:cNvSpPr txBox="1"/>
          <p:nvPr>
            <p:ph idx="1" type="body"/>
          </p:nvPr>
        </p:nvSpPr>
        <p:spPr>
          <a:xfrm>
            <a:off x="549975" y="3513465"/>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321" name="Google Shape;2321;p104"/>
          <p:cNvSpPr txBox="1"/>
          <p:nvPr>
            <p:ph idx="1" type="body"/>
          </p:nvPr>
        </p:nvSpPr>
        <p:spPr>
          <a:xfrm>
            <a:off x="549951" y="3260480"/>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322" name="Google Shape;2322;p104"/>
          <p:cNvSpPr txBox="1"/>
          <p:nvPr>
            <p:ph idx="1" type="body"/>
          </p:nvPr>
        </p:nvSpPr>
        <p:spPr>
          <a:xfrm>
            <a:off x="635430" y="3793664"/>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323" name="Google Shape;2323;p104"/>
          <p:cNvSpPr txBox="1"/>
          <p:nvPr>
            <p:ph idx="1" type="body"/>
          </p:nvPr>
        </p:nvSpPr>
        <p:spPr>
          <a:xfrm>
            <a:off x="2697148" y="329230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1967 to 2024</a:t>
            </a:r>
            <a:endParaRPr sz="1600">
              <a:highlight>
                <a:schemeClr val="lt1"/>
              </a:highlight>
            </a:endParaRPr>
          </a:p>
        </p:txBody>
      </p:sp>
      <p:sp>
        <p:nvSpPr>
          <p:cNvPr id="2324" name="Google Shape;2324;p104"/>
          <p:cNvSpPr txBox="1"/>
          <p:nvPr>
            <p:ph idx="1" type="body"/>
          </p:nvPr>
        </p:nvSpPr>
        <p:spPr>
          <a:xfrm rot="-5400000">
            <a:off x="-221159" y="3395296"/>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2325" name="Google Shape;2325;p104"/>
          <p:cNvSpPr txBox="1"/>
          <p:nvPr>
            <p:ph idx="1" type="body"/>
          </p:nvPr>
        </p:nvSpPr>
        <p:spPr>
          <a:xfrm>
            <a:off x="5658000" y="1191000"/>
            <a:ext cx="31380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For the majority of years from 1967 to 2024, the annual global sea-surface temperatures were higher than they were between 1851 and 1966.</a:t>
            </a:r>
            <a:endParaRPr baseline="30000" sz="1600">
              <a:latin typeface="Kalam"/>
              <a:ea typeface="Kalam"/>
              <a:cs typeface="Kalam"/>
              <a:sym typeface="Kalam"/>
            </a:endParaRPr>
          </a:p>
        </p:txBody>
      </p:sp>
      <p:sp>
        <p:nvSpPr>
          <p:cNvPr id="2326" name="Google Shape;2326;p104"/>
          <p:cNvSpPr txBox="1"/>
          <p:nvPr>
            <p:ph idx="1" type="body"/>
          </p:nvPr>
        </p:nvSpPr>
        <p:spPr>
          <a:xfrm>
            <a:off x="5658000" y="2918411"/>
            <a:ext cx="3162000" cy="136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The modal classes from </a:t>
            </a:r>
            <a:r>
              <a:rPr lang="en-GB" sz="1800">
                <a:latin typeface="Kalam"/>
                <a:ea typeface="Kalam"/>
                <a:cs typeface="Kalam"/>
                <a:sym typeface="Kalam"/>
              </a:rPr>
              <a:t>1967 to 2024 are between -0.2 and 0.2</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Also the data from </a:t>
            </a:r>
            <a:r>
              <a:rPr lang="en-GB" sz="1800">
                <a:latin typeface="Kalam"/>
                <a:ea typeface="Kalam"/>
                <a:cs typeface="Kalam"/>
                <a:sym typeface="Kalam"/>
              </a:rPr>
              <a:t>1967 to 2024</a:t>
            </a:r>
            <a:r>
              <a:rPr lang="en-GB" sz="1800">
                <a:latin typeface="Kalam"/>
                <a:ea typeface="Kalam"/>
                <a:cs typeface="Kalam"/>
                <a:sym typeface="Kalam"/>
              </a:rPr>
              <a:t> is between -0.6 and 0.8</a:t>
            </a:r>
            <a:endParaRPr baseline="30000" sz="1600">
              <a:latin typeface="Kalam"/>
              <a:ea typeface="Kalam"/>
              <a:cs typeface="Kalam"/>
              <a:sym typeface="Kalam"/>
            </a:endParaRPr>
          </a:p>
        </p:txBody>
      </p:sp>
      <p:sp>
        <p:nvSpPr>
          <p:cNvPr id="2327" name="Google Shape;2327;p104"/>
          <p:cNvSpPr txBox="1"/>
          <p:nvPr>
            <p:ph idx="1" type="body"/>
          </p:nvPr>
        </p:nvSpPr>
        <p:spPr>
          <a:xfrm>
            <a:off x="5658000" y="733800"/>
            <a:ext cx="2992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Example:</a:t>
            </a:r>
            <a:endParaRPr baseline="30000" sz="1600">
              <a:latin typeface="Kalam"/>
              <a:ea typeface="Kalam"/>
              <a:cs typeface="Kalam"/>
              <a:sym typeface="Kalam"/>
            </a:endParaRPr>
          </a:p>
        </p:txBody>
      </p:sp>
      <p:sp>
        <p:nvSpPr>
          <p:cNvPr id="2328" name="Google Shape;2328;p104"/>
          <p:cNvSpPr txBox="1"/>
          <p:nvPr>
            <p:ph idx="1" type="body"/>
          </p:nvPr>
        </p:nvSpPr>
        <p:spPr>
          <a:xfrm>
            <a:off x="1202248" y="1667966"/>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2" name="Shape 2332"/>
        <p:cNvGrpSpPr/>
        <p:nvPr/>
      </p:nvGrpSpPr>
      <p:grpSpPr>
        <a:xfrm>
          <a:off x="0" y="0"/>
          <a:ext cx="0" cy="0"/>
          <a:chOff x="0" y="0"/>
          <a:chExt cx="0" cy="0"/>
        </a:xfrm>
      </p:grpSpPr>
      <p:pic>
        <p:nvPicPr>
          <p:cNvPr id="2333" name="Google Shape;2333;p105"/>
          <p:cNvPicPr preferRelativeResize="0"/>
          <p:nvPr/>
        </p:nvPicPr>
        <p:blipFill>
          <a:blip r:embed="rId3">
            <a:alphaModFix/>
          </a:blip>
          <a:stretch>
            <a:fillRect/>
          </a:stretch>
        </p:blipFill>
        <p:spPr>
          <a:xfrm>
            <a:off x="942194" y="3350225"/>
            <a:ext cx="4176850" cy="822150"/>
          </a:xfrm>
          <a:prstGeom prst="rect">
            <a:avLst/>
          </a:prstGeom>
          <a:noFill/>
          <a:ln>
            <a:noFill/>
          </a:ln>
        </p:spPr>
      </p:pic>
      <p:pic>
        <p:nvPicPr>
          <p:cNvPr id="2334" name="Google Shape;2334;p105"/>
          <p:cNvPicPr preferRelativeResize="0"/>
          <p:nvPr/>
        </p:nvPicPr>
        <p:blipFill>
          <a:blip r:embed="rId4">
            <a:alphaModFix/>
          </a:blip>
          <a:stretch>
            <a:fillRect/>
          </a:stretch>
        </p:blipFill>
        <p:spPr>
          <a:xfrm>
            <a:off x="950169" y="2073625"/>
            <a:ext cx="4162351" cy="822150"/>
          </a:xfrm>
          <a:prstGeom prst="rect">
            <a:avLst/>
          </a:prstGeom>
          <a:noFill/>
          <a:ln>
            <a:noFill/>
          </a:ln>
        </p:spPr>
      </p:pic>
      <p:pic>
        <p:nvPicPr>
          <p:cNvPr id="2335" name="Google Shape;2335;p105"/>
          <p:cNvPicPr preferRelativeResize="0"/>
          <p:nvPr/>
        </p:nvPicPr>
        <p:blipFill>
          <a:blip r:embed="rId5">
            <a:alphaModFix/>
          </a:blip>
          <a:stretch>
            <a:fillRect/>
          </a:stretch>
        </p:blipFill>
        <p:spPr>
          <a:xfrm>
            <a:off x="946200" y="810000"/>
            <a:ext cx="4176850" cy="822150"/>
          </a:xfrm>
          <a:prstGeom prst="rect">
            <a:avLst/>
          </a:prstGeom>
          <a:noFill/>
          <a:ln>
            <a:noFill/>
          </a:ln>
        </p:spPr>
      </p:pic>
      <p:sp>
        <p:nvSpPr>
          <p:cNvPr id="2336" name="Google Shape;2336;p105"/>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cxnSp>
        <p:nvCxnSpPr>
          <p:cNvPr id="2337" name="Google Shape;2337;p105"/>
          <p:cNvCxnSpPr/>
          <p:nvPr/>
        </p:nvCxnSpPr>
        <p:spPr>
          <a:xfrm>
            <a:off x="949798" y="1629644"/>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338" name="Google Shape;2338;p105"/>
          <p:cNvCxnSpPr/>
          <p:nvPr/>
        </p:nvCxnSpPr>
        <p:spPr>
          <a:xfrm rot="10800000">
            <a:off x="946204" y="621895"/>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339" name="Google Shape;2339;p105"/>
          <p:cNvSpPr txBox="1"/>
          <p:nvPr>
            <p:ph idx="1" type="body"/>
          </p:nvPr>
        </p:nvSpPr>
        <p:spPr>
          <a:xfrm>
            <a:off x="1497112"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340" name="Google Shape;2340;p105"/>
          <p:cNvSpPr txBox="1"/>
          <p:nvPr>
            <p:ph idx="1" type="body"/>
          </p:nvPr>
        </p:nvSpPr>
        <p:spPr>
          <a:xfrm>
            <a:off x="1893966" y="1667968"/>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341" name="Google Shape;2341;p105"/>
          <p:cNvSpPr txBox="1"/>
          <p:nvPr>
            <p:ph idx="1" type="body"/>
          </p:nvPr>
        </p:nvSpPr>
        <p:spPr>
          <a:xfrm>
            <a:off x="2271942" y="1667966"/>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342" name="Google Shape;2342;p105"/>
          <p:cNvSpPr txBox="1"/>
          <p:nvPr>
            <p:ph idx="1" type="body"/>
          </p:nvPr>
        </p:nvSpPr>
        <p:spPr>
          <a:xfrm>
            <a:off x="2671735" y="1667968"/>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343" name="Google Shape;2343;p105"/>
          <p:cNvSpPr txBox="1"/>
          <p:nvPr>
            <p:ph idx="1" type="body"/>
          </p:nvPr>
        </p:nvSpPr>
        <p:spPr>
          <a:xfrm>
            <a:off x="3157015"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344" name="Google Shape;2344;p105"/>
          <p:cNvSpPr txBox="1"/>
          <p:nvPr>
            <p:ph idx="1" type="body"/>
          </p:nvPr>
        </p:nvSpPr>
        <p:spPr>
          <a:xfrm>
            <a:off x="3486669" y="1667968"/>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345" name="Google Shape;2345;p105"/>
          <p:cNvSpPr txBox="1"/>
          <p:nvPr>
            <p:ph idx="1" type="body"/>
          </p:nvPr>
        </p:nvSpPr>
        <p:spPr>
          <a:xfrm>
            <a:off x="3866211"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346" name="Google Shape;2346;p105"/>
          <p:cNvSpPr txBox="1"/>
          <p:nvPr>
            <p:ph idx="1" type="body"/>
          </p:nvPr>
        </p:nvSpPr>
        <p:spPr>
          <a:xfrm>
            <a:off x="4239716" y="1667968"/>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347" name="Google Shape;2347;p105"/>
          <p:cNvSpPr txBox="1"/>
          <p:nvPr>
            <p:ph idx="1" type="body"/>
          </p:nvPr>
        </p:nvSpPr>
        <p:spPr>
          <a:xfrm>
            <a:off x="4624129" y="1667966"/>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348" name="Google Shape;2348;p105"/>
          <p:cNvSpPr txBox="1"/>
          <p:nvPr>
            <p:ph idx="1" type="body"/>
          </p:nvPr>
        </p:nvSpPr>
        <p:spPr>
          <a:xfrm>
            <a:off x="5060468" y="1667971"/>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349" name="Google Shape;2349;p105"/>
          <p:cNvSpPr txBox="1"/>
          <p:nvPr>
            <p:ph idx="1" type="body"/>
          </p:nvPr>
        </p:nvSpPr>
        <p:spPr>
          <a:xfrm>
            <a:off x="752647" y="1520710"/>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350" name="Google Shape;2350;p105"/>
          <p:cNvSpPr txBox="1"/>
          <p:nvPr>
            <p:ph idx="1" type="body"/>
          </p:nvPr>
        </p:nvSpPr>
        <p:spPr>
          <a:xfrm>
            <a:off x="549975" y="980722"/>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351" name="Google Shape;2351;p105"/>
          <p:cNvSpPr txBox="1"/>
          <p:nvPr>
            <p:ph idx="1" type="body"/>
          </p:nvPr>
        </p:nvSpPr>
        <p:spPr>
          <a:xfrm>
            <a:off x="549951" y="72773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352" name="Google Shape;2352;p105"/>
          <p:cNvSpPr txBox="1"/>
          <p:nvPr>
            <p:ph idx="1" type="body"/>
          </p:nvPr>
        </p:nvSpPr>
        <p:spPr>
          <a:xfrm>
            <a:off x="635430" y="1260921"/>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353" name="Google Shape;2353;p105"/>
          <p:cNvSpPr txBox="1"/>
          <p:nvPr>
            <p:ph idx="1" type="body"/>
          </p:nvPr>
        </p:nvSpPr>
        <p:spPr>
          <a:xfrm>
            <a:off x="2697148" y="759564"/>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1851 to 1908</a:t>
            </a:r>
            <a:endParaRPr sz="1600">
              <a:highlight>
                <a:schemeClr val="lt1"/>
              </a:highlight>
            </a:endParaRPr>
          </a:p>
        </p:txBody>
      </p:sp>
      <p:sp>
        <p:nvSpPr>
          <p:cNvPr id="2354" name="Google Shape;2354;p105"/>
          <p:cNvSpPr txBox="1"/>
          <p:nvPr>
            <p:ph idx="1" type="body"/>
          </p:nvPr>
        </p:nvSpPr>
        <p:spPr>
          <a:xfrm rot="-5400000">
            <a:off x="-221159" y="889767"/>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2355" name="Google Shape;2355;p105"/>
          <p:cNvSpPr txBox="1"/>
          <p:nvPr>
            <p:ph idx="1" type="body"/>
          </p:nvPr>
        </p:nvSpPr>
        <p:spPr>
          <a:xfrm>
            <a:off x="456871" y="4388532"/>
            <a:ext cx="4877100" cy="4311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400"/>
          </a:p>
        </p:txBody>
      </p:sp>
      <p:cxnSp>
        <p:nvCxnSpPr>
          <p:cNvPr id="2356" name="Google Shape;2356;p105"/>
          <p:cNvCxnSpPr/>
          <p:nvPr/>
        </p:nvCxnSpPr>
        <p:spPr>
          <a:xfrm>
            <a:off x="949798" y="2897830"/>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357" name="Google Shape;2357;p105"/>
          <p:cNvCxnSpPr/>
          <p:nvPr/>
        </p:nvCxnSpPr>
        <p:spPr>
          <a:xfrm rot="10800000">
            <a:off x="946204" y="1890081"/>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358" name="Google Shape;2358;p105"/>
          <p:cNvSpPr txBox="1"/>
          <p:nvPr>
            <p:ph idx="1" type="body"/>
          </p:nvPr>
        </p:nvSpPr>
        <p:spPr>
          <a:xfrm>
            <a:off x="1202248" y="2936152"/>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359" name="Google Shape;2359;p105"/>
          <p:cNvSpPr txBox="1"/>
          <p:nvPr>
            <p:ph idx="1" type="body"/>
          </p:nvPr>
        </p:nvSpPr>
        <p:spPr>
          <a:xfrm>
            <a:off x="1497112"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360" name="Google Shape;2360;p105"/>
          <p:cNvSpPr txBox="1"/>
          <p:nvPr>
            <p:ph idx="1" type="body"/>
          </p:nvPr>
        </p:nvSpPr>
        <p:spPr>
          <a:xfrm>
            <a:off x="1893966" y="2936154"/>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361" name="Google Shape;2361;p105"/>
          <p:cNvSpPr txBox="1"/>
          <p:nvPr>
            <p:ph idx="1" type="body"/>
          </p:nvPr>
        </p:nvSpPr>
        <p:spPr>
          <a:xfrm>
            <a:off x="2271942" y="2936152"/>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362" name="Google Shape;2362;p105"/>
          <p:cNvSpPr txBox="1"/>
          <p:nvPr>
            <p:ph idx="1" type="body"/>
          </p:nvPr>
        </p:nvSpPr>
        <p:spPr>
          <a:xfrm>
            <a:off x="2671735" y="2936154"/>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363" name="Google Shape;2363;p105"/>
          <p:cNvSpPr txBox="1"/>
          <p:nvPr>
            <p:ph idx="1" type="body"/>
          </p:nvPr>
        </p:nvSpPr>
        <p:spPr>
          <a:xfrm>
            <a:off x="3157015"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364" name="Google Shape;2364;p105"/>
          <p:cNvSpPr txBox="1"/>
          <p:nvPr>
            <p:ph idx="1" type="body"/>
          </p:nvPr>
        </p:nvSpPr>
        <p:spPr>
          <a:xfrm>
            <a:off x="3486669" y="2936154"/>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365" name="Google Shape;2365;p105"/>
          <p:cNvSpPr txBox="1"/>
          <p:nvPr>
            <p:ph idx="1" type="body"/>
          </p:nvPr>
        </p:nvSpPr>
        <p:spPr>
          <a:xfrm>
            <a:off x="3866211"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366" name="Google Shape;2366;p105"/>
          <p:cNvSpPr txBox="1"/>
          <p:nvPr>
            <p:ph idx="1" type="body"/>
          </p:nvPr>
        </p:nvSpPr>
        <p:spPr>
          <a:xfrm>
            <a:off x="4239716" y="2936154"/>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367" name="Google Shape;2367;p105"/>
          <p:cNvSpPr txBox="1"/>
          <p:nvPr>
            <p:ph idx="1" type="body"/>
          </p:nvPr>
        </p:nvSpPr>
        <p:spPr>
          <a:xfrm>
            <a:off x="4624129" y="2936152"/>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368" name="Google Shape;2368;p105"/>
          <p:cNvSpPr txBox="1"/>
          <p:nvPr>
            <p:ph idx="1" type="body"/>
          </p:nvPr>
        </p:nvSpPr>
        <p:spPr>
          <a:xfrm>
            <a:off x="5060468" y="2936157"/>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369" name="Google Shape;2369;p105"/>
          <p:cNvSpPr txBox="1"/>
          <p:nvPr>
            <p:ph idx="1" type="body"/>
          </p:nvPr>
        </p:nvSpPr>
        <p:spPr>
          <a:xfrm>
            <a:off x="752647" y="2788896"/>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370" name="Google Shape;2370;p105"/>
          <p:cNvSpPr txBox="1"/>
          <p:nvPr>
            <p:ph idx="1" type="body"/>
          </p:nvPr>
        </p:nvSpPr>
        <p:spPr>
          <a:xfrm>
            <a:off x="549975" y="2248908"/>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371" name="Google Shape;2371;p105"/>
          <p:cNvSpPr txBox="1"/>
          <p:nvPr>
            <p:ph idx="1" type="body"/>
          </p:nvPr>
        </p:nvSpPr>
        <p:spPr>
          <a:xfrm>
            <a:off x="549951" y="1995923"/>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372" name="Google Shape;2372;p105"/>
          <p:cNvSpPr txBox="1"/>
          <p:nvPr>
            <p:ph idx="1" type="body"/>
          </p:nvPr>
        </p:nvSpPr>
        <p:spPr>
          <a:xfrm>
            <a:off x="635430" y="2529107"/>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373" name="Google Shape;2373;p105"/>
          <p:cNvSpPr txBox="1"/>
          <p:nvPr>
            <p:ph idx="1" type="body"/>
          </p:nvPr>
        </p:nvSpPr>
        <p:spPr>
          <a:xfrm>
            <a:off x="2697148" y="2027749"/>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1909 to 1966</a:t>
            </a:r>
            <a:endParaRPr sz="1600">
              <a:highlight>
                <a:schemeClr val="lt1"/>
              </a:highlight>
            </a:endParaRPr>
          </a:p>
        </p:txBody>
      </p:sp>
      <p:sp>
        <p:nvSpPr>
          <p:cNvPr id="2374" name="Google Shape;2374;p105"/>
          <p:cNvSpPr txBox="1"/>
          <p:nvPr>
            <p:ph idx="1" type="body"/>
          </p:nvPr>
        </p:nvSpPr>
        <p:spPr>
          <a:xfrm rot="-5400000">
            <a:off x="-221159" y="2157953"/>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cxnSp>
        <p:nvCxnSpPr>
          <p:cNvPr id="2375" name="Google Shape;2375;p105"/>
          <p:cNvCxnSpPr/>
          <p:nvPr/>
        </p:nvCxnSpPr>
        <p:spPr>
          <a:xfrm>
            <a:off x="949798" y="4162387"/>
            <a:ext cx="4339800" cy="0"/>
          </a:xfrm>
          <a:prstGeom prst="straightConnector1">
            <a:avLst/>
          </a:prstGeom>
          <a:noFill/>
          <a:ln cap="flat" cmpd="sng" w="19050">
            <a:solidFill>
              <a:schemeClr val="dk1"/>
            </a:solidFill>
            <a:prstDash val="solid"/>
            <a:round/>
            <a:headEnd len="med" w="med" type="none"/>
            <a:tailEnd len="med" w="med" type="triangle"/>
          </a:ln>
        </p:spPr>
      </p:cxnSp>
      <p:cxnSp>
        <p:nvCxnSpPr>
          <p:cNvPr id="2376" name="Google Shape;2376;p105"/>
          <p:cNvCxnSpPr/>
          <p:nvPr/>
        </p:nvCxnSpPr>
        <p:spPr>
          <a:xfrm rot="10800000">
            <a:off x="946204" y="3154638"/>
            <a:ext cx="0" cy="1013400"/>
          </a:xfrm>
          <a:prstGeom prst="straightConnector1">
            <a:avLst/>
          </a:prstGeom>
          <a:noFill/>
          <a:ln cap="flat" cmpd="sng" w="19050">
            <a:solidFill>
              <a:schemeClr val="dk1"/>
            </a:solidFill>
            <a:prstDash val="solid"/>
            <a:round/>
            <a:headEnd len="med" w="med" type="none"/>
            <a:tailEnd len="med" w="med" type="triangle"/>
          </a:ln>
        </p:spPr>
      </p:cxnSp>
      <p:sp>
        <p:nvSpPr>
          <p:cNvPr id="2377" name="Google Shape;2377;p105"/>
          <p:cNvSpPr txBox="1"/>
          <p:nvPr>
            <p:ph idx="1" type="body"/>
          </p:nvPr>
        </p:nvSpPr>
        <p:spPr>
          <a:xfrm>
            <a:off x="1202248" y="4200709"/>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378" name="Google Shape;2378;p105"/>
          <p:cNvSpPr txBox="1"/>
          <p:nvPr>
            <p:ph idx="1" type="body"/>
          </p:nvPr>
        </p:nvSpPr>
        <p:spPr>
          <a:xfrm>
            <a:off x="1497112"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379" name="Google Shape;2379;p105"/>
          <p:cNvSpPr txBox="1"/>
          <p:nvPr>
            <p:ph idx="1" type="body"/>
          </p:nvPr>
        </p:nvSpPr>
        <p:spPr>
          <a:xfrm>
            <a:off x="1893966" y="4200711"/>
            <a:ext cx="3558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380" name="Google Shape;2380;p105"/>
          <p:cNvSpPr txBox="1"/>
          <p:nvPr>
            <p:ph idx="1" type="body"/>
          </p:nvPr>
        </p:nvSpPr>
        <p:spPr>
          <a:xfrm>
            <a:off x="2271942" y="4200709"/>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381" name="Google Shape;2381;p105"/>
          <p:cNvSpPr txBox="1"/>
          <p:nvPr>
            <p:ph idx="1" type="body"/>
          </p:nvPr>
        </p:nvSpPr>
        <p:spPr>
          <a:xfrm>
            <a:off x="2671735" y="4200711"/>
            <a:ext cx="4119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382" name="Google Shape;2382;p105"/>
          <p:cNvSpPr txBox="1"/>
          <p:nvPr>
            <p:ph idx="1" type="body"/>
          </p:nvPr>
        </p:nvSpPr>
        <p:spPr>
          <a:xfrm>
            <a:off x="3157015"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a:t>
            </a:r>
            <a:endParaRPr sz="1200"/>
          </a:p>
        </p:txBody>
      </p:sp>
      <p:sp>
        <p:nvSpPr>
          <p:cNvPr id="2383" name="Google Shape;2383;p105"/>
          <p:cNvSpPr txBox="1"/>
          <p:nvPr>
            <p:ph idx="1" type="body"/>
          </p:nvPr>
        </p:nvSpPr>
        <p:spPr>
          <a:xfrm>
            <a:off x="3486669" y="4200711"/>
            <a:ext cx="310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0.2</a:t>
            </a:r>
            <a:endParaRPr sz="1200"/>
          </a:p>
        </p:txBody>
      </p:sp>
      <p:sp>
        <p:nvSpPr>
          <p:cNvPr id="2384" name="Google Shape;2384;p105"/>
          <p:cNvSpPr txBox="1"/>
          <p:nvPr>
            <p:ph idx="1" type="body"/>
          </p:nvPr>
        </p:nvSpPr>
        <p:spPr>
          <a:xfrm>
            <a:off x="3866211"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0.4</a:t>
            </a:r>
            <a:endParaRPr sz="1200"/>
          </a:p>
        </p:txBody>
      </p:sp>
      <p:sp>
        <p:nvSpPr>
          <p:cNvPr id="2385" name="Google Shape;2385;p105"/>
          <p:cNvSpPr txBox="1"/>
          <p:nvPr>
            <p:ph idx="1" type="body"/>
          </p:nvPr>
        </p:nvSpPr>
        <p:spPr>
          <a:xfrm>
            <a:off x="4239716" y="4200711"/>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0.6</a:t>
            </a:r>
            <a:endParaRPr sz="1200"/>
          </a:p>
        </p:txBody>
      </p:sp>
      <p:sp>
        <p:nvSpPr>
          <p:cNvPr id="2386" name="Google Shape;2386;p105"/>
          <p:cNvSpPr txBox="1"/>
          <p:nvPr>
            <p:ph idx="1" type="body"/>
          </p:nvPr>
        </p:nvSpPr>
        <p:spPr>
          <a:xfrm>
            <a:off x="4624129" y="4200709"/>
            <a:ext cx="2937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0.8</a:t>
            </a:r>
            <a:endParaRPr sz="1200"/>
          </a:p>
        </p:txBody>
      </p:sp>
      <p:sp>
        <p:nvSpPr>
          <p:cNvPr id="2387" name="Google Shape;2387;p105"/>
          <p:cNvSpPr txBox="1"/>
          <p:nvPr>
            <p:ph idx="1" type="body"/>
          </p:nvPr>
        </p:nvSpPr>
        <p:spPr>
          <a:xfrm>
            <a:off x="5060468" y="4200714"/>
            <a:ext cx="4275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
        <p:nvSpPr>
          <p:cNvPr id="2388" name="Google Shape;2388;p105"/>
          <p:cNvSpPr txBox="1"/>
          <p:nvPr>
            <p:ph idx="1" type="body"/>
          </p:nvPr>
        </p:nvSpPr>
        <p:spPr>
          <a:xfrm>
            <a:off x="752647" y="4053453"/>
            <a:ext cx="153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0</a:t>
            </a:r>
            <a:endParaRPr sz="1200"/>
          </a:p>
        </p:txBody>
      </p:sp>
      <p:sp>
        <p:nvSpPr>
          <p:cNvPr id="2389" name="Google Shape;2389;p105"/>
          <p:cNvSpPr txBox="1"/>
          <p:nvPr>
            <p:ph idx="1" type="body"/>
          </p:nvPr>
        </p:nvSpPr>
        <p:spPr>
          <a:xfrm>
            <a:off x="549975" y="3513465"/>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100</a:t>
            </a:r>
            <a:endParaRPr sz="1200"/>
          </a:p>
        </p:txBody>
      </p:sp>
      <p:sp>
        <p:nvSpPr>
          <p:cNvPr id="2390" name="Google Shape;2390;p105"/>
          <p:cNvSpPr txBox="1"/>
          <p:nvPr>
            <p:ph idx="1" type="body"/>
          </p:nvPr>
        </p:nvSpPr>
        <p:spPr>
          <a:xfrm>
            <a:off x="549951" y="3260480"/>
            <a:ext cx="3558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150</a:t>
            </a:r>
            <a:endParaRPr sz="1200"/>
          </a:p>
        </p:txBody>
      </p:sp>
      <p:sp>
        <p:nvSpPr>
          <p:cNvPr id="2391" name="Google Shape;2391;p105"/>
          <p:cNvSpPr txBox="1"/>
          <p:nvPr>
            <p:ph idx="1" type="body"/>
          </p:nvPr>
        </p:nvSpPr>
        <p:spPr>
          <a:xfrm>
            <a:off x="635430" y="3793664"/>
            <a:ext cx="270300" cy="1848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200"/>
              <a:t>50</a:t>
            </a:r>
            <a:endParaRPr sz="1200"/>
          </a:p>
        </p:txBody>
      </p:sp>
      <p:sp>
        <p:nvSpPr>
          <p:cNvPr id="2392" name="Google Shape;2392;p105"/>
          <p:cNvSpPr txBox="1"/>
          <p:nvPr>
            <p:ph idx="1" type="body"/>
          </p:nvPr>
        </p:nvSpPr>
        <p:spPr>
          <a:xfrm>
            <a:off x="2697148" y="3292307"/>
            <a:ext cx="1254000" cy="246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highlight>
                  <a:schemeClr val="lt1"/>
                </a:highlight>
              </a:rPr>
              <a:t>1967 to 2024</a:t>
            </a:r>
            <a:endParaRPr sz="1600">
              <a:highlight>
                <a:schemeClr val="lt1"/>
              </a:highlight>
            </a:endParaRPr>
          </a:p>
        </p:txBody>
      </p:sp>
      <p:sp>
        <p:nvSpPr>
          <p:cNvPr id="2393" name="Google Shape;2393;p105"/>
          <p:cNvSpPr txBox="1"/>
          <p:nvPr>
            <p:ph idx="1" type="body"/>
          </p:nvPr>
        </p:nvSpPr>
        <p:spPr>
          <a:xfrm rot="-5400000">
            <a:off x="-221159" y="3395296"/>
            <a:ext cx="1254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frequency</a:t>
            </a:r>
            <a:endParaRPr sz="1400"/>
          </a:p>
        </p:txBody>
      </p:sp>
      <p:sp>
        <p:nvSpPr>
          <p:cNvPr id="2394" name="Google Shape;2394;p105"/>
          <p:cNvSpPr txBox="1"/>
          <p:nvPr>
            <p:ph idx="1" type="body"/>
          </p:nvPr>
        </p:nvSpPr>
        <p:spPr>
          <a:xfrm>
            <a:off x="5658000" y="733800"/>
            <a:ext cx="31380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More precise methods can also be used to compare the datasets (e.g. mean or median) if pupils already know how to use them. </a:t>
            </a:r>
            <a:endParaRPr baseline="30000" sz="1600">
              <a:latin typeface="Kalam"/>
              <a:ea typeface="Kalam"/>
              <a:cs typeface="Kalam"/>
              <a:sym typeface="Kalam"/>
            </a:endParaRPr>
          </a:p>
        </p:txBody>
      </p:sp>
      <p:sp>
        <p:nvSpPr>
          <p:cNvPr id="2395" name="Google Shape;2395;p105"/>
          <p:cNvSpPr txBox="1"/>
          <p:nvPr>
            <p:ph idx="1" type="body"/>
          </p:nvPr>
        </p:nvSpPr>
        <p:spPr>
          <a:xfrm>
            <a:off x="1202248" y="1667966"/>
            <a:ext cx="235200" cy="184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-1</a:t>
            </a: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9" name="Shape 2399"/>
        <p:cNvGrpSpPr/>
        <p:nvPr/>
      </p:nvGrpSpPr>
      <p:grpSpPr>
        <a:xfrm>
          <a:off x="0" y="0"/>
          <a:ext cx="0" cy="0"/>
          <a:chOff x="0" y="0"/>
          <a:chExt cx="0" cy="0"/>
        </a:xfrm>
      </p:grpSpPr>
      <p:sp>
        <p:nvSpPr>
          <p:cNvPr id="2400" name="Google Shape;2400;p106"/>
          <p:cNvSpPr txBox="1"/>
          <p:nvPr>
            <p:ph idx="3" type="title"/>
          </p:nvPr>
        </p:nvSpPr>
        <p:spPr>
          <a:xfrm>
            <a:off x="1225225" y="3069850"/>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pic>
        <p:nvPicPr>
          <p:cNvPr id="2401" name="Google Shape;2401;p106"/>
          <p:cNvPicPr preferRelativeResize="0"/>
          <p:nvPr/>
        </p:nvPicPr>
        <p:blipFill>
          <a:blip r:embed="rId3">
            <a:alphaModFix/>
          </a:blip>
          <a:stretch>
            <a:fillRect/>
          </a:stretch>
        </p:blipFill>
        <p:spPr>
          <a:xfrm>
            <a:off x="424384" y="2990518"/>
            <a:ext cx="450575" cy="446750"/>
          </a:xfrm>
          <a:prstGeom prst="rect">
            <a:avLst/>
          </a:prstGeom>
          <a:noFill/>
          <a:ln>
            <a:noFill/>
          </a:ln>
        </p:spPr>
      </p:pic>
      <p:sp>
        <p:nvSpPr>
          <p:cNvPr id="2402" name="Google Shape;2402;p106"/>
          <p:cNvSpPr txBox="1"/>
          <p:nvPr>
            <p:ph idx="2" type="title"/>
          </p:nvPr>
        </p:nvSpPr>
        <p:spPr>
          <a:xfrm>
            <a:off x="324000" y="657600"/>
            <a:ext cx="7135200" cy="307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1800"/>
              <a:t>Studying climate change</a:t>
            </a:r>
            <a:endParaRPr sz="1800"/>
          </a:p>
        </p:txBody>
      </p:sp>
      <p:sp>
        <p:nvSpPr>
          <p:cNvPr id="2403" name="Google Shape;2403;p106"/>
          <p:cNvSpPr txBox="1"/>
          <p:nvPr>
            <p:ph type="title"/>
          </p:nvPr>
        </p:nvSpPr>
        <p:spPr>
          <a:xfrm>
            <a:off x="1225225" y="2133562"/>
            <a:ext cx="68523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Comparing data between different periods of time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7" name="Shape 2407"/>
        <p:cNvGrpSpPr/>
        <p:nvPr/>
      </p:nvGrpSpPr>
      <p:grpSpPr>
        <a:xfrm>
          <a:off x="0" y="0"/>
          <a:ext cx="0" cy="0"/>
          <a:chOff x="0" y="0"/>
          <a:chExt cx="0" cy="0"/>
        </a:xfrm>
      </p:grpSpPr>
      <p:pic>
        <p:nvPicPr>
          <p:cNvPr id="2408" name="Google Shape;2408;p107"/>
          <p:cNvPicPr preferRelativeResize="0"/>
          <p:nvPr/>
        </p:nvPicPr>
        <p:blipFill rotWithShape="1">
          <a:blip r:embed="rId3">
            <a:alphaModFix/>
          </a:blip>
          <a:srcRect b="4734" l="4762" r="28721" t="0"/>
          <a:stretch/>
        </p:blipFill>
        <p:spPr>
          <a:xfrm>
            <a:off x="1661774" y="1591950"/>
            <a:ext cx="3450275" cy="2790874"/>
          </a:xfrm>
          <a:prstGeom prst="rect">
            <a:avLst/>
          </a:prstGeom>
          <a:noFill/>
          <a:ln>
            <a:noFill/>
          </a:ln>
        </p:spPr>
      </p:pic>
      <p:sp>
        <p:nvSpPr>
          <p:cNvPr id="2409" name="Google Shape;2409;p107"/>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410" name="Google Shape;2410;p107"/>
          <p:cNvCxnSpPr/>
          <p:nvPr/>
        </p:nvCxnSpPr>
        <p:spPr>
          <a:xfrm>
            <a:off x="1650000" y="3584849"/>
            <a:ext cx="3619200" cy="0"/>
          </a:xfrm>
          <a:prstGeom prst="straightConnector1">
            <a:avLst/>
          </a:prstGeom>
          <a:noFill/>
          <a:ln cap="flat" cmpd="sng" w="19050">
            <a:solidFill>
              <a:schemeClr val="dk1"/>
            </a:solidFill>
            <a:prstDash val="solid"/>
            <a:round/>
            <a:headEnd len="med" w="med" type="none"/>
            <a:tailEnd len="med" w="med" type="triangle"/>
          </a:ln>
        </p:spPr>
      </p:cxnSp>
      <p:cxnSp>
        <p:nvCxnSpPr>
          <p:cNvPr id="2411" name="Google Shape;2411;p107"/>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412" name="Google Shape;2412;p107"/>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413" name="Google Shape;2413;p107"/>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414" name="Google Shape;2414;p107"/>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415" name="Google Shape;2415;p107"/>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416" name="Google Shape;2416;p107"/>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417" name="Google Shape;2417;p107"/>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418" name="Google Shape;2418;p107"/>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419" name="Google Shape;2419;p107"/>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420" name="Google Shape;2420;p107"/>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421" name="Google Shape;2421;p107"/>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422" name="Google Shape;2422;p107"/>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423" name="Google Shape;2423;p107"/>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424" name="Google Shape;2424;p107"/>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425" name="Google Shape;2425;p107"/>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426" name="Google Shape;2426;p107"/>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1850 to 2024.</a:t>
            </a:r>
            <a:endParaRPr sz="1800"/>
          </a:p>
        </p:txBody>
      </p:sp>
      <p:sp>
        <p:nvSpPr>
          <p:cNvPr id="2427" name="Google Shape;2427;p107"/>
          <p:cNvSpPr txBox="1"/>
          <p:nvPr>
            <p:ph idx="1" type="body"/>
          </p:nvPr>
        </p:nvSpPr>
        <p:spPr>
          <a:xfrm>
            <a:off x="5644651" y="1648200"/>
            <a:ext cx="2859000" cy="11643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700"/>
              <a:t>Each temperature shows whether it was warmer or colder than it was before industrialisation.</a:t>
            </a:r>
            <a:endParaRPr sz="1700"/>
          </a:p>
        </p:txBody>
      </p:sp>
      <p:sp>
        <p:nvSpPr>
          <p:cNvPr id="2428" name="Google Shape;2428;p107"/>
          <p:cNvSpPr txBox="1"/>
          <p:nvPr>
            <p:ph idx="1" type="body"/>
          </p:nvPr>
        </p:nvSpPr>
        <p:spPr>
          <a:xfrm>
            <a:off x="5644651" y="2994058"/>
            <a:ext cx="3054600" cy="1465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700"/>
              <a:t>E.g. This point represents the year 2020, where the mean global temperature was 1.3°C warmer than during pre-industrial conditions.</a:t>
            </a:r>
            <a:endParaRPr sz="1700"/>
          </a:p>
        </p:txBody>
      </p:sp>
      <p:cxnSp>
        <p:nvCxnSpPr>
          <p:cNvPr id="2429" name="Google Shape;2429;p107"/>
          <p:cNvCxnSpPr>
            <a:stCxn id="2430" idx="5"/>
          </p:cNvCxnSpPr>
          <p:nvPr/>
        </p:nvCxnSpPr>
        <p:spPr>
          <a:xfrm>
            <a:off x="4960171" y="2635309"/>
            <a:ext cx="652800" cy="452400"/>
          </a:xfrm>
          <a:prstGeom prst="straightConnector1">
            <a:avLst/>
          </a:prstGeom>
          <a:noFill/>
          <a:ln cap="flat" cmpd="sng" w="38100">
            <a:solidFill>
              <a:schemeClr val="dk1"/>
            </a:solidFill>
            <a:prstDash val="solid"/>
            <a:round/>
            <a:headEnd len="med" w="med" type="none"/>
            <a:tailEnd len="med" w="med" type="none"/>
          </a:ln>
        </p:spPr>
      </p:cxnSp>
      <p:cxnSp>
        <p:nvCxnSpPr>
          <p:cNvPr id="2431" name="Google Shape;2431;p107"/>
          <p:cNvCxnSpPr/>
          <p:nvPr/>
        </p:nvCxnSpPr>
        <p:spPr>
          <a:xfrm rot="10800000">
            <a:off x="1654583" y="2597065"/>
            <a:ext cx="3228000" cy="0"/>
          </a:xfrm>
          <a:prstGeom prst="straightConnector1">
            <a:avLst/>
          </a:prstGeom>
          <a:noFill/>
          <a:ln cap="flat" cmpd="sng" w="38100">
            <a:solidFill>
              <a:schemeClr val="dk2"/>
            </a:solidFill>
            <a:prstDash val="dash"/>
            <a:round/>
            <a:headEnd len="med" w="med" type="none"/>
            <a:tailEnd len="med" w="med" type="none"/>
          </a:ln>
        </p:spPr>
      </p:cxnSp>
      <p:cxnSp>
        <p:nvCxnSpPr>
          <p:cNvPr id="2432" name="Google Shape;2432;p107"/>
          <p:cNvCxnSpPr>
            <a:endCxn id="2430" idx="4"/>
          </p:cNvCxnSpPr>
          <p:nvPr/>
        </p:nvCxnSpPr>
        <p:spPr>
          <a:xfrm flipH="1" rot="10800000">
            <a:off x="4921133" y="2648621"/>
            <a:ext cx="6900" cy="941700"/>
          </a:xfrm>
          <a:prstGeom prst="straightConnector1">
            <a:avLst/>
          </a:prstGeom>
          <a:noFill/>
          <a:ln cap="flat" cmpd="sng" w="38100">
            <a:solidFill>
              <a:schemeClr val="dk2"/>
            </a:solidFill>
            <a:prstDash val="dash"/>
            <a:round/>
            <a:headEnd len="med" w="med" type="none"/>
            <a:tailEnd len="med" w="med" type="none"/>
          </a:ln>
        </p:spPr>
      </p:cxnSp>
      <p:sp>
        <p:nvSpPr>
          <p:cNvPr id="2430" name="Google Shape;2430;p107"/>
          <p:cNvSpPr/>
          <p:nvPr/>
        </p:nvSpPr>
        <p:spPr>
          <a:xfrm>
            <a:off x="4882583" y="2557721"/>
            <a:ext cx="90900" cy="909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6" name="Shape 2436"/>
        <p:cNvGrpSpPr/>
        <p:nvPr/>
      </p:nvGrpSpPr>
      <p:grpSpPr>
        <a:xfrm>
          <a:off x="0" y="0"/>
          <a:ext cx="0" cy="0"/>
          <a:chOff x="0" y="0"/>
          <a:chExt cx="0" cy="0"/>
        </a:xfrm>
      </p:grpSpPr>
      <p:pic>
        <p:nvPicPr>
          <p:cNvPr id="2437" name="Google Shape;2437;p108"/>
          <p:cNvPicPr preferRelativeResize="0"/>
          <p:nvPr/>
        </p:nvPicPr>
        <p:blipFill rotWithShape="1">
          <a:blip r:embed="rId3">
            <a:alphaModFix/>
          </a:blip>
          <a:srcRect b="43690" l="0" r="57905" t="0"/>
          <a:stretch/>
        </p:blipFill>
        <p:spPr>
          <a:xfrm>
            <a:off x="5387800" y="2549925"/>
            <a:ext cx="2662052" cy="1338850"/>
          </a:xfrm>
          <a:prstGeom prst="rect">
            <a:avLst/>
          </a:prstGeom>
          <a:noFill/>
          <a:ln>
            <a:noFill/>
          </a:ln>
        </p:spPr>
      </p:pic>
      <p:pic>
        <p:nvPicPr>
          <p:cNvPr id="2438" name="Google Shape;2438;p108"/>
          <p:cNvPicPr preferRelativeResize="0"/>
          <p:nvPr/>
        </p:nvPicPr>
        <p:blipFill rotWithShape="1">
          <a:blip r:embed="rId4">
            <a:alphaModFix/>
          </a:blip>
          <a:srcRect b="4734" l="4762" r="28721" t="0"/>
          <a:stretch/>
        </p:blipFill>
        <p:spPr>
          <a:xfrm>
            <a:off x="1661774" y="1591950"/>
            <a:ext cx="3450275" cy="2790874"/>
          </a:xfrm>
          <a:prstGeom prst="rect">
            <a:avLst/>
          </a:prstGeom>
          <a:noFill/>
          <a:ln>
            <a:noFill/>
          </a:ln>
        </p:spPr>
      </p:pic>
      <p:sp>
        <p:nvSpPr>
          <p:cNvPr id="2439" name="Google Shape;2439;p108"/>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440" name="Google Shape;2440;p108"/>
          <p:cNvCxnSpPr/>
          <p:nvPr/>
        </p:nvCxnSpPr>
        <p:spPr>
          <a:xfrm>
            <a:off x="1650000" y="3584849"/>
            <a:ext cx="3619200" cy="0"/>
          </a:xfrm>
          <a:prstGeom prst="straightConnector1">
            <a:avLst/>
          </a:prstGeom>
          <a:noFill/>
          <a:ln cap="flat" cmpd="sng" w="19050">
            <a:solidFill>
              <a:schemeClr val="dk1"/>
            </a:solidFill>
            <a:prstDash val="solid"/>
            <a:round/>
            <a:headEnd len="med" w="med" type="none"/>
            <a:tailEnd len="med" w="med" type="triangle"/>
          </a:ln>
        </p:spPr>
      </p:cxnSp>
      <p:cxnSp>
        <p:nvCxnSpPr>
          <p:cNvPr id="2441" name="Google Shape;2441;p108"/>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442" name="Google Shape;2442;p108"/>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443" name="Google Shape;2443;p108"/>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444" name="Google Shape;2444;p108"/>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445" name="Google Shape;2445;p108"/>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446" name="Google Shape;2446;p108"/>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447" name="Google Shape;2447;p108"/>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448" name="Google Shape;2448;p108"/>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449" name="Google Shape;2449;p108"/>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450" name="Google Shape;2450;p108"/>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451" name="Google Shape;2451;p108"/>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452" name="Google Shape;2452;p108"/>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453" name="Google Shape;2453;p108"/>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454" name="Google Shape;2454;p108"/>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455" name="Google Shape;2455;p108"/>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456" name="Google Shape;2456;p108"/>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1850 to 2024.</a:t>
            </a:r>
            <a:endParaRPr sz="1800"/>
          </a:p>
        </p:txBody>
      </p:sp>
      <p:pic>
        <p:nvPicPr>
          <p:cNvPr id="2457" name="Google Shape;2457;p108"/>
          <p:cNvPicPr preferRelativeResize="0"/>
          <p:nvPr/>
        </p:nvPicPr>
        <p:blipFill>
          <a:blip r:embed="rId5">
            <a:alphaModFix/>
          </a:blip>
          <a:stretch>
            <a:fillRect/>
          </a:stretch>
        </p:blipFill>
        <p:spPr>
          <a:xfrm>
            <a:off x="7840810" y="3850401"/>
            <a:ext cx="605574" cy="671801"/>
          </a:xfrm>
          <a:prstGeom prst="rect">
            <a:avLst/>
          </a:prstGeom>
          <a:noFill/>
          <a:ln>
            <a:noFill/>
          </a:ln>
        </p:spPr>
      </p:pic>
      <p:sp>
        <p:nvSpPr>
          <p:cNvPr id="2458" name="Google Shape;2458;p108"/>
          <p:cNvSpPr txBox="1"/>
          <p:nvPr/>
        </p:nvSpPr>
        <p:spPr>
          <a:xfrm>
            <a:off x="7700950" y="45222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latin typeface="Lexend"/>
                <a:ea typeface="Lexend"/>
                <a:cs typeface="Lexend"/>
                <a:sym typeface="Lexend"/>
              </a:rPr>
              <a:t>Sofia</a:t>
            </a:r>
            <a:endParaRPr sz="1600">
              <a:latin typeface="Lexend"/>
              <a:ea typeface="Lexend"/>
              <a:cs typeface="Lexend"/>
              <a:sym typeface="Lexend"/>
            </a:endParaRPr>
          </a:p>
        </p:txBody>
      </p:sp>
      <p:sp>
        <p:nvSpPr>
          <p:cNvPr id="2459" name="Google Shape;2459;p108"/>
          <p:cNvSpPr txBox="1"/>
          <p:nvPr/>
        </p:nvSpPr>
        <p:spPr>
          <a:xfrm flipH="1">
            <a:off x="5509784" y="2499650"/>
            <a:ext cx="2341200" cy="1155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mean global temperatures go up and down each year. </a:t>
            </a:r>
            <a:endParaRPr sz="1800">
              <a:solidFill>
                <a:srgbClr val="000000"/>
              </a:solidFill>
              <a:latin typeface="Lexend"/>
              <a:ea typeface="Lexend"/>
              <a:cs typeface="Lexend"/>
              <a:sym typeface="Lexend"/>
            </a:endParaRPr>
          </a:p>
        </p:txBody>
      </p:sp>
      <p:sp>
        <p:nvSpPr>
          <p:cNvPr id="2460" name="Google Shape;2460;p108"/>
          <p:cNvSpPr txBox="1"/>
          <p:nvPr>
            <p:ph idx="1" type="body"/>
          </p:nvPr>
        </p:nvSpPr>
        <p:spPr>
          <a:xfrm>
            <a:off x="5429400" y="1648200"/>
            <a:ext cx="30171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What do you notice</a:t>
            </a:r>
            <a:r>
              <a:rPr lang="en-GB" sz="1800"/>
              <a:t> about this data</a:t>
            </a:r>
            <a:r>
              <a:rPr lang="en-GB" sz="1800"/>
              <a: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4" name="Shape 2464"/>
        <p:cNvGrpSpPr/>
        <p:nvPr/>
      </p:nvGrpSpPr>
      <p:grpSpPr>
        <a:xfrm>
          <a:off x="0" y="0"/>
          <a:ext cx="0" cy="0"/>
          <a:chOff x="0" y="0"/>
          <a:chExt cx="0" cy="0"/>
        </a:xfrm>
      </p:grpSpPr>
      <p:pic>
        <p:nvPicPr>
          <p:cNvPr id="2465" name="Google Shape;2465;p109"/>
          <p:cNvPicPr preferRelativeResize="0"/>
          <p:nvPr/>
        </p:nvPicPr>
        <p:blipFill rotWithShape="1">
          <a:blip r:embed="rId3">
            <a:alphaModFix/>
          </a:blip>
          <a:srcRect b="4760" l="40550" r="0" t="13015"/>
          <a:stretch/>
        </p:blipFill>
        <p:spPr>
          <a:xfrm flipH="1">
            <a:off x="5307153" y="1790477"/>
            <a:ext cx="3206625" cy="1989375"/>
          </a:xfrm>
          <a:prstGeom prst="rect">
            <a:avLst/>
          </a:prstGeom>
          <a:noFill/>
          <a:ln>
            <a:noFill/>
          </a:ln>
        </p:spPr>
      </p:pic>
      <p:pic>
        <p:nvPicPr>
          <p:cNvPr id="2466" name="Google Shape;2466;p109"/>
          <p:cNvPicPr preferRelativeResize="0"/>
          <p:nvPr/>
        </p:nvPicPr>
        <p:blipFill rotWithShape="1">
          <a:blip r:embed="rId4">
            <a:alphaModFix/>
          </a:blip>
          <a:srcRect b="4734" l="4762" r="28721" t="0"/>
          <a:stretch/>
        </p:blipFill>
        <p:spPr>
          <a:xfrm>
            <a:off x="1661774" y="1591950"/>
            <a:ext cx="3450275" cy="2790874"/>
          </a:xfrm>
          <a:prstGeom prst="rect">
            <a:avLst/>
          </a:prstGeom>
          <a:noFill/>
          <a:ln>
            <a:noFill/>
          </a:ln>
        </p:spPr>
      </p:pic>
      <p:sp>
        <p:nvSpPr>
          <p:cNvPr id="2467" name="Google Shape;2467;p109"/>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468" name="Google Shape;2468;p109"/>
          <p:cNvCxnSpPr/>
          <p:nvPr/>
        </p:nvCxnSpPr>
        <p:spPr>
          <a:xfrm>
            <a:off x="1650000" y="3584849"/>
            <a:ext cx="3619200" cy="0"/>
          </a:xfrm>
          <a:prstGeom prst="straightConnector1">
            <a:avLst/>
          </a:prstGeom>
          <a:noFill/>
          <a:ln cap="flat" cmpd="sng" w="19050">
            <a:solidFill>
              <a:schemeClr val="dk1"/>
            </a:solidFill>
            <a:prstDash val="solid"/>
            <a:round/>
            <a:headEnd len="med" w="med" type="none"/>
            <a:tailEnd len="med" w="med" type="triangle"/>
          </a:ln>
        </p:spPr>
      </p:cxnSp>
      <p:cxnSp>
        <p:nvCxnSpPr>
          <p:cNvPr id="2469" name="Google Shape;2469;p109"/>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470" name="Google Shape;2470;p109"/>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471" name="Google Shape;2471;p109"/>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472" name="Google Shape;2472;p109"/>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473" name="Google Shape;2473;p109"/>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474" name="Google Shape;2474;p109"/>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475" name="Google Shape;2475;p109"/>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476" name="Google Shape;2476;p109"/>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477" name="Google Shape;2477;p109"/>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478" name="Google Shape;2478;p109"/>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479" name="Google Shape;2479;p109"/>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480" name="Google Shape;2480;p109"/>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481" name="Google Shape;2481;p109"/>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482" name="Google Shape;2482;p109"/>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483" name="Google Shape;2483;p109"/>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484" name="Google Shape;2484;p109"/>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1850 to 2024.</a:t>
            </a:r>
            <a:endParaRPr sz="1800"/>
          </a:p>
        </p:txBody>
      </p:sp>
      <p:sp>
        <p:nvSpPr>
          <p:cNvPr id="2485" name="Google Shape;2485;p109"/>
          <p:cNvSpPr txBox="1"/>
          <p:nvPr/>
        </p:nvSpPr>
        <p:spPr>
          <a:xfrm flipH="1">
            <a:off x="5447403" y="1925004"/>
            <a:ext cx="2847900" cy="1432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For most years between 1850 and 1940, the mean global temperatures stayed within a similar set of values</a:t>
            </a: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pic>
        <p:nvPicPr>
          <p:cNvPr id="2486" name="Google Shape;2486;p109"/>
          <p:cNvPicPr preferRelativeResize="0"/>
          <p:nvPr/>
        </p:nvPicPr>
        <p:blipFill>
          <a:blip r:embed="rId5">
            <a:alphaModFix/>
          </a:blip>
          <a:stretch>
            <a:fillRect/>
          </a:stretch>
        </p:blipFill>
        <p:spPr>
          <a:xfrm flipH="1">
            <a:off x="7886499" y="3888771"/>
            <a:ext cx="514225" cy="643050"/>
          </a:xfrm>
          <a:prstGeom prst="rect">
            <a:avLst/>
          </a:prstGeom>
          <a:noFill/>
          <a:ln>
            <a:noFill/>
          </a:ln>
        </p:spPr>
      </p:pic>
      <p:sp>
        <p:nvSpPr>
          <p:cNvPr id="2487" name="Google Shape;2487;p109"/>
          <p:cNvSpPr txBox="1"/>
          <p:nvPr/>
        </p:nvSpPr>
        <p:spPr>
          <a:xfrm>
            <a:off x="7700950" y="45222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latin typeface="Lexend"/>
                <a:ea typeface="Lexend"/>
                <a:cs typeface="Lexend"/>
                <a:sym typeface="Lexend"/>
              </a:rPr>
              <a:t>Jun</a:t>
            </a:r>
            <a:endParaRPr sz="1600">
              <a:latin typeface="Lexend"/>
              <a:ea typeface="Lexend"/>
              <a:cs typeface="Lexend"/>
              <a:sym typeface="Lexend"/>
            </a:endParaRPr>
          </a:p>
        </p:txBody>
      </p:sp>
      <p:cxnSp>
        <p:nvCxnSpPr>
          <p:cNvPr id="2488" name="Google Shape;2488;p109"/>
          <p:cNvCxnSpPr/>
          <p:nvPr/>
        </p:nvCxnSpPr>
        <p:spPr>
          <a:xfrm>
            <a:off x="1689300" y="3397125"/>
            <a:ext cx="1640400" cy="0"/>
          </a:xfrm>
          <a:prstGeom prst="straightConnector1">
            <a:avLst/>
          </a:prstGeom>
          <a:noFill/>
          <a:ln cap="flat" cmpd="sng" w="38100">
            <a:solidFill>
              <a:schemeClr val="dk1"/>
            </a:solidFill>
            <a:prstDash val="dash"/>
            <a:round/>
            <a:headEnd len="med" w="med" type="none"/>
            <a:tailEnd len="med" w="med" type="none"/>
          </a:ln>
        </p:spPr>
      </p:cxnSp>
      <p:cxnSp>
        <p:nvCxnSpPr>
          <p:cNvPr id="2489" name="Google Shape;2489;p109"/>
          <p:cNvCxnSpPr/>
          <p:nvPr/>
        </p:nvCxnSpPr>
        <p:spPr>
          <a:xfrm>
            <a:off x="1689300" y="3828125"/>
            <a:ext cx="1640400" cy="0"/>
          </a:xfrm>
          <a:prstGeom prst="straightConnector1">
            <a:avLst/>
          </a:prstGeom>
          <a:noFill/>
          <a:ln cap="flat" cmpd="sng" w="38100">
            <a:solidFill>
              <a:schemeClr val="dk1"/>
            </a:solidFill>
            <a:prstDash val="dash"/>
            <a:round/>
            <a:headEnd len="med" w="med" type="none"/>
            <a:tailEnd len="med" w="med" type="none"/>
          </a:ln>
        </p:spPr>
      </p:cxnSp>
      <p:cxnSp>
        <p:nvCxnSpPr>
          <p:cNvPr id="2490" name="Google Shape;2490;p109"/>
          <p:cNvCxnSpPr/>
          <p:nvPr/>
        </p:nvCxnSpPr>
        <p:spPr>
          <a:xfrm rot="10800000">
            <a:off x="3268202" y="3405600"/>
            <a:ext cx="0" cy="436800"/>
          </a:xfrm>
          <a:prstGeom prst="straightConnector1">
            <a:avLst/>
          </a:prstGeom>
          <a:noFill/>
          <a:ln cap="flat" cmpd="sng" w="28575">
            <a:solidFill>
              <a:schemeClr val="dk1"/>
            </a:solidFill>
            <a:prstDash val="solid"/>
            <a:round/>
            <a:headEnd len="med" w="med" type="triangl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4" name="Shape 2494"/>
        <p:cNvGrpSpPr/>
        <p:nvPr/>
      </p:nvGrpSpPr>
      <p:grpSpPr>
        <a:xfrm>
          <a:off x="0" y="0"/>
          <a:ext cx="0" cy="0"/>
          <a:chOff x="0" y="0"/>
          <a:chExt cx="0" cy="0"/>
        </a:xfrm>
      </p:grpSpPr>
      <p:pic>
        <p:nvPicPr>
          <p:cNvPr id="2495" name="Google Shape;2495;p110"/>
          <p:cNvPicPr preferRelativeResize="0"/>
          <p:nvPr/>
        </p:nvPicPr>
        <p:blipFill rotWithShape="1">
          <a:blip r:embed="rId3">
            <a:alphaModFix/>
          </a:blip>
          <a:srcRect b="4760" l="40550" r="0" t="13015"/>
          <a:stretch/>
        </p:blipFill>
        <p:spPr>
          <a:xfrm flipH="1">
            <a:off x="5189675" y="1588100"/>
            <a:ext cx="3819750" cy="2254300"/>
          </a:xfrm>
          <a:prstGeom prst="rect">
            <a:avLst/>
          </a:prstGeom>
          <a:noFill/>
          <a:ln>
            <a:noFill/>
          </a:ln>
        </p:spPr>
      </p:pic>
      <p:pic>
        <p:nvPicPr>
          <p:cNvPr id="2496" name="Google Shape;2496;p110"/>
          <p:cNvPicPr preferRelativeResize="0"/>
          <p:nvPr/>
        </p:nvPicPr>
        <p:blipFill rotWithShape="1">
          <a:blip r:embed="rId4">
            <a:alphaModFix/>
          </a:blip>
          <a:srcRect b="4734" l="4762" r="28721" t="0"/>
          <a:stretch/>
        </p:blipFill>
        <p:spPr>
          <a:xfrm>
            <a:off x="1661774" y="1591950"/>
            <a:ext cx="3450275" cy="2790874"/>
          </a:xfrm>
          <a:prstGeom prst="rect">
            <a:avLst/>
          </a:prstGeom>
          <a:noFill/>
          <a:ln>
            <a:noFill/>
          </a:ln>
        </p:spPr>
      </p:pic>
      <p:sp>
        <p:nvSpPr>
          <p:cNvPr id="2497" name="Google Shape;2497;p110"/>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498" name="Google Shape;2498;p110"/>
          <p:cNvCxnSpPr/>
          <p:nvPr/>
        </p:nvCxnSpPr>
        <p:spPr>
          <a:xfrm>
            <a:off x="1650000" y="3584849"/>
            <a:ext cx="3619200" cy="0"/>
          </a:xfrm>
          <a:prstGeom prst="straightConnector1">
            <a:avLst/>
          </a:prstGeom>
          <a:noFill/>
          <a:ln cap="flat" cmpd="sng" w="19050">
            <a:solidFill>
              <a:schemeClr val="dk1"/>
            </a:solidFill>
            <a:prstDash val="solid"/>
            <a:round/>
            <a:headEnd len="med" w="med" type="none"/>
            <a:tailEnd len="med" w="med" type="triangle"/>
          </a:ln>
        </p:spPr>
      </p:cxnSp>
      <p:cxnSp>
        <p:nvCxnSpPr>
          <p:cNvPr id="2499" name="Google Shape;2499;p110"/>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500" name="Google Shape;2500;p110"/>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501" name="Google Shape;2501;p110"/>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502" name="Google Shape;2502;p110"/>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503" name="Google Shape;2503;p110"/>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504" name="Google Shape;2504;p110"/>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505" name="Google Shape;2505;p110"/>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506" name="Google Shape;2506;p110"/>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507" name="Google Shape;2507;p110"/>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508" name="Google Shape;2508;p110"/>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509" name="Google Shape;2509;p110"/>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510" name="Google Shape;2510;p110"/>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511" name="Google Shape;2511;p110"/>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512" name="Google Shape;2512;p110"/>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513" name="Google Shape;2513;p110"/>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514" name="Google Shape;2514;p110"/>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1850 to 2024.</a:t>
            </a:r>
            <a:endParaRPr sz="1800"/>
          </a:p>
        </p:txBody>
      </p:sp>
      <p:sp>
        <p:nvSpPr>
          <p:cNvPr id="2515" name="Google Shape;2515;p110"/>
          <p:cNvSpPr txBox="1"/>
          <p:nvPr/>
        </p:nvSpPr>
        <p:spPr>
          <a:xfrm flipH="1">
            <a:off x="5251182" y="1646416"/>
            <a:ext cx="3570900" cy="1750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000"/>
              </a:spcBef>
              <a:spcAft>
                <a:spcPts val="0"/>
              </a:spcAft>
              <a:buNone/>
            </a:pPr>
            <a:r>
              <a:rPr lang="en-GB" sz="1800">
                <a:latin typeface="Lexend"/>
                <a:ea typeface="Lexend"/>
                <a:cs typeface="Lexend"/>
                <a:sym typeface="Lexend"/>
              </a:rPr>
              <a:t>T</a:t>
            </a:r>
            <a:r>
              <a:rPr lang="en-GB" sz="1800">
                <a:latin typeface="Lexend"/>
                <a:ea typeface="Lexend"/>
                <a:cs typeface="Lexend"/>
                <a:sym typeface="Lexend"/>
              </a:rPr>
              <a:t>he mean global temperatures also stayed between a similar set of values from 1940 to 1970.</a:t>
            </a:r>
            <a:endParaRPr sz="1800">
              <a:latin typeface="Lexend"/>
              <a:ea typeface="Lexend"/>
              <a:cs typeface="Lexend"/>
              <a:sym typeface="Lexend"/>
            </a:endParaRPr>
          </a:p>
          <a:p>
            <a:pPr indent="0" lvl="0" marL="0" rtl="0" algn="l">
              <a:lnSpc>
                <a:spcPct val="115000"/>
              </a:lnSpc>
              <a:spcBef>
                <a:spcPts val="1000"/>
              </a:spcBef>
              <a:spcAft>
                <a:spcPts val="0"/>
              </a:spcAft>
              <a:buNone/>
            </a:pPr>
            <a:r>
              <a:rPr lang="en-GB" sz="1800">
                <a:latin typeface="Lexend"/>
                <a:ea typeface="Lexend"/>
                <a:cs typeface="Lexend"/>
                <a:sym typeface="Lexend"/>
              </a:rPr>
              <a:t>But these are higher than they were from 1850 to 1940.</a:t>
            </a:r>
            <a:endParaRPr sz="1800">
              <a:solidFill>
                <a:srgbClr val="000000"/>
              </a:solidFill>
              <a:latin typeface="Lexend"/>
              <a:ea typeface="Lexend"/>
              <a:cs typeface="Lexend"/>
              <a:sym typeface="Lexend"/>
            </a:endParaRPr>
          </a:p>
        </p:txBody>
      </p:sp>
      <p:sp>
        <p:nvSpPr>
          <p:cNvPr id="2516" name="Google Shape;2516;p110"/>
          <p:cNvSpPr txBox="1"/>
          <p:nvPr/>
        </p:nvSpPr>
        <p:spPr>
          <a:xfrm>
            <a:off x="7829581" y="4563446"/>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latin typeface="Lexend"/>
                <a:ea typeface="Lexend"/>
                <a:cs typeface="Lexend"/>
                <a:sym typeface="Lexend"/>
              </a:rPr>
              <a:t>Aisha</a:t>
            </a:r>
            <a:endParaRPr sz="1600">
              <a:latin typeface="Lexend"/>
              <a:ea typeface="Lexend"/>
              <a:cs typeface="Lexend"/>
              <a:sym typeface="Lexend"/>
            </a:endParaRPr>
          </a:p>
        </p:txBody>
      </p:sp>
      <p:cxnSp>
        <p:nvCxnSpPr>
          <p:cNvPr id="2517" name="Google Shape;2517;p110"/>
          <p:cNvCxnSpPr/>
          <p:nvPr/>
        </p:nvCxnSpPr>
        <p:spPr>
          <a:xfrm>
            <a:off x="1689300" y="3397125"/>
            <a:ext cx="1640400" cy="0"/>
          </a:xfrm>
          <a:prstGeom prst="straightConnector1">
            <a:avLst/>
          </a:prstGeom>
          <a:noFill/>
          <a:ln cap="flat" cmpd="sng" w="38100">
            <a:solidFill>
              <a:schemeClr val="dk1"/>
            </a:solidFill>
            <a:prstDash val="dash"/>
            <a:round/>
            <a:headEnd len="med" w="med" type="none"/>
            <a:tailEnd len="med" w="med" type="none"/>
          </a:ln>
        </p:spPr>
      </p:cxnSp>
      <p:cxnSp>
        <p:nvCxnSpPr>
          <p:cNvPr id="2518" name="Google Shape;2518;p110"/>
          <p:cNvCxnSpPr/>
          <p:nvPr/>
        </p:nvCxnSpPr>
        <p:spPr>
          <a:xfrm>
            <a:off x="1689300" y="3828125"/>
            <a:ext cx="1640400" cy="0"/>
          </a:xfrm>
          <a:prstGeom prst="straightConnector1">
            <a:avLst/>
          </a:prstGeom>
          <a:noFill/>
          <a:ln cap="flat" cmpd="sng" w="38100">
            <a:solidFill>
              <a:schemeClr val="dk1"/>
            </a:solidFill>
            <a:prstDash val="dash"/>
            <a:round/>
            <a:headEnd len="med" w="med" type="none"/>
            <a:tailEnd len="med" w="med" type="none"/>
          </a:ln>
        </p:spPr>
      </p:cxnSp>
      <p:cxnSp>
        <p:nvCxnSpPr>
          <p:cNvPr id="2519" name="Google Shape;2519;p110"/>
          <p:cNvCxnSpPr/>
          <p:nvPr/>
        </p:nvCxnSpPr>
        <p:spPr>
          <a:xfrm rot="10800000">
            <a:off x="3268202" y="3405600"/>
            <a:ext cx="0" cy="436800"/>
          </a:xfrm>
          <a:prstGeom prst="straightConnector1">
            <a:avLst/>
          </a:prstGeom>
          <a:noFill/>
          <a:ln cap="flat" cmpd="sng" w="28575">
            <a:solidFill>
              <a:schemeClr val="dk1"/>
            </a:solidFill>
            <a:prstDash val="solid"/>
            <a:round/>
            <a:headEnd len="med" w="med" type="triangle"/>
            <a:tailEnd len="med" w="med" type="triangle"/>
          </a:ln>
        </p:spPr>
      </p:cxnSp>
      <p:cxnSp>
        <p:nvCxnSpPr>
          <p:cNvPr id="2520" name="Google Shape;2520;p110"/>
          <p:cNvCxnSpPr/>
          <p:nvPr/>
        </p:nvCxnSpPr>
        <p:spPr>
          <a:xfrm>
            <a:off x="3306976" y="3168525"/>
            <a:ext cx="695100" cy="3900"/>
          </a:xfrm>
          <a:prstGeom prst="straightConnector1">
            <a:avLst/>
          </a:prstGeom>
          <a:noFill/>
          <a:ln cap="flat" cmpd="sng" w="38100">
            <a:solidFill>
              <a:schemeClr val="dk1"/>
            </a:solidFill>
            <a:prstDash val="dash"/>
            <a:round/>
            <a:headEnd len="med" w="med" type="none"/>
            <a:tailEnd len="med" w="med" type="none"/>
          </a:ln>
        </p:spPr>
      </p:cxnSp>
      <p:cxnSp>
        <p:nvCxnSpPr>
          <p:cNvPr id="2521" name="Google Shape;2521;p110"/>
          <p:cNvCxnSpPr/>
          <p:nvPr/>
        </p:nvCxnSpPr>
        <p:spPr>
          <a:xfrm rot="10800000">
            <a:off x="4053975" y="3176950"/>
            <a:ext cx="0" cy="394200"/>
          </a:xfrm>
          <a:prstGeom prst="straightConnector1">
            <a:avLst/>
          </a:prstGeom>
          <a:noFill/>
          <a:ln cap="flat" cmpd="sng" w="28575">
            <a:solidFill>
              <a:schemeClr val="dk1"/>
            </a:solidFill>
            <a:prstDash val="solid"/>
            <a:round/>
            <a:headEnd len="med" w="med" type="triangle"/>
            <a:tailEnd len="med" w="med" type="triangle"/>
          </a:ln>
        </p:spPr>
      </p:cxnSp>
      <p:pic>
        <p:nvPicPr>
          <p:cNvPr id="2522" name="Google Shape;2522;p110"/>
          <p:cNvPicPr preferRelativeResize="0"/>
          <p:nvPr/>
        </p:nvPicPr>
        <p:blipFill>
          <a:blip r:embed="rId5">
            <a:alphaModFix/>
          </a:blip>
          <a:stretch>
            <a:fillRect/>
          </a:stretch>
        </p:blipFill>
        <p:spPr>
          <a:xfrm flipH="1">
            <a:off x="8113108" y="3851149"/>
            <a:ext cx="383400" cy="723941"/>
          </a:xfrm>
          <a:prstGeom prst="rect">
            <a:avLst/>
          </a:prstGeom>
          <a:noFill/>
          <a:ln>
            <a:noFill/>
          </a:ln>
        </p:spPr>
      </p:pic>
      <p:cxnSp>
        <p:nvCxnSpPr>
          <p:cNvPr id="2523" name="Google Shape;2523;p110"/>
          <p:cNvCxnSpPr/>
          <p:nvPr/>
        </p:nvCxnSpPr>
        <p:spPr>
          <a:xfrm>
            <a:off x="3306976" y="3564571"/>
            <a:ext cx="782700" cy="0"/>
          </a:xfrm>
          <a:prstGeom prst="straightConnector1">
            <a:avLst/>
          </a:prstGeom>
          <a:noFill/>
          <a:ln cap="flat" cmpd="sng" w="38100">
            <a:solidFill>
              <a:schemeClr val="dk1"/>
            </a:solidFill>
            <a:prstDash val="dash"/>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7" name="Shape 2527"/>
        <p:cNvGrpSpPr/>
        <p:nvPr/>
      </p:nvGrpSpPr>
      <p:grpSpPr>
        <a:xfrm>
          <a:off x="0" y="0"/>
          <a:ext cx="0" cy="0"/>
          <a:chOff x="0" y="0"/>
          <a:chExt cx="0" cy="0"/>
        </a:xfrm>
      </p:grpSpPr>
      <p:pic>
        <p:nvPicPr>
          <p:cNvPr id="2528" name="Google Shape;2528;p111"/>
          <p:cNvPicPr preferRelativeResize="0"/>
          <p:nvPr/>
        </p:nvPicPr>
        <p:blipFill rotWithShape="1">
          <a:blip r:embed="rId3">
            <a:alphaModFix/>
          </a:blip>
          <a:srcRect b="4760" l="40550" r="0" t="13015"/>
          <a:stretch/>
        </p:blipFill>
        <p:spPr>
          <a:xfrm flipH="1">
            <a:off x="5326026" y="1998568"/>
            <a:ext cx="2978074" cy="1719600"/>
          </a:xfrm>
          <a:prstGeom prst="rect">
            <a:avLst/>
          </a:prstGeom>
          <a:noFill/>
          <a:ln>
            <a:noFill/>
          </a:ln>
        </p:spPr>
      </p:pic>
      <p:pic>
        <p:nvPicPr>
          <p:cNvPr id="2529" name="Google Shape;2529;p111"/>
          <p:cNvPicPr preferRelativeResize="0"/>
          <p:nvPr/>
        </p:nvPicPr>
        <p:blipFill rotWithShape="1">
          <a:blip r:embed="rId4">
            <a:alphaModFix/>
          </a:blip>
          <a:srcRect b="4734" l="4762" r="28721" t="0"/>
          <a:stretch/>
        </p:blipFill>
        <p:spPr>
          <a:xfrm>
            <a:off x="1661774" y="1591950"/>
            <a:ext cx="3450275" cy="2790874"/>
          </a:xfrm>
          <a:prstGeom prst="rect">
            <a:avLst/>
          </a:prstGeom>
          <a:noFill/>
          <a:ln>
            <a:noFill/>
          </a:ln>
        </p:spPr>
      </p:pic>
      <p:sp>
        <p:nvSpPr>
          <p:cNvPr id="2530" name="Google Shape;2530;p111"/>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531" name="Google Shape;2531;p111"/>
          <p:cNvCxnSpPr/>
          <p:nvPr/>
        </p:nvCxnSpPr>
        <p:spPr>
          <a:xfrm>
            <a:off x="1650000" y="3584849"/>
            <a:ext cx="3619200" cy="0"/>
          </a:xfrm>
          <a:prstGeom prst="straightConnector1">
            <a:avLst/>
          </a:prstGeom>
          <a:noFill/>
          <a:ln cap="flat" cmpd="sng" w="19050">
            <a:solidFill>
              <a:schemeClr val="dk1"/>
            </a:solidFill>
            <a:prstDash val="solid"/>
            <a:round/>
            <a:headEnd len="med" w="med" type="none"/>
            <a:tailEnd len="med" w="med" type="triangle"/>
          </a:ln>
        </p:spPr>
      </p:cxnSp>
      <p:cxnSp>
        <p:nvCxnSpPr>
          <p:cNvPr id="2532" name="Google Shape;2532;p111"/>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533" name="Google Shape;2533;p111"/>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534" name="Google Shape;2534;p111"/>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535" name="Google Shape;2535;p111"/>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536" name="Google Shape;2536;p111"/>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537" name="Google Shape;2537;p111"/>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538" name="Google Shape;2538;p111"/>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539" name="Google Shape;2539;p111"/>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540" name="Google Shape;2540;p111"/>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541" name="Google Shape;2541;p111"/>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542" name="Google Shape;2542;p111"/>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543" name="Google Shape;2543;p111"/>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544" name="Google Shape;2544;p111"/>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545" name="Google Shape;2545;p111"/>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546" name="Google Shape;2546;p111"/>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547" name="Google Shape;2547;p111"/>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1850 to 2024.</a:t>
            </a:r>
            <a:endParaRPr sz="1800"/>
          </a:p>
        </p:txBody>
      </p:sp>
      <p:sp>
        <p:nvSpPr>
          <p:cNvPr id="2548" name="Google Shape;2548;p111"/>
          <p:cNvSpPr txBox="1"/>
          <p:nvPr/>
        </p:nvSpPr>
        <p:spPr>
          <a:xfrm flipH="1">
            <a:off x="5479750" y="2126925"/>
            <a:ext cx="2759400" cy="1194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000"/>
              </a:spcBef>
              <a:spcAft>
                <a:spcPts val="0"/>
              </a:spcAft>
              <a:buNone/>
            </a:pPr>
            <a:r>
              <a:rPr lang="en-GB" sz="1800">
                <a:latin typeface="Lexend"/>
                <a:ea typeface="Lexend"/>
                <a:cs typeface="Lexend"/>
                <a:sym typeface="Lexend"/>
              </a:rPr>
              <a:t>I can see upward trend in t</a:t>
            </a:r>
            <a:r>
              <a:rPr lang="en-GB" sz="1800">
                <a:latin typeface="Lexend"/>
                <a:ea typeface="Lexend"/>
                <a:cs typeface="Lexend"/>
                <a:sym typeface="Lexend"/>
              </a:rPr>
              <a:t>he mean global temperatures from around 1970 onwards.</a:t>
            </a:r>
            <a:endParaRPr sz="1800">
              <a:latin typeface="Lexend"/>
              <a:ea typeface="Lexend"/>
              <a:cs typeface="Lexend"/>
              <a:sym typeface="Lexend"/>
            </a:endParaRPr>
          </a:p>
        </p:txBody>
      </p:sp>
      <p:sp>
        <p:nvSpPr>
          <p:cNvPr id="2549" name="Google Shape;2549;p111"/>
          <p:cNvSpPr txBox="1"/>
          <p:nvPr/>
        </p:nvSpPr>
        <p:spPr>
          <a:xfrm>
            <a:off x="7740596" y="45378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latin typeface="Lexend"/>
                <a:ea typeface="Lexend"/>
                <a:cs typeface="Lexend"/>
                <a:sym typeface="Lexend"/>
              </a:rPr>
              <a:t>Sam</a:t>
            </a:r>
            <a:endParaRPr sz="1600">
              <a:latin typeface="Lexend"/>
              <a:ea typeface="Lexend"/>
              <a:cs typeface="Lexend"/>
              <a:sym typeface="Lexend"/>
            </a:endParaRPr>
          </a:p>
        </p:txBody>
      </p:sp>
      <p:cxnSp>
        <p:nvCxnSpPr>
          <p:cNvPr id="2550" name="Google Shape;2550;p111"/>
          <p:cNvCxnSpPr/>
          <p:nvPr/>
        </p:nvCxnSpPr>
        <p:spPr>
          <a:xfrm>
            <a:off x="1689300" y="3397125"/>
            <a:ext cx="1640400" cy="0"/>
          </a:xfrm>
          <a:prstGeom prst="straightConnector1">
            <a:avLst/>
          </a:prstGeom>
          <a:noFill/>
          <a:ln cap="flat" cmpd="sng" w="38100">
            <a:solidFill>
              <a:schemeClr val="dk1"/>
            </a:solidFill>
            <a:prstDash val="dash"/>
            <a:round/>
            <a:headEnd len="med" w="med" type="none"/>
            <a:tailEnd len="med" w="med" type="none"/>
          </a:ln>
        </p:spPr>
      </p:cxnSp>
      <p:cxnSp>
        <p:nvCxnSpPr>
          <p:cNvPr id="2551" name="Google Shape;2551;p111"/>
          <p:cNvCxnSpPr/>
          <p:nvPr/>
        </p:nvCxnSpPr>
        <p:spPr>
          <a:xfrm>
            <a:off x="1689300" y="3828125"/>
            <a:ext cx="1640400" cy="0"/>
          </a:xfrm>
          <a:prstGeom prst="straightConnector1">
            <a:avLst/>
          </a:prstGeom>
          <a:noFill/>
          <a:ln cap="flat" cmpd="sng" w="38100">
            <a:solidFill>
              <a:schemeClr val="dk1"/>
            </a:solidFill>
            <a:prstDash val="dash"/>
            <a:round/>
            <a:headEnd len="med" w="med" type="none"/>
            <a:tailEnd len="med" w="med" type="none"/>
          </a:ln>
        </p:spPr>
      </p:cxnSp>
      <p:cxnSp>
        <p:nvCxnSpPr>
          <p:cNvPr id="2552" name="Google Shape;2552;p111"/>
          <p:cNvCxnSpPr/>
          <p:nvPr/>
        </p:nvCxnSpPr>
        <p:spPr>
          <a:xfrm>
            <a:off x="3306976" y="3168525"/>
            <a:ext cx="787500" cy="0"/>
          </a:xfrm>
          <a:prstGeom prst="straightConnector1">
            <a:avLst/>
          </a:prstGeom>
          <a:noFill/>
          <a:ln cap="flat" cmpd="sng" w="38100">
            <a:solidFill>
              <a:schemeClr val="dk1"/>
            </a:solidFill>
            <a:prstDash val="dash"/>
            <a:round/>
            <a:headEnd len="med" w="med" type="none"/>
            <a:tailEnd len="med" w="med" type="none"/>
          </a:ln>
        </p:spPr>
      </p:cxnSp>
      <p:cxnSp>
        <p:nvCxnSpPr>
          <p:cNvPr id="2553" name="Google Shape;2553;p111"/>
          <p:cNvCxnSpPr/>
          <p:nvPr/>
        </p:nvCxnSpPr>
        <p:spPr>
          <a:xfrm>
            <a:off x="3306976" y="3564571"/>
            <a:ext cx="782700" cy="0"/>
          </a:xfrm>
          <a:prstGeom prst="straightConnector1">
            <a:avLst/>
          </a:prstGeom>
          <a:noFill/>
          <a:ln cap="flat" cmpd="sng" w="38100">
            <a:solidFill>
              <a:schemeClr val="dk1"/>
            </a:solidFill>
            <a:prstDash val="dash"/>
            <a:round/>
            <a:headEnd len="med" w="med" type="none"/>
            <a:tailEnd len="med" w="med" type="none"/>
          </a:ln>
        </p:spPr>
      </p:cxnSp>
      <p:cxnSp>
        <p:nvCxnSpPr>
          <p:cNvPr id="2554" name="Google Shape;2554;p111"/>
          <p:cNvCxnSpPr/>
          <p:nvPr/>
        </p:nvCxnSpPr>
        <p:spPr>
          <a:xfrm flipH="1" rot="10800000">
            <a:off x="4070825" y="2400550"/>
            <a:ext cx="954000" cy="776100"/>
          </a:xfrm>
          <a:prstGeom prst="straightConnector1">
            <a:avLst/>
          </a:prstGeom>
          <a:noFill/>
          <a:ln cap="flat" cmpd="sng" w="38100">
            <a:solidFill>
              <a:schemeClr val="dk1"/>
            </a:solidFill>
            <a:prstDash val="dash"/>
            <a:round/>
            <a:headEnd len="med" w="med" type="none"/>
            <a:tailEnd len="med" w="med" type="none"/>
          </a:ln>
        </p:spPr>
      </p:cxnSp>
      <p:cxnSp>
        <p:nvCxnSpPr>
          <p:cNvPr id="2555" name="Google Shape;2555;p111"/>
          <p:cNvCxnSpPr/>
          <p:nvPr/>
        </p:nvCxnSpPr>
        <p:spPr>
          <a:xfrm flipH="1" rot="10800000">
            <a:off x="4177025" y="2723200"/>
            <a:ext cx="885900" cy="734700"/>
          </a:xfrm>
          <a:prstGeom prst="straightConnector1">
            <a:avLst/>
          </a:prstGeom>
          <a:noFill/>
          <a:ln cap="flat" cmpd="sng" w="38100">
            <a:solidFill>
              <a:schemeClr val="dk1"/>
            </a:solidFill>
            <a:prstDash val="dash"/>
            <a:round/>
            <a:headEnd len="med" w="med" type="none"/>
            <a:tailEnd len="med" w="med" type="none"/>
          </a:ln>
        </p:spPr>
      </p:cxnSp>
      <p:pic>
        <p:nvPicPr>
          <p:cNvPr id="2556" name="Google Shape;2556;p111"/>
          <p:cNvPicPr preferRelativeResize="0"/>
          <p:nvPr/>
        </p:nvPicPr>
        <p:blipFill>
          <a:blip r:embed="rId5">
            <a:alphaModFix/>
          </a:blip>
          <a:stretch>
            <a:fillRect/>
          </a:stretch>
        </p:blipFill>
        <p:spPr>
          <a:xfrm flipH="1">
            <a:off x="7990825" y="3828123"/>
            <a:ext cx="472091" cy="6798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0" name="Shape 2560"/>
        <p:cNvGrpSpPr/>
        <p:nvPr/>
      </p:nvGrpSpPr>
      <p:grpSpPr>
        <a:xfrm>
          <a:off x="0" y="0"/>
          <a:ext cx="0" cy="0"/>
          <a:chOff x="0" y="0"/>
          <a:chExt cx="0" cy="0"/>
        </a:xfrm>
      </p:grpSpPr>
      <p:pic>
        <p:nvPicPr>
          <p:cNvPr id="2561" name="Google Shape;2561;p112"/>
          <p:cNvPicPr preferRelativeResize="0"/>
          <p:nvPr/>
        </p:nvPicPr>
        <p:blipFill rotWithShape="1">
          <a:blip r:embed="rId3">
            <a:alphaModFix/>
          </a:blip>
          <a:srcRect b="4760" l="40550" r="0" t="13015"/>
          <a:stretch/>
        </p:blipFill>
        <p:spPr>
          <a:xfrm flipH="1">
            <a:off x="5326026" y="1794494"/>
            <a:ext cx="2978074" cy="2055924"/>
          </a:xfrm>
          <a:prstGeom prst="rect">
            <a:avLst/>
          </a:prstGeom>
          <a:noFill/>
          <a:ln>
            <a:noFill/>
          </a:ln>
        </p:spPr>
      </p:pic>
      <p:pic>
        <p:nvPicPr>
          <p:cNvPr id="2562" name="Google Shape;2562;p112"/>
          <p:cNvPicPr preferRelativeResize="0"/>
          <p:nvPr/>
        </p:nvPicPr>
        <p:blipFill rotWithShape="1">
          <a:blip r:embed="rId4">
            <a:alphaModFix/>
          </a:blip>
          <a:srcRect b="4734" l="4762" r="28721" t="0"/>
          <a:stretch/>
        </p:blipFill>
        <p:spPr>
          <a:xfrm>
            <a:off x="1661774" y="1591950"/>
            <a:ext cx="3450275" cy="2790874"/>
          </a:xfrm>
          <a:prstGeom prst="rect">
            <a:avLst/>
          </a:prstGeom>
          <a:noFill/>
          <a:ln>
            <a:noFill/>
          </a:ln>
        </p:spPr>
      </p:pic>
      <p:sp>
        <p:nvSpPr>
          <p:cNvPr id="2563" name="Google Shape;2563;p112"/>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564" name="Google Shape;2564;p112"/>
          <p:cNvCxnSpPr/>
          <p:nvPr/>
        </p:nvCxnSpPr>
        <p:spPr>
          <a:xfrm>
            <a:off x="1650000" y="3584849"/>
            <a:ext cx="3619200" cy="0"/>
          </a:xfrm>
          <a:prstGeom prst="straightConnector1">
            <a:avLst/>
          </a:prstGeom>
          <a:noFill/>
          <a:ln cap="flat" cmpd="sng" w="19050">
            <a:solidFill>
              <a:schemeClr val="dk1"/>
            </a:solidFill>
            <a:prstDash val="solid"/>
            <a:round/>
            <a:headEnd len="med" w="med" type="none"/>
            <a:tailEnd len="med" w="med" type="triangle"/>
          </a:ln>
        </p:spPr>
      </p:cxnSp>
      <p:cxnSp>
        <p:nvCxnSpPr>
          <p:cNvPr id="2565" name="Google Shape;2565;p112"/>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566" name="Google Shape;2566;p112"/>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567" name="Google Shape;2567;p112"/>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568" name="Google Shape;2568;p112"/>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569" name="Google Shape;2569;p112"/>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570" name="Google Shape;2570;p112"/>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571" name="Google Shape;2571;p112"/>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572" name="Google Shape;2572;p112"/>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573" name="Google Shape;2573;p112"/>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574" name="Google Shape;2574;p112"/>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575" name="Google Shape;2575;p112"/>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576" name="Google Shape;2576;p112"/>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577" name="Google Shape;2577;p112"/>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578" name="Google Shape;2578;p112"/>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579" name="Google Shape;2579;p112"/>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580" name="Google Shape;2580;p112"/>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1850 to 2024.</a:t>
            </a:r>
            <a:endParaRPr sz="1800"/>
          </a:p>
        </p:txBody>
      </p:sp>
      <p:sp>
        <p:nvSpPr>
          <p:cNvPr id="2581" name="Google Shape;2581;p112"/>
          <p:cNvSpPr txBox="1"/>
          <p:nvPr/>
        </p:nvSpPr>
        <p:spPr>
          <a:xfrm flipH="1">
            <a:off x="5479750" y="2050725"/>
            <a:ext cx="2759400" cy="1194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000"/>
              </a:spcBef>
              <a:spcAft>
                <a:spcPts val="0"/>
              </a:spcAft>
              <a:buNone/>
            </a:pPr>
            <a:r>
              <a:rPr lang="en-GB" sz="1800">
                <a:latin typeface="Lexend"/>
                <a:ea typeface="Lexend"/>
                <a:cs typeface="Lexend"/>
                <a:sym typeface="Lexend"/>
              </a:rPr>
              <a:t>It still goes up and down. But from 1970 onwards, it generally seems to go up more than it goes down.</a:t>
            </a:r>
            <a:endParaRPr sz="1800">
              <a:latin typeface="Lexend"/>
              <a:ea typeface="Lexend"/>
              <a:cs typeface="Lexend"/>
              <a:sym typeface="Lexend"/>
            </a:endParaRPr>
          </a:p>
        </p:txBody>
      </p:sp>
      <p:cxnSp>
        <p:nvCxnSpPr>
          <p:cNvPr id="2582" name="Google Shape;2582;p112"/>
          <p:cNvCxnSpPr/>
          <p:nvPr/>
        </p:nvCxnSpPr>
        <p:spPr>
          <a:xfrm>
            <a:off x="1689300" y="3397125"/>
            <a:ext cx="1640400" cy="0"/>
          </a:xfrm>
          <a:prstGeom prst="straightConnector1">
            <a:avLst/>
          </a:prstGeom>
          <a:noFill/>
          <a:ln cap="flat" cmpd="sng" w="38100">
            <a:solidFill>
              <a:schemeClr val="dk1"/>
            </a:solidFill>
            <a:prstDash val="dash"/>
            <a:round/>
            <a:headEnd len="med" w="med" type="none"/>
            <a:tailEnd len="med" w="med" type="none"/>
          </a:ln>
        </p:spPr>
      </p:cxnSp>
      <p:cxnSp>
        <p:nvCxnSpPr>
          <p:cNvPr id="2583" name="Google Shape;2583;p112"/>
          <p:cNvCxnSpPr/>
          <p:nvPr/>
        </p:nvCxnSpPr>
        <p:spPr>
          <a:xfrm>
            <a:off x="1689300" y="3828125"/>
            <a:ext cx="1640400" cy="0"/>
          </a:xfrm>
          <a:prstGeom prst="straightConnector1">
            <a:avLst/>
          </a:prstGeom>
          <a:noFill/>
          <a:ln cap="flat" cmpd="sng" w="38100">
            <a:solidFill>
              <a:schemeClr val="dk1"/>
            </a:solidFill>
            <a:prstDash val="dash"/>
            <a:round/>
            <a:headEnd len="med" w="med" type="none"/>
            <a:tailEnd len="med" w="med" type="none"/>
          </a:ln>
        </p:spPr>
      </p:cxnSp>
      <p:cxnSp>
        <p:nvCxnSpPr>
          <p:cNvPr id="2584" name="Google Shape;2584;p112"/>
          <p:cNvCxnSpPr/>
          <p:nvPr/>
        </p:nvCxnSpPr>
        <p:spPr>
          <a:xfrm>
            <a:off x="3306976" y="3168525"/>
            <a:ext cx="787500" cy="0"/>
          </a:xfrm>
          <a:prstGeom prst="straightConnector1">
            <a:avLst/>
          </a:prstGeom>
          <a:noFill/>
          <a:ln cap="flat" cmpd="sng" w="38100">
            <a:solidFill>
              <a:schemeClr val="dk1"/>
            </a:solidFill>
            <a:prstDash val="dash"/>
            <a:round/>
            <a:headEnd len="med" w="med" type="none"/>
            <a:tailEnd len="med" w="med" type="none"/>
          </a:ln>
        </p:spPr>
      </p:cxnSp>
      <p:cxnSp>
        <p:nvCxnSpPr>
          <p:cNvPr id="2585" name="Google Shape;2585;p112"/>
          <p:cNvCxnSpPr/>
          <p:nvPr/>
        </p:nvCxnSpPr>
        <p:spPr>
          <a:xfrm>
            <a:off x="3306976" y="3564571"/>
            <a:ext cx="782700" cy="0"/>
          </a:xfrm>
          <a:prstGeom prst="straightConnector1">
            <a:avLst/>
          </a:prstGeom>
          <a:noFill/>
          <a:ln cap="flat" cmpd="sng" w="38100">
            <a:solidFill>
              <a:schemeClr val="dk1"/>
            </a:solidFill>
            <a:prstDash val="dash"/>
            <a:round/>
            <a:headEnd len="med" w="med" type="none"/>
            <a:tailEnd len="med" w="med" type="none"/>
          </a:ln>
        </p:spPr>
      </p:cxnSp>
      <p:cxnSp>
        <p:nvCxnSpPr>
          <p:cNvPr id="2586" name="Google Shape;2586;p112"/>
          <p:cNvCxnSpPr/>
          <p:nvPr/>
        </p:nvCxnSpPr>
        <p:spPr>
          <a:xfrm flipH="1" rot="10800000">
            <a:off x="4070825" y="2400550"/>
            <a:ext cx="954000" cy="776100"/>
          </a:xfrm>
          <a:prstGeom prst="straightConnector1">
            <a:avLst/>
          </a:prstGeom>
          <a:noFill/>
          <a:ln cap="flat" cmpd="sng" w="38100">
            <a:solidFill>
              <a:schemeClr val="dk1"/>
            </a:solidFill>
            <a:prstDash val="dash"/>
            <a:round/>
            <a:headEnd len="med" w="med" type="none"/>
            <a:tailEnd len="med" w="med" type="none"/>
          </a:ln>
        </p:spPr>
      </p:cxnSp>
      <p:cxnSp>
        <p:nvCxnSpPr>
          <p:cNvPr id="2587" name="Google Shape;2587;p112"/>
          <p:cNvCxnSpPr/>
          <p:nvPr/>
        </p:nvCxnSpPr>
        <p:spPr>
          <a:xfrm flipH="1" rot="10800000">
            <a:off x="4177025" y="2723200"/>
            <a:ext cx="885900" cy="734700"/>
          </a:xfrm>
          <a:prstGeom prst="straightConnector1">
            <a:avLst/>
          </a:prstGeom>
          <a:noFill/>
          <a:ln cap="flat" cmpd="sng" w="38100">
            <a:solidFill>
              <a:schemeClr val="dk1"/>
            </a:solidFill>
            <a:prstDash val="dash"/>
            <a:round/>
            <a:headEnd len="med" w="med" type="none"/>
            <a:tailEnd len="med" w="med" type="none"/>
          </a:ln>
        </p:spPr>
      </p:cxnSp>
      <p:sp>
        <p:nvSpPr>
          <p:cNvPr id="2588" name="Google Shape;2588;p112"/>
          <p:cNvSpPr txBox="1"/>
          <p:nvPr/>
        </p:nvSpPr>
        <p:spPr>
          <a:xfrm>
            <a:off x="7740596" y="45378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latin typeface="Lexend"/>
                <a:ea typeface="Lexend"/>
                <a:cs typeface="Lexend"/>
                <a:sym typeface="Lexend"/>
              </a:rPr>
              <a:t>Sam</a:t>
            </a:r>
            <a:endParaRPr sz="1600">
              <a:latin typeface="Lexend"/>
              <a:ea typeface="Lexend"/>
              <a:cs typeface="Lexend"/>
              <a:sym typeface="Lexend"/>
            </a:endParaRPr>
          </a:p>
        </p:txBody>
      </p:sp>
      <p:pic>
        <p:nvPicPr>
          <p:cNvPr id="2589" name="Google Shape;2589;p112"/>
          <p:cNvPicPr preferRelativeResize="0"/>
          <p:nvPr/>
        </p:nvPicPr>
        <p:blipFill>
          <a:blip r:embed="rId5">
            <a:alphaModFix/>
          </a:blip>
          <a:stretch>
            <a:fillRect/>
          </a:stretch>
        </p:blipFill>
        <p:spPr>
          <a:xfrm flipH="1">
            <a:off x="7990825" y="3828123"/>
            <a:ext cx="472091" cy="6798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3" name="Shape 2593"/>
        <p:cNvGrpSpPr/>
        <p:nvPr/>
      </p:nvGrpSpPr>
      <p:grpSpPr>
        <a:xfrm>
          <a:off x="0" y="0"/>
          <a:ext cx="0" cy="0"/>
          <a:chOff x="0" y="0"/>
          <a:chExt cx="0" cy="0"/>
        </a:xfrm>
      </p:grpSpPr>
      <p:pic>
        <p:nvPicPr>
          <p:cNvPr id="2594" name="Google Shape;2594;p113"/>
          <p:cNvPicPr preferRelativeResize="0"/>
          <p:nvPr/>
        </p:nvPicPr>
        <p:blipFill rotWithShape="1">
          <a:blip r:embed="rId3">
            <a:alphaModFix/>
          </a:blip>
          <a:srcRect b="4760" l="40550" r="0" t="13015"/>
          <a:stretch/>
        </p:blipFill>
        <p:spPr>
          <a:xfrm flipH="1">
            <a:off x="5189675" y="1651515"/>
            <a:ext cx="3411000" cy="2254300"/>
          </a:xfrm>
          <a:prstGeom prst="rect">
            <a:avLst/>
          </a:prstGeom>
          <a:noFill/>
          <a:ln>
            <a:noFill/>
          </a:ln>
        </p:spPr>
      </p:pic>
      <p:pic>
        <p:nvPicPr>
          <p:cNvPr id="2595" name="Google Shape;2595;p113"/>
          <p:cNvPicPr preferRelativeResize="0"/>
          <p:nvPr/>
        </p:nvPicPr>
        <p:blipFill rotWithShape="1">
          <a:blip r:embed="rId4">
            <a:alphaModFix/>
          </a:blip>
          <a:srcRect b="4734" l="4762" r="28721" t="0"/>
          <a:stretch/>
        </p:blipFill>
        <p:spPr>
          <a:xfrm>
            <a:off x="1661774" y="1591950"/>
            <a:ext cx="3450275" cy="2790874"/>
          </a:xfrm>
          <a:prstGeom prst="rect">
            <a:avLst/>
          </a:prstGeom>
          <a:noFill/>
          <a:ln>
            <a:noFill/>
          </a:ln>
        </p:spPr>
      </p:pic>
      <p:sp>
        <p:nvSpPr>
          <p:cNvPr id="2596" name="Google Shape;2596;p113"/>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597" name="Google Shape;2597;p113"/>
          <p:cNvCxnSpPr/>
          <p:nvPr/>
        </p:nvCxnSpPr>
        <p:spPr>
          <a:xfrm>
            <a:off x="1650000" y="3584849"/>
            <a:ext cx="3619200" cy="0"/>
          </a:xfrm>
          <a:prstGeom prst="straightConnector1">
            <a:avLst/>
          </a:prstGeom>
          <a:noFill/>
          <a:ln cap="flat" cmpd="sng" w="19050">
            <a:solidFill>
              <a:schemeClr val="dk1"/>
            </a:solidFill>
            <a:prstDash val="solid"/>
            <a:round/>
            <a:headEnd len="med" w="med" type="none"/>
            <a:tailEnd len="med" w="med" type="triangle"/>
          </a:ln>
        </p:spPr>
      </p:cxnSp>
      <p:cxnSp>
        <p:nvCxnSpPr>
          <p:cNvPr id="2598" name="Google Shape;2598;p113"/>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599" name="Google Shape;2599;p113"/>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600" name="Google Shape;2600;p113"/>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601" name="Google Shape;2601;p113"/>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602" name="Google Shape;2602;p113"/>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603" name="Google Shape;2603;p113"/>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604" name="Google Shape;2604;p113"/>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605" name="Google Shape;2605;p113"/>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606" name="Google Shape;2606;p113"/>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607" name="Google Shape;2607;p113"/>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608" name="Google Shape;2608;p113"/>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609" name="Google Shape;2609;p113"/>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610" name="Google Shape;2610;p113"/>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611" name="Google Shape;2611;p113"/>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612" name="Google Shape;2612;p113"/>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613" name="Google Shape;2613;p113"/>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The graph shows data from the Met Office and HadCRUT5 about mean global temperatures each year from 1850 to 2024.</a:t>
            </a:r>
            <a:endParaRPr sz="1800"/>
          </a:p>
        </p:txBody>
      </p:sp>
      <p:sp>
        <p:nvSpPr>
          <p:cNvPr id="2614" name="Google Shape;2614;p113"/>
          <p:cNvSpPr txBox="1"/>
          <p:nvPr/>
        </p:nvSpPr>
        <p:spPr>
          <a:xfrm flipH="1">
            <a:off x="5251075" y="1806269"/>
            <a:ext cx="3411000" cy="1664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000"/>
              </a:spcBef>
              <a:spcAft>
                <a:spcPts val="0"/>
              </a:spcAft>
              <a:buNone/>
            </a:pPr>
            <a:r>
              <a:rPr lang="en-GB" sz="1800">
                <a:latin typeface="Lexend"/>
                <a:ea typeface="Lexend"/>
                <a:cs typeface="Lexend"/>
                <a:sym typeface="Lexend"/>
              </a:rPr>
              <a:t>Mean global temperatures have been higher than they were during pre-industrial conditions for nearly every year after 1935.</a:t>
            </a:r>
            <a:endParaRPr sz="1800">
              <a:latin typeface="Lexend"/>
              <a:ea typeface="Lexend"/>
              <a:cs typeface="Lexend"/>
              <a:sym typeface="Lexend"/>
            </a:endParaRPr>
          </a:p>
        </p:txBody>
      </p:sp>
      <p:sp>
        <p:nvSpPr>
          <p:cNvPr id="2615" name="Google Shape;2615;p113"/>
          <p:cNvSpPr txBox="1"/>
          <p:nvPr/>
        </p:nvSpPr>
        <p:spPr>
          <a:xfrm>
            <a:off x="7829581" y="4563446"/>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latin typeface="Lexend"/>
                <a:ea typeface="Lexend"/>
                <a:cs typeface="Lexend"/>
                <a:sym typeface="Lexend"/>
              </a:rPr>
              <a:t>Izzy</a:t>
            </a:r>
            <a:endParaRPr sz="1600">
              <a:latin typeface="Lexend"/>
              <a:ea typeface="Lexend"/>
              <a:cs typeface="Lexend"/>
              <a:sym typeface="Lexend"/>
            </a:endParaRPr>
          </a:p>
        </p:txBody>
      </p:sp>
      <p:pic>
        <p:nvPicPr>
          <p:cNvPr id="2616" name="Google Shape;2616;p113"/>
          <p:cNvPicPr preferRelativeResize="0"/>
          <p:nvPr/>
        </p:nvPicPr>
        <p:blipFill>
          <a:blip r:embed="rId5">
            <a:alphaModFix/>
          </a:blip>
          <a:stretch>
            <a:fillRect/>
          </a:stretch>
        </p:blipFill>
        <p:spPr>
          <a:xfrm>
            <a:off x="7928300" y="3942400"/>
            <a:ext cx="645149" cy="624326"/>
          </a:xfrm>
          <a:prstGeom prst="rect">
            <a:avLst/>
          </a:prstGeom>
          <a:noFill/>
          <a:ln>
            <a:noFill/>
          </a:ln>
        </p:spPr>
      </p:pic>
      <p:sp>
        <p:nvSpPr>
          <p:cNvPr id="2617" name="Google Shape;2617;p113"/>
          <p:cNvSpPr/>
          <p:nvPr/>
        </p:nvSpPr>
        <p:spPr>
          <a:xfrm>
            <a:off x="3291000" y="1666875"/>
            <a:ext cx="1821000" cy="19050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1" name="Shape 2621"/>
        <p:cNvGrpSpPr/>
        <p:nvPr/>
      </p:nvGrpSpPr>
      <p:grpSpPr>
        <a:xfrm>
          <a:off x="0" y="0"/>
          <a:ext cx="0" cy="0"/>
          <a:chOff x="0" y="0"/>
          <a:chExt cx="0" cy="0"/>
        </a:xfrm>
      </p:grpSpPr>
      <p:pic>
        <p:nvPicPr>
          <p:cNvPr id="2622" name="Google Shape;2622;p114"/>
          <p:cNvPicPr preferRelativeResize="0"/>
          <p:nvPr/>
        </p:nvPicPr>
        <p:blipFill rotWithShape="1">
          <a:blip r:embed="rId3">
            <a:alphaModFix/>
          </a:blip>
          <a:srcRect b="4734" l="4764" r="21029" t="0"/>
          <a:stretch/>
        </p:blipFill>
        <p:spPr>
          <a:xfrm>
            <a:off x="1661774" y="1591950"/>
            <a:ext cx="3849124" cy="2790874"/>
          </a:xfrm>
          <a:prstGeom prst="rect">
            <a:avLst/>
          </a:prstGeom>
          <a:noFill/>
          <a:ln>
            <a:noFill/>
          </a:ln>
        </p:spPr>
      </p:pic>
      <p:sp>
        <p:nvSpPr>
          <p:cNvPr id="2623" name="Google Shape;2623;p114"/>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624" name="Google Shape;2624;p114"/>
          <p:cNvCxnSpPr/>
          <p:nvPr/>
        </p:nvCxnSpPr>
        <p:spPr>
          <a:xfrm>
            <a:off x="1650000" y="3584849"/>
            <a:ext cx="3986400" cy="0"/>
          </a:xfrm>
          <a:prstGeom prst="straightConnector1">
            <a:avLst/>
          </a:prstGeom>
          <a:noFill/>
          <a:ln cap="flat" cmpd="sng" w="19050">
            <a:solidFill>
              <a:schemeClr val="dk1"/>
            </a:solidFill>
            <a:prstDash val="solid"/>
            <a:round/>
            <a:headEnd len="med" w="med" type="none"/>
            <a:tailEnd len="med" w="med" type="triangle"/>
          </a:ln>
        </p:spPr>
      </p:cxnSp>
      <p:cxnSp>
        <p:nvCxnSpPr>
          <p:cNvPr id="2625" name="Google Shape;2625;p114"/>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626" name="Google Shape;2626;p114"/>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627" name="Google Shape;2627;p114"/>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628" name="Google Shape;2628;p114"/>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629" name="Google Shape;2629;p114"/>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630" name="Google Shape;2630;p114"/>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631" name="Google Shape;2631;p114"/>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632" name="Google Shape;2632;p114"/>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633" name="Google Shape;2633;p114"/>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634" name="Google Shape;2634;p114"/>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635" name="Google Shape;2635;p114"/>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636" name="Google Shape;2636;p114"/>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637" name="Google Shape;2637;p114"/>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638" name="Google Shape;2638;p114"/>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639" name="Google Shape;2639;p114"/>
          <p:cNvSpPr txBox="1"/>
          <p:nvPr>
            <p:ph idx="1" type="body"/>
          </p:nvPr>
        </p:nvSpPr>
        <p:spPr>
          <a:xfrm>
            <a:off x="5297045"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2640" name="Google Shape;2640;p114"/>
          <p:cNvSpPr txBox="1"/>
          <p:nvPr>
            <p:ph idx="1" type="body"/>
          </p:nvPr>
        </p:nvSpPr>
        <p:spPr>
          <a:xfrm>
            <a:off x="324000" y="810000"/>
            <a:ext cx="82377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Trends in data can be used to make predictions about future data.</a:t>
            </a:r>
            <a:endParaRPr sz="1800"/>
          </a:p>
        </p:txBody>
      </p:sp>
      <p:sp>
        <p:nvSpPr>
          <p:cNvPr id="2641" name="Google Shape;2641;p114"/>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5" name="Shape 2645"/>
        <p:cNvGrpSpPr/>
        <p:nvPr/>
      </p:nvGrpSpPr>
      <p:grpSpPr>
        <a:xfrm>
          <a:off x="0" y="0"/>
          <a:ext cx="0" cy="0"/>
          <a:chOff x="0" y="0"/>
          <a:chExt cx="0" cy="0"/>
        </a:xfrm>
      </p:grpSpPr>
      <p:pic>
        <p:nvPicPr>
          <p:cNvPr id="2646" name="Google Shape;2646;p115"/>
          <p:cNvPicPr preferRelativeResize="0"/>
          <p:nvPr/>
        </p:nvPicPr>
        <p:blipFill rotWithShape="1">
          <a:blip r:embed="rId3">
            <a:alphaModFix/>
          </a:blip>
          <a:srcRect b="4734" l="4764" r="21029" t="0"/>
          <a:stretch/>
        </p:blipFill>
        <p:spPr>
          <a:xfrm>
            <a:off x="1661774" y="1591950"/>
            <a:ext cx="3849124" cy="2790874"/>
          </a:xfrm>
          <a:prstGeom prst="rect">
            <a:avLst/>
          </a:prstGeom>
          <a:noFill/>
          <a:ln>
            <a:noFill/>
          </a:ln>
        </p:spPr>
      </p:pic>
      <p:sp>
        <p:nvSpPr>
          <p:cNvPr id="2647" name="Google Shape;2647;p115"/>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648" name="Google Shape;2648;p115"/>
          <p:cNvCxnSpPr/>
          <p:nvPr/>
        </p:nvCxnSpPr>
        <p:spPr>
          <a:xfrm>
            <a:off x="1650000" y="3584849"/>
            <a:ext cx="3986400" cy="0"/>
          </a:xfrm>
          <a:prstGeom prst="straightConnector1">
            <a:avLst/>
          </a:prstGeom>
          <a:noFill/>
          <a:ln cap="flat" cmpd="sng" w="19050">
            <a:solidFill>
              <a:schemeClr val="dk1"/>
            </a:solidFill>
            <a:prstDash val="solid"/>
            <a:round/>
            <a:headEnd len="med" w="med" type="none"/>
            <a:tailEnd len="med" w="med" type="triangle"/>
          </a:ln>
        </p:spPr>
      </p:cxnSp>
      <p:cxnSp>
        <p:nvCxnSpPr>
          <p:cNvPr id="2649" name="Google Shape;2649;p115"/>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650" name="Google Shape;2650;p115"/>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651" name="Google Shape;2651;p115"/>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652" name="Google Shape;2652;p115"/>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653" name="Google Shape;2653;p115"/>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654" name="Google Shape;2654;p115"/>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655" name="Google Shape;2655;p115"/>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656" name="Google Shape;2656;p115"/>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657" name="Google Shape;2657;p115"/>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658" name="Google Shape;2658;p115"/>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659" name="Google Shape;2659;p115"/>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660" name="Google Shape;2660;p115"/>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661" name="Google Shape;2661;p115"/>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662" name="Google Shape;2662;p115"/>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663" name="Google Shape;2663;p115"/>
          <p:cNvSpPr txBox="1"/>
          <p:nvPr>
            <p:ph idx="1" type="body"/>
          </p:nvPr>
        </p:nvSpPr>
        <p:spPr>
          <a:xfrm>
            <a:off x="5297045"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2664" name="Google Shape;2664;p115"/>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If mean global temperatures continue to increase in the way they have since 1970, what range of data could we expect to record in </a:t>
            </a:r>
            <a:r>
              <a:rPr lang="en-GB" sz="1800">
                <a:solidFill>
                  <a:schemeClr val="accent5"/>
                </a:solidFill>
              </a:rPr>
              <a:t>2050</a:t>
            </a:r>
            <a:r>
              <a:rPr lang="en-GB" sz="1800"/>
              <a:t>?</a:t>
            </a:r>
            <a:endParaRPr sz="1800"/>
          </a:p>
        </p:txBody>
      </p:sp>
      <p:cxnSp>
        <p:nvCxnSpPr>
          <p:cNvPr id="2665" name="Google Shape;2665;p115"/>
          <p:cNvCxnSpPr/>
          <p:nvPr/>
        </p:nvCxnSpPr>
        <p:spPr>
          <a:xfrm flipH="1" rot="10800000">
            <a:off x="3969900" y="2400600"/>
            <a:ext cx="1054800" cy="851400"/>
          </a:xfrm>
          <a:prstGeom prst="straightConnector1">
            <a:avLst/>
          </a:prstGeom>
          <a:noFill/>
          <a:ln cap="flat" cmpd="sng" w="38100">
            <a:solidFill>
              <a:schemeClr val="dk1"/>
            </a:solidFill>
            <a:prstDash val="dash"/>
            <a:round/>
            <a:headEnd len="med" w="med" type="none"/>
            <a:tailEnd len="med" w="med" type="none"/>
          </a:ln>
        </p:spPr>
      </p:cxnSp>
      <p:cxnSp>
        <p:nvCxnSpPr>
          <p:cNvPr id="2666" name="Google Shape;2666;p115"/>
          <p:cNvCxnSpPr/>
          <p:nvPr/>
        </p:nvCxnSpPr>
        <p:spPr>
          <a:xfrm flipH="1" rot="10800000">
            <a:off x="3963500" y="2710275"/>
            <a:ext cx="1095000" cy="918900"/>
          </a:xfrm>
          <a:prstGeom prst="straightConnector1">
            <a:avLst/>
          </a:prstGeom>
          <a:noFill/>
          <a:ln cap="flat" cmpd="sng" w="38100">
            <a:solidFill>
              <a:schemeClr val="dk1"/>
            </a:solidFill>
            <a:prstDash val="dash"/>
            <a:round/>
            <a:headEnd len="med" w="med" type="none"/>
            <a:tailEnd len="med" w="med" type="none"/>
          </a:ln>
        </p:spPr>
      </p:cxnSp>
      <p:grpSp>
        <p:nvGrpSpPr>
          <p:cNvPr id="2667" name="Google Shape;2667;p115"/>
          <p:cNvGrpSpPr/>
          <p:nvPr/>
        </p:nvGrpSpPr>
        <p:grpSpPr>
          <a:xfrm>
            <a:off x="3963500" y="2022300"/>
            <a:ext cx="1547400" cy="1606875"/>
            <a:chOff x="3963500" y="2022300"/>
            <a:chExt cx="1547400" cy="1606875"/>
          </a:xfrm>
        </p:grpSpPr>
        <p:cxnSp>
          <p:nvCxnSpPr>
            <p:cNvPr id="2668" name="Google Shape;2668;p115"/>
            <p:cNvCxnSpPr/>
            <p:nvPr/>
          </p:nvCxnSpPr>
          <p:spPr>
            <a:xfrm flipH="1" rot="10800000">
              <a:off x="3969900" y="2022300"/>
              <a:ext cx="1531200" cy="1229700"/>
            </a:xfrm>
            <a:prstGeom prst="straightConnector1">
              <a:avLst/>
            </a:prstGeom>
            <a:noFill/>
            <a:ln cap="flat" cmpd="sng" w="38100">
              <a:solidFill>
                <a:schemeClr val="dk1"/>
              </a:solidFill>
              <a:prstDash val="dash"/>
              <a:round/>
              <a:headEnd len="med" w="med" type="none"/>
              <a:tailEnd len="med" w="med" type="none"/>
            </a:ln>
          </p:spPr>
        </p:cxnSp>
        <p:cxnSp>
          <p:nvCxnSpPr>
            <p:cNvPr id="2669" name="Google Shape;2669;p115"/>
            <p:cNvCxnSpPr/>
            <p:nvPr/>
          </p:nvCxnSpPr>
          <p:spPr>
            <a:xfrm flipH="1" rot="10800000">
              <a:off x="3963500" y="2338575"/>
              <a:ext cx="1547400" cy="1290600"/>
            </a:xfrm>
            <a:prstGeom prst="straightConnector1">
              <a:avLst/>
            </a:prstGeom>
            <a:noFill/>
            <a:ln cap="flat" cmpd="sng" w="38100">
              <a:solidFill>
                <a:schemeClr val="dk1"/>
              </a:solidFill>
              <a:prstDash val="dash"/>
              <a:round/>
              <a:headEnd len="med" w="med" type="none"/>
              <a:tailEnd len="med" w="med" type="none"/>
            </a:ln>
          </p:spPr>
        </p:cxnSp>
      </p:grpSp>
      <p:sp>
        <p:nvSpPr>
          <p:cNvPr id="2670" name="Google Shape;2670;p115"/>
          <p:cNvSpPr txBox="1"/>
          <p:nvPr>
            <p:ph idx="1" type="body"/>
          </p:nvPr>
        </p:nvSpPr>
        <p:spPr>
          <a:xfrm>
            <a:off x="5886600" y="1876800"/>
            <a:ext cx="2848200" cy="1551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We could expect mean global temperatures to be between 1.6 and 2°C higher than they were during pre-industrial conditions. </a:t>
            </a:r>
            <a:endParaRPr sz="1800">
              <a:latin typeface="Kalam"/>
              <a:ea typeface="Kalam"/>
              <a:cs typeface="Kalam"/>
              <a:sym typeface="Kalam"/>
            </a:endParaRPr>
          </a:p>
        </p:txBody>
      </p:sp>
      <p:cxnSp>
        <p:nvCxnSpPr>
          <p:cNvPr id="2671" name="Google Shape;2671;p115"/>
          <p:cNvCxnSpPr/>
          <p:nvPr/>
        </p:nvCxnSpPr>
        <p:spPr>
          <a:xfrm flipH="1">
            <a:off x="1618700" y="2356125"/>
            <a:ext cx="3892200" cy="1800"/>
          </a:xfrm>
          <a:prstGeom prst="straightConnector1">
            <a:avLst/>
          </a:prstGeom>
          <a:noFill/>
          <a:ln cap="flat" cmpd="sng" w="38100">
            <a:solidFill>
              <a:schemeClr val="dk2"/>
            </a:solidFill>
            <a:prstDash val="solid"/>
            <a:round/>
            <a:headEnd len="med" w="med" type="none"/>
            <a:tailEnd len="med" w="med" type="none"/>
          </a:ln>
        </p:spPr>
      </p:cxnSp>
      <p:cxnSp>
        <p:nvCxnSpPr>
          <p:cNvPr id="2672" name="Google Shape;2672;p115"/>
          <p:cNvCxnSpPr/>
          <p:nvPr/>
        </p:nvCxnSpPr>
        <p:spPr>
          <a:xfrm flipH="1">
            <a:off x="1610112" y="2051325"/>
            <a:ext cx="3892200" cy="1800"/>
          </a:xfrm>
          <a:prstGeom prst="straightConnector1">
            <a:avLst/>
          </a:prstGeom>
          <a:noFill/>
          <a:ln cap="flat" cmpd="sng" w="38100">
            <a:solidFill>
              <a:schemeClr val="dk2"/>
            </a:solidFill>
            <a:prstDash val="solid"/>
            <a:round/>
            <a:headEnd len="med" w="med" type="none"/>
            <a:tailEnd len="med" w="med" type="none"/>
          </a:ln>
        </p:spPr>
      </p:cxnSp>
      <p:cxnSp>
        <p:nvCxnSpPr>
          <p:cNvPr id="2673" name="Google Shape;2673;p115"/>
          <p:cNvCxnSpPr/>
          <p:nvPr/>
        </p:nvCxnSpPr>
        <p:spPr>
          <a:xfrm>
            <a:off x="5492250" y="2051544"/>
            <a:ext cx="0" cy="299100"/>
          </a:xfrm>
          <a:prstGeom prst="straightConnector1">
            <a:avLst/>
          </a:prstGeom>
          <a:noFill/>
          <a:ln cap="flat" cmpd="sng" w="19050">
            <a:solidFill>
              <a:schemeClr val="dk2"/>
            </a:solidFill>
            <a:prstDash val="solid"/>
            <a:round/>
            <a:headEnd len="med" w="med" type="triangle"/>
            <a:tailEnd len="med" w="med" type="triangle"/>
          </a:ln>
        </p:spPr>
      </p:cxnSp>
      <p:sp>
        <p:nvSpPr>
          <p:cNvPr id="2674" name="Google Shape;2674;p115"/>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8" name="Shape 2678"/>
        <p:cNvGrpSpPr/>
        <p:nvPr/>
      </p:nvGrpSpPr>
      <p:grpSpPr>
        <a:xfrm>
          <a:off x="0" y="0"/>
          <a:ext cx="0" cy="0"/>
          <a:chOff x="0" y="0"/>
          <a:chExt cx="0" cy="0"/>
        </a:xfrm>
      </p:grpSpPr>
      <p:pic>
        <p:nvPicPr>
          <p:cNvPr id="2679" name="Google Shape;2679;p116"/>
          <p:cNvPicPr preferRelativeResize="0"/>
          <p:nvPr/>
        </p:nvPicPr>
        <p:blipFill rotWithShape="1">
          <a:blip r:embed="rId3">
            <a:alphaModFix/>
          </a:blip>
          <a:srcRect b="4734" l="4761" r="0" t="0"/>
          <a:stretch/>
        </p:blipFill>
        <p:spPr>
          <a:xfrm>
            <a:off x="1661772" y="1591956"/>
            <a:ext cx="4940216" cy="2790865"/>
          </a:xfrm>
          <a:prstGeom prst="rect">
            <a:avLst/>
          </a:prstGeom>
          <a:noFill/>
          <a:ln>
            <a:noFill/>
          </a:ln>
        </p:spPr>
      </p:pic>
      <p:sp>
        <p:nvSpPr>
          <p:cNvPr id="2680" name="Google Shape;2680;p116"/>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681" name="Google Shape;2681;p116"/>
          <p:cNvCxnSpPr/>
          <p:nvPr/>
        </p:nvCxnSpPr>
        <p:spPr>
          <a:xfrm>
            <a:off x="1650000" y="3584849"/>
            <a:ext cx="4932000" cy="0"/>
          </a:xfrm>
          <a:prstGeom prst="straightConnector1">
            <a:avLst/>
          </a:prstGeom>
          <a:noFill/>
          <a:ln cap="flat" cmpd="sng" w="19050">
            <a:solidFill>
              <a:schemeClr val="dk1"/>
            </a:solidFill>
            <a:prstDash val="solid"/>
            <a:round/>
            <a:headEnd len="med" w="med" type="none"/>
            <a:tailEnd len="med" w="med" type="triangle"/>
          </a:ln>
        </p:spPr>
      </p:cxnSp>
      <p:cxnSp>
        <p:nvCxnSpPr>
          <p:cNvPr id="2682" name="Google Shape;2682;p116"/>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683" name="Google Shape;2683;p116"/>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684" name="Google Shape;2684;p116"/>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685" name="Google Shape;2685;p116"/>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686" name="Google Shape;2686;p116"/>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687" name="Google Shape;2687;p116"/>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688" name="Google Shape;2688;p116"/>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689" name="Google Shape;2689;p116"/>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690" name="Google Shape;2690;p116"/>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691" name="Google Shape;2691;p116"/>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692" name="Google Shape;2692;p116"/>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693" name="Google Shape;2693;p116"/>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694" name="Google Shape;2694;p116"/>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695" name="Google Shape;2695;p116"/>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696" name="Google Shape;2696;p116"/>
          <p:cNvSpPr txBox="1"/>
          <p:nvPr>
            <p:ph idx="1" type="body"/>
          </p:nvPr>
        </p:nvSpPr>
        <p:spPr>
          <a:xfrm>
            <a:off x="5297045"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2697" name="Google Shape;2697;p116"/>
          <p:cNvSpPr txBox="1"/>
          <p:nvPr>
            <p:ph idx="1" type="body"/>
          </p:nvPr>
        </p:nvSpPr>
        <p:spPr>
          <a:xfrm>
            <a:off x="6256376"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2698" name="Google Shape;2698;p116"/>
          <p:cNvSpPr txBox="1"/>
          <p:nvPr>
            <p:ph idx="1" type="body"/>
          </p:nvPr>
        </p:nvSpPr>
        <p:spPr>
          <a:xfrm>
            <a:off x="324000" y="810000"/>
            <a:ext cx="82377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If mean global temperatures continue to increase in the way they have since 1970, </a:t>
            </a:r>
            <a:r>
              <a:rPr lang="en-GB" sz="1800"/>
              <a:t>what range of</a:t>
            </a:r>
            <a:r>
              <a:rPr lang="en-GB" sz="1800"/>
              <a:t> data could we expect to record in </a:t>
            </a:r>
            <a:r>
              <a:rPr lang="en-GB" sz="1800">
                <a:solidFill>
                  <a:schemeClr val="accent5"/>
                </a:solidFill>
              </a:rPr>
              <a:t>2070</a:t>
            </a:r>
            <a:r>
              <a:rPr lang="en-GB" sz="1800"/>
              <a:t>?</a:t>
            </a:r>
            <a:endParaRPr sz="1800"/>
          </a:p>
        </p:txBody>
      </p:sp>
      <p:cxnSp>
        <p:nvCxnSpPr>
          <p:cNvPr id="2699" name="Google Shape;2699;p116"/>
          <p:cNvCxnSpPr/>
          <p:nvPr/>
        </p:nvCxnSpPr>
        <p:spPr>
          <a:xfrm flipH="1" rot="10800000">
            <a:off x="3969900" y="2400600"/>
            <a:ext cx="1054800" cy="851400"/>
          </a:xfrm>
          <a:prstGeom prst="straightConnector1">
            <a:avLst/>
          </a:prstGeom>
          <a:noFill/>
          <a:ln cap="flat" cmpd="sng" w="38100">
            <a:solidFill>
              <a:schemeClr val="dk1"/>
            </a:solidFill>
            <a:prstDash val="dash"/>
            <a:round/>
            <a:headEnd len="med" w="med" type="none"/>
            <a:tailEnd len="med" w="med" type="none"/>
          </a:ln>
        </p:spPr>
      </p:cxnSp>
      <p:cxnSp>
        <p:nvCxnSpPr>
          <p:cNvPr id="2700" name="Google Shape;2700;p116"/>
          <p:cNvCxnSpPr/>
          <p:nvPr/>
        </p:nvCxnSpPr>
        <p:spPr>
          <a:xfrm flipH="1" rot="10800000">
            <a:off x="3963500" y="2710275"/>
            <a:ext cx="1095000" cy="918900"/>
          </a:xfrm>
          <a:prstGeom prst="straightConnector1">
            <a:avLst/>
          </a:prstGeom>
          <a:noFill/>
          <a:ln cap="flat" cmpd="sng" w="38100">
            <a:solidFill>
              <a:schemeClr val="dk1"/>
            </a:solidFill>
            <a:prstDash val="dash"/>
            <a:round/>
            <a:headEnd len="med" w="med" type="none"/>
            <a:tailEnd len="med" w="med" type="none"/>
          </a:ln>
        </p:spPr>
      </p:cxnSp>
      <p:sp>
        <p:nvSpPr>
          <p:cNvPr id="2701" name="Google Shape;2701;p116"/>
          <p:cNvSpPr txBox="1"/>
          <p:nvPr>
            <p:ph idx="1" type="body"/>
          </p:nvPr>
        </p:nvSpPr>
        <p:spPr>
          <a:xfrm>
            <a:off x="6267600" y="1654593"/>
            <a:ext cx="2560200" cy="1870200"/>
          </a:xfrm>
          <a:prstGeom prst="rect">
            <a:avLst/>
          </a:prstGeom>
          <a:solidFill>
            <a:schemeClr val="lt1"/>
          </a:solidFill>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We could expect mean global temperatures to be between 2 and 2.45°C higher than they were during pre-industrial conditions. </a:t>
            </a:r>
            <a:endParaRPr sz="1800">
              <a:latin typeface="Kalam"/>
              <a:ea typeface="Kalam"/>
              <a:cs typeface="Kalam"/>
              <a:sym typeface="Kalam"/>
            </a:endParaRPr>
          </a:p>
        </p:txBody>
      </p:sp>
      <p:sp>
        <p:nvSpPr>
          <p:cNvPr id="2702" name="Google Shape;2702;p116"/>
          <p:cNvSpPr txBox="1"/>
          <p:nvPr>
            <p:ph idx="1" type="body"/>
          </p:nvPr>
        </p:nvSpPr>
        <p:spPr>
          <a:xfrm>
            <a:off x="6267600" y="3896356"/>
            <a:ext cx="2221800" cy="914400"/>
          </a:xfrm>
          <a:prstGeom prst="rect">
            <a:avLst/>
          </a:prstGeom>
          <a:solidFill>
            <a:schemeClr val="lt1"/>
          </a:solidFill>
        </p:spPr>
        <p:txBody>
          <a:bodyPr anchorCtr="0" anchor="t" bIns="0" lIns="0" spcFirstLastPara="1" rIns="0" wrap="square" tIns="0">
            <a:spAutoFit/>
          </a:bodyPr>
          <a:lstStyle/>
          <a:p>
            <a:pPr indent="0" lvl="0" marL="0" rtl="0" algn="l">
              <a:spcBef>
                <a:spcPts val="0"/>
              </a:spcBef>
              <a:spcAft>
                <a:spcPts val="1000"/>
              </a:spcAft>
              <a:buNone/>
            </a:pPr>
            <a:r>
              <a:rPr lang="en-GB" sz="1800"/>
              <a:t>How confident </a:t>
            </a:r>
            <a:r>
              <a:rPr lang="en-GB" sz="1800"/>
              <a:t>can</a:t>
            </a:r>
            <a:r>
              <a:rPr lang="en-GB" sz="1800"/>
              <a:t> we be about these predictions?</a:t>
            </a:r>
            <a:endParaRPr sz="1800"/>
          </a:p>
        </p:txBody>
      </p:sp>
      <p:grpSp>
        <p:nvGrpSpPr>
          <p:cNvPr id="2703" name="Google Shape;2703;p116"/>
          <p:cNvGrpSpPr/>
          <p:nvPr/>
        </p:nvGrpSpPr>
        <p:grpSpPr>
          <a:xfrm>
            <a:off x="1599227" y="1679525"/>
            <a:ext cx="4304878" cy="2688300"/>
            <a:chOff x="1599227" y="1679525"/>
            <a:chExt cx="4304878" cy="2688300"/>
          </a:xfrm>
        </p:grpSpPr>
        <p:cxnSp>
          <p:nvCxnSpPr>
            <p:cNvPr id="2704" name="Google Shape;2704;p116"/>
            <p:cNvCxnSpPr/>
            <p:nvPr/>
          </p:nvCxnSpPr>
          <p:spPr>
            <a:xfrm rot="10800000">
              <a:off x="5889750" y="1679525"/>
              <a:ext cx="0" cy="2688300"/>
            </a:xfrm>
            <a:prstGeom prst="straightConnector1">
              <a:avLst/>
            </a:prstGeom>
            <a:noFill/>
            <a:ln cap="flat" cmpd="sng" w="38100">
              <a:solidFill>
                <a:schemeClr val="dk2"/>
              </a:solidFill>
              <a:prstDash val="solid"/>
              <a:round/>
              <a:headEnd len="med" w="med" type="none"/>
              <a:tailEnd len="med" w="med" type="none"/>
            </a:ln>
          </p:spPr>
        </p:cxnSp>
        <p:cxnSp>
          <p:nvCxnSpPr>
            <p:cNvPr id="2705" name="Google Shape;2705;p116"/>
            <p:cNvCxnSpPr/>
            <p:nvPr/>
          </p:nvCxnSpPr>
          <p:spPr>
            <a:xfrm flipH="1">
              <a:off x="1608705" y="2051325"/>
              <a:ext cx="4295400" cy="1800"/>
            </a:xfrm>
            <a:prstGeom prst="straightConnector1">
              <a:avLst/>
            </a:prstGeom>
            <a:noFill/>
            <a:ln cap="flat" cmpd="sng" w="38100">
              <a:solidFill>
                <a:schemeClr val="dk2"/>
              </a:solidFill>
              <a:prstDash val="solid"/>
              <a:round/>
              <a:headEnd len="med" w="med" type="none"/>
              <a:tailEnd len="med" w="med" type="none"/>
            </a:ln>
          </p:spPr>
        </p:cxnSp>
        <p:cxnSp>
          <p:nvCxnSpPr>
            <p:cNvPr id="2706" name="Google Shape;2706;p116"/>
            <p:cNvCxnSpPr/>
            <p:nvPr/>
          </p:nvCxnSpPr>
          <p:spPr>
            <a:xfrm flipH="1">
              <a:off x="1599227" y="1720148"/>
              <a:ext cx="4295400" cy="1800"/>
            </a:xfrm>
            <a:prstGeom prst="straightConnector1">
              <a:avLst/>
            </a:prstGeom>
            <a:noFill/>
            <a:ln cap="flat" cmpd="sng" w="38100">
              <a:solidFill>
                <a:schemeClr val="dk2"/>
              </a:solidFill>
              <a:prstDash val="solid"/>
              <a:round/>
              <a:headEnd len="med" w="med" type="none"/>
              <a:tailEnd len="med" w="med" type="none"/>
            </a:ln>
          </p:spPr>
        </p:cxnSp>
      </p:grpSp>
      <p:cxnSp>
        <p:nvCxnSpPr>
          <p:cNvPr id="2707" name="Google Shape;2707;p116"/>
          <p:cNvCxnSpPr/>
          <p:nvPr/>
        </p:nvCxnSpPr>
        <p:spPr>
          <a:xfrm flipH="1" rot="10800000">
            <a:off x="3969900" y="1679400"/>
            <a:ext cx="1962900" cy="1572600"/>
          </a:xfrm>
          <a:prstGeom prst="straightConnector1">
            <a:avLst/>
          </a:prstGeom>
          <a:noFill/>
          <a:ln cap="flat" cmpd="sng" w="38100">
            <a:solidFill>
              <a:schemeClr val="dk1"/>
            </a:solidFill>
            <a:prstDash val="dash"/>
            <a:round/>
            <a:headEnd len="med" w="med" type="none"/>
            <a:tailEnd len="med" w="med" type="none"/>
          </a:ln>
        </p:spPr>
      </p:cxnSp>
      <p:cxnSp>
        <p:nvCxnSpPr>
          <p:cNvPr id="2708" name="Google Shape;2708;p116"/>
          <p:cNvCxnSpPr/>
          <p:nvPr/>
        </p:nvCxnSpPr>
        <p:spPr>
          <a:xfrm flipH="1" rot="10800000">
            <a:off x="3963500" y="1985775"/>
            <a:ext cx="1976100" cy="1643400"/>
          </a:xfrm>
          <a:prstGeom prst="straightConnector1">
            <a:avLst/>
          </a:prstGeom>
          <a:noFill/>
          <a:ln cap="flat" cmpd="sng" w="38100">
            <a:solidFill>
              <a:schemeClr val="dk1"/>
            </a:solidFill>
            <a:prstDash val="dash"/>
            <a:round/>
            <a:headEnd len="med" w="med" type="none"/>
            <a:tailEnd len="med" w="med" type="none"/>
          </a:ln>
        </p:spPr>
      </p:cxnSp>
      <p:sp>
        <p:nvSpPr>
          <p:cNvPr id="2709" name="Google Shape;2709;p116"/>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3" name="Shape 2713"/>
        <p:cNvGrpSpPr/>
        <p:nvPr/>
      </p:nvGrpSpPr>
      <p:grpSpPr>
        <a:xfrm>
          <a:off x="0" y="0"/>
          <a:ext cx="0" cy="0"/>
          <a:chOff x="0" y="0"/>
          <a:chExt cx="0" cy="0"/>
        </a:xfrm>
      </p:grpSpPr>
      <p:pic>
        <p:nvPicPr>
          <p:cNvPr id="2714" name="Google Shape;2714;p117"/>
          <p:cNvPicPr preferRelativeResize="0"/>
          <p:nvPr/>
        </p:nvPicPr>
        <p:blipFill rotWithShape="1">
          <a:blip r:embed="rId3">
            <a:alphaModFix/>
          </a:blip>
          <a:srcRect b="4734" l="4761" r="0" t="0"/>
          <a:stretch/>
        </p:blipFill>
        <p:spPr>
          <a:xfrm>
            <a:off x="1661772" y="1591956"/>
            <a:ext cx="4940216" cy="2790865"/>
          </a:xfrm>
          <a:prstGeom prst="rect">
            <a:avLst/>
          </a:prstGeom>
          <a:noFill/>
          <a:ln>
            <a:noFill/>
          </a:ln>
        </p:spPr>
      </p:pic>
      <p:sp>
        <p:nvSpPr>
          <p:cNvPr id="2715" name="Google Shape;2715;p117"/>
          <p:cNvSpPr txBox="1"/>
          <p:nvPr>
            <p:ph type="title"/>
          </p:nvPr>
        </p:nvSpPr>
        <p:spPr>
          <a:xfrm>
            <a:off x="324000" y="152400"/>
            <a:ext cx="713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716" name="Google Shape;2716;p117"/>
          <p:cNvCxnSpPr/>
          <p:nvPr/>
        </p:nvCxnSpPr>
        <p:spPr>
          <a:xfrm>
            <a:off x="1650000" y="3584849"/>
            <a:ext cx="4932000" cy="0"/>
          </a:xfrm>
          <a:prstGeom prst="straightConnector1">
            <a:avLst/>
          </a:prstGeom>
          <a:noFill/>
          <a:ln cap="flat" cmpd="sng" w="19050">
            <a:solidFill>
              <a:schemeClr val="dk1"/>
            </a:solidFill>
            <a:prstDash val="solid"/>
            <a:round/>
            <a:headEnd len="med" w="med" type="none"/>
            <a:tailEnd len="med" w="med" type="triangle"/>
          </a:ln>
        </p:spPr>
      </p:cxnSp>
      <p:cxnSp>
        <p:nvCxnSpPr>
          <p:cNvPr id="2717" name="Google Shape;2717;p117"/>
          <p:cNvCxnSpPr/>
          <p:nvPr/>
        </p:nvCxnSpPr>
        <p:spPr>
          <a:xfrm rot="10800000">
            <a:off x="1661772" y="1468274"/>
            <a:ext cx="0" cy="2898000"/>
          </a:xfrm>
          <a:prstGeom prst="straightConnector1">
            <a:avLst/>
          </a:prstGeom>
          <a:noFill/>
          <a:ln cap="flat" cmpd="sng" w="28575">
            <a:solidFill>
              <a:schemeClr val="dk1"/>
            </a:solidFill>
            <a:prstDash val="solid"/>
            <a:round/>
            <a:headEnd len="med" w="med" type="none"/>
            <a:tailEnd len="med" w="med" type="triangle"/>
          </a:ln>
        </p:spPr>
      </p:cxnSp>
      <p:sp>
        <p:nvSpPr>
          <p:cNvPr id="2718" name="Google Shape;2718;p117"/>
          <p:cNvSpPr txBox="1"/>
          <p:nvPr>
            <p:ph idx="1" type="body"/>
          </p:nvPr>
        </p:nvSpPr>
        <p:spPr>
          <a:xfrm>
            <a:off x="1446950"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719" name="Google Shape;2719;p117"/>
          <p:cNvSpPr txBox="1"/>
          <p:nvPr>
            <p:ph idx="1" type="body"/>
          </p:nvPr>
        </p:nvSpPr>
        <p:spPr>
          <a:xfrm>
            <a:off x="1198047" y="4259301"/>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720" name="Google Shape;2720;p117"/>
          <p:cNvSpPr txBox="1"/>
          <p:nvPr>
            <p:ph idx="1" type="body"/>
          </p:nvPr>
        </p:nvSpPr>
        <p:spPr>
          <a:xfrm rot="-5400000">
            <a:off x="-1020750" y="2639457"/>
            <a:ext cx="3505200" cy="8127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annual global mean temperature expressed as a difference from pre-industrial conditions (°C)</a:t>
            </a:r>
            <a:endParaRPr sz="1600"/>
          </a:p>
        </p:txBody>
      </p:sp>
      <p:sp>
        <p:nvSpPr>
          <p:cNvPr id="2721" name="Google Shape;2721;p117"/>
          <p:cNvSpPr txBox="1"/>
          <p:nvPr>
            <p:ph idx="1" type="body"/>
          </p:nvPr>
        </p:nvSpPr>
        <p:spPr>
          <a:xfrm>
            <a:off x="1209776" y="1575109"/>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722" name="Google Shape;2722;p117"/>
          <p:cNvSpPr txBox="1"/>
          <p:nvPr>
            <p:ph idx="1" type="body"/>
          </p:nvPr>
        </p:nvSpPr>
        <p:spPr>
          <a:xfrm>
            <a:off x="1209776" y="1957876"/>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723" name="Google Shape;2723;p117"/>
          <p:cNvSpPr txBox="1"/>
          <p:nvPr>
            <p:ph idx="1" type="body"/>
          </p:nvPr>
        </p:nvSpPr>
        <p:spPr>
          <a:xfrm>
            <a:off x="1209776" y="2334518"/>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724" name="Google Shape;2724;p117"/>
          <p:cNvSpPr txBox="1"/>
          <p:nvPr>
            <p:ph idx="1" type="body"/>
          </p:nvPr>
        </p:nvSpPr>
        <p:spPr>
          <a:xfrm>
            <a:off x="1209776" y="2723150"/>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725" name="Google Shape;2725;p117"/>
          <p:cNvSpPr txBox="1"/>
          <p:nvPr>
            <p:ph idx="1" type="body"/>
          </p:nvPr>
        </p:nvSpPr>
        <p:spPr>
          <a:xfrm>
            <a:off x="1209776" y="3105917"/>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726" name="Google Shape;2726;p117"/>
          <p:cNvSpPr txBox="1"/>
          <p:nvPr>
            <p:ph idx="1" type="body"/>
          </p:nvPr>
        </p:nvSpPr>
        <p:spPr>
          <a:xfrm>
            <a:off x="1209776" y="3488423"/>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727" name="Google Shape;2727;p117"/>
          <p:cNvSpPr txBox="1"/>
          <p:nvPr>
            <p:ph idx="1" type="body"/>
          </p:nvPr>
        </p:nvSpPr>
        <p:spPr>
          <a:xfrm>
            <a:off x="1209776" y="3888784"/>
            <a:ext cx="383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728" name="Google Shape;2728;p117"/>
          <p:cNvSpPr txBox="1"/>
          <p:nvPr>
            <p:ph idx="1" type="body"/>
          </p:nvPr>
        </p:nvSpPr>
        <p:spPr>
          <a:xfrm>
            <a:off x="2418271"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729" name="Google Shape;2729;p117"/>
          <p:cNvSpPr txBox="1"/>
          <p:nvPr>
            <p:ph idx="1" type="body"/>
          </p:nvPr>
        </p:nvSpPr>
        <p:spPr>
          <a:xfrm>
            <a:off x="3371998"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730" name="Google Shape;2730;p117"/>
          <p:cNvSpPr txBox="1"/>
          <p:nvPr>
            <p:ph idx="1" type="body"/>
          </p:nvPr>
        </p:nvSpPr>
        <p:spPr>
          <a:xfrm>
            <a:off x="4337449" y="4419775"/>
            <a:ext cx="5628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731" name="Google Shape;2731;p117"/>
          <p:cNvSpPr txBox="1"/>
          <p:nvPr>
            <p:ph idx="1" type="body"/>
          </p:nvPr>
        </p:nvSpPr>
        <p:spPr>
          <a:xfrm>
            <a:off x="5297045"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2732" name="Google Shape;2732;p117"/>
          <p:cNvSpPr txBox="1"/>
          <p:nvPr>
            <p:ph idx="1" type="body"/>
          </p:nvPr>
        </p:nvSpPr>
        <p:spPr>
          <a:xfrm>
            <a:off x="6256376" y="4419776"/>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2733" name="Google Shape;2733;p117"/>
          <p:cNvSpPr txBox="1"/>
          <p:nvPr>
            <p:ph idx="1" type="body"/>
          </p:nvPr>
        </p:nvSpPr>
        <p:spPr>
          <a:xfrm>
            <a:off x="324000" y="810000"/>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Trends in data can be affected by events or actions. So, the further we predict into the future, the less confident we may be about the prediction.</a:t>
            </a:r>
            <a:endParaRPr sz="1800"/>
          </a:p>
        </p:txBody>
      </p:sp>
      <p:cxnSp>
        <p:nvCxnSpPr>
          <p:cNvPr id="2734" name="Google Shape;2734;p117"/>
          <p:cNvCxnSpPr/>
          <p:nvPr/>
        </p:nvCxnSpPr>
        <p:spPr>
          <a:xfrm flipH="1" rot="10800000">
            <a:off x="3969900" y="2400600"/>
            <a:ext cx="1054800" cy="851400"/>
          </a:xfrm>
          <a:prstGeom prst="straightConnector1">
            <a:avLst/>
          </a:prstGeom>
          <a:noFill/>
          <a:ln cap="flat" cmpd="sng" w="38100">
            <a:solidFill>
              <a:schemeClr val="dk1"/>
            </a:solidFill>
            <a:prstDash val="dash"/>
            <a:round/>
            <a:headEnd len="med" w="med" type="none"/>
            <a:tailEnd len="med" w="med" type="none"/>
          </a:ln>
        </p:spPr>
      </p:cxnSp>
      <p:cxnSp>
        <p:nvCxnSpPr>
          <p:cNvPr id="2735" name="Google Shape;2735;p117"/>
          <p:cNvCxnSpPr/>
          <p:nvPr/>
        </p:nvCxnSpPr>
        <p:spPr>
          <a:xfrm flipH="1" rot="10800000">
            <a:off x="3963500" y="2710275"/>
            <a:ext cx="1095000" cy="918900"/>
          </a:xfrm>
          <a:prstGeom prst="straightConnector1">
            <a:avLst/>
          </a:prstGeom>
          <a:noFill/>
          <a:ln cap="flat" cmpd="sng" w="38100">
            <a:solidFill>
              <a:schemeClr val="dk1"/>
            </a:solidFill>
            <a:prstDash val="dash"/>
            <a:round/>
            <a:headEnd len="med" w="med" type="none"/>
            <a:tailEnd len="med" w="med" type="none"/>
          </a:ln>
        </p:spPr>
      </p:cxnSp>
      <p:cxnSp>
        <p:nvCxnSpPr>
          <p:cNvPr id="2736" name="Google Shape;2736;p117"/>
          <p:cNvCxnSpPr/>
          <p:nvPr/>
        </p:nvCxnSpPr>
        <p:spPr>
          <a:xfrm flipH="1" rot="10800000">
            <a:off x="3969900" y="2384400"/>
            <a:ext cx="1080900" cy="867600"/>
          </a:xfrm>
          <a:prstGeom prst="straightConnector1">
            <a:avLst/>
          </a:prstGeom>
          <a:noFill/>
          <a:ln cap="flat" cmpd="sng" w="38100">
            <a:solidFill>
              <a:schemeClr val="dk1"/>
            </a:solidFill>
            <a:prstDash val="dash"/>
            <a:round/>
            <a:headEnd len="med" w="med" type="none"/>
            <a:tailEnd len="med" w="med" type="none"/>
          </a:ln>
        </p:spPr>
      </p:cxnSp>
      <p:cxnSp>
        <p:nvCxnSpPr>
          <p:cNvPr id="2737" name="Google Shape;2737;p117"/>
          <p:cNvCxnSpPr/>
          <p:nvPr/>
        </p:nvCxnSpPr>
        <p:spPr>
          <a:xfrm flipH="1" rot="10800000">
            <a:off x="3963500" y="2676675"/>
            <a:ext cx="1144200" cy="952500"/>
          </a:xfrm>
          <a:prstGeom prst="straightConnector1">
            <a:avLst/>
          </a:prstGeom>
          <a:noFill/>
          <a:ln cap="flat" cmpd="sng" w="38100">
            <a:solidFill>
              <a:schemeClr val="dk1"/>
            </a:solidFill>
            <a:prstDash val="dash"/>
            <a:round/>
            <a:headEnd len="med" w="med" type="none"/>
            <a:tailEnd len="med" w="med" type="none"/>
          </a:ln>
        </p:spPr>
      </p:cxnSp>
      <p:cxnSp>
        <p:nvCxnSpPr>
          <p:cNvPr id="2738" name="Google Shape;2738;p117"/>
          <p:cNvCxnSpPr/>
          <p:nvPr/>
        </p:nvCxnSpPr>
        <p:spPr>
          <a:xfrm rot="10800000">
            <a:off x="5109425" y="2688225"/>
            <a:ext cx="1346400" cy="198900"/>
          </a:xfrm>
          <a:prstGeom prst="straightConnector1">
            <a:avLst/>
          </a:prstGeom>
          <a:noFill/>
          <a:ln cap="flat" cmpd="sng" w="38100">
            <a:solidFill>
              <a:schemeClr val="dk1"/>
            </a:solidFill>
            <a:prstDash val="dash"/>
            <a:round/>
            <a:headEnd len="med" w="med" type="none"/>
            <a:tailEnd len="med" w="med" type="none"/>
          </a:ln>
        </p:spPr>
      </p:cxnSp>
      <p:cxnSp>
        <p:nvCxnSpPr>
          <p:cNvPr id="2739" name="Google Shape;2739;p117"/>
          <p:cNvCxnSpPr/>
          <p:nvPr/>
        </p:nvCxnSpPr>
        <p:spPr>
          <a:xfrm rot="10800000">
            <a:off x="5037525" y="2383275"/>
            <a:ext cx="1431000" cy="216000"/>
          </a:xfrm>
          <a:prstGeom prst="straightConnector1">
            <a:avLst/>
          </a:prstGeom>
          <a:noFill/>
          <a:ln cap="flat" cmpd="sng" w="38100">
            <a:solidFill>
              <a:schemeClr val="dk1"/>
            </a:solidFill>
            <a:prstDash val="dash"/>
            <a:round/>
            <a:headEnd len="med" w="med" type="none"/>
            <a:tailEnd len="med" w="med" type="none"/>
          </a:ln>
        </p:spPr>
      </p:cxnSp>
      <p:sp>
        <p:nvSpPr>
          <p:cNvPr id="2740" name="Google Shape;2740;p117"/>
          <p:cNvSpPr txBox="1"/>
          <p:nvPr>
            <p:ph idx="1" type="body"/>
          </p:nvPr>
        </p:nvSpPr>
        <p:spPr>
          <a:xfrm>
            <a:off x="2912395" y="4601552"/>
            <a:ext cx="4173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4" name="Shape 2744"/>
        <p:cNvGrpSpPr/>
        <p:nvPr/>
      </p:nvGrpSpPr>
      <p:grpSpPr>
        <a:xfrm>
          <a:off x="0" y="0"/>
          <a:ext cx="0" cy="0"/>
          <a:chOff x="0" y="0"/>
          <a:chExt cx="0" cy="0"/>
        </a:xfrm>
      </p:grpSpPr>
      <p:pic>
        <p:nvPicPr>
          <p:cNvPr id="2745" name="Google Shape;2745;p118"/>
          <p:cNvPicPr preferRelativeResize="0"/>
          <p:nvPr/>
        </p:nvPicPr>
        <p:blipFill rotWithShape="1">
          <a:blip r:embed="rId3">
            <a:alphaModFix/>
          </a:blip>
          <a:srcRect b="0" l="0" r="32537" t="0"/>
          <a:stretch/>
        </p:blipFill>
        <p:spPr>
          <a:xfrm>
            <a:off x="1979950" y="2280075"/>
            <a:ext cx="3953326" cy="2160400"/>
          </a:xfrm>
          <a:prstGeom prst="rect">
            <a:avLst/>
          </a:prstGeom>
          <a:noFill/>
          <a:ln>
            <a:noFill/>
          </a:ln>
        </p:spPr>
      </p:pic>
      <p:sp>
        <p:nvSpPr>
          <p:cNvPr id="2746" name="Google Shape;2746;p118"/>
          <p:cNvSpPr txBox="1"/>
          <p:nvPr>
            <p:ph idx="1" type="body"/>
          </p:nvPr>
        </p:nvSpPr>
        <p:spPr>
          <a:xfrm>
            <a:off x="324000" y="810000"/>
            <a:ext cx="8496000" cy="661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t>The graphs show data from the Met Office and OSI SAF about sea ice in the Antarctic for each November from 1980 to 2014.</a:t>
            </a:r>
            <a:endParaRPr sz="2000"/>
          </a:p>
        </p:txBody>
      </p:sp>
      <p:sp>
        <p:nvSpPr>
          <p:cNvPr id="2747" name="Google Shape;2747;p118"/>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2748" name="Google Shape;2748;p118"/>
          <p:cNvSpPr txBox="1"/>
          <p:nvPr>
            <p:ph idx="1" type="body"/>
          </p:nvPr>
        </p:nvSpPr>
        <p:spPr>
          <a:xfrm rot="-5400000">
            <a:off x="-459175" y="2707133"/>
            <a:ext cx="2825400" cy="1222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Antarctic sea ice extent for November expressed as a difference from the 1981-2010 average for each </a:t>
            </a:r>
            <a:r>
              <a:rPr lang="en-GB" sz="1400"/>
              <a:t>November</a:t>
            </a:r>
            <a:r>
              <a:rPr lang="en-GB" sz="1400"/>
              <a:t> (million km</a:t>
            </a:r>
            <a:r>
              <a:rPr baseline="30000" lang="en-GB" sz="1500"/>
              <a:t>2</a:t>
            </a:r>
            <a:r>
              <a:rPr lang="en-GB" sz="1400"/>
              <a:t>)</a:t>
            </a:r>
            <a:endParaRPr sz="1400"/>
          </a:p>
        </p:txBody>
      </p:sp>
      <p:cxnSp>
        <p:nvCxnSpPr>
          <p:cNvPr id="2749" name="Google Shape;2749;p118"/>
          <p:cNvCxnSpPr/>
          <p:nvPr/>
        </p:nvCxnSpPr>
        <p:spPr>
          <a:xfrm>
            <a:off x="2031059" y="3202145"/>
            <a:ext cx="4083900" cy="0"/>
          </a:xfrm>
          <a:prstGeom prst="straightConnector1">
            <a:avLst/>
          </a:prstGeom>
          <a:noFill/>
          <a:ln cap="flat" cmpd="sng" w="19050">
            <a:solidFill>
              <a:schemeClr val="dk1"/>
            </a:solidFill>
            <a:prstDash val="solid"/>
            <a:round/>
            <a:headEnd len="med" w="med" type="none"/>
            <a:tailEnd len="med" w="med" type="triangle"/>
          </a:ln>
        </p:spPr>
      </p:cxnSp>
      <p:cxnSp>
        <p:nvCxnSpPr>
          <p:cNvPr id="2750" name="Google Shape;2750;p118"/>
          <p:cNvCxnSpPr/>
          <p:nvPr/>
        </p:nvCxnSpPr>
        <p:spPr>
          <a:xfrm rot="10800000">
            <a:off x="2047760" y="1999057"/>
            <a:ext cx="0" cy="2427600"/>
          </a:xfrm>
          <a:prstGeom prst="straightConnector1">
            <a:avLst/>
          </a:prstGeom>
          <a:noFill/>
          <a:ln cap="flat" cmpd="sng" w="28575">
            <a:solidFill>
              <a:schemeClr val="dk1"/>
            </a:solidFill>
            <a:prstDash val="solid"/>
            <a:round/>
            <a:headEnd len="med" w="med" type="none"/>
            <a:tailEnd len="med" w="med" type="triangle"/>
          </a:ln>
        </p:spPr>
      </p:cxnSp>
      <p:sp>
        <p:nvSpPr>
          <p:cNvPr id="2751" name="Google Shape;2751;p118"/>
          <p:cNvSpPr txBox="1"/>
          <p:nvPr>
            <p:ph idx="1" type="body"/>
          </p:nvPr>
        </p:nvSpPr>
        <p:spPr>
          <a:xfrm>
            <a:off x="1877709" y="4460552"/>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2752" name="Google Shape;2752;p118"/>
          <p:cNvSpPr txBox="1"/>
          <p:nvPr>
            <p:ph idx="1" type="body"/>
          </p:nvPr>
        </p:nvSpPr>
        <p:spPr>
          <a:xfrm>
            <a:off x="1641725" y="278638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753" name="Google Shape;2753;p118"/>
          <p:cNvSpPr txBox="1"/>
          <p:nvPr>
            <p:ph idx="1" type="body"/>
          </p:nvPr>
        </p:nvSpPr>
        <p:spPr>
          <a:xfrm>
            <a:off x="1641725" y="3092254"/>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754" name="Google Shape;2754;p118"/>
          <p:cNvSpPr txBox="1"/>
          <p:nvPr>
            <p:ph idx="1" type="body"/>
          </p:nvPr>
        </p:nvSpPr>
        <p:spPr>
          <a:xfrm>
            <a:off x="2795139" y="4465315"/>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2755" name="Google Shape;2755;p118"/>
          <p:cNvSpPr txBox="1"/>
          <p:nvPr>
            <p:ph idx="1" type="body"/>
          </p:nvPr>
        </p:nvSpPr>
        <p:spPr>
          <a:xfrm>
            <a:off x="3750676" y="4460543"/>
            <a:ext cx="65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756" name="Google Shape;2756;p118"/>
          <p:cNvSpPr txBox="1"/>
          <p:nvPr>
            <p:ph idx="1" type="body"/>
          </p:nvPr>
        </p:nvSpPr>
        <p:spPr>
          <a:xfrm>
            <a:off x="4679342" y="4460552"/>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2757" name="Google Shape;2757;p118"/>
          <p:cNvSpPr txBox="1"/>
          <p:nvPr>
            <p:ph idx="1" type="body"/>
          </p:nvPr>
        </p:nvSpPr>
        <p:spPr>
          <a:xfrm>
            <a:off x="5651756" y="4460555"/>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2758" name="Google Shape;2758;p118"/>
          <p:cNvSpPr txBox="1"/>
          <p:nvPr>
            <p:ph idx="1" type="body"/>
          </p:nvPr>
        </p:nvSpPr>
        <p:spPr>
          <a:xfrm>
            <a:off x="4247869" y="4592452"/>
            <a:ext cx="472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759" name="Google Shape;2759;p118"/>
          <p:cNvSpPr txBox="1"/>
          <p:nvPr>
            <p:ph idx="1" type="body"/>
          </p:nvPr>
        </p:nvSpPr>
        <p:spPr>
          <a:xfrm>
            <a:off x="1641725" y="339811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760" name="Google Shape;2760;p118"/>
          <p:cNvSpPr txBox="1"/>
          <p:nvPr>
            <p:ph idx="1" type="body"/>
          </p:nvPr>
        </p:nvSpPr>
        <p:spPr>
          <a:xfrm>
            <a:off x="1641725" y="400985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761" name="Google Shape;2761;p118"/>
          <p:cNvSpPr txBox="1"/>
          <p:nvPr>
            <p:ph idx="1" type="body"/>
          </p:nvPr>
        </p:nvSpPr>
        <p:spPr>
          <a:xfrm>
            <a:off x="1641725" y="3703985"/>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762" name="Google Shape;2762;p118"/>
          <p:cNvSpPr txBox="1"/>
          <p:nvPr>
            <p:ph idx="1" type="body"/>
          </p:nvPr>
        </p:nvSpPr>
        <p:spPr>
          <a:xfrm>
            <a:off x="1641725" y="248900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763" name="Google Shape;2763;p118"/>
          <p:cNvSpPr txBox="1"/>
          <p:nvPr>
            <p:ph idx="1" type="body"/>
          </p:nvPr>
        </p:nvSpPr>
        <p:spPr>
          <a:xfrm>
            <a:off x="1641725" y="2182086"/>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7" name="Shape 2767"/>
        <p:cNvGrpSpPr/>
        <p:nvPr/>
      </p:nvGrpSpPr>
      <p:grpSpPr>
        <a:xfrm>
          <a:off x="0" y="0"/>
          <a:ext cx="0" cy="0"/>
          <a:chOff x="0" y="0"/>
          <a:chExt cx="0" cy="0"/>
        </a:xfrm>
      </p:grpSpPr>
      <p:pic>
        <p:nvPicPr>
          <p:cNvPr id="2768" name="Google Shape;2768;p119"/>
          <p:cNvPicPr preferRelativeResize="0"/>
          <p:nvPr/>
        </p:nvPicPr>
        <p:blipFill rotWithShape="1">
          <a:blip r:embed="rId3">
            <a:alphaModFix/>
          </a:blip>
          <a:srcRect b="0" l="0" r="32537" t="0"/>
          <a:stretch/>
        </p:blipFill>
        <p:spPr>
          <a:xfrm>
            <a:off x="1979950" y="2280075"/>
            <a:ext cx="3953326" cy="2160400"/>
          </a:xfrm>
          <a:prstGeom prst="rect">
            <a:avLst/>
          </a:prstGeom>
          <a:noFill/>
          <a:ln>
            <a:noFill/>
          </a:ln>
        </p:spPr>
      </p:pic>
      <p:sp>
        <p:nvSpPr>
          <p:cNvPr id="2769" name="Google Shape;2769;p119"/>
          <p:cNvSpPr txBox="1"/>
          <p:nvPr>
            <p:ph idx="1" type="body"/>
          </p:nvPr>
        </p:nvSpPr>
        <p:spPr>
          <a:xfrm>
            <a:off x="324000" y="810000"/>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GB" sz="1800"/>
              <a:t>True or false? </a:t>
            </a:r>
            <a:br>
              <a:rPr lang="en-GB" sz="1800"/>
            </a:br>
            <a:r>
              <a:rPr lang="en-GB" sz="1800"/>
              <a:t>The extent of sea ice increases and decreases from one year to the next.</a:t>
            </a:r>
            <a:endParaRPr sz="1800"/>
          </a:p>
        </p:txBody>
      </p:sp>
      <p:sp>
        <p:nvSpPr>
          <p:cNvPr id="2770" name="Google Shape;2770;p119"/>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771" name="Google Shape;2771;p119"/>
          <p:cNvCxnSpPr/>
          <p:nvPr/>
        </p:nvCxnSpPr>
        <p:spPr>
          <a:xfrm>
            <a:off x="2031059" y="3202145"/>
            <a:ext cx="4083900" cy="0"/>
          </a:xfrm>
          <a:prstGeom prst="straightConnector1">
            <a:avLst/>
          </a:prstGeom>
          <a:noFill/>
          <a:ln cap="flat" cmpd="sng" w="19050">
            <a:solidFill>
              <a:schemeClr val="dk1"/>
            </a:solidFill>
            <a:prstDash val="solid"/>
            <a:round/>
            <a:headEnd len="med" w="med" type="none"/>
            <a:tailEnd len="med" w="med" type="triangle"/>
          </a:ln>
        </p:spPr>
      </p:cxnSp>
      <p:cxnSp>
        <p:nvCxnSpPr>
          <p:cNvPr id="2772" name="Google Shape;2772;p119"/>
          <p:cNvCxnSpPr/>
          <p:nvPr/>
        </p:nvCxnSpPr>
        <p:spPr>
          <a:xfrm rot="10800000">
            <a:off x="2047760" y="1999057"/>
            <a:ext cx="0" cy="2427600"/>
          </a:xfrm>
          <a:prstGeom prst="straightConnector1">
            <a:avLst/>
          </a:prstGeom>
          <a:noFill/>
          <a:ln cap="flat" cmpd="sng" w="28575">
            <a:solidFill>
              <a:schemeClr val="dk1"/>
            </a:solidFill>
            <a:prstDash val="solid"/>
            <a:round/>
            <a:headEnd len="med" w="med" type="none"/>
            <a:tailEnd len="med" w="med" type="triangle"/>
          </a:ln>
        </p:spPr>
      </p:cxnSp>
      <p:sp>
        <p:nvSpPr>
          <p:cNvPr id="2773" name="Google Shape;2773;p119"/>
          <p:cNvSpPr txBox="1"/>
          <p:nvPr>
            <p:ph idx="1" type="body"/>
          </p:nvPr>
        </p:nvSpPr>
        <p:spPr>
          <a:xfrm>
            <a:off x="1877709" y="4460552"/>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2774" name="Google Shape;2774;p119"/>
          <p:cNvSpPr txBox="1"/>
          <p:nvPr>
            <p:ph idx="1" type="body"/>
          </p:nvPr>
        </p:nvSpPr>
        <p:spPr>
          <a:xfrm>
            <a:off x="1641725" y="278638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775" name="Google Shape;2775;p119"/>
          <p:cNvSpPr txBox="1"/>
          <p:nvPr>
            <p:ph idx="1" type="body"/>
          </p:nvPr>
        </p:nvSpPr>
        <p:spPr>
          <a:xfrm>
            <a:off x="1641725" y="3092254"/>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776" name="Google Shape;2776;p119"/>
          <p:cNvSpPr txBox="1"/>
          <p:nvPr>
            <p:ph idx="1" type="body"/>
          </p:nvPr>
        </p:nvSpPr>
        <p:spPr>
          <a:xfrm>
            <a:off x="2795139" y="4465315"/>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2777" name="Google Shape;2777;p119"/>
          <p:cNvSpPr txBox="1"/>
          <p:nvPr>
            <p:ph idx="1" type="body"/>
          </p:nvPr>
        </p:nvSpPr>
        <p:spPr>
          <a:xfrm>
            <a:off x="3750676" y="4460543"/>
            <a:ext cx="65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778" name="Google Shape;2778;p119"/>
          <p:cNvSpPr txBox="1"/>
          <p:nvPr>
            <p:ph idx="1" type="body"/>
          </p:nvPr>
        </p:nvSpPr>
        <p:spPr>
          <a:xfrm>
            <a:off x="4679342" y="4460552"/>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2779" name="Google Shape;2779;p119"/>
          <p:cNvSpPr txBox="1"/>
          <p:nvPr>
            <p:ph idx="1" type="body"/>
          </p:nvPr>
        </p:nvSpPr>
        <p:spPr>
          <a:xfrm>
            <a:off x="5651756" y="4460555"/>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2780" name="Google Shape;2780;p119"/>
          <p:cNvSpPr txBox="1"/>
          <p:nvPr>
            <p:ph idx="1" type="body"/>
          </p:nvPr>
        </p:nvSpPr>
        <p:spPr>
          <a:xfrm>
            <a:off x="4247869" y="4592452"/>
            <a:ext cx="472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781" name="Google Shape;2781;p119"/>
          <p:cNvSpPr txBox="1"/>
          <p:nvPr>
            <p:ph idx="1" type="body"/>
          </p:nvPr>
        </p:nvSpPr>
        <p:spPr>
          <a:xfrm>
            <a:off x="1641725" y="339811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782" name="Google Shape;2782;p119"/>
          <p:cNvSpPr txBox="1"/>
          <p:nvPr>
            <p:ph idx="1" type="body"/>
          </p:nvPr>
        </p:nvSpPr>
        <p:spPr>
          <a:xfrm>
            <a:off x="1641725" y="400985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783" name="Google Shape;2783;p119"/>
          <p:cNvSpPr txBox="1"/>
          <p:nvPr>
            <p:ph idx="1" type="body"/>
          </p:nvPr>
        </p:nvSpPr>
        <p:spPr>
          <a:xfrm>
            <a:off x="1641725" y="3703985"/>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784" name="Google Shape;2784;p119"/>
          <p:cNvSpPr txBox="1"/>
          <p:nvPr>
            <p:ph idx="1" type="body"/>
          </p:nvPr>
        </p:nvSpPr>
        <p:spPr>
          <a:xfrm>
            <a:off x="1641725" y="248900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785" name="Google Shape;2785;p119"/>
          <p:cNvSpPr txBox="1"/>
          <p:nvPr>
            <p:ph idx="1" type="body"/>
          </p:nvPr>
        </p:nvSpPr>
        <p:spPr>
          <a:xfrm>
            <a:off x="1641725" y="2182086"/>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786" name="Google Shape;2786;p119"/>
          <p:cNvSpPr txBox="1"/>
          <p:nvPr>
            <p:ph idx="1" type="body"/>
          </p:nvPr>
        </p:nvSpPr>
        <p:spPr>
          <a:xfrm rot="-5400000">
            <a:off x="-459175" y="2707133"/>
            <a:ext cx="2825400" cy="1222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Antarctic sea ice extent for November expressed as a difference from the 1981-2010 average for each </a:t>
            </a:r>
            <a:r>
              <a:rPr lang="en-GB" sz="1400"/>
              <a:t>November</a:t>
            </a:r>
            <a:r>
              <a:rPr lang="en-GB" sz="1400"/>
              <a:t> (million km</a:t>
            </a:r>
            <a:r>
              <a:rPr baseline="30000" lang="en-GB" sz="1500"/>
              <a:t>2</a:t>
            </a:r>
            <a:r>
              <a:rPr lang="en-GB" sz="1400"/>
              <a:t>)</a:t>
            </a:r>
            <a:endParaRPr sz="1400"/>
          </a:p>
        </p:txBody>
      </p:sp>
      <p:sp>
        <p:nvSpPr>
          <p:cNvPr id="2787" name="Google Shape;2787;p119"/>
          <p:cNvSpPr txBox="1"/>
          <p:nvPr>
            <p:ph idx="1" type="body"/>
          </p:nvPr>
        </p:nvSpPr>
        <p:spPr>
          <a:xfrm>
            <a:off x="6292150" y="2181600"/>
            <a:ext cx="2527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Explain your answer.</a:t>
            </a:r>
            <a:endParaRPr sz="1800"/>
          </a:p>
        </p:txBody>
      </p:sp>
      <p:sp>
        <p:nvSpPr>
          <p:cNvPr id="2788" name="Google Shape;2788;p119"/>
          <p:cNvSpPr txBox="1"/>
          <p:nvPr>
            <p:ph idx="1" type="body"/>
          </p:nvPr>
        </p:nvSpPr>
        <p:spPr>
          <a:xfrm>
            <a:off x="4335785" y="1572000"/>
            <a:ext cx="617100" cy="307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latin typeface="Kalam"/>
                <a:ea typeface="Kalam"/>
                <a:cs typeface="Kalam"/>
                <a:sym typeface="Kalam"/>
              </a:rPr>
              <a:t>True</a:t>
            </a:r>
            <a:endParaRPr sz="2000">
              <a:latin typeface="Kalam"/>
              <a:ea typeface="Kalam"/>
              <a:cs typeface="Kalam"/>
              <a:sym typeface="Kalam"/>
            </a:endParaRPr>
          </a:p>
        </p:txBody>
      </p:sp>
      <p:sp>
        <p:nvSpPr>
          <p:cNvPr id="2789" name="Google Shape;2789;p119"/>
          <p:cNvSpPr txBox="1"/>
          <p:nvPr>
            <p:ph idx="1" type="body"/>
          </p:nvPr>
        </p:nvSpPr>
        <p:spPr>
          <a:xfrm>
            <a:off x="6316946" y="2638800"/>
            <a:ext cx="2377500" cy="1723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latin typeface="Kalam"/>
                <a:ea typeface="Kalam"/>
                <a:cs typeface="Kalam"/>
                <a:sym typeface="Kalam"/>
              </a:rPr>
              <a:t>The values differ each year. Sometimes there is an increase; sometimes there is a decrease.</a:t>
            </a:r>
            <a:endParaRPr sz="2000">
              <a:latin typeface="Kalam"/>
              <a:ea typeface="Kalam"/>
              <a:cs typeface="Kalam"/>
              <a:sym typeface="Kalam"/>
            </a:endParaRPr>
          </a:p>
        </p:txBody>
      </p:sp>
      <p:cxnSp>
        <p:nvCxnSpPr>
          <p:cNvPr id="2790" name="Google Shape;2790;p119"/>
          <p:cNvCxnSpPr/>
          <p:nvPr/>
        </p:nvCxnSpPr>
        <p:spPr>
          <a:xfrm>
            <a:off x="2528925" y="3098200"/>
            <a:ext cx="95700" cy="735600"/>
          </a:xfrm>
          <a:prstGeom prst="straightConnector1">
            <a:avLst/>
          </a:prstGeom>
          <a:noFill/>
          <a:ln cap="flat" cmpd="sng" w="38100">
            <a:solidFill>
              <a:schemeClr val="dk1"/>
            </a:solidFill>
            <a:prstDash val="solid"/>
            <a:round/>
            <a:headEnd len="med" w="med" type="none"/>
            <a:tailEnd len="med" w="med" type="triangle"/>
          </a:ln>
        </p:spPr>
      </p:cxnSp>
      <p:cxnSp>
        <p:nvCxnSpPr>
          <p:cNvPr id="2791" name="Google Shape;2791;p119"/>
          <p:cNvCxnSpPr/>
          <p:nvPr/>
        </p:nvCxnSpPr>
        <p:spPr>
          <a:xfrm flipH="1" rot="10800000">
            <a:off x="2619587" y="3002387"/>
            <a:ext cx="201600" cy="8163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5" name="Shape 2795"/>
        <p:cNvGrpSpPr/>
        <p:nvPr/>
      </p:nvGrpSpPr>
      <p:grpSpPr>
        <a:xfrm>
          <a:off x="0" y="0"/>
          <a:ext cx="0" cy="0"/>
          <a:chOff x="0" y="0"/>
          <a:chExt cx="0" cy="0"/>
        </a:xfrm>
      </p:grpSpPr>
      <p:pic>
        <p:nvPicPr>
          <p:cNvPr id="2796" name="Google Shape;2796;p120"/>
          <p:cNvPicPr preferRelativeResize="0"/>
          <p:nvPr/>
        </p:nvPicPr>
        <p:blipFill rotWithShape="1">
          <a:blip r:embed="rId3">
            <a:alphaModFix/>
          </a:blip>
          <a:srcRect b="0" l="0" r="32537" t="0"/>
          <a:stretch/>
        </p:blipFill>
        <p:spPr>
          <a:xfrm>
            <a:off x="1979950" y="2280075"/>
            <a:ext cx="3953326" cy="2160400"/>
          </a:xfrm>
          <a:prstGeom prst="rect">
            <a:avLst/>
          </a:prstGeom>
          <a:noFill/>
          <a:ln>
            <a:noFill/>
          </a:ln>
        </p:spPr>
      </p:pic>
      <p:sp>
        <p:nvSpPr>
          <p:cNvPr id="2797" name="Google Shape;2797;p120"/>
          <p:cNvSpPr txBox="1"/>
          <p:nvPr>
            <p:ph idx="1" type="body"/>
          </p:nvPr>
        </p:nvSpPr>
        <p:spPr>
          <a:xfrm>
            <a:off x="324000" y="810000"/>
            <a:ext cx="84960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b="1" lang="en-GB" sz="1800"/>
              <a:t>True or false? </a:t>
            </a:r>
            <a:br>
              <a:rPr lang="en-GB" sz="1800"/>
            </a:br>
            <a:r>
              <a:rPr lang="en-GB" sz="1800"/>
              <a:t>Despite changes between years, the extent of sea ice remained within a similar range of values for </a:t>
            </a:r>
            <a:r>
              <a:rPr lang="en-GB" sz="1800">
                <a:solidFill>
                  <a:schemeClr val="accent5"/>
                </a:solidFill>
              </a:rPr>
              <a:t>most</a:t>
            </a:r>
            <a:r>
              <a:rPr lang="en-GB" sz="1800"/>
              <a:t> years between 1980 and 2010. </a:t>
            </a:r>
            <a:endParaRPr sz="1800"/>
          </a:p>
        </p:txBody>
      </p:sp>
      <p:sp>
        <p:nvSpPr>
          <p:cNvPr id="2798" name="Google Shape;2798;p120"/>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2799" name="Google Shape;2799;p120"/>
          <p:cNvSpPr txBox="1"/>
          <p:nvPr>
            <p:ph idx="1" type="body"/>
          </p:nvPr>
        </p:nvSpPr>
        <p:spPr>
          <a:xfrm rot="-5400000">
            <a:off x="-459175" y="2707133"/>
            <a:ext cx="2825400" cy="1222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Antarctic sea ice extent for November expressed as a difference from the 1981-2010 average for each </a:t>
            </a:r>
            <a:r>
              <a:rPr lang="en-GB" sz="1400"/>
              <a:t>November</a:t>
            </a:r>
            <a:r>
              <a:rPr lang="en-GB" sz="1400"/>
              <a:t> (million km</a:t>
            </a:r>
            <a:r>
              <a:rPr baseline="30000" lang="en-GB" sz="1500"/>
              <a:t>2</a:t>
            </a:r>
            <a:r>
              <a:rPr lang="en-GB" sz="1400"/>
              <a:t>)</a:t>
            </a:r>
            <a:endParaRPr sz="1400"/>
          </a:p>
        </p:txBody>
      </p:sp>
      <p:cxnSp>
        <p:nvCxnSpPr>
          <p:cNvPr id="2800" name="Google Shape;2800;p120"/>
          <p:cNvCxnSpPr/>
          <p:nvPr/>
        </p:nvCxnSpPr>
        <p:spPr>
          <a:xfrm>
            <a:off x="2031059" y="3202145"/>
            <a:ext cx="4083900" cy="0"/>
          </a:xfrm>
          <a:prstGeom prst="straightConnector1">
            <a:avLst/>
          </a:prstGeom>
          <a:noFill/>
          <a:ln cap="flat" cmpd="sng" w="19050">
            <a:solidFill>
              <a:schemeClr val="dk1"/>
            </a:solidFill>
            <a:prstDash val="solid"/>
            <a:round/>
            <a:headEnd len="med" w="med" type="none"/>
            <a:tailEnd len="med" w="med" type="triangle"/>
          </a:ln>
        </p:spPr>
      </p:cxnSp>
      <p:cxnSp>
        <p:nvCxnSpPr>
          <p:cNvPr id="2801" name="Google Shape;2801;p120"/>
          <p:cNvCxnSpPr/>
          <p:nvPr/>
        </p:nvCxnSpPr>
        <p:spPr>
          <a:xfrm rot="10800000">
            <a:off x="2047760" y="1999057"/>
            <a:ext cx="0" cy="2427600"/>
          </a:xfrm>
          <a:prstGeom prst="straightConnector1">
            <a:avLst/>
          </a:prstGeom>
          <a:noFill/>
          <a:ln cap="flat" cmpd="sng" w="28575">
            <a:solidFill>
              <a:schemeClr val="dk1"/>
            </a:solidFill>
            <a:prstDash val="solid"/>
            <a:round/>
            <a:headEnd len="med" w="med" type="none"/>
            <a:tailEnd len="med" w="med" type="triangle"/>
          </a:ln>
        </p:spPr>
      </p:cxnSp>
      <p:sp>
        <p:nvSpPr>
          <p:cNvPr id="2802" name="Google Shape;2802;p120"/>
          <p:cNvSpPr txBox="1"/>
          <p:nvPr>
            <p:ph idx="1" type="body"/>
          </p:nvPr>
        </p:nvSpPr>
        <p:spPr>
          <a:xfrm>
            <a:off x="1877709" y="4460552"/>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2803" name="Google Shape;2803;p120"/>
          <p:cNvSpPr txBox="1"/>
          <p:nvPr>
            <p:ph idx="1" type="body"/>
          </p:nvPr>
        </p:nvSpPr>
        <p:spPr>
          <a:xfrm>
            <a:off x="1641725" y="278638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804" name="Google Shape;2804;p120"/>
          <p:cNvSpPr txBox="1"/>
          <p:nvPr>
            <p:ph idx="1" type="body"/>
          </p:nvPr>
        </p:nvSpPr>
        <p:spPr>
          <a:xfrm>
            <a:off x="1641725" y="3092254"/>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805" name="Google Shape;2805;p120"/>
          <p:cNvSpPr txBox="1"/>
          <p:nvPr>
            <p:ph idx="1" type="body"/>
          </p:nvPr>
        </p:nvSpPr>
        <p:spPr>
          <a:xfrm>
            <a:off x="2795139" y="4465315"/>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2806" name="Google Shape;2806;p120"/>
          <p:cNvSpPr txBox="1"/>
          <p:nvPr>
            <p:ph idx="1" type="body"/>
          </p:nvPr>
        </p:nvSpPr>
        <p:spPr>
          <a:xfrm>
            <a:off x="3750676" y="4460543"/>
            <a:ext cx="65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807" name="Google Shape;2807;p120"/>
          <p:cNvSpPr txBox="1"/>
          <p:nvPr>
            <p:ph idx="1" type="body"/>
          </p:nvPr>
        </p:nvSpPr>
        <p:spPr>
          <a:xfrm>
            <a:off x="4679342" y="4460552"/>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2808" name="Google Shape;2808;p120"/>
          <p:cNvSpPr txBox="1"/>
          <p:nvPr>
            <p:ph idx="1" type="body"/>
          </p:nvPr>
        </p:nvSpPr>
        <p:spPr>
          <a:xfrm>
            <a:off x="5651756" y="4460555"/>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2809" name="Google Shape;2809;p120"/>
          <p:cNvSpPr txBox="1"/>
          <p:nvPr>
            <p:ph idx="1" type="body"/>
          </p:nvPr>
        </p:nvSpPr>
        <p:spPr>
          <a:xfrm>
            <a:off x="4247869" y="4592452"/>
            <a:ext cx="472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810" name="Google Shape;2810;p120"/>
          <p:cNvSpPr txBox="1"/>
          <p:nvPr>
            <p:ph idx="1" type="body"/>
          </p:nvPr>
        </p:nvSpPr>
        <p:spPr>
          <a:xfrm>
            <a:off x="1641725" y="339811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811" name="Google Shape;2811;p120"/>
          <p:cNvSpPr txBox="1"/>
          <p:nvPr>
            <p:ph idx="1" type="body"/>
          </p:nvPr>
        </p:nvSpPr>
        <p:spPr>
          <a:xfrm>
            <a:off x="1641725" y="400985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812" name="Google Shape;2812;p120"/>
          <p:cNvSpPr txBox="1"/>
          <p:nvPr>
            <p:ph idx="1" type="body"/>
          </p:nvPr>
        </p:nvSpPr>
        <p:spPr>
          <a:xfrm>
            <a:off x="1641725" y="3703985"/>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813" name="Google Shape;2813;p120"/>
          <p:cNvSpPr txBox="1"/>
          <p:nvPr>
            <p:ph idx="1" type="body"/>
          </p:nvPr>
        </p:nvSpPr>
        <p:spPr>
          <a:xfrm>
            <a:off x="1641725" y="248900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814" name="Google Shape;2814;p120"/>
          <p:cNvSpPr txBox="1"/>
          <p:nvPr>
            <p:ph idx="1" type="body"/>
          </p:nvPr>
        </p:nvSpPr>
        <p:spPr>
          <a:xfrm>
            <a:off x="1641725" y="2182086"/>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815" name="Google Shape;2815;p120"/>
          <p:cNvSpPr txBox="1"/>
          <p:nvPr>
            <p:ph idx="1" type="body"/>
          </p:nvPr>
        </p:nvSpPr>
        <p:spPr>
          <a:xfrm>
            <a:off x="6292150" y="2181600"/>
            <a:ext cx="25278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t>Explain your answer.</a:t>
            </a:r>
            <a:endParaRPr sz="1800"/>
          </a:p>
        </p:txBody>
      </p:sp>
      <p:sp>
        <p:nvSpPr>
          <p:cNvPr id="2816" name="Google Shape;2816;p120"/>
          <p:cNvSpPr txBox="1"/>
          <p:nvPr>
            <p:ph idx="1" type="body"/>
          </p:nvPr>
        </p:nvSpPr>
        <p:spPr>
          <a:xfrm>
            <a:off x="4335785" y="1800600"/>
            <a:ext cx="617100" cy="307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latin typeface="Kalam"/>
                <a:ea typeface="Kalam"/>
                <a:cs typeface="Kalam"/>
                <a:sym typeface="Kalam"/>
              </a:rPr>
              <a:t>True</a:t>
            </a:r>
            <a:endParaRPr sz="2000">
              <a:latin typeface="Kalam"/>
              <a:ea typeface="Kalam"/>
              <a:cs typeface="Kalam"/>
              <a:sym typeface="Kalam"/>
            </a:endParaRPr>
          </a:p>
        </p:txBody>
      </p:sp>
      <p:sp>
        <p:nvSpPr>
          <p:cNvPr id="2817" name="Google Shape;2817;p120"/>
          <p:cNvSpPr txBox="1"/>
          <p:nvPr>
            <p:ph idx="1" type="body"/>
          </p:nvPr>
        </p:nvSpPr>
        <p:spPr>
          <a:xfrm>
            <a:off x="6316946" y="2638800"/>
            <a:ext cx="2377500" cy="1369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latin typeface="Kalam"/>
                <a:ea typeface="Kalam"/>
                <a:cs typeface="Kalam"/>
                <a:sym typeface="Kalam"/>
              </a:rPr>
              <a:t>Apart from 1986 and 2010, all values are between -0.5 and +0.5.</a:t>
            </a:r>
            <a:endParaRPr sz="2000">
              <a:latin typeface="Kalam"/>
              <a:ea typeface="Kalam"/>
              <a:cs typeface="Kalam"/>
              <a:sym typeface="Kalam"/>
            </a:endParaRPr>
          </a:p>
        </p:txBody>
      </p:sp>
      <p:cxnSp>
        <p:nvCxnSpPr>
          <p:cNvPr id="2818" name="Google Shape;2818;p120"/>
          <p:cNvCxnSpPr/>
          <p:nvPr/>
        </p:nvCxnSpPr>
        <p:spPr>
          <a:xfrm>
            <a:off x="1993025" y="2908600"/>
            <a:ext cx="2922900" cy="0"/>
          </a:xfrm>
          <a:prstGeom prst="straightConnector1">
            <a:avLst/>
          </a:prstGeom>
          <a:noFill/>
          <a:ln cap="flat" cmpd="sng" w="38100">
            <a:solidFill>
              <a:schemeClr val="dk2"/>
            </a:solidFill>
            <a:prstDash val="solid"/>
            <a:round/>
            <a:headEnd len="med" w="med" type="none"/>
            <a:tailEnd len="med" w="med" type="none"/>
          </a:ln>
        </p:spPr>
      </p:cxnSp>
      <p:cxnSp>
        <p:nvCxnSpPr>
          <p:cNvPr id="2819" name="Google Shape;2819;p120"/>
          <p:cNvCxnSpPr>
            <a:stCxn id="2810" idx="3"/>
          </p:cNvCxnSpPr>
          <p:nvPr/>
        </p:nvCxnSpPr>
        <p:spPr>
          <a:xfrm>
            <a:off x="1986125" y="3505819"/>
            <a:ext cx="2958900" cy="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3" name="Shape 2823"/>
        <p:cNvGrpSpPr/>
        <p:nvPr/>
      </p:nvGrpSpPr>
      <p:grpSpPr>
        <a:xfrm>
          <a:off x="0" y="0"/>
          <a:ext cx="0" cy="0"/>
          <a:chOff x="0" y="0"/>
          <a:chExt cx="0" cy="0"/>
        </a:xfrm>
      </p:grpSpPr>
      <p:pic>
        <p:nvPicPr>
          <p:cNvPr id="2824" name="Google Shape;2824;p121"/>
          <p:cNvPicPr preferRelativeResize="0"/>
          <p:nvPr/>
        </p:nvPicPr>
        <p:blipFill>
          <a:blip r:embed="rId3">
            <a:alphaModFix/>
          </a:blip>
          <a:stretch>
            <a:fillRect/>
          </a:stretch>
        </p:blipFill>
        <p:spPr>
          <a:xfrm>
            <a:off x="1979950" y="2280075"/>
            <a:ext cx="5860150" cy="2160400"/>
          </a:xfrm>
          <a:prstGeom prst="rect">
            <a:avLst/>
          </a:prstGeom>
          <a:noFill/>
          <a:ln>
            <a:noFill/>
          </a:ln>
        </p:spPr>
      </p:pic>
      <p:sp>
        <p:nvSpPr>
          <p:cNvPr id="2825" name="Google Shape;2825;p121"/>
          <p:cNvSpPr txBox="1"/>
          <p:nvPr>
            <p:ph idx="1" type="body"/>
          </p:nvPr>
        </p:nvSpPr>
        <p:spPr>
          <a:xfrm>
            <a:off x="324000" y="810000"/>
            <a:ext cx="8496000" cy="104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Jacob notices a slight upward trend in the data. He draws a pair of lines to predict </a:t>
            </a:r>
            <a:r>
              <a:rPr lang="en-GB" sz="1800"/>
              <a:t>what </a:t>
            </a:r>
            <a:r>
              <a:rPr lang="en-GB" sz="1800"/>
              <a:t>data we might expect to observe in 2030.</a:t>
            </a:r>
            <a:endParaRPr sz="1800"/>
          </a:p>
          <a:p>
            <a:pPr indent="0" lvl="0" marL="0" rtl="0" algn="l">
              <a:spcBef>
                <a:spcPts val="1000"/>
              </a:spcBef>
              <a:spcAft>
                <a:spcPts val="1000"/>
              </a:spcAft>
              <a:buNone/>
            </a:pPr>
            <a:r>
              <a:rPr lang="en-GB" sz="1800"/>
              <a:t>Based on his lines, we could expect to observe values between        and       . </a:t>
            </a:r>
            <a:endParaRPr sz="1800"/>
          </a:p>
        </p:txBody>
      </p:sp>
      <p:sp>
        <p:nvSpPr>
          <p:cNvPr id="2826" name="Google Shape;2826;p121"/>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827" name="Google Shape;2827;p121"/>
          <p:cNvCxnSpPr/>
          <p:nvPr/>
        </p:nvCxnSpPr>
        <p:spPr>
          <a:xfrm flipH="1" rot="10800000">
            <a:off x="2031059" y="3200345"/>
            <a:ext cx="5910000" cy="1800"/>
          </a:xfrm>
          <a:prstGeom prst="straightConnector1">
            <a:avLst/>
          </a:prstGeom>
          <a:noFill/>
          <a:ln cap="flat" cmpd="sng" w="19050">
            <a:solidFill>
              <a:schemeClr val="dk1"/>
            </a:solidFill>
            <a:prstDash val="solid"/>
            <a:round/>
            <a:headEnd len="med" w="med" type="none"/>
            <a:tailEnd len="med" w="med" type="triangle"/>
          </a:ln>
        </p:spPr>
      </p:cxnSp>
      <p:cxnSp>
        <p:nvCxnSpPr>
          <p:cNvPr id="2828" name="Google Shape;2828;p121"/>
          <p:cNvCxnSpPr/>
          <p:nvPr/>
        </p:nvCxnSpPr>
        <p:spPr>
          <a:xfrm rot="10800000">
            <a:off x="2047760" y="1999057"/>
            <a:ext cx="0" cy="2427600"/>
          </a:xfrm>
          <a:prstGeom prst="straightConnector1">
            <a:avLst/>
          </a:prstGeom>
          <a:noFill/>
          <a:ln cap="flat" cmpd="sng" w="28575">
            <a:solidFill>
              <a:schemeClr val="dk1"/>
            </a:solidFill>
            <a:prstDash val="solid"/>
            <a:round/>
            <a:headEnd len="med" w="med" type="none"/>
            <a:tailEnd len="med" w="med" type="triangle"/>
          </a:ln>
        </p:spPr>
      </p:cxnSp>
      <p:sp>
        <p:nvSpPr>
          <p:cNvPr id="2829" name="Google Shape;2829;p121"/>
          <p:cNvSpPr txBox="1"/>
          <p:nvPr>
            <p:ph idx="1" type="body"/>
          </p:nvPr>
        </p:nvSpPr>
        <p:spPr>
          <a:xfrm>
            <a:off x="1877709" y="4460552"/>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2830" name="Google Shape;2830;p121"/>
          <p:cNvSpPr txBox="1"/>
          <p:nvPr>
            <p:ph idx="1" type="body"/>
          </p:nvPr>
        </p:nvSpPr>
        <p:spPr>
          <a:xfrm>
            <a:off x="1641725" y="278638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831" name="Google Shape;2831;p121"/>
          <p:cNvSpPr txBox="1"/>
          <p:nvPr>
            <p:ph idx="1" type="body"/>
          </p:nvPr>
        </p:nvSpPr>
        <p:spPr>
          <a:xfrm>
            <a:off x="1641725" y="3092254"/>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832" name="Google Shape;2832;p121"/>
          <p:cNvSpPr txBox="1"/>
          <p:nvPr>
            <p:ph idx="1" type="body"/>
          </p:nvPr>
        </p:nvSpPr>
        <p:spPr>
          <a:xfrm>
            <a:off x="2795139" y="4465315"/>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2833" name="Google Shape;2833;p121"/>
          <p:cNvSpPr txBox="1"/>
          <p:nvPr>
            <p:ph idx="1" type="body"/>
          </p:nvPr>
        </p:nvSpPr>
        <p:spPr>
          <a:xfrm>
            <a:off x="3750676" y="4460543"/>
            <a:ext cx="65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834" name="Google Shape;2834;p121"/>
          <p:cNvSpPr txBox="1"/>
          <p:nvPr>
            <p:ph idx="1" type="body"/>
          </p:nvPr>
        </p:nvSpPr>
        <p:spPr>
          <a:xfrm>
            <a:off x="4679342" y="4460552"/>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2835" name="Google Shape;2835;p121"/>
          <p:cNvSpPr txBox="1"/>
          <p:nvPr>
            <p:ph idx="1" type="body"/>
          </p:nvPr>
        </p:nvSpPr>
        <p:spPr>
          <a:xfrm>
            <a:off x="5651756" y="4460555"/>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2836" name="Google Shape;2836;p121"/>
          <p:cNvSpPr txBox="1"/>
          <p:nvPr>
            <p:ph idx="1" type="body"/>
          </p:nvPr>
        </p:nvSpPr>
        <p:spPr>
          <a:xfrm>
            <a:off x="4247869" y="4592452"/>
            <a:ext cx="472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837" name="Google Shape;2837;p121"/>
          <p:cNvSpPr txBox="1"/>
          <p:nvPr>
            <p:ph idx="1" type="body"/>
          </p:nvPr>
        </p:nvSpPr>
        <p:spPr>
          <a:xfrm>
            <a:off x="7609526" y="4460543"/>
            <a:ext cx="5997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2040</a:t>
            </a:r>
            <a:endParaRPr sz="1400"/>
          </a:p>
        </p:txBody>
      </p:sp>
      <p:sp>
        <p:nvSpPr>
          <p:cNvPr id="2838" name="Google Shape;2838;p121"/>
          <p:cNvSpPr txBox="1"/>
          <p:nvPr>
            <p:ph idx="1" type="body"/>
          </p:nvPr>
        </p:nvSpPr>
        <p:spPr>
          <a:xfrm>
            <a:off x="1641725" y="339811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839" name="Google Shape;2839;p121"/>
          <p:cNvSpPr txBox="1"/>
          <p:nvPr>
            <p:ph idx="1" type="body"/>
          </p:nvPr>
        </p:nvSpPr>
        <p:spPr>
          <a:xfrm>
            <a:off x="1641725" y="400985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840" name="Google Shape;2840;p121"/>
          <p:cNvSpPr txBox="1"/>
          <p:nvPr>
            <p:ph idx="1" type="body"/>
          </p:nvPr>
        </p:nvSpPr>
        <p:spPr>
          <a:xfrm>
            <a:off x="6616358" y="4460555"/>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2030</a:t>
            </a:r>
            <a:endParaRPr sz="1400"/>
          </a:p>
        </p:txBody>
      </p:sp>
      <p:sp>
        <p:nvSpPr>
          <p:cNvPr id="2841" name="Google Shape;2841;p121"/>
          <p:cNvSpPr txBox="1"/>
          <p:nvPr>
            <p:ph idx="1" type="body"/>
          </p:nvPr>
        </p:nvSpPr>
        <p:spPr>
          <a:xfrm>
            <a:off x="1641725" y="3703985"/>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842" name="Google Shape;2842;p121"/>
          <p:cNvSpPr txBox="1"/>
          <p:nvPr>
            <p:ph idx="1" type="body"/>
          </p:nvPr>
        </p:nvSpPr>
        <p:spPr>
          <a:xfrm>
            <a:off x="1641725" y="248900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843" name="Google Shape;2843;p121"/>
          <p:cNvSpPr txBox="1"/>
          <p:nvPr>
            <p:ph idx="1" type="body"/>
          </p:nvPr>
        </p:nvSpPr>
        <p:spPr>
          <a:xfrm>
            <a:off x="1641725" y="2182086"/>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844" name="Google Shape;2844;p121"/>
          <p:cNvSpPr txBox="1"/>
          <p:nvPr>
            <p:ph idx="1" type="body"/>
          </p:nvPr>
        </p:nvSpPr>
        <p:spPr>
          <a:xfrm rot="-5400000">
            <a:off x="-459175" y="2707133"/>
            <a:ext cx="2825400" cy="1222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Antarctic sea ice extent for November expressed as a difference from the 1981-2010 average for each </a:t>
            </a:r>
            <a:r>
              <a:rPr lang="en-GB" sz="1400"/>
              <a:t>November</a:t>
            </a:r>
            <a:r>
              <a:rPr lang="en-GB" sz="1400"/>
              <a:t> (million km</a:t>
            </a:r>
            <a:r>
              <a:rPr baseline="30000" lang="en-GB" sz="1500"/>
              <a:t>2</a:t>
            </a:r>
            <a:r>
              <a:rPr lang="en-GB" sz="1400"/>
              <a:t>)</a:t>
            </a:r>
            <a:endParaRPr sz="1400"/>
          </a:p>
        </p:txBody>
      </p:sp>
      <p:cxnSp>
        <p:nvCxnSpPr>
          <p:cNvPr id="2845" name="Google Shape;2845;p121"/>
          <p:cNvCxnSpPr/>
          <p:nvPr/>
        </p:nvCxnSpPr>
        <p:spPr>
          <a:xfrm flipH="1" rot="10800000">
            <a:off x="2017450" y="2480475"/>
            <a:ext cx="4848600" cy="542400"/>
          </a:xfrm>
          <a:prstGeom prst="straightConnector1">
            <a:avLst/>
          </a:prstGeom>
          <a:noFill/>
          <a:ln cap="flat" cmpd="sng" w="38100">
            <a:solidFill>
              <a:schemeClr val="dk2"/>
            </a:solidFill>
            <a:prstDash val="solid"/>
            <a:round/>
            <a:headEnd len="med" w="med" type="none"/>
            <a:tailEnd len="med" w="med" type="none"/>
          </a:ln>
        </p:spPr>
      </p:cxnSp>
      <p:cxnSp>
        <p:nvCxnSpPr>
          <p:cNvPr id="2846" name="Google Shape;2846;p121"/>
          <p:cNvCxnSpPr/>
          <p:nvPr/>
        </p:nvCxnSpPr>
        <p:spPr>
          <a:xfrm flipH="1" rot="10800000">
            <a:off x="1977305" y="3019661"/>
            <a:ext cx="4888500" cy="690600"/>
          </a:xfrm>
          <a:prstGeom prst="straightConnector1">
            <a:avLst/>
          </a:prstGeom>
          <a:noFill/>
          <a:ln cap="flat" cmpd="sng" w="38100">
            <a:solidFill>
              <a:schemeClr val="dk2"/>
            </a:solidFill>
            <a:prstDash val="solid"/>
            <a:round/>
            <a:headEnd len="med" w="med" type="none"/>
            <a:tailEnd len="med" w="med" type="none"/>
          </a:ln>
        </p:spPr>
      </p:cxnSp>
      <p:cxnSp>
        <p:nvCxnSpPr>
          <p:cNvPr id="2847" name="Google Shape;2847;p121"/>
          <p:cNvCxnSpPr/>
          <p:nvPr/>
        </p:nvCxnSpPr>
        <p:spPr>
          <a:xfrm>
            <a:off x="7331075" y="1825625"/>
            <a:ext cx="365100" cy="0"/>
          </a:xfrm>
          <a:prstGeom prst="straightConnector1">
            <a:avLst/>
          </a:prstGeom>
          <a:noFill/>
          <a:ln cap="flat" cmpd="sng" w="38100">
            <a:solidFill>
              <a:schemeClr val="dk1"/>
            </a:solidFill>
            <a:prstDash val="solid"/>
            <a:round/>
            <a:headEnd len="med" w="med" type="none"/>
            <a:tailEnd len="med" w="med" type="none"/>
          </a:ln>
        </p:spPr>
      </p:cxnSp>
      <p:cxnSp>
        <p:nvCxnSpPr>
          <p:cNvPr id="2848" name="Google Shape;2848;p121"/>
          <p:cNvCxnSpPr/>
          <p:nvPr/>
        </p:nvCxnSpPr>
        <p:spPr>
          <a:xfrm>
            <a:off x="8255000" y="1825625"/>
            <a:ext cx="365100" cy="0"/>
          </a:xfrm>
          <a:prstGeom prst="straightConnector1">
            <a:avLst/>
          </a:prstGeom>
          <a:noFill/>
          <a:ln cap="flat" cmpd="sng" w="38100">
            <a:solidFill>
              <a:schemeClr val="dk1"/>
            </a:solidFill>
            <a:prstDash val="solid"/>
            <a:round/>
            <a:headEnd len="med" w="med" type="none"/>
            <a:tailEnd len="med" w="med" type="none"/>
          </a:ln>
        </p:spPr>
      </p:cxnSp>
      <p:sp>
        <p:nvSpPr>
          <p:cNvPr id="2849" name="Google Shape;2849;p121"/>
          <p:cNvSpPr txBox="1"/>
          <p:nvPr>
            <p:ph idx="1" type="body"/>
          </p:nvPr>
        </p:nvSpPr>
        <p:spPr>
          <a:xfrm>
            <a:off x="7330445" y="1546454"/>
            <a:ext cx="617100" cy="307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latin typeface="Kalam"/>
                <a:ea typeface="Kalam"/>
                <a:cs typeface="Kalam"/>
                <a:sym typeface="Kalam"/>
              </a:rPr>
              <a:t>0.3</a:t>
            </a:r>
            <a:endParaRPr sz="2000">
              <a:latin typeface="Kalam"/>
              <a:ea typeface="Kalam"/>
              <a:cs typeface="Kalam"/>
              <a:sym typeface="Kalam"/>
            </a:endParaRPr>
          </a:p>
        </p:txBody>
      </p:sp>
      <p:sp>
        <p:nvSpPr>
          <p:cNvPr id="2850" name="Google Shape;2850;p121"/>
          <p:cNvSpPr txBox="1"/>
          <p:nvPr>
            <p:ph idx="1" type="body"/>
          </p:nvPr>
        </p:nvSpPr>
        <p:spPr>
          <a:xfrm>
            <a:off x="8298185" y="1546454"/>
            <a:ext cx="617100" cy="307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2000">
                <a:latin typeface="Kalam"/>
                <a:ea typeface="Kalam"/>
                <a:cs typeface="Kalam"/>
                <a:sym typeface="Kalam"/>
              </a:rPr>
              <a:t>1</a:t>
            </a:r>
            <a:r>
              <a:rPr lang="en-GB" sz="2000">
                <a:latin typeface="Kalam"/>
                <a:ea typeface="Kalam"/>
                <a:cs typeface="Kalam"/>
                <a:sym typeface="Kalam"/>
              </a:rPr>
              <a:t>.2</a:t>
            </a:r>
            <a:endParaRPr sz="2000">
              <a:latin typeface="Kalam"/>
              <a:ea typeface="Kalam"/>
              <a:cs typeface="Kalam"/>
              <a:sym typeface="Kalam"/>
            </a:endParaRPr>
          </a:p>
        </p:txBody>
      </p:sp>
      <p:pic>
        <p:nvPicPr>
          <p:cNvPr id="2851" name="Google Shape;2851;p121"/>
          <p:cNvPicPr preferRelativeResize="0"/>
          <p:nvPr/>
        </p:nvPicPr>
        <p:blipFill>
          <a:blip r:embed="rId4">
            <a:alphaModFix/>
          </a:blip>
          <a:stretch>
            <a:fillRect/>
          </a:stretch>
        </p:blipFill>
        <p:spPr>
          <a:xfrm>
            <a:off x="8299050" y="3248400"/>
            <a:ext cx="472200" cy="5816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5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84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84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5" name="Shape 2855"/>
        <p:cNvGrpSpPr/>
        <p:nvPr/>
      </p:nvGrpSpPr>
      <p:grpSpPr>
        <a:xfrm>
          <a:off x="0" y="0"/>
          <a:ext cx="0" cy="0"/>
          <a:chOff x="0" y="0"/>
          <a:chExt cx="0" cy="0"/>
        </a:xfrm>
      </p:grpSpPr>
      <p:pic>
        <p:nvPicPr>
          <p:cNvPr id="2856" name="Google Shape;2856;p122"/>
          <p:cNvPicPr preferRelativeResize="0"/>
          <p:nvPr/>
        </p:nvPicPr>
        <p:blipFill>
          <a:blip r:embed="rId3">
            <a:alphaModFix/>
          </a:blip>
          <a:stretch>
            <a:fillRect/>
          </a:stretch>
        </p:blipFill>
        <p:spPr>
          <a:xfrm>
            <a:off x="1979950" y="2280075"/>
            <a:ext cx="5860150" cy="2160400"/>
          </a:xfrm>
          <a:prstGeom prst="rect">
            <a:avLst/>
          </a:prstGeom>
          <a:noFill/>
          <a:ln>
            <a:noFill/>
          </a:ln>
        </p:spPr>
      </p:pic>
      <p:pic>
        <p:nvPicPr>
          <p:cNvPr id="2857" name="Google Shape;2857;p122"/>
          <p:cNvPicPr preferRelativeResize="0"/>
          <p:nvPr/>
        </p:nvPicPr>
        <p:blipFill>
          <a:blip r:embed="rId4">
            <a:alphaModFix/>
          </a:blip>
          <a:stretch>
            <a:fillRect/>
          </a:stretch>
        </p:blipFill>
        <p:spPr>
          <a:xfrm>
            <a:off x="1997300" y="2286088"/>
            <a:ext cx="5837622" cy="2221925"/>
          </a:xfrm>
          <a:prstGeom prst="rect">
            <a:avLst/>
          </a:prstGeom>
          <a:noFill/>
          <a:ln>
            <a:noFill/>
          </a:ln>
        </p:spPr>
      </p:pic>
      <p:sp>
        <p:nvSpPr>
          <p:cNvPr id="2858" name="Google Shape;2858;p122"/>
          <p:cNvSpPr txBox="1"/>
          <p:nvPr>
            <p:ph idx="1" type="body"/>
          </p:nvPr>
        </p:nvSpPr>
        <p:spPr>
          <a:xfrm>
            <a:off x="324000" y="810000"/>
            <a:ext cx="8496000" cy="104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t>Jacob predicts that the extent of Antarctic sea ice </a:t>
            </a:r>
            <a:r>
              <a:rPr lang="en-GB" sz="1800"/>
              <a:t>in 2030 </a:t>
            </a:r>
            <a:r>
              <a:rPr lang="en-GB" sz="1800"/>
              <a:t>will be 0.3 to 1.2 million km</a:t>
            </a:r>
            <a:r>
              <a:rPr baseline="30000" lang="en-GB" sz="1800"/>
              <a:t>2</a:t>
            </a:r>
            <a:r>
              <a:rPr lang="en-GB" sz="1800"/>
              <a:t> greater than the 1981-2010 average for each November.</a:t>
            </a:r>
            <a:endParaRPr sz="1800"/>
          </a:p>
          <a:p>
            <a:pPr indent="0" lvl="0" marL="0" rtl="0" algn="l">
              <a:spcBef>
                <a:spcPts val="1000"/>
              </a:spcBef>
              <a:spcAft>
                <a:spcPts val="1000"/>
              </a:spcAft>
              <a:buNone/>
            </a:pPr>
            <a:r>
              <a:rPr lang="en-GB" sz="1800"/>
              <a:t>Explain why this prediction may not come true. </a:t>
            </a:r>
            <a:endParaRPr sz="1800"/>
          </a:p>
        </p:txBody>
      </p:sp>
      <p:sp>
        <p:nvSpPr>
          <p:cNvPr id="2859" name="Google Shape;2859;p122"/>
          <p:cNvSpPr txBox="1"/>
          <p:nvPr>
            <p:ph type="title"/>
          </p:nvPr>
        </p:nvSpPr>
        <p:spPr>
          <a:xfrm>
            <a:off x="324000" y="152400"/>
            <a:ext cx="7885200" cy="307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2860" name="Google Shape;2860;p122"/>
          <p:cNvCxnSpPr/>
          <p:nvPr/>
        </p:nvCxnSpPr>
        <p:spPr>
          <a:xfrm flipH="1" rot="10800000">
            <a:off x="2031059" y="3200345"/>
            <a:ext cx="5910000" cy="1800"/>
          </a:xfrm>
          <a:prstGeom prst="straightConnector1">
            <a:avLst/>
          </a:prstGeom>
          <a:noFill/>
          <a:ln cap="flat" cmpd="sng" w="19050">
            <a:solidFill>
              <a:schemeClr val="dk1"/>
            </a:solidFill>
            <a:prstDash val="solid"/>
            <a:round/>
            <a:headEnd len="med" w="med" type="none"/>
            <a:tailEnd len="med" w="med" type="triangle"/>
          </a:ln>
        </p:spPr>
      </p:cxnSp>
      <p:cxnSp>
        <p:nvCxnSpPr>
          <p:cNvPr id="2861" name="Google Shape;2861;p122"/>
          <p:cNvCxnSpPr/>
          <p:nvPr/>
        </p:nvCxnSpPr>
        <p:spPr>
          <a:xfrm rot="10800000">
            <a:off x="2047760" y="1999057"/>
            <a:ext cx="0" cy="2427600"/>
          </a:xfrm>
          <a:prstGeom prst="straightConnector1">
            <a:avLst/>
          </a:prstGeom>
          <a:noFill/>
          <a:ln cap="flat" cmpd="sng" w="28575">
            <a:solidFill>
              <a:schemeClr val="dk1"/>
            </a:solidFill>
            <a:prstDash val="solid"/>
            <a:round/>
            <a:headEnd len="med" w="med" type="none"/>
            <a:tailEnd len="med" w="med" type="triangle"/>
          </a:ln>
        </p:spPr>
      </p:cxnSp>
      <p:sp>
        <p:nvSpPr>
          <p:cNvPr id="2862" name="Google Shape;2862;p122"/>
          <p:cNvSpPr txBox="1"/>
          <p:nvPr>
            <p:ph idx="1" type="body"/>
          </p:nvPr>
        </p:nvSpPr>
        <p:spPr>
          <a:xfrm>
            <a:off x="1877709" y="4460552"/>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2863" name="Google Shape;2863;p122"/>
          <p:cNvSpPr txBox="1"/>
          <p:nvPr>
            <p:ph idx="1" type="body"/>
          </p:nvPr>
        </p:nvSpPr>
        <p:spPr>
          <a:xfrm>
            <a:off x="1641725" y="278638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864" name="Google Shape;2864;p122"/>
          <p:cNvSpPr txBox="1"/>
          <p:nvPr>
            <p:ph idx="1" type="body"/>
          </p:nvPr>
        </p:nvSpPr>
        <p:spPr>
          <a:xfrm>
            <a:off x="1641725" y="3092254"/>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865" name="Google Shape;2865;p122"/>
          <p:cNvSpPr txBox="1"/>
          <p:nvPr>
            <p:ph idx="1" type="body"/>
          </p:nvPr>
        </p:nvSpPr>
        <p:spPr>
          <a:xfrm>
            <a:off x="2795139" y="4465315"/>
            <a:ext cx="429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2866" name="Google Shape;2866;p122"/>
          <p:cNvSpPr txBox="1"/>
          <p:nvPr>
            <p:ph idx="1" type="body"/>
          </p:nvPr>
        </p:nvSpPr>
        <p:spPr>
          <a:xfrm>
            <a:off x="3750676" y="4460543"/>
            <a:ext cx="65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867" name="Google Shape;2867;p122"/>
          <p:cNvSpPr txBox="1"/>
          <p:nvPr>
            <p:ph idx="1" type="body"/>
          </p:nvPr>
        </p:nvSpPr>
        <p:spPr>
          <a:xfrm>
            <a:off x="4679342" y="4460552"/>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2868" name="Google Shape;2868;p122"/>
          <p:cNvSpPr txBox="1"/>
          <p:nvPr>
            <p:ph idx="1" type="body"/>
          </p:nvPr>
        </p:nvSpPr>
        <p:spPr>
          <a:xfrm>
            <a:off x="5651756" y="4460555"/>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2869" name="Google Shape;2869;p122"/>
          <p:cNvSpPr txBox="1"/>
          <p:nvPr>
            <p:ph idx="1" type="body"/>
          </p:nvPr>
        </p:nvSpPr>
        <p:spPr>
          <a:xfrm>
            <a:off x="4247869" y="4592452"/>
            <a:ext cx="472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870" name="Google Shape;2870;p122"/>
          <p:cNvSpPr txBox="1"/>
          <p:nvPr>
            <p:ph idx="1" type="body"/>
          </p:nvPr>
        </p:nvSpPr>
        <p:spPr>
          <a:xfrm>
            <a:off x="7609526" y="4460543"/>
            <a:ext cx="5997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2040</a:t>
            </a:r>
            <a:endParaRPr sz="1400"/>
          </a:p>
        </p:txBody>
      </p:sp>
      <p:sp>
        <p:nvSpPr>
          <p:cNvPr id="2871" name="Google Shape;2871;p122"/>
          <p:cNvSpPr txBox="1"/>
          <p:nvPr>
            <p:ph idx="1" type="body"/>
          </p:nvPr>
        </p:nvSpPr>
        <p:spPr>
          <a:xfrm>
            <a:off x="1641725" y="3398119"/>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872" name="Google Shape;2872;p122"/>
          <p:cNvSpPr txBox="1"/>
          <p:nvPr>
            <p:ph idx="1" type="body"/>
          </p:nvPr>
        </p:nvSpPr>
        <p:spPr>
          <a:xfrm>
            <a:off x="1641725" y="400985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873" name="Google Shape;2873;p122"/>
          <p:cNvSpPr txBox="1"/>
          <p:nvPr>
            <p:ph idx="1" type="body"/>
          </p:nvPr>
        </p:nvSpPr>
        <p:spPr>
          <a:xfrm>
            <a:off x="6616358" y="4460555"/>
            <a:ext cx="505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2030</a:t>
            </a:r>
            <a:endParaRPr sz="1400"/>
          </a:p>
        </p:txBody>
      </p:sp>
      <p:sp>
        <p:nvSpPr>
          <p:cNvPr id="2874" name="Google Shape;2874;p122"/>
          <p:cNvSpPr txBox="1"/>
          <p:nvPr>
            <p:ph idx="1" type="body"/>
          </p:nvPr>
        </p:nvSpPr>
        <p:spPr>
          <a:xfrm>
            <a:off x="1641725" y="3703985"/>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875" name="Google Shape;2875;p122"/>
          <p:cNvSpPr txBox="1"/>
          <p:nvPr>
            <p:ph idx="1" type="body"/>
          </p:nvPr>
        </p:nvSpPr>
        <p:spPr>
          <a:xfrm>
            <a:off x="1641725" y="2489000"/>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876" name="Google Shape;2876;p122"/>
          <p:cNvSpPr txBox="1"/>
          <p:nvPr>
            <p:ph idx="1" type="body"/>
          </p:nvPr>
        </p:nvSpPr>
        <p:spPr>
          <a:xfrm>
            <a:off x="1641725" y="2182086"/>
            <a:ext cx="3444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877" name="Google Shape;2877;p122"/>
          <p:cNvSpPr txBox="1"/>
          <p:nvPr>
            <p:ph idx="1" type="body"/>
          </p:nvPr>
        </p:nvSpPr>
        <p:spPr>
          <a:xfrm rot="-5400000">
            <a:off x="-459175" y="2707133"/>
            <a:ext cx="2825400" cy="1222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Antarctic sea ice extent for November expressed as a difference from the 1981-2010 average for each November (million km</a:t>
            </a:r>
            <a:r>
              <a:rPr baseline="30000" lang="en-GB" sz="1500"/>
              <a:t>2</a:t>
            </a:r>
            <a:r>
              <a:rPr lang="en-GB" sz="1400"/>
              <a:t>)</a:t>
            </a:r>
            <a:endParaRPr sz="1400"/>
          </a:p>
        </p:txBody>
      </p:sp>
      <p:cxnSp>
        <p:nvCxnSpPr>
          <p:cNvPr id="2878" name="Google Shape;2878;p122"/>
          <p:cNvCxnSpPr/>
          <p:nvPr/>
        </p:nvCxnSpPr>
        <p:spPr>
          <a:xfrm flipH="1" rot="10800000">
            <a:off x="2017450" y="2480475"/>
            <a:ext cx="4848600" cy="542400"/>
          </a:xfrm>
          <a:prstGeom prst="straightConnector1">
            <a:avLst/>
          </a:prstGeom>
          <a:noFill/>
          <a:ln cap="flat" cmpd="sng" w="38100">
            <a:solidFill>
              <a:schemeClr val="dk2"/>
            </a:solidFill>
            <a:prstDash val="solid"/>
            <a:round/>
            <a:headEnd len="med" w="med" type="none"/>
            <a:tailEnd len="med" w="med" type="none"/>
          </a:ln>
        </p:spPr>
      </p:cxnSp>
      <p:cxnSp>
        <p:nvCxnSpPr>
          <p:cNvPr id="2879" name="Google Shape;2879;p122"/>
          <p:cNvCxnSpPr/>
          <p:nvPr/>
        </p:nvCxnSpPr>
        <p:spPr>
          <a:xfrm flipH="1" rot="10800000">
            <a:off x="1977305" y="3019661"/>
            <a:ext cx="4888500" cy="690600"/>
          </a:xfrm>
          <a:prstGeom prst="straightConnector1">
            <a:avLst/>
          </a:prstGeom>
          <a:noFill/>
          <a:ln cap="flat" cmpd="sng" w="38100">
            <a:solidFill>
              <a:schemeClr val="dk2"/>
            </a:solidFill>
            <a:prstDash val="solid"/>
            <a:round/>
            <a:headEnd len="med" w="med" type="none"/>
            <a:tailEnd len="med" w="med" type="none"/>
          </a:ln>
        </p:spPr>
      </p:cxnSp>
      <p:pic>
        <p:nvPicPr>
          <p:cNvPr id="2880" name="Google Shape;2880;p122"/>
          <p:cNvPicPr preferRelativeResize="0"/>
          <p:nvPr/>
        </p:nvPicPr>
        <p:blipFill>
          <a:blip r:embed="rId5">
            <a:alphaModFix/>
          </a:blip>
          <a:stretch>
            <a:fillRect/>
          </a:stretch>
        </p:blipFill>
        <p:spPr>
          <a:xfrm>
            <a:off x="8299050" y="3248400"/>
            <a:ext cx="472200" cy="581674"/>
          </a:xfrm>
          <a:prstGeom prst="rect">
            <a:avLst/>
          </a:prstGeom>
          <a:noFill/>
          <a:ln>
            <a:noFill/>
          </a:ln>
        </p:spPr>
      </p:pic>
      <p:sp>
        <p:nvSpPr>
          <p:cNvPr id="2881" name="Google Shape;2881;p122"/>
          <p:cNvSpPr txBox="1"/>
          <p:nvPr>
            <p:ph idx="1" type="body"/>
          </p:nvPr>
        </p:nvSpPr>
        <p:spPr>
          <a:xfrm>
            <a:off x="5684525" y="1564375"/>
            <a:ext cx="3135600" cy="1015800"/>
          </a:xfrm>
          <a:prstGeom prst="rect">
            <a:avLst/>
          </a:prstGeom>
          <a:solidFill>
            <a:srgbClr val="E6F2F2"/>
          </a:solidFill>
        </p:spPr>
        <p:txBody>
          <a:bodyPr anchorCtr="0" anchor="t" bIns="0" lIns="0" spcFirstLastPara="1" rIns="0" wrap="square" tIns="0">
            <a:spAutoFit/>
          </a:bodyPr>
          <a:lstStyle/>
          <a:p>
            <a:pPr indent="0" lvl="0" marL="0" rtl="0" algn="l">
              <a:spcBef>
                <a:spcPts val="0"/>
              </a:spcBef>
              <a:spcAft>
                <a:spcPts val="1000"/>
              </a:spcAft>
              <a:buNone/>
            </a:pPr>
            <a:r>
              <a:rPr lang="en-GB" sz="2000">
                <a:latin typeface="Kalam"/>
                <a:ea typeface="Kalam"/>
                <a:cs typeface="Kalam"/>
                <a:sym typeface="Kalam"/>
              </a:rPr>
              <a:t>The trend may change. </a:t>
            </a:r>
            <a:br>
              <a:rPr lang="en-GB" sz="2000">
                <a:latin typeface="Kalam"/>
                <a:ea typeface="Kalam"/>
                <a:cs typeface="Kalam"/>
                <a:sym typeface="Kalam"/>
              </a:rPr>
            </a:br>
            <a:r>
              <a:rPr lang="en-GB" sz="2000">
                <a:latin typeface="Kalam"/>
                <a:ea typeface="Kalam"/>
                <a:cs typeface="Kalam"/>
                <a:sym typeface="Kalam"/>
              </a:rPr>
              <a:t>E.g. the graph now includes data from 2015 to 2024.</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5" name="Shape 2885"/>
        <p:cNvGrpSpPr/>
        <p:nvPr/>
      </p:nvGrpSpPr>
      <p:grpSpPr>
        <a:xfrm>
          <a:off x="0" y="0"/>
          <a:ext cx="0" cy="0"/>
          <a:chOff x="0" y="0"/>
          <a:chExt cx="0" cy="0"/>
        </a:xfrm>
      </p:grpSpPr>
      <p:pic>
        <p:nvPicPr>
          <p:cNvPr id="2886" name="Google Shape;2886;p123"/>
          <p:cNvPicPr preferRelativeResize="0"/>
          <p:nvPr/>
        </p:nvPicPr>
        <p:blipFill rotWithShape="1">
          <a:blip r:embed="rId3">
            <a:alphaModFix/>
          </a:blip>
          <a:srcRect b="4853" l="4662" r="0" t="1810"/>
          <a:stretch/>
        </p:blipFill>
        <p:spPr>
          <a:xfrm>
            <a:off x="1307975" y="1645275"/>
            <a:ext cx="4752876" cy="2785799"/>
          </a:xfrm>
          <a:prstGeom prst="rect">
            <a:avLst/>
          </a:prstGeom>
          <a:noFill/>
          <a:ln>
            <a:noFill/>
          </a:ln>
        </p:spPr>
      </p:pic>
      <p:sp>
        <p:nvSpPr>
          <p:cNvPr id="2887" name="Google Shape;2887;p123"/>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2888" name="Google Shape;2888;p123"/>
          <p:cNvSpPr txBox="1"/>
          <p:nvPr>
            <p:ph idx="1" type="body"/>
          </p:nvPr>
        </p:nvSpPr>
        <p:spPr>
          <a:xfrm>
            <a:off x="324000" y="810000"/>
            <a:ext cx="82377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 </a:t>
            </a:r>
            <a:r>
              <a:rPr lang="en-GB" sz="1600"/>
              <a:t>The graph shows data from the Met Office and HadSST4 about sea-surface </a:t>
            </a:r>
            <a:br>
              <a:rPr lang="en-GB" sz="1600"/>
            </a:br>
            <a:r>
              <a:rPr lang="en-GB" sz="1600"/>
              <a:t>    temperatures for each year from 1851 to 2024.</a:t>
            </a:r>
            <a:endParaRPr sz="1600"/>
          </a:p>
        </p:txBody>
      </p:sp>
      <p:cxnSp>
        <p:nvCxnSpPr>
          <p:cNvPr id="2889" name="Google Shape;2889;p123"/>
          <p:cNvCxnSpPr/>
          <p:nvPr/>
        </p:nvCxnSpPr>
        <p:spPr>
          <a:xfrm>
            <a:off x="1373721" y="3365545"/>
            <a:ext cx="4729500" cy="0"/>
          </a:xfrm>
          <a:prstGeom prst="straightConnector1">
            <a:avLst/>
          </a:prstGeom>
          <a:noFill/>
          <a:ln cap="flat" cmpd="sng" w="19050">
            <a:solidFill>
              <a:schemeClr val="dk1"/>
            </a:solidFill>
            <a:prstDash val="solid"/>
            <a:round/>
            <a:headEnd len="med" w="med" type="none"/>
            <a:tailEnd len="med" w="med" type="triangle"/>
          </a:ln>
        </p:spPr>
      </p:cxnSp>
      <p:cxnSp>
        <p:nvCxnSpPr>
          <p:cNvPr id="2890" name="Google Shape;2890;p123"/>
          <p:cNvCxnSpPr/>
          <p:nvPr/>
        </p:nvCxnSpPr>
        <p:spPr>
          <a:xfrm rot="10800000">
            <a:off x="1385085" y="1457754"/>
            <a:ext cx="0" cy="2912100"/>
          </a:xfrm>
          <a:prstGeom prst="straightConnector1">
            <a:avLst/>
          </a:prstGeom>
          <a:noFill/>
          <a:ln cap="flat" cmpd="sng" w="28575">
            <a:solidFill>
              <a:schemeClr val="dk1"/>
            </a:solidFill>
            <a:prstDash val="solid"/>
            <a:round/>
            <a:headEnd len="med" w="med" type="none"/>
            <a:tailEnd len="med" w="med" type="triangle"/>
          </a:ln>
        </p:spPr>
      </p:cxnSp>
      <p:sp>
        <p:nvSpPr>
          <p:cNvPr id="2891" name="Google Shape;2891;p123"/>
          <p:cNvSpPr txBox="1"/>
          <p:nvPr>
            <p:ph idx="1" type="body"/>
          </p:nvPr>
        </p:nvSpPr>
        <p:spPr>
          <a:xfrm>
            <a:off x="120356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892" name="Google Shape;2892;p123"/>
          <p:cNvSpPr txBox="1"/>
          <p:nvPr>
            <p:ph idx="1" type="body"/>
          </p:nvPr>
        </p:nvSpPr>
        <p:spPr>
          <a:xfrm rot="-5400000">
            <a:off x="-1083043" y="2809756"/>
            <a:ext cx="3388500" cy="6465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600"/>
          </a:p>
        </p:txBody>
      </p:sp>
      <p:sp>
        <p:nvSpPr>
          <p:cNvPr id="2893" name="Google Shape;2893;p123"/>
          <p:cNvSpPr txBox="1"/>
          <p:nvPr>
            <p:ph idx="1" type="body"/>
          </p:nvPr>
        </p:nvSpPr>
        <p:spPr>
          <a:xfrm>
            <a:off x="952288" y="1540619"/>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894" name="Google Shape;2894;p123"/>
          <p:cNvSpPr txBox="1"/>
          <p:nvPr>
            <p:ph idx="1" type="body"/>
          </p:nvPr>
        </p:nvSpPr>
        <p:spPr>
          <a:xfrm>
            <a:off x="951550" y="208206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895" name="Google Shape;2895;p123"/>
          <p:cNvSpPr txBox="1"/>
          <p:nvPr>
            <p:ph idx="1" type="body"/>
          </p:nvPr>
        </p:nvSpPr>
        <p:spPr>
          <a:xfrm>
            <a:off x="951550" y="2623502"/>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896" name="Google Shape;2896;p123"/>
          <p:cNvSpPr txBox="1"/>
          <p:nvPr>
            <p:ph idx="1" type="body"/>
          </p:nvPr>
        </p:nvSpPr>
        <p:spPr>
          <a:xfrm>
            <a:off x="951550" y="325589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897" name="Google Shape;2897;p123"/>
          <p:cNvSpPr txBox="1"/>
          <p:nvPr>
            <p:ph idx="1" type="body"/>
          </p:nvPr>
        </p:nvSpPr>
        <p:spPr>
          <a:xfrm>
            <a:off x="951550" y="3813867"/>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898" name="Google Shape;2898;p123"/>
          <p:cNvSpPr txBox="1"/>
          <p:nvPr>
            <p:ph idx="1" type="body"/>
          </p:nvPr>
        </p:nvSpPr>
        <p:spPr>
          <a:xfrm>
            <a:off x="211048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899" name="Google Shape;2899;p123"/>
          <p:cNvSpPr txBox="1"/>
          <p:nvPr>
            <p:ph idx="1" type="body"/>
          </p:nvPr>
        </p:nvSpPr>
        <p:spPr>
          <a:xfrm>
            <a:off x="3025102" y="4382472"/>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900" name="Google Shape;2900;p123"/>
          <p:cNvSpPr txBox="1"/>
          <p:nvPr>
            <p:ph idx="1" type="body"/>
          </p:nvPr>
        </p:nvSpPr>
        <p:spPr>
          <a:xfrm>
            <a:off x="3950961" y="4382470"/>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901" name="Google Shape;2901;p123"/>
          <p:cNvSpPr txBox="1"/>
          <p:nvPr>
            <p:ph idx="1" type="body"/>
          </p:nvPr>
        </p:nvSpPr>
        <p:spPr>
          <a:xfrm>
            <a:off x="4871196" y="4382474"/>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2902" name="Google Shape;2902;p123"/>
          <p:cNvSpPr txBox="1"/>
          <p:nvPr>
            <p:ph idx="1" type="body"/>
          </p:nvPr>
        </p:nvSpPr>
        <p:spPr>
          <a:xfrm>
            <a:off x="3461249" y="4595650"/>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903" name="Google Shape;2903;p123"/>
          <p:cNvSpPr txBox="1"/>
          <p:nvPr>
            <p:ph idx="1" type="body"/>
          </p:nvPr>
        </p:nvSpPr>
        <p:spPr>
          <a:xfrm>
            <a:off x="5752198" y="4382472"/>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2904" name="Google Shape;2904;p123"/>
          <p:cNvSpPr txBox="1"/>
          <p:nvPr>
            <p:ph idx="1" type="body"/>
          </p:nvPr>
        </p:nvSpPr>
        <p:spPr>
          <a:xfrm>
            <a:off x="6057473" y="1503882"/>
            <a:ext cx="28149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Write down at least </a:t>
            </a:r>
            <a:br>
              <a:rPr lang="en-GB" sz="1600"/>
            </a:br>
            <a:r>
              <a:rPr lang="en-GB" sz="1600"/>
              <a:t>    two observations that </a:t>
            </a:r>
            <a:br>
              <a:rPr lang="en-GB" sz="1600"/>
            </a:br>
            <a:r>
              <a:rPr lang="en-GB" sz="1600"/>
              <a:t>    you make about any</a:t>
            </a:r>
            <a:br>
              <a:rPr lang="en-GB" sz="1600"/>
            </a:br>
            <a:r>
              <a:rPr lang="en-GB" sz="1600"/>
              <a:t>    trends in the data.</a:t>
            </a: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8" name="Shape 2908"/>
        <p:cNvGrpSpPr/>
        <p:nvPr/>
      </p:nvGrpSpPr>
      <p:grpSpPr>
        <a:xfrm>
          <a:off x="0" y="0"/>
          <a:ext cx="0" cy="0"/>
          <a:chOff x="0" y="0"/>
          <a:chExt cx="0" cy="0"/>
        </a:xfrm>
      </p:grpSpPr>
      <p:pic>
        <p:nvPicPr>
          <p:cNvPr id="2909" name="Google Shape;2909;p124"/>
          <p:cNvPicPr preferRelativeResize="0"/>
          <p:nvPr/>
        </p:nvPicPr>
        <p:blipFill rotWithShape="1">
          <a:blip r:embed="rId3">
            <a:alphaModFix/>
          </a:blip>
          <a:srcRect b="4853" l="4662" r="0" t="1810"/>
          <a:stretch/>
        </p:blipFill>
        <p:spPr>
          <a:xfrm>
            <a:off x="1307975" y="1645275"/>
            <a:ext cx="4752876" cy="2785799"/>
          </a:xfrm>
          <a:prstGeom prst="rect">
            <a:avLst/>
          </a:prstGeom>
          <a:noFill/>
          <a:ln>
            <a:noFill/>
          </a:ln>
        </p:spPr>
      </p:pic>
      <p:sp>
        <p:nvSpPr>
          <p:cNvPr id="2910" name="Google Shape;2910;p124"/>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2911" name="Google Shape;2911;p124"/>
          <p:cNvSpPr txBox="1"/>
          <p:nvPr>
            <p:ph idx="1" type="body"/>
          </p:nvPr>
        </p:nvSpPr>
        <p:spPr>
          <a:xfrm>
            <a:off x="324000" y="810000"/>
            <a:ext cx="82377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 The graph shows data from the Met Office and HadSST4 about sea-surface </a:t>
            </a:r>
            <a:br>
              <a:rPr lang="en-GB" sz="1600"/>
            </a:br>
            <a:r>
              <a:rPr lang="en-GB" sz="1600"/>
              <a:t>    temperatures for each year from 1851 to 2024.</a:t>
            </a:r>
            <a:endParaRPr sz="1600"/>
          </a:p>
        </p:txBody>
      </p:sp>
      <p:cxnSp>
        <p:nvCxnSpPr>
          <p:cNvPr id="2912" name="Google Shape;2912;p124"/>
          <p:cNvCxnSpPr/>
          <p:nvPr/>
        </p:nvCxnSpPr>
        <p:spPr>
          <a:xfrm>
            <a:off x="1373721" y="3365545"/>
            <a:ext cx="4729500" cy="0"/>
          </a:xfrm>
          <a:prstGeom prst="straightConnector1">
            <a:avLst/>
          </a:prstGeom>
          <a:noFill/>
          <a:ln cap="flat" cmpd="sng" w="19050">
            <a:solidFill>
              <a:schemeClr val="dk1"/>
            </a:solidFill>
            <a:prstDash val="solid"/>
            <a:round/>
            <a:headEnd len="med" w="med" type="none"/>
            <a:tailEnd len="med" w="med" type="triangle"/>
          </a:ln>
        </p:spPr>
      </p:cxnSp>
      <p:cxnSp>
        <p:nvCxnSpPr>
          <p:cNvPr id="2913" name="Google Shape;2913;p124"/>
          <p:cNvCxnSpPr/>
          <p:nvPr/>
        </p:nvCxnSpPr>
        <p:spPr>
          <a:xfrm rot="10800000">
            <a:off x="1385085" y="1457754"/>
            <a:ext cx="0" cy="2912100"/>
          </a:xfrm>
          <a:prstGeom prst="straightConnector1">
            <a:avLst/>
          </a:prstGeom>
          <a:noFill/>
          <a:ln cap="flat" cmpd="sng" w="28575">
            <a:solidFill>
              <a:schemeClr val="dk1"/>
            </a:solidFill>
            <a:prstDash val="solid"/>
            <a:round/>
            <a:headEnd len="med" w="med" type="none"/>
            <a:tailEnd len="med" w="med" type="triangle"/>
          </a:ln>
        </p:spPr>
      </p:cxnSp>
      <p:sp>
        <p:nvSpPr>
          <p:cNvPr id="2914" name="Google Shape;2914;p124"/>
          <p:cNvSpPr txBox="1"/>
          <p:nvPr>
            <p:ph idx="1" type="body"/>
          </p:nvPr>
        </p:nvSpPr>
        <p:spPr>
          <a:xfrm>
            <a:off x="120356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915" name="Google Shape;2915;p124"/>
          <p:cNvSpPr txBox="1"/>
          <p:nvPr>
            <p:ph idx="1" type="body"/>
          </p:nvPr>
        </p:nvSpPr>
        <p:spPr>
          <a:xfrm rot="-5400000">
            <a:off x="-1083043" y="2809756"/>
            <a:ext cx="3388500" cy="6465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600"/>
          </a:p>
        </p:txBody>
      </p:sp>
      <p:sp>
        <p:nvSpPr>
          <p:cNvPr id="2916" name="Google Shape;2916;p124"/>
          <p:cNvSpPr txBox="1"/>
          <p:nvPr>
            <p:ph idx="1" type="body"/>
          </p:nvPr>
        </p:nvSpPr>
        <p:spPr>
          <a:xfrm>
            <a:off x="952288" y="1540619"/>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917" name="Google Shape;2917;p124"/>
          <p:cNvSpPr txBox="1"/>
          <p:nvPr>
            <p:ph idx="1" type="body"/>
          </p:nvPr>
        </p:nvSpPr>
        <p:spPr>
          <a:xfrm>
            <a:off x="951550" y="208206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918" name="Google Shape;2918;p124"/>
          <p:cNvSpPr txBox="1"/>
          <p:nvPr>
            <p:ph idx="1" type="body"/>
          </p:nvPr>
        </p:nvSpPr>
        <p:spPr>
          <a:xfrm>
            <a:off x="951550" y="2623502"/>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919" name="Google Shape;2919;p124"/>
          <p:cNvSpPr txBox="1"/>
          <p:nvPr>
            <p:ph idx="1" type="body"/>
          </p:nvPr>
        </p:nvSpPr>
        <p:spPr>
          <a:xfrm>
            <a:off x="951550" y="325589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920" name="Google Shape;2920;p124"/>
          <p:cNvSpPr txBox="1"/>
          <p:nvPr>
            <p:ph idx="1" type="body"/>
          </p:nvPr>
        </p:nvSpPr>
        <p:spPr>
          <a:xfrm>
            <a:off x="951550" y="3813867"/>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921" name="Google Shape;2921;p124"/>
          <p:cNvSpPr txBox="1"/>
          <p:nvPr>
            <p:ph idx="1" type="body"/>
          </p:nvPr>
        </p:nvSpPr>
        <p:spPr>
          <a:xfrm>
            <a:off x="211048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922" name="Google Shape;2922;p124"/>
          <p:cNvSpPr txBox="1"/>
          <p:nvPr>
            <p:ph idx="1" type="body"/>
          </p:nvPr>
        </p:nvSpPr>
        <p:spPr>
          <a:xfrm>
            <a:off x="3025102" y="4382472"/>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923" name="Google Shape;2923;p124"/>
          <p:cNvSpPr txBox="1"/>
          <p:nvPr>
            <p:ph idx="1" type="body"/>
          </p:nvPr>
        </p:nvSpPr>
        <p:spPr>
          <a:xfrm>
            <a:off x="3950961" y="4382470"/>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924" name="Google Shape;2924;p124"/>
          <p:cNvSpPr txBox="1"/>
          <p:nvPr>
            <p:ph idx="1" type="body"/>
          </p:nvPr>
        </p:nvSpPr>
        <p:spPr>
          <a:xfrm>
            <a:off x="4871196" y="4382474"/>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2925" name="Google Shape;2925;p124"/>
          <p:cNvSpPr txBox="1"/>
          <p:nvPr>
            <p:ph idx="1" type="body"/>
          </p:nvPr>
        </p:nvSpPr>
        <p:spPr>
          <a:xfrm>
            <a:off x="3461249" y="4595650"/>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926" name="Google Shape;2926;p124"/>
          <p:cNvSpPr txBox="1"/>
          <p:nvPr>
            <p:ph idx="1" type="body"/>
          </p:nvPr>
        </p:nvSpPr>
        <p:spPr>
          <a:xfrm>
            <a:off x="5752198" y="4382472"/>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2927" name="Google Shape;2927;p124"/>
          <p:cNvSpPr txBox="1"/>
          <p:nvPr>
            <p:ph idx="1" type="body"/>
          </p:nvPr>
        </p:nvSpPr>
        <p:spPr>
          <a:xfrm>
            <a:off x="6057473" y="1503882"/>
            <a:ext cx="2814900" cy="2896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600"/>
              <a:t>b) If the trend in mean </a:t>
            </a:r>
            <a:br>
              <a:rPr lang="en-GB" sz="1600"/>
            </a:br>
            <a:r>
              <a:rPr lang="en-GB" sz="1600"/>
              <a:t>    global sea-surface </a:t>
            </a:r>
            <a:br>
              <a:rPr lang="en-GB" sz="1600"/>
            </a:br>
            <a:r>
              <a:rPr lang="en-GB" sz="1600"/>
              <a:t>    temperatures continues in </a:t>
            </a:r>
            <a:br>
              <a:rPr lang="en-GB" sz="1600"/>
            </a:br>
            <a:r>
              <a:rPr lang="en-GB" sz="1600"/>
              <a:t>    the way it has since 1970, </a:t>
            </a:r>
            <a:br>
              <a:rPr lang="en-GB" sz="1600"/>
            </a:br>
            <a:r>
              <a:rPr lang="en-GB" sz="1600"/>
              <a:t>    what range of data could  </a:t>
            </a:r>
            <a:br>
              <a:rPr lang="en-GB" sz="1600"/>
            </a:br>
            <a:r>
              <a:rPr lang="en-GB" sz="1600"/>
              <a:t>    we expect to observe in:</a:t>
            </a:r>
            <a:endParaRPr sz="1600"/>
          </a:p>
          <a:p>
            <a:pPr indent="0" lvl="0" marL="0" rtl="0" algn="l">
              <a:spcBef>
                <a:spcPts val="1000"/>
              </a:spcBef>
              <a:spcAft>
                <a:spcPts val="0"/>
              </a:spcAft>
              <a:buNone/>
            </a:pPr>
            <a:r>
              <a:rPr lang="en-GB" sz="1600"/>
              <a:t>   i) 2040?</a:t>
            </a:r>
            <a:endParaRPr sz="1600"/>
          </a:p>
          <a:p>
            <a:pPr indent="0" lvl="0" marL="0" rtl="0" algn="l">
              <a:spcBef>
                <a:spcPts val="1000"/>
              </a:spcBef>
              <a:spcAft>
                <a:spcPts val="0"/>
              </a:spcAft>
              <a:buNone/>
            </a:pPr>
            <a:r>
              <a:rPr lang="en-GB" sz="1600"/>
              <a:t>   ii) 2050?</a:t>
            </a:r>
            <a:endParaRPr sz="1600"/>
          </a:p>
          <a:p>
            <a:pPr indent="0" lvl="0" marL="0" rtl="0" algn="l">
              <a:spcBef>
                <a:spcPts val="1000"/>
              </a:spcBef>
              <a:spcAft>
                <a:spcPts val="1000"/>
              </a:spcAft>
              <a:buNone/>
            </a:pPr>
            <a:r>
              <a:rPr lang="en-GB" sz="1600"/>
              <a:t>   iii) 2060?</a:t>
            </a:r>
            <a:endParaRPr sz="16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1" name="Shape 2931"/>
        <p:cNvGrpSpPr/>
        <p:nvPr/>
      </p:nvGrpSpPr>
      <p:grpSpPr>
        <a:xfrm>
          <a:off x="0" y="0"/>
          <a:ext cx="0" cy="0"/>
          <a:chOff x="0" y="0"/>
          <a:chExt cx="0" cy="0"/>
        </a:xfrm>
      </p:grpSpPr>
      <p:pic>
        <p:nvPicPr>
          <p:cNvPr id="2932" name="Google Shape;2932;p125"/>
          <p:cNvPicPr preferRelativeResize="0"/>
          <p:nvPr/>
        </p:nvPicPr>
        <p:blipFill rotWithShape="1">
          <a:blip r:embed="rId3">
            <a:alphaModFix/>
          </a:blip>
          <a:srcRect b="3744" l="4251" r="0" t="0"/>
          <a:stretch/>
        </p:blipFill>
        <p:spPr>
          <a:xfrm>
            <a:off x="1363353" y="1615475"/>
            <a:ext cx="4675516" cy="2866096"/>
          </a:xfrm>
          <a:prstGeom prst="rect">
            <a:avLst/>
          </a:prstGeom>
          <a:noFill/>
          <a:ln>
            <a:noFill/>
          </a:ln>
        </p:spPr>
      </p:pic>
      <p:sp>
        <p:nvSpPr>
          <p:cNvPr id="2933" name="Google Shape;2933;p125"/>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2934" name="Google Shape;2934;p125"/>
          <p:cNvSpPr txBox="1"/>
          <p:nvPr>
            <p:ph idx="1" type="body"/>
          </p:nvPr>
        </p:nvSpPr>
        <p:spPr>
          <a:xfrm>
            <a:off x="342425" y="810000"/>
            <a:ext cx="84777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 The graph shows data from the Met Office and OSI SAF about sea ice in the Arctic </a:t>
            </a:r>
            <a:br>
              <a:rPr lang="en-GB" sz="1600"/>
            </a:br>
            <a:r>
              <a:rPr lang="en-GB" sz="1600"/>
              <a:t>    for each January from 1980 to 2024.</a:t>
            </a:r>
            <a:endParaRPr sz="1600"/>
          </a:p>
        </p:txBody>
      </p:sp>
      <p:cxnSp>
        <p:nvCxnSpPr>
          <p:cNvPr id="2935" name="Google Shape;2935;p125"/>
          <p:cNvCxnSpPr/>
          <p:nvPr/>
        </p:nvCxnSpPr>
        <p:spPr>
          <a:xfrm>
            <a:off x="1424428" y="2357555"/>
            <a:ext cx="4603200" cy="0"/>
          </a:xfrm>
          <a:prstGeom prst="straightConnector1">
            <a:avLst/>
          </a:prstGeom>
          <a:noFill/>
          <a:ln cap="flat" cmpd="sng" w="19050">
            <a:solidFill>
              <a:schemeClr val="dk1"/>
            </a:solidFill>
            <a:prstDash val="solid"/>
            <a:round/>
            <a:headEnd len="med" w="med" type="none"/>
            <a:tailEnd len="med" w="med" type="triangle"/>
          </a:ln>
        </p:spPr>
      </p:cxnSp>
      <p:cxnSp>
        <p:nvCxnSpPr>
          <p:cNvPr id="2936" name="Google Shape;2936;p125"/>
          <p:cNvCxnSpPr/>
          <p:nvPr/>
        </p:nvCxnSpPr>
        <p:spPr>
          <a:xfrm rot="10800000">
            <a:off x="1441823" y="1453271"/>
            <a:ext cx="0" cy="2924100"/>
          </a:xfrm>
          <a:prstGeom prst="straightConnector1">
            <a:avLst/>
          </a:prstGeom>
          <a:noFill/>
          <a:ln cap="flat" cmpd="sng" w="28575">
            <a:solidFill>
              <a:schemeClr val="dk1"/>
            </a:solidFill>
            <a:prstDash val="solid"/>
            <a:round/>
            <a:headEnd len="med" w="med" type="none"/>
            <a:tailEnd len="med" w="med" type="triangle"/>
          </a:ln>
        </p:spPr>
      </p:cxnSp>
      <p:sp>
        <p:nvSpPr>
          <p:cNvPr id="2937" name="Google Shape;2937;p125"/>
          <p:cNvSpPr txBox="1"/>
          <p:nvPr>
            <p:ph idx="1" type="body"/>
          </p:nvPr>
        </p:nvSpPr>
        <p:spPr>
          <a:xfrm>
            <a:off x="1264700" y="43779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2938" name="Google Shape;2938;p125"/>
          <p:cNvSpPr txBox="1"/>
          <p:nvPr>
            <p:ph idx="1" type="body"/>
          </p:nvPr>
        </p:nvSpPr>
        <p:spPr>
          <a:xfrm>
            <a:off x="1019620" y="158012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939" name="Google Shape;2939;p125"/>
          <p:cNvSpPr txBox="1"/>
          <p:nvPr>
            <p:ph idx="1" type="body"/>
          </p:nvPr>
        </p:nvSpPr>
        <p:spPr>
          <a:xfrm>
            <a:off x="1018900" y="190686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940" name="Google Shape;2940;p125"/>
          <p:cNvSpPr txBox="1"/>
          <p:nvPr>
            <p:ph idx="1" type="body"/>
          </p:nvPr>
        </p:nvSpPr>
        <p:spPr>
          <a:xfrm>
            <a:off x="1018900" y="224243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941" name="Google Shape;2941;p125"/>
          <p:cNvSpPr txBox="1"/>
          <p:nvPr>
            <p:ph idx="1" type="body"/>
          </p:nvPr>
        </p:nvSpPr>
        <p:spPr>
          <a:xfrm>
            <a:off x="1018900" y="325137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942" name="Google Shape;2942;p125"/>
          <p:cNvSpPr txBox="1"/>
          <p:nvPr>
            <p:ph idx="1" type="body"/>
          </p:nvPr>
        </p:nvSpPr>
        <p:spPr>
          <a:xfrm>
            <a:off x="1018900" y="3926140"/>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-3.0</a:t>
            </a:r>
            <a:endParaRPr sz="1400"/>
          </a:p>
        </p:txBody>
      </p:sp>
      <p:sp>
        <p:nvSpPr>
          <p:cNvPr id="2943" name="Google Shape;2943;p125"/>
          <p:cNvSpPr txBox="1"/>
          <p:nvPr>
            <p:ph idx="1" type="body"/>
          </p:nvPr>
        </p:nvSpPr>
        <p:spPr>
          <a:xfrm>
            <a:off x="2001951" y="43779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2944" name="Google Shape;2944;p125"/>
          <p:cNvSpPr txBox="1"/>
          <p:nvPr>
            <p:ph idx="1" type="body"/>
          </p:nvPr>
        </p:nvSpPr>
        <p:spPr>
          <a:xfrm>
            <a:off x="2746710" y="43779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945" name="Google Shape;2945;p125"/>
          <p:cNvSpPr txBox="1"/>
          <p:nvPr>
            <p:ph idx="1" type="body"/>
          </p:nvPr>
        </p:nvSpPr>
        <p:spPr>
          <a:xfrm>
            <a:off x="3498816" y="4377951"/>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2946" name="Google Shape;2946;p125"/>
          <p:cNvSpPr txBox="1"/>
          <p:nvPr>
            <p:ph idx="1" type="body"/>
          </p:nvPr>
        </p:nvSpPr>
        <p:spPr>
          <a:xfrm>
            <a:off x="4234615" y="43779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2947" name="Google Shape;2947;p125"/>
          <p:cNvSpPr txBox="1"/>
          <p:nvPr>
            <p:ph idx="1" type="body"/>
          </p:nvPr>
        </p:nvSpPr>
        <p:spPr>
          <a:xfrm>
            <a:off x="3503058" y="4595650"/>
            <a:ext cx="6249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948" name="Google Shape;2948;p125"/>
          <p:cNvSpPr txBox="1"/>
          <p:nvPr>
            <p:ph idx="1" type="body"/>
          </p:nvPr>
        </p:nvSpPr>
        <p:spPr>
          <a:xfrm>
            <a:off x="5701020" y="43779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2040</a:t>
            </a:r>
            <a:endParaRPr sz="1400"/>
          </a:p>
        </p:txBody>
      </p:sp>
      <p:sp>
        <p:nvSpPr>
          <p:cNvPr id="2949" name="Google Shape;2949;p125"/>
          <p:cNvSpPr txBox="1"/>
          <p:nvPr>
            <p:ph idx="1" type="body"/>
          </p:nvPr>
        </p:nvSpPr>
        <p:spPr>
          <a:xfrm>
            <a:off x="1018900" y="2587826"/>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950" name="Google Shape;2950;p125"/>
          <p:cNvSpPr txBox="1"/>
          <p:nvPr>
            <p:ph idx="1" type="body"/>
          </p:nvPr>
        </p:nvSpPr>
        <p:spPr>
          <a:xfrm>
            <a:off x="1018900" y="2928767"/>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951" name="Google Shape;2951;p125"/>
          <p:cNvSpPr txBox="1"/>
          <p:nvPr>
            <p:ph idx="1" type="body"/>
          </p:nvPr>
        </p:nvSpPr>
        <p:spPr>
          <a:xfrm>
            <a:off x="1018900" y="358786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952" name="Google Shape;2952;p125"/>
          <p:cNvSpPr txBox="1"/>
          <p:nvPr>
            <p:ph idx="1" type="body"/>
          </p:nvPr>
        </p:nvSpPr>
        <p:spPr>
          <a:xfrm>
            <a:off x="4981830" y="43779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2030</a:t>
            </a:r>
            <a:endParaRPr sz="1400"/>
          </a:p>
        </p:txBody>
      </p:sp>
      <p:sp>
        <p:nvSpPr>
          <p:cNvPr id="2953" name="Google Shape;2953;p125"/>
          <p:cNvSpPr txBox="1"/>
          <p:nvPr>
            <p:ph idx="1" type="body"/>
          </p:nvPr>
        </p:nvSpPr>
        <p:spPr>
          <a:xfrm>
            <a:off x="6005751" y="1642026"/>
            <a:ext cx="28764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Write down at least one </a:t>
            </a:r>
            <a:br>
              <a:rPr lang="en-GB" sz="1600"/>
            </a:br>
            <a:r>
              <a:rPr lang="en-GB" sz="1600"/>
              <a:t>    observation that you </a:t>
            </a:r>
            <a:br>
              <a:rPr lang="en-GB" sz="1600"/>
            </a:br>
            <a:r>
              <a:rPr lang="en-GB" sz="1600"/>
              <a:t>    make about any trends in </a:t>
            </a:r>
            <a:br>
              <a:rPr lang="en-GB" sz="1600"/>
            </a:br>
            <a:r>
              <a:rPr lang="en-GB" sz="1600"/>
              <a:t>    the data.</a:t>
            </a:r>
            <a:endParaRPr sz="1600"/>
          </a:p>
        </p:txBody>
      </p:sp>
      <p:sp>
        <p:nvSpPr>
          <p:cNvPr id="2954" name="Google Shape;2954;p125"/>
          <p:cNvSpPr txBox="1"/>
          <p:nvPr>
            <p:ph idx="1" type="body"/>
          </p:nvPr>
        </p:nvSpPr>
        <p:spPr>
          <a:xfrm rot="-5400000">
            <a:off x="-968275" y="2891650"/>
            <a:ext cx="3246300" cy="624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Arctic sea ice extent for January expressed as a difference from the 1981-2010 average for each January (million km</a:t>
            </a:r>
            <a:r>
              <a:rPr baseline="30000" lang="en-GB" sz="1300"/>
              <a:t>2</a:t>
            </a:r>
            <a:r>
              <a:rPr lang="en-GB" sz="1200"/>
              <a:t>)</a:t>
            </a:r>
            <a:endParaRPr sz="12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8" name="Shape 2958"/>
        <p:cNvGrpSpPr/>
        <p:nvPr/>
      </p:nvGrpSpPr>
      <p:grpSpPr>
        <a:xfrm>
          <a:off x="0" y="0"/>
          <a:ext cx="0" cy="0"/>
          <a:chOff x="0" y="0"/>
          <a:chExt cx="0" cy="0"/>
        </a:xfrm>
      </p:grpSpPr>
      <p:pic>
        <p:nvPicPr>
          <p:cNvPr id="2959" name="Google Shape;2959;p126"/>
          <p:cNvPicPr preferRelativeResize="0"/>
          <p:nvPr/>
        </p:nvPicPr>
        <p:blipFill rotWithShape="1">
          <a:blip r:embed="rId3">
            <a:alphaModFix/>
          </a:blip>
          <a:srcRect b="3744" l="4251" r="0" t="0"/>
          <a:stretch/>
        </p:blipFill>
        <p:spPr>
          <a:xfrm>
            <a:off x="1363353" y="1615475"/>
            <a:ext cx="4675516" cy="2866096"/>
          </a:xfrm>
          <a:prstGeom prst="rect">
            <a:avLst/>
          </a:prstGeom>
          <a:noFill/>
          <a:ln>
            <a:noFill/>
          </a:ln>
        </p:spPr>
      </p:pic>
      <p:sp>
        <p:nvSpPr>
          <p:cNvPr id="2960" name="Google Shape;2960;p126"/>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2961" name="Google Shape;2961;p126"/>
          <p:cNvSpPr txBox="1"/>
          <p:nvPr>
            <p:ph idx="1" type="body"/>
          </p:nvPr>
        </p:nvSpPr>
        <p:spPr>
          <a:xfrm>
            <a:off x="342425" y="810000"/>
            <a:ext cx="84777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 The graph shows data from the Met Office and OSI SAF about sea ice in the Arctic </a:t>
            </a:r>
            <a:br>
              <a:rPr lang="en-GB" sz="1600"/>
            </a:br>
            <a:r>
              <a:rPr lang="en-GB" sz="1600"/>
              <a:t>    for each January from 1980 to 2024.</a:t>
            </a:r>
            <a:endParaRPr sz="1600"/>
          </a:p>
        </p:txBody>
      </p:sp>
      <p:cxnSp>
        <p:nvCxnSpPr>
          <p:cNvPr id="2962" name="Google Shape;2962;p126"/>
          <p:cNvCxnSpPr/>
          <p:nvPr/>
        </p:nvCxnSpPr>
        <p:spPr>
          <a:xfrm>
            <a:off x="1424428" y="2357555"/>
            <a:ext cx="4603200" cy="0"/>
          </a:xfrm>
          <a:prstGeom prst="straightConnector1">
            <a:avLst/>
          </a:prstGeom>
          <a:noFill/>
          <a:ln cap="flat" cmpd="sng" w="19050">
            <a:solidFill>
              <a:schemeClr val="dk1"/>
            </a:solidFill>
            <a:prstDash val="solid"/>
            <a:round/>
            <a:headEnd len="med" w="med" type="none"/>
            <a:tailEnd len="med" w="med" type="triangle"/>
          </a:ln>
        </p:spPr>
      </p:cxnSp>
      <p:cxnSp>
        <p:nvCxnSpPr>
          <p:cNvPr id="2963" name="Google Shape;2963;p126"/>
          <p:cNvCxnSpPr/>
          <p:nvPr/>
        </p:nvCxnSpPr>
        <p:spPr>
          <a:xfrm rot="10800000">
            <a:off x="1441823" y="1453271"/>
            <a:ext cx="0" cy="2924100"/>
          </a:xfrm>
          <a:prstGeom prst="straightConnector1">
            <a:avLst/>
          </a:prstGeom>
          <a:noFill/>
          <a:ln cap="flat" cmpd="sng" w="28575">
            <a:solidFill>
              <a:schemeClr val="dk1"/>
            </a:solidFill>
            <a:prstDash val="solid"/>
            <a:round/>
            <a:headEnd len="med" w="med" type="none"/>
            <a:tailEnd len="med" w="med" type="triangle"/>
          </a:ln>
        </p:spPr>
      </p:cxnSp>
      <p:sp>
        <p:nvSpPr>
          <p:cNvPr id="2964" name="Google Shape;2964;p126"/>
          <p:cNvSpPr txBox="1"/>
          <p:nvPr>
            <p:ph idx="1" type="body"/>
          </p:nvPr>
        </p:nvSpPr>
        <p:spPr>
          <a:xfrm>
            <a:off x="1264700" y="43779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2965" name="Google Shape;2965;p126"/>
          <p:cNvSpPr txBox="1"/>
          <p:nvPr>
            <p:ph idx="1" type="body"/>
          </p:nvPr>
        </p:nvSpPr>
        <p:spPr>
          <a:xfrm rot="-5400000">
            <a:off x="-968275" y="2891650"/>
            <a:ext cx="3246300" cy="624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Arctic sea ice extent for January expressed as a difference from the 1981-2010 average for each January (million km</a:t>
            </a:r>
            <a:r>
              <a:rPr baseline="30000" lang="en-GB" sz="1300"/>
              <a:t>2</a:t>
            </a:r>
            <a:r>
              <a:rPr lang="en-GB" sz="1200"/>
              <a:t>)</a:t>
            </a:r>
            <a:endParaRPr sz="1200"/>
          </a:p>
        </p:txBody>
      </p:sp>
      <p:sp>
        <p:nvSpPr>
          <p:cNvPr id="2966" name="Google Shape;2966;p126"/>
          <p:cNvSpPr txBox="1"/>
          <p:nvPr>
            <p:ph idx="1" type="body"/>
          </p:nvPr>
        </p:nvSpPr>
        <p:spPr>
          <a:xfrm>
            <a:off x="1019620" y="158012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967" name="Google Shape;2967;p126"/>
          <p:cNvSpPr txBox="1"/>
          <p:nvPr>
            <p:ph idx="1" type="body"/>
          </p:nvPr>
        </p:nvSpPr>
        <p:spPr>
          <a:xfrm>
            <a:off x="1018900" y="190686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968" name="Google Shape;2968;p126"/>
          <p:cNvSpPr txBox="1"/>
          <p:nvPr>
            <p:ph idx="1" type="body"/>
          </p:nvPr>
        </p:nvSpPr>
        <p:spPr>
          <a:xfrm>
            <a:off x="1018900" y="224243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969" name="Google Shape;2969;p126"/>
          <p:cNvSpPr txBox="1"/>
          <p:nvPr>
            <p:ph idx="1" type="body"/>
          </p:nvPr>
        </p:nvSpPr>
        <p:spPr>
          <a:xfrm>
            <a:off x="1018900" y="325137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2970" name="Google Shape;2970;p126"/>
          <p:cNvSpPr txBox="1"/>
          <p:nvPr>
            <p:ph idx="1" type="body"/>
          </p:nvPr>
        </p:nvSpPr>
        <p:spPr>
          <a:xfrm>
            <a:off x="1018900" y="3926140"/>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-3.0</a:t>
            </a:r>
            <a:endParaRPr sz="1400"/>
          </a:p>
        </p:txBody>
      </p:sp>
      <p:sp>
        <p:nvSpPr>
          <p:cNvPr id="2971" name="Google Shape;2971;p126"/>
          <p:cNvSpPr txBox="1"/>
          <p:nvPr>
            <p:ph idx="1" type="body"/>
          </p:nvPr>
        </p:nvSpPr>
        <p:spPr>
          <a:xfrm>
            <a:off x="2001951" y="43779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2972" name="Google Shape;2972;p126"/>
          <p:cNvSpPr txBox="1"/>
          <p:nvPr>
            <p:ph idx="1" type="body"/>
          </p:nvPr>
        </p:nvSpPr>
        <p:spPr>
          <a:xfrm>
            <a:off x="2746710" y="43779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2973" name="Google Shape;2973;p126"/>
          <p:cNvSpPr txBox="1"/>
          <p:nvPr>
            <p:ph idx="1" type="body"/>
          </p:nvPr>
        </p:nvSpPr>
        <p:spPr>
          <a:xfrm>
            <a:off x="3498816" y="4377951"/>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2974" name="Google Shape;2974;p126"/>
          <p:cNvSpPr txBox="1"/>
          <p:nvPr>
            <p:ph idx="1" type="body"/>
          </p:nvPr>
        </p:nvSpPr>
        <p:spPr>
          <a:xfrm>
            <a:off x="4234615" y="43779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2975" name="Google Shape;2975;p126"/>
          <p:cNvSpPr txBox="1"/>
          <p:nvPr>
            <p:ph idx="1" type="body"/>
          </p:nvPr>
        </p:nvSpPr>
        <p:spPr>
          <a:xfrm>
            <a:off x="3503054" y="4595650"/>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2976" name="Google Shape;2976;p126"/>
          <p:cNvSpPr txBox="1"/>
          <p:nvPr>
            <p:ph idx="1" type="body"/>
          </p:nvPr>
        </p:nvSpPr>
        <p:spPr>
          <a:xfrm>
            <a:off x="5701020" y="43779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2040</a:t>
            </a:r>
            <a:endParaRPr sz="1400"/>
          </a:p>
        </p:txBody>
      </p:sp>
      <p:sp>
        <p:nvSpPr>
          <p:cNvPr id="2977" name="Google Shape;2977;p126"/>
          <p:cNvSpPr txBox="1"/>
          <p:nvPr>
            <p:ph idx="1" type="body"/>
          </p:nvPr>
        </p:nvSpPr>
        <p:spPr>
          <a:xfrm>
            <a:off x="1018900" y="2587826"/>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978" name="Google Shape;2978;p126"/>
          <p:cNvSpPr txBox="1"/>
          <p:nvPr>
            <p:ph idx="1" type="body"/>
          </p:nvPr>
        </p:nvSpPr>
        <p:spPr>
          <a:xfrm>
            <a:off x="1018900" y="2928767"/>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979" name="Google Shape;2979;p126"/>
          <p:cNvSpPr txBox="1"/>
          <p:nvPr>
            <p:ph idx="1" type="body"/>
          </p:nvPr>
        </p:nvSpPr>
        <p:spPr>
          <a:xfrm>
            <a:off x="1018900" y="358786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2980" name="Google Shape;2980;p126"/>
          <p:cNvSpPr txBox="1"/>
          <p:nvPr>
            <p:ph idx="1" type="body"/>
          </p:nvPr>
        </p:nvSpPr>
        <p:spPr>
          <a:xfrm>
            <a:off x="4981830" y="43779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2030</a:t>
            </a:r>
            <a:endParaRPr sz="1400"/>
          </a:p>
        </p:txBody>
      </p:sp>
      <p:sp>
        <p:nvSpPr>
          <p:cNvPr id="2981" name="Google Shape;2981;p126"/>
          <p:cNvSpPr txBox="1"/>
          <p:nvPr>
            <p:ph idx="1" type="body"/>
          </p:nvPr>
        </p:nvSpPr>
        <p:spPr>
          <a:xfrm>
            <a:off x="6005751" y="1642026"/>
            <a:ext cx="2876400" cy="2613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600"/>
              <a:t>b) If the trend in the extent  </a:t>
            </a:r>
            <a:br>
              <a:rPr lang="en-GB" sz="1600"/>
            </a:br>
            <a:r>
              <a:rPr lang="en-GB" sz="1600"/>
              <a:t>    of Arctic sea ice continues </a:t>
            </a:r>
            <a:br>
              <a:rPr lang="en-GB" sz="1600"/>
            </a:br>
            <a:r>
              <a:rPr lang="en-GB" sz="1600"/>
              <a:t>    in the way it has since </a:t>
            </a:r>
            <a:br>
              <a:rPr lang="en-GB" sz="1600"/>
            </a:br>
            <a:r>
              <a:rPr lang="en-GB" sz="1600"/>
              <a:t>    1980, </a:t>
            </a:r>
            <a:r>
              <a:rPr lang="en-GB" sz="1600"/>
              <a:t>what range of data </a:t>
            </a:r>
            <a:br>
              <a:rPr lang="en-GB" sz="1600"/>
            </a:br>
            <a:r>
              <a:rPr lang="en-GB" sz="1600"/>
              <a:t>    could we expect to see in:</a:t>
            </a:r>
            <a:endParaRPr sz="1600"/>
          </a:p>
          <a:p>
            <a:pPr indent="0" lvl="0" marL="0" rtl="0" algn="l">
              <a:spcBef>
                <a:spcPts val="1000"/>
              </a:spcBef>
              <a:spcAft>
                <a:spcPts val="0"/>
              </a:spcAft>
              <a:buNone/>
            </a:pPr>
            <a:r>
              <a:rPr lang="en-GB" sz="1600"/>
              <a:t>   i) 2030?</a:t>
            </a:r>
            <a:endParaRPr sz="1600"/>
          </a:p>
          <a:p>
            <a:pPr indent="0" lvl="0" marL="0" rtl="0" algn="l">
              <a:spcBef>
                <a:spcPts val="1000"/>
              </a:spcBef>
              <a:spcAft>
                <a:spcPts val="0"/>
              </a:spcAft>
              <a:buNone/>
            </a:pPr>
            <a:r>
              <a:rPr lang="en-GB" sz="1600"/>
              <a:t>   ii) 2035?</a:t>
            </a:r>
            <a:endParaRPr sz="1600"/>
          </a:p>
          <a:p>
            <a:pPr indent="0" lvl="0" marL="0" rtl="0" algn="l">
              <a:spcBef>
                <a:spcPts val="1000"/>
              </a:spcBef>
              <a:spcAft>
                <a:spcPts val="1000"/>
              </a:spcAft>
              <a:buNone/>
            </a:pPr>
            <a:r>
              <a:rPr lang="en-GB" sz="1600"/>
              <a:t>   iii) 2040?</a:t>
            </a:r>
            <a:endParaRPr sz="16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5" name="Shape 2985"/>
        <p:cNvGrpSpPr/>
        <p:nvPr/>
      </p:nvGrpSpPr>
      <p:grpSpPr>
        <a:xfrm>
          <a:off x="0" y="0"/>
          <a:ext cx="0" cy="0"/>
          <a:chOff x="0" y="0"/>
          <a:chExt cx="0" cy="0"/>
        </a:xfrm>
      </p:grpSpPr>
      <p:pic>
        <p:nvPicPr>
          <p:cNvPr id="2986" name="Google Shape;2986;p127"/>
          <p:cNvPicPr preferRelativeResize="0"/>
          <p:nvPr/>
        </p:nvPicPr>
        <p:blipFill rotWithShape="1">
          <a:blip r:embed="rId3">
            <a:alphaModFix/>
          </a:blip>
          <a:srcRect b="4853" l="4662" r="0" t="1810"/>
          <a:stretch/>
        </p:blipFill>
        <p:spPr>
          <a:xfrm>
            <a:off x="1307975" y="1645275"/>
            <a:ext cx="4752876" cy="2785799"/>
          </a:xfrm>
          <a:prstGeom prst="rect">
            <a:avLst/>
          </a:prstGeom>
          <a:noFill/>
          <a:ln>
            <a:noFill/>
          </a:ln>
        </p:spPr>
      </p:pic>
      <p:sp>
        <p:nvSpPr>
          <p:cNvPr id="2987" name="Google Shape;2987;p127"/>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2988" name="Google Shape;2988;p127"/>
          <p:cNvSpPr txBox="1"/>
          <p:nvPr>
            <p:ph idx="1" type="body"/>
          </p:nvPr>
        </p:nvSpPr>
        <p:spPr>
          <a:xfrm>
            <a:off x="324000" y="810000"/>
            <a:ext cx="82377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 The graph shows data from the Met Office and HadSST4 about sea-surface </a:t>
            </a:r>
            <a:br>
              <a:rPr lang="en-GB" sz="1600"/>
            </a:br>
            <a:r>
              <a:rPr lang="en-GB" sz="1600"/>
              <a:t>    temperatures for each year from 1851 to 2024.</a:t>
            </a:r>
            <a:endParaRPr sz="1600"/>
          </a:p>
        </p:txBody>
      </p:sp>
      <p:cxnSp>
        <p:nvCxnSpPr>
          <p:cNvPr id="2989" name="Google Shape;2989;p127"/>
          <p:cNvCxnSpPr/>
          <p:nvPr/>
        </p:nvCxnSpPr>
        <p:spPr>
          <a:xfrm>
            <a:off x="1373721" y="3365545"/>
            <a:ext cx="4729500" cy="0"/>
          </a:xfrm>
          <a:prstGeom prst="straightConnector1">
            <a:avLst/>
          </a:prstGeom>
          <a:noFill/>
          <a:ln cap="flat" cmpd="sng" w="19050">
            <a:solidFill>
              <a:schemeClr val="dk1"/>
            </a:solidFill>
            <a:prstDash val="solid"/>
            <a:round/>
            <a:headEnd len="med" w="med" type="none"/>
            <a:tailEnd len="med" w="med" type="triangle"/>
          </a:ln>
        </p:spPr>
      </p:cxnSp>
      <p:cxnSp>
        <p:nvCxnSpPr>
          <p:cNvPr id="2990" name="Google Shape;2990;p127"/>
          <p:cNvCxnSpPr/>
          <p:nvPr/>
        </p:nvCxnSpPr>
        <p:spPr>
          <a:xfrm rot="10800000">
            <a:off x="1385085" y="1457754"/>
            <a:ext cx="0" cy="2912100"/>
          </a:xfrm>
          <a:prstGeom prst="straightConnector1">
            <a:avLst/>
          </a:prstGeom>
          <a:noFill/>
          <a:ln cap="flat" cmpd="sng" w="28575">
            <a:solidFill>
              <a:schemeClr val="dk1"/>
            </a:solidFill>
            <a:prstDash val="solid"/>
            <a:round/>
            <a:headEnd len="med" w="med" type="none"/>
            <a:tailEnd len="med" w="med" type="triangle"/>
          </a:ln>
        </p:spPr>
      </p:cxnSp>
      <p:sp>
        <p:nvSpPr>
          <p:cNvPr id="2991" name="Google Shape;2991;p127"/>
          <p:cNvSpPr txBox="1"/>
          <p:nvPr>
            <p:ph idx="1" type="body"/>
          </p:nvPr>
        </p:nvSpPr>
        <p:spPr>
          <a:xfrm>
            <a:off x="120356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2992" name="Google Shape;2992;p127"/>
          <p:cNvSpPr txBox="1"/>
          <p:nvPr>
            <p:ph idx="1" type="body"/>
          </p:nvPr>
        </p:nvSpPr>
        <p:spPr>
          <a:xfrm rot="-5400000">
            <a:off x="-1083043" y="2809756"/>
            <a:ext cx="3388500" cy="6465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600"/>
          </a:p>
        </p:txBody>
      </p:sp>
      <p:sp>
        <p:nvSpPr>
          <p:cNvPr id="2993" name="Google Shape;2993;p127"/>
          <p:cNvSpPr txBox="1"/>
          <p:nvPr>
            <p:ph idx="1" type="body"/>
          </p:nvPr>
        </p:nvSpPr>
        <p:spPr>
          <a:xfrm>
            <a:off x="952288" y="1540619"/>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2994" name="Google Shape;2994;p127"/>
          <p:cNvSpPr txBox="1"/>
          <p:nvPr>
            <p:ph idx="1" type="body"/>
          </p:nvPr>
        </p:nvSpPr>
        <p:spPr>
          <a:xfrm>
            <a:off x="951550" y="208206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2995" name="Google Shape;2995;p127"/>
          <p:cNvSpPr txBox="1"/>
          <p:nvPr>
            <p:ph idx="1" type="body"/>
          </p:nvPr>
        </p:nvSpPr>
        <p:spPr>
          <a:xfrm>
            <a:off x="951550" y="325589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2996" name="Google Shape;2996;p127"/>
          <p:cNvSpPr txBox="1"/>
          <p:nvPr>
            <p:ph idx="1" type="body"/>
          </p:nvPr>
        </p:nvSpPr>
        <p:spPr>
          <a:xfrm>
            <a:off x="951550" y="3813867"/>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2997" name="Google Shape;2997;p127"/>
          <p:cNvSpPr txBox="1"/>
          <p:nvPr>
            <p:ph idx="1" type="body"/>
          </p:nvPr>
        </p:nvSpPr>
        <p:spPr>
          <a:xfrm>
            <a:off x="211048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2998" name="Google Shape;2998;p127"/>
          <p:cNvSpPr txBox="1"/>
          <p:nvPr>
            <p:ph idx="1" type="body"/>
          </p:nvPr>
        </p:nvSpPr>
        <p:spPr>
          <a:xfrm>
            <a:off x="3025102" y="4382472"/>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2999" name="Google Shape;2999;p127"/>
          <p:cNvSpPr txBox="1"/>
          <p:nvPr>
            <p:ph idx="1" type="body"/>
          </p:nvPr>
        </p:nvSpPr>
        <p:spPr>
          <a:xfrm>
            <a:off x="3950961" y="4382470"/>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3000" name="Google Shape;3000;p127"/>
          <p:cNvSpPr txBox="1"/>
          <p:nvPr>
            <p:ph idx="1" type="body"/>
          </p:nvPr>
        </p:nvSpPr>
        <p:spPr>
          <a:xfrm>
            <a:off x="4871196" y="4382474"/>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3001" name="Google Shape;3001;p127"/>
          <p:cNvSpPr txBox="1"/>
          <p:nvPr>
            <p:ph idx="1" type="body"/>
          </p:nvPr>
        </p:nvSpPr>
        <p:spPr>
          <a:xfrm>
            <a:off x="3461249" y="4595650"/>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3002" name="Google Shape;3002;p127"/>
          <p:cNvSpPr txBox="1"/>
          <p:nvPr>
            <p:ph idx="1" type="body"/>
          </p:nvPr>
        </p:nvSpPr>
        <p:spPr>
          <a:xfrm>
            <a:off x="5752198" y="4382472"/>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3003" name="Google Shape;3003;p127"/>
          <p:cNvSpPr txBox="1"/>
          <p:nvPr>
            <p:ph idx="1" type="body"/>
          </p:nvPr>
        </p:nvSpPr>
        <p:spPr>
          <a:xfrm>
            <a:off x="6057473" y="1503882"/>
            <a:ext cx="28149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Write down at least </a:t>
            </a:r>
            <a:br>
              <a:rPr lang="en-GB" sz="1600"/>
            </a:br>
            <a:r>
              <a:rPr lang="en-GB" sz="1600"/>
              <a:t>    two observations that </a:t>
            </a:r>
            <a:br>
              <a:rPr lang="en-GB" sz="1600"/>
            </a:br>
            <a:r>
              <a:rPr lang="en-GB" sz="1600"/>
              <a:t>    you make about any</a:t>
            </a:r>
            <a:br>
              <a:rPr lang="en-GB" sz="1600"/>
            </a:br>
            <a:r>
              <a:rPr lang="en-GB" sz="1600"/>
              <a:t>    trends in the data.</a:t>
            </a:r>
            <a:endParaRPr sz="1600"/>
          </a:p>
        </p:txBody>
      </p:sp>
      <p:sp>
        <p:nvSpPr>
          <p:cNvPr id="3004" name="Google Shape;3004;p127"/>
          <p:cNvSpPr txBox="1"/>
          <p:nvPr>
            <p:ph idx="1" type="body"/>
          </p:nvPr>
        </p:nvSpPr>
        <p:spPr>
          <a:xfrm>
            <a:off x="6256800" y="2745935"/>
            <a:ext cx="2615700" cy="1679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Examples:</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The global </a:t>
            </a:r>
            <a:r>
              <a:rPr lang="en-GB" sz="1800">
                <a:latin typeface="Kalam"/>
                <a:ea typeface="Kalam"/>
                <a:cs typeface="Kalam"/>
                <a:sym typeface="Kalam"/>
              </a:rPr>
              <a:t>mean </a:t>
            </a:r>
            <a:r>
              <a:rPr lang="en-GB" sz="1800">
                <a:latin typeface="Kalam"/>
                <a:ea typeface="Kalam"/>
                <a:cs typeface="Kalam"/>
                <a:sym typeface="Kalam"/>
              </a:rPr>
              <a:t>sea-surface temperatures remain relatively stable between 1850 and 1930.</a:t>
            </a:r>
            <a:endParaRPr sz="1800">
              <a:latin typeface="Kalam"/>
              <a:ea typeface="Kalam"/>
              <a:cs typeface="Kalam"/>
              <a:sym typeface="Kalam"/>
            </a:endParaRPr>
          </a:p>
        </p:txBody>
      </p:sp>
      <p:sp>
        <p:nvSpPr>
          <p:cNvPr id="3005" name="Google Shape;3005;p127"/>
          <p:cNvSpPr txBox="1"/>
          <p:nvPr>
            <p:ph idx="1" type="body"/>
          </p:nvPr>
        </p:nvSpPr>
        <p:spPr>
          <a:xfrm>
            <a:off x="951550" y="2661602"/>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9" name="Shape 3009"/>
        <p:cNvGrpSpPr/>
        <p:nvPr/>
      </p:nvGrpSpPr>
      <p:grpSpPr>
        <a:xfrm>
          <a:off x="0" y="0"/>
          <a:ext cx="0" cy="0"/>
          <a:chOff x="0" y="0"/>
          <a:chExt cx="0" cy="0"/>
        </a:xfrm>
      </p:grpSpPr>
      <p:pic>
        <p:nvPicPr>
          <p:cNvPr id="3010" name="Google Shape;3010;p128"/>
          <p:cNvPicPr preferRelativeResize="0"/>
          <p:nvPr/>
        </p:nvPicPr>
        <p:blipFill rotWithShape="1">
          <a:blip r:embed="rId3">
            <a:alphaModFix/>
          </a:blip>
          <a:srcRect b="4853" l="4662" r="0" t="1810"/>
          <a:stretch/>
        </p:blipFill>
        <p:spPr>
          <a:xfrm>
            <a:off x="1307975" y="1645275"/>
            <a:ext cx="4752876" cy="2785799"/>
          </a:xfrm>
          <a:prstGeom prst="rect">
            <a:avLst/>
          </a:prstGeom>
          <a:noFill/>
          <a:ln>
            <a:noFill/>
          </a:ln>
        </p:spPr>
      </p:pic>
      <p:sp>
        <p:nvSpPr>
          <p:cNvPr id="3011" name="Google Shape;3011;p128"/>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3012" name="Google Shape;3012;p128"/>
          <p:cNvSpPr txBox="1"/>
          <p:nvPr>
            <p:ph idx="1" type="body"/>
          </p:nvPr>
        </p:nvSpPr>
        <p:spPr>
          <a:xfrm>
            <a:off x="324000" y="810000"/>
            <a:ext cx="82377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 The graph shows data from the Met Office and HadSST4 about sea-surface </a:t>
            </a:r>
            <a:br>
              <a:rPr lang="en-GB" sz="1600"/>
            </a:br>
            <a:r>
              <a:rPr lang="en-GB" sz="1600"/>
              <a:t>    temperatures for each year from 1851 to 2024.</a:t>
            </a:r>
            <a:endParaRPr sz="1600"/>
          </a:p>
        </p:txBody>
      </p:sp>
      <p:cxnSp>
        <p:nvCxnSpPr>
          <p:cNvPr id="3013" name="Google Shape;3013;p128"/>
          <p:cNvCxnSpPr/>
          <p:nvPr/>
        </p:nvCxnSpPr>
        <p:spPr>
          <a:xfrm>
            <a:off x="1373721" y="3365545"/>
            <a:ext cx="4729500" cy="0"/>
          </a:xfrm>
          <a:prstGeom prst="straightConnector1">
            <a:avLst/>
          </a:prstGeom>
          <a:noFill/>
          <a:ln cap="flat" cmpd="sng" w="19050">
            <a:solidFill>
              <a:schemeClr val="dk1"/>
            </a:solidFill>
            <a:prstDash val="solid"/>
            <a:round/>
            <a:headEnd len="med" w="med" type="none"/>
            <a:tailEnd len="med" w="med" type="triangle"/>
          </a:ln>
        </p:spPr>
      </p:cxnSp>
      <p:cxnSp>
        <p:nvCxnSpPr>
          <p:cNvPr id="3014" name="Google Shape;3014;p128"/>
          <p:cNvCxnSpPr/>
          <p:nvPr/>
        </p:nvCxnSpPr>
        <p:spPr>
          <a:xfrm rot="10800000">
            <a:off x="1385085" y="1457754"/>
            <a:ext cx="0" cy="2912100"/>
          </a:xfrm>
          <a:prstGeom prst="straightConnector1">
            <a:avLst/>
          </a:prstGeom>
          <a:noFill/>
          <a:ln cap="flat" cmpd="sng" w="28575">
            <a:solidFill>
              <a:schemeClr val="dk1"/>
            </a:solidFill>
            <a:prstDash val="solid"/>
            <a:round/>
            <a:headEnd len="med" w="med" type="none"/>
            <a:tailEnd len="med" w="med" type="triangle"/>
          </a:ln>
        </p:spPr>
      </p:cxnSp>
      <p:sp>
        <p:nvSpPr>
          <p:cNvPr id="3015" name="Google Shape;3015;p128"/>
          <p:cNvSpPr txBox="1"/>
          <p:nvPr>
            <p:ph idx="1" type="body"/>
          </p:nvPr>
        </p:nvSpPr>
        <p:spPr>
          <a:xfrm>
            <a:off x="120356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3016" name="Google Shape;3016;p128"/>
          <p:cNvSpPr txBox="1"/>
          <p:nvPr>
            <p:ph idx="1" type="body"/>
          </p:nvPr>
        </p:nvSpPr>
        <p:spPr>
          <a:xfrm rot="-5400000">
            <a:off x="-1083043" y="2809756"/>
            <a:ext cx="3388500" cy="6465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600"/>
          </a:p>
        </p:txBody>
      </p:sp>
      <p:sp>
        <p:nvSpPr>
          <p:cNvPr id="3017" name="Google Shape;3017;p128"/>
          <p:cNvSpPr txBox="1"/>
          <p:nvPr>
            <p:ph idx="1" type="body"/>
          </p:nvPr>
        </p:nvSpPr>
        <p:spPr>
          <a:xfrm>
            <a:off x="952288" y="1540619"/>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3018" name="Google Shape;3018;p128"/>
          <p:cNvSpPr txBox="1"/>
          <p:nvPr>
            <p:ph idx="1" type="body"/>
          </p:nvPr>
        </p:nvSpPr>
        <p:spPr>
          <a:xfrm>
            <a:off x="951550" y="208206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3019" name="Google Shape;3019;p128"/>
          <p:cNvSpPr txBox="1"/>
          <p:nvPr>
            <p:ph idx="1" type="body"/>
          </p:nvPr>
        </p:nvSpPr>
        <p:spPr>
          <a:xfrm>
            <a:off x="951550" y="325589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3020" name="Google Shape;3020;p128"/>
          <p:cNvSpPr txBox="1"/>
          <p:nvPr>
            <p:ph idx="1" type="body"/>
          </p:nvPr>
        </p:nvSpPr>
        <p:spPr>
          <a:xfrm>
            <a:off x="951550" y="3813867"/>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021" name="Google Shape;3021;p128"/>
          <p:cNvSpPr txBox="1"/>
          <p:nvPr>
            <p:ph idx="1" type="body"/>
          </p:nvPr>
        </p:nvSpPr>
        <p:spPr>
          <a:xfrm>
            <a:off x="211048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3022" name="Google Shape;3022;p128"/>
          <p:cNvSpPr txBox="1"/>
          <p:nvPr>
            <p:ph idx="1" type="body"/>
          </p:nvPr>
        </p:nvSpPr>
        <p:spPr>
          <a:xfrm>
            <a:off x="3025102" y="4382472"/>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3023" name="Google Shape;3023;p128"/>
          <p:cNvSpPr txBox="1"/>
          <p:nvPr>
            <p:ph idx="1" type="body"/>
          </p:nvPr>
        </p:nvSpPr>
        <p:spPr>
          <a:xfrm>
            <a:off x="3950961" y="4382470"/>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3024" name="Google Shape;3024;p128"/>
          <p:cNvSpPr txBox="1"/>
          <p:nvPr>
            <p:ph idx="1" type="body"/>
          </p:nvPr>
        </p:nvSpPr>
        <p:spPr>
          <a:xfrm>
            <a:off x="4871196" y="4382474"/>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3025" name="Google Shape;3025;p128"/>
          <p:cNvSpPr txBox="1"/>
          <p:nvPr>
            <p:ph idx="1" type="body"/>
          </p:nvPr>
        </p:nvSpPr>
        <p:spPr>
          <a:xfrm>
            <a:off x="3461249" y="4595650"/>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3026" name="Google Shape;3026;p128"/>
          <p:cNvSpPr txBox="1"/>
          <p:nvPr>
            <p:ph idx="1" type="body"/>
          </p:nvPr>
        </p:nvSpPr>
        <p:spPr>
          <a:xfrm>
            <a:off x="5752198" y="4382472"/>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3027" name="Google Shape;3027;p128"/>
          <p:cNvSpPr txBox="1"/>
          <p:nvPr>
            <p:ph idx="1" type="body"/>
          </p:nvPr>
        </p:nvSpPr>
        <p:spPr>
          <a:xfrm>
            <a:off x="6057473" y="1503882"/>
            <a:ext cx="28149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Write down at least </a:t>
            </a:r>
            <a:br>
              <a:rPr lang="en-GB" sz="1600"/>
            </a:br>
            <a:r>
              <a:rPr lang="en-GB" sz="1600"/>
              <a:t>    two observations that </a:t>
            </a:r>
            <a:br>
              <a:rPr lang="en-GB" sz="1600"/>
            </a:br>
            <a:r>
              <a:rPr lang="en-GB" sz="1600"/>
              <a:t>    you make about any</a:t>
            </a:r>
            <a:br>
              <a:rPr lang="en-GB" sz="1600"/>
            </a:br>
            <a:r>
              <a:rPr lang="en-GB" sz="1600"/>
              <a:t>    trends in the data.</a:t>
            </a:r>
            <a:endParaRPr sz="1600"/>
          </a:p>
        </p:txBody>
      </p:sp>
      <p:sp>
        <p:nvSpPr>
          <p:cNvPr id="3028" name="Google Shape;3028;p128"/>
          <p:cNvSpPr txBox="1"/>
          <p:nvPr>
            <p:ph idx="1" type="body"/>
          </p:nvPr>
        </p:nvSpPr>
        <p:spPr>
          <a:xfrm>
            <a:off x="6256800" y="2745935"/>
            <a:ext cx="2615700" cy="104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Examples:</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There is an upward trend from 1920 to 1945.</a:t>
            </a:r>
            <a:endParaRPr sz="1800">
              <a:latin typeface="Kalam"/>
              <a:ea typeface="Kalam"/>
              <a:cs typeface="Kalam"/>
              <a:sym typeface="Kalam"/>
            </a:endParaRPr>
          </a:p>
        </p:txBody>
      </p:sp>
      <p:sp>
        <p:nvSpPr>
          <p:cNvPr id="3029" name="Google Shape;3029;p128"/>
          <p:cNvSpPr txBox="1"/>
          <p:nvPr>
            <p:ph idx="1" type="body"/>
          </p:nvPr>
        </p:nvSpPr>
        <p:spPr>
          <a:xfrm>
            <a:off x="951550" y="2661602"/>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3" name="Shape 3033"/>
        <p:cNvGrpSpPr/>
        <p:nvPr/>
      </p:nvGrpSpPr>
      <p:grpSpPr>
        <a:xfrm>
          <a:off x="0" y="0"/>
          <a:ext cx="0" cy="0"/>
          <a:chOff x="0" y="0"/>
          <a:chExt cx="0" cy="0"/>
        </a:xfrm>
      </p:grpSpPr>
      <p:pic>
        <p:nvPicPr>
          <p:cNvPr id="3034" name="Google Shape;3034;p129"/>
          <p:cNvPicPr preferRelativeResize="0"/>
          <p:nvPr/>
        </p:nvPicPr>
        <p:blipFill rotWithShape="1">
          <a:blip r:embed="rId3">
            <a:alphaModFix/>
          </a:blip>
          <a:srcRect b="4853" l="4662" r="0" t="1810"/>
          <a:stretch/>
        </p:blipFill>
        <p:spPr>
          <a:xfrm>
            <a:off x="1307975" y="1645275"/>
            <a:ext cx="4752876" cy="2785799"/>
          </a:xfrm>
          <a:prstGeom prst="rect">
            <a:avLst/>
          </a:prstGeom>
          <a:noFill/>
          <a:ln>
            <a:noFill/>
          </a:ln>
        </p:spPr>
      </p:pic>
      <p:sp>
        <p:nvSpPr>
          <p:cNvPr id="3035" name="Google Shape;3035;p129"/>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3036" name="Google Shape;3036;p129"/>
          <p:cNvSpPr txBox="1"/>
          <p:nvPr>
            <p:ph idx="1" type="body"/>
          </p:nvPr>
        </p:nvSpPr>
        <p:spPr>
          <a:xfrm>
            <a:off x="324000" y="810000"/>
            <a:ext cx="82377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 The graph shows data from the Met Office and HadSST4 about sea-surface </a:t>
            </a:r>
            <a:br>
              <a:rPr lang="en-GB" sz="1600"/>
            </a:br>
            <a:r>
              <a:rPr lang="en-GB" sz="1600"/>
              <a:t>    temperatures for each year from 1851 to 2024.</a:t>
            </a:r>
            <a:endParaRPr sz="1600"/>
          </a:p>
        </p:txBody>
      </p:sp>
      <p:cxnSp>
        <p:nvCxnSpPr>
          <p:cNvPr id="3037" name="Google Shape;3037;p129"/>
          <p:cNvCxnSpPr/>
          <p:nvPr/>
        </p:nvCxnSpPr>
        <p:spPr>
          <a:xfrm>
            <a:off x="1373721" y="3365545"/>
            <a:ext cx="4729500" cy="0"/>
          </a:xfrm>
          <a:prstGeom prst="straightConnector1">
            <a:avLst/>
          </a:prstGeom>
          <a:noFill/>
          <a:ln cap="flat" cmpd="sng" w="19050">
            <a:solidFill>
              <a:schemeClr val="dk1"/>
            </a:solidFill>
            <a:prstDash val="solid"/>
            <a:round/>
            <a:headEnd len="med" w="med" type="none"/>
            <a:tailEnd len="med" w="med" type="triangle"/>
          </a:ln>
        </p:spPr>
      </p:cxnSp>
      <p:cxnSp>
        <p:nvCxnSpPr>
          <p:cNvPr id="3038" name="Google Shape;3038;p129"/>
          <p:cNvCxnSpPr/>
          <p:nvPr/>
        </p:nvCxnSpPr>
        <p:spPr>
          <a:xfrm rot="10800000">
            <a:off x="1385085" y="1457754"/>
            <a:ext cx="0" cy="2912100"/>
          </a:xfrm>
          <a:prstGeom prst="straightConnector1">
            <a:avLst/>
          </a:prstGeom>
          <a:noFill/>
          <a:ln cap="flat" cmpd="sng" w="28575">
            <a:solidFill>
              <a:schemeClr val="dk1"/>
            </a:solidFill>
            <a:prstDash val="solid"/>
            <a:round/>
            <a:headEnd len="med" w="med" type="none"/>
            <a:tailEnd len="med" w="med" type="triangle"/>
          </a:ln>
        </p:spPr>
      </p:cxnSp>
      <p:sp>
        <p:nvSpPr>
          <p:cNvPr id="3039" name="Google Shape;3039;p129"/>
          <p:cNvSpPr txBox="1"/>
          <p:nvPr>
            <p:ph idx="1" type="body"/>
          </p:nvPr>
        </p:nvSpPr>
        <p:spPr>
          <a:xfrm>
            <a:off x="120356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3040" name="Google Shape;3040;p129"/>
          <p:cNvSpPr txBox="1"/>
          <p:nvPr>
            <p:ph idx="1" type="body"/>
          </p:nvPr>
        </p:nvSpPr>
        <p:spPr>
          <a:xfrm rot="-5400000">
            <a:off x="-1083043" y="2809756"/>
            <a:ext cx="3388500" cy="6465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600"/>
          </a:p>
        </p:txBody>
      </p:sp>
      <p:sp>
        <p:nvSpPr>
          <p:cNvPr id="3041" name="Google Shape;3041;p129"/>
          <p:cNvSpPr txBox="1"/>
          <p:nvPr>
            <p:ph idx="1" type="body"/>
          </p:nvPr>
        </p:nvSpPr>
        <p:spPr>
          <a:xfrm>
            <a:off x="952288" y="1540619"/>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3042" name="Google Shape;3042;p129"/>
          <p:cNvSpPr txBox="1"/>
          <p:nvPr>
            <p:ph idx="1" type="body"/>
          </p:nvPr>
        </p:nvSpPr>
        <p:spPr>
          <a:xfrm>
            <a:off x="951550" y="208206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3043" name="Google Shape;3043;p129"/>
          <p:cNvSpPr txBox="1"/>
          <p:nvPr>
            <p:ph idx="1" type="body"/>
          </p:nvPr>
        </p:nvSpPr>
        <p:spPr>
          <a:xfrm>
            <a:off x="951550" y="325589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3044" name="Google Shape;3044;p129"/>
          <p:cNvSpPr txBox="1"/>
          <p:nvPr>
            <p:ph idx="1" type="body"/>
          </p:nvPr>
        </p:nvSpPr>
        <p:spPr>
          <a:xfrm>
            <a:off x="951550" y="3813867"/>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045" name="Google Shape;3045;p129"/>
          <p:cNvSpPr txBox="1"/>
          <p:nvPr>
            <p:ph idx="1" type="body"/>
          </p:nvPr>
        </p:nvSpPr>
        <p:spPr>
          <a:xfrm>
            <a:off x="211048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3046" name="Google Shape;3046;p129"/>
          <p:cNvSpPr txBox="1"/>
          <p:nvPr>
            <p:ph idx="1" type="body"/>
          </p:nvPr>
        </p:nvSpPr>
        <p:spPr>
          <a:xfrm>
            <a:off x="3025102" y="4382472"/>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3047" name="Google Shape;3047;p129"/>
          <p:cNvSpPr txBox="1"/>
          <p:nvPr>
            <p:ph idx="1" type="body"/>
          </p:nvPr>
        </p:nvSpPr>
        <p:spPr>
          <a:xfrm>
            <a:off x="3950961" y="4382470"/>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3048" name="Google Shape;3048;p129"/>
          <p:cNvSpPr txBox="1"/>
          <p:nvPr>
            <p:ph idx="1" type="body"/>
          </p:nvPr>
        </p:nvSpPr>
        <p:spPr>
          <a:xfrm>
            <a:off x="4871196" y="4382474"/>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3049" name="Google Shape;3049;p129"/>
          <p:cNvSpPr txBox="1"/>
          <p:nvPr>
            <p:ph idx="1" type="body"/>
          </p:nvPr>
        </p:nvSpPr>
        <p:spPr>
          <a:xfrm>
            <a:off x="3461249" y="4595650"/>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3050" name="Google Shape;3050;p129"/>
          <p:cNvSpPr txBox="1"/>
          <p:nvPr>
            <p:ph idx="1" type="body"/>
          </p:nvPr>
        </p:nvSpPr>
        <p:spPr>
          <a:xfrm>
            <a:off x="5752198" y="4382472"/>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3051" name="Google Shape;3051;p129"/>
          <p:cNvSpPr txBox="1"/>
          <p:nvPr>
            <p:ph idx="1" type="body"/>
          </p:nvPr>
        </p:nvSpPr>
        <p:spPr>
          <a:xfrm>
            <a:off x="6057473" y="1503882"/>
            <a:ext cx="28149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Write down at least </a:t>
            </a:r>
            <a:br>
              <a:rPr lang="en-GB" sz="1600"/>
            </a:br>
            <a:r>
              <a:rPr lang="en-GB" sz="1600"/>
              <a:t>    two observations that </a:t>
            </a:r>
            <a:br>
              <a:rPr lang="en-GB" sz="1600"/>
            </a:br>
            <a:r>
              <a:rPr lang="en-GB" sz="1600"/>
              <a:t>    you make about any</a:t>
            </a:r>
            <a:br>
              <a:rPr lang="en-GB" sz="1600"/>
            </a:br>
            <a:r>
              <a:rPr lang="en-GB" sz="1600"/>
              <a:t>    trends in the data.</a:t>
            </a:r>
            <a:endParaRPr sz="1600"/>
          </a:p>
        </p:txBody>
      </p:sp>
      <p:sp>
        <p:nvSpPr>
          <p:cNvPr id="3052" name="Google Shape;3052;p129"/>
          <p:cNvSpPr txBox="1"/>
          <p:nvPr>
            <p:ph idx="1" type="body"/>
          </p:nvPr>
        </p:nvSpPr>
        <p:spPr>
          <a:xfrm>
            <a:off x="6256800" y="2745935"/>
            <a:ext cx="2615700" cy="1679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Examples:</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The global mean sea-surface temperatures remain relatively stable between 1945 and 1980.</a:t>
            </a:r>
            <a:endParaRPr sz="1800">
              <a:latin typeface="Kalam"/>
              <a:ea typeface="Kalam"/>
              <a:cs typeface="Kalam"/>
              <a:sym typeface="Kalam"/>
            </a:endParaRPr>
          </a:p>
        </p:txBody>
      </p:sp>
      <p:sp>
        <p:nvSpPr>
          <p:cNvPr id="3053" name="Google Shape;3053;p129"/>
          <p:cNvSpPr txBox="1"/>
          <p:nvPr>
            <p:ph idx="1" type="body"/>
          </p:nvPr>
        </p:nvSpPr>
        <p:spPr>
          <a:xfrm>
            <a:off x="951550" y="2661602"/>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7" name="Shape 3057"/>
        <p:cNvGrpSpPr/>
        <p:nvPr/>
      </p:nvGrpSpPr>
      <p:grpSpPr>
        <a:xfrm>
          <a:off x="0" y="0"/>
          <a:ext cx="0" cy="0"/>
          <a:chOff x="0" y="0"/>
          <a:chExt cx="0" cy="0"/>
        </a:xfrm>
      </p:grpSpPr>
      <p:pic>
        <p:nvPicPr>
          <p:cNvPr id="3058" name="Google Shape;3058;p130"/>
          <p:cNvPicPr preferRelativeResize="0"/>
          <p:nvPr/>
        </p:nvPicPr>
        <p:blipFill rotWithShape="1">
          <a:blip r:embed="rId3">
            <a:alphaModFix/>
          </a:blip>
          <a:srcRect b="4853" l="4662" r="0" t="1810"/>
          <a:stretch/>
        </p:blipFill>
        <p:spPr>
          <a:xfrm>
            <a:off x="1307975" y="1645275"/>
            <a:ext cx="4752876" cy="2785799"/>
          </a:xfrm>
          <a:prstGeom prst="rect">
            <a:avLst/>
          </a:prstGeom>
          <a:noFill/>
          <a:ln>
            <a:noFill/>
          </a:ln>
        </p:spPr>
      </p:pic>
      <p:sp>
        <p:nvSpPr>
          <p:cNvPr id="3059" name="Google Shape;3059;p130"/>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3060" name="Google Shape;3060;p130"/>
          <p:cNvSpPr txBox="1"/>
          <p:nvPr>
            <p:ph idx="1" type="body"/>
          </p:nvPr>
        </p:nvSpPr>
        <p:spPr>
          <a:xfrm>
            <a:off x="324000" y="810000"/>
            <a:ext cx="82377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1) The graph shows data from the Met Office and HadSST4 about sea-surface </a:t>
            </a:r>
            <a:br>
              <a:rPr lang="en-GB" sz="1600"/>
            </a:br>
            <a:r>
              <a:rPr lang="en-GB" sz="1600"/>
              <a:t>    temperatures for each year from 1851 to 2024.</a:t>
            </a:r>
            <a:endParaRPr sz="1600"/>
          </a:p>
        </p:txBody>
      </p:sp>
      <p:cxnSp>
        <p:nvCxnSpPr>
          <p:cNvPr id="3061" name="Google Shape;3061;p130"/>
          <p:cNvCxnSpPr/>
          <p:nvPr/>
        </p:nvCxnSpPr>
        <p:spPr>
          <a:xfrm>
            <a:off x="1373721" y="3365545"/>
            <a:ext cx="4729500" cy="0"/>
          </a:xfrm>
          <a:prstGeom prst="straightConnector1">
            <a:avLst/>
          </a:prstGeom>
          <a:noFill/>
          <a:ln cap="flat" cmpd="sng" w="19050">
            <a:solidFill>
              <a:schemeClr val="dk1"/>
            </a:solidFill>
            <a:prstDash val="solid"/>
            <a:round/>
            <a:headEnd len="med" w="med" type="none"/>
            <a:tailEnd len="med" w="med" type="triangle"/>
          </a:ln>
        </p:spPr>
      </p:cxnSp>
      <p:cxnSp>
        <p:nvCxnSpPr>
          <p:cNvPr id="3062" name="Google Shape;3062;p130"/>
          <p:cNvCxnSpPr/>
          <p:nvPr/>
        </p:nvCxnSpPr>
        <p:spPr>
          <a:xfrm rot="10800000">
            <a:off x="1385085" y="1457754"/>
            <a:ext cx="0" cy="2912100"/>
          </a:xfrm>
          <a:prstGeom prst="straightConnector1">
            <a:avLst/>
          </a:prstGeom>
          <a:noFill/>
          <a:ln cap="flat" cmpd="sng" w="28575">
            <a:solidFill>
              <a:schemeClr val="dk1"/>
            </a:solidFill>
            <a:prstDash val="solid"/>
            <a:round/>
            <a:headEnd len="med" w="med" type="none"/>
            <a:tailEnd len="med" w="med" type="triangle"/>
          </a:ln>
        </p:spPr>
      </p:cxnSp>
      <p:sp>
        <p:nvSpPr>
          <p:cNvPr id="3063" name="Google Shape;3063;p130"/>
          <p:cNvSpPr txBox="1"/>
          <p:nvPr>
            <p:ph idx="1" type="body"/>
          </p:nvPr>
        </p:nvSpPr>
        <p:spPr>
          <a:xfrm>
            <a:off x="120356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3064" name="Google Shape;3064;p130"/>
          <p:cNvSpPr txBox="1"/>
          <p:nvPr>
            <p:ph idx="1" type="body"/>
          </p:nvPr>
        </p:nvSpPr>
        <p:spPr>
          <a:xfrm rot="-5400000">
            <a:off x="-1083043" y="2809756"/>
            <a:ext cx="3388500" cy="6465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600"/>
          </a:p>
        </p:txBody>
      </p:sp>
      <p:sp>
        <p:nvSpPr>
          <p:cNvPr id="3065" name="Google Shape;3065;p130"/>
          <p:cNvSpPr txBox="1"/>
          <p:nvPr>
            <p:ph idx="1" type="body"/>
          </p:nvPr>
        </p:nvSpPr>
        <p:spPr>
          <a:xfrm>
            <a:off x="952288" y="1540619"/>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3066" name="Google Shape;3066;p130"/>
          <p:cNvSpPr txBox="1"/>
          <p:nvPr>
            <p:ph idx="1" type="body"/>
          </p:nvPr>
        </p:nvSpPr>
        <p:spPr>
          <a:xfrm>
            <a:off x="951550" y="208206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3067" name="Google Shape;3067;p130"/>
          <p:cNvSpPr txBox="1"/>
          <p:nvPr>
            <p:ph idx="1" type="body"/>
          </p:nvPr>
        </p:nvSpPr>
        <p:spPr>
          <a:xfrm>
            <a:off x="951550" y="325589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3068" name="Google Shape;3068;p130"/>
          <p:cNvSpPr txBox="1"/>
          <p:nvPr>
            <p:ph idx="1" type="body"/>
          </p:nvPr>
        </p:nvSpPr>
        <p:spPr>
          <a:xfrm>
            <a:off x="951550" y="3813867"/>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069" name="Google Shape;3069;p130"/>
          <p:cNvSpPr txBox="1"/>
          <p:nvPr>
            <p:ph idx="1" type="body"/>
          </p:nvPr>
        </p:nvSpPr>
        <p:spPr>
          <a:xfrm>
            <a:off x="2110487" y="438247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3070" name="Google Shape;3070;p130"/>
          <p:cNvSpPr txBox="1"/>
          <p:nvPr>
            <p:ph idx="1" type="body"/>
          </p:nvPr>
        </p:nvSpPr>
        <p:spPr>
          <a:xfrm>
            <a:off x="3025102" y="4382472"/>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3071" name="Google Shape;3071;p130"/>
          <p:cNvSpPr txBox="1"/>
          <p:nvPr>
            <p:ph idx="1" type="body"/>
          </p:nvPr>
        </p:nvSpPr>
        <p:spPr>
          <a:xfrm>
            <a:off x="3950961" y="4382470"/>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3072" name="Google Shape;3072;p130"/>
          <p:cNvSpPr txBox="1"/>
          <p:nvPr>
            <p:ph idx="1" type="body"/>
          </p:nvPr>
        </p:nvSpPr>
        <p:spPr>
          <a:xfrm>
            <a:off x="4871196" y="4382474"/>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3073" name="Google Shape;3073;p130"/>
          <p:cNvSpPr txBox="1"/>
          <p:nvPr>
            <p:ph idx="1" type="body"/>
          </p:nvPr>
        </p:nvSpPr>
        <p:spPr>
          <a:xfrm>
            <a:off x="3461249" y="4595650"/>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3074" name="Google Shape;3074;p130"/>
          <p:cNvSpPr txBox="1"/>
          <p:nvPr>
            <p:ph idx="1" type="body"/>
          </p:nvPr>
        </p:nvSpPr>
        <p:spPr>
          <a:xfrm>
            <a:off x="5752198" y="4382472"/>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3075" name="Google Shape;3075;p130"/>
          <p:cNvSpPr txBox="1"/>
          <p:nvPr>
            <p:ph idx="1" type="body"/>
          </p:nvPr>
        </p:nvSpPr>
        <p:spPr>
          <a:xfrm>
            <a:off x="6057473" y="1503882"/>
            <a:ext cx="28149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Write down at least </a:t>
            </a:r>
            <a:br>
              <a:rPr lang="en-GB" sz="1600"/>
            </a:br>
            <a:r>
              <a:rPr lang="en-GB" sz="1600"/>
              <a:t>    two observations that </a:t>
            </a:r>
            <a:br>
              <a:rPr lang="en-GB" sz="1600"/>
            </a:br>
            <a:r>
              <a:rPr lang="en-GB" sz="1600"/>
              <a:t>    you make about any</a:t>
            </a:r>
            <a:br>
              <a:rPr lang="en-GB" sz="1600"/>
            </a:br>
            <a:r>
              <a:rPr lang="en-GB" sz="1600"/>
              <a:t>    trends in the data.</a:t>
            </a:r>
            <a:endParaRPr sz="1600"/>
          </a:p>
        </p:txBody>
      </p:sp>
      <p:sp>
        <p:nvSpPr>
          <p:cNvPr id="3076" name="Google Shape;3076;p130"/>
          <p:cNvSpPr txBox="1"/>
          <p:nvPr>
            <p:ph idx="1" type="body"/>
          </p:nvPr>
        </p:nvSpPr>
        <p:spPr>
          <a:xfrm>
            <a:off x="6256800" y="2745935"/>
            <a:ext cx="2615700" cy="104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Examples:</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There is a clear upward trend from 1980 onwards.</a:t>
            </a:r>
            <a:endParaRPr sz="1800">
              <a:latin typeface="Kalam"/>
              <a:ea typeface="Kalam"/>
              <a:cs typeface="Kalam"/>
              <a:sym typeface="Kalam"/>
            </a:endParaRPr>
          </a:p>
        </p:txBody>
      </p:sp>
      <p:sp>
        <p:nvSpPr>
          <p:cNvPr id="3077" name="Google Shape;3077;p130"/>
          <p:cNvSpPr txBox="1"/>
          <p:nvPr>
            <p:ph idx="1" type="body"/>
          </p:nvPr>
        </p:nvSpPr>
        <p:spPr>
          <a:xfrm>
            <a:off x="951550" y="2661602"/>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1" name="Shape 3081"/>
        <p:cNvGrpSpPr/>
        <p:nvPr/>
      </p:nvGrpSpPr>
      <p:grpSpPr>
        <a:xfrm>
          <a:off x="0" y="0"/>
          <a:ext cx="0" cy="0"/>
          <a:chOff x="0" y="0"/>
          <a:chExt cx="0" cy="0"/>
        </a:xfrm>
      </p:grpSpPr>
      <p:pic>
        <p:nvPicPr>
          <p:cNvPr id="3082" name="Google Shape;3082;p131"/>
          <p:cNvPicPr preferRelativeResize="0"/>
          <p:nvPr/>
        </p:nvPicPr>
        <p:blipFill rotWithShape="1">
          <a:blip r:embed="rId3">
            <a:alphaModFix/>
          </a:blip>
          <a:srcRect b="4853" l="4662" r="0" t="1810"/>
          <a:stretch/>
        </p:blipFill>
        <p:spPr>
          <a:xfrm>
            <a:off x="1307975" y="1050915"/>
            <a:ext cx="4752876" cy="2785799"/>
          </a:xfrm>
          <a:prstGeom prst="rect">
            <a:avLst/>
          </a:prstGeom>
          <a:noFill/>
          <a:ln>
            <a:noFill/>
          </a:ln>
        </p:spPr>
      </p:pic>
      <p:sp>
        <p:nvSpPr>
          <p:cNvPr id="3083" name="Google Shape;3083;p131"/>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3084" name="Google Shape;3084;p131"/>
          <p:cNvCxnSpPr/>
          <p:nvPr/>
        </p:nvCxnSpPr>
        <p:spPr>
          <a:xfrm>
            <a:off x="1373721" y="2771185"/>
            <a:ext cx="4729500" cy="0"/>
          </a:xfrm>
          <a:prstGeom prst="straightConnector1">
            <a:avLst/>
          </a:prstGeom>
          <a:noFill/>
          <a:ln cap="flat" cmpd="sng" w="19050">
            <a:solidFill>
              <a:schemeClr val="dk1"/>
            </a:solidFill>
            <a:prstDash val="solid"/>
            <a:round/>
            <a:headEnd len="med" w="med" type="none"/>
            <a:tailEnd len="med" w="med" type="triangle"/>
          </a:ln>
        </p:spPr>
      </p:cxnSp>
      <p:cxnSp>
        <p:nvCxnSpPr>
          <p:cNvPr id="3085" name="Google Shape;3085;p131"/>
          <p:cNvCxnSpPr/>
          <p:nvPr/>
        </p:nvCxnSpPr>
        <p:spPr>
          <a:xfrm rot="10800000">
            <a:off x="1385085" y="863394"/>
            <a:ext cx="0" cy="2912100"/>
          </a:xfrm>
          <a:prstGeom prst="straightConnector1">
            <a:avLst/>
          </a:prstGeom>
          <a:noFill/>
          <a:ln cap="flat" cmpd="sng" w="28575">
            <a:solidFill>
              <a:schemeClr val="dk1"/>
            </a:solidFill>
            <a:prstDash val="solid"/>
            <a:round/>
            <a:headEnd len="med" w="med" type="none"/>
            <a:tailEnd len="med" w="med" type="triangle"/>
          </a:ln>
        </p:spPr>
      </p:cxnSp>
      <p:sp>
        <p:nvSpPr>
          <p:cNvPr id="3086" name="Google Shape;3086;p131"/>
          <p:cNvSpPr txBox="1"/>
          <p:nvPr>
            <p:ph idx="1" type="body"/>
          </p:nvPr>
        </p:nvSpPr>
        <p:spPr>
          <a:xfrm>
            <a:off x="1203567" y="378811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1850</a:t>
            </a:r>
            <a:endParaRPr sz="1400"/>
          </a:p>
        </p:txBody>
      </p:sp>
      <p:sp>
        <p:nvSpPr>
          <p:cNvPr id="3087" name="Google Shape;3087;p131"/>
          <p:cNvSpPr txBox="1"/>
          <p:nvPr>
            <p:ph idx="1" type="body"/>
          </p:nvPr>
        </p:nvSpPr>
        <p:spPr>
          <a:xfrm rot="-5400000">
            <a:off x="-1083043" y="2215396"/>
            <a:ext cx="3388500" cy="6465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400"/>
              <a:t>annual global mean sea-surface temperature expressed as a difference from 1981-2010 average (°C)</a:t>
            </a:r>
            <a:endParaRPr sz="1600"/>
          </a:p>
        </p:txBody>
      </p:sp>
      <p:sp>
        <p:nvSpPr>
          <p:cNvPr id="3088" name="Google Shape;3088;p131"/>
          <p:cNvSpPr txBox="1"/>
          <p:nvPr>
            <p:ph idx="1" type="body"/>
          </p:nvPr>
        </p:nvSpPr>
        <p:spPr>
          <a:xfrm>
            <a:off x="952288" y="946259"/>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3089" name="Google Shape;3089;p131"/>
          <p:cNvSpPr txBox="1"/>
          <p:nvPr>
            <p:ph idx="1" type="body"/>
          </p:nvPr>
        </p:nvSpPr>
        <p:spPr>
          <a:xfrm>
            <a:off x="951550" y="148770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3090" name="Google Shape;3090;p131"/>
          <p:cNvSpPr txBox="1"/>
          <p:nvPr>
            <p:ph idx="1" type="body"/>
          </p:nvPr>
        </p:nvSpPr>
        <p:spPr>
          <a:xfrm>
            <a:off x="951550" y="2067242"/>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091" name="Google Shape;3091;p131"/>
          <p:cNvSpPr txBox="1"/>
          <p:nvPr>
            <p:ph idx="1" type="body"/>
          </p:nvPr>
        </p:nvSpPr>
        <p:spPr>
          <a:xfrm>
            <a:off x="951550" y="2661530"/>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3092" name="Google Shape;3092;p131"/>
          <p:cNvSpPr txBox="1"/>
          <p:nvPr>
            <p:ph idx="1" type="body"/>
          </p:nvPr>
        </p:nvSpPr>
        <p:spPr>
          <a:xfrm>
            <a:off x="951550" y="3219507"/>
            <a:ext cx="3678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093" name="Google Shape;3093;p131"/>
          <p:cNvSpPr txBox="1"/>
          <p:nvPr>
            <p:ph idx="1" type="body"/>
          </p:nvPr>
        </p:nvSpPr>
        <p:spPr>
          <a:xfrm>
            <a:off x="2110487" y="3788112"/>
            <a:ext cx="487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1900</a:t>
            </a:r>
            <a:endParaRPr sz="1400"/>
          </a:p>
        </p:txBody>
      </p:sp>
      <p:sp>
        <p:nvSpPr>
          <p:cNvPr id="3094" name="Google Shape;3094;p131"/>
          <p:cNvSpPr txBox="1"/>
          <p:nvPr>
            <p:ph idx="1" type="body"/>
          </p:nvPr>
        </p:nvSpPr>
        <p:spPr>
          <a:xfrm>
            <a:off x="3025102" y="3788112"/>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1950</a:t>
            </a:r>
            <a:endParaRPr sz="1400"/>
          </a:p>
        </p:txBody>
      </p:sp>
      <p:sp>
        <p:nvSpPr>
          <p:cNvPr id="3095" name="Google Shape;3095;p131"/>
          <p:cNvSpPr txBox="1"/>
          <p:nvPr>
            <p:ph idx="1" type="body"/>
          </p:nvPr>
        </p:nvSpPr>
        <p:spPr>
          <a:xfrm>
            <a:off x="3950961" y="3788110"/>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3096" name="Google Shape;3096;p131"/>
          <p:cNvSpPr txBox="1"/>
          <p:nvPr>
            <p:ph idx="1" type="body"/>
          </p:nvPr>
        </p:nvSpPr>
        <p:spPr>
          <a:xfrm>
            <a:off x="4871196" y="3788114"/>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2050</a:t>
            </a:r>
            <a:endParaRPr sz="1400"/>
          </a:p>
        </p:txBody>
      </p:sp>
      <p:sp>
        <p:nvSpPr>
          <p:cNvPr id="3097" name="Google Shape;3097;p131"/>
          <p:cNvSpPr txBox="1"/>
          <p:nvPr>
            <p:ph idx="1" type="body"/>
          </p:nvPr>
        </p:nvSpPr>
        <p:spPr>
          <a:xfrm>
            <a:off x="3461249" y="3993670"/>
            <a:ext cx="4002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3098" name="Google Shape;3098;p131"/>
          <p:cNvSpPr txBox="1"/>
          <p:nvPr>
            <p:ph idx="1" type="body"/>
          </p:nvPr>
        </p:nvSpPr>
        <p:spPr>
          <a:xfrm>
            <a:off x="5752198" y="3788112"/>
            <a:ext cx="5400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2100</a:t>
            </a:r>
            <a:endParaRPr sz="1400"/>
          </a:p>
        </p:txBody>
      </p:sp>
      <p:sp>
        <p:nvSpPr>
          <p:cNvPr id="3099" name="Google Shape;3099;p131"/>
          <p:cNvSpPr txBox="1"/>
          <p:nvPr>
            <p:ph idx="1" type="body"/>
          </p:nvPr>
        </p:nvSpPr>
        <p:spPr>
          <a:xfrm>
            <a:off x="6057473" y="970482"/>
            <a:ext cx="2814900" cy="2896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600"/>
              <a:t>b) If the trend in mean </a:t>
            </a:r>
            <a:br>
              <a:rPr lang="en-GB" sz="1600"/>
            </a:br>
            <a:r>
              <a:rPr lang="en-GB" sz="1600"/>
              <a:t>    global sea-surface </a:t>
            </a:r>
            <a:br>
              <a:rPr lang="en-GB" sz="1600"/>
            </a:br>
            <a:r>
              <a:rPr lang="en-GB" sz="1600"/>
              <a:t>    temperatures continues in </a:t>
            </a:r>
            <a:br>
              <a:rPr lang="en-GB" sz="1600"/>
            </a:br>
            <a:r>
              <a:rPr lang="en-GB" sz="1600"/>
              <a:t>    the way it has since 1970, </a:t>
            </a:r>
            <a:br>
              <a:rPr lang="en-GB" sz="1600"/>
            </a:br>
            <a:r>
              <a:rPr lang="en-GB" sz="1600"/>
              <a:t>    what range of data could  </a:t>
            </a:r>
            <a:br>
              <a:rPr lang="en-GB" sz="1600"/>
            </a:br>
            <a:r>
              <a:rPr lang="en-GB" sz="1600"/>
              <a:t>    we expect to observe in:</a:t>
            </a:r>
            <a:endParaRPr sz="1600"/>
          </a:p>
          <a:p>
            <a:pPr indent="0" lvl="0" marL="0" rtl="0" algn="l">
              <a:spcBef>
                <a:spcPts val="1000"/>
              </a:spcBef>
              <a:spcAft>
                <a:spcPts val="0"/>
              </a:spcAft>
              <a:buNone/>
            </a:pPr>
            <a:r>
              <a:rPr lang="en-GB" sz="1600"/>
              <a:t>   i) 2040?</a:t>
            </a:r>
            <a:endParaRPr sz="1600"/>
          </a:p>
          <a:p>
            <a:pPr indent="0" lvl="0" marL="0" rtl="0" algn="l">
              <a:spcBef>
                <a:spcPts val="1000"/>
              </a:spcBef>
              <a:spcAft>
                <a:spcPts val="0"/>
              </a:spcAft>
              <a:buNone/>
            </a:pPr>
            <a:r>
              <a:rPr lang="en-GB" sz="1600"/>
              <a:t>   ii) 2050?</a:t>
            </a:r>
            <a:endParaRPr sz="1600"/>
          </a:p>
          <a:p>
            <a:pPr indent="0" lvl="0" marL="0" rtl="0" algn="l">
              <a:spcBef>
                <a:spcPts val="1000"/>
              </a:spcBef>
              <a:spcAft>
                <a:spcPts val="1000"/>
              </a:spcAft>
              <a:buNone/>
            </a:pPr>
            <a:r>
              <a:rPr lang="en-GB" sz="1600"/>
              <a:t>   iii) 2060?</a:t>
            </a:r>
            <a:endParaRPr sz="1600"/>
          </a:p>
        </p:txBody>
      </p:sp>
      <p:cxnSp>
        <p:nvCxnSpPr>
          <p:cNvPr id="3100" name="Google Shape;3100;p131"/>
          <p:cNvCxnSpPr/>
          <p:nvPr/>
        </p:nvCxnSpPr>
        <p:spPr>
          <a:xfrm flipH="1" rot="10800000">
            <a:off x="3482350" y="1508815"/>
            <a:ext cx="1737900" cy="1584900"/>
          </a:xfrm>
          <a:prstGeom prst="straightConnector1">
            <a:avLst/>
          </a:prstGeom>
          <a:noFill/>
          <a:ln cap="flat" cmpd="sng" w="28575">
            <a:solidFill>
              <a:schemeClr val="dk2"/>
            </a:solidFill>
            <a:prstDash val="solid"/>
            <a:round/>
            <a:headEnd len="med" w="med" type="none"/>
            <a:tailEnd len="med" w="med" type="none"/>
          </a:ln>
        </p:spPr>
      </p:cxnSp>
      <p:cxnSp>
        <p:nvCxnSpPr>
          <p:cNvPr id="3101" name="Google Shape;3101;p131"/>
          <p:cNvCxnSpPr/>
          <p:nvPr/>
        </p:nvCxnSpPr>
        <p:spPr>
          <a:xfrm flipH="1" rot="10800000">
            <a:off x="3520450" y="1851715"/>
            <a:ext cx="1691700" cy="1546800"/>
          </a:xfrm>
          <a:prstGeom prst="straightConnector1">
            <a:avLst/>
          </a:prstGeom>
          <a:noFill/>
          <a:ln cap="flat" cmpd="sng" w="28575">
            <a:solidFill>
              <a:schemeClr val="dk2"/>
            </a:solidFill>
            <a:prstDash val="solid"/>
            <a:round/>
            <a:headEnd len="med" w="med" type="none"/>
            <a:tailEnd len="med" w="med" type="none"/>
          </a:ln>
        </p:spPr>
      </p:cxnSp>
      <p:sp>
        <p:nvSpPr>
          <p:cNvPr id="3102" name="Google Shape;3102;p131"/>
          <p:cNvSpPr txBox="1"/>
          <p:nvPr>
            <p:ph idx="1" type="body"/>
          </p:nvPr>
        </p:nvSpPr>
        <p:spPr>
          <a:xfrm>
            <a:off x="7271325" y="2761712"/>
            <a:ext cx="1601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0.5 to 0.8°C</a:t>
            </a:r>
            <a:endParaRPr sz="1800">
              <a:latin typeface="Kalam"/>
              <a:ea typeface="Kalam"/>
              <a:cs typeface="Kalam"/>
              <a:sym typeface="Kalam"/>
            </a:endParaRPr>
          </a:p>
        </p:txBody>
      </p:sp>
      <p:sp>
        <p:nvSpPr>
          <p:cNvPr id="3103" name="Google Shape;3103;p131"/>
          <p:cNvSpPr txBox="1"/>
          <p:nvPr>
            <p:ph idx="1" type="body"/>
          </p:nvPr>
        </p:nvSpPr>
        <p:spPr>
          <a:xfrm>
            <a:off x="7271325" y="3166288"/>
            <a:ext cx="1601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0.65 to 0.95°C</a:t>
            </a:r>
            <a:endParaRPr sz="1800">
              <a:latin typeface="Kalam"/>
              <a:ea typeface="Kalam"/>
              <a:cs typeface="Kalam"/>
              <a:sym typeface="Kalam"/>
            </a:endParaRPr>
          </a:p>
        </p:txBody>
      </p:sp>
      <p:sp>
        <p:nvSpPr>
          <p:cNvPr id="3104" name="Google Shape;3104;p131"/>
          <p:cNvSpPr txBox="1"/>
          <p:nvPr>
            <p:ph idx="1" type="body"/>
          </p:nvPr>
        </p:nvSpPr>
        <p:spPr>
          <a:xfrm>
            <a:off x="7271325" y="3578863"/>
            <a:ext cx="16011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0.8 to 1.1°C</a:t>
            </a:r>
            <a:endParaRPr sz="1800">
              <a:latin typeface="Kalam"/>
              <a:ea typeface="Kalam"/>
              <a:cs typeface="Kalam"/>
              <a:sym typeface="Kalam"/>
            </a:endParaRPr>
          </a:p>
        </p:txBody>
      </p:sp>
      <p:sp>
        <p:nvSpPr>
          <p:cNvPr id="3105" name="Google Shape;3105;p131"/>
          <p:cNvSpPr txBox="1"/>
          <p:nvPr>
            <p:ph idx="1" type="body"/>
          </p:nvPr>
        </p:nvSpPr>
        <p:spPr>
          <a:xfrm>
            <a:off x="1571845" y="4538725"/>
            <a:ext cx="60024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Pupils’ answers may differ slightly from the values given.</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9" name="Shape 3109"/>
        <p:cNvGrpSpPr/>
        <p:nvPr/>
      </p:nvGrpSpPr>
      <p:grpSpPr>
        <a:xfrm>
          <a:off x="0" y="0"/>
          <a:ext cx="0" cy="0"/>
          <a:chOff x="0" y="0"/>
          <a:chExt cx="0" cy="0"/>
        </a:xfrm>
      </p:grpSpPr>
      <p:pic>
        <p:nvPicPr>
          <p:cNvPr id="3110" name="Google Shape;3110;p132"/>
          <p:cNvPicPr preferRelativeResize="0"/>
          <p:nvPr/>
        </p:nvPicPr>
        <p:blipFill rotWithShape="1">
          <a:blip r:embed="rId3">
            <a:alphaModFix/>
          </a:blip>
          <a:srcRect b="3744" l="4251" r="0" t="0"/>
          <a:stretch/>
        </p:blipFill>
        <p:spPr>
          <a:xfrm>
            <a:off x="1363353" y="1615475"/>
            <a:ext cx="4675516" cy="2866096"/>
          </a:xfrm>
          <a:prstGeom prst="rect">
            <a:avLst/>
          </a:prstGeom>
          <a:noFill/>
          <a:ln>
            <a:noFill/>
          </a:ln>
        </p:spPr>
      </p:pic>
      <p:sp>
        <p:nvSpPr>
          <p:cNvPr id="3111" name="Google Shape;3111;p132"/>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3112" name="Google Shape;3112;p132"/>
          <p:cNvSpPr txBox="1"/>
          <p:nvPr>
            <p:ph idx="1" type="body"/>
          </p:nvPr>
        </p:nvSpPr>
        <p:spPr>
          <a:xfrm>
            <a:off x="324000" y="810000"/>
            <a:ext cx="8496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 The graph shows data from the Met Office and OSI SAF about sea ice in the Arctic </a:t>
            </a:r>
            <a:br>
              <a:rPr lang="en-GB" sz="1600"/>
            </a:br>
            <a:r>
              <a:rPr lang="en-GB" sz="1600"/>
              <a:t>    for each January from 1980 to 2024.</a:t>
            </a:r>
            <a:endParaRPr sz="1600"/>
          </a:p>
        </p:txBody>
      </p:sp>
      <p:cxnSp>
        <p:nvCxnSpPr>
          <p:cNvPr id="3113" name="Google Shape;3113;p132"/>
          <p:cNvCxnSpPr/>
          <p:nvPr/>
        </p:nvCxnSpPr>
        <p:spPr>
          <a:xfrm>
            <a:off x="1424428" y="2357555"/>
            <a:ext cx="4603200" cy="0"/>
          </a:xfrm>
          <a:prstGeom prst="straightConnector1">
            <a:avLst/>
          </a:prstGeom>
          <a:noFill/>
          <a:ln cap="flat" cmpd="sng" w="19050">
            <a:solidFill>
              <a:schemeClr val="dk1"/>
            </a:solidFill>
            <a:prstDash val="solid"/>
            <a:round/>
            <a:headEnd len="med" w="med" type="none"/>
            <a:tailEnd len="med" w="med" type="triangle"/>
          </a:ln>
        </p:spPr>
      </p:cxnSp>
      <p:cxnSp>
        <p:nvCxnSpPr>
          <p:cNvPr id="3114" name="Google Shape;3114;p132"/>
          <p:cNvCxnSpPr/>
          <p:nvPr/>
        </p:nvCxnSpPr>
        <p:spPr>
          <a:xfrm rot="10800000">
            <a:off x="1441823" y="1453271"/>
            <a:ext cx="0" cy="2924100"/>
          </a:xfrm>
          <a:prstGeom prst="straightConnector1">
            <a:avLst/>
          </a:prstGeom>
          <a:noFill/>
          <a:ln cap="flat" cmpd="sng" w="28575">
            <a:solidFill>
              <a:schemeClr val="dk1"/>
            </a:solidFill>
            <a:prstDash val="solid"/>
            <a:round/>
            <a:headEnd len="med" w="med" type="none"/>
            <a:tailEnd len="med" w="med" type="triangle"/>
          </a:ln>
        </p:spPr>
      </p:cxnSp>
      <p:sp>
        <p:nvSpPr>
          <p:cNvPr id="3115" name="Google Shape;3115;p132"/>
          <p:cNvSpPr txBox="1"/>
          <p:nvPr>
            <p:ph idx="1" type="body"/>
          </p:nvPr>
        </p:nvSpPr>
        <p:spPr>
          <a:xfrm>
            <a:off x="1264700" y="43779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3116" name="Google Shape;3116;p132"/>
          <p:cNvSpPr txBox="1"/>
          <p:nvPr>
            <p:ph idx="1" type="body"/>
          </p:nvPr>
        </p:nvSpPr>
        <p:spPr>
          <a:xfrm>
            <a:off x="1019620" y="158012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3117" name="Google Shape;3117;p132"/>
          <p:cNvSpPr txBox="1"/>
          <p:nvPr>
            <p:ph idx="1" type="body"/>
          </p:nvPr>
        </p:nvSpPr>
        <p:spPr>
          <a:xfrm>
            <a:off x="1018900" y="190686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118" name="Google Shape;3118;p132"/>
          <p:cNvSpPr txBox="1"/>
          <p:nvPr>
            <p:ph idx="1" type="body"/>
          </p:nvPr>
        </p:nvSpPr>
        <p:spPr>
          <a:xfrm>
            <a:off x="1018900" y="224243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3119" name="Google Shape;3119;p132"/>
          <p:cNvSpPr txBox="1"/>
          <p:nvPr>
            <p:ph idx="1" type="body"/>
          </p:nvPr>
        </p:nvSpPr>
        <p:spPr>
          <a:xfrm>
            <a:off x="1018900" y="325137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3120" name="Google Shape;3120;p132"/>
          <p:cNvSpPr txBox="1"/>
          <p:nvPr>
            <p:ph idx="1" type="body"/>
          </p:nvPr>
        </p:nvSpPr>
        <p:spPr>
          <a:xfrm>
            <a:off x="1018900" y="3926140"/>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-3.0</a:t>
            </a:r>
            <a:endParaRPr sz="1400"/>
          </a:p>
        </p:txBody>
      </p:sp>
      <p:sp>
        <p:nvSpPr>
          <p:cNvPr id="3121" name="Google Shape;3121;p132"/>
          <p:cNvSpPr txBox="1"/>
          <p:nvPr>
            <p:ph idx="1" type="body"/>
          </p:nvPr>
        </p:nvSpPr>
        <p:spPr>
          <a:xfrm>
            <a:off x="2001951" y="43779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3122" name="Google Shape;3122;p132"/>
          <p:cNvSpPr txBox="1"/>
          <p:nvPr>
            <p:ph idx="1" type="body"/>
          </p:nvPr>
        </p:nvSpPr>
        <p:spPr>
          <a:xfrm>
            <a:off x="2746710" y="43779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3123" name="Google Shape;3123;p132"/>
          <p:cNvSpPr txBox="1"/>
          <p:nvPr>
            <p:ph idx="1" type="body"/>
          </p:nvPr>
        </p:nvSpPr>
        <p:spPr>
          <a:xfrm>
            <a:off x="3498816" y="4377951"/>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3124" name="Google Shape;3124;p132"/>
          <p:cNvSpPr txBox="1"/>
          <p:nvPr>
            <p:ph idx="1" type="body"/>
          </p:nvPr>
        </p:nvSpPr>
        <p:spPr>
          <a:xfrm>
            <a:off x="4234615" y="43779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3125" name="Google Shape;3125;p132"/>
          <p:cNvSpPr txBox="1"/>
          <p:nvPr>
            <p:ph idx="1" type="body"/>
          </p:nvPr>
        </p:nvSpPr>
        <p:spPr>
          <a:xfrm>
            <a:off x="3503054" y="4595650"/>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3126" name="Google Shape;3126;p132"/>
          <p:cNvSpPr txBox="1"/>
          <p:nvPr>
            <p:ph idx="1" type="body"/>
          </p:nvPr>
        </p:nvSpPr>
        <p:spPr>
          <a:xfrm>
            <a:off x="5701020" y="43779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2040</a:t>
            </a:r>
            <a:endParaRPr sz="1400"/>
          </a:p>
        </p:txBody>
      </p:sp>
      <p:sp>
        <p:nvSpPr>
          <p:cNvPr id="3127" name="Google Shape;3127;p132"/>
          <p:cNvSpPr txBox="1"/>
          <p:nvPr>
            <p:ph idx="1" type="body"/>
          </p:nvPr>
        </p:nvSpPr>
        <p:spPr>
          <a:xfrm>
            <a:off x="1018900" y="2587826"/>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128" name="Google Shape;3128;p132"/>
          <p:cNvSpPr txBox="1"/>
          <p:nvPr>
            <p:ph idx="1" type="body"/>
          </p:nvPr>
        </p:nvSpPr>
        <p:spPr>
          <a:xfrm>
            <a:off x="1018900" y="2928767"/>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3129" name="Google Shape;3129;p132"/>
          <p:cNvSpPr txBox="1"/>
          <p:nvPr>
            <p:ph idx="1" type="body"/>
          </p:nvPr>
        </p:nvSpPr>
        <p:spPr>
          <a:xfrm>
            <a:off x="1018900" y="358786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3130" name="Google Shape;3130;p132"/>
          <p:cNvSpPr txBox="1"/>
          <p:nvPr>
            <p:ph idx="1" type="body"/>
          </p:nvPr>
        </p:nvSpPr>
        <p:spPr>
          <a:xfrm>
            <a:off x="4981830" y="43779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2030</a:t>
            </a:r>
            <a:endParaRPr sz="1400"/>
          </a:p>
        </p:txBody>
      </p:sp>
      <p:sp>
        <p:nvSpPr>
          <p:cNvPr id="3131" name="Google Shape;3131;p132"/>
          <p:cNvSpPr txBox="1"/>
          <p:nvPr>
            <p:ph idx="1" type="body"/>
          </p:nvPr>
        </p:nvSpPr>
        <p:spPr>
          <a:xfrm>
            <a:off x="6030940" y="1642026"/>
            <a:ext cx="28764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Write down at least one </a:t>
            </a:r>
            <a:br>
              <a:rPr lang="en-GB" sz="1600"/>
            </a:br>
            <a:r>
              <a:rPr lang="en-GB" sz="1600"/>
              <a:t>    observation that you </a:t>
            </a:r>
            <a:br>
              <a:rPr lang="en-GB" sz="1600"/>
            </a:br>
            <a:r>
              <a:rPr lang="en-GB" sz="1600"/>
              <a:t>    make about any trends in </a:t>
            </a:r>
            <a:br>
              <a:rPr lang="en-GB" sz="1600"/>
            </a:br>
            <a:r>
              <a:rPr lang="en-GB" sz="1600"/>
              <a:t>    the data.</a:t>
            </a:r>
            <a:endParaRPr sz="1600"/>
          </a:p>
        </p:txBody>
      </p:sp>
      <p:sp>
        <p:nvSpPr>
          <p:cNvPr id="3132" name="Google Shape;3132;p132"/>
          <p:cNvSpPr txBox="1"/>
          <p:nvPr>
            <p:ph idx="1" type="body"/>
          </p:nvPr>
        </p:nvSpPr>
        <p:spPr>
          <a:xfrm rot="-5400000">
            <a:off x="-968275" y="2891650"/>
            <a:ext cx="3246300" cy="624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Arctic sea ice extent for January expressed as a difference from the 1981-2010 average for each January (million km</a:t>
            </a:r>
            <a:r>
              <a:rPr baseline="30000" lang="en-GB" sz="1300"/>
              <a:t>2</a:t>
            </a:r>
            <a:r>
              <a:rPr lang="en-GB" sz="1200"/>
              <a:t>)</a:t>
            </a:r>
            <a:endParaRPr sz="1200"/>
          </a:p>
        </p:txBody>
      </p:sp>
      <p:sp>
        <p:nvSpPr>
          <p:cNvPr id="3133" name="Google Shape;3133;p132"/>
          <p:cNvSpPr txBox="1"/>
          <p:nvPr>
            <p:ph idx="1" type="body"/>
          </p:nvPr>
        </p:nvSpPr>
        <p:spPr>
          <a:xfrm>
            <a:off x="6249180" y="2905945"/>
            <a:ext cx="2468100" cy="1361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Examples:</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Overall, there is a downward trend from 1980 onwards.</a:t>
            </a:r>
            <a:endParaRPr sz="1800">
              <a:latin typeface="Kalam"/>
              <a:ea typeface="Kalam"/>
              <a:cs typeface="Kalam"/>
              <a:sym typeface="Kalam"/>
            </a:endParaRPr>
          </a:p>
        </p:txBody>
      </p:sp>
      <p:cxnSp>
        <p:nvCxnSpPr>
          <p:cNvPr id="3134" name="Google Shape;3134;p132"/>
          <p:cNvCxnSpPr/>
          <p:nvPr/>
        </p:nvCxnSpPr>
        <p:spPr>
          <a:xfrm>
            <a:off x="1524000" y="1668775"/>
            <a:ext cx="3703200" cy="1463100"/>
          </a:xfrm>
          <a:prstGeom prst="straightConnector1">
            <a:avLst/>
          </a:prstGeom>
          <a:noFill/>
          <a:ln cap="flat" cmpd="sng" w="28575">
            <a:solidFill>
              <a:schemeClr val="dk2"/>
            </a:solidFill>
            <a:prstDash val="solid"/>
            <a:round/>
            <a:headEnd len="med" w="med" type="none"/>
            <a:tailEnd len="med" w="med" type="none"/>
          </a:ln>
        </p:spPr>
      </p:cxnSp>
      <p:cxnSp>
        <p:nvCxnSpPr>
          <p:cNvPr id="3135" name="Google Shape;3135;p132"/>
          <p:cNvCxnSpPr/>
          <p:nvPr/>
        </p:nvCxnSpPr>
        <p:spPr>
          <a:xfrm>
            <a:off x="1426125" y="2242300"/>
            <a:ext cx="3831900" cy="14532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9" name="Shape 3139"/>
        <p:cNvGrpSpPr/>
        <p:nvPr/>
      </p:nvGrpSpPr>
      <p:grpSpPr>
        <a:xfrm>
          <a:off x="0" y="0"/>
          <a:ext cx="0" cy="0"/>
          <a:chOff x="0" y="0"/>
          <a:chExt cx="0" cy="0"/>
        </a:xfrm>
      </p:grpSpPr>
      <p:pic>
        <p:nvPicPr>
          <p:cNvPr id="3140" name="Google Shape;3140;p133"/>
          <p:cNvPicPr preferRelativeResize="0"/>
          <p:nvPr/>
        </p:nvPicPr>
        <p:blipFill rotWithShape="1">
          <a:blip r:embed="rId3">
            <a:alphaModFix/>
          </a:blip>
          <a:srcRect b="3744" l="4251" r="0" t="0"/>
          <a:stretch/>
        </p:blipFill>
        <p:spPr>
          <a:xfrm>
            <a:off x="1363353" y="1615475"/>
            <a:ext cx="4675516" cy="2866096"/>
          </a:xfrm>
          <a:prstGeom prst="rect">
            <a:avLst/>
          </a:prstGeom>
          <a:noFill/>
          <a:ln>
            <a:noFill/>
          </a:ln>
        </p:spPr>
      </p:pic>
      <p:sp>
        <p:nvSpPr>
          <p:cNvPr id="3141" name="Google Shape;3141;p133"/>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sp>
        <p:nvSpPr>
          <p:cNvPr id="3142" name="Google Shape;3142;p133"/>
          <p:cNvSpPr txBox="1"/>
          <p:nvPr>
            <p:ph idx="1" type="body"/>
          </p:nvPr>
        </p:nvSpPr>
        <p:spPr>
          <a:xfrm>
            <a:off x="324000" y="810000"/>
            <a:ext cx="8496000" cy="529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2) The graph shows </a:t>
            </a:r>
            <a:r>
              <a:rPr lang="en-GB" sz="1600"/>
              <a:t>data from the Met Office and OSI SAF about sea ice in the Arctic </a:t>
            </a:r>
            <a:br>
              <a:rPr lang="en-GB" sz="1600"/>
            </a:br>
            <a:r>
              <a:rPr lang="en-GB" sz="1600"/>
              <a:t>    for each January from 1980 to 2024.</a:t>
            </a:r>
            <a:endParaRPr sz="1600"/>
          </a:p>
        </p:txBody>
      </p:sp>
      <p:cxnSp>
        <p:nvCxnSpPr>
          <p:cNvPr id="3143" name="Google Shape;3143;p133"/>
          <p:cNvCxnSpPr/>
          <p:nvPr/>
        </p:nvCxnSpPr>
        <p:spPr>
          <a:xfrm>
            <a:off x="1424428" y="2357555"/>
            <a:ext cx="4603200" cy="0"/>
          </a:xfrm>
          <a:prstGeom prst="straightConnector1">
            <a:avLst/>
          </a:prstGeom>
          <a:noFill/>
          <a:ln cap="flat" cmpd="sng" w="19050">
            <a:solidFill>
              <a:schemeClr val="dk1"/>
            </a:solidFill>
            <a:prstDash val="solid"/>
            <a:round/>
            <a:headEnd len="med" w="med" type="none"/>
            <a:tailEnd len="med" w="med" type="triangle"/>
          </a:ln>
        </p:spPr>
      </p:cxnSp>
      <p:cxnSp>
        <p:nvCxnSpPr>
          <p:cNvPr id="3144" name="Google Shape;3144;p133"/>
          <p:cNvCxnSpPr/>
          <p:nvPr/>
        </p:nvCxnSpPr>
        <p:spPr>
          <a:xfrm rot="10800000">
            <a:off x="1441823" y="1453271"/>
            <a:ext cx="0" cy="2924100"/>
          </a:xfrm>
          <a:prstGeom prst="straightConnector1">
            <a:avLst/>
          </a:prstGeom>
          <a:noFill/>
          <a:ln cap="flat" cmpd="sng" w="28575">
            <a:solidFill>
              <a:schemeClr val="dk1"/>
            </a:solidFill>
            <a:prstDash val="solid"/>
            <a:round/>
            <a:headEnd len="med" w="med" type="none"/>
            <a:tailEnd len="med" w="med" type="triangle"/>
          </a:ln>
        </p:spPr>
      </p:cxnSp>
      <p:sp>
        <p:nvSpPr>
          <p:cNvPr id="3145" name="Google Shape;3145;p133"/>
          <p:cNvSpPr txBox="1"/>
          <p:nvPr>
            <p:ph idx="1" type="body"/>
          </p:nvPr>
        </p:nvSpPr>
        <p:spPr>
          <a:xfrm>
            <a:off x="1264700" y="43779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3146" name="Google Shape;3146;p133"/>
          <p:cNvSpPr txBox="1"/>
          <p:nvPr>
            <p:ph idx="1" type="body"/>
          </p:nvPr>
        </p:nvSpPr>
        <p:spPr>
          <a:xfrm>
            <a:off x="1019620" y="158012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3147" name="Google Shape;3147;p133"/>
          <p:cNvSpPr txBox="1"/>
          <p:nvPr>
            <p:ph idx="1" type="body"/>
          </p:nvPr>
        </p:nvSpPr>
        <p:spPr>
          <a:xfrm>
            <a:off x="1018900" y="190686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148" name="Google Shape;3148;p133"/>
          <p:cNvSpPr txBox="1"/>
          <p:nvPr>
            <p:ph idx="1" type="body"/>
          </p:nvPr>
        </p:nvSpPr>
        <p:spPr>
          <a:xfrm>
            <a:off x="1018900" y="224243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3149" name="Google Shape;3149;p133"/>
          <p:cNvSpPr txBox="1"/>
          <p:nvPr>
            <p:ph idx="1" type="body"/>
          </p:nvPr>
        </p:nvSpPr>
        <p:spPr>
          <a:xfrm>
            <a:off x="1018900" y="325137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3150" name="Google Shape;3150;p133"/>
          <p:cNvSpPr txBox="1"/>
          <p:nvPr>
            <p:ph idx="1" type="body"/>
          </p:nvPr>
        </p:nvSpPr>
        <p:spPr>
          <a:xfrm>
            <a:off x="1018900" y="3926140"/>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-3.0</a:t>
            </a:r>
            <a:endParaRPr sz="1400"/>
          </a:p>
        </p:txBody>
      </p:sp>
      <p:sp>
        <p:nvSpPr>
          <p:cNvPr id="3151" name="Google Shape;3151;p133"/>
          <p:cNvSpPr txBox="1"/>
          <p:nvPr>
            <p:ph idx="1" type="body"/>
          </p:nvPr>
        </p:nvSpPr>
        <p:spPr>
          <a:xfrm>
            <a:off x="2001951" y="43779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3152" name="Google Shape;3152;p133"/>
          <p:cNvSpPr txBox="1"/>
          <p:nvPr>
            <p:ph idx="1" type="body"/>
          </p:nvPr>
        </p:nvSpPr>
        <p:spPr>
          <a:xfrm>
            <a:off x="2746710" y="43779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3153" name="Google Shape;3153;p133"/>
          <p:cNvSpPr txBox="1"/>
          <p:nvPr>
            <p:ph idx="1" type="body"/>
          </p:nvPr>
        </p:nvSpPr>
        <p:spPr>
          <a:xfrm>
            <a:off x="3498816" y="4377951"/>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3154" name="Google Shape;3154;p133"/>
          <p:cNvSpPr txBox="1"/>
          <p:nvPr>
            <p:ph idx="1" type="body"/>
          </p:nvPr>
        </p:nvSpPr>
        <p:spPr>
          <a:xfrm>
            <a:off x="4234615" y="43779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3155" name="Google Shape;3155;p133"/>
          <p:cNvSpPr txBox="1"/>
          <p:nvPr>
            <p:ph idx="1" type="body"/>
          </p:nvPr>
        </p:nvSpPr>
        <p:spPr>
          <a:xfrm>
            <a:off x="3503055" y="4595650"/>
            <a:ext cx="555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3156" name="Google Shape;3156;p133"/>
          <p:cNvSpPr txBox="1"/>
          <p:nvPr>
            <p:ph idx="1" type="body"/>
          </p:nvPr>
        </p:nvSpPr>
        <p:spPr>
          <a:xfrm>
            <a:off x="5701020" y="43779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2040</a:t>
            </a:r>
            <a:endParaRPr sz="1400"/>
          </a:p>
        </p:txBody>
      </p:sp>
      <p:sp>
        <p:nvSpPr>
          <p:cNvPr id="3157" name="Google Shape;3157;p133"/>
          <p:cNvSpPr txBox="1"/>
          <p:nvPr>
            <p:ph idx="1" type="body"/>
          </p:nvPr>
        </p:nvSpPr>
        <p:spPr>
          <a:xfrm>
            <a:off x="1018900" y="2587826"/>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158" name="Google Shape;3158;p133"/>
          <p:cNvSpPr txBox="1"/>
          <p:nvPr>
            <p:ph idx="1" type="body"/>
          </p:nvPr>
        </p:nvSpPr>
        <p:spPr>
          <a:xfrm>
            <a:off x="1018900" y="2928767"/>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3159" name="Google Shape;3159;p133"/>
          <p:cNvSpPr txBox="1"/>
          <p:nvPr>
            <p:ph idx="1" type="body"/>
          </p:nvPr>
        </p:nvSpPr>
        <p:spPr>
          <a:xfrm>
            <a:off x="1018900" y="358786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3160" name="Google Shape;3160;p133"/>
          <p:cNvSpPr txBox="1"/>
          <p:nvPr>
            <p:ph idx="1" type="body"/>
          </p:nvPr>
        </p:nvSpPr>
        <p:spPr>
          <a:xfrm>
            <a:off x="4981830" y="43779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2030</a:t>
            </a:r>
            <a:endParaRPr sz="1400"/>
          </a:p>
        </p:txBody>
      </p:sp>
      <p:sp>
        <p:nvSpPr>
          <p:cNvPr id="3161" name="Google Shape;3161;p133"/>
          <p:cNvSpPr txBox="1"/>
          <p:nvPr>
            <p:ph idx="1" type="body"/>
          </p:nvPr>
        </p:nvSpPr>
        <p:spPr>
          <a:xfrm>
            <a:off x="6030940" y="1642026"/>
            <a:ext cx="2876400" cy="1095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600"/>
              <a:t>a) Write down at least one </a:t>
            </a:r>
            <a:br>
              <a:rPr lang="en-GB" sz="1600"/>
            </a:br>
            <a:r>
              <a:rPr lang="en-GB" sz="1600"/>
              <a:t>    observation that you </a:t>
            </a:r>
            <a:br>
              <a:rPr lang="en-GB" sz="1600"/>
            </a:br>
            <a:r>
              <a:rPr lang="en-GB" sz="1600"/>
              <a:t>    make about any trends in </a:t>
            </a:r>
            <a:br>
              <a:rPr lang="en-GB" sz="1600"/>
            </a:br>
            <a:r>
              <a:rPr lang="en-GB" sz="1600"/>
              <a:t>    the data.</a:t>
            </a:r>
            <a:endParaRPr sz="1600"/>
          </a:p>
        </p:txBody>
      </p:sp>
      <p:sp>
        <p:nvSpPr>
          <p:cNvPr id="3162" name="Google Shape;3162;p133"/>
          <p:cNvSpPr txBox="1"/>
          <p:nvPr>
            <p:ph idx="1" type="body"/>
          </p:nvPr>
        </p:nvSpPr>
        <p:spPr>
          <a:xfrm rot="-5400000">
            <a:off x="-968275" y="2891650"/>
            <a:ext cx="3246300" cy="624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Arctic sea ice extent for January expressed as a difference from the 1981-2010 average for each January (million km</a:t>
            </a:r>
            <a:r>
              <a:rPr baseline="30000" lang="en-GB" sz="1300"/>
              <a:t>2</a:t>
            </a:r>
            <a:r>
              <a:rPr lang="en-GB" sz="1200"/>
              <a:t>)</a:t>
            </a:r>
            <a:endParaRPr sz="1200"/>
          </a:p>
        </p:txBody>
      </p:sp>
      <p:sp>
        <p:nvSpPr>
          <p:cNvPr id="3163" name="Google Shape;3163;p133"/>
          <p:cNvSpPr txBox="1"/>
          <p:nvPr>
            <p:ph idx="1" type="body"/>
          </p:nvPr>
        </p:nvSpPr>
        <p:spPr>
          <a:xfrm>
            <a:off x="6249175" y="2905950"/>
            <a:ext cx="2570700" cy="1679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800">
                <a:latin typeface="Kalam"/>
                <a:ea typeface="Kalam"/>
                <a:cs typeface="Kalam"/>
                <a:sym typeface="Kalam"/>
              </a:rPr>
              <a:t>Examples:</a:t>
            </a:r>
            <a:endParaRPr sz="1800">
              <a:latin typeface="Kalam"/>
              <a:ea typeface="Kalam"/>
              <a:cs typeface="Kalam"/>
              <a:sym typeface="Kalam"/>
            </a:endParaRPr>
          </a:p>
          <a:p>
            <a:pPr indent="0" lvl="0" marL="0" rtl="0" algn="l">
              <a:spcBef>
                <a:spcPts val="1000"/>
              </a:spcBef>
              <a:spcAft>
                <a:spcPts val="1000"/>
              </a:spcAft>
              <a:buNone/>
            </a:pPr>
            <a:r>
              <a:rPr lang="en-GB" sz="1800">
                <a:latin typeface="Kalam"/>
                <a:ea typeface="Kalam"/>
                <a:cs typeface="Kalam"/>
                <a:sym typeface="Kalam"/>
              </a:rPr>
              <a:t>The </a:t>
            </a:r>
            <a:r>
              <a:rPr lang="en-GB" sz="1800">
                <a:latin typeface="Kalam"/>
                <a:ea typeface="Kalam"/>
                <a:cs typeface="Kalam"/>
                <a:sym typeface="Kalam"/>
              </a:rPr>
              <a:t>trend</a:t>
            </a:r>
            <a:r>
              <a:rPr lang="en-GB" sz="1800">
                <a:latin typeface="Kalam"/>
                <a:ea typeface="Kalam"/>
                <a:cs typeface="Kalam"/>
                <a:sym typeface="Kalam"/>
              </a:rPr>
              <a:t> possibly changes from around 2006 to something slightly more stable. </a:t>
            </a:r>
            <a:endParaRPr sz="1800">
              <a:latin typeface="Kalam"/>
              <a:ea typeface="Kalam"/>
              <a:cs typeface="Kalam"/>
              <a:sym typeface="Kalam"/>
            </a:endParaRPr>
          </a:p>
        </p:txBody>
      </p:sp>
      <p:cxnSp>
        <p:nvCxnSpPr>
          <p:cNvPr id="3164" name="Google Shape;3164;p133"/>
          <p:cNvCxnSpPr/>
          <p:nvPr/>
        </p:nvCxnSpPr>
        <p:spPr>
          <a:xfrm>
            <a:off x="3398525" y="2651770"/>
            <a:ext cx="1302900" cy="0"/>
          </a:xfrm>
          <a:prstGeom prst="straightConnector1">
            <a:avLst/>
          </a:prstGeom>
          <a:noFill/>
          <a:ln cap="flat" cmpd="sng" w="28575">
            <a:solidFill>
              <a:schemeClr val="dk2"/>
            </a:solidFill>
            <a:prstDash val="solid"/>
            <a:round/>
            <a:headEnd len="med" w="med" type="none"/>
            <a:tailEnd len="med" w="med" type="none"/>
          </a:ln>
        </p:spPr>
      </p:cxnSp>
      <p:cxnSp>
        <p:nvCxnSpPr>
          <p:cNvPr id="3165" name="Google Shape;3165;p133"/>
          <p:cNvCxnSpPr/>
          <p:nvPr/>
        </p:nvCxnSpPr>
        <p:spPr>
          <a:xfrm>
            <a:off x="3392460" y="3116695"/>
            <a:ext cx="13701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9" name="Shape 3169"/>
        <p:cNvGrpSpPr/>
        <p:nvPr/>
      </p:nvGrpSpPr>
      <p:grpSpPr>
        <a:xfrm>
          <a:off x="0" y="0"/>
          <a:ext cx="0" cy="0"/>
          <a:chOff x="0" y="0"/>
          <a:chExt cx="0" cy="0"/>
        </a:xfrm>
      </p:grpSpPr>
      <p:pic>
        <p:nvPicPr>
          <p:cNvPr id="3170" name="Google Shape;3170;p134"/>
          <p:cNvPicPr preferRelativeResize="0"/>
          <p:nvPr/>
        </p:nvPicPr>
        <p:blipFill rotWithShape="1">
          <a:blip r:embed="rId3">
            <a:alphaModFix/>
          </a:blip>
          <a:srcRect b="3744" l="4251" r="0" t="0"/>
          <a:stretch/>
        </p:blipFill>
        <p:spPr>
          <a:xfrm>
            <a:off x="1363353" y="1005875"/>
            <a:ext cx="4675516" cy="2866096"/>
          </a:xfrm>
          <a:prstGeom prst="rect">
            <a:avLst/>
          </a:prstGeom>
          <a:noFill/>
          <a:ln>
            <a:noFill/>
          </a:ln>
        </p:spPr>
      </p:pic>
      <p:sp>
        <p:nvSpPr>
          <p:cNvPr id="3171" name="Google Shape;3171;p134"/>
          <p:cNvSpPr txBox="1"/>
          <p:nvPr>
            <p:ph type="title"/>
          </p:nvPr>
        </p:nvSpPr>
        <p:spPr>
          <a:xfrm>
            <a:off x="1449300" y="146675"/>
            <a:ext cx="57414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data about sea ice to make predictions</a:t>
            </a:r>
            <a:endParaRPr/>
          </a:p>
        </p:txBody>
      </p:sp>
      <p:cxnSp>
        <p:nvCxnSpPr>
          <p:cNvPr id="3172" name="Google Shape;3172;p134"/>
          <p:cNvCxnSpPr/>
          <p:nvPr/>
        </p:nvCxnSpPr>
        <p:spPr>
          <a:xfrm>
            <a:off x="1424428" y="1747955"/>
            <a:ext cx="4603200" cy="0"/>
          </a:xfrm>
          <a:prstGeom prst="straightConnector1">
            <a:avLst/>
          </a:prstGeom>
          <a:noFill/>
          <a:ln cap="flat" cmpd="sng" w="19050">
            <a:solidFill>
              <a:schemeClr val="dk1"/>
            </a:solidFill>
            <a:prstDash val="solid"/>
            <a:round/>
            <a:headEnd len="med" w="med" type="none"/>
            <a:tailEnd len="med" w="med" type="triangle"/>
          </a:ln>
        </p:spPr>
      </p:cxnSp>
      <p:cxnSp>
        <p:nvCxnSpPr>
          <p:cNvPr id="3173" name="Google Shape;3173;p134"/>
          <p:cNvCxnSpPr/>
          <p:nvPr/>
        </p:nvCxnSpPr>
        <p:spPr>
          <a:xfrm rot="10800000">
            <a:off x="1441823" y="843671"/>
            <a:ext cx="0" cy="2924100"/>
          </a:xfrm>
          <a:prstGeom prst="straightConnector1">
            <a:avLst/>
          </a:prstGeom>
          <a:noFill/>
          <a:ln cap="flat" cmpd="sng" w="28575">
            <a:solidFill>
              <a:schemeClr val="dk1"/>
            </a:solidFill>
            <a:prstDash val="solid"/>
            <a:round/>
            <a:headEnd len="med" w="med" type="none"/>
            <a:tailEnd len="med" w="med" type="triangle"/>
          </a:ln>
        </p:spPr>
      </p:cxnSp>
      <p:sp>
        <p:nvSpPr>
          <p:cNvPr id="3174" name="Google Shape;3174;p134"/>
          <p:cNvSpPr txBox="1"/>
          <p:nvPr>
            <p:ph idx="1" type="body"/>
          </p:nvPr>
        </p:nvSpPr>
        <p:spPr>
          <a:xfrm>
            <a:off x="1264700" y="37683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1980</a:t>
            </a:r>
            <a:endParaRPr sz="1400"/>
          </a:p>
        </p:txBody>
      </p:sp>
      <p:sp>
        <p:nvSpPr>
          <p:cNvPr id="3175" name="Google Shape;3175;p134"/>
          <p:cNvSpPr txBox="1"/>
          <p:nvPr>
            <p:ph idx="1" type="body"/>
          </p:nvPr>
        </p:nvSpPr>
        <p:spPr>
          <a:xfrm rot="-5400000">
            <a:off x="-968275" y="2282050"/>
            <a:ext cx="3246300" cy="624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200"/>
              <a:t>Arctic sea ice extent for January expressed as a difference from the 1981-2010 average for each January (million km</a:t>
            </a:r>
            <a:r>
              <a:rPr baseline="30000" lang="en-GB" sz="1300"/>
              <a:t>2</a:t>
            </a:r>
            <a:r>
              <a:rPr lang="en-GB" sz="1200"/>
              <a:t>)</a:t>
            </a:r>
            <a:endParaRPr sz="1200"/>
          </a:p>
        </p:txBody>
      </p:sp>
      <p:sp>
        <p:nvSpPr>
          <p:cNvPr id="3176" name="Google Shape;3176;p134"/>
          <p:cNvSpPr txBox="1"/>
          <p:nvPr>
            <p:ph idx="1" type="body"/>
          </p:nvPr>
        </p:nvSpPr>
        <p:spPr>
          <a:xfrm>
            <a:off x="1019620" y="97052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1.0</a:t>
            </a:r>
            <a:endParaRPr sz="1400"/>
          </a:p>
        </p:txBody>
      </p:sp>
      <p:sp>
        <p:nvSpPr>
          <p:cNvPr id="3177" name="Google Shape;3177;p134"/>
          <p:cNvSpPr txBox="1"/>
          <p:nvPr>
            <p:ph idx="1" type="body"/>
          </p:nvPr>
        </p:nvSpPr>
        <p:spPr>
          <a:xfrm>
            <a:off x="1018900" y="129726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178" name="Google Shape;3178;p134"/>
          <p:cNvSpPr txBox="1"/>
          <p:nvPr>
            <p:ph idx="1" type="body"/>
          </p:nvPr>
        </p:nvSpPr>
        <p:spPr>
          <a:xfrm>
            <a:off x="1018900" y="1632834"/>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0.0</a:t>
            </a:r>
            <a:endParaRPr sz="1400"/>
          </a:p>
        </p:txBody>
      </p:sp>
      <p:sp>
        <p:nvSpPr>
          <p:cNvPr id="3179" name="Google Shape;3179;p134"/>
          <p:cNvSpPr txBox="1"/>
          <p:nvPr>
            <p:ph idx="1" type="body"/>
          </p:nvPr>
        </p:nvSpPr>
        <p:spPr>
          <a:xfrm>
            <a:off x="1018900" y="264177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-2.0</a:t>
            </a:r>
            <a:endParaRPr sz="1400"/>
          </a:p>
        </p:txBody>
      </p:sp>
      <p:sp>
        <p:nvSpPr>
          <p:cNvPr id="3180" name="Google Shape;3180;p134"/>
          <p:cNvSpPr txBox="1"/>
          <p:nvPr>
            <p:ph idx="1" type="body"/>
          </p:nvPr>
        </p:nvSpPr>
        <p:spPr>
          <a:xfrm>
            <a:off x="1018900" y="3316540"/>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-3.0</a:t>
            </a:r>
            <a:endParaRPr sz="1400"/>
          </a:p>
        </p:txBody>
      </p:sp>
      <p:sp>
        <p:nvSpPr>
          <p:cNvPr id="3181" name="Google Shape;3181;p134"/>
          <p:cNvSpPr txBox="1"/>
          <p:nvPr>
            <p:ph idx="1" type="body"/>
          </p:nvPr>
        </p:nvSpPr>
        <p:spPr>
          <a:xfrm>
            <a:off x="2001951" y="3768350"/>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1990</a:t>
            </a:r>
            <a:endParaRPr sz="1400"/>
          </a:p>
        </p:txBody>
      </p:sp>
      <p:sp>
        <p:nvSpPr>
          <p:cNvPr id="3182" name="Google Shape;3182;p134"/>
          <p:cNvSpPr txBox="1"/>
          <p:nvPr>
            <p:ph idx="1" type="body"/>
          </p:nvPr>
        </p:nvSpPr>
        <p:spPr>
          <a:xfrm>
            <a:off x="2746710" y="37683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2000</a:t>
            </a:r>
            <a:endParaRPr sz="1400"/>
          </a:p>
        </p:txBody>
      </p:sp>
      <p:sp>
        <p:nvSpPr>
          <p:cNvPr id="3183" name="Google Shape;3183;p134"/>
          <p:cNvSpPr txBox="1"/>
          <p:nvPr>
            <p:ph idx="1" type="body"/>
          </p:nvPr>
        </p:nvSpPr>
        <p:spPr>
          <a:xfrm>
            <a:off x="3498816" y="3768351"/>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2010</a:t>
            </a:r>
            <a:endParaRPr sz="1400"/>
          </a:p>
        </p:txBody>
      </p:sp>
      <p:sp>
        <p:nvSpPr>
          <p:cNvPr id="3184" name="Google Shape;3184;p134"/>
          <p:cNvSpPr txBox="1"/>
          <p:nvPr>
            <p:ph idx="1" type="body"/>
          </p:nvPr>
        </p:nvSpPr>
        <p:spPr>
          <a:xfrm>
            <a:off x="4234615" y="37683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2020</a:t>
            </a:r>
            <a:endParaRPr sz="1400"/>
          </a:p>
        </p:txBody>
      </p:sp>
      <p:sp>
        <p:nvSpPr>
          <p:cNvPr id="3185" name="Google Shape;3185;p134"/>
          <p:cNvSpPr txBox="1"/>
          <p:nvPr>
            <p:ph idx="1" type="body"/>
          </p:nvPr>
        </p:nvSpPr>
        <p:spPr>
          <a:xfrm>
            <a:off x="3503054" y="3986050"/>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year</a:t>
            </a:r>
            <a:endParaRPr sz="1400"/>
          </a:p>
        </p:txBody>
      </p:sp>
      <p:sp>
        <p:nvSpPr>
          <p:cNvPr id="3186" name="Google Shape;3186;p134"/>
          <p:cNvSpPr txBox="1"/>
          <p:nvPr>
            <p:ph idx="1" type="body"/>
          </p:nvPr>
        </p:nvSpPr>
        <p:spPr>
          <a:xfrm>
            <a:off x="5701020" y="3768346"/>
            <a:ext cx="4476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2040</a:t>
            </a:r>
            <a:endParaRPr sz="1400"/>
          </a:p>
        </p:txBody>
      </p:sp>
      <p:sp>
        <p:nvSpPr>
          <p:cNvPr id="3187" name="Google Shape;3187;p134"/>
          <p:cNvSpPr txBox="1"/>
          <p:nvPr>
            <p:ph idx="1" type="body"/>
          </p:nvPr>
        </p:nvSpPr>
        <p:spPr>
          <a:xfrm>
            <a:off x="1018900" y="1978226"/>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-0.5</a:t>
            </a:r>
            <a:endParaRPr sz="1400"/>
          </a:p>
        </p:txBody>
      </p:sp>
      <p:sp>
        <p:nvSpPr>
          <p:cNvPr id="3188" name="Google Shape;3188;p134"/>
          <p:cNvSpPr txBox="1"/>
          <p:nvPr>
            <p:ph idx="1" type="body"/>
          </p:nvPr>
        </p:nvSpPr>
        <p:spPr>
          <a:xfrm>
            <a:off x="1018900" y="2319167"/>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-1.5</a:t>
            </a:r>
            <a:endParaRPr sz="1400"/>
          </a:p>
        </p:txBody>
      </p:sp>
      <p:sp>
        <p:nvSpPr>
          <p:cNvPr id="3189" name="Google Shape;3189;p134"/>
          <p:cNvSpPr txBox="1"/>
          <p:nvPr>
            <p:ph idx="1" type="body"/>
          </p:nvPr>
        </p:nvSpPr>
        <p:spPr>
          <a:xfrm>
            <a:off x="1018900" y="2978261"/>
            <a:ext cx="358500" cy="215400"/>
          </a:xfrm>
          <a:prstGeom prst="rect">
            <a:avLst/>
          </a:prstGeom>
        </p:spPr>
        <p:txBody>
          <a:bodyPr anchorCtr="0" anchor="t" bIns="0" lIns="0" spcFirstLastPara="1" rIns="0" wrap="square" tIns="0">
            <a:spAutoFit/>
          </a:bodyPr>
          <a:lstStyle/>
          <a:p>
            <a:pPr indent="0" lvl="0" marL="0" rtl="0" algn="r">
              <a:spcBef>
                <a:spcPts val="0"/>
              </a:spcBef>
              <a:spcAft>
                <a:spcPts val="1000"/>
              </a:spcAft>
              <a:buNone/>
            </a:pPr>
            <a:r>
              <a:rPr lang="en-GB" sz="1400"/>
              <a:t>-2.5</a:t>
            </a:r>
            <a:endParaRPr sz="1400"/>
          </a:p>
        </p:txBody>
      </p:sp>
      <p:sp>
        <p:nvSpPr>
          <p:cNvPr id="3190" name="Google Shape;3190;p134"/>
          <p:cNvSpPr txBox="1"/>
          <p:nvPr>
            <p:ph idx="1" type="body"/>
          </p:nvPr>
        </p:nvSpPr>
        <p:spPr>
          <a:xfrm>
            <a:off x="4981830" y="3768354"/>
            <a:ext cx="526500" cy="215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400"/>
              <a:t>2030</a:t>
            </a:r>
            <a:endParaRPr sz="1400"/>
          </a:p>
        </p:txBody>
      </p:sp>
      <p:sp>
        <p:nvSpPr>
          <p:cNvPr id="3191" name="Google Shape;3191;p134"/>
          <p:cNvSpPr txBox="1"/>
          <p:nvPr>
            <p:ph idx="1" type="body"/>
          </p:nvPr>
        </p:nvSpPr>
        <p:spPr>
          <a:xfrm>
            <a:off x="6005751" y="1032426"/>
            <a:ext cx="2876400" cy="2613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600"/>
              <a:t>b) </a:t>
            </a:r>
            <a:r>
              <a:rPr lang="en-GB" sz="1600"/>
              <a:t>If the trend in the extent  </a:t>
            </a:r>
            <a:br>
              <a:rPr lang="en-GB" sz="1600"/>
            </a:br>
            <a:r>
              <a:rPr lang="en-GB" sz="1600"/>
              <a:t>    of Arctic sea ice continues </a:t>
            </a:r>
            <a:br>
              <a:rPr lang="en-GB" sz="1600"/>
            </a:br>
            <a:r>
              <a:rPr lang="en-GB" sz="1600"/>
              <a:t>    in the way it has since </a:t>
            </a:r>
            <a:br>
              <a:rPr lang="en-GB" sz="1600"/>
            </a:br>
            <a:r>
              <a:rPr lang="en-GB" sz="1600"/>
              <a:t>    1980, what range of data </a:t>
            </a:r>
            <a:br>
              <a:rPr lang="en-GB" sz="1600"/>
            </a:br>
            <a:r>
              <a:rPr lang="en-GB" sz="1600"/>
              <a:t>    could we expect to in:</a:t>
            </a:r>
            <a:endParaRPr sz="1600"/>
          </a:p>
          <a:p>
            <a:pPr indent="0" lvl="0" marL="0" rtl="0" algn="l">
              <a:spcBef>
                <a:spcPts val="1000"/>
              </a:spcBef>
              <a:spcAft>
                <a:spcPts val="0"/>
              </a:spcAft>
              <a:buNone/>
            </a:pPr>
            <a:r>
              <a:rPr lang="en-GB" sz="1600"/>
              <a:t>   i) 2030?</a:t>
            </a:r>
            <a:endParaRPr sz="1600"/>
          </a:p>
          <a:p>
            <a:pPr indent="0" lvl="0" marL="0" rtl="0" algn="l">
              <a:spcBef>
                <a:spcPts val="1000"/>
              </a:spcBef>
              <a:spcAft>
                <a:spcPts val="0"/>
              </a:spcAft>
              <a:buNone/>
            </a:pPr>
            <a:r>
              <a:rPr lang="en-GB" sz="1600"/>
              <a:t>   ii) 2035?</a:t>
            </a:r>
            <a:endParaRPr sz="1600"/>
          </a:p>
          <a:p>
            <a:pPr indent="0" lvl="0" marL="0" rtl="0" algn="l">
              <a:spcBef>
                <a:spcPts val="1000"/>
              </a:spcBef>
              <a:spcAft>
                <a:spcPts val="1000"/>
              </a:spcAft>
              <a:buNone/>
            </a:pPr>
            <a:r>
              <a:rPr lang="en-GB" sz="1600"/>
              <a:t>   iii) 2040?</a:t>
            </a:r>
            <a:endParaRPr sz="1600"/>
          </a:p>
        </p:txBody>
      </p:sp>
      <p:cxnSp>
        <p:nvCxnSpPr>
          <p:cNvPr id="3192" name="Google Shape;3192;p134"/>
          <p:cNvCxnSpPr/>
          <p:nvPr/>
        </p:nvCxnSpPr>
        <p:spPr>
          <a:xfrm>
            <a:off x="1524000" y="1059175"/>
            <a:ext cx="4404300" cy="1701000"/>
          </a:xfrm>
          <a:prstGeom prst="straightConnector1">
            <a:avLst/>
          </a:prstGeom>
          <a:noFill/>
          <a:ln cap="flat" cmpd="sng" w="28575">
            <a:solidFill>
              <a:schemeClr val="dk2"/>
            </a:solidFill>
            <a:prstDash val="solid"/>
            <a:round/>
            <a:headEnd len="med" w="med" type="none"/>
            <a:tailEnd len="med" w="med" type="none"/>
          </a:ln>
        </p:spPr>
      </p:cxnSp>
      <p:cxnSp>
        <p:nvCxnSpPr>
          <p:cNvPr id="3193" name="Google Shape;3193;p134"/>
          <p:cNvCxnSpPr/>
          <p:nvPr/>
        </p:nvCxnSpPr>
        <p:spPr>
          <a:xfrm>
            <a:off x="1426125" y="1632700"/>
            <a:ext cx="4506300" cy="1747500"/>
          </a:xfrm>
          <a:prstGeom prst="straightConnector1">
            <a:avLst/>
          </a:prstGeom>
          <a:noFill/>
          <a:ln cap="flat" cmpd="sng" w="28575">
            <a:solidFill>
              <a:schemeClr val="dk2"/>
            </a:solidFill>
            <a:prstDash val="solid"/>
            <a:round/>
            <a:headEnd len="med" w="med" type="none"/>
            <a:tailEnd len="med" w="med" type="none"/>
          </a:ln>
        </p:spPr>
      </p:cxnSp>
      <p:sp>
        <p:nvSpPr>
          <p:cNvPr id="3194" name="Google Shape;3194;p134"/>
          <p:cNvSpPr txBox="1"/>
          <p:nvPr>
            <p:ph idx="1" type="body"/>
          </p:nvPr>
        </p:nvSpPr>
        <p:spPr>
          <a:xfrm>
            <a:off x="7195125" y="2533100"/>
            <a:ext cx="17520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-2.5</a:t>
            </a:r>
            <a:r>
              <a:rPr lang="en-GB" sz="1800">
                <a:latin typeface="Kalam"/>
                <a:ea typeface="Kalam"/>
                <a:cs typeface="Kalam"/>
                <a:sym typeface="Kalam"/>
              </a:rPr>
              <a:t> to -1.6 km</a:t>
            </a:r>
            <a:r>
              <a:rPr baseline="30000" lang="en-GB" sz="1800">
                <a:latin typeface="Kalam"/>
                <a:ea typeface="Kalam"/>
                <a:cs typeface="Kalam"/>
                <a:sym typeface="Kalam"/>
              </a:rPr>
              <a:t>2</a:t>
            </a:r>
            <a:endParaRPr baseline="30000" sz="1800">
              <a:latin typeface="Kalam"/>
              <a:ea typeface="Kalam"/>
              <a:cs typeface="Kalam"/>
              <a:sym typeface="Kalam"/>
            </a:endParaRPr>
          </a:p>
        </p:txBody>
      </p:sp>
      <p:sp>
        <p:nvSpPr>
          <p:cNvPr id="3195" name="Google Shape;3195;p134"/>
          <p:cNvSpPr txBox="1"/>
          <p:nvPr>
            <p:ph idx="1" type="body"/>
          </p:nvPr>
        </p:nvSpPr>
        <p:spPr>
          <a:xfrm>
            <a:off x="7195125" y="2937700"/>
            <a:ext cx="16554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-2.7 to -1.8 km</a:t>
            </a:r>
            <a:r>
              <a:rPr baseline="30000" lang="en-GB" sz="1800">
                <a:latin typeface="Kalam"/>
                <a:ea typeface="Kalam"/>
                <a:cs typeface="Kalam"/>
                <a:sym typeface="Kalam"/>
              </a:rPr>
              <a:t>2</a:t>
            </a:r>
            <a:endParaRPr sz="1800">
              <a:latin typeface="Kalam"/>
              <a:ea typeface="Kalam"/>
              <a:cs typeface="Kalam"/>
              <a:sym typeface="Kalam"/>
            </a:endParaRPr>
          </a:p>
        </p:txBody>
      </p:sp>
      <p:sp>
        <p:nvSpPr>
          <p:cNvPr id="3196" name="Google Shape;3196;p134"/>
          <p:cNvSpPr txBox="1"/>
          <p:nvPr>
            <p:ph idx="1" type="body"/>
          </p:nvPr>
        </p:nvSpPr>
        <p:spPr>
          <a:xfrm>
            <a:off x="7195125" y="3350275"/>
            <a:ext cx="16869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-2.9 to -2.0 km</a:t>
            </a:r>
            <a:r>
              <a:rPr baseline="30000" lang="en-GB" sz="1800">
                <a:latin typeface="Kalam"/>
                <a:ea typeface="Kalam"/>
                <a:cs typeface="Kalam"/>
                <a:sym typeface="Kalam"/>
              </a:rPr>
              <a:t>2</a:t>
            </a:r>
            <a:endParaRPr sz="1800">
              <a:latin typeface="Kalam"/>
              <a:ea typeface="Kalam"/>
              <a:cs typeface="Kalam"/>
              <a:sym typeface="Kalam"/>
            </a:endParaRPr>
          </a:p>
        </p:txBody>
      </p:sp>
      <p:sp>
        <p:nvSpPr>
          <p:cNvPr id="3197" name="Google Shape;3197;p134"/>
          <p:cNvSpPr txBox="1"/>
          <p:nvPr>
            <p:ph idx="1" type="body"/>
          </p:nvPr>
        </p:nvSpPr>
        <p:spPr>
          <a:xfrm>
            <a:off x="1571845" y="4538725"/>
            <a:ext cx="6002400" cy="27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Pupils’ answers may differ slightly from the values given.</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1" name="Shape 3201"/>
        <p:cNvGrpSpPr/>
        <p:nvPr/>
      </p:nvGrpSpPr>
      <p:grpSpPr>
        <a:xfrm>
          <a:off x="0" y="0"/>
          <a:ext cx="0" cy="0"/>
          <a:chOff x="0" y="0"/>
          <a:chExt cx="0" cy="0"/>
        </a:xfrm>
      </p:grpSpPr>
      <p:sp>
        <p:nvSpPr>
          <p:cNvPr id="3202" name="Google Shape;3202;p135"/>
          <p:cNvSpPr txBox="1"/>
          <p:nvPr>
            <p:ph type="title"/>
          </p:nvPr>
        </p:nvSpPr>
        <p:spPr>
          <a:xfrm>
            <a:off x="1684800" y="119125"/>
            <a:ext cx="5741400" cy="307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Studying climate change</a:t>
            </a:r>
            <a:endParaRPr/>
          </a:p>
        </p:txBody>
      </p:sp>
      <p:sp>
        <p:nvSpPr>
          <p:cNvPr id="3203" name="Google Shape;3203;p135"/>
          <p:cNvSpPr txBox="1"/>
          <p:nvPr>
            <p:ph idx="1" type="body"/>
          </p:nvPr>
        </p:nvSpPr>
        <p:spPr>
          <a:xfrm>
            <a:off x="324000" y="810000"/>
            <a:ext cx="8496000" cy="2670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The effects of climate change can be observed through data.</a:t>
            </a:r>
            <a:endParaRPr/>
          </a:p>
          <a:p>
            <a:pPr indent="0" lvl="0" marL="0" rtl="0" algn="l">
              <a:spcBef>
                <a:spcPts val="1000"/>
              </a:spcBef>
              <a:spcAft>
                <a:spcPts val="0"/>
              </a:spcAft>
              <a:buNone/>
            </a:pPr>
            <a:r>
              <a:rPr lang="en-GB"/>
              <a:t>A dataset can be represented in multiple different ways.</a:t>
            </a:r>
            <a:endParaRPr/>
          </a:p>
          <a:p>
            <a:pPr indent="0" lvl="0" marL="0" rtl="0" algn="l">
              <a:spcBef>
                <a:spcPts val="1000"/>
              </a:spcBef>
              <a:spcAft>
                <a:spcPts val="0"/>
              </a:spcAft>
              <a:buNone/>
            </a:pPr>
            <a:r>
              <a:rPr lang="en-GB"/>
              <a:t>Comparisons can be made between different periods of time and trends can be interpreted.</a:t>
            </a:r>
            <a:endParaRPr/>
          </a:p>
          <a:p>
            <a:pPr indent="0" lvl="0" marL="0" rtl="0" algn="l">
              <a:spcBef>
                <a:spcPts val="1000"/>
              </a:spcBef>
              <a:spcAft>
                <a:spcPts val="1000"/>
              </a:spcAft>
              <a:buNone/>
            </a:pPr>
            <a:r>
              <a:rPr lang="en-GB"/>
              <a:t>By analysing how the </a:t>
            </a:r>
            <a:r>
              <a:rPr lang="en-GB"/>
              <a:t>northern</a:t>
            </a:r>
            <a:r>
              <a:rPr lang="en-GB"/>
              <a:t> or southern polar ice caps have changed, predictions can be made.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7" name="Shape 3207"/>
        <p:cNvGrpSpPr/>
        <p:nvPr/>
      </p:nvGrpSpPr>
      <p:grpSpPr>
        <a:xfrm>
          <a:off x="0" y="0"/>
          <a:ext cx="0" cy="0"/>
          <a:chOff x="0" y="0"/>
          <a:chExt cx="0" cy="0"/>
        </a:xfrm>
      </p:grpSpPr>
      <p:sp>
        <p:nvSpPr>
          <p:cNvPr id="3208" name="Google Shape;3208;p136"/>
          <p:cNvSpPr txBox="1"/>
          <p:nvPr>
            <p:ph idx="1" type="subTitle"/>
          </p:nvPr>
        </p:nvSpPr>
        <p:spPr>
          <a:xfrm>
            <a:off x="666000" y="1636650"/>
            <a:ext cx="7351200" cy="1870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3209" name="Google Shape;3209;p136"/>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