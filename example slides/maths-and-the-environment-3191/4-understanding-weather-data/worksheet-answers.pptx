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1-->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58" r:id="rId1"/>
  </p:sldMasterIdLst>
  <p:notesMasterIdLst>
    <p:notesMasterId r:id="rId2"/>
  </p:notesMasterIdLst>
  <p:sldIdLst>
    <p:sldId id="256" r:id="rId3"/>
    <p:sldId id="257" r:id="rId4"/>
    <p:sldId id="258" r:id="rId5"/>
    <p:sldId id="259"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3DB86B96-013B-4E5B-9F61-9EA4DADEA6BC}">
  <a:tblStyle styleId="{3DB86B96-013B-4E5B-9F61-9EA4DADEA6B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cSldViewPr>
  </p:slideViewPr>
  <p:notesViewPr>
    <p:cSldViewPr>
      <p:cViewPr>
        <p:scale>
          <a:sx n="1" d="100"/>
          <a:sy n="1" d="100"/>
        </p:scale>
        <p:origin x="0" y="0"/>
      </p:cViewPr>
      <p:guideLst/>
    </p:cSldViewPr>
  </p:notesViewPr>
  <p:gridSpacing cx="0" cy="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1" name="Shape 111"/>
        <p:cNvGrpSpPr/>
        <p:nvPr/>
      </p:nvGrpSpPr>
      <p:grpSpPr>
        <a:xfrm>
          <a:off x="0" y="0"/>
          <a:ext cx="0" cy="0"/>
        </a:xfrm>
      </p:grpSpPr>
      <p:sp>
        <p:nvSpPr>
          <p:cNvPr id="112" name="Google Shape;112;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13" name="Google Shape;113;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5" name="Shape 145"/>
        <p:cNvGrpSpPr/>
        <p:nvPr/>
      </p:nvGrpSpPr>
      <p:grpSpPr>
        <a:xfrm>
          <a:off x="0" y="0"/>
          <a:ext cx="0" cy="0"/>
        </a:xfrm>
      </p:grpSpPr>
      <p:sp>
        <p:nvSpPr>
          <p:cNvPr id="146" name="Google Shape;146;g30e3a938436_0_57: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47" name="Google Shape;147;g30e3a938436_0_5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30e3a938436_0_252: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30e3a938436_0_2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4" name="Shape 204"/>
        <p:cNvGrpSpPr/>
        <p:nvPr/>
      </p:nvGrpSpPr>
      <p:grpSpPr>
        <a:xfrm>
          <a:off x="0" y="0"/>
          <a:ext cx="0" cy="0"/>
        </a:xfrm>
      </p:grpSpPr>
      <p:sp>
        <p:nvSpPr>
          <p:cNvPr id="205" name="Google Shape;205;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06" name="Google Shape;206;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image" Target="../media/image4.png" /><Relationship Id="rId7"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image" Target="../media/image4.png" /><Relationship Id="rId7"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image" Target="../media/image4.png" /><Relationship Id="rId7"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9" name="Shape 9"/>
        <p:cNvGrpSpPr/>
        <p:nvPr/>
      </p:nvGrpSpPr>
      <p:grpSpPr>
        <a:xfrm>
          <a:off x="0" y="0"/>
          <a:ext cx="0" cy="0"/>
        </a:xfrm>
      </p:grpSpPr>
      <p:pic>
        <p:nvPicPr>
          <p:cNvPr id="10" name="Google Shape;10;p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 name="Google Shape;11;p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 name="Google Shape;13;p2"/>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pic>
        <p:nvPicPr>
          <p:cNvPr id="17" name="Google Shape;17;p2"/>
          <p:cNvPicPr preferRelativeResize="0"/>
          <p:nvPr/>
        </p:nvPicPr>
        <p:blipFill>
          <a:blip r:embed="rId4">
            <a:alphaModFix/>
          </a:blip>
          <a:stretch>
            <a:fillRect/>
          </a:stretch>
        </p:blipFill>
        <p:spPr>
          <a:xfrm>
            <a:off x="5722275" y="215694"/>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18" name="Shape 18"/>
        <p:cNvGrpSpPr/>
        <p:nvPr/>
      </p:nvGrpSpPr>
      <p:grpSpPr>
        <a:xfrm>
          <a:off x="0" y="0"/>
          <a:ext cx="0" cy="0"/>
        </a:xfrm>
      </p:grpSpPr>
      <p:pic>
        <p:nvPicPr>
          <p:cNvPr id="19" name="Google Shape;19;p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20" name="Google Shape;20;p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22" name="Google Shape;22;p3"/>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pic>
        <p:nvPicPr>
          <p:cNvPr id="26" name="Google Shape;26;p3"/>
          <p:cNvPicPr preferRelativeResize="0"/>
          <p:nvPr/>
        </p:nvPicPr>
        <p:blipFill>
          <a:blip r:embed="rId4">
            <a:alphaModFix/>
          </a:blip>
          <a:stretch>
            <a:fillRect/>
          </a:stretch>
        </p:blipFill>
        <p:spPr>
          <a:xfrm>
            <a:off x="5722275" y="215694"/>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27" name="Shape 27"/>
        <p:cNvGrpSpPr/>
        <p:nvPr/>
      </p:nvGrpSpPr>
      <p:grpSpPr>
        <a:xfrm>
          <a:off x="0" y="0"/>
          <a:ext cx="0" cy="0"/>
        </a:xfrm>
      </p:grpSpPr>
      <p:pic>
        <p:nvPicPr>
          <p:cNvPr id="28" name="Google Shape;28;p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29" name="Google Shape;29;p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solidFill>
                  <a:schemeClr val="dk1"/>
                </a:solidFill>
                <a:latin typeface="Lexend"/>
                <a:ea typeface="Lexend"/>
                <a:cs typeface="Lexend"/>
                <a:sym typeface="Lexend"/>
              </a:rPr>
              <a:t>Worksheet</a:t>
            </a:r>
            <a:endParaRPr sz="900" b="1">
              <a:solidFill>
                <a:schemeClr val="dk1"/>
              </a:solidFill>
              <a:latin typeface="Lexend"/>
              <a:ea typeface="Lexend"/>
              <a:cs typeface="Lexend"/>
              <a:sym typeface="Lexend"/>
            </a:endParaRPr>
          </a:p>
        </p:txBody>
      </p:sp>
      <p:sp>
        <p:nvSpPr>
          <p:cNvPr id="31" name="Google Shape;31;p4"/>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32" name="Google Shape;32;p4"/>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34" name="Shape 34"/>
        <p:cNvGrpSpPr/>
        <p:nvPr/>
      </p:nvGrpSpPr>
      <p:grpSpPr>
        <a:xfrm>
          <a:off x="0" y="0"/>
          <a:ext cx="0" cy="0"/>
        </a:xfrm>
      </p:grpSpPr>
      <p:pic>
        <p:nvPicPr>
          <p:cNvPr id="35" name="Google Shape;35;p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36" name="Google Shape;36;p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solidFill>
                  <a:schemeClr val="dk1"/>
                </a:solidFill>
                <a:latin typeface="Lexend"/>
                <a:ea typeface="Lexend"/>
                <a:cs typeface="Lexend"/>
                <a:sym typeface="Lexend"/>
              </a:rPr>
              <a:t>Worksheet</a:t>
            </a:r>
            <a:endParaRPr sz="900" b="1">
              <a:solidFill>
                <a:schemeClr val="dk1"/>
              </a:solidFill>
              <a:latin typeface="Lexend"/>
              <a:ea typeface="Lexend"/>
              <a:cs typeface="Lexend"/>
              <a:sym typeface="Lexend"/>
            </a:endParaRPr>
          </a:p>
        </p:txBody>
      </p:sp>
      <p:sp>
        <p:nvSpPr>
          <p:cNvPr id="38" name="Google Shape;38;p5"/>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39" name="Google Shape;39;p5"/>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chemeClr val="dk1"/>
              </a:solidFill>
              <a:latin typeface="Lexend Light"/>
              <a:ea typeface="Lexend Light"/>
              <a:cs typeface="Lexend Light"/>
              <a:sym typeface="Lexend Light"/>
            </a:endParaRPr>
          </a:p>
        </p:txBody>
      </p:sp>
      <p:sp>
        <p:nvSpPr>
          <p:cNvPr id="44" name="Google Shape;44;p5"/>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SzPts val="900"/>
              <a:buFont typeface="Lexend Light"/>
              <a:buNone/>
              <a:defRPr sz="900">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45" name="Shape 45"/>
        <p:cNvGrpSpPr/>
        <p:nvPr/>
      </p:nvGrpSpPr>
      <p:grpSpPr>
        <a:xfrm>
          <a:off x="0" y="0"/>
          <a:ext cx="0" cy="0"/>
        </a:xfrm>
      </p:grpSpPr>
      <p:pic>
        <p:nvPicPr>
          <p:cNvPr id="46" name="Google Shape;46;p6"/>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47" name="Google Shape;47;p6"/>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49" name="Google Shape;49;p6"/>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chemeClr val="dk1"/>
              </a:solidFill>
              <a:latin typeface="Lexend Light"/>
              <a:ea typeface="Lexend Light"/>
              <a:cs typeface="Lexend Light"/>
              <a:sym typeface="Lexend Light"/>
            </a:endParaRPr>
          </a:p>
        </p:txBody>
      </p:sp>
      <p:sp>
        <p:nvSpPr>
          <p:cNvPr id="56" name="Google Shape;56;p6"/>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SzPts val="900"/>
              <a:buFont typeface="Lexend Light"/>
              <a:buNone/>
              <a:defRPr sz="900">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7" name="Google Shape;57;p6"/>
          <p:cNvPicPr preferRelativeResize="0"/>
          <p:nvPr/>
        </p:nvPicPr>
        <p:blipFill>
          <a:blip r:embed="rId6">
            <a:alphaModFix/>
          </a:blip>
          <a:stretch>
            <a:fillRect/>
          </a:stretch>
        </p:blipFill>
        <p:spPr>
          <a:xfrm>
            <a:off x="5722275" y="215694"/>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xfrm>
      </p:grpSpPr>
      <p:pic>
        <p:nvPicPr>
          <p:cNvPr id="59" name="Google Shape;59;p7"/>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0" name="Google Shape;60;p7"/>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2" name="Google Shape;62;p7"/>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chemeClr val="dk1"/>
              </a:solidFill>
              <a:latin typeface="Lexend Light"/>
              <a:ea typeface="Lexend Light"/>
              <a:cs typeface="Lexend Light"/>
              <a:sym typeface="Lexend Light"/>
            </a:endParaRPr>
          </a:p>
        </p:txBody>
      </p:sp>
      <p:sp>
        <p:nvSpPr>
          <p:cNvPr id="69" name="Google Shape;69;p7"/>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SzPts val="900"/>
              <a:buFont typeface="Lexend Light"/>
              <a:buNone/>
              <a:defRPr sz="900">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70" name="Google Shape;70;p7"/>
          <p:cNvPicPr preferRelativeResize="0"/>
          <p:nvPr/>
        </p:nvPicPr>
        <p:blipFill>
          <a:blip r:embed="rId6">
            <a:alphaModFix/>
          </a:blip>
          <a:stretch>
            <a:fillRect/>
          </a:stretch>
        </p:blipFill>
        <p:spPr>
          <a:xfrm>
            <a:off x="5722275" y="215694"/>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71" name="Shape 71"/>
        <p:cNvGrpSpPr/>
        <p:nvPr/>
      </p:nvGrpSpPr>
      <p:grpSpPr>
        <a:xfrm>
          <a:off x="0" y="0"/>
          <a:ext cx="0" cy="0"/>
        </a:xfrm>
      </p:grpSpPr>
      <p:pic>
        <p:nvPicPr>
          <p:cNvPr id="72" name="Google Shape;72;p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73" name="Google Shape;73;p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5" name="Google Shape;75;p8"/>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pic>
        <p:nvPicPr>
          <p:cNvPr id="79" name="Google Shape;79;p8"/>
          <p:cNvPicPr preferRelativeResize="0"/>
          <p:nvPr/>
        </p:nvPicPr>
        <p:blipFill>
          <a:blip r:embed="rId4">
            <a:alphaModFix/>
          </a:blip>
          <a:stretch>
            <a:fillRect/>
          </a:stretch>
        </p:blipFill>
        <p:spPr>
          <a:xfrm rot="-5400000">
            <a:off x="319775" y="1225719"/>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guide id="19" orient="horz" pos="6508" userDrawn="1">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xfrm>
      </p:grpSpPr>
      <p:pic>
        <p:nvPicPr>
          <p:cNvPr id="81" name="Google Shape;81;p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82" name="Google Shape;82;p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solidFill>
                  <a:schemeClr val="dk1"/>
                </a:solidFill>
                <a:latin typeface="Lexend"/>
                <a:ea typeface="Lexend"/>
                <a:cs typeface="Lexend"/>
                <a:sym typeface="Lexend"/>
              </a:rPr>
              <a:t>Worksheet</a:t>
            </a:r>
            <a:endParaRPr sz="900" b="1">
              <a:solidFill>
                <a:schemeClr val="dk1"/>
              </a:solidFill>
              <a:latin typeface="Lexend"/>
              <a:ea typeface="Lexend"/>
              <a:cs typeface="Lexend"/>
              <a:sym typeface="Lexend"/>
            </a:endParaRPr>
          </a:p>
        </p:txBody>
      </p:sp>
      <p:pic>
        <p:nvPicPr>
          <p:cNvPr id="84" name="Google Shape;84;p9"/>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86" name="Google Shape;86;p9"/>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guide id="19" orient="horz" pos="6508" userDrawn="1">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xfrm>
      </p:grpSpPr>
      <p:pic>
        <p:nvPicPr>
          <p:cNvPr id="88" name="Google Shape;88;p10"/>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89" name="Google Shape;89;p10"/>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solidFill>
                  <a:schemeClr val="dk1"/>
                </a:solidFill>
                <a:latin typeface="Lexend"/>
                <a:ea typeface="Lexend"/>
                <a:cs typeface="Lexend"/>
                <a:sym typeface="Lexend"/>
              </a:rPr>
              <a:t>Worksheet</a:t>
            </a:r>
            <a:endParaRPr sz="900" b="1">
              <a:solidFill>
                <a:schemeClr val="dk1"/>
              </a:solidFill>
              <a:latin typeface="Lexend"/>
              <a:ea typeface="Lexend"/>
              <a:cs typeface="Lexend"/>
              <a:sym typeface="Lexend"/>
            </a:endParaRPr>
          </a:p>
        </p:txBody>
      </p:sp>
      <p:pic>
        <p:nvPicPr>
          <p:cNvPr id="91" name="Google Shape;91;p10"/>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chemeClr val="dk1"/>
              </a:solidFill>
              <a:latin typeface="Lexend Light"/>
              <a:ea typeface="Lexend Light"/>
              <a:cs typeface="Lexend Light"/>
              <a:sym typeface="Lexend Light"/>
            </a:endParaRPr>
          </a:p>
        </p:txBody>
      </p:sp>
      <p:sp>
        <p:nvSpPr>
          <p:cNvPr id="96" name="Google Shape;96;p10"/>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SzPts val="900"/>
              <a:buFont typeface="Lexend Light"/>
              <a:buNone/>
              <a:defRPr sz="900">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97" name="Google Shape;97;p10"/>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guide id="19" orient="horz" pos="6508" userDrawn="1">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xfrm>
      </p:grpSpPr>
      <p:pic>
        <p:nvPicPr>
          <p:cNvPr id="99" name="Google Shape;99;p11"/>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00" name="Google Shape;100;p11"/>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2" name="Google Shape;102;p11"/>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chemeClr val="dk1"/>
              </a:solidFill>
              <a:latin typeface="Lexend Light"/>
              <a:ea typeface="Lexend Light"/>
              <a:cs typeface="Lexend Light"/>
              <a:sym typeface="Lexend Light"/>
            </a:endParaRPr>
          </a:p>
        </p:txBody>
      </p:sp>
      <p:sp>
        <p:nvSpPr>
          <p:cNvPr id="109" name="Google Shape;109;p11"/>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SzPts val="900"/>
              <a:buFont typeface="Lexend Light"/>
              <a:buNone/>
              <a:defRPr sz="900">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10" name="Google Shape;110;p11"/>
          <p:cNvPicPr preferRelativeResize="0"/>
          <p:nvPr/>
        </p:nvPicPr>
        <p:blipFill>
          <a:blip r:embed="rId6">
            <a:alphaModFix/>
          </a:blip>
          <a:stretch>
            <a:fillRect/>
          </a:stretch>
        </p:blipFill>
        <p:spPr>
          <a:xfrm rot="-5400000">
            <a:off x="319775" y="1225719"/>
            <a:ext cx="504000" cy="504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userDrawn="1">
          <p15:clr>
            <a:srgbClr val="D9D9D9"/>
          </p15:clr>
        </p15:guide>
        <p15:guide id="2" orient="horz" pos="544" userDrawn="1">
          <p15:clr>
            <a:srgbClr val="D9D9D9"/>
          </p15:clr>
        </p15:guide>
        <p15:guide id="3" orient="horz" pos="1916" userDrawn="1">
          <p15:clr>
            <a:srgbClr val="D9D9D9"/>
          </p15:clr>
        </p15:guide>
        <p15:guide id="4" orient="horz" pos="3368" userDrawn="1">
          <p15:clr>
            <a:srgbClr val="D9D9D9"/>
          </p15:clr>
        </p15:guide>
        <p15:guide id="5" orient="horz" pos="4762" userDrawn="1">
          <p15:clr>
            <a:srgbClr val="D9D9D9"/>
          </p15:clr>
        </p15:guide>
        <p15:guide id="6" orient="horz" pos="6282" userDrawn="1">
          <p15:clr>
            <a:srgbClr val="D9D9D9"/>
          </p15:clr>
        </p15:guide>
        <p15:guide id="7" pos="295" userDrawn="1">
          <p15:clr>
            <a:srgbClr val="FF0000"/>
          </p15:clr>
        </p15:guide>
        <p15:guide id="8" pos="4467" userDrawn="1">
          <p15:clr>
            <a:srgbClr val="FF0000"/>
          </p15:clr>
        </p15:guide>
        <p15:guide id="9" pos="1519" userDrawn="1">
          <p15:clr>
            <a:srgbClr val="D9D9D9"/>
          </p15:clr>
        </p15:guide>
        <p15:guide id="10" pos="1764" userDrawn="1">
          <p15:clr>
            <a:srgbClr val="D9D9D9"/>
          </p15:clr>
        </p15:guide>
        <p15:guide id="11" pos="3243" userDrawn="1">
          <p15:clr>
            <a:srgbClr val="D9D9D9"/>
          </p15:clr>
        </p15:guide>
        <p15:guide id="12" pos="2998" userDrawn="1">
          <p15:clr>
            <a:srgbClr val="D9D9D9"/>
          </p15:clr>
        </p15:guide>
        <p15:guide id="13" pos="3120" userDrawn="1">
          <p15:clr>
            <a:srgbClr val="D9D9D9"/>
          </p15:clr>
        </p15:guide>
        <p15:guide id="14" pos="1642" userDrawn="1">
          <p15:clr>
            <a:srgbClr val="D9D9D9"/>
          </p15:clr>
        </p15:guide>
        <p15:guide id="15" pos="2381" userDrawn="1">
          <p15:clr>
            <a:srgbClr val="D9D9D9"/>
          </p15:clr>
        </p15:guide>
        <p15:guide id="16" pos="2154" userDrawn="1">
          <p15:clr>
            <a:srgbClr val="FF0000"/>
          </p15:clr>
        </p15:guide>
        <p15:guide id="17" pos="2608" userDrawn="1">
          <p15:clr>
            <a:srgbClr val="FF0000"/>
          </p15:clr>
        </p15:guide>
        <p15:guide id="18" orient="horz" pos="227" userDrawn="1">
          <p15:clr>
            <a:srgbClr val="FF0000"/>
          </p15:clr>
        </p15:guide>
        <p15:guide id="19" orient="horz" pos="6508" userDrawn="1">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1"/>
              </a:buClr>
              <a:buSzPts val="1800"/>
              <a:buFont typeface="Lexend"/>
              <a:buChar char="●"/>
              <a:defRPr sz="1800" i="0" u="none" strike="noStrike" cap="none">
                <a:solidFill>
                  <a:schemeClr val="dk1"/>
                </a:solidFill>
                <a:latin typeface="Lexend"/>
                <a:ea typeface="Lexend"/>
                <a:cs typeface="Lexend"/>
                <a:sym typeface="Lexend"/>
              </a:defRPr>
            </a:lvl1pPr>
            <a:lvl2pPr marL="914400" marR="0" lvl="1"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2pPr>
            <a:lvl3pPr marL="1371600" marR="0" lvl="2"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3pPr>
            <a:lvl4pPr marL="1828800" marR="0" lvl="3"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4pPr>
            <a:lvl5pPr marL="2286000" marR="0" lvl="4"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5pPr>
            <a:lvl6pPr marL="2743200" marR="0" lvl="5"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6pPr>
            <a:lvl7pPr marL="3200400" marR="0" lvl="6"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7pPr>
            <a:lvl8pPr marL="3657600" marR="0" lvl="7" indent="-317500" algn="l" rtl="0">
              <a:lnSpc>
                <a:spcPct val="115000"/>
              </a:lnSpc>
              <a:spcBef>
                <a:spcPct val="0"/>
              </a:spcBef>
              <a:spcAft>
                <a:spcPct val="0"/>
              </a:spcAft>
              <a:buClr>
                <a:schemeClr val="dk1"/>
              </a:buClr>
              <a:buSzPts val="1400"/>
              <a:buFont typeface="Lexend"/>
              <a:buChar char="○"/>
              <a:defRPr sz="1400" i="0" u="none" strike="noStrike" cap="none">
                <a:solidFill>
                  <a:schemeClr val="dk1"/>
                </a:solidFill>
                <a:latin typeface="Lexend"/>
                <a:ea typeface="Lexend"/>
                <a:cs typeface="Lexend"/>
                <a:sym typeface="Lexend"/>
              </a:defRPr>
            </a:lvl8pPr>
            <a:lvl9pPr marL="4114800" marR="0" lvl="8" indent="-317500" algn="l" rtl="0">
              <a:lnSpc>
                <a:spcPct val="115000"/>
              </a:lnSpc>
              <a:spcBef>
                <a:spcPct val="0"/>
              </a:spcBef>
              <a:spcAft>
                <a:spcPct val="0"/>
              </a:spcAft>
              <a:buClr>
                <a:schemeClr val="dk1"/>
              </a:buClr>
              <a:buSzPts val="1400"/>
              <a:buFont typeface="Kalam"/>
              <a:buChar char="■"/>
              <a:defRPr sz="1400" i="0" u="none" strike="noStrike" cap="none">
                <a:solidFill>
                  <a:schemeClr val="dk1"/>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1"/>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12.png" /><Relationship Id="rId2" Type="http://schemas.openxmlformats.org/officeDocument/2006/relationships/notesSlide" Target="../notesSlides/notesSlide1.xml"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9.png" /><Relationship Id="rId8" Type="http://schemas.openxmlformats.org/officeDocument/2006/relationships/image" Target="../media/image10.png" /><Relationship Id="rId9" Type="http://schemas.openxmlformats.org/officeDocument/2006/relationships/image" Target="../media/image11.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xml" /><Relationship Id="rId3" Type="http://schemas.openxmlformats.org/officeDocument/2006/relationships/image" Target="../media/image13.png" /><Relationship Id="rId4" Type="http://schemas.openxmlformats.org/officeDocument/2006/relationships/image" Target="../media/image9.png" /><Relationship Id="rId5" Type="http://schemas.openxmlformats.org/officeDocument/2006/relationships/image" Target="../media/image14.png" /><Relationship Id="rId6" Type="http://schemas.openxmlformats.org/officeDocument/2006/relationships/image" Target="../media/image8.png" /><Relationship Id="rId7" Type="http://schemas.openxmlformats.org/officeDocument/2006/relationships/image" Target="../media/image12.png" /><Relationship Id="rId8" Type="http://schemas.openxmlformats.org/officeDocument/2006/relationships/image" Target="../media/image11.png" /><Relationship Id="rId9" Type="http://schemas.openxmlformats.org/officeDocument/2006/relationships/image" Target="../media/image10.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xml"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11.png" /><Relationship Id="rId6" Type="http://schemas.openxmlformats.org/officeDocument/2006/relationships/image" Target="../media/image12.png" /><Relationship Id="rId7" Type="http://schemas.openxmlformats.org/officeDocument/2006/relationships/image" Target="../media/image8.png" /><Relationship Id="rId8" Type="http://schemas.openxmlformats.org/officeDocument/2006/relationships/image" Target="../media/image7.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 Id="rId3" Type="http://schemas.openxmlformats.org/officeDocument/2006/relationships/image" Target="../media/image15.png" /><Relationship Id="rId4" Type="http://schemas.openxmlformats.org/officeDocument/2006/relationships/image" Target="../media/image14.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4" name="Shape 114"/>
        <p:cNvGrpSpPr/>
        <p:nvPr/>
      </p:nvGrpSpPr>
      <p:grpSpPr>
        <a:xfrm>
          <a:off x="0" y="0"/>
          <a:ext cx="0" cy="0"/>
        </a:xfrm>
      </p:grpSpPr>
      <p:sp>
        <p:nvSpPr>
          <p:cNvPr id="115" name="Google Shape;11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solidFill>
                  <a:schemeClr val="dk1"/>
                </a:solidFill>
              </a:rPr>
              <a:t>1</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Understanding weather data</a:t>
            </a:r>
            <a:endParaRPr/>
          </a:p>
        </p:txBody>
      </p:sp>
      <p:sp>
        <p:nvSpPr>
          <p:cNvPr id="117" name="Google Shape;117;p12"/>
          <p:cNvSpPr txBox="1"/>
          <p:nvPr/>
        </p:nvSpPr>
        <p:spPr>
          <a:xfrm>
            <a:off x="380486" y="1715457"/>
            <a:ext cx="6624000" cy="554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ts val="1000"/>
              </a:spcAft>
              <a:buNone/>
            </a:pPr>
            <a:r>
              <a:rPr lang="en-GB" sz="1200">
                <a:latin typeface="Lexend"/>
                <a:ea typeface="Lexend"/>
                <a:cs typeface="Lexend"/>
                <a:sym typeface="Lexend"/>
              </a:rPr>
              <a:t>1) At 8 am, Sofia cycles to Oakfield Academy from her house near the Old Town. </a:t>
            </a:r>
            <a:br>
              <a:rPr lang="en-GB" sz="1200">
                <a:latin typeface="Lexend"/>
                <a:ea typeface="Lexend"/>
                <a:cs typeface="Lexend"/>
                <a:sym typeface="Lexend"/>
              </a:rPr>
            </a:br>
            <a:r>
              <a:rPr lang="en-GB" sz="1200">
                <a:latin typeface="Lexend"/>
                <a:ea typeface="Lexend"/>
                <a:cs typeface="Lexend"/>
                <a:sym typeface="Lexend"/>
              </a:rPr>
              <a:t>    The dotted line shows Sofia’s route.</a:t>
            </a:r>
            <a:endParaRPr sz="1200"/>
          </a:p>
        </p:txBody>
      </p:sp>
      <p:sp>
        <p:nvSpPr>
          <p:cNvPr id="118" name="Google Shape;118;p12"/>
          <p:cNvSpPr txBox="1"/>
          <p:nvPr/>
        </p:nvSpPr>
        <p:spPr>
          <a:xfrm>
            <a:off x="620250" y="2356929"/>
            <a:ext cx="2688300" cy="21864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Sofia has the following items</a:t>
            </a:r>
            <a:r>
              <a:rPr lang="en-GB" sz="1200">
                <a:latin typeface="Lexend"/>
                <a:ea typeface="Lexend"/>
                <a:cs typeface="Lexend"/>
                <a:sym typeface="Lexend"/>
              </a:rPr>
              <a:t>:</a:t>
            </a:r>
            <a:endParaRPr sz="1200">
              <a:solidFill>
                <a:srgbClr val="000000"/>
              </a:solidFill>
              <a:latin typeface="Lexend"/>
              <a:ea typeface="Lexend"/>
              <a:cs typeface="Lexend"/>
              <a:sym typeface="Lexend"/>
            </a:endParaRPr>
          </a:p>
          <a:p>
            <a:pPr marL="457200" lvl="0" indent="-304800" algn="l" rtl="0">
              <a:spcBef>
                <a:spcPts val="1000"/>
              </a:spcBef>
              <a:spcAft>
                <a:spcPct val="0"/>
              </a:spcAft>
              <a:buSzPts val="1200"/>
              <a:buFont typeface="Lexend"/>
              <a:buChar char="●"/>
            </a:pPr>
            <a:r>
              <a:rPr lang="en-GB" sz="1200">
                <a:latin typeface="Lexend"/>
                <a:ea typeface="Lexend"/>
                <a:cs typeface="Lexend"/>
                <a:sym typeface="Lexend"/>
              </a:rPr>
              <a:t>sunglasses (for constant sunny weather)</a:t>
            </a:r>
            <a:endParaRPr sz="1200">
              <a:latin typeface="Lexend"/>
              <a:ea typeface="Lexend"/>
              <a:cs typeface="Lexend"/>
              <a:sym typeface="Lexend"/>
            </a:endParaRPr>
          </a:p>
          <a:p>
            <a:pPr marL="457200" lvl="0" indent="-304800" algn="l" rtl="0">
              <a:spcBef>
                <a:spcPts val="1000"/>
              </a:spcBef>
              <a:spcAft>
                <a:spcPct val="0"/>
              </a:spcAft>
              <a:buSzPts val="1200"/>
              <a:buFont typeface="Lexend"/>
              <a:buChar char="●"/>
            </a:pPr>
            <a:r>
              <a:rPr lang="en-GB" sz="1200">
                <a:latin typeface="Lexend"/>
                <a:ea typeface="Lexend"/>
                <a:cs typeface="Lexend"/>
                <a:sym typeface="Lexend"/>
              </a:rPr>
              <a:t>raincoat (for any amount of rain)</a:t>
            </a:r>
            <a:endParaRPr sz="1200">
              <a:latin typeface="Lexend"/>
              <a:ea typeface="Lexend"/>
              <a:cs typeface="Lexend"/>
              <a:sym typeface="Lexend"/>
            </a:endParaRPr>
          </a:p>
          <a:p>
            <a:pPr marL="457200" lvl="0" indent="-304800" algn="l" rtl="0">
              <a:spcBef>
                <a:spcPts val="1000"/>
              </a:spcBef>
              <a:spcAft>
                <a:spcPct val="0"/>
              </a:spcAft>
              <a:buSzPts val="1200"/>
              <a:buFont typeface="Lexend"/>
              <a:buChar char="●"/>
            </a:pPr>
            <a:r>
              <a:rPr lang="en-GB" sz="1200">
                <a:latin typeface="Lexend"/>
                <a:ea typeface="Lexend"/>
                <a:cs typeface="Lexend"/>
                <a:sym typeface="Lexend"/>
              </a:rPr>
              <a:t>scarf (if the temperature drops below 10°C)</a:t>
            </a:r>
            <a:endParaRPr sz="1200">
              <a:latin typeface="Lexend"/>
              <a:ea typeface="Lexend"/>
              <a:cs typeface="Lexend"/>
              <a:sym typeface="Lexend"/>
            </a:endParaRPr>
          </a:p>
          <a:p>
            <a:pPr marL="0" lvl="0" indent="0" algn="l" rtl="0">
              <a:spcBef>
                <a:spcPts val="1000"/>
              </a:spcBef>
              <a:spcAft>
                <a:spcPts val="1000"/>
              </a:spcAft>
              <a:buNone/>
            </a:pPr>
            <a:r>
              <a:rPr lang="en-GB" sz="1200">
                <a:solidFill>
                  <a:srgbClr val="000000"/>
                </a:solidFill>
                <a:latin typeface="Lexend"/>
                <a:ea typeface="Lexend"/>
                <a:cs typeface="Lexend"/>
                <a:sym typeface="Lexend"/>
              </a:rPr>
              <a:t>Which should she bring for her journey to Oakfield Academy?                                    Justify your answer for each one.</a:t>
            </a:r>
            <a:endParaRPr sz="1200">
              <a:latin typeface="Lexend"/>
              <a:ea typeface="Lexend"/>
              <a:cs typeface="Lexend"/>
              <a:sym typeface="Lexend"/>
            </a:endParaRPr>
          </a:p>
        </p:txBody>
      </p:sp>
      <p:sp>
        <p:nvSpPr>
          <p:cNvPr id="119" name="Google Shape;119;p12"/>
          <p:cNvSpPr txBox="1"/>
          <p:nvPr/>
        </p:nvSpPr>
        <p:spPr>
          <a:xfrm>
            <a:off x="476400" y="6475175"/>
            <a:ext cx="4853100" cy="21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2) This weather report shows weather data for 1st June 2024.</a:t>
            </a:r>
            <a:endParaRPr sz="1200">
              <a:latin typeface="Lexend"/>
              <a:ea typeface="Lexend"/>
              <a:cs typeface="Lexend"/>
              <a:sym typeface="Lexend"/>
            </a:endParaRPr>
          </a:p>
        </p:txBody>
      </p:sp>
      <p:sp>
        <p:nvSpPr>
          <p:cNvPr id="120" name="Google Shape;120;p12"/>
          <p:cNvSpPr txBox="1"/>
          <p:nvPr/>
        </p:nvSpPr>
        <p:spPr>
          <a:xfrm>
            <a:off x="476400" y="7990114"/>
            <a:ext cx="5930400" cy="1234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Lexend"/>
                <a:ea typeface="Lexend"/>
                <a:cs typeface="Lexend"/>
                <a:sym typeface="Lexend"/>
              </a:rPr>
              <a:t>a) Between which two times is sunrise?</a:t>
            </a:r>
            <a:endParaRPr sz="1200">
              <a:latin typeface="Lexend"/>
              <a:ea typeface="Lexend"/>
              <a:cs typeface="Lexend"/>
              <a:sym typeface="Lexend"/>
            </a:endParaRPr>
          </a:p>
          <a:p>
            <a:pPr marL="0" lvl="0" indent="0" algn="l" rtl="0">
              <a:spcBef>
                <a:spcPts val="1000"/>
              </a:spcBef>
              <a:spcAft>
                <a:spcPct val="0"/>
              </a:spcAft>
              <a:buNone/>
            </a:pPr>
            <a:r>
              <a:rPr lang="en-GB" sz="1200">
                <a:latin typeface="Lexend"/>
                <a:ea typeface="Lexend"/>
                <a:cs typeface="Lexend"/>
                <a:sym typeface="Lexend"/>
              </a:rPr>
              <a:t>b) Describe the trend in the weather conditions between 8 am and 12 pm.</a:t>
            </a:r>
            <a:br>
              <a:rPr lang="en-GB" sz="1200">
                <a:latin typeface="Lexend"/>
                <a:ea typeface="Lexend"/>
                <a:cs typeface="Lexend"/>
                <a:sym typeface="Lexend"/>
              </a:rPr>
            </a:br>
            <a:br>
              <a:rPr lang="en-GB" sz="1200">
                <a:latin typeface="Lexend"/>
                <a:ea typeface="Lexend"/>
                <a:cs typeface="Lexend"/>
                <a:sym typeface="Lexend"/>
              </a:rPr>
            </a:br>
            <a:endParaRPr sz="1200">
              <a:latin typeface="Lexend"/>
              <a:ea typeface="Lexend"/>
              <a:cs typeface="Lexend"/>
              <a:sym typeface="Lexend"/>
            </a:endParaRPr>
          </a:p>
          <a:p>
            <a:pPr marL="0" lvl="0" indent="0" algn="l" rtl="0">
              <a:spcBef>
                <a:spcPts val="1000"/>
              </a:spcBef>
              <a:spcAft>
                <a:spcPct val="0"/>
              </a:spcAft>
              <a:buNone/>
            </a:pPr>
            <a:r>
              <a:rPr lang="en-GB" sz="1200">
                <a:solidFill>
                  <a:srgbClr val="000000"/>
                </a:solidFill>
                <a:latin typeface="Lexend"/>
                <a:ea typeface="Lexend"/>
                <a:cs typeface="Lexend"/>
                <a:sym typeface="Lexend"/>
              </a:rPr>
              <a:t>c) What is the mean temperature during the night-time hours?</a:t>
            </a:r>
            <a:endParaRPr sz="1200">
              <a:latin typeface="Lexend"/>
              <a:ea typeface="Lexend"/>
              <a:cs typeface="Lexend"/>
              <a:sym typeface="Lexend"/>
            </a:endParaRPr>
          </a:p>
          <a:p>
            <a:pPr marL="0" lvl="0" indent="0" algn="l" rtl="0">
              <a:spcBef>
                <a:spcPts val="1000"/>
              </a:spcBef>
              <a:spcAft>
                <a:spcPts val="1000"/>
              </a:spcAft>
              <a:buNone/>
            </a:pPr>
            <a:r>
              <a:rPr lang="en-GB" sz="1200">
                <a:latin typeface="Lexend"/>
                <a:ea typeface="Lexend"/>
                <a:cs typeface="Lexend"/>
                <a:sym typeface="Lexend"/>
              </a:rPr>
              <a:t>d) Which of these weather conditions is likely at 1 pm? Justify your choices.</a:t>
            </a:r>
            <a:endParaRPr sz="1200">
              <a:latin typeface="Lexend"/>
              <a:ea typeface="Lexend"/>
              <a:cs typeface="Lexend"/>
              <a:sym typeface="Lexend"/>
            </a:endParaRPr>
          </a:p>
        </p:txBody>
      </p:sp>
      <p:graphicFrame>
        <p:nvGraphicFramePr>
          <p:cNvPr id="121" name="Google Shape;121;p12"/>
          <p:cNvGraphicFramePr>
            <a:graphicFrameLocks noGrp="1"/>
          </p:cNvGraphicFramePr>
          <p:nvPr/>
        </p:nvGraphicFramePr>
        <p:xfrm>
          <a:off x="708988" y="6779971"/>
          <a:ext cx="6126600" cy="927805"/>
        </p:xfrm>
        <a:graphic>
          <a:graphicData uri="http://schemas.openxmlformats.org/drawingml/2006/table">
            <a:tbl>
              <a:tblPr>
                <a:noFill/>
                <a:tableStyleId>{3DB86B96-013B-4E5B-9F61-9EA4DADEA6BC}</a:tableStyleId>
              </a:tblPr>
              <a:tblGrid>
                <a:gridCol w="765825"/>
                <a:gridCol w="765825"/>
                <a:gridCol w="765825"/>
                <a:gridCol w="765825"/>
                <a:gridCol w="765825"/>
                <a:gridCol w="765825"/>
                <a:gridCol w="765825"/>
                <a:gridCol w="765825"/>
              </a:tblGrid>
              <a:tr h="11535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00:00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02:00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04:00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06:00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08:00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10:00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12:00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14:00</a:t>
                      </a:r>
                      <a:endParaRPr sz="1200">
                        <a:solidFill>
                          <a:srgbClr val="FFFFFF"/>
                        </a:solidFill>
                        <a:latin typeface="Lexend"/>
                        <a:ea typeface="Lexend"/>
                        <a:cs typeface="Lexend"/>
                        <a:sym typeface="Lexend"/>
                      </a:endParaRPr>
                    </a:p>
                  </a:txBody>
                  <a:tcPr marL="0" marR="0" marT="0" marB="0" anchor="ctr">
                    <a:solidFill>
                      <a:schemeClr val="dk2"/>
                    </a:solidFill>
                  </a:tcPr>
                </a:tc>
              </a:tr>
              <a:tr h="465600">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r>
              <a:tr h="279325">
                <a:tc>
                  <a:txBody>
                    <a:bodyPr vert="horz" wrap="square"/>
                    <a:lstStyle/>
                    <a:p>
                      <a:pPr marL="0" lvl="0" indent="0" algn="ctr" rtl="0">
                        <a:spcBef>
                          <a:spcPct val="0"/>
                        </a:spcBef>
                        <a:spcAft>
                          <a:spcPct val="0"/>
                        </a:spcAft>
                        <a:buNone/>
                      </a:pPr>
                      <a:r>
                        <a:rPr lang="en-GB" sz="1200">
                          <a:latin typeface="Lexend"/>
                          <a:ea typeface="Lexend"/>
                          <a:cs typeface="Lexend"/>
                          <a:sym typeface="Lexend"/>
                        </a:rPr>
                        <a:t>9°C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10°C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8°C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10°C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13°C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12°C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11°C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12°C</a:t>
                      </a:r>
                      <a:endParaRPr sz="1200">
                        <a:latin typeface="Lexend"/>
                        <a:ea typeface="Lexend"/>
                        <a:cs typeface="Lexend"/>
                        <a:sym typeface="Lexend"/>
                      </a:endParaRPr>
                    </a:p>
                  </a:txBody>
                  <a:tcPr marL="0" marR="0" marT="0" marB="0" anchor="ctr"/>
                </a:tc>
              </a:tr>
            </a:tbl>
          </a:graphicData>
        </a:graphic>
      </p:graphicFrame>
      <p:sp>
        <p:nvSpPr>
          <p:cNvPr id="122" name="Google Shape;122;p12"/>
          <p:cNvSpPr txBox="1"/>
          <p:nvPr/>
        </p:nvSpPr>
        <p:spPr>
          <a:xfrm>
            <a:off x="4655329" y="7732818"/>
            <a:ext cx="2434800" cy="268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200">
                <a:latin typeface="Lexend"/>
                <a:ea typeface="Lexend"/>
                <a:cs typeface="Lexend"/>
                <a:sym typeface="Lexend"/>
              </a:rPr>
              <a:t>weather at “Oakfield Harbour”</a:t>
            </a:r>
            <a:endParaRPr sz="1200">
              <a:solidFill>
                <a:srgbClr val="000000"/>
              </a:solidFill>
              <a:latin typeface="Lexend"/>
              <a:ea typeface="Lexend"/>
              <a:cs typeface="Lexend"/>
              <a:sym typeface="Lexend"/>
            </a:endParaRPr>
          </a:p>
        </p:txBody>
      </p:sp>
      <p:sp>
        <p:nvSpPr>
          <p:cNvPr id="123" name="Google Shape;123;p12"/>
          <p:cNvSpPr/>
          <p:nvPr/>
        </p:nvSpPr>
        <p:spPr>
          <a:xfrm flipH="1">
            <a:off x="706550" y="9564596"/>
            <a:ext cx="997800" cy="373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sunny</a:t>
            </a:r>
            <a:endParaRPr sz="1200">
              <a:latin typeface="Lexend"/>
              <a:ea typeface="Lexend"/>
              <a:cs typeface="Lexend"/>
              <a:sym typeface="Lexend"/>
            </a:endParaRPr>
          </a:p>
        </p:txBody>
      </p:sp>
      <p:sp>
        <p:nvSpPr>
          <p:cNvPr id="124" name="Google Shape;124;p12"/>
          <p:cNvSpPr/>
          <p:nvPr/>
        </p:nvSpPr>
        <p:spPr>
          <a:xfrm flipH="1">
            <a:off x="1904876" y="9564596"/>
            <a:ext cx="997800" cy="373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sunny intervals</a:t>
            </a:r>
            <a:endParaRPr sz="1200">
              <a:latin typeface="Lexend"/>
              <a:ea typeface="Lexend"/>
              <a:cs typeface="Lexend"/>
              <a:sym typeface="Lexend"/>
            </a:endParaRPr>
          </a:p>
        </p:txBody>
      </p:sp>
      <p:sp>
        <p:nvSpPr>
          <p:cNvPr id="125" name="Google Shape;125;p12"/>
          <p:cNvSpPr/>
          <p:nvPr/>
        </p:nvSpPr>
        <p:spPr>
          <a:xfrm flipH="1">
            <a:off x="3103200" y="9564596"/>
            <a:ext cx="997800" cy="373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rain showers</a:t>
            </a:r>
            <a:endParaRPr sz="1200">
              <a:latin typeface="Lexend"/>
              <a:ea typeface="Lexend"/>
              <a:cs typeface="Lexend"/>
              <a:sym typeface="Lexend"/>
            </a:endParaRPr>
          </a:p>
        </p:txBody>
      </p:sp>
      <p:sp>
        <p:nvSpPr>
          <p:cNvPr id="126" name="Google Shape;126;p12"/>
          <p:cNvSpPr/>
          <p:nvPr/>
        </p:nvSpPr>
        <p:spPr>
          <a:xfrm flipH="1">
            <a:off x="4301525" y="9564596"/>
            <a:ext cx="997800" cy="373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heavy rain</a:t>
            </a:r>
            <a:endParaRPr sz="1200">
              <a:latin typeface="Lexend"/>
              <a:ea typeface="Lexend"/>
              <a:cs typeface="Lexend"/>
              <a:sym typeface="Lexend"/>
            </a:endParaRPr>
          </a:p>
        </p:txBody>
      </p:sp>
      <p:sp>
        <p:nvSpPr>
          <p:cNvPr id="127" name="Google Shape;127;p12"/>
          <p:cNvSpPr/>
          <p:nvPr/>
        </p:nvSpPr>
        <p:spPr>
          <a:xfrm flipH="1">
            <a:off x="5499850" y="9564596"/>
            <a:ext cx="997800" cy="373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lightning</a:t>
            </a:r>
            <a:endParaRPr sz="1200">
              <a:latin typeface="Lexend"/>
              <a:ea typeface="Lexend"/>
              <a:cs typeface="Lexend"/>
              <a:sym typeface="Lexend"/>
            </a:endParaRPr>
          </a:p>
        </p:txBody>
      </p:sp>
      <p:sp>
        <p:nvSpPr>
          <p:cNvPr id="128" name="Google Shape;128;p12"/>
          <p:cNvSpPr txBox="1"/>
          <p:nvPr/>
        </p:nvSpPr>
        <p:spPr>
          <a:xfrm>
            <a:off x="468001" y="1335050"/>
            <a:ext cx="6194100" cy="2931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 </a:t>
            </a:r>
            <a:r>
              <a:rPr lang="en-GB" b="1">
                <a:latin typeface="Lexend"/>
                <a:ea typeface="Lexend"/>
                <a:cs typeface="Lexend"/>
                <a:sym typeface="Lexend"/>
              </a:rPr>
              <a:t>Understanding a basic weather forecast</a:t>
            </a:r>
            <a:endParaRPr b="1">
              <a:solidFill>
                <a:srgbClr val="000000"/>
              </a:solidFill>
              <a:latin typeface="Lexend"/>
              <a:ea typeface="Lexend"/>
              <a:cs typeface="Lexend"/>
              <a:sym typeface="Lexend"/>
            </a:endParaRPr>
          </a:p>
        </p:txBody>
      </p:sp>
      <p:sp>
        <p:nvSpPr>
          <p:cNvPr id="129" name="Google Shape;129;p12"/>
          <p:cNvSpPr txBox="1"/>
          <p:nvPr/>
        </p:nvSpPr>
        <p:spPr>
          <a:xfrm>
            <a:off x="480150" y="5054523"/>
            <a:ext cx="6624000" cy="1234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Sofia should bring her raincoat, as she passes in between two locations that show rainfall.</a:t>
            </a:r>
            <a:endParaRPr sz="1200">
              <a:solidFill>
                <a:srgbClr val="000000"/>
              </a:solidFill>
              <a:latin typeface="Kalam"/>
              <a:ea typeface="Kalam"/>
              <a:cs typeface="Kalam"/>
              <a:sym typeface="Kalam"/>
            </a:endParaRPr>
          </a:p>
          <a:p>
            <a:pPr marL="0" lvl="0" indent="0" algn="l" rtl="0">
              <a:spcBef>
                <a:spcPts val="1000"/>
              </a:spcBef>
              <a:spcAft>
                <a:spcPct val="0"/>
              </a:spcAft>
              <a:buNone/>
            </a:pPr>
            <a:r>
              <a:rPr lang="en-GB" sz="1200">
                <a:solidFill>
                  <a:srgbClr val="000000"/>
                </a:solidFill>
                <a:latin typeface="Kalam"/>
                <a:ea typeface="Kalam"/>
                <a:cs typeface="Kalam"/>
                <a:sym typeface="Kalam"/>
              </a:rPr>
              <a:t>Sofia should also bring her scarf, as in the locations with rainfall, the temperature drops below 10°C (at 8°C and 9°C).</a:t>
            </a:r>
            <a:endParaRPr sz="1200">
              <a:solidFill>
                <a:srgbClr val="000000"/>
              </a:solidFill>
              <a:latin typeface="Kalam"/>
              <a:ea typeface="Kalam"/>
              <a:cs typeface="Kalam"/>
              <a:sym typeface="Kalam"/>
            </a:endParaRPr>
          </a:p>
          <a:p>
            <a:pPr marL="0" lvl="0" indent="0" algn="l" rtl="0">
              <a:spcBef>
                <a:spcPts val="1000"/>
              </a:spcBef>
              <a:spcAft>
                <a:spcPts val="1000"/>
              </a:spcAft>
              <a:buNone/>
            </a:pPr>
            <a:r>
              <a:rPr lang="en-GB" sz="1200">
                <a:solidFill>
                  <a:srgbClr val="000000"/>
                </a:solidFill>
                <a:latin typeface="Kalam"/>
                <a:ea typeface="Kalam"/>
                <a:cs typeface="Kalam"/>
                <a:sym typeface="Kalam"/>
              </a:rPr>
              <a:t>Sofia does not need to bring sunglasses, as there are only sunny intervals at Oakfield Academy, not constant sun.</a:t>
            </a:r>
            <a:endParaRPr sz="1200">
              <a:solidFill>
                <a:srgbClr val="000000"/>
              </a:solidFill>
              <a:latin typeface="Kalam"/>
              <a:ea typeface="Kalam"/>
              <a:cs typeface="Kalam"/>
              <a:sym typeface="Kalam"/>
            </a:endParaRPr>
          </a:p>
        </p:txBody>
      </p:sp>
      <p:sp>
        <p:nvSpPr>
          <p:cNvPr id="130" name="Google Shape;130;p12"/>
          <p:cNvSpPr txBox="1"/>
          <p:nvPr/>
        </p:nvSpPr>
        <p:spPr>
          <a:xfrm>
            <a:off x="3553150" y="7982651"/>
            <a:ext cx="1815000" cy="21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Between 4 am and 6 am.</a:t>
            </a:r>
            <a:endParaRPr sz="1200">
              <a:latin typeface="Kalam"/>
              <a:ea typeface="Kalam"/>
              <a:cs typeface="Kalam"/>
              <a:sym typeface="Kalam"/>
            </a:endParaRPr>
          </a:p>
        </p:txBody>
      </p:sp>
      <p:sp>
        <p:nvSpPr>
          <p:cNvPr id="131" name="Google Shape;131;p12"/>
          <p:cNvSpPr txBox="1"/>
          <p:nvPr/>
        </p:nvSpPr>
        <p:spPr>
          <a:xfrm>
            <a:off x="683050" y="8549068"/>
            <a:ext cx="3672000" cy="37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The rainfall increases from rain showers to heavy rain.</a:t>
            </a:r>
            <a:br>
              <a:rPr lang="en-GB" sz="1200">
                <a:latin typeface="Kalam"/>
                <a:ea typeface="Kalam"/>
                <a:cs typeface="Kalam"/>
                <a:sym typeface="Kalam"/>
              </a:rPr>
            </a:br>
            <a:r>
              <a:rPr lang="en-GB" sz="1200">
                <a:latin typeface="Kalam"/>
                <a:ea typeface="Kalam"/>
                <a:cs typeface="Kalam"/>
                <a:sym typeface="Kalam"/>
              </a:rPr>
              <a:t>The temperature also drops 2°C, from </a:t>
            </a:r>
            <a:r>
              <a:rPr lang="en-GB" sz="1200">
                <a:solidFill>
                  <a:srgbClr val="000000"/>
                </a:solidFill>
                <a:latin typeface="Kalam"/>
                <a:ea typeface="Kalam"/>
                <a:cs typeface="Kalam"/>
                <a:sym typeface="Kalam"/>
              </a:rPr>
              <a:t>13°C to 11°C.</a:t>
            </a:r>
            <a:endParaRPr sz="1200">
              <a:latin typeface="Kalam"/>
              <a:ea typeface="Kalam"/>
              <a:cs typeface="Kalam"/>
              <a:sym typeface="Kalam"/>
            </a:endParaRPr>
          </a:p>
        </p:txBody>
      </p:sp>
      <p:sp>
        <p:nvSpPr>
          <p:cNvPr id="132" name="Google Shape;132;p12"/>
          <p:cNvSpPr txBox="1"/>
          <p:nvPr/>
        </p:nvSpPr>
        <p:spPr>
          <a:xfrm>
            <a:off x="5274636" y="8961806"/>
            <a:ext cx="314700" cy="21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9°C</a:t>
            </a:r>
            <a:endParaRPr sz="1200">
              <a:latin typeface="Kalam"/>
              <a:ea typeface="Kalam"/>
              <a:cs typeface="Kalam"/>
              <a:sym typeface="Kalam"/>
            </a:endParaRPr>
          </a:p>
        </p:txBody>
      </p:sp>
      <p:pic>
        <p:nvPicPr>
          <p:cNvPr id="133" name="Google Shape;133;p12"/>
          <p:cNvPicPr preferRelativeResize="0"/>
          <p:nvPr/>
        </p:nvPicPr>
        <p:blipFill>
          <a:blip r:embed="rId3">
            <a:alphaModFix/>
          </a:blip>
          <a:stretch>
            <a:fillRect/>
          </a:stretch>
        </p:blipFill>
        <p:spPr>
          <a:xfrm>
            <a:off x="2769442" y="9575634"/>
            <a:ext cx="205241" cy="217200"/>
          </a:xfrm>
          <a:prstGeom prst="rect">
            <a:avLst/>
          </a:prstGeom>
          <a:noFill/>
          <a:ln>
            <a:noFill/>
          </a:ln>
        </p:spPr>
      </p:pic>
      <p:pic>
        <p:nvPicPr>
          <p:cNvPr id="134" name="Google Shape;134;p12"/>
          <p:cNvPicPr preferRelativeResize="0"/>
          <p:nvPr/>
        </p:nvPicPr>
        <p:blipFill>
          <a:blip r:embed="rId3">
            <a:alphaModFix/>
          </a:blip>
          <a:stretch>
            <a:fillRect/>
          </a:stretch>
        </p:blipFill>
        <p:spPr>
          <a:xfrm>
            <a:off x="3980637" y="9575634"/>
            <a:ext cx="205241" cy="217200"/>
          </a:xfrm>
          <a:prstGeom prst="rect">
            <a:avLst/>
          </a:prstGeom>
          <a:noFill/>
          <a:ln>
            <a:noFill/>
          </a:ln>
        </p:spPr>
      </p:pic>
      <p:pic>
        <p:nvPicPr>
          <p:cNvPr id="135" name="Google Shape;135;p12"/>
          <p:cNvPicPr preferRelativeResize="0"/>
          <p:nvPr/>
        </p:nvPicPr>
        <p:blipFill>
          <a:blip r:embed="rId3">
            <a:alphaModFix/>
          </a:blip>
          <a:stretch>
            <a:fillRect/>
          </a:stretch>
        </p:blipFill>
        <p:spPr>
          <a:xfrm>
            <a:off x="5183829" y="9575634"/>
            <a:ext cx="205241" cy="217200"/>
          </a:xfrm>
          <a:prstGeom prst="rect">
            <a:avLst/>
          </a:prstGeom>
          <a:noFill/>
          <a:ln>
            <a:noFill/>
          </a:ln>
        </p:spPr>
      </p:pic>
      <p:pic>
        <p:nvPicPr>
          <p:cNvPr id="136" name="Google Shape;136;p12"/>
          <p:cNvPicPr preferRelativeResize="0"/>
          <p:nvPr/>
        </p:nvPicPr>
        <p:blipFill>
          <a:blip r:embed="rId4">
            <a:alphaModFix/>
          </a:blip>
          <a:stretch>
            <a:fillRect/>
          </a:stretch>
        </p:blipFill>
        <p:spPr>
          <a:xfrm>
            <a:off x="3174675" y="2269557"/>
            <a:ext cx="3946649" cy="2775873"/>
          </a:xfrm>
          <a:prstGeom prst="rect">
            <a:avLst/>
          </a:prstGeom>
          <a:noFill/>
          <a:ln>
            <a:noFill/>
          </a:ln>
        </p:spPr>
      </p:pic>
      <p:pic>
        <p:nvPicPr>
          <p:cNvPr id="137" name="Google Shape;137;p12"/>
          <p:cNvPicPr preferRelativeResize="0"/>
          <p:nvPr/>
        </p:nvPicPr>
        <p:blipFill>
          <a:blip r:embed="rId5">
            <a:alphaModFix/>
          </a:blip>
          <a:stretch>
            <a:fillRect/>
          </a:stretch>
        </p:blipFill>
        <p:spPr>
          <a:xfrm>
            <a:off x="2456443" y="7029453"/>
            <a:ext cx="352244" cy="391987"/>
          </a:xfrm>
          <a:prstGeom prst="rect">
            <a:avLst/>
          </a:prstGeom>
          <a:noFill/>
          <a:ln>
            <a:noFill/>
          </a:ln>
        </p:spPr>
      </p:pic>
      <p:pic>
        <p:nvPicPr>
          <p:cNvPr id="138" name="Google Shape;138;p12"/>
          <p:cNvPicPr preferRelativeResize="0"/>
          <p:nvPr/>
        </p:nvPicPr>
        <p:blipFill>
          <a:blip r:embed="rId6">
            <a:alphaModFix/>
          </a:blip>
          <a:stretch>
            <a:fillRect/>
          </a:stretch>
        </p:blipFill>
        <p:spPr>
          <a:xfrm>
            <a:off x="3192111" y="7057104"/>
            <a:ext cx="352235" cy="357330"/>
          </a:xfrm>
          <a:prstGeom prst="rect">
            <a:avLst/>
          </a:prstGeom>
          <a:noFill/>
          <a:ln>
            <a:noFill/>
          </a:ln>
        </p:spPr>
      </p:pic>
      <p:pic>
        <p:nvPicPr>
          <p:cNvPr id="139" name="Google Shape;139;p12"/>
          <p:cNvPicPr preferRelativeResize="0"/>
          <p:nvPr/>
        </p:nvPicPr>
        <p:blipFill>
          <a:blip r:embed="rId7">
            <a:alphaModFix/>
          </a:blip>
          <a:stretch>
            <a:fillRect/>
          </a:stretch>
        </p:blipFill>
        <p:spPr>
          <a:xfrm>
            <a:off x="790375" y="6969860"/>
            <a:ext cx="446237" cy="461700"/>
          </a:xfrm>
          <a:prstGeom prst="rect">
            <a:avLst/>
          </a:prstGeom>
          <a:noFill/>
          <a:ln>
            <a:noFill/>
          </a:ln>
        </p:spPr>
      </p:pic>
      <p:pic>
        <p:nvPicPr>
          <p:cNvPr id="140" name="Google Shape;140;p12"/>
          <p:cNvPicPr preferRelativeResize="0"/>
          <p:nvPr/>
        </p:nvPicPr>
        <p:blipFill>
          <a:blip r:embed="rId7">
            <a:alphaModFix/>
          </a:blip>
          <a:stretch>
            <a:fillRect/>
          </a:stretch>
        </p:blipFill>
        <p:spPr>
          <a:xfrm>
            <a:off x="1623403" y="6969860"/>
            <a:ext cx="446237" cy="461700"/>
          </a:xfrm>
          <a:prstGeom prst="rect">
            <a:avLst/>
          </a:prstGeom>
          <a:noFill/>
          <a:ln>
            <a:noFill/>
          </a:ln>
        </p:spPr>
      </p:pic>
      <p:pic>
        <p:nvPicPr>
          <p:cNvPr id="141" name="Google Shape;141;p12"/>
          <p:cNvPicPr preferRelativeResize="0"/>
          <p:nvPr/>
        </p:nvPicPr>
        <p:blipFill>
          <a:blip r:embed="rId8">
            <a:alphaModFix/>
          </a:blip>
          <a:stretch>
            <a:fillRect/>
          </a:stretch>
        </p:blipFill>
        <p:spPr>
          <a:xfrm>
            <a:off x="4028518" y="7036331"/>
            <a:ext cx="352236" cy="398875"/>
          </a:xfrm>
          <a:prstGeom prst="rect">
            <a:avLst/>
          </a:prstGeom>
          <a:noFill/>
          <a:ln>
            <a:noFill/>
          </a:ln>
        </p:spPr>
      </p:pic>
      <p:pic>
        <p:nvPicPr>
          <p:cNvPr id="142" name="Google Shape;142;p12"/>
          <p:cNvPicPr preferRelativeResize="0"/>
          <p:nvPr/>
        </p:nvPicPr>
        <p:blipFill>
          <a:blip r:embed="rId8">
            <a:alphaModFix/>
          </a:blip>
          <a:stretch>
            <a:fillRect/>
          </a:stretch>
        </p:blipFill>
        <p:spPr>
          <a:xfrm>
            <a:off x="4773866" y="7036331"/>
            <a:ext cx="352236" cy="398875"/>
          </a:xfrm>
          <a:prstGeom prst="rect">
            <a:avLst/>
          </a:prstGeom>
          <a:noFill/>
          <a:ln>
            <a:noFill/>
          </a:ln>
        </p:spPr>
      </p:pic>
      <p:pic>
        <p:nvPicPr>
          <p:cNvPr id="143" name="Google Shape;143;p12"/>
          <p:cNvPicPr preferRelativeResize="0"/>
          <p:nvPr/>
        </p:nvPicPr>
        <p:blipFill>
          <a:blip r:embed="rId9">
            <a:alphaModFix/>
          </a:blip>
          <a:stretch>
            <a:fillRect/>
          </a:stretch>
        </p:blipFill>
        <p:spPr>
          <a:xfrm>
            <a:off x="5499854" y="7033565"/>
            <a:ext cx="352235" cy="404418"/>
          </a:xfrm>
          <a:prstGeom prst="rect">
            <a:avLst/>
          </a:prstGeom>
          <a:noFill/>
          <a:ln>
            <a:noFill/>
          </a:ln>
        </p:spPr>
      </p:pic>
      <p:pic>
        <p:nvPicPr>
          <p:cNvPr id="144" name="Google Shape;144;p12"/>
          <p:cNvPicPr preferRelativeResize="0"/>
          <p:nvPr/>
        </p:nvPicPr>
        <p:blipFill>
          <a:blip r:embed="rId10">
            <a:alphaModFix/>
          </a:blip>
          <a:stretch>
            <a:fillRect/>
          </a:stretch>
        </p:blipFill>
        <p:spPr>
          <a:xfrm>
            <a:off x="6215863" y="7056283"/>
            <a:ext cx="446236" cy="300839"/>
          </a:xfrm>
          <a:prstGeom prst="rect">
            <a:avLst/>
          </a:prstGeom>
          <a:noFill/>
          <a:ln>
            <a:noFill/>
          </a:ln>
        </p:spPr>
      </p:pic>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8" name="Shape 148"/>
        <p:cNvGrpSpPr/>
        <p:nvPr/>
      </p:nvGrpSpPr>
      <p:grpSpPr>
        <a:xfrm>
          <a:off x="0" y="0"/>
          <a:ext cx="0" cy="0"/>
        </a:xfrm>
      </p:grpSpPr>
      <p:sp>
        <p:nvSpPr>
          <p:cNvPr id="149" name="Google Shape;149;p13"/>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weather data</a:t>
            </a:r>
            <a:endParaRPr/>
          </a:p>
        </p:txBody>
      </p:sp>
      <p:sp>
        <p:nvSpPr>
          <p:cNvPr id="150" name="Google Shape;150;p13"/>
          <p:cNvSpPr txBox="1"/>
          <p:nvPr/>
        </p:nvSpPr>
        <p:spPr>
          <a:xfrm>
            <a:off x="476400" y="912575"/>
            <a:ext cx="4853100" cy="21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3) The weather report is for a location in Oakfield.</a:t>
            </a:r>
            <a:endParaRPr sz="1200">
              <a:latin typeface="Lexend"/>
              <a:ea typeface="Lexend"/>
              <a:cs typeface="Lexend"/>
              <a:sym typeface="Lexend"/>
            </a:endParaRPr>
          </a:p>
        </p:txBody>
      </p:sp>
      <p:graphicFrame>
        <p:nvGraphicFramePr>
          <p:cNvPr id="151" name="Google Shape;151;p13"/>
          <p:cNvGraphicFramePr>
            <a:graphicFrameLocks noGrp="1"/>
          </p:cNvGraphicFramePr>
          <p:nvPr/>
        </p:nvGraphicFramePr>
        <p:xfrm>
          <a:off x="708988" y="1217371"/>
          <a:ext cx="6126600" cy="927805"/>
        </p:xfrm>
        <a:graphic>
          <a:graphicData uri="http://schemas.openxmlformats.org/drawingml/2006/table">
            <a:tbl>
              <a:tblPr>
                <a:noFill/>
                <a:tableStyleId>{3DB86B96-013B-4E5B-9F61-9EA4DADEA6BC}</a:tableStyleId>
              </a:tblPr>
              <a:tblGrid>
                <a:gridCol w="765825"/>
                <a:gridCol w="765825"/>
                <a:gridCol w="765825"/>
                <a:gridCol w="765825"/>
                <a:gridCol w="765825"/>
                <a:gridCol w="765825"/>
                <a:gridCol w="765825"/>
                <a:gridCol w="765825"/>
              </a:tblGrid>
              <a:tr h="11535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00:00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03:00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06:00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09:00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12:00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15:00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18:00</a:t>
                      </a:r>
                      <a:endParaRPr sz="1200">
                        <a:solidFill>
                          <a:srgbClr val="FFFFFF"/>
                        </a:solidFill>
                        <a:latin typeface="Lexend"/>
                        <a:ea typeface="Lexend"/>
                        <a:cs typeface="Lexend"/>
                        <a:sym typeface="Lexend"/>
                      </a:endParaRPr>
                    </a:p>
                  </a:txBody>
                  <a:tcPr marL="0" marR="0" marT="0" marB="0" anchor="ctr">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21:00</a:t>
                      </a:r>
                      <a:endParaRPr sz="1200">
                        <a:solidFill>
                          <a:srgbClr val="FFFFFF"/>
                        </a:solidFill>
                        <a:latin typeface="Lexend"/>
                        <a:ea typeface="Lexend"/>
                        <a:cs typeface="Lexend"/>
                        <a:sym typeface="Lexend"/>
                      </a:endParaRPr>
                    </a:p>
                  </a:txBody>
                  <a:tcPr marL="0" marR="0" marT="0" marB="0" anchor="ctr">
                    <a:solidFill>
                      <a:schemeClr val="dk2"/>
                    </a:solidFill>
                  </a:tcPr>
                </a:tc>
              </a:tr>
              <a:tr h="465600">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0" marR="0" marT="0" marB="0" anchor="ctr"/>
                </a:tc>
              </a:tr>
              <a:tr h="279325">
                <a:tc>
                  <a:txBody>
                    <a:bodyPr vert="horz" wrap="square"/>
                    <a:lstStyle/>
                    <a:p>
                      <a:pPr marL="0" lvl="0" indent="0" algn="ctr" rtl="0">
                        <a:spcBef>
                          <a:spcPct val="0"/>
                        </a:spcBef>
                        <a:spcAft>
                          <a:spcPct val="0"/>
                        </a:spcAft>
                        <a:buNone/>
                      </a:pPr>
                      <a:r>
                        <a:rPr lang="en-GB" sz="1200">
                          <a:latin typeface="Lexend"/>
                          <a:ea typeface="Lexend"/>
                          <a:cs typeface="Lexend"/>
                          <a:sym typeface="Lexend"/>
                        </a:rPr>
                        <a:t>6°C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latin typeface="Lexend"/>
                          <a:ea typeface="Lexend"/>
                          <a:cs typeface="Lexend"/>
                          <a:sym typeface="Lexend"/>
                        </a:rPr>
                        <a:t>5</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latin typeface="Lexend"/>
                          <a:ea typeface="Lexend"/>
                          <a:cs typeface="Lexend"/>
                          <a:sym typeface="Lexend"/>
                        </a:rPr>
                        <a:t>9</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2</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13°C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12°C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0</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0</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tc>
              </a:tr>
            </a:tbl>
          </a:graphicData>
        </a:graphic>
      </p:graphicFrame>
      <p:sp>
        <p:nvSpPr>
          <p:cNvPr id="152" name="Google Shape;152;p13"/>
          <p:cNvSpPr txBox="1"/>
          <p:nvPr/>
        </p:nvSpPr>
        <p:spPr>
          <a:xfrm>
            <a:off x="481775" y="5323200"/>
            <a:ext cx="6610200" cy="23283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Lexend"/>
                <a:ea typeface="Lexend"/>
                <a:cs typeface="Lexend"/>
                <a:sym typeface="Lexend"/>
              </a:rPr>
              <a:t>a) Which location in Oakfield does this weather report most likely represent?</a:t>
            </a:r>
            <a:endParaRPr sz="1200">
              <a:latin typeface="Lexend"/>
              <a:ea typeface="Lexend"/>
              <a:cs typeface="Lexend"/>
              <a:sym typeface="Lexend"/>
            </a:endParaRPr>
          </a:p>
          <a:p>
            <a:pPr marL="0" lvl="0" indent="0" algn="l" rtl="0">
              <a:spcBef>
                <a:spcPts val="1000"/>
              </a:spcBef>
              <a:spcAft>
                <a:spcPct val="0"/>
              </a:spcAft>
              <a:buNone/>
            </a:pPr>
            <a:endParaRPr sz="1200">
              <a:latin typeface="Lexend"/>
              <a:ea typeface="Lexend"/>
              <a:cs typeface="Lexend"/>
              <a:sym typeface="Lexend"/>
            </a:endParaRPr>
          </a:p>
          <a:p>
            <a:pPr marL="0" lvl="0" indent="0" algn="l" rtl="0">
              <a:spcBef>
                <a:spcPts val="1000"/>
              </a:spcBef>
              <a:spcAft>
                <a:spcPct val="0"/>
              </a:spcAft>
              <a:buNone/>
            </a:pPr>
            <a:endParaRPr sz="1200">
              <a:latin typeface="Lexend"/>
              <a:ea typeface="Lexend"/>
              <a:cs typeface="Lexend"/>
              <a:sym typeface="Lexend"/>
            </a:endParaRPr>
          </a:p>
          <a:p>
            <a:pPr marL="0" lvl="0" indent="0" algn="l" rtl="0">
              <a:spcBef>
                <a:spcPts val="1000"/>
              </a:spcBef>
              <a:spcAft>
                <a:spcPct val="0"/>
              </a:spcAft>
              <a:buNone/>
            </a:pPr>
            <a:r>
              <a:rPr lang="en-GB" sz="1200">
                <a:latin typeface="Lexend"/>
                <a:ea typeface="Lexend"/>
                <a:cs typeface="Lexend"/>
                <a:sym typeface="Lexend"/>
              </a:rPr>
              <a:t>b) What is the range of temperatures at this location?</a:t>
            </a:r>
            <a:endParaRPr sz="1200">
              <a:latin typeface="Lexend"/>
              <a:ea typeface="Lexend"/>
              <a:cs typeface="Lexend"/>
              <a:sym typeface="Lexend"/>
            </a:endParaRPr>
          </a:p>
          <a:p>
            <a:pPr marL="0" lvl="0" indent="0" algn="l" rtl="0">
              <a:spcBef>
                <a:spcPts val="1000"/>
              </a:spcBef>
              <a:spcAft>
                <a:spcPct val="0"/>
              </a:spcAft>
              <a:buNone/>
            </a:pPr>
            <a:endParaRPr sz="1200">
              <a:latin typeface="Lexend"/>
              <a:ea typeface="Lexend"/>
              <a:cs typeface="Lexend"/>
              <a:sym typeface="Lexend"/>
            </a:endParaRPr>
          </a:p>
          <a:p>
            <a:pPr marL="0" lvl="0" indent="0" algn="l" rtl="0">
              <a:spcBef>
                <a:spcPts val="1000"/>
              </a:spcBef>
              <a:spcAft>
                <a:spcPct val="0"/>
              </a:spcAft>
              <a:buNone/>
            </a:pPr>
            <a:endParaRPr sz="1200">
              <a:latin typeface="Lexend"/>
              <a:ea typeface="Lexend"/>
              <a:cs typeface="Lexend"/>
              <a:sym typeface="Lexend"/>
            </a:endParaRPr>
          </a:p>
          <a:p>
            <a:pPr marL="0" lvl="0" indent="0" algn="l" rtl="0">
              <a:spcBef>
                <a:spcPts val="1000"/>
              </a:spcBef>
              <a:spcAft>
                <a:spcPts val="1000"/>
              </a:spcAft>
              <a:buNone/>
            </a:pPr>
            <a:r>
              <a:rPr lang="en-GB" sz="1200">
                <a:latin typeface="Lexend"/>
                <a:ea typeface="Lexend"/>
                <a:cs typeface="Lexend"/>
                <a:sym typeface="Lexend"/>
              </a:rPr>
              <a:t>c) The range of temperatures at location A is the same as the range in the report </a:t>
            </a:r>
            <a:br>
              <a:rPr lang="en-GB" sz="1200">
                <a:latin typeface="Lexend"/>
                <a:ea typeface="Lexend"/>
                <a:cs typeface="Lexend"/>
                <a:sym typeface="Lexend"/>
              </a:rPr>
            </a:br>
            <a:r>
              <a:rPr lang="en-GB" sz="1200">
                <a:latin typeface="Lexend"/>
                <a:ea typeface="Lexend"/>
                <a:cs typeface="Lexend"/>
                <a:sym typeface="Lexend"/>
              </a:rPr>
              <a:t>    location. What are the maximum and minimum temperatures at location A?</a:t>
            </a:r>
            <a:endParaRPr sz="1200">
              <a:latin typeface="Lexend"/>
              <a:ea typeface="Lexend"/>
              <a:cs typeface="Lexend"/>
              <a:sym typeface="Lexend"/>
            </a:endParaRPr>
          </a:p>
        </p:txBody>
      </p:sp>
      <p:cxnSp>
        <p:nvCxnSpPr>
          <p:cNvPr id="153" name="Google Shape;153;p13"/>
          <p:cNvCxnSpPr/>
          <p:nvPr/>
        </p:nvCxnSpPr>
        <p:spPr>
          <a:xfrm>
            <a:off x="482701" y="9948674"/>
            <a:ext cx="6610500" cy="0"/>
          </a:xfrm>
          <a:prstGeom prst="straightConnector1">
            <a:avLst/>
          </a:prstGeom>
          <a:noFill/>
          <a:ln w="38100" cap="flat" cmpd="sng">
            <a:solidFill>
              <a:srgbClr val="000000"/>
            </a:solidFill>
            <a:prstDash val="solid"/>
            <a:round/>
            <a:headEnd type="none" w="med" len="med"/>
            <a:tailEnd type="none" w="med" len="med"/>
          </a:ln>
        </p:spPr>
      </p:cxnSp>
      <p:sp>
        <p:nvSpPr>
          <p:cNvPr id="154" name="Google Shape;154;p13"/>
          <p:cNvSpPr txBox="1"/>
          <p:nvPr/>
        </p:nvSpPr>
        <p:spPr>
          <a:xfrm>
            <a:off x="709000" y="5605621"/>
            <a:ext cx="62931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Oakmoor. </a:t>
            </a:r>
            <a:br>
              <a:rPr lang="en-GB" sz="1200">
                <a:latin typeface="Kalam"/>
                <a:ea typeface="Kalam"/>
                <a:cs typeface="Kalam"/>
                <a:sym typeface="Kalam"/>
              </a:rPr>
            </a:br>
            <a:r>
              <a:rPr lang="en-GB" sz="1200">
                <a:latin typeface="Kalam"/>
                <a:ea typeface="Kalam"/>
                <a:cs typeface="Kalam"/>
                <a:sym typeface="Kalam"/>
              </a:rPr>
              <a:t>This is because both the report and map show heavy rain and a temperature of 10°C at 6 pm.</a:t>
            </a:r>
            <a:endParaRPr sz="1200">
              <a:latin typeface="Kalam"/>
              <a:ea typeface="Kalam"/>
              <a:cs typeface="Kalam"/>
              <a:sym typeface="Kalam"/>
            </a:endParaRPr>
          </a:p>
        </p:txBody>
      </p:sp>
      <p:sp>
        <p:nvSpPr>
          <p:cNvPr id="155" name="Google Shape;155;p13"/>
          <p:cNvSpPr txBox="1"/>
          <p:nvPr/>
        </p:nvSpPr>
        <p:spPr>
          <a:xfrm>
            <a:off x="727900" y="6572125"/>
            <a:ext cx="5730000" cy="268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The range of temperatures in Oakmoor (from the weather report) is 13°C – </a:t>
            </a:r>
            <a:r>
              <a:rPr lang="en-GB" sz="1200">
                <a:solidFill>
                  <a:srgbClr val="000000"/>
                </a:solidFill>
                <a:latin typeface="Kalam"/>
                <a:ea typeface="Kalam"/>
                <a:cs typeface="Kalam"/>
                <a:sym typeface="Kalam"/>
              </a:rPr>
              <a:t>5°C = 8°C.</a:t>
            </a:r>
            <a:endParaRPr sz="1200">
              <a:latin typeface="Kalam"/>
              <a:ea typeface="Kalam"/>
              <a:cs typeface="Kalam"/>
              <a:sym typeface="Kalam"/>
            </a:endParaRPr>
          </a:p>
        </p:txBody>
      </p:sp>
      <p:sp>
        <p:nvSpPr>
          <p:cNvPr id="156" name="Google Shape;156;p13"/>
          <p:cNvSpPr txBox="1"/>
          <p:nvPr/>
        </p:nvSpPr>
        <p:spPr>
          <a:xfrm>
            <a:off x="752475" y="7748250"/>
            <a:ext cx="37242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12°C + 8°C = 20°C</a:t>
            </a:r>
            <a:endParaRPr sz="1200">
              <a:solidFill>
                <a:srgbClr val="000000"/>
              </a:solidFill>
              <a:latin typeface="Kalam"/>
              <a:ea typeface="Kalam"/>
              <a:cs typeface="Kalam"/>
              <a:sym typeface="Kalam"/>
            </a:endParaRPr>
          </a:p>
          <a:p>
            <a:pPr marL="0" lvl="0" indent="0" algn="l" rtl="0">
              <a:spcBef>
                <a:spcPts val="1000"/>
              </a:spcBef>
              <a:spcAft>
                <a:spcPct val="0"/>
              </a:spcAft>
              <a:buNone/>
            </a:pPr>
            <a:r>
              <a:rPr lang="en-GB" sz="1200">
                <a:solidFill>
                  <a:srgbClr val="000000"/>
                </a:solidFill>
                <a:latin typeface="Kalam"/>
                <a:ea typeface="Kalam"/>
                <a:cs typeface="Kalam"/>
                <a:sym typeface="Kalam"/>
              </a:rPr>
              <a:t>or</a:t>
            </a:r>
            <a:endParaRPr sz="1200">
              <a:solidFill>
                <a:srgbClr val="000000"/>
              </a:solidFill>
              <a:latin typeface="Kalam"/>
              <a:ea typeface="Kalam"/>
              <a:cs typeface="Kalam"/>
              <a:sym typeface="Kalam"/>
            </a:endParaRPr>
          </a:p>
          <a:p>
            <a:pPr marL="0" lvl="0" indent="0" algn="l" rtl="0">
              <a:spcBef>
                <a:spcPts val="1000"/>
              </a:spcBef>
              <a:spcAft>
                <a:spcPts val="1000"/>
              </a:spcAft>
              <a:buNone/>
            </a:pPr>
            <a:r>
              <a:rPr lang="en-GB" sz="1200">
                <a:solidFill>
                  <a:srgbClr val="000000"/>
                </a:solidFill>
                <a:latin typeface="Kalam"/>
                <a:ea typeface="Kalam"/>
                <a:cs typeface="Kalam"/>
                <a:sym typeface="Kalam"/>
              </a:rPr>
              <a:t>12°C – 8°C = 4°C</a:t>
            </a:r>
            <a:endParaRPr sz="1200">
              <a:solidFill>
                <a:srgbClr val="000000"/>
              </a:solidFill>
              <a:latin typeface="Kalam"/>
              <a:ea typeface="Kalam"/>
              <a:cs typeface="Kalam"/>
              <a:sym typeface="Kalam"/>
            </a:endParaRPr>
          </a:p>
        </p:txBody>
      </p:sp>
      <p:sp>
        <p:nvSpPr>
          <p:cNvPr id="157" name="Google Shape;157;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solidFill>
                  <a:schemeClr val="dk1"/>
                </a:solidFill>
              </a:rPr>
              <a:t>2</a:t>
            </a:fld>
            <a:endParaRPr>
              <a:solidFill>
                <a:schemeClr val="dk1"/>
              </a:solidFill>
            </a:endParaRPr>
          </a:p>
        </p:txBody>
      </p:sp>
      <p:pic>
        <p:nvPicPr>
          <p:cNvPr id="158" name="Google Shape;158;p13"/>
          <p:cNvPicPr preferRelativeResize="0"/>
          <p:nvPr/>
        </p:nvPicPr>
        <p:blipFill>
          <a:blip r:embed="rId3">
            <a:alphaModFix/>
          </a:blip>
          <a:stretch>
            <a:fillRect/>
          </a:stretch>
        </p:blipFill>
        <p:spPr>
          <a:xfrm>
            <a:off x="1731100" y="2387813"/>
            <a:ext cx="4274725" cy="2692750"/>
          </a:xfrm>
          <a:prstGeom prst="rect">
            <a:avLst/>
          </a:prstGeom>
          <a:noFill/>
          <a:ln>
            <a:noFill/>
          </a:ln>
        </p:spPr>
      </p:pic>
      <p:pic>
        <p:nvPicPr>
          <p:cNvPr id="159" name="Google Shape;159;p13"/>
          <p:cNvPicPr preferRelativeResize="0"/>
          <p:nvPr/>
        </p:nvPicPr>
        <p:blipFill>
          <a:blip r:embed="rId4">
            <a:alphaModFix/>
          </a:blip>
          <a:stretch>
            <a:fillRect/>
          </a:stretch>
        </p:blipFill>
        <p:spPr>
          <a:xfrm>
            <a:off x="935600" y="1345665"/>
            <a:ext cx="494430" cy="511563"/>
          </a:xfrm>
          <a:prstGeom prst="rect">
            <a:avLst/>
          </a:prstGeom>
          <a:noFill/>
          <a:ln>
            <a:noFill/>
          </a:ln>
        </p:spPr>
      </p:pic>
      <p:pic>
        <p:nvPicPr>
          <p:cNvPr id="160" name="Google Shape;160;p13"/>
          <p:cNvPicPr preferRelativeResize="0"/>
          <p:nvPr/>
        </p:nvPicPr>
        <p:blipFill>
          <a:blip r:embed="rId5">
            <a:alphaModFix/>
          </a:blip>
          <a:stretch>
            <a:fillRect/>
          </a:stretch>
        </p:blipFill>
        <p:spPr>
          <a:xfrm>
            <a:off x="1635472" y="1456050"/>
            <a:ext cx="494430" cy="290821"/>
          </a:xfrm>
          <a:prstGeom prst="rect">
            <a:avLst/>
          </a:prstGeom>
          <a:noFill/>
          <a:ln>
            <a:noFill/>
          </a:ln>
        </p:spPr>
      </p:pic>
      <p:pic>
        <p:nvPicPr>
          <p:cNvPr id="161" name="Google Shape;161;p13"/>
          <p:cNvPicPr preferRelativeResize="0"/>
          <p:nvPr/>
        </p:nvPicPr>
        <p:blipFill>
          <a:blip r:embed="rId5">
            <a:alphaModFix/>
          </a:blip>
          <a:stretch>
            <a:fillRect/>
          </a:stretch>
        </p:blipFill>
        <p:spPr>
          <a:xfrm>
            <a:off x="2335348" y="1448100"/>
            <a:ext cx="494430" cy="290821"/>
          </a:xfrm>
          <a:prstGeom prst="rect">
            <a:avLst/>
          </a:prstGeom>
          <a:noFill/>
          <a:ln>
            <a:noFill/>
          </a:ln>
        </p:spPr>
      </p:pic>
      <p:pic>
        <p:nvPicPr>
          <p:cNvPr id="162" name="Google Shape;162;p13"/>
          <p:cNvPicPr preferRelativeResize="0"/>
          <p:nvPr/>
        </p:nvPicPr>
        <p:blipFill>
          <a:blip r:embed="rId5">
            <a:alphaModFix/>
          </a:blip>
          <a:stretch>
            <a:fillRect/>
          </a:stretch>
        </p:blipFill>
        <p:spPr>
          <a:xfrm>
            <a:off x="4647010" y="1448100"/>
            <a:ext cx="494430" cy="290821"/>
          </a:xfrm>
          <a:prstGeom prst="rect">
            <a:avLst/>
          </a:prstGeom>
          <a:noFill/>
          <a:ln>
            <a:noFill/>
          </a:ln>
        </p:spPr>
      </p:pic>
      <p:pic>
        <p:nvPicPr>
          <p:cNvPr id="163" name="Google Shape;163;p13"/>
          <p:cNvPicPr preferRelativeResize="0"/>
          <p:nvPr/>
        </p:nvPicPr>
        <p:blipFill>
          <a:blip r:embed="rId6">
            <a:alphaModFix/>
          </a:blip>
          <a:stretch>
            <a:fillRect/>
          </a:stretch>
        </p:blipFill>
        <p:spPr>
          <a:xfrm>
            <a:off x="3193844" y="1372029"/>
            <a:ext cx="452331" cy="458862"/>
          </a:xfrm>
          <a:prstGeom prst="rect">
            <a:avLst/>
          </a:prstGeom>
          <a:noFill/>
          <a:ln>
            <a:noFill/>
          </a:ln>
        </p:spPr>
      </p:pic>
      <p:pic>
        <p:nvPicPr>
          <p:cNvPr id="164" name="Google Shape;164;p13"/>
          <p:cNvPicPr preferRelativeResize="0"/>
          <p:nvPr/>
        </p:nvPicPr>
        <p:blipFill>
          <a:blip r:embed="rId7">
            <a:alphaModFix/>
          </a:blip>
          <a:stretch>
            <a:fillRect/>
          </a:stretch>
        </p:blipFill>
        <p:spPr>
          <a:xfrm>
            <a:off x="3873803" y="1434799"/>
            <a:ext cx="494431" cy="333323"/>
          </a:xfrm>
          <a:prstGeom prst="rect">
            <a:avLst/>
          </a:prstGeom>
          <a:noFill/>
          <a:ln>
            <a:noFill/>
          </a:ln>
        </p:spPr>
      </p:pic>
      <p:pic>
        <p:nvPicPr>
          <p:cNvPr id="165" name="Google Shape;165;p13"/>
          <p:cNvPicPr preferRelativeResize="0"/>
          <p:nvPr/>
        </p:nvPicPr>
        <p:blipFill>
          <a:blip r:embed="rId8">
            <a:alphaModFix/>
          </a:blip>
          <a:stretch>
            <a:fillRect/>
          </a:stretch>
        </p:blipFill>
        <p:spPr>
          <a:xfrm>
            <a:off x="5535262" y="1474566"/>
            <a:ext cx="316971" cy="363923"/>
          </a:xfrm>
          <a:prstGeom prst="rect">
            <a:avLst/>
          </a:prstGeom>
          <a:noFill/>
          <a:ln>
            <a:noFill/>
          </a:ln>
        </p:spPr>
      </p:pic>
      <p:pic>
        <p:nvPicPr>
          <p:cNvPr id="166" name="Google Shape;166;p13"/>
          <p:cNvPicPr preferRelativeResize="0"/>
          <p:nvPr/>
        </p:nvPicPr>
        <p:blipFill>
          <a:blip r:embed="rId9">
            <a:alphaModFix/>
          </a:blip>
          <a:stretch>
            <a:fillRect/>
          </a:stretch>
        </p:blipFill>
        <p:spPr>
          <a:xfrm>
            <a:off x="6246014" y="1382919"/>
            <a:ext cx="371936" cy="421185"/>
          </a:xfrm>
          <a:prstGeom prst="rect">
            <a:avLst/>
          </a:prstGeom>
          <a:noFill/>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14"/>
          <p:cNvSpPr txBox="1"/>
          <p:nvPr/>
        </p:nvSpPr>
        <p:spPr>
          <a:xfrm>
            <a:off x="461075" y="8672189"/>
            <a:ext cx="6636300" cy="11802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1200">
                <a:latin typeface="Lexend"/>
                <a:ea typeface="Lexend"/>
                <a:cs typeface="Lexend"/>
                <a:sym typeface="Lexend"/>
              </a:rPr>
              <a:t>b) Complete this sentence:</a:t>
            </a:r>
            <a:endParaRPr sz="1200">
              <a:latin typeface="Lexend"/>
              <a:ea typeface="Lexend"/>
              <a:cs typeface="Lexend"/>
              <a:sym typeface="Lexend"/>
            </a:endParaRPr>
          </a:p>
          <a:p>
            <a:pPr marL="0" lvl="0" indent="0" algn="l" rtl="0">
              <a:spcBef>
                <a:spcPts val="1000"/>
              </a:spcBef>
              <a:spcAft>
                <a:spcPct val="0"/>
              </a:spcAft>
              <a:buNone/>
            </a:pPr>
            <a:r>
              <a:rPr lang="en-GB" sz="1200">
                <a:latin typeface="Lexend"/>
                <a:ea typeface="Lexend"/>
                <a:cs typeface="Lexend"/>
                <a:sym typeface="Lexend"/>
              </a:rPr>
              <a:t>    “Higher humidity likely leads to an </a:t>
            </a:r>
            <a:r>
              <a:rPr lang="en-GB" sz="1200">
                <a:latin typeface="Kalam"/>
                <a:ea typeface="Kalam"/>
                <a:cs typeface="Kalam"/>
                <a:sym typeface="Kalam"/>
              </a:rPr>
              <a:t>increase</a:t>
            </a:r>
            <a:r>
              <a:rPr lang="en-GB" sz="1200">
                <a:latin typeface="Lexend"/>
                <a:ea typeface="Lexend"/>
                <a:cs typeface="Lexend"/>
                <a:sym typeface="Lexend"/>
              </a:rPr>
              <a:t> in “feels like” temperature compared </a:t>
            </a:r>
            <a:br>
              <a:rPr lang="en-GB" sz="1200">
                <a:latin typeface="Lexend"/>
                <a:ea typeface="Lexend"/>
                <a:cs typeface="Lexend"/>
                <a:sym typeface="Lexend"/>
              </a:rPr>
            </a:br>
            <a:r>
              <a:rPr lang="en-GB" sz="1200">
                <a:latin typeface="Lexend"/>
                <a:ea typeface="Lexend"/>
                <a:cs typeface="Lexend"/>
                <a:sym typeface="Lexend"/>
              </a:rPr>
              <a:t>    to air temperature.”</a:t>
            </a:r>
            <a:endParaRPr sz="1200">
              <a:latin typeface="Lexend"/>
              <a:ea typeface="Lexend"/>
              <a:cs typeface="Lexend"/>
              <a:sym typeface="Lexend"/>
            </a:endParaRPr>
          </a:p>
          <a:p>
            <a:pPr marL="0" lvl="0" indent="0" algn="l" rtl="0">
              <a:spcBef>
                <a:spcPts val="1000"/>
              </a:spcBef>
              <a:spcAft>
                <a:spcPts val="1000"/>
              </a:spcAft>
              <a:buNone/>
            </a:pPr>
            <a:r>
              <a:rPr lang="en-GB" sz="1200">
                <a:latin typeface="Lexend"/>
                <a:ea typeface="Lexend"/>
                <a:cs typeface="Lexend"/>
                <a:sym typeface="Lexend"/>
              </a:rPr>
              <a:t>c) What weather conditions might result in higher humidity?</a:t>
            </a:r>
            <a:endParaRPr sz="1200">
              <a:latin typeface="Lexend"/>
              <a:ea typeface="Lexend"/>
              <a:cs typeface="Lexend"/>
              <a:sym typeface="Lexend"/>
            </a:endParaRPr>
          </a:p>
        </p:txBody>
      </p:sp>
      <p:sp>
        <p:nvSpPr>
          <p:cNvPr id="172" name="Google Shape;172;p14"/>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weather data</a:t>
            </a:r>
            <a:endParaRPr/>
          </a:p>
        </p:txBody>
      </p:sp>
      <p:sp>
        <p:nvSpPr>
          <p:cNvPr id="173" name="Google Shape;17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solidFill>
                  <a:schemeClr val="dk1"/>
                </a:solidFill>
              </a:rPr>
              <a:t>3</a:t>
            </a:fld>
            <a:endParaRPr>
              <a:solidFill>
                <a:schemeClr val="dk1"/>
              </a:solidFill>
            </a:endParaRPr>
          </a:p>
        </p:txBody>
      </p:sp>
      <p:sp>
        <p:nvSpPr>
          <p:cNvPr id="174" name="Google Shape;174;p14"/>
          <p:cNvSpPr txBox="1"/>
          <p:nvPr/>
        </p:nvSpPr>
        <p:spPr>
          <a:xfrm>
            <a:off x="468001" y="607068"/>
            <a:ext cx="6194100" cy="2931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t>
            </a:r>
            <a:r>
              <a:rPr lang="en-GB" b="1">
                <a:latin typeface="Lexend"/>
                <a:ea typeface="Lexend"/>
                <a:cs typeface="Lexend"/>
                <a:sym typeface="Lexend"/>
              </a:rPr>
              <a:t>B</a:t>
            </a:r>
            <a:r>
              <a:rPr lang="en-GB" b="1">
                <a:solidFill>
                  <a:srgbClr val="000000"/>
                </a:solidFill>
                <a:latin typeface="Lexend"/>
                <a:ea typeface="Lexend"/>
                <a:cs typeface="Lexend"/>
                <a:sym typeface="Lexend"/>
              </a:rPr>
              <a:t>: </a:t>
            </a:r>
            <a:r>
              <a:rPr lang="en-GB" b="1">
                <a:latin typeface="Lexend"/>
                <a:ea typeface="Lexend"/>
                <a:cs typeface="Lexend"/>
                <a:sym typeface="Lexend"/>
              </a:rPr>
              <a:t>Analysing extra forecast information</a:t>
            </a:r>
            <a:endParaRPr b="1">
              <a:solidFill>
                <a:srgbClr val="000000"/>
              </a:solidFill>
              <a:latin typeface="Lexend"/>
              <a:ea typeface="Lexend"/>
              <a:cs typeface="Lexend"/>
              <a:sym typeface="Lexend"/>
            </a:endParaRPr>
          </a:p>
        </p:txBody>
      </p:sp>
      <p:sp>
        <p:nvSpPr>
          <p:cNvPr id="175" name="Google Shape;175;p14"/>
          <p:cNvSpPr txBox="1"/>
          <p:nvPr/>
        </p:nvSpPr>
        <p:spPr>
          <a:xfrm>
            <a:off x="476400" y="1022314"/>
            <a:ext cx="6636300" cy="2931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1) This weather report shows the weather </a:t>
            </a:r>
            <a:r>
              <a:rPr lang="en-GB" sz="1200" b="1">
                <a:latin typeface="Lexend"/>
                <a:ea typeface="Lexend"/>
                <a:cs typeface="Lexend"/>
                <a:sym typeface="Lexend"/>
              </a:rPr>
              <a:t>forecast</a:t>
            </a:r>
            <a:r>
              <a:rPr lang="en-GB" sz="1200">
                <a:latin typeface="Lexend"/>
                <a:ea typeface="Lexend"/>
                <a:cs typeface="Lexend"/>
                <a:sym typeface="Lexend"/>
              </a:rPr>
              <a:t> for Oakfield Harbour.</a:t>
            </a:r>
            <a:endParaRPr sz="1200">
              <a:latin typeface="Lexend"/>
              <a:ea typeface="Lexend"/>
              <a:cs typeface="Lexend"/>
              <a:sym typeface="Lexend"/>
            </a:endParaRPr>
          </a:p>
        </p:txBody>
      </p:sp>
      <p:graphicFrame>
        <p:nvGraphicFramePr>
          <p:cNvPr id="176" name="Google Shape;176;p14"/>
          <p:cNvGraphicFramePr>
            <a:graphicFrameLocks noGrp="1"/>
          </p:cNvGraphicFramePr>
          <p:nvPr/>
        </p:nvGraphicFramePr>
        <p:xfrm>
          <a:off x="476388" y="1339263"/>
          <a:ext cx="6499900" cy="2062110"/>
        </p:xfrm>
        <a:graphic>
          <a:graphicData uri="http://schemas.openxmlformats.org/drawingml/2006/table">
            <a:tbl>
              <a:tblPr>
                <a:noFill/>
                <a:tableStyleId>{3DB86B96-013B-4E5B-9F61-9EA4DADEA6BC}</a:tableStyleId>
              </a:tblPr>
              <a:tblGrid>
                <a:gridCol w="1583300"/>
                <a:gridCol w="614575"/>
                <a:gridCol w="614575"/>
                <a:gridCol w="614575"/>
                <a:gridCol w="614575"/>
                <a:gridCol w="614575"/>
                <a:gridCol w="614575"/>
                <a:gridCol w="614575"/>
                <a:gridCol w="614575"/>
              </a:tblGrid>
              <a:tr h="249675">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00:00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03:00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06:00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09:00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12:00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15:00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18:00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21:00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r>
              <a:tr h="520200">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air temperature</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13°C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15°C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15°C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22°C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24°C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18°C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14°C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12°C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wind speed (km/h)</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5</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7</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3</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8</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14</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wind direction</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66100">
                <a:tc>
                  <a:txBody>
                    <a:bodyPr vert="horz" wrap="square"/>
                    <a:lstStyle/>
                    <a:p>
                      <a:pPr marL="0" lvl="0" indent="0" algn="l" rtl="0">
                        <a:spcBef>
                          <a:spcPct val="0"/>
                        </a:spcBef>
                        <a:spcAft>
                          <a:spcPct val="0"/>
                        </a:spcAft>
                        <a:buNone/>
                      </a:pPr>
                      <a:r>
                        <a:rPr lang="en-GB" sz="1200">
                          <a:latin typeface="Lexend"/>
                          <a:ea typeface="Lexend"/>
                          <a:cs typeface="Lexend"/>
                          <a:sym typeface="Lexend"/>
                        </a:rPr>
                        <a:t>“feels like”</a:t>
                      </a:r>
                      <a:endParaRPr sz="1200"/>
                    </a:p>
                  </a:txBody>
                  <a:tcPr marL="36000"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13°C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14°C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14°C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21°C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22°C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14°C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10°C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9°C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177" name="Google Shape;177;p14"/>
          <p:cNvSpPr txBox="1"/>
          <p:nvPr/>
        </p:nvSpPr>
        <p:spPr>
          <a:xfrm>
            <a:off x="476400" y="3536914"/>
            <a:ext cx="6636300" cy="97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Lexend"/>
                <a:ea typeface="Lexend"/>
                <a:cs typeface="Lexend"/>
                <a:sym typeface="Lexend"/>
              </a:rPr>
              <a:t>a) Which wind directions results in the most and least difference between air temperature</a:t>
            </a:r>
            <a:endParaRPr sz="1200">
              <a:latin typeface="Lexend"/>
              <a:ea typeface="Lexend"/>
              <a:cs typeface="Lexend"/>
              <a:sym typeface="Lexend"/>
            </a:endParaRPr>
          </a:p>
          <a:p>
            <a:pPr marL="179999" lvl="0" indent="0" algn="l" rtl="0">
              <a:spcBef>
                <a:spcPct val="0"/>
              </a:spcBef>
              <a:spcAft>
                <a:spcPct val="0"/>
              </a:spcAft>
              <a:buNone/>
            </a:pPr>
            <a:r>
              <a:rPr lang="en-GB" sz="1200">
                <a:latin typeface="Lexend"/>
                <a:ea typeface="Lexend"/>
                <a:cs typeface="Lexend"/>
                <a:sym typeface="Lexend"/>
              </a:rPr>
              <a:t>and the “feels like” temperature?</a:t>
            </a:r>
            <a:br>
              <a:rPr lang="en-GB" sz="1200">
                <a:latin typeface="Lexend"/>
                <a:ea typeface="Lexend"/>
                <a:cs typeface="Lexend"/>
                <a:sym typeface="Lexend"/>
              </a:rPr>
            </a:br>
            <a:endParaRPr sz="1200">
              <a:latin typeface="Lexend"/>
              <a:ea typeface="Lexend"/>
              <a:cs typeface="Lexend"/>
              <a:sym typeface="Lexend"/>
            </a:endParaRPr>
          </a:p>
          <a:p>
            <a:pPr marL="0" lvl="0" indent="0" algn="l" rtl="0">
              <a:spcBef>
                <a:spcPts val="1000"/>
              </a:spcBef>
              <a:spcAft>
                <a:spcPct val="0"/>
              </a:spcAft>
              <a:buNone/>
            </a:pPr>
            <a:br>
              <a:rPr lang="en-GB" sz="1200">
                <a:latin typeface="Lexend"/>
                <a:ea typeface="Lexend"/>
                <a:cs typeface="Lexend"/>
                <a:sym typeface="Lexend"/>
              </a:rPr>
            </a:br>
            <a:r>
              <a:rPr lang="en-GB" sz="1200">
                <a:latin typeface="Lexend"/>
                <a:ea typeface="Lexend"/>
                <a:cs typeface="Lexend"/>
                <a:sym typeface="Lexend"/>
              </a:rPr>
              <a:t>b) A cold front will blow over Oakfield Harbour. Using the weather report, write down the</a:t>
            </a:r>
            <a:endParaRPr sz="1200">
              <a:latin typeface="Lexend"/>
              <a:ea typeface="Lexend"/>
              <a:cs typeface="Lexend"/>
              <a:sym typeface="Lexend"/>
            </a:endParaRPr>
          </a:p>
          <a:p>
            <a:pPr marL="179999" lvl="0" indent="0" algn="l" rtl="0">
              <a:spcBef>
                <a:spcPct val="0"/>
              </a:spcBef>
              <a:spcAft>
                <a:spcPts val="1000"/>
              </a:spcAft>
              <a:buNone/>
            </a:pPr>
            <a:r>
              <a:rPr lang="en-GB" sz="1200">
                <a:latin typeface="Lexend"/>
                <a:ea typeface="Lexend"/>
                <a:cs typeface="Lexend"/>
                <a:sym typeface="Lexend"/>
              </a:rPr>
              <a:t>most likely time this will happen, and justify your answer.</a:t>
            </a:r>
            <a:endParaRPr sz="1200">
              <a:latin typeface="Lexend"/>
              <a:ea typeface="Lexend"/>
              <a:cs typeface="Lexend"/>
              <a:sym typeface="Lexend"/>
            </a:endParaRPr>
          </a:p>
        </p:txBody>
      </p:sp>
      <p:sp>
        <p:nvSpPr>
          <p:cNvPr id="178" name="Google Shape;178;p14"/>
          <p:cNvSpPr txBox="1"/>
          <p:nvPr/>
        </p:nvSpPr>
        <p:spPr>
          <a:xfrm>
            <a:off x="687625" y="3950193"/>
            <a:ext cx="5320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Kalam"/>
                <a:ea typeface="Kalam"/>
                <a:cs typeface="Kalam"/>
                <a:sym typeface="Kalam"/>
              </a:rPr>
              <a:t>Southerly winds result in the least difference (maximum 1°C difference).</a:t>
            </a:r>
            <a:endParaRPr sz="1200">
              <a:latin typeface="Kalam"/>
              <a:ea typeface="Kalam"/>
              <a:cs typeface="Kalam"/>
              <a:sym typeface="Kalam"/>
            </a:endParaRPr>
          </a:p>
          <a:p>
            <a:pPr marL="0" lvl="0" indent="0" algn="l" rtl="0">
              <a:spcBef>
                <a:spcPct val="0"/>
              </a:spcBef>
              <a:spcAft>
                <a:spcPct val="0"/>
              </a:spcAft>
              <a:buNone/>
            </a:pPr>
            <a:r>
              <a:rPr lang="en-GB" sz="1200">
                <a:latin typeface="Kalam"/>
                <a:ea typeface="Kalam"/>
                <a:cs typeface="Kalam"/>
                <a:sym typeface="Kalam"/>
              </a:rPr>
              <a:t>Easterly winds result in the most difference (</a:t>
            </a:r>
            <a:r>
              <a:rPr lang="en-GB" sz="1200">
                <a:solidFill>
                  <a:srgbClr val="000000"/>
                </a:solidFill>
                <a:latin typeface="Kalam"/>
                <a:ea typeface="Kalam"/>
                <a:cs typeface="Kalam"/>
                <a:sym typeface="Kalam"/>
              </a:rPr>
              <a:t>maximum 4° difference</a:t>
            </a:r>
            <a:r>
              <a:rPr lang="en-GB" sz="1200">
                <a:latin typeface="Kalam"/>
                <a:ea typeface="Kalam"/>
                <a:cs typeface="Kalam"/>
                <a:sym typeface="Kalam"/>
              </a:rPr>
              <a:t>).</a:t>
            </a:r>
            <a:endParaRPr sz="1200">
              <a:latin typeface="Kalam"/>
              <a:ea typeface="Kalam"/>
              <a:cs typeface="Kalam"/>
              <a:sym typeface="Kalam"/>
            </a:endParaRPr>
          </a:p>
        </p:txBody>
      </p:sp>
      <p:sp>
        <p:nvSpPr>
          <p:cNvPr id="179" name="Google Shape;179;p14"/>
          <p:cNvSpPr txBox="1"/>
          <p:nvPr/>
        </p:nvSpPr>
        <p:spPr>
          <a:xfrm>
            <a:off x="653808" y="4825776"/>
            <a:ext cx="6329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Kalam"/>
                <a:ea typeface="Kalam"/>
                <a:cs typeface="Kalam"/>
                <a:sym typeface="Kalam"/>
              </a:rPr>
              <a:t>The cold front likely blew over Oakfield Harbour between 12 pm and 3 pm. This is because the weather conditions went from sunny intervals to heavy rain, and the temperature started to drop significantly, starting from this timeframe.</a:t>
            </a:r>
            <a:endParaRPr sz="1200">
              <a:latin typeface="Kalam"/>
              <a:ea typeface="Kalam"/>
              <a:cs typeface="Kalam"/>
              <a:sym typeface="Kalam"/>
            </a:endParaRPr>
          </a:p>
        </p:txBody>
      </p:sp>
      <p:graphicFrame>
        <p:nvGraphicFramePr>
          <p:cNvPr id="180" name="Google Shape;180;p14"/>
          <p:cNvGraphicFramePr>
            <a:graphicFrameLocks noGrp="1"/>
          </p:cNvGraphicFramePr>
          <p:nvPr/>
        </p:nvGraphicFramePr>
        <p:xfrm>
          <a:off x="704988" y="6128239"/>
          <a:ext cx="3027050" cy="1700290"/>
        </p:xfrm>
        <a:graphic>
          <a:graphicData uri="http://schemas.openxmlformats.org/drawingml/2006/table">
            <a:tbl>
              <a:tblPr>
                <a:noFill/>
                <a:tableStyleId>{3DB86B96-013B-4E5B-9F61-9EA4DADEA6BC}</a:tableStyleId>
              </a:tblPr>
              <a:tblGrid>
                <a:gridCol w="1240350"/>
                <a:gridCol w="446675"/>
                <a:gridCol w="446675"/>
                <a:gridCol w="446675"/>
                <a:gridCol w="446675"/>
              </a:tblGrid>
              <a:tr h="249675">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08:00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11:00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14:00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17:00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r>
              <a:tr h="432700">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air temperature</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6°C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10</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17</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18</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humidity</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30%</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45%</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70%</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65%</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66100">
                <a:tc>
                  <a:txBody>
                    <a:bodyPr vert="horz" wrap="square"/>
                    <a:lstStyle/>
                    <a:p>
                      <a:pPr marL="0" lvl="0" indent="0" algn="l" rtl="0">
                        <a:spcBef>
                          <a:spcPct val="0"/>
                        </a:spcBef>
                        <a:spcAft>
                          <a:spcPct val="0"/>
                        </a:spcAft>
                        <a:buNone/>
                      </a:pPr>
                      <a:r>
                        <a:rPr lang="en-GB" sz="1200">
                          <a:latin typeface="Lexend"/>
                          <a:ea typeface="Lexend"/>
                          <a:cs typeface="Lexend"/>
                          <a:sym typeface="Lexend"/>
                        </a:rPr>
                        <a:t>“feels like”</a:t>
                      </a:r>
                      <a:endParaRPr sz="1200"/>
                    </a:p>
                  </a:txBody>
                  <a:tcPr marL="36000"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5°C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2</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2</a:t>
                      </a:r>
                      <a:r>
                        <a:rPr lang="en-GB" sz="1200">
                          <a:latin typeface="Lexend"/>
                          <a:ea typeface="Lexend"/>
                          <a:cs typeface="Lexend"/>
                          <a:sym typeface="Lexend"/>
                        </a:rPr>
                        <a:t>0</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181" name="Google Shape;181;p14"/>
          <p:cNvSpPr txBox="1"/>
          <p:nvPr/>
        </p:nvSpPr>
        <p:spPr>
          <a:xfrm>
            <a:off x="705000" y="6118339"/>
            <a:ext cx="1160700" cy="769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Weather report on 1st July at  Oakfield Old Town.</a:t>
            </a:r>
            <a:endParaRPr sz="1200">
              <a:latin typeface="Lexend"/>
              <a:ea typeface="Lexend"/>
              <a:cs typeface="Lexend"/>
              <a:sym typeface="Lexend"/>
            </a:endParaRPr>
          </a:p>
        </p:txBody>
      </p:sp>
      <p:sp>
        <p:nvSpPr>
          <p:cNvPr id="182" name="Google Shape;182;p14"/>
          <p:cNvSpPr txBox="1"/>
          <p:nvPr/>
        </p:nvSpPr>
        <p:spPr>
          <a:xfrm>
            <a:off x="488725" y="5649989"/>
            <a:ext cx="6610500" cy="3489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2) Humidity measures the amount of moisture in the air. It also influences “feels like” </a:t>
            </a:r>
            <a:br>
              <a:rPr lang="en-GB" sz="1200">
                <a:latin typeface="Lexend"/>
                <a:ea typeface="Lexend"/>
                <a:cs typeface="Lexend"/>
                <a:sym typeface="Lexend"/>
              </a:rPr>
            </a:br>
            <a:r>
              <a:rPr lang="en-GB" sz="1200">
                <a:latin typeface="Lexend"/>
                <a:ea typeface="Lexend"/>
                <a:cs typeface="Lexend"/>
                <a:sym typeface="Lexend"/>
              </a:rPr>
              <a:t>    temperature.</a:t>
            </a:r>
            <a:endParaRPr sz="1200">
              <a:latin typeface="Lexend"/>
              <a:ea typeface="Lexend"/>
              <a:cs typeface="Lexend"/>
              <a:sym typeface="Lexend"/>
            </a:endParaRPr>
          </a:p>
        </p:txBody>
      </p:sp>
      <p:graphicFrame>
        <p:nvGraphicFramePr>
          <p:cNvPr id="183" name="Google Shape;183;p14"/>
          <p:cNvGraphicFramePr>
            <a:graphicFrameLocks noGrp="1"/>
          </p:cNvGraphicFramePr>
          <p:nvPr/>
        </p:nvGraphicFramePr>
        <p:xfrm>
          <a:off x="4057788" y="6128239"/>
          <a:ext cx="3027050" cy="1700290"/>
        </p:xfrm>
        <a:graphic>
          <a:graphicData uri="http://schemas.openxmlformats.org/drawingml/2006/table">
            <a:tbl>
              <a:tblPr>
                <a:noFill/>
                <a:tableStyleId>{3DB86B96-013B-4E5B-9F61-9EA4DADEA6BC}</a:tableStyleId>
              </a:tblPr>
              <a:tblGrid>
                <a:gridCol w="1240350"/>
                <a:gridCol w="446675"/>
                <a:gridCol w="446675"/>
                <a:gridCol w="446675"/>
                <a:gridCol w="446675"/>
              </a:tblGrid>
              <a:tr h="249675">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08:00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11:00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14:00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17:00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r>
              <a:tr h="432700">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air temperature</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6°C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10</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17</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18</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52825">
                <a:tc>
                  <a:txBody>
                    <a:bodyPr vert="horz" wrap="square"/>
                    <a:lstStyle/>
                    <a:p>
                      <a:pPr marL="0" lvl="0" indent="0" algn="l" rtl="0">
                        <a:spcBef>
                          <a:spcPct val="0"/>
                        </a:spcBef>
                        <a:spcAft>
                          <a:spcPct val="0"/>
                        </a:spcAft>
                        <a:buNone/>
                      </a:pPr>
                      <a:r>
                        <a:rPr lang="en-GB" sz="1200">
                          <a:latin typeface="Lexend"/>
                          <a:ea typeface="Lexend"/>
                          <a:cs typeface="Lexend"/>
                          <a:sym typeface="Lexend"/>
                        </a:rPr>
                        <a:t> humidity</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15</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15%</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66100">
                <a:tc>
                  <a:txBody>
                    <a:bodyPr vert="horz" wrap="square"/>
                    <a:lstStyle/>
                    <a:p>
                      <a:pPr marL="0" lvl="0" indent="0" algn="l" rtl="0">
                        <a:spcBef>
                          <a:spcPct val="0"/>
                        </a:spcBef>
                        <a:spcAft>
                          <a:spcPct val="0"/>
                        </a:spcAft>
                        <a:buNone/>
                      </a:pPr>
                      <a:r>
                        <a:rPr lang="en-GB" sz="1200">
                          <a:latin typeface="Lexend"/>
                          <a:ea typeface="Lexend"/>
                          <a:cs typeface="Lexend"/>
                          <a:sym typeface="Lexend"/>
                        </a:rPr>
                        <a:t>“feels like”</a:t>
                      </a:r>
                      <a:endParaRPr sz="1200"/>
                    </a:p>
                  </a:txBody>
                  <a:tcPr marL="36000"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5°C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9</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16</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17</a:t>
                      </a: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184" name="Google Shape;184;p14"/>
          <p:cNvSpPr txBox="1"/>
          <p:nvPr/>
        </p:nvSpPr>
        <p:spPr>
          <a:xfrm>
            <a:off x="4057800" y="6118339"/>
            <a:ext cx="1160700" cy="769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Weather report on 10th July at  Oakfield Old Town.</a:t>
            </a:r>
            <a:endParaRPr sz="1200">
              <a:latin typeface="Lexend"/>
              <a:ea typeface="Lexend"/>
              <a:cs typeface="Lexend"/>
              <a:sym typeface="Lexend"/>
            </a:endParaRPr>
          </a:p>
        </p:txBody>
      </p:sp>
      <p:sp>
        <p:nvSpPr>
          <p:cNvPr id="185" name="Google Shape;185;p14"/>
          <p:cNvSpPr txBox="1"/>
          <p:nvPr/>
        </p:nvSpPr>
        <p:spPr>
          <a:xfrm>
            <a:off x="488725" y="7935989"/>
            <a:ext cx="6577800" cy="4314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Lexend"/>
                <a:ea typeface="Lexend"/>
                <a:cs typeface="Lexend"/>
                <a:sym typeface="Lexend"/>
              </a:rPr>
              <a:t>a) On which day, and at what time, was there the greatest difference between the air </a:t>
            </a:r>
            <a:br>
              <a:rPr lang="en-GB" sz="1200">
                <a:latin typeface="Lexend"/>
                <a:ea typeface="Lexend"/>
                <a:cs typeface="Lexend"/>
                <a:sym typeface="Lexend"/>
              </a:rPr>
            </a:br>
            <a:r>
              <a:rPr lang="en-GB" sz="1200">
                <a:latin typeface="Lexend"/>
                <a:ea typeface="Lexend"/>
                <a:cs typeface="Lexend"/>
                <a:sym typeface="Lexend"/>
              </a:rPr>
              <a:t>    temperature and the “feels like” temperature?</a:t>
            </a:r>
            <a:endParaRPr sz="1200">
              <a:latin typeface="Lexend"/>
              <a:ea typeface="Lexend"/>
              <a:cs typeface="Lexend"/>
              <a:sym typeface="Lexend"/>
            </a:endParaRPr>
          </a:p>
        </p:txBody>
      </p:sp>
      <p:sp>
        <p:nvSpPr>
          <p:cNvPr id="186" name="Google Shape;186;p14"/>
          <p:cNvSpPr txBox="1"/>
          <p:nvPr/>
        </p:nvSpPr>
        <p:spPr>
          <a:xfrm>
            <a:off x="666296" y="8349396"/>
            <a:ext cx="6329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Kalam"/>
                <a:ea typeface="Kalam"/>
                <a:cs typeface="Kalam"/>
                <a:sym typeface="Kalam"/>
              </a:rPr>
              <a:t>The greatest difference was on the 1st July at 2 pm. The “feels like” temperature was 3°C higher than the air temperature.</a:t>
            </a:r>
            <a:endParaRPr sz="1200">
              <a:latin typeface="Kalam"/>
              <a:ea typeface="Kalam"/>
              <a:cs typeface="Kalam"/>
              <a:sym typeface="Kalam"/>
            </a:endParaRPr>
          </a:p>
        </p:txBody>
      </p:sp>
      <p:sp>
        <p:nvSpPr>
          <p:cNvPr id="187" name="Google Shape;187;p14"/>
          <p:cNvSpPr txBox="1"/>
          <p:nvPr/>
        </p:nvSpPr>
        <p:spPr>
          <a:xfrm>
            <a:off x="666025" y="9782996"/>
            <a:ext cx="5837100" cy="205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Kalam"/>
                <a:ea typeface="Kalam"/>
                <a:cs typeface="Kalam"/>
                <a:sym typeface="Kalam"/>
              </a:rPr>
              <a:t>The evaporation of rainfall due to high temperatures might result in higher humidity.</a:t>
            </a:r>
            <a:endParaRPr sz="1200">
              <a:latin typeface="Kalam"/>
              <a:ea typeface="Kalam"/>
              <a:cs typeface="Kalam"/>
              <a:sym typeface="Kalam"/>
            </a:endParaRPr>
          </a:p>
        </p:txBody>
      </p:sp>
      <p:pic>
        <p:nvPicPr>
          <p:cNvPr id="188" name="Google Shape;188;p14"/>
          <p:cNvPicPr preferRelativeResize="0"/>
          <p:nvPr/>
        </p:nvPicPr>
        <p:blipFill>
          <a:blip r:embed="rId3">
            <a:alphaModFix/>
          </a:blip>
          <a:stretch>
            <a:fillRect/>
          </a:stretch>
        </p:blipFill>
        <p:spPr>
          <a:xfrm>
            <a:off x="3328542" y="1744030"/>
            <a:ext cx="409379" cy="423567"/>
          </a:xfrm>
          <a:prstGeom prst="rect">
            <a:avLst/>
          </a:prstGeom>
          <a:noFill/>
          <a:ln>
            <a:noFill/>
          </a:ln>
        </p:spPr>
      </p:pic>
      <p:pic>
        <p:nvPicPr>
          <p:cNvPr id="189" name="Google Shape;189;p14"/>
          <p:cNvPicPr preferRelativeResize="0"/>
          <p:nvPr/>
        </p:nvPicPr>
        <p:blipFill>
          <a:blip r:embed="rId3">
            <a:alphaModFix/>
          </a:blip>
          <a:stretch>
            <a:fillRect/>
          </a:stretch>
        </p:blipFill>
        <p:spPr>
          <a:xfrm>
            <a:off x="2140323" y="1744030"/>
            <a:ext cx="409379" cy="423567"/>
          </a:xfrm>
          <a:prstGeom prst="rect">
            <a:avLst/>
          </a:prstGeom>
          <a:noFill/>
          <a:ln>
            <a:noFill/>
          </a:ln>
        </p:spPr>
      </p:pic>
      <p:pic>
        <p:nvPicPr>
          <p:cNvPr id="190" name="Google Shape;190;p14"/>
          <p:cNvPicPr preferRelativeResize="0"/>
          <p:nvPr/>
        </p:nvPicPr>
        <p:blipFill>
          <a:blip r:embed="rId3">
            <a:alphaModFix/>
          </a:blip>
          <a:stretch>
            <a:fillRect/>
          </a:stretch>
        </p:blipFill>
        <p:spPr>
          <a:xfrm>
            <a:off x="6426235" y="1744021"/>
            <a:ext cx="409379" cy="423567"/>
          </a:xfrm>
          <a:prstGeom prst="rect">
            <a:avLst/>
          </a:prstGeom>
          <a:noFill/>
          <a:ln>
            <a:noFill/>
          </a:ln>
        </p:spPr>
      </p:pic>
      <p:pic>
        <p:nvPicPr>
          <p:cNvPr id="191" name="Google Shape;191;p14"/>
          <p:cNvPicPr preferRelativeResize="0"/>
          <p:nvPr/>
        </p:nvPicPr>
        <p:blipFill>
          <a:blip r:embed="rId4">
            <a:alphaModFix/>
          </a:blip>
          <a:stretch>
            <a:fillRect/>
          </a:stretch>
        </p:blipFill>
        <p:spPr>
          <a:xfrm>
            <a:off x="5836635" y="1724022"/>
            <a:ext cx="409379" cy="463582"/>
          </a:xfrm>
          <a:prstGeom prst="rect">
            <a:avLst/>
          </a:prstGeom>
          <a:noFill/>
          <a:ln>
            <a:noFill/>
          </a:ln>
        </p:spPr>
      </p:pic>
      <p:pic>
        <p:nvPicPr>
          <p:cNvPr id="192" name="Google Shape;192;p14"/>
          <p:cNvPicPr preferRelativeResize="0"/>
          <p:nvPr/>
        </p:nvPicPr>
        <p:blipFill>
          <a:blip r:embed="rId5">
            <a:alphaModFix/>
          </a:blip>
          <a:srcRect b="21869"/>
          <a:stretch>
            <a:fillRect/>
          </a:stretch>
        </p:blipFill>
        <p:spPr>
          <a:xfrm>
            <a:off x="5306077" y="1823026"/>
            <a:ext cx="350349" cy="314291"/>
          </a:xfrm>
          <a:prstGeom prst="rect">
            <a:avLst/>
          </a:prstGeom>
          <a:noFill/>
          <a:ln>
            <a:noFill/>
          </a:ln>
        </p:spPr>
      </p:pic>
      <p:pic>
        <p:nvPicPr>
          <p:cNvPr id="193" name="Google Shape;193;p14"/>
          <p:cNvPicPr preferRelativeResize="0"/>
          <p:nvPr/>
        </p:nvPicPr>
        <p:blipFill>
          <a:blip r:embed="rId6">
            <a:alphaModFix/>
          </a:blip>
          <a:stretch>
            <a:fillRect/>
          </a:stretch>
        </p:blipFill>
        <p:spPr>
          <a:xfrm>
            <a:off x="4585249" y="1815376"/>
            <a:ext cx="488872" cy="329576"/>
          </a:xfrm>
          <a:prstGeom prst="rect">
            <a:avLst/>
          </a:prstGeom>
          <a:noFill/>
          <a:ln>
            <a:noFill/>
          </a:ln>
        </p:spPr>
      </p:pic>
      <p:pic>
        <p:nvPicPr>
          <p:cNvPr id="194" name="Google Shape;194;p14"/>
          <p:cNvPicPr preferRelativeResize="0"/>
          <p:nvPr/>
        </p:nvPicPr>
        <p:blipFill>
          <a:blip r:embed="rId7">
            <a:alphaModFix/>
          </a:blip>
          <a:stretch>
            <a:fillRect/>
          </a:stretch>
        </p:blipFill>
        <p:spPr>
          <a:xfrm>
            <a:off x="3987736" y="1772519"/>
            <a:ext cx="409375" cy="415290"/>
          </a:xfrm>
          <a:prstGeom prst="rect">
            <a:avLst/>
          </a:prstGeom>
          <a:noFill/>
          <a:ln>
            <a:noFill/>
          </a:ln>
        </p:spPr>
      </p:pic>
      <p:pic>
        <p:nvPicPr>
          <p:cNvPr id="195" name="Google Shape;195;p14"/>
          <p:cNvPicPr preferRelativeResize="0"/>
          <p:nvPr/>
        </p:nvPicPr>
        <p:blipFill>
          <a:blip r:embed="rId8">
            <a:alphaModFix/>
          </a:blip>
          <a:stretch>
            <a:fillRect/>
          </a:stretch>
        </p:blipFill>
        <p:spPr>
          <a:xfrm>
            <a:off x="2815617" y="1765457"/>
            <a:ext cx="342114" cy="380708"/>
          </a:xfrm>
          <a:prstGeom prst="rect">
            <a:avLst/>
          </a:prstGeom>
          <a:noFill/>
          <a:ln>
            <a:noFill/>
          </a:ln>
        </p:spPr>
      </p:pic>
      <p:pic>
        <p:nvPicPr>
          <p:cNvPr id="196" name="Google Shape;196;p14"/>
          <p:cNvPicPr preferRelativeResize="0"/>
          <p:nvPr/>
        </p:nvPicPr>
        <p:blipFill>
          <a:blip r:embed="rId5">
            <a:alphaModFix/>
          </a:blip>
          <a:srcRect b="21869"/>
          <a:stretch>
            <a:fillRect/>
          </a:stretch>
        </p:blipFill>
        <p:spPr>
          <a:xfrm>
            <a:off x="1982453" y="6549929"/>
            <a:ext cx="347990" cy="312165"/>
          </a:xfrm>
          <a:prstGeom prst="rect">
            <a:avLst/>
          </a:prstGeom>
          <a:noFill/>
          <a:ln>
            <a:noFill/>
          </a:ln>
        </p:spPr>
      </p:pic>
      <p:pic>
        <p:nvPicPr>
          <p:cNvPr id="197" name="Google Shape;197;p14"/>
          <p:cNvPicPr preferRelativeResize="0"/>
          <p:nvPr/>
        </p:nvPicPr>
        <p:blipFill>
          <a:blip r:embed="rId4">
            <a:alphaModFix/>
          </a:blip>
          <a:stretch>
            <a:fillRect/>
          </a:stretch>
        </p:blipFill>
        <p:spPr>
          <a:xfrm>
            <a:off x="2448824" y="6496989"/>
            <a:ext cx="369164" cy="418043"/>
          </a:xfrm>
          <a:prstGeom prst="rect">
            <a:avLst/>
          </a:prstGeom>
          <a:noFill/>
          <a:ln>
            <a:noFill/>
          </a:ln>
        </p:spPr>
      </p:pic>
      <p:pic>
        <p:nvPicPr>
          <p:cNvPr id="198" name="Google Shape;198;p14"/>
          <p:cNvPicPr preferRelativeResize="0"/>
          <p:nvPr/>
        </p:nvPicPr>
        <p:blipFill>
          <a:blip r:embed="rId6">
            <a:alphaModFix/>
          </a:blip>
          <a:stretch>
            <a:fillRect/>
          </a:stretch>
        </p:blipFill>
        <p:spPr>
          <a:xfrm>
            <a:off x="2858546" y="6532667"/>
            <a:ext cx="440848" cy="297201"/>
          </a:xfrm>
          <a:prstGeom prst="rect">
            <a:avLst/>
          </a:prstGeom>
          <a:noFill/>
          <a:ln>
            <a:noFill/>
          </a:ln>
        </p:spPr>
      </p:pic>
      <p:pic>
        <p:nvPicPr>
          <p:cNvPr id="199" name="Google Shape;199;p14"/>
          <p:cNvPicPr preferRelativeResize="0"/>
          <p:nvPr/>
        </p:nvPicPr>
        <p:blipFill>
          <a:blip r:embed="rId7">
            <a:alphaModFix/>
          </a:blip>
          <a:stretch>
            <a:fillRect/>
          </a:stretch>
        </p:blipFill>
        <p:spPr>
          <a:xfrm>
            <a:off x="3364695" y="6518762"/>
            <a:ext cx="369160" cy="374494"/>
          </a:xfrm>
          <a:prstGeom prst="rect">
            <a:avLst/>
          </a:prstGeom>
          <a:noFill/>
          <a:ln>
            <a:noFill/>
          </a:ln>
        </p:spPr>
      </p:pic>
      <p:pic>
        <p:nvPicPr>
          <p:cNvPr id="200" name="Google Shape;200;p14"/>
          <p:cNvPicPr preferRelativeResize="0"/>
          <p:nvPr/>
        </p:nvPicPr>
        <p:blipFill>
          <a:blip r:embed="rId7">
            <a:alphaModFix/>
          </a:blip>
          <a:stretch>
            <a:fillRect/>
          </a:stretch>
        </p:blipFill>
        <p:spPr>
          <a:xfrm>
            <a:off x="6237707" y="6518764"/>
            <a:ext cx="369160" cy="374494"/>
          </a:xfrm>
          <a:prstGeom prst="rect">
            <a:avLst/>
          </a:prstGeom>
          <a:noFill/>
          <a:ln>
            <a:noFill/>
          </a:ln>
        </p:spPr>
      </p:pic>
      <p:pic>
        <p:nvPicPr>
          <p:cNvPr id="201" name="Google Shape;201;p14"/>
          <p:cNvPicPr preferRelativeResize="0"/>
          <p:nvPr/>
        </p:nvPicPr>
        <p:blipFill>
          <a:blip r:embed="rId7">
            <a:alphaModFix/>
          </a:blip>
          <a:stretch>
            <a:fillRect/>
          </a:stretch>
        </p:blipFill>
        <p:spPr>
          <a:xfrm>
            <a:off x="6658534" y="6518764"/>
            <a:ext cx="369160" cy="374494"/>
          </a:xfrm>
          <a:prstGeom prst="rect">
            <a:avLst/>
          </a:prstGeom>
          <a:noFill/>
          <a:ln>
            <a:noFill/>
          </a:ln>
        </p:spPr>
      </p:pic>
      <p:pic>
        <p:nvPicPr>
          <p:cNvPr id="202" name="Google Shape;202;p14"/>
          <p:cNvPicPr preferRelativeResize="0"/>
          <p:nvPr/>
        </p:nvPicPr>
        <p:blipFill>
          <a:blip r:embed="rId6">
            <a:alphaModFix/>
          </a:blip>
          <a:stretch>
            <a:fillRect/>
          </a:stretch>
        </p:blipFill>
        <p:spPr>
          <a:xfrm>
            <a:off x="5266986" y="6526845"/>
            <a:ext cx="440848" cy="297201"/>
          </a:xfrm>
          <a:prstGeom prst="rect">
            <a:avLst/>
          </a:prstGeom>
          <a:noFill/>
          <a:ln>
            <a:noFill/>
          </a:ln>
        </p:spPr>
      </p:pic>
      <p:pic>
        <p:nvPicPr>
          <p:cNvPr id="203" name="Google Shape;203;p14"/>
          <p:cNvPicPr preferRelativeResize="0"/>
          <p:nvPr/>
        </p:nvPicPr>
        <p:blipFill>
          <a:blip r:embed="rId6">
            <a:alphaModFix/>
          </a:blip>
          <a:stretch>
            <a:fillRect/>
          </a:stretch>
        </p:blipFill>
        <p:spPr>
          <a:xfrm>
            <a:off x="5719197" y="6526854"/>
            <a:ext cx="440848" cy="297201"/>
          </a:xfrm>
          <a:prstGeom prst="rect">
            <a:avLst/>
          </a:prstGeom>
          <a:noFill/>
          <a:ln>
            <a:noFill/>
          </a:ln>
        </p:spPr>
      </p:pic>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7" name="Shape 207"/>
        <p:cNvGrpSpPr/>
        <p:nvPr/>
      </p:nvGrpSpPr>
      <p:grpSpPr>
        <a:xfrm>
          <a:off x="0" y="0"/>
          <a:ext cx="0" cy="0"/>
        </a:xfrm>
      </p:grpSpPr>
      <p:sp>
        <p:nvSpPr>
          <p:cNvPr id="208" name="Google Shape;208;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solidFill>
                  <a:schemeClr val="dk1"/>
                </a:solidFill>
              </a:rPr>
              <a:t>4</a:t>
            </a:fld>
            <a:endParaRPr>
              <a:solidFill>
                <a:schemeClr val="dk1"/>
              </a:solidFill>
            </a:endParaRPr>
          </a:p>
        </p:txBody>
      </p:sp>
      <p:sp>
        <p:nvSpPr>
          <p:cNvPr id="209" name="Google Shape;209;p15"/>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weather data</a:t>
            </a:r>
            <a:endParaRPr/>
          </a:p>
        </p:txBody>
      </p:sp>
      <p:sp>
        <p:nvSpPr>
          <p:cNvPr id="210" name="Google Shape;210;p15"/>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None/>
            </a:pPr>
            <a:r>
              <a:rPr lang="en-GB"/>
              <a:t>Mathematics in Education and Industry</a:t>
            </a:r>
            <a:endParaRPr/>
          </a:p>
        </p:txBody>
      </p:sp>
      <p:sp>
        <p:nvSpPr>
          <p:cNvPr id="211" name="Google Shape;211;p15"/>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212" name="Google Shape;212;p15"/>
          <p:cNvSpPr txBox="1"/>
          <p:nvPr/>
        </p:nvSpPr>
        <p:spPr>
          <a:xfrm>
            <a:off x="492525" y="900775"/>
            <a:ext cx="6599400" cy="769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latin typeface="Lexend"/>
                <a:ea typeface="Lexend"/>
                <a:cs typeface="Lexend"/>
                <a:sym typeface="Lexend"/>
              </a:rPr>
              <a:t>3) Using the information given on the weather map and weather report, make a sensible</a:t>
            </a:r>
            <a:endParaRPr sz="1200">
              <a:latin typeface="Lexend"/>
              <a:ea typeface="Lexend"/>
              <a:cs typeface="Lexend"/>
              <a:sym typeface="Lexend"/>
            </a:endParaRPr>
          </a:p>
          <a:p>
            <a:pPr marL="179999" lvl="0" indent="0" algn="l" rtl="0">
              <a:spcBef>
                <a:spcPct val="0"/>
              </a:spcBef>
              <a:spcAft>
                <a:spcPct val="0"/>
              </a:spcAft>
              <a:buNone/>
            </a:pPr>
            <a:r>
              <a:rPr lang="en-GB" sz="1200">
                <a:latin typeface="Lexend"/>
                <a:ea typeface="Lexend"/>
                <a:cs typeface="Lexend"/>
                <a:sym typeface="Lexend"/>
              </a:rPr>
              <a:t>prediction on the missing details of the weather conditions at 4 pm at Oakmoor.</a:t>
            </a:r>
            <a:endParaRPr sz="1200">
              <a:latin typeface="Lexend"/>
              <a:ea typeface="Lexend"/>
              <a:cs typeface="Lexend"/>
              <a:sym typeface="Lexend"/>
            </a:endParaRPr>
          </a:p>
          <a:p>
            <a:pPr marL="0" lvl="0" indent="0" algn="l" rtl="0">
              <a:spcBef>
                <a:spcPts val="1000"/>
              </a:spcBef>
              <a:spcAft>
                <a:spcPts val="1000"/>
              </a:spcAft>
              <a:buNone/>
            </a:pPr>
            <a:r>
              <a:rPr lang="en-GB" sz="1200">
                <a:latin typeface="Lexend"/>
                <a:ea typeface="Lexend"/>
                <a:cs typeface="Lexend"/>
                <a:sym typeface="Lexend"/>
              </a:rPr>
              <a:t>    Write a sentence justifying your prediction.</a:t>
            </a:r>
            <a:endParaRPr sz="1200">
              <a:latin typeface="Lexend"/>
              <a:ea typeface="Lexend"/>
              <a:cs typeface="Lexend"/>
              <a:sym typeface="Lexend"/>
            </a:endParaRPr>
          </a:p>
        </p:txBody>
      </p:sp>
      <p:graphicFrame>
        <p:nvGraphicFramePr>
          <p:cNvPr id="213" name="Google Shape;213;p15"/>
          <p:cNvGraphicFramePr>
            <a:graphicFrameLocks noGrp="1"/>
          </p:cNvGraphicFramePr>
          <p:nvPr/>
        </p:nvGraphicFramePr>
        <p:xfrm>
          <a:off x="536579" y="1896676"/>
          <a:ext cx="2812450" cy="2268810"/>
        </p:xfrm>
        <a:graphic>
          <a:graphicData uri="http://schemas.openxmlformats.org/drawingml/2006/table">
            <a:tbl>
              <a:tblPr>
                <a:noFill/>
                <a:tableStyleId>{3DB86B96-013B-4E5B-9F61-9EA4DADEA6BC}</a:tableStyleId>
              </a:tblPr>
              <a:tblGrid>
                <a:gridCol w="1583300"/>
                <a:gridCol w="614575"/>
                <a:gridCol w="614575"/>
              </a:tblGrid>
              <a:tr h="352750">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12:00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16:00</a:t>
                      </a:r>
                      <a:endParaRPr sz="1200">
                        <a:solidFill>
                          <a:srgbClr val="FFFFFF"/>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r>
              <a:tr h="488975">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37650">
                <a:tc>
                  <a:txBody>
                    <a:bodyPr vert="horz" wrap="square"/>
                    <a:lstStyle/>
                    <a:p>
                      <a:pPr marL="0" lvl="0" indent="0" algn="l" rtl="0">
                        <a:spcBef>
                          <a:spcPct val="0"/>
                        </a:spcBef>
                        <a:spcAft>
                          <a:spcPct val="0"/>
                        </a:spcAft>
                        <a:buNone/>
                      </a:pPr>
                      <a:r>
                        <a:rPr lang="en-GB" sz="1200">
                          <a:latin typeface="Lexend"/>
                          <a:ea typeface="Lexend"/>
                          <a:cs typeface="Lexend"/>
                          <a:sym typeface="Lexend"/>
                        </a:rPr>
                        <a:t> air temperature</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11°C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6</a:t>
                      </a:r>
                      <a:r>
                        <a:rPr lang="en-GB" sz="1200">
                          <a:solidFill>
                            <a:srgbClr val="000000"/>
                          </a:solidFill>
                          <a:latin typeface="Kalam"/>
                          <a:ea typeface="Kalam"/>
                          <a:cs typeface="Kalam"/>
                          <a:sym typeface="Kalam"/>
                        </a:rPr>
                        <a:t>°C</a:t>
                      </a:r>
                      <a:endParaRPr sz="1200">
                        <a:latin typeface="Kalam"/>
                        <a:ea typeface="Kalam"/>
                        <a:cs typeface="Kalam"/>
                        <a:sym typeface="Kalam"/>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37650">
                <a:tc>
                  <a:txBody>
                    <a:bodyPr vert="horz" wrap="square"/>
                    <a:lstStyle/>
                    <a:p>
                      <a:pPr marL="0" lvl="0" indent="0" algn="l" rtl="0">
                        <a:spcBef>
                          <a:spcPct val="0"/>
                        </a:spcBef>
                        <a:spcAft>
                          <a:spcPct val="0"/>
                        </a:spcAft>
                        <a:buNone/>
                      </a:pPr>
                      <a:r>
                        <a:rPr lang="en-GB" sz="1200">
                          <a:latin typeface="Lexend"/>
                          <a:ea typeface="Lexend"/>
                          <a:cs typeface="Lexend"/>
                          <a:sym typeface="Lexend"/>
                        </a:rPr>
                        <a:t> wind speed (km/h)</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8</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a:t>
                      </a:r>
                      <a:endParaRPr sz="12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68275">
                <a:tc>
                  <a:txBody>
                    <a:bodyPr vert="horz" wrap="square"/>
                    <a:lstStyle/>
                    <a:p>
                      <a:pPr marL="0" lvl="0" indent="0" algn="l" rtl="0">
                        <a:spcBef>
                          <a:spcPct val="0"/>
                        </a:spcBef>
                        <a:spcAft>
                          <a:spcPct val="0"/>
                        </a:spcAft>
                        <a:buNone/>
                      </a:pPr>
                      <a:r>
                        <a:rPr lang="en-GB" sz="1200">
                          <a:latin typeface="Lexend"/>
                          <a:ea typeface="Lexend"/>
                          <a:cs typeface="Lexend"/>
                          <a:sym typeface="Lexend"/>
                        </a:rPr>
                        <a:t> wind direction</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solidFill>
                          <a:srgbClr val="000000"/>
                        </a:solidFill>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268275">
                <a:tc>
                  <a:txBody>
                    <a:bodyPr vert="horz" wrap="square"/>
                    <a:lstStyle/>
                    <a:p>
                      <a:pPr marL="0" lvl="0" indent="0" algn="l" rtl="0">
                        <a:spcBef>
                          <a:spcPct val="0"/>
                        </a:spcBef>
                        <a:spcAft>
                          <a:spcPct val="0"/>
                        </a:spcAft>
                        <a:buNone/>
                      </a:pPr>
                      <a:r>
                        <a:rPr lang="en-GB" sz="1200">
                          <a:latin typeface="Lexend"/>
                          <a:ea typeface="Lexend"/>
                          <a:cs typeface="Lexend"/>
                          <a:sym typeface="Lexend"/>
                        </a:rPr>
                        <a:t>% chance of rain</a:t>
                      </a:r>
                      <a:endParaRPr sz="1200">
                        <a:latin typeface="Lexend"/>
                        <a:ea typeface="Lexend"/>
                        <a:cs typeface="Lexend"/>
                        <a:sym typeface="Lexend"/>
                      </a:endParaRPr>
                    </a:p>
                  </a:txBody>
                  <a:tcPr marL="3600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80%</a:t>
                      </a:r>
                      <a:endParaRPr sz="1200">
                        <a:latin typeface="Kalam"/>
                        <a:ea typeface="Kalam"/>
                        <a:cs typeface="Kalam"/>
                        <a:sym typeface="Kalam"/>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357700">
                <a:tc>
                  <a:txBody>
                    <a:bodyPr vert="horz" wrap="square"/>
                    <a:lstStyle/>
                    <a:p>
                      <a:pPr marL="0" lvl="0" indent="0" algn="l" rtl="0">
                        <a:spcBef>
                          <a:spcPct val="0"/>
                        </a:spcBef>
                        <a:spcAft>
                          <a:spcPct val="0"/>
                        </a:spcAft>
                        <a:buNone/>
                      </a:pPr>
                      <a:r>
                        <a:rPr lang="en-GB" sz="1200">
                          <a:latin typeface="Lexend"/>
                          <a:ea typeface="Lexend"/>
                          <a:cs typeface="Lexend"/>
                          <a:sym typeface="Lexend"/>
                        </a:rPr>
                        <a:t>“feels like”</a:t>
                      </a:r>
                      <a:endParaRPr sz="1200"/>
                    </a:p>
                  </a:txBody>
                  <a:tcPr marL="36000"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13°C</a:t>
                      </a:r>
                      <a:endParaRPr sz="1200">
                        <a:latin typeface="Lexend"/>
                        <a:ea typeface="Lexend"/>
                        <a:cs typeface="Lexend"/>
                        <a:sym typeface="Lexen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Kalam"/>
                          <a:ea typeface="Kalam"/>
                          <a:cs typeface="Kalam"/>
                          <a:sym typeface="Kalam"/>
                        </a:rPr>
                        <a:t>14°C</a:t>
                      </a:r>
                      <a:endParaRPr sz="1200">
                        <a:solidFill>
                          <a:srgbClr val="000000"/>
                        </a:solidFill>
                        <a:latin typeface="Kalam"/>
                        <a:ea typeface="Kalam"/>
                        <a:cs typeface="Kalam"/>
                        <a:sym typeface="Kalam"/>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214" name="Google Shape;214;p15"/>
          <p:cNvSpPr txBox="1"/>
          <p:nvPr/>
        </p:nvSpPr>
        <p:spPr>
          <a:xfrm>
            <a:off x="1616538" y="4197196"/>
            <a:ext cx="1731900" cy="207300"/>
          </a:xfrm>
          <a:prstGeom prst="rect">
            <a:avLst/>
          </a:prstGeom>
          <a:noFill/>
          <a:ln>
            <a:noFill/>
          </a:ln>
        </p:spPr>
        <p:txBody>
          <a:bodyPr spcFirstLastPara="1" wrap="square" lIns="0" tIns="0" rIns="0" bIns="0" anchor="t" anchorCtr="0">
            <a:noAutofit/>
          </a:bodyPr>
          <a:lstStyle/>
          <a:p>
            <a:pPr marL="0" lvl="0" indent="0" algn="r" rtl="0">
              <a:spcBef>
                <a:spcPct val="0"/>
              </a:spcBef>
              <a:spcAft>
                <a:spcPts val="1000"/>
              </a:spcAft>
              <a:buNone/>
            </a:pPr>
            <a:r>
              <a:rPr lang="en-GB" sz="1200">
                <a:latin typeface="Lexend"/>
                <a:ea typeface="Lexend"/>
                <a:cs typeface="Lexend"/>
                <a:sym typeface="Lexend"/>
              </a:rPr>
              <a:t>weather at “Oakmoor”</a:t>
            </a:r>
            <a:endParaRPr sz="1200">
              <a:latin typeface="Lexend"/>
              <a:ea typeface="Lexend"/>
              <a:cs typeface="Lexend"/>
              <a:sym typeface="Lexend"/>
            </a:endParaRPr>
          </a:p>
        </p:txBody>
      </p:sp>
      <p:sp>
        <p:nvSpPr>
          <p:cNvPr id="215" name="Google Shape;215;p15"/>
          <p:cNvSpPr txBox="1"/>
          <p:nvPr/>
        </p:nvSpPr>
        <p:spPr>
          <a:xfrm>
            <a:off x="531133" y="1939675"/>
            <a:ext cx="1570200" cy="3174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An example of a set of suitable predictions.</a:t>
            </a:r>
            <a:endParaRPr sz="1200">
              <a:latin typeface="Kalam"/>
              <a:ea typeface="Kalam"/>
              <a:cs typeface="Kalam"/>
              <a:sym typeface="Kalam"/>
            </a:endParaRPr>
          </a:p>
        </p:txBody>
      </p:sp>
      <p:sp>
        <p:nvSpPr>
          <p:cNvPr id="216" name="Google Shape;216;p15"/>
          <p:cNvSpPr txBox="1"/>
          <p:nvPr/>
        </p:nvSpPr>
        <p:spPr>
          <a:xfrm>
            <a:off x="568725" y="4607175"/>
            <a:ext cx="6498000" cy="5820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latin typeface="Kalam"/>
                <a:ea typeface="Kalam"/>
                <a:cs typeface="Kalam"/>
                <a:sym typeface="Kalam"/>
              </a:rPr>
              <a:t>The wind direction is likely to blow the cold front across Oakmoor. The cold front will reduce the air temperature and increase the chance of rainfall. Due to the stronger winds and greater chance of rain, the “feels like” temperature may also drop further.</a:t>
            </a:r>
            <a:endParaRPr sz="1200">
              <a:latin typeface="Kalam"/>
              <a:ea typeface="Kalam"/>
              <a:cs typeface="Kalam"/>
              <a:sym typeface="Kalam"/>
            </a:endParaRPr>
          </a:p>
        </p:txBody>
      </p:sp>
      <p:cxnSp>
        <p:nvCxnSpPr>
          <p:cNvPr id="217" name="Google Shape;217;p15"/>
          <p:cNvCxnSpPr/>
          <p:nvPr/>
        </p:nvCxnSpPr>
        <p:spPr>
          <a:xfrm>
            <a:off x="482701" y="9948674"/>
            <a:ext cx="6610500" cy="0"/>
          </a:xfrm>
          <a:prstGeom prst="straightConnector1">
            <a:avLst/>
          </a:prstGeom>
          <a:noFill/>
          <a:ln w="38100" cap="flat" cmpd="sng">
            <a:solidFill>
              <a:srgbClr val="000000"/>
            </a:solidFill>
            <a:prstDash val="solid"/>
            <a:round/>
            <a:headEnd type="none" w="med" len="med"/>
            <a:tailEnd type="none" w="med" len="med"/>
          </a:ln>
        </p:spPr>
      </p:cxnSp>
      <p:sp>
        <p:nvSpPr>
          <p:cNvPr id="218" name="Google Shape;218;p15"/>
          <p:cNvSpPr/>
          <p:nvPr/>
        </p:nvSpPr>
        <p:spPr>
          <a:xfrm>
            <a:off x="3601251" y="1900405"/>
            <a:ext cx="3474600" cy="22023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pic>
        <p:nvPicPr>
          <p:cNvPr id="219" name="Google Shape;219;p15"/>
          <p:cNvPicPr preferRelativeResize="0"/>
          <p:nvPr/>
        </p:nvPicPr>
        <p:blipFill>
          <a:blip r:embed="rId3">
            <a:alphaModFix/>
          </a:blip>
          <a:srcRect l="348" t="351" r="268" b="9705"/>
          <a:stretch>
            <a:fillRect/>
          </a:stretch>
        </p:blipFill>
        <p:spPr>
          <a:xfrm>
            <a:off x="3585625" y="1895925"/>
            <a:ext cx="3502162" cy="2211281"/>
          </a:xfrm>
          <a:prstGeom prst="rect">
            <a:avLst/>
          </a:prstGeom>
          <a:noFill/>
          <a:ln>
            <a:noFill/>
          </a:ln>
        </p:spPr>
      </p:pic>
      <p:sp>
        <p:nvSpPr>
          <p:cNvPr id="220" name="Google Shape;220;p15"/>
          <p:cNvSpPr txBox="1"/>
          <p:nvPr/>
        </p:nvSpPr>
        <p:spPr>
          <a:xfrm>
            <a:off x="3640687" y="1942814"/>
            <a:ext cx="687900" cy="1587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Oakfield</a:t>
            </a:r>
            <a:endParaRPr sz="1200">
              <a:solidFill>
                <a:srgbClr val="000000"/>
              </a:solidFill>
              <a:latin typeface="Lexend"/>
              <a:ea typeface="Lexend"/>
              <a:cs typeface="Lexend"/>
              <a:sym typeface="Lexend"/>
            </a:endParaRPr>
          </a:p>
        </p:txBody>
      </p:sp>
      <p:sp>
        <p:nvSpPr>
          <p:cNvPr id="221" name="Google Shape;221;p15"/>
          <p:cNvSpPr/>
          <p:nvPr/>
        </p:nvSpPr>
        <p:spPr>
          <a:xfrm>
            <a:off x="4742977" y="2688383"/>
            <a:ext cx="81600" cy="81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2" name="Google Shape;222;p15"/>
          <p:cNvSpPr txBox="1"/>
          <p:nvPr/>
        </p:nvSpPr>
        <p:spPr>
          <a:xfrm>
            <a:off x="3612713" y="2712025"/>
            <a:ext cx="750300" cy="2751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Oakfield</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Academy</a:t>
            </a:r>
            <a:endParaRPr sz="1200">
              <a:solidFill>
                <a:srgbClr val="000000"/>
              </a:solidFill>
              <a:latin typeface="Lexend"/>
              <a:ea typeface="Lexend"/>
              <a:cs typeface="Lexend"/>
              <a:sym typeface="Lexend"/>
            </a:endParaRPr>
          </a:p>
        </p:txBody>
      </p:sp>
      <p:cxnSp>
        <p:nvCxnSpPr>
          <p:cNvPr id="223" name="Google Shape;223;p15"/>
          <p:cNvCxnSpPr/>
          <p:nvPr/>
        </p:nvCxnSpPr>
        <p:spPr>
          <a:xfrm flipH="1">
            <a:off x="4230814" y="2728801"/>
            <a:ext cx="557700" cy="131100"/>
          </a:xfrm>
          <a:prstGeom prst="straightConnector1">
            <a:avLst/>
          </a:prstGeom>
          <a:noFill/>
          <a:ln w="28575" cap="flat" cmpd="sng">
            <a:solidFill>
              <a:srgbClr val="000000"/>
            </a:solidFill>
            <a:prstDash val="solid"/>
            <a:round/>
            <a:headEnd type="none" w="med" len="med"/>
            <a:tailEnd type="none" w="med" len="med"/>
          </a:ln>
        </p:spPr>
      </p:cxnSp>
      <p:sp>
        <p:nvSpPr>
          <p:cNvPr id="224" name="Google Shape;224;p15"/>
          <p:cNvSpPr/>
          <p:nvPr/>
        </p:nvSpPr>
        <p:spPr>
          <a:xfrm rot="-4517960">
            <a:off x="6587965" y="2635400"/>
            <a:ext cx="81570" cy="8157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5" name="Google Shape;225;p15"/>
          <p:cNvCxnSpPr/>
          <p:nvPr/>
        </p:nvCxnSpPr>
        <p:spPr>
          <a:xfrm>
            <a:off x="6629685" y="2671612"/>
            <a:ext cx="42300" cy="356400"/>
          </a:xfrm>
          <a:prstGeom prst="straightConnector1">
            <a:avLst/>
          </a:prstGeom>
          <a:noFill/>
          <a:ln w="28575" cap="flat" cmpd="sng">
            <a:solidFill>
              <a:srgbClr val="000000"/>
            </a:solidFill>
            <a:prstDash val="solid"/>
            <a:round/>
            <a:headEnd type="none" w="med" len="med"/>
            <a:tailEnd type="none" w="med" len="med"/>
          </a:ln>
        </p:spPr>
      </p:cxnSp>
      <p:sp>
        <p:nvSpPr>
          <p:cNvPr id="226" name="Google Shape;226;p15"/>
          <p:cNvSpPr txBox="1"/>
          <p:nvPr/>
        </p:nvSpPr>
        <p:spPr>
          <a:xfrm>
            <a:off x="6357643" y="3022470"/>
            <a:ext cx="639900" cy="2751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Oakfield</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Harbour</a:t>
            </a:r>
            <a:endParaRPr sz="1200">
              <a:solidFill>
                <a:srgbClr val="000000"/>
              </a:solidFill>
              <a:latin typeface="Lexend"/>
              <a:ea typeface="Lexend"/>
              <a:cs typeface="Lexend"/>
              <a:sym typeface="Lexend"/>
            </a:endParaRPr>
          </a:p>
        </p:txBody>
      </p:sp>
      <p:sp>
        <p:nvSpPr>
          <p:cNvPr id="227" name="Google Shape;227;p15"/>
          <p:cNvSpPr/>
          <p:nvPr/>
        </p:nvSpPr>
        <p:spPr>
          <a:xfrm>
            <a:off x="5859116" y="3782860"/>
            <a:ext cx="81600" cy="81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28" name="Google Shape;228;p15"/>
          <p:cNvGrpSpPr/>
          <p:nvPr/>
        </p:nvGrpSpPr>
        <p:grpSpPr>
          <a:xfrm flipH="1">
            <a:off x="5890547" y="3629132"/>
            <a:ext cx="892188" cy="275052"/>
            <a:chOff x="2402291" y="3748030"/>
            <a:chExt cx="1287429" cy="396900"/>
          </a:xfrm>
        </p:grpSpPr>
        <p:sp>
          <p:nvSpPr>
            <p:cNvPr id="229" name="Google Shape;229;p15"/>
            <p:cNvSpPr txBox="1"/>
            <p:nvPr/>
          </p:nvSpPr>
          <p:spPr>
            <a:xfrm>
              <a:off x="2402291" y="3748030"/>
              <a:ext cx="11280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Oakfield</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Old Town</a:t>
              </a:r>
              <a:endParaRPr sz="1200">
                <a:solidFill>
                  <a:srgbClr val="000000"/>
                </a:solidFill>
                <a:latin typeface="Lexend"/>
                <a:ea typeface="Lexend"/>
                <a:cs typeface="Lexend"/>
                <a:sym typeface="Lexend"/>
              </a:endParaRPr>
            </a:p>
          </p:txBody>
        </p:sp>
        <p:cxnSp>
          <p:nvCxnSpPr>
            <p:cNvPr id="230" name="Google Shape;230;p15"/>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231" name="Google Shape;231;p15"/>
          <p:cNvSpPr/>
          <p:nvPr/>
        </p:nvSpPr>
        <p:spPr>
          <a:xfrm>
            <a:off x="5728085" y="2517082"/>
            <a:ext cx="81600" cy="81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32" name="Google Shape;232;p15"/>
          <p:cNvSpPr/>
          <p:nvPr/>
        </p:nvSpPr>
        <p:spPr>
          <a:xfrm>
            <a:off x="5256041" y="3344134"/>
            <a:ext cx="81600" cy="81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33" name="Google Shape;233;p15"/>
          <p:cNvSpPr txBox="1"/>
          <p:nvPr/>
        </p:nvSpPr>
        <p:spPr>
          <a:xfrm>
            <a:off x="6654415" y="3942482"/>
            <a:ext cx="412200" cy="1581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12:00</a:t>
            </a:r>
            <a:endParaRPr sz="1200">
              <a:solidFill>
                <a:srgbClr val="FFFFFF"/>
              </a:solidFill>
              <a:latin typeface="Lexend"/>
              <a:ea typeface="Lexend"/>
              <a:cs typeface="Lexend"/>
              <a:sym typeface="Lexend"/>
            </a:endParaRPr>
          </a:p>
        </p:txBody>
      </p:sp>
      <p:grpSp>
        <p:nvGrpSpPr>
          <p:cNvPr id="234" name="Google Shape;234;p15"/>
          <p:cNvGrpSpPr/>
          <p:nvPr/>
        </p:nvGrpSpPr>
        <p:grpSpPr>
          <a:xfrm>
            <a:off x="3562772" y="3585508"/>
            <a:ext cx="258004" cy="448440"/>
            <a:chOff x="386375" y="4087685"/>
            <a:chExt cx="372300" cy="647100"/>
          </a:xfrm>
        </p:grpSpPr>
        <p:cxnSp>
          <p:nvCxnSpPr>
            <p:cNvPr id="235" name="Google Shape;235;p15"/>
            <p:cNvCxnSpPr/>
            <p:nvPr/>
          </p:nvCxnSpPr>
          <p:spPr>
            <a:xfrm rot="10800000" flipH="1">
              <a:off x="572525" y="4364885"/>
              <a:ext cx="0" cy="369900"/>
            </a:xfrm>
            <a:prstGeom prst="straightConnector1">
              <a:avLst/>
            </a:prstGeom>
            <a:noFill/>
            <a:ln w="28575" cap="flat" cmpd="sng">
              <a:solidFill>
                <a:srgbClr val="000000"/>
              </a:solidFill>
              <a:prstDash val="solid"/>
              <a:round/>
              <a:headEnd type="none" w="med" len="med"/>
              <a:tailEnd type="triangle" w="med" len="med"/>
            </a:ln>
          </p:spPr>
        </p:cxnSp>
        <p:sp>
          <p:nvSpPr>
            <p:cNvPr id="236" name="Google Shape;236;p15"/>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200">
                  <a:solidFill>
                    <a:srgbClr val="000000"/>
                  </a:solidFill>
                  <a:latin typeface="Lexend"/>
                  <a:ea typeface="Lexend"/>
                  <a:cs typeface="Lexend"/>
                  <a:sym typeface="Lexend"/>
                </a:rPr>
                <a:t>N</a:t>
              </a:r>
              <a:endParaRPr sz="1200">
                <a:latin typeface="Lexend"/>
                <a:ea typeface="Lexend"/>
                <a:cs typeface="Lexend"/>
                <a:sym typeface="Lexend"/>
              </a:endParaRPr>
            </a:p>
          </p:txBody>
        </p:sp>
      </p:grpSp>
      <p:sp>
        <p:nvSpPr>
          <p:cNvPr id="237" name="Google Shape;237;p15"/>
          <p:cNvSpPr/>
          <p:nvPr/>
        </p:nvSpPr>
        <p:spPr>
          <a:xfrm>
            <a:off x="4552702" y="3806771"/>
            <a:ext cx="81600" cy="81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38" name="Google Shape;238;p15"/>
          <p:cNvCxnSpPr/>
          <p:nvPr/>
        </p:nvCxnSpPr>
        <p:spPr>
          <a:xfrm rot="10800000" flipH="1">
            <a:off x="4383744" y="3848858"/>
            <a:ext cx="205200" cy="47100"/>
          </a:xfrm>
          <a:prstGeom prst="straightConnector1">
            <a:avLst/>
          </a:prstGeom>
          <a:noFill/>
          <a:ln w="28575" cap="flat" cmpd="sng">
            <a:solidFill>
              <a:srgbClr val="000000"/>
            </a:solidFill>
            <a:prstDash val="solid"/>
            <a:round/>
            <a:headEnd type="none" w="med" len="med"/>
            <a:tailEnd type="none" w="med" len="med"/>
          </a:ln>
        </p:spPr>
      </p:cxnSp>
      <p:sp>
        <p:nvSpPr>
          <p:cNvPr id="239" name="Google Shape;239;p15"/>
          <p:cNvSpPr txBox="1"/>
          <p:nvPr/>
        </p:nvSpPr>
        <p:spPr>
          <a:xfrm>
            <a:off x="3759188" y="3847450"/>
            <a:ext cx="723000" cy="207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Oak</a:t>
            </a:r>
            <a:r>
              <a:rPr lang="en-GB" sz="1200">
                <a:latin typeface="Lexend"/>
                <a:ea typeface="Lexend"/>
                <a:cs typeface="Lexend"/>
                <a:sym typeface="Lexend"/>
              </a:rPr>
              <a:t>moor</a:t>
            </a:r>
            <a:endParaRPr sz="1200">
              <a:solidFill>
                <a:srgbClr val="000000"/>
              </a:solidFill>
              <a:latin typeface="Lexend"/>
              <a:ea typeface="Lexend"/>
              <a:cs typeface="Lexend"/>
              <a:sym typeface="Lexend"/>
            </a:endParaRPr>
          </a:p>
        </p:txBody>
      </p:sp>
      <p:sp>
        <p:nvSpPr>
          <p:cNvPr id="240" name="Google Shape;240;p15"/>
          <p:cNvSpPr txBox="1"/>
          <p:nvPr/>
        </p:nvSpPr>
        <p:spPr>
          <a:xfrm>
            <a:off x="5549497" y="2517202"/>
            <a:ext cx="258000" cy="207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241" name="Google Shape;241;p15"/>
          <p:cNvSpPr txBox="1"/>
          <p:nvPr/>
        </p:nvSpPr>
        <p:spPr>
          <a:xfrm>
            <a:off x="5070991" y="3345109"/>
            <a:ext cx="258000" cy="207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200">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242" name="Google Shape;242;p15"/>
          <p:cNvSpPr/>
          <p:nvPr/>
        </p:nvSpPr>
        <p:spPr>
          <a:xfrm>
            <a:off x="5071949" y="1900831"/>
            <a:ext cx="2003376" cy="1629774"/>
          </a:xfrm>
          <a:custGeom>
            <a:rect l="l" t="t" r="r" b="b"/>
            <a:pathLst>
              <a:path w="104930" h="85362" extrusionOk="0">
                <a:moveTo>
                  <a:pt x="0" y="0"/>
                </a:moveTo>
                <a:cubicBezTo>
                  <a:pt x="2315" y="9001"/>
                  <a:pt x="-3601" y="39779"/>
                  <a:pt x="13887" y="54006"/>
                </a:cubicBezTo>
                <a:cubicBezTo>
                  <a:pt x="31375" y="68233"/>
                  <a:pt x="89756" y="80136"/>
                  <a:pt x="104930" y="85362"/>
                </a:cubicBezTo>
              </a:path>
            </a:pathLst>
          </a:custGeom>
          <a:noFill/>
          <a:ln w="38100" cap="flat" cmpd="sng">
            <a:solidFill>
              <a:srgbClr val="808080"/>
            </a:solidFill>
            <a:prstDash val="solid"/>
            <a:round/>
            <a:headEnd type="none" w="med" len="med"/>
            <a:tailEnd type="none" w="med" len="med"/>
          </a:ln>
        </p:spPr>
        <p:txBody>
          <a:bodyPr/>
          <a:lstStyle/>
          <a:p/>
        </p:txBody>
      </p:sp>
      <p:sp>
        <p:nvSpPr>
          <p:cNvPr id="243" name="Google Shape;243;p15"/>
          <p:cNvSpPr/>
          <p:nvPr/>
        </p:nvSpPr>
        <p:spPr>
          <a:xfrm rot="4951830">
            <a:off x="5123972" y="2128434"/>
            <a:ext cx="136155" cy="212065"/>
          </a:xfrm>
          <a:prstGeom prst="triangle">
            <a:avLst>
              <a:gd name="adj" fmla="val 50000"/>
            </a:avLst>
          </a:prstGeom>
          <a:solidFill>
            <a:srgbClr val="808080"/>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4" name="Google Shape;244;p15"/>
          <p:cNvSpPr/>
          <p:nvPr/>
        </p:nvSpPr>
        <p:spPr>
          <a:xfrm rot="2318404">
            <a:off x="5383868" y="2774551"/>
            <a:ext cx="135965" cy="211959"/>
          </a:xfrm>
          <a:prstGeom prst="triangle">
            <a:avLst>
              <a:gd name="adj" fmla="val 50000"/>
            </a:avLst>
          </a:prstGeom>
          <a:solidFill>
            <a:srgbClr val="808080"/>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5" name="Google Shape;245;p15"/>
          <p:cNvSpPr/>
          <p:nvPr/>
        </p:nvSpPr>
        <p:spPr>
          <a:xfrm rot="1007765">
            <a:off x="6135643" y="3077081"/>
            <a:ext cx="136002" cy="211920"/>
          </a:xfrm>
          <a:prstGeom prst="triangle">
            <a:avLst>
              <a:gd name="adj" fmla="val 50000"/>
            </a:avLst>
          </a:prstGeom>
          <a:solidFill>
            <a:srgbClr val="808080"/>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246" name="Google Shape;246;p15"/>
          <p:cNvPicPr preferRelativeResize="0"/>
          <p:nvPr/>
        </p:nvPicPr>
        <p:blipFill>
          <a:blip r:embed="rId4">
            <a:alphaModFix/>
          </a:blip>
          <a:stretch>
            <a:fillRect/>
          </a:stretch>
        </p:blipFill>
        <p:spPr>
          <a:xfrm>
            <a:off x="2176250" y="2315625"/>
            <a:ext cx="557700" cy="328050"/>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6.0.31"/>
  <p:tag name="AS_OS" val="Microsoft Windows NT 10.0.17763.0"/>
  <p:tag name="AS_RELEASE_DATE" val="2026.01.14"/>
  <p:tag name="AS_TITLE" val="Aspose.Slides for .NET6"/>
  <p:tag name="AS_VERSION" val="26.1"/>
</p:tagLst>
</file>

<file path=ppt/theme/theme1.xml><?xml version="1.0" encoding="utf-8"?>
<a:theme xmlns:r="http://schemas.openxmlformats.org/officeDocument/2006/relationships" xmlns:a="http://schemas.openxmlformats.org/drawingml/2006/main" name="simple-light-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79</Paragraphs>
  <Slides>4</Slides>
  <Notes>4</Notes>
  <TotalTime>0</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4</vt:i4>
      </vt:variant>
    </vt:vector>
  </HeadingPairs>
  <TitlesOfParts>
    <vt:vector baseType="lpstr" size="10">
      <vt:lpstr>Arial</vt:lpstr>
      <vt:lpstr>Lexend</vt:lpstr>
      <vt:lpstr>Kalam</vt:lpstr>
      <vt:lpstr>Lexend Medium</vt:lpstr>
      <vt:lpstr>Lexend Light</vt:lpstr>
      <vt:lpstr>simple-light-2</vt:lpstr>
      <vt:lpstr>Understanding weather data</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26.0100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2026-03-12T20:36:26.123</cp:lastPrinted>
  <dcterms:created xsi:type="dcterms:W3CDTF">2026-03-12T20:36:26Z</dcterms:created>
  <dcterms:modified xsi:type="dcterms:W3CDTF">2026-03-12T20:37:14Z</dcterms:modified>
</cp:coreProperties>
</file>