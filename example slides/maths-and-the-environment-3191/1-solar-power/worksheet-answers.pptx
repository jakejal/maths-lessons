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35DF4F-A0A2-4015-A03F-868E4EEE533F}">
  <a:tblStyle styleId="{9735DF4F-A0A2-4015-A03F-868E4EEE53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Solar power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8001" y="13350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the cost of electricity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476400" y="1749900"/>
            <a:ext cx="66240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house with 4 or more bedrooms consumes an average of 11.8 kWh of electricity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per day.  In 2024, the average cost of electricity in the UK could be calculated as: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24.5 p per kWh consumed + 60 p daily standing charge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476400" y="2588100"/>
            <a:ext cx="6610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much electricity would this house consume per year?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476400" y="3146900"/>
            <a:ext cx="6610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would be the daily cost of electricity for this house?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476400" y="3705700"/>
            <a:ext cx="6610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would be the monthly cost of electricity for this house (based on 30.5 days)?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476400" y="4264500"/>
            <a:ext cx="6610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What would be the annual cost of electricity for this house?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1834299" y="2828480"/>
            <a:ext cx="2622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11.8 × 365 = 4307 kWh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" name="Google Shape;124;p12"/>
          <p:cNvSpPr txBox="1"/>
          <p:nvPr/>
        </p:nvSpPr>
        <p:spPr>
          <a:xfrm>
            <a:off x="1834300" y="3386876"/>
            <a:ext cx="3786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24.5 × 11.8 + 60 = 349.1 p = £3.49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" name="Google Shape;125;p12"/>
          <p:cNvSpPr txBox="1"/>
          <p:nvPr/>
        </p:nvSpPr>
        <p:spPr>
          <a:xfrm>
            <a:off x="1824225" y="3945272"/>
            <a:ext cx="52917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(24.5 × 11.8 + 60) × 30.5 = 10 647.55 p ≈ £106.48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" name="Google Shape;126;p12"/>
          <p:cNvSpPr txBox="1"/>
          <p:nvPr/>
        </p:nvSpPr>
        <p:spPr>
          <a:xfrm>
            <a:off x="1834300" y="4503668"/>
            <a:ext cx="53433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(24.5 × 11.8 + 60) × 365 = 127 421.5 p ≈ £1274.22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7" name="Google Shape;127;p12"/>
          <p:cNvCxnSpPr/>
          <p:nvPr/>
        </p:nvCxnSpPr>
        <p:spPr>
          <a:xfrm>
            <a:off x="482701" y="4894209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2"/>
          <p:cNvSpPr/>
          <p:nvPr/>
        </p:nvSpPr>
        <p:spPr>
          <a:xfrm>
            <a:off x="656725" y="7863500"/>
            <a:ext cx="2763300" cy="113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1668975" y="7902871"/>
            <a:ext cx="103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= PH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793371" y="8139818"/>
            <a:ext cx="25851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electricity produced (kWh)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796136" y="8443618"/>
            <a:ext cx="23691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power rating of panel (kW)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777324" y="8747417"/>
            <a:ext cx="26229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amount of peak sunlight (h)</a:t>
            </a:r>
            <a:endParaRPr sz="1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476400" y="5377275"/>
            <a:ext cx="6610500" cy="23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house consumes an average of 11.8 kWh of electricity per day.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cost of obtaining electricity from a supplier company can be calculated using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following formula: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cost = 24.5 p per kWh consumed + 60 p daily standing charge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owners install 8 solar panels, each with a power rating of 380 watts.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panels get 4.5 hours of peak sunlight per day, on average.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performance of the panels is reduced by 25% due to factors such as shade.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How much money do the occupants save each year on their electricity bills by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having solar panels?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468001" y="49164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possible savings with solar panels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3566325" y="7693500"/>
            <a:ext cx="35205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Cost if all electricity was provided by their supplier: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(24.5 × 11.8 + 60) × 365 = 127 421.5 p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2"/>
          <p:cNvSpPr txBox="1"/>
          <p:nvPr/>
        </p:nvSpPr>
        <p:spPr>
          <a:xfrm>
            <a:off x="3566325" y="8161731"/>
            <a:ext cx="35205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Electricity produced by 8 solar panels per day: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0.38 × 4.5 × 0.75 × 8 = 10.26 kWh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2"/>
          <p:cNvSpPr txBox="1"/>
          <p:nvPr/>
        </p:nvSpPr>
        <p:spPr>
          <a:xfrm>
            <a:off x="3566325" y="8611363"/>
            <a:ext cx="35205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Remaining electricity required: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11.8 – 10.26 = 1.54 kWh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3566325" y="9060994"/>
            <a:ext cx="27861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Cost of electricity with solar panels: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(24.5 × 1.54 + 60) × 365 = 35 671.45 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2"/>
          <p:cNvSpPr txBox="1"/>
          <p:nvPr/>
        </p:nvSpPr>
        <p:spPr>
          <a:xfrm>
            <a:off x="3566325" y="9510625"/>
            <a:ext cx="35205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Money saved per year: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127421.5 – 35671.45 = 91 750.05 p ≈£917.50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0" name="Google Shape;140;p12"/>
          <p:cNvCxnSpPr/>
          <p:nvPr/>
        </p:nvCxnSpPr>
        <p:spPr>
          <a:xfrm>
            <a:off x="482701" y="99430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46" name="Google Shape;146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Solar panels</a:t>
            </a:r>
            <a:endParaRPr/>
          </a:p>
        </p:txBody>
      </p:sp>
      <p:sp>
        <p:nvSpPr>
          <p:cNvPr id="147" name="Google Shape;147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48" name="Google Shape;148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491525" y="496850"/>
            <a:ext cx="6600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the cost of installing solar panels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476400" y="2490824"/>
            <a:ext cx="6615600" cy="16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much will it cost in total to buy and install the solar panels?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Their annual electricity bill without solar panels was £1275.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Their annual electricity bill with solar panels is £350.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How much money do they save per year by having solar panels?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many years will it take for their annual savings to sum to more than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upfront cost of buying and installing the solar panels?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476400" y="987900"/>
            <a:ext cx="66156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The occupants of a house buy 8 solar panels.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The costs involved with buying and installing the panels are shown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Price per panel: £200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Storage battery:  £4000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Other required electrical equipment: £1700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Labour costs: £1500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5589256" y="2398599"/>
            <a:ext cx="11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£8800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5600567" y="3148755"/>
            <a:ext cx="11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£925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4700575" y="3708675"/>
            <a:ext cx="237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8800 ÷ 925 = 9.513… (10 years)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" name="Google Shape;155;p13"/>
          <p:cNvSpPr txBox="1"/>
          <p:nvPr/>
        </p:nvSpPr>
        <p:spPr>
          <a:xfrm>
            <a:off x="476400" y="4188300"/>
            <a:ext cx="66006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occupants of a house are considering investing in solar panels.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Previously, they obtained all their electricity from their energy supplier company,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with an annual bill of £1400.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solar panels cost £8400 to buy and install.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Once the panels are installed, their annual electricity bill is estimated to be £300.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table below to show the total money spent after each year.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6" name="Google Shape;156;p13"/>
          <p:cNvGraphicFramePr/>
          <p:nvPr/>
        </p:nvGraphicFramePr>
        <p:xfrm>
          <a:off x="560709" y="56308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{9735DF4F-A0A2-4015-A03F-868E4EEE533F}</a:tableStyleId>
              </a:tblPr>
              <a:tblGrid>
                <a:gridCol w="1643200"/>
                <a:gridCol w="442975"/>
                <a:gridCol w="442975"/>
                <a:gridCol w="442975"/>
                <a:gridCol w="442975"/>
                <a:gridCol w="442975"/>
                <a:gridCol w="442975"/>
                <a:gridCol w="442975"/>
                <a:gridCol w="442975"/>
                <a:gridCol w="442975"/>
                <a:gridCol w="442975"/>
                <a:gridCol w="442975"/>
              </a:tblGrid>
              <a:tr h="242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years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cost without solar (£ thousands)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2.8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4.2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5.6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8.4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9.8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11.2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12.6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cost with solar (£ thousands)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9.3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9.6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9.9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10.2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10.5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10.8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11.1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11.4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7" name="Google Shape;1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356" y="7153324"/>
            <a:ext cx="2516882" cy="24973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13"/>
          <p:cNvCxnSpPr/>
          <p:nvPr/>
        </p:nvCxnSpPr>
        <p:spPr>
          <a:xfrm>
            <a:off x="1071825" y="9650729"/>
            <a:ext cx="2726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3"/>
          <p:cNvCxnSpPr/>
          <p:nvPr/>
        </p:nvCxnSpPr>
        <p:spPr>
          <a:xfrm rot="10800000">
            <a:off x="1071825" y="7040729"/>
            <a:ext cx="0" cy="2610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13"/>
          <p:cNvSpPr txBox="1"/>
          <p:nvPr/>
        </p:nvSpPr>
        <p:spPr>
          <a:xfrm>
            <a:off x="1033493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3"/>
          <p:cNvSpPr txBox="1"/>
          <p:nvPr/>
        </p:nvSpPr>
        <p:spPr>
          <a:xfrm>
            <a:off x="1298498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3"/>
          <p:cNvSpPr txBox="1"/>
          <p:nvPr/>
        </p:nvSpPr>
        <p:spPr>
          <a:xfrm>
            <a:off x="1538727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3"/>
          <p:cNvSpPr txBox="1"/>
          <p:nvPr/>
        </p:nvSpPr>
        <p:spPr>
          <a:xfrm>
            <a:off x="1791344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2043961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2296579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2549196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3"/>
          <p:cNvSpPr txBox="1"/>
          <p:nvPr/>
        </p:nvSpPr>
        <p:spPr>
          <a:xfrm>
            <a:off x="2801813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3042042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913038" y="9553534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913038" y="9347363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913038" y="9141192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913038" y="8935021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913038" y="8728850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913038" y="8522679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913038" y="8316508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13"/>
          <p:cNvSpPr txBox="1"/>
          <p:nvPr/>
        </p:nvSpPr>
        <p:spPr>
          <a:xfrm>
            <a:off x="913038" y="8110337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13"/>
          <p:cNvSpPr txBox="1"/>
          <p:nvPr/>
        </p:nvSpPr>
        <p:spPr>
          <a:xfrm>
            <a:off x="913038" y="7904167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13"/>
          <p:cNvSpPr txBox="1"/>
          <p:nvPr/>
        </p:nvSpPr>
        <p:spPr>
          <a:xfrm>
            <a:off x="913038" y="769799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839508" y="7491825"/>
            <a:ext cx="180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13"/>
          <p:cNvSpPr txBox="1"/>
          <p:nvPr/>
        </p:nvSpPr>
        <p:spPr>
          <a:xfrm>
            <a:off x="1775905" y="9797788"/>
            <a:ext cx="1258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number of years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3"/>
          <p:cNvSpPr txBox="1"/>
          <p:nvPr/>
        </p:nvSpPr>
        <p:spPr>
          <a:xfrm rot="-5400000">
            <a:off x="-463455" y="8304626"/>
            <a:ext cx="2346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 money spent (£ thousands)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839508" y="7285654"/>
            <a:ext cx="180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13"/>
          <p:cNvSpPr txBox="1"/>
          <p:nvPr/>
        </p:nvSpPr>
        <p:spPr>
          <a:xfrm>
            <a:off x="839508" y="7079483"/>
            <a:ext cx="180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3286091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3493087" y="9648753"/>
            <a:ext cx="180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" name="Google Shape;186;p13"/>
          <p:cNvGrpSpPr/>
          <p:nvPr/>
        </p:nvGrpSpPr>
        <p:grpSpPr>
          <a:xfrm>
            <a:off x="1086620" y="7167568"/>
            <a:ext cx="2127042" cy="2465971"/>
            <a:chOff x="900350" y="808354"/>
            <a:chExt cx="3085800" cy="3577500"/>
          </a:xfrm>
        </p:grpSpPr>
        <p:cxnSp>
          <p:nvCxnSpPr>
            <p:cNvPr id="187" name="Google Shape;187;p13"/>
            <p:cNvCxnSpPr/>
            <p:nvPr/>
          </p:nvCxnSpPr>
          <p:spPr>
            <a:xfrm flipH="1" rot="10800000">
              <a:off x="900350" y="808354"/>
              <a:ext cx="3085800" cy="3577500"/>
            </a:xfrm>
            <a:prstGeom prst="straightConnector1">
              <a:avLst/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8" name="Google Shape;188;p13"/>
            <p:cNvSpPr/>
            <p:nvPr/>
          </p:nvSpPr>
          <p:spPr>
            <a:xfrm>
              <a:off x="1207700" y="3932444"/>
              <a:ext cx="94200" cy="94200"/>
            </a:xfrm>
            <a:prstGeom prst="ellipse">
              <a:avLst/>
            </a:prstGeom>
            <a:solidFill>
              <a:srgbClr val="80808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13"/>
            <p:cNvSpPr/>
            <p:nvPr/>
          </p:nvSpPr>
          <p:spPr>
            <a:xfrm>
              <a:off x="1566297" y="3508946"/>
              <a:ext cx="94200" cy="94200"/>
            </a:xfrm>
            <a:prstGeom prst="ellipse">
              <a:avLst/>
            </a:prstGeom>
            <a:solidFill>
              <a:srgbClr val="80808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1929404" y="3099150"/>
              <a:ext cx="94200" cy="94200"/>
            </a:xfrm>
            <a:prstGeom prst="ellipse">
              <a:avLst/>
            </a:prstGeom>
            <a:solidFill>
              <a:srgbClr val="80808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2295885" y="2673244"/>
              <a:ext cx="94200" cy="94200"/>
            </a:xfrm>
            <a:prstGeom prst="ellipse">
              <a:avLst/>
            </a:prstGeom>
            <a:solidFill>
              <a:srgbClr val="80808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2653510" y="2249344"/>
              <a:ext cx="94200" cy="94200"/>
            </a:xfrm>
            <a:prstGeom prst="ellipse">
              <a:avLst/>
            </a:prstGeom>
            <a:solidFill>
              <a:srgbClr val="80808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3013752" y="1838074"/>
              <a:ext cx="94200" cy="94200"/>
            </a:xfrm>
            <a:prstGeom prst="ellipse">
              <a:avLst/>
            </a:prstGeom>
            <a:solidFill>
              <a:srgbClr val="80808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3379707" y="1406868"/>
              <a:ext cx="94200" cy="94200"/>
            </a:xfrm>
            <a:prstGeom prst="ellipse">
              <a:avLst/>
            </a:prstGeom>
            <a:solidFill>
              <a:srgbClr val="80808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3739583" y="983825"/>
              <a:ext cx="94200" cy="94200"/>
            </a:xfrm>
            <a:prstGeom prst="ellipse">
              <a:avLst/>
            </a:prstGeom>
            <a:solidFill>
              <a:srgbClr val="80808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6" name="Google Shape;196;p13"/>
          <p:cNvGrpSpPr/>
          <p:nvPr/>
        </p:nvGrpSpPr>
        <p:grpSpPr>
          <a:xfrm>
            <a:off x="1071797" y="7251726"/>
            <a:ext cx="2528316" cy="649705"/>
            <a:chOff x="878844" y="930446"/>
            <a:chExt cx="3667947" cy="942558"/>
          </a:xfrm>
        </p:grpSpPr>
        <p:cxnSp>
          <p:nvCxnSpPr>
            <p:cNvPr id="197" name="Google Shape;197;p13"/>
            <p:cNvCxnSpPr/>
            <p:nvPr/>
          </p:nvCxnSpPr>
          <p:spPr>
            <a:xfrm flipH="1" rot="10800000">
              <a:off x="878844" y="976604"/>
              <a:ext cx="3643500" cy="89640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8" name="Google Shape;198;p13"/>
            <p:cNvSpPr/>
            <p:nvPr/>
          </p:nvSpPr>
          <p:spPr>
            <a:xfrm>
              <a:off x="1207700" y="1734889"/>
              <a:ext cx="94200" cy="94200"/>
            </a:xfrm>
            <a:prstGeom prst="rect">
              <a:avLst/>
            </a:prstGeom>
            <a:solidFill>
              <a:srgbClr val="374CF1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1566300" y="1651164"/>
              <a:ext cx="94200" cy="94200"/>
            </a:xfrm>
            <a:prstGeom prst="rect">
              <a:avLst/>
            </a:prstGeom>
            <a:solidFill>
              <a:srgbClr val="374CF1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1929400" y="1556964"/>
              <a:ext cx="94200" cy="94200"/>
            </a:xfrm>
            <a:prstGeom prst="rect">
              <a:avLst/>
            </a:prstGeom>
            <a:solidFill>
              <a:srgbClr val="374CF1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2295875" y="1462764"/>
              <a:ext cx="94200" cy="94200"/>
            </a:xfrm>
            <a:prstGeom prst="rect">
              <a:avLst/>
            </a:prstGeom>
            <a:solidFill>
              <a:srgbClr val="374CF1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2652350" y="1377689"/>
              <a:ext cx="94200" cy="94200"/>
            </a:xfrm>
            <a:prstGeom prst="rect">
              <a:avLst/>
            </a:prstGeom>
            <a:solidFill>
              <a:srgbClr val="374CF1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3013750" y="1283207"/>
              <a:ext cx="94200" cy="94200"/>
            </a:xfrm>
            <a:prstGeom prst="rect">
              <a:avLst/>
            </a:prstGeom>
            <a:solidFill>
              <a:srgbClr val="374CF1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3379700" y="1189007"/>
              <a:ext cx="94200" cy="94200"/>
            </a:xfrm>
            <a:prstGeom prst="rect">
              <a:avLst/>
            </a:prstGeom>
            <a:solidFill>
              <a:srgbClr val="374CF1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3739575" y="1112853"/>
              <a:ext cx="94200" cy="94200"/>
            </a:xfrm>
            <a:prstGeom prst="rect">
              <a:avLst/>
            </a:prstGeom>
            <a:solidFill>
              <a:srgbClr val="374CF1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4104579" y="1014160"/>
              <a:ext cx="94200" cy="94200"/>
            </a:xfrm>
            <a:prstGeom prst="rect">
              <a:avLst/>
            </a:prstGeom>
            <a:solidFill>
              <a:srgbClr val="374CF1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4452591" y="930446"/>
              <a:ext cx="94200" cy="94200"/>
            </a:xfrm>
            <a:prstGeom prst="rect">
              <a:avLst/>
            </a:prstGeom>
            <a:solidFill>
              <a:srgbClr val="374CF1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8" name="Google Shape;208;p13"/>
          <p:cNvGrpSpPr/>
          <p:nvPr/>
        </p:nvGrpSpPr>
        <p:grpSpPr>
          <a:xfrm>
            <a:off x="2864240" y="7317598"/>
            <a:ext cx="224781" cy="2330671"/>
            <a:chOff x="3479225" y="1026011"/>
            <a:chExt cx="326100" cy="3381214"/>
          </a:xfrm>
        </p:grpSpPr>
        <p:cxnSp>
          <p:nvCxnSpPr>
            <p:cNvPr id="209" name="Google Shape;209;p13"/>
            <p:cNvCxnSpPr/>
            <p:nvPr/>
          </p:nvCxnSpPr>
          <p:spPr>
            <a:xfrm>
              <a:off x="3644450" y="1344525"/>
              <a:ext cx="0" cy="30627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210" name="Google Shape;210;p13"/>
            <p:cNvSpPr/>
            <p:nvPr/>
          </p:nvSpPr>
          <p:spPr>
            <a:xfrm>
              <a:off x="3479225" y="1026011"/>
              <a:ext cx="326100" cy="326100"/>
            </a:xfrm>
            <a:prstGeom prst="ellipse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1" name="Google Shape;211;p13"/>
          <p:cNvSpPr txBox="1"/>
          <p:nvPr/>
        </p:nvSpPr>
        <p:spPr>
          <a:xfrm>
            <a:off x="4151043" y="8147400"/>
            <a:ext cx="30810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Use your answer from part (a) to plot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 graph showing total money spent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after each year </a:t>
            </a:r>
            <a:r>
              <a:rPr lang="en-GB" sz="12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with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solar panels.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4140000" y="9141200"/>
            <a:ext cx="28677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How many years will it take for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solar panels to pay for themselves?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13"/>
          <p:cNvSpPr txBox="1"/>
          <p:nvPr/>
        </p:nvSpPr>
        <p:spPr>
          <a:xfrm>
            <a:off x="4140574" y="7128050"/>
            <a:ext cx="29514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Use your answer from part (a) to plot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 graph showing total money spent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after each year </a:t>
            </a:r>
            <a:r>
              <a:rPr lang="en-GB" sz="12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without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solar panels.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4" name="Google Shape;214;p13"/>
          <p:cNvCxnSpPr/>
          <p:nvPr/>
        </p:nvCxnSpPr>
        <p:spPr>
          <a:xfrm>
            <a:off x="4311757" y="7898083"/>
            <a:ext cx="5400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13"/>
          <p:cNvSpPr/>
          <p:nvPr/>
        </p:nvSpPr>
        <p:spPr>
          <a:xfrm>
            <a:off x="4534669" y="7850971"/>
            <a:ext cx="94200" cy="94200"/>
          </a:xfrm>
          <a:prstGeom prst="ellipse">
            <a:avLst/>
          </a:prstGeom>
          <a:solidFill>
            <a:srgbClr val="80808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" name="Google Shape;216;p13"/>
          <p:cNvCxnSpPr/>
          <p:nvPr/>
        </p:nvCxnSpPr>
        <p:spPr>
          <a:xfrm>
            <a:off x="4303557" y="8947574"/>
            <a:ext cx="540000" cy="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13"/>
          <p:cNvSpPr/>
          <p:nvPr/>
        </p:nvSpPr>
        <p:spPr>
          <a:xfrm>
            <a:off x="4542141" y="8900480"/>
            <a:ext cx="94200" cy="94200"/>
          </a:xfrm>
          <a:prstGeom prst="rect">
            <a:avLst/>
          </a:prstGeom>
          <a:solidFill>
            <a:srgbClr val="374CF1"/>
          </a:solidFill>
          <a:ln cap="flat" cmpd="sng" w="9525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13"/>
          <p:cNvSpPr txBox="1"/>
          <p:nvPr/>
        </p:nvSpPr>
        <p:spPr>
          <a:xfrm>
            <a:off x="4960303" y="7797354"/>
            <a:ext cx="14466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without solar panels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13"/>
          <p:cNvSpPr txBox="1"/>
          <p:nvPr/>
        </p:nvSpPr>
        <p:spPr>
          <a:xfrm>
            <a:off x="4967791" y="8840902"/>
            <a:ext cx="12582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with solar panels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13"/>
          <p:cNvSpPr txBox="1"/>
          <p:nvPr/>
        </p:nvSpPr>
        <p:spPr>
          <a:xfrm>
            <a:off x="4275625" y="9599557"/>
            <a:ext cx="1504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7.6 years or 8 years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