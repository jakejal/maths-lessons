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B863F5-8600-49AE-8D23-AD103AD74700}">
  <a:tblStyle styleId="{FEB863F5-8600-49AE-8D23-AD103AD747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516d7ef2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2f516d7ef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f465235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f465235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f465235a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f465235a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f4d832e88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f4d832e8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06bfd4ea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06bfd4ea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f465235a6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f465235a6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465235a6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465235a6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f465235a6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f465235a6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46b69576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f46b69576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f46b6957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f46b6957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f46b6957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f46b6957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f46b69576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f46b69576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f4b80c9c04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f4b80c9c04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f4b80c9c04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f4b80c9c04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f465235a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f465235a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f46b69576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f46b69576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f46b69576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f46b69576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06bfd4ea5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06bfd4ea5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06bfd4ea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06bfd4ea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f4b80c9c0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f4b80c9c0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f4b80c9c04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f4b80c9c04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06bfd4ea5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06bfd4ea5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f4b80c9c0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f4b80c9c0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f4b80c9c04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f4b80c9c04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f4b80c9c04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f4b80c9c04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f4b80c9c0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f4b80c9c0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f4b80c9c0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f4b80c9c0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f4b80c9c0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f4b80c9c0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f4b80c9c0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f4b80c9c0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f4b80c9c0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f4b80c9c0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f4b80c9c0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f4b80c9c0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06bfd4ea5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06bfd4ea5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06bfd4ea5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06bfd4ea5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f4b80c9c04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f4b80c9c04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f465235a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f465235a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f4b80c9c04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f4b80c9c04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f4b80c9c04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f4b80c9c04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f4d832e8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f4d832e8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f4d832e8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f4d832e8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f4d832e88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f4d832e88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f4b80c9c04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f4b80c9c04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f4b80c9c04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f4b80c9c04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f4b80c9c04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f4b80c9c04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f4b80c9c04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f4b80c9c04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f4b80c9c04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f4b80c9c04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f4b80c9c04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f4b80c9c04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39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Relationship Id="rId4" Type="http://schemas.openxmlformats.org/officeDocument/2006/relationships/image" Target="../media/image7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74.png"/><Relationship Id="rId4" Type="http://schemas.openxmlformats.org/officeDocument/2006/relationships/image" Target="../media/image34.png"/><Relationship Id="rId9" Type="http://schemas.openxmlformats.org/officeDocument/2006/relationships/image" Target="../media/image33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74.png"/><Relationship Id="rId4" Type="http://schemas.openxmlformats.org/officeDocument/2006/relationships/image" Target="../media/image53.png"/><Relationship Id="rId11" Type="http://schemas.openxmlformats.org/officeDocument/2006/relationships/image" Target="../media/image33.png"/><Relationship Id="rId10" Type="http://schemas.openxmlformats.org/officeDocument/2006/relationships/image" Target="../media/image45.png"/><Relationship Id="rId9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Relationship Id="rId7" Type="http://schemas.openxmlformats.org/officeDocument/2006/relationships/image" Target="../media/image43.png"/><Relationship Id="rId8" Type="http://schemas.openxmlformats.org/officeDocument/2006/relationships/image" Target="../media/image3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6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6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66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6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5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and the 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consider the implications of installing solar panels.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6" type="subTitle"/>
          </p:nvPr>
        </p:nvSpPr>
        <p:spPr>
          <a:xfrm>
            <a:off x="324000" y="1025475"/>
            <a:ext cx="84960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variable is a quantity that can take on a range of values.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formula is a rule linking sets of physical variables in context.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An average is a single number expressing the central or typical value in a set of data: the mode; the median; and the mean.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0"/>
              </a:spcBef>
              <a:spcAft>
                <a:spcPts val="40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</a:t>
            </a:r>
            <a:r>
              <a:rPr lang="en-GB"/>
              <a:t>the cost of electricity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</a:t>
            </a:r>
            <a:r>
              <a:rPr lang="en-GB"/>
              <a:t> with solar panels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860" name="Google Shape;860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pic>
        <p:nvPicPr>
          <p:cNvPr id="861" name="Google Shape;86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82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8"/>
          <p:cNvSpPr txBox="1"/>
          <p:nvPr>
            <p:ph idx="1" type="body"/>
          </p:nvPr>
        </p:nvSpPr>
        <p:spPr>
          <a:xfrm>
            <a:off x="324000" y="759300"/>
            <a:ext cx="6269400" cy="14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occupants of a home pay lots of different bills. One of these is for their supply of </a:t>
            </a:r>
            <a:r>
              <a:rPr lang="en-GB" sz="2000">
                <a:solidFill>
                  <a:schemeClr val="accent4"/>
                </a:solidFill>
              </a:rPr>
              <a:t>electricity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factors could affect the amount of money </a:t>
            </a:r>
            <a:br>
              <a:rPr lang="en-GB" sz="2000"/>
            </a:br>
            <a:r>
              <a:rPr lang="en-GB" sz="2000"/>
              <a:t>that a household spends on </a:t>
            </a:r>
            <a:r>
              <a:rPr lang="en-GB" sz="2000"/>
              <a:t>electricity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67" name="Google Shape;86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868" name="Google Shape;868;p78"/>
          <p:cNvSpPr txBox="1"/>
          <p:nvPr>
            <p:ph idx="1" type="body"/>
          </p:nvPr>
        </p:nvSpPr>
        <p:spPr>
          <a:xfrm>
            <a:off x="316000" y="2535275"/>
            <a:ext cx="3892500" cy="27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Amount of electricity used: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size of the house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occupants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appliances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how much time people spend at home (e.g. working)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8"/>
          <p:cNvSpPr txBox="1"/>
          <p:nvPr>
            <p:ph idx="1" type="body"/>
          </p:nvPr>
        </p:nvSpPr>
        <p:spPr>
          <a:xfrm>
            <a:off x="4811800" y="2543550"/>
            <a:ext cx="4008300" cy="21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ost of electricity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ost per unit of electricity used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additional fees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100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discounts based on payment method (e.g. direct debit)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0" name="Google Shape;8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825" y="765900"/>
            <a:ext cx="1625249" cy="162524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9"/>
          <p:cNvSpPr txBox="1"/>
          <p:nvPr>
            <p:ph idx="1" type="body"/>
          </p:nvPr>
        </p:nvSpPr>
        <p:spPr>
          <a:xfrm>
            <a:off x="324000" y="759300"/>
            <a:ext cx="8496000" cy="26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cost of electricity </a:t>
            </a:r>
            <a:r>
              <a:rPr lang="en-GB" sz="2000">
                <a:solidFill>
                  <a:schemeClr val="accent4"/>
                </a:solidFill>
              </a:rPr>
              <a:t>varies</a:t>
            </a:r>
            <a:r>
              <a:rPr lang="en-GB" sz="2000"/>
              <a:t> over time.</a:t>
            </a:r>
            <a:endParaRPr sz="2000"/>
          </a:p>
        </p:txBody>
      </p:sp>
      <p:sp>
        <p:nvSpPr>
          <p:cNvPr id="876" name="Google Shape;87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877" name="Google Shape;877;p79"/>
          <p:cNvSpPr txBox="1"/>
          <p:nvPr>
            <p:ph idx="1" type="body"/>
          </p:nvPr>
        </p:nvSpPr>
        <p:spPr>
          <a:xfrm>
            <a:off x="324000" y="1236651"/>
            <a:ext cx="8496000" cy="26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cost of equipment, materials and labour also </a:t>
            </a:r>
            <a:r>
              <a:rPr lang="en-GB" sz="2000">
                <a:solidFill>
                  <a:schemeClr val="accent4"/>
                </a:solidFill>
              </a:rPr>
              <a:t>vary</a:t>
            </a:r>
            <a:r>
              <a:rPr lang="en-GB" sz="2000"/>
              <a:t> over time.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performance and efficiencies of equipment may also improve over time, due to advances in technology.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All figures used in this lesson are </a:t>
            </a:r>
            <a:r>
              <a:rPr lang="en-GB" sz="2000">
                <a:solidFill>
                  <a:schemeClr val="accent4"/>
                </a:solidFill>
              </a:rPr>
              <a:t>approximations</a:t>
            </a:r>
            <a:r>
              <a:rPr lang="en-GB" sz="2000"/>
              <a:t> based on averages from the UK in 2024.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0"/>
          <p:cNvSpPr txBox="1"/>
          <p:nvPr>
            <p:ph idx="1" type="body"/>
          </p:nvPr>
        </p:nvSpPr>
        <p:spPr>
          <a:xfrm>
            <a:off x="324000" y="759300"/>
            <a:ext cx="8496000" cy="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typical 1-bedroom house consumes an average of 4.9 kWh of electricity per day.</a:t>
            </a:r>
            <a:endParaRPr sz="2000"/>
          </a:p>
        </p:txBody>
      </p:sp>
      <p:sp>
        <p:nvSpPr>
          <p:cNvPr id="883" name="Google Shape;88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324000" y="1673700"/>
            <a:ext cx="58581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electricity would this be </a:t>
            </a:r>
            <a:r>
              <a:rPr lang="en-GB" sz="2000">
                <a:solidFill>
                  <a:schemeClr val="accent4"/>
                </a:solidFill>
              </a:rPr>
              <a:t>per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month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3426300"/>
            <a:ext cx="58581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electricity would this be </a:t>
            </a:r>
            <a:r>
              <a:rPr lang="en-GB" sz="2000">
                <a:solidFill>
                  <a:schemeClr val="accent4"/>
                </a:solidFill>
              </a:rPr>
              <a:t>per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year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748225" y="2220475"/>
            <a:ext cx="59283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For a month with 30 days: 4.9 × 30 = 147 kWh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80"/>
          <p:cNvSpPr txBox="1"/>
          <p:nvPr>
            <p:ph idx="1" type="body"/>
          </p:nvPr>
        </p:nvSpPr>
        <p:spPr>
          <a:xfrm>
            <a:off x="748225" y="2767249"/>
            <a:ext cx="59283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For a month with 31 days: 4.9 × 31 = 151.9 kWh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8" name="Google Shape;888;p80"/>
          <p:cNvSpPr txBox="1"/>
          <p:nvPr>
            <p:ph idx="1" type="body"/>
          </p:nvPr>
        </p:nvSpPr>
        <p:spPr>
          <a:xfrm>
            <a:off x="748225" y="3986450"/>
            <a:ext cx="6365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For a year with 365 days: 4.9 × 365 = 1788.5 kWh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5268753" y="4413789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1800 kWh per year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0" name="Google Shape;890;p80"/>
          <p:cNvSpPr txBox="1"/>
          <p:nvPr>
            <p:ph idx="1" type="body"/>
          </p:nvPr>
        </p:nvSpPr>
        <p:spPr>
          <a:xfrm>
            <a:off x="7015025" y="1943225"/>
            <a:ext cx="1876500" cy="15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Alternatively, approximations could be made based on 30.5 days per month.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1"/>
          <p:cNvSpPr txBox="1"/>
          <p:nvPr>
            <p:ph idx="1" type="body"/>
          </p:nvPr>
        </p:nvSpPr>
        <p:spPr>
          <a:xfrm>
            <a:off x="324000" y="759300"/>
            <a:ext cx="8496000" cy="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2024, the average cost of </a:t>
            </a:r>
            <a:r>
              <a:rPr lang="en-GB" sz="2000"/>
              <a:t>electricity could be calculated as: </a:t>
            </a:r>
            <a:endParaRPr sz="2000"/>
          </a:p>
        </p:txBody>
      </p:sp>
      <p:sp>
        <p:nvSpPr>
          <p:cNvPr id="896" name="Google Shape;89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897" name="Google Shape;897;p81"/>
          <p:cNvSpPr txBox="1"/>
          <p:nvPr>
            <p:ph idx="1" type="body"/>
          </p:nvPr>
        </p:nvSpPr>
        <p:spPr>
          <a:xfrm>
            <a:off x="1226825" y="1376225"/>
            <a:ext cx="68358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cxnSp>
        <p:nvCxnSpPr>
          <p:cNvPr id="898" name="Google Shape;898;p81"/>
          <p:cNvCxnSpPr/>
          <p:nvPr/>
        </p:nvCxnSpPr>
        <p:spPr>
          <a:xfrm>
            <a:off x="1226814" y="1724368"/>
            <a:ext cx="3075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81"/>
          <p:cNvSpPr txBox="1"/>
          <p:nvPr>
            <p:ph idx="1" type="body"/>
          </p:nvPr>
        </p:nvSpPr>
        <p:spPr>
          <a:xfrm>
            <a:off x="386050" y="2325975"/>
            <a:ext cx="2997600" cy="10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part of the cost </a:t>
            </a:r>
            <a:r>
              <a:rPr lang="en-GB" sz="1800">
                <a:solidFill>
                  <a:schemeClr val="accent4"/>
                </a:solidFill>
              </a:rPr>
              <a:t>varies</a:t>
            </a:r>
            <a:r>
              <a:rPr lang="en-GB" sz="1800"/>
              <a:t> depending on how much electricity is consumed.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00" name="Google Shape;900;p81"/>
          <p:cNvSpPr txBox="1"/>
          <p:nvPr>
            <p:ph idx="1" type="body"/>
          </p:nvPr>
        </p:nvSpPr>
        <p:spPr>
          <a:xfrm>
            <a:off x="5040550" y="2325975"/>
            <a:ext cx="3841200" cy="12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part of the cost is </a:t>
            </a:r>
            <a:r>
              <a:rPr lang="en-GB" sz="1800">
                <a:solidFill>
                  <a:schemeClr val="accent4"/>
                </a:solidFill>
              </a:rPr>
              <a:t>constant</a:t>
            </a:r>
            <a:r>
              <a:rPr lang="en-GB" sz="1800"/>
              <a:t>. </a:t>
            </a:r>
            <a:br>
              <a:rPr lang="en-GB" sz="1800"/>
            </a:br>
            <a:r>
              <a:rPr lang="en-GB" sz="1800"/>
              <a:t>It is paid every day, regardless of how much electricity is consumed.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901" name="Google Shape;901;p81"/>
          <p:cNvCxnSpPr/>
          <p:nvPr/>
        </p:nvCxnSpPr>
        <p:spPr>
          <a:xfrm flipH="1" rot="10800000">
            <a:off x="4655825" y="1720625"/>
            <a:ext cx="33306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81"/>
          <p:cNvCxnSpPr/>
          <p:nvPr/>
        </p:nvCxnSpPr>
        <p:spPr>
          <a:xfrm flipH="1" rot="10800000">
            <a:off x="2423375" y="1751225"/>
            <a:ext cx="107400" cy="59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81"/>
          <p:cNvCxnSpPr/>
          <p:nvPr/>
        </p:nvCxnSpPr>
        <p:spPr>
          <a:xfrm rot="10800000">
            <a:off x="5580675" y="1724575"/>
            <a:ext cx="177000" cy="62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2"/>
          <p:cNvSpPr txBox="1"/>
          <p:nvPr>
            <p:ph idx="1" type="body"/>
          </p:nvPr>
        </p:nvSpPr>
        <p:spPr>
          <a:xfrm>
            <a:off x="324000" y="7593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In 2024, the average cost of electricity could be calculated as: </a:t>
            </a:r>
            <a:endParaRPr sz="2000"/>
          </a:p>
        </p:txBody>
      </p:sp>
      <p:sp>
        <p:nvSpPr>
          <p:cNvPr id="909" name="Google Shape;90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10" name="Google Shape;910;p82"/>
          <p:cNvSpPr txBox="1"/>
          <p:nvPr>
            <p:ph idx="1" type="body"/>
          </p:nvPr>
        </p:nvSpPr>
        <p:spPr>
          <a:xfrm>
            <a:off x="1226825" y="1376225"/>
            <a:ext cx="69204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sp>
        <p:nvSpPr>
          <p:cNvPr id="911" name="Google Shape;911;p82"/>
          <p:cNvSpPr txBox="1"/>
          <p:nvPr>
            <p:ph idx="1" type="body"/>
          </p:nvPr>
        </p:nvSpPr>
        <p:spPr>
          <a:xfrm>
            <a:off x="324000" y="2054700"/>
            <a:ext cx="8496000" cy="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typical 1-bedroom house consumes an average of 4.9 kWh of electricity </a:t>
            </a:r>
            <a:r>
              <a:rPr lang="en-GB" sz="2000">
                <a:solidFill>
                  <a:schemeClr val="accent4"/>
                </a:solidFill>
              </a:rPr>
              <a:t>per day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12" name="Google Shape;912;p82"/>
          <p:cNvSpPr txBox="1"/>
          <p:nvPr>
            <p:ph idx="1" type="body"/>
          </p:nvPr>
        </p:nvSpPr>
        <p:spPr>
          <a:xfrm>
            <a:off x="324000" y="2969100"/>
            <a:ext cx="84960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would this cost </a:t>
            </a:r>
            <a:r>
              <a:rPr lang="en-GB" sz="2000">
                <a:solidFill>
                  <a:schemeClr val="accent4"/>
                </a:solidFill>
              </a:rPr>
              <a:t>per day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13" name="Google Shape;913;p82"/>
          <p:cNvSpPr txBox="1"/>
          <p:nvPr>
            <p:ph idx="1" type="body"/>
          </p:nvPr>
        </p:nvSpPr>
        <p:spPr>
          <a:xfrm>
            <a:off x="1170451" y="3592075"/>
            <a:ext cx="3788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24.5 ×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4.9 + 60 = 180.05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82"/>
          <p:cNvSpPr txBox="1"/>
          <p:nvPr>
            <p:ph idx="1" type="body"/>
          </p:nvPr>
        </p:nvSpPr>
        <p:spPr>
          <a:xfrm>
            <a:off x="3211353" y="4108989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£1.80 per day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3"/>
          <p:cNvSpPr txBox="1"/>
          <p:nvPr>
            <p:ph idx="1" type="body"/>
          </p:nvPr>
        </p:nvSpPr>
        <p:spPr>
          <a:xfrm>
            <a:off x="324000" y="7593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In 2024, the average cost of electricity could be calculated as: </a:t>
            </a:r>
            <a:endParaRPr sz="2000"/>
          </a:p>
        </p:txBody>
      </p:sp>
      <p:sp>
        <p:nvSpPr>
          <p:cNvPr id="920" name="Google Shape;92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21" name="Google Shape;921;p83"/>
          <p:cNvSpPr txBox="1"/>
          <p:nvPr>
            <p:ph idx="1" type="body"/>
          </p:nvPr>
        </p:nvSpPr>
        <p:spPr>
          <a:xfrm>
            <a:off x="1226825" y="1376225"/>
            <a:ext cx="68973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sp>
        <p:nvSpPr>
          <p:cNvPr id="922" name="Google Shape;922;p83"/>
          <p:cNvSpPr txBox="1"/>
          <p:nvPr>
            <p:ph idx="1" type="body"/>
          </p:nvPr>
        </p:nvSpPr>
        <p:spPr>
          <a:xfrm>
            <a:off x="324000" y="2054700"/>
            <a:ext cx="8496000" cy="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typical 1-bedroom house consumes an average of 4.9 kWh of electricity </a:t>
            </a:r>
            <a:r>
              <a:rPr lang="en-GB" sz="2000">
                <a:solidFill>
                  <a:schemeClr val="accent4"/>
                </a:solidFill>
              </a:rPr>
              <a:t>per day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23" name="Google Shape;923;p83"/>
          <p:cNvSpPr txBox="1"/>
          <p:nvPr>
            <p:ph idx="1" type="body"/>
          </p:nvPr>
        </p:nvSpPr>
        <p:spPr>
          <a:xfrm>
            <a:off x="324000" y="2969100"/>
            <a:ext cx="84960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would this cost </a:t>
            </a:r>
            <a:r>
              <a:rPr lang="en-GB" sz="2000">
                <a:solidFill>
                  <a:schemeClr val="accent4"/>
                </a:solidFill>
              </a:rPr>
              <a:t>per month</a:t>
            </a:r>
            <a:r>
              <a:rPr lang="en-GB" sz="2000"/>
              <a:t> </a:t>
            </a:r>
            <a:r>
              <a:rPr lang="en-GB" sz="2000"/>
              <a:t>(based on 30.5 days)?</a:t>
            </a:r>
            <a:endParaRPr sz="2000"/>
          </a:p>
        </p:txBody>
      </p:sp>
      <p:sp>
        <p:nvSpPr>
          <p:cNvPr id="924" name="Google Shape;924;p83"/>
          <p:cNvSpPr txBox="1"/>
          <p:nvPr>
            <p:ph idx="1" type="body"/>
          </p:nvPr>
        </p:nvSpPr>
        <p:spPr>
          <a:xfrm>
            <a:off x="1018050" y="3592075"/>
            <a:ext cx="50598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24.5 × 4.9 + 60) × 30.5 = 5491.525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83"/>
          <p:cNvSpPr txBox="1"/>
          <p:nvPr>
            <p:ph idx="1" type="body"/>
          </p:nvPr>
        </p:nvSpPr>
        <p:spPr>
          <a:xfrm>
            <a:off x="4168982" y="4108989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£54.92 per month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4"/>
          <p:cNvSpPr txBox="1"/>
          <p:nvPr>
            <p:ph idx="1" type="body"/>
          </p:nvPr>
        </p:nvSpPr>
        <p:spPr>
          <a:xfrm>
            <a:off x="324000" y="7593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In 2024, the average cost of electricity could be calculated as: </a:t>
            </a:r>
            <a:endParaRPr sz="2000"/>
          </a:p>
        </p:txBody>
      </p:sp>
      <p:sp>
        <p:nvSpPr>
          <p:cNvPr id="931" name="Google Shape;93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32" name="Google Shape;932;p84"/>
          <p:cNvSpPr txBox="1"/>
          <p:nvPr>
            <p:ph idx="1" type="body"/>
          </p:nvPr>
        </p:nvSpPr>
        <p:spPr>
          <a:xfrm>
            <a:off x="1226826" y="1376225"/>
            <a:ext cx="69825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sp>
        <p:nvSpPr>
          <p:cNvPr id="933" name="Google Shape;933;p84"/>
          <p:cNvSpPr txBox="1"/>
          <p:nvPr>
            <p:ph idx="1" type="body"/>
          </p:nvPr>
        </p:nvSpPr>
        <p:spPr>
          <a:xfrm>
            <a:off x="324000" y="2054700"/>
            <a:ext cx="8496000" cy="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typical 1-bedroom house consumes an average of 4.9 kWh of electricity </a:t>
            </a:r>
            <a:r>
              <a:rPr lang="en-GB" sz="2000">
                <a:solidFill>
                  <a:schemeClr val="accent4"/>
                </a:solidFill>
              </a:rPr>
              <a:t>per day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34" name="Google Shape;934;p84"/>
          <p:cNvSpPr txBox="1"/>
          <p:nvPr>
            <p:ph idx="1" type="body"/>
          </p:nvPr>
        </p:nvSpPr>
        <p:spPr>
          <a:xfrm>
            <a:off x="324000" y="2969100"/>
            <a:ext cx="84960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would this cost </a:t>
            </a:r>
            <a:r>
              <a:rPr lang="en-GB" sz="2000">
                <a:solidFill>
                  <a:schemeClr val="accent4"/>
                </a:solidFill>
              </a:rPr>
              <a:t>per year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35" name="Google Shape;935;p84"/>
          <p:cNvSpPr txBox="1"/>
          <p:nvPr>
            <p:ph idx="1" type="body"/>
          </p:nvPr>
        </p:nvSpPr>
        <p:spPr>
          <a:xfrm>
            <a:off x="1018050" y="3592075"/>
            <a:ext cx="50046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(24.5 × 4.9 + 60) × 365 = 65 718.25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84"/>
          <p:cNvSpPr txBox="1"/>
          <p:nvPr>
            <p:ph idx="1" type="body"/>
          </p:nvPr>
        </p:nvSpPr>
        <p:spPr>
          <a:xfrm>
            <a:off x="4168982" y="4108989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£657.18 per year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5"/>
          <p:cNvSpPr txBox="1"/>
          <p:nvPr>
            <p:ph idx="1" type="body"/>
          </p:nvPr>
        </p:nvSpPr>
        <p:spPr>
          <a:xfrm>
            <a:off x="324000" y="759300"/>
            <a:ext cx="8496000" cy="8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house with 2-3 bedrooms consumes an average of 7.9 kWh of electricity per day.</a:t>
            </a:r>
            <a:endParaRPr/>
          </a:p>
        </p:txBody>
      </p:sp>
      <p:sp>
        <p:nvSpPr>
          <p:cNvPr id="942" name="Google Shape;94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43" name="Google Shape;943;p85"/>
          <p:cNvSpPr txBox="1"/>
          <p:nvPr>
            <p:ph idx="1" type="body"/>
          </p:nvPr>
        </p:nvSpPr>
        <p:spPr>
          <a:xfrm>
            <a:off x="324000" y="1673700"/>
            <a:ext cx="84960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electricity would this be </a:t>
            </a:r>
            <a:r>
              <a:rPr lang="en-GB" sz="2000">
                <a:solidFill>
                  <a:schemeClr val="accent4"/>
                </a:solidFill>
              </a:rPr>
              <a:t>per </a:t>
            </a:r>
            <a:r>
              <a:rPr lang="en-GB" sz="2000">
                <a:solidFill>
                  <a:schemeClr val="accent4"/>
                </a:solidFill>
              </a:rPr>
              <a:t>year</a:t>
            </a:r>
            <a:r>
              <a:rPr lang="en-GB" sz="2000"/>
              <a:t>?</a:t>
            </a:r>
            <a:br>
              <a:rPr lang="en-GB" sz="2000"/>
            </a:br>
            <a:r>
              <a:rPr lang="en-GB" sz="2000"/>
              <a:t>Give your answer rounded to 2 significant figures.</a:t>
            </a:r>
            <a:endParaRPr sz="2000"/>
          </a:p>
        </p:txBody>
      </p:sp>
      <p:sp>
        <p:nvSpPr>
          <p:cNvPr id="944" name="Google Shape;944;p85"/>
          <p:cNvSpPr txBox="1"/>
          <p:nvPr>
            <p:ph idx="1" type="body"/>
          </p:nvPr>
        </p:nvSpPr>
        <p:spPr>
          <a:xfrm>
            <a:off x="2881825" y="2843450"/>
            <a:ext cx="31302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7.9 × 365 = 2883.5 kWh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85"/>
          <p:cNvSpPr txBox="1"/>
          <p:nvPr>
            <p:ph idx="1" type="body"/>
          </p:nvPr>
        </p:nvSpPr>
        <p:spPr>
          <a:xfrm>
            <a:off x="4168876" y="3406651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2900 kWh per year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6"/>
          <p:cNvSpPr txBox="1"/>
          <p:nvPr>
            <p:ph idx="1" type="body"/>
          </p:nvPr>
        </p:nvSpPr>
        <p:spPr>
          <a:xfrm>
            <a:off x="324000" y="759300"/>
            <a:ext cx="8496000" cy="8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house with 2-3 bedrooms consumes an average of 7.9 kWh of electricity per day.</a:t>
            </a:r>
            <a:endParaRPr/>
          </a:p>
        </p:txBody>
      </p:sp>
      <p:sp>
        <p:nvSpPr>
          <p:cNvPr id="951" name="Google Shape;95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52" name="Google Shape;952;p86"/>
          <p:cNvSpPr txBox="1"/>
          <p:nvPr>
            <p:ph idx="1" type="body"/>
          </p:nvPr>
        </p:nvSpPr>
        <p:spPr>
          <a:xfrm>
            <a:off x="2144631" y="3605450"/>
            <a:ext cx="3983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24.5 × 7.9 + 60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253.55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3" name="Google Shape;953;p86"/>
          <p:cNvSpPr txBox="1"/>
          <p:nvPr>
            <p:ph idx="1" type="body"/>
          </p:nvPr>
        </p:nvSpPr>
        <p:spPr>
          <a:xfrm>
            <a:off x="4168876" y="4168651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£2.54 per day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4" name="Google Shape;954;p86"/>
          <p:cNvSpPr txBox="1"/>
          <p:nvPr>
            <p:ph idx="1" type="body"/>
          </p:nvPr>
        </p:nvSpPr>
        <p:spPr>
          <a:xfrm>
            <a:off x="324000" y="16737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2024, the average cost of electricity was: </a:t>
            </a:r>
            <a:endParaRPr sz="2000"/>
          </a:p>
        </p:txBody>
      </p:sp>
      <p:sp>
        <p:nvSpPr>
          <p:cNvPr id="955" name="Google Shape;955;p86"/>
          <p:cNvSpPr txBox="1"/>
          <p:nvPr>
            <p:ph idx="1" type="body"/>
          </p:nvPr>
        </p:nvSpPr>
        <p:spPr>
          <a:xfrm>
            <a:off x="1226825" y="2290625"/>
            <a:ext cx="68709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sp>
        <p:nvSpPr>
          <p:cNvPr id="956" name="Google Shape;956;p86"/>
          <p:cNvSpPr txBox="1"/>
          <p:nvPr>
            <p:ph idx="1" type="body"/>
          </p:nvPr>
        </p:nvSpPr>
        <p:spPr>
          <a:xfrm>
            <a:off x="324000" y="28929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would this cost </a:t>
            </a:r>
            <a:r>
              <a:rPr lang="en-GB" sz="2000">
                <a:solidFill>
                  <a:schemeClr val="accent4"/>
                </a:solidFill>
              </a:rPr>
              <a:t>per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day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7"/>
          <p:cNvSpPr txBox="1"/>
          <p:nvPr>
            <p:ph idx="1" type="body"/>
          </p:nvPr>
        </p:nvSpPr>
        <p:spPr>
          <a:xfrm>
            <a:off x="324000" y="759300"/>
            <a:ext cx="8496000" cy="8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house with 2-3 bedrooms consumes an average of 7.9 kWh of electricity per day.</a:t>
            </a:r>
            <a:endParaRPr/>
          </a:p>
        </p:txBody>
      </p:sp>
      <p:sp>
        <p:nvSpPr>
          <p:cNvPr id="962" name="Google Shape;96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63" name="Google Shape;963;p87"/>
          <p:cNvSpPr txBox="1"/>
          <p:nvPr>
            <p:ph idx="1" type="body"/>
          </p:nvPr>
        </p:nvSpPr>
        <p:spPr>
          <a:xfrm>
            <a:off x="1034700" y="3605450"/>
            <a:ext cx="5102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(24.5 × 7.9 + 60) × 365 = 92 545.75 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87"/>
          <p:cNvSpPr txBox="1"/>
          <p:nvPr>
            <p:ph idx="1" type="body"/>
          </p:nvPr>
        </p:nvSpPr>
        <p:spPr>
          <a:xfrm>
            <a:off x="4168876" y="4168651"/>
            <a:ext cx="2850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 £925.46 per year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87"/>
          <p:cNvSpPr txBox="1"/>
          <p:nvPr>
            <p:ph idx="1" type="body"/>
          </p:nvPr>
        </p:nvSpPr>
        <p:spPr>
          <a:xfrm>
            <a:off x="324000" y="16737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2024, the average cost of electricity was: </a:t>
            </a:r>
            <a:endParaRPr sz="2000"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1226825" y="2290625"/>
            <a:ext cx="69825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24.5 p per kWh consumed + 60 p daily standing charge </a:t>
            </a:r>
            <a:endParaRPr sz="2000"/>
          </a:p>
        </p:txBody>
      </p:sp>
      <p:sp>
        <p:nvSpPr>
          <p:cNvPr id="967" name="Google Shape;967;p87"/>
          <p:cNvSpPr txBox="1"/>
          <p:nvPr>
            <p:ph idx="1" type="body"/>
          </p:nvPr>
        </p:nvSpPr>
        <p:spPr>
          <a:xfrm>
            <a:off x="324000" y="2892900"/>
            <a:ext cx="84960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much would this cost </a:t>
            </a:r>
            <a:r>
              <a:rPr lang="en-GB" sz="2000">
                <a:solidFill>
                  <a:schemeClr val="accent4"/>
                </a:solidFill>
              </a:rPr>
              <a:t>per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year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8"/>
          <p:cNvSpPr txBox="1"/>
          <p:nvPr>
            <p:ph idx="1" type="body"/>
          </p:nvPr>
        </p:nvSpPr>
        <p:spPr>
          <a:xfrm>
            <a:off x="324000" y="683100"/>
            <a:ext cx="8237700" cy="11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house with 4 or more bedrooms consumes an average of 11.8 kWh of electricity per day.  In 2024, the average cost of electricity in the UK could be calculated as: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      24.5 p per kWh consumed + 60 p daily standing charge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3" name="Google Shape;973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74" name="Google Shape;974;p88"/>
          <p:cNvSpPr txBox="1"/>
          <p:nvPr>
            <p:ph idx="1" type="body"/>
          </p:nvPr>
        </p:nvSpPr>
        <p:spPr>
          <a:xfrm>
            <a:off x="324000" y="19785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much electricity would this house consume per year? </a:t>
            </a:r>
            <a:endParaRPr sz="1800"/>
          </a:p>
        </p:txBody>
      </p:sp>
      <p:sp>
        <p:nvSpPr>
          <p:cNvPr id="975" name="Google Shape;975;p88"/>
          <p:cNvSpPr txBox="1"/>
          <p:nvPr>
            <p:ph idx="1" type="body"/>
          </p:nvPr>
        </p:nvSpPr>
        <p:spPr>
          <a:xfrm>
            <a:off x="324000" y="26897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would be the daily cost of electricity for this house?</a:t>
            </a:r>
            <a:endParaRPr sz="1800"/>
          </a:p>
        </p:txBody>
      </p:sp>
      <p:sp>
        <p:nvSpPr>
          <p:cNvPr id="976" name="Google Shape;976;p88"/>
          <p:cNvSpPr txBox="1"/>
          <p:nvPr>
            <p:ph idx="1" type="body"/>
          </p:nvPr>
        </p:nvSpPr>
        <p:spPr>
          <a:xfrm>
            <a:off x="324000" y="3400900"/>
            <a:ext cx="70173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What would be the monthly cost of electricity for this house (based on 30.5 days)?</a:t>
            </a:r>
            <a:endParaRPr sz="1800"/>
          </a:p>
        </p:txBody>
      </p:sp>
      <p:sp>
        <p:nvSpPr>
          <p:cNvPr id="977" name="Google Shape;977;p88"/>
          <p:cNvSpPr txBox="1"/>
          <p:nvPr>
            <p:ph idx="1" type="body"/>
          </p:nvPr>
        </p:nvSpPr>
        <p:spPr>
          <a:xfrm>
            <a:off x="324000" y="41121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What would be the annual cost of electricity for this house?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83" name="Google Shape;983;p89"/>
          <p:cNvSpPr txBox="1"/>
          <p:nvPr>
            <p:ph idx="4294967295" type="body"/>
          </p:nvPr>
        </p:nvSpPr>
        <p:spPr>
          <a:xfrm>
            <a:off x="1681899" y="2272451"/>
            <a:ext cx="26229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11.8 × 365 = 4307 kWh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9"/>
          <p:cNvSpPr txBox="1"/>
          <p:nvPr>
            <p:ph idx="4294967295" type="body"/>
          </p:nvPr>
        </p:nvSpPr>
        <p:spPr>
          <a:xfrm>
            <a:off x="1681900" y="3004875"/>
            <a:ext cx="37869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24.5 × 11.8 + 60 = 349.1 p = £3.49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9"/>
          <p:cNvSpPr txBox="1"/>
          <p:nvPr>
            <p:ph idx="4294967295" type="body"/>
          </p:nvPr>
        </p:nvSpPr>
        <p:spPr>
          <a:xfrm>
            <a:off x="3119625" y="3737300"/>
            <a:ext cx="52917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24.5 × 11.8 + 60)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30.5 = 10 647.55 p ≈ £106.48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9"/>
          <p:cNvSpPr txBox="1"/>
          <p:nvPr>
            <p:ph idx="4294967295" type="body"/>
          </p:nvPr>
        </p:nvSpPr>
        <p:spPr>
          <a:xfrm>
            <a:off x="1681900" y="4469725"/>
            <a:ext cx="53433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(24.5 × 11.8 + 60)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365 = 127 421.5 p ≈ £1274.22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9"/>
          <p:cNvSpPr txBox="1"/>
          <p:nvPr>
            <p:ph idx="1" type="body"/>
          </p:nvPr>
        </p:nvSpPr>
        <p:spPr>
          <a:xfrm>
            <a:off x="324000" y="683100"/>
            <a:ext cx="8237700" cy="11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house with 4 or more bedrooms consumes an average of 11.8 kWh of electricity per day.  In 2024, the average cost of electricity in the UK could be calculated as: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      24.5 p per kWh consumed + 60 p daily standing charge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8" name="Google Shape;988;p89"/>
          <p:cNvSpPr txBox="1"/>
          <p:nvPr>
            <p:ph idx="1" type="body"/>
          </p:nvPr>
        </p:nvSpPr>
        <p:spPr>
          <a:xfrm>
            <a:off x="324000" y="19785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much electricity would this house consume per year? </a:t>
            </a:r>
            <a:endParaRPr sz="1800"/>
          </a:p>
        </p:txBody>
      </p:sp>
      <p:sp>
        <p:nvSpPr>
          <p:cNvPr id="989" name="Google Shape;989;p89"/>
          <p:cNvSpPr txBox="1"/>
          <p:nvPr>
            <p:ph idx="1" type="body"/>
          </p:nvPr>
        </p:nvSpPr>
        <p:spPr>
          <a:xfrm>
            <a:off x="324000" y="26897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would be the daily cost of electricity for this house?</a:t>
            </a:r>
            <a:endParaRPr sz="1800"/>
          </a:p>
        </p:txBody>
      </p:sp>
      <p:sp>
        <p:nvSpPr>
          <p:cNvPr id="990" name="Google Shape;990;p89"/>
          <p:cNvSpPr txBox="1"/>
          <p:nvPr>
            <p:ph idx="1" type="body"/>
          </p:nvPr>
        </p:nvSpPr>
        <p:spPr>
          <a:xfrm>
            <a:off x="324000" y="3400900"/>
            <a:ext cx="70173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What would be the monthly cost of electricity for this house (based on 30.5 days)?</a:t>
            </a:r>
            <a:endParaRPr sz="1800"/>
          </a:p>
        </p:txBody>
      </p:sp>
      <p:sp>
        <p:nvSpPr>
          <p:cNvPr id="991" name="Google Shape;991;p89"/>
          <p:cNvSpPr txBox="1"/>
          <p:nvPr>
            <p:ph idx="1" type="body"/>
          </p:nvPr>
        </p:nvSpPr>
        <p:spPr>
          <a:xfrm>
            <a:off x="324000" y="4112100"/>
            <a:ext cx="8496000" cy="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What would be the annual cost of electricity for this house?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997" name="Google Shape;997;p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998" name="Google Shape;998;p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999" name="Google Shape;999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pic>
        <p:nvPicPr>
          <p:cNvPr id="1000" name="Google Shape;100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82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1"/>
          <p:cNvSpPr txBox="1"/>
          <p:nvPr>
            <p:ph idx="1" type="body"/>
          </p:nvPr>
        </p:nvSpPr>
        <p:spPr>
          <a:xfrm>
            <a:off x="324000" y="759300"/>
            <a:ext cx="8496000" cy="6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Solar panels are a source of renewable energy. </a:t>
            </a:r>
            <a:r>
              <a:rPr lang="en-GB" sz="2000"/>
              <a:t>They</a:t>
            </a:r>
            <a:r>
              <a:rPr lang="en-GB" sz="2000"/>
              <a:t> capture energy from the </a:t>
            </a:r>
            <a:r>
              <a:rPr lang="en-GB" sz="2000">
                <a:solidFill>
                  <a:schemeClr val="accent5"/>
                </a:solidFill>
              </a:rPr>
              <a:t>Sun</a:t>
            </a:r>
            <a:r>
              <a:rPr lang="en-GB" sz="2000"/>
              <a:t> and convert it into electricity.</a:t>
            </a:r>
            <a:endParaRPr sz="2000"/>
          </a:p>
        </p:txBody>
      </p:sp>
      <p:sp>
        <p:nvSpPr>
          <p:cNvPr id="1006" name="Google Shape;100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07" name="Google Shape;1007;p91"/>
          <p:cNvSpPr txBox="1"/>
          <p:nvPr>
            <p:ph idx="1" type="body"/>
          </p:nvPr>
        </p:nvSpPr>
        <p:spPr>
          <a:xfrm>
            <a:off x="4072425" y="1644117"/>
            <a:ext cx="4671300" cy="6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People</a:t>
            </a:r>
            <a:r>
              <a:rPr lang="en-GB" sz="2000"/>
              <a:t> can install solar panels on a roof to </a:t>
            </a:r>
            <a:r>
              <a:rPr lang="en-GB" sz="2000">
                <a:solidFill>
                  <a:schemeClr val="accent5"/>
                </a:solidFill>
              </a:rPr>
              <a:t>generate electricity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08" name="Google Shape;1008;p91"/>
          <p:cNvSpPr txBox="1"/>
          <p:nvPr>
            <p:ph idx="1" type="body"/>
          </p:nvPr>
        </p:nvSpPr>
        <p:spPr>
          <a:xfrm>
            <a:off x="4072425" y="2528925"/>
            <a:ext cx="4286400" cy="13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electricity can be used by occupants to </a:t>
            </a:r>
            <a:r>
              <a:rPr lang="en-GB" sz="2000">
                <a:solidFill>
                  <a:schemeClr val="accent5"/>
                </a:solidFill>
              </a:rPr>
              <a:t>reduce</a:t>
            </a:r>
            <a:r>
              <a:rPr lang="en-GB" sz="2000"/>
              <a:t> the amount of electricity that they require from an energy supplier company.</a:t>
            </a:r>
            <a:endParaRPr sz="2000"/>
          </a:p>
        </p:txBody>
      </p:sp>
      <p:sp>
        <p:nvSpPr>
          <p:cNvPr id="1009" name="Google Shape;1009;p91"/>
          <p:cNvSpPr txBox="1"/>
          <p:nvPr>
            <p:ph idx="1" type="body"/>
          </p:nvPr>
        </p:nvSpPr>
        <p:spPr>
          <a:xfrm>
            <a:off x="4072425" y="4065050"/>
            <a:ext cx="4747500" cy="6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size</a:t>
            </a:r>
            <a:r>
              <a:rPr lang="en-GB" sz="2000"/>
              <a:t> of a property determines how many solar panels can be installed.</a:t>
            </a:r>
            <a:endParaRPr sz="2000"/>
          </a:p>
        </p:txBody>
      </p:sp>
      <p:pic>
        <p:nvPicPr>
          <p:cNvPr id="1010" name="Google Shape;101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04700"/>
            <a:ext cx="3153349" cy="315334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92"/>
          <p:cNvSpPr txBox="1"/>
          <p:nvPr>
            <p:ph idx="1" type="body"/>
          </p:nvPr>
        </p:nvSpPr>
        <p:spPr>
          <a:xfrm>
            <a:off x="324000" y="759300"/>
            <a:ext cx="85041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factors could affect the amount of electricity that is produced by a set of solar panels on a property?</a:t>
            </a:r>
            <a:endParaRPr sz="2000"/>
          </a:p>
        </p:txBody>
      </p:sp>
      <p:sp>
        <p:nvSpPr>
          <p:cNvPr id="1016" name="Google Shape;101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17" name="Google Shape;1017;p92"/>
          <p:cNvSpPr txBox="1"/>
          <p:nvPr>
            <p:ph idx="1" type="body"/>
          </p:nvPr>
        </p:nvSpPr>
        <p:spPr>
          <a:xfrm>
            <a:off x="318800" y="1593261"/>
            <a:ext cx="8504100" cy="34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Examples include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: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number of panels installed;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amount of sunlight;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he location of the property (e.g. Scotland vs France);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direction that the panels face (e.g. south-facing vs north-facing);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nearby obstructions that cast shade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(e.g. taller buildings or trees)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;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Font typeface="Kalam"/>
              <a:buChar char="●"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how efficiently the panels convert light into electricity.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93"/>
          <p:cNvSpPr txBox="1"/>
          <p:nvPr>
            <p:ph idx="1" type="body"/>
          </p:nvPr>
        </p:nvSpPr>
        <p:spPr>
          <a:xfrm>
            <a:off x="324000" y="759300"/>
            <a:ext cx="8237700" cy="6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Solar panels </a:t>
            </a:r>
            <a:r>
              <a:rPr lang="en-GB" sz="2000">
                <a:solidFill>
                  <a:schemeClr val="accent5"/>
                </a:solidFill>
              </a:rPr>
              <a:t>do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/>
              <a:t> produce a constant amount of electricity throughout a year, or even throughout a day. </a:t>
            </a:r>
            <a:endParaRPr sz="2000"/>
          </a:p>
        </p:txBody>
      </p:sp>
      <p:sp>
        <p:nvSpPr>
          <p:cNvPr id="1023" name="Google Shape;102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24" name="Google Shape;1024;p93"/>
          <p:cNvSpPr txBox="1"/>
          <p:nvPr>
            <p:ph idx="1" type="body"/>
          </p:nvPr>
        </p:nvSpPr>
        <p:spPr>
          <a:xfrm>
            <a:off x="324000" y="1613700"/>
            <a:ext cx="8496000" cy="6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produce the most amount of electricity during the middle of the </a:t>
            </a:r>
            <a:r>
              <a:rPr lang="en-GB" sz="2000">
                <a:solidFill>
                  <a:schemeClr val="accent5"/>
                </a:solidFill>
              </a:rPr>
              <a:t>day</a:t>
            </a:r>
            <a:r>
              <a:rPr lang="en-GB" sz="2000"/>
              <a:t> (when there is more peak sunlight). </a:t>
            </a:r>
            <a:endParaRPr sz="2000"/>
          </a:p>
        </p:txBody>
      </p:sp>
      <p:sp>
        <p:nvSpPr>
          <p:cNvPr id="1025" name="Google Shape;1025;p93"/>
          <p:cNvSpPr txBox="1"/>
          <p:nvPr>
            <p:ph idx="1" type="body"/>
          </p:nvPr>
        </p:nvSpPr>
        <p:spPr>
          <a:xfrm>
            <a:off x="324000" y="3807300"/>
            <a:ext cx="8496000" cy="10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estimate the average amount of electricity that a solar panel could produce based on the </a:t>
            </a:r>
            <a:r>
              <a:rPr lang="en-GB" sz="2000">
                <a:solidFill>
                  <a:schemeClr val="accent5"/>
                </a:solidFill>
              </a:rPr>
              <a:t>average </a:t>
            </a:r>
            <a:r>
              <a:rPr lang="en-GB" sz="2000"/>
              <a:t>amount of peak sunlight it captures per day, throughout the year.</a:t>
            </a:r>
            <a:endParaRPr sz="2000"/>
          </a:p>
        </p:txBody>
      </p:sp>
      <p:sp>
        <p:nvSpPr>
          <p:cNvPr id="1026" name="Google Shape;1026;p93"/>
          <p:cNvSpPr txBox="1"/>
          <p:nvPr>
            <p:ph idx="1" type="body"/>
          </p:nvPr>
        </p:nvSpPr>
        <p:spPr>
          <a:xfrm>
            <a:off x="324000" y="2952900"/>
            <a:ext cx="8496000" cy="6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the exact amount of electricity that a solar panel will produce per day can be difficult, as </a:t>
            </a:r>
            <a:r>
              <a:rPr lang="en-GB" sz="2000">
                <a:solidFill>
                  <a:schemeClr val="accent5"/>
                </a:solidFill>
              </a:rPr>
              <a:t>conditions vary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27" name="Google Shape;1027;p93"/>
          <p:cNvSpPr txBox="1"/>
          <p:nvPr>
            <p:ph idx="1" type="body"/>
          </p:nvPr>
        </p:nvSpPr>
        <p:spPr>
          <a:xfrm>
            <a:off x="324000" y="2468100"/>
            <a:ext cx="84960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also produce more electricity in the summer than the winter.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4"/>
          <p:cNvSpPr txBox="1"/>
          <p:nvPr>
            <p:ph idx="1" type="body"/>
          </p:nvPr>
        </p:nvSpPr>
        <p:spPr>
          <a:xfrm>
            <a:off x="324000" y="759300"/>
            <a:ext cx="8237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amount of electricity generated by a solar panel could be calculated using the formula below.</a:t>
            </a:r>
            <a:endParaRPr sz="2000"/>
          </a:p>
        </p:txBody>
      </p:sp>
      <p:sp>
        <p:nvSpPr>
          <p:cNvPr id="1033" name="Google Shape;103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34" name="Google Shape;1034;p94"/>
          <p:cNvSpPr txBox="1"/>
          <p:nvPr>
            <p:ph idx="1" type="body"/>
          </p:nvPr>
        </p:nvSpPr>
        <p:spPr>
          <a:xfrm>
            <a:off x="3817939" y="1740594"/>
            <a:ext cx="10308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94"/>
          <p:cNvSpPr txBox="1"/>
          <p:nvPr>
            <p:ph idx="1" type="body"/>
          </p:nvPr>
        </p:nvSpPr>
        <p:spPr>
          <a:xfrm>
            <a:off x="2231925" y="3095450"/>
            <a:ext cx="53970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000"/>
              <a:t>= amount of electricity produced (kWh)</a:t>
            </a:r>
            <a:endParaRPr sz="2000"/>
          </a:p>
        </p:txBody>
      </p:sp>
      <p:sp>
        <p:nvSpPr>
          <p:cNvPr id="1036" name="Google Shape;1036;p94"/>
          <p:cNvSpPr txBox="1"/>
          <p:nvPr>
            <p:ph idx="1" type="body"/>
          </p:nvPr>
        </p:nvSpPr>
        <p:spPr>
          <a:xfrm>
            <a:off x="2232471" y="3628850"/>
            <a:ext cx="45000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2000"/>
              <a:t>= power rating of panel (kW)</a:t>
            </a:r>
            <a:endParaRPr sz="2000"/>
          </a:p>
        </p:txBody>
      </p:sp>
      <p:sp>
        <p:nvSpPr>
          <p:cNvPr id="1037" name="Google Shape;1037;p94"/>
          <p:cNvSpPr txBox="1"/>
          <p:nvPr>
            <p:ph idx="1" type="body"/>
          </p:nvPr>
        </p:nvSpPr>
        <p:spPr>
          <a:xfrm>
            <a:off x="2207310" y="4162250"/>
            <a:ext cx="46452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2000"/>
              <a:t>= amount of peak sunlight (h)</a:t>
            </a:r>
            <a:endParaRPr sz="2000"/>
          </a:p>
        </p:txBody>
      </p:sp>
      <p:sp>
        <p:nvSpPr>
          <p:cNvPr id="1038" name="Google Shape;1038;p94"/>
          <p:cNvSpPr txBox="1"/>
          <p:nvPr>
            <p:ph idx="1" type="body"/>
          </p:nvPr>
        </p:nvSpPr>
        <p:spPr>
          <a:xfrm>
            <a:off x="2231925" y="2541067"/>
            <a:ext cx="10308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where: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5"/>
          <p:cNvSpPr txBox="1"/>
          <p:nvPr>
            <p:ph idx="1" type="body"/>
          </p:nvPr>
        </p:nvSpPr>
        <p:spPr>
          <a:xfrm>
            <a:off x="324000" y="759300"/>
            <a:ext cx="8496000" cy="20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north of England has solar panels.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has a power </a:t>
            </a:r>
            <a:r>
              <a:rPr lang="en-GB" sz="2000"/>
              <a:t>rating</a:t>
            </a:r>
            <a:r>
              <a:rPr lang="en-GB" sz="2000"/>
              <a:t> of </a:t>
            </a:r>
            <a:r>
              <a:rPr lang="en-GB" sz="2000">
                <a:solidFill>
                  <a:schemeClr val="accent5"/>
                </a:solidFill>
              </a:rPr>
              <a:t>350 watts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On average, it gets </a:t>
            </a:r>
            <a:r>
              <a:rPr lang="en-GB" sz="2000">
                <a:solidFill>
                  <a:schemeClr val="accent5"/>
                </a:solidFill>
              </a:rPr>
              <a:t>3 hours</a:t>
            </a:r>
            <a:r>
              <a:rPr lang="en-GB" sz="2000"/>
              <a:t> of peak sunlight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electricity does each panel produce per day, on average?</a:t>
            </a:r>
            <a:endParaRPr sz="2000"/>
          </a:p>
        </p:txBody>
      </p:sp>
      <p:sp>
        <p:nvSpPr>
          <p:cNvPr id="1044" name="Google Shape;104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pic>
        <p:nvPicPr>
          <p:cNvPr id="1045" name="Google Shape;10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3638" y="35673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1255301" y="2880650"/>
            <a:ext cx="63465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amount of electricity will be an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average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the calculation is based on the average amount of sunlight.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7" name="Google Shape;1047;p95"/>
          <p:cNvCxnSpPr/>
          <p:nvPr/>
        </p:nvCxnSpPr>
        <p:spPr>
          <a:xfrm>
            <a:off x="7266062" y="2511601"/>
            <a:ext cx="13566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95"/>
          <p:cNvCxnSpPr/>
          <p:nvPr/>
        </p:nvCxnSpPr>
        <p:spPr>
          <a:xfrm>
            <a:off x="787668" y="2030026"/>
            <a:ext cx="973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9" name="Google Shape;104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67311" y="2808368"/>
            <a:ext cx="6621375" cy="11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5"/>
          <p:cNvSpPr txBox="1"/>
          <p:nvPr>
            <p:ph idx="1" type="body"/>
          </p:nvPr>
        </p:nvSpPr>
        <p:spPr>
          <a:xfrm>
            <a:off x="7728716" y="4462922"/>
            <a:ext cx="626400" cy="2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pic>
        <p:nvPicPr>
          <p:cNvPr id="1051" name="Google Shape;105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0299" y="759300"/>
            <a:ext cx="1383250" cy="1383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67311" y="2808368"/>
            <a:ext cx="6621375" cy="11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6"/>
          <p:cNvSpPr txBox="1"/>
          <p:nvPr>
            <p:ph idx="1" type="body"/>
          </p:nvPr>
        </p:nvSpPr>
        <p:spPr>
          <a:xfrm>
            <a:off x="324000" y="759300"/>
            <a:ext cx="8496000" cy="20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north of England has solar panels.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has a power rating of </a:t>
            </a:r>
            <a:r>
              <a:rPr lang="en-GB" sz="2000">
                <a:solidFill>
                  <a:schemeClr val="accent5"/>
                </a:solidFill>
              </a:rPr>
              <a:t>350 watts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On average, it gets </a:t>
            </a:r>
            <a:r>
              <a:rPr lang="en-GB" sz="2000">
                <a:solidFill>
                  <a:schemeClr val="accent5"/>
                </a:solidFill>
              </a:rPr>
              <a:t>3 hours</a:t>
            </a:r>
            <a:r>
              <a:rPr lang="en-GB" sz="2000"/>
              <a:t> of peak sunlight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electricity does each panel produce per day, on average?</a:t>
            </a:r>
            <a:endParaRPr sz="2000"/>
          </a:p>
        </p:txBody>
      </p:sp>
      <p:sp>
        <p:nvSpPr>
          <p:cNvPr id="1058" name="Google Shape;105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pic>
        <p:nvPicPr>
          <p:cNvPr id="1059" name="Google Shape;105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3638" y="356733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96"/>
          <p:cNvSpPr txBox="1"/>
          <p:nvPr/>
        </p:nvSpPr>
        <p:spPr>
          <a:xfrm>
            <a:off x="1255301" y="2880650"/>
            <a:ext cx="63465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actual amount of electricity it produces will fluctuate throughout the year, as the amount of sunlight varies.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1" name="Google Shape;1061;p96"/>
          <p:cNvCxnSpPr/>
          <p:nvPr/>
        </p:nvCxnSpPr>
        <p:spPr>
          <a:xfrm>
            <a:off x="7266062" y="2511601"/>
            <a:ext cx="13566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96"/>
          <p:cNvCxnSpPr/>
          <p:nvPr/>
        </p:nvCxnSpPr>
        <p:spPr>
          <a:xfrm>
            <a:off x="787668" y="2030026"/>
            <a:ext cx="973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3" name="Google Shape;1063;p96"/>
          <p:cNvSpPr txBox="1"/>
          <p:nvPr>
            <p:ph idx="1" type="body"/>
          </p:nvPr>
        </p:nvSpPr>
        <p:spPr>
          <a:xfrm>
            <a:off x="7728716" y="4462922"/>
            <a:ext cx="626400" cy="2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pic>
        <p:nvPicPr>
          <p:cNvPr id="1064" name="Google Shape;106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0299" y="759300"/>
            <a:ext cx="1383250" cy="1383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7"/>
          <p:cNvSpPr txBox="1"/>
          <p:nvPr>
            <p:ph idx="1" type="body"/>
          </p:nvPr>
        </p:nvSpPr>
        <p:spPr>
          <a:xfrm>
            <a:off x="324000" y="759300"/>
            <a:ext cx="8496000" cy="20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north of England has solar panels.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has a power rating of </a:t>
            </a:r>
            <a:r>
              <a:rPr lang="en-GB" sz="2000">
                <a:solidFill>
                  <a:schemeClr val="accent5"/>
                </a:solidFill>
              </a:rPr>
              <a:t>350 watts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On average, it gets </a:t>
            </a:r>
            <a:r>
              <a:rPr lang="en-GB" sz="2000">
                <a:solidFill>
                  <a:schemeClr val="accent5"/>
                </a:solidFill>
              </a:rPr>
              <a:t>3 hours</a:t>
            </a:r>
            <a:r>
              <a:rPr lang="en-GB" sz="2000"/>
              <a:t> of peak sunlight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electricity does each panel produce per day, on average?</a:t>
            </a:r>
            <a:endParaRPr sz="2000"/>
          </a:p>
        </p:txBody>
      </p:sp>
      <p:sp>
        <p:nvSpPr>
          <p:cNvPr id="1070" name="Google Shape;107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71" name="Google Shape;1071;p97"/>
          <p:cNvSpPr/>
          <p:nvPr/>
        </p:nvSpPr>
        <p:spPr>
          <a:xfrm>
            <a:off x="343551" y="2860775"/>
            <a:ext cx="4006800" cy="1746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7"/>
          <p:cNvSpPr txBox="1"/>
          <p:nvPr>
            <p:ph idx="1" type="body"/>
          </p:nvPr>
        </p:nvSpPr>
        <p:spPr>
          <a:xfrm>
            <a:off x="1813007" y="2910897"/>
            <a:ext cx="10308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3" name="Google Shape;1073;p97"/>
          <p:cNvSpPr txBox="1"/>
          <p:nvPr>
            <p:ph idx="1" type="body"/>
          </p:nvPr>
        </p:nvSpPr>
        <p:spPr>
          <a:xfrm>
            <a:off x="396976" y="3324050"/>
            <a:ext cx="4137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800"/>
              <a:t>= electricity produced (kWh)</a:t>
            </a:r>
            <a:endParaRPr sz="1800"/>
          </a:p>
        </p:txBody>
      </p:sp>
      <p:sp>
        <p:nvSpPr>
          <p:cNvPr id="1074" name="Google Shape;1074;p97"/>
          <p:cNvSpPr txBox="1"/>
          <p:nvPr>
            <p:ph idx="1" type="body"/>
          </p:nvPr>
        </p:nvSpPr>
        <p:spPr>
          <a:xfrm>
            <a:off x="387924" y="3743150"/>
            <a:ext cx="45000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800"/>
              <a:t>= power rating of panel (kW)</a:t>
            </a:r>
            <a:endParaRPr sz="1800"/>
          </a:p>
        </p:txBody>
      </p:sp>
      <p:sp>
        <p:nvSpPr>
          <p:cNvPr id="1075" name="Google Shape;1075;p97"/>
          <p:cNvSpPr txBox="1"/>
          <p:nvPr>
            <p:ph idx="1" type="body"/>
          </p:nvPr>
        </p:nvSpPr>
        <p:spPr>
          <a:xfrm>
            <a:off x="387953" y="4162250"/>
            <a:ext cx="49821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800"/>
              <a:t>= amount of peak sunlight (h)</a:t>
            </a:r>
            <a:endParaRPr sz="1800"/>
          </a:p>
        </p:txBody>
      </p:sp>
      <p:sp>
        <p:nvSpPr>
          <p:cNvPr id="1076" name="Google Shape;1076;p97"/>
          <p:cNvSpPr txBox="1"/>
          <p:nvPr>
            <p:ph idx="1" type="body"/>
          </p:nvPr>
        </p:nvSpPr>
        <p:spPr>
          <a:xfrm>
            <a:off x="4815728" y="3052325"/>
            <a:ext cx="3599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350 watts = 0.35 kilowatts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97"/>
          <p:cNvSpPr txBox="1"/>
          <p:nvPr>
            <p:ph idx="1" type="body"/>
          </p:nvPr>
        </p:nvSpPr>
        <p:spPr>
          <a:xfrm>
            <a:off x="4815725" y="3585715"/>
            <a:ext cx="4641600" cy="8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Electricity generated: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0.35 × 3 = 1.05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78" name="Google Shape;10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0299" y="759300"/>
            <a:ext cx="1383250" cy="1383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84" name="Google Shape;1084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0.032 kW</a:t>
            </a:r>
            <a:endParaRPr/>
          </a:p>
        </p:txBody>
      </p:sp>
      <p:sp>
        <p:nvSpPr>
          <p:cNvPr id="1085" name="Google Shape;1085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320 watts in kilowatts?</a:t>
            </a:r>
            <a:endParaRPr/>
          </a:p>
        </p:txBody>
      </p:sp>
      <p:sp>
        <p:nvSpPr>
          <p:cNvPr id="1086" name="Google Shape;1086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0.32 kW</a:t>
            </a:r>
            <a:endParaRPr/>
          </a:p>
        </p:txBody>
      </p:sp>
      <p:sp>
        <p:nvSpPr>
          <p:cNvPr id="1087" name="Google Shape;1087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3.2</a:t>
            </a:r>
            <a:r>
              <a:rPr lang="en-GB"/>
              <a:t> kW</a:t>
            </a:r>
            <a:endParaRPr/>
          </a:p>
        </p:txBody>
      </p:sp>
      <p:sp>
        <p:nvSpPr>
          <p:cNvPr id="1088" name="Google Shape;1088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32 kW</a:t>
            </a:r>
            <a:endParaRPr/>
          </a:p>
        </p:txBody>
      </p:sp>
      <p:pic>
        <p:nvPicPr>
          <p:cNvPr id="1089" name="Google Shape;10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85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99"/>
          <p:cNvSpPr txBox="1"/>
          <p:nvPr>
            <p:ph idx="1" type="body"/>
          </p:nvPr>
        </p:nvSpPr>
        <p:spPr>
          <a:xfrm>
            <a:off x="324000" y="759300"/>
            <a:ext cx="85494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south of England has solar panels.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has a power rating of </a:t>
            </a:r>
            <a:r>
              <a:rPr lang="en-GB" sz="2000">
                <a:solidFill>
                  <a:schemeClr val="accent5"/>
                </a:solidFill>
              </a:rPr>
              <a:t>320 watts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On average, it gets </a:t>
            </a:r>
            <a:r>
              <a:rPr lang="en-GB" sz="2000">
                <a:solidFill>
                  <a:schemeClr val="accent5"/>
                </a:solidFill>
              </a:rPr>
              <a:t>4.2 hours</a:t>
            </a:r>
            <a:r>
              <a:rPr lang="en-GB" sz="2000"/>
              <a:t> of peak sunlight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electricity does each panel produce per day, on average?</a:t>
            </a:r>
            <a:endParaRPr sz="2000"/>
          </a:p>
        </p:txBody>
      </p:sp>
      <p:sp>
        <p:nvSpPr>
          <p:cNvPr id="1095" name="Google Shape;109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096" name="Google Shape;1096;p99"/>
          <p:cNvSpPr/>
          <p:nvPr/>
        </p:nvSpPr>
        <p:spPr>
          <a:xfrm>
            <a:off x="348589" y="2860775"/>
            <a:ext cx="4006800" cy="1746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9"/>
          <p:cNvSpPr txBox="1"/>
          <p:nvPr>
            <p:ph idx="1" type="body"/>
          </p:nvPr>
        </p:nvSpPr>
        <p:spPr>
          <a:xfrm>
            <a:off x="1818045" y="2910897"/>
            <a:ext cx="10308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8" name="Google Shape;1098;p99"/>
          <p:cNvSpPr txBox="1"/>
          <p:nvPr>
            <p:ph idx="1" type="body"/>
          </p:nvPr>
        </p:nvSpPr>
        <p:spPr>
          <a:xfrm>
            <a:off x="402014" y="3324050"/>
            <a:ext cx="4137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800"/>
              <a:t>= electricity produced (kWh)</a:t>
            </a:r>
            <a:endParaRPr sz="1800"/>
          </a:p>
        </p:txBody>
      </p:sp>
      <p:sp>
        <p:nvSpPr>
          <p:cNvPr id="1099" name="Google Shape;1099;p99"/>
          <p:cNvSpPr txBox="1"/>
          <p:nvPr>
            <p:ph idx="1" type="body"/>
          </p:nvPr>
        </p:nvSpPr>
        <p:spPr>
          <a:xfrm>
            <a:off x="392962" y="3743150"/>
            <a:ext cx="45000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800"/>
              <a:t>= power rating of panel (kW)</a:t>
            </a:r>
            <a:endParaRPr sz="1800"/>
          </a:p>
        </p:txBody>
      </p:sp>
      <p:sp>
        <p:nvSpPr>
          <p:cNvPr id="1100" name="Google Shape;1100;p99"/>
          <p:cNvSpPr txBox="1"/>
          <p:nvPr>
            <p:ph idx="1" type="body"/>
          </p:nvPr>
        </p:nvSpPr>
        <p:spPr>
          <a:xfrm>
            <a:off x="392991" y="4162250"/>
            <a:ext cx="49821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800"/>
              <a:t>= amount of peak sunlight (h)</a:t>
            </a:r>
            <a:endParaRPr sz="1800"/>
          </a:p>
        </p:txBody>
      </p:sp>
      <p:sp>
        <p:nvSpPr>
          <p:cNvPr id="1101" name="Google Shape;1101;p99"/>
          <p:cNvSpPr txBox="1"/>
          <p:nvPr>
            <p:ph idx="1" type="body"/>
          </p:nvPr>
        </p:nvSpPr>
        <p:spPr>
          <a:xfrm>
            <a:off x="4805645" y="3052325"/>
            <a:ext cx="2218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320 W = 0.32 kW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99"/>
          <p:cNvSpPr txBox="1"/>
          <p:nvPr>
            <p:ph idx="1" type="body"/>
          </p:nvPr>
        </p:nvSpPr>
        <p:spPr>
          <a:xfrm>
            <a:off x="4805650" y="3585715"/>
            <a:ext cx="4641600" cy="8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Electricity generated: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0.32 × 4.2 = 1.344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03" name="Google Shape;110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0299" y="759300"/>
            <a:ext cx="1383250" cy="1383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00"/>
          <p:cNvSpPr txBox="1"/>
          <p:nvPr>
            <p:ph idx="1" type="body"/>
          </p:nvPr>
        </p:nvSpPr>
        <p:spPr>
          <a:xfrm>
            <a:off x="324000" y="759300"/>
            <a:ext cx="85494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south of England has solar panels.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In ideal conditions, e</a:t>
            </a:r>
            <a:r>
              <a:rPr lang="en-GB" sz="2000"/>
              <a:t>ach solar panel would generate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1.344 kWh</a:t>
            </a:r>
            <a:r>
              <a:rPr lang="en-GB" sz="2000"/>
              <a:t> of electricity per day, on average.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However, performance is reduced by </a:t>
            </a:r>
            <a:r>
              <a:rPr lang="en-GB" sz="2000"/>
              <a:t>shade and direction.</a:t>
            </a:r>
            <a:br>
              <a:rPr lang="en-GB" sz="2000"/>
            </a:br>
            <a:r>
              <a:rPr lang="en-GB" sz="2000"/>
              <a:t>So, it produces </a:t>
            </a:r>
            <a:r>
              <a:rPr lang="en-GB" sz="2000">
                <a:solidFill>
                  <a:schemeClr val="accent5"/>
                </a:solidFill>
              </a:rPr>
              <a:t>20% less</a:t>
            </a:r>
            <a:r>
              <a:rPr lang="en-GB" sz="2000"/>
              <a:t> electricity than it would in ideal conditions.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electricity does the panel produce?</a:t>
            </a:r>
            <a:br>
              <a:rPr lang="en-GB" sz="2000"/>
            </a:br>
            <a:r>
              <a:rPr lang="en-GB" sz="2000"/>
              <a:t>Give your answer accurate to 3 significant figures.</a:t>
            </a:r>
            <a:endParaRPr sz="2000"/>
          </a:p>
        </p:txBody>
      </p:sp>
      <p:sp>
        <p:nvSpPr>
          <p:cNvPr id="1109" name="Google Shape;110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10" name="Google Shape;1110;p100"/>
          <p:cNvSpPr txBox="1"/>
          <p:nvPr>
            <p:ph idx="1" type="body"/>
          </p:nvPr>
        </p:nvSpPr>
        <p:spPr>
          <a:xfrm>
            <a:off x="2377325" y="3700526"/>
            <a:ext cx="4403100" cy="8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20% decrease leaves 80% remaining.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 × 1.344 = 1.0752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100"/>
          <p:cNvSpPr txBox="1"/>
          <p:nvPr>
            <p:ph idx="1" type="body"/>
          </p:nvPr>
        </p:nvSpPr>
        <p:spPr>
          <a:xfrm>
            <a:off x="3686259" y="4526193"/>
            <a:ext cx="1600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1.08 kWh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12" name="Google Shape;111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0299" y="759300"/>
            <a:ext cx="1383250" cy="1383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1"/>
          <p:cNvSpPr txBox="1"/>
          <p:nvPr>
            <p:ph idx="1" type="body"/>
          </p:nvPr>
        </p:nvSpPr>
        <p:spPr>
          <a:xfrm>
            <a:off x="324000" y="759300"/>
            <a:ext cx="8496000" cy="25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</a:t>
            </a:r>
            <a:r>
              <a:rPr lang="en-GB" sz="2000"/>
              <a:t>house has </a:t>
            </a:r>
            <a:r>
              <a:rPr lang="en-GB" sz="2000">
                <a:solidFill>
                  <a:schemeClr val="accent5"/>
                </a:solidFill>
              </a:rPr>
              <a:t>12</a:t>
            </a:r>
            <a:r>
              <a:rPr lang="en-GB" sz="2000"/>
              <a:t> solar panels in total.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produces </a:t>
            </a:r>
            <a:r>
              <a:rPr lang="en-GB" sz="2000">
                <a:solidFill>
                  <a:schemeClr val="accent5"/>
                </a:solidFill>
              </a:rPr>
              <a:t>1.05</a:t>
            </a:r>
            <a:r>
              <a:rPr lang="en-GB" sz="2000">
                <a:solidFill>
                  <a:schemeClr val="accent5"/>
                </a:solidFill>
              </a:rPr>
              <a:t> kWh</a:t>
            </a:r>
            <a:r>
              <a:rPr lang="en-GB" sz="2000"/>
              <a:t> of electricity </a:t>
            </a:r>
            <a:br>
              <a:rPr lang="en-GB" sz="2000"/>
            </a:br>
            <a:r>
              <a:rPr lang="en-GB" sz="2000"/>
              <a:t>per day, on average.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house typically consumes </a:t>
            </a:r>
            <a:r>
              <a:rPr lang="en-GB" sz="2000">
                <a:solidFill>
                  <a:schemeClr val="accent5"/>
                </a:solidFill>
              </a:rPr>
              <a:t>14.8 kWh</a:t>
            </a:r>
            <a:r>
              <a:rPr lang="en-GB" sz="2000"/>
              <a:t> of electricity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remaining electricity, per day, would the occupants </a:t>
            </a:r>
            <a:r>
              <a:rPr lang="en-GB" sz="2000"/>
              <a:t>need to consume</a:t>
            </a:r>
            <a:r>
              <a:rPr lang="en-GB" sz="2000"/>
              <a:t> from their electricity supplier company? </a:t>
            </a:r>
            <a:endParaRPr sz="2000"/>
          </a:p>
        </p:txBody>
      </p:sp>
      <p:sp>
        <p:nvSpPr>
          <p:cNvPr id="1118" name="Google Shape;111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19" name="Google Shape;1119;p101"/>
          <p:cNvSpPr txBox="1"/>
          <p:nvPr>
            <p:ph idx="1" type="body"/>
          </p:nvPr>
        </p:nvSpPr>
        <p:spPr>
          <a:xfrm>
            <a:off x="319925" y="3509525"/>
            <a:ext cx="8145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Electricity generated by solar panels: 12 × 1.05 = 12.6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101"/>
          <p:cNvSpPr txBox="1"/>
          <p:nvPr>
            <p:ph idx="1" type="body"/>
          </p:nvPr>
        </p:nvSpPr>
        <p:spPr>
          <a:xfrm>
            <a:off x="1081925" y="4042925"/>
            <a:ext cx="8145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Remaining electricity required: 14.8 – 12.6 = 2.2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02"/>
          <p:cNvSpPr txBox="1"/>
          <p:nvPr>
            <p:ph idx="1" type="body"/>
          </p:nvPr>
        </p:nvSpPr>
        <p:spPr>
          <a:xfrm>
            <a:off x="324000" y="759300"/>
            <a:ext cx="8496000" cy="27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cost of electricity can be calculated as: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24.5 p per kWh consumed + 60 p daily standing charge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occupants of a house need to consume </a:t>
            </a:r>
            <a:r>
              <a:rPr lang="en-GB" sz="2000">
                <a:solidFill>
                  <a:schemeClr val="accent5"/>
                </a:solidFill>
              </a:rPr>
              <a:t>2.2 kWh</a:t>
            </a:r>
            <a:r>
              <a:rPr lang="en-GB" sz="2000"/>
              <a:t> of electricity per day from their energy supplier company.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Calculate the annual cost </a:t>
            </a:r>
            <a:r>
              <a:rPr lang="en-GB" sz="2000"/>
              <a:t>of</a:t>
            </a:r>
            <a:r>
              <a:rPr lang="en-GB" sz="2000"/>
              <a:t> electricity </a:t>
            </a:r>
            <a:r>
              <a:rPr lang="en-GB" sz="2000"/>
              <a:t>for this house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26" name="Google Shape;1126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27" name="Google Shape;1127;p102"/>
          <p:cNvSpPr txBox="1"/>
          <p:nvPr>
            <p:ph idx="1" type="body"/>
          </p:nvPr>
        </p:nvSpPr>
        <p:spPr>
          <a:xfrm>
            <a:off x="2044924" y="3357125"/>
            <a:ext cx="5630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 day: 24.5 × 2.2 + 60 = 113.9 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102"/>
          <p:cNvSpPr txBox="1"/>
          <p:nvPr>
            <p:ph idx="1" type="body"/>
          </p:nvPr>
        </p:nvSpPr>
        <p:spPr>
          <a:xfrm>
            <a:off x="1972821" y="3966725"/>
            <a:ext cx="52368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 year: 113.9 × 365 = 41 573.5 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102"/>
          <p:cNvSpPr txBox="1"/>
          <p:nvPr>
            <p:ph idx="1" type="body"/>
          </p:nvPr>
        </p:nvSpPr>
        <p:spPr>
          <a:xfrm>
            <a:off x="4335013" y="4373793"/>
            <a:ext cx="1600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£415.74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03"/>
          <p:cNvSpPr txBox="1"/>
          <p:nvPr>
            <p:ph idx="1" type="body"/>
          </p:nvPr>
        </p:nvSpPr>
        <p:spPr>
          <a:xfrm>
            <a:off x="324000" y="759300"/>
            <a:ext cx="8496000" cy="16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the house sources all of its electricity from its energy supplier company, the total cost would be </a:t>
            </a:r>
            <a:r>
              <a:rPr lang="en-GB" sz="2000">
                <a:solidFill>
                  <a:schemeClr val="accent5"/>
                </a:solidFill>
              </a:rPr>
              <a:t>£1542.49</a:t>
            </a:r>
            <a:r>
              <a:rPr lang="en-GB" sz="2000"/>
              <a:t> per annum.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With the solar panels, the cost is only </a:t>
            </a:r>
            <a:r>
              <a:rPr lang="en-GB" sz="2000">
                <a:solidFill>
                  <a:schemeClr val="accent5"/>
                </a:solidFill>
              </a:rPr>
              <a:t>£415.74</a:t>
            </a:r>
            <a:r>
              <a:rPr lang="en-GB" sz="2000"/>
              <a:t> per annum.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much money do the occupants save each year?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35" name="Google Shape;1135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36" name="Google Shape;1136;p103"/>
          <p:cNvSpPr txBox="1"/>
          <p:nvPr>
            <p:ph idx="1" type="body"/>
          </p:nvPr>
        </p:nvSpPr>
        <p:spPr>
          <a:xfrm>
            <a:off x="2834525" y="2823725"/>
            <a:ext cx="3490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1542.49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– 415.74 = £1126.75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04"/>
          <p:cNvSpPr txBox="1"/>
          <p:nvPr>
            <p:ph idx="1" type="body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house in the south of England has </a:t>
            </a:r>
            <a:r>
              <a:rPr lang="en-GB" sz="2000">
                <a:solidFill>
                  <a:schemeClr val="accent5"/>
                </a:solidFill>
              </a:rPr>
              <a:t>6 solar panels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panel produces </a:t>
            </a:r>
            <a:r>
              <a:rPr lang="en-GB" sz="2000">
                <a:solidFill>
                  <a:schemeClr val="accent5"/>
                </a:solidFill>
              </a:rPr>
              <a:t>1.08 kWh</a:t>
            </a:r>
            <a:r>
              <a:rPr lang="en-GB" sz="2000"/>
              <a:t> of electricity per day, on average.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house typically consumes </a:t>
            </a:r>
            <a:r>
              <a:rPr lang="en-GB" sz="2000">
                <a:solidFill>
                  <a:schemeClr val="accent5"/>
                </a:solidFill>
              </a:rPr>
              <a:t>9.8 kWh</a:t>
            </a:r>
            <a:r>
              <a:rPr lang="en-GB" sz="2000"/>
              <a:t> of electricity per day.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remaining electricity, per day, would the occupants need to consume from their electricity supplier company? </a:t>
            </a:r>
            <a:endParaRPr sz="2000"/>
          </a:p>
        </p:txBody>
      </p:sp>
      <p:sp>
        <p:nvSpPr>
          <p:cNvPr id="1142" name="Google Shape;1142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43" name="Google Shape;1143;p104"/>
          <p:cNvSpPr txBox="1"/>
          <p:nvPr>
            <p:ph idx="1" type="body"/>
          </p:nvPr>
        </p:nvSpPr>
        <p:spPr>
          <a:xfrm>
            <a:off x="319925" y="3204725"/>
            <a:ext cx="8145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Electricity generated by solar panels: 6 × 1.08 = 6.48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104"/>
          <p:cNvSpPr txBox="1"/>
          <p:nvPr>
            <p:ph idx="1" type="body"/>
          </p:nvPr>
        </p:nvSpPr>
        <p:spPr>
          <a:xfrm>
            <a:off x="716800" y="3738125"/>
            <a:ext cx="8145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Remaining electricity required: 9.8 – 6.48 = 3.32 kWh per day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5"/>
          <p:cNvSpPr txBox="1"/>
          <p:nvPr>
            <p:ph idx="1" type="body"/>
          </p:nvPr>
        </p:nvSpPr>
        <p:spPr>
          <a:xfrm>
            <a:off x="324000" y="759300"/>
            <a:ext cx="8496000" cy="25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cost of electricity can be calculated as: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24.5 p per kWh consumed + 60 p daily standing charge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house only needs </a:t>
            </a:r>
            <a:r>
              <a:rPr lang="en-GB" sz="2000">
                <a:solidFill>
                  <a:schemeClr val="accent5"/>
                </a:solidFill>
              </a:rPr>
              <a:t>3.32 kWh</a:t>
            </a:r>
            <a:r>
              <a:rPr lang="en-GB" sz="2000"/>
              <a:t> of electricity from its energy supplier company.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Calculate the annual cost of electricity for this house.</a:t>
            </a:r>
            <a:endParaRPr sz="2000"/>
          </a:p>
        </p:txBody>
      </p:sp>
      <p:sp>
        <p:nvSpPr>
          <p:cNvPr id="1150" name="Google Shape;1150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51" name="Google Shape;1151;p105"/>
          <p:cNvSpPr txBox="1"/>
          <p:nvPr>
            <p:ph idx="1" type="body"/>
          </p:nvPr>
        </p:nvSpPr>
        <p:spPr>
          <a:xfrm>
            <a:off x="1158125" y="3357125"/>
            <a:ext cx="8145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 day: 24.5 × 3.32 + 60 = 141.34 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105"/>
          <p:cNvSpPr txBox="1"/>
          <p:nvPr>
            <p:ph idx="1" type="body"/>
          </p:nvPr>
        </p:nvSpPr>
        <p:spPr>
          <a:xfrm>
            <a:off x="1056852" y="3966725"/>
            <a:ext cx="62145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 year: 141.34 × 365 = 51 589.1 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3" name="Google Shape;1153;p105"/>
          <p:cNvSpPr txBox="1"/>
          <p:nvPr>
            <p:ph idx="1" type="body"/>
          </p:nvPr>
        </p:nvSpPr>
        <p:spPr>
          <a:xfrm>
            <a:off x="3583990" y="4373793"/>
            <a:ext cx="1600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£515.89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06"/>
          <p:cNvSpPr txBox="1"/>
          <p:nvPr>
            <p:ph idx="1" type="body"/>
          </p:nvPr>
        </p:nvSpPr>
        <p:spPr>
          <a:xfrm>
            <a:off x="324000" y="759300"/>
            <a:ext cx="82377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the house sources all of its electricity from its energy supplier company, the total cost would be </a:t>
            </a:r>
            <a:r>
              <a:rPr lang="en-GB" sz="2000">
                <a:solidFill>
                  <a:schemeClr val="accent5"/>
                </a:solidFill>
              </a:rPr>
              <a:t>£1095.37</a:t>
            </a:r>
            <a:r>
              <a:rPr lang="en-GB" sz="2000"/>
              <a:t> per annum.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With the solar panels, the cost is only </a:t>
            </a:r>
            <a:r>
              <a:rPr lang="en-GB" sz="2000">
                <a:solidFill>
                  <a:schemeClr val="accent5"/>
                </a:solidFill>
              </a:rPr>
              <a:t>£515.89</a:t>
            </a:r>
            <a:r>
              <a:rPr lang="en-GB" sz="2000"/>
              <a:t> per annum.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much money </a:t>
            </a:r>
            <a:r>
              <a:rPr lang="en-GB" sz="2000"/>
              <a:t>do the occupants save each year?</a:t>
            </a:r>
            <a:endParaRPr sz="2000"/>
          </a:p>
        </p:txBody>
      </p:sp>
      <p:sp>
        <p:nvSpPr>
          <p:cNvPr id="1159" name="Google Shape;1159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60" name="Google Shape;1160;p106"/>
          <p:cNvSpPr txBox="1"/>
          <p:nvPr>
            <p:ph idx="1" type="body"/>
          </p:nvPr>
        </p:nvSpPr>
        <p:spPr>
          <a:xfrm>
            <a:off x="2605925" y="2823725"/>
            <a:ext cx="34902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1095.37 – 515.89 = £579.48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66" name="Google Shape;1166;p107"/>
          <p:cNvSpPr/>
          <p:nvPr/>
        </p:nvSpPr>
        <p:spPr>
          <a:xfrm>
            <a:off x="4847725" y="3672502"/>
            <a:ext cx="3509100" cy="113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107"/>
          <p:cNvSpPr txBox="1"/>
          <p:nvPr>
            <p:ph idx="4294967295" type="body"/>
          </p:nvPr>
        </p:nvSpPr>
        <p:spPr>
          <a:xfrm>
            <a:off x="6164775" y="3677928"/>
            <a:ext cx="1030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107"/>
          <p:cNvSpPr txBox="1"/>
          <p:nvPr>
            <p:ph idx="4294967295" type="body"/>
          </p:nvPr>
        </p:nvSpPr>
        <p:spPr>
          <a:xfrm>
            <a:off x="4989789" y="3914866"/>
            <a:ext cx="34584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electricity produced (kWh)</a:t>
            </a:r>
            <a:endParaRPr sz="1400"/>
          </a:p>
        </p:txBody>
      </p:sp>
      <p:sp>
        <p:nvSpPr>
          <p:cNvPr id="1169" name="Google Shape;1169;p107"/>
          <p:cNvSpPr txBox="1"/>
          <p:nvPr>
            <p:ph idx="4294967295" type="body"/>
          </p:nvPr>
        </p:nvSpPr>
        <p:spPr>
          <a:xfrm>
            <a:off x="4993489" y="4218666"/>
            <a:ext cx="31695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power rating of panel (kW)</a:t>
            </a:r>
            <a:endParaRPr sz="1400"/>
          </a:p>
        </p:txBody>
      </p:sp>
      <p:sp>
        <p:nvSpPr>
          <p:cNvPr id="1170" name="Google Shape;1170;p107"/>
          <p:cNvSpPr txBox="1"/>
          <p:nvPr>
            <p:ph idx="4294967295" type="body"/>
          </p:nvPr>
        </p:nvSpPr>
        <p:spPr>
          <a:xfrm>
            <a:off x="4968321" y="4522465"/>
            <a:ext cx="35091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amount of peak sunlight (h)</a:t>
            </a:r>
            <a:endParaRPr sz="1200"/>
          </a:p>
        </p:txBody>
      </p:sp>
      <p:sp>
        <p:nvSpPr>
          <p:cNvPr id="1171" name="Google Shape;1171;p107"/>
          <p:cNvSpPr txBox="1"/>
          <p:nvPr>
            <p:ph idx="1" type="body"/>
          </p:nvPr>
        </p:nvSpPr>
        <p:spPr>
          <a:xfrm>
            <a:off x="324000" y="729075"/>
            <a:ext cx="8496000" cy="31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A house consumes an average of 11.8 kWh of electricity per day.  </a:t>
            </a:r>
            <a:br>
              <a:rPr lang="en-GB" sz="1800"/>
            </a:br>
            <a:r>
              <a:rPr lang="en-GB" sz="1800"/>
              <a:t>The cost of obtaining electricity from a supplier company can be calculated using the following formula: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           cost = 24.5 p per kWh consumed + 60 p daily standing charge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owners install 8 solar panels, each with a power rating of 380 watts.</a:t>
            </a:r>
            <a:br>
              <a:rPr lang="en-GB" sz="1800"/>
            </a:br>
            <a:r>
              <a:rPr lang="en-GB" sz="1800"/>
              <a:t>The panels get 4.5 hours of peak sunlight per day, on average. </a:t>
            </a:r>
            <a:br>
              <a:rPr lang="en-GB" sz="1800"/>
            </a:br>
            <a:r>
              <a:rPr lang="en-GB" sz="1800"/>
              <a:t>The performance of the panels is reduced by 25% due to factors like shade.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How much money do the occupants save each year on their electricity bills by having solar panels?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77" name="Google Shape;1177;p108"/>
          <p:cNvSpPr/>
          <p:nvPr/>
        </p:nvSpPr>
        <p:spPr>
          <a:xfrm>
            <a:off x="4847725" y="3672502"/>
            <a:ext cx="3509100" cy="113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108"/>
          <p:cNvSpPr txBox="1"/>
          <p:nvPr>
            <p:ph idx="4294967295" type="body"/>
          </p:nvPr>
        </p:nvSpPr>
        <p:spPr>
          <a:xfrm>
            <a:off x="6164775" y="3677928"/>
            <a:ext cx="1030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108"/>
          <p:cNvSpPr txBox="1"/>
          <p:nvPr>
            <p:ph idx="4294967295" type="body"/>
          </p:nvPr>
        </p:nvSpPr>
        <p:spPr>
          <a:xfrm>
            <a:off x="4989789" y="3914866"/>
            <a:ext cx="34584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electricity produced (kWh)</a:t>
            </a:r>
            <a:endParaRPr sz="1400"/>
          </a:p>
        </p:txBody>
      </p:sp>
      <p:sp>
        <p:nvSpPr>
          <p:cNvPr id="1180" name="Google Shape;1180;p108"/>
          <p:cNvSpPr txBox="1"/>
          <p:nvPr>
            <p:ph idx="4294967295" type="body"/>
          </p:nvPr>
        </p:nvSpPr>
        <p:spPr>
          <a:xfrm>
            <a:off x="4993489" y="4218666"/>
            <a:ext cx="31695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power rating of panel (kW)</a:t>
            </a:r>
            <a:endParaRPr sz="1400"/>
          </a:p>
        </p:txBody>
      </p:sp>
      <p:sp>
        <p:nvSpPr>
          <p:cNvPr id="1181" name="Google Shape;1181;p108"/>
          <p:cNvSpPr txBox="1"/>
          <p:nvPr>
            <p:ph idx="4294967295" type="body"/>
          </p:nvPr>
        </p:nvSpPr>
        <p:spPr>
          <a:xfrm>
            <a:off x="4968321" y="4522465"/>
            <a:ext cx="35091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/>
              <a:t>= amount of peak sunlight </a:t>
            </a:r>
            <a:r>
              <a:rPr lang="en-GB" sz="1400"/>
              <a:t>(h)</a:t>
            </a:r>
            <a:endParaRPr sz="1200"/>
          </a:p>
        </p:txBody>
      </p:sp>
      <p:sp>
        <p:nvSpPr>
          <p:cNvPr id="1182" name="Google Shape;1182;p108"/>
          <p:cNvSpPr txBox="1"/>
          <p:nvPr>
            <p:ph idx="1" type="body"/>
          </p:nvPr>
        </p:nvSpPr>
        <p:spPr>
          <a:xfrm>
            <a:off x="324000" y="729075"/>
            <a:ext cx="8496000" cy="31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A house consumes an average of 11.8 kWh of electricity per day.  </a:t>
            </a:r>
            <a:br>
              <a:rPr lang="en-GB" sz="1800"/>
            </a:br>
            <a:r>
              <a:rPr lang="en-GB" sz="1800"/>
              <a:t>The cost of obtaining electricity from a supplier company can be calculated using </a:t>
            </a:r>
            <a:r>
              <a:rPr lang="en-GB" sz="1800"/>
              <a:t>t</a:t>
            </a:r>
            <a:r>
              <a:rPr lang="en-GB" sz="1800"/>
              <a:t>he following formula: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             </a:t>
            </a:r>
            <a:r>
              <a:rPr lang="en-GB" sz="1800"/>
              <a:t>  </a:t>
            </a:r>
            <a:r>
              <a:rPr lang="en-GB" sz="1800"/>
              <a:t>cost = 24.5 p per kWh consumed + 60 p daily standing</a:t>
            </a:r>
            <a:r>
              <a:rPr lang="en-GB" sz="1800"/>
              <a:t> </a:t>
            </a:r>
            <a:r>
              <a:rPr lang="en-GB" sz="1800"/>
              <a:t>charge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owners install 8 solar panels, each with a power rating of 380 watts.</a:t>
            </a:r>
            <a:br>
              <a:rPr lang="en-GB" sz="1800"/>
            </a:br>
            <a:r>
              <a:rPr lang="en-GB" sz="1800"/>
              <a:t>The panels get 4.5 hours of peak sunlight per day, on average. </a:t>
            </a:r>
            <a:br>
              <a:rPr lang="en-GB" sz="1800"/>
            </a:br>
            <a:r>
              <a:rPr lang="en-GB" sz="1800"/>
              <a:t>The performance of the panels is reduced by 25% due to factors like shade.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How much money do the occupants save each year on their electricity bills by</a:t>
            </a:r>
            <a:r>
              <a:rPr lang="en-GB" sz="1800"/>
              <a:t> </a:t>
            </a:r>
            <a:r>
              <a:rPr lang="en-GB" sz="1800"/>
              <a:t>having solar panels?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09"/>
          <p:cNvSpPr txBox="1"/>
          <p:nvPr>
            <p:ph idx="1" type="body"/>
          </p:nvPr>
        </p:nvSpPr>
        <p:spPr>
          <a:xfrm>
            <a:off x="324000" y="759300"/>
            <a:ext cx="8496000" cy="37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 Cost = 24.5 p per kWh consumed + 60 p daily standing charge</a:t>
            </a:r>
            <a:br>
              <a:rPr lang="en-GB" sz="1800"/>
            </a:br>
            <a:r>
              <a:rPr lang="en-GB" sz="1600"/>
              <a:t>    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Use 11.8 kWh per day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</a:t>
            </a:r>
            <a:r>
              <a:rPr lang="en-GB" sz="1800"/>
              <a:t>8 solar panels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380 W</a:t>
            </a:r>
            <a:br>
              <a:rPr lang="en-GB" sz="1800"/>
            </a:br>
            <a:r>
              <a:rPr lang="en-GB" sz="1800"/>
              <a:t>    4.5 h peak sunlight</a:t>
            </a:r>
            <a:br>
              <a:rPr lang="en-GB" sz="1800"/>
            </a:br>
            <a:r>
              <a:rPr lang="en-GB" sz="1800"/>
              <a:t>    25% reduction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8" name="Google Shape;1188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189" name="Google Shape;1189;p109"/>
          <p:cNvSpPr/>
          <p:nvPr/>
        </p:nvSpPr>
        <p:spPr>
          <a:xfrm>
            <a:off x="504326" y="1125449"/>
            <a:ext cx="3509100" cy="138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109"/>
          <p:cNvSpPr txBox="1"/>
          <p:nvPr>
            <p:ph idx="4294967295" type="body"/>
          </p:nvPr>
        </p:nvSpPr>
        <p:spPr>
          <a:xfrm>
            <a:off x="1821382" y="1158297"/>
            <a:ext cx="10308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109"/>
          <p:cNvSpPr txBox="1"/>
          <p:nvPr>
            <p:ph idx="4294967295" type="body"/>
          </p:nvPr>
        </p:nvSpPr>
        <p:spPr>
          <a:xfrm>
            <a:off x="631276" y="1495250"/>
            <a:ext cx="34584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electricity produced (kWh)</a:t>
            </a:r>
            <a:endParaRPr sz="1600"/>
          </a:p>
        </p:txBody>
      </p:sp>
      <p:sp>
        <p:nvSpPr>
          <p:cNvPr id="1192" name="Google Shape;1192;p109"/>
          <p:cNvSpPr txBox="1"/>
          <p:nvPr>
            <p:ph idx="4294967295" type="body"/>
          </p:nvPr>
        </p:nvSpPr>
        <p:spPr>
          <a:xfrm>
            <a:off x="624901" y="1838150"/>
            <a:ext cx="31695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power rating of panel (kW)</a:t>
            </a:r>
            <a:endParaRPr sz="1600"/>
          </a:p>
        </p:txBody>
      </p:sp>
      <p:sp>
        <p:nvSpPr>
          <p:cNvPr id="1193" name="Google Shape;1193;p109"/>
          <p:cNvSpPr txBox="1"/>
          <p:nvPr>
            <p:ph idx="4294967295" type="body"/>
          </p:nvPr>
        </p:nvSpPr>
        <p:spPr>
          <a:xfrm>
            <a:off x="624921" y="2181050"/>
            <a:ext cx="35091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amount of peak sunlight (h)</a:t>
            </a:r>
            <a:endParaRPr sz="1600"/>
          </a:p>
        </p:txBody>
      </p:sp>
      <p:sp>
        <p:nvSpPr>
          <p:cNvPr id="1194" name="Google Shape;1194;p109"/>
          <p:cNvSpPr txBox="1"/>
          <p:nvPr>
            <p:ph idx="1" type="body"/>
          </p:nvPr>
        </p:nvSpPr>
        <p:spPr>
          <a:xfrm>
            <a:off x="4175936" y="1064093"/>
            <a:ext cx="44949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Cost if all electricity was provided by their energy supplier company: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(24.5 × 11.8 + 60) × 365 = 127 421.5 p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5" name="Google Shape;1195;p109"/>
          <p:cNvSpPr txBox="1"/>
          <p:nvPr>
            <p:ph idx="1" type="body"/>
          </p:nvPr>
        </p:nvSpPr>
        <p:spPr>
          <a:xfrm>
            <a:off x="4175936" y="2092676"/>
            <a:ext cx="4611000" cy="6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Electricity produced by 8 solar panels per day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: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0.38 × 4.5 × 0.75 × 8 = 10.26 kWh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6" name="Google Shape;1196;p109"/>
          <p:cNvSpPr txBox="1"/>
          <p:nvPr>
            <p:ph idx="1" type="body"/>
          </p:nvPr>
        </p:nvSpPr>
        <p:spPr>
          <a:xfrm>
            <a:off x="4175936" y="2861459"/>
            <a:ext cx="4494900" cy="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Remaining electricity required: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11.8 – 10.26 = 1.54 kWh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7" name="Google Shape;1197;p109"/>
          <p:cNvSpPr txBox="1"/>
          <p:nvPr>
            <p:ph idx="1" type="body"/>
          </p:nvPr>
        </p:nvSpPr>
        <p:spPr>
          <a:xfrm>
            <a:off x="4175936" y="3568741"/>
            <a:ext cx="4494900" cy="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Cost of electricity with solar panels: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(24.5 × 1.54 + 60) × 365 = 35 671.45 p</a:t>
            </a:r>
            <a:endParaRPr sz="1600"/>
          </a:p>
        </p:txBody>
      </p:sp>
      <p:sp>
        <p:nvSpPr>
          <p:cNvPr id="1198" name="Google Shape;1198;p109"/>
          <p:cNvSpPr txBox="1"/>
          <p:nvPr>
            <p:ph idx="1" type="body"/>
          </p:nvPr>
        </p:nvSpPr>
        <p:spPr>
          <a:xfrm>
            <a:off x="4175936" y="4276024"/>
            <a:ext cx="4494900" cy="6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Money saved per year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: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127421.5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–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35671.45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91 750.05 p ≈£917.50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1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electricity</a:t>
            </a:r>
            <a:endParaRPr/>
          </a:p>
        </p:txBody>
      </p:sp>
      <p:sp>
        <p:nvSpPr>
          <p:cNvPr id="1204" name="Google Shape;1204;p11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possible savings with solar panels</a:t>
            </a:r>
            <a:endParaRPr/>
          </a:p>
        </p:txBody>
      </p:sp>
      <p:sp>
        <p:nvSpPr>
          <p:cNvPr id="1205" name="Google Shape;1205;p11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06" name="Google Shape;1206;p11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pic>
        <p:nvPicPr>
          <p:cNvPr id="1207" name="Google Shape;120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36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11"/>
          <p:cNvSpPr txBox="1"/>
          <p:nvPr>
            <p:ph idx="1" type="body"/>
          </p:nvPr>
        </p:nvSpPr>
        <p:spPr>
          <a:xfrm>
            <a:off x="324000" y="759300"/>
            <a:ext cx="8496000" cy="11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Solar panels can help reduce electricity bills. </a:t>
            </a:r>
            <a:br>
              <a:rPr lang="en-GB" sz="1800"/>
            </a:br>
            <a:r>
              <a:rPr lang="en-GB" sz="1800"/>
              <a:t>However, they </a:t>
            </a:r>
            <a:r>
              <a:rPr lang="en-GB" sz="1800"/>
              <a:t>require </a:t>
            </a:r>
            <a:r>
              <a:rPr lang="en-GB" sz="1800">
                <a:solidFill>
                  <a:schemeClr val="accent2"/>
                </a:solidFill>
              </a:rPr>
              <a:t>an initial investment of money</a:t>
            </a:r>
            <a:r>
              <a:rPr lang="en-GB" sz="1800"/>
              <a:t> to buy and install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</a:t>
            </a:r>
            <a:r>
              <a:rPr lang="en-GB" sz="1800"/>
              <a:t>factors</a:t>
            </a:r>
            <a:r>
              <a:rPr lang="en-GB" sz="1800"/>
              <a:t> could be involved in the cost of installing solar panels?</a:t>
            </a:r>
            <a:endParaRPr sz="1800"/>
          </a:p>
        </p:txBody>
      </p:sp>
      <p:sp>
        <p:nvSpPr>
          <p:cNvPr id="1213" name="Google Shape;121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14" name="Google Shape;1214;p111"/>
          <p:cNvSpPr txBox="1"/>
          <p:nvPr>
            <p:ph idx="1" type="body"/>
          </p:nvPr>
        </p:nvSpPr>
        <p:spPr>
          <a:xfrm>
            <a:off x="324000" y="1942175"/>
            <a:ext cx="8496000" cy="20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Examples include: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price of each panel;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price of storage batteries;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additional equipment that is required to connect the solar panels to the house’s electricity supply (e.g. inverter, wiring, etc);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labour costs for the panels to be installed.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111"/>
          <p:cNvSpPr txBox="1"/>
          <p:nvPr>
            <p:ph idx="1" type="body"/>
          </p:nvPr>
        </p:nvSpPr>
        <p:spPr>
          <a:xfrm>
            <a:off x="324000" y="4178511"/>
            <a:ext cx="84960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While there </a:t>
            </a:r>
            <a:r>
              <a:rPr lang="en-GB" sz="1800"/>
              <a:t>is </a:t>
            </a:r>
            <a:r>
              <a:rPr lang="en-GB" sz="1800"/>
              <a:t>an upfront cost, solar panels reduce the cost of electricity bills.</a:t>
            </a:r>
            <a:br>
              <a:rPr lang="en-GB" sz="1800"/>
            </a:br>
            <a:r>
              <a:rPr lang="en-GB" sz="1800"/>
              <a:t>Eventually, the amount saved will be more than the upfront cost.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2"/>
          <p:cNvSpPr txBox="1"/>
          <p:nvPr>
            <p:ph idx="1" type="body"/>
          </p:nvPr>
        </p:nvSpPr>
        <p:spPr>
          <a:xfrm>
            <a:off x="324000" y="759300"/>
            <a:ext cx="8496000" cy="31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owners of a house are considering investing in solar panels.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plan to buy a system with 12 panels.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costs involved with buying and installing the panels are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Price per panel: £350</a:t>
            </a:r>
            <a:br>
              <a:rPr lang="en-GB" sz="1800"/>
            </a:br>
            <a:r>
              <a:rPr lang="en-GB" sz="1800"/>
              <a:t>     Storage battery:  £5000</a:t>
            </a:r>
            <a:br>
              <a:rPr lang="en-GB" sz="1800"/>
            </a:br>
            <a:r>
              <a:rPr lang="en-GB" sz="1800"/>
              <a:t>     Other required electrical equipment: £1500</a:t>
            </a:r>
            <a:br>
              <a:rPr lang="en-GB" sz="1800"/>
            </a:br>
            <a:r>
              <a:rPr lang="en-GB" sz="1800"/>
              <a:t>     Labour costs: £1200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will be the </a:t>
            </a:r>
            <a:r>
              <a:rPr lang="en-GB" sz="1800">
                <a:solidFill>
                  <a:schemeClr val="accent2"/>
                </a:solidFill>
              </a:rPr>
              <a:t>total upfront cost</a:t>
            </a:r>
            <a:r>
              <a:rPr lang="en-GB" sz="1800"/>
              <a:t> for buying and installing the solar panels?</a:t>
            </a:r>
            <a:endParaRPr sz="1800"/>
          </a:p>
        </p:txBody>
      </p:sp>
      <p:sp>
        <p:nvSpPr>
          <p:cNvPr id="1221" name="Google Shape;1221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22" name="Google Shape;1222;p112"/>
          <p:cNvSpPr txBox="1"/>
          <p:nvPr>
            <p:ph idx="1" type="body"/>
          </p:nvPr>
        </p:nvSpPr>
        <p:spPr>
          <a:xfrm>
            <a:off x="1695600" y="3959700"/>
            <a:ext cx="55023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 × 350 + 5000 + 1500 + 1200 = £11 900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3"/>
          <p:cNvSpPr txBox="1"/>
          <p:nvPr>
            <p:ph idx="1" type="body"/>
          </p:nvPr>
        </p:nvSpPr>
        <p:spPr>
          <a:xfrm>
            <a:off x="324000" y="759300"/>
            <a:ext cx="8496000" cy="21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2"/>
                </a:solidFill>
              </a:rPr>
              <a:t>upfront cost</a:t>
            </a:r>
            <a:r>
              <a:rPr lang="en-GB" sz="2000"/>
              <a:t> for buying and installing the solar panels is </a:t>
            </a:r>
            <a:r>
              <a:rPr lang="en-GB" sz="2000">
                <a:solidFill>
                  <a:schemeClr val="accent2"/>
                </a:solidFill>
              </a:rPr>
              <a:t>£11 900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After they are install, the house owner </a:t>
            </a:r>
            <a:r>
              <a:rPr lang="en-GB" sz="2000">
                <a:solidFill>
                  <a:schemeClr val="accent2"/>
                </a:solidFill>
              </a:rPr>
              <a:t>saves £1126.75 per year</a:t>
            </a:r>
            <a:r>
              <a:rPr lang="en-GB" sz="2000"/>
              <a:t> on their electricity bills.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many years will it take for their annual savings to sum to more than the upfront cost of buying and installing the solar panels?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8" name="Google Shape;1228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29" name="Google Shape;1229;p113"/>
          <p:cNvSpPr txBox="1"/>
          <p:nvPr>
            <p:ph idx="1" type="body"/>
          </p:nvPr>
        </p:nvSpPr>
        <p:spPr>
          <a:xfrm>
            <a:off x="2939789" y="3197450"/>
            <a:ext cx="3042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11 900 ÷ 1126.75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10.561…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113"/>
          <p:cNvSpPr txBox="1"/>
          <p:nvPr>
            <p:ph idx="1" type="body"/>
          </p:nvPr>
        </p:nvSpPr>
        <p:spPr>
          <a:xfrm>
            <a:off x="4714185" y="3730850"/>
            <a:ext cx="1445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≈ 11 years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owners of a house are considering investing in solar panels.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They plan to buy a system with 6 panels.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costs involved with buying and installing the panels are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Price per panel: £440</a:t>
            </a:r>
            <a:br>
              <a:rPr lang="en-GB" sz="1800"/>
            </a:br>
            <a:r>
              <a:rPr lang="en-GB" sz="1800"/>
              <a:t>     Storage battery:  £6000</a:t>
            </a:r>
            <a:br>
              <a:rPr lang="en-GB" sz="1800"/>
            </a:br>
            <a:r>
              <a:rPr lang="en-GB" sz="1800"/>
              <a:t>     Other required electrical equipment: £1200</a:t>
            </a:r>
            <a:br>
              <a:rPr lang="en-GB" sz="1800"/>
            </a:br>
            <a:r>
              <a:rPr lang="en-GB" sz="1800"/>
              <a:t>     Labour costs: £1100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will be the total upfront cost for buying and installing the solar panels?</a:t>
            </a:r>
            <a:endParaRPr sz="1800"/>
          </a:p>
        </p:txBody>
      </p:sp>
      <p:sp>
        <p:nvSpPr>
          <p:cNvPr id="1236" name="Google Shape;1236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37" name="Google Shape;1237;p114"/>
          <p:cNvSpPr txBox="1"/>
          <p:nvPr>
            <p:ph idx="1" type="body"/>
          </p:nvPr>
        </p:nvSpPr>
        <p:spPr>
          <a:xfrm>
            <a:off x="1695600" y="4264500"/>
            <a:ext cx="55023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440 + 6000 + 1200 + 1100 = £10 940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15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2"/>
                </a:solidFill>
              </a:rPr>
              <a:t>upfront cost</a:t>
            </a:r>
            <a:r>
              <a:rPr lang="en-GB" sz="2000"/>
              <a:t> for buying and installing the solar panels is </a:t>
            </a:r>
            <a:r>
              <a:rPr lang="en-GB" sz="2000">
                <a:solidFill>
                  <a:schemeClr val="accent2"/>
                </a:solidFill>
              </a:rPr>
              <a:t>£10 940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After they are install, the house owner </a:t>
            </a:r>
            <a:r>
              <a:rPr lang="en-GB" sz="2000">
                <a:solidFill>
                  <a:schemeClr val="accent2"/>
                </a:solidFill>
              </a:rPr>
              <a:t>saves £917.51 per year</a:t>
            </a:r>
            <a:r>
              <a:rPr lang="en-GB" sz="2000"/>
              <a:t> on their electricity bills.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years will it take for their annual savings to sum to more than the upfront cost of buying and installing the solar panels?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3" name="Google Shape;1243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44" name="Google Shape;1244;p115"/>
          <p:cNvSpPr txBox="1"/>
          <p:nvPr>
            <p:ph idx="1" type="body"/>
          </p:nvPr>
        </p:nvSpPr>
        <p:spPr>
          <a:xfrm>
            <a:off x="2939789" y="3197450"/>
            <a:ext cx="30423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10 940 ÷ 917.51 = 11.923…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115"/>
          <p:cNvSpPr txBox="1"/>
          <p:nvPr>
            <p:ph idx="1" type="body"/>
          </p:nvPr>
        </p:nvSpPr>
        <p:spPr>
          <a:xfrm>
            <a:off x="4587131" y="3730850"/>
            <a:ext cx="14457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≈ 12 years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251" name="Google Shape;1251;p116"/>
          <p:cNvSpPr txBox="1"/>
          <p:nvPr>
            <p:ph idx="1" type="body"/>
          </p:nvPr>
        </p:nvSpPr>
        <p:spPr>
          <a:xfrm>
            <a:off x="324000" y="2643217"/>
            <a:ext cx="8496000" cy="22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How much will it cost in total to buy and install the solar panels?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Their annual electricity bill without solar panels was £1275.</a:t>
            </a:r>
            <a:br>
              <a:rPr lang="en-GB" sz="1800"/>
            </a:br>
            <a:r>
              <a:rPr lang="en-GB" sz="1800"/>
              <a:t>     Their annual electricity bill with solar panels is £350.</a:t>
            </a:r>
            <a:br>
              <a:rPr lang="en-GB" sz="1800"/>
            </a:br>
            <a:r>
              <a:rPr lang="en-GB" sz="1800"/>
              <a:t>     How much money do they save per year by having solar panels?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How many years will it take for their annual savings to sum to more than the upfront cost of buying and installing the solar panels?</a:t>
            </a:r>
            <a:endParaRPr sz="1800"/>
          </a:p>
        </p:txBody>
      </p:sp>
      <p:sp>
        <p:nvSpPr>
          <p:cNvPr id="1252" name="Google Shape;1252;p116"/>
          <p:cNvSpPr txBox="1"/>
          <p:nvPr>
            <p:ph idx="1" type="body"/>
          </p:nvPr>
        </p:nvSpPr>
        <p:spPr>
          <a:xfrm>
            <a:off x="324000" y="683100"/>
            <a:ext cx="8496000" cy="6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 The occupants of a house buy 8 solar panels.</a:t>
            </a:r>
            <a:endParaRPr sz="1800"/>
          </a:p>
          <a:p>
            <a:pPr indent="0" lvl="0" marL="314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costs involved with buying and installing the panels are shown below.</a:t>
            </a:r>
            <a:endParaRPr sz="1800"/>
          </a:p>
        </p:txBody>
      </p:sp>
      <p:sp>
        <p:nvSpPr>
          <p:cNvPr id="1253" name="Google Shape;1253;p116"/>
          <p:cNvSpPr txBox="1"/>
          <p:nvPr/>
        </p:nvSpPr>
        <p:spPr>
          <a:xfrm>
            <a:off x="1447800" y="1219200"/>
            <a:ext cx="56187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 per panel: £200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battery:  £4000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Other required electrical equipment: £1700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Labour costs: £1500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17"/>
          <p:cNvSpPr txBox="1"/>
          <p:nvPr>
            <p:ph idx="1" type="body"/>
          </p:nvPr>
        </p:nvSpPr>
        <p:spPr>
          <a:xfrm>
            <a:off x="324000" y="759300"/>
            <a:ext cx="8237700" cy="22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The occupants of a house are considering investing in solar panels.</a:t>
            </a:r>
            <a:br>
              <a:rPr lang="en-GB" sz="1600"/>
            </a:br>
            <a:r>
              <a:rPr lang="en-GB" sz="1600"/>
              <a:t>    Previously, they obtained all their electricity from their energy supplier company, </a:t>
            </a:r>
            <a:br>
              <a:rPr lang="en-GB" sz="1600"/>
            </a:br>
            <a:r>
              <a:rPr lang="en-GB" sz="1600"/>
              <a:t>    with an annual bill of £1400.</a:t>
            </a:r>
            <a:br>
              <a:rPr lang="en-GB" sz="1600"/>
            </a:br>
            <a:r>
              <a:rPr lang="en-GB" sz="1600"/>
              <a:t>    The solar panels cost £8400 to buy and install.</a:t>
            </a:r>
            <a:br>
              <a:rPr lang="en-GB" sz="1600"/>
            </a:br>
            <a:r>
              <a:rPr lang="en-GB" sz="1600"/>
              <a:t>    Once the panels are installed, their annual electricity bill is estimated to be £300.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Complete the table below to show the total money spent after each year.</a:t>
            </a:r>
            <a:endParaRPr sz="1600"/>
          </a:p>
        </p:txBody>
      </p:sp>
      <p:sp>
        <p:nvSpPr>
          <p:cNvPr id="1259" name="Google Shape;1259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graphicFrame>
        <p:nvGraphicFramePr>
          <p:cNvPr id="1260" name="Google Shape;1260;p117"/>
          <p:cNvGraphicFramePr/>
          <p:nvPr/>
        </p:nvGraphicFramePr>
        <p:xfrm>
          <a:off x="581734" y="2582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{FEB863F5-8600-49AE-8D23-AD103AD74700}</a:tableStyleId>
              </a:tblPr>
              <a:tblGrid>
                <a:gridCol w="2080950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years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without solar (£ 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 solar 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(£ 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825" y="787661"/>
            <a:ext cx="3651250" cy="36229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118"/>
          <p:cNvSpPr txBox="1"/>
          <p:nvPr>
            <p:ph idx="1" type="body"/>
          </p:nvPr>
        </p:nvSpPr>
        <p:spPr>
          <a:xfrm>
            <a:off x="4800600" y="759300"/>
            <a:ext cx="40194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Use your answer from part (a) to plot </a:t>
            </a:r>
            <a:br>
              <a:rPr lang="en-GB" sz="1600"/>
            </a:br>
            <a:r>
              <a:rPr lang="en-GB" sz="1600"/>
              <a:t>    a graph showing total money spent </a:t>
            </a:r>
            <a:br>
              <a:rPr lang="en-GB" sz="1600"/>
            </a:br>
            <a:r>
              <a:rPr lang="en-GB" sz="1600"/>
              <a:t>    after each year </a:t>
            </a:r>
            <a:r>
              <a:rPr lang="en-GB" sz="1600">
                <a:solidFill>
                  <a:schemeClr val="accent2"/>
                </a:solidFill>
              </a:rPr>
              <a:t>without</a:t>
            </a:r>
            <a:r>
              <a:rPr lang="en-GB" sz="1600"/>
              <a:t> solar panels.</a:t>
            </a:r>
            <a:endParaRPr sz="1600"/>
          </a:p>
        </p:txBody>
      </p:sp>
      <p:sp>
        <p:nvSpPr>
          <p:cNvPr id="1267" name="Google Shape;1267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cxnSp>
        <p:nvCxnSpPr>
          <p:cNvPr id="1268" name="Google Shape;1268;p118"/>
          <p:cNvCxnSpPr/>
          <p:nvPr/>
        </p:nvCxnSpPr>
        <p:spPr>
          <a:xfrm>
            <a:off x="878858" y="4410633"/>
            <a:ext cx="395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9" name="Google Shape;1269;p118"/>
          <p:cNvCxnSpPr/>
          <p:nvPr/>
        </p:nvCxnSpPr>
        <p:spPr>
          <a:xfrm rot="10800000">
            <a:off x="878858" y="624333"/>
            <a:ext cx="0" cy="378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0" name="Google Shape;1270;p118"/>
          <p:cNvSpPr txBox="1"/>
          <p:nvPr>
            <p:ph idx="1" type="body"/>
          </p:nvPr>
        </p:nvSpPr>
        <p:spPr>
          <a:xfrm>
            <a:off x="823250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271" name="Google Shape;1271;p118"/>
          <p:cNvSpPr txBox="1"/>
          <p:nvPr>
            <p:ph idx="1" type="body"/>
          </p:nvPr>
        </p:nvSpPr>
        <p:spPr>
          <a:xfrm>
            <a:off x="120769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272" name="Google Shape;1272;p118"/>
          <p:cNvSpPr txBox="1"/>
          <p:nvPr>
            <p:ph idx="1" type="body"/>
          </p:nvPr>
        </p:nvSpPr>
        <p:spPr>
          <a:xfrm>
            <a:off x="155619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273" name="Google Shape;1273;p118"/>
          <p:cNvSpPr txBox="1"/>
          <p:nvPr>
            <p:ph idx="1" type="body"/>
          </p:nvPr>
        </p:nvSpPr>
        <p:spPr>
          <a:xfrm>
            <a:off x="1922667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274" name="Google Shape;1274;p118"/>
          <p:cNvSpPr txBox="1"/>
          <p:nvPr>
            <p:ph idx="1" type="body"/>
          </p:nvPr>
        </p:nvSpPr>
        <p:spPr>
          <a:xfrm>
            <a:off x="2289139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75" name="Google Shape;1275;p118"/>
          <p:cNvSpPr txBox="1"/>
          <p:nvPr>
            <p:ph idx="1" type="body"/>
          </p:nvPr>
        </p:nvSpPr>
        <p:spPr>
          <a:xfrm>
            <a:off x="2655611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276" name="Google Shape;1276;p118"/>
          <p:cNvSpPr txBox="1"/>
          <p:nvPr>
            <p:ph idx="1" type="body"/>
          </p:nvPr>
        </p:nvSpPr>
        <p:spPr>
          <a:xfrm>
            <a:off x="302208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277" name="Google Shape;1277;p118"/>
          <p:cNvSpPr txBox="1"/>
          <p:nvPr>
            <p:ph idx="1" type="body"/>
          </p:nvPr>
        </p:nvSpPr>
        <p:spPr>
          <a:xfrm>
            <a:off x="3388556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278" name="Google Shape;1278;p118"/>
          <p:cNvSpPr txBox="1"/>
          <p:nvPr>
            <p:ph idx="1" type="body"/>
          </p:nvPr>
        </p:nvSpPr>
        <p:spPr>
          <a:xfrm>
            <a:off x="3737057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279" name="Google Shape;1279;p118"/>
          <p:cNvSpPr txBox="1"/>
          <p:nvPr>
            <p:ph idx="1" type="body"/>
          </p:nvPr>
        </p:nvSpPr>
        <p:spPr>
          <a:xfrm>
            <a:off x="689388" y="4269633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280" name="Google Shape;1280;p118"/>
          <p:cNvSpPr txBox="1"/>
          <p:nvPr>
            <p:ph idx="1" type="body"/>
          </p:nvPr>
        </p:nvSpPr>
        <p:spPr>
          <a:xfrm>
            <a:off x="689388" y="3970542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281" name="Google Shape;1281;p118"/>
          <p:cNvSpPr txBox="1"/>
          <p:nvPr>
            <p:ph idx="1" type="body"/>
          </p:nvPr>
        </p:nvSpPr>
        <p:spPr>
          <a:xfrm>
            <a:off x="689388" y="3671451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282" name="Google Shape;1282;p118"/>
          <p:cNvSpPr txBox="1"/>
          <p:nvPr>
            <p:ph idx="1" type="body"/>
          </p:nvPr>
        </p:nvSpPr>
        <p:spPr>
          <a:xfrm>
            <a:off x="689388" y="3372360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283" name="Google Shape;1283;p118"/>
          <p:cNvSpPr txBox="1"/>
          <p:nvPr>
            <p:ph idx="1" type="body"/>
          </p:nvPr>
        </p:nvSpPr>
        <p:spPr>
          <a:xfrm>
            <a:off x="689388" y="3073269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84" name="Google Shape;1284;p118"/>
          <p:cNvSpPr txBox="1"/>
          <p:nvPr>
            <p:ph idx="1" type="body"/>
          </p:nvPr>
        </p:nvSpPr>
        <p:spPr>
          <a:xfrm>
            <a:off x="689388" y="2774178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285" name="Google Shape;1285;p118"/>
          <p:cNvSpPr txBox="1"/>
          <p:nvPr>
            <p:ph idx="1" type="body"/>
          </p:nvPr>
        </p:nvSpPr>
        <p:spPr>
          <a:xfrm>
            <a:off x="689388" y="2475087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286" name="Google Shape;1286;p118"/>
          <p:cNvSpPr txBox="1"/>
          <p:nvPr>
            <p:ph idx="1" type="body"/>
          </p:nvPr>
        </p:nvSpPr>
        <p:spPr>
          <a:xfrm>
            <a:off x="689388" y="2175996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287" name="Google Shape;1287;p118"/>
          <p:cNvSpPr txBox="1"/>
          <p:nvPr>
            <p:ph idx="1" type="body"/>
          </p:nvPr>
        </p:nvSpPr>
        <p:spPr>
          <a:xfrm>
            <a:off x="689388" y="1876905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288" name="Google Shape;1288;p118"/>
          <p:cNvSpPr txBox="1"/>
          <p:nvPr>
            <p:ph idx="1" type="body"/>
          </p:nvPr>
        </p:nvSpPr>
        <p:spPr>
          <a:xfrm>
            <a:off x="689388" y="157781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289" name="Google Shape;1289;p118"/>
          <p:cNvSpPr txBox="1"/>
          <p:nvPr>
            <p:ph idx="1" type="body"/>
          </p:nvPr>
        </p:nvSpPr>
        <p:spPr>
          <a:xfrm>
            <a:off x="582716" y="1278723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290" name="Google Shape;1290;p118"/>
          <p:cNvSpPr txBox="1"/>
          <p:nvPr>
            <p:ph idx="1" type="body"/>
          </p:nvPr>
        </p:nvSpPr>
        <p:spPr>
          <a:xfrm>
            <a:off x="1900269" y="4577525"/>
            <a:ext cx="1825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years</a:t>
            </a:r>
            <a:endParaRPr sz="1600"/>
          </a:p>
        </p:txBody>
      </p:sp>
      <p:sp>
        <p:nvSpPr>
          <p:cNvPr id="1291" name="Google Shape;1291;p118"/>
          <p:cNvSpPr txBox="1"/>
          <p:nvPr>
            <p:ph idx="1" type="body"/>
          </p:nvPr>
        </p:nvSpPr>
        <p:spPr>
          <a:xfrm rot="-5400000">
            <a:off x="-1307525" y="2458017"/>
            <a:ext cx="3403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total money spent (£ thousands)</a:t>
            </a:r>
            <a:endParaRPr sz="1600"/>
          </a:p>
        </p:txBody>
      </p:sp>
      <p:sp>
        <p:nvSpPr>
          <p:cNvPr id="1292" name="Google Shape;1292;p118"/>
          <p:cNvSpPr txBox="1"/>
          <p:nvPr>
            <p:ph idx="1" type="body"/>
          </p:nvPr>
        </p:nvSpPr>
        <p:spPr>
          <a:xfrm>
            <a:off x="4800600" y="1978500"/>
            <a:ext cx="4248000" cy="8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Use your answer from part (a) to plot </a:t>
            </a:r>
            <a:br>
              <a:rPr lang="en-GB" sz="1600"/>
            </a:br>
            <a:r>
              <a:rPr lang="en-GB" sz="1600"/>
              <a:t>    a graph showing total money spent </a:t>
            </a:r>
            <a:br>
              <a:rPr lang="en-GB" sz="1600"/>
            </a:br>
            <a:r>
              <a:rPr lang="en-GB" sz="1600"/>
              <a:t>    after each year </a:t>
            </a:r>
            <a:r>
              <a:rPr lang="en-GB" sz="1600">
                <a:solidFill>
                  <a:schemeClr val="accent2"/>
                </a:solidFill>
              </a:rPr>
              <a:t>with</a:t>
            </a:r>
            <a:r>
              <a:rPr lang="en-GB" sz="1600"/>
              <a:t> solar panels.</a:t>
            </a:r>
            <a:endParaRPr sz="1600"/>
          </a:p>
        </p:txBody>
      </p:sp>
      <p:sp>
        <p:nvSpPr>
          <p:cNvPr id="1293" name="Google Shape;1293;p118"/>
          <p:cNvSpPr txBox="1"/>
          <p:nvPr>
            <p:ph idx="1" type="body"/>
          </p:nvPr>
        </p:nvSpPr>
        <p:spPr>
          <a:xfrm>
            <a:off x="4800600" y="3197700"/>
            <a:ext cx="42480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How many years will it take for the </a:t>
            </a:r>
            <a:br>
              <a:rPr lang="en-GB" sz="1600"/>
            </a:br>
            <a:r>
              <a:rPr lang="en-GB" sz="1600"/>
              <a:t>    solar panels to pay for themselves?</a:t>
            </a:r>
            <a:endParaRPr sz="1600"/>
          </a:p>
        </p:txBody>
      </p:sp>
      <p:sp>
        <p:nvSpPr>
          <p:cNvPr id="1294" name="Google Shape;1294;p118"/>
          <p:cNvSpPr txBox="1"/>
          <p:nvPr>
            <p:ph idx="1" type="body"/>
          </p:nvPr>
        </p:nvSpPr>
        <p:spPr>
          <a:xfrm>
            <a:off x="582716" y="979632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</a:t>
            </a:r>
            <a:endParaRPr sz="1600"/>
          </a:p>
        </p:txBody>
      </p:sp>
      <p:sp>
        <p:nvSpPr>
          <p:cNvPr id="1295" name="Google Shape;1295;p118"/>
          <p:cNvSpPr txBox="1"/>
          <p:nvPr>
            <p:ph idx="1" type="body"/>
          </p:nvPr>
        </p:nvSpPr>
        <p:spPr>
          <a:xfrm>
            <a:off x="582716" y="680541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296" name="Google Shape;1296;p118"/>
          <p:cNvSpPr txBox="1"/>
          <p:nvPr>
            <p:ph idx="1" type="body"/>
          </p:nvPr>
        </p:nvSpPr>
        <p:spPr>
          <a:xfrm>
            <a:off x="4091099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297" name="Google Shape;1297;p118"/>
          <p:cNvSpPr txBox="1"/>
          <p:nvPr>
            <p:ph idx="1" type="body"/>
          </p:nvPr>
        </p:nvSpPr>
        <p:spPr>
          <a:xfrm>
            <a:off x="4391390" y="4385850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19"/>
          <p:cNvSpPr txBox="1"/>
          <p:nvPr>
            <p:ph idx="1" type="body"/>
          </p:nvPr>
        </p:nvSpPr>
        <p:spPr>
          <a:xfrm>
            <a:off x="324000" y="2490818"/>
            <a:ext cx="84960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much will it cost in total to buy and install the solar panels?</a:t>
            </a:r>
            <a:endParaRPr sz="1800"/>
          </a:p>
        </p:txBody>
      </p:sp>
      <p:sp>
        <p:nvSpPr>
          <p:cNvPr id="1303" name="Google Shape;1303;p119"/>
          <p:cNvSpPr txBox="1"/>
          <p:nvPr>
            <p:ph idx="1" type="body"/>
          </p:nvPr>
        </p:nvSpPr>
        <p:spPr>
          <a:xfrm>
            <a:off x="324000" y="2948020"/>
            <a:ext cx="84960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Their annual electricity bill without solar panels was £1275.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Their annual electricity bill with solar panels is £350.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much money do they save per year by having solar panels?</a:t>
            </a:r>
            <a:endParaRPr sz="1800"/>
          </a:p>
        </p:txBody>
      </p:sp>
      <p:sp>
        <p:nvSpPr>
          <p:cNvPr id="1304" name="Google Shape;1304;p119"/>
          <p:cNvSpPr txBox="1"/>
          <p:nvPr>
            <p:ph idx="1" type="body"/>
          </p:nvPr>
        </p:nvSpPr>
        <p:spPr>
          <a:xfrm>
            <a:off x="324000" y="3938619"/>
            <a:ext cx="84960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How many years will it take for their annual savings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sum to more than the upfront cost of buying and</a:t>
            </a:r>
            <a:endParaRPr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installing the solar panels?</a:t>
            </a:r>
            <a:endParaRPr sz="1800"/>
          </a:p>
        </p:txBody>
      </p:sp>
      <p:sp>
        <p:nvSpPr>
          <p:cNvPr id="1305" name="Google Shape;1305;p119"/>
          <p:cNvSpPr txBox="1"/>
          <p:nvPr>
            <p:ph idx="1" type="body"/>
          </p:nvPr>
        </p:nvSpPr>
        <p:spPr>
          <a:xfrm>
            <a:off x="324000" y="606900"/>
            <a:ext cx="8496000" cy="7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 The occupants of a house buy 8 solar panels. </a:t>
            </a:r>
            <a:br>
              <a:rPr lang="en-GB" sz="1800"/>
            </a:br>
            <a:r>
              <a:rPr lang="en-GB" sz="1800"/>
              <a:t>     The costs involved with buying and installing the panels are shown below.</a:t>
            </a:r>
            <a:endParaRPr sz="1800"/>
          </a:p>
        </p:txBody>
      </p:sp>
      <p:sp>
        <p:nvSpPr>
          <p:cNvPr id="1306" name="Google Shape;1306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sp>
        <p:nvSpPr>
          <p:cNvPr id="1307" name="Google Shape;1307;p119"/>
          <p:cNvSpPr txBox="1"/>
          <p:nvPr/>
        </p:nvSpPr>
        <p:spPr>
          <a:xfrm>
            <a:off x="7754100" y="2382587"/>
            <a:ext cx="14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£8800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119"/>
          <p:cNvSpPr txBox="1"/>
          <p:nvPr/>
        </p:nvSpPr>
        <p:spPr>
          <a:xfrm>
            <a:off x="7068300" y="3112571"/>
            <a:ext cx="14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£925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119"/>
          <p:cNvSpPr txBox="1"/>
          <p:nvPr/>
        </p:nvSpPr>
        <p:spPr>
          <a:xfrm>
            <a:off x="6477850" y="3885466"/>
            <a:ext cx="27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8800 ÷ 925 = 9.513…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119"/>
          <p:cNvSpPr txBox="1"/>
          <p:nvPr/>
        </p:nvSpPr>
        <p:spPr>
          <a:xfrm>
            <a:off x="6477850" y="4234441"/>
            <a:ext cx="18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After 10 years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1" name="Google Shape;1311;p119"/>
          <p:cNvSpPr txBox="1"/>
          <p:nvPr/>
        </p:nvSpPr>
        <p:spPr>
          <a:xfrm>
            <a:off x="1447800" y="1143000"/>
            <a:ext cx="56187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Price per panel: £200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battery:  £4000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Other required electrical equipment: £1700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Labour costs: £1500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The occupants of a house are considering investing in solar panels.</a:t>
            </a:r>
            <a:br>
              <a:rPr lang="en-GB" sz="1600"/>
            </a:br>
            <a:r>
              <a:rPr lang="en-GB" sz="1600"/>
              <a:t>    Previously, they obtained all their electricity from their energy supplier company, </a:t>
            </a:r>
            <a:br>
              <a:rPr lang="en-GB" sz="1600"/>
            </a:br>
            <a:r>
              <a:rPr lang="en-GB" sz="1600"/>
              <a:t>    with an annual bill of £1400.</a:t>
            </a:r>
            <a:br>
              <a:rPr lang="en-GB" sz="1600"/>
            </a:br>
            <a:r>
              <a:rPr lang="en-GB" sz="1600"/>
              <a:t>    The solar panels cost £8400 to buy and install.</a:t>
            </a:r>
            <a:br>
              <a:rPr lang="en-GB" sz="1600"/>
            </a:br>
            <a:r>
              <a:rPr lang="en-GB" sz="1600"/>
              <a:t>    Once the panels are installed, their annual electricity bill is estimated to be £300.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a) Complete the table below to show the total money spent after each year.</a:t>
            </a:r>
            <a:endParaRPr sz="1600"/>
          </a:p>
        </p:txBody>
      </p:sp>
      <p:sp>
        <p:nvSpPr>
          <p:cNvPr id="1317" name="Google Shape;1317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graphicFrame>
        <p:nvGraphicFramePr>
          <p:cNvPr id="1318" name="Google Shape;1318;p120"/>
          <p:cNvGraphicFramePr/>
          <p:nvPr/>
        </p:nvGraphicFramePr>
        <p:xfrm>
          <a:off x="581734" y="2582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{FEB863F5-8600-49AE-8D23-AD103AD74700}</a:tableStyleId>
              </a:tblPr>
              <a:tblGrid>
                <a:gridCol w="2080950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  <a:gridCol w="559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years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without solar (£ 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 solar (£ thousands)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9" name="Google Shape;1319;p120"/>
          <p:cNvSpPr txBox="1"/>
          <p:nvPr>
            <p:ph idx="1" type="body"/>
          </p:nvPr>
        </p:nvSpPr>
        <p:spPr>
          <a:xfrm>
            <a:off x="3873375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2.8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120"/>
          <p:cNvSpPr txBox="1"/>
          <p:nvPr>
            <p:ph idx="1" type="body"/>
          </p:nvPr>
        </p:nvSpPr>
        <p:spPr>
          <a:xfrm>
            <a:off x="4414779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120"/>
          <p:cNvSpPr txBox="1"/>
          <p:nvPr>
            <p:ph idx="1" type="body"/>
          </p:nvPr>
        </p:nvSpPr>
        <p:spPr>
          <a:xfrm>
            <a:off x="4984358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5.6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120"/>
          <p:cNvSpPr txBox="1"/>
          <p:nvPr>
            <p:ph idx="1" type="body"/>
          </p:nvPr>
        </p:nvSpPr>
        <p:spPr>
          <a:xfrm>
            <a:off x="5541771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120"/>
          <p:cNvSpPr txBox="1"/>
          <p:nvPr>
            <p:ph idx="1" type="body"/>
          </p:nvPr>
        </p:nvSpPr>
        <p:spPr>
          <a:xfrm>
            <a:off x="6091179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8.4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120"/>
          <p:cNvSpPr txBox="1"/>
          <p:nvPr>
            <p:ph idx="1" type="body"/>
          </p:nvPr>
        </p:nvSpPr>
        <p:spPr>
          <a:xfrm>
            <a:off x="6668762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9.8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120"/>
          <p:cNvSpPr txBox="1"/>
          <p:nvPr>
            <p:ph idx="1" type="body"/>
          </p:nvPr>
        </p:nvSpPr>
        <p:spPr>
          <a:xfrm>
            <a:off x="7230337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11.2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120"/>
          <p:cNvSpPr txBox="1"/>
          <p:nvPr>
            <p:ph idx="1" type="body"/>
          </p:nvPr>
        </p:nvSpPr>
        <p:spPr>
          <a:xfrm>
            <a:off x="7783898" y="3105650"/>
            <a:ext cx="4761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12.6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7" name="Google Shape;1327;p120"/>
          <p:cNvSpPr txBox="1"/>
          <p:nvPr>
            <p:ph idx="1" type="body"/>
          </p:nvPr>
        </p:nvSpPr>
        <p:spPr>
          <a:xfrm>
            <a:off x="8349325" y="3105650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120"/>
          <p:cNvSpPr txBox="1"/>
          <p:nvPr>
            <p:ph idx="1" type="body"/>
          </p:nvPr>
        </p:nvSpPr>
        <p:spPr>
          <a:xfrm>
            <a:off x="3873375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120"/>
          <p:cNvSpPr txBox="1"/>
          <p:nvPr>
            <p:ph idx="1" type="body"/>
          </p:nvPr>
        </p:nvSpPr>
        <p:spPr>
          <a:xfrm>
            <a:off x="4414779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0" name="Google Shape;1330;p120"/>
          <p:cNvSpPr txBox="1"/>
          <p:nvPr>
            <p:ph idx="1" type="body"/>
          </p:nvPr>
        </p:nvSpPr>
        <p:spPr>
          <a:xfrm>
            <a:off x="4984358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120"/>
          <p:cNvSpPr txBox="1"/>
          <p:nvPr>
            <p:ph idx="1" type="body"/>
          </p:nvPr>
        </p:nvSpPr>
        <p:spPr>
          <a:xfrm>
            <a:off x="5541771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120"/>
          <p:cNvSpPr txBox="1"/>
          <p:nvPr>
            <p:ph idx="1" type="body"/>
          </p:nvPr>
        </p:nvSpPr>
        <p:spPr>
          <a:xfrm>
            <a:off x="6091179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10.2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3" name="Google Shape;1333;p120"/>
          <p:cNvSpPr txBox="1"/>
          <p:nvPr>
            <p:ph idx="1" type="body"/>
          </p:nvPr>
        </p:nvSpPr>
        <p:spPr>
          <a:xfrm>
            <a:off x="6668762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10.5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4" name="Google Shape;1334;p120"/>
          <p:cNvSpPr txBox="1"/>
          <p:nvPr>
            <p:ph idx="1" type="body"/>
          </p:nvPr>
        </p:nvSpPr>
        <p:spPr>
          <a:xfrm>
            <a:off x="7230322" y="3759425"/>
            <a:ext cx="4761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10.8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5" name="Google Shape;1335;p120"/>
          <p:cNvSpPr txBox="1"/>
          <p:nvPr>
            <p:ph idx="1" type="body"/>
          </p:nvPr>
        </p:nvSpPr>
        <p:spPr>
          <a:xfrm>
            <a:off x="7783898" y="3759433"/>
            <a:ext cx="4761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11.1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6" name="Google Shape;1336;p120"/>
          <p:cNvSpPr txBox="1"/>
          <p:nvPr>
            <p:ph idx="1" type="body"/>
          </p:nvPr>
        </p:nvSpPr>
        <p:spPr>
          <a:xfrm>
            <a:off x="8349325" y="3759433"/>
            <a:ext cx="3768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11.4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825" y="787661"/>
            <a:ext cx="3651250" cy="3622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cost of installing solar panels</a:t>
            </a:r>
            <a:endParaRPr/>
          </a:p>
        </p:txBody>
      </p:sp>
      <p:cxnSp>
        <p:nvCxnSpPr>
          <p:cNvPr id="1343" name="Google Shape;1343;p121"/>
          <p:cNvCxnSpPr/>
          <p:nvPr/>
        </p:nvCxnSpPr>
        <p:spPr>
          <a:xfrm>
            <a:off x="878858" y="4410633"/>
            <a:ext cx="3955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4" name="Google Shape;1344;p121"/>
          <p:cNvCxnSpPr/>
          <p:nvPr/>
        </p:nvCxnSpPr>
        <p:spPr>
          <a:xfrm rot="10800000">
            <a:off x="878858" y="624333"/>
            <a:ext cx="0" cy="378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5" name="Google Shape;1345;p121"/>
          <p:cNvSpPr txBox="1"/>
          <p:nvPr>
            <p:ph idx="1" type="body"/>
          </p:nvPr>
        </p:nvSpPr>
        <p:spPr>
          <a:xfrm>
            <a:off x="823250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346" name="Google Shape;1346;p121"/>
          <p:cNvSpPr txBox="1"/>
          <p:nvPr>
            <p:ph idx="1" type="body"/>
          </p:nvPr>
        </p:nvSpPr>
        <p:spPr>
          <a:xfrm>
            <a:off x="120769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347" name="Google Shape;1347;p121"/>
          <p:cNvSpPr txBox="1"/>
          <p:nvPr>
            <p:ph idx="1" type="body"/>
          </p:nvPr>
        </p:nvSpPr>
        <p:spPr>
          <a:xfrm>
            <a:off x="155619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348" name="Google Shape;1348;p121"/>
          <p:cNvSpPr txBox="1"/>
          <p:nvPr>
            <p:ph idx="1" type="body"/>
          </p:nvPr>
        </p:nvSpPr>
        <p:spPr>
          <a:xfrm>
            <a:off x="1922667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349" name="Google Shape;1349;p121"/>
          <p:cNvSpPr txBox="1"/>
          <p:nvPr>
            <p:ph idx="1" type="body"/>
          </p:nvPr>
        </p:nvSpPr>
        <p:spPr>
          <a:xfrm>
            <a:off x="2289139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350" name="Google Shape;1350;p121"/>
          <p:cNvSpPr txBox="1"/>
          <p:nvPr>
            <p:ph idx="1" type="body"/>
          </p:nvPr>
        </p:nvSpPr>
        <p:spPr>
          <a:xfrm>
            <a:off x="2655611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351" name="Google Shape;1351;p121"/>
          <p:cNvSpPr txBox="1"/>
          <p:nvPr>
            <p:ph idx="1" type="body"/>
          </p:nvPr>
        </p:nvSpPr>
        <p:spPr>
          <a:xfrm>
            <a:off x="3022084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352" name="Google Shape;1352;p121"/>
          <p:cNvSpPr txBox="1"/>
          <p:nvPr>
            <p:ph idx="1" type="body"/>
          </p:nvPr>
        </p:nvSpPr>
        <p:spPr>
          <a:xfrm>
            <a:off x="3388556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353" name="Google Shape;1353;p121"/>
          <p:cNvSpPr txBox="1"/>
          <p:nvPr>
            <p:ph idx="1" type="body"/>
          </p:nvPr>
        </p:nvSpPr>
        <p:spPr>
          <a:xfrm>
            <a:off x="3737057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354" name="Google Shape;1354;p121"/>
          <p:cNvSpPr txBox="1"/>
          <p:nvPr>
            <p:ph idx="1" type="body"/>
          </p:nvPr>
        </p:nvSpPr>
        <p:spPr>
          <a:xfrm>
            <a:off x="689388" y="4269633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355" name="Google Shape;1355;p121"/>
          <p:cNvSpPr txBox="1"/>
          <p:nvPr>
            <p:ph idx="1" type="body"/>
          </p:nvPr>
        </p:nvSpPr>
        <p:spPr>
          <a:xfrm>
            <a:off x="689388" y="3970542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356" name="Google Shape;1356;p121"/>
          <p:cNvSpPr txBox="1"/>
          <p:nvPr>
            <p:ph idx="1" type="body"/>
          </p:nvPr>
        </p:nvSpPr>
        <p:spPr>
          <a:xfrm>
            <a:off x="689388" y="3671451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357" name="Google Shape;1357;p121"/>
          <p:cNvSpPr txBox="1"/>
          <p:nvPr>
            <p:ph idx="1" type="body"/>
          </p:nvPr>
        </p:nvSpPr>
        <p:spPr>
          <a:xfrm>
            <a:off x="689388" y="3372360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358" name="Google Shape;1358;p121"/>
          <p:cNvSpPr txBox="1"/>
          <p:nvPr>
            <p:ph idx="1" type="body"/>
          </p:nvPr>
        </p:nvSpPr>
        <p:spPr>
          <a:xfrm>
            <a:off x="689388" y="3073269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359" name="Google Shape;1359;p121"/>
          <p:cNvSpPr txBox="1"/>
          <p:nvPr>
            <p:ph idx="1" type="body"/>
          </p:nvPr>
        </p:nvSpPr>
        <p:spPr>
          <a:xfrm>
            <a:off x="689388" y="2774178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360" name="Google Shape;1360;p121"/>
          <p:cNvSpPr txBox="1"/>
          <p:nvPr>
            <p:ph idx="1" type="body"/>
          </p:nvPr>
        </p:nvSpPr>
        <p:spPr>
          <a:xfrm>
            <a:off x="689388" y="2475087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361" name="Google Shape;1361;p121"/>
          <p:cNvSpPr txBox="1"/>
          <p:nvPr>
            <p:ph idx="1" type="body"/>
          </p:nvPr>
        </p:nvSpPr>
        <p:spPr>
          <a:xfrm>
            <a:off x="689388" y="2175996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362" name="Google Shape;1362;p121"/>
          <p:cNvSpPr txBox="1"/>
          <p:nvPr>
            <p:ph idx="1" type="body"/>
          </p:nvPr>
        </p:nvSpPr>
        <p:spPr>
          <a:xfrm>
            <a:off x="689388" y="1876905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363" name="Google Shape;1363;p121"/>
          <p:cNvSpPr txBox="1"/>
          <p:nvPr>
            <p:ph idx="1" type="body"/>
          </p:nvPr>
        </p:nvSpPr>
        <p:spPr>
          <a:xfrm>
            <a:off x="689388" y="157781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364" name="Google Shape;1364;p121"/>
          <p:cNvSpPr txBox="1"/>
          <p:nvPr>
            <p:ph idx="1" type="body"/>
          </p:nvPr>
        </p:nvSpPr>
        <p:spPr>
          <a:xfrm>
            <a:off x="582716" y="1278723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365" name="Google Shape;1365;p121"/>
          <p:cNvSpPr txBox="1"/>
          <p:nvPr>
            <p:ph idx="1" type="body"/>
          </p:nvPr>
        </p:nvSpPr>
        <p:spPr>
          <a:xfrm>
            <a:off x="1900269" y="4577525"/>
            <a:ext cx="1825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years</a:t>
            </a:r>
            <a:endParaRPr sz="1600"/>
          </a:p>
        </p:txBody>
      </p:sp>
      <p:sp>
        <p:nvSpPr>
          <p:cNvPr id="1366" name="Google Shape;1366;p121"/>
          <p:cNvSpPr txBox="1"/>
          <p:nvPr>
            <p:ph idx="1" type="body"/>
          </p:nvPr>
        </p:nvSpPr>
        <p:spPr>
          <a:xfrm rot="-5400000">
            <a:off x="-1307525" y="2458017"/>
            <a:ext cx="3403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total money spent (£ thousands)</a:t>
            </a:r>
            <a:endParaRPr sz="1600"/>
          </a:p>
        </p:txBody>
      </p:sp>
      <p:sp>
        <p:nvSpPr>
          <p:cNvPr id="1367" name="Google Shape;1367;p121"/>
          <p:cNvSpPr txBox="1"/>
          <p:nvPr>
            <p:ph idx="1" type="body"/>
          </p:nvPr>
        </p:nvSpPr>
        <p:spPr>
          <a:xfrm>
            <a:off x="4800600" y="1978500"/>
            <a:ext cx="4248000" cy="8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Use your answer from part (a) to plot </a:t>
            </a:r>
            <a:br>
              <a:rPr lang="en-GB" sz="1600"/>
            </a:br>
            <a:r>
              <a:rPr lang="en-GB" sz="1600"/>
              <a:t>    a graph showing total money spent </a:t>
            </a:r>
            <a:br>
              <a:rPr lang="en-GB" sz="1600"/>
            </a:br>
            <a:r>
              <a:rPr lang="en-GB" sz="1600"/>
              <a:t>    after each year </a:t>
            </a:r>
            <a:r>
              <a:rPr lang="en-GB" sz="1600">
                <a:solidFill>
                  <a:schemeClr val="accent2"/>
                </a:solidFill>
              </a:rPr>
              <a:t>with</a:t>
            </a:r>
            <a:r>
              <a:rPr lang="en-GB" sz="1600"/>
              <a:t> solar panels.</a:t>
            </a:r>
            <a:endParaRPr sz="1600"/>
          </a:p>
        </p:txBody>
      </p:sp>
      <p:sp>
        <p:nvSpPr>
          <p:cNvPr id="1368" name="Google Shape;1368;p121"/>
          <p:cNvSpPr txBox="1"/>
          <p:nvPr>
            <p:ph idx="1" type="body"/>
          </p:nvPr>
        </p:nvSpPr>
        <p:spPr>
          <a:xfrm>
            <a:off x="4800600" y="3197700"/>
            <a:ext cx="42480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How many years will it take for the </a:t>
            </a:r>
            <a:br>
              <a:rPr lang="en-GB" sz="1600"/>
            </a:br>
            <a:r>
              <a:rPr lang="en-GB" sz="1600"/>
              <a:t>    solar panels to pay for themselves?</a:t>
            </a:r>
            <a:endParaRPr sz="1600"/>
          </a:p>
        </p:txBody>
      </p:sp>
      <p:sp>
        <p:nvSpPr>
          <p:cNvPr id="1369" name="Google Shape;1369;p121"/>
          <p:cNvSpPr txBox="1"/>
          <p:nvPr>
            <p:ph idx="1" type="body"/>
          </p:nvPr>
        </p:nvSpPr>
        <p:spPr>
          <a:xfrm>
            <a:off x="582716" y="979632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</a:t>
            </a:r>
            <a:endParaRPr sz="1600"/>
          </a:p>
        </p:txBody>
      </p:sp>
      <p:sp>
        <p:nvSpPr>
          <p:cNvPr id="1370" name="Google Shape;1370;p121"/>
          <p:cNvSpPr txBox="1"/>
          <p:nvPr>
            <p:ph idx="1" type="body"/>
          </p:nvPr>
        </p:nvSpPr>
        <p:spPr>
          <a:xfrm>
            <a:off x="582716" y="680541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371" name="Google Shape;1371;p121"/>
          <p:cNvSpPr txBox="1"/>
          <p:nvPr>
            <p:ph idx="1" type="body"/>
          </p:nvPr>
        </p:nvSpPr>
        <p:spPr>
          <a:xfrm>
            <a:off x="4091099" y="4385854"/>
            <a:ext cx="1542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372" name="Google Shape;1372;p121"/>
          <p:cNvSpPr txBox="1"/>
          <p:nvPr>
            <p:ph idx="1" type="body"/>
          </p:nvPr>
        </p:nvSpPr>
        <p:spPr>
          <a:xfrm>
            <a:off x="4391390" y="4385850"/>
            <a:ext cx="261000" cy="2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373" name="Google Shape;1373;p121"/>
          <p:cNvSpPr txBox="1"/>
          <p:nvPr>
            <p:ph idx="1" type="body"/>
          </p:nvPr>
        </p:nvSpPr>
        <p:spPr>
          <a:xfrm>
            <a:off x="4800600" y="759300"/>
            <a:ext cx="40194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Use your answer from part (a) to plot </a:t>
            </a:r>
            <a:br>
              <a:rPr lang="en-GB" sz="1600"/>
            </a:br>
            <a:r>
              <a:rPr lang="en-GB" sz="1600"/>
              <a:t>    a graph showing total money spent </a:t>
            </a:r>
            <a:br>
              <a:rPr lang="en-GB" sz="1600"/>
            </a:br>
            <a:r>
              <a:rPr lang="en-GB" sz="1600"/>
              <a:t>    after each year </a:t>
            </a:r>
            <a:r>
              <a:rPr lang="en-GB" sz="1600">
                <a:solidFill>
                  <a:schemeClr val="accent2"/>
                </a:solidFill>
              </a:rPr>
              <a:t>without</a:t>
            </a:r>
            <a:r>
              <a:rPr lang="en-GB" sz="1600"/>
              <a:t> solar panels.</a:t>
            </a:r>
            <a:endParaRPr sz="1600"/>
          </a:p>
        </p:txBody>
      </p:sp>
      <p:cxnSp>
        <p:nvCxnSpPr>
          <p:cNvPr id="1374" name="Google Shape;1374;p121"/>
          <p:cNvCxnSpPr/>
          <p:nvPr/>
        </p:nvCxnSpPr>
        <p:spPr>
          <a:xfrm>
            <a:off x="5062882" y="1760629"/>
            <a:ext cx="540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75" name="Google Shape;1375;p121"/>
          <p:cNvGrpSpPr/>
          <p:nvPr/>
        </p:nvGrpSpPr>
        <p:grpSpPr>
          <a:xfrm>
            <a:off x="900350" y="808354"/>
            <a:ext cx="3085800" cy="3577500"/>
            <a:chOff x="900350" y="808354"/>
            <a:chExt cx="3085800" cy="3577500"/>
          </a:xfrm>
        </p:grpSpPr>
        <p:cxnSp>
          <p:nvCxnSpPr>
            <p:cNvPr id="1376" name="Google Shape;1376;p121"/>
            <p:cNvCxnSpPr/>
            <p:nvPr/>
          </p:nvCxnSpPr>
          <p:spPr>
            <a:xfrm flipH="1" rot="10800000">
              <a:off x="900350" y="808354"/>
              <a:ext cx="3085800" cy="35775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7" name="Google Shape;1377;p121"/>
            <p:cNvSpPr/>
            <p:nvPr/>
          </p:nvSpPr>
          <p:spPr>
            <a:xfrm>
              <a:off x="1207700" y="3932444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121"/>
            <p:cNvSpPr/>
            <p:nvPr/>
          </p:nvSpPr>
          <p:spPr>
            <a:xfrm>
              <a:off x="1566297" y="3508946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121"/>
            <p:cNvSpPr/>
            <p:nvPr/>
          </p:nvSpPr>
          <p:spPr>
            <a:xfrm>
              <a:off x="1929404" y="3099150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0" name="Google Shape;1380;p121"/>
            <p:cNvSpPr/>
            <p:nvPr/>
          </p:nvSpPr>
          <p:spPr>
            <a:xfrm>
              <a:off x="2295885" y="2673244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121"/>
            <p:cNvSpPr/>
            <p:nvPr/>
          </p:nvSpPr>
          <p:spPr>
            <a:xfrm>
              <a:off x="2653510" y="2249344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121"/>
            <p:cNvSpPr/>
            <p:nvPr/>
          </p:nvSpPr>
          <p:spPr>
            <a:xfrm>
              <a:off x="3013752" y="1838074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121"/>
            <p:cNvSpPr/>
            <p:nvPr/>
          </p:nvSpPr>
          <p:spPr>
            <a:xfrm>
              <a:off x="3379707" y="1406868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121"/>
            <p:cNvSpPr/>
            <p:nvPr/>
          </p:nvSpPr>
          <p:spPr>
            <a:xfrm>
              <a:off x="3739583" y="983825"/>
              <a:ext cx="94200" cy="94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5" name="Google Shape;1385;p121"/>
          <p:cNvGrpSpPr/>
          <p:nvPr/>
        </p:nvGrpSpPr>
        <p:grpSpPr>
          <a:xfrm>
            <a:off x="878844" y="930446"/>
            <a:ext cx="3667947" cy="942558"/>
            <a:chOff x="878844" y="930446"/>
            <a:chExt cx="3667947" cy="942558"/>
          </a:xfrm>
        </p:grpSpPr>
        <p:cxnSp>
          <p:nvCxnSpPr>
            <p:cNvPr id="1386" name="Google Shape;1386;p121"/>
            <p:cNvCxnSpPr/>
            <p:nvPr/>
          </p:nvCxnSpPr>
          <p:spPr>
            <a:xfrm flipH="1" rot="10800000">
              <a:off x="878844" y="976604"/>
              <a:ext cx="3643500" cy="8964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7" name="Google Shape;1387;p121"/>
            <p:cNvSpPr/>
            <p:nvPr/>
          </p:nvSpPr>
          <p:spPr>
            <a:xfrm>
              <a:off x="1207700" y="1734889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121"/>
            <p:cNvSpPr/>
            <p:nvPr/>
          </p:nvSpPr>
          <p:spPr>
            <a:xfrm>
              <a:off x="1566300" y="1651164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121"/>
            <p:cNvSpPr/>
            <p:nvPr/>
          </p:nvSpPr>
          <p:spPr>
            <a:xfrm>
              <a:off x="1929400" y="1556964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121"/>
            <p:cNvSpPr/>
            <p:nvPr/>
          </p:nvSpPr>
          <p:spPr>
            <a:xfrm>
              <a:off x="2295875" y="1462764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121"/>
            <p:cNvSpPr/>
            <p:nvPr/>
          </p:nvSpPr>
          <p:spPr>
            <a:xfrm>
              <a:off x="2652350" y="1377689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121"/>
            <p:cNvSpPr/>
            <p:nvPr/>
          </p:nvSpPr>
          <p:spPr>
            <a:xfrm>
              <a:off x="3013750" y="1283207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121"/>
            <p:cNvSpPr/>
            <p:nvPr/>
          </p:nvSpPr>
          <p:spPr>
            <a:xfrm>
              <a:off x="3379700" y="1189007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121"/>
            <p:cNvSpPr/>
            <p:nvPr/>
          </p:nvSpPr>
          <p:spPr>
            <a:xfrm>
              <a:off x="3739575" y="1112853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121"/>
            <p:cNvSpPr/>
            <p:nvPr/>
          </p:nvSpPr>
          <p:spPr>
            <a:xfrm>
              <a:off x="4104579" y="1014160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121"/>
            <p:cNvSpPr/>
            <p:nvPr/>
          </p:nvSpPr>
          <p:spPr>
            <a:xfrm>
              <a:off x="4452591" y="930446"/>
              <a:ext cx="94200" cy="94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7" name="Google Shape;1397;p121"/>
          <p:cNvSpPr/>
          <p:nvPr/>
        </p:nvSpPr>
        <p:spPr>
          <a:xfrm>
            <a:off x="5285794" y="1713518"/>
            <a:ext cx="94200" cy="94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8" name="Google Shape;1398;p121"/>
          <p:cNvCxnSpPr/>
          <p:nvPr/>
        </p:nvCxnSpPr>
        <p:spPr>
          <a:xfrm>
            <a:off x="5047194" y="2969604"/>
            <a:ext cx="540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121"/>
          <p:cNvSpPr/>
          <p:nvPr/>
        </p:nvSpPr>
        <p:spPr>
          <a:xfrm>
            <a:off x="5285779" y="2922510"/>
            <a:ext cx="94200" cy="94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1"/>
          <p:cNvSpPr txBox="1"/>
          <p:nvPr>
            <p:ph idx="1" type="body"/>
          </p:nvPr>
        </p:nvSpPr>
        <p:spPr>
          <a:xfrm>
            <a:off x="5711433" y="1606379"/>
            <a:ext cx="21702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without solar panels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121"/>
          <p:cNvSpPr txBox="1"/>
          <p:nvPr>
            <p:ph idx="1" type="body"/>
          </p:nvPr>
        </p:nvSpPr>
        <p:spPr>
          <a:xfrm>
            <a:off x="5711433" y="2817575"/>
            <a:ext cx="21702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with solar panels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121"/>
          <p:cNvSpPr txBox="1"/>
          <p:nvPr>
            <p:ph idx="1" type="body"/>
          </p:nvPr>
        </p:nvSpPr>
        <p:spPr>
          <a:xfrm>
            <a:off x="5539800" y="3932125"/>
            <a:ext cx="227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7.6 years or 8 years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03" name="Google Shape;1403;p121"/>
          <p:cNvGrpSpPr/>
          <p:nvPr/>
        </p:nvGrpSpPr>
        <p:grpSpPr>
          <a:xfrm>
            <a:off x="3479225" y="1026011"/>
            <a:ext cx="326100" cy="3381214"/>
            <a:chOff x="3479225" y="1026011"/>
            <a:chExt cx="326100" cy="3381214"/>
          </a:xfrm>
        </p:grpSpPr>
        <p:cxnSp>
          <p:nvCxnSpPr>
            <p:cNvPr id="1404" name="Google Shape;1404;p121"/>
            <p:cNvCxnSpPr/>
            <p:nvPr/>
          </p:nvCxnSpPr>
          <p:spPr>
            <a:xfrm>
              <a:off x="3644450" y="1344525"/>
              <a:ext cx="0" cy="3062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121"/>
            <p:cNvSpPr/>
            <p:nvPr/>
          </p:nvSpPr>
          <p:spPr>
            <a:xfrm>
              <a:off x="3479225" y="1026011"/>
              <a:ext cx="326100" cy="3261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22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Solar panels can reduce the cost of electricity bills but they require an upfront cost to buy and install.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size of the property determines how many solar panels can be installed.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amount of energy generated depends on a variety of factors (e.g. their location, direction, amount of shade, etc).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It is possible to calculate when solar panels have paid for themselves.</a:t>
            </a:r>
            <a:endParaRPr sz="2000"/>
          </a:p>
        </p:txBody>
      </p:sp>
      <p:sp>
        <p:nvSpPr>
          <p:cNvPr id="1411" name="Google Shape;1411;p12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2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7" name="Google Shape;1417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